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4" r:id="rId2"/>
    <p:sldId id="263" r:id="rId3"/>
    <p:sldId id="307" r:id="rId4"/>
    <p:sldId id="267" r:id="rId5"/>
    <p:sldId id="265" r:id="rId6"/>
    <p:sldId id="298" r:id="rId7"/>
    <p:sldId id="299" r:id="rId8"/>
    <p:sldId id="300" r:id="rId9"/>
    <p:sldId id="301" r:id="rId10"/>
    <p:sldId id="302" r:id="rId11"/>
    <p:sldId id="306" r:id="rId12"/>
    <p:sldId id="284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305" r:id="rId24"/>
    <p:sldId id="262" r:id="rId25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700">
          <p15:clr>
            <a:srgbClr val="A4A3A4"/>
          </p15:clr>
        </p15:guide>
        <p15:guide id="2" pos="323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5AC4F1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9745" autoAdjust="0"/>
  </p:normalViewPr>
  <p:slideViewPr>
    <p:cSldViewPr>
      <p:cViewPr varScale="1">
        <p:scale>
          <a:sx n="106" d="100"/>
          <a:sy n="106" d="100"/>
        </p:scale>
        <p:origin x="-413" y="-86"/>
      </p:cViewPr>
      <p:guideLst>
        <p:guide orient="horz" pos="1700"/>
        <p:guide pos="32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pPr/>
              <a:t>2022-4-18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64321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4FF4D38-1970-48B1-BFB1-C89773A79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2374" y="5090761"/>
            <a:ext cx="1679056" cy="2023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4C46F4C3-B2F3-4568-9273-A555114041E8}"/>
              </a:ext>
            </a:extLst>
          </p:cNvPr>
          <p:cNvSpPr txBox="1"/>
          <p:nvPr userDrawn="1"/>
        </p:nvSpPr>
        <p:spPr>
          <a:xfrm>
            <a:off x="89446" y="5090761"/>
            <a:ext cx="1334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▲</a:t>
            </a:r>
            <a:r>
              <a:rPr lang="zh-CN" altLang="en-US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版权归经世教育所有</a:t>
            </a:r>
          </a:p>
        </p:txBody>
      </p:sp>
      <p:pic>
        <p:nvPicPr>
          <p:cNvPr id="4" name="图片 3" descr="水印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82334" y="123825"/>
            <a:ext cx="19431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43897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2" r:id="rId2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704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20">
            <a:extLst>
              <a:ext uri="{FF2B5EF4-FFF2-40B4-BE49-F238E27FC236}">
                <a16:creationId xmlns:a16="http://schemas.microsoft.com/office/drawing/2014/main" xmlns="" id="{FA456F78-6A79-42B0-A38E-74312BC36333}"/>
              </a:ext>
            </a:extLst>
          </p:cNvPr>
          <p:cNvSpPr/>
          <p:nvPr/>
        </p:nvSpPr>
        <p:spPr>
          <a:xfrm>
            <a:off x="1673622" y="1728806"/>
            <a:ext cx="6805903" cy="1761238"/>
          </a:xfrm>
          <a:prstGeom prst="roundRect">
            <a:avLst>
              <a:gd name="adj" fmla="val 6740"/>
            </a:avLst>
          </a:prstGeom>
          <a:noFill/>
          <a:ln w="6350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17">
            <a:extLst>
              <a:ext uri="{FF2B5EF4-FFF2-40B4-BE49-F238E27FC236}">
                <a16:creationId xmlns:a16="http://schemas.microsoft.com/office/drawing/2014/main" xmlns="" id="{09F71133-92FC-4C5B-91AA-3072C0D91C61}"/>
              </a:ext>
            </a:extLst>
          </p:cNvPr>
          <p:cNvSpPr/>
          <p:nvPr/>
        </p:nvSpPr>
        <p:spPr>
          <a:xfrm>
            <a:off x="2869699" y="1517375"/>
            <a:ext cx="4392295" cy="432435"/>
          </a:xfrm>
          <a:prstGeom prst="round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6B1C8DC1-8156-42F6-8C16-1F596B0C5E06}"/>
              </a:ext>
            </a:extLst>
          </p:cNvPr>
          <p:cNvSpPr txBox="1"/>
          <p:nvPr/>
        </p:nvSpPr>
        <p:spPr>
          <a:xfrm>
            <a:off x="3019559" y="1565000"/>
            <a:ext cx="39154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r>
              <a:rPr kumimoji="1"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r>
              <a:rPr kumimoji="1"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</a:t>
            </a:r>
            <a:r>
              <a:rPr kumimoji="1"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络</a:t>
            </a:r>
            <a:r>
              <a:rPr kumimoji="1"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</a:t>
            </a:r>
            <a:r>
              <a:rPr kumimoji="1"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83DFFA35-D1A6-4066-A271-60FE1D868DAD}"/>
              </a:ext>
            </a:extLst>
          </p:cNvPr>
          <p:cNvSpPr txBox="1"/>
          <p:nvPr/>
        </p:nvSpPr>
        <p:spPr>
          <a:xfrm>
            <a:off x="2033662" y="2265908"/>
            <a:ext cx="6192688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kumimoji="1" lang="zh-CN" altLang="en-US" sz="3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kumimoji="1"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kumimoji="1" lang="zh-CN" altLang="en-US" sz="3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en-US" altLang="zh-CN" sz="3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MapInfo</a:t>
            </a:r>
            <a:r>
              <a:rPr kumimoji="1" lang="zh-CN" altLang="en-US" sz="3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专题</a:t>
            </a:r>
            <a:r>
              <a:rPr kumimoji="1" lang="zh-CN" altLang="en-US" sz="3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图层</a:t>
            </a:r>
            <a:endParaRPr kumimoji="1"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xmlns="" id="{D2071E4C-521B-4D32-A049-73FD216703FB}"/>
              </a:ext>
            </a:extLst>
          </p:cNvPr>
          <p:cNvSpPr/>
          <p:nvPr/>
        </p:nvSpPr>
        <p:spPr>
          <a:xfrm>
            <a:off x="5796414" y="3446563"/>
            <a:ext cx="75565" cy="7556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xmlns="" id="{A4968330-C8B2-42BC-BE3E-E6108EACC18A}"/>
              </a:ext>
            </a:extLst>
          </p:cNvPr>
          <p:cNvSpPr/>
          <p:nvPr/>
        </p:nvSpPr>
        <p:spPr>
          <a:xfrm>
            <a:off x="4272414" y="3446563"/>
            <a:ext cx="75565" cy="7556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6585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>
          <a:xfrm>
            <a:off x="504096" y="224830"/>
            <a:ext cx="4463818" cy="492960"/>
          </a:xfrm>
          <a:prstGeom prst="rect">
            <a:avLst/>
          </a:prstGeom>
        </p:spPr>
        <p:txBody>
          <a:bodyPr lIns="91382" tIns="45693" rIns="91382" bIns="45693">
            <a:spAutoFit/>
          </a:bodyPr>
          <a:lstStyle/>
          <a:p>
            <a:pPr indent="-342687" defTabSz="719007">
              <a:spcBef>
                <a:spcPct val="20000"/>
              </a:spcBef>
              <a:defRPr/>
            </a:pP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课前复习</a:t>
            </a:r>
            <a:endParaRPr lang="en-US" altLang="zh-CN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099" name="矩形 2"/>
          <p:cNvSpPr>
            <a:spLocks noChangeArrowheads="1"/>
          </p:cNvSpPr>
          <p:nvPr/>
        </p:nvSpPr>
        <p:spPr bwMode="auto">
          <a:xfrm>
            <a:off x="928033" y="1055867"/>
            <a:ext cx="4490005" cy="49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6365" tIns="38182" rIns="76365" bIns="38182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、使用</a:t>
            </a:r>
            <a:r>
              <a:rPr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MapInfo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制作基站点图。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705998" y="1878965"/>
            <a:ext cx="512916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学会使用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MapInfo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制作扇区图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27780" y="467449"/>
            <a:ext cx="2305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学习目标</a:t>
            </a:r>
          </a:p>
        </p:txBody>
      </p:sp>
      <p:sp>
        <p:nvSpPr>
          <p:cNvPr id="7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77678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1" name="矩形 10"/>
          <p:cNvSpPr/>
          <p:nvPr/>
        </p:nvSpPr>
        <p:spPr>
          <a:xfrm>
            <a:off x="2177678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12" name="内容占位符 2"/>
          <p:cNvSpPr txBox="1"/>
          <p:nvPr/>
        </p:nvSpPr>
        <p:spPr>
          <a:xfrm>
            <a:off x="2705998" y="3086100"/>
            <a:ext cx="5345187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学会使用</a:t>
            </a:r>
            <a:r>
              <a: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MapInfo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制作专题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198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81221" y="925046"/>
            <a:ext cx="495709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3600" b="1" dirty="0">
                <a:latin typeface="微软雅黑"/>
                <a:ea typeface="微软雅黑"/>
                <a:cs typeface="微软雅黑"/>
              </a:rPr>
              <a:t>目    录 </a:t>
            </a:r>
            <a:endParaRPr kumimoji="1" lang="en-US" altLang="zh-CN" sz="3600" b="1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</a:pPr>
            <a:endParaRPr kumimoji="1" lang="en-US" altLang="zh-CN" sz="1400" b="1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200000"/>
              </a:lnSpc>
            </a:pPr>
            <a:r>
              <a:rPr kumimoji="1" lang="zh-CN" altLang="en-US" sz="2400" dirty="0">
                <a:latin typeface="微软雅黑"/>
                <a:ea typeface="微软雅黑"/>
                <a:cs typeface="微软雅黑"/>
              </a:rPr>
              <a:t>一、</a:t>
            </a: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任务</a:t>
            </a:r>
            <a:r>
              <a:rPr kumimoji="1" lang="en-US" altLang="zh-CN" sz="2400" dirty="0" smtClean="0">
                <a:latin typeface="微软雅黑"/>
                <a:ea typeface="微软雅黑"/>
                <a:cs typeface="微软雅黑"/>
              </a:rPr>
              <a:t>3 MapInfo</a:t>
            </a: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制作扇区图</a:t>
            </a:r>
            <a:endParaRPr kumimoji="1" lang="en-US" altLang="zh-CN" sz="24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200000"/>
              </a:lnSpc>
            </a:pP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二、任务</a:t>
            </a:r>
            <a:r>
              <a:rPr kumimoji="1" lang="en-US" altLang="zh-CN" sz="2400" dirty="0" smtClean="0">
                <a:latin typeface="微软雅黑"/>
                <a:ea typeface="微软雅黑"/>
                <a:cs typeface="微软雅黑"/>
              </a:rPr>
              <a:t>4 MapInfo</a:t>
            </a: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制作专题图层</a:t>
            </a:r>
            <a:endParaRPr kumimoji="1" lang="en-US" altLang="zh-CN" sz="2400" dirty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14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 idx="4294967295"/>
          </p:nvPr>
        </p:nvSpPr>
        <p:spPr bwMode="auto">
          <a:xfrm>
            <a:off x="342000" y="208176"/>
            <a:ext cx="7609510" cy="50124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0156" tIns="50078" rIns="100156" bIns="50078">
            <a:spAutoFit/>
          </a:bodyPr>
          <a:lstStyle/>
          <a:p>
            <a:pPr algn="l" eaLnBrk="1" hangingPunct="1"/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en-US" altLang="zh-CN" sz="2600" b="1" dirty="0" smtClean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600" b="1" dirty="0" smtClean="0">
                <a:latin typeface="微软雅黑" pitchFamily="34" charset="-122"/>
                <a:ea typeface="微软雅黑" pitchFamily="34" charset="-122"/>
              </a:rPr>
              <a:t>MapInfo</a:t>
            </a:r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插件</a:t>
            </a:r>
            <a:r>
              <a:rPr lang="en-US" altLang="zh-CN" sz="2600" b="1" dirty="0" err="1" smtClean="0">
                <a:latin typeface="微软雅黑" pitchFamily="34" charset="-122"/>
                <a:ea typeface="微软雅黑" pitchFamily="34" charset="-122"/>
              </a:rPr>
              <a:t>sitesee</a:t>
            </a:r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制作基站扇区图</a:t>
            </a:r>
          </a:p>
        </p:txBody>
      </p:sp>
      <p:sp>
        <p:nvSpPr>
          <p:cNvPr id="14339" name="内容占位符 4"/>
          <p:cNvSpPr>
            <a:spLocks noGrp="1"/>
          </p:cNvSpPr>
          <p:nvPr>
            <p:ph idx="4294967295"/>
          </p:nvPr>
        </p:nvSpPr>
        <p:spPr bwMode="auto">
          <a:xfrm>
            <a:off x="342000" y="859349"/>
            <a:ext cx="9234012" cy="12790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0156" tIns="50078" rIns="100156" bIns="50078"/>
          <a:lstStyle/>
          <a:p>
            <a:pPr eaLnBrk="1" hangingPunct="1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同制作基站点图类似，利用基站信息表，整理成标准的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Excel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格式或者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txt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文档，可有多列信息，也可少列信息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根据自己的需要而定，但必须有小区名称，经度，纬度，小区方位角四列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b="40357"/>
          <a:stretch>
            <a:fillRect/>
          </a:stretch>
        </p:blipFill>
        <p:spPr bwMode="auto">
          <a:xfrm>
            <a:off x="449486" y="1977876"/>
            <a:ext cx="9505056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 bwMode="auto">
          <a:xfrm>
            <a:off x="342001" y="779411"/>
            <a:ext cx="9832512" cy="4783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0156" tIns="50078" rIns="100156" bIns="50078"/>
          <a:lstStyle/>
          <a:p>
            <a:pPr algn="l" eaLnBrk="1" hangingPunct="1"/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、运行制作基站扇区图层的插件：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342000" y="208176"/>
            <a:ext cx="7609510" cy="501244"/>
          </a:xfrm>
          <a:prstGeom prst="rect">
            <a:avLst/>
          </a:prstGeom>
        </p:spPr>
        <p:txBody>
          <a:bodyPr lIns="100156" tIns="50078" rIns="100156" bIns="50078">
            <a:spAutoFit/>
          </a:bodyPr>
          <a:lstStyle/>
          <a:p>
            <a:pPr defTabSz="718956">
              <a:defRPr/>
            </a:pPr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en-US" altLang="zh-CN" sz="2600" b="1" dirty="0" smtClean="0">
                <a:latin typeface="微软雅黑" pitchFamily="34" charset="-122"/>
                <a:ea typeface="微软雅黑" pitchFamily="34" charset="-122"/>
                <a:cs typeface="+mj-cs"/>
              </a:rPr>
              <a:t>.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使用</a:t>
            </a:r>
            <a:r>
              <a:rPr lang="en-US" altLang="zh-CN" sz="2600" b="1" dirty="0">
                <a:latin typeface="微软雅黑" pitchFamily="34" charset="-122"/>
                <a:ea typeface="微软雅黑" pitchFamily="34" charset="-122"/>
                <a:cs typeface="+mj-cs"/>
              </a:rPr>
              <a:t>MapInfo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插件</a:t>
            </a:r>
            <a:r>
              <a:rPr lang="en-US" altLang="zh-CN" sz="2600" b="1" dirty="0" err="1">
                <a:latin typeface="微软雅黑" pitchFamily="34" charset="-122"/>
                <a:ea typeface="微软雅黑" pitchFamily="34" charset="-122"/>
                <a:cs typeface="+mj-cs"/>
              </a:rPr>
              <a:t>sitesee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制作基站扇区图</a:t>
            </a:r>
          </a:p>
        </p:txBody>
      </p:sp>
      <p:cxnSp>
        <p:nvCxnSpPr>
          <p:cNvPr id="5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t="2196"/>
          <a:stretch>
            <a:fillRect/>
          </a:stretch>
        </p:blipFill>
        <p:spPr bwMode="auto">
          <a:xfrm>
            <a:off x="449487" y="1257796"/>
            <a:ext cx="397310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0086" y="1185788"/>
            <a:ext cx="4124642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 t="7407"/>
          <a:stretch>
            <a:fillRect/>
          </a:stretch>
        </p:blipFill>
        <p:spPr bwMode="auto">
          <a:xfrm>
            <a:off x="3329806" y="2769964"/>
            <a:ext cx="391916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 idx="4294967295"/>
          </p:nvPr>
        </p:nvSpPr>
        <p:spPr bwMode="auto">
          <a:xfrm>
            <a:off x="342000" y="779410"/>
            <a:ext cx="8293511" cy="55957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0156" tIns="50078" rIns="100156" bIns="50078"/>
          <a:lstStyle/>
          <a:p>
            <a:pPr algn="l" eaLnBrk="1" hangingPunct="1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、使用</a:t>
            </a:r>
            <a:r>
              <a:rPr lang="en-US" altLang="zh-CN" sz="2000" dirty="0" err="1" smtClean="0">
                <a:latin typeface="微软雅黑" pitchFamily="34" charset="-122"/>
                <a:ea typeface="微软雅黑" pitchFamily="34" charset="-122"/>
              </a:rPr>
              <a:t>SeeSite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插件的“制作基站扇形数据”做扇区图：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342000" y="208176"/>
            <a:ext cx="7609510" cy="501244"/>
          </a:xfrm>
          <a:prstGeom prst="rect">
            <a:avLst/>
          </a:prstGeom>
        </p:spPr>
        <p:txBody>
          <a:bodyPr lIns="100156" tIns="50078" rIns="100156" bIns="50078">
            <a:spAutoFit/>
          </a:bodyPr>
          <a:lstStyle/>
          <a:p>
            <a:pPr defTabSz="718956">
              <a:defRPr/>
            </a:pPr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en-US" altLang="zh-CN" sz="2600" b="1" dirty="0" smtClean="0">
                <a:latin typeface="微软雅黑" pitchFamily="34" charset="-122"/>
                <a:ea typeface="微软雅黑" pitchFamily="34" charset="-122"/>
                <a:cs typeface="+mj-cs"/>
              </a:rPr>
              <a:t>.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使用</a:t>
            </a:r>
            <a:r>
              <a:rPr lang="en-US" altLang="zh-CN" sz="2600" b="1" dirty="0">
                <a:latin typeface="微软雅黑" pitchFamily="34" charset="-122"/>
                <a:ea typeface="微软雅黑" pitchFamily="34" charset="-122"/>
                <a:cs typeface="+mj-cs"/>
              </a:rPr>
              <a:t>MapInfo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插件</a:t>
            </a:r>
            <a:r>
              <a:rPr lang="en-US" altLang="zh-CN" sz="2600" b="1" dirty="0" err="1">
                <a:latin typeface="微软雅黑" pitchFamily="34" charset="-122"/>
                <a:ea typeface="微软雅黑" pitchFamily="34" charset="-122"/>
                <a:cs typeface="+mj-cs"/>
              </a:rPr>
              <a:t>sitesee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制作基站扇区图</a:t>
            </a:r>
          </a:p>
        </p:txBody>
      </p:sp>
      <p:cxnSp>
        <p:nvCxnSpPr>
          <p:cNvPr id="5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5710" y="1185788"/>
            <a:ext cx="7056784" cy="372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3502" y="2121892"/>
            <a:ext cx="2817490" cy="2902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7878" y="1185788"/>
            <a:ext cx="6047549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342000" y="208176"/>
            <a:ext cx="7609510" cy="501244"/>
          </a:xfrm>
          <a:prstGeom prst="rect">
            <a:avLst/>
          </a:prstGeom>
        </p:spPr>
        <p:txBody>
          <a:bodyPr lIns="100156" tIns="50078" rIns="100156" bIns="50078">
            <a:spAutoFit/>
          </a:bodyPr>
          <a:lstStyle/>
          <a:p>
            <a:pPr defTabSz="718956">
              <a:defRPr/>
            </a:pPr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en-US" altLang="zh-CN" sz="2600" b="1" dirty="0" smtClean="0">
                <a:latin typeface="微软雅黑" pitchFamily="34" charset="-122"/>
                <a:ea typeface="微软雅黑" pitchFamily="34" charset="-122"/>
                <a:cs typeface="+mj-cs"/>
              </a:rPr>
              <a:t>.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使用</a:t>
            </a:r>
            <a:r>
              <a:rPr lang="en-US" altLang="zh-CN" sz="2600" b="1" dirty="0">
                <a:latin typeface="微软雅黑" pitchFamily="34" charset="-122"/>
                <a:ea typeface="微软雅黑" pitchFamily="34" charset="-122"/>
                <a:cs typeface="+mj-cs"/>
              </a:rPr>
              <a:t>MapInfo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插件</a:t>
            </a:r>
            <a:r>
              <a:rPr lang="en-US" altLang="zh-CN" sz="2600" b="1" dirty="0" err="1">
                <a:latin typeface="微软雅黑" pitchFamily="34" charset="-122"/>
                <a:ea typeface="微软雅黑" pitchFamily="34" charset="-122"/>
                <a:cs typeface="+mj-cs"/>
              </a:rPr>
              <a:t>sitesee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制作基站扇区图</a:t>
            </a:r>
          </a:p>
        </p:txBody>
      </p:sp>
      <p:cxnSp>
        <p:nvCxnSpPr>
          <p:cNvPr id="5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标题 1"/>
          <p:cNvSpPr txBox="1">
            <a:spLocks/>
          </p:cNvSpPr>
          <p:nvPr/>
        </p:nvSpPr>
        <p:spPr bwMode="auto">
          <a:xfrm>
            <a:off x="342000" y="779410"/>
            <a:ext cx="8293511" cy="55957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0156" tIns="50078" rIns="100156" bIns="50078"/>
          <a:lstStyle/>
          <a:p>
            <a:pPr marL="0" marR="0" lvl="0" indent="0" algn="l" defTabSz="71945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、使用</a:t>
            </a:r>
            <a:r>
              <a:rPr kumimoji="0" lang="en-US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RNOHelper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插件的“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4G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扇区制作”做扇区图：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494" y="1617836"/>
            <a:ext cx="2236175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25750" y="1617836"/>
            <a:ext cx="2520280" cy="3454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342000" y="208176"/>
            <a:ext cx="7609510" cy="501244"/>
          </a:xfrm>
          <a:prstGeom prst="rect">
            <a:avLst/>
          </a:prstGeom>
        </p:spPr>
        <p:txBody>
          <a:bodyPr lIns="100156" tIns="50078" rIns="100156" bIns="50078">
            <a:spAutoFit/>
          </a:bodyPr>
          <a:lstStyle/>
          <a:p>
            <a:pPr defTabSz="718956">
              <a:defRPr/>
            </a:pPr>
            <a:r>
              <a:rPr lang="zh-CN" altLang="en-US" sz="2600" b="1" dirty="0" smtClean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en-US" altLang="zh-CN" sz="2600" b="1" dirty="0" smtClean="0">
                <a:latin typeface="微软雅黑" pitchFamily="34" charset="-122"/>
                <a:ea typeface="微软雅黑" pitchFamily="34" charset="-122"/>
                <a:cs typeface="+mj-cs"/>
              </a:rPr>
              <a:t>.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使用</a:t>
            </a:r>
            <a:r>
              <a:rPr lang="en-US" altLang="zh-CN" sz="2600" b="1" dirty="0">
                <a:latin typeface="微软雅黑" pitchFamily="34" charset="-122"/>
                <a:ea typeface="微软雅黑" pitchFamily="34" charset="-122"/>
                <a:cs typeface="+mj-cs"/>
              </a:rPr>
              <a:t>MapInfo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插件</a:t>
            </a:r>
            <a:r>
              <a:rPr lang="en-US" altLang="zh-CN" sz="2600" b="1" dirty="0" err="1">
                <a:latin typeface="微软雅黑" pitchFamily="34" charset="-122"/>
                <a:ea typeface="微软雅黑" pitchFamily="34" charset="-122"/>
                <a:cs typeface="+mj-cs"/>
              </a:rPr>
              <a:t>sitesee</a:t>
            </a:r>
            <a:r>
              <a:rPr lang="zh-CN" altLang="en-US" sz="2600" b="1" dirty="0">
                <a:latin typeface="微软雅黑" pitchFamily="34" charset="-122"/>
                <a:ea typeface="微软雅黑" pitchFamily="34" charset="-122"/>
                <a:cs typeface="+mj-cs"/>
              </a:rPr>
              <a:t>制作基站扇区图</a:t>
            </a:r>
          </a:p>
        </p:txBody>
      </p:sp>
      <p:cxnSp>
        <p:nvCxnSpPr>
          <p:cNvPr id="5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标题 1"/>
          <p:cNvSpPr txBox="1">
            <a:spLocks/>
          </p:cNvSpPr>
          <p:nvPr/>
        </p:nvSpPr>
        <p:spPr bwMode="auto">
          <a:xfrm>
            <a:off x="342000" y="779410"/>
            <a:ext cx="9684550" cy="55957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0156" tIns="50078" rIns="100156" bIns="50078"/>
          <a:lstStyle/>
          <a:p>
            <a:pPr marL="0" marR="0" lvl="0" indent="0" algn="l" defTabSz="71945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、使用</a:t>
            </a:r>
            <a:r>
              <a:rPr kumimoji="0" lang="en-US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OnlineMap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V1.2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插件的“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  <a:cs typeface="+mj-cs"/>
              </a:rPr>
              <a:t>导入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  <a:cs typeface="+mj-cs"/>
              </a:rPr>
              <a:t>CSV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  <a:cs typeface="+mj-cs"/>
              </a:rPr>
              <a:t>数据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”→“生成基站扇区”做扇区图：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95" y="1257796"/>
            <a:ext cx="4104456" cy="2212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81734" y="2769964"/>
            <a:ext cx="2537633" cy="2349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2014" y="1329804"/>
            <a:ext cx="4822212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81221" y="925046"/>
            <a:ext cx="495709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3600" b="1" dirty="0">
                <a:latin typeface="微软雅黑"/>
                <a:ea typeface="微软雅黑"/>
                <a:cs typeface="微软雅黑"/>
              </a:rPr>
              <a:t>目    录 </a:t>
            </a:r>
            <a:endParaRPr kumimoji="1" lang="en-US" altLang="zh-CN" sz="3600" b="1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</a:pPr>
            <a:endParaRPr kumimoji="1" lang="en-US" altLang="zh-CN" sz="1400" b="1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200000"/>
              </a:lnSpc>
            </a:pPr>
            <a:r>
              <a:rPr kumimoji="1" lang="zh-CN" altLang="en-US" sz="2400" dirty="0">
                <a:latin typeface="微软雅黑"/>
                <a:ea typeface="微软雅黑"/>
                <a:cs typeface="微软雅黑"/>
              </a:rPr>
              <a:t>一、</a:t>
            </a: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任务</a:t>
            </a:r>
            <a:r>
              <a:rPr kumimoji="1" lang="en-US" altLang="zh-CN" sz="2400" dirty="0" smtClean="0">
                <a:latin typeface="微软雅黑"/>
                <a:ea typeface="微软雅黑"/>
                <a:cs typeface="微软雅黑"/>
              </a:rPr>
              <a:t>3 MapInfo</a:t>
            </a: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制作扇区图</a:t>
            </a:r>
            <a:endParaRPr kumimoji="1" lang="en-US" altLang="zh-CN" sz="24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200000"/>
              </a:lnSpc>
            </a:pP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二、任务</a:t>
            </a:r>
            <a:r>
              <a:rPr kumimoji="1" lang="en-US" altLang="zh-CN" sz="2400" dirty="0" smtClean="0">
                <a:latin typeface="微软雅黑"/>
                <a:ea typeface="微软雅黑"/>
                <a:cs typeface="微软雅黑"/>
              </a:rPr>
              <a:t>4 MapInfo</a:t>
            </a:r>
            <a:r>
              <a:rPr kumimoji="1" lang="zh-CN" altLang="en-US" sz="2400" dirty="0" smtClean="0">
                <a:latin typeface="微软雅黑"/>
                <a:ea typeface="微软雅黑"/>
                <a:cs typeface="微软雅黑"/>
              </a:rPr>
              <a:t>制作专题图层</a:t>
            </a:r>
            <a:endParaRPr kumimoji="1" lang="en-US" altLang="zh-CN" sz="2400" dirty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14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二、专题图层的制作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0" y="897756"/>
            <a:ext cx="39283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2.1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一般专题图层制作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参考已经完成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的嘉兴市区的点图，采用</a:t>
            </a:r>
            <a:r>
              <a:rPr kumimoji="1" lang="en-US" altLang="zh-CN" sz="1600" dirty="0" smtClean="0">
                <a:latin typeface="微软雅黑"/>
                <a:ea typeface="微软雅黑"/>
                <a:cs typeface="微软雅黑"/>
              </a:rPr>
              <a:t>TAC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区分</a:t>
            </a: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创建专题地图：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1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、打开</a:t>
            </a: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图层，点击</a:t>
            </a: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Map&gt;&gt;Create Thematic Map(</a:t>
            </a: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或直接按</a:t>
            </a: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F9)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 </a:t>
            </a: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选</a:t>
            </a: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好后，点</a:t>
            </a: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Next&gt;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。</a:t>
            </a: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93835" y="876287"/>
            <a:ext cx="50292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34695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0" y="897756"/>
            <a:ext cx="39283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2.1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一般专题图层制作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2</a:t>
            </a: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、	选址专题字段，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如下</a:t>
            </a: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/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pPr>
              <a:lnSpc>
                <a:spcPct val="150000"/>
              </a:lnSpc>
            </a:pPr>
            <a:endParaRPr lang="en-US" altLang="zh-CN" sz="1600" dirty="0" smtClean="0"/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zh-CN" sz="1600" dirty="0" smtClean="0"/>
              <a:t>然后</a:t>
            </a:r>
            <a:r>
              <a:rPr lang="zh-CN" altLang="zh-CN" sz="1600" dirty="0"/>
              <a:t>，点击</a:t>
            </a:r>
            <a:r>
              <a:rPr lang="en-US" altLang="zh-CN" sz="1600" dirty="0"/>
              <a:t>Next</a:t>
            </a:r>
            <a:r>
              <a:rPr lang="en-US" altLang="zh-CN" sz="1600" dirty="0" smtClean="0"/>
              <a:t>&gt;</a:t>
            </a:r>
            <a:r>
              <a:rPr kumimoji="1" lang="en-US" altLang="zh-CN" sz="1600" dirty="0" smtClean="0">
                <a:latin typeface="微软雅黑"/>
                <a:ea typeface="微软雅黑"/>
                <a:cs typeface="微软雅黑"/>
              </a:rPr>
              <a:t>:</a:t>
            </a: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69444" y="1689844"/>
            <a:ext cx="621309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79256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0" y="897756"/>
            <a:ext cx="39283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2.1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一般专题图层制作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3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、下面</a:t>
            </a: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可以根据需求，对不同的需求设置不同的符号和颜色等信息。如果，无需设置，直接点击</a:t>
            </a:r>
            <a:r>
              <a:rPr kumimoji="1" lang="en-US" altLang="zh-CN" sz="1600" dirty="0">
                <a:latin typeface="微软雅黑"/>
                <a:ea typeface="微软雅黑"/>
                <a:cs typeface="微软雅黑"/>
              </a:rPr>
              <a:t>OK</a:t>
            </a:r>
            <a:r>
              <a:rPr kumimoji="1" lang="zh-CN" altLang="en-US" sz="1600" dirty="0">
                <a:latin typeface="微软雅黑"/>
                <a:ea typeface="微软雅黑"/>
                <a:cs typeface="微软雅黑"/>
              </a:rPr>
              <a:t>即可。如下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：</a:t>
            </a: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1994" y="897756"/>
            <a:ext cx="3974517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9256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21494" y="681732"/>
            <a:ext cx="392832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2.1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一般专题图层制作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 smtClean="0">
                <a:latin typeface="微软雅黑"/>
                <a:ea typeface="微软雅黑"/>
                <a:cs typeface="微软雅黑"/>
              </a:rPr>
              <a:t>4</a:t>
            </a:r>
            <a:r>
              <a:rPr kumimoji="1" lang="zh-CN" altLang="en-US" sz="1600" dirty="0" smtClean="0">
                <a:latin typeface="微软雅黑"/>
                <a:ea typeface="微软雅黑"/>
                <a:cs typeface="微软雅黑"/>
              </a:rPr>
              <a:t>、成果展示：</a:t>
            </a: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5830" y="897755"/>
            <a:ext cx="6408712" cy="4034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43362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21494" y="825748"/>
            <a:ext cx="3928325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2.2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渲染专题图层制作</a:t>
            </a: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-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以话务量举例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/>
              <a:t>话务量渲染效果图：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6495" y="1905868"/>
            <a:ext cx="6637967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23493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1" y="897756"/>
            <a:ext cx="31683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2.2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渲染专题图层制作</a:t>
            </a:r>
            <a:endParaRPr kumimoji="1" lang="en-US" altLang="zh-CN" sz="1600" b="1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/>
              <a:t>制作过程：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1</a:t>
            </a:r>
            <a:r>
              <a:rPr lang="zh-CN" altLang="en-US" sz="1600" dirty="0" smtClean="0"/>
              <a:t>、首先</a:t>
            </a:r>
            <a:r>
              <a:rPr lang="zh-CN" altLang="en-US" sz="1600" dirty="0"/>
              <a:t>完成基站数据的制作（省略）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注：基站数据的制作表中应包含需要渲染的字段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2</a:t>
            </a:r>
            <a:r>
              <a:rPr lang="zh-CN" altLang="en-US" sz="1600" dirty="0" smtClean="0"/>
              <a:t>、打开</a:t>
            </a:r>
            <a:r>
              <a:rPr lang="zh-CN" altLang="en-US" sz="1600" dirty="0"/>
              <a:t>需要渲染的</a:t>
            </a:r>
            <a:r>
              <a:rPr lang="en-US" altLang="zh-CN" sz="1600" dirty="0"/>
              <a:t>TAB</a:t>
            </a:r>
            <a:r>
              <a:rPr lang="zh-CN" altLang="en-US" sz="1600" dirty="0"/>
              <a:t>图</a:t>
            </a:r>
            <a:r>
              <a:rPr lang="zh-CN" altLang="en-US" sz="1600" dirty="0" smtClean="0"/>
              <a:t>层</a:t>
            </a: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33862" y="1545828"/>
            <a:ext cx="5688632" cy="316835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375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1" y="897756"/>
            <a:ext cx="316835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2.2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渲染专题图层制作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3</a:t>
            </a:r>
            <a:r>
              <a:rPr lang="zh-CN" altLang="en-US" sz="1600" dirty="0" smtClean="0"/>
              <a:t>、创建</a:t>
            </a:r>
            <a:r>
              <a:rPr lang="zh-CN" altLang="en-US" sz="1600" dirty="0"/>
              <a:t>专题图层</a:t>
            </a:r>
            <a:endParaRPr lang="zh-CN" altLang="zh-CN" sz="1600" dirty="0" smtClean="0"/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9846" y="1041772"/>
            <a:ext cx="6192688" cy="4038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34585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1" y="897756"/>
            <a:ext cx="316835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2.2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渲染专题图层制作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4</a:t>
            </a:r>
            <a:r>
              <a:rPr lang="zh-CN" altLang="en-US" sz="1600" dirty="0" smtClean="0"/>
              <a:t>、选择</a:t>
            </a:r>
            <a:r>
              <a:rPr lang="zh-CN" altLang="en-US" sz="1600" dirty="0"/>
              <a:t>需要进行渲染的图层和字段</a:t>
            </a:r>
            <a:endParaRPr kumimoji="1" lang="en-US" altLang="zh-CN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5870" y="1473820"/>
            <a:ext cx="5040560" cy="345638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23748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1" y="897756"/>
            <a:ext cx="316835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2.2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渲染专题图层制作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5</a:t>
            </a:r>
            <a:r>
              <a:rPr lang="zh-CN" altLang="en-US" sz="1600" dirty="0" smtClean="0"/>
              <a:t>、根据</a:t>
            </a:r>
            <a:r>
              <a:rPr lang="zh-CN" altLang="en-US" sz="1600" dirty="0"/>
              <a:t>需要对渲染的参数进行设置</a:t>
            </a:r>
            <a:endParaRPr kumimoji="1"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6466" y="897756"/>
            <a:ext cx="5340003" cy="38164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9325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5511" y="897756"/>
            <a:ext cx="316835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2.2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渲染专题图层制作</a:t>
            </a:r>
            <a:endParaRPr lang="zh-CN" altLang="zh-CN" sz="1600" dirty="0"/>
          </a:p>
          <a:p>
            <a:pPr lvl="0"/>
            <a:r>
              <a:rPr lang="en-US" altLang="zh-CN" sz="1600" dirty="0" smtClean="0"/>
              <a:t>6</a:t>
            </a:r>
            <a:r>
              <a:rPr lang="zh-CN" altLang="en-US" sz="1600" dirty="0" smtClean="0"/>
              <a:t>、</a:t>
            </a:r>
            <a:r>
              <a:rPr lang="zh-CN" altLang="zh-CN" sz="1600" dirty="0" smtClean="0"/>
              <a:t>按</a:t>
            </a:r>
            <a:r>
              <a:rPr lang="zh-CN" altLang="zh-CN" sz="1600" dirty="0"/>
              <a:t>需求设置像素密度（设置其他参数，会自动变化）</a:t>
            </a:r>
          </a:p>
          <a:p>
            <a:pPr>
              <a:lnSpc>
                <a:spcPct val="150000"/>
              </a:lnSpc>
            </a:pPr>
            <a:endParaRPr lang="en-US" altLang="zh-CN" sz="12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2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solidFill>
                  <a:srgbClr val="FF0000"/>
                </a:solidFill>
              </a:rPr>
              <a:t>注</a:t>
            </a:r>
            <a:r>
              <a:rPr lang="zh-CN" altLang="en-US" sz="1200" dirty="0">
                <a:solidFill>
                  <a:srgbClr val="FF0000"/>
                </a:solidFill>
              </a:rPr>
              <a:t>：</a:t>
            </a:r>
            <a:r>
              <a:rPr lang="en-US" altLang="zh-CN" sz="1200" dirty="0">
                <a:solidFill>
                  <a:srgbClr val="FF0000"/>
                </a:solidFill>
              </a:rPr>
              <a:t>Cell Size</a:t>
            </a:r>
            <a:r>
              <a:rPr lang="zh-CN" altLang="en-US" sz="1200" dirty="0">
                <a:solidFill>
                  <a:srgbClr val="FF0000"/>
                </a:solidFill>
              </a:rPr>
              <a:t>：调整像素大小；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Exponent</a:t>
            </a:r>
            <a:r>
              <a:rPr lang="zh-CN" altLang="en-US" sz="1200" dirty="0">
                <a:solidFill>
                  <a:srgbClr val="FF0000"/>
                </a:solidFill>
              </a:rPr>
              <a:t>：指数，调整相邻点的柔和度；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Search Radius</a:t>
            </a:r>
            <a:r>
              <a:rPr lang="zh-CN" altLang="en-US" sz="1200" dirty="0">
                <a:solidFill>
                  <a:srgbClr val="FF0000"/>
                </a:solidFill>
              </a:rPr>
              <a:t>：该参数调整的是从经纬度点开始，渲染的半径；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Grid Border</a:t>
            </a:r>
            <a:r>
              <a:rPr lang="zh-CN" altLang="en-US" sz="1200" dirty="0">
                <a:solidFill>
                  <a:srgbClr val="FF0000"/>
                </a:solidFill>
              </a:rPr>
              <a:t>：梯度边界，控制该半径内的梯度变化。</a:t>
            </a:r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4430" y="1473820"/>
            <a:ext cx="569208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7711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9486" y="146201"/>
            <a:ext cx="676875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/>
                <a:ea typeface="微软雅黑"/>
                <a:cs typeface="微软雅黑"/>
              </a:rPr>
              <a:t>二</a:t>
            </a:r>
            <a:r>
              <a:rPr kumimoji="1" lang="zh-CN" altLang="en-US" sz="2400" b="1" dirty="0" smtClean="0">
                <a:latin typeface="微软雅黑"/>
                <a:ea typeface="微软雅黑"/>
                <a:cs typeface="微软雅黑"/>
              </a:rPr>
              <a:t>、专题图层的制作</a:t>
            </a:r>
            <a:endParaRPr kumimoji="1" lang="en-US" altLang="zh-CN" sz="1400" dirty="0">
              <a:latin typeface="微软雅黑"/>
              <a:ea typeface="微软雅黑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49486" y="681732"/>
            <a:ext cx="9145016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49486" y="753740"/>
            <a:ext cx="316835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kumimoji="1" lang="zh-CN" altLang="en-US" sz="2000" b="1" dirty="0" smtClean="0">
                <a:latin typeface="微软雅黑"/>
                <a:ea typeface="微软雅黑"/>
              </a:rPr>
              <a:t>专题图层的分类制作</a:t>
            </a:r>
            <a:endParaRPr kumimoji="1" lang="en-US" altLang="zh-CN" sz="1400" dirty="0" smtClean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latin typeface="微软雅黑"/>
                <a:ea typeface="微软雅黑"/>
                <a:cs typeface="微软雅黑"/>
              </a:rPr>
              <a:t>2.2</a:t>
            </a:r>
            <a:r>
              <a:rPr kumimoji="1" lang="zh-CN" altLang="en-US" sz="1600" b="1" dirty="0" smtClean="0">
                <a:latin typeface="微软雅黑"/>
                <a:ea typeface="微软雅黑"/>
                <a:cs typeface="微软雅黑"/>
              </a:rPr>
              <a:t>   渲染专题图层制作</a:t>
            </a:r>
            <a:endParaRPr lang="zh-CN" altLang="zh-CN" sz="1600" dirty="0"/>
          </a:p>
          <a:p>
            <a:pPr lvl="0"/>
            <a:r>
              <a:rPr lang="en-US" altLang="zh-CN" sz="1600" dirty="0"/>
              <a:t>7</a:t>
            </a:r>
            <a:r>
              <a:rPr lang="zh-CN" altLang="en-US" sz="1600" dirty="0" smtClean="0"/>
              <a:t>、完成</a:t>
            </a:r>
            <a:r>
              <a:rPr lang="zh-CN" altLang="en-US" sz="1600" dirty="0"/>
              <a:t>后点击</a:t>
            </a:r>
            <a:r>
              <a:rPr lang="en-US" altLang="zh-CN" sz="1600" dirty="0"/>
              <a:t>OK</a:t>
            </a:r>
            <a:r>
              <a:rPr lang="zh-CN" altLang="en-US" sz="1600" dirty="0"/>
              <a:t>，采用默认的渲染效果如下：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3822" y="969764"/>
            <a:ext cx="6384940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36244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4139630" y="1017563"/>
            <a:ext cx="2586378" cy="701333"/>
          </a:xfrm>
          <a:prstGeom prst="rect">
            <a:avLst/>
          </a:prstGeom>
          <a:noFill/>
        </p:spPr>
        <p:txBody>
          <a:bodyPr lIns="100191" tIns="50095" rIns="100191" bIns="50095">
            <a:spAutoFit/>
          </a:bodyPr>
          <a:lstStyle/>
          <a:p>
            <a:pPr>
              <a:defRPr/>
            </a:pPr>
            <a:r>
              <a:rPr lang="zh-CN" altLang="en-US" sz="3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</a:p>
        </p:txBody>
      </p:sp>
      <p:sp>
        <p:nvSpPr>
          <p:cNvPr id="3" name="内容占位符 2">
            <a:extLst>
              <a:ext uri="{FF2B5EF4-FFF2-40B4-BE49-F238E27FC236}"/>
            </a:extLst>
          </p:cNvPr>
          <p:cNvSpPr txBox="1"/>
          <p:nvPr/>
        </p:nvSpPr>
        <p:spPr>
          <a:xfrm>
            <a:off x="3842162" y="2386527"/>
            <a:ext cx="3753098" cy="409690"/>
          </a:xfrm>
          <a:prstGeom prst="rect">
            <a:avLst/>
          </a:prstGeom>
        </p:spPr>
        <p:txBody>
          <a:bodyPr lIns="100191" tIns="50095" rIns="100191" bIns="50095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MapInfo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制作基站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扇区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图的步骤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>
            <a:extLst>
              <a:ext uri="{FF2B5EF4-FFF2-40B4-BE49-F238E27FC236}"/>
            </a:extLst>
          </p:cNvPr>
          <p:cNvSpPr/>
          <p:nvPr/>
        </p:nvSpPr>
        <p:spPr>
          <a:xfrm>
            <a:off x="3249005" y="2334898"/>
            <a:ext cx="382970" cy="366389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191" tIns="50095" rIns="100191" bIns="50095" anchor="ctr"/>
          <a:lstStyle/>
          <a:p>
            <a:pPr algn="ctr">
              <a:defRPr/>
            </a:pPr>
            <a:r>
              <a:rPr lang="en-US" altLang="zh-CN" b="1"/>
              <a:t>1</a:t>
            </a:r>
          </a:p>
        </p:txBody>
      </p:sp>
      <p:sp>
        <p:nvSpPr>
          <p:cNvPr id="5" name="内容占位符 2">
            <a:extLst>
              <a:ext uri="{FF2B5EF4-FFF2-40B4-BE49-F238E27FC236}"/>
            </a:extLst>
          </p:cNvPr>
          <p:cNvSpPr txBox="1"/>
          <p:nvPr/>
        </p:nvSpPr>
        <p:spPr>
          <a:xfrm>
            <a:off x="3842162" y="3327480"/>
            <a:ext cx="3753098" cy="409690"/>
          </a:xfrm>
          <a:prstGeom prst="rect">
            <a:avLst/>
          </a:prstGeom>
        </p:spPr>
        <p:txBody>
          <a:bodyPr lIns="100191" tIns="50095" rIns="100191" bIns="50095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MapInfo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制作基站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专题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图的步骤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/>
            </a:extLst>
          </p:cNvPr>
          <p:cNvSpPr/>
          <p:nvPr/>
        </p:nvSpPr>
        <p:spPr>
          <a:xfrm>
            <a:off x="3249005" y="3275853"/>
            <a:ext cx="382970" cy="366389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191" tIns="50095" rIns="100191" bIns="50095" anchor="ctr"/>
          <a:lstStyle/>
          <a:p>
            <a:pPr algn="ctr">
              <a:defRPr/>
            </a:pPr>
            <a:r>
              <a:rPr lang="en-US" altLang="zh-CN" b="1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0982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725</Words>
  <Application>Microsoft Office PowerPoint</Application>
  <PresentationFormat>自定义</PresentationFormat>
  <Paragraphs>111</Paragraphs>
  <Slides>24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Office 主题</vt:lpstr>
      <vt:lpstr>幻灯片 1</vt:lpstr>
      <vt:lpstr>幻灯片 2</vt:lpstr>
      <vt:lpstr>幻灯片 3</vt:lpstr>
      <vt:lpstr>幻灯片 4</vt:lpstr>
      <vt:lpstr>幻灯片 5</vt:lpstr>
      <vt:lpstr>一.使用MapInfo插件sitesee制作基站扇区图</vt:lpstr>
      <vt:lpstr>1、运行制作基站扇区图层的插件：</vt:lpstr>
      <vt:lpstr>2、使用SeeSite插件的“制作基站扇形数据”做扇区图：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ASUS</cp:lastModifiedBy>
  <cp:revision>159</cp:revision>
  <dcterms:created xsi:type="dcterms:W3CDTF">2016-04-25T01:13:00Z</dcterms:created>
  <dcterms:modified xsi:type="dcterms:W3CDTF">2022-04-18T06:57:59Z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2052-10.1.0.5603</vt:lpwstr>
  </property>
</Properties>
</file>