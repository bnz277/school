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3" r:id="rId3"/>
    <p:sldMasterId id="2147483655" r:id="rId4"/>
    <p:sldMasterId id="2147483662" r:id="rId5"/>
  </p:sldMasterIdLst>
  <p:notesMasterIdLst>
    <p:notesMasterId r:id="rId49"/>
  </p:notesMasterIdLst>
  <p:handoutMasterIdLst>
    <p:handoutMasterId r:id="rId50"/>
  </p:handoutMasterIdLst>
  <p:sldIdLst>
    <p:sldId id="272" r:id="rId6"/>
    <p:sldId id="415" r:id="rId7"/>
    <p:sldId id="316" r:id="rId8"/>
    <p:sldId id="421" r:id="rId9"/>
    <p:sldId id="423" r:id="rId10"/>
    <p:sldId id="424" r:id="rId11"/>
    <p:sldId id="426" r:id="rId12"/>
    <p:sldId id="428" r:id="rId13"/>
    <p:sldId id="425" r:id="rId14"/>
    <p:sldId id="427" r:id="rId15"/>
    <p:sldId id="429" r:id="rId16"/>
    <p:sldId id="430" r:id="rId17"/>
    <p:sldId id="431" r:id="rId18"/>
    <p:sldId id="432" r:id="rId19"/>
    <p:sldId id="433" r:id="rId20"/>
    <p:sldId id="434" r:id="rId21"/>
    <p:sldId id="435" r:id="rId22"/>
    <p:sldId id="436" r:id="rId23"/>
    <p:sldId id="437" r:id="rId24"/>
    <p:sldId id="438" r:id="rId25"/>
    <p:sldId id="439" r:id="rId26"/>
    <p:sldId id="440" r:id="rId27"/>
    <p:sldId id="441" r:id="rId28"/>
    <p:sldId id="442" r:id="rId29"/>
    <p:sldId id="443" r:id="rId30"/>
    <p:sldId id="444" r:id="rId31"/>
    <p:sldId id="445" r:id="rId32"/>
    <p:sldId id="446" r:id="rId33"/>
    <p:sldId id="447" r:id="rId34"/>
    <p:sldId id="448" r:id="rId35"/>
    <p:sldId id="450" r:id="rId36"/>
    <p:sldId id="451" r:id="rId37"/>
    <p:sldId id="452" r:id="rId38"/>
    <p:sldId id="453" r:id="rId39"/>
    <p:sldId id="454" r:id="rId40"/>
    <p:sldId id="455" r:id="rId41"/>
    <p:sldId id="456" r:id="rId42"/>
    <p:sldId id="457" r:id="rId43"/>
    <p:sldId id="458" r:id="rId44"/>
    <p:sldId id="422" r:id="rId45"/>
    <p:sldId id="459" r:id="rId46"/>
    <p:sldId id="461" r:id="rId47"/>
    <p:sldId id="462" r:id="rId48"/>
  </p:sldIdLst>
  <p:sldSz cx="12192000" cy="6858000"/>
  <p:notesSz cx="7104063" cy="10234613"/>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9181C"/>
    <a:srgbClr val="0076CB"/>
    <a:srgbClr val="C9191C"/>
    <a:srgbClr val="EA9ADF"/>
    <a:srgbClr val="FC9988"/>
    <a:srgbClr val="5B9BD5"/>
    <a:srgbClr val="99CC00"/>
    <a:srgbClr val="6666FE"/>
    <a:srgbClr val="6565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13" autoAdjust="0"/>
    <p:restoredTop sz="58864" autoAdjust="0"/>
  </p:normalViewPr>
  <p:slideViewPr>
    <p:cSldViewPr snapToGrid="0" showGuides="1">
      <p:cViewPr varScale="1">
        <p:scale>
          <a:sx n="65" d="100"/>
          <a:sy n="65" d="100"/>
        </p:scale>
        <p:origin x="2286" y="60"/>
      </p:cViewPr>
      <p:guideLst>
        <p:guide orient="horz" pos="2190"/>
        <p:guide pos="3840"/>
      </p:guideLst>
    </p:cSldViewPr>
  </p:slideViewPr>
  <p:notesTextViewPr>
    <p:cViewPr>
      <p:scale>
        <a:sx n="3" d="2"/>
        <a:sy n="3" d="2"/>
      </p:scale>
      <p:origin x="0" y="0"/>
    </p:cViewPr>
  </p:notesTextViewPr>
  <p:sorterViewPr>
    <p:cViewPr>
      <p:scale>
        <a:sx n="100" d="100"/>
        <a:sy n="100" d="100"/>
      </p:scale>
      <p:origin x="0" y="-8532"/>
    </p:cViewPr>
  </p:sorter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2025/9/3</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2025/9/3</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extLst>
      <p:ext uri="{BB962C8B-B14F-4D97-AF65-F5344CB8AC3E}">
        <p14:creationId xmlns:p14="http://schemas.microsoft.com/office/powerpoint/2010/main" val="2886947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18</a:t>
            </a:fld>
            <a:endParaRPr lang="zh-CN" altLang="en-US"/>
          </a:p>
        </p:txBody>
      </p:sp>
    </p:spTree>
    <p:extLst>
      <p:ext uri="{BB962C8B-B14F-4D97-AF65-F5344CB8AC3E}">
        <p14:creationId xmlns:p14="http://schemas.microsoft.com/office/powerpoint/2010/main" val="3177802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20</a:t>
            </a:fld>
            <a:endParaRPr lang="zh-CN" altLang="en-US"/>
          </a:p>
        </p:txBody>
      </p:sp>
    </p:spTree>
    <p:extLst>
      <p:ext uri="{BB962C8B-B14F-4D97-AF65-F5344CB8AC3E}">
        <p14:creationId xmlns:p14="http://schemas.microsoft.com/office/powerpoint/2010/main" val="2129167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22</a:t>
            </a:fld>
            <a:endParaRPr lang="zh-CN" altLang="en-US"/>
          </a:p>
        </p:txBody>
      </p:sp>
    </p:spTree>
    <p:extLst>
      <p:ext uri="{BB962C8B-B14F-4D97-AF65-F5344CB8AC3E}">
        <p14:creationId xmlns:p14="http://schemas.microsoft.com/office/powerpoint/2010/main" val="335873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23</a:t>
            </a:fld>
            <a:endParaRPr lang="zh-CN" altLang="en-US"/>
          </a:p>
        </p:txBody>
      </p:sp>
    </p:spTree>
    <p:extLst>
      <p:ext uri="{BB962C8B-B14F-4D97-AF65-F5344CB8AC3E}">
        <p14:creationId xmlns:p14="http://schemas.microsoft.com/office/powerpoint/2010/main" val="1518274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24</a:t>
            </a:fld>
            <a:endParaRPr lang="zh-CN" altLang="en-US"/>
          </a:p>
        </p:txBody>
      </p:sp>
    </p:spTree>
    <p:extLst>
      <p:ext uri="{BB962C8B-B14F-4D97-AF65-F5344CB8AC3E}">
        <p14:creationId xmlns:p14="http://schemas.microsoft.com/office/powerpoint/2010/main" val="1817883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25</a:t>
            </a:fld>
            <a:endParaRPr lang="zh-CN" altLang="en-US"/>
          </a:p>
        </p:txBody>
      </p:sp>
    </p:spTree>
    <p:extLst>
      <p:ext uri="{BB962C8B-B14F-4D97-AF65-F5344CB8AC3E}">
        <p14:creationId xmlns:p14="http://schemas.microsoft.com/office/powerpoint/2010/main" val="1212481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26</a:t>
            </a:fld>
            <a:endParaRPr lang="zh-CN" altLang="en-US"/>
          </a:p>
        </p:txBody>
      </p:sp>
    </p:spTree>
    <p:extLst>
      <p:ext uri="{BB962C8B-B14F-4D97-AF65-F5344CB8AC3E}">
        <p14:creationId xmlns:p14="http://schemas.microsoft.com/office/powerpoint/2010/main" val="3737979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27</a:t>
            </a:fld>
            <a:endParaRPr lang="zh-CN" altLang="en-US"/>
          </a:p>
        </p:txBody>
      </p:sp>
    </p:spTree>
    <p:extLst>
      <p:ext uri="{BB962C8B-B14F-4D97-AF65-F5344CB8AC3E}">
        <p14:creationId xmlns:p14="http://schemas.microsoft.com/office/powerpoint/2010/main" val="1457610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28</a:t>
            </a:fld>
            <a:endParaRPr lang="zh-CN" altLang="en-US"/>
          </a:p>
        </p:txBody>
      </p:sp>
    </p:spTree>
    <p:extLst>
      <p:ext uri="{BB962C8B-B14F-4D97-AF65-F5344CB8AC3E}">
        <p14:creationId xmlns:p14="http://schemas.microsoft.com/office/powerpoint/2010/main" val="282611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29</a:t>
            </a:fld>
            <a:endParaRPr lang="zh-CN" altLang="en-US"/>
          </a:p>
        </p:txBody>
      </p:sp>
    </p:spTree>
    <p:extLst>
      <p:ext uri="{BB962C8B-B14F-4D97-AF65-F5344CB8AC3E}">
        <p14:creationId xmlns:p14="http://schemas.microsoft.com/office/powerpoint/2010/main" val="2212602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30</a:t>
            </a:fld>
            <a:endParaRPr lang="zh-CN" altLang="en-US"/>
          </a:p>
        </p:txBody>
      </p:sp>
    </p:spTree>
    <p:extLst>
      <p:ext uri="{BB962C8B-B14F-4D97-AF65-F5344CB8AC3E}">
        <p14:creationId xmlns:p14="http://schemas.microsoft.com/office/powerpoint/2010/main" val="98160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31</a:t>
            </a:fld>
            <a:endParaRPr lang="zh-CN" altLang="en-US"/>
          </a:p>
        </p:txBody>
      </p:sp>
    </p:spTree>
    <p:extLst>
      <p:ext uri="{BB962C8B-B14F-4D97-AF65-F5344CB8AC3E}">
        <p14:creationId xmlns:p14="http://schemas.microsoft.com/office/powerpoint/2010/main" val="3360237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32</a:t>
            </a:fld>
            <a:endParaRPr lang="zh-CN" altLang="en-US"/>
          </a:p>
        </p:txBody>
      </p:sp>
    </p:spTree>
    <p:extLst>
      <p:ext uri="{BB962C8B-B14F-4D97-AF65-F5344CB8AC3E}">
        <p14:creationId xmlns:p14="http://schemas.microsoft.com/office/powerpoint/2010/main" val="2384736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33</a:t>
            </a:fld>
            <a:endParaRPr lang="zh-CN" altLang="en-US"/>
          </a:p>
        </p:txBody>
      </p:sp>
    </p:spTree>
    <p:extLst>
      <p:ext uri="{BB962C8B-B14F-4D97-AF65-F5344CB8AC3E}">
        <p14:creationId xmlns:p14="http://schemas.microsoft.com/office/powerpoint/2010/main" val="1081266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34</a:t>
            </a:fld>
            <a:endParaRPr lang="zh-CN" altLang="en-US"/>
          </a:p>
        </p:txBody>
      </p:sp>
    </p:spTree>
    <p:extLst>
      <p:ext uri="{BB962C8B-B14F-4D97-AF65-F5344CB8AC3E}">
        <p14:creationId xmlns:p14="http://schemas.microsoft.com/office/powerpoint/2010/main" val="14506731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35</a:t>
            </a:fld>
            <a:endParaRPr lang="zh-CN" altLang="en-US"/>
          </a:p>
        </p:txBody>
      </p:sp>
    </p:spTree>
    <p:extLst>
      <p:ext uri="{BB962C8B-B14F-4D97-AF65-F5344CB8AC3E}">
        <p14:creationId xmlns:p14="http://schemas.microsoft.com/office/powerpoint/2010/main" val="3858275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36</a:t>
            </a:fld>
            <a:endParaRPr lang="zh-CN" altLang="en-US"/>
          </a:p>
        </p:txBody>
      </p:sp>
    </p:spTree>
    <p:extLst>
      <p:ext uri="{BB962C8B-B14F-4D97-AF65-F5344CB8AC3E}">
        <p14:creationId xmlns:p14="http://schemas.microsoft.com/office/powerpoint/2010/main" val="3270459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37</a:t>
            </a:fld>
            <a:endParaRPr lang="zh-CN" altLang="en-US"/>
          </a:p>
        </p:txBody>
      </p:sp>
    </p:spTree>
    <p:extLst>
      <p:ext uri="{BB962C8B-B14F-4D97-AF65-F5344CB8AC3E}">
        <p14:creationId xmlns:p14="http://schemas.microsoft.com/office/powerpoint/2010/main" val="4169550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38</a:t>
            </a:fld>
            <a:endParaRPr lang="zh-CN" altLang="en-US"/>
          </a:p>
        </p:txBody>
      </p:sp>
    </p:spTree>
    <p:extLst>
      <p:ext uri="{BB962C8B-B14F-4D97-AF65-F5344CB8AC3E}">
        <p14:creationId xmlns:p14="http://schemas.microsoft.com/office/powerpoint/2010/main" val="3906579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39</a:t>
            </a:fld>
            <a:endParaRPr lang="zh-CN" altLang="en-US"/>
          </a:p>
        </p:txBody>
      </p:sp>
    </p:spTree>
    <p:extLst>
      <p:ext uri="{BB962C8B-B14F-4D97-AF65-F5344CB8AC3E}">
        <p14:creationId xmlns:p14="http://schemas.microsoft.com/office/powerpoint/2010/main" val="3589415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41</a:t>
            </a:fld>
            <a:endParaRPr lang="zh-CN" altLang="en-US"/>
          </a:p>
        </p:txBody>
      </p:sp>
    </p:spTree>
    <p:extLst>
      <p:ext uri="{BB962C8B-B14F-4D97-AF65-F5344CB8AC3E}">
        <p14:creationId xmlns:p14="http://schemas.microsoft.com/office/powerpoint/2010/main" val="1457921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33730" y="2171065"/>
            <a:ext cx="9644380" cy="1079500"/>
          </a:xfrm>
        </p:spPr>
        <p:txBody>
          <a:bodyPr anchor="b"/>
          <a:lstStyle>
            <a:lvl1pPr algn="l">
              <a:defRPr sz="5000" b="1"/>
            </a:lvl1pPr>
          </a:lstStyle>
          <a:p>
            <a:r>
              <a:rPr lang="zh-CN" altLang="en-US"/>
              <a:t>单击此处编辑母版标题样式</a:t>
            </a:r>
          </a:p>
        </p:txBody>
      </p:sp>
      <p:sp>
        <p:nvSpPr>
          <p:cNvPr id="3" name="副标题 2"/>
          <p:cNvSpPr>
            <a:spLocks noGrp="1"/>
          </p:cNvSpPr>
          <p:nvPr>
            <p:ph type="subTitle" idx="1"/>
          </p:nvPr>
        </p:nvSpPr>
        <p:spPr>
          <a:xfrm>
            <a:off x="838200" y="3602355"/>
            <a:ext cx="6307455" cy="485140"/>
          </a:xfr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6" name="标题 5"/>
          <p:cNvSpPr>
            <a:spLocks noGrp="1"/>
          </p:cNvSpPr>
          <p:nvPr>
            <p:ph type="title" hasCustomPrompt="1"/>
          </p:nvPr>
        </p:nvSpPr>
        <p:spPr>
          <a:xfrm>
            <a:off x="983615" y="685165"/>
            <a:ext cx="3374390" cy="1473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9" name="图片占位符 8"/>
          <p:cNvSpPr>
            <a:spLocks noGrp="1" noChangeAspect="1"/>
          </p:cNvSpPr>
          <p:nvPr>
            <p:ph type="pic" idx="1"/>
          </p:nvPr>
        </p:nvSpPr>
        <p:spPr>
          <a:xfrm>
            <a:off x="5193665" y="132461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10" name="文本占位符 9"/>
          <p:cNvSpPr>
            <a:spLocks noGrp="1"/>
          </p:cNvSpPr>
          <p:nvPr>
            <p:ph type="body" sz="half" idx="2"/>
          </p:nvPr>
        </p:nvSpPr>
        <p:spPr>
          <a:xfrm>
            <a:off x="988695" y="261556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A777808-ED14-4426-99DB-3B4265319C79}" type="datetimeFigureOut">
              <a:rPr lang="zh-CN" altLang="en-US" smtClean="0"/>
              <a:t>2025/9/3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3B3216A1-BAFB-4293-B513-399F2391224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01390" y="2766060"/>
            <a:ext cx="8090535" cy="1325880"/>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图片占位符 6"/>
          <p:cNvSpPr>
            <a:spLocks noGrp="1" noChangeAspect="1"/>
          </p:cNvSpPr>
          <p:nvPr>
            <p:ph type="pic" idx="1"/>
          </p:nvPr>
        </p:nvSpPr>
        <p:spPr>
          <a:xfrm>
            <a:off x="5398135" y="1664970"/>
            <a:ext cx="5354320" cy="46894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8" name="文本占位符 7"/>
          <p:cNvSpPr>
            <a:spLocks noGrp="1"/>
          </p:cNvSpPr>
          <p:nvPr>
            <p:ph type="body" sz="half" idx="2"/>
          </p:nvPr>
        </p:nvSpPr>
        <p:spPr>
          <a:xfrm>
            <a:off x="1193165" y="2955925"/>
            <a:ext cx="3374390" cy="3509010"/>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838200" y="1511300"/>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4" name="内容占位符 3"/>
          <p:cNvSpPr>
            <a:spLocks noGrp="1"/>
          </p:cNvSpPr>
          <p:nvPr>
            <p:ph sz="half" idx="1"/>
          </p:nvPr>
        </p:nvSpPr>
        <p:spPr>
          <a:xfrm>
            <a:off x="49974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half" idx="2"/>
          </p:nvPr>
        </p:nvSpPr>
        <p:spPr>
          <a:xfrm>
            <a:off x="6217285" y="1628775"/>
            <a:ext cx="5457825" cy="424815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574040" y="1395095"/>
            <a:ext cx="6176010"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995160" y="1395095"/>
            <a:ext cx="4571365" cy="4358640"/>
          </a:xfrm>
        </p:spPr>
        <p:txBody>
          <a:bodyPr/>
          <a:lstStyle>
            <a:lvl1pPr>
              <a:defRPr sz="20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标题 2"/>
          <p:cNvSpPr>
            <a:spLocks noGrp="1"/>
          </p:cNvSpPr>
          <p:nvPr>
            <p:ph type="title"/>
          </p:nvPr>
        </p:nvSpPr>
        <p:spPr>
          <a:xfrm>
            <a:off x="1064895" y="458470"/>
            <a:ext cx="10515600" cy="535305"/>
          </a:xfrm>
        </p:spPr>
        <p:txBody>
          <a:bodyPr/>
          <a:lstStyle>
            <a:lvl1pPr>
              <a:defRPr sz="2400" b="1">
                <a:solidFill>
                  <a:schemeClr val="bg1"/>
                </a:solidFill>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2_两栏内容">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descr="资源 1"/>
          <p:cNvPicPr>
            <a:picLocks noChangeAspect="1"/>
          </p:cNvPicPr>
          <p:nvPr userDrawn="1"/>
        </p:nvPicPr>
        <p:blipFill>
          <a:blip r:embed="rId5"/>
          <a:stretch>
            <a:fillRect/>
          </a:stretch>
        </p:blipFill>
        <p:spPr>
          <a:xfrm>
            <a:off x="9857105" y="5573395"/>
            <a:ext cx="2054860" cy="807085"/>
          </a:xfrm>
          <a:prstGeom prst="rect">
            <a:avLst/>
          </a:prstGeom>
        </p:spPr>
      </p:pic>
      <p:sp>
        <p:nvSpPr>
          <p:cNvPr id="5" name="标题占位符 1"/>
          <p:cNvSpPr>
            <a:spLocks noGrp="1"/>
          </p:cNvSpPr>
          <p:nvPr>
            <p:ph type="title"/>
            <p:custDataLst>
              <p:tags r:id="rId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6" name="文本占位符 5"/>
          <p:cNvSpPr>
            <a:spLocks noGrp="1"/>
          </p:cNvSpPr>
          <p:nvPr>
            <p:ph type="body" idx="1"/>
            <p:custDataLst>
              <p:tags r:id="rId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57" name="矩形 56"/>
          <p:cNvSpPr/>
          <p:nvPr userDrawn="1"/>
        </p:nvSpPr>
        <p:spPr>
          <a:xfrm>
            <a:off x="6218555" y="2288540"/>
            <a:ext cx="5624830" cy="4139565"/>
          </a:xfrm>
          <a:prstGeom prst="rect">
            <a:avLst/>
          </a:prstGeom>
          <a:blipFill rotWithShape="1">
            <a:blip r:embed="rId4">
              <a:alphaModFix amt="27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资源 1"/>
          <p:cNvPicPr>
            <a:picLocks noChangeAspect="1"/>
          </p:cNvPicPr>
          <p:nvPr userDrawn="1"/>
        </p:nvPicPr>
        <p:blipFill>
          <a:blip r:embed="rId5"/>
          <a:stretch>
            <a:fillRect/>
          </a:stretch>
        </p:blipFill>
        <p:spPr>
          <a:xfrm>
            <a:off x="9857105" y="5573395"/>
            <a:ext cx="2054860" cy="80708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2800" kern="1200">
          <a:solidFill>
            <a:srgbClr val="CA171D"/>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D9C70D-B7C8-466D-B87C-22D855EF72C6}" type="datetimeFigureOut">
              <a:rPr lang="zh-CN" altLang="en-US" smtClean="0"/>
              <a:t>2025/9/3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045BA-9AC9-4435-A9A0-D822685BA7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notesSlide" Target="../notesSlides/notesSlide1.xml"/><Relationship Id="rId4" Type="http://schemas.openxmlformats.org/officeDocument/2006/relationships/tags" Target="../tags/tag9.xml"/><Relationship Id="rId9"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5.bin"/><Relationship Id="rId3" Type="http://schemas.openxmlformats.org/officeDocument/2006/relationships/image" Target="../media/image7.wmf"/><Relationship Id="rId7" Type="http://schemas.openxmlformats.org/officeDocument/2006/relationships/oleObject" Target="../embeddings/oleObject3.bin"/><Relationship Id="rId12"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6.xml"/><Relationship Id="rId6" Type="http://schemas.openxmlformats.org/officeDocument/2006/relationships/image" Target="../media/image9.wmf"/><Relationship Id="rId11" Type="http://schemas.openxmlformats.org/officeDocument/2006/relationships/image" Target="../media/image12.wmf"/><Relationship Id="rId5" Type="http://schemas.openxmlformats.org/officeDocument/2006/relationships/oleObject" Target="../embeddings/oleObject2.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4.bin"/><Relationship Id="rId14" Type="http://schemas.openxmlformats.org/officeDocument/2006/relationships/image" Target="../media/image14.wmf"/></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31.jpe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3.jpeg"/><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35.jpeg"/><Relationship Id="rId4" Type="http://schemas.openxmlformats.org/officeDocument/2006/relationships/image" Target="../media/image34.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36.png"/><Relationship Id="rId7" Type="http://schemas.openxmlformats.org/officeDocument/2006/relationships/image" Target="../media/image38.wm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oleObject" Target="../embeddings/oleObject9.bin"/><Relationship Id="rId5" Type="http://schemas.openxmlformats.org/officeDocument/2006/relationships/image" Target="../media/image37.wmf"/><Relationship Id="rId4" Type="http://schemas.openxmlformats.org/officeDocument/2006/relationships/oleObject" Target="../embeddings/oleObject8.bin"/><Relationship Id="rId9" Type="http://schemas.openxmlformats.org/officeDocument/2006/relationships/image" Target="../media/image39.wmf"/></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41.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9.xml"/><Relationship Id="rId1" Type="http://schemas.openxmlformats.org/officeDocument/2006/relationships/tags" Target="../tags/tag1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a:t>
            </a:r>
            <a:r>
              <a:rPr lang="zh-CN" altLang="en-US" dirty="0"/>
              <a:t>无线网络规划与优化</a:t>
            </a:r>
            <a:r>
              <a:rPr lang="en-US" altLang="zh-CN" dirty="0"/>
              <a:t>》</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p:cNvSpPr/>
          <p:nvPr/>
        </p:nvSpPr>
        <p:spPr>
          <a:xfrm>
            <a:off x="2813044" y="2277357"/>
            <a:ext cx="6521767" cy="163108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5" name="圆角矩形 17"/>
          <p:cNvSpPr/>
          <p:nvPr/>
        </p:nvSpPr>
        <p:spPr>
          <a:xfrm>
            <a:off x="3410072" y="2026113"/>
            <a:ext cx="5219376" cy="513864"/>
          </a:xfrm>
          <a:prstGeom prst="roundRect">
            <a:avLst/>
          </a:prstGeom>
          <a:solidFill>
            <a:srgbClr val="C91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40"/>
          </a:p>
        </p:txBody>
      </p:sp>
      <p:sp>
        <p:nvSpPr>
          <p:cNvPr id="6" name="文本框 5"/>
          <p:cNvSpPr txBox="1"/>
          <p:nvPr/>
        </p:nvSpPr>
        <p:spPr>
          <a:xfrm>
            <a:off x="3588150" y="2082706"/>
            <a:ext cx="4652692" cy="348429"/>
          </a:xfrm>
          <a:prstGeom prst="rect">
            <a:avLst/>
          </a:prstGeom>
          <a:noFill/>
        </p:spPr>
        <p:txBody>
          <a:bodyPr wrap="square" rtlCol="0">
            <a:spAutoFit/>
          </a:bodyPr>
          <a:lstStyle/>
          <a:p>
            <a:pPr algn="dist"/>
            <a:r>
              <a:rPr kumimoji="1" lang="zh-CN" altLang="en-US" sz="1665" dirty="0">
                <a:solidFill>
                  <a:schemeClr val="bg1"/>
                </a:solidFill>
                <a:latin typeface="微软雅黑" panose="020B0503020204020204" charset="-122"/>
                <a:ea typeface="微软雅黑" panose="020B0503020204020204" charset="-122"/>
                <a:cs typeface="微软雅黑" panose="020B0503020204020204" charset="-122"/>
              </a:rPr>
              <a:t>理论篇</a:t>
            </a:r>
          </a:p>
        </p:txBody>
      </p:sp>
      <p:sp>
        <p:nvSpPr>
          <p:cNvPr id="7" name="文本框 6"/>
          <p:cNvSpPr txBox="1"/>
          <p:nvPr/>
        </p:nvSpPr>
        <p:spPr>
          <a:xfrm>
            <a:off x="2793541" y="2783065"/>
            <a:ext cx="6604542" cy="882293"/>
          </a:xfrm>
          <a:prstGeom prst="rect">
            <a:avLst/>
          </a:prstGeom>
          <a:noFill/>
        </p:spPr>
        <p:txBody>
          <a:bodyPr wrap="square" rtlCol="0">
            <a:spAutoFit/>
          </a:bodyPr>
          <a:lstStyle/>
          <a:p>
            <a:pPr algn="dist">
              <a:lnSpc>
                <a:spcPct val="120000"/>
              </a:lnSpc>
            </a:pPr>
            <a:r>
              <a:rPr kumimoji="1" lang="zh-CN" altLang="en-US" sz="4280" b="1" dirty="0">
                <a:latin typeface="微软雅黑" panose="020B0503020204020204" charset="-122"/>
                <a:ea typeface="微软雅黑" panose="020B0503020204020204" charset="-122"/>
                <a:cs typeface="微软雅黑" panose="020B0503020204020204" charset="-122"/>
              </a:rPr>
              <a:t>项目一：</a:t>
            </a:r>
            <a:r>
              <a:rPr kumimoji="1" lang="en-US" altLang="zh-CN" sz="4280" b="1" dirty="0">
                <a:latin typeface="微软雅黑" panose="020B0503020204020204" charset="-122"/>
                <a:ea typeface="微软雅黑" panose="020B0503020204020204" charset="-122"/>
                <a:cs typeface="微软雅黑" panose="020B0503020204020204" charset="-122"/>
              </a:rPr>
              <a:t>LTE</a:t>
            </a:r>
            <a:r>
              <a:rPr kumimoji="1" lang="zh-CN" altLang="en-US" sz="4280" b="1" dirty="0">
                <a:latin typeface="微软雅黑" panose="020B0503020204020204" charset="-122"/>
                <a:ea typeface="微软雅黑" panose="020B0503020204020204" charset="-122"/>
                <a:cs typeface="微软雅黑" panose="020B0503020204020204" charset="-122"/>
              </a:rPr>
              <a:t>网络的认知</a:t>
            </a:r>
          </a:p>
        </p:txBody>
      </p:sp>
      <p:sp>
        <p:nvSpPr>
          <p:cNvPr id="8" name="椭圆 7"/>
          <p:cNvSpPr/>
          <p:nvPr/>
        </p:nvSpPr>
        <p:spPr>
          <a:xfrm>
            <a:off x="7477216" y="3858754"/>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
        <p:nvSpPr>
          <p:cNvPr id="9" name="椭圆 8"/>
          <p:cNvSpPr/>
          <p:nvPr/>
        </p:nvSpPr>
        <p:spPr>
          <a:xfrm>
            <a:off x="4626442" y="3852717"/>
            <a:ext cx="89794" cy="8979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214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grpSp>
        <p:nvGrpSpPr>
          <p:cNvPr id="4" name="组合 3"/>
          <p:cNvGrpSpPr/>
          <p:nvPr>
            <p:custDataLst>
              <p:tags r:id="rId1"/>
            </p:custDataLst>
          </p:nvPr>
        </p:nvGrpSpPr>
        <p:grpSpPr>
          <a:xfrm>
            <a:off x="1064895" y="1453814"/>
            <a:ext cx="9196745" cy="1819946"/>
            <a:chOff x="1689815" y="2362692"/>
            <a:chExt cx="9196745" cy="1819946"/>
          </a:xfrm>
        </p:grpSpPr>
        <p:sp>
          <p:nvSpPr>
            <p:cNvPr id="5" name="矩形 4"/>
            <p:cNvSpPr/>
            <p:nvPr>
              <p:custDataLst>
                <p:tags r:id="rId6"/>
              </p:custDataLst>
            </p:nvPr>
          </p:nvSpPr>
          <p:spPr>
            <a:xfrm>
              <a:off x="1794590" y="2662236"/>
              <a:ext cx="547687" cy="5667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01</a:t>
              </a:r>
              <a:endParaRPr lang="zh-CN" altLang="en-US" sz="1800" b="1" dirty="0">
                <a:solidFill>
                  <a:schemeClr val="bg1"/>
                </a:solidFill>
                <a:latin typeface="+mj-lt"/>
                <a:cs typeface="+mj-lt"/>
                <a:sym typeface="Arial" panose="020B0604020202020204" pitchFamily="34" charset="0"/>
              </a:endParaRPr>
            </a:p>
          </p:txBody>
        </p:sp>
        <p:sp>
          <p:nvSpPr>
            <p:cNvPr id="6" name="任意多边形 5"/>
            <p:cNvSpPr/>
            <p:nvPr>
              <p:custDataLst>
                <p:tags r:id="rId7"/>
              </p:custDataLst>
            </p:nvPr>
          </p:nvSpPr>
          <p:spPr>
            <a:xfrm>
              <a:off x="1689815" y="2553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7" name="文本框 6"/>
            <p:cNvSpPr txBox="1"/>
            <p:nvPr>
              <p:custDataLst>
                <p:tags r:id="rId8"/>
              </p:custDataLst>
            </p:nvPr>
          </p:nvSpPr>
          <p:spPr>
            <a:xfrm>
              <a:off x="2543678" y="2362692"/>
              <a:ext cx="8342882" cy="1819946"/>
            </a:xfrm>
            <a:prstGeom prst="rect">
              <a:avLst/>
            </a:prstGeom>
            <a:noFill/>
          </p:spPr>
          <p:txBody>
            <a:bodyPr wrap="square" lIns="0" tIns="0" rIns="0" bIns="0" rtlCol="0" anchor="ctr" anchorCtr="0">
              <a:noAutofit/>
            </a:bodyPr>
            <a:lstStyle/>
            <a:p>
              <a:pPr>
                <a:lnSpc>
                  <a:spcPts val="2800"/>
                </a:lnSpc>
              </a:pPr>
              <a:r>
                <a:rPr lang="zh-CN" altLang="en-US" sz="2000" b="1" dirty="0">
                  <a:latin typeface="微软雅黑" panose="020B0503020204020204" charset="-122"/>
                  <a:ea typeface="微软雅黑" panose="020B0503020204020204" charset="-122"/>
                </a:rPr>
                <a:t>任务描述</a:t>
              </a:r>
              <a:r>
                <a:rPr lang="en-US" altLang="zh-CN" sz="2000" b="1" dirty="0">
                  <a:latin typeface="微软雅黑" panose="020B0503020204020204" charset="-122"/>
                  <a:ea typeface="微软雅黑" panose="020B0503020204020204" charset="-122"/>
                </a:rPr>
                <a:t>:</a:t>
              </a:r>
            </a:p>
            <a:p>
              <a:pPr>
                <a:lnSpc>
                  <a:spcPts val="2800"/>
                </a:lnSpc>
              </a:pPr>
              <a:r>
                <a:rPr lang="zh-CN" altLang="en-US" dirty="0">
                  <a:latin typeface="微软雅黑" panose="020B0503020204020204" charset="-122"/>
                </a:rPr>
                <a:t>合理的天线设计是网络规划非常重要的一个环节，天线选型的正确与否将直接影响网络覆盖的效果，且天线调整又是解决网络优化覆盖问题的重要手段之一。本任务我们将认识天线、读懂天线参数表、学会计算天线覆盖范围，掌握不同无线场景下天线的选型原则。</a:t>
              </a:r>
              <a:endParaRPr lang="en-US" altLang="zh-CN" dirty="0">
                <a:solidFill>
                  <a:schemeClr val="tx1"/>
                </a:solidFill>
                <a:latin typeface="微软雅黑" panose="020B0503020204020204" charset="-122"/>
                <a:ea typeface="微软雅黑" panose="020B0503020204020204" charset="-122"/>
                <a:cs typeface="+mj-cs"/>
                <a:sym typeface="+mn-ea"/>
              </a:endParaRPr>
            </a:p>
          </p:txBody>
        </p:sp>
      </p:grpSp>
      <p:grpSp>
        <p:nvGrpSpPr>
          <p:cNvPr id="8" name="组合 7"/>
          <p:cNvGrpSpPr/>
          <p:nvPr>
            <p:custDataLst>
              <p:tags r:id="rId2"/>
            </p:custDataLst>
          </p:nvPr>
        </p:nvGrpSpPr>
        <p:grpSpPr>
          <a:xfrm>
            <a:off x="1064895" y="3733800"/>
            <a:ext cx="9150178" cy="1843890"/>
            <a:chOff x="1689815" y="3323832"/>
            <a:chExt cx="9150178" cy="1843890"/>
          </a:xfrm>
        </p:grpSpPr>
        <p:sp>
          <p:nvSpPr>
            <p:cNvPr id="9" name="矩形 8"/>
            <p:cNvSpPr/>
            <p:nvPr>
              <p:custDataLst>
                <p:tags r:id="rId3"/>
              </p:custDataLst>
            </p:nvPr>
          </p:nvSpPr>
          <p:spPr>
            <a:xfrm>
              <a:off x="1794590" y="3805236"/>
              <a:ext cx="547687" cy="566738"/>
            </a:xfrm>
            <a:prstGeom prst="rec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1800" b="1" dirty="0">
                  <a:solidFill>
                    <a:schemeClr val="bg1"/>
                  </a:solidFill>
                  <a:latin typeface="+mj-lt"/>
                  <a:cs typeface="+mj-lt"/>
                  <a:sym typeface="Arial" panose="020B0604020202020204" pitchFamily="34" charset="0"/>
                </a:rPr>
                <a:t>02</a:t>
              </a:r>
              <a:endParaRPr lang="zh-CN" altLang="en-US" dirty="0">
                <a:solidFill>
                  <a:schemeClr val="bg1"/>
                </a:solidFill>
                <a:sym typeface="Arial" panose="020B0604020202020204" pitchFamily="34" charset="0"/>
              </a:endParaRPr>
            </a:p>
          </p:txBody>
        </p:sp>
        <p:sp>
          <p:nvSpPr>
            <p:cNvPr id="10" name="任意多边形 9"/>
            <p:cNvSpPr/>
            <p:nvPr>
              <p:custDataLst>
                <p:tags r:id="rId4"/>
              </p:custDataLst>
            </p:nvPr>
          </p:nvSpPr>
          <p:spPr>
            <a:xfrm>
              <a:off x="1689815" y="3696817"/>
              <a:ext cx="757237" cy="78357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anose="020B0604020202020204" pitchFamily="34" charset="0"/>
              </a:endParaRPr>
            </a:p>
          </p:txBody>
        </p:sp>
        <p:sp>
          <p:nvSpPr>
            <p:cNvPr id="11" name="文本框 10"/>
            <p:cNvSpPr txBox="1"/>
            <p:nvPr>
              <p:custDataLst>
                <p:tags r:id="rId5"/>
              </p:custDataLst>
            </p:nvPr>
          </p:nvSpPr>
          <p:spPr>
            <a:xfrm>
              <a:off x="2590245" y="3323832"/>
              <a:ext cx="8249748" cy="1843890"/>
            </a:xfrm>
            <a:prstGeom prst="rect">
              <a:avLst/>
            </a:prstGeom>
            <a:noFill/>
          </p:spPr>
          <p:txBody>
            <a:bodyPr wrap="square" lIns="0" tIns="0" rIns="0" bIns="0" rtlCol="0" anchor="ctr" anchorCtr="0">
              <a:normAutofit/>
            </a:bodyPr>
            <a:lstStyle/>
            <a:p>
              <a:pPr>
                <a:lnSpc>
                  <a:spcPts val="2800"/>
                </a:lnSpc>
              </a:pPr>
              <a:r>
                <a:rPr lang="zh-CN" altLang="en-US" sz="2000" b="1" dirty="0">
                  <a:latin typeface="微软雅黑" panose="020B0503020204020204" charset="-122"/>
                  <a:ea typeface="微软雅黑" panose="020B0503020204020204" charset="-122"/>
                </a:rPr>
                <a:t>学习目标：</a:t>
              </a:r>
              <a:endParaRPr lang="en-US" altLang="zh-CN" sz="2000" b="1" dirty="0">
                <a:latin typeface="微软雅黑" panose="020B0503020204020204" charset="-122"/>
                <a:ea typeface="微软雅黑" panose="020B0503020204020204" charset="-122"/>
              </a:endParaRP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了解天线的定义和原理。</a:t>
              </a: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熟悉天线覆盖范围的计算方法。</a:t>
              </a:r>
              <a:endParaRPr lang="en-US" altLang="zh-CN" dirty="0">
                <a:solidFill>
                  <a:schemeClr val="tx1">
                    <a:lumMod val="95000"/>
                    <a:lumOff val="5000"/>
                  </a:schemeClr>
                </a:solidFill>
                <a:latin typeface="微软雅黑" panose="020B0503020204020204" charset="-122"/>
                <a:cs typeface="+mj-cs"/>
                <a:sym typeface="+mn-ea"/>
              </a:endParaRPr>
            </a:p>
            <a:p>
              <a:pPr marL="285750" indent="-285750">
                <a:lnSpc>
                  <a:spcPts val="2800"/>
                </a:lnSpc>
                <a:buFont typeface="Wingdings" panose="05000000000000000000" pitchFamily="2" charset="2"/>
                <a:buChar char="u"/>
              </a:pPr>
              <a:r>
                <a:rPr lang="zh-CN" altLang="en-US" dirty="0">
                  <a:solidFill>
                    <a:schemeClr val="tx1">
                      <a:lumMod val="95000"/>
                      <a:lumOff val="5000"/>
                    </a:schemeClr>
                  </a:solidFill>
                  <a:latin typeface="微软雅黑" panose="020B0503020204020204" charset="-122"/>
                  <a:cs typeface="+mj-cs"/>
                  <a:sym typeface="+mn-ea"/>
                </a:rPr>
                <a:t>能读懂天线的参数表，以及不同无线场景下天线的选型原则。</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833161" y="993775"/>
            <a:ext cx="3679572" cy="1028230"/>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a:t>
            </a:r>
            <a:r>
              <a:rPr kumimoji="1" lang="zh-CN" altLang="en-US" sz="1900" b="1" dirty="0">
                <a:latin typeface="微软雅黑" panose="020B0503020204020204" charset="-122"/>
                <a:ea typeface="微软雅黑" panose="020B0503020204020204" charset="-122"/>
                <a:cs typeface="微软雅黑" panose="020B0503020204020204" charset="-122"/>
              </a:rPr>
              <a:t>了解天线原理</a:t>
            </a:r>
            <a:endParaRPr kumimoji="1" lang="en-US" altLang="zh-CN" sz="1665" dirty="0">
              <a:latin typeface="微软雅黑" panose="020B0503020204020204" charset="-122"/>
              <a:ea typeface="微软雅黑" panose="020B0503020204020204" charset="-122"/>
            </a:endParaRPr>
          </a:p>
        </p:txBody>
      </p:sp>
      <p:pic>
        <p:nvPicPr>
          <p:cNvPr id="10" name="Picture 3" descr="基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5117" y="2330656"/>
            <a:ext cx="3370263"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p:cNvSpPr txBox="1">
            <a:spLocks noChangeArrowheads="1"/>
          </p:cNvSpPr>
          <p:nvPr/>
        </p:nvSpPr>
        <p:spPr>
          <a:xfrm>
            <a:off x="946906" y="2280182"/>
            <a:ext cx="6736039" cy="12507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t">
              <a:lnSpc>
                <a:spcPct val="110000"/>
              </a:lnSpc>
              <a:spcBef>
                <a:spcPts val="600"/>
              </a:spcBef>
              <a:spcAft>
                <a:spcPts val="600"/>
              </a:spcAft>
              <a:buClr>
                <a:schemeClr val="tx1"/>
              </a:buClr>
              <a:buNone/>
              <a:defRPr/>
            </a:pPr>
            <a:r>
              <a:rPr kumimoji="1" lang="zh-CN" altLang="en-US" sz="1800" dirty="0">
                <a:latin typeface="黑体" panose="02010609060101010101" pitchFamily="49" charset="-122"/>
                <a:ea typeface="黑体" panose="02010609060101010101" pitchFamily="49" charset="-122"/>
              </a:rPr>
              <a:t>在整个基站系统造价中，天线虽然占了很少的份额，但是却起着非常重要的作用，基站的辐射能量都要从天线</a:t>
            </a:r>
            <a:r>
              <a:rPr kumimoji="1" lang="zh-CN" altLang="en-US" sz="1800" dirty="0">
                <a:solidFill>
                  <a:srgbClr val="FF0000"/>
                </a:solidFill>
                <a:latin typeface="黑体" panose="02010609060101010101" pitchFamily="49" charset="-122"/>
                <a:ea typeface="黑体" panose="02010609060101010101" pitchFamily="49" charset="-122"/>
              </a:rPr>
              <a:t>发射</a:t>
            </a:r>
            <a:r>
              <a:rPr kumimoji="1" lang="zh-CN" altLang="en-US" sz="1800" dirty="0">
                <a:latin typeface="黑体" panose="02010609060101010101" pitchFamily="49" charset="-122"/>
                <a:ea typeface="黑体" panose="02010609060101010101" pitchFamily="49" charset="-122"/>
              </a:rPr>
              <a:t>出去而终端的信号也要通过天线进行</a:t>
            </a:r>
            <a:r>
              <a:rPr kumimoji="1" lang="zh-CN" altLang="en-US" sz="1800" dirty="0">
                <a:solidFill>
                  <a:srgbClr val="FF0000"/>
                </a:solidFill>
                <a:latin typeface="黑体" panose="02010609060101010101" pitchFamily="49" charset="-122"/>
                <a:ea typeface="黑体" panose="02010609060101010101" pitchFamily="49" charset="-122"/>
              </a:rPr>
              <a:t>接收</a:t>
            </a:r>
            <a:r>
              <a:rPr kumimoji="1" lang="zh-CN" altLang="en-US" sz="1800" dirty="0">
                <a:latin typeface="黑体" panose="02010609060101010101" pitchFamily="49" charset="-122"/>
                <a:ea typeface="黑体" panose="02010609060101010101" pitchFamily="49" charset="-122"/>
              </a:rPr>
              <a:t>；</a:t>
            </a:r>
          </a:p>
        </p:txBody>
      </p:sp>
      <p:pic>
        <p:nvPicPr>
          <p:cNvPr id="13" name="Picture 2" descr="C:\Users\admin\Desktop\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7720" y="3538218"/>
            <a:ext cx="3754438"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78895" y="3610802"/>
            <a:ext cx="2998825" cy="2062103"/>
          </a:xfrm>
          <a:prstGeom prst="rect">
            <a:avLst/>
          </a:prstGeom>
        </p:spPr>
        <p:txBody>
          <a:bodyPr wrap="square">
            <a:spAutoFit/>
          </a:bodyPr>
          <a:lstStyle/>
          <a:p>
            <a:pPr marL="285750" indent="-285750" fontAlgn="t">
              <a:lnSpc>
                <a:spcPct val="100000"/>
              </a:lnSpc>
              <a:spcBef>
                <a:spcPts val="600"/>
              </a:spcBef>
              <a:spcAft>
                <a:spcPts val="600"/>
              </a:spcAft>
              <a:buClr>
                <a:schemeClr val="tx1"/>
              </a:buClr>
              <a:buFont typeface="Arial" panose="020B0604020202020204" pitchFamily="34" charset="0"/>
              <a:buChar char="•"/>
              <a:defRPr/>
            </a:pPr>
            <a:r>
              <a:rPr kumimoji="1" lang="zh-CN" altLang="en-US" dirty="0">
                <a:latin typeface="黑体" panose="02010609060101010101" pitchFamily="49" charset="-122"/>
                <a:ea typeface="黑体" panose="02010609060101010101" pitchFamily="49" charset="-122"/>
              </a:rPr>
              <a:t>随着种类不断增加，天线引起了更多的关注。</a:t>
            </a:r>
            <a:endParaRPr kumimoji="1" lang="en-US" altLang="zh-CN" dirty="0">
              <a:latin typeface="黑体" panose="02010609060101010101" pitchFamily="49" charset="-122"/>
              <a:ea typeface="黑体" panose="02010609060101010101" pitchFamily="49" charset="-122"/>
            </a:endParaRPr>
          </a:p>
          <a:p>
            <a:pPr marL="285750" indent="-285750" fontAlgn="t">
              <a:lnSpc>
                <a:spcPct val="100000"/>
              </a:lnSpc>
              <a:spcBef>
                <a:spcPts val="600"/>
              </a:spcBef>
              <a:spcAft>
                <a:spcPts val="600"/>
              </a:spcAft>
              <a:buClr>
                <a:schemeClr val="tx1"/>
              </a:buClr>
              <a:buFont typeface="Arial" panose="020B0604020202020204" pitchFamily="34" charset="0"/>
              <a:buChar char="•"/>
              <a:defRPr/>
            </a:pPr>
            <a:r>
              <a:rPr kumimoji="1" lang="zh-CN" altLang="en-US" dirty="0">
                <a:latin typeface="黑体" panose="02010609060101010101" pitchFamily="49" charset="-122"/>
                <a:ea typeface="黑体" panose="02010609060101010101" pitchFamily="49" charset="-122"/>
              </a:rPr>
              <a:t>网络优化的深入，各种新型天线会不断引入。</a:t>
            </a:r>
            <a:endParaRPr kumimoji="1" lang="en-US" altLang="zh-CN" dirty="0">
              <a:latin typeface="黑体" panose="02010609060101010101" pitchFamily="49" charset="-122"/>
              <a:ea typeface="黑体" panose="02010609060101010101" pitchFamily="49" charset="-122"/>
            </a:endParaRPr>
          </a:p>
          <a:p>
            <a:pPr marL="285750" indent="-285750" fontAlgn="t">
              <a:lnSpc>
                <a:spcPct val="100000"/>
              </a:lnSpc>
              <a:spcBef>
                <a:spcPts val="600"/>
              </a:spcBef>
              <a:spcAft>
                <a:spcPts val="600"/>
              </a:spcAft>
              <a:buClr>
                <a:schemeClr val="tx1"/>
              </a:buClr>
              <a:buFont typeface="Arial" panose="020B0604020202020204" pitchFamily="34" charset="0"/>
              <a:buChar char="•"/>
              <a:defRPr/>
            </a:pPr>
            <a:r>
              <a:rPr kumimoji="1" lang="zh-CN" altLang="en-US" dirty="0">
                <a:latin typeface="黑体" panose="02010609060101010101" pitchFamily="49" charset="-122"/>
                <a:ea typeface="黑体" panose="02010609060101010101" pitchFamily="49" charset="-122"/>
              </a:rPr>
              <a:t>天线发挥的作用将越来越大。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833161" y="993775"/>
            <a:ext cx="3679572" cy="1028230"/>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a:t>
            </a:r>
            <a:r>
              <a:rPr kumimoji="1" lang="zh-CN" altLang="en-US" sz="1900" b="1" dirty="0">
                <a:latin typeface="微软雅黑" panose="020B0503020204020204" charset="-122"/>
                <a:ea typeface="微软雅黑" panose="020B0503020204020204" charset="-122"/>
                <a:cs typeface="微软雅黑" panose="020B0503020204020204" charset="-122"/>
              </a:rPr>
              <a:t>了解天线原理</a:t>
            </a:r>
            <a:endParaRPr kumimoji="1" lang="en-US" altLang="zh-CN" sz="1665" dirty="0">
              <a:latin typeface="微软雅黑" panose="020B0503020204020204" charset="-122"/>
              <a:ea typeface="微软雅黑" panose="020B0503020204020204" charset="-122"/>
            </a:endParaRPr>
          </a:p>
        </p:txBody>
      </p:sp>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4512733" y="2448411"/>
            <a:ext cx="7323809" cy="3258005"/>
          </a:xfrm>
          <a:prstGeom prst="rect">
            <a:avLst/>
          </a:prstGeom>
          <a:noFill/>
          <a:ln>
            <a:noFill/>
          </a:ln>
        </p:spPr>
      </p:pic>
      <p:sp>
        <p:nvSpPr>
          <p:cNvPr id="4" name="矩形 3"/>
          <p:cNvSpPr/>
          <p:nvPr/>
        </p:nvSpPr>
        <p:spPr>
          <a:xfrm>
            <a:off x="7512832" y="6063584"/>
            <a:ext cx="1569660" cy="369332"/>
          </a:xfrm>
          <a:prstGeom prst="rect">
            <a:avLst/>
          </a:prstGeom>
        </p:spPr>
        <p:txBody>
          <a:bodyPr wrap="none">
            <a:spAutoFit/>
          </a:bodyPr>
          <a:lstStyle/>
          <a:p>
            <a:r>
              <a:rPr lang="zh-CN" altLang="zh-CN" kern="100" dirty="0">
                <a:latin typeface="+mn-ea"/>
                <a:cs typeface="Times New Roman" panose="02020603050405020304" pitchFamily="18" charset="0"/>
              </a:rPr>
              <a:t>电磁波的传播</a:t>
            </a:r>
            <a:endParaRPr lang="zh-CN" altLang="en-US" dirty="0">
              <a:latin typeface="+mn-ea"/>
            </a:endParaRPr>
          </a:p>
        </p:txBody>
      </p:sp>
      <p:sp>
        <p:nvSpPr>
          <p:cNvPr id="5" name="矩形 4"/>
          <p:cNvSpPr/>
          <p:nvPr/>
        </p:nvSpPr>
        <p:spPr>
          <a:xfrm>
            <a:off x="966326" y="2448411"/>
            <a:ext cx="3786104" cy="2800767"/>
          </a:xfrm>
          <a:prstGeom prst="rect">
            <a:avLst/>
          </a:prstGeom>
        </p:spPr>
        <p:txBody>
          <a:bodyPr wrap="square">
            <a:spAutoFit/>
          </a:bodyPr>
          <a:lstStyle/>
          <a:p>
            <a:r>
              <a:rPr lang="zh-CN" altLang="zh-CN" kern="100" dirty="0">
                <a:latin typeface="+mn-ea"/>
                <a:cs typeface="Cambria Math" panose="02040503050406030204" pitchFamily="18" charset="0"/>
              </a:rPr>
              <a:t>无线电波的波长、频率和传播速度的关系</a:t>
            </a:r>
            <a:r>
              <a:rPr lang="zh-CN" altLang="en-US"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endParaRPr lang="en-US" altLang="zh-CN" kern="100" dirty="0">
              <a:latin typeface="+mn-ea"/>
              <a:cs typeface="Cambria Math" panose="02040503050406030204" pitchFamily="18" charset="0"/>
            </a:endParaRPr>
          </a:p>
          <a:p>
            <a:endParaRPr lang="en-US" altLang="zh-CN" kern="100" dirty="0">
              <a:latin typeface="Times New Roman" panose="02020603050405020304" pitchFamily="18" charset="0"/>
              <a:ea typeface="宋体" panose="02010600030101010101" pitchFamily="2" charset="-122"/>
              <a:cs typeface="Cambria Math" panose="02040503050406030204" pitchFamily="18" charset="0"/>
            </a:endParaRPr>
          </a:p>
          <a:p>
            <a:r>
              <a:rPr lang="en-US" altLang="zh-CN" kern="100" dirty="0">
                <a:latin typeface="Times New Roman" panose="02020603050405020304" pitchFamily="18" charset="0"/>
                <a:ea typeface="宋体" panose="02010600030101010101" pitchFamily="2" charset="-122"/>
                <a:cs typeface="Cambria Math" panose="02040503050406030204" pitchFamily="18" charset="0"/>
              </a:rPr>
              <a:t>                   </a:t>
            </a:r>
            <a:r>
              <a:rPr lang="en-US" altLang="zh-CN" sz="3200"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rPr>
              <a:t>λ</a:t>
            </a:r>
            <a:r>
              <a:rPr lang="zh-CN" altLang="zh-CN" sz="3200"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rPr>
              <a:t>＝Ｖ</a:t>
            </a:r>
            <a:r>
              <a:rPr lang="en-US" altLang="zh-CN" sz="3200"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rPr>
              <a:t>/</a:t>
            </a:r>
            <a:r>
              <a:rPr lang="zh-CN" altLang="zh-CN" sz="3200"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rPr>
              <a:t>ｆ</a:t>
            </a:r>
            <a:endParaRPr lang="en-US" altLang="zh-CN" sz="3200"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endParaRPr>
          </a:p>
          <a:p>
            <a:endParaRPr lang="en-US" altLang="zh-CN" kern="100" dirty="0">
              <a:solidFill>
                <a:srgbClr val="FF0000"/>
              </a:solidFill>
              <a:latin typeface="Times New Roman" panose="02020603050405020304" pitchFamily="18" charset="0"/>
              <a:ea typeface="宋体" panose="02010600030101010101" pitchFamily="2" charset="-122"/>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Ｖ为速度，单位为米</a:t>
            </a:r>
            <a:r>
              <a:rPr lang="en-US" altLang="zh-CN" kern="100" dirty="0">
                <a:latin typeface="+mn-ea"/>
                <a:cs typeface="Cambria Math" panose="02040503050406030204" pitchFamily="18" charset="0"/>
              </a:rPr>
              <a:t>/</a:t>
            </a:r>
            <a:r>
              <a:rPr lang="zh-CN" altLang="zh-CN" kern="100" dirty="0">
                <a:latin typeface="+mn-ea"/>
                <a:cs typeface="Cambria Math" panose="02040503050406030204" pitchFamily="18" charset="0"/>
              </a:rPr>
              <a:t>秒；</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ｆ为频率，单位为赫兹；</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en-US" altLang="zh-CN" kern="100" dirty="0">
                <a:latin typeface="+mn-ea"/>
                <a:cs typeface="Cambria Math" panose="02040503050406030204" pitchFamily="18" charset="0"/>
              </a:rPr>
              <a:t>λ</a:t>
            </a:r>
            <a:r>
              <a:rPr lang="zh-CN" altLang="zh-CN" kern="100" dirty="0">
                <a:latin typeface="+mn-ea"/>
                <a:cs typeface="Cambria Math" panose="02040503050406030204" pitchFamily="18" charset="0"/>
              </a:rPr>
              <a:t>为波长，单位为米。</a:t>
            </a:r>
            <a:endParaRPr lang="zh-CN" altLang="en-US" dirty="0">
              <a:latin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833161" y="993775"/>
            <a:ext cx="3679572" cy="1028230"/>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a:t>
            </a:r>
            <a:r>
              <a:rPr kumimoji="1" lang="zh-CN" altLang="en-US" sz="1900" b="1" dirty="0">
                <a:latin typeface="微软雅黑" panose="020B0503020204020204" charset="-122"/>
                <a:ea typeface="微软雅黑" panose="020B0503020204020204" charset="-122"/>
                <a:cs typeface="微软雅黑" panose="020B0503020204020204" charset="-122"/>
              </a:rPr>
              <a:t>了解天线原理</a:t>
            </a:r>
            <a:endParaRPr kumimoji="1" lang="en-US" altLang="zh-CN" sz="1665" dirty="0">
              <a:latin typeface="微软雅黑" panose="020B0503020204020204" charset="-122"/>
              <a:ea typeface="微软雅黑" panose="020B0503020204020204" charset="-122"/>
            </a:endParaRPr>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833161" y="3203641"/>
            <a:ext cx="10449429" cy="2847610"/>
          </a:xfrm>
          <a:prstGeom prst="rect">
            <a:avLst/>
          </a:prstGeom>
          <a:noFill/>
          <a:ln>
            <a:noFill/>
          </a:ln>
        </p:spPr>
      </p:pic>
      <p:sp>
        <p:nvSpPr>
          <p:cNvPr id="2" name="矩形 1"/>
          <p:cNvSpPr/>
          <p:nvPr/>
        </p:nvSpPr>
        <p:spPr>
          <a:xfrm>
            <a:off x="4157007" y="6162109"/>
            <a:ext cx="3877985" cy="369332"/>
          </a:xfrm>
          <a:prstGeom prst="rect">
            <a:avLst/>
          </a:prstGeom>
        </p:spPr>
        <p:txBody>
          <a:bodyPr wrap="none">
            <a:spAutoFit/>
          </a:bodyPr>
          <a:lstStyle/>
          <a:p>
            <a:r>
              <a:rPr lang="zh-CN" altLang="zh-CN" kern="100" dirty="0">
                <a:latin typeface="+mn-ea"/>
                <a:cs typeface="Times New Roman" panose="02020603050405020304" pitchFamily="18" charset="0"/>
              </a:rPr>
              <a:t>振子的角度与电磁波辐射能力的关系</a:t>
            </a:r>
            <a:endParaRPr lang="zh-CN" altLang="en-US" dirty="0">
              <a:latin typeface="+mn-ea"/>
            </a:endParaRPr>
          </a:p>
        </p:txBody>
      </p:sp>
      <p:sp>
        <p:nvSpPr>
          <p:cNvPr id="6" name="矩形 5"/>
          <p:cNvSpPr/>
          <p:nvPr/>
        </p:nvSpPr>
        <p:spPr>
          <a:xfrm>
            <a:off x="926237" y="2175411"/>
            <a:ext cx="10517080" cy="923330"/>
          </a:xfrm>
          <a:prstGeom prst="rect">
            <a:avLst/>
          </a:prstGeom>
        </p:spPr>
        <p:txBody>
          <a:bodyPr wrap="square">
            <a:spAutoFit/>
          </a:bodyPr>
          <a:lstStyle/>
          <a:p>
            <a:pPr>
              <a:lnSpc>
                <a:spcPct val="150000"/>
              </a:lnSpc>
            </a:pPr>
            <a:r>
              <a:rPr lang="zh-CN" altLang="zh-CN" kern="100" dirty="0">
                <a:latin typeface="+mj-ea"/>
                <a:ea typeface="+mj-ea"/>
                <a:cs typeface="Cambria Math" panose="02040503050406030204" pitchFamily="18" charset="0"/>
              </a:rPr>
              <a:t>天线是将传输线中的电磁能转化成自由空间的电磁波或将空间电磁波转化成传输线中的电磁能的设备。因为天线是</a:t>
            </a:r>
            <a:r>
              <a:rPr lang="zh-CN" altLang="zh-CN" kern="100" dirty="0">
                <a:solidFill>
                  <a:srgbClr val="FF0000"/>
                </a:solidFill>
                <a:latin typeface="+mj-ea"/>
                <a:ea typeface="+mj-ea"/>
                <a:cs typeface="Cambria Math" panose="02040503050406030204" pitchFamily="18" charset="0"/>
              </a:rPr>
              <a:t>无源器件</a:t>
            </a:r>
            <a:r>
              <a:rPr lang="zh-CN" altLang="zh-CN" kern="100" dirty="0">
                <a:latin typeface="+mj-ea"/>
                <a:ea typeface="+mj-ea"/>
                <a:cs typeface="Cambria Math" panose="02040503050406030204" pitchFamily="18" charset="0"/>
              </a:rPr>
              <a:t>，所以仅仅起得是</a:t>
            </a:r>
            <a:r>
              <a:rPr lang="zh-CN" altLang="zh-CN" kern="100" dirty="0">
                <a:solidFill>
                  <a:srgbClr val="FF0000"/>
                </a:solidFill>
                <a:latin typeface="+mj-ea"/>
                <a:ea typeface="+mj-ea"/>
                <a:cs typeface="Cambria Math" panose="02040503050406030204" pitchFamily="18" charset="0"/>
              </a:rPr>
              <a:t>转化作用</a:t>
            </a:r>
            <a:r>
              <a:rPr lang="zh-CN" altLang="zh-CN" kern="100" dirty="0">
                <a:latin typeface="+mj-ea"/>
                <a:ea typeface="+mj-ea"/>
                <a:cs typeface="Cambria Math" panose="02040503050406030204" pitchFamily="18" charset="0"/>
              </a:rPr>
              <a:t>而</a:t>
            </a:r>
            <a:r>
              <a:rPr lang="zh-CN" altLang="zh-CN" kern="100" dirty="0">
                <a:solidFill>
                  <a:srgbClr val="FF0000"/>
                </a:solidFill>
                <a:latin typeface="+mj-ea"/>
                <a:ea typeface="+mj-ea"/>
                <a:cs typeface="Cambria Math" panose="02040503050406030204" pitchFamily="18" charset="0"/>
              </a:rPr>
              <a:t>不能放大</a:t>
            </a:r>
            <a:r>
              <a:rPr lang="zh-CN" altLang="zh-CN" kern="100" dirty="0">
                <a:latin typeface="+mj-ea"/>
                <a:ea typeface="+mj-ea"/>
                <a:cs typeface="Cambria Math" panose="02040503050406030204" pitchFamily="18" charset="0"/>
              </a:rPr>
              <a:t>信号。</a:t>
            </a:r>
            <a:endParaRPr lang="zh-CN" altLang="en-US" dirty="0">
              <a:latin typeface="+mj-ea"/>
              <a:ea typeface="+mj-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9" name="AutoShape 2"/>
          <p:cNvSpPr>
            <a:spLocks noChangeArrowheads="1"/>
          </p:cNvSpPr>
          <p:nvPr/>
        </p:nvSpPr>
        <p:spPr bwMode="auto">
          <a:xfrm>
            <a:off x="4360384" y="3567664"/>
            <a:ext cx="3509963" cy="2913063"/>
          </a:xfrm>
          <a:prstGeom prst="foldedCorner">
            <a:avLst>
              <a:gd name="adj" fmla="val 25509"/>
            </a:avLst>
          </a:prstGeom>
          <a:solidFill>
            <a:srgbClr val="EAEAEA"/>
          </a:solidFill>
          <a:ln w="9525">
            <a:noFill/>
            <a:round/>
          </a:ln>
          <a:effectLst>
            <a:outerShdw dist="107763" dir="2700000" algn="ctr" rotWithShape="0">
              <a:srgbClr val="808080"/>
            </a:outerShdw>
          </a:effectLst>
        </p:spPr>
        <p:txBody>
          <a:bodyPr wrap="none" anchor="ctr"/>
          <a:lstStyle/>
          <a:p>
            <a:pPr>
              <a:defRPr/>
            </a:pPr>
            <a:endParaRPr lang="zh-CN" altLang="en-US"/>
          </a:p>
        </p:txBody>
      </p:sp>
      <p:sp>
        <p:nvSpPr>
          <p:cNvPr id="10" name="AutoShape 3"/>
          <p:cNvSpPr>
            <a:spLocks noChangeArrowheads="1"/>
          </p:cNvSpPr>
          <p:nvPr/>
        </p:nvSpPr>
        <p:spPr bwMode="auto">
          <a:xfrm>
            <a:off x="2579209" y="2340527"/>
            <a:ext cx="7029450" cy="1227137"/>
          </a:xfrm>
          <a:prstGeom prst="cube">
            <a:avLst>
              <a:gd name="adj" fmla="val 11097"/>
            </a:avLst>
          </a:prstGeom>
          <a:solidFill>
            <a:srgbClr val="4986C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Rectangle 5"/>
          <p:cNvSpPr txBox="1">
            <a:spLocks noChangeArrowheads="1"/>
          </p:cNvSpPr>
          <p:nvPr/>
        </p:nvSpPr>
        <p:spPr>
          <a:xfrm>
            <a:off x="4868384" y="3567664"/>
            <a:ext cx="2593975" cy="28876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频带：</a:t>
            </a:r>
            <a:r>
              <a:rPr lang="en-US" altLang="zh-CN" sz="1800">
                <a:latin typeface="黑体" panose="02010609060101010101" pitchFamily="49" charset="-122"/>
                <a:ea typeface="黑体" panose="02010609060101010101" pitchFamily="49" charset="-122"/>
              </a:rPr>
              <a:t>1895</a:t>
            </a:r>
            <a:r>
              <a:rPr lang="zh-CN" altLang="en-US" sz="1800">
                <a:latin typeface="黑体" panose="02010609060101010101" pitchFamily="49" charset="-122"/>
                <a:ea typeface="黑体" panose="02010609060101010101" pitchFamily="49" charset="-122"/>
              </a:rPr>
              <a:t>～</a:t>
            </a:r>
            <a:r>
              <a:rPr lang="en-US" altLang="zh-CN" sz="1800">
                <a:latin typeface="黑体" panose="02010609060101010101" pitchFamily="49" charset="-122"/>
                <a:ea typeface="黑体" panose="02010609060101010101" pitchFamily="49" charset="-122"/>
              </a:rPr>
              <a:t>1920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增益：</a:t>
            </a:r>
            <a:r>
              <a:rPr lang="en-US" altLang="zh-CN" sz="1800">
                <a:latin typeface="黑体" panose="02010609060101010101" pitchFamily="49" charset="-122"/>
                <a:ea typeface="黑体" panose="02010609060101010101" pitchFamily="49" charset="-122"/>
              </a:rPr>
              <a:t>15dBi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驻波比：</a:t>
            </a:r>
            <a:r>
              <a:rPr lang="en-US" altLang="zh-CN" sz="1800">
                <a:latin typeface="黑体" panose="02010609060101010101" pitchFamily="49" charset="-122"/>
                <a:ea typeface="黑体" panose="02010609060101010101" pitchFamily="49" charset="-122"/>
              </a:rPr>
              <a:t>&lt;1.35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下倾角：</a:t>
            </a:r>
            <a:r>
              <a:rPr lang="en-US" altLang="zh-CN" sz="1800">
                <a:latin typeface="黑体" panose="02010609060101010101" pitchFamily="49" charset="-122"/>
                <a:ea typeface="黑体" panose="02010609060101010101" pitchFamily="49" charset="-122"/>
              </a:rPr>
              <a:t>6</a:t>
            </a:r>
            <a:r>
              <a:rPr lang="zh-CN" altLang="en-US" sz="1800">
                <a:latin typeface="黑体" panose="02010609060101010101" pitchFamily="49" charset="-122"/>
                <a:ea typeface="黑体" panose="02010609060101010101" pitchFamily="49" charset="-122"/>
              </a:rPr>
              <a:t>度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极化方式：垂直极化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电缆长度：</a:t>
            </a:r>
            <a:r>
              <a:rPr lang="en-US" altLang="zh-CN" sz="1800">
                <a:latin typeface="黑体" panose="02010609060101010101" pitchFamily="49" charset="-122"/>
                <a:ea typeface="黑体" panose="02010609060101010101" pitchFamily="49" charset="-122"/>
              </a:rPr>
              <a:t>1.5</a:t>
            </a:r>
            <a:r>
              <a:rPr lang="zh-CN" altLang="en-US" sz="1800">
                <a:latin typeface="黑体" panose="02010609060101010101" pitchFamily="49" charset="-122"/>
                <a:ea typeface="黑体" panose="02010609060101010101" pitchFamily="49" charset="-122"/>
              </a:rPr>
              <a:t>米   </a:t>
            </a:r>
          </a:p>
          <a:p>
            <a:pPr algn="just">
              <a:lnSpc>
                <a:spcPct val="110000"/>
              </a:lnSpc>
              <a:buClr>
                <a:srgbClr val="336699"/>
              </a:buClr>
              <a:buFont typeface="Wingdings" panose="05000000000000000000" pitchFamily="2" charset="2"/>
              <a:buNone/>
            </a:pPr>
            <a:r>
              <a:rPr lang="zh-CN" altLang="en-US" sz="1800">
                <a:latin typeface="黑体" panose="02010609060101010101" pitchFamily="49" charset="-122"/>
                <a:ea typeface="黑体" panose="02010609060101010101" pitchFamily="49" charset="-122"/>
              </a:rPr>
              <a:t>阻抗：</a:t>
            </a:r>
            <a:r>
              <a:rPr lang="en-US" altLang="zh-CN" sz="1800">
                <a:latin typeface="黑体" panose="02010609060101010101" pitchFamily="49" charset="-122"/>
                <a:ea typeface="黑体" panose="02010609060101010101" pitchFamily="49" charset="-122"/>
              </a:rPr>
              <a:t>50</a:t>
            </a:r>
            <a:r>
              <a:rPr lang="zh-CN" altLang="en-US" sz="1800">
                <a:latin typeface="黑体" panose="02010609060101010101" pitchFamily="49" charset="-122"/>
                <a:ea typeface="黑体" panose="02010609060101010101" pitchFamily="49" charset="-122"/>
              </a:rPr>
              <a:t>欧姆。</a:t>
            </a:r>
          </a:p>
          <a:p>
            <a:pPr algn="just">
              <a:lnSpc>
                <a:spcPct val="110000"/>
              </a:lnSpc>
              <a:buClr>
                <a:srgbClr val="336699"/>
              </a:buClr>
              <a:buFont typeface="Wingdings" panose="05000000000000000000" pitchFamily="2" charset="2"/>
              <a:buNone/>
            </a:pPr>
            <a:r>
              <a:rPr lang="en-US" altLang="zh-CN" sz="1800">
                <a:ea typeface="黑体" panose="02010609060101010101" pitchFamily="49" charset="-122"/>
              </a:rPr>
              <a:t>……</a:t>
            </a:r>
            <a:endParaRPr lang="en-US" altLang="zh-CN" sz="1800">
              <a:latin typeface="黑体" panose="02010609060101010101" pitchFamily="49" charset="-122"/>
              <a:ea typeface="黑体" panose="02010609060101010101" pitchFamily="49" charset="-122"/>
            </a:endParaRPr>
          </a:p>
          <a:p>
            <a:pPr>
              <a:lnSpc>
                <a:spcPct val="110000"/>
              </a:lnSpc>
              <a:buClr>
                <a:srgbClr val="336699"/>
              </a:buClr>
              <a:buFont typeface="Wingdings" panose="05000000000000000000" pitchFamily="2" charset="2"/>
              <a:buNone/>
            </a:pPr>
            <a:endParaRPr lang="zh-CN" altLang="en-US" sz="1800">
              <a:latin typeface="黑体" panose="02010609060101010101" pitchFamily="49" charset="-122"/>
              <a:ea typeface="黑体" panose="02010609060101010101" pitchFamily="49" charset="-122"/>
            </a:endParaRPr>
          </a:p>
        </p:txBody>
      </p:sp>
      <p:sp>
        <p:nvSpPr>
          <p:cNvPr id="13" name="Rectangle 6"/>
          <p:cNvSpPr>
            <a:spLocks noChangeArrowheads="1"/>
          </p:cNvSpPr>
          <p:nvPr/>
        </p:nvSpPr>
        <p:spPr bwMode="auto">
          <a:xfrm>
            <a:off x="2722084" y="2631039"/>
            <a:ext cx="688657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336699"/>
              </a:buClr>
              <a:buFont typeface="Wingdings" panose="05000000000000000000" pitchFamily="2" charset="2"/>
              <a:buNone/>
            </a:pPr>
            <a:r>
              <a:rPr lang="zh-CN" altLang="en-US" sz="2400" dirty="0">
                <a:solidFill>
                  <a:schemeClr val="bg1"/>
                </a:solidFill>
                <a:ea typeface="黑体" panose="02010609060101010101" pitchFamily="49" charset="-122"/>
              </a:rPr>
              <a:t>在天线的包装盒里都有一份技术参数的说明书，上面详细描述了这副天线的性能指标，如：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style>
          <a:lnRef idx="0">
            <a:srgbClr val="FFFFFF"/>
          </a:lnRef>
          <a:fillRef idx="1">
            <a:schemeClr val="accent1"/>
          </a:fillRef>
          <a:effectRef idx="0">
            <a:srgbClr val="FFFFFF"/>
          </a:effectRef>
          <a:fontRef idx="minor">
            <a:schemeClr val="lt1"/>
          </a:fontRef>
        </p:style>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grpSp>
        <p:nvGrpSpPr>
          <p:cNvPr id="8" name="Group 3"/>
          <p:cNvGrpSpPr/>
          <p:nvPr/>
        </p:nvGrpSpPr>
        <p:grpSpPr bwMode="auto">
          <a:xfrm>
            <a:off x="4260542" y="2171727"/>
            <a:ext cx="7238999" cy="2895600"/>
            <a:chOff x="192" y="1416"/>
            <a:chExt cx="5376" cy="2352"/>
          </a:xfrm>
        </p:grpSpPr>
        <p:grpSp>
          <p:nvGrpSpPr>
            <p:cNvPr id="14" name="Group 4"/>
            <p:cNvGrpSpPr/>
            <p:nvPr/>
          </p:nvGrpSpPr>
          <p:grpSpPr bwMode="auto">
            <a:xfrm>
              <a:off x="192" y="1416"/>
              <a:ext cx="5376" cy="2352"/>
              <a:chOff x="192" y="1824"/>
              <a:chExt cx="5376" cy="2352"/>
            </a:xfrm>
          </p:grpSpPr>
          <p:graphicFrame>
            <p:nvGraphicFramePr>
              <p:cNvPr id="32" name="Object 11"/>
              <p:cNvGraphicFramePr/>
              <p:nvPr/>
            </p:nvGraphicFramePr>
            <p:xfrm>
              <a:off x="192" y="1824"/>
              <a:ext cx="5376" cy="2352"/>
            </p:xfrm>
            <a:graphic>
              <a:graphicData uri="http://schemas.openxmlformats.org/presentationml/2006/ole">
                <mc:AlternateContent xmlns:mc="http://schemas.openxmlformats.org/markup-compatibility/2006">
                  <mc:Choice xmlns:v="urn:schemas-microsoft-com:vml" Requires="v">
                    <p:oleObj name="CorelDRAW" r:id="rId2" imgW="9972675" imgH="4819650" progId="CorelDraw.Graphic.7">
                      <p:embed/>
                    </p:oleObj>
                  </mc:Choice>
                  <mc:Fallback>
                    <p:oleObj name="CorelDRAW" r:id="rId2" imgW="9972675" imgH="4819650" progId="CorelDraw.Graphic.7">
                      <p:embed/>
                      <p:pic>
                        <p:nvPicPr>
                          <p:cNvPr id="0" name="图片 829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1824"/>
                            <a:ext cx="5376" cy="2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88" y="3408"/>
                <a:ext cx="672"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15" name="Object 2"/>
            <p:cNvGraphicFramePr>
              <a:graphicFrameLocks noChangeAspect="1"/>
            </p:cNvGraphicFramePr>
            <p:nvPr/>
          </p:nvGraphicFramePr>
          <p:xfrm>
            <a:off x="2175" y="1440"/>
            <a:ext cx="1868" cy="1957"/>
          </p:xfrm>
          <a:graphic>
            <a:graphicData uri="http://schemas.openxmlformats.org/presentationml/2006/ole">
              <mc:AlternateContent xmlns:mc="http://schemas.openxmlformats.org/markup-compatibility/2006">
                <mc:Choice xmlns:v="urn:schemas-microsoft-com:vml" Requires="v">
                  <p:oleObj name="CorelDRAW" r:id="rId5" imgW="3952875" imgH="4143375" progId="CorelDraw.Graphic.7">
                    <p:embed/>
                  </p:oleObj>
                </mc:Choice>
                <mc:Fallback>
                  <p:oleObj name="CorelDRAW" r:id="rId5" imgW="3952875" imgH="4143375" progId="CorelDraw.Graphic.7">
                    <p:embed/>
                    <p:pic>
                      <p:nvPicPr>
                        <p:cNvPr id="0" name="图片 829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5" y="1440"/>
                          <a:ext cx="1868" cy="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3"/>
            <p:cNvGraphicFramePr>
              <a:graphicFrameLocks noChangeAspect="1"/>
            </p:cNvGraphicFramePr>
            <p:nvPr/>
          </p:nvGraphicFramePr>
          <p:xfrm>
            <a:off x="2175" y="1440"/>
            <a:ext cx="1873" cy="1959"/>
          </p:xfrm>
          <a:graphic>
            <a:graphicData uri="http://schemas.openxmlformats.org/presentationml/2006/ole">
              <mc:AlternateContent xmlns:mc="http://schemas.openxmlformats.org/markup-compatibility/2006">
                <mc:Choice xmlns:v="urn:schemas-microsoft-com:vml" Requires="v">
                  <p:oleObj name="CorelDRAW" r:id="rId7" imgW="3962400" imgH="4143375" progId="CorelDraw.Graphic.7">
                    <p:embed/>
                  </p:oleObj>
                </mc:Choice>
                <mc:Fallback>
                  <p:oleObj name="CorelDRAW" r:id="rId7" imgW="3962400" imgH="4143375" progId="CorelDraw.Graphic.7">
                    <p:embed/>
                    <p:pic>
                      <p:nvPicPr>
                        <p:cNvPr id="0" name="图片 829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5" y="1440"/>
                          <a:ext cx="1873" cy="1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4"/>
            <p:cNvGraphicFramePr>
              <a:graphicFrameLocks noChangeAspect="1"/>
            </p:cNvGraphicFramePr>
            <p:nvPr/>
          </p:nvGraphicFramePr>
          <p:xfrm>
            <a:off x="2175" y="1440"/>
            <a:ext cx="1873" cy="1959"/>
          </p:xfrm>
          <a:graphic>
            <a:graphicData uri="http://schemas.openxmlformats.org/presentationml/2006/ole">
              <mc:AlternateContent xmlns:mc="http://schemas.openxmlformats.org/markup-compatibility/2006">
                <mc:Choice xmlns:v="urn:schemas-microsoft-com:vml" Requires="v">
                  <p:oleObj name="CorelDRAW" r:id="rId9" imgW="3962400" imgH="4143375" progId="CorelDraw.Graphic.7">
                    <p:embed/>
                  </p:oleObj>
                </mc:Choice>
                <mc:Fallback>
                  <p:oleObj name="CorelDRAW" r:id="rId9" imgW="3962400" imgH="4143375" progId="CorelDraw.Graphic.7">
                    <p:embed/>
                    <p:pic>
                      <p:nvPicPr>
                        <p:cNvPr id="0" name="图片 829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5" y="1440"/>
                          <a:ext cx="1873" cy="1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5"/>
            <p:cNvGraphicFramePr>
              <a:graphicFrameLocks noChangeAspect="1"/>
            </p:cNvGraphicFramePr>
            <p:nvPr/>
          </p:nvGraphicFramePr>
          <p:xfrm>
            <a:off x="2175" y="1440"/>
            <a:ext cx="1868" cy="1957"/>
          </p:xfrm>
          <a:graphic>
            <a:graphicData uri="http://schemas.openxmlformats.org/presentationml/2006/ole">
              <mc:AlternateContent xmlns:mc="http://schemas.openxmlformats.org/markup-compatibility/2006">
                <mc:Choice xmlns:v="urn:schemas-microsoft-com:vml" Requires="v">
                  <p:oleObj name="CorelDRAW" r:id="rId5" imgW="3952875" imgH="4143375" progId="CorelDraw.Graphic.7">
                    <p:embed/>
                  </p:oleObj>
                </mc:Choice>
                <mc:Fallback>
                  <p:oleObj name="CorelDRAW" r:id="rId5" imgW="3952875" imgH="4143375" progId="CorelDraw.Graphic.7">
                    <p:embed/>
                    <p:pic>
                      <p:nvPicPr>
                        <p:cNvPr id="0" name="图片 829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5" y="1440"/>
                          <a:ext cx="1868" cy="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6"/>
            <p:cNvGraphicFramePr>
              <a:graphicFrameLocks noChangeAspect="1"/>
            </p:cNvGraphicFramePr>
            <p:nvPr/>
          </p:nvGraphicFramePr>
          <p:xfrm>
            <a:off x="2175" y="1440"/>
            <a:ext cx="1873" cy="1959"/>
          </p:xfrm>
          <a:graphic>
            <a:graphicData uri="http://schemas.openxmlformats.org/presentationml/2006/ole">
              <mc:AlternateContent xmlns:mc="http://schemas.openxmlformats.org/markup-compatibility/2006">
                <mc:Choice xmlns:v="urn:schemas-microsoft-com:vml" Requires="v">
                  <p:oleObj name="CorelDRAW" r:id="rId7" imgW="3962400" imgH="4143375" progId="CorelDraw.Graphic.7">
                    <p:embed/>
                  </p:oleObj>
                </mc:Choice>
                <mc:Fallback>
                  <p:oleObj name="CorelDRAW" r:id="rId7" imgW="3962400" imgH="4143375" progId="CorelDraw.Graphic.7">
                    <p:embed/>
                    <p:pic>
                      <p:nvPicPr>
                        <p:cNvPr id="0" name="图片 829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5" y="1440"/>
                          <a:ext cx="1873" cy="1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7"/>
            <p:cNvGraphicFramePr>
              <a:graphicFrameLocks noChangeAspect="1"/>
            </p:cNvGraphicFramePr>
            <p:nvPr/>
          </p:nvGraphicFramePr>
          <p:xfrm>
            <a:off x="2175" y="1440"/>
            <a:ext cx="1873" cy="1959"/>
          </p:xfrm>
          <a:graphic>
            <a:graphicData uri="http://schemas.openxmlformats.org/presentationml/2006/ole">
              <mc:AlternateContent xmlns:mc="http://schemas.openxmlformats.org/markup-compatibility/2006">
                <mc:Choice xmlns:v="urn:schemas-microsoft-com:vml" Requires="v">
                  <p:oleObj name="CorelDRAW" r:id="rId9" imgW="3962400" imgH="4143375" progId="CorelDraw.Graphic.7">
                    <p:embed/>
                  </p:oleObj>
                </mc:Choice>
                <mc:Fallback>
                  <p:oleObj name="CorelDRAW" r:id="rId9" imgW="3962400" imgH="4143375" progId="CorelDraw.Graphic.7">
                    <p:embed/>
                    <p:pic>
                      <p:nvPicPr>
                        <p:cNvPr id="0" name="图片 829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75" y="1440"/>
                          <a:ext cx="1873" cy="1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8"/>
            <p:cNvGraphicFramePr>
              <a:graphicFrameLocks noChangeAspect="1"/>
            </p:cNvGraphicFramePr>
            <p:nvPr/>
          </p:nvGraphicFramePr>
          <p:xfrm>
            <a:off x="2175" y="1440"/>
            <a:ext cx="1868" cy="1957"/>
          </p:xfrm>
          <a:graphic>
            <a:graphicData uri="http://schemas.openxmlformats.org/presentationml/2006/ole">
              <mc:AlternateContent xmlns:mc="http://schemas.openxmlformats.org/markup-compatibility/2006">
                <mc:Choice xmlns:v="urn:schemas-microsoft-com:vml" Requires="v">
                  <p:oleObj name="CorelDRAW" r:id="rId5" imgW="3952875" imgH="4143375" progId="CorelDraw.Graphic.7">
                    <p:embed/>
                  </p:oleObj>
                </mc:Choice>
                <mc:Fallback>
                  <p:oleObj name="CorelDRAW" r:id="rId5" imgW="3952875" imgH="4143375" progId="CorelDraw.Graphic.7">
                    <p:embed/>
                    <p:pic>
                      <p:nvPicPr>
                        <p:cNvPr id="0" name="图片 83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5" y="1440"/>
                          <a:ext cx="1868" cy="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9"/>
            <p:cNvGraphicFramePr>
              <a:graphicFrameLocks noChangeAspect="1"/>
            </p:cNvGraphicFramePr>
            <p:nvPr/>
          </p:nvGraphicFramePr>
          <p:xfrm>
            <a:off x="2160" y="1440"/>
            <a:ext cx="1873" cy="1959"/>
          </p:xfrm>
          <a:graphic>
            <a:graphicData uri="http://schemas.openxmlformats.org/presentationml/2006/ole">
              <mc:AlternateContent xmlns:mc="http://schemas.openxmlformats.org/markup-compatibility/2006">
                <mc:Choice xmlns:v="urn:schemas-microsoft-com:vml" Requires="v">
                  <p:oleObj name="CorelDRAW" r:id="rId7" imgW="3962400" imgH="4143375" progId="CorelDraw.Graphic.7">
                    <p:embed/>
                  </p:oleObj>
                </mc:Choice>
                <mc:Fallback>
                  <p:oleObj name="CorelDRAW" r:id="rId7" imgW="3962400" imgH="4143375" progId="CorelDraw.Graphic.7">
                    <p:embed/>
                    <p:pic>
                      <p:nvPicPr>
                        <p:cNvPr id="0" name="图片 83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0" y="1440"/>
                          <a:ext cx="1873" cy="1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3"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8" y="1416"/>
              <a:ext cx="648"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16"/>
            <p:cNvGrpSpPr/>
            <p:nvPr/>
          </p:nvGrpSpPr>
          <p:grpSpPr bwMode="auto">
            <a:xfrm>
              <a:off x="2064" y="1992"/>
              <a:ext cx="2535" cy="778"/>
              <a:chOff x="2064" y="2416"/>
              <a:chExt cx="2535" cy="778"/>
            </a:xfrm>
          </p:grpSpPr>
          <p:graphicFrame>
            <p:nvGraphicFramePr>
              <p:cNvPr id="25" name="Object 10"/>
              <p:cNvGraphicFramePr>
                <a:graphicFrameLocks noChangeAspect="1"/>
              </p:cNvGraphicFramePr>
              <p:nvPr/>
            </p:nvGraphicFramePr>
            <p:xfrm>
              <a:off x="3744" y="2416"/>
              <a:ext cx="855" cy="778"/>
            </p:xfrm>
            <a:graphic>
              <a:graphicData uri="http://schemas.openxmlformats.org/presentationml/2006/ole">
                <mc:AlternateContent xmlns:mc="http://schemas.openxmlformats.org/markup-compatibility/2006">
                  <mc:Choice xmlns:v="urn:schemas-microsoft-com:vml" Requires="v">
                    <p:oleObj name="CorelDRAW" r:id="rId13" imgW="914400" imgH="914400" progId="CorelDraw.Graphic.7">
                      <p:embed/>
                    </p:oleObj>
                  </mc:Choice>
                  <mc:Fallback>
                    <p:oleObj name="CorelDRAW" r:id="rId13" imgW="914400" imgH="914400" progId="CorelDraw.Graphic.7">
                      <p:embed/>
                      <p:pic>
                        <p:nvPicPr>
                          <p:cNvPr id="0" name="图片 830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4" y="2416"/>
                            <a:ext cx="855" cy="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 name="Group 18"/>
              <p:cNvGrpSpPr/>
              <p:nvPr/>
            </p:nvGrpSpPr>
            <p:grpSpPr bwMode="auto">
              <a:xfrm>
                <a:off x="2064" y="2496"/>
                <a:ext cx="66" cy="684"/>
                <a:chOff x="2064" y="2496"/>
                <a:chExt cx="66" cy="684"/>
              </a:xfrm>
            </p:grpSpPr>
            <p:sp>
              <p:nvSpPr>
                <p:cNvPr id="30" name="Rectangle 19"/>
                <p:cNvSpPr>
                  <a:spLocks noChangeArrowheads="1"/>
                </p:cNvSpPr>
                <p:nvPr/>
              </p:nvSpPr>
              <p:spPr bwMode="auto">
                <a:xfrm>
                  <a:off x="2064" y="2496"/>
                  <a:ext cx="66" cy="311"/>
                </a:xfrm>
                <a:prstGeom prst="rect">
                  <a:avLst/>
                </a:prstGeom>
                <a:gradFill rotWithShape="0">
                  <a:gsLst>
                    <a:gs pos="0">
                      <a:srgbClr val="FF9966"/>
                    </a:gs>
                    <a:gs pos="50000">
                      <a:srgbClr val="FFE0D1"/>
                    </a:gs>
                    <a:gs pos="100000">
                      <a:srgbClr val="FF9966"/>
                    </a:gs>
                  </a:gsLst>
                  <a:lin ang="0" scaled="1"/>
                </a:gradFill>
                <a:ln w="12700">
                  <a:solidFill>
                    <a:srgbClr val="FF9966"/>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Rectangle 20"/>
                <p:cNvSpPr>
                  <a:spLocks noChangeArrowheads="1"/>
                </p:cNvSpPr>
                <p:nvPr/>
              </p:nvSpPr>
              <p:spPr bwMode="auto">
                <a:xfrm>
                  <a:off x="2064" y="2869"/>
                  <a:ext cx="66" cy="311"/>
                </a:xfrm>
                <a:prstGeom prst="rect">
                  <a:avLst/>
                </a:prstGeom>
                <a:gradFill rotWithShape="0">
                  <a:gsLst>
                    <a:gs pos="0">
                      <a:srgbClr val="FF9966"/>
                    </a:gs>
                    <a:gs pos="50000">
                      <a:srgbClr val="FFE0D1"/>
                    </a:gs>
                    <a:gs pos="100000">
                      <a:srgbClr val="FF9966"/>
                    </a:gs>
                  </a:gsLst>
                  <a:lin ang="0" scaled="1"/>
                </a:gradFill>
                <a:ln w="12700">
                  <a:solidFill>
                    <a:srgbClr val="FF9966"/>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27" name="Group 21"/>
              <p:cNvGrpSpPr/>
              <p:nvPr/>
            </p:nvGrpSpPr>
            <p:grpSpPr bwMode="auto">
              <a:xfrm>
                <a:off x="3796" y="2472"/>
                <a:ext cx="66" cy="684"/>
                <a:chOff x="2064" y="2496"/>
                <a:chExt cx="66" cy="684"/>
              </a:xfrm>
            </p:grpSpPr>
            <p:sp>
              <p:nvSpPr>
                <p:cNvPr id="28" name="Rectangle 22"/>
                <p:cNvSpPr>
                  <a:spLocks noChangeArrowheads="1"/>
                </p:cNvSpPr>
                <p:nvPr/>
              </p:nvSpPr>
              <p:spPr bwMode="auto">
                <a:xfrm>
                  <a:off x="2064" y="2496"/>
                  <a:ext cx="66" cy="311"/>
                </a:xfrm>
                <a:prstGeom prst="rect">
                  <a:avLst/>
                </a:prstGeom>
                <a:gradFill rotWithShape="0">
                  <a:gsLst>
                    <a:gs pos="0">
                      <a:srgbClr val="FF9966"/>
                    </a:gs>
                    <a:gs pos="50000">
                      <a:srgbClr val="FFE0D1"/>
                    </a:gs>
                    <a:gs pos="100000">
                      <a:srgbClr val="FF9966"/>
                    </a:gs>
                  </a:gsLst>
                  <a:lin ang="0" scaled="1"/>
                </a:gradFill>
                <a:ln w="12700">
                  <a:solidFill>
                    <a:srgbClr val="FF9966"/>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29" name="Rectangle 23"/>
                <p:cNvSpPr>
                  <a:spLocks noChangeArrowheads="1"/>
                </p:cNvSpPr>
                <p:nvPr/>
              </p:nvSpPr>
              <p:spPr bwMode="auto">
                <a:xfrm>
                  <a:off x="2064" y="2869"/>
                  <a:ext cx="66" cy="311"/>
                </a:xfrm>
                <a:prstGeom prst="rect">
                  <a:avLst/>
                </a:prstGeom>
                <a:gradFill rotWithShape="0">
                  <a:gsLst>
                    <a:gs pos="0">
                      <a:srgbClr val="FF9966"/>
                    </a:gs>
                    <a:gs pos="50000">
                      <a:srgbClr val="FFE0D1"/>
                    </a:gs>
                    <a:gs pos="100000">
                      <a:srgbClr val="FF9966"/>
                    </a:gs>
                  </a:gsLst>
                  <a:lin ang="0" scaled="1"/>
                </a:gradFill>
                <a:ln w="12700">
                  <a:solidFill>
                    <a:srgbClr val="FF9966"/>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grpSp>
      <p:sp>
        <p:nvSpPr>
          <p:cNvPr id="34" name="Rectangle 49"/>
          <p:cNvSpPr txBox="1">
            <a:spLocks noChangeArrowheads="1"/>
          </p:cNvSpPr>
          <p:nvPr/>
        </p:nvSpPr>
        <p:spPr bwMode="auto">
          <a:xfrm>
            <a:off x="1349600" y="2252204"/>
            <a:ext cx="2329237"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1800" i="0" u="none" strike="noStrike" kern="0" cap="none" spc="0" normalizeH="0" baseline="0" noProof="0" dirty="0">
                <a:ln>
                  <a:noFill/>
                </a:ln>
                <a:solidFill>
                  <a:srgbClr val="000000"/>
                </a:solidFill>
                <a:effectLst/>
                <a:uLnTx/>
                <a:uFillTx/>
                <a:latin typeface="+mj-ea"/>
                <a:ea typeface="+mj-ea"/>
              </a:rPr>
              <a:t>半波振子</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1800" i="0" u="none" strike="noStrike" kern="0" cap="none" spc="0" normalizeH="0" baseline="0" noProof="0" dirty="0">
                <a:ln>
                  <a:noFill/>
                </a:ln>
                <a:solidFill>
                  <a:srgbClr val="000000"/>
                </a:solidFill>
                <a:effectLst/>
                <a:uLnTx/>
                <a:uFillTx/>
                <a:latin typeface="+mj-ea"/>
                <a:ea typeface="+mj-ea"/>
              </a:rPr>
              <a:t>工作频段</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增益</a:t>
            </a:r>
            <a:endParaRPr kumimoji="0" lang="zh-CN" altLang="en-US" sz="1800" i="0" u="none" strike="noStrike" kern="0" cap="none" spc="0" normalizeH="0" baseline="0" noProof="0" dirty="0">
              <a:ln>
                <a:noFill/>
              </a:ln>
              <a:solidFill>
                <a:srgbClr val="000000"/>
              </a:solidFill>
              <a:effectLst/>
              <a:uLnTx/>
              <a:uFillTx/>
              <a:latin typeface="+mj-ea"/>
              <a:ea typeface="+mj-ea"/>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1800" i="0" u="none" strike="noStrike" kern="0" cap="none" spc="0" normalizeH="0" baseline="0" noProof="0" dirty="0">
                <a:ln>
                  <a:noFill/>
                </a:ln>
                <a:solidFill>
                  <a:srgbClr val="000000"/>
                </a:solidFill>
                <a:effectLst/>
                <a:uLnTx/>
                <a:uFillTx/>
                <a:latin typeface="+mj-ea"/>
                <a:ea typeface="+mj-ea"/>
              </a:rPr>
              <a:t>输入阻抗</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1800" i="0" u="none" strike="noStrike" kern="0" cap="none" spc="0" normalizeH="0" baseline="0" noProof="0" dirty="0">
                <a:ln>
                  <a:noFill/>
                </a:ln>
                <a:solidFill>
                  <a:srgbClr val="000000"/>
                </a:solidFill>
                <a:effectLst/>
                <a:uLnTx/>
                <a:uFillTx/>
                <a:latin typeface="+mj-ea"/>
                <a:ea typeface="+mj-ea"/>
              </a:rPr>
              <a:t>电压驻波比</a:t>
            </a:r>
            <a:endParaRPr kumimoji="0" lang="en-US" altLang="zh-CN" sz="1800" i="0" u="none" strike="noStrike" kern="0" cap="none" spc="0" normalizeH="0" baseline="0" noProof="0" dirty="0">
              <a:ln>
                <a:noFill/>
              </a:ln>
              <a:solidFill>
                <a:srgbClr val="000000"/>
              </a:solidFill>
              <a:effectLst/>
              <a:uLnTx/>
              <a:uFillTx/>
              <a:latin typeface="+mj-ea"/>
              <a:ea typeface="+mj-ea"/>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极化方式</a:t>
            </a: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1" lang="zh-CN" altLang="en-US" sz="1800" kern="0" dirty="0">
                <a:solidFill>
                  <a:srgbClr val="000000"/>
                </a:solidFill>
                <a:latin typeface="+mj-ea"/>
                <a:ea typeface="+mj-ea"/>
              </a:rPr>
              <a:t>半功率角</a:t>
            </a:r>
            <a:endParaRPr kumimoji="1" lang="zh-CN" altLang="en-US" sz="1800" i="0" u="none" strike="noStrike" kern="0" cap="none" spc="0" normalizeH="0" baseline="0" noProof="0" dirty="0">
              <a:ln>
                <a:noFill/>
              </a:ln>
              <a:solidFill>
                <a:srgbClr val="000000"/>
              </a:solidFill>
              <a:effectLst/>
              <a:uLnTx/>
              <a:uFillTx/>
              <a:latin typeface="+mj-ea"/>
              <a:ea typeface="+mj-ea"/>
            </a:endParaRPr>
          </a:p>
        </p:txBody>
      </p:sp>
      <p:sp>
        <p:nvSpPr>
          <p:cNvPr id="35" name="Rectangle 52"/>
          <p:cNvSpPr txBox="1">
            <a:spLocks noChangeArrowheads="1"/>
          </p:cNvSpPr>
          <p:nvPr/>
        </p:nvSpPr>
        <p:spPr bwMode="auto">
          <a:xfrm>
            <a:off x="2123685" y="4509629"/>
            <a:ext cx="2741593"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波束宽度</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下倾角</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zh-CN" altLang="en-US" sz="1800" i="0" u="none" strike="noStrike" kern="0" cap="none" spc="0" normalizeH="0" baseline="0" noProof="0" dirty="0">
              <a:ln>
                <a:noFill/>
              </a:ln>
              <a:solidFill>
                <a:srgbClr val="000000"/>
              </a:solidFill>
              <a:effectLst/>
              <a:uLnTx/>
              <a:uFillTx/>
              <a:latin typeface="+mj-ea"/>
              <a:ea typeface="+mj-ea"/>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前后比</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波瓣抑制和零点填充</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1" lang="zh-CN" altLang="en-US" sz="1800" i="0" u="none" strike="noStrike" kern="0" cap="none" spc="0" normalizeH="0" baseline="0" noProof="0" dirty="0">
                <a:ln>
                  <a:noFill/>
                </a:ln>
                <a:solidFill>
                  <a:srgbClr val="000000"/>
                </a:solidFill>
                <a:effectLst/>
                <a:uLnTx/>
                <a:uFillTx/>
                <a:latin typeface="+mj-ea"/>
                <a:ea typeface="+mj-ea"/>
              </a:rPr>
              <a:t>天线口隔离</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style>
          <a:lnRef idx="0">
            <a:srgbClr val="FFFFFF"/>
          </a:lnRef>
          <a:fillRef idx="1">
            <a:schemeClr val="accent1"/>
          </a:fillRef>
          <a:effectRef idx="0">
            <a:srgbClr val="FFFFFF"/>
          </a:effectRef>
          <a:fontRef idx="minor">
            <a:schemeClr val="lt1"/>
          </a:fontRef>
        </p:style>
        <p:txBody>
          <a:bodyPr/>
          <a:lstStyle/>
          <a:p>
            <a:r>
              <a:rPr lang="zh-CN" altLang="en-US" dirty="0"/>
              <a:t>任务二：认识天线</a:t>
            </a:r>
          </a:p>
        </p:txBody>
      </p:sp>
      <p:sp>
        <p:nvSpPr>
          <p:cNvPr id="12" name="文本框 11"/>
          <p:cNvSpPr txBox="1"/>
          <p:nvPr/>
        </p:nvSpPr>
        <p:spPr>
          <a:xfrm>
            <a:off x="833161" y="993775"/>
            <a:ext cx="3679572" cy="1028230"/>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1.1  </a:t>
            </a:r>
            <a:r>
              <a:rPr kumimoji="1" lang="zh-CN" altLang="en-US" sz="1900" b="1" dirty="0">
                <a:latin typeface="微软雅黑" panose="020B0503020204020204" charset="-122"/>
                <a:ea typeface="微软雅黑" panose="020B0503020204020204" charset="-122"/>
                <a:cs typeface="微软雅黑" panose="020B0503020204020204" charset="-122"/>
              </a:rPr>
              <a:t>了解天线原理</a:t>
            </a:r>
            <a:endParaRPr kumimoji="1" lang="en-US" altLang="zh-CN" sz="1665" dirty="0">
              <a:latin typeface="微软雅黑" panose="020B0503020204020204" charset="-122"/>
              <a:ea typeface="微软雅黑" panose="020B0503020204020204" charset="-122"/>
            </a:endParaRP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5313828" y="3728118"/>
            <a:ext cx="6266667" cy="1723810"/>
          </a:xfrm>
          <a:prstGeom prst="rect">
            <a:avLst/>
          </a:prstGeom>
          <a:noFill/>
          <a:ln>
            <a:noFill/>
          </a:ln>
        </p:spPr>
      </p:pic>
      <p:sp>
        <p:nvSpPr>
          <p:cNvPr id="4" name="矩形 3"/>
          <p:cNvSpPr/>
          <p:nvPr/>
        </p:nvSpPr>
        <p:spPr>
          <a:xfrm>
            <a:off x="7424055" y="5487909"/>
            <a:ext cx="1569660" cy="369332"/>
          </a:xfrm>
          <a:prstGeom prst="rect">
            <a:avLst/>
          </a:prstGeom>
        </p:spPr>
        <p:txBody>
          <a:bodyPr wrap="none">
            <a:spAutoFit/>
          </a:bodyPr>
          <a:lstStyle/>
          <a:p>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半波对称振子</a:t>
            </a:r>
            <a:endParaRPr lang="zh-CN" altLang="en-US" dirty="0"/>
          </a:p>
        </p:txBody>
      </p:sp>
      <p:sp>
        <p:nvSpPr>
          <p:cNvPr id="5" name="矩形 4"/>
          <p:cNvSpPr/>
          <p:nvPr/>
        </p:nvSpPr>
        <p:spPr>
          <a:xfrm>
            <a:off x="1064895" y="2236238"/>
            <a:ext cx="9640382" cy="1338828"/>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半波振子</a:t>
            </a:r>
            <a:endParaRPr lang="en-US" altLang="zh-CN" kern="100" dirty="0">
              <a:solidFill>
                <a:srgbClr val="0076CB"/>
              </a:solidFill>
              <a:latin typeface="+mn-ea"/>
              <a:cs typeface="Cambria Math" panose="02040503050406030204" pitchFamily="18" charset="0"/>
            </a:endParaRPr>
          </a:p>
          <a:p>
            <a:pPr>
              <a:lnSpc>
                <a:spcPct val="150000"/>
              </a:lnSpc>
            </a:pPr>
            <a:r>
              <a:rPr lang="zh-CN" altLang="zh-CN" kern="100" dirty="0">
                <a:latin typeface="+mn-ea"/>
                <a:cs typeface="Cambria Math" panose="02040503050406030204" pitchFamily="18" charset="0"/>
              </a:rPr>
              <a:t>两臂长度相等的振子叫做</a:t>
            </a:r>
            <a:r>
              <a:rPr lang="zh-CN" altLang="zh-CN" kern="100" dirty="0">
                <a:solidFill>
                  <a:srgbClr val="FF0000"/>
                </a:solidFill>
                <a:latin typeface="+mn-ea"/>
                <a:cs typeface="Cambria Math" panose="02040503050406030204" pitchFamily="18" charset="0"/>
              </a:rPr>
              <a:t>对称振子</a:t>
            </a:r>
            <a:r>
              <a:rPr lang="zh-CN" altLang="zh-CN" kern="100" dirty="0">
                <a:latin typeface="+mn-ea"/>
                <a:cs typeface="Cambria Math" panose="02040503050406030204" pitchFamily="18" charset="0"/>
              </a:rPr>
              <a:t>，也叫</a:t>
            </a:r>
            <a:r>
              <a:rPr lang="zh-CN" altLang="zh-CN" kern="100" dirty="0">
                <a:solidFill>
                  <a:srgbClr val="FF0000"/>
                </a:solidFill>
                <a:latin typeface="+mn-ea"/>
                <a:cs typeface="Cambria Math" panose="02040503050406030204" pitchFamily="18" charset="0"/>
              </a:rPr>
              <a:t>半波振子</a:t>
            </a:r>
            <a:r>
              <a:rPr lang="zh-CN" altLang="zh-CN"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pPr>
              <a:lnSpc>
                <a:spcPct val="150000"/>
              </a:lnSpc>
            </a:pPr>
            <a:r>
              <a:rPr lang="zh-CN" altLang="zh-CN" kern="100" dirty="0">
                <a:latin typeface="+mn-ea"/>
                <a:cs typeface="Cambria Math" panose="02040503050406030204" pitchFamily="18" charset="0"/>
              </a:rPr>
              <a:t>每臂长度为四分之一波长、全长为二分之一波长的振子，称</a:t>
            </a:r>
            <a:r>
              <a:rPr lang="zh-CN" altLang="zh-CN" kern="100" dirty="0">
                <a:solidFill>
                  <a:srgbClr val="FF0000"/>
                </a:solidFill>
                <a:latin typeface="+mn-ea"/>
                <a:cs typeface="Cambria Math" panose="02040503050406030204" pitchFamily="18" charset="0"/>
              </a:rPr>
              <a:t>半波对称振子</a:t>
            </a:r>
            <a:r>
              <a:rPr lang="zh-CN" altLang="zh-CN" kern="100" dirty="0">
                <a:latin typeface="+mn-ea"/>
                <a:cs typeface="Cambria Math" panose="02040503050406030204" pitchFamily="18" charset="0"/>
              </a:rPr>
              <a:t>。</a:t>
            </a:r>
            <a:endParaRPr lang="zh-CN" altLang="en-US" dirty="0">
              <a:latin typeface="+mn-ea"/>
            </a:endParaRPr>
          </a:p>
        </p:txBody>
      </p:sp>
      <p:sp>
        <p:nvSpPr>
          <p:cNvPr id="8" name="矩形 7"/>
          <p:cNvSpPr/>
          <p:nvPr/>
        </p:nvSpPr>
        <p:spPr>
          <a:xfrm>
            <a:off x="753262" y="3611047"/>
            <a:ext cx="4483649" cy="1631216"/>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zh-CN" altLang="zh-CN" kern="100" dirty="0">
                <a:latin typeface="+mn-ea"/>
                <a:cs typeface="Cambria Math" panose="02040503050406030204" pitchFamily="18" charset="0"/>
              </a:rPr>
              <a:t>单个半波对称振子可简单、独立地使用或用作为抛物面天线的馈源，也可采用多个半波对称振子组成天线阵。</a:t>
            </a:r>
            <a:endParaRPr lang="en-US" altLang="zh-CN" kern="100" dirty="0">
              <a:latin typeface="+mn-ea"/>
              <a:cs typeface="Cambria Math" panose="02040503050406030204" pitchFamily="18" charset="0"/>
            </a:endParaRPr>
          </a:p>
          <a:p>
            <a:pPr marL="285750" indent="-285750">
              <a:spcBef>
                <a:spcPts val="600"/>
              </a:spcBef>
              <a:spcAft>
                <a:spcPts val="600"/>
              </a:spcAft>
              <a:buFont typeface="Arial" panose="020B0604020202020204" pitchFamily="34" charset="0"/>
              <a:buChar char="•"/>
            </a:pPr>
            <a:r>
              <a:rPr lang="zh-CN" altLang="zh-CN" kern="100" dirty="0">
                <a:latin typeface="+mn-ea"/>
                <a:cs typeface="Cambria Math" panose="02040503050406030204" pitchFamily="18" charset="0"/>
              </a:rPr>
              <a:t>天线需要多个半波对称振子组阵以得到更大的增益。</a:t>
            </a:r>
            <a:endParaRPr lang="zh-CN" altLang="en-US" dirty="0">
              <a:latin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2" name="矩形 1"/>
          <p:cNvSpPr/>
          <p:nvPr/>
        </p:nvSpPr>
        <p:spPr>
          <a:xfrm>
            <a:off x="833161" y="2198542"/>
            <a:ext cx="1396536"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极化方式</a:t>
            </a:r>
            <a:endParaRPr lang="en-US" altLang="zh-CN" kern="100" dirty="0">
              <a:solidFill>
                <a:srgbClr val="0076CB"/>
              </a:solidFill>
              <a:latin typeface="+mn-ea"/>
              <a:cs typeface="Cambria Math" panose="02040503050406030204" pitchFamily="18" charset="0"/>
            </a:endParaRPr>
          </a:p>
        </p:txBody>
      </p:sp>
      <p:pic>
        <p:nvPicPr>
          <p:cNvPr id="14" name="图片 13"/>
          <p:cNvPicPr/>
          <p:nvPr/>
        </p:nvPicPr>
        <p:blipFill>
          <a:blip r:embed="rId2">
            <a:extLst>
              <a:ext uri="{28A0092B-C50C-407E-A947-70E740481C1C}">
                <a14:useLocalDpi xmlns:a14="http://schemas.microsoft.com/office/drawing/2010/main" val="0"/>
              </a:ext>
            </a:extLst>
          </a:blip>
          <a:srcRect/>
          <a:stretch>
            <a:fillRect/>
          </a:stretch>
        </p:blipFill>
        <p:spPr bwMode="auto">
          <a:xfrm>
            <a:off x="5979513" y="1110400"/>
            <a:ext cx="5323809" cy="1961905"/>
          </a:xfrm>
          <a:prstGeom prst="rect">
            <a:avLst/>
          </a:prstGeom>
          <a:noFill/>
          <a:ln>
            <a:noFill/>
          </a:ln>
        </p:spPr>
      </p:pic>
      <p:sp>
        <p:nvSpPr>
          <p:cNvPr id="4" name="矩形 3"/>
          <p:cNvSpPr/>
          <p:nvPr/>
        </p:nvSpPr>
        <p:spPr>
          <a:xfrm>
            <a:off x="6104826" y="3153468"/>
            <a:ext cx="5293052"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垂直极化（</a:t>
            </a:r>
            <a:r>
              <a:rPr lang="en-US" altLang="zh-CN" kern="100" dirty="0">
                <a:latin typeface="+mj-ea"/>
                <a:ea typeface="+mj-ea"/>
              </a:rPr>
              <a:t>Vertical</a:t>
            </a:r>
            <a:r>
              <a:rPr lang="zh-CN" altLang="zh-CN" kern="100" dirty="0">
                <a:latin typeface="+mj-ea"/>
                <a:ea typeface="+mj-ea"/>
                <a:cs typeface="Times New Roman" panose="02020603050405020304" pitchFamily="18" charset="0"/>
              </a:rPr>
              <a:t>）和水平极化（</a:t>
            </a:r>
            <a:r>
              <a:rPr lang="en-US" altLang="zh-CN" kern="100" dirty="0">
                <a:latin typeface="+mj-ea"/>
                <a:ea typeface="+mj-ea"/>
              </a:rPr>
              <a:t>Horizontal</a:t>
            </a:r>
            <a:r>
              <a:rPr lang="zh-CN" altLang="zh-CN" kern="100" dirty="0">
                <a:latin typeface="+mj-ea"/>
                <a:ea typeface="+mj-ea"/>
                <a:cs typeface="Times New Roman" panose="02020603050405020304" pitchFamily="18" charset="0"/>
              </a:rPr>
              <a:t>）</a:t>
            </a:r>
            <a:endParaRPr lang="zh-CN" altLang="en-US" dirty="0">
              <a:latin typeface="+mj-ea"/>
              <a:ea typeface="+mj-ea"/>
            </a:endParaRPr>
          </a:p>
        </p:txBody>
      </p:sp>
      <p:pic>
        <p:nvPicPr>
          <p:cNvPr id="15" name="图片 14"/>
          <p:cNvPicPr/>
          <p:nvPr/>
        </p:nvPicPr>
        <p:blipFill>
          <a:blip r:embed="rId3">
            <a:extLst>
              <a:ext uri="{28A0092B-C50C-407E-A947-70E740481C1C}">
                <a14:useLocalDpi xmlns:a14="http://schemas.microsoft.com/office/drawing/2010/main" val="0"/>
              </a:ext>
            </a:extLst>
          </a:blip>
          <a:srcRect/>
          <a:stretch>
            <a:fillRect/>
          </a:stretch>
        </p:blipFill>
        <p:spPr bwMode="auto">
          <a:xfrm>
            <a:off x="5979513" y="3694168"/>
            <a:ext cx="5543679" cy="2437500"/>
          </a:xfrm>
          <a:prstGeom prst="rect">
            <a:avLst/>
          </a:prstGeom>
          <a:noFill/>
          <a:ln>
            <a:noFill/>
          </a:ln>
        </p:spPr>
      </p:pic>
      <p:sp>
        <p:nvSpPr>
          <p:cNvPr id="5" name="矩形 4"/>
          <p:cNvSpPr/>
          <p:nvPr/>
        </p:nvSpPr>
        <p:spPr>
          <a:xfrm>
            <a:off x="8295272" y="6309811"/>
            <a:ext cx="1338828"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双极化天线</a:t>
            </a:r>
            <a:endParaRPr lang="zh-CN" altLang="en-US" dirty="0">
              <a:latin typeface="+mj-ea"/>
              <a:ea typeface="+mj-ea"/>
            </a:endParaRPr>
          </a:p>
        </p:txBody>
      </p:sp>
      <p:sp>
        <p:nvSpPr>
          <p:cNvPr id="6" name="矩形 5"/>
          <p:cNvSpPr/>
          <p:nvPr/>
        </p:nvSpPr>
        <p:spPr>
          <a:xfrm>
            <a:off x="833161" y="3694168"/>
            <a:ext cx="4821916"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zh-CN" kern="100" dirty="0">
                <a:latin typeface="+mj-ea"/>
                <a:ea typeface="+mj-ea"/>
                <a:cs typeface="Cambria Math" panose="02040503050406030204" pitchFamily="18" charset="0"/>
              </a:rPr>
              <a:t>当电波的电场方向</a:t>
            </a:r>
            <a:r>
              <a:rPr lang="zh-CN" altLang="zh-CN" kern="100" dirty="0">
                <a:solidFill>
                  <a:srgbClr val="FF0000"/>
                </a:solidFill>
                <a:latin typeface="+mj-ea"/>
                <a:ea typeface="+mj-ea"/>
                <a:cs typeface="Cambria Math" panose="02040503050406030204" pitchFamily="18" charset="0"/>
              </a:rPr>
              <a:t>垂直于地面</a:t>
            </a:r>
            <a:r>
              <a:rPr lang="zh-CN" altLang="zh-CN" kern="100" dirty="0">
                <a:latin typeface="+mj-ea"/>
                <a:ea typeface="+mj-ea"/>
                <a:cs typeface="Cambria Math" panose="02040503050406030204" pitchFamily="18" charset="0"/>
              </a:rPr>
              <a:t>，称为垂直极化波。</a:t>
            </a:r>
            <a:endParaRPr lang="en-US" altLang="zh-CN" kern="100" dirty="0">
              <a:latin typeface="+mj-ea"/>
              <a:ea typeface="+mj-ea"/>
              <a:cs typeface="Cambria Math" panose="02040503050406030204" pitchFamily="18" charset="0"/>
            </a:endParaRPr>
          </a:p>
          <a:p>
            <a:pPr marL="285750" indent="-285750">
              <a:lnSpc>
                <a:spcPct val="150000"/>
              </a:lnSpc>
              <a:buFont typeface="Arial" panose="020B0604020202020204" pitchFamily="34" charset="0"/>
              <a:buChar char="•"/>
            </a:pPr>
            <a:r>
              <a:rPr lang="zh-CN" altLang="zh-CN" dirty="0"/>
              <a:t>当电波的电场方向与</a:t>
            </a:r>
            <a:r>
              <a:rPr lang="zh-CN" altLang="zh-CN" dirty="0">
                <a:solidFill>
                  <a:srgbClr val="FF0000"/>
                </a:solidFill>
              </a:rPr>
              <a:t>地面平行</a:t>
            </a:r>
            <a:r>
              <a:rPr lang="zh-CN" altLang="zh-CN" dirty="0"/>
              <a:t>，则称它为水平极化波。</a:t>
            </a:r>
            <a:br>
              <a:rPr lang="en-US" altLang="zh-CN" dirty="0"/>
            </a:br>
            <a:r>
              <a:rPr lang="zh-CN" altLang="zh-CN" kern="100" dirty="0">
                <a:latin typeface="+mn-ea"/>
                <a:cs typeface="Cambria Math" panose="02040503050406030204" pitchFamily="18" charset="0"/>
              </a:rPr>
              <a:t>双极化天线是由极化彼此</a:t>
            </a:r>
            <a:r>
              <a:rPr lang="zh-CN" altLang="zh-CN" kern="100" dirty="0">
                <a:solidFill>
                  <a:srgbClr val="FF0000"/>
                </a:solidFill>
                <a:latin typeface="+mn-ea"/>
                <a:cs typeface="Cambria Math" panose="02040503050406030204" pitchFamily="18" charset="0"/>
              </a:rPr>
              <a:t>正交</a:t>
            </a:r>
            <a:r>
              <a:rPr lang="zh-CN" altLang="zh-CN" kern="100" dirty="0">
                <a:latin typeface="+mn-ea"/>
                <a:cs typeface="Cambria Math" panose="02040503050406030204" pitchFamily="18" charset="0"/>
              </a:rPr>
              <a:t>的两根天线封装在同一天线罩中组成的</a:t>
            </a:r>
            <a:r>
              <a:rPr lang="zh-CN" altLang="en-US" dirty="0">
                <a:latin typeface="+mn-ea"/>
              </a:rPr>
              <a:t>。</a:t>
            </a:r>
          </a:p>
        </p:txBody>
      </p:sp>
      <p:sp>
        <p:nvSpPr>
          <p:cNvPr id="16" name="矩形 15"/>
          <p:cNvSpPr/>
          <p:nvPr/>
        </p:nvSpPr>
        <p:spPr>
          <a:xfrm>
            <a:off x="771017" y="2819548"/>
            <a:ext cx="5493812" cy="369332"/>
          </a:xfrm>
          <a:prstGeom prst="rect">
            <a:avLst/>
          </a:prstGeom>
        </p:spPr>
        <p:txBody>
          <a:bodyPr wrap="none">
            <a:spAutoFit/>
          </a:bodyPr>
          <a:lstStyle/>
          <a:p>
            <a:r>
              <a:rPr lang="zh-CN" altLang="zh-CN" kern="100" dirty="0">
                <a:latin typeface="+mj-ea"/>
                <a:cs typeface="Cambria Math" panose="02040503050406030204" pitchFamily="18" charset="0"/>
              </a:rPr>
              <a:t>天线的极化就是指天线辐射时形成的电场强度方向。</a:t>
            </a:r>
            <a:endParaRPr lang="en-US" altLang="zh-CN" kern="100" dirty="0">
              <a:latin typeface="+mj-ea"/>
              <a:cs typeface="Cambria Math"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style>
          <a:lnRef idx="0">
            <a:srgbClr val="FFFFFF"/>
          </a:lnRef>
          <a:fillRef idx="1">
            <a:schemeClr val="accent1"/>
          </a:fillRef>
          <a:effectRef idx="0">
            <a:srgbClr val="FFFFFF"/>
          </a:effectRef>
          <a:fontRef idx="minor">
            <a:schemeClr val="lt1"/>
          </a:fontRef>
        </p:style>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2" name="矩形 1"/>
          <p:cNvSpPr/>
          <p:nvPr/>
        </p:nvSpPr>
        <p:spPr>
          <a:xfrm>
            <a:off x="833161" y="2198542"/>
            <a:ext cx="1396536"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极化方式</a:t>
            </a:r>
            <a:endParaRPr lang="en-US" altLang="zh-CN" kern="100" dirty="0">
              <a:solidFill>
                <a:srgbClr val="0076CB"/>
              </a:solidFill>
              <a:latin typeface="+mn-ea"/>
              <a:cs typeface="Cambria Math" panose="02040503050406030204" pitchFamily="18" charset="0"/>
            </a:endParaRP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6109631" y="1533698"/>
            <a:ext cx="4638095" cy="3533333"/>
          </a:xfrm>
          <a:prstGeom prst="rect">
            <a:avLst/>
          </a:prstGeom>
          <a:noFill/>
          <a:ln>
            <a:noFill/>
          </a:ln>
        </p:spPr>
      </p:pic>
      <p:sp>
        <p:nvSpPr>
          <p:cNvPr id="7" name="矩形 6"/>
          <p:cNvSpPr/>
          <p:nvPr/>
        </p:nvSpPr>
        <p:spPr>
          <a:xfrm>
            <a:off x="7279830" y="5606954"/>
            <a:ext cx="2723823" cy="369332"/>
          </a:xfrm>
          <a:prstGeom prst="rect">
            <a:avLst/>
          </a:prstGeom>
        </p:spPr>
        <p:txBody>
          <a:bodyPr wrap="none">
            <a:spAutoFit/>
          </a:bodyPr>
          <a:lstStyle/>
          <a:p>
            <a:r>
              <a:rPr lang="zh-CN" altLang="zh-CN" kern="100" dirty="0">
                <a:latin typeface="+mn-ea"/>
                <a:cs typeface="Times New Roman" panose="02020603050405020304" pitchFamily="18" charset="0"/>
              </a:rPr>
              <a:t>双极化天线和单极化天线</a:t>
            </a:r>
            <a:endParaRPr lang="zh-CN" altLang="en-US" dirty="0">
              <a:latin typeface="+mn-ea"/>
            </a:endParaRPr>
          </a:p>
        </p:txBody>
      </p:sp>
      <p:sp>
        <p:nvSpPr>
          <p:cNvPr id="8" name="矩形 7"/>
          <p:cNvSpPr/>
          <p:nvPr/>
        </p:nvSpPr>
        <p:spPr>
          <a:xfrm>
            <a:off x="833161" y="2782370"/>
            <a:ext cx="5092823" cy="2947474"/>
          </a:xfrm>
          <a:prstGeom prst="rect">
            <a:avLst/>
          </a:prstGeom>
        </p:spPr>
        <p:txBody>
          <a:bodyPr wrap="square">
            <a:spAutoFit/>
          </a:bodyPr>
          <a:lstStyle/>
          <a:p>
            <a:pPr>
              <a:lnSpc>
                <a:spcPct val="150000"/>
              </a:lnSpc>
            </a:pPr>
            <a:r>
              <a:rPr lang="zh-CN" altLang="zh-CN" kern="100" dirty="0">
                <a:latin typeface="Times New Roman" panose="02020603050405020304" pitchFamily="18" charset="0"/>
                <a:ea typeface="宋体" panose="02010600030101010101" pitchFamily="2" charset="-122"/>
                <a:cs typeface="Cambria Math" panose="02040503050406030204" pitchFamily="18" charset="0"/>
              </a:rPr>
              <a:t>实际工程中</a:t>
            </a:r>
            <a:r>
              <a:rPr lang="zh-CN" altLang="en-US" kern="100" dirty="0">
                <a:latin typeface="Times New Roman" panose="02020603050405020304" pitchFamily="18" charset="0"/>
                <a:ea typeface="宋体" panose="02010600030101010101" pitchFamily="2" charset="-122"/>
                <a:cs typeface="Cambria Math" panose="02040503050406030204" pitchFamily="18" charset="0"/>
              </a:rPr>
              <a:t>：</a:t>
            </a:r>
            <a:endParaRPr lang="en-US" altLang="zh-CN" kern="100" dirty="0">
              <a:latin typeface="Times New Roman" panose="02020603050405020304" pitchFamily="18" charset="0"/>
              <a:ea typeface="宋体" panose="02010600030101010101" pitchFamily="2" charset="-122"/>
              <a:cs typeface="Cambria Math" panose="02040503050406030204" pitchFamily="18" charset="0"/>
            </a:endParaRPr>
          </a:p>
          <a:p>
            <a:pPr marL="285750" indent="-285750">
              <a:lnSpc>
                <a:spcPct val="150000"/>
              </a:lnSpc>
              <a:buFont typeface="Arial" panose="020B0604020202020204" pitchFamily="34" charset="0"/>
              <a:buChar char="•"/>
            </a:pPr>
            <a:r>
              <a:rPr lang="zh-CN" altLang="zh-CN" kern="100" dirty="0">
                <a:latin typeface="Times New Roman" panose="02020603050405020304" pitchFamily="18" charset="0"/>
                <a:ea typeface="宋体" panose="02010600030101010101" pitchFamily="2" charset="-122"/>
                <a:cs typeface="Cambria Math" panose="02040503050406030204" pitchFamily="18" charset="0"/>
              </a:rPr>
              <a:t>一般单极化天线多采用垂直线极化</a:t>
            </a:r>
            <a:r>
              <a:rPr lang="zh-CN" altLang="en-US" kern="100" dirty="0">
                <a:latin typeface="Times New Roman" panose="02020603050405020304" pitchFamily="18" charset="0"/>
                <a:ea typeface="宋体" panose="02010600030101010101" pitchFamily="2" charset="-122"/>
                <a:cs typeface="Cambria Math" panose="02040503050406030204" pitchFamily="18" charset="0"/>
              </a:rPr>
              <a:t>，</a:t>
            </a:r>
            <a:r>
              <a:rPr lang="zh-CN" altLang="zh-CN" kern="100" dirty="0">
                <a:latin typeface="Times New Roman" panose="02020603050405020304" pitchFamily="18" charset="0"/>
                <a:ea typeface="宋体" panose="02010600030101010101" pitchFamily="2" charset="-122"/>
                <a:cs typeface="Cambria Math" panose="02040503050406030204" pitchFamily="18" charset="0"/>
              </a:rPr>
              <a:t>双极化天线多采用</a:t>
            </a:r>
            <a:r>
              <a:rPr lang="en-US" altLang="zh-CN" kern="100" dirty="0">
                <a:latin typeface="Times New Roman" panose="02020603050405020304" pitchFamily="18" charset="0"/>
                <a:ea typeface="宋体" panose="02010600030101010101" pitchFamily="2" charset="-122"/>
                <a:cs typeface="Cambria Math" panose="02040503050406030204" pitchFamily="18" charset="0"/>
                <a:sym typeface="Symbol" panose="05050102010706020507" pitchFamily="18" charset="2"/>
              </a:rPr>
              <a:t></a:t>
            </a:r>
            <a:r>
              <a:rPr lang="en-US" altLang="zh-CN" kern="100" dirty="0">
                <a:latin typeface="Times New Roman" panose="02020603050405020304" pitchFamily="18" charset="0"/>
                <a:ea typeface="宋体" panose="02010600030101010101" pitchFamily="2" charset="-122"/>
                <a:cs typeface="Cambria Math" panose="02040503050406030204" pitchFamily="18" charset="0"/>
              </a:rPr>
              <a:t>45</a:t>
            </a:r>
            <a:r>
              <a:rPr lang="zh-CN" altLang="zh-CN" kern="100" dirty="0">
                <a:latin typeface="Times New Roman" panose="02020603050405020304" pitchFamily="18" charset="0"/>
                <a:ea typeface="宋体" panose="02010600030101010101" pitchFamily="2" charset="-122"/>
                <a:cs typeface="Cambria Math" panose="02040503050406030204" pitchFamily="18" charset="0"/>
              </a:rPr>
              <a:t>°双线极化。</a:t>
            </a:r>
            <a:endParaRPr lang="en-US" altLang="zh-CN" kern="100" dirty="0">
              <a:latin typeface="Times New Roman" panose="02020603050405020304" pitchFamily="18" charset="0"/>
              <a:ea typeface="宋体" panose="02010600030101010101" pitchFamily="2" charset="-122"/>
              <a:cs typeface="Cambria Math" panose="02040503050406030204" pitchFamily="18" charset="0"/>
            </a:endParaRPr>
          </a:p>
          <a:p>
            <a:pPr marL="285750" indent="-285750">
              <a:lnSpc>
                <a:spcPct val="150000"/>
              </a:lnSpc>
              <a:buFont typeface="Arial" panose="020B0604020202020204" pitchFamily="34" charset="0"/>
              <a:buChar char="•"/>
            </a:pPr>
            <a:r>
              <a:rPr lang="zh-CN" altLang="zh-CN" kern="100" dirty="0">
                <a:latin typeface="Times New Roman" panose="02020603050405020304" pitchFamily="18" charset="0"/>
                <a:ea typeface="宋体" panose="02010600030101010101" pitchFamily="2" charset="-122"/>
                <a:cs typeface="Cambria Math" panose="02040503050406030204" pitchFamily="18" charset="0"/>
              </a:rPr>
              <a:t>两种极化天线外观识别，双极化天线有两个端口，单极化天线仅一个端口。</a:t>
            </a:r>
            <a:endParaRPr lang="en-US" altLang="zh-CN" kern="100" dirty="0">
              <a:latin typeface="Times New Roman" panose="02020603050405020304" pitchFamily="18" charset="0"/>
              <a:ea typeface="宋体" panose="02010600030101010101" pitchFamily="2" charset="-122"/>
              <a:cs typeface="Cambria Math" panose="02040503050406030204" pitchFamily="18" charset="0"/>
            </a:endParaRPr>
          </a:p>
          <a:p>
            <a:pPr marL="285750" indent="-285750">
              <a:lnSpc>
                <a:spcPct val="150000"/>
              </a:lnSpc>
              <a:buFont typeface="Arial" panose="020B0604020202020204" pitchFamily="34" charset="0"/>
              <a:buChar char="•"/>
            </a:pPr>
            <a:r>
              <a:rPr lang="zh-CN" altLang="zh-CN" kern="100" dirty="0">
                <a:latin typeface="Times New Roman" panose="02020603050405020304" pitchFamily="18" charset="0"/>
                <a:ea typeface="宋体" panose="02010600030101010101" pitchFamily="2" charset="-122"/>
                <a:cs typeface="Cambria Math" panose="02040503050406030204" pitchFamily="18" charset="0"/>
              </a:rPr>
              <a:t>采用空间分集需要多个单极化天线，而采用极化分集则只需要一幅双极化天线。</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style>
          <a:lnRef idx="0">
            <a:srgbClr val="FFFFFF"/>
          </a:lnRef>
          <a:fillRef idx="1">
            <a:schemeClr val="accent1"/>
          </a:fillRef>
          <a:effectRef idx="0">
            <a:srgbClr val="FFFFFF"/>
          </a:effectRef>
          <a:fontRef idx="minor">
            <a:schemeClr val="lt1"/>
          </a:fontRef>
        </p:style>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2" name="矩形 1"/>
          <p:cNvSpPr/>
          <p:nvPr/>
        </p:nvSpPr>
        <p:spPr>
          <a:xfrm>
            <a:off x="833161" y="2198542"/>
            <a:ext cx="1396536"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极化方式</a:t>
            </a:r>
            <a:endParaRPr lang="en-US" altLang="zh-CN" kern="100" dirty="0">
              <a:solidFill>
                <a:srgbClr val="0076CB"/>
              </a:solidFill>
              <a:latin typeface="+mn-ea"/>
              <a:cs typeface="Cambria Math" panose="02040503050406030204" pitchFamily="18" charset="0"/>
            </a:endParaRPr>
          </a:p>
        </p:txBody>
      </p:sp>
      <p:graphicFrame>
        <p:nvGraphicFramePr>
          <p:cNvPr id="4" name="表格 3"/>
          <p:cNvGraphicFramePr>
            <a:graphicFrameLocks noGrp="1"/>
          </p:cNvGraphicFramePr>
          <p:nvPr/>
        </p:nvGraphicFramePr>
        <p:xfrm>
          <a:off x="916945" y="3267997"/>
          <a:ext cx="10393619" cy="2844919"/>
        </p:xfrm>
        <a:graphic>
          <a:graphicData uri="http://schemas.openxmlformats.org/drawingml/2006/table">
            <a:tbl>
              <a:tblPr firstRow="1" firstCol="1" bandRow="1">
                <a:tableStyleId>{5C22544A-7EE6-4342-B048-85BDC9FD1C3A}</a:tableStyleId>
              </a:tblPr>
              <a:tblGrid>
                <a:gridCol w="1606854">
                  <a:extLst>
                    <a:ext uri="{9D8B030D-6E8A-4147-A177-3AD203B41FA5}">
                      <a16:colId xmlns:a16="http://schemas.microsoft.com/office/drawing/2014/main" val="20000"/>
                    </a:ext>
                  </a:extLst>
                </a:gridCol>
                <a:gridCol w="4169920">
                  <a:extLst>
                    <a:ext uri="{9D8B030D-6E8A-4147-A177-3AD203B41FA5}">
                      <a16:colId xmlns:a16="http://schemas.microsoft.com/office/drawing/2014/main" val="20001"/>
                    </a:ext>
                  </a:extLst>
                </a:gridCol>
                <a:gridCol w="2249179">
                  <a:extLst>
                    <a:ext uri="{9D8B030D-6E8A-4147-A177-3AD203B41FA5}">
                      <a16:colId xmlns:a16="http://schemas.microsoft.com/office/drawing/2014/main" val="20002"/>
                    </a:ext>
                  </a:extLst>
                </a:gridCol>
                <a:gridCol w="2367666">
                  <a:extLst>
                    <a:ext uri="{9D8B030D-6E8A-4147-A177-3AD203B41FA5}">
                      <a16:colId xmlns:a16="http://schemas.microsoft.com/office/drawing/2014/main" val="20003"/>
                    </a:ext>
                  </a:extLst>
                </a:gridCol>
              </a:tblGrid>
              <a:tr h="473249">
                <a:tc>
                  <a:txBody>
                    <a:bodyPr/>
                    <a:lstStyle/>
                    <a:p>
                      <a:pPr algn="ctr">
                        <a:lnSpc>
                          <a:spcPts val="1800"/>
                        </a:lnSpc>
                        <a:spcBef>
                          <a:spcPts val="600"/>
                        </a:spcBef>
                        <a:spcAft>
                          <a:spcPts val="0"/>
                        </a:spcAft>
                      </a:pPr>
                      <a:r>
                        <a:rPr lang="zh-CN" sz="1800" kern="0" dirty="0">
                          <a:effectLst/>
                        </a:rPr>
                        <a:t>类型</a:t>
                      </a:r>
                      <a:endParaRPr lang="zh-CN" sz="2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800"/>
                        </a:lnSpc>
                        <a:spcBef>
                          <a:spcPts val="600"/>
                        </a:spcBef>
                        <a:spcAft>
                          <a:spcPts val="0"/>
                        </a:spcAft>
                      </a:pPr>
                      <a:r>
                        <a:rPr lang="zh-CN" sz="1800" kern="0">
                          <a:effectLst/>
                        </a:rPr>
                        <a:t>作用</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800"/>
                        </a:lnSpc>
                        <a:spcBef>
                          <a:spcPts val="600"/>
                        </a:spcBef>
                        <a:spcAft>
                          <a:spcPts val="0"/>
                        </a:spcAft>
                      </a:pPr>
                      <a:r>
                        <a:rPr lang="zh-CN" sz="1800" kern="0" dirty="0">
                          <a:effectLst/>
                        </a:rPr>
                        <a:t>举例</a:t>
                      </a:r>
                      <a:endParaRPr lang="zh-CN" sz="2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800"/>
                        </a:lnSpc>
                        <a:spcBef>
                          <a:spcPts val="600"/>
                        </a:spcBef>
                        <a:spcAft>
                          <a:spcPts val="0"/>
                        </a:spcAft>
                      </a:pPr>
                      <a:r>
                        <a:rPr lang="zh-CN" sz="1800" kern="0">
                          <a:effectLst/>
                        </a:rPr>
                        <a:t>性能差距</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592918">
                <a:tc>
                  <a:txBody>
                    <a:bodyPr/>
                    <a:lstStyle/>
                    <a:p>
                      <a:pPr algn="just">
                        <a:lnSpc>
                          <a:spcPts val="1800"/>
                        </a:lnSpc>
                        <a:spcBef>
                          <a:spcPts val="600"/>
                        </a:spcBef>
                        <a:spcAft>
                          <a:spcPts val="0"/>
                        </a:spcAft>
                      </a:pPr>
                      <a:r>
                        <a:rPr lang="zh-CN" sz="1800" kern="0">
                          <a:effectLst/>
                        </a:rPr>
                        <a:t>干扰受限系统</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主要应用于密集城区，站间距比较小。干扰是影响网络性能的主要因素。</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en-US" sz="1800" kern="0">
                          <a:effectLst/>
                        </a:rPr>
                        <a:t>MIMO</a:t>
                      </a:r>
                      <a:r>
                        <a:rPr lang="zh-CN" sz="1800" kern="0">
                          <a:effectLst/>
                        </a:rPr>
                        <a:t>双流；</a:t>
                      </a:r>
                      <a:r>
                        <a:rPr lang="en-US" sz="1800" kern="0">
                          <a:effectLst/>
                        </a:rPr>
                        <a:t>MIMO</a:t>
                      </a:r>
                      <a:r>
                        <a:rPr lang="zh-CN" sz="1800" kern="0">
                          <a:effectLst/>
                        </a:rPr>
                        <a:t>单流；</a:t>
                      </a:r>
                      <a:r>
                        <a:rPr lang="en-US" sz="1800" kern="0">
                          <a:effectLst/>
                        </a:rPr>
                        <a:t>RANK</a:t>
                      </a:r>
                      <a:r>
                        <a:rPr lang="zh-CN" sz="1800" kern="0">
                          <a:effectLst/>
                        </a:rPr>
                        <a:t>自适应</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性能基本相当</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92918">
                <a:tc>
                  <a:txBody>
                    <a:bodyPr/>
                    <a:lstStyle/>
                    <a:p>
                      <a:pPr algn="just">
                        <a:lnSpc>
                          <a:spcPts val="1800"/>
                        </a:lnSpc>
                        <a:spcBef>
                          <a:spcPts val="600"/>
                        </a:spcBef>
                        <a:spcAft>
                          <a:spcPts val="0"/>
                        </a:spcAft>
                      </a:pPr>
                      <a:r>
                        <a:rPr lang="zh-CN" sz="1800" kern="0">
                          <a:effectLst/>
                        </a:rPr>
                        <a:t>功率受限系统</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以增加覆盖，克服衰落为主要目的，如郊区、农村广覆盖等。</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发射分集，接收分集</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性能差距不大</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1185834">
                <a:tc>
                  <a:txBody>
                    <a:bodyPr/>
                    <a:lstStyle/>
                    <a:p>
                      <a:pPr algn="just">
                        <a:lnSpc>
                          <a:spcPts val="1800"/>
                        </a:lnSpc>
                        <a:spcBef>
                          <a:spcPts val="600"/>
                        </a:spcBef>
                        <a:spcAft>
                          <a:spcPts val="0"/>
                        </a:spcAft>
                      </a:pPr>
                      <a:r>
                        <a:rPr lang="zh-CN" sz="1800" kern="0" dirty="0">
                          <a:effectLst/>
                        </a:rPr>
                        <a:t>带宽受限系统</a:t>
                      </a:r>
                      <a:endParaRPr lang="zh-CN" sz="24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zh-CN" sz="1800" kern="0">
                          <a:effectLst/>
                        </a:rPr>
                        <a:t>信道条件（</a:t>
                      </a:r>
                      <a:r>
                        <a:rPr lang="en-US" sz="1800" kern="0">
                          <a:effectLst/>
                        </a:rPr>
                        <a:t>CQI</a:t>
                      </a:r>
                      <a:r>
                        <a:rPr lang="zh-CN" sz="1800" kern="0">
                          <a:effectLst/>
                        </a:rPr>
                        <a:t>）比较好，基站间没有形成连续覆盖，基站的站间距比较大，用户数比较稀少。</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en-US" sz="1800" kern="0">
                          <a:effectLst/>
                        </a:rPr>
                        <a:t>MIMO</a:t>
                      </a:r>
                      <a:r>
                        <a:rPr lang="zh-CN" sz="1800" kern="0">
                          <a:effectLst/>
                        </a:rPr>
                        <a:t>双流</a:t>
                      </a:r>
                      <a:endParaRPr lang="zh-CN" sz="24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just">
                        <a:lnSpc>
                          <a:spcPts val="1800"/>
                        </a:lnSpc>
                        <a:spcBef>
                          <a:spcPts val="600"/>
                        </a:spcBef>
                        <a:spcAft>
                          <a:spcPts val="0"/>
                        </a:spcAft>
                      </a:pPr>
                      <a:r>
                        <a:rPr lang="en-US" sz="1800" kern="0" dirty="0">
                          <a:effectLst/>
                        </a:rPr>
                        <a:t>10Lambda</a:t>
                      </a:r>
                      <a:r>
                        <a:rPr lang="zh-CN" sz="1800" kern="0" dirty="0">
                          <a:effectLst/>
                        </a:rPr>
                        <a:t>单极化天线性能要优于双极化天线，性能提升在</a:t>
                      </a:r>
                      <a:r>
                        <a:rPr lang="en-US" sz="1800" kern="0" dirty="0">
                          <a:effectLst/>
                        </a:rPr>
                        <a:t>20%</a:t>
                      </a:r>
                      <a:r>
                        <a:rPr lang="zh-CN" sz="1800" kern="0" dirty="0">
                          <a:effectLst/>
                        </a:rPr>
                        <a:t>左右</a:t>
                      </a:r>
                      <a:endParaRPr lang="zh-CN" sz="24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5" name="矩形 4"/>
          <p:cNvSpPr/>
          <p:nvPr/>
        </p:nvSpPr>
        <p:spPr>
          <a:xfrm>
            <a:off x="3922038" y="2657450"/>
            <a:ext cx="4801314"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双极化天线和单极化天线典型应用场景的对比</a:t>
            </a:r>
            <a:endParaRPr lang="zh-CN" altLang="en-US" dirty="0">
              <a:latin typeface="+mj-ea"/>
              <a:ea typeface="+mj-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style>
          <a:lnRef idx="0">
            <a:srgbClr val="FFFFFF"/>
          </a:lnRef>
          <a:fillRef idx="1">
            <a:schemeClr val="accent1"/>
          </a:fillRef>
          <a:effectRef idx="0">
            <a:srgbClr val="FFFFFF"/>
          </a:effectRef>
          <a:fontRef idx="minor">
            <a:schemeClr val="lt1"/>
          </a:fontRef>
        </p:style>
        <p:txBody>
          <a:bodyPr/>
          <a:lstStyle/>
          <a:p>
            <a:r>
              <a:rPr lang="zh-CN" altLang="en-US" dirty="0"/>
              <a:t>任务二：认识天线</a:t>
            </a:r>
          </a:p>
        </p:txBody>
      </p:sp>
      <p:sp>
        <p:nvSpPr>
          <p:cNvPr id="12" name="文本框 11"/>
          <p:cNvSpPr txBox="1"/>
          <p:nvPr/>
        </p:nvSpPr>
        <p:spPr>
          <a:xfrm>
            <a:off x="833161"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7" name="矩形 6"/>
          <p:cNvSpPr/>
          <p:nvPr/>
        </p:nvSpPr>
        <p:spPr>
          <a:xfrm>
            <a:off x="833161" y="2198542"/>
            <a:ext cx="934871"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阻抗</a:t>
            </a:r>
            <a:endParaRPr lang="en-US" altLang="zh-CN" kern="100" dirty="0">
              <a:solidFill>
                <a:srgbClr val="0076CB"/>
              </a:solidFill>
              <a:latin typeface="+mn-ea"/>
              <a:cs typeface="Cambria Math" panose="02040503050406030204" pitchFamily="18" charset="0"/>
            </a:endParaRPr>
          </a:p>
        </p:txBody>
      </p:sp>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5487778" y="1660398"/>
            <a:ext cx="5658639" cy="3585714"/>
          </a:xfrm>
          <a:prstGeom prst="rect">
            <a:avLst/>
          </a:prstGeom>
          <a:noFill/>
          <a:ln>
            <a:noFill/>
          </a:ln>
        </p:spPr>
      </p:pic>
      <p:sp>
        <p:nvSpPr>
          <p:cNvPr id="6" name="矩形 5"/>
          <p:cNvSpPr/>
          <p:nvPr/>
        </p:nvSpPr>
        <p:spPr>
          <a:xfrm>
            <a:off x="699996" y="2956881"/>
            <a:ext cx="4413542"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zh-CN" kern="100" dirty="0">
                <a:latin typeface="+mj-ea"/>
                <a:ea typeface="+mj-ea"/>
                <a:cs typeface="Cambria Math" panose="02040503050406030204" pitchFamily="18" charset="0"/>
              </a:rPr>
              <a:t>对阻抗的要求就是匹配，和天线相连的电路必须具有与天线一样的阻抗。</a:t>
            </a:r>
            <a:endParaRPr lang="en-US" altLang="zh-CN" kern="100" dirty="0">
              <a:latin typeface="+mj-ea"/>
              <a:ea typeface="+mj-ea"/>
              <a:cs typeface="Cambria Math" panose="02040503050406030204" pitchFamily="18" charset="0"/>
            </a:endParaRPr>
          </a:p>
          <a:p>
            <a:pPr marL="285750" indent="-285750">
              <a:lnSpc>
                <a:spcPct val="150000"/>
              </a:lnSpc>
              <a:buFont typeface="Arial" panose="020B0604020202020204" pitchFamily="34" charset="0"/>
              <a:buChar char="•"/>
            </a:pPr>
            <a:r>
              <a:rPr lang="zh-CN" altLang="zh-CN" kern="100" dirty="0">
                <a:latin typeface="+mj-ea"/>
                <a:ea typeface="+mj-ea"/>
                <a:cs typeface="Cambria Math" panose="02040503050406030204" pitchFamily="18" charset="0"/>
              </a:rPr>
              <a:t>和天线相连的是馈线，天线的阻抗和馈线阻抗必须一样，才能达到最佳效果。</a:t>
            </a:r>
            <a:endParaRPr lang="zh-CN" altLang="en-US" dirty="0">
              <a:latin typeface="+mj-ea"/>
              <a:ea typeface="+mj-ea"/>
            </a:endParaRPr>
          </a:p>
        </p:txBody>
      </p:sp>
      <p:sp>
        <p:nvSpPr>
          <p:cNvPr id="9" name="矩形 8"/>
          <p:cNvSpPr/>
          <p:nvPr/>
        </p:nvSpPr>
        <p:spPr>
          <a:xfrm>
            <a:off x="637852" y="4876780"/>
            <a:ext cx="5589992" cy="369332"/>
          </a:xfrm>
          <a:prstGeom prst="rect">
            <a:avLst/>
          </a:prstGeom>
        </p:spPr>
        <p:txBody>
          <a:bodyPr wrap="none">
            <a:spAutoFit/>
          </a:bodyPr>
          <a:lstStyle/>
          <a:p>
            <a:pPr marL="285750" indent="-285750">
              <a:buFont typeface="Arial" panose="020B0604020202020204" pitchFamily="34" charset="0"/>
              <a:buChar char="•"/>
            </a:pPr>
            <a:r>
              <a:rPr lang="zh-CN" altLang="zh-CN" kern="100" dirty="0">
                <a:latin typeface="+mn-ea"/>
                <a:cs typeface="Cambria Math" panose="02040503050406030204" pitchFamily="18" charset="0"/>
              </a:rPr>
              <a:t>移动通信系统目前使用的天线阻抗全部是</a:t>
            </a:r>
            <a:r>
              <a:rPr lang="en-US" altLang="zh-CN" kern="100" dirty="0">
                <a:latin typeface="+mn-ea"/>
                <a:cs typeface="Cambria Math" panose="02040503050406030204" pitchFamily="18" charset="0"/>
              </a:rPr>
              <a:t>50</a:t>
            </a:r>
            <a:r>
              <a:rPr lang="zh-CN" altLang="zh-CN" kern="100" dirty="0">
                <a:latin typeface="+mn-ea"/>
                <a:cs typeface="Cambria Math" panose="02040503050406030204" pitchFamily="18" charset="0"/>
              </a:rPr>
              <a:t>欧姆</a:t>
            </a:r>
            <a:r>
              <a:rPr lang="zh-CN" altLang="en-US" kern="100" dirty="0">
                <a:latin typeface="+mn-ea"/>
                <a:cs typeface="Cambria Math" panose="02040503050406030204" pitchFamily="18" charset="0"/>
              </a:rPr>
              <a:t>。</a:t>
            </a:r>
            <a:endParaRPr lang="zh-CN" altLang="en-US" dirty="0">
              <a:latin typeface="+mn-ea"/>
            </a:endParaRPr>
          </a:p>
        </p:txBody>
      </p:sp>
      <p:sp>
        <p:nvSpPr>
          <p:cNvPr id="10" name="矩形 9"/>
          <p:cNvSpPr/>
          <p:nvPr/>
        </p:nvSpPr>
        <p:spPr>
          <a:xfrm>
            <a:off x="7532267" y="5615444"/>
            <a:ext cx="1569660"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最佳匹配效果</a:t>
            </a:r>
            <a:endParaRPr lang="zh-CN" altLang="en-US" dirty="0">
              <a:latin typeface="+mj-ea"/>
              <a:ea typeface="+mj-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7" name="矩形 6"/>
          <p:cNvSpPr/>
          <p:nvPr/>
        </p:nvSpPr>
        <p:spPr>
          <a:xfrm>
            <a:off x="950813" y="2136082"/>
            <a:ext cx="1396536" cy="507831"/>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半功率角</a:t>
            </a:r>
            <a:endParaRPr lang="en-US" altLang="zh-CN" kern="100" dirty="0">
              <a:solidFill>
                <a:srgbClr val="0076CB"/>
              </a:solidFill>
              <a:latin typeface="+mn-ea"/>
              <a:cs typeface="Cambria Math" panose="02040503050406030204" pitchFamily="18" charset="0"/>
            </a:endParaRPr>
          </a:p>
        </p:txBody>
      </p:sp>
      <p:pic>
        <p:nvPicPr>
          <p:cNvPr id="11" name="图片 10"/>
          <p:cNvPicPr/>
          <p:nvPr/>
        </p:nvPicPr>
        <p:blipFill>
          <a:blip r:embed="rId2">
            <a:extLst>
              <a:ext uri="{28A0092B-C50C-407E-A947-70E740481C1C}">
                <a14:useLocalDpi xmlns:a14="http://schemas.microsoft.com/office/drawing/2010/main" val="0"/>
              </a:ext>
            </a:extLst>
          </a:blip>
          <a:srcRect/>
          <a:stretch>
            <a:fillRect/>
          </a:stretch>
        </p:blipFill>
        <p:spPr bwMode="auto">
          <a:xfrm>
            <a:off x="4869139" y="2073622"/>
            <a:ext cx="7057974" cy="3611091"/>
          </a:xfrm>
          <a:prstGeom prst="rect">
            <a:avLst/>
          </a:prstGeom>
          <a:noFill/>
          <a:ln>
            <a:noFill/>
          </a:ln>
        </p:spPr>
      </p:pic>
      <p:sp>
        <p:nvSpPr>
          <p:cNvPr id="2" name="矩形 1"/>
          <p:cNvSpPr/>
          <p:nvPr/>
        </p:nvSpPr>
        <p:spPr>
          <a:xfrm>
            <a:off x="775928" y="2722812"/>
            <a:ext cx="3973834"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zh-CN" dirty="0"/>
              <a:t>在主瓣最大辐射方向两侧，辐射强度降低</a:t>
            </a:r>
            <a:r>
              <a:rPr lang="en-US" altLang="zh-CN" dirty="0"/>
              <a:t>3dB</a:t>
            </a:r>
            <a:r>
              <a:rPr lang="zh-CN" altLang="zh-CN" dirty="0"/>
              <a:t>（功率密度降低一半）的两点间的夹角定义为波瓣宽度（又称波束宽度或主瓣宽度或半功率角）。</a:t>
            </a:r>
            <a:endParaRPr lang="en-US" altLang="zh-CN" dirty="0"/>
          </a:p>
          <a:p>
            <a:pPr marL="285750" indent="-285750">
              <a:lnSpc>
                <a:spcPct val="150000"/>
              </a:lnSpc>
              <a:buFont typeface="Arial" panose="020B0604020202020204" pitchFamily="34" charset="0"/>
              <a:buChar char="•"/>
            </a:pPr>
            <a:r>
              <a:rPr lang="zh-CN" altLang="zh-CN" dirty="0"/>
              <a:t>波瓣宽度</a:t>
            </a:r>
            <a:r>
              <a:rPr lang="zh-CN" altLang="zh-CN" dirty="0">
                <a:solidFill>
                  <a:srgbClr val="FF0000"/>
                </a:solidFill>
              </a:rPr>
              <a:t>越窄</a:t>
            </a:r>
            <a:r>
              <a:rPr lang="zh-CN" altLang="zh-CN" dirty="0"/>
              <a:t>，方向性</a:t>
            </a:r>
            <a:r>
              <a:rPr lang="zh-CN" altLang="zh-CN" dirty="0">
                <a:solidFill>
                  <a:srgbClr val="FF0000"/>
                </a:solidFill>
              </a:rPr>
              <a:t>越好</a:t>
            </a:r>
            <a:r>
              <a:rPr lang="zh-CN" altLang="zh-CN" dirty="0"/>
              <a:t>，</a:t>
            </a:r>
            <a:r>
              <a:rPr lang="zh-CN" altLang="zh-CN" dirty="0">
                <a:solidFill>
                  <a:srgbClr val="FF0000"/>
                </a:solidFill>
              </a:rPr>
              <a:t>作用距离越远，抗干扰能力越强。</a:t>
            </a:r>
            <a:endParaRPr lang="zh-CN" altLang="en-US" dirty="0">
              <a:solidFill>
                <a:srgbClr val="FF0000"/>
              </a:solidFill>
              <a:latin typeface="+mn-ea"/>
            </a:endParaRPr>
          </a:p>
        </p:txBody>
      </p:sp>
      <p:sp>
        <p:nvSpPr>
          <p:cNvPr id="4" name="矩形 3"/>
          <p:cNvSpPr/>
          <p:nvPr/>
        </p:nvSpPr>
        <p:spPr>
          <a:xfrm>
            <a:off x="6545100" y="6120699"/>
            <a:ext cx="3877985"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天线的垂直波束宽度和水平波束宽度</a:t>
            </a:r>
            <a:endParaRPr lang="zh-CN" altLang="en-US" dirty="0">
              <a:latin typeface="+mj-ea"/>
              <a:ea typeface="+mj-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7" name="矩形 6"/>
          <p:cNvSpPr/>
          <p:nvPr/>
        </p:nvSpPr>
        <p:spPr>
          <a:xfrm>
            <a:off x="950813" y="2136082"/>
            <a:ext cx="934871"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倾角</a:t>
            </a:r>
            <a:endParaRPr lang="en-US" altLang="zh-CN" kern="100" dirty="0">
              <a:solidFill>
                <a:srgbClr val="0076CB"/>
              </a:solidFill>
              <a:latin typeface="+mn-ea"/>
              <a:cs typeface="Cambria Math" panose="02040503050406030204" pitchFamily="18" charset="0"/>
            </a:endParaRPr>
          </a:p>
        </p:txBody>
      </p:sp>
      <p:sp>
        <p:nvSpPr>
          <p:cNvPr id="8" name="Rectangle 3"/>
          <p:cNvSpPr txBox="1">
            <a:spLocks noChangeArrowheads="1"/>
          </p:cNvSpPr>
          <p:nvPr/>
        </p:nvSpPr>
        <p:spPr bwMode="auto">
          <a:xfrm>
            <a:off x="1418248" y="2808054"/>
            <a:ext cx="8537308" cy="283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274955" indent="-274955" algn="l" rtl="0" eaLnBrk="0" fontAlgn="base" hangingPunct="0">
              <a:lnSpc>
                <a:spcPct val="145000"/>
              </a:lnSpc>
              <a:spcBef>
                <a:spcPct val="30000"/>
              </a:spcBef>
              <a:spcAft>
                <a:spcPct val="0"/>
              </a:spcAft>
              <a:buClr>
                <a:schemeClr val="accent2"/>
              </a:buClr>
              <a:buSzPct val="75000"/>
              <a:buFont typeface="Wingdings" panose="05000000000000000000" pitchFamily="2" charset="2"/>
              <a:buChar char="n"/>
              <a:defRPr sz="2400" b="1">
                <a:solidFill>
                  <a:schemeClr val="tx1"/>
                </a:solidFill>
                <a:latin typeface="+mn-lt"/>
                <a:ea typeface="+mn-ea"/>
                <a:cs typeface="+mn-cs"/>
              </a:defRPr>
            </a:lvl1pPr>
            <a:lvl2pPr marL="716280" indent="-262255" algn="l" rtl="0" eaLnBrk="0" fontAlgn="base" hangingPunct="0">
              <a:lnSpc>
                <a:spcPct val="145000"/>
              </a:lnSpc>
              <a:spcBef>
                <a:spcPct val="20000"/>
              </a:spcBef>
              <a:spcAft>
                <a:spcPct val="0"/>
              </a:spcAft>
              <a:buClr>
                <a:schemeClr val="accent2"/>
              </a:buClr>
              <a:buSzPct val="90000"/>
              <a:buFont typeface="Wingdings 3" pitchFamily="18" charset="2"/>
              <a:buChar char=""/>
              <a:defRPr sz="2000" b="1">
                <a:solidFill>
                  <a:schemeClr val="tx1"/>
                </a:solidFill>
                <a:latin typeface="+mn-lt"/>
                <a:ea typeface="+mn-ea"/>
              </a:defRPr>
            </a:lvl2pPr>
            <a:lvl3pPr marL="1176655" indent="-281305" algn="l" rtl="0" eaLnBrk="0" fontAlgn="base" hangingPunct="0">
              <a:lnSpc>
                <a:spcPct val="145000"/>
              </a:lnSpc>
              <a:spcBef>
                <a:spcPct val="20000"/>
              </a:spcBef>
              <a:spcAft>
                <a:spcPct val="0"/>
              </a:spcAft>
              <a:buClr>
                <a:schemeClr val="accent2"/>
              </a:buClr>
              <a:buFont typeface="Wingdings" panose="05000000000000000000" pitchFamily="2" charset="2"/>
              <a:buChar char=""/>
              <a:defRPr sz="2400" b="1">
                <a:solidFill>
                  <a:schemeClr val="tx1"/>
                </a:solidFill>
                <a:latin typeface="+mn-lt"/>
                <a:ea typeface="+mn-ea"/>
              </a:defRPr>
            </a:lvl3pPr>
            <a:lvl4pPr marL="1665605" indent="-228600" algn="l" rtl="0" eaLnBrk="0" fontAlgn="base" hangingPunct="0">
              <a:spcBef>
                <a:spcPct val="20000"/>
              </a:spcBef>
              <a:spcAft>
                <a:spcPct val="0"/>
              </a:spcAft>
              <a:buClr>
                <a:schemeClr val="accent2"/>
              </a:buClr>
              <a:buFont typeface="Arial" panose="020B0604020202020204" pitchFamily="34" charset="0"/>
              <a:buChar char="►"/>
              <a:defRPr sz="2000" b="1">
                <a:solidFill>
                  <a:schemeClr val="tx1"/>
                </a:solidFill>
                <a:latin typeface="+mj-lt"/>
                <a:ea typeface="+mn-ea"/>
              </a:defRPr>
            </a:lvl4pPr>
            <a:lvl5pPr marL="2073275" indent="-228600" algn="l" rtl="0" eaLnBrk="0" fontAlgn="base" hangingPunct="0">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5pPr>
            <a:lvl6pPr marL="25304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6pPr>
            <a:lvl7pPr marL="29876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7pPr>
            <a:lvl8pPr marL="34448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8pPr>
            <a:lvl9pPr marL="39020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9pPr>
          </a:lstStyle>
          <a:p>
            <a:pPr marL="0" indent="0" eaLnBrk="1" hangingPunct="1">
              <a:buClrTx/>
              <a:buNone/>
              <a:defRPr/>
            </a:pPr>
            <a:r>
              <a:rPr kumimoji="0" lang="zh-CN" altLang="en-US" sz="1800" b="0" i="0" u="none" strike="noStrike" kern="0" cap="none" spc="0" normalizeH="0" baseline="0" noProof="0" dirty="0">
                <a:ln>
                  <a:noFill/>
                </a:ln>
                <a:solidFill>
                  <a:srgbClr val="000000"/>
                </a:solidFill>
                <a:effectLst/>
                <a:uLnTx/>
                <a:uFillTx/>
                <a:latin typeface="+mj-ea"/>
                <a:ea typeface="+mj-ea"/>
              </a:rPr>
              <a:t>我们所说的</a:t>
            </a:r>
            <a:r>
              <a:rPr kumimoji="0" lang="zh-CN" altLang="en-US" sz="1800" b="0" i="0" u="none" strike="noStrike" kern="0" cap="none" spc="0" normalizeH="0" baseline="0" noProof="0" dirty="0">
                <a:ln>
                  <a:noFill/>
                </a:ln>
                <a:solidFill>
                  <a:srgbClr val="FF0000"/>
                </a:solidFill>
                <a:effectLst/>
                <a:uLnTx/>
                <a:uFillTx/>
                <a:latin typeface="+mj-ea"/>
                <a:ea typeface="+mj-ea"/>
              </a:rPr>
              <a:t>天线的倾角是指电波的倾角</a:t>
            </a:r>
            <a:r>
              <a:rPr kumimoji="0" lang="zh-CN" altLang="en-US" sz="1800" b="0" i="0" u="none" strike="noStrike" kern="0" cap="none" spc="0" normalizeH="0" baseline="0" noProof="0" dirty="0">
                <a:ln>
                  <a:noFill/>
                </a:ln>
                <a:solidFill>
                  <a:srgbClr val="000000"/>
                </a:solidFill>
                <a:effectLst/>
                <a:uLnTx/>
                <a:uFillTx/>
                <a:latin typeface="+mj-ea"/>
                <a:ea typeface="+mj-ea"/>
              </a:rPr>
              <a:t>，而并不是天线振子本身机械上的倾角。</a:t>
            </a:r>
            <a:endParaRPr kumimoji="0" lang="en-US" altLang="zh-CN" sz="1800" b="0" i="0" u="none" strike="noStrike" kern="0" cap="none" spc="0" normalizeH="0" baseline="0" noProof="0" dirty="0">
              <a:ln>
                <a:noFill/>
              </a:ln>
              <a:solidFill>
                <a:srgbClr val="000000"/>
              </a:solidFill>
              <a:effectLst/>
              <a:uLnTx/>
              <a:uFillTx/>
              <a:latin typeface="+mj-ea"/>
              <a:ea typeface="+mj-ea"/>
            </a:endParaRPr>
          </a:p>
          <a:p>
            <a:pPr marL="0" indent="0" eaLnBrk="1" hangingPunct="1">
              <a:buClrTx/>
              <a:buNone/>
              <a:defRPr/>
            </a:pPr>
            <a:r>
              <a:rPr kumimoji="0" lang="zh-CN" altLang="en-US" sz="1800" b="0" i="0" u="none" strike="noStrike" kern="0" cap="none" spc="0" normalizeH="0" baseline="0" noProof="0" dirty="0">
                <a:ln>
                  <a:noFill/>
                </a:ln>
                <a:solidFill>
                  <a:srgbClr val="000000"/>
                </a:solidFill>
                <a:effectLst/>
                <a:uLnTx/>
                <a:uFillTx/>
                <a:latin typeface="+mj-ea"/>
                <a:ea typeface="+mj-ea"/>
              </a:rPr>
              <a:t>倾角反映了天线接收哪个高度角来的电波最强。</a:t>
            </a:r>
          </a:p>
          <a:p>
            <a:pPr eaLnBrk="1" hangingPunct="1">
              <a:buClrTx/>
              <a:buFont typeface="Wingdings" panose="05000000000000000000" pitchFamily="2" charset="2"/>
              <a:buChar char="l"/>
              <a:defRPr/>
            </a:pPr>
            <a:r>
              <a:rPr kumimoji="0" lang="zh-CN" altLang="en-US" sz="1800" b="0" i="0" u="none" strike="noStrike" kern="0" cap="none" spc="0" normalizeH="0" baseline="0" noProof="0" dirty="0">
                <a:ln>
                  <a:noFill/>
                </a:ln>
                <a:solidFill>
                  <a:srgbClr val="FF0000"/>
                </a:solidFill>
                <a:effectLst/>
                <a:uLnTx/>
                <a:uFillTx/>
                <a:latin typeface="+mj-ea"/>
                <a:ea typeface="+mj-ea"/>
              </a:rPr>
              <a:t>定向天线</a:t>
            </a:r>
            <a:r>
              <a:rPr kumimoji="0" lang="zh-CN" altLang="en-US" sz="1800" b="0" i="0" u="none" strike="noStrike" kern="0" cap="none" spc="0" normalizeH="0" baseline="0" noProof="0" dirty="0">
                <a:ln>
                  <a:noFill/>
                </a:ln>
                <a:solidFill>
                  <a:srgbClr val="000000"/>
                </a:solidFill>
                <a:effectLst/>
                <a:uLnTx/>
                <a:uFillTx/>
                <a:latin typeface="+mj-ea"/>
                <a:ea typeface="+mj-ea"/>
              </a:rPr>
              <a:t>可以通过</a:t>
            </a:r>
            <a:r>
              <a:rPr kumimoji="0" lang="zh-CN" altLang="en-US" sz="1800" b="0" i="0" u="none" strike="noStrike" kern="0" cap="none" spc="0" normalizeH="0" baseline="0" noProof="0" dirty="0">
                <a:ln>
                  <a:noFill/>
                </a:ln>
                <a:solidFill>
                  <a:srgbClr val="FF0000"/>
                </a:solidFill>
                <a:effectLst/>
                <a:uLnTx/>
                <a:uFillTx/>
                <a:latin typeface="+mj-ea"/>
                <a:ea typeface="+mj-ea"/>
              </a:rPr>
              <a:t>机械方式</a:t>
            </a:r>
            <a:r>
              <a:rPr kumimoji="0" lang="zh-CN" altLang="en-US" sz="1800" b="0" i="0" u="none" strike="noStrike" kern="0" cap="none" spc="0" normalizeH="0" baseline="0" noProof="0" dirty="0">
                <a:ln>
                  <a:noFill/>
                </a:ln>
                <a:solidFill>
                  <a:srgbClr val="000000"/>
                </a:solidFill>
                <a:effectLst/>
                <a:uLnTx/>
                <a:uFillTx/>
                <a:latin typeface="+mj-ea"/>
                <a:ea typeface="+mj-ea"/>
              </a:rPr>
              <a:t>调整倾角。</a:t>
            </a:r>
            <a:endParaRPr kumimoji="0" lang="en-US" altLang="zh-CN" sz="1800" b="0" i="0" u="none" strike="noStrike" kern="0" cap="none" spc="0" normalizeH="0" baseline="0" noProof="0" dirty="0">
              <a:ln>
                <a:noFill/>
              </a:ln>
              <a:solidFill>
                <a:srgbClr val="000000"/>
              </a:solidFill>
              <a:effectLst/>
              <a:uLnTx/>
              <a:uFillTx/>
              <a:latin typeface="+mj-ea"/>
              <a:ea typeface="+mj-ea"/>
            </a:endParaRPr>
          </a:p>
          <a:p>
            <a:pPr eaLnBrk="1" hangingPunct="1">
              <a:buClrTx/>
              <a:buFont typeface="Wingdings" panose="05000000000000000000" pitchFamily="2" charset="2"/>
              <a:buChar char="l"/>
              <a:defRPr/>
            </a:pPr>
            <a:r>
              <a:rPr kumimoji="0" lang="zh-CN" altLang="en-US" sz="1800" b="0" i="0" u="none" strike="noStrike" kern="0" cap="none" spc="0" normalizeH="0" baseline="0" noProof="0" dirty="0">
                <a:ln>
                  <a:noFill/>
                </a:ln>
                <a:solidFill>
                  <a:srgbClr val="FF0000"/>
                </a:solidFill>
                <a:effectLst/>
                <a:uLnTx/>
                <a:uFillTx/>
                <a:latin typeface="+mj-ea"/>
                <a:ea typeface="+mj-ea"/>
              </a:rPr>
              <a:t>全向天线</a:t>
            </a:r>
            <a:r>
              <a:rPr kumimoji="0" lang="zh-CN" altLang="en-US" sz="1800" b="0" i="0" u="none" strike="noStrike" kern="0" cap="none" spc="0" normalizeH="0" baseline="0" noProof="0" dirty="0">
                <a:ln>
                  <a:noFill/>
                </a:ln>
                <a:solidFill>
                  <a:srgbClr val="000000"/>
                </a:solidFill>
                <a:effectLst/>
                <a:uLnTx/>
                <a:uFillTx/>
                <a:latin typeface="+mj-ea"/>
                <a:ea typeface="+mj-ea"/>
              </a:rPr>
              <a:t>的倾角是通过</a:t>
            </a:r>
            <a:r>
              <a:rPr kumimoji="0" lang="zh-CN" altLang="en-US" sz="1800" b="0" i="0" u="none" strike="noStrike" kern="0" cap="none" spc="0" normalizeH="0" baseline="0" noProof="0" dirty="0">
                <a:ln>
                  <a:noFill/>
                </a:ln>
                <a:solidFill>
                  <a:srgbClr val="FF0000"/>
                </a:solidFill>
                <a:effectLst/>
                <a:uLnTx/>
                <a:uFillTx/>
                <a:latin typeface="+mj-ea"/>
                <a:ea typeface="+mj-ea"/>
              </a:rPr>
              <a:t>电子下倾</a:t>
            </a:r>
            <a:r>
              <a:rPr kumimoji="0" lang="zh-CN" altLang="en-US" sz="1800" b="0" i="0" u="none" strike="noStrike" kern="0" cap="none" spc="0" normalizeH="0" baseline="0" noProof="0" dirty="0">
                <a:ln>
                  <a:noFill/>
                </a:ln>
                <a:solidFill>
                  <a:srgbClr val="000000"/>
                </a:solidFill>
                <a:effectLst/>
                <a:uLnTx/>
                <a:uFillTx/>
                <a:latin typeface="+mj-ea"/>
                <a:ea typeface="+mj-ea"/>
              </a:rPr>
              <a:t>来实现的。</a:t>
            </a:r>
          </a:p>
          <a:p>
            <a:pPr eaLnBrk="1" hangingPunct="1">
              <a:buClrTx/>
              <a:buFont typeface="Wingdings" panose="05000000000000000000" pitchFamily="2" charset="2"/>
              <a:buChar char="l"/>
              <a:defRPr/>
            </a:pPr>
            <a:r>
              <a:rPr kumimoji="0" lang="zh-CN" altLang="en-US" sz="1800" b="0" i="0" u="none" strike="noStrike" kern="0" cap="none" spc="0" normalizeH="0" baseline="0" noProof="0" dirty="0">
                <a:ln>
                  <a:noFill/>
                </a:ln>
                <a:solidFill>
                  <a:srgbClr val="000000"/>
                </a:solidFill>
                <a:effectLst/>
                <a:uLnTx/>
                <a:uFillTx/>
                <a:latin typeface="+mj-ea"/>
                <a:ea typeface="+mj-ea"/>
              </a:rPr>
              <a:t>电子下倾的原理是通过改变共线阵天线振子的相位，改变垂直分量和水平分量的幅值大小，改变合成分量场强强度，从而使天线的垂直方向图下倾。</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7" name="矩形 6"/>
          <p:cNvSpPr/>
          <p:nvPr/>
        </p:nvSpPr>
        <p:spPr>
          <a:xfrm>
            <a:off x="950813" y="2339160"/>
            <a:ext cx="2550698"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机械调整与电调天线</a:t>
            </a:r>
          </a:p>
        </p:txBody>
      </p:sp>
      <p:sp>
        <p:nvSpPr>
          <p:cNvPr id="11" name="Rectangle 3"/>
          <p:cNvSpPr txBox="1">
            <a:spLocks noChangeArrowheads="1"/>
          </p:cNvSpPr>
          <p:nvPr/>
        </p:nvSpPr>
        <p:spPr bwMode="auto">
          <a:xfrm>
            <a:off x="919612" y="3121918"/>
            <a:ext cx="4831715" cy="2670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rgbClr val="000000"/>
                </a:solidFill>
                <a:effectLst/>
                <a:uLnTx/>
                <a:uFillTx/>
                <a:latin typeface="+mj-ea"/>
                <a:ea typeface="+mj-ea"/>
              </a:rPr>
              <a:t>机械调整天线指的是通过调整夹具的方法实现下倾角度的调整；</a:t>
            </a:r>
          </a:p>
          <a:p>
            <a:pPr marL="342900" marR="0" lvl="0" indent="-342900" algn="l" defTabSz="914400" rtl="0" eaLnBrk="0" fontAlgn="base" latinLnBrk="0" hangingPunct="0">
              <a:lnSpc>
                <a:spcPct val="15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rgbClr val="000000"/>
                </a:solidFill>
                <a:effectLst/>
                <a:uLnTx/>
                <a:uFillTx/>
                <a:latin typeface="+mj-ea"/>
                <a:ea typeface="+mj-ea"/>
              </a:rPr>
              <a:t>电调天线是通过拉杆的调节控制天线内置的调节装置调整天线下倾角度；</a:t>
            </a:r>
          </a:p>
        </p:txBody>
      </p:sp>
      <p:pic>
        <p:nvPicPr>
          <p:cNvPr id="13" name="Picture 4" descr="jiajutiaozheng"/>
          <p:cNvPicPr>
            <a:picLocks noChangeAspect="1" noChangeArrowheads="1"/>
          </p:cNvPicPr>
          <p:nvPr/>
        </p:nvPicPr>
        <p:blipFill>
          <a:blip r:embed="rId2">
            <a:lum bright="12000" contrast="6000"/>
            <a:extLst>
              <a:ext uri="{28A0092B-C50C-407E-A947-70E740481C1C}">
                <a14:useLocalDpi xmlns:a14="http://schemas.microsoft.com/office/drawing/2010/main" val="0"/>
              </a:ext>
            </a:extLst>
          </a:blip>
          <a:srcRect/>
          <a:stretch>
            <a:fillRect/>
          </a:stretch>
        </p:blipFill>
        <p:spPr bwMode="auto">
          <a:xfrm>
            <a:off x="6103752" y="2226568"/>
            <a:ext cx="2178050" cy="3438525"/>
          </a:xfrm>
          <a:prstGeom prst="rect">
            <a:avLst/>
          </a:prstGeom>
          <a:noFill/>
          <a:ln w="9525">
            <a:solidFill>
              <a:srgbClr val="4C88C4"/>
            </a:solidFill>
            <a:miter lim="800000"/>
            <a:headEnd/>
            <a:tailEnd/>
          </a:ln>
          <a:extLst>
            <a:ext uri="{909E8E84-426E-40DD-AFC4-6F175D3DCCD1}">
              <a14:hiddenFill xmlns:a14="http://schemas.microsoft.com/office/drawing/2010/main">
                <a:solidFill>
                  <a:srgbClr val="FFFFFF"/>
                </a:solidFill>
              </a14:hiddenFill>
            </a:ext>
          </a:extLst>
        </p:spPr>
      </p:pic>
      <p:pic>
        <p:nvPicPr>
          <p:cNvPr id="14" name="Picture 5" descr="diantiao"/>
          <p:cNvPicPr>
            <a:picLocks noChangeAspect="1" noChangeArrowheads="1"/>
          </p:cNvPicPr>
          <p:nvPr/>
        </p:nvPicPr>
        <p:blipFill>
          <a:blip r:embed="rId3">
            <a:lum bright="12000" contrast="12000"/>
            <a:extLst>
              <a:ext uri="{28A0092B-C50C-407E-A947-70E740481C1C}">
                <a14:useLocalDpi xmlns:a14="http://schemas.microsoft.com/office/drawing/2010/main" val="0"/>
              </a:ext>
            </a:extLst>
          </a:blip>
          <a:srcRect/>
          <a:stretch>
            <a:fillRect/>
          </a:stretch>
        </p:blipFill>
        <p:spPr bwMode="auto">
          <a:xfrm>
            <a:off x="8634227" y="2226568"/>
            <a:ext cx="2043113" cy="3438525"/>
          </a:xfrm>
          <a:prstGeom prst="rect">
            <a:avLst/>
          </a:prstGeom>
          <a:noFill/>
          <a:ln w="9525">
            <a:solidFill>
              <a:srgbClr val="4C88C4"/>
            </a:solidFill>
            <a:miter lim="800000"/>
            <a:headEnd/>
            <a:tailEnd/>
          </a:ln>
          <a:extLst>
            <a:ext uri="{909E8E84-426E-40DD-AFC4-6F175D3DCCD1}">
              <a14:hiddenFill xmlns:a14="http://schemas.microsoft.com/office/drawing/2010/main">
                <a:solidFill>
                  <a:srgbClr val="FFFFFF"/>
                </a:solidFill>
              </a14:hiddenFill>
            </a:ext>
          </a:extLst>
        </p:spPr>
      </p:pic>
      <p:sp>
        <p:nvSpPr>
          <p:cNvPr id="15" name="Text Box 6"/>
          <p:cNvSpPr txBox="1">
            <a:spLocks noChangeArrowheads="1"/>
          </p:cNvSpPr>
          <p:nvPr/>
        </p:nvSpPr>
        <p:spPr bwMode="auto">
          <a:xfrm>
            <a:off x="6456177" y="2664718"/>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zh-CN" altLang="en-US" sz="2400" dirty="0">
                <a:solidFill>
                  <a:srgbClr val="FF3300"/>
                </a:solidFill>
                <a:latin typeface="+mj-ea"/>
                <a:ea typeface="+mj-ea"/>
              </a:rPr>
              <a:t>机械调整</a:t>
            </a:r>
          </a:p>
        </p:txBody>
      </p:sp>
      <p:sp>
        <p:nvSpPr>
          <p:cNvPr id="16" name="Text Box 7"/>
          <p:cNvSpPr txBox="1">
            <a:spLocks noChangeArrowheads="1"/>
          </p:cNvSpPr>
          <p:nvPr/>
        </p:nvSpPr>
        <p:spPr bwMode="auto">
          <a:xfrm>
            <a:off x="9191440" y="256946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lang="zh-CN" altLang="en-US" sz="2400" dirty="0">
                <a:solidFill>
                  <a:srgbClr val="FF3300"/>
                </a:solidFill>
                <a:latin typeface="+mj-ea"/>
                <a:ea typeface="+mj-ea"/>
              </a:rPr>
              <a:t>电调</a:t>
            </a:r>
          </a:p>
        </p:txBody>
      </p:sp>
      <p:sp>
        <p:nvSpPr>
          <p:cNvPr id="2" name="矩形 1"/>
          <p:cNvSpPr/>
          <p:nvPr/>
        </p:nvSpPr>
        <p:spPr>
          <a:xfrm>
            <a:off x="6931960" y="6007993"/>
            <a:ext cx="2723823" cy="369332"/>
          </a:xfrm>
          <a:prstGeom prst="rect">
            <a:avLst/>
          </a:prstGeom>
        </p:spPr>
        <p:txBody>
          <a:bodyPr wrap="none">
            <a:spAutoFit/>
          </a:bodyPr>
          <a:lstStyle/>
          <a:p>
            <a:r>
              <a:rPr lang="zh-CN" altLang="zh-CN" kern="100" dirty="0">
                <a:latin typeface="+mj-ea"/>
                <a:ea typeface="+mj-ea"/>
                <a:cs typeface="Times New Roman" panose="02020603050405020304" pitchFamily="18" charset="0"/>
              </a:rPr>
              <a:t>电调天线和机械调整天线</a:t>
            </a:r>
            <a:endParaRPr lang="zh-CN" altLang="en-US" dirty="0">
              <a:latin typeface="+mj-ea"/>
              <a:ea typeface="+mj-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19" name="Rectangle 4"/>
          <p:cNvSpPr>
            <a:spLocks noChangeArrowheads="1"/>
          </p:cNvSpPr>
          <p:nvPr/>
        </p:nvSpPr>
        <p:spPr bwMode="auto">
          <a:xfrm>
            <a:off x="2802708" y="4936719"/>
            <a:ext cx="7805737" cy="1338315"/>
          </a:xfrm>
          <a:prstGeom prst="rect">
            <a:avLst/>
          </a:prstGeom>
          <a:solidFill>
            <a:srgbClr val="EAEAEA"/>
          </a:solidFill>
          <a:ln w="9525">
            <a:solidFill>
              <a:srgbClr val="000000"/>
            </a:solidFill>
            <a:miter lim="800000"/>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40000"/>
              </a:lnSpc>
              <a:spcBef>
                <a:spcPct val="0"/>
              </a:spcBef>
              <a:spcAft>
                <a:spcPct val="0"/>
              </a:spcAft>
              <a:buClrTx/>
              <a:buSzTx/>
              <a:buFontTx/>
              <a:buNone/>
              <a:defRPr/>
            </a:pPr>
            <a:r>
              <a:rPr kumimoji="0" lang="zh-CN" altLang="en-US" sz="2000" b="0" i="0" u="none" strike="noStrike" kern="0" cap="none" spc="0" normalizeH="0" baseline="0" noProof="0" dirty="0">
                <a:ln>
                  <a:noFill/>
                </a:ln>
                <a:solidFill>
                  <a:srgbClr val="000000"/>
                </a:solidFill>
                <a:effectLst/>
                <a:uLnTx/>
                <a:uFillTx/>
                <a:latin typeface="+mj-ea"/>
                <a:ea typeface="+mj-ea"/>
              </a:rPr>
              <a:t>表明了天线对后瓣抑制的好坏。选用前后比低的天线，天线的后瓣有可能产生越区覆盖，导致切换关系混乱，产生掉话。</a:t>
            </a:r>
            <a:endParaRPr kumimoji="0" lang="en-US" altLang="zh-CN" sz="2000" b="0" i="0" u="none" strike="noStrike" kern="0" cap="none" spc="0" normalizeH="0" baseline="0" noProof="0" dirty="0">
              <a:ln>
                <a:noFill/>
              </a:ln>
              <a:solidFill>
                <a:srgbClr val="000000"/>
              </a:solidFill>
              <a:effectLst/>
              <a:uLnTx/>
              <a:uFillTx/>
              <a:latin typeface="+mj-ea"/>
              <a:ea typeface="+mj-ea"/>
            </a:endParaRPr>
          </a:p>
          <a:p>
            <a:pPr marL="0" marR="0" lvl="0" indent="0" defTabSz="914400" eaLnBrk="1" fontAlgn="base" latinLnBrk="0" hangingPunct="1">
              <a:lnSpc>
                <a:spcPct val="140000"/>
              </a:lnSpc>
              <a:spcBef>
                <a:spcPct val="0"/>
              </a:spcBef>
              <a:spcAft>
                <a:spcPct val="0"/>
              </a:spcAft>
              <a:buClrTx/>
              <a:buSzTx/>
              <a:buFontTx/>
              <a:buNone/>
              <a:defRPr/>
            </a:pPr>
            <a:r>
              <a:rPr kumimoji="0" lang="zh-CN" altLang="en-US" sz="2000" b="0" i="0" u="none" strike="noStrike" kern="0" cap="none" spc="0" normalizeH="0" baseline="0" noProof="0" dirty="0">
                <a:ln>
                  <a:noFill/>
                </a:ln>
                <a:solidFill>
                  <a:srgbClr val="000000"/>
                </a:solidFill>
                <a:effectLst/>
                <a:uLnTx/>
                <a:uFillTx/>
                <a:latin typeface="+mj-ea"/>
                <a:ea typeface="+mj-ea"/>
              </a:rPr>
              <a:t>一般在</a:t>
            </a:r>
            <a:r>
              <a:rPr kumimoji="0" lang="en-US" altLang="zh-CN" sz="2000" b="0" i="0" u="none" strike="noStrike" kern="0" cap="none" spc="0" normalizeH="0" baseline="0" noProof="0" dirty="0">
                <a:ln>
                  <a:noFill/>
                </a:ln>
                <a:solidFill>
                  <a:srgbClr val="000000"/>
                </a:solidFill>
                <a:effectLst/>
                <a:uLnTx/>
                <a:uFillTx/>
                <a:latin typeface="+mj-ea"/>
                <a:ea typeface="+mj-ea"/>
              </a:rPr>
              <a:t>25</a:t>
            </a:r>
            <a:r>
              <a:rPr kumimoji="0" lang="zh-CN" altLang="en-US" sz="2000" b="0" i="0" u="none" strike="noStrike" kern="0" cap="none" spc="0" normalizeH="0" baseline="0" noProof="0" dirty="0">
                <a:ln>
                  <a:noFill/>
                </a:ln>
                <a:solidFill>
                  <a:srgbClr val="000000"/>
                </a:solidFill>
                <a:effectLst/>
                <a:uLnTx/>
                <a:uFillTx/>
                <a:latin typeface="+mj-ea"/>
                <a:ea typeface="+mj-ea"/>
              </a:rPr>
              <a:t>－</a:t>
            </a:r>
            <a:r>
              <a:rPr kumimoji="0" lang="en-US" altLang="zh-CN" sz="2000" b="0" i="0" u="none" strike="noStrike" kern="0" cap="none" spc="0" normalizeH="0" baseline="0" noProof="0" dirty="0">
                <a:ln>
                  <a:noFill/>
                </a:ln>
                <a:solidFill>
                  <a:srgbClr val="000000"/>
                </a:solidFill>
                <a:effectLst/>
                <a:uLnTx/>
                <a:uFillTx/>
                <a:latin typeface="+mj-ea"/>
                <a:ea typeface="+mj-ea"/>
              </a:rPr>
              <a:t>30dB</a:t>
            </a:r>
            <a:r>
              <a:rPr kumimoji="0" lang="zh-CN" altLang="en-US" sz="2000" b="0" i="0" u="none" strike="noStrike" kern="0" cap="none" spc="0" normalizeH="0" baseline="0" noProof="0" dirty="0">
                <a:ln>
                  <a:noFill/>
                </a:ln>
                <a:solidFill>
                  <a:srgbClr val="000000"/>
                </a:solidFill>
                <a:effectLst/>
                <a:uLnTx/>
                <a:uFillTx/>
                <a:latin typeface="+mj-ea"/>
                <a:ea typeface="+mj-ea"/>
              </a:rPr>
              <a:t>之间，应优先选用前后比为</a:t>
            </a:r>
            <a:r>
              <a:rPr kumimoji="0" lang="en-US" altLang="zh-CN" sz="2000" b="0" i="0" u="none" strike="noStrike" kern="0" cap="none" spc="0" normalizeH="0" baseline="0" noProof="0" dirty="0">
                <a:ln>
                  <a:noFill/>
                </a:ln>
                <a:solidFill>
                  <a:srgbClr val="000000"/>
                </a:solidFill>
                <a:effectLst/>
                <a:uLnTx/>
                <a:uFillTx/>
                <a:latin typeface="+mj-ea"/>
                <a:ea typeface="+mj-ea"/>
              </a:rPr>
              <a:t>30</a:t>
            </a:r>
            <a:r>
              <a:rPr kumimoji="0" lang="zh-CN" altLang="en-US" sz="2000" b="0" i="0" u="none" strike="noStrike" kern="0" cap="none" spc="0" normalizeH="0" baseline="0" noProof="0" dirty="0">
                <a:ln>
                  <a:noFill/>
                </a:ln>
                <a:solidFill>
                  <a:srgbClr val="000000"/>
                </a:solidFill>
                <a:effectLst/>
                <a:uLnTx/>
                <a:uFillTx/>
                <a:latin typeface="+mj-ea"/>
                <a:ea typeface="+mj-ea"/>
              </a:rPr>
              <a:t>的天线。</a:t>
            </a:r>
          </a:p>
        </p:txBody>
      </p:sp>
      <p:sp>
        <p:nvSpPr>
          <p:cNvPr id="20" name="Rectangle 5"/>
          <p:cNvSpPr>
            <a:spLocks noChangeArrowheads="1"/>
          </p:cNvSpPr>
          <p:nvPr/>
        </p:nvSpPr>
        <p:spPr bwMode="auto">
          <a:xfrm>
            <a:off x="5156251" y="1967336"/>
            <a:ext cx="41491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eaLnBrk="1" fontAlgn="base" hangingPunct="1">
              <a:spcBef>
                <a:spcPct val="0"/>
              </a:spcBef>
              <a:spcAft>
                <a:spcPct val="0"/>
              </a:spcAft>
            </a:pPr>
            <a:r>
              <a:rPr kumimoji="1" lang="zh-CN" altLang="en-US" sz="2400" dirty="0">
                <a:solidFill>
                  <a:srgbClr val="FF3300"/>
                </a:solidFill>
                <a:latin typeface="+mj-ea"/>
                <a:ea typeface="+mj-ea"/>
              </a:rPr>
              <a:t>主瓣最大值与后瓣最大值之比</a:t>
            </a:r>
          </a:p>
        </p:txBody>
      </p:sp>
      <p:grpSp>
        <p:nvGrpSpPr>
          <p:cNvPr id="4" name="组合 3"/>
          <p:cNvGrpSpPr/>
          <p:nvPr/>
        </p:nvGrpSpPr>
        <p:grpSpPr>
          <a:xfrm>
            <a:off x="5598767" y="2681431"/>
            <a:ext cx="3264163" cy="2002858"/>
            <a:chOff x="5057246" y="2761327"/>
            <a:chExt cx="2420937" cy="1752600"/>
          </a:xfrm>
        </p:grpSpPr>
        <p:grpSp>
          <p:nvGrpSpPr>
            <p:cNvPr id="21" name="Group 6"/>
            <p:cNvGrpSpPr/>
            <p:nvPr/>
          </p:nvGrpSpPr>
          <p:grpSpPr bwMode="auto">
            <a:xfrm>
              <a:off x="5743046" y="3062953"/>
              <a:ext cx="1735137" cy="1163638"/>
              <a:chOff x="1728" y="1774"/>
              <a:chExt cx="1093" cy="733"/>
            </a:xfrm>
          </p:grpSpPr>
          <p:sp>
            <p:nvSpPr>
              <p:cNvPr id="22" name="Freeform 7"/>
              <p:cNvSpPr/>
              <p:nvPr/>
            </p:nvSpPr>
            <p:spPr bwMode="auto">
              <a:xfrm rot="19951143">
                <a:off x="1728" y="1774"/>
                <a:ext cx="1022" cy="233"/>
              </a:xfrm>
              <a:custGeom>
                <a:avLst/>
                <a:gdLst>
                  <a:gd name="T0" fmla="*/ 0 w 2120"/>
                  <a:gd name="T1" fmla="*/ 304 h 600"/>
                  <a:gd name="T2" fmla="*/ 1356 w 2120"/>
                  <a:gd name="T3" fmla="*/ 12 h 600"/>
                  <a:gd name="T4" fmla="*/ 2120 w 2120"/>
                  <a:gd name="T5" fmla="*/ 308 h 600"/>
                  <a:gd name="T6" fmla="*/ 1376 w 2120"/>
                  <a:gd name="T7" fmla="*/ 596 h 600"/>
                  <a:gd name="T8" fmla="*/ 0 w 2120"/>
                  <a:gd name="T9" fmla="*/ 304 h 600"/>
                  <a:gd name="T10" fmla="*/ 0 60000 65536"/>
                  <a:gd name="T11" fmla="*/ 0 60000 65536"/>
                  <a:gd name="T12" fmla="*/ 0 60000 65536"/>
                  <a:gd name="T13" fmla="*/ 0 60000 65536"/>
                  <a:gd name="T14" fmla="*/ 0 60000 65536"/>
                  <a:gd name="T15" fmla="*/ 0 w 2120"/>
                  <a:gd name="T16" fmla="*/ 0 h 600"/>
                  <a:gd name="T17" fmla="*/ 2120 w 2120"/>
                  <a:gd name="T18" fmla="*/ 600 h 600"/>
                </a:gdLst>
                <a:ahLst/>
                <a:cxnLst>
                  <a:cxn ang="T10">
                    <a:pos x="T0" y="T1"/>
                  </a:cxn>
                  <a:cxn ang="T11">
                    <a:pos x="T2" y="T3"/>
                  </a:cxn>
                  <a:cxn ang="T12">
                    <a:pos x="T4" y="T5"/>
                  </a:cxn>
                  <a:cxn ang="T13">
                    <a:pos x="T6" y="T7"/>
                  </a:cxn>
                  <a:cxn ang="T14">
                    <a:pos x="T8" y="T9"/>
                  </a:cxn>
                </a:cxnLst>
                <a:rect l="T15" t="T16" r="T17" b="T18"/>
                <a:pathLst>
                  <a:path w="2120" h="600">
                    <a:moveTo>
                      <a:pt x="0" y="304"/>
                    </a:moveTo>
                    <a:cubicBezTo>
                      <a:pt x="356" y="176"/>
                      <a:pt x="996" y="0"/>
                      <a:pt x="1356" y="12"/>
                    </a:cubicBezTo>
                    <a:cubicBezTo>
                      <a:pt x="1716" y="24"/>
                      <a:pt x="2120" y="100"/>
                      <a:pt x="2120" y="308"/>
                    </a:cubicBezTo>
                    <a:cubicBezTo>
                      <a:pt x="2120" y="516"/>
                      <a:pt x="1776" y="600"/>
                      <a:pt x="1376" y="596"/>
                    </a:cubicBezTo>
                    <a:cubicBezTo>
                      <a:pt x="976" y="592"/>
                      <a:pt x="348" y="432"/>
                      <a:pt x="0" y="304"/>
                    </a:cubicBezTo>
                    <a:close/>
                  </a:path>
                </a:pathLst>
              </a:custGeom>
              <a:gradFill rotWithShape="1">
                <a:gsLst>
                  <a:gs pos="0">
                    <a:srgbClr val="233F5B"/>
                  </a:gs>
                  <a:gs pos="100000">
                    <a:srgbClr val="4C88C4"/>
                  </a:gs>
                </a:gsLst>
                <a:lin ang="0" scaled="1"/>
              </a:gradFill>
              <a:ln w="38100">
                <a:solidFill>
                  <a:srgbClr val="4C88C4"/>
                </a:solidFill>
                <a:rou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23" name="Freeform 8"/>
              <p:cNvSpPr/>
              <p:nvPr/>
            </p:nvSpPr>
            <p:spPr bwMode="auto">
              <a:xfrm rot="1648857" flipV="1">
                <a:off x="1728" y="2274"/>
                <a:ext cx="1093" cy="233"/>
              </a:xfrm>
              <a:custGeom>
                <a:avLst/>
                <a:gdLst>
                  <a:gd name="T0" fmla="*/ 0 w 2120"/>
                  <a:gd name="T1" fmla="*/ 304 h 600"/>
                  <a:gd name="T2" fmla="*/ 1356 w 2120"/>
                  <a:gd name="T3" fmla="*/ 12 h 600"/>
                  <a:gd name="T4" fmla="*/ 2120 w 2120"/>
                  <a:gd name="T5" fmla="*/ 308 h 600"/>
                  <a:gd name="T6" fmla="*/ 1376 w 2120"/>
                  <a:gd name="T7" fmla="*/ 596 h 600"/>
                  <a:gd name="T8" fmla="*/ 0 w 2120"/>
                  <a:gd name="T9" fmla="*/ 304 h 600"/>
                  <a:gd name="T10" fmla="*/ 0 60000 65536"/>
                  <a:gd name="T11" fmla="*/ 0 60000 65536"/>
                  <a:gd name="T12" fmla="*/ 0 60000 65536"/>
                  <a:gd name="T13" fmla="*/ 0 60000 65536"/>
                  <a:gd name="T14" fmla="*/ 0 60000 65536"/>
                  <a:gd name="T15" fmla="*/ 0 w 2120"/>
                  <a:gd name="T16" fmla="*/ 0 h 600"/>
                  <a:gd name="T17" fmla="*/ 2120 w 2120"/>
                  <a:gd name="T18" fmla="*/ 600 h 600"/>
                </a:gdLst>
                <a:ahLst/>
                <a:cxnLst>
                  <a:cxn ang="T10">
                    <a:pos x="T0" y="T1"/>
                  </a:cxn>
                  <a:cxn ang="T11">
                    <a:pos x="T2" y="T3"/>
                  </a:cxn>
                  <a:cxn ang="T12">
                    <a:pos x="T4" y="T5"/>
                  </a:cxn>
                  <a:cxn ang="T13">
                    <a:pos x="T6" y="T7"/>
                  </a:cxn>
                  <a:cxn ang="T14">
                    <a:pos x="T8" y="T9"/>
                  </a:cxn>
                </a:cxnLst>
                <a:rect l="T15" t="T16" r="T17" b="T18"/>
                <a:pathLst>
                  <a:path w="2120" h="600">
                    <a:moveTo>
                      <a:pt x="0" y="304"/>
                    </a:moveTo>
                    <a:cubicBezTo>
                      <a:pt x="356" y="176"/>
                      <a:pt x="996" y="0"/>
                      <a:pt x="1356" y="12"/>
                    </a:cubicBezTo>
                    <a:cubicBezTo>
                      <a:pt x="1716" y="24"/>
                      <a:pt x="2120" y="100"/>
                      <a:pt x="2120" y="308"/>
                    </a:cubicBezTo>
                    <a:cubicBezTo>
                      <a:pt x="2120" y="516"/>
                      <a:pt x="1776" y="600"/>
                      <a:pt x="1376" y="596"/>
                    </a:cubicBezTo>
                    <a:cubicBezTo>
                      <a:pt x="976" y="592"/>
                      <a:pt x="348" y="432"/>
                      <a:pt x="0" y="304"/>
                    </a:cubicBezTo>
                    <a:close/>
                  </a:path>
                </a:pathLst>
              </a:custGeom>
              <a:gradFill rotWithShape="1">
                <a:gsLst>
                  <a:gs pos="0">
                    <a:srgbClr val="233F5B"/>
                  </a:gs>
                  <a:gs pos="100000">
                    <a:srgbClr val="4C88C4"/>
                  </a:gs>
                </a:gsLst>
                <a:lin ang="0" scaled="1"/>
              </a:gradFill>
              <a:ln w="38100">
                <a:solidFill>
                  <a:srgbClr val="4C88C4"/>
                </a:solidFill>
                <a:rou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sp>
          <p:nvSpPr>
            <p:cNvPr id="24" name="Freeform 9"/>
            <p:cNvSpPr/>
            <p:nvPr/>
          </p:nvSpPr>
          <p:spPr bwMode="auto">
            <a:xfrm>
              <a:off x="5866871" y="3433911"/>
              <a:ext cx="184731" cy="369332"/>
            </a:xfrm>
            <a:custGeom>
              <a:avLst/>
              <a:gdLst>
                <a:gd name="T0" fmla="*/ 0 w 2120"/>
                <a:gd name="T1" fmla="*/ 304 h 600"/>
                <a:gd name="T2" fmla="*/ 1356 w 2120"/>
                <a:gd name="T3" fmla="*/ 12 h 600"/>
                <a:gd name="T4" fmla="*/ 2120 w 2120"/>
                <a:gd name="T5" fmla="*/ 308 h 600"/>
                <a:gd name="T6" fmla="*/ 1376 w 2120"/>
                <a:gd name="T7" fmla="*/ 596 h 600"/>
                <a:gd name="T8" fmla="*/ 0 w 2120"/>
                <a:gd name="T9" fmla="*/ 304 h 600"/>
                <a:gd name="T10" fmla="*/ 0 60000 65536"/>
                <a:gd name="T11" fmla="*/ 0 60000 65536"/>
                <a:gd name="T12" fmla="*/ 0 60000 65536"/>
                <a:gd name="T13" fmla="*/ 0 60000 65536"/>
                <a:gd name="T14" fmla="*/ 0 60000 65536"/>
                <a:gd name="T15" fmla="*/ 0 w 2120"/>
                <a:gd name="T16" fmla="*/ 0 h 600"/>
                <a:gd name="T17" fmla="*/ 2120 w 2120"/>
                <a:gd name="T18" fmla="*/ 600 h 600"/>
              </a:gdLst>
              <a:ahLst/>
              <a:cxnLst>
                <a:cxn ang="T10">
                  <a:pos x="T0" y="T1"/>
                </a:cxn>
                <a:cxn ang="T11">
                  <a:pos x="T2" y="T3"/>
                </a:cxn>
                <a:cxn ang="T12">
                  <a:pos x="T4" y="T5"/>
                </a:cxn>
                <a:cxn ang="T13">
                  <a:pos x="T6" y="T7"/>
                </a:cxn>
                <a:cxn ang="T14">
                  <a:pos x="T8" y="T9"/>
                </a:cxn>
              </a:cxnLst>
              <a:rect l="T15" t="T16" r="T17" b="T18"/>
              <a:pathLst>
                <a:path w="2120" h="600">
                  <a:moveTo>
                    <a:pt x="0" y="304"/>
                  </a:moveTo>
                  <a:cubicBezTo>
                    <a:pt x="356" y="176"/>
                    <a:pt x="996" y="0"/>
                    <a:pt x="1356" y="12"/>
                  </a:cubicBezTo>
                  <a:cubicBezTo>
                    <a:pt x="1716" y="24"/>
                    <a:pt x="2120" y="100"/>
                    <a:pt x="2120" y="308"/>
                  </a:cubicBezTo>
                  <a:cubicBezTo>
                    <a:pt x="2120" y="516"/>
                    <a:pt x="1776" y="600"/>
                    <a:pt x="1376" y="596"/>
                  </a:cubicBezTo>
                  <a:cubicBezTo>
                    <a:pt x="976" y="592"/>
                    <a:pt x="348" y="432"/>
                    <a:pt x="0" y="304"/>
                  </a:cubicBezTo>
                  <a:close/>
                </a:path>
              </a:pathLst>
            </a:custGeom>
            <a:gradFill rotWithShape="1">
              <a:gsLst>
                <a:gs pos="0">
                  <a:srgbClr val="233F5B"/>
                </a:gs>
                <a:gs pos="100000">
                  <a:srgbClr val="4C88C4"/>
                </a:gs>
              </a:gsLst>
              <a:lin ang="0" scaled="1"/>
            </a:gradFill>
            <a:ln w="38100">
              <a:solidFill>
                <a:srgbClr val="4C88C4"/>
              </a:solidFill>
              <a:round/>
            </a:ln>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nvGrpSpPr>
            <p:cNvPr id="25" name="Group 10"/>
            <p:cNvGrpSpPr/>
            <p:nvPr/>
          </p:nvGrpSpPr>
          <p:grpSpPr bwMode="auto">
            <a:xfrm>
              <a:off x="5057246" y="3551902"/>
              <a:ext cx="587375" cy="236538"/>
              <a:chOff x="3444" y="1688"/>
              <a:chExt cx="288" cy="172"/>
            </a:xfrm>
          </p:grpSpPr>
          <p:sp>
            <p:nvSpPr>
              <p:cNvPr id="26" name="Oval 11"/>
              <p:cNvSpPr>
                <a:spLocks noChangeArrowheads="1"/>
              </p:cNvSpPr>
              <p:nvPr/>
            </p:nvSpPr>
            <p:spPr bwMode="auto">
              <a:xfrm rot="2106162">
                <a:off x="3616" y="1688"/>
                <a:ext cx="116" cy="34"/>
              </a:xfrm>
              <a:prstGeom prst="ellipse">
                <a:avLst/>
              </a:prstGeom>
              <a:gradFill rotWithShape="1">
                <a:gsLst>
                  <a:gs pos="0">
                    <a:srgbClr val="233F5B"/>
                  </a:gs>
                  <a:gs pos="100000">
                    <a:srgbClr val="4C88C4"/>
                  </a:gs>
                </a:gsLst>
                <a:lin ang="0" scaled="1"/>
              </a:gradFill>
              <a:ln w="28575">
                <a:solidFill>
                  <a:srgbClr val="4C88C4"/>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27" name="Oval 12"/>
              <p:cNvSpPr>
                <a:spLocks noChangeArrowheads="1"/>
              </p:cNvSpPr>
              <p:nvPr/>
            </p:nvSpPr>
            <p:spPr bwMode="auto">
              <a:xfrm rot="19889944" flipV="1">
                <a:off x="3619" y="1808"/>
                <a:ext cx="113" cy="52"/>
              </a:xfrm>
              <a:prstGeom prst="ellipse">
                <a:avLst/>
              </a:prstGeom>
              <a:gradFill rotWithShape="1">
                <a:gsLst>
                  <a:gs pos="0">
                    <a:srgbClr val="233F5B"/>
                  </a:gs>
                  <a:gs pos="100000">
                    <a:srgbClr val="4C88C4"/>
                  </a:gs>
                </a:gsLst>
                <a:lin ang="0" scaled="1"/>
              </a:gradFill>
              <a:ln w="28575">
                <a:solidFill>
                  <a:srgbClr val="4C88C4"/>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28" name="Oval 13"/>
              <p:cNvSpPr>
                <a:spLocks noChangeArrowheads="1"/>
              </p:cNvSpPr>
              <p:nvPr/>
            </p:nvSpPr>
            <p:spPr bwMode="auto">
              <a:xfrm flipH="1">
                <a:off x="3444" y="1729"/>
                <a:ext cx="280" cy="86"/>
              </a:xfrm>
              <a:prstGeom prst="ellipse">
                <a:avLst/>
              </a:prstGeom>
              <a:gradFill rotWithShape="1">
                <a:gsLst>
                  <a:gs pos="0">
                    <a:srgbClr val="233F5B"/>
                  </a:gs>
                  <a:gs pos="100000">
                    <a:srgbClr val="4C88C4"/>
                  </a:gs>
                </a:gsLst>
                <a:lin ang="0" scaled="1"/>
              </a:gradFill>
              <a:ln w="28575">
                <a:solidFill>
                  <a:srgbClr val="4C88C4"/>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grpSp>
          <p:nvGrpSpPr>
            <p:cNvPr id="29" name="Group 14"/>
            <p:cNvGrpSpPr/>
            <p:nvPr/>
          </p:nvGrpSpPr>
          <p:grpSpPr bwMode="auto">
            <a:xfrm>
              <a:off x="5600171" y="2761327"/>
              <a:ext cx="309562" cy="1752600"/>
              <a:chOff x="1638" y="1584"/>
              <a:chExt cx="195" cy="1104"/>
            </a:xfrm>
          </p:grpSpPr>
          <p:sp>
            <p:nvSpPr>
              <p:cNvPr id="30" name="AutoShape 15"/>
              <p:cNvSpPr>
                <a:spLocks noChangeArrowheads="1"/>
              </p:cNvSpPr>
              <p:nvPr/>
            </p:nvSpPr>
            <p:spPr bwMode="auto">
              <a:xfrm>
                <a:off x="1638" y="1584"/>
                <a:ext cx="195" cy="1104"/>
              </a:xfrm>
              <a:prstGeom prst="roundRect">
                <a:avLst>
                  <a:gd name="adj" fmla="val 29231"/>
                </a:avLst>
              </a:prstGeom>
              <a:solidFill>
                <a:srgbClr val="EAEAEA"/>
              </a:solidFill>
              <a:ln w="12700">
                <a:solidFill>
                  <a:srgbClr val="000000"/>
                </a:solidFill>
                <a:prstDash val="lgDash"/>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31" name="Line 16"/>
              <p:cNvSpPr>
                <a:spLocks noChangeShapeType="1"/>
              </p:cNvSpPr>
              <p:nvPr/>
            </p:nvSpPr>
            <p:spPr bwMode="auto">
              <a:xfrm>
                <a:off x="1741" y="2163"/>
                <a:ext cx="0" cy="3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nvGrpSpPr>
              <p:cNvPr id="32" name="Group 17"/>
              <p:cNvGrpSpPr/>
              <p:nvPr/>
            </p:nvGrpSpPr>
            <p:grpSpPr bwMode="auto">
              <a:xfrm>
                <a:off x="1708" y="1850"/>
                <a:ext cx="64" cy="347"/>
                <a:chOff x="3674" y="1287"/>
                <a:chExt cx="49" cy="348"/>
              </a:xfrm>
            </p:grpSpPr>
            <p:sp>
              <p:nvSpPr>
                <p:cNvPr id="43" name="Rectangle 18"/>
                <p:cNvSpPr>
                  <a:spLocks noChangeArrowheads="1"/>
                </p:cNvSpPr>
                <p:nvPr/>
              </p:nvSpPr>
              <p:spPr bwMode="auto">
                <a:xfrm>
                  <a:off x="3674" y="1287"/>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44" name="Rectangle 19"/>
                <p:cNvSpPr>
                  <a:spLocks noChangeArrowheads="1"/>
                </p:cNvSpPr>
                <p:nvPr/>
              </p:nvSpPr>
              <p:spPr bwMode="auto">
                <a:xfrm>
                  <a:off x="3674" y="1400"/>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grpSp>
            <p:nvGrpSpPr>
              <p:cNvPr id="33" name="Group 20"/>
              <p:cNvGrpSpPr/>
              <p:nvPr/>
            </p:nvGrpSpPr>
            <p:grpSpPr bwMode="auto">
              <a:xfrm>
                <a:off x="1708" y="2088"/>
                <a:ext cx="64" cy="347"/>
                <a:chOff x="3674" y="1287"/>
                <a:chExt cx="49" cy="348"/>
              </a:xfrm>
            </p:grpSpPr>
            <p:sp>
              <p:nvSpPr>
                <p:cNvPr id="41" name="Rectangle 21"/>
                <p:cNvSpPr>
                  <a:spLocks noChangeArrowheads="1"/>
                </p:cNvSpPr>
                <p:nvPr/>
              </p:nvSpPr>
              <p:spPr bwMode="auto">
                <a:xfrm>
                  <a:off x="3674" y="1287"/>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42" name="Rectangle 22"/>
                <p:cNvSpPr>
                  <a:spLocks noChangeArrowheads="1"/>
                </p:cNvSpPr>
                <p:nvPr/>
              </p:nvSpPr>
              <p:spPr bwMode="auto">
                <a:xfrm>
                  <a:off x="3674" y="1400"/>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grpSp>
            <p:nvGrpSpPr>
              <p:cNvPr id="34" name="Group 23"/>
              <p:cNvGrpSpPr/>
              <p:nvPr/>
            </p:nvGrpSpPr>
            <p:grpSpPr bwMode="auto">
              <a:xfrm>
                <a:off x="1708" y="2322"/>
                <a:ext cx="64" cy="345"/>
                <a:chOff x="3674" y="1287"/>
                <a:chExt cx="49" cy="349"/>
              </a:xfrm>
            </p:grpSpPr>
            <p:sp>
              <p:nvSpPr>
                <p:cNvPr id="39" name="Rectangle 24"/>
                <p:cNvSpPr>
                  <a:spLocks noChangeArrowheads="1"/>
                </p:cNvSpPr>
                <p:nvPr/>
              </p:nvSpPr>
              <p:spPr bwMode="auto">
                <a:xfrm>
                  <a:off x="3674" y="1287"/>
                  <a:ext cx="49" cy="236"/>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40" name="Rectangle 25"/>
                <p:cNvSpPr>
                  <a:spLocks noChangeArrowheads="1"/>
                </p:cNvSpPr>
                <p:nvPr/>
              </p:nvSpPr>
              <p:spPr bwMode="auto">
                <a:xfrm>
                  <a:off x="3674" y="1399"/>
                  <a:ext cx="49" cy="237"/>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grpSp>
            <p:nvGrpSpPr>
              <p:cNvPr id="35" name="Group 26"/>
              <p:cNvGrpSpPr/>
              <p:nvPr/>
            </p:nvGrpSpPr>
            <p:grpSpPr bwMode="auto">
              <a:xfrm>
                <a:off x="1708" y="1611"/>
                <a:ext cx="64" cy="347"/>
                <a:chOff x="3674" y="1287"/>
                <a:chExt cx="49" cy="348"/>
              </a:xfrm>
            </p:grpSpPr>
            <p:sp>
              <p:nvSpPr>
                <p:cNvPr id="37" name="Rectangle 27"/>
                <p:cNvSpPr>
                  <a:spLocks noChangeArrowheads="1"/>
                </p:cNvSpPr>
                <p:nvPr/>
              </p:nvSpPr>
              <p:spPr bwMode="auto">
                <a:xfrm>
                  <a:off x="3674" y="1287"/>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sp>
              <p:nvSpPr>
                <p:cNvPr id="38" name="Rectangle 28"/>
                <p:cNvSpPr>
                  <a:spLocks noChangeArrowheads="1"/>
                </p:cNvSpPr>
                <p:nvPr/>
              </p:nvSpPr>
              <p:spPr bwMode="auto">
                <a:xfrm>
                  <a:off x="3674" y="1400"/>
                  <a:ext cx="49" cy="235"/>
                </a:xfrm>
                <a:prstGeom prst="rect">
                  <a:avLst/>
                </a:prstGeom>
                <a:solidFill>
                  <a:srgbClr val="EAEAEA"/>
                </a:solidFill>
                <a:ln w="12700">
                  <a:solidFill>
                    <a:srgbClr val="000000"/>
                  </a:solidFill>
                  <a:miter lim="800000"/>
                </a:ln>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sp>
            <p:nvSpPr>
              <p:cNvPr id="36" name="Line 29"/>
              <p:cNvSpPr>
                <a:spLocks noChangeShapeType="1"/>
              </p:cNvSpPr>
              <p:nvPr/>
            </p:nvSpPr>
            <p:spPr bwMode="auto">
              <a:xfrm>
                <a:off x="1676" y="1616"/>
                <a:ext cx="0" cy="1040"/>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mj-ea"/>
                  <a:ea typeface="+mj-ea"/>
                </a:endParaRPr>
              </a:p>
            </p:txBody>
          </p:sp>
        </p:grpSp>
      </p:grpSp>
      <p:sp>
        <p:nvSpPr>
          <p:cNvPr id="45" name="矩形 44"/>
          <p:cNvSpPr/>
          <p:nvPr/>
        </p:nvSpPr>
        <p:spPr>
          <a:xfrm>
            <a:off x="950813" y="2339364"/>
            <a:ext cx="1165704"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前后比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box(out)">
                                      <p:cBhvr>
                                        <p:cTn id="7" dur="500"/>
                                        <p:tgtEl>
                                          <p:spTgt spid="2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004106"/>
            <a:ext cx="1165704"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驻波比</a:t>
            </a:r>
          </a:p>
        </p:txBody>
      </p:sp>
      <p:sp>
        <p:nvSpPr>
          <p:cNvPr id="2" name="矩形 1"/>
          <p:cNvSpPr/>
          <p:nvPr/>
        </p:nvSpPr>
        <p:spPr>
          <a:xfrm>
            <a:off x="950813" y="2608927"/>
            <a:ext cx="5528092" cy="2249847"/>
          </a:xfrm>
          <a:prstGeom prst="rect">
            <a:avLst/>
          </a:prstGeom>
        </p:spPr>
        <p:txBody>
          <a:bodyPr wrap="square">
            <a:spAutoFit/>
          </a:bodyPr>
          <a:lstStyle/>
          <a:p>
            <a:pPr marL="342900" lvl="0" indent="-342900" fontAlgn="base">
              <a:lnSpc>
                <a:spcPct val="90000"/>
              </a:lnSpc>
              <a:spcBef>
                <a:spcPct val="20000"/>
              </a:spcBef>
              <a:spcAft>
                <a:spcPts val="400"/>
              </a:spcAft>
              <a:defRPr/>
            </a:pPr>
            <a:r>
              <a:rPr lang="zh-CN" altLang="en-US" b="1" kern="0" dirty="0">
                <a:solidFill>
                  <a:srgbClr val="000000"/>
                </a:solidFill>
                <a:latin typeface="+mn-ea"/>
              </a:rPr>
              <a:t>电压驻波比</a:t>
            </a:r>
            <a:r>
              <a:rPr lang="en-US" altLang="zh-CN" b="1" kern="0" dirty="0">
                <a:solidFill>
                  <a:srgbClr val="000000"/>
                </a:solidFill>
                <a:latin typeface="+mn-ea"/>
              </a:rPr>
              <a:t>VSWR:</a:t>
            </a:r>
          </a:p>
          <a:p>
            <a:pPr lvl="1" fontAlgn="base">
              <a:lnSpc>
                <a:spcPct val="120000"/>
              </a:lnSpc>
              <a:spcBef>
                <a:spcPct val="20000"/>
              </a:spcBef>
              <a:spcAft>
                <a:spcPts val="1300"/>
              </a:spcAft>
              <a:defRPr/>
            </a:pPr>
            <a:r>
              <a:rPr lang="zh-CN" altLang="en-US" b="1" kern="0" dirty="0">
                <a:solidFill>
                  <a:srgbClr val="000000"/>
                </a:solidFill>
                <a:latin typeface="+mn-ea"/>
              </a:rPr>
              <a:t>微波传输线的阻抗必须与天线的输入阻抗匹配，否则就会有反射波产生，流向信号源。</a:t>
            </a:r>
          </a:p>
          <a:p>
            <a:pPr marL="742950" lvl="1" indent="-285750" fontAlgn="base">
              <a:lnSpc>
                <a:spcPct val="90000"/>
              </a:lnSpc>
              <a:spcBef>
                <a:spcPct val="20000"/>
              </a:spcBef>
              <a:spcAft>
                <a:spcPts val="1300"/>
              </a:spcAft>
              <a:buFont typeface="Arial" panose="020B0604020202020204" pitchFamily="34" charset="0"/>
              <a:buChar char="•"/>
              <a:defRPr/>
            </a:pPr>
            <a:r>
              <a:rPr lang="zh-CN" altLang="en-US" b="1" kern="0" dirty="0">
                <a:solidFill>
                  <a:srgbClr val="FF0000"/>
                </a:solidFill>
                <a:latin typeface="+mn-ea"/>
              </a:rPr>
              <a:t>由反射波和入射波合成而产生的称为驻波。</a:t>
            </a:r>
          </a:p>
          <a:p>
            <a:pPr marL="742950" lvl="1" indent="-285750" fontAlgn="base">
              <a:lnSpc>
                <a:spcPct val="80000"/>
              </a:lnSpc>
              <a:spcBef>
                <a:spcPct val="20000"/>
              </a:spcBef>
              <a:spcAft>
                <a:spcPts val="1300"/>
              </a:spcAft>
              <a:buFont typeface="Arial" panose="020B0604020202020204" pitchFamily="34" charset="0"/>
              <a:buChar char="•"/>
              <a:defRPr/>
            </a:pPr>
            <a:r>
              <a:rPr lang="zh-CN" altLang="en-US" b="1" kern="0" dirty="0">
                <a:solidFill>
                  <a:srgbClr val="FF0000"/>
                </a:solidFill>
                <a:latin typeface="+mn-ea"/>
              </a:rPr>
              <a:t> 驻波信号振幅的最大值与最小值之比称为电压驻波比</a:t>
            </a:r>
            <a:r>
              <a:rPr lang="en-US" altLang="zh-CN" b="1" kern="0" dirty="0">
                <a:solidFill>
                  <a:srgbClr val="FF0000"/>
                </a:solidFill>
                <a:latin typeface="+mn-ea"/>
              </a:rPr>
              <a:t>VSWR</a:t>
            </a:r>
            <a:r>
              <a:rPr lang="zh-CN" altLang="en-US" b="1" kern="0" dirty="0">
                <a:solidFill>
                  <a:srgbClr val="FF0000"/>
                </a:solidFill>
                <a:latin typeface="+mn-ea"/>
              </a:rPr>
              <a:t>。</a:t>
            </a:r>
            <a:endParaRPr lang="en-US" altLang="zh-CN" b="1" kern="0" dirty="0">
              <a:solidFill>
                <a:srgbClr val="FF0000"/>
              </a:solidFill>
              <a:latin typeface="+mn-ea"/>
            </a:endParaRPr>
          </a:p>
        </p:txBody>
      </p:sp>
      <p:sp>
        <p:nvSpPr>
          <p:cNvPr id="5" name="矩形 4"/>
          <p:cNvSpPr/>
          <p:nvPr/>
        </p:nvSpPr>
        <p:spPr>
          <a:xfrm>
            <a:off x="6478905" y="2004106"/>
            <a:ext cx="4555068" cy="1644040"/>
          </a:xfrm>
          <a:prstGeom prst="rect">
            <a:avLst/>
          </a:prstGeom>
        </p:spPr>
        <p:txBody>
          <a:bodyPr wrap="square">
            <a:spAutoFit/>
          </a:bodyPr>
          <a:lstStyle/>
          <a:p>
            <a:pPr marL="0" lvl="1" fontAlgn="base">
              <a:spcAft>
                <a:spcPts val="1300"/>
              </a:spcAft>
              <a:defRPr/>
            </a:pPr>
            <a:r>
              <a:rPr lang="en-US" altLang="zh-CN" b="1" kern="0" dirty="0">
                <a:latin typeface="+mj-ea"/>
              </a:rPr>
              <a:t> VSWR</a:t>
            </a:r>
            <a:r>
              <a:rPr lang="zh-CN" altLang="en-US" b="1" kern="0" dirty="0">
                <a:latin typeface="+mj-ea"/>
              </a:rPr>
              <a:t>是行波系数的倒数，其值在</a:t>
            </a:r>
            <a:r>
              <a:rPr lang="en-US" altLang="zh-CN" b="1" kern="0" dirty="0">
                <a:latin typeface="+mj-ea"/>
              </a:rPr>
              <a:t>1</a:t>
            </a:r>
            <a:r>
              <a:rPr lang="zh-CN" altLang="en-US" b="1" kern="0" dirty="0">
                <a:latin typeface="+mj-ea"/>
              </a:rPr>
              <a:t>到无穷大之间。</a:t>
            </a:r>
            <a:endParaRPr lang="en-US" altLang="zh-CN" b="1" kern="0" dirty="0">
              <a:latin typeface="+mj-ea"/>
            </a:endParaRPr>
          </a:p>
          <a:p>
            <a:pPr marL="285750" indent="-285750">
              <a:lnSpc>
                <a:spcPct val="150000"/>
              </a:lnSpc>
              <a:buFont typeface="Arial" panose="020B0604020202020204" pitchFamily="34" charset="0"/>
              <a:buChar char="•"/>
            </a:pPr>
            <a:r>
              <a:rPr lang="zh-CN" altLang="en-US" b="1" kern="0" dirty="0">
                <a:solidFill>
                  <a:srgbClr val="FF0000"/>
                </a:solidFill>
                <a:latin typeface="+mj-ea"/>
              </a:rPr>
              <a:t>驻波比为</a:t>
            </a:r>
            <a:r>
              <a:rPr lang="en-US" altLang="zh-CN" b="1" kern="0" dirty="0">
                <a:solidFill>
                  <a:srgbClr val="FF0000"/>
                </a:solidFill>
                <a:latin typeface="+mj-ea"/>
              </a:rPr>
              <a:t>1</a:t>
            </a:r>
            <a:r>
              <a:rPr lang="zh-CN" altLang="en-US" b="1" kern="0" dirty="0">
                <a:solidFill>
                  <a:srgbClr val="FF0000"/>
                </a:solidFill>
                <a:latin typeface="+mj-ea"/>
              </a:rPr>
              <a:t>，表示完全匹配；</a:t>
            </a:r>
            <a:endParaRPr lang="en-US" altLang="zh-CN" b="1" kern="0" dirty="0">
              <a:solidFill>
                <a:srgbClr val="FF0000"/>
              </a:solidFill>
              <a:latin typeface="+mj-ea"/>
            </a:endParaRPr>
          </a:p>
          <a:p>
            <a:pPr marL="285750" indent="-285750">
              <a:lnSpc>
                <a:spcPct val="150000"/>
              </a:lnSpc>
              <a:buFont typeface="Arial" panose="020B0604020202020204" pitchFamily="34" charset="0"/>
              <a:buChar char="•"/>
            </a:pPr>
            <a:r>
              <a:rPr lang="zh-CN" altLang="en-US" b="1" kern="0" dirty="0">
                <a:solidFill>
                  <a:srgbClr val="FF0000"/>
                </a:solidFill>
                <a:latin typeface="+mj-ea"/>
              </a:rPr>
              <a:t>驻波比为无穷大表示全反射，完全失配。</a:t>
            </a:r>
            <a:endParaRPr lang="en-US" altLang="zh-CN" b="1" kern="0" dirty="0">
              <a:solidFill>
                <a:srgbClr val="FF0000"/>
              </a:solidFill>
              <a:latin typeface="+mj-ea"/>
            </a:endParaRPr>
          </a:p>
        </p:txBody>
      </p:sp>
      <p:sp>
        <p:nvSpPr>
          <p:cNvPr id="6" name="矩形 5"/>
          <p:cNvSpPr/>
          <p:nvPr/>
        </p:nvSpPr>
        <p:spPr>
          <a:xfrm>
            <a:off x="2134948" y="5329966"/>
            <a:ext cx="8150854" cy="923330"/>
          </a:xfrm>
          <a:prstGeom prst="rect">
            <a:avLst/>
          </a:prstGeom>
        </p:spPr>
        <p:txBody>
          <a:bodyPr wrap="square">
            <a:spAutoFit/>
          </a:bodyPr>
          <a:lstStyle/>
          <a:p>
            <a:pPr>
              <a:lnSpc>
                <a:spcPct val="150000"/>
              </a:lnSpc>
            </a:pPr>
            <a:r>
              <a:rPr lang="zh-CN" altLang="en-US" b="1" kern="0" dirty="0">
                <a:solidFill>
                  <a:srgbClr val="000000"/>
                </a:solidFill>
                <a:latin typeface="+mj-ea"/>
              </a:rPr>
              <a:t>在移动通信系统中，</a:t>
            </a:r>
            <a:r>
              <a:rPr lang="zh-CN" altLang="en-US" b="1" kern="0" dirty="0">
                <a:solidFill>
                  <a:srgbClr val="FF0000"/>
                </a:solidFill>
                <a:latin typeface="+mj-ea"/>
              </a:rPr>
              <a:t>一般要求驻波比小于</a:t>
            </a:r>
            <a:r>
              <a:rPr lang="en-US" altLang="zh-CN" b="1" kern="0" dirty="0">
                <a:solidFill>
                  <a:srgbClr val="FF0000"/>
                </a:solidFill>
                <a:latin typeface="+mj-ea"/>
              </a:rPr>
              <a:t>1.5</a:t>
            </a:r>
            <a:r>
              <a:rPr lang="zh-CN" altLang="en-US" b="1" kern="0" dirty="0">
                <a:solidFill>
                  <a:srgbClr val="FF0000"/>
                </a:solidFill>
                <a:latin typeface="+mj-ea"/>
              </a:rPr>
              <a:t>，但实际应用中</a:t>
            </a:r>
            <a:r>
              <a:rPr lang="en-US" altLang="zh-CN" b="1" kern="0" dirty="0">
                <a:solidFill>
                  <a:srgbClr val="FF0000"/>
                </a:solidFill>
                <a:latin typeface="+mj-ea"/>
              </a:rPr>
              <a:t>VSWR</a:t>
            </a:r>
            <a:r>
              <a:rPr lang="zh-CN" altLang="en-US" b="1" kern="0" dirty="0">
                <a:solidFill>
                  <a:srgbClr val="FF0000"/>
                </a:solidFill>
                <a:latin typeface="+mj-ea"/>
              </a:rPr>
              <a:t>应小于</a:t>
            </a:r>
            <a:r>
              <a:rPr lang="en-US" altLang="zh-CN" b="1" kern="0" dirty="0">
                <a:solidFill>
                  <a:srgbClr val="FF0000"/>
                </a:solidFill>
                <a:latin typeface="+mj-ea"/>
              </a:rPr>
              <a:t>1.3</a:t>
            </a:r>
            <a:r>
              <a:rPr lang="zh-CN" altLang="en-US" b="1" kern="0" dirty="0">
                <a:solidFill>
                  <a:srgbClr val="FF0000"/>
                </a:solidFill>
                <a:latin typeface="+mj-ea"/>
              </a:rPr>
              <a:t>。</a:t>
            </a:r>
            <a:endParaRPr lang="en-US" altLang="zh-CN" b="1" kern="0" dirty="0">
              <a:solidFill>
                <a:srgbClr val="FF0000"/>
              </a:solidFill>
              <a:latin typeface="+mj-ea"/>
            </a:endParaRPr>
          </a:p>
          <a:p>
            <a:pPr>
              <a:lnSpc>
                <a:spcPct val="150000"/>
              </a:lnSpc>
            </a:pPr>
            <a:r>
              <a:rPr lang="zh-CN" altLang="en-US" b="1" kern="0" dirty="0">
                <a:solidFill>
                  <a:srgbClr val="000000"/>
                </a:solidFill>
                <a:latin typeface="+mj-ea"/>
              </a:rPr>
              <a:t>过大的驻波比会减小基站的覆盖并造成系统内干扰加大，影响基站的服务性能。</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004106"/>
            <a:ext cx="1396536"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回波损耗</a:t>
            </a:r>
          </a:p>
        </p:txBody>
      </p:sp>
      <p:sp>
        <p:nvSpPr>
          <p:cNvPr id="4" name="矩形 3"/>
          <p:cNvSpPr/>
          <p:nvPr/>
        </p:nvSpPr>
        <p:spPr>
          <a:xfrm>
            <a:off x="2478828" y="2608927"/>
            <a:ext cx="7156238" cy="3000821"/>
          </a:xfrm>
          <a:prstGeom prst="rect">
            <a:avLst/>
          </a:prstGeom>
        </p:spPr>
        <p:txBody>
          <a:bodyPr wrap="square">
            <a:spAutoFit/>
          </a:bodyPr>
          <a:lstStyle/>
          <a:p>
            <a:pPr lvl="0" fontAlgn="base">
              <a:spcBef>
                <a:spcPct val="50000"/>
              </a:spcBef>
              <a:spcAft>
                <a:spcPct val="0"/>
              </a:spcAft>
              <a:defRPr/>
            </a:pPr>
            <a:r>
              <a:rPr lang="zh-CN" altLang="en-US" b="1" kern="0" dirty="0">
                <a:solidFill>
                  <a:srgbClr val="000000"/>
                </a:solidFill>
                <a:latin typeface="+mj-ea"/>
              </a:rPr>
              <a:t>回波损耗是入射波与反射波的功率之比</a:t>
            </a:r>
            <a:r>
              <a:rPr lang="en-US" altLang="zh-CN" b="1" kern="0" dirty="0">
                <a:solidFill>
                  <a:srgbClr val="000000"/>
                </a:solidFill>
                <a:latin typeface="+mj-ea"/>
              </a:rPr>
              <a:t>,</a:t>
            </a:r>
            <a:r>
              <a:rPr lang="zh-CN" altLang="en-US" b="1" kern="0" dirty="0">
                <a:solidFill>
                  <a:srgbClr val="000000"/>
                </a:solidFill>
                <a:latin typeface="+mj-ea"/>
              </a:rPr>
              <a:t>以对数形式来表示 ，即以分贝值表示。</a:t>
            </a:r>
            <a:endParaRPr lang="en-US" altLang="zh-CN" b="1" kern="0" dirty="0">
              <a:solidFill>
                <a:srgbClr val="000000"/>
              </a:solidFill>
              <a:latin typeface="+mj-ea"/>
            </a:endParaRPr>
          </a:p>
          <a:p>
            <a:pPr lvl="0" fontAlgn="base">
              <a:spcBef>
                <a:spcPct val="50000"/>
              </a:spcBef>
              <a:spcAft>
                <a:spcPct val="0"/>
              </a:spcAft>
              <a:defRPr/>
            </a:pPr>
            <a:endParaRPr lang="en-US" altLang="zh-CN" b="1" kern="0" dirty="0">
              <a:solidFill>
                <a:srgbClr val="000000"/>
              </a:solidFill>
              <a:latin typeface="+mj-ea"/>
            </a:endParaRPr>
          </a:p>
          <a:p>
            <a:pPr marL="285750" lvl="0" indent="-285750" fontAlgn="base">
              <a:spcBef>
                <a:spcPct val="50000"/>
              </a:spcBef>
              <a:spcAft>
                <a:spcPct val="0"/>
              </a:spcAft>
              <a:buFont typeface="Arial" panose="020B0604020202020204" pitchFamily="34" charset="0"/>
              <a:buChar char="•"/>
              <a:defRPr/>
            </a:pPr>
            <a:r>
              <a:rPr lang="zh-CN" altLang="en-US" b="1" kern="0" dirty="0">
                <a:solidFill>
                  <a:srgbClr val="FF0000"/>
                </a:solidFill>
                <a:latin typeface="+mj-ea"/>
              </a:rPr>
              <a:t>回波损耗的值在</a:t>
            </a:r>
            <a:r>
              <a:rPr lang="en-US" altLang="zh-CN" b="1" kern="0" dirty="0">
                <a:solidFill>
                  <a:srgbClr val="FF0000"/>
                </a:solidFill>
                <a:latin typeface="+mj-ea"/>
              </a:rPr>
              <a:t>0dB </a:t>
            </a:r>
            <a:r>
              <a:rPr lang="zh-CN" altLang="en-US" b="1" kern="0" dirty="0">
                <a:solidFill>
                  <a:srgbClr val="FF0000"/>
                </a:solidFill>
                <a:latin typeface="+mj-ea"/>
              </a:rPr>
              <a:t>到无穷大之间，回波损耗越小表示匹配越差，回波损耗越大表示匹配越好。</a:t>
            </a:r>
            <a:endParaRPr lang="en-US" altLang="zh-CN" b="1" kern="0" dirty="0">
              <a:solidFill>
                <a:srgbClr val="FF0000"/>
              </a:solidFill>
              <a:latin typeface="+mj-ea"/>
            </a:endParaRPr>
          </a:p>
          <a:p>
            <a:pPr marL="285750" lvl="0" indent="-285750" fontAlgn="base">
              <a:spcBef>
                <a:spcPct val="50000"/>
              </a:spcBef>
              <a:spcAft>
                <a:spcPct val="0"/>
              </a:spcAft>
              <a:buFont typeface="Arial" panose="020B0604020202020204" pitchFamily="34" charset="0"/>
              <a:buChar char="•"/>
              <a:defRPr/>
            </a:pPr>
            <a:r>
              <a:rPr lang="en-US" altLang="zh-CN" b="1" kern="0" dirty="0">
                <a:solidFill>
                  <a:srgbClr val="FF0000"/>
                </a:solidFill>
                <a:latin typeface="+mj-ea"/>
              </a:rPr>
              <a:t>0</a:t>
            </a:r>
            <a:r>
              <a:rPr lang="zh-CN" altLang="en-US" b="1" kern="0" dirty="0">
                <a:solidFill>
                  <a:srgbClr val="FF0000"/>
                </a:solidFill>
                <a:latin typeface="+mj-ea"/>
              </a:rPr>
              <a:t>表示全反射，无穷大表示完全匹配。</a:t>
            </a:r>
            <a:endParaRPr lang="en-US" altLang="zh-CN" b="1" kern="0" dirty="0">
              <a:solidFill>
                <a:srgbClr val="FF0000"/>
              </a:solidFill>
              <a:latin typeface="+mj-ea"/>
            </a:endParaRPr>
          </a:p>
          <a:p>
            <a:pPr marL="285750" lvl="0" indent="-285750" fontAlgn="base">
              <a:spcBef>
                <a:spcPct val="50000"/>
              </a:spcBef>
              <a:spcAft>
                <a:spcPct val="0"/>
              </a:spcAft>
              <a:buFont typeface="Arial" panose="020B0604020202020204" pitchFamily="34" charset="0"/>
              <a:buChar char="•"/>
              <a:defRPr/>
            </a:pPr>
            <a:endParaRPr lang="en-US" altLang="zh-CN" b="1" kern="0" dirty="0">
              <a:solidFill>
                <a:srgbClr val="FF0000"/>
              </a:solidFill>
              <a:latin typeface="+mj-ea"/>
            </a:endParaRPr>
          </a:p>
          <a:p>
            <a:pPr lvl="0" fontAlgn="base">
              <a:spcBef>
                <a:spcPct val="50000"/>
              </a:spcBef>
              <a:spcAft>
                <a:spcPct val="0"/>
              </a:spcAft>
              <a:defRPr/>
            </a:pPr>
            <a:r>
              <a:rPr lang="zh-CN" altLang="en-US" b="1" kern="0" dirty="0">
                <a:solidFill>
                  <a:srgbClr val="000000"/>
                </a:solidFill>
                <a:latin typeface="+mj-ea"/>
              </a:rPr>
              <a:t>在移动通信系统中，一般要求回波损耗大于</a:t>
            </a:r>
            <a:r>
              <a:rPr lang="en-US" altLang="zh-CN" b="1" kern="0" dirty="0">
                <a:solidFill>
                  <a:srgbClr val="000000"/>
                </a:solidFill>
                <a:latin typeface="+mj-ea"/>
              </a:rPr>
              <a:t>14dB</a:t>
            </a:r>
            <a:r>
              <a:rPr lang="zh-CN" altLang="en-US" b="1" kern="0" dirty="0">
                <a:solidFill>
                  <a:srgbClr val="000000"/>
                </a:solidFill>
                <a:latin typeface="+mj-ea"/>
              </a:rPr>
              <a:t>。</a:t>
            </a:r>
            <a:endParaRPr lang="en-US" altLang="zh-CN" b="1" kern="0" dirty="0">
              <a:solidFill>
                <a:srgbClr val="000000"/>
              </a:solidFill>
              <a:latin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004106"/>
            <a:ext cx="2650084" cy="507831"/>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回波损耗</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驻波比计算</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4537269" y="3025726"/>
            <a:ext cx="7078063" cy="3134162"/>
          </a:xfrm>
          <a:prstGeom prst="rect">
            <a:avLst/>
          </a:prstGeom>
          <a:noFill/>
          <a:ln>
            <a:noFill/>
          </a:ln>
        </p:spPr>
      </p:pic>
      <p:sp>
        <p:nvSpPr>
          <p:cNvPr id="2" name="矩形 1"/>
          <p:cNvSpPr/>
          <p:nvPr/>
        </p:nvSpPr>
        <p:spPr>
          <a:xfrm>
            <a:off x="730487" y="3214717"/>
            <a:ext cx="3667682" cy="707886"/>
          </a:xfrm>
          <a:prstGeom prst="rect">
            <a:avLst/>
          </a:prstGeom>
        </p:spPr>
        <p:txBody>
          <a:bodyPr wrap="square">
            <a:spAutoFit/>
          </a:bodyPr>
          <a:lstStyle/>
          <a:p>
            <a:pPr algn="just">
              <a:lnSpc>
                <a:spcPts val="1800"/>
              </a:lnSpc>
              <a:spcBef>
                <a:spcPts val="600"/>
              </a:spcBef>
              <a:spcAft>
                <a:spcPts val="600"/>
              </a:spcAft>
            </a:pPr>
            <a:r>
              <a:rPr lang="zh-CN" altLang="zh-CN" kern="100" dirty="0">
                <a:latin typeface="+mn-ea"/>
                <a:cs typeface="Cambria Math" panose="02040503050406030204" pitchFamily="18" charset="0"/>
              </a:rPr>
              <a:t>回波损耗（</a:t>
            </a:r>
            <a:r>
              <a:rPr lang="en-US" altLang="zh-CN" kern="100" dirty="0">
                <a:latin typeface="+mn-ea"/>
                <a:cs typeface="Cambria Math" panose="02040503050406030204" pitchFamily="18" charset="0"/>
              </a:rPr>
              <a:t>RL</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Return Loss</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a:t>
            </a:r>
            <a:endParaRPr lang="zh-CN" altLang="zh-CN" kern="100" dirty="0">
              <a:latin typeface="+mn-ea"/>
            </a:endParaRPr>
          </a:p>
          <a:p>
            <a:pPr indent="269240" algn="ctr">
              <a:lnSpc>
                <a:spcPts val="1800"/>
              </a:lnSpc>
              <a:spcBef>
                <a:spcPts val="600"/>
              </a:spcBef>
              <a:spcAft>
                <a:spcPts val="600"/>
              </a:spcAft>
            </a:pPr>
            <a:r>
              <a:rPr lang="en-US" altLang="zh-CN" kern="100" dirty="0">
                <a:latin typeface="+mn-ea"/>
                <a:cs typeface="Cambria Math" panose="02040503050406030204" pitchFamily="18" charset="0"/>
              </a:rPr>
              <a:t>RL</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10lg(10/0.5)=13dB</a:t>
            </a:r>
            <a:r>
              <a:rPr lang="zh-CN" altLang="zh-CN" kern="100" dirty="0">
                <a:latin typeface="+mn-ea"/>
                <a:cs typeface="Cambria Math" panose="02040503050406030204" pitchFamily="18" charset="0"/>
              </a:rPr>
              <a:t>；</a:t>
            </a:r>
            <a:endParaRPr lang="zh-CN" altLang="en-US" dirty="0">
              <a:latin typeface="+mn-ea"/>
            </a:endParaRPr>
          </a:p>
        </p:txBody>
      </p:sp>
      <p:sp>
        <p:nvSpPr>
          <p:cNvPr id="5" name="矩形 4"/>
          <p:cNvSpPr/>
          <p:nvPr/>
        </p:nvSpPr>
        <p:spPr>
          <a:xfrm>
            <a:off x="4398169" y="2292179"/>
            <a:ext cx="7483139" cy="369332"/>
          </a:xfrm>
          <a:prstGeom prst="rect">
            <a:avLst/>
          </a:prstGeom>
        </p:spPr>
        <p:txBody>
          <a:bodyPr wrap="none">
            <a:spAutoFit/>
          </a:bodyPr>
          <a:lstStyle/>
          <a:p>
            <a:r>
              <a:rPr lang="zh-CN" altLang="zh-CN" kern="100" dirty="0">
                <a:latin typeface="+mn-ea"/>
                <a:cs typeface="Cambria Math" panose="02040503050406030204" pitchFamily="18" charset="0"/>
              </a:rPr>
              <a:t>假设基站发射功率是</a:t>
            </a:r>
            <a:r>
              <a:rPr lang="en-US" altLang="zh-CN" kern="100" dirty="0">
                <a:latin typeface="+mn-ea"/>
                <a:cs typeface="Cambria Math" panose="02040503050406030204" pitchFamily="18" charset="0"/>
              </a:rPr>
              <a:t>10W</a:t>
            </a:r>
            <a:r>
              <a:rPr lang="zh-CN" altLang="zh-CN" kern="100" dirty="0">
                <a:latin typeface="+mn-ea"/>
                <a:cs typeface="Cambria Math" panose="02040503050406030204" pitchFamily="18" charset="0"/>
              </a:rPr>
              <a:t>，反射回</a:t>
            </a:r>
            <a:r>
              <a:rPr lang="en-US" altLang="zh-CN" kern="100" dirty="0">
                <a:latin typeface="+mn-ea"/>
                <a:cs typeface="Cambria Math" panose="02040503050406030204" pitchFamily="18" charset="0"/>
              </a:rPr>
              <a:t>0.5W</a:t>
            </a:r>
            <a:r>
              <a:rPr lang="zh-CN" altLang="zh-CN" kern="100" dirty="0">
                <a:latin typeface="+mn-ea"/>
                <a:cs typeface="Cambria Math" panose="02040503050406030204" pitchFamily="18" charset="0"/>
              </a:rPr>
              <a:t>，计算</a:t>
            </a:r>
            <a:r>
              <a:rPr lang="zh-CN" altLang="en-US" kern="100" dirty="0">
                <a:latin typeface="+mn-ea"/>
                <a:cs typeface="Cambria Math" panose="02040503050406030204" pitchFamily="18" charset="0"/>
              </a:rPr>
              <a:t>回波损耗和驻波比的值。</a:t>
            </a:r>
            <a:endParaRPr lang="zh-CN" altLang="en-US" dirty="0"/>
          </a:p>
        </p:txBody>
      </p:sp>
      <p:sp>
        <p:nvSpPr>
          <p:cNvPr id="4" name="矩形 3">
            <a:extLst>
              <a:ext uri="{FF2B5EF4-FFF2-40B4-BE49-F238E27FC236}">
                <a16:creationId xmlns:a16="http://schemas.microsoft.com/office/drawing/2014/main" id="{1B3D658E-B2F9-4894-432E-5B010D2F08C1}"/>
              </a:ext>
            </a:extLst>
          </p:cNvPr>
          <p:cNvSpPr/>
          <p:nvPr/>
        </p:nvSpPr>
        <p:spPr>
          <a:xfrm>
            <a:off x="730487" y="4269641"/>
            <a:ext cx="3667682" cy="646331"/>
          </a:xfrm>
          <a:prstGeom prst="rect">
            <a:avLst/>
          </a:prstGeom>
        </p:spPr>
        <p:txBody>
          <a:bodyPr wrap="square">
            <a:spAutoFit/>
          </a:bodyPr>
          <a:lstStyle/>
          <a:p>
            <a:r>
              <a:rPr lang="zh-CN" altLang="zh-CN" kern="100" dirty="0">
                <a:latin typeface="+mn-ea"/>
                <a:cs typeface="Cambria Math" panose="02040503050406030204" pitchFamily="18" charset="0"/>
              </a:rPr>
              <a:t>计算反射系数：</a:t>
            </a:r>
            <a:endParaRPr lang="zh-CN" altLang="zh-CN" kern="100" dirty="0">
              <a:latin typeface="+mn-ea"/>
            </a:endParaRPr>
          </a:p>
          <a:p>
            <a:pPr algn="ctr"/>
            <a:r>
              <a:rPr lang="en-US" altLang="zh-CN" kern="100" dirty="0">
                <a:latin typeface="+mn-ea"/>
                <a:cs typeface="Cambria Math" panose="02040503050406030204" pitchFamily="18" charset="0"/>
              </a:rPr>
              <a:t>RL=-20lg</a:t>
            </a:r>
            <a:r>
              <a:rPr lang="en-US" altLang="zh-CN" kern="100" dirty="0">
                <a:latin typeface="+mn-ea"/>
                <a:cs typeface="Cambria Math" panose="02040503050406030204" pitchFamily="18" charset="0"/>
                <a:sym typeface="Symbol" panose="05050102010706020507" pitchFamily="18" charset="2"/>
              </a:rPr>
              <a:t></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sym typeface="Symbol" panose="05050102010706020507" pitchFamily="18" charset="2"/>
              </a:rPr>
              <a:t></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0.2238</a:t>
            </a:r>
            <a:r>
              <a:rPr lang="zh-CN" altLang="zh-CN" kern="100" dirty="0">
                <a:latin typeface="+mn-ea"/>
                <a:cs typeface="Cambria Math" panose="02040503050406030204" pitchFamily="18" charset="0"/>
              </a:rPr>
              <a:t>；</a:t>
            </a:r>
            <a:endParaRPr lang="zh-CN" altLang="zh-CN" kern="100" dirty="0">
              <a:latin typeface="+mn-ea"/>
            </a:endParaRPr>
          </a:p>
        </p:txBody>
      </p:sp>
      <p:sp>
        <p:nvSpPr>
          <p:cNvPr id="7" name="矩形 6">
            <a:extLst>
              <a:ext uri="{FF2B5EF4-FFF2-40B4-BE49-F238E27FC236}">
                <a16:creationId xmlns:a16="http://schemas.microsoft.com/office/drawing/2014/main" id="{4E40F913-9A53-64AC-708A-249E5A4331E2}"/>
              </a:ext>
            </a:extLst>
          </p:cNvPr>
          <p:cNvSpPr/>
          <p:nvPr/>
        </p:nvSpPr>
        <p:spPr>
          <a:xfrm>
            <a:off x="730487" y="4940895"/>
            <a:ext cx="3667682" cy="923330"/>
          </a:xfrm>
          <a:prstGeom prst="rect">
            <a:avLst/>
          </a:prstGeom>
        </p:spPr>
        <p:txBody>
          <a:bodyPr wrap="square">
            <a:spAutoFit/>
          </a:bodyPr>
          <a:lstStyle/>
          <a:p>
            <a:pPr algn="just"/>
            <a:endParaRPr lang="en-US" altLang="zh-CN" kern="100" dirty="0">
              <a:latin typeface="+mn-ea"/>
              <a:cs typeface="Cambria Math" panose="02040503050406030204" pitchFamily="18" charset="0"/>
            </a:endParaRPr>
          </a:p>
          <a:p>
            <a:pPr algn="just"/>
            <a:r>
              <a:rPr lang="zh-CN" altLang="zh-CN" kern="100" dirty="0">
                <a:latin typeface="+mn-ea"/>
                <a:cs typeface="Cambria Math" panose="02040503050406030204" pitchFamily="18" charset="0"/>
              </a:rPr>
              <a:t>计算驻波比为：</a:t>
            </a:r>
            <a:endParaRPr lang="zh-CN" altLang="zh-CN" kern="100" dirty="0">
              <a:latin typeface="+mn-ea"/>
            </a:endParaRPr>
          </a:p>
          <a:p>
            <a:pPr algn="ctr"/>
            <a:r>
              <a:rPr lang="en-US" altLang="zh-CN" kern="100" dirty="0">
                <a:latin typeface="+mn-ea"/>
                <a:cs typeface="Cambria Math" panose="02040503050406030204" pitchFamily="18" charset="0"/>
              </a:rPr>
              <a:t>VSWR=(1+</a:t>
            </a:r>
            <a:r>
              <a:rPr lang="en-US" altLang="zh-CN" kern="100" dirty="0">
                <a:latin typeface="+mn-ea"/>
                <a:cs typeface="Cambria Math" panose="02040503050406030204" pitchFamily="18" charset="0"/>
                <a:sym typeface="Symbol" panose="05050102010706020507" pitchFamily="18" charset="2"/>
              </a:rPr>
              <a:t></a:t>
            </a:r>
            <a:r>
              <a:rPr lang="en-US" altLang="zh-CN" kern="100" dirty="0">
                <a:latin typeface="+mn-ea"/>
                <a:cs typeface="Cambria Math" panose="02040503050406030204" pitchFamily="18" charset="0"/>
              </a:rPr>
              <a:t>)/(1-</a:t>
            </a:r>
            <a:r>
              <a:rPr lang="en-US" altLang="zh-CN" kern="100" dirty="0">
                <a:latin typeface="+mn-ea"/>
                <a:cs typeface="Cambria Math" panose="02040503050406030204" pitchFamily="18" charset="0"/>
                <a:sym typeface="Symbol" panose="05050102010706020507" pitchFamily="18" charset="2"/>
              </a:rPr>
              <a:t></a:t>
            </a:r>
            <a:r>
              <a:rPr lang="en-US" altLang="zh-CN" kern="100" dirty="0">
                <a:latin typeface="+mn-ea"/>
                <a:cs typeface="Cambria Math" panose="02040503050406030204" pitchFamily="18" charset="0"/>
              </a:rPr>
              <a:t>)</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1.57</a:t>
            </a:r>
            <a:r>
              <a:rPr lang="zh-CN" altLang="zh-CN" kern="100" dirty="0">
                <a:latin typeface="+mn-ea"/>
                <a:cs typeface="Cambria Math" panose="02040503050406030204" pitchFamily="18" charset="0"/>
              </a:rPr>
              <a:t>。</a:t>
            </a:r>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004106"/>
            <a:ext cx="2650084" cy="507831"/>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天线增益</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天线方向性</a:t>
            </a:r>
          </a:p>
        </p:txBody>
      </p:sp>
      <p:sp>
        <p:nvSpPr>
          <p:cNvPr id="8" name="Rectangle 3"/>
          <p:cNvSpPr txBox="1">
            <a:spLocks noChangeArrowheads="1"/>
          </p:cNvSpPr>
          <p:nvPr/>
        </p:nvSpPr>
        <p:spPr bwMode="auto">
          <a:xfrm>
            <a:off x="2595291" y="2955820"/>
            <a:ext cx="7632700" cy="218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274955" indent="-274955" algn="l" rtl="0" eaLnBrk="0" fontAlgn="base" hangingPunct="0">
              <a:lnSpc>
                <a:spcPct val="145000"/>
              </a:lnSpc>
              <a:spcBef>
                <a:spcPct val="30000"/>
              </a:spcBef>
              <a:spcAft>
                <a:spcPct val="0"/>
              </a:spcAft>
              <a:buClr>
                <a:schemeClr val="accent2"/>
              </a:buClr>
              <a:buSzPct val="75000"/>
              <a:buFont typeface="Wingdings" panose="05000000000000000000" pitchFamily="2" charset="2"/>
              <a:buChar char="n"/>
              <a:defRPr sz="2400" b="1">
                <a:solidFill>
                  <a:schemeClr val="tx1"/>
                </a:solidFill>
                <a:latin typeface="+mn-lt"/>
                <a:ea typeface="+mn-ea"/>
                <a:cs typeface="+mn-cs"/>
              </a:defRPr>
            </a:lvl1pPr>
            <a:lvl2pPr marL="716280" indent="-262255" algn="l" rtl="0" eaLnBrk="0" fontAlgn="base" hangingPunct="0">
              <a:lnSpc>
                <a:spcPct val="145000"/>
              </a:lnSpc>
              <a:spcBef>
                <a:spcPct val="20000"/>
              </a:spcBef>
              <a:spcAft>
                <a:spcPct val="0"/>
              </a:spcAft>
              <a:buClr>
                <a:schemeClr val="accent2"/>
              </a:buClr>
              <a:buSzPct val="90000"/>
              <a:buFont typeface="Wingdings 3" pitchFamily="18" charset="2"/>
              <a:buChar char=""/>
              <a:defRPr sz="2000" b="1">
                <a:solidFill>
                  <a:schemeClr val="tx1"/>
                </a:solidFill>
                <a:latin typeface="+mn-lt"/>
                <a:ea typeface="+mn-ea"/>
              </a:defRPr>
            </a:lvl2pPr>
            <a:lvl3pPr marL="1176655" indent="-281305" algn="l" rtl="0" eaLnBrk="0" fontAlgn="base" hangingPunct="0">
              <a:lnSpc>
                <a:spcPct val="145000"/>
              </a:lnSpc>
              <a:spcBef>
                <a:spcPct val="20000"/>
              </a:spcBef>
              <a:spcAft>
                <a:spcPct val="0"/>
              </a:spcAft>
              <a:buClr>
                <a:schemeClr val="accent2"/>
              </a:buClr>
              <a:buFont typeface="Wingdings" panose="05000000000000000000" pitchFamily="2" charset="2"/>
              <a:buChar char=""/>
              <a:defRPr sz="2400" b="1">
                <a:solidFill>
                  <a:schemeClr val="tx1"/>
                </a:solidFill>
                <a:latin typeface="+mn-lt"/>
                <a:ea typeface="+mn-ea"/>
              </a:defRPr>
            </a:lvl3pPr>
            <a:lvl4pPr marL="1665605" indent="-228600" algn="l" rtl="0" eaLnBrk="0" fontAlgn="base" hangingPunct="0">
              <a:spcBef>
                <a:spcPct val="20000"/>
              </a:spcBef>
              <a:spcAft>
                <a:spcPct val="0"/>
              </a:spcAft>
              <a:buClr>
                <a:schemeClr val="accent2"/>
              </a:buClr>
              <a:buFont typeface="Arial" panose="020B0604020202020204" pitchFamily="34" charset="0"/>
              <a:buChar char="►"/>
              <a:defRPr sz="2000" b="1">
                <a:solidFill>
                  <a:schemeClr val="tx1"/>
                </a:solidFill>
                <a:latin typeface="+mj-lt"/>
                <a:ea typeface="+mn-ea"/>
              </a:defRPr>
            </a:lvl4pPr>
            <a:lvl5pPr marL="2073275" indent="-228600" algn="l" rtl="0" eaLnBrk="0" fontAlgn="base" hangingPunct="0">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5pPr>
            <a:lvl6pPr marL="25304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6pPr>
            <a:lvl7pPr marL="29876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7pPr>
            <a:lvl8pPr marL="34448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8pPr>
            <a:lvl9pPr marL="3902075" indent="-228600" algn="l" rtl="0" fontAlgn="base">
              <a:spcBef>
                <a:spcPct val="20000"/>
              </a:spcBef>
              <a:spcAft>
                <a:spcPct val="0"/>
              </a:spcAft>
              <a:buClr>
                <a:schemeClr val="accent2"/>
              </a:buClr>
              <a:buFont typeface="Wingdings" panose="05000000000000000000" pitchFamily="2" charset="2"/>
              <a:buChar char="q"/>
              <a:defRPr sz="1600" b="1">
                <a:solidFill>
                  <a:schemeClr val="tx1"/>
                </a:solidFill>
                <a:latin typeface="+mj-lt"/>
                <a:ea typeface="+mn-ea"/>
              </a:defRPr>
            </a:lvl9pPr>
          </a:lstStyle>
          <a:p>
            <a:pPr eaLnBrk="1" hangingPunct="1">
              <a:buClrTx/>
              <a:buFont typeface="Wingdings" panose="05000000000000000000" pitchFamily="2" charset="2"/>
              <a:buChar char="l"/>
              <a:defRPr/>
            </a:pPr>
            <a:r>
              <a:rPr kumimoji="0" lang="zh-CN" altLang="en-US" sz="1800" b="0" i="0" u="none" strike="noStrike" kern="0" cap="none" spc="0" normalizeH="0" baseline="0" noProof="0" dirty="0">
                <a:ln>
                  <a:noFill/>
                </a:ln>
                <a:solidFill>
                  <a:srgbClr val="FF3300"/>
                </a:solidFill>
                <a:effectLst/>
                <a:uLnTx/>
                <a:uFillTx/>
                <a:latin typeface="+mj-ea"/>
                <a:ea typeface="+mj-ea"/>
              </a:rPr>
              <a:t>天线的方向性是指天线向一定方向辐射电磁波的能力。</a:t>
            </a:r>
            <a:r>
              <a:rPr kumimoji="0" lang="zh-CN" altLang="en-US" sz="1800" b="0" i="0" u="none" strike="noStrike" kern="0" cap="none" spc="0" normalizeH="0" baseline="0" noProof="0" dirty="0">
                <a:ln>
                  <a:noFill/>
                </a:ln>
                <a:solidFill>
                  <a:srgbClr val="000000"/>
                </a:solidFill>
                <a:effectLst/>
                <a:uLnTx/>
                <a:uFillTx/>
                <a:latin typeface="+mj-ea"/>
                <a:ea typeface="+mj-ea"/>
              </a:rPr>
              <a:t>对于接收天线而言，方向性表示天线对不同方向传来的电波所具有的接收能力。天线的方向性的特性曲线通常用方向图来表示。</a:t>
            </a:r>
          </a:p>
          <a:p>
            <a:pPr eaLnBrk="1" hangingPunct="1">
              <a:buClrTx/>
              <a:buFont typeface="Wingdings" panose="05000000000000000000" pitchFamily="2" charset="2"/>
              <a:buChar char="l"/>
              <a:defRPr/>
            </a:pPr>
            <a:r>
              <a:rPr kumimoji="0" lang="zh-CN" altLang="en-US" sz="1800" b="0" i="0" u="none" strike="noStrike" kern="0" cap="none" spc="0" normalizeH="0" baseline="0" noProof="0" dirty="0">
                <a:ln>
                  <a:noFill/>
                </a:ln>
                <a:solidFill>
                  <a:srgbClr val="FF3300"/>
                </a:solidFill>
                <a:effectLst/>
                <a:uLnTx/>
                <a:uFillTx/>
                <a:latin typeface="+mj-ea"/>
                <a:ea typeface="+mj-ea"/>
              </a:rPr>
              <a:t>方向图可用来说明天线在空间各个方向上所具有的发射或接收电磁波的能力。</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113488"/>
            <a:ext cx="2650084" cy="507831"/>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天线增益</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天线方向性</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5559802" y="1267935"/>
            <a:ext cx="5523544" cy="2198939"/>
          </a:xfrm>
          <a:prstGeom prst="rect">
            <a:avLst/>
          </a:prstGeom>
          <a:noFill/>
          <a:ln>
            <a:noFill/>
          </a:ln>
        </p:spPr>
      </p:pic>
      <p:sp>
        <p:nvSpPr>
          <p:cNvPr id="2" name="矩形 1"/>
          <p:cNvSpPr/>
          <p:nvPr/>
        </p:nvSpPr>
        <p:spPr>
          <a:xfrm>
            <a:off x="6545100" y="3530787"/>
            <a:ext cx="3877985" cy="369332"/>
          </a:xfrm>
          <a:prstGeom prst="rect">
            <a:avLst/>
          </a:prstGeom>
        </p:spPr>
        <p:txBody>
          <a:bodyPr wrap="none">
            <a:spAutoFit/>
          </a:bodyPr>
          <a:lstStyle/>
          <a:p>
            <a:r>
              <a:rPr lang="zh-CN" altLang="zh-CN" kern="100" dirty="0">
                <a:latin typeface="+mn-ea"/>
                <a:cs typeface="Times New Roman" panose="02020603050405020304" pitchFamily="18" charset="0"/>
              </a:rPr>
              <a:t>全向天线的水平方向图和垂直方向图</a:t>
            </a:r>
            <a:endParaRPr lang="zh-CN" altLang="en-US" dirty="0">
              <a:latin typeface="+mn-ea"/>
            </a:endParaRPr>
          </a:p>
        </p:txBody>
      </p:sp>
      <p:pic>
        <p:nvPicPr>
          <p:cNvPr id="10" name="图片 9"/>
          <p:cNvPicPr/>
          <p:nvPr/>
        </p:nvPicPr>
        <p:blipFill>
          <a:blip r:embed="rId4">
            <a:extLst>
              <a:ext uri="{28A0092B-C50C-407E-A947-70E740481C1C}">
                <a14:useLocalDpi xmlns:a14="http://schemas.microsoft.com/office/drawing/2010/main" val="0"/>
              </a:ext>
            </a:extLst>
          </a:blip>
          <a:srcRect/>
          <a:stretch>
            <a:fillRect/>
          </a:stretch>
        </p:blipFill>
        <p:spPr bwMode="auto">
          <a:xfrm>
            <a:off x="5559802" y="4045337"/>
            <a:ext cx="5523778" cy="2228739"/>
          </a:xfrm>
          <a:prstGeom prst="rect">
            <a:avLst/>
          </a:prstGeom>
          <a:noFill/>
          <a:ln>
            <a:noFill/>
          </a:ln>
        </p:spPr>
      </p:pic>
      <p:sp>
        <p:nvSpPr>
          <p:cNvPr id="4" name="矩形 3"/>
          <p:cNvSpPr/>
          <p:nvPr/>
        </p:nvSpPr>
        <p:spPr>
          <a:xfrm>
            <a:off x="6382581" y="6419295"/>
            <a:ext cx="3877985" cy="369332"/>
          </a:xfrm>
          <a:prstGeom prst="rect">
            <a:avLst/>
          </a:prstGeom>
        </p:spPr>
        <p:txBody>
          <a:bodyPr wrap="none">
            <a:spAutoFit/>
          </a:bodyPr>
          <a:lstStyle/>
          <a:p>
            <a:r>
              <a:rPr lang="zh-CN" altLang="zh-CN" kern="100" dirty="0">
                <a:latin typeface="+mn-ea"/>
                <a:cs typeface="Times New Roman" panose="02020603050405020304" pitchFamily="18" charset="0"/>
              </a:rPr>
              <a:t>定向天线的水平方向图和垂直方向图</a:t>
            </a:r>
            <a:endParaRPr lang="zh-CN" altLang="en-US" dirty="0">
              <a:latin typeface="+mn-ea"/>
            </a:endParaRPr>
          </a:p>
        </p:txBody>
      </p:sp>
      <p:sp>
        <p:nvSpPr>
          <p:cNvPr id="5" name="矩形 4"/>
          <p:cNvSpPr/>
          <p:nvPr/>
        </p:nvSpPr>
        <p:spPr>
          <a:xfrm>
            <a:off x="901984" y="2920676"/>
            <a:ext cx="4421505" cy="1477328"/>
          </a:xfrm>
          <a:prstGeom prst="rect">
            <a:avLst/>
          </a:prstGeom>
        </p:spPr>
        <p:txBody>
          <a:bodyPr wrap="square">
            <a:spAutoFit/>
          </a:bodyPr>
          <a:lstStyle/>
          <a:p>
            <a:r>
              <a:rPr lang="zh-CN" altLang="zh-CN" kern="100" dirty="0">
                <a:solidFill>
                  <a:srgbClr val="FF0000"/>
                </a:solidFill>
                <a:latin typeface="+mn-ea"/>
                <a:cs typeface="Cambria Math" panose="02040503050406030204" pitchFamily="18" charset="0"/>
              </a:rPr>
              <a:t>全向天线</a:t>
            </a:r>
            <a:r>
              <a:rPr lang="zh-CN" altLang="en-US" kern="100" dirty="0">
                <a:solidFill>
                  <a:srgbClr val="FF0000"/>
                </a:solidFill>
                <a:latin typeface="+mn-ea"/>
                <a:cs typeface="Cambria Math" panose="02040503050406030204" pitchFamily="18" charset="0"/>
              </a:rPr>
              <a:t>：</a:t>
            </a:r>
            <a:endParaRPr lang="en-US" altLang="zh-CN" kern="100" dirty="0">
              <a:solidFill>
                <a:srgbClr val="FF0000"/>
              </a:solidFill>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水平方向图上表现为</a:t>
            </a:r>
            <a:r>
              <a:rPr lang="en-US" altLang="zh-CN" kern="100" dirty="0">
                <a:latin typeface="+mn-ea"/>
                <a:cs typeface="Cambria Math" panose="02040503050406030204" pitchFamily="18" charset="0"/>
              </a:rPr>
              <a:t>360</a:t>
            </a:r>
            <a:r>
              <a:rPr lang="zh-CN" altLang="zh-CN" kern="100" dirty="0">
                <a:latin typeface="+mn-ea"/>
                <a:cs typeface="Cambria Math" panose="02040503050406030204" pitchFamily="18" charset="0"/>
              </a:rPr>
              <a:t>°都均匀辐射，无方向性</a:t>
            </a:r>
            <a:r>
              <a:rPr lang="zh-CN" altLang="en-US"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垂直方向图上有一定宽度的波束，一般情况下波瓣宽度越小，增益越大。</a:t>
            </a:r>
            <a:endParaRPr lang="zh-CN" altLang="en-US" dirty="0">
              <a:latin typeface="+mn-ea"/>
            </a:endParaRPr>
          </a:p>
        </p:txBody>
      </p:sp>
      <p:sp>
        <p:nvSpPr>
          <p:cNvPr id="7" name="矩形 6"/>
          <p:cNvSpPr/>
          <p:nvPr/>
        </p:nvSpPr>
        <p:spPr>
          <a:xfrm>
            <a:off x="901984" y="4697362"/>
            <a:ext cx="4657818" cy="1477328"/>
          </a:xfrm>
          <a:prstGeom prst="rect">
            <a:avLst/>
          </a:prstGeom>
        </p:spPr>
        <p:txBody>
          <a:bodyPr wrap="square">
            <a:spAutoFit/>
          </a:bodyPr>
          <a:lstStyle/>
          <a:p>
            <a:r>
              <a:rPr lang="zh-CN" altLang="zh-CN" kern="100" dirty="0">
                <a:solidFill>
                  <a:srgbClr val="FF0000"/>
                </a:solidFill>
                <a:latin typeface="+mn-ea"/>
                <a:cs typeface="Cambria Math" panose="02040503050406030204" pitchFamily="18" charset="0"/>
              </a:rPr>
              <a:t>定向天线</a:t>
            </a:r>
            <a:r>
              <a:rPr lang="zh-CN" altLang="en-US" kern="100" dirty="0">
                <a:solidFill>
                  <a:srgbClr val="FF0000"/>
                </a:solidFill>
                <a:latin typeface="+mn-ea"/>
                <a:cs typeface="Cambria Math" panose="02040503050406030204" pitchFamily="18" charset="0"/>
              </a:rPr>
              <a:t>：</a:t>
            </a:r>
            <a:endParaRPr lang="en-US" altLang="zh-CN" kern="100" dirty="0">
              <a:solidFill>
                <a:srgbClr val="FF0000"/>
              </a:solidFill>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水平方向图上为一定角度范围辐射，有方向性</a:t>
            </a:r>
            <a:r>
              <a:rPr lang="zh-CN" altLang="en-US"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垂直方向图上有一定宽度的波束，同全向天线一样，波瓣宽度越小，增益越大。</a:t>
            </a:r>
            <a:endParaRPr lang="zh-CN" altLang="en-US" dirty="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113488"/>
            <a:ext cx="1396536"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天线增益</a:t>
            </a:r>
          </a:p>
        </p:txBody>
      </p:sp>
      <p:sp>
        <p:nvSpPr>
          <p:cNvPr id="8" name="矩形 7"/>
          <p:cNvSpPr/>
          <p:nvPr/>
        </p:nvSpPr>
        <p:spPr>
          <a:xfrm>
            <a:off x="2790599" y="4608616"/>
            <a:ext cx="7698106" cy="923330"/>
          </a:xfrm>
          <a:prstGeom prst="rect">
            <a:avLst/>
          </a:prstGeom>
        </p:spPr>
        <p:txBody>
          <a:bodyPr wrap="square">
            <a:spAutoFit/>
          </a:bodyPr>
          <a:lstStyle/>
          <a:p>
            <a:pPr marL="285750" indent="-285750">
              <a:buFont typeface="Arial" panose="020B0604020202020204" pitchFamily="34" charset="0"/>
              <a:buChar char="•"/>
            </a:pPr>
            <a:r>
              <a:rPr lang="zh-CN" altLang="zh-CN" kern="100" dirty="0">
                <a:latin typeface="+mn-ea"/>
                <a:cs typeface="Cambria Math" panose="02040503050406030204" pitchFamily="18" charset="0"/>
              </a:rPr>
              <a:t>天线增益从</a:t>
            </a:r>
            <a:r>
              <a:rPr lang="en-US" altLang="zh-CN" kern="100" dirty="0">
                <a:latin typeface="+mn-ea"/>
                <a:cs typeface="Cambria Math" panose="02040503050406030204" pitchFamily="18" charset="0"/>
              </a:rPr>
              <a:t>0</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20dBi</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0</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8dBi</a:t>
            </a:r>
            <a:r>
              <a:rPr lang="zh-CN" altLang="zh-CN" kern="100" dirty="0">
                <a:latin typeface="+mn-ea"/>
                <a:cs typeface="Cambria Math" panose="02040503050406030204" pitchFamily="18" charset="0"/>
              </a:rPr>
              <a:t>用于室内</a:t>
            </a:r>
            <a:r>
              <a:rPr lang="zh-CN" altLang="en-US"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全向天线增益从</a:t>
            </a:r>
            <a:r>
              <a:rPr lang="en-US" altLang="zh-CN" kern="100" dirty="0">
                <a:latin typeface="+mn-ea"/>
                <a:cs typeface="Cambria Math" panose="02040503050406030204" pitchFamily="18" charset="0"/>
              </a:rPr>
              <a:t>9</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12dBi</a:t>
            </a:r>
            <a:r>
              <a:rPr lang="zh-CN" altLang="en-US" kern="100" dirty="0">
                <a:latin typeface="+mn-ea"/>
                <a:cs typeface="Cambria Math" panose="02040503050406030204" pitchFamily="18" charset="0"/>
              </a:rPr>
              <a:t>。</a:t>
            </a:r>
            <a:endParaRPr lang="en-US" altLang="zh-CN" kern="100" dirty="0">
              <a:latin typeface="+mn-ea"/>
              <a:cs typeface="Cambria Math" panose="02040503050406030204" pitchFamily="18" charset="0"/>
            </a:endParaRPr>
          </a:p>
          <a:p>
            <a:pPr marL="285750" indent="-285750">
              <a:buFont typeface="Arial" panose="020B0604020202020204" pitchFamily="34" charset="0"/>
              <a:buChar char="•"/>
            </a:pPr>
            <a:r>
              <a:rPr lang="zh-CN" altLang="zh-CN" kern="100" dirty="0">
                <a:latin typeface="+mn-ea"/>
                <a:cs typeface="Cambria Math" panose="02040503050406030204" pitchFamily="18" charset="0"/>
              </a:rPr>
              <a:t>定向天线增益从</a:t>
            </a:r>
            <a:r>
              <a:rPr lang="en-US" altLang="zh-CN" kern="100" dirty="0">
                <a:latin typeface="+mn-ea"/>
                <a:cs typeface="Cambria Math" panose="02040503050406030204" pitchFamily="18" charset="0"/>
              </a:rPr>
              <a:t>15.5</a:t>
            </a:r>
            <a:r>
              <a:rPr lang="zh-CN" altLang="zh-CN" kern="100" dirty="0">
                <a:latin typeface="+mn-ea"/>
                <a:cs typeface="Cambria Math" panose="02040503050406030204" pitchFamily="18" charset="0"/>
              </a:rPr>
              <a:t>～</a:t>
            </a:r>
            <a:r>
              <a:rPr lang="en-US" altLang="zh-CN" kern="100" dirty="0">
                <a:latin typeface="+mn-ea"/>
                <a:cs typeface="Cambria Math" panose="02040503050406030204" pitchFamily="18" charset="0"/>
              </a:rPr>
              <a:t>18.5dBi</a:t>
            </a:r>
            <a:r>
              <a:rPr lang="zh-CN" altLang="zh-CN" kern="100" dirty="0">
                <a:latin typeface="+mn-ea"/>
                <a:cs typeface="Cambria Math" panose="02040503050406030204" pitchFamily="18" charset="0"/>
              </a:rPr>
              <a:t>，天线增益超过</a:t>
            </a:r>
            <a:r>
              <a:rPr lang="en-US" altLang="zh-CN" kern="100" dirty="0">
                <a:latin typeface="+mn-ea"/>
                <a:cs typeface="Cambria Math" panose="02040503050406030204" pitchFamily="18" charset="0"/>
              </a:rPr>
              <a:t>20dBi</a:t>
            </a:r>
            <a:r>
              <a:rPr lang="zh-CN" altLang="zh-CN" kern="100" dirty="0">
                <a:latin typeface="+mn-ea"/>
                <a:cs typeface="Cambria Math" panose="02040503050406030204" pitchFamily="18" charset="0"/>
              </a:rPr>
              <a:t>仅用于道路覆盖。</a:t>
            </a:r>
            <a:endParaRPr lang="zh-CN" altLang="en-US" dirty="0">
              <a:latin typeface="+mn-ea"/>
            </a:endParaRPr>
          </a:p>
        </p:txBody>
      </p:sp>
      <p:sp>
        <p:nvSpPr>
          <p:cNvPr id="9" name="矩形 8"/>
          <p:cNvSpPr/>
          <p:nvPr/>
        </p:nvSpPr>
        <p:spPr>
          <a:xfrm>
            <a:off x="1533643" y="2883816"/>
            <a:ext cx="9578104" cy="1338828"/>
          </a:xfrm>
          <a:prstGeom prst="rect">
            <a:avLst/>
          </a:prstGeom>
        </p:spPr>
        <p:txBody>
          <a:bodyPr wrap="square">
            <a:spAutoFit/>
          </a:bodyPr>
          <a:lstStyle/>
          <a:p>
            <a:pPr>
              <a:lnSpc>
                <a:spcPct val="150000"/>
              </a:lnSpc>
            </a:pPr>
            <a:r>
              <a:rPr lang="zh-CN" altLang="zh-CN" kern="100" dirty="0">
                <a:latin typeface="+mn-ea"/>
                <a:cs typeface="Cambria Math" panose="02040503050406030204" pitchFamily="18" charset="0"/>
              </a:rPr>
              <a:t>增益是指在输入功率相等的条件下，实际天线与理想的辐射单元在空间同一点处所产生的场强的平方之比，即功率之比（功率与场强的平方成正比）。</a:t>
            </a:r>
            <a:endParaRPr lang="en-US" altLang="zh-CN" kern="100" dirty="0">
              <a:latin typeface="+mn-ea"/>
              <a:cs typeface="Cambria Math" panose="02040503050406030204" pitchFamily="18" charset="0"/>
            </a:endParaRPr>
          </a:p>
          <a:p>
            <a:pPr>
              <a:lnSpc>
                <a:spcPct val="150000"/>
              </a:lnSpc>
            </a:pPr>
            <a:r>
              <a:rPr lang="zh-CN" altLang="zh-CN" kern="100" dirty="0">
                <a:latin typeface="+mn-ea"/>
                <a:cs typeface="Cambria Math" panose="02040503050406030204" pitchFamily="18" charset="0"/>
              </a:rPr>
              <a:t>增益一般与天线方向图有关，</a:t>
            </a:r>
            <a:r>
              <a:rPr lang="zh-CN" altLang="zh-CN" kern="100" dirty="0">
                <a:solidFill>
                  <a:srgbClr val="FF0000"/>
                </a:solidFill>
                <a:latin typeface="+mn-ea"/>
                <a:cs typeface="Cambria Math" panose="02040503050406030204" pitchFamily="18" charset="0"/>
              </a:rPr>
              <a:t>方向图主瓣越窄，后瓣、副瓣越小，增益越高。</a:t>
            </a:r>
            <a:endParaRPr lang="zh-CN" altLang="en-US" dirty="0">
              <a:solidFill>
                <a:srgbClr val="FF0000"/>
              </a:solidFill>
              <a:latin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113488"/>
            <a:ext cx="3573414" cy="507831"/>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天线增益</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提高天线增益的措施</a:t>
            </a:r>
          </a:p>
        </p:txBody>
      </p:sp>
      <p:sp>
        <p:nvSpPr>
          <p:cNvPr id="2" name="矩形 1"/>
          <p:cNvSpPr/>
          <p:nvPr/>
        </p:nvSpPr>
        <p:spPr>
          <a:xfrm>
            <a:off x="886193" y="2885020"/>
            <a:ext cx="8679401" cy="369332"/>
          </a:xfrm>
          <a:prstGeom prst="rect">
            <a:avLst/>
          </a:prstGeom>
        </p:spPr>
        <p:txBody>
          <a:bodyPr wrap="square">
            <a:spAutoFit/>
          </a:bodyPr>
          <a:lstStyle/>
          <a:p>
            <a:r>
              <a:rPr lang="zh-CN" altLang="zh-CN" kern="100" dirty="0">
                <a:latin typeface="+mj-ea"/>
                <a:ea typeface="+mj-ea"/>
                <a:cs typeface="Cambria Math" panose="02040503050406030204" pitchFamily="18" charset="0"/>
              </a:rPr>
              <a:t>板状天线的高增益是通过多个基本振子排列成天线阵而合成。</a:t>
            </a:r>
            <a:endParaRPr lang="zh-CN" altLang="en-US" dirty="0">
              <a:latin typeface="+mj-ea"/>
              <a:ea typeface="+mj-ea"/>
            </a:endParaRPr>
          </a:p>
        </p:txBody>
      </p:sp>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bwMode="auto">
          <a:xfrm>
            <a:off x="2537023" y="3802049"/>
            <a:ext cx="7028571" cy="245714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113488"/>
            <a:ext cx="2351680" cy="923330"/>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典型天线参数表</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全向天线</a:t>
            </a:r>
          </a:p>
        </p:txBody>
      </p:sp>
      <p:sp>
        <p:nvSpPr>
          <p:cNvPr id="7" name="Rectangle 5"/>
          <p:cNvSpPr>
            <a:spLocks noChangeArrowheads="1"/>
          </p:cNvSpPr>
          <p:nvPr/>
        </p:nvSpPr>
        <p:spPr bwMode="auto">
          <a:xfrm>
            <a:off x="3383125" y="1882669"/>
            <a:ext cx="5535613" cy="4573587"/>
          </a:xfrm>
          <a:prstGeom prst="rect">
            <a:avLst/>
          </a:prstGeom>
          <a:noFill/>
          <a:ln w="9525">
            <a:solidFill>
              <a:srgbClr val="4986C3"/>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1600" b="1" dirty="0">
                <a:solidFill>
                  <a:srgbClr val="FF3300"/>
                </a:solidFill>
                <a:ea typeface="黑体" panose="02010609060101010101" pitchFamily="49" charset="-122"/>
              </a:rPr>
              <a:t>某全向天线参数</a:t>
            </a:r>
          </a:p>
          <a:p>
            <a:pPr>
              <a:lnSpc>
                <a:spcPct val="130000"/>
              </a:lnSpc>
            </a:pPr>
            <a:r>
              <a:rPr lang="zh-CN" altLang="en-US" sz="1600" b="1" dirty="0">
                <a:ea typeface="黑体" panose="02010609060101010101" pitchFamily="49" charset="-122"/>
              </a:rPr>
              <a:t>电气性能指标  </a:t>
            </a:r>
            <a:r>
              <a:rPr lang="en-US" altLang="zh-CN" sz="1600" b="1" dirty="0">
                <a:ea typeface="黑体" panose="02010609060101010101" pitchFamily="49" charset="-122"/>
              </a:rPr>
              <a:t>Electrical Specifications</a:t>
            </a:r>
          </a:p>
          <a:p>
            <a:pPr algn="dist">
              <a:lnSpc>
                <a:spcPct val="130000"/>
              </a:lnSpc>
            </a:pPr>
            <a:r>
              <a:rPr lang="zh-CN" altLang="en-US" sz="1600" dirty="0">
                <a:ea typeface="黑体" panose="02010609060101010101" pitchFamily="49" charset="-122"/>
              </a:rPr>
              <a:t>频带 </a:t>
            </a:r>
            <a:r>
              <a:rPr lang="en-US" altLang="zh-CN" sz="1600" dirty="0">
                <a:ea typeface="黑体" panose="02010609060101010101" pitchFamily="49" charset="-122"/>
              </a:rPr>
              <a:t>Frequency Range(MHz)                                 824~896</a:t>
            </a:r>
          </a:p>
          <a:p>
            <a:pPr algn="dist">
              <a:lnSpc>
                <a:spcPct val="130000"/>
              </a:lnSpc>
            </a:pPr>
            <a:r>
              <a:rPr lang="zh-CN" altLang="en-US" sz="1600" dirty="0">
                <a:ea typeface="黑体" panose="02010609060101010101" pitchFamily="49" charset="-122"/>
              </a:rPr>
              <a:t>增益 </a:t>
            </a:r>
            <a:r>
              <a:rPr lang="en-US" altLang="zh-CN" sz="1600" dirty="0">
                <a:ea typeface="黑体" panose="02010609060101010101" pitchFamily="49" charset="-122"/>
              </a:rPr>
              <a:t>Gain(</a:t>
            </a:r>
            <a:r>
              <a:rPr lang="en-US" altLang="zh-CN" sz="1600" dirty="0" err="1">
                <a:ea typeface="黑体" panose="02010609060101010101" pitchFamily="49" charset="-122"/>
              </a:rPr>
              <a:t>dBi</a:t>
            </a:r>
            <a:r>
              <a:rPr lang="en-US" altLang="zh-CN" sz="1600" dirty="0">
                <a:ea typeface="黑体" panose="02010609060101010101" pitchFamily="49" charset="-122"/>
              </a:rPr>
              <a:t>)                                                                  11</a:t>
            </a:r>
          </a:p>
          <a:p>
            <a:pPr algn="dist">
              <a:lnSpc>
                <a:spcPct val="130000"/>
              </a:lnSpc>
            </a:pPr>
            <a:r>
              <a:rPr lang="zh-CN" altLang="en-US" sz="1600" dirty="0">
                <a:ea typeface="黑体" panose="02010609060101010101" pitchFamily="49" charset="-122"/>
              </a:rPr>
              <a:t>驻波比 </a:t>
            </a:r>
            <a:r>
              <a:rPr lang="en-US" altLang="zh-CN" sz="1600" dirty="0">
                <a:ea typeface="黑体" panose="02010609060101010101" pitchFamily="49" charset="-122"/>
              </a:rPr>
              <a:t>V.S.W.R                                                           </a:t>
            </a:r>
            <a:r>
              <a:rPr lang="zh-CN" altLang="en-US" sz="1600" dirty="0">
                <a:ea typeface="黑体" panose="02010609060101010101" pitchFamily="49" charset="-122"/>
              </a:rPr>
              <a:t>＜</a:t>
            </a:r>
            <a:r>
              <a:rPr lang="en-US" altLang="zh-CN" sz="1600" dirty="0">
                <a:ea typeface="黑体" panose="02010609060101010101" pitchFamily="49" charset="-122"/>
              </a:rPr>
              <a:t>1.4</a:t>
            </a:r>
          </a:p>
          <a:p>
            <a:pPr algn="dist">
              <a:lnSpc>
                <a:spcPct val="130000"/>
              </a:lnSpc>
            </a:pPr>
            <a:r>
              <a:rPr lang="zh-CN" altLang="en-US" sz="1600" dirty="0">
                <a:ea typeface="黑体" panose="02010609060101010101" pitchFamily="49" charset="-122"/>
              </a:rPr>
              <a:t>极化 </a:t>
            </a:r>
            <a:r>
              <a:rPr lang="en-US" altLang="zh-CN" sz="1600" dirty="0">
                <a:ea typeface="黑体" panose="02010609060101010101" pitchFamily="49" charset="-122"/>
              </a:rPr>
              <a:t>Polarization                                              </a:t>
            </a:r>
            <a:r>
              <a:rPr lang="zh-CN" altLang="en-US" sz="1600" dirty="0">
                <a:ea typeface="黑体" panose="02010609060101010101" pitchFamily="49" charset="-122"/>
              </a:rPr>
              <a:t>垂直 </a:t>
            </a:r>
            <a:r>
              <a:rPr lang="en-US" altLang="zh-CN" sz="1600" dirty="0">
                <a:ea typeface="黑体" panose="02010609060101010101" pitchFamily="49" charset="-122"/>
              </a:rPr>
              <a:t>Vertical</a:t>
            </a:r>
          </a:p>
          <a:p>
            <a:pPr algn="dist">
              <a:lnSpc>
                <a:spcPct val="130000"/>
              </a:lnSpc>
            </a:pPr>
            <a:r>
              <a:rPr lang="zh-CN" altLang="en-US" sz="1600" dirty="0">
                <a:ea typeface="黑体" panose="02010609060101010101" pitchFamily="49" charset="-122"/>
              </a:rPr>
              <a:t>水平波束宽度 </a:t>
            </a:r>
            <a:r>
              <a:rPr lang="en-US" altLang="zh-CN" sz="1600" dirty="0">
                <a:ea typeface="黑体" panose="02010609060101010101" pitchFamily="49" charset="-122"/>
              </a:rPr>
              <a:t>Horizontal-3dB Beamwidth(°)                 360</a:t>
            </a:r>
          </a:p>
          <a:p>
            <a:pPr algn="dist">
              <a:lnSpc>
                <a:spcPct val="130000"/>
              </a:lnSpc>
            </a:pPr>
            <a:r>
              <a:rPr lang="zh-CN" altLang="en-US" sz="1600" dirty="0">
                <a:ea typeface="黑体" panose="02010609060101010101" pitchFamily="49" charset="-122"/>
              </a:rPr>
              <a:t>垂直波束宽度 </a:t>
            </a:r>
            <a:r>
              <a:rPr lang="en-US" altLang="zh-CN" sz="1600" dirty="0">
                <a:ea typeface="黑体" panose="02010609060101010101" pitchFamily="49" charset="-122"/>
              </a:rPr>
              <a:t>Vertical-3dB Beamwidth(°)                         8</a:t>
            </a:r>
          </a:p>
          <a:p>
            <a:pPr algn="dist">
              <a:lnSpc>
                <a:spcPct val="130000"/>
              </a:lnSpc>
            </a:pPr>
            <a:r>
              <a:rPr lang="zh-CN" altLang="en-US" sz="1600" dirty="0">
                <a:ea typeface="黑体" panose="02010609060101010101" pitchFamily="49" charset="-122"/>
              </a:rPr>
              <a:t>预置电下倾角 </a:t>
            </a:r>
            <a:r>
              <a:rPr lang="en-US" altLang="zh-CN" sz="1600" dirty="0">
                <a:ea typeface="黑体" panose="02010609060101010101" pitchFamily="49" charset="-122"/>
              </a:rPr>
              <a:t>Electrical </a:t>
            </a:r>
            <a:r>
              <a:rPr lang="en-US" altLang="zh-CN" sz="1600" dirty="0" err="1">
                <a:ea typeface="黑体" panose="02010609060101010101" pitchFamily="49" charset="-122"/>
              </a:rPr>
              <a:t>Downtilt</a:t>
            </a:r>
            <a:r>
              <a:rPr lang="en-US" altLang="zh-CN" sz="1600" dirty="0">
                <a:ea typeface="黑体" panose="02010609060101010101" pitchFamily="49" charset="-122"/>
              </a:rPr>
              <a:t>(°)                                   3</a:t>
            </a:r>
          </a:p>
          <a:p>
            <a:pPr algn="dist">
              <a:lnSpc>
                <a:spcPct val="130000"/>
              </a:lnSpc>
            </a:pPr>
            <a:r>
              <a:rPr lang="zh-CN" altLang="en-US" sz="1600" dirty="0">
                <a:ea typeface="黑体" panose="02010609060101010101" pitchFamily="49" charset="-122"/>
              </a:rPr>
              <a:t>不圆度 </a:t>
            </a:r>
            <a:r>
              <a:rPr lang="en-US" altLang="zh-CN" sz="1600" dirty="0">
                <a:ea typeface="黑体" panose="02010609060101010101" pitchFamily="49" charset="-122"/>
              </a:rPr>
              <a:t>Non-Circularity(dB)                                           ±0.5</a:t>
            </a:r>
          </a:p>
          <a:p>
            <a:pPr algn="dist">
              <a:lnSpc>
                <a:spcPct val="130000"/>
              </a:lnSpc>
            </a:pPr>
            <a:r>
              <a:rPr lang="zh-CN" altLang="en-US" sz="1600" dirty="0">
                <a:ea typeface="黑体" panose="02010609060101010101" pitchFamily="49" charset="-122"/>
              </a:rPr>
              <a:t>三阶无源交调 </a:t>
            </a:r>
            <a:r>
              <a:rPr lang="en-US" altLang="zh-CN" sz="1600" dirty="0">
                <a:ea typeface="黑体" panose="02010609060101010101" pitchFamily="49" charset="-122"/>
              </a:rPr>
              <a:t>IMD3(</a:t>
            </a:r>
            <a:r>
              <a:rPr lang="en-US" altLang="zh-CN" sz="1600" dirty="0" err="1">
                <a:ea typeface="黑体" panose="02010609060101010101" pitchFamily="49" charset="-122"/>
              </a:rPr>
              <a:t>dBc</a:t>
            </a:r>
            <a:r>
              <a:rPr lang="en-US" altLang="zh-CN" sz="1600" dirty="0">
                <a:ea typeface="黑体" panose="02010609060101010101" pitchFamily="49" charset="-122"/>
              </a:rPr>
              <a:t>)                                            ≤107</a:t>
            </a:r>
          </a:p>
          <a:p>
            <a:pPr algn="dist">
              <a:lnSpc>
                <a:spcPct val="130000"/>
              </a:lnSpc>
            </a:pPr>
            <a:r>
              <a:rPr lang="zh-CN" altLang="en-US" sz="1600" dirty="0">
                <a:ea typeface="黑体" panose="02010609060101010101" pitchFamily="49" charset="-122"/>
              </a:rPr>
              <a:t>输入阻抗 </a:t>
            </a:r>
            <a:r>
              <a:rPr lang="en-US" altLang="zh-CN" sz="1600" dirty="0">
                <a:ea typeface="黑体" panose="02010609060101010101" pitchFamily="49" charset="-122"/>
              </a:rPr>
              <a:t>Impedance(Ω)                                                  50</a:t>
            </a:r>
          </a:p>
          <a:p>
            <a:pPr algn="dist">
              <a:lnSpc>
                <a:spcPct val="130000"/>
              </a:lnSpc>
            </a:pPr>
            <a:r>
              <a:rPr lang="zh-CN" altLang="en-US" sz="1600" dirty="0">
                <a:ea typeface="黑体" panose="02010609060101010101" pitchFamily="49" charset="-122"/>
              </a:rPr>
              <a:t>雷电保护 </a:t>
            </a:r>
            <a:r>
              <a:rPr lang="en-US" altLang="zh-CN" sz="1600" dirty="0">
                <a:ea typeface="黑体" panose="02010609060101010101" pitchFamily="49" charset="-122"/>
              </a:rPr>
              <a:t>Lightning Protection         </a:t>
            </a:r>
            <a:r>
              <a:rPr lang="zh-CN" altLang="en-US" sz="1600" dirty="0">
                <a:ea typeface="黑体" panose="02010609060101010101" pitchFamily="49" charset="-122"/>
              </a:rPr>
              <a:t>直流接地 </a:t>
            </a:r>
            <a:r>
              <a:rPr lang="en-US" altLang="zh-CN" sz="1600" dirty="0">
                <a:ea typeface="黑体" panose="02010609060101010101" pitchFamily="49" charset="-122"/>
              </a:rPr>
              <a:t>Direct Ground</a:t>
            </a:r>
          </a:p>
          <a:p>
            <a:pPr algn="dist">
              <a:lnSpc>
                <a:spcPct val="130000"/>
              </a:lnSpc>
            </a:pPr>
            <a:r>
              <a:rPr lang="zh-CN" altLang="en-US" sz="1600" dirty="0">
                <a:ea typeface="黑体" panose="02010609060101010101" pitchFamily="49" charset="-122"/>
              </a:rPr>
              <a:t>最大功率 </a:t>
            </a:r>
            <a:r>
              <a:rPr lang="en-US" altLang="zh-CN" sz="1600" dirty="0">
                <a:ea typeface="黑体" panose="02010609060101010101" pitchFamily="49" charset="-122"/>
              </a:rPr>
              <a:t>Maximum Input Power(W)                               500 </a:t>
            </a:r>
          </a:p>
        </p:txBody>
      </p:sp>
      <p:sp>
        <p:nvSpPr>
          <p:cNvPr id="8" name="Rectangle 6"/>
          <p:cNvSpPr>
            <a:spLocks noChangeArrowheads="1"/>
          </p:cNvSpPr>
          <p:nvPr/>
        </p:nvSpPr>
        <p:spPr bwMode="auto">
          <a:xfrm>
            <a:off x="9352334" y="1882669"/>
            <a:ext cx="1601787" cy="4791075"/>
          </a:xfrm>
          <a:prstGeom prst="rect">
            <a:avLst/>
          </a:prstGeom>
          <a:solidFill>
            <a:srgbClr val="4C88C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9" name="Picture 7" descr="全向天线"/>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5708" y="2125556"/>
            <a:ext cx="935037" cy="408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marL="543560" indent="-543560">
              <a:lnSpc>
                <a:spcPct val="150000"/>
              </a:lnSpc>
              <a:buAutoNum type="arabicPeriod"/>
            </a:pPr>
            <a:r>
              <a:rPr kumimoji="1" lang="zh-CN" altLang="en-US" sz="2375" b="1" dirty="0">
                <a:latin typeface="微软雅黑" panose="020B0503020204020204" charset="-122"/>
                <a:ea typeface="微软雅黑" panose="020B0503020204020204" charset="-122"/>
                <a:cs typeface="微软雅黑" panose="020B0503020204020204" charset="-122"/>
              </a:rPr>
              <a:t>窥探天线基础知识</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1.2   </a:t>
            </a:r>
            <a:r>
              <a:rPr kumimoji="1" lang="zh-CN" altLang="en-US" sz="1900" b="1" dirty="0">
                <a:latin typeface="微软雅黑" panose="020B0503020204020204" charset="-122"/>
                <a:ea typeface="微软雅黑" panose="020B0503020204020204" charset="-122"/>
                <a:cs typeface="微软雅黑" panose="020B0503020204020204" charset="-122"/>
              </a:rPr>
              <a:t>天线参数解析</a:t>
            </a:r>
            <a:endParaRPr kumimoji="1" lang="en-US" altLang="zh-CN" sz="1665" dirty="0">
              <a:latin typeface="微软雅黑" panose="020B0503020204020204" charset="-122"/>
              <a:ea typeface="微软雅黑" panose="020B0503020204020204" charset="-122"/>
            </a:endParaRPr>
          </a:p>
        </p:txBody>
      </p:sp>
      <p:sp>
        <p:nvSpPr>
          <p:cNvPr id="45" name="矩形 44"/>
          <p:cNvSpPr/>
          <p:nvPr/>
        </p:nvSpPr>
        <p:spPr>
          <a:xfrm>
            <a:off x="950813" y="2113488"/>
            <a:ext cx="2351680" cy="923330"/>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kern="100" dirty="0">
                <a:solidFill>
                  <a:srgbClr val="0076CB"/>
                </a:solidFill>
                <a:latin typeface="+mn-ea"/>
                <a:cs typeface="Cambria Math" panose="02040503050406030204" pitchFamily="18" charset="0"/>
              </a:rPr>
              <a:t>典型天线参数表</a:t>
            </a:r>
            <a:r>
              <a:rPr lang="en-US" altLang="zh-CN" kern="100" dirty="0">
                <a:solidFill>
                  <a:srgbClr val="0076CB"/>
                </a:solidFill>
                <a:latin typeface="+mn-ea"/>
                <a:cs typeface="Cambria Math" panose="02040503050406030204" pitchFamily="18" charset="0"/>
              </a:rPr>
              <a:t>—</a:t>
            </a:r>
            <a:r>
              <a:rPr lang="zh-CN" altLang="en-US" kern="100" dirty="0">
                <a:solidFill>
                  <a:srgbClr val="0076CB"/>
                </a:solidFill>
                <a:latin typeface="+mn-ea"/>
                <a:cs typeface="Cambria Math" panose="02040503050406030204" pitchFamily="18" charset="0"/>
              </a:rPr>
              <a:t>定向天线</a:t>
            </a:r>
          </a:p>
        </p:txBody>
      </p:sp>
      <p:sp>
        <p:nvSpPr>
          <p:cNvPr id="10" name="Rectangle 5"/>
          <p:cNvSpPr>
            <a:spLocks noChangeArrowheads="1"/>
          </p:cNvSpPr>
          <p:nvPr/>
        </p:nvSpPr>
        <p:spPr bwMode="auto">
          <a:xfrm>
            <a:off x="3902216" y="1636420"/>
            <a:ext cx="5353050" cy="5115246"/>
          </a:xfrm>
          <a:prstGeom prst="rect">
            <a:avLst/>
          </a:prstGeom>
          <a:noFill/>
          <a:ln w="9525">
            <a:solidFill>
              <a:srgbClr val="4986C3"/>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1600" b="1" dirty="0">
                <a:solidFill>
                  <a:srgbClr val="FF3300"/>
                </a:solidFill>
                <a:ea typeface="黑体" panose="02010609060101010101" pitchFamily="49" charset="-122"/>
              </a:rPr>
              <a:t>某定向天线参数</a:t>
            </a:r>
          </a:p>
          <a:p>
            <a:pPr>
              <a:lnSpc>
                <a:spcPct val="120000"/>
              </a:lnSpc>
            </a:pPr>
            <a:r>
              <a:rPr lang="zh-CN" altLang="en-US" sz="1600" b="1" dirty="0">
                <a:solidFill>
                  <a:srgbClr val="000000"/>
                </a:solidFill>
                <a:ea typeface="黑体" panose="02010609060101010101" pitchFamily="49" charset="-122"/>
              </a:rPr>
              <a:t>电气性能指标  </a:t>
            </a:r>
            <a:r>
              <a:rPr lang="en-US" altLang="zh-CN" sz="1600" b="1" dirty="0">
                <a:solidFill>
                  <a:srgbClr val="000000"/>
                </a:solidFill>
                <a:ea typeface="黑体" panose="02010609060101010101" pitchFamily="49" charset="-122"/>
              </a:rPr>
              <a:t>Electrical Specifications</a:t>
            </a:r>
            <a:endParaRPr lang="en-US" altLang="zh-CN" sz="1600" b="1"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频带 </a:t>
            </a:r>
            <a:r>
              <a:rPr lang="en-US" altLang="zh-CN" sz="1600" dirty="0">
                <a:solidFill>
                  <a:srgbClr val="000000"/>
                </a:solidFill>
                <a:ea typeface="黑体" panose="02010609060101010101" pitchFamily="49" charset="-122"/>
              </a:rPr>
              <a:t>Frequency Range(MHz)                           824~896</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增益 </a:t>
            </a:r>
            <a:r>
              <a:rPr lang="en-US" altLang="zh-CN" sz="1600" dirty="0">
                <a:solidFill>
                  <a:srgbClr val="000000"/>
                </a:solidFill>
                <a:ea typeface="黑体" panose="02010609060101010101" pitchFamily="49" charset="-122"/>
              </a:rPr>
              <a:t>Gain(</a:t>
            </a:r>
            <a:r>
              <a:rPr lang="en-US" altLang="zh-CN" sz="1600" dirty="0" err="1">
                <a:solidFill>
                  <a:srgbClr val="000000"/>
                </a:solidFill>
                <a:ea typeface="黑体" panose="02010609060101010101" pitchFamily="49" charset="-122"/>
              </a:rPr>
              <a:t>dBi</a:t>
            </a:r>
            <a:r>
              <a:rPr lang="en-US" altLang="zh-CN" sz="1600" dirty="0">
                <a:solidFill>
                  <a:srgbClr val="000000"/>
                </a:solidFill>
                <a:ea typeface="黑体" panose="02010609060101010101" pitchFamily="49" charset="-122"/>
              </a:rPr>
              <a:t>)                                                            17</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驻波比 </a:t>
            </a:r>
            <a:r>
              <a:rPr lang="en-US" altLang="zh-CN" sz="1600" dirty="0">
                <a:solidFill>
                  <a:srgbClr val="000000"/>
                </a:solidFill>
                <a:ea typeface="黑体" panose="02010609060101010101" pitchFamily="49" charset="-122"/>
              </a:rPr>
              <a:t>V.S.W.R                                                     </a:t>
            </a:r>
            <a:r>
              <a:rPr lang="zh-CN" altLang="en-US" sz="1600" dirty="0">
                <a:solidFill>
                  <a:srgbClr val="000000"/>
                </a:solidFill>
                <a:ea typeface="黑体" panose="02010609060101010101" pitchFamily="49" charset="-122"/>
              </a:rPr>
              <a:t>＜</a:t>
            </a:r>
            <a:r>
              <a:rPr lang="en-US" altLang="zh-CN" sz="1600" dirty="0">
                <a:solidFill>
                  <a:srgbClr val="000000"/>
                </a:solidFill>
                <a:ea typeface="黑体" panose="02010609060101010101" pitchFamily="49" charset="-122"/>
              </a:rPr>
              <a:t>1.4</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极化 </a:t>
            </a:r>
            <a:r>
              <a:rPr lang="en-US" altLang="zh-CN" sz="1600" dirty="0">
                <a:solidFill>
                  <a:srgbClr val="000000"/>
                </a:solidFill>
                <a:ea typeface="黑体" panose="02010609060101010101" pitchFamily="49" charset="-122"/>
              </a:rPr>
              <a:t>Polarization                                                    ±45°</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端口隔离 </a:t>
            </a:r>
            <a:r>
              <a:rPr lang="en-US" altLang="zh-CN" sz="1600" dirty="0">
                <a:solidFill>
                  <a:srgbClr val="000000"/>
                </a:solidFill>
                <a:ea typeface="黑体" panose="02010609060101010101" pitchFamily="49" charset="-122"/>
              </a:rPr>
              <a:t>Isolation Between Two Ports(dB)              ≥30</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交叉极化鉴别率 </a:t>
            </a:r>
            <a:r>
              <a:rPr lang="en-US" altLang="zh-CN" sz="1600" dirty="0">
                <a:solidFill>
                  <a:srgbClr val="000000"/>
                </a:solidFill>
                <a:ea typeface="黑体" panose="02010609060101010101" pitchFamily="49" charset="-122"/>
              </a:rPr>
              <a:t>Cross-Polar Discrimination(dB)       ≥15</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水平波束宽度 </a:t>
            </a:r>
            <a:r>
              <a:rPr lang="en-US" altLang="zh-CN" sz="1600" dirty="0">
                <a:solidFill>
                  <a:srgbClr val="000000"/>
                </a:solidFill>
                <a:ea typeface="黑体" panose="02010609060101010101" pitchFamily="49" charset="-122"/>
              </a:rPr>
              <a:t>Horizontal-3dB </a:t>
            </a:r>
            <a:r>
              <a:rPr lang="en-US" altLang="zh-CN" sz="1600" dirty="0" err="1">
                <a:solidFill>
                  <a:srgbClr val="000000"/>
                </a:solidFill>
                <a:ea typeface="黑体" panose="02010609060101010101" pitchFamily="49" charset="-122"/>
              </a:rPr>
              <a:t>Beamwidth</a:t>
            </a:r>
            <a:r>
              <a:rPr lang="en-US" altLang="zh-CN" sz="1600" dirty="0">
                <a:solidFill>
                  <a:srgbClr val="000000"/>
                </a:solidFill>
                <a:ea typeface="黑体" panose="02010609060101010101" pitchFamily="49" charset="-122"/>
              </a:rPr>
              <a:t>(°)               90</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垂直波束宽度 </a:t>
            </a:r>
            <a:r>
              <a:rPr lang="en-US" altLang="zh-CN" sz="1600" dirty="0">
                <a:solidFill>
                  <a:srgbClr val="000000"/>
                </a:solidFill>
                <a:ea typeface="黑体" panose="02010609060101010101" pitchFamily="49" charset="-122"/>
              </a:rPr>
              <a:t>Vertical-3dB </a:t>
            </a:r>
            <a:r>
              <a:rPr lang="en-US" altLang="zh-CN" sz="1600" dirty="0" err="1">
                <a:solidFill>
                  <a:srgbClr val="000000"/>
                </a:solidFill>
                <a:ea typeface="黑体" panose="02010609060101010101" pitchFamily="49" charset="-122"/>
              </a:rPr>
              <a:t>Beamwidth</a:t>
            </a:r>
            <a:r>
              <a:rPr lang="en-US" altLang="zh-CN" sz="1600" dirty="0">
                <a:solidFill>
                  <a:srgbClr val="000000"/>
                </a:solidFill>
                <a:ea typeface="黑体" panose="02010609060101010101" pitchFamily="49" charset="-122"/>
              </a:rPr>
              <a:t>(°)                     7</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预置电下倾角 </a:t>
            </a:r>
            <a:r>
              <a:rPr lang="en-US" altLang="zh-CN" sz="1600" dirty="0">
                <a:solidFill>
                  <a:srgbClr val="000000"/>
                </a:solidFill>
                <a:ea typeface="黑体" panose="02010609060101010101" pitchFamily="49" charset="-122"/>
              </a:rPr>
              <a:t>Electrical </a:t>
            </a:r>
            <a:r>
              <a:rPr lang="en-US" altLang="zh-CN" sz="1600" dirty="0" err="1">
                <a:solidFill>
                  <a:srgbClr val="000000"/>
                </a:solidFill>
                <a:ea typeface="黑体" panose="02010609060101010101" pitchFamily="49" charset="-122"/>
              </a:rPr>
              <a:t>Downtilt</a:t>
            </a:r>
            <a:r>
              <a:rPr lang="en-US" altLang="zh-CN" sz="1600" dirty="0">
                <a:solidFill>
                  <a:srgbClr val="000000"/>
                </a:solidFill>
                <a:ea typeface="黑体" panose="02010609060101010101" pitchFamily="49" charset="-122"/>
              </a:rPr>
              <a:t>(°)                               0</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前后比 </a:t>
            </a:r>
            <a:r>
              <a:rPr lang="en-US" altLang="zh-CN" sz="1600" dirty="0">
                <a:solidFill>
                  <a:srgbClr val="000000"/>
                </a:solidFill>
                <a:ea typeface="黑体" panose="02010609060101010101" pitchFamily="49" charset="-122"/>
              </a:rPr>
              <a:t>Front-to-Back Ratio(dB)                                 ≥25</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三阶无源交调 </a:t>
            </a:r>
            <a:r>
              <a:rPr lang="en-US" altLang="zh-CN" sz="1600" dirty="0">
                <a:solidFill>
                  <a:srgbClr val="000000"/>
                </a:solidFill>
                <a:ea typeface="黑体" panose="02010609060101010101" pitchFamily="49" charset="-122"/>
              </a:rPr>
              <a:t>IMD3(</a:t>
            </a:r>
            <a:r>
              <a:rPr lang="en-US" altLang="zh-CN" sz="1600" dirty="0" err="1">
                <a:solidFill>
                  <a:srgbClr val="000000"/>
                </a:solidFill>
                <a:ea typeface="黑体" panose="02010609060101010101" pitchFamily="49" charset="-122"/>
              </a:rPr>
              <a:t>dBc</a:t>
            </a:r>
            <a:r>
              <a:rPr lang="en-US" altLang="zh-CN" sz="1600" dirty="0">
                <a:solidFill>
                  <a:srgbClr val="000000"/>
                </a:solidFill>
                <a:ea typeface="黑体" panose="02010609060101010101" pitchFamily="49" charset="-122"/>
              </a:rPr>
              <a:t>)                                        </a:t>
            </a:r>
            <a:r>
              <a:rPr lang="zh-CN" altLang="en-US" sz="1600" dirty="0">
                <a:solidFill>
                  <a:srgbClr val="000000"/>
                </a:solidFill>
                <a:ea typeface="黑体" panose="02010609060101010101" pitchFamily="49" charset="-122"/>
              </a:rPr>
              <a:t>＜</a:t>
            </a:r>
            <a:r>
              <a:rPr lang="en-US" altLang="zh-CN" sz="1600" dirty="0">
                <a:solidFill>
                  <a:srgbClr val="000000"/>
                </a:solidFill>
                <a:ea typeface="黑体" panose="02010609060101010101" pitchFamily="49" charset="-122"/>
              </a:rPr>
              <a:t>-107</a:t>
            </a:r>
            <a:endParaRPr lang="en-US" altLang="zh-CN" sz="1600" dirty="0">
              <a:ea typeface="黑体" panose="02010609060101010101" pitchFamily="49" charset="-122"/>
            </a:endParaRPr>
          </a:p>
          <a:p>
            <a:pPr algn="dist">
              <a:lnSpc>
                <a:spcPct val="120000"/>
              </a:lnSpc>
            </a:pPr>
            <a:r>
              <a:rPr lang="zh-CN" altLang="en-US" sz="1600" dirty="0">
                <a:solidFill>
                  <a:srgbClr val="000000"/>
                </a:solidFill>
                <a:ea typeface="黑体" panose="02010609060101010101" pitchFamily="49" charset="-122"/>
              </a:rPr>
              <a:t>输入阻抗 </a:t>
            </a:r>
            <a:r>
              <a:rPr lang="en-US" altLang="zh-CN" sz="1600" dirty="0">
                <a:solidFill>
                  <a:srgbClr val="000000"/>
                </a:solidFill>
                <a:ea typeface="黑体" panose="02010609060101010101" pitchFamily="49" charset="-122"/>
              </a:rPr>
              <a:t>Impedance(Ω)                                               50</a:t>
            </a:r>
            <a:endParaRPr lang="en-US" altLang="zh-CN" sz="1600" dirty="0">
              <a:ea typeface="黑体" panose="02010609060101010101" pitchFamily="49" charset="-122"/>
            </a:endParaRPr>
          </a:p>
          <a:p>
            <a:pPr algn="dist" eaLnBrk="1" hangingPunct="1">
              <a:lnSpc>
                <a:spcPct val="120000"/>
              </a:lnSpc>
            </a:pPr>
            <a:r>
              <a:rPr lang="zh-CN" altLang="en-US" sz="1600" dirty="0">
                <a:solidFill>
                  <a:srgbClr val="000000"/>
                </a:solidFill>
                <a:ea typeface="黑体" panose="02010609060101010101" pitchFamily="49" charset="-122"/>
              </a:rPr>
              <a:t>接头型式 </a:t>
            </a:r>
            <a:r>
              <a:rPr lang="en-US" altLang="zh-CN" sz="1600" dirty="0">
                <a:solidFill>
                  <a:srgbClr val="000000"/>
                </a:solidFill>
                <a:ea typeface="黑体" panose="02010609060101010101" pitchFamily="49" charset="-122"/>
              </a:rPr>
              <a:t>Connector Type                                7/16DIN(F)</a:t>
            </a:r>
          </a:p>
          <a:p>
            <a:pPr algn="dist" eaLnBrk="1" hangingPunct="1">
              <a:lnSpc>
                <a:spcPct val="120000"/>
              </a:lnSpc>
            </a:pPr>
            <a:r>
              <a:rPr lang="zh-CN" altLang="en-US" sz="1600" dirty="0">
                <a:solidFill>
                  <a:srgbClr val="000000"/>
                </a:solidFill>
                <a:ea typeface="黑体" panose="02010609060101010101" pitchFamily="49" charset="-122"/>
              </a:rPr>
              <a:t>雷电保护 </a:t>
            </a:r>
            <a:r>
              <a:rPr lang="en-US" altLang="zh-CN" sz="1600" dirty="0">
                <a:solidFill>
                  <a:srgbClr val="000000"/>
                </a:solidFill>
                <a:ea typeface="黑体" panose="02010609060101010101" pitchFamily="49" charset="-122"/>
              </a:rPr>
              <a:t>Lightning Protection      </a:t>
            </a:r>
            <a:r>
              <a:rPr lang="zh-CN" altLang="en-US" sz="1600" dirty="0">
                <a:solidFill>
                  <a:srgbClr val="000000"/>
                </a:solidFill>
                <a:ea typeface="黑体" panose="02010609060101010101" pitchFamily="49" charset="-122"/>
              </a:rPr>
              <a:t>直流接地 </a:t>
            </a:r>
            <a:r>
              <a:rPr lang="en-US" altLang="zh-CN" sz="1600" dirty="0">
                <a:solidFill>
                  <a:srgbClr val="000000"/>
                </a:solidFill>
                <a:ea typeface="黑体" panose="02010609060101010101" pitchFamily="49" charset="-122"/>
              </a:rPr>
              <a:t>Direct Ground</a:t>
            </a:r>
          </a:p>
          <a:p>
            <a:pPr algn="dist" eaLnBrk="1" hangingPunct="1">
              <a:lnSpc>
                <a:spcPct val="120000"/>
              </a:lnSpc>
            </a:pPr>
            <a:r>
              <a:rPr lang="zh-CN" altLang="en-US" sz="1600" dirty="0">
                <a:solidFill>
                  <a:srgbClr val="000000"/>
                </a:solidFill>
                <a:ea typeface="黑体" panose="02010609060101010101" pitchFamily="49" charset="-122"/>
              </a:rPr>
              <a:t>最大功率 </a:t>
            </a:r>
            <a:r>
              <a:rPr lang="en-US" altLang="zh-CN" sz="1600" dirty="0">
                <a:solidFill>
                  <a:srgbClr val="000000"/>
                </a:solidFill>
                <a:ea typeface="黑体" panose="02010609060101010101" pitchFamily="49" charset="-122"/>
              </a:rPr>
              <a:t>Maximum Input Power(W)                            500</a:t>
            </a:r>
            <a:r>
              <a:rPr lang="en-US" altLang="zh-CN" sz="1600" dirty="0">
                <a:ea typeface="黑体" panose="02010609060101010101" pitchFamily="49" charset="-122"/>
              </a:rPr>
              <a:t> </a:t>
            </a:r>
          </a:p>
        </p:txBody>
      </p:sp>
      <p:sp>
        <p:nvSpPr>
          <p:cNvPr id="11" name="Rectangle 6"/>
          <p:cNvSpPr>
            <a:spLocks noChangeArrowheads="1"/>
          </p:cNvSpPr>
          <p:nvPr/>
        </p:nvSpPr>
        <p:spPr bwMode="auto">
          <a:xfrm>
            <a:off x="9535392" y="1758818"/>
            <a:ext cx="1601787" cy="4870450"/>
          </a:xfrm>
          <a:prstGeom prst="rect">
            <a:avLst/>
          </a:prstGeom>
          <a:solidFill>
            <a:srgbClr val="4C88C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3" name="Picture 7" descr="MB800-65-18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1637" y="1636420"/>
            <a:ext cx="1508125" cy="523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2.1   </a:t>
            </a:r>
            <a:r>
              <a:rPr kumimoji="1" lang="zh-CN" altLang="en-US" sz="1900" b="1" dirty="0">
                <a:latin typeface="微软雅黑" panose="020B0503020204020204" charset="-122"/>
                <a:ea typeface="微软雅黑" panose="020B0503020204020204" charset="-122"/>
                <a:cs typeface="微软雅黑" panose="020B0503020204020204" charset="-122"/>
              </a:rPr>
              <a:t>市区基站天线选型</a:t>
            </a:r>
            <a:endParaRPr kumimoji="1" lang="en-US" altLang="zh-CN" sz="1665" dirty="0">
              <a:latin typeface="微软雅黑" panose="020B0503020204020204" charset="-122"/>
              <a:ea typeface="微软雅黑" panose="020B0503020204020204" charset="-122"/>
            </a:endParaRPr>
          </a:p>
        </p:txBody>
      </p:sp>
      <p:sp>
        <p:nvSpPr>
          <p:cNvPr id="15" name="矩形 14"/>
          <p:cNvSpPr/>
          <p:nvPr/>
        </p:nvSpPr>
        <p:spPr>
          <a:xfrm>
            <a:off x="1064895" y="2220881"/>
            <a:ext cx="2752503" cy="3514094"/>
          </a:xfrm>
          <a:prstGeom prst="rect">
            <a:avLst/>
          </a:prstGeom>
          <a:solidFill>
            <a:srgbClr val="D9D9D9">
              <a:alpha val="5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16" name="五边形 15"/>
          <p:cNvSpPr/>
          <p:nvPr/>
        </p:nvSpPr>
        <p:spPr>
          <a:xfrm rot="5400000">
            <a:off x="1897975" y="1409067"/>
            <a:ext cx="594784" cy="2260943"/>
          </a:xfrm>
          <a:prstGeom prst="homePlate">
            <a:avLst/>
          </a:prstGeom>
          <a:solidFill>
            <a:srgbClr val="C9181C"/>
          </a:solidFill>
          <a:ln>
            <a:noFill/>
          </a:ln>
          <a:effectLst>
            <a:outerShdw blurRad="25400" dist="25400" dir="5400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1181588" y="2220881"/>
            <a:ext cx="2185214" cy="400110"/>
          </a:xfrm>
          <a:prstGeom prst="rect">
            <a:avLst/>
          </a:prstGeom>
          <a:noFill/>
        </p:spPr>
        <p:txBody>
          <a:bodyPr wrap="none" rtlCol="0">
            <a:spAutoFit/>
          </a:bodyPr>
          <a:lstStyle/>
          <a:p>
            <a:pPr algn="ctr"/>
            <a:r>
              <a:rPr lang="zh-CN" altLang="zh-CN" sz="2000" b="1" spc="600" dirty="0">
                <a:solidFill>
                  <a:schemeClr val="bg1"/>
                </a:solidFill>
                <a:latin typeface="微软雅黑" panose="020B0503020204020204" charset="-122"/>
                <a:ea typeface="微软雅黑" panose="020B0503020204020204" charset="-122"/>
              </a:rPr>
              <a:t>应用环境特点</a:t>
            </a:r>
            <a:endParaRPr lang="zh-CN" altLang="en-US" sz="2000" b="1" spc="600" dirty="0">
              <a:solidFill>
                <a:schemeClr val="bg1"/>
              </a:solidFill>
              <a:latin typeface="微软雅黑" panose="020B0503020204020204" charset="-122"/>
              <a:ea typeface="微软雅黑" panose="020B0503020204020204" charset="-122"/>
            </a:endParaRPr>
          </a:p>
        </p:txBody>
      </p:sp>
      <p:sp>
        <p:nvSpPr>
          <p:cNvPr id="18" name="矩形 17"/>
          <p:cNvSpPr/>
          <p:nvPr/>
        </p:nvSpPr>
        <p:spPr>
          <a:xfrm>
            <a:off x="1064895" y="2872028"/>
            <a:ext cx="2917650" cy="2169825"/>
          </a:xfrm>
          <a:prstGeom prst="rect">
            <a:avLst/>
          </a:prstGeom>
        </p:spPr>
        <p:txBody>
          <a:bodyPr wrap="square">
            <a:spAutoFit/>
          </a:bodyPr>
          <a:lstStyle/>
          <a:p>
            <a:pPr>
              <a:lnSpc>
                <a:spcPct val="150000"/>
              </a:lnSpc>
              <a:spcAft>
                <a:spcPts val="0"/>
              </a:spcAft>
            </a:pPr>
            <a:r>
              <a:rPr lang="zh-CN" altLang="zh-CN" sz="1800" kern="100" dirty="0">
                <a:latin typeface="+mj-ea"/>
                <a:ea typeface="+mj-ea"/>
              </a:rPr>
              <a:t>基站分布较密，要求单基站覆盖范围小，希望尽量减少越区覆盖的现象，减少基站之间的干扰，提高下载速率。</a:t>
            </a:r>
            <a:endParaRPr lang="zh-CN" altLang="zh-CN" sz="1800" kern="100" dirty="0">
              <a:effectLst/>
              <a:latin typeface="+mj-ea"/>
              <a:ea typeface="+mj-ea"/>
            </a:endParaRPr>
          </a:p>
        </p:txBody>
      </p:sp>
      <p:graphicFrame>
        <p:nvGraphicFramePr>
          <p:cNvPr id="4" name="表格 3"/>
          <p:cNvGraphicFramePr>
            <a:graphicFrameLocks noGrp="1"/>
          </p:cNvGraphicFramePr>
          <p:nvPr/>
        </p:nvGraphicFramePr>
        <p:xfrm>
          <a:off x="4112895" y="2242146"/>
          <a:ext cx="7467600" cy="4105275"/>
        </p:xfrm>
        <a:graphic>
          <a:graphicData uri="http://schemas.openxmlformats.org/drawingml/2006/table">
            <a:tbl>
              <a:tblPr>
                <a:tableStyleId>{5C22544A-7EE6-4342-B048-85BDC9FD1C3A}</a:tableStyleId>
              </a:tblPr>
              <a:tblGrid>
                <a:gridCol w="1993053">
                  <a:extLst>
                    <a:ext uri="{9D8B030D-6E8A-4147-A177-3AD203B41FA5}">
                      <a16:colId xmlns:a16="http://schemas.microsoft.com/office/drawing/2014/main" val="20000"/>
                    </a:ext>
                  </a:extLst>
                </a:gridCol>
                <a:gridCol w="5474547">
                  <a:extLst>
                    <a:ext uri="{9D8B030D-6E8A-4147-A177-3AD203B41FA5}">
                      <a16:colId xmlns:a16="http://schemas.microsoft.com/office/drawing/2014/main" val="20001"/>
                    </a:ext>
                  </a:extLst>
                </a:gridCol>
              </a:tblGrid>
              <a:tr h="581025">
                <a:tc>
                  <a:txBody>
                    <a:bodyPr/>
                    <a:lstStyle/>
                    <a:p>
                      <a:pPr algn="ctr" rtl="0" fontAlgn="ctr"/>
                      <a:r>
                        <a:rPr lang="zh-CN" altLang="en-US" sz="1800" u="none" strike="noStrike" dirty="0">
                          <a:effectLst/>
                        </a:rPr>
                        <a:t>极化方式选择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tc>
                  <a:txBody>
                    <a:bodyPr/>
                    <a:lstStyle/>
                    <a:p>
                      <a:pPr algn="l" rtl="0" fontAlgn="ctr"/>
                      <a:r>
                        <a:rPr lang="zh-CN" altLang="en-US" sz="1600" u="none" strike="noStrike" dirty="0">
                          <a:effectLst/>
                        </a:rPr>
                        <a:t>由于市区基站站址选择困难，天线安装空间受限，建议选用双极化天线，宽频天线；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0"/>
                  </a:ext>
                </a:extLst>
              </a:tr>
              <a:tr h="581025">
                <a:tc>
                  <a:txBody>
                    <a:bodyPr/>
                    <a:lstStyle/>
                    <a:p>
                      <a:pPr algn="ctr" rtl="0" fontAlgn="ctr"/>
                      <a:r>
                        <a:rPr lang="zh-CN" altLang="en-US" sz="1800" u="none" strike="noStrike" dirty="0">
                          <a:effectLst/>
                        </a:rPr>
                        <a:t>方向图的选择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tc>
                  <a:txBody>
                    <a:bodyPr/>
                    <a:lstStyle/>
                    <a:p>
                      <a:pPr algn="l" rtl="0" fontAlgn="ctr"/>
                      <a:r>
                        <a:rPr lang="zh-CN" altLang="en-US" sz="1600" u="none" strike="noStrike" dirty="0">
                          <a:effectLst/>
                        </a:rPr>
                        <a:t>在市区主要考虑提高频率复用度，因此一般选用定向天线；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1"/>
                  </a:ext>
                </a:extLst>
              </a:tr>
              <a:tr h="600075">
                <a:tc>
                  <a:txBody>
                    <a:bodyPr/>
                    <a:lstStyle/>
                    <a:p>
                      <a:pPr algn="ctr" rtl="0" fontAlgn="ctr"/>
                      <a:r>
                        <a:rPr lang="zh-CN" altLang="en-US" sz="1800" u="none" strike="noStrike" dirty="0">
                          <a:effectLst/>
                        </a:rPr>
                        <a:t>半功率波束宽度的选择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tc>
                  <a:txBody>
                    <a:bodyPr/>
                    <a:lstStyle/>
                    <a:p>
                      <a:pPr algn="l" rtl="0" fontAlgn="ctr"/>
                      <a:r>
                        <a:rPr lang="zh-CN" altLang="en-US" sz="1600" u="none" strike="noStrike" dirty="0">
                          <a:effectLst/>
                        </a:rPr>
                        <a:t>为了能更好地控制小区的覆盖范围来抑制干扰，市区天线水平半功率波束宽度选</a:t>
                      </a:r>
                      <a:r>
                        <a:rPr lang="en-US" altLang="zh-CN" sz="1600" u="none" strike="noStrike" dirty="0">
                          <a:effectLst/>
                        </a:rPr>
                        <a:t>60</a:t>
                      </a:r>
                      <a:r>
                        <a:rPr lang="zh-CN" altLang="en-US" sz="1600" u="none" strike="noStrike" dirty="0">
                          <a:effectLst/>
                        </a:rPr>
                        <a:t>～</a:t>
                      </a:r>
                      <a:r>
                        <a:rPr lang="en-US" altLang="zh-CN" sz="1600" u="none" strike="noStrike" dirty="0">
                          <a:effectLst/>
                        </a:rPr>
                        <a:t>65°</a:t>
                      </a:r>
                      <a:r>
                        <a:rPr lang="zh-CN" altLang="en-US" sz="1600" u="none" strike="noStrike" dirty="0">
                          <a:effectLst/>
                        </a:rPr>
                        <a:t>；</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2"/>
                  </a:ext>
                </a:extLst>
              </a:tr>
              <a:tr h="1190625">
                <a:tc>
                  <a:txBody>
                    <a:bodyPr/>
                    <a:lstStyle/>
                    <a:p>
                      <a:pPr algn="ctr" rtl="0" fontAlgn="ctr"/>
                      <a:r>
                        <a:rPr lang="zh-CN" altLang="en-US" sz="1800" u="none" strike="noStrike" dirty="0">
                          <a:effectLst/>
                        </a:rPr>
                        <a:t>天线增益的选择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tc>
                  <a:txBody>
                    <a:bodyPr/>
                    <a:lstStyle/>
                    <a:p>
                      <a:pPr algn="l" rtl="0" fontAlgn="ctr"/>
                      <a:r>
                        <a:rPr lang="zh-CN" altLang="en-US" sz="1600" u="none" strike="noStrike" dirty="0">
                          <a:effectLst/>
                        </a:rPr>
                        <a:t>由于市区基站一般不要求大范围的覆盖距离，因此建议选用中等增益的天线。建议市区天线增益选用</a:t>
                      </a:r>
                      <a:r>
                        <a:rPr lang="en-US" altLang="zh-CN" sz="1600" u="none" strike="noStrike" dirty="0">
                          <a:effectLst/>
                        </a:rPr>
                        <a:t>15</a:t>
                      </a:r>
                      <a:r>
                        <a:rPr lang="zh-CN" altLang="en-US" sz="1600" u="none" strike="noStrike" dirty="0">
                          <a:effectLst/>
                        </a:rPr>
                        <a:t>～</a:t>
                      </a:r>
                      <a:r>
                        <a:rPr lang="en-US" altLang="zh-CN" sz="1600" u="none" strike="noStrike" dirty="0">
                          <a:effectLst/>
                        </a:rPr>
                        <a:t>18dBi</a:t>
                      </a:r>
                      <a:r>
                        <a:rPr lang="zh-CN" altLang="en-US" sz="1600" u="none" strike="noStrike" dirty="0">
                          <a:effectLst/>
                        </a:rPr>
                        <a:t>增益的天线。若市区内用作补盲的微蜂窝天线增益可选择更低的天线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3"/>
                  </a:ext>
                </a:extLst>
              </a:tr>
              <a:tr h="1152525">
                <a:tc>
                  <a:txBody>
                    <a:bodyPr/>
                    <a:lstStyle/>
                    <a:p>
                      <a:pPr algn="ctr" rtl="0" fontAlgn="ctr"/>
                      <a:r>
                        <a:rPr lang="zh-CN" altLang="en-US" sz="1800" u="none" strike="noStrike" dirty="0">
                          <a:effectLst/>
                        </a:rPr>
                        <a:t>下倾角选择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tc>
                  <a:txBody>
                    <a:bodyPr/>
                    <a:lstStyle/>
                    <a:p>
                      <a:pPr algn="l" rtl="0" fontAlgn="ctr"/>
                      <a:r>
                        <a:rPr lang="zh-CN" altLang="en-US" sz="1600" u="none" strike="noStrike" dirty="0">
                          <a:effectLst/>
                        </a:rPr>
                        <a:t>由于市区的天线倾角调整相对频繁，且有的天线需要设置较大的倾角，而机械下倾不利于干扰控制，所以建议选用预置下倾角天线。可以选择具有固定电下倾角的天线，条件满足时也可以选择电调天线。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40000"/>
                        <a:lumOff val="60000"/>
                      </a:schemeClr>
                    </a:solidFill>
                  </a:tcPr>
                </a:tc>
                <a:extLst>
                  <a:ext uri="{0D108BD9-81ED-4DB2-BD59-A6C34878D82A}">
                    <a16:rowId xmlns:a16="http://schemas.microsoft.com/office/drawing/2014/main" val="10004"/>
                  </a:ext>
                </a:extLst>
              </a:tr>
            </a:tbl>
          </a:graphicData>
        </a:graphic>
      </p:graphicFrame>
      <p:sp>
        <p:nvSpPr>
          <p:cNvPr id="5" name="矩形 4"/>
          <p:cNvSpPr/>
          <p:nvPr/>
        </p:nvSpPr>
        <p:spPr>
          <a:xfrm>
            <a:off x="7243665" y="1673512"/>
            <a:ext cx="1723549" cy="400110"/>
          </a:xfrm>
          <a:prstGeom prst="rect">
            <a:avLst/>
          </a:prstGeom>
        </p:spPr>
        <p:txBody>
          <a:bodyPr wrap="none">
            <a:spAutoFit/>
          </a:bodyPr>
          <a:lstStyle/>
          <a:p>
            <a:r>
              <a:rPr lang="zh-CN" altLang="zh-CN" sz="2000" b="1" kern="100" dirty="0">
                <a:solidFill>
                  <a:srgbClr val="FF0000"/>
                </a:solidFill>
                <a:latin typeface="+mn-ea"/>
                <a:cs typeface="华文楷体" panose="02010600040101010101" pitchFamily="2" charset="-122"/>
              </a:rPr>
              <a:t>天线选型原则</a:t>
            </a:r>
            <a:endParaRPr lang="zh-CN" altLang="en-US" sz="2000" dirty="0">
              <a:solidFill>
                <a:srgbClr val="FF0000"/>
              </a:solidFill>
              <a:latin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2.2  </a:t>
            </a:r>
            <a:r>
              <a:rPr kumimoji="1" lang="zh-CN" altLang="en-US" sz="1900" b="1" dirty="0">
                <a:latin typeface="微软雅黑" panose="020B0503020204020204" charset="-122"/>
                <a:ea typeface="微软雅黑" panose="020B0503020204020204" charset="-122"/>
                <a:cs typeface="微软雅黑" panose="020B0503020204020204" charset="-122"/>
              </a:rPr>
              <a:t>郊区农村基站天线选型</a:t>
            </a:r>
          </a:p>
        </p:txBody>
      </p:sp>
      <p:sp>
        <p:nvSpPr>
          <p:cNvPr id="15" name="矩形 14"/>
          <p:cNvSpPr/>
          <p:nvPr/>
        </p:nvSpPr>
        <p:spPr>
          <a:xfrm>
            <a:off x="1064895" y="2220881"/>
            <a:ext cx="2917650" cy="4108898"/>
          </a:xfrm>
          <a:prstGeom prst="rect">
            <a:avLst/>
          </a:prstGeom>
          <a:solidFill>
            <a:srgbClr val="D9D9D9">
              <a:alpha val="5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16" name="五边形 15"/>
          <p:cNvSpPr/>
          <p:nvPr/>
        </p:nvSpPr>
        <p:spPr>
          <a:xfrm rot="5400000">
            <a:off x="1965802" y="1341240"/>
            <a:ext cx="594784" cy="2396597"/>
          </a:xfrm>
          <a:prstGeom prst="homePlate">
            <a:avLst/>
          </a:prstGeom>
          <a:solidFill>
            <a:srgbClr val="C9181C"/>
          </a:solidFill>
          <a:ln>
            <a:noFill/>
          </a:ln>
          <a:effectLst>
            <a:outerShdw blurRad="25400" dist="25400" dir="5400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1181588" y="2220881"/>
            <a:ext cx="2316324" cy="400110"/>
          </a:xfrm>
          <a:prstGeom prst="rect">
            <a:avLst/>
          </a:prstGeom>
          <a:noFill/>
        </p:spPr>
        <p:txBody>
          <a:bodyPr wrap="square" rtlCol="0">
            <a:spAutoFit/>
          </a:bodyPr>
          <a:lstStyle/>
          <a:p>
            <a:pPr algn="ctr"/>
            <a:r>
              <a:rPr lang="zh-CN" altLang="zh-CN" sz="2000" b="1" spc="600" dirty="0">
                <a:solidFill>
                  <a:schemeClr val="bg1"/>
                </a:solidFill>
                <a:latin typeface="微软雅黑" panose="020B0503020204020204" charset="-122"/>
                <a:ea typeface="微软雅黑" panose="020B0503020204020204" charset="-122"/>
              </a:rPr>
              <a:t>应用环境特点</a:t>
            </a:r>
            <a:endParaRPr lang="zh-CN" altLang="en-US" sz="2000" b="1" spc="600" dirty="0">
              <a:solidFill>
                <a:schemeClr val="bg1"/>
              </a:solidFill>
              <a:latin typeface="微软雅黑" panose="020B0503020204020204" charset="-122"/>
              <a:ea typeface="微软雅黑" panose="020B0503020204020204" charset="-122"/>
            </a:endParaRPr>
          </a:p>
        </p:txBody>
      </p:sp>
      <p:sp>
        <p:nvSpPr>
          <p:cNvPr id="18" name="矩形 17"/>
          <p:cNvSpPr/>
          <p:nvPr/>
        </p:nvSpPr>
        <p:spPr>
          <a:xfrm>
            <a:off x="1064894" y="2872028"/>
            <a:ext cx="2917651" cy="3416320"/>
          </a:xfrm>
          <a:prstGeom prst="rect">
            <a:avLst/>
          </a:prstGeom>
        </p:spPr>
        <p:txBody>
          <a:bodyPr wrap="square">
            <a:spAutoFit/>
          </a:bodyPr>
          <a:lstStyle/>
          <a:p>
            <a:pPr>
              <a:lnSpc>
                <a:spcPct val="150000"/>
              </a:lnSpc>
              <a:spcAft>
                <a:spcPts val="0"/>
              </a:spcAft>
            </a:pPr>
            <a:r>
              <a:rPr lang="zh-CN" altLang="en-US" kern="100" dirty="0">
                <a:latin typeface="+mj-ea"/>
                <a:ea typeface="+mj-ea"/>
              </a:rPr>
              <a:t>基站分布稀疏，业务量较小，对数据业务要求比较低，要求广覆盖。有的地方周围只有一个基站，覆盖成为最为关注的对象，这时应结合基站周围需覆盖的区域来考虑天线的选型。</a:t>
            </a:r>
            <a:endParaRPr lang="zh-CN" altLang="zh-CN" sz="1800" kern="100" dirty="0">
              <a:effectLst/>
              <a:latin typeface="+mj-ea"/>
              <a:ea typeface="+mj-ea"/>
            </a:endParaRPr>
          </a:p>
        </p:txBody>
      </p:sp>
      <p:sp>
        <p:nvSpPr>
          <p:cNvPr id="5" name="矩形 4"/>
          <p:cNvSpPr/>
          <p:nvPr/>
        </p:nvSpPr>
        <p:spPr>
          <a:xfrm>
            <a:off x="6897436" y="1673512"/>
            <a:ext cx="1723549" cy="400110"/>
          </a:xfrm>
          <a:prstGeom prst="rect">
            <a:avLst/>
          </a:prstGeom>
        </p:spPr>
        <p:txBody>
          <a:bodyPr wrap="none">
            <a:spAutoFit/>
          </a:bodyPr>
          <a:lstStyle/>
          <a:p>
            <a:r>
              <a:rPr lang="zh-CN" altLang="zh-CN" sz="2000" b="1" kern="100" dirty="0">
                <a:solidFill>
                  <a:srgbClr val="FF0000"/>
                </a:solidFill>
                <a:latin typeface="+mn-ea"/>
                <a:cs typeface="华文楷体" panose="02010600040101010101" pitchFamily="2" charset="-122"/>
              </a:rPr>
              <a:t>天线选型原则</a:t>
            </a:r>
            <a:endParaRPr lang="zh-CN" altLang="en-US" sz="2000" dirty="0">
              <a:solidFill>
                <a:srgbClr val="FF0000"/>
              </a:solidFill>
              <a:latin typeface="+mn-ea"/>
            </a:endParaRPr>
          </a:p>
        </p:txBody>
      </p:sp>
      <p:graphicFrame>
        <p:nvGraphicFramePr>
          <p:cNvPr id="2" name="表格 1"/>
          <p:cNvGraphicFramePr>
            <a:graphicFrameLocks noGrp="1"/>
          </p:cNvGraphicFramePr>
          <p:nvPr/>
        </p:nvGraphicFramePr>
        <p:xfrm>
          <a:off x="4490329" y="2216977"/>
          <a:ext cx="6976378" cy="4015261"/>
        </p:xfrm>
        <a:graphic>
          <a:graphicData uri="http://schemas.openxmlformats.org/drawingml/2006/table">
            <a:tbl>
              <a:tblPr>
                <a:tableStyleId>{5C22544A-7EE6-4342-B048-85BDC9FD1C3A}</a:tableStyleId>
              </a:tblPr>
              <a:tblGrid>
                <a:gridCol w="1861949">
                  <a:extLst>
                    <a:ext uri="{9D8B030D-6E8A-4147-A177-3AD203B41FA5}">
                      <a16:colId xmlns:a16="http://schemas.microsoft.com/office/drawing/2014/main" val="20000"/>
                    </a:ext>
                  </a:extLst>
                </a:gridCol>
                <a:gridCol w="5114429">
                  <a:extLst>
                    <a:ext uri="{9D8B030D-6E8A-4147-A177-3AD203B41FA5}">
                      <a16:colId xmlns:a16="http://schemas.microsoft.com/office/drawing/2014/main" val="20001"/>
                    </a:ext>
                  </a:extLst>
                </a:gridCol>
              </a:tblGrid>
              <a:tr h="2203579">
                <a:tc>
                  <a:txBody>
                    <a:bodyPr/>
                    <a:lstStyle/>
                    <a:p>
                      <a:pPr algn="ctr" rtl="0" fontAlgn="ctr"/>
                      <a:r>
                        <a:rPr lang="zh-CN" altLang="en-US" sz="1800" u="none" strike="noStrike" dirty="0">
                          <a:effectLst/>
                        </a:rPr>
                        <a:t>方向图的选择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tc>
                  <a:txBody>
                    <a:bodyPr/>
                    <a:lstStyle/>
                    <a:p>
                      <a:pPr algn="l" rtl="0" fontAlgn="ctr"/>
                      <a:r>
                        <a:rPr lang="zh-CN" altLang="en-US" sz="1600" u="none" strike="noStrike" dirty="0">
                          <a:effectLst/>
                        </a:rPr>
                        <a:t>如果要求基站覆盖周围的区域，且没有明显的方向性，基站周围话务分布比较分散，此时建议采用全向基站覆盖。同时需要注意的是：全向基站由于增益小，覆盖距离不如定向基站远。同时全向天线在安装时要注意塔体对覆盖的影响，并且天线一定要与地平面保持垂直。如果局方对基站的覆盖距离有更远的覆盖要求，则需要用定向天线来实现。一般情况下，应当采用水平面半功率波束宽度为</a:t>
                      </a:r>
                      <a:r>
                        <a:rPr lang="en-US" altLang="zh-CN" sz="1600" u="none" strike="noStrike" dirty="0">
                          <a:effectLst/>
                        </a:rPr>
                        <a:t>90 °</a:t>
                      </a:r>
                      <a:r>
                        <a:rPr lang="zh-CN" altLang="en-US" sz="1600" u="none" strike="noStrike" dirty="0">
                          <a:effectLst/>
                        </a:rPr>
                        <a:t>、</a:t>
                      </a:r>
                      <a:r>
                        <a:rPr lang="en-US" altLang="zh-CN" sz="1600" u="none" strike="noStrike" dirty="0">
                          <a:effectLst/>
                        </a:rPr>
                        <a:t>105 °</a:t>
                      </a:r>
                      <a:r>
                        <a:rPr lang="zh-CN" altLang="en-US" sz="1600" u="none" strike="noStrike" dirty="0">
                          <a:effectLst/>
                        </a:rPr>
                        <a:t>、</a:t>
                      </a:r>
                      <a:r>
                        <a:rPr lang="en-US" altLang="zh-CN" sz="1600" u="none" strike="noStrike" dirty="0">
                          <a:effectLst/>
                        </a:rPr>
                        <a:t>120 °</a:t>
                      </a:r>
                      <a:r>
                        <a:rPr lang="zh-CN" altLang="en-US" sz="1600" u="none" strike="noStrike" dirty="0">
                          <a:effectLst/>
                        </a:rPr>
                        <a:t>的定向天线；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extLst>
                  <a:ext uri="{0D108BD9-81ED-4DB2-BD59-A6C34878D82A}">
                    <a16:rowId xmlns:a16="http://schemas.microsoft.com/office/drawing/2014/main" val="10000"/>
                  </a:ext>
                </a:extLst>
              </a:tr>
              <a:tr h="717174">
                <a:tc>
                  <a:txBody>
                    <a:bodyPr/>
                    <a:lstStyle/>
                    <a:p>
                      <a:pPr algn="ctr" rtl="0" fontAlgn="ctr"/>
                      <a:r>
                        <a:rPr lang="zh-CN" altLang="en-US" sz="1800" u="none" strike="noStrike" dirty="0">
                          <a:effectLst/>
                        </a:rPr>
                        <a:t>天线增益的选择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tc>
                  <a:txBody>
                    <a:bodyPr/>
                    <a:lstStyle/>
                    <a:p>
                      <a:pPr algn="l" rtl="0" fontAlgn="ctr"/>
                      <a:r>
                        <a:rPr lang="zh-CN" altLang="en-US" sz="1600" u="none" strike="noStrike" dirty="0">
                          <a:effectLst/>
                        </a:rPr>
                        <a:t>视覆盖要求选择天线增益，建议在郊区农村地区选择较高增益（</a:t>
                      </a:r>
                      <a:r>
                        <a:rPr lang="en-US" altLang="zh-CN" sz="1600" u="none" strike="noStrike" dirty="0">
                          <a:effectLst/>
                        </a:rPr>
                        <a:t>16-18dBi</a:t>
                      </a:r>
                      <a:r>
                        <a:rPr lang="zh-CN" altLang="en-US" sz="1600" u="none" strike="noStrike" dirty="0">
                          <a:effectLst/>
                        </a:rPr>
                        <a:t>）的定向天线或</a:t>
                      </a:r>
                      <a:r>
                        <a:rPr lang="en-US" altLang="zh-CN" sz="1600" u="none" strike="noStrike" dirty="0">
                          <a:effectLst/>
                        </a:rPr>
                        <a:t>9</a:t>
                      </a:r>
                      <a:r>
                        <a:rPr lang="zh-CN" altLang="en-US" sz="1600" u="none" strike="noStrike" dirty="0">
                          <a:effectLst/>
                        </a:rPr>
                        <a:t>－</a:t>
                      </a:r>
                      <a:r>
                        <a:rPr lang="en-US" altLang="zh-CN" sz="1600" u="none" strike="noStrike" dirty="0">
                          <a:effectLst/>
                        </a:rPr>
                        <a:t>11dBi</a:t>
                      </a:r>
                      <a:r>
                        <a:rPr lang="zh-CN" altLang="en-US" sz="1600" u="none" strike="noStrike" dirty="0">
                          <a:effectLst/>
                        </a:rPr>
                        <a:t>的全向天线；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extLst>
                  <a:ext uri="{0D108BD9-81ED-4DB2-BD59-A6C34878D82A}">
                    <a16:rowId xmlns:a16="http://schemas.microsoft.com/office/drawing/2014/main" val="10001"/>
                  </a:ext>
                </a:extLst>
              </a:tr>
              <a:tr h="1094508">
                <a:tc>
                  <a:txBody>
                    <a:bodyPr/>
                    <a:lstStyle/>
                    <a:p>
                      <a:pPr algn="ctr" rtl="0" fontAlgn="ctr"/>
                      <a:r>
                        <a:rPr lang="zh-CN" altLang="en-US" sz="1800" u="none" strike="noStrike" dirty="0">
                          <a:effectLst/>
                        </a:rPr>
                        <a:t>下倾角选择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tc>
                  <a:txBody>
                    <a:bodyPr/>
                    <a:lstStyle/>
                    <a:p>
                      <a:pPr algn="l" rtl="0" fontAlgn="ctr"/>
                      <a:r>
                        <a:rPr lang="zh-CN" altLang="en-US" sz="1600" u="none" strike="noStrike" dirty="0">
                          <a:effectLst/>
                        </a:rPr>
                        <a:t>在郊区农村地区对天线的下倾调整不多，其下倾角的调整范围及特性要求不高，建议选用机械下倾天线；同时，天线挂高在</a:t>
                      </a:r>
                      <a:r>
                        <a:rPr lang="en-US" altLang="zh-CN" sz="1600" u="none" strike="noStrike" dirty="0">
                          <a:effectLst/>
                        </a:rPr>
                        <a:t>50</a:t>
                      </a:r>
                      <a:r>
                        <a:rPr lang="zh-CN" altLang="en-US" sz="1600" u="none" strike="noStrike" dirty="0">
                          <a:effectLst/>
                        </a:rPr>
                        <a:t>米以上且近端有覆盖要求时，可以优先选用零点填充的天线来避免塔下黑问题。</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8898" marR="8898" marT="8898" marB="0" anchor="ctr">
                    <a:solidFill>
                      <a:schemeClr val="accent1">
                        <a:lumMod val="40000"/>
                        <a:lumOff val="6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2.3  </a:t>
            </a:r>
            <a:r>
              <a:rPr kumimoji="1" lang="zh-CN" altLang="en-US" sz="1900" b="1" dirty="0">
                <a:latin typeface="微软雅黑" panose="020B0503020204020204" charset="-122"/>
                <a:ea typeface="微软雅黑" panose="020B0503020204020204" charset="-122"/>
                <a:cs typeface="微软雅黑" panose="020B0503020204020204" charset="-122"/>
              </a:rPr>
              <a:t>公路覆盖基站天线选型</a:t>
            </a:r>
          </a:p>
        </p:txBody>
      </p:sp>
      <p:grpSp>
        <p:nvGrpSpPr>
          <p:cNvPr id="4" name="组合 3"/>
          <p:cNvGrpSpPr/>
          <p:nvPr/>
        </p:nvGrpSpPr>
        <p:grpSpPr>
          <a:xfrm>
            <a:off x="2085826" y="2416189"/>
            <a:ext cx="8345435" cy="4108898"/>
            <a:chOff x="1064894" y="2220881"/>
            <a:chExt cx="8345435" cy="4108898"/>
          </a:xfrm>
        </p:grpSpPr>
        <p:sp>
          <p:nvSpPr>
            <p:cNvPr id="15" name="矩形 14"/>
            <p:cNvSpPr/>
            <p:nvPr/>
          </p:nvSpPr>
          <p:spPr>
            <a:xfrm>
              <a:off x="1064894" y="2220881"/>
              <a:ext cx="8345435" cy="4108898"/>
            </a:xfrm>
            <a:prstGeom prst="rect">
              <a:avLst/>
            </a:prstGeom>
            <a:solidFill>
              <a:srgbClr val="D9D9D9">
                <a:alpha val="5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16" name="五边形 15"/>
            <p:cNvSpPr/>
            <p:nvPr/>
          </p:nvSpPr>
          <p:spPr>
            <a:xfrm rot="5400000">
              <a:off x="1965802" y="1341240"/>
              <a:ext cx="594784" cy="2396597"/>
            </a:xfrm>
            <a:prstGeom prst="homePlate">
              <a:avLst/>
            </a:prstGeom>
            <a:solidFill>
              <a:srgbClr val="C9181C"/>
            </a:solidFill>
            <a:ln>
              <a:noFill/>
            </a:ln>
            <a:effectLst>
              <a:outerShdw blurRad="25400" dist="25400" dir="5400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1181588" y="2220881"/>
              <a:ext cx="2316324" cy="400110"/>
            </a:xfrm>
            <a:prstGeom prst="rect">
              <a:avLst/>
            </a:prstGeom>
            <a:noFill/>
          </p:spPr>
          <p:txBody>
            <a:bodyPr wrap="square" rtlCol="0">
              <a:spAutoFit/>
            </a:bodyPr>
            <a:lstStyle/>
            <a:p>
              <a:pPr algn="ctr"/>
              <a:r>
                <a:rPr lang="zh-CN" altLang="zh-CN" sz="2000" b="1" spc="600" dirty="0">
                  <a:solidFill>
                    <a:schemeClr val="bg1"/>
                  </a:solidFill>
                  <a:latin typeface="微软雅黑" panose="020B0503020204020204" charset="-122"/>
                  <a:ea typeface="微软雅黑" panose="020B0503020204020204" charset="-122"/>
                </a:rPr>
                <a:t>应用环境特点</a:t>
              </a:r>
              <a:endParaRPr lang="zh-CN" altLang="en-US" sz="2000" b="1" spc="600" dirty="0">
                <a:solidFill>
                  <a:schemeClr val="bg1"/>
                </a:solidFill>
                <a:latin typeface="微软雅黑" panose="020B0503020204020204" charset="-122"/>
                <a:ea typeface="微软雅黑" panose="020B0503020204020204" charset="-122"/>
              </a:endParaRPr>
            </a:p>
          </p:txBody>
        </p:sp>
        <p:sp>
          <p:nvSpPr>
            <p:cNvPr id="18" name="矩形 17"/>
            <p:cNvSpPr/>
            <p:nvPr/>
          </p:nvSpPr>
          <p:spPr>
            <a:xfrm>
              <a:off x="1064894" y="2872028"/>
              <a:ext cx="8185638" cy="3000821"/>
            </a:xfrm>
            <a:prstGeom prst="rect">
              <a:avLst/>
            </a:prstGeom>
          </p:spPr>
          <p:txBody>
            <a:bodyPr wrap="square">
              <a:spAutoFit/>
            </a:bodyPr>
            <a:lstStyle/>
            <a:p>
              <a:pPr>
                <a:lnSpc>
                  <a:spcPct val="150000"/>
                </a:lnSpc>
                <a:spcAft>
                  <a:spcPts val="0"/>
                </a:spcAft>
              </a:pPr>
              <a:r>
                <a:rPr lang="zh-CN" altLang="en-US" kern="100" dirty="0">
                  <a:latin typeface="+mj-ea"/>
                  <a:ea typeface="+mj-ea"/>
                </a:rPr>
                <a:t>该环境下业务量低、用户高速移动、此时重点解决的是覆盖问题。一般来说它要实现的是带状覆盖，故公路的覆盖多采用双向小区；在穿过城镇，旅游点的地区也综合采用全向小区；再就是强调广覆盖，要结合站址及站型的选择来决定采用的天线类型。不同的公路环境差别很大，一般来说有较为平直的公路，如高速公路、铁路、国道、省道等等，推荐在公路旁建站，采用</a:t>
              </a:r>
              <a:r>
                <a:rPr lang="en-US" altLang="zh-CN" kern="100" dirty="0">
                  <a:latin typeface="+mj-ea"/>
                  <a:ea typeface="+mj-ea"/>
                </a:rPr>
                <a:t>S1/1/1</a:t>
              </a:r>
              <a:r>
                <a:rPr lang="zh-CN" altLang="en-US" kern="100" dirty="0">
                  <a:latin typeface="+mj-ea"/>
                  <a:ea typeface="+mj-ea"/>
                </a:rPr>
                <a:t>、或</a:t>
              </a:r>
              <a:r>
                <a:rPr lang="en-US" altLang="zh-CN" kern="100" dirty="0">
                  <a:latin typeface="+mj-ea"/>
                  <a:ea typeface="+mj-ea"/>
                </a:rPr>
                <a:t>S1/1</a:t>
              </a:r>
              <a:r>
                <a:rPr lang="zh-CN" altLang="en-US" kern="100" dirty="0">
                  <a:latin typeface="+mj-ea"/>
                  <a:ea typeface="+mj-ea"/>
                </a:rPr>
                <a:t>站型，配以高增益定向天线实现覆盖。有蜿蜒起伏的公路如盘山公路、县级自建的山区公路等等。得结合在公路附近的乡村覆盖，选择高处建站。</a:t>
              </a:r>
              <a:endParaRPr lang="zh-CN" altLang="zh-CN" sz="1800" kern="100" dirty="0">
                <a:effectLst/>
                <a:latin typeface="+mj-ea"/>
                <a:ea typeface="+mj-ea"/>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2.3  </a:t>
            </a:r>
            <a:r>
              <a:rPr kumimoji="1" lang="zh-CN" altLang="en-US" sz="1900" b="1" dirty="0">
                <a:latin typeface="微软雅黑" panose="020B0503020204020204" charset="-122"/>
                <a:ea typeface="微软雅黑" panose="020B0503020204020204" charset="-122"/>
                <a:cs typeface="微软雅黑" panose="020B0503020204020204" charset="-122"/>
              </a:rPr>
              <a:t>公路覆盖基站天线选型</a:t>
            </a:r>
          </a:p>
        </p:txBody>
      </p:sp>
      <p:graphicFrame>
        <p:nvGraphicFramePr>
          <p:cNvPr id="2" name="表格 1"/>
          <p:cNvGraphicFramePr>
            <a:graphicFrameLocks noGrp="1"/>
          </p:cNvGraphicFramePr>
          <p:nvPr>
            <p:extLst>
              <p:ext uri="{D42A27DB-BD31-4B8C-83A1-F6EECF244321}">
                <p14:modId xmlns:p14="http://schemas.microsoft.com/office/powerpoint/2010/main" val="3370476423"/>
              </p:ext>
            </p:extLst>
          </p:nvPr>
        </p:nvGraphicFramePr>
        <p:xfrm>
          <a:off x="2790599" y="2863881"/>
          <a:ext cx="7467600" cy="3829050"/>
        </p:xfrm>
        <a:graphic>
          <a:graphicData uri="http://schemas.openxmlformats.org/drawingml/2006/table">
            <a:tbl>
              <a:tblPr>
                <a:tableStyleId>{5C22544A-7EE6-4342-B048-85BDC9FD1C3A}</a:tableStyleId>
              </a:tblPr>
              <a:tblGrid>
                <a:gridCol w="1993053">
                  <a:extLst>
                    <a:ext uri="{9D8B030D-6E8A-4147-A177-3AD203B41FA5}">
                      <a16:colId xmlns:a16="http://schemas.microsoft.com/office/drawing/2014/main" val="20000"/>
                    </a:ext>
                  </a:extLst>
                </a:gridCol>
                <a:gridCol w="5474547">
                  <a:extLst>
                    <a:ext uri="{9D8B030D-6E8A-4147-A177-3AD203B41FA5}">
                      <a16:colId xmlns:a16="http://schemas.microsoft.com/office/drawing/2014/main" val="20001"/>
                    </a:ext>
                  </a:extLst>
                </a:gridCol>
              </a:tblGrid>
              <a:tr h="866775">
                <a:tc>
                  <a:txBody>
                    <a:bodyPr/>
                    <a:lstStyle/>
                    <a:p>
                      <a:pPr algn="ctr" rtl="0" fontAlgn="ctr"/>
                      <a:r>
                        <a:rPr lang="zh-CN" altLang="en-US" sz="1800" u="none" strike="noStrike" dirty="0">
                          <a:effectLst/>
                        </a:rPr>
                        <a:t>方向图的选择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在以覆盖铁路、公路沿线为目标的基站，可以采用窄波束高增益的定向天线。可根据布站点的道路局部地形起伏和拐弯等因素来灵活选择天线形式；</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0"/>
                  </a:ext>
                </a:extLst>
              </a:tr>
              <a:tr h="1190625">
                <a:tc>
                  <a:txBody>
                    <a:bodyPr/>
                    <a:lstStyle/>
                    <a:p>
                      <a:pPr algn="ctr" rtl="0" fontAlgn="ctr"/>
                      <a:r>
                        <a:rPr lang="zh-CN" altLang="en-US" sz="1800" u="none" strike="noStrike">
                          <a:effectLst/>
                        </a:rPr>
                        <a:t>天线增益的选择</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定向天线增益可选</a:t>
                      </a:r>
                      <a:r>
                        <a:rPr lang="en-US" altLang="zh-CN" sz="1600" u="none" strike="noStrike" dirty="0">
                          <a:effectLst/>
                        </a:rPr>
                        <a:t>17~22dBi</a:t>
                      </a:r>
                      <a:r>
                        <a:rPr lang="zh-CN" altLang="en-US" sz="1600" u="none" strike="noStrike" dirty="0">
                          <a:effectLst/>
                        </a:rPr>
                        <a:t>的天线，全向天线的增益选择</a:t>
                      </a:r>
                      <a:r>
                        <a:rPr lang="en-US" altLang="zh-CN" sz="1600" u="none" strike="noStrike" dirty="0">
                          <a:effectLst/>
                        </a:rPr>
                        <a:t>11dBi</a:t>
                      </a:r>
                      <a:r>
                        <a:rPr lang="zh-CN" altLang="en-US" sz="1600" u="none" strike="noStrike" dirty="0">
                          <a:effectLst/>
                        </a:rPr>
                        <a:t>；</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1"/>
                  </a:ext>
                </a:extLst>
              </a:tr>
              <a:tr h="1190625">
                <a:tc>
                  <a:txBody>
                    <a:bodyPr/>
                    <a:lstStyle/>
                    <a:p>
                      <a:pPr algn="ctr" rtl="0" fontAlgn="ctr"/>
                      <a:r>
                        <a:rPr lang="zh-CN" altLang="en-US" sz="1800" u="none" strike="noStrike">
                          <a:effectLst/>
                        </a:rPr>
                        <a:t>下倾角选择</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公路覆盖一般不设下倾角，建议选用价格较便宜的机械下倾天线，在</a:t>
                      </a:r>
                      <a:r>
                        <a:rPr lang="en-US" altLang="zh-CN" sz="1600" u="none" strike="noStrike" dirty="0">
                          <a:effectLst/>
                        </a:rPr>
                        <a:t>50</a:t>
                      </a:r>
                      <a:r>
                        <a:rPr lang="zh-CN" altLang="en-US" sz="1600" u="none" strike="noStrike" dirty="0">
                          <a:effectLst/>
                        </a:rPr>
                        <a:t>米以上且近端有覆盖要求时，可以优先选用零点填充（大于</a:t>
                      </a:r>
                      <a:r>
                        <a:rPr lang="en-US" altLang="zh-CN" sz="1600" u="none" strike="noStrike" dirty="0">
                          <a:effectLst/>
                        </a:rPr>
                        <a:t>15%</a:t>
                      </a:r>
                      <a:r>
                        <a:rPr lang="zh-CN" altLang="en-US" sz="1600" u="none" strike="noStrike" dirty="0">
                          <a:effectLst/>
                        </a:rPr>
                        <a:t>）的天线来解决塔下黑问题；</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2"/>
                  </a:ext>
                </a:extLst>
              </a:tr>
              <a:tr h="581025">
                <a:tc>
                  <a:txBody>
                    <a:bodyPr/>
                    <a:lstStyle/>
                    <a:p>
                      <a:pPr algn="ctr" rtl="0" fontAlgn="ctr"/>
                      <a:r>
                        <a:rPr lang="zh-CN" altLang="en-US" sz="1800" u="none" strike="noStrike" dirty="0">
                          <a:effectLst/>
                        </a:rPr>
                        <a:t>前后比</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由于公路覆盖大多数用户都是快速移动用户，所以为保证切换的正常进行，定向天线的前后比不宜太高。</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3"/>
                  </a:ext>
                </a:extLst>
              </a:tr>
            </a:tbl>
          </a:graphicData>
        </a:graphic>
      </p:graphicFrame>
      <p:sp>
        <p:nvSpPr>
          <p:cNvPr id="10" name="矩形 9"/>
          <p:cNvSpPr/>
          <p:nvPr/>
        </p:nvSpPr>
        <p:spPr>
          <a:xfrm>
            <a:off x="5388232" y="2179539"/>
            <a:ext cx="1723549" cy="400110"/>
          </a:xfrm>
          <a:prstGeom prst="rect">
            <a:avLst/>
          </a:prstGeom>
        </p:spPr>
        <p:txBody>
          <a:bodyPr wrap="none">
            <a:spAutoFit/>
          </a:bodyPr>
          <a:lstStyle/>
          <a:p>
            <a:r>
              <a:rPr lang="zh-CN" altLang="zh-CN" sz="2000" b="1" kern="100" dirty="0">
                <a:solidFill>
                  <a:srgbClr val="FF0000"/>
                </a:solidFill>
                <a:latin typeface="+mn-ea"/>
                <a:cs typeface="华文楷体" panose="02010600040101010101" pitchFamily="2" charset="-122"/>
              </a:rPr>
              <a:t>天线选型原则</a:t>
            </a:r>
            <a:endParaRPr lang="zh-CN" altLang="en-US" sz="2000" dirty="0">
              <a:solidFill>
                <a:srgbClr val="FF0000"/>
              </a:solidFill>
              <a:latin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27525"/>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2.4  </a:t>
            </a:r>
            <a:r>
              <a:rPr kumimoji="1" lang="zh-CN" altLang="en-US" sz="1900" b="1" dirty="0">
                <a:latin typeface="微软雅黑" panose="020B0503020204020204" charset="-122"/>
                <a:ea typeface="微软雅黑" panose="020B0503020204020204" charset="-122"/>
                <a:cs typeface="微软雅黑" panose="020B0503020204020204" charset="-122"/>
              </a:rPr>
              <a:t>山区覆盖基站天线选型</a:t>
            </a:r>
          </a:p>
        </p:txBody>
      </p:sp>
      <p:sp>
        <p:nvSpPr>
          <p:cNvPr id="15" name="矩形 14"/>
          <p:cNvSpPr/>
          <p:nvPr/>
        </p:nvSpPr>
        <p:spPr>
          <a:xfrm>
            <a:off x="904511" y="2201626"/>
            <a:ext cx="5113963" cy="4502220"/>
          </a:xfrm>
          <a:prstGeom prst="rect">
            <a:avLst/>
          </a:prstGeom>
          <a:solidFill>
            <a:srgbClr val="D9D9D9">
              <a:alpha val="5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16" name="五边形 15"/>
          <p:cNvSpPr/>
          <p:nvPr/>
        </p:nvSpPr>
        <p:spPr>
          <a:xfrm rot="5400000">
            <a:off x="1965802" y="1341240"/>
            <a:ext cx="594784" cy="2396597"/>
          </a:xfrm>
          <a:prstGeom prst="homePlate">
            <a:avLst/>
          </a:prstGeom>
          <a:solidFill>
            <a:srgbClr val="C9181C"/>
          </a:solidFill>
          <a:ln>
            <a:noFill/>
          </a:ln>
          <a:effectLst>
            <a:outerShdw blurRad="25400" dist="25400" dir="5400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1181588" y="2220881"/>
            <a:ext cx="2316324" cy="400110"/>
          </a:xfrm>
          <a:prstGeom prst="rect">
            <a:avLst/>
          </a:prstGeom>
          <a:noFill/>
        </p:spPr>
        <p:txBody>
          <a:bodyPr wrap="square" rtlCol="0">
            <a:spAutoFit/>
          </a:bodyPr>
          <a:lstStyle/>
          <a:p>
            <a:pPr algn="ctr"/>
            <a:r>
              <a:rPr lang="zh-CN" altLang="zh-CN" sz="2000" b="1" spc="600" dirty="0">
                <a:solidFill>
                  <a:schemeClr val="bg1"/>
                </a:solidFill>
                <a:latin typeface="微软雅黑" panose="020B0503020204020204" charset="-122"/>
                <a:ea typeface="微软雅黑" panose="020B0503020204020204" charset="-122"/>
              </a:rPr>
              <a:t>应用环境特点</a:t>
            </a:r>
            <a:endParaRPr lang="zh-CN" altLang="en-US" sz="2000" b="1" spc="600" dirty="0">
              <a:solidFill>
                <a:schemeClr val="bg1"/>
              </a:solidFill>
              <a:latin typeface="微软雅黑" panose="020B0503020204020204" charset="-122"/>
              <a:ea typeface="微软雅黑" panose="020B0503020204020204" charset="-122"/>
            </a:endParaRPr>
          </a:p>
        </p:txBody>
      </p:sp>
      <p:sp>
        <p:nvSpPr>
          <p:cNvPr id="18" name="矩形 17"/>
          <p:cNvSpPr/>
          <p:nvPr/>
        </p:nvSpPr>
        <p:spPr>
          <a:xfrm>
            <a:off x="1064894" y="2872028"/>
            <a:ext cx="4554671" cy="3831818"/>
          </a:xfrm>
          <a:prstGeom prst="rect">
            <a:avLst/>
          </a:prstGeom>
        </p:spPr>
        <p:txBody>
          <a:bodyPr wrap="square">
            <a:spAutoFit/>
          </a:bodyPr>
          <a:lstStyle/>
          <a:p>
            <a:pPr>
              <a:lnSpc>
                <a:spcPct val="150000"/>
              </a:lnSpc>
              <a:spcAft>
                <a:spcPts val="0"/>
              </a:spcAft>
            </a:pPr>
            <a:r>
              <a:rPr lang="zh-CN" altLang="en-US" kern="100" dirty="0">
                <a:latin typeface="+mj-ea"/>
                <a:ea typeface="+mj-ea"/>
              </a:rPr>
              <a:t>在偏远的丘陵山区，山体阻挡严重，电波的传播衰落较大，覆盖难度大。通常为广覆盖，在基站很广的覆盖半径内分布零散用户，业务量较小。基站或建在山顶上、山腰间、山脚下、或山区里的合适位置。需要区分不同的用户分布、地形特点来进行基站选址、选型、选择天线。以下这几种情况比较常见的：盆地型山区建站、高山上建站、半山腰建站、普通山区建站等。</a:t>
            </a:r>
            <a:endParaRPr lang="zh-CN" altLang="zh-CN" sz="1800" kern="100" dirty="0">
              <a:effectLst/>
              <a:latin typeface="+mj-ea"/>
              <a:ea typeface="+mj-ea"/>
            </a:endParaRPr>
          </a:p>
        </p:txBody>
      </p:sp>
      <p:sp>
        <p:nvSpPr>
          <p:cNvPr id="5" name="矩形 4"/>
          <p:cNvSpPr/>
          <p:nvPr/>
        </p:nvSpPr>
        <p:spPr>
          <a:xfrm>
            <a:off x="8051533" y="1979395"/>
            <a:ext cx="1723549" cy="400110"/>
          </a:xfrm>
          <a:prstGeom prst="rect">
            <a:avLst/>
          </a:prstGeom>
        </p:spPr>
        <p:txBody>
          <a:bodyPr wrap="none">
            <a:spAutoFit/>
          </a:bodyPr>
          <a:lstStyle/>
          <a:p>
            <a:r>
              <a:rPr lang="zh-CN" altLang="zh-CN" sz="2000" b="1" kern="100" dirty="0">
                <a:solidFill>
                  <a:srgbClr val="FF0000"/>
                </a:solidFill>
                <a:latin typeface="+mn-ea"/>
                <a:cs typeface="华文楷体" panose="02010600040101010101" pitchFamily="2" charset="-122"/>
              </a:rPr>
              <a:t>天线选型原则</a:t>
            </a:r>
            <a:endParaRPr lang="zh-CN" altLang="en-US" sz="2000" dirty="0">
              <a:solidFill>
                <a:srgbClr val="FF0000"/>
              </a:solidFill>
              <a:latin typeface="+mn-ea"/>
            </a:endParaRPr>
          </a:p>
        </p:txBody>
      </p:sp>
      <p:graphicFrame>
        <p:nvGraphicFramePr>
          <p:cNvPr id="4" name="表格 3"/>
          <p:cNvGraphicFramePr>
            <a:graphicFrameLocks noGrp="1"/>
          </p:cNvGraphicFramePr>
          <p:nvPr/>
        </p:nvGraphicFramePr>
        <p:xfrm>
          <a:off x="6178857" y="2631947"/>
          <a:ext cx="5657295" cy="3496229"/>
        </p:xfrm>
        <a:graphic>
          <a:graphicData uri="http://schemas.openxmlformats.org/drawingml/2006/table">
            <a:tbl>
              <a:tblPr>
                <a:tableStyleId>{5C22544A-7EE6-4342-B048-85BDC9FD1C3A}</a:tableStyleId>
              </a:tblPr>
              <a:tblGrid>
                <a:gridCol w="1038689">
                  <a:extLst>
                    <a:ext uri="{9D8B030D-6E8A-4147-A177-3AD203B41FA5}">
                      <a16:colId xmlns:a16="http://schemas.microsoft.com/office/drawing/2014/main" val="20000"/>
                    </a:ext>
                  </a:extLst>
                </a:gridCol>
                <a:gridCol w="4618606">
                  <a:extLst>
                    <a:ext uri="{9D8B030D-6E8A-4147-A177-3AD203B41FA5}">
                      <a16:colId xmlns:a16="http://schemas.microsoft.com/office/drawing/2014/main" val="20001"/>
                    </a:ext>
                  </a:extLst>
                </a:gridCol>
              </a:tblGrid>
              <a:tr h="1575982">
                <a:tc>
                  <a:txBody>
                    <a:bodyPr/>
                    <a:lstStyle/>
                    <a:p>
                      <a:pPr algn="ctr" rtl="0" fontAlgn="ctr"/>
                      <a:r>
                        <a:rPr lang="zh-CN" altLang="en-US" sz="1800" u="none" strike="noStrike" dirty="0">
                          <a:effectLst/>
                        </a:rPr>
                        <a:t>方向图的选择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视基站的位置、站型及周边覆盖需求来决定方向图的选择，可以选择全向天线，也可以选择定向天线。对于建在山上的基站，若需要覆盖的地方位置相对较低，则应选择垂直半功率角较大的方向图，更好地满足垂直方向的覆盖要求；</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0"/>
                  </a:ext>
                </a:extLst>
              </a:tr>
              <a:tr h="767722">
                <a:tc>
                  <a:txBody>
                    <a:bodyPr/>
                    <a:lstStyle/>
                    <a:p>
                      <a:pPr algn="ctr" rtl="0" fontAlgn="ctr"/>
                      <a:r>
                        <a:rPr lang="zh-CN" altLang="en-US" sz="1800" u="none" strike="noStrike">
                          <a:effectLst/>
                        </a:rPr>
                        <a:t>天线增益的选择</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视需覆盖的区域的远近选择中等天线增益，全向天线（</a:t>
                      </a:r>
                      <a:r>
                        <a:rPr lang="en-US" altLang="zh-CN" sz="1600" u="none" strike="noStrike" dirty="0">
                          <a:effectLst/>
                        </a:rPr>
                        <a:t>9-11dBi</a:t>
                      </a:r>
                      <a:r>
                        <a:rPr lang="zh-CN" altLang="en-US" sz="1600" u="none" strike="noStrike" dirty="0">
                          <a:effectLst/>
                        </a:rPr>
                        <a:t>），定向天线（</a:t>
                      </a:r>
                      <a:r>
                        <a:rPr lang="en-US" altLang="zh-CN" sz="1600" u="none" strike="noStrike" dirty="0">
                          <a:effectLst/>
                        </a:rPr>
                        <a:t>15-18dBi</a:t>
                      </a:r>
                      <a:r>
                        <a:rPr lang="zh-CN" altLang="en-US" sz="1600" u="none" strike="noStrike" dirty="0">
                          <a:effectLst/>
                        </a:rPr>
                        <a:t>）；</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1"/>
                  </a:ext>
                </a:extLst>
              </a:tr>
              <a:tr h="1152525">
                <a:tc>
                  <a:txBody>
                    <a:bodyPr/>
                    <a:lstStyle/>
                    <a:p>
                      <a:pPr algn="ctr" rtl="0" fontAlgn="ctr"/>
                      <a:r>
                        <a:rPr lang="zh-CN" altLang="en-US" sz="1800" u="none" strike="noStrike" dirty="0">
                          <a:effectLst/>
                        </a:rPr>
                        <a:t>下倾角选择</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tc>
                  <a:txBody>
                    <a:bodyPr/>
                    <a:lstStyle/>
                    <a:p>
                      <a:pPr algn="l" rtl="0" fontAlgn="ctr"/>
                      <a:r>
                        <a:rPr lang="zh-CN" altLang="en-US" sz="1600" u="none" strike="noStrike" dirty="0">
                          <a:effectLst/>
                        </a:rPr>
                        <a:t>在山上建站，需覆盖的地方在山下时，要选用具有零点填充或预置下倾角的天线。对于预置下倾角的大小视基站与需覆盖地方的相对高度作出选择，相对高度越大预置下倾角也就应选择更大一些的天线。</a:t>
                      </a:r>
                      <a:endParaRPr lang="zh-CN" altLang="en-US" sz="16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167453"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ea typeface="微软雅黑" panose="020B0503020204020204" charset="-122"/>
              </a:rPr>
              <a:t>全向天线与定向天线的选择原理</a:t>
            </a:r>
          </a:p>
        </p:txBody>
      </p:sp>
      <p:sp>
        <p:nvSpPr>
          <p:cNvPr id="20" name="Rectangle 2"/>
          <p:cNvSpPr>
            <a:spLocks noChangeArrowheads="1"/>
          </p:cNvSpPr>
          <p:nvPr/>
        </p:nvSpPr>
        <p:spPr bwMode="auto">
          <a:xfrm>
            <a:off x="1322773" y="2726377"/>
            <a:ext cx="9498134" cy="3953006"/>
          </a:xfrm>
          <a:prstGeom prst="rect">
            <a:avLst/>
          </a:prstGeom>
          <a:solidFill>
            <a:srgbClr val="4C88C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ea typeface="黑体" panose="02010609060101010101" pitchFamily="49" charset="-122"/>
            </a:endParaRPr>
          </a:p>
        </p:txBody>
      </p:sp>
      <p:sp>
        <p:nvSpPr>
          <p:cNvPr id="21" name="Rectangle 4"/>
          <p:cNvSpPr>
            <a:spLocks noChangeArrowheads="1"/>
          </p:cNvSpPr>
          <p:nvPr/>
        </p:nvSpPr>
        <p:spPr bwMode="auto">
          <a:xfrm>
            <a:off x="1590005" y="3021212"/>
            <a:ext cx="5206384" cy="337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4C88C4"/>
              </a:buClr>
              <a:buFont typeface="Wingdings" panose="05000000000000000000" pitchFamily="2" charset="2"/>
              <a:buNone/>
            </a:pPr>
            <a:r>
              <a:rPr lang="zh-CN" altLang="en-US" sz="1600" dirty="0">
                <a:solidFill>
                  <a:schemeClr val="bg1"/>
                </a:solidFill>
                <a:latin typeface="+mj-ea"/>
                <a:ea typeface="+mj-ea"/>
              </a:rPr>
              <a:t>根据组网的要求建立不同类型的基站，而不同类型的基站可根据需要选择不同类型的天线。选择的依据就是上述技术参数。比如全向站就是采用了各个水平方向增益基本相同的全向型天线，而定向站就是采用了水平方向增益有明显变化的定向型天线。</a:t>
            </a:r>
            <a:r>
              <a:rPr lang="zh-CN" altLang="en-US" sz="1600" dirty="0">
                <a:latin typeface="+mj-ea"/>
                <a:ea typeface="+mj-ea"/>
              </a:rPr>
              <a:t>一般在市区选择水平波束宽度为</a:t>
            </a:r>
            <a:r>
              <a:rPr lang="en-US" altLang="zh-CN" sz="1600" dirty="0">
                <a:solidFill>
                  <a:srgbClr val="FF0000"/>
                </a:solidFill>
                <a:latin typeface="+mj-ea"/>
                <a:ea typeface="+mj-ea"/>
              </a:rPr>
              <a:t>65°</a:t>
            </a:r>
            <a:r>
              <a:rPr lang="zh-CN" altLang="en-US" sz="1600" dirty="0">
                <a:latin typeface="+mj-ea"/>
                <a:ea typeface="+mj-ea"/>
              </a:rPr>
              <a:t>的天线，在郊区可选择</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水平波束宽度为</a:t>
            </a:r>
            <a:r>
              <a:rPr lang="en-US" altLang="zh-CN" sz="1600" dirty="0">
                <a:solidFill>
                  <a:srgbClr val="FF0000"/>
                </a:solidFill>
                <a:latin typeface="微软雅黑" panose="020B0503020204020204" pitchFamily="34" charset="-122"/>
                <a:ea typeface="微软雅黑" panose="020B0503020204020204" pitchFamily="34" charset="-122"/>
              </a:rPr>
              <a:t>65</a:t>
            </a: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lang="en-US" altLang="zh-CN" sz="1600">
                <a:solidFill>
                  <a:srgbClr val="FF0000"/>
                </a:solidFill>
                <a:latin typeface="微软雅黑" panose="020B0503020204020204" pitchFamily="34" charset="-122"/>
                <a:ea typeface="微软雅黑" panose="020B0503020204020204" pitchFamily="34" charset="-122"/>
              </a:rPr>
              <a:t>90</a:t>
            </a:r>
            <a:r>
              <a:rPr kumimoji="0" lang="en-US" altLang="zh-CN" sz="16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或</a:t>
            </a: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120°</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的天线（按照站型配置和当地地理环境而定） ），而在乡村选择能够实现大范围覆盖的</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全向天线</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则是最为经济的。 </a:t>
            </a:r>
            <a:endParaRPr lang="zh-CN" altLang="en-US" sz="1600" dirty="0">
              <a:latin typeface="+mj-ea"/>
              <a:ea typeface="+mj-ea"/>
            </a:endParaRPr>
          </a:p>
        </p:txBody>
      </p:sp>
      <p:pic>
        <p:nvPicPr>
          <p:cNvPr id="23" name="Picture 5" descr="蜂窝和天线"/>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6389" y="2812426"/>
            <a:ext cx="3562778" cy="297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167453"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水平和垂直波瓣宽度的选取原则</a:t>
            </a:r>
          </a:p>
        </p:txBody>
      </p:sp>
      <p:sp>
        <p:nvSpPr>
          <p:cNvPr id="9" name="Rectangle 5"/>
          <p:cNvSpPr txBox="1">
            <a:spLocks noChangeArrowheads="1"/>
          </p:cNvSpPr>
          <p:nvPr/>
        </p:nvSpPr>
        <p:spPr bwMode="auto">
          <a:xfrm>
            <a:off x="1521482" y="2764918"/>
            <a:ext cx="7632700" cy="377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457200" marR="0" lvl="1" indent="0" eaLnBrk="1" fontAlgn="base" hangingPunct="1">
              <a:lnSpc>
                <a:spcPct val="90000"/>
              </a:lnSpc>
              <a:spcBef>
                <a:spcPts val="1200"/>
              </a:spcBef>
              <a:spcAft>
                <a:spcPts val="1200"/>
              </a:spcAft>
              <a:buClrTx/>
              <a:buSzTx/>
              <a:buNone/>
              <a:defRPr/>
            </a:pPr>
            <a:r>
              <a:rPr lang="zh-CN" altLang="en-US" sz="1800" dirty="0">
                <a:latin typeface="+mj-ea"/>
                <a:ea typeface="+mj-ea"/>
                <a:cs typeface="Times New Roman" panose="02020603050405020304" pitchFamily="18" charset="0"/>
              </a:rPr>
              <a:t>水平波瓣宽度</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rPr>
              <a:t>对覆盖半径较小、话务分布较大的区域，水平波瓣宽度应选得大一点。</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rPr>
              <a:t>对覆盖半径较大，话务分布较少的区域，水平波瓣宽度应选得小一些。</a:t>
            </a:r>
          </a:p>
          <a:p>
            <a:pPr marL="457200" lvl="1" indent="0" eaLnBrk="1" hangingPunct="1">
              <a:lnSpc>
                <a:spcPct val="90000"/>
              </a:lnSpc>
              <a:spcBef>
                <a:spcPts val="1200"/>
              </a:spcBef>
              <a:spcAft>
                <a:spcPts val="1200"/>
              </a:spcAft>
              <a:buNone/>
              <a:defRPr/>
            </a:pPr>
            <a:r>
              <a:rPr lang="zh-CN" altLang="en-US" sz="1800" dirty="0">
                <a:latin typeface="+mj-ea"/>
                <a:ea typeface="+mj-ea"/>
                <a:cs typeface="Times New Roman" panose="02020603050405020304" pitchFamily="18" charset="0"/>
              </a:rPr>
              <a:t>垂直波瓣宽度</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rPr>
              <a:t>对地形平坦，建筑物稀疏，平均高度较低的区域，垂直波瓣宽度可选得小一点。</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rPr>
              <a:t>对地形复杂、落差大的区域，垂直波瓣宽度可选得大一些。</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522559"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水平和垂直波瓣宽度的选择建议</a:t>
            </a:r>
            <a:r>
              <a:rPr lang="en-US" altLang="zh-CN" sz="2000" b="1" dirty="0">
                <a:solidFill>
                  <a:srgbClr val="005BAA"/>
                </a:solidFill>
                <a:latin typeface="微软雅黑" panose="020B0503020204020204" charset="-122"/>
              </a:rPr>
              <a:t>1</a:t>
            </a:r>
          </a:p>
        </p:txBody>
      </p:sp>
      <p:sp>
        <p:nvSpPr>
          <p:cNvPr id="6" name="Rectangle 9"/>
          <p:cNvSpPr txBox="1">
            <a:spLocks noChangeArrowheads="1"/>
          </p:cNvSpPr>
          <p:nvPr/>
        </p:nvSpPr>
        <p:spPr>
          <a:xfrm>
            <a:off x="1403719" y="2768881"/>
            <a:ext cx="4591050" cy="3660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FF0000"/>
                </a:solidFill>
                <a:latin typeface="+mj-ea"/>
                <a:ea typeface="+mj-ea"/>
                <a:cs typeface="Times New Roman" panose="02020603050405020304" pitchFamily="18" charset="0"/>
              </a:rPr>
              <a:t>城区</a:t>
            </a:r>
          </a:p>
          <a:p>
            <a:pPr marL="457200" lvl="1" indent="0">
              <a:spcBef>
                <a:spcPts val="1200"/>
              </a:spcBef>
              <a:spcAft>
                <a:spcPts val="1200"/>
              </a:spcAft>
              <a:buNone/>
            </a:pPr>
            <a:r>
              <a:rPr lang="en-US" altLang="zh-CN" sz="1800" dirty="0">
                <a:latin typeface="+mj-ea"/>
                <a:ea typeface="+mj-ea"/>
                <a:cs typeface="Times New Roman" panose="02020603050405020304" pitchFamily="18" charset="0"/>
              </a:rPr>
              <a:t>S111</a:t>
            </a:r>
            <a:r>
              <a:rPr lang="zh-CN" altLang="en-US" sz="1800" dirty="0">
                <a:latin typeface="+mj-ea"/>
                <a:ea typeface="+mj-ea"/>
                <a:cs typeface="Times New Roman" panose="02020603050405020304" pitchFamily="18" charset="0"/>
              </a:rPr>
              <a:t>基站：</a:t>
            </a:r>
            <a:endParaRPr lang="en-US" altLang="zh-CN" sz="1800" dirty="0">
              <a:latin typeface="+mj-ea"/>
              <a:ea typeface="+mj-ea"/>
              <a:cs typeface="Times New Roman" panose="02020603050405020304" pitchFamily="18" charset="0"/>
            </a:endParaRPr>
          </a:p>
          <a:p>
            <a:pPr lvl="1">
              <a:spcBef>
                <a:spcPts val="0"/>
              </a:spcBef>
            </a:pPr>
            <a:r>
              <a:rPr lang="zh-CN" altLang="en-US" sz="1800" dirty="0">
                <a:latin typeface="+mj-ea"/>
                <a:ea typeface="+mj-ea"/>
                <a:cs typeface="Times New Roman" panose="02020603050405020304" pitchFamily="18" charset="0"/>
              </a:rPr>
              <a:t>一般选用水平波瓣宽度为</a:t>
            </a:r>
            <a:r>
              <a:rPr lang="en-US" altLang="zh-CN" sz="1800" dirty="0">
                <a:latin typeface="+mj-ea"/>
                <a:ea typeface="+mj-ea"/>
                <a:cs typeface="Times New Roman" panose="02020603050405020304" pitchFamily="18" charset="0"/>
              </a:rPr>
              <a:t>65</a:t>
            </a:r>
            <a:r>
              <a:rPr lang="en-US" altLang="zh-CN" sz="1800" dirty="0">
                <a:latin typeface="+mj-ea"/>
                <a:ea typeface="+mj-ea"/>
                <a:cs typeface="Times New Roman" panose="02020603050405020304" pitchFamily="18" charset="0"/>
                <a:sym typeface="Symbol" panose="05050102010706020507" pitchFamily="18" charset="2"/>
              </a:rPr>
              <a:t></a:t>
            </a:r>
            <a:endParaRPr lang="en-US" altLang="zh-CN" sz="1800" dirty="0">
              <a:latin typeface="+mj-ea"/>
              <a:ea typeface="+mj-ea"/>
              <a:cs typeface="Times New Roman" panose="02020603050405020304" pitchFamily="18" charset="0"/>
            </a:endParaRPr>
          </a:p>
          <a:p>
            <a:pPr lvl="1">
              <a:spcBef>
                <a:spcPts val="0"/>
              </a:spcBef>
            </a:pPr>
            <a:r>
              <a:rPr lang="zh-CN" altLang="en-US" sz="1800" dirty="0">
                <a:latin typeface="+mj-ea"/>
                <a:ea typeface="+mj-ea"/>
                <a:cs typeface="Times New Roman" panose="02020603050405020304" pitchFamily="18" charset="0"/>
              </a:rPr>
              <a:t>垂直波瓣宽度为</a:t>
            </a:r>
            <a:r>
              <a:rPr lang="en-US" altLang="zh-CN" sz="1800" dirty="0">
                <a:latin typeface="+mj-ea"/>
                <a:ea typeface="+mj-ea"/>
                <a:cs typeface="Times New Roman" panose="02020603050405020304" pitchFamily="18" charset="0"/>
                <a:sym typeface="Symbol" panose="05050102010706020507" pitchFamily="18" charset="2"/>
              </a:rPr>
              <a:t>7</a:t>
            </a:r>
            <a:r>
              <a:rPr lang="zh-CN" altLang="en-US" sz="1800" dirty="0">
                <a:latin typeface="+mj-ea"/>
                <a:ea typeface="+mj-ea"/>
                <a:cs typeface="Times New Roman" panose="02020603050405020304" pitchFamily="18" charset="0"/>
              </a:rPr>
              <a:t>～</a:t>
            </a:r>
            <a:r>
              <a:rPr lang="en-US" altLang="zh-CN" sz="1800" dirty="0">
                <a:latin typeface="+mj-ea"/>
                <a:ea typeface="+mj-ea"/>
                <a:cs typeface="Times New Roman" panose="02020603050405020304" pitchFamily="18" charset="0"/>
                <a:sym typeface="Symbol" panose="05050102010706020507" pitchFamily="18" charset="2"/>
              </a:rPr>
              <a:t>10</a:t>
            </a:r>
            <a:r>
              <a:rPr lang="zh-CN" altLang="en-US" sz="1800" dirty="0">
                <a:latin typeface="+mj-ea"/>
                <a:ea typeface="+mj-ea"/>
                <a:cs typeface="Times New Roman" panose="02020603050405020304" pitchFamily="18" charset="0"/>
              </a:rPr>
              <a:t>的天线</a:t>
            </a:r>
            <a:endParaRPr lang="en-US" altLang="zh-CN" sz="1800" dirty="0">
              <a:latin typeface="+mj-ea"/>
              <a:ea typeface="+mj-ea"/>
              <a:cs typeface="Times New Roman" panose="02020603050405020304" pitchFamily="18" charset="0"/>
            </a:endParaRPr>
          </a:p>
          <a:p>
            <a:pPr lvl="1">
              <a:spcBef>
                <a:spcPts val="0"/>
              </a:spcBef>
            </a:pPr>
            <a:r>
              <a:rPr lang="zh-CN" altLang="en-US" sz="1800" dirty="0">
                <a:latin typeface="+mj-ea"/>
                <a:ea typeface="+mj-ea"/>
                <a:cs typeface="Times New Roman" panose="02020603050405020304" pitchFamily="18" charset="0"/>
              </a:rPr>
              <a:t>天线增益在</a:t>
            </a:r>
            <a:r>
              <a:rPr lang="en-US" altLang="zh-CN" sz="1800" dirty="0">
                <a:latin typeface="+mj-ea"/>
                <a:ea typeface="+mj-ea"/>
                <a:cs typeface="Times New Roman" panose="02020603050405020304" pitchFamily="18" charset="0"/>
                <a:sym typeface="Symbol" panose="05050102010706020507" pitchFamily="18" charset="2"/>
              </a:rPr>
              <a:t>15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18dBi</a:t>
            </a:r>
            <a:r>
              <a:rPr lang="zh-CN" altLang="en-US" sz="1800" dirty="0">
                <a:latin typeface="+mj-ea"/>
                <a:ea typeface="+mj-ea"/>
                <a:cs typeface="Times New Roman" panose="02020603050405020304" pitchFamily="18" charset="0"/>
                <a:sym typeface="Symbol" panose="05050102010706020507" pitchFamily="18" charset="2"/>
              </a:rPr>
              <a:t>之间</a:t>
            </a:r>
          </a:p>
          <a:p>
            <a:pPr marL="457200" lvl="1" indent="0">
              <a:spcBef>
                <a:spcPts val="1200"/>
              </a:spcBef>
              <a:spcAft>
                <a:spcPts val="1200"/>
              </a:spcAft>
              <a:buNone/>
            </a:pPr>
            <a:r>
              <a:rPr lang="en-US" altLang="zh-CN" sz="1800" dirty="0">
                <a:latin typeface="+mj-ea"/>
                <a:ea typeface="+mj-ea"/>
                <a:cs typeface="Times New Roman" panose="02020603050405020304" pitchFamily="18" charset="0"/>
                <a:sym typeface="Symbol" panose="05050102010706020507" pitchFamily="18" charset="2"/>
              </a:rPr>
              <a:t>S110</a:t>
            </a:r>
            <a:r>
              <a:rPr lang="zh-CN" altLang="en-US" sz="1800" dirty="0">
                <a:latin typeface="+mj-ea"/>
                <a:ea typeface="+mj-ea"/>
                <a:cs typeface="Times New Roman" panose="02020603050405020304" pitchFamily="18" charset="0"/>
                <a:sym typeface="Symbol" panose="05050102010706020507" pitchFamily="18" charset="2"/>
              </a:rPr>
              <a:t>或定向单扇区基站：</a:t>
            </a:r>
            <a:endParaRPr lang="en-US" altLang="zh-CN" sz="1800" dirty="0">
              <a:latin typeface="+mj-ea"/>
              <a:ea typeface="+mj-ea"/>
              <a:cs typeface="Times New Roman" panose="02020603050405020304" pitchFamily="18" charset="0"/>
              <a:sym typeface="Symbol" panose="05050102010706020507" pitchFamily="18" charset="2"/>
            </a:endParaRPr>
          </a:p>
          <a:p>
            <a:pPr lvl="1">
              <a:spcBef>
                <a:spcPts val="0"/>
              </a:spcBef>
            </a:pPr>
            <a:r>
              <a:rPr lang="zh-CN" altLang="en-US" sz="1800" dirty="0">
                <a:latin typeface="+mj-ea"/>
                <a:ea typeface="+mj-ea"/>
                <a:cs typeface="Times New Roman" panose="02020603050405020304" pitchFamily="18" charset="0"/>
                <a:sym typeface="Symbol" panose="05050102010706020507" pitchFamily="18" charset="2"/>
              </a:rPr>
              <a:t>可以选用水平波瓣宽度为</a:t>
            </a:r>
            <a:r>
              <a:rPr lang="en-US" altLang="zh-CN" sz="1800" dirty="0">
                <a:latin typeface="+mj-ea"/>
                <a:ea typeface="+mj-ea"/>
                <a:cs typeface="Times New Roman" panose="02020603050405020304" pitchFamily="18" charset="0"/>
                <a:sym typeface="Symbol" panose="05050102010706020507" pitchFamily="18" charset="2"/>
              </a:rPr>
              <a:t>65</a:t>
            </a:r>
            <a:r>
              <a:rPr lang="zh-CN" altLang="en-US" sz="1800" dirty="0">
                <a:latin typeface="+mj-ea"/>
                <a:ea typeface="+mj-ea"/>
                <a:cs typeface="Times New Roman" panose="02020603050405020304" pitchFamily="18" charset="0"/>
              </a:rPr>
              <a:t>、</a:t>
            </a:r>
            <a:r>
              <a:rPr lang="en-US" altLang="zh-CN" sz="1800" dirty="0">
                <a:latin typeface="+mj-ea"/>
                <a:ea typeface="+mj-ea"/>
                <a:cs typeface="Times New Roman" panose="02020603050405020304" pitchFamily="18" charset="0"/>
                <a:sym typeface="Symbol" panose="05050102010706020507" pitchFamily="18" charset="2"/>
              </a:rPr>
              <a:t>90</a:t>
            </a:r>
            <a:r>
              <a:rPr lang="zh-CN" altLang="en-US" sz="1800" dirty="0">
                <a:latin typeface="+mj-ea"/>
                <a:ea typeface="+mj-ea"/>
                <a:cs typeface="Times New Roman" panose="02020603050405020304" pitchFamily="18" charset="0"/>
              </a:rPr>
              <a:t>甚至更宽的天线，根据覆盖需求选用</a:t>
            </a:r>
            <a:endParaRPr lang="en-US" altLang="zh-CN" sz="1800" dirty="0">
              <a:latin typeface="+mj-ea"/>
              <a:ea typeface="+mj-ea"/>
              <a:cs typeface="Times New Roman" panose="02020603050405020304" pitchFamily="18" charset="0"/>
            </a:endParaRPr>
          </a:p>
          <a:p>
            <a:pPr lvl="1">
              <a:spcBef>
                <a:spcPts val="0"/>
              </a:spcBef>
            </a:pPr>
            <a:r>
              <a:rPr lang="zh-CN" altLang="en-US" sz="1800" dirty="0">
                <a:latin typeface="+mj-ea"/>
                <a:ea typeface="+mj-ea"/>
                <a:cs typeface="Times New Roman" panose="02020603050405020304" pitchFamily="18" charset="0"/>
              </a:rPr>
              <a:t>垂直波瓣及增益选择同</a:t>
            </a:r>
            <a:r>
              <a:rPr lang="en-US" altLang="zh-CN" sz="1800" dirty="0">
                <a:latin typeface="+mj-ea"/>
                <a:ea typeface="+mj-ea"/>
                <a:cs typeface="Times New Roman" panose="02020603050405020304" pitchFamily="18" charset="0"/>
                <a:sym typeface="Symbol" panose="05050102010706020507" pitchFamily="18" charset="2"/>
              </a:rPr>
              <a:t>S111</a:t>
            </a:r>
            <a:r>
              <a:rPr lang="zh-CN" altLang="en-US" sz="1800" dirty="0">
                <a:latin typeface="+mj-ea"/>
                <a:ea typeface="+mj-ea"/>
                <a:cs typeface="Times New Roman" panose="02020603050405020304" pitchFamily="18" charset="0"/>
                <a:sym typeface="Symbol" panose="05050102010706020507" pitchFamily="18" charset="2"/>
              </a:rPr>
              <a:t>站型</a:t>
            </a:r>
          </a:p>
        </p:txBody>
      </p:sp>
      <p:pic>
        <p:nvPicPr>
          <p:cNvPr id="7" name="Picture 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5304" y="2364223"/>
            <a:ext cx="300555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5304" y="4451786"/>
            <a:ext cx="300555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522559"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水平和垂直波瓣宽度的选择建议</a:t>
            </a:r>
            <a:r>
              <a:rPr lang="en-US" altLang="zh-CN" sz="2000" b="1" dirty="0">
                <a:solidFill>
                  <a:srgbClr val="005BAA"/>
                </a:solidFill>
                <a:latin typeface="微软雅黑" panose="020B0503020204020204" charset="-122"/>
              </a:rPr>
              <a:t>2</a:t>
            </a:r>
          </a:p>
        </p:txBody>
      </p:sp>
      <p:sp>
        <p:nvSpPr>
          <p:cNvPr id="9" name="Rectangle 8"/>
          <p:cNvSpPr txBox="1">
            <a:spLocks noChangeArrowheads="1"/>
          </p:cNvSpPr>
          <p:nvPr/>
        </p:nvSpPr>
        <p:spPr bwMode="auto">
          <a:xfrm>
            <a:off x="1626996" y="2938975"/>
            <a:ext cx="4545792" cy="311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defTabSz="914400">
              <a:buNone/>
            </a:pPr>
            <a:r>
              <a:rPr lang="zh-CN" altLang="en-US" sz="2400" kern="0" dirty="0">
                <a:solidFill>
                  <a:srgbClr val="FF0000"/>
                </a:solidFill>
                <a:latin typeface="+mj-ea"/>
                <a:ea typeface="+mj-ea"/>
                <a:cs typeface="Times New Roman" panose="02020603050405020304" pitchFamily="18" charset="0"/>
              </a:rPr>
              <a:t>郊区和农村</a:t>
            </a:r>
          </a:p>
          <a:p>
            <a:pPr marL="457200" lvl="1" indent="0" eaLnBrk="1" hangingPunct="1">
              <a:lnSpc>
                <a:spcPct val="90000"/>
              </a:lnSpc>
              <a:spcBef>
                <a:spcPts val="1200"/>
              </a:spcBef>
              <a:spcAft>
                <a:spcPts val="1200"/>
              </a:spcAft>
              <a:buNone/>
              <a:defRPr/>
            </a:pPr>
            <a:r>
              <a:rPr lang="zh-CN" altLang="en-US" sz="1800" dirty="0">
                <a:latin typeface="+mj-ea"/>
                <a:ea typeface="+mj-ea"/>
                <a:cs typeface="Times New Roman" panose="02020603050405020304" pitchFamily="18" charset="0"/>
                <a:sym typeface="Symbol" panose="05050102010706020507" pitchFamily="18" charset="2"/>
              </a:rPr>
              <a:t>定向基站：</a:t>
            </a:r>
            <a:endParaRPr lang="en-US" altLang="zh-CN" sz="1800" dirty="0">
              <a:latin typeface="+mj-ea"/>
              <a:ea typeface="+mj-ea"/>
              <a:cs typeface="Times New Roman" panose="02020603050405020304" pitchFamily="18" charset="0"/>
              <a:sym typeface="Symbol" panose="05050102010706020507" pitchFamily="18" charset="2"/>
            </a:endParaRP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选用水平波瓣宽度为</a:t>
            </a:r>
            <a:r>
              <a:rPr lang="en-US" altLang="zh-CN" sz="1800" dirty="0">
                <a:latin typeface="+mj-ea"/>
                <a:ea typeface="+mj-ea"/>
                <a:cs typeface="Times New Roman" panose="02020603050405020304" pitchFamily="18" charset="0"/>
                <a:sym typeface="Symbol" panose="05050102010706020507" pitchFamily="18" charset="2"/>
              </a:rPr>
              <a:t>90</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垂直波瓣宽度为</a:t>
            </a:r>
            <a:r>
              <a:rPr lang="en-US" altLang="zh-CN" sz="1800" dirty="0">
                <a:latin typeface="+mj-ea"/>
                <a:ea typeface="+mj-ea"/>
                <a:cs typeface="Times New Roman" panose="02020603050405020304" pitchFamily="18" charset="0"/>
                <a:sym typeface="Symbol" panose="05050102010706020507" pitchFamily="18" charset="2"/>
              </a:rPr>
              <a:t>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7</a:t>
            </a:r>
            <a:r>
              <a:rPr lang="zh-CN" altLang="en-US" sz="1800" dirty="0">
                <a:latin typeface="+mj-ea"/>
                <a:ea typeface="+mj-ea"/>
                <a:cs typeface="Times New Roman" panose="02020603050405020304" pitchFamily="18" charset="0"/>
                <a:sym typeface="Symbol" panose="05050102010706020507" pitchFamily="18" charset="2"/>
              </a:rPr>
              <a:t>的天线</a:t>
            </a:r>
            <a:endParaRPr lang="en-US" altLang="zh-CN" sz="1800" dirty="0">
              <a:latin typeface="+mj-ea"/>
              <a:ea typeface="+mj-ea"/>
              <a:cs typeface="Times New Roman" panose="02020603050405020304" pitchFamily="18" charset="0"/>
              <a:sym typeface="Symbol" panose="05050102010706020507" pitchFamily="18" charset="2"/>
            </a:endParaRP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天线的增益在</a:t>
            </a:r>
            <a:r>
              <a:rPr lang="en-US" altLang="zh-CN" sz="1800" dirty="0">
                <a:latin typeface="+mj-ea"/>
                <a:ea typeface="+mj-ea"/>
                <a:cs typeface="Times New Roman" panose="02020603050405020304" pitchFamily="18" charset="0"/>
                <a:sym typeface="Symbol" panose="05050102010706020507" pitchFamily="18" charset="2"/>
              </a:rPr>
              <a:t>15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18dBi</a:t>
            </a:r>
            <a:r>
              <a:rPr lang="zh-CN" altLang="en-US" sz="1800" dirty="0">
                <a:latin typeface="+mj-ea"/>
                <a:ea typeface="+mj-ea"/>
                <a:cs typeface="Times New Roman" panose="02020603050405020304" pitchFamily="18" charset="0"/>
                <a:sym typeface="Symbol" panose="05050102010706020507" pitchFamily="18" charset="2"/>
              </a:rPr>
              <a:t>之间</a:t>
            </a:r>
          </a:p>
          <a:p>
            <a:pPr marL="457200" lvl="1" indent="0" eaLnBrk="1" hangingPunct="1">
              <a:lnSpc>
                <a:spcPct val="90000"/>
              </a:lnSpc>
              <a:spcBef>
                <a:spcPts val="1200"/>
              </a:spcBef>
              <a:spcAft>
                <a:spcPts val="1200"/>
              </a:spcAft>
              <a:buNone/>
              <a:defRPr/>
            </a:pPr>
            <a:r>
              <a:rPr lang="zh-CN" altLang="en-US" sz="1800" dirty="0">
                <a:latin typeface="+mj-ea"/>
                <a:ea typeface="+mj-ea"/>
                <a:cs typeface="Times New Roman" panose="02020603050405020304" pitchFamily="18" charset="0"/>
                <a:sym typeface="Symbol" panose="05050102010706020507" pitchFamily="18" charset="2"/>
              </a:rPr>
              <a:t>全向基站：</a:t>
            </a:r>
            <a:endParaRPr lang="en-US" altLang="zh-CN" sz="1800" dirty="0">
              <a:latin typeface="+mj-ea"/>
              <a:ea typeface="+mj-ea"/>
              <a:cs typeface="Times New Roman" panose="02020603050405020304" pitchFamily="18" charset="0"/>
              <a:sym typeface="Symbol" panose="05050102010706020507" pitchFamily="18" charset="2"/>
            </a:endParaRP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选用垂直波瓣宽度为</a:t>
            </a:r>
            <a:r>
              <a:rPr lang="en-US" altLang="zh-CN" sz="1800" dirty="0">
                <a:latin typeface="+mj-ea"/>
                <a:ea typeface="+mj-ea"/>
                <a:cs typeface="Times New Roman" panose="02020603050405020304" pitchFamily="18" charset="0"/>
                <a:sym typeface="Symbol" panose="05050102010706020507" pitchFamily="18" charset="2"/>
              </a:rPr>
              <a:t>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7</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增益在</a:t>
            </a:r>
            <a:r>
              <a:rPr lang="en-US" altLang="zh-CN" sz="1800" dirty="0">
                <a:latin typeface="+mj-ea"/>
                <a:ea typeface="+mj-ea"/>
                <a:cs typeface="Times New Roman" panose="02020603050405020304" pitchFamily="18" charset="0"/>
                <a:sym typeface="Symbol" panose="05050102010706020507" pitchFamily="18" charset="2"/>
              </a:rPr>
              <a:t>9</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12dBi</a:t>
            </a:r>
            <a:r>
              <a:rPr lang="zh-CN" altLang="en-US" sz="1800" dirty="0">
                <a:latin typeface="+mj-ea"/>
                <a:ea typeface="+mj-ea"/>
                <a:cs typeface="Times New Roman" panose="02020603050405020304" pitchFamily="18" charset="0"/>
                <a:sym typeface="Symbol" panose="05050102010706020507" pitchFamily="18" charset="2"/>
              </a:rPr>
              <a:t>之间的天线</a:t>
            </a:r>
          </a:p>
        </p:txBody>
      </p:sp>
      <p:graphicFrame>
        <p:nvGraphicFramePr>
          <p:cNvPr id="10" name="Object 2"/>
          <p:cNvGraphicFramePr>
            <a:graphicFrameLocks noChangeAspect="1"/>
          </p:cNvGraphicFramePr>
          <p:nvPr/>
        </p:nvGraphicFramePr>
        <p:xfrm>
          <a:off x="7149926" y="1519383"/>
          <a:ext cx="2036762" cy="1652588"/>
        </p:xfrm>
        <a:graphic>
          <a:graphicData uri="http://schemas.openxmlformats.org/presentationml/2006/ole">
            <mc:AlternateContent xmlns:mc="http://schemas.openxmlformats.org/markup-compatibility/2006">
              <mc:Choice xmlns:v="urn:schemas-microsoft-com:vml" Requires="v">
                <p:oleObj name="CorelDRAW" r:id="rId3" imgW="1969770" imgH="1597660" progId="CorelDRAW.Graphic.9">
                  <p:embed/>
                </p:oleObj>
              </mc:Choice>
              <mc:Fallback>
                <p:oleObj name="CorelDRAW" r:id="rId3" imgW="1969770" imgH="1597660" progId="CorelDRAW.Graphic.9">
                  <p:embed/>
                  <p:pic>
                    <p:nvPicPr>
                      <p:cNvPr id="0" name="图片 307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926" y="1519383"/>
                        <a:ext cx="2036762" cy="165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 name="Picture 4" descr="城市西沟南部西望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1738" y="3697579"/>
            <a:ext cx="3513138"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522559"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水平和垂直波瓣宽度的选择建议</a:t>
            </a:r>
            <a:r>
              <a:rPr lang="en-US" altLang="zh-CN" sz="2000" b="1" dirty="0">
                <a:solidFill>
                  <a:srgbClr val="005BAA"/>
                </a:solidFill>
                <a:latin typeface="微软雅黑" panose="020B0503020204020204" charset="-122"/>
              </a:rPr>
              <a:t>3</a:t>
            </a:r>
          </a:p>
        </p:txBody>
      </p:sp>
      <p:sp>
        <p:nvSpPr>
          <p:cNvPr id="8" name="Rectangle 13"/>
          <p:cNvSpPr txBox="1">
            <a:spLocks noChangeArrowheads="1"/>
          </p:cNvSpPr>
          <p:nvPr/>
        </p:nvSpPr>
        <p:spPr bwMode="auto">
          <a:xfrm>
            <a:off x="1171427" y="2699278"/>
            <a:ext cx="6155170" cy="3720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marR="0" lvl="0" indent="0">
              <a:lnSpc>
                <a:spcPct val="100000"/>
              </a:lnSpc>
              <a:buClrTx/>
              <a:buSzTx/>
              <a:buNone/>
              <a:defRPr/>
            </a:pPr>
            <a:r>
              <a:rPr lang="zh-CN" altLang="en-US" sz="2400" kern="0" dirty="0">
                <a:solidFill>
                  <a:srgbClr val="FF0000"/>
                </a:solidFill>
                <a:latin typeface="+mj-ea"/>
                <a:ea typeface="+mj-ea"/>
                <a:cs typeface="Times New Roman" panose="02020603050405020304" pitchFamily="18" charset="0"/>
              </a:rPr>
              <a:t>水面（大的湖泊、海面等）、戈壁滩、沙漠</a:t>
            </a:r>
          </a:p>
          <a:p>
            <a:pPr marL="457200" marR="0" lvl="1" indent="0" eaLnBrk="1" hangingPunct="1">
              <a:lnSpc>
                <a:spcPct val="90000"/>
              </a:lnSpc>
              <a:spcBef>
                <a:spcPts val="1200"/>
              </a:spcBef>
              <a:spcAft>
                <a:spcPts val="1200"/>
              </a:spcAft>
              <a:buClrTx/>
              <a:buSzTx/>
              <a:buNone/>
              <a:defRPr/>
            </a:pPr>
            <a:r>
              <a:rPr lang="zh-CN" altLang="en-US" sz="1800" dirty="0">
                <a:latin typeface="+mj-ea"/>
                <a:ea typeface="+mj-ea"/>
                <a:cs typeface="Times New Roman" panose="02020603050405020304" pitchFamily="18" charset="0"/>
                <a:sym typeface="Symbol" panose="05050102010706020507" pitchFamily="18" charset="2"/>
              </a:rPr>
              <a:t>定向基站：</a:t>
            </a:r>
            <a:endParaRPr lang="en-US" altLang="zh-CN" sz="1800" dirty="0">
              <a:latin typeface="+mj-ea"/>
              <a:ea typeface="+mj-ea"/>
              <a:cs typeface="Times New Roman" panose="02020603050405020304" pitchFamily="18" charset="0"/>
              <a:sym typeface="Symbol" panose="05050102010706020507" pitchFamily="18" charset="2"/>
            </a:endParaRPr>
          </a:p>
          <a:p>
            <a:pPr marL="685800" marR="0" lvl="1" indent="-228600" eaLnBrk="1" hangingPunct="1">
              <a:lnSpc>
                <a:spcPct val="90000"/>
              </a:lnSpc>
              <a:spcBef>
                <a:spcPts val="0"/>
              </a:spcBef>
              <a:buClrTx/>
              <a:buSzTx/>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如果要求覆盖的区域比较开阔，考虑选用水平波瓣宽度为</a:t>
            </a:r>
            <a:r>
              <a:rPr lang="en-US" altLang="zh-CN" sz="1800" dirty="0">
                <a:latin typeface="+mj-ea"/>
                <a:ea typeface="+mj-ea"/>
                <a:cs typeface="Times New Roman" panose="02020603050405020304" pitchFamily="18" charset="0"/>
                <a:sym typeface="Symbol" panose="05050102010706020507" pitchFamily="18" charset="2"/>
              </a:rPr>
              <a:t>90</a:t>
            </a:r>
            <a:r>
              <a:rPr lang="zh-CN" altLang="en-US" sz="1800" dirty="0">
                <a:latin typeface="+mj-ea"/>
                <a:ea typeface="+mj-ea"/>
                <a:cs typeface="Times New Roman" panose="02020603050405020304" pitchFamily="18" charset="0"/>
                <a:sym typeface="Symbol" panose="05050102010706020507" pitchFamily="18" charset="2"/>
              </a:rPr>
              <a:t>或</a:t>
            </a:r>
            <a:r>
              <a:rPr lang="en-US" altLang="zh-CN" sz="1800" dirty="0">
                <a:latin typeface="+mj-ea"/>
                <a:ea typeface="+mj-ea"/>
                <a:cs typeface="Times New Roman" panose="02020603050405020304" pitchFamily="18" charset="0"/>
                <a:sym typeface="Symbol" panose="05050102010706020507" pitchFamily="18" charset="2"/>
              </a:rPr>
              <a:t>105</a:t>
            </a:r>
          </a:p>
          <a:p>
            <a:pPr marL="685800" marR="0" lvl="1" indent="-228600" eaLnBrk="1" hangingPunct="1">
              <a:lnSpc>
                <a:spcPct val="90000"/>
              </a:lnSpc>
              <a:spcBef>
                <a:spcPts val="0"/>
              </a:spcBef>
              <a:buClrTx/>
              <a:buSzTx/>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垂直波瓣宽度为</a:t>
            </a:r>
            <a:r>
              <a:rPr lang="en-US" altLang="zh-CN" sz="1800" dirty="0">
                <a:latin typeface="+mj-ea"/>
                <a:ea typeface="+mj-ea"/>
                <a:cs typeface="Times New Roman" panose="02020603050405020304" pitchFamily="18" charset="0"/>
                <a:sym typeface="Symbol" panose="05050102010706020507" pitchFamily="18" charset="2"/>
              </a:rPr>
              <a:t>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7</a:t>
            </a:r>
            <a:r>
              <a:rPr lang="zh-CN" altLang="en-US" sz="1800" dirty="0">
                <a:latin typeface="+mj-ea"/>
                <a:ea typeface="+mj-ea"/>
                <a:cs typeface="Times New Roman" panose="02020603050405020304" pitchFamily="18" charset="0"/>
                <a:sym typeface="Symbol" panose="05050102010706020507" pitchFamily="18" charset="2"/>
              </a:rPr>
              <a:t>的天线</a:t>
            </a:r>
            <a:endParaRPr lang="en-US" altLang="zh-CN" sz="1800" dirty="0">
              <a:latin typeface="+mj-ea"/>
              <a:ea typeface="+mj-ea"/>
              <a:cs typeface="Times New Roman" panose="02020603050405020304" pitchFamily="18" charset="0"/>
              <a:sym typeface="Symbol" panose="05050102010706020507" pitchFamily="18" charset="2"/>
            </a:endParaRPr>
          </a:p>
          <a:p>
            <a:pPr marL="685800" marR="0" lvl="1" indent="-228600" eaLnBrk="1" hangingPunct="1">
              <a:lnSpc>
                <a:spcPct val="90000"/>
              </a:lnSpc>
              <a:spcBef>
                <a:spcPts val="0"/>
              </a:spcBef>
              <a:buClrTx/>
              <a:buSzTx/>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天线增益在</a:t>
            </a:r>
            <a:r>
              <a:rPr lang="en-US" altLang="zh-CN" sz="1800" dirty="0">
                <a:latin typeface="+mj-ea"/>
                <a:ea typeface="+mj-ea"/>
                <a:cs typeface="Times New Roman" panose="02020603050405020304" pitchFamily="18" charset="0"/>
                <a:sym typeface="Symbol" panose="05050102010706020507" pitchFamily="18" charset="2"/>
              </a:rPr>
              <a:t>14</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18dBi</a:t>
            </a:r>
            <a:r>
              <a:rPr lang="zh-CN" altLang="en-US" sz="1800" dirty="0">
                <a:latin typeface="+mj-ea"/>
                <a:ea typeface="+mj-ea"/>
                <a:cs typeface="Times New Roman" panose="02020603050405020304" pitchFamily="18" charset="0"/>
                <a:sym typeface="Symbol" panose="05050102010706020507" pitchFamily="18" charset="2"/>
              </a:rPr>
              <a:t>之间；</a:t>
            </a:r>
            <a:endParaRPr lang="en-US" altLang="zh-CN" sz="1800" dirty="0">
              <a:latin typeface="+mj-ea"/>
              <a:ea typeface="+mj-ea"/>
              <a:cs typeface="Times New Roman" panose="02020603050405020304" pitchFamily="18" charset="0"/>
              <a:sym typeface="Symbol" panose="05050102010706020507" pitchFamily="18" charset="2"/>
            </a:endParaRPr>
          </a:p>
          <a:p>
            <a:pPr marL="685800" marR="0" lvl="1" indent="-228600" eaLnBrk="1" hangingPunct="1">
              <a:lnSpc>
                <a:spcPct val="90000"/>
              </a:lnSpc>
              <a:spcBef>
                <a:spcPts val="0"/>
              </a:spcBef>
              <a:buClrTx/>
              <a:buSzTx/>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如果要求覆盖距离比较远但宽度不太大（如狭长湖面，地形影响等），可考虑采用</a:t>
            </a:r>
            <a:r>
              <a:rPr lang="en-US" altLang="zh-CN" sz="1800" dirty="0">
                <a:latin typeface="+mj-ea"/>
                <a:ea typeface="+mj-ea"/>
                <a:cs typeface="Times New Roman" panose="02020603050405020304" pitchFamily="18" charset="0"/>
                <a:sym typeface="Symbol" panose="05050102010706020507" pitchFamily="18" charset="2"/>
              </a:rPr>
              <a:t>65</a:t>
            </a:r>
            <a:r>
              <a:rPr lang="zh-CN" altLang="en-US" sz="1800" dirty="0">
                <a:latin typeface="+mj-ea"/>
                <a:ea typeface="+mj-ea"/>
                <a:cs typeface="Times New Roman" panose="02020603050405020304" pitchFamily="18" charset="0"/>
                <a:sym typeface="Symbol" panose="05050102010706020507" pitchFamily="18" charset="2"/>
              </a:rPr>
              <a:t>等窄波束天线。</a:t>
            </a:r>
            <a:endParaRPr kumimoji="1" lang="zh-CN" altLang="en-US" sz="1800" i="0" u="none" strike="noStrike" kern="0" cap="none" spc="0" normalizeH="0" baseline="0" noProof="0" dirty="0">
              <a:ln>
                <a:noFill/>
              </a:ln>
              <a:solidFill>
                <a:srgbClr val="000000"/>
              </a:solidFill>
              <a:effectLst/>
              <a:uLnTx/>
              <a:uFillTx/>
              <a:latin typeface="+mj-ea"/>
              <a:ea typeface="+mj-ea"/>
              <a:cs typeface="Times New Roman" panose="02020603050405020304" pitchFamily="18" charset="0"/>
              <a:sym typeface="Symbol" panose="05050102010706020507" pitchFamily="18" charset="2"/>
            </a:endParaRPr>
          </a:p>
          <a:p>
            <a:pPr marL="457200" lvl="1" indent="0" eaLnBrk="1" hangingPunct="1">
              <a:lnSpc>
                <a:spcPct val="90000"/>
              </a:lnSpc>
              <a:spcBef>
                <a:spcPts val="1200"/>
              </a:spcBef>
              <a:spcAft>
                <a:spcPts val="1200"/>
              </a:spcAft>
              <a:buNone/>
              <a:defRPr/>
            </a:pPr>
            <a:r>
              <a:rPr lang="zh-CN" altLang="en-US" sz="1800" dirty="0">
                <a:latin typeface="+mj-ea"/>
                <a:ea typeface="+mj-ea"/>
                <a:cs typeface="Times New Roman" panose="02020603050405020304" pitchFamily="18" charset="0"/>
                <a:sym typeface="Symbol" panose="05050102010706020507" pitchFamily="18" charset="2"/>
              </a:rPr>
              <a:t>全向基站：</a:t>
            </a:r>
            <a:endParaRPr lang="en-US" altLang="zh-CN" sz="1800" dirty="0">
              <a:latin typeface="+mj-ea"/>
              <a:ea typeface="+mj-ea"/>
              <a:cs typeface="Times New Roman" panose="02020603050405020304" pitchFamily="18" charset="0"/>
              <a:sym typeface="Symbol" panose="05050102010706020507" pitchFamily="18" charset="2"/>
            </a:endParaRP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选用垂直波瓣宽度为</a:t>
            </a:r>
            <a:r>
              <a:rPr lang="en-US" altLang="zh-CN" sz="1800" dirty="0">
                <a:latin typeface="+mj-ea"/>
                <a:ea typeface="+mj-ea"/>
                <a:cs typeface="Times New Roman" panose="02020603050405020304" pitchFamily="18" charset="0"/>
                <a:sym typeface="Symbol" panose="05050102010706020507" pitchFamily="18" charset="2"/>
              </a:rPr>
              <a:t>5</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7</a:t>
            </a:r>
          </a:p>
          <a:p>
            <a:pPr marL="685800" lvl="1" indent="-228600" eaLnBrk="1" hangingPunct="1">
              <a:lnSpc>
                <a:spcPct val="90000"/>
              </a:lnSpc>
              <a:spcBef>
                <a:spcPts val="0"/>
              </a:spcBef>
              <a:buFont typeface="Arial" panose="020B0604020202020204" pitchFamily="34" charset="0"/>
              <a:buChar char="•"/>
              <a:defRPr/>
            </a:pPr>
            <a:r>
              <a:rPr lang="zh-CN" altLang="en-US" sz="1800" dirty="0">
                <a:latin typeface="+mj-ea"/>
                <a:ea typeface="+mj-ea"/>
                <a:cs typeface="Times New Roman" panose="02020603050405020304" pitchFamily="18" charset="0"/>
                <a:sym typeface="Symbol" panose="05050102010706020507" pitchFamily="18" charset="2"/>
              </a:rPr>
              <a:t>增益在</a:t>
            </a:r>
            <a:r>
              <a:rPr lang="en-US" altLang="zh-CN" sz="1800" dirty="0">
                <a:latin typeface="+mj-ea"/>
                <a:ea typeface="+mj-ea"/>
                <a:cs typeface="Times New Roman" panose="02020603050405020304" pitchFamily="18" charset="0"/>
                <a:sym typeface="Symbol" panose="05050102010706020507" pitchFamily="18" charset="2"/>
              </a:rPr>
              <a:t>9</a:t>
            </a:r>
            <a:r>
              <a:rPr lang="zh-CN" altLang="en-US" sz="1800" dirty="0">
                <a:latin typeface="+mj-ea"/>
                <a:ea typeface="+mj-ea"/>
                <a:cs typeface="Times New Roman" panose="02020603050405020304" pitchFamily="18" charset="0"/>
                <a:sym typeface="Symbol" panose="05050102010706020507" pitchFamily="18" charset="2"/>
              </a:rPr>
              <a:t>～</a:t>
            </a:r>
            <a:r>
              <a:rPr lang="en-US" altLang="zh-CN" sz="1800" dirty="0">
                <a:latin typeface="+mj-ea"/>
                <a:ea typeface="+mj-ea"/>
                <a:cs typeface="Times New Roman" panose="02020603050405020304" pitchFamily="18" charset="0"/>
                <a:sym typeface="Symbol" panose="05050102010706020507" pitchFamily="18" charset="2"/>
              </a:rPr>
              <a:t>12dBi</a:t>
            </a:r>
            <a:r>
              <a:rPr lang="zh-CN" altLang="en-US" sz="1800" dirty="0">
                <a:latin typeface="+mj-ea"/>
                <a:ea typeface="+mj-ea"/>
                <a:cs typeface="Times New Roman" panose="02020603050405020304" pitchFamily="18" charset="0"/>
                <a:sym typeface="Symbol" panose="05050102010706020507" pitchFamily="18" charset="2"/>
              </a:rPr>
              <a:t>之间的天线</a:t>
            </a:r>
          </a:p>
        </p:txBody>
      </p:sp>
      <p:graphicFrame>
        <p:nvGraphicFramePr>
          <p:cNvPr id="13" name="Object 2"/>
          <p:cNvGraphicFramePr>
            <a:graphicFrameLocks noChangeAspect="1"/>
          </p:cNvGraphicFramePr>
          <p:nvPr/>
        </p:nvGraphicFramePr>
        <p:xfrm>
          <a:off x="8765620" y="2299457"/>
          <a:ext cx="1739900" cy="1236663"/>
        </p:xfrm>
        <a:graphic>
          <a:graphicData uri="http://schemas.openxmlformats.org/presentationml/2006/ole">
            <mc:AlternateContent xmlns:mc="http://schemas.openxmlformats.org/markup-compatibility/2006">
              <mc:Choice xmlns:v="urn:schemas-microsoft-com:vml" Requires="v">
                <p:oleObj name="CorelDRAW" r:id="rId3" imgW="2301240" imgH="1637665" progId="CorelDRAW.Graphic.9">
                  <p:embed/>
                </p:oleObj>
              </mc:Choice>
              <mc:Fallback>
                <p:oleObj name="CorelDRAW" r:id="rId3" imgW="2301240" imgH="1637665" progId="CorelDRAW.Graphic.9">
                  <p:embed/>
                  <p:pic>
                    <p:nvPicPr>
                      <p:cNvPr id="0" name="图片 348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5620" y="2299457"/>
                        <a:ext cx="1739900" cy="123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4" name="Picture 5" descr="100_50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2020" y="3812345"/>
            <a:ext cx="3322638"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522559"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水平和垂直波瓣宽度的选择建议</a:t>
            </a:r>
            <a:r>
              <a:rPr lang="en-US" altLang="zh-CN" sz="2000" b="1" dirty="0">
                <a:solidFill>
                  <a:srgbClr val="005BAA"/>
                </a:solidFill>
                <a:latin typeface="微软雅黑" panose="020B0503020204020204" charset="-122"/>
              </a:rPr>
              <a:t>4</a:t>
            </a:r>
          </a:p>
        </p:txBody>
      </p:sp>
      <p:sp>
        <p:nvSpPr>
          <p:cNvPr id="9" name="Rectangle 10"/>
          <p:cNvSpPr txBox="1">
            <a:spLocks noChangeArrowheads="1"/>
          </p:cNvSpPr>
          <p:nvPr/>
        </p:nvSpPr>
        <p:spPr bwMode="auto">
          <a:xfrm>
            <a:off x="1192429" y="2836154"/>
            <a:ext cx="5527967" cy="3005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zh-CN" altLang="en-US" sz="2400" kern="0" dirty="0">
                <a:solidFill>
                  <a:srgbClr val="FF0000"/>
                </a:solidFill>
                <a:latin typeface="+mj-ea"/>
                <a:ea typeface="+mj-ea"/>
                <a:cs typeface="Times New Roman" panose="02020603050405020304" pitchFamily="18" charset="0"/>
              </a:rPr>
              <a:t>公路、铁路等狭长地带</a:t>
            </a:r>
            <a:endParaRPr lang="en-US" altLang="zh-CN" sz="2400" kern="0" dirty="0">
              <a:solidFill>
                <a:srgbClr val="FF0000"/>
              </a:solidFill>
              <a:latin typeface="+mj-ea"/>
              <a:ea typeface="+mj-ea"/>
              <a:cs typeface="Times New Roman" panose="02020603050405020304" pitchFamily="18" charset="0"/>
            </a:endParaRPr>
          </a:p>
          <a:p>
            <a:pPr>
              <a:lnSpc>
                <a:spcPct val="150000"/>
              </a:lnSpc>
            </a:pPr>
            <a:r>
              <a:rPr lang="zh-CN" altLang="en-US" sz="1800" kern="0" dirty="0">
                <a:latin typeface="+mj-ea"/>
                <a:ea typeface="+mj-ea"/>
                <a:cs typeface="Times New Roman" panose="02020603050405020304" pitchFamily="18" charset="0"/>
                <a:sym typeface="Symbol" panose="05050102010706020507" pitchFamily="18" charset="2"/>
              </a:rPr>
              <a:t>取决于需覆盖区域的距离和形状</a:t>
            </a:r>
            <a:r>
              <a:rPr lang="en-US" altLang="zh-CN" sz="1800" kern="0" dirty="0">
                <a:latin typeface="+mj-ea"/>
                <a:ea typeface="+mj-ea"/>
                <a:cs typeface="Times New Roman" panose="02020603050405020304" pitchFamily="18" charset="0"/>
                <a:sym typeface="Symbol" panose="05050102010706020507" pitchFamily="18" charset="2"/>
              </a:rPr>
              <a:t>,</a:t>
            </a:r>
            <a:r>
              <a:rPr kumimoji="1" lang="zh-CN" altLang="en-US" sz="1800" kern="0" dirty="0">
                <a:latin typeface="+mj-ea"/>
                <a:ea typeface="+mj-ea"/>
                <a:cs typeface="Times New Roman" panose="02020603050405020304" pitchFamily="18" charset="0"/>
                <a:sym typeface="Symbol" panose="05050102010706020507" pitchFamily="18" charset="2"/>
              </a:rPr>
              <a:t>如果路线较直，可以选用水平波瓣宽度为</a:t>
            </a:r>
            <a:r>
              <a:rPr kumimoji="1" lang="en-US" altLang="zh-CN" sz="1800" kern="0" dirty="0">
                <a:latin typeface="+mj-ea"/>
                <a:ea typeface="+mj-ea"/>
                <a:cs typeface="Times New Roman" panose="02020603050405020304" pitchFamily="18" charset="0"/>
                <a:sym typeface="Symbol" panose="05050102010706020507" pitchFamily="18" charset="2"/>
              </a:rPr>
              <a:t>20</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30</a:t>
            </a:r>
            <a:r>
              <a:rPr kumimoji="1" lang="zh-CN" altLang="en-US" sz="1800" kern="0" dirty="0">
                <a:latin typeface="+mj-ea"/>
                <a:ea typeface="+mj-ea"/>
                <a:cs typeface="Times New Roman" panose="02020603050405020304" pitchFamily="18" charset="0"/>
                <a:sym typeface="Symbol" panose="05050102010706020507" pitchFamily="18" charset="2"/>
              </a:rPr>
              <a:t>，垂直波瓣宽度为</a:t>
            </a:r>
            <a:r>
              <a:rPr kumimoji="1" lang="en-US" altLang="zh-CN" sz="1800" kern="0" dirty="0">
                <a:latin typeface="+mj-ea"/>
                <a:ea typeface="+mj-ea"/>
                <a:cs typeface="Times New Roman" panose="02020603050405020304" pitchFamily="18" charset="0"/>
                <a:sym typeface="Symbol" panose="05050102010706020507" pitchFamily="18" charset="2"/>
              </a:rPr>
              <a:t>5</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7</a:t>
            </a:r>
            <a:r>
              <a:rPr kumimoji="1" lang="zh-CN" altLang="en-US" sz="1800" kern="0" dirty="0">
                <a:latin typeface="+mj-ea"/>
                <a:ea typeface="+mj-ea"/>
                <a:cs typeface="Times New Roman" panose="02020603050405020304" pitchFamily="18" charset="0"/>
                <a:sym typeface="Symbol" panose="05050102010706020507" pitchFamily="18" charset="2"/>
              </a:rPr>
              <a:t>的高增益天线。</a:t>
            </a:r>
            <a:endParaRPr kumimoji="1" lang="en-US" altLang="zh-CN" sz="1800" kern="0" dirty="0">
              <a:latin typeface="+mj-ea"/>
              <a:ea typeface="+mj-ea"/>
              <a:cs typeface="Times New Roman" panose="02020603050405020304" pitchFamily="18" charset="0"/>
              <a:sym typeface="Symbol" panose="05050102010706020507" pitchFamily="18" charset="2"/>
            </a:endParaRPr>
          </a:p>
          <a:p>
            <a:pPr>
              <a:lnSpc>
                <a:spcPct val="150000"/>
              </a:lnSpc>
            </a:pPr>
            <a:r>
              <a:rPr kumimoji="1" lang="zh-CN" altLang="en-US" sz="1800" kern="0" dirty="0">
                <a:latin typeface="+mj-ea"/>
                <a:ea typeface="+mj-ea"/>
                <a:cs typeface="Times New Roman" panose="02020603050405020304" pitchFamily="18" charset="0"/>
                <a:sym typeface="Symbol" panose="05050102010706020507" pitchFamily="18" charset="2"/>
              </a:rPr>
              <a:t>如果路线弯曲幅度较大，根据具体情况可选用水平波瓣宽度为</a:t>
            </a:r>
            <a:r>
              <a:rPr kumimoji="1" lang="en-US" altLang="zh-CN" sz="1800" kern="0" dirty="0">
                <a:latin typeface="+mj-ea"/>
                <a:ea typeface="+mj-ea"/>
                <a:cs typeface="Times New Roman" panose="02020603050405020304" pitchFamily="18" charset="0"/>
                <a:sym typeface="Symbol" panose="05050102010706020507" pitchFamily="18" charset="2"/>
              </a:rPr>
              <a:t>65</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90</a:t>
            </a:r>
            <a:r>
              <a:rPr kumimoji="1" lang="zh-CN" altLang="en-US" sz="1800" kern="0" dirty="0">
                <a:latin typeface="+mj-ea"/>
                <a:ea typeface="+mj-ea"/>
                <a:cs typeface="Times New Roman" panose="02020603050405020304" pitchFamily="18" charset="0"/>
                <a:sym typeface="Symbol" panose="05050102010706020507" pitchFamily="18" charset="2"/>
              </a:rPr>
              <a:t>甚至更大，垂直波瓣宽度为</a:t>
            </a:r>
            <a:r>
              <a:rPr kumimoji="1" lang="en-US" altLang="zh-CN" sz="1800" kern="0" dirty="0">
                <a:latin typeface="+mj-ea"/>
                <a:ea typeface="+mj-ea"/>
                <a:cs typeface="Times New Roman" panose="02020603050405020304" pitchFamily="18" charset="0"/>
                <a:sym typeface="Symbol" panose="05050102010706020507" pitchFamily="18" charset="2"/>
              </a:rPr>
              <a:t>5</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7</a:t>
            </a:r>
            <a:r>
              <a:rPr kumimoji="1" lang="zh-CN" altLang="en-US" sz="1800" kern="0" dirty="0">
                <a:latin typeface="+mj-ea"/>
                <a:ea typeface="+mj-ea"/>
                <a:cs typeface="Times New Roman" panose="02020603050405020304" pitchFamily="18" charset="0"/>
                <a:sym typeface="Symbol" panose="05050102010706020507" pitchFamily="18" charset="2"/>
              </a:rPr>
              <a:t>的天线。</a:t>
            </a:r>
          </a:p>
        </p:txBody>
      </p:sp>
      <p:pic>
        <p:nvPicPr>
          <p:cNvPr id="10" name="Picture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1734" y="4349226"/>
            <a:ext cx="2895600"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5"/>
          <p:cNvGrpSpPr/>
          <p:nvPr/>
        </p:nvGrpSpPr>
        <p:grpSpPr bwMode="auto">
          <a:xfrm>
            <a:off x="7232896" y="1109139"/>
            <a:ext cx="4140200" cy="3671887"/>
            <a:chOff x="3470" y="1162"/>
            <a:chExt cx="2176" cy="2861"/>
          </a:xfrm>
        </p:grpSpPr>
        <p:graphicFrame>
          <p:nvGraphicFramePr>
            <p:cNvPr id="15" name="Object 2"/>
            <p:cNvGraphicFramePr>
              <a:graphicFrameLocks noChangeAspect="1"/>
            </p:cNvGraphicFramePr>
            <p:nvPr/>
          </p:nvGraphicFramePr>
          <p:xfrm>
            <a:off x="3470" y="1661"/>
            <a:ext cx="1860" cy="1475"/>
          </p:xfrm>
          <a:graphic>
            <a:graphicData uri="http://schemas.openxmlformats.org/presentationml/2006/ole">
              <mc:AlternateContent xmlns:mc="http://schemas.openxmlformats.org/markup-compatibility/2006">
                <mc:Choice xmlns:v="urn:schemas-microsoft-com:vml" Requires="v">
                  <p:oleObj name="Visio" r:id="rId4" imgW="7038975" imgH="5572125" progId="Visio.Drawing.11">
                    <p:embed/>
                  </p:oleObj>
                </mc:Choice>
                <mc:Fallback>
                  <p:oleObj name="Visio" r:id="rId4" imgW="7038975" imgH="5572125" progId="Visio.Drawing.11">
                    <p:embed/>
                    <p:pic>
                      <p:nvPicPr>
                        <p:cNvPr id="0" name="图片 338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0" y="1661"/>
                          <a:ext cx="1860" cy="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3"/>
            <p:cNvGraphicFramePr>
              <a:graphicFrameLocks noChangeAspect="1"/>
            </p:cNvGraphicFramePr>
            <p:nvPr/>
          </p:nvGraphicFramePr>
          <p:xfrm>
            <a:off x="4059" y="1162"/>
            <a:ext cx="1497" cy="1289"/>
          </p:xfrm>
          <a:graphic>
            <a:graphicData uri="http://schemas.openxmlformats.org/presentationml/2006/ole">
              <mc:AlternateContent xmlns:mc="http://schemas.openxmlformats.org/markup-compatibility/2006">
                <mc:Choice xmlns:v="urn:schemas-microsoft-com:vml" Requires="v">
                  <p:oleObj name="Visio" r:id="rId6" imgW="5000625" imgH="4314825" progId="Visio.Drawing.11">
                    <p:embed/>
                  </p:oleObj>
                </mc:Choice>
                <mc:Fallback>
                  <p:oleObj name="Visio" r:id="rId6" imgW="5000625" imgH="4314825" progId="Visio.Drawing.11">
                    <p:embed/>
                    <p:pic>
                      <p:nvPicPr>
                        <p:cNvPr id="0" name="图片 338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9" y="1162"/>
                          <a:ext cx="1497" cy="1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4"/>
            <p:cNvGraphicFramePr>
              <a:graphicFrameLocks noChangeAspect="1"/>
            </p:cNvGraphicFramePr>
            <p:nvPr/>
          </p:nvGraphicFramePr>
          <p:xfrm>
            <a:off x="4059" y="2976"/>
            <a:ext cx="1587" cy="1047"/>
          </p:xfrm>
          <a:graphic>
            <a:graphicData uri="http://schemas.openxmlformats.org/presentationml/2006/ole">
              <mc:AlternateContent xmlns:mc="http://schemas.openxmlformats.org/markup-compatibility/2006">
                <mc:Choice xmlns:v="urn:schemas-microsoft-com:vml" Requires="v">
                  <p:oleObj name="Visio" r:id="rId8" imgW="5057775" imgH="3343275" progId="Visio.Drawing.11">
                    <p:embed/>
                  </p:oleObj>
                </mc:Choice>
                <mc:Fallback>
                  <p:oleObj name="Visio" r:id="rId8" imgW="5057775" imgH="3343275" progId="Visio.Drawing.11">
                    <p:embed/>
                    <p:pic>
                      <p:nvPicPr>
                        <p:cNvPr id="0" name="图片 338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9" y="2976"/>
                          <a:ext cx="1587" cy="1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sp>
        <p:nvSpPr>
          <p:cNvPr id="19" name="Rectangle 3"/>
          <p:cNvSpPr txBox="1">
            <a:spLocks noChangeArrowheads="1"/>
          </p:cNvSpPr>
          <p:nvPr/>
        </p:nvSpPr>
        <p:spPr>
          <a:xfrm>
            <a:off x="875064" y="2139262"/>
            <a:ext cx="4522559" cy="56001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anose="05000000000000000000" pitchFamily="2" charset="2"/>
              <a:buChar char="u"/>
            </a:pPr>
            <a:r>
              <a:rPr lang="zh-CN" altLang="en-US" sz="2000" b="1" dirty="0">
                <a:solidFill>
                  <a:srgbClr val="005BAA"/>
                </a:solidFill>
                <a:latin typeface="微软雅黑" panose="020B0503020204020204" charset="-122"/>
              </a:rPr>
              <a:t>水平和垂直波瓣宽度的选择建议</a:t>
            </a:r>
            <a:r>
              <a:rPr lang="en-US" altLang="zh-CN" sz="2000" b="1" dirty="0">
                <a:solidFill>
                  <a:srgbClr val="005BAA"/>
                </a:solidFill>
                <a:latin typeface="微软雅黑" panose="020B0503020204020204" charset="-122"/>
              </a:rPr>
              <a:t>5</a:t>
            </a:r>
          </a:p>
        </p:txBody>
      </p:sp>
      <p:sp>
        <p:nvSpPr>
          <p:cNvPr id="9" name="Rectangle 10"/>
          <p:cNvSpPr txBox="1">
            <a:spLocks noChangeArrowheads="1"/>
          </p:cNvSpPr>
          <p:nvPr/>
        </p:nvSpPr>
        <p:spPr bwMode="auto">
          <a:xfrm>
            <a:off x="1263450" y="3058097"/>
            <a:ext cx="5527967" cy="226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pPr>
            <a:r>
              <a:rPr lang="zh-CN" altLang="en-US" sz="2400" kern="0" dirty="0">
                <a:solidFill>
                  <a:srgbClr val="FF0000"/>
                </a:solidFill>
                <a:latin typeface="+mj-ea"/>
                <a:ea typeface="+mj-ea"/>
                <a:cs typeface="Times New Roman" panose="02020603050405020304" pitchFamily="18" charset="0"/>
              </a:rPr>
              <a:t>地形复杂、落差较大的区域</a:t>
            </a:r>
            <a:endParaRPr lang="en-US" altLang="zh-CN" sz="2400" kern="0" dirty="0">
              <a:solidFill>
                <a:srgbClr val="FF0000"/>
              </a:solidFill>
              <a:latin typeface="+mj-ea"/>
              <a:ea typeface="+mj-ea"/>
              <a:cs typeface="Times New Roman" panose="02020603050405020304" pitchFamily="18" charset="0"/>
            </a:endParaRPr>
          </a:p>
          <a:p>
            <a:pPr marL="342900" lvl="1" indent="-342900">
              <a:lnSpc>
                <a:spcPct val="150000"/>
              </a:lnSpc>
              <a:buChar char="•"/>
            </a:pPr>
            <a:r>
              <a:rPr kumimoji="1" lang="zh-CN" altLang="en-US" sz="1800" kern="0" dirty="0">
                <a:latin typeface="+mj-ea"/>
                <a:ea typeface="+mj-ea"/>
                <a:cs typeface="Times New Roman" panose="02020603050405020304" pitchFamily="18" charset="0"/>
                <a:sym typeface="Symbol" panose="05050102010706020507" pitchFamily="18" charset="2"/>
              </a:rPr>
              <a:t>天线架高高于覆盖区：可根据具体情况选垂直波瓣宽度为</a:t>
            </a:r>
            <a:r>
              <a:rPr kumimoji="1" lang="en-US" altLang="zh-CN" sz="1800" kern="0" dirty="0">
                <a:latin typeface="+mj-ea"/>
                <a:ea typeface="+mj-ea"/>
                <a:cs typeface="Times New Roman" panose="02020603050405020304" pitchFamily="18" charset="0"/>
                <a:sym typeface="Symbol" panose="05050102010706020507" pitchFamily="18" charset="2"/>
              </a:rPr>
              <a:t>10</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18</a:t>
            </a:r>
            <a:r>
              <a:rPr kumimoji="1" lang="zh-CN" altLang="en-US" sz="1800" kern="0" dirty="0">
                <a:latin typeface="+mj-ea"/>
                <a:ea typeface="+mj-ea"/>
                <a:cs typeface="Times New Roman" panose="02020603050405020304" pitchFamily="18" charset="0"/>
                <a:sym typeface="Symbol" panose="05050102010706020507" pitchFamily="18" charset="2"/>
              </a:rPr>
              <a:t>的天线。</a:t>
            </a:r>
          </a:p>
          <a:p>
            <a:pPr marL="342900" lvl="1" indent="-342900">
              <a:lnSpc>
                <a:spcPct val="150000"/>
              </a:lnSpc>
              <a:buChar char="•"/>
            </a:pPr>
            <a:r>
              <a:rPr kumimoji="1" lang="zh-CN" altLang="en-US" sz="1800" kern="0" dirty="0">
                <a:latin typeface="+mj-ea"/>
                <a:ea typeface="+mj-ea"/>
                <a:cs typeface="Times New Roman" panose="02020603050405020304" pitchFamily="18" charset="0"/>
                <a:sym typeface="Symbol" panose="05050102010706020507" pitchFamily="18" charset="2"/>
              </a:rPr>
              <a:t>大片需要覆盖的区域高于天线的架设高度：根据具体情况选</a:t>
            </a:r>
            <a:r>
              <a:rPr kumimoji="1" lang="en-US" altLang="zh-CN" sz="1800" kern="0" dirty="0">
                <a:latin typeface="+mj-ea"/>
                <a:ea typeface="+mj-ea"/>
                <a:cs typeface="Times New Roman" panose="02020603050405020304" pitchFamily="18" charset="0"/>
                <a:sym typeface="Symbol" panose="05050102010706020507" pitchFamily="18" charset="2"/>
              </a:rPr>
              <a:t>18</a:t>
            </a:r>
            <a:r>
              <a:rPr kumimoji="1" lang="zh-CN" altLang="en-US" sz="1800" kern="0" dirty="0">
                <a:latin typeface="+mj-ea"/>
                <a:ea typeface="+mj-ea"/>
                <a:cs typeface="Times New Roman" panose="02020603050405020304" pitchFamily="18" charset="0"/>
                <a:sym typeface="Symbol" panose="05050102010706020507" pitchFamily="18" charset="2"/>
              </a:rPr>
              <a:t>～</a:t>
            </a:r>
            <a:r>
              <a:rPr kumimoji="1" lang="en-US" altLang="zh-CN" sz="1800" kern="0" dirty="0">
                <a:latin typeface="+mj-ea"/>
                <a:ea typeface="+mj-ea"/>
                <a:cs typeface="Times New Roman" panose="02020603050405020304" pitchFamily="18" charset="0"/>
                <a:sym typeface="Symbol" panose="05050102010706020507" pitchFamily="18" charset="2"/>
              </a:rPr>
              <a:t>30</a:t>
            </a:r>
            <a:r>
              <a:rPr kumimoji="1" lang="zh-CN" altLang="en-US" sz="1800" kern="0" dirty="0">
                <a:latin typeface="+mj-ea"/>
                <a:ea typeface="+mj-ea"/>
                <a:cs typeface="Times New Roman" panose="02020603050405020304" pitchFamily="18" charset="0"/>
                <a:sym typeface="Symbol" panose="05050102010706020507" pitchFamily="18" charset="2"/>
              </a:rPr>
              <a:t>大垂直波瓣宽度的天线。</a:t>
            </a:r>
          </a:p>
        </p:txBody>
      </p:sp>
      <p:pic>
        <p:nvPicPr>
          <p:cNvPr id="13" name="Picture 2" descr="落差大的天线覆盖情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6278" y="1635267"/>
            <a:ext cx="3352800" cy="172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descr="远望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9909" y="3614942"/>
            <a:ext cx="3665538"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heckerboard(across)">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任务二：认识天线</a:t>
            </a:r>
          </a:p>
        </p:txBody>
      </p:sp>
      <p:sp>
        <p:nvSpPr>
          <p:cNvPr id="12" name="文本框 11"/>
          <p:cNvSpPr txBox="1"/>
          <p:nvPr/>
        </p:nvSpPr>
        <p:spPr>
          <a:xfrm>
            <a:off x="950813" y="993775"/>
            <a:ext cx="3679572" cy="1079847"/>
          </a:xfrm>
          <a:prstGeom prst="rect">
            <a:avLst/>
          </a:prstGeom>
          <a:noFill/>
        </p:spPr>
        <p:txBody>
          <a:bodyPr wrap="square" rtlCol="0">
            <a:spAutoFit/>
          </a:bodyPr>
          <a:lstStyle/>
          <a:p>
            <a:pPr>
              <a:lnSpc>
                <a:spcPct val="150000"/>
              </a:lnSpc>
            </a:pPr>
            <a:r>
              <a:rPr kumimoji="1" lang="en-US" altLang="zh-CN" sz="2375" b="1" dirty="0">
                <a:latin typeface="微软雅黑" panose="020B0503020204020204" charset="-122"/>
                <a:ea typeface="微软雅黑" panose="020B0503020204020204" charset="-122"/>
                <a:cs typeface="微软雅黑" panose="020B0503020204020204" charset="-122"/>
              </a:rPr>
              <a:t>2.   </a:t>
            </a:r>
            <a:r>
              <a:rPr kumimoji="1" lang="zh-CN" altLang="en-US" sz="2375" b="1" dirty="0">
                <a:latin typeface="微软雅黑" panose="020B0503020204020204" charset="-122"/>
                <a:ea typeface="微软雅黑" panose="020B0503020204020204" charset="-122"/>
                <a:cs typeface="微软雅黑" panose="020B0503020204020204" charset="-122"/>
              </a:rPr>
              <a:t>如何进行天线选型</a:t>
            </a:r>
            <a:endParaRPr kumimoji="1" lang="en-US" altLang="zh-CN" sz="2375" b="1"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900" b="1" dirty="0">
                <a:latin typeface="微软雅黑" panose="020B0503020204020204" charset="-122"/>
                <a:ea typeface="微软雅黑" panose="020B0503020204020204" charset="-122"/>
                <a:cs typeface="微软雅黑" panose="020B0503020204020204" charset="-122"/>
              </a:rPr>
              <a:t>2.5  LTE</a:t>
            </a:r>
            <a:r>
              <a:rPr kumimoji="1" lang="zh-CN" altLang="en-US" sz="1900" b="1" dirty="0">
                <a:latin typeface="微软雅黑" panose="020B0503020204020204" charset="-122"/>
                <a:ea typeface="微软雅黑" panose="020B0503020204020204" charset="-122"/>
                <a:cs typeface="微软雅黑" panose="020B0503020204020204" charset="-122"/>
              </a:rPr>
              <a:t>天线选型建议</a:t>
            </a:r>
          </a:p>
        </p:txBody>
      </p:sp>
      <p:graphicFrame>
        <p:nvGraphicFramePr>
          <p:cNvPr id="2" name="表格 1"/>
          <p:cNvGraphicFramePr>
            <a:graphicFrameLocks noGrp="1"/>
          </p:cNvGraphicFramePr>
          <p:nvPr/>
        </p:nvGraphicFramePr>
        <p:xfrm>
          <a:off x="2275828" y="2439095"/>
          <a:ext cx="7658100" cy="3790070"/>
        </p:xfrm>
        <a:graphic>
          <a:graphicData uri="http://schemas.openxmlformats.org/drawingml/2006/table">
            <a:tbl>
              <a:tblPr>
                <a:tableStyleId>{5C22544A-7EE6-4342-B048-85BDC9FD1C3A}</a:tableStyleId>
              </a:tblPr>
              <a:tblGrid>
                <a:gridCol w="19939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gridCol w="1612900">
                  <a:extLst>
                    <a:ext uri="{9D8B030D-6E8A-4147-A177-3AD203B41FA5}">
                      <a16:colId xmlns:a16="http://schemas.microsoft.com/office/drawing/2014/main" val="20003"/>
                    </a:ext>
                  </a:extLst>
                </a:gridCol>
                <a:gridCol w="1765300">
                  <a:extLst>
                    <a:ext uri="{9D8B030D-6E8A-4147-A177-3AD203B41FA5}">
                      <a16:colId xmlns:a16="http://schemas.microsoft.com/office/drawing/2014/main" val="20004"/>
                    </a:ext>
                  </a:extLst>
                </a:gridCol>
              </a:tblGrid>
              <a:tr h="285750">
                <a:tc>
                  <a:txBody>
                    <a:bodyPr/>
                    <a:lstStyle/>
                    <a:p>
                      <a:pPr algn="ctr" rtl="0" fontAlgn="ctr"/>
                      <a:r>
                        <a:rPr lang="zh-CN" altLang="en-US" sz="1800" u="none" strike="noStrike" dirty="0">
                          <a:effectLst/>
                        </a:rPr>
                        <a:t>地物类型             </a:t>
                      </a:r>
                      <a:endParaRPr lang="zh-CN" altLang="en-US" sz="1800" b="1" i="0" u="none" strike="noStrike" dirty="0">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rowSpan="2">
                  <a:txBody>
                    <a:bodyPr/>
                    <a:lstStyle/>
                    <a:p>
                      <a:pPr algn="ctr" rtl="0" fontAlgn="ctr"/>
                      <a:r>
                        <a:rPr lang="zh-CN" altLang="en-US" sz="1800" u="none" strike="noStrike">
                          <a:effectLst/>
                        </a:rPr>
                        <a:t>市区</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rowSpan="2">
                  <a:txBody>
                    <a:bodyPr/>
                    <a:lstStyle/>
                    <a:p>
                      <a:pPr algn="ctr" rtl="0" fontAlgn="ctr"/>
                      <a:r>
                        <a:rPr lang="zh-CN" altLang="en-US" sz="1800" u="none" strike="noStrike">
                          <a:effectLst/>
                        </a:rPr>
                        <a:t>郊区</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rowSpan="2">
                  <a:txBody>
                    <a:bodyPr/>
                    <a:lstStyle/>
                    <a:p>
                      <a:pPr algn="ctr" rtl="0" fontAlgn="ctr"/>
                      <a:r>
                        <a:rPr lang="zh-CN" altLang="en-US" sz="1800" u="none" strike="noStrike">
                          <a:effectLst/>
                        </a:rPr>
                        <a:t>公路</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rowSpan="2">
                  <a:txBody>
                    <a:bodyPr/>
                    <a:lstStyle/>
                    <a:p>
                      <a:pPr algn="ctr" rtl="0" fontAlgn="ctr"/>
                      <a:r>
                        <a:rPr lang="zh-CN" altLang="en-US" sz="1800" u="none" strike="noStrike">
                          <a:effectLst/>
                        </a:rPr>
                        <a:t>山区</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295275">
                <a:tc>
                  <a:txBody>
                    <a:bodyPr/>
                    <a:lstStyle/>
                    <a:p>
                      <a:pPr algn="ctr" rtl="0" fontAlgn="ctr"/>
                      <a:r>
                        <a:rPr lang="zh-CN" altLang="en-US" sz="1800" u="none" strike="noStrike" dirty="0">
                          <a:effectLst/>
                        </a:rPr>
                        <a:t>参数</a:t>
                      </a:r>
                      <a:endParaRPr lang="zh-CN" altLang="en-US" sz="1800" b="1" i="0" u="none" strike="noStrike" dirty="0">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323850">
                <a:tc>
                  <a:txBody>
                    <a:bodyPr/>
                    <a:lstStyle/>
                    <a:p>
                      <a:pPr algn="ctr" rtl="0" fontAlgn="ctr"/>
                      <a:r>
                        <a:rPr lang="zh-CN" altLang="en-US" sz="1800" u="none" strike="noStrike" dirty="0">
                          <a:effectLst/>
                        </a:rPr>
                        <a:t>天线挂高（</a:t>
                      </a:r>
                      <a:r>
                        <a:rPr lang="en-US" altLang="zh-CN" sz="1800" u="none" strike="noStrike" dirty="0">
                          <a:effectLst/>
                        </a:rPr>
                        <a:t>m</a:t>
                      </a:r>
                      <a:r>
                        <a:rPr lang="zh-CN" altLang="en-US" sz="1800" u="none" strike="noStrike" dirty="0">
                          <a:effectLst/>
                        </a:rPr>
                        <a:t>）</a:t>
                      </a:r>
                      <a:endParaRPr lang="zh-CN" altLang="en-US" sz="1800" b="1" i="0" u="none" strike="noStrike" dirty="0">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20</a:t>
                      </a:r>
                      <a:r>
                        <a:rPr lang="zh-CN" altLang="en-US" sz="1800" u="none" strike="noStrike" dirty="0">
                          <a:effectLst/>
                        </a:rPr>
                        <a:t>～</a:t>
                      </a:r>
                      <a:r>
                        <a:rPr lang="en-US" altLang="zh-CN" sz="1800" u="none" strike="noStrike" dirty="0">
                          <a:effectLst/>
                        </a:rPr>
                        <a:t>30</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30</a:t>
                      </a:r>
                      <a:r>
                        <a:rPr lang="zh-CN" altLang="en-US" sz="1800" u="none" strike="noStrike" dirty="0">
                          <a:effectLst/>
                        </a:rPr>
                        <a:t>～</a:t>
                      </a:r>
                      <a:r>
                        <a:rPr lang="en-US" altLang="zh-CN" sz="1800" u="none" strike="noStrike" dirty="0">
                          <a:effectLst/>
                        </a:rPr>
                        <a:t>40</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&gt;40</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&gt;40</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2"/>
                  </a:ext>
                </a:extLst>
              </a:tr>
              <a:tr h="609600">
                <a:tc>
                  <a:txBody>
                    <a:bodyPr/>
                    <a:lstStyle/>
                    <a:p>
                      <a:pPr algn="ctr" rtl="0" fontAlgn="ctr"/>
                      <a:r>
                        <a:rPr lang="zh-CN" altLang="en-US" sz="1800" u="none" strike="noStrike" dirty="0">
                          <a:effectLst/>
                        </a:rPr>
                        <a:t>天线增益（</a:t>
                      </a:r>
                      <a:r>
                        <a:rPr lang="en-US" altLang="zh-CN" sz="1800" u="none" strike="noStrike" dirty="0" err="1">
                          <a:effectLst/>
                        </a:rPr>
                        <a:t>dbi</a:t>
                      </a:r>
                      <a:r>
                        <a:rPr lang="zh-CN" altLang="en-US" sz="1800" u="none" strike="noStrike" dirty="0">
                          <a:effectLst/>
                        </a:rPr>
                        <a:t>）</a:t>
                      </a:r>
                      <a:endParaRPr lang="zh-CN" altLang="en-US" sz="1800" b="1" i="0" u="none" strike="noStrike" dirty="0">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15</a:t>
                      </a:r>
                      <a:r>
                        <a:rPr lang="zh-CN" altLang="en-US" sz="1800" u="none" strike="noStrike" dirty="0">
                          <a:effectLst/>
                        </a:rPr>
                        <a:t>～</a:t>
                      </a:r>
                      <a:r>
                        <a:rPr lang="en-US" altLang="zh-CN" sz="1800" u="none" strike="noStrike" dirty="0">
                          <a:effectLst/>
                        </a:rPr>
                        <a:t>18</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18</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&gt;18</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15</a:t>
                      </a:r>
                      <a:r>
                        <a:rPr lang="zh-CN" altLang="en-US" sz="1800" u="none" strike="noStrike">
                          <a:effectLst/>
                        </a:rPr>
                        <a:t>～</a:t>
                      </a:r>
                      <a:r>
                        <a:rPr lang="en-US" altLang="zh-CN" sz="1800" u="none" strike="noStrike">
                          <a:effectLst/>
                        </a:rPr>
                        <a:t>18</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3"/>
                  </a:ext>
                </a:extLst>
              </a:tr>
              <a:tr h="538531">
                <a:tc>
                  <a:txBody>
                    <a:bodyPr/>
                    <a:lstStyle/>
                    <a:p>
                      <a:pPr algn="ctr" rtl="0" fontAlgn="ctr"/>
                      <a:r>
                        <a:rPr lang="zh-CN" altLang="en-US" sz="1800" u="none" strike="noStrike">
                          <a:effectLst/>
                        </a:rPr>
                        <a:t>水平波瓣角</a:t>
                      </a:r>
                      <a:r>
                        <a:rPr lang="en-US" altLang="zh-CN" sz="1800" u="none" strike="noStrike">
                          <a:effectLst/>
                        </a:rPr>
                        <a:t>(°)</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60</a:t>
                      </a:r>
                      <a:r>
                        <a:rPr lang="zh-CN" altLang="en-US" sz="1800" u="none" strike="noStrike" dirty="0">
                          <a:effectLst/>
                        </a:rPr>
                        <a:t>～</a:t>
                      </a:r>
                      <a:r>
                        <a:rPr lang="en-US" altLang="zh-CN" sz="1800" u="none" strike="noStrike" dirty="0">
                          <a:effectLst/>
                        </a:rPr>
                        <a:t>65</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90 \105\ 120</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dirty="0">
                          <a:effectLst/>
                        </a:rPr>
                        <a:t>根据实际情况</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根据实际情况</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4"/>
                  </a:ext>
                </a:extLst>
              </a:tr>
              <a:tr h="304800">
                <a:tc>
                  <a:txBody>
                    <a:bodyPr/>
                    <a:lstStyle/>
                    <a:p>
                      <a:pPr algn="ctr" rtl="0" fontAlgn="ctr"/>
                      <a:r>
                        <a:rPr lang="zh-CN" altLang="en-US" sz="1800" u="none" strike="noStrike">
                          <a:effectLst/>
                        </a:rPr>
                        <a:t>机械下倾）</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a:effectLst/>
                        </a:rPr>
                        <a:t>N</a:t>
                      </a:r>
                      <a:endParaRPr lang="en-US"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dirty="0">
                          <a:effectLst/>
                        </a:rPr>
                        <a:t>N</a:t>
                      </a:r>
                      <a:endParaRPr lang="en-US"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dirty="0">
                          <a:effectLst/>
                        </a:rPr>
                        <a:t>Y</a:t>
                      </a:r>
                      <a:endParaRPr lang="en-US"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a:effectLst/>
                        </a:rPr>
                        <a:t>Y</a:t>
                      </a:r>
                      <a:endParaRPr lang="en-US"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5"/>
                  </a:ext>
                </a:extLst>
              </a:tr>
              <a:tr h="304800">
                <a:tc>
                  <a:txBody>
                    <a:bodyPr/>
                    <a:lstStyle/>
                    <a:p>
                      <a:pPr algn="ctr" rtl="0" fontAlgn="ctr"/>
                      <a:r>
                        <a:rPr lang="zh-CN" altLang="en-US" sz="1800" u="none" strike="noStrike">
                          <a:effectLst/>
                        </a:rPr>
                        <a:t>电子下倾</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a:effectLst/>
                        </a:rPr>
                        <a:t>Y</a:t>
                      </a:r>
                      <a:endParaRPr lang="en-US"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dirty="0">
                          <a:effectLst/>
                        </a:rPr>
                        <a:t>Y</a:t>
                      </a:r>
                      <a:endParaRPr lang="en-US"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dirty="0">
                          <a:effectLst/>
                        </a:rPr>
                        <a:t>N</a:t>
                      </a:r>
                      <a:endParaRPr lang="en-US"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sz="1800" u="none" strike="noStrike">
                          <a:effectLst/>
                        </a:rPr>
                        <a:t>N</a:t>
                      </a:r>
                      <a:endParaRPr lang="en-US"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6"/>
                  </a:ext>
                </a:extLst>
              </a:tr>
              <a:tr h="517864">
                <a:tc>
                  <a:txBody>
                    <a:bodyPr/>
                    <a:lstStyle/>
                    <a:p>
                      <a:pPr algn="ctr" rtl="0" fontAlgn="ctr"/>
                      <a:r>
                        <a:rPr lang="zh-CN" altLang="en-US" sz="1800" u="none" strike="noStrike">
                          <a:effectLst/>
                        </a:rPr>
                        <a:t>极化方式</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双极化</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双极化</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dirty="0">
                          <a:effectLst/>
                        </a:rPr>
                        <a:t>单极化</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dirty="0">
                          <a:effectLst/>
                        </a:rPr>
                        <a:t>单极化</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7"/>
                  </a:ext>
                </a:extLst>
              </a:tr>
              <a:tr h="314325">
                <a:tc>
                  <a:txBody>
                    <a:bodyPr/>
                    <a:lstStyle/>
                    <a:p>
                      <a:pPr algn="ctr" rtl="0" fontAlgn="ctr"/>
                      <a:r>
                        <a:rPr lang="zh-CN" altLang="en-US" sz="1800" u="none" strike="noStrike">
                          <a:effectLst/>
                        </a:rPr>
                        <a:t>发射天线个数</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1</a:t>
                      </a:r>
                      <a:r>
                        <a:rPr lang="zh-CN" altLang="en-US" sz="1800" u="none" strike="noStrike">
                          <a:effectLst/>
                        </a:rPr>
                        <a:t>、</a:t>
                      </a:r>
                      <a:r>
                        <a:rPr lang="en-US" altLang="zh-CN" sz="1800" u="none" strike="noStrike">
                          <a:effectLst/>
                        </a:rPr>
                        <a:t>2</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a:effectLst/>
                        </a:rPr>
                        <a:t>1</a:t>
                      </a:r>
                      <a:r>
                        <a:rPr lang="zh-CN" altLang="en-US" sz="1800" u="none" strike="noStrike">
                          <a:effectLst/>
                        </a:rPr>
                        <a:t>、</a:t>
                      </a:r>
                      <a:r>
                        <a:rPr lang="en-US" altLang="zh-CN" sz="1800" u="none" strike="noStrike">
                          <a:effectLst/>
                        </a:rPr>
                        <a:t>2</a:t>
                      </a:r>
                      <a:endParaRPr lang="en-US" altLang="zh-CN" sz="1800" b="0" i="0" u="none" strike="noStrike">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2</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en-US" altLang="zh-CN" sz="1800" u="none" strike="noStrike" dirty="0">
                          <a:effectLst/>
                        </a:rPr>
                        <a:t>2</a:t>
                      </a:r>
                      <a:endParaRPr lang="en-US" altLang="zh-CN" sz="1800" b="0" i="0" u="none" strike="noStrike" dirty="0">
                        <a:solidFill>
                          <a:srgbClr val="000000"/>
                        </a:solidFill>
                        <a:effectLst/>
                        <a:latin typeface="Calibri Light" panose="020F0302020204030204" pitchFamily="34" charset="0"/>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8"/>
                  </a:ext>
                </a:extLst>
              </a:tr>
              <a:tr h="295275">
                <a:tc>
                  <a:txBody>
                    <a:bodyPr/>
                    <a:lstStyle/>
                    <a:p>
                      <a:pPr algn="ctr" rtl="0" fontAlgn="ctr"/>
                      <a:r>
                        <a:rPr lang="zh-CN" altLang="en-US" sz="1800" u="none" strike="noStrike">
                          <a:effectLst/>
                        </a:rPr>
                        <a:t>是否采用宽频天线</a:t>
                      </a:r>
                      <a:endParaRPr lang="zh-CN" altLang="en-US" sz="1800" b="1" i="0" u="none" strike="noStrike">
                        <a:solidFill>
                          <a:srgbClr val="FFFFFF"/>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可以</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可以</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a:effectLst/>
                        </a:rPr>
                        <a:t>可以</a:t>
                      </a:r>
                      <a:endParaRPr lang="zh-CN" altLang="en-US" sz="1800" b="0" i="0" u="none" strike="noStrike">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tc>
                  <a:txBody>
                    <a:bodyPr/>
                    <a:lstStyle/>
                    <a:p>
                      <a:pPr algn="ctr" rtl="0" fontAlgn="ctr"/>
                      <a:r>
                        <a:rPr lang="zh-CN" altLang="en-US" sz="1800" u="none" strike="noStrike" dirty="0">
                          <a:effectLst/>
                        </a:rPr>
                        <a:t>可以</a:t>
                      </a:r>
                      <a:endParaRPr lang="zh-CN" altLang="en-US" sz="1800" b="0" i="0" u="none" strike="noStrike" dirty="0">
                        <a:solidFill>
                          <a:srgbClr val="000000"/>
                        </a:solidFill>
                        <a:effectLst/>
                        <a:latin typeface="微软雅黑 Light" panose="020B0502040204020203" charset="-122"/>
                        <a:ea typeface="宋体" panose="02010600030101010101" pitchFamily="2" charset="-122"/>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任务小结</a:t>
            </a:r>
          </a:p>
        </p:txBody>
      </p:sp>
      <p:sp>
        <p:nvSpPr>
          <p:cNvPr id="29" name="Freeform 29"/>
          <p:cNvSpPr>
            <a:spLocks noEditPoints="1"/>
          </p:cNvSpPr>
          <p:nvPr/>
        </p:nvSpPr>
        <p:spPr bwMode="auto">
          <a:xfrm flipH="1">
            <a:off x="8336766" y="1511929"/>
            <a:ext cx="3663372" cy="3991302"/>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4"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rgbClr val="8F000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333333"/>
              </a:solidFill>
              <a:effectLst/>
              <a:uLnTx/>
              <a:uFillTx/>
              <a:latin typeface="Calibri" panose="020F0502020204030204"/>
              <a:ea typeface="宋体" panose="02010600030101010101" pitchFamily="2" charset="-122"/>
            </a:endParaRPr>
          </a:p>
        </p:txBody>
      </p:sp>
      <p:sp>
        <p:nvSpPr>
          <p:cNvPr id="2" name="矩形 1"/>
          <p:cNvSpPr/>
          <p:nvPr/>
        </p:nvSpPr>
        <p:spPr>
          <a:xfrm>
            <a:off x="1574307" y="2261085"/>
            <a:ext cx="6096000" cy="2569934"/>
          </a:xfrm>
          <a:prstGeom prst="rect">
            <a:avLst/>
          </a:prstGeom>
        </p:spPr>
        <p:txBody>
          <a:bodyPr>
            <a:spAutoFit/>
          </a:bodyPr>
          <a:lstStyle/>
          <a:p>
            <a:pPr marL="285750" indent="-285750" algn="just">
              <a:lnSpc>
                <a:spcPts val="1800"/>
              </a:lnSpc>
              <a:spcBef>
                <a:spcPts val="600"/>
              </a:spcBef>
              <a:spcAft>
                <a:spcPts val="600"/>
              </a:spcAft>
              <a:buFont typeface="Arial" panose="020B0604020202020204" pitchFamily="34" charset="0"/>
              <a:buChar char="•"/>
            </a:pPr>
            <a:r>
              <a:rPr lang="zh-CN" altLang="zh-CN" kern="100" dirty="0">
                <a:latin typeface="+mn-ea"/>
                <a:cs typeface="Arial" panose="020B0604020202020204" pitchFamily="34" charset="0"/>
              </a:rPr>
              <a:t>在无线电设备中，用来辐射和接收无线电波的装置称为天线。</a:t>
            </a:r>
            <a:r>
              <a:rPr lang="zh-CN" altLang="zh-CN" kern="100" dirty="0">
                <a:latin typeface="+mn-ea"/>
                <a:cs typeface="Cambria Math" panose="02040503050406030204" pitchFamily="18" charset="0"/>
              </a:rPr>
              <a:t>天线是将传输线中的电磁能转化成自由空间的电磁波或将空间电磁波转化成传输线中的电磁能的设备。天线是无源器件，仅仅是转化作用而不能放大信号。</a:t>
            </a:r>
            <a:endParaRPr lang="zh-CN" altLang="zh-CN" kern="100" dirty="0">
              <a:latin typeface="+mn-ea"/>
            </a:endParaRPr>
          </a:p>
          <a:p>
            <a:pPr marL="285750" indent="-285750" algn="just">
              <a:lnSpc>
                <a:spcPts val="1800"/>
              </a:lnSpc>
              <a:spcBef>
                <a:spcPts val="600"/>
              </a:spcBef>
              <a:spcAft>
                <a:spcPts val="600"/>
              </a:spcAft>
              <a:buFont typeface="Arial" panose="020B0604020202020204" pitchFamily="34" charset="0"/>
              <a:buChar char="•"/>
            </a:pPr>
            <a:r>
              <a:rPr lang="zh-CN" altLang="zh-CN" kern="100" dirty="0">
                <a:latin typeface="+mn-ea"/>
                <a:cs typeface="Cambria Math" panose="02040503050406030204" pitchFamily="18" charset="0"/>
              </a:rPr>
              <a:t>决定天线性能的参数包括：极化方式、阻抗、半功率角、倾角、前后比、驻波比和天线增益等。能够</a:t>
            </a:r>
            <a:r>
              <a:rPr lang="zh-CN" altLang="zh-CN" kern="100" dirty="0">
                <a:latin typeface="+mn-ea"/>
              </a:rPr>
              <a:t>理解天线参数表、掌握天线覆盖范围的计算方法。</a:t>
            </a:r>
          </a:p>
          <a:p>
            <a:pPr marL="285750" indent="-285750">
              <a:spcBef>
                <a:spcPts val="600"/>
              </a:spcBef>
              <a:spcAft>
                <a:spcPts val="600"/>
              </a:spcAft>
              <a:buFont typeface="Arial" panose="020B0604020202020204" pitchFamily="34" charset="0"/>
              <a:buChar char="•"/>
            </a:pPr>
            <a:r>
              <a:rPr lang="zh-CN" altLang="zh-CN" kern="100" dirty="0">
                <a:latin typeface="+mn-ea"/>
                <a:cs typeface="Times New Roman" panose="02020603050405020304" pitchFamily="18" charset="0"/>
              </a:rPr>
              <a:t>市区、郊区、公路和山区环境特点不同，针对不同地域的网络覆盖需求，具备合理的天线选型能力。</a:t>
            </a:r>
            <a:endParaRPr lang="zh-CN" altLang="en-US"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50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932180" y="2519891"/>
            <a:ext cx="10320866" cy="1637242"/>
          </a:xfrm>
        </p:spPr>
        <p:txBody>
          <a:bodyPr/>
          <a:lstStyle/>
          <a:p>
            <a:pPr lvl="0"/>
            <a:r>
              <a:rPr lang="zh-CN" altLang="en-US" dirty="0"/>
              <a:t>通过本项目的学习，</a:t>
            </a:r>
            <a:r>
              <a:rPr lang="zh-CN" altLang="zh-CN" dirty="0"/>
              <a:t>了解</a:t>
            </a:r>
            <a:r>
              <a:rPr lang="en-US" altLang="zh-CN" dirty="0"/>
              <a:t>LTE</a:t>
            </a:r>
            <a:r>
              <a:rPr lang="zh-CN" altLang="zh-CN" dirty="0"/>
              <a:t>的定义和演进历程，熟悉</a:t>
            </a:r>
            <a:r>
              <a:rPr lang="en-US" altLang="zh-CN" dirty="0"/>
              <a:t>LTE</a:t>
            </a:r>
            <a:r>
              <a:rPr lang="zh-CN" altLang="zh-CN" dirty="0"/>
              <a:t>的主要设计目标和系统架构，掌握</a:t>
            </a:r>
            <a:r>
              <a:rPr lang="en-US" altLang="zh-CN" dirty="0"/>
              <a:t>LTE</a:t>
            </a:r>
            <a:r>
              <a:rPr lang="zh-CN" altLang="zh-CN" dirty="0"/>
              <a:t>各网元的功能，天线覆盖范围的计算，以及不同场景下天线的选型原则</a:t>
            </a:r>
            <a:r>
              <a:rPr lang="zh-CN" altLang="en-US" dirty="0"/>
              <a:t>。可以在工作中完成</a:t>
            </a:r>
            <a:r>
              <a:rPr lang="zh-CN" altLang="zh-CN" dirty="0"/>
              <a:t>不同场景下天线的选型</a:t>
            </a:r>
            <a:r>
              <a:rPr lang="zh-CN" altLang="en-US" dirty="0"/>
              <a:t>，</a:t>
            </a:r>
            <a:r>
              <a:rPr lang="zh-CN" altLang="zh-CN" dirty="0"/>
              <a:t>天线覆盖范围的计算</a:t>
            </a:r>
            <a:r>
              <a:rPr lang="zh-CN" altLang="en-US" dirty="0"/>
              <a:t>等工作。</a:t>
            </a:r>
            <a:endParaRPr lang="zh-CN" altLang="zh-CN" dirty="0"/>
          </a:p>
        </p:txBody>
      </p:sp>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项目总结</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932180" y="700405"/>
            <a:ext cx="9159271" cy="923330"/>
          </a:xfrm>
          <a:prstGeom prst="rect">
            <a:avLst/>
          </a:prstGeom>
          <a:noFill/>
        </p:spPr>
        <p:txBody>
          <a:bodyPr wrap="square" rtlCol="0">
            <a:spAutoFit/>
          </a:bodyPr>
          <a:lstStyle/>
          <a:p>
            <a:pPr algn="l"/>
            <a:r>
              <a:rPr lang="zh-CN" altLang="en-US" sz="5400" b="1" dirty="0">
                <a:solidFill>
                  <a:srgbClr val="BF2021"/>
                </a:solidFill>
                <a:latin typeface="微软雅黑" panose="020B0503020204020204" charset="-122"/>
                <a:ea typeface="微软雅黑" panose="020B0503020204020204" charset="-122"/>
                <a:cs typeface="微软雅黑" panose="020B0503020204020204" charset="-122"/>
              </a:rPr>
              <a:t>拓展训练</a:t>
            </a:r>
            <a:endParaRPr lang="zh-CN" altLang="zh-CN" sz="5400" b="1" dirty="0">
              <a:solidFill>
                <a:srgbClr val="BF2021"/>
              </a:solidFill>
              <a:latin typeface="微软雅黑" panose="020B0503020204020204" charset="-122"/>
              <a:ea typeface="微软雅黑" panose="020B0503020204020204" charset="-122"/>
              <a:cs typeface="微软雅黑" panose="020B0503020204020204" charset="-122"/>
            </a:endParaRPr>
          </a:p>
        </p:txBody>
      </p:sp>
      <p:sp>
        <p:nvSpPr>
          <p:cNvPr id="5" name="TextBox 79"/>
          <p:cNvSpPr txBox="1"/>
          <p:nvPr/>
        </p:nvSpPr>
        <p:spPr>
          <a:xfrm>
            <a:off x="874549" y="1889882"/>
            <a:ext cx="10031283" cy="4196277"/>
          </a:xfrm>
          <a:prstGeom prst="rect">
            <a:avLst/>
          </a:prstGeom>
          <a:noFill/>
        </p:spPr>
        <p:txBody>
          <a:bodyPr wrap="square" rtlCol="0">
            <a:spAutoFit/>
          </a:bodyPr>
          <a:lstStyle/>
          <a:p>
            <a:pPr>
              <a:lnSpc>
                <a:spcPct val="110000"/>
              </a:lnSpc>
            </a:pPr>
            <a:r>
              <a:rPr sz="2375" b="1" dirty="0">
                <a:latin typeface="微软雅黑" panose="020B0503020204020204" charset="-122"/>
                <a:ea typeface="微软雅黑" panose="020B0503020204020204" charset="-122"/>
              </a:rPr>
              <a:t>调研要求：</a:t>
            </a:r>
          </a:p>
          <a:p>
            <a:pPr marL="339725" indent="-339725">
              <a:lnSpc>
                <a:spcPct val="110000"/>
              </a:lnSpc>
              <a:buFont typeface="Wingdings" panose="05000000000000000000" charset="0"/>
              <a:buChar char=""/>
            </a:pPr>
            <a:r>
              <a:rPr lang="zh-CN" altLang="en-US" sz="1900" dirty="0">
                <a:latin typeface="微软雅黑" panose="020B0503020204020204" charset="-122"/>
                <a:ea typeface="微软雅黑" panose="020B0503020204020204" charset="-122"/>
              </a:rPr>
              <a:t>熟悉我国</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的产业化情况。</a:t>
            </a:r>
          </a:p>
          <a:p>
            <a:pPr marL="339725" indent="-339725">
              <a:lnSpc>
                <a:spcPct val="110000"/>
              </a:lnSpc>
              <a:buFont typeface="Wingdings" panose="05000000000000000000" charset="0"/>
              <a:buChar char=""/>
            </a:pPr>
            <a:r>
              <a:rPr lang="zh-CN" altLang="en-US" sz="1900" dirty="0">
                <a:latin typeface="微软雅黑" panose="020B0503020204020204" charset="-122"/>
                <a:ea typeface="微软雅黑" panose="020B0503020204020204" charset="-122"/>
              </a:rPr>
              <a:t>了解</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作为我国</a:t>
            </a:r>
            <a:r>
              <a:rPr lang="en-US" altLang="zh-CN" sz="1900" dirty="0">
                <a:latin typeface="微软雅黑" panose="020B0503020204020204" charset="-122"/>
                <a:ea typeface="微软雅黑" panose="020B0503020204020204" charset="-122"/>
              </a:rPr>
              <a:t>4G</a:t>
            </a:r>
            <a:r>
              <a:rPr lang="zh-CN" altLang="en-US" sz="1900" dirty="0">
                <a:latin typeface="微软雅黑" panose="020B0503020204020204" charset="-122"/>
                <a:ea typeface="微软雅黑" panose="020B0503020204020204" charset="-122"/>
              </a:rPr>
              <a:t>主流技术之一所带来的影响。</a:t>
            </a:r>
          </a:p>
          <a:p>
            <a:pPr>
              <a:lnSpc>
                <a:spcPct val="110000"/>
              </a:lnSpc>
            </a:pPr>
            <a:r>
              <a:rPr sz="2375" b="1" dirty="0">
                <a:latin typeface="微软雅黑" panose="020B0503020204020204" charset="-122"/>
                <a:ea typeface="微软雅黑" panose="020B0503020204020204" charset="-122"/>
              </a:rPr>
              <a:t> </a:t>
            </a:r>
            <a:r>
              <a:rPr sz="2375" b="1" dirty="0" err="1">
                <a:latin typeface="微软雅黑" panose="020B0503020204020204" charset="-122"/>
                <a:ea typeface="微软雅黑" panose="020B0503020204020204" charset="-122"/>
              </a:rPr>
              <a:t>要求</a:t>
            </a:r>
            <a:r>
              <a:rPr sz="2375" b="1" dirty="0">
                <a:latin typeface="微软雅黑" panose="020B0503020204020204" charset="-122"/>
                <a:ea typeface="微软雅黑" panose="020B0503020204020204" charset="-122"/>
              </a:rPr>
              <a:t>：</a:t>
            </a:r>
          </a:p>
          <a:p>
            <a:pPr>
              <a:lnSpc>
                <a:spcPct val="110000"/>
              </a:lnSpc>
            </a:pPr>
            <a:r>
              <a:rPr sz="2375" b="1" dirty="0">
                <a:latin typeface="微软雅黑" panose="020B0503020204020204" charset="-122"/>
                <a:ea typeface="微软雅黑" panose="020B0503020204020204" charset="-122"/>
              </a:rPr>
              <a:t>    </a:t>
            </a:r>
            <a:r>
              <a:rPr lang="zh-CN" altLang="en-US" sz="1900" dirty="0">
                <a:latin typeface="微软雅黑" panose="020B0503020204020204" charset="-122"/>
                <a:ea typeface="微软雅黑" panose="020B0503020204020204" charset="-122"/>
              </a:rPr>
              <a:t>各学员通过调研、搜集网络数据等方式完成。</a:t>
            </a:r>
            <a:endParaRPr lang="en-US" altLang="zh-CN" sz="1900" dirty="0">
              <a:latin typeface="微软雅黑" panose="020B0503020204020204" charset="-122"/>
              <a:ea typeface="微软雅黑" panose="020B0503020204020204" charset="-122"/>
            </a:endParaRPr>
          </a:p>
          <a:p>
            <a:pPr>
              <a:lnSpc>
                <a:spcPct val="110000"/>
              </a:lnSpc>
            </a:pPr>
            <a:r>
              <a:rPr lang="en-US" altLang="zh-CN" sz="1900" dirty="0">
                <a:latin typeface="微软雅黑" panose="020B0503020204020204" charset="-122"/>
                <a:ea typeface="微软雅黑" panose="020B0503020204020204" charset="-122"/>
              </a:rPr>
              <a:t>     </a:t>
            </a:r>
            <a:r>
              <a:rPr lang="zh-CN" altLang="en-US" sz="1900" dirty="0">
                <a:latin typeface="微软雅黑" panose="020B0503020204020204" charset="-122"/>
                <a:ea typeface="微软雅黑" panose="020B0503020204020204" charset="-122"/>
              </a:rPr>
              <a:t>针对</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作为我国</a:t>
            </a:r>
            <a:r>
              <a:rPr lang="en-US" altLang="zh-CN" sz="1900" dirty="0">
                <a:latin typeface="微软雅黑" panose="020B0503020204020204" charset="-122"/>
                <a:ea typeface="微软雅黑" panose="020B0503020204020204" charset="-122"/>
              </a:rPr>
              <a:t>4G</a:t>
            </a:r>
            <a:r>
              <a:rPr lang="zh-CN" altLang="en-US" sz="1900" dirty="0">
                <a:latin typeface="微软雅黑" panose="020B0503020204020204" charset="-122"/>
                <a:ea typeface="微软雅黑" panose="020B0503020204020204" charset="-122"/>
              </a:rPr>
              <a:t>主流技术之一所带来的影响，学员从正反两个角度进行讨论，提出</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产业化的利与弊。</a:t>
            </a:r>
            <a:endParaRPr sz="1900" dirty="0">
              <a:latin typeface="微软雅黑" panose="020B0503020204020204" charset="-122"/>
              <a:ea typeface="微软雅黑" panose="020B0503020204020204" charset="-122"/>
            </a:endParaRPr>
          </a:p>
          <a:p>
            <a:pPr>
              <a:lnSpc>
                <a:spcPct val="110000"/>
              </a:lnSpc>
            </a:pPr>
            <a:r>
              <a:rPr sz="1900" dirty="0">
                <a:latin typeface="微软雅黑" panose="020B0503020204020204" charset="-122"/>
                <a:ea typeface="微软雅黑" panose="020B0503020204020204" charset="-122"/>
              </a:rPr>
              <a:t> </a:t>
            </a:r>
            <a:r>
              <a:rPr sz="2375" b="1" dirty="0">
                <a:latin typeface="微软雅黑" panose="020B0503020204020204" charset="-122"/>
                <a:ea typeface="微软雅黑" panose="020B0503020204020204" charset="-122"/>
              </a:rPr>
              <a:t>考核方式：</a:t>
            </a:r>
          </a:p>
          <a:p>
            <a:pPr>
              <a:lnSpc>
                <a:spcPct val="110000"/>
              </a:lnSpc>
            </a:pPr>
            <a:r>
              <a:rPr sz="2375" b="1" dirty="0">
                <a:latin typeface="微软雅黑" panose="020B0503020204020204" charset="-122"/>
                <a:ea typeface="微软雅黑" panose="020B0503020204020204" charset="-122"/>
              </a:rPr>
              <a:t>    </a:t>
            </a:r>
            <a:r>
              <a:rPr lang="zh-CN" altLang="en-US" sz="1900" dirty="0">
                <a:latin typeface="微软雅黑" panose="020B0503020204020204" charset="-122"/>
                <a:ea typeface="微软雅黑" panose="020B0503020204020204" charset="-122"/>
              </a:rPr>
              <a:t>文档形式</a:t>
            </a:r>
            <a:r>
              <a:rPr sz="1900" dirty="0">
                <a:latin typeface="微软雅黑" panose="020B0503020204020204" charset="-122"/>
                <a:ea typeface="微软雅黑" panose="020B0503020204020204" charset="-122"/>
              </a:rPr>
              <a:t>。</a:t>
            </a:r>
          </a:p>
          <a:p>
            <a:pPr>
              <a:lnSpc>
                <a:spcPct val="110000"/>
              </a:lnSpc>
            </a:pPr>
            <a:r>
              <a:rPr sz="2375" b="1" dirty="0">
                <a:latin typeface="微软雅黑" panose="020B0503020204020204" charset="-122"/>
                <a:ea typeface="微软雅黑" panose="020B0503020204020204" charset="-122"/>
              </a:rPr>
              <a:t> 评估标准：</a:t>
            </a:r>
          </a:p>
          <a:p>
            <a:pPr>
              <a:lnSpc>
                <a:spcPct val="110000"/>
              </a:lnSpc>
            </a:pPr>
            <a:r>
              <a:rPr sz="2375" b="1" dirty="0">
                <a:latin typeface="微软雅黑" panose="020B0503020204020204" charset="-122"/>
                <a:ea typeface="微软雅黑" panose="020B0503020204020204" charset="-122"/>
              </a:rPr>
              <a:t>    </a:t>
            </a:r>
            <a:r>
              <a:rPr lang="en-US" altLang="zh-CN" sz="1900" dirty="0">
                <a:latin typeface="微软雅黑" panose="020B0503020204020204" charset="-122"/>
                <a:ea typeface="微软雅黑" panose="020B0503020204020204" charset="-122"/>
              </a:rPr>
              <a:t>TD-LTE</a:t>
            </a:r>
            <a:r>
              <a:rPr lang="zh-CN" altLang="en-US" sz="1900" dirty="0">
                <a:latin typeface="微软雅黑" panose="020B0503020204020204" charset="-122"/>
                <a:ea typeface="微软雅黑" panose="020B0503020204020204" charset="-122"/>
              </a:rPr>
              <a:t>的产业化情况需包括时间、用户数、设备总投资和供应商等相关的内容</a:t>
            </a:r>
            <a:r>
              <a:rPr sz="1900" dirty="0">
                <a:latin typeface="微软雅黑" panose="020B0503020204020204" charset="-122"/>
                <a:ea typeface="微软雅黑" panose="020B0503020204020204" charset="-122"/>
              </a:rPr>
              <a:t>。</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041684"/>
            <a:ext cx="10515600" cy="1830520"/>
          </a:xfrm>
        </p:spPr>
        <p:txBody>
          <a:bodyPr>
            <a:normAutofit/>
          </a:bodyPr>
          <a:lstStyle/>
          <a:p>
            <a:r>
              <a:rPr lang="zh-CN" altLang="en-US" sz="6700" b="1" dirty="0"/>
              <a:t>谢谢！</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Q3NjQxYmZmN2ZkODIxYWNiNTEzMzQyMTZmNzQ1MmMifQ=="/>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7308"/>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
  <p:tag name="KSO_WM_TEMPLATE_CATEGORY" val="diagram"/>
  <p:tag name="KSO_WM_TEMPLATE_INDEX" val="390"/>
  <p:tag name="KSO_WM_UNIT_INDEX"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390_3*i*10"/>
  <p:tag name="KSO_WM_TEMPLATE_CATEGORY" val="diagram"/>
  <p:tag name="KSO_WM_TEMPLATE_INDEX" val="390"/>
  <p:tag name="KSO_WM_UNIT_INDEX" val="10"/>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3"/>
  <p:tag name="KSO_WM_UNIT_ID" val="diagram390_3*l_i*1_3"/>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14"/>
  <p:tag name="KSO_WM_UNIT_TEXT_FILL_TYPE" val="1"/>
  <p:tag name="KSO_WM_UNIT_USESOURCEFORMAT_APPLY" val="0"/>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4"/>
  <p:tag name="KSO_WM_UNIT_ID" val="diagram390_3*l_i*1_4"/>
  <p:tag name="KSO_WM_UNIT_CLEAR" val="1"/>
  <p:tag name="KSO_WM_UNIT_LAYERLEVEL" val="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 name="KSO_WM_UNIT_USESOURCEFORMAT_APPLY" val="0"/>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2_1"/>
  <p:tag name="KSO_WM_UNIT_ID" val="diagram390_3*l_h_a*1_2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6"/>
  <p:tag name="KSO_WM_UNIT_TEXT_FILL_TYPE" val="1"/>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1"/>
  <p:tag name="KSO_WM_UNIT_ID" val="diagram390_3*l_i*1_1"/>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i"/>
  <p:tag name="KSO_WM_UNIT_INDEX" val="1_2"/>
  <p:tag name="KSO_WM_UNIT_ID" val="diagram390_3*l_i*1_2"/>
  <p:tag name="KSO_WM_UNIT_CLEAR" val="1"/>
  <p:tag name="KSO_WM_UNIT_LAYERLEVEL" val="1_1"/>
  <p:tag name="KSO_WM_BEAUTIFY_FLAG" val="#wm#"/>
  <p:tag name="KSO_WM_TAG_VERSION" val="1.0"/>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390"/>
  <p:tag name="KSO_WM_UNIT_TYPE" val="l_h_a"/>
  <p:tag name="KSO_WM_UNIT_INDEX" val="1_1_1"/>
  <p:tag name="KSO_WM_UNIT_ID" val="diagram390_3*l_h_a*1_1_1"/>
  <p:tag name="KSO_WM_UNIT_CLEAR" val="1"/>
  <p:tag name="KSO_WM_UNIT_LAYERLEVEL" val="1_1_1"/>
  <p:tag name="KSO_WM_UNIT_VALUE" val="21"/>
  <p:tag name="KSO_WM_UNIT_HIGHLIGHT" val="0"/>
  <p:tag name="KSO_WM_UNIT_COMPATIBLE" val="0"/>
  <p:tag name="KSO_WM_BEAUTIFY_FLAG" val="#wm#"/>
  <p:tag name="KSO_WM_UNIT_PRESET_TEXT_INDEX" val="3"/>
  <p:tag name="KSO_WM_UNIT_PRESET_TEXT_LEN" val="12"/>
  <p:tag name="KSO_WM_TAG_VERSION" val="1.0"/>
  <p:tag name="KSO_WM_DIAGRAM_GROUP_CODE" val="l1-1"/>
  <p:tag name="KSO_WM_UNIT_TEXT_FILL_FORE_SCHEMECOLOR_INDEX" val="5"/>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1688</TotalTime>
  <Words>7178</Words>
  <Application>Microsoft Office PowerPoint</Application>
  <PresentationFormat>宽屏</PresentationFormat>
  <Paragraphs>470</Paragraphs>
  <Slides>43</Slides>
  <Notes>22</Notes>
  <HiddenSlides>0</HiddenSlides>
  <MMClips>0</MMClips>
  <ScaleCrop>false</ScaleCrop>
  <HeadingPairs>
    <vt:vector size="8" baseType="variant">
      <vt:variant>
        <vt:lpstr>已用的字体</vt:lpstr>
      </vt:variant>
      <vt:variant>
        <vt:i4>10</vt:i4>
      </vt:variant>
      <vt:variant>
        <vt:lpstr>主题</vt:lpstr>
      </vt:variant>
      <vt:variant>
        <vt:i4>5</vt:i4>
      </vt:variant>
      <vt:variant>
        <vt:lpstr>嵌入 OLE 服务器</vt:lpstr>
      </vt:variant>
      <vt:variant>
        <vt:i4>2</vt:i4>
      </vt:variant>
      <vt:variant>
        <vt:lpstr>幻灯片标题</vt:lpstr>
      </vt:variant>
      <vt:variant>
        <vt:i4>43</vt:i4>
      </vt:variant>
    </vt:vector>
  </HeadingPairs>
  <TitlesOfParts>
    <vt:vector size="60" baseType="lpstr">
      <vt:lpstr>等线</vt:lpstr>
      <vt:lpstr>黑体</vt:lpstr>
      <vt:lpstr>微软雅黑</vt:lpstr>
      <vt:lpstr>微软雅黑 Light</vt:lpstr>
      <vt:lpstr>Arial</vt:lpstr>
      <vt:lpstr>Calibri</vt:lpstr>
      <vt:lpstr>Calibri Light</vt:lpstr>
      <vt:lpstr>Franklin Gothic Medium</vt:lpstr>
      <vt:lpstr>Times New Roman</vt:lpstr>
      <vt:lpstr>Wingdings</vt:lpstr>
      <vt:lpstr>4_自定义设计方案</vt:lpstr>
      <vt:lpstr>自定义设计方案</vt:lpstr>
      <vt:lpstr>1_自定义设计方案</vt:lpstr>
      <vt:lpstr>2_自定义设计方案</vt:lpstr>
      <vt:lpstr>3_自定义设计方案</vt:lpstr>
      <vt:lpstr>CorelDRAW</vt:lpstr>
      <vt:lpstr>Visio</vt:lpstr>
      <vt:lpstr>《无线网络规划与优化》</vt:lpstr>
      <vt:lpstr>PowerPoint 演示文稿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任务二：认识天线</vt:lpstr>
      <vt:lpstr>任务小结</vt:lpstr>
      <vt:lpstr>PowerPoint 演示文稿</vt:lpstr>
      <vt:lpstr>PowerPoint 演示文稿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静 吴</cp:lastModifiedBy>
  <cp:revision>563</cp:revision>
  <dcterms:created xsi:type="dcterms:W3CDTF">2017-08-03T09:01:00Z</dcterms:created>
  <dcterms:modified xsi:type="dcterms:W3CDTF">2025-09-03T13:12:17Z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0C0D845BDF80483FA6DAC818BED4F1E5_12</vt:lpwstr>
  </property>
</Properties>
</file>