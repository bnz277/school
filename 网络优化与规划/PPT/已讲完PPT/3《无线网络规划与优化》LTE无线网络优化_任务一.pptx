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ags/tag4.xml" ContentType="application/vnd.openxmlformats-officedocument.presentationml.tags+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2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1.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2.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4" r:id="rId3"/>
    <p:sldMasterId id="2147483656" r:id="rId4"/>
    <p:sldMasterId id="2147483662" r:id="rId5"/>
  </p:sldMasterIdLst>
  <p:notesMasterIdLst>
    <p:notesMasterId r:id="rId82"/>
  </p:notesMasterIdLst>
  <p:handoutMasterIdLst>
    <p:handoutMasterId r:id="rId83"/>
  </p:handoutMasterIdLst>
  <p:sldIdLst>
    <p:sldId id="272" r:id="rId6"/>
    <p:sldId id="415" r:id="rId7"/>
    <p:sldId id="463" r:id="rId8"/>
    <p:sldId id="464" r:id="rId9"/>
    <p:sldId id="316" r:id="rId10"/>
    <p:sldId id="421" r:id="rId11"/>
    <p:sldId id="465" r:id="rId12"/>
    <p:sldId id="466" r:id="rId13"/>
    <p:sldId id="1447" r:id="rId14"/>
    <p:sldId id="468" r:id="rId15"/>
    <p:sldId id="470" r:id="rId16"/>
    <p:sldId id="471" r:id="rId17"/>
    <p:sldId id="474" r:id="rId18"/>
    <p:sldId id="1448" r:id="rId19"/>
    <p:sldId id="1449" r:id="rId20"/>
    <p:sldId id="1450" r:id="rId21"/>
    <p:sldId id="1451" r:id="rId22"/>
    <p:sldId id="1428" r:id="rId23"/>
    <p:sldId id="1429" r:id="rId24"/>
    <p:sldId id="1430" r:id="rId25"/>
    <p:sldId id="1433" r:id="rId26"/>
    <p:sldId id="1434" r:id="rId27"/>
    <p:sldId id="1435" r:id="rId28"/>
    <p:sldId id="1436" r:id="rId29"/>
    <p:sldId id="1437" r:id="rId30"/>
    <p:sldId id="1438" r:id="rId31"/>
    <p:sldId id="1439" r:id="rId32"/>
    <p:sldId id="1440" r:id="rId33"/>
    <p:sldId id="1441" r:id="rId34"/>
    <p:sldId id="1442" r:id="rId35"/>
    <p:sldId id="1443" r:id="rId36"/>
    <p:sldId id="1444" r:id="rId37"/>
    <p:sldId id="1445" r:id="rId38"/>
    <p:sldId id="1452" r:id="rId39"/>
    <p:sldId id="478" r:id="rId40"/>
    <p:sldId id="479" r:id="rId41"/>
    <p:sldId id="480" r:id="rId42"/>
    <p:sldId id="482" r:id="rId43"/>
    <p:sldId id="484" r:id="rId44"/>
    <p:sldId id="486" r:id="rId45"/>
    <p:sldId id="488" r:id="rId46"/>
    <p:sldId id="1446" r:id="rId47"/>
    <p:sldId id="489" r:id="rId48"/>
    <p:sldId id="490" r:id="rId49"/>
    <p:sldId id="492" r:id="rId50"/>
    <p:sldId id="495" r:id="rId51"/>
    <p:sldId id="494" r:id="rId52"/>
    <p:sldId id="496" r:id="rId53"/>
    <p:sldId id="498" r:id="rId54"/>
    <p:sldId id="497" r:id="rId55"/>
    <p:sldId id="499" r:id="rId56"/>
    <p:sldId id="500" r:id="rId57"/>
    <p:sldId id="501" r:id="rId58"/>
    <p:sldId id="502" r:id="rId59"/>
    <p:sldId id="503" r:id="rId60"/>
    <p:sldId id="504" r:id="rId61"/>
    <p:sldId id="505" r:id="rId62"/>
    <p:sldId id="506" r:id="rId63"/>
    <p:sldId id="507" r:id="rId64"/>
    <p:sldId id="508" r:id="rId65"/>
    <p:sldId id="509" r:id="rId66"/>
    <p:sldId id="510" r:id="rId67"/>
    <p:sldId id="511" r:id="rId68"/>
    <p:sldId id="512" r:id="rId69"/>
    <p:sldId id="513" r:id="rId70"/>
    <p:sldId id="514" r:id="rId71"/>
    <p:sldId id="515" r:id="rId72"/>
    <p:sldId id="516" r:id="rId73"/>
    <p:sldId id="517" r:id="rId74"/>
    <p:sldId id="518" r:id="rId75"/>
    <p:sldId id="519" r:id="rId76"/>
    <p:sldId id="520" r:id="rId77"/>
    <p:sldId id="521" r:id="rId78"/>
    <p:sldId id="522" r:id="rId79"/>
    <p:sldId id="422" r:id="rId80"/>
    <p:sldId id="462" r:id="rId81"/>
  </p:sldIdLst>
  <p:sldSz cx="12192000" cy="6858000"/>
  <p:notesSz cx="7104063" cy="10234613"/>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9181C"/>
    <a:srgbClr val="5B9BD5"/>
    <a:srgbClr val="D6DCE5"/>
    <a:srgbClr val="FCCDB6"/>
    <a:srgbClr val="0076CB"/>
    <a:srgbClr val="C9191C"/>
    <a:srgbClr val="EA9ADF"/>
    <a:srgbClr val="FC9988"/>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3" autoAdjust="0"/>
    <p:restoredTop sz="80607" autoAdjust="0"/>
  </p:normalViewPr>
  <p:slideViewPr>
    <p:cSldViewPr snapToGrid="0" showGuides="1">
      <p:cViewPr varScale="1">
        <p:scale>
          <a:sx n="74" d="100"/>
          <a:sy n="74" d="100"/>
        </p:scale>
        <p:origin x="836" y="56"/>
      </p:cViewPr>
      <p:guideLst>
        <p:guide orient="horz" pos="2190"/>
        <p:guide pos="3840"/>
      </p:guideLst>
    </p:cSldViewPr>
  </p:slideViewPr>
  <p:notesTextViewPr>
    <p:cViewPr>
      <p:scale>
        <a:sx n="300" d="100"/>
        <a:sy n="300" d="100"/>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gs" Target="tags/tag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2025/9/17</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2025/9/17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DB3C-3191-0236-A4C5-FC01BBDE59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7B4C2D-8D2A-3B23-B2D3-6F68A64F24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9FF8BD-047B-7C85-FA27-42F4237199B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3268037-7577-A500-2110-54BAE9C9B8B6}"/>
              </a:ext>
            </a:extLst>
          </p:cNvPr>
          <p:cNvSpPr>
            <a:spLocks noGrp="1"/>
          </p:cNvSpPr>
          <p:nvPr>
            <p:ph type="sldNum" sz="quarter" idx="5"/>
          </p:nvPr>
        </p:nvSpPr>
        <p:spPr/>
        <p:txBody>
          <a:bodyPr/>
          <a:lstStyle/>
          <a:p>
            <a:fld id="{85D0DACE-38E0-42D2-9336-2B707D34BC6D}" type="slidenum">
              <a:rPr lang="zh-CN" altLang="en-US" smtClean="0"/>
              <a:t>14</a:t>
            </a:fld>
            <a:endParaRPr lang="zh-CN" altLang="en-US"/>
          </a:p>
        </p:txBody>
      </p:sp>
    </p:spTree>
    <p:extLst>
      <p:ext uri="{BB962C8B-B14F-4D97-AF65-F5344CB8AC3E}">
        <p14:creationId xmlns:p14="http://schemas.microsoft.com/office/powerpoint/2010/main" val="442532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5B82-CB46-F7E6-39D9-4CECB3C093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A1D195-1D3F-3479-9521-AA7476ED04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308B30-F427-B549-81D5-22955367D2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E1078C3-F604-BAC6-B300-B7DDF2577652}"/>
              </a:ext>
            </a:extLst>
          </p:cNvPr>
          <p:cNvSpPr>
            <a:spLocks noGrp="1"/>
          </p:cNvSpPr>
          <p:nvPr>
            <p:ph type="sldNum" sz="quarter" idx="5"/>
          </p:nvPr>
        </p:nvSpPr>
        <p:spPr/>
        <p:txBody>
          <a:bodyPr/>
          <a:lstStyle/>
          <a:p>
            <a:fld id="{85D0DACE-38E0-42D2-9336-2B707D34BC6D}" type="slidenum">
              <a:rPr lang="zh-CN" altLang="en-US" smtClean="0"/>
              <a:t>15</a:t>
            </a:fld>
            <a:endParaRPr lang="zh-CN" altLang="en-US"/>
          </a:p>
        </p:txBody>
      </p:sp>
    </p:spTree>
    <p:extLst>
      <p:ext uri="{BB962C8B-B14F-4D97-AF65-F5344CB8AC3E}">
        <p14:creationId xmlns:p14="http://schemas.microsoft.com/office/powerpoint/2010/main" val="1741074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C41F-D109-3ADF-21C7-600465E2C3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417910-E1D6-FB1A-AF0E-C8970D0642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46BC8F-DD70-7896-60C6-4502EA3351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1F103ED-0A56-BDB1-79A5-DC67EE85969B}"/>
              </a:ext>
            </a:extLst>
          </p:cNvPr>
          <p:cNvSpPr>
            <a:spLocks noGrp="1"/>
          </p:cNvSpPr>
          <p:nvPr>
            <p:ph type="sldNum" sz="quarter" idx="5"/>
          </p:nvPr>
        </p:nvSpPr>
        <p:spPr/>
        <p:txBody>
          <a:bodyPr/>
          <a:lstStyle/>
          <a:p>
            <a:fld id="{85D0DACE-38E0-42D2-9336-2B707D34BC6D}" type="slidenum">
              <a:rPr lang="zh-CN" altLang="en-US" smtClean="0"/>
              <a:t>16</a:t>
            </a:fld>
            <a:endParaRPr lang="zh-CN" altLang="en-US"/>
          </a:p>
        </p:txBody>
      </p:sp>
    </p:spTree>
    <p:extLst>
      <p:ext uri="{BB962C8B-B14F-4D97-AF65-F5344CB8AC3E}">
        <p14:creationId xmlns:p14="http://schemas.microsoft.com/office/powerpoint/2010/main" val="1292865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01CB-89B3-1B83-8C72-9A9C455FA2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DABEF9-7B2C-F37D-F84E-45762D83FB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AA0B9F-4D65-9005-A544-C47B6DC237F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944EC1B-6B70-4001-1B9B-243BFD7A4D3D}"/>
              </a:ext>
            </a:extLst>
          </p:cNvPr>
          <p:cNvSpPr>
            <a:spLocks noGrp="1"/>
          </p:cNvSpPr>
          <p:nvPr>
            <p:ph type="sldNum" sz="quarter" idx="5"/>
          </p:nvPr>
        </p:nvSpPr>
        <p:spPr/>
        <p:txBody>
          <a:bodyPr/>
          <a:lstStyle/>
          <a:p>
            <a:fld id="{85D0DACE-38E0-42D2-9336-2B707D34BC6D}" type="slidenum">
              <a:rPr lang="zh-CN" altLang="en-US" smtClean="0"/>
              <a:t>17</a:t>
            </a:fld>
            <a:endParaRPr lang="zh-CN" altLang="en-US"/>
          </a:p>
        </p:txBody>
      </p:sp>
    </p:spTree>
    <p:extLst>
      <p:ext uri="{BB962C8B-B14F-4D97-AF65-F5344CB8AC3E}">
        <p14:creationId xmlns:p14="http://schemas.microsoft.com/office/powerpoint/2010/main" val="172817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18</a:t>
            </a:fld>
            <a:endParaRPr lang="zh-CN" altLang="en-US"/>
          </a:p>
        </p:txBody>
      </p:sp>
    </p:spTree>
    <p:extLst>
      <p:ext uri="{BB962C8B-B14F-4D97-AF65-F5344CB8AC3E}">
        <p14:creationId xmlns:p14="http://schemas.microsoft.com/office/powerpoint/2010/main" val="4063175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31822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4056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2376300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21466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2577550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377158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021471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031268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53664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492095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810015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47675" y="744538"/>
            <a:ext cx="5962650" cy="3354387"/>
          </a:xfrm>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136872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01B57-3D4F-0FF9-2D0C-85AB04D02C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446F80-097A-3D07-AE0E-C007FDDB0080}"/>
              </a:ext>
            </a:extLst>
          </p:cNvPr>
          <p:cNvSpPr>
            <a:spLocks noGrp="1" noRot="1" noChangeAspect="1"/>
          </p:cNvSpPr>
          <p:nvPr>
            <p:ph type="sldImg"/>
          </p:nvPr>
        </p:nvSpPr>
        <p:spPr>
          <a:xfrm>
            <a:off x="447675" y="744538"/>
            <a:ext cx="5962650" cy="3354387"/>
          </a:xfrm>
        </p:spPr>
      </p:sp>
      <p:sp>
        <p:nvSpPr>
          <p:cNvPr id="3" name="备注占位符 2">
            <a:extLst>
              <a:ext uri="{FF2B5EF4-FFF2-40B4-BE49-F238E27FC236}">
                <a16:creationId xmlns:a16="http://schemas.microsoft.com/office/drawing/2014/main" id="{B782F382-3FDA-C156-EBE2-05BAF641CBC9}"/>
              </a:ext>
            </a:extLst>
          </p:cNvPr>
          <p:cNvSpPr>
            <a:spLocks noGrp="1"/>
          </p:cNvSpPr>
          <p:nvPr>
            <p:ph type="body" idx="1"/>
          </p:nvPr>
        </p:nvSpPr>
        <p:spPr/>
        <p:txBody>
          <a:bodyPr/>
          <a:lstStyle/>
          <a:p>
            <a:endParaRPr lang="zh-CN" altLang="en-US" dirty="0"/>
          </a:p>
        </p:txBody>
      </p:sp>
      <p:sp>
        <p:nvSpPr>
          <p:cNvPr id="4" name="页眉占位符 3">
            <a:extLst>
              <a:ext uri="{FF2B5EF4-FFF2-40B4-BE49-F238E27FC236}">
                <a16:creationId xmlns:a16="http://schemas.microsoft.com/office/drawing/2014/main" id="{10FD5F06-CD44-4273-8417-B75004BBCE2F}"/>
              </a:ext>
            </a:extLst>
          </p:cNvPr>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a:extLst>
              <a:ext uri="{FF2B5EF4-FFF2-40B4-BE49-F238E27FC236}">
                <a16:creationId xmlns:a16="http://schemas.microsoft.com/office/drawing/2014/main" id="{13CCE539-B184-CE56-6046-63F5FA9A120F}"/>
              </a:ext>
            </a:extLst>
          </p:cNvPr>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3815004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A850E-CEA9-D1BF-6020-D80DD7C77E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FFBC60-B596-B2D2-1F6D-7E42BD86D0F7}"/>
              </a:ext>
            </a:extLst>
          </p:cNvPr>
          <p:cNvSpPr>
            <a:spLocks noGrp="1" noRot="1" noChangeAspect="1"/>
          </p:cNvSpPr>
          <p:nvPr>
            <p:ph type="sldImg"/>
          </p:nvPr>
        </p:nvSpPr>
        <p:spPr>
          <a:xfrm>
            <a:off x="447675" y="744538"/>
            <a:ext cx="5962650" cy="3354387"/>
          </a:xfrm>
        </p:spPr>
      </p:sp>
      <p:sp>
        <p:nvSpPr>
          <p:cNvPr id="3" name="备注占位符 2">
            <a:extLst>
              <a:ext uri="{FF2B5EF4-FFF2-40B4-BE49-F238E27FC236}">
                <a16:creationId xmlns:a16="http://schemas.microsoft.com/office/drawing/2014/main" id="{6E213A69-1FEF-CD40-1B30-1651E25BB678}"/>
              </a:ext>
            </a:extLst>
          </p:cNvPr>
          <p:cNvSpPr>
            <a:spLocks noGrp="1"/>
          </p:cNvSpPr>
          <p:nvPr>
            <p:ph type="body" idx="1"/>
          </p:nvPr>
        </p:nvSpPr>
        <p:spPr/>
        <p:txBody>
          <a:bodyPr/>
          <a:lstStyle/>
          <a:p>
            <a:endParaRPr lang="zh-CN" altLang="en-US" dirty="0"/>
          </a:p>
        </p:txBody>
      </p:sp>
      <p:sp>
        <p:nvSpPr>
          <p:cNvPr id="4" name="页眉占位符 3">
            <a:extLst>
              <a:ext uri="{FF2B5EF4-FFF2-40B4-BE49-F238E27FC236}">
                <a16:creationId xmlns:a16="http://schemas.microsoft.com/office/drawing/2014/main" id="{033B9E91-77ED-CF91-1D8A-9BF11E513FF9}"/>
              </a:ext>
            </a:extLst>
          </p:cNvPr>
          <p:cNvSpPr>
            <a:spLocks noGrp="1"/>
          </p:cNvSpPr>
          <p:nvPr>
            <p:ph type="hdr" sz="quarter"/>
          </p:nvPr>
        </p:nvSpPr>
        <p:spPr>
          <a:xfrm>
            <a:off x="457200" y="131989"/>
            <a:ext cx="2971800" cy="458788"/>
          </a:xfrm>
          <a:prstGeom prst="rect">
            <a:avLst/>
          </a:prstGeom>
        </p:spPr>
        <p:txBody>
          <a:bodyPr/>
          <a:lstStyle/>
          <a:p>
            <a:r>
              <a:rPr lang="en-US" altLang="zh-CN"/>
              <a:t>5G</a:t>
            </a:r>
            <a:r>
              <a:rPr lang="zh-CN" altLang="en-US"/>
              <a:t>站址勘测与规划</a:t>
            </a:r>
            <a:endParaRPr lang="zh-CN" altLang="en-US" dirty="0"/>
          </a:p>
        </p:txBody>
      </p:sp>
      <p:sp>
        <p:nvSpPr>
          <p:cNvPr id="5" name="页脚占位符 4">
            <a:extLst>
              <a:ext uri="{FF2B5EF4-FFF2-40B4-BE49-F238E27FC236}">
                <a16:creationId xmlns:a16="http://schemas.microsoft.com/office/drawing/2014/main" id="{5009C02B-1A6E-82B2-72E3-78DBA439B6BD}"/>
              </a:ext>
            </a:extLst>
          </p:cNvPr>
          <p:cNvSpPr>
            <a:spLocks noGrp="1"/>
          </p:cNvSpPr>
          <p:nvPr>
            <p:ph type="ftr" sz="quarter" idx="4"/>
          </p:nvPr>
        </p:nvSpPr>
        <p:spPr>
          <a:xfrm>
            <a:off x="1280180" y="8586042"/>
            <a:ext cx="4297641" cy="362299"/>
          </a:xfrm>
          <a:prstGeom prst="rect">
            <a:avLst/>
          </a:prstGeom>
        </p:spPr>
        <p:txBody>
          <a:bodyPr/>
          <a:lstStyle/>
          <a:p>
            <a:pPr>
              <a:defRPr/>
            </a:pPr>
            <a:r>
              <a:rPr lang="zh-CN" altLang="en-US"/>
              <a:t>华为技术有限公司  版权所有  未经许可不得扩散</a:t>
            </a:r>
            <a:endParaRPr lang="zh-CN" altLang="en-US" dirty="0"/>
          </a:p>
        </p:txBody>
      </p:sp>
    </p:spTree>
    <p:extLst>
      <p:ext uri="{BB962C8B-B14F-4D97-AF65-F5344CB8AC3E}">
        <p14:creationId xmlns:p14="http://schemas.microsoft.com/office/powerpoint/2010/main" val="2301196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38</a:t>
            </a:fld>
            <a:endParaRPr lang="zh-CN" altLang="en-US"/>
          </a:p>
        </p:txBody>
      </p:sp>
    </p:spTree>
    <p:extLst>
      <p:ext uri="{BB962C8B-B14F-4D97-AF65-F5344CB8AC3E}">
        <p14:creationId xmlns:p14="http://schemas.microsoft.com/office/powerpoint/2010/main" val="32036184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43</a:t>
            </a:fld>
            <a:endParaRPr lang="zh-CN" altLang="en-US"/>
          </a:p>
        </p:txBody>
      </p:sp>
    </p:spTree>
    <p:extLst>
      <p:ext uri="{BB962C8B-B14F-4D97-AF65-F5344CB8AC3E}">
        <p14:creationId xmlns:p14="http://schemas.microsoft.com/office/powerpoint/2010/main" val="682103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48</a:t>
            </a:fld>
            <a:endParaRPr lang="zh-CN" altLang="en-US"/>
          </a:p>
        </p:txBody>
      </p:sp>
    </p:spTree>
    <p:extLst>
      <p:ext uri="{BB962C8B-B14F-4D97-AF65-F5344CB8AC3E}">
        <p14:creationId xmlns:p14="http://schemas.microsoft.com/office/powerpoint/2010/main" val="1644815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71</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72</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73</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74</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75</a:t>
            </a:fld>
            <a:endParaRPr lang="zh-CN" altLang="en-US"/>
          </a:p>
        </p:txBody>
      </p:sp>
    </p:spTree>
    <p:extLst>
      <p:ext uri="{BB962C8B-B14F-4D97-AF65-F5344CB8AC3E}">
        <p14:creationId xmlns:p14="http://schemas.microsoft.com/office/powerpoint/2010/main" val="2065927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33730" y="2171065"/>
            <a:ext cx="9644380" cy="1079500"/>
          </a:xfrm>
        </p:spPr>
        <p:txBody>
          <a:bodyPr anchor="b"/>
          <a:lstStyle>
            <a:lvl1pPr algn="l">
              <a:defRPr sz="5000" b="1"/>
            </a:lvl1pPr>
          </a:lstStyle>
          <a:p>
            <a:r>
              <a:rPr lang="zh-CN" altLang="en-US"/>
              <a:t>单击此处编辑母版标题样式</a:t>
            </a:r>
          </a:p>
        </p:txBody>
      </p:sp>
      <p:sp>
        <p:nvSpPr>
          <p:cNvPr id="3" name="副标题 2"/>
          <p:cNvSpPr>
            <a:spLocks noGrp="1"/>
          </p:cNvSpPr>
          <p:nvPr>
            <p:ph type="subTitle" idx="1"/>
          </p:nvPr>
        </p:nvSpPr>
        <p:spPr>
          <a:xfrm>
            <a:off x="838200" y="3602355"/>
            <a:ext cx="6307455" cy="485140"/>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6" name="标题 5"/>
          <p:cNvSpPr>
            <a:spLocks noGrp="1"/>
          </p:cNvSpPr>
          <p:nvPr>
            <p:ph type="title" hasCustomPrompt="1"/>
          </p:nvPr>
        </p:nvSpPr>
        <p:spPr>
          <a:xfrm>
            <a:off x="983615" y="685165"/>
            <a:ext cx="3374390" cy="1473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9" name="图片占位符 8"/>
          <p:cNvSpPr>
            <a:spLocks noGrp="1" noChangeAspect="1"/>
          </p:cNvSpPr>
          <p:nvPr>
            <p:ph type="pic" idx="1"/>
          </p:nvPr>
        </p:nvSpPr>
        <p:spPr>
          <a:xfrm>
            <a:off x="5193665" y="132461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0" name="文本占位符 9"/>
          <p:cNvSpPr>
            <a:spLocks noGrp="1"/>
          </p:cNvSpPr>
          <p:nvPr>
            <p:ph type="body" sz="half" idx="2"/>
          </p:nvPr>
        </p:nvSpPr>
        <p:spPr>
          <a:xfrm>
            <a:off x="988695" y="261556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2025/9/17</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01390" y="2766060"/>
            <a:ext cx="8090535" cy="1325880"/>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图片占位符 6"/>
          <p:cNvSpPr>
            <a:spLocks noGrp="1" noChangeAspect="1"/>
          </p:cNvSpPr>
          <p:nvPr>
            <p:ph type="pic" idx="1"/>
          </p:nvPr>
        </p:nvSpPr>
        <p:spPr>
          <a:xfrm>
            <a:off x="5398135" y="166497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8" name="文本占位符 7"/>
          <p:cNvSpPr>
            <a:spLocks noGrp="1"/>
          </p:cNvSpPr>
          <p:nvPr>
            <p:ph type="body" sz="half" idx="2"/>
          </p:nvPr>
        </p:nvSpPr>
        <p:spPr>
          <a:xfrm>
            <a:off x="1193165" y="295592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4" name="内容占位符 3"/>
          <p:cNvSpPr>
            <a:spLocks noGrp="1"/>
          </p:cNvSpPr>
          <p:nvPr>
            <p:ph sz="half" idx="1"/>
          </p:nvPr>
        </p:nvSpPr>
        <p:spPr>
          <a:xfrm>
            <a:off x="49974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half" idx="2"/>
          </p:nvPr>
        </p:nvSpPr>
        <p:spPr>
          <a:xfrm>
            <a:off x="621728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74040" y="1395095"/>
            <a:ext cx="6176010"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995160" y="1395095"/>
            <a:ext cx="4571365"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标题 2"/>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6" y="292385"/>
            <a:ext cx="10560048" cy="868363"/>
          </a:xfrm>
        </p:spPr>
        <p:txBody>
          <a:bodyPr/>
          <a:lstStyle>
            <a:lvl1pPr>
              <a:defRPr b="1">
                <a:latin typeface="方正兰亭黑简体" panose="02000000000000000000" pitchFamily="2" charset="-122"/>
                <a:ea typeface="方正兰亭黑简体" panose="02000000000000000000" pitchFamily="2" charset="-122"/>
              </a:defRPr>
            </a:lvl1pPr>
          </a:lstStyle>
          <a:p>
            <a:r>
              <a:rPr lang="zh-CN" altLang="en-US" dirty="0"/>
              <a:t>单击此处编辑母版标题样式</a:t>
            </a:r>
            <a:r>
              <a:rPr lang="en-US" altLang="zh-CN" dirty="0"/>
              <a:t>XX</a:t>
            </a:r>
            <a:endParaRPr lang="zh-CN" altLang="en-US" dirty="0"/>
          </a:p>
        </p:txBody>
      </p:sp>
      <p:sp>
        <p:nvSpPr>
          <p:cNvPr id="3" name="文本占位符 6"/>
          <p:cNvSpPr>
            <a:spLocks noGrp="1"/>
          </p:cNvSpPr>
          <p:nvPr>
            <p:ph type="body" sz="quarter" idx="10" hasCustomPrompt="1"/>
          </p:nvPr>
        </p:nvSpPr>
        <p:spPr>
          <a:xfrm>
            <a:off x="912285" y="1233488"/>
            <a:ext cx="10560048" cy="4680000"/>
          </a:xfrm>
        </p:spPr>
        <p:txBody>
          <a:bodyPr/>
          <a:lstStyle>
            <a:lvl1pPr algn="just">
              <a:defRPr sz="2200">
                <a:latin typeface="方正兰亭黑简体" panose="02000000000000000000" pitchFamily="2" charset="-122"/>
                <a:ea typeface="方正兰亭黑简体" panose="02000000000000000000" pitchFamily="2" charset="-122"/>
              </a:defRPr>
            </a:lvl1pPr>
          </a:lstStyle>
          <a:p>
            <a:r>
              <a:rPr lang="zh-CN" altLang="en-US" dirty="0"/>
              <a:t>单击此处输入文字</a:t>
            </a:r>
            <a:r>
              <a:rPr lang="en-US" altLang="zh-CN" dirty="0"/>
              <a:t>XX</a:t>
            </a:r>
            <a:endParaRPr lang="zh-CN" altLang="en-US" dirty="0"/>
          </a:p>
        </p:txBody>
      </p:sp>
    </p:spTree>
    <p:extLst>
      <p:ext uri="{BB962C8B-B14F-4D97-AF65-F5344CB8AC3E}">
        <p14:creationId xmlns:p14="http://schemas.microsoft.com/office/powerpoint/2010/main" val="3000198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5">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资源 1"/>
          <p:cNvPicPr>
            <a:picLocks noChangeAspect="1"/>
          </p:cNvPicPr>
          <p:nvPr userDrawn="1"/>
        </p:nvPicPr>
        <p:blipFill>
          <a:blip r:embed="rId6"/>
          <a:stretch>
            <a:fillRect/>
          </a:stretch>
        </p:blipFill>
        <p:spPr>
          <a:xfrm>
            <a:off x="9857105" y="5573395"/>
            <a:ext cx="2054860" cy="80708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txStyles>
    <p:titleStyle>
      <a:lvl1pPr algn="l" defTabSz="914400" rtl="0" eaLnBrk="1" latinLnBrk="0" hangingPunct="1">
        <a:lnSpc>
          <a:spcPct val="90000"/>
        </a:lnSpc>
        <a:spcBef>
          <a:spcPct val="0"/>
        </a:spcBef>
        <a:buNone/>
        <a:defRPr sz="2800" kern="1200">
          <a:solidFill>
            <a:srgbClr val="CA171D"/>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7.png"/><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slideLayout" Target="../slideLayouts/slideLayout7.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s>
</file>

<file path=ppt/slides/_rels/slide11.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slideLayout" Target="../slideLayouts/slideLayout7.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12.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Layout" Target="../slideLayouts/slideLayout7.xml"/><Relationship Id="rId5" Type="http://schemas.openxmlformats.org/officeDocument/2006/relationships/tags" Target="../tags/tag48.xml"/><Relationship Id="rId4" Type="http://schemas.openxmlformats.org/officeDocument/2006/relationships/tags" Target="../tags/tag4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xml"/><Relationship Id="rId1" Type="http://schemas.openxmlformats.org/officeDocument/2006/relationships/tags" Target="../tags/tag51.xml"/></Relationships>
</file>

<file path=ppt/slides/_rels/slide3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slideLayout" Target="../slideLayouts/slideLayout7.xml"/><Relationship Id="rId10" Type="http://schemas.openxmlformats.org/officeDocument/2006/relationships/tags" Target="../tags/tag62.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41.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9"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6.xml"/><Relationship Id="rId1" Type="http://schemas.openxmlformats.org/officeDocument/2006/relationships/tags" Target="../tags/tag7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77.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slideLayout" Target="../slideLayouts/slideLayout7.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tags" Target="../tags/tag89.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0" Type="http://schemas.openxmlformats.org/officeDocument/2006/relationships/tags" Target="../tags/tag87.xml"/><Relationship Id="rId4" Type="http://schemas.openxmlformats.org/officeDocument/2006/relationships/tags" Target="../tags/tag81.xml"/><Relationship Id="rId9" Type="http://schemas.openxmlformats.org/officeDocument/2006/relationships/tags" Target="../tags/tag86.xml"/></Relationships>
</file>

<file path=ppt/slides/_rels/slide45.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slideLayout" Target="../slideLayouts/slideLayout7.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5" Type="http://schemas.openxmlformats.org/officeDocument/2006/relationships/tags" Target="../tags/tag94.xml"/><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4.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105.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a:t>
            </a:r>
            <a:r>
              <a:rPr lang="zh-CN" altLang="en-US" dirty="0"/>
              <a:t>无线网络规划与优化</a:t>
            </a:r>
            <a:r>
              <a:rPr lang="en-US" altLang="zh-CN" dirty="0"/>
              <a:t>》</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2813044" y="2277357"/>
            <a:ext cx="6754289" cy="163108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8429"/>
          </a:xfrm>
          <a:prstGeom prst="rect">
            <a:avLst/>
          </a:prstGeom>
          <a:noFill/>
        </p:spPr>
        <p:txBody>
          <a:bodyPr wrap="square" rtlCol="0">
            <a:spAutoFit/>
          </a:bodyPr>
          <a:lstStyle/>
          <a:p>
            <a:pPr algn="dist"/>
            <a:r>
              <a:rPr kumimoji="1" lang="zh-CN" altLang="en-US" sz="1665" dirty="0">
                <a:solidFill>
                  <a:schemeClr val="bg1"/>
                </a:solidFill>
                <a:latin typeface="微软雅黑" panose="020B0503020204020204" charset="-122"/>
                <a:ea typeface="微软雅黑" panose="020B0503020204020204" charset="-122"/>
                <a:cs typeface="微软雅黑" panose="020B0503020204020204" charset="-122"/>
              </a:rPr>
              <a:t>理论篇</a:t>
            </a:r>
          </a:p>
        </p:txBody>
      </p:sp>
      <p:sp>
        <p:nvSpPr>
          <p:cNvPr id="7" name="文本框 6"/>
          <p:cNvSpPr txBox="1"/>
          <p:nvPr/>
        </p:nvSpPr>
        <p:spPr>
          <a:xfrm>
            <a:off x="2793541" y="2783065"/>
            <a:ext cx="6773792" cy="882293"/>
          </a:xfrm>
          <a:prstGeom prst="rect">
            <a:avLst/>
          </a:prstGeom>
          <a:noFill/>
        </p:spPr>
        <p:txBody>
          <a:bodyPr wrap="square" rtlCol="0">
            <a:spAutoFit/>
          </a:bodyPr>
          <a:lstStyle/>
          <a:p>
            <a:pPr algn="dist">
              <a:lnSpc>
                <a:spcPct val="120000"/>
              </a:lnSpc>
            </a:pPr>
            <a:r>
              <a:rPr kumimoji="1" lang="zh-CN" altLang="en-US" sz="4280" b="1" dirty="0">
                <a:latin typeface="微软雅黑" panose="020B0503020204020204" charset="-122"/>
                <a:ea typeface="微软雅黑" panose="020B0503020204020204" charset="-122"/>
                <a:cs typeface="微软雅黑" panose="020B0503020204020204" charset="-122"/>
              </a:rPr>
              <a:t>项目三： </a:t>
            </a:r>
            <a:r>
              <a:rPr kumimoji="1" lang="en-US" altLang="zh-CN" sz="4280" b="1" dirty="0">
                <a:latin typeface="微软雅黑" panose="020B0503020204020204" charset="-122"/>
                <a:ea typeface="微软雅黑" panose="020B0503020204020204" charset="-122"/>
                <a:cs typeface="微软雅黑" panose="020B0503020204020204" charset="-122"/>
              </a:rPr>
              <a:t>LTE</a:t>
            </a:r>
            <a:r>
              <a:rPr kumimoji="1" lang="zh-CN" altLang="en-US" sz="4280" b="1" dirty="0">
                <a:latin typeface="微软雅黑" panose="020B0503020204020204" charset="-122"/>
                <a:ea typeface="微软雅黑" panose="020B0503020204020204" charset="-122"/>
                <a:cs typeface="微软雅黑" panose="020B0503020204020204" charset="-122"/>
              </a:rPr>
              <a:t>无线网络优化</a:t>
            </a:r>
          </a:p>
        </p:txBody>
      </p:sp>
      <p:sp>
        <p:nvSpPr>
          <p:cNvPr id="8" name="椭圆 7"/>
          <p:cNvSpPr/>
          <p:nvPr/>
        </p:nvSpPr>
        <p:spPr>
          <a:xfrm>
            <a:off x="7477216" y="3858754"/>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3852717"/>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067504" y="2311400"/>
            <a:ext cx="5222837" cy="2929884"/>
          </a:xfrm>
          <a:prstGeom prst="rect">
            <a:avLst/>
          </a:prstGeom>
        </p:spPr>
      </p:pic>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项目引入</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
        <p:nvSpPr>
          <p:cNvPr id="5" name="内容占位符 2"/>
          <p:cNvSpPr txBox="1"/>
          <p:nvPr/>
        </p:nvSpPr>
        <p:spPr>
          <a:xfrm>
            <a:off x="6917581" y="3420952"/>
            <a:ext cx="4114486" cy="1066381"/>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en-US" sz="1900" dirty="0">
                <a:latin typeface="微软雅黑" panose="020B0503020204020204" charset="-122"/>
                <a:ea typeface="微软雅黑" panose="020B0503020204020204" charset="-122"/>
              </a:rPr>
              <a:t>玩游戏特别王者荣耀会不间断的出现卡顿，达到</a:t>
            </a:r>
            <a:r>
              <a:rPr lang="en-US" altLang="zh-CN" sz="1900" dirty="0">
                <a:latin typeface="微软雅黑" panose="020B0503020204020204" charset="-122"/>
                <a:ea typeface="微软雅黑" panose="020B0503020204020204" charset="-122"/>
              </a:rPr>
              <a:t>400</a:t>
            </a:r>
            <a:r>
              <a:rPr lang="zh-CN" altLang="en-US" sz="1900" dirty="0">
                <a:latin typeface="微软雅黑" panose="020B0503020204020204" charset="-122"/>
                <a:ea typeface="微软雅黑" panose="020B0503020204020204" charset="-122"/>
              </a:rPr>
              <a:t>多</a:t>
            </a:r>
            <a:r>
              <a:rPr lang="en-US" altLang="zh-CN" sz="1900" dirty="0">
                <a:latin typeface="微软雅黑" panose="020B0503020204020204" charset="-122"/>
                <a:ea typeface="微软雅黑" panose="020B0503020204020204" charset="-122"/>
              </a:rPr>
              <a:t>ping</a:t>
            </a:r>
            <a:r>
              <a:rPr lang="zh-CN" altLang="en-US" sz="1900" dirty="0">
                <a:latin typeface="微软雅黑" panose="020B0503020204020204" charset="-122"/>
                <a:ea typeface="微软雅黑" panose="020B0503020204020204" charset="-122"/>
              </a:rPr>
              <a:t>。</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任务分解</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3"/>
          <a:stretch>
            <a:fillRect/>
          </a:stretch>
        </p:blipFill>
        <p:spPr>
          <a:xfrm>
            <a:off x="1184039" y="1818468"/>
            <a:ext cx="8164485" cy="4650435"/>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grpSp>
        <p:nvGrpSpPr>
          <p:cNvPr id="4" name="组合 3"/>
          <p:cNvGrpSpPr/>
          <p:nvPr>
            <p:custDataLst>
              <p:tags r:id="rId1"/>
            </p:custDataLst>
          </p:nvPr>
        </p:nvGrpSpPr>
        <p:grpSpPr>
          <a:xfrm>
            <a:off x="1064895" y="1462280"/>
            <a:ext cx="9196745" cy="1819946"/>
            <a:chOff x="1689815" y="2362692"/>
            <a:chExt cx="9196745" cy="1819946"/>
          </a:xfrm>
        </p:grpSpPr>
        <p:sp>
          <p:nvSpPr>
            <p:cNvPr id="5" name="矩形 4"/>
            <p:cNvSpPr/>
            <p:nvPr>
              <p:custDataLst>
                <p:tags r:id="rId6"/>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7"/>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7" name="文本框 6"/>
            <p:cNvSpPr txBox="1"/>
            <p:nvPr>
              <p:custDataLst>
                <p:tags r:id="rId8"/>
              </p:custDataLst>
            </p:nvPr>
          </p:nvSpPr>
          <p:spPr>
            <a:xfrm>
              <a:off x="2543678" y="2362692"/>
              <a:ext cx="8342882" cy="1819946"/>
            </a:xfrm>
            <a:prstGeom prst="rect">
              <a:avLst/>
            </a:prstGeom>
            <a:noFill/>
          </p:spPr>
          <p:txBody>
            <a:bodyPr wrap="square" lIns="0" tIns="0" rIns="0" bIns="0" rtlCol="0" anchor="ctr" anchorCtr="0">
              <a:noAutofit/>
            </a:bodyPr>
            <a:lstStyle/>
            <a:p>
              <a:pPr>
                <a:lnSpc>
                  <a:spcPts val="2800"/>
                </a:lnSpc>
              </a:pPr>
              <a:r>
                <a:rPr lang="zh-CN" altLang="en-US" sz="2000" b="1" dirty="0">
                  <a:latin typeface="微软雅黑" panose="020B0503020204020204" charset="-122"/>
                  <a:ea typeface="微软雅黑" panose="020B0503020204020204" charset="-122"/>
                </a:rPr>
                <a:t>任务描述</a:t>
              </a:r>
              <a:r>
                <a:rPr lang="en-US" altLang="zh-CN" sz="2000" b="1" dirty="0">
                  <a:latin typeface="微软雅黑" panose="020B0503020204020204" charset="-122"/>
                  <a:ea typeface="微软雅黑" panose="020B0503020204020204" charset="-122"/>
                </a:rPr>
                <a:t>:</a:t>
              </a:r>
            </a:p>
            <a:p>
              <a:pPr>
                <a:lnSpc>
                  <a:spcPts val="2800"/>
                </a:lnSpc>
              </a:pPr>
              <a:r>
                <a:rPr lang="zh-CN" altLang="en-US" dirty="0">
                  <a:latin typeface="微软雅黑" panose="020B0503020204020204" charset="-122"/>
                </a:rPr>
                <a:t>本任务介绍了</a:t>
              </a:r>
              <a:r>
                <a:rPr lang="en-US" altLang="zh-CN" dirty="0">
                  <a:latin typeface="微软雅黑" panose="020B0503020204020204" charset="-122"/>
                </a:rPr>
                <a:t>LTE</a:t>
              </a:r>
              <a:r>
                <a:rPr lang="zh-CN" altLang="en-US" dirty="0">
                  <a:latin typeface="微软雅黑" panose="020B0503020204020204" charset="-122"/>
                </a:rPr>
                <a:t>无线网络优化流程，优化的各个阶段及实施步骤。</a:t>
              </a:r>
              <a:r>
                <a:rPr lang="en-US" altLang="zh-CN" dirty="0">
                  <a:latin typeface="微软雅黑" panose="020B0503020204020204" charset="-122"/>
                </a:rPr>
                <a:t>LTE</a:t>
              </a:r>
              <a:r>
                <a:rPr lang="zh-CN" altLang="en-US" dirty="0">
                  <a:latin typeface="微软雅黑" panose="020B0503020204020204" charset="-122"/>
                </a:rPr>
                <a:t>网络评估的基本概念，包括无线网络评估的基本目标与无线网络评估的基本原则，以及具体测试时需要用到的专业术语、测试规范与要求，业务测试中涉及的基本指标的定义与要求。</a:t>
              </a:r>
              <a:endParaRPr lang="en-US" altLang="zh-CN" dirty="0">
                <a:solidFill>
                  <a:schemeClr val="tx1"/>
                </a:solidFill>
                <a:latin typeface="微软雅黑" panose="020B0503020204020204" charset="-122"/>
                <a:ea typeface="微软雅黑" panose="020B0503020204020204" charset="-122"/>
                <a:cs typeface="+mj-cs"/>
                <a:sym typeface="+mn-ea"/>
              </a:endParaRPr>
            </a:p>
          </p:txBody>
        </p:sp>
      </p:grpSp>
      <p:grpSp>
        <p:nvGrpSpPr>
          <p:cNvPr id="8" name="组合 7"/>
          <p:cNvGrpSpPr/>
          <p:nvPr>
            <p:custDataLst>
              <p:tags r:id="rId2"/>
            </p:custDataLst>
          </p:nvPr>
        </p:nvGrpSpPr>
        <p:grpSpPr>
          <a:xfrm>
            <a:off x="1064895" y="3868463"/>
            <a:ext cx="9111760" cy="1843890"/>
            <a:chOff x="1689815" y="3450029"/>
            <a:chExt cx="9111760" cy="1843890"/>
          </a:xfrm>
        </p:grpSpPr>
        <p:sp>
          <p:nvSpPr>
            <p:cNvPr id="9" name="矩形 8"/>
            <p:cNvSpPr/>
            <p:nvPr>
              <p:custDataLst>
                <p:tags r:id="rId3"/>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dirty="0">
                <a:solidFill>
                  <a:schemeClr val="bg1"/>
                </a:solidFill>
                <a:sym typeface="Arial" panose="020B0604020202020204" pitchFamily="34" charset="0"/>
              </a:endParaRPr>
            </a:p>
          </p:txBody>
        </p:sp>
        <p:sp>
          <p:nvSpPr>
            <p:cNvPr id="10" name="任意多边形 9"/>
            <p:cNvSpPr/>
            <p:nvPr>
              <p:custDataLst>
                <p:tags r:id="rId4"/>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11" name="文本框 10"/>
            <p:cNvSpPr txBox="1"/>
            <p:nvPr>
              <p:custDataLst>
                <p:tags r:id="rId5"/>
              </p:custDataLst>
            </p:nvPr>
          </p:nvSpPr>
          <p:spPr>
            <a:xfrm>
              <a:off x="2551827" y="3450029"/>
              <a:ext cx="8249748" cy="1843890"/>
            </a:xfrm>
            <a:prstGeom prst="rect">
              <a:avLst/>
            </a:prstGeom>
            <a:noFill/>
          </p:spPr>
          <p:txBody>
            <a:bodyPr wrap="square" lIns="0" tIns="0" rIns="0" bIns="0" rtlCol="0" anchor="ctr" anchorCtr="0">
              <a:normAutofit/>
            </a:bodyPr>
            <a:lstStyle/>
            <a:p>
              <a:pPr>
                <a:lnSpc>
                  <a:spcPts val="2800"/>
                </a:lnSpc>
              </a:pPr>
              <a:r>
                <a:rPr lang="zh-CN" altLang="en-US" sz="2000" b="1" dirty="0">
                  <a:latin typeface="微软雅黑" panose="020B0503020204020204" charset="-122"/>
                  <a:ea typeface="微软雅黑" panose="020B0503020204020204" charset="-122"/>
                </a:rPr>
                <a:t>学习目标：</a:t>
              </a:r>
              <a:endParaRPr lang="en-US" altLang="zh-CN" sz="2000" b="1" dirty="0">
                <a:latin typeface="微软雅黑" panose="020B0503020204020204" charset="-122"/>
                <a:ea typeface="微软雅黑" panose="020B0503020204020204" charset="-122"/>
              </a:endParaRP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a:t>
              </a:r>
              <a:r>
                <a:rPr lang="en-US" altLang="zh-CN" dirty="0">
                  <a:solidFill>
                    <a:schemeClr val="tx1">
                      <a:lumMod val="95000"/>
                      <a:lumOff val="5000"/>
                    </a:schemeClr>
                  </a:solidFill>
                  <a:latin typeface="微软雅黑" panose="020B0503020204020204" charset="-122"/>
                  <a:cs typeface="+mj-cs"/>
                  <a:sym typeface="+mn-ea"/>
                </a:rPr>
                <a:t>LTE</a:t>
              </a:r>
              <a:r>
                <a:rPr lang="zh-CN" altLang="en-US" dirty="0">
                  <a:solidFill>
                    <a:schemeClr val="tx1">
                      <a:lumMod val="95000"/>
                      <a:lumOff val="5000"/>
                    </a:schemeClr>
                  </a:solidFill>
                  <a:latin typeface="微软雅黑" panose="020B0503020204020204" charset="-122"/>
                  <a:cs typeface="+mj-cs"/>
                  <a:sym typeface="+mn-ea"/>
                </a:rPr>
                <a:t>无线网络优化流程，以及各阶段的主要工作任务。</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a:t>
              </a:r>
              <a:r>
                <a:rPr lang="en-US" altLang="zh-CN" dirty="0">
                  <a:solidFill>
                    <a:schemeClr val="tx1">
                      <a:lumMod val="95000"/>
                      <a:lumOff val="5000"/>
                    </a:schemeClr>
                  </a:solidFill>
                  <a:latin typeface="微软雅黑" panose="020B0503020204020204" charset="-122"/>
                  <a:cs typeface="+mj-cs"/>
                  <a:sym typeface="+mn-ea"/>
                </a:rPr>
                <a:t>LTE</a:t>
              </a:r>
              <a:r>
                <a:rPr lang="zh-CN" altLang="en-US" dirty="0">
                  <a:solidFill>
                    <a:schemeClr val="tx1">
                      <a:lumMod val="95000"/>
                      <a:lumOff val="5000"/>
                    </a:schemeClr>
                  </a:solidFill>
                  <a:latin typeface="微软雅黑" panose="020B0503020204020204" charset="-122"/>
                  <a:cs typeface="+mj-cs"/>
                  <a:sym typeface="+mn-ea"/>
                </a:rPr>
                <a:t>无线网络评估的基本概念和总体原则。</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掌握测试相关的概念，熟悉测试规范与要求。</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掌握</a:t>
              </a:r>
              <a:r>
                <a:rPr lang="en-US" altLang="zh-CN" dirty="0">
                  <a:solidFill>
                    <a:schemeClr val="tx1">
                      <a:lumMod val="95000"/>
                      <a:lumOff val="5000"/>
                    </a:schemeClr>
                  </a:solidFill>
                  <a:latin typeface="微软雅黑" panose="020B0503020204020204" charset="-122"/>
                  <a:cs typeface="+mj-cs"/>
                  <a:sym typeface="+mn-ea"/>
                </a:rPr>
                <a:t>RSRP</a:t>
              </a:r>
              <a:r>
                <a:rPr lang="zh-CN" altLang="en-US" dirty="0">
                  <a:solidFill>
                    <a:schemeClr val="tx1">
                      <a:lumMod val="95000"/>
                      <a:lumOff val="5000"/>
                    </a:schemeClr>
                  </a:solidFill>
                  <a:latin typeface="微软雅黑" panose="020B0503020204020204" charset="-122"/>
                  <a:cs typeface="+mj-cs"/>
                  <a:sym typeface="+mn-ea"/>
                </a:rPr>
                <a:t>，</a:t>
              </a:r>
              <a:r>
                <a:rPr lang="en-US" altLang="zh-CN" dirty="0">
                  <a:solidFill>
                    <a:schemeClr val="tx1">
                      <a:lumMod val="95000"/>
                      <a:lumOff val="5000"/>
                    </a:schemeClr>
                  </a:solidFill>
                  <a:latin typeface="微软雅黑" panose="020B0503020204020204" charset="-122"/>
                  <a:cs typeface="+mj-cs"/>
                  <a:sym typeface="+mn-ea"/>
                </a:rPr>
                <a:t>RSRQ</a:t>
              </a:r>
              <a:r>
                <a:rPr lang="zh-CN" altLang="en-US" dirty="0">
                  <a:solidFill>
                    <a:schemeClr val="tx1">
                      <a:lumMod val="95000"/>
                      <a:lumOff val="5000"/>
                    </a:schemeClr>
                  </a:solidFill>
                  <a:latin typeface="微软雅黑" panose="020B0503020204020204" charset="-122"/>
                  <a:cs typeface="+mj-cs"/>
                  <a:sym typeface="+mn-ea"/>
                </a:rPr>
                <a:t>，</a:t>
              </a:r>
              <a:r>
                <a:rPr lang="en-US" altLang="zh-CN" dirty="0">
                  <a:solidFill>
                    <a:schemeClr val="tx1">
                      <a:lumMod val="95000"/>
                      <a:lumOff val="5000"/>
                    </a:schemeClr>
                  </a:solidFill>
                  <a:latin typeface="微软雅黑" panose="020B0503020204020204" charset="-122"/>
                  <a:cs typeface="+mj-cs"/>
                  <a:sym typeface="+mn-ea"/>
                </a:rPr>
                <a:t>SINR</a:t>
              </a:r>
              <a:r>
                <a:rPr lang="zh-CN" altLang="en-US" dirty="0">
                  <a:solidFill>
                    <a:schemeClr val="tx1">
                      <a:lumMod val="95000"/>
                      <a:lumOff val="5000"/>
                    </a:schemeClr>
                  </a:solidFill>
                  <a:latin typeface="微软雅黑" panose="020B0503020204020204" charset="-122"/>
                  <a:cs typeface="+mj-cs"/>
                  <a:sym typeface="+mn-ea"/>
                </a:rPr>
                <a:t>，</a:t>
              </a:r>
              <a:r>
                <a:rPr lang="en-US" altLang="zh-CN" dirty="0">
                  <a:solidFill>
                    <a:schemeClr val="tx1">
                      <a:lumMod val="95000"/>
                      <a:lumOff val="5000"/>
                    </a:schemeClr>
                  </a:solidFill>
                  <a:latin typeface="微软雅黑" panose="020B0503020204020204" charset="-122"/>
                  <a:cs typeface="+mj-cs"/>
                  <a:sym typeface="+mn-ea"/>
                </a:rPr>
                <a:t>RSSI</a:t>
              </a:r>
              <a:r>
                <a:rPr lang="zh-CN" altLang="en-US" dirty="0">
                  <a:solidFill>
                    <a:schemeClr val="tx1">
                      <a:lumMod val="95000"/>
                      <a:lumOff val="5000"/>
                    </a:schemeClr>
                  </a:solidFill>
                  <a:latin typeface="微软雅黑" panose="020B0503020204020204" charset="-122"/>
                  <a:cs typeface="+mj-cs"/>
                  <a:sym typeface="+mn-ea"/>
                </a:rPr>
                <a:t>概念、基本指标定义。</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1" y="993775"/>
            <a:ext cx="3169496"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无线网络优化流程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3" name="标题 1"/>
          <p:cNvSpPr txBox="1"/>
          <p:nvPr/>
        </p:nvSpPr>
        <p:spPr bwMode="auto">
          <a:xfrm>
            <a:off x="1025042" y="2160668"/>
            <a:ext cx="316949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LTE</a:t>
            </a:r>
            <a:r>
              <a:rPr lang="zh-CN" altLang="en-US" sz="2000" b="1" dirty="0">
                <a:solidFill>
                  <a:srgbClr val="005BAA"/>
                </a:solidFill>
              </a:rPr>
              <a:t>网络的用户感知</a:t>
            </a:r>
          </a:p>
        </p:txBody>
      </p:sp>
      <p:sp>
        <p:nvSpPr>
          <p:cNvPr id="34" name="椭圆 33"/>
          <p:cNvSpPr/>
          <p:nvPr/>
        </p:nvSpPr>
        <p:spPr>
          <a:xfrm>
            <a:off x="5473821" y="1654196"/>
            <a:ext cx="2893363" cy="566255"/>
          </a:xfrm>
          <a:prstGeom prst="ellipse">
            <a:avLst/>
          </a:prstGeom>
          <a:gradFill rotWithShape="1">
            <a:gsLst>
              <a:gs pos="0">
                <a:srgbClr val="F08C00">
                  <a:tint val="50000"/>
                  <a:satMod val="300000"/>
                </a:srgbClr>
              </a:gs>
              <a:gs pos="35000">
                <a:srgbClr val="F08C00">
                  <a:tint val="37000"/>
                  <a:satMod val="300000"/>
                </a:srgbClr>
              </a:gs>
              <a:gs pos="100000">
                <a:srgbClr val="F08C00">
                  <a:tint val="15000"/>
                  <a:satMod val="350000"/>
                </a:srgbClr>
              </a:gs>
            </a:gsLst>
            <a:lin ang="16200000" scaled="1"/>
          </a:gradFill>
          <a:ln w="9525" cap="flat" cmpd="sng" algn="ctr">
            <a:solidFill>
              <a:srgbClr val="F08C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无信号或者信号差</a:t>
            </a:r>
          </a:p>
        </p:txBody>
      </p:sp>
      <p:sp>
        <p:nvSpPr>
          <p:cNvPr id="35" name="椭圆 34"/>
          <p:cNvSpPr/>
          <p:nvPr/>
        </p:nvSpPr>
        <p:spPr>
          <a:xfrm>
            <a:off x="5552077" y="3586000"/>
            <a:ext cx="2736850" cy="569343"/>
          </a:xfrm>
          <a:prstGeom prst="ellipse">
            <a:avLst/>
          </a:prstGeom>
          <a:gradFill rotWithShape="1">
            <a:gsLst>
              <a:gs pos="0">
                <a:srgbClr val="F08C00">
                  <a:tint val="50000"/>
                  <a:satMod val="300000"/>
                </a:srgbClr>
              </a:gs>
              <a:gs pos="35000">
                <a:srgbClr val="F08C00">
                  <a:tint val="37000"/>
                  <a:satMod val="300000"/>
                </a:srgbClr>
              </a:gs>
              <a:gs pos="100000">
                <a:srgbClr val="F08C00">
                  <a:tint val="15000"/>
                  <a:satMod val="350000"/>
                </a:srgbClr>
              </a:gs>
            </a:gsLst>
            <a:lin ang="16200000" scaled="1"/>
          </a:gradFill>
          <a:ln w="9525" cap="flat" cmpd="sng" algn="ctr">
            <a:solidFill>
              <a:srgbClr val="F08C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网络速率不稳定</a:t>
            </a:r>
          </a:p>
        </p:txBody>
      </p:sp>
      <p:sp>
        <p:nvSpPr>
          <p:cNvPr id="36" name="椭圆 35"/>
          <p:cNvSpPr/>
          <p:nvPr/>
        </p:nvSpPr>
        <p:spPr>
          <a:xfrm>
            <a:off x="5516273" y="2588767"/>
            <a:ext cx="2749070" cy="567184"/>
          </a:xfrm>
          <a:prstGeom prst="ellipse">
            <a:avLst/>
          </a:prstGeom>
          <a:gradFill rotWithShape="1">
            <a:gsLst>
              <a:gs pos="0">
                <a:srgbClr val="F08C00">
                  <a:tint val="50000"/>
                  <a:satMod val="300000"/>
                </a:srgbClr>
              </a:gs>
              <a:gs pos="35000">
                <a:srgbClr val="F08C00">
                  <a:tint val="37000"/>
                  <a:satMod val="300000"/>
                </a:srgbClr>
              </a:gs>
              <a:gs pos="100000">
                <a:srgbClr val="F08C00">
                  <a:tint val="15000"/>
                  <a:satMod val="350000"/>
                </a:srgbClr>
              </a:gs>
            </a:gsLst>
            <a:lin ang="16200000" scaled="1"/>
          </a:gradFill>
          <a:ln w="9525" cap="flat" cmpd="sng" algn="ctr">
            <a:solidFill>
              <a:srgbClr val="F08C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终端接入困难</a:t>
            </a:r>
          </a:p>
        </p:txBody>
      </p:sp>
      <p:sp>
        <p:nvSpPr>
          <p:cNvPr id="37" name="椭圆 36"/>
          <p:cNvSpPr/>
          <p:nvPr/>
        </p:nvSpPr>
        <p:spPr>
          <a:xfrm>
            <a:off x="5611782" y="4500910"/>
            <a:ext cx="2627243" cy="557045"/>
          </a:xfrm>
          <a:prstGeom prst="ellipse">
            <a:avLst/>
          </a:prstGeom>
          <a:gradFill rotWithShape="1">
            <a:gsLst>
              <a:gs pos="0">
                <a:srgbClr val="F08C00">
                  <a:tint val="50000"/>
                  <a:satMod val="300000"/>
                </a:srgbClr>
              </a:gs>
              <a:gs pos="35000">
                <a:srgbClr val="F08C00">
                  <a:tint val="37000"/>
                  <a:satMod val="300000"/>
                </a:srgbClr>
              </a:gs>
              <a:gs pos="100000">
                <a:srgbClr val="F08C00">
                  <a:tint val="15000"/>
                  <a:satMod val="350000"/>
                </a:srgbClr>
              </a:gs>
            </a:gsLst>
            <a:lin ang="16200000" scaled="1"/>
          </a:gradFill>
          <a:ln w="9525" cap="flat" cmpd="sng" algn="ctr">
            <a:solidFill>
              <a:srgbClr val="F08C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语音质量低</a:t>
            </a:r>
          </a:p>
        </p:txBody>
      </p:sp>
      <p:sp>
        <p:nvSpPr>
          <p:cNvPr id="38" name="椭圆 37"/>
          <p:cNvSpPr/>
          <p:nvPr/>
        </p:nvSpPr>
        <p:spPr>
          <a:xfrm>
            <a:off x="5535876" y="5320794"/>
            <a:ext cx="2709863" cy="523662"/>
          </a:xfrm>
          <a:prstGeom prst="ellipse">
            <a:avLst/>
          </a:prstGeom>
          <a:gradFill rotWithShape="1">
            <a:gsLst>
              <a:gs pos="0">
                <a:srgbClr val="F08C00">
                  <a:tint val="50000"/>
                  <a:satMod val="300000"/>
                </a:srgbClr>
              </a:gs>
              <a:gs pos="35000">
                <a:srgbClr val="F08C00">
                  <a:tint val="37000"/>
                  <a:satMod val="300000"/>
                </a:srgbClr>
              </a:gs>
              <a:gs pos="100000">
                <a:srgbClr val="F08C00">
                  <a:tint val="15000"/>
                  <a:satMod val="350000"/>
                </a:srgbClr>
              </a:gs>
            </a:gsLst>
            <a:lin ang="16200000" scaled="1"/>
          </a:gradFill>
          <a:ln w="9525" cap="flat" cmpd="sng" algn="ctr">
            <a:solidFill>
              <a:srgbClr val="F08C00">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信号强度不稳定</a:t>
            </a:r>
          </a:p>
        </p:txBody>
      </p:sp>
      <p:sp>
        <p:nvSpPr>
          <p:cNvPr id="39" name="等腰三角形 38"/>
          <p:cNvSpPr/>
          <p:nvPr/>
        </p:nvSpPr>
        <p:spPr>
          <a:xfrm>
            <a:off x="9329881" y="3143916"/>
            <a:ext cx="1873250" cy="1260475"/>
          </a:xfrm>
          <a:prstGeom prst="triangle">
            <a:avLst/>
          </a:prstGeom>
          <a:solidFill>
            <a:srgbClr val="0087E2"/>
          </a:solidFill>
          <a:ln w="38100" cap="flat" cmpd="sng" algn="ctr">
            <a:solidFill>
              <a:srgbClr val="0087E2"/>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网络</a:t>
            </a:r>
            <a:endPar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rPr>
              <a:t>问题</a:t>
            </a:r>
          </a:p>
        </p:txBody>
      </p:sp>
      <p:sp>
        <p:nvSpPr>
          <p:cNvPr id="40" name="左大括号 39"/>
          <p:cNvSpPr/>
          <p:nvPr/>
        </p:nvSpPr>
        <p:spPr bwMode="auto">
          <a:xfrm rot="10800000">
            <a:off x="8716189" y="1719781"/>
            <a:ext cx="613692" cy="4537085"/>
          </a:xfrm>
          <a:prstGeom prst="leftBrace">
            <a:avLst>
              <a:gd name="adj1" fmla="val 8322"/>
              <a:gd name="adj2" fmla="val 50000"/>
            </a:avLst>
          </a:prstGeom>
          <a:noFill/>
          <a:ln w="25400" algn="ctr">
            <a:solidFill>
              <a:srgbClr val="F08C00"/>
            </a:solidFill>
            <a:round/>
          </a:ln>
          <a:effectLst>
            <a:outerShdw dist="20000" dir="5400000" rotWithShape="0">
              <a:srgbClr val="000000">
                <a:alpha val="37999"/>
              </a:srgbClr>
            </a:outerShdw>
          </a:effectLst>
        </p:spPr>
        <p:txBody>
          <a:bodyPr rot="10800000"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1" name="TextBox 11"/>
          <p:cNvSpPr txBox="1">
            <a:spLocks noChangeArrowheads="1"/>
          </p:cNvSpPr>
          <p:nvPr/>
        </p:nvSpPr>
        <p:spPr bwMode="auto">
          <a:xfrm>
            <a:off x="6170877" y="5931619"/>
            <a:ext cx="1655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r>
              <a:rPr lang="en-US" altLang="zh-CN" sz="2400" b="1">
                <a:solidFill>
                  <a:srgbClr val="000000"/>
                </a:solidFill>
                <a:latin typeface="微软雅黑" panose="020B0503020204020204" charset="-122"/>
                <a:ea typeface="微软雅黑" panose="020B0503020204020204" charset="-122"/>
              </a:rPr>
              <a:t>……  ……</a:t>
            </a:r>
            <a:endParaRPr lang="zh-CN" altLang="en-US" sz="2400" b="1">
              <a:solidFill>
                <a:srgbClr val="000000"/>
              </a:solidFill>
              <a:latin typeface="微软雅黑" panose="020B0503020204020204" charset="-122"/>
              <a:ea typeface="微软雅黑" panose="020B0503020204020204" charset="-122"/>
            </a:endParaRPr>
          </a:p>
        </p:txBody>
      </p:sp>
      <p:sp>
        <p:nvSpPr>
          <p:cNvPr id="42" name="TextBox 12"/>
          <p:cNvSpPr txBox="1">
            <a:spLocks noChangeArrowheads="1"/>
          </p:cNvSpPr>
          <p:nvPr/>
        </p:nvSpPr>
        <p:spPr bwMode="auto">
          <a:xfrm>
            <a:off x="1025042" y="3510390"/>
            <a:ext cx="4141965"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lnSpc>
                <a:spcPct val="150000"/>
              </a:lnSpc>
              <a:spcBef>
                <a:spcPct val="0"/>
              </a:spcBef>
              <a:spcAft>
                <a:spcPct val="0"/>
              </a:spcAft>
              <a:buFont typeface="Arial" panose="020B0604020202020204" pitchFamily="34" charset="0"/>
              <a:buNone/>
            </a:pPr>
            <a:r>
              <a:rPr lang="zh-CN" altLang="en-US" sz="1800" dirty="0">
                <a:solidFill>
                  <a:srgbClr val="000000"/>
                </a:solidFill>
                <a:latin typeface="微软雅黑" panose="020B0503020204020204" charset="-122"/>
                <a:ea typeface="微软雅黑" panose="020B0503020204020204" charset="-122"/>
              </a:rPr>
              <a:t>日常生活中，使用移动终端可能会遇到一些问题，这些情况会影响用户对于整个网络质量的评估。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1" y="993775"/>
            <a:ext cx="3169496"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无线网络优化流程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标题 1"/>
          <p:cNvSpPr txBox="1"/>
          <p:nvPr/>
        </p:nvSpPr>
        <p:spPr bwMode="auto">
          <a:xfrm>
            <a:off x="4961395" y="1196094"/>
            <a:ext cx="25534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zh-CN" altLang="en-US" sz="2000" b="1" dirty="0">
                <a:solidFill>
                  <a:srgbClr val="005BAA"/>
                </a:solidFill>
              </a:rPr>
              <a:t>无线网络优化的思路</a:t>
            </a:r>
          </a:p>
        </p:txBody>
      </p:sp>
      <p:sp>
        <p:nvSpPr>
          <p:cNvPr id="16" name="AutoShape 15"/>
          <p:cNvSpPr>
            <a:spLocks noChangeArrowheads="1"/>
          </p:cNvSpPr>
          <p:nvPr/>
        </p:nvSpPr>
        <p:spPr bwMode="gray">
          <a:xfrm>
            <a:off x="4581539" y="5288358"/>
            <a:ext cx="3313112" cy="696913"/>
          </a:xfrm>
          <a:prstGeom prst="irregularSeal1">
            <a:avLst/>
          </a:prstGeom>
          <a:gradFill rotWithShape="1">
            <a:gsLst>
              <a:gs pos="0">
                <a:srgbClr val="FF3300"/>
              </a:gs>
              <a:gs pos="50000">
                <a:srgbClr val="FF6699"/>
              </a:gs>
              <a:gs pos="100000">
                <a:srgbClr val="FF3300"/>
              </a:gs>
            </a:gsLst>
            <a:lin ang="5400000" scaled="1"/>
          </a:gradFill>
          <a:ln w="9525" algn="ctr">
            <a:noFill/>
            <a:miter lim="800000"/>
          </a:ln>
          <a:effectLst>
            <a:outerShdw dist="12700" dir="5400000" algn="ctr" rotWithShape="0">
              <a:srgbClr val="003300">
                <a:alpha val="50000"/>
              </a:srgbClr>
            </a:outerShdw>
          </a:effectLst>
        </p:spPr>
        <p:txBody>
          <a:bodyPr/>
          <a:lstStyle/>
          <a:p>
            <a:pPr marL="342900" indent="-342900" algn="ctr" defTabSz="914400" fontAlgn="base">
              <a:spcBef>
                <a:spcPct val="50000"/>
              </a:spcBef>
              <a:spcAft>
                <a:spcPct val="0"/>
              </a:spcAft>
              <a:buFont typeface="Arial" panose="020B0604020202020204" pitchFamily="34" charset="0"/>
              <a:buNone/>
              <a:defRPr/>
            </a:pPr>
            <a:r>
              <a:rPr lang="zh-CN" altLang="en-US" sz="2400" baseline="-25000" dirty="0">
                <a:solidFill>
                  <a:srgbClr val="000000"/>
                </a:solidFill>
                <a:latin typeface="微软雅黑" panose="020B0503020204020204" charset="-122"/>
                <a:ea typeface="微软雅黑" panose="020B0503020204020204" charset="-122"/>
              </a:rPr>
              <a:t>阶段性调整</a:t>
            </a:r>
          </a:p>
        </p:txBody>
      </p:sp>
      <p:pic>
        <p:nvPicPr>
          <p:cNvPr id="17" name="Picture 22" descr="MobWeb copy"/>
          <p:cNvPicPr>
            <a:picLocks noChangeAspect="1" noChangeArrowheads="1"/>
          </p:cNvPicPr>
          <p:nvPr/>
        </p:nvPicPr>
        <p:blipFill>
          <a:blip r:embed="rId2">
            <a:extLst>
              <a:ext uri="{28A0092B-C50C-407E-A947-70E740481C1C}">
                <a14:useLocalDpi xmlns:a14="http://schemas.microsoft.com/office/drawing/2010/main" val="0"/>
              </a:ext>
            </a:extLst>
          </a:blip>
          <a:srcRect r="13542" b="13922"/>
          <a:stretch>
            <a:fillRect/>
          </a:stretch>
        </p:blipFill>
        <p:spPr bwMode="auto">
          <a:xfrm>
            <a:off x="6950183" y="2161908"/>
            <a:ext cx="2052638"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AutoShape 29"/>
          <p:cNvSpPr>
            <a:spLocks noChangeArrowheads="1"/>
          </p:cNvSpPr>
          <p:nvPr/>
        </p:nvSpPr>
        <p:spPr bwMode="gray">
          <a:xfrm>
            <a:off x="8750408" y="1861871"/>
            <a:ext cx="2051050" cy="784225"/>
          </a:xfrm>
          <a:prstGeom prst="cloudCallout">
            <a:avLst>
              <a:gd name="adj1" fmla="val -31190"/>
              <a:gd name="adj2" fmla="val 95606"/>
            </a:avLst>
          </a:prstGeom>
          <a:gradFill rotWithShape="1">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9525">
            <a:noFill/>
            <a:round/>
          </a:ln>
          <a:effectLst>
            <a:outerShdw dist="12700" dir="5400000" algn="ctr" rotWithShape="0">
              <a:srgbClr val="003300">
                <a:alpha val="50000"/>
              </a:srgbClr>
            </a:outerShdw>
          </a:effectLst>
        </p:spPr>
        <p:txBody>
          <a:bodyPr/>
          <a:lstStyle/>
          <a:p>
            <a:pPr marL="342900" indent="-342900" algn="ctr" defTabSz="914400" fontAlgn="base">
              <a:spcBef>
                <a:spcPct val="50000"/>
              </a:spcBef>
              <a:spcAft>
                <a:spcPct val="0"/>
              </a:spcAft>
              <a:buFont typeface="Arial" panose="020B0604020202020204" pitchFamily="34" charset="0"/>
              <a:buNone/>
              <a:defRPr/>
            </a:pPr>
            <a:r>
              <a:rPr lang="zh-CN" altLang="en-US" sz="2400" baseline="-25000" dirty="0">
                <a:solidFill>
                  <a:srgbClr val="003399"/>
                </a:solidFill>
                <a:latin typeface="微软雅黑" panose="020B0503020204020204" charset="-122"/>
                <a:ea typeface="微软雅黑" panose="020B0503020204020204" charset="-122"/>
              </a:rPr>
              <a:t> 衡量标准？</a:t>
            </a:r>
            <a:endParaRPr lang="zh-CN" altLang="en-US" sz="2400" baseline="-25000" dirty="0">
              <a:solidFill>
                <a:srgbClr val="FF3300"/>
              </a:solidFill>
              <a:latin typeface="微软雅黑" panose="020B0503020204020204" charset="-122"/>
              <a:ea typeface="微软雅黑" panose="020B0503020204020204" charset="-122"/>
            </a:endParaRPr>
          </a:p>
        </p:txBody>
      </p:sp>
      <p:grpSp>
        <p:nvGrpSpPr>
          <p:cNvPr id="2" name="组合 1"/>
          <p:cNvGrpSpPr/>
          <p:nvPr/>
        </p:nvGrpSpPr>
        <p:grpSpPr>
          <a:xfrm>
            <a:off x="1096573" y="4290929"/>
            <a:ext cx="1655763" cy="1381125"/>
            <a:chOff x="2312673" y="3842106"/>
            <a:chExt cx="1655763" cy="1381125"/>
          </a:xfrm>
        </p:grpSpPr>
        <p:grpSp>
          <p:nvGrpSpPr>
            <p:cNvPr id="19" name="Group 25"/>
            <p:cNvGrpSpPr/>
            <p:nvPr/>
          </p:nvGrpSpPr>
          <p:grpSpPr bwMode="auto">
            <a:xfrm>
              <a:off x="2312673" y="3842106"/>
              <a:ext cx="1655763" cy="1381125"/>
              <a:chOff x="1488" y="960"/>
              <a:chExt cx="2928" cy="2880"/>
            </a:xfrm>
          </p:grpSpPr>
          <p:grpSp>
            <p:nvGrpSpPr>
              <p:cNvPr id="20" name="Group 26"/>
              <p:cNvGrpSpPr/>
              <p:nvPr/>
            </p:nvGrpSpPr>
            <p:grpSpPr bwMode="auto">
              <a:xfrm>
                <a:off x="2356" y="960"/>
                <a:ext cx="1192" cy="959"/>
                <a:chOff x="2356" y="960"/>
                <a:chExt cx="1192" cy="959"/>
              </a:xfrm>
            </p:grpSpPr>
            <p:grpSp>
              <p:nvGrpSpPr>
                <p:cNvPr id="67" name="Group 27"/>
                <p:cNvGrpSpPr/>
                <p:nvPr/>
              </p:nvGrpSpPr>
              <p:grpSpPr bwMode="auto">
                <a:xfrm>
                  <a:off x="2356" y="960"/>
                  <a:ext cx="1192" cy="959"/>
                  <a:chOff x="2057" y="862"/>
                  <a:chExt cx="1549" cy="1351"/>
                </a:xfrm>
              </p:grpSpPr>
              <p:sp>
                <p:nvSpPr>
                  <p:cNvPr id="69" name="AutoShape 28"/>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70" name="AutoShape 29"/>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71" name="AutoShape 30"/>
                  <p:cNvSpPr>
                    <a:spLocks noChangeArrowheads="1"/>
                  </p:cNvSpPr>
                  <p:nvPr/>
                </p:nvSpPr>
                <p:spPr bwMode="gray">
                  <a:xfrm>
                    <a:off x="2147" y="942"/>
                    <a:ext cx="1350" cy="1168"/>
                  </a:xfrm>
                  <a:prstGeom prst="hexagon">
                    <a:avLst>
                      <a:gd name="adj" fmla="val 28896"/>
                      <a:gd name="vf" fmla="val 115470"/>
                    </a:avLst>
                  </a:prstGeom>
                  <a:gradFill rotWithShape="1">
                    <a:gsLst>
                      <a:gs pos="0">
                        <a:srgbClr val="7262EC"/>
                      </a:gs>
                      <a:gs pos="100000">
                        <a:srgbClr val="2614AA"/>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68" name="Text Box 31"/>
                <p:cNvSpPr txBox="1">
                  <a:spLocks noChangeArrowheads="1"/>
                </p:cNvSpPr>
                <p:nvPr/>
              </p:nvSpPr>
              <p:spPr bwMode="gray">
                <a:xfrm>
                  <a:off x="2561" y="1172"/>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nvGrpSpPr>
              <p:cNvPr id="21" name="Group 32"/>
              <p:cNvGrpSpPr/>
              <p:nvPr/>
            </p:nvGrpSpPr>
            <p:grpSpPr bwMode="auto">
              <a:xfrm>
                <a:off x="1488" y="1438"/>
                <a:ext cx="1193" cy="959"/>
                <a:chOff x="1488" y="1438"/>
                <a:chExt cx="1193" cy="959"/>
              </a:xfrm>
            </p:grpSpPr>
            <p:grpSp>
              <p:nvGrpSpPr>
                <p:cNvPr id="62" name="Group 33"/>
                <p:cNvGrpSpPr/>
                <p:nvPr/>
              </p:nvGrpSpPr>
              <p:grpSpPr bwMode="auto">
                <a:xfrm>
                  <a:off x="1488" y="1438"/>
                  <a:ext cx="1193" cy="959"/>
                  <a:chOff x="1110" y="2656"/>
                  <a:chExt cx="1549" cy="1351"/>
                </a:xfrm>
              </p:grpSpPr>
              <p:sp>
                <p:nvSpPr>
                  <p:cNvPr id="64" name="AutoShape 3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65" name="AutoShape 3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66" name="AutoShape 36"/>
                  <p:cNvSpPr>
                    <a:spLocks noChangeArrowheads="1"/>
                  </p:cNvSpPr>
                  <p:nvPr/>
                </p:nvSpPr>
                <p:spPr bwMode="gray">
                  <a:xfrm>
                    <a:off x="1200" y="2736"/>
                    <a:ext cx="1350" cy="1168"/>
                  </a:xfrm>
                  <a:prstGeom prst="hexagon">
                    <a:avLst>
                      <a:gd name="adj" fmla="val 28896"/>
                      <a:gd name="vf" fmla="val 115470"/>
                    </a:avLst>
                  </a:prstGeom>
                  <a:gradFill rotWithShape="1">
                    <a:gsLst>
                      <a:gs pos="0">
                        <a:srgbClr val="45A2D6"/>
                      </a:gs>
                      <a:gs pos="100000">
                        <a:srgbClr val="49ACE3"/>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63" name="Text Box 37"/>
                <p:cNvSpPr txBox="1">
                  <a:spLocks noChangeArrowheads="1"/>
                </p:cNvSpPr>
                <p:nvPr/>
              </p:nvSpPr>
              <p:spPr bwMode="gray">
                <a:xfrm>
                  <a:off x="1726" y="1642"/>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nvGrpSpPr>
              <p:cNvPr id="22" name="Group 38"/>
              <p:cNvGrpSpPr/>
              <p:nvPr/>
            </p:nvGrpSpPr>
            <p:grpSpPr bwMode="auto">
              <a:xfrm>
                <a:off x="2356" y="1919"/>
                <a:ext cx="1192" cy="959"/>
                <a:chOff x="2356" y="1919"/>
                <a:chExt cx="1192" cy="959"/>
              </a:xfrm>
            </p:grpSpPr>
            <p:grpSp>
              <p:nvGrpSpPr>
                <p:cNvPr id="57" name="Group 39"/>
                <p:cNvGrpSpPr/>
                <p:nvPr/>
              </p:nvGrpSpPr>
              <p:grpSpPr bwMode="auto">
                <a:xfrm>
                  <a:off x="2356" y="1919"/>
                  <a:ext cx="1192" cy="959"/>
                  <a:chOff x="3174" y="2656"/>
                  <a:chExt cx="1549" cy="1351"/>
                </a:xfrm>
              </p:grpSpPr>
              <p:sp>
                <p:nvSpPr>
                  <p:cNvPr id="59" name="AutoShape 4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60" name="AutoShape 4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61" name="AutoShape 42"/>
                  <p:cNvSpPr>
                    <a:spLocks noChangeArrowheads="1"/>
                  </p:cNvSpPr>
                  <p:nvPr/>
                </p:nvSpPr>
                <p:spPr bwMode="gray">
                  <a:xfrm>
                    <a:off x="3264" y="2736"/>
                    <a:ext cx="1350" cy="1168"/>
                  </a:xfrm>
                  <a:prstGeom prst="hexagon">
                    <a:avLst>
                      <a:gd name="adj" fmla="val 28896"/>
                      <a:gd name="vf" fmla="val 115470"/>
                    </a:avLst>
                  </a:prstGeom>
                  <a:gradFill rotWithShape="1">
                    <a:gsLst>
                      <a:gs pos="0">
                        <a:srgbClr val="182F5E"/>
                      </a:gs>
                      <a:gs pos="100000">
                        <a:srgbClr val="3366CC"/>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58" name="Text Box 43"/>
                <p:cNvSpPr txBox="1">
                  <a:spLocks noChangeArrowheads="1"/>
                </p:cNvSpPr>
                <p:nvPr/>
              </p:nvSpPr>
              <p:spPr bwMode="gray">
                <a:xfrm>
                  <a:off x="2572" y="2132"/>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nvGrpSpPr>
              <p:cNvPr id="23" name="Group 44"/>
              <p:cNvGrpSpPr/>
              <p:nvPr/>
            </p:nvGrpSpPr>
            <p:grpSpPr bwMode="auto">
              <a:xfrm>
                <a:off x="3223" y="1438"/>
                <a:ext cx="1193" cy="959"/>
                <a:chOff x="3223" y="1438"/>
                <a:chExt cx="1193" cy="959"/>
              </a:xfrm>
            </p:grpSpPr>
            <p:grpSp>
              <p:nvGrpSpPr>
                <p:cNvPr id="52" name="Group 45"/>
                <p:cNvGrpSpPr/>
                <p:nvPr/>
              </p:nvGrpSpPr>
              <p:grpSpPr bwMode="auto">
                <a:xfrm>
                  <a:off x="3223" y="1438"/>
                  <a:ext cx="1193" cy="959"/>
                  <a:chOff x="2057" y="862"/>
                  <a:chExt cx="1549" cy="1351"/>
                </a:xfrm>
              </p:grpSpPr>
              <p:sp>
                <p:nvSpPr>
                  <p:cNvPr id="54" name="AutoShape 46"/>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55" name="AutoShape 47"/>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56" name="AutoShape 48"/>
                  <p:cNvSpPr>
                    <a:spLocks noChangeArrowheads="1"/>
                  </p:cNvSpPr>
                  <p:nvPr/>
                </p:nvSpPr>
                <p:spPr bwMode="gray">
                  <a:xfrm>
                    <a:off x="2147" y="942"/>
                    <a:ext cx="1350" cy="1168"/>
                  </a:xfrm>
                  <a:prstGeom prst="hexagon">
                    <a:avLst>
                      <a:gd name="adj" fmla="val 28896"/>
                      <a:gd name="vf" fmla="val 115470"/>
                    </a:avLst>
                  </a:prstGeom>
                  <a:gradFill rotWithShape="1">
                    <a:gsLst>
                      <a:gs pos="0">
                        <a:srgbClr val="3E565A"/>
                      </a:gs>
                      <a:gs pos="100000">
                        <a:srgbClr val="85B9C3"/>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53" name="Text Box 49"/>
                <p:cNvSpPr txBox="1">
                  <a:spLocks noChangeArrowheads="1"/>
                </p:cNvSpPr>
                <p:nvPr/>
              </p:nvSpPr>
              <p:spPr bwMode="gray">
                <a:xfrm>
                  <a:off x="3461" y="1653"/>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nvGrpSpPr>
              <p:cNvPr id="24" name="Group 50"/>
              <p:cNvGrpSpPr/>
              <p:nvPr/>
            </p:nvGrpSpPr>
            <p:grpSpPr bwMode="auto">
              <a:xfrm>
                <a:off x="3223" y="2400"/>
                <a:ext cx="1193" cy="959"/>
                <a:chOff x="3223" y="2400"/>
                <a:chExt cx="1193" cy="959"/>
              </a:xfrm>
            </p:grpSpPr>
            <p:grpSp>
              <p:nvGrpSpPr>
                <p:cNvPr id="47" name="Group 51"/>
                <p:cNvGrpSpPr/>
                <p:nvPr/>
              </p:nvGrpSpPr>
              <p:grpSpPr bwMode="auto">
                <a:xfrm>
                  <a:off x="3223" y="2400"/>
                  <a:ext cx="1193" cy="959"/>
                  <a:chOff x="3174" y="2656"/>
                  <a:chExt cx="1549" cy="1351"/>
                </a:xfrm>
              </p:grpSpPr>
              <p:sp>
                <p:nvSpPr>
                  <p:cNvPr id="49" name="AutoShape 5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50" name="AutoShape 5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51" name="AutoShape 54"/>
                  <p:cNvSpPr>
                    <a:spLocks noChangeArrowheads="1"/>
                  </p:cNvSpPr>
                  <p:nvPr/>
                </p:nvSpPr>
                <p:spPr bwMode="gray">
                  <a:xfrm>
                    <a:off x="3264" y="2736"/>
                    <a:ext cx="1350" cy="1168"/>
                  </a:xfrm>
                  <a:prstGeom prst="hexagon">
                    <a:avLst>
                      <a:gd name="adj" fmla="val 28896"/>
                      <a:gd name="vf" fmla="val 115470"/>
                    </a:avLst>
                  </a:prstGeom>
                  <a:gradFill rotWithShape="1">
                    <a:gsLst>
                      <a:gs pos="0">
                        <a:srgbClr val="216D4B"/>
                      </a:gs>
                      <a:gs pos="100000">
                        <a:srgbClr val="41D592"/>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48" name="Text Box 55"/>
                <p:cNvSpPr txBox="1">
                  <a:spLocks noChangeArrowheads="1"/>
                </p:cNvSpPr>
                <p:nvPr/>
              </p:nvSpPr>
              <p:spPr bwMode="gray">
                <a:xfrm>
                  <a:off x="3487" y="2651"/>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dirty="0">
                      <a:solidFill>
                        <a:srgbClr val="FFFFFF"/>
                      </a:solidFill>
                      <a:latin typeface="微软雅黑" panose="020B0503020204020204" charset="-122"/>
                      <a:ea typeface="微软雅黑" panose="020B0503020204020204" charset="-122"/>
                    </a:rPr>
                    <a:t>cell</a:t>
                  </a:r>
                </a:p>
              </p:txBody>
            </p:sp>
          </p:grpSp>
          <p:grpSp>
            <p:nvGrpSpPr>
              <p:cNvPr id="25" name="Group 56"/>
              <p:cNvGrpSpPr/>
              <p:nvPr/>
            </p:nvGrpSpPr>
            <p:grpSpPr bwMode="auto">
              <a:xfrm>
                <a:off x="1488" y="2400"/>
                <a:ext cx="1193" cy="959"/>
                <a:chOff x="1488" y="2400"/>
                <a:chExt cx="1193" cy="959"/>
              </a:xfrm>
            </p:grpSpPr>
            <p:grpSp>
              <p:nvGrpSpPr>
                <p:cNvPr id="32" name="Group 57"/>
                <p:cNvGrpSpPr/>
                <p:nvPr/>
              </p:nvGrpSpPr>
              <p:grpSpPr bwMode="auto">
                <a:xfrm>
                  <a:off x="1488" y="2400"/>
                  <a:ext cx="1193" cy="959"/>
                  <a:chOff x="3174" y="2656"/>
                  <a:chExt cx="1549" cy="1351"/>
                </a:xfrm>
              </p:grpSpPr>
              <p:sp>
                <p:nvSpPr>
                  <p:cNvPr id="44" name="AutoShape 5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45" name="AutoShape 5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46" name="AutoShape 60"/>
                  <p:cNvSpPr>
                    <a:spLocks noChangeArrowheads="1"/>
                  </p:cNvSpPr>
                  <p:nvPr/>
                </p:nvSpPr>
                <p:spPr bwMode="gray">
                  <a:xfrm>
                    <a:off x="3264" y="2736"/>
                    <a:ext cx="1350" cy="1168"/>
                  </a:xfrm>
                  <a:prstGeom prst="hexagon">
                    <a:avLst>
                      <a:gd name="adj" fmla="val 28896"/>
                      <a:gd name="vf" fmla="val 115470"/>
                    </a:avLst>
                  </a:prstGeom>
                  <a:gradFill rotWithShape="1">
                    <a:gsLst>
                      <a:gs pos="0">
                        <a:srgbClr val="0082AD"/>
                      </a:gs>
                      <a:gs pos="100000">
                        <a:srgbClr val="0099CC"/>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43" name="Text Box 61"/>
                <p:cNvSpPr txBox="1">
                  <a:spLocks noChangeArrowheads="1"/>
                </p:cNvSpPr>
                <p:nvPr/>
              </p:nvSpPr>
              <p:spPr bwMode="gray">
                <a:xfrm>
                  <a:off x="1726" y="2604"/>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nvGrpSpPr>
              <p:cNvPr id="26" name="Group 62"/>
              <p:cNvGrpSpPr/>
              <p:nvPr/>
            </p:nvGrpSpPr>
            <p:grpSpPr bwMode="auto">
              <a:xfrm>
                <a:off x="2356" y="2881"/>
                <a:ext cx="1192" cy="959"/>
                <a:chOff x="2356" y="2881"/>
                <a:chExt cx="1192" cy="959"/>
              </a:xfrm>
            </p:grpSpPr>
            <p:grpSp>
              <p:nvGrpSpPr>
                <p:cNvPr id="27" name="Group 63"/>
                <p:cNvGrpSpPr/>
                <p:nvPr/>
              </p:nvGrpSpPr>
              <p:grpSpPr bwMode="auto">
                <a:xfrm>
                  <a:off x="2356" y="2881"/>
                  <a:ext cx="1192" cy="959"/>
                  <a:chOff x="3174" y="2656"/>
                  <a:chExt cx="1549" cy="1351"/>
                </a:xfrm>
              </p:grpSpPr>
              <p:sp>
                <p:nvSpPr>
                  <p:cNvPr id="29" name="AutoShape 6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30" name="AutoShape 6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sp>
                <p:nvSpPr>
                  <p:cNvPr id="31" name="AutoShape 66"/>
                  <p:cNvSpPr>
                    <a:spLocks noChangeArrowheads="1"/>
                  </p:cNvSpPr>
                  <p:nvPr/>
                </p:nvSpPr>
                <p:spPr bwMode="gray">
                  <a:xfrm>
                    <a:off x="3264" y="2736"/>
                    <a:ext cx="1350" cy="1168"/>
                  </a:xfrm>
                  <a:prstGeom prst="hexagon">
                    <a:avLst>
                      <a:gd name="adj" fmla="val 28896"/>
                      <a:gd name="vf" fmla="val 115470"/>
                    </a:avLst>
                  </a:prstGeom>
                  <a:gradFill rotWithShape="1">
                    <a:gsLst>
                      <a:gs pos="0">
                        <a:srgbClr val="185E5E"/>
                      </a:gs>
                      <a:gs pos="100000">
                        <a:srgbClr val="33CCCC"/>
                      </a:gs>
                    </a:gsLst>
                    <a:lin ang="2700000" scaled="1"/>
                  </a:gradFill>
                  <a:ln w="9525">
                    <a:solidFill>
                      <a:srgbClr val="FFFF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endParaRPr lang="zh-CN" altLang="en-US" sz="1200">
                      <a:solidFill>
                        <a:srgbClr val="000000"/>
                      </a:solidFill>
                      <a:latin typeface="微软雅黑" panose="020B0503020204020204" charset="-122"/>
                      <a:ea typeface="微软雅黑" panose="020B0503020204020204" charset="-122"/>
                    </a:endParaRPr>
                  </a:p>
                </p:txBody>
              </p:sp>
            </p:grpSp>
            <p:sp>
              <p:nvSpPr>
                <p:cNvPr id="28" name="Text Box 67"/>
                <p:cNvSpPr txBox="1">
                  <a:spLocks noChangeArrowheads="1"/>
                </p:cNvSpPr>
                <p:nvPr/>
              </p:nvSpPr>
              <p:spPr bwMode="gray">
                <a:xfrm>
                  <a:off x="2592" y="3093"/>
                  <a:ext cx="763"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 typeface="Arial" panose="020B0604020202020204" pitchFamily="34" charset="0"/>
                    <a:buNone/>
                  </a:pPr>
                  <a:r>
                    <a:rPr lang="en-US" altLang="zh-CN" sz="1200">
                      <a:solidFill>
                        <a:srgbClr val="FFFFFF"/>
                      </a:solidFill>
                      <a:latin typeface="微软雅黑" panose="020B0503020204020204" charset="-122"/>
                      <a:ea typeface="微软雅黑" panose="020B0503020204020204" charset="-122"/>
                    </a:rPr>
                    <a:t>cell</a:t>
                  </a:r>
                </a:p>
              </p:txBody>
            </p:sp>
          </p:grpSp>
        </p:grpSp>
        <p:grpSp>
          <p:nvGrpSpPr>
            <p:cNvPr id="72" name="Group 64"/>
            <p:cNvGrpSpPr/>
            <p:nvPr/>
          </p:nvGrpSpPr>
          <p:grpSpPr bwMode="auto">
            <a:xfrm>
              <a:off x="3249298" y="4021493"/>
              <a:ext cx="360363" cy="619125"/>
              <a:chOff x="1699" y="3612"/>
              <a:chExt cx="224" cy="261"/>
            </a:xfrm>
          </p:grpSpPr>
          <p:graphicFrame>
            <p:nvGraphicFramePr>
              <p:cNvPr id="73" name="Object 65"/>
              <p:cNvGraphicFramePr>
                <a:graphicFrameLocks noChangeAspect="1"/>
              </p:cNvGraphicFramePr>
              <p:nvPr/>
            </p:nvGraphicFramePr>
            <p:xfrm>
              <a:off x="1701" y="3612"/>
              <a:ext cx="222" cy="255"/>
            </p:xfrm>
            <a:graphic>
              <a:graphicData uri="http://schemas.openxmlformats.org/presentationml/2006/ole">
                <mc:AlternateContent xmlns:mc="http://schemas.openxmlformats.org/markup-compatibility/2006">
                  <mc:Choice xmlns:v="urn:schemas-microsoft-com:vml" Requires="v">
                    <p:oleObj name="Visio" r:id="rId3" imgW="1767840" imgH="2879090" progId="Visio.Drawing.11">
                      <p:embed/>
                    </p:oleObj>
                  </mc:Choice>
                  <mc:Fallback>
                    <p:oleObj name="Visio" r:id="rId3" imgW="1767840" imgH="2879090" progId="Visio.Drawing.11">
                      <p:embed/>
                      <p:pic>
                        <p:nvPicPr>
                          <p:cNvPr id="0" name="图片 10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3612"/>
                            <a:ext cx="222"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4" name="Picture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9" y="3748"/>
                <a:ext cx="6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5" name="Group 67"/>
            <p:cNvGrpSpPr/>
            <p:nvPr/>
          </p:nvGrpSpPr>
          <p:grpSpPr bwMode="auto">
            <a:xfrm>
              <a:off x="2457136" y="4262793"/>
              <a:ext cx="360362" cy="619125"/>
              <a:chOff x="1699" y="3612"/>
              <a:chExt cx="224" cy="261"/>
            </a:xfrm>
          </p:grpSpPr>
          <p:graphicFrame>
            <p:nvGraphicFramePr>
              <p:cNvPr id="76" name="Object 68"/>
              <p:cNvGraphicFramePr>
                <a:graphicFrameLocks noChangeAspect="1"/>
              </p:cNvGraphicFramePr>
              <p:nvPr/>
            </p:nvGraphicFramePr>
            <p:xfrm>
              <a:off x="1701" y="3612"/>
              <a:ext cx="222" cy="255"/>
            </p:xfrm>
            <a:graphic>
              <a:graphicData uri="http://schemas.openxmlformats.org/presentationml/2006/ole">
                <mc:AlternateContent xmlns:mc="http://schemas.openxmlformats.org/markup-compatibility/2006">
                  <mc:Choice xmlns:v="urn:schemas-microsoft-com:vml" Requires="v">
                    <p:oleObj name="Visio" r:id="rId6" imgW="1767840" imgH="2879090" progId="Visio.Drawing.11">
                      <p:embed/>
                    </p:oleObj>
                  </mc:Choice>
                  <mc:Fallback>
                    <p:oleObj name="Visio" r:id="rId6" imgW="1767840" imgH="2879090" progId="Visio.Drawing.11">
                      <p:embed/>
                      <p:pic>
                        <p:nvPicPr>
                          <p:cNvPr id="0" name="图片 1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3612"/>
                            <a:ext cx="222"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7" name="Picture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9" y="3748"/>
                <a:ext cx="6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78" name="AutoShape 79"/>
          <p:cNvSpPr>
            <a:spLocks noChangeArrowheads="1"/>
          </p:cNvSpPr>
          <p:nvPr/>
        </p:nvSpPr>
        <p:spPr bwMode="gray">
          <a:xfrm rot="20460435">
            <a:off x="1743802" y="4598211"/>
            <a:ext cx="7844127" cy="600075"/>
          </a:xfrm>
          <a:prstGeom prst="curvedUpArrow">
            <a:avLst>
              <a:gd name="adj1" fmla="val 167896"/>
              <a:gd name="adj2" fmla="val 335886"/>
              <a:gd name="adj3" fmla="val 33333"/>
            </a:avLst>
          </a:prstGeom>
          <a:gradFill rotWithShape="1">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9525">
            <a:noFill/>
            <a:miter lim="800000"/>
          </a:ln>
          <a:effectLst>
            <a:outerShdw dist="12700" dir="5400000" algn="ctr" rotWithShape="0">
              <a:srgbClr val="003300">
                <a:alpha val="50000"/>
              </a:srgbClr>
            </a:outerShdw>
          </a:effectLst>
        </p:spPr>
        <p:txBody>
          <a:bodyPr/>
          <a:lstStyle/>
          <a:p>
            <a:pPr defTabSz="914400" fontAlgn="base">
              <a:spcBef>
                <a:spcPct val="0"/>
              </a:spcBef>
              <a:spcAft>
                <a:spcPct val="0"/>
              </a:spcAft>
              <a:buFont typeface="Arial" panose="020B0604020202020204" pitchFamily="34" charset="0"/>
              <a:buNone/>
              <a:defRPr/>
            </a:pPr>
            <a:endParaRPr lang="zh-CN" altLang="en-US" sz="1800">
              <a:solidFill>
                <a:srgbClr val="000000"/>
              </a:solidFill>
              <a:latin typeface="微软雅黑" panose="020B0503020204020204" charset="-122"/>
              <a:ea typeface="微软雅黑" panose="020B0503020204020204" charset="-122"/>
            </a:endParaRPr>
          </a:p>
        </p:txBody>
      </p:sp>
      <p:sp>
        <p:nvSpPr>
          <p:cNvPr id="79" name="Text Box 80"/>
          <p:cNvSpPr txBox="1">
            <a:spLocks noChangeArrowheads="1"/>
          </p:cNvSpPr>
          <p:nvPr/>
        </p:nvSpPr>
        <p:spPr bwMode="auto">
          <a:xfrm>
            <a:off x="1060607" y="3327565"/>
            <a:ext cx="348582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无线传播环境复杂；</a:t>
            </a:r>
            <a:endParaRPr lang="en-US" altLang="zh-CN" sz="1600" dirty="0">
              <a:solidFill>
                <a:srgbClr val="000000"/>
              </a:solidFill>
              <a:latin typeface="微软雅黑" panose="020B0503020204020204" charset="-122"/>
              <a:ea typeface="微软雅黑" panose="020B0503020204020204" charset="-122"/>
            </a:endParaRPr>
          </a:p>
          <a:p>
            <a:pPr defTabSz="914400" eaLnBrk="1" fontAlgn="base" hangingPunct="1">
              <a:spcBef>
                <a:spcPct val="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网络设计能力与实际运行需求不匹配；</a:t>
            </a:r>
            <a:endParaRPr lang="en-US" altLang="zh-CN" sz="1600" dirty="0">
              <a:solidFill>
                <a:srgbClr val="000000"/>
              </a:solidFill>
              <a:latin typeface="微软雅黑" panose="020B0503020204020204" charset="-122"/>
              <a:ea typeface="微软雅黑" panose="020B0503020204020204" charset="-122"/>
            </a:endParaRPr>
          </a:p>
          <a:p>
            <a:pPr defTabSz="914400" eaLnBrk="1" fontAlgn="base" hangingPunct="1">
              <a:spcBef>
                <a:spcPct val="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设备未正常工作或能力限制。</a:t>
            </a:r>
          </a:p>
        </p:txBody>
      </p:sp>
      <p:sp>
        <p:nvSpPr>
          <p:cNvPr id="80" name="Text Box 81"/>
          <p:cNvSpPr txBox="1">
            <a:spLocks noChangeArrowheads="1"/>
          </p:cNvSpPr>
          <p:nvPr/>
        </p:nvSpPr>
        <p:spPr bwMode="auto">
          <a:xfrm>
            <a:off x="3877733" y="2564168"/>
            <a:ext cx="2743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通过对网络工程参数、无线资源参数等调整，保证网络质量能够满足业务需求。</a:t>
            </a:r>
          </a:p>
        </p:txBody>
      </p:sp>
      <p:sp>
        <p:nvSpPr>
          <p:cNvPr id="81" name="Text Box 3"/>
          <p:cNvSpPr txBox="1">
            <a:spLocks noChangeArrowheads="1"/>
          </p:cNvSpPr>
          <p:nvPr/>
        </p:nvSpPr>
        <p:spPr bwMode="auto">
          <a:xfrm>
            <a:off x="8410646" y="3333353"/>
            <a:ext cx="2706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网络优化最终目的：</a:t>
            </a:r>
            <a:endParaRPr lang="en-US" altLang="zh-CN" sz="1600" dirty="0">
              <a:solidFill>
                <a:srgbClr val="000000"/>
              </a:solidFill>
              <a:latin typeface="微软雅黑" panose="020B0503020204020204" charset="-122"/>
              <a:ea typeface="微软雅黑" panose="020B0503020204020204" charset="-122"/>
            </a:endParaRPr>
          </a:p>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提供一个高质量的</a:t>
            </a:r>
            <a:r>
              <a:rPr lang="en-US" altLang="zh-CN" sz="1600" dirty="0">
                <a:solidFill>
                  <a:srgbClr val="000000"/>
                </a:solidFill>
                <a:latin typeface="微软雅黑" panose="020B0503020204020204" charset="-122"/>
                <a:ea typeface="微软雅黑" panose="020B0503020204020204" charset="-122"/>
              </a:rPr>
              <a:t>LTE</a:t>
            </a:r>
            <a:r>
              <a:rPr lang="zh-CN" altLang="en-US" sz="1600" dirty="0">
                <a:solidFill>
                  <a:srgbClr val="000000"/>
                </a:solidFill>
                <a:latin typeface="微软雅黑" panose="020B0503020204020204" charset="-122"/>
                <a:ea typeface="微软雅黑" panose="020B0503020204020204" charset="-122"/>
              </a:rPr>
              <a:t>网络。</a:t>
            </a:r>
          </a:p>
        </p:txBody>
      </p:sp>
      <p:sp>
        <p:nvSpPr>
          <p:cNvPr id="82" name="Text Box 82"/>
          <p:cNvSpPr txBox="1">
            <a:spLocks noChangeArrowheads="1"/>
          </p:cNvSpPr>
          <p:nvPr/>
        </p:nvSpPr>
        <p:spPr bwMode="auto">
          <a:xfrm>
            <a:off x="4111311" y="6063018"/>
            <a:ext cx="44656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区域环境改变、站点搬迁或新建站、站点变动等因素，都会影响原有网络质量。</a:t>
            </a:r>
          </a:p>
        </p:txBody>
      </p:sp>
      <p:sp>
        <p:nvSpPr>
          <p:cNvPr id="83" name="AutoShape 83"/>
          <p:cNvSpPr>
            <a:spLocks noChangeArrowheads="1"/>
          </p:cNvSpPr>
          <p:nvPr/>
        </p:nvSpPr>
        <p:spPr bwMode="gray">
          <a:xfrm>
            <a:off x="4832036" y="3481743"/>
            <a:ext cx="1008062" cy="1381125"/>
          </a:xfrm>
          <a:prstGeom prst="downArrow">
            <a:avLst>
              <a:gd name="adj1" fmla="val 50000"/>
              <a:gd name="adj2" fmla="val 41115"/>
            </a:avLst>
          </a:prstGeom>
          <a:gradFill rotWithShape="1">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9525" algn="ctr">
            <a:noFill/>
            <a:miter lim="800000"/>
          </a:ln>
          <a:effectLst>
            <a:outerShdw dist="12700" dir="5400000" algn="ctr" rotWithShape="0">
              <a:srgbClr val="003300">
                <a:alpha val="50000"/>
              </a:srgbClr>
            </a:outerShdw>
          </a:effectLst>
        </p:spPr>
        <p:txBody>
          <a:bodyPr/>
          <a:lstStyle/>
          <a:p>
            <a:pPr defTabSz="914400" fontAlgn="base">
              <a:spcBef>
                <a:spcPct val="0"/>
              </a:spcBef>
              <a:spcAft>
                <a:spcPct val="0"/>
              </a:spcAft>
              <a:buFont typeface="Arial" panose="020B0604020202020204" pitchFamily="34" charset="0"/>
              <a:buNone/>
              <a:defRPr/>
            </a:pPr>
            <a:endParaRPr lang="zh-CN" altLang="en-US" sz="1800" dirty="0">
              <a:solidFill>
                <a:srgbClr val="003399"/>
              </a:solidFill>
              <a:latin typeface="微软雅黑" panose="020B0503020204020204" charset="-122"/>
              <a:ea typeface="微软雅黑" panose="020B0503020204020204" charset="-122"/>
            </a:endParaRPr>
          </a:p>
          <a:p>
            <a:pPr algn="ctr" defTabSz="914400" fontAlgn="base">
              <a:spcBef>
                <a:spcPct val="0"/>
              </a:spcBef>
              <a:spcAft>
                <a:spcPct val="0"/>
              </a:spcAft>
              <a:buFont typeface="Arial" panose="020B0604020202020204" pitchFamily="34" charset="0"/>
              <a:buNone/>
              <a:defRPr/>
            </a:pPr>
            <a:r>
              <a:rPr lang="zh-CN" altLang="en-US" sz="2000" dirty="0">
                <a:solidFill>
                  <a:srgbClr val="003399"/>
                </a:solidFill>
                <a:latin typeface="微软雅黑" panose="020B0503020204020204" charset="-122"/>
                <a:ea typeface="微软雅黑" panose="020B0503020204020204" charset="-122"/>
              </a:rPr>
              <a:t>调整</a:t>
            </a:r>
          </a:p>
        </p:txBody>
      </p:sp>
      <p:sp>
        <p:nvSpPr>
          <p:cNvPr id="84" name="圆角矩形标注 83"/>
          <p:cNvSpPr/>
          <p:nvPr/>
        </p:nvSpPr>
        <p:spPr>
          <a:xfrm>
            <a:off x="1064895" y="2298762"/>
            <a:ext cx="2489155" cy="585902"/>
          </a:xfrm>
          <a:prstGeom prst="wedgeRoundRectCallout">
            <a:avLst>
              <a:gd name="adj1" fmla="val -19342"/>
              <a:gd name="adj2" fmla="val 122067"/>
              <a:gd name="adj3" fmla="val 16667"/>
            </a:avLst>
          </a:prstGeom>
          <a:solidFill>
            <a:srgbClr val="F08C00"/>
          </a:solidFill>
          <a:ln w="38100" cap="flat" cmpd="sng" algn="ctr">
            <a:solidFill>
              <a:srgbClr val="FFFFFF"/>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lang="zh-CN" altLang="en-US" kern="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造成网络问题的原因</a:t>
            </a:r>
          </a:p>
        </p:txBody>
      </p:sp>
      <p:sp>
        <p:nvSpPr>
          <p:cNvPr id="85" name="圆角矩形标注 84"/>
          <p:cNvSpPr/>
          <p:nvPr/>
        </p:nvSpPr>
        <p:spPr>
          <a:xfrm>
            <a:off x="8554741" y="5274518"/>
            <a:ext cx="2061776" cy="476121"/>
          </a:xfrm>
          <a:prstGeom prst="wedgeRoundRectCallout">
            <a:avLst>
              <a:gd name="adj1" fmla="val -76578"/>
              <a:gd name="adj2" fmla="val 127482"/>
              <a:gd name="adj3" fmla="val 16667"/>
            </a:avLst>
          </a:prstGeom>
          <a:solidFill>
            <a:srgbClr val="F08C00"/>
          </a:solidFill>
          <a:ln w="38100" cap="flat" cmpd="sng" algn="ctr">
            <a:solidFill>
              <a:srgbClr val="FFFFFF"/>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charset="-122"/>
                <a:ea typeface="微软雅黑" panose="020B0503020204020204" charset="-122"/>
              </a:rPr>
              <a:t>什么时候需要优化</a:t>
            </a:r>
          </a:p>
        </p:txBody>
      </p:sp>
      <p:sp>
        <p:nvSpPr>
          <p:cNvPr id="86" name="圆角矩形标注 85"/>
          <p:cNvSpPr/>
          <p:nvPr/>
        </p:nvSpPr>
        <p:spPr>
          <a:xfrm>
            <a:off x="5190901" y="2004351"/>
            <a:ext cx="1223962" cy="419249"/>
          </a:xfrm>
          <a:prstGeom prst="wedgeRoundRectCallout">
            <a:avLst>
              <a:gd name="adj1" fmla="val -69889"/>
              <a:gd name="adj2" fmla="val 86868"/>
              <a:gd name="adj3" fmla="val 16667"/>
            </a:avLst>
          </a:prstGeom>
          <a:solidFill>
            <a:srgbClr val="F08C00"/>
          </a:solidFill>
          <a:ln w="38100" cap="flat" cmpd="sng" algn="ctr">
            <a:solidFill>
              <a:srgbClr val="FFFFFF"/>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charset="-122"/>
                <a:ea typeface="微软雅黑" panose="020B0503020204020204" charset="-122"/>
              </a:rPr>
              <a:t>如何优化？</a:t>
            </a:r>
          </a:p>
        </p:txBody>
      </p:sp>
      <p:sp>
        <p:nvSpPr>
          <p:cNvPr id="87" name="TextBox 67"/>
          <p:cNvSpPr txBox="1">
            <a:spLocks noChangeArrowheads="1"/>
          </p:cNvSpPr>
          <p:nvPr/>
        </p:nvSpPr>
        <p:spPr bwMode="auto">
          <a:xfrm>
            <a:off x="9182208" y="2280971"/>
            <a:ext cx="1044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914400" eaLnBrk="1" fontAlgn="base" hangingPunct="1">
              <a:spcBef>
                <a:spcPct val="0"/>
              </a:spcBef>
              <a:spcAft>
                <a:spcPct val="0"/>
              </a:spcAft>
              <a:buFont typeface="Arial" panose="020B0604020202020204" pitchFamily="34" charset="0"/>
              <a:buNone/>
            </a:pPr>
            <a:r>
              <a:rPr lang="en-US" altLang="zh-CN" sz="1800" b="1">
                <a:solidFill>
                  <a:srgbClr val="FF0000"/>
                </a:solidFill>
                <a:latin typeface="微软雅黑" panose="020B0503020204020204" charset="-122"/>
                <a:ea typeface="微软雅黑" panose="020B0503020204020204" charset="-122"/>
              </a:rPr>
              <a:t>KPI</a:t>
            </a:r>
            <a:endParaRPr lang="zh-CN" altLang="en-US" sz="1800" b="1">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1" y="993775"/>
            <a:ext cx="3169496"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无线网络优化流程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8" name="标题 1"/>
          <p:cNvSpPr txBox="1"/>
          <p:nvPr/>
        </p:nvSpPr>
        <p:spPr bwMode="auto">
          <a:xfrm>
            <a:off x="833161" y="2043459"/>
            <a:ext cx="207909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优化调整原则</a:t>
            </a:r>
          </a:p>
        </p:txBody>
      </p:sp>
      <p:sp>
        <p:nvSpPr>
          <p:cNvPr id="89" name="Line 4"/>
          <p:cNvSpPr>
            <a:spLocks noChangeShapeType="1"/>
          </p:cNvSpPr>
          <p:nvPr/>
        </p:nvSpPr>
        <p:spPr bwMode="auto">
          <a:xfrm>
            <a:off x="2565119" y="6101229"/>
            <a:ext cx="1655762" cy="0"/>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0" name="Line 6"/>
          <p:cNvSpPr>
            <a:spLocks noChangeShapeType="1"/>
          </p:cNvSpPr>
          <p:nvPr/>
        </p:nvSpPr>
        <p:spPr bwMode="auto">
          <a:xfrm>
            <a:off x="4725706" y="5321767"/>
            <a:ext cx="1439863" cy="0"/>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1" name="AutoShape 20"/>
          <p:cNvSpPr>
            <a:spLocks noChangeArrowheads="1"/>
          </p:cNvSpPr>
          <p:nvPr/>
        </p:nvSpPr>
        <p:spPr bwMode="auto">
          <a:xfrm>
            <a:off x="2565119" y="5201117"/>
            <a:ext cx="1944687" cy="720725"/>
          </a:xfrm>
          <a:prstGeom prst="parallelogram">
            <a:avLst>
              <a:gd name="adj" fmla="val 56296"/>
            </a:avLst>
          </a:prstGeom>
          <a:gradFill rotWithShape="1">
            <a:gsLst>
              <a:gs pos="0">
                <a:srgbClr val="F08C00"/>
              </a:gs>
              <a:gs pos="50000">
                <a:srgbClr val="FFFFFF"/>
              </a:gs>
              <a:gs pos="100000">
                <a:srgbClr val="F08C00"/>
              </a:gs>
            </a:gsLst>
            <a:lin ang="5400000" scaled="1"/>
          </a:gradFill>
          <a:ln w="9525">
            <a:solidFill>
              <a:srgbClr val="0000FF"/>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dirty="0">
                <a:ln>
                  <a:noFill/>
                </a:ln>
                <a:solidFill>
                  <a:srgbClr val="003399"/>
                </a:solidFill>
                <a:effectLst/>
                <a:uLnTx/>
                <a:uFillTx/>
                <a:latin typeface="微软雅黑" panose="020B0503020204020204" charset="-122"/>
                <a:ea typeface="微软雅黑" panose="020B0503020204020204" charset="-122"/>
              </a:rPr>
              <a:t>最佳系统覆盖</a:t>
            </a:r>
          </a:p>
        </p:txBody>
      </p:sp>
      <p:sp>
        <p:nvSpPr>
          <p:cNvPr id="92" name="AutoShape 21"/>
          <p:cNvSpPr>
            <a:spLocks noChangeArrowheads="1"/>
          </p:cNvSpPr>
          <p:nvPr/>
        </p:nvSpPr>
        <p:spPr bwMode="auto">
          <a:xfrm>
            <a:off x="4509806" y="4421654"/>
            <a:ext cx="1944688" cy="719138"/>
          </a:xfrm>
          <a:prstGeom prst="parallelogram">
            <a:avLst>
              <a:gd name="adj" fmla="val 56296"/>
            </a:avLst>
          </a:prstGeom>
          <a:gradFill rotWithShape="1">
            <a:gsLst>
              <a:gs pos="0">
                <a:srgbClr val="F08C00"/>
              </a:gs>
              <a:gs pos="50000">
                <a:srgbClr val="FFFFFF"/>
              </a:gs>
              <a:gs pos="100000">
                <a:srgbClr val="F08C00"/>
              </a:gs>
            </a:gsLst>
            <a:lin ang="5400000" scaled="1"/>
          </a:gradFill>
          <a:ln w="9525">
            <a:solidFill>
              <a:srgbClr val="0000FF"/>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a:ln>
                  <a:noFill/>
                </a:ln>
                <a:solidFill>
                  <a:srgbClr val="003399"/>
                </a:solidFill>
                <a:effectLst/>
                <a:uLnTx/>
                <a:uFillTx/>
                <a:latin typeface="微软雅黑" panose="020B0503020204020204" charset="-122"/>
                <a:ea typeface="微软雅黑" panose="020B0503020204020204" charset="-122"/>
              </a:rPr>
              <a:t>合理切换带</a:t>
            </a:r>
          </a:p>
        </p:txBody>
      </p:sp>
      <p:sp>
        <p:nvSpPr>
          <p:cNvPr id="93" name="AutoShape 22"/>
          <p:cNvSpPr>
            <a:spLocks noChangeArrowheads="1"/>
          </p:cNvSpPr>
          <p:nvPr/>
        </p:nvSpPr>
        <p:spPr bwMode="auto">
          <a:xfrm>
            <a:off x="6454494" y="3642192"/>
            <a:ext cx="1944687" cy="719137"/>
          </a:xfrm>
          <a:prstGeom prst="parallelogram">
            <a:avLst>
              <a:gd name="adj" fmla="val 56296"/>
            </a:avLst>
          </a:prstGeom>
          <a:gradFill rotWithShape="1">
            <a:gsLst>
              <a:gs pos="0">
                <a:srgbClr val="F08C00"/>
              </a:gs>
              <a:gs pos="50000">
                <a:srgbClr val="FFFFFF"/>
              </a:gs>
              <a:gs pos="100000">
                <a:srgbClr val="F08C00"/>
              </a:gs>
            </a:gsLst>
            <a:lin ang="5400000" scaled="1"/>
          </a:gradFill>
          <a:ln w="9525">
            <a:solidFill>
              <a:srgbClr val="0000FF"/>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a:ln>
                  <a:noFill/>
                </a:ln>
                <a:solidFill>
                  <a:srgbClr val="003399"/>
                </a:solidFill>
                <a:effectLst/>
                <a:uLnTx/>
                <a:uFillTx/>
                <a:latin typeface="微软雅黑" panose="020B0503020204020204" charset="-122"/>
                <a:ea typeface="微软雅黑" panose="020B0503020204020204" charset="-122"/>
              </a:rPr>
              <a:t>系统干扰小</a:t>
            </a:r>
          </a:p>
        </p:txBody>
      </p:sp>
      <p:sp>
        <p:nvSpPr>
          <p:cNvPr id="94" name="Line 23"/>
          <p:cNvSpPr>
            <a:spLocks noChangeShapeType="1"/>
          </p:cNvSpPr>
          <p:nvPr/>
        </p:nvSpPr>
        <p:spPr bwMode="auto">
          <a:xfrm flipH="1">
            <a:off x="4220881" y="5321767"/>
            <a:ext cx="504825" cy="779462"/>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5" name="Line 24"/>
          <p:cNvSpPr>
            <a:spLocks noChangeShapeType="1"/>
          </p:cNvSpPr>
          <p:nvPr/>
        </p:nvSpPr>
        <p:spPr bwMode="auto">
          <a:xfrm>
            <a:off x="6670394" y="4542304"/>
            <a:ext cx="1439862" cy="0"/>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6" name="Line 25"/>
          <p:cNvSpPr>
            <a:spLocks noChangeShapeType="1"/>
          </p:cNvSpPr>
          <p:nvPr/>
        </p:nvSpPr>
        <p:spPr bwMode="auto">
          <a:xfrm flipH="1">
            <a:off x="6165569" y="4542304"/>
            <a:ext cx="504825" cy="777875"/>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7" name="Line 26"/>
          <p:cNvSpPr>
            <a:spLocks noChangeShapeType="1"/>
          </p:cNvSpPr>
          <p:nvPr/>
        </p:nvSpPr>
        <p:spPr bwMode="auto">
          <a:xfrm>
            <a:off x="8613494" y="3761254"/>
            <a:ext cx="1439862" cy="0"/>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8" name="Line 27"/>
          <p:cNvSpPr>
            <a:spLocks noChangeShapeType="1"/>
          </p:cNvSpPr>
          <p:nvPr/>
        </p:nvSpPr>
        <p:spPr bwMode="auto">
          <a:xfrm flipH="1">
            <a:off x="8108669" y="3761254"/>
            <a:ext cx="504825" cy="779463"/>
          </a:xfrm>
          <a:prstGeom prst="line">
            <a:avLst/>
          </a:prstGeom>
          <a:noFill/>
          <a:ln w="76200">
            <a:solidFill>
              <a:srgbClr val="0000FF"/>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99" name="AutoShape 28"/>
          <p:cNvSpPr>
            <a:spLocks noChangeArrowheads="1"/>
          </p:cNvSpPr>
          <p:nvPr/>
        </p:nvSpPr>
        <p:spPr bwMode="auto">
          <a:xfrm>
            <a:off x="8397594" y="2862729"/>
            <a:ext cx="1944687" cy="719138"/>
          </a:xfrm>
          <a:prstGeom prst="parallelogram">
            <a:avLst>
              <a:gd name="adj" fmla="val 56296"/>
            </a:avLst>
          </a:prstGeom>
          <a:gradFill rotWithShape="1">
            <a:gsLst>
              <a:gs pos="0">
                <a:srgbClr val="F08C00"/>
              </a:gs>
              <a:gs pos="50000">
                <a:srgbClr val="FFFFFF"/>
              </a:gs>
              <a:gs pos="100000">
                <a:srgbClr val="F08C00"/>
              </a:gs>
            </a:gsLst>
            <a:lin ang="5400000" scaled="1"/>
          </a:gradFill>
          <a:ln w="9525">
            <a:solidFill>
              <a:srgbClr val="0000FF"/>
            </a:solidFill>
            <a:miter lim="800000"/>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0" cap="none" spc="0" normalizeH="0" baseline="0" noProof="0">
                <a:ln>
                  <a:noFill/>
                </a:ln>
                <a:solidFill>
                  <a:srgbClr val="003399"/>
                </a:solidFill>
                <a:effectLst/>
                <a:uLnTx/>
                <a:uFillTx/>
                <a:latin typeface="微软雅黑" panose="020B0503020204020204" charset="-122"/>
                <a:ea typeface="微软雅黑" panose="020B0503020204020204" charset="-122"/>
              </a:rPr>
              <a:t>基站负荷均匀</a:t>
            </a:r>
          </a:p>
        </p:txBody>
      </p:sp>
      <p:sp>
        <p:nvSpPr>
          <p:cNvPr id="100" name="Line 36"/>
          <p:cNvSpPr>
            <a:spLocks noChangeShapeType="1"/>
          </p:cNvSpPr>
          <p:nvPr/>
        </p:nvSpPr>
        <p:spPr bwMode="auto">
          <a:xfrm>
            <a:off x="2565119" y="6159967"/>
            <a:ext cx="1655762" cy="0"/>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1" name="Line 37"/>
          <p:cNvSpPr>
            <a:spLocks noChangeShapeType="1"/>
          </p:cNvSpPr>
          <p:nvPr/>
        </p:nvSpPr>
        <p:spPr bwMode="auto">
          <a:xfrm>
            <a:off x="4725706" y="5382092"/>
            <a:ext cx="1439863" cy="0"/>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2" name="Line 38"/>
          <p:cNvSpPr>
            <a:spLocks noChangeShapeType="1"/>
          </p:cNvSpPr>
          <p:nvPr/>
        </p:nvSpPr>
        <p:spPr bwMode="auto">
          <a:xfrm flipH="1">
            <a:off x="4220881" y="5382092"/>
            <a:ext cx="504825" cy="777875"/>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3" name="Line 39"/>
          <p:cNvSpPr>
            <a:spLocks noChangeShapeType="1"/>
          </p:cNvSpPr>
          <p:nvPr/>
        </p:nvSpPr>
        <p:spPr bwMode="auto">
          <a:xfrm>
            <a:off x="6670394" y="4601042"/>
            <a:ext cx="1439862" cy="0"/>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4" name="Line 40"/>
          <p:cNvSpPr>
            <a:spLocks noChangeShapeType="1"/>
          </p:cNvSpPr>
          <p:nvPr/>
        </p:nvSpPr>
        <p:spPr bwMode="auto">
          <a:xfrm flipH="1">
            <a:off x="6165569" y="4601042"/>
            <a:ext cx="504825" cy="779462"/>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5" name="Line 41"/>
          <p:cNvSpPr>
            <a:spLocks noChangeShapeType="1"/>
          </p:cNvSpPr>
          <p:nvPr/>
        </p:nvSpPr>
        <p:spPr bwMode="auto">
          <a:xfrm>
            <a:off x="8613494" y="3821579"/>
            <a:ext cx="1439862" cy="0"/>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6" name="Line 42"/>
          <p:cNvSpPr>
            <a:spLocks noChangeShapeType="1"/>
          </p:cNvSpPr>
          <p:nvPr/>
        </p:nvSpPr>
        <p:spPr bwMode="auto">
          <a:xfrm flipH="1">
            <a:off x="8108669" y="3821579"/>
            <a:ext cx="504825" cy="777875"/>
          </a:xfrm>
          <a:prstGeom prst="line">
            <a:avLst/>
          </a:prstGeom>
          <a:noFill/>
          <a:ln w="76200">
            <a:solidFill>
              <a:srgbClr val="FFFF00"/>
            </a:solidFill>
            <a:rou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endParaRPr>
          </a:p>
        </p:txBody>
      </p:sp>
      <p:sp>
        <p:nvSpPr>
          <p:cNvPr id="107" name="Text Box 43"/>
          <p:cNvSpPr txBox="1">
            <a:spLocks noChangeArrowheads="1"/>
          </p:cNvSpPr>
          <p:nvPr/>
        </p:nvSpPr>
        <p:spPr bwMode="auto">
          <a:xfrm>
            <a:off x="2638144" y="4601042"/>
            <a:ext cx="14398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以有限功率，实现最优覆盖。</a:t>
            </a:r>
          </a:p>
        </p:txBody>
      </p:sp>
      <p:sp>
        <p:nvSpPr>
          <p:cNvPr id="108" name="Text Box 44"/>
          <p:cNvSpPr txBox="1">
            <a:spLocks noChangeArrowheads="1"/>
          </p:cNvSpPr>
          <p:nvPr/>
        </p:nvSpPr>
        <p:spPr bwMode="auto">
          <a:xfrm>
            <a:off x="4798731" y="3500169"/>
            <a:ext cx="17287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合理切换带设置，减小掉话、呼叫失败可能性</a:t>
            </a:r>
          </a:p>
        </p:txBody>
      </p:sp>
      <p:sp>
        <p:nvSpPr>
          <p:cNvPr id="109" name="Text Box 45"/>
          <p:cNvSpPr txBox="1">
            <a:spLocks noChangeArrowheads="1"/>
          </p:cNvSpPr>
          <p:nvPr/>
        </p:nvSpPr>
        <p:spPr bwMode="auto">
          <a:xfrm>
            <a:off x="6634675" y="2966929"/>
            <a:ext cx="19431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功率控制、</a:t>
            </a:r>
            <a:r>
              <a:rPr lang="en-US" altLang="zh-CN" sz="1600" dirty="0">
                <a:solidFill>
                  <a:srgbClr val="000000"/>
                </a:solidFill>
                <a:latin typeface="微软雅黑" panose="020B0503020204020204" charset="-122"/>
                <a:ea typeface="微软雅黑" panose="020B0503020204020204" charset="-122"/>
              </a:rPr>
              <a:t>RS</a:t>
            </a:r>
            <a:r>
              <a:rPr lang="zh-CN" altLang="en-US" sz="1600" dirty="0">
                <a:solidFill>
                  <a:srgbClr val="000000"/>
                </a:solidFill>
                <a:latin typeface="微软雅黑" panose="020B0503020204020204" charset="-122"/>
                <a:ea typeface="微软雅黑" panose="020B0503020204020204" charset="-122"/>
              </a:rPr>
              <a:t>功率调整，降低干扰</a:t>
            </a:r>
          </a:p>
        </p:txBody>
      </p:sp>
      <p:sp>
        <p:nvSpPr>
          <p:cNvPr id="110" name="Text Box 47"/>
          <p:cNvSpPr txBox="1">
            <a:spLocks noChangeArrowheads="1"/>
          </p:cNvSpPr>
          <p:nvPr/>
        </p:nvSpPr>
        <p:spPr bwMode="auto">
          <a:xfrm>
            <a:off x="8698161" y="2153946"/>
            <a:ext cx="19446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50000"/>
              </a:spcBef>
              <a:spcAft>
                <a:spcPct val="0"/>
              </a:spcAft>
              <a:buFont typeface="Arial" panose="020B0604020202020204" pitchFamily="34" charset="0"/>
              <a:buNone/>
            </a:pPr>
            <a:r>
              <a:rPr lang="zh-CN" altLang="en-US" sz="1600" dirty="0">
                <a:solidFill>
                  <a:srgbClr val="000000"/>
                </a:solidFill>
                <a:latin typeface="微软雅黑" panose="020B0503020204020204" charset="-122"/>
                <a:ea typeface="微软雅黑" panose="020B0503020204020204" charset="-122"/>
              </a:rPr>
              <a:t>调整基站覆盖范围，合理进行负荷分担</a:t>
            </a:r>
          </a:p>
        </p:txBody>
      </p:sp>
      <p:sp>
        <p:nvSpPr>
          <p:cNvPr id="111" name="AutoShape 49"/>
          <p:cNvSpPr>
            <a:spLocks noChangeArrowheads="1"/>
          </p:cNvSpPr>
          <p:nvPr/>
        </p:nvSpPr>
        <p:spPr bwMode="auto">
          <a:xfrm>
            <a:off x="5086068" y="5682129"/>
            <a:ext cx="5844397" cy="960438"/>
          </a:xfrm>
          <a:prstGeom prst="roundRect">
            <a:avLst>
              <a:gd name="adj" fmla="val 16667"/>
            </a:avLst>
          </a:prstGeom>
          <a:gradFill rotWithShape="1">
            <a:gsLst>
              <a:gs pos="0">
                <a:srgbClr val="FFCC00"/>
              </a:gs>
              <a:gs pos="50000">
                <a:srgbClr val="FFFFFF"/>
              </a:gs>
              <a:gs pos="100000">
                <a:srgbClr val="FFCC00"/>
              </a:gs>
            </a:gsLst>
            <a:lin ang="5400000" scaled="1"/>
          </a:gradFill>
          <a:ln w="9525">
            <a:solidFill>
              <a:srgbClr val="0000FF"/>
            </a:solidFill>
            <a:round/>
          </a:ln>
          <a:effectLst/>
        </p:spPr>
        <p:txBody>
          <a:bodyPr wrap="none" anchor="ctr"/>
          <a:lstStyle/>
          <a:p>
            <a:pPr marL="285750" marR="0" lvl="0" indent="-285750" defTabSz="914400" eaLnBrk="1" fontAlgn="base" latinLnBrk="0" hangingPunct="1">
              <a:lnSpc>
                <a:spcPct val="130000"/>
              </a:lnSpc>
              <a:spcBef>
                <a:spcPct val="0"/>
              </a:spcBef>
              <a:spcAft>
                <a:spcPct val="0"/>
              </a:spcAft>
              <a:buClrTx/>
              <a:buSzTx/>
              <a:buFont typeface="Arial" panose="020B0604020202020204" pitchFamily="34" charset="0"/>
              <a:buChar char="•"/>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数据业务为主，较传统语音业务网络的用户感知侧重点不同；</a:t>
            </a:r>
            <a:endParaRPr kumimoji="0" lang="en-US" altLang="zh-CN"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a:p>
            <a:pPr marL="285750" marR="0" lvl="0" indent="-285750" defTabSz="914400" eaLnBrk="1" fontAlgn="base" latinLnBrk="0" hangingPunct="1">
              <a:lnSpc>
                <a:spcPct val="130000"/>
              </a:lnSpc>
              <a:spcBef>
                <a:spcPct val="0"/>
              </a:spcBef>
              <a:spcAft>
                <a:spcPct val="0"/>
              </a:spcAft>
              <a:buClrTx/>
              <a:buSzTx/>
              <a:buFont typeface="Arial" panose="020B0604020202020204" pitchFamily="34" charset="0"/>
              <a:buChar char="•"/>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小区边缘速率</a:t>
            </a:r>
          </a:p>
          <a:p>
            <a:pPr marL="285750" marR="0" lvl="0" indent="-285750" defTabSz="914400" eaLnBrk="1" fontAlgn="base" latinLnBrk="0" hangingPunct="1">
              <a:lnSpc>
                <a:spcPct val="130000"/>
              </a:lnSpc>
              <a:spcBef>
                <a:spcPct val="0"/>
              </a:spcBef>
              <a:spcAft>
                <a:spcPct val="0"/>
              </a:spcAft>
              <a:buClrTx/>
              <a:buSzTx/>
              <a:buFont typeface="Arial" panose="020B0604020202020204" pitchFamily="34" charset="0"/>
              <a:buChar char="•"/>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与</a:t>
            </a:r>
            <a:r>
              <a:rPr kumimoji="0" lang="en-US" altLang="zh-CN"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2/3G</a:t>
            </a: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系统共存，需要考虑</a:t>
            </a:r>
            <a:r>
              <a:rPr kumimoji="0" lang="en-US" altLang="zh-CN"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2/3G</a:t>
            </a: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协同优化</a:t>
            </a:r>
          </a:p>
        </p:txBody>
      </p:sp>
      <p:sp>
        <p:nvSpPr>
          <p:cNvPr id="112" name="AutoShape 50"/>
          <p:cNvSpPr>
            <a:spLocks noChangeArrowheads="1"/>
          </p:cNvSpPr>
          <p:nvPr/>
        </p:nvSpPr>
        <p:spPr bwMode="auto">
          <a:xfrm>
            <a:off x="8397594" y="4309892"/>
            <a:ext cx="2248180" cy="1079500"/>
          </a:xfrm>
          <a:prstGeom prst="cloudCallout">
            <a:avLst>
              <a:gd name="adj1" fmla="val -43750"/>
              <a:gd name="adj2" fmla="val 70000"/>
            </a:avLst>
          </a:prstGeom>
          <a:gradFill rotWithShape="1">
            <a:gsLst>
              <a:gs pos="0">
                <a:srgbClr val="FFFFFF"/>
              </a:gs>
              <a:gs pos="7001">
                <a:srgbClr val="E6E6E6"/>
              </a:gs>
              <a:gs pos="32001">
                <a:srgbClr val="7D8496"/>
              </a:gs>
              <a:gs pos="47000">
                <a:srgbClr val="E6E6E6"/>
              </a:gs>
              <a:gs pos="85001">
                <a:srgbClr val="7D8496"/>
              </a:gs>
              <a:gs pos="100000">
                <a:srgbClr val="E6E6E6"/>
              </a:gs>
            </a:gsLst>
            <a:lin ang="2700000" scaled="1"/>
          </a:gra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LTE</a:t>
            </a: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系统与</a:t>
            </a:r>
            <a:r>
              <a:rPr kumimoji="0" lang="en-US" altLang="zh-CN"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2/3G</a:t>
            </a: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网络优化有不同之处</a:t>
            </a:r>
          </a:p>
        </p:txBody>
      </p:sp>
      <p:sp>
        <p:nvSpPr>
          <p:cNvPr id="113" name="AutoShape 51"/>
          <p:cNvSpPr>
            <a:spLocks noChangeArrowheads="1"/>
          </p:cNvSpPr>
          <p:nvPr/>
        </p:nvSpPr>
        <p:spPr bwMode="auto">
          <a:xfrm>
            <a:off x="2815944" y="2202329"/>
            <a:ext cx="3960812" cy="1258888"/>
          </a:xfrm>
          <a:prstGeom prst="irregularSeal1">
            <a:avLst/>
          </a:prstGeom>
          <a:gradFill rotWithShape="1">
            <a:gsLst>
              <a:gs pos="0">
                <a:srgbClr val="0087E2"/>
              </a:gs>
              <a:gs pos="100000">
                <a:srgbClr val="CCECFF"/>
              </a:gs>
            </a:gsLst>
            <a:lin ang="5400000" scaled="1"/>
          </a:gra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6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保证网络覆盖是优化的基础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3A6B-4FC0-EB76-41C1-2B5DB4746F7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A9C7379-7EA2-049C-67D3-B72F2A420D00}"/>
              </a:ext>
            </a:extLst>
          </p:cNvPr>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a:extLst>
              <a:ext uri="{FF2B5EF4-FFF2-40B4-BE49-F238E27FC236}">
                <a16:creationId xmlns:a16="http://schemas.microsoft.com/office/drawing/2014/main" id="{4B98DC48-D5F2-E0D6-D356-225B9077E866}"/>
              </a:ext>
            </a:extLst>
          </p:cNvPr>
          <p:cNvSpPr txBox="1"/>
          <p:nvPr/>
        </p:nvSpPr>
        <p:spPr>
          <a:xfrm>
            <a:off x="833161" y="993775"/>
            <a:ext cx="3169496"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无线网络优化流程</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9AE3570F-4F45-E84D-C455-DA1700A1A99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descr="D:\教材开发\教材开发word与PPT\图4-1-2 LTE无线网络优化总体流程.jpg">
            <a:extLst>
              <a:ext uri="{FF2B5EF4-FFF2-40B4-BE49-F238E27FC236}">
                <a16:creationId xmlns:a16="http://schemas.microsoft.com/office/drawing/2014/main" id="{670BAC4B-9502-C288-2C1B-D19DA7552B2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357778" y="1200150"/>
            <a:ext cx="6219825" cy="5657850"/>
          </a:xfrm>
          <a:prstGeom prst="rect">
            <a:avLst/>
          </a:prstGeom>
          <a:noFill/>
          <a:ln>
            <a:noFill/>
          </a:ln>
        </p:spPr>
      </p:pic>
    </p:spTree>
    <p:extLst>
      <p:ext uri="{BB962C8B-B14F-4D97-AF65-F5344CB8AC3E}">
        <p14:creationId xmlns:p14="http://schemas.microsoft.com/office/powerpoint/2010/main" val="167190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MH_Other_1"/>
          <p:cNvSpPr/>
          <p:nvPr>
            <p:custDataLst>
              <p:tags r:id="rId1"/>
            </p:custDataLst>
          </p:nvPr>
        </p:nvSpPr>
        <p:spPr>
          <a:xfrm>
            <a:off x="2170907" y="2939509"/>
            <a:ext cx="357188" cy="355600"/>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8" name="MH_Other_2"/>
          <p:cNvSpPr/>
          <p:nvPr>
            <p:custDataLst>
              <p:tags r:id="rId2"/>
            </p:custDataLst>
          </p:nvPr>
        </p:nvSpPr>
        <p:spPr>
          <a:xfrm>
            <a:off x="2170907" y="3344323"/>
            <a:ext cx="357188" cy="357187"/>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9" name="MH_Other_3"/>
          <p:cNvSpPr/>
          <p:nvPr>
            <p:custDataLst>
              <p:tags r:id="rId3"/>
            </p:custDataLst>
          </p:nvPr>
        </p:nvSpPr>
        <p:spPr>
          <a:xfrm>
            <a:off x="2377282" y="3142709"/>
            <a:ext cx="355600" cy="355600"/>
          </a:xfrm>
          <a:prstGeom prst="diamond">
            <a:avLst/>
          </a:prstGeom>
          <a:solidFill>
            <a:schemeClr val="accent1">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0" name="MH_Other_4"/>
          <p:cNvSpPr/>
          <p:nvPr>
            <p:custDataLst>
              <p:tags r:id="rId4"/>
            </p:custDataLst>
          </p:nvPr>
        </p:nvSpPr>
        <p:spPr>
          <a:xfrm>
            <a:off x="1786732" y="2810923"/>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1" name="MH_Other_5"/>
          <p:cNvSpPr/>
          <p:nvPr>
            <p:custDataLst>
              <p:tags r:id="rId5"/>
            </p:custDataLst>
          </p:nvPr>
        </p:nvSpPr>
        <p:spPr bwMode="auto">
          <a:xfrm>
            <a:off x="1758157" y="2810923"/>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FFFFFF"/>
                </a:solidFill>
              </a:rPr>
              <a:t>1</a:t>
            </a:r>
            <a:endParaRPr lang="zh-CN" altLang="en-US" sz="2400" b="1" dirty="0">
              <a:solidFill>
                <a:srgbClr val="FFFFFF"/>
              </a:solidFill>
            </a:endParaRPr>
          </a:p>
        </p:txBody>
      </p:sp>
      <p:sp>
        <p:nvSpPr>
          <p:cNvPr id="13" name="MH_Text_1"/>
          <p:cNvSpPr/>
          <p:nvPr>
            <p:custDataLst>
              <p:tags r:id="rId6"/>
            </p:custDataLst>
          </p:nvPr>
        </p:nvSpPr>
        <p:spPr>
          <a:xfrm>
            <a:off x="2012951" y="3877016"/>
            <a:ext cx="3922183" cy="2847099"/>
          </a:xfrm>
          <a:prstGeom prst="rect">
            <a:avLst/>
          </a:prstGeom>
        </p:spPr>
        <p:txBody>
          <a:bodyPr>
            <a:normAutofit/>
          </a:bodyPr>
          <a:lstStyle/>
          <a:p>
            <a:pPr marL="285750" indent="-285750">
              <a:lnSpc>
                <a:spcPct val="150000"/>
              </a:lnSpc>
              <a:buFont typeface="Arial" panose="020B0604020202020204" pitchFamily="34" charset="0"/>
              <a:buChar char="•"/>
              <a:defRPr/>
            </a:pPr>
            <a:r>
              <a:rPr lang="en-US" altLang="zh-CN" dirty="0"/>
              <a:t>《</a:t>
            </a:r>
            <a:r>
              <a:rPr lang="zh-CN" altLang="en-US" dirty="0"/>
              <a:t>无线网络勘察报告</a:t>
            </a:r>
            <a:r>
              <a:rPr lang="en-US" altLang="zh-CN" dirty="0"/>
              <a:t>》</a:t>
            </a:r>
          </a:p>
          <a:p>
            <a:pPr marL="285750" indent="-285750">
              <a:lnSpc>
                <a:spcPct val="150000"/>
              </a:lnSpc>
              <a:buFont typeface="Arial" panose="020B0604020202020204" pitchFamily="34" charset="0"/>
              <a:buChar char="•"/>
              <a:defRPr/>
            </a:pPr>
            <a:r>
              <a:rPr lang="en-US" altLang="zh-CN" dirty="0"/>
              <a:t>《</a:t>
            </a:r>
            <a:r>
              <a:rPr lang="zh-CN" altLang="en-US" dirty="0"/>
              <a:t>无线网络规划仿真报告</a:t>
            </a:r>
            <a:r>
              <a:rPr lang="en-US" altLang="zh-CN" dirty="0"/>
              <a:t>》</a:t>
            </a:r>
          </a:p>
          <a:p>
            <a:pPr marL="285750" indent="-285750">
              <a:lnSpc>
                <a:spcPct val="150000"/>
              </a:lnSpc>
              <a:buFont typeface="Arial" panose="020B0604020202020204" pitchFamily="34" charset="0"/>
              <a:buChar char="•"/>
              <a:defRPr/>
            </a:pPr>
            <a:r>
              <a:rPr lang="en-US" altLang="zh-CN" dirty="0"/>
              <a:t>《</a:t>
            </a:r>
            <a:r>
              <a:rPr lang="zh-CN" altLang="en-US" dirty="0"/>
              <a:t>工程参数设计总表</a:t>
            </a:r>
            <a:r>
              <a:rPr lang="en-US" altLang="zh-CN" dirty="0"/>
              <a:t>》</a:t>
            </a:r>
          </a:p>
          <a:p>
            <a:pPr marL="285750" indent="-285750">
              <a:lnSpc>
                <a:spcPct val="150000"/>
              </a:lnSpc>
              <a:buFont typeface="Arial" panose="020B0604020202020204" pitchFamily="34" charset="0"/>
              <a:buChar char="•"/>
              <a:defRPr/>
            </a:pPr>
            <a:r>
              <a:rPr lang="en-US" altLang="zh-CN" dirty="0"/>
              <a:t>《</a:t>
            </a:r>
            <a:r>
              <a:rPr lang="zh-CN" altLang="en-US" dirty="0"/>
              <a:t>小区参数设计总表</a:t>
            </a:r>
            <a:r>
              <a:rPr lang="en-US" altLang="zh-CN" dirty="0"/>
              <a:t>》</a:t>
            </a:r>
          </a:p>
          <a:p>
            <a:pPr>
              <a:lnSpc>
                <a:spcPct val="150000"/>
              </a:lnSpc>
              <a:defRPr/>
            </a:pPr>
            <a:r>
              <a:rPr lang="zh-CN" altLang="en-US" dirty="0"/>
              <a:t>以上文档是规划设计的输出结果，优化要以规划为基础。</a:t>
            </a:r>
          </a:p>
        </p:txBody>
      </p:sp>
      <p:sp>
        <p:nvSpPr>
          <p:cNvPr id="14" name="MH_SubTitle_1"/>
          <p:cNvSpPr/>
          <p:nvPr>
            <p:custDataLst>
              <p:tags r:id="rId7"/>
            </p:custDataLst>
          </p:nvPr>
        </p:nvSpPr>
        <p:spPr>
          <a:xfrm>
            <a:off x="2726267" y="2979377"/>
            <a:ext cx="2578100" cy="542922"/>
          </a:xfrm>
          <a:prstGeom prst="rect">
            <a:avLst/>
          </a:prstGeom>
        </p:spPr>
        <p:txBody>
          <a:bodyPr anchor="b">
            <a:noAutofit/>
          </a:bodyPr>
          <a:lstStyle/>
          <a:p>
            <a:pPr>
              <a:defRPr/>
            </a:pPr>
            <a:r>
              <a:rPr lang="zh-CN" altLang="en-US" sz="2400" b="1" kern="0" dirty="0">
                <a:solidFill>
                  <a:schemeClr val="accent1"/>
                </a:solidFill>
                <a:cs typeface="宋体" panose="02010600030101010101" pitchFamily="2" charset="-122"/>
              </a:rPr>
              <a:t>勘察规划设计</a:t>
            </a:r>
            <a:endParaRPr lang="zh-CN" altLang="en-US" sz="2400" b="1" dirty="0">
              <a:solidFill>
                <a:schemeClr val="accent1"/>
              </a:solidFill>
            </a:endParaRPr>
          </a:p>
        </p:txBody>
      </p:sp>
      <p:sp>
        <p:nvSpPr>
          <p:cNvPr id="15" name="MH_Other_11"/>
          <p:cNvSpPr/>
          <p:nvPr>
            <p:custDataLst>
              <p:tags r:id="rId8"/>
            </p:custDataLst>
          </p:nvPr>
        </p:nvSpPr>
        <p:spPr>
          <a:xfrm>
            <a:off x="6403446" y="1514381"/>
            <a:ext cx="357188"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6" name="MH_Other_12"/>
          <p:cNvSpPr/>
          <p:nvPr>
            <p:custDataLst>
              <p:tags r:id="rId9"/>
            </p:custDataLst>
          </p:nvPr>
        </p:nvSpPr>
        <p:spPr>
          <a:xfrm>
            <a:off x="6403446" y="1919195"/>
            <a:ext cx="357188" cy="357187"/>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7" name="MH_Other_13"/>
          <p:cNvSpPr/>
          <p:nvPr>
            <p:custDataLst>
              <p:tags r:id="rId10"/>
            </p:custDataLst>
          </p:nvPr>
        </p:nvSpPr>
        <p:spPr>
          <a:xfrm>
            <a:off x="6609821" y="1717581"/>
            <a:ext cx="355600" cy="355600"/>
          </a:xfrm>
          <a:prstGeom prst="diamond">
            <a:avLst/>
          </a:prstGeom>
          <a:solidFill>
            <a:schemeClr val="accent2">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8" name="MH_Other_14"/>
          <p:cNvSpPr/>
          <p:nvPr>
            <p:custDataLst>
              <p:tags r:id="rId11"/>
            </p:custDataLst>
          </p:nvPr>
        </p:nvSpPr>
        <p:spPr>
          <a:xfrm>
            <a:off x="6019271" y="1385795"/>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9" name="MH_Other_15"/>
          <p:cNvSpPr/>
          <p:nvPr>
            <p:custDataLst>
              <p:tags r:id="rId12"/>
            </p:custDataLst>
          </p:nvPr>
        </p:nvSpPr>
        <p:spPr bwMode="auto">
          <a:xfrm>
            <a:off x="5990696" y="1385795"/>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FFFFFF"/>
                </a:solidFill>
              </a:rPr>
              <a:t>2</a:t>
            </a:r>
            <a:endParaRPr lang="zh-CN" altLang="en-US" sz="2400" b="1" dirty="0">
              <a:solidFill>
                <a:srgbClr val="FFFFFF"/>
              </a:solidFill>
            </a:endParaRPr>
          </a:p>
        </p:txBody>
      </p:sp>
      <p:sp>
        <p:nvSpPr>
          <p:cNvPr id="20" name="MH_Text_2"/>
          <p:cNvSpPr/>
          <p:nvPr>
            <p:custDataLst>
              <p:tags r:id="rId13"/>
            </p:custDataLst>
          </p:nvPr>
        </p:nvSpPr>
        <p:spPr>
          <a:xfrm>
            <a:off x="6338518" y="2503655"/>
            <a:ext cx="4794250" cy="3786896"/>
          </a:xfrm>
          <a:prstGeom prst="rect">
            <a:avLst/>
          </a:prstGeom>
        </p:spPr>
        <p:txBody>
          <a:bodyPr>
            <a:normAutofit/>
          </a:bodyPr>
          <a:lstStyle/>
          <a:p>
            <a:pPr marL="285750" indent="-285750">
              <a:lnSpc>
                <a:spcPct val="150000"/>
              </a:lnSpc>
              <a:buFont typeface="Arial" panose="020B0604020202020204" pitchFamily="34" charset="0"/>
              <a:buChar char="•"/>
              <a:defRPr/>
            </a:pPr>
            <a:r>
              <a:rPr lang="en-US" altLang="zh-CN" dirty="0"/>
              <a:t>《</a:t>
            </a:r>
            <a:r>
              <a:rPr lang="zh-CN" altLang="en-US" dirty="0"/>
              <a:t>工程参数总表</a:t>
            </a:r>
            <a:r>
              <a:rPr lang="en-US" altLang="zh-CN" dirty="0"/>
              <a:t>》</a:t>
            </a:r>
            <a:r>
              <a:rPr lang="zh-CN" altLang="en-US" dirty="0"/>
              <a:t>：基站经纬度，天线挂高，天线方位角，下倾角，天线型号，天线是否共用。</a:t>
            </a:r>
          </a:p>
          <a:p>
            <a:pPr marL="285750" indent="-285750">
              <a:lnSpc>
                <a:spcPct val="150000"/>
              </a:lnSpc>
              <a:buFont typeface="Arial" panose="020B0604020202020204" pitchFamily="34" charset="0"/>
              <a:buChar char="•"/>
              <a:defRPr/>
            </a:pPr>
            <a:r>
              <a:rPr lang="en-US" altLang="zh-CN" dirty="0"/>
              <a:t>《</a:t>
            </a:r>
            <a:r>
              <a:rPr lang="zh-CN" altLang="en-US" dirty="0"/>
              <a:t>小区参数总表</a:t>
            </a:r>
            <a:r>
              <a:rPr lang="en-US" altLang="zh-CN" dirty="0"/>
              <a:t>》</a:t>
            </a:r>
            <a:r>
              <a:rPr lang="zh-CN" altLang="en-US" dirty="0"/>
              <a:t>：小区频点，功率配置，传输资源和模式。</a:t>
            </a:r>
          </a:p>
          <a:p>
            <a:pPr marL="285750" indent="-285750">
              <a:lnSpc>
                <a:spcPct val="150000"/>
              </a:lnSpc>
              <a:buFont typeface="Arial" panose="020B0604020202020204" pitchFamily="34" charset="0"/>
              <a:buChar char="•"/>
              <a:defRPr/>
            </a:pPr>
            <a:r>
              <a:rPr lang="en-US" altLang="zh-CN" dirty="0"/>
              <a:t>《</a:t>
            </a:r>
            <a:r>
              <a:rPr lang="zh-CN" altLang="en-US" dirty="0"/>
              <a:t>工程实施进度表</a:t>
            </a:r>
            <a:r>
              <a:rPr lang="en-US" altLang="zh-CN" dirty="0"/>
              <a:t>》</a:t>
            </a:r>
            <a:r>
              <a:rPr lang="zh-CN" altLang="en-US" dirty="0"/>
              <a:t>：站点开通进度，问题站点等。</a:t>
            </a:r>
          </a:p>
          <a:p>
            <a:pPr>
              <a:lnSpc>
                <a:spcPct val="150000"/>
              </a:lnSpc>
              <a:defRPr/>
            </a:pPr>
            <a:r>
              <a:rPr lang="zh-CN" altLang="en-US" dirty="0"/>
              <a:t>以上数据是实际安装的结果，如果与规划设计不一致，在优化前要按照规划设计调整。</a:t>
            </a:r>
          </a:p>
        </p:txBody>
      </p:sp>
      <p:sp>
        <p:nvSpPr>
          <p:cNvPr id="21" name="MH_SubTitle_2"/>
          <p:cNvSpPr/>
          <p:nvPr>
            <p:custDataLst>
              <p:tags r:id="rId14"/>
            </p:custDataLst>
          </p:nvPr>
        </p:nvSpPr>
        <p:spPr>
          <a:xfrm>
            <a:off x="7020983" y="1517473"/>
            <a:ext cx="2578100" cy="580315"/>
          </a:xfrm>
          <a:prstGeom prst="rect">
            <a:avLst/>
          </a:prstGeom>
        </p:spPr>
        <p:txBody>
          <a:bodyPr anchor="b">
            <a:normAutofit/>
          </a:bodyPr>
          <a:lstStyle/>
          <a:p>
            <a:pPr>
              <a:defRPr/>
            </a:pPr>
            <a:r>
              <a:rPr lang="zh-CN" altLang="en-US" sz="2400" b="1" kern="0" dirty="0">
                <a:solidFill>
                  <a:schemeClr val="accent2"/>
                </a:solidFill>
                <a:cs typeface="宋体" panose="02010600030101010101" pitchFamily="2" charset="-122"/>
              </a:rPr>
              <a:t>工程信息</a:t>
            </a:r>
            <a:endParaRPr lang="zh-CN" altLang="en-US" sz="2400" b="1" dirty="0">
              <a:solidFill>
                <a:schemeClr val="accent2"/>
              </a:solidFill>
            </a:endParaRPr>
          </a:p>
        </p:txBody>
      </p:sp>
      <p:sp>
        <p:nvSpPr>
          <p:cNvPr id="22" name="标题 1"/>
          <p:cNvSpPr txBox="1"/>
          <p:nvPr/>
        </p:nvSpPr>
        <p:spPr bwMode="auto">
          <a:xfrm>
            <a:off x="1234943" y="209778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en-US" altLang="zh-CN" sz="2000" b="1" dirty="0">
                <a:solidFill>
                  <a:srgbClr val="005BAA"/>
                </a:solidFill>
              </a:rPr>
              <a:t>1</a:t>
            </a:r>
            <a:r>
              <a:rPr lang="zh-CN" altLang="en-US" sz="2000" b="1" dirty="0">
                <a:solidFill>
                  <a:srgbClr val="005BAA"/>
                </a:solidFill>
              </a:rPr>
              <a:t>、项目准备与启动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MH_Other_1"/>
          <p:cNvSpPr/>
          <p:nvPr>
            <p:custDataLst>
              <p:tags r:id="rId1"/>
            </p:custDataLst>
          </p:nvPr>
        </p:nvSpPr>
        <p:spPr>
          <a:xfrm>
            <a:off x="2170907" y="2939509"/>
            <a:ext cx="357188" cy="355600"/>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8" name="MH_Other_2"/>
          <p:cNvSpPr/>
          <p:nvPr>
            <p:custDataLst>
              <p:tags r:id="rId2"/>
            </p:custDataLst>
          </p:nvPr>
        </p:nvSpPr>
        <p:spPr>
          <a:xfrm>
            <a:off x="2170907" y="3344323"/>
            <a:ext cx="357188" cy="357187"/>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9" name="MH_Other_3"/>
          <p:cNvSpPr/>
          <p:nvPr>
            <p:custDataLst>
              <p:tags r:id="rId3"/>
            </p:custDataLst>
          </p:nvPr>
        </p:nvSpPr>
        <p:spPr>
          <a:xfrm>
            <a:off x="2377282" y="3142709"/>
            <a:ext cx="355600" cy="355600"/>
          </a:xfrm>
          <a:prstGeom prst="diamond">
            <a:avLst/>
          </a:prstGeom>
          <a:solidFill>
            <a:schemeClr val="accent1">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0" name="MH_Other_4"/>
          <p:cNvSpPr/>
          <p:nvPr>
            <p:custDataLst>
              <p:tags r:id="rId4"/>
            </p:custDataLst>
          </p:nvPr>
        </p:nvSpPr>
        <p:spPr>
          <a:xfrm>
            <a:off x="1786732" y="2810923"/>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1" name="MH_Other_5"/>
          <p:cNvSpPr/>
          <p:nvPr>
            <p:custDataLst>
              <p:tags r:id="rId5"/>
            </p:custDataLst>
          </p:nvPr>
        </p:nvSpPr>
        <p:spPr bwMode="auto">
          <a:xfrm>
            <a:off x="1758157" y="2810923"/>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FFFFFF"/>
                </a:solidFill>
              </a:rPr>
              <a:t>3</a:t>
            </a:r>
            <a:endParaRPr lang="zh-CN" altLang="en-US" sz="2400" b="1" dirty="0">
              <a:solidFill>
                <a:srgbClr val="FFFFFF"/>
              </a:solidFill>
            </a:endParaRPr>
          </a:p>
        </p:txBody>
      </p:sp>
      <p:sp>
        <p:nvSpPr>
          <p:cNvPr id="13" name="MH_Text_1"/>
          <p:cNvSpPr/>
          <p:nvPr>
            <p:custDataLst>
              <p:tags r:id="rId6"/>
            </p:custDataLst>
          </p:nvPr>
        </p:nvSpPr>
        <p:spPr>
          <a:xfrm>
            <a:off x="2012951" y="3877016"/>
            <a:ext cx="3922183" cy="2847099"/>
          </a:xfrm>
          <a:prstGeom prst="rect">
            <a:avLst/>
          </a:prstGeom>
        </p:spPr>
        <p:txBody>
          <a:bodyPr>
            <a:normAutofit/>
          </a:bodyPr>
          <a:lstStyle/>
          <a:p>
            <a:pPr marL="285750" indent="-285750">
              <a:lnSpc>
                <a:spcPct val="150000"/>
              </a:lnSpc>
              <a:buFont typeface="Arial" panose="020B0604020202020204" pitchFamily="34" charset="0"/>
              <a:buChar char="•"/>
              <a:defRPr/>
            </a:pPr>
            <a:r>
              <a:rPr lang="en-US" altLang="zh-CN" dirty="0"/>
              <a:t>《</a:t>
            </a:r>
            <a:r>
              <a:rPr lang="zh-CN" altLang="en-US" dirty="0"/>
              <a:t>用户投诉信息表</a:t>
            </a:r>
            <a:r>
              <a:rPr lang="en-US" altLang="zh-CN" dirty="0"/>
              <a:t>》</a:t>
            </a:r>
          </a:p>
          <a:p>
            <a:pPr>
              <a:lnSpc>
                <a:spcPct val="150000"/>
              </a:lnSpc>
              <a:defRPr/>
            </a:pPr>
            <a:r>
              <a:rPr lang="zh-CN" altLang="zh-CN" dirty="0"/>
              <a:t>《用户投诉信息表》</a:t>
            </a:r>
            <a:r>
              <a:rPr lang="zh-CN" altLang="en-US" dirty="0"/>
              <a:t>从客服中心获取用户投诉详细数据。</a:t>
            </a:r>
          </a:p>
        </p:txBody>
      </p:sp>
      <p:sp>
        <p:nvSpPr>
          <p:cNvPr id="14" name="MH_SubTitle_1"/>
          <p:cNvSpPr/>
          <p:nvPr>
            <p:custDataLst>
              <p:tags r:id="rId7"/>
            </p:custDataLst>
          </p:nvPr>
        </p:nvSpPr>
        <p:spPr>
          <a:xfrm>
            <a:off x="2726267" y="2979377"/>
            <a:ext cx="2578100" cy="542922"/>
          </a:xfrm>
          <a:prstGeom prst="rect">
            <a:avLst/>
          </a:prstGeom>
        </p:spPr>
        <p:txBody>
          <a:bodyPr anchor="b">
            <a:noAutofit/>
          </a:bodyPr>
          <a:lstStyle/>
          <a:p>
            <a:pPr>
              <a:defRPr/>
            </a:pPr>
            <a:r>
              <a:rPr lang="zh-CN" altLang="en-US" sz="2400" b="1" kern="0" dirty="0">
                <a:solidFill>
                  <a:schemeClr val="accent1"/>
                </a:solidFill>
                <a:cs typeface="宋体" panose="02010600030101010101" pitchFamily="2" charset="-122"/>
              </a:rPr>
              <a:t>支撑信息</a:t>
            </a:r>
            <a:endParaRPr lang="zh-CN" altLang="en-US" sz="2400" b="1" dirty="0">
              <a:solidFill>
                <a:schemeClr val="accent1"/>
              </a:solidFill>
            </a:endParaRPr>
          </a:p>
        </p:txBody>
      </p:sp>
      <p:sp>
        <p:nvSpPr>
          <p:cNvPr id="15" name="MH_Other_11"/>
          <p:cNvSpPr/>
          <p:nvPr>
            <p:custDataLst>
              <p:tags r:id="rId8"/>
            </p:custDataLst>
          </p:nvPr>
        </p:nvSpPr>
        <p:spPr>
          <a:xfrm>
            <a:off x="6696869" y="2939509"/>
            <a:ext cx="357188"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6" name="MH_Other_12"/>
          <p:cNvSpPr/>
          <p:nvPr>
            <p:custDataLst>
              <p:tags r:id="rId9"/>
            </p:custDataLst>
          </p:nvPr>
        </p:nvSpPr>
        <p:spPr>
          <a:xfrm>
            <a:off x="6696869" y="3344323"/>
            <a:ext cx="357188" cy="357187"/>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7" name="MH_Other_13"/>
          <p:cNvSpPr/>
          <p:nvPr>
            <p:custDataLst>
              <p:tags r:id="rId10"/>
            </p:custDataLst>
          </p:nvPr>
        </p:nvSpPr>
        <p:spPr>
          <a:xfrm>
            <a:off x="6903244" y="3142709"/>
            <a:ext cx="355600" cy="355600"/>
          </a:xfrm>
          <a:prstGeom prst="diamond">
            <a:avLst/>
          </a:prstGeom>
          <a:solidFill>
            <a:schemeClr val="accent2">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8" name="MH_Other_14"/>
          <p:cNvSpPr/>
          <p:nvPr>
            <p:custDataLst>
              <p:tags r:id="rId11"/>
            </p:custDataLst>
          </p:nvPr>
        </p:nvSpPr>
        <p:spPr>
          <a:xfrm>
            <a:off x="6312694" y="2810923"/>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9" name="MH_Other_15"/>
          <p:cNvSpPr/>
          <p:nvPr>
            <p:custDataLst>
              <p:tags r:id="rId12"/>
            </p:custDataLst>
          </p:nvPr>
        </p:nvSpPr>
        <p:spPr bwMode="auto">
          <a:xfrm>
            <a:off x="6284119" y="2810923"/>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rgbClr val="FFFFFF"/>
                </a:solidFill>
              </a:rPr>
              <a:t>4</a:t>
            </a:r>
            <a:endParaRPr lang="zh-CN" altLang="en-US" sz="2400" b="1" dirty="0">
              <a:solidFill>
                <a:srgbClr val="FFFFFF"/>
              </a:solidFill>
            </a:endParaRPr>
          </a:p>
        </p:txBody>
      </p:sp>
      <p:sp>
        <p:nvSpPr>
          <p:cNvPr id="20" name="MH_Text_2"/>
          <p:cNvSpPr/>
          <p:nvPr>
            <p:custDataLst>
              <p:tags r:id="rId13"/>
            </p:custDataLst>
          </p:nvPr>
        </p:nvSpPr>
        <p:spPr>
          <a:xfrm>
            <a:off x="6631941" y="3928783"/>
            <a:ext cx="4794250" cy="2093745"/>
          </a:xfrm>
          <a:prstGeom prst="rect">
            <a:avLst/>
          </a:prstGeom>
        </p:spPr>
        <p:txBody>
          <a:bodyPr>
            <a:normAutofit/>
          </a:bodyPr>
          <a:lstStyle/>
          <a:p>
            <a:pPr marL="285750" indent="-285750">
              <a:lnSpc>
                <a:spcPct val="150000"/>
              </a:lnSpc>
              <a:buFont typeface="Arial" panose="020B0604020202020204" pitchFamily="34" charset="0"/>
              <a:buChar char="•"/>
              <a:defRPr/>
            </a:pPr>
            <a:r>
              <a:rPr lang="en-US" altLang="zh-CN" dirty="0"/>
              <a:t>《</a:t>
            </a:r>
            <a:r>
              <a:rPr lang="zh-CN" altLang="en-US" dirty="0"/>
              <a:t>小区状态及告警信息</a:t>
            </a:r>
            <a:r>
              <a:rPr lang="en-US" altLang="zh-CN" dirty="0"/>
              <a:t>》</a:t>
            </a:r>
            <a:r>
              <a:rPr lang="zh-CN" altLang="en-US" dirty="0"/>
              <a:t>，检查是否有影响业务的告警，是否存在驻波比异常，传输闪断，硬件故障等问题。</a:t>
            </a:r>
          </a:p>
          <a:p>
            <a:pPr marL="285750" indent="-285750">
              <a:lnSpc>
                <a:spcPct val="150000"/>
              </a:lnSpc>
              <a:buFont typeface="Arial" panose="020B0604020202020204" pitchFamily="34" charset="0"/>
              <a:buChar char="•"/>
              <a:defRPr/>
            </a:pPr>
            <a:r>
              <a:rPr lang="en-US" altLang="zh-CN" dirty="0"/>
              <a:t>《</a:t>
            </a:r>
            <a:r>
              <a:rPr lang="zh-CN" altLang="en-US" dirty="0"/>
              <a:t>话统数据</a:t>
            </a:r>
            <a:r>
              <a:rPr lang="en-US" altLang="zh-CN" dirty="0"/>
              <a:t>》</a:t>
            </a:r>
            <a:r>
              <a:rPr lang="zh-CN" altLang="en-US" dirty="0"/>
              <a:t>，核查</a:t>
            </a:r>
            <a:r>
              <a:rPr lang="en-US" altLang="zh-CN" dirty="0"/>
              <a:t>KPI</a:t>
            </a:r>
            <a:r>
              <a:rPr lang="zh-CN" altLang="en-US" dirty="0"/>
              <a:t>是否在正常范围内。</a:t>
            </a:r>
          </a:p>
        </p:txBody>
      </p:sp>
      <p:sp>
        <p:nvSpPr>
          <p:cNvPr id="21" name="MH_SubTitle_2"/>
          <p:cNvSpPr/>
          <p:nvPr>
            <p:custDataLst>
              <p:tags r:id="rId14"/>
            </p:custDataLst>
          </p:nvPr>
        </p:nvSpPr>
        <p:spPr>
          <a:xfrm>
            <a:off x="7314406" y="2942601"/>
            <a:ext cx="2578100" cy="580315"/>
          </a:xfrm>
          <a:prstGeom prst="rect">
            <a:avLst/>
          </a:prstGeom>
        </p:spPr>
        <p:txBody>
          <a:bodyPr anchor="b">
            <a:normAutofit/>
          </a:bodyPr>
          <a:lstStyle/>
          <a:p>
            <a:pPr>
              <a:defRPr/>
            </a:pPr>
            <a:r>
              <a:rPr lang="zh-CN" altLang="en-US" sz="2400" b="1" kern="0" dirty="0">
                <a:solidFill>
                  <a:schemeClr val="accent2"/>
                </a:solidFill>
                <a:cs typeface="宋体" panose="02010600030101010101" pitchFamily="2" charset="-122"/>
              </a:rPr>
              <a:t>网络表现</a:t>
            </a:r>
            <a:endParaRPr lang="zh-CN" altLang="en-US" sz="2400" b="1" dirty="0">
              <a:solidFill>
                <a:schemeClr val="accent2"/>
              </a:solidFill>
            </a:endParaRPr>
          </a:p>
        </p:txBody>
      </p:sp>
      <p:sp>
        <p:nvSpPr>
          <p:cNvPr id="22" name="标题 1"/>
          <p:cNvSpPr txBox="1"/>
          <p:nvPr/>
        </p:nvSpPr>
        <p:spPr bwMode="auto">
          <a:xfrm>
            <a:off x="1234943" y="209778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en-US" altLang="zh-CN" sz="2000" b="1" dirty="0">
                <a:solidFill>
                  <a:srgbClr val="005BAA"/>
                </a:solidFill>
              </a:rPr>
              <a:t>1</a:t>
            </a:r>
            <a:r>
              <a:rPr lang="zh-CN" altLang="en-US" sz="2000" b="1" dirty="0">
                <a:solidFill>
                  <a:srgbClr val="005BAA"/>
                </a:solidFill>
              </a:rPr>
              <a:t>、项目准备与启动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标题 1"/>
          <p:cNvSpPr txBox="1"/>
          <p:nvPr/>
        </p:nvSpPr>
        <p:spPr bwMode="auto">
          <a:xfrm>
            <a:off x="1234943" y="209778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en-US" altLang="zh-CN" sz="2000" b="1" dirty="0">
                <a:solidFill>
                  <a:srgbClr val="005BAA"/>
                </a:solidFill>
              </a:rPr>
              <a:t>2</a:t>
            </a:r>
            <a:r>
              <a:rPr lang="zh-CN" altLang="en-US" sz="2000" b="1" dirty="0">
                <a:solidFill>
                  <a:srgbClr val="005BAA"/>
                </a:solidFill>
              </a:rPr>
              <a:t>、单验流程</a:t>
            </a:r>
          </a:p>
        </p:txBody>
      </p:sp>
      <p:sp>
        <p:nvSpPr>
          <p:cNvPr id="31" name="文本框 7"/>
          <p:cNvSpPr txBox="1">
            <a:spLocks noChangeArrowheads="1"/>
          </p:cNvSpPr>
          <p:nvPr>
            <p:custDataLst>
              <p:tags r:id="rId1"/>
            </p:custDataLst>
          </p:nvPr>
        </p:nvSpPr>
        <p:spPr bwMode="auto">
          <a:xfrm>
            <a:off x="1603244" y="2705446"/>
            <a:ext cx="7699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a:solidFill>
                  <a:schemeClr val="accent1"/>
                </a:solidFill>
                <a:latin typeface="微软雅黑" panose="020B0503020204020204" charset="-122"/>
                <a:ea typeface="微软雅黑" panose="020B0503020204020204" charset="-122"/>
              </a:rPr>
              <a:t>01</a:t>
            </a:r>
            <a:endParaRPr lang="zh-CN" altLang="en-US" sz="2400" b="1">
              <a:solidFill>
                <a:schemeClr val="accent1"/>
              </a:solidFill>
              <a:latin typeface="微软雅黑" panose="020B0503020204020204" charset="-122"/>
              <a:ea typeface="微软雅黑" panose="020B0503020204020204" charset="-122"/>
            </a:endParaRPr>
          </a:p>
        </p:txBody>
      </p:sp>
      <p:sp>
        <p:nvSpPr>
          <p:cNvPr id="32" name="文本框 31"/>
          <p:cNvSpPr txBox="1"/>
          <p:nvPr>
            <p:custDataLst>
              <p:tags r:id="rId2"/>
            </p:custDataLst>
          </p:nvPr>
        </p:nvSpPr>
        <p:spPr bwMode="auto">
          <a:xfrm>
            <a:off x="1234943" y="3497254"/>
            <a:ext cx="4717124" cy="2370667"/>
          </a:xfrm>
          <a:prstGeom prst="rect">
            <a:avLst/>
          </a:prstGeom>
          <a:noFill/>
        </p:spPr>
        <p:txBody>
          <a:bodyPr anchor="ctr">
            <a:noAutofit/>
          </a:bodyPr>
          <a:lstStyle/>
          <a:p>
            <a:pPr>
              <a:spcAft>
                <a:spcPts val="1200"/>
              </a:spcAft>
              <a:defRPr/>
            </a:pPr>
            <a:r>
              <a:rPr lang="zh-CN" altLang="en-US" dirty="0">
                <a:cs typeface="Arial" panose="020B0604020202020204" pitchFamily="34" charset="0"/>
              </a:rPr>
              <a:t>根据测试目的不同，可选择不同业务测试类型（包括接入，数据业务上载、下载等），通常采用以下测试： </a:t>
            </a:r>
            <a:endParaRPr lang="en-US" altLang="zh-CN" dirty="0">
              <a:cs typeface="Arial" panose="020B0604020202020204" pitchFamily="34" charset="0"/>
            </a:endParaRPr>
          </a:p>
          <a:p>
            <a:pPr marL="463550" lvl="1" indent="-285750">
              <a:buFont typeface="Arial" panose="020B0604020202020204" pitchFamily="34" charset="0"/>
              <a:buChar char="•"/>
            </a:pPr>
            <a:r>
              <a:rPr lang="en-US" altLang="zh-CN" dirty="0">
                <a:latin typeface="+mj-ea"/>
              </a:rPr>
              <a:t>a</a:t>
            </a:r>
            <a:r>
              <a:rPr lang="zh-CN" altLang="en-US" dirty="0">
                <a:latin typeface="+mj-ea"/>
              </a:rPr>
              <a:t>．进行 </a:t>
            </a:r>
            <a:r>
              <a:rPr lang="en-US" altLang="zh-CN" dirty="0">
                <a:latin typeface="+mj-ea"/>
              </a:rPr>
              <a:t>PS </a:t>
            </a:r>
            <a:r>
              <a:rPr lang="zh-CN" altLang="en-US" dirty="0">
                <a:latin typeface="+mj-ea"/>
              </a:rPr>
              <a:t>业务下行连续下载测试</a:t>
            </a:r>
          </a:p>
          <a:p>
            <a:pPr marL="463550" lvl="1" indent="-285750">
              <a:buFont typeface="Arial" panose="020B0604020202020204" pitchFamily="34" charset="0"/>
              <a:buChar char="•"/>
            </a:pPr>
            <a:r>
              <a:rPr lang="en-US" altLang="zh-CN" dirty="0">
                <a:latin typeface="+mj-ea"/>
              </a:rPr>
              <a:t>b</a:t>
            </a:r>
            <a:r>
              <a:rPr lang="zh-CN" altLang="en-US" dirty="0">
                <a:latin typeface="+mj-ea"/>
              </a:rPr>
              <a:t>．进行 </a:t>
            </a:r>
            <a:r>
              <a:rPr lang="en-US" altLang="zh-CN" dirty="0">
                <a:latin typeface="+mj-ea"/>
              </a:rPr>
              <a:t>PS </a:t>
            </a:r>
            <a:r>
              <a:rPr lang="zh-CN" altLang="en-US" dirty="0">
                <a:latin typeface="+mj-ea"/>
              </a:rPr>
              <a:t>业务上行连续上传测试</a:t>
            </a:r>
          </a:p>
          <a:p>
            <a:pPr marL="463550" lvl="1" indent="-285750">
              <a:buFont typeface="Arial" panose="020B0604020202020204" pitchFamily="34" charset="0"/>
              <a:buChar char="•"/>
            </a:pPr>
            <a:r>
              <a:rPr lang="en-US" altLang="zh-CN" dirty="0">
                <a:latin typeface="+mj-ea"/>
              </a:rPr>
              <a:t>c</a:t>
            </a:r>
            <a:r>
              <a:rPr lang="zh-CN" altLang="en-US" dirty="0">
                <a:latin typeface="+mj-ea"/>
              </a:rPr>
              <a:t>．进行 </a:t>
            </a:r>
            <a:r>
              <a:rPr lang="en-US" altLang="zh-CN" dirty="0">
                <a:latin typeface="+mj-ea"/>
              </a:rPr>
              <a:t>PS </a:t>
            </a:r>
            <a:r>
              <a:rPr lang="zh-CN" altLang="en-US" dirty="0">
                <a:latin typeface="+mj-ea"/>
              </a:rPr>
              <a:t>业务接入呼叫测试</a:t>
            </a:r>
          </a:p>
          <a:p>
            <a:pPr marL="463550" lvl="1" indent="-285750">
              <a:buFont typeface="Arial" panose="020B0604020202020204" pitchFamily="34" charset="0"/>
              <a:buChar char="•"/>
            </a:pPr>
            <a:r>
              <a:rPr lang="en-US" altLang="zh-CN" dirty="0">
                <a:latin typeface="+mj-ea"/>
              </a:rPr>
              <a:t>d</a:t>
            </a:r>
            <a:r>
              <a:rPr lang="zh-CN" altLang="en-US" dirty="0">
                <a:latin typeface="+mj-ea"/>
              </a:rPr>
              <a:t>．进行 </a:t>
            </a:r>
            <a:r>
              <a:rPr lang="en-US" altLang="zh-CN" dirty="0">
                <a:latin typeface="+mj-ea"/>
              </a:rPr>
              <a:t>Attach/Detach </a:t>
            </a:r>
            <a:r>
              <a:rPr lang="zh-CN" altLang="en-US" dirty="0">
                <a:latin typeface="+mj-ea"/>
              </a:rPr>
              <a:t>测试</a:t>
            </a:r>
            <a:endParaRPr lang="en-US" altLang="zh-CN" dirty="0">
              <a:latin typeface="+mj-ea"/>
            </a:endParaRPr>
          </a:p>
          <a:p>
            <a:pPr>
              <a:defRPr/>
            </a:pPr>
            <a:endParaRPr lang="en-US" altLang="zh-CN" dirty="0">
              <a:cs typeface="Arial" panose="020B0604020202020204" pitchFamily="34" charset="0"/>
            </a:endParaRPr>
          </a:p>
        </p:txBody>
      </p:sp>
      <p:sp>
        <p:nvSpPr>
          <p:cNvPr id="33" name="燕尾形 32"/>
          <p:cNvSpPr/>
          <p:nvPr>
            <p:custDataLst>
              <p:tags r:id="rId3"/>
            </p:custDataLst>
          </p:nvPr>
        </p:nvSpPr>
        <p:spPr>
          <a:xfrm>
            <a:off x="1234943" y="2883246"/>
            <a:ext cx="368300" cy="3683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solidFill>
                <a:schemeClr val="tx1"/>
              </a:solidFill>
              <a:latin typeface="微软雅黑" panose="020B0503020204020204" charset="-122"/>
              <a:ea typeface="微软雅黑" panose="020B0503020204020204" charset="-122"/>
            </a:endParaRPr>
          </a:p>
        </p:txBody>
      </p:sp>
      <p:sp>
        <p:nvSpPr>
          <p:cNvPr id="34" name="文本框 7"/>
          <p:cNvSpPr txBox="1">
            <a:spLocks noChangeArrowheads="1"/>
          </p:cNvSpPr>
          <p:nvPr>
            <p:custDataLst>
              <p:tags r:id="rId4"/>
            </p:custDataLst>
          </p:nvPr>
        </p:nvSpPr>
        <p:spPr bwMode="auto">
          <a:xfrm>
            <a:off x="6530844" y="1266112"/>
            <a:ext cx="7699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accent1"/>
                </a:solidFill>
                <a:latin typeface="微软雅黑" panose="020B0503020204020204" charset="-122"/>
                <a:ea typeface="微软雅黑" panose="020B0503020204020204" charset="-122"/>
              </a:rPr>
              <a:t>02</a:t>
            </a:r>
            <a:endParaRPr lang="zh-CN" altLang="en-US" sz="2400" b="1" dirty="0">
              <a:solidFill>
                <a:schemeClr val="accent1"/>
              </a:solidFill>
              <a:latin typeface="微软雅黑" panose="020B0503020204020204" charset="-122"/>
              <a:ea typeface="微软雅黑" panose="020B0503020204020204" charset="-122"/>
            </a:endParaRPr>
          </a:p>
        </p:txBody>
      </p:sp>
      <p:sp>
        <p:nvSpPr>
          <p:cNvPr id="35" name="燕尾形 34"/>
          <p:cNvSpPr/>
          <p:nvPr>
            <p:custDataLst>
              <p:tags r:id="rId5"/>
            </p:custDataLst>
          </p:nvPr>
        </p:nvSpPr>
        <p:spPr>
          <a:xfrm>
            <a:off x="6162543" y="1443912"/>
            <a:ext cx="368300" cy="3683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solidFill>
                <a:schemeClr val="tx1"/>
              </a:solidFill>
              <a:latin typeface="微软雅黑" panose="020B0503020204020204" charset="-122"/>
              <a:ea typeface="微软雅黑" panose="020B0503020204020204" charset="-122"/>
            </a:endParaRPr>
          </a:p>
        </p:txBody>
      </p:sp>
      <p:sp>
        <p:nvSpPr>
          <p:cNvPr id="2" name="矩形 1"/>
          <p:cNvSpPr/>
          <p:nvPr/>
        </p:nvSpPr>
        <p:spPr>
          <a:xfrm>
            <a:off x="6096000" y="1988067"/>
            <a:ext cx="5706533" cy="2031325"/>
          </a:xfrm>
          <a:prstGeom prst="rect">
            <a:avLst/>
          </a:prstGeom>
        </p:spPr>
        <p:txBody>
          <a:bodyPr wrap="square">
            <a:spAutoFit/>
          </a:bodyPr>
          <a:lstStyle/>
          <a:p>
            <a:r>
              <a:rPr lang="zh-CN" altLang="en-US" dirty="0">
                <a:latin typeface="+mj-ea"/>
              </a:rPr>
              <a:t>测试内容</a:t>
            </a:r>
          </a:p>
          <a:p>
            <a:pPr marL="463550" lvl="1" indent="-285750">
              <a:buFont typeface="Arial" panose="020B0604020202020204" pitchFamily="34" charset="0"/>
              <a:buChar char="•"/>
            </a:pPr>
            <a:r>
              <a:rPr lang="en-US" altLang="zh-CN" dirty="0">
                <a:latin typeface="+mj-ea"/>
              </a:rPr>
              <a:t>a</a:t>
            </a:r>
            <a:r>
              <a:rPr lang="zh-CN" altLang="en-US" dirty="0">
                <a:latin typeface="+mj-ea"/>
              </a:rPr>
              <a:t>．工程类： 天线方位角、下倾角与规划是否一致，天馈是否接反或接错，天线近端是否被阻挡，天线挂高与规划是否一致，其他硬件是否存在故障。</a:t>
            </a:r>
          </a:p>
          <a:p>
            <a:pPr marL="463550" lvl="1" indent="-285750">
              <a:buFont typeface="Arial" panose="020B0604020202020204" pitchFamily="34" charset="0"/>
              <a:buChar char="•"/>
            </a:pPr>
            <a:r>
              <a:rPr lang="en-US" altLang="zh-CN" dirty="0">
                <a:latin typeface="+mj-ea"/>
              </a:rPr>
              <a:t>b</a:t>
            </a:r>
            <a:r>
              <a:rPr lang="zh-CN" altLang="en-US" dirty="0">
                <a:latin typeface="+mj-ea"/>
              </a:rPr>
              <a:t>．业务类： 业务能否正常进行，是否存在诸如无法接入，无法访问 </a:t>
            </a:r>
            <a:r>
              <a:rPr lang="en-US" altLang="zh-CN" dirty="0">
                <a:latin typeface="+mj-ea"/>
              </a:rPr>
              <a:t>internet</a:t>
            </a:r>
            <a:r>
              <a:rPr lang="zh-CN" altLang="en-US" dirty="0">
                <a:latin typeface="+mj-ea"/>
              </a:rPr>
              <a:t>，视频不流畅等问题。</a:t>
            </a:r>
          </a:p>
          <a:p>
            <a:pPr marL="463550" lvl="1" indent="-285750">
              <a:buFont typeface="Arial" panose="020B0604020202020204" pitchFamily="34" charset="0"/>
              <a:buChar char="•"/>
            </a:pPr>
            <a:r>
              <a:rPr lang="en-US" altLang="zh-CN" dirty="0">
                <a:latin typeface="+mj-ea"/>
              </a:rPr>
              <a:t>c</a:t>
            </a:r>
            <a:r>
              <a:rPr lang="zh-CN" altLang="en-US" dirty="0">
                <a:latin typeface="+mj-ea"/>
              </a:rPr>
              <a:t>．性能类： 吞吐率是否达标，切换是否正常</a:t>
            </a:r>
            <a:endParaRPr lang="en-US" altLang="zh-CN" dirty="0">
              <a:latin typeface="+mj-ea"/>
            </a:endParaRPr>
          </a:p>
        </p:txBody>
      </p:sp>
      <p:sp>
        <p:nvSpPr>
          <p:cNvPr id="4" name="矩形 3"/>
          <p:cNvSpPr/>
          <p:nvPr/>
        </p:nvSpPr>
        <p:spPr>
          <a:xfrm>
            <a:off x="6322695" y="4579568"/>
            <a:ext cx="5164667" cy="874407"/>
          </a:xfrm>
          <a:prstGeom prst="rect">
            <a:avLst/>
          </a:prstGeom>
        </p:spPr>
        <p:txBody>
          <a:bodyPr wrap="square">
            <a:spAutoFit/>
          </a:bodyPr>
          <a:lstStyle/>
          <a:p>
            <a:pPr>
              <a:lnSpc>
                <a:spcPct val="150000"/>
              </a:lnSpc>
            </a:pPr>
            <a:r>
              <a:rPr lang="zh-CN" altLang="en-US" dirty="0">
                <a:solidFill>
                  <a:srgbClr val="FF0000"/>
                </a:solidFill>
                <a:latin typeface="+mj-ea"/>
              </a:rPr>
              <a:t>单站验证测试检查出问题，需要通过工程整改、参数调整等方式进行优化。</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标题 1"/>
          <p:cNvSpPr txBox="1"/>
          <p:nvPr/>
        </p:nvSpPr>
        <p:spPr bwMode="auto">
          <a:xfrm>
            <a:off x="1234943" y="209778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en-US" altLang="zh-CN" sz="2000" b="1" dirty="0">
                <a:solidFill>
                  <a:srgbClr val="005BAA"/>
                </a:solidFill>
              </a:rPr>
              <a:t>2</a:t>
            </a:r>
            <a:r>
              <a:rPr lang="zh-CN" altLang="en-US" sz="2000" b="1" dirty="0">
                <a:solidFill>
                  <a:srgbClr val="005BAA"/>
                </a:solidFill>
              </a:rPr>
              <a:t>、单验流程</a:t>
            </a:r>
          </a:p>
        </p:txBody>
      </p:sp>
      <p:sp>
        <p:nvSpPr>
          <p:cNvPr id="34" name="文本框 7"/>
          <p:cNvSpPr txBox="1">
            <a:spLocks noChangeArrowheads="1"/>
          </p:cNvSpPr>
          <p:nvPr>
            <p:custDataLst>
              <p:tags r:id="rId1"/>
            </p:custDataLst>
          </p:nvPr>
        </p:nvSpPr>
        <p:spPr bwMode="auto">
          <a:xfrm>
            <a:off x="1669787" y="2705446"/>
            <a:ext cx="7699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dirty="0">
                <a:solidFill>
                  <a:schemeClr val="accent1"/>
                </a:solidFill>
                <a:latin typeface="微软雅黑" panose="020B0503020204020204" charset="-122"/>
                <a:ea typeface="微软雅黑" panose="020B0503020204020204" charset="-122"/>
              </a:rPr>
              <a:t>03</a:t>
            </a:r>
            <a:endParaRPr lang="zh-CN" altLang="en-US" sz="2400" b="1" dirty="0">
              <a:solidFill>
                <a:schemeClr val="accent1"/>
              </a:solidFill>
              <a:latin typeface="微软雅黑" panose="020B0503020204020204" charset="-122"/>
              <a:ea typeface="微软雅黑" panose="020B0503020204020204" charset="-122"/>
            </a:endParaRPr>
          </a:p>
        </p:txBody>
      </p:sp>
      <p:sp>
        <p:nvSpPr>
          <p:cNvPr id="35" name="燕尾形 34"/>
          <p:cNvSpPr/>
          <p:nvPr>
            <p:custDataLst>
              <p:tags r:id="rId2"/>
            </p:custDataLst>
          </p:nvPr>
        </p:nvSpPr>
        <p:spPr>
          <a:xfrm>
            <a:off x="1301486" y="2883246"/>
            <a:ext cx="368300" cy="3683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solidFill>
                <a:schemeClr val="tx1"/>
              </a:solidFill>
              <a:latin typeface="微软雅黑" panose="020B0503020204020204" charset="-122"/>
              <a:ea typeface="微软雅黑" panose="020B0503020204020204" charset="-122"/>
            </a:endParaRPr>
          </a:p>
        </p:txBody>
      </p:sp>
      <p:sp>
        <p:nvSpPr>
          <p:cNvPr id="2" name="矩形 1"/>
          <p:cNvSpPr/>
          <p:nvPr/>
        </p:nvSpPr>
        <p:spPr>
          <a:xfrm>
            <a:off x="1234943" y="3427401"/>
            <a:ext cx="4979590" cy="2569934"/>
          </a:xfrm>
          <a:prstGeom prst="rect">
            <a:avLst/>
          </a:prstGeom>
        </p:spPr>
        <p:txBody>
          <a:bodyPr wrap="square">
            <a:spAutoFit/>
          </a:bodyPr>
          <a:lstStyle/>
          <a:p>
            <a:pPr>
              <a:spcAft>
                <a:spcPts val="1200"/>
              </a:spcAft>
            </a:pPr>
            <a:r>
              <a:rPr lang="zh-CN" altLang="en-US" dirty="0">
                <a:latin typeface="+mj-ea"/>
              </a:rPr>
              <a:t>工作重点－验证</a:t>
            </a:r>
          </a:p>
          <a:p>
            <a:pPr marL="177800" lvl="1">
              <a:spcBef>
                <a:spcPts val="600"/>
              </a:spcBef>
              <a:spcAft>
                <a:spcPts val="600"/>
              </a:spcAft>
            </a:pPr>
            <a:r>
              <a:rPr lang="en-US" altLang="zh-CN" dirty="0">
                <a:solidFill>
                  <a:srgbClr val="FF0000"/>
                </a:solidFill>
                <a:latin typeface="+mj-ea"/>
              </a:rPr>
              <a:t>a. </a:t>
            </a:r>
            <a:r>
              <a:rPr lang="zh-CN" altLang="en-US" dirty="0">
                <a:solidFill>
                  <a:srgbClr val="FF0000"/>
                </a:solidFill>
                <a:latin typeface="+mj-ea"/>
              </a:rPr>
              <a:t>规划数据验证</a:t>
            </a:r>
          </a:p>
          <a:p>
            <a:pPr marL="520700" lvl="1" indent="-342900">
              <a:spcBef>
                <a:spcPts val="600"/>
              </a:spcBef>
              <a:spcAft>
                <a:spcPts val="600"/>
              </a:spcAft>
              <a:buFont typeface="Arial" panose="020B0604020202020204" pitchFamily="34" charset="0"/>
              <a:buChar char="•"/>
            </a:pPr>
            <a:r>
              <a:rPr lang="zh-CN" altLang="en-US" dirty="0">
                <a:latin typeface="+mj-ea"/>
              </a:rPr>
              <a:t>天线高度，方位角，下倾角测试和验证。</a:t>
            </a:r>
          </a:p>
          <a:p>
            <a:pPr marL="520700" lvl="1" indent="-342900">
              <a:spcBef>
                <a:spcPts val="600"/>
              </a:spcBef>
              <a:spcAft>
                <a:spcPts val="600"/>
              </a:spcAft>
              <a:buFont typeface="Arial" panose="020B0604020202020204" pitchFamily="34" charset="0"/>
              <a:buChar char="•"/>
            </a:pPr>
            <a:r>
              <a:rPr lang="zh-CN" altLang="en-US" dirty="0">
                <a:latin typeface="+mj-ea"/>
              </a:rPr>
              <a:t>参数核查，确认小区配置参数与规划结果是否一致，如不一致需要及时进行修改。包括：频率、邻区、</a:t>
            </a:r>
            <a:r>
              <a:rPr lang="en-US" altLang="zh-CN" dirty="0">
                <a:latin typeface="+mj-ea"/>
              </a:rPr>
              <a:t>PCI</a:t>
            </a:r>
            <a:r>
              <a:rPr lang="zh-CN" altLang="en-US" dirty="0">
                <a:latin typeface="+mj-ea"/>
              </a:rPr>
              <a:t>、功率、切换</a:t>
            </a:r>
            <a:r>
              <a:rPr lang="en-US" altLang="zh-CN" dirty="0">
                <a:latin typeface="+mj-ea"/>
              </a:rPr>
              <a:t>/</a:t>
            </a:r>
            <a:r>
              <a:rPr lang="zh-CN" altLang="en-US" dirty="0">
                <a:latin typeface="+mj-ea"/>
              </a:rPr>
              <a:t>重选参数、</a:t>
            </a:r>
            <a:r>
              <a:rPr lang="en-US" altLang="zh-CN" dirty="0">
                <a:latin typeface="+mj-ea"/>
              </a:rPr>
              <a:t>PRACH</a:t>
            </a:r>
            <a:r>
              <a:rPr lang="zh-CN" altLang="en-US" dirty="0">
                <a:latin typeface="+mj-ea"/>
              </a:rPr>
              <a:t>相关参数等。</a:t>
            </a:r>
          </a:p>
        </p:txBody>
      </p:sp>
      <p:sp>
        <p:nvSpPr>
          <p:cNvPr id="5" name="矩形 4"/>
          <p:cNvSpPr/>
          <p:nvPr/>
        </p:nvSpPr>
        <p:spPr>
          <a:xfrm>
            <a:off x="6502400" y="1664284"/>
            <a:ext cx="2836333" cy="1092607"/>
          </a:xfrm>
          <a:prstGeom prst="rect">
            <a:avLst/>
          </a:prstGeom>
        </p:spPr>
        <p:txBody>
          <a:bodyPr wrap="square">
            <a:spAutoFit/>
          </a:bodyPr>
          <a:lstStyle/>
          <a:p>
            <a:pPr lvl="0" algn="just">
              <a:lnSpc>
                <a:spcPts val="1800"/>
              </a:lnSpc>
              <a:spcBef>
                <a:spcPts val="600"/>
              </a:spcBef>
              <a:spcAft>
                <a:spcPts val="600"/>
              </a:spcAft>
            </a:pPr>
            <a:r>
              <a:rPr lang="en-US" altLang="zh-CN" kern="1800" dirty="0">
                <a:solidFill>
                  <a:srgbClr val="FF0000"/>
                </a:solidFill>
                <a:latin typeface="+mj-ea"/>
                <a:ea typeface="+mj-ea"/>
                <a:cs typeface="Times New Roman" panose="02020603050405020304" pitchFamily="18" charset="0"/>
              </a:rPr>
              <a:t>b. </a:t>
            </a:r>
            <a:r>
              <a:rPr lang="zh-CN" altLang="zh-CN" kern="1800" dirty="0">
                <a:solidFill>
                  <a:srgbClr val="FF0000"/>
                </a:solidFill>
                <a:latin typeface="+mj-ea"/>
                <a:ea typeface="+mj-ea"/>
                <a:cs typeface="Times New Roman" panose="02020603050405020304" pitchFamily="18" charset="0"/>
              </a:rPr>
              <a:t>小区功能性验证</a:t>
            </a:r>
          </a:p>
          <a:p>
            <a:pPr marL="285750" lvl="0" indent="-285750" algn="just">
              <a:lnSpc>
                <a:spcPts val="1800"/>
              </a:lnSpc>
              <a:spcBef>
                <a:spcPts val="600"/>
              </a:spcBef>
              <a:spcAft>
                <a:spcPts val="600"/>
              </a:spcAft>
              <a:buFont typeface="Arial" panose="020B0604020202020204" pitchFamily="34" charset="0"/>
              <a:buChar char="•"/>
            </a:pPr>
            <a:r>
              <a:rPr lang="zh-CN" altLang="zh-CN" kern="1800" dirty="0">
                <a:latin typeface="+mj-ea"/>
                <a:ea typeface="+mj-ea"/>
                <a:cs typeface="Times New Roman" panose="02020603050405020304" pitchFamily="18" charset="0"/>
              </a:rPr>
              <a:t>各项基本业务测试</a:t>
            </a:r>
          </a:p>
          <a:p>
            <a:pPr marL="285750" lvl="0" indent="-285750" algn="just">
              <a:lnSpc>
                <a:spcPts val="1800"/>
              </a:lnSpc>
              <a:spcBef>
                <a:spcPts val="600"/>
              </a:spcBef>
              <a:spcAft>
                <a:spcPts val="600"/>
              </a:spcAft>
              <a:buFont typeface="Arial" panose="020B0604020202020204" pitchFamily="34" charset="0"/>
              <a:buChar char="•"/>
            </a:pPr>
            <a:r>
              <a:rPr lang="zh-CN" altLang="zh-CN" kern="1800" dirty="0">
                <a:latin typeface="+mj-ea"/>
                <a:ea typeface="+mj-ea"/>
                <a:cs typeface="Times New Roman" panose="02020603050405020304" pitchFamily="18" charset="0"/>
              </a:rPr>
              <a:t>扇区间切换测试</a:t>
            </a:r>
            <a:endParaRPr lang="zh-CN" altLang="zh-CN" kern="1800" dirty="0">
              <a:effectLst/>
              <a:latin typeface="+mj-ea"/>
              <a:ea typeface="+mj-ea"/>
              <a:cs typeface="Times New Roman" panose="02020603050405020304" pitchFamily="18" charset="0"/>
            </a:endParaRPr>
          </a:p>
        </p:txBody>
      </p:sp>
      <p:sp>
        <p:nvSpPr>
          <p:cNvPr id="7" name="矩形 6"/>
          <p:cNvSpPr/>
          <p:nvPr/>
        </p:nvSpPr>
        <p:spPr>
          <a:xfrm>
            <a:off x="6649377" y="3245813"/>
            <a:ext cx="5078095" cy="2751522"/>
          </a:xfrm>
          <a:prstGeom prst="rect">
            <a:avLst/>
          </a:prstGeom>
        </p:spPr>
        <p:txBody>
          <a:bodyPr wrap="square">
            <a:spAutoFit/>
          </a:bodyPr>
          <a:lstStyle/>
          <a:p>
            <a:pPr>
              <a:lnSpc>
                <a:spcPct val="150000"/>
              </a:lnSpc>
              <a:spcBef>
                <a:spcPct val="20000"/>
              </a:spcBef>
              <a:buClr>
                <a:schemeClr val="tx2"/>
              </a:buClr>
              <a:buSzPct val="80000"/>
            </a:pPr>
            <a:r>
              <a:rPr lang="zh-CN" altLang="en-US" dirty="0">
                <a:latin typeface="微软雅黑" panose="020B0503020204020204" charset="-122"/>
              </a:rPr>
              <a:t>单站验证的输入：</a:t>
            </a:r>
            <a:r>
              <a:rPr lang="zh-CN" altLang="en-US" dirty="0">
                <a:solidFill>
                  <a:srgbClr val="FF0000"/>
                </a:solidFill>
                <a:latin typeface="微软雅黑" panose="020B0503020204020204" charset="-122"/>
              </a:rPr>
              <a:t>基站开通清单</a:t>
            </a:r>
          </a:p>
          <a:p>
            <a:pPr>
              <a:lnSpc>
                <a:spcPct val="150000"/>
              </a:lnSpc>
              <a:spcBef>
                <a:spcPct val="20000"/>
              </a:spcBef>
              <a:buClr>
                <a:schemeClr val="tx2"/>
              </a:buClr>
              <a:buSzPct val="80000"/>
            </a:pPr>
            <a:r>
              <a:rPr lang="zh-CN" altLang="en-US" dirty="0">
                <a:latin typeface="微软雅黑" panose="020B0503020204020204" charset="-122"/>
              </a:rPr>
              <a:t>单站验证的输出：</a:t>
            </a:r>
            <a:r>
              <a:rPr lang="zh-CN" altLang="en-US" dirty="0">
                <a:solidFill>
                  <a:srgbClr val="FF0000"/>
                </a:solidFill>
                <a:latin typeface="微软雅黑" panose="020B0503020204020204" charset="-122"/>
              </a:rPr>
              <a:t>单站验证表</a:t>
            </a:r>
          </a:p>
          <a:p>
            <a:pPr>
              <a:lnSpc>
                <a:spcPct val="150000"/>
              </a:lnSpc>
              <a:spcBef>
                <a:spcPct val="20000"/>
              </a:spcBef>
              <a:buClr>
                <a:schemeClr val="tx2"/>
              </a:buClr>
              <a:buSzPct val="80000"/>
            </a:pPr>
            <a:r>
              <a:rPr lang="zh-CN" altLang="en-US" dirty="0">
                <a:latin typeface="微软雅黑" panose="020B0503020204020204" charset="-122"/>
              </a:rPr>
              <a:t>工程优化由开通工程师负责完成，开通一个，完成单站验证一个。</a:t>
            </a:r>
          </a:p>
          <a:p>
            <a:pPr>
              <a:lnSpc>
                <a:spcPct val="150000"/>
              </a:lnSpc>
              <a:spcBef>
                <a:spcPct val="20000"/>
              </a:spcBef>
              <a:buClr>
                <a:schemeClr val="tx2"/>
              </a:buClr>
              <a:buSzPct val="80000"/>
            </a:pPr>
            <a:r>
              <a:rPr lang="zh-CN" altLang="en-US" dirty="0">
                <a:latin typeface="微软雅黑" panose="020B0503020204020204" charset="-122"/>
              </a:rPr>
              <a:t>簇内的基站连片后即可重点针对片内的小区进行优化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5E0EA-E7E3-1839-B53B-E51F6FD0CE95}"/>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08AF286-7EFD-495D-8C58-8A28F33598EC}"/>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9" name="标题 1">
            <a:extLst>
              <a:ext uri="{FF2B5EF4-FFF2-40B4-BE49-F238E27FC236}">
                <a16:creationId xmlns:a16="http://schemas.microsoft.com/office/drawing/2014/main" id="{A88613CB-93C9-2AD5-BC09-8F14C40898F2}"/>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
        <p:nvSpPr>
          <p:cNvPr id="5" name="文本框 4">
            <a:extLst>
              <a:ext uri="{FF2B5EF4-FFF2-40B4-BE49-F238E27FC236}">
                <a16:creationId xmlns:a16="http://schemas.microsoft.com/office/drawing/2014/main" id="{60A25D26-6A2E-FD02-6F16-02C715225EB7}"/>
              </a:ext>
            </a:extLst>
          </p:cNvPr>
          <p:cNvSpPr txBox="1"/>
          <p:nvPr/>
        </p:nvSpPr>
        <p:spPr>
          <a:xfrm>
            <a:off x="587828" y="1788780"/>
            <a:ext cx="11176505" cy="646331"/>
          </a:xfrm>
          <a:prstGeom prst="rect">
            <a:avLst/>
          </a:prstGeom>
          <a:noFill/>
        </p:spPr>
        <p:txBody>
          <a:bodyPr wrap="square" rtlCol="0">
            <a:spAutoFit/>
          </a:bodyPr>
          <a:lstStyle/>
          <a:p>
            <a:r>
              <a:rPr lang="en-US" altLang="zh-CN" dirty="0"/>
              <a:t>        RF</a:t>
            </a:r>
            <a:r>
              <a:rPr lang="zh-CN" altLang="en-US" dirty="0"/>
              <a:t>优化是无线射频信号的优化，其目的是在优化网络覆盖的同时保证良好的接收质量，同时网络具备正确的邻区关系，从而保证下一步业务优化时无线信号的分布是正常的，为优化工作打下良好的基础。</a:t>
            </a:r>
          </a:p>
        </p:txBody>
      </p:sp>
      <p:sp>
        <p:nvSpPr>
          <p:cNvPr id="6" name="文本框 5">
            <a:extLst>
              <a:ext uri="{FF2B5EF4-FFF2-40B4-BE49-F238E27FC236}">
                <a16:creationId xmlns:a16="http://schemas.microsoft.com/office/drawing/2014/main" id="{45E10F98-B49D-E495-66E6-9454662B872D}"/>
              </a:ext>
            </a:extLst>
          </p:cNvPr>
          <p:cNvSpPr txBox="1"/>
          <p:nvPr/>
        </p:nvSpPr>
        <p:spPr>
          <a:xfrm>
            <a:off x="661308" y="2583785"/>
            <a:ext cx="11176505" cy="4524315"/>
          </a:xfrm>
          <a:prstGeom prst="rect">
            <a:avLst/>
          </a:prstGeom>
          <a:noFill/>
        </p:spPr>
        <p:txBody>
          <a:bodyPr wrap="square" rtlCol="0">
            <a:spAutoFit/>
          </a:bodyPr>
          <a:lstStyle/>
          <a:p>
            <a:r>
              <a:rPr lang="en-US" altLang="zh-CN" dirty="0">
                <a:solidFill>
                  <a:srgbClr val="FF0000"/>
                </a:solidFill>
              </a:rPr>
              <a:t>1</a:t>
            </a:r>
            <a:r>
              <a:rPr lang="zh-CN" altLang="en-US" dirty="0">
                <a:solidFill>
                  <a:srgbClr val="FF0000"/>
                </a:solidFill>
              </a:rPr>
              <a:t>、覆盖问题</a:t>
            </a:r>
            <a:endParaRPr lang="en-US" altLang="zh-CN" dirty="0">
              <a:solidFill>
                <a:srgbClr val="FF0000"/>
              </a:solidFill>
            </a:endParaRPr>
          </a:p>
          <a:p>
            <a:r>
              <a:rPr lang="zh-CN" altLang="en-US" dirty="0"/>
              <a:t>        覆盖问题优化主要是针对信号强度和网络拓扑结构的优化，信号强度用于保障一定的覆盖概率，保障网络不出现弱覆盖和覆盖盲区，用户都能接入网络；合理的网络拓扑是指每个小区有明确的覆盖范围，不出现越区覆盖的现象，交叠覆盖不严重。</a:t>
            </a:r>
            <a:endParaRPr lang="en-US" altLang="zh-CN" dirty="0"/>
          </a:p>
          <a:p>
            <a:endParaRPr lang="en-US" altLang="zh-CN" dirty="0"/>
          </a:p>
          <a:p>
            <a:r>
              <a:rPr lang="en-US" altLang="zh-CN" dirty="0">
                <a:solidFill>
                  <a:srgbClr val="FF0000"/>
                </a:solidFill>
              </a:rPr>
              <a:t>2</a:t>
            </a:r>
            <a:r>
              <a:rPr lang="zh-CN" altLang="en-US" dirty="0">
                <a:solidFill>
                  <a:srgbClr val="FF0000"/>
                </a:solidFill>
              </a:rPr>
              <a:t>、切换问题</a:t>
            </a:r>
            <a:endParaRPr lang="en-US" altLang="zh-CN" dirty="0">
              <a:solidFill>
                <a:srgbClr val="FF0000"/>
              </a:solidFill>
            </a:endParaRPr>
          </a:p>
          <a:p>
            <a:r>
              <a:rPr lang="zh-CN" altLang="en-US" dirty="0"/>
              <a:t>        一方面检查邻区漏配，验证和完善邻区关系，解决因此产生的切换、掉话和下行干扰等问题；另一方面进行必要的工程参数调整，解决因为不合理的</a:t>
            </a:r>
            <a:r>
              <a:rPr lang="en-US" altLang="zh-CN" dirty="0"/>
              <a:t>RF</a:t>
            </a:r>
            <a:r>
              <a:rPr lang="zh-CN" altLang="en-US" dirty="0"/>
              <a:t>参数导致的切换不合理问题。</a:t>
            </a:r>
            <a:endParaRPr lang="en-US" altLang="zh-CN" dirty="0"/>
          </a:p>
          <a:p>
            <a:endParaRPr lang="en-US" altLang="zh-CN" dirty="0"/>
          </a:p>
          <a:p>
            <a:r>
              <a:rPr lang="en-US" altLang="zh-CN" dirty="0">
                <a:solidFill>
                  <a:srgbClr val="FF0000"/>
                </a:solidFill>
              </a:rPr>
              <a:t>3</a:t>
            </a:r>
            <a:r>
              <a:rPr lang="zh-CN" altLang="en-US" dirty="0">
                <a:solidFill>
                  <a:srgbClr val="FF0000"/>
                </a:solidFill>
              </a:rPr>
              <a:t>、干扰问题</a:t>
            </a:r>
            <a:endParaRPr lang="en-US" altLang="zh-CN" dirty="0">
              <a:solidFill>
                <a:srgbClr val="FF0000"/>
              </a:solidFill>
            </a:endParaRPr>
          </a:p>
          <a:p>
            <a:r>
              <a:rPr lang="zh-CN" altLang="en-US" dirty="0"/>
              <a:t>        在</a:t>
            </a:r>
            <a:r>
              <a:rPr lang="en-US" altLang="zh-CN" dirty="0"/>
              <a:t>RF</a:t>
            </a:r>
            <a:r>
              <a:rPr lang="zh-CN" altLang="en-US" dirty="0"/>
              <a:t>优化阶段排除由于外界干扰或者邻区漏配导致的下行干扰，有效地发现因覆盖、切换等问题导致的干扰现象，从而通过调整</a:t>
            </a:r>
            <a:r>
              <a:rPr lang="en-US" altLang="zh-CN" dirty="0"/>
              <a:t>RF</a:t>
            </a:r>
            <a:r>
              <a:rPr lang="zh-CN" altLang="en-US" dirty="0"/>
              <a:t>参数来进行解决。</a:t>
            </a:r>
            <a:endParaRPr lang="en-US" altLang="zh-CN" dirty="0"/>
          </a:p>
          <a:p>
            <a:endParaRPr lang="en-US" altLang="zh-CN" dirty="0"/>
          </a:p>
          <a:p>
            <a:endParaRPr lang="zh-CN" altLang="en-US" dirty="0"/>
          </a:p>
          <a:p>
            <a:endParaRPr lang="en-US" altLang="zh-CN" dirty="0"/>
          </a:p>
          <a:p>
            <a:endParaRPr lang="zh-CN" altLang="en-US" dirty="0"/>
          </a:p>
        </p:txBody>
      </p:sp>
    </p:spTree>
    <p:extLst>
      <p:ext uri="{BB962C8B-B14F-4D97-AF65-F5344CB8AC3E}">
        <p14:creationId xmlns:p14="http://schemas.microsoft.com/office/powerpoint/2010/main" val="1499565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A0F5-7B0E-79BC-2EE4-07BB395B3D71}"/>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BEFB7B67-810C-D27E-01D3-CF6683093099}"/>
              </a:ext>
            </a:extLst>
          </p:cNvPr>
          <p:cNvSpPr txBox="1"/>
          <p:nvPr/>
        </p:nvSpPr>
        <p:spPr>
          <a:xfrm>
            <a:off x="691117" y="530457"/>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9" name="标题 1">
            <a:extLst>
              <a:ext uri="{FF2B5EF4-FFF2-40B4-BE49-F238E27FC236}">
                <a16:creationId xmlns:a16="http://schemas.microsoft.com/office/drawing/2014/main" id="{CA0C4700-9A00-56C8-FB5F-225A351042F0}"/>
              </a:ext>
            </a:extLst>
          </p:cNvPr>
          <p:cNvSpPr txBox="1"/>
          <p:nvPr/>
        </p:nvSpPr>
        <p:spPr bwMode="auto">
          <a:xfrm>
            <a:off x="922852" y="1610304"/>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
        <p:nvSpPr>
          <p:cNvPr id="2" name="文本框 1">
            <a:extLst>
              <a:ext uri="{FF2B5EF4-FFF2-40B4-BE49-F238E27FC236}">
                <a16:creationId xmlns:a16="http://schemas.microsoft.com/office/drawing/2014/main" id="{07FCD753-C977-D022-E111-FFAD1FB11722}"/>
              </a:ext>
            </a:extLst>
          </p:cNvPr>
          <p:cNvSpPr txBox="1"/>
          <p:nvPr/>
        </p:nvSpPr>
        <p:spPr>
          <a:xfrm>
            <a:off x="773753" y="2430575"/>
            <a:ext cx="11176505" cy="3416320"/>
          </a:xfrm>
          <a:prstGeom prst="rect">
            <a:avLst/>
          </a:prstGeom>
          <a:noFill/>
        </p:spPr>
        <p:txBody>
          <a:bodyPr wrap="square" rtlCol="0">
            <a:spAutoFit/>
          </a:bodyPr>
          <a:lstStyle/>
          <a:p>
            <a:r>
              <a:rPr lang="en-US" altLang="zh-CN" dirty="0">
                <a:solidFill>
                  <a:srgbClr val="FF0000"/>
                </a:solidFill>
              </a:rPr>
              <a:t>4</a:t>
            </a:r>
            <a:r>
              <a:rPr lang="zh-CN" altLang="en-US" dirty="0">
                <a:solidFill>
                  <a:srgbClr val="FF0000"/>
                </a:solidFill>
              </a:rPr>
              <a:t>、负载平衡</a:t>
            </a:r>
            <a:endParaRPr lang="en-US" altLang="zh-CN" dirty="0">
              <a:solidFill>
                <a:srgbClr val="FF0000"/>
              </a:solidFill>
            </a:endParaRPr>
          </a:p>
          <a:p>
            <a:r>
              <a:rPr lang="zh-CN" altLang="en-US" dirty="0"/>
              <a:t>       负载平衡优化主要在网络运营阶段根据话统统计的负载来优化，目的是保障小区的资源都能得到有效利用，也避免高负载带来对邻区的高干扰问题。</a:t>
            </a:r>
            <a:endParaRPr lang="en-US" altLang="zh-CN" dirty="0"/>
          </a:p>
          <a:p>
            <a:endParaRPr lang="en-US" altLang="zh-CN" dirty="0"/>
          </a:p>
          <a:p>
            <a:r>
              <a:rPr lang="en-US" altLang="zh-CN" dirty="0">
                <a:solidFill>
                  <a:srgbClr val="FF0000"/>
                </a:solidFill>
              </a:rPr>
              <a:t>5</a:t>
            </a:r>
            <a:r>
              <a:rPr lang="zh-CN" altLang="en-US" dirty="0">
                <a:solidFill>
                  <a:srgbClr val="FF0000"/>
                </a:solidFill>
              </a:rPr>
              <a:t>、吞吐量</a:t>
            </a:r>
            <a:endParaRPr lang="en-US" altLang="zh-CN" dirty="0">
              <a:solidFill>
                <a:srgbClr val="FF0000"/>
              </a:solidFill>
            </a:endParaRPr>
          </a:p>
          <a:p>
            <a:r>
              <a:rPr lang="zh-CN" altLang="en-US" dirty="0"/>
              <a:t>        吞吐量优化也发生在网络运营阶段，根据用户的分布来重点优化一些区域，保障用户分布的地方具有较高的信号质量，提升资源的利用率，提升频谱效率。</a:t>
            </a:r>
            <a:endParaRPr lang="en-US" altLang="zh-CN" dirty="0"/>
          </a:p>
          <a:p>
            <a:endParaRPr lang="en-US" altLang="zh-CN" dirty="0"/>
          </a:p>
          <a:p>
            <a:r>
              <a:rPr lang="zh-CN" altLang="en-US" dirty="0"/>
              <a:t>        对于一个网络来说，一般以上几个问题会同时出现，在优化的时候需要综合考虑。</a:t>
            </a:r>
            <a:endParaRPr lang="en-US" altLang="zh-CN" dirty="0"/>
          </a:p>
          <a:p>
            <a:endParaRPr lang="zh-CN" altLang="en-US" dirty="0"/>
          </a:p>
          <a:p>
            <a:endParaRPr lang="en-US" altLang="zh-CN" dirty="0"/>
          </a:p>
          <a:p>
            <a:endParaRPr lang="zh-CN" altLang="en-US" dirty="0"/>
          </a:p>
        </p:txBody>
      </p:sp>
    </p:spTree>
    <p:extLst>
      <p:ext uri="{BB962C8B-B14F-4D97-AF65-F5344CB8AC3E}">
        <p14:creationId xmlns:p14="http://schemas.microsoft.com/office/powerpoint/2010/main" val="288983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D669-B0D8-40A5-89E8-228423409ADE}"/>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23058C4A-9830-F514-BFBD-443A4C99E7D0}"/>
              </a:ext>
            </a:extLst>
          </p:cNvPr>
          <p:cNvSpPr txBox="1"/>
          <p:nvPr/>
        </p:nvSpPr>
        <p:spPr>
          <a:xfrm>
            <a:off x="613479" y="171170"/>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9" name="标题 1">
            <a:extLst>
              <a:ext uri="{FF2B5EF4-FFF2-40B4-BE49-F238E27FC236}">
                <a16:creationId xmlns:a16="http://schemas.microsoft.com/office/drawing/2014/main" id="{E64E6FC5-5F44-6885-AE62-EFDEE622D8F7}"/>
              </a:ext>
            </a:extLst>
          </p:cNvPr>
          <p:cNvSpPr txBox="1"/>
          <p:nvPr/>
        </p:nvSpPr>
        <p:spPr bwMode="auto">
          <a:xfrm>
            <a:off x="804125" y="1251017"/>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
        <p:nvSpPr>
          <p:cNvPr id="3" name="内容占位符 2">
            <a:extLst>
              <a:ext uri="{FF2B5EF4-FFF2-40B4-BE49-F238E27FC236}">
                <a16:creationId xmlns:a16="http://schemas.microsoft.com/office/drawing/2014/main" id="{D253A7D9-648E-088A-ED9F-518F8CAEAE09}"/>
              </a:ext>
            </a:extLst>
          </p:cNvPr>
          <p:cNvSpPr txBox="1">
            <a:spLocks/>
          </p:cNvSpPr>
          <p:nvPr/>
        </p:nvSpPr>
        <p:spPr>
          <a:xfrm>
            <a:off x="886407" y="1945781"/>
            <a:ext cx="10560048" cy="468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sz="1800" dirty="0"/>
              <a:t>网络优化是一个长期的过程，包括网络建设阶段、网络交付阶段、性能提升阶段以及持续性优化服务阶段。无论在哪个阶段，</a:t>
            </a:r>
            <a:r>
              <a:rPr lang="en-US" altLang="zh-CN" sz="1800" dirty="0"/>
              <a:t>RF</a:t>
            </a:r>
            <a:r>
              <a:rPr lang="zh-CN" altLang="zh-CN" sz="1800" dirty="0"/>
              <a:t>优化都是整个无线优化的基础，只有</a:t>
            </a:r>
            <a:r>
              <a:rPr lang="en-US" altLang="zh-CN" sz="1800" dirty="0"/>
              <a:t>RF</a:t>
            </a:r>
            <a:r>
              <a:rPr lang="zh-CN" altLang="zh-CN" sz="1800" dirty="0"/>
              <a:t>性能达标了，才能够针对其他专项性能进行专题优化</a:t>
            </a:r>
            <a:endParaRPr lang="zh-CN" altLang="en-US" sz="1800" dirty="0"/>
          </a:p>
        </p:txBody>
      </p:sp>
      <p:graphicFrame>
        <p:nvGraphicFramePr>
          <p:cNvPr id="4" name="表格 3">
            <a:extLst>
              <a:ext uri="{FF2B5EF4-FFF2-40B4-BE49-F238E27FC236}">
                <a16:creationId xmlns:a16="http://schemas.microsoft.com/office/drawing/2014/main" id="{5FE5C531-027B-310C-241F-809E73B3AC21}"/>
              </a:ext>
            </a:extLst>
          </p:cNvPr>
          <p:cNvGraphicFramePr>
            <a:graphicFrameLocks noGrp="1"/>
          </p:cNvGraphicFramePr>
          <p:nvPr>
            <p:extLst>
              <p:ext uri="{D42A27DB-BD31-4B8C-83A1-F6EECF244321}">
                <p14:modId xmlns:p14="http://schemas.microsoft.com/office/powerpoint/2010/main" val="3297507838"/>
              </p:ext>
            </p:extLst>
          </p:nvPr>
        </p:nvGraphicFramePr>
        <p:xfrm>
          <a:off x="1020448" y="2998023"/>
          <a:ext cx="10560047" cy="3312368"/>
        </p:xfrm>
        <a:graphic>
          <a:graphicData uri="http://schemas.openxmlformats.org/drawingml/2006/table">
            <a:tbl>
              <a:tblPr/>
              <a:tblGrid>
                <a:gridCol w="1233632">
                  <a:extLst>
                    <a:ext uri="{9D8B030D-6E8A-4147-A177-3AD203B41FA5}">
                      <a16:colId xmlns:a16="http://schemas.microsoft.com/office/drawing/2014/main" val="4220558178"/>
                    </a:ext>
                  </a:extLst>
                </a:gridCol>
                <a:gridCol w="5198246">
                  <a:extLst>
                    <a:ext uri="{9D8B030D-6E8A-4147-A177-3AD203B41FA5}">
                      <a16:colId xmlns:a16="http://schemas.microsoft.com/office/drawing/2014/main" val="2149783745"/>
                    </a:ext>
                  </a:extLst>
                </a:gridCol>
                <a:gridCol w="2053941">
                  <a:extLst>
                    <a:ext uri="{9D8B030D-6E8A-4147-A177-3AD203B41FA5}">
                      <a16:colId xmlns:a16="http://schemas.microsoft.com/office/drawing/2014/main" val="3505718216"/>
                    </a:ext>
                  </a:extLst>
                </a:gridCol>
                <a:gridCol w="2074228">
                  <a:extLst>
                    <a:ext uri="{9D8B030D-6E8A-4147-A177-3AD203B41FA5}">
                      <a16:colId xmlns:a16="http://schemas.microsoft.com/office/drawing/2014/main" val="3979694124"/>
                    </a:ext>
                  </a:extLst>
                </a:gridCol>
              </a:tblGrid>
              <a:tr h="385000">
                <a:tc>
                  <a:txBody>
                    <a:bodyPr/>
                    <a:lstStyle/>
                    <a:p>
                      <a:pPr indent="266700" algn="ctr">
                        <a:spcAft>
                          <a:spcPts val="0"/>
                        </a:spcAft>
                      </a:pPr>
                      <a:r>
                        <a:rPr lang="zh-CN" sz="1800" kern="0" dirty="0">
                          <a:solidFill>
                            <a:srgbClr val="000000"/>
                          </a:solidFill>
                          <a:effectLst/>
                          <a:latin typeface="方正兰亭黑简体" panose="02000000000000000000" pitchFamily="2" charset="-122"/>
                          <a:ea typeface="方正兰亭黑简体" panose="02000000000000000000" pitchFamily="2" charset="-122"/>
                        </a:rPr>
                        <a:t>阶</a:t>
                      </a:r>
                      <a:r>
                        <a:rPr lang="en-US" sz="1800" kern="0" dirty="0">
                          <a:solidFill>
                            <a:srgbClr val="000000"/>
                          </a:solidFill>
                          <a:effectLst/>
                          <a:latin typeface="方正兰亭黑简体" panose="02000000000000000000" pitchFamily="2" charset="-122"/>
                          <a:ea typeface="方正兰亭黑简体" panose="02000000000000000000" pitchFamily="2" charset="-122"/>
                        </a:rPr>
                        <a:t>    </a:t>
                      </a:r>
                      <a:r>
                        <a:rPr lang="zh-CN" sz="1800" kern="0" dirty="0">
                          <a:solidFill>
                            <a:srgbClr val="000000"/>
                          </a:solidFill>
                          <a:effectLst/>
                          <a:latin typeface="方正兰亭黑简体" panose="02000000000000000000" pitchFamily="2" charset="-122"/>
                          <a:ea typeface="方正兰亭黑简体" panose="02000000000000000000" pitchFamily="2" charset="-122"/>
                        </a:rPr>
                        <a:t>段</a:t>
                      </a:r>
                      <a:endParaRPr lang="zh-CN" sz="18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266700" algn="ctr">
                        <a:spcAft>
                          <a:spcPts val="0"/>
                        </a:spcAft>
                      </a:pPr>
                      <a:r>
                        <a:rPr lang="zh-CN" sz="1800" kern="0" dirty="0">
                          <a:solidFill>
                            <a:srgbClr val="000000"/>
                          </a:solidFill>
                          <a:effectLst/>
                          <a:latin typeface="方正兰亭黑简体" panose="02000000000000000000" pitchFamily="2" charset="-122"/>
                          <a:ea typeface="方正兰亭黑简体" panose="02000000000000000000" pitchFamily="2" charset="-122"/>
                        </a:rPr>
                        <a:t>特</a:t>
                      </a:r>
                      <a:r>
                        <a:rPr lang="en-US" sz="1800" kern="0" dirty="0">
                          <a:solidFill>
                            <a:srgbClr val="000000"/>
                          </a:solidFill>
                          <a:effectLst/>
                          <a:latin typeface="方正兰亭黑简体" panose="02000000000000000000" pitchFamily="2" charset="-122"/>
                          <a:ea typeface="方正兰亭黑简体" panose="02000000000000000000" pitchFamily="2" charset="-122"/>
                        </a:rPr>
                        <a:t>    </a:t>
                      </a:r>
                      <a:r>
                        <a:rPr lang="zh-CN" sz="1800" kern="0" dirty="0">
                          <a:solidFill>
                            <a:srgbClr val="000000"/>
                          </a:solidFill>
                          <a:effectLst/>
                          <a:latin typeface="方正兰亭黑简体" panose="02000000000000000000" pitchFamily="2" charset="-122"/>
                          <a:ea typeface="方正兰亭黑简体" panose="02000000000000000000" pitchFamily="2" charset="-122"/>
                        </a:rPr>
                        <a:t>点</a:t>
                      </a:r>
                      <a:endParaRPr lang="zh-CN" sz="18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266700" algn="ctr">
                        <a:spcAft>
                          <a:spcPts val="0"/>
                        </a:spcAft>
                      </a:pPr>
                      <a:r>
                        <a:rPr lang="zh-CN" sz="1800" kern="0" dirty="0">
                          <a:solidFill>
                            <a:srgbClr val="000000"/>
                          </a:solidFill>
                          <a:effectLst/>
                          <a:latin typeface="方正兰亭黑简体" panose="02000000000000000000" pitchFamily="2" charset="-122"/>
                          <a:ea typeface="方正兰亭黑简体" panose="02000000000000000000" pitchFamily="2" charset="-122"/>
                        </a:rPr>
                        <a:t>解决网络问题</a:t>
                      </a:r>
                      <a:endParaRPr lang="zh-CN" sz="18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266700" algn="ctr">
                        <a:spcAft>
                          <a:spcPts val="0"/>
                        </a:spcAft>
                      </a:pPr>
                      <a:r>
                        <a:rPr lang="zh-CN" sz="1800" kern="0" dirty="0">
                          <a:solidFill>
                            <a:srgbClr val="000000"/>
                          </a:solidFill>
                          <a:effectLst/>
                          <a:latin typeface="方正兰亭黑简体" panose="02000000000000000000" pitchFamily="2" charset="-122"/>
                          <a:ea typeface="方正兰亭黑简体" panose="02000000000000000000" pitchFamily="2" charset="-122"/>
                        </a:rPr>
                        <a:t>数据源</a:t>
                      </a:r>
                      <a:endParaRPr lang="zh-CN" sz="18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2400786266"/>
                  </a:ext>
                </a:extLst>
              </a:tr>
              <a:tr h="620188">
                <a:tc>
                  <a:txBody>
                    <a:bodyPr/>
                    <a:lstStyle/>
                    <a:p>
                      <a:pPr indent="0" algn="ctr">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网络建设阶段</a:t>
                      </a: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在</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网络建设的过程中，当</a:t>
                      </a:r>
                      <a:r>
                        <a:rPr lang="en-US"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Cluster</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内的站点全部建设完成或者</a:t>
                      </a:r>
                      <a:r>
                        <a:rPr lang="en-US"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80</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％的站点建设完成时就需要对</a:t>
                      </a:r>
                      <a:r>
                        <a:rPr lang="en-US"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Cluster</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进行优化</a:t>
                      </a:r>
                      <a:endPar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覆盖问题、干扰问题、切换问题等</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 </a:t>
                      </a:r>
                      <a:endParaRPr lang="zh-CN" sz="140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DT</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数据、</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gNodeB</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侧跟踪数据</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1409264"/>
                  </a:ext>
                </a:extLst>
              </a:tr>
              <a:tr h="630313">
                <a:tc>
                  <a:txBody>
                    <a:bodyPr/>
                    <a:lstStyle/>
                    <a:p>
                      <a:pPr indent="0" algn="ctr">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网络交付阶段</a:t>
                      </a: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全网建成后为达到覆盖率和</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KPI</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指标要求进行的优化，主要优化区域为</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Cluster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交界处。优化方法和特点与</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Cluster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优化相同</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覆盖问题、干扰问题、切换问题等</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DT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数据、</a:t>
                      </a:r>
                      <a:r>
                        <a:rPr lang="en-US" sz="1400" dirty="0" err="1">
                          <a:effectLst/>
                          <a:latin typeface="方正兰亭黑简体" panose="02000000000000000000" pitchFamily="2" charset="-122"/>
                          <a:ea typeface="方正兰亭黑简体" panose="02000000000000000000" pitchFamily="2" charset="-122"/>
                          <a:cs typeface="宋体" panose="02010600030101010101" pitchFamily="2" charset="-122"/>
                        </a:rPr>
                        <a:t>gNodeB</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侧跟踪数据</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1283248"/>
                  </a:ext>
                </a:extLst>
              </a:tr>
              <a:tr h="838433">
                <a:tc>
                  <a:txBody>
                    <a:bodyPr/>
                    <a:lstStyle/>
                    <a:p>
                      <a:pPr indent="0" algn="ctr">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性能提升阶段</a:t>
                      </a: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在网络运营阶段，为了进一步提升网络质量，满足日益增长的用户需求，集中人力对网络进行优化，短期内提升网络的运行和服务质量，提升品牌效应</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覆盖问题、负载问题</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、吞吐量问题等，并解决用户投诉问题</a:t>
                      </a:r>
                      <a:endPar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话务统计数据、</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MR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或</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者</a:t>
                      </a:r>
                      <a:r>
                        <a:rPr lang="en-US"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DT</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数据、</a:t>
                      </a:r>
                      <a:r>
                        <a:rPr lang="en-US" sz="1400" spc="-10" dirty="0" err="1">
                          <a:effectLst/>
                          <a:latin typeface="方正兰亭黑简体" panose="02000000000000000000" pitchFamily="2" charset="-122"/>
                          <a:ea typeface="方正兰亭黑简体" panose="02000000000000000000" pitchFamily="2" charset="-122"/>
                          <a:cs typeface="宋体" panose="02010600030101010101" pitchFamily="2" charset="-122"/>
                        </a:rPr>
                        <a:t>gNodeB</a:t>
                      </a:r>
                      <a:r>
                        <a:rPr lang="zh-CN" sz="1400" spc="-10" dirty="0">
                          <a:effectLst/>
                          <a:latin typeface="方正兰亭黑简体" panose="02000000000000000000" pitchFamily="2" charset="-122"/>
                          <a:ea typeface="方正兰亭黑简体" panose="02000000000000000000" pitchFamily="2" charset="-122"/>
                          <a:cs typeface="宋体" panose="02010600030101010101" pitchFamily="2" charset="-122"/>
                        </a:rPr>
                        <a:t>侧跟踪数据</a:t>
                      </a:r>
                      <a:endPar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1065339"/>
                  </a:ext>
                </a:extLst>
              </a:tr>
              <a:tr h="838434">
                <a:tc>
                  <a:txBody>
                    <a:bodyPr/>
                    <a:lstStyle/>
                    <a:p>
                      <a:pPr indent="0" algn="ctr">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持续性优化服务阶段</a:t>
                      </a: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在网络运营阶段，通过日常网络的性能监控、网络质量评估检查发现网络问题，保障网络质量的稳定。针对发现的网络问题提升网络性能，并完成对网络优化维护人员的技能传递</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覆盖问题、干扰问题、掉话问题等</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话务统计数据、</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MR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等</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5177511"/>
                  </a:ext>
                </a:extLst>
              </a:tr>
            </a:tbl>
          </a:graphicData>
        </a:graphic>
      </p:graphicFrame>
    </p:spTree>
    <p:extLst>
      <p:ext uri="{BB962C8B-B14F-4D97-AF65-F5344CB8AC3E}">
        <p14:creationId xmlns:p14="http://schemas.microsoft.com/office/powerpoint/2010/main" val="3961334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5C61D-E1C2-895F-BD19-7B8BA19A7E01}"/>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CD8BAD6B-0500-A53A-32CE-1F8D0EBA0617}"/>
              </a:ext>
            </a:extLst>
          </p:cNvPr>
          <p:cNvSpPr txBox="1"/>
          <p:nvPr/>
        </p:nvSpPr>
        <p:spPr>
          <a:xfrm>
            <a:off x="665239" y="10776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9" name="标题 1">
            <a:extLst>
              <a:ext uri="{FF2B5EF4-FFF2-40B4-BE49-F238E27FC236}">
                <a16:creationId xmlns:a16="http://schemas.microsoft.com/office/drawing/2014/main" id="{FDE411BD-5DC2-9CC6-3FB7-BB66DCC03CB9}"/>
              </a:ext>
            </a:extLst>
          </p:cNvPr>
          <p:cNvSpPr txBox="1"/>
          <p:nvPr/>
        </p:nvSpPr>
        <p:spPr bwMode="auto">
          <a:xfrm>
            <a:off x="896974" y="1187612"/>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
        <p:nvSpPr>
          <p:cNvPr id="4" name="内容占位符 2">
            <a:extLst>
              <a:ext uri="{FF2B5EF4-FFF2-40B4-BE49-F238E27FC236}">
                <a16:creationId xmlns:a16="http://schemas.microsoft.com/office/drawing/2014/main" id="{669BBB39-E4A6-07D2-D670-546400CD7F75}"/>
              </a:ext>
            </a:extLst>
          </p:cNvPr>
          <p:cNvSpPr txBox="1">
            <a:spLocks/>
          </p:cNvSpPr>
          <p:nvPr/>
        </p:nvSpPr>
        <p:spPr>
          <a:xfrm>
            <a:off x="912286" y="1773253"/>
            <a:ext cx="10560048" cy="4680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网络质量评估作为</a:t>
            </a:r>
            <a:r>
              <a:rPr lang="en-US" altLang="zh-CN" sz="1800" dirty="0"/>
              <a:t>RF</a:t>
            </a:r>
            <a:r>
              <a:rPr lang="zh-CN" altLang="en-US" sz="1800" dirty="0"/>
              <a:t>优化重要的环节，需要根据采集数据进行细致的网络质量分析。重点考核指标为</a:t>
            </a:r>
            <a:r>
              <a:rPr lang="en-US" altLang="zh-CN" sz="1800" dirty="0"/>
              <a:t>RSRP</a:t>
            </a:r>
            <a:r>
              <a:rPr lang="zh-CN" altLang="en-US" sz="1800" dirty="0"/>
              <a:t>和</a:t>
            </a:r>
            <a:r>
              <a:rPr lang="en-US" altLang="zh-CN" sz="1800" dirty="0"/>
              <a:t>SINR</a:t>
            </a:r>
            <a:r>
              <a:rPr lang="zh-CN" altLang="en-US" sz="1800" dirty="0"/>
              <a:t>。</a:t>
            </a:r>
          </a:p>
        </p:txBody>
      </p:sp>
      <p:graphicFrame>
        <p:nvGraphicFramePr>
          <p:cNvPr id="5" name="表格 4">
            <a:extLst>
              <a:ext uri="{FF2B5EF4-FFF2-40B4-BE49-F238E27FC236}">
                <a16:creationId xmlns:a16="http://schemas.microsoft.com/office/drawing/2014/main" id="{63FDE6A9-ED1B-0638-9378-C2A9CA916780}"/>
              </a:ext>
            </a:extLst>
          </p:cNvPr>
          <p:cNvGraphicFramePr>
            <a:graphicFrameLocks noGrp="1"/>
          </p:cNvGraphicFramePr>
          <p:nvPr>
            <p:extLst>
              <p:ext uri="{D42A27DB-BD31-4B8C-83A1-F6EECF244321}">
                <p14:modId xmlns:p14="http://schemas.microsoft.com/office/powerpoint/2010/main" val="1981990102"/>
              </p:ext>
            </p:extLst>
          </p:nvPr>
        </p:nvGraphicFramePr>
        <p:xfrm>
          <a:off x="912037" y="2568258"/>
          <a:ext cx="10560297" cy="4035018"/>
        </p:xfrm>
        <a:graphic>
          <a:graphicData uri="http://schemas.openxmlformats.org/drawingml/2006/table">
            <a:tbl>
              <a:tblPr/>
              <a:tblGrid>
                <a:gridCol w="1081241">
                  <a:extLst>
                    <a:ext uri="{9D8B030D-6E8A-4147-A177-3AD203B41FA5}">
                      <a16:colId xmlns:a16="http://schemas.microsoft.com/office/drawing/2014/main" val="3304659819"/>
                    </a:ext>
                  </a:extLst>
                </a:gridCol>
                <a:gridCol w="5068826">
                  <a:extLst>
                    <a:ext uri="{9D8B030D-6E8A-4147-A177-3AD203B41FA5}">
                      <a16:colId xmlns:a16="http://schemas.microsoft.com/office/drawing/2014/main" val="4004831165"/>
                    </a:ext>
                  </a:extLst>
                </a:gridCol>
                <a:gridCol w="4410230">
                  <a:extLst>
                    <a:ext uri="{9D8B030D-6E8A-4147-A177-3AD203B41FA5}">
                      <a16:colId xmlns:a16="http://schemas.microsoft.com/office/drawing/2014/main" val="1032516769"/>
                    </a:ext>
                  </a:extLst>
                </a:gridCol>
              </a:tblGrid>
              <a:tr h="475261">
                <a:tc>
                  <a:txBody>
                    <a:bodyPr/>
                    <a:lstStyle/>
                    <a:p>
                      <a:pPr indent="0" algn="ctr">
                        <a:spcAft>
                          <a:spcPts val="0"/>
                        </a:spcAft>
                      </a:pPr>
                      <a:r>
                        <a:rPr lang="en-US" sz="1600" kern="0" dirty="0">
                          <a:solidFill>
                            <a:srgbClr val="000000"/>
                          </a:solidFill>
                          <a:effectLst/>
                          <a:latin typeface="方正兰亭黑简体" panose="02000000000000000000" pitchFamily="2" charset="-122"/>
                          <a:ea typeface="方正兰亭黑简体" panose="02000000000000000000" pitchFamily="2" charset="-122"/>
                        </a:rPr>
                        <a:t>RF</a:t>
                      </a:r>
                      <a:r>
                        <a:rPr lang="zh-CN" sz="1600" kern="0" dirty="0">
                          <a:solidFill>
                            <a:srgbClr val="000000"/>
                          </a:solidFill>
                          <a:effectLst/>
                          <a:latin typeface="方正兰亭黑简体" panose="02000000000000000000" pitchFamily="2" charset="-122"/>
                          <a:ea typeface="方正兰亭黑简体" panose="02000000000000000000" pitchFamily="2" charset="-122"/>
                        </a:rPr>
                        <a:t>质量评估指标</a:t>
                      </a:r>
                      <a:endParaRPr lang="zh-CN" sz="16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0" algn="ctr">
                        <a:spcAft>
                          <a:spcPts val="0"/>
                        </a:spcAft>
                      </a:pPr>
                      <a:r>
                        <a:rPr lang="zh-CN" sz="1600" kern="0" dirty="0">
                          <a:solidFill>
                            <a:srgbClr val="000000"/>
                          </a:solidFill>
                          <a:effectLst/>
                          <a:latin typeface="方正兰亭黑简体" panose="02000000000000000000" pitchFamily="2" charset="-122"/>
                          <a:ea typeface="方正兰亭黑简体" panose="02000000000000000000" pitchFamily="2" charset="-122"/>
                        </a:rPr>
                        <a:t>反映的网络质量问题</a:t>
                      </a:r>
                      <a:endParaRPr lang="zh-CN" sz="16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indent="0" algn="ctr">
                        <a:spcAft>
                          <a:spcPts val="0"/>
                        </a:spcAft>
                      </a:pPr>
                      <a:r>
                        <a:rPr lang="zh-CN" sz="1600" kern="0" dirty="0">
                          <a:solidFill>
                            <a:srgbClr val="000000"/>
                          </a:solidFill>
                          <a:effectLst/>
                          <a:latin typeface="方正兰亭黑简体" panose="02000000000000000000" pitchFamily="2" charset="-122"/>
                          <a:ea typeface="方正兰亭黑简体" panose="02000000000000000000" pitchFamily="2" charset="-122"/>
                        </a:rPr>
                        <a:t>评估指标</a:t>
                      </a:r>
                      <a:endParaRPr lang="zh-CN" sz="1600" kern="1100" dirty="0">
                        <a:solidFill>
                          <a:srgbClr val="000000"/>
                        </a:solidFill>
                        <a:effectLst/>
                        <a:latin typeface="方正兰亭黑简体" panose="02000000000000000000" pitchFamily="2" charset="-122"/>
                        <a:ea typeface="方正兰亭黑简体" panose="02000000000000000000" pitchFamily="2" charset="-122"/>
                      </a:endParaRP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3739182400"/>
                  </a:ext>
                </a:extLst>
              </a:tr>
              <a:tr h="672030">
                <a:tc rowSpan="2">
                  <a:txBody>
                    <a:bodyPr/>
                    <a:lstStyle/>
                    <a:p>
                      <a:pPr indent="0" algn="just">
                        <a:spcBef>
                          <a:spcPts val="120"/>
                        </a:spcBef>
                        <a:spcAft>
                          <a:spcPts val="120"/>
                        </a:spcAft>
                      </a:pP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RSRP</a:t>
                      </a:r>
                      <a:endPar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0" algn="just">
                        <a:spcBef>
                          <a:spcPts val="120"/>
                        </a:spcBef>
                        <a:spcAft>
                          <a:spcPts val="120"/>
                        </a:spcAft>
                      </a:pP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代表了实际信号可以达到的程度，是网络覆盖的基础。主要与站点密度、站点拓扑、站点挂高、频段、</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EIRP</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、天线倾角</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方位角相关。</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平均</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RSRP</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：通过测试工具（</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Probe/ Assistant</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）统计地理化平均后的服务小区或者</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1st</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小区</a:t>
                      </a:r>
                      <a:r>
                        <a:rPr lang="en-US" sz="1400">
                          <a:effectLst/>
                          <a:latin typeface="方正兰亭黑简体" panose="02000000000000000000" pitchFamily="2" charset="-122"/>
                          <a:ea typeface="方正兰亭黑简体" panose="02000000000000000000" pitchFamily="2" charset="-122"/>
                          <a:cs typeface="宋体" panose="02010600030101010101" pitchFamily="2" charset="-122"/>
                        </a:rPr>
                        <a:t>RSRP</a:t>
                      </a:r>
                      <a:r>
                        <a:rPr lang="zh-CN" sz="1400">
                          <a:effectLst/>
                          <a:latin typeface="方正兰亭黑简体" panose="02000000000000000000" pitchFamily="2" charset="-122"/>
                          <a:ea typeface="方正兰亭黑简体" panose="02000000000000000000" pitchFamily="2" charset="-122"/>
                          <a:cs typeface="宋体" panose="02010600030101010101" pitchFamily="2" charset="-122"/>
                        </a:rPr>
                        <a:t>平均值</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332268"/>
                  </a:ext>
                </a:extLst>
              </a:tr>
              <a:tr h="672030">
                <a:tc vMerge="1">
                  <a:txBody>
                    <a:bodyPr/>
                    <a:lstStyle/>
                    <a:p>
                      <a:endParaRPr lang="zh-CN" altLang="en-US"/>
                    </a:p>
                  </a:txBody>
                  <a:tcPr/>
                </a:tc>
                <a:tc vMerge="1">
                  <a:txBody>
                    <a:bodyPr/>
                    <a:lstStyle/>
                    <a:p>
                      <a:endParaRPr lang="zh-CN" altLang="en-US"/>
                    </a:p>
                  </a:txBody>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边缘</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RSRP</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：通过测试工具（</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Probe / Assistant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）统计地理化平均后的服务小区或者</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1st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小区</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RSRP CDF</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图中</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5%</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点的值</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7090763"/>
                  </a:ext>
                </a:extLst>
              </a:tr>
              <a:tr h="672030">
                <a:tc rowSpan="2">
                  <a:txBody>
                    <a:bodyPr/>
                    <a:lstStyle/>
                    <a:p>
                      <a:pPr indent="0" algn="just">
                        <a:spcBef>
                          <a:spcPts val="120"/>
                        </a:spcBef>
                        <a:spcAft>
                          <a:spcPts val="120"/>
                        </a:spcAft>
                      </a:pP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endPar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0" algn="just">
                        <a:spcBef>
                          <a:spcPts val="120"/>
                        </a:spcBef>
                        <a:spcAft>
                          <a:spcPts val="120"/>
                        </a:spcAft>
                      </a:pP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从覆盖上能够反映网络</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RF</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质量的比较直接的指标，</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越高，反映网络质量可能越好，用户体验也可能越好。</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满载下</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与除了</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PCI</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以外的所有</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RF</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因素相关，空载下</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则与</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PCI</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规划强相关，且受其他所有</a:t>
                      </a:r>
                      <a:r>
                        <a:rPr lang="en-US" alt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RF</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因素影响。</a:t>
                      </a:r>
                      <a:endPar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实测平均</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：通过测试工具（</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Probe / Assistant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）统计地理化平均后的服务小区或者</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1st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小区均衡前</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RS SINR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平均值</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261519"/>
                  </a:ext>
                </a:extLst>
              </a:tr>
              <a:tr h="672030">
                <a:tc vMerge="1">
                  <a:txBody>
                    <a:bodyPr/>
                    <a:lstStyle/>
                    <a:p>
                      <a:endParaRPr lang="zh-CN" altLang="en-US"/>
                    </a:p>
                  </a:txBody>
                  <a:tcPr/>
                </a:tc>
                <a:tc vMerge="1">
                  <a:txBody>
                    <a:bodyPr/>
                    <a:lstStyle/>
                    <a:p>
                      <a:endParaRPr lang="zh-CN" altLang="en-US"/>
                    </a:p>
                  </a:txBody>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实测边缘</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：通过测试工具（</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Probe / Assistant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）统计地理化平均后的服务小区或者</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1st</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小区均衡前</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RS SINR CDF</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图中</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5%</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点的值</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3782838"/>
                  </a:ext>
                </a:extLst>
              </a:tr>
              <a:tr h="342452">
                <a:tc rowSpan="2">
                  <a:txBody>
                    <a:bodyPr/>
                    <a:lstStyle/>
                    <a:p>
                      <a:pPr indent="0" algn="just">
                        <a:spcBef>
                          <a:spcPts val="120"/>
                        </a:spcBef>
                        <a:spcAft>
                          <a:spcPts val="120"/>
                        </a:spcAft>
                      </a:pPr>
                      <a:r>
                        <a:rPr lang="zh-CN" sz="1600">
                          <a:effectLst/>
                          <a:latin typeface="方正兰亭黑简体" panose="02000000000000000000" pitchFamily="2" charset="-122"/>
                          <a:ea typeface="方正兰亭黑简体" panose="02000000000000000000" pitchFamily="2" charset="-122"/>
                          <a:cs typeface="宋体" panose="02010600030101010101" pitchFamily="2" charset="-122"/>
                        </a:rPr>
                        <a:t>吞吐率</a:t>
                      </a:r>
                    </a:p>
                  </a:txBody>
                  <a:tcPr marL="68580" marR="68580"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indent="0" algn="just">
                        <a:spcBef>
                          <a:spcPts val="120"/>
                        </a:spcBef>
                        <a:spcAft>
                          <a:spcPts val="120"/>
                        </a:spcAft>
                      </a:pP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表示下行吞吐率能够达到的程度，不仅受</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RF</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质量因素影响，还与其他因素相关，所以此值只在一定程度上反映</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RF</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质量优劣，它主要与</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SINR</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a:t>
                      </a:r>
                      <a:r>
                        <a:rPr 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CQI</a:t>
                      </a:r>
                      <a:r>
                        <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rPr>
                        <a:t>值相关</a:t>
                      </a:r>
                      <a:r>
                        <a:rPr lang="zh-CN" altLang="en-US" sz="1600" dirty="0">
                          <a:effectLst/>
                          <a:latin typeface="方正兰亭黑简体" panose="02000000000000000000" pitchFamily="2" charset="-122"/>
                          <a:ea typeface="方正兰亭黑简体" panose="02000000000000000000" pitchFamily="2" charset="-122"/>
                          <a:cs typeface="宋体" panose="02010600030101010101" pitchFamily="2" charset="-122"/>
                        </a:rPr>
                        <a:t>。</a:t>
                      </a:r>
                      <a:endParaRPr lang="zh-CN" sz="1600" dirty="0">
                        <a:effectLst/>
                        <a:latin typeface="方正兰亭黑简体" panose="02000000000000000000" pitchFamily="2" charset="-122"/>
                        <a:ea typeface="方正兰亭黑简体" panose="02000000000000000000" pitchFamily="2" charset="-122"/>
                        <a:cs typeface="宋体" panose="02010600030101010101" pitchFamily="2" charset="-122"/>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平均吞吐率：测试中反映每个</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RB</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上的平均下行吞吐率</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7862956"/>
                  </a:ext>
                </a:extLst>
              </a:tr>
              <a:tr h="507241">
                <a:tc vMerge="1">
                  <a:txBody>
                    <a:bodyPr/>
                    <a:lstStyle/>
                    <a:p>
                      <a:endParaRPr lang="zh-CN" altLang="en-US"/>
                    </a:p>
                  </a:txBody>
                  <a:tcPr/>
                </a:tc>
                <a:tc vMerge="1">
                  <a:txBody>
                    <a:bodyPr/>
                    <a:lstStyle/>
                    <a:p>
                      <a:endParaRPr lang="zh-CN" altLang="en-US"/>
                    </a:p>
                  </a:txBody>
                  <a:tcPr/>
                </a:tc>
                <a:tc>
                  <a:txBody>
                    <a:bodyPr/>
                    <a:lstStyle/>
                    <a:p>
                      <a:pPr indent="0" algn="just">
                        <a:spcBef>
                          <a:spcPts val="120"/>
                        </a:spcBef>
                        <a:spcAft>
                          <a:spcPts val="120"/>
                        </a:spcAft>
                      </a:pP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边缘吞吐率：测试中反映每个</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RB</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上的下行吞吐率</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CDF</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图中</a:t>
                      </a:r>
                      <a:r>
                        <a:rPr lang="en-US" sz="1400" dirty="0">
                          <a:effectLst/>
                          <a:latin typeface="方正兰亭黑简体" panose="02000000000000000000" pitchFamily="2" charset="-122"/>
                          <a:ea typeface="方正兰亭黑简体" panose="02000000000000000000" pitchFamily="2" charset="-122"/>
                          <a:cs typeface="宋体" panose="02010600030101010101" pitchFamily="2" charset="-122"/>
                        </a:rPr>
                        <a:t>5%</a:t>
                      </a:r>
                      <a:r>
                        <a:rPr lang="zh-CN" sz="1400" dirty="0">
                          <a:effectLst/>
                          <a:latin typeface="方正兰亭黑简体" panose="02000000000000000000" pitchFamily="2" charset="-122"/>
                          <a:ea typeface="方正兰亭黑简体" panose="02000000000000000000" pitchFamily="2" charset="-122"/>
                          <a:cs typeface="宋体" panose="02010600030101010101" pitchFamily="2" charset="-122"/>
                        </a:rPr>
                        <a:t>点的值</a:t>
                      </a:r>
                    </a:p>
                  </a:txBody>
                  <a:tcPr marL="68580" marR="68580"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2189506"/>
                  </a:ext>
                </a:extLst>
              </a:tr>
            </a:tbl>
          </a:graphicData>
        </a:graphic>
      </p:graphicFrame>
    </p:spTree>
    <p:extLst>
      <p:ext uri="{BB962C8B-B14F-4D97-AF65-F5344CB8AC3E}">
        <p14:creationId xmlns:p14="http://schemas.microsoft.com/office/powerpoint/2010/main" val="1292051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770D132-3EF4-4B11-9131-91662485544F}"/>
              </a:ext>
            </a:extLst>
          </p:cNvPr>
          <p:cNvSpPr>
            <a:spLocks noGrp="1"/>
          </p:cNvSpPr>
          <p:nvPr>
            <p:ph type="body" sz="quarter" idx="10"/>
          </p:nvPr>
        </p:nvSpPr>
        <p:spPr>
          <a:xfrm>
            <a:off x="912285" y="1233487"/>
            <a:ext cx="10992670" cy="5456361"/>
          </a:xfrm>
        </p:spPr>
        <p:txBody>
          <a:bodyPr/>
          <a:lstStyle/>
          <a:p>
            <a:endParaRPr lang="en-US" altLang="zh-CN" dirty="0">
              <a:latin typeface="方正兰亭黑简体" panose="02000000000000000000" pitchFamily="2" charset="-122"/>
              <a:ea typeface="方正兰亭黑简体" panose="02000000000000000000" pitchFamily="2" charset="-122"/>
            </a:endParaRPr>
          </a:p>
          <a:p>
            <a:pPr marL="0" indent="0">
              <a:buNone/>
            </a:pPr>
            <a:endParaRPr lang="en-US" altLang="zh-CN" dirty="0">
              <a:latin typeface="方正兰亭黑简体" panose="02000000000000000000" pitchFamily="2" charset="-122"/>
              <a:ea typeface="方正兰亭黑简体" panose="02000000000000000000" pitchFamily="2" charset="-122"/>
            </a:endParaRPr>
          </a:p>
          <a:p>
            <a:r>
              <a:rPr lang="zh-CN" altLang="en-US" dirty="0">
                <a:latin typeface="方正兰亭黑简体" panose="02000000000000000000" pitchFamily="2" charset="-122"/>
                <a:ea typeface="方正兰亭黑简体" panose="02000000000000000000" pitchFamily="2" charset="-122"/>
              </a:rPr>
              <a:t>以</a:t>
            </a:r>
            <a:r>
              <a:rPr lang="zh-CN" altLang="zh-CN" dirty="0">
                <a:latin typeface="方正兰亭黑简体" panose="02000000000000000000" pitchFamily="2" charset="-122"/>
                <a:ea typeface="方正兰亭黑简体" panose="02000000000000000000" pitchFamily="2" charset="-122"/>
              </a:rPr>
              <a:t>终端路测数据</a:t>
            </a:r>
            <a:r>
              <a:rPr lang="zh-CN" altLang="en-US" dirty="0">
                <a:latin typeface="方正兰亭黑简体" panose="02000000000000000000" pitchFamily="2" charset="-122"/>
                <a:ea typeface="方正兰亭黑简体" panose="02000000000000000000" pitchFamily="2" charset="-122"/>
              </a:rPr>
              <a:t>为数据源</a:t>
            </a:r>
            <a:r>
              <a:rPr lang="en-US" altLang="zh-CN" dirty="0">
                <a:latin typeface="方正兰亭黑简体" panose="02000000000000000000" pitchFamily="2" charset="-122"/>
                <a:ea typeface="方正兰亭黑简体" panose="02000000000000000000" pitchFamily="2" charset="-122"/>
                <a:sym typeface="Wingdings" panose="05000000000000000000" pitchFamily="2" charset="2"/>
              </a:rPr>
              <a:t></a:t>
            </a:r>
            <a:r>
              <a:rPr lang="zh-CN" altLang="en-US" dirty="0">
                <a:latin typeface="方正兰亭黑简体" panose="02000000000000000000" pitchFamily="2" charset="-122"/>
                <a:ea typeface="方正兰亭黑简体" panose="02000000000000000000" pitchFamily="2" charset="-122"/>
              </a:rPr>
              <a:t>对路测</a:t>
            </a:r>
            <a:r>
              <a:rPr lang="zh-CN" altLang="zh-CN" dirty="0">
                <a:latin typeface="方正兰亭黑简体" panose="02000000000000000000" pitchFamily="2" charset="-122"/>
                <a:ea typeface="方正兰亭黑简体" panose="02000000000000000000" pitchFamily="2" charset="-122"/>
              </a:rPr>
              <a:t>采集数据进行</a:t>
            </a:r>
            <a:endParaRPr lang="en-US" altLang="zh-CN" dirty="0">
              <a:latin typeface="方正兰亭黑简体" panose="02000000000000000000" pitchFamily="2" charset="-122"/>
              <a:ea typeface="方正兰亭黑简体" panose="02000000000000000000" pitchFamily="2" charset="-122"/>
            </a:endParaRPr>
          </a:p>
          <a:p>
            <a:pPr marL="0" indent="0">
              <a:buNone/>
            </a:pPr>
            <a:r>
              <a:rPr lang="zh-CN" altLang="zh-CN" dirty="0">
                <a:latin typeface="方正兰亭黑简体" panose="02000000000000000000" pitchFamily="2" charset="-122"/>
                <a:ea typeface="方正兰亭黑简体" panose="02000000000000000000" pitchFamily="2" charset="-122"/>
              </a:rPr>
              <a:t>分析</a:t>
            </a:r>
            <a:r>
              <a:rPr lang="en-US" altLang="zh-CN" dirty="0">
                <a:latin typeface="方正兰亭黑简体" panose="02000000000000000000" pitchFamily="2" charset="-122"/>
                <a:ea typeface="方正兰亭黑简体" panose="02000000000000000000" pitchFamily="2" charset="-122"/>
                <a:sym typeface="Wingdings" panose="05000000000000000000" pitchFamily="2" charset="2"/>
              </a:rPr>
              <a:t></a:t>
            </a:r>
            <a:r>
              <a:rPr lang="zh-CN" altLang="zh-CN" dirty="0">
                <a:latin typeface="方正兰亭黑简体" panose="02000000000000000000" pitchFamily="2" charset="-122"/>
                <a:ea typeface="方正兰亭黑简体" panose="02000000000000000000" pitchFamily="2" charset="-122"/>
              </a:rPr>
              <a:t>得出优化的结论</a:t>
            </a:r>
            <a:endParaRPr lang="en-US" altLang="zh-CN" dirty="0">
              <a:latin typeface="方正兰亭黑简体" panose="02000000000000000000" pitchFamily="2" charset="-122"/>
              <a:ea typeface="方正兰亭黑简体" panose="02000000000000000000" pitchFamily="2" charset="-122"/>
            </a:endParaRPr>
          </a:p>
          <a:p>
            <a:r>
              <a:rPr lang="zh-CN" altLang="en-US" dirty="0">
                <a:latin typeface="方正兰亭黑简体" panose="02000000000000000000" pitchFamily="2" charset="-122"/>
                <a:ea typeface="方正兰亭黑简体" panose="02000000000000000000" pitchFamily="2" charset="-122"/>
              </a:rPr>
              <a:t>多次迭代优化，</a:t>
            </a:r>
            <a:r>
              <a:rPr lang="zh-CN" altLang="zh-CN" dirty="0">
                <a:latin typeface="方正兰亭黑简体" panose="02000000000000000000" pitchFamily="2" charset="-122"/>
                <a:ea typeface="方正兰亭黑简体" panose="02000000000000000000" pitchFamily="2" charset="-122"/>
              </a:rPr>
              <a:t>可能</a:t>
            </a:r>
            <a:r>
              <a:rPr lang="zh-CN" altLang="en-US" dirty="0">
                <a:latin typeface="方正兰亭黑简体" panose="02000000000000000000" pitchFamily="2" charset="-122"/>
                <a:ea typeface="方正兰亭黑简体" panose="02000000000000000000" pitchFamily="2" charset="-122"/>
              </a:rPr>
              <a:t>需要</a:t>
            </a:r>
            <a:r>
              <a:rPr lang="zh-CN" altLang="zh-CN" dirty="0">
                <a:latin typeface="方正兰亭黑简体" panose="02000000000000000000" pitchFamily="2" charset="-122"/>
                <a:ea typeface="方正兰亭黑简体" panose="02000000000000000000" pitchFamily="2" charset="-122"/>
              </a:rPr>
              <a:t>经过</a:t>
            </a:r>
            <a:r>
              <a:rPr lang="en-US" altLang="zh-CN" dirty="0">
                <a:latin typeface="方正兰亭黑简体" panose="02000000000000000000" pitchFamily="2" charset="-122"/>
                <a:ea typeface="方正兰亭黑简体" panose="02000000000000000000" pitchFamily="2" charset="-122"/>
              </a:rPr>
              <a:t>2</a:t>
            </a:r>
            <a:r>
              <a:rPr lang="zh-CN" altLang="zh-CN" dirty="0">
                <a:latin typeface="方正兰亭黑简体" panose="02000000000000000000" pitchFamily="2" charset="-122"/>
                <a:ea typeface="方正兰亭黑简体" panose="02000000000000000000" pitchFamily="2" charset="-122"/>
              </a:rPr>
              <a:t>～</a:t>
            </a:r>
            <a:r>
              <a:rPr lang="en-US" altLang="zh-CN" dirty="0">
                <a:latin typeface="方正兰亭黑简体" panose="02000000000000000000" pitchFamily="2" charset="-122"/>
                <a:ea typeface="方正兰亭黑简体" panose="02000000000000000000" pitchFamily="2" charset="-122"/>
              </a:rPr>
              <a:t>3</a:t>
            </a:r>
            <a:r>
              <a:rPr lang="zh-CN" altLang="zh-CN" dirty="0">
                <a:latin typeface="方正兰亭黑简体" panose="02000000000000000000" pitchFamily="2" charset="-122"/>
                <a:ea typeface="方正兰亭黑简体" panose="02000000000000000000" pitchFamily="2" charset="-122"/>
              </a:rPr>
              <a:t>轮的优化，</a:t>
            </a:r>
            <a:endParaRPr lang="en-US" altLang="zh-CN" dirty="0">
              <a:latin typeface="方正兰亭黑简体" panose="02000000000000000000" pitchFamily="2" charset="-122"/>
              <a:ea typeface="方正兰亭黑简体" panose="02000000000000000000" pitchFamily="2" charset="-122"/>
            </a:endParaRPr>
          </a:p>
          <a:p>
            <a:pPr marL="0" indent="0">
              <a:buNone/>
            </a:pPr>
            <a:r>
              <a:rPr lang="zh-CN" altLang="zh-CN" dirty="0">
                <a:latin typeface="方正兰亭黑简体" panose="02000000000000000000" pitchFamily="2" charset="-122"/>
                <a:ea typeface="方正兰亭黑简体" panose="02000000000000000000" pitchFamily="2" charset="-122"/>
              </a:rPr>
              <a:t>甚至更多</a:t>
            </a:r>
            <a:endParaRPr lang="en-US" altLang="zh-CN" dirty="0">
              <a:latin typeface="方正兰亭黑简体" panose="02000000000000000000" pitchFamily="2" charset="-122"/>
              <a:ea typeface="方正兰亭黑简体" panose="02000000000000000000" pitchFamily="2" charset="-122"/>
            </a:endParaRPr>
          </a:p>
          <a:p>
            <a:r>
              <a:rPr lang="zh-CN" altLang="zh-CN" dirty="0">
                <a:latin typeface="方正兰亭黑简体" panose="02000000000000000000" pitchFamily="2" charset="-122"/>
                <a:ea typeface="方正兰亭黑简体" panose="02000000000000000000" pitchFamily="2" charset="-122"/>
              </a:rPr>
              <a:t>优化工具可以对优化建议进行预测</a:t>
            </a:r>
            <a:r>
              <a:rPr lang="zh-CN" altLang="en-US" dirty="0">
                <a:latin typeface="方正兰亭黑简体" panose="02000000000000000000" pitchFamily="2" charset="-122"/>
                <a:ea typeface="方正兰亭黑简体" panose="02000000000000000000" pitchFamily="2" charset="-122"/>
              </a:rPr>
              <a:t>判断</a:t>
            </a:r>
            <a:r>
              <a:rPr lang="zh-CN" altLang="zh-CN" dirty="0">
                <a:latin typeface="方正兰亭黑简体" panose="02000000000000000000" pitchFamily="2" charset="-122"/>
                <a:ea typeface="方正兰亭黑简体" panose="02000000000000000000" pitchFamily="2" charset="-122"/>
              </a:rPr>
              <a:t>，减少优</a:t>
            </a:r>
            <a:endParaRPr lang="en-US" altLang="zh-CN" dirty="0">
              <a:latin typeface="方正兰亭黑简体" panose="02000000000000000000" pitchFamily="2" charset="-122"/>
              <a:ea typeface="方正兰亭黑简体" panose="02000000000000000000" pitchFamily="2" charset="-122"/>
            </a:endParaRPr>
          </a:p>
          <a:p>
            <a:pPr marL="0" indent="0">
              <a:buNone/>
            </a:pPr>
            <a:r>
              <a:rPr lang="zh-CN" altLang="zh-CN" dirty="0">
                <a:latin typeface="方正兰亭黑简体" panose="02000000000000000000" pitchFamily="2" charset="-122"/>
                <a:ea typeface="方正兰亭黑简体" panose="02000000000000000000" pitchFamily="2" charset="-122"/>
              </a:rPr>
              <a:t>化迭代次数，提升优化效率</a:t>
            </a:r>
            <a:endParaRPr lang="zh-CN" altLang="en-US" dirty="0">
              <a:latin typeface="方正兰亭黑简体" panose="02000000000000000000" pitchFamily="2" charset="-122"/>
              <a:ea typeface="方正兰亭黑简体" panose="02000000000000000000" pitchFamily="2" charset="-122"/>
            </a:endParaRPr>
          </a:p>
        </p:txBody>
      </p:sp>
      <p:pic>
        <p:nvPicPr>
          <p:cNvPr id="1026" name="Picture 2" descr="12-4">
            <a:extLst>
              <a:ext uri="{FF2B5EF4-FFF2-40B4-BE49-F238E27FC236}">
                <a16:creationId xmlns:a16="http://schemas.microsoft.com/office/drawing/2014/main" id="{4494A0DF-309A-445F-98FB-7776D0FF56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7436" y="280687"/>
            <a:ext cx="4390288" cy="652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4F61E63-3722-3336-1209-FB63EA612270}"/>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9" name="标题 1">
            <a:extLst>
              <a:ext uri="{FF2B5EF4-FFF2-40B4-BE49-F238E27FC236}">
                <a16:creationId xmlns:a16="http://schemas.microsoft.com/office/drawing/2014/main" id="{BA6AC2A3-6D7F-7E61-85EB-435EEB5C6939}"/>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2970752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1144021" y="1787748"/>
            <a:ext cx="10560048" cy="868363"/>
          </a:xfrm>
        </p:spPr>
        <p:txBody>
          <a:bodyPr/>
          <a:lstStyle/>
          <a:p>
            <a:r>
              <a:rPr lang="zh-CN" altLang="zh-CN" sz="2000" b="1" dirty="0">
                <a:solidFill>
                  <a:srgbClr val="FF0000"/>
                </a:solidFill>
                <a:latin typeface="方正兰亭黑简体" panose="02000000000000000000" pitchFamily="2" charset="-122"/>
                <a:ea typeface="方正兰亭黑简体" panose="02000000000000000000" pitchFamily="2" charset="-122"/>
              </a:rPr>
              <a:t>优化目标确定</a:t>
            </a:r>
            <a:endParaRPr lang="zh-CN" altLang="en-US" sz="2000" b="1" dirty="0">
              <a:solidFill>
                <a:srgbClr val="FF0000"/>
              </a:solidFill>
              <a:latin typeface="方正兰亭黑简体" panose="02000000000000000000" pitchFamily="2" charset="-122"/>
              <a:ea typeface="方正兰亭黑简体" panose="02000000000000000000" pitchFamily="2"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221929"/>
            <a:ext cx="10560048" cy="4680000"/>
          </a:xfrm>
        </p:spPr>
        <p:txBody>
          <a:bodyPr/>
          <a:lstStyle/>
          <a:p>
            <a:pPr>
              <a:lnSpc>
                <a:spcPct val="150000"/>
              </a:lnSpc>
            </a:pPr>
            <a:r>
              <a:rPr lang="zh-CN" altLang="zh-CN" sz="2000" dirty="0">
                <a:latin typeface="+mn-ea"/>
                <a:ea typeface="+mn-ea"/>
              </a:rPr>
              <a:t>不同的网络阶段针对不同的网络问题优化目标不同</a:t>
            </a:r>
            <a:r>
              <a:rPr lang="zh-CN" altLang="en-US" sz="2000" dirty="0">
                <a:latin typeface="+mn-ea"/>
                <a:ea typeface="+mn-ea"/>
              </a:rPr>
              <a:t>，</a:t>
            </a:r>
            <a:r>
              <a:rPr lang="zh-CN" altLang="zh-CN" sz="2000" dirty="0">
                <a:latin typeface="+mn-ea"/>
                <a:ea typeface="+mn-ea"/>
              </a:rPr>
              <a:t>在优化前需要先确认本次优化的目标</a:t>
            </a:r>
            <a:endParaRPr lang="en-US" altLang="zh-CN" sz="2000" dirty="0">
              <a:latin typeface="+mn-ea"/>
              <a:ea typeface="+mn-ea"/>
            </a:endParaRPr>
          </a:p>
          <a:p>
            <a:pPr>
              <a:lnSpc>
                <a:spcPct val="150000"/>
              </a:lnSpc>
            </a:pPr>
            <a:r>
              <a:rPr lang="zh-CN" altLang="zh-CN" sz="2000" dirty="0">
                <a:latin typeface="+mn-ea"/>
                <a:ea typeface="+mn-ea"/>
              </a:rPr>
              <a:t>在网络建设和网络交付阶段</a:t>
            </a:r>
            <a:r>
              <a:rPr lang="zh-CN" altLang="en-US" sz="2000" dirty="0">
                <a:latin typeface="+mn-ea"/>
                <a:ea typeface="+mn-ea"/>
              </a:rPr>
              <a:t>：</a:t>
            </a:r>
            <a:r>
              <a:rPr lang="zh-CN" altLang="zh-CN" sz="2000" dirty="0">
                <a:latin typeface="+mn-ea"/>
                <a:ea typeface="+mn-ea"/>
              </a:rPr>
              <a:t>以合同中要求的</a:t>
            </a:r>
            <a:r>
              <a:rPr lang="en-US" altLang="zh-CN" sz="2000" dirty="0">
                <a:latin typeface="+mn-ea"/>
                <a:ea typeface="+mn-ea"/>
              </a:rPr>
              <a:t>KPI</a:t>
            </a:r>
            <a:r>
              <a:rPr lang="zh-CN" altLang="zh-CN" sz="2000" dirty="0">
                <a:latin typeface="+mn-ea"/>
                <a:ea typeface="+mn-ea"/>
              </a:rPr>
              <a:t>验收目标作为</a:t>
            </a:r>
            <a:r>
              <a:rPr lang="en-US" altLang="zh-CN" sz="2000" dirty="0">
                <a:latin typeface="+mn-ea"/>
                <a:ea typeface="+mn-ea"/>
              </a:rPr>
              <a:t>RF</a:t>
            </a:r>
            <a:r>
              <a:rPr lang="zh-CN" altLang="zh-CN" sz="2000" dirty="0">
                <a:latin typeface="+mn-ea"/>
                <a:ea typeface="+mn-ea"/>
              </a:rPr>
              <a:t>优化的目标，主要针对以下几个指标进行要求：</a:t>
            </a:r>
            <a:r>
              <a:rPr lang="en-US" altLang="zh-CN" sz="2000" dirty="0">
                <a:latin typeface="+mn-ea"/>
                <a:ea typeface="+mn-ea"/>
              </a:rPr>
              <a:t>RSRP</a:t>
            </a:r>
            <a:r>
              <a:rPr lang="zh-CN" altLang="zh-CN" sz="2000" dirty="0">
                <a:latin typeface="+mn-ea"/>
                <a:ea typeface="+mn-ea"/>
              </a:rPr>
              <a:t>、</a:t>
            </a:r>
            <a:r>
              <a:rPr lang="en-US" altLang="zh-CN" sz="2000" dirty="0">
                <a:latin typeface="+mn-ea"/>
                <a:ea typeface="+mn-ea"/>
              </a:rPr>
              <a:t>SINR</a:t>
            </a:r>
            <a:r>
              <a:rPr lang="zh-CN" altLang="zh-CN" sz="2000" dirty="0">
                <a:latin typeface="+mn-ea"/>
                <a:ea typeface="+mn-ea"/>
              </a:rPr>
              <a:t>、切换成功率、小区吞吐率等。</a:t>
            </a:r>
          </a:p>
          <a:p>
            <a:pPr>
              <a:lnSpc>
                <a:spcPct val="150000"/>
              </a:lnSpc>
            </a:pPr>
            <a:r>
              <a:rPr lang="zh-CN" altLang="zh-CN" sz="2000" dirty="0">
                <a:latin typeface="+mn-ea"/>
                <a:ea typeface="+mn-ea"/>
              </a:rPr>
              <a:t>在网络运营阶段</a:t>
            </a:r>
            <a:r>
              <a:rPr lang="zh-CN" altLang="en-US" sz="2000" dirty="0">
                <a:latin typeface="+mn-ea"/>
                <a:ea typeface="+mn-ea"/>
              </a:rPr>
              <a:t>：</a:t>
            </a:r>
            <a:r>
              <a:rPr lang="zh-CN" altLang="zh-CN" sz="2000" dirty="0">
                <a:latin typeface="+mn-ea"/>
                <a:ea typeface="+mn-ea"/>
              </a:rPr>
              <a:t>根据具体的优化触发因素来确定优化目标</a:t>
            </a:r>
            <a:endParaRPr lang="en-US" altLang="zh-CN" sz="2000" dirty="0">
              <a:latin typeface="+mn-ea"/>
              <a:ea typeface="+mn-ea"/>
            </a:endParaRPr>
          </a:p>
          <a:p>
            <a:pPr lvl="1">
              <a:lnSpc>
                <a:spcPct val="150000"/>
              </a:lnSpc>
            </a:pPr>
            <a:r>
              <a:rPr lang="zh-CN" altLang="zh-CN" sz="1800" dirty="0">
                <a:latin typeface="+mn-ea"/>
              </a:rPr>
              <a:t>高负载问题</a:t>
            </a:r>
            <a:r>
              <a:rPr lang="zh-CN" altLang="en-US" sz="1800" dirty="0">
                <a:latin typeface="+mn-ea"/>
              </a:rPr>
              <a:t>：</a:t>
            </a:r>
            <a:r>
              <a:rPr lang="zh-CN" altLang="zh-CN" sz="1800" dirty="0">
                <a:latin typeface="+mn-ea"/>
              </a:rPr>
              <a:t>需要通过</a:t>
            </a:r>
            <a:r>
              <a:rPr lang="en-US" altLang="zh-CN" sz="1800" dirty="0">
                <a:latin typeface="+mn-ea"/>
              </a:rPr>
              <a:t>RF</a:t>
            </a:r>
            <a:r>
              <a:rPr lang="zh-CN" altLang="zh-CN" sz="1800" dirty="0">
                <a:latin typeface="+mn-ea"/>
              </a:rPr>
              <a:t>优化将负载降到要求的门限以下；</a:t>
            </a:r>
            <a:endParaRPr lang="en-US" altLang="zh-CN" sz="1800" dirty="0">
              <a:latin typeface="+mn-ea"/>
            </a:endParaRPr>
          </a:p>
          <a:p>
            <a:pPr lvl="1">
              <a:lnSpc>
                <a:spcPct val="150000"/>
              </a:lnSpc>
            </a:pPr>
            <a:r>
              <a:rPr lang="zh-CN" altLang="zh-CN" sz="1800" dirty="0">
                <a:latin typeface="+mn-ea"/>
              </a:rPr>
              <a:t>频谱效率低或者容量问题</a:t>
            </a:r>
            <a:r>
              <a:rPr lang="zh-CN" altLang="en-US" sz="1800" dirty="0">
                <a:latin typeface="+mn-ea"/>
              </a:rPr>
              <a:t>：</a:t>
            </a:r>
            <a:r>
              <a:rPr lang="zh-CN" altLang="zh-CN" sz="1800" dirty="0">
                <a:latin typeface="+mn-ea"/>
              </a:rPr>
              <a:t>需要通过优化将频谱效率和小区平均吞吐量提升到所要求的门限值，解决这些问题的同时也需要保障</a:t>
            </a:r>
            <a:r>
              <a:rPr lang="en-US" altLang="zh-CN" sz="1800" dirty="0">
                <a:latin typeface="+mn-ea"/>
              </a:rPr>
              <a:t>KPI</a:t>
            </a:r>
            <a:r>
              <a:rPr lang="zh-CN" altLang="zh-CN" sz="1800" dirty="0">
                <a:latin typeface="+mn-ea"/>
              </a:rPr>
              <a:t>要求。</a:t>
            </a:r>
            <a:endParaRPr lang="en-US" altLang="zh-CN" sz="1800" dirty="0">
              <a:latin typeface="+mn-ea"/>
            </a:endParaRPr>
          </a:p>
          <a:p>
            <a:pPr lvl="1">
              <a:lnSpc>
                <a:spcPct val="150000"/>
              </a:lnSpc>
            </a:pPr>
            <a:r>
              <a:rPr lang="zh-CN" altLang="zh-CN" sz="1800" dirty="0">
                <a:latin typeface="+mn-ea"/>
              </a:rPr>
              <a:t>环境的变化使得现在的覆盖指标达不到初始建网的</a:t>
            </a:r>
            <a:r>
              <a:rPr lang="en-US" altLang="zh-CN" sz="1800" dirty="0">
                <a:latin typeface="+mn-ea"/>
              </a:rPr>
              <a:t>KPI</a:t>
            </a:r>
            <a:r>
              <a:rPr lang="zh-CN" altLang="zh-CN" sz="1800" dirty="0">
                <a:latin typeface="+mn-ea"/>
              </a:rPr>
              <a:t>要求</a:t>
            </a:r>
            <a:r>
              <a:rPr lang="zh-CN" altLang="en-US" sz="1800" dirty="0">
                <a:latin typeface="+mn-ea"/>
              </a:rPr>
              <a:t>：</a:t>
            </a:r>
            <a:r>
              <a:rPr lang="zh-CN" altLang="zh-CN" sz="1800" dirty="0">
                <a:latin typeface="+mn-ea"/>
              </a:rPr>
              <a:t>需要重新调整现有的</a:t>
            </a:r>
            <a:r>
              <a:rPr lang="en-US" altLang="zh-CN" sz="1800" dirty="0">
                <a:latin typeface="+mn-ea"/>
              </a:rPr>
              <a:t>RF</a:t>
            </a:r>
            <a:r>
              <a:rPr lang="zh-CN" altLang="zh-CN" sz="1800" dirty="0">
                <a:latin typeface="+mn-ea"/>
              </a:rPr>
              <a:t>参数，以便适应现在的传播环境，满足</a:t>
            </a:r>
            <a:r>
              <a:rPr lang="en-US" altLang="zh-CN" sz="1800" dirty="0">
                <a:latin typeface="+mn-ea"/>
              </a:rPr>
              <a:t>KPI</a:t>
            </a:r>
            <a:r>
              <a:rPr lang="zh-CN" altLang="zh-CN" sz="1800" dirty="0">
                <a:latin typeface="+mn-ea"/>
              </a:rPr>
              <a:t>要求；或者根据用户的具体投诉问题作为目标进行优化。</a:t>
            </a:r>
            <a:endParaRPr lang="zh-CN" altLang="en-US" sz="1800" dirty="0">
              <a:latin typeface="+mn-ea"/>
            </a:endParaRPr>
          </a:p>
        </p:txBody>
      </p:sp>
      <p:sp>
        <p:nvSpPr>
          <p:cNvPr id="4" name="文本框 3">
            <a:extLst>
              <a:ext uri="{FF2B5EF4-FFF2-40B4-BE49-F238E27FC236}">
                <a16:creationId xmlns:a16="http://schemas.microsoft.com/office/drawing/2014/main" id="{20B6A57F-AC5A-7DEB-C158-DA5105C9C750}"/>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86A294B7-BBC2-9A74-B61E-ADC305E36259}"/>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181072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515678" y="1475039"/>
            <a:ext cx="10560048" cy="868363"/>
          </a:xfrm>
        </p:spPr>
        <p:txBody>
          <a:bodyPr/>
          <a:lstStyle/>
          <a:p>
            <a:r>
              <a:rPr lang="en-US" altLang="zh-CN" sz="2000" b="1" dirty="0">
                <a:solidFill>
                  <a:srgbClr val="FF0000"/>
                </a:solidFill>
                <a:latin typeface="方正兰亭黑简体" panose="02000000000000000000" pitchFamily="2" charset="-122"/>
                <a:ea typeface="方正兰亭黑简体" panose="02000000000000000000" pitchFamily="2" charset="-122"/>
              </a:rPr>
              <a:t>Cluster</a:t>
            </a:r>
            <a:r>
              <a:rPr lang="zh-CN" altLang="zh-CN" sz="2000" b="1" dirty="0">
                <a:solidFill>
                  <a:srgbClr val="FF0000"/>
                </a:solidFill>
                <a:latin typeface="方正兰亭黑简体" panose="02000000000000000000" pitchFamily="2" charset="-122"/>
                <a:ea typeface="方正兰亭黑简体" panose="02000000000000000000" pitchFamily="2" charset="-122"/>
              </a:rPr>
              <a:t>划分</a:t>
            </a:r>
            <a:r>
              <a:rPr lang="en-US" altLang="zh-CN" sz="2000" b="1" dirty="0">
                <a:solidFill>
                  <a:srgbClr val="FF0000"/>
                </a:solidFill>
                <a:latin typeface="方正兰亭黑简体" panose="02000000000000000000" pitchFamily="2" charset="-122"/>
                <a:ea typeface="方正兰亭黑简体" panose="02000000000000000000" pitchFamily="2" charset="-122"/>
              </a:rPr>
              <a:t>/</a:t>
            </a:r>
            <a:r>
              <a:rPr lang="zh-CN" altLang="zh-CN" sz="2000" b="1" dirty="0">
                <a:solidFill>
                  <a:srgbClr val="FF0000"/>
                </a:solidFill>
                <a:latin typeface="方正兰亭黑简体" panose="02000000000000000000" pitchFamily="2" charset="-122"/>
                <a:ea typeface="方正兰亭黑简体" panose="02000000000000000000" pitchFamily="2" charset="-122"/>
              </a:rPr>
              <a:t>优化区域确定</a:t>
            </a:r>
            <a:endParaRPr lang="zh-CN" altLang="en-US" sz="2000" b="1" dirty="0">
              <a:solidFill>
                <a:srgbClr val="FF0000"/>
              </a:solidFill>
              <a:latin typeface="方正兰亭黑简体" panose="02000000000000000000" pitchFamily="2" charset="-122"/>
              <a:ea typeface="方正兰亭黑简体" panose="02000000000000000000" pitchFamily="2"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305163" y="2014789"/>
            <a:ext cx="11581673" cy="4680000"/>
          </a:xfrm>
        </p:spPr>
        <p:txBody>
          <a:bodyPr/>
          <a:lstStyle/>
          <a:p>
            <a:pPr>
              <a:lnSpc>
                <a:spcPct val="100000"/>
              </a:lnSpc>
            </a:pPr>
            <a:r>
              <a:rPr lang="zh-CN" altLang="zh-CN" sz="2000" dirty="0">
                <a:latin typeface="微软雅黑" panose="020B0503020204020204" pitchFamily="34" charset="-122"/>
                <a:ea typeface="微软雅黑" panose="020B0503020204020204" pitchFamily="34" charset="-122"/>
              </a:rPr>
              <a:t>在网络运营阶段和集中优化网络性能提升阶段，路测之前需要将整个优化区域划分成不同</a:t>
            </a:r>
            <a:r>
              <a:rPr lang="en-US" altLang="zh-CN" sz="2000" dirty="0">
                <a:latin typeface="微软雅黑" panose="020B0503020204020204" pitchFamily="34" charset="-122"/>
                <a:ea typeface="微软雅黑" panose="020B0503020204020204" pitchFamily="34" charset="-122"/>
              </a:rPr>
              <a:t>Cluster</a:t>
            </a:r>
            <a:r>
              <a:rPr lang="zh-CN" altLang="zh-CN" sz="2000" dirty="0">
                <a:latin typeface="微软雅黑" panose="020B0503020204020204" pitchFamily="34" charset="-122"/>
                <a:ea typeface="微软雅黑" panose="020B0503020204020204" pitchFamily="34" charset="-122"/>
              </a:rPr>
              <a:t>。合理的簇划分，能够提升优化的效率，方便路测并能充分考虑邻区的影响。</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zh-CN" altLang="zh-CN" sz="2000" dirty="0">
                <a:latin typeface="微软雅黑" panose="020B0503020204020204" pitchFamily="34" charset="-122"/>
                <a:ea typeface="微软雅黑" panose="020B0503020204020204" pitchFamily="34" charset="-122"/>
              </a:rPr>
              <a:t>具体的簇划分需要考虑以下因素</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lvl="1">
              <a:lnSpc>
                <a:spcPct val="100000"/>
              </a:lnSpc>
            </a:pPr>
            <a:r>
              <a:rPr lang="zh-CN" altLang="zh-CN" sz="1800" dirty="0"/>
              <a:t>（</a:t>
            </a:r>
            <a:r>
              <a:rPr lang="en-US" altLang="zh-CN" sz="1800" dirty="0"/>
              <a:t>1</a:t>
            </a:r>
            <a:r>
              <a:rPr lang="zh-CN" altLang="zh-CN" sz="1800" dirty="0"/>
              <a:t>）根据经验，簇的数量应根据实际情况，</a:t>
            </a:r>
            <a:r>
              <a:rPr lang="en-US" altLang="zh-CN" sz="1800" dirty="0"/>
              <a:t>20</a:t>
            </a:r>
            <a:r>
              <a:rPr lang="zh-CN" altLang="zh-CN" sz="1800" dirty="0"/>
              <a:t>～</a:t>
            </a:r>
            <a:r>
              <a:rPr lang="en-US" altLang="zh-CN" sz="1800" dirty="0"/>
              <a:t>30</a:t>
            </a:r>
            <a:r>
              <a:rPr lang="zh-CN" altLang="zh-CN" sz="1800" dirty="0"/>
              <a:t>个基站为一簇，不宜过多或过少。</a:t>
            </a:r>
          </a:p>
          <a:p>
            <a:pPr lvl="1">
              <a:lnSpc>
                <a:spcPct val="100000"/>
              </a:lnSpc>
            </a:pPr>
            <a:r>
              <a:rPr lang="zh-CN" altLang="zh-CN" sz="1800" dirty="0"/>
              <a:t>（</a:t>
            </a:r>
            <a:r>
              <a:rPr lang="en-US" altLang="zh-CN" sz="1800" dirty="0"/>
              <a:t>2</a:t>
            </a:r>
            <a:r>
              <a:rPr lang="zh-CN" altLang="zh-CN" sz="1800" dirty="0"/>
              <a:t>）同一</a:t>
            </a:r>
            <a:r>
              <a:rPr lang="en-US" altLang="zh-CN" sz="1800" dirty="0"/>
              <a:t>Cluster</a:t>
            </a:r>
            <a:r>
              <a:rPr lang="zh-CN" altLang="zh-CN" sz="1800" dirty="0"/>
              <a:t>不应跨越测试覆盖业务不同的区域。</a:t>
            </a:r>
          </a:p>
          <a:p>
            <a:pPr lvl="1">
              <a:lnSpc>
                <a:spcPct val="100000"/>
              </a:lnSpc>
            </a:pPr>
            <a:r>
              <a:rPr lang="zh-CN" altLang="zh-CN" sz="1800" dirty="0"/>
              <a:t>（</a:t>
            </a:r>
            <a:r>
              <a:rPr lang="en-US" altLang="zh-CN" sz="1800" dirty="0"/>
              <a:t>3</a:t>
            </a:r>
            <a:r>
              <a:rPr lang="zh-CN" altLang="zh-CN" sz="1800" dirty="0"/>
              <a:t>）可参考运营商已有网络工程维护用的</a:t>
            </a:r>
            <a:r>
              <a:rPr lang="en-US" altLang="zh-CN" sz="1800" dirty="0"/>
              <a:t>Cluster</a:t>
            </a:r>
            <a:r>
              <a:rPr lang="zh-CN" altLang="zh-CN" sz="1800" dirty="0"/>
              <a:t>划分。</a:t>
            </a:r>
          </a:p>
          <a:p>
            <a:pPr lvl="1">
              <a:lnSpc>
                <a:spcPct val="100000"/>
              </a:lnSpc>
            </a:pPr>
            <a:r>
              <a:rPr lang="zh-CN" altLang="zh-CN" sz="1800" dirty="0"/>
              <a:t>（</a:t>
            </a:r>
            <a:r>
              <a:rPr lang="en-US" altLang="zh-CN" sz="1800" dirty="0"/>
              <a:t>4</a:t>
            </a:r>
            <a:r>
              <a:rPr lang="zh-CN" altLang="zh-CN" sz="1800" dirty="0"/>
              <a:t>）行政区域划分原则：当优化网络覆盖区域属于多个行政区域时，按照不同行政区域划分</a:t>
            </a:r>
            <a:r>
              <a:rPr lang="en-US" altLang="zh-CN" sz="1800" dirty="0"/>
              <a:t>Cluster</a:t>
            </a:r>
            <a:r>
              <a:rPr lang="zh-CN" altLang="zh-CN" sz="1800" dirty="0"/>
              <a:t>是一种容易被客户接受的做法。</a:t>
            </a:r>
            <a:endParaRPr lang="en-US" altLang="zh-CN" sz="1800" dirty="0"/>
          </a:p>
          <a:p>
            <a:pPr lvl="1">
              <a:lnSpc>
                <a:spcPct val="100000"/>
              </a:lnSpc>
            </a:pPr>
            <a:r>
              <a:rPr lang="zh-CN" altLang="zh-CN" sz="1800" dirty="0"/>
              <a:t>（</a:t>
            </a:r>
            <a:r>
              <a:rPr lang="en-US" altLang="zh-CN" sz="1800" dirty="0"/>
              <a:t>5</a:t>
            </a:r>
            <a:r>
              <a:rPr lang="zh-CN" altLang="zh-CN" sz="1800" dirty="0"/>
              <a:t>）通常按蜂窝形状划分</a:t>
            </a:r>
            <a:r>
              <a:rPr lang="en-US" altLang="zh-CN" sz="1800" dirty="0"/>
              <a:t>Cluster</a:t>
            </a:r>
            <a:r>
              <a:rPr lang="zh-CN" altLang="zh-CN" sz="1800" dirty="0"/>
              <a:t>比长条状的</a:t>
            </a:r>
            <a:r>
              <a:rPr lang="en-US" altLang="zh-CN" sz="1800" dirty="0"/>
              <a:t>Cluster</a:t>
            </a:r>
            <a:r>
              <a:rPr lang="zh-CN" altLang="zh-CN" sz="1800" dirty="0"/>
              <a:t>更为常见。</a:t>
            </a:r>
            <a:endParaRPr lang="en-US" altLang="zh-CN" sz="1800" dirty="0"/>
          </a:p>
          <a:p>
            <a:pPr lvl="1">
              <a:lnSpc>
                <a:spcPct val="100000"/>
              </a:lnSpc>
            </a:pPr>
            <a:r>
              <a:rPr lang="zh-CN" altLang="en-US" sz="1800" dirty="0"/>
              <a:t>（</a:t>
            </a:r>
            <a:r>
              <a:rPr lang="en-US" altLang="zh-CN" sz="1800" dirty="0"/>
              <a:t>6</a:t>
            </a:r>
            <a:r>
              <a:rPr lang="zh-CN" altLang="en-US" sz="1800" dirty="0"/>
              <a:t>）</a:t>
            </a:r>
            <a:r>
              <a:rPr lang="zh-CN" altLang="zh-CN" sz="1800" dirty="0"/>
              <a:t>地形因素影响</a:t>
            </a:r>
            <a:endParaRPr lang="en-US" altLang="zh-CN" sz="1800" dirty="0"/>
          </a:p>
          <a:p>
            <a:pPr lvl="1">
              <a:lnSpc>
                <a:spcPct val="100000"/>
              </a:lnSpc>
            </a:pPr>
            <a:r>
              <a:rPr lang="zh-CN" altLang="en-US" sz="1800" dirty="0"/>
              <a:t>（</a:t>
            </a:r>
            <a:r>
              <a:rPr lang="en-US" altLang="zh-CN" sz="1800" dirty="0"/>
              <a:t>7</a:t>
            </a:r>
            <a:r>
              <a:rPr lang="zh-CN" altLang="en-US" sz="1800" dirty="0"/>
              <a:t>）</a:t>
            </a:r>
            <a:r>
              <a:rPr lang="zh-CN" altLang="zh-CN" sz="1800" dirty="0"/>
              <a:t>路测工作量因素影响</a:t>
            </a:r>
            <a:endParaRPr lang="zh-CN" altLang="en-US" sz="1800" dirty="0"/>
          </a:p>
        </p:txBody>
      </p:sp>
      <p:sp>
        <p:nvSpPr>
          <p:cNvPr id="4" name="文本框 3">
            <a:extLst>
              <a:ext uri="{FF2B5EF4-FFF2-40B4-BE49-F238E27FC236}">
                <a16:creationId xmlns:a16="http://schemas.microsoft.com/office/drawing/2014/main" id="{FBE4335A-3CD8-AB97-C23D-2D432F18A39D}"/>
              </a:ext>
            </a:extLst>
          </p:cNvPr>
          <p:cNvSpPr txBox="1"/>
          <p:nvPr/>
        </p:nvSpPr>
        <p:spPr>
          <a:xfrm>
            <a:off x="294509" y="-96257"/>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A8022CB2-4B08-AD7A-D0F7-0D6AAB958DEE}"/>
              </a:ext>
            </a:extLst>
          </p:cNvPr>
          <p:cNvSpPr txBox="1"/>
          <p:nvPr/>
        </p:nvSpPr>
        <p:spPr bwMode="auto">
          <a:xfrm>
            <a:off x="526244" y="983590"/>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3774110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22852" y="1952278"/>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测试路线</a:t>
            </a:r>
            <a:r>
              <a:rPr lang="zh-CN" altLang="en-US" sz="2000" b="1" dirty="0">
                <a:solidFill>
                  <a:srgbClr val="FF0000"/>
                </a:solidFill>
                <a:latin typeface="微软雅黑" panose="020B0503020204020204" pitchFamily="34" charset="-122"/>
                <a:ea typeface="微软雅黑" panose="020B0503020204020204" pitchFamily="34" charset="-122"/>
              </a:rPr>
              <a:t>准备</a:t>
            </a: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676699"/>
            <a:ext cx="10560048" cy="4680000"/>
          </a:xfrm>
        </p:spPr>
        <p:txBody>
          <a:bodyPr/>
          <a:lstStyle/>
          <a:p>
            <a:r>
              <a:rPr lang="zh-CN" altLang="zh-CN" sz="2000" dirty="0">
                <a:latin typeface="方正兰亭黑简体" panose="02000000000000000000" pitchFamily="2" charset="-122"/>
                <a:ea typeface="方正兰亭黑简体" panose="02000000000000000000" pitchFamily="2" charset="-122"/>
              </a:rPr>
              <a:t>路测之前，应与客户确认</a:t>
            </a:r>
            <a:r>
              <a:rPr lang="en-US" altLang="zh-CN" sz="2000" dirty="0">
                <a:latin typeface="方正兰亭黑简体" panose="02000000000000000000" pitchFamily="2" charset="-122"/>
                <a:ea typeface="方正兰亭黑简体" panose="02000000000000000000" pitchFamily="2" charset="-122"/>
              </a:rPr>
              <a:t>KPI</a:t>
            </a:r>
            <a:r>
              <a:rPr lang="zh-CN" altLang="zh-CN" sz="2000" dirty="0">
                <a:latin typeface="方正兰亭黑简体" panose="02000000000000000000" pitchFamily="2" charset="-122"/>
                <a:ea typeface="方正兰亭黑简体" panose="02000000000000000000" pitchFamily="2" charset="-122"/>
              </a:rPr>
              <a:t>路测验收路线，如果客户已经有预定的路测验收路线，在</a:t>
            </a:r>
            <a:r>
              <a:rPr lang="en-US" altLang="zh-CN" sz="2000" dirty="0">
                <a:latin typeface="方正兰亭黑简体" panose="02000000000000000000" pitchFamily="2" charset="-122"/>
                <a:ea typeface="方正兰亭黑简体" panose="02000000000000000000" pitchFamily="2" charset="-122"/>
              </a:rPr>
              <a:t>KPI</a:t>
            </a:r>
            <a:r>
              <a:rPr lang="zh-CN" altLang="zh-CN" sz="2000" dirty="0">
                <a:latin typeface="方正兰亭黑简体" panose="02000000000000000000" pitchFamily="2" charset="-122"/>
                <a:ea typeface="方正兰亭黑简体" panose="02000000000000000000" pitchFamily="2" charset="-122"/>
              </a:rPr>
              <a:t>路测验收路线确定时应该包含客户预定的测试验收路线。</a:t>
            </a:r>
            <a:endParaRPr lang="en-US" altLang="zh-CN" sz="2000" dirty="0">
              <a:latin typeface="方正兰亭黑简体" panose="02000000000000000000" pitchFamily="2" charset="-122"/>
              <a:ea typeface="方正兰亭黑简体" panose="02000000000000000000" pitchFamily="2" charset="-122"/>
            </a:endParaRPr>
          </a:p>
          <a:p>
            <a:r>
              <a:rPr lang="zh-CN" altLang="zh-CN" sz="2000" dirty="0">
                <a:latin typeface="方正兰亭黑简体" panose="02000000000000000000" pitchFamily="2" charset="-122"/>
                <a:ea typeface="方正兰亭黑简体" panose="02000000000000000000" pitchFamily="2" charset="-122"/>
              </a:rPr>
              <a:t>在测试路线的制定过程中，可重点了解客户关注的</a:t>
            </a:r>
            <a:r>
              <a:rPr lang="en-US" altLang="zh-CN" sz="2000" dirty="0">
                <a:latin typeface="方正兰亭黑简体" panose="02000000000000000000" pitchFamily="2" charset="-122"/>
                <a:ea typeface="方正兰亭黑简体" panose="02000000000000000000" pitchFamily="2" charset="-122"/>
              </a:rPr>
              <a:t>VIP</a:t>
            </a:r>
            <a:r>
              <a:rPr lang="zh-CN" altLang="zh-CN" sz="2000" dirty="0">
                <a:latin typeface="方正兰亭黑简体" panose="02000000000000000000" pitchFamily="2" charset="-122"/>
                <a:ea typeface="方正兰亭黑简体" panose="02000000000000000000" pitchFamily="2" charset="-122"/>
              </a:rPr>
              <a:t>区域，要重点关注</a:t>
            </a:r>
            <a:r>
              <a:rPr lang="en-US" altLang="zh-CN" sz="2000" dirty="0">
                <a:latin typeface="方正兰亭黑简体" panose="02000000000000000000" pitchFamily="2" charset="-122"/>
                <a:ea typeface="方正兰亭黑简体" panose="02000000000000000000" pitchFamily="2" charset="-122"/>
              </a:rPr>
              <a:t>VIP</a:t>
            </a:r>
            <a:r>
              <a:rPr lang="zh-CN" altLang="zh-CN" sz="2000" dirty="0">
                <a:latin typeface="方正兰亭黑简体" panose="02000000000000000000" pitchFamily="2" charset="-122"/>
                <a:ea typeface="方正兰亭黑简体" panose="02000000000000000000" pitchFamily="2" charset="-122"/>
              </a:rPr>
              <a:t>区域的网络情况，注意是否存在明显或较严重的问题点，对这些问题点要优先分析解决，如因客户原因导致，应及时向客户预警知会。</a:t>
            </a:r>
            <a:endParaRPr lang="en-US" altLang="zh-CN" sz="2000" dirty="0">
              <a:latin typeface="方正兰亭黑简体" panose="02000000000000000000" pitchFamily="2" charset="-122"/>
              <a:ea typeface="方正兰亭黑简体" panose="02000000000000000000" pitchFamily="2" charset="-122"/>
            </a:endParaRPr>
          </a:p>
          <a:p>
            <a:r>
              <a:rPr lang="zh-CN" altLang="zh-CN" sz="2000" dirty="0">
                <a:latin typeface="方正兰亭黑简体" panose="02000000000000000000" pitchFamily="2" charset="-122"/>
                <a:ea typeface="方正兰亭黑简体" panose="02000000000000000000" pitchFamily="2" charset="-122"/>
              </a:rPr>
              <a:t>如果发现由于网络布局本身等客观因素，不能完全满足客户预定测试路线覆盖要求，应及时说明，同时保留好相关邮件或会议纪要。</a:t>
            </a:r>
            <a:endParaRPr lang="en-US" altLang="zh-CN" sz="2000" dirty="0">
              <a:latin typeface="方正兰亭黑简体" panose="02000000000000000000" pitchFamily="2" charset="-122"/>
              <a:ea typeface="方正兰亭黑简体" panose="02000000000000000000" pitchFamily="2" charset="-122"/>
            </a:endParaRPr>
          </a:p>
          <a:p>
            <a:r>
              <a:rPr lang="en-US" altLang="zh-CN" sz="2000" dirty="0">
                <a:latin typeface="方正兰亭黑简体" panose="02000000000000000000" pitchFamily="2" charset="-122"/>
                <a:ea typeface="方正兰亭黑简体" panose="02000000000000000000" pitchFamily="2" charset="-122"/>
              </a:rPr>
              <a:t>KPI</a:t>
            </a:r>
            <a:r>
              <a:rPr lang="zh-CN" altLang="zh-CN" sz="2000" dirty="0">
                <a:latin typeface="方正兰亭黑简体" panose="02000000000000000000" pitchFamily="2" charset="-122"/>
                <a:ea typeface="方正兰亭黑简体" panose="02000000000000000000" pitchFamily="2" charset="-122"/>
              </a:rPr>
              <a:t>路测验收路线是</a:t>
            </a:r>
            <a:r>
              <a:rPr lang="en-US" altLang="zh-CN" sz="2000" dirty="0">
                <a:latin typeface="方正兰亭黑简体" panose="02000000000000000000" pitchFamily="2" charset="-122"/>
                <a:ea typeface="方正兰亭黑简体" panose="02000000000000000000" pitchFamily="2" charset="-122"/>
              </a:rPr>
              <a:t>RF</a:t>
            </a:r>
            <a:r>
              <a:rPr lang="zh-CN" altLang="zh-CN" sz="2000" dirty="0">
                <a:latin typeface="方正兰亭黑简体" panose="02000000000000000000" pitchFamily="2" charset="-122"/>
                <a:ea typeface="方正兰亭黑简体" panose="02000000000000000000" pitchFamily="2" charset="-122"/>
              </a:rPr>
              <a:t>优化测试路线中的核心路线，决定</a:t>
            </a:r>
            <a:r>
              <a:rPr lang="en-US" altLang="zh-CN" sz="2000" dirty="0">
                <a:latin typeface="方正兰亭黑简体" panose="02000000000000000000" pitchFamily="2" charset="-122"/>
                <a:ea typeface="方正兰亭黑简体" panose="02000000000000000000" pitchFamily="2" charset="-122"/>
              </a:rPr>
              <a:t>KPI</a:t>
            </a:r>
            <a:r>
              <a:rPr lang="zh-CN" altLang="zh-CN" sz="2000" dirty="0">
                <a:latin typeface="方正兰亭黑简体" panose="02000000000000000000" pitchFamily="2" charset="-122"/>
                <a:ea typeface="方正兰亭黑简体" panose="02000000000000000000" pitchFamily="2" charset="-122"/>
              </a:rPr>
              <a:t>是否能够达标，后期的优化、验收都会围绕此路线进行。</a:t>
            </a:r>
          </a:p>
        </p:txBody>
      </p:sp>
      <p:sp>
        <p:nvSpPr>
          <p:cNvPr id="4" name="文本框 3">
            <a:extLst>
              <a:ext uri="{FF2B5EF4-FFF2-40B4-BE49-F238E27FC236}">
                <a16:creationId xmlns:a16="http://schemas.microsoft.com/office/drawing/2014/main" id="{C1FC6277-57BB-9A36-2E92-2FCA72CA19EE}"/>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801FFF9E-FEA7-81BB-6FC0-C394613C7B28}"/>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4291679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22852" y="1999232"/>
            <a:ext cx="10560048" cy="868363"/>
          </a:xfrm>
        </p:spPr>
        <p:txBody>
          <a:bodyPr/>
          <a:lstStyle/>
          <a:p>
            <a:r>
              <a:rPr lang="zh-CN" altLang="en-US" sz="2000" dirty="0">
                <a:solidFill>
                  <a:srgbClr val="FF0000"/>
                </a:solidFill>
                <a:latin typeface="微软雅黑" panose="020B0503020204020204" pitchFamily="34" charset="-122"/>
                <a:ea typeface="微软雅黑" panose="020B0503020204020204" pitchFamily="34" charset="-122"/>
              </a:rPr>
              <a:t>规划</a:t>
            </a:r>
            <a:r>
              <a:rPr lang="zh-CN" altLang="zh-CN" sz="2000" dirty="0">
                <a:solidFill>
                  <a:srgbClr val="FF0000"/>
                </a:solidFill>
                <a:latin typeface="微软雅黑" panose="020B0503020204020204" pitchFamily="34" charset="-122"/>
                <a:ea typeface="微软雅黑" panose="020B0503020204020204" pitchFamily="34" charset="-122"/>
              </a:rPr>
              <a:t>测试路线</a:t>
            </a:r>
            <a:r>
              <a:rPr lang="zh-CN" altLang="en-US" sz="2000" dirty="0">
                <a:solidFill>
                  <a:srgbClr val="FF0000"/>
                </a:solidFill>
                <a:latin typeface="微软雅黑" panose="020B0503020204020204" pitchFamily="34" charset="-122"/>
                <a:ea typeface="微软雅黑" panose="020B0503020204020204" pitchFamily="34" charset="-122"/>
              </a:rPr>
              <a:t>的因素</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678191"/>
            <a:ext cx="10560048" cy="4680000"/>
          </a:xfrm>
        </p:spPr>
        <p:txBody>
          <a:bodyPr/>
          <a:lstStyle/>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1</a:t>
            </a:r>
            <a:r>
              <a:rPr lang="zh-CN" altLang="zh-CN" sz="2000" dirty="0">
                <a:latin typeface="方正兰亭黑简体" panose="02000000000000000000" pitchFamily="2" charset="-122"/>
                <a:ea typeface="方正兰亭黑简体" panose="02000000000000000000" pitchFamily="2" charset="-122"/>
              </a:rPr>
              <a:t>）测试路线必须涵盖主要街道、重要地点和重点客户，建议包含所有能够测试的街道。</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2</a:t>
            </a:r>
            <a:r>
              <a:rPr lang="zh-CN" altLang="zh-CN" sz="2000" dirty="0">
                <a:latin typeface="方正兰亭黑简体" panose="02000000000000000000" pitchFamily="2" charset="-122"/>
                <a:ea typeface="方正兰亭黑简体" panose="02000000000000000000" pitchFamily="2" charset="-122"/>
              </a:rPr>
              <a:t>）测试路线应包括所有小区，并且至少</a:t>
            </a:r>
            <a:r>
              <a:rPr lang="en-US" altLang="zh-CN" sz="2000" dirty="0">
                <a:latin typeface="方正兰亭黑简体" panose="02000000000000000000" pitchFamily="2" charset="-122"/>
                <a:ea typeface="方正兰亭黑简体" panose="02000000000000000000" pitchFamily="2" charset="-122"/>
              </a:rPr>
              <a:t>2</a:t>
            </a:r>
            <a:r>
              <a:rPr lang="zh-CN" altLang="zh-CN" sz="2000" dirty="0">
                <a:latin typeface="方正兰亭黑简体" panose="02000000000000000000" pitchFamily="2" charset="-122"/>
                <a:ea typeface="方正兰亭黑简体" panose="02000000000000000000" pitchFamily="2" charset="-122"/>
              </a:rPr>
              <a:t>次测试（初测和终测）应遍历所有小区。</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3</a:t>
            </a:r>
            <a:r>
              <a:rPr lang="zh-CN" altLang="zh-CN" sz="2000" dirty="0">
                <a:latin typeface="方正兰亭黑简体" panose="02000000000000000000" pitchFamily="2" charset="-122"/>
                <a:ea typeface="方正兰亭黑简体" panose="02000000000000000000" pitchFamily="2" charset="-122"/>
              </a:rPr>
              <a:t>）考虑到后续整网优化的需要，测试路线应包括相邻</a:t>
            </a:r>
            <a:r>
              <a:rPr lang="en-US" altLang="zh-CN" sz="2000" dirty="0">
                <a:latin typeface="方正兰亭黑简体" panose="02000000000000000000" pitchFamily="2" charset="-122"/>
                <a:ea typeface="方正兰亭黑简体" panose="02000000000000000000" pitchFamily="2" charset="-122"/>
              </a:rPr>
              <a:t>Cluster</a:t>
            </a:r>
            <a:r>
              <a:rPr lang="zh-CN" altLang="zh-CN" sz="2000" dirty="0">
                <a:latin typeface="方正兰亭黑简体" panose="02000000000000000000" pitchFamily="2" charset="-122"/>
                <a:ea typeface="方正兰亭黑简体" panose="02000000000000000000" pitchFamily="2" charset="-122"/>
              </a:rPr>
              <a:t>的边界部分。</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4</a:t>
            </a:r>
            <a:r>
              <a:rPr lang="zh-CN" altLang="zh-CN" sz="2000" dirty="0">
                <a:latin typeface="方正兰亭黑简体" panose="02000000000000000000" pitchFamily="2" charset="-122"/>
                <a:ea typeface="方正兰亭黑简体" panose="02000000000000000000" pitchFamily="2" charset="-122"/>
              </a:rPr>
              <a:t>）为了准确地比较性能变化，每次路测时最好采用相同的路测线路。</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5</a:t>
            </a:r>
            <a:r>
              <a:rPr lang="zh-CN" altLang="zh-CN" sz="2000" dirty="0">
                <a:latin typeface="方正兰亭黑简体" panose="02000000000000000000" pitchFamily="2" charset="-122"/>
                <a:ea typeface="方正兰亭黑简体" panose="02000000000000000000" pitchFamily="2" charset="-122"/>
              </a:rPr>
              <a:t>）建议在测试路线上进行往返双向测试，这样有利于问题的暴露。</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6</a:t>
            </a:r>
            <a:r>
              <a:rPr lang="zh-CN" altLang="zh-CN" sz="2000" dirty="0">
                <a:latin typeface="方正兰亭黑简体" panose="02000000000000000000" pitchFamily="2" charset="-122"/>
                <a:ea typeface="方正兰亭黑简体" panose="02000000000000000000" pitchFamily="2" charset="-122"/>
              </a:rPr>
              <a:t>）测试开始前要与司机充分沟通或实际通车确认线路可行后再与客户沟通确定。</a:t>
            </a:r>
          </a:p>
          <a:p>
            <a:pPr marL="0" indent="0">
              <a:buNone/>
            </a:pP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7</a:t>
            </a:r>
            <a:r>
              <a:rPr lang="zh-CN" altLang="zh-CN" sz="2000" dirty="0">
                <a:latin typeface="方正兰亭黑简体" panose="02000000000000000000" pitchFamily="2" charset="-122"/>
                <a:ea typeface="方正兰亭黑简体" panose="02000000000000000000" pitchFamily="2" charset="-122"/>
              </a:rPr>
              <a:t>）在确定测试路线时，要考虑诸如单行道、左转限制等实际情况的影响，应严格遵守基本交通规则（如右行等）和当地的特殊交通规则（如绕圈转向等）。</a:t>
            </a:r>
          </a:p>
        </p:txBody>
      </p:sp>
      <p:sp>
        <p:nvSpPr>
          <p:cNvPr id="4" name="文本框 3">
            <a:extLst>
              <a:ext uri="{FF2B5EF4-FFF2-40B4-BE49-F238E27FC236}">
                <a16:creationId xmlns:a16="http://schemas.microsoft.com/office/drawing/2014/main" id="{395D010F-A322-BC33-A79E-A1500FFE9F22}"/>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83D303F9-A20A-D447-1A77-8900172082BD}"/>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4141665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815976" y="2612999"/>
            <a:ext cx="10560048" cy="4680000"/>
          </a:xfrm>
        </p:spPr>
        <p:txBody>
          <a:bodyPr/>
          <a:lstStyle/>
          <a:p>
            <a:pPr marL="0" indent="0">
              <a:buNone/>
            </a:pPr>
            <a:r>
              <a:rPr lang="zh-CN" altLang="zh-CN" sz="2000" dirty="0">
                <a:latin typeface="微软雅黑" panose="020B0503020204020204" pitchFamily="34" charset="-122"/>
                <a:ea typeface="微软雅黑" panose="020B0503020204020204" pitchFamily="34" charset="-122"/>
              </a:rPr>
              <a:t>重复测试线路要进行区分表示</a:t>
            </a:r>
            <a:r>
              <a:rPr lang="zh-CN" altLang="en-US" sz="2000" dirty="0">
                <a:latin typeface="微软雅黑" panose="020B0503020204020204" pitchFamily="34" charset="-122"/>
                <a:ea typeface="微软雅黑" panose="020B0503020204020204" pitchFamily="34" charset="-122"/>
              </a:rPr>
              <a:t>：</a:t>
            </a:r>
          </a:p>
          <a:p>
            <a:pPr lvl="1"/>
            <a:r>
              <a:rPr lang="zh-CN" altLang="zh-CN" sz="2000" dirty="0">
                <a:latin typeface="微软雅黑" panose="020B0503020204020204" pitchFamily="34" charset="-122"/>
                <a:ea typeface="微软雅黑" panose="020B0503020204020204" pitchFamily="34" charset="-122"/>
              </a:rPr>
              <a:t>在规划线路中，会不可避免地出现</a:t>
            </a:r>
            <a:endParaRPr lang="en-US" altLang="zh-CN" sz="2000" dirty="0">
              <a:latin typeface="微软雅黑" panose="020B0503020204020204" pitchFamily="34" charset="-122"/>
              <a:ea typeface="微软雅黑" panose="020B0503020204020204" pitchFamily="34" charset="-122"/>
            </a:endParaRPr>
          </a:p>
          <a:p>
            <a:pPr marL="401637" lvl="1" indent="0">
              <a:buNone/>
            </a:pPr>
            <a:r>
              <a:rPr lang="zh-CN" altLang="zh-CN" sz="2000" dirty="0">
                <a:latin typeface="微软雅黑" panose="020B0503020204020204" pitchFamily="34" charset="-122"/>
                <a:ea typeface="微软雅黑" panose="020B0503020204020204" pitchFamily="34" charset="-122"/>
              </a:rPr>
              <a:t>交叉和重复，可以使用不同的带方向</a:t>
            </a:r>
            <a:endParaRPr lang="en-US" altLang="zh-CN" sz="2000" dirty="0">
              <a:latin typeface="微软雅黑" panose="020B0503020204020204" pitchFamily="34" charset="-122"/>
              <a:ea typeface="微软雅黑" panose="020B0503020204020204" pitchFamily="34" charset="-122"/>
            </a:endParaRPr>
          </a:p>
          <a:p>
            <a:pPr marL="401637" lvl="1" indent="0">
              <a:buNone/>
            </a:pPr>
            <a:r>
              <a:rPr lang="zh-CN" altLang="zh-CN" sz="2000" dirty="0">
                <a:latin typeface="微软雅黑" panose="020B0503020204020204" pitchFamily="34" charset="-122"/>
                <a:ea typeface="微软雅黑" panose="020B0503020204020204" pitchFamily="34" charset="-122"/>
              </a:rPr>
              <a:t>的线条标注</a:t>
            </a:r>
          </a:p>
        </p:txBody>
      </p:sp>
      <p:pic>
        <p:nvPicPr>
          <p:cNvPr id="1026" name="图片 30">
            <a:extLst>
              <a:ext uri="{FF2B5EF4-FFF2-40B4-BE49-F238E27FC236}">
                <a16:creationId xmlns:a16="http://schemas.microsoft.com/office/drawing/2014/main" id="{B9D57DFA-B575-42F4-AFC2-69069889DDC3}"/>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999009" y="2079339"/>
            <a:ext cx="5473324" cy="383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6" name="标题 1">
            <a:extLst>
              <a:ext uri="{FF2B5EF4-FFF2-40B4-BE49-F238E27FC236}">
                <a16:creationId xmlns:a16="http://schemas.microsoft.com/office/drawing/2014/main" id="{1926F257-F28C-4C11-8312-1B55BA86B178}"/>
              </a:ext>
            </a:extLst>
          </p:cNvPr>
          <p:cNvSpPr txBox="1">
            <a:spLocks/>
          </p:cNvSpPr>
          <p:nvPr/>
        </p:nvSpPr>
        <p:spPr bwMode="auto">
          <a:xfrm>
            <a:off x="922852" y="1586990"/>
            <a:ext cx="11618888"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lvl1pPr algn="l" defTabSz="801688" rtl="0" eaLnBrk="0" fontAlgn="base" hangingPunct="0">
              <a:spcBef>
                <a:spcPct val="0"/>
              </a:spcBef>
              <a:spcAft>
                <a:spcPct val="0"/>
              </a:spcAft>
              <a:defRPr sz="3500" b="1">
                <a:solidFill>
                  <a:srgbClr val="990000"/>
                </a:solidFill>
                <a:latin typeface="方正兰亭黑简体" panose="02000000000000000000" pitchFamily="2" charset="-122"/>
                <a:ea typeface="方正兰亭黑简体" panose="02000000000000000000" pitchFamily="2" charset="-122"/>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a:lstStyle>
          <a:p>
            <a:r>
              <a:rPr lang="zh-CN" altLang="zh-CN" sz="2000" kern="0" dirty="0">
                <a:solidFill>
                  <a:srgbClr val="FF0000"/>
                </a:solidFill>
                <a:latin typeface="微软雅黑" panose="020B0503020204020204" pitchFamily="34" charset="-122"/>
                <a:ea typeface="微软雅黑" panose="020B0503020204020204" pitchFamily="34" charset="-122"/>
              </a:rPr>
              <a:t>确定测试路线</a:t>
            </a:r>
            <a:endParaRPr lang="zh-CN" altLang="en-US" sz="2000" kern="0" dirty="0">
              <a:solidFill>
                <a:srgbClr val="FF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FF2EABF-6563-DD64-B8B5-00BD4ED12D5E}"/>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4" name="标题 1">
            <a:extLst>
              <a:ext uri="{FF2B5EF4-FFF2-40B4-BE49-F238E27FC236}">
                <a16:creationId xmlns:a16="http://schemas.microsoft.com/office/drawing/2014/main" id="{5AB693EE-566F-89E2-19EB-CDA6C9D2B41D}"/>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2962739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12286" y="1837101"/>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测试工具</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软件</a:t>
            </a:r>
          </a:p>
        </p:txBody>
      </p:sp>
      <p:pic>
        <p:nvPicPr>
          <p:cNvPr id="4" name="图片 3">
            <a:extLst>
              <a:ext uri="{FF2B5EF4-FFF2-40B4-BE49-F238E27FC236}">
                <a16:creationId xmlns:a16="http://schemas.microsoft.com/office/drawing/2014/main" id="{467A7B99-2239-4157-B9FB-397BF13A9683}"/>
              </a:ext>
            </a:extLst>
          </p:cNvPr>
          <p:cNvPicPr>
            <a:picLocks noChangeAspect="1"/>
          </p:cNvPicPr>
          <p:nvPr/>
        </p:nvPicPr>
        <p:blipFill>
          <a:blip r:embed="rId3"/>
          <a:stretch>
            <a:fillRect/>
          </a:stretch>
        </p:blipFill>
        <p:spPr>
          <a:xfrm>
            <a:off x="934829" y="2374667"/>
            <a:ext cx="10344885" cy="2656541"/>
          </a:xfrm>
          <a:prstGeom prst="rect">
            <a:avLst/>
          </a:prstGeom>
        </p:spPr>
      </p:pic>
      <p:sp>
        <p:nvSpPr>
          <p:cNvPr id="3" name="文本框 2">
            <a:extLst>
              <a:ext uri="{FF2B5EF4-FFF2-40B4-BE49-F238E27FC236}">
                <a16:creationId xmlns:a16="http://schemas.microsoft.com/office/drawing/2014/main" id="{E50A12AB-1D41-B21A-5C8C-BAD9BC6241DE}"/>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D6C4AA39-3D5D-E175-F54E-23AE9CCC6D50}"/>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1190292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12286" y="1787748"/>
            <a:ext cx="10560048" cy="868363"/>
          </a:xfrm>
        </p:spPr>
        <p:txBody>
          <a:bodyPr/>
          <a:lstStyle/>
          <a:p>
            <a:r>
              <a:rPr lang="zh-CN" altLang="zh-CN" sz="2000" dirty="0">
                <a:solidFill>
                  <a:srgbClr val="FF0000"/>
                </a:solidFill>
                <a:latin typeface="微软雅黑" panose="020B0503020204020204" pitchFamily="34" charset="-122"/>
                <a:ea typeface="微软雅黑" panose="020B0503020204020204" pitchFamily="34" charset="-122"/>
              </a:rPr>
              <a:t>测试工具</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硬件</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1EF2CF5-BB59-4C13-8063-8F24E61E9E33}"/>
              </a:ext>
            </a:extLst>
          </p:cNvPr>
          <p:cNvPicPr>
            <a:picLocks noChangeAspect="1"/>
          </p:cNvPicPr>
          <p:nvPr/>
        </p:nvPicPr>
        <p:blipFill>
          <a:blip r:embed="rId3"/>
          <a:stretch>
            <a:fillRect/>
          </a:stretch>
        </p:blipFill>
        <p:spPr>
          <a:xfrm>
            <a:off x="935955" y="2327498"/>
            <a:ext cx="10343759" cy="3383418"/>
          </a:xfrm>
          <a:prstGeom prst="rect">
            <a:avLst/>
          </a:prstGeom>
        </p:spPr>
      </p:pic>
      <p:sp>
        <p:nvSpPr>
          <p:cNvPr id="3" name="文本框 2">
            <a:extLst>
              <a:ext uri="{FF2B5EF4-FFF2-40B4-BE49-F238E27FC236}">
                <a16:creationId xmlns:a16="http://schemas.microsoft.com/office/drawing/2014/main" id="{693CCD73-A4BA-510F-A106-661A3255B48D}"/>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4" name="标题 1">
            <a:extLst>
              <a:ext uri="{FF2B5EF4-FFF2-40B4-BE49-F238E27FC236}">
                <a16:creationId xmlns:a16="http://schemas.microsoft.com/office/drawing/2014/main" id="{C98A8B4D-5940-37BC-F4CC-003CDD007E23}"/>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3862834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1019436" y="1787748"/>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测试资料准备</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1660252-D1C1-4AC4-8E8C-6E172385A8EB}"/>
              </a:ext>
            </a:extLst>
          </p:cNvPr>
          <p:cNvPicPr>
            <a:picLocks noChangeAspect="1"/>
          </p:cNvPicPr>
          <p:nvPr/>
        </p:nvPicPr>
        <p:blipFill>
          <a:blip r:embed="rId3"/>
          <a:stretch>
            <a:fillRect/>
          </a:stretch>
        </p:blipFill>
        <p:spPr>
          <a:xfrm>
            <a:off x="1019436" y="2327498"/>
            <a:ext cx="9672139" cy="4009071"/>
          </a:xfrm>
          <a:prstGeom prst="rect">
            <a:avLst/>
          </a:prstGeom>
        </p:spPr>
      </p:pic>
      <p:sp>
        <p:nvSpPr>
          <p:cNvPr id="3" name="文本框 2">
            <a:extLst>
              <a:ext uri="{FF2B5EF4-FFF2-40B4-BE49-F238E27FC236}">
                <a16:creationId xmlns:a16="http://schemas.microsoft.com/office/drawing/2014/main" id="{E676E9AF-2D13-4531-FFC6-52C31A372984}"/>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0CE50619-D92E-AB41-A323-ED8F423528A3}"/>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1385238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12285" y="2279255"/>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数据采集</a:t>
            </a:r>
            <a:r>
              <a:rPr lang="en-US" altLang="zh-CN" sz="2000" b="1"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 DT</a:t>
            </a:r>
            <a:r>
              <a:rPr lang="zh-CN" altLang="en-US" sz="2000" dirty="0">
                <a:solidFill>
                  <a:srgbClr val="FF0000"/>
                </a:solidFill>
                <a:latin typeface="微软雅黑" panose="020B0503020204020204" pitchFamily="34" charset="-122"/>
                <a:ea typeface="微软雅黑" panose="020B0503020204020204" pitchFamily="34" charset="-122"/>
              </a:rPr>
              <a:t>数据</a:t>
            </a:r>
            <a:r>
              <a:rPr lang="en-US" altLang="zh-CN" sz="2000" dirty="0">
                <a:solidFill>
                  <a:srgbClr val="FF0000"/>
                </a:solidFill>
                <a:latin typeface="微软雅黑" panose="020B0503020204020204" pitchFamily="34" charset="-122"/>
                <a:ea typeface="微软雅黑" panose="020B0503020204020204" pitchFamily="34" charset="-122"/>
              </a:rPr>
              <a:t>-1</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975441"/>
            <a:ext cx="10560048" cy="4680000"/>
          </a:xfrm>
        </p:spPr>
        <p:txBody>
          <a:bodyPr/>
          <a:lstStyle/>
          <a:p>
            <a:pPr marL="0" indent="0">
              <a:buNone/>
            </a:pPr>
            <a:r>
              <a:rPr lang="zh-CN" altLang="zh-CN" sz="2000" dirty="0">
                <a:latin typeface="微软雅黑" panose="020B0503020204020204" pitchFamily="34" charset="-122"/>
                <a:ea typeface="微软雅黑" panose="020B0503020204020204" pitchFamily="34" charset="-122"/>
              </a:rPr>
              <a:t>室内测试。</a:t>
            </a:r>
          </a:p>
          <a:p>
            <a:pPr lvl="1"/>
            <a:r>
              <a:rPr lang="zh-CN" altLang="zh-CN" sz="2000" dirty="0">
                <a:latin typeface="微软雅黑" panose="020B0503020204020204" pitchFamily="34" charset="-122"/>
                <a:ea typeface="微软雅黑" panose="020B0503020204020204" pitchFamily="34" charset="-122"/>
              </a:rPr>
              <a:t>室内环境测试时无法取得</a:t>
            </a:r>
            <a:r>
              <a:rPr lang="en-US" altLang="zh-CN" sz="2000" dirty="0">
                <a:latin typeface="微软雅黑" panose="020B0503020204020204" pitchFamily="34" charset="-122"/>
                <a:ea typeface="微软雅黑" panose="020B0503020204020204" pitchFamily="34" charset="-122"/>
              </a:rPr>
              <a:t>GPS</a:t>
            </a:r>
            <a:r>
              <a:rPr lang="zh-CN" altLang="zh-CN" sz="2000" dirty="0">
                <a:latin typeface="微软雅黑" panose="020B0503020204020204" pitchFamily="34" charset="-122"/>
                <a:ea typeface="微软雅黑" panose="020B0503020204020204" pitchFamily="34" charset="-122"/>
              </a:rPr>
              <a:t>信号，测试前需要获取待测区域的平面图。</a:t>
            </a:r>
          </a:p>
          <a:p>
            <a:pPr lvl="1"/>
            <a:r>
              <a:rPr lang="zh-CN" altLang="zh-CN" sz="2000" dirty="0">
                <a:latin typeface="微软雅黑" panose="020B0503020204020204" pitchFamily="34" charset="-122"/>
                <a:ea typeface="微软雅黑" panose="020B0503020204020204" pitchFamily="34" charset="-122"/>
              </a:rPr>
              <a:t>步测</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对建筑物内部的平面信号分布的采集，采取步测，在“</a:t>
            </a:r>
            <a:r>
              <a:rPr lang="en-US" altLang="zh-CN" sz="2000" dirty="0">
                <a:latin typeface="微软雅黑" panose="020B0503020204020204" pitchFamily="34" charset="-122"/>
                <a:ea typeface="微软雅黑" panose="020B0503020204020204" pitchFamily="34" charset="-122"/>
              </a:rPr>
              <a:t>Indoor Measurement</a:t>
            </a:r>
            <a:r>
              <a:rPr lang="zh-CN" altLang="zh-CN" sz="2000" dirty="0">
                <a:latin typeface="微软雅黑" panose="020B0503020204020204" pitchFamily="34" charset="-122"/>
                <a:ea typeface="微软雅黑" panose="020B0503020204020204" pitchFamily="34" charset="-122"/>
              </a:rPr>
              <a:t>”窗口的右键菜单中选择“</a:t>
            </a:r>
            <a:r>
              <a:rPr lang="en-US" altLang="zh-CN" sz="2000" dirty="0">
                <a:latin typeface="微软雅黑" panose="020B0503020204020204" pitchFamily="34" charset="-122"/>
                <a:ea typeface="微软雅黑" panose="020B0503020204020204" pitchFamily="34" charset="-122"/>
              </a:rPr>
              <a:t>Walking Test</a:t>
            </a:r>
            <a:r>
              <a:rPr lang="zh-CN" altLang="zh-CN" sz="2000" dirty="0">
                <a:latin typeface="微软雅黑" panose="020B0503020204020204" pitchFamily="34" charset="-122"/>
                <a:ea typeface="微软雅黑" panose="020B0503020204020204" pitchFamily="34" charset="-122"/>
              </a:rPr>
              <a:t>”选项；</a:t>
            </a:r>
            <a:endParaRPr lang="en-US" altLang="zh-CN" sz="2000" dirty="0">
              <a:latin typeface="微软雅黑" panose="020B0503020204020204" pitchFamily="34" charset="-122"/>
              <a:ea typeface="微软雅黑" panose="020B0503020204020204" pitchFamily="34" charset="-122"/>
            </a:endParaRPr>
          </a:p>
          <a:p>
            <a:pPr lvl="1"/>
            <a:r>
              <a:rPr lang="zh-CN" altLang="zh-CN" sz="2000" dirty="0">
                <a:latin typeface="微软雅黑" panose="020B0503020204020204" pitchFamily="34" charset="-122"/>
                <a:ea typeface="微软雅黑" panose="020B0503020204020204" pitchFamily="34" charset="-122"/>
              </a:rPr>
              <a:t>楼测</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对建筑物内部纵向的信号分布的采集，采取楼测，在“</a:t>
            </a:r>
            <a:r>
              <a:rPr lang="en-US" altLang="zh-CN" sz="2000" dirty="0">
                <a:latin typeface="微软雅黑" panose="020B0503020204020204" pitchFamily="34" charset="-122"/>
                <a:ea typeface="微软雅黑" panose="020B0503020204020204" pitchFamily="34" charset="-122"/>
              </a:rPr>
              <a:t>Indoor Measurement</a:t>
            </a:r>
            <a:r>
              <a:rPr lang="zh-CN" altLang="zh-CN" sz="2000" dirty="0">
                <a:latin typeface="微软雅黑" panose="020B0503020204020204" pitchFamily="34" charset="-122"/>
                <a:ea typeface="微软雅黑" panose="020B0503020204020204" pitchFamily="34" charset="-122"/>
              </a:rPr>
              <a:t>”窗口的右键菜单中选择“</a:t>
            </a:r>
            <a:r>
              <a:rPr lang="en-US" altLang="zh-CN" sz="2000" dirty="0">
                <a:latin typeface="微软雅黑" panose="020B0503020204020204" pitchFamily="34" charset="-122"/>
                <a:ea typeface="微软雅黑" panose="020B0503020204020204" pitchFamily="34" charset="-122"/>
              </a:rPr>
              <a:t>Vertical Test</a:t>
            </a:r>
            <a:r>
              <a:rPr lang="zh-CN" altLang="zh-CN" sz="2000" dirty="0">
                <a:latin typeface="微软雅黑" panose="020B0503020204020204" pitchFamily="34" charset="-122"/>
                <a:ea typeface="微软雅黑" panose="020B0503020204020204" pitchFamily="34" charset="-122"/>
              </a:rPr>
              <a:t>”选项。</a:t>
            </a:r>
            <a:endParaRPr lang="en-US" altLang="zh-CN" sz="2000" dirty="0">
              <a:latin typeface="微软雅黑" panose="020B0503020204020204" pitchFamily="34" charset="-122"/>
              <a:ea typeface="微软雅黑" panose="020B0503020204020204" pitchFamily="34" charset="-122"/>
            </a:endParaRPr>
          </a:p>
          <a:p>
            <a:pPr lvl="1"/>
            <a:r>
              <a:rPr lang="zh-CN" altLang="zh-CN" sz="2000" dirty="0">
                <a:latin typeface="微软雅黑" panose="020B0503020204020204" pitchFamily="34" charset="-122"/>
                <a:ea typeface="微软雅黑" panose="020B0503020204020204" pitchFamily="34" charset="-122"/>
              </a:rPr>
              <a:t>室内测试业务是合同中（商用局）或规划报告中（试验局）要求连续覆盖的业务，测试方式同</a:t>
            </a:r>
            <a:r>
              <a:rPr lang="en-US" altLang="zh-CN" sz="2000" dirty="0">
                <a:latin typeface="微软雅黑" panose="020B0503020204020204" pitchFamily="34" charset="-122"/>
                <a:ea typeface="微软雅黑" panose="020B0503020204020204" pitchFamily="34" charset="-122"/>
              </a:rPr>
              <a:t>DT</a:t>
            </a:r>
            <a:r>
              <a:rPr lang="zh-CN" altLang="zh-CN" sz="2000" dirty="0">
                <a:latin typeface="微软雅黑" panose="020B0503020204020204" pitchFamily="34" charset="-122"/>
                <a:ea typeface="微软雅黑" panose="020B0503020204020204" pitchFamily="34" charset="-122"/>
              </a:rPr>
              <a:t>测试任务，呼叫跟踪数据采集要求与</a:t>
            </a:r>
            <a:r>
              <a:rPr lang="en-US" altLang="zh-CN" sz="2000" dirty="0">
                <a:latin typeface="微软雅黑" panose="020B0503020204020204" pitchFamily="34" charset="-122"/>
                <a:ea typeface="微软雅黑" panose="020B0503020204020204" pitchFamily="34" charset="-122"/>
              </a:rPr>
              <a:t>DT</a:t>
            </a:r>
            <a:r>
              <a:rPr lang="zh-CN" altLang="zh-CN" sz="2000" dirty="0">
                <a:latin typeface="微软雅黑" panose="020B0503020204020204" pitchFamily="34" charset="-122"/>
                <a:ea typeface="微软雅黑" panose="020B0503020204020204" pitchFamily="34" charset="-122"/>
              </a:rPr>
              <a:t>测试相同。</a:t>
            </a:r>
          </a:p>
        </p:txBody>
      </p:sp>
      <p:sp>
        <p:nvSpPr>
          <p:cNvPr id="4" name="文本框 3">
            <a:extLst>
              <a:ext uri="{FF2B5EF4-FFF2-40B4-BE49-F238E27FC236}">
                <a16:creationId xmlns:a16="http://schemas.microsoft.com/office/drawing/2014/main" id="{773BB103-570B-3350-800B-B0AF8194C031}"/>
              </a:ext>
            </a:extLst>
          </p:cNvPr>
          <p:cNvSpPr txBox="1"/>
          <p:nvPr/>
        </p:nvSpPr>
        <p:spPr>
          <a:xfrm>
            <a:off x="691117" y="553743"/>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8CECFB85-98C9-8D99-23C7-CE9273E539AC}"/>
              </a:ext>
            </a:extLst>
          </p:cNvPr>
          <p:cNvSpPr txBox="1"/>
          <p:nvPr/>
        </p:nvSpPr>
        <p:spPr bwMode="auto">
          <a:xfrm>
            <a:off x="922852" y="1633590"/>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4102905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12286" y="2266439"/>
            <a:ext cx="10560048" cy="868363"/>
          </a:xfrm>
        </p:spPr>
        <p:txBody>
          <a:bodyPr/>
          <a:lstStyle/>
          <a:p>
            <a:r>
              <a:rPr lang="zh-CN" altLang="zh-CN" sz="2000" dirty="0">
                <a:solidFill>
                  <a:srgbClr val="FF0000"/>
                </a:solidFill>
                <a:latin typeface="微软雅黑" panose="020B0503020204020204" pitchFamily="34" charset="-122"/>
                <a:ea typeface="微软雅黑" panose="020B0503020204020204" pitchFamily="34" charset="-122"/>
              </a:rPr>
              <a:t>数据采集</a:t>
            </a:r>
            <a:r>
              <a:rPr lang="en-US" altLang="zh-CN" sz="2000" dirty="0">
                <a:solidFill>
                  <a:srgbClr val="FF0000"/>
                </a:solidFill>
                <a:latin typeface="微软雅黑" panose="020B0503020204020204" pitchFamily="34" charset="-122"/>
                <a:ea typeface="微软雅黑" panose="020B0503020204020204" pitchFamily="34" charset="-122"/>
              </a:rPr>
              <a:t>- DT</a:t>
            </a:r>
            <a:r>
              <a:rPr lang="zh-CN" altLang="en-US" sz="2000" dirty="0">
                <a:solidFill>
                  <a:srgbClr val="FF0000"/>
                </a:solidFill>
                <a:latin typeface="微软雅黑" panose="020B0503020204020204" pitchFamily="34" charset="-122"/>
                <a:ea typeface="微软雅黑" panose="020B0503020204020204" pitchFamily="34" charset="-122"/>
              </a:rPr>
              <a:t>数据</a:t>
            </a:r>
            <a:r>
              <a:rPr lang="en-US" altLang="zh-CN" sz="2000" dirty="0">
                <a:solidFill>
                  <a:srgbClr val="FF0000"/>
                </a:solidFill>
                <a:latin typeface="微软雅黑" panose="020B0503020204020204" pitchFamily="34" charset="-122"/>
                <a:ea typeface="微软雅黑" panose="020B0503020204020204" pitchFamily="34" charset="-122"/>
              </a:rPr>
              <a:t>-2</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826213"/>
            <a:ext cx="10560048" cy="4680000"/>
          </a:xfrm>
        </p:spPr>
        <p:txBody>
          <a:bodyPr/>
          <a:lstStyle/>
          <a:p>
            <a:pPr marL="0" indent="0">
              <a:buNone/>
            </a:pPr>
            <a:r>
              <a:rPr lang="zh-CN" altLang="zh-CN" sz="2000" dirty="0">
                <a:latin typeface="微软雅黑" panose="020B0503020204020204" pitchFamily="34" charset="-122"/>
                <a:ea typeface="微软雅黑" panose="020B0503020204020204" pitchFamily="34" charset="-122"/>
              </a:rPr>
              <a:t>数据跟踪与后台配合</a:t>
            </a:r>
          </a:p>
          <a:p>
            <a:pPr lvl="1"/>
            <a:r>
              <a:rPr lang="zh-CN" altLang="en-US" sz="2000" dirty="0">
                <a:latin typeface="微软雅黑" panose="020B0503020204020204" pitchFamily="34" charset="-122"/>
                <a:ea typeface="微软雅黑" panose="020B0503020204020204" pitchFamily="34" charset="-122"/>
              </a:rPr>
              <a:t>数据跟踪：</a:t>
            </a:r>
            <a:r>
              <a:rPr lang="zh-CN" altLang="zh-CN" sz="2000" dirty="0">
                <a:latin typeface="微软雅黑" panose="020B0503020204020204" pitchFamily="34" charset="-122"/>
                <a:ea typeface="微软雅黑" panose="020B0503020204020204" pitchFamily="34" charset="-122"/>
              </a:rPr>
              <a:t>需要后台进行跟踪的操作必须在测试开始前完成，所有测试数据应按照统一的规则保存。</a:t>
            </a:r>
            <a:endParaRPr lang="en-US" altLang="zh-CN" sz="2000" dirty="0">
              <a:latin typeface="微软雅黑" panose="020B0503020204020204" pitchFamily="34" charset="-122"/>
              <a:ea typeface="微软雅黑" panose="020B0503020204020204" pitchFamily="34" charset="-122"/>
            </a:endParaRPr>
          </a:p>
          <a:p>
            <a:pPr marL="401637" lvl="1" indent="0">
              <a:buNone/>
            </a:pPr>
            <a:endParaRPr lang="en-US" altLang="zh-CN" dirty="0">
              <a:latin typeface="方正兰亭黑简体" panose="02000000000000000000" pitchFamily="2" charset="-122"/>
              <a:ea typeface="方正兰亭黑简体" panose="02000000000000000000" pitchFamily="2" charset="-122"/>
            </a:endParaRPr>
          </a:p>
          <a:p>
            <a:pPr marL="401637" lvl="1" indent="0">
              <a:buNone/>
            </a:pPr>
            <a:endParaRPr lang="en-US" altLang="zh-CN" dirty="0">
              <a:latin typeface="方正兰亭黑简体" panose="02000000000000000000" pitchFamily="2" charset="-122"/>
              <a:ea typeface="方正兰亭黑简体" panose="02000000000000000000" pitchFamily="2" charset="-122"/>
            </a:endParaRPr>
          </a:p>
          <a:p>
            <a:pPr marL="401637" lvl="1" indent="0">
              <a:buNone/>
            </a:pPr>
            <a:endParaRPr lang="en-US" altLang="zh-CN" dirty="0">
              <a:latin typeface="方正兰亭黑简体" panose="02000000000000000000" pitchFamily="2" charset="-122"/>
              <a:ea typeface="方正兰亭黑简体" panose="02000000000000000000" pitchFamily="2" charset="-122"/>
            </a:endParaRPr>
          </a:p>
          <a:p>
            <a:pPr marL="401637" lvl="1" indent="0">
              <a:buNone/>
            </a:pPr>
            <a:endParaRPr lang="en-US" altLang="zh-CN" dirty="0">
              <a:latin typeface="方正兰亭黑简体" panose="02000000000000000000" pitchFamily="2" charset="-122"/>
              <a:ea typeface="方正兰亭黑简体" panose="02000000000000000000" pitchFamily="2" charset="-122"/>
            </a:endParaRPr>
          </a:p>
          <a:p>
            <a:pPr lvl="1"/>
            <a:r>
              <a:rPr lang="zh-CN" altLang="en-US" sz="2000" dirty="0">
                <a:latin typeface="微软雅黑" panose="020B0503020204020204" pitchFamily="34" charset="-122"/>
                <a:ea typeface="微软雅黑" panose="020B0503020204020204" pitchFamily="34" charset="-122"/>
              </a:rPr>
              <a:t>后台配合：</a:t>
            </a:r>
            <a:r>
              <a:rPr lang="zh-CN" altLang="zh-CN" sz="2000" dirty="0">
                <a:latin typeface="微软雅黑" panose="020B0503020204020204" pitchFamily="34" charset="-122"/>
                <a:ea typeface="微软雅黑" panose="020B0503020204020204" pitchFamily="34" charset="-122"/>
              </a:rPr>
              <a:t>在验证测试中，如需后台配合进行同步操作，如远程扇区电下倾角调整、参数修改等，应在测试前确定好后台配合人员，并沟通好相关事宜，如操作的对象、操作的时间、数据保存的要求等。</a:t>
            </a:r>
          </a:p>
          <a:p>
            <a:pPr marL="0" indent="0">
              <a:buNone/>
            </a:pPr>
            <a:endParaRPr lang="zh-CN" altLang="en-US" dirty="0">
              <a:latin typeface="方正兰亭黑简体" panose="02000000000000000000" pitchFamily="2" charset="-122"/>
              <a:ea typeface="方正兰亭黑简体" panose="02000000000000000000" pitchFamily="2" charset="-122"/>
            </a:endParaRPr>
          </a:p>
        </p:txBody>
      </p:sp>
      <p:pic>
        <p:nvPicPr>
          <p:cNvPr id="4" name="图片 3">
            <a:extLst>
              <a:ext uri="{FF2B5EF4-FFF2-40B4-BE49-F238E27FC236}">
                <a16:creationId xmlns:a16="http://schemas.microsoft.com/office/drawing/2014/main" id="{76C22B4B-DB42-44F8-9761-89EA168EE921}"/>
              </a:ext>
            </a:extLst>
          </p:cNvPr>
          <p:cNvPicPr>
            <a:picLocks noChangeAspect="1"/>
          </p:cNvPicPr>
          <p:nvPr/>
        </p:nvPicPr>
        <p:blipFill>
          <a:blip r:embed="rId3"/>
          <a:stretch>
            <a:fillRect/>
          </a:stretch>
        </p:blipFill>
        <p:spPr>
          <a:xfrm>
            <a:off x="1548940" y="3723309"/>
            <a:ext cx="9286739" cy="1597198"/>
          </a:xfrm>
          <a:prstGeom prst="rect">
            <a:avLst/>
          </a:prstGeom>
        </p:spPr>
      </p:pic>
      <p:sp>
        <p:nvSpPr>
          <p:cNvPr id="5" name="文本框 4">
            <a:extLst>
              <a:ext uri="{FF2B5EF4-FFF2-40B4-BE49-F238E27FC236}">
                <a16:creationId xmlns:a16="http://schemas.microsoft.com/office/drawing/2014/main" id="{8127AD2E-9850-AFC0-9FF1-EA21CD9D44D1}"/>
              </a:ext>
            </a:extLst>
          </p:cNvPr>
          <p:cNvSpPr txBox="1"/>
          <p:nvPr/>
        </p:nvSpPr>
        <p:spPr>
          <a:xfrm>
            <a:off x="691117" y="641877"/>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标题 1">
            <a:extLst>
              <a:ext uri="{FF2B5EF4-FFF2-40B4-BE49-F238E27FC236}">
                <a16:creationId xmlns:a16="http://schemas.microsoft.com/office/drawing/2014/main" id="{A50EBD06-454A-1538-92A1-598B9573F02E}"/>
              </a:ext>
            </a:extLst>
          </p:cNvPr>
          <p:cNvSpPr txBox="1"/>
          <p:nvPr/>
        </p:nvSpPr>
        <p:spPr bwMode="auto">
          <a:xfrm>
            <a:off x="922852" y="1721724"/>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987872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912285" y="2576706"/>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数据采集</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话统数据</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3293642"/>
            <a:ext cx="10560048" cy="4680000"/>
          </a:xfrm>
        </p:spPr>
        <p:txBody>
          <a:bodyPr/>
          <a:lstStyle/>
          <a:p>
            <a:r>
              <a:rPr lang="zh-CN" altLang="zh-CN" sz="2000" dirty="0">
                <a:latin typeface="微软雅黑" panose="020B0503020204020204" pitchFamily="34" charset="-122"/>
                <a:ea typeface="微软雅黑" panose="020B0503020204020204" pitchFamily="34" charset="-122"/>
              </a:rPr>
              <a:t>话统是一种在设备及其周围的通信网络中进行各种数据的测量、收集及统计的活动。</a:t>
            </a:r>
            <a:endParaRPr lang="en-US" altLang="zh-CN" sz="2000" dirty="0">
              <a:latin typeface="微软雅黑" panose="020B0503020204020204" pitchFamily="34" charset="-122"/>
              <a:ea typeface="微软雅黑" panose="020B0503020204020204" pitchFamily="34" charset="-122"/>
            </a:endParaRPr>
          </a:p>
          <a:p>
            <a:r>
              <a:rPr lang="zh-CN" altLang="zh-CN" sz="2000" dirty="0">
                <a:latin typeface="微软雅黑" panose="020B0503020204020204" pitchFamily="34" charset="-122"/>
                <a:ea typeface="微软雅黑" panose="020B0503020204020204" pitchFamily="34" charset="-122"/>
              </a:rPr>
              <a:t>话统数据可以用于日常的网络监控，也可以用于问题分析。</a:t>
            </a:r>
            <a:endParaRPr lang="en-US" altLang="zh-CN" sz="2000" dirty="0">
              <a:latin typeface="微软雅黑" panose="020B0503020204020204" pitchFamily="34" charset="-122"/>
              <a:ea typeface="微软雅黑" panose="020B0503020204020204" pitchFamily="34" charset="-122"/>
            </a:endParaRPr>
          </a:p>
          <a:p>
            <a:r>
              <a:rPr lang="zh-CN" altLang="zh-CN" sz="2000" dirty="0">
                <a:latin typeface="微软雅黑" panose="020B0503020204020204" pitchFamily="34" charset="-122"/>
                <a:ea typeface="微软雅黑" panose="020B0503020204020204" pitchFamily="34" charset="-122"/>
              </a:rPr>
              <a:t>网络优化时，可以通过监控小区的接入成功率、切换成功率、掉话率、频谱效率、负载等来发现问题小区，还可以通过两两小区之间的切换次数及切换成功次数分析小区之间的关系，并结合具体的问题给出分析和优化建议。</a:t>
            </a:r>
            <a:endParaRPr lang="en-US" altLang="zh-CN" sz="2000" dirty="0">
              <a:latin typeface="微软雅黑" panose="020B0503020204020204" pitchFamily="34" charset="-122"/>
              <a:ea typeface="微软雅黑" panose="020B0503020204020204" pitchFamily="34" charset="-122"/>
            </a:endParaRPr>
          </a:p>
          <a:p>
            <a:r>
              <a:rPr lang="zh-CN" altLang="zh-CN" sz="2000" dirty="0">
                <a:latin typeface="微软雅黑" panose="020B0503020204020204" pitchFamily="34" charset="-122"/>
                <a:ea typeface="微软雅黑" panose="020B0503020204020204" pitchFamily="34" charset="-122"/>
              </a:rPr>
              <a:t>利用话统数据主要目的是快速给出响应，且对网络开销没有任何影响，可以使用网管采集相关的</a:t>
            </a:r>
            <a:r>
              <a:rPr lang="en-US" altLang="zh-CN" sz="2000" dirty="0">
                <a:latin typeface="微软雅黑" panose="020B0503020204020204" pitchFamily="34" charset="-122"/>
                <a:ea typeface="微软雅黑" panose="020B0503020204020204" pitchFamily="34" charset="-122"/>
              </a:rPr>
              <a:t>Counter</a:t>
            </a:r>
            <a:r>
              <a:rPr lang="zh-CN" altLang="zh-CN" sz="2000" dirty="0">
                <a:latin typeface="微软雅黑" panose="020B0503020204020204" pitchFamily="34" charset="-122"/>
                <a:ea typeface="微软雅黑" panose="020B0503020204020204" pitchFamily="34" charset="-122"/>
              </a:rPr>
              <a:t>，人工定义公式进行计算或者通过</a:t>
            </a:r>
            <a:r>
              <a:rPr lang="en-US" altLang="zh-CN" sz="2000" dirty="0">
                <a:latin typeface="微软雅黑" panose="020B0503020204020204" pitchFamily="34" charset="-122"/>
                <a:ea typeface="微软雅黑" panose="020B0503020204020204" pitchFamily="34" charset="-122"/>
              </a:rPr>
              <a:t>PRS</a:t>
            </a:r>
            <a:r>
              <a:rPr lang="zh-CN" altLang="zh-CN" sz="2000" dirty="0">
                <a:latin typeface="微软雅黑" panose="020B0503020204020204" pitchFamily="34" charset="-122"/>
                <a:ea typeface="微软雅黑" panose="020B0503020204020204" pitchFamily="34" charset="-122"/>
              </a:rPr>
              <a:t>直接对采集的</a:t>
            </a:r>
            <a:r>
              <a:rPr lang="en-US" altLang="zh-CN" sz="2000" dirty="0">
                <a:latin typeface="微软雅黑" panose="020B0503020204020204" pitchFamily="34" charset="-122"/>
                <a:ea typeface="微软雅黑" panose="020B0503020204020204" pitchFamily="34" charset="-122"/>
              </a:rPr>
              <a:t>Counter</a:t>
            </a:r>
            <a:r>
              <a:rPr lang="zh-CN" altLang="zh-CN" sz="2000" dirty="0">
                <a:latin typeface="微软雅黑" panose="020B0503020204020204" pitchFamily="34" charset="-122"/>
                <a:ea typeface="微软雅黑" panose="020B0503020204020204" pitchFamily="34" charset="-122"/>
              </a:rPr>
              <a:t>进行处理。</a:t>
            </a:r>
          </a:p>
        </p:txBody>
      </p:sp>
      <p:sp>
        <p:nvSpPr>
          <p:cNvPr id="4" name="文本框 3">
            <a:extLst>
              <a:ext uri="{FF2B5EF4-FFF2-40B4-BE49-F238E27FC236}">
                <a16:creationId xmlns:a16="http://schemas.microsoft.com/office/drawing/2014/main" id="{8CF25960-7176-5AE1-774A-1ACFA1F07154}"/>
              </a:ext>
            </a:extLst>
          </p:cNvPr>
          <p:cNvSpPr txBox="1"/>
          <p:nvPr/>
        </p:nvSpPr>
        <p:spPr>
          <a:xfrm>
            <a:off x="691117" y="851194"/>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B88F5B33-D657-DC05-51C6-4A1CE83A5AEE}"/>
              </a:ext>
            </a:extLst>
          </p:cNvPr>
          <p:cNvSpPr txBox="1"/>
          <p:nvPr/>
        </p:nvSpPr>
        <p:spPr bwMode="auto">
          <a:xfrm>
            <a:off x="922852" y="1931041"/>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1584495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6F257-F28C-4C11-8312-1B55BA86B178}"/>
              </a:ext>
            </a:extLst>
          </p:cNvPr>
          <p:cNvSpPr>
            <a:spLocks noGrp="1"/>
          </p:cNvSpPr>
          <p:nvPr>
            <p:ph type="title"/>
          </p:nvPr>
        </p:nvSpPr>
        <p:spPr>
          <a:xfrm>
            <a:off x="1022454" y="1893663"/>
            <a:ext cx="10560048" cy="868363"/>
          </a:xfrm>
        </p:spPr>
        <p:txBody>
          <a:bodyPr/>
          <a:lstStyle/>
          <a:p>
            <a:r>
              <a:rPr lang="zh-CN" altLang="zh-CN" sz="2000" b="1" dirty="0">
                <a:solidFill>
                  <a:srgbClr val="FF0000"/>
                </a:solidFill>
                <a:latin typeface="微软雅黑" panose="020B0503020204020204" pitchFamily="34" charset="-122"/>
                <a:ea typeface="微软雅黑" panose="020B0503020204020204" pitchFamily="34" charset="-122"/>
              </a:rPr>
              <a:t>工参核查</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E6B0FC10-D150-4589-8CB1-4207C904FD00}"/>
              </a:ext>
            </a:extLst>
          </p:cNvPr>
          <p:cNvSpPr>
            <a:spLocks noGrp="1"/>
          </p:cNvSpPr>
          <p:nvPr>
            <p:ph type="body" sz="quarter" idx="10"/>
          </p:nvPr>
        </p:nvSpPr>
        <p:spPr>
          <a:xfrm>
            <a:off x="922852" y="2588565"/>
            <a:ext cx="10560048" cy="4680000"/>
          </a:xfrm>
        </p:spPr>
        <p:txBody>
          <a:bodyPr/>
          <a:lstStyle/>
          <a:p>
            <a:pPr marL="0" indent="0">
              <a:buNone/>
            </a:pPr>
            <a:r>
              <a:rPr lang="zh-CN" altLang="en-US" sz="2000" dirty="0">
                <a:latin typeface="方正兰亭黑简体" panose="02000000000000000000" pitchFamily="2" charset="-122"/>
                <a:ea typeface="方正兰亭黑简体" panose="02000000000000000000" pitchFamily="2" charset="-122"/>
              </a:rPr>
              <a:t>目的：</a:t>
            </a:r>
            <a:r>
              <a:rPr lang="zh-CN" altLang="zh-CN" sz="2000" dirty="0">
                <a:latin typeface="方正兰亭黑简体" panose="02000000000000000000" pitchFamily="2" charset="-122"/>
                <a:ea typeface="方正兰亭黑简体" panose="02000000000000000000" pitchFamily="2" charset="-122"/>
              </a:rPr>
              <a:t>在优化过程前期，对网络工参、</a:t>
            </a:r>
            <a:r>
              <a:rPr lang="en-US" altLang="zh-CN" sz="2000" dirty="0">
                <a:latin typeface="方正兰亭黑简体" panose="02000000000000000000" pitchFamily="2" charset="-122"/>
                <a:ea typeface="方正兰亭黑简体" panose="02000000000000000000" pitchFamily="2" charset="-122"/>
              </a:rPr>
              <a:t>PCI</a:t>
            </a:r>
            <a:r>
              <a:rPr lang="zh-CN" altLang="zh-CN" sz="2000" dirty="0">
                <a:latin typeface="方正兰亭黑简体" panose="02000000000000000000" pitchFamily="2" charset="-122"/>
                <a:ea typeface="方正兰亭黑简体" panose="02000000000000000000" pitchFamily="2" charset="-122"/>
              </a:rPr>
              <a:t>、邻区等信息进行排查，消除因为工参或配置不准确导致的网络影响。</a:t>
            </a:r>
          </a:p>
          <a:p>
            <a:r>
              <a:rPr lang="en-US" altLang="zh-CN" sz="2000" dirty="0">
                <a:latin typeface="方正兰亭黑简体" panose="02000000000000000000" pitchFamily="2" charset="-122"/>
                <a:ea typeface="方正兰亭黑简体" panose="02000000000000000000" pitchFamily="2" charset="-122"/>
              </a:rPr>
              <a:t>1</a:t>
            </a:r>
            <a:r>
              <a:rPr lang="zh-CN" altLang="zh-CN" sz="2000" dirty="0">
                <a:latin typeface="方正兰亭黑简体" panose="02000000000000000000" pitchFamily="2" charset="-122"/>
                <a:ea typeface="方正兰亭黑简体" panose="02000000000000000000" pitchFamily="2" charset="-122"/>
              </a:rPr>
              <a:t>．</a:t>
            </a:r>
            <a:r>
              <a:rPr lang="en-US" altLang="zh-CN" sz="2000" dirty="0">
                <a:latin typeface="方正兰亭黑简体" panose="02000000000000000000" pitchFamily="2" charset="-122"/>
                <a:ea typeface="方正兰亭黑简体" panose="02000000000000000000" pitchFamily="2" charset="-122"/>
              </a:rPr>
              <a:t>PCI</a:t>
            </a:r>
            <a:r>
              <a:rPr lang="zh-CN" altLang="zh-CN" sz="2000" dirty="0">
                <a:latin typeface="方正兰亭黑简体" panose="02000000000000000000" pitchFamily="2" charset="-122"/>
                <a:ea typeface="方正兰亭黑简体" panose="02000000000000000000" pitchFamily="2" charset="-122"/>
              </a:rPr>
              <a:t>核查</a:t>
            </a:r>
          </a:p>
          <a:p>
            <a:pPr lvl="1"/>
            <a:r>
              <a:rPr lang="zh-CN" altLang="zh-CN" sz="1800" dirty="0">
                <a:latin typeface="方正兰亭黑简体" panose="02000000000000000000" pitchFamily="2" charset="-122"/>
                <a:ea typeface="方正兰亭黑简体" panose="02000000000000000000" pitchFamily="2" charset="-122"/>
              </a:rPr>
              <a:t>（</a:t>
            </a:r>
            <a:r>
              <a:rPr lang="en-US" altLang="zh-CN" sz="1800" dirty="0">
                <a:latin typeface="方正兰亭黑简体" panose="02000000000000000000" pitchFamily="2" charset="-122"/>
                <a:ea typeface="方正兰亭黑简体" panose="02000000000000000000" pitchFamily="2" charset="-122"/>
              </a:rPr>
              <a:t>1</a:t>
            </a:r>
            <a:r>
              <a:rPr lang="zh-CN" altLang="zh-CN" sz="1800" dirty="0">
                <a:latin typeface="方正兰亭黑简体" panose="02000000000000000000" pitchFamily="2" charset="-122"/>
                <a:ea typeface="方正兰亭黑简体" panose="02000000000000000000" pitchFamily="2" charset="-122"/>
              </a:rPr>
              <a:t>）</a:t>
            </a:r>
            <a:r>
              <a:rPr lang="en-US" altLang="zh-CN" sz="1800" dirty="0">
                <a:latin typeface="方正兰亭黑简体" panose="02000000000000000000" pitchFamily="2" charset="-122"/>
                <a:ea typeface="方正兰亭黑简体" panose="02000000000000000000" pitchFamily="2" charset="-122"/>
              </a:rPr>
              <a:t>PCI</a:t>
            </a:r>
            <a:r>
              <a:rPr lang="zh-CN" altLang="zh-CN" sz="1800" dirty="0">
                <a:latin typeface="方正兰亭黑简体" panose="02000000000000000000" pitchFamily="2" charset="-122"/>
                <a:ea typeface="方正兰亭黑简体" panose="02000000000000000000" pitchFamily="2" charset="-122"/>
              </a:rPr>
              <a:t>与配置信息是否一致，检测工参信息与基站配置是否相同</a:t>
            </a:r>
          </a:p>
          <a:p>
            <a:pPr lvl="1"/>
            <a:r>
              <a:rPr lang="zh-CN" altLang="zh-CN" sz="1800" dirty="0">
                <a:latin typeface="方正兰亭黑简体" panose="02000000000000000000" pitchFamily="2" charset="-122"/>
                <a:ea typeface="方正兰亭黑简体" panose="02000000000000000000" pitchFamily="2" charset="-122"/>
              </a:rPr>
              <a:t>（</a:t>
            </a:r>
            <a:r>
              <a:rPr lang="en-US" altLang="zh-CN" sz="1800" dirty="0">
                <a:latin typeface="方正兰亭黑简体" panose="02000000000000000000" pitchFamily="2" charset="-122"/>
                <a:ea typeface="方正兰亭黑简体" panose="02000000000000000000" pitchFamily="2" charset="-122"/>
              </a:rPr>
              <a:t>2</a:t>
            </a:r>
            <a:r>
              <a:rPr lang="zh-CN" altLang="zh-CN" sz="1800" dirty="0">
                <a:latin typeface="方正兰亭黑简体" panose="02000000000000000000" pitchFamily="2" charset="-122"/>
                <a:ea typeface="方正兰亭黑简体" panose="02000000000000000000" pitchFamily="2" charset="-122"/>
              </a:rPr>
              <a:t>）</a:t>
            </a:r>
            <a:r>
              <a:rPr lang="en-US" altLang="zh-CN" sz="1800" dirty="0">
                <a:latin typeface="方正兰亭黑简体" panose="02000000000000000000" pitchFamily="2" charset="-122"/>
                <a:ea typeface="方正兰亭黑简体" panose="02000000000000000000" pitchFamily="2" charset="-122"/>
              </a:rPr>
              <a:t>PCI</a:t>
            </a:r>
            <a:r>
              <a:rPr lang="zh-CN" altLang="zh-CN" sz="1800" dirty="0">
                <a:latin typeface="方正兰亭黑简体" panose="02000000000000000000" pitchFamily="2" charset="-122"/>
                <a:ea typeface="方正兰亭黑简体" panose="02000000000000000000" pitchFamily="2" charset="-122"/>
              </a:rPr>
              <a:t>冲突核查，在优化初期，可以根据网络拓扑结构，结合网络规划工具</a:t>
            </a:r>
            <a:r>
              <a:rPr lang="en-US" altLang="zh-CN" sz="1800" dirty="0">
                <a:latin typeface="方正兰亭黑简体" panose="02000000000000000000" pitchFamily="2" charset="-122"/>
                <a:ea typeface="方正兰亭黑简体" panose="02000000000000000000" pitchFamily="2" charset="-122"/>
              </a:rPr>
              <a:t>U-Net</a:t>
            </a:r>
            <a:r>
              <a:rPr lang="zh-CN" altLang="zh-CN" sz="1800" dirty="0">
                <a:latin typeface="方正兰亭黑简体" panose="02000000000000000000" pitchFamily="2" charset="-122"/>
                <a:ea typeface="方正兰亭黑简体" panose="02000000000000000000" pitchFamily="2" charset="-122"/>
              </a:rPr>
              <a:t>进行检测</a:t>
            </a:r>
          </a:p>
          <a:p>
            <a:r>
              <a:rPr lang="en-US" altLang="zh-CN" sz="2000" dirty="0">
                <a:latin typeface="方正兰亭黑简体" panose="02000000000000000000" pitchFamily="2" charset="-122"/>
                <a:ea typeface="方正兰亭黑简体" panose="02000000000000000000" pitchFamily="2" charset="-122"/>
              </a:rPr>
              <a:t>2</a:t>
            </a:r>
            <a:r>
              <a:rPr lang="zh-CN" altLang="zh-CN" sz="2000" dirty="0">
                <a:latin typeface="方正兰亭黑简体" panose="02000000000000000000" pitchFamily="2" charset="-122"/>
                <a:ea typeface="方正兰亭黑简体" panose="02000000000000000000" pitchFamily="2" charset="-122"/>
              </a:rPr>
              <a:t>．邻区核查</a:t>
            </a:r>
          </a:p>
          <a:p>
            <a:pPr lvl="1"/>
            <a:r>
              <a:rPr lang="zh-CN" altLang="zh-CN" sz="1800" dirty="0">
                <a:latin typeface="方正兰亭黑简体" panose="02000000000000000000" pitchFamily="2" charset="-122"/>
                <a:ea typeface="方正兰亭黑简体" panose="02000000000000000000" pitchFamily="2" charset="-122"/>
              </a:rPr>
              <a:t>邻区核查检测邻区是否漏配，避免因为漏配导致的切换问题发生，影响覆盖指标</a:t>
            </a:r>
            <a:endParaRPr lang="en-US" altLang="zh-CN" sz="1800" dirty="0">
              <a:latin typeface="方正兰亭黑简体" panose="02000000000000000000" pitchFamily="2" charset="-122"/>
              <a:ea typeface="方正兰亭黑简体" panose="02000000000000000000" pitchFamily="2" charset="-122"/>
            </a:endParaRPr>
          </a:p>
          <a:p>
            <a:pPr lvl="1"/>
            <a:r>
              <a:rPr lang="zh-CN" altLang="zh-CN" sz="1800" dirty="0">
                <a:latin typeface="方正兰亭黑简体" panose="02000000000000000000" pitchFamily="2" charset="-122"/>
                <a:ea typeface="方正兰亭黑简体" panose="02000000000000000000" pitchFamily="2" charset="-122"/>
              </a:rPr>
              <a:t>可利用网络规划工具</a:t>
            </a:r>
            <a:r>
              <a:rPr lang="en-US" altLang="zh-CN" sz="1800" dirty="0">
                <a:latin typeface="方正兰亭黑简体" panose="02000000000000000000" pitchFamily="2" charset="-122"/>
                <a:ea typeface="方正兰亭黑简体" panose="02000000000000000000" pitchFamily="2" charset="-122"/>
              </a:rPr>
              <a:t>U-Net</a:t>
            </a:r>
            <a:r>
              <a:rPr lang="zh-CN" altLang="zh-CN" sz="1800" dirty="0">
                <a:latin typeface="方正兰亭黑简体" panose="02000000000000000000" pitchFamily="2" charset="-122"/>
                <a:ea typeface="方正兰亭黑简体" panose="02000000000000000000" pitchFamily="2" charset="-122"/>
              </a:rPr>
              <a:t>进行邻区核查</a:t>
            </a:r>
          </a:p>
          <a:p>
            <a:r>
              <a:rPr lang="en-US" altLang="zh-CN" sz="2000" dirty="0">
                <a:latin typeface="方正兰亭黑简体" panose="02000000000000000000" pitchFamily="2" charset="-122"/>
                <a:ea typeface="方正兰亭黑简体" panose="02000000000000000000" pitchFamily="2" charset="-122"/>
              </a:rPr>
              <a:t>3</a:t>
            </a:r>
            <a:r>
              <a:rPr lang="zh-CN" altLang="zh-CN" sz="2000" dirty="0">
                <a:latin typeface="方正兰亭黑简体" panose="02000000000000000000" pitchFamily="2" charset="-122"/>
                <a:ea typeface="方正兰亭黑简体" panose="02000000000000000000" pitchFamily="2" charset="-122"/>
              </a:rPr>
              <a:t>．工参一致性核查</a:t>
            </a:r>
            <a:endParaRPr lang="en-US" altLang="zh-CN" sz="2000" dirty="0">
              <a:latin typeface="方正兰亭黑简体" panose="02000000000000000000" pitchFamily="2" charset="-122"/>
              <a:ea typeface="方正兰亭黑简体" panose="02000000000000000000" pitchFamily="2" charset="-122"/>
            </a:endParaRPr>
          </a:p>
          <a:p>
            <a:pPr lvl="1"/>
            <a:r>
              <a:rPr lang="zh-CN" altLang="en-US" sz="1800" dirty="0">
                <a:latin typeface="方正兰亭黑简体" panose="02000000000000000000" pitchFamily="2" charset="-122"/>
                <a:ea typeface="方正兰亭黑简体" panose="02000000000000000000" pitchFamily="2" charset="-122"/>
              </a:rPr>
              <a:t>优化初期，需要核查工参一致性，避免工参错误导致的问题发生。</a:t>
            </a:r>
            <a:endParaRPr lang="en-US" altLang="zh-CN" sz="1800" dirty="0">
              <a:latin typeface="方正兰亭黑简体" panose="02000000000000000000" pitchFamily="2" charset="-122"/>
              <a:ea typeface="方正兰亭黑简体" panose="02000000000000000000" pitchFamily="2" charset="-122"/>
            </a:endParaRPr>
          </a:p>
          <a:p>
            <a:pPr lvl="1"/>
            <a:r>
              <a:rPr lang="zh-CN" altLang="en-US" sz="1800" dirty="0">
                <a:latin typeface="方正兰亭黑简体" panose="02000000000000000000" pitchFamily="2" charset="-122"/>
                <a:ea typeface="方正兰亭黑简体" panose="02000000000000000000" pitchFamily="2" charset="-122"/>
              </a:rPr>
              <a:t>工参核查涉及</a:t>
            </a:r>
            <a:r>
              <a:rPr lang="en-US" altLang="zh-CN" sz="1800" dirty="0">
                <a:latin typeface="方正兰亭黑简体" panose="02000000000000000000" pitchFamily="2" charset="-122"/>
                <a:ea typeface="方正兰亭黑简体" panose="02000000000000000000" pitchFamily="2" charset="-122"/>
              </a:rPr>
              <a:t>RF</a:t>
            </a:r>
            <a:r>
              <a:rPr lang="zh-CN" altLang="en-US" sz="1800" dirty="0">
                <a:latin typeface="方正兰亭黑简体" panose="02000000000000000000" pitchFamily="2" charset="-122"/>
                <a:ea typeface="方正兰亭黑简体" panose="02000000000000000000" pitchFamily="2" charset="-122"/>
              </a:rPr>
              <a:t>工参检测，有条件可以上站进行核查。</a:t>
            </a:r>
            <a:endParaRPr lang="zh-CN" altLang="zh-CN" sz="1800" dirty="0">
              <a:latin typeface="方正兰亭黑简体" panose="02000000000000000000" pitchFamily="2" charset="-122"/>
              <a:ea typeface="方正兰亭黑简体" panose="02000000000000000000" pitchFamily="2" charset="-122"/>
            </a:endParaRPr>
          </a:p>
          <a:p>
            <a:pPr marL="0" indent="0">
              <a:buNone/>
            </a:pPr>
            <a:endParaRPr lang="zh-CN" altLang="zh-CN" sz="2000" dirty="0">
              <a:latin typeface="方正兰亭黑简体" panose="02000000000000000000" pitchFamily="2" charset="-122"/>
              <a:ea typeface="方正兰亭黑简体" panose="02000000000000000000" pitchFamily="2" charset="-122"/>
            </a:endParaRPr>
          </a:p>
        </p:txBody>
      </p:sp>
      <p:sp>
        <p:nvSpPr>
          <p:cNvPr id="4" name="文本框 3">
            <a:extLst>
              <a:ext uri="{FF2B5EF4-FFF2-40B4-BE49-F238E27FC236}">
                <a16:creationId xmlns:a16="http://schemas.microsoft.com/office/drawing/2014/main" id="{20FB3A18-02AA-FB03-041D-E0BFD762F6A2}"/>
              </a:ext>
            </a:extLst>
          </p:cNvPr>
          <p:cNvSpPr txBox="1"/>
          <p:nvPr/>
        </p:nvSpPr>
        <p:spPr>
          <a:xfrm>
            <a:off x="691117" y="16815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5" name="标题 1">
            <a:extLst>
              <a:ext uri="{FF2B5EF4-FFF2-40B4-BE49-F238E27FC236}">
                <a16:creationId xmlns:a16="http://schemas.microsoft.com/office/drawing/2014/main" id="{8B1C65C0-B95E-8E98-0383-7E2F25C47AA2}"/>
              </a:ext>
            </a:extLst>
          </p:cNvPr>
          <p:cNvSpPr txBox="1"/>
          <p:nvPr/>
        </p:nvSpPr>
        <p:spPr bwMode="auto">
          <a:xfrm>
            <a:off x="922852" y="124799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2959570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71EC8A-ACF6-4189-8EB8-A006B513F399}"/>
              </a:ext>
            </a:extLst>
          </p:cNvPr>
          <p:cNvSpPr>
            <a:spLocks noGrp="1"/>
          </p:cNvSpPr>
          <p:nvPr>
            <p:ph type="title"/>
          </p:nvPr>
        </p:nvSpPr>
        <p:spPr>
          <a:xfrm>
            <a:off x="922852" y="2175502"/>
            <a:ext cx="10560048" cy="868363"/>
          </a:xfrm>
        </p:spPr>
        <p:txBody>
          <a:bodyPr/>
          <a:lstStyle/>
          <a:p>
            <a:r>
              <a:rPr lang="en-US" altLang="zh-CN" sz="2000" dirty="0">
                <a:solidFill>
                  <a:srgbClr val="FF0000"/>
                </a:solidFill>
                <a:latin typeface="微软雅黑" panose="020B0503020204020204" pitchFamily="34" charset="-122"/>
                <a:ea typeface="微软雅黑" panose="020B0503020204020204" pitchFamily="34" charset="-122"/>
              </a:rPr>
              <a:t>RF</a:t>
            </a:r>
            <a:r>
              <a:rPr lang="zh-CN" altLang="zh-CN" sz="2000" dirty="0">
                <a:solidFill>
                  <a:srgbClr val="FF0000"/>
                </a:solidFill>
                <a:latin typeface="微软雅黑" panose="020B0503020204020204" pitchFamily="34" charset="-122"/>
                <a:ea typeface="微软雅黑" panose="020B0503020204020204" pitchFamily="34" charset="-122"/>
              </a:rPr>
              <a:t>优化整体原则</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7EAE8CD9-1445-41F1-9D14-8BFB606817D9}"/>
              </a:ext>
            </a:extLst>
          </p:cNvPr>
          <p:cNvSpPr>
            <a:spLocks noGrp="1"/>
          </p:cNvSpPr>
          <p:nvPr>
            <p:ph type="body" sz="quarter" idx="10"/>
          </p:nvPr>
        </p:nvSpPr>
        <p:spPr>
          <a:xfrm>
            <a:off x="815976" y="2715252"/>
            <a:ext cx="10560048" cy="4680000"/>
          </a:xfrm>
        </p:spPr>
        <p:txBody>
          <a:bodyPr/>
          <a:lstStyle/>
          <a:p>
            <a:pPr>
              <a:lnSpc>
                <a:spcPct val="150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）先主后次原则：优先解决面的问题，再解决点的问题，由主及次。</a:t>
            </a:r>
          </a:p>
          <a:p>
            <a:pPr>
              <a:lnSpc>
                <a:spcPct val="150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）软参优先原则：上站调整天馈在时间、金钱上成本较高，优先考虑通过调整系统参数配置的调整覆盖或解决</a:t>
            </a:r>
            <a:r>
              <a:rPr lang="en-US" altLang="zh-CN" sz="2000" dirty="0">
                <a:latin typeface="微软雅黑" panose="020B0503020204020204" pitchFamily="34" charset="-122"/>
                <a:ea typeface="微软雅黑" panose="020B0503020204020204" pitchFamily="34" charset="-122"/>
              </a:rPr>
              <a:t>RF</a:t>
            </a:r>
            <a:r>
              <a:rPr lang="zh-CN" altLang="zh-CN" sz="2000" dirty="0">
                <a:latin typeface="微软雅黑" panose="020B0503020204020204" pitchFamily="34" charset="-122"/>
                <a:ea typeface="微软雅黑" panose="020B0503020204020204" pitchFamily="34" charset="-122"/>
              </a:rPr>
              <a:t>问题，尽可能减少上站次数。</a:t>
            </a:r>
          </a:p>
          <a:p>
            <a:pPr>
              <a:lnSpc>
                <a:spcPct val="150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rPr>
              <a:t>）数据和勘测支撑原则：要有坚实的数据和工程计算来支撑优化方案的制定，对复杂的场景，要安排到实际站点进行勘测。</a:t>
            </a:r>
          </a:p>
          <a:p>
            <a:pPr>
              <a:lnSpc>
                <a:spcPct val="150000"/>
              </a:lnSpc>
            </a:pP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zh-CN" sz="2000" dirty="0">
                <a:latin typeface="微软雅黑" panose="020B0503020204020204" pitchFamily="34" charset="-122"/>
                <a:ea typeface="微软雅黑" panose="020B0503020204020204" pitchFamily="34" charset="-122"/>
              </a:rPr>
              <a:t>）预期明确原则：对优化方案预期达到的效果和可能产生的影响要有清楚的认识，尽量采用仿真工具进行预测验证。</a:t>
            </a:r>
          </a:p>
        </p:txBody>
      </p:sp>
      <p:sp>
        <p:nvSpPr>
          <p:cNvPr id="6" name="文本框 5">
            <a:extLst>
              <a:ext uri="{FF2B5EF4-FFF2-40B4-BE49-F238E27FC236}">
                <a16:creationId xmlns:a16="http://schemas.microsoft.com/office/drawing/2014/main" id="{C6623457-DDB2-EA35-7AE8-1E4BE0B910A6}"/>
              </a:ext>
            </a:extLst>
          </p:cNvPr>
          <p:cNvSpPr txBox="1"/>
          <p:nvPr/>
        </p:nvSpPr>
        <p:spPr>
          <a:xfrm>
            <a:off x="691117" y="344421"/>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7" name="标题 1">
            <a:extLst>
              <a:ext uri="{FF2B5EF4-FFF2-40B4-BE49-F238E27FC236}">
                <a16:creationId xmlns:a16="http://schemas.microsoft.com/office/drawing/2014/main" id="{D237FE0B-4D68-350E-891E-35A8D0338EDD}"/>
              </a:ext>
            </a:extLst>
          </p:cNvPr>
          <p:cNvSpPr txBox="1"/>
          <p:nvPr/>
        </p:nvSpPr>
        <p:spPr bwMode="auto">
          <a:xfrm>
            <a:off x="922852" y="1424268"/>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spTree>
    <p:extLst>
      <p:ext uri="{BB962C8B-B14F-4D97-AF65-F5344CB8AC3E}">
        <p14:creationId xmlns:p14="http://schemas.microsoft.com/office/powerpoint/2010/main" val="1508125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1F4E-C805-A450-7800-0C122044E6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1D8F5A-56F8-139A-B80B-44724AD45782}"/>
              </a:ext>
            </a:extLst>
          </p:cNvPr>
          <p:cNvSpPr>
            <a:spLocks noGrp="1"/>
          </p:cNvSpPr>
          <p:nvPr>
            <p:ph type="title"/>
          </p:nvPr>
        </p:nvSpPr>
        <p:spPr>
          <a:xfrm>
            <a:off x="336922" y="1604178"/>
            <a:ext cx="10560048" cy="868363"/>
          </a:xfrm>
        </p:spPr>
        <p:txBody>
          <a:bodyPr/>
          <a:lstStyle/>
          <a:p>
            <a:r>
              <a:rPr lang="en-US" altLang="zh-CN" sz="2000" dirty="0">
                <a:solidFill>
                  <a:srgbClr val="FF0000"/>
                </a:solidFill>
                <a:latin typeface="微软雅黑" panose="020B0503020204020204" pitchFamily="34" charset="-122"/>
                <a:ea typeface="微软雅黑" panose="020B0503020204020204" pitchFamily="34" charset="-122"/>
              </a:rPr>
              <a:t>RF</a:t>
            </a:r>
            <a:r>
              <a:rPr lang="zh-CN" altLang="zh-CN" sz="2000" dirty="0">
                <a:solidFill>
                  <a:srgbClr val="FF0000"/>
                </a:solidFill>
                <a:latin typeface="微软雅黑" panose="020B0503020204020204" pitchFamily="34" charset="-122"/>
                <a:ea typeface="微软雅黑" panose="020B0503020204020204" pitchFamily="34" charset="-122"/>
              </a:rPr>
              <a:t>优化</a:t>
            </a:r>
            <a:r>
              <a:rPr lang="zh-CN" altLang="en-US" sz="2000" dirty="0">
                <a:solidFill>
                  <a:srgbClr val="FF0000"/>
                </a:solidFill>
                <a:latin typeface="微软雅黑" panose="020B0503020204020204" pitchFamily="34" charset="-122"/>
                <a:ea typeface="微软雅黑" panose="020B0503020204020204" pitchFamily="34" charset="-122"/>
              </a:rPr>
              <a:t>案例分析</a:t>
            </a:r>
          </a:p>
        </p:txBody>
      </p:sp>
      <p:sp>
        <p:nvSpPr>
          <p:cNvPr id="3" name="内容占位符 2">
            <a:extLst>
              <a:ext uri="{FF2B5EF4-FFF2-40B4-BE49-F238E27FC236}">
                <a16:creationId xmlns:a16="http://schemas.microsoft.com/office/drawing/2014/main" id="{EB2E62BD-C831-7DD0-131F-B46A2F2BB6AC}"/>
              </a:ext>
            </a:extLst>
          </p:cNvPr>
          <p:cNvSpPr>
            <a:spLocks noGrp="1"/>
          </p:cNvSpPr>
          <p:nvPr>
            <p:ph type="body" sz="quarter" idx="10"/>
          </p:nvPr>
        </p:nvSpPr>
        <p:spPr>
          <a:xfrm>
            <a:off x="45304" y="1896949"/>
            <a:ext cx="12112530" cy="175909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rPr>
              <a:t>车辆在大庆西路由西向东行驶，</a:t>
            </a:r>
            <a:r>
              <a:rPr lang="en-US" altLang="zh-CN" sz="2000" dirty="0">
                <a:latin typeface="微软雅黑" panose="020B0503020204020204" pitchFamily="34" charset="-122"/>
                <a:ea typeface="微软雅黑" panose="020B0503020204020204" pitchFamily="34" charset="-122"/>
              </a:rPr>
              <a:t>UE</a:t>
            </a:r>
            <a:r>
              <a:rPr lang="zh-CN" altLang="en-US" sz="2000" dirty="0">
                <a:latin typeface="微软雅黑" panose="020B0503020204020204" pitchFamily="34" charset="-122"/>
                <a:ea typeface="微软雅黑" panose="020B0503020204020204" pitchFamily="34" charset="-122"/>
              </a:rPr>
              <a:t>占用小区米工饭店</a:t>
            </a:r>
            <a:r>
              <a:rPr lang="en-US" altLang="zh-CN" sz="2000" dirty="0">
                <a:latin typeface="微软雅黑" panose="020B0503020204020204" pitchFamily="34" charset="-122"/>
                <a:ea typeface="微软雅黑" panose="020B0503020204020204" pitchFamily="34" charset="-122"/>
              </a:rPr>
              <a:t>-HLH-2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PCI=82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RSRP=-81dBm</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SINR=-5dB</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Throughput_DL</a:t>
            </a:r>
            <a:r>
              <a:rPr lang="en-US" altLang="zh-CN" sz="2000" dirty="0">
                <a:latin typeface="微软雅黑" panose="020B0503020204020204" pitchFamily="34" charset="-122"/>
                <a:ea typeface="微软雅黑" panose="020B0503020204020204" pitchFamily="34" charset="-122"/>
              </a:rPr>
              <a:t>=17Mbit/s</a:t>
            </a:r>
            <a:r>
              <a:rPr lang="zh-CN" altLang="en-US" sz="2000" dirty="0">
                <a:latin typeface="微软雅黑" panose="020B0503020204020204" pitchFamily="34" charset="-122"/>
                <a:ea typeface="微软雅黑" panose="020B0503020204020204" pitchFamily="34" charset="-122"/>
              </a:rPr>
              <a:t>，该路段</a:t>
            </a:r>
            <a:r>
              <a:rPr lang="en-US" altLang="zh-CN" sz="2000" dirty="0">
                <a:latin typeface="微软雅黑" panose="020B0503020204020204" pitchFamily="34" charset="-122"/>
                <a:ea typeface="微软雅黑" panose="020B0503020204020204" pitchFamily="34" charset="-122"/>
              </a:rPr>
              <a:t>SINR</a:t>
            </a:r>
            <a:r>
              <a:rPr lang="zh-CN" altLang="en-US" sz="2000" dirty="0">
                <a:latin typeface="微软雅黑" panose="020B0503020204020204" pitchFamily="34" charset="-122"/>
                <a:ea typeface="微软雅黑" panose="020B0503020204020204" pitchFamily="34" charset="-122"/>
              </a:rPr>
              <a:t>值较低，导致下载速率较差，邻区中信号较强的小区是卷烟厂</a:t>
            </a:r>
            <a:r>
              <a:rPr lang="en-US" altLang="zh-CN" sz="2000" dirty="0">
                <a:latin typeface="微软雅黑" panose="020B0503020204020204" pitchFamily="34" charset="-122"/>
                <a:ea typeface="微软雅黑" panose="020B0503020204020204" pitchFamily="34" charset="-122"/>
              </a:rPr>
              <a:t>-HLH-2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PCI=79</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RSRP=-84dBm</a:t>
            </a:r>
            <a:r>
              <a:rPr lang="zh-CN" altLang="en-US"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93C4861-45F9-3DFE-164C-357B4A006919}"/>
              </a:ext>
            </a:extLst>
          </p:cNvPr>
          <p:cNvSpPr txBox="1"/>
          <p:nvPr/>
        </p:nvSpPr>
        <p:spPr>
          <a:xfrm>
            <a:off x="34166" y="15943"/>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7" name="标题 1">
            <a:extLst>
              <a:ext uri="{FF2B5EF4-FFF2-40B4-BE49-F238E27FC236}">
                <a16:creationId xmlns:a16="http://schemas.microsoft.com/office/drawing/2014/main" id="{E0ED4A56-EAF7-18B5-A5DA-87724117F82A}"/>
              </a:ext>
            </a:extLst>
          </p:cNvPr>
          <p:cNvSpPr txBox="1"/>
          <p:nvPr/>
        </p:nvSpPr>
        <p:spPr bwMode="auto">
          <a:xfrm>
            <a:off x="265901" y="1095790"/>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pic>
        <p:nvPicPr>
          <p:cNvPr id="9" name="图片 8">
            <a:extLst>
              <a:ext uri="{FF2B5EF4-FFF2-40B4-BE49-F238E27FC236}">
                <a16:creationId xmlns:a16="http://schemas.microsoft.com/office/drawing/2014/main" id="{217EDAF7-5B1A-DB5F-FC06-2976BB321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1474" y="2980929"/>
            <a:ext cx="7150526" cy="3917970"/>
          </a:xfrm>
          <a:prstGeom prst="rect">
            <a:avLst/>
          </a:prstGeom>
        </p:spPr>
      </p:pic>
      <p:sp>
        <p:nvSpPr>
          <p:cNvPr id="10" name="文本框 9">
            <a:extLst>
              <a:ext uri="{FF2B5EF4-FFF2-40B4-BE49-F238E27FC236}">
                <a16:creationId xmlns:a16="http://schemas.microsoft.com/office/drawing/2014/main" id="{63E528DE-E813-B7A1-0518-076A69B3755A}"/>
              </a:ext>
            </a:extLst>
          </p:cNvPr>
          <p:cNvSpPr txBox="1"/>
          <p:nvPr/>
        </p:nvSpPr>
        <p:spPr>
          <a:xfrm>
            <a:off x="45304" y="3317287"/>
            <a:ext cx="5308846" cy="1200329"/>
          </a:xfrm>
          <a:prstGeom prst="rect">
            <a:avLst/>
          </a:prstGeom>
          <a:noFill/>
        </p:spPr>
        <p:txBody>
          <a:bodyPr wrap="square" rtlCol="0">
            <a:spAutoFit/>
          </a:bodyPr>
          <a:lstStyle/>
          <a:p>
            <a:r>
              <a:rPr lang="en-US" altLang="zh-CN" dirty="0"/>
              <a:t>【</a:t>
            </a:r>
            <a:r>
              <a:rPr lang="zh-CN" altLang="en-US" dirty="0"/>
              <a:t>问题分析</a:t>
            </a:r>
            <a:r>
              <a:rPr lang="en-US" altLang="zh-CN" dirty="0"/>
              <a:t>】</a:t>
            </a:r>
          </a:p>
          <a:p>
            <a:r>
              <a:rPr lang="zh-CN" altLang="en-US" dirty="0"/>
              <a:t>分析发现覆盖该路段的米公饭店</a:t>
            </a:r>
            <a:r>
              <a:rPr lang="en-US" altLang="zh-CN" dirty="0"/>
              <a:t>-HLH-2</a:t>
            </a:r>
            <a:r>
              <a:rPr lang="zh-CN" altLang="en-US" dirty="0"/>
              <a:t>（</a:t>
            </a:r>
            <a:r>
              <a:rPr lang="en-US" altLang="zh-CN" dirty="0"/>
              <a:t>PCI=82</a:t>
            </a:r>
            <a:r>
              <a:rPr lang="zh-CN" altLang="en-US" dirty="0"/>
              <a:t>）小区与卷烟厂</a:t>
            </a:r>
            <a:r>
              <a:rPr lang="en-US" altLang="zh-CN" dirty="0"/>
              <a:t>-HLH-2</a:t>
            </a:r>
            <a:r>
              <a:rPr lang="zh-CN" altLang="en-US" dirty="0"/>
              <a:t>（</a:t>
            </a:r>
            <a:r>
              <a:rPr lang="en-US" altLang="zh-CN" dirty="0"/>
              <a:t>PCI=79</a:t>
            </a:r>
            <a:r>
              <a:rPr lang="zh-CN" altLang="en-US" dirty="0"/>
              <a:t>）小区产生</a:t>
            </a:r>
            <a:r>
              <a:rPr lang="en-US" altLang="zh-CN" dirty="0"/>
              <a:t>MOD3</a:t>
            </a:r>
            <a:r>
              <a:rPr lang="zh-CN" altLang="en-US" dirty="0"/>
              <a:t>干扰导致该路段</a:t>
            </a:r>
            <a:r>
              <a:rPr lang="en-US" altLang="zh-CN" dirty="0"/>
              <a:t>SINR</a:t>
            </a:r>
            <a:r>
              <a:rPr lang="zh-CN" altLang="en-US" dirty="0"/>
              <a:t>很低，速率明显下降。</a:t>
            </a:r>
          </a:p>
        </p:txBody>
      </p:sp>
      <p:sp>
        <p:nvSpPr>
          <p:cNvPr id="11" name="文本框 10">
            <a:extLst>
              <a:ext uri="{FF2B5EF4-FFF2-40B4-BE49-F238E27FC236}">
                <a16:creationId xmlns:a16="http://schemas.microsoft.com/office/drawing/2014/main" id="{3B20FC11-7B8F-17ED-9122-5AB1B2D6867A}"/>
              </a:ext>
            </a:extLst>
          </p:cNvPr>
          <p:cNvSpPr txBox="1"/>
          <p:nvPr/>
        </p:nvSpPr>
        <p:spPr>
          <a:xfrm>
            <a:off x="12214" y="4476216"/>
            <a:ext cx="5610688" cy="1200329"/>
          </a:xfrm>
          <a:prstGeom prst="rect">
            <a:avLst/>
          </a:prstGeom>
          <a:noFill/>
        </p:spPr>
        <p:txBody>
          <a:bodyPr wrap="square" rtlCol="0">
            <a:spAutoFit/>
          </a:bodyPr>
          <a:lstStyle/>
          <a:p>
            <a:r>
              <a:rPr lang="en-US" altLang="zh-CN" dirty="0"/>
              <a:t>【</a:t>
            </a:r>
            <a:r>
              <a:rPr lang="zh-CN" altLang="en-US" dirty="0"/>
              <a:t>解决方法</a:t>
            </a:r>
            <a:r>
              <a:rPr lang="en-US" altLang="zh-CN" dirty="0"/>
              <a:t>】</a:t>
            </a:r>
          </a:p>
          <a:p>
            <a:r>
              <a:rPr lang="zh-CN" altLang="en-US" dirty="0"/>
              <a:t>根据实际情况与项目优化人员沟通后决定把卷烟厂</a:t>
            </a:r>
            <a:r>
              <a:rPr lang="en-US" altLang="zh-CN" dirty="0"/>
              <a:t>-HLH-2</a:t>
            </a:r>
            <a:r>
              <a:rPr lang="zh-CN" altLang="en-US" dirty="0"/>
              <a:t>小区下倾角</a:t>
            </a:r>
            <a:r>
              <a:rPr lang="en-US" altLang="zh-CN" dirty="0"/>
              <a:t>3</a:t>
            </a:r>
            <a:r>
              <a:rPr lang="zh-CN" altLang="en-US" dirty="0"/>
              <a:t>度下压至</a:t>
            </a:r>
            <a:r>
              <a:rPr lang="en-US" altLang="zh-CN" dirty="0"/>
              <a:t>8</a:t>
            </a:r>
            <a:r>
              <a:rPr lang="zh-CN" altLang="en-US" dirty="0"/>
              <a:t>度，减弱其对米公饭店</a:t>
            </a:r>
            <a:r>
              <a:rPr lang="en-US" altLang="zh-CN" dirty="0"/>
              <a:t>-HLH-2</a:t>
            </a:r>
            <a:r>
              <a:rPr lang="zh-CN" altLang="en-US" dirty="0"/>
              <a:t>的</a:t>
            </a:r>
            <a:r>
              <a:rPr lang="en-US" altLang="zh-CN" dirty="0"/>
              <a:t>MOD3</a:t>
            </a:r>
            <a:r>
              <a:rPr lang="zh-CN" altLang="en-US" dirty="0"/>
              <a:t>干扰。</a:t>
            </a:r>
          </a:p>
        </p:txBody>
      </p:sp>
      <p:sp>
        <p:nvSpPr>
          <p:cNvPr id="12" name="文本框 11">
            <a:extLst>
              <a:ext uri="{FF2B5EF4-FFF2-40B4-BE49-F238E27FC236}">
                <a16:creationId xmlns:a16="http://schemas.microsoft.com/office/drawing/2014/main" id="{1AF34F35-4908-62E3-898C-C4208DC5B22A}"/>
              </a:ext>
            </a:extLst>
          </p:cNvPr>
          <p:cNvSpPr txBox="1"/>
          <p:nvPr/>
        </p:nvSpPr>
        <p:spPr>
          <a:xfrm>
            <a:off x="45304" y="5665492"/>
            <a:ext cx="5112622" cy="1200329"/>
          </a:xfrm>
          <a:prstGeom prst="rect">
            <a:avLst/>
          </a:prstGeom>
          <a:noFill/>
        </p:spPr>
        <p:txBody>
          <a:bodyPr wrap="square" rtlCol="0">
            <a:spAutoFit/>
          </a:bodyPr>
          <a:lstStyle/>
          <a:p>
            <a:r>
              <a:rPr lang="en-US" altLang="zh-CN" dirty="0"/>
              <a:t>【</a:t>
            </a:r>
            <a:r>
              <a:rPr lang="zh-CN" altLang="en-US" dirty="0"/>
              <a:t>优化结果</a:t>
            </a:r>
            <a:r>
              <a:rPr lang="en-US" altLang="zh-CN" dirty="0"/>
              <a:t>】</a:t>
            </a:r>
          </a:p>
          <a:p>
            <a:r>
              <a:rPr lang="zh-CN" altLang="en-US" dirty="0"/>
              <a:t>优化后该路段</a:t>
            </a:r>
            <a:r>
              <a:rPr lang="en-US" altLang="zh-CN" dirty="0"/>
              <a:t>SINR</a:t>
            </a:r>
            <a:r>
              <a:rPr lang="zh-CN" altLang="en-US" dirty="0"/>
              <a:t>从</a:t>
            </a:r>
            <a:r>
              <a:rPr lang="en-US" altLang="zh-CN" dirty="0"/>
              <a:t>-5dB</a:t>
            </a:r>
            <a:r>
              <a:rPr lang="zh-CN" altLang="en-US" dirty="0"/>
              <a:t>提升至</a:t>
            </a:r>
            <a:r>
              <a:rPr lang="en-US" altLang="zh-CN" dirty="0"/>
              <a:t>12dB</a:t>
            </a:r>
            <a:r>
              <a:rPr lang="zh-CN" altLang="en-US" dirty="0"/>
              <a:t>，</a:t>
            </a:r>
            <a:r>
              <a:rPr lang="en-US" altLang="zh-CN" dirty="0" err="1"/>
              <a:t>Throughput_DL</a:t>
            </a:r>
            <a:r>
              <a:rPr lang="zh-CN" altLang="en-US" dirty="0"/>
              <a:t>从</a:t>
            </a:r>
            <a:r>
              <a:rPr lang="en-US" altLang="zh-CN" dirty="0"/>
              <a:t>17Mbit/s</a:t>
            </a:r>
            <a:r>
              <a:rPr lang="zh-CN" altLang="en-US" dirty="0"/>
              <a:t>提升至</a:t>
            </a:r>
            <a:r>
              <a:rPr lang="en-US" altLang="zh-CN" dirty="0"/>
              <a:t>27Mbit/s</a:t>
            </a:r>
            <a:r>
              <a:rPr lang="zh-CN" altLang="en-US" dirty="0"/>
              <a:t>，吞吐率得到一定改善。</a:t>
            </a:r>
          </a:p>
        </p:txBody>
      </p:sp>
      <p:sp>
        <p:nvSpPr>
          <p:cNvPr id="4" name="文本框 3">
            <a:extLst>
              <a:ext uri="{FF2B5EF4-FFF2-40B4-BE49-F238E27FC236}">
                <a16:creationId xmlns:a16="http://schemas.microsoft.com/office/drawing/2014/main" id="{FCC9CB53-D928-F329-AB49-815917F18418}"/>
              </a:ext>
            </a:extLst>
          </p:cNvPr>
          <p:cNvSpPr txBox="1"/>
          <p:nvPr/>
        </p:nvSpPr>
        <p:spPr>
          <a:xfrm>
            <a:off x="2312219" y="1588673"/>
            <a:ext cx="4226943" cy="400110"/>
          </a:xfrm>
          <a:prstGeom prst="rect">
            <a:avLst/>
          </a:prstGeom>
          <a:noFill/>
        </p:spPr>
        <p:txBody>
          <a:bodyPr wrap="square" rtlCol="0">
            <a:spAutoFit/>
          </a:bodyPr>
          <a:lstStyle/>
          <a:p>
            <a:r>
              <a:rPr lang="en-US" altLang="zh-CN" sz="2000" b="1" dirty="0">
                <a:solidFill>
                  <a:srgbClr val="FF0000"/>
                </a:solidFill>
                <a:latin typeface="+mj-ea"/>
                <a:ea typeface="+mj-ea"/>
              </a:rPr>
              <a:t>-</a:t>
            </a:r>
            <a:r>
              <a:rPr lang="zh-CN" altLang="en-US" sz="2000" b="1" dirty="0">
                <a:solidFill>
                  <a:srgbClr val="FF0000"/>
                </a:solidFill>
                <a:latin typeface="+mj-ea"/>
                <a:ea typeface="+mj-ea"/>
              </a:rPr>
              <a:t>小区</a:t>
            </a:r>
            <a:r>
              <a:rPr lang="en-US" altLang="zh-CN" sz="2000" b="1" dirty="0">
                <a:solidFill>
                  <a:srgbClr val="FF0000"/>
                </a:solidFill>
                <a:latin typeface="+mj-ea"/>
                <a:ea typeface="+mj-ea"/>
              </a:rPr>
              <a:t>MOD3</a:t>
            </a:r>
            <a:r>
              <a:rPr lang="zh-CN" altLang="en-US" sz="2000" b="1" dirty="0">
                <a:solidFill>
                  <a:srgbClr val="FF0000"/>
                </a:solidFill>
                <a:latin typeface="+mj-ea"/>
                <a:ea typeface="+mj-ea"/>
              </a:rPr>
              <a:t>干扰导致速率低</a:t>
            </a:r>
            <a:endParaRPr lang="zh-CN" altLang="en-US" sz="2000" b="1" dirty="0">
              <a:latin typeface="+mj-ea"/>
              <a:ea typeface="+mj-ea"/>
            </a:endParaRPr>
          </a:p>
        </p:txBody>
      </p:sp>
    </p:spTree>
    <p:extLst>
      <p:ext uri="{BB962C8B-B14F-4D97-AF65-F5344CB8AC3E}">
        <p14:creationId xmlns:p14="http://schemas.microsoft.com/office/powerpoint/2010/main" val="400586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5934-C19E-5220-45F8-8A686F5C70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44FC3C-BEA7-D534-16BE-A1552C9B4807}"/>
              </a:ext>
            </a:extLst>
          </p:cNvPr>
          <p:cNvSpPr>
            <a:spLocks noGrp="1"/>
          </p:cNvSpPr>
          <p:nvPr>
            <p:ph type="title"/>
          </p:nvPr>
        </p:nvSpPr>
        <p:spPr>
          <a:xfrm>
            <a:off x="336922" y="1604178"/>
            <a:ext cx="10560048" cy="868363"/>
          </a:xfrm>
        </p:spPr>
        <p:txBody>
          <a:bodyPr/>
          <a:lstStyle/>
          <a:p>
            <a:r>
              <a:rPr lang="en-US" altLang="zh-CN" sz="2000" dirty="0">
                <a:solidFill>
                  <a:srgbClr val="FF0000"/>
                </a:solidFill>
                <a:latin typeface="微软雅黑" panose="020B0503020204020204" pitchFamily="34" charset="-122"/>
                <a:ea typeface="微软雅黑" panose="020B0503020204020204" pitchFamily="34" charset="-122"/>
              </a:rPr>
              <a:t>RF</a:t>
            </a:r>
            <a:r>
              <a:rPr lang="zh-CN" altLang="zh-CN" sz="2000" dirty="0">
                <a:solidFill>
                  <a:srgbClr val="FF0000"/>
                </a:solidFill>
                <a:latin typeface="微软雅黑" panose="020B0503020204020204" pitchFamily="34" charset="-122"/>
                <a:ea typeface="微软雅黑" panose="020B0503020204020204" pitchFamily="34" charset="-122"/>
              </a:rPr>
              <a:t>优化</a:t>
            </a:r>
            <a:r>
              <a:rPr lang="zh-CN" altLang="en-US" sz="2000" dirty="0">
                <a:solidFill>
                  <a:srgbClr val="FF0000"/>
                </a:solidFill>
                <a:latin typeface="微软雅黑" panose="020B0503020204020204" pitchFamily="34" charset="-122"/>
                <a:ea typeface="微软雅黑" panose="020B0503020204020204" pitchFamily="34" charset="-122"/>
              </a:rPr>
              <a:t>案例分析</a:t>
            </a:r>
          </a:p>
        </p:txBody>
      </p:sp>
      <p:sp>
        <p:nvSpPr>
          <p:cNvPr id="3" name="内容占位符 2">
            <a:extLst>
              <a:ext uri="{FF2B5EF4-FFF2-40B4-BE49-F238E27FC236}">
                <a16:creationId xmlns:a16="http://schemas.microsoft.com/office/drawing/2014/main" id="{290A384A-7506-7D5D-7B45-AE57D3018E84}"/>
              </a:ext>
            </a:extLst>
          </p:cNvPr>
          <p:cNvSpPr>
            <a:spLocks noGrp="1"/>
          </p:cNvSpPr>
          <p:nvPr>
            <p:ph type="body" sz="quarter" idx="10"/>
          </p:nvPr>
        </p:nvSpPr>
        <p:spPr>
          <a:xfrm>
            <a:off x="34166" y="1974193"/>
            <a:ext cx="12112530" cy="1759094"/>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rPr>
              <a:t>车辆在人民路由东向西行驶过程中，</a:t>
            </a:r>
            <a:r>
              <a:rPr lang="en-US" altLang="zh-CN" sz="2000" dirty="0">
                <a:latin typeface="微软雅黑" panose="020B0503020204020204" pitchFamily="34" charset="-122"/>
                <a:ea typeface="微软雅黑" panose="020B0503020204020204" pitchFamily="34" charset="-122"/>
              </a:rPr>
              <a:t>UE</a:t>
            </a:r>
            <a:r>
              <a:rPr lang="zh-CN" altLang="en-US" sz="2000" dirty="0">
                <a:latin typeface="微软雅黑" panose="020B0503020204020204" pitchFamily="34" charset="-122"/>
                <a:ea typeface="微软雅黑" panose="020B0503020204020204" pitchFamily="34" charset="-122"/>
              </a:rPr>
              <a:t>占用襄樊饭店</a:t>
            </a:r>
            <a:r>
              <a:rPr lang="en-US" altLang="zh-CN" sz="2000" dirty="0">
                <a:latin typeface="微软雅黑" panose="020B0503020204020204" pitchFamily="34" charset="-122"/>
                <a:ea typeface="微软雅黑" panose="020B0503020204020204" pitchFamily="34" charset="-122"/>
              </a:rPr>
              <a:t>-HLH-3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RSRP=-73dBm</a:t>
            </a:r>
            <a:r>
              <a:rPr lang="zh-CN" altLang="en-US" sz="2000" dirty="0">
                <a:latin typeface="微软雅黑" panose="020B0503020204020204" pitchFamily="34" charset="-122"/>
                <a:ea typeface="微软雅黑" panose="020B0503020204020204" pitchFamily="34" charset="-122"/>
              </a:rPr>
              <a:t>，邻区中的襄阳樊城欣特药业</a:t>
            </a:r>
            <a:r>
              <a:rPr lang="en-US" altLang="zh-CN" sz="2000" dirty="0">
                <a:latin typeface="微软雅黑" panose="020B0503020204020204" pitchFamily="34" charset="-122"/>
                <a:ea typeface="微软雅黑" panose="020B0503020204020204" pitchFamily="34" charset="-122"/>
              </a:rPr>
              <a:t>-HLH-1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RSRP=-64dBm</a:t>
            </a:r>
            <a:r>
              <a:rPr lang="zh-CN" altLang="en-US" sz="2000" dirty="0">
                <a:latin typeface="微软雅黑" panose="020B0503020204020204" pitchFamily="34" charset="-122"/>
                <a:ea typeface="微软雅黑" panose="020B0503020204020204" pitchFamily="34" charset="-122"/>
              </a:rPr>
              <a:t>，信号较强，一直未发生切换。</a:t>
            </a:r>
            <a:endParaRPr lang="zh-CN" altLang="zh-CN"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2AC3958-ACB8-DA6A-28CA-B8C4E9A77214}"/>
              </a:ext>
            </a:extLst>
          </p:cNvPr>
          <p:cNvSpPr txBox="1"/>
          <p:nvPr/>
        </p:nvSpPr>
        <p:spPr>
          <a:xfrm>
            <a:off x="34166" y="15943"/>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7" name="标题 1">
            <a:extLst>
              <a:ext uri="{FF2B5EF4-FFF2-40B4-BE49-F238E27FC236}">
                <a16:creationId xmlns:a16="http://schemas.microsoft.com/office/drawing/2014/main" id="{BF7F560A-8864-D2F6-C063-7703C16A3140}"/>
              </a:ext>
            </a:extLst>
          </p:cNvPr>
          <p:cNvSpPr txBox="1"/>
          <p:nvPr/>
        </p:nvSpPr>
        <p:spPr bwMode="auto">
          <a:xfrm>
            <a:off x="265901" y="1095790"/>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3</a:t>
            </a:r>
            <a:r>
              <a:rPr lang="zh-CN" altLang="en-US" sz="2000" b="1" dirty="0">
                <a:solidFill>
                  <a:srgbClr val="005BAA"/>
                </a:solidFill>
              </a:rPr>
              <a:t>、</a:t>
            </a:r>
            <a:r>
              <a:rPr lang="en-US" altLang="zh-CN" sz="2000" b="1" dirty="0">
                <a:solidFill>
                  <a:srgbClr val="005BAA"/>
                </a:solidFill>
              </a:rPr>
              <a:t>RF</a:t>
            </a:r>
            <a:r>
              <a:rPr lang="zh-CN" altLang="en-US" sz="2000" b="1" dirty="0">
                <a:solidFill>
                  <a:srgbClr val="005BAA"/>
                </a:solidFill>
              </a:rPr>
              <a:t>优化</a:t>
            </a:r>
          </a:p>
        </p:txBody>
      </p:sp>
      <p:pic>
        <p:nvPicPr>
          <p:cNvPr id="5" name="图片 4">
            <a:extLst>
              <a:ext uri="{FF2B5EF4-FFF2-40B4-BE49-F238E27FC236}">
                <a16:creationId xmlns:a16="http://schemas.microsoft.com/office/drawing/2014/main" id="{476113B7-2EA3-6830-B658-C8215A9D8B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911" y="3193482"/>
            <a:ext cx="7112089" cy="3136258"/>
          </a:xfrm>
          <a:prstGeom prst="rect">
            <a:avLst/>
          </a:prstGeom>
        </p:spPr>
      </p:pic>
      <p:sp>
        <p:nvSpPr>
          <p:cNvPr id="8" name="文本框 7">
            <a:extLst>
              <a:ext uri="{FF2B5EF4-FFF2-40B4-BE49-F238E27FC236}">
                <a16:creationId xmlns:a16="http://schemas.microsoft.com/office/drawing/2014/main" id="{F5A64DC4-F5CB-9549-4D2B-B6523A415DEF}"/>
              </a:ext>
            </a:extLst>
          </p:cNvPr>
          <p:cNvSpPr txBox="1"/>
          <p:nvPr/>
        </p:nvSpPr>
        <p:spPr>
          <a:xfrm>
            <a:off x="0" y="5618884"/>
            <a:ext cx="5610688" cy="1200329"/>
          </a:xfrm>
          <a:prstGeom prst="rect">
            <a:avLst/>
          </a:prstGeom>
          <a:noFill/>
        </p:spPr>
        <p:txBody>
          <a:bodyPr wrap="square" rtlCol="0">
            <a:spAutoFit/>
          </a:bodyPr>
          <a:lstStyle/>
          <a:p>
            <a:r>
              <a:rPr lang="en-US" altLang="zh-CN" dirty="0"/>
              <a:t>【</a:t>
            </a:r>
            <a:r>
              <a:rPr lang="zh-CN" altLang="en-US" dirty="0"/>
              <a:t>优化结果</a:t>
            </a:r>
            <a:r>
              <a:rPr lang="en-US" altLang="zh-CN" dirty="0"/>
              <a:t>】</a:t>
            </a:r>
          </a:p>
          <a:p>
            <a:r>
              <a:rPr lang="zh-CN" altLang="en-US" dirty="0"/>
              <a:t>优化后该路段</a:t>
            </a:r>
            <a:r>
              <a:rPr lang="en-US" altLang="zh-CN" dirty="0"/>
              <a:t>SINR</a:t>
            </a:r>
            <a:r>
              <a:rPr lang="zh-CN" altLang="en-US" dirty="0"/>
              <a:t>从</a:t>
            </a:r>
            <a:r>
              <a:rPr lang="en-US" altLang="zh-CN" dirty="0"/>
              <a:t>-12dB</a:t>
            </a:r>
            <a:r>
              <a:rPr lang="zh-CN" altLang="en-US" dirty="0"/>
              <a:t>提升至</a:t>
            </a:r>
            <a:r>
              <a:rPr lang="en-US" altLang="zh-CN" dirty="0"/>
              <a:t>10dB</a:t>
            </a:r>
            <a:r>
              <a:rPr lang="zh-CN" altLang="en-US" dirty="0"/>
              <a:t>，</a:t>
            </a:r>
            <a:r>
              <a:rPr lang="en-US" altLang="zh-CN" dirty="0" err="1"/>
              <a:t>Throughput_DL</a:t>
            </a:r>
            <a:r>
              <a:rPr lang="zh-CN" altLang="en-US" dirty="0"/>
              <a:t>达到</a:t>
            </a:r>
            <a:r>
              <a:rPr lang="en-US" altLang="zh-CN" dirty="0"/>
              <a:t>34Mbit/s</a:t>
            </a:r>
            <a:r>
              <a:rPr lang="zh-CN" altLang="en-US" dirty="0"/>
              <a:t>，</a:t>
            </a:r>
            <a:r>
              <a:rPr lang="en-US" altLang="zh-CN" dirty="0"/>
              <a:t>RSRP</a:t>
            </a:r>
            <a:r>
              <a:rPr lang="zh-CN" altLang="en-US" dirty="0"/>
              <a:t>和</a:t>
            </a:r>
            <a:r>
              <a:rPr lang="en-US" altLang="zh-CN" dirty="0" err="1"/>
              <a:t>Throughput_DL</a:t>
            </a:r>
            <a:r>
              <a:rPr lang="zh-CN" altLang="en-US" dirty="0"/>
              <a:t>都得到一定的改善。</a:t>
            </a:r>
            <a:endParaRPr lang="en-US" altLang="zh-CN" dirty="0"/>
          </a:p>
        </p:txBody>
      </p:sp>
      <p:sp>
        <p:nvSpPr>
          <p:cNvPr id="11" name="文本框 10">
            <a:extLst>
              <a:ext uri="{FF2B5EF4-FFF2-40B4-BE49-F238E27FC236}">
                <a16:creationId xmlns:a16="http://schemas.microsoft.com/office/drawing/2014/main" id="{FC10B08E-5D07-FA8F-0257-16CACE605EE1}"/>
              </a:ext>
            </a:extLst>
          </p:cNvPr>
          <p:cNvSpPr txBox="1"/>
          <p:nvPr/>
        </p:nvSpPr>
        <p:spPr>
          <a:xfrm>
            <a:off x="0" y="4584614"/>
            <a:ext cx="5610688" cy="923330"/>
          </a:xfrm>
          <a:prstGeom prst="rect">
            <a:avLst/>
          </a:prstGeom>
          <a:noFill/>
        </p:spPr>
        <p:txBody>
          <a:bodyPr wrap="square" rtlCol="0">
            <a:spAutoFit/>
          </a:bodyPr>
          <a:lstStyle/>
          <a:p>
            <a:r>
              <a:rPr lang="en-US" altLang="zh-CN" dirty="0"/>
              <a:t>【</a:t>
            </a:r>
            <a:r>
              <a:rPr lang="zh-CN" altLang="en-US" dirty="0"/>
              <a:t>解决方法</a:t>
            </a:r>
            <a:r>
              <a:rPr lang="en-US" altLang="zh-CN" dirty="0"/>
              <a:t>】</a:t>
            </a:r>
          </a:p>
          <a:p>
            <a:r>
              <a:rPr lang="zh-CN" altLang="en-US" dirty="0"/>
              <a:t>添加襄樊饭店</a:t>
            </a:r>
            <a:r>
              <a:rPr lang="en-US" altLang="zh-CN" dirty="0"/>
              <a:t>-HLH-3</a:t>
            </a:r>
            <a:r>
              <a:rPr lang="zh-CN" altLang="en-US" dirty="0"/>
              <a:t>与襄阳樊城欣特药业</a:t>
            </a:r>
            <a:r>
              <a:rPr lang="en-US" altLang="zh-CN" dirty="0"/>
              <a:t>-HLH-1</a:t>
            </a:r>
            <a:r>
              <a:rPr lang="zh-CN" altLang="en-US" dirty="0"/>
              <a:t>小区双向邻区关系。</a:t>
            </a:r>
          </a:p>
        </p:txBody>
      </p:sp>
      <p:sp>
        <p:nvSpPr>
          <p:cNvPr id="10" name="文本框 9">
            <a:extLst>
              <a:ext uri="{FF2B5EF4-FFF2-40B4-BE49-F238E27FC236}">
                <a16:creationId xmlns:a16="http://schemas.microsoft.com/office/drawing/2014/main" id="{80D83B82-0137-5A47-73AE-2160488E86CE}"/>
              </a:ext>
            </a:extLst>
          </p:cNvPr>
          <p:cNvSpPr txBox="1"/>
          <p:nvPr/>
        </p:nvSpPr>
        <p:spPr>
          <a:xfrm>
            <a:off x="0" y="3020746"/>
            <a:ext cx="5308846" cy="1477328"/>
          </a:xfrm>
          <a:prstGeom prst="rect">
            <a:avLst/>
          </a:prstGeom>
          <a:noFill/>
        </p:spPr>
        <p:txBody>
          <a:bodyPr wrap="square" rtlCol="0">
            <a:spAutoFit/>
          </a:bodyPr>
          <a:lstStyle/>
          <a:p>
            <a:r>
              <a:rPr lang="en-US" altLang="zh-CN" dirty="0"/>
              <a:t>【</a:t>
            </a:r>
            <a:r>
              <a:rPr lang="zh-CN" altLang="en-US" dirty="0"/>
              <a:t>问题分析</a:t>
            </a:r>
            <a:r>
              <a:rPr lang="en-US" altLang="zh-CN" dirty="0"/>
              <a:t>】</a:t>
            </a:r>
          </a:p>
          <a:p>
            <a:r>
              <a:rPr lang="zh-CN" altLang="en-US" dirty="0"/>
              <a:t>邻区列表中国襄阳樊城欣特药业</a:t>
            </a:r>
            <a:r>
              <a:rPr lang="en-US" altLang="zh-CN" dirty="0"/>
              <a:t>-HLH-1</a:t>
            </a:r>
            <a:r>
              <a:rPr lang="zh-CN" altLang="en-US" dirty="0"/>
              <a:t>的信号较强，满足切换条件后一直不发生切换，通过核查襄樊饭店</a:t>
            </a:r>
            <a:r>
              <a:rPr lang="en-US" altLang="zh-CN" dirty="0"/>
              <a:t>-HLH-3</a:t>
            </a:r>
            <a:r>
              <a:rPr lang="zh-CN" altLang="en-US" dirty="0"/>
              <a:t>的邻区关系，发现襄樊饭店</a:t>
            </a:r>
            <a:r>
              <a:rPr lang="en-US" altLang="zh-CN" dirty="0"/>
              <a:t>-HLH-3</a:t>
            </a:r>
            <a:r>
              <a:rPr lang="zh-CN" altLang="en-US" dirty="0"/>
              <a:t>与襄阳樊城欣特药业</a:t>
            </a:r>
            <a:r>
              <a:rPr lang="en-US" altLang="zh-CN" dirty="0"/>
              <a:t>-HLH-1</a:t>
            </a:r>
            <a:r>
              <a:rPr lang="zh-CN" altLang="en-US" dirty="0"/>
              <a:t>小区未添加邻区关系。</a:t>
            </a:r>
          </a:p>
        </p:txBody>
      </p:sp>
      <p:sp>
        <p:nvSpPr>
          <p:cNvPr id="4" name="文本框 3">
            <a:extLst>
              <a:ext uri="{FF2B5EF4-FFF2-40B4-BE49-F238E27FC236}">
                <a16:creationId xmlns:a16="http://schemas.microsoft.com/office/drawing/2014/main" id="{A829E835-C32D-BCE4-49BA-538E80CD8886}"/>
              </a:ext>
            </a:extLst>
          </p:cNvPr>
          <p:cNvSpPr txBox="1"/>
          <p:nvPr/>
        </p:nvSpPr>
        <p:spPr>
          <a:xfrm>
            <a:off x="2277374" y="1573748"/>
            <a:ext cx="5339751" cy="400110"/>
          </a:xfrm>
          <a:prstGeom prst="rect">
            <a:avLst/>
          </a:prstGeom>
          <a:noFill/>
        </p:spPr>
        <p:txBody>
          <a:bodyPr wrap="square" rtlCol="0">
            <a:spAutoFit/>
          </a:bodyPr>
          <a:lstStyle/>
          <a:p>
            <a:r>
              <a:rPr lang="en-US" altLang="zh-CN" sz="2000" b="1" dirty="0">
                <a:solidFill>
                  <a:srgbClr val="FF0000"/>
                </a:solidFill>
                <a:latin typeface="+mj-ea"/>
                <a:ea typeface="+mj-ea"/>
              </a:rPr>
              <a:t>-</a:t>
            </a:r>
            <a:r>
              <a:rPr lang="zh-CN" altLang="en-US" sz="2000" b="1" dirty="0">
                <a:solidFill>
                  <a:srgbClr val="FF0000"/>
                </a:solidFill>
                <a:latin typeface="+mj-ea"/>
                <a:ea typeface="+mj-ea"/>
              </a:rPr>
              <a:t>小区邻区漏配导致速率低</a:t>
            </a:r>
            <a:endParaRPr lang="zh-CN" altLang="en-US" sz="2000" b="1" dirty="0">
              <a:latin typeface="+mj-ea"/>
              <a:ea typeface="+mj-ea"/>
            </a:endParaRPr>
          </a:p>
        </p:txBody>
      </p:sp>
    </p:spTree>
    <p:extLst>
      <p:ext uri="{BB962C8B-B14F-4D97-AF65-F5344CB8AC3E}">
        <p14:creationId xmlns:p14="http://schemas.microsoft.com/office/powerpoint/2010/main" val="121425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0"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6BF0B-496D-AE30-F8D5-64B9B28014E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7933C9D-7021-B954-8331-C98805FCD4B5}"/>
              </a:ext>
            </a:extLst>
          </p:cNvPr>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a:extLst>
              <a:ext uri="{FF2B5EF4-FFF2-40B4-BE49-F238E27FC236}">
                <a16:creationId xmlns:a16="http://schemas.microsoft.com/office/drawing/2014/main" id="{2B38AA2C-7CEA-12CA-B435-C13167FF01C7}"/>
              </a:ext>
            </a:extLst>
          </p:cNvPr>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F66AFF25-DBEE-8A3A-7A0D-6F05978631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a:extLst>
              <a:ext uri="{FF2B5EF4-FFF2-40B4-BE49-F238E27FC236}">
                <a16:creationId xmlns:a16="http://schemas.microsoft.com/office/drawing/2014/main" id="{30098F64-82CB-0B4C-EE91-54DAA03890F0}"/>
              </a:ext>
            </a:extLst>
          </p:cNvPr>
          <p:cNvSpPr txBox="1"/>
          <p:nvPr/>
        </p:nvSpPr>
        <p:spPr bwMode="auto">
          <a:xfrm>
            <a:off x="1064895" y="2073622"/>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4</a:t>
            </a:r>
            <a:r>
              <a:rPr lang="zh-CN" altLang="en-US" sz="2000" b="1" dirty="0">
                <a:solidFill>
                  <a:srgbClr val="005BAA"/>
                </a:solidFill>
              </a:rPr>
              <a:t>、业务优化</a:t>
            </a:r>
          </a:p>
        </p:txBody>
      </p:sp>
      <p:pic>
        <p:nvPicPr>
          <p:cNvPr id="4" name="图片 3" descr="D:\教材开发\教材开发word与PPT\图4-1-4 业务优化流程图.jpg">
            <a:extLst>
              <a:ext uri="{FF2B5EF4-FFF2-40B4-BE49-F238E27FC236}">
                <a16:creationId xmlns:a16="http://schemas.microsoft.com/office/drawing/2014/main" id="{2BFFD739-8F17-E0D1-FD9A-5DBB66DC088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870237" y="1294536"/>
            <a:ext cx="3966202" cy="5386504"/>
          </a:xfrm>
          <a:prstGeom prst="rect">
            <a:avLst/>
          </a:prstGeom>
          <a:noFill/>
          <a:ln>
            <a:noFill/>
          </a:ln>
        </p:spPr>
      </p:pic>
    </p:spTree>
    <p:extLst>
      <p:ext uri="{BB962C8B-B14F-4D97-AF65-F5344CB8AC3E}">
        <p14:creationId xmlns:p14="http://schemas.microsoft.com/office/powerpoint/2010/main" val="19126992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1064895" y="2073622"/>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4</a:t>
            </a:r>
            <a:r>
              <a:rPr lang="zh-CN" altLang="en-US" sz="2000" b="1" dirty="0">
                <a:solidFill>
                  <a:srgbClr val="005BAA"/>
                </a:solidFill>
              </a:rPr>
              <a:t>、业务优化</a:t>
            </a:r>
          </a:p>
        </p:txBody>
      </p:sp>
      <p:sp>
        <p:nvSpPr>
          <p:cNvPr id="8" name="矩形 7"/>
          <p:cNvSpPr/>
          <p:nvPr/>
        </p:nvSpPr>
        <p:spPr>
          <a:xfrm>
            <a:off x="1064895" y="3067396"/>
            <a:ext cx="4415991" cy="2554545"/>
          </a:xfrm>
          <a:prstGeom prst="rect">
            <a:avLst/>
          </a:prstGeom>
        </p:spPr>
        <p:txBody>
          <a:bodyPr wrap="square">
            <a:spAutoFit/>
          </a:bodyPr>
          <a:lstStyle/>
          <a:p>
            <a:pPr>
              <a:lnSpc>
                <a:spcPct val="150000"/>
              </a:lnSpc>
              <a:spcAft>
                <a:spcPts val="0"/>
              </a:spcAft>
            </a:pPr>
            <a:r>
              <a:rPr lang="zh-CN" altLang="zh-CN" sz="1600" kern="100" dirty="0">
                <a:solidFill>
                  <a:srgbClr val="FF0000"/>
                </a:solidFill>
                <a:latin typeface="+mj-ea"/>
                <a:ea typeface="+mj-ea"/>
              </a:rPr>
              <a:t>业务优化主要内容是资源容量分析和优化。</a:t>
            </a:r>
            <a:endParaRPr lang="en-US" altLang="zh-CN" sz="1600" kern="100" dirty="0">
              <a:solidFill>
                <a:srgbClr val="FF0000"/>
              </a:solidFill>
              <a:latin typeface="+mj-ea"/>
              <a:ea typeface="+mj-ea"/>
            </a:endParaRPr>
          </a:p>
          <a:p>
            <a:pPr>
              <a:lnSpc>
                <a:spcPct val="150000"/>
              </a:lnSpc>
              <a:spcAft>
                <a:spcPts val="0"/>
              </a:spcAft>
            </a:pPr>
            <a:endParaRPr lang="zh-CN" altLang="zh-CN" sz="1600" kern="100" dirty="0">
              <a:latin typeface="+mj-ea"/>
              <a:ea typeface="+mj-ea"/>
            </a:endParaRPr>
          </a:p>
          <a:p>
            <a:pPr>
              <a:lnSpc>
                <a:spcPct val="150000"/>
              </a:lnSpc>
              <a:spcAft>
                <a:spcPts val="0"/>
              </a:spcAft>
            </a:pPr>
            <a:r>
              <a:rPr lang="zh-CN" altLang="zh-CN" sz="1600" kern="100" dirty="0">
                <a:latin typeface="+mj-ea"/>
                <a:ea typeface="+mj-ea"/>
              </a:rPr>
              <a:t>资源容量分析主要针对无线</a:t>
            </a:r>
            <a:r>
              <a:rPr lang="en-US" altLang="zh-CN" sz="1600" kern="100" dirty="0">
                <a:latin typeface="+mj-ea"/>
                <a:ea typeface="+mj-ea"/>
              </a:rPr>
              <a:t> </a:t>
            </a:r>
            <a:r>
              <a:rPr lang="en-US" altLang="zh-CN" sz="1600" kern="100" dirty="0" err="1">
                <a:latin typeface="+mj-ea"/>
                <a:ea typeface="+mj-ea"/>
              </a:rPr>
              <a:t>EUtran</a:t>
            </a:r>
            <a:r>
              <a:rPr lang="en-US" altLang="zh-CN" sz="1600" kern="100" dirty="0">
                <a:latin typeface="+mj-ea"/>
                <a:ea typeface="+mj-ea"/>
              </a:rPr>
              <a:t> </a:t>
            </a:r>
            <a:r>
              <a:rPr lang="zh-CN" altLang="zh-CN" sz="1600" kern="100" dirty="0">
                <a:latin typeface="+mj-ea"/>
                <a:ea typeface="+mj-ea"/>
              </a:rPr>
              <a:t>侧资源利用率分析，评估网络当前资源利用情况是否会对网络的运营带来影响，以达到对网络资源拥塞风险预防的目的。</a:t>
            </a:r>
            <a:endParaRPr lang="en-US" altLang="zh-CN" sz="1600" kern="100" dirty="0">
              <a:latin typeface="+mj-ea"/>
              <a:ea typeface="+mj-ea"/>
            </a:endParaRPr>
          </a:p>
          <a:p>
            <a:pPr>
              <a:spcAft>
                <a:spcPts val="0"/>
              </a:spcAft>
            </a:pPr>
            <a:endParaRPr lang="en-US" altLang="zh-CN" sz="1600" kern="100" dirty="0">
              <a:latin typeface="+mj-ea"/>
              <a:ea typeface="+mj-ea"/>
            </a:endParaRPr>
          </a:p>
        </p:txBody>
      </p:sp>
      <p:sp>
        <p:nvSpPr>
          <p:cNvPr id="2" name="矩形 1"/>
          <p:cNvSpPr/>
          <p:nvPr/>
        </p:nvSpPr>
        <p:spPr>
          <a:xfrm>
            <a:off x="5484495" y="1347268"/>
            <a:ext cx="6096000" cy="4862870"/>
          </a:xfrm>
          <a:prstGeom prst="rect">
            <a:avLst/>
          </a:prstGeom>
        </p:spPr>
        <p:txBody>
          <a:bodyPr>
            <a:spAutoFit/>
          </a:bodyPr>
          <a:lstStyle/>
          <a:p>
            <a:pPr marL="342900" lvl="0" indent="-342900">
              <a:spcAft>
                <a:spcPts val="0"/>
              </a:spcAft>
              <a:buAutoNum type="alphaLcPeriod"/>
            </a:pPr>
            <a:r>
              <a:rPr lang="zh-CN" altLang="zh-CN" kern="100" dirty="0">
                <a:solidFill>
                  <a:srgbClr val="FF0000"/>
                </a:solidFill>
                <a:latin typeface="+mj-ea"/>
              </a:rPr>
              <a:t>资源容量相关数据收集</a:t>
            </a:r>
            <a:endParaRPr lang="en-US" altLang="zh-CN" kern="100" dirty="0">
              <a:solidFill>
                <a:srgbClr val="FF0000"/>
              </a:solidFill>
              <a:latin typeface="+mj-ea"/>
            </a:endParaRPr>
          </a:p>
          <a:p>
            <a:pPr marL="285750" lvl="0" indent="-285750">
              <a:spcAft>
                <a:spcPts val="0"/>
              </a:spcAft>
              <a:buFont typeface="Arial" panose="020B0604020202020204" pitchFamily="34" charset="0"/>
              <a:buChar char="•"/>
            </a:pPr>
            <a:r>
              <a:rPr lang="zh-CN" altLang="zh-CN" sz="1600" kern="100" dirty="0">
                <a:latin typeface="+mj-ea"/>
              </a:rPr>
              <a:t>收集目标分析网络的配置脚本、</a:t>
            </a:r>
            <a:r>
              <a:rPr lang="en-US" altLang="zh-CN" sz="1600" kern="100" dirty="0" err="1">
                <a:latin typeface="+mj-ea"/>
              </a:rPr>
              <a:t>eNodeB</a:t>
            </a:r>
            <a:r>
              <a:rPr lang="en-US" altLang="zh-CN" sz="1600" kern="100" dirty="0">
                <a:latin typeface="+mj-ea"/>
              </a:rPr>
              <a:t> </a:t>
            </a:r>
            <a:r>
              <a:rPr lang="zh-CN" altLang="zh-CN" sz="1600" kern="100" dirty="0">
                <a:latin typeface="+mj-ea"/>
              </a:rPr>
              <a:t>性能数据，为后续的资源容量分析做准备。</a:t>
            </a:r>
            <a:endParaRPr lang="en-US" altLang="zh-CN" sz="1600" kern="100" dirty="0">
              <a:latin typeface="+mj-ea"/>
            </a:endParaRPr>
          </a:p>
          <a:p>
            <a:pPr lvl="0">
              <a:spcAft>
                <a:spcPts val="0"/>
              </a:spcAft>
            </a:pPr>
            <a:endParaRPr lang="zh-CN" altLang="zh-CN" kern="100" dirty="0">
              <a:latin typeface="+mj-ea"/>
            </a:endParaRPr>
          </a:p>
          <a:p>
            <a:r>
              <a:rPr lang="en-US" altLang="zh-CN" kern="100" dirty="0">
                <a:solidFill>
                  <a:srgbClr val="FF0000"/>
                </a:solidFill>
                <a:latin typeface="+mj-ea"/>
              </a:rPr>
              <a:t>b. </a:t>
            </a:r>
            <a:r>
              <a:rPr lang="zh-CN" altLang="zh-CN" kern="100" dirty="0">
                <a:solidFill>
                  <a:srgbClr val="FF0000"/>
                </a:solidFill>
                <a:latin typeface="+mj-ea"/>
              </a:rPr>
              <a:t>无线资源容量利用率分析及建议</a:t>
            </a:r>
            <a:endParaRPr lang="en-US" altLang="zh-CN" kern="100" dirty="0">
              <a:solidFill>
                <a:srgbClr val="FF0000"/>
              </a:solidFill>
              <a:latin typeface="+mj-ea"/>
            </a:endParaRPr>
          </a:p>
          <a:p>
            <a:pPr marL="285750" indent="-285750">
              <a:buFont typeface="Arial" panose="020B0604020202020204" pitchFamily="34" charset="0"/>
              <a:buChar char="•"/>
            </a:pPr>
            <a:r>
              <a:rPr lang="zh-CN" altLang="zh-CN" sz="1600" kern="100" dirty="0">
                <a:latin typeface="+mj-ea"/>
              </a:rPr>
              <a:t>通过对网络用户面及无线资源利用率分析，分析网络设备能力是否能满足用户业务的需求，根据分析结果提出改进措施，并以此对网络做适当的调整，用以提升网络设备性能，达到设备价值最大化的目标。针对利用率很高的资源项，指出拥塞风险并给出优化建议。</a:t>
            </a:r>
            <a:endParaRPr lang="en-US" altLang="zh-CN" sz="1600" kern="100" dirty="0">
              <a:latin typeface="+mj-ea"/>
            </a:endParaRPr>
          </a:p>
          <a:p>
            <a:endParaRPr lang="zh-CN" altLang="zh-CN" kern="100" dirty="0">
              <a:latin typeface="+mj-ea"/>
            </a:endParaRPr>
          </a:p>
          <a:p>
            <a:r>
              <a:rPr lang="en-US" altLang="zh-CN" kern="100" dirty="0">
                <a:solidFill>
                  <a:srgbClr val="FF0000"/>
                </a:solidFill>
                <a:latin typeface="+mj-ea"/>
              </a:rPr>
              <a:t>c. </a:t>
            </a:r>
            <a:r>
              <a:rPr lang="zh-CN" altLang="zh-CN" kern="100" dirty="0">
                <a:solidFill>
                  <a:srgbClr val="FF0000"/>
                </a:solidFill>
                <a:latin typeface="+mj-ea"/>
              </a:rPr>
              <a:t>传输资源利用率分析及建议</a:t>
            </a:r>
            <a:endParaRPr lang="en-US" altLang="zh-CN" kern="100" dirty="0">
              <a:solidFill>
                <a:srgbClr val="FF0000"/>
              </a:solidFill>
              <a:latin typeface="+mj-ea"/>
            </a:endParaRPr>
          </a:p>
          <a:p>
            <a:pPr marL="285750" indent="-285750">
              <a:buFont typeface="Arial" panose="020B0604020202020204" pitchFamily="34" charset="0"/>
              <a:buChar char="•"/>
            </a:pPr>
            <a:r>
              <a:rPr lang="zh-CN" altLang="zh-CN" kern="100" dirty="0">
                <a:latin typeface="+mj-ea"/>
              </a:rPr>
              <a:t>针对</a:t>
            </a:r>
            <a:r>
              <a:rPr lang="en-US" altLang="zh-CN" kern="100" dirty="0">
                <a:latin typeface="+mj-ea"/>
              </a:rPr>
              <a:t>LTE</a:t>
            </a:r>
            <a:r>
              <a:rPr lang="zh-CN" altLang="zh-CN" kern="100" dirty="0">
                <a:latin typeface="+mj-ea"/>
              </a:rPr>
              <a:t>高速率高流量的特性，传输资源需要承受的流量冲击更加巨大，通过对</a:t>
            </a:r>
            <a:r>
              <a:rPr lang="en-US" altLang="zh-CN" kern="100" dirty="0">
                <a:latin typeface="+mj-ea"/>
              </a:rPr>
              <a:t>S1</a:t>
            </a:r>
            <a:r>
              <a:rPr lang="zh-CN" altLang="zh-CN" kern="100" dirty="0">
                <a:latin typeface="+mj-ea"/>
              </a:rPr>
              <a:t>和</a:t>
            </a:r>
            <a:r>
              <a:rPr lang="en-US" altLang="zh-CN" kern="100" dirty="0">
                <a:latin typeface="+mj-ea"/>
              </a:rPr>
              <a:t>X2</a:t>
            </a:r>
            <a:r>
              <a:rPr lang="zh-CN" altLang="zh-CN" kern="100" dirty="0">
                <a:latin typeface="+mj-ea"/>
              </a:rPr>
              <a:t>的用户面利用率分析来发现网络传输资源可能存在的拥塞情况，及时为传输资源扩容给出建议。</a:t>
            </a:r>
            <a:endParaRPr lang="en-US" altLang="zh-CN" kern="100" dirty="0">
              <a:latin typeface="+mj-ea"/>
            </a:endParaRPr>
          </a:p>
          <a:p>
            <a:endParaRPr lang="zh-CN" altLang="zh-CN" kern="100" dirty="0">
              <a:latin typeface="+mj-ea"/>
            </a:endParaRPr>
          </a:p>
          <a:p>
            <a:r>
              <a:rPr lang="zh-CN" altLang="zh-CN" kern="100" dirty="0">
                <a:solidFill>
                  <a:srgbClr val="FF0000"/>
                </a:solidFill>
                <a:latin typeface="+mj-ea"/>
                <a:cs typeface="Times New Roman" panose="02020603050405020304" pitchFamily="18" charset="0"/>
              </a:rPr>
              <a:t>注意，业务优化需要输出资源容量分析优化报告。</a:t>
            </a:r>
            <a:endParaRPr lang="zh-CN" altLang="en-US" dirty="0">
              <a:solidFill>
                <a:srgbClr val="FF0000"/>
              </a:solidFill>
              <a:latin typeface="+mj-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459439"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初探</a:t>
            </a: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网络优化</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优化各阶段主要工作内容</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1073047" y="2226415"/>
            <a:ext cx="260640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eaLnBrk="1" hangingPunct="1">
              <a:lnSpc>
                <a:spcPct val="90000"/>
              </a:lnSpc>
              <a:defRPr/>
            </a:pPr>
            <a:r>
              <a:rPr lang="en-US" altLang="zh-CN" sz="2000" b="1" dirty="0">
                <a:solidFill>
                  <a:srgbClr val="005BAA"/>
                </a:solidFill>
              </a:rPr>
              <a:t>5</a:t>
            </a:r>
            <a:r>
              <a:rPr lang="zh-CN" altLang="en-US" sz="2000" b="1" dirty="0">
                <a:solidFill>
                  <a:srgbClr val="005BAA"/>
                </a:solidFill>
              </a:rPr>
              <a:t>、网络验收</a:t>
            </a:r>
          </a:p>
        </p:txBody>
      </p:sp>
      <p:sp>
        <p:nvSpPr>
          <p:cNvPr id="9" name="矩形 8"/>
          <p:cNvSpPr/>
          <p:nvPr/>
        </p:nvSpPr>
        <p:spPr>
          <a:xfrm>
            <a:off x="2138793" y="3458708"/>
            <a:ext cx="8172438" cy="874407"/>
          </a:xfrm>
          <a:prstGeom prst="rect">
            <a:avLst/>
          </a:prstGeom>
        </p:spPr>
        <p:txBody>
          <a:bodyPr wrap="square">
            <a:spAutoFit/>
          </a:bodyPr>
          <a:lstStyle/>
          <a:p>
            <a:pPr>
              <a:lnSpc>
                <a:spcPct val="150000"/>
              </a:lnSpc>
            </a:pPr>
            <a:r>
              <a:rPr lang="zh-CN" altLang="en-US" sz="1800" dirty="0">
                <a:latin typeface="+mj-ea"/>
                <a:ea typeface="+mj-ea"/>
              </a:rPr>
              <a:t>网络验收根据各地市各运营商具体规范要求而确定，不同运营商不同项目验收标准会有略微差异。</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无线网络评估基本概念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2" name="组合 1"/>
          <p:cNvGrpSpPr/>
          <p:nvPr/>
        </p:nvGrpSpPr>
        <p:grpSpPr>
          <a:xfrm>
            <a:off x="1263004" y="2218253"/>
            <a:ext cx="5350860" cy="3634136"/>
            <a:chOff x="1396169" y="2038696"/>
            <a:chExt cx="5350860" cy="3634136"/>
          </a:xfrm>
        </p:grpSpPr>
        <p:sp>
          <p:nvSpPr>
            <p:cNvPr id="10" name="MH_Desc_1"/>
            <p:cNvSpPr/>
            <p:nvPr>
              <p:custDataLst>
                <p:tags r:id="rId1"/>
              </p:custDataLst>
            </p:nvPr>
          </p:nvSpPr>
          <p:spPr>
            <a:xfrm>
              <a:off x="1396169" y="2503504"/>
              <a:ext cx="5350860" cy="3169328"/>
            </a:xfrm>
            <a:custGeom>
              <a:avLst/>
              <a:gdLst>
                <a:gd name="connsiteX0" fmla="*/ 0 w 2160000"/>
                <a:gd name="connsiteY0" fmla="*/ 1377240 h 1593240"/>
                <a:gd name="connsiteX1" fmla="*/ 54000 w 2160000"/>
                <a:gd name="connsiteY1" fmla="*/ 1377240 h 1593240"/>
                <a:gd name="connsiteX2" fmla="*/ 54000 w 2160000"/>
                <a:gd name="connsiteY2" fmla="*/ 1539240 h 1593240"/>
                <a:gd name="connsiteX3" fmla="*/ 2106000 w 2160000"/>
                <a:gd name="connsiteY3" fmla="*/ 1539240 h 1593240"/>
                <a:gd name="connsiteX4" fmla="*/ 2106000 w 2160000"/>
                <a:gd name="connsiteY4" fmla="*/ 1377240 h 1593240"/>
                <a:gd name="connsiteX5" fmla="*/ 2160000 w 2160000"/>
                <a:gd name="connsiteY5" fmla="*/ 1377240 h 1593240"/>
                <a:gd name="connsiteX6" fmla="*/ 2160000 w 2160000"/>
                <a:gd name="connsiteY6" fmla="*/ 1539240 h 1593240"/>
                <a:gd name="connsiteX7" fmla="*/ 2160000 w 2160000"/>
                <a:gd name="connsiteY7" fmla="*/ 1593240 h 1593240"/>
                <a:gd name="connsiteX8" fmla="*/ 2106000 w 2160000"/>
                <a:gd name="connsiteY8" fmla="*/ 1593240 h 1593240"/>
                <a:gd name="connsiteX9" fmla="*/ 54000 w 2160000"/>
                <a:gd name="connsiteY9" fmla="*/ 1593240 h 1593240"/>
                <a:gd name="connsiteX10" fmla="*/ 0 w 2160000"/>
                <a:gd name="connsiteY10" fmla="*/ 1593240 h 1593240"/>
                <a:gd name="connsiteX11" fmla="*/ 0 w 2160000"/>
                <a:gd name="connsiteY11" fmla="*/ 1539240 h 1593240"/>
                <a:gd name="connsiteX12" fmla="*/ 1800000 w 2160000"/>
                <a:gd name="connsiteY12" fmla="*/ 0 h 1593240"/>
                <a:gd name="connsiteX13" fmla="*/ 2106000 w 2160000"/>
                <a:gd name="connsiteY13" fmla="*/ 0 h 1593240"/>
                <a:gd name="connsiteX14" fmla="*/ 2160000 w 2160000"/>
                <a:gd name="connsiteY14" fmla="*/ 0 h 1593240"/>
                <a:gd name="connsiteX15" fmla="*/ 2160000 w 2160000"/>
                <a:gd name="connsiteY15" fmla="*/ 54000 h 1593240"/>
                <a:gd name="connsiteX16" fmla="*/ 2160000 w 2160000"/>
                <a:gd name="connsiteY16" fmla="*/ 216000 h 1593240"/>
                <a:gd name="connsiteX17" fmla="*/ 2106000 w 2160000"/>
                <a:gd name="connsiteY17" fmla="*/ 216000 h 1593240"/>
                <a:gd name="connsiteX18" fmla="*/ 2106000 w 2160000"/>
                <a:gd name="connsiteY18" fmla="*/ 54000 h 1593240"/>
                <a:gd name="connsiteX19" fmla="*/ 1800000 w 2160000"/>
                <a:gd name="connsiteY19" fmla="*/ 54000 h 1593240"/>
                <a:gd name="connsiteX20" fmla="*/ 0 w 2160000"/>
                <a:gd name="connsiteY20" fmla="*/ 0 h 1593240"/>
                <a:gd name="connsiteX21" fmla="*/ 54000 w 2160000"/>
                <a:gd name="connsiteY21" fmla="*/ 0 h 1593240"/>
                <a:gd name="connsiteX22" fmla="*/ 360000 w 2160000"/>
                <a:gd name="connsiteY22" fmla="*/ 0 h 1593240"/>
                <a:gd name="connsiteX23" fmla="*/ 360000 w 2160000"/>
                <a:gd name="connsiteY23" fmla="*/ 54000 h 1593240"/>
                <a:gd name="connsiteX24" fmla="*/ 54000 w 2160000"/>
                <a:gd name="connsiteY24" fmla="*/ 54000 h 1593240"/>
                <a:gd name="connsiteX25" fmla="*/ 54000 w 2160000"/>
                <a:gd name="connsiteY25" fmla="*/ 216000 h 1593240"/>
                <a:gd name="connsiteX26" fmla="*/ 0 w 2160000"/>
                <a:gd name="connsiteY26" fmla="*/ 216000 h 1593240"/>
                <a:gd name="connsiteX27" fmla="*/ 0 w 2160000"/>
                <a:gd name="connsiteY27" fmla="*/ 54000 h 159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0000" h="1593240">
                  <a:moveTo>
                    <a:pt x="0" y="1377240"/>
                  </a:moveTo>
                  <a:lnTo>
                    <a:pt x="54000" y="1377240"/>
                  </a:lnTo>
                  <a:lnTo>
                    <a:pt x="54000" y="1539240"/>
                  </a:lnTo>
                  <a:lnTo>
                    <a:pt x="2106000" y="1539240"/>
                  </a:lnTo>
                  <a:lnTo>
                    <a:pt x="2106000" y="1377240"/>
                  </a:lnTo>
                  <a:lnTo>
                    <a:pt x="2160000" y="1377240"/>
                  </a:lnTo>
                  <a:lnTo>
                    <a:pt x="2160000" y="1539240"/>
                  </a:lnTo>
                  <a:lnTo>
                    <a:pt x="2160000" y="1593240"/>
                  </a:lnTo>
                  <a:lnTo>
                    <a:pt x="2106000" y="1593240"/>
                  </a:lnTo>
                  <a:lnTo>
                    <a:pt x="54000" y="1593240"/>
                  </a:lnTo>
                  <a:lnTo>
                    <a:pt x="0" y="1593240"/>
                  </a:lnTo>
                  <a:lnTo>
                    <a:pt x="0" y="1539240"/>
                  </a:lnTo>
                  <a:close/>
                  <a:moveTo>
                    <a:pt x="1800000" y="0"/>
                  </a:moveTo>
                  <a:lnTo>
                    <a:pt x="2106000" y="0"/>
                  </a:lnTo>
                  <a:lnTo>
                    <a:pt x="2160000" y="0"/>
                  </a:lnTo>
                  <a:lnTo>
                    <a:pt x="2160000" y="54000"/>
                  </a:lnTo>
                  <a:lnTo>
                    <a:pt x="2160000" y="216000"/>
                  </a:lnTo>
                  <a:lnTo>
                    <a:pt x="2106000" y="216000"/>
                  </a:lnTo>
                  <a:lnTo>
                    <a:pt x="2106000" y="54000"/>
                  </a:lnTo>
                  <a:lnTo>
                    <a:pt x="1800000" y="54000"/>
                  </a:lnTo>
                  <a:close/>
                  <a:moveTo>
                    <a:pt x="0" y="0"/>
                  </a:moveTo>
                  <a:lnTo>
                    <a:pt x="54000" y="0"/>
                  </a:lnTo>
                  <a:lnTo>
                    <a:pt x="360000" y="0"/>
                  </a:lnTo>
                  <a:lnTo>
                    <a:pt x="360000" y="54000"/>
                  </a:lnTo>
                  <a:lnTo>
                    <a:pt x="54000" y="54000"/>
                  </a:lnTo>
                  <a:lnTo>
                    <a:pt x="54000" y="216000"/>
                  </a:lnTo>
                  <a:lnTo>
                    <a:pt x="0" y="216000"/>
                  </a:lnTo>
                  <a:lnTo>
                    <a:pt x="0" y="54000"/>
                  </a:lnTo>
                  <a:close/>
                </a:path>
              </a:pathLst>
            </a:custGeom>
            <a:solidFill>
              <a:schemeClr val="accent1"/>
            </a:solidFill>
          </p:spPr>
          <p:txBody>
            <a:bodyPr lIns="180000" tIns="144000" rIns="180000" anchor="ctr">
              <a:normAutofit/>
            </a:bodyPr>
            <a:lstStyle/>
            <a:p>
              <a:pPr marL="285750" indent="-285750" algn="just">
                <a:lnSpc>
                  <a:spcPct val="120000"/>
                </a:lnSpc>
                <a:buFont typeface="Arial" panose="020B0604020202020204" pitchFamily="34" charset="0"/>
                <a:buChar char="•"/>
                <a:defRPr/>
              </a:pPr>
              <a:r>
                <a:rPr lang="zh-CN" altLang="en-US" dirty="0"/>
                <a:t>网络评估的标准可以适用于评估各省、地市</a:t>
              </a:r>
              <a:r>
                <a:rPr lang="en-US" altLang="zh-CN" dirty="0"/>
                <a:t>LTE</a:t>
              </a:r>
              <a:r>
                <a:rPr lang="zh-CN" altLang="en-US" dirty="0"/>
                <a:t>网络性能、工程建设质量情况；</a:t>
              </a:r>
              <a:endParaRPr lang="en-US" altLang="zh-CN" dirty="0"/>
            </a:p>
            <a:p>
              <a:pPr marL="285750" indent="-285750" algn="just">
                <a:lnSpc>
                  <a:spcPct val="120000"/>
                </a:lnSpc>
                <a:buFont typeface="Arial" panose="020B0604020202020204" pitchFamily="34" charset="0"/>
                <a:buChar char="•"/>
                <a:defRPr/>
              </a:pPr>
              <a:r>
                <a:rPr lang="zh-CN" altLang="en-US" dirty="0"/>
                <a:t>评估端到端、客户感知的业务和网络质量情况；</a:t>
              </a:r>
              <a:endParaRPr lang="en-US" altLang="zh-CN" dirty="0"/>
            </a:p>
            <a:p>
              <a:pPr marL="285750" indent="-285750" algn="just">
                <a:lnSpc>
                  <a:spcPct val="120000"/>
                </a:lnSpc>
                <a:buFont typeface="Arial" panose="020B0604020202020204" pitchFamily="34" charset="0"/>
                <a:buChar char="•"/>
                <a:defRPr/>
              </a:pPr>
              <a:r>
                <a:rPr lang="zh-CN" altLang="en-US" dirty="0"/>
                <a:t>分析</a:t>
              </a:r>
              <a:r>
                <a:rPr lang="en-US" altLang="zh-CN" dirty="0"/>
                <a:t>LTE</a:t>
              </a:r>
              <a:r>
                <a:rPr lang="zh-CN" altLang="en-US" dirty="0"/>
                <a:t>网络性能、客户感知的网络和业务质量的短板区域和短板指标。</a:t>
              </a:r>
            </a:p>
          </p:txBody>
        </p:sp>
        <p:sp>
          <p:nvSpPr>
            <p:cNvPr id="13" name="MH_SubTitle_1"/>
            <p:cNvSpPr/>
            <p:nvPr>
              <p:custDataLst>
                <p:tags r:id="rId2"/>
              </p:custDataLst>
            </p:nvPr>
          </p:nvSpPr>
          <p:spPr>
            <a:xfrm>
              <a:off x="2654755" y="2038696"/>
              <a:ext cx="2833687" cy="1028700"/>
            </a:xfrm>
            <a:prstGeom prst="rect">
              <a:avLst/>
            </a:prstGeom>
          </p:spPr>
          <p:txBody>
            <a:bodyPr lIns="0" tIns="0" rIns="0" bIns="0" anchor="ctr">
              <a:normAutofit/>
            </a:bodyPr>
            <a:lstStyle/>
            <a:p>
              <a:pPr algn="ctr">
                <a:defRPr/>
              </a:pPr>
              <a:r>
                <a:rPr lang="zh-CN" altLang="en-US" sz="2800" b="1" kern="0" dirty="0">
                  <a:solidFill>
                    <a:schemeClr val="accent1"/>
                  </a:solidFill>
                  <a:cs typeface="宋体" panose="02010600030101010101" pitchFamily="2" charset="-122"/>
                </a:rPr>
                <a:t>基本目标</a:t>
              </a:r>
            </a:p>
          </p:txBody>
        </p:sp>
      </p:grpSp>
      <p:sp>
        <p:nvSpPr>
          <p:cNvPr id="5" name="矩形 4"/>
          <p:cNvSpPr/>
          <p:nvPr/>
        </p:nvSpPr>
        <p:spPr>
          <a:xfrm>
            <a:off x="7466022" y="3067396"/>
            <a:ext cx="3839361" cy="2400657"/>
          </a:xfrm>
          <a:prstGeom prst="rect">
            <a:avLst/>
          </a:prstGeom>
        </p:spPr>
        <p:txBody>
          <a:bodyPr wrap="square">
            <a:spAutoFit/>
          </a:bodyPr>
          <a:lstStyle/>
          <a:p>
            <a:pPr fontAlgn="base">
              <a:lnSpc>
                <a:spcPct val="150000"/>
              </a:lnSpc>
              <a:spcBef>
                <a:spcPts val="600"/>
              </a:spcBef>
              <a:spcAft>
                <a:spcPts val="600"/>
              </a:spcAft>
            </a:pPr>
            <a:r>
              <a:rPr lang="en-US" altLang="zh-CN" sz="2000" dirty="0">
                <a:solidFill>
                  <a:srgbClr val="000000"/>
                </a:solidFill>
                <a:latin typeface="微软雅黑" panose="020B0503020204020204" charset="-122"/>
              </a:rPr>
              <a:t>LTE</a:t>
            </a:r>
            <a:r>
              <a:rPr lang="zh-CN" altLang="zh-CN" sz="2000" dirty="0">
                <a:solidFill>
                  <a:srgbClr val="000000"/>
                </a:solidFill>
                <a:latin typeface="微软雅黑" panose="020B0503020204020204" charset="-122"/>
              </a:rPr>
              <a:t>网络质量评估体系包含</a:t>
            </a:r>
            <a:r>
              <a:rPr lang="zh-CN" altLang="en-US" sz="2000" dirty="0">
                <a:solidFill>
                  <a:srgbClr val="000000"/>
                </a:solidFill>
                <a:latin typeface="微软雅黑" panose="020B0503020204020204" charset="-122"/>
              </a:rPr>
              <a:t>：</a:t>
            </a:r>
            <a:endParaRPr lang="en-US" altLang="zh-CN" sz="2000" dirty="0">
              <a:solidFill>
                <a:srgbClr val="000000"/>
              </a:solidFill>
              <a:latin typeface="微软雅黑" panose="020B0503020204020204" charset="-122"/>
            </a:endParaRPr>
          </a:p>
          <a:p>
            <a:pPr marL="800100" lvl="1" indent="-342900" fontAlgn="base">
              <a:lnSpc>
                <a:spcPct val="150000"/>
              </a:lnSpc>
              <a:spcBef>
                <a:spcPts val="600"/>
              </a:spcBef>
              <a:spcAft>
                <a:spcPts val="600"/>
              </a:spcAft>
              <a:buFont typeface="Arial" panose="020B0604020202020204" pitchFamily="34" charset="0"/>
              <a:buChar char="•"/>
            </a:pPr>
            <a:r>
              <a:rPr lang="zh-CN" altLang="zh-CN" sz="2000" dirty="0">
                <a:solidFill>
                  <a:srgbClr val="000000"/>
                </a:solidFill>
                <a:latin typeface="微软雅黑" panose="020B0503020204020204" charset="-122"/>
              </a:rPr>
              <a:t>网络测试评估</a:t>
            </a:r>
            <a:endParaRPr lang="en-US" altLang="zh-CN" sz="2000" dirty="0">
              <a:solidFill>
                <a:srgbClr val="000000"/>
              </a:solidFill>
              <a:latin typeface="微软雅黑" panose="020B0503020204020204" charset="-122"/>
            </a:endParaRPr>
          </a:p>
          <a:p>
            <a:pPr marL="800100" lvl="1" indent="-342900" fontAlgn="base">
              <a:lnSpc>
                <a:spcPct val="150000"/>
              </a:lnSpc>
              <a:spcBef>
                <a:spcPts val="600"/>
              </a:spcBef>
              <a:spcAft>
                <a:spcPts val="600"/>
              </a:spcAft>
              <a:buFont typeface="Arial" panose="020B0604020202020204" pitchFamily="34" charset="0"/>
              <a:buChar char="•"/>
            </a:pPr>
            <a:r>
              <a:rPr lang="zh-CN" altLang="zh-CN" sz="2000" dirty="0">
                <a:solidFill>
                  <a:srgbClr val="000000"/>
                </a:solidFill>
                <a:latin typeface="微软雅黑" panose="020B0503020204020204" charset="-122"/>
              </a:rPr>
              <a:t>网管指标评估</a:t>
            </a:r>
            <a:endParaRPr lang="en-US" altLang="zh-CN" sz="2000" dirty="0">
              <a:solidFill>
                <a:srgbClr val="000000"/>
              </a:solidFill>
              <a:latin typeface="微软雅黑" panose="020B0503020204020204" charset="-122"/>
            </a:endParaRPr>
          </a:p>
          <a:p>
            <a:pPr marL="800100" lvl="1" indent="-342900" fontAlgn="base">
              <a:lnSpc>
                <a:spcPct val="150000"/>
              </a:lnSpc>
              <a:spcBef>
                <a:spcPts val="600"/>
              </a:spcBef>
              <a:spcAft>
                <a:spcPts val="600"/>
              </a:spcAft>
              <a:buFont typeface="Arial" panose="020B0604020202020204" pitchFamily="34" charset="0"/>
              <a:buChar char="•"/>
            </a:pPr>
            <a:r>
              <a:rPr lang="zh-CN" altLang="zh-CN" sz="2000" dirty="0">
                <a:solidFill>
                  <a:srgbClr val="000000"/>
                </a:solidFill>
                <a:latin typeface="微软雅黑" panose="020B0503020204020204" charset="-122"/>
              </a:rPr>
              <a:t>信令监测评估等</a:t>
            </a:r>
            <a:endParaRPr lang="zh-CN" altLang="en-US" sz="2000" dirty="0">
              <a:solidFill>
                <a:srgbClr val="000000"/>
              </a:solidFill>
              <a:latin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600250" y="53499"/>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无线网络评估基本概念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232910" y="-9402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1"/>
          <p:cNvSpPr txBox="1"/>
          <p:nvPr/>
        </p:nvSpPr>
        <p:spPr bwMode="auto">
          <a:xfrm>
            <a:off x="831985" y="176612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室外连续覆盖标准</a:t>
            </a:r>
          </a:p>
        </p:txBody>
      </p:sp>
      <p:pic>
        <p:nvPicPr>
          <p:cNvPr id="11" name="图片 10"/>
          <p:cNvPicPr>
            <a:picLocks noChangeAspect="1"/>
          </p:cNvPicPr>
          <p:nvPr/>
        </p:nvPicPr>
        <p:blipFill>
          <a:blip r:embed="rId3"/>
          <a:stretch>
            <a:fillRect/>
          </a:stretch>
        </p:blipFill>
        <p:spPr>
          <a:xfrm>
            <a:off x="1137287" y="3200158"/>
            <a:ext cx="9054789" cy="3844803"/>
          </a:xfrm>
          <a:prstGeom prst="rect">
            <a:avLst/>
          </a:prstGeom>
        </p:spPr>
      </p:pic>
      <p:sp>
        <p:nvSpPr>
          <p:cNvPr id="4" name="标题 3">
            <a:extLst>
              <a:ext uri="{FF2B5EF4-FFF2-40B4-BE49-F238E27FC236}">
                <a16:creationId xmlns:a16="http://schemas.microsoft.com/office/drawing/2014/main" id="{2B4FD1B5-6625-892B-6D30-775DE84C4460}"/>
              </a:ext>
            </a:extLst>
          </p:cNvPr>
          <p:cNvSpPr>
            <a:spLocks noGrp="1"/>
          </p:cNvSpPr>
          <p:nvPr>
            <p:ph type="title"/>
          </p:nvPr>
        </p:nvSpPr>
        <p:spPr/>
        <p:txBody>
          <a:bodyPr/>
          <a:lstStyle/>
          <a:p>
            <a:endParaRPr lang="zh-CN" altLang="en-US" dirty="0"/>
          </a:p>
        </p:txBody>
      </p:sp>
      <p:sp>
        <p:nvSpPr>
          <p:cNvPr id="5" name="文本框 4">
            <a:extLst>
              <a:ext uri="{FF2B5EF4-FFF2-40B4-BE49-F238E27FC236}">
                <a16:creationId xmlns:a16="http://schemas.microsoft.com/office/drawing/2014/main" id="{418E35F0-6FF0-7D11-71DD-6597561BA60A}"/>
              </a:ext>
            </a:extLst>
          </p:cNvPr>
          <p:cNvSpPr txBox="1"/>
          <p:nvPr/>
        </p:nvSpPr>
        <p:spPr>
          <a:xfrm>
            <a:off x="1064895" y="1081024"/>
            <a:ext cx="10295120" cy="646331"/>
          </a:xfrm>
          <a:prstGeom prst="rect">
            <a:avLst/>
          </a:prstGeom>
          <a:noFill/>
        </p:spPr>
        <p:txBody>
          <a:bodyPr wrap="square" rtlCol="0">
            <a:spAutoFit/>
          </a:bodyPr>
          <a:lstStyle/>
          <a:p>
            <a:r>
              <a:rPr lang="zh-CN" altLang="en-US" dirty="0"/>
              <a:t>        无线网络覆盖目标基于网络建设所处阶段的不同，评估标准也会有所不同。下面以建网初期网络覆盖标准为例进行介绍。</a:t>
            </a:r>
          </a:p>
        </p:txBody>
      </p:sp>
      <p:sp>
        <p:nvSpPr>
          <p:cNvPr id="7" name="文本框 6">
            <a:extLst>
              <a:ext uri="{FF2B5EF4-FFF2-40B4-BE49-F238E27FC236}">
                <a16:creationId xmlns:a16="http://schemas.microsoft.com/office/drawing/2014/main" id="{4D43EFD8-7172-B552-4CA6-06E1FA8411B8}"/>
              </a:ext>
            </a:extLst>
          </p:cNvPr>
          <p:cNvSpPr txBox="1"/>
          <p:nvPr/>
        </p:nvSpPr>
        <p:spPr>
          <a:xfrm>
            <a:off x="1064895" y="2230661"/>
            <a:ext cx="10226109" cy="646331"/>
          </a:xfrm>
          <a:prstGeom prst="rect">
            <a:avLst/>
          </a:prstGeom>
          <a:noFill/>
        </p:spPr>
        <p:txBody>
          <a:bodyPr wrap="square" rtlCol="0">
            <a:spAutoFit/>
          </a:bodyPr>
          <a:lstStyle/>
          <a:p>
            <a:r>
              <a:rPr lang="zh-CN" altLang="en-US" dirty="0"/>
              <a:t>        室外连续覆盖标准针对不同的覆盖场景、不同场景下信号的穿透能力，定义了不同的</a:t>
            </a:r>
            <a:r>
              <a:rPr lang="en-US" altLang="zh-CN" dirty="0"/>
              <a:t>RSRP</a:t>
            </a:r>
            <a:r>
              <a:rPr lang="zh-CN" altLang="en-US" dirty="0"/>
              <a:t>门限、</a:t>
            </a:r>
            <a:r>
              <a:rPr lang="en-US" altLang="zh-CN" dirty="0"/>
              <a:t>RS-SINR</a:t>
            </a:r>
            <a:r>
              <a:rPr lang="zh-CN" altLang="en-US" dirty="0"/>
              <a:t>门限、边缘用户速率等。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596971"/>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无线网络评估基本概念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1"/>
          <p:cNvSpPr txBox="1"/>
          <p:nvPr/>
        </p:nvSpPr>
        <p:spPr bwMode="auto">
          <a:xfrm>
            <a:off x="1064895" y="173613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室内分布系统覆盖标准</a:t>
            </a:r>
          </a:p>
        </p:txBody>
      </p:sp>
      <p:pic>
        <p:nvPicPr>
          <p:cNvPr id="14" name="图片 13"/>
          <p:cNvPicPr>
            <a:picLocks noChangeAspect="1"/>
          </p:cNvPicPr>
          <p:nvPr/>
        </p:nvPicPr>
        <p:blipFill>
          <a:blip r:embed="rId2"/>
          <a:stretch>
            <a:fillRect/>
          </a:stretch>
        </p:blipFill>
        <p:spPr>
          <a:xfrm>
            <a:off x="1440760" y="3160466"/>
            <a:ext cx="8424623" cy="2449257"/>
          </a:xfrm>
          <a:prstGeom prst="rect">
            <a:avLst/>
          </a:prstGeom>
        </p:spPr>
      </p:pic>
      <p:sp>
        <p:nvSpPr>
          <p:cNvPr id="2" name="文本框 1">
            <a:extLst>
              <a:ext uri="{FF2B5EF4-FFF2-40B4-BE49-F238E27FC236}">
                <a16:creationId xmlns:a16="http://schemas.microsoft.com/office/drawing/2014/main" id="{9B1248DA-B943-4DBA-03D3-D1776D2606CB}"/>
              </a:ext>
            </a:extLst>
          </p:cNvPr>
          <p:cNvSpPr txBox="1"/>
          <p:nvPr/>
        </p:nvSpPr>
        <p:spPr>
          <a:xfrm>
            <a:off x="1064895" y="5753199"/>
            <a:ext cx="10416863" cy="646331"/>
          </a:xfrm>
          <a:prstGeom prst="rect">
            <a:avLst/>
          </a:prstGeom>
          <a:noFill/>
        </p:spPr>
        <p:txBody>
          <a:bodyPr wrap="square" rtlCol="0">
            <a:spAutoFit/>
          </a:bodyPr>
          <a:lstStyle/>
          <a:p>
            <a:r>
              <a:rPr lang="zh-CN" altLang="en-US" dirty="0"/>
              <a:t>       对于室内覆盖系统泄漏到室外的信号，要求室外</a:t>
            </a:r>
            <a:r>
              <a:rPr lang="en-US" altLang="zh-CN" dirty="0"/>
              <a:t>10m</a:t>
            </a:r>
            <a:r>
              <a:rPr lang="zh-CN" altLang="en-US" dirty="0"/>
              <a:t>处应满足</a:t>
            </a:r>
            <a:r>
              <a:rPr lang="en-US" altLang="zh-CN" dirty="0"/>
              <a:t>RSRP</a:t>
            </a:r>
            <a:r>
              <a:rPr lang="zh-CN" altLang="en-US" dirty="0"/>
              <a:t>≤</a:t>
            </a:r>
            <a:r>
              <a:rPr lang="en-US" altLang="zh-CN" dirty="0"/>
              <a:t>-110dBm</a:t>
            </a:r>
            <a:r>
              <a:rPr lang="zh-CN" altLang="en-US" dirty="0"/>
              <a:t>或室内小区外泄的</a:t>
            </a:r>
            <a:r>
              <a:rPr lang="en-US" altLang="zh-CN" dirty="0"/>
              <a:t>RSRP</a:t>
            </a:r>
            <a:r>
              <a:rPr lang="zh-CN" altLang="en-US" dirty="0"/>
              <a:t>比室外主小区</a:t>
            </a:r>
            <a:r>
              <a:rPr lang="en-US" altLang="zh-CN" dirty="0"/>
              <a:t>RSRP</a:t>
            </a:r>
            <a:r>
              <a:rPr lang="zh-CN" altLang="en-US" dirty="0"/>
              <a:t>低</a:t>
            </a:r>
            <a:r>
              <a:rPr lang="en-US" altLang="zh-CN" dirty="0"/>
              <a:t>10dB</a:t>
            </a:r>
            <a:r>
              <a:rPr lang="zh-CN" altLang="en-US" dirty="0"/>
              <a:t>（当建筑物距离道路不足</a:t>
            </a:r>
            <a:r>
              <a:rPr lang="en-US" altLang="zh-CN" dirty="0"/>
              <a:t>10m</a:t>
            </a:r>
            <a:r>
              <a:rPr lang="zh-CN" altLang="en-US" dirty="0"/>
              <a:t>时，以道路靠建筑一侧作为参考点）。</a:t>
            </a:r>
          </a:p>
        </p:txBody>
      </p:sp>
      <p:sp>
        <p:nvSpPr>
          <p:cNvPr id="4" name="文本框 3">
            <a:extLst>
              <a:ext uri="{FF2B5EF4-FFF2-40B4-BE49-F238E27FC236}">
                <a16:creationId xmlns:a16="http://schemas.microsoft.com/office/drawing/2014/main" id="{A92BC1FE-2310-35F7-6D19-98C131D7F88F}"/>
              </a:ext>
            </a:extLst>
          </p:cNvPr>
          <p:cNvSpPr txBox="1"/>
          <p:nvPr/>
        </p:nvSpPr>
        <p:spPr>
          <a:xfrm>
            <a:off x="1440760" y="2419363"/>
            <a:ext cx="9635706" cy="369332"/>
          </a:xfrm>
          <a:prstGeom prst="rect">
            <a:avLst/>
          </a:prstGeom>
          <a:noFill/>
        </p:spPr>
        <p:txBody>
          <a:bodyPr wrap="square" rtlCol="0">
            <a:spAutoFit/>
          </a:bodyPr>
          <a:lstStyle/>
          <a:p>
            <a:r>
              <a:rPr lang="zh-CN" altLang="en-US" dirty="0"/>
              <a:t>室内分布系统覆盖标准根据覆盖区域的不同，制定了不同的</a:t>
            </a:r>
            <a:r>
              <a:rPr lang="en-US" altLang="zh-CN" dirty="0"/>
              <a:t>RSRP</a:t>
            </a:r>
            <a:r>
              <a:rPr lang="zh-CN" altLang="en-US" dirty="0"/>
              <a:t>与</a:t>
            </a:r>
            <a:r>
              <a:rPr lang="en-US" altLang="zh-CN" dirty="0"/>
              <a:t>RS-SINR</a:t>
            </a:r>
            <a:r>
              <a:rPr lang="zh-CN" altLang="en-US" dirty="0"/>
              <a:t>目标值。</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2.2  </a:t>
            </a:r>
            <a:r>
              <a:rPr kumimoji="1" lang="zh-CN" altLang="en-US" sz="1900" b="1" dirty="0">
                <a:latin typeface="微软雅黑" panose="020B0503020204020204" charset="-122"/>
                <a:ea typeface="微软雅黑" panose="020B0503020204020204" charset="-122"/>
                <a:cs typeface="微软雅黑" panose="020B0503020204020204" charset="-122"/>
              </a:rPr>
              <a:t>总体原则</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MH_Other_1"/>
          <p:cNvSpPr/>
          <p:nvPr>
            <p:custDataLst>
              <p:tags r:id="rId1"/>
            </p:custDataLst>
          </p:nvPr>
        </p:nvSpPr>
        <p:spPr>
          <a:xfrm flipH="1" flipV="1">
            <a:off x="6106266" y="3720254"/>
            <a:ext cx="1262062" cy="579438"/>
          </a:xfrm>
          <a:prstGeom prst="bentArrow">
            <a:avLst>
              <a:gd name="adj1" fmla="val 14574"/>
              <a:gd name="adj2" fmla="val 17832"/>
              <a:gd name="adj3" fmla="val 22629"/>
              <a:gd name="adj4" fmla="val 43750"/>
            </a:avLst>
          </a:prstGeom>
          <a:solidFill>
            <a:srgbClr val="FFFFFF"/>
          </a:solidFill>
          <a:ln w="3175">
            <a:solidFill>
              <a:srgbClr val="EAEAEA"/>
            </a:solid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9" name="MH_Other_2"/>
          <p:cNvSpPr/>
          <p:nvPr>
            <p:custDataLst>
              <p:tags r:id="rId2"/>
            </p:custDataLst>
          </p:nvPr>
        </p:nvSpPr>
        <p:spPr>
          <a:xfrm flipV="1">
            <a:off x="5522066" y="2775692"/>
            <a:ext cx="1262062" cy="577850"/>
          </a:xfrm>
          <a:prstGeom prst="bentArrow">
            <a:avLst>
              <a:gd name="adj1" fmla="val 14574"/>
              <a:gd name="adj2" fmla="val 17832"/>
              <a:gd name="adj3" fmla="val 22629"/>
              <a:gd name="adj4" fmla="val 43750"/>
            </a:avLst>
          </a:prstGeom>
          <a:solidFill>
            <a:srgbClr val="FFFFFF"/>
          </a:solidFill>
          <a:ln w="3175">
            <a:solidFill>
              <a:srgbClr val="EAEAEA"/>
            </a:solid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0" name="MH_Other_3"/>
          <p:cNvSpPr/>
          <p:nvPr>
            <p:custDataLst>
              <p:tags r:id="rId3"/>
            </p:custDataLst>
          </p:nvPr>
        </p:nvSpPr>
        <p:spPr>
          <a:xfrm>
            <a:off x="6784128" y="2693142"/>
            <a:ext cx="1066800" cy="1066800"/>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1" name="MH_Other_4"/>
          <p:cNvSpPr/>
          <p:nvPr>
            <p:custDataLst>
              <p:tags r:id="rId4"/>
            </p:custDataLst>
          </p:nvPr>
        </p:nvSpPr>
        <p:spPr>
          <a:xfrm>
            <a:off x="6878096" y="2788100"/>
            <a:ext cx="877670" cy="877671"/>
          </a:xfrm>
          <a:prstGeom prst="ellipse">
            <a:avLst/>
          </a:prstGeom>
          <a:solidFill>
            <a:schemeClr val="accent2"/>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a:solidFill>
                  <a:srgbClr val="FFFFFF"/>
                </a:solidFill>
                <a:latin typeface="Agency FB" panose="020B0503020202020204" pitchFamily="34" charset="0"/>
                <a:ea typeface="黑体" panose="02010609060101010101" pitchFamily="2" charset="-122"/>
              </a:rPr>
              <a:t>02</a:t>
            </a:r>
            <a:endParaRPr lang="zh-CN" altLang="en-US" sz="3600" b="1">
              <a:solidFill>
                <a:srgbClr val="FFFFFF"/>
              </a:solidFill>
              <a:latin typeface="Agency FB" panose="020B0503020202020204" pitchFamily="34" charset="0"/>
              <a:ea typeface="黑体" panose="02010609060101010101" pitchFamily="2" charset="-122"/>
            </a:endParaRPr>
          </a:p>
        </p:txBody>
      </p:sp>
      <p:sp>
        <p:nvSpPr>
          <p:cNvPr id="13" name="MH_Other_5"/>
          <p:cNvSpPr/>
          <p:nvPr>
            <p:custDataLst>
              <p:tags r:id="rId5"/>
            </p:custDataLst>
          </p:nvPr>
        </p:nvSpPr>
        <p:spPr>
          <a:xfrm>
            <a:off x="5033116" y="1739055"/>
            <a:ext cx="1065212" cy="1065213"/>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5" name="MH_Other_6"/>
          <p:cNvSpPr/>
          <p:nvPr>
            <p:custDataLst>
              <p:tags r:id="rId6"/>
            </p:custDataLst>
          </p:nvPr>
        </p:nvSpPr>
        <p:spPr>
          <a:xfrm>
            <a:off x="5126845" y="1832856"/>
            <a:ext cx="877670" cy="877671"/>
          </a:xfrm>
          <a:prstGeom prst="ellipse">
            <a:avLst/>
          </a:prstGeom>
          <a:solidFill>
            <a:schemeClr val="accent1"/>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a:solidFill>
                  <a:srgbClr val="FFFFFF"/>
                </a:solidFill>
                <a:latin typeface="Agency FB" panose="020B0503020202020204" pitchFamily="34" charset="0"/>
                <a:ea typeface="黑体" panose="02010609060101010101" pitchFamily="2" charset="-122"/>
              </a:rPr>
              <a:t>01</a:t>
            </a:r>
            <a:endParaRPr lang="zh-CN" altLang="en-US" sz="3600" b="1">
              <a:solidFill>
                <a:srgbClr val="FFFFFF"/>
              </a:solidFill>
              <a:latin typeface="Agency FB" panose="020B0503020202020204" pitchFamily="34" charset="0"/>
              <a:ea typeface="黑体" panose="02010609060101010101" pitchFamily="2" charset="-122"/>
            </a:endParaRPr>
          </a:p>
        </p:txBody>
      </p:sp>
      <p:sp>
        <p:nvSpPr>
          <p:cNvPr id="16" name="MH_Other_7"/>
          <p:cNvSpPr/>
          <p:nvPr>
            <p:custDataLst>
              <p:tags r:id="rId7"/>
            </p:custDataLst>
          </p:nvPr>
        </p:nvSpPr>
        <p:spPr>
          <a:xfrm flipH="1">
            <a:off x="5039466" y="3648817"/>
            <a:ext cx="1066800" cy="1066800"/>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7" name="MH_Other_8"/>
          <p:cNvSpPr/>
          <p:nvPr>
            <p:custDataLst>
              <p:tags r:id="rId8"/>
            </p:custDataLst>
          </p:nvPr>
        </p:nvSpPr>
        <p:spPr>
          <a:xfrm>
            <a:off x="5134395" y="3743344"/>
            <a:ext cx="877670" cy="877671"/>
          </a:xfrm>
          <a:prstGeom prst="ellipse">
            <a:avLst/>
          </a:prstGeom>
          <a:solidFill>
            <a:schemeClr val="accent3"/>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a:solidFill>
                  <a:srgbClr val="FFFFFF"/>
                </a:solidFill>
                <a:latin typeface="Agency FB" panose="020B0503020202020204" pitchFamily="34" charset="0"/>
                <a:ea typeface="黑体" panose="02010609060101010101" pitchFamily="2" charset="-122"/>
              </a:rPr>
              <a:t>03</a:t>
            </a:r>
            <a:endParaRPr lang="zh-CN" altLang="en-US" sz="3600" b="1">
              <a:solidFill>
                <a:srgbClr val="FFFFFF"/>
              </a:solidFill>
              <a:latin typeface="Agency FB" panose="020B0503020202020204" pitchFamily="34" charset="0"/>
              <a:ea typeface="黑体" panose="02010609060101010101" pitchFamily="2" charset="-122"/>
            </a:endParaRPr>
          </a:p>
        </p:txBody>
      </p:sp>
      <p:sp>
        <p:nvSpPr>
          <p:cNvPr id="18" name="MH_SubTitle_1"/>
          <p:cNvSpPr>
            <a:spLocks noChangeArrowheads="1"/>
          </p:cNvSpPr>
          <p:nvPr>
            <p:custDataLst>
              <p:tags r:id="rId9"/>
            </p:custDataLst>
          </p:nvPr>
        </p:nvSpPr>
        <p:spPr bwMode="auto">
          <a:xfrm flipH="1">
            <a:off x="2154978" y="2099418"/>
            <a:ext cx="2782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zh-CN" altLang="en-US" sz="2000" b="1" dirty="0">
                <a:solidFill>
                  <a:srgbClr val="FF0000"/>
                </a:solidFill>
                <a:latin typeface="+mj-ea"/>
                <a:ea typeface="+mj-ea"/>
              </a:rPr>
              <a:t>评估场景</a:t>
            </a:r>
          </a:p>
        </p:txBody>
      </p:sp>
      <p:sp>
        <p:nvSpPr>
          <p:cNvPr id="19" name="MH_Text_2"/>
          <p:cNvSpPr/>
          <p:nvPr>
            <p:custDataLst>
              <p:tags r:id="rId10"/>
            </p:custDataLst>
          </p:nvPr>
        </p:nvSpPr>
        <p:spPr>
          <a:xfrm>
            <a:off x="8008091" y="3455142"/>
            <a:ext cx="3572404" cy="1401762"/>
          </a:xfrm>
          <a:prstGeom prst="rect">
            <a:avLst/>
          </a:prstGeom>
        </p:spPr>
        <p:txBody>
          <a:bodyPr/>
          <a:lstStyle/>
          <a:p>
            <a:pPr>
              <a:lnSpc>
                <a:spcPct val="130000"/>
              </a:lnSpc>
              <a:defRPr/>
            </a:pPr>
            <a:r>
              <a:rPr lang="zh-CN" altLang="en-US" dirty="0"/>
              <a:t>评估应充分考虑数据质量和采集效率，使用自动化手段进行，评估期间最大限度降低人为干预。</a:t>
            </a:r>
          </a:p>
        </p:txBody>
      </p:sp>
      <p:sp>
        <p:nvSpPr>
          <p:cNvPr id="20" name="MH_Text_1"/>
          <p:cNvSpPr/>
          <p:nvPr>
            <p:custDataLst>
              <p:tags r:id="rId11"/>
            </p:custDataLst>
          </p:nvPr>
        </p:nvSpPr>
        <p:spPr>
          <a:xfrm>
            <a:off x="1014426" y="2591543"/>
            <a:ext cx="4033837" cy="823912"/>
          </a:xfrm>
          <a:prstGeom prst="rect">
            <a:avLst/>
          </a:prstGeom>
        </p:spPr>
        <p:txBody>
          <a:bodyPr/>
          <a:lstStyle/>
          <a:p>
            <a:pPr>
              <a:lnSpc>
                <a:spcPct val="130000"/>
              </a:lnSpc>
              <a:defRPr/>
            </a:pPr>
            <a:r>
              <a:rPr lang="zh-CN" altLang="en-US" dirty="0"/>
              <a:t>评估应包括室外、室内多个场景，场景选择应和客户实际业务发生一致。</a:t>
            </a:r>
          </a:p>
        </p:txBody>
      </p:sp>
      <p:sp>
        <p:nvSpPr>
          <p:cNvPr id="21" name="MH_SubTitle_3"/>
          <p:cNvSpPr>
            <a:spLocks noChangeArrowheads="1"/>
          </p:cNvSpPr>
          <p:nvPr>
            <p:custDataLst>
              <p:tags r:id="rId12"/>
            </p:custDataLst>
          </p:nvPr>
        </p:nvSpPr>
        <p:spPr bwMode="auto">
          <a:xfrm flipH="1">
            <a:off x="2196254" y="3974255"/>
            <a:ext cx="27844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zh-CN" altLang="en-US" sz="2000" b="1" dirty="0">
                <a:solidFill>
                  <a:srgbClr val="FF0000"/>
                </a:solidFill>
                <a:latin typeface="+mj-ea"/>
                <a:ea typeface="+mj-ea"/>
              </a:rPr>
              <a:t>评估维度</a:t>
            </a:r>
            <a:endParaRPr lang="en-US" altLang="zh-CN" sz="2000" b="1" dirty="0">
              <a:solidFill>
                <a:srgbClr val="FF0000"/>
              </a:solidFill>
              <a:latin typeface="+mj-ea"/>
              <a:ea typeface="+mj-ea"/>
            </a:endParaRPr>
          </a:p>
        </p:txBody>
      </p:sp>
      <p:sp>
        <p:nvSpPr>
          <p:cNvPr id="22" name="MH_Text_3"/>
          <p:cNvSpPr/>
          <p:nvPr>
            <p:custDataLst>
              <p:tags r:id="rId13"/>
            </p:custDataLst>
          </p:nvPr>
        </p:nvSpPr>
        <p:spPr>
          <a:xfrm>
            <a:off x="1179194" y="4653706"/>
            <a:ext cx="5604934" cy="1400175"/>
          </a:xfrm>
          <a:prstGeom prst="rect">
            <a:avLst/>
          </a:prstGeom>
        </p:spPr>
        <p:txBody>
          <a:bodyPr/>
          <a:lstStyle/>
          <a:p>
            <a:pPr>
              <a:lnSpc>
                <a:spcPct val="130000"/>
              </a:lnSpc>
              <a:defRPr/>
            </a:pPr>
            <a:r>
              <a:rPr lang="zh-CN" altLang="en-US" dirty="0"/>
              <a:t>测试评估体系根据目标，总体上分为“网络性能评估”和“客户感知的业务质量评估”两个维度。核心内容、指导方向、指标输出方面各有侧重，相同点在于测试场景，而测试设备、方法、规范、指标等不尽相同。</a:t>
            </a:r>
            <a:endParaRPr lang="en-US" altLang="zh-CN" dirty="0"/>
          </a:p>
        </p:txBody>
      </p:sp>
      <p:sp>
        <p:nvSpPr>
          <p:cNvPr id="23" name="MH_SubTitle_2"/>
          <p:cNvSpPr>
            <a:spLocks noChangeArrowheads="1"/>
          </p:cNvSpPr>
          <p:nvPr>
            <p:custDataLst>
              <p:tags r:id="rId14"/>
            </p:custDataLst>
          </p:nvPr>
        </p:nvSpPr>
        <p:spPr bwMode="auto">
          <a:xfrm>
            <a:off x="8008091" y="3029693"/>
            <a:ext cx="27813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FF0000"/>
                </a:solidFill>
                <a:latin typeface="+mj-ea"/>
                <a:ea typeface="+mj-ea"/>
              </a:rPr>
              <a:t>数据质量</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2.2  </a:t>
            </a:r>
            <a:r>
              <a:rPr kumimoji="1" lang="zh-CN" altLang="en-US" sz="1900" b="1" dirty="0">
                <a:latin typeface="微软雅黑" panose="020B0503020204020204" charset="-122"/>
                <a:ea typeface="微软雅黑" panose="020B0503020204020204" charset="-122"/>
                <a:cs typeface="微软雅黑" panose="020B0503020204020204" charset="-122"/>
              </a:rPr>
              <a:t>总体原则</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MH_Other_3"/>
          <p:cNvSpPr/>
          <p:nvPr>
            <p:custDataLst>
              <p:tags r:id="rId1"/>
            </p:custDataLst>
          </p:nvPr>
        </p:nvSpPr>
        <p:spPr>
          <a:xfrm>
            <a:off x="5895128" y="3619712"/>
            <a:ext cx="1066800" cy="1066800"/>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1" name="MH_Other_4"/>
          <p:cNvSpPr/>
          <p:nvPr>
            <p:custDataLst>
              <p:tags r:id="rId2"/>
            </p:custDataLst>
          </p:nvPr>
        </p:nvSpPr>
        <p:spPr>
          <a:xfrm>
            <a:off x="5989096" y="3714670"/>
            <a:ext cx="877670" cy="877671"/>
          </a:xfrm>
          <a:prstGeom prst="ellipse">
            <a:avLst/>
          </a:prstGeom>
          <a:solidFill>
            <a:schemeClr val="accent2"/>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dirty="0">
                <a:solidFill>
                  <a:srgbClr val="FFFFFF"/>
                </a:solidFill>
                <a:latin typeface="Agency FB" panose="020B0503020202020204" pitchFamily="34" charset="0"/>
                <a:ea typeface="黑体" panose="02010609060101010101" pitchFamily="2" charset="-122"/>
              </a:rPr>
              <a:t>05</a:t>
            </a:r>
            <a:endParaRPr lang="zh-CN" altLang="en-US" sz="3600" b="1" dirty="0">
              <a:solidFill>
                <a:srgbClr val="FFFFFF"/>
              </a:solidFill>
              <a:latin typeface="Agency FB" panose="020B0503020202020204" pitchFamily="34" charset="0"/>
              <a:ea typeface="黑体" panose="02010609060101010101" pitchFamily="2" charset="-122"/>
            </a:endParaRPr>
          </a:p>
        </p:txBody>
      </p:sp>
      <p:sp>
        <p:nvSpPr>
          <p:cNvPr id="13" name="MH_Other_5"/>
          <p:cNvSpPr/>
          <p:nvPr>
            <p:custDataLst>
              <p:tags r:id="rId3"/>
            </p:custDataLst>
          </p:nvPr>
        </p:nvSpPr>
        <p:spPr>
          <a:xfrm>
            <a:off x="5714933" y="2120504"/>
            <a:ext cx="1065212" cy="1065213"/>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5" name="MH_Other_6"/>
          <p:cNvSpPr/>
          <p:nvPr>
            <p:custDataLst>
              <p:tags r:id="rId4"/>
            </p:custDataLst>
          </p:nvPr>
        </p:nvSpPr>
        <p:spPr>
          <a:xfrm>
            <a:off x="5821112" y="2233963"/>
            <a:ext cx="877670" cy="877671"/>
          </a:xfrm>
          <a:prstGeom prst="ellipse">
            <a:avLst/>
          </a:prstGeom>
          <a:solidFill>
            <a:schemeClr val="accent1"/>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dirty="0">
                <a:solidFill>
                  <a:srgbClr val="FFFFFF"/>
                </a:solidFill>
                <a:latin typeface="Agency FB" panose="020B0503020202020204" pitchFamily="34" charset="0"/>
                <a:ea typeface="黑体" panose="02010609060101010101" pitchFamily="2" charset="-122"/>
              </a:rPr>
              <a:t>04</a:t>
            </a:r>
            <a:endParaRPr lang="zh-CN" altLang="en-US" sz="3600" b="1" dirty="0">
              <a:solidFill>
                <a:srgbClr val="FFFFFF"/>
              </a:solidFill>
              <a:latin typeface="Agency FB" panose="020B0503020202020204" pitchFamily="34" charset="0"/>
              <a:ea typeface="黑体" panose="02010609060101010101" pitchFamily="2" charset="-122"/>
            </a:endParaRPr>
          </a:p>
        </p:txBody>
      </p:sp>
      <p:sp>
        <p:nvSpPr>
          <p:cNvPr id="18" name="MH_SubTitle_1"/>
          <p:cNvSpPr>
            <a:spLocks noChangeArrowheads="1"/>
          </p:cNvSpPr>
          <p:nvPr>
            <p:custDataLst>
              <p:tags r:id="rId5"/>
            </p:custDataLst>
          </p:nvPr>
        </p:nvSpPr>
        <p:spPr bwMode="auto">
          <a:xfrm flipH="1">
            <a:off x="2849245" y="2500525"/>
            <a:ext cx="2782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zh-CN" altLang="en-US" sz="2000" b="1" dirty="0">
                <a:solidFill>
                  <a:srgbClr val="FF0000"/>
                </a:solidFill>
                <a:latin typeface="+mj-ea"/>
                <a:ea typeface="+mj-ea"/>
              </a:rPr>
              <a:t>竞对评估</a:t>
            </a:r>
          </a:p>
        </p:txBody>
      </p:sp>
      <p:sp>
        <p:nvSpPr>
          <p:cNvPr id="19" name="MH_Text_2"/>
          <p:cNvSpPr/>
          <p:nvPr>
            <p:custDataLst>
              <p:tags r:id="rId6"/>
            </p:custDataLst>
          </p:nvPr>
        </p:nvSpPr>
        <p:spPr>
          <a:xfrm>
            <a:off x="7119091" y="4381712"/>
            <a:ext cx="3572404" cy="1401762"/>
          </a:xfrm>
          <a:prstGeom prst="rect">
            <a:avLst/>
          </a:prstGeom>
        </p:spPr>
        <p:txBody>
          <a:bodyPr/>
          <a:lstStyle/>
          <a:p>
            <a:pPr>
              <a:lnSpc>
                <a:spcPct val="130000"/>
              </a:lnSpc>
              <a:defRPr/>
            </a:pPr>
            <a:r>
              <a:rPr lang="zh-CN" altLang="en-US" dirty="0"/>
              <a:t>网络考核指标要尽可能做到公平，排除非网络原因带来的干扰，真正能够引导各省公司向着解决问题、提升质量的方向努力。</a:t>
            </a:r>
          </a:p>
        </p:txBody>
      </p:sp>
      <p:sp>
        <p:nvSpPr>
          <p:cNvPr id="20" name="MH_Text_1"/>
          <p:cNvSpPr/>
          <p:nvPr>
            <p:custDataLst>
              <p:tags r:id="rId7"/>
            </p:custDataLst>
          </p:nvPr>
        </p:nvSpPr>
        <p:spPr>
          <a:xfrm>
            <a:off x="1879600" y="2992650"/>
            <a:ext cx="3862930" cy="1785724"/>
          </a:xfrm>
          <a:prstGeom prst="rect">
            <a:avLst/>
          </a:prstGeom>
        </p:spPr>
        <p:txBody>
          <a:bodyPr/>
          <a:lstStyle/>
          <a:p>
            <a:pPr>
              <a:lnSpc>
                <a:spcPct val="130000"/>
              </a:lnSpc>
              <a:defRPr/>
            </a:pPr>
            <a:r>
              <a:rPr lang="zh-CN" altLang="en-US" dirty="0"/>
              <a:t>在端到端客户感知业务质量评估中，应使用流量和知名度的</a:t>
            </a:r>
            <a:r>
              <a:rPr lang="en-US" altLang="zh-CN" dirty="0"/>
              <a:t>TOP</a:t>
            </a:r>
            <a:r>
              <a:rPr lang="zh-CN" altLang="en-US" dirty="0"/>
              <a:t>网站或业务，同步进行竞争对手的业务质量对比评估。</a:t>
            </a:r>
          </a:p>
        </p:txBody>
      </p:sp>
      <p:sp>
        <p:nvSpPr>
          <p:cNvPr id="23" name="MH_SubTitle_2"/>
          <p:cNvSpPr>
            <a:spLocks noChangeArrowheads="1"/>
          </p:cNvSpPr>
          <p:nvPr>
            <p:custDataLst>
              <p:tags r:id="rId8"/>
            </p:custDataLst>
          </p:nvPr>
        </p:nvSpPr>
        <p:spPr bwMode="auto">
          <a:xfrm>
            <a:off x="7119091" y="3956263"/>
            <a:ext cx="27813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FF0000"/>
                </a:solidFill>
                <a:latin typeface="+mj-ea"/>
                <a:ea typeface="+mj-ea"/>
              </a:rPr>
              <a:t>保证公平</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A502-D7E9-3F76-A717-04F9C46ECA4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AC11A88-C262-A2D4-F12D-2BEC6983CE8B}"/>
              </a:ext>
            </a:extLst>
          </p:cNvPr>
          <p:cNvSpPr>
            <a:spLocks noGrp="1"/>
          </p:cNvSpPr>
          <p:nvPr>
            <p:ph type="title"/>
          </p:nvPr>
        </p:nvSpPr>
        <p:spPr>
          <a:xfrm>
            <a:off x="989978" y="208303"/>
            <a:ext cx="10515600" cy="535305"/>
          </a:xfrm>
        </p:spPr>
        <p:txBody>
          <a:bodyPr/>
          <a:lstStyle/>
          <a:p>
            <a:r>
              <a:rPr lang="zh-CN" altLang="en-US" dirty="0"/>
              <a:t>任务一：探究</a:t>
            </a:r>
            <a:r>
              <a:rPr lang="en-US" altLang="zh-CN" dirty="0"/>
              <a:t>LTE</a:t>
            </a:r>
            <a:r>
              <a:rPr lang="zh-CN" altLang="en-US" dirty="0"/>
              <a:t>无线网络优化</a:t>
            </a:r>
          </a:p>
        </p:txBody>
      </p:sp>
      <p:sp>
        <p:nvSpPr>
          <p:cNvPr id="6" name="Rectangle 4">
            <a:extLst>
              <a:ext uri="{FF2B5EF4-FFF2-40B4-BE49-F238E27FC236}">
                <a16:creationId xmlns:a16="http://schemas.microsoft.com/office/drawing/2014/main" id="{E6EE589F-D643-7AC3-D229-1CB2B847E911}"/>
              </a:ext>
            </a:extLst>
          </p:cNvPr>
          <p:cNvSpPr>
            <a:spLocks noChangeArrowheads="1"/>
          </p:cNvSpPr>
          <p:nvPr/>
        </p:nvSpPr>
        <p:spPr bwMode="auto">
          <a:xfrm>
            <a:off x="-74917" y="-25016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MH_Text_1">
            <a:extLst>
              <a:ext uri="{FF2B5EF4-FFF2-40B4-BE49-F238E27FC236}">
                <a16:creationId xmlns:a16="http://schemas.microsoft.com/office/drawing/2014/main" id="{B2A8EE87-E81A-1081-5B28-180BDEC9DC43}"/>
              </a:ext>
            </a:extLst>
          </p:cNvPr>
          <p:cNvSpPr/>
          <p:nvPr>
            <p:custDataLst>
              <p:tags r:id="rId1"/>
            </p:custDataLst>
          </p:nvPr>
        </p:nvSpPr>
        <p:spPr>
          <a:xfrm>
            <a:off x="1938034" y="3626849"/>
            <a:ext cx="3922183" cy="2847099"/>
          </a:xfrm>
          <a:prstGeom prst="rect">
            <a:avLst/>
          </a:prstGeom>
        </p:spPr>
        <p:txBody>
          <a:bodyPr>
            <a:normAutofit/>
          </a:bodyPr>
          <a:lstStyle/>
          <a:p>
            <a:pPr>
              <a:lnSpc>
                <a:spcPct val="150000"/>
              </a:lnSpc>
              <a:defRPr/>
            </a:pPr>
            <a:endParaRPr lang="zh-CN" altLang="en-US" dirty="0"/>
          </a:p>
        </p:txBody>
      </p:sp>
      <p:sp>
        <p:nvSpPr>
          <p:cNvPr id="2" name="文本框 1">
            <a:extLst>
              <a:ext uri="{FF2B5EF4-FFF2-40B4-BE49-F238E27FC236}">
                <a16:creationId xmlns:a16="http://schemas.microsoft.com/office/drawing/2014/main" id="{4A879A31-5E8F-6C18-CFB7-690ABB5AA645}"/>
              </a:ext>
            </a:extLst>
          </p:cNvPr>
          <p:cNvSpPr txBox="1"/>
          <p:nvPr/>
        </p:nvSpPr>
        <p:spPr>
          <a:xfrm>
            <a:off x="447692" y="91673"/>
            <a:ext cx="3889760"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 </a:t>
            </a:r>
            <a:r>
              <a:rPr kumimoji="1" lang="zh-CN" altLang="en-US" sz="2375" b="1" dirty="0">
                <a:latin typeface="微软雅黑" panose="020B0503020204020204" charset="-122"/>
                <a:ea typeface="微软雅黑" panose="020B0503020204020204" charset="-122"/>
                <a:cs typeface="微软雅黑" panose="020B0503020204020204" charset="-122"/>
              </a:rPr>
              <a:t>无线网络评估</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2.2  </a:t>
            </a:r>
            <a:r>
              <a:rPr kumimoji="1" lang="zh-CN" altLang="en-US" sz="1900" b="1" dirty="0">
                <a:latin typeface="微软雅黑" panose="020B0503020204020204" charset="-122"/>
                <a:ea typeface="微软雅黑" panose="020B0503020204020204" charset="-122"/>
                <a:cs typeface="微软雅黑" panose="020B0503020204020204" charset="-122"/>
              </a:rPr>
              <a:t>总体原则</a:t>
            </a:r>
            <a:endParaRPr kumimoji="1" lang="en-US" altLang="zh-CN" sz="1665" dirty="0">
              <a:latin typeface="微软雅黑" panose="020B0503020204020204" charset="-122"/>
              <a:ea typeface="微软雅黑" panose="020B0503020204020204" charset="-122"/>
            </a:endParaRPr>
          </a:p>
        </p:txBody>
      </p:sp>
      <p:graphicFrame>
        <p:nvGraphicFramePr>
          <p:cNvPr id="4" name="表格 3">
            <a:extLst>
              <a:ext uri="{FF2B5EF4-FFF2-40B4-BE49-F238E27FC236}">
                <a16:creationId xmlns:a16="http://schemas.microsoft.com/office/drawing/2014/main" id="{D883466F-A12C-47BE-5E48-1CA323C3DE31}"/>
              </a:ext>
            </a:extLst>
          </p:cNvPr>
          <p:cNvGraphicFramePr>
            <a:graphicFrameLocks noGrp="1"/>
          </p:cNvGraphicFramePr>
          <p:nvPr>
            <p:extLst>
              <p:ext uri="{D42A27DB-BD31-4B8C-83A1-F6EECF244321}">
                <p14:modId xmlns:p14="http://schemas.microsoft.com/office/powerpoint/2010/main" val="3476685884"/>
              </p:ext>
            </p:extLst>
          </p:nvPr>
        </p:nvGraphicFramePr>
        <p:xfrm>
          <a:off x="717760" y="2242271"/>
          <a:ext cx="10606645" cy="4407426"/>
        </p:xfrm>
        <a:graphic>
          <a:graphicData uri="http://schemas.openxmlformats.org/drawingml/2006/table">
            <a:tbl>
              <a:tblPr/>
              <a:tblGrid>
                <a:gridCol w="2066105">
                  <a:extLst>
                    <a:ext uri="{9D8B030D-6E8A-4147-A177-3AD203B41FA5}">
                      <a16:colId xmlns:a16="http://schemas.microsoft.com/office/drawing/2014/main" val="20000"/>
                    </a:ext>
                  </a:extLst>
                </a:gridCol>
                <a:gridCol w="4294074">
                  <a:extLst>
                    <a:ext uri="{9D8B030D-6E8A-4147-A177-3AD203B41FA5}">
                      <a16:colId xmlns:a16="http://schemas.microsoft.com/office/drawing/2014/main" val="20001"/>
                    </a:ext>
                  </a:extLst>
                </a:gridCol>
                <a:gridCol w="4246466">
                  <a:extLst>
                    <a:ext uri="{9D8B030D-6E8A-4147-A177-3AD203B41FA5}">
                      <a16:colId xmlns:a16="http://schemas.microsoft.com/office/drawing/2014/main" val="20002"/>
                    </a:ext>
                  </a:extLst>
                </a:gridCol>
              </a:tblGrid>
              <a:tr h="396390">
                <a:tc>
                  <a:txBody>
                    <a:bodyPr/>
                    <a:lstStyle/>
                    <a:p>
                      <a:pPr algn="ctr" rtl="0" fontAlgn="ctr"/>
                      <a:r>
                        <a:rPr lang="zh-CN" altLang="en-US" sz="1800" b="1" i="0" u="none" strike="noStrike">
                          <a:solidFill>
                            <a:srgbClr val="FFFFFF"/>
                          </a:solidFill>
                          <a:effectLst/>
                          <a:latin typeface="华文细黑" panose="02010600040101010101" pitchFamily="2" charset="-122"/>
                          <a:ea typeface="华文细黑" panose="02010600040101010101" pitchFamily="2" charset="-122"/>
                        </a:rPr>
                        <a:t>对比项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tc>
                  <a:txBody>
                    <a:bodyPr/>
                    <a:lstStyle/>
                    <a:p>
                      <a:pPr algn="ctr" rtl="0" fontAlgn="ctr"/>
                      <a:r>
                        <a:rPr lang="zh-CN" altLang="en-US" sz="1800" b="1" i="0" u="none" strike="noStrike" dirty="0">
                          <a:solidFill>
                            <a:srgbClr val="FFFFFF"/>
                          </a:solidFill>
                          <a:effectLst/>
                          <a:latin typeface="Arial" panose="020B0604020202020204" pitchFamily="34" charset="0"/>
                          <a:ea typeface="宋体" panose="02010600030101010101" pitchFamily="2" charset="-122"/>
                        </a:rPr>
                        <a:t>网络性能评估</a:t>
                      </a:r>
                      <a:endParaRPr lang="en-US" sz="1800" b="1" i="0" u="none" strike="noStrike" dirty="0">
                        <a:solidFill>
                          <a:srgbClr val="FFFFFF"/>
                        </a:solidFill>
                        <a:effectLst/>
                        <a:latin typeface="Arial" panose="020B0604020202020204" pitchFamily="34" charset="0"/>
                        <a:ea typeface="宋体" panose="02010600030101010101" pitchFamily="2" charset="-122"/>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tc>
                  <a:txBody>
                    <a:bodyPr/>
                    <a:lstStyle/>
                    <a:p>
                      <a:pPr algn="ctr" rtl="0" fontAlgn="ctr"/>
                      <a:r>
                        <a:rPr lang="zh-CN" altLang="en-US" sz="1800" b="1" i="0" u="none" strike="noStrike" dirty="0">
                          <a:solidFill>
                            <a:srgbClr val="FFFFFF"/>
                          </a:solidFill>
                          <a:effectLst/>
                          <a:latin typeface="Arial" panose="020B0604020202020204" pitchFamily="34" charset="0"/>
                          <a:ea typeface="宋体" panose="02010600030101010101" pitchFamily="2" charset="-122"/>
                        </a:rPr>
                        <a:t>客户感知的业务质量评估</a:t>
                      </a:r>
                      <a:endParaRPr lang="en-US" sz="1800" b="1" i="0" u="none" strike="noStrike" dirty="0">
                        <a:solidFill>
                          <a:srgbClr val="FFFFFF"/>
                        </a:solidFill>
                        <a:effectLst/>
                        <a:latin typeface="Arial" panose="020B0604020202020204" pitchFamily="34" charset="0"/>
                        <a:ea typeface="宋体" panose="02010600030101010101" pitchFamily="2" charset="-122"/>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extLst>
                  <a:ext uri="{0D108BD9-81ED-4DB2-BD59-A6C34878D82A}">
                    <a16:rowId xmlns:a16="http://schemas.microsoft.com/office/drawing/2014/main" val="10000"/>
                  </a:ext>
                </a:extLst>
              </a:tr>
              <a:tr h="1234165">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核心内容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通过室内外网络遍历性测试，评估网络，特别是无线网主要业务的性能情况。反映的是网络的极限能力，不代表客户的真实感知。</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按照客户真实的业务行为，如语音拨打、看视频等，测试评估端到端实际的业务质量情况。</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extLst>
                  <a:ext uri="{0D108BD9-81ED-4DB2-BD59-A6C34878D82A}">
                    <a16:rowId xmlns:a16="http://schemas.microsoft.com/office/drawing/2014/main" val="10001"/>
                  </a:ext>
                </a:extLst>
              </a:tr>
              <a:tr h="1234165">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指导方向</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反映网络覆盖、干扰、资源不足等方面的问题，指导网络规划建设，指导网络层面的性能和质量优化。</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在网络性能分析基础上，分析各种业务的端到端质量问题，指导基于业务的质量优化；指导面向竞争对手的业务质量优化。</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extLst>
                  <a:ext uri="{0D108BD9-81ED-4DB2-BD59-A6C34878D82A}">
                    <a16:rowId xmlns:a16="http://schemas.microsoft.com/office/drawing/2014/main" val="10002"/>
                  </a:ext>
                </a:extLst>
              </a:tr>
              <a:tr h="617082">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测试手段</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dirty="0">
                          <a:solidFill>
                            <a:srgbClr val="000000"/>
                          </a:solidFill>
                          <a:effectLst/>
                          <a:latin typeface="Arial" panose="020B0604020202020204" pitchFamily="34" charset="0"/>
                          <a:ea typeface="宋体" panose="02010600030101010101" pitchFamily="2" charset="-122"/>
                        </a:rPr>
                        <a:t>自动测试平台、自动测试前端</a:t>
                      </a:r>
                      <a:r>
                        <a:rPr lang="en-US" altLang="zh-CN" sz="1800" b="0" i="0" u="none" strike="noStrike" dirty="0">
                          <a:solidFill>
                            <a:srgbClr val="000000"/>
                          </a:solidFill>
                          <a:effectLst/>
                          <a:latin typeface="Arial" panose="020B0604020202020204" pitchFamily="34" charset="0"/>
                          <a:ea typeface="宋体" panose="02010600030101010101" pitchFamily="2" charset="-122"/>
                        </a:rPr>
                        <a:t>ATU</a:t>
                      </a:r>
                      <a:r>
                        <a:rPr lang="zh-CN" altLang="en-US" sz="1800" b="0" i="0" u="none" strike="noStrike" dirty="0">
                          <a:solidFill>
                            <a:srgbClr val="000000"/>
                          </a:solidFill>
                          <a:effectLst/>
                          <a:latin typeface="Arial" panose="020B0604020202020204" pitchFamily="34" charset="0"/>
                          <a:ea typeface="宋体" panose="02010600030101010101" pitchFamily="2" charset="-122"/>
                        </a:rPr>
                        <a:t>、网络测试仪表等</a:t>
                      </a:r>
                      <a:endParaRPr lang="en-US" altLang="zh-CN" sz="1800" b="0" i="0" u="none" strike="noStrike" dirty="0">
                        <a:solidFill>
                          <a:srgbClr val="000000"/>
                        </a:solidFill>
                        <a:effectLst/>
                        <a:latin typeface="Arial" panose="020B0604020202020204" pitchFamily="34" charset="0"/>
                        <a:ea typeface="宋体" panose="02010600030101010101" pitchFamily="2" charset="-122"/>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自动测试平台、商用终端、网络测试仪表等</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extLst>
                  <a:ext uri="{0D108BD9-81ED-4DB2-BD59-A6C34878D82A}">
                    <a16:rowId xmlns:a16="http://schemas.microsoft.com/office/drawing/2014/main" val="10003"/>
                  </a:ext>
                </a:extLst>
              </a:tr>
              <a:tr h="925624">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主要指标</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覆盖、干扰等网络指标；下载速率、呼叫成功率等主要业务指标；基站、小区遍历性指标。</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基于浏览、下载、视频播放等业务的质量指标，如下载速率、登录时延、返回时延长等。</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extLst>
                  <a:ext uri="{0D108BD9-81ED-4DB2-BD59-A6C34878D82A}">
                    <a16:rowId xmlns:a16="http://schemas.microsoft.com/office/drawing/2014/main" val="10004"/>
                  </a:ext>
                </a:extLst>
              </a:tr>
            </a:tbl>
          </a:graphicData>
        </a:graphic>
      </p:graphicFrame>
      <p:sp>
        <p:nvSpPr>
          <p:cNvPr id="5" name="MH_Text_3">
            <a:extLst>
              <a:ext uri="{FF2B5EF4-FFF2-40B4-BE49-F238E27FC236}">
                <a16:creationId xmlns:a16="http://schemas.microsoft.com/office/drawing/2014/main" id="{1615AE8E-C80C-6B98-319D-FBE797EF9218}"/>
              </a:ext>
            </a:extLst>
          </p:cNvPr>
          <p:cNvSpPr/>
          <p:nvPr>
            <p:custDataLst>
              <p:tags r:id="rId2"/>
            </p:custDataLst>
          </p:nvPr>
        </p:nvSpPr>
        <p:spPr>
          <a:xfrm>
            <a:off x="291307" y="1235828"/>
            <a:ext cx="11609386" cy="1400175"/>
          </a:xfrm>
          <a:prstGeom prst="rect">
            <a:avLst/>
          </a:prstGeom>
        </p:spPr>
        <p:txBody>
          <a:bodyPr/>
          <a:lstStyle/>
          <a:p>
            <a:pPr>
              <a:lnSpc>
                <a:spcPct val="130000"/>
              </a:lnSpc>
              <a:defRPr/>
            </a:pPr>
            <a:r>
              <a:rPr lang="zh-CN" altLang="en-US" dirty="0"/>
              <a:t>       测试评估体系根据目标，总体上分为“网络性能评估”和“客户感知的业务质量评估”两个维度。核心内容、指导方向、指标输出方面各有侧重，相同点在于测试场景，而测试设备、方法、规范、指标等不尽相同。</a:t>
            </a:r>
            <a:endParaRPr lang="en-US" altLang="zh-CN" dirty="0"/>
          </a:p>
        </p:txBody>
      </p:sp>
    </p:spTree>
    <p:extLst>
      <p:ext uri="{BB962C8B-B14F-4D97-AF65-F5344CB8AC3E}">
        <p14:creationId xmlns:p14="http://schemas.microsoft.com/office/powerpoint/2010/main" val="9918662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MH_Other_5"/>
          <p:cNvSpPr/>
          <p:nvPr>
            <p:custDataLst>
              <p:tags r:id="rId1"/>
            </p:custDataLst>
          </p:nvPr>
        </p:nvSpPr>
        <p:spPr>
          <a:xfrm>
            <a:off x="5033116" y="1739055"/>
            <a:ext cx="1065212" cy="1065213"/>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2" charset="-122"/>
            </a:endParaRPr>
          </a:p>
        </p:txBody>
      </p:sp>
      <p:sp>
        <p:nvSpPr>
          <p:cNvPr id="14" name="标题 1"/>
          <p:cNvSpPr txBox="1"/>
          <p:nvPr/>
        </p:nvSpPr>
        <p:spPr bwMode="auto">
          <a:xfrm>
            <a:off x="784966" y="2073622"/>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DT</a:t>
            </a:r>
            <a:r>
              <a:rPr lang="zh-CN" altLang="en-US" sz="2000" b="1" dirty="0">
                <a:solidFill>
                  <a:srgbClr val="005BAA"/>
                </a:solidFill>
              </a:rPr>
              <a:t>和</a:t>
            </a:r>
            <a:r>
              <a:rPr lang="en-US" altLang="zh-CN" sz="2000" b="1" dirty="0">
                <a:solidFill>
                  <a:srgbClr val="005BAA"/>
                </a:solidFill>
              </a:rPr>
              <a:t>CQT</a:t>
            </a:r>
            <a:r>
              <a:rPr lang="zh-CN" altLang="en-US" sz="2000" b="1" dirty="0">
                <a:solidFill>
                  <a:srgbClr val="005BAA"/>
                </a:solidFill>
              </a:rPr>
              <a:t>测试</a:t>
            </a:r>
          </a:p>
        </p:txBody>
      </p:sp>
      <p:sp>
        <p:nvSpPr>
          <p:cNvPr id="16" name="内容占位符 6"/>
          <p:cNvSpPr txBox="1"/>
          <p:nvPr/>
        </p:nvSpPr>
        <p:spPr bwMode="auto">
          <a:xfrm>
            <a:off x="5130155" y="1739055"/>
            <a:ext cx="6198246" cy="118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marR="0" lvl="0" indent="0" algn="l" defTabSz="914400" rtl="0" eaLnBrk="1" fontAlgn="base" latinLnBrk="0" hangingPunct="1">
              <a:lnSpc>
                <a:spcPct val="130000"/>
              </a:lnSpc>
              <a:spcBef>
                <a:spcPct val="20000"/>
              </a:spcBef>
              <a:spcAft>
                <a:spcPct val="0"/>
              </a:spcAft>
              <a:buClr>
                <a:srgbClr val="008FD4"/>
              </a:buClr>
              <a:buSzPct val="70000"/>
              <a:buNone/>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网络优化通常要借助</a:t>
            </a:r>
            <a:r>
              <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DT</a:t>
            </a:r>
            <a:r>
              <a:rPr kumimoji="0" lang="zh-CN" altLang="en-US"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测试或</a:t>
            </a:r>
            <a:r>
              <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CQT</a:t>
            </a:r>
            <a:r>
              <a:rPr kumimoji="0" lang="zh-CN" altLang="en-US"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测试来进行，测试需要借助工具和软件来记录某点或某区域的信号情况。</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p:txBody>
      </p:sp>
      <p:sp>
        <p:nvSpPr>
          <p:cNvPr id="17" name="内容占位符 6"/>
          <p:cNvSpPr txBox="1"/>
          <p:nvPr/>
        </p:nvSpPr>
        <p:spPr bwMode="auto">
          <a:xfrm>
            <a:off x="6046867" y="3331287"/>
            <a:ext cx="4364821"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fontAlgn="base">
              <a:lnSpc>
                <a:spcPct val="120000"/>
              </a:lnSpc>
              <a:spcBef>
                <a:spcPct val="20000"/>
              </a:spcBef>
              <a:spcAft>
                <a:spcPct val="0"/>
              </a:spcAft>
              <a:buClr>
                <a:srgbClr val="0087E2"/>
              </a:buClr>
              <a:buSzPct val="80000"/>
              <a:buFont typeface="Arial" panose="020B0604020202020204" pitchFamily="34" charset="0"/>
              <a:buChar char="•"/>
            </a:pPr>
            <a:r>
              <a:rPr lang="zh-CN" altLang="en-US" sz="2000" dirty="0">
                <a:solidFill>
                  <a:srgbClr val="000000"/>
                </a:solidFill>
                <a:latin typeface="微软雅黑" panose="020B0503020204020204" charset="-122"/>
                <a:ea typeface="微软雅黑" panose="020B0503020204020204" charset="-122"/>
              </a:rPr>
              <a:t>常规的测试系统</a:t>
            </a:r>
            <a:r>
              <a:rPr lang="en-US" altLang="zh-CN" sz="2000" dirty="0">
                <a:solidFill>
                  <a:srgbClr val="000000"/>
                </a:solidFill>
                <a:latin typeface="微软雅黑" panose="020B0503020204020204" charset="-122"/>
                <a:ea typeface="微软雅黑" panose="020B0503020204020204" charset="-122"/>
              </a:rPr>
              <a:t>UE</a:t>
            </a:r>
            <a:r>
              <a:rPr lang="zh-CN" altLang="en-US" sz="2000" dirty="0">
                <a:solidFill>
                  <a:srgbClr val="000000"/>
                </a:solidFill>
                <a:latin typeface="微软雅黑" panose="020B0503020204020204" charset="-122"/>
                <a:ea typeface="微软雅黑" panose="020B0503020204020204" charset="-122"/>
              </a:rPr>
              <a:t>作为接收端，基站作为发射端；</a:t>
            </a:r>
            <a:endParaRPr lang="en-US" altLang="zh-CN" sz="2000" dirty="0">
              <a:solidFill>
                <a:srgbClr val="000000"/>
              </a:solidFill>
              <a:latin typeface="微软雅黑" panose="020B0503020204020204" charset="-122"/>
              <a:ea typeface="微软雅黑" panose="020B0503020204020204" charset="-122"/>
            </a:endParaRPr>
          </a:p>
          <a:p>
            <a:pPr defTabSz="914400" fontAlgn="base">
              <a:lnSpc>
                <a:spcPct val="120000"/>
              </a:lnSpc>
              <a:spcBef>
                <a:spcPct val="20000"/>
              </a:spcBef>
              <a:spcAft>
                <a:spcPct val="0"/>
              </a:spcAft>
              <a:buClr>
                <a:srgbClr val="0087E2"/>
              </a:buClr>
              <a:buSzPct val="80000"/>
              <a:buFont typeface="Arial" panose="020B0604020202020204" pitchFamily="34" charset="0"/>
              <a:buChar char="•"/>
            </a:pPr>
            <a:r>
              <a:rPr lang="en-US" altLang="zh-CN" sz="2000" dirty="0">
                <a:solidFill>
                  <a:srgbClr val="000000"/>
                </a:solidFill>
                <a:latin typeface="微软雅黑" panose="020B0503020204020204" charset="-122"/>
                <a:ea typeface="微软雅黑" panose="020B0503020204020204" charset="-122"/>
              </a:rPr>
              <a:t>UE</a:t>
            </a:r>
            <a:r>
              <a:rPr lang="zh-CN" altLang="en-US" sz="2000" dirty="0">
                <a:solidFill>
                  <a:srgbClr val="000000"/>
                </a:solidFill>
                <a:latin typeface="微软雅黑" panose="020B0503020204020204" charset="-122"/>
                <a:ea typeface="微软雅黑" panose="020B0503020204020204" charset="-122"/>
              </a:rPr>
              <a:t>可选择的类型多样，根据实际需要选取；</a:t>
            </a:r>
            <a:endParaRPr lang="en-US" altLang="zh-CN" sz="2000" dirty="0">
              <a:solidFill>
                <a:srgbClr val="000000"/>
              </a:solidFill>
              <a:latin typeface="微软雅黑" panose="020B0503020204020204" charset="-122"/>
              <a:ea typeface="微软雅黑" panose="020B0503020204020204" charset="-122"/>
            </a:endParaRPr>
          </a:p>
          <a:p>
            <a:pPr defTabSz="914400" fontAlgn="base">
              <a:lnSpc>
                <a:spcPct val="120000"/>
              </a:lnSpc>
              <a:spcBef>
                <a:spcPct val="20000"/>
              </a:spcBef>
              <a:spcAft>
                <a:spcPct val="0"/>
              </a:spcAft>
              <a:buClr>
                <a:srgbClr val="0087E2"/>
              </a:buClr>
              <a:buSzPct val="80000"/>
              <a:buFont typeface="Arial" panose="020B0604020202020204" pitchFamily="34" charset="0"/>
              <a:buChar char="•"/>
            </a:pPr>
            <a:r>
              <a:rPr lang="zh-CN" altLang="en-US" sz="2000" dirty="0">
                <a:solidFill>
                  <a:srgbClr val="000000"/>
                </a:solidFill>
                <a:latin typeface="微软雅黑" panose="020B0503020204020204" charset="-122"/>
                <a:ea typeface="微软雅黑" panose="020B0503020204020204" charset="-122"/>
              </a:rPr>
              <a:t>进行室内测试时，不需要</a:t>
            </a:r>
            <a:r>
              <a:rPr lang="en-US" altLang="zh-CN" sz="2000" dirty="0">
                <a:solidFill>
                  <a:srgbClr val="000000"/>
                </a:solidFill>
                <a:latin typeface="微软雅黑" panose="020B0503020204020204" charset="-122"/>
                <a:ea typeface="微软雅黑" panose="020B0503020204020204" charset="-122"/>
              </a:rPr>
              <a:t>GPS</a:t>
            </a:r>
            <a:r>
              <a:rPr lang="zh-CN" altLang="en-US" sz="2000" dirty="0">
                <a:solidFill>
                  <a:srgbClr val="000000"/>
                </a:solidFill>
                <a:latin typeface="微软雅黑" panose="020B0503020204020204" charset="-122"/>
                <a:ea typeface="微软雅黑" panose="020B0503020204020204" charset="-122"/>
              </a:rPr>
              <a:t>。</a:t>
            </a:r>
          </a:p>
          <a:p>
            <a:pPr defTabSz="914400" fontAlgn="base">
              <a:lnSpc>
                <a:spcPct val="120000"/>
              </a:lnSpc>
              <a:spcBef>
                <a:spcPct val="20000"/>
              </a:spcBef>
              <a:spcAft>
                <a:spcPct val="0"/>
              </a:spcAft>
              <a:buClr>
                <a:srgbClr val="0087E2"/>
              </a:buClr>
              <a:buSzPct val="80000"/>
              <a:buFont typeface="Wingdings" panose="05000000000000000000" pitchFamily="2" charset="2"/>
              <a:buChar char="n"/>
            </a:pPr>
            <a:endParaRPr lang="en-US" altLang="zh-CN" sz="2000" dirty="0">
              <a:solidFill>
                <a:srgbClr val="000000"/>
              </a:solidFill>
              <a:latin typeface="微软雅黑" panose="020B0503020204020204" charset="-122"/>
              <a:ea typeface="微软雅黑" panose="020B0503020204020204" charset="-122"/>
            </a:endParaRPr>
          </a:p>
        </p:txBody>
      </p:sp>
      <p:pic>
        <p:nvPicPr>
          <p:cNvPr id="2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535" y="2869433"/>
            <a:ext cx="440055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1" name="MH_Other_1"/>
          <p:cNvSpPr/>
          <p:nvPr>
            <p:custDataLst>
              <p:tags r:id="rId1"/>
            </p:custDataLst>
          </p:nvPr>
        </p:nvSpPr>
        <p:spPr>
          <a:xfrm>
            <a:off x="5590647" y="2929333"/>
            <a:ext cx="1049337" cy="1049337"/>
          </a:xfrm>
          <a:prstGeom prst="ellipse">
            <a:avLst/>
          </a:prstGeom>
          <a:solidFill>
            <a:srgbClr val="FFFFFF"/>
          </a:solidFill>
          <a:ln w="3175">
            <a:solidFill>
              <a:srgbClr val="DDDDDD"/>
            </a:solidFill>
          </a:ln>
          <a:effectLst>
            <a:outerShdw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MH_Other_3"/>
          <p:cNvSpPr/>
          <p:nvPr>
            <p:custDataLst>
              <p:tags r:id="rId2"/>
            </p:custDataLst>
          </p:nvPr>
        </p:nvSpPr>
        <p:spPr>
          <a:xfrm>
            <a:off x="5915765" y="1785936"/>
            <a:ext cx="198437" cy="893763"/>
          </a:xfrm>
          <a:custGeom>
            <a:avLst/>
            <a:gdLst>
              <a:gd name="connsiteX0" fmla="*/ 0 w 200069"/>
              <a:gd name="connsiteY0" fmla="*/ 0 h 904875"/>
              <a:gd name="connsiteX1" fmla="*/ 200025 w 200069"/>
              <a:gd name="connsiteY1" fmla="*/ 490538 h 904875"/>
              <a:gd name="connsiteX2" fmla="*/ 14288 w 200069"/>
              <a:gd name="connsiteY2" fmla="*/ 904875 h 904875"/>
              <a:gd name="connsiteX0-1" fmla="*/ 0 w 202450"/>
              <a:gd name="connsiteY0-2" fmla="*/ 0 h 904875"/>
              <a:gd name="connsiteX1-3" fmla="*/ 202407 w 202450"/>
              <a:gd name="connsiteY1-4" fmla="*/ 471488 h 904875"/>
              <a:gd name="connsiteX2-5" fmla="*/ 14288 w 202450"/>
              <a:gd name="connsiteY2-6" fmla="*/ 904875 h 904875"/>
              <a:gd name="connsiteX0-7" fmla="*/ 0 w 202558"/>
              <a:gd name="connsiteY0-8" fmla="*/ 0 h 904875"/>
              <a:gd name="connsiteX1-9" fmla="*/ 202407 w 202558"/>
              <a:gd name="connsiteY1-10" fmla="*/ 471488 h 904875"/>
              <a:gd name="connsiteX2-11" fmla="*/ 14288 w 202558"/>
              <a:gd name="connsiteY2-12" fmla="*/ 904875 h 904875"/>
              <a:gd name="connsiteX0-13" fmla="*/ 0 w 204846"/>
              <a:gd name="connsiteY0-14" fmla="*/ 0 h 897731"/>
              <a:gd name="connsiteX1-15" fmla="*/ 204788 w 204846"/>
              <a:gd name="connsiteY1-16" fmla="*/ 464344 h 897731"/>
              <a:gd name="connsiteX2-17" fmla="*/ 16669 w 204846"/>
              <a:gd name="connsiteY2-18" fmla="*/ 897731 h 897731"/>
              <a:gd name="connsiteX0-19" fmla="*/ 0 w 204846"/>
              <a:gd name="connsiteY0-20" fmla="*/ 0 h 897731"/>
              <a:gd name="connsiteX1-21" fmla="*/ 204788 w 204846"/>
              <a:gd name="connsiteY1-22" fmla="*/ 464344 h 897731"/>
              <a:gd name="connsiteX2-23" fmla="*/ 16669 w 204846"/>
              <a:gd name="connsiteY2-24" fmla="*/ 897731 h 897731"/>
              <a:gd name="connsiteX0-25" fmla="*/ 0 w 204798"/>
              <a:gd name="connsiteY0-26" fmla="*/ 0 h 916781"/>
              <a:gd name="connsiteX1-27" fmla="*/ 204788 w 204798"/>
              <a:gd name="connsiteY1-28" fmla="*/ 464344 h 916781"/>
              <a:gd name="connsiteX2-29" fmla="*/ 7144 w 204798"/>
              <a:gd name="connsiteY2-30" fmla="*/ 916781 h 916781"/>
              <a:gd name="connsiteX0-31" fmla="*/ 0 w 204800"/>
              <a:gd name="connsiteY0-32" fmla="*/ 0 h 916781"/>
              <a:gd name="connsiteX1-33" fmla="*/ 204788 w 204800"/>
              <a:gd name="connsiteY1-34" fmla="*/ 464344 h 916781"/>
              <a:gd name="connsiteX2-35" fmla="*/ 7144 w 204800"/>
              <a:gd name="connsiteY2-36" fmla="*/ 916781 h 916781"/>
            </a:gdLst>
            <a:ahLst/>
            <a:cxnLst>
              <a:cxn ang="0">
                <a:pos x="connsiteX0-1" y="connsiteY0-2"/>
              </a:cxn>
              <a:cxn ang="0">
                <a:pos x="connsiteX1-3" y="connsiteY1-4"/>
              </a:cxn>
              <a:cxn ang="0">
                <a:pos x="connsiteX2-5" y="connsiteY2-6"/>
              </a:cxn>
            </a:cxnLst>
            <a:rect l="l" t="t" r="r" b="b"/>
            <a:pathLst>
              <a:path w="204800" h="916781">
                <a:moveTo>
                  <a:pt x="0" y="0"/>
                </a:moveTo>
                <a:cubicBezTo>
                  <a:pt x="158353" y="148432"/>
                  <a:pt x="203597" y="311547"/>
                  <a:pt x="204788" y="464344"/>
                </a:cubicBezTo>
                <a:cubicBezTo>
                  <a:pt x="205979" y="617141"/>
                  <a:pt x="120253" y="789782"/>
                  <a:pt x="7144" y="916781"/>
                </a:cubicBezTo>
              </a:path>
            </a:pathLst>
          </a:custGeom>
          <a:noFill/>
          <a:ln w="25400">
            <a:solidFill>
              <a:schemeClr val="accent2"/>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4" name="MH_Other_4"/>
          <p:cNvCxnSpPr/>
          <p:nvPr>
            <p:custDataLst>
              <p:tags r:id="rId3"/>
            </p:custDataLst>
          </p:nvPr>
        </p:nvCxnSpPr>
        <p:spPr>
          <a:xfrm>
            <a:off x="6112615" y="2230435"/>
            <a:ext cx="225425" cy="0"/>
          </a:xfrm>
          <a:prstGeom prst="line">
            <a:avLst/>
          </a:prstGeom>
          <a:ln w="25400">
            <a:solidFill>
              <a:schemeClr val="accent2"/>
            </a:solidFill>
            <a:tailEnd type="oval" w="sm" len="sm"/>
          </a:ln>
        </p:spPr>
        <p:style>
          <a:lnRef idx="1">
            <a:schemeClr val="accent1"/>
          </a:lnRef>
          <a:fillRef idx="0">
            <a:schemeClr val="accent1"/>
          </a:fillRef>
          <a:effectRef idx="0">
            <a:schemeClr val="accent1"/>
          </a:effectRef>
          <a:fontRef idx="minor">
            <a:schemeClr val="tx1"/>
          </a:fontRef>
        </p:style>
      </p:cxnSp>
      <p:sp>
        <p:nvSpPr>
          <p:cNvPr id="35" name="MH_Other_5"/>
          <p:cNvSpPr/>
          <p:nvPr>
            <p:custDataLst>
              <p:tags r:id="rId4"/>
            </p:custDataLst>
          </p:nvPr>
        </p:nvSpPr>
        <p:spPr>
          <a:xfrm>
            <a:off x="6050702" y="2168524"/>
            <a:ext cx="123825" cy="122237"/>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MH_Other_6"/>
          <p:cNvSpPr/>
          <p:nvPr>
            <p:custDataLst>
              <p:tags r:id="rId5"/>
            </p:custDataLst>
          </p:nvPr>
        </p:nvSpPr>
        <p:spPr>
          <a:xfrm>
            <a:off x="5900208" y="3302395"/>
            <a:ext cx="431800" cy="296863"/>
          </a:xfrm>
          <a:custGeom>
            <a:avLst/>
            <a:gdLst>
              <a:gd name="connsiteX0" fmla="*/ 1720704 w 1721074"/>
              <a:gd name="connsiteY0" fmla="*/ 0 h 1180530"/>
              <a:gd name="connsiteX1" fmla="*/ 1721074 w 1721074"/>
              <a:gd name="connsiteY1" fmla="*/ 328961 h 1180530"/>
              <a:gd name="connsiteX2" fmla="*/ 1609393 w 1721074"/>
              <a:gd name="connsiteY2" fmla="*/ 253106 h 1180530"/>
              <a:gd name="connsiteX3" fmla="*/ 1153934 w 1721074"/>
              <a:gd name="connsiteY3" fmla="*/ 933995 h 1180530"/>
              <a:gd name="connsiteX4" fmla="*/ 899597 w 1721074"/>
              <a:gd name="connsiteY4" fmla="*/ 519521 h 1180530"/>
              <a:gd name="connsiteX5" fmla="*/ 532223 w 1721074"/>
              <a:gd name="connsiteY5" fmla="*/ 1009354 h 1180530"/>
              <a:gd name="connsiteX6" fmla="*/ 292016 w 1721074"/>
              <a:gd name="connsiteY6" fmla="*/ 792697 h 1180530"/>
              <a:gd name="connsiteX7" fmla="*/ 0 w 1721074"/>
              <a:gd name="connsiteY7" fmla="*/ 1180530 h 1180530"/>
              <a:gd name="connsiteX8" fmla="*/ 0 w 1721074"/>
              <a:gd name="connsiteY8" fmla="*/ 996382 h 1180530"/>
              <a:gd name="connsiteX9" fmla="*/ 277886 w 1721074"/>
              <a:gd name="connsiteY9" fmla="*/ 613720 h 1180530"/>
              <a:gd name="connsiteX10" fmla="*/ 503963 w 1721074"/>
              <a:gd name="connsiteY10" fmla="*/ 839796 h 1180530"/>
              <a:gd name="connsiteX11" fmla="*/ 923147 w 1721074"/>
              <a:gd name="connsiteY11" fmla="*/ 316994 h 1180530"/>
              <a:gd name="connsiteX12" fmla="*/ 1158644 w 1721074"/>
              <a:gd name="connsiteY12" fmla="*/ 731468 h 1180530"/>
              <a:gd name="connsiteX13" fmla="*/ 1529274 w 1721074"/>
              <a:gd name="connsiteY13" fmla="*/ 198688 h 1180530"/>
              <a:gd name="connsiteX14" fmla="*/ 1414772 w 1721074"/>
              <a:gd name="connsiteY14" fmla="*/ 120917 h 118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1074" h="1180530">
                <a:moveTo>
                  <a:pt x="1720704" y="0"/>
                </a:moveTo>
                <a:lnTo>
                  <a:pt x="1721074" y="328961"/>
                </a:lnTo>
                <a:lnTo>
                  <a:pt x="1609393" y="253106"/>
                </a:lnTo>
                <a:lnTo>
                  <a:pt x="1153934" y="933995"/>
                </a:lnTo>
                <a:lnTo>
                  <a:pt x="899597" y="519521"/>
                </a:lnTo>
                <a:lnTo>
                  <a:pt x="532223" y="1009354"/>
                </a:lnTo>
                <a:lnTo>
                  <a:pt x="292016" y="792697"/>
                </a:lnTo>
                <a:lnTo>
                  <a:pt x="0" y="1180530"/>
                </a:lnTo>
                <a:lnTo>
                  <a:pt x="0" y="996382"/>
                </a:lnTo>
                <a:lnTo>
                  <a:pt x="277886" y="613720"/>
                </a:lnTo>
                <a:lnTo>
                  <a:pt x="503963" y="839796"/>
                </a:lnTo>
                <a:lnTo>
                  <a:pt x="923147" y="316994"/>
                </a:lnTo>
                <a:lnTo>
                  <a:pt x="1158644" y="731468"/>
                </a:lnTo>
                <a:lnTo>
                  <a:pt x="1529274" y="198688"/>
                </a:lnTo>
                <a:lnTo>
                  <a:pt x="1414772" y="12091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9" name="MH_Other_9"/>
          <p:cNvSpPr/>
          <p:nvPr>
            <p:custDataLst>
              <p:tags r:id="rId6"/>
            </p:custDataLst>
          </p:nvPr>
        </p:nvSpPr>
        <p:spPr>
          <a:xfrm flipH="1">
            <a:off x="5717328" y="2814108"/>
            <a:ext cx="198437" cy="893762"/>
          </a:xfrm>
          <a:custGeom>
            <a:avLst/>
            <a:gdLst>
              <a:gd name="connsiteX0" fmla="*/ 0 w 200069"/>
              <a:gd name="connsiteY0" fmla="*/ 0 h 904875"/>
              <a:gd name="connsiteX1" fmla="*/ 200025 w 200069"/>
              <a:gd name="connsiteY1" fmla="*/ 490538 h 904875"/>
              <a:gd name="connsiteX2" fmla="*/ 14288 w 200069"/>
              <a:gd name="connsiteY2" fmla="*/ 904875 h 904875"/>
              <a:gd name="connsiteX0-1" fmla="*/ 0 w 202450"/>
              <a:gd name="connsiteY0-2" fmla="*/ 0 h 904875"/>
              <a:gd name="connsiteX1-3" fmla="*/ 202407 w 202450"/>
              <a:gd name="connsiteY1-4" fmla="*/ 471488 h 904875"/>
              <a:gd name="connsiteX2-5" fmla="*/ 14288 w 202450"/>
              <a:gd name="connsiteY2-6" fmla="*/ 904875 h 904875"/>
              <a:gd name="connsiteX0-7" fmla="*/ 0 w 202558"/>
              <a:gd name="connsiteY0-8" fmla="*/ 0 h 904875"/>
              <a:gd name="connsiteX1-9" fmla="*/ 202407 w 202558"/>
              <a:gd name="connsiteY1-10" fmla="*/ 471488 h 904875"/>
              <a:gd name="connsiteX2-11" fmla="*/ 14288 w 202558"/>
              <a:gd name="connsiteY2-12" fmla="*/ 904875 h 904875"/>
              <a:gd name="connsiteX0-13" fmla="*/ 0 w 204846"/>
              <a:gd name="connsiteY0-14" fmla="*/ 0 h 897731"/>
              <a:gd name="connsiteX1-15" fmla="*/ 204788 w 204846"/>
              <a:gd name="connsiteY1-16" fmla="*/ 464344 h 897731"/>
              <a:gd name="connsiteX2-17" fmla="*/ 16669 w 204846"/>
              <a:gd name="connsiteY2-18" fmla="*/ 897731 h 897731"/>
              <a:gd name="connsiteX0-19" fmla="*/ 0 w 204846"/>
              <a:gd name="connsiteY0-20" fmla="*/ 0 h 897731"/>
              <a:gd name="connsiteX1-21" fmla="*/ 204788 w 204846"/>
              <a:gd name="connsiteY1-22" fmla="*/ 464344 h 897731"/>
              <a:gd name="connsiteX2-23" fmla="*/ 16669 w 204846"/>
              <a:gd name="connsiteY2-24" fmla="*/ 897731 h 897731"/>
              <a:gd name="connsiteX0-25" fmla="*/ 0 w 204798"/>
              <a:gd name="connsiteY0-26" fmla="*/ 0 h 916781"/>
              <a:gd name="connsiteX1-27" fmla="*/ 204788 w 204798"/>
              <a:gd name="connsiteY1-28" fmla="*/ 464344 h 916781"/>
              <a:gd name="connsiteX2-29" fmla="*/ 7144 w 204798"/>
              <a:gd name="connsiteY2-30" fmla="*/ 916781 h 916781"/>
              <a:gd name="connsiteX0-31" fmla="*/ 0 w 204800"/>
              <a:gd name="connsiteY0-32" fmla="*/ 0 h 916781"/>
              <a:gd name="connsiteX1-33" fmla="*/ 204788 w 204800"/>
              <a:gd name="connsiteY1-34" fmla="*/ 464344 h 916781"/>
              <a:gd name="connsiteX2-35" fmla="*/ 7144 w 204800"/>
              <a:gd name="connsiteY2-36" fmla="*/ 916781 h 916781"/>
            </a:gdLst>
            <a:ahLst/>
            <a:cxnLst>
              <a:cxn ang="0">
                <a:pos x="connsiteX0-1" y="connsiteY0-2"/>
              </a:cxn>
              <a:cxn ang="0">
                <a:pos x="connsiteX1-3" y="connsiteY1-4"/>
              </a:cxn>
              <a:cxn ang="0">
                <a:pos x="connsiteX2-5" y="connsiteY2-6"/>
              </a:cxn>
            </a:cxnLst>
            <a:rect l="l" t="t" r="r" b="b"/>
            <a:pathLst>
              <a:path w="204800" h="916781">
                <a:moveTo>
                  <a:pt x="0" y="0"/>
                </a:moveTo>
                <a:cubicBezTo>
                  <a:pt x="158353" y="148432"/>
                  <a:pt x="203597" y="311547"/>
                  <a:pt x="204788" y="464344"/>
                </a:cubicBezTo>
                <a:cubicBezTo>
                  <a:pt x="205979" y="617141"/>
                  <a:pt x="120253" y="789782"/>
                  <a:pt x="7144" y="916781"/>
                </a:cubicBezTo>
              </a:path>
            </a:pathLst>
          </a:custGeom>
          <a:noFill/>
          <a:ln w="25400">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0" name="MH_Other_10"/>
          <p:cNvCxnSpPr/>
          <p:nvPr>
            <p:custDataLst>
              <p:tags r:id="rId7"/>
            </p:custDataLst>
          </p:nvPr>
        </p:nvCxnSpPr>
        <p:spPr>
          <a:xfrm flipH="1">
            <a:off x="5493490" y="3258608"/>
            <a:ext cx="225425" cy="0"/>
          </a:xfrm>
          <a:prstGeom prst="line">
            <a:avLst/>
          </a:prstGeom>
          <a:ln w="25400">
            <a:solidFill>
              <a:schemeClr val="accent1"/>
            </a:solidFill>
            <a:tailEnd type="oval" w="sm" len="sm"/>
          </a:ln>
        </p:spPr>
        <p:style>
          <a:lnRef idx="1">
            <a:schemeClr val="accent1"/>
          </a:lnRef>
          <a:fillRef idx="0">
            <a:schemeClr val="accent1"/>
          </a:fillRef>
          <a:effectRef idx="0">
            <a:schemeClr val="accent1"/>
          </a:effectRef>
          <a:fontRef idx="minor">
            <a:schemeClr val="tx1"/>
          </a:fontRef>
        </p:style>
      </p:cxnSp>
      <p:sp>
        <p:nvSpPr>
          <p:cNvPr id="41" name="MH_Other_11"/>
          <p:cNvSpPr/>
          <p:nvPr>
            <p:custDataLst>
              <p:tags r:id="rId8"/>
            </p:custDataLst>
          </p:nvPr>
        </p:nvSpPr>
        <p:spPr>
          <a:xfrm flipH="1">
            <a:off x="5657003" y="3196696"/>
            <a:ext cx="123825" cy="123825"/>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MH_SubTitle_1"/>
          <p:cNvSpPr>
            <a:spLocks noChangeArrowheads="1"/>
          </p:cNvSpPr>
          <p:nvPr>
            <p:custDataLst>
              <p:tags r:id="rId9"/>
            </p:custDataLst>
          </p:nvPr>
        </p:nvSpPr>
        <p:spPr bwMode="auto">
          <a:xfrm flipH="1">
            <a:off x="2089890" y="3025246"/>
            <a:ext cx="33432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en-US" altLang="zh-CN" sz="2000" b="1" dirty="0">
                <a:solidFill>
                  <a:srgbClr val="FF0000"/>
                </a:solidFill>
                <a:latin typeface="+mn-ea"/>
                <a:ea typeface="+mn-ea"/>
              </a:rPr>
              <a:t>DT(Driver test)</a:t>
            </a:r>
            <a:r>
              <a:rPr lang="zh-CN" altLang="en-US" sz="2000" b="1" dirty="0">
                <a:solidFill>
                  <a:srgbClr val="FF0000"/>
                </a:solidFill>
                <a:latin typeface="+mn-ea"/>
                <a:ea typeface="+mn-ea"/>
              </a:rPr>
              <a:t>路测</a:t>
            </a:r>
            <a:endParaRPr lang="en-US" altLang="zh-CN" sz="2000" b="1" dirty="0">
              <a:solidFill>
                <a:srgbClr val="FF0000"/>
              </a:solidFill>
              <a:latin typeface="+mn-ea"/>
              <a:ea typeface="+mn-ea"/>
            </a:endParaRPr>
          </a:p>
        </p:txBody>
      </p:sp>
      <p:sp>
        <p:nvSpPr>
          <p:cNvPr id="44" name="MH_SubTitle_2"/>
          <p:cNvSpPr>
            <a:spLocks noChangeArrowheads="1"/>
          </p:cNvSpPr>
          <p:nvPr>
            <p:custDataLst>
              <p:tags r:id="rId10"/>
            </p:custDataLst>
          </p:nvPr>
        </p:nvSpPr>
        <p:spPr bwMode="auto">
          <a:xfrm>
            <a:off x="7769435" y="1987549"/>
            <a:ext cx="33416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en-US" altLang="zh-CN" sz="2000" b="1" dirty="0">
                <a:solidFill>
                  <a:srgbClr val="FF0000"/>
                </a:solidFill>
                <a:latin typeface="+mn-ea"/>
                <a:ea typeface="+mn-ea"/>
              </a:rPr>
              <a:t>CQT</a:t>
            </a:r>
            <a:r>
              <a:rPr lang="zh-CN" altLang="en-US" sz="2000" b="1" dirty="0">
                <a:solidFill>
                  <a:srgbClr val="FF0000"/>
                </a:solidFill>
                <a:latin typeface="+mn-ea"/>
                <a:ea typeface="+mn-ea"/>
              </a:rPr>
              <a:t>（</a:t>
            </a:r>
            <a:r>
              <a:rPr lang="en-US" altLang="zh-CN" sz="2000" b="1" dirty="0">
                <a:solidFill>
                  <a:srgbClr val="FF0000"/>
                </a:solidFill>
                <a:latin typeface="+mn-ea"/>
                <a:ea typeface="+mn-ea"/>
              </a:rPr>
              <a:t>Call quality test</a:t>
            </a:r>
            <a:r>
              <a:rPr lang="zh-CN" altLang="en-US" sz="2000" b="1" dirty="0">
                <a:solidFill>
                  <a:srgbClr val="FF0000"/>
                </a:solidFill>
                <a:latin typeface="+mn-ea"/>
                <a:ea typeface="+mn-ea"/>
              </a:rPr>
              <a:t>）呼叫质量测试</a:t>
            </a:r>
            <a:endParaRPr lang="en-US" altLang="zh-CN" sz="2000" b="1" dirty="0">
              <a:solidFill>
                <a:srgbClr val="FF0000"/>
              </a:solidFill>
              <a:latin typeface="+mn-ea"/>
              <a:ea typeface="+mn-ea"/>
            </a:endParaRPr>
          </a:p>
        </p:txBody>
      </p:sp>
      <p:sp>
        <p:nvSpPr>
          <p:cNvPr id="45" name="MH_Text_2"/>
          <p:cNvSpPr/>
          <p:nvPr>
            <p:custDataLst>
              <p:tags r:id="rId11"/>
            </p:custDataLst>
          </p:nvPr>
        </p:nvSpPr>
        <p:spPr>
          <a:xfrm>
            <a:off x="6455935" y="2470148"/>
            <a:ext cx="4784724" cy="2625907"/>
          </a:xfrm>
          <a:prstGeom prst="rect">
            <a:avLst/>
          </a:prstGeom>
        </p:spPr>
        <p:txBody>
          <a:bodyPr>
            <a:noAutofit/>
          </a:bodyPr>
          <a:lstStyle/>
          <a:p>
            <a:pPr marL="285750" indent="-285750">
              <a:buFont typeface="Arial" panose="020B0604020202020204" pitchFamily="34" charset="0"/>
              <a:buChar char="•"/>
            </a:pPr>
            <a:r>
              <a:rPr lang="en-US" altLang="zh-CN" dirty="0"/>
              <a:t>CQT</a:t>
            </a:r>
            <a:r>
              <a:rPr lang="zh-CN" altLang="en-US" dirty="0"/>
              <a:t>主要是定点测试，</a:t>
            </a:r>
            <a:r>
              <a:rPr lang="zh-CN" altLang="zh-CN" dirty="0"/>
              <a:t>在特定的地点使用测试设备进行一定规模的拨测呼叫，数据业务测试，记录测试数据，统计网络测试指标。</a:t>
            </a:r>
          </a:p>
          <a:p>
            <a:pPr marL="285750" indent="-285750">
              <a:buFont typeface="Arial" panose="020B0604020202020204" pitchFamily="34" charset="0"/>
              <a:buChar char="•"/>
            </a:pPr>
            <a:r>
              <a:rPr lang="zh-CN" altLang="en-US" dirty="0"/>
              <a:t>主要对政府机关，大型酒店，学校，医院、大型场馆或者商城等进行的定点测试。</a:t>
            </a:r>
            <a:endParaRPr lang="en-US" altLang="zh-CN" dirty="0"/>
          </a:p>
          <a:p>
            <a:pPr marL="285750" indent="-285750">
              <a:buFont typeface="Arial" panose="020B0604020202020204" pitchFamily="34" charset="0"/>
              <a:buChar char="•"/>
            </a:pPr>
            <a:r>
              <a:rPr lang="en-US" altLang="zh-CN" dirty="0"/>
              <a:t>CQT</a:t>
            </a:r>
            <a:r>
              <a:rPr lang="zh-CN" altLang="en-US" dirty="0"/>
              <a:t>为深度精度测试，是在网络比较完整以后用来做纵深测试优化才用的手段。</a:t>
            </a:r>
            <a:endParaRPr lang="en-US" altLang="zh-CN" dirty="0"/>
          </a:p>
        </p:txBody>
      </p:sp>
      <p:sp>
        <p:nvSpPr>
          <p:cNvPr id="46" name="MH_Text_1"/>
          <p:cNvSpPr/>
          <p:nvPr>
            <p:custDataLst>
              <p:tags r:id="rId12"/>
            </p:custDataLst>
          </p:nvPr>
        </p:nvSpPr>
        <p:spPr>
          <a:xfrm>
            <a:off x="1445407" y="3528483"/>
            <a:ext cx="4145240" cy="2336620"/>
          </a:xfrm>
          <a:prstGeom prst="rect">
            <a:avLst/>
          </a:prstGeom>
        </p:spPr>
        <p:txBody>
          <a:bodyPr>
            <a:normAutofit/>
          </a:bodyPr>
          <a:lstStyle/>
          <a:p>
            <a:pPr marL="285750" indent="-285750">
              <a:lnSpc>
                <a:spcPct val="130000"/>
              </a:lnSpc>
              <a:buFont typeface="Arial" panose="020B0604020202020204" pitchFamily="34" charset="0"/>
              <a:buChar char="•"/>
              <a:defRPr/>
            </a:pPr>
            <a:r>
              <a:rPr lang="en-US" altLang="zh-CN" dirty="0"/>
              <a:t>DT</a:t>
            </a:r>
            <a:r>
              <a:rPr lang="zh-CN" altLang="en-US" dirty="0"/>
              <a:t>测试是使用测试设备沿指定的路线移动，进行不同类型的呼叫，数据业务测试，记录测试数据，统计网络测试指标。</a:t>
            </a:r>
          </a:p>
          <a:p>
            <a:pPr marL="285750" indent="-285750">
              <a:lnSpc>
                <a:spcPct val="130000"/>
              </a:lnSpc>
              <a:buFont typeface="Arial" panose="020B0604020202020204" pitchFamily="34" charset="0"/>
              <a:buChar char="•"/>
              <a:defRPr/>
            </a:pPr>
            <a:r>
              <a:rPr lang="en-US" altLang="zh-CN" dirty="0"/>
              <a:t>DT</a:t>
            </a:r>
            <a:r>
              <a:rPr lang="zh-CN" altLang="en-US" dirty="0"/>
              <a:t>是摸底性测试，适合初步掌握网络情况。</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25" name="MH_Other_1"/>
          <p:cNvSpPr/>
          <p:nvPr>
            <p:custDataLst>
              <p:tags r:id="rId2"/>
            </p:custDataLst>
          </p:nvPr>
        </p:nvSpPr>
        <p:spPr>
          <a:xfrm>
            <a:off x="5673938" y="2091871"/>
            <a:ext cx="704850" cy="730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6" name="MH_Other_2"/>
          <p:cNvSpPr/>
          <p:nvPr>
            <p:custDataLst>
              <p:tags r:id="rId3"/>
            </p:custDataLst>
          </p:nvPr>
        </p:nvSpPr>
        <p:spPr>
          <a:xfrm>
            <a:off x="5539001" y="1952171"/>
            <a:ext cx="974725" cy="1009650"/>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MH_SubTitle_1"/>
          <p:cNvSpPr txBox="1">
            <a:spLocks noChangeArrowheads="1"/>
          </p:cNvSpPr>
          <p:nvPr>
            <p:custDataLst>
              <p:tags r:id="rId4"/>
            </p:custDataLst>
          </p:nvPr>
        </p:nvSpPr>
        <p:spPr bwMode="auto">
          <a:xfrm>
            <a:off x="6697877" y="1720396"/>
            <a:ext cx="421047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chemeClr val="accent1"/>
                </a:solidFill>
                <a:latin typeface="+mn-ea"/>
                <a:ea typeface="+mn-ea"/>
              </a:rPr>
              <a:t>优点</a:t>
            </a:r>
          </a:p>
        </p:txBody>
      </p:sp>
      <p:sp>
        <p:nvSpPr>
          <p:cNvPr id="28" name="MH_Text_1"/>
          <p:cNvSpPr txBox="1"/>
          <p:nvPr>
            <p:custDataLst>
              <p:tags r:id="rId5"/>
            </p:custDataLst>
          </p:nvPr>
        </p:nvSpPr>
        <p:spPr>
          <a:xfrm>
            <a:off x="6697877" y="2252209"/>
            <a:ext cx="4523738" cy="1428009"/>
          </a:xfrm>
          <a:prstGeom prst="rect">
            <a:avLst/>
          </a:prstGeom>
          <a:noFill/>
        </p:spPr>
        <p:txBody>
          <a:bodyPr lIns="0" tIns="0" rIns="0" bIns="0">
            <a:noAutofit/>
          </a:bodyPr>
          <a:lstStyle/>
          <a:p>
            <a:pPr>
              <a:lnSpc>
                <a:spcPct val="120000"/>
              </a:lnSpc>
              <a:defRPr/>
            </a:pPr>
            <a:r>
              <a:rPr lang="zh-CN" altLang="en-US" dirty="0"/>
              <a:t>路测同时采集</a:t>
            </a:r>
            <a:r>
              <a:rPr lang="en-US" altLang="zh-CN" dirty="0"/>
              <a:t>GPS</a:t>
            </a:r>
            <a:r>
              <a:rPr lang="zh-CN" altLang="en-US" dirty="0"/>
              <a:t>信号，能够确切地定位经纬度，因此可以准确的发现现网存在问题的地点，得到第一手的原始测试数据，这是用信令仪表、后台统计数据所不能做到的；</a:t>
            </a:r>
          </a:p>
        </p:txBody>
      </p:sp>
      <p:sp>
        <p:nvSpPr>
          <p:cNvPr id="29" name="MH_Other_3"/>
          <p:cNvSpPr/>
          <p:nvPr>
            <p:custDataLst>
              <p:tags r:id="rId6"/>
            </p:custDataLst>
          </p:nvPr>
        </p:nvSpPr>
        <p:spPr>
          <a:xfrm>
            <a:off x="5673938" y="4359955"/>
            <a:ext cx="704850" cy="7302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0" name="MH_Other_4"/>
          <p:cNvSpPr/>
          <p:nvPr>
            <p:custDataLst>
              <p:tags r:id="rId7"/>
            </p:custDataLst>
          </p:nvPr>
        </p:nvSpPr>
        <p:spPr>
          <a:xfrm>
            <a:off x="5539001" y="4220255"/>
            <a:ext cx="974725" cy="1009650"/>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MH_SubTitle_2"/>
          <p:cNvSpPr txBox="1">
            <a:spLocks noChangeArrowheads="1"/>
          </p:cNvSpPr>
          <p:nvPr>
            <p:custDataLst>
              <p:tags r:id="rId8"/>
            </p:custDataLst>
          </p:nvPr>
        </p:nvSpPr>
        <p:spPr bwMode="auto">
          <a:xfrm>
            <a:off x="6697878" y="3926546"/>
            <a:ext cx="744644"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chemeClr val="accent2"/>
                </a:solidFill>
              </a:rPr>
              <a:t>缺点</a:t>
            </a:r>
          </a:p>
        </p:txBody>
      </p:sp>
      <p:sp>
        <p:nvSpPr>
          <p:cNvPr id="37" name="MH_Text_2"/>
          <p:cNvSpPr txBox="1"/>
          <p:nvPr>
            <p:custDataLst>
              <p:tags r:id="rId9"/>
            </p:custDataLst>
          </p:nvPr>
        </p:nvSpPr>
        <p:spPr>
          <a:xfrm>
            <a:off x="6697876" y="4520294"/>
            <a:ext cx="4523739" cy="709612"/>
          </a:xfrm>
          <a:prstGeom prst="rect">
            <a:avLst/>
          </a:prstGeom>
          <a:noFill/>
        </p:spPr>
        <p:txBody>
          <a:bodyPr lIns="0" tIns="0" rIns="0" bIns="0">
            <a:normAutofit/>
          </a:bodyPr>
          <a:lstStyle/>
          <a:p>
            <a:pPr>
              <a:lnSpc>
                <a:spcPct val="120000"/>
              </a:lnSpc>
              <a:defRPr/>
            </a:pPr>
            <a:r>
              <a:rPr lang="zh-CN" altLang="en-US" dirty="0"/>
              <a:t>不能对上行信号和电平进行测试、少量的测试数据具有典型的意义但不具有统计意义等。</a:t>
            </a:r>
          </a:p>
        </p:txBody>
      </p:sp>
      <p:sp>
        <p:nvSpPr>
          <p:cNvPr id="38" name="MH_Other_5"/>
          <p:cNvSpPr/>
          <p:nvPr>
            <p:custDataLst>
              <p:tags r:id="rId10"/>
            </p:custDataLst>
          </p:nvPr>
        </p:nvSpPr>
        <p:spPr bwMode="auto">
          <a:xfrm>
            <a:off x="5821576" y="2261734"/>
            <a:ext cx="398463" cy="396875"/>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2" name="MH_Other_6"/>
          <p:cNvSpPr>
            <a:spLocks noChangeAspect="1"/>
          </p:cNvSpPr>
          <p:nvPr>
            <p:custDataLst>
              <p:tags r:id="rId11"/>
            </p:custDataLst>
          </p:nvPr>
        </p:nvSpPr>
        <p:spPr bwMode="auto">
          <a:xfrm>
            <a:off x="5839039" y="4528230"/>
            <a:ext cx="396875" cy="393700"/>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 name="矩形 1"/>
          <p:cNvSpPr/>
          <p:nvPr/>
        </p:nvSpPr>
        <p:spPr>
          <a:xfrm>
            <a:off x="980652" y="2669154"/>
            <a:ext cx="4262279" cy="3367012"/>
          </a:xfrm>
          <a:prstGeom prst="rect">
            <a:avLst/>
          </a:prstGeom>
        </p:spPr>
        <p:txBody>
          <a:bodyPr wrap="square">
            <a:spAutoFit/>
          </a:bodyPr>
          <a:lstStyle/>
          <a:p>
            <a:pPr>
              <a:lnSpc>
                <a:spcPct val="150000"/>
              </a:lnSpc>
            </a:pPr>
            <a:r>
              <a:rPr lang="en-US" altLang="zh-CN" dirty="0"/>
              <a:t>DT</a:t>
            </a:r>
            <a:r>
              <a:rPr lang="zh-CN" altLang="zh-CN" dirty="0"/>
              <a:t>测试的测试方法：</a:t>
            </a:r>
            <a:endParaRPr lang="en-US" altLang="zh-CN" dirty="0"/>
          </a:p>
          <a:p>
            <a:pPr>
              <a:lnSpc>
                <a:spcPct val="150000"/>
              </a:lnSpc>
            </a:pPr>
            <a:r>
              <a:rPr lang="zh-CN" altLang="zh-CN" dirty="0"/>
              <a:t>驱车进行语音、数据（</a:t>
            </a:r>
            <a:r>
              <a:rPr lang="en-US" altLang="zh-CN" dirty="0"/>
              <a:t>FTP</a:t>
            </a:r>
            <a:r>
              <a:rPr lang="zh-CN" altLang="zh-CN" dirty="0"/>
              <a:t>及其它热点业务）测试，其中语音采用互拨方式，数据业务采用</a:t>
            </a:r>
            <a:r>
              <a:rPr lang="en-US" altLang="zh-CN" dirty="0"/>
              <a:t>FTP</a:t>
            </a:r>
            <a:r>
              <a:rPr lang="zh-CN" altLang="zh-CN" dirty="0"/>
              <a:t>不间断下载，依照客户方式使用热点业务等方式开展，测试过程中仪表记录经纬度、参数、信令等信息，测试路线应尽可能遍历测试区域内的主干道、次主干道、支路等道路。</a:t>
            </a:r>
          </a:p>
        </p:txBody>
      </p:sp>
      <p:sp>
        <p:nvSpPr>
          <p:cNvPr id="47" name="标题 1"/>
          <p:cNvSpPr txBox="1"/>
          <p:nvPr/>
        </p:nvSpPr>
        <p:spPr bwMode="auto">
          <a:xfrm>
            <a:off x="1064895" y="2110353"/>
            <a:ext cx="242650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路测（</a:t>
            </a:r>
            <a:r>
              <a:rPr lang="en-US" altLang="zh-CN" sz="2000" b="1" dirty="0">
                <a:solidFill>
                  <a:srgbClr val="005BAA"/>
                </a:solidFill>
              </a:rPr>
              <a:t>DT</a:t>
            </a:r>
            <a:r>
              <a:rPr lang="zh-CN" altLang="en-US" sz="2000" b="1" dirty="0">
                <a:solidFill>
                  <a:srgbClr val="005BAA"/>
                </a:solidFill>
              </a:rPr>
              <a:t>测试）</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17" name="标题 1"/>
          <p:cNvSpPr txBox="1"/>
          <p:nvPr/>
        </p:nvSpPr>
        <p:spPr bwMode="auto">
          <a:xfrm>
            <a:off x="1064895" y="2182171"/>
            <a:ext cx="42352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定点呼叫质量测试（</a:t>
            </a:r>
            <a:r>
              <a:rPr lang="en-US" altLang="zh-CN" sz="2000" b="1" dirty="0">
                <a:solidFill>
                  <a:srgbClr val="005BAA"/>
                </a:solidFill>
              </a:rPr>
              <a:t>CQT</a:t>
            </a:r>
            <a:r>
              <a:rPr lang="zh-CN" altLang="en-US" sz="2000" b="1" dirty="0">
                <a:solidFill>
                  <a:srgbClr val="005BAA"/>
                </a:solidFill>
              </a:rPr>
              <a:t>测试）</a:t>
            </a:r>
          </a:p>
        </p:txBody>
      </p:sp>
      <p:sp>
        <p:nvSpPr>
          <p:cNvPr id="4" name="矩形 3"/>
          <p:cNvSpPr/>
          <p:nvPr/>
        </p:nvSpPr>
        <p:spPr>
          <a:xfrm>
            <a:off x="1064894" y="2793105"/>
            <a:ext cx="5014172" cy="3000821"/>
          </a:xfrm>
          <a:prstGeom prst="rect">
            <a:avLst/>
          </a:prstGeom>
        </p:spPr>
        <p:txBody>
          <a:bodyPr wrap="square">
            <a:spAutoFit/>
          </a:bodyPr>
          <a:lstStyle/>
          <a:p>
            <a:pPr lvl="0" fontAlgn="base">
              <a:lnSpc>
                <a:spcPct val="150000"/>
              </a:lnSpc>
              <a:spcAft>
                <a:spcPct val="0"/>
              </a:spcAft>
              <a:buClr>
                <a:srgbClr val="008FD4"/>
              </a:buClr>
              <a:buSzPct val="70000"/>
              <a:defRPr/>
            </a:pPr>
            <a:r>
              <a:rPr lang="en-US" altLang="zh-CN" kern="0" dirty="0">
                <a:solidFill>
                  <a:srgbClr val="FF0000"/>
                </a:solidFill>
                <a:latin typeface="微软雅黑" panose="020B0503020204020204" charset="-122"/>
              </a:rPr>
              <a:t>CQT</a:t>
            </a:r>
            <a:r>
              <a:rPr lang="zh-CN" altLang="en-US" kern="0" dirty="0">
                <a:solidFill>
                  <a:srgbClr val="FF0000"/>
                </a:solidFill>
                <a:latin typeface="微软雅黑" panose="020B0503020204020204" charset="-122"/>
              </a:rPr>
              <a:t>测试是了解</a:t>
            </a:r>
            <a:r>
              <a:rPr lang="zh-CN" altLang="zh-CN" kern="0" dirty="0">
                <a:solidFill>
                  <a:srgbClr val="FF0000"/>
                </a:solidFill>
                <a:latin typeface="微软雅黑" panose="020B0503020204020204" charset="-122"/>
              </a:rPr>
              <a:t>局部区域网络质量的最好办法</a:t>
            </a:r>
            <a:r>
              <a:rPr lang="zh-CN" altLang="en-US" kern="0" dirty="0">
                <a:solidFill>
                  <a:srgbClr val="FF0000"/>
                </a:solidFill>
                <a:latin typeface="微软雅黑" panose="020B0503020204020204" charset="-122"/>
              </a:rPr>
              <a:t>；</a:t>
            </a:r>
            <a:endParaRPr lang="en-US" altLang="zh-CN" kern="0" dirty="0">
              <a:solidFill>
                <a:srgbClr val="FF0000"/>
              </a:solidFill>
              <a:latin typeface="微软雅黑" panose="020B0503020204020204" charset="-122"/>
            </a:endParaRPr>
          </a:p>
          <a:p>
            <a:pPr lvl="0" fontAlgn="base">
              <a:lnSpc>
                <a:spcPct val="150000"/>
              </a:lnSpc>
              <a:spcAft>
                <a:spcPct val="0"/>
              </a:spcAft>
              <a:buClr>
                <a:srgbClr val="008FD4"/>
              </a:buClr>
              <a:buSzPct val="70000"/>
              <a:defRPr/>
            </a:pPr>
            <a:endParaRPr lang="en-US" altLang="zh-CN" kern="0" dirty="0">
              <a:solidFill>
                <a:srgbClr val="FF0000"/>
              </a:solidFill>
              <a:latin typeface="微软雅黑" panose="020B0503020204020204" charset="-122"/>
            </a:endParaRPr>
          </a:p>
          <a:p>
            <a:pPr>
              <a:lnSpc>
                <a:spcPct val="150000"/>
              </a:lnSpc>
            </a:pPr>
            <a:r>
              <a:rPr lang="en-US" altLang="zh-CN" dirty="0"/>
              <a:t>CQT</a:t>
            </a:r>
            <a:r>
              <a:rPr lang="zh-CN" altLang="zh-CN" dirty="0"/>
              <a:t>测试的测试方法：</a:t>
            </a:r>
            <a:endParaRPr lang="en-US" altLang="zh-CN" dirty="0"/>
          </a:p>
          <a:p>
            <a:pPr>
              <a:lnSpc>
                <a:spcPct val="150000"/>
              </a:lnSpc>
            </a:pPr>
            <a:r>
              <a:rPr lang="zh-CN" altLang="zh-CN" dirty="0"/>
              <a:t>选取热点楼宇，测试人员携带终端进行语音及数据业务测试，测试范围涵盖窗边、走廊、办公室、楼梯口、电梯间等环境，每个测试点选取高中低楼层。</a:t>
            </a:r>
          </a:p>
        </p:txBody>
      </p:sp>
      <p:sp>
        <p:nvSpPr>
          <p:cNvPr id="5" name="矩形 4"/>
          <p:cNvSpPr/>
          <p:nvPr/>
        </p:nvSpPr>
        <p:spPr>
          <a:xfrm>
            <a:off x="6483561" y="2841302"/>
            <a:ext cx="5096934" cy="2363724"/>
          </a:xfrm>
          <a:prstGeom prst="rect">
            <a:avLst/>
          </a:prstGeom>
        </p:spPr>
        <p:txBody>
          <a:bodyPr wrap="square">
            <a:spAutoFit/>
          </a:bodyPr>
          <a:lstStyle/>
          <a:p>
            <a:pPr marL="285750" lvl="0" indent="-285750" fontAlgn="base">
              <a:lnSpc>
                <a:spcPct val="130000"/>
              </a:lnSpc>
              <a:spcBef>
                <a:spcPct val="20000"/>
              </a:spcBef>
              <a:spcAft>
                <a:spcPct val="0"/>
              </a:spcAft>
              <a:buSzPct val="70000"/>
              <a:buFont typeface="Arial" panose="020B0604020202020204" pitchFamily="34" charset="0"/>
              <a:buChar char="•"/>
              <a:defRPr/>
            </a:pPr>
            <a:r>
              <a:rPr lang="zh-CN" altLang="zh-CN" kern="0" dirty="0">
                <a:latin typeface="微软雅黑" panose="020B0503020204020204" charset="-122"/>
              </a:rPr>
              <a:t>在放置</a:t>
            </a:r>
            <a:r>
              <a:rPr lang="zh-CN" altLang="zh-CN" kern="0" dirty="0">
                <a:solidFill>
                  <a:srgbClr val="FF0000"/>
                </a:solidFill>
                <a:latin typeface="微软雅黑" panose="020B0503020204020204" charset="-122"/>
              </a:rPr>
              <a:t>室内分布系统或直放站</a:t>
            </a:r>
            <a:r>
              <a:rPr lang="zh-CN" altLang="zh-CN" kern="0" dirty="0">
                <a:latin typeface="微软雅黑" panose="020B0503020204020204" charset="-122"/>
              </a:rPr>
              <a:t>的地点测试，了解通话质量；</a:t>
            </a:r>
            <a:endParaRPr lang="en-US" altLang="zh-CN" kern="0" dirty="0">
              <a:latin typeface="微软雅黑" panose="020B0503020204020204" charset="-122"/>
            </a:endParaRPr>
          </a:p>
          <a:p>
            <a:pPr marL="285750" lvl="0" indent="-285750" fontAlgn="base">
              <a:lnSpc>
                <a:spcPct val="130000"/>
              </a:lnSpc>
              <a:spcBef>
                <a:spcPct val="20000"/>
              </a:spcBef>
              <a:spcAft>
                <a:spcPct val="0"/>
              </a:spcAft>
              <a:buSzPct val="70000"/>
              <a:buFont typeface="Arial" panose="020B0604020202020204" pitchFamily="34" charset="0"/>
              <a:buChar char="•"/>
              <a:defRPr/>
            </a:pPr>
            <a:r>
              <a:rPr lang="zh-CN" altLang="zh-CN" kern="0" dirty="0">
                <a:latin typeface="微软雅黑" panose="020B0503020204020204" charset="-122"/>
              </a:rPr>
              <a:t>在</a:t>
            </a:r>
            <a:r>
              <a:rPr lang="zh-CN" altLang="zh-CN" kern="0" dirty="0">
                <a:solidFill>
                  <a:srgbClr val="FF0000"/>
                </a:solidFill>
                <a:latin typeface="微软雅黑" panose="020B0503020204020204" charset="-122"/>
              </a:rPr>
              <a:t>室内室外覆盖的边缘</a:t>
            </a:r>
            <a:r>
              <a:rPr lang="zh-CN" altLang="zh-CN" kern="0" dirty="0">
                <a:latin typeface="微软雅黑" panose="020B0503020204020204" charset="-122"/>
              </a:rPr>
              <a:t>地带了解通话质量，观察网络参数，分析是否有正确的小区来覆盖；</a:t>
            </a:r>
            <a:endParaRPr lang="en-US" altLang="zh-CN" kern="0" dirty="0">
              <a:latin typeface="微软雅黑" panose="020B0503020204020204" charset="-122"/>
            </a:endParaRPr>
          </a:p>
          <a:p>
            <a:pPr marL="285750" lvl="0" indent="-285750" fontAlgn="base">
              <a:lnSpc>
                <a:spcPct val="130000"/>
              </a:lnSpc>
              <a:spcBef>
                <a:spcPct val="20000"/>
              </a:spcBef>
              <a:spcAft>
                <a:spcPct val="0"/>
              </a:spcAft>
              <a:buSzPct val="70000"/>
              <a:buFont typeface="Arial" panose="020B0604020202020204" pitchFamily="34" charset="0"/>
              <a:buChar char="•"/>
              <a:defRPr/>
            </a:pPr>
            <a:r>
              <a:rPr lang="zh-CN" altLang="zh-CN" kern="0" dirty="0">
                <a:latin typeface="微软雅黑" panose="020B0503020204020204" charset="-122"/>
              </a:rPr>
              <a:t>在还</a:t>
            </a:r>
            <a:r>
              <a:rPr lang="zh-CN" altLang="zh-CN" kern="0" dirty="0">
                <a:solidFill>
                  <a:srgbClr val="FF0000"/>
                </a:solidFill>
                <a:latin typeface="微软雅黑" panose="020B0503020204020204" charset="-122"/>
              </a:rPr>
              <a:t>未安装室内分布系统</a:t>
            </a:r>
            <a:r>
              <a:rPr lang="zh-CN" altLang="zh-CN" kern="0" dirty="0">
                <a:latin typeface="微软雅黑" panose="020B0503020204020204" charset="-122"/>
              </a:rPr>
              <a:t>的地点测试，了解实际情况，为是否</a:t>
            </a:r>
            <a:r>
              <a:rPr lang="zh-CN" altLang="en-US" kern="0" dirty="0">
                <a:latin typeface="微软雅黑" panose="020B0503020204020204" charset="-122"/>
              </a:rPr>
              <a:t>扩容</a:t>
            </a:r>
            <a:r>
              <a:rPr lang="zh-CN" altLang="zh-CN" kern="0" dirty="0">
                <a:latin typeface="微软雅黑" panose="020B0503020204020204" charset="-122"/>
              </a:rPr>
              <a:t>提供真实可靠的依据</a:t>
            </a:r>
            <a:r>
              <a:rPr lang="zh-CN" altLang="en-US" kern="0" dirty="0">
                <a:latin typeface="微软雅黑" panose="020B0503020204020204" charset="-122"/>
              </a:rPr>
              <a:t>；</a:t>
            </a:r>
            <a:endParaRPr lang="en-US" altLang="zh-CN" kern="0" dirty="0">
              <a:latin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20" name="标题 1"/>
          <p:cNvSpPr txBox="1"/>
          <p:nvPr/>
        </p:nvSpPr>
        <p:spPr bwMode="auto">
          <a:xfrm>
            <a:off x="833160" y="2073622"/>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DT/CQT</a:t>
            </a:r>
            <a:r>
              <a:rPr lang="zh-CN" altLang="en-US" sz="2000" b="1" dirty="0">
                <a:solidFill>
                  <a:srgbClr val="005BAA"/>
                </a:solidFill>
              </a:rPr>
              <a:t>测试流程</a:t>
            </a:r>
          </a:p>
        </p:txBody>
      </p:sp>
      <p:sp>
        <p:nvSpPr>
          <p:cNvPr id="21" name="五边形 20"/>
          <p:cNvSpPr/>
          <p:nvPr/>
        </p:nvSpPr>
        <p:spPr bwMode="auto">
          <a:xfrm>
            <a:off x="1022032" y="4802931"/>
            <a:ext cx="1728787" cy="660400"/>
          </a:xfrm>
          <a:prstGeom prst="homePlate">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测试准备工作</a:t>
            </a:r>
          </a:p>
        </p:txBody>
      </p:sp>
      <p:sp>
        <p:nvSpPr>
          <p:cNvPr id="22" name="燕尾形 21"/>
          <p:cNvSpPr/>
          <p:nvPr/>
        </p:nvSpPr>
        <p:spPr bwMode="auto">
          <a:xfrm>
            <a:off x="2390457" y="4802931"/>
            <a:ext cx="1655762" cy="660400"/>
          </a:xfrm>
          <a:prstGeom prst="chevron">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连接设备</a:t>
            </a:r>
          </a:p>
        </p:txBody>
      </p:sp>
      <p:sp>
        <p:nvSpPr>
          <p:cNvPr id="23" name="燕尾形 22"/>
          <p:cNvSpPr/>
          <p:nvPr/>
        </p:nvSpPr>
        <p:spPr bwMode="auto">
          <a:xfrm>
            <a:off x="3685857" y="4802931"/>
            <a:ext cx="1657350" cy="660400"/>
          </a:xfrm>
          <a:prstGeom prst="chevron">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确认</a:t>
            </a:r>
            <a:endParaRPr kumimoji="1" lang="en-US" altLang="zh-CN"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endParaRPr>
          </a:p>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驱动安装</a:t>
            </a:r>
          </a:p>
        </p:txBody>
      </p:sp>
      <p:sp>
        <p:nvSpPr>
          <p:cNvPr id="24" name="燕尾形 23"/>
          <p:cNvSpPr/>
          <p:nvPr/>
        </p:nvSpPr>
        <p:spPr bwMode="auto">
          <a:xfrm>
            <a:off x="4982844" y="4802931"/>
            <a:ext cx="1655763" cy="660400"/>
          </a:xfrm>
          <a:prstGeom prst="chevron">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新建工程</a:t>
            </a:r>
          </a:p>
        </p:txBody>
      </p:sp>
      <p:sp>
        <p:nvSpPr>
          <p:cNvPr id="31" name="燕尾形 30"/>
          <p:cNvSpPr/>
          <p:nvPr/>
        </p:nvSpPr>
        <p:spPr bwMode="auto">
          <a:xfrm>
            <a:off x="6278244" y="4802931"/>
            <a:ext cx="1657350" cy="660400"/>
          </a:xfrm>
          <a:prstGeom prst="chevron">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导入</a:t>
            </a:r>
            <a:endParaRPr kumimoji="1" lang="en-US" altLang="zh-CN"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endParaRPr>
          </a:p>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工程参数</a:t>
            </a:r>
          </a:p>
        </p:txBody>
      </p:sp>
      <p:sp>
        <p:nvSpPr>
          <p:cNvPr id="33" name="燕尾形 32"/>
          <p:cNvSpPr/>
          <p:nvPr/>
        </p:nvSpPr>
        <p:spPr bwMode="auto">
          <a:xfrm>
            <a:off x="7502207" y="4802931"/>
            <a:ext cx="1657350" cy="660400"/>
          </a:xfrm>
          <a:prstGeom prst="chevron">
            <a:avLst/>
          </a:prstGeom>
          <a:solidFill>
            <a:schemeClr val="accent1">
              <a:lumMod val="60000"/>
              <a:lumOff val="40000"/>
            </a:scheme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开始测试</a:t>
            </a:r>
          </a:p>
        </p:txBody>
      </p:sp>
      <p:sp>
        <p:nvSpPr>
          <p:cNvPr id="34" name="圆角矩形标注 33"/>
          <p:cNvSpPr/>
          <p:nvPr/>
        </p:nvSpPr>
        <p:spPr bwMode="auto">
          <a:xfrm>
            <a:off x="1223017" y="3183334"/>
            <a:ext cx="2879725" cy="1234286"/>
          </a:xfrm>
          <a:prstGeom prst="wedgeRoundRectCallout">
            <a:avLst>
              <a:gd name="adj1" fmla="val -34847"/>
              <a:gd name="adj2" fmla="val 83943"/>
              <a:gd name="adj3" fmla="val 16667"/>
            </a:avLst>
          </a:prstGeom>
          <a:solidFill>
            <a:srgbClr val="FFFFFF"/>
          </a:solidFill>
          <a:ln w="25400" cap="flat" cmpd="sng" algn="ctr">
            <a:solidFill>
              <a:schemeClr val="accent1">
                <a:lumMod val="75000"/>
              </a:schemeClr>
            </a:solidFill>
            <a:prstDash val="solid"/>
            <a:headEnd type="none" w="med" len="med"/>
            <a:tailEnd type="none" w="med" len="med"/>
          </a:ln>
          <a:effectLst/>
        </p:spPr>
        <p:txBody>
          <a:bodyPr wrap="none" lIns="90000" tIns="46800" rIns="90000" bIns="46800" anchor="ctr"/>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effectLst/>
                <a:uLnTx/>
                <a:uFillTx/>
                <a:latin typeface="微软雅黑" panose="020B0503020204020204" charset="-122"/>
                <a:ea typeface="微软雅黑" panose="020B0503020204020204" charset="-122"/>
              </a:rPr>
              <a:t>测试前需要做的事情：</a:t>
            </a:r>
          </a:p>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DT</a:t>
            </a: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测试：测试路线规划</a:t>
            </a:r>
          </a:p>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CQT</a:t>
            </a: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测试：测试点选择</a:t>
            </a:r>
            <a:endPar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工具、资料准备</a:t>
            </a:r>
          </a:p>
        </p:txBody>
      </p:sp>
      <p:sp>
        <p:nvSpPr>
          <p:cNvPr id="35" name="圆角矩形标注 34"/>
          <p:cNvSpPr/>
          <p:nvPr/>
        </p:nvSpPr>
        <p:spPr bwMode="auto">
          <a:xfrm>
            <a:off x="4409969" y="3426304"/>
            <a:ext cx="5225098" cy="944738"/>
          </a:xfrm>
          <a:prstGeom prst="wedgeRoundRectCallout">
            <a:avLst>
              <a:gd name="adj1" fmla="val -2432"/>
              <a:gd name="adj2" fmla="val 98738"/>
              <a:gd name="adj3" fmla="val 16667"/>
            </a:avLst>
          </a:prstGeom>
          <a:solidFill>
            <a:srgbClr val="FFFFFF"/>
          </a:solidFill>
          <a:ln w="25400" cap="flat" cmpd="sng" algn="ctr">
            <a:solidFill>
              <a:schemeClr val="accent1">
                <a:lumMod val="75000"/>
              </a:schemeClr>
            </a:solidFill>
            <a:prstDash val="solid"/>
            <a:headEnd type="none" w="med" len="med"/>
            <a:tailEnd type="none" w="med" len="med"/>
          </a:ln>
          <a:effectLst/>
        </p:spPr>
        <p:txBody>
          <a:bodyPr wrap="none" lIns="90000" tIns="46800" rIns="90000" bIns="46800" anchor="ctr"/>
          <a:lstStyle/>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重要工参就是站点信息表；</a:t>
            </a:r>
            <a:endPar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不同测试软件的站点信息表</a:t>
            </a:r>
            <a:r>
              <a:rPr kumimoji="1" lang="zh-CN" altLang="en-US" kern="0" dirty="0">
                <a:solidFill>
                  <a:srgbClr val="FF0000"/>
                </a:solidFill>
                <a:latin typeface="微软雅黑" panose="020B0503020204020204" charset="-122"/>
                <a:ea typeface="微软雅黑" panose="020B0503020204020204" charset="-122"/>
              </a:rPr>
              <a:t>，</a:t>
            </a: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格式可能不兼容；</a:t>
            </a:r>
            <a:endPar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marL="285750" marR="0" lvl="0" indent="-285750" defTabSz="914400" eaLnBrk="0" fontAlgn="base" latinLnBrk="0" hangingPunct="0">
              <a:lnSpc>
                <a:spcPct val="100000"/>
              </a:lnSpc>
              <a:spcBef>
                <a:spcPct val="0"/>
              </a:spcBef>
              <a:spcAft>
                <a:spcPct val="0"/>
              </a:spcAft>
              <a:buClrTx/>
              <a:buSzTx/>
              <a:buFont typeface="Arial" panose="020B0604020202020204" pitchFamily="34" charset="0"/>
              <a:buChar char="•"/>
              <a:defRPr/>
            </a:pPr>
            <a:r>
              <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DT</a:t>
            </a: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测试中还需要导入地图信息</a:t>
            </a:r>
          </a:p>
        </p:txBody>
      </p:sp>
      <p:sp>
        <p:nvSpPr>
          <p:cNvPr id="36" name="圆角矩形标注 35"/>
          <p:cNvSpPr/>
          <p:nvPr/>
        </p:nvSpPr>
        <p:spPr bwMode="auto">
          <a:xfrm>
            <a:off x="2319019" y="5884018"/>
            <a:ext cx="3024188" cy="910837"/>
          </a:xfrm>
          <a:prstGeom prst="wedgeRoundRectCallout">
            <a:avLst>
              <a:gd name="adj1" fmla="val 11302"/>
              <a:gd name="adj2" fmla="val -100789"/>
              <a:gd name="adj3" fmla="val 16667"/>
            </a:avLst>
          </a:prstGeom>
          <a:solidFill>
            <a:srgbClr val="FFFFFF"/>
          </a:solidFill>
          <a:ln w="25400" cap="flat" cmpd="sng" algn="ctr">
            <a:solidFill>
              <a:schemeClr val="accent1">
                <a:lumMod val="75000"/>
              </a:schemeClr>
            </a:solidFill>
            <a:prstDash val="solid"/>
            <a:headEnd type="none" w="med" len="med"/>
            <a:tailEnd type="none" w="med" len="med"/>
          </a:ln>
          <a:effectLst/>
        </p:spPr>
        <p:txBody>
          <a:bodyPr wrap="none" lIns="90000" tIns="46800" rIns="90000" bIns="46800" anchor="ctr"/>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路测设备有不同类型，一些</a:t>
            </a:r>
            <a:endPar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需要单独安装驱动，否则</a:t>
            </a:r>
            <a:endParaRPr kumimoji="1"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不能正常工作</a:t>
            </a:r>
          </a:p>
        </p:txBody>
      </p:sp>
      <p:sp>
        <p:nvSpPr>
          <p:cNvPr id="39" name="TextBox 18"/>
          <p:cNvSpPr txBox="1">
            <a:spLocks noChangeArrowheads="1"/>
          </p:cNvSpPr>
          <p:nvPr/>
        </p:nvSpPr>
        <p:spPr bwMode="auto">
          <a:xfrm>
            <a:off x="4046219" y="1728568"/>
            <a:ext cx="7443047"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eaLnBrk="1" fontAlgn="base" hangingPunct="1">
              <a:lnSpc>
                <a:spcPct val="150000"/>
              </a:lnSpc>
              <a:spcBef>
                <a:spcPct val="0"/>
              </a:spcBef>
              <a:spcAft>
                <a:spcPct val="0"/>
              </a:spcAft>
              <a:buFont typeface="Arial" panose="020B0604020202020204" pitchFamily="34" charset="0"/>
              <a:buNone/>
            </a:pPr>
            <a:r>
              <a:rPr lang="en-US" altLang="zh-CN" sz="1800" dirty="0">
                <a:solidFill>
                  <a:srgbClr val="000000"/>
                </a:solidFill>
                <a:latin typeface="微软雅黑" panose="020B0503020204020204" charset="-122"/>
                <a:ea typeface="微软雅黑" panose="020B0503020204020204" charset="-122"/>
              </a:rPr>
              <a:t>DT/CQT</a:t>
            </a:r>
            <a:r>
              <a:rPr lang="zh-CN" altLang="en-US" sz="1800" dirty="0">
                <a:solidFill>
                  <a:srgbClr val="000000"/>
                </a:solidFill>
                <a:latin typeface="微软雅黑" panose="020B0503020204020204" charset="-122"/>
                <a:ea typeface="微软雅黑" panose="020B0503020204020204" charset="-122"/>
              </a:rPr>
              <a:t>测试是一个数据采集的过程，采集内容包括</a:t>
            </a:r>
            <a:r>
              <a:rPr lang="zh-CN" altLang="en-US" sz="1800" dirty="0">
                <a:solidFill>
                  <a:srgbClr val="FF0000"/>
                </a:solidFill>
                <a:latin typeface="微软雅黑" panose="020B0503020204020204" charset="-122"/>
                <a:ea typeface="微软雅黑" panose="020B0503020204020204" charset="-122"/>
              </a:rPr>
              <a:t>下行信号电平、下行信号质量、小区切换、小区重选、呼叫过程</a:t>
            </a:r>
            <a:r>
              <a:rPr lang="zh-CN" altLang="en-US" sz="1800" dirty="0">
                <a:solidFill>
                  <a:srgbClr val="000000"/>
                </a:solidFill>
                <a:latin typeface="微软雅黑" panose="020B0503020204020204" charset="-122"/>
                <a:ea typeface="微软雅黑" panose="020B0503020204020204" charset="-122"/>
              </a:rPr>
              <a:t>等，并记录相关的空口信令；</a:t>
            </a:r>
            <a:endParaRPr lang="en-US" altLang="zh-CN" sz="1800" dirty="0">
              <a:solidFill>
                <a:srgbClr val="000000"/>
              </a:solidFill>
              <a:latin typeface="微软雅黑" panose="020B0503020204020204" charset="-122"/>
              <a:ea typeface="微软雅黑" panose="020B0503020204020204" charset="-122"/>
            </a:endParaRPr>
          </a:p>
          <a:p>
            <a:pPr defTabSz="914400" eaLnBrk="1" fontAlgn="base" hangingPunct="1">
              <a:lnSpc>
                <a:spcPct val="150000"/>
              </a:lnSpc>
              <a:spcBef>
                <a:spcPct val="0"/>
              </a:spcBef>
              <a:spcAft>
                <a:spcPct val="0"/>
              </a:spcAft>
              <a:buFont typeface="Arial" panose="020B0604020202020204" pitchFamily="34" charset="0"/>
              <a:buNone/>
            </a:pPr>
            <a:r>
              <a:rPr lang="zh-CN" altLang="en-US" sz="1800" dirty="0">
                <a:solidFill>
                  <a:srgbClr val="000000"/>
                </a:solidFill>
                <a:latin typeface="微软雅黑" panose="020B0503020204020204" charset="-122"/>
                <a:ea typeface="微软雅黑" panose="020B0503020204020204" charset="-122"/>
              </a:rPr>
              <a:t>测试数据为问题定位提供数据，但并不是唯一、充分的数据来源。</a:t>
            </a:r>
          </a:p>
        </p:txBody>
      </p:sp>
      <p:sp>
        <p:nvSpPr>
          <p:cNvPr id="40" name="燕尾形 39"/>
          <p:cNvSpPr/>
          <p:nvPr/>
        </p:nvSpPr>
        <p:spPr bwMode="auto">
          <a:xfrm>
            <a:off x="6278244" y="5523656"/>
            <a:ext cx="1657350" cy="660400"/>
          </a:xfrm>
          <a:prstGeom prst="chevron">
            <a:avLst/>
          </a:prstGeom>
          <a:solidFill>
            <a:schemeClr val="accent2"/>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测试</a:t>
            </a:r>
            <a:endParaRPr kumimoji="1" lang="en-US" altLang="zh-CN"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endParaRPr>
          </a:p>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数据分析</a:t>
            </a:r>
          </a:p>
        </p:txBody>
      </p:sp>
      <p:sp>
        <p:nvSpPr>
          <p:cNvPr id="41" name="燕尾形 40"/>
          <p:cNvSpPr/>
          <p:nvPr/>
        </p:nvSpPr>
        <p:spPr bwMode="auto">
          <a:xfrm>
            <a:off x="7575232" y="5523656"/>
            <a:ext cx="1655762" cy="660400"/>
          </a:xfrm>
          <a:prstGeom prst="chevron">
            <a:avLst/>
          </a:prstGeom>
          <a:solidFill>
            <a:schemeClr val="accent2"/>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1" lang="zh-CN" altLang="en-US" sz="1800" b="0" i="0" u="none" strike="noStrike" kern="0" cap="none" spc="0" normalizeH="0" baseline="0" noProof="0" dirty="0">
                <a:ln>
                  <a:noFill/>
                </a:ln>
                <a:solidFill>
                  <a:srgbClr val="3333CC"/>
                </a:solidFill>
                <a:effectLst/>
                <a:uLnTx/>
                <a:uFillTx/>
                <a:latin typeface="微软雅黑" panose="020B0503020204020204" charset="-122"/>
                <a:ea typeface="微软雅黑" panose="020B0503020204020204" charset="-122"/>
              </a:rPr>
              <a:t>优化调整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barn(inVertical)">
                                      <p:cBhvr>
                                        <p:cTn id="14" dur="500"/>
                                        <p:tgtEl>
                                          <p:spTgt spid="3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1000"/>
                                        <p:tgtEl>
                                          <p:spTgt spid="23"/>
                                        </p:tgtEl>
                                      </p:cBhvr>
                                    </p:animEffect>
                                    <p:anim calcmode="lin" valueType="num">
                                      <p:cBhvr>
                                        <p:cTn id="27" dur="1000" fill="hold"/>
                                        <p:tgtEl>
                                          <p:spTgt spid="23"/>
                                        </p:tgtEl>
                                        <p:attrNameLst>
                                          <p:attrName>ppt_x</p:attrName>
                                        </p:attrNameLst>
                                      </p:cBhvr>
                                      <p:tavLst>
                                        <p:tav tm="0">
                                          <p:val>
                                            <p:strVal val="#ppt_x"/>
                                          </p:val>
                                        </p:tav>
                                        <p:tav tm="100000">
                                          <p:val>
                                            <p:strVal val="#ppt_x"/>
                                          </p:val>
                                        </p:tav>
                                      </p:tavLst>
                                    </p:anim>
                                    <p:anim calcmode="lin" valueType="num">
                                      <p:cBhvr>
                                        <p:cTn id="2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1000"/>
                                        <p:tgtEl>
                                          <p:spTgt spid="24"/>
                                        </p:tgtEl>
                                      </p:cBhvr>
                                    </p:animEffect>
                                    <p:anim calcmode="lin" valueType="num">
                                      <p:cBhvr>
                                        <p:cTn id="34" dur="1000" fill="hold"/>
                                        <p:tgtEl>
                                          <p:spTgt spid="24"/>
                                        </p:tgtEl>
                                        <p:attrNameLst>
                                          <p:attrName>ppt_x</p:attrName>
                                        </p:attrNameLst>
                                      </p:cBhvr>
                                      <p:tavLst>
                                        <p:tav tm="0">
                                          <p:val>
                                            <p:strVal val="#ppt_x"/>
                                          </p:val>
                                        </p:tav>
                                        <p:tav tm="100000">
                                          <p:val>
                                            <p:strVal val="#ppt_x"/>
                                          </p:val>
                                        </p:tav>
                                      </p:tavLst>
                                    </p:anim>
                                    <p:anim calcmode="lin" valueType="num">
                                      <p:cBhvr>
                                        <p:cTn id="3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down)">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1000"/>
                                        <p:tgtEl>
                                          <p:spTgt spid="31"/>
                                        </p:tgtEl>
                                      </p:cBhvr>
                                    </p:animEffect>
                                    <p:anim calcmode="lin" valueType="num">
                                      <p:cBhvr>
                                        <p:cTn id="46" dur="1000" fill="hold"/>
                                        <p:tgtEl>
                                          <p:spTgt spid="31"/>
                                        </p:tgtEl>
                                        <p:attrNameLst>
                                          <p:attrName>ppt_x</p:attrName>
                                        </p:attrNameLst>
                                      </p:cBhvr>
                                      <p:tavLst>
                                        <p:tav tm="0">
                                          <p:val>
                                            <p:strVal val="#ppt_x"/>
                                          </p:val>
                                        </p:tav>
                                        <p:tav tm="100000">
                                          <p:val>
                                            <p:strVal val="#ppt_x"/>
                                          </p:val>
                                        </p:tav>
                                      </p:tavLst>
                                    </p:anim>
                                    <p:anim calcmode="lin" valueType="num">
                                      <p:cBhvr>
                                        <p:cTn id="4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1000"/>
                                        <p:tgtEl>
                                          <p:spTgt spid="33"/>
                                        </p:tgtEl>
                                      </p:cBhvr>
                                    </p:animEffect>
                                    <p:anim calcmode="lin" valueType="num">
                                      <p:cBhvr>
                                        <p:cTn id="53" dur="1000" fill="hold"/>
                                        <p:tgtEl>
                                          <p:spTgt spid="33"/>
                                        </p:tgtEl>
                                        <p:attrNameLst>
                                          <p:attrName>ppt_x</p:attrName>
                                        </p:attrNameLst>
                                      </p:cBhvr>
                                      <p:tavLst>
                                        <p:tav tm="0">
                                          <p:val>
                                            <p:strVal val="#ppt_x"/>
                                          </p:val>
                                        </p:tav>
                                        <p:tav tm="100000">
                                          <p:val>
                                            <p:strVal val="#ppt_x"/>
                                          </p:val>
                                        </p:tav>
                                      </p:tavLst>
                                    </p:anim>
                                    <p:anim calcmode="lin" valueType="num">
                                      <p:cBhvr>
                                        <p:cTn id="5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circle(in)">
                                      <p:cBhvr>
                                        <p:cTn id="59" dur="20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anim calcmode="lin" valueType="num">
                                      <p:cBhvr>
                                        <p:cTn id="72" dur="1000" fill="hold"/>
                                        <p:tgtEl>
                                          <p:spTgt spid="41"/>
                                        </p:tgtEl>
                                        <p:attrNameLst>
                                          <p:attrName>ppt_x</p:attrName>
                                        </p:attrNameLst>
                                      </p:cBhvr>
                                      <p:tavLst>
                                        <p:tav tm="0">
                                          <p:val>
                                            <p:strVal val="#ppt_x"/>
                                          </p:val>
                                        </p:tav>
                                        <p:tav tm="100000">
                                          <p:val>
                                            <p:strVal val="#ppt_x"/>
                                          </p:val>
                                        </p:tav>
                                      </p:tavLst>
                                    </p:anim>
                                    <p:anim calcmode="lin" valueType="num">
                                      <p:cBhvr>
                                        <p:cTn id="7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6" presetClass="entr" presetSubtype="16" fill="hold" grpId="0" nodeType="click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circle(in)">
                                      <p:cBhvr>
                                        <p:cTn id="78"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31" grpId="0" animBg="1"/>
      <p:bldP spid="33" grpId="0" animBg="1"/>
      <p:bldP spid="34" grpId="0" animBg="1"/>
      <p:bldP spid="35" grpId="0" animBg="1"/>
      <p:bldP spid="36" grpId="0" animBg="1"/>
      <p:bldP spid="39" grpId="0"/>
      <p:bldP spid="40" grpId="0" animBg="1"/>
      <p:bldP spid="4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25" name="标题 1"/>
          <p:cNvSpPr txBox="1"/>
          <p:nvPr/>
        </p:nvSpPr>
        <p:spPr bwMode="auto">
          <a:xfrm>
            <a:off x="1064895" y="2069177"/>
            <a:ext cx="247417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DT</a:t>
            </a:r>
            <a:r>
              <a:rPr lang="zh-CN" altLang="en-US" sz="2000" b="1" dirty="0">
                <a:solidFill>
                  <a:srgbClr val="005BAA"/>
                </a:solidFill>
              </a:rPr>
              <a:t>测试路线选择</a:t>
            </a:r>
          </a:p>
        </p:txBody>
      </p:sp>
      <p:sp>
        <p:nvSpPr>
          <p:cNvPr id="26" name="内容占位符 2"/>
          <p:cNvSpPr txBox="1"/>
          <p:nvPr/>
        </p:nvSpPr>
        <p:spPr bwMode="auto">
          <a:xfrm>
            <a:off x="2645516" y="2738311"/>
            <a:ext cx="8507412" cy="376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marR="0" lvl="0" indent="0" algn="l" defTabSz="914400" rtl="0" eaLnBrk="1" fontAlgn="base" latinLnBrk="0" hangingPunct="1">
              <a:lnSpc>
                <a:spcPct val="130000"/>
              </a:lnSpc>
              <a:spcBef>
                <a:spcPct val="20000"/>
              </a:spcBef>
              <a:spcAft>
                <a:spcPct val="0"/>
              </a:spcAft>
              <a:buClr>
                <a:srgbClr val="008FD4"/>
              </a:buClr>
              <a:buSzPct val="70000"/>
              <a:buNone/>
              <a:defRPr/>
            </a:pPr>
            <a:r>
              <a:rPr kumimoji="0" lang="zh-CN" altLang="en-US"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rPr>
              <a:t>客户测试规范中</a:t>
            </a:r>
            <a:r>
              <a:rPr kumimoji="0" lang="en-US" altLang="zh-CN"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rPr>
              <a:t>DT</a:t>
            </a:r>
            <a:r>
              <a:rPr kumimoji="0" lang="zh-CN" altLang="en-US"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rPr>
              <a:t>测试路线要在当地</a:t>
            </a:r>
            <a:r>
              <a:rPr kumimoji="0" lang="en-US" altLang="zh-CN"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rPr>
              <a:t>LTE</a:t>
            </a:r>
            <a:r>
              <a:rPr kumimoji="0" lang="zh-CN" altLang="en-US"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rPr>
              <a:t>网络的实际覆盖区域内，路线规划时需要注意一些事项：</a:t>
            </a:r>
            <a:endParaRPr kumimoji="0" lang="en-US" altLang="zh-CN"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endParaRP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尽可能将需要测试的区域内站点都遍历；</a:t>
            </a:r>
            <a:endParaRPr kumimoji="0" lang="en-US" altLang="zh-CN"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endParaRP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保证测试路线连续覆盖，若无法避免因为站点没有开通带来的覆盖空洞，则后续分析时需要将异常数据剔除；</a:t>
            </a: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避免在同样的路线反复测试，尽量避免回头路线；</a:t>
            </a: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测试过程中停车时（如红灯）不记录数据；</a:t>
            </a: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应该避开湖滨和河滨道路，避开水域和高架桥等特殊区域做测试； </a:t>
            </a:r>
          </a:p>
          <a:p>
            <a:pPr lvl="1" eaLnBrk="1" hangingPunct="1">
              <a:buClr>
                <a:srgbClr val="C9181C"/>
              </a:buClr>
              <a:defRPr/>
            </a:pPr>
            <a:r>
              <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避免波导（街道）效应。</a:t>
            </a: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n"/>
              <a:defRPr/>
            </a:pPr>
            <a:endParaRPr kumimoji="0" lang="zh-CN" altLang="en-US" sz="20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8" name="标题 1"/>
          <p:cNvSpPr txBox="1"/>
          <p:nvPr/>
        </p:nvSpPr>
        <p:spPr bwMode="auto">
          <a:xfrm>
            <a:off x="999003" y="2073622"/>
            <a:ext cx="364073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a:solidFill>
                  <a:srgbClr val="005BAA"/>
                </a:solidFill>
              </a:rPr>
              <a:t>CQT</a:t>
            </a:r>
            <a:r>
              <a:rPr lang="zh-CN" altLang="en-US" sz="2000" b="1">
                <a:solidFill>
                  <a:srgbClr val="005BAA"/>
                </a:solidFill>
              </a:rPr>
              <a:t>测试时间及测试点选择</a:t>
            </a:r>
            <a:endParaRPr lang="zh-CN" altLang="en-US" sz="2000" b="1" dirty="0">
              <a:solidFill>
                <a:srgbClr val="005BAA"/>
              </a:solidFill>
            </a:endParaRPr>
          </a:p>
        </p:txBody>
      </p:sp>
      <p:sp>
        <p:nvSpPr>
          <p:cNvPr id="9" name="内容占位符 2"/>
          <p:cNvSpPr txBox="1"/>
          <p:nvPr/>
        </p:nvSpPr>
        <p:spPr bwMode="auto">
          <a:xfrm>
            <a:off x="1842294" y="3067396"/>
            <a:ext cx="8507412"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marR="0" lvl="0" indent="0" algn="l" defTabSz="914400" rtl="0" eaLnBrk="1" fontAlgn="base" latinLnBrk="0" hangingPunct="1">
              <a:lnSpc>
                <a:spcPct val="130000"/>
              </a:lnSpc>
              <a:spcBef>
                <a:spcPct val="20000"/>
              </a:spcBef>
              <a:spcAft>
                <a:spcPct val="0"/>
              </a:spcAft>
              <a:buClr>
                <a:srgbClr val="008FD4"/>
              </a:buClr>
              <a:buSzPct val="70000"/>
              <a:buNone/>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测试地点选择：</a:t>
            </a:r>
            <a:endPar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endParaRPr>
          </a:p>
          <a:p>
            <a:pPr lvl="1" eaLnBrk="1" hangingPunct="1">
              <a:buClrTx/>
              <a:defRPr/>
            </a:pP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选择话务量较大的地点；</a:t>
            </a:r>
            <a:endPar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endParaRPr>
          </a:p>
          <a:p>
            <a:pPr lvl="1" eaLnBrk="1" hangingPunct="1">
              <a:buClrTx/>
              <a:defRPr/>
            </a:pP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测试点</a:t>
            </a:r>
            <a:r>
              <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80</a:t>
            </a:r>
            <a:r>
              <a:rPr kumimoji="0" lang="zh-CN"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％应选择在室内，</a:t>
            </a:r>
            <a:r>
              <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20</a:t>
            </a:r>
            <a:r>
              <a:rPr kumimoji="0" lang="zh-CN"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％选择在室外</a:t>
            </a: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a:t>
            </a:r>
            <a:r>
              <a:rPr kumimoji="0" lang="zh-CN"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同时应该考虑地理上均匀分布</a:t>
            </a: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rPr>
              <a:t>；</a:t>
            </a:r>
            <a:endPar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endParaRPr>
          </a:p>
          <a:p>
            <a:pPr lvl="1" eaLnBrk="1" hangingPunct="1">
              <a:buClrTx/>
              <a:defRPr/>
            </a:pPr>
            <a:r>
              <a:rPr kumimoji="0" lang="zh-CN"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对于安装了直放站，或者安装了室内分布系统的地方，需要优先考虑作为测试点</a:t>
            </a: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rPr>
              <a:t>；</a:t>
            </a:r>
            <a:endPar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endParaRPr>
          </a:p>
          <a:p>
            <a:pPr lvl="1" eaLnBrk="1" hangingPunct="1">
              <a:buClrTx/>
              <a:defRPr/>
            </a:pPr>
            <a:r>
              <a:rPr kumimoji="0" lang="zh-CN"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室内测试点必须包括城市中的重要的场所</a:t>
            </a: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rPr>
              <a:t>；</a:t>
            </a:r>
            <a:endPar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cs typeface="+mn-cs"/>
            </a:endParaRPr>
          </a:p>
          <a:p>
            <a:pPr lvl="1" eaLnBrk="1" hangingPunct="1">
              <a:buClrTx/>
              <a:defRPr/>
            </a:pPr>
            <a:r>
              <a:rPr kumimoji="0" lang="zh-CN" altLang="en-US"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rPr>
              <a:t>室外测试点须考虑覆盖边缘小区，网络可能存在问题的区域</a:t>
            </a:r>
            <a:endParaRPr kumimoji="0" lang="en-US" altLang="zh-CN" sz="1800" b="0" i="0" u="none" strike="noStrike" kern="0" cap="none" spc="0" normalizeH="0" baseline="0" noProof="0" dirty="0">
              <a:ln>
                <a:noFill/>
              </a:ln>
              <a:solidFill>
                <a:srgbClr val="C9181C"/>
              </a:solidFill>
              <a:effectLst/>
              <a:uLnTx/>
              <a:uFillTx/>
              <a:latin typeface="微软雅黑" panose="020B0503020204020204" charset="-122"/>
              <a:ea typeface="微软雅黑" panose="020B0503020204020204" charset="-122"/>
            </a:endParaRP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n"/>
              <a:defRPr/>
            </a:pPr>
            <a:endParaRPr kumimoji="0" lang="en-US" altLang="zh-CN"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endParaRP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n"/>
              <a:defRPr/>
            </a:pPr>
            <a:endParaRPr kumimoji="0" lang="zh-CN" altLang="en-US" sz="1800" b="0" i="0" u="none" strike="noStrike" kern="0" cap="none" spc="0" normalizeH="0" baseline="0" noProof="0" dirty="0">
              <a:ln>
                <a:noFill/>
              </a:ln>
              <a:solidFill>
                <a:srgbClr val="404040"/>
              </a:solidFill>
              <a:effectLst/>
              <a:uLnTx/>
              <a:uFillTx/>
              <a:latin typeface="微软雅黑" panose="020B0503020204020204" charset="-122"/>
              <a:ea typeface="微软雅黑" panose="020B0503020204020204" charset="-122"/>
            </a:endParaRPr>
          </a:p>
        </p:txBody>
      </p:sp>
      <p:sp>
        <p:nvSpPr>
          <p:cNvPr id="2" name="矩形 1"/>
          <p:cNvSpPr/>
          <p:nvPr/>
        </p:nvSpPr>
        <p:spPr>
          <a:xfrm>
            <a:off x="5577841" y="2073622"/>
            <a:ext cx="5147733" cy="1228028"/>
          </a:xfrm>
          <a:prstGeom prst="rect">
            <a:avLst/>
          </a:prstGeom>
        </p:spPr>
        <p:txBody>
          <a:bodyPr wrap="square">
            <a:spAutoFit/>
          </a:bodyPr>
          <a:lstStyle/>
          <a:p>
            <a:pPr lvl="0" fontAlgn="base">
              <a:lnSpc>
                <a:spcPct val="130000"/>
              </a:lnSpc>
              <a:spcBef>
                <a:spcPct val="20000"/>
              </a:spcBef>
              <a:spcAft>
                <a:spcPct val="0"/>
              </a:spcAft>
              <a:buClr>
                <a:srgbClr val="008FD4"/>
              </a:buClr>
              <a:buSzPct val="70000"/>
              <a:defRPr/>
            </a:pPr>
            <a:r>
              <a:rPr lang="zh-CN" altLang="en-US" kern="0" dirty="0">
                <a:latin typeface="微软雅黑" panose="020B0503020204020204" charset="-122"/>
              </a:rPr>
              <a:t>测试时间选择：</a:t>
            </a:r>
            <a:endParaRPr lang="en-US" altLang="zh-CN" kern="0" dirty="0">
              <a:latin typeface="微软雅黑" panose="020B0503020204020204" charset="-122"/>
            </a:endParaRPr>
          </a:p>
          <a:p>
            <a:pPr lvl="0" fontAlgn="base">
              <a:lnSpc>
                <a:spcPct val="130000"/>
              </a:lnSpc>
              <a:spcBef>
                <a:spcPct val="20000"/>
              </a:spcBef>
              <a:spcAft>
                <a:spcPct val="0"/>
              </a:spcAft>
              <a:buClr>
                <a:srgbClr val="008FD4"/>
              </a:buClr>
              <a:buSzPct val="70000"/>
              <a:defRPr/>
            </a:pPr>
            <a:r>
              <a:rPr lang="zh-CN" altLang="zh-CN" kern="0" dirty="0">
                <a:latin typeface="微软雅黑" panose="020B0503020204020204" charset="-122"/>
              </a:rPr>
              <a:t>主要时段原则上选择</a:t>
            </a:r>
            <a:r>
              <a:rPr lang="zh-CN" altLang="zh-CN" kern="0" dirty="0">
                <a:solidFill>
                  <a:srgbClr val="FF0000"/>
                </a:solidFill>
                <a:latin typeface="微软雅黑" panose="020B0503020204020204" charset="-122"/>
              </a:rPr>
              <a:t>非节假日的周一至周五，每日</a:t>
            </a:r>
            <a:r>
              <a:rPr lang="en-US" altLang="zh-CN" kern="0" dirty="0">
                <a:solidFill>
                  <a:srgbClr val="FF0000"/>
                </a:solidFill>
                <a:latin typeface="微软雅黑" panose="020B0503020204020204" charset="-122"/>
              </a:rPr>
              <a:t>9:00</a:t>
            </a:r>
            <a:r>
              <a:rPr lang="zh-CN" altLang="zh-CN" kern="0" dirty="0">
                <a:solidFill>
                  <a:srgbClr val="FF0000"/>
                </a:solidFill>
                <a:latin typeface="微软雅黑" panose="020B0503020204020204" charset="-122"/>
              </a:rPr>
              <a:t>～</a:t>
            </a:r>
            <a:r>
              <a:rPr lang="en-US" altLang="zh-CN" kern="0" dirty="0">
                <a:solidFill>
                  <a:srgbClr val="FF0000"/>
                </a:solidFill>
                <a:latin typeface="微软雅黑" panose="020B0503020204020204" charset="-122"/>
              </a:rPr>
              <a:t>21:00</a:t>
            </a:r>
            <a:r>
              <a:rPr lang="zh-CN" altLang="en-US" kern="0" dirty="0">
                <a:latin typeface="微软雅黑" panose="020B0503020204020204" charset="-122"/>
              </a:rPr>
              <a:t>；</a:t>
            </a:r>
            <a:endParaRPr lang="en-US" altLang="zh-CN" kern="0" dirty="0">
              <a:latin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3.1  </a:t>
            </a:r>
            <a:r>
              <a:rPr kumimoji="1" lang="zh-CN" altLang="en-US" sz="1900" b="1" dirty="0">
                <a:latin typeface="微软雅黑" panose="020B0503020204020204" charset="-122"/>
                <a:ea typeface="微软雅黑" panose="020B0503020204020204" charset="-122"/>
                <a:cs typeface="微软雅黑" panose="020B0503020204020204" charset="-122"/>
              </a:rPr>
              <a:t>测试相关的概念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18" name="标题 1"/>
          <p:cNvSpPr txBox="1"/>
          <p:nvPr/>
        </p:nvSpPr>
        <p:spPr bwMode="auto">
          <a:xfrm>
            <a:off x="1064895" y="2073622"/>
            <a:ext cx="320230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LTE</a:t>
            </a:r>
            <a:r>
              <a:rPr lang="zh-CN" altLang="en-US" sz="2000" b="1" dirty="0">
                <a:solidFill>
                  <a:srgbClr val="005BAA"/>
                </a:solidFill>
              </a:rPr>
              <a:t>网络测试工具简介</a:t>
            </a:r>
          </a:p>
        </p:txBody>
      </p:sp>
      <p:sp>
        <p:nvSpPr>
          <p:cNvPr id="20" name="Rectangle 3"/>
          <p:cNvSpPr txBox="1">
            <a:spLocks noChangeArrowheads="1"/>
          </p:cNvSpPr>
          <p:nvPr/>
        </p:nvSpPr>
        <p:spPr bwMode="auto">
          <a:xfrm>
            <a:off x="1264592" y="2949371"/>
            <a:ext cx="2714625"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测试电脑</a:t>
            </a: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无线网络测试软件</a:t>
            </a: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测试终端</a:t>
            </a:r>
          </a:p>
          <a:p>
            <a:pPr marL="342900" marR="0" lvl="0" indent="-342900" algn="l" defTabSz="914400" rtl="0" eaLnBrk="1" fontAlgn="base" latinLnBrk="0" hangingPunct="1">
              <a:lnSpc>
                <a:spcPct val="130000"/>
              </a:lnSpc>
              <a:spcBef>
                <a:spcPct val="20000"/>
              </a:spcBef>
              <a:spcAft>
                <a:spcPct val="0"/>
              </a:spcAft>
              <a:buClr>
                <a:srgbClr val="008FD4"/>
              </a:buClr>
              <a:buSzPct val="70000"/>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GPS</a:t>
            </a:r>
            <a:r>
              <a:rPr kumimoji="0" lang="zh-CN" altLang="en-US" sz="1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接收机</a:t>
            </a:r>
          </a:p>
        </p:txBody>
      </p:sp>
      <p:pic>
        <p:nvPicPr>
          <p:cNvPr id="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1221" y="3923303"/>
            <a:ext cx="5280025"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3"/>
          <p:cNvSpPr>
            <a:spLocks noChangeArrowheads="1"/>
          </p:cNvSpPr>
          <p:nvPr/>
        </p:nvSpPr>
        <p:spPr bwMode="auto">
          <a:xfrm>
            <a:off x="3617267" y="2949371"/>
            <a:ext cx="1919287" cy="1966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0" fontAlgn="base" latinLnBrk="0" hangingPunct="0">
              <a:lnSpc>
                <a:spcPct val="145000"/>
              </a:lnSpc>
              <a:spcBef>
                <a:spcPct val="20000"/>
              </a:spcBef>
              <a:spcAft>
                <a:spcPct val="0"/>
              </a:spcAft>
              <a:buClr>
                <a:srgbClr val="FFF000"/>
              </a:buClr>
              <a:buSzPct val="75000"/>
              <a:buFont typeface="Wingdings" panose="05000000000000000000" pitchFamily="2" charset="2"/>
              <a:buChar char="u"/>
              <a:defRPr/>
            </a:pPr>
            <a:r>
              <a:rPr lang="zh-CN" altLang="en-US" sz="1800" kern="0" dirty="0">
                <a:latin typeface="微软雅黑" panose="020B0503020204020204" charset="-122"/>
                <a:ea typeface="微软雅黑" panose="020B0503020204020204" charset="-122"/>
              </a:rPr>
              <a:t>加密狗</a:t>
            </a:r>
          </a:p>
          <a:p>
            <a:pPr marL="342900" marR="0" lvl="0" indent="-342900" defTabSz="914400" eaLnBrk="0" fontAlgn="base" latinLnBrk="0" hangingPunct="0">
              <a:lnSpc>
                <a:spcPct val="145000"/>
              </a:lnSpc>
              <a:spcBef>
                <a:spcPct val="20000"/>
              </a:spcBef>
              <a:spcAft>
                <a:spcPct val="0"/>
              </a:spcAft>
              <a:buClr>
                <a:srgbClr val="FFF000"/>
              </a:buClr>
              <a:buSzPct val="75000"/>
              <a:buFont typeface="Wingdings" panose="05000000000000000000" pitchFamily="2" charset="2"/>
              <a:buChar char="u"/>
              <a:defRPr/>
            </a:pPr>
            <a:r>
              <a:rPr lang="zh-CN" altLang="en-US" sz="1800" kern="0" dirty="0">
                <a:latin typeface="微软雅黑" panose="020B0503020204020204" charset="-122"/>
                <a:ea typeface="微软雅黑" panose="020B0503020204020204" charset="-122"/>
              </a:rPr>
              <a:t>车载逆变器</a:t>
            </a:r>
            <a:endParaRPr lang="en-US" altLang="zh-CN" sz="1800" kern="0" dirty="0">
              <a:latin typeface="微软雅黑" panose="020B0503020204020204" charset="-122"/>
              <a:ea typeface="微软雅黑" panose="020B0503020204020204" charset="-122"/>
            </a:endParaRPr>
          </a:p>
          <a:p>
            <a:pPr marL="342900" marR="0" lvl="0" indent="-342900" defTabSz="914400" eaLnBrk="0" fontAlgn="base" latinLnBrk="0" hangingPunct="0">
              <a:lnSpc>
                <a:spcPct val="145000"/>
              </a:lnSpc>
              <a:spcBef>
                <a:spcPct val="20000"/>
              </a:spcBef>
              <a:spcAft>
                <a:spcPct val="0"/>
              </a:spcAft>
              <a:buClr>
                <a:srgbClr val="FFF000"/>
              </a:buClr>
              <a:buSzPct val="75000"/>
              <a:buFont typeface="Wingdings" panose="05000000000000000000" pitchFamily="2" charset="2"/>
              <a:buChar char="u"/>
              <a:defRPr/>
            </a:pPr>
            <a:r>
              <a:rPr kumimoji="0" lang="zh-CN" altLang="en-US" sz="2000" b="0" i="0" u="none" strike="noStrike" kern="0" cap="none" spc="0" normalizeH="0" baseline="0" noProof="0" dirty="0">
                <a:ln>
                  <a:noFill/>
                </a:ln>
                <a:effectLst/>
                <a:uLnTx/>
                <a:uFillTx/>
                <a:latin typeface="+mn-ea"/>
                <a:ea typeface="+mn-ea"/>
              </a:rPr>
              <a:t>测试数据线</a:t>
            </a:r>
          </a:p>
          <a:p>
            <a:pPr marL="342900" marR="0" lvl="0" indent="-342900" defTabSz="914400" eaLnBrk="0" fontAlgn="base" latinLnBrk="0" hangingPunct="0">
              <a:lnSpc>
                <a:spcPct val="145000"/>
              </a:lnSpc>
              <a:spcBef>
                <a:spcPct val="20000"/>
              </a:spcBef>
              <a:spcAft>
                <a:spcPct val="0"/>
              </a:spcAft>
              <a:buClr>
                <a:srgbClr val="FFF000"/>
              </a:buClr>
              <a:buSzPct val="75000"/>
              <a:buFont typeface="Wingdings" panose="05000000000000000000" pitchFamily="2" charset="2"/>
              <a:buChar char="u"/>
              <a:defRPr/>
            </a:pPr>
            <a:endParaRPr kumimoji="0" lang="zh-CN" altLang="en-US" sz="2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3" name="矩形 2"/>
          <p:cNvSpPr>
            <a:spLocks noChangeArrowheads="1"/>
          </p:cNvSpPr>
          <p:nvPr/>
        </p:nvSpPr>
        <p:spPr bwMode="auto">
          <a:xfrm>
            <a:off x="2778040" y="5288683"/>
            <a:ext cx="2286000"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914400" fontAlgn="base">
              <a:lnSpc>
                <a:spcPct val="145000"/>
              </a:lnSpc>
              <a:spcBef>
                <a:spcPct val="20000"/>
              </a:spcBef>
              <a:spcAft>
                <a:spcPct val="0"/>
              </a:spcAft>
              <a:buClr>
                <a:srgbClr val="3333CC"/>
              </a:buClr>
              <a:buSzPct val="75000"/>
              <a:buFont typeface="Wingdings" panose="05000000000000000000" pitchFamily="2" charset="2"/>
              <a:buChar char="u"/>
            </a:pPr>
            <a:r>
              <a:rPr lang="zh-CN" altLang="en-US" sz="2000" dirty="0">
                <a:solidFill>
                  <a:srgbClr val="000000"/>
                </a:solidFill>
                <a:latin typeface="微软雅黑" panose="020B0503020204020204" charset="-122"/>
                <a:ea typeface="微软雅黑" panose="020B0503020204020204" charset="-122"/>
              </a:rPr>
              <a:t>电子地图</a:t>
            </a:r>
          </a:p>
          <a:p>
            <a:pPr defTabSz="914400" fontAlgn="base">
              <a:lnSpc>
                <a:spcPct val="145000"/>
              </a:lnSpc>
              <a:spcBef>
                <a:spcPct val="20000"/>
              </a:spcBef>
              <a:spcAft>
                <a:spcPct val="0"/>
              </a:spcAft>
              <a:buClr>
                <a:srgbClr val="3333CC"/>
              </a:buClr>
              <a:buSzPct val="75000"/>
              <a:buFont typeface="Wingdings" panose="05000000000000000000" pitchFamily="2" charset="2"/>
              <a:buChar char="u"/>
            </a:pPr>
            <a:r>
              <a:rPr lang="zh-CN" altLang="en-US" sz="2000" dirty="0">
                <a:solidFill>
                  <a:srgbClr val="000000"/>
                </a:solidFill>
                <a:latin typeface="微软雅黑" panose="020B0503020204020204" charset="-122"/>
                <a:ea typeface="微软雅黑" panose="020B0503020204020204" charset="-122"/>
              </a:rPr>
              <a:t>基站信息表</a:t>
            </a:r>
          </a:p>
        </p:txBody>
      </p:sp>
      <p:pic>
        <p:nvPicPr>
          <p:cNvPr id="2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4938" y="1485453"/>
            <a:ext cx="827087" cy="225583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13" name="矩形 12"/>
          <p:cNvSpPr/>
          <p:nvPr/>
        </p:nvSpPr>
        <p:spPr>
          <a:xfrm>
            <a:off x="2017863" y="2608927"/>
            <a:ext cx="8609664"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800" dirty="0">
                <a:latin typeface="+mj-ea"/>
                <a:ea typeface="+mj-ea"/>
              </a:rPr>
              <a:t>LTE</a:t>
            </a:r>
            <a:r>
              <a:rPr lang="zh-CN" altLang="zh-CN" sz="1800" dirty="0">
                <a:latin typeface="+mj-ea"/>
                <a:ea typeface="+mj-ea"/>
              </a:rPr>
              <a:t>测试分为“网络性能测试”和“客户感知业务质量测试”</a:t>
            </a:r>
            <a:r>
              <a:rPr lang="zh-CN" altLang="en-US" sz="1800" dirty="0">
                <a:latin typeface="+mj-ea"/>
                <a:ea typeface="+mj-ea"/>
              </a:rPr>
              <a:t>。</a:t>
            </a:r>
            <a:endParaRPr lang="en-US" altLang="zh-CN" sz="1800" dirty="0">
              <a:latin typeface="+mj-ea"/>
              <a:ea typeface="+mj-ea"/>
            </a:endParaRPr>
          </a:p>
          <a:p>
            <a:pPr marL="285750" indent="-285750">
              <a:lnSpc>
                <a:spcPct val="150000"/>
              </a:lnSpc>
              <a:buFont typeface="Arial" panose="020B0604020202020204" pitchFamily="34" charset="0"/>
              <a:buChar char="•"/>
            </a:pPr>
            <a:endParaRPr lang="en-US" altLang="zh-CN" sz="1800" dirty="0">
              <a:latin typeface="+mj-ea"/>
              <a:ea typeface="+mj-ea"/>
            </a:endParaRPr>
          </a:p>
          <a:p>
            <a:pPr marL="285750" indent="-285750">
              <a:lnSpc>
                <a:spcPct val="150000"/>
              </a:lnSpc>
              <a:buFont typeface="Arial" panose="020B0604020202020204" pitchFamily="34" charset="0"/>
              <a:buChar char="•"/>
            </a:pPr>
            <a:r>
              <a:rPr lang="zh-CN" altLang="zh-CN" sz="1800" dirty="0">
                <a:latin typeface="+mj-ea"/>
                <a:ea typeface="+mj-ea"/>
              </a:rPr>
              <a:t>网络性能测试主要依靠自有服务器的</a:t>
            </a:r>
            <a:r>
              <a:rPr lang="en-US" altLang="zh-CN" sz="1800" dirty="0">
                <a:latin typeface="+mj-ea"/>
                <a:ea typeface="+mj-ea"/>
              </a:rPr>
              <a:t>FTP</a:t>
            </a:r>
            <a:r>
              <a:rPr lang="zh-CN" altLang="zh-CN" sz="1800" dirty="0">
                <a:latin typeface="+mj-ea"/>
                <a:ea typeface="+mj-ea"/>
              </a:rPr>
              <a:t>业务测试，验证</a:t>
            </a:r>
            <a:r>
              <a:rPr lang="en-US" altLang="zh-CN" sz="1800" dirty="0">
                <a:latin typeface="+mj-ea"/>
                <a:ea typeface="+mj-ea"/>
              </a:rPr>
              <a:t>LTE</a:t>
            </a:r>
            <a:r>
              <a:rPr lang="zh-CN" altLang="zh-CN" sz="1800" dirty="0">
                <a:latin typeface="+mj-ea"/>
                <a:ea typeface="+mj-ea"/>
              </a:rPr>
              <a:t>无线网络空口性能。</a:t>
            </a:r>
            <a:endParaRPr lang="en-US" altLang="zh-CN" sz="1800" dirty="0">
              <a:latin typeface="+mj-ea"/>
              <a:ea typeface="+mj-ea"/>
            </a:endParaRPr>
          </a:p>
          <a:p>
            <a:pPr marL="285750" indent="-285750">
              <a:lnSpc>
                <a:spcPct val="150000"/>
              </a:lnSpc>
              <a:buFont typeface="Arial" panose="020B0604020202020204" pitchFamily="34" charset="0"/>
              <a:buChar char="•"/>
            </a:pPr>
            <a:endParaRPr lang="en-US" altLang="zh-CN" sz="1800" dirty="0">
              <a:latin typeface="+mj-ea"/>
              <a:ea typeface="+mj-ea"/>
            </a:endParaRPr>
          </a:p>
          <a:p>
            <a:pPr marL="285750" indent="-285750">
              <a:lnSpc>
                <a:spcPct val="150000"/>
              </a:lnSpc>
              <a:buFont typeface="Arial" panose="020B0604020202020204" pitchFamily="34" charset="0"/>
              <a:buChar char="•"/>
            </a:pPr>
            <a:r>
              <a:rPr lang="zh-CN" altLang="zh-CN" sz="1800" dirty="0">
                <a:latin typeface="+mj-ea"/>
                <a:ea typeface="+mj-ea"/>
              </a:rPr>
              <a:t>客户感知业务质量测试包括语音业务质量测试和数据业务质量测试，数据业务质量测试通过商用测试终端进行</a:t>
            </a:r>
            <a:r>
              <a:rPr lang="en-US" altLang="zh-CN" sz="1800" dirty="0">
                <a:latin typeface="+mj-ea"/>
                <a:ea typeface="+mj-ea"/>
              </a:rPr>
              <a:t>HTTP</a:t>
            </a:r>
            <a:r>
              <a:rPr lang="zh-CN" altLang="zh-CN" sz="1800" dirty="0">
                <a:latin typeface="+mj-ea"/>
                <a:ea typeface="+mj-ea"/>
              </a:rPr>
              <a:t>浏览、</a:t>
            </a:r>
            <a:r>
              <a:rPr lang="en-US" altLang="zh-CN" sz="1800" dirty="0">
                <a:latin typeface="+mj-ea"/>
                <a:ea typeface="+mj-ea"/>
              </a:rPr>
              <a:t>HTTP</a:t>
            </a:r>
            <a:r>
              <a:rPr lang="zh-CN" altLang="en-US" sz="1800" dirty="0">
                <a:latin typeface="+mj-ea"/>
                <a:ea typeface="+mj-ea"/>
              </a:rPr>
              <a:t>下载</a:t>
            </a:r>
            <a:r>
              <a:rPr lang="zh-CN" altLang="zh-CN" sz="1800" dirty="0">
                <a:latin typeface="+mj-ea"/>
                <a:ea typeface="+mj-ea"/>
              </a:rPr>
              <a:t>、视频流媒体、邮件发送等。</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7" name="标题 1"/>
          <p:cNvSpPr txBox="1"/>
          <p:nvPr/>
        </p:nvSpPr>
        <p:spPr bwMode="auto">
          <a:xfrm>
            <a:off x="973603" y="216593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网络性能测试规范</a:t>
            </a:r>
          </a:p>
        </p:txBody>
      </p:sp>
      <p:graphicFrame>
        <p:nvGraphicFramePr>
          <p:cNvPr id="10" name="表格 9"/>
          <p:cNvGraphicFramePr>
            <a:graphicFrameLocks noGrp="1"/>
          </p:cNvGraphicFramePr>
          <p:nvPr/>
        </p:nvGraphicFramePr>
        <p:xfrm>
          <a:off x="2114258" y="4752719"/>
          <a:ext cx="7415561" cy="1556801"/>
        </p:xfrm>
        <a:graphic>
          <a:graphicData uri="http://schemas.openxmlformats.org/drawingml/2006/table">
            <a:tbl>
              <a:tblPr firstRow="1" firstCol="1" bandRow="1"/>
              <a:tblGrid>
                <a:gridCol w="1150845">
                  <a:extLst>
                    <a:ext uri="{9D8B030D-6E8A-4147-A177-3AD203B41FA5}">
                      <a16:colId xmlns:a16="http://schemas.microsoft.com/office/drawing/2014/main" val="20000"/>
                    </a:ext>
                  </a:extLst>
                </a:gridCol>
                <a:gridCol w="6264716">
                  <a:extLst>
                    <a:ext uri="{9D8B030D-6E8A-4147-A177-3AD203B41FA5}">
                      <a16:colId xmlns:a16="http://schemas.microsoft.com/office/drawing/2014/main" val="20001"/>
                    </a:ext>
                  </a:extLst>
                </a:gridCol>
              </a:tblGrid>
              <a:tr h="309626">
                <a:tc>
                  <a:txBody>
                    <a:bodyPr/>
                    <a:lstStyle/>
                    <a:p>
                      <a:pPr indent="127000">
                        <a:spcAft>
                          <a:spcPts val="0"/>
                        </a:spcAft>
                      </a:pPr>
                      <a:r>
                        <a:rPr lang="zh-CN" sz="1600" kern="100" dirty="0">
                          <a:effectLst/>
                          <a:latin typeface="+mj-ea"/>
                          <a:ea typeface="+mj-ea"/>
                        </a:rPr>
                        <a:t>测试业务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spcAft>
                          <a:spcPts val="0"/>
                        </a:spcAft>
                      </a:pPr>
                      <a:r>
                        <a:rPr lang="zh-CN" sz="1600" kern="100" dirty="0">
                          <a:effectLst/>
                          <a:latin typeface="+mj-ea"/>
                          <a:ea typeface="+mj-ea"/>
                        </a:rPr>
                        <a:t>测试方法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47175">
                <a:tc>
                  <a:txBody>
                    <a:bodyPr/>
                    <a:lstStyle/>
                    <a:p>
                      <a:pPr indent="0">
                        <a:spcAft>
                          <a:spcPts val="0"/>
                        </a:spcAft>
                      </a:pPr>
                      <a:r>
                        <a:rPr lang="en-US" sz="1600" kern="100" dirty="0">
                          <a:effectLst/>
                          <a:latin typeface="+mj-ea"/>
                          <a:ea typeface="+mj-ea"/>
                          <a:cs typeface="Times New Roman" panose="02020603050405020304" pitchFamily="18" charset="0"/>
                        </a:rPr>
                        <a:t>FTP</a:t>
                      </a:r>
                      <a:r>
                        <a:rPr lang="zh-CN" sz="1600" kern="100" dirty="0">
                          <a:effectLst/>
                          <a:latin typeface="+mj-ea"/>
                          <a:ea typeface="+mj-ea"/>
                        </a:rPr>
                        <a:t>大数据量上传、下载业务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16510" indent="127000" fontAlgn="b">
                        <a:spcAft>
                          <a:spcPts val="0"/>
                        </a:spcAft>
                      </a:pPr>
                      <a:r>
                        <a:rPr lang="en-US" sz="1600" kern="100" dirty="0">
                          <a:effectLst/>
                          <a:latin typeface="+mj-ea"/>
                          <a:ea typeface="+mj-ea"/>
                          <a:cs typeface="Times New Roman" panose="02020603050405020304" pitchFamily="18" charset="0"/>
                        </a:rPr>
                        <a:t>1.</a:t>
                      </a:r>
                      <a:r>
                        <a:rPr lang="zh-CN" sz="1600" kern="100" dirty="0">
                          <a:effectLst/>
                          <a:latin typeface="+mj-ea"/>
                          <a:ea typeface="+mj-ea"/>
                        </a:rPr>
                        <a:t>文件大小：</a:t>
                      </a:r>
                      <a:r>
                        <a:rPr lang="en-US" sz="1600" kern="100" dirty="0">
                          <a:effectLst/>
                          <a:latin typeface="+mj-ea"/>
                          <a:ea typeface="+mj-ea"/>
                          <a:cs typeface="Times New Roman" panose="02020603050405020304" pitchFamily="18" charset="0"/>
                        </a:rPr>
                        <a:t>TD-LTE</a:t>
                      </a:r>
                      <a:r>
                        <a:rPr lang="zh-CN" sz="1600" kern="100" dirty="0">
                          <a:effectLst/>
                          <a:latin typeface="+mj-ea"/>
                          <a:ea typeface="+mj-ea"/>
                        </a:rPr>
                        <a:t>网络</a:t>
                      </a:r>
                      <a:r>
                        <a:rPr lang="en-US" sz="1600" kern="100" dirty="0">
                          <a:effectLst/>
                          <a:latin typeface="+mj-ea"/>
                          <a:ea typeface="+mj-ea"/>
                          <a:cs typeface="Times New Roman" panose="02020603050405020304" pitchFamily="18" charset="0"/>
                        </a:rPr>
                        <a:t>FTP</a:t>
                      </a:r>
                      <a:r>
                        <a:rPr lang="zh-CN" sz="1600" kern="100" dirty="0">
                          <a:effectLst/>
                          <a:latin typeface="+mj-ea"/>
                          <a:ea typeface="+mj-ea"/>
                        </a:rPr>
                        <a:t>下载</a:t>
                      </a:r>
                      <a:r>
                        <a:rPr lang="en-US" sz="1600" kern="100" dirty="0">
                          <a:effectLst/>
                          <a:latin typeface="+mj-ea"/>
                          <a:ea typeface="+mj-ea"/>
                          <a:cs typeface="Times New Roman" panose="02020603050405020304" pitchFamily="18" charset="0"/>
                        </a:rPr>
                        <a:t>500MB</a:t>
                      </a:r>
                      <a:r>
                        <a:rPr lang="zh-CN" sz="1600" kern="100" dirty="0">
                          <a:effectLst/>
                          <a:latin typeface="+mj-ea"/>
                          <a:ea typeface="+mj-ea"/>
                        </a:rPr>
                        <a:t>文件，</a:t>
                      </a:r>
                      <a:r>
                        <a:rPr lang="en-US" sz="1600" kern="100" dirty="0">
                          <a:effectLst/>
                          <a:latin typeface="+mj-ea"/>
                          <a:ea typeface="+mj-ea"/>
                          <a:cs typeface="Times New Roman" panose="02020603050405020304" pitchFamily="18" charset="0"/>
                        </a:rPr>
                        <a:t>TD-LTE</a:t>
                      </a:r>
                      <a:r>
                        <a:rPr lang="zh-CN" sz="1600" kern="100" dirty="0">
                          <a:effectLst/>
                          <a:latin typeface="+mj-ea"/>
                          <a:ea typeface="+mj-ea"/>
                        </a:rPr>
                        <a:t>网络</a:t>
                      </a:r>
                      <a:r>
                        <a:rPr lang="en-US" sz="1600" kern="100" dirty="0">
                          <a:effectLst/>
                          <a:latin typeface="+mj-ea"/>
                          <a:ea typeface="+mj-ea"/>
                          <a:cs typeface="Times New Roman" panose="02020603050405020304" pitchFamily="18" charset="0"/>
                        </a:rPr>
                        <a:t>FTP</a:t>
                      </a:r>
                      <a:r>
                        <a:rPr lang="zh-CN" sz="1600" kern="100" dirty="0">
                          <a:effectLst/>
                          <a:latin typeface="+mj-ea"/>
                          <a:ea typeface="+mj-ea"/>
                        </a:rPr>
                        <a:t>上传</a:t>
                      </a:r>
                      <a:r>
                        <a:rPr lang="en-US" sz="1600" kern="100" dirty="0">
                          <a:effectLst/>
                          <a:latin typeface="+mj-ea"/>
                          <a:ea typeface="+mj-ea"/>
                          <a:cs typeface="Times New Roman" panose="02020603050405020304" pitchFamily="18" charset="0"/>
                        </a:rPr>
                        <a:t>200MB</a:t>
                      </a:r>
                      <a:r>
                        <a:rPr lang="zh-CN" sz="1600" kern="100" dirty="0">
                          <a:effectLst/>
                          <a:latin typeface="+mj-ea"/>
                          <a:ea typeface="+mj-ea"/>
                        </a:rPr>
                        <a:t>文件；</a:t>
                      </a:r>
                      <a:r>
                        <a:rPr lang="zh-CN" sz="1600" kern="100" dirty="0">
                          <a:effectLst/>
                          <a:latin typeface="+mj-ea"/>
                          <a:ea typeface="+mj-ea"/>
                          <a:cs typeface="Times New Roman" panose="02020603050405020304" pitchFamily="18" charset="0"/>
                        </a:rPr>
                        <a:t> </a:t>
                      </a:r>
                      <a:endParaRPr lang="zh-CN" sz="1600" kern="100" dirty="0">
                        <a:effectLst/>
                        <a:latin typeface="+mj-ea"/>
                        <a:ea typeface="+mj-ea"/>
                      </a:endParaRPr>
                    </a:p>
                    <a:p>
                      <a:pPr marR="16510" indent="127000" fontAlgn="b">
                        <a:spcAft>
                          <a:spcPts val="0"/>
                        </a:spcAft>
                      </a:pPr>
                      <a:r>
                        <a:rPr lang="en-US" sz="1600" kern="100" dirty="0">
                          <a:effectLst/>
                          <a:latin typeface="+mj-ea"/>
                          <a:ea typeface="+mj-ea"/>
                          <a:cs typeface="Times New Roman" panose="02020603050405020304" pitchFamily="18" charset="0"/>
                        </a:rPr>
                        <a:t>2.</a:t>
                      </a:r>
                      <a:r>
                        <a:rPr lang="zh-CN" sz="1600" kern="100" dirty="0">
                          <a:effectLst/>
                          <a:latin typeface="+mj-ea"/>
                          <a:ea typeface="+mj-ea"/>
                        </a:rPr>
                        <a:t>线程设置：下载</a:t>
                      </a:r>
                      <a:r>
                        <a:rPr lang="en-US" sz="1600" kern="100" dirty="0">
                          <a:effectLst/>
                          <a:latin typeface="+mj-ea"/>
                          <a:ea typeface="+mj-ea"/>
                          <a:cs typeface="Times New Roman" panose="02020603050405020304" pitchFamily="18" charset="0"/>
                        </a:rPr>
                        <a:t>5</a:t>
                      </a:r>
                      <a:r>
                        <a:rPr lang="zh-CN" sz="1600" kern="100" dirty="0">
                          <a:effectLst/>
                          <a:latin typeface="+mj-ea"/>
                          <a:ea typeface="+mj-ea"/>
                        </a:rPr>
                        <a:t>线程、上传单线程；</a:t>
                      </a:r>
                    </a:p>
                    <a:p>
                      <a:pPr indent="127000">
                        <a:spcAft>
                          <a:spcPts val="0"/>
                        </a:spcAft>
                      </a:pPr>
                      <a:r>
                        <a:rPr lang="en-US" sz="1600" kern="100" dirty="0">
                          <a:effectLst/>
                          <a:latin typeface="+mj-ea"/>
                          <a:ea typeface="+mj-ea"/>
                          <a:cs typeface="Times New Roman" panose="02020603050405020304" pitchFamily="18" charset="0"/>
                        </a:rPr>
                        <a:t>3.</a:t>
                      </a:r>
                      <a:r>
                        <a:rPr lang="zh-CN" sz="1600" kern="100" dirty="0">
                          <a:effectLst/>
                          <a:latin typeface="+mj-ea"/>
                          <a:ea typeface="+mj-ea"/>
                        </a:rPr>
                        <a:t>业务间隔：</a:t>
                      </a:r>
                      <a:r>
                        <a:rPr lang="en-US" sz="1600" kern="100" dirty="0">
                          <a:effectLst/>
                          <a:latin typeface="+mj-ea"/>
                          <a:ea typeface="+mj-ea"/>
                          <a:cs typeface="Times New Roman" panose="02020603050405020304" pitchFamily="18" charset="0"/>
                        </a:rPr>
                        <a:t>15</a:t>
                      </a:r>
                      <a:r>
                        <a:rPr lang="zh-CN" sz="1600" kern="100" dirty="0">
                          <a:effectLst/>
                          <a:latin typeface="+mj-ea"/>
                          <a:ea typeface="+mj-ea"/>
                        </a:rPr>
                        <a:t>秒；</a:t>
                      </a:r>
                    </a:p>
                    <a:p>
                      <a:pPr indent="127000">
                        <a:spcAft>
                          <a:spcPts val="0"/>
                        </a:spcAft>
                      </a:pPr>
                      <a:r>
                        <a:rPr lang="en-US" sz="1600" kern="100" dirty="0">
                          <a:effectLst/>
                          <a:latin typeface="+mj-ea"/>
                          <a:ea typeface="+mj-ea"/>
                          <a:cs typeface="Times New Roman" panose="02020603050405020304" pitchFamily="18" charset="0"/>
                        </a:rPr>
                        <a:t>4.</a:t>
                      </a:r>
                      <a:r>
                        <a:rPr lang="zh-CN" sz="1600" kern="100" dirty="0">
                          <a:effectLst/>
                          <a:latin typeface="+mj-ea"/>
                          <a:ea typeface="+mj-ea"/>
                        </a:rPr>
                        <a:t>网络选择：混网测试，即</a:t>
                      </a:r>
                      <a:r>
                        <a:rPr lang="en-US" sz="1600" kern="100" dirty="0">
                          <a:effectLst/>
                          <a:latin typeface="+mj-ea"/>
                          <a:ea typeface="+mj-ea"/>
                          <a:cs typeface="Times New Roman" panose="02020603050405020304" pitchFamily="18" charset="0"/>
                        </a:rPr>
                        <a:t>GSM/3G/ LTE</a:t>
                      </a:r>
                      <a:r>
                        <a:rPr lang="zh-CN" sz="1600" kern="100" dirty="0">
                          <a:effectLst/>
                          <a:latin typeface="+mj-ea"/>
                          <a:ea typeface="+mj-ea"/>
                        </a:rPr>
                        <a:t>自由选网。</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Rectangle 2"/>
          <p:cNvSpPr>
            <a:spLocks noChangeArrowheads="1"/>
          </p:cNvSpPr>
          <p:nvPr/>
        </p:nvSpPr>
        <p:spPr bwMode="auto">
          <a:xfrm>
            <a:off x="5008182" y="1452244"/>
            <a:ext cx="5879952"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27000" eaLnBrk="0" fontAlgn="base" hangingPunct="0">
              <a:spcBef>
                <a:spcPct val="0"/>
              </a:spcBef>
              <a:spcAft>
                <a:spcPct val="0"/>
              </a:spcAft>
              <a:tabLst>
                <a:tab pos="2667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67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67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67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67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67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67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67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6700" algn="l"/>
              </a:tabLst>
              <a:defRPr>
                <a:solidFill>
                  <a:schemeClr val="tx1"/>
                </a:solidFill>
                <a:latin typeface="Arial" panose="020B0604020202020204" pitchFamily="34" charset="0"/>
              </a:defRPr>
            </a:lvl9pPr>
          </a:lstStyle>
          <a:p>
            <a:pPr marL="0" marR="0" lvl="0" indent="0"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rgbClr val="FF0000"/>
                </a:solidFill>
                <a:effectLst/>
                <a:latin typeface="+mj-ea"/>
                <a:ea typeface="+mj-ea"/>
                <a:cs typeface="Times New Roman" panose="02020603050405020304" pitchFamily="18" charset="0"/>
              </a:rPr>
              <a:t>1</a:t>
            </a:r>
            <a:r>
              <a:rPr kumimoji="0" lang="zh-CN" altLang="en-US" sz="1800" b="0" i="0" u="none" strike="noStrike" cap="none" normalizeH="0" baseline="0" dirty="0">
                <a:ln>
                  <a:noFill/>
                </a:ln>
                <a:solidFill>
                  <a:srgbClr val="FF0000"/>
                </a:solidFill>
                <a:effectLst/>
                <a:latin typeface="+mj-ea"/>
                <a:ea typeface="+mj-ea"/>
                <a:cs typeface="Times New Roman" panose="02020603050405020304" pitchFamily="18" charset="0"/>
              </a:rPr>
              <a:t>）业务测试</a:t>
            </a:r>
            <a:endParaRPr kumimoji="0" lang="zh-CN" altLang="en-US" sz="1800" b="0" i="0" u="none" strike="noStrike" cap="none" normalizeH="0" baseline="0" dirty="0">
              <a:ln>
                <a:noFill/>
              </a:ln>
              <a:solidFill>
                <a:srgbClr val="FF0000"/>
              </a:solidFill>
              <a:effectLst/>
              <a:latin typeface="+mj-ea"/>
              <a:ea typeface="+mj-ea"/>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测试手段</a:t>
            </a:r>
            <a:endParaRPr kumimoji="0" lang="zh-CN" altLang="en-US" sz="1800" b="0" i="0" u="none" strike="noStrike" cap="none" normalizeH="0" baseline="0" dirty="0">
              <a:ln>
                <a:noFill/>
              </a:ln>
              <a:solidFill>
                <a:schemeClr val="tx1"/>
              </a:solidFill>
              <a:effectLst/>
              <a:latin typeface="+mj-ea"/>
              <a:ea typeface="+mj-ea"/>
            </a:endParaRPr>
          </a:p>
          <a:p>
            <a:pPr marL="0" marR="0" lvl="0" indent="127000" defTabSz="914400" rtl="0" eaLnBrk="0" fontAlgn="base" latinLnBrk="0" hangingPunct="0">
              <a:lnSpc>
                <a:spcPct val="150000"/>
              </a:lnSpc>
              <a:spcBef>
                <a:spcPct val="0"/>
              </a:spcBef>
              <a:spcAft>
                <a:spcPct val="0"/>
              </a:spcAft>
              <a:buClrTx/>
              <a:buSzTx/>
              <a:buFontTx/>
              <a:buNone/>
              <a:tabLst>
                <a:tab pos="266700" algn="l"/>
              </a:tabLst>
            </a:pPr>
            <a:r>
              <a:rPr lang="en-US" altLang="zh-CN" dirty="0">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终端，支持</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模以上</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测试网络</a:t>
            </a:r>
            <a:endParaRPr kumimoji="0" lang="zh-CN" altLang="en-US" sz="1800" b="0" i="0" u="none" strike="noStrike" cap="none" normalizeH="0" baseline="0" dirty="0">
              <a:ln>
                <a:noFill/>
              </a:ln>
              <a:solidFill>
                <a:schemeClr val="tx1"/>
              </a:solidFill>
              <a:effectLst/>
              <a:latin typeface="+mj-ea"/>
              <a:ea typeface="+mj-ea"/>
            </a:endParaRPr>
          </a:p>
          <a:p>
            <a:pPr marL="0" marR="0" lvl="0" indent="127000" defTabSz="914400" rtl="0" eaLnBrk="0" fontAlgn="base" latinLnBrk="0" hangingPunct="0">
              <a:lnSpc>
                <a:spcPct val="150000"/>
              </a:lnSpc>
              <a:spcBef>
                <a:spcPct val="0"/>
              </a:spcBef>
              <a:spcAft>
                <a:spcPct val="0"/>
              </a:spcAft>
              <a:buClrTx/>
              <a:buSzTx/>
              <a:buFontTx/>
              <a:buNone/>
              <a:tabLst>
                <a:tab pos="266700" algn="l"/>
              </a:tabLst>
            </a:pPr>
            <a:r>
              <a:rPr lang="en-US" altLang="zh-CN" dirty="0">
                <a:latin typeface="+mj-ea"/>
                <a:ea typeface="+mj-ea"/>
                <a:cs typeface="Arial" panose="020B0604020202020204" pitchFamily="34" charset="0"/>
              </a:rPr>
              <a:t>    </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网络（混网）</a:t>
            </a:r>
            <a:endParaRPr kumimoji="0" lang="zh-CN" altLang="en-US" sz="1800" b="0" i="0" u="none" strike="noStrike" cap="none" normalizeH="0" baseline="0" dirty="0">
              <a:ln>
                <a:noFill/>
              </a:ln>
              <a:solidFill>
                <a:schemeClr val="tx1"/>
              </a:solidFill>
              <a:effectLst/>
              <a:latin typeface="+mj-ea"/>
              <a:ea typeface="+mj-ea"/>
            </a:endParaRPr>
          </a:p>
          <a:p>
            <a:pPr marR="0" lvl="0" indent="0" defTabSz="914400" rtl="0" eaLnBrk="0" fontAlgn="base" latinLnBrk="0" hangingPunct="0">
              <a:lnSpc>
                <a:spcPct val="150000"/>
              </a:lnSpc>
              <a:spcBef>
                <a:spcPct val="0"/>
              </a:spcBef>
              <a:spcAft>
                <a:spcPct val="0"/>
              </a:spcAft>
              <a:buClrTx/>
              <a:buSzTx/>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测试业务及方法</a:t>
            </a:r>
            <a:endParaRPr kumimoji="0" lang="zh-CN" altLang="en-US" sz="1800" b="0" i="0" u="none" strike="noStrike" cap="none" normalizeH="0" baseline="0" dirty="0">
              <a:ln>
                <a:noFill/>
              </a:ln>
              <a:solidFill>
                <a:schemeClr val="tx1"/>
              </a:solidFill>
              <a:effectLst/>
              <a:latin typeface="+mj-ea"/>
              <a:ea typeface="+mj-ea"/>
            </a:endParaRPr>
          </a:p>
          <a:p>
            <a:pPr marL="0" marR="0" lvl="0" indent="127000" defTabSz="914400" rtl="0" eaLnBrk="0" fontAlgn="base" latinLnBrk="0" hangingPunct="0">
              <a:lnSpc>
                <a:spcPct val="150000"/>
              </a:lnSpc>
              <a:spcBef>
                <a:spcPct val="0"/>
              </a:spcBef>
              <a:spcAft>
                <a:spcPct val="0"/>
              </a:spcAft>
              <a:buClrTx/>
              <a:buSzTx/>
              <a:buFontTx/>
              <a:buNone/>
              <a:tabLst>
                <a:tab pos="266700" algn="l"/>
              </a:tabLst>
            </a:pPr>
            <a:r>
              <a:rPr lang="en-US" altLang="zh-CN" dirty="0">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数据</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FTP</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上传下载业务（混网），如表所示</a:t>
            </a:r>
            <a:endParaRPr kumimoji="0" lang="zh-CN" altLang="en-US" sz="1800" b="0" i="0" u="none" strike="noStrike" cap="none" normalizeH="0" baseline="0" dirty="0">
              <a:ln>
                <a:noFill/>
              </a:ln>
              <a:solidFill>
                <a:schemeClr val="tx1"/>
              </a:solidFill>
              <a:effectLst/>
              <a:latin typeface="+mj-ea"/>
              <a:ea typeface="+mj-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7" name="标题 1"/>
          <p:cNvSpPr txBox="1"/>
          <p:nvPr/>
        </p:nvSpPr>
        <p:spPr bwMode="auto">
          <a:xfrm>
            <a:off x="973603" y="216593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网络性能测试规范</a:t>
            </a:r>
          </a:p>
        </p:txBody>
      </p:sp>
      <p:graphicFrame>
        <p:nvGraphicFramePr>
          <p:cNvPr id="9" name="表格 8"/>
          <p:cNvGraphicFramePr>
            <a:graphicFrameLocks noGrp="1"/>
          </p:cNvGraphicFramePr>
          <p:nvPr/>
        </p:nvGraphicFramePr>
        <p:xfrm>
          <a:off x="4563378" y="2993479"/>
          <a:ext cx="6803058" cy="558668"/>
        </p:xfrm>
        <a:graphic>
          <a:graphicData uri="http://schemas.openxmlformats.org/drawingml/2006/table">
            <a:tbl>
              <a:tblPr firstRow="1" firstCol="1" bandRow="1"/>
              <a:tblGrid>
                <a:gridCol w="2465441">
                  <a:extLst>
                    <a:ext uri="{9D8B030D-6E8A-4147-A177-3AD203B41FA5}">
                      <a16:colId xmlns:a16="http://schemas.microsoft.com/office/drawing/2014/main" val="20000"/>
                    </a:ext>
                  </a:extLst>
                </a:gridCol>
                <a:gridCol w="4337617">
                  <a:extLst>
                    <a:ext uri="{9D8B030D-6E8A-4147-A177-3AD203B41FA5}">
                      <a16:colId xmlns:a16="http://schemas.microsoft.com/office/drawing/2014/main" val="20001"/>
                    </a:ext>
                  </a:extLst>
                </a:gridCol>
              </a:tblGrid>
              <a:tr h="284348">
                <a:tc>
                  <a:txBody>
                    <a:bodyPr/>
                    <a:lstStyle/>
                    <a:p>
                      <a:pPr indent="127000" algn="ctr">
                        <a:spcAft>
                          <a:spcPts val="0"/>
                        </a:spcAft>
                      </a:pPr>
                      <a:r>
                        <a:rPr lang="zh-CN" sz="1800" kern="100" dirty="0">
                          <a:effectLst/>
                          <a:latin typeface="+mj-ea"/>
                          <a:ea typeface="+mj-ea"/>
                        </a:rPr>
                        <a:t>测试业务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zh-CN" sz="1800" kern="100" dirty="0">
                          <a:effectLst/>
                          <a:latin typeface="+mj-ea"/>
                          <a:ea typeface="+mj-ea"/>
                        </a:rPr>
                        <a:t>测试方法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indent="127000">
                        <a:spcAft>
                          <a:spcPts val="0"/>
                        </a:spcAft>
                      </a:pPr>
                      <a:r>
                        <a:rPr lang="en-US" sz="1800" kern="100" dirty="0">
                          <a:effectLst/>
                          <a:latin typeface="+mj-ea"/>
                          <a:ea typeface="+mj-ea"/>
                          <a:cs typeface="Times New Roman" panose="02020603050405020304" pitchFamily="18" charset="0"/>
                        </a:rPr>
                        <a:t>TD-LTE</a:t>
                      </a:r>
                      <a:r>
                        <a:rPr lang="zh-CN" sz="1800" kern="100" dirty="0">
                          <a:effectLst/>
                          <a:latin typeface="+mj-ea"/>
                          <a:ea typeface="+mj-ea"/>
                        </a:rPr>
                        <a:t>空闲态测试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spcAft>
                          <a:spcPts val="0"/>
                        </a:spcAft>
                      </a:pPr>
                      <a:r>
                        <a:rPr lang="en-US" sz="1800" kern="100" dirty="0">
                          <a:effectLst/>
                          <a:latin typeface="+mj-ea"/>
                          <a:ea typeface="+mj-ea"/>
                          <a:cs typeface="Times New Roman" panose="02020603050405020304" pitchFamily="18" charset="0"/>
                        </a:rPr>
                        <a:t>IDLE</a:t>
                      </a:r>
                      <a:r>
                        <a:rPr lang="zh-CN" sz="1800" kern="100" dirty="0">
                          <a:effectLst/>
                          <a:latin typeface="+mj-ea"/>
                          <a:ea typeface="+mj-ea"/>
                        </a:rPr>
                        <a:t>状态下锁</a:t>
                      </a:r>
                      <a:r>
                        <a:rPr lang="en-US" sz="1800" kern="100" dirty="0">
                          <a:effectLst/>
                          <a:latin typeface="+mj-ea"/>
                          <a:ea typeface="+mj-ea"/>
                          <a:cs typeface="Times New Roman" panose="02020603050405020304" pitchFamily="18" charset="0"/>
                        </a:rPr>
                        <a:t>LTE</a:t>
                      </a:r>
                      <a:r>
                        <a:rPr lang="zh-CN" sz="1800" kern="100" dirty="0">
                          <a:effectLst/>
                          <a:latin typeface="+mj-ea"/>
                          <a:ea typeface="+mj-ea"/>
                        </a:rPr>
                        <a:t>网测试，不做任何业务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3" name="Rectangle 2"/>
          <p:cNvSpPr>
            <a:spLocks noChangeArrowheads="1"/>
          </p:cNvSpPr>
          <p:nvPr/>
        </p:nvSpPr>
        <p:spPr bwMode="auto">
          <a:xfrm>
            <a:off x="973603" y="2788066"/>
            <a:ext cx="6691933"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27000" eaLnBrk="0" fontAlgn="base" hangingPunct="0">
              <a:spcBef>
                <a:spcPct val="0"/>
              </a:spcBef>
              <a:spcAft>
                <a:spcPct val="0"/>
              </a:spcAft>
              <a:tabLst>
                <a:tab pos="2667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67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67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67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67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67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67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67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6700" algn="l"/>
              </a:tabLst>
              <a:defRPr>
                <a:solidFill>
                  <a:schemeClr val="tx1"/>
                </a:solidFill>
                <a:latin typeface="Arial" panose="020B0604020202020204" pitchFamily="34" charset="0"/>
              </a:defRPr>
            </a:lvl9pPr>
          </a:lstStyle>
          <a:p>
            <a:pPr marL="0" marR="0" lvl="0" indent="0"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rgbClr val="FF0000"/>
                </a:solidFill>
                <a:effectLst/>
                <a:latin typeface="+mj-ea"/>
                <a:ea typeface="+mj-ea"/>
                <a:cs typeface="Times New Roman" panose="02020603050405020304" pitchFamily="18" charset="0"/>
              </a:rPr>
              <a:t>2</a:t>
            </a:r>
            <a:r>
              <a:rPr kumimoji="0" lang="zh-CN" altLang="en-US" sz="1800" b="0" i="0" u="none" strike="noStrike" cap="none" normalizeH="0" baseline="0" dirty="0">
                <a:ln>
                  <a:noFill/>
                </a:ln>
                <a:solidFill>
                  <a:srgbClr val="FF0000"/>
                </a:solidFill>
                <a:effectLst/>
                <a:latin typeface="+mj-ea"/>
                <a:ea typeface="+mj-ea"/>
                <a:cs typeface="Times New Roman" panose="02020603050405020304" pitchFamily="18" charset="0"/>
              </a:rPr>
              <a:t>）空闲态测试</a:t>
            </a:r>
            <a:endParaRPr kumimoji="0" lang="zh-CN" altLang="en-US" sz="1800" b="0" i="0" u="none" strike="noStrike" cap="none" normalizeH="0" baseline="0" dirty="0">
              <a:ln>
                <a:noFill/>
              </a:ln>
              <a:solidFill>
                <a:srgbClr val="FF0000"/>
              </a:solidFill>
              <a:effectLst/>
              <a:latin typeface="+mj-ea"/>
              <a:ea typeface="+mj-ea"/>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测试手段</a:t>
            </a:r>
            <a:endParaRPr kumimoji="0" lang="zh-CN" altLang="en-US" sz="1800" b="0" i="0" u="none" strike="noStrike" cap="none" normalizeH="0" baseline="0" dirty="0">
              <a:ln>
                <a:noFill/>
              </a:ln>
              <a:solidFill>
                <a:schemeClr val="tx1"/>
              </a:solidFill>
              <a:effectLst/>
              <a:latin typeface="+mj-ea"/>
              <a:ea typeface="+mj-ea"/>
            </a:endParaRPr>
          </a:p>
          <a:p>
            <a:pPr marL="0" marR="0" lvl="0" indent="0"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终端，支持</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8</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模以上</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测试网络</a:t>
            </a:r>
            <a:endParaRPr kumimoji="0" lang="zh-CN" altLang="en-US" sz="1800" b="0" i="0" u="none" strike="noStrike" cap="none" normalizeH="0" baseline="0" dirty="0">
              <a:ln>
                <a:noFill/>
              </a:ln>
              <a:solidFill>
                <a:schemeClr val="tx1"/>
              </a:solidFill>
              <a:effectLst/>
              <a:latin typeface="+mj-ea"/>
              <a:ea typeface="+mj-ea"/>
            </a:endParaRPr>
          </a:p>
          <a:p>
            <a:pPr marL="0" marR="0" lvl="0" indent="0"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	    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网络（锁网）</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测试业务及方法</a:t>
            </a:r>
            <a:endParaRPr kumimoji="0" lang="zh-CN" altLang="en-US" sz="1800" b="0" i="0" u="none" strike="noStrike" cap="none" normalizeH="0" baseline="0" dirty="0">
              <a:ln>
                <a:noFill/>
              </a:ln>
              <a:solidFill>
                <a:schemeClr val="tx1"/>
              </a:solidFill>
              <a:effectLst/>
              <a:latin typeface="+mj-ea"/>
              <a:ea typeface="+mj-ea"/>
            </a:endParaRPr>
          </a:p>
          <a:p>
            <a:pPr marL="0" marR="0" lvl="0" indent="0"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空闲态测试（锁</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网），如表所示</a:t>
            </a:r>
            <a:endParaRPr kumimoji="0" lang="zh-CN" altLang="en-US" sz="1800" b="0" i="0" u="none" strike="noStrike" cap="none" normalizeH="0" baseline="0" dirty="0">
              <a:ln>
                <a:noFill/>
              </a:ln>
              <a:solidFill>
                <a:schemeClr val="tx1"/>
              </a:solidFill>
              <a:effectLst/>
              <a:latin typeface="+mj-ea"/>
              <a:ea typeface="+mj-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10" name="标题 1"/>
          <p:cNvSpPr txBox="1"/>
          <p:nvPr/>
        </p:nvSpPr>
        <p:spPr bwMode="auto">
          <a:xfrm>
            <a:off x="990537" y="2073622"/>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客户感知测试规范</a:t>
            </a:r>
          </a:p>
        </p:txBody>
      </p:sp>
      <p:graphicFrame>
        <p:nvGraphicFramePr>
          <p:cNvPr id="11" name="表格 10"/>
          <p:cNvGraphicFramePr>
            <a:graphicFrameLocks noGrp="1"/>
          </p:cNvGraphicFramePr>
          <p:nvPr>
            <p:extLst>
              <p:ext uri="{D42A27DB-BD31-4B8C-83A1-F6EECF244321}">
                <p14:modId xmlns:p14="http://schemas.microsoft.com/office/powerpoint/2010/main" val="3502497367"/>
              </p:ext>
            </p:extLst>
          </p:nvPr>
        </p:nvGraphicFramePr>
        <p:xfrm>
          <a:off x="1861608" y="4709952"/>
          <a:ext cx="7281886" cy="1645920"/>
        </p:xfrm>
        <a:graphic>
          <a:graphicData uri="http://schemas.openxmlformats.org/drawingml/2006/table">
            <a:tbl>
              <a:tblPr firstRow="1" firstCol="1" bandRow="1"/>
              <a:tblGrid>
                <a:gridCol w="1385025">
                  <a:extLst>
                    <a:ext uri="{9D8B030D-6E8A-4147-A177-3AD203B41FA5}">
                      <a16:colId xmlns:a16="http://schemas.microsoft.com/office/drawing/2014/main" val="20000"/>
                    </a:ext>
                  </a:extLst>
                </a:gridCol>
                <a:gridCol w="5896861">
                  <a:extLst>
                    <a:ext uri="{9D8B030D-6E8A-4147-A177-3AD203B41FA5}">
                      <a16:colId xmlns:a16="http://schemas.microsoft.com/office/drawing/2014/main" val="20001"/>
                    </a:ext>
                  </a:extLst>
                </a:gridCol>
              </a:tblGrid>
              <a:tr h="0">
                <a:tc>
                  <a:txBody>
                    <a:bodyPr/>
                    <a:lstStyle/>
                    <a:p>
                      <a:pPr marL="0" indent="0" algn="l" defTabSz="914400" rtl="0" eaLnBrk="1" latinLnBrk="0" hangingPunct="1">
                        <a:spcAft>
                          <a:spcPts val="0"/>
                        </a:spcAft>
                      </a:pPr>
                      <a:r>
                        <a:rPr lang="zh-CN" sz="1800" kern="100" dirty="0">
                          <a:solidFill>
                            <a:schemeClr val="tx1"/>
                          </a:solidFill>
                          <a:effectLst/>
                          <a:latin typeface="+mj-ea"/>
                          <a:ea typeface="+mj-ea"/>
                          <a:cs typeface="+mn-cs"/>
                        </a:rPr>
                        <a:t>测试业务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zh-CN" sz="1800" kern="100" dirty="0">
                          <a:solidFill>
                            <a:schemeClr val="tx1"/>
                          </a:solidFill>
                          <a:effectLst/>
                          <a:latin typeface="+mj-ea"/>
                          <a:ea typeface="+mj-ea"/>
                          <a:cs typeface="+mn-cs"/>
                        </a:rPr>
                        <a:t>测试方法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indent="0">
                        <a:spcAft>
                          <a:spcPts val="0"/>
                        </a:spcAft>
                      </a:pPr>
                      <a:r>
                        <a:rPr lang="zh-CN" sz="1800" kern="100" dirty="0">
                          <a:effectLst/>
                          <a:latin typeface="+mj-ea"/>
                          <a:ea typeface="+mj-ea"/>
                        </a:rPr>
                        <a:t>语音拨打业务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spcAft>
                          <a:spcPts val="0"/>
                        </a:spcAft>
                      </a:pPr>
                      <a:r>
                        <a:rPr lang="zh-CN" sz="1800" kern="100" dirty="0">
                          <a:solidFill>
                            <a:schemeClr val="tx1"/>
                          </a:solidFill>
                          <a:effectLst/>
                          <a:latin typeface="+mj-ea"/>
                          <a:ea typeface="+mj-ea"/>
                          <a:cs typeface="+mn-cs"/>
                        </a:rPr>
                        <a:t>终端</a:t>
                      </a:r>
                      <a:r>
                        <a:rPr lang="en-US" sz="1800" kern="100" dirty="0">
                          <a:solidFill>
                            <a:schemeClr val="tx1"/>
                          </a:solidFill>
                          <a:effectLst/>
                          <a:latin typeface="+mj-ea"/>
                          <a:ea typeface="+mj-ea"/>
                          <a:cs typeface="+mn-cs"/>
                        </a:rPr>
                        <a:t>A</a:t>
                      </a:r>
                      <a:r>
                        <a:rPr lang="zh-CN" sz="1800" kern="100" dirty="0">
                          <a:solidFill>
                            <a:schemeClr val="tx1"/>
                          </a:solidFill>
                          <a:effectLst/>
                          <a:latin typeface="+mj-ea"/>
                          <a:ea typeface="+mj-ea"/>
                          <a:cs typeface="+mn-cs"/>
                        </a:rPr>
                        <a:t>拨打语音通话至终端</a:t>
                      </a:r>
                      <a:r>
                        <a:rPr lang="en-US" sz="1800" kern="100" dirty="0">
                          <a:solidFill>
                            <a:schemeClr val="tx1"/>
                          </a:solidFill>
                          <a:effectLst/>
                          <a:latin typeface="+mj-ea"/>
                          <a:ea typeface="+mj-ea"/>
                          <a:cs typeface="+mn-cs"/>
                        </a:rPr>
                        <a:t>B</a:t>
                      </a:r>
                      <a:r>
                        <a:rPr lang="zh-CN" sz="1800" kern="100" dirty="0">
                          <a:solidFill>
                            <a:schemeClr val="tx1"/>
                          </a:solidFill>
                          <a:effectLst/>
                          <a:latin typeface="+mj-ea"/>
                          <a:ea typeface="+mj-ea"/>
                          <a:cs typeface="+mn-cs"/>
                        </a:rPr>
                        <a:t>，呼叫时长持续</a:t>
                      </a:r>
                      <a:r>
                        <a:rPr lang="en-US" sz="1800" kern="100" dirty="0">
                          <a:solidFill>
                            <a:schemeClr val="tx1"/>
                          </a:solidFill>
                          <a:effectLst/>
                          <a:latin typeface="+mj-ea"/>
                          <a:ea typeface="+mj-ea"/>
                          <a:cs typeface="+mn-cs"/>
                        </a:rPr>
                        <a:t>30</a:t>
                      </a:r>
                      <a:r>
                        <a:rPr lang="zh-CN" sz="1800" kern="100" dirty="0">
                          <a:solidFill>
                            <a:schemeClr val="tx1"/>
                          </a:solidFill>
                          <a:effectLst/>
                          <a:latin typeface="+mj-ea"/>
                          <a:ea typeface="+mj-ea"/>
                          <a:cs typeface="+mn-cs"/>
                        </a:rPr>
                        <a:t>秒（从主叫收到</a:t>
                      </a:r>
                      <a:r>
                        <a:rPr lang="en-US" sz="1800" kern="100" dirty="0">
                          <a:solidFill>
                            <a:schemeClr val="tx1"/>
                          </a:solidFill>
                          <a:effectLst/>
                          <a:latin typeface="+mj-ea"/>
                          <a:ea typeface="+mj-ea"/>
                          <a:cs typeface="+mn-cs"/>
                        </a:rPr>
                        <a:t>Connect</a:t>
                      </a:r>
                      <a:r>
                        <a:rPr lang="zh-CN" sz="1800" kern="100" dirty="0">
                          <a:solidFill>
                            <a:schemeClr val="tx1"/>
                          </a:solidFill>
                          <a:effectLst/>
                          <a:latin typeface="+mj-ea"/>
                          <a:ea typeface="+mj-ea"/>
                          <a:cs typeface="+mn-cs"/>
                        </a:rPr>
                        <a:t>到上发</a:t>
                      </a:r>
                      <a:r>
                        <a:rPr lang="en-US" sz="1800" kern="100" dirty="0">
                          <a:solidFill>
                            <a:schemeClr val="tx1"/>
                          </a:solidFill>
                          <a:effectLst/>
                          <a:latin typeface="+mj-ea"/>
                          <a:ea typeface="+mj-ea"/>
                          <a:cs typeface="+mn-cs"/>
                        </a:rPr>
                        <a:t>Disconnect</a:t>
                      </a:r>
                      <a:r>
                        <a:rPr lang="zh-CN" sz="1800" kern="100" dirty="0">
                          <a:solidFill>
                            <a:schemeClr val="tx1"/>
                          </a:solidFill>
                          <a:effectLst/>
                          <a:latin typeface="+mj-ea"/>
                          <a:ea typeface="+mj-ea"/>
                          <a:cs typeface="+mn-cs"/>
                        </a:rPr>
                        <a:t>的过程持续</a:t>
                      </a:r>
                      <a:r>
                        <a:rPr lang="en-US" sz="1800" kern="100" dirty="0">
                          <a:solidFill>
                            <a:schemeClr val="tx1"/>
                          </a:solidFill>
                          <a:effectLst/>
                          <a:latin typeface="+mj-ea"/>
                          <a:ea typeface="+mj-ea"/>
                          <a:cs typeface="+mn-cs"/>
                        </a:rPr>
                        <a:t>30</a:t>
                      </a:r>
                      <a:r>
                        <a:rPr lang="zh-CN" sz="1800" kern="100" dirty="0">
                          <a:solidFill>
                            <a:schemeClr val="tx1"/>
                          </a:solidFill>
                          <a:effectLst/>
                          <a:latin typeface="+mj-ea"/>
                          <a:ea typeface="+mj-ea"/>
                          <a:cs typeface="+mn-cs"/>
                        </a:rPr>
                        <a:t>秒）。每次间隔</a:t>
                      </a:r>
                      <a:r>
                        <a:rPr lang="en-US" sz="1800" kern="100" dirty="0">
                          <a:solidFill>
                            <a:schemeClr val="tx1"/>
                          </a:solidFill>
                          <a:effectLst/>
                          <a:latin typeface="+mj-ea"/>
                          <a:ea typeface="+mj-ea"/>
                          <a:cs typeface="+mn-cs"/>
                        </a:rPr>
                        <a:t>30</a:t>
                      </a:r>
                      <a:r>
                        <a:rPr lang="zh-CN" sz="1800" kern="100" dirty="0">
                          <a:solidFill>
                            <a:schemeClr val="tx1"/>
                          </a:solidFill>
                          <a:effectLst/>
                          <a:latin typeface="+mj-ea"/>
                          <a:ea typeface="+mj-ea"/>
                          <a:cs typeface="+mn-cs"/>
                        </a:rPr>
                        <a:t>秒，如遇未接通或掉话则间隔</a:t>
                      </a:r>
                      <a:r>
                        <a:rPr lang="en-US" sz="1800" kern="100" dirty="0">
                          <a:solidFill>
                            <a:schemeClr val="tx1"/>
                          </a:solidFill>
                          <a:effectLst/>
                          <a:latin typeface="+mj-ea"/>
                          <a:ea typeface="+mj-ea"/>
                          <a:cs typeface="+mn-cs"/>
                        </a:rPr>
                        <a:t>30</a:t>
                      </a:r>
                      <a:r>
                        <a:rPr lang="zh-CN" sz="1800" kern="100" dirty="0">
                          <a:solidFill>
                            <a:schemeClr val="tx1"/>
                          </a:solidFill>
                          <a:effectLst/>
                          <a:latin typeface="+mj-ea"/>
                          <a:ea typeface="+mj-ea"/>
                          <a:cs typeface="+mn-cs"/>
                        </a:rPr>
                        <a:t>秒后开始下一次呼叫；不在软件中设置主叫未接通超时，主叫侧一直等待网络侧下发拆线</a:t>
                      </a:r>
                      <a:r>
                        <a:rPr lang="zh-CN" altLang="en-US" sz="1800" kern="100" dirty="0">
                          <a:solidFill>
                            <a:schemeClr val="tx1"/>
                          </a:solidFill>
                          <a:effectLst/>
                          <a:latin typeface="+mj-ea"/>
                          <a:ea typeface="+mj-ea"/>
                          <a:cs typeface="+mn-cs"/>
                        </a:rPr>
                        <a:t>指令</a:t>
                      </a:r>
                      <a:r>
                        <a:rPr lang="zh-CN" sz="1800" kern="100" dirty="0">
                          <a:effectLst/>
                          <a:latin typeface="+mj-ea"/>
                          <a:ea typeface="+mj-ea"/>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4" name="Rectangle 2"/>
          <p:cNvSpPr>
            <a:spLocks noChangeArrowheads="1"/>
          </p:cNvSpPr>
          <p:nvPr/>
        </p:nvSpPr>
        <p:spPr bwMode="auto">
          <a:xfrm>
            <a:off x="5748490" y="1452244"/>
            <a:ext cx="4208991"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fontAlgn="base" hangingPunct="0">
              <a:spcBef>
                <a:spcPct val="0"/>
              </a:spcBef>
              <a:spcAft>
                <a:spcPct val="0"/>
              </a:spcAft>
              <a:tabLst>
                <a:tab pos="2667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67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67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67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67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67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67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67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6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rgbClr val="FF0000"/>
                </a:solidFill>
                <a:effectLst/>
                <a:latin typeface="+mj-ea"/>
                <a:ea typeface="+mj-ea"/>
                <a:cs typeface="Times New Roman" panose="02020603050405020304" pitchFamily="18" charset="0"/>
              </a:rPr>
              <a:t>1</a:t>
            </a:r>
            <a:r>
              <a:rPr kumimoji="0" lang="zh-CN" altLang="en-US" sz="1800" b="0" i="0" u="none" strike="noStrike" cap="none" normalizeH="0" baseline="0" dirty="0">
                <a:ln>
                  <a:noFill/>
                </a:ln>
                <a:solidFill>
                  <a:srgbClr val="FF0000"/>
                </a:solidFill>
                <a:effectLst/>
                <a:latin typeface="+mj-ea"/>
                <a:ea typeface="+mj-ea"/>
                <a:cs typeface="Times New Roman" panose="02020603050405020304" pitchFamily="18" charset="0"/>
              </a:rPr>
              <a:t>）语音</a:t>
            </a:r>
            <a:r>
              <a:rPr kumimoji="0" lang="en-US" altLang="zh-CN" sz="1800" b="0" i="0" u="none" strike="noStrike" cap="none" normalizeH="0" baseline="0" dirty="0">
                <a:ln>
                  <a:noFill/>
                </a:ln>
                <a:solidFill>
                  <a:srgbClr val="FF0000"/>
                </a:solidFill>
                <a:effectLst/>
                <a:latin typeface="+mj-ea"/>
                <a:ea typeface="+mj-ea"/>
                <a:cs typeface="Times New Roman" panose="02020603050405020304" pitchFamily="18" charset="0"/>
              </a:rPr>
              <a:t>CSFB</a:t>
            </a:r>
            <a:r>
              <a:rPr kumimoji="0" lang="zh-CN" altLang="en-US" sz="1800" b="0" i="0" u="none" strike="noStrike" cap="none" normalizeH="0" baseline="0" dirty="0">
                <a:ln>
                  <a:noFill/>
                </a:ln>
                <a:solidFill>
                  <a:srgbClr val="FF0000"/>
                </a:solidFill>
                <a:effectLst/>
                <a:latin typeface="+mj-ea"/>
                <a:ea typeface="+mj-ea"/>
                <a:cs typeface="Times New Roman" panose="02020603050405020304" pitchFamily="18" charset="0"/>
              </a:rPr>
              <a:t>业务测试</a:t>
            </a:r>
            <a:endParaRPr kumimoji="0" lang="zh-CN" altLang="en-US" sz="1800" b="0" i="0" u="none" strike="noStrike" cap="none" normalizeH="0" baseline="0" dirty="0">
              <a:ln>
                <a:noFill/>
              </a:ln>
              <a:solidFill>
                <a:srgbClr val="FF0000"/>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测试手段</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	     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商用终端、测试仪表。</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测试网络</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	    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网络（混网）</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测试业务及方法</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语音</a:t>
            </a: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CSFB</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拨打业务，如表所示</a:t>
            </a:r>
            <a:endParaRPr kumimoji="0" lang="zh-CN" altLang="en-US" sz="1800" b="0" i="0" u="none" strike="noStrike" cap="none" normalizeH="0" baseline="0" dirty="0">
              <a:ln>
                <a:noFill/>
              </a:ln>
              <a:solidFill>
                <a:schemeClr val="tx1"/>
              </a:solidFill>
              <a:effectLst/>
              <a:latin typeface="+mj-ea"/>
              <a:ea typeface="+mj-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65410" y="907513"/>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Text_1"/>
          <p:cNvSpPr/>
          <p:nvPr>
            <p:custDataLst>
              <p:tags r:id="rId1"/>
            </p:custDataLst>
          </p:nvPr>
        </p:nvSpPr>
        <p:spPr>
          <a:xfrm>
            <a:off x="78316" y="4352660"/>
            <a:ext cx="4705350" cy="2246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lnSpc>
                <a:spcPct val="130000"/>
              </a:lnSpc>
              <a:defRPr/>
            </a:pPr>
            <a:endParaRPr lang="zh-CN" altLang="en-US" dirty="0">
              <a:solidFill>
                <a:schemeClr val="tx1"/>
              </a:solidFill>
            </a:endParaRPr>
          </a:p>
        </p:txBody>
      </p:sp>
      <p:sp>
        <p:nvSpPr>
          <p:cNvPr id="10" name="标题 1"/>
          <p:cNvSpPr txBox="1"/>
          <p:nvPr/>
        </p:nvSpPr>
        <p:spPr bwMode="auto">
          <a:xfrm>
            <a:off x="222787" y="1987360"/>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客户感知测试规范</a:t>
            </a:r>
          </a:p>
        </p:txBody>
      </p:sp>
      <p:sp>
        <p:nvSpPr>
          <p:cNvPr id="9" name="Rectangle 1"/>
          <p:cNvSpPr>
            <a:spLocks noChangeArrowheads="1"/>
          </p:cNvSpPr>
          <p:nvPr/>
        </p:nvSpPr>
        <p:spPr bwMode="auto">
          <a:xfrm>
            <a:off x="561454" y="2765987"/>
            <a:ext cx="3293596"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304800" eaLnBrk="0" fontAlgn="base" hangingPunct="0">
              <a:spcBef>
                <a:spcPct val="0"/>
              </a:spcBef>
              <a:spcAft>
                <a:spcPct val="0"/>
              </a:spcAft>
              <a:tabLst>
                <a:tab pos="2667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2667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2667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2667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2667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2667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2667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2667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266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rgbClr val="FF0000"/>
                </a:solidFill>
                <a:effectLst/>
                <a:latin typeface="+mj-ea"/>
                <a:ea typeface="+mj-ea"/>
                <a:cs typeface="Times New Roman" panose="02020603050405020304" pitchFamily="18" charset="0"/>
              </a:rPr>
              <a:t>2</a:t>
            </a:r>
            <a:r>
              <a:rPr kumimoji="0" lang="zh-CN" altLang="en-US" sz="1800" b="0" i="0" u="none" strike="noStrike" cap="none" normalizeH="0" baseline="0" dirty="0">
                <a:ln>
                  <a:noFill/>
                </a:ln>
                <a:solidFill>
                  <a:srgbClr val="FF0000"/>
                </a:solidFill>
                <a:effectLst/>
                <a:latin typeface="+mj-ea"/>
                <a:ea typeface="+mj-ea"/>
                <a:cs typeface="Times New Roman" panose="02020603050405020304" pitchFamily="18" charset="0"/>
              </a:rPr>
              <a:t>）数据业务测试</a:t>
            </a:r>
            <a:endParaRPr kumimoji="0" lang="zh-CN" altLang="en-US" sz="1800" b="0" i="0" u="none" strike="noStrike" cap="none" normalizeH="0" baseline="0" dirty="0">
              <a:ln>
                <a:noFill/>
              </a:ln>
              <a:solidFill>
                <a:srgbClr val="FF0000"/>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测试手段</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	    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商用终端、测试仪表</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测试网络</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Arial" panose="020B0604020202020204" pitchFamily="34" charset="0"/>
              </a:rPr>
              <a:t>	    LTE</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网络（混网）</a:t>
            </a:r>
            <a:endParaRPr kumimoji="0" lang="zh-CN" altLang="en-US" sz="1800" b="0" i="0" u="none" strike="noStrike" cap="none" normalizeH="0" baseline="0" dirty="0">
              <a:ln>
                <a:noFill/>
              </a:ln>
              <a:solidFill>
                <a:schemeClr val="tx1"/>
              </a:solidFill>
              <a:effectLst/>
              <a:latin typeface="+mj-ea"/>
              <a:ea typeface="+mj-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tab pos="266700" algn="l"/>
              </a:tabLst>
            </a:pP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测试业务及方法</a:t>
            </a:r>
            <a:endParaRPr kumimoji="0" lang="zh-CN" altLang="en-US" sz="1800" b="0" i="0" u="none" strike="noStrike" cap="none" normalizeH="0" baseline="0" dirty="0">
              <a:ln>
                <a:noFill/>
              </a:ln>
              <a:solidFill>
                <a:schemeClr val="tx1"/>
              </a:solidFill>
              <a:effectLst/>
              <a:latin typeface="+mj-ea"/>
              <a:ea typeface="+mj-ea"/>
            </a:endParaRPr>
          </a:p>
          <a:p>
            <a:pPr marL="0" marR="0" lvl="0" indent="0" algn="l" defTabSz="914400" rtl="0" eaLnBrk="0" fontAlgn="base" latinLnBrk="0" hangingPunct="0">
              <a:lnSpc>
                <a:spcPct val="150000"/>
              </a:lnSpc>
              <a:spcBef>
                <a:spcPct val="0"/>
              </a:spcBef>
              <a:spcAft>
                <a:spcPct val="0"/>
              </a:spcAft>
              <a:buClrTx/>
              <a:buSzTx/>
              <a:buFontTx/>
              <a:buNone/>
              <a:tabLst>
                <a:tab pos="266700" algn="l"/>
              </a:tabLst>
            </a:pP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mj-ea"/>
                <a:ea typeface="+mj-ea"/>
                <a:cs typeface="Times New Roman" panose="02020603050405020304" pitchFamily="18" charset="0"/>
              </a:rPr>
              <a:t>数据业务，如表所示</a:t>
            </a:r>
            <a:endParaRPr kumimoji="0" lang="zh-CN" altLang="en-US" sz="1800" b="0" i="0" u="none" strike="noStrike" cap="none" normalizeH="0" baseline="0" dirty="0">
              <a:ln>
                <a:noFill/>
              </a:ln>
              <a:solidFill>
                <a:schemeClr val="tx1"/>
              </a:solidFill>
              <a:effectLst/>
              <a:latin typeface="+mj-ea"/>
              <a:ea typeface="+mj-ea"/>
            </a:endParaRPr>
          </a:p>
        </p:txBody>
      </p:sp>
      <p:graphicFrame>
        <p:nvGraphicFramePr>
          <p:cNvPr id="2" name="表格 1"/>
          <p:cNvGraphicFramePr>
            <a:graphicFrameLocks noGrp="1"/>
          </p:cNvGraphicFramePr>
          <p:nvPr>
            <p:extLst>
              <p:ext uri="{D42A27DB-BD31-4B8C-83A1-F6EECF244321}">
                <p14:modId xmlns:p14="http://schemas.microsoft.com/office/powerpoint/2010/main" val="2144005660"/>
              </p:ext>
            </p:extLst>
          </p:nvPr>
        </p:nvGraphicFramePr>
        <p:xfrm>
          <a:off x="4112547" y="11780"/>
          <a:ext cx="7842599" cy="6834440"/>
        </p:xfrm>
        <a:graphic>
          <a:graphicData uri="http://schemas.openxmlformats.org/drawingml/2006/table">
            <a:tbl>
              <a:tblPr firstRow="1" firstCol="1" bandRow="1">
                <a:tableStyleId>{5C22544A-7EE6-4342-B048-85BDC9FD1C3A}</a:tableStyleId>
              </a:tblPr>
              <a:tblGrid>
                <a:gridCol w="533297">
                  <a:extLst>
                    <a:ext uri="{9D8B030D-6E8A-4147-A177-3AD203B41FA5}">
                      <a16:colId xmlns:a16="http://schemas.microsoft.com/office/drawing/2014/main" val="20000"/>
                    </a:ext>
                  </a:extLst>
                </a:gridCol>
                <a:gridCol w="934838">
                  <a:extLst>
                    <a:ext uri="{9D8B030D-6E8A-4147-A177-3AD203B41FA5}">
                      <a16:colId xmlns:a16="http://schemas.microsoft.com/office/drawing/2014/main" val="20001"/>
                    </a:ext>
                  </a:extLst>
                </a:gridCol>
                <a:gridCol w="6374464">
                  <a:extLst>
                    <a:ext uri="{9D8B030D-6E8A-4147-A177-3AD203B41FA5}">
                      <a16:colId xmlns:a16="http://schemas.microsoft.com/office/drawing/2014/main" val="20002"/>
                    </a:ext>
                  </a:extLst>
                </a:gridCol>
              </a:tblGrid>
              <a:tr h="384077">
                <a:tc>
                  <a:txBody>
                    <a:bodyPr/>
                    <a:lstStyle/>
                    <a:p>
                      <a:pPr algn="ctr">
                        <a:lnSpc>
                          <a:spcPts val="1800"/>
                        </a:lnSpc>
                        <a:spcBef>
                          <a:spcPts val="600"/>
                        </a:spcBef>
                        <a:spcAft>
                          <a:spcPts val="0"/>
                        </a:spcAft>
                      </a:pPr>
                      <a:r>
                        <a:rPr lang="zh-CN" sz="1400" kern="0" dirty="0">
                          <a:solidFill>
                            <a:schemeClr val="tx1"/>
                          </a:solidFill>
                          <a:effectLst/>
                        </a:rPr>
                        <a:t>序号</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400" kern="0" dirty="0">
                          <a:solidFill>
                            <a:schemeClr val="tx1"/>
                          </a:solidFill>
                          <a:effectLst/>
                        </a:rPr>
                        <a:t>测试业务</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400" kern="0" dirty="0">
                          <a:solidFill>
                            <a:schemeClr val="tx1"/>
                          </a:solidFill>
                          <a:effectLst/>
                        </a:rPr>
                        <a:t>测试方法</a:t>
                      </a:r>
                      <a:endParaRPr lang="zh-CN" sz="18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0"/>
                  </a:ext>
                </a:extLst>
              </a:tr>
              <a:tr h="334500">
                <a:tc>
                  <a:txBody>
                    <a:bodyPr/>
                    <a:lstStyle/>
                    <a:p>
                      <a:pPr algn="ctr">
                        <a:lnSpc>
                          <a:spcPts val="1800"/>
                        </a:lnSpc>
                        <a:spcBef>
                          <a:spcPts val="600"/>
                        </a:spcBef>
                        <a:spcAft>
                          <a:spcPts val="0"/>
                        </a:spcAft>
                      </a:pPr>
                      <a:r>
                        <a:rPr lang="en-US" sz="1100" kern="0" dirty="0">
                          <a:solidFill>
                            <a:schemeClr val="tx1"/>
                          </a:solidFill>
                          <a:effectLst/>
                        </a:rPr>
                        <a:t>1</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100" kern="0" dirty="0">
                          <a:solidFill>
                            <a:schemeClr val="tx1"/>
                          </a:solidFill>
                          <a:effectLst/>
                        </a:rPr>
                        <a:t>短信发送业务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a:solidFill>
                            <a:schemeClr val="tx1"/>
                          </a:solidFill>
                          <a:effectLst/>
                        </a:rPr>
                        <a:t>终端</a:t>
                      </a:r>
                      <a:r>
                        <a:rPr lang="en-US" sz="1000" kern="0">
                          <a:solidFill>
                            <a:schemeClr val="tx1"/>
                          </a:solidFill>
                          <a:effectLst/>
                        </a:rPr>
                        <a:t>A</a:t>
                      </a:r>
                      <a:r>
                        <a:rPr lang="zh-CN" sz="1000" kern="0">
                          <a:solidFill>
                            <a:schemeClr val="tx1"/>
                          </a:solidFill>
                          <a:effectLst/>
                        </a:rPr>
                        <a:t>发送短信</a:t>
                      </a:r>
                      <a:r>
                        <a:rPr lang="en-US" sz="1000" kern="0">
                          <a:solidFill>
                            <a:schemeClr val="tx1"/>
                          </a:solidFill>
                          <a:effectLst/>
                        </a:rPr>
                        <a:t>1</a:t>
                      </a:r>
                      <a:r>
                        <a:rPr lang="zh-CN" sz="1000" kern="0">
                          <a:solidFill>
                            <a:schemeClr val="tx1"/>
                          </a:solidFill>
                          <a:effectLst/>
                        </a:rPr>
                        <a:t>次给</a:t>
                      </a:r>
                      <a:r>
                        <a:rPr lang="en-US" sz="1000" kern="0">
                          <a:solidFill>
                            <a:schemeClr val="tx1"/>
                          </a:solidFill>
                          <a:effectLst/>
                        </a:rPr>
                        <a:t>B</a:t>
                      </a:r>
                      <a:r>
                        <a:rPr lang="zh-CN" sz="1000" kern="0">
                          <a:solidFill>
                            <a:schemeClr val="tx1"/>
                          </a:solidFill>
                          <a:effectLst/>
                        </a:rPr>
                        <a:t>，短信超时为</a:t>
                      </a:r>
                      <a:r>
                        <a:rPr lang="en-US" sz="1000" kern="0">
                          <a:solidFill>
                            <a:schemeClr val="tx1"/>
                          </a:solidFill>
                          <a:effectLst/>
                        </a:rPr>
                        <a:t>30</a:t>
                      </a:r>
                      <a:r>
                        <a:rPr lang="zh-CN" sz="1000" kern="0">
                          <a:solidFill>
                            <a:schemeClr val="tx1"/>
                          </a:solidFill>
                          <a:effectLst/>
                        </a:rPr>
                        <a:t>秒，完成后间隔</a:t>
                      </a:r>
                      <a:r>
                        <a:rPr lang="en-US" sz="1000" kern="0">
                          <a:solidFill>
                            <a:schemeClr val="tx1"/>
                          </a:solidFill>
                          <a:effectLst/>
                        </a:rPr>
                        <a:t>5</a:t>
                      </a:r>
                      <a:r>
                        <a:rPr lang="zh-CN" sz="1000" kern="0">
                          <a:solidFill>
                            <a:schemeClr val="tx1"/>
                          </a:solidFill>
                          <a:effectLst/>
                        </a:rPr>
                        <a:t>秒开始下一项测试任务。</a:t>
                      </a:r>
                      <a:endParaRPr lang="zh-CN" sz="1100" kern="10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1"/>
                  </a:ext>
                </a:extLst>
              </a:tr>
              <a:tr h="344058">
                <a:tc>
                  <a:txBody>
                    <a:bodyPr/>
                    <a:lstStyle/>
                    <a:p>
                      <a:pPr algn="ctr">
                        <a:lnSpc>
                          <a:spcPts val="1800"/>
                        </a:lnSpc>
                        <a:spcBef>
                          <a:spcPts val="600"/>
                        </a:spcBef>
                        <a:spcAft>
                          <a:spcPts val="0"/>
                        </a:spcAft>
                      </a:pPr>
                      <a:r>
                        <a:rPr lang="en-US" sz="1100" kern="0">
                          <a:solidFill>
                            <a:schemeClr val="tx1"/>
                          </a:solidFill>
                          <a:effectLst/>
                        </a:rPr>
                        <a:t>2</a:t>
                      </a:r>
                      <a:endParaRPr lang="zh-CN" sz="1400" kern="10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100" kern="0" dirty="0">
                          <a:solidFill>
                            <a:schemeClr val="tx1"/>
                          </a:solidFill>
                          <a:effectLst/>
                        </a:rPr>
                        <a:t>彩信发送业务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终端</a:t>
                      </a:r>
                      <a:r>
                        <a:rPr lang="en-US" sz="1000" kern="0" dirty="0">
                          <a:solidFill>
                            <a:schemeClr val="tx1"/>
                          </a:solidFill>
                          <a:effectLst/>
                        </a:rPr>
                        <a:t>A</a:t>
                      </a:r>
                      <a:r>
                        <a:rPr lang="zh-CN" sz="1000" kern="0" dirty="0">
                          <a:solidFill>
                            <a:schemeClr val="tx1"/>
                          </a:solidFill>
                          <a:effectLst/>
                        </a:rPr>
                        <a:t>发送彩信</a:t>
                      </a:r>
                      <a:r>
                        <a:rPr lang="en-US" sz="1000" kern="0" dirty="0">
                          <a:solidFill>
                            <a:schemeClr val="tx1"/>
                          </a:solidFill>
                          <a:effectLst/>
                        </a:rPr>
                        <a:t>1</a:t>
                      </a:r>
                      <a:r>
                        <a:rPr lang="zh-CN" sz="1000" kern="0" dirty="0">
                          <a:solidFill>
                            <a:schemeClr val="tx1"/>
                          </a:solidFill>
                          <a:effectLst/>
                        </a:rPr>
                        <a:t>次给</a:t>
                      </a:r>
                      <a:r>
                        <a:rPr lang="en-US" sz="1000" kern="0" dirty="0">
                          <a:solidFill>
                            <a:schemeClr val="tx1"/>
                          </a:solidFill>
                          <a:effectLst/>
                        </a:rPr>
                        <a:t>B</a:t>
                      </a:r>
                      <a:r>
                        <a:rPr lang="zh-CN" sz="1000" kern="0" dirty="0">
                          <a:solidFill>
                            <a:schemeClr val="tx1"/>
                          </a:solidFill>
                          <a:effectLst/>
                        </a:rPr>
                        <a:t>，大小为</a:t>
                      </a:r>
                      <a:r>
                        <a:rPr lang="en-US" sz="1000" kern="0" dirty="0">
                          <a:solidFill>
                            <a:schemeClr val="tx1"/>
                          </a:solidFill>
                          <a:effectLst/>
                        </a:rPr>
                        <a:t>12KB</a:t>
                      </a:r>
                      <a:r>
                        <a:rPr lang="zh-CN" sz="1000" kern="0" dirty="0">
                          <a:solidFill>
                            <a:schemeClr val="tx1"/>
                          </a:solidFill>
                          <a:effectLst/>
                        </a:rPr>
                        <a:t>。彩信超时为</a:t>
                      </a:r>
                      <a:r>
                        <a:rPr lang="en-US" sz="1000" kern="0" dirty="0">
                          <a:solidFill>
                            <a:schemeClr val="tx1"/>
                          </a:solidFill>
                          <a:effectLst/>
                        </a:rPr>
                        <a:t>60</a:t>
                      </a:r>
                      <a:r>
                        <a:rPr lang="zh-CN" sz="1000" kern="0" dirty="0">
                          <a:solidFill>
                            <a:schemeClr val="tx1"/>
                          </a:solidFill>
                          <a:effectLst/>
                        </a:rPr>
                        <a:t>秒，完成后间隔</a:t>
                      </a:r>
                      <a:r>
                        <a:rPr lang="en-US" sz="1000" kern="0" dirty="0">
                          <a:solidFill>
                            <a:schemeClr val="tx1"/>
                          </a:solidFill>
                          <a:effectLst/>
                        </a:rPr>
                        <a:t>10</a:t>
                      </a:r>
                      <a:r>
                        <a:rPr lang="zh-CN" sz="1000" kern="0" dirty="0">
                          <a:solidFill>
                            <a:schemeClr val="tx1"/>
                          </a:solidFill>
                          <a:effectLst/>
                        </a:rPr>
                        <a:t>秒开始下一项测试任务。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2"/>
                  </a:ext>
                </a:extLst>
              </a:tr>
              <a:tr h="1286086">
                <a:tc>
                  <a:txBody>
                    <a:bodyPr/>
                    <a:lstStyle/>
                    <a:p>
                      <a:pPr algn="ctr">
                        <a:lnSpc>
                          <a:spcPts val="1800"/>
                        </a:lnSpc>
                        <a:spcBef>
                          <a:spcPts val="600"/>
                        </a:spcBef>
                        <a:spcAft>
                          <a:spcPts val="0"/>
                        </a:spcAft>
                      </a:pPr>
                      <a:r>
                        <a:rPr lang="en-US" sz="1100" kern="0" dirty="0">
                          <a:solidFill>
                            <a:schemeClr val="tx1"/>
                          </a:solidFill>
                          <a:effectLst/>
                        </a:rPr>
                        <a:t>3</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en-US" sz="1100" kern="0" dirty="0">
                          <a:solidFill>
                            <a:schemeClr val="tx1"/>
                          </a:solidFill>
                          <a:effectLst/>
                        </a:rPr>
                        <a:t>FTP</a:t>
                      </a:r>
                      <a:r>
                        <a:rPr lang="zh-CN" sz="1100" kern="0" dirty="0">
                          <a:solidFill>
                            <a:schemeClr val="tx1"/>
                          </a:solidFill>
                          <a:effectLst/>
                        </a:rPr>
                        <a:t>小数据量上传业务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上传文件大小为</a:t>
                      </a:r>
                      <a:r>
                        <a:rPr lang="en-US" sz="1000" kern="0" dirty="0">
                          <a:solidFill>
                            <a:schemeClr val="tx1"/>
                          </a:solidFill>
                          <a:effectLst/>
                        </a:rPr>
                        <a:t>20MB</a:t>
                      </a:r>
                      <a:r>
                        <a:rPr lang="zh-CN" sz="1000" kern="0" dirty="0">
                          <a:solidFill>
                            <a:schemeClr val="tx1"/>
                          </a:solidFill>
                          <a:effectLst/>
                        </a:rPr>
                        <a:t>，单文件单线程上传，上传超时为</a:t>
                      </a:r>
                      <a:r>
                        <a:rPr lang="en-US" sz="1000" kern="0" dirty="0">
                          <a:solidFill>
                            <a:schemeClr val="tx1"/>
                          </a:solidFill>
                          <a:effectLst/>
                        </a:rPr>
                        <a:t>600</a:t>
                      </a:r>
                      <a:r>
                        <a:rPr lang="zh-CN" sz="1000" kern="0" dirty="0">
                          <a:solidFill>
                            <a:schemeClr val="tx1"/>
                          </a:solidFill>
                          <a:effectLst/>
                        </a:rPr>
                        <a:t>秒（即若一次业务</a:t>
                      </a:r>
                      <a:r>
                        <a:rPr lang="en-US" sz="1000" kern="0" dirty="0">
                          <a:solidFill>
                            <a:schemeClr val="tx1"/>
                          </a:solidFill>
                          <a:effectLst/>
                        </a:rPr>
                        <a:t>600</a:t>
                      </a:r>
                      <a:r>
                        <a:rPr lang="zh-CN" sz="1000" kern="0" dirty="0">
                          <a:solidFill>
                            <a:schemeClr val="tx1"/>
                          </a:solidFill>
                          <a:effectLst/>
                        </a:rPr>
                        <a:t>秒仍没上传完则强制结束），若应用层从上传开始连续</a:t>
                      </a:r>
                      <a:r>
                        <a:rPr lang="en-US" sz="1000" kern="0" dirty="0">
                          <a:solidFill>
                            <a:schemeClr val="tx1"/>
                          </a:solidFill>
                          <a:effectLst/>
                        </a:rPr>
                        <a:t>30</a:t>
                      </a:r>
                      <a:r>
                        <a:rPr lang="zh-CN" sz="1000" kern="0" dirty="0">
                          <a:solidFill>
                            <a:schemeClr val="tx1"/>
                          </a:solidFill>
                          <a:effectLst/>
                        </a:rPr>
                        <a:t>秒无任何流量则视为失败，若之前有流量且应用层连续</a:t>
                      </a:r>
                      <a:r>
                        <a:rPr lang="en-US" sz="1000" kern="0" dirty="0">
                          <a:solidFill>
                            <a:schemeClr val="tx1"/>
                          </a:solidFill>
                          <a:effectLst/>
                        </a:rPr>
                        <a:t>60</a:t>
                      </a:r>
                      <a:r>
                        <a:rPr lang="zh-CN" sz="1000" kern="0" dirty="0">
                          <a:solidFill>
                            <a:schemeClr val="tx1"/>
                          </a:solidFill>
                          <a:effectLst/>
                        </a:rPr>
                        <a:t>秒无流量则判为掉线，断开拨号连接后间隔</a:t>
                      </a:r>
                      <a:r>
                        <a:rPr lang="en-US" sz="1000" kern="0" dirty="0">
                          <a:solidFill>
                            <a:schemeClr val="tx1"/>
                          </a:solidFill>
                          <a:effectLst/>
                        </a:rPr>
                        <a:t>10</a:t>
                      </a:r>
                      <a:r>
                        <a:rPr lang="zh-CN" sz="1000" kern="0" dirty="0">
                          <a:solidFill>
                            <a:schemeClr val="tx1"/>
                          </a:solidFill>
                          <a:effectLst/>
                        </a:rPr>
                        <a:t>秒后进行下个测试项。单次业务最多可拨号</a:t>
                      </a:r>
                      <a:r>
                        <a:rPr lang="en-US" sz="1000" kern="0" dirty="0">
                          <a:solidFill>
                            <a:schemeClr val="tx1"/>
                          </a:solidFill>
                          <a:effectLst/>
                        </a:rPr>
                        <a:t>3</a:t>
                      </a:r>
                      <a:r>
                        <a:rPr lang="zh-CN" sz="1000" kern="0" dirty="0">
                          <a:solidFill>
                            <a:schemeClr val="tx1"/>
                          </a:solidFill>
                          <a:effectLst/>
                        </a:rPr>
                        <a:t>次，每次间隔</a:t>
                      </a:r>
                      <a:r>
                        <a:rPr lang="en-US" sz="1000" kern="0" dirty="0">
                          <a:solidFill>
                            <a:schemeClr val="tx1"/>
                          </a:solidFill>
                          <a:effectLst/>
                        </a:rPr>
                        <a:t>5</a:t>
                      </a:r>
                      <a:r>
                        <a:rPr lang="zh-CN" sz="1000" kern="0" dirty="0">
                          <a:solidFill>
                            <a:schemeClr val="tx1"/>
                          </a:solidFill>
                          <a:effectLst/>
                        </a:rPr>
                        <a:t>秒。单次业务</a:t>
                      </a:r>
                      <a:r>
                        <a:rPr lang="en-US" sz="1000" kern="0" dirty="0">
                          <a:solidFill>
                            <a:schemeClr val="tx1"/>
                          </a:solidFill>
                          <a:effectLst/>
                        </a:rPr>
                        <a:t>FTP</a:t>
                      </a:r>
                      <a:r>
                        <a:rPr lang="zh-CN" sz="1000" kern="0" dirty="0">
                          <a:solidFill>
                            <a:schemeClr val="tx1"/>
                          </a:solidFill>
                          <a:effectLst/>
                        </a:rPr>
                        <a:t>最大登录次数为</a:t>
                      </a:r>
                      <a:r>
                        <a:rPr lang="en-US" sz="1000" kern="0" dirty="0">
                          <a:solidFill>
                            <a:schemeClr val="tx1"/>
                          </a:solidFill>
                          <a:effectLst/>
                        </a:rPr>
                        <a:t>3</a:t>
                      </a:r>
                      <a:r>
                        <a:rPr lang="zh-CN" sz="1000" kern="0" dirty="0">
                          <a:solidFill>
                            <a:schemeClr val="tx1"/>
                          </a:solidFill>
                          <a:effectLst/>
                        </a:rPr>
                        <a:t>次，每次间隔</a:t>
                      </a:r>
                      <a:r>
                        <a:rPr lang="en-US" sz="1000" kern="0" dirty="0">
                          <a:solidFill>
                            <a:schemeClr val="tx1"/>
                          </a:solidFill>
                          <a:effectLst/>
                        </a:rPr>
                        <a:t>5</a:t>
                      </a:r>
                      <a:r>
                        <a:rPr lang="zh-CN" sz="1000" kern="0" dirty="0">
                          <a:solidFill>
                            <a:schemeClr val="tx1"/>
                          </a:solidFill>
                          <a:effectLst/>
                        </a:rPr>
                        <a:t>秒，</a:t>
                      </a:r>
                      <a:r>
                        <a:rPr lang="en-US" sz="1000" kern="0" dirty="0">
                          <a:solidFill>
                            <a:schemeClr val="tx1"/>
                          </a:solidFill>
                          <a:effectLst/>
                        </a:rPr>
                        <a:t>FTP</a:t>
                      </a:r>
                      <a:r>
                        <a:rPr lang="zh-CN" sz="1000" kern="0" dirty="0">
                          <a:solidFill>
                            <a:schemeClr val="tx1"/>
                          </a:solidFill>
                          <a:effectLst/>
                        </a:rPr>
                        <a:t>登录超时为</a:t>
                      </a:r>
                      <a:r>
                        <a:rPr lang="en-US" sz="1000" kern="0" dirty="0">
                          <a:solidFill>
                            <a:schemeClr val="tx1"/>
                          </a:solidFill>
                          <a:effectLst/>
                        </a:rPr>
                        <a:t>20</a:t>
                      </a:r>
                      <a:r>
                        <a:rPr lang="zh-CN" sz="1000" kern="0" dirty="0">
                          <a:solidFill>
                            <a:schemeClr val="tx1"/>
                          </a:solidFill>
                          <a:effectLst/>
                        </a:rPr>
                        <a:t>秒。竞对测试上传文件大小为</a:t>
                      </a:r>
                      <a:r>
                        <a:rPr lang="en-US" sz="1000" kern="0" dirty="0">
                          <a:solidFill>
                            <a:schemeClr val="tx1"/>
                          </a:solidFill>
                          <a:effectLst/>
                        </a:rPr>
                        <a:t>5MB</a:t>
                      </a:r>
                      <a:r>
                        <a:rPr lang="zh-CN" sz="1000" kern="0" dirty="0">
                          <a:solidFill>
                            <a:schemeClr val="tx1"/>
                          </a:solidFill>
                          <a:effectLst/>
                        </a:rPr>
                        <a:t>，单文件单线程上传，上传超时为</a:t>
                      </a:r>
                      <a:r>
                        <a:rPr lang="en-US" sz="1000" kern="0" dirty="0">
                          <a:solidFill>
                            <a:schemeClr val="tx1"/>
                          </a:solidFill>
                          <a:effectLst/>
                        </a:rPr>
                        <a:t>600</a:t>
                      </a:r>
                      <a:r>
                        <a:rPr lang="zh-CN" sz="1000" kern="0" dirty="0">
                          <a:solidFill>
                            <a:schemeClr val="tx1"/>
                          </a:solidFill>
                          <a:effectLst/>
                        </a:rPr>
                        <a:t>秒，拨号及登录规范同上，任务完成后断开拨号连接，间隔</a:t>
                      </a:r>
                      <a:r>
                        <a:rPr lang="en-US" sz="1000" kern="0" dirty="0">
                          <a:solidFill>
                            <a:schemeClr val="tx1"/>
                          </a:solidFill>
                          <a:effectLst/>
                        </a:rPr>
                        <a:t>10</a:t>
                      </a:r>
                      <a:r>
                        <a:rPr lang="zh-CN" sz="1000" kern="0" dirty="0">
                          <a:solidFill>
                            <a:schemeClr val="tx1"/>
                          </a:solidFill>
                          <a:effectLst/>
                        </a:rPr>
                        <a:t>秒开始下一项测试任务。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3"/>
                  </a:ext>
                </a:extLst>
              </a:tr>
              <a:tr h="1286086">
                <a:tc>
                  <a:txBody>
                    <a:bodyPr/>
                    <a:lstStyle/>
                    <a:p>
                      <a:pPr algn="ctr">
                        <a:lnSpc>
                          <a:spcPts val="1800"/>
                        </a:lnSpc>
                        <a:spcBef>
                          <a:spcPts val="600"/>
                        </a:spcBef>
                        <a:spcAft>
                          <a:spcPts val="0"/>
                        </a:spcAft>
                      </a:pPr>
                      <a:r>
                        <a:rPr lang="en-US" sz="1100" kern="0" dirty="0">
                          <a:solidFill>
                            <a:schemeClr val="tx1"/>
                          </a:solidFill>
                          <a:effectLst/>
                        </a:rPr>
                        <a:t>4</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en-US" sz="1100" kern="0" dirty="0">
                          <a:solidFill>
                            <a:schemeClr val="tx1"/>
                          </a:solidFill>
                          <a:effectLst/>
                        </a:rPr>
                        <a:t>FTP</a:t>
                      </a:r>
                      <a:r>
                        <a:rPr lang="zh-CN" sz="1100" kern="0" dirty="0">
                          <a:solidFill>
                            <a:schemeClr val="tx1"/>
                          </a:solidFill>
                          <a:effectLst/>
                        </a:rPr>
                        <a:t>小数据量下载业务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下载文件大小为</a:t>
                      </a:r>
                      <a:r>
                        <a:rPr lang="en-US" sz="1000" kern="0" dirty="0">
                          <a:solidFill>
                            <a:schemeClr val="tx1"/>
                          </a:solidFill>
                          <a:effectLst/>
                        </a:rPr>
                        <a:t>50MB</a:t>
                      </a:r>
                      <a:r>
                        <a:rPr lang="zh-CN" sz="1000" kern="0" dirty="0">
                          <a:solidFill>
                            <a:schemeClr val="tx1"/>
                          </a:solidFill>
                          <a:effectLst/>
                        </a:rPr>
                        <a:t>，单文件</a:t>
                      </a:r>
                      <a:r>
                        <a:rPr lang="en-US" sz="1000" kern="0" dirty="0">
                          <a:solidFill>
                            <a:schemeClr val="tx1"/>
                          </a:solidFill>
                          <a:effectLst/>
                        </a:rPr>
                        <a:t>5</a:t>
                      </a:r>
                      <a:r>
                        <a:rPr lang="zh-CN" sz="1000" kern="0" dirty="0">
                          <a:solidFill>
                            <a:schemeClr val="tx1"/>
                          </a:solidFill>
                          <a:effectLst/>
                        </a:rPr>
                        <a:t>线程下载，下载超时为</a:t>
                      </a:r>
                      <a:r>
                        <a:rPr lang="en-US" sz="1000" kern="0" dirty="0">
                          <a:solidFill>
                            <a:schemeClr val="tx1"/>
                          </a:solidFill>
                          <a:effectLst/>
                        </a:rPr>
                        <a:t>600</a:t>
                      </a:r>
                      <a:r>
                        <a:rPr lang="zh-CN" sz="1000" kern="0" dirty="0">
                          <a:solidFill>
                            <a:schemeClr val="tx1"/>
                          </a:solidFill>
                          <a:effectLst/>
                        </a:rPr>
                        <a:t>秒（即若一次业务</a:t>
                      </a:r>
                      <a:r>
                        <a:rPr lang="en-US" sz="1000" kern="0" dirty="0">
                          <a:solidFill>
                            <a:schemeClr val="tx1"/>
                          </a:solidFill>
                          <a:effectLst/>
                        </a:rPr>
                        <a:t>600</a:t>
                      </a:r>
                      <a:r>
                        <a:rPr lang="zh-CN" sz="1000" kern="0" dirty="0">
                          <a:solidFill>
                            <a:schemeClr val="tx1"/>
                          </a:solidFill>
                          <a:effectLst/>
                        </a:rPr>
                        <a:t>秒仍没下载完则强制结束），若应用层从下载开始连续</a:t>
                      </a:r>
                      <a:r>
                        <a:rPr lang="en-US" sz="1000" kern="0" dirty="0">
                          <a:solidFill>
                            <a:schemeClr val="tx1"/>
                          </a:solidFill>
                          <a:effectLst/>
                        </a:rPr>
                        <a:t>30</a:t>
                      </a:r>
                      <a:r>
                        <a:rPr lang="zh-CN" sz="1000" kern="0" dirty="0">
                          <a:solidFill>
                            <a:schemeClr val="tx1"/>
                          </a:solidFill>
                          <a:effectLst/>
                        </a:rPr>
                        <a:t>秒无任何流量则视为失败，若之前有流量且应用层连续</a:t>
                      </a:r>
                      <a:r>
                        <a:rPr lang="en-US" sz="1000" kern="0" dirty="0">
                          <a:solidFill>
                            <a:schemeClr val="tx1"/>
                          </a:solidFill>
                          <a:effectLst/>
                        </a:rPr>
                        <a:t>60</a:t>
                      </a:r>
                      <a:r>
                        <a:rPr lang="zh-CN" sz="1000" kern="0" dirty="0">
                          <a:solidFill>
                            <a:schemeClr val="tx1"/>
                          </a:solidFill>
                          <a:effectLst/>
                        </a:rPr>
                        <a:t>秒无流量则判为掉线，断开拨号连接后间隔</a:t>
                      </a:r>
                      <a:r>
                        <a:rPr lang="en-US" sz="1000" kern="0" dirty="0">
                          <a:solidFill>
                            <a:schemeClr val="tx1"/>
                          </a:solidFill>
                          <a:effectLst/>
                        </a:rPr>
                        <a:t>10</a:t>
                      </a:r>
                      <a:r>
                        <a:rPr lang="zh-CN" sz="1000" kern="0" dirty="0">
                          <a:solidFill>
                            <a:schemeClr val="tx1"/>
                          </a:solidFill>
                          <a:effectLst/>
                        </a:rPr>
                        <a:t>秒开始下一项测试任务。单次业务最多可拨号</a:t>
                      </a:r>
                      <a:r>
                        <a:rPr lang="en-US" sz="1000" kern="0" dirty="0">
                          <a:solidFill>
                            <a:schemeClr val="tx1"/>
                          </a:solidFill>
                          <a:effectLst/>
                        </a:rPr>
                        <a:t>3</a:t>
                      </a:r>
                      <a:r>
                        <a:rPr lang="zh-CN" sz="1000" kern="0" dirty="0">
                          <a:solidFill>
                            <a:schemeClr val="tx1"/>
                          </a:solidFill>
                          <a:effectLst/>
                        </a:rPr>
                        <a:t>次，每次间隔</a:t>
                      </a:r>
                      <a:r>
                        <a:rPr lang="en-US" sz="1000" kern="0" dirty="0">
                          <a:solidFill>
                            <a:schemeClr val="tx1"/>
                          </a:solidFill>
                          <a:effectLst/>
                        </a:rPr>
                        <a:t>5</a:t>
                      </a:r>
                      <a:r>
                        <a:rPr lang="zh-CN" sz="1000" kern="0" dirty="0">
                          <a:solidFill>
                            <a:schemeClr val="tx1"/>
                          </a:solidFill>
                          <a:effectLst/>
                        </a:rPr>
                        <a:t>秒。单次业务</a:t>
                      </a:r>
                      <a:r>
                        <a:rPr lang="en-US" sz="1000" kern="0" dirty="0">
                          <a:solidFill>
                            <a:schemeClr val="tx1"/>
                          </a:solidFill>
                          <a:effectLst/>
                        </a:rPr>
                        <a:t>FTP</a:t>
                      </a:r>
                      <a:r>
                        <a:rPr lang="zh-CN" sz="1000" kern="0" dirty="0">
                          <a:solidFill>
                            <a:schemeClr val="tx1"/>
                          </a:solidFill>
                          <a:effectLst/>
                        </a:rPr>
                        <a:t>最大登录次数为</a:t>
                      </a:r>
                      <a:r>
                        <a:rPr lang="en-US" sz="1000" kern="0" dirty="0">
                          <a:solidFill>
                            <a:schemeClr val="tx1"/>
                          </a:solidFill>
                          <a:effectLst/>
                        </a:rPr>
                        <a:t>3</a:t>
                      </a:r>
                      <a:r>
                        <a:rPr lang="zh-CN" sz="1000" kern="0" dirty="0">
                          <a:solidFill>
                            <a:schemeClr val="tx1"/>
                          </a:solidFill>
                          <a:effectLst/>
                        </a:rPr>
                        <a:t>次，每次间隔</a:t>
                      </a:r>
                      <a:r>
                        <a:rPr lang="en-US" sz="1000" kern="0" dirty="0">
                          <a:solidFill>
                            <a:schemeClr val="tx1"/>
                          </a:solidFill>
                          <a:effectLst/>
                        </a:rPr>
                        <a:t>5</a:t>
                      </a:r>
                      <a:r>
                        <a:rPr lang="zh-CN" sz="1000" kern="0" dirty="0">
                          <a:solidFill>
                            <a:schemeClr val="tx1"/>
                          </a:solidFill>
                          <a:effectLst/>
                        </a:rPr>
                        <a:t>秒，</a:t>
                      </a:r>
                      <a:r>
                        <a:rPr lang="en-US" sz="1000" kern="0" dirty="0">
                          <a:solidFill>
                            <a:schemeClr val="tx1"/>
                          </a:solidFill>
                          <a:effectLst/>
                        </a:rPr>
                        <a:t>FTP</a:t>
                      </a:r>
                      <a:r>
                        <a:rPr lang="zh-CN" sz="1000" kern="0" dirty="0">
                          <a:solidFill>
                            <a:schemeClr val="tx1"/>
                          </a:solidFill>
                          <a:effectLst/>
                        </a:rPr>
                        <a:t>登录超时为</a:t>
                      </a:r>
                      <a:r>
                        <a:rPr lang="en-US" sz="1000" kern="0" dirty="0">
                          <a:solidFill>
                            <a:schemeClr val="tx1"/>
                          </a:solidFill>
                          <a:effectLst/>
                        </a:rPr>
                        <a:t>20</a:t>
                      </a:r>
                      <a:r>
                        <a:rPr lang="zh-CN" sz="1000" kern="0" dirty="0">
                          <a:solidFill>
                            <a:schemeClr val="tx1"/>
                          </a:solidFill>
                          <a:effectLst/>
                        </a:rPr>
                        <a:t>秒。联通</a:t>
                      </a:r>
                      <a:r>
                        <a:rPr lang="en-US" sz="1000" kern="0" dirty="0">
                          <a:solidFill>
                            <a:schemeClr val="tx1"/>
                          </a:solidFill>
                          <a:effectLst/>
                        </a:rPr>
                        <a:t>H+</a:t>
                      </a:r>
                      <a:r>
                        <a:rPr lang="zh-CN" sz="1000" kern="0" dirty="0">
                          <a:solidFill>
                            <a:schemeClr val="tx1"/>
                          </a:solidFill>
                          <a:effectLst/>
                        </a:rPr>
                        <a:t>下文件大小为</a:t>
                      </a:r>
                      <a:r>
                        <a:rPr lang="en-US" sz="1000" kern="0" dirty="0">
                          <a:solidFill>
                            <a:schemeClr val="tx1"/>
                          </a:solidFill>
                          <a:effectLst/>
                        </a:rPr>
                        <a:t>20MB</a:t>
                      </a:r>
                      <a:r>
                        <a:rPr lang="zh-CN" sz="1000" kern="0" dirty="0">
                          <a:solidFill>
                            <a:schemeClr val="tx1"/>
                          </a:solidFill>
                          <a:effectLst/>
                        </a:rPr>
                        <a:t>，单文件</a:t>
                      </a:r>
                      <a:r>
                        <a:rPr lang="en-US" sz="1000" kern="0" dirty="0">
                          <a:solidFill>
                            <a:schemeClr val="tx1"/>
                          </a:solidFill>
                          <a:effectLst/>
                        </a:rPr>
                        <a:t>5</a:t>
                      </a:r>
                      <a:r>
                        <a:rPr lang="zh-CN" sz="1000" kern="0" dirty="0">
                          <a:solidFill>
                            <a:schemeClr val="tx1"/>
                          </a:solidFill>
                          <a:effectLst/>
                        </a:rPr>
                        <a:t>线程下载，下载超时为</a:t>
                      </a:r>
                      <a:r>
                        <a:rPr lang="en-US" sz="1000" kern="0" dirty="0">
                          <a:solidFill>
                            <a:schemeClr val="tx1"/>
                          </a:solidFill>
                          <a:effectLst/>
                        </a:rPr>
                        <a:t>600</a:t>
                      </a:r>
                      <a:r>
                        <a:rPr lang="zh-CN" sz="1000" kern="0" dirty="0">
                          <a:solidFill>
                            <a:schemeClr val="tx1"/>
                          </a:solidFill>
                          <a:effectLst/>
                        </a:rPr>
                        <a:t>秒，拨号及登录规范同</a:t>
                      </a:r>
                      <a:r>
                        <a:rPr lang="en-US" sz="1000" kern="0" dirty="0">
                          <a:solidFill>
                            <a:schemeClr val="tx1"/>
                          </a:solidFill>
                          <a:effectLst/>
                        </a:rPr>
                        <a:t>TD-LTE</a:t>
                      </a:r>
                      <a:r>
                        <a:rPr lang="zh-CN" sz="1000" kern="0" dirty="0">
                          <a:solidFill>
                            <a:schemeClr val="tx1"/>
                          </a:solidFill>
                          <a:effectLst/>
                        </a:rPr>
                        <a:t>，任务完成后断开拨号连接，间隔</a:t>
                      </a:r>
                      <a:r>
                        <a:rPr lang="en-US" sz="1000" kern="0" dirty="0">
                          <a:solidFill>
                            <a:schemeClr val="tx1"/>
                          </a:solidFill>
                          <a:effectLst/>
                        </a:rPr>
                        <a:t>10</a:t>
                      </a:r>
                      <a:r>
                        <a:rPr lang="zh-CN" sz="1000" kern="0" dirty="0">
                          <a:solidFill>
                            <a:schemeClr val="tx1"/>
                          </a:solidFill>
                          <a:effectLst/>
                        </a:rPr>
                        <a:t>秒开始下一项测试任务。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4"/>
                  </a:ext>
                </a:extLst>
              </a:tr>
              <a:tr h="516087">
                <a:tc>
                  <a:txBody>
                    <a:bodyPr/>
                    <a:lstStyle/>
                    <a:p>
                      <a:pPr algn="ctr">
                        <a:lnSpc>
                          <a:spcPts val="1800"/>
                        </a:lnSpc>
                        <a:spcBef>
                          <a:spcPts val="600"/>
                        </a:spcBef>
                        <a:spcAft>
                          <a:spcPts val="0"/>
                        </a:spcAft>
                      </a:pPr>
                      <a:r>
                        <a:rPr lang="en-US" sz="1100" kern="0" dirty="0">
                          <a:solidFill>
                            <a:schemeClr val="tx1"/>
                          </a:solidFill>
                          <a:effectLst/>
                        </a:rPr>
                        <a:t>5</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en-US" sz="1100" kern="0" dirty="0">
                          <a:solidFill>
                            <a:schemeClr val="tx1"/>
                          </a:solidFill>
                          <a:effectLst/>
                        </a:rPr>
                        <a:t>HTTP</a:t>
                      </a:r>
                      <a:r>
                        <a:rPr lang="zh-CN" sz="1100" kern="0" dirty="0">
                          <a:solidFill>
                            <a:schemeClr val="tx1"/>
                          </a:solidFill>
                          <a:effectLst/>
                        </a:rPr>
                        <a:t>浏览业务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依次浏览</a:t>
                      </a:r>
                      <a:r>
                        <a:rPr lang="en-US" sz="1000" kern="0" dirty="0">
                          <a:solidFill>
                            <a:schemeClr val="tx1"/>
                          </a:solidFill>
                          <a:effectLst/>
                        </a:rPr>
                        <a:t>10</a:t>
                      </a:r>
                      <a:r>
                        <a:rPr lang="zh-CN" sz="1000" kern="0" dirty="0">
                          <a:solidFill>
                            <a:schemeClr val="tx1"/>
                          </a:solidFill>
                          <a:effectLst/>
                        </a:rPr>
                        <a:t>个公网门户网站。网站地址从网站库里选择，每次浏览网页间隔</a:t>
                      </a:r>
                      <a:r>
                        <a:rPr lang="en-US" sz="1000" kern="0" dirty="0">
                          <a:solidFill>
                            <a:schemeClr val="tx1"/>
                          </a:solidFill>
                          <a:effectLst/>
                        </a:rPr>
                        <a:t>2</a:t>
                      </a:r>
                      <a:r>
                        <a:rPr lang="zh-CN" sz="1000" kern="0" dirty="0">
                          <a:solidFill>
                            <a:schemeClr val="tx1"/>
                          </a:solidFill>
                          <a:effectLst/>
                        </a:rPr>
                        <a:t>秒，浏览超时时间为</a:t>
                      </a:r>
                      <a:r>
                        <a:rPr lang="en-US" sz="1000" kern="0" dirty="0">
                          <a:solidFill>
                            <a:schemeClr val="tx1"/>
                          </a:solidFill>
                          <a:effectLst/>
                        </a:rPr>
                        <a:t>30</a:t>
                      </a:r>
                      <a:r>
                        <a:rPr lang="zh-CN" sz="1000" kern="0" dirty="0">
                          <a:solidFill>
                            <a:schemeClr val="tx1"/>
                          </a:solidFill>
                          <a:effectLst/>
                        </a:rPr>
                        <a:t>秒。测试完成后断开拨号连接，间隔</a:t>
                      </a:r>
                      <a:r>
                        <a:rPr lang="en-US" sz="1000" kern="0" dirty="0">
                          <a:solidFill>
                            <a:schemeClr val="tx1"/>
                          </a:solidFill>
                          <a:effectLst/>
                        </a:rPr>
                        <a:t>10</a:t>
                      </a:r>
                      <a:r>
                        <a:rPr lang="zh-CN" sz="1000" kern="0" dirty="0">
                          <a:solidFill>
                            <a:schemeClr val="tx1"/>
                          </a:solidFill>
                          <a:effectLst/>
                        </a:rPr>
                        <a:t>秒开始下一项测试任务。</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5"/>
                  </a:ext>
                </a:extLst>
              </a:tr>
              <a:tr h="757709">
                <a:tc>
                  <a:txBody>
                    <a:bodyPr/>
                    <a:lstStyle/>
                    <a:p>
                      <a:pPr algn="ctr">
                        <a:lnSpc>
                          <a:spcPts val="1800"/>
                        </a:lnSpc>
                        <a:spcBef>
                          <a:spcPts val="600"/>
                        </a:spcBef>
                        <a:spcAft>
                          <a:spcPts val="0"/>
                        </a:spcAft>
                      </a:pPr>
                      <a:r>
                        <a:rPr lang="en-US" sz="1100" kern="0" dirty="0">
                          <a:solidFill>
                            <a:schemeClr val="tx1"/>
                          </a:solidFill>
                          <a:effectLst/>
                        </a:rPr>
                        <a:t>6</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en-US" sz="1100" kern="0" dirty="0">
                          <a:solidFill>
                            <a:schemeClr val="tx1"/>
                          </a:solidFill>
                          <a:effectLst/>
                        </a:rPr>
                        <a:t>HTTP</a:t>
                      </a:r>
                      <a:r>
                        <a:rPr lang="zh-CN" sz="1100" kern="0" dirty="0">
                          <a:solidFill>
                            <a:schemeClr val="tx1"/>
                          </a:solidFill>
                          <a:effectLst/>
                        </a:rPr>
                        <a:t>下载业务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en-US" sz="1000" kern="0" dirty="0">
                          <a:solidFill>
                            <a:schemeClr val="tx1"/>
                          </a:solidFill>
                          <a:effectLst/>
                        </a:rPr>
                        <a:t>HTTP</a:t>
                      </a:r>
                      <a:r>
                        <a:rPr lang="zh-CN" sz="1000" kern="0" dirty="0">
                          <a:solidFill>
                            <a:schemeClr val="tx1"/>
                          </a:solidFill>
                          <a:effectLst/>
                        </a:rPr>
                        <a:t>网站资源下载</a:t>
                      </a:r>
                      <a:r>
                        <a:rPr lang="en-US" sz="1000" kern="0" dirty="0">
                          <a:solidFill>
                            <a:schemeClr val="tx1"/>
                          </a:solidFill>
                          <a:effectLst/>
                        </a:rPr>
                        <a:t>1</a:t>
                      </a:r>
                      <a:r>
                        <a:rPr lang="zh-CN" sz="1000" kern="0" dirty="0">
                          <a:solidFill>
                            <a:schemeClr val="tx1"/>
                          </a:solidFill>
                          <a:effectLst/>
                        </a:rPr>
                        <a:t>次，下载超时为</a:t>
                      </a:r>
                      <a:r>
                        <a:rPr lang="en-US" sz="1000" kern="0" dirty="0">
                          <a:solidFill>
                            <a:schemeClr val="tx1"/>
                          </a:solidFill>
                          <a:effectLst/>
                        </a:rPr>
                        <a:t>120</a:t>
                      </a:r>
                      <a:r>
                        <a:rPr lang="zh-CN" sz="1000" kern="0" dirty="0">
                          <a:solidFill>
                            <a:schemeClr val="tx1"/>
                          </a:solidFill>
                          <a:effectLst/>
                        </a:rPr>
                        <a:t>秒，若从下载开始连续</a:t>
                      </a:r>
                      <a:r>
                        <a:rPr lang="en-US" sz="1000" kern="0" dirty="0">
                          <a:solidFill>
                            <a:schemeClr val="tx1"/>
                          </a:solidFill>
                          <a:effectLst/>
                        </a:rPr>
                        <a:t>30</a:t>
                      </a:r>
                      <a:r>
                        <a:rPr lang="zh-CN" sz="1000" kern="0" dirty="0">
                          <a:solidFill>
                            <a:schemeClr val="tx1"/>
                          </a:solidFill>
                          <a:effectLst/>
                        </a:rPr>
                        <a:t>秒内应用层无任何流量则视为失败，若之前有流量且连续</a:t>
                      </a:r>
                      <a:r>
                        <a:rPr lang="en-US" sz="1000" kern="0" dirty="0">
                          <a:solidFill>
                            <a:schemeClr val="tx1"/>
                          </a:solidFill>
                          <a:effectLst/>
                        </a:rPr>
                        <a:t>30</a:t>
                      </a:r>
                      <a:r>
                        <a:rPr lang="zh-CN" sz="1000" kern="0" dirty="0">
                          <a:solidFill>
                            <a:schemeClr val="tx1"/>
                          </a:solidFill>
                          <a:effectLst/>
                        </a:rPr>
                        <a:t>秒应用层无流量则视为掉线，断开拨号连接，间隔</a:t>
                      </a:r>
                      <a:r>
                        <a:rPr lang="en-US" sz="1000" kern="0" dirty="0">
                          <a:solidFill>
                            <a:schemeClr val="tx1"/>
                          </a:solidFill>
                          <a:effectLst/>
                        </a:rPr>
                        <a:t>10</a:t>
                      </a:r>
                      <a:r>
                        <a:rPr lang="zh-CN" sz="1000" kern="0" dirty="0">
                          <a:solidFill>
                            <a:schemeClr val="tx1"/>
                          </a:solidFill>
                          <a:effectLst/>
                        </a:rPr>
                        <a:t>秒后进行下一项测试任务。正常测试任务完成后断开拨号连接，间隔</a:t>
                      </a:r>
                      <a:r>
                        <a:rPr lang="en-US" sz="1000" kern="0" dirty="0">
                          <a:solidFill>
                            <a:schemeClr val="tx1"/>
                          </a:solidFill>
                          <a:effectLst/>
                        </a:rPr>
                        <a:t>10</a:t>
                      </a:r>
                      <a:r>
                        <a:rPr lang="zh-CN" sz="1000" kern="0" dirty="0">
                          <a:solidFill>
                            <a:schemeClr val="tx1"/>
                          </a:solidFill>
                          <a:effectLst/>
                        </a:rPr>
                        <a:t>秒进行下一项测试任务。下载资源文件大小建议在</a:t>
                      </a:r>
                      <a:r>
                        <a:rPr lang="en-US" sz="1000" kern="0" dirty="0">
                          <a:solidFill>
                            <a:schemeClr val="tx1"/>
                          </a:solidFill>
                          <a:effectLst/>
                        </a:rPr>
                        <a:t>25MB</a:t>
                      </a:r>
                      <a:r>
                        <a:rPr lang="zh-CN" sz="1000" kern="0" dirty="0">
                          <a:solidFill>
                            <a:schemeClr val="tx1"/>
                          </a:solidFill>
                          <a:effectLst/>
                        </a:rPr>
                        <a:t>左右。</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6"/>
                  </a:ext>
                </a:extLst>
              </a:tr>
              <a:tr h="805351">
                <a:tc>
                  <a:txBody>
                    <a:bodyPr/>
                    <a:lstStyle/>
                    <a:p>
                      <a:pPr algn="ctr">
                        <a:lnSpc>
                          <a:spcPts val="1800"/>
                        </a:lnSpc>
                        <a:spcBef>
                          <a:spcPts val="600"/>
                        </a:spcBef>
                        <a:spcAft>
                          <a:spcPts val="0"/>
                        </a:spcAft>
                      </a:pPr>
                      <a:r>
                        <a:rPr lang="en-US" sz="1100" kern="0" dirty="0">
                          <a:solidFill>
                            <a:schemeClr val="tx1"/>
                          </a:solidFill>
                          <a:effectLst/>
                        </a:rPr>
                        <a:t>7</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100" kern="0" dirty="0">
                          <a:solidFill>
                            <a:schemeClr val="tx1"/>
                          </a:solidFill>
                          <a:effectLst/>
                        </a:rPr>
                        <a:t>流媒体业务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主流视频网站，如优酷，播放在线视频业务，视频时长</a:t>
                      </a:r>
                      <a:r>
                        <a:rPr lang="en-US" sz="1000" kern="0" dirty="0">
                          <a:solidFill>
                            <a:schemeClr val="tx1"/>
                          </a:solidFill>
                          <a:effectLst/>
                        </a:rPr>
                        <a:t>50</a:t>
                      </a:r>
                      <a:r>
                        <a:rPr lang="zh-CN" sz="1000" kern="0" dirty="0">
                          <a:solidFill>
                            <a:schemeClr val="tx1"/>
                          </a:solidFill>
                          <a:effectLst/>
                        </a:rPr>
                        <a:t>秒以内，点击视频后</a:t>
                      </a:r>
                      <a:r>
                        <a:rPr lang="en-US" sz="1000" kern="0" dirty="0">
                          <a:solidFill>
                            <a:schemeClr val="tx1"/>
                          </a:solidFill>
                          <a:effectLst/>
                        </a:rPr>
                        <a:t>30</a:t>
                      </a:r>
                      <a:r>
                        <a:rPr lang="zh-CN" sz="1000" kern="0" dirty="0">
                          <a:solidFill>
                            <a:schemeClr val="tx1"/>
                          </a:solidFill>
                          <a:effectLst/>
                        </a:rPr>
                        <a:t>秒内没有播放则视为加载失败，开始播放后</a:t>
                      </a:r>
                      <a:r>
                        <a:rPr lang="en-US" sz="1000" kern="0" dirty="0">
                          <a:solidFill>
                            <a:schemeClr val="tx1"/>
                          </a:solidFill>
                          <a:effectLst/>
                        </a:rPr>
                        <a:t>30</a:t>
                      </a:r>
                      <a:r>
                        <a:rPr lang="zh-CN" sz="1000" kern="0" dirty="0">
                          <a:solidFill>
                            <a:schemeClr val="tx1"/>
                          </a:solidFill>
                          <a:effectLst/>
                        </a:rPr>
                        <a:t>秒内无流量则视为失败浏览掉线，若点击视频开始播放后</a:t>
                      </a:r>
                      <a:r>
                        <a:rPr lang="en-US" sz="1000" kern="0" dirty="0">
                          <a:solidFill>
                            <a:schemeClr val="tx1"/>
                          </a:solidFill>
                          <a:effectLst/>
                        </a:rPr>
                        <a:t>60</a:t>
                      </a:r>
                      <a:r>
                        <a:rPr lang="zh-CN" sz="1000" kern="0" dirty="0">
                          <a:solidFill>
                            <a:schemeClr val="tx1"/>
                          </a:solidFill>
                          <a:effectLst/>
                        </a:rPr>
                        <a:t>秒没有结束则视为浏览失败，缓冲区总时长为</a:t>
                      </a:r>
                      <a:r>
                        <a:rPr lang="en-US" sz="1000" kern="0" dirty="0">
                          <a:solidFill>
                            <a:schemeClr val="tx1"/>
                          </a:solidFill>
                          <a:effectLst/>
                        </a:rPr>
                        <a:t>60</a:t>
                      </a:r>
                      <a:r>
                        <a:rPr lang="zh-CN" sz="1000" kern="0" dirty="0">
                          <a:solidFill>
                            <a:schemeClr val="tx1"/>
                          </a:solidFill>
                          <a:effectLst/>
                        </a:rPr>
                        <a:t>秒，缓冲播放门限</a:t>
                      </a:r>
                      <a:r>
                        <a:rPr lang="en-US" sz="1000" kern="0" dirty="0">
                          <a:solidFill>
                            <a:schemeClr val="tx1"/>
                          </a:solidFill>
                          <a:effectLst/>
                        </a:rPr>
                        <a:t>5</a:t>
                      </a:r>
                      <a:r>
                        <a:rPr lang="zh-CN" sz="1000" kern="0" dirty="0">
                          <a:solidFill>
                            <a:schemeClr val="tx1"/>
                          </a:solidFill>
                          <a:effectLst/>
                        </a:rPr>
                        <a:t>秒。测试任务完成后断开拨号连接，间隔</a:t>
                      </a:r>
                      <a:r>
                        <a:rPr lang="en-US" sz="1000" kern="0" dirty="0">
                          <a:solidFill>
                            <a:schemeClr val="tx1"/>
                          </a:solidFill>
                          <a:effectLst/>
                        </a:rPr>
                        <a:t>10</a:t>
                      </a:r>
                      <a:r>
                        <a:rPr lang="zh-CN" sz="1000" kern="0" dirty="0">
                          <a:solidFill>
                            <a:schemeClr val="tx1"/>
                          </a:solidFill>
                          <a:effectLst/>
                        </a:rPr>
                        <a:t>秒后开始下一项测试任务。视频质量选择高清。</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7"/>
                  </a:ext>
                </a:extLst>
              </a:tr>
              <a:tr h="850588">
                <a:tc>
                  <a:txBody>
                    <a:bodyPr/>
                    <a:lstStyle/>
                    <a:p>
                      <a:pPr algn="ctr">
                        <a:lnSpc>
                          <a:spcPts val="1800"/>
                        </a:lnSpc>
                        <a:spcBef>
                          <a:spcPts val="600"/>
                        </a:spcBef>
                        <a:spcAft>
                          <a:spcPts val="0"/>
                        </a:spcAft>
                      </a:pPr>
                      <a:r>
                        <a:rPr lang="en-US" sz="1100" kern="0" dirty="0">
                          <a:solidFill>
                            <a:schemeClr val="tx1"/>
                          </a:solidFill>
                          <a:effectLst/>
                        </a:rPr>
                        <a:t>8</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ctr">
                        <a:lnSpc>
                          <a:spcPts val="1800"/>
                        </a:lnSpc>
                        <a:spcBef>
                          <a:spcPts val="600"/>
                        </a:spcBef>
                        <a:spcAft>
                          <a:spcPts val="0"/>
                        </a:spcAft>
                      </a:pPr>
                      <a:r>
                        <a:rPr lang="zh-CN" sz="1100" kern="0" dirty="0">
                          <a:solidFill>
                            <a:schemeClr val="tx1"/>
                          </a:solidFill>
                          <a:effectLst/>
                        </a:rPr>
                        <a:t>邮件发送业务</a:t>
                      </a:r>
                      <a:endParaRPr lang="zh-CN" sz="14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tc>
                  <a:txBody>
                    <a:bodyPr/>
                    <a:lstStyle/>
                    <a:p>
                      <a:pPr algn="l">
                        <a:lnSpc>
                          <a:spcPts val="1800"/>
                        </a:lnSpc>
                        <a:spcBef>
                          <a:spcPts val="600"/>
                        </a:spcBef>
                        <a:spcAft>
                          <a:spcPts val="0"/>
                        </a:spcAft>
                      </a:pPr>
                      <a:r>
                        <a:rPr lang="zh-CN" sz="1000" kern="0" dirty="0">
                          <a:solidFill>
                            <a:schemeClr val="tx1"/>
                          </a:solidFill>
                          <a:effectLst/>
                        </a:rPr>
                        <a:t>发送邮箱为测试人员邮箱，加载</a:t>
                      </a:r>
                      <a:r>
                        <a:rPr lang="en-US" sz="1000" kern="0" dirty="0">
                          <a:solidFill>
                            <a:schemeClr val="tx1"/>
                          </a:solidFill>
                          <a:effectLst/>
                        </a:rPr>
                        <a:t>5MB</a:t>
                      </a:r>
                      <a:r>
                        <a:rPr lang="zh-CN" sz="1000" kern="0" dirty="0">
                          <a:solidFill>
                            <a:schemeClr val="tx1"/>
                          </a:solidFill>
                          <a:effectLst/>
                        </a:rPr>
                        <a:t>附件，进行邮件发送测试</a:t>
                      </a:r>
                      <a:r>
                        <a:rPr lang="en-US" sz="1000" kern="0" dirty="0">
                          <a:solidFill>
                            <a:schemeClr val="tx1"/>
                          </a:solidFill>
                          <a:effectLst/>
                        </a:rPr>
                        <a:t>1</a:t>
                      </a:r>
                      <a:r>
                        <a:rPr lang="zh-CN" sz="1000" kern="0" dirty="0">
                          <a:solidFill>
                            <a:schemeClr val="tx1"/>
                          </a:solidFill>
                          <a:effectLst/>
                        </a:rPr>
                        <a:t>次，接收邮箱及密码为需自定义。发送超时</a:t>
                      </a:r>
                      <a:r>
                        <a:rPr lang="en-US" sz="1000" kern="0" dirty="0">
                          <a:solidFill>
                            <a:schemeClr val="tx1"/>
                          </a:solidFill>
                          <a:effectLst/>
                        </a:rPr>
                        <a:t>60</a:t>
                      </a:r>
                      <a:r>
                        <a:rPr lang="zh-CN" sz="1000" kern="0" dirty="0">
                          <a:solidFill>
                            <a:schemeClr val="tx1"/>
                          </a:solidFill>
                          <a:effectLst/>
                        </a:rPr>
                        <a:t>秒，点击发送后</a:t>
                      </a:r>
                      <a:r>
                        <a:rPr lang="en-US" sz="1000" kern="0" dirty="0">
                          <a:solidFill>
                            <a:schemeClr val="tx1"/>
                          </a:solidFill>
                          <a:effectLst/>
                        </a:rPr>
                        <a:t>30</a:t>
                      </a:r>
                      <a:r>
                        <a:rPr lang="zh-CN" sz="1000" kern="0" dirty="0">
                          <a:solidFill>
                            <a:schemeClr val="tx1"/>
                          </a:solidFill>
                          <a:effectLst/>
                        </a:rPr>
                        <a:t>秒内应用层没有任何上传流量则视为失败，之前应用层有流量且</a:t>
                      </a:r>
                      <a:r>
                        <a:rPr lang="en-US" sz="1000" kern="0" dirty="0">
                          <a:solidFill>
                            <a:schemeClr val="tx1"/>
                          </a:solidFill>
                          <a:effectLst/>
                        </a:rPr>
                        <a:t>30</a:t>
                      </a:r>
                      <a:r>
                        <a:rPr lang="zh-CN" sz="1000" kern="0" dirty="0">
                          <a:solidFill>
                            <a:schemeClr val="tx1"/>
                          </a:solidFill>
                          <a:effectLst/>
                        </a:rPr>
                        <a:t>秒内没有上传流量则视为掉线。任务完成后断开拨号连接，间隔</a:t>
                      </a:r>
                      <a:r>
                        <a:rPr lang="en-US" sz="1000" kern="0" dirty="0">
                          <a:solidFill>
                            <a:schemeClr val="tx1"/>
                          </a:solidFill>
                          <a:effectLst/>
                        </a:rPr>
                        <a:t>10</a:t>
                      </a:r>
                      <a:r>
                        <a:rPr lang="zh-CN" sz="1000" kern="0" dirty="0">
                          <a:solidFill>
                            <a:schemeClr val="tx1"/>
                          </a:solidFill>
                          <a:effectLst/>
                        </a:rPr>
                        <a:t>秒后进行下一项测试。</a:t>
                      </a:r>
                      <a:endParaRPr lang="zh-CN" sz="1100" kern="100" dirty="0">
                        <a:solidFill>
                          <a:schemeClr val="tx1"/>
                        </a:solidFill>
                        <a:effectLst/>
                        <a:latin typeface="Times New Roman" panose="02020603050405020304" pitchFamily="18" charset="0"/>
                        <a:ea typeface="宋体" panose="02010600030101010101" pitchFamily="2" charset="-122"/>
                      </a:endParaRPr>
                    </a:p>
                  </a:txBody>
                  <a:tcPr marL="49322" marR="49322" marT="0"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1064895" y="2073622"/>
            <a:ext cx="228790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测试场景规范</a:t>
            </a:r>
          </a:p>
        </p:txBody>
      </p:sp>
      <p:sp>
        <p:nvSpPr>
          <p:cNvPr id="13" name="矩形 12"/>
          <p:cNvSpPr/>
          <p:nvPr/>
        </p:nvSpPr>
        <p:spPr>
          <a:xfrm>
            <a:off x="833160" y="2690086"/>
            <a:ext cx="5339040" cy="3693319"/>
          </a:xfrm>
          <a:prstGeom prst="rect">
            <a:avLst/>
          </a:prstGeom>
        </p:spPr>
        <p:txBody>
          <a:bodyPr wrap="square">
            <a:spAutoFit/>
          </a:bodyPr>
          <a:lstStyle/>
          <a:p>
            <a:pPr indent="304800">
              <a:spcBef>
                <a:spcPts val="600"/>
              </a:spcBef>
              <a:spcAft>
                <a:spcPts val="600"/>
              </a:spcAft>
            </a:pPr>
            <a:r>
              <a:rPr lang="en-US" altLang="zh-CN" sz="2000" kern="100" dirty="0">
                <a:solidFill>
                  <a:srgbClr val="FF0000"/>
                </a:solidFill>
                <a:latin typeface="+mj-ea"/>
                <a:ea typeface="+mj-ea"/>
              </a:rPr>
              <a:t>1</a:t>
            </a:r>
            <a:r>
              <a:rPr lang="zh-CN" altLang="zh-CN" sz="2000" kern="100" dirty="0">
                <a:solidFill>
                  <a:srgbClr val="FF0000"/>
                </a:solidFill>
                <a:latin typeface="+mj-ea"/>
                <a:ea typeface="+mj-ea"/>
              </a:rPr>
              <a:t>）道路测试</a:t>
            </a:r>
          </a:p>
          <a:p>
            <a:pPr indent="304800">
              <a:spcBef>
                <a:spcPts val="600"/>
              </a:spcBef>
              <a:spcAft>
                <a:spcPts val="600"/>
              </a:spcAft>
              <a:tabLst>
                <a:tab pos="266700" algn="l"/>
              </a:tabLst>
            </a:pPr>
            <a:r>
              <a:rPr lang="en-US" altLang="zh-CN" sz="1600" kern="100" dirty="0">
                <a:latin typeface="+mj-ea"/>
                <a:ea typeface="+mj-ea"/>
                <a:cs typeface="Times New Roman" panose="02020603050405020304" pitchFamily="18" charset="0"/>
              </a:rPr>
              <a:t>LTE</a:t>
            </a:r>
            <a:r>
              <a:rPr lang="zh-CN" altLang="zh-CN" sz="1600" kern="100" dirty="0">
                <a:latin typeface="+mj-ea"/>
                <a:ea typeface="+mj-ea"/>
              </a:rPr>
              <a:t>道路测试主要采用测试设备进行网络性能测试、数据业务测试，采用商用终端进行语音</a:t>
            </a:r>
            <a:r>
              <a:rPr lang="en-US" altLang="zh-CN" sz="1600" kern="100" dirty="0">
                <a:latin typeface="+mj-ea"/>
                <a:ea typeface="+mj-ea"/>
                <a:cs typeface="Times New Roman" panose="02020603050405020304" pitchFamily="18" charset="0"/>
              </a:rPr>
              <a:t>CSFB</a:t>
            </a:r>
            <a:r>
              <a:rPr lang="zh-CN" altLang="zh-CN" sz="1600" kern="100" dirty="0">
                <a:latin typeface="+mj-ea"/>
                <a:ea typeface="+mj-ea"/>
              </a:rPr>
              <a:t>测试、客户感知测试，主要测试方法及要求如下：</a:t>
            </a:r>
          </a:p>
          <a:p>
            <a:pPr marL="285750" lvl="0" indent="-285750">
              <a:spcBef>
                <a:spcPts val="600"/>
              </a:spcBef>
              <a:spcAft>
                <a:spcPts val="600"/>
              </a:spcAft>
              <a:buFont typeface="Arial" panose="020B0604020202020204" pitchFamily="34" charset="0"/>
              <a:buChar char="•"/>
            </a:pPr>
            <a:r>
              <a:rPr lang="en-US" altLang="zh-CN" kern="100" dirty="0">
                <a:latin typeface="+mj-ea"/>
                <a:ea typeface="+mj-ea"/>
              </a:rPr>
              <a:t>a. </a:t>
            </a:r>
            <a:r>
              <a:rPr lang="zh-CN" altLang="zh-CN" kern="100" dirty="0">
                <a:latin typeface="+mj-ea"/>
                <a:ea typeface="+mj-ea"/>
              </a:rPr>
              <a:t>测试区域</a:t>
            </a:r>
          </a:p>
          <a:p>
            <a:pPr indent="304800">
              <a:spcBef>
                <a:spcPts val="600"/>
              </a:spcBef>
              <a:spcAft>
                <a:spcPts val="600"/>
              </a:spcAft>
              <a:tabLst>
                <a:tab pos="266700" algn="l"/>
              </a:tabLst>
            </a:pPr>
            <a:r>
              <a:rPr lang="zh-CN" altLang="zh-CN" sz="1600" kern="100" dirty="0">
                <a:latin typeface="+mj-ea"/>
                <a:ea typeface="+mj-ea"/>
              </a:rPr>
              <a:t>按照网格划分区域或选定区域（建设区域）进行测试</a:t>
            </a:r>
          </a:p>
          <a:p>
            <a:pPr marL="285750" lvl="0" indent="-285750">
              <a:spcBef>
                <a:spcPts val="600"/>
              </a:spcBef>
              <a:spcAft>
                <a:spcPts val="600"/>
              </a:spcAft>
              <a:buFont typeface="Arial" panose="020B0604020202020204" pitchFamily="34" charset="0"/>
              <a:buChar char="•"/>
            </a:pPr>
            <a:r>
              <a:rPr lang="en-US" altLang="zh-CN" kern="100" dirty="0">
                <a:latin typeface="+mj-ea"/>
                <a:ea typeface="+mj-ea"/>
              </a:rPr>
              <a:t>b. </a:t>
            </a:r>
            <a:r>
              <a:rPr lang="zh-CN" altLang="zh-CN" kern="100" dirty="0">
                <a:latin typeface="+mj-ea"/>
                <a:ea typeface="+mj-ea"/>
              </a:rPr>
              <a:t>测试道路</a:t>
            </a:r>
          </a:p>
          <a:p>
            <a:pPr indent="304800">
              <a:spcBef>
                <a:spcPts val="600"/>
              </a:spcBef>
              <a:spcAft>
                <a:spcPts val="600"/>
              </a:spcAft>
              <a:tabLst>
                <a:tab pos="266700" algn="l"/>
              </a:tabLst>
            </a:pPr>
            <a:r>
              <a:rPr lang="zh-CN" altLang="zh-CN" sz="1600" kern="100" dirty="0">
                <a:latin typeface="+mj-ea"/>
                <a:ea typeface="+mj-ea"/>
              </a:rPr>
              <a:t>城区范围包含背街小巷在内的所有</a:t>
            </a:r>
            <a:r>
              <a:rPr lang="en-US" altLang="zh-CN" sz="1600" kern="100" dirty="0">
                <a:latin typeface="+mj-ea"/>
                <a:ea typeface="+mj-ea"/>
                <a:cs typeface="Times New Roman" panose="02020603050405020304" pitchFamily="18" charset="0"/>
              </a:rPr>
              <a:t>1-4</a:t>
            </a:r>
            <a:r>
              <a:rPr lang="zh-CN" altLang="zh-CN" sz="1600" kern="100" dirty="0">
                <a:latin typeface="+mj-ea"/>
                <a:ea typeface="+mj-ea"/>
              </a:rPr>
              <a:t>级道路；交通干线不包含铁路（重点是高速铁路和动车组）、高速公路、国道省道等；县城城区包括县城城区范围内的主要道路；农村及旅游景点包括乡镇、行政村、旅游景点及连接道路；</a:t>
            </a:r>
          </a:p>
        </p:txBody>
      </p:sp>
      <p:sp>
        <p:nvSpPr>
          <p:cNvPr id="5" name="矩形 4"/>
          <p:cNvSpPr/>
          <p:nvPr/>
        </p:nvSpPr>
        <p:spPr>
          <a:xfrm>
            <a:off x="6403935" y="1613806"/>
            <a:ext cx="5584865" cy="4862870"/>
          </a:xfrm>
          <a:prstGeom prst="rect">
            <a:avLst/>
          </a:prstGeom>
        </p:spPr>
        <p:txBody>
          <a:bodyPr wrap="square">
            <a:spAutoFit/>
          </a:bodyPr>
          <a:lstStyle/>
          <a:p>
            <a:pPr marL="285750" lvl="0" indent="-285750">
              <a:spcBef>
                <a:spcPts val="600"/>
              </a:spcBef>
              <a:spcAft>
                <a:spcPts val="600"/>
              </a:spcAft>
              <a:buFont typeface="Arial" panose="020B0604020202020204" pitchFamily="34" charset="0"/>
              <a:buChar char="•"/>
            </a:pPr>
            <a:r>
              <a:rPr lang="en-US" altLang="zh-CN" kern="100" dirty="0">
                <a:latin typeface="+mj-ea"/>
              </a:rPr>
              <a:t>c.  </a:t>
            </a:r>
            <a:r>
              <a:rPr lang="zh-CN" altLang="zh-CN" kern="100" dirty="0">
                <a:latin typeface="+mj-ea"/>
              </a:rPr>
              <a:t>测试路线</a:t>
            </a:r>
          </a:p>
          <a:p>
            <a:pPr indent="304800">
              <a:spcBef>
                <a:spcPts val="600"/>
              </a:spcBef>
              <a:spcAft>
                <a:spcPts val="600"/>
              </a:spcAft>
              <a:tabLst>
                <a:tab pos="266700" algn="l"/>
              </a:tabLst>
            </a:pPr>
            <a:r>
              <a:rPr lang="zh-CN" altLang="zh-CN" sz="1600" kern="100" dirty="0">
                <a:latin typeface="+mj-ea"/>
                <a:ea typeface="+mj-ea"/>
                <a:cs typeface="Times New Roman" panose="02020603050405020304" pitchFamily="18" charset="0"/>
              </a:rPr>
              <a:t>按照指定路线进行道路遍历性测试，合理规划路线尽量减少重复道路测试</a:t>
            </a:r>
            <a:r>
              <a:rPr lang="zh-CN" altLang="en-US" sz="1600" kern="100" dirty="0">
                <a:latin typeface="+mj-ea"/>
                <a:ea typeface="+mj-ea"/>
                <a:cs typeface="Times New Roman" panose="02020603050405020304" pitchFamily="18" charset="0"/>
              </a:rPr>
              <a:t>。</a:t>
            </a:r>
            <a:endParaRPr lang="en-US" altLang="zh-CN" sz="1600" kern="100" dirty="0">
              <a:latin typeface="+mj-ea"/>
              <a:ea typeface="+mj-ea"/>
              <a:cs typeface="Times New Roman" panose="02020603050405020304" pitchFamily="18" charset="0"/>
            </a:endParaRPr>
          </a:p>
          <a:p>
            <a:pPr marL="285750" lvl="0" indent="-285750">
              <a:spcBef>
                <a:spcPts val="600"/>
              </a:spcBef>
              <a:spcAft>
                <a:spcPts val="600"/>
              </a:spcAft>
              <a:buFont typeface="Arial" panose="020B0604020202020204" pitchFamily="34" charset="0"/>
              <a:buChar char="•"/>
            </a:pPr>
            <a:r>
              <a:rPr lang="en-US" altLang="zh-CN" kern="100" dirty="0">
                <a:latin typeface="+mj-ea"/>
              </a:rPr>
              <a:t>d.  </a:t>
            </a:r>
            <a:r>
              <a:rPr lang="zh-CN" altLang="zh-CN" kern="100" dirty="0">
                <a:latin typeface="+mj-ea"/>
              </a:rPr>
              <a:t>测试轨迹记录</a:t>
            </a:r>
          </a:p>
          <a:p>
            <a:pPr indent="304800">
              <a:spcBef>
                <a:spcPts val="600"/>
              </a:spcBef>
              <a:spcAft>
                <a:spcPts val="600"/>
              </a:spcAft>
              <a:tabLst>
                <a:tab pos="266700" algn="l"/>
              </a:tabLst>
            </a:pPr>
            <a:r>
              <a:rPr lang="zh-CN" altLang="zh-CN" sz="1600" kern="100" dirty="0">
                <a:latin typeface="+mj-ea"/>
                <a:ea typeface="+mj-ea"/>
                <a:cs typeface="Times New Roman" panose="02020603050405020304" pitchFamily="18" charset="0"/>
              </a:rPr>
              <a:t>测试仪表需配备相应</a:t>
            </a:r>
            <a:r>
              <a:rPr lang="en-US" altLang="zh-CN" sz="1600" kern="100" dirty="0">
                <a:latin typeface="+mj-ea"/>
                <a:ea typeface="+mj-ea"/>
                <a:cs typeface="Times New Roman" panose="02020603050405020304" pitchFamily="18" charset="0"/>
              </a:rPr>
              <a:t>GPS</a:t>
            </a:r>
            <a:r>
              <a:rPr lang="zh-CN" altLang="zh-CN" sz="1600" kern="100" dirty="0">
                <a:latin typeface="+mj-ea"/>
                <a:ea typeface="+mj-ea"/>
                <a:cs typeface="Times New Roman" panose="02020603050405020304" pitchFamily="18" charset="0"/>
              </a:rPr>
              <a:t>设备进行测试轨迹记录。</a:t>
            </a:r>
          </a:p>
          <a:p>
            <a:pPr marL="285750" lvl="0" indent="-285750">
              <a:spcBef>
                <a:spcPts val="600"/>
              </a:spcBef>
              <a:spcAft>
                <a:spcPts val="600"/>
              </a:spcAft>
              <a:buFont typeface="Arial" panose="020B0604020202020204" pitchFamily="34" charset="0"/>
              <a:buChar char="•"/>
            </a:pPr>
            <a:r>
              <a:rPr lang="en-US" altLang="zh-CN" kern="100" dirty="0">
                <a:latin typeface="+mj-ea"/>
              </a:rPr>
              <a:t>e.  </a:t>
            </a:r>
            <a:r>
              <a:rPr lang="zh-CN" altLang="zh-CN" kern="100" dirty="0">
                <a:latin typeface="+mj-ea"/>
              </a:rPr>
              <a:t>测试仪表及数据处理</a:t>
            </a:r>
          </a:p>
          <a:p>
            <a:pPr indent="304800">
              <a:spcBef>
                <a:spcPts val="600"/>
              </a:spcBef>
              <a:spcAft>
                <a:spcPts val="600"/>
              </a:spcAft>
              <a:tabLst>
                <a:tab pos="266700" algn="l"/>
              </a:tabLst>
            </a:pPr>
            <a:r>
              <a:rPr lang="zh-CN" altLang="zh-CN" sz="1600" kern="100" dirty="0">
                <a:latin typeface="+mj-ea"/>
                <a:ea typeface="+mj-ea"/>
                <a:cs typeface="Times New Roman" panose="02020603050405020304" pitchFamily="18" charset="0"/>
              </a:rPr>
              <a:t>必须使用集团集采的测试仪器仪表，数据处理采用集团自动路测平台、商用终端平台进行统一汇总统计</a:t>
            </a:r>
            <a:r>
              <a:rPr lang="zh-CN" altLang="en-US" sz="1600" kern="100" dirty="0">
                <a:latin typeface="+mj-ea"/>
                <a:ea typeface="+mj-ea"/>
                <a:cs typeface="Times New Roman" panose="02020603050405020304" pitchFamily="18" charset="0"/>
              </a:rPr>
              <a:t>。</a:t>
            </a:r>
            <a:endParaRPr lang="zh-CN" altLang="zh-CN" sz="1600" kern="100" dirty="0">
              <a:latin typeface="+mj-ea"/>
              <a:ea typeface="+mj-ea"/>
              <a:cs typeface="Times New Roman" panose="02020603050405020304" pitchFamily="18" charset="0"/>
            </a:endParaRPr>
          </a:p>
          <a:p>
            <a:pPr marL="285750" lvl="0" indent="-285750">
              <a:spcBef>
                <a:spcPts val="600"/>
              </a:spcBef>
              <a:spcAft>
                <a:spcPts val="600"/>
              </a:spcAft>
              <a:buFont typeface="Arial" panose="020B0604020202020204" pitchFamily="34" charset="0"/>
              <a:buChar char="•"/>
            </a:pPr>
            <a:r>
              <a:rPr lang="en-US" altLang="zh-CN" kern="100" dirty="0">
                <a:latin typeface="+mj-ea"/>
              </a:rPr>
              <a:t>f.  </a:t>
            </a:r>
            <a:r>
              <a:rPr lang="zh-CN" altLang="zh-CN" kern="100" dirty="0">
                <a:latin typeface="+mj-ea"/>
              </a:rPr>
              <a:t>测试速度</a:t>
            </a:r>
          </a:p>
          <a:p>
            <a:pPr indent="304800">
              <a:spcBef>
                <a:spcPts val="600"/>
              </a:spcBef>
              <a:spcAft>
                <a:spcPts val="600"/>
              </a:spcAft>
              <a:tabLst>
                <a:tab pos="266700" algn="l"/>
              </a:tabLst>
            </a:pPr>
            <a:r>
              <a:rPr lang="zh-CN" altLang="zh-CN" sz="1600" kern="100" dirty="0">
                <a:latin typeface="+mj-ea"/>
                <a:ea typeface="+mj-ea"/>
                <a:cs typeface="Times New Roman" panose="02020603050405020304" pitchFamily="18" charset="0"/>
              </a:rPr>
              <a:t>城区保持正常行驶速度，不设置最高限速，平均车速需达到</a:t>
            </a:r>
            <a:r>
              <a:rPr lang="en-US" altLang="zh-CN" sz="1600" kern="100" dirty="0">
                <a:latin typeface="+mj-ea"/>
                <a:ea typeface="+mj-ea"/>
                <a:cs typeface="Times New Roman" panose="02020603050405020304" pitchFamily="18" charset="0"/>
              </a:rPr>
              <a:t>20</a:t>
            </a:r>
            <a:r>
              <a:rPr lang="zh-CN" altLang="zh-CN" sz="1600" kern="100" dirty="0">
                <a:latin typeface="+mj-ea"/>
                <a:ea typeface="+mj-ea"/>
                <a:cs typeface="Times New Roman" panose="02020603050405020304" pitchFamily="18" charset="0"/>
              </a:rPr>
              <a:t>公里</a:t>
            </a:r>
            <a:r>
              <a:rPr lang="en-US" altLang="zh-CN" sz="1600" kern="100" dirty="0">
                <a:latin typeface="+mj-ea"/>
                <a:ea typeface="+mj-ea"/>
                <a:cs typeface="Times New Roman" panose="02020603050405020304" pitchFamily="18" charset="0"/>
              </a:rPr>
              <a:t>/</a:t>
            </a:r>
            <a:r>
              <a:rPr lang="zh-CN" altLang="zh-CN" sz="1600" kern="100" dirty="0">
                <a:latin typeface="+mj-ea"/>
                <a:ea typeface="+mj-ea"/>
                <a:cs typeface="Times New Roman" panose="02020603050405020304" pitchFamily="18" charset="0"/>
              </a:rPr>
              <a:t>小时；高速测试按照高速公路实际限速正常行驶</a:t>
            </a:r>
            <a:r>
              <a:rPr lang="zh-CN" altLang="en-US" sz="1600" kern="100" dirty="0">
                <a:latin typeface="+mj-ea"/>
                <a:ea typeface="+mj-ea"/>
                <a:cs typeface="Times New Roman" panose="02020603050405020304" pitchFamily="18" charset="0"/>
              </a:rPr>
              <a:t>。</a:t>
            </a:r>
            <a:endParaRPr lang="zh-CN" altLang="zh-CN" sz="1600" kern="100" dirty="0">
              <a:latin typeface="+mj-ea"/>
              <a:ea typeface="+mj-ea"/>
              <a:cs typeface="Times New Roman" panose="02020603050405020304" pitchFamily="18" charset="0"/>
            </a:endParaRPr>
          </a:p>
          <a:p>
            <a:pPr marL="285750" lvl="0" indent="-285750">
              <a:spcBef>
                <a:spcPts val="600"/>
              </a:spcBef>
              <a:spcAft>
                <a:spcPts val="600"/>
              </a:spcAft>
              <a:buFont typeface="Arial" panose="020B0604020202020204" pitchFamily="34" charset="0"/>
              <a:buChar char="•"/>
            </a:pPr>
            <a:r>
              <a:rPr lang="en-US" altLang="zh-CN" kern="100" dirty="0">
                <a:latin typeface="+mj-ea"/>
              </a:rPr>
              <a:t>g.  </a:t>
            </a:r>
            <a:r>
              <a:rPr lang="zh-CN" altLang="zh-CN" kern="100" dirty="0">
                <a:latin typeface="+mj-ea"/>
              </a:rPr>
              <a:t>渗透率</a:t>
            </a:r>
          </a:p>
          <a:p>
            <a:pPr indent="304800">
              <a:spcBef>
                <a:spcPts val="600"/>
              </a:spcBef>
              <a:spcAft>
                <a:spcPts val="600"/>
              </a:spcAft>
              <a:tabLst>
                <a:tab pos="266700" algn="l"/>
              </a:tabLst>
            </a:pPr>
            <a:r>
              <a:rPr lang="zh-CN" altLang="zh-CN" sz="1600" kern="100" dirty="0">
                <a:latin typeface="+mj-ea"/>
                <a:ea typeface="+mj-ea"/>
                <a:cs typeface="Times New Roman" panose="02020603050405020304" pitchFamily="18" charset="0"/>
              </a:rPr>
              <a:t>城区</a:t>
            </a:r>
            <a:r>
              <a:rPr lang="en-US" altLang="zh-CN" sz="1600" kern="100" dirty="0">
                <a:latin typeface="+mj-ea"/>
                <a:ea typeface="+mj-ea"/>
                <a:cs typeface="Times New Roman" panose="02020603050405020304" pitchFamily="18" charset="0"/>
              </a:rPr>
              <a:t>1-4</a:t>
            </a:r>
            <a:r>
              <a:rPr lang="zh-CN" altLang="zh-CN" sz="1600" kern="100" dirty="0">
                <a:latin typeface="+mj-ea"/>
                <a:ea typeface="+mj-ea"/>
                <a:cs typeface="Times New Roman" panose="02020603050405020304" pitchFamily="18" charset="0"/>
              </a:rPr>
              <a:t>级道路测试渗透率需达到</a:t>
            </a:r>
            <a:r>
              <a:rPr lang="en-US" altLang="zh-CN" sz="1600" kern="100" dirty="0">
                <a:latin typeface="+mj-ea"/>
                <a:ea typeface="+mj-ea"/>
                <a:cs typeface="Times New Roman" panose="02020603050405020304" pitchFamily="18" charset="0"/>
              </a:rPr>
              <a:t>90%</a:t>
            </a:r>
            <a:r>
              <a:rPr lang="zh-CN" altLang="zh-CN" sz="1600" kern="100" dirty="0">
                <a:latin typeface="+mj-ea"/>
                <a:ea typeface="+mj-ea"/>
                <a:cs typeface="Times New Roman" panose="02020603050405020304" pitchFamily="18" charset="0"/>
              </a:rPr>
              <a:t>以上</a:t>
            </a:r>
            <a:r>
              <a:rPr lang="zh-CN" altLang="zh-CN" kern="100" dirty="0">
                <a:latin typeface="+mj-ea"/>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1064895" y="2073622"/>
            <a:ext cx="228790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测试场景规范</a:t>
            </a:r>
          </a:p>
        </p:txBody>
      </p:sp>
      <p:sp>
        <p:nvSpPr>
          <p:cNvPr id="8" name="矩形 7"/>
          <p:cNvSpPr/>
          <p:nvPr/>
        </p:nvSpPr>
        <p:spPr>
          <a:xfrm>
            <a:off x="3038477" y="2140296"/>
            <a:ext cx="7950818" cy="4124206"/>
          </a:xfrm>
          <a:prstGeom prst="rect">
            <a:avLst/>
          </a:prstGeom>
        </p:spPr>
        <p:txBody>
          <a:bodyPr wrap="square">
            <a:spAutoFit/>
          </a:bodyPr>
          <a:lstStyle/>
          <a:p>
            <a:pPr indent="304800">
              <a:spcBef>
                <a:spcPts val="600"/>
              </a:spcBef>
              <a:spcAft>
                <a:spcPts val="600"/>
              </a:spcAft>
            </a:pPr>
            <a:r>
              <a:rPr lang="en-US" altLang="zh-CN" sz="1800" kern="100" dirty="0">
                <a:solidFill>
                  <a:srgbClr val="FF0000"/>
                </a:solidFill>
                <a:latin typeface="+mj-ea"/>
                <a:ea typeface="+mj-ea"/>
              </a:rPr>
              <a:t>2</a:t>
            </a:r>
            <a:r>
              <a:rPr lang="zh-CN" altLang="zh-CN" sz="1800" kern="100" dirty="0">
                <a:solidFill>
                  <a:srgbClr val="FF0000"/>
                </a:solidFill>
                <a:latin typeface="+mj-ea"/>
                <a:ea typeface="+mj-ea"/>
              </a:rPr>
              <a:t>）室内测试</a:t>
            </a:r>
          </a:p>
          <a:p>
            <a:pPr indent="304800">
              <a:spcBef>
                <a:spcPts val="600"/>
              </a:spcBef>
              <a:spcAft>
                <a:spcPts val="600"/>
              </a:spcAft>
              <a:tabLst>
                <a:tab pos="266700" algn="l"/>
              </a:tabLst>
            </a:pPr>
            <a:r>
              <a:rPr lang="en-US" altLang="zh-CN" sz="1600" kern="100" dirty="0">
                <a:latin typeface="+mj-ea"/>
                <a:ea typeface="+mj-ea"/>
                <a:cs typeface="Times New Roman" panose="02020603050405020304" pitchFamily="18" charset="0"/>
              </a:rPr>
              <a:t>LTE</a:t>
            </a:r>
            <a:r>
              <a:rPr lang="zh-CN" altLang="zh-CN" sz="1600" kern="100" dirty="0">
                <a:latin typeface="+mj-ea"/>
                <a:ea typeface="+mj-ea"/>
              </a:rPr>
              <a:t>室内测试主要采用测试设备进行网络性能测试、数据业务测试，采用商用终端进行语音</a:t>
            </a:r>
            <a:r>
              <a:rPr lang="en-US" altLang="zh-CN" sz="1600" kern="100" dirty="0">
                <a:latin typeface="+mj-ea"/>
                <a:ea typeface="+mj-ea"/>
                <a:cs typeface="Times New Roman" panose="02020603050405020304" pitchFamily="18" charset="0"/>
              </a:rPr>
              <a:t>CSFB</a:t>
            </a:r>
            <a:r>
              <a:rPr lang="zh-CN" altLang="zh-CN" sz="1600" kern="100" dirty="0">
                <a:latin typeface="+mj-ea"/>
                <a:ea typeface="+mj-ea"/>
              </a:rPr>
              <a:t>测试、客户感知测试，主要测试方法及要求如下：</a:t>
            </a:r>
          </a:p>
          <a:p>
            <a:pPr marL="285750" lvl="0" indent="-285750">
              <a:spcBef>
                <a:spcPts val="600"/>
              </a:spcBef>
              <a:spcAft>
                <a:spcPts val="600"/>
              </a:spcAft>
              <a:buFont typeface="Arial" panose="020B0604020202020204" pitchFamily="34" charset="0"/>
              <a:buChar char="•"/>
            </a:pPr>
            <a:r>
              <a:rPr lang="en-US" altLang="zh-CN" sz="1800" kern="100" dirty="0">
                <a:latin typeface="+mj-ea"/>
                <a:ea typeface="+mj-ea"/>
              </a:rPr>
              <a:t>a.  </a:t>
            </a:r>
            <a:r>
              <a:rPr lang="zh-CN" altLang="zh-CN" sz="1800" kern="100" dirty="0">
                <a:latin typeface="+mj-ea"/>
                <a:ea typeface="+mj-ea"/>
              </a:rPr>
              <a:t>测试场景</a:t>
            </a:r>
          </a:p>
          <a:p>
            <a:pPr indent="304800">
              <a:spcBef>
                <a:spcPts val="600"/>
              </a:spcBef>
              <a:spcAft>
                <a:spcPts val="600"/>
              </a:spcAft>
              <a:tabLst>
                <a:tab pos="266700" algn="l"/>
              </a:tabLst>
            </a:pPr>
            <a:r>
              <a:rPr lang="zh-CN" altLang="zh-CN" sz="1600" kern="100" dirty="0">
                <a:latin typeface="+mj-ea"/>
                <a:ea typeface="+mj-ea"/>
              </a:rPr>
              <a:t>楼宇按照使用性质分类较为复杂，主要分为党政军机关、办公楼、宾馆酒店、餐饮娱乐、交通枢纽、大型商超、学校、旅游景点、工业园区等。</a:t>
            </a:r>
          </a:p>
          <a:p>
            <a:pPr indent="304800">
              <a:spcBef>
                <a:spcPts val="600"/>
              </a:spcBef>
              <a:spcAft>
                <a:spcPts val="600"/>
              </a:spcAft>
              <a:tabLst>
                <a:tab pos="266700" algn="l"/>
              </a:tabLst>
            </a:pPr>
            <a:r>
              <a:rPr lang="zh-CN" altLang="zh-CN" sz="1600" kern="100" dirty="0">
                <a:latin typeface="+mj-ea"/>
                <a:ea typeface="+mj-ea"/>
              </a:rPr>
              <a:t>各测试场景占比分别为：党政军机关占比</a:t>
            </a:r>
            <a:r>
              <a:rPr lang="en-US" altLang="zh-CN" sz="1600" kern="100" dirty="0">
                <a:latin typeface="+mj-ea"/>
                <a:ea typeface="+mj-ea"/>
                <a:cs typeface="Times New Roman" panose="02020603050405020304" pitchFamily="18" charset="0"/>
              </a:rPr>
              <a:t>5%</a:t>
            </a:r>
            <a:r>
              <a:rPr lang="zh-CN" altLang="zh-CN" sz="1600" kern="100" dirty="0">
                <a:latin typeface="+mj-ea"/>
                <a:ea typeface="+mj-ea"/>
              </a:rPr>
              <a:t>，办公楼占比</a:t>
            </a:r>
            <a:r>
              <a:rPr lang="en-US" altLang="zh-CN" sz="1600" kern="100" dirty="0">
                <a:latin typeface="+mj-ea"/>
                <a:ea typeface="+mj-ea"/>
                <a:cs typeface="Times New Roman" panose="02020603050405020304" pitchFamily="18" charset="0"/>
              </a:rPr>
              <a:t>15%</a:t>
            </a:r>
            <a:r>
              <a:rPr lang="zh-CN" altLang="zh-CN" sz="1600" kern="100" dirty="0">
                <a:latin typeface="+mj-ea"/>
                <a:ea typeface="+mj-ea"/>
              </a:rPr>
              <a:t>，宾馆酒店占比</a:t>
            </a:r>
            <a:r>
              <a:rPr lang="en-US" altLang="zh-CN" sz="1600" kern="100" dirty="0">
                <a:latin typeface="+mj-ea"/>
                <a:ea typeface="+mj-ea"/>
                <a:cs typeface="Times New Roman" panose="02020603050405020304" pitchFamily="18" charset="0"/>
              </a:rPr>
              <a:t>15%</a:t>
            </a:r>
            <a:r>
              <a:rPr lang="zh-CN" altLang="zh-CN" sz="1600" kern="100" dirty="0">
                <a:latin typeface="+mj-ea"/>
                <a:ea typeface="+mj-ea"/>
              </a:rPr>
              <a:t>，餐饮娱乐占比</a:t>
            </a:r>
            <a:r>
              <a:rPr lang="en-US" altLang="zh-CN" sz="1600" kern="100" dirty="0">
                <a:latin typeface="+mj-ea"/>
                <a:ea typeface="+mj-ea"/>
                <a:cs typeface="Times New Roman" panose="02020603050405020304" pitchFamily="18" charset="0"/>
              </a:rPr>
              <a:t>20%</a:t>
            </a:r>
            <a:r>
              <a:rPr lang="zh-CN" altLang="zh-CN" sz="1600" kern="100" dirty="0">
                <a:latin typeface="+mj-ea"/>
                <a:ea typeface="+mj-ea"/>
              </a:rPr>
              <a:t>，交通枢纽占比</a:t>
            </a:r>
            <a:r>
              <a:rPr lang="en-US" altLang="zh-CN" sz="1600" kern="100" dirty="0">
                <a:latin typeface="+mj-ea"/>
                <a:ea typeface="+mj-ea"/>
                <a:cs typeface="Times New Roman" panose="02020603050405020304" pitchFamily="18" charset="0"/>
              </a:rPr>
              <a:t>5%</a:t>
            </a:r>
            <a:r>
              <a:rPr lang="zh-CN" altLang="zh-CN" sz="1600" kern="100" dirty="0">
                <a:latin typeface="+mj-ea"/>
                <a:ea typeface="+mj-ea"/>
              </a:rPr>
              <a:t>，居民小区占比</a:t>
            </a:r>
            <a:r>
              <a:rPr lang="en-US" altLang="zh-CN" sz="1600" kern="100" dirty="0">
                <a:latin typeface="+mj-ea"/>
                <a:ea typeface="+mj-ea"/>
                <a:cs typeface="Times New Roman" panose="02020603050405020304" pitchFamily="18" charset="0"/>
              </a:rPr>
              <a:t>20%</a:t>
            </a:r>
            <a:r>
              <a:rPr lang="zh-CN" altLang="zh-CN" sz="1600" kern="100" dirty="0">
                <a:latin typeface="+mj-ea"/>
                <a:ea typeface="+mj-ea"/>
              </a:rPr>
              <a:t>，商场、大型超市占比</a:t>
            </a:r>
            <a:r>
              <a:rPr lang="en-US" altLang="zh-CN" sz="1600" kern="100" dirty="0">
                <a:latin typeface="+mj-ea"/>
                <a:ea typeface="+mj-ea"/>
                <a:cs typeface="Times New Roman" panose="02020603050405020304" pitchFamily="18" charset="0"/>
              </a:rPr>
              <a:t>10%</a:t>
            </a:r>
            <a:r>
              <a:rPr lang="zh-CN" altLang="zh-CN" sz="1600" kern="100" dirty="0">
                <a:latin typeface="+mj-ea"/>
                <a:ea typeface="+mj-ea"/>
              </a:rPr>
              <a:t>，学校占比</a:t>
            </a:r>
            <a:r>
              <a:rPr lang="en-US" altLang="zh-CN" sz="1600" kern="100" dirty="0">
                <a:latin typeface="+mj-ea"/>
                <a:ea typeface="+mj-ea"/>
                <a:cs typeface="Times New Roman" panose="02020603050405020304" pitchFamily="18" charset="0"/>
              </a:rPr>
              <a:t>10%</a:t>
            </a:r>
            <a:endParaRPr lang="zh-CN" altLang="zh-CN" sz="1600" kern="100" dirty="0">
              <a:latin typeface="+mj-ea"/>
              <a:ea typeface="+mj-ea"/>
            </a:endParaRPr>
          </a:p>
          <a:p>
            <a:pPr marL="285750" indent="-285750">
              <a:spcBef>
                <a:spcPts val="600"/>
              </a:spcBef>
              <a:spcAft>
                <a:spcPts val="600"/>
              </a:spcAft>
              <a:buFont typeface="Arial" panose="020B0604020202020204" pitchFamily="34" charset="0"/>
              <a:buChar char="•"/>
            </a:pPr>
            <a:r>
              <a:rPr lang="en-US" altLang="zh-CN" kern="100" dirty="0">
                <a:latin typeface="+mj-ea"/>
                <a:ea typeface="+mj-ea"/>
              </a:rPr>
              <a:t>b.  </a:t>
            </a:r>
            <a:r>
              <a:rPr lang="zh-CN" altLang="zh-CN" kern="100" dirty="0">
                <a:latin typeface="+mj-ea"/>
                <a:ea typeface="+mj-ea"/>
              </a:rPr>
              <a:t>楼层选择</a:t>
            </a:r>
          </a:p>
          <a:p>
            <a:pPr indent="304800">
              <a:spcBef>
                <a:spcPts val="600"/>
              </a:spcBef>
              <a:spcAft>
                <a:spcPts val="600"/>
              </a:spcAft>
              <a:tabLst>
                <a:tab pos="266700" algn="l"/>
              </a:tabLst>
            </a:pPr>
            <a:r>
              <a:rPr lang="zh-CN" altLang="zh-CN" sz="1600" kern="100" dirty="0">
                <a:latin typeface="+mj-ea"/>
                <a:ea typeface="+mj-ea"/>
              </a:rPr>
              <a:t>五层以下楼宇选取底层，共一层；二十层以下楼宇选取底层、高层各一层，共两层；二十层以上楼宇选取底层、中间层、高层各一层，共三层。</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1064895" y="2073622"/>
            <a:ext cx="228790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测试场景规范</a:t>
            </a:r>
          </a:p>
        </p:txBody>
      </p:sp>
      <p:sp>
        <p:nvSpPr>
          <p:cNvPr id="2" name="矩形 1"/>
          <p:cNvSpPr/>
          <p:nvPr/>
        </p:nvSpPr>
        <p:spPr>
          <a:xfrm>
            <a:off x="6178762" y="1337021"/>
            <a:ext cx="5158105" cy="5047536"/>
          </a:xfrm>
          <a:prstGeom prst="rect">
            <a:avLst/>
          </a:prstGeom>
        </p:spPr>
        <p:txBody>
          <a:bodyPr wrap="square">
            <a:spAutoFit/>
          </a:bodyPr>
          <a:lstStyle/>
          <a:p>
            <a:pPr marL="285750" lvl="0" indent="-285750">
              <a:spcBef>
                <a:spcPts val="600"/>
              </a:spcBef>
              <a:spcAft>
                <a:spcPts val="600"/>
              </a:spcAft>
              <a:buFont typeface="Arial" panose="020B0604020202020204" pitchFamily="34" charset="0"/>
              <a:buChar char="•"/>
            </a:pPr>
            <a:r>
              <a:rPr lang="en-US" altLang="zh-CN" kern="100" dirty="0">
                <a:latin typeface="+mj-ea"/>
              </a:rPr>
              <a:t>c.  </a:t>
            </a:r>
            <a:r>
              <a:rPr lang="zh-CN" altLang="zh-CN" kern="100" dirty="0">
                <a:latin typeface="+mj-ea"/>
              </a:rPr>
              <a:t>测试区域</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办公楼宇主要测试区域为客户接待区、办公区、休息区</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居民小区主要测试区域为社区休闲区、体育活动区、楼宇楼道、电梯间。无法进楼的居民小区务必进行楼宇间道路测试，选取居民小区核心区域</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宾馆酒店主要测试区域为大堂、休闲区、客房（有条件进入）</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商场（大型超市）主要测试区域为服务台、休息区、休闲区、主要购物区域</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餐饮娱乐场所主要测试区域为接待区、客户包房区域</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工业园区的主要测试区域为员工宿舍、公共活动区域</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学校的主要测试区域为主教学楼、宿舍楼和图书馆</a:t>
            </a:r>
          </a:p>
          <a:p>
            <a:pPr marL="285750" lvl="0" indent="-285750">
              <a:spcBef>
                <a:spcPts val="600"/>
              </a:spcBef>
              <a:spcAft>
                <a:spcPts val="600"/>
              </a:spcAft>
              <a:buFont typeface="Wingdings" panose="05000000000000000000" pitchFamily="2" charset="2"/>
              <a:buChar char="Ø"/>
              <a:tabLst>
                <a:tab pos="266700" algn="l"/>
              </a:tabLst>
            </a:pPr>
            <a:r>
              <a:rPr lang="zh-CN" altLang="zh-CN" sz="1600" kern="100" dirty="0">
                <a:latin typeface="+mj-ea"/>
              </a:rPr>
              <a:t>交通枢纽的主要测试区域为机场大厅，到达区，火车站售票厅、休息区，大型地铁中转站点</a:t>
            </a:r>
          </a:p>
        </p:txBody>
      </p:sp>
      <p:sp>
        <p:nvSpPr>
          <p:cNvPr id="4" name="矩形 3"/>
          <p:cNvSpPr/>
          <p:nvPr/>
        </p:nvSpPr>
        <p:spPr>
          <a:xfrm>
            <a:off x="1386628" y="3436017"/>
            <a:ext cx="4936067" cy="2492990"/>
          </a:xfrm>
          <a:prstGeom prst="rect">
            <a:avLst/>
          </a:prstGeom>
        </p:spPr>
        <p:txBody>
          <a:bodyPr wrap="square">
            <a:spAutoFit/>
          </a:bodyPr>
          <a:lstStyle/>
          <a:p>
            <a:pPr marL="285750" lvl="0" indent="-285750">
              <a:spcBef>
                <a:spcPts val="600"/>
              </a:spcBef>
              <a:spcAft>
                <a:spcPts val="600"/>
              </a:spcAft>
              <a:buFont typeface="Arial" panose="020B0604020202020204" pitchFamily="34" charset="0"/>
              <a:buChar char="•"/>
            </a:pPr>
            <a:r>
              <a:rPr lang="en-US" altLang="zh-CN" kern="100" dirty="0">
                <a:latin typeface="+mj-ea"/>
              </a:rPr>
              <a:t>d.  GPS</a:t>
            </a:r>
            <a:r>
              <a:rPr lang="zh-CN" altLang="zh-CN" kern="100" dirty="0">
                <a:latin typeface="+mj-ea"/>
              </a:rPr>
              <a:t>定位</a:t>
            </a:r>
          </a:p>
          <a:p>
            <a:pPr indent="304800">
              <a:spcBef>
                <a:spcPts val="600"/>
              </a:spcBef>
              <a:spcAft>
                <a:spcPts val="600"/>
              </a:spcAft>
              <a:tabLst>
                <a:tab pos="266700" algn="l"/>
              </a:tabLst>
            </a:pPr>
            <a:r>
              <a:rPr lang="zh-CN" altLang="zh-CN" kern="100" dirty="0">
                <a:latin typeface="+mj-ea"/>
              </a:rPr>
              <a:t>测试人员进入楼宇前需首先进入</a:t>
            </a:r>
            <a:r>
              <a:rPr lang="en-US" altLang="zh-CN" kern="100" dirty="0">
                <a:latin typeface="+mj-ea"/>
                <a:cs typeface="Times New Roman" panose="02020603050405020304" pitchFamily="18" charset="0"/>
              </a:rPr>
              <a:t>GPS</a:t>
            </a:r>
            <a:r>
              <a:rPr lang="zh-CN" altLang="zh-CN" kern="100" dirty="0">
                <a:latin typeface="+mj-ea"/>
              </a:rPr>
              <a:t>定位、上报测试点。</a:t>
            </a:r>
          </a:p>
          <a:p>
            <a:pPr marL="285750" lvl="0" indent="-285750">
              <a:spcBef>
                <a:spcPts val="600"/>
              </a:spcBef>
              <a:spcAft>
                <a:spcPts val="600"/>
              </a:spcAft>
              <a:buFont typeface="Arial" panose="020B0604020202020204" pitchFamily="34" charset="0"/>
              <a:buChar char="•"/>
            </a:pPr>
            <a:r>
              <a:rPr lang="en-US" altLang="zh-CN" kern="100" dirty="0">
                <a:latin typeface="+mj-ea"/>
              </a:rPr>
              <a:t>e.  </a:t>
            </a:r>
            <a:r>
              <a:rPr lang="zh-CN" altLang="zh-CN" kern="100" dirty="0">
                <a:latin typeface="+mj-ea"/>
              </a:rPr>
              <a:t>测试仪表及数据处理</a:t>
            </a:r>
          </a:p>
          <a:p>
            <a:pPr indent="304800">
              <a:spcBef>
                <a:spcPts val="600"/>
              </a:spcBef>
              <a:spcAft>
                <a:spcPts val="600"/>
              </a:spcAft>
              <a:tabLst>
                <a:tab pos="266700" algn="l"/>
              </a:tabLst>
            </a:pPr>
            <a:r>
              <a:rPr lang="zh-CN" altLang="zh-CN" kern="100" dirty="0">
                <a:latin typeface="+mj-ea"/>
              </a:rPr>
              <a:t>必须使用集团集采或业内成熟的测试仪器仪表，数据处理采用集团自动路测平台、商用终端平台进行统一汇总统计。</a:t>
            </a:r>
          </a:p>
        </p:txBody>
      </p:sp>
      <p:sp>
        <p:nvSpPr>
          <p:cNvPr id="5" name="矩形 4"/>
          <p:cNvSpPr/>
          <p:nvPr/>
        </p:nvSpPr>
        <p:spPr>
          <a:xfrm>
            <a:off x="1064895" y="2723439"/>
            <a:ext cx="1781257" cy="369332"/>
          </a:xfrm>
          <a:prstGeom prst="rect">
            <a:avLst/>
          </a:prstGeom>
        </p:spPr>
        <p:txBody>
          <a:bodyPr wrap="none">
            <a:spAutoFit/>
          </a:bodyPr>
          <a:lstStyle/>
          <a:p>
            <a:pPr indent="304800">
              <a:spcBef>
                <a:spcPts val="600"/>
              </a:spcBef>
              <a:spcAft>
                <a:spcPts val="600"/>
              </a:spcAft>
            </a:pPr>
            <a:r>
              <a:rPr lang="en-US" altLang="zh-CN" kern="100" dirty="0">
                <a:solidFill>
                  <a:srgbClr val="FF0000"/>
                </a:solidFill>
                <a:latin typeface="+mj-ea"/>
              </a:rPr>
              <a:t>2</a:t>
            </a:r>
            <a:r>
              <a:rPr lang="zh-CN" altLang="zh-CN" kern="100" dirty="0">
                <a:solidFill>
                  <a:srgbClr val="FF0000"/>
                </a:solidFill>
                <a:latin typeface="+mj-ea"/>
              </a:rPr>
              <a:t>）室内测试</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3.2  </a:t>
            </a:r>
            <a:r>
              <a:rPr kumimoji="1" lang="zh-CN" altLang="en-US" sz="1900" b="1" dirty="0">
                <a:latin typeface="微软雅黑" panose="020B0503020204020204" charset="-122"/>
                <a:ea typeface="微软雅黑" panose="020B0503020204020204" charset="-122"/>
                <a:cs typeface="微软雅黑" panose="020B0503020204020204" charset="-122"/>
              </a:rPr>
              <a:t>测试规范与要求</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1"/>
          <p:cNvSpPr txBox="1"/>
          <p:nvPr/>
        </p:nvSpPr>
        <p:spPr bwMode="auto">
          <a:xfrm>
            <a:off x="957370" y="213610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测试时间</a:t>
            </a:r>
          </a:p>
        </p:txBody>
      </p:sp>
      <p:sp>
        <p:nvSpPr>
          <p:cNvPr id="10" name="矩形 9"/>
          <p:cNvSpPr/>
          <p:nvPr/>
        </p:nvSpPr>
        <p:spPr>
          <a:xfrm>
            <a:off x="1969810" y="3337544"/>
            <a:ext cx="8252379" cy="961289"/>
          </a:xfrm>
          <a:prstGeom prst="rect">
            <a:avLst/>
          </a:prstGeom>
        </p:spPr>
        <p:txBody>
          <a:bodyPr wrap="square">
            <a:spAutoFit/>
          </a:bodyPr>
          <a:lstStyle/>
          <a:p>
            <a:pPr>
              <a:lnSpc>
                <a:spcPct val="150000"/>
              </a:lnSpc>
            </a:pPr>
            <a:r>
              <a:rPr lang="zh-CN" altLang="en-US" sz="2000" dirty="0">
                <a:latin typeface="+mj-ea"/>
                <a:ea typeface="+mj-ea"/>
              </a:rPr>
              <a:t>城区、干道、室内测试需在</a:t>
            </a:r>
            <a:r>
              <a:rPr lang="en-US" altLang="zh-CN" sz="2000" dirty="0">
                <a:latin typeface="+mj-ea"/>
                <a:ea typeface="+mj-ea"/>
              </a:rPr>
              <a:t>8:00-22:00</a:t>
            </a:r>
            <a:r>
              <a:rPr lang="zh-CN" altLang="en-US" sz="2000" dirty="0">
                <a:latin typeface="+mj-ea"/>
                <a:ea typeface="+mj-ea"/>
              </a:rPr>
              <a:t>进行；高速测试安排在每天</a:t>
            </a:r>
            <a:r>
              <a:rPr lang="en-US" altLang="zh-CN" sz="2000" dirty="0">
                <a:latin typeface="+mj-ea"/>
                <a:ea typeface="+mj-ea"/>
              </a:rPr>
              <a:t>7:30-19:30</a:t>
            </a:r>
            <a:r>
              <a:rPr lang="zh-CN" altLang="en-US" sz="2000" dirty="0">
                <a:latin typeface="+mj-ea"/>
                <a:ea typeface="+mj-ea"/>
              </a:rPr>
              <a:t>之间进行；铁路测试根据铁路客票情况安排。</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3.3  RSRP,RSRQ,SINR,RSSI</a:t>
            </a:r>
            <a:r>
              <a:rPr kumimoji="1" lang="zh-CN" altLang="en-US" sz="1900" b="1" dirty="0">
                <a:latin typeface="微软雅黑" panose="020B0503020204020204" charset="-122"/>
                <a:ea typeface="微软雅黑" panose="020B0503020204020204" charset="-122"/>
                <a:cs typeface="微软雅黑" panose="020B0503020204020204" charset="-122"/>
              </a:rPr>
              <a:t>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矩形 1"/>
          <p:cNvSpPr/>
          <p:nvPr/>
        </p:nvSpPr>
        <p:spPr>
          <a:xfrm>
            <a:off x="1124585" y="2494296"/>
            <a:ext cx="10420563" cy="1246495"/>
          </a:xfrm>
          <a:prstGeom prst="rect">
            <a:avLst/>
          </a:prstGeom>
        </p:spPr>
        <p:txBody>
          <a:bodyPr wrap="square">
            <a:spAutoFit/>
          </a:bodyPr>
          <a:lstStyle/>
          <a:p>
            <a:pPr>
              <a:lnSpc>
                <a:spcPct val="150000"/>
              </a:lnSpc>
            </a:pPr>
            <a:r>
              <a:rPr lang="en-US" altLang="zh-CN" b="1" dirty="0">
                <a:solidFill>
                  <a:srgbClr val="FF0000"/>
                </a:solidFill>
                <a:latin typeface="+mj-ea"/>
              </a:rPr>
              <a:t>RSRP</a:t>
            </a:r>
            <a:r>
              <a:rPr lang="zh-CN" altLang="zh-CN" b="1" dirty="0">
                <a:solidFill>
                  <a:srgbClr val="FF0000"/>
                </a:solidFill>
                <a:latin typeface="+mj-ea"/>
              </a:rPr>
              <a:t>（</a:t>
            </a:r>
            <a:r>
              <a:rPr lang="en-US" altLang="zh-CN" b="1" dirty="0">
                <a:solidFill>
                  <a:srgbClr val="FF0000"/>
                </a:solidFill>
                <a:latin typeface="+mj-ea"/>
              </a:rPr>
              <a:t>Reference Signal Receiving Power</a:t>
            </a:r>
            <a:r>
              <a:rPr lang="zh-CN" altLang="zh-CN" b="1" dirty="0">
                <a:solidFill>
                  <a:srgbClr val="FF0000"/>
                </a:solidFill>
                <a:latin typeface="+mj-ea"/>
              </a:rPr>
              <a:t>）参考信号接收功率</a:t>
            </a:r>
            <a:r>
              <a:rPr lang="zh-CN" altLang="zh-CN" dirty="0">
                <a:latin typeface="+mj-ea"/>
              </a:rPr>
              <a:t>，</a:t>
            </a:r>
            <a:r>
              <a:rPr lang="zh-CN" altLang="zh-CN" sz="1600" dirty="0">
                <a:latin typeface="+mj-ea"/>
              </a:rPr>
              <a:t>用于衡量某扇区的参考信号的强度，在一定频域和时域上进行测量并滤波。可以用来估计</a:t>
            </a:r>
            <a:r>
              <a:rPr lang="en-US" altLang="zh-CN" sz="1600" dirty="0">
                <a:latin typeface="+mj-ea"/>
              </a:rPr>
              <a:t>UE</a:t>
            </a:r>
            <a:r>
              <a:rPr lang="zh-CN" altLang="zh-CN" sz="1600" dirty="0">
                <a:latin typeface="+mj-ea"/>
              </a:rPr>
              <a:t>离扇区的大概路损，</a:t>
            </a:r>
            <a:r>
              <a:rPr lang="en-US" altLang="zh-CN" sz="1600" dirty="0">
                <a:latin typeface="+mj-ea"/>
              </a:rPr>
              <a:t>LTE</a:t>
            </a:r>
            <a:r>
              <a:rPr lang="zh-CN" altLang="zh-CN" sz="1600" dirty="0">
                <a:latin typeface="+mj-ea"/>
              </a:rPr>
              <a:t>系统中测量的关键对象。在小区选择中起决定作用。</a:t>
            </a:r>
          </a:p>
        </p:txBody>
      </p:sp>
      <p:sp>
        <p:nvSpPr>
          <p:cNvPr id="5" name="矩形 4"/>
          <p:cNvSpPr/>
          <p:nvPr/>
        </p:nvSpPr>
        <p:spPr>
          <a:xfrm>
            <a:off x="1064895" y="4408949"/>
            <a:ext cx="4817533" cy="1246495"/>
          </a:xfrm>
          <a:prstGeom prst="rect">
            <a:avLst/>
          </a:prstGeom>
        </p:spPr>
        <p:txBody>
          <a:bodyPr wrap="square">
            <a:spAutoFit/>
          </a:bodyPr>
          <a:lstStyle/>
          <a:p>
            <a:pPr>
              <a:lnSpc>
                <a:spcPct val="150000"/>
              </a:lnSpc>
            </a:pPr>
            <a:r>
              <a:rPr lang="fr-FR" altLang="zh-CN" b="1" kern="1800" dirty="0">
                <a:solidFill>
                  <a:srgbClr val="FF0000"/>
                </a:solidFill>
                <a:latin typeface="+mj-ea"/>
                <a:cs typeface="Times New Roman" panose="02020603050405020304"/>
              </a:rPr>
              <a:t>RSRP</a:t>
            </a:r>
            <a:r>
              <a:rPr lang="zh-CN" altLang="zh-CN" b="1" kern="1800" dirty="0">
                <a:solidFill>
                  <a:srgbClr val="FF0000"/>
                </a:solidFill>
                <a:latin typeface="+mj-ea"/>
                <a:cs typeface="Times New Roman" panose="02020603050405020304"/>
              </a:rPr>
              <a:t>是一个表示接收信号强度的绝对值</a:t>
            </a:r>
            <a:r>
              <a:rPr lang="zh-CN" altLang="zh-CN" kern="1800" dirty="0">
                <a:latin typeface="+mj-ea"/>
                <a:cs typeface="Times New Roman" panose="02020603050405020304"/>
              </a:rPr>
              <a:t>，</a:t>
            </a:r>
            <a:r>
              <a:rPr lang="zh-CN" altLang="zh-CN" sz="1600" kern="1800" dirty="0">
                <a:latin typeface="+mj-ea"/>
                <a:cs typeface="Times New Roman" panose="02020603050405020304"/>
              </a:rPr>
              <a:t>一定程度上可反映移动台距离基站的远近，因此这个</a:t>
            </a:r>
            <a:r>
              <a:rPr lang="fr-FR" altLang="zh-CN" sz="1600" kern="1800" dirty="0">
                <a:latin typeface="+mj-ea"/>
                <a:cs typeface="Times New Roman" panose="02020603050405020304"/>
              </a:rPr>
              <a:t>KPI</a:t>
            </a:r>
            <a:r>
              <a:rPr lang="zh-CN" altLang="zh-CN" sz="1600" kern="1800" dirty="0">
                <a:latin typeface="+mj-ea"/>
                <a:cs typeface="Times New Roman" panose="02020603050405020304"/>
              </a:rPr>
              <a:t>值可以用来度量小区覆盖范围大小</a:t>
            </a:r>
            <a:r>
              <a:rPr lang="zh-CN" altLang="zh-CN" sz="1600" kern="1800" dirty="0">
                <a:solidFill>
                  <a:srgbClr val="404040"/>
                </a:solidFill>
                <a:latin typeface="+mj-ea"/>
                <a:cs typeface="Times New Roman" panose="02020603050405020304"/>
              </a:rPr>
              <a:t>。</a:t>
            </a:r>
            <a:endParaRPr lang="en-US" altLang="zh-CN" sz="1600" kern="1800" dirty="0">
              <a:solidFill>
                <a:srgbClr val="404040"/>
              </a:solidFill>
              <a:latin typeface="+mj-ea"/>
              <a:cs typeface="Times New Roman" panose="02020603050405020304"/>
            </a:endParaRPr>
          </a:p>
        </p:txBody>
      </p:sp>
      <p:sp>
        <p:nvSpPr>
          <p:cNvPr id="7" name="矩形 6"/>
          <p:cNvSpPr/>
          <p:nvPr/>
        </p:nvSpPr>
        <p:spPr>
          <a:xfrm>
            <a:off x="5636894" y="3952350"/>
            <a:ext cx="6096000" cy="2345257"/>
          </a:xfrm>
          <a:prstGeom prst="rect">
            <a:avLst/>
          </a:prstGeom>
        </p:spPr>
        <p:txBody>
          <a:bodyPr>
            <a:spAutoFit/>
          </a:bodyPr>
          <a:lstStyle/>
          <a:p>
            <a:pPr marL="742950" lvl="1" indent="-285750">
              <a:spcBef>
                <a:spcPts val="600"/>
              </a:spcBef>
              <a:spcAft>
                <a:spcPts val="600"/>
              </a:spcAft>
              <a:buFont typeface="Arial" panose="020B0604020202020204" pitchFamily="34" charset="0"/>
              <a:buChar char="•"/>
              <a:defRPr/>
            </a:pPr>
            <a:r>
              <a:rPr lang="zh-CN" altLang="en-US" sz="1600" kern="0" dirty="0">
                <a:solidFill>
                  <a:srgbClr val="FF0000"/>
                </a:solidFill>
                <a:latin typeface="+mj-ea"/>
              </a:rPr>
              <a:t>单位：</a:t>
            </a:r>
            <a:r>
              <a:rPr lang="en-US" altLang="zh-CN" sz="1600" kern="0" dirty="0" err="1">
                <a:solidFill>
                  <a:srgbClr val="FF0000"/>
                </a:solidFill>
                <a:latin typeface="+mj-ea"/>
              </a:rPr>
              <a:t>dBm</a:t>
            </a:r>
            <a:r>
              <a:rPr lang="en-US" altLang="zh-CN" sz="1600" kern="0" dirty="0">
                <a:solidFill>
                  <a:srgbClr val="FF0000"/>
                </a:solidFill>
                <a:latin typeface="+mj-ea"/>
              </a:rPr>
              <a:t> </a:t>
            </a:r>
            <a:r>
              <a:rPr lang="zh-CN" altLang="en-US" sz="1600" kern="0" dirty="0">
                <a:solidFill>
                  <a:srgbClr val="FF0000"/>
                </a:solidFill>
                <a:latin typeface="+mj-ea"/>
              </a:rPr>
              <a:t>，取值范围：</a:t>
            </a:r>
            <a:r>
              <a:rPr lang="en-US" altLang="zh-CN" sz="1600" kern="0" dirty="0">
                <a:solidFill>
                  <a:srgbClr val="FF0000"/>
                </a:solidFill>
                <a:latin typeface="+mj-ea"/>
              </a:rPr>
              <a:t>-140dBm</a:t>
            </a:r>
            <a:r>
              <a:rPr lang="zh-CN" altLang="en-US" sz="1600" kern="0" dirty="0">
                <a:solidFill>
                  <a:srgbClr val="FF0000"/>
                </a:solidFill>
                <a:latin typeface="+mj-ea"/>
              </a:rPr>
              <a:t>至</a:t>
            </a:r>
            <a:r>
              <a:rPr lang="en-US" altLang="zh-CN" sz="1600" kern="0" dirty="0">
                <a:solidFill>
                  <a:srgbClr val="FF0000"/>
                </a:solidFill>
                <a:latin typeface="+mj-ea"/>
              </a:rPr>
              <a:t>-40dBm</a:t>
            </a:r>
          </a:p>
          <a:p>
            <a:pPr marL="742950" lvl="1" indent="-285750">
              <a:spcBef>
                <a:spcPts val="600"/>
              </a:spcBef>
              <a:spcAft>
                <a:spcPts val="600"/>
              </a:spcAft>
              <a:buFont typeface="Arial" panose="020B0604020202020204" pitchFamily="34" charset="0"/>
              <a:buChar char="•"/>
              <a:defRPr/>
            </a:pPr>
            <a:r>
              <a:rPr lang="en-US" altLang="zh-CN" sz="1600" kern="0" dirty="0">
                <a:solidFill>
                  <a:srgbClr val="404040"/>
                </a:solidFill>
                <a:latin typeface="+mj-ea"/>
              </a:rPr>
              <a:t>RSRP</a:t>
            </a:r>
            <a:r>
              <a:rPr lang="zh-CN" altLang="zh-CN" sz="1600" kern="0" dirty="0">
                <a:solidFill>
                  <a:srgbClr val="404040"/>
                </a:solidFill>
                <a:latin typeface="+mj-ea"/>
              </a:rPr>
              <a:t>近、中、远点取值需要根据整个网络的信号强度分布来判断，对于一般情况下可以认为：近点</a:t>
            </a:r>
            <a:r>
              <a:rPr lang="en-US" altLang="zh-CN" sz="1600" kern="0" dirty="0">
                <a:solidFill>
                  <a:srgbClr val="404040"/>
                </a:solidFill>
                <a:latin typeface="+mj-ea"/>
              </a:rPr>
              <a:t>-85dBm</a:t>
            </a:r>
            <a:r>
              <a:rPr lang="zh-CN" altLang="zh-CN" sz="1600" kern="0" dirty="0">
                <a:solidFill>
                  <a:srgbClr val="404040"/>
                </a:solidFill>
                <a:latin typeface="+mj-ea"/>
              </a:rPr>
              <a:t>，中点</a:t>
            </a:r>
            <a:r>
              <a:rPr lang="en-US" altLang="zh-CN" sz="1600" kern="0" dirty="0">
                <a:solidFill>
                  <a:srgbClr val="404040"/>
                </a:solidFill>
                <a:latin typeface="+mj-ea"/>
              </a:rPr>
              <a:t>-95dBm</a:t>
            </a:r>
            <a:r>
              <a:rPr lang="zh-CN" altLang="zh-CN" sz="1600" kern="0" dirty="0">
                <a:solidFill>
                  <a:srgbClr val="404040"/>
                </a:solidFill>
                <a:latin typeface="+mj-ea"/>
              </a:rPr>
              <a:t>，远点</a:t>
            </a:r>
            <a:r>
              <a:rPr lang="en-US" altLang="zh-CN" sz="1600" kern="0" dirty="0">
                <a:solidFill>
                  <a:srgbClr val="404040"/>
                </a:solidFill>
                <a:latin typeface="+mj-ea"/>
              </a:rPr>
              <a:t>-105dBm</a:t>
            </a:r>
            <a:r>
              <a:rPr lang="zh-CN" altLang="zh-CN" sz="1600" kern="0" dirty="0">
                <a:solidFill>
                  <a:srgbClr val="404040"/>
                </a:solidFill>
                <a:latin typeface="+mj-ea"/>
              </a:rPr>
              <a:t>。</a:t>
            </a:r>
          </a:p>
          <a:p>
            <a:pPr marL="742950" lvl="1" indent="-285750" eaLnBrk="0" fontAlgn="base" hangingPunct="0">
              <a:lnSpc>
                <a:spcPct val="130000"/>
              </a:lnSpc>
              <a:spcBef>
                <a:spcPts val="600"/>
              </a:spcBef>
              <a:spcAft>
                <a:spcPts val="600"/>
              </a:spcAft>
              <a:buClr>
                <a:srgbClr val="008FD4"/>
              </a:buClr>
              <a:buSzPct val="60000"/>
              <a:buFont typeface="Arial" panose="020B0604020202020204" pitchFamily="34" charset="0"/>
              <a:buChar char="•"/>
              <a:defRPr/>
            </a:pPr>
            <a:r>
              <a:rPr lang="zh-CN" altLang="zh-CN" sz="1600" kern="0" dirty="0">
                <a:solidFill>
                  <a:srgbClr val="FF0000"/>
                </a:solidFill>
                <a:latin typeface="+mj-ea"/>
              </a:rPr>
              <a:t>目前网络参数中设置的</a:t>
            </a:r>
            <a:r>
              <a:rPr lang="en-US" altLang="zh-CN" sz="1600" kern="0" dirty="0">
                <a:solidFill>
                  <a:srgbClr val="FF0000"/>
                </a:solidFill>
                <a:latin typeface="+mj-ea"/>
              </a:rPr>
              <a:t>UE</a:t>
            </a:r>
            <a:r>
              <a:rPr lang="zh-CN" altLang="zh-CN" sz="1600" kern="0" dirty="0">
                <a:solidFill>
                  <a:srgbClr val="FF0000"/>
                </a:solidFill>
                <a:latin typeface="+mj-ea"/>
              </a:rPr>
              <a:t>驻留在小区的最低</a:t>
            </a:r>
            <a:r>
              <a:rPr lang="en-US" altLang="zh-CN" sz="1600" kern="0" dirty="0">
                <a:solidFill>
                  <a:srgbClr val="FF0000"/>
                </a:solidFill>
                <a:latin typeface="+mj-ea"/>
              </a:rPr>
              <a:t>RSRP&gt;=-120dBm</a:t>
            </a:r>
            <a:r>
              <a:rPr lang="zh-CN" altLang="zh-CN" sz="1600" kern="0" dirty="0">
                <a:solidFill>
                  <a:srgbClr val="FF0000"/>
                </a:solidFill>
                <a:latin typeface="+mj-ea"/>
              </a:rPr>
              <a:t>，</a:t>
            </a:r>
            <a:r>
              <a:rPr lang="en-US" altLang="zh-CN" sz="1600" kern="0" dirty="0">
                <a:solidFill>
                  <a:srgbClr val="FF0000"/>
                </a:solidFill>
                <a:latin typeface="+mj-ea"/>
              </a:rPr>
              <a:t>RSRP</a:t>
            </a:r>
            <a:r>
              <a:rPr lang="zh-CN" altLang="zh-CN" sz="1600" kern="0" dirty="0">
                <a:solidFill>
                  <a:srgbClr val="FF0000"/>
                </a:solidFill>
                <a:latin typeface="+mj-ea"/>
              </a:rPr>
              <a:t>边缘经验取值：</a:t>
            </a:r>
            <a:r>
              <a:rPr lang="en-US" altLang="zh-CN" sz="1600" kern="0" dirty="0">
                <a:solidFill>
                  <a:srgbClr val="FF0000"/>
                </a:solidFill>
                <a:latin typeface="+mj-ea"/>
              </a:rPr>
              <a:t>99%</a:t>
            </a:r>
            <a:r>
              <a:rPr lang="zh-CN" altLang="zh-CN" sz="1600" kern="0" dirty="0">
                <a:solidFill>
                  <a:srgbClr val="FF0000"/>
                </a:solidFill>
                <a:latin typeface="+mj-ea"/>
              </a:rPr>
              <a:t>区域，</a:t>
            </a:r>
            <a:r>
              <a:rPr lang="en-US" altLang="zh-CN" sz="1600" kern="0" dirty="0">
                <a:solidFill>
                  <a:srgbClr val="FF0000"/>
                </a:solidFill>
                <a:latin typeface="+mj-ea"/>
              </a:rPr>
              <a:t>RSRP&gt;-110dBm</a:t>
            </a:r>
            <a:r>
              <a:rPr lang="zh-CN" altLang="zh-CN" sz="1600" kern="0" dirty="0">
                <a:solidFill>
                  <a:srgbClr val="FF0000"/>
                </a:solidFill>
                <a:latin typeface="+mj-ea"/>
              </a:rPr>
              <a:t>。</a:t>
            </a:r>
          </a:p>
        </p:txBody>
      </p:sp>
      <p:sp>
        <p:nvSpPr>
          <p:cNvPr id="13" name="矩形 1"/>
          <p:cNvSpPr>
            <a:spLocks noChangeArrowheads="1"/>
          </p:cNvSpPr>
          <p:nvPr/>
        </p:nvSpPr>
        <p:spPr bwMode="auto">
          <a:xfrm>
            <a:off x="4722920" y="1465261"/>
            <a:ext cx="6121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marR="0" lvl="1"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RSRP</a:t>
            </a:r>
            <a:r>
              <a:rPr kumimoji="0" lang="zh-CN"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指示信</a:t>
            </a:r>
            <a:r>
              <a:rPr kumimoji="0"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号</a:t>
            </a:r>
            <a:r>
              <a:rPr kumimoji="0" lang="zh-CN"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覆盖</a:t>
            </a:r>
            <a:r>
              <a:rPr kumimoji="0"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强度</a:t>
            </a:r>
            <a:r>
              <a:rPr kumimoji="0" lang="zh-CN"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的参数</a:t>
            </a:r>
            <a:endParaRPr kumimoji="0"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3.3  RSRP,RSRQ,SINR,RSSI</a:t>
            </a:r>
            <a:r>
              <a:rPr kumimoji="1" lang="zh-CN" altLang="en-US" sz="1900" b="1" dirty="0">
                <a:latin typeface="微软雅黑" panose="020B0503020204020204" charset="-122"/>
                <a:ea typeface="微软雅黑" panose="020B0503020204020204" charset="-122"/>
                <a:cs typeface="微软雅黑" panose="020B0503020204020204" charset="-122"/>
              </a:rPr>
              <a:t>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8"/>
          <p:cNvSpPr txBox="1">
            <a:spLocks noChangeArrowheads="1"/>
          </p:cNvSpPr>
          <p:nvPr/>
        </p:nvSpPr>
        <p:spPr bwMode="auto">
          <a:xfrm>
            <a:off x="833160" y="2416690"/>
            <a:ext cx="4088213"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18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lnSpc>
                <a:spcPct val="130000"/>
              </a:lnSpc>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lnSpc>
                <a:spcPct val="130000"/>
              </a:lnSpc>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18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sz="1800">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sz="1800">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sz="1800">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sz="1800">
                <a:solidFill>
                  <a:schemeClr val="tx1"/>
                </a:solidFill>
                <a:latin typeface="+mn-lt"/>
                <a:ea typeface="+mn-ea"/>
              </a:defRPr>
            </a:lvl9pPr>
          </a:lstStyle>
          <a:p>
            <a:pPr marL="0" marR="0" lvl="0" indent="0" algn="l" defTabSz="914400" rtl="0" eaLnBrk="1" fontAlgn="base" latinLnBrk="0" hangingPunct="1">
              <a:lnSpc>
                <a:spcPct val="130000"/>
              </a:lnSpc>
              <a:spcBef>
                <a:spcPts val="0"/>
              </a:spcBef>
              <a:spcAft>
                <a:spcPts val="1200"/>
              </a:spcAft>
              <a:buClr>
                <a:srgbClr val="008FD4"/>
              </a:buClr>
              <a:buSzPct val="70000"/>
              <a:buNone/>
              <a:defRPr/>
            </a:pPr>
            <a:r>
              <a:rPr kumimoji="0" lang="zh-CN" altLang="en-US"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下行参考信号作用</a:t>
            </a:r>
          </a:p>
          <a:p>
            <a:pPr lvl="1" eaLnBrk="1" hangingPunct="1">
              <a:buClrTx/>
              <a:defRPr/>
            </a:pPr>
            <a:r>
              <a:rPr kumimoji="0" lang="zh-CN" altLang="en-US" sz="180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信道估计</a:t>
            </a:r>
            <a:r>
              <a:rPr kumimoji="0" lang="zh-CN" altLang="en-US" sz="18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，用于相干解调和检测，包括控制信道和数据信道</a:t>
            </a:r>
          </a:p>
          <a:p>
            <a:pPr lvl="1" eaLnBrk="1" hangingPunct="1">
              <a:buClrTx/>
              <a:defRPr/>
            </a:pPr>
            <a:r>
              <a:rPr kumimoji="0" lang="zh-CN" altLang="en-US" sz="180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导频强度的测量</a:t>
            </a:r>
            <a:r>
              <a:rPr kumimoji="0" lang="zh-CN" altLang="en-US" sz="18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，为切换、小区选择提供依据</a:t>
            </a:r>
          </a:p>
          <a:p>
            <a:pPr lvl="1" eaLnBrk="1" hangingPunct="1">
              <a:buClrTx/>
              <a:defRPr/>
            </a:pPr>
            <a:r>
              <a:rPr kumimoji="0" lang="zh-CN" altLang="en-US" sz="180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信道质量的测量</a:t>
            </a:r>
            <a:r>
              <a:rPr kumimoji="0" lang="zh-CN" altLang="en-US" sz="180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，用于调度、链路自适应</a:t>
            </a:r>
          </a:p>
        </p:txBody>
      </p:sp>
      <p:pic>
        <p:nvPicPr>
          <p:cNvPr id="10" name="Picture 8"/>
          <p:cNvPicPr>
            <a:picLocks noChangeAspect="1" noChangeArrowheads="1"/>
          </p:cNvPicPr>
          <p:nvPr/>
        </p:nvPicPr>
        <p:blipFill>
          <a:blip r:embed="rId2">
            <a:extLst>
              <a:ext uri="{28A0092B-C50C-407E-A947-70E740481C1C}">
                <a14:useLocalDpi xmlns:a14="http://schemas.microsoft.com/office/drawing/2010/main" val="0"/>
              </a:ext>
            </a:extLst>
          </a:blip>
          <a:srcRect t="-433" b="-433"/>
          <a:stretch>
            <a:fillRect/>
          </a:stretch>
        </p:blipFill>
        <p:spPr bwMode="auto">
          <a:xfrm>
            <a:off x="4921373" y="1970864"/>
            <a:ext cx="7181850" cy="4112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3.3  RSRP,RSRQ,SINR,RSSI</a:t>
            </a:r>
            <a:r>
              <a:rPr kumimoji="1" lang="zh-CN" altLang="en-US" sz="1900" b="1" dirty="0">
                <a:latin typeface="微软雅黑" panose="020B0503020204020204" charset="-122"/>
                <a:ea typeface="微软雅黑" panose="020B0503020204020204" charset="-122"/>
                <a:cs typeface="微软雅黑" panose="020B0503020204020204" charset="-122"/>
              </a:rPr>
              <a:t>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a:spLocks noChangeArrowheads="1"/>
          </p:cNvSpPr>
          <p:nvPr/>
        </p:nvSpPr>
        <p:spPr bwMode="auto">
          <a:xfrm>
            <a:off x="1925815" y="2401294"/>
            <a:ext cx="8507413" cy="138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marR="0" lvl="0" indent="0" algn="l" defTabSz="914400" rtl="0" eaLnBrk="1" fontAlgn="base" latinLnBrk="0" hangingPunct="1">
              <a:lnSpc>
                <a:spcPct val="130000"/>
              </a:lnSpc>
              <a:spcBef>
                <a:spcPts val="0"/>
              </a:spcBef>
              <a:spcAft>
                <a:spcPts val="1200"/>
              </a:spcAft>
              <a:buClr>
                <a:srgbClr val="008FD4"/>
              </a:buClr>
              <a:buSzPct val="70000"/>
              <a:buNone/>
              <a:defRPr/>
            </a:pPr>
            <a:r>
              <a:rPr kumimoji="0" lang="en-US" altLang="zh-CN" sz="1800" b="1" i="0" u="none" strike="noStrike" kern="0" cap="none" spc="0" normalizeH="0" baseline="0" noProof="0" dirty="0">
                <a:ln>
                  <a:noFill/>
                </a:ln>
                <a:solidFill>
                  <a:srgbClr val="FF0000"/>
                </a:solidFill>
                <a:effectLst/>
                <a:uLnTx/>
                <a:uFillTx/>
              </a:rPr>
              <a:t>SINR</a:t>
            </a:r>
            <a:r>
              <a:rPr kumimoji="0" lang="zh-CN" altLang="zh-CN" sz="1800" b="1" i="0" u="none" strike="noStrike" kern="0" cap="none" spc="0" normalizeH="0" baseline="0" noProof="0" dirty="0">
                <a:ln>
                  <a:noFill/>
                </a:ln>
                <a:solidFill>
                  <a:srgbClr val="FF0000"/>
                </a:solidFill>
                <a:effectLst/>
                <a:uLnTx/>
                <a:uFillTx/>
              </a:rPr>
              <a:t>（</a:t>
            </a:r>
            <a:r>
              <a:rPr kumimoji="0" lang="en-US" altLang="zh-CN" sz="1800" b="1" i="0" u="none" strike="noStrike" kern="0" cap="none" spc="0" normalizeH="0" baseline="0" noProof="0" dirty="0">
                <a:ln>
                  <a:noFill/>
                </a:ln>
                <a:solidFill>
                  <a:srgbClr val="FF0000"/>
                </a:solidFill>
                <a:effectLst/>
                <a:uLnTx/>
                <a:uFillTx/>
              </a:rPr>
              <a:t>Signal-to-Interference plus Noise Ratio</a:t>
            </a:r>
            <a:r>
              <a:rPr kumimoji="0" lang="zh-CN" altLang="zh-CN" sz="1800" b="1" i="0" u="none" strike="noStrike" kern="0" cap="none" spc="0" normalizeH="0" baseline="0" noProof="0" dirty="0">
                <a:ln>
                  <a:noFill/>
                </a:ln>
                <a:solidFill>
                  <a:srgbClr val="FF0000"/>
                </a:solidFill>
                <a:effectLst/>
                <a:uLnTx/>
                <a:uFillTx/>
              </a:rPr>
              <a:t>）也就是信号干扰噪声比，顾名思义就是信号能量除以干扰加噪声的能量</a:t>
            </a:r>
            <a:endParaRPr kumimoji="0" lang="en-US" altLang="zh-CN" sz="1800" b="1" i="0" u="none" strike="noStrike" kern="0" cap="none" spc="0" normalizeH="0" baseline="0" noProof="0" dirty="0">
              <a:ln>
                <a:noFill/>
              </a:ln>
              <a:solidFill>
                <a:srgbClr val="FF0000"/>
              </a:solidFill>
              <a:effectLst/>
              <a:uLnTx/>
              <a:uFillTx/>
            </a:endParaRPr>
          </a:p>
          <a:p>
            <a:pPr marL="0" marR="0" lvl="0" indent="0" algn="ctr" defTabSz="914400" rtl="0" eaLnBrk="1" fontAlgn="base" latinLnBrk="0" hangingPunct="1">
              <a:lnSpc>
                <a:spcPct val="130000"/>
              </a:lnSpc>
              <a:spcBef>
                <a:spcPts val="0"/>
              </a:spcBef>
              <a:spcAft>
                <a:spcPts val="1200"/>
              </a:spcAft>
              <a:buClr>
                <a:srgbClr val="008FD4"/>
              </a:buClr>
              <a:buSzPct val="70000"/>
              <a:buNone/>
              <a:defRPr/>
            </a:pPr>
            <a:r>
              <a:rPr kumimoji="0" lang="en-US" altLang="zh-CN" sz="1800" b="1" i="0" u="none" strike="noStrike" kern="0" cap="none" spc="0" normalizeH="0" baseline="0" noProof="0" dirty="0">
                <a:ln>
                  <a:noFill/>
                </a:ln>
                <a:solidFill>
                  <a:schemeClr val="tx1"/>
                </a:solidFill>
                <a:effectLst/>
                <a:uLnTx/>
                <a:uFillTx/>
              </a:rPr>
              <a:t>SINR=S/</a:t>
            </a:r>
            <a:r>
              <a:rPr kumimoji="0" lang="zh-CN" altLang="zh-CN" sz="1800" b="1" i="0" u="none" strike="noStrike" kern="0" cap="none" spc="0" normalizeH="0" baseline="0" noProof="0" dirty="0">
                <a:ln>
                  <a:noFill/>
                </a:ln>
                <a:solidFill>
                  <a:schemeClr val="tx1"/>
                </a:solidFill>
                <a:effectLst/>
                <a:uLnTx/>
                <a:uFillTx/>
              </a:rPr>
              <a:t>（</a:t>
            </a:r>
            <a:r>
              <a:rPr kumimoji="0" lang="en-US" altLang="zh-CN" sz="1800" b="1" i="0" u="none" strike="noStrike" kern="0" cap="none" spc="0" normalizeH="0" baseline="0" noProof="0" dirty="0">
                <a:ln>
                  <a:noFill/>
                </a:ln>
                <a:solidFill>
                  <a:schemeClr val="tx1"/>
                </a:solidFill>
                <a:effectLst/>
                <a:uLnTx/>
                <a:uFillTx/>
              </a:rPr>
              <a:t>I+N</a:t>
            </a:r>
            <a:r>
              <a:rPr kumimoji="0" lang="zh-CN" altLang="zh-CN" sz="1800" b="1" i="0" u="none" strike="noStrike" kern="0" cap="none" spc="0" normalizeH="0" baseline="0" noProof="0" dirty="0">
                <a:ln>
                  <a:noFill/>
                </a:ln>
                <a:solidFill>
                  <a:schemeClr val="tx1"/>
                </a:solidFill>
                <a:effectLst/>
                <a:uLnTx/>
                <a:uFillTx/>
              </a:rPr>
              <a:t>）</a:t>
            </a:r>
            <a:r>
              <a:rPr kumimoji="0" lang="en-US" altLang="zh-CN" sz="1800" b="1" i="0" u="none" strike="noStrike" kern="0" cap="none" spc="0" normalizeH="0" baseline="0" noProof="0" dirty="0">
                <a:ln>
                  <a:noFill/>
                </a:ln>
                <a:solidFill>
                  <a:schemeClr val="tx1"/>
                </a:solidFill>
                <a:effectLst/>
                <a:uLnTx/>
                <a:uFillTx/>
              </a:rPr>
              <a:t>=RSRP/(RSSI-RSRP)</a:t>
            </a:r>
            <a:endParaRPr kumimoji="0" lang="en-US" altLang="zh-CN" sz="1800" b="0" i="0" u="none" strike="noStrike" kern="0" cap="none" spc="0" normalizeH="0" baseline="0" noProof="0" dirty="0">
              <a:ln>
                <a:noFill/>
              </a:ln>
              <a:solidFill>
                <a:schemeClr val="tx1"/>
              </a:solidFill>
              <a:effectLst/>
              <a:uLnTx/>
              <a:uFillTx/>
            </a:endParaRPr>
          </a:p>
        </p:txBody>
      </p:sp>
      <p:sp>
        <p:nvSpPr>
          <p:cNvPr id="8" name="矩形 3"/>
          <p:cNvSpPr>
            <a:spLocks noChangeArrowheads="1"/>
          </p:cNvSpPr>
          <p:nvPr/>
        </p:nvSpPr>
        <p:spPr bwMode="auto">
          <a:xfrm>
            <a:off x="5016546" y="1340410"/>
            <a:ext cx="57245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marR="0" lvl="1"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SINR</a:t>
            </a:r>
            <a:r>
              <a:rPr kumimoji="0" lang="zh-CN"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指示信</a:t>
            </a:r>
            <a:r>
              <a:rPr kumimoji="0"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号覆盖质量</a:t>
            </a:r>
            <a:r>
              <a:rPr kumimoji="0" lang="zh-CN" altLang="zh-CN"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rPr>
              <a:t>的参数</a:t>
            </a:r>
            <a:endParaRPr kumimoji="0" lang="zh-CN" altLang="en-US" sz="2800" b="1" i="0" u="none" strike="noStrike" kern="0" cap="none" spc="0" normalizeH="0" baseline="0" noProof="0" dirty="0">
              <a:ln>
                <a:noFill/>
              </a:ln>
              <a:solidFill>
                <a:srgbClr val="C00000"/>
              </a:solidFill>
              <a:effectLst/>
              <a:uLnTx/>
              <a:uFillTx/>
              <a:latin typeface="Arial" panose="020B0604020202020204" pitchFamily="34" charset="0"/>
              <a:ea typeface="宋体" panose="02010600030101010101" pitchFamily="2" charset="-122"/>
            </a:endParaRPr>
          </a:p>
        </p:txBody>
      </p:sp>
      <p:sp>
        <p:nvSpPr>
          <p:cNvPr id="2" name="矩形 1"/>
          <p:cNvSpPr/>
          <p:nvPr/>
        </p:nvSpPr>
        <p:spPr>
          <a:xfrm>
            <a:off x="1772676" y="3782781"/>
            <a:ext cx="9100037" cy="2825389"/>
          </a:xfrm>
          <a:prstGeom prst="rect">
            <a:avLst/>
          </a:prstGeom>
        </p:spPr>
        <p:txBody>
          <a:bodyPr wrap="square">
            <a:spAutoFit/>
          </a:bodyPr>
          <a:lstStyle/>
          <a:p>
            <a:pPr marL="285750" lvl="0" indent="-285750" fontAlgn="base">
              <a:lnSpc>
                <a:spcPct val="130000"/>
              </a:lnSpc>
              <a:spcBef>
                <a:spcPts val="600"/>
              </a:spcBef>
              <a:spcAft>
                <a:spcPts val="600"/>
              </a:spcAft>
              <a:buSzPct val="70000"/>
              <a:buFont typeface="Arial" panose="020B0604020202020204" pitchFamily="34" charset="0"/>
              <a:buChar char="•"/>
              <a:defRPr/>
            </a:pPr>
            <a:r>
              <a:rPr lang="zh-CN" altLang="zh-CN" kern="0" dirty="0"/>
              <a:t>其中，</a:t>
            </a:r>
            <a:r>
              <a:rPr lang="en-US" altLang="zh-CN" kern="0" dirty="0"/>
              <a:t>S</a:t>
            </a:r>
            <a:r>
              <a:rPr lang="zh-CN" altLang="zh-CN" kern="0" dirty="0"/>
              <a:t>为测量到的有用信号的功率，主要关注的信号和信道有</a:t>
            </a:r>
            <a:r>
              <a:rPr lang="en-US" altLang="zh-CN" kern="0" dirty="0"/>
              <a:t>RS</a:t>
            </a:r>
            <a:r>
              <a:rPr lang="zh-CN" altLang="zh-CN" kern="0" dirty="0"/>
              <a:t>和</a:t>
            </a:r>
            <a:r>
              <a:rPr lang="en-US" altLang="zh-CN" kern="0" dirty="0"/>
              <a:t>PDSCH</a:t>
            </a:r>
            <a:r>
              <a:rPr lang="zh-CN" altLang="zh-CN" kern="0" dirty="0"/>
              <a:t>。</a:t>
            </a:r>
            <a:r>
              <a:rPr lang="en-US" altLang="zh-CN" kern="0" dirty="0"/>
              <a:t>I</a:t>
            </a:r>
            <a:r>
              <a:rPr lang="zh-CN" altLang="zh-CN" kern="0" dirty="0"/>
              <a:t>：测量到的信号或信道干扰信号的功率，包括本系统其他小区的干扰以及异系统的干扰。</a:t>
            </a:r>
            <a:r>
              <a:rPr lang="en-US" altLang="zh-CN" kern="0" dirty="0"/>
              <a:t>N</a:t>
            </a:r>
            <a:r>
              <a:rPr lang="zh-CN" altLang="zh-CN" kern="0" dirty="0"/>
              <a:t>：底噪，与具体测量带宽和接收机噪声系数有关。</a:t>
            </a:r>
            <a:endParaRPr lang="en-US" altLang="zh-CN" kern="0" dirty="0"/>
          </a:p>
          <a:p>
            <a:pPr marL="285750" indent="-285750">
              <a:spcBef>
                <a:spcPts val="600"/>
              </a:spcBef>
              <a:spcAft>
                <a:spcPts val="600"/>
              </a:spcAft>
              <a:buFont typeface="Arial" panose="020B0604020202020204" pitchFamily="34" charset="0"/>
              <a:buChar char="•"/>
            </a:pPr>
            <a:r>
              <a:rPr lang="zh-CN" altLang="zh-CN" dirty="0"/>
              <a:t>一般情况下</a:t>
            </a:r>
            <a:r>
              <a:rPr lang="en-US" altLang="zh-CN" dirty="0"/>
              <a:t>SINR</a:t>
            </a:r>
            <a:r>
              <a:rPr lang="zh-CN" altLang="zh-CN" dirty="0"/>
              <a:t>是指</a:t>
            </a:r>
            <a:r>
              <a:rPr lang="en-US" altLang="zh-CN" dirty="0"/>
              <a:t>CRS</a:t>
            </a:r>
            <a:r>
              <a:rPr lang="zh-CN" altLang="zh-CN" dirty="0"/>
              <a:t>的</a:t>
            </a:r>
            <a:r>
              <a:rPr lang="en-US" altLang="zh-CN" dirty="0"/>
              <a:t>SINR</a:t>
            </a:r>
            <a:r>
              <a:rPr lang="zh-CN" altLang="zh-CN" dirty="0"/>
              <a:t>，即关注测量频率带宽内的小区，小区的参考信号的无线资源的信号干扰噪声比。</a:t>
            </a:r>
          </a:p>
          <a:p>
            <a:pPr marL="285750" indent="-285750">
              <a:spcBef>
                <a:spcPts val="600"/>
              </a:spcBef>
              <a:spcAft>
                <a:spcPts val="600"/>
              </a:spcAft>
              <a:buFont typeface="Arial" panose="020B0604020202020204" pitchFamily="34" charset="0"/>
              <a:buChar char="•"/>
            </a:pPr>
            <a:r>
              <a:rPr lang="zh-CN" altLang="zh-CN" dirty="0">
                <a:solidFill>
                  <a:srgbClr val="FF0000"/>
                </a:solidFill>
              </a:rPr>
              <a:t>单位：</a:t>
            </a:r>
            <a:r>
              <a:rPr lang="en-US" altLang="zh-CN" dirty="0">
                <a:solidFill>
                  <a:srgbClr val="FF0000"/>
                </a:solidFill>
              </a:rPr>
              <a:t>dB </a:t>
            </a:r>
            <a:r>
              <a:rPr lang="zh-CN" altLang="zh-CN" dirty="0">
                <a:solidFill>
                  <a:srgbClr val="FF0000"/>
                </a:solidFill>
              </a:rPr>
              <a:t>，取值范围：</a:t>
            </a:r>
            <a:r>
              <a:rPr lang="en-US" altLang="zh-CN" dirty="0">
                <a:solidFill>
                  <a:srgbClr val="FF0000"/>
                </a:solidFill>
              </a:rPr>
              <a:t>-20dB</a:t>
            </a:r>
            <a:r>
              <a:rPr lang="zh-CN" altLang="zh-CN" dirty="0">
                <a:solidFill>
                  <a:srgbClr val="FF0000"/>
                </a:solidFill>
              </a:rPr>
              <a:t>至</a:t>
            </a:r>
            <a:r>
              <a:rPr lang="en-US" altLang="zh-CN" dirty="0">
                <a:solidFill>
                  <a:srgbClr val="FF0000"/>
                </a:solidFill>
              </a:rPr>
              <a:t>50dB</a:t>
            </a:r>
            <a:endParaRPr lang="zh-CN" altLang="zh-CN" kern="0" dirty="0">
              <a:solidFill>
                <a:srgbClr val="FF0000"/>
              </a:solidFill>
            </a:endParaRPr>
          </a:p>
          <a:p>
            <a:pPr marL="285750" lvl="0" indent="-285750" fontAlgn="base">
              <a:lnSpc>
                <a:spcPct val="130000"/>
              </a:lnSpc>
              <a:spcBef>
                <a:spcPts val="600"/>
              </a:spcBef>
              <a:spcAft>
                <a:spcPts val="600"/>
              </a:spcAft>
              <a:buSzPct val="70000"/>
              <a:buFont typeface="Arial" panose="020B0604020202020204" pitchFamily="34" charset="0"/>
              <a:buChar char="•"/>
              <a:defRPr/>
            </a:pPr>
            <a:r>
              <a:rPr lang="en-US" altLang="zh-CN" kern="0" dirty="0">
                <a:solidFill>
                  <a:srgbClr val="FF0000"/>
                </a:solidFill>
              </a:rPr>
              <a:t>SINR</a:t>
            </a:r>
            <a:r>
              <a:rPr lang="zh-CN" altLang="zh-CN" kern="0" dirty="0">
                <a:solidFill>
                  <a:srgbClr val="FF0000"/>
                </a:solidFill>
              </a:rPr>
              <a:t>边缘经验取值：</a:t>
            </a:r>
            <a:r>
              <a:rPr lang="en-US" altLang="zh-CN" kern="0" dirty="0">
                <a:solidFill>
                  <a:srgbClr val="FF0000"/>
                </a:solidFill>
              </a:rPr>
              <a:t>99%</a:t>
            </a:r>
            <a:r>
              <a:rPr lang="zh-CN" altLang="zh-CN" kern="0" dirty="0">
                <a:solidFill>
                  <a:srgbClr val="FF0000"/>
                </a:solidFill>
              </a:rPr>
              <a:t>区域，</a:t>
            </a:r>
            <a:r>
              <a:rPr lang="en-US" altLang="zh-CN" kern="0" dirty="0">
                <a:solidFill>
                  <a:srgbClr val="FF0000"/>
                </a:solidFill>
              </a:rPr>
              <a:t>SINR&gt;3dB</a:t>
            </a:r>
            <a:r>
              <a:rPr lang="zh-CN" altLang="zh-CN" kern="0" dirty="0">
                <a:solidFill>
                  <a:srgbClr val="FF0000"/>
                </a:solidFill>
              </a:rP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3.3  RSRP,RSRQ,SINR,RSSI</a:t>
            </a:r>
            <a:r>
              <a:rPr kumimoji="1" lang="zh-CN" altLang="en-US" sz="1900" b="1" dirty="0">
                <a:latin typeface="微软雅黑" panose="020B0503020204020204" charset="-122"/>
                <a:ea typeface="微软雅黑" panose="020B0503020204020204" charset="-122"/>
                <a:cs typeface="微软雅黑" panose="020B0503020204020204" charset="-122"/>
              </a:rPr>
              <a:t>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bwMode="auto">
          <a:xfrm>
            <a:off x="1785104" y="2350310"/>
            <a:ext cx="9075182" cy="1434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lvl="0" indent="0" defTabSz="914400">
              <a:spcBef>
                <a:spcPts val="0"/>
              </a:spcBef>
              <a:spcAft>
                <a:spcPts val="1200"/>
              </a:spcAft>
              <a:buNone/>
            </a:pPr>
            <a:r>
              <a:rPr kumimoji="0" lang="en-US" altLang="zh-CN" sz="20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rPr>
              <a:t>Reference Signal Received Quality (RSRQ)</a:t>
            </a:r>
            <a:r>
              <a:rPr lang="zh-CN" altLang="zh-CN" sz="2000" b="1" dirty="0">
                <a:solidFill>
                  <a:srgbClr val="FF0000"/>
                </a:solidFill>
              </a:rPr>
              <a:t>参考信号接收质量</a:t>
            </a:r>
            <a:r>
              <a:rPr lang="zh-CN" altLang="zh-CN" sz="2000" dirty="0">
                <a:solidFill>
                  <a:schemeClr val="tx1"/>
                </a:solidFill>
              </a:rPr>
              <a:t>，小区参考信号功率相对小区所有信号功率（</a:t>
            </a:r>
            <a:r>
              <a:rPr lang="en-US" altLang="zh-CN" sz="2000" dirty="0">
                <a:solidFill>
                  <a:schemeClr val="tx1"/>
                </a:solidFill>
              </a:rPr>
              <a:t>RSSI</a:t>
            </a:r>
            <a:r>
              <a:rPr lang="zh-CN" altLang="zh-CN" sz="2000" dirty="0">
                <a:solidFill>
                  <a:schemeClr val="tx1"/>
                </a:solidFill>
              </a:rPr>
              <a:t>）的比值。</a:t>
            </a:r>
            <a:endParaRPr lang="en-US" altLang="zh-CN" sz="2000" dirty="0">
              <a:solidFill>
                <a:schemeClr val="tx1"/>
              </a:solidFill>
            </a:endParaRPr>
          </a:p>
          <a:p>
            <a:pPr marL="0" lvl="0" indent="0" algn="ctr" defTabSz="914400">
              <a:spcBef>
                <a:spcPts val="0"/>
              </a:spcBef>
              <a:spcAft>
                <a:spcPts val="1200"/>
              </a:spcAft>
              <a:buNone/>
            </a:pPr>
            <a:r>
              <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rPr>
              <a:t>RSRQ=N*RSRP/RSSI</a:t>
            </a:r>
          </a:p>
        </p:txBody>
      </p:sp>
      <p:sp>
        <p:nvSpPr>
          <p:cNvPr id="4" name="矩形 3"/>
          <p:cNvSpPr/>
          <p:nvPr/>
        </p:nvSpPr>
        <p:spPr>
          <a:xfrm>
            <a:off x="1601254" y="3908371"/>
            <a:ext cx="9442882" cy="2465290"/>
          </a:xfrm>
          <a:prstGeom prst="rect">
            <a:avLst/>
          </a:prstGeom>
        </p:spPr>
        <p:txBody>
          <a:bodyPr wrap="square">
            <a:spAutoFit/>
          </a:bodyPr>
          <a:lstStyle/>
          <a:p>
            <a:pPr marL="285750" lvl="0" indent="-285750" fontAlgn="base">
              <a:lnSpc>
                <a:spcPct val="130000"/>
              </a:lnSpc>
              <a:spcBef>
                <a:spcPts val="600"/>
              </a:spcBef>
              <a:spcAft>
                <a:spcPts val="600"/>
              </a:spcAft>
              <a:buSzPct val="70000"/>
              <a:buFont typeface="Arial" panose="020B0604020202020204" pitchFamily="34" charset="0"/>
              <a:buChar char="•"/>
              <a:defRPr/>
            </a:pPr>
            <a:r>
              <a:rPr lang="en-US" altLang="zh-CN" kern="0" dirty="0">
                <a:latin typeface="微软雅黑" panose="020B0503020204020204" charset="-122"/>
              </a:rPr>
              <a:t>N</a:t>
            </a:r>
            <a:r>
              <a:rPr lang="zh-CN" altLang="zh-CN" kern="0" dirty="0">
                <a:latin typeface="微软雅黑" panose="020B0503020204020204" charset="-122"/>
              </a:rPr>
              <a:t>为</a:t>
            </a:r>
            <a:r>
              <a:rPr lang="en-US" altLang="zh-CN" kern="0" dirty="0">
                <a:latin typeface="微软雅黑" panose="020B0503020204020204" charset="-122"/>
              </a:rPr>
              <a:t>RSSI</a:t>
            </a:r>
            <a:r>
              <a:rPr lang="zh-CN" altLang="zh-CN" kern="0" dirty="0">
                <a:latin typeface="微软雅黑" panose="020B0503020204020204" charset="-122"/>
              </a:rPr>
              <a:t>测量带宽的</a:t>
            </a:r>
            <a:r>
              <a:rPr lang="en-US" altLang="zh-CN" kern="0" dirty="0">
                <a:latin typeface="微软雅黑" panose="020B0503020204020204" charset="-122"/>
              </a:rPr>
              <a:t>RB</a:t>
            </a:r>
            <a:r>
              <a:rPr lang="zh-CN" altLang="zh-CN" kern="0" dirty="0">
                <a:latin typeface="微软雅黑" panose="020B0503020204020204" charset="-122"/>
              </a:rPr>
              <a:t>个数</a:t>
            </a:r>
            <a:r>
              <a:rPr lang="zh-CN" altLang="en-US" kern="0" dirty="0">
                <a:latin typeface="微软雅黑" panose="020B0503020204020204" charset="-122"/>
              </a:rPr>
              <a:t>。</a:t>
            </a:r>
            <a:r>
              <a:rPr lang="zh-CN" altLang="zh-CN" kern="0" dirty="0">
                <a:latin typeface="微软雅黑" panose="020B0503020204020204" charset="-122"/>
              </a:rPr>
              <a:t>当仅根据</a:t>
            </a:r>
            <a:r>
              <a:rPr lang="en-US" altLang="zh-CN" kern="0" dirty="0">
                <a:latin typeface="微软雅黑" panose="020B0503020204020204" charset="-122"/>
              </a:rPr>
              <a:t>RSRP</a:t>
            </a:r>
            <a:r>
              <a:rPr lang="zh-CN" altLang="zh-CN" kern="0" dirty="0">
                <a:latin typeface="微软雅黑" panose="020B0503020204020204" charset="-122"/>
              </a:rPr>
              <a:t>不能提供足够的信息来执行可靠的移动性管理时，根据</a:t>
            </a:r>
            <a:r>
              <a:rPr lang="en-US" altLang="zh-CN" kern="0" dirty="0">
                <a:latin typeface="微软雅黑" panose="020B0503020204020204" charset="-122"/>
              </a:rPr>
              <a:t>RSRQ</a:t>
            </a:r>
            <a:r>
              <a:rPr lang="zh-CN" altLang="zh-CN" kern="0" dirty="0">
                <a:latin typeface="微软雅黑" panose="020B0503020204020204" charset="-122"/>
              </a:rPr>
              <a:t>对</a:t>
            </a:r>
            <a:r>
              <a:rPr lang="en-US" altLang="zh-CN" kern="0" dirty="0">
                <a:latin typeface="微软雅黑" panose="020B0503020204020204" charset="-122"/>
              </a:rPr>
              <a:t>LTE</a:t>
            </a:r>
            <a:r>
              <a:rPr lang="zh-CN" altLang="zh-CN" kern="0" dirty="0">
                <a:latin typeface="微软雅黑" panose="020B0503020204020204" charset="-122"/>
              </a:rPr>
              <a:t>候选小区排序，作为切换和小区重选的输入。</a:t>
            </a:r>
            <a:endParaRPr lang="en-US" altLang="zh-CN" kern="0" dirty="0">
              <a:latin typeface="微软雅黑" panose="020B0503020204020204" charset="-122"/>
            </a:endParaRPr>
          </a:p>
          <a:p>
            <a:pPr marL="285750" indent="-285750">
              <a:spcBef>
                <a:spcPts val="600"/>
              </a:spcBef>
              <a:spcAft>
                <a:spcPts val="600"/>
              </a:spcAft>
              <a:buFont typeface="Arial" panose="020B0604020202020204" pitchFamily="34" charset="0"/>
              <a:buChar char="•"/>
            </a:pPr>
            <a:r>
              <a:rPr lang="zh-CN" altLang="zh-CN" kern="0" dirty="0"/>
              <a:t>从上面的定义很容易看出对于</a:t>
            </a:r>
            <a:r>
              <a:rPr lang="en-US" altLang="zh-CN" kern="0" dirty="0">
                <a:solidFill>
                  <a:srgbClr val="FF0000"/>
                </a:solidFill>
              </a:rPr>
              <a:t>RSRQ </a:t>
            </a:r>
            <a:r>
              <a:rPr lang="zh-CN" altLang="zh-CN" kern="0" dirty="0">
                <a:solidFill>
                  <a:srgbClr val="FF0000"/>
                </a:solidFill>
              </a:rPr>
              <a:t>和</a:t>
            </a:r>
            <a:r>
              <a:rPr lang="en-US" altLang="zh-CN" kern="0" dirty="0">
                <a:solidFill>
                  <a:srgbClr val="FF0000"/>
                </a:solidFill>
              </a:rPr>
              <a:t>SINR </a:t>
            </a:r>
            <a:r>
              <a:rPr lang="zh-CN" altLang="zh-CN" kern="0" dirty="0">
                <a:solidFill>
                  <a:srgbClr val="FF0000"/>
                </a:solidFill>
              </a:rPr>
              <a:t>来说，二者的差别就在于分母一个包含自身、干扰信号及底噪，另外一个只包括干扰和噪声</a:t>
            </a:r>
            <a:r>
              <a:rPr lang="zh-CN" altLang="zh-CN" kern="0" dirty="0"/>
              <a:t>。</a:t>
            </a:r>
            <a:endParaRPr lang="en-US" altLang="zh-CN" kern="0" dirty="0"/>
          </a:p>
          <a:p>
            <a:pPr marL="285750" indent="-285750">
              <a:spcBef>
                <a:spcPts val="600"/>
              </a:spcBef>
              <a:spcAft>
                <a:spcPts val="600"/>
              </a:spcAft>
              <a:buFont typeface="Arial" panose="020B0604020202020204" pitchFamily="34" charset="0"/>
              <a:buChar char="•"/>
            </a:pPr>
            <a:r>
              <a:rPr lang="zh-CN" altLang="zh-CN" dirty="0">
                <a:solidFill>
                  <a:srgbClr val="FF0000"/>
                </a:solidFill>
              </a:rPr>
              <a:t>单位：</a:t>
            </a:r>
            <a:r>
              <a:rPr lang="en-US" altLang="zh-CN" dirty="0">
                <a:solidFill>
                  <a:srgbClr val="FF0000"/>
                </a:solidFill>
              </a:rPr>
              <a:t>dB </a:t>
            </a:r>
            <a:r>
              <a:rPr lang="zh-CN" altLang="zh-CN" dirty="0">
                <a:solidFill>
                  <a:srgbClr val="FF0000"/>
                </a:solidFill>
              </a:rPr>
              <a:t>，取值范围：</a:t>
            </a:r>
            <a:r>
              <a:rPr lang="en-US" altLang="zh-CN" dirty="0">
                <a:solidFill>
                  <a:srgbClr val="FF0000"/>
                </a:solidFill>
              </a:rPr>
              <a:t>-40dB</a:t>
            </a:r>
            <a:r>
              <a:rPr lang="zh-CN" altLang="zh-CN" dirty="0">
                <a:solidFill>
                  <a:srgbClr val="FF0000"/>
                </a:solidFill>
              </a:rPr>
              <a:t>至</a:t>
            </a:r>
            <a:r>
              <a:rPr lang="en-US" altLang="zh-CN" dirty="0">
                <a:solidFill>
                  <a:srgbClr val="FF0000"/>
                </a:solidFill>
              </a:rPr>
              <a:t>0dB</a:t>
            </a:r>
            <a:endParaRPr lang="zh-CN" altLang="zh-CN" dirty="0">
              <a:solidFill>
                <a:srgbClr val="FF0000"/>
              </a:solidFill>
            </a:endParaRPr>
          </a:p>
          <a:p>
            <a:pPr marL="285750" lvl="0" indent="-285750" fontAlgn="base">
              <a:lnSpc>
                <a:spcPct val="130000"/>
              </a:lnSpc>
              <a:spcBef>
                <a:spcPts val="600"/>
              </a:spcBef>
              <a:spcAft>
                <a:spcPts val="600"/>
              </a:spcAft>
              <a:buSzPct val="70000"/>
              <a:buFont typeface="Arial" panose="020B0604020202020204" pitchFamily="34" charset="0"/>
              <a:buChar char="•"/>
              <a:defRPr/>
            </a:pPr>
            <a:r>
              <a:rPr lang="en-US" altLang="zh-CN" kern="0" dirty="0">
                <a:solidFill>
                  <a:srgbClr val="FF0000"/>
                </a:solidFill>
                <a:latin typeface="微软雅黑" panose="020B0503020204020204" charset="-122"/>
              </a:rPr>
              <a:t>RSRQ</a:t>
            </a:r>
            <a:r>
              <a:rPr lang="zh-CN" altLang="en-US" kern="0" dirty="0">
                <a:solidFill>
                  <a:srgbClr val="FF0000"/>
                </a:solidFill>
                <a:latin typeface="微软雅黑" panose="020B0503020204020204" charset="-122"/>
              </a:rPr>
              <a:t>的报告范围为</a:t>
            </a:r>
            <a:r>
              <a:rPr lang="en-US" altLang="zh-CN" kern="0" dirty="0">
                <a:solidFill>
                  <a:srgbClr val="FF0000"/>
                </a:solidFill>
                <a:latin typeface="微软雅黑" panose="020B0503020204020204" charset="-122"/>
              </a:rPr>
              <a:t>-3~-19.5dB</a:t>
            </a:r>
            <a:r>
              <a:rPr lang="zh-CN" altLang="zh-CN" kern="0" dirty="0">
                <a:solidFill>
                  <a:srgbClr val="FF0000"/>
                </a:solidFill>
                <a:latin typeface="微软雅黑" panose="020B0503020204020204" charset="-122"/>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3.3  RSRP,RSRQ,SINR,RSSI</a:t>
            </a:r>
            <a:r>
              <a:rPr kumimoji="1" lang="zh-CN" altLang="en-US" sz="1900" b="1" dirty="0">
                <a:latin typeface="微软雅黑" panose="020B0503020204020204" charset="-122"/>
                <a:ea typeface="微软雅黑" panose="020B0503020204020204" charset="-122"/>
                <a:cs typeface="微软雅黑" panose="020B0503020204020204" charset="-122"/>
              </a:rPr>
              <a:t>概念</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a:spLocks noChangeArrowheads="1"/>
          </p:cNvSpPr>
          <p:nvPr/>
        </p:nvSpPr>
        <p:spPr bwMode="auto">
          <a:xfrm>
            <a:off x="1779318" y="2073622"/>
            <a:ext cx="8507413" cy="273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indent="0">
              <a:spcBef>
                <a:spcPts val="0"/>
              </a:spcBef>
              <a:spcAft>
                <a:spcPts val="1200"/>
              </a:spcAft>
              <a:buNone/>
            </a:pPr>
            <a:r>
              <a:rPr kumimoji="0" lang="en-US" altLang="zh-CN" sz="1800" b="0" i="0" u="none" strike="noStrike" kern="0" cap="none" spc="0" normalizeH="0" baseline="0" noProof="0" dirty="0">
                <a:ln>
                  <a:noFill/>
                </a:ln>
                <a:solidFill>
                  <a:srgbClr val="FF0000"/>
                </a:solidFill>
                <a:effectLst/>
                <a:uLnTx/>
                <a:uFillTx/>
              </a:rPr>
              <a:t>Received Signal Strength Indicator</a:t>
            </a:r>
            <a:r>
              <a:rPr kumimoji="0" lang="zh-CN" altLang="zh-CN" sz="1800" b="0" i="0" u="none" strike="noStrike" kern="0" cap="none" spc="0" normalizeH="0" baseline="0" noProof="0" dirty="0">
                <a:ln>
                  <a:noFill/>
                </a:ln>
                <a:solidFill>
                  <a:srgbClr val="FF0000"/>
                </a:solidFill>
                <a:effectLst/>
                <a:uLnTx/>
                <a:uFillTx/>
              </a:rPr>
              <a:t>（</a:t>
            </a:r>
            <a:r>
              <a:rPr kumimoji="0" lang="en-US" altLang="zh-CN" sz="1800" b="0" i="0" u="none" strike="noStrike" kern="0" cap="none" spc="0" normalizeH="0" baseline="0" noProof="0" dirty="0">
                <a:ln>
                  <a:noFill/>
                </a:ln>
                <a:solidFill>
                  <a:srgbClr val="FF0000"/>
                </a:solidFill>
                <a:effectLst/>
                <a:uLnTx/>
                <a:uFillTx/>
              </a:rPr>
              <a:t>RSSI</a:t>
            </a:r>
            <a:r>
              <a:rPr kumimoji="0" lang="zh-CN" altLang="zh-CN" sz="1800" b="0" i="0" u="none" strike="noStrike" kern="0" cap="none" spc="0" normalizeH="0" baseline="0" noProof="0" dirty="0">
                <a:ln>
                  <a:noFill/>
                </a:ln>
                <a:solidFill>
                  <a:srgbClr val="FF0000"/>
                </a:solidFill>
                <a:effectLst/>
                <a:uLnTx/>
                <a:uFillTx/>
              </a:rPr>
              <a:t>）</a:t>
            </a:r>
            <a:r>
              <a:rPr lang="zh-CN" altLang="zh-CN" sz="1800" b="1" dirty="0">
                <a:solidFill>
                  <a:srgbClr val="FF0000"/>
                </a:solidFill>
              </a:rPr>
              <a:t>接收的信号强度指示</a:t>
            </a:r>
            <a:r>
              <a:rPr lang="zh-CN" altLang="zh-CN" sz="1800" dirty="0">
                <a:solidFill>
                  <a:schemeClr val="tx1"/>
                </a:solidFill>
              </a:rPr>
              <a:t>。</a:t>
            </a:r>
            <a:r>
              <a:rPr lang="zh-CN" altLang="zh-CN" sz="1600" dirty="0">
                <a:solidFill>
                  <a:schemeClr val="tx1"/>
                </a:solidFill>
              </a:rPr>
              <a:t>终端接收到的所有信号（包括同频的有用信号和干扰、邻频干扰、热噪声等）功率的线性平均值，反映的是该资源上的负载强度。</a:t>
            </a:r>
            <a:endParaRPr lang="en-US" altLang="zh-CN" sz="1800" dirty="0">
              <a:solidFill>
                <a:schemeClr val="tx1"/>
              </a:solidFill>
            </a:endParaRPr>
          </a:p>
          <a:p>
            <a:pPr marL="0" indent="0" algn="ctr">
              <a:spcBef>
                <a:spcPts val="0"/>
              </a:spcBef>
              <a:spcAft>
                <a:spcPts val="1200"/>
              </a:spcAft>
              <a:buNone/>
            </a:pPr>
            <a:r>
              <a:rPr kumimoji="0" lang="en-US" altLang="zh-CN" sz="1800" b="0" i="0" u="none" strike="noStrike" kern="0" cap="none" spc="0" normalizeH="0" baseline="0" noProof="0" dirty="0">
                <a:ln>
                  <a:noFill/>
                </a:ln>
                <a:solidFill>
                  <a:schemeClr val="tx1"/>
                </a:solidFill>
                <a:effectLst/>
                <a:uLnTx/>
                <a:uFillTx/>
              </a:rPr>
              <a:t>RSSI=</a:t>
            </a:r>
            <a:r>
              <a:rPr kumimoji="0" lang="zh-CN" altLang="en-US" sz="1800" b="0" i="0" u="none" strike="noStrike" kern="0" cap="none" spc="0" normalizeH="0" baseline="0" noProof="0" dirty="0">
                <a:ln>
                  <a:noFill/>
                </a:ln>
                <a:solidFill>
                  <a:schemeClr val="tx1"/>
                </a:solidFill>
                <a:effectLst/>
                <a:uLnTx/>
                <a:uFillTx/>
              </a:rPr>
              <a:t>服务小区功率</a:t>
            </a:r>
            <a:r>
              <a:rPr kumimoji="0" lang="en-US" altLang="zh-CN" sz="1800" b="0" i="0" u="none" strike="noStrike" kern="0" cap="none" spc="0" normalizeH="0" baseline="0" noProof="0" dirty="0">
                <a:ln>
                  <a:noFill/>
                </a:ln>
                <a:solidFill>
                  <a:schemeClr val="tx1"/>
                </a:solidFill>
                <a:effectLst/>
                <a:uLnTx/>
                <a:uFillTx/>
              </a:rPr>
              <a:t>+</a:t>
            </a:r>
            <a:r>
              <a:rPr kumimoji="0" lang="zh-CN" altLang="en-US" sz="1800" b="0" i="0" u="none" strike="noStrike" kern="0" cap="none" spc="0" normalizeH="0" baseline="0" noProof="0" dirty="0">
                <a:ln>
                  <a:noFill/>
                </a:ln>
                <a:solidFill>
                  <a:schemeClr val="tx1"/>
                </a:solidFill>
                <a:effectLst/>
                <a:uLnTx/>
                <a:uFillTx/>
              </a:rPr>
              <a:t>干扰功率</a:t>
            </a:r>
            <a:r>
              <a:rPr kumimoji="0" lang="en-US" altLang="zh-CN" sz="1800" b="0" i="0" u="none" strike="noStrike" kern="0" cap="none" spc="0" normalizeH="0" baseline="0" noProof="0" dirty="0">
                <a:ln>
                  <a:noFill/>
                </a:ln>
                <a:solidFill>
                  <a:schemeClr val="tx1"/>
                </a:solidFill>
                <a:effectLst/>
                <a:uLnTx/>
                <a:uFillTx/>
              </a:rPr>
              <a:t>+</a:t>
            </a:r>
            <a:r>
              <a:rPr kumimoji="0" lang="zh-CN" altLang="en-US" sz="1800" b="0" i="0" u="none" strike="noStrike" kern="0" cap="none" spc="0" normalizeH="0" baseline="0" noProof="0" dirty="0">
                <a:ln>
                  <a:noFill/>
                </a:ln>
                <a:solidFill>
                  <a:schemeClr val="tx1"/>
                </a:solidFill>
                <a:effectLst/>
                <a:uLnTx/>
                <a:uFillTx/>
              </a:rPr>
              <a:t>噪声</a:t>
            </a:r>
            <a:endParaRPr kumimoji="0" lang="en-US" altLang="zh-CN" sz="1800" b="0" i="0" u="none" strike="noStrike" kern="0" cap="none" spc="0" normalizeH="0" baseline="0" noProof="0" dirty="0">
              <a:ln>
                <a:noFill/>
              </a:ln>
              <a:solidFill>
                <a:schemeClr val="tx1"/>
              </a:solidFill>
              <a:effectLst/>
              <a:uLnTx/>
              <a:uFillTx/>
            </a:endParaRPr>
          </a:p>
          <a:p>
            <a:pPr marL="0" marR="0" lvl="0" indent="0" algn="l" defTabSz="914400" rtl="0" eaLnBrk="1" fontAlgn="base" latinLnBrk="0" hangingPunct="1">
              <a:lnSpc>
                <a:spcPct val="130000"/>
              </a:lnSpc>
              <a:spcBef>
                <a:spcPts val="0"/>
              </a:spcBef>
              <a:spcAft>
                <a:spcPts val="1200"/>
              </a:spcAft>
              <a:buClr>
                <a:srgbClr val="008FD4"/>
              </a:buClr>
              <a:buSzPct val="70000"/>
              <a:buNone/>
              <a:defRPr/>
            </a:pPr>
            <a:r>
              <a:rPr kumimoji="0" lang="zh-CN" altLang="zh-CN" sz="1600" b="0" i="0" u="none" strike="noStrike" kern="0" cap="none" spc="0" normalizeH="0" baseline="0" noProof="0" dirty="0">
                <a:ln>
                  <a:noFill/>
                </a:ln>
                <a:solidFill>
                  <a:schemeClr val="tx1"/>
                </a:solidFill>
                <a:effectLst/>
                <a:uLnTx/>
                <a:uFillTx/>
              </a:rPr>
              <a:t>注意</a:t>
            </a:r>
            <a:r>
              <a:rPr kumimoji="0" lang="en-US" altLang="zh-CN" sz="1600" b="0" i="0" u="none" strike="noStrike" kern="0" cap="none" spc="0" normalizeH="0" baseline="0" noProof="0" dirty="0">
                <a:ln>
                  <a:noFill/>
                </a:ln>
                <a:solidFill>
                  <a:schemeClr val="tx1"/>
                </a:solidFill>
                <a:effectLst/>
                <a:uLnTx/>
                <a:uFillTx/>
              </a:rPr>
              <a:t>UE</a:t>
            </a:r>
            <a:r>
              <a:rPr kumimoji="0" lang="zh-CN" altLang="zh-CN" sz="1600" b="0" i="0" u="none" strike="noStrike" kern="0" cap="none" spc="0" normalizeH="0" baseline="0" noProof="0" dirty="0">
                <a:ln>
                  <a:noFill/>
                </a:ln>
                <a:solidFill>
                  <a:schemeClr val="tx1"/>
                </a:solidFill>
                <a:effectLst/>
                <a:uLnTx/>
                <a:uFillTx/>
              </a:rPr>
              <a:t>不向</a:t>
            </a:r>
            <a:r>
              <a:rPr kumimoji="0" lang="en-US" altLang="zh-CN" sz="1600" b="0" i="0" u="none" strike="noStrike" kern="0" cap="none" spc="0" normalizeH="0" baseline="0" noProof="0" dirty="0" err="1">
                <a:ln>
                  <a:noFill/>
                </a:ln>
                <a:solidFill>
                  <a:schemeClr val="tx1"/>
                </a:solidFill>
                <a:effectLst/>
                <a:uLnTx/>
                <a:uFillTx/>
              </a:rPr>
              <a:t>EnodeB</a:t>
            </a:r>
            <a:r>
              <a:rPr kumimoji="0" lang="zh-CN" altLang="zh-CN" sz="1600" b="0" i="0" u="none" strike="noStrike" kern="0" cap="none" spc="0" normalizeH="0" baseline="0" noProof="0" dirty="0">
                <a:ln>
                  <a:noFill/>
                </a:ln>
                <a:solidFill>
                  <a:schemeClr val="tx1"/>
                </a:solidFill>
                <a:effectLst/>
                <a:uLnTx/>
                <a:uFillTx/>
              </a:rPr>
              <a:t>报告这个测量值，这个测量值可以通过</a:t>
            </a:r>
            <a:r>
              <a:rPr kumimoji="0" lang="en-US" altLang="zh-CN" sz="1600" b="0" i="0" u="none" strike="noStrike" kern="0" cap="none" spc="0" normalizeH="0" baseline="0" noProof="0" dirty="0">
                <a:ln>
                  <a:noFill/>
                </a:ln>
                <a:solidFill>
                  <a:schemeClr val="tx1"/>
                </a:solidFill>
                <a:effectLst/>
                <a:uLnTx/>
                <a:uFillTx/>
              </a:rPr>
              <a:t>UE</a:t>
            </a:r>
            <a:r>
              <a:rPr kumimoji="0" lang="zh-CN" altLang="zh-CN" sz="1600" b="0" i="0" u="none" strike="noStrike" kern="0" cap="none" spc="0" normalizeH="0" baseline="0" noProof="0" dirty="0">
                <a:ln>
                  <a:noFill/>
                </a:ln>
                <a:solidFill>
                  <a:schemeClr val="tx1"/>
                </a:solidFill>
                <a:effectLst/>
                <a:uLnTx/>
                <a:uFillTx/>
              </a:rPr>
              <a:t>向</a:t>
            </a:r>
            <a:r>
              <a:rPr kumimoji="0" lang="en-US" altLang="zh-CN" sz="1600" b="0" i="0" u="none" strike="noStrike" kern="0" cap="none" spc="0" normalizeH="0" baseline="0" noProof="0" dirty="0" err="1">
                <a:ln>
                  <a:noFill/>
                </a:ln>
                <a:solidFill>
                  <a:schemeClr val="tx1"/>
                </a:solidFill>
                <a:effectLst/>
                <a:uLnTx/>
                <a:uFillTx/>
              </a:rPr>
              <a:t>EnodeB</a:t>
            </a:r>
            <a:r>
              <a:rPr kumimoji="0" lang="zh-CN" altLang="zh-CN" sz="1600" b="0" i="0" u="none" strike="noStrike" kern="0" cap="none" spc="0" normalizeH="0" baseline="0" noProof="0" dirty="0">
                <a:ln>
                  <a:noFill/>
                </a:ln>
                <a:solidFill>
                  <a:schemeClr val="tx1"/>
                </a:solidFill>
                <a:effectLst/>
                <a:uLnTx/>
                <a:uFillTx/>
              </a:rPr>
              <a:t>上报的</a:t>
            </a:r>
            <a:r>
              <a:rPr kumimoji="0" lang="en-US" altLang="zh-CN" sz="1600" b="0" i="0" u="none" strike="noStrike" kern="0" cap="none" spc="0" normalizeH="0" baseline="0" noProof="0" dirty="0">
                <a:ln>
                  <a:noFill/>
                </a:ln>
                <a:solidFill>
                  <a:schemeClr val="tx1"/>
                </a:solidFill>
                <a:effectLst/>
                <a:uLnTx/>
                <a:uFillTx/>
              </a:rPr>
              <a:t>RSRQ</a:t>
            </a:r>
            <a:r>
              <a:rPr kumimoji="0" lang="zh-CN" altLang="zh-CN" sz="1600" b="0" i="0" u="none" strike="noStrike" kern="0" cap="none" spc="0" normalizeH="0" baseline="0" noProof="0" dirty="0">
                <a:ln>
                  <a:noFill/>
                </a:ln>
                <a:solidFill>
                  <a:schemeClr val="tx1"/>
                </a:solidFill>
                <a:effectLst/>
                <a:uLnTx/>
                <a:uFillTx/>
              </a:rPr>
              <a:t>和</a:t>
            </a:r>
            <a:r>
              <a:rPr kumimoji="0" lang="en-US" altLang="zh-CN" sz="1600" b="0" i="0" u="none" strike="noStrike" kern="0" cap="none" spc="0" normalizeH="0" baseline="0" noProof="0" dirty="0">
                <a:ln>
                  <a:noFill/>
                </a:ln>
                <a:solidFill>
                  <a:schemeClr val="tx1"/>
                </a:solidFill>
                <a:effectLst/>
                <a:uLnTx/>
                <a:uFillTx/>
              </a:rPr>
              <a:t>RSRP</a:t>
            </a:r>
            <a:r>
              <a:rPr kumimoji="0" lang="zh-CN" altLang="zh-CN" sz="1600" b="0" i="0" u="none" strike="noStrike" kern="0" cap="none" spc="0" normalizeH="0" baseline="0" noProof="0" dirty="0">
                <a:ln>
                  <a:noFill/>
                </a:ln>
                <a:solidFill>
                  <a:schemeClr val="tx1"/>
                </a:solidFill>
                <a:effectLst/>
                <a:uLnTx/>
                <a:uFillTx/>
              </a:rPr>
              <a:t>计算得到。</a:t>
            </a:r>
            <a:endParaRPr kumimoji="0" lang="en-US" altLang="zh-CN" sz="1600" b="0" i="0" u="none" strike="noStrike" kern="0" cap="none" spc="0" normalizeH="0" baseline="0" noProof="0" dirty="0">
              <a:ln>
                <a:noFill/>
              </a:ln>
              <a:solidFill>
                <a:schemeClr val="tx1"/>
              </a:solidFill>
              <a:effectLst/>
              <a:uLnTx/>
              <a:uFillTx/>
            </a:endParaRPr>
          </a:p>
          <a:p>
            <a:pPr marL="0" marR="0" lvl="0" indent="0" algn="ctr" defTabSz="914400" rtl="0" eaLnBrk="1" fontAlgn="base" latinLnBrk="0" hangingPunct="1">
              <a:lnSpc>
                <a:spcPct val="130000"/>
              </a:lnSpc>
              <a:spcBef>
                <a:spcPts val="0"/>
              </a:spcBef>
              <a:spcAft>
                <a:spcPts val="1200"/>
              </a:spcAft>
              <a:buClr>
                <a:srgbClr val="008FD4"/>
              </a:buClr>
              <a:buSzPct val="70000"/>
              <a:buNone/>
              <a:defRPr/>
            </a:pPr>
            <a:r>
              <a:rPr kumimoji="0" lang="en-US" altLang="zh-CN" sz="1800" b="0" i="0" u="none" strike="noStrike" kern="0" cap="none" spc="0" normalizeH="0" baseline="0" noProof="0" dirty="0">
                <a:ln>
                  <a:noFill/>
                </a:ln>
                <a:solidFill>
                  <a:schemeClr val="tx1"/>
                </a:solidFill>
                <a:effectLst/>
                <a:uLnTx/>
                <a:uFillTx/>
              </a:rPr>
              <a:t>RSSI=N*RSRP/RSRQ</a:t>
            </a:r>
          </a:p>
        </p:txBody>
      </p:sp>
      <p:sp>
        <p:nvSpPr>
          <p:cNvPr id="2" name="矩形 1"/>
          <p:cNvSpPr/>
          <p:nvPr/>
        </p:nvSpPr>
        <p:spPr>
          <a:xfrm>
            <a:off x="1872023" y="5282617"/>
            <a:ext cx="8901344" cy="1508105"/>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zh-CN" altLang="zh-CN" dirty="0"/>
              <a:t>虽然也是平均值，但是这里还包含了来自外部其他的干扰信号，因此通常测量的平均值要比带内真正有用信号的平均值要高。</a:t>
            </a:r>
          </a:p>
          <a:p>
            <a:pPr marL="285750" indent="-285750">
              <a:spcBef>
                <a:spcPts val="600"/>
              </a:spcBef>
              <a:spcAft>
                <a:spcPts val="600"/>
              </a:spcAft>
              <a:buFont typeface="Arial" panose="020B0604020202020204" pitchFamily="34" charset="0"/>
              <a:buChar char="•"/>
            </a:pPr>
            <a:r>
              <a:rPr lang="zh-CN" altLang="zh-CN" dirty="0"/>
              <a:t>测量的参考点为</a:t>
            </a:r>
            <a:r>
              <a:rPr lang="en-US" altLang="zh-CN" dirty="0"/>
              <a:t>UE</a:t>
            </a:r>
            <a:r>
              <a:rPr lang="zh-CN" altLang="zh-CN" dirty="0"/>
              <a:t>的天线端口。</a:t>
            </a:r>
          </a:p>
          <a:p>
            <a:pPr marL="285750" indent="-285750">
              <a:spcBef>
                <a:spcPts val="600"/>
              </a:spcBef>
              <a:spcAft>
                <a:spcPts val="600"/>
              </a:spcAft>
              <a:buFont typeface="Arial" panose="020B0604020202020204" pitchFamily="34" charset="0"/>
              <a:buChar char="•"/>
            </a:pPr>
            <a:r>
              <a:rPr lang="zh-CN" altLang="zh-CN" dirty="0">
                <a:solidFill>
                  <a:srgbClr val="FF0000"/>
                </a:solidFill>
              </a:rPr>
              <a:t>单位：</a:t>
            </a:r>
            <a:r>
              <a:rPr lang="en-US" altLang="zh-CN" dirty="0" err="1">
                <a:solidFill>
                  <a:srgbClr val="FF0000"/>
                </a:solidFill>
              </a:rPr>
              <a:t>dBm</a:t>
            </a:r>
            <a:r>
              <a:rPr lang="en-US" altLang="zh-CN" dirty="0">
                <a:solidFill>
                  <a:srgbClr val="FF0000"/>
                </a:solidFill>
              </a:rPr>
              <a:t> </a:t>
            </a:r>
            <a:r>
              <a:rPr lang="zh-CN" altLang="zh-CN" dirty="0">
                <a:solidFill>
                  <a:srgbClr val="FF0000"/>
                </a:solidFill>
              </a:rPr>
              <a:t>，取值范围（有效值）：</a:t>
            </a:r>
            <a:r>
              <a:rPr lang="en-US" altLang="zh-CN" dirty="0">
                <a:solidFill>
                  <a:srgbClr val="FF0000"/>
                </a:solidFill>
              </a:rPr>
              <a:t>-93dBm</a:t>
            </a:r>
            <a:r>
              <a:rPr lang="zh-CN" altLang="zh-CN" dirty="0">
                <a:solidFill>
                  <a:srgbClr val="FF0000"/>
                </a:solidFill>
              </a:rPr>
              <a:t>至</a:t>
            </a:r>
            <a:r>
              <a:rPr lang="en-US" altLang="zh-CN" dirty="0">
                <a:solidFill>
                  <a:srgbClr val="FF0000"/>
                </a:solidFill>
              </a:rPr>
              <a:t>-113dBm</a:t>
            </a:r>
            <a:endParaRPr lang="zh-CN" altLang="zh-CN" kern="0" dirty="0">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H_Text_1"/>
          <p:cNvSpPr/>
          <p:nvPr>
            <p:custDataLst>
              <p:tags r:id="rId1"/>
            </p:custDataLst>
          </p:nvPr>
        </p:nvSpPr>
        <p:spPr>
          <a:xfrm>
            <a:off x="3053219" y="3134983"/>
            <a:ext cx="6417011" cy="2899150"/>
          </a:xfrm>
          <a:prstGeom prst="rect">
            <a:avLst/>
          </a:prstGeom>
        </p:spPr>
        <p:txBody>
          <a:bodyPr/>
          <a:lstStyle/>
          <a:p>
            <a:pPr>
              <a:lnSpc>
                <a:spcPct val="150000"/>
              </a:lnSpc>
              <a:defRPr/>
            </a:pPr>
            <a:r>
              <a:rPr lang="zh-CN" altLang="en-US" sz="1600" dirty="0"/>
              <a:t>指标说明：反映</a:t>
            </a:r>
            <a:r>
              <a:rPr lang="en-US" altLang="zh-CN" sz="1600" dirty="0"/>
              <a:t>LTE</a:t>
            </a:r>
            <a:r>
              <a:rPr lang="zh-CN" altLang="en-US" sz="1600" dirty="0"/>
              <a:t>系统下行传输性能的重要指标，单位：</a:t>
            </a:r>
            <a:r>
              <a:rPr lang="en-US" altLang="zh-CN" sz="1600" dirty="0"/>
              <a:t>kbps</a:t>
            </a:r>
          </a:p>
          <a:p>
            <a:pPr>
              <a:lnSpc>
                <a:spcPct val="150000"/>
              </a:lnSpc>
              <a:defRPr/>
            </a:pPr>
            <a:r>
              <a:rPr lang="zh-CN" altLang="en-US" sz="1600" dirty="0"/>
              <a:t>指标定义：应用层总下载量（含掉线）</a:t>
            </a:r>
            <a:r>
              <a:rPr lang="en-US" altLang="zh-CN" sz="1600" dirty="0"/>
              <a:t>/</a:t>
            </a:r>
            <a:r>
              <a:rPr lang="zh-CN" altLang="en-US" sz="1600" dirty="0"/>
              <a:t>下载总时长（含掉线）</a:t>
            </a:r>
          </a:p>
          <a:p>
            <a:pPr>
              <a:lnSpc>
                <a:spcPct val="150000"/>
              </a:lnSpc>
              <a:defRPr/>
            </a:pPr>
            <a:r>
              <a:rPr lang="zh-CN" altLang="en-US" sz="1600" dirty="0"/>
              <a:t>所属协议层：应用层</a:t>
            </a:r>
            <a:endParaRPr lang="en-US" altLang="zh-CN" sz="1600" dirty="0"/>
          </a:p>
          <a:p>
            <a:pPr>
              <a:lnSpc>
                <a:spcPct val="150000"/>
              </a:lnSpc>
              <a:defRPr/>
            </a:pPr>
            <a:endParaRPr lang="en-US" altLang="zh-CN" sz="1600" dirty="0"/>
          </a:p>
          <a:p>
            <a:pPr>
              <a:lnSpc>
                <a:spcPct val="150000"/>
              </a:lnSpc>
              <a:defRPr/>
            </a:pPr>
            <a:endParaRPr lang="zh-CN" altLang="en-US" sz="1600" dirty="0"/>
          </a:p>
          <a:p>
            <a:pPr>
              <a:lnSpc>
                <a:spcPct val="150000"/>
              </a:lnSpc>
              <a:defRPr/>
            </a:pPr>
            <a:r>
              <a:rPr lang="zh-CN" altLang="en-US" sz="1600" dirty="0"/>
              <a:t>指标说明：反映</a:t>
            </a:r>
            <a:r>
              <a:rPr lang="en-US" altLang="zh-CN" sz="1600" dirty="0"/>
              <a:t>LTE</a:t>
            </a:r>
            <a:r>
              <a:rPr lang="zh-CN" altLang="en-US" sz="1600" dirty="0"/>
              <a:t>系统下行传输性能的重要指标，单位：</a:t>
            </a:r>
            <a:r>
              <a:rPr lang="en-US" altLang="zh-CN" sz="1600" dirty="0"/>
              <a:t>kbps</a:t>
            </a:r>
          </a:p>
          <a:p>
            <a:pPr>
              <a:lnSpc>
                <a:spcPct val="150000"/>
              </a:lnSpc>
              <a:defRPr/>
            </a:pPr>
            <a:r>
              <a:rPr lang="zh-CN" altLang="en-US" sz="1600" dirty="0"/>
              <a:t>指标定义：应用层总下载量（不含掉线）</a:t>
            </a:r>
            <a:r>
              <a:rPr lang="en-US" altLang="zh-CN" sz="1600" dirty="0"/>
              <a:t>/</a:t>
            </a:r>
            <a:r>
              <a:rPr lang="zh-CN" altLang="en-US" sz="1600" dirty="0"/>
              <a:t>下载总时长（不含掉线）</a:t>
            </a:r>
          </a:p>
          <a:p>
            <a:pPr>
              <a:lnSpc>
                <a:spcPct val="150000"/>
              </a:lnSpc>
              <a:defRPr/>
            </a:pPr>
            <a:r>
              <a:rPr lang="zh-CN" altLang="en-US" sz="1600" dirty="0"/>
              <a:t>所属协议层：应用层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MH_SubTitle_1"/>
          <p:cNvSpPr>
            <a:spLocks noChangeArrowheads="1"/>
          </p:cNvSpPr>
          <p:nvPr>
            <p:custDataLst>
              <p:tags r:id="rId2"/>
            </p:custDataLst>
          </p:nvPr>
        </p:nvSpPr>
        <p:spPr bwMode="auto">
          <a:xfrm flipH="1">
            <a:off x="2881451" y="2687308"/>
            <a:ext cx="4242601"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en-US" altLang="zh-CN" sz="2000" b="1" dirty="0">
                <a:latin typeface="+mj-ea"/>
                <a:ea typeface="+mj-ea"/>
              </a:rPr>
              <a:t>1</a:t>
            </a:r>
            <a:r>
              <a:rPr lang="zh-CN" altLang="en-US" sz="2000" b="1" dirty="0">
                <a:latin typeface="+mj-ea"/>
                <a:ea typeface="+mj-ea"/>
              </a:rPr>
              <a:t>）应用层平均下载速率（含掉线</a:t>
            </a:r>
            <a:r>
              <a:rPr lang="zh-CN" altLang="en-US" sz="2000" b="1" dirty="0"/>
              <a:t>）</a:t>
            </a:r>
          </a:p>
        </p:txBody>
      </p:sp>
      <p:sp>
        <p:nvSpPr>
          <p:cNvPr id="22" name="标题 1"/>
          <p:cNvSpPr txBox="1"/>
          <p:nvPr/>
        </p:nvSpPr>
        <p:spPr bwMode="auto">
          <a:xfrm>
            <a:off x="1064895" y="2069177"/>
            <a:ext cx="1846981"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业务类指标</a:t>
            </a:r>
          </a:p>
        </p:txBody>
      </p:sp>
      <p:sp>
        <p:nvSpPr>
          <p:cNvPr id="2" name="MH_SubTitle_1">
            <a:extLst>
              <a:ext uri="{FF2B5EF4-FFF2-40B4-BE49-F238E27FC236}">
                <a16:creationId xmlns:a16="http://schemas.microsoft.com/office/drawing/2014/main" id="{75A23F32-2E68-CC01-039C-4C6D5FD3FB76}"/>
              </a:ext>
            </a:extLst>
          </p:cNvPr>
          <p:cNvSpPr>
            <a:spLocks noChangeArrowheads="1"/>
          </p:cNvSpPr>
          <p:nvPr>
            <p:custDataLst>
              <p:tags r:id="rId3"/>
            </p:custDataLst>
          </p:nvPr>
        </p:nvSpPr>
        <p:spPr bwMode="auto">
          <a:xfrm flipH="1">
            <a:off x="3175140" y="4584558"/>
            <a:ext cx="4242601"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a:r>
              <a:rPr lang="en-US" altLang="zh-CN" sz="2000" b="1" dirty="0">
                <a:latin typeface="+mj-ea"/>
                <a:ea typeface="+mj-ea"/>
              </a:rPr>
              <a:t>2</a:t>
            </a:r>
            <a:r>
              <a:rPr lang="zh-CN" altLang="en-US" sz="2000" b="1" dirty="0">
                <a:latin typeface="+mj-ea"/>
                <a:ea typeface="+mj-ea"/>
              </a:rPr>
              <a:t>）应用层平均下载速率（不含掉线</a:t>
            </a:r>
            <a:r>
              <a:rPr lang="zh-CN" altLang="en-US" sz="2000" b="1" dirty="0"/>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911876" y="2608927"/>
            <a:ext cx="8028878" cy="3603679"/>
          </a:xfrm>
          <a:prstGeom prst="rect">
            <a:avLst/>
          </a:prstGeom>
        </p:spPr>
        <p:txBody>
          <a:bodyPr wrap="square">
            <a:spAutoFit/>
          </a:bodyPr>
          <a:lstStyle/>
          <a:p>
            <a:pPr>
              <a:lnSpc>
                <a:spcPct val="150000"/>
              </a:lnSpc>
            </a:pPr>
            <a:r>
              <a:rPr lang="en-US" altLang="zh-CN" sz="2000" b="1" dirty="0">
                <a:latin typeface="+mj-ea"/>
                <a:ea typeface="+mj-ea"/>
              </a:rPr>
              <a:t>3</a:t>
            </a:r>
            <a:r>
              <a:rPr lang="zh-CN" altLang="en-US" sz="2000" b="1" dirty="0">
                <a:latin typeface="+mj-ea"/>
                <a:ea typeface="+mj-ea"/>
              </a:rPr>
              <a:t>）应用层平均上传速率（含掉线）</a:t>
            </a:r>
          </a:p>
          <a:p>
            <a:pPr>
              <a:lnSpc>
                <a:spcPct val="150000"/>
              </a:lnSpc>
            </a:pPr>
            <a:r>
              <a:rPr lang="zh-CN" altLang="en-US" sz="1600" dirty="0">
                <a:latin typeface="+mj-ea"/>
                <a:ea typeface="+mj-ea"/>
              </a:rPr>
              <a:t>指标说明：反映</a:t>
            </a:r>
            <a:r>
              <a:rPr lang="en-US" altLang="zh-CN" sz="1600" dirty="0">
                <a:latin typeface="+mj-ea"/>
                <a:ea typeface="+mj-ea"/>
              </a:rPr>
              <a:t>LTE</a:t>
            </a:r>
            <a:r>
              <a:rPr lang="zh-CN" altLang="en-US" sz="1600" dirty="0">
                <a:latin typeface="+mj-ea"/>
                <a:ea typeface="+mj-ea"/>
              </a:rPr>
              <a:t>系统上行传输性能的重要指标，单位：</a:t>
            </a:r>
            <a:r>
              <a:rPr lang="en-US" altLang="zh-CN" sz="1600" dirty="0">
                <a:latin typeface="+mj-ea"/>
                <a:ea typeface="+mj-ea"/>
              </a:rPr>
              <a:t>kbps</a:t>
            </a:r>
          </a:p>
          <a:p>
            <a:pPr>
              <a:lnSpc>
                <a:spcPct val="150000"/>
              </a:lnSpc>
            </a:pPr>
            <a:r>
              <a:rPr lang="zh-CN" altLang="en-US" sz="1600" dirty="0">
                <a:latin typeface="+mj-ea"/>
                <a:ea typeface="+mj-ea"/>
              </a:rPr>
              <a:t>指标定义：应用层上行总传输数据量（含掉线）</a:t>
            </a:r>
            <a:r>
              <a:rPr lang="en-US" altLang="zh-CN" sz="1600" dirty="0">
                <a:latin typeface="+mj-ea"/>
                <a:ea typeface="+mj-ea"/>
              </a:rPr>
              <a:t>/</a:t>
            </a:r>
            <a:r>
              <a:rPr lang="zh-CN" altLang="en-US" sz="1600" dirty="0">
                <a:latin typeface="+mj-ea"/>
                <a:ea typeface="+mj-ea"/>
              </a:rPr>
              <a:t>上传总时长（含掉线）</a:t>
            </a:r>
          </a:p>
          <a:p>
            <a:pPr>
              <a:lnSpc>
                <a:spcPct val="150000"/>
              </a:lnSpc>
            </a:pPr>
            <a:r>
              <a:rPr lang="zh-CN" altLang="en-US" sz="1600" dirty="0">
                <a:latin typeface="+mj-ea"/>
                <a:ea typeface="+mj-ea"/>
              </a:rPr>
              <a:t>所属协议层：应用层</a:t>
            </a:r>
            <a:endParaRPr lang="en-US" altLang="zh-CN" sz="1600" dirty="0">
              <a:latin typeface="+mj-ea"/>
              <a:ea typeface="+mj-ea"/>
            </a:endParaRPr>
          </a:p>
          <a:p>
            <a:pPr>
              <a:lnSpc>
                <a:spcPct val="150000"/>
              </a:lnSpc>
            </a:pPr>
            <a:endParaRPr lang="zh-CN" altLang="en-US" sz="1800" dirty="0">
              <a:latin typeface="+mj-ea"/>
              <a:ea typeface="+mj-ea"/>
            </a:endParaRPr>
          </a:p>
          <a:p>
            <a:pPr>
              <a:lnSpc>
                <a:spcPct val="150000"/>
              </a:lnSpc>
            </a:pPr>
            <a:r>
              <a:rPr lang="en-US" altLang="zh-CN" sz="2000" b="1" dirty="0">
                <a:latin typeface="+mj-ea"/>
                <a:ea typeface="+mj-ea"/>
              </a:rPr>
              <a:t>4</a:t>
            </a:r>
            <a:r>
              <a:rPr lang="zh-CN" altLang="en-US" sz="2000" b="1" dirty="0">
                <a:latin typeface="+mj-ea"/>
                <a:ea typeface="+mj-ea"/>
              </a:rPr>
              <a:t>）应用层平均上传速率（不含掉线）</a:t>
            </a:r>
          </a:p>
          <a:p>
            <a:pPr>
              <a:lnSpc>
                <a:spcPct val="150000"/>
              </a:lnSpc>
            </a:pPr>
            <a:r>
              <a:rPr lang="zh-CN" altLang="en-US" sz="1600" dirty="0">
                <a:latin typeface="+mj-ea"/>
                <a:ea typeface="+mj-ea"/>
              </a:rPr>
              <a:t>指标说明：反映</a:t>
            </a:r>
            <a:r>
              <a:rPr lang="en-US" altLang="zh-CN" sz="1600" dirty="0">
                <a:latin typeface="+mj-ea"/>
                <a:ea typeface="+mj-ea"/>
              </a:rPr>
              <a:t>LTE</a:t>
            </a:r>
            <a:r>
              <a:rPr lang="zh-CN" altLang="en-US" sz="1600" dirty="0">
                <a:latin typeface="+mj-ea"/>
                <a:ea typeface="+mj-ea"/>
              </a:rPr>
              <a:t>系统上行传输性能的重要指标，单位：</a:t>
            </a:r>
            <a:r>
              <a:rPr lang="en-US" altLang="zh-CN" sz="1600" dirty="0">
                <a:latin typeface="+mj-ea"/>
                <a:ea typeface="+mj-ea"/>
              </a:rPr>
              <a:t>kbps</a:t>
            </a:r>
          </a:p>
          <a:p>
            <a:pPr>
              <a:lnSpc>
                <a:spcPct val="150000"/>
              </a:lnSpc>
            </a:pPr>
            <a:r>
              <a:rPr lang="zh-CN" altLang="en-US" sz="1600" dirty="0">
                <a:latin typeface="+mj-ea"/>
                <a:ea typeface="+mj-ea"/>
              </a:rPr>
              <a:t>指标定义：应用层上行传输数据量（不含掉线）</a:t>
            </a:r>
            <a:r>
              <a:rPr lang="en-US" altLang="zh-CN" sz="1600" dirty="0">
                <a:latin typeface="+mj-ea"/>
                <a:ea typeface="+mj-ea"/>
              </a:rPr>
              <a:t>/</a:t>
            </a:r>
            <a:r>
              <a:rPr lang="zh-CN" altLang="en-US" sz="1600" dirty="0">
                <a:latin typeface="+mj-ea"/>
                <a:ea typeface="+mj-ea"/>
              </a:rPr>
              <a:t>上传时长（不含掉线）</a:t>
            </a:r>
          </a:p>
          <a:p>
            <a:pPr>
              <a:lnSpc>
                <a:spcPct val="150000"/>
              </a:lnSpc>
            </a:pPr>
            <a:r>
              <a:rPr lang="zh-CN" altLang="en-US" sz="1600" dirty="0">
                <a:latin typeface="+mj-ea"/>
                <a:ea typeface="+mj-ea"/>
              </a:rPr>
              <a:t>所属协议层：应用层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标题 1"/>
          <p:cNvSpPr txBox="1"/>
          <p:nvPr/>
        </p:nvSpPr>
        <p:spPr bwMode="auto">
          <a:xfrm>
            <a:off x="1064895" y="2069177"/>
            <a:ext cx="1846981"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业务类指标</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204513" y="2868295"/>
            <a:ext cx="8581856" cy="2215991"/>
          </a:xfrm>
          <a:prstGeom prst="rect">
            <a:avLst/>
          </a:prstGeom>
        </p:spPr>
        <p:txBody>
          <a:bodyPr wrap="square">
            <a:spAutoFit/>
          </a:bodyPr>
          <a:lstStyle/>
          <a:p>
            <a:pPr>
              <a:lnSpc>
                <a:spcPct val="150000"/>
              </a:lnSpc>
            </a:pPr>
            <a:r>
              <a:rPr lang="en-US" altLang="zh-CN" sz="2000" b="1" dirty="0">
                <a:latin typeface="+mj-ea"/>
                <a:ea typeface="+mj-ea"/>
              </a:rPr>
              <a:t>1</a:t>
            </a:r>
            <a:r>
              <a:rPr lang="zh-CN" altLang="en-US" sz="2000" b="1" dirty="0">
                <a:latin typeface="+mj-ea"/>
                <a:ea typeface="+mj-ea"/>
              </a:rPr>
              <a:t>）</a:t>
            </a:r>
            <a:r>
              <a:rPr lang="en-US" altLang="zh-CN" sz="2000" b="1" dirty="0">
                <a:latin typeface="+mj-ea"/>
                <a:ea typeface="+mj-ea"/>
              </a:rPr>
              <a:t>RSRP</a:t>
            </a:r>
            <a:r>
              <a:rPr lang="zh-CN" altLang="en-US" sz="2000" b="1" dirty="0">
                <a:latin typeface="+mj-ea"/>
                <a:ea typeface="+mj-ea"/>
              </a:rPr>
              <a:t>连续弱覆盖里程占比</a:t>
            </a:r>
          </a:p>
          <a:p>
            <a:pPr>
              <a:lnSpc>
                <a:spcPct val="150000"/>
              </a:lnSpc>
            </a:pPr>
            <a:r>
              <a:rPr lang="zh-CN" altLang="en-US" sz="1800" dirty="0">
                <a:latin typeface="+mj-ea"/>
                <a:ea typeface="+mj-ea"/>
              </a:rPr>
              <a:t>指标说明：评估路测中参考信号</a:t>
            </a:r>
            <a:r>
              <a:rPr lang="en-US" altLang="zh-CN" sz="1800" dirty="0">
                <a:latin typeface="+mj-ea"/>
                <a:ea typeface="+mj-ea"/>
              </a:rPr>
              <a:t>RSRP</a:t>
            </a:r>
            <a:r>
              <a:rPr lang="zh-CN" altLang="en-US" sz="1800" dirty="0">
                <a:latin typeface="+mj-ea"/>
                <a:ea typeface="+mj-ea"/>
              </a:rPr>
              <a:t>接收功率情况，反映服务小区覆盖的主要指标。</a:t>
            </a:r>
          </a:p>
          <a:p>
            <a:pPr>
              <a:lnSpc>
                <a:spcPct val="150000"/>
              </a:lnSpc>
            </a:pPr>
            <a:r>
              <a:rPr lang="zh-CN" altLang="en-US" sz="1800" dirty="0">
                <a:latin typeface="+mj-ea"/>
                <a:ea typeface="+mj-ea"/>
              </a:rPr>
              <a:t>计算公式：</a:t>
            </a:r>
            <a:r>
              <a:rPr lang="en-US" altLang="zh-CN" sz="1800" dirty="0">
                <a:latin typeface="+mj-ea"/>
                <a:ea typeface="+mj-ea"/>
              </a:rPr>
              <a:t>LTE</a:t>
            </a:r>
            <a:r>
              <a:rPr lang="zh-CN" altLang="en-US" sz="1800" dirty="0">
                <a:latin typeface="+mj-ea"/>
                <a:ea typeface="+mj-ea"/>
              </a:rPr>
              <a:t>连续弱覆盖里程</a:t>
            </a:r>
            <a:r>
              <a:rPr lang="en-US" altLang="zh-CN" sz="1800" dirty="0">
                <a:latin typeface="+mj-ea"/>
                <a:ea typeface="+mj-ea"/>
              </a:rPr>
              <a:t>/LTE</a:t>
            </a:r>
            <a:r>
              <a:rPr lang="zh-CN" altLang="en-US" sz="1800" dirty="0">
                <a:latin typeface="+mj-ea"/>
                <a:ea typeface="+mj-ea"/>
              </a:rPr>
              <a:t>测试里程。</a:t>
            </a:r>
          </a:p>
          <a:p>
            <a:pPr>
              <a:lnSpc>
                <a:spcPct val="150000"/>
              </a:lnSpc>
            </a:pPr>
            <a:r>
              <a:rPr lang="zh-CN" altLang="en-US" sz="1800" dirty="0">
                <a:latin typeface="+mj-ea"/>
                <a:ea typeface="+mj-ea"/>
              </a:rPr>
              <a:t>其中：弱覆盖里程的定义为持续</a:t>
            </a:r>
            <a:r>
              <a:rPr lang="en-US" altLang="zh-CN" sz="1800" dirty="0">
                <a:latin typeface="+mj-ea"/>
                <a:ea typeface="+mj-ea"/>
              </a:rPr>
              <a:t>10</a:t>
            </a:r>
            <a:r>
              <a:rPr lang="zh-CN" altLang="en-US" sz="1800" dirty="0">
                <a:latin typeface="+mj-ea"/>
                <a:ea typeface="+mj-ea"/>
              </a:rPr>
              <a:t>秒</a:t>
            </a:r>
            <a:r>
              <a:rPr lang="en-US" altLang="zh-CN" sz="1800" dirty="0">
                <a:latin typeface="+mj-ea"/>
                <a:ea typeface="+mj-ea"/>
              </a:rPr>
              <a:t>70%</a:t>
            </a:r>
            <a:r>
              <a:rPr lang="zh-CN" altLang="en-US" sz="1800" dirty="0">
                <a:latin typeface="+mj-ea"/>
                <a:ea typeface="+mj-ea"/>
              </a:rPr>
              <a:t>的采样点路段满足</a:t>
            </a:r>
            <a:r>
              <a:rPr lang="en-US" altLang="zh-CN" sz="1800" dirty="0">
                <a:latin typeface="+mj-ea"/>
                <a:ea typeface="+mj-ea"/>
              </a:rPr>
              <a:t>RSRP&lt;-105dBm</a:t>
            </a:r>
          </a:p>
          <a:p>
            <a:pPr>
              <a:lnSpc>
                <a:spcPct val="150000"/>
              </a:lnSpc>
            </a:pPr>
            <a:r>
              <a:rPr lang="zh-CN" altLang="en-US" sz="1800" dirty="0">
                <a:latin typeface="+mj-ea"/>
                <a:ea typeface="+mj-ea"/>
              </a:rPr>
              <a:t>所属协议层：物理层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标题 1"/>
          <p:cNvSpPr txBox="1"/>
          <p:nvPr/>
        </p:nvSpPr>
        <p:spPr bwMode="auto">
          <a:xfrm>
            <a:off x="1064895" y="2127543"/>
            <a:ext cx="185585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覆盖类指标</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082530" y="2127543"/>
            <a:ext cx="7810371" cy="4385816"/>
          </a:xfrm>
          <a:prstGeom prst="rect">
            <a:avLst/>
          </a:prstGeom>
        </p:spPr>
        <p:txBody>
          <a:bodyPr wrap="square">
            <a:spAutoFit/>
          </a:bodyPr>
          <a:lstStyle/>
          <a:p>
            <a:pPr>
              <a:lnSpc>
                <a:spcPct val="150000"/>
              </a:lnSpc>
            </a:pPr>
            <a:r>
              <a:rPr lang="en-US" altLang="zh-CN" sz="2000" b="1" dirty="0">
                <a:latin typeface="+mj-ea"/>
                <a:ea typeface="+mj-ea"/>
              </a:rPr>
              <a:t>2</a:t>
            </a:r>
            <a:r>
              <a:rPr lang="zh-CN" altLang="en-US" sz="2000" b="1" dirty="0">
                <a:latin typeface="+mj-ea"/>
                <a:ea typeface="+mj-ea"/>
              </a:rPr>
              <a:t>）</a:t>
            </a:r>
            <a:r>
              <a:rPr lang="en-US" altLang="zh-CN" sz="2000" b="1" dirty="0">
                <a:latin typeface="+mj-ea"/>
                <a:ea typeface="+mj-ea"/>
              </a:rPr>
              <a:t>RSRP</a:t>
            </a:r>
            <a:r>
              <a:rPr lang="zh-CN" altLang="en-US" sz="2000" b="1" dirty="0">
                <a:latin typeface="+mj-ea"/>
                <a:ea typeface="+mj-ea"/>
              </a:rPr>
              <a:t>连续无覆盖里程占比</a:t>
            </a:r>
          </a:p>
          <a:p>
            <a:pPr>
              <a:lnSpc>
                <a:spcPct val="150000"/>
              </a:lnSpc>
            </a:pPr>
            <a:r>
              <a:rPr lang="zh-CN" altLang="en-US" sz="1600" dirty="0">
                <a:latin typeface="+mj-ea"/>
                <a:ea typeface="+mj-ea"/>
              </a:rPr>
              <a:t>指标说明：评估路测中参考信号</a:t>
            </a:r>
            <a:r>
              <a:rPr lang="en-US" altLang="zh-CN" sz="1600" dirty="0">
                <a:latin typeface="+mj-ea"/>
                <a:ea typeface="+mj-ea"/>
              </a:rPr>
              <a:t>RSRP</a:t>
            </a:r>
            <a:r>
              <a:rPr lang="zh-CN" altLang="en-US" sz="1600" dirty="0">
                <a:latin typeface="+mj-ea"/>
                <a:ea typeface="+mj-ea"/>
              </a:rPr>
              <a:t>接收功率情况，反映服务小区覆盖的主要指标。</a:t>
            </a:r>
          </a:p>
          <a:p>
            <a:pPr>
              <a:lnSpc>
                <a:spcPct val="150000"/>
              </a:lnSpc>
            </a:pPr>
            <a:r>
              <a:rPr lang="zh-CN" altLang="en-US" sz="1600" dirty="0">
                <a:latin typeface="+mj-ea"/>
                <a:ea typeface="+mj-ea"/>
              </a:rPr>
              <a:t>计算公式：</a:t>
            </a:r>
            <a:r>
              <a:rPr lang="en-US" altLang="zh-CN" sz="1600" dirty="0">
                <a:latin typeface="+mj-ea"/>
                <a:ea typeface="+mj-ea"/>
              </a:rPr>
              <a:t>LTE</a:t>
            </a:r>
            <a:r>
              <a:rPr lang="zh-CN" altLang="en-US" sz="1600" dirty="0">
                <a:latin typeface="+mj-ea"/>
                <a:ea typeface="+mj-ea"/>
              </a:rPr>
              <a:t>连续无覆盖里程</a:t>
            </a:r>
            <a:r>
              <a:rPr lang="en-US" altLang="zh-CN" sz="1600" dirty="0">
                <a:latin typeface="+mj-ea"/>
                <a:ea typeface="+mj-ea"/>
              </a:rPr>
              <a:t>/LTE</a:t>
            </a:r>
            <a:r>
              <a:rPr lang="zh-CN" altLang="en-US" sz="1600" dirty="0">
                <a:latin typeface="+mj-ea"/>
                <a:ea typeface="+mj-ea"/>
              </a:rPr>
              <a:t>测试里程</a:t>
            </a:r>
          </a:p>
          <a:p>
            <a:pPr>
              <a:lnSpc>
                <a:spcPct val="150000"/>
              </a:lnSpc>
            </a:pPr>
            <a:r>
              <a:rPr lang="zh-CN" altLang="en-US" sz="1600" dirty="0">
                <a:latin typeface="+mj-ea"/>
                <a:ea typeface="+mj-ea"/>
              </a:rPr>
              <a:t>其中：连续无覆盖里程的定义为持续</a:t>
            </a:r>
            <a:r>
              <a:rPr lang="en-US" altLang="zh-CN" sz="1600" dirty="0">
                <a:latin typeface="+mj-ea"/>
                <a:ea typeface="+mj-ea"/>
              </a:rPr>
              <a:t>10</a:t>
            </a:r>
            <a:r>
              <a:rPr lang="zh-CN" altLang="en-US" sz="1600" dirty="0">
                <a:latin typeface="+mj-ea"/>
                <a:ea typeface="+mj-ea"/>
              </a:rPr>
              <a:t>秒</a:t>
            </a:r>
            <a:r>
              <a:rPr lang="en-US" altLang="zh-CN" sz="1600" dirty="0">
                <a:latin typeface="+mj-ea"/>
                <a:ea typeface="+mj-ea"/>
              </a:rPr>
              <a:t>70%</a:t>
            </a:r>
            <a:r>
              <a:rPr lang="zh-CN" altLang="en-US" sz="1600" dirty="0">
                <a:latin typeface="+mj-ea"/>
                <a:ea typeface="+mj-ea"/>
              </a:rPr>
              <a:t>的采样点路段满足</a:t>
            </a:r>
            <a:r>
              <a:rPr lang="en-US" altLang="zh-CN" sz="1600" dirty="0">
                <a:latin typeface="+mj-ea"/>
                <a:ea typeface="+mj-ea"/>
              </a:rPr>
              <a:t>RSRP&lt;-115dBm</a:t>
            </a:r>
          </a:p>
          <a:p>
            <a:pPr>
              <a:lnSpc>
                <a:spcPct val="150000"/>
              </a:lnSpc>
            </a:pPr>
            <a:r>
              <a:rPr lang="zh-CN" altLang="en-US" sz="1600" dirty="0">
                <a:latin typeface="+mj-ea"/>
                <a:ea typeface="+mj-ea"/>
              </a:rPr>
              <a:t>所属协议层：物理层</a:t>
            </a:r>
            <a:endParaRPr lang="en-US" altLang="zh-CN" sz="1600" dirty="0">
              <a:latin typeface="+mj-ea"/>
              <a:ea typeface="+mj-ea"/>
            </a:endParaRPr>
          </a:p>
          <a:p>
            <a:pPr>
              <a:lnSpc>
                <a:spcPct val="150000"/>
              </a:lnSpc>
            </a:pPr>
            <a:endParaRPr lang="zh-CN" altLang="en-US" sz="1800" dirty="0">
              <a:latin typeface="+mj-ea"/>
              <a:ea typeface="+mj-ea"/>
            </a:endParaRPr>
          </a:p>
          <a:p>
            <a:pPr>
              <a:lnSpc>
                <a:spcPct val="150000"/>
              </a:lnSpc>
            </a:pPr>
            <a:r>
              <a:rPr lang="en-US" altLang="zh-CN" sz="2000" b="1" dirty="0">
                <a:latin typeface="+mj-ea"/>
                <a:ea typeface="+mj-ea"/>
              </a:rPr>
              <a:t>3</a:t>
            </a:r>
            <a:r>
              <a:rPr lang="zh-CN" altLang="en-US" sz="2000" b="1" dirty="0">
                <a:latin typeface="+mj-ea"/>
                <a:ea typeface="+mj-ea"/>
              </a:rPr>
              <a:t>）</a:t>
            </a:r>
            <a:r>
              <a:rPr lang="en-US" altLang="zh-CN" sz="2000" b="1" dirty="0">
                <a:latin typeface="+mj-ea"/>
                <a:ea typeface="+mj-ea"/>
              </a:rPr>
              <a:t>LTE</a:t>
            </a:r>
            <a:r>
              <a:rPr lang="zh-CN" altLang="en-US" sz="2000" b="1" dirty="0">
                <a:latin typeface="+mj-ea"/>
                <a:ea typeface="+mj-ea"/>
              </a:rPr>
              <a:t>覆盖率</a:t>
            </a:r>
          </a:p>
          <a:p>
            <a:pPr>
              <a:lnSpc>
                <a:spcPct val="150000"/>
              </a:lnSpc>
            </a:pPr>
            <a:r>
              <a:rPr lang="zh-CN" altLang="en-US" sz="1600" dirty="0">
                <a:latin typeface="+mj-ea"/>
                <a:ea typeface="+mj-ea"/>
              </a:rPr>
              <a:t>指标说明：评估测试区域</a:t>
            </a:r>
            <a:r>
              <a:rPr lang="en-US" altLang="zh-CN" sz="1600" dirty="0">
                <a:latin typeface="+mj-ea"/>
                <a:ea typeface="+mj-ea"/>
              </a:rPr>
              <a:t>LTE</a:t>
            </a:r>
            <a:r>
              <a:rPr lang="zh-CN" altLang="en-US" sz="1600" dirty="0">
                <a:latin typeface="+mj-ea"/>
                <a:ea typeface="+mj-ea"/>
              </a:rPr>
              <a:t>覆盖情况，反映网络的可用性。</a:t>
            </a:r>
          </a:p>
          <a:p>
            <a:pPr>
              <a:lnSpc>
                <a:spcPct val="150000"/>
              </a:lnSpc>
            </a:pPr>
            <a:r>
              <a:rPr lang="zh-CN" altLang="en-US" sz="1600" dirty="0">
                <a:latin typeface="+mj-ea"/>
                <a:ea typeface="+mj-ea"/>
              </a:rPr>
              <a:t>计算公式：</a:t>
            </a:r>
            <a:r>
              <a:rPr lang="en-US" altLang="zh-CN" sz="1600" dirty="0">
                <a:latin typeface="+mj-ea"/>
                <a:ea typeface="+mj-ea"/>
              </a:rPr>
              <a:t>LTE</a:t>
            </a:r>
            <a:r>
              <a:rPr lang="zh-CN" altLang="en-US" sz="1600" dirty="0">
                <a:latin typeface="+mj-ea"/>
                <a:ea typeface="+mj-ea"/>
              </a:rPr>
              <a:t>条件采样点数</a:t>
            </a:r>
            <a:r>
              <a:rPr lang="en-US" altLang="zh-CN" sz="1600" dirty="0">
                <a:latin typeface="+mj-ea"/>
                <a:ea typeface="+mj-ea"/>
              </a:rPr>
              <a:t>/LTE</a:t>
            </a:r>
            <a:r>
              <a:rPr lang="zh-CN" altLang="en-US" sz="1600" dirty="0">
                <a:latin typeface="+mj-ea"/>
                <a:ea typeface="+mj-ea"/>
              </a:rPr>
              <a:t>总采样点数</a:t>
            </a:r>
          </a:p>
          <a:p>
            <a:pPr>
              <a:lnSpc>
                <a:spcPct val="150000"/>
              </a:lnSpc>
            </a:pPr>
            <a:r>
              <a:rPr lang="zh-CN" altLang="en-US" sz="1600" dirty="0">
                <a:latin typeface="+mj-ea"/>
                <a:ea typeface="+mj-ea"/>
              </a:rPr>
              <a:t>其中：</a:t>
            </a:r>
            <a:r>
              <a:rPr lang="en-US" altLang="zh-CN" sz="1600" dirty="0">
                <a:latin typeface="+mj-ea"/>
                <a:ea typeface="+mj-ea"/>
              </a:rPr>
              <a:t>LTE</a:t>
            </a:r>
            <a:r>
              <a:rPr lang="zh-CN" altLang="en-US" sz="1600" dirty="0">
                <a:latin typeface="+mj-ea"/>
                <a:ea typeface="+mj-ea"/>
              </a:rPr>
              <a:t>条件采样点数的定义为</a:t>
            </a:r>
            <a:r>
              <a:rPr lang="en-US" altLang="zh-CN" sz="1600" dirty="0">
                <a:latin typeface="+mj-ea"/>
                <a:ea typeface="+mj-ea"/>
              </a:rPr>
              <a:t>RSRP&gt;-110dBm </a:t>
            </a:r>
            <a:r>
              <a:rPr lang="zh-CN" altLang="en-US" sz="1600" dirty="0">
                <a:latin typeface="+mj-ea"/>
                <a:ea typeface="+mj-ea"/>
              </a:rPr>
              <a:t>且</a:t>
            </a:r>
            <a:r>
              <a:rPr lang="en-US" altLang="zh-CN" sz="1600" dirty="0">
                <a:latin typeface="+mj-ea"/>
                <a:ea typeface="+mj-ea"/>
              </a:rPr>
              <a:t>SINR &gt;= 0dB</a:t>
            </a:r>
            <a:r>
              <a:rPr lang="zh-CN" altLang="en-US" sz="1600" dirty="0">
                <a:latin typeface="+mj-ea"/>
                <a:ea typeface="+mj-ea"/>
              </a:rPr>
              <a:t>。</a:t>
            </a:r>
          </a:p>
          <a:p>
            <a:pPr>
              <a:lnSpc>
                <a:spcPct val="150000"/>
              </a:lnSpc>
            </a:pPr>
            <a:r>
              <a:rPr lang="zh-CN" altLang="en-US" sz="1600" dirty="0">
                <a:latin typeface="+mj-ea"/>
                <a:ea typeface="+mj-ea"/>
              </a:rPr>
              <a:t>所属协议层：物理层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标题 1"/>
          <p:cNvSpPr txBox="1"/>
          <p:nvPr/>
        </p:nvSpPr>
        <p:spPr bwMode="auto">
          <a:xfrm>
            <a:off x="1064895" y="2127543"/>
            <a:ext cx="185585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覆盖类指标</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271879" y="2543005"/>
            <a:ext cx="8101632" cy="3973011"/>
          </a:xfrm>
          <a:prstGeom prst="rect">
            <a:avLst/>
          </a:prstGeom>
        </p:spPr>
        <p:txBody>
          <a:bodyPr wrap="square">
            <a:spAutoFit/>
          </a:bodyPr>
          <a:lstStyle/>
          <a:p>
            <a:pPr>
              <a:lnSpc>
                <a:spcPct val="150000"/>
              </a:lnSpc>
            </a:pPr>
            <a:r>
              <a:rPr lang="en-US" altLang="zh-CN" sz="2000" b="1" dirty="0">
                <a:latin typeface="+mj-ea"/>
                <a:ea typeface="+mj-ea"/>
              </a:rPr>
              <a:t>1</a:t>
            </a:r>
            <a:r>
              <a:rPr lang="zh-CN" altLang="en-US" sz="2000" b="1" dirty="0">
                <a:latin typeface="+mj-ea"/>
                <a:ea typeface="+mj-ea"/>
              </a:rPr>
              <a:t>）平均</a:t>
            </a:r>
            <a:r>
              <a:rPr lang="en-US" altLang="zh-CN" sz="2000" b="1" dirty="0">
                <a:latin typeface="+mj-ea"/>
                <a:ea typeface="+mj-ea"/>
              </a:rPr>
              <a:t>SINR</a:t>
            </a:r>
          </a:p>
          <a:p>
            <a:pPr>
              <a:lnSpc>
                <a:spcPct val="150000"/>
              </a:lnSpc>
            </a:pPr>
            <a:r>
              <a:rPr lang="zh-CN" altLang="en-US" sz="1600" dirty="0">
                <a:latin typeface="+mj-ea"/>
                <a:ea typeface="+mj-ea"/>
              </a:rPr>
              <a:t>指标说明：</a:t>
            </a:r>
            <a:r>
              <a:rPr lang="en-US" altLang="zh-CN" sz="1600" dirty="0">
                <a:latin typeface="+mj-ea"/>
                <a:ea typeface="+mj-ea"/>
              </a:rPr>
              <a:t>CRS-SINR</a:t>
            </a:r>
            <a:r>
              <a:rPr lang="zh-CN" altLang="en-US" sz="1600" dirty="0">
                <a:latin typeface="+mj-ea"/>
                <a:ea typeface="+mj-ea"/>
              </a:rPr>
              <a:t>是参考信号干扰噪声比，用于评估路测中</a:t>
            </a:r>
            <a:r>
              <a:rPr lang="en-US" altLang="zh-CN" sz="1600" dirty="0">
                <a:latin typeface="+mj-ea"/>
                <a:ea typeface="+mj-ea"/>
              </a:rPr>
              <a:t>LTE</a:t>
            </a:r>
            <a:r>
              <a:rPr lang="zh-CN" altLang="en-US" sz="1600" dirty="0">
                <a:latin typeface="+mj-ea"/>
                <a:ea typeface="+mj-ea"/>
              </a:rPr>
              <a:t>平均干扰水平，反映网络质量的指标。</a:t>
            </a:r>
          </a:p>
          <a:p>
            <a:pPr>
              <a:lnSpc>
                <a:spcPct val="150000"/>
              </a:lnSpc>
            </a:pPr>
            <a:r>
              <a:rPr lang="zh-CN" altLang="en-US" sz="1600" dirty="0">
                <a:latin typeface="+mj-ea"/>
                <a:ea typeface="+mj-ea"/>
              </a:rPr>
              <a:t>计算公式：</a:t>
            </a:r>
            <a:r>
              <a:rPr lang="en-US" altLang="zh-CN" sz="1600" dirty="0">
                <a:latin typeface="+mj-ea"/>
                <a:ea typeface="+mj-ea"/>
              </a:rPr>
              <a:t>LTE SINR</a:t>
            </a:r>
            <a:r>
              <a:rPr lang="zh-CN" altLang="en-US" sz="1600" dirty="0">
                <a:latin typeface="+mj-ea"/>
                <a:ea typeface="+mj-ea"/>
              </a:rPr>
              <a:t>采样值总和</a:t>
            </a:r>
            <a:r>
              <a:rPr lang="en-US" altLang="zh-CN" sz="1600" dirty="0">
                <a:latin typeface="+mj-ea"/>
                <a:ea typeface="+mj-ea"/>
              </a:rPr>
              <a:t>/LTE</a:t>
            </a:r>
            <a:r>
              <a:rPr lang="zh-CN" altLang="en-US" sz="1600" dirty="0">
                <a:latin typeface="+mj-ea"/>
                <a:ea typeface="+mj-ea"/>
              </a:rPr>
              <a:t>总</a:t>
            </a:r>
            <a:r>
              <a:rPr lang="en-US" altLang="zh-CN" sz="1600" dirty="0">
                <a:latin typeface="+mj-ea"/>
                <a:ea typeface="+mj-ea"/>
              </a:rPr>
              <a:t>SINR</a:t>
            </a:r>
            <a:r>
              <a:rPr lang="zh-CN" altLang="en-US" sz="1600" dirty="0">
                <a:latin typeface="+mj-ea"/>
                <a:ea typeface="+mj-ea"/>
              </a:rPr>
              <a:t>采样点个数</a:t>
            </a:r>
          </a:p>
          <a:p>
            <a:pPr>
              <a:lnSpc>
                <a:spcPct val="150000"/>
              </a:lnSpc>
            </a:pPr>
            <a:r>
              <a:rPr lang="zh-CN" altLang="en-US" sz="1600" dirty="0">
                <a:latin typeface="+mj-ea"/>
                <a:ea typeface="+mj-ea"/>
              </a:rPr>
              <a:t>所属协议层：物理层</a:t>
            </a:r>
            <a:endParaRPr lang="en-US" altLang="zh-CN" sz="1600" dirty="0">
              <a:latin typeface="+mj-ea"/>
              <a:ea typeface="+mj-ea"/>
            </a:endParaRPr>
          </a:p>
          <a:p>
            <a:pPr>
              <a:lnSpc>
                <a:spcPct val="150000"/>
              </a:lnSpc>
            </a:pPr>
            <a:endParaRPr lang="zh-CN" altLang="en-US" sz="1800" dirty="0">
              <a:latin typeface="+mj-ea"/>
              <a:ea typeface="+mj-ea"/>
            </a:endParaRPr>
          </a:p>
          <a:p>
            <a:pPr>
              <a:lnSpc>
                <a:spcPct val="150000"/>
              </a:lnSpc>
            </a:pPr>
            <a:r>
              <a:rPr lang="en-US" altLang="zh-CN" sz="2000" b="1" dirty="0">
                <a:latin typeface="+mj-ea"/>
                <a:ea typeface="+mj-ea"/>
              </a:rPr>
              <a:t>2</a:t>
            </a:r>
            <a:r>
              <a:rPr lang="zh-CN" altLang="en-US" sz="2000" b="1" dirty="0">
                <a:latin typeface="+mj-ea"/>
                <a:ea typeface="+mj-ea"/>
              </a:rPr>
              <a:t>）边缘</a:t>
            </a:r>
            <a:r>
              <a:rPr lang="en-US" altLang="zh-CN" sz="2000" b="1" dirty="0">
                <a:latin typeface="+mj-ea"/>
                <a:ea typeface="+mj-ea"/>
              </a:rPr>
              <a:t>SINR</a:t>
            </a:r>
          </a:p>
          <a:p>
            <a:pPr>
              <a:lnSpc>
                <a:spcPct val="150000"/>
              </a:lnSpc>
            </a:pPr>
            <a:r>
              <a:rPr lang="zh-CN" altLang="en-US" sz="1600" dirty="0">
                <a:latin typeface="+mj-ea"/>
                <a:ea typeface="+mj-ea"/>
              </a:rPr>
              <a:t>指标说明：</a:t>
            </a:r>
            <a:r>
              <a:rPr lang="en-US" altLang="zh-CN" sz="1600" dirty="0">
                <a:latin typeface="+mj-ea"/>
                <a:ea typeface="+mj-ea"/>
              </a:rPr>
              <a:t>CRS-SINR</a:t>
            </a:r>
            <a:r>
              <a:rPr lang="zh-CN" altLang="en-US" sz="1600" dirty="0">
                <a:latin typeface="+mj-ea"/>
                <a:ea typeface="+mj-ea"/>
              </a:rPr>
              <a:t>是参考信号干扰噪声比，用于衡量小区边缘的干扰情况及网络质量。</a:t>
            </a:r>
          </a:p>
          <a:p>
            <a:pPr>
              <a:lnSpc>
                <a:spcPct val="150000"/>
              </a:lnSpc>
            </a:pPr>
            <a:r>
              <a:rPr lang="zh-CN" altLang="en-US" sz="1600" dirty="0">
                <a:latin typeface="+mj-ea"/>
                <a:ea typeface="+mj-ea"/>
              </a:rPr>
              <a:t>指标定义：</a:t>
            </a:r>
            <a:r>
              <a:rPr lang="en-US" altLang="zh-CN" sz="1600" dirty="0">
                <a:latin typeface="+mj-ea"/>
                <a:ea typeface="+mj-ea"/>
              </a:rPr>
              <a:t>CRS-SINR</a:t>
            </a:r>
            <a:r>
              <a:rPr lang="zh-CN" altLang="en-US" sz="1600" dirty="0">
                <a:latin typeface="+mj-ea"/>
                <a:ea typeface="+mj-ea"/>
              </a:rPr>
              <a:t>采样点</a:t>
            </a:r>
            <a:r>
              <a:rPr lang="en-US" altLang="zh-CN" sz="1600" dirty="0">
                <a:latin typeface="+mj-ea"/>
                <a:ea typeface="+mj-ea"/>
              </a:rPr>
              <a:t>CDF </a:t>
            </a:r>
            <a:r>
              <a:rPr lang="zh-CN" altLang="en-US" sz="1600" dirty="0">
                <a:latin typeface="+mj-ea"/>
                <a:ea typeface="+mj-ea"/>
              </a:rPr>
              <a:t>（累计概率分布）</a:t>
            </a:r>
            <a:r>
              <a:rPr lang="en-US" altLang="zh-CN" sz="1600" dirty="0">
                <a:latin typeface="+mj-ea"/>
                <a:ea typeface="+mj-ea"/>
              </a:rPr>
              <a:t>5%</a:t>
            </a:r>
            <a:r>
              <a:rPr lang="zh-CN" altLang="en-US" sz="1600" dirty="0">
                <a:latin typeface="+mj-ea"/>
                <a:ea typeface="+mj-ea"/>
              </a:rPr>
              <a:t>对应的值</a:t>
            </a:r>
          </a:p>
          <a:p>
            <a:pPr>
              <a:lnSpc>
                <a:spcPct val="150000"/>
              </a:lnSpc>
            </a:pPr>
            <a:r>
              <a:rPr lang="zh-CN" altLang="en-US" sz="1600" dirty="0">
                <a:latin typeface="+mj-ea"/>
                <a:ea typeface="+mj-ea"/>
              </a:rPr>
              <a:t>所属协议层：物理层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干扰类指标</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099356" y="3226466"/>
            <a:ext cx="8620889" cy="2215991"/>
          </a:xfrm>
          <a:prstGeom prst="rect">
            <a:avLst/>
          </a:prstGeom>
        </p:spPr>
        <p:txBody>
          <a:bodyPr wrap="square">
            <a:spAutoFit/>
          </a:bodyPr>
          <a:lstStyle/>
          <a:p>
            <a:pPr>
              <a:lnSpc>
                <a:spcPct val="150000"/>
              </a:lnSpc>
            </a:pPr>
            <a:r>
              <a:rPr lang="en-US" altLang="zh-CN" sz="2000" b="1" dirty="0">
                <a:latin typeface="+mj-ea"/>
                <a:ea typeface="+mj-ea"/>
              </a:rPr>
              <a:t>3</a:t>
            </a:r>
            <a:r>
              <a:rPr lang="zh-CN" altLang="en-US" sz="2000" b="1" dirty="0">
                <a:latin typeface="+mj-ea"/>
                <a:ea typeface="+mj-ea"/>
              </a:rPr>
              <a:t>）连续</a:t>
            </a:r>
            <a:r>
              <a:rPr lang="en-US" altLang="zh-CN" sz="2000" b="1" dirty="0">
                <a:latin typeface="+mj-ea"/>
                <a:ea typeface="+mj-ea"/>
              </a:rPr>
              <a:t>SINR</a:t>
            </a:r>
            <a:r>
              <a:rPr lang="zh-CN" altLang="en-US" sz="2000" b="1" dirty="0">
                <a:latin typeface="+mj-ea"/>
                <a:ea typeface="+mj-ea"/>
              </a:rPr>
              <a:t>质差里程占比</a:t>
            </a:r>
          </a:p>
          <a:p>
            <a:pPr>
              <a:lnSpc>
                <a:spcPct val="150000"/>
              </a:lnSpc>
            </a:pPr>
            <a:r>
              <a:rPr lang="zh-CN" altLang="en-US" sz="1800" dirty="0">
                <a:latin typeface="+mj-ea"/>
                <a:ea typeface="+mj-ea"/>
              </a:rPr>
              <a:t>指标说明：</a:t>
            </a:r>
            <a:r>
              <a:rPr lang="en-US" altLang="zh-CN" sz="1800" dirty="0">
                <a:latin typeface="+mj-ea"/>
                <a:ea typeface="+mj-ea"/>
              </a:rPr>
              <a:t>CRS-SINR</a:t>
            </a:r>
            <a:r>
              <a:rPr lang="zh-CN" altLang="en-US" sz="1800" dirty="0">
                <a:latin typeface="+mj-ea"/>
                <a:ea typeface="+mj-ea"/>
              </a:rPr>
              <a:t>是参考信号干扰噪声比，用于评估和衡量网络质量。</a:t>
            </a:r>
          </a:p>
          <a:p>
            <a:pPr>
              <a:lnSpc>
                <a:spcPct val="150000"/>
              </a:lnSpc>
            </a:pPr>
            <a:r>
              <a:rPr lang="zh-CN" altLang="en-US" sz="1800" dirty="0">
                <a:latin typeface="+mj-ea"/>
                <a:ea typeface="+mj-ea"/>
              </a:rPr>
              <a:t>指标定义：连续</a:t>
            </a:r>
            <a:r>
              <a:rPr lang="en-US" altLang="zh-CN" sz="1800" dirty="0">
                <a:latin typeface="+mj-ea"/>
                <a:ea typeface="+mj-ea"/>
              </a:rPr>
              <a:t>SINR</a:t>
            </a:r>
            <a:r>
              <a:rPr lang="zh-CN" altLang="en-US" sz="1800" dirty="0">
                <a:latin typeface="+mj-ea"/>
                <a:ea typeface="+mj-ea"/>
              </a:rPr>
              <a:t>质差里程</a:t>
            </a:r>
            <a:r>
              <a:rPr lang="en-US" altLang="zh-CN" sz="1800" dirty="0">
                <a:latin typeface="+mj-ea"/>
                <a:ea typeface="+mj-ea"/>
              </a:rPr>
              <a:t>/LTE</a:t>
            </a:r>
            <a:r>
              <a:rPr lang="zh-CN" altLang="en-US" sz="1800" dirty="0">
                <a:latin typeface="+mj-ea"/>
                <a:ea typeface="+mj-ea"/>
              </a:rPr>
              <a:t>测试里程</a:t>
            </a:r>
          </a:p>
          <a:p>
            <a:pPr>
              <a:lnSpc>
                <a:spcPct val="150000"/>
              </a:lnSpc>
            </a:pPr>
            <a:r>
              <a:rPr lang="zh-CN" altLang="en-US" sz="1800" dirty="0">
                <a:latin typeface="+mj-ea"/>
                <a:ea typeface="+mj-ea"/>
              </a:rPr>
              <a:t>其中：</a:t>
            </a:r>
            <a:r>
              <a:rPr lang="en-US" altLang="zh-CN" sz="1800" dirty="0">
                <a:latin typeface="+mj-ea"/>
                <a:ea typeface="+mj-ea"/>
              </a:rPr>
              <a:t>SINR</a:t>
            </a:r>
            <a:r>
              <a:rPr lang="zh-CN" altLang="en-US" sz="1800" dirty="0">
                <a:latin typeface="+mj-ea"/>
                <a:ea typeface="+mj-ea"/>
              </a:rPr>
              <a:t>质差里程定义为持续</a:t>
            </a:r>
            <a:r>
              <a:rPr lang="en-US" altLang="zh-CN" sz="1800" dirty="0">
                <a:latin typeface="+mj-ea"/>
                <a:ea typeface="+mj-ea"/>
              </a:rPr>
              <a:t>10</a:t>
            </a:r>
            <a:r>
              <a:rPr lang="zh-CN" altLang="en-US" sz="1800" dirty="0">
                <a:latin typeface="+mj-ea"/>
                <a:ea typeface="+mj-ea"/>
              </a:rPr>
              <a:t>秒且</a:t>
            </a:r>
            <a:r>
              <a:rPr lang="en-US" altLang="zh-CN" sz="1800" dirty="0">
                <a:latin typeface="+mj-ea"/>
                <a:ea typeface="+mj-ea"/>
              </a:rPr>
              <a:t>70%</a:t>
            </a:r>
            <a:r>
              <a:rPr lang="zh-CN" altLang="en-US" sz="1800" dirty="0">
                <a:latin typeface="+mj-ea"/>
                <a:ea typeface="+mj-ea"/>
              </a:rPr>
              <a:t>的采样点</a:t>
            </a:r>
            <a:r>
              <a:rPr lang="en-US" altLang="zh-CN" sz="1800" dirty="0">
                <a:latin typeface="+mj-ea"/>
                <a:ea typeface="+mj-ea"/>
              </a:rPr>
              <a:t>CRS-SINR&lt;-1dB</a:t>
            </a:r>
            <a:r>
              <a:rPr lang="zh-CN" altLang="en-US" sz="1800" dirty="0">
                <a:latin typeface="+mj-ea"/>
                <a:ea typeface="+mj-ea"/>
              </a:rPr>
              <a:t>的连续路段。</a:t>
            </a:r>
          </a:p>
          <a:p>
            <a:pPr>
              <a:lnSpc>
                <a:spcPct val="150000"/>
              </a:lnSpc>
            </a:pPr>
            <a:r>
              <a:rPr lang="zh-CN" altLang="en-US" sz="1800" dirty="0">
                <a:latin typeface="+mj-ea"/>
                <a:ea typeface="+mj-ea"/>
              </a:rPr>
              <a:t>所属协议层：物理层</a:t>
            </a:r>
          </a:p>
        </p:txBody>
      </p:sp>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干扰类指标</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eaLnBrk="1" hangingPunct="1">
              <a:lnSpc>
                <a:spcPct val="90000"/>
              </a:lnSpc>
              <a:buFont typeface="Wingdings" panose="05000000000000000000" pitchFamily="2" charset="2"/>
              <a:buChar char="u"/>
              <a:defRPr/>
            </a:pPr>
            <a:r>
              <a:rPr lang="zh-CN" altLang="en-US" sz="2000" b="1" dirty="0">
                <a:solidFill>
                  <a:srgbClr val="005BAA"/>
                </a:solidFill>
              </a:rPr>
              <a:t>调度类指标</a:t>
            </a:r>
          </a:p>
        </p:txBody>
      </p:sp>
      <p:sp>
        <p:nvSpPr>
          <p:cNvPr id="9" name="矩形 8"/>
          <p:cNvSpPr/>
          <p:nvPr/>
        </p:nvSpPr>
        <p:spPr>
          <a:xfrm>
            <a:off x="1283816" y="2735602"/>
            <a:ext cx="4607772" cy="3924151"/>
          </a:xfrm>
          <a:prstGeom prst="rect">
            <a:avLst/>
          </a:prstGeom>
        </p:spPr>
        <p:txBody>
          <a:bodyPr wrap="square">
            <a:spAutoFit/>
          </a:bodyPr>
          <a:lstStyle/>
          <a:p>
            <a:r>
              <a:rPr lang="en-US" altLang="zh-CN" sz="2000" b="1" dirty="0">
                <a:latin typeface="+mj-ea"/>
                <a:ea typeface="+mj-ea"/>
              </a:rPr>
              <a:t>1</a:t>
            </a:r>
            <a:r>
              <a:rPr lang="zh-CN" altLang="en-US" sz="2000" b="1" dirty="0">
                <a:latin typeface="+mj-ea"/>
                <a:ea typeface="+mj-ea"/>
              </a:rPr>
              <a:t>）下行平均每时隙调度</a:t>
            </a:r>
            <a:r>
              <a:rPr lang="en-US" altLang="zh-CN" sz="2000" b="1" dirty="0">
                <a:latin typeface="+mj-ea"/>
                <a:ea typeface="+mj-ea"/>
              </a:rPr>
              <a:t>PRB</a:t>
            </a:r>
            <a:r>
              <a:rPr lang="zh-CN" altLang="en-US" sz="2000" b="1" dirty="0">
                <a:latin typeface="+mj-ea"/>
                <a:ea typeface="+mj-ea"/>
              </a:rPr>
              <a:t>个数</a:t>
            </a:r>
          </a:p>
          <a:p>
            <a:pPr>
              <a:lnSpc>
                <a:spcPct val="150000"/>
              </a:lnSpc>
            </a:pPr>
            <a:r>
              <a:rPr lang="zh-CN" altLang="en-US" sz="1600" dirty="0">
                <a:latin typeface="+mj-ea"/>
                <a:ea typeface="+mj-ea"/>
              </a:rPr>
              <a:t>指标说明：描述下行频域的调度情况</a:t>
            </a:r>
          </a:p>
          <a:p>
            <a:pPr>
              <a:lnSpc>
                <a:spcPct val="150000"/>
              </a:lnSpc>
            </a:pPr>
            <a:r>
              <a:rPr lang="zh-CN" altLang="en-US" sz="1600" dirty="0">
                <a:latin typeface="+mj-ea"/>
                <a:ea typeface="+mj-ea"/>
              </a:rPr>
              <a:t>指标定义：下行业务调度</a:t>
            </a:r>
            <a:r>
              <a:rPr lang="en-US" altLang="zh-CN" sz="1600" dirty="0">
                <a:latin typeface="+mj-ea"/>
                <a:ea typeface="+mj-ea"/>
              </a:rPr>
              <a:t>PRB</a:t>
            </a:r>
            <a:r>
              <a:rPr lang="zh-CN" altLang="en-US" sz="1600" dirty="0">
                <a:latin typeface="+mj-ea"/>
                <a:ea typeface="+mj-ea"/>
              </a:rPr>
              <a:t>个数总和</a:t>
            </a:r>
            <a:r>
              <a:rPr lang="en-US" altLang="zh-CN" sz="1600" dirty="0">
                <a:latin typeface="+mj-ea"/>
                <a:ea typeface="+mj-ea"/>
              </a:rPr>
              <a:t>/</a:t>
            </a:r>
            <a:r>
              <a:rPr lang="zh-CN" altLang="en-US" sz="1600" dirty="0">
                <a:latin typeface="+mj-ea"/>
                <a:ea typeface="+mj-ea"/>
              </a:rPr>
              <a:t>（已调度</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给</a:t>
            </a:r>
            <a:r>
              <a:rPr lang="en-US" altLang="zh-CN" sz="1600" dirty="0">
                <a:latin typeface="+mj-ea"/>
                <a:ea typeface="+mj-ea"/>
              </a:rPr>
              <a:t>UE</a:t>
            </a:r>
            <a:r>
              <a:rPr lang="zh-CN" altLang="en-US" sz="1600" dirty="0">
                <a:latin typeface="+mj-ea"/>
                <a:ea typeface="+mj-ea"/>
              </a:rPr>
              <a:t>的子帧数*</a:t>
            </a:r>
            <a:r>
              <a:rPr lang="en-US" altLang="zh-CN" sz="1600" dirty="0">
                <a:latin typeface="+mj-ea"/>
                <a:ea typeface="+mj-ea"/>
              </a:rPr>
              <a:t>2</a:t>
            </a:r>
            <a:r>
              <a:rPr lang="zh-CN" altLang="en-US" sz="1600" dirty="0">
                <a:latin typeface="+mj-ea"/>
                <a:ea typeface="+mj-ea"/>
              </a:rPr>
              <a:t>）</a:t>
            </a:r>
          </a:p>
          <a:p>
            <a:pPr>
              <a:lnSpc>
                <a:spcPct val="150000"/>
              </a:lnSpc>
            </a:pPr>
            <a:r>
              <a:rPr lang="zh-CN" altLang="en-US" sz="1600" dirty="0">
                <a:latin typeface="+mj-ea"/>
                <a:ea typeface="+mj-ea"/>
              </a:rPr>
              <a:t>所属协议层：</a:t>
            </a:r>
            <a:r>
              <a:rPr lang="en-US" altLang="zh-CN" sz="1600" dirty="0">
                <a:latin typeface="+mj-ea"/>
                <a:ea typeface="+mj-ea"/>
              </a:rPr>
              <a:t>MAC</a:t>
            </a:r>
            <a:r>
              <a:rPr lang="zh-CN" altLang="en-US" sz="1600" dirty="0">
                <a:latin typeface="+mj-ea"/>
                <a:ea typeface="+mj-ea"/>
              </a:rPr>
              <a:t>层</a:t>
            </a:r>
            <a:endParaRPr lang="en-US" altLang="zh-CN" sz="1600" dirty="0">
              <a:latin typeface="+mj-ea"/>
              <a:ea typeface="+mj-ea"/>
            </a:endParaRPr>
          </a:p>
          <a:p>
            <a:endParaRPr lang="zh-CN" altLang="en-US" sz="1800" dirty="0">
              <a:latin typeface="+mj-ea"/>
              <a:ea typeface="+mj-ea"/>
            </a:endParaRPr>
          </a:p>
          <a:p>
            <a:r>
              <a:rPr lang="en-US" altLang="zh-CN" sz="2000" b="1" dirty="0">
                <a:latin typeface="+mj-ea"/>
                <a:ea typeface="+mj-ea"/>
              </a:rPr>
              <a:t>2</a:t>
            </a:r>
            <a:r>
              <a:rPr lang="zh-CN" altLang="en-US" sz="2000" b="1" dirty="0">
                <a:latin typeface="+mj-ea"/>
                <a:ea typeface="+mj-ea"/>
              </a:rPr>
              <a:t>）上行平均每时隙调度</a:t>
            </a:r>
            <a:r>
              <a:rPr lang="en-US" altLang="zh-CN" sz="2000" b="1" dirty="0">
                <a:latin typeface="+mj-ea"/>
                <a:ea typeface="+mj-ea"/>
              </a:rPr>
              <a:t>PRB</a:t>
            </a:r>
            <a:r>
              <a:rPr lang="zh-CN" altLang="en-US" sz="2000" b="1" dirty="0">
                <a:latin typeface="+mj-ea"/>
                <a:ea typeface="+mj-ea"/>
              </a:rPr>
              <a:t>个数</a:t>
            </a:r>
          </a:p>
          <a:p>
            <a:pPr>
              <a:lnSpc>
                <a:spcPct val="150000"/>
              </a:lnSpc>
            </a:pPr>
            <a:r>
              <a:rPr lang="zh-CN" altLang="en-US" sz="1600" dirty="0">
                <a:latin typeface="+mj-ea"/>
                <a:ea typeface="+mj-ea"/>
              </a:rPr>
              <a:t>指标说明：描述上行频域的调度情况</a:t>
            </a:r>
          </a:p>
          <a:p>
            <a:pPr>
              <a:lnSpc>
                <a:spcPct val="150000"/>
              </a:lnSpc>
            </a:pPr>
            <a:r>
              <a:rPr lang="zh-CN" altLang="en-US" sz="1600" dirty="0">
                <a:latin typeface="+mj-ea"/>
                <a:ea typeface="+mj-ea"/>
              </a:rPr>
              <a:t>指标定义：上行业务调度</a:t>
            </a:r>
            <a:r>
              <a:rPr lang="en-US" altLang="zh-CN" sz="1600" dirty="0">
                <a:latin typeface="+mj-ea"/>
                <a:ea typeface="+mj-ea"/>
              </a:rPr>
              <a:t>PRB</a:t>
            </a:r>
            <a:r>
              <a:rPr lang="zh-CN" altLang="en-US" sz="1600" dirty="0">
                <a:latin typeface="+mj-ea"/>
                <a:ea typeface="+mj-ea"/>
              </a:rPr>
              <a:t>个数总和</a:t>
            </a:r>
            <a:r>
              <a:rPr lang="en-US" altLang="zh-CN" sz="1600" dirty="0">
                <a:latin typeface="+mj-ea"/>
                <a:ea typeface="+mj-ea"/>
              </a:rPr>
              <a:t>/</a:t>
            </a:r>
            <a:r>
              <a:rPr lang="zh-CN" altLang="en-US" sz="1600" dirty="0">
                <a:latin typeface="+mj-ea"/>
                <a:ea typeface="+mj-ea"/>
              </a:rPr>
              <a:t>（已调度</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给</a:t>
            </a:r>
            <a:r>
              <a:rPr lang="en-US" altLang="zh-CN" sz="1600" dirty="0">
                <a:latin typeface="+mj-ea"/>
                <a:ea typeface="+mj-ea"/>
              </a:rPr>
              <a:t>UE</a:t>
            </a:r>
            <a:r>
              <a:rPr lang="zh-CN" altLang="en-US" sz="1600" dirty="0">
                <a:latin typeface="+mj-ea"/>
                <a:ea typeface="+mj-ea"/>
              </a:rPr>
              <a:t>的子帧数*</a:t>
            </a:r>
            <a:r>
              <a:rPr lang="en-US" altLang="zh-CN" sz="1600" dirty="0">
                <a:latin typeface="+mj-ea"/>
                <a:ea typeface="+mj-ea"/>
              </a:rPr>
              <a:t>2</a:t>
            </a:r>
            <a:r>
              <a:rPr lang="zh-CN" altLang="en-US" sz="1600" dirty="0">
                <a:latin typeface="+mj-ea"/>
                <a:ea typeface="+mj-ea"/>
              </a:rPr>
              <a:t>）</a:t>
            </a:r>
          </a:p>
          <a:p>
            <a:pPr>
              <a:lnSpc>
                <a:spcPct val="150000"/>
              </a:lnSpc>
            </a:pPr>
            <a:r>
              <a:rPr lang="zh-CN" altLang="en-US" sz="1600" dirty="0">
                <a:latin typeface="+mj-ea"/>
                <a:ea typeface="+mj-ea"/>
              </a:rPr>
              <a:t>所属协议层：</a:t>
            </a:r>
            <a:r>
              <a:rPr lang="en-US" altLang="zh-CN" sz="1600" dirty="0">
                <a:latin typeface="+mj-ea"/>
                <a:ea typeface="+mj-ea"/>
              </a:rPr>
              <a:t>MAC</a:t>
            </a:r>
            <a:r>
              <a:rPr lang="zh-CN" altLang="en-US" sz="1600" dirty="0">
                <a:latin typeface="+mj-ea"/>
                <a:ea typeface="+mj-ea"/>
              </a:rPr>
              <a:t>层</a:t>
            </a:r>
          </a:p>
        </p:txBody>
      </p:sp>
      <p:sp>
        <p:nvSpPr>
          <p:cNvPr id="2" name="矩形 1"/>
          <p:cNvSpPr/>
          <p:nvPr/>
        </p:nvSpPr>
        <p:spPr>
          <a:xfrm>
            <a:off x="6561810" y="2735602"/>
            <a:ext cx="4794039" cy="3170099"/>
          </a:xfrm>
          <a:prstGeom prst="rect">
            <a:avLst/>
          </a:prstGeom>
        </p:spPr>
        <p:txBody>
          <a:bodyPr wrap="square">
            <a:spAutoFit/>
          </a:bodyPr>
          <a:lstStyle/>
          <a:p>
            <a:r>
              <a:rPr lang="en-US" altLang="zh-CN" sz="2000" b="1" dirty="0">
                <a:latin typeface="+mj-ea"/>
              </a:rPr>
              <a:t>3</a:t>
            </a:r>
            <a:r>
              <a:rPr lang="zh-CN" altLang="en-US" sz="2000" b="1" dirty="0">
                <a:latin typeface="+mj-ea"/>
              </a:rPr>
              <a:t>）下行平均每秒调度</a:t>
            </a:r>
            <a:r>
              <a:rPr lang="en-US" altLang="zh-CN" sz="2000" b="1" dirty="0">
                <a:latin typeface="+mj-ea"/>
              </a:rPr>
              <a:t>PRB</a:t>
            </a:r>
            <a:r>
              <a:rPr lang="zh-CN" altLang="en-US" sz="2000" b="1" dirty="0">
                <a:latin typeface="+mj-ea"/>
              </a:rPr>
              <a:t>个数</a:t>
            </a:r>
          </a:p>
          <a:p>
            <a:pPr>
              <a:lnSpc>
                <a:spcPct val="150000"/>
              </a:lnSpc>
            </a:pPr>
            <a:r>
              <a:rPr lang="zh-CN" altLang="en-US" sz="1600" dirty="0">
                <a:latin typeface="+mj-ea"/>
                <a:ea typeface="+mj-ea"/>
              </a:rPr>
              <a:t>指标说明：描述</a:t>
            </a:r>
            <a:r>
              <a:rPr lang="en-US" altLang="zh-CN" sz="1600" dirty="0">
                <a:latin typeface="+mj-ea"/>
                <a:ea typeface="+mj-ea"/>
              </a:rPr>
              <a:t>UE</a:t>
            </a:r>
            <a:r>
              <a:rPr lang="zh-CN" altLang="en-US" sz="1600" dirty="0">
                <a:latin typeface="+mj-ea"/>
                <a:ea typeface="+mj-ea"/>
              </a:rPr>
              <a:t>的资源分配情况</a:t>
            </a:r>
          </a:p>
          <a:p>
            <a:pPr>
              <a:lnSpc>
                <a:spcPct val="150000"/>
              </a:lnSpc>
            </a:pPr>
            <a:r>
              <a:rPr lang="zh-CN" altLang="en-US" sz="1600" dirty="0">
                <a:latin typeface="+mj-ea"/>
                <a:ea typeface="+mj-ea"/>
              </a:rPr>
              <a:t>指标定义：下载过程中调度</a:t>
            </a:r>
            <a:r>
              <a:rPr lang="en-US" altLang="zh-CN" sz="1600" dirty="0">
                <a:latin typeface="+mj-ea"/>
                <a:ea typeface="+mj-ea"/>
              </a:rPr>
              <a:t>PRB</a:t>
            </a:r>
            <a:r>
              <a:rPr lang="zh-CN" altLang="en-US" sz="1600" dirty="0">
                <a:latin typeface="+mj-ea"/>
                <a:ea typeface="+mj-ea"/>
              </a:rPr>
              <a:t>总个数</a:t>
            </a:r>
            <a:r>
              <a:rPr lang="en-US" altLang="zh-CN" sz="1600" dirty="0">
                <a:latin typeface="+mj-ea"/>
                <a:ea typeface="+mj-ea"/>
              </a:rPr>
              <a:t>/</a:t>
            </a:r>
            <a:r>
              <a:rPr lang="zh-CN" altLang="en-US" sz="1600" dirty="0">
                <a:latin typeface="+mj-ea"/>
                <a:ea typeface="+mj-ea"/>
              </a:rPr>
              <a:t>总下载时长</a:t>
            </a:r>
          </a:p>
          <a:p>
            <a:pPr>
              <a:lnSpc>
                <a:spcPct val="150000"/>
              </a:lnSpc>
            </a:pPr>
            <a:r>
              <a:rPr lang="zh-CN" altLang="en-US" sz="1600" dirty="0">
                <a:latin typeface="+mj-ea"/>
                <a:ea typeface="+mj-ea"/>
              </a:rPr>
              <a:t>所属协议层：</a:t>
            </a:r>
            <a:r>
              <a:rPr lang="en-US" altLang="zh-CN" sz="1600" dirty="0">
                <a:latin typeface="+mj-ea"/>
                <a:ea typeface="+mj-ea"/>
              </a:rPr>
              <a:t>MAC</a:t>
            </a:r>
            <a:r>
              <a:rPr lang="zh-CN" altLang="en-US" sz="1600" dirty="0">
                <a:latin typeface="+mj-ea"/>
                <a:ea typeface="+mj-ea"/>
              </a:rPr>
              <a:t>层</a:t>
            </a:r>
            <a:endParaRPr lang="en-US" altLang="zh-CN" sz="1600" dirty="0">
              <a:latin typeface="+mj-ea"/>
              <a:ea typeface="+mj-ea"/>
            </a:endParaRPr>
          </a:p>
          <a:p>
            <a:endParaRPr lang="zh-CN" altLang="en-US" dirty="0">
              <a:latin typeface="+mj-ea"/>
            </a:endParaRPr>
          </a:p>
          <a:p>
            <a:r>
              <a:rPr lang="en-US" altLang="zh-CN" sz="2000" b="1" dirty="0">
                <a:latin typeface="+mj-ea"/>
              </a:rPr>
              <a:t>4</a:t>
            </a:r>
            <a:r>
              <a:rPr lang="zh-CN" altLang="en-US" sz="2000" b="1" dirty="0">
                <a:latin typeface="+mj-ea"/>
              </a:rPr>
              <a:t>）上行平均每秒调度</a:t>
            </a:r>
            <a:r>
              <a:rPr lang="en-US" altLang="zh-CN" sz="2000" b="1" dirty="0">
                <a:latin typeface="+mj-ea"/>
              </a:rPr>
              <a:t>PRB</a:t>
            </a:r>
            <a:r>
              <a:rPr lang="zh-CN" altLang="en-US" sz="2000" b="1" dirty="0">
                <a:latin typeface="+mj-ea"/>
              </a:rPr>
              <a:t>个数</a:t>
            </a:r>
          </a:p>
          <a:p>
            <a:pPr>
              <a:lnSpc>
                <a:spcPct val="150000"/>
              </a:lnSpc>
            </a:pPr>
            <a:r>
              <a:rPr lang="zh-CN" altLang="en-US" sz="1600" dirty="0">
                <a:latin typeface="+mj-ea"/>
                <a:ea typeface="+mj-ea"/>
              </a:rPr>
              <a:t>指标说明：描述</a:t>
            </a:r>
            <a:r>
              <a:rPr lang="en-US" altLang="zh-CN" sz="1600" dirty="0">
                <a:latin typeface="+mj-ea"/>
                <a:ea typeface="+mj-ea"/>
              </a:rPr>
              <a:t>UE</a:t>
            </a:r>
            <a:r>
              <a:rPr lang="zh-CN" altLang="en-US" sz="1600" dirty="0">
                <a:latin typeface="+mj-ea"/>
                <a:ea typeface="+mj-ea"/>
              </a:rPr>
              <a:t>的资源分配情况</a:t>
            </a:r>
          </a:p>
          <a:p>
            <a:pPr>
              <a:lnSpc>
                <a:spcPct val="150000"/>
              </a:lnSpc>
            </a:pPr>
            <a:r>
              <a:rPr lang="zh-CN" altLang="en-US" sz="1600" dirty="0">
                <a:latin typeface="+mj-ea"/>
                <a:ea typeface="+mj-ea"/>
              </a:rPr>
              <a:t>指标定义：上行调度</a:t>
            </a:r>
            <a:r>
              <a:rPr lang="en-US" altLang="zh-CN" sz="1600" dirty="0">
                <a:latin typeface="+mj-ea"/>
                <a:ea typeface="+mj-ea"/>
              </a:rPr>
              <a:t>PRB</a:t>
            </a:r>
            <a:r>
              <a:rPr lang="zh-CN" altLang="en-US" sz="1600" dirty="0">
                <a:latin typeface="+mj-ea"/>
                <a:ea typeface="+mj-ea"/>
              </a:rPr>
              <a:t>总个数</a:t>
            </a:r>
            <a:r>
              <a:rPr lang="en-US" altLang="zh-CN" sz="1600" dirty="0">
                <a:latin typeface="+mj-ea"/>
                <a:ea typeface="+mj-ea"/>
              </a:rPr>
              <a:t>/</a:t>
            </a:r>
            <a:r>
              <a:rPr lang="zh-CN" altLang="en-US" sz="1600" dirty="0">
                <a:latin typeface="+mj-ea"/>
                <a:ea typeface="+mj-ea"/>
              </a:rPr>
              <a:t>总业务时长</a:t>
            </a:r>
          </a:p>
          <a:p>
            <a:pPr>
              <a:lnSpc>
                <a:spcPct val="150000"/>
              </a:lnSpc>
            </a:pPr>
            <a:r>
              <a:rPr lang="zh-CN" altLang="en-US" sz="1600" dirty="0">
                <a:latin typeface="+mj-ea"/>
                <a:ea typeface="+mj-ea"/>
              </a:rPr>
              <a:t>所属协议层：</a:t>
            </a:r>
            <a:r>
              <a:rPr lang="en-US" altLang="zh-CN" sz="1600" dirty="0">
                <a:latin typeface="+mj-ea"/>
                <a:ea typeface="+mj-ea"/>
              </a:rPr>
              <a:t>MAC</a:t>
            </a:r>
            <a:r>
              <a:rPr lang="zh-CN" altLang="en-US" sz="1600" dirty="0">
                <a:latin typeface="+mj-ea"/>
                <a:ea typeface="+mj-ea"/>
              </a:rPr>
              <a:t>层</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eaLnBrk="1" hangingPunct="1">
              <a:lnSpc>
                <a:spcPct val="90000"/>
              </a:lnSpc>
              <a:buFont typeface="Wingdings" panose="05000000000000000000" pitchFamily="2" charset="2"/>
              <a:buChar char="u"/>
              <a:defRPr/>
            </a:pPr>
            <a:r>
              <a:rPr lang="zh-CN" altLang="en-US" sz="2000" b="1" dirty="0">
                <a:solidFill>
                  <a:srgbClr val="005BAA"/>
                </a:solidFill>
              </a:rPr>
              <a:t>移动类指标</a:t>
            </a:r>
          </a:p>
        </p:txBody>
      </p:sp>
      <p:sp>
        <p:nvSpPr>
          <p:cNvPr id="8" name="矩形 7"/>
          <p:cNvSpPr/>
          <p:nvPr/>
        </p:nvSpPr>
        <p:spPr>
          <a:xfrm>
            <a:off x="5289761" y="2127543"/>
            <a:ext cx="6112934" cy="4419287"/>
          </a:xfrm>
          <a:prstGeom prst="rect">
            <a:avLst/>
          </a:prstGeom>
        </p:spPr>
        <p:txBody>
          <a:bodyPr wrap="square">
            <a:spAutoFit/>
          </a:bodyPr>
          <a:lstStyle/>
          <a:p>
            <a:r>
              <a:rPr lang="en-US" altLang="zh-CN" sz="2000" b="1" dirty="0">
                <a:latin typeface="+mj-ea"/>
                <a:ea typeface="+mj-ea"/>
              </a:rPr>
              <a:t>1</a:t>
            </a:r>
            <a:r>
              <a:rPr lang="zh-CN" altLang="en-US" sz="2000" b="1" dirty="0">
                <a:latin typeface="+mj-ea"/>
                <a:ea typeface="+mj-ea"/>
              </a:rPr>
              <a:t>）</a:t>
            </a:r>
            <a:r>
              <a:rPr lang="en-US" altLang="zh-CN" sz="2000" b="1" dirty="0">
                <a:latin typeface="+mj-ea"/>
                <a:ea typeface="+mj-ea"/>
              </a:rPr>
              <a:t>LTE</a:t>
            </a:r>
            <a:r>
              <a:rPr lang="zh-CN" altLang="en-US" sz="2000" b="1" dirty="0">
                <a:latin typeface="+mj-ea"/>
                <a:ea typeface="+mj-ea"/>
              </a:rPr>
              <a:t>网内切换指标</a:t>
            </a:r>
          </a:p>
          <a:p>
            <a:pPr>
              <a:lnSpc>
                <a:spcPct val="150000"/>
              </a:lnSpc>
            </a:pPr>
            <a:r>
              <a:rPr lang="zh-CN" altLang="en-US" sz="1600" dirty="0">
                <a:latin typeface="+mj-ea"/>
                <a:ea typeface="+mj-ea"/>
              </a:rPr>
              <a:t>指标说明：网内切换尝试次数、网内切换成功次数、网内切换成功</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率、网内切换平均时延</a:t>
            </a:r>
          </a:p>
          <a:p>
            <a:pPr>
              <a:lnSpc>
                <a:spcPct val="150000"/>
              </a:lnSpc>
            </a:pPr>
            <a:r>
              <a:rPr lang="zh-CN" altLang="en-US" sz="1600" dirty="0">
                <a:latin typeface="+mj-ea"/>
                <a:ea typeface="+mj-ea"/>
              </a:rPr>
              <a:t>指标定义：网内切换成功率</a:t>
            </a:r>
            <a:r>
              <a:rPr lang="en-US" altLang="zh-CN" sz="1600" dirty="0">
                <a:latin typeface="+mj-ea"/>
                <a:ea typeface="+mj-ea"/>
              </a:rPr>
              <a:t>=</a:t>
            </a:r>
            <a:r>
              <a:rPr lang="zh-CN" altLang="en-US" sz="1600" dirty="0">
                <a:latin typeface="+mj-ea"/>
                <a:ea typeface="+mj-ea"/>
              </a:rPr>
              <a:t>网内切换成功次数</a:t>
            </a:r>
            <a:r>
              <a:rPr lang="en-US" altLang="zh-CN" sz="1600" dirty="0">
                <a:latin typeface="+mj-ea"/>
                <a:ea typeface="+mj-ea"/>
              </a:rPr>
              <a:t>/</a:t>
            </a:r>
            <a:r>
              <a:rPr lang="zh-CN" altLang="en-US" sz="1600" dirty="0">
                <a:latin typeface="+mj-ea"/>
                <a:ea typeface="+mj-ea"/>
              </a:rPr>
              <a:t>网内切换尝试次数</a:t>
            </a:r>
          </a:p>
          <a:p>
            <a:pPr>
              <a:lnSpc>
                <a:spcPct val="150000"/>
              </a:lnSpc>
            </a:pPr>
            <a:r>
              <a:rPr lang="en-US" altLang="zh-CN" sz="1600" dirty="0">
                <a:latin typeface="+mj-ea"/>
                <a:ea typeface="+mj-ea"/>
              </a:rPr>
              <a:t>                 </a:t>
            </a:r>
            <a:r>
              <a:rPr lang="zh-CN" altLang="en-US" sz="1600" dirty="0">
                <a:latin typeface="+mj-ea"/>
                <a:ea typeface="+mj-ea"/>
              </a:rPr>
              <a:t>网内切换平均时延</a:t>
            </a:r>
            <a:r>
              <a:rPr lang="en-US" altLang="zh-CN" sz="1600" dirty="0">
                <a:latin typeface="+mj-ea"/>
                <a:ea typeface="+mj-ea"/>
              </a:rPr>
              <a:t>=LTE</a:t>
            </a:r>
            <a:r>
              <a:rPr lang="zh-CN" altLang="en-US" sz="1600" dirty="0">
                <a:latin typeface="+mj-ea"/>
                <a:ea typeface="+mj-ea"/>
              </a:rPr>
              <a:t>网内切换时延总和</a:t>
            </a:r>
            <a:r>
              <a:rPr lang="en-US" altLang="zh-CN" sz="1600" dirty="0">
                <a:latin typeface="+mj-ea"/>
                <a:ea typeface="+mj-ea"/>
              </a:rPr>
              <a:t>/ LTE</a:t>
            </a:r>
            <a:r>
              <a:rPr lang="zh-CN" altLang="en-US" sz="1600" dirty="0">
                <a:latin typeface="+mj-ea"/>
                <a:ea typeface="+mj-ea"/>
              </a:rPr>
              <a:t>网内切</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换成功次数</a:t>
            </a:r>
          </a:p>
          <a:p>
            <a:pPr>
              <a:lnSpc>
                <a:spcPct val="150000"/>
              </a:lnSpc>
            </a:pPr>
            <a:r>
              <a:rPr lang="zh-CN" altLang="en-US" sz="1600" dirty="0">
                <a:latin typeface="+mj-ea"/>
                <a:ea typeface="+mj-ea"/>
              </a:rPr>
              <a:t>所属协议层：</a:t>
            </a:r>
            <a:r>
              <a:rPr lang="en-US" altLang="zh-CN" sz="1600" dirty="0">
                <a:latin typeface="+mj-ea"/>
                <a:ea typeface="+mj-ea"/>
              </a:rPr>
              <a:t>RRC</a:t>
            </a:r>
          </a:p>
          <a:p>
            <a:pPr>
              <a:lnSpc>
                <a:spcPct val="150000"/>
              </a:lnSpc>
            </a:pPr>
            <a:r>
              <a:rPr lang="zh-CN" altLang="en-US" sz="1600" dirty="0">
                <a:latin typeface="+mj-ea"/>
              </a:rPr>
              <a:t>其中：</a:t>
            </a:r>
            <a:r>
              <a:rPr lang="en-US" altLang="zh-CN" sz="1600" dirty="0">
                <a:latin typeface="+mj-ea"/>
              </a:rPr>
              <a:t>LTE</a:t>
            </a:r>
            <a:r>
              <a:rPr lang="zh-CN" altLang="en-US" sz="1600" dirty="0">
                <a:latin typeface="+mj-ea"/>
              </a:rPr>
              <a:t>系统内切换的过程通过</a:t>
            </a:r>
            <a:r>
              <a:rPr lang="en-US" altLang="zh-CN" sz="1600" dirty="0">
                <a:latin typeface="+mj-ea"/>
              </a:rPr>
              <a:t>RRC</a:t>
            </a:r>
            <a:r>
              <a:rPr lang="zh-CN" altLang="en-US" sz="1600" dirty="0">
                <a:latin typeface="+mj-ea"/>
              </a:rPr>
              <a:t>重配置过程来实现，</a:t>
            </a:r>
            <a:r>
              <a:rPr lang="en-US" altLang="zh-CN" sz="1600" dirty="0">
                <a:latin typeface="+mj-ea"/>
              </a:rPr>
              <a:t>RRC </a:t>
            </a:r>
          </a:p>
          <a:p>
            <a:pPr>
              <a:lnSpc>
                <a:spcPct val="150000"/>
              </a:lnSpc>
            </a:pPr>
            <a:r>
              <a:rPr lang="en-US" altLang="zh-CN" sz="1600" dirty="0">
                <a:latin typeface="+mj-ea"/>
              </a:rPr>
              <a:t>         MESSAGE</a:t>
            </a:r>
            <a:r>
              <a:rPr lang="zh-CN" altLang="en-US" sz="1600" dirty="0">
                <a:latin typeface="+mj-ea"/>
              </a:rPr>
              <a:t>中包含信元</a:t>
            </a:r>
            <a:r>
              <a:rPr lang="en-US" altLang="zh-CN" sz="1600" dirty="0">
                <a:latin typeface="+mj-ea"/>
              </a:rPr>
              <a:t>Mobility Control  Info</a:t>
            </a:r>
            <a:r>
              <a:rPr lang="zh-CN" altLang="en-US" sz="1600" dirty="0">
                <a:latin typeface="+mj-ea"/>
              </a:rPr>
              <a:t>则为一次切换</a:t>
            </a:r>
            <a:endParaRPr lang="en-US" altLang="zh-CN" sz="1600" dirty="0">
              <a:latin typeface="+mj-ea"/>
            </a:endParaRPr>
          </a:p>
          <a:p>
            <a:pPr>
              <a:lnSpc>
                <a:spcPct val="150000"/>
              </a:lnSpc>
            </a:pPr>
            <a:r>
              <a:rPr lang="en-US" altLang="zh-CN" sz="1600" dirty="0">
                <a:latin typeface="+mj-ea"/>
              </a:rPr>
              <a:t>          </a:t>
            </a:r>
            <a:r>
              <a:rPr lang="zh-CN" altLang="en-US" sz="1600" dirty="0">
                <a:latin typeface="+mj-ea"/>
              </a:rPr>
              <a:t>尝试，</a:t>
            </a:r>
            <a:r>
              <a:rPr lang="en-US" altLang="zh-CN" sz="1600" dirty="0">
                <a:latin typeface="+mj-ea"/>
              </a:rPr>
              <a:t>RRC Connection Configuration Complete</a:t>
            </a:r>
            <a:r>
              <a:rPr lang="zh-CN" altLang="en-US" sz="1600" dirty="0">
                <a:latin typeface="+mj-ea"/>
              </a:rPr>
              <a:t>表示本次切换成功，记录一次切换成功。切换时延即一次切换请求开始到切换成功的时间。</a:t>
            </a:r>
            <a:endParaRPr lang="en-US" altLang="zh-CN" sz="1600" dirty="0">
              <a:latin typeface="+mj-ea"/>
              <a:ea typeface="+mj-ea"/>
            </a:endParaRPr>
          </a:p>
        </p:txBody>
      </p:sp>
      <p:sp>
        <p:nvSpPr>
          <p:cNvPr id="4" name="矩形 3"/>
          <p:cNvSpPr/>
          <p:nvPr/>
        </p:nvSpPr>
        <p:spPr>
          <a:xfrm>
            <a:off x="1064895" y="3143596"/>
            <a:ext cx="4099347" cy="2477601"/>
          </a:xfrm>
          <a:prstGeom prst="rect">
            <a:avLst/>
          </a:prstGeom>
        </p:spPr>
        <p:txBody>
          <a:bodyPr wrap="square">
            <a:spAutoFit/>
          </a:bodyPr>
          <a:lstStyle/>
          <a:p>
            <a:r>
              <a:rPr lang="en-US" altLang="zh-CN" sz="2000" b="1" dirty="0">
                <a:latin typeface="+mj-ea"/>
              </a:rPr>
              <a:t>2</a:t>
            </a:r>
            <a:r>
              <a:rPr lang="zh-CN" altLang="en-US" sz="2000" b="1" dirty="0">
                <a:latin typeface="+mj-ea"/>
              </a:rPr>
              <a:t>）</a:t>
            </a:r>
            <a:r>
              <a:rPr lang="en-US" altLang="zh-CN" sz="2000" b="1" dirty="0">
                <a:latin typeface="+mj-ea"/>
              </a:rPr>
              <a:t>TA</a:t>
            </a:r>
            <a:r>
              <a:rPr lang="zh-CN" altLang="en-US" sz="2000" b="1" dirty="0">
                <a:latin typeface="+mj-ea"/>
              </a:rPr>
              <a:t>跟踪统计指标</a:t>
            </a:r>
          </a:p>
          <a:p>
            <a:pPr>
              <a:lnSpc>
                <a:spcPct val="150000"/>
              </a:lnSpc>
            </a:pPr>
            <a:r>
              <a:rPr lang="zh-CN" altLang="en-US" dirty="0">
                <a:latin typeface="+mj-ea"/>
              </a:rPr>
              <a:t>指标说明：</a:t>
            </a:r>
            <a:r>
              <a:rPr lang="en-US" altLang="zh-CN" dirty="0">
                <a:latin typeface="+mj-ea"/>
              </a:rPr>
              <a:t>TA</a:t>
            </a:r>
            <a:r>
              <a:rPr lang="zh-CN" altLang="en-US" dirty="0">
                <a:latin typeface="+mj-ea"/>
              </a:rPr>
              <a:t>更新尝试次数、</a:t>
            </a:r>
            <a:r>
              <a:rPr lang="en-US" altLang="zh-CN" dirty="0">
                <a:latin typeface="+mj-ea"/>
              </a:rPr>
              <a:t>TA</a:t>
            </a:r>
            <a:r>
              <a:rPr lang="zh-CN" altLang="en-US" dirty="0">
                <a:latin typeface="+mj-ea"/>
              </a:rPr>
              <a:t>更新</a:t>
            </a:r>
            <a:endParaRPr lang="en-US" altLang="zh-CN" dirty="0">
              <a:latin typeface="+mj-ea"/>
            </a:endParaRPr>
          </a:p>
          <a:p>
            <a:pPr>
              <a:lnSpc>
                <a:spcPct val="150000"/>
              </a:lnSpc>
            </a:pPr>
            <a:r>
              <a:rPr lang="en-US" altLang="zh-CN" dirty="0">
                <a:latin typeface="+mj-ea"/>
              </a:rPr>
              <a:t>                </a:t>
            </a:r>
            <a:r>
              <a:rPr lang="zh-CN" altLang="en-US" dirty="0">
                <a:latin typeface="+mj-ea"/>
              </a:rPr>
              <a:t>成功次数、</a:t>
            </a:r>
            <a:r>
              <a:rPr lang="en-US" altLang="zh-CN" dirty="0">
                <a:latin typeface="+mj-ea"/>
              </a:rPr>
              <a:t>TA</a:t>
            </a:r>
            <a:r>
              <a:rPr lang="zh-CN" altLang="en-US" dirty="0">
                <a:latin typeface="+mj-ea"/>
              </a:rPr>
              <a:t>更新时延</a:t>
            </a:r>
          </a:p>
          <a:p>
            <a:pPr>
              <a:lnSpc>
                <a:spcPct val="150000"/>
              </a:lnSpc>
            </a:pPr>
            <a:r>
              <a:rPr lang="zh-CN" altLang="en-US" dirty="0">
                <a:latin typeface="+mj-ea"/>
              </a:rPr>
              <a:t>指标定义：</a:t>
            </a:r>
            <a:r>
              <a:rPr lang="en-US" altLang="zh-CN" dirty="0">
                <a:latin typeface="+mj-ea"/>
              </a:rPr>
              <a:t>TA</a:t>
            </a:r>
            <a:r>
              <a:rPr lang="zh-CN" altLang="en-US" dirty="0">
                <a:latin typeface="+mj-ea"/>
              </a:rPr>
              <a:t>更新时延</a:t>
            </a:r>
            <a:r>
              <a:rPr lang="en-US" altLang="zh-CN" dirty="0">
                <a:latin typeface="+mj-ea"/>
              </a:rPr>
              <a:t>=TA</a:t>
            </a:r>
            <a:r>
              <a:rPr lang="zh-CN" altLang="en-US" dirty="0">
                <a:latin typeface="+mj-ea"/>
              </a:rPr>
              <a:t>更新时延</a:t>
            </a:r>
            <a:endParaRPr lang="en-US" altLang="zh-CN" dirty="0">
              <a:latin typeface="+mj-ea"/>
            </a:endParaRPr>
          </a:p>
          <a:p>
            <a:pPr>
              <a:lnSpc>
                <a:spcPct val="150000"/>
              </a:lnSpc>
            </a:pPr>
            <a:r>
              <a:rPr lang="en-US" altLang="zh-CN" dirty="0">
                <a:latin typeface="+mj-ea"/>
              </a:rPr>
              <a:t>                </a:t>
            </a:r>
            <a:r>
              <a:rPr lang="zh-CN" altLang="en-US" dirty="0">
                <a:latin typeface="+mj-ea"/>
              </a:rPr>
              <a:t>总和</a:t>
            </a:r>
            <a:r>
              <a:rPr lang="en-US" altLang="zh-CN" dirty="0">
                <a:latin typeface="+mj-ea"/>
              </a:rPr>
              <a:t>/TA</a:t>
            </a:r>
            <a:r>
              <a:rPr lang="zh-CN" altLang="en-US" dirty="0">
                <a:latin typeface="+mj-ea"/>
              </a:rPr>
              <a:t>更新成功次数</a:t>
            </a:r>
          </a:p>
          <a:p>
            <a:pPr>
              <a:lnSpc>
                <a:spcPct val="150000"/>
              </a:lnSpc>
            </a:pPr>
            <a:r>
              <a:rPr lang="zh-CN" altLang="en-US" dirty="0">
                <a:latin typeface="+mj-ea"/>
              </a:rPr>
              <a:t>所属协议层：</a:t>
            </a:r>
            <a:r>
              <a:rPr lang="en-US" altLang="zh-CN" dirty="0">
                <a:latin typeface="+mj-ea"/>
              </a:rPr>
              <a:t>RRC</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eaLnBrk="1" hangingPunct="1">
              <a:lnSpc>
                <a:spcPct val="90000"/>
              </a:lnSpc>
              <a:buFont typeface="Wingdings" panose="05000000000000000000" pitchFamily="2" charset="2"/>
              <a:buChar char="u"/>
              <a:defRPr/>
            </a:pPr>
            <a:r>
              <a:rPr lang="zh-CN" altLang="en-US" sz="2000" b="1" dirty="0">
                <a:solidFill>
                  <a:srgbClr val="005BAA"/>
                </a:solidFill>
              </a:rPr>
              <a:t>接入类指标</a:t>
            </a:r>
          </a:p>
        </p:txBody>
      </p:sp>
      <p:sp>
        <p:nvSpPr>
          <p:cNvPr id="7" name="矩形 6"/>
          <p:cNvSpPr/>
          <p:nvPr/>
        </p:nvSpPr>
        <p:spPr>
          <a:xfrm>
            <a:off x="1134908" y="2787301"/>
            <a:ext cx="4622426" cy="3354765"/>
          </a:xfrm>
          <a:prstGeom prst="rect">
            <a:avLst/>
          </a:prstGeom>
        </p:spPr>
        <p:txBody>
          <a:bodyPr wrap="square">
            <a:spAutoFit/>
          </a:bodyPr>
          <a:lstStyle/>
          <a:p>
            <a:r>
              <a:rPr lang="en-US" altLang="zh-CN" sz="2000" b="1" dirty="0">
                <a:latin typeface="+mj-ea"/>
                <a:ea typeface="+mj-ea"/>
              </a:rPr>
              <a:t>1</a:t>
            </a:r>
            <a:r>
              <a:rPr lang="zh-CN" altLang="en-US" sz="2000" b="1" dirty="0">
                <a:latin typeface="+mj-ea"/>
                <a:ea typeface="+mj-ea"/>
              </a:rPr>
              <a:t>）</a:t>
            </a:r>
            <a:r>
              <a:rPr lang="en-US" altLang="zh-CN" sz="2000" b="1" dirty="0">
                <a:latin typeface="+mj-ea"/>
                <a:ea typeface="+mj-ea"/>
              </a:rPr>
              <a:t>ATTACH</a:t>
            </a:r>
            <a:r>
              <a:rPr lang="zh-CN" altLang="en-US" sz="2000" b="1" dirty="0">
                <a:latin typeface="+mj-ea"/>
                <a:ea typeface="+mj-ea"/>
              </a:rPr>
              <a:t>成功率</a:t>
            </a:r>
          </a:p>
          <a:p>
            <a:pPr>
              <a:lnSpc>
                <a:spcPct val="150000"/>
              </a:lnSpc>
            </a:pPr>
            <a:r>
              <a:rPr lang="zh-CN" altLang="en-US" sz="1600" dirty="0">
                <a:latin typeface="+mj-ea"/>
                <a:ea typeface="+mj-ea"/>
              </a:rPr>
              <a:t>指标说明：反映</a:t>
            </a:r>
            <a:r>
              <a:rPr lang="en-US" altLang="zh-CN" sz="1600" dirty="0">
                <a:latin typeface="+mj-ea"/>
                <a:ea typeface="+mj-ea"/>
              </a:rPr>
              <a:t>LTE</a:t>
            </a:r>
            <a:r>
              <a:rPr lang="zh-CN" altLang="en-US" sz="1600" dirty="0">
                <a:latin typeface="+mj-ea"/>
                <a:ea typeface="+mj-ea"/>
              </a:rPr>
              <a:t>系统接入性能的重要指标。</a:t>
            </a:r>
          </a:p>
          <a:p>
            <a:pPr>
              <a:lnSpc>
                <a:spcPct val="150000"/>
              </a:lnSpc>
            </a:pPr>
            <a:r>
              <a:rPr lang="zh-CN" altLang="en-US" sz="1600" dirty="0">
                <a:latin typeface="+mj-ea"/>
                <a:ea typeface="+mj-ea"/>
              </a:rPr>
              <a:t>指标定义：</a:t>
            </a:r>
            <a:r>
              <a:rPr lang="en-US" altLang="zh-CN" sz="1600" dirty="0">
                <a:latin typeface="+mj-ea"/>
                <a:ea typeface="+mj-ea"/>
              </a:rPr>
              <a:t>ATTACH</a:t>
            </a:r>
            <a:r>
              <a:rPr lang="zh-CN" altLang="en-US" sz="1600" dirty="0">
                <a:latin typeface="+mj-ea"/>
                <a:ea typeface="+mj-ea"/>
              </a:rPr>
              <a:t>成功率</a:t>
            </a:r>
            <a:r>
              <a:rPr lang="en-US" altLang="zh-CN" sz="1600" dirty="0">
                <a:latin typeface="+mj-ea"/>
                <a:ea typeface="+mj-ea"/>
              </a:rPr>
              <a:t>=ATTACH </a:t>
            </a:r>
            <a:r>
              <a:rPr lang="zh-CN" altLang="en-US" sz="1600" dirty="0">
                <a:latin typeface="+mj-ea"/>
                <a:ea typeface="+mj-ea"/>
              </a:rPr>
              <a:t>成功次数</a:t>
            </a:r>
            <a:endParaRPr lang="en-US" altLang="zh-CN" sz="1600" dirty="0">
              <a:latin typeface="+mj-ea"/>
              <a:ea typeface="+mj-ea"/>
            </a:endParaRPr>
          </a:p>
          <a:p>
            <a:pPr>
              <a:lnSpc>
                <a:spcPct val="150000"/>
              </a:lnSpc>
            </a:pPr>
            <a:r>
              <a:rPr lang="en-US" altLang="zh-CN" sz="1600" dirty="0">
                <a:latin typeface="+mj-ea"/>
                <a:ea typeface="+mj-ea"/>
              </a:rPr>
              <a:t>                /ATTACH</a:t>
            </a:r>
            <a:r>
              <a:rPr lang="zh-CN" altLang="en-US" sz="1600" dirty="0">
                <a:latin typeface="+mj-ea"/>
                <a:ea typeface="+mj-ea"/>
              </a:rPr>
              <a:t>尝试次数</a:t>
            </a:r>
            <a:endParaRPr lang="en-US" altLang="zh-CN" sz="1600" dirty="0">
              <a:latin typeface="+mj-ea"/>
              <a:ea typeface="+mj-ea"/>
            </a:endParaRPr>
          </a:p>
          <a:p>
            <a:pPr>
              <a:lnSpc>
                <a:spcPct val="150000"/>
              </a:lnSpc>
            </a:pPr>
            <a:r>
              <a:rPr lang="zh-CN" altLang="en-US" sz="1600" dirty="0">
                <a:latin typeface="+mj-ea"/>
                <a:ea typeface="+mj-ea"/>
              </a:rPr>
              <a:t>其中：以终端发起</a:t>
            </a:r>
            <a:r>
              <a:rPr lang="en-US" altLang="zh-CN" sz="1600" dirty="0">
                <a:latin typeface="+mj-ea"/>
                <a:ea typeface="+mj-ea"/>
              </a:rPr>
              <a:t>Attach Request</a:t>
            </a:r>
            <a:r>
              <a:rPr lang="zh-CN" altLang="en-US" sz="1600" dirty="0">
                <a:latin typeface="+mj-ea"/>
                <a:ea typeface="+mj-ea"/>
              </a:rPr>
              <a:t>作为一次 </a:t>
            </a:r>
            <a:endParaRPr lang="en-US" altLang="zh-CN" sz="1600" dirty="0">
              <a:latin typeface="+mj-ea"/>
              <a:ea typeface="+mj-ea"/>
            </a:endParaRPr>
          </a:p>
          <a:p>
            <a:pPr>
              <a:lnSpc>
                <a:spcPct val="150000"/>
              </a:lnSpc>
            </a:pPr>
            <a:r>
              <a:rPr lang="en-US" altLang="zh-CN" sz="1600" dirty="0">
                <a:latin typeface="+mj-ea"/>
                <a:ea typeface="+mj-ea"/>
              </a:rPr>
              <a:t>          Attach </a:t>
            </a:r>
            <a:r>
              <a:rPr lang="zh-CN" altLang="en-US" sz="1600" dirty="0">
                <a:latin typeface="+mj-ea"/>
                <a:ea typeface="+mj-ea"/>
              </a:rPr>
              <a:t>尝试，到终端发送</a:t>
            </a:r>
            <a:r>
              <a:rPr lang="en-US" altLang="zh-CN" sz="1600" dirty="0">
                <a:latin typeface="+mj-ea"/>
                <a:ea typeface="+mj-ea"/>
              </a:rPr>
              <a:t>Attach     </a:t>
            </a:r>
          </a:p>
          <a:p>
            <a:pPr>
              <a:lnSpc>
                <a:spcPct val="150000"/>
              </a:lnSpc>
            </a:pPr>
            <a:r>
              <a:rPr lang="en-US" altLang="zh-CN" sz="1600" dirty="0">
                <a:latin typeface="+mj-ea"/>
                <a:ea typeface="+mj-ea"/>
              </a:rPr>
              <a:t>         Complete</a:t>
            </a:r>
            <a:r>
              <a:rPr lang="zh-CN" altLang="en-US" sz="1600" dirty="0">
                <a:latin typeface="+mj-ea"/>
                <a:ea typeface="+mj-ea"/>
              </a:rPr>
              <a:t>作为一次 </a:t>
            </a:r>
            <a:r>
              <a:rPr lang="en-US" altLang="zh-CN" sz="1600" dirty="0">
                <a:latin typeface="+mj-ea"/>
                <a:ea typeface="+mj-ea"/>
              </a:rPr>
              <a:t>Attach </a:t>
            </a:r>
            <a:r>
              <a:rPr lang="zh-CN" altLang="en-US" sz="1600" dirty="0">
                <a:latin typeface="+mj-ea"/>
                <a:ea typeface="+mj-ea"/>
              </a:rPr>
              <a:t>成功。</a:t>
            </a:r>
          </a:p>
          <a:p>
            <a:pPr>
              <a:lnSpc>
                <a:spcPct val="150000"/>
              </a:lnSpc>
            </a:pPr>
            <a:r>
              <a:rPr lang="zh-CN" altLang="en-US" sz="1600" dirty="0">
                <a:latin typeface="+mj-ea"/>
                <a:ea typeface="+mj-ea"/>
              </a:rPr>
              <a:t>所属协议层</a:t>
            </a:r>
            <a:r>
              <a:rPr lang="en-US" altLang="zh-CN" sz="1600" dirty="0">
                <a:latin typeface="+mj-ea"/>
                <a:ea typeface="+mj-ea"/>
              </a:rPr>
              <a:t>:  NAS</a:t>
            </a:r>
            <a:r>
              <a:rPr lang="zh-CN" altLang="en-US" sz="1600" dirty="0">
                <a:latin typeface="+mj-ea"/>
                <a:ea typeface="+mj-ea"/>
              </a:rPr>
              <a:t>层</a:t>
            </a:r>
            <a:endParaRPr lang="en-US" altLang="zh-CN" sz="1600" dirty="0">
              <a:latin typeface="+mj-ea"/>
              <a:ea typeface="+mj-ea"/>
            </a:endParaRPr>
          </a:p>
          <a:p>
            <a:pPr>
              <a:lnSpc>
                <a:spcPct val="150000"/>
              </a:lnSpc>
            </a:pPr>
            <a:endParaRPr lang="zh-CN" altLang="en-US" sz="1600" dirty="0">
              <a:latin typeface="+mj-ea"/>
              <a:ea typeface="+mj-ea"/>
            </a:endParaRPr>
          </a:p>
        </p:txBody>
      </p:sp>
      <p:sp>
        <p:nvSpPr>
          <p:cNvPr id="2" name="矩形 1"/>
          <p:cNvSpPr/>
          <p:nvPr/>
        </p:nvSpPr>
        <p:spPr>
          <a:xfrm>
            <a:off x="5840095" y="2787301"/>
            <a:ext cx="5393267" cy="2616101"/>
          </a:xfrm>
          <a:prstGeom prst="rect">
            <a:avLst/>
          </a:prstGeom>
        </p:spPr>
        <p:txBody>
          <a:bodyPr wrap="square">
            <a:spAutoFit/>
          </a:bodyPr>
          <a:lstStyle/>
          <a:p>
            <a:r>
              <a:rPr lang="en-US" altLang="zh-CN" sz="2000" b="1" dirty="0">
                <a:latin typeface="+mj-ea"/>
              </a:rPr>
              <a:t>2</a:t>
            </a:r>
            <a:r>
              <a:rPr lang="zh-CN" altLang="en-US" sz="2000" b="1" dirty="0">
                <a:latin typeface="+mj-ea"/>
              </a:rPr>
              <a:t>）</a:t>
            </a:r>
            <a:r>
              <a:rPr lang="en-US" altLang="zh-CN" sz="2000" b="1" dirty="0">
                <a:latin typeface="+mj-ea"/>
              </a:rPr>
              <a:t>ATTACH</a:t>
            </a:r>
            <a:r>
              <a:rPr lang="zh-CN" altLang="en-US" sz="2000" b="1" dirty="0">
                <a:latin typeface="+mj-ea"/>
              </a:rPr>
              <a:t>平均时延</a:t>
            </a:r>
          </a:p>
          <a:p>
            <a:pPr>
              <a:lnSpc>
                <a:spcPct val="150000"/>
              </a:lnSpc>
            </a:pPr>
            <a:r>
              <a:rPr lang="zh-CN" altLang="en-US" sz="1600" dirty="0">
                <a:latin typeface="+mj-ea"/>
                <a:ea typeface="+mj-ea"/>
              </a:rPr>
              <a:t>指标说明：反映</a:t>
            </a:r>
            <a:r>
              <a:rPr lang="en-US" altLang="zh-CN" sz="1600" dirty="0">
                <a:latin typeface="+mj-ea"/>
                <a:ea typeface="+mj-ea"/>
              </a:rPr>
              <a:t>LTE</a:t>
            </a:r>
            <a:r>
              <a:rPr lang="zh-CN" altLang="en-US" sz="1600" dirty="0">
                <a:latin typeface="+mj-ea"/>
                <a:ea typeface="+mj-ea"/>
              </a:rPr>
              <a:t>系统接入性能的重要指标</a:t>
            </a:r>
          </a:p>
          <a:p>
            <a:pPr>
              <a:lnSpc>
                <a:spcPct val="150000"/>
              </a:lnSpc>
            </a:pPr>
            <a:r>
              <a:rPr lang="zh-CN" altLang="en-US" sz="1600" dirty="0">
                <a:latin typeface="+mj-ea"/>
                <a:ea typeface="+mj-ea"/>
              </a:rPr>
              <a:t>指标定义：</a:t>
            </a:r>
            <a:r>
              <a:rPr lang="en-US" altLang="zh-CN" sz="1600" dirty="0">
                <a:latin typeface="+mj-ea"/>
                <a:ea typeface="+mj-ea"/>
              </a:rPr>
              <a:t>ATTACH</a:t>
            </a:r>
            <a:r>
              <a:rPr lang="zh-CN" altLang="en-US" sz="1600" dirty="0">
                <a:latin typeface="+mj-ea"/>
                <a:ea typeface="+mj-ea"/>
              </a:rPr>
              <a:t>平均时延</a:t>
            </a:r>
            <a:r>
              <a:rPr lang="en-US" altLang="zh-CN" sz="1600" dirty="0">
                <a:latin typeface="+mj-ea"/>
                <a:ea typeface="+mj-ea"/>
              </a:rPr>
              <a:t>=ATTACH</a:t>
            </a:r>
            <a:r>
              <a:rPr lang="zh-CN" altLang="en-US" sz="1600" dirty="0">
                <a:latin typeface="+mj-ea"/>
                <a:ea typeface="+mj-ea"/>
              </a:rPr>
              <a:t>时延总和</a:t>
            </a:r>
            <a:endParaRPr lang="en-US" altLang="zh-CN" sz="1600" dirty="0">
              <a:latin typeface="+mj-ea"/>
              <a:ea typeface="+mj-ea"/>
            </a:endParaRPr>
          </a:p>
          <a:p>
            <a:pPr>
              <a:lnSpc>
                <a:spcPct val="150000"/>
              </a:lnSpc>
            </a:pPr>
            <a:r>
              <a:rPr lang="en-US" altLang="zh-CN" sz="1600" dirty="0">
                <a:latin typeface="+mj-ea"/>
                <a:ea typeface="+mj-ea"/>
              </a:rPr>
              <a:t>                 /ATTACH</a:t>
            </a:r>
            <a:r>
              <a:rPr lang="zh-CN" altLang="en-US" sz="1600" dirty="0">
                <a:latin typeface="+mj-ea"/>
                <a:ea typeface="+mj-ea"/>
              </a:rPr>
              <a:t>成功次数</a:t>
            </a:r>
          </a:p>
          <a:p>
            <a:pPr>
              <a:lnSpc>
                <a:spcPct val="150000"/>
              </a:lnSpc>
            </a:pPr>
            <a:r>
              <a:rPr lang="zh-CN" altLang="en-US" sz="1600" dirty="0">
                <a:latin typeface="+mj-ea"/>
                <a:ea typeface="+mj-ea"/>
              </a:rPr>
              <a:t>其中：以终端发起</a:t>
            </a:r>
            <a:r>
              <a:rPr lang="en-US" altLang="zh-CN" sz="1600" dirty="0">
                <a:latin typeface="+mj-ea"/>
                <a:ea typeface="+mj-ea"/>
              </a:rPr>
              <a:t>Attach Request</a:t>
            </a:r>
            <a:r>
              <a:rPr lang="zh-CN" altLang="en-US" sz="1600" dirty="0">
                <a:latin typeface="+mj-ea"/>
                <a:ea typeface="+mj-ea"/>
              </a:rPr>
              <a:t>作为一次 </a:t>
            </a:r>
            <a:r>
              <a:rPr lang="en-US" altLang="zh-CN" sz="1600" dirty="0">
                <a:latin typeface="+mj-ea"/>
                <a:ea typeface="+mj-ea"/>
              </a:rPr>
              <a:t>Attach </a:t>
            </a:r>
            <a:r>
              <a:rPr lang="zh-CN" altLang="en-US" sz="1600" dirty="0">
                <a:latin typeface="+mj-ea"/>
                <a:ea typeface="+mj-ea"/>
              </a:rPr>
              <a:t>尝试，</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到终端发送</a:t>
            </a:r>
            <a:r>
              <a:rPr lang="en-US" altLang="zh-CN" sz="1600" dirty="0">
                <a:latin typeface="+mj-ea"/>
                <a:ea typeface="+mj-ea"/>
              </a:rPr>
              <a:t>Attach  Complete</a:t>
            </a:r>
            <a:r>
              <a:rPr lang="zh-CN" altLang="en-US" sz="1600" dirty="0">
                <a:latin typeface="+mj-ea"/>
                <a:ea typeface="+mj-ea"/>
              </a:rPr>
              <a:t>的时间计为时延。</a:t>
            </a:r>
          </a:p>
          <a:p>
            <a:pPr>
              <a:lnSpc>
                <a:spcPct val="150000"/>
              </a:lnSpc>
            </a:pPr>
            <a:r>
              <a:rPr lang="zh-CN" altLang="en-US" sz="1600" dirty="0">
                <a:latin typeface="+mj-ea"/>
                <a:ea typeface="+mj-ea"/>
              </a:rPr>
              <a:t>所属协议层：</a:t>
            </a:r>
            <a:r>
              <a:rPr lang="en-US" altLang="zh-CN" sz="1600" dirty="0">
                <a:latin typeface="+mj-ea"/>
                <a:ea typeface="+mj-ea"/>
              </a:rPr>
              <a:t>NAS</a:t>
            </a:r>
            <a:r>
              <a:rPr lang="zh-CN" altLang="en-US" sz="1600" dirty="0">
                <a:latin typeface="+mj-ea"/>
                <a:ea typeface="+mj-ea"/>
              </a:rPr>
              <a:t>层</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任务一：探究</a:t>
            </a:r>
            <a:r>
              <a:rPr lang="en-US" altLang="zh-CN" dirty="0"/>
              <a:t>LTE</a:t>
            </a:r>
            <a:r>
              <a:rPr lang="zh-CN" altLang="en-US" dirty="0"/>
              <a:t>无线网络优化</a:t>
            </a:r>
          </a:p>
        </p:txBody>
      </p:sp>
      <p:sp>
        <p:nvSpPr>
          <p:cNvPr id="12" name="文本框 11"/>
          <p:cNvSpPr txBox="1"/>
          <p:nvPr/>
        </p:nvSpPr>
        <p:spPr>
          <a:xfrm>
            <a:off x="833160" y="993775"/>
            <a:ext cx="3889760"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 DT</a:t>
            </a:r>
            <a:r>
              <a:rPr kumimoji="1" lang="zh-CN" altLang="en-US" sz="2375" b="1" dirty="0">
                <a:latin typeface="微软雅黑" panose="020B0503020204020204" charset="-122"/>
                <a:ea typeface="微软雅黑" panose="020B0503020204020204" charset="-122"/>
                <a:cs typeface="微软雅黑" panose="020B0503020204020204" charset="-122"/>
              </a:rPr>
              <a:t>、</a:t>
            </a:r>
            <a:r>
              <a:rPr kumimoji="1" lang="en-US" altLang="zh-CN" sz="2375" b="1" dirty="0">
                <a:latin typeface="微软雅黑" panose="020B0503020204020204" charset="-122"/>
                <a:ea typeface="微软雅黑" panose="020B0503020204020204" charset="-122"/>
                <a:cs typeface="微软雅黑" panose="020B0503020204020204" charset="-122"/>
              </a:rPr>
              <a:t>CQT</a:t>
            </a:r>
            <a:r>
              <a:rPr kumimoji="1" lang="zh-CN" altLang="en-US" sz="2375" b="1" dirty="0">
                <a:latin typeface="微软雅黑" panose="020B0503020204020204" charset="-122"/>
                <a:ea typeface="微软雅黑" panose="020B0503020204020204" charset="-122"/>
                <a:cs typeface="微软雅黑" panose="020B0503020204020204" charset="-122"/>
              </a:rPr>
              <a:t>业务测试</a:t>
            </a:r>
            <a:r>
              <a:rPr kumimoji="1" lang="en-US" altLang="zh-CN" sz="1900" b="1" dirty="0">
                <a:latin typeface="微软雅黑" panose="020B0503020204020204" charset="-122"/>
                <a:ea typeface="微软雅黑" panose="020B0503020204020204" charset="-122"/>
                <a:cs typeface="微软雅黑" panose="020B0503020204020204" charset="-122"/>
              </a:rPr>
              <a:t>3.4  </a:t>
            </a:r>
            <a:r>
              <a:rPr kumimoji="1" lang="zh-CN" altLang="en-US" sz="1900" b="1" dirty="0">
                <a:latin typeface="微软雅黑" panose="020B0503020204020204" charset="-122"/>
                <a:ea typeface="微软雅黑" panose="020B0503020204020204" charset="-122"/>
                <a:cs typeface="微软雅黑" panose="020B0503020204020204" charset="-122"/>
              </a:rPr>
              <a:t>基本指标定义</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1064895" y="2127543"/>
            <a:ext cx="206892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eaLnBrk="1" hangingPunct="1">
              <a:lnSpc>
                <a:spcPct val="90000"/>
              </a:lnSpc>
              <a:buFont typeface="Wingdings" panose="05000000000000000000" pitchFamily="2" charset="2"/>
              <a:buChar char="u"/>
              <a:defRPr/>
            </a:pPr>
            <a:r>
              <a:rPr lang="zh-CN" altLang="en-US" sz="2000" b="1" dirty="0">
                <a:solidFill>
                  <a:srgbClr val="005BAA"/>
                </a:solidFill>
              </a:rPr>
              <a:t>接入类指标</a:t>
            </a:r>
          </a:p>
        </p:txBody>
      </p:sp>
      <p:sp>
        <p:nvSpPr>
          <p:cNvPr id="8" name="矩形 7"/>
          <p:cNvSpPr/>
          <p:nvPr/>
        </p:nvSpPr>
        <p:spPr>
          <a:xfrm>
            <a:off x="827829" y="2819577"/>
            <a:ext cx="5581438" cy="2893100"/>
          </a:xfrm>
          <a:prstGeom prst="rect">
            <a:avLst/>
          </a:prstGeom>
        </p:spPr>
        <p:txBody>
          <a:bodyPr wrap="square">
            <a:spAutoFit/>
          </a:bodyPr>
          <a:lstStyle/>
          <a:p>
            <a:r>
              <a:rPr lang="en-US" altLang="zh-CN" sz="2000" b="1" dirty="0">
                <a:latin typeface="+mj-ea"/>
                <a:ea typeface="+mj-ea"/>
              </a:rPr>
              <a:t>3</a:t>
            </a:r>
            <a:r>
              <a:rPr lang="zh-CN" altLang="en-US" sz="2000" b="1" dirty="0">
                <a:latin typeface="+mj-ea"/>
                <a:ea typeface="+mj-ea"/>
              </a:rPr>
              <a:t>）</a:t>
            </a:r>
            <a:r>
              <a:rPr lang="en-US" altLang="zh-CN" sz="2000" b="1" dirty="0">
                <a:latin typeface="+mj-ea"/>
                <a:ea typeface="+mj-ea"/>
              </a:rPr>
              <a:t>SERVICE</a:t>
            </a:r>
            <a:r>
              <a:rPr lang="zh-CN" altLang="en-US" sz="2000" b="1" dirty="0">
                <a:latin typeface="+mj-ea"/>
                <a:ea typeface="+mj-ea"/>
              </a:rPr>
              <a:t>成功率</a:t>
            </a:r>
          </a:p>
          <a:p>
            <a:pPr>
              <a:lnSpc>
                <a:spcPct val="150000"/>
              </a:lnSpc>
            </a:pPr>
            <a:r>
              <a:rPr lang="zh-CN" altLang="en-US" sz="1600" dirty="0">
                <a:latin typeface="+mj-ea"/>
                <a:ea typeface="+mj-ea"/>
              </a:rPr>
              <a:t>指标说明：反映</a:t>
            </a:r>
            <a:r>
              <a:rPr lang="en-US" altLang="zh-CN" sz="1600" dirty="0">
                <a:latin typeface="+mj-ea"/>
                <a:ea typeface="+mj-ea"/>
              </a:rPr>
              <a:t>LTE</a:t>
            </a:r>
            <a:r>
              <a:rPr lang="zh-CN" altLang="en-US" sz="1600" dirty="0">
                <a:latin typeface="+mj-ea"/>
                <a:ea typeface="+mj-ea"/>
              </a:rPr>
              <a:t>系统业务建立性能的重要指标</a:t>
            </a:r>
          </a:p>
          <a:p>
            <a:pPr>
              <a:lnSpc>
                <a:spcPct val="150000"/>
              </a:lnSpc>
            </a:pPr>
            <a:r>
              <a:rPr lang="zh-CN" altLang="en-US" sz="1600" dirty="0">
                <a:latin typeface="+mj-ea"/>
                <a:ea typeface="+mj-ea"/>
              </a:rPr>
              <a:t>指标定义：</a:t>
            </a:r>
            <a:r>
              <a:rPr lang="en-US" altLang="zh-CN" sz="1600" dirty="0">
                <a:latin typeface="+mj-ea"/>
                <a:ea typeface="+mj-ea"/>
              </a:rPr>
              <a:t>SERVICE </a:t>
            </a:r>
            <a:r>
              <a:rPr lang="zh-CN" altLang="en-US" sz="1600" dirty="0">
                <a:latin typeface="+mj-ea"/>
                <a:ea typeface="+mj-ea"/>
              </a:rPr>
              <a:t>建立成功次数</a:t>
            </a:r>
            <a:r>
              <a:rPr lang="en-US" altLang="zh-CN" sz="1600" dirty="0">
                <a:latin typeface="+mj-ea"/>
                <a:ea typeface="+mj-ea"/>
              </a:rPr>
              <a:t>/SERVICE REQUEST</a:t>
            </a:r>
            <a:r>
              <a:rPr lang="zh-CN" altLang="en-US" sz="1600" dirty="0">
                <a:latin typeface="+mj-ea"/>
                <a:ea typeface="+mj-ea"/>
              </a:rPr>
              <a:t>次数</a:t>
            </a:r>
          </a:p>
          <a:p>
            <a:pPr>
              <a:lnSpc>
                <a:spcPct val="150000"/>
              </a:lnSpc>
            </a:pPr>
            <a:r>
              <a:rPr lang="zh-CN" altLang="en-US" sz="1600" dirty="0">
                <a:latin typeface="+mj-ea"/>
                <a:ea typeface="+mj-ea"/>
              </a:rPr>
              <a:t>其中：</a:t>
            </a:r>
            <a:r>
              <a:rPr lang="en-US" altLang="zh-CN" sz="1600" dirty="0">
                <a:latin typeface="+mj-ea"/>
                <a:ea typeface="+mj-ea"/>
              </a:rPr>
              <a:t>SERVICE </a:t>
            </a:r>
            <a:r>
              <a:rPr lang="zh-CN" altLang="en-US" sz="1600" dirty="0">
                <a:latin typeface="+mj-ea"/>
                <a:ea typeface="+mj-ea"/>
              </a:rPr>
              <a:t>建立成功以</a:t>
            </a:r>
            <a:r>
              <a:rPr lang="en-US" altLang="zh-CN" sz="1600" dirty="0">
                <a:latin typeface="+mj-ea"/>
                <a:ea typeface="+mj-ea"/>
              </a:rPr>
              <a:t>UE</a:t>
            </a:r>
            <a:r>
              <a:rPr lang="zh-CN" altLang="en-US" sz="1600" dirty="0">
                <a:latin typeface="+mj-ea"/>
                <a:ea typeface="+mj-ea"/>
              </a:rPr>
              <a:t>上发</a:t>
            </a:r>
            <a:r>
              <a:rPr lang="en-US" altLang="zh-CN" sz="1600" dirty="0">
                <a:latin typeface="+mj-ea"/>
                <a:ea typeface="+mj-ea"/>
              </a:rPr>
              <a:t>SERVICE REQUEST</a:t>
            </a:r>
            <a:r>
              <a:rPr lang="zh-CN" altLang="en-US" sz="1600" dirty="0">
                <a:latin typeface="+mj-ea"/>
                <a:ea typeface="+mj-ea"/>
              </a:rPr>
              <a:t>后，</a:t>
            </a:r>
            <a:endParaRPr lang="en-US" altLang="zh-CN" sz="1600" dirty="0">
              <a:latin typeface="+mj-ea"/>
              <a:ea typeface="+mj-ea"/>
            </a:endParaRPr>
          </a:p>
          <a:p>
            <a:pPr>
              <a:lnSpc>
                <a:spcPct val="150000"/>
              </a:lnSpc>
            </a:pPr>
            <a:r>
              <a:rPr lang="en-US" altLang="zh-CN" sz="1600" dirty="0">
                <a:latin typeface="+mj-ea"/>
                <a:ea typeface="+mj-ea"/>
              </a:rPr>
              <a:t>         </a:t>
            </a:r>
            <a:r>
              <a:rPr lang="zh-CN" altLang="en-US" sz="1600" dirty="0">
                <a:latin typeface="+mj-ea"/>
                <a:ea typeface="+mj-ea"/>
              </a:rPr>
              <a:t>收到包含无线承载建立信息的</a:t>
            </a:r>
            <a:r>
              <a:rPr lang="en-US" altLang="zh-CN" sz="1600" dirty="0">
                <a:latin typeface="+mj-ea"/>
                <a:ea typeface="+mj-ea"/>
              </a:rPr>
              <a:t>RRC CONNECTION </a:t>
            </a:r>
          </a:p>
          <a:p>
            <a:pPr>
              <a:lnSpc>
                <a:spcPct val="150000"/>
              </a:lnSpc>
            </a:pPr>
            <a:r>
              <a:rPr lang="en-US" altLang="zh-CN" sz="1600" dirty="0">
                <a:latin typeface="+mj-ea"/>
                <a:ea typeface="+mj-ea"/>
              </a:rPr>
              <a:t>         RECONFIGURATION</a:t>
            </a:r>
            <a:r>
              <a:rPr lang="zh-CN" altLang="en-US" sz="1600" dirty="0">
                <a:latin typeface="+mj-ea"/>
                <a:ea typeface="+mj-ea"/>
              </a:rPr>
              <a:t>作为一次服务请求成功。</a:t>
            </a:r>
          </a:p>
          <a:p>
            <a:pPr>
              <a:lnSpc>
                <a:spcPct val="150000"/>
              </a:lnSpc>
            </a:pPr>
            <a:r>
              <a:rPr lang="zh-CN" altLang="en-US" sz="1600" dirty="0">
                <a:latin typeface="+mj-ea"/>
                <a:ea typeface="+mj-ea"/>
              </a:rPr>
              <a:t>所属协议层：</a:t>
            </a:r>
            <a:r>
              <a:rPr lang="en-US" altLang="zh-CN" sz="1600" dirty="0">
                <a:latin typeface="+mj-ea"/>
                <a:ea typeface="+mj-ea"/>
              </a:rPr>
              <a:t>NAS</a:t>
            </a:r>
            <a:r>
              <a:rPr lang="zh-CN" altLang="en-US" sz="1600" dirty="0">
                <a:latin typeface="+mj-ea"/>
                <a:ea typeface="+mj-ea"/>
              </a:rPr>
              <a:t>层</a:t>
            </a:r>
            <a:endParaRPr lang="en-US" altLang="zh-CN" sz="1600" dirty="0">
              <a:latin typeface="+mj-ea"/>
              <a:ea typeface="+mj-ea"/>
            </a:endParaRPr>
          </a:p>
          <a:p>
            <a:endParaRPr lang="zh-CN" altLang="en-US" sz="1800" dirty="0">
              <a:latin typeface="+mj-ea"/>
              <a:ea typeface="+mj-ea"/>
            </a:endParaRPr>
          </a:p>
        </p:txBody>
      </p:sp>
      <p:sp>
        <p:nvSpPr>
          <p:cNvPr id="4" name="矩形 3"/>
          <p:cNvSpPr/>
          <p:nvPr/>
        </p:nvSpPr>
        <p:spPr>
          <a:xfrm>
            <a:off x="6322695" y="1663530"/>
            <a:ext cx="5444066" cy="4139595"/>
          </a:xfrm>
          <a:prstGeom prst="rect">
            <a:avLst/>
          </a:prstGeom>
        </p:spPr>
        <p:txBody>
          <a:bodyPr wrap="square">
            <a:spAutoFit/>
          </a:bodyPr>
          <a:lstStyle/>
          <a:p>
            <a:r>
              <a:rPr lang="en-US" altLang="zh-CN" sz="2000" b="1" dirty="0">
                <a:latin typeface="+mj-ea"/>
                <a:ea typeface="+mj-ea"/>
              </a:rPr>
              <a:t>4</a:t>
            </a:r>
            <a:r>
              <a:rPr lang="zh-CN" altLang="en-US" sz="2000" b="1" dirty="0">
                <a:latin typeface="+mj-ea"/>
                <a:ea typeface="+mj-ea"/>
              </a:rPr>
              <a:t>）</a:t>
            </a:r>
            <a:r>
              <a:rPr lang="en-US" altLang="zh-CN" sz="2000" b="1" dirty="0">
                <a:latin typeface="+mj-ea"/>
                <a:ea typeface="+mj-ea"/>
              </a:rPr>
              <a:t>SERVICE</a:t>
            </a:r>
            <a:r>
              <a:rPr lang="zh-CN" altLang="en-US" sz="2000" b="1" dirty="0">
                <a:latin typeface="+mj-ea"/>
                <a:ea typeface="+mj-ea"/>
              </a:rPr>
              <a:t>平均时延</a:t>
            </a:r>
          </a:p>
          <a:p>
            <a:pPr>
              <a:lnSpc>
                <a:spcPct val="150000"/>
              </a:lnSpc>
            </a:pPr>
            <a:r>
              <a:rPr lang="zh-CN" altLang="en-US" dirty="0">
                <a:latin typeface="+mj-ea"/>
              </a:rPr>
              <a:t>指标说明：反映</a:t>
            </a:r>
            <a:r>
              <a:rPr lang="en-US" altLang="zh-CN" dirty="0">
                <a:latin typeface="+mj-ea"/>
              </a:rPr>
              <a:t>LTE</a:t>
            </a:r>
            <a:r>
              <a:rPr lang="zh-CN" altLang="en-US" dirty="0">
                <a:latin typeface="+mj-ea"/>
              </a:rPr>
              <a:t>系统业务建立性能的重要指标</a:t>
            </a:r>
          </a:p>
          <a:p>
            <a:pPr>
              <a:lnSpc>
                <a:spcPct val="150000"/>
              </a:lnSpc>
            </a:pPr>
            <a:r>
              <a:rPr lang="zh-CN" altLang="en-US" dirty="0">
                <a:latin typeface="+mj-ea"/>
              </a:rPr>
              <a:t>指标定义：</a:t>
            </a:r>
            <a:r>
              <a:rPr lang="en-US" altLang="zh-CN" dirty="0">
                <a:latin typeface="+mj-ea"/>
              </a:rPr>
              <a:t>SERVICE </a:t>
            </a:r>
            <a:r>
              <a:rPr lang="zh-CN" altLang="en-US" dirty="0">
                <a:latin typeface="+mj-ea"/>
              </a:rPr>
              <a:t>建立时延总和</a:t>
            </a:r>
            <a:r>
              <a:rPr lang="en-US" altLang="zh-CN" dirty="0">
                <a:latin typeface="+mj-ea"/>
              </a:rPr>
              <a:t>/ SERVICE </a:t>
            </a:r>
            <a:r>
              <a:rPr lang="zh-CN" altLang="en-US" dirty="0">
                <a:latin typeface="+mj-ea"/>
              </a:rPr>
              <a:t>建立</a:t>
            </a:r>
            <a:endParaRPr lang="en-US" altLang="zh-CN" dirty="0">
              <a:latin typeface="+mj-ea"/>
            </a:endParaRPr>
          </a:p>
          <a:p>
            <a:pPr>
              <a:lnSpc>
                <a:spcPct val="150000"/>
              </a:lnSpc>
            </a:pPr>
            <a:r>
              <a:rPr lang="en-US" altLang="zh-CN" dirty="0">
                <a:latin typeface="+mj-ea"/>
              </a:rPr>
              <a:t>                 </a:t>
            </a:r>
            <a:r>
              <a:rPr lang="zh-CN" altLang="en-US" dirty="0">
                <a:latin typeface="+mj-ea"/>
              </a:rPr>
              <a:t>成功次数</a:t>
            </a:r>
          </a:p>
          <a:p>
            <a:pPr>
              <a:lnSpc>
                <a:spcPct val="150000"/>
              </a:lnSpc>
            </a:pPr>
            <a:r>
              <a:rPr lang="zh-CN" altLang="en-US" dirty="0">
                <a:latin typeface="+mj-ea"/>
              </a:rPr>
              <a:t>其中：以</a:t>
            </a:r>
            <a:r>
              <a:rPr lang="en-US" altLang="zh-CN" dirty="0">
                <a:latin typeface="+mj-ea"/>
              </a:rPr>
              <a:t>UE</a:t>
            </a:r>
            <a:r>
              <a:rPr lang="zh-CN" altLang="en-US" dirty="0">
                <a:latin typeface="+mj-ea"/>
              </a:rPr>
              <a:t>上发</a:t>
            </a:r>
            <a:r>
              <a:rPr lang="en-US" altLang="zh-CN" dirty="0">
                <a:latin typeface="+mj-ea"/>
              </a:rPr>
              <a:t>SERVICE REQUEST</a:t>
            </a:r>
            <a:r>
              <a:rPr lang="zh-CN" altLang="en-US" dirty="0">
                <a:latin typeface="+mj-ea"/>
              </a:rPr>
              <a:t>作为服务建立</a:t>
            </a:r>
            <a:endParaRPr lang="en-US" altLang="zh-CN" dirty="0">
              <a:latin typeface="+mj-ea"/>
            </a:endParaRPr>
          </a:p>
          <a:p>
            <a:pPr>
              <a:lnSpc>
                <a:spcPct val="150000"/>
              </a:lnSpc>
            </a:pPr>
            <a:r>
              <a:rPr lang="en-US" altLang="zh-CN" dirty="0">
                <a:latin typeface="+mj-ea"/>
              </a:rPr>
              <a:t>          </a:t>
            </a:r>
            <a:r>
              <a:rPr lang="zh-CN" altLang="en-US" dirty="0">
                <a:latin typeface="+mj-ea"/>
              </a:rPr>
              <a:t>请求，以收到包含无线承载建立信息的</a:t>
            </a:r>
            <a:r>
              <a:rPr lang="en-US" altLang="zh-CN" dirty="0">
                <a:latin typeface="+mj-ea"/>
              </a:rPr>
              <a:t>RRC </a:t>
            </a:r>
          </a:p>
          <a:p>
            <a:pPr>
              <a:lnSpc>
                <a:spcPct val="150000"/>
              </a:lnSpc>
            </a:pPr>
            <a:r>
              <a:rPr lang="en-US" altLang="zh-CN" dirty="0">
                <a:latin typeface="+mj-ea"/>
              </a:rPr>
              <a:t>           CONNECTION RECONFIGURATION</a:t>
            </a:r>
            <a:r>
              <a:rPr lang="zh-CN" altLang="en-US" dirty="0">
                <a:latin typeface="+mj-ea"/>
              </a:rPr>
              <a:t>作为服</a:t>
            </a:r>
            <a:endParaRPr lang="en-US" altLang="zh-CN" dirty="0">
              <a:latin typeface="+mj-ea"/>
            </a:endParaRPr>
          </a:p>
          <a:p>
            <a:pPr>
              <a:lnSpc>
                <a:spcPct val="150000"/>
              </a:lnSpc>
            </a:pPr>
            <a:r>
              <a:rPr lang="en-US" altLang="zh-CN" dirty="0">
                <a:latin typeface="+mj-ea"/>
              </a:rPr>
              <a:t>           </a:t>
            </a:r>
            <a:r>
              <a:rPr lang="zh-CN" altLang="en-US" dirty="0">
                <a:latin typeface="+mj-ea"/>
              </a:rPr>
              <a:t>务请求建立成功，两者时间差为服务请求建</a:t>
            </a:r>
            <a:endParaRPr lang="en-US" altLang="zh-CN" dirty="0">
              <a:latin typeface="+mj-ea"/>
            </a:endParaRPr>
          </a:p>
          <a:p>
            <a:pPr>
              <a:lnSpc>
                <a:spcPct val="150000"/>
              </a:lnSpc>
            </a:pPr>
            <a:r>
              <a:rPr lang="en-US" altLang="zh-CN" dirty="0">
                <a:latin typeface="+mj-ea"/>
              </a:rPr>
              <a:t>           </a:t>
            </a:r>
            <a:r>
              <a:rPr lang="zh-CN" altLang="en-US" dirty="0">
                <a:latin typeface="+mj-ea"/>
              </a:rPr>
              <a:t>立时延</a:t>
            </a:r>
          </a:p>
          <a:p>
            <a:pPr>
              <a:lnSpc>
                <a:spcPct val="150000"/>
              </a:lnSpc>
            </a:pPr>
            <a:r>
              <a:rPr lang="zh-CN" altLang="en-US" dirty="0">
                <a:latin typeface="+mj-ea"/>
              </a:rPr>
              <a:t>所属协议层：</a:t>
            </a:r>
            <a:r>
              <a:rPr lang="en-US" altLang="zh-CN" dirty="0">
                <a:latin typeface="+mj-ea"/>
              </a:rPr>
              <a:t>NAS</a:t>
            </a:r>
            <a:r>
              <a:rPr lang="zh-CN" altLang="en-US" dirty="0">
                <a:latin typeface="+mj-ea"/>
              </a:rPr>
              <a:t>层</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任务小结</a:t>
            </a:r>
          </a:p>
        </p:txBody>
      </p:sp>
      <p:sp>
        <p:nvSpPr>
          <p:cNvPr id="29" name="Freeform 29"/>
          <p:cNvSpPr>
            <a:spLocks noEditPoints="1"/>
          </p:cNvSpPr>
          <p:nvPr/>
        </p:nvSpPr>
        <p:spPr bwMode="auto">
          <a:xfrm flipH="1">
            <a:off x="8336766" y="1511929"/>
            <a:ext cx="3663372" cy="3991302"/>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8F000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sp>
        <p:nvSpPr>
          <p:cNvPr id="2" name="矩形 1"/>
          <p:cNvSpPr/>
          <p:nvPr/>
        </p:nvSpPr>
        <p:spPr>
          <a:xfrm>
            <a:off x="1735174" y="2210285"/>
            <a:ext cx="6096000" cy="2939266"/>
          </a:xfrm>
          <a:prstGeom prst="rect">
            <a:avLst/>
          </a:prstGeom>
        </p:spPr>
        <p:txBody>
          <a:bodyPr>
            <a:spAutoFit/>
          </a:bodyPr>
          <a:lstStyle/>
          <a:p>
            <a:pPr marL="285750" indent="-285750" algn="just">
              <a:lnSpc>
                <a:spcPts val="18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熟悉</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无线网络优化项目准备与启动、单站验证、</a:t>
            </a:r>
            <a:r>
              <a:rPr lang="en-US" altLang="zh-CN" kern="100" dirty="0">
                <a:latin typeface="+mn-ea"/>
                <a:cs typeface="Arial" panose="020B0604020202020204" pitchFamily="34" charset="0"/>
              </a:rPr>
              <a:t>RF</a:t>
            </a:r>
            <a:r>
              <a:rPr lang="zh-CN" altLang="en-US" kern="100" dirty="0">
                <a:latin typeface="+mn-ea"/>
                <a:cs typeface="Arial" panose="020B0604020202020204" pitchFamily="34" charset="0"/>
              </a:rPr>
              <a:t>优化、业务优化、网络验收，以及优化各阶段主要工作内容，为后续的</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网优工程实施奠定理论基础。</a:t>
            </a:r>
          </a:p>
          <a:p>
            <a:pPr marL="285750" indent="-285750" algn="just">
              <a:lnSpc>
                <a:spcPts val="18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在熟悉</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无线优化流程及各阶段的主要工作内容后，需要了解</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网络评估的一些基本概念，包括</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无线网络评估标准，分为室外标准与室内标准，以及在网络评估过程中，要遵循相应的评估原则等内容。</a:t>
            </a:r>
          </a:p>
          <a:p>
            <a:pPr marL="285750" indent="-285750" algn="just">
              <a:lnSpc>
                <a:spcPts val="18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理解</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无线网络评估的基本概念，对无线网络评估的基本目标与总体原则有了一定的认识。接下来需掌握在具体测试时需要用到的专业术语、测试规范与要求、业务测试基本指标定义。</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830520"/>
          </a:xfrm>
        </p:spPr>
        <p:txBody>
          <a:bodyPr>
            <a:normAutofit/>
          </a:bodyPr>
          <a:lstStyle/>
          <a:p>
            <a:r>
              <a:rPr lang="zh-CN" altLang="en-US" sz="6700" b="1" dirty="0"/>
              <a:t>谢谢！</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Q3NjQxYmZmN2ZkODIxYWNiNTEzMzQyMTZmNzQ1MmM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16.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4"/>
</p:tagLst>
</file>

<file path=ppt/tags/tag20.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5"/>
</p:tagLst>
</file>

<file path=ppt/tags/tag21.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SubTitle"/>
  <p:tag name="MH_ORDER" val="1"/>
</p:tagLst>
</file>

<file path=ppt/tags/tag23.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1"/>
</p:tagLst>
</file>

<file path=ppt/tags/tag24.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2"/>
</p:tagLst>
</file>

<file path=ppt/tags/tag25.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3"/>
</p:tagLst>
</file>

<file path=ppt/tags/tag26.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4"/>
</p:tagLst>
</file>

<file path=ppt/tags/tag27.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5"/>
</p:tagLst>
</file>

<file path=ppt/tags/tag28.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Text"/>
  <p:tag name="MH_ORDER" val="2"/>
</p:tagLst>
</file>

<file path=ppt/tags/tag29.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SubTitle"/>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3"/>
</p:tagLst>
</file>

<file path=ppt/tags/tag33.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4"/>
</p:tagLst>
</file>

<file path=ppt/tags/tag34.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5"/>
</p:tagLst>
</file>

<file path=ppt/tags/tag35.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Text"/>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SubTitle"/>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1"/>
</p:tagLst>
</file>

<file path=ppt/tags/tag38.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2"/>
</p:tagLst>
</file>

<file path=ppt/tags/tag39.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3"/>
</p:tagLst>
</file>

<file path=ppt/tags/tag40.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4"/>
</p:tagLst>
</file>

<file path=ppt/tags/tag41.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Other"/>
  <p:tag name="MH_ORDER" val="15"/>
</p:tagLst>
</file>

<file path=ppt/tags/tag42.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Text"/>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SubTitle"/>
  <p:tag name="MH_ORDER" val="2"/>
</p:tagLst>
</file>

<file path=ppt/tags/tag44.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文本框 7"/>
</p:tagLst>
</file>

<file path=ppt/tags/tag45.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TextBox 9"/>
</p:tagLst>
</file>

<file path=ppt/tags/tag46.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Chevron 47"/>
</p:tagLst>
</file>

<file path=ppt/tags/tag47.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文本框 7"/>
</p:tagLst>
</file>

<file path=ppt/tags/tag48.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Chevron 47"/>
</p:tagLst>
</file>

<file path=ppt/tags/tag49.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文本框 7"/>
</p:tagLst>
</file>

<file path=ppt/tags/tag50.xml><?xml version="1.0" encoding="utf-8"?>
<p:tagLst xmlns:a="http://schemas.openxmlformats.org/drawingml/2006/main" xmlns:r="http://schemas.openxmlformats.org/officeDocument/2006/relationships" xmlns:p="http://schemas.openxmlformats.org/presentationml/2006/main">
  <p:tag name="MH" val="20190507165539"/>
  <p:tag name="MH_LIBRARY" val="GRAPHIC"/>
  <p:tag name="MH_ORDER" val="Chevron 47"/>
</p:tagLst>
</file>

<file path=ppt/tags/tag51.xml><?xml version="1.0" encoding="utf-8"?>
<p:tagLst xmlns:a="http://schemas.openxmlformats.org/drawingml/2006/main" xmlns:r="http://schemas.openxmlformats.org/officeDocument/2006/relationships" xmlns:p="http://schemas.openxmlformats.org/presentationml/2006/main">
  <p:tag name="MH" val="20190507172851"/>
  <p:tag name="MH_LIBRARY" val="GRAPHIC"/>
  <p:tag name="MH_TYPE" val="Desc"/>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MH" val="20190507172851"/>
  <p:tag name="MH_LIBRARY" val="GRAPHIC"/>
  <p:tag name="MH_TYPE" val="SubTitle"/>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3"/>
</p:tagLst>
</file>

<file path=ppt/tags/tag56.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4"/>
</p:tagLst>
</file>

<file path=ppt/tags/tag57.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5"/>
</p:tagLst>
</file>

<file path=ppt/tags/tag58.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7"/>
</p:tagLst>
</file>

<file path=ppt/tags/tag60.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8"/>
</p:tagLst>
</file>

<file path=ppt/tags/tag61.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SubTitle"/>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SubTitle"/>
  <p:tag name="MH_ORDER" val="3"/>
</p:tagLst>
</file>

<file path=ppt/tags/tag65.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3"/>
</p:tagLst>
</file>

<file path=ppt/tags/tag66.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SubTitle"/>
  <p:tag name="MH_ORDER" val="2"/>
</p:tagLst>
</file>

<file path=ppt/tags/tag67.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3"/>
</p:tagLst>
</file>

<file path=ppt/tags/tag68.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4"/>
</p:tagLst>
</file>

<file path=ppt/tags/tag69.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5"/>
</p:tagLst>
</file>

<file path=ppt/tags/tag70.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6"/>
</p:tagLst>
</file>

<file path=ppt/tags/tag71.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SubTitle"/>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2"/>
</p:tagLst>
</file>

<file path=ppt/tags/tag73.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SubTitle"/>
  <p:tag name="MH_ORDER" val="2"/>
</p:tagLst>
</file>

<file path=ppt/tags/tag75.xml><?xml version="1.0" encoding="utf-8"?>
<p:tagLst xmlns:a="http://schemas.openxmlformats.org/drawingml/2006/main" xmlns:r="http://schemas.openxmlformats.org/officeDocument/2006/relationships" xmlns:p="http://schemas.openxmlformats.org/presentationml/2006/main">
  <p:tag name="MH" val="20190507163930"/>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Text"/>
  <p:tag name="MH_ORDER" val="3"/>
</p:tagLst>
</file>

<file path=ppt/tags/tag77.xml><?xml version="1.0" encoding="utf-8"?>
<p:tagLst xmlns:a="http://schemas.openxmlformats.org/drawingml/2006/main" xmlns:r="http://schemas.openxmlformats.org/officeDocument/2006/relationships" xmlns:p="http://schemas.openxmlformats.org/presentationml/2006/main">
  <p:tag name="MH" val="20190508092253"/>
  <p:tag name="MH_LIBRARY" val="GRAPHIC"/>
  <p:tag name="MH_TYPE" val="Other"/>
  <p:tag name="MH_ORDER" val="5"/>
</p:tagLst>
</file>

<file path=ppt/tags/tag78.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1"/>
</p:tagLst>
</file>

<file path=ppt/tags/tag79.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3"/>
</p:tagLst>
</file>

<file path=ppt/tags/tag80.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4"/>
</p:tagLst>
</file>

<file path=ppt/tags/tag81.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5"/>
</p:tagLst>
</file>

<file path=ppt/tags/tag82.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6"/>
</p:tagLst>
</file>

<file path=ppt/tags/tag83.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9"/>
</p:tagLst>
</file>

<file path=ppt/tags/tag84.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10"/>
</p:tagLst>
</file>

<file path=ppt/tags/tag85.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Other"/>
  <p:tag name="MH_ORDER" val="11"/>
</p:tagLst>
</file>

<file path=ppt/tags/tag86.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SubTitle"/>
  <p:tag name="MH_ORDER" val="1"/>
</p:tagLst>
</file>

<file path=ppt/tags/tag87.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SubTitle"/>
  <p:tag name="MH_ORDER" val="2"/>
</p:tagLst>
</file>

<file path=ppt/tags/tag88.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Text"/>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90508100611"/>
  <p:tag name="MH_LIBRARY" val="GRAPHIC"/>
  <p:tag name="MH_TYPE" val="Text"/>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2"/>
</p:tagLst>
</file>

<file path=ppt/tags/tag93.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SubTitle"/>
  <p:tag name="MH_ORDER" val="1"/>
</p:tagLst>
</file>

<file path=ppt/tags/tag94.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Text"/>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3"/>
</p:tagLst>
</file>

<file path=ppt/tags/tag96.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4"/>
</p:tagLst>
</file>

<file path=ppt/tags/tag97.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SubTitle"/>
  <p:tag name="MH_ORDER" val="2"/>
</p:tagLst>
</file>

<file path=ppt/tags/tag98.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Text"/>
  <p:tag name="MH_ORDER" val="2"/>
</p:tagLst>
</file>

<file path=ppt/tags/tag99.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5"/>
</p:tagLst>
</file>

<file path=ppt/tags/tag100.xml><?xml version="1.0" encoding="utf-8"?>
<p:tagLst xmlns:a="http://schemas.openxmlformats.org/drawingml/2006/main" xmlns:r="http://schemas.openxmlformats.org/officeDocument/2006/relationships" xmlns:p="http://schemas.openxmlformats.org/presentationml/2006/main">
  <p:tag name="MH" val="20190508101630"/>
  <p:tag name="MH_LIBRARY" val="GRAPHIC"/>
  <p:tag name="MH_TYPE" val="Other"/>
  <p:tag name="MH_ORDER" val="6"/>
</p:tagLst>
</file>

<file path=ppt/tags/tag101.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2.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4.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5.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6.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7.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8.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09.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10.xml><?xml version="1.0" encoding="utf-8"?>
<p:tagLst xmlns:a="http://schemas.openxmlformats.org/drawingml/2006/main" xmlns:r="http://schemas.openxmlformats.org/officeDocument/2006/relationships" xmlns:p="http://schemas.openxmlformats.org/presentationml/2006/main">
  <p:tag name="MH" val="20190508101358"/>
  <p:tag name="MH_LIBRARY" val="GRAPHIC"/>
  <p:tag name="MH_TYPE" val="Text"/>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MH" val="20190508114940"/>
  <p:tag name="MH_LIBRARY" val="GRAPHIC"/>
  <p:tag name="MH_TYPE" val="Text"/>
  <p:tag name="MH_ORDER" val="1"/>
</p:tagLst>
</file>

<file path=ppt/tags/tag112.xml><?xml version="1.0" encoding="utf-8"?>
<p:tagLst xmlns:a="http://schemas.openxmlformats.org/drawingml/2006/main" xmlns:r="http://schemas.openxmlformats.org/officeDocument/2006/relationships" xmlns:p="http://schemas.openxmlformats.org/presentationml/2006/main">
  <p:tag name="MH" val="20190508114940"/>
  <p:tag name="MH_LIBRARY" val="GRAPHIC"/>
  <p:tag name="MH_TYPE" val="SubTitle"/>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MH" val="20190508114940"/>
  <p:tag name="MH_LIBRARY" val="GRAPHIC"/>
  <p:tag name="MH_TYPE" val="SubTitle"/>
  <p:tag name="MH_ORDER" val="1"/>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2003</TotalTime>
  <Words>10973</Words>
  <Application>Microsoft Office PowerPoint</Application>
  <PresentationFormat>宽屏</PresentationFormat>
  <Paragraphs>903</Paragraphs>
  <Slides>76</Slides>
  <Notes>27</Notes>
  <HiddenSlides>0</HiddenSlides>
  <MMClips>0</MMClips>
  <ScaleCrop>false</ScaleCrop>
  <HeadingPairs>
    <vt:vector size="8" baseType="variant">
      <vt:variant>
        <vt:lpstr>已用的字体</vt:lpstr>
      </vt:variant>
      <vt:variant>
        <vt:i4>11</vt:i4>
      </vt:variant>
      <vt:variant>
        <vt:lpstr>主题</vt:lpstr>
      </vt:variant>
      <vt:variant>
        <vt:i4>5</vt:i4>
      </vt:variant>
      <vt:variant>
        <vt:lpstr>嵌入 OLE 服务器</vt:lpstr>
      </vt:variant>
      <vt:variant>
        <vt:i4>1</vt:i4>
      </vt:variant>
      <vt:variant>
        <vt:lpstr>幻灯片标题</vt:lpstr>
      </vt:variant>
      <vt:variant>
        <vt:i4>76</vt:i4>
      </vt:variant>
    </vt:vector>
  </HeadingPairs>
  <TitlesOfParts>
    <vt:vector size="93" baseType="lpstr">
      <vt:lpstr>等线</vt:lpstr>
      <vt:lpstr>方正兰亭黑简体</vt:lpstr>
      <vt:lpstr>华文细黑</vt:lpstr>
      <vt:lpstr>宋体</vt:lpstr>
      <vt:lpstr>微软雅黑</vt:lpstr>
      <vt:lpstr>Agency FB</vt:lpstr>
      <vt:lpstr>Arial</vt:lpstr>
      <vt:lpstr>Calibri</vt:lpstr>
      <vt:lpstr>Franklin Gothic Medium</vt:lpstr>
      <vt:lpstr>Times New Roman</vt:lpstr>
      <vt:lpstr>Wingdings</vt:lpstr>
      <vt:lpstr>4_自定义设计方案</vt:lpstr>
      <vt:lpstr>自定义设计方案</vt:lpstr>
      <vt:lpstr>1_自定义设计方案</vt:lpstr>
      <vt:lpstr>2_自定义设计方案</vt:lpstr>
      <vt:lpstr>3_自定义设计方案</vt:lpstr>
      <vt:lpstr>Visio</vt:lpstr>
      <vt:lpstr>《无线网络规划与优化》</vt:lpstr>
      <vt:lpstr>PowerPoint 演示文稿</vt:lpstr>
      <vt:lpstr>PowerPoint 演示文稿</vt:lpstr>
      <vt:lpstr>PowerPoint 演示文稿</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PowerPoint 演示文稿</vt:lpstr>
      <vt:lpstr>PowerPoint 演示文稿</vt:lpstr>
      <vt:lpstr>PowerPoint 演示文稿</vt:lpstr>
      <vt:lpstr>PowerPoint 演示文稿</vt:lpstr>
      <vt:lpstr>PowerPoint 演示文稿</vt:lpstr>
      <vt:lpstr>优化目标确定</vt:lpstr>
      <vt:lpstr>Cluster划分/优化区域确定</vt:lpstr>
      <vt:lpstr>测试路线准备</vt:lpstr>
      <vt:lpstr>规划测试路线的因素</vt:lpstr>
      <vt:lpstr>PowerPoint 演示文稿</vt:lpstr>
      <vt:lpstr>测试工具-软件</vt:lpstr>
      <vt:lpstr>测试工具-硬件</vt:lpstr>
      <vt:lpstr>测试资料准备</vt:lpstr>
      <vt:lpstr>数据采集- DT数据-1</vt:lpstr>
      <vt:lpstr>数据采集- DT数据-2</vt:lpstr>
      <vt:lpstr>数据采集-话统数据</vt:lpstr>
      <vt:lpstr>工参核查</vt:lpstr>
      <vt:lpstr>RF优化整体原则</vt:lpstr>
      <vt:lpstr>RF优化案例分析</vt:lpstr>
      <vt:lpstr>RF优化案例分析</vt:lpstr>
      <vt:lpstr>任务一：探究LTE无线网络优化</vt:lpstr>
      <vt:lpstr>任务一：探究LTE无线网络优化</vt:lpstr>
      <vt:lpstr>任务一：探究LTE无线网络优化</vt:lpstr>
      <vt:lpstr>任务一：探究LTE无线网络优化</vt:lpstr>
      <vt:lpstr>PowerPoint 演示文稿</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任务一：探究LTE无线网络优化</vt:lpstr>
      <vt:lpstr>任务小结</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静 吴</cp:lastModifiedBy>
  <cp:revision>629</cp:revision>
  <dcterms:created xsi:type="dcterms:W3CDTF">2017-08-03T09:01:00Z</dcterms:created>
  <dcterms:modified xsi:type="dcterms:W3CDTF">2025-09-17T03:38:49Z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7D14E6BB25324511AB8EE7130920BDC1_12</vt:lpwstr>
  </property>
</Properties>
</file>