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0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4" r:id="rId3"/>
    <p:sldMasterId id="2147483657" r:id="rId4"/>
    <p:sldMasterId id="2147483663" r:id="rId5"/>
  </p:sldMasterIdLst>
  <p:notesMasterIdLst>
    <p:notesMasterId r:id="rId41"/>
  </p:notesMasterIdLst>
  <p:handoutMasterIdLst>
    <p:handoutMasterId r:id="rId42"/>
  </p:handoutMasterIdLst>
  <p:sldIdLst>
    <p:sldId id="272" r:id="rId6"/>
    <p:sldId id="303" r:id="rId7"/>
    <p:sldId id="305" r:id="rId8"/>
    <p:sldId id="415" r:id="rId9"/>
    <p:sldId id="287" r:id="rId10"/>
    <p:sldId id="316" r:id="rId11"/>
    <p:sldId id="421" r:id="rId12"/>
    <p:sldId id="434" r:id="rId13"/>
    <p:sldId id="435" r:id="rId14"/>
    <p:sldId id="436" r:id="rId15"/>
    <p:sldId id="437" r:id="rId16"/>
    <p:sldId id="439" r:id="rId17"/>
    <p:sldId id="440" r:id="rId18"/>
    <p:sldId id="441" r:id="rId19"/>
    <p:sldId id="442" r:id="rId20"/>
    <p:sldId id="444" r:id="rId21"/>
    <p:sldId id="445" r:id="rId22"/>
    <p:sldId id="446" r:id="rId23"/>
    <p:sldId id="447" r:id="rId24"/>
    <p:sldId id="448" r:id="rId25"/>
    <p:sldId id="449" r:id="rId26"/>
    <p:sldId id="450" r:id="rId27"/>
    <p:sldId id="451" r:id="rId28"/>
    <p:sldId id="453" r:id="rId29"/>
    <p:sldId id="452" r:id="rId30"/>
    <p:sldId id="454" r:id="rId31"/>
    <p:sldId id="455" r:id="rId32"/>
    <p:sldId id="456" r:id="rId33"/>
    <p:sldId id="457" r:id="rId34"/>
    <p:sldId id="458" r:id="rId35"/>
    <p:sldId id="459" r:id="rId36"/>
    <p:sldId id="461" r:id="rId37"/>
    <p:sldId id="462" r:id="rId38"/>
    <p:sldId id="422" r:id="rId39"/>
    <p:sldId id="464" r:id="rId40"/>
  </p:sldIdLst>
  <p:sldSz cx="12192000" cy="6858000"/>
  <p:notesSz cx="10234613" cy="7104063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9191C"/>
    <a:srgbClr val="EA9ADF"/>
    <a:srgbClr val="FC9988"/>
    <a:srgbClr val="5B9BD5"/>
    <a:srgbClr val="0076CB"/>
    <a:srgbClr val="99CC00"/>
    <a:srgbClr val="6666FE"/>
    <a:srgbClr val="6565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0" autoAdjust="0"/>
    <p:restoredTop sz="48972" autoAdjust="0"/>
  </p:normalViewPr>
  <p:slideViewPr>
    <p:cSldViewPr snapToGrid="0" showGuides="1">
      <p:cViewPr varScale="1">
        <p:scale>
          <a:sx n="45" d="100"/>
          <a:sy n="45" d="100"/>
        </p:scale>
        <p:origin x="1948" y="40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6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788" y="0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7440" y="888133"/>
            <a:ext cx="4262159" cy="239774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619" y="3419204"/>
            <a:ext cx="8187802" cy="279662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8051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788" y="6748051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555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39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60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095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0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3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7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09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8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078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84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38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414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283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293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16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702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427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950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934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924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8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789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26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695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599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96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5845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66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33730" y="2171065"/>
            <a:ext cx="9644380" cy="1079500"/>
          </a:xfrm>
        </p:spPr>
        <p:txBody>
          <a:bodyPr anchor="b"/>
          <a:lstStyle>
            <a:lvl1pPr algn="l">
              <a:defRPr sz="5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0" y="3602355"/>
            <a:ext cx="6307455" cy="48514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6218555" y="2288540"/>
            <a:ext cx="5624830" cy="4139565"/>
          </a:xfrm>
          <a:prstGeom prst="rect">
            <a:avLst/>
          </a:prstGeom>
          <a:blipFill rotWithShape="1">
            <a:blip r:embed="rId4">
              <a:alphaModFix amt="2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占位符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983615" y="685165"/>
            <a:ext cx="3374390" cy="1473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9" name="图片占位符 8"/>
          <p:cNvSpPr>
            <a:spLocks noGrp="1" noChangeAspect="1"/>
          </p:cNvSpPr>
          <p:nvPr>
            <p:ph type="pic" idx="1"/>
          </p:nvPr>
        </p:nvSpPr>
        <p:spPr>
          <a:xfrm>
            <a:off x="5193665" y="1324610"/>
            <a:ext cx="5354320" cy="46894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half" idx="2"/>
          </p:nvPr>
        </p:nvSpPr>
        <p:spPr>
          <a:xfrm>
            <a:off x="988695" y="2615565"/>
            <a:ext cx="3374390" cy="350901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777808-ED14-4426-99DB-3B4265319C79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3216A1-BAFB-4293-B513-399F239122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bg>
      <p:bgPr>
        <a:blipFill rotWithShape="1">
          <a:blip r:embed="rId2"/>
          <a:stretch>
            <a:fillRect l="-4000" t="-5000" r="-3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01390" y="2766060"/>
            <a:ext cx="8090535" cy="1325880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6218555" y="2288540"/>
            <a:ext cx="5624830" cy="4139565"/>
          </a:xfrm>
          <a:prstGeom prst="rect">
            <a:avLst/>
          </a:prstGeom>
          <a:blipFill rotWithShape="1">
            <a:blip r:embed="rId4">
              <a:alphaModFix amt="2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占位符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bg>
      <p:bgPr>
        <a:blipFill rotWithShape="1">
          <a:blip r:embed="rId2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 noChangeAspect="1"/>
          </p:cNvSpPr>
          <p:nvPr>
            <p:ph type="pic" idx="1"/>
          </p:nvPr>
        </p:nvSpPr>
        <p:spPr>
          <a:xfrm>
            <a:off x="5398135" y="1664970"/>
            <a:ext cx="5354320" cy="46894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1193165" y="2955925"/>
            <a:ext cx="3374390" cy="350901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064895" y="458470"/>
            <a:ext cx="10515600" cy="53530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bg>
      <p:bgPr>
        <a:blipFill rotWithShape="1">
          <a:blip r:embed="rId3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838200" y="15113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4895" y="458470"/>
            <a:ext cx="10515600" cy="53530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bg>
      <p:bgPr>
        <a:blipFill rotWithShape="1">
          <a:blip r:embed="rId2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99745" y="1628775"/>
            <a:ext cx="5457825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217285" y="1628775"/>
            <a:ext cx="5457825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4895" y="458470"/>
            <a:ext cx="10515600" cy="53530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bg>
      <p:bgPr>
        <a:blipFill rotWithShape="1">
          <a:blip r:embed="rId2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574040" y="1395095"/>
            <a:ext cx="6176010" cy="43586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95160" y="1395095"/>
            <a:ext cx="4571365" cy="43586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64895" y="458470"/>
            <a:ext cx="10515600" cy="53530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6218555" y="2288540"/>
            <a:ext cx="5624830" cy="4139565"/>
          </a:xfrm>
          <a:prstGeom prst="rect">
            <a:avLst/>
          </a:prstGeom>
          <a:blipFill rotWithShape="1">
            <a:blip r:embed="rId4">
              <a:alphaModFix amt="2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占位符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7281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041684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9C70D-B7C8-466D-B87C-22D855EF72C6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045BA-9AC9-4435-A9A0-D822685BA7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6218555" y="2288540"/>
            <a:ext cx="5624830" cy="4139565"/>
          </a:xfrm>
          <a:prstGeom prst="rect">
            <a:avLst/>
          </a:prstGeom>
          <a:blipFill rotWithShape="1">
            <a:blip r:embed="rId6">
              <a:alphaModFix amt="2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A171D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4"/>
          <a:stretch>
            <a:fillRect l="-4000" t="-5000" r="-3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7"/>
          <a:stretch>
            <a:fillRect l="-4000" t="-5000" r="-3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/>
          <a:stretch>
            <a:fillRect l="-3000" t="-3000" r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9C70D-B7C8-466D-B87C-22D855EF72C6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045BA-9AC9-4435-A9A0-D822685BA7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28.xml"/><Relationship Id="rId9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9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slideLayout" Target="../slideLayouts/slideLayout8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jpeg"/><Relationship Id="rId18" Type="http://schemas.openxmlformats.org/officeDocument/2006/relationships/image" Target="../media/image28.jpeg"/><Relationship Id="rId26" Type="http://schemas.openxmlformats.org/officeDocument/2006/relationships/image" Target="../media/image36.jpeg"/><Relationship Id="rId39" Type="http://schemas.openxmlformats.org/officeDocument/2006/relationships/image" Target="../media/image49.jpeg"/><Relationship Id="rId21" Type="http://schemas.openxmlformats.org/officeDocument/2006/relationships/image" Target="../media/image31.jpeg"/><Relationship Id="rId34" Type="http://schemas.openxmlformats.org/officeDocument/2006/relationships/image" Target="../media/image44.jpeg"/><Relationship Id="rId42" Type="http://schemas.openxmlformats.org/officeDocument/2006/relationships/image" Target="../media/image52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6.jpeg"/><Relationship Id="rId29" Type="http://schemas.openxmlformats.org/officeDocument/2006/relationships/image" Target="../media/image3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24" Type="http://schemas.openxmlformats.org/officeDocument/2006/relationships/image" Target="../media/image34.jpeg"/><Relationship Id="rId32" Type="http://schemas.openxmlformats.org/officeDocument/2006/relationships/image" Target="../media/image42.jpeg"/><Relationship Id="rId37" Type="http://schemas.openxmlformats.org/officeDocument/2006/relationships/image" Target="../media/image47.jpeg"/><Relationship Id="rId40" Type="http://schemas.openxmlformats.org/officeDocument/2006/relationships/image" Target="../media/image50.png"/><Relationship Id="rId45" Type="http://schemas.openxmlformats.org/officeDocument/2006/relationships/image" Target="../media/image55.jpeg"/><Relationship Id="rId5" Type="http://schemas.openxmlformats.org/officeDocument/2006/relationships/image" Target="../media/image15.jpeg"/><Relationship Id="rId15" Type="http://schemas.openxmlformats.org/officeDocument/2006/relationships/image" Target="../media/image25.jpeg"/><Relationship Id="rId23" Type="http://schemas.openxmlformats.org/officeDocument/2006/relationships/image" Target="../media/image33.jpeg"/><Relationship Id="rId28" Type="http://schemas.openxmlformats.org/officeDocument/2006/relationships/image" Target="../media/image38.jpeg"/><Relationship Id="rId36" Type="http://schemas.openxmlformats.org/officeDocument/2006/relationships/image" Target="../media/image46.jpeg"/><Relationship Id="rId10" Type="http://schemas.openxmlformats.org/officeDocument/2006/relationships/image" Target="../media/image20.jpeg"/><Relationship Id="rId19" Type="http://schemas.openxmlformats.org/officeDocument/2006/relationships/image" Target="../media/image29.jpeg"/><Relationship Id="rId31" Type="http://schemas.openxmlformats.org/officeDocument/2006/relationships/image" Target="../media/image41.jpeg"/><Relationship Id="rId44" Type="http://schemas.openxmlformats.org/officeDocument/2006/relationships/image" Target="../media/image54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jpeg"/><Relationship Id="rId22" Type="http://schemas.openxmlformats.org/officeDocument/2006/relationships/image" Target="../media/image32.jpeg"/><Relationship Id="rId27" Type="http://schemas.openxmlformats.org/officeDocument/2006/relationships/image" Target="../media/image37.jpeg"/><Relationship Id="rId30" Type="http://schemas.openxmlformats.org/officeDocument/2006/relationships/image" Target="../media/image40.jpeg"/><Relationship Id="rId35" Type="http://schemas.openxmlformats.org/officeDocument/2006/relationships/image" Target="../media/image45.jpeg"/><Relationship Id="rId43" Type="http://schemas.openxmlformats.org/officeDocument/2006/relationships/image" Target="../media/image53.jpeg"/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12" Type="http://schemas.openxmlformats.org/officeDocument/2006/relationships/image" Target="../media/image22.jpeg"/><Relationship Id="rId17" Type="http://schemas.openxmlformats.org/officeDocument/2006/relationships/image" Target="../media/image27.jpeg"/><Relationship Id="rId25" Type="http://schemas.openxmlformats.org/officeDocument/2006/relationships/image" Target="../media/image35.jpeg"/><Relationship Id="rId33" Type="http://schemas.openxmlformats.org/officeDocument/2006/relationships/image" Target="../media/image43.jpeg"/><Relationship Id="rId38" Type="http://schemas.openxmlformats.org/officeDocument/2006/relationships/image" Target="../media/image48.jpeg"/><Relationship Id="rId46" Type="http://schemas.openxmlformats.org/officeDocument/2006/relationships/image" Target="../media/image56.jpeg"/><Relationship Id="rId20" Type="http://schemas.openxmlformats.org/officeDocument/2006/relationships/image" Target="../media/image30.jpeg"/><Relationship Id="rId41" Type="http://schemas.openxmlformats.org/officeDocument/2006/relationships/image" Target="../media/image5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无线网络规划与优化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12E02A-AF05-C857-8481-FFB93F6B1740}"/>
              </a:ext>
            </a:extLst>
          </p:cNvPr>
          <p:cNvSpPr txBox="1"/>
          <p:nvPr/>
        </p:nvSpPr>
        <p:spPr>
          <a:xfrm>
            <a:off x="4480089" y="4368479"/>
            <a:ext cx="6181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教师：吴静</a:t>
            </a:r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932180" y="700405"/>
            <a:ext cx="9159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 b="1" dirty="0">
                <a:solidFill>
                  <a:srgbClr val="BF20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课程简介</a:t>
            </a:r>
            <a:endParaRPr lang="zh-CN" altLang="zh-CN" sz="5400" b="1" dirty="0">
              <a:solidFill>
                <a:srgbClr val="BF20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2"/>
            </p:custDataLst>
          </p:nvPr>
        </p:nvGrpSpPr>
        <p:grpSpPr>
          <a:xfrm>
            <a:off x="968547" y="1889594"/>
            <a:ext cx="9504720" cy="960120"/>
            <a:chOff x="1689815" y="2436673"/>
            <a:chExt cx="9504720" cy="960120"/>
          </a:xfrm>
        </p:grpSpPr>
        <p:sp>
          <p:nvSpPr>
            <p:cNvPr id="18" name="矩形 17"/>
            <p:cNvSpPr/>
            <p:nvPr>
              <p:custDataLst>
                <p:tags r:id="rId11"/>
              </p:custDataLst>
            </p:nvPr>
          </p:nvSpPr>
          <p:spPr>
            <a:xfrm>
              <a:off x="1794590" y="2662236"/>
              <a:ext cx="547687" cy="5667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+mj-lt"/>
                  <a:cs typeface="+mj-lt"/>
                  <a:sym typeface="Arial" panose="020B0604020202020204" pitchFamily="34" charset="0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+mj-lt"/>
                <a:cs typeface="+mj-lt"/>
                <a:sym typeface="Arial" panose="020B0604020202020204" pitchFamily="34" charset="0"/>
              </a:endParaRPr>
            </a:p>
          </p:txBody>
        </p:sp>
        <p:sp>
          <p:nvSpPr>
            <p:cNvPr id="19" name="任意多边形 18"/>
            <p:cNvSpPr/>
            <p:nvPr>
              <p:custDataLst>
                <p:tags r:id="rId12"/>
              </p:custDataLst>
            </p:nvPr>
          </p:nvSpPr>
          <p:spPr>
            <a:xfrm>
              <a:off x="1689815" y="2553817"/>
              <a:ext cx="757237" cy="783577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ym typeface="Arial" panose="020B0604020202020204" pitchFamily="34" charset="0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3"/>
              </p:custDataLst>
            </p:nvPr>
          </p:nvSpPr>
          <p:spPr>
            <a:xfrm>
              <a:off x="2590244" y="2436673"/>
              <a:ext cx="8604291" cy="9601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课程介绍</a:t>
              </a:r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  <a:p>
              <a:pPr>
                <a:lnSpc>
                  <a:spcPts val="2800"/>
                </a:lnSpc>
              </a:pPr>
              <a:r>
                <a:rPr lang="zh-CN" altLang="en-US" dirty="0"/>
                <a:t>以项目化教学方式为基础</a:t>
              </a:r>
              <a:r>
                <a:rPr lang="zh-CN" altLang="zh-CN" dirty="0"/>
                <a:t>，以</a:t>
              </a:r>
              <a:r>
                <a:rPr lang="en-US" altLang="zh-CN" dirty="0"/>
                <a:t>LTE</a:t>
              </a:r>
              <a:r>
                <a:rPr lang="zh-CN" altLang="zh-CN" dirty="0"/>
                <a:t>无线网络测试</a:t>
              </a:r>
              <a:r>
                <a:rPr lang="en-US" altLang="zh-CN" dirty="0"/>
                <a:t>/</a:t>
              </a:r>
              <a:r>
                <a:rPr lang="zh-CN" altLang="zh-CN" dirty="0"/>
                <a:t>优化岗位技能要求为目标，以工作过程为主线组织内容，全面介绍了</a:t>
              </a:r>
              <a:r>
                <a:rPr lang="en-US" altLang="zh-CN" dirty="0"/>
                <a:t>LTE</a:t>
              </a:r>
              <a:r>
                <a:rPr lang="zh-CN" altLang="zh-CN" dirty="0"/>
                <a:t>无线网络规划与优化的基本原理及应用。</a:t>
              </a:r>
              <a:endPara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3"/>
            </p:custDataLst>
          </p:nvPr>
        </p:nvGrpSpPr>
        <p:grpSpPr>
          <a:xfrm>
            <a:off x="968547" y="3242817"/>
            <a:ext cx="10080454" cy="1093346"/>
            <a:chOff x="1689815" y="3541932"/>
            <a:chExt cx="10080454" cy="1093346"/>
          </a:xfrm>
        </p:grpSpPr>
        <p:sp>
          <p:nvSpPr>
            <p:cNvPr id="22" name="矩形 21"/>
            <p:cNvSpPr/>
            <p:nvPr>
              <p:custDataLst>
                <p:tags r:id="rId8"/>
              </p:custDataLst>
            </p:nvPr>
          </p:nvSpPr>
          <p:spPr>
            <a:xfrm>
              <a:off x="1794590" y="3805236"/>
              <a:ext cx="547687" cy="566738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+mj-lt"/>
                  <a:cs typeface="+mj-lt"/>
                  <a:sym typeface="Arial" panose="020B0604020202020204" pitchFamily="34" charset="0"/>
                </a:rPr>
                <a:t>02</a:t>
              </a:r>
              <a:endParaRPr lang="zh-CN" altLang="en-US" dirty="0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3" name="任意多边形 22"/>
            <p:cNvSpPr/>
            <p:nvPr>
              <p:custDataLst>
                <p:tags r:id="rId9"/>
              </p:custDataLst>
            </p:nvPr>
          </p:nvSpPr>
          <p:spPr>
            <a:xfrm>
              <a:off x="1689815" y="3696817"/>
              <a:ext cx="757237" cy="783577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ym typeface="Arial" panose="020B0604020202020204" pitchFamily="34" charset="0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2590245" y="3541932"/>
              <a:ext cx="9180024" cy="109334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课程核心知识：</a:t>
              </a:r>
              <a:endParaRPr lang="en-US" altLang="zh-CN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ts val="2800"/>
                </a:lnSpc>
              </a:pPr>
              <a:r>
                <a:rPr lang="en-US" altLang="zh-CN" dirty="0"/>
                <a:t>LTE</a:t>
              </a:r>
              <a:r>
                <a:rPr lang="zh-CN" altLang="zh-CN" dirty="0"/>
                <a:t>网络基本结构、</a:t>
              </a:r>
              <a:r>
                <a:rPr lang="en-US" altLang="zh-CN" dirty="0"/>
                <a:t>LTE</a:t>
              </a:r>
              <a:r>
                <a:rPr lang="zh-CN" altLang="zh-CN" dirty="0"/>
                <a:t>无线网络规划</a:t>
              </a:r>
              <a:r>
                <a:rPr lang="zh-CN" altLang="en-US" dirty="0"/>
                <a:t>和</a:t>
              </a:r>
              <a:r>
                <a:rPr lang="zh-CN" altLang="zh-CN" dirty="0"/>
                <a:t>网络优化基本原理以及关键技术等专业知识</a:t>
              </a:r>
              <a:r>
                <a:rPr lang="zh-CN" altLang="en-US" dirty="0"/>
                <a:t>，</a:t>
              </a:r>
              <a:r>
                <a:rPr lang="zh-CN" altLang="zh-CN" dirty="0"/>
                <a:t>单站优化、簇优化和全网优化的方法和策略，以及网络中常见覆盖、</a:t>
              </a:r>
              <a:r>
                <a:rPr lang="zh-CN" altLang="en-US" dirty="0"/>
                <a:t>接</a:t>
              </a:r>
              <a:r>
                <a:rPr lang="zh-CN" altLang="zh-CN" dirty="0"/>
                <a:t>入和切换问题的优化方法。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968547" y="4729266"/>
            <a:ext cx="8912052" cy="1330250"/>
            <a:chOff x="1689815" y="3696817"/>
            <a:chExt cx="8912052" cy="1330250"/>
          </a:xfrm>
        </p:grpSpPr>
        <p:sp>
          <p:nvSpPr>
            <p:cNvPr id="13" name="矩形 12"/>
            <p:cNvSpPr/>
            <p:nvPr>
              <p:custDataLst>
                <p:tags r:id="rId5"/>
              </p:custDataLst>
            </p:nvPr>
          </p:nvSpPr>
          <p:spPr>
            <a:xfrm>
              <a:off x="1794590" y="3805236"/>
              <a:ext cx="547687" cy="56673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+mj-lt"/>
                  <a:cs typeface="+mj-lt"/>
                  <a:sym typeface="Arial" panose="020B0604020202020204" pitchFamily="34" charset="0"/>
                </a:rPr>
                <a:t>03</a:t>
              </a:r>
              <a:endParaRPr lang="zh-CN" altLang="en-US" dirty="0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6"/>
              </p:custDataLst>
            </p:nvPr>
          </p:nvSpPr>
          <p:spPr>
            <a:xfrm>
              <a:off x="1689815" y="3696817"/>
              <a:ext cx="757237" cy="783577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2590244" y="3933721"/>
              <a:ext cx="8011623" cy="109334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培养技能目标：</a:t>
              </a:r>
              <a:endParaRPr lang="en-US" altLang="zh-CN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dirty="0">
                  <a:latin typeface="微软雅黑" panose="020B0503020204020204" charset="-122"/>
                </a:rPr>
                <a:t>掌握</a:t>
              </a:r>
              <a:r>
                <a:rPr lang="en-US" altLang="zh-CN" dirty="0">
                  <a:latin typeface="微软雅黑" panose="020B0503020204020204" charset="-122"/>
                </a:rPr>
                <a:t>LTE 4G</a:t>
              </a:r>
              <a:r>
                <a:rPr lang="zh-CN" altLang="en-US" dirty="0">
                  <a:latin typeface="微软雅黑" panose="020B0503020204020204" charset="-122"/>
                </a:rPr>
                <a:t>移动通信的基础知识，</a:t>
              </a:r>
              <a:r>
                <a:rPr lang="en-US" altLang="zh-CN" dirty="0">
                  <a:latin typeface="微软雅黑" panose="020B0503020204020204" charset="-122"/>
                </a:rPr>
                <a:t>LTE </a:t>
              </a:r>
              <a:r>
                <a:rPr lang="zh-CN" altLang="en-US" dirty="0">
                  <a:latin typeface="微软雅黑" panose="020B0503020204020204" charset="-122"/>
                </a:rPr>
                <a:t>网络规划的流程与方法，覆盖规划、容量规划、参数规划，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网络优化的流程与方法，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基本信令流程以及常见网络问题的定位、处理思路与分析方法等相关知识。具备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无线信号测试、数据分析、问题优化解决以及报告撰写的能力。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932180" y="700405"/>
            <a:ext cx="9159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 b="1" dirty="0">
                <a:solidFill>
                  <a:srgbClr val="BF20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课程简介</a:t>
            </a:r>
            <a:endParaRPr lang="zh-CN" altLang="zh-CN" sz="5400" b="1" dirty="0">
              <a:solidFill>
                <a:srgbClr val="BF20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80" y="1623735"/>
            <a:ext cx="8247619" cy="44857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20"/>
          <p:cNvSpPr/>
          <p:nvPr/>
        </p:nvSpPr>
        <p:spPr>
          <a:xfrm>
            <a:off x="2813044" y="2277357"/>
            <a:ext cx="6521767" cy="1631089"/>
          </a:xfrm>
          <a:prstGeom prst="roundRect">
            <a:avLst>
              <a:gd name="adj" fmla="val 6740"/>
            </a:avLst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40"/>
          </a:p>
        </p:txBody>
      </p:sp>
      <p:sp>
        <p:nvSpPr>
          <p:cNvPr id="5" name="圆角矩形 17"/>
          <p:cNvSpPr/>
          <p:nvPr/>
        </p:nvSpPr>
        <p:spPr>
          <a:xfrm>
            <a:off x="3410072" y="2026113"/>
            <a:ext cx="5219376" cy="513864"/>
          </a:xfrm>
          <a:prstGeom prst="roundRect">
            <a:avLst/>
          </a:prstGeom>
          <a:solidFill>
            <a:srgbClr val="C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40"/>
          </a:p>
        </p:txBody>
      </p:sp>
      <p:sp>
        <p:nvSpPr>
          <p:cNvPr id="6" name="文本框 5"/>
          <p:cNvSpPr txBox="1"/>
          <p:nvPr/>
        </p:nvSpPr>
        <p:spPr>
          <a:xfrm>
            <a:off x="3588150" y="2082706"/>
            <a:ext cx="4652692" cy="348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6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93541" y="2783065"/>
            <a:ext cx="6604542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kumimoji="1" lang="zh-CN" altLang="en-US" sz="428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项目一：</a:t>
            </a:r>
            <a:r>
              <a:rPr kumimoji="1" lang="en-US" altLang="zh-CN" sz="428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428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网络的认知</a:t>
            </a:r>
          </a:p>
        </p:txBody>
      </p:sp>
      <p:sp>
        <p:nvSpPr>
          <p:cNvPr id="8" name="椭圆 7"/>
          <p:cNvSpPr/>
          <p:nvPr/>
        </p:nvSpPr>
        <p:spPr>
          <a:xfrm>
            <a:off x="7477216" y="3858754"/>
            <a:ext cx="89794" cy="8979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140"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626442" y="3852717"/>
            <a:ext cx="89794" cy="8979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14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932180" y="700405"/>
            <a:ext cx="9159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 b="1" dirty="0">
                <a:solidFill>
                  <a:srgbClr val="BF20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任务分解</a:t>
            </a:r>
            <a:endParaRPr lang="zh-CN" altLang="zh-CN" sz="5400" b="1" dirty="0">
              <a:solidFill>
                <a:srgbClr val="BF20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19" y="2192514"/>
            <a:ext cx="10171428" cy="28285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967488" y="1765420"/>
            <a:ext cx="9243312" cy="960120"/>
            <a:chOff x="1689815" y="2436673"/>
            <a:chExt cx="9243312" cy="960120"/>
          </a:xfrm>
        </p:grpSpPr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1794590" y="2662236"/>
              <a:ext cx="547687" cy="5667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+mj-lt"/>
                  <a:cs typeface="+mj-lt"/>
                  <a:sym typeface="Arial" panose="020B0604020202020204" pitchFamily="34" charset="0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+mj-lt"/>
                <a:cs typeface="+mj-lt"/>
                <a:sym typeface="Arial" panose="020B0604020202020204" pitchFamily="34" charset="0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7"/>
              </p:custDataLst>
            </p:nvPr>
          </p:nvSpPr>
          <p:spPr>
            <a:xfrm>
              <a:off x="1689815" y="2553817"/>
              <a:ext cx="757237" cy="783577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ym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8"/>
              </p:custDataLst>
            </p:nvPr>
          </p:nvSpPr>
          <p:spPr>
            <a:xfrm>
              <a:off x="2590245" y="2436673"/>
              <a:ext cx="8342882" cy="9601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任务描述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  <a:p>
              <a:pPr>
                <a:lnSpc>
                  <a:spcPts val="2800"/>
                </a:lnSpc>
              </a:pPr>
              <a:r>
                <a:rPr lang="zh-CN" altLang="en-US" dirty="0">
                  <a:latin typeface="微软雅黑" panose="020B0503020204020204" charset="-122"/>
                </a:rPr>
                <a:t>本任务首先介绍了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的定义、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的发展与演进，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的频谱分配和主要设计目标。探究了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的系统架构，充分认识</a:t>
              </a:r>
              <a:r>
                <a:rPr lang="en-US" altLang="zh-CN" dirty="0">
                  <a:latin typeface="微软雅黑" panose="020B0503020204020204" charset="-122"/>
                </a:rPr>
                <a:t>LTE</a:t>
              </a:r>
              <a:r>
                <a:rPr lang="zh-CN" altLang="en-US" dirty="0">
                  <a:latin typeface="微软雅黑" panose="020B0503020204020204" charset="-122"/>
                </a:rPr>
                <a:t>系统架构的各个组成部分。</a:t>
              </a:r>
              <a:endPara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967488" y="3124200"/>
            <a:ext cx="9150178" cy="1843890"/>
            <a:chOff x="1689815" y="3323832"/>
            <a:chExt cx="9150178" cy="1843890"/>
          </a:xfrm>
        </p:grpSpPr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1794590" y="3805236"/>
              <a:ext cx="547687" cy="566738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+mj-lt"/>
                  <a:cs typeface="+mj-lt"/>
                  <a:sym typeface="Arial" panose="020B0604020202020204" pitchFamily="34" charset="0"/>
                </a:rPr>
                <a:t>02</a:t>
              </a:r>
              <a:endParaRPr lang="zh-CN" altLang="en-US" dirty="0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689815" y="3696817"/>
              <a:ext cx="757237" cy="783577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2590245" y="3323832"/>
              <a:ext cx="8249748" cy="18438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学习目标：</a:t>
              </a:r>
              <a:endParaRPr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>
                <a:lnSpc>
                  <a:spcPts val="2800"/>
                </a:lnSpc>
                <a:buFont typeface="Wingdings" panose="05000000000000000000" pitchFamily="2" charset="2"/>
                <a:buChar char="u"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了解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LTE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的定义、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LTE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的演进历程和发展前景。</a:t>
              </a:r>
            </a:p>
            <a:p>
              <a:pPr marL="285750" indent="-285750">
                <a:lnSpc>
                  <a:spcPts val="2800"/>
                </a:lnSpc>
                <a:buFont typeface="Wingdings" panose="05000000000000000000" pitchFamily="2" charset="2"/>
                <a:buChar char="u"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熟悉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LTE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频谱、频点的概念与频段范围，以及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LTE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各主要性能指标的特点与内涵。</a:t>
              </a:r>
            </a:p>
            <a:p>
              <a:pPr marL="285750" indent="-285750">
                <a:lnSpc>
                  <a:spcPts val="2800"/>
                </a:lnSpc>
                <a:buFont typeface="Wingdings" panose="05000000000000000000" pitchFamily="2" charset="2"/>
                <a:buChar char="u"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掌握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LTE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cs typeface="+mj-cs"/>
                  <a:sym typeface="+mn-ea"/>
                </a:rPr>
                <a:t>的系统架构以及各网元的功能。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33161" y="99377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什么是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95" y="3030134"/>
            <a:ext cx="3209507" cy="2468692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5170435" y="1979339"/>
            <a:ext cx="4984159" cy="4078310"/>
            <a:chOff x="6191" y="3153"/>
            <a:chExt cx="7592" cy="5476"/>
          </a:xfrm>
        </p:grpSpPr>
        <p:sp>
          <p:nvSpPr>
            <p:cNvPr id="7" name="矩形 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6191" y="3153"/>
              <a:ext cx="3665" cy="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Clr>
                  <a:srgbClr val="2F5597"/>
                </a:buClr>
                <a:buFont typeface="Wingdings" panose="05000000000000000000" charset="0"/>
                <a:buChar char="u"/>
                <a:defRPr/>
              </a:pPr>
              <a:r>
                <a:rPr lang="zh-CN" altLang="en-US" sz="2000" b="1" dirty="0">
                  <a:solidFill>
                    <a:srgbClr val="005BAA"/>
                  </a:solidFill>
                  <a:latin typeface="微软雅黑" panose="020B0503020204020204" charset="-122"/>
                  <a:ea typeface="微软雅黑" panose="020B0503020204020204" charset="-122"/>
                  <a:cs typeface="+mj-cs"/>
                </a:rPr>
                <a:t>什么是</a:t>
              </a:r>
              <a:r>
                <a:rPr lang="en-US" altLang="zh-CN" sz="2000" b="1" dirty="0">
                  <a:solidFill>
                    <a:srgbClr val="005BAA"/>
                  </a:solidFill>
                  <a:latin typeface="微软雅黑" panose="020B0503020204020204" charset="-122"/>
                  <a:ea typeface="微软雅黑" panose="020B0503020204020204" charset="-122"/>
                  <a:cs typeface="+mj-cs"/>
                </a:rPr>
                <a:t>LTE</a:t>
              </a:r>
              <a:endPara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>
              <a:off x="6191" y="3587"/>
              <a:ext cx="7592" cy="504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LTE</a:t>
              </a:r>
              <a:r>
                <a:rPr lang="zh-CN" altLang="zh-CN" sz="1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Long Term Evolution </a:t>
              </a:r>
              <a:r>
                <a:rPr lang="zh-CN" altLang="zh-CN" sz="1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长期演进）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是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3GPP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主导制定的无线通信技术，是基于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GSM / EDGE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UMTS / HSPA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技术的移动设备和数据终端的高速无线通信标准。</a:t>
              </a:r>
              <a:endParaRPr lang="en-US" altLang="zh-CN" sz="18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8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LTE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通常称作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4G LTE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，但是正如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LTE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Advanced Release 8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协议所规定的那样，它不符合</a:t>
              </a:r>
              <a:r>
                <a:rPr lang="en-US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4G</a:t>
              </a:r>
              <a:r>
                <a:rPr lang="zh-CN" altLang="zh-CN" sz="1800" dirty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无线业务的技术标准。</a:t>
              </a:r>
              <a:endParaRPr lang="en-US" altLang="zh-CN" sz="18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4641" y="961341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什么是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790828" y="2310192"/>
            <a:ext cx="46145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2F5597"/>
              </a:buClr>
              <a:defRPr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LTE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分为两种制式：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TDD-LTE</a:t>
            </a:r>
            <a:r>
              <a:rPr lang="zh-CN" altLang="zh-CN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FDD-LTE</a:t>
            </a:r>
            <a:r>
              <a:rPr lang="zh-CN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MH_Other_1"/>
          <p:cNvSpPr/>
          <p:nvPr>
            <p:custDataLst>
              <p:tags r:id="rId1"/>
            </p:custDataLst>
          </p:nvPr>
        </p:nvSpPr>
        <p:spPr>
          <a:xfrm>
            <a:off x="1638512" y="3559230"/>
            <a:ext cx="357892" cy="3556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3" name="MH_Other_2"/>
          <p:cNvSpPr/>
          <p:nvPr>
            <p:custDataLst>
              <p:tags r:id="rId2"/>
            </p:custDataLst>
          </p:nvPr>
        </p:nvSpPr>
        <p:spPr>
          <a:xfrm>
            <a:off x="1638512" y="3964044"/>
            <a:ext cx="357892" cy="35718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4" name="MH_Other_3"/>
          <p:cNvSpPr/>
          <p:nvPr>
            <p:custDataLst>
              <p:tags r:id="rId3"/>
            </p:custDataLst>
          </p:nvPr>
        </p:nvSpPr>
        <p:spPr>
          <a:xfrm>
            <a:off x="1844886" y="3762430"/>
            <a:ext cx="356301" cy="3556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5" name="MH_Other_4"/>
          <p:cNvSpPr/>
          <p:nvPr>
            <p:custDataLst>
              <p:tags r:id="rId4"/>
            </p:custDataLst>
          </p:nvPr>
        </p:nvSpPr>
        <p:spPr>
          <a:xfrm>
            <a:off x="1254337" y="3430644"/>
            <a:ext cx="536042" cy="1019175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6" name="MH_Other_5"/>
          <p:cNvSpPr/>
          <p:nvPr>
            <p:custDataLst>
              <p:tags r:id="rId5"/>
            </p:custDataLst>
          </p:nvPr>
        </p:nvSpPr>
        <p:spPr bwMode="auto">
          <a:xfrm>
            <a:off x="1225762" y="3430644"/>
            <a:ext cx="510592" cy="1019175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FFFF"/>
                </a:solidFill>
              </a:rPr>
              <a:t>A</a:t>
            </a:r>
            <a:endParaRPr lang="zh-CN" altLang="en-US" sz="2400" b="1">
              <a:solidFill>
                <a:srgbClr val="FFFFFF"/>
              </a:solidFill>
            </a:endParaRPr>
          </a:p>
        </p:txBody>
      </p:sp>
      <p:sp>
        <p:nvSpPr>
          <p:cNvPr id="17" name="MH_Text_1"/>
          <p:cNvSpPr/>
          <p:nvPr>
            <p:custDataLst>
              <p:tags r:id="rId6"/>
            </p:custDataLst>
          </p:nvPr>
        </p:nvSpPr>
        <p:spPr>
          <a:xfrm>
            <a:off x="2200487" y="3914830"/>
            <a:ext cx="3446780" cy="132238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</a:rPr>
              <a:t>TDD</a:t>
            </a:r>
            <a:r>
              <a:rPr lang="zh-CN" altLang="zh-CN" kern="100" dirty="0">
                <a:latin typeface="+mj-ea"/>
              </a:rPr>
              <a:t>代表时分双工，也就是说上下行在同一频段上按照时间分配交叉进行</a:t>
            </a:r>
            <a:r>
              <a:rPr lang="en-US" altLang="zh-CN" kern="100" dirty="0">
                <a:latin typeface="+mj-ea"/>
              </a:rPr>
              <a:t>;</a:t>
            </a:r>
          </a:p>
        </p:txBody>
      </p:sp>
      <p:sp>
        <p:nvSpPr>
          <p:cNvPr id="18" name="MH_SubTitle_1"/>
          <p:cNvSpPr/>
          <p:nvPr>
            <p:custDataLst>
              <p:tags r:id="rId7"/>
            </p:custDataLst>
          </p:nvPr>
        </p:nvSpPr>
        <p:spPr>
          <a:xfrm>
            <a:off x="2255694" y="3457336"/>
            <a:ext cx="2578100" cy="45749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 altLang="zh-CN" sz="2400" b="1" kern="0" dirty="0">
                <a:solidFill>
                  <a:schemeClr val="accent1"/>
                </a:solidFill>
                <a:cs typeface="宋体" panose="02010600030101010101" pitchFamily="2" charset="-122"/>
              </a:rPr>
              <a:t>TDD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25" name="MH_Other_1"/>
          <p:cNvSpPr/>
          <p:nvPr>
            <p:custDataLst>
              <p:tags r:id="rId8"/>
            </p:custDataLst>
          </p:nvPr>
        </p:nvSpPr>
        <p:spPr>
          <a:xfrm>
            <a:off x="6642683" y="3687816"/>
            <a:ext cx="357892" cy="3556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6" name="MH_Other_2"/>
          <p:cNvSpPr/>
          <p:nvPr>
            <p:custDataLst>
              <p:tags r:id="rId9"/>
            </p:custDataLst>
          </p:nvPr>
        </p:nvSpPr>
        <p:spPr>
          <a:xfrm>
            <a:off x="6642683" y="4092630"/>
            <a:ext cx="357892" cy="35718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7" name="MH_Other_3"/>
          <p:cNvSpPr/>
          <p:nvPr>
            <p:custDataLst>
              <p:tags r:id="rId10"/>
            </p:custDataLst>
          </p:nvPr>
        </p:nvSpPr>
        <p:spPr>
          <a:xfrm>
            <a:off x="6849057" y="3891016"/>
            <a:ext cx="356301" cy="3556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8" name="MH_Other_4"/>
          <p:cNvSpPr/>
          <p:nvPr>
            <p:custDataLst>
              <p:tags r:id="rId11"/>
            </p:custDataLst>
          </p:nvPr>
        </p:nvSpPr>
        <p:spPr>
          <a:xfrm>
            <a:off x="6258508" y="3559230"/>
            <a:ext cx="536042" cy="1019175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9" name="MH_Other_5"/>
          <p:cNvSpPr/>
          <p:nvPr>
            <p:custDataLst>
              <p:tags r:id="rId12"/>
            </p:custDataLst>
          </p:nvPr>
        </p:nvSpPr>
        <p:spPr bwMode="auto">
          <a:xfrm>
            <a:off x="6229933" y="3559230"/>
            <a:ext cx="510592" cy="1019175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FFFF"/>
                </a:solidFill>
              </a:rPr>
              <a:t>B</a:t>
            </a:r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30" name="MH_Text_1"/>
          <p:cNvSpPr/>
          <p:nvPr>
            <p:custDataLst>
              <p:tags r:id="rId13"/>
            </p:custDataLst>
          </p:nvPr>
        </p:nvSpPr>
        <p:spPr>
          <a:xfrm>
            <a:off x="7204710" y="4043680"/>
            <a:ext cx="3446780" cy="95885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</a:rPr>
              <a:t>FDD</a:t>
            </a:r>
            <a:r>
              <a:rPr lang="zh-CN" altLang="en-US" kern="100" dirty="0">
                <a:latin typeface="+mj-ea"/>
              </a:rPr>
              <a:t>代表频分双工，则是上下行分处不同频段同时进行。</a:t>
            </a:r>
          </a:p>
        </p:txBody>
      </p:sp>
      <p:sp>
        <p:nvSpPr>
          <p:cNvPr id="31" name="MH_SubTitle_1"/>
          <p:cNvSpPr/>
          <p:nvPr>
            <p:custDataLst>
              <p:tags r:id="rId14"/>
            </p:custDataLst>
          </p:nvPr>
        </p:nvSpPr>
        <p:spPr>
          <a:xfrm>
            <a:off x="7259865" y="3585922"/>
            <a:ext cx="2578100" cy="45749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 altLang="zh-CN" sz="2400" b="1" kern="0" dirty="0">
                <a:solidFill>
                  <a:schemeClr val="accent1"/>
                </a:solidFill>
                <a:cs typeface="宋体" panose="02010600030101010101" pitchFamily="2" charset="-122"/>
              </a:rPr>
              <a:t>FDD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0533" y="867222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什么是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MH_Other_1"/>
          <p:cNvSpPr/>
          <p:nvPr>
            <p:custDataLst>
              <p:tags r:id="rId1"/>
            </p:custDataLst>
          </p:nvPr>
        </p:nvSpPr>
        <p:spPr>
          <a:xfrm>
            <a:off x="1091670" y="2644746"/>
            <a:ext cx="704850" cy="73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" name="MH_Other_2"/>
          <p:cNvSpPr/>
          <p:nvPr>
            <p:custDataLst>
              <p:tags r:id="rId2"/>
            </p:custDataLst>
          </p:nvPr>
        </p:nvSpPr>
        <p:spPr>
          <a:xfrm>
            <a:off x="956733" y="2505046"/>
            <a:ext cx="974725" cy="1009650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MH_SubTitle_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15609" y="2426673"/>
            <a:ext cx="2016124" cy="34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da-DK" altLang="zh-CN" sz="2000" b="1" dirty="0">
                <a:solidFill>
                  <a:srgbClr val="FF0000"/>
                </a:solidFill>
              </a:rPr>
              <a:t>TDD</a:t>
            </a:r>
            <a:r>
              <a:rPr lang="zh-CN" altLang="en-US" sz="2000" b="1" dirty="0">
                <a:solidFill>
                  <a:srgbClr val="FF0000"/>
                </a:solidFill>
              </a:rPr>
              <a:t>相对</a:t>
            </a:r>
            <a:r>
              <a:rPr lang="da-DK" altLang="zh-CN" sz="2000" b="1" dirty="0">
                <a:solidFill>
                  <a:srgbClr val="FF0000"/>
                </a:solidFill>
              </a:rPr>
              <a:t>FDD</a:t>
            </a:r>
            <a:r>
              <a:rPr lang="zh-CN" altLang="en-US" sz="2000" b="1" dirty="0">
                <a:solidFill>
                  <a:srgbClr val="FF0000"/>
                </a:solidFill>
              </a:rPr>
              <a:t>优势</a:t>
            </a:r>
          </a:p>
        </p:txBody>
      </p:sp>
      <p:sp>
        <p:nvSpPr>
          <p:cNvPr id="22" name="MH_Text_1"/>
          <p:cNvSpPr txBox="1"/>
          <p:nvPr>
            <p:custDataLst>
              <p:tags r:id="rId4"/>
            </p:custDataLst>
          </p:nvPr>
        </p:nvSpPr>
        <p:spPr>
          <a:xfrm>
            <a:off x="2066395" y="3016749"/>
            <a:ext cx="3709458" cy="326225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①可灵活配置频率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②可很好的支持非对称业务；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③可降低设备成本；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④可降低设备的复杂度；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⑤可更好采用传输预处理技术，如预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RAKE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技术、联合传输（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）技术、智能天线技术等，能有效地降低移动终端的处理复杂性。</a:t>
            </a:r>
          </a:p>
        </p:txBody>
      </p:sp>
      <p:sp>
        <p:nvSpPr>
          <p:cNvPr id="23" name="MH_Other_5"/>
          <p:cNvSpPr/>
          <p:nvPr>
            <p:custDataLst>
              <p:tags r:id="rId5"/>
            </p:custDataLst>
          </p:nvPr>
        </p:nvSpPr>
        <p:spPr bwMode="auto">
          <a:xfrm>
            <a:off x="1290900" y="2811433"/>
            <a:ext cx="398463" cy="396875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MH_Other_3"/>
          <p:cNvSpPr/>
          <p:nvPr>
            <p:custDataLst>
              <p:tags r:id="rId6"/>
            </p:custDataLst>
          </p:nvPr>
        </p:nvSpPr>
        <p:spPr>
          <a:xfrm>
            <a:off x="6144154" y="2598708"/>
            <a:ext cx="704850" cy="730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MH_Other_4"/>
          <p:cNvSpPr/>
          <p:nvPr>
            <p:custDataLst>
              <p:tags r:id="rId7"/>
            </p:custDataLst>
          </p:nvPr>
        </p:nvSpPr>
        <p:spPr>
          <a:xfrm>
            <a:off x="6009217" y="2459008"/>
            <a:ext cx="974725" cy="1009650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MH_SubTitle_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168093" y="2355821"/>
            <a:ext cx="225319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da-DK" altLang="zh-CN" sz="2000" b="1" dirty="0">
                <a:solidFill>
                  <a:srgbClr val="FF0000"/>
                </a:solidFill>
              </a:rPr>
              <a:t>TDD</a:t>
            </a:r>
            <a:r>
              <a:rPr lang="zh-CN" altLang="en-US" sz="2000" b="1" dirty="0">
                <a:solidFill>
                  <a:srgbClr val="FF0000"/>
                </a:solidFill>
              </a:rPr>
              <a:t>相对</a:t>
            </a:r>
            <a:r>
              <a:rPr lang="da-DK" altLang="zh-CN" sz="2000" b="1" dirty="0">
                <a:solidFill>
                  <a:srgbClr val="FF0000"/>
                </a:solidFill>
              </a:rPr>
              <a:t>FDD</a:t>
            </a:r>
            <a:r>
              <a:rPr lang="zh-CN" altLang="en-US" sz="2000" b="1" dirty="0">
                <a:solidFill>
                  <a:srgbClr val="FF0000"/>
                </a:solidFill>
              </a:rPr>
              <a:t>不足</a:t>
            </a:r>
          </a:p>
        </p:txBody>
      </p:sp>
      <p:sp>
        <p:nvSpPr>
          <p:cNvPr id="34" name="MH_Text_2"/>
          <p:cNvSpPr txBox="1"/>
          <p:nvPr>
            <p:custDataLst>
              <p:tags r:id="rId9"/>
            </p:custDataLst>
          </p:nvPr>
        </p:nvSpPr>
        <p:spPr>
          <a:xfrm>
            <a:off x="7168093" y="3016749"/>
            <a:ext cx="4151841" cy="3348510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①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方式的发射时间大约只有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的一半，如果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要发送和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同样多的数据，就要增大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的发送功率；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②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基站的覆盖范围明显小于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基站；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③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系统收发信道同频，无法进行干扰隔离，系统内和系统间存在干扰；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④为避免与其他无线系统之间的干扰，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需预留较大的保护带，影响整体频谱利用效率。</a:t>
            </a:r>
          </a:p>
        </p:txBody>
      </p:sp>
      <p:sp>
        <p:nvSpPr>
          <p:cNvPr id="35" name="MH_Other_6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09255" y="2766983"/>
            <a:ext cx="396875" cy="393700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49934" y="89188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什么是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48155" y="3026171"/>
            <a:ext cx="3934285" cy="1540165"/>
            <a:chOff x="5902" y="2945"/>
            <a:chExt cx="7881" cy="2068"/>
          </a:xfrm>
        </p:grpSpPr>
        <p:sp>
          <p:nvSpPr>
            <p:cNvPr id="15" name="矩形 1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5902" y="2945"/>
              <a:ext cx="6150" cy="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Clr>
                  <a:srgbClr val="2F5597"/>
                </a:buClr>
                <a:buFont typeface="Wingdings" panose="05000000000000000000" charset="0"/>
                <a:buChar char="u"/>
                <a:defRPr/>
              </a:pPr>
              <a:r>
                <a:rPr lang="zh-CN" altLang="en-US" sz="2000" b="1" dirty="0">
                  <a:solidFill>
                    <a:srgbClr val="005BAA"/>
                  </a:solidFill>
                  <a:latin typeface="微软雅黑" panose="020B0503020204020204" charset="-122"/>
                  <a:cs typeface="+mj-cs"/>
                </a:rPr>
                <a:t>为什么要发展</a:t>
              </a:r>
              <a:r>
                <a:rPr lang="en-US" altLang="zh-CN" sz="2000" b="1" dirty="0">
                  <a:solidFill>
                    <a:srgbClr val="005BAA"/>
                  </a:solidFill>
                  <a:latin typeface="微软雅黑" panose="020B0503020204020204" charset="-122"/>
                  <a:cs typeface="+mj-cs"/>
                </a:rPr>
                <a:t>LTE</a:t>
              </a:r>
            </a:p>
          </p:txBody>
        </p:sp>
        <p:sp>
          <p:nvSpPr>
            <p:cNvPr id="16" name="文本框 15"/>
            <p:cNvSpPr txBox="1"/>
            <p:nvPr>
              <p:custDataLst>
                <p:tags r:id="rId1"/>
              </p:custDataLst>
            </p:nvPr>
          </p:nvSpPr>
          <p:spPr>
            <a:xfrm>
              <a:off x="6191" y="3587"/>
              <a:ext cx="7592" cy="142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latin typeface="微软雅黑" panose="020B0503020204020204" charset="-122"/>
                </a:rPr>
                <a:t>保证</a:t>
              </a:r>
              <a:r>
                <a:rPr lang="en-US" altLang="zh-CN" b="1" dirty="0">
                  <a:latin typeface="微软雅黑" panose="020B0503020204020204" charset="-122"/>
                </a:rPr>
                <a:t>3GPP</a:t>
              </a:r>
              <a:r>
                <a:rPr lang="zh-CN" altLang="en-US" b="1" dirty="0">
                  <a:latin typeface="微软雅黑" panose="020B0503020204020204" charset="-122"/>
                </a:rPr>
                <a:t>在更长时间内的竞争力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latin typeface="微软雅黑" panose="020B0503020204020204" charset="-122"/>
                </a:rPr>
                <a:t>应对来自于</a:t>
              </a:r>
              <a:r>
                <a:rPr lang="en-US" altLang="zh-CN" b="1" dirty="0">
                  <a:latin typeface="微软雅黑" panose="020B0503020204020204" charset="-122"/>
                </a:rPr>
                <a:t>WiMAX</a:t>
              </a:r>
              <a:r>
                <a:rPr lang="zh-CN" altLang="en-US" b="1" dirty="0">
                  <a:latin typeface="微软雅黑" panose="020B0503020204020204" charset="-122"/>
                </a:rPr>
                <a:t>的市场压力</a:t>
              </a:r>
            </a:p>
          </p:txBody>
        </p:sp>
      </p:grpSp>
      <p:pic>
        <p:nvPicPr>
          <p:cNvPr id="17" name="图片 1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840" y="2695202"/>
            <a:ext cx="6883120" cy="2746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7131" y="99377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发展与演进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183" y="2191865"/>
            <a:ext cx="8109019" cy="39652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5076199" y="640400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F5597"/>
              </a:buClr>
              <a:defRPr/>
            </a:pPr>
            <a:r>
              <a:rPr lang="zh-CN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移动通信网络演进过程</a:t>
            </a:r>
            <a:endParaRPr lang="zh-CN" altLang="en-US" sz="2000" b="1" dirty="0">
              <a:solidFill>
                <a:srgbClr val="005BAA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790828" y="2296319"/>
            <a:ext cx="5309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Clr>
                <a:srgbClr val="2F5597"/>
              </a:buClr>
              <a:buFont typeface="Wingdings" panose="05000000000000000000" charset="0"/>
              <a:buChar char="u"/>
              <a:defRPr/>
            </a:pPr>
            <a:endParaRPr lang="zh-CN" altLang="en-US" sz="2000" b="1" dirty="0">
              <a:solidFill>
                <a:srgbClr val="005BAA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7028" y="99377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发展与演进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"/>
          <a:stretch>
            <a:fillRect/>
          </a:stretch>
        </p:blipFill>
        <p:spPr bwMode="auto">
          <a:xfrm>
            <a:off x="2072240" y="1988304"/>
            <a:ext cx="8500905" cy="386621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矩形 4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5502725" y="5972786"/>
            <a:ext cx="16399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lr>
                <a:srgbClr val="2F5597"/>
              </a:buClr>
              <a:defRPr/>
            </a:pP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LTE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标准进展</a:t>
            </a:r>
            <a:endParaRPr lang="zh-CN" altLang="en-US" sz="2000" b="1" dirty="0">
              <a:solidFill>
                <a:srgbClr val="005BAA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5421" y="958808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发展与演进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252788" y="3839160"/>
            <a:ext cx="6769100" cy="2339975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252788" y="2297698"/>
            <a:ext cx="7110412" cy="4429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8" name="Picture 6" descr="3GPP Logo white ba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175" y="2759660"/>
            <a:ext cx="108108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27"/>
          <a:stretch>
            <a:fillRect/>
          </a:stretch>
        </p:blipFill>
        <p:spPr bwMode="auto">
          <a:xfrm>
            <a:off x="3363913" y="2764423"/>
            <a:ext cx="1258887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2557463" y="3424823"/>
            <a:ext cx="8448675" cy="241300"/>
          </a:xfrm>
          <a:prstGeom prst="rightArrow">
            <a:avLst>
              <a:gd name="adj1" fmla="val 63713"/>
              <a:gd name="adj2" fmla="val 270055"/>
            </a:avLst>
          </a:prstGeom>
          <a:gradFill rotWithShape="1">
            <a:gsLst>
              <a:gs pos="0">
                <a:srgbClr val="FF990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902075" y="3640723"/>
            <a:ext cx="360363" cy="179387"/>
          </a:xfrm>
          <a:prstGeom prst="upDownArrow">
            <a:avLst>
              <a:gd name="adj1" fmla="val 50000"/>
              <a:gd name="adj2" fmla="val 20000"/>
            </a:avLst>
          </a:prstGeom>
          <a:gradFill rotWithShape="1">
            <a:gsLst>
              <a:gs pos="0">
                <a:schemeClr val="bg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048000" y="2350085"/>
            <a:ext cx="1728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600" b="1"/>
              <a:t>功能需求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5867400" y="2323098"/>
            <a:ext cx="15859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600" b="1"/>
              <a:t>标准建立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8382000" y="2284998"/>
            <a:ext cx="1585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/>
              <a:t>LTE/SAE </a:t>
            </a:r>
            <a:r>
              <a:rPr lang="zh-CN" altLang="en-US" sz="1600" b="1"/>
              <a:t>实验局开通 </a:t>
            </a:r>
          </a:p>
        </p:txBody>
      </p:sp>
      <p:grpSp>
        <p:nvGrpSpPr>
          <p:cNvPr id="16" name="Group 13"/>
          <p:cNvGrpSpPr/>
          <p:nvPr/>
        </p:nvGrpSpPr>
        <p:grpSpPr bwMode="auto">
          <a:xfrm>
            <a:off x="5989638" y="3851860"/>
            <a:ext cx="1368425" cy="1954213"/>
            <a:chOff x="2381" y="2344"/>
            <a:chExt cx="862" cy="1478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2789" y="2523"/>
              <a:ext cx="0" cy="136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2381" y="3475"/>
              <a:ext cx="862" cy="0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2381" y="3203"/>
              <a:ext cx="862" cy="0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381" y="2931"/>
              <a:ext cx="862" cy="0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381" y="2659"/>
              <a:ext cx="0" cy="1043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381" y="3702"/>
              <a:ext cx="862" cy="0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2456" y="3113"/>
              <a:ext cx="726" cy="210"/>
            </a:xfrm>
            <a:prstGeom prst="rect">
              <a:avLst/>
            </a:prstGeom>
            <a:solidFill>
              <a:srgbClr val="FFFFCC"/>
            </a:solidFill>
            <a:ln w="13970">
              <a:solidFill>
                <a:srgbClr val="C9E9FF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200" b="1"/>
                <a:t>TSG RAN</a:t>
              </a: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2456" y="3385"/>
              <a:ext cx="726" cy="210"/>
            </a:xfrm>
            <a:prstGeom prst="rect">
              <a:avLst/>
            </a:prstGeom>
            <a:solidFill>
              <a:srgbClr val="FFFFCC"/>
            </a:solidFill>
            <a:ln w="13970">
              <a:solidFill>
                <a:srgbClr val="C9E9FF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200" b="1"/>
                <a:t>TSG SA</a:t>
              </a: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2456" y="3612"/>
              <a:ext cx="726" cy="210"/>
            </a:xfrm>
            <a:prstGeom prst="rect">
              <a:avLst/>
            </a:prstGeom>
            <a:solidFill>
              <a:srgbClr val="FFFFCC"/>
            </a:solidFill>
            <a:ln w="13970">
              <a:solidFill>
                <a:srgbClr val="C9E9FF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200" b="1"/>
                <a:t>TSG CT</a:t>
              </a:r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2472" y="2344"/>
              <a:ext cx="681" cy="210"/>
            </a:xfrm>
            <a:prstGeom prst="rect">
              <a:avLst/>
            </a:prstGeom>
            <a:solidFill>
              <a:schemeClr val="accent2"/>
            </a:solidFill>
            <a:ln w="13970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200" b="1"/>
                <a:t>PCG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2456" y="2840"/>
              <a:ext cx="726" cy="210"/>
            </a:xfrm>
            <a:prstGeom prst="rect">
              <a:avLst/>
            </a:prstGeom>
            <a:solidFill>
              <a:srgbClr val="FFFFCC"/>
            </a:solidFill>
            <a:ln w="13970">
              <a:solidFill>
                <a:srgbClr val="C9E9FF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200" b="1"/>
                <a:t>TSG GERAN</a:t>
              </a:r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3243" y="2659"/>
              <a:ext cx="0" cy="1043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2381" y="2659"/>
              <a:ext cx="862" cy="0"/>
            </a:xfrm>
            <a:prstGeom prst="line">
              <a:avLst/>
            </a:prstGeom>
            <a:noFill/>
            <a:ln w="1397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AutoShape 27"/>
          <p:cNvSpPr>
            <a:spLocks noChangeArrowheads="1"/>
          </p:cNvSpPr>
          <p:nvPr/>
        </p:nvSpPr>
        <p:spPr bwMode="auto">
          <a:xfrm>
            <a:off x="6473825" y="3655010"/>
            <a:ext cx="360363" cy="179388"/>
          </a:xfrm>
          <a:prstGeom prst="upDownArrow">
            <a:avLst>
              <a:gd name="adj1" fmla="val 50000"/>
              <a:gd name="adj2" fmla="val 20000"/>
            </a:avLst>
          </a:prstGeom>
          <a:gradFill rotWithShape="1">
            <a:gsLst>
              <a:gs pos="0">
                <a:schemeClr val="bg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1" name="Group 28"/>
          <p:cNvGrpSpPr/>
          <p:nvPr/>
        </p:nvGrpSpPr>
        <p:grpSpPr bwMode="auto">
          <a:xfrm>
            <a:off x="2671763" y="3839160"/>
            <a:ext cx="3035300" cy="2617788"/>
            <a:chOff x="291" y="1979"/>
            <a:chExt cx="1912" cy="1978"/>
          </a:xfrm>
        </p:grpSpPr>
        <p:sp>
          <p:nvSpPr>
            <p:cNvPr id="32" name="AutoShape 29"/>
            <p:cNvSpPr>
              <a:spLocks noChangeArrowheads="1"/>
            </p:cNvSpPr>
            <p:nvPr/>
          </p:nvSpPr>
          <p:spPr bwMode="auto">
            <a:xfrm>
              <a:off x="291" y="1979"/>
              <a:ext cx="1912" cy="1978"/>
            </a:xfrm>
            <a:prstGeom prst="roundRect">
              <a:avLst>
                <a:gd name="adj" fmla="val 3556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46" y="1992"/>
              <a:ext cx="731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200" b="1"/>
                <a:t>成员</a:t>
              </a:r>
              <a:endParaRPr lang="en-US" altLang="zh-CN" sz="1200" b="1"/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346" y="2956"/>
              <a:ext cx="731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200" b="1"/>
                <a:t>发起者</a:t>
              </a:r>
              <a:endParaRPr lang="en-US" altLang="zh-CN" sz="1200" b="1"/>
            </a:p>
          </p:txBody>
        </p:sp>
        <p:grpSp>
          <p:nvGrpSpPr>
            <p:cNvPr id="35" name="Group 32"/>
            <p:cNvGrpSpPr/>
            <p:nvPr/>
          </p:nvGrpSpPr>
          <p:grpSpPr bwMode="auto">
            <a:xfrm>
              <a:off x="535" y="3251"/>
              <a:ext cx="1387" cy="557"/>
              <a:chOff x="854" y="3207"/>
              <a:chExt cx="1118" cy="498"/>
            </a:xfrm>
          </p:grpSpPr>
          <p:sp>
            <p:nvSpPr>
              <p:cNvPr id="46" name="Picture 33"/>
              <p:cNvSpPr>
                <a:spLocks noChangeAspect="1" noChangeArrowheads="1"/>
              </p:cNvSpPr>
              <p:nvPr/>
            </p:nvSpPr>
            <p:spPr bwMode="auto">
              <a:xfrm>
                <a:off x="863" y="3208"/>
                <a:ext cx="154" cy="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pic>
            <p:nvPicPr>
              <p:cNvPr id="47" name="Picture 3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9" y="3207"/>
                <a:ext cx="180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" name="Picture 35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5" y="3530"/>
                <a:ext cx="120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36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62" y="3630"/>
                <a:ext cx="164" cy="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0" name="Picture 37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8" y="3225"/>
                <a:ext cx="145" cy="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" name="Picture 38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0" y="3212"/>
                <a:ext cx="94" cy="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" name="Picture 39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4" y="3316"/>
                <a:ext cx="145" cy="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Picture 40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8" y="3320"/>
                <a:ext cx="162" cy="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41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0" y="3333"/>
                <a:ext cx="139" cy="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42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6" y="3212"/>
                <a:ext cx="56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" name="Picture 43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" y="3642"/>
                <a:ext cx="64" cy="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" name="Picture 44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2" y="3640"/>
                <a:ext cx="153" cy="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8" name="Picture 45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0" y="3630"/>
                <a:ext cx="87" cy="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9" name="Picture 46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66" y="3325"/>
                <a:ext cx="106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" name="Picture 47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39" y="3341"/>
                <a:ext cx="92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" name="Picture 48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4" y="3446"/>
                <a:ext cx="14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49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4" y="3442"/>
                <a:ext cx="152" cy="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" name="Picture 50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8" y="3429"/>
                <a:ext cx="101" cy="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" name="Picture 51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9" y="3642"/>
                <a:ext cx="129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" name="Picture 52"/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4" y="3437"/>
                <a:ext cx="130" cy="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" name="Picture 53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5" y="3454"/>
                <a:ext cx="136" cy="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7" name="Picture 54"/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1" y="3525"/>
                <a:ext cx="161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55"/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0" y="3429"/>
                <a:ext cx="130" cy="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9" name="Picture 56"/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4" y="3542"/>
                <a:ext cx="161" cy="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0" name="Picture 57"/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8" y="3504"/>
                <a:ext cx="139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58"/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4" y="3542"/>
                <a:ext cx="231" cy="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" name="Picture 59"/>
              <p:cNvPicPr>
                <a:picLocks noChangeAspect="1" noChangeArrowheads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5" y="3224"/>
                <a:ext cx="227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60"/>
              <p:cNvPicPr>
                <a:picLocks noChangeAspect="1" noChangeArrowheads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6" y="3640"/>
                <a:ext cx="182" cy="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6" name="Group 61"/>
            <p:cNvGrpSpPr/>
            <p:nvPr/>
          </p:nvGrpSpPr>
          <p:grpSpPr bwMode="auto">
            <a:xfrm>
              <a:off x="674" y="2283"/>
              <a:ext cx="1268" cy="663"/>
              <a:chOff x="674" y="2283"/>
              <a:chExt cx="1268" cy="663"/>
            </a:xfrm>
          </p:grpSpPr>
          <p:pic>
            <p:nvPicPr>
              <p:cNvPr id="37" name="Picture 62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1" y="2729"/>
                <a:ext cx="501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63"/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4" y="2283"/>
                <a:ext cx="346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" name="Picture 64"/>
              <p:cNvPicPr>
                <a:picLocks noChangeAspect="1" noChangeArrowheads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6" y="2550"/>
                <a:ext cx="547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" name="Picture 65"/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9" y="2759"/>
                <a:ext cx="55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66"/>
              <p:cNvPicPr>
                <a:picLocks noChangeAspect="1" noChangeArrowheads="1"/>
              </p:cNvPicPr>
              <p:nvPr/>
            </p:nvPicPr>
            <p:blipFill>
              <a:blip r:embed="rId3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1" y="2283"/>
                <a:ext cx="24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67"/>
              <p:cNvPicPr>
                <a:picLocks noChangeAspect="1" noChangeArrowheads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" y="2509"/>
                <a:ext cx="558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68"/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" y="2334"/>
                <a:ext cx="675" cy="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74" name="Picture 69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025" y="2877135"/>
            <a:ext cx="12239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" name="Group 70"/>
          <p:cNvGrpSpPr/>
          <p:nvPr/>
        </p:nvGrpSpPr>
        <p:grpSpPr bwMode="auto">
          <a:xfrm>
            <a:off x="7804150" y="3608973"/>
            <a:ext cx="2933700" cy="2867025"/>
            <a:chOff x="3524" y="1804"/>
            <a:chExt cx="1848" cy="2168"/>
          </a:xfrm>
        </p:grpSpPr>
        <p:sp>
          <p:nvSpPr>
            <p:cNvPr id="76" name="AutoShape 71"/>
            <p:cNvSpPr>
              <a:spLocks noChangeArrowheads="1"/>
            </p:cNvSpPr>
            <p:nvPr/>
          </p:nvSpPr>
          <p:spPr bwMode="auto">
            <a:xfrm>
              <a:off x="3524" y="1973"/>
              <a:ext cx="1848" cy="1999"/>
            </a:xfrm>
            <a:prstGeom prst="roundRect">
              <a:avLst>
                <a:gd name="adj" fmla="val 3556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/>
            </a:p>
          </p:txBody>
        </p:sp>
        <p:pic>
          <p:nvPicPr>
            <p:cNvPr id="77" name="Picture 72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8" y="3767"/>
              <a:ext cx="789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7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" y="2127"/>
              <a:ext cx="506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" name="Picture 7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5" y="2331"/>
              <a:ext cx="563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75"/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7" y="2870"/>
              <a:ext cx="51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" name="Picture 76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9" y="2896"/>
              <a:ext cx="31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77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2921"/>
              <a:ext cx="472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3" name="Picture 78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7" y="3459"/>
              <a:ext cx="27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Picture 79"/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2043"/>
              <a:ext cx="41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80"/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5" y="2537"/>
              <a:ext cx="424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81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" y="3495"/>
              <a:ext cx="403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82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" y="3191"/>
              <a:ext cx="51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83"/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9" y="3460"/>
              <a:ext cx="58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84"/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4" y="2318"/>
              <a:ext cx="316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8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3" y="3179"/>
              <a:ext cx="173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" name="Picture 86"/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6" y="2366"/>
              <a:ext cx="50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87"/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7" y="3741"/>
              <a:ext cx="4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88"/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8" y="3202"/>
              <a:ext cx="40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" name="Picture 89"/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7" y="2610"/>
              <a:ext cx="220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90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" y="2601"/>
              <a:ext cx="44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91"/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" y="2717"/>
              <a:ext cx="6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AutoShape 92"/>
            <p:cNvSpPr>
              <a:spLocks noChangeArrowheads="1"/>
            </p:cNvSpPr>
            <p:nvPr/>
          </p:nvSpPr>
          <p:spPr bwMode="auto">
            <a:xfrm>
              <a:off x="4298" y="1804"/>
              <a:ext cx="227" cy="135"/>
            </a:xfrm>
            <a:prstGeom prst="upDownArrow">
              <a:avLst>
                <a:gd name="adj1" fmla="val 50000"/>
                <a:gd name="adj2" fmla="val 2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/>
            </a:p>
          </p:txBody>
        </p:sp>
        <p:pic>
          <p:nvPicPr>
            <p:cNvPr id="98" name="Picture 93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86"/>
            <a:stretch>
              <a:fillRect/>
            </a:stretch>
          </p:blipFill>
          <p:spPr bwMode="auto">
            <a:xfrm>
              <a:off x="4702" y="2114"/>
              <a:ext cx="4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9" name="Picture 94"/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288" y="2759660"/>
            <a:ext cx="71913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510131" y="1619801"/>
            <a:ext cx="2409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F5597"/>
              </a:buClr>
              <a:defRPr/>
            </a:pP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</a:rPr>
              <a:t>LTE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</a:rPr>
              <a:t>系统的领导组织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5495" y="99377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发展与演进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angle 14"/>
          <p:cNvSpPr txBox="1">
            <a:spLocks noChangeArrowheads="1"/>
          </p:cNvSpPr>
          <p:nvPr/>
        </p:nvSpPr>
        <p:spPr>
          <a:xfrm>
            <a:off x="6322695" y="2318019"/>
            <a:ext cx="4098396" cy="3375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3GPP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NGMN 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LSTI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</a:rPr>
              <a:t>的关系</a:t>
            </a:r>
          </a:p>
        </p:txBody>
      </p:sp>
      <p:grpSp>
        <p:nvGrpSpPr>
          <p:cNvPr id="101" name="Group 4"/>
          <p:cNvGrpSpPr/>
          <p:nvPr/>
        </p:nvGrpSpPr>
        <p:grpSpPr bwMode="auto">
          <a:xfrm>
            <a:off x="5648988" y="3405635"/>
            <a:ext cx="5616575" cy="2219325"/>
            <a:chOff x="930" y="709"/>
            <a:chExt cx="3538" cy="1678"/>
          </a:xfrm>
        </p:grpSpPr>
        <p:sp>
          <p:nvSpPr>
            <p:cNvPr id="102" name="Oval 5"/>
            <p:cNvSpPr>
              <a:spLocks noChangeArrowheads="1"/>
            </p:cNvSpPr>
            <p:nvPr/>
          </p:nvSpPr>
          <p:spPr bwMode="auto">
            <a:xfrm>
              <a:off x="1973" y="709"/>
              <a:ext cx="1406" cy="63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/>
                <a:t>NGMN</a:t>
              </a:r>
            </a:p>
            <a:p>
              <a:pPr algn="ctr"/>
              <a:r>
                <a:rPr lang="zh-CN" altLang="en-US" dirty="0"/>
                <a:t>需求制定</a:t>
              </a:r>
            </a:p>
          </p:txBody>
        </p:sp>
        <p:sp>
          <p:nvSpPr>
            <p:cNvPr id="103" name="Oval 6"/>
            <p:cNvSpPr>
              <a:spLocks noChangeArrowheads="1"/>
            </p:cNvSpPr>
            <p:nvPr/>
          </p:nvSpPr>
          <p:spPr bwMode="auto">
            <a:xfrm>
              <a:off x="930" y="1706"/>
              <a:ext cx="1406" cy="635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rou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srgbClr val="FF0000"/>
                  </a:solidFill>
                </a:rPr>
                <a:t>3GPP</a:t>
              </a:r>
            </a:p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标准制定</a:t>
              </a:r>
            </a:p>
          </p:txBody>
        </p:sp>
        <p:sp>
          <p:nvSpPr>
            <p:cNvPr id="104" name="Oval 7"/>
            <p:cNvSpPr>
              <a:spLocks noChangeArrowheads="1"/>
            </p:cNvSpPr>
            <p:nvPr/>
          </p:nvSpPr>
          <p:spPr bwMode="auto">
            <a:xfrm>
              <a:off x="3062" y="1752"/>
              <a:ext cx="1406" cy="635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/>
                <a:t>LSTI</a:t>
              </a:r>
            </a:p>
            <a:p>
              <a:pPr algn="ctr"/>
              <a:r>
                <a:rPr lang="zh-CN" altLang="en-US" dirty="0"/>
                <a:t>测试与试验</a:t>
              </a:r>
            </a:p>
          </p:txBody>
        </p:sp>
        <p:sp>
          <p:nvSpPr>
            <p:cNvPr id="105" name="AutoShape 8"/>
            <p:cNvSpPr>
              <a:spLocks noChangeArrowheads="1"/>
            </p:cNvSpPr>
            <p:nvPr/>
          </p:nvSpPr>
          <p:spPr bwMode="auto">
            <a:xfrm rot="8567525">
              <a:off x="1842" y="1326"/>
              <a:ext cx="548" cy="4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24" y="0"/>
                  </a:moveTo>
                  <a:lnTo>
                    <a:pt x="16224" y="5929"/>
                  </a:lnTo>
                  <a:lnTo>
                    <a:pt x="3375" y="5929"/>
                  </a:lnTo>
                  <a:lnTo>
                    <a:pt x="3375" y="15671"/>
                  </a:lnTo>
                  <a:lnTo>
                    <a:pt x="16224" y="15671"/>
                  </a:lnTo>
                  <a:lnTo>
                    <a:pt x="16224" y="21600"/>
                  </a:lnTo>
                  <a:lnTo>
                    <a:pt x="21600" y="10800"/>
                  </a:lnTo>
                  <a:lnTo>
                    <a:pt x="16224" y="0"/>
                  </a:lnTo>
                  <a:close/>
                </a:path>
                <a:path w="21600" h="21600">
                  <a:moveTo>
                    <a:pt x="1350" y="5929"/>
                  </a:moveTo>
                  <a:lnTo>
                    <a:pt x="1350" y="15671"/>
                  </a:lnTo>
                  <a:lnTo>
                    <a:pt x="2700" y="15671"/>
                  </a:lnTo>
                  <a:lnTo>
                    <a:pt x="2700" y="5929"/>
                  </a:lnTo>
                  <a:lnTo>
                    <a:pt x="1350" y="5929"/>
                  </a:lnTo>
                  <a:close/>
                </a:path>
                <a:path w="21600" h="21600">
                  <a:moveTo>
                    <a:pt x="0" y="5929"/>
                  </a:moveTo>
                  <a:lnTo>
                    <a:pt x="0" y="15671"/>
                  </a:lnTo>
                  <a:lnTo>
                    <a:pt x="675" y="15671"/>
                  </a:lnTo>
                  <a:lnTo>
                    <a:pt x="675" y="5929"/>
                  </a:lnTo>
                  <a:lnTo>
                    <a:pt x="0" y="5929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dirty="0"/>
                <a:t>需求</a:t>
              </a:r>
            </a:p>
          </p:txBody>
        </p:sp>
        <p:sp>
          <p:nvSpPr>
            <p:cNvPr id="106" name="AutoShape 9"/>
            <p:cNvSpPr>
              <a:spLocks noChangeArrowheads="1"/>
            </p:cNvSpPr>
            <p:nvPr/>
          </p:nvSpPr>
          <p:spPr bwMode="auto">
            <a:xfrm>
              <a:off x="2381" y="1933"/>
              <a:ext cx="680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dirty="0"/>
                <a:t>标准</a:t>
              </a:r>
            </a:p>
          </p:txBody>
        </p:sp>
        <p:sp>
          <p:nvSpPr>
            <p:cNvPr id="107" name="AutoShape 10"/>
            <p:cNvSpPr>
              <a:spLocks noChangeArrowheads="1"/>
            </p:cNvSpPr>
            <p:nvPr/>
          </p:nvSpPr>
          <p:spPr bwMode="auto">
            <a:xfrm rot="13782601" flipH="1">
              <a:off x="2837" y="1434"/>
              <a:ext cx="578" cy="3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24" y="0"/>
                  </a:moveTo>
                  <a:lnTo>
                    <a:pt x="16224" y="5929"/>
                  </a:lnTo>
                  <a:lnTo>
                    <a:pt x="3375" y="5929"/>
                  </a:lnTo>
                  <a:lnTo>
                    <a:pt x="3375" y="15671"/>
                  </a:lnTo>
                  <a:lnTo>
                    <a:pt x="16224" y="15671"/>
                  </a:lnTo>
                  <a:lnTo>
                    <a:pt x="16224" y="21600"/>
                  </a:lnTo>
                  <a:lnTo>
                    <a:pt x="21600" y="10800"/>
                  </a:lnTo>
                  <a:lnTo>
                    <a:pt x="16224" y="0"/>
                  </a:lnTo>
                  <a:close/>
                </a:path>
                <a:path w="21600" h="21600">
                  <a:moveTo>
                    <a:pt x="1350" y="5929"/>
                  </a:moveTo>
                  <a:lnTo>
                    <a:pt x="1350" y="15671"/>
                  </a:lnTo>
                  <a:lnTo>
                    <a:pt x="2700" y="15671"/>
                  </a:lnTo>
                  <a:lnTo>
                    <a:pt x="2700" y="5929"/>
                  </a:lnTo>
                  <a:lnTo>
                    <a:pt x="1350" y="5929"/>
                  </a:lnTo>
                  <a:close/>
                </a:path>
                <a:path w="21600" h="21600">
                  <a:moveTo>
                    <a:pt x="0" y="5929"/>
                  </a:moveTo>
                  <a:lnTo>
                    <a:pt x="0" y="15671"/>
                  </a:lnTo>
                  <a:lnTo>
                    <a:pt x="675" y="15671"/>
                  </a:lnTo>
                  <a:lnTo>
                    <a:pt x="675" y="5929"/>
                  </a:lnTo>
                  <a:lnTo>
                    <a:pt x="0" y="5929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dirty="0"/>
                <a:t>需求</a:t>
              </a:r>
            </a:p>
          </p:txBody>
        </p:sp>
        <p:sp>
          <p:nvSpPr>
            <p:cNvPr id="108" name="AutoShape 11"/>
            <p:cNvSpPr>
              <a:spLocks noChangeArrowheads="1"/>
            </p:cNvSpPr>
            <p:nvPr/>
          </p:nvSpPr>
          <p:spPr bwMode="auto">
            <a:xfrm rot="2759233" flipH="1" flipV="1">
              <a:off x="3119" y="1310"/>
              <a:ext cx="680" cy="31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24" y="0"/>
                  </a:moveTo>
                  <a:lnTo>
                    <a:pt x="16224" y="5929"/>
                  </a:lnTo>
                  <a:lnTo>
                    <a:pt x="3375" y="5929"/>
                  </a:lnTo>
                  <a:lnTo>
                    <a:pt x="3375" y="15671"/>
                  </a:lnTo>
                  <a:lnTo>
                    <a:pt x="16224" y="15671"/>
                  </a:lnTo>
                  <a:lnTo>
                    <a:pt x="16224" y="21600"/>
                  </a:lnTo>
                  <a:lnTo>
                    <a:pt x="21600" y="10800"/>
                  </a:lnTo>
                  <a:lnTo>
                    <a:pt x="16224" y="0"/>
                  </a:lnTo>
                  <a:close/>
                </a:path>
                <a:path w="21600" h="21600">
                  <a:moveTo>
                    <a:pt x="1350" y="5929"/>
                  </a:moveTo>
                  <a:lnTo>
                    <a:pt x="1350" y="15671"/>
                  </a:lnTo>
                  <a:lnTo>
                    <a:pt x="2700" y="15671"/>
                  </a:lnTo>
                  <a:lnTo>
                    <a:pt x="2700" y="5929"/>
                  </a:lnTo>
                  <a:lnTo>
                    <a:pt x="1350" y="5929"/>
                  </a:lnTo>
                  <a:close/>
                </a:path>
                <a:path w="21600" h="21600">
                  <a:moveTo>
                    <a:pt x="0" y="5929"/>
                  </a:moveTo>
                  <a:lnTo>
                    <a:pt x="0" y="15671"/>
                  </a:lnTo>
                  <a:lnTo>
                    <a:pt x="675" y="15671"/>
                  </a:lnTo>
                  <a:lnTo>
                    <a:pt x="675" y="5929"/>
                  </a:lnTo>
                  <a:lnTo>
                    <a:pt x="0" y="5929"/>
                  </a:lnTo>
                  <a:close/>
                </a:path>
              </a:pathLst>
            </a:cu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/>
                <a:t>汇报</a:t>
              </a:r>
            </a:p>
          </p:txBody>
        </p:sp>
      </p:grpSp>
      <p:sp>
        <p:nvSpPr>
          <p:cNvPr id="109" name="Rectangle 15"/>
          <p:cNvSpPr txBox="1">
            <a:spLocks noChangeArrowheads="1"/>
          </p:cNvSpPr>
          <p:nvPr/>
        </p:nvSpPr>
        <p:spPr>
          <a:xfrm>
            <a:off x="760285" y="2862335"/>
            <a:ext cx="4888703" cy="2261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800" dirty="0">
                <a:latin typeface="+mj-ea"/>
                <a:ea typeface="+mj-ea"/>
              </a:rPr>
              <a:t>NGMN</a:t>
            </a:r>
            <a:r>
              <a:rPr lang="zh-CN" altLang="en-US" sz="1800" dirty="0">
                <a:latin typeface="+mj-ea"/>
                <a:ea typeface="+mj-ea"/>
              </a:rPr>
              <a:t>：由全球主要移动运营商发起的、旨在引导和推动无线网络演进与发展的组织</a:t>
            </a:r>
          </a:p>
          <a:p>
            <a:pPr>
              <a:defRPr/>
            </a:pPr>
            <a:r>
              <a:rPr lang="en-US" altLang="zh-CN" sz="1800" dirty="0">
                <a:latin typeface="+mj-ea"/>
                <a:ea typeface="+mj-ea"/>
              </a:rPr>
              <a:t>3GPP</a:t>
            </a:r>
            <a:r>
              <a:rPr lang="zh-CN" altLang="en-US" sz="1800" dirty="0">
                <a:latin typeface="+mj-ea"/>
                <a:ea typeface="+mj-ea"/>
              </a:rPr>
              <a:t>：移动通信系统标准制定组织</a:t>
            </a:r>
          </a:p>
          <a:p>
            <a:pPr>
              <a:defRPr/>
            </a:pPr>
            <a:r>
              <a:rPr lang="en-US" altLang="zh-CN" sz="1800" dirty="0">
                <a:latin typeface="+mj-ea"/>
                <a:ea typeface="+mj-ea"/>
              </a:rPr>
              <a:t>LSTI</a:t>
            </a:r>
            <a:r>
              <a:rPr lang="zh-CN" altLang="en-US" sz="1800" dirty="0">
                <a:latin typeface="+mj-ea"/>
                <a:ea typeface="+mj-ea"/>
              </a:rPr>
              <a:t>：设备制造商与运营商联合成立的测试组织，通过联合测试与试验推动</a:t>
            </a:r>
            <a:r>
              <a:rPr lang="en-US" altLang="zh-CN" sz="1800" dirty="0">
                <a:latin typeface="+mj-ea"/>
                <a:ea typeface="+mj-ea"/>
              </a:rPr>
              <a:t>LTE</a:t>
            </a:r>
            <a:r>
              <a:rPr lang="zh-CN" altLang="en-US" sz="1800" dirty="0">
                <a:latin typeface="+mj-ea"/>
                <a:ea typeface="+mj-ea"/>
              </a:rPr>
              <a:t>的产业化进程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5494" y="993775"/>
            <a:ext cx="2782105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3560" indent="-543560">
              <a:lnSpc>
                <a:spcPct val="150000"/>
              </a:lnSpc>
              <a:buAutoNum type="arabicPeriod"/>
            </a:pP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发展与演进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 descr="3gpp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473" y="1736607"/>
            <a:ext cx="6637761" cy="44606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5783050" y="6351601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3GPP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组织架构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的频谱划分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Group 8794"/>
          <p:cNvGraphicFramePr/>
          <p:nvPr/>
        </p:nvGraphicFramePr>
        <p:xfrm>
          <a:off x="7265752" y="1355323"/>
          <a:ext cx="4741336" cy="5300401"/>
        </p:xfrm>
        <a:graphic>
          <a:graphicData uri="http://schemas.openxmlformats.org/drawingml/2006/table">
            <a:tbl>
              <a:tblPr/>
              <a:tblGrid>
                <a:gridCol w="686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1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6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0174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E-UTRA Band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Uplink (UL)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Downlink (DL)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Duplex Mode</a:t>
                      </a:r>
                      <a:endParaRPr kumimoji="0" lang="en-GB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UL_low</a:t>
                      </a: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–  </a:t>
                      </a: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UL_high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DL_low</a:t>
                      </a: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–  </a:t>
                      </a: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DL_high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1920 MHz </a:t>
                      </a:r>
                      <a:endParaRPr kumimoji="0" lang="en-GB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en-GB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1980 MHz 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2110 MHz  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2170 MHz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1850 MHz 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1910 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1930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1990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1710 MHz 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1785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1805 MHz 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1880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1710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1755 MHz 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2110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2155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824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849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869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894MHz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830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840 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875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885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2500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2570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2620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2690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880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915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925 MHz 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960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037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1749.9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1784.9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1844.9 MHz 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1879.9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655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1710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1770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2110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2170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7277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1427.9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1452.9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1475.9 MHz 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1500.9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en-GB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698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716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728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746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777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787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746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756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788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798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758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768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60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704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716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734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746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FDD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GB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GB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　</a:t>
                      </a:r>
                      <a:endParaRPr kumimoji="0" lang="zh-CN" alt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…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627" marR="77627" marT="34846" marB="34846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8" name="Group 8510"/>
          <p:cNvGraphicFramePr/>
          <p:nvPr/>
        </p:nvGraphicFramePr>
        <p:xfrm>
          <a:off x="2015069" y="3877206"/>
          <a:ext cx="5084887" cy="2896009"/>
        </p:xfrm>
        <a:graphic>
          <a:graphicData uri="http://schemas.openxmlformats.org/drawingml/2006/table">
            <a:tbl>
              <a:tblPr/>
              <a:tblGrid>
                <a:gridCol w="769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3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5248">
                <a:tc rowSpan="2"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E-UTRA Band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Uplink (UL)</a:t>
                      </a:r>
                      <a:endParaRPr kumimoji="0" lang="en-GB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Downlink (DL)</a:t>
                      </a:r>
                      <a:endParaRPr kumimoji="0" lang="en-GB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Duplex Mode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UL_low</a:t>
                      </a: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–  </a:t>
                      </a: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UL_high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DL_low</a:t>
                      </a:r>
                      <a:r>
                        <a:rPr kumimoji="0" lang="en-GB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–  </a:t>
                      </a:r>
                      <a:r>
                        <a:rPr kumimoji="0" lang="en-GB" altLang="zh-CN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kumimoji="0" lang="en-GB" altLang="zh-CN" sz="1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DL_high</a:t>
                      </a:r>
                      <a:endParaRPr kumimoji="0" lang="en-GB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33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1900 MHz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1920 MHz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1900 MHz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1920 MHz</a:t>
                      </a:r>
                      <a:endParaRPr kumimoji="0" lang="en-GB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34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2010 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2025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2010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2025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35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1850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1910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1850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1910 MHz</a:t>
                      </a:r>
                      <a:endParaRPr kumimoji="0" lang="fr-F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36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1930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1990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1930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1990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37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1910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1930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1910 MHz 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1930 MHz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38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2570 MHz 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2620 MHz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2570 MHz 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en-GB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2620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39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1880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1920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1880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1920 MHz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092">
                <a:tc>
                  <a:txBody>
                    <a:bodyPr/>
                    <a:lstStyle/>
                    <a:p>
                      <a:pPr marL="0" marR="0" lvl="0" indent="0" algn="ctr" defTabSz="87757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40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2300 MHz</a:t>
                      </a:r>
                      <a:endParaRPr kumimoji="0" lang="fr-F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9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2400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2300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–</a:t>
                      </a:r>
                      <a:endParaRPr kumimoji="0" lang="fr-FR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2400 MHz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757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TDD</a:t>
                      </a:r>
                      <a:endParaRPr kumimoji="0" lang="fr-F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7734" marR="77734" marT="34832" marB="34832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8022"/>
          <p:cNvSpPr txBox="1">
            <a:spLocks noChangeArrowheads="1"/>
          </p:cNvSpPr>
          <p:nvPr/>
        </p:nvSpPr>
        <p:spPr bwMode="auto">
          <a:xfrm>
            <a:off x="3910448" y="3587666"/>
            <a:ext cx="1528763" cy="31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3" rIns="80147" bIns="40073">
            <a:spAutoFit/>
          </a:bodyPr>
          <a:lstStyle>
            <a:lvl1pPr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50000"/>
              </a:spcBef>
              <a:buClr>
                <a:srgbClr val="808080"/>
              </a:buClr>
              <a:buSzPct val="60000"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TDD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模式支持频段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8023"/>
          <p:cNvSpPr txBox="1">
            <a:spLocks noChangeArrowheads="1"/>
          </p:cNvSpPr>
          <p:nvPr/>
        </p:nvSpPr>
        <p:spPr bwMode="auto">
          <a:xfrm>
            <a:off x="8872039" y="989885"/>
            <a:ext cx="1528762" cy="31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3" rIns="80147" bIns="40073">
            <a:spAutoFit/>
          </a:bodyPr>
          <a:lstStyle>
            <a:lvl1pPr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50000"/>
              </a:spcBef>
              <a:buClr>
                <a:srgbClr val="808080"/>
              </a:buClr>
              <a:buSzPct val="60000"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FDD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模式支持频段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8797"/>
          <p:cNvSpPr>
            <a:spLocks noChangeArrowheads="1"/>
          </p:cNvSpPr>
          <p:nvPr/>
        </p:nvSpPr>
        <p:spPr bwMode="auto">
          <a:xfrm>
            <a:off x="742018" y="1920319"/>
            <a:ext cx="4302125" cy="181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3" rIns="80147" bIns="40073"/>
          <a:lstStyle>
            <a:lvl1pPr marL="298450" indent="-29845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0875" indent="-249555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40000"/>
              </a:spcBef>
              <a:buClr>
                <a:srgbClr val="990000"/>
              </a:buClr>
              <a:buSzPct val="60000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根据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LTE R8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协议：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支持两种双工模式：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FDD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TDD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支持多种频段，从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700MHz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2.6GHz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支持多种带宽配置，协议规定以下带宽配置：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1.4MHz, 3MHz, 5MHz, 10MHz, 15MHz, 20MHz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66342"/>
              </p:ext>
            </p:extLst>
          </p:nvPr>
        </p:nvGraphicFramePr>
        <p:xfrm>
          <a:off x="2835996" y="1266021"/>
          <a:ext cx="6832600" cy="49885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9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135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运营商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上行频谱率（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MHz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下行频谱率（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MHz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带宽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合计款频（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MHz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制式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0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effectLst/>
                        </a:rPr>
                        <a:t>中国移动</a:t>
                      </a:r>
                      <a:endParaRPr lang="zh-CN" alt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890-909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935-954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19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179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GSM900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2G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1710-1725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1805-1820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DCS1800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2010-2025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210-2025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TD-SCDMA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3G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1880-1900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1880-1900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130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TD-LTE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2320-2370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2320-2370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2575-2635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2575-2635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0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effectLst/>
                        </a:rPr>
                        <a:t>中国联通</a:t>
                      </a:r>
                      <a:endParaRPr lang="zh-CN" alt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909-915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954-960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81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GSM900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2G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1745-1755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1840-1850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DCS1800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2G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1940-1955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2130-2145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WCDMA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3G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2300-2320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2300-2320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40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TD-LTE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2555-2575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2555-2575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1755-1765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1850-1860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FDD-LTE</a:t>
                      </a:r>
                      <a:endParaRPr lang="en-US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0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u="none" strike="noStrike" dirty="0">
                          <a:effectLst/>
                        </a:rPr>
                        <a:t>中国电信</a:t>
                      </a:r>
                      <a:endParaRPr lang="zh-CN" alt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825-840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870-885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85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CDMA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1920-1935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2110-2125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CDMA2000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2370-2390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2370-2390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40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TD-LTE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2635-2655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2635-2655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230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1765-1780</a:t>
                      </a:r>
                      <a:endParaRPr lang="en-US" altLang="zh-CN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1765-1780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15</a:t>
                      </a:r>
                      <a:endParaRPr lang="en-US" altLang="zh-CN" sz="16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FDD-LTE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4G</a:t>
                      </a:r>
                      <a:endParaRPr lang="en-US" sz="16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791122" y="6488668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</a:rPr>
              <a:t>三大运营商手机业务频段分配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主要设计目标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859791" y="2033413"/>
            <a:ext cx="214674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Clr>
                <a:srgbClr val="2F5597"/>
              </a:buClr>
              <a:buFont typeface="Wingdings" panose="05000000000000000000" charset="0"/>
              <a:buChar char="u"/>
              <a:defRPr/>
            </a:pPr>
            <a:r>
              <a:rPr lang="zh-CN" altLang="en-US" b="1" dirty="0">
                <a:solidFill>
                  <a:srgbClr val="005BAA"/>
                </a:solidFill>
                <a:latin typeface="微软雅黑" panose="020B0503020204020204" charset="-122"/>
              </a:rPr>
              <a:t>主要指标和需求</a:t>
            </a:r>
            <a:endParaRPr lang="en-US" altLang="zh-CN" b="1" dirty="0">
              <a:solidFill>
                <a:srgbClr val="005BAA"/>
              </a:solidFill>
              <a:latin typeface="微软雅黑" panose="020B0503020204020204" charset="-122"/>
            </a:endParaRPr>
          </a:p>
          <a:p>
            <a:pPr marL="342900" indent="-342900">
              <a:buClr>
                <a:srgbClr val="2F5597"/>
              </a:buClr>
              <a:buFont typeface="Wingdings" panose="05000000000000000000" charset="0"/>
              <a:buChar char="u"/>
              <a:defRPr/>
            </a:pPr>
            <a:endParaRPr lang="zh-CN" altLang="en-US" sz="2000" b="1" dirty="0">
              <a:solidFill>
                <a:srgbClr val="005BAA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3" name="Rectangle 7"/>
          <p:cNvSpPr txBox="1">
            <a:spLocks noChangeArrowheads="1"/>
          </p:cNvSpPr>
          <p:nvPr/>
        </p:nvSpPr>
        <p:spPr>
          <a:xfrm>
            <a:off x="1384829" y="2538412"/>
            <a:ext cx="4176712" cy="4319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ea"/>
                <a:ea typeface="+mj-ea"/>
              </a:rPr>
              <a:t>采用</a:t>
            </a:r>
            <a:r>
              <a:rPr lang="en-US" altLang="zh-CN" sz="1800" dirty="0">
                <a:latin typeface="+mj-ea"/>
                <a:ea typeface="+mj-ea"/>
              </a:rPr>
              <a:t>OFDM</a:t>
            </a:r>
            <a:r>
              <a:rPr lang="zh-CN" altLang="en-US" sz="1800" dirty="0">
                <a:latin typeface="+mj-ea"/>
                <a:ea typeface="+mj-ea"/>
              </a:rPr>
              <a:t>和</a:t>
            </a:r>
            <a:r>
              <a:rPr lang="en-US" altLang="zh-CN" sz="1800" dirty="0">
                <a:latin typeface="+mj-ea"/>
                <a:ea typeface="+mj-ea"/>
              </a:rPr>
              <a:t>MIMO</a:t>
            </a:r>
            <a:r>
              <a:rPr lang="zh-CN" altLang="en-US" sz="1800" dirty="0">
                <a:latin typeface="+mj-ea"/>
                <a:ea typeface="+mj-ea"/>
              </a:rPr>
              <a:t>技术</a:t>
            </a:r>
            <a:r>
              <a:rPr lang="en-US" altLang="zh-CN" sz="1800" dirty="0">
                <a:latin typeface="+mj-ea"/>
                <a:ea typeface="+mj-ea"/>
              </a:rPr>
              <a:t>,</a:t>
            </a:r>
            <a:r>
              <a:rPr lang="zh-CN" altLang="en-US" sz="1800" dirty="0">
                <a:latin typeface="+mj-ea"/>
                <a:ea typeface="+mj-ea"/>
              </a:rPr>
              <a:t>用户峰值速率：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DL 100Mbps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，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UL 50Mbps</a:t>
            </a:r>
          </a:p>
          <a:p>
            <a:r>
              <a:rPr lang="zh-CN" altLang="en-US" sz="1800" dirty="0">
                <a:latin typeface="+mj-ea"/>
                <a:ea typeface="+mj-ea"/>
              </a:rPr>
              <a:t>扁平、全</a:t>
            </a:r>
            <a:r>
              <a:rPr lang="en-US" altLang="zh-CN" sz="1800" dirty="0">
                <a:latin typeface="+mj-ea"/>
                <a:ea typeface="+mj-ea"/>
              </a:rPr>
              <a:t>IP</a:t>
            </a:r>
            <a:r>
              <a:rPr lang="zh-CN" altLang="en-US" sz="1800" dirty="0">
                <a:latin typeface="+mj-ea"/>
                <a:ea typeface="+mj-ea"/>
              </a:rPr>
              <a:t>网络架构减少系统时延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CP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：驻留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—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激活小于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100ms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，休眠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—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激活小于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50ms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UP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：最小可达到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5ms</a:t>
            </a:r>
          </a:p>
          <a:p>
            <a:r>
              <a:rPr lang="zh-CN" altLang="en-US" sz="1800" dirty="0">
                <a:latin typeface="+mj-ea"/>
                <a:ea typeface="+mj-ea"/>
              </a:rPr>
              <a:t>控制面处理能力：单小区</a:t>
            </a:r>
            <a:r>
              <a:rPr lang="en-US" altLang="zh-CN" sz="1800" dirty="0">
                <a:latin typeface="+mj-ea"/>
                <a:ea typeface="+mj-ea"/>
              </a:rPr>
              <a:t>5M</a:t>
            </a:r>
            <a:r>
              <a:rPr lang="zh-CN" altLang="en-US" sz="1800" dirty="0">
                <a:latin typeface="+mj-ea"/>
                <a:ea typeface="+mj-ea"/>
              </a:rPr>
              <a:t>带宽内不少于</a:t>
            </a:r>
            <a:r>
              <a:rPr lang="en-US" altLang="zh-CN" sz="1800" dirty="0">
                <a:latin typeface="+mj-ea"/>
                <a:ea typeface="+mj-ea"/>
              </a:rPr>
              <a:t>200</a:t>
            </a:r>
            <a:r>
              <a:rPr lang="zh-CN" altLang="en-US" sz="1800" dirty="0">
                <a:latin typeface="+mj-ea"/>
                <a:ea typeface="+mj-ea"/>
              </a:rPr>
              <a:t>用户</a:t>
            </a:r>
          </a:p>
          <a:p>
            <a:r>
              <a:rPr lang="zh-CN" altLang="en-US" sz="1800" dirty="0">
                <a:latin typeface="+mj-ea"/>
                <a:ea typeface="+mj-ea"/>
              </a:rPr>
              <a:t>频谱利用率：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1.4MHz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3MHz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5MHz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10MHz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15MHz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20MHz</a:t>
            </a:r>
          </a:p>
          <a:p>
            <a:r>
              <a:rPr lang="zh-CN" altLang="en-US" sz="1800" dirty="0">
                <a:latin typeface="+mj-ea"/>
                <a:ea typeface="+mj-ea"/>
              </a:rPr>
              <a:t>频谱利用率相对于</a:t>
            </a:r>
            <a:r>
              <a:rPr lang="en-US" altLang="zh-CN" sz="1800" dirty="0">
                <a:latin typeface="+mj-ea"/>
                <a:ea typeface="+mj-ea"/>
              </a:rPr>
              <a:t>3G</a:t>
            </a:r>
            <a:r>
              <a:rPr lang="zh-CN" altLang="en-US" sz="1800" dirty="0">
                <a:latin typeface="+mj-ea"/>
                <a:ea typeface="+mj-ea"/>
              </a:rPr>
              <a:t>提高</a:t>
            </a:r>
            <a:r>
              <a:rPr lang="en-US" altLang="zh-CN" sz="1800" dirty="0">
                <a:latin typeface="+mj-ea"/>
                <a:ea typeface="+mj-ea"/>
              </a:rPr>
              <a:t>2-3</a:t>
            </a:r>
            <a:r>
              <a:rPr lang="zh-CN" altLang="en-US" sz="1800" dirty="0">
                <a:latin typeface="+mj-ea"/>
                <a:ea typeface="+mj-ea"/>
              </a:rPr>
              <a:t>倍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380" y="2538412"/>
            <a:ext cx="6076950" cy="334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主要设计目标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86655" y="2938509"/>
          <a:ext cx="10672080" cy="2618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760200" imgH="2654300" progId="Visio.Drawing.15">
                  <p:embed/>
                </p:oleObj>
              </mc:Choice>
              <mc:Fallback>
                <p:oleObj name="Visio" r:id="rId3" imgW="11760200" imgH="265430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655" y="2938509"/>
                        <a:ext cx="10672080" cy="2618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908415" y="2172423"/>
            <a:ext cx="2302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2F5597"/>
              </a:buClr>
              <a:buFont typeface="Wingdings" panose="05000000000000000000" charset="0"/>
              <a:buChar char="u"/>
              <a:defRPr/>
            </a:pPr>
            <a:r>
              <a:rPr lang="en-US" altLang="zh-CN" b="1" dirty="0">
                <a:solidFill>
                  <a:srgbClr val="005BAA"/>
                </a:solidFill>
                <a:latin typeface="微软雅黑" panose="020B0503020204020204" charset="-122"/>
              </a:rPr>
              <a:t>LTE</a:t>
            </a:r>
            <a:r>
              <a:rPr lang="zh-CN" altLang="en-US" b="1" dirty="0">
                <a:solidFill>
                  <a:srgbClr val="005BAA"/>
                </a:solidFill>
                <a:latin typeface="微软雅黑" panose="020B0503020204020204" charset="-122"/>
              </a:rPr>
              <a:t>设计目标分解</a:t>
            </a:r>
            <a:endParaRPr lang="en-US" altLang="zh-CN" b="1" dirty="0">
              <a:solidFill>
                <a:srgbClr val="005BA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主要设计目标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541208" y="1920319"/>
            <a:ext cx="3955968" cy="2498460"/>
            <a:chOff x="-655979" y="1738363"/>
            <a:chExt cx="3955968" cy="2498460"/>
          </a:xfrm>
        </p:grpSpPr>
        <p:sp>
          <p:nvSpPr>
            <p:cNvPr id="32" name="矩形 3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412392" y="1738363"/>
              <a:ext cx="6976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覆盖</a:t>
              </a:r>
            </a:p>
          </p:txBody>
        </p:sp>
        <p:sp>
          <p:nvSpPr>
            <p:cNvPr id="33" name="矩形 3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-655979" y="2066998"/>
              <a:ext cx="3955968" cy="2169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5km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内，满足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LTE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相关协议定义的吞吐率、频谱效率及移动性要求。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30km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内，保证移动性需求，用户吞吐率可轻微下降，频谱效率可明显下降。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100km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范围内不排除支持。</a:t>
              </a:r>
            </a:p>
          </p:txBody>
        </p:sp>
        <p:cxnSp>
          <p:nvCxnSpPr>
            <p:cNvPr id="34" name="直接连接符 3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2509770" y="2103812"/>
              <a:ext cx="50788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3081862" y="4561728"/>
            <a:ext cx="7372350" cy="2073676"/>
            <a:chOff x="1089214" y="4709900"/>
            <a:chExt cx="7372350" cy="2073676"/>
          </a:xfrm>
        </p:grpSpPr>
        <p:sp>
          <p:nvSpPr>
            <p:cNvPr id="36" name="矩形 3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3453745" y="4709900"/>
              <a:ext cx="223651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吞吐率及频谱效率</a:t>
              </a:r>
            </a:p>
          </p:txBody>
        </p:sp>
        <p:sp>
          <p:nvSpPr>
            <p:cNvPr id="37" name="矩形 3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1089214" y="5029250"/>
              <a:ext cx="737235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下行链路：</a:t>
              </a:r>
              <a:r>
                <a:rPr lang="zh-CN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有效负荷的网络中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吞吐率和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LTE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频谱效率是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R6HSDPA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的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                    3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～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4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倍。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R6HSDPA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发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收，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LTE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发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收。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上行链路：</a:t>
              </a:r>
              <a:r>
                <a:rPr lang="zh-CN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有效负荷的网络中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吞吐率和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LTE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频谱效率是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R6HSUPA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的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                    2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～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倍。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R6HSUPA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发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收，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LTE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发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收。</a:t>
              </a:r>
            </a:p>
          </p:txBody>
        </p:sp>
        <p:cxnSp>
          <p:nvCxnSpPr>
            <p:cNvPr id="38" name="直接连接符 3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3571875" y="5075349"/>
              <a:ext cx="20193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5456259" y="2960715"/>
            <a:ext cx="2004045" cy="1614095"/>
            <a:chOff x="3118826" y="1857542"/>
            <a:chExt cx="2914486" cy="2900218"/>
          </a:xfrm>
        </p:grpSpPr>
        <p:sp>
          <p:nvSpPr>
            <p:cNvPr id="40" name="任意多边形 7"/>
            <p:cNvSpPr/>
            <p:nvPr/>
          </p:nvSpPr>
          <p:spPr>
            <a:xfrm>
              <a:off x="3376910" y="2012388"/>
              <a:ext cx="2501351" cy="2501351"/>
            </a:xfrm>
            <a:custGeom>
              <a:avLst/>
              <a:gdLst>
                <a:gd name="connsiteX0" fmla="*/ 1706880 w 3413760"/>
                <a:gd name="connsiteY0" fmla="*/ 0 h 3413760"/>
                <a:gd name="connsiteX1" fmla="*/ 3185081 w 3413760"/>
                <a:gd name="connsiteY1" fmla="*/ 853440 h 3413760"/>
                <a:gd name="connsiteX2" fmla="*/ 3185081 w 3413760"/>
                <a:gd name="connsiteY2" fmla="*/ 2560320 h 3413760"/>
                <a:gd name="connsiteX3" fmla="*/ 1706880 w 3413760"/>
                <a:gd name="connsiteY3" fmla="*/ 1706880 h 3413760"/>
                <a:gd name="connsiteX4" fmla="*/ 1706880 w 3413760"/>
                <a:gd name="connsiteY4" fmla="*/ 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1706880" y="0"/>
                  </a:moveTo>
                  <a:cubicBezTo>
                    <a:pt x="2316689" y="0"/>
                    <a:pt x="2880177" y="325329"/>
                    <a:pt x="3185081" y="853440"/>
                  </a:cubicBezTo>
                  <a:cubicBezTo>
                    <a:pt x="3489986" y="1381551"/>
                    <a:pt x="3489986" y="2032209"/>
                    <a:pt x="3185081" y="2560320"/>
                  </a:cubicBezTo>
                  <a:lnTo>
                    <a:pt x="1706880" y="1706880"/>
                  </a:lnTo>
                  <a:lnTo>
                    <a:pt x="170688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8"/>
            <p:cNvSpPr/>
            <p:nvPr/>
          </p:nvSpPr>
          <p:spPr>
            <a:xfrm>
              <a:off x="3325394" y="2101721"/>
              <a:ext cx="2501351" cy="2501351"/>
            </a:xfrm>
            <a:custGeom>
              <a:avLst/>
              <a:gdLst>
                <a:gd name="connsiteX0" fmla="*/ 3185081 w 3413760"/>
                <a:gd name="connsiteY0" fmla="*/ 2560320 h 3413760"/>
                <a:gd name="connsiteX1" fmla="*/ 1706880 w 3413760"/>
                <a:gd name="connsiteY1" fmla="*/ 3413760 h 3413760"/>
                <a:gd name="connsiteX2" fmla="*/ 228679 w 3413760"/>
                <a:gd name="connsiteY2" fmla="*/ 2560320 h 3413760"/>
                <a:gd name="connsiteX3" fmla="*/ 1706880 w 3413760"/>
                <a:gd name="connsiteY3" fmla="*/ 1706880 h 3413760"/>
                <a:gd name="connsiteX4" fmla="*/ 3185081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3185081" y="2560320"/>
                  </a:moveTo>
                  <a:cubicBezTo>
                    <a:pt x="2880176" y="3088431"/>
                    <a:pt x="2316689" y="3413760"/>
                    <a:pt x="1706880" y="3413760"/>
                  </a:cubicBezTo>
                  <a:cubicBezTo>
                    <a:pt x="1097071" y="3413760"/>
                    <a:pt x="533583" y="3088431"/>
                    <a:pt x="228679" y="2560320"/>
                  </a:cubicBezTo>
                  <a:lnTo>
                    <a:pt x="1706880" y="1706880"/>
                  </a:lnTo>
                  <a:lnTo>
                    <a:pt x="3185081" y="256032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9"/>
            <p:cNvSpPr/>
            <p:nvPr/>
          </p:nvSpPr>
          <p:spPr>
            <a:xfrm>
              <a:off x="3273877" y="2012388"/>
              <a:ext cx="2501351" cy="2501351"/>
            </a:xfrm>
            <a:custGeom>
              <a:avLst/>
              <a:gdLst>
                <a:gd name="connsiteX0" fmla="*/ 228679 w 3413760"/>
                <a:gd name="connsiteY0" fmla="*/ 2560320 h 3413760"/>
                <a:gd name="connsiteX1" fmla="*/ 228679 w 3413760"/>
                <a:gd name="connsiteY1" fmla="*/ 853440 h 3413760"/>
                <a:gd name="connsiteX2" fmla="*/ 1706880 w 3413760"/>
                <a:gd name="connsiteY2" fmla="*/ 0 h 3413760"/>
                <a:gd name="connsiteX3" fmla="*/ 1706880 w 3413760"/>
                <a:gd name="connsiteY3" fmla="*/ 1706880 h 3413760"/>
                <a:gd name="connsiteX4" fmla="*/ 228679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228679" y="2560320"/>
                  </a:moveTo>
                  <a:cubicBezTo>
                    <a:pt x="-76226" y="2032209"/>
                    <a:pt x="-76226" y="1381551"/>
                    <a:pt x="228679" y="853440"/>
                  </a:cubicBezTo>
                  <a:cubicBezTo>
                    <a:pt x="533584" y="325329"/>
                    <a:pt x="1097071" y="0"/>
                    <a:pt x="1706880" y="0"/>
                  </a:cubicBezTo>
                  <a:lnTo>
                    <a:pt x="1706880" y="1706880"/>
                  </a:lnTo>
                  <a:lnTo>
                    <a:pt x="228679" y="256032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环形箭头 10"/>
            <p:cNvSpPr/>
            <p:nvPr/>
          </p:nvSpPr>
          <p:spPr>
            <a:xfrm>
              <a:off x="3222270" y="1857542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环形箭头 11"/>
            <p:cNvSpPr/>
            <p:nvPr/>
          </p:nvSpPr>
          <p:spPr>
            <a:xfrm>
              <a:off x="3170548" y="1946718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环形箭头 12"/>
            <p:cNvSpPr/>
            <p:nvPr/>
          </p:nvSpPr>
          <p:spPr>
            <a:xfrm>
              <a:off x="3118826" y="1857542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46" name="Group 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GrpSpPr>
              <a:grpSpLocks noChangeAspect="1"/>
            </p:cNvGrpSpPr>
            <p:nvPr/>
          </p:nvGrpSpPr>
          <p:grpSpPr bwMode="auto">
            <a:xfrm>
              <a:off x="4324553" y="3786391"/>
              <a:ext cx="494893" cy="431678"/>
              <a:chOff x="352" y="2796"/>
              <a:chExt cx="869" cy="758"/>
            </a:xfrm>
            <a:solidFill>
              <a:schemeClr val="bg1"/>
            </a:solidFill>
          </p:grpSpPr>
          <p:sp>
            <p:nvSpPr>
              <p:cNvPr id="49" name="Freeform 5"/>
              <p:cNvSpPr>
                <a:spLocks noEditPoints="1"/>
              </p:cNvSpPr>
              <p:nvPr/>
            </p:nvSpPr>
            <p:spPr bwMode="auto">
              <a:xfrm>
                <a:off x="352" y="2796"/>
                <a:ext cx="869" cy="758"/>
              </a:xfrm>
              <a:custGeom>
                <a:avLst/>
                <a:gdLst>
                  <a:gd name="T0" fmla="*/ 796 w 907"/>
                  <a:gd name="T1" fmla="*/ 657 h 791"/>
                  <a:gd name="T2" fmla="*/ 876 w 907"/>
                  <a:gd name="T3" fmla="*/ 545 h 791"/>
                  <a:gd name="T4" fmla="*/ 907 w 907"/>
                  <a:gd name="T5" fmla="*/ 519 h 791"/>
                  <a:gd name="T6" fmla="*/ 876 w 907"/>
                  <a:gd name="T7" fmla="*/ 493 h 791"/>
                  <a:gd name="T8" fmla="*/ 796 w 907"/>
                  <a:gd name="T9" fmla="*/ 380 h 791"/>
                  <a:gd name="T10" fmla="*/ 902 w 907"/>
                  <a:gd name="T11" fmla="*/ 272 h 791"/>
                  <a:gd name="T12" fmla="*/ 796 w 907"/>
                  <a:gd name="T13" fmla="*/ 165 h 791"/>
                  <a:gd name="T14" fmla="*/ 876 w 907"/>
                  <a:gd name="T15" fmla="*/ 52 h 791"/>
                  <a:gd name="T16" fmla="*/ 876 w 907"/>
                  <a:gd name="T17" fmla="*/ 0 h 791"/>
                  <a:gd name="T18" fmla="*/ 132 w 907"/>
                  <a:gd name="T19" fmla="*/ 0 h 791"/>
                  <a:gd name="T20" fmla="*/ 0 w 907"/>
                  <a:gd name="T21" fmla="*/ 165 h 791"/>
                  <a:gd name="T22" fmla="*/ 0 w 907"/>
                  <a:gd name="T23" fmla="*/ 380 h 791"/>
                  <a:gd name="T24" fmla="*/ 54 w 907"/>
                  <a:gd name="T25" fmla="*/ 519 h 791"/>
                  <a:gd name="T26" fmla="*/ 0 w 907"/>
                  <a:gd name="T27" fmla="*/ 657 h 791"/>
                  <a:gd name="T28" fmla="*/ 869 w 907"/>
                  <a:gd name="T29" fmla="*/ 791 h 791"/>
                  <a:gd name="T30" fmla="*/ 871 w 907"/>
                  <a:gd name="T31" fmla="*/ 791 h 791"/>
                  <a:gd name="T32" fmla="*/ 902 w 907"/>
                  <a:gd name="T33" fmla="*/ 765 h 791"/>
                  <a:gd name="T34" fmla="*/ 772 w 907"/>
                  <a:gd name="T35" fmla="*/ 246 h 791"/>
                  <a:gd name="T36" fmla="*/ 413 w 907"/>
                  <a:gd name="T37" fmla="*/ 272 h 791"/>
                  <a:gd name="T38" fmla="*/ 772 w 907"/>
                  <a:gd name="T39" fmla="*/ 299 h 791"/>
                  <a:gd name="T40" fmla="*/ 744 w 907"/>
                  <a:gd name="T41" fmla="*/ 411 h 791"/>
                  <a:gd name="T42" fmla="*/ 436 w 907"/>
                  <a:gd name="T43" fmla="*/ 493 h 791"/>
                  <a:gd name="T44" fmla="*/ 436 w 907"/>
                  <a:gd name="T45" fmla="*/ 545 h 791"/>
                  <a:gd name="T46" fmla="*/ 744 w 907"/>
                  <a:gd name="T47" fmla="*/ 627 h 791"/>
                  <a:gd name="T48" fmla="*/ 772 w 907"/>
                  <a:gd name="T49" fmla="*/ 739 h 791"/>
                  <a:gd name="T50" fmla="*/ 51 w 907"/>
                  <a:gd name="T51" fmla="*/ 657 h 791"/>
                  <a:gd name="T52" fmla="*/ 132 w 907"/>
                  <a:gd name="T53" fmla="*/ 545 h 791"/>
                  <a:gd name="T54" fmla="*/ 189 w 907"/>
                  <a:gd name="T55" fmla="*/ 519 h 791"/>
                  <a:gd name="T56" fmla="*/ 132 w 907"/>
                  <a:gd name="T57" fmla="*/ 493 h 791"/>
                  <a:gd name="T58" fmla="*/ 51 w 907"/>
                  <a:gd name="T59" fmla="*/ 380 h 791"/>
                  <a:gd name="T60" fmla="*/ 163 w 907"/>
                  <a:gd name="T61" fmla="*/ 299 h 791"/>
                  <a:gd name="T62" fmla="*/ 163 w 907"/>
                  <a:gd name="T63" fmla="*/ 246 h 791"/>
                  <a:gd name="T64" fmla="*/ 51 w 907"/>
                  <a:gd name="T65" fmla="*/ 165 h 791"/>
                  <a:gd name="T66" fmla="*/ 132 w 907"/>
                  <a:gd name="T67" fmla="*/ 52 h 791"/>
                  <a:gd name="T68" fmla="*/ 744 w 907"/>
                  <a:gd name="T69" fmla="*/ 134 h 791"/>
                  <a:gd name="T70" fmla="*/ 772 w 907"/>
                  <a:gd name="T71" fmla="*/ 24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7" h="791">
                    <a:moveTo>
                      <a:pt x="876" y="739"/>
                    </a:moveTo>
                    <a:cubicBezTo>
                      <a:pt x="832" y="739"/>
                      <a:pt x="796" y="702"/>
                      <a:pt x="796" y="657"/>
                    </a:cubicBezTo>
                    <a:cubicBezTo>
                      <a:pt x="796" y="627"/>
                      <a:pt x="796" y="627"/>
                      <a:pt x="796" y="627"/>
                    </a:cubicBezTo>
                    <a:cubicBezTo>
                      <a:pt x="796" y="582"/>
                      <a:pt x="832" y="545"/>
                      <a:pt x="876" y="545"/>
                    </a:cubicBezTo>
                    <a:cubicBezTo>
                      <a:pt x="882" y="545"/>
                      <a:pt x="882" y="545"/>
                      <a:pt x="882" y="545"/>
                    </a:cubicBezTo>
                    <a:cubicBezTo>
                      <a:pt x="896" y="545"/>
                      <a:pt x="907" y="533"/>
                      <a:pt x="907" y="519"/>
                    </a:cubicBezTo>
                    <a:cubicBezTo>
                      <a:pt x="907" y="504"/>
                      <a:pt x="896" y="493"/>
                      <a:pt x="882" y="493"/>
                    </a:cubicBezTo>
                    <a:cubicBezTo>
                      <a:pt x="876" y="493"/>
                      <a:pt x="876" y="493"/>
                      <a:pt x="876" y="493"/>
                    </a:cubicBezTo>
                    <a:cubicBezTo>
                      <a:pt x="832" y="493"/>
                      <a:pt x="796" y="456"/>
                      <a:pt x="796" y="411"/>
                    </a:cubicBezTo>
                    <a:cubicBezTo>
                      <a:pt x="796" y="380"/>
                      <a:pt x="796" y="380"/>
                      <a:pt x="796" y="380"/>
                    </a:cubicBezTo>
                    <a:cubicBezTo>
                      <a:pt x="796" y="335"/>
                      <a:pt x="832" y="299"/>
                      <a:pt x="876" y="299"/>
                    </a:cubicBezTo>
                    <a:cubicBezTo>
                      <a:pt x="890" y="299"/>
                      <a:pt x="902" y="287"/>
                      <a:pt x="902" y="272"/>
                    </a:cubicBezTo>
                    <a:cubicBezTo>
                      <a:pt x="902" y="258"/>
                      <a:pt x="890" y="246"/>
                      <a:pt x="876" y="246"/>
                    </a:cubicBezTo>
                    <a:cubicBezTo>
                      <a:pt x="832" y="246"/>
                      <a:pt x="796" y="210"/>
                      <a:pt x="796" y="165"/>
                    </a:cubicBezTo>
                    <a:cubicBezTo>
                      <a:pt x="796" y="134"/>
                      <a:pt x="796" y="134"/>
                      <a:pt x="796" y="134"/>
                    </a:cubicBezTo>
                    <a:cubicBezTo>
                      <a:pt x="796" y="89"/>
                      <a:pt x="832" y="52"/>
                      <a:pt x="876" y="52"/>
                    </a:cubicBezTo>
                    <a:cubicBezTo>
                      <a:pt x="890" y="52"/>
                      <a:pt x="902" y="40"/>
                      <a:pt x="902" y="26"/>
                    </a:cubicBezTo>
                    <a:cubicBezTo>
                      <a:pt x="902" y="12"/>
                      <a:pt x="890" y="0"/>
                      <a:pt x="876" y="0"/>
                    </a:cubicBezTo>
                    <a:cubicBezTo>
                      <a:pt x="875" y="0"/>
                      <a:pt x="873" y="0"/>
                      <a:pt x="871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59" y="0"/>
                      <a:pt x="0" y="60"/>
                      <a:pt x="0" y="13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208"/>
                      <a:pt x="20" y="247"/>
                      <a:pt x="54" y="272"/>
                    </a:cubicBezTo>
                    <a:cubicBezTo>
                      <a:pt x="20" y="297"/>
                      <a:pt x="0" y="337"/>
                      <a:pt x="0" y="380"/>
                    </a:cubicBezTo>
                    <a:cubicBezTo>
                      <a:pt x="0" y="411"/>
                      <a:pt x="0" y="411"/>
                      <a:pt x="0" y="411"/>
                    </a:cubicBezTo>
                    <a:cubicBezTo>
                      <a:pt x="0" y="454"/>
                      <a:pt x="20" y="494"/>
                      <a:pt x="54" y="519"/>
                    </a:cubicBezTo>
                    <a:cubicBezTo>
                      <a:pt x="20" y="544"/>
                      <a:pt x="0" y="583"/>
                      <a:pt x="0" y="627"/>
                    </a:cubicBezTo>
                    <a:cubicBezTo>
                      <a:pt x="0" y="657"/>
                      <a:pt x="0" y="657"/>
                      <a:pt x="0" y="657"/>
                    </a:cubicBezTo>
                    <a:cubicBezTo>
                      <a:pt x="0" y="731"/>
                      <a:pt x="59" y="791"/>
                      <a:pt x="132" y="791"/>
                    </a:cubicBezTo>
                    <a:cubicBezTo>
                      <a:pt x="869" y="791"/>
                      <a:pt x="869" y="791"/>
                      <a:pt x="869" y="791"/>
                    </a:cubicBezTo>
                    <a:cubicBezTo>
                      <a:pt x="870" y="791"/>
                      <a:pt x="871" y="791"/>
                      <a:pt x="871" y="791"/>
                    </a:cubicBezTo>
                    <a:cubicBezTo>
                      <a:pt x="871" y="791"/>
                      <a:pt x="871" y="791"/>
                      <a:pt x="871" y="791"/>
                    </a:cubicBezTo>
                    <a:cubicBezTo>
                      <a:pt x="873" y="791"/>
                      <a:pt x="875" y="791"/>
                      <a:pt x="876" y="791"/>
                    </a:cubicBezTo>
                    <a:cubicBezTo>
                      <a:pt x="890" y="791"/>
                      <a:pt x="902" y="780"/>
                      <a:pt x="902" y="765"/>
                    </a:cubicBezTo>
                    <a:cubicBezTo>
                      <a:pt x="902" y="751"/>
                      <a:pt x="890" y="739"/>
                      <a:pt x="876" y="739"/>
                    </a:cubicBezTo>
                    <a:close/>
                    <a:moveTo>
                      <a:pt x="772" y="246"/>
                    </a:moveTo>
                    <a:cubicBezTo>
                      <a:pt x="439" y="246"/>
                      <a:pt x="439" y="246"/>
                      <a:pt x="439" y="246"/>
                    </a:cubicBezTo>
                    <a:cubicBezTo>
                      <a:pt x="425" y="246"/>
                      <a:pt x="413" y="258"/>
                      <a:pt x="413" y="272"/>
                    </a:cubicBezTo>
                    <a:cubicBezTo>
                      <a:pt x="413" y="287"/>
                      <a:pt x="425" y="299"/>
                      <a:pt x="439" y="299"/>
                    </a:cubicBezTo>
                    <a:cubicBezTo>
                      <a:pt x="772" y="299"/>
                      <a:pt x="772" y="299"/>
                      <a:pt x="772" y="299"/>
                    </a:cubicBezTo>
                    <a:cubicBezTo>
                      <a:pt x="754" y="322"/>
                      <a:pt x="744" y="350"/>
                      <a:pt x="744" y="380"/>
                    </a:cubicBezTo>
                    <a:cubicBezTo>
                      <a:pt x="744" y="411"/>
                      <a:pt x="744" y="411"/>
                      <a:pt x="744" y="411"/>
                    </a:cubicBezTo>
                    <a:cubicBezTo>
                      <a:pt x="744" y="441"/>
                      <a:pt x="754" y="470"/>
                      <a:pt x="772" y="493"/>
                    </a:cubicBezTo>
                    <a:cubicBezTo>
                      <a:pt x="436" y="493"/>
                      <a:pt x="436" y="493"/>
                      <a:pt x="436" y="493"/>
                    </a:cubicBezTo>
                    <a:cubicBezTo>
                      <a:pt x="422" y="493"/>
                      <a:pt x="411" y="504"/>
                      <a:pt x="411" y="519"/>
                    </a:cubicBezTo>
                    <a:cubicBezTo>
                      <a:pt x="411" y="533"/>
                      <a:pt x="422" y="545"/>
                      <a:pt x="436" y="545"/>
                    </a:cubicBezTo>
                    <a:cubicBezTo>
                      <a:pt x="772" y="545"/>
                      <a:pt x="772" y="545"/>
                      <a:pt x="772" y="545"/>
                    </a:cubicBezTo>
                    <a:cubicBezTo>
                      <a:pt x="754" y="568"/>
                      <a:pt x="744" y="597"/>
                      <a:pt x="744" y="627"/>
                    </a:cubicBezTo>
                    <a:cubicBezTo>
                      <a:pt x="744" y="657"/>
                      <a:pt x="744" y="657"/>
                      <a:pt x="744" y="657"/>
                    </a:cubicBezTo>
                    <a:cubicBezTo>
                      <a:pt x="744" y="687"/>
                      <a:pt x="754" y="716"/>
                      <a:pt x="772" y="739"/>
                    </a:cubicBezTo>
                    <a:cubicBezTo>
                      <a:pt x="132" y="739"/>
                      <a:pt x="132" y="739"/>
                      <a:pt x="132" y="739"/>
                    </a:cubicBezTo>
                    <a:cubicBezTo>
                      <a:pt x="88" y="739"/>
                      <a:pt x="51" y="702"/>
                      <a:pt x="51" y="657"/>
                    </a:cubicBezTo>
                    <a:cubicBezTo>
                      <a:pt x="51" y="627"/>
                      <a:pt x="51" y="627"/>
                      <a:pt x="51" y="627"/>
                    </a:cubicBezTo>
                    <a:cubicBezTo>
                      <a:pt x="51" y="582"/>
                      <a:pt x="88" y="545"/>
                      <a:pt x="132" y="545"/>
                    </a:cubicBezTo>
                    <a:cubicBezTo>
                      <a:pt x="163" y="545"/>
                      <a:pt x="163" y="545"/>
                      <a:pt x="163" y="545"/>
                    </a:cubicBezTo>
                    <a:cubicBezTo>
                      <a:pt x="178" y="545"/>
                      <a:pt x="189" y="533"/>
                      <a:pt x="189" y="519"/>
                    </a:cubicBezTo>
                    <a:cubicBezTo>
                      <a:pt x="189" y="504"/>
                      <a:pt x="178" y="493"/>
                      <a:pt x="163" y="493"/>
                    </a:cubicBezTo>
                    <a:cubicBezTo>
                      <a:pt x="132" y="493"/>
                      <a:pt x="132" y="493"/>
                      <a:pt x="132" y="493"/>
                    </a:cubicBezTo>
                    <a:cubicBezTo>
                      <a:pt x="88" y="493"/>
                      <a:pt x="51" y="456"/>
                      <a:pt x="51" y="411"/>
                    </a:cubicBezTo>
                    <a:cubicBezTo>
                      <a:pt x="51" y="380"/>
                      <a:pt x="51" y="380"/>
                      <a:pt x="51" y="380"/>
                    </a:cubicBezTo>
                    <a:cubicBezTo>
                      <a:pt x="51" y="335"/>
                      <a:pt x="88" y="299"/>
                      <a:pt x="132" y="299"/>
                    </a:cubicBezTo>
                    <a:cubicBezTo>
                      <a:pt x="163" y="299"/>
                      <a:pt x="163" y="299"/>
                      <a:pt x="163" y="299"/>
                    </a:cubicBezTo>
                    <a:cubicBezTo>
                      <a:pt x="178" y="299"/>
                      <a:pt x="189" y="287"/>
                      <a:pt x="189" y="272"/>
                    </a:cubicBezTo>
                    <a:cubicBezTo>
                      <a:pt x="189" y="258"/>
                      <a:pt x="178" y="246"/>
                      <a:pt x="163" y="246"/>
                    </a:cubicBezTo>
                    <a:cubicBezTo>
                      <a:pt x="132" y="246"/>
                      <a:pt x="132" y="246"/>
                      <a:pt x="132" y="246"/>
                    </a:cubicBezTo>
                    <a:cubicBezTo>
                      <a:pt x="88" y="246"/>
                      <a:pt x="51" y="210"/>
                      <a:pt x="51" y="165"/>
                    </a:cubicBezTo>
                    <a:cubicBezTo>
                      <a:pt x="51" y="134"/>
                      <a:pt x="51" y="134"/>
                      <a:pt x="51" y="134"/>
                    </a:cubicBezTo>
                    <a:cubicBezTo>
                      <a:pt x="51" y="89"/>
                      <a:pt x="88" y="52"/>
                      <a:pt x="132" y="52"/>
                    </a:cubicBezTo>
                    <a:cubicBezTo>
                      <a:pt x="772" y="52"/>
                      <a:pt x="772" y="52"/>
                      <a:pt x="772" y="52"/>
                    </a:cubicBezTo>
                    <a:cubicBezTo>
                      <a:pt x="754" y="75"/>
                      <a:pt x="744" y="104"/>
                      <a:pt x="744" y="134"/>
                    </a:cubicBezTo>
                    <a:cubicBezTo>
                      <a:pt x="744" y="165"/>
                      <a:pt x="744" y="165"/>
                      <a:pt x="744" y="165"/>
                    </a:cubicBezTo>
                    <a:cubicBezTo>
                      <a:pt x="744" y="195"/>
                      <a:pt x="754" y="223"/>
                      <a:pt x="772" y="2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>
                <a:spLocks noEditPoints="1"/>
              </p:cNvSpPr>
              <p:nvPr/>
            </p:nvSpPr>
            <p:spPr bwMode="auto">
              <a:xfrm>
                <a:off x="542" y="2923"/>
                <a:ext cx="187" cy="507"/>
              </a:xfrm>
              <a:custGeom>
                <a:avLst/>
                <a:gdLst>
                  <a:gd name="T0" fmla="*/ 171 w 196"/>
                  <a:gd name="T1" fmla="*/ 0 h 529"/>
                  <a:gd name="T2" fmla="*/ 26 w 196"/>
                  <a:gd name="T3" fmla="*/ 0 h 529"/>
                  <a:gd name="T4" fmla="*/ 0 w 196"/>
                  <a:gd name="T5" fmla="*/ 26 h 529"/>
                  <a:gd name="T6" fmla="*/ 0 w 196"/>
                  <a:gd name="T7" fmla="*/ 502 h 529"/>
                  <a:gd name="T8" fmla="*/ 2 w 196"/>
                  <a:gd name="T9" fmla="*/ 512 h 529"/>
                  <a:gd name="T10" fmla="*/ 16 w 196"/>
                  <a:gd name="T11" fmla="*/ 526 h 529"/>
                  <a:gd name="T12" fmla="*/ 36 w 196"/>
                  <a:gd name="T13" fmla="*/ 526 h 529"/>
                  <a:gd name="T14" fmla="*/ 44 w 196"/>
                  <a:gd name="T15" fmla="*/ 520 h 529"/>
                  <a:gd name="T16" fmla="*/ 98 w 196"/>
                  <a:gd name="T17" fmla="*/ 466 h 529"/>
                  <a:gd name="T18" fmla="*/ 152 w 196"/>
                  <a:gd name="T19" fmla="*/ 520 h 529"/>
                  <a:gd name="T20" fmla="*/ 161 w 196"/>
                  <a:gd name="T21" fmla="*/ 526 h 529"/>
                  <a:gd name="T22" fmla="*/ 171 w 196"/>
                  <a:gd name="T23" fmla="*/ 528 h 529"/>
                  <a:gd name="T24" fmla="*/ 180 w 196"/>
                  <a:gd name="T25" fmla="*/ 526 h 529"/>
                  <a:gd name="T26" fmla="*/ 194 w 196"/>
                  <a:gd name="T27" fmla="*/ 512 h 529"/>
                  <a:gd name="T28" fmla="*/ 196 w 196"/>
                  <a:gd name="T29" fmla="*/ 502 h 529"/>
                  <a:gd name="T30" fmla="*/ 196 w 196"/>
                  <a:gd name="T31" fmla="*/ 26 h 529"/>
                  <a:gd name="T32" fmla="*/ 171 w 196"/>
                  <a:gd name="T33" fmla="*/ 0 h 529"/>
                  <a:gd name="T34" fmla="*/ 145 w 196"/>
                  <a:gd name="T35" fmla="*/ 439 h 529"/>
                  <a:gd name="T36" fmla="*/ 117 w 196"/>
                  <a:gd name="T37" fmla="*/ 410 h 529"/>
                  <a:gd name="T38" fmla="*/ 80 w 196"/>
                  <a:gd name="T39" fmla="*/ 410 h 529"/>
                  <a:gd name="T40" fmla="*/ 52 w 196"/>
                  <a:gd name="T41" fmla="*/ 439 h 529"/>
                  <a:gd name="T42" fmla="*/ 52 w 196"/>
                  <a:gd name="T43" fmla="*/ 53 h 529"/>
                  <a:gd name="T44" fmla="*/ 145 w 196"/>
                  <a:gd name="T45" fmla="*/ 53 h 529"/>
                  <a:gd name="T46" fmla="*/ 145 w 196"/>
                  <a:gd name="T47" fmla="*/ 439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6" h="529">
                    <a:moveTo>
                      <a:pt x="171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05"/>
                      <a:pt x="1" y="509"/>
                      <a:pt x="2" y="512"/>
                    </a:cubicBezTo>
                    <a:cubicBezTo>
                      <a:pt x="5" y="518"/>
                      <a:pt x="10" y="523"/>
                      <a:pt x="16" y="526"/>
                    </a:cubicBezTo>
                    <a:cubicBezTo>
                      <a:pt x="23" y="529"/>
                      <a:pt x="30" y="529"/>
                      <a:pt x="36" y="526"/>
                    </a:cubicBezTo>
                    <a:cubicBezTo>
                      <a:pt x="39" y="525"/>
                      <a:pt x="42" y="523"/>
                      <a:pt x="44" y="520"/>
                    </a:cubicBezTo>
                    <a:cubicBezTo>
                      <a:pt x="98" y="466"/>
                      <a:pt x="98" y="466"/>
                      <a:pt x="98" y="466"/>
                    </a:cubicBezTo>
                    <a:cubicBezTo>
                      <a:pt x="152" y="520"/>
                      <a:pt x="152" y="520"/>
                      <a:pt x="152" y="520"/>
                    </a:cubicBezTo>
                    <a:cubicBezTo>
                      <a:pt x="155" y="523"/>
                      <a:pt x="158" y="525"/>
                      <a:pt x="161" y="526"/>
                    </a:cubicBezTo>
                    <a:cubicBezTo>
                      <a:pt x="164" y="527"/>
                      <a:pt x="167" y="528"/>
                      <a:pt x="171" y="528"/>
                    </a:cubicBezTo>
                    <a:cubicBezTo>
                      <a:pt x="174" y="528"/>
                      <a:pt x="177" y="527"/>
                      <a:pt x="180" y="526"/>
                    </a:cubicBezTo>
                    <a:cubicBezTo>
                      <a:pt x="187" y="523"/>
                      <a:pt x="192" y="518"/>
                      <a:pt x="194" y="512"/>
                    </a:cubicBezTo>
                    <a:cubicBezTo>
                      <a:pt x="196" y="509"/>
                      <a:pt x="196" y="505"/>
                      <a:pt x="196" y="502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6" y="12"/>
                      <a:pt x="185" y="0"/>
                      <a:pt x="171" y="0"/>
                    </a:cubicBezTo>
                    <a:close/>
                    <a:moveTo>
                      <a:pt x="145" y="439"/>
                    </a:moveTo>
                    <a:cubicBezTo>
                      <a:pt x="117" y="410"/>
                      <a:pt x="117" y="410"/>
                      <a:pt x="117" y="410"/>
                    </a:cubicBezTo>
                    <a:cubicBezTo>
                      <a:pt x="107" y="400"/>
                      <a:pt x="90" y="400"/>
                      <a:pt x="80" y="410"/>
                    </a:cubicBezTo>
                    <a:cubicBezTo>
                      <a:pt x="52" y="439"/>
                      <a:pt x="52" y="439"/>
                      <a:pt x="52" y="439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145" y="53"/>
                      <a:pt x="145" y="53"/>
                      <a:pt x="145" y="53"/>
                    </a:cubicBezTo>
                    <a:lnTo>
                      <a:pt x="145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7" name="Freeform 1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>
              <a:spLocks noEditPoints="1"/>
            </p:cNvSpPr>
            <p:nvPr/>
          </p:nvSpPr>
          <p:spPr bwMode="auto">
            <a:xfrm>
              <a:off x="4870009" y="2670864"/>
              <a:ext cx="538588" cy="609829"/>
            </a:xfrm>
            <a:custGeom>
              <a:avLst/>
              <a:gdLst>
                <a:gd name="T0" fmla="*/ 41 w 706"/>
                <a:gd name="T1" fmla="*/ 680 h 800"/>
                <a:gd name="T2" fmla="*/ 39 w 706"/>
                <a:gd name="T3" fmla="*/ 273 h 800"/>
                <a:gd name="T4" fmla="*/ 243 w 706"/>
                <a:gd name="T5" fmla="*/ 109 h 800"/>
                <a:gd name="T6" fmla="*/ 237 w 706"/>
                <a:gd name="T7" fmla="*/ 90 h 800"/>
                <a:gd name="T8" fmla="*/ 545 w 706"/>
                <a:gd name="T9" fmla="*/ 40 h 800"/>
                <a:gd name="T10" fmla="*/ 600 w 706"/>
                <a:gd name="T11" fmla="*/ 95 h 800"/>
                <a:gd name="T12" fmla="*/ 640 w 706"/>
                <a:gd name="T13" fmla="*/ 231 h 800"/>
                <a:gd name="T14" fmla="*/ 611 w 706"/>
                <a:gd name="T15" fmla="*/ 28 h 800"/>
                <a:gd name="T16" fmla="*/ 600 w 706"/>
                <a:gd name="T17" fmla="*/ 17 h 800"/>
                <a:gd name="T18" fmla="*/ 586 w 706"/>
                <a:gd name="T19" fmla="*/ 10 h 800"/>
                <a:gd name="T20" fmla="*/ 570 w 706"/>
                <a:gd name="T21" fmla="*/ 3 h 800"/>
                <a:gd name="T22" fmla="*/ 554 w 706"/>
                <a:gd name="T23" fmla="*/ 0 h 800"/>
                <a:gd name="T24" fmla="*/ 127 w 706"/>
                <a:gd name="T25" fmla="*/ 0 h 800"/>
                <a:gd name="T26" fmla="*/ 122 w 706"/>
                <a:gd name="T27" fmla="*/ 1 h 800"/>
                <a:gd name="T28" fmla="*/ 115 w 706"/>
                <a:gd name="T29" fmla="*/ 4 h 800"/>
                <a:gd name="T30" fmla="*/ 109 w 706"/>
                <a:gd name="T31" fmla="*/ 14 h 800"/>
                <a:gd name="T32" fmla="*/ 0 w 706"/>
                <a:gd name="T33" fmla="*/ 288 h 800"/>
                <a:gd name="T34" fmla="*/ 28 w 706"/>
                <a:gd name="T35" fmla="*/ 732 h 800"/>
                <a:gd name="T36" fmla="*/ 199 w 706"/>
                <a:gd name="T37" fmla="*/ 760 h 800"/>
                <a:gd name="T38" fmla="*/ 94 w 706"/>
                <a:gd name="T39" fmla="*/ 720 h 800"/>
                <a:gd name="T40" fmla="*/ 47 w 706"/>
                <a:gd name="T41" fmla="*/ 693 h 800"/>
                <a:gd name="T42" fmla="*/ 480 w 706"/>
                <a:gd name="T43" fmla="*/ 320 h 800"/>
                <a:gd name="T44" fmla="*/ 146 w 706"/>
                <a:gd name="T45" fmla="*/ 360 h 800"/>
                <a:gd name="T46" fmla="*/ 400 w 706"/>
                <a:gd name="T47" fmla="*/ 413 h 800"/>
                <a:gd name="T48" fmla="*/ 146 w 706"/>
                <a:gd name="T49" fmla="*/ 453 h 800"/>
                <a:gd name="T50" fmla="*/ 400 w 706"/>
                <a:gd name="T51" fmla="*/ 413 h 800"/>
                <a:gd name="T52" fmla="*/ 306 w 706"/>
                <a:gd name="T53" fmla="*/ 547 h 800"/>
                <a:gd name="T54" fmla="*/ 146 w 706"/>
                <a:gd name="T55" fmla="*/ 507 h 800"/>
                <a:gd name="T56" fmla="*/ 146 w 706"/>
                <a:gd name="T57" fmla="*/ 227 h 800"/>
                <a:gd name="T58" fmla="*/ 533 w 706"/>
                <a:gd name="T59" fmla="*/ 267 h 800"/>
                <a:gd name="T60" fmla="*/ 146 w 706"/>
                <a:gd name="T61" fmla="*/ 227 h 800"/>
                <a:gd name="T62" fmla="*/ 339 w 706"/>
                <a:gd name="T63" fmla="*/ 591 h 800"/>
                <a:gd name="T64" fmla="*/ 603 w 706"/>
                <a:gd name="T65" fmla="*/ 337 h 800"/>
                <a:gd name="T66" fmla="*/ 638 w 706"/>
                <a:gd name="T67" fmla="*/ 337 h 800"/>
                <a:gd name="T68" fmla="*/ 693 w 706"/>
                <a:gd name="T69" fmla="*/ 385 h 800"/>
                <a:gd name="T70" fmla="*/ 693 w 706"/>
                <a:gd name="T71" fmla="*/ 450 h 800"/>
                <a:gd name="T72" fmla="*/ 339 w 706"/>
                <a:gd name="T73" fmla="*/ 591 h 800"/>
                <a:gd name="T74" fmla="*/ 270 w 706"/>
                <a:gd name="T75" fmla="*/ 658 h 800"/>
                <a:gd name="T76" fmla="*/ 226 w 706"/>
                <a:gd name="T77" fmla="*/ 800 h 800"/>
                <a:gd name="T78" fmla="*/ 414 w 706"/>
                <a:gd name="T79" fmla="*/ 723 h 800"/>
                <a:gd name="T80" fmla="*/ 594 w 706"/>
                <a:gd name="T81" fmla="*/ 703 h 800"/>
                <a:gd name="T82" fmla="*/ 460 w 706"/>
                <a:gd name="T83" fmla="*/ 719 h 800"/>
                <a:gd name="T84" fmla="*/ 553 w 706"/>
                <a:gd name="T85" fmla="*/ 760 h 800"/>
                <a:gd name="T86" fmla="*/ 653 w 706"/>
                <a:gd name="T87" fmla="*/ 663 h 800"/>
                <a:gd name="T88" fmla="*/ 611 w 706"/>
                <a:gd name="T89" fmla="*/ 587 h 800"/>
                <a:gd name="T90" fmla="*/ 594 w 706"/>
                <a:gd name="T91" fmla="*/ 703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6" h="800">
                  <a:moveTo>
                    <a:pt x="47" y="693"/>
                  </a:moveTo>
                  <a:cubicBezTo>
                    <a:pt x="44" y="689"/>
                    <a:pt x="43" y="684"/>
                    <a:pt x="41" y="680"/>
                  </a:cubicBezTo>
                  <a:cubicBezTo>
                    <a:pt x="40" y="675"/>
                    <a:pt x="39" y="670"/>
                    <a:pt x="39" y="665"/>
                  </a:cubicBezTo>
                  <a:cubicBezTo>
                    <a:pt x="39" y="273"/>
                    <a:pt x="39" y="273"/>
                    <a:pt x="39" y="273"/>
                  </a:cubicBezTo>
                  <a:cubicBezTo>
                    <a:pt x="238" y="119"/>
                    <a:pt x="238" y="119"/>
                    <a:pt x="238" y="119"/>
                  </a:cubicBezTo>
                  <a:cubicBezTo>
                    <a:pt x="241" y="115"/>
                    <a:pt x="243" y="112"/>
                    <a:pt x="243" y="109"/>
                  </a:cubicBezTo>
                  <a:cubicBezTo>
                    <a:pt x="244" y="105"/>
                    <a:pt x="244" y="102"/>
                    <a:pt x="242" y="98"/>
                  </a:cubicBezTo>
                  <a:cubicBezTo>
                    <a:pt x="241" y="95"/>
                    <a:pt x="239" y="92"/>
                    <a:pt x="237" y="9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545" y="40"/>
                    <a:pt x="545" y="40"/>
                    <a:pt x="545" y="40"/>
                  </a:cubicBezTo>
                  <a:cubicBezTo>
                    <a:pt x="560" y="40"/>
                    <a:pt x="573" y="45"/>
                    <a:pt x="584" y="56"/>
                  </a:cubicBezTo>
                  <a:cubicBezTo>
                    <a:pt x="595" y="67"/>
                    <a:pt x="600" y="80"/>
                    <a:pt x="600" y="95"/>
                  </a:cubicBezTo>
                  <a:cubicBezTo>
                    <a:pt x="600" y="270"/>
                    <a:pt x="600" y="270"/>
                    <a:pt x="600" y="270"/>
                  </a:cubicBezTo>
                  <a:cubicBezTo>
                    <a:pt x="640" y="231"/>
                    <a:pt x="640" y="231"/>
                    <a:pt x="640" y="231"/>
                  </a:cubicBezTo>
                  <a:cubicBezTo>
                    <a:pt x="640" y="95"/>
                    <a:pt x="640" y="95"/>
                    <a:pt x="640" y="95"/>
                  </a:cubicBezTo>
                  <a:cubicBezTo>
                    <a:pt x="640" y="69"/>
                    <a:pt x="630" y="47"/>
                    <a:pt x="611" y="28"/>
                  </a:cubicBezTo>
                  <a:cubicBezTo>
                    <a:pt x="609" y="26"/>
                    <a:pt x="607" y="24"/>
                    <a:pt x="606" y="22"/>
                  </a:cubicBezTo>
                  <a:cubicBezTo>
                    <a:pt x="604" y="21"/>
                    <a:pt x="602" y="19"/>
                    <a:pt x="600" y="17"/>
                  </a:cubicBezTo>
                  <a:cubicBezTo>
                    <a:pt x="592" y="13"/>
                    <a:pt x="592" y="13"/>
                    <a:pt x="592" y="13"/>
                  </a:cubicBezTo>
                  <a:cubicBezTo>
                    <a:pt x="590" y="11"/>
                    <a:pt x="588" y="10"/>
                    <a:pt x="586" y="10"/>
                  </a:cubicBezTo>
                  <a:cubicBezTo>
                    <a:pt x="578" y="6"/>
                    <a:pt x="578" y="6"/>
                    <a:pt x="578" y="6"/>
                  </a:cubicBezTo>
                  <a:cubicBezTo>
                    <a:pt x="576" y="5"/>
                    <a:pt x="573" y="4"/>
                    <a:pt x="570" y="3"/>
                  </a:cubicBezTo>
                  <a:cubicBezTo>
                    <a:pt x="567" y="2"/>
                    <a:pt x="565" y="2"/>
                    <a:pt x="562" y="1"/>
                  </a:cubicBezTo>
                  <a:cubicBezTo>
                    <a:pt x="559" y="1"/>
                    <a:pt x="557" y="1"/>
                    <a:pt x="554" y="0"/>
                  </a:cubicBezTo>
                  <a:cubicBezTo>
                    <a:pt x="551" y="0"/>
                    <a:pt x="548" y="0"/>
                    <a:pt x="54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0" y="2"/>
                    <a:pt x="118" y="2"/>
                    <a:pt x="118" y="2"/>
                  </a:cubicBezTo>
                  <a:cubicBezTo>
                    <a:pt x="117" y="3"/>
                    <a:pt x="116" y="3"/>
                    <a:pt x="115" y="4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2"/>
                    <a:pt x="109" y="13"/>
                    <a:pt x="109" y="14"/>
                  </a:cubicBezTo>
                  <a:cubicBezTo>
                    <a:pt x="2" y="280"/>
                    <a:pt x="2" y="280"/>
                    <a:pt x="2" y="280"/>
                  </a:cubicBezTo>
                  <a:cubicBezTo>
                    <a:pt x="0" y="283"/>
                    <a:pt x="0" y="285"/>
                    <a:pt x="0" y="288"/>
                  </a:cubicBezTo>
                  <a:cubicBezTo>
                    <a:pt x="0" y="665"/>
                    <a:pt x="0" y="665"/>
                    <a:pt x="0" y="665"/>
                  </a:cubicBezTo>
                  <a:cubicBezTo>
                    <a:pt x="0" y="691"/>
                    <a:pt x="9" y="713"/>
                    <a:pt x="28" y="732"/>
                  </a:cubicBezTo>
                  <a:cubicBezTo>
                    <a:pt x="46" y="751"/>
                    <a:pt x="68" y="760"/>
                    <a:pt x="94" y="760"/>
                  </a:cubicBezTo>
                  <a:cubicBezTo>
                    <a:pt x="199" y="760"/>
                    <a:pt x="199" y="760"/>
                    <a:pt x="199" y="760"/>
                  </a:cubicBezTo>
                  <a:cubicBezTo>
                    <a:pt x="214" y="720"/>
                    <a:pt x="214" y="720"/>
                    <a:pt x="214" y="720"/>
                  </a:cubicBezTo>
                  <a:cubicBezTo>
                    <a:pt x="94" y="720"/>
                    <a:pt x="94" y="720"/>
                    <a:pt x="94" y="720"/>
                  </a:cubicBezTo>
                  <a:cubicBezTo>
                    <a:pt x="79" y="720"/>
                    <a:pt x="66" y="715"/>
                    <a:pt x="56" y="704"/>
                  </a:cubicBezTo>
                  <a:cubicBezTo>
                    <a:pt x="52" y="700"/>
                    <a:pt x="50" y="696"/>
                    <a:pt x="47" y="693"/>
                  </a:cubicBezTo>
                  <a:close/>
                  <a:moveTo>
                    <a:pt x="146" y="320"/>
                  </a:moveTo>
                  <a:cubicBezTo>
                    <a:pt x="480" y="320"/>
                    <a:pt x="480" y="320"/>
                    <a:pt x="480" y="320"/>
                  </a:cubicBezTo>
                  <a:cubicBezTo>
                    <a:pt x="480" y="360"/>
                    <a:pt x="480" y="360"/>
                    <a:pt x="480" y="360"/>
                  </a:cubicBezTo>
                  <a:cubicBezTo>
                    <a:pt x="146" y="360"/>
                    <a:pt x="146" y="360"/>
                    <a:pt x="146" y="360"/>
                  </a:cubicBezTo>
                  <a:cubicBezTo>
                    <a:pt x="146" y="320"/>
                    <a:pt x="146" y="320"/>
                    <a:pt x="146" y="320"/>
                  </a:cubicBezTo>
                  <a:close/>
                  <a:moveTo>
                    <a:pt x="400" y="413"/>
                  </a:moveTo>
                  <a:cubicBezTo>
                    <a:pt x="400" y="453"/>
                    <a:pt x="400" y="453"/>
                    <a:pt x="400" y="453"/>
                  </a:cubicBezTo>
                  <a:cubicBezTo>
                    <a:pt x="146" y="453"/>
                    <a:pt x="146" y="453"/>
                    <a:pt x="146" y="453"/>
                  </a:cubicBezTo>
                  <a:cubicBezTo>
                    <a:pt x="146" y="413"/>
                    <a:pt x="146" y="413"/>
                    <a:pt x="146" y="413"/>
                  </a:cubicBezTo>
                  <a:lnTo>
                    <a:pt x="400" y="413"/>
                  </a:lnTo>
                  <a:close/>
                  <a:moveTo>
                    <a:pt x="306" y="507"/>
                  </a:moveTo>
                  <a:cubicBezTo>
                    <a:pt x="306" y="547"/>
                    <a:pt x="306" y="547"/>
                    <a:pt x="306" y="547"/>
                  </a:cubicBezTo>
                  <a:cubicBezTo>
                    <a:pt x="146" y="547"/>
                    <a:pt x="146" y="547"/>
                    <a:pt x="146" y="547"/>
                  </a:cubicBezTo>
                  <a:cubicBezTo>
                    <a:pt x="146" y="507"/>
                    <a:pt x="146" y="507"/>
                    <a:pt x="146" y="507"/>
                  </a:cubicBezTo>
                  <a:lnTo>
                    <a:pt x="306" y="507"/>
                  </a:lnTo>
                  <a:close/>
                  <a:moveTo>
                    <a:pt x="146" y="227"/>
                  </a:moveTo>
                  <a:cubicBezTo>
                    <a:pt x="533" y="227"/>
                    <a:pt x="533" y="227"/>
                    <a:pt x="533" y="227"/>
                  </a:cubicBezTo>
                  <a:cubicBezTo>
                    <a:pt x="533" y="267"/>
                    <a:pt x="533" y="267"/>
                    <a:pt x="533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6" y="227"/>
                    <a:pt x="146" y="227"/>
                    <a:pt x="146" y="227"/>
                  </a:cubicBezTo>
                  <a:cubicBezTo>
                    <a:pt x="146" y="227"/>
                    <a:pt x="146" y="227"/>
                    <a:pt x="146" y="227"/>
                  </a:cubicBezTo>
                  <a:close/>
                  <a:moveTo>
                    <a:pt x="339" y="591"/>
                  </a:moveTo>
                  <a:cubicBezTo>
                    <a:pt x="588" y="347"/>
                    <a:pt x="588" y="347"/>
                    <a:pt x="588" y="347"/>
                  </a:cubicBezTo>
                  <a:cubicBezTo>
                    <a:pt x="592" y="342"/>
                    <a:pt x="597" y="339"/>
                    <a:pt x="603" y="337"/>
                  </a:cubicBezTo>
                  <a:cubicBezTo>
                    <a:pt x="609" y="334"/>
                    <a:pt x="615" y="333"/>
                    <a:pt x="621" y="333"/>
                  </a:cubicBezTo>
                  <a:cubicBezTo>
                    <a:pt x="627" y="333"/>
                    <a:pt x="632" y="335"/>
                    <a:pt x="638" y="337"/>
                  </a:cubicBezTo>
                  <a:cubicBezTo>
                    <a:pt x="644" y="339"/>
                    <a:pt x="649" y="343"/>
                    <a:pt x="653" y="347"/>
                  </a:cubicBezTo>
                  <a:cubicBezTo>
                    <a:pt x="693" y="385"/>
                    <a:pt x="693" y="385"/>
                    <a:pt x="693" y="385"/>
                  </a:cubicBezTo>
                  <a:cubicBezTo>
                    <a:pt x="702" y="394"/>
                    <a:pt x="706" y="405"/>
                    <a:pt x="706" y="418"/>
                  </a:cubicBezTo>
                  <a:cubicBezTo>
                    <a:pt x="706" y="430"/>
                    <a:pt x="702" y="441"/>
                    <a:pt x="693" y="450"/>
                  </a:cubicBezTo>
                  <a:cubicBezTo>
                    <a:pt x="443" y="695"/>
                    <a:pt x="443" y="695"/>
                    <a:pt x="443" y="695"/>
                  </a:cubicBezTo>
                  <a:lnTo>
                    <a:pt x="339" y="591"/>
                  </a:lnTo>
                  <a:close/>
                  <a:moveTo>
                    <a:pt x="310" y="619"/>
                  </a:moveTo>
                  <a:cubicBezTo>
                    <a:pt x="270" y="658"/>
                    <a:pt x="270" y="658"/>
                    <a:pt x="270" y="658"/>
                  </a:cubicBezTo>
                  <a:cubicBezTo>
                    <a:pt x="232" y="782"/>
                    <a:pt x="232" y="782"/>
                    <a:pt x="232" y="782"/>
                  </a:cubicBezTo>
                  <a:cubicBezTo>
                    <a:pt x="226" y="800"/>
                    <a:pt x="226" y="800"/>
                    <a:pt x="226" y="800"/>
                  </a:cubicBezTo>
                  <a:cubicBezTo>
                    <a:pt x="377" y="760"/>
                    <a:pt x="377" y="760"/>
                    <a:pt x="377" y="760"/>
                  </a:cubicBezTo>
                  <a:cubicBezTo>
                    <a:pt x="414" y="723"/>
                    <a:pt x="414" y="723"/>
                    <a:pt x="414" y="723"/>
                  </a:cubicBezTo>
                  <a:lnTo>
                    <a:pt x="310" y="619"/>
                  </a:lnTo>
                  <a:close/>
                  <a:moveTo>
                    <a:pt x="594" y="703"/>
                  </a:moveTo>
                  <a:cubicBezTo>
                    <a:pt x="583" y="714"/>
                    <a:pt x="569" y="719"/>
                    <a:pt x="553" y="719"/>
                  </a:cubicBezTo>
                  <a:cubicBezTo>
                    <a:pt x="460" y="719"/>
                    <a:pt x="460" y="719"/>
                    <a:pt x="460" y="719"/>
                  </a:cubicBezTo>
                  <a:cubicBezTo>
                    <a:pt x="440" y="760"/>
                    <a:pt x="440" y="760"/>
                    <a:pt x="440" y="760"/>
                  </a:cubicBezTo>
                  <a:cubicBezTo>
                    <a:pt x="553" y="760"/>
                    <a:pt x="553" y="760"/>
                    <a:pt x="553" y="760"/>
                  </a:cubicBezTo>
                  <a:cubicBezTo>
                    <a:pt x="580" y="760"/>
                    <a:pt x="604" y="750"/>
                    <a:pt x="624" y="731"/>
                  </a:cubicBezTo>
                  <a:cubicBezTo>
                    <a:pt x="643" y="712"/>
                    <a:pt x="653" y="689"/>
                    <a:pt x="653" y="663"/>
                  </a:cubicBezTo>
                  <a:cubicBezTo>
                    <a:pt x="653" y="547"/>
                    <a:pt x="653" y="547"/>
                    <a:pt x="653" y="547"/>
                  </a:cubicBezTo>
                  <a:cubicBezTo>
                    <a:pt x="611" y="587"/>
                    <a:pt x="611" y="587"/>
                    <a:pt x="611" y="587"/>
                  </a:cubicBezTo>
                  <a:cubicBezTo>
                    <a:pt x="611" y="663"/>
                    <a:pt x="611" y="663"/>
                    <a:pt x="611" y="663"/>
                  </a:cubicBezTo>
                  <a:cubicBezTo>
                    <a:pt x="611" y="678"/>
                    <a:pt x="605" y="692"/>
                    <a:pt x="594" y="70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>
              <a:spLocks noEditPoints="1"/>
            </p:cNvSpPr>
            <p:nvPr/>
          </p:nvSpPr>
          <p:spPr bwMode="auto">
            <a:xfrm>
              <a:off x="3671033" y="2672763"/>
              <a:ext cx="619328" cy="607930"/>
            </a:xfrm>
            <a:custGeom>
              <a:avLst/>
              <a:gdLst>
                <a:gd name="T0" fmla="*/ 716 w 727"/>
                <a:gd name="T1" fmla="*/ 677 h 714"/>
                <a:gd name="T2" fmla="*/ 690 w 727"/>
                <a:gd name="T3" fmla="*/ 703 h 714"/>
                <a:gd name="T4" fmla="*/ 652 w 727"/>
                <a:gd name="T5" fmla="*/ 703 h 714"/>
                <a:gd name="T6" fmla="*/ 546 w 727"/>
                <a:gd name="T7" fmla="*/ 597 h 714"/>
                <a:gd name="T8" fmla="*/ 459 w 727"/>
                <a:gd name="T9" fmla="*/ 620 h 714"/>
                <a:gd name="T10" fmla="*/ 280 w 727"/>
                <a:gd name="T11" fmla="*/ 441 h 714"/>
                <a:gd name="T12" fmla="*/ 453 w 727"/>
                <a:gd name="T13" fmla="*/ 268 h 714"/>
                <a:gd name="T14" fmla="*/ 632 w 727"/>
                <a:gd name="T15" fmla="*/ 447 h 714"/>
                <a:gd name="T16" fmla="*/ 607 w 727"/>
                <a:gd name="T17" fmla="*/ 537 h 714"/>
                <a:gd name="T18" fmla="*/ 712 w 727"/>
                <a:gd name="T19" fmla="*/ 643 h 714"/>
                <a:gd name="T20" fmla="*/ 716 w 727"/>
                <a:gd name="T21" fmla="*/ 677 h 714"/>
                <a:gd name="T22" fmla="*/ 453 w 727"/>
                <a:gd name="T23" fmla="*/ 321 h 714"/>
                <a:gd name="T24" fmla="*/ 334 w 727"/>
                <a:gd name="T25" fmla="*/ 441 h 714"/>
                <a:gd name="T26" fmla="*/ 459 w 727"/>
                <a:gd name="T27" fmla="*/ 567 h 714"/>
                <a:gd name="T28" fmla="*/ 579 w 727"/>
                <a:gd name="T29" fmla="*/ 447 h 714"/>
                <a:gd name="T30" fmla="*/ 453 w 727"/>
                <a:gd name="T31" fmla="*/ 321 h 714"/>
                <a:gd name="T32" fmla="*/ 86 w 727"/>
                <a:gd name="T33" fmla="*/ 485 h 714"/>
                <a:gd name="T34" fmla="*/ 86 w 727"/>
                <a:gd name="T35" fmla="*/ 457 h 714"/>
                <a:gd name="T36" fmla="*/ 215 w 727"/>
                <a:gd name="T37" fmla="*/ 457 h 714"/>
                <a:gd name="T38" fmla="*/ 217 w 727"/>
                <a:gd name="T39" fmla="*/ 485 h 714"/>
                <a:gd name="T40" fmla="*/ 86 w 727"/>
                <a:gd name="T41" fmla="*/ 485 h 714"/>
                <a:gd name="T42" fmla="*/ 86 w 727"/>
                <a:gd name="T43" fmla="*/ 371 h 714"/>
                <a:gd name="T44" fmla="*/ 228 w 727"/>
                <a:gd name="T45" fmla="*/ 371 h 714"/>
                <a:gd name="T46" fmla="*/ 220 w 727"/>
                <a:gd name="T47" fmla="*/ 400 h 714"/>
                <a:gd name="T48" fmla="*/ 86 w 727"/>
                <a:gd name="T49" fmla="*/ 400 h 714"/>
                <a:gd name="T50" fmla="*/ 86 w 727"/>
                <a:gd name="T51" fmla="*/ 371 h 714"/>
                <a:gd name="T52" fmla="*/ 86 w 727"/>
                <a:gd name="T53" fmla="*/ 314 h 714"/>
                <a:gd name="T54" fmla="*/ 86 w 727"/>
                <a:gd name="T55" fmla="*/ 285 h 714"/>
                <a:gd name="T56" fmla="*/ 281 w 727"/>
                <a:gd name="T57" fmla="*/ 285 h 714"/>
                <a:gd name="T58" fmla="*/ 257 w 727"/>
                <a:gd name="T59" fmla="*/ 314 h 714"/>
                <a:gd name="T60" fmla="*/ 86 w 727"/>
                <a:gd name="T61" fmla="*/ 314 h 714"/>
                <a:gd name="T62" fmla="*/ 86 w 727"/>
                <a:gd name="T63" fmla="*/ 114 h 714"/>
                <a:gd name="T64" fmla="*/ 371 w 727"/>
                <a:gd name="T65" fmla="*/ 114 h 714"/>
                <a:gd name="T66" fmla="*/ 371 w 727"/>
                <a:gd name="T67" fmla="*/ 143 h 714"/>
                <a:gd name="T68" fmla="*/ 86 w 727"/>
                <a:gd name="T69" fmla="*/ 143 h 714"/>
                <a:gd name="T70" fmla="*/ 86 w 727"/>
                <a:gd name="T71" fmla="*/ 114 h 714"/>
                <a:gd name="T72" fmla="*/ 371 w 727"/>
                <a:gd name="T73" fmla="*/ 228 h 714"/>
                <a:gd name="T74" fmla="*/ 370 w 727"/>
                <a:gd name="T75" fmla="*/ 228 h 714"/>
                <a:gd name="T76" fmla="*/ 86 w 727"/>
                <a:gd name="T77" fmla="*/ 228 h 714"/>
                <a:gd name="T78" fmla="*/ 86 w 727"/>
                <a:gd name="T79" fmla="*/ 200 h 714"/>
                <a:gd name="T80" fmla="*/ 371 w 727"/>
                <a:gd name="T81" fmla="*/ 200 h 714"/>
                <a:gd name="T82" fmla="*/ 371 w 727"/>
                <a:gd name="T83" fmla="*/ 228 h 714"/>
                <a:gd name="T84" fmla="*/ 429 w 727"/>
                <a:gd name="T85" fmla="*/ 215 h 714"/>
                <a:gd name="T86" fmla="*/ 429 w 727"/>
                <a:gd name="T87" fmla="*/ 57 h 714"/>
                <a:gd name="T88" fmla="*/ 29 w 727"/>
                <a:gd name="T89" fmla="*/ 57 h 714"/>
                <a:gd name="T90" fmla="*/ 29 w 727"/>
                <a:gd name="T91" fmla="*/ 542 h 714"/>
                <a:gd name="T92" fmla="*/ 233 w 727"/>
                <a:gd name="T93" fmla="*/ 542 h 714"/>
                <a:gd name="T94" fmla="*/ 268 w 727"/>
                <a:gd name="T95" fmla="*/ 600 h 714"/>
                <a:gd name="T96" fmla="*/ 29 w 727"/>
                <a:gd name="T97" fmla="*/ 600 h 714"/>
                <a:gd name="T98" fmla="*/ 0 w 727"/>
                <a:gd name="T99" fmla="*/ 571 h 714"/>
                <a:gd name="T100" fmla="*/ 0 w 727"/>
                <a:gd name="T101" fmla="*/ 28 h 714"/>
                <a:gd name="T102" fmla="*/ 29 w 727"/>
                <a:gd name="T103" fmla="*/ 0 h 714"/>
                <a:gd name="T104" fmla="*/ 429 w 727"/>
                <a:gd name="T105" fmla="*/ 0 h 714"/>
                <a:gd name="T106" fmla="*/ 457 w 727"/>
                <a:gd name="T107" fmla="*/ 28 h 714"/>
                <a:gd name="T108" fmla="*/ 457 w 727"/>
                <a:gd name="T109" fmla="*/ 214 h 714"/>
                <a:gd name="T110" fmla="*/ 450 w 727"/>
                <a:gd name="T111" fmla="*/ 214 h 714"/>
                <a:gd name="T112" fmla="*/ 429 w 727"/>
                <a:gd name="T113" fmla="*/ 215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27" h="714">
                  <a:moveTo>
                    <a:pt x="716" y="677"/>
                  </a:moveTo>
                  <a:cubicBezTo>
                    <a:pt x="690" y="703"/>
                    <a:pt x="690" y="703"/>
                    <a:pt x="690" y="703"/>
                  </a:cubicBezTo>
                  <a:cubicBezTo>
                    <a:pt x="679" y="714"/>
                    <a:pt x="663" y="714"/>
                    <a:pt x="652" y="703"/>
                  </a:cubicBezTo>
                  <a:cubicBezTo>
                    <a:pt x="546" y="597"/>
                    <a:pt x="546" y="597"/>
                    <a:pt x="546" y="597"/>
                  </a:cubicBezTo>
                  <a:cubicBezTo>
                    <a:pt x="520" y="612"/>
                    <a:pt x="491" y="620"/>
                    <a:pt x="459" y="620"/>
                  </a:cubicBezTo>
                  <a:cubicBezTo>
                    <a:pt x="363" y="620"/>
                    <a:pt x="280" y="537"/>
                    <a:pt x="280" y="441"/>
                  </a:cubicBezTo>
                  <a:cubicBezTo>
                    <a:pt x="280" y="345"/>
                    <a:pt x="358" y="268"/>
                    <a:pt x="453" y="268"/>
                  </a:cubicBezTo>
                  <a:cubicBezTo>
                    <a:pt x="549" y="268"/>
                    <a:pt x="632" y="351"/>
                    <a:pt x="632" y="447"/>
                  </a:cubicBezTo>
                  <a:cubicBezTo>
                    <a:pt x="632" y="480"/>
                    <a:pt x="623" y="510"/>
                    <a:pt x="607" y="537"/>
                  </a:cubicBezTo>
                  <a:cubicBezTo>
                    <a:pt x="712" y="643"/>
                    <a:pt x="712" y="643"/>
                    <a:pt x="712" y="643"/>
                  </a:cubicBezTo>
                  <a:cubicBezTo>
                    <a:pt x="723" y="653"/>
                    <a:pt x="727" y="666"/>
                    <a:pt x="716" y="677"/>
                  </a:cubicBezTo>
                  <a:close/>
                  <a:moveTo>
                    <a:pt x="453" y="321"/>
                  </a:moveTo>
                  <a:cubicBezTo>
                    <a:pt x="387" y="321"/>
                    <a:pt x="334" y="375"/>
                    <a:pt x="334" y="441"/>
                  </a:cubicBezTo>
                  <a:cubicBezTo>
                    <a:pt x="334" y="508"/>
                    <a:pt x="393" y="567"/>
                    <a:pt x="459" y="567"/>
                  </a:cubicBezTo>
                  <a:cubicBezTo>
                    <a:pt x="525" y="567"/>
                    <a:pt x="579" y="513"/>
                    <a:pt x="579" y="447"/>
                  </a:cubicBezTo>
                  <a:cubicBezTo>
                    <a:pt x="579" y="380"/>
                    <a:pt x="520" y="321"/>
                    <a:pt x="453" y="321"/>
                  </a:cubicBezTo>
                  <a:close/>
                  <a:moveTo>
                    <a:pt x="86" y="485"/>
                  </a:moveTo>
                  <a:cubicBezTo>
                    <a:pt x="86" y="457"/>
                    <a:pt x="86" y="457"/>
                    <a:pt x="86" y="457"/>
                  </a:cubicBezTo>
                  <a:cubicBezTo>
                    <a:pt x="215" y="457"/>
                    <a:pt x="215" y="457"/>
                    <a:pt x="215" y="457"/>
                  </a:cubicBezTo>
                  <a:cubicBezTo>
                    <a:pt x="215" y="466"/>
                    <a:pt x="216" y="476"/>
                    <a:pt x="217" y="485"/>
                  </a:cubicBezTo>
                  <a:lnTo>
                    <a:pt x="86" y="485"/>
                  </a:lnTo>
                  <a:close/>
                  <a:moveTo>
                    <a:pt x="86" y="371"/>
                  </a:moveTo>
                  <a:cubicBezTo>
                    <a:pt x="228" y="371"/>
                    <a:pt x="228" y="371"/>
                    <a:pt x="228" y="371"/>
                  </a:cubicBezTo>
                  <a:cubicBezTo>
                    <a:pt x="225" y="380"/>
                    <a:pt x="222" y="390"/>
                    <a:pt x="220" y="400"/>
                  </a:cubicBezTo>
                  <a:cubicBezTo>
                    <a:pt x="86" y="400"/>
                    <a:pt x="86" y="400"/>
                    <a:pt x="86" y="400"/>
                  </a:cubicBezTo>
                  <a:lnTo>
                    <a:pt x="86" y="371"/>
                  </a:lnTo>
                  <a:close/>
                  <a:moveTo>
                    <a:pt x="86" y="314"/>
                  </a:moveTo>
                  <a:cubicBezTo>
                    <a:pt x="86" y="285"/>
                    <a:pt x="86" y="285"/>
                    <a:pt x="86" y="285"/>
                  </a:cubicBezTo>
                  <a:cubicBezTo>
                    <a:pt x="281" y="285"/>
                    <a:pt x="281" y="285"/>
                    <a:pt x="281" y="285"/>
                  </a:cubicBezTo>
                  <a:cubicBezTo>
                    <a:pt x="273" y="294"/>
                    <a:pt x="265" y="304"/>
                    <a:pt x="257" y="314"/>
                  </a:cubicBezTo>
                  <a:lnTo>
                    <a:pt x="86" y="314"/>
                  </a:lnTo>
                  <a:close/>
                  <a:moveTo>
                    <a:pt x="86" y="114"/>
                  </a:moveTo>
                  <a:cubicBezTo>
                    <a:pt x="371" y="114"/>
                    <a:pt x="371" y="114"/>
                    <a:pt x="371" y="114"/>
                  </a:cubicBezTo>
                  <a:cubicBezTo>
                    <a:pt x="371" y="143"/>
                    <a:pt x="371" y="143"/>
                    <a:pt x="371" y="143"/>
                  </a:cubicBezTo>
                  <a:cubicBezTo>
                    <a:pt x="86" y="143"/>
                    <a:pt x="86" y="143"/>
                    <a:pt x="86" y="143"/>
                  </a:cubicBezTo>
                  <a:lnTo>
                    <a:pt x="86" y="114"/>
                  </a:lnTo>
                  <a:close/>
                  <a:moveTo>
                    <a:pt x="371" y="228"/>
                  </a:moveTo>
                  <a:cubicBezTo>
                    <a:pt x="371" y="228"/>
                    <a:pt x="370" y="228"/>
                    <a:pt x="370" y="228"/>
                  </a:cubicBezTo>
                  <a:cubicBezTo>
                    <a:pt x="86" y="228"/>
                    <a:pt x="86" y="228"/>
                    <a:pt x="86" y="228"/>
                  </a:cubicBezTo>
                  <a:cubicBezTo>
                    <a:pt x="86" y="200"/>
                    <a:pt x="86" y="200"/>
                    <a:pt x="86" y="200"/>
                  </a:cubicBezTo>
                  <a:cubicBezTo>
                    <a:pt x="371" y="200"/>
                    <a:pt x="371" y="200"/>
                    <a:pt x="371" y="200"/>
                  </a:cubicBezTo>
                  <a:cubicBezTo>
                    <a:pt x="371" y="228"/>
                    <a:pt x="371" y="228"/>
                    <a:pt x="371" y="228"/>
                  </a:cubicBezTo>
                  <a:close/>
                  <a:moveTo>
                    <a:pt x="429" y="215"/>
                  </a:moveTo>
                  <a:cubicBezTo>
                    <a:pt x="429" y="57"/>
                    <a:pt x="429" y="57"/>
                    <a:pt x="4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42"/>
                    <a:pt x="29" y="542"/>
                    <a:pt x="29" y="542"/>
                  </a:cubicBezTo>
                  <a:cubicBezTo>
                    <a:pt x="233" y="542"/>
                    <a:pt x="233" y="542"/>
                    <a:pt x="233" y="542"/>
                  </a:cubicBezTo>
                  <a:cubicBezTo>
                    <a:pt x="242" y="563"/>
                    <a:pt x="254" y="582"/>
                    <a:pt x="268" y="600"/>
                  </a:cubicBezTo>
                  <a:cubicBezTo>
                    <a:pt x="29" y="600"/>
                    <a:pt x="29" y="600"/>
                    <a:pt x="29" y="600"/>
                  </a:cubicBezTo>
                  <a:cubicBezTo>
                    <a:pt x="13" y="600"/>
                    <a:pt x="0" y="587"/>
                    <a:pt x="0" y="5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44" y="0"/>
                    <a:pt x="457" y="12"/>
                    <a:pt x="457" y="28"/>
                  </a:cubicBezTo>
                  <a:cubicBezTo>
                    <a:pt x="457" y="214"/>
                    <a:pt x="457" y="214"/>
                    <a:pt x="457" y="214"/>
                  </a:cubicBezTo>
                  <a:cubicBezTo>
                    <a:pt x="455" y="214"/>
                    <a:pt x="452" y="214"/>
                    <a:pt x="450" y="214"/>
                  </a:cubicBezTo>
                  <a:cubicBezTo>
                    <a:pt x="443" y="214"/>
                    <a:pt x="436" y="214"/>
                    <a:pt x="429" y="2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 flipH="1">
            <a:off x="7648265" y="1922956"/>
            <a:ext cx="3932230" cy="2247873"/>
            <a:chOff x="-793977" y="1712356"/>
            <a:chExt cx="3932230" cy="2247873"/>
          </a:xfrm>
        </p:grpSpPr>
        <p:sp>
          <p:nvSpPr>
            <p:cNvPr id="52" name="矩形 5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440626" y="1712356"/>
              <a:ext cx="6976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容量</a:t>
              </a:r>
            </a:p>
          </p:txBody>
        </p:sp>
        <p:sp>
          <p:nvSpPr>
            <p:cNvPr id="53" name="矩形 5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-793977" y="2205903"/>
              <a:ext cx="3922942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容量频谱分配是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5MHz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的情况下，每小区至少支持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200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个激活状态的用户。 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在更高的频谱分配情况下，每小区至少支持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400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个激活状态的用户。</a:t>
              </a:r>
            </a:p>
          </p:txBody>
        </p:sp>
        <p:cxnSp>
          <p:nvCxnSpPr>
            <p:cNvPr id="54" name="直接连接符 5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2528543" y="2100167"/>
              <a:ext cx="489241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主要设计目标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90689" y="1866964"/>
            <a:ext cx="4448385" cy="2904673"/>
            <a:chOff x="-1203361" y="1289496"/>
            <a:chExt cx="4448385" cy="2904673"/>
          </a:xfrm>
        </p:grpSpPr>
        <p:sp>
          <p:nvSpPr>
            <p:cNvPr id="29" name="矩形 28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464847" y="1289496"/>
              <a:ext cx="6976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时延</a:t>
              </a:r>
            </a:p>
          </p:txBody>
        </p:sp>
        <p:sp>
          <p:nvSpPr>
            <p:cNvPr id="30" name="矩形 29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-1203361" y="1608846"/>
              <a:ext cx="4448385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从驻留态到激活态，控制面的传输延迟时间小于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100ms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从睡眠态到激活态，控制面传输延迟时间小于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50ms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在零负载 和小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IP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包的情况下，期望的用户面延迟不超过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5ms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</p:txBody>
        </p:sp>
        <p:cxnSp>
          <p:nvCxnSpPr>
            <p:cNvPr id="55" name="直接连接符 5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2562225" y="1654945"/>
              <a:ext cx="50788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3414881" y="4612720"/>
            <a:ext cx="7372350" cy="2073676"/>
            <a:chOff x="1336926" y="4709900"/>
            <a:chExt cx="7372350" cy="2073676"/>
          </a:xfrm>
        </p:grpSpPr>
        <p:sp>
          <p:nvSpPr>
            <p:cNvPr id="57" name="矩形 5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4094946" y="4709900"/>
              <a:ext cx="95410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移动性</a:t>
              </a:r>
            </a:p>
          </p:txBody>
        </p:sp>
        <p:sp>
          <p:nvSpPr>
            <p:cNvPr id="58" name="矩形 5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1336926" y="5029250"/>
              <a:ext cx="737235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～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15km/h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的移动用户提供最优的网络性能；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15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～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120km/h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的移动用户提供高性能的服务；</a:t>
              </a:r>
              <a:endParaRPr lang="en-US" altLang="zh-CN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120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～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350km/h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（甚至可以达到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500km/h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）速率移动的移动用户能够保持蜂窝网络的移动性。</a:t>
              </a:r>
              <a:endParaRPr lang="zh-CN" altLang="en-US" sz="2000" dirty="0">
                <a:solidFill>
                  <a:srgbClr val="434445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59" name="直接连接符 58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4086225" y="5075349"/>
              <a:ext cx="100965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5566984" y="2463250"/>
            <a:ext cx="2037412" cy="1865479"/>
            <a:chOff x="3118826" y="1857542"/>
            <a:chExt cx="2914486" cy="2900218"/>
          </a:xfrm>
        </p:grpSpPr>
        <p:sp>
          <p:nvSpPr>
            <p:cNvPr id="61" name="任意多边形 7"/>
            <p:cNvSpPr/>
            <p:nvPr/>
          </p:nvSpPr>
          <p:spPr>
            <a:xfrm>
              <a:off x="3376910" y="2012388"/>
              <a:ext cx="2501351" cy="2501351"/>
            </a:xfrm>
            <a:custGeom>
              <a:avLst/>
              <a:gdLst>
                <a:gd name="connsiteX0" fmla="*/ 1706880 w 3413760"/>
                <a:gd name="connsiteY0" fmla="*/ 0 h 3413760"/>
                <a:gd name="connsiteX1" fmla="*/ 3185081 w 3413760"/>
                <a:gd name="connsiteY1" fmla="*/ 853440 h 3413760"/>
                <a:gd name="connsiteX2" fmla="*/ 3185081 w 3413760"/>
                <a:gd name="connsiteY2" fmla="*/ 2560320 h 3413760"/>
                <a:gd name="connsiteX3" fmla="*/ 1706880 w 3413760"/>
                <a:gd name="connsiteY3" fmla="*/ 1706880 h 3413760"/>
                <a:gd name="connsiteX4" fmla="*/ 1706880 w 3413760"/>
                <a:gd name="connsiteY4" fmla="*/ 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1706880" y="0"/>
                  </a:moveTo>
                  <a:cubicBezTo>
                    <a:pt x="2316689" y="0"/>
                    <a:pt x="2880177" y="325329"/>
                    <a:pt x="3185081" y="853440"/>
                  </a:cubicBezTo>
                  <a:cubicBezTo>
                    <a:pt x="3489986" y="1381551"/>
                    <a:pt x="3489986" y="2032209"/>
                    <a:pt x="3185081" y="2560320"/>
                  </a:cubicBezTo>
                  <a:lnTo>
                    <a:pt x="1706880" y="1706880"/>
                  </a:lnTo>
                  <a:lnTo>
                    <a:pt x="170688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8"/>
            <p:cNvSpPr/>
            <p:nvPr/>
          </p:nvSpPr>
          <p:spPr>
            <a:xfrm>
              <a:off x="3325394" y="2101721"/>
              <a:ext cx="2501351" cy="2501351"/>
            </a:xfrm>
            <a:custGeom>
              <a:avLst/>
              <a:gdLst>
                <a:gd name="connsiteX0" fmla="*/ 3185081 w 3413760"/>
                <a:gd name="connsiteY0" fmla="*/ 2560320 h 3413760"/>
                <a:gd name="connsiteX1" fmla="*/ 1706880 w 3413760"/>
                <a:gd name="connsiteY1" fmla="*/ 3413760 h 3413760"/>
                <a:gd name="connsiteX2" fmla="*/ 228679 w 3413760"/>
                <a:gd name="connsiteY2" fmla="*/ 2560320 h 3413760"/>
                <a:gd name="connsiteX3" fmla="*/ 1706880 w 3413760"/>
                <a:gd name="connsiteY3" fmla="*/ 1706880 h 3413760"/>
                <a:gd name="connsiteX4" fmla="*/ 3185081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3185081" y="2560320"/>
                  </a:moveTo>
                  <a:cubicBezTo>
                    <a:pt x="2880176" y="3088431"/>
                    <a:pt x="2316689" y="3413760"/>
                    <a:pt x="1706880" y="3413760"/>
                  </a:cubicBezTo>
                  <a:cubicBezTo>
                    <a:pt x="1097071" y="3413760"/>
                    <a:pt x="533583" y="3088431"/>
                    <a:pt x="228679" y="2560320"/>
                  </a:cubicBezTo>
                  <a:lnTo>
                    <a:pt x="1706880" y="1706880"/>
                  </a:lnTo>
                  <a:lnTo>
                    <a:pt x="3185081" y="256032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9"/>
            <p:cNvSpPr/>
            <p:nvPr/>
          </p:nvSpPr>
          <p:spPr>
            <a:xfrm>
              <a:off x="3273877" y="2012388"/>
              <a:ext cx="2501351" cy="2501351"/>
            </a:xfrm>
            <a:custGeom>
              <a:avLst/>
              <a:gdLst>
                <a:gd name="connsiteX0" fmla="*/ 228679 w 3413760"/>
                <a:gd name="connsiteY0" fmla="*/ 2560320 h 3413760"/>
                <a:gd name="connsiteX1" fmla="*/ 228679 w 3413760"/>
                <a:gd name="connsiteY1" fmla="*/ 853440 h 3413760"/>
                <a:gd name="connsiteX2" fmla="*/ 1706880 w 3413760"/>
                <a:gd name="connsiteY2" fmla="*/ 0 h 3413760"/>
                <a:gd name="connsiteX3" fmla="*/ 1706880 w 3413760"/>
                <a:gd name="connsiteY3" fmla="*/ 1706880 h 3413760"/>
                <a:gd name="connsiteX4" fmla="*/ 228679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228679" y="2560320"/>
                  </a:moveTo>
                  <a:cubicBezTo>
                    <a:pt x="-76226" y="2032209"/>
                    <a:pt x="-76226" y="1381551"/>
                    <a:pt x="228679" y="853440"/>
                  </a:cubicBezTo>
                  <a:cubicBezTo>
                    <a:pt x="533584" y="325329"/>
                    <a:pt x="1097071" y="0"/>
                    <a:pt x="1706880" y="0"/>
                  </a:cubicBezTo>
                  <a:lnTo>
                    <a:pt x="1706880" y="1706880"/>
                  </a:lnTo>
                  <a:lnTo>
                    <a:pt x="228679" y="256032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环形箭头 10"/>
            <p:cNvSpPr/>
            <p:nvPr/>
          </p:nvSpPr>
          <p:spPr>
            <a:xfrm>
              <a:off x="3222270" y="1857542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环形箭头 11"/>
            <p:cNvSpPr/>
            <p:nvPr/>
          </p:nvSpPr>
          <p:spPr>
            <a:xfrm>
              <a:off x="3170548" y="1946718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6" name="环形箭头 12"/>
            <p:cNvSpPr/>
            <p:nvPr/>
          </p:nvSpPr>
          <p:spPr>
            <a:xfrm>
              <a:off x="3118826" y="1857542"/>
              <a:ext cx="2811042" cy="2811042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63500" dir="2700000" algn="tl" rotWithShape="0">
                <a:prstClr val="black">
                  <a:alpha val="5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67" name="Group 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GrpSpPr>
              <a:grpSpLocks noChangeAspect="1"/>
            </p:cNvGrpSpPr>
            <p:nvPr/>
          </p:nvGrpSpPr>
          <p:grpSpPr bwMode="auto">
            <a:xfrm>
              <a:off x="4324553" y="3786391"/>
              <a:ext cx="494893" cy="431678"/>
              <a:chOff x="352" y="2796"/>
              <a:chExt cx="869" cy="758"/>
            </a:xfrm>
            <a:solidFill>
              <a:schemeClr val="bg1"/>
            </a:solidFill>
          </p:grpSpPr>
          <p:sp>
            <p:nvSpPr>
              <p:cNvPr id="70" name="Freeform 5"/>
              <p:cNvSpPr>
                <a:spLocks noEditPoints="1"/>
              </p:cNvSpPr>
              <p:nvPr/>
            </p:nvSpPr>
            <p:spPr bwMode="auto">
              <a:xfrm>
                <a:off x="352" y="2796"/>
                <a:ext cx="869" cy="758"/>
              </a:xfrm>
              <a:custGeom>
                <a:avLst/>
                <a:gdLst>
                  <a:gd name="T0" fmla="*/ 796 w 907"/>
                  <a:gd name="T1" fmla="*/ 657 h 791"/>
                  <a:gd name="T2" fmla="*/ 876 w 907"/>
                  <a:gd name="T3" fmla="*/ 545 h 791"/>
                  <a:gd name="T4" fmla="*/ 907 w 907"/>
                  <a:gd name="T5" fmla="*/ 519 h 791"/>
                  <a:gd name="T6" fmla="*/ 876 w 907"/>
                  <a:gd name="T7" fmla="*/ 493 h 791"/>
                  <a:gd name="T8" fmla="*/ 796 w 907"/>
                  <a:gd name="T9" fmla="*/ 380 h 791"/>
                  <a:gd name="T10" fmla="*/ 902 w 907"/>
                  <a:gd name="T11" fmla="*/ 272 h 791"/>
                  <a:gd name="T12" fmla="*/ 796 w 907"/>
                  <a:gd name="T13" fmla="*/ 165 h 791"/>
                  <a:gd name="T14" fmla="*/ 876 w 907"/>
                  <a:gd name="T15" fmla="*/ 52 h 791"/>
                  <a:gd name="T16" fmla="*/ 876 w 907"/>
                  <a:gd name="T17" fmla="*/ 0 h 791"/>
                  <a:gd name="T18" fmla="*/ 132 w 907"/>
                  <a:gd name="T19" fmla="*/ 0 h 791"/>
                  <a:gd name="T20" fmla="*/ 0 w 907"/>
                  <a:gd name="T21" fmla="*/ 165 h 791"/>
                  <a:gd name="T22" fmla="*/ 0 w 907"/>
                  <a:gd name="T23" fmla="*/ 380 h 791"/>
                  <a:gd name="T24" fmla="*/ 54 w 907"/>
                  <a:gd name="T25" fmla="*/ 519 h 791"/>
                  <a:gd name="T26" fmla="*/ 0 w 907"/>
                  <a:gd name="T27" fmla="*/ 657 h 791"/>
                  <a:gd name="T28" fmla="*/ 869 w 907"/>
                  <a:gd name="T29" fmla="*/ 791 h 791"/>
                  <a:gd name="T30" fmla="*/ 871 w 907"/>
                  <a:gd name="T31" fmla="*/ 791 h 791"/>
                  <a:gd name="T32" fmla="*/ 902 w 907"/>
                  <a:gd name="T33" fmla="*/ 765 h 791"/>
                  <a:gd name="T34" fmla="*/ 772 w 907"/>
                  <a:gd name="T35" fmla="*/ 246 h 791"/>
                  <a:gd name="T36" fmla="*/ 413 w 907"/>
                  <a:gd name="T37" fmla="*/ 272 h 791"/>
                  <a:gd name="T38" fmla="*/ 772 w 907"/>
                  <a:gd name="T39" fmla="*/ 299 h 791"/>
                  <a:gd name="T40" fmla="*/ 744 w 907"/>
                  <a:gd name="T41" fmla="*/ 411 h 791"/>
                  <a:gd name="T42" fmla="*/ 436 w 907"/>
                  <a:gd name="T43" fmla="*/ 493 h 791"/>
                  <a:gd name="T44" fmla="*/ 436 w 907"/>
                  <a:gd name="T45" fmla="*/ 545 h 791"/>
                  <a:gd name="T46" fmla="*/ 744 w 907"/>
                  <a:gd name="T47" fmla="*/ 627 h 791"/>
                  <a:gd name="T48" fmla="*/ 772 w 907"/>
                  <a:gd name="T49" fmla="*/ 739 h 791"/>
                  <a:gd name="T50" fmla="*/ 51 w 907"/>
                  <a:gd name="T51" fmla="*/ 657 h 791"/>
                  <a:gd name="T52" fmla="*/ 132 w 907"/>
                  <a:gd name="T53" fmla="*/ 545 h 791"/>
                  <a:gd name="T54" fmla="*/ 189 w 907"/>
                  <a:gd name="T55" fmla="*/ 519 h 791"/>
                  <a:gd name="T56" fmla="*/ 132 w 907"/>
                  <a:gd name="T57" fmla="*/ 493 h 791"/>
                  <a:gd name="T58" fmla="*/ 51 w 907"/>
                  <a:gd name="T59" fmla="*/ 380 h 791"/>
                  <a:gd name="T60" fmla="*/ 163 w 907"/>
                  <a:gd name="T61" fmla="*/ 299 h 791"/>
                  <a:gd name="T62" fmla="*/ 163 w 907"/>
                  <a:gd name="T63" fmla="*/ 246 h 791"/>
                  <a:gd name="T64" fmla="*/ 51 w 907"/>
                  <a:gd name="T65" fmla="*/ 165 h 791"/>
                  <a:gd name="T66" fmla="*/ 132 w 907"/>
                  <a:gd name="T67" fmla="*/ 52 h 791"/>
                  <a:gd name="T68" fmla="*/ 744 w 907"/>
                  <a:gd name="T69" fmla="*/ 134 h 791"/>
                  <a:gd name="T70" fmla="*/ 772 w 907"/>
                  <a:gd name="T71" fmla="*/ 24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07" h="791">
                    <a:moveTo>
                      <a:pt x="876" y="739"/>
                    </a:moveTo>
                    <a:cubicBezTo>
                      <a:pt x="832" y="739"/>
                      <a:pt x="796" y="702"/>
                      <a:pt x="796" y="657"/>
                    </a:cubicBezTo>
                    <a:cubicBezTo>
                      <a:pt x="796" y="627"/>
                      <a:pt x="796" y="627"/>
                      <a:pt x="796" y="627"/>
                    </a:cubicBezTo>
                    <a:cubicBezTo>
                      <a:pt x="796" y="582"/>
                      <a:pt x="832" y="545"/>
                      <a:pt x="876" y="545"/>
                    </a:cubicBezTo>
                    <a:cubicBezTo>
                      <a:pt x="882" y="545"/>
                      <a:pt x="882" y="545"/>
                      <a:pt x="882" y="545"/>
                    </a:cubicBezTo>
                    <a:cubicBezTo>
                      <a:pt x="896" y="545"/>
                      <a:pt x="907" y="533"/>
                      <a:pt x="907" y="519"/>
                    </a:cubicBezTo>
                    <a:cubicBezTo>
                      <a:pt x="907" y="504"/>
                      <a:pt x="896" y="493"/>
                      <a:pt x="882" y="493"/>
                    </a:cubicBezTo>
                    <a:cubicBezTo>
                      <a:pt x="876" y="493"/>
                      <a:pt x="876" y="493"/>
                      <a:pt x="876" y="493"/>
                    </a:cubicBezTo>
                    <a:cubicBezTo>
                      <a:pt x="832" y="493"/>
                      <a:pt x="796" y="456"/>
                      <a:pt x="796" y="411"/>
                    </a:cubicBezTo>
                    <a:cubicBezTo>
                      <a:pt x="796" y="380"/>
                      <a:pt x="796" y="380"/>
                      <a:pt x="796" y="380"/>
                    </a:cubicBezTo>
                    <a:cubicBezTo>
                      <a:pt x="796" y="335"/>
                      <a:pt x="832" y="299"/>
                      <a:pt x="876" y="299"/>
                    </a:cubicBezTo>
                    <a:cubicBezTo>
                      <a:pt x="890" y="299"/>
                      <a:pt x="902" y="287"/>
                      <a:pt x="902" y="272"/>
                    </a:cubicBezTo>
                    <a:cubicBezTo>
                      <a:pt x="902" y="258"/>
                      <a:pt x="890" y="246"/>
                      <a:pt x="876" y="246"/>
                    </a:cubicBezTo>
                    <a:cubicBezTo>
                      <a:pt x="832" y="246"/>
                      <a:pt x="796" y="210"/>
                      <a:pt x="796" y="165"/>
                    </a:cubicBezTo>
                    <a:cubicBezTo>
                      <a:pt x="796" y="134"/>
                      <a:pt x="796" y="134"/>
                      <a:pt x="796" y="134"/>
                    </a:cubicBezTo>
                    <a:cubicBezTo>
                      <a:pt x="796" y="89"/>
                      <a:pt x="832" y="52"/>
                      <a:pt x="876" y="52"/>
                    </a:cubicBezTo>
                    <a:cubicBezTo>
                      <a:pt x="890" y="52"/>
                      <a:pt x="902" y="40"/>
                      <a:pt x="902" y="26"/>
                    </a:cubicBezTo>
                    <a:cubicBezTo>
                      <a:pt x="902" y="12"/>
                      <a:pt x="890" y="0"/>
                      <a:pt x="876" y="0"/>
                    </a:cubicBezTo>
                    <a:cubicBezTo>
                      <a:pt x="875" y="0"/>
                      <a:pt x="873" y="0"/>
                      <a:pt x="871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59" y="0"/>
                      <a:pt x="0" y="60"/>
                      <a:pt x="0" y="13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208"/>
                      <a:pt x="20" y="247"/>
                      <a:pt x="54" y="272"/>
                    </a:cubicBezTo>
                    <a:cubicBezTo>
                      <a:pt x="20" y="297"/>
                      <a:pt x="0" y="337"/>
                      <a:pt x="0" y="380"/>
                    </a:cubicBezTo>
                    <a:cubicBezTo>
                      <a:pt x="0" y="411"/>
                      <a:pt x="0" y="411"/>
                      <a:pt x="0" y="411"/>
                    </a:cubicBezTo>
                    <a:cubicBezTo>
                      <a:pt x="0" y="454"/>
                      <a:pt x="20" y="494"/>
                      <a:pt x="54" y="519"/>
                    </a:cubicBezTo>
                    <a:cubicBezTo>
                      <a:pt x="20" y="544"/>
                      <a:pt x="0" y="583"/>
                      <a:pt x="0" y="627"/>
                    </a:cubicBezTo>
                    <a:cubicBezTo>
                      <a:pt x="0" y="657"/>
                      <a:pt x="0" y="657"/>
                      <a:pt x="0" y="657"/>
                    </a:cubicBezTo>
                    <a:cubicBezTo>
                      <a:pt x="0" y="731"/>
                      <a:pt x="59" y="791"/>
                      <a:pt x="132" y="791"/>
                    </a:cubicBezTo>
                    <a:cubicBezTo>
                      <a:pt x="869" y="791"/>
                      <a:pt x="869" y="791"/>
                      <a:pt x="869" y="791"/>
                    </a:cubicBezTo>
                    <a:cubicBezTo>
                      <a:pt x="870" y="791"/>
                      <a:pt x="871" y="791"/>
                      <a:pt x="871" y="791"/>
                    </a:cubicBezTo>
                    <a:cubicBezTo>
                      <a:pt x="871" y="791"/>
                      <a:pt x="871" y="791"/>
                      <a:pt x="871" y="791"/>
                    </a:cubicBezTo>
                    <a:cubicBezTo>
                      <a:pt x="873" y="791"/>
                      <a:pt x="875" y="791"/>
                      <a:pt x="876" y="791"/>
                    </a:cubicBezTo>
                    <a:cubicBezTo>
                      <a:pt x="890" y="791"/>
                      <a:pt x="902" y="780"/>
                      <a:pt x="902" y="765"/>
                    </a:cubicBezTo>
                    <a:cubicBezTo>
                      <a:pt x="902" y="751"/>
                      <a:pt x="890" y="739"/>
                      <a:pt x="876" y="739"/>
                    </a:cubicBezTo>
                    <a:close/>
                    <a:moveTo>
                      <a:pt x="772" y="246"/>
                    </a:moveTo>
                    <a:cubicBezTo>
                      <a:pt x="439" y="246"/>
                      <a:pt x="439" y="246"/>
                      <a:pt x="439" y="246"/>
                    </a:cubicBezTo>
                    <a:cubicBezTo>
                      <a:pt x="425" y="246"/>
                      <a:pt x="413" y="258"/>
                      <a:pt x="413" y="272"/>
                    </a:cubicBezTo>
                    <a:cubicBezTo>
                      <a:pt x="413" y="287"/>
                      <a:pt x="425" y="299"/>
                      <a:pt x="439" y="299"/>
                    </a:cubicBezTo>
                    <a:cubicBezTo>
                      <a:pt x="772" y="299"/>
                      <a:pt x="772" y="299"/>
                      <a:pt x="772" y="299"/>
                    </a:cubicBezTo>
                    <a:cubicBezTo>
                      <a:pt x="754" y="322"/>
                      <a:pt x="744" y="350"/>
                      <a:pt x="744" y="380"/>
                    </a:cubicBezTo>
                    <a:cubicBezTo>
                      <a:pt x="744" y="411"/>
                      <a:pt x="744" y="411"/>
                      <a:pt x="744" y="411"/>
                    </a:cubicBezTo>
                    <a:cubicBezTo>
                      <a:pt x="744" y="441"/>
                      <a:pt x="754" y="470"/>
                      <a:pt x="772" y="493"/>
                    </a:cubicBezTo>
                    <a:cubicBezTo>
                      <a:pt x="436" y="493"/>
                      <a:pt x="436" y="493"/>
                      <a:pt x="436" y="493"/>
                    </a:cubicBezTo>
                    <a:cubicBezTo>
                      <a:pt x="422" y="493"/>
                      <a:pt x="411" y="504"/>
                      <a:pt x="411" y="519"/>
                    </a:cubicBezTo>
                    <a:cubicBezTo>
                      <a:pt x="411" y="533"/>
                      <a:pt x="422" y="545"/>
                      <a:pt x="436" y="545"/>
                    </a:cubicBezTo>
                    <a:cubicBezTo>
                      <a:pt x="772" y="545"/>
                      <a:pt x="772" y="545"/>
                      <a:pt x="772" y="545"/>
                    </a:cubicBezTo>
                    <a:cubicBezTo>
                      <a:pt x="754" y="568"/>
                      <a:pt x="744" y="597"/>
                      <a:pt x="744" y="627"/>
                    </a:cubicBezTo>
                    <a:cubicBezTo>
                      <a:pt x="744" y="657"/>
                      <a:pt x="744" y="657"/>
                      <a:pt x="744" y="657"/>
                    </a:cubicBezTo>
                    <a:cubicBezTo>
                      <a:pt x="744" y="687"/>
                      <a:pt x="754" y="716"/>
                      <a:pt x="772" y="739"/>
                    </a:cubicBezTo>
                    <a:cubicBezTo>
                      <a:pt x="132" y="739"/>
                      <a:pt x="132" y="739"/>
                      <a:pt x="132" y="739"/>
                    </a:cubicBezTo>
                    <a:cubicBezTo>
                      <a:pt x="88" y="739"/>
                      <a:pt x="51" y="702"/>
                      <a:pt x="51" y="657"/>
                    </a:cubicBezTo>
                    <a:cubicBezTo>
                      <a:pt x="51" y="627"/>
                      <a:pt x="51" y="627"/>
                      <a:pt x="51" y="627"/>
                    </a:cubicBezTo>
                    <a:cubicBezTo>
                      <a:pt x="51" y="582"/>
                      <a:pt x="88" y="545"/>
                      <a:pt x="132" y="545"/>
                    </a:cubicBezTo>
                    <a:cubicBezTo>
                      <a:pt x="163" y="545"/>
                      <a:pt x="163" y="545"/>
                      <a:pt x="163" y="545"/>
                    </a:cubicBezTo>
                    <a:cubicBezTo>
                      <a:pt x="178" y="545"/>
                      <a:pt x="189" y="533"/>
                      <a:pt x="189" y="519"/>
                    </a:cubicBezTo>
                    <a:cubicBezTo>
                      <a:pt x="189" y="504"/>
                      <a:pt x="178" y="493"/>
                      <a:pt x="163" y="493"/>
                    </a:cubicBezTo>
                    <a:cubicBezTo>
                      <a:pt x="132" y="493"/>
                      <a:pt x="132" y="493"/>
                      <a:pt x="132" y="493"/>
                    </a:cubicBezTo>
                    <a:cubicBezTo>
                      <a:pt x="88" y="493"/>
                      <a:pt x="51" y="456"/>
                      <a:pt x="51" y="411"/>
                    </a:cubicBezTo>
                    <a:cubicBezTo>
                      <a:pt x="51" y="380"/>
                      <a:pt x="51" y="380"/>
                      <a:pt x="51" y="380"/>
                    </a:cubicBezTo>
                    <a:cubicBezTo>
                      <a:pt x="51" y="335"/>
                      <a:pt x="88" y="299"/>
                      <a:pt x="132" y="299"/>
                    </a:cubicBezTo>
                    <a:cubicBezTo>
                      <a:pt x="163" y="299"/>
                      <a:pt x="163" y="299"/>
                      <a:pt x="163" y="299"/>
                    </a:cubicBezTo>
                    <a:cubicBezTo>
                      <a:pt x="178" y="299"/>
                      <a:pt x="189" y="287"/>
                      <a:pt x="189" y="272"/>
                    </a:cubicBezTo>
                    <a:cubicBezTo>
                      <a:pt x="189" y="258"/>
                      <a:pt x="178" y="246"/>
                      <a:pt x="163" y="246"/>
                    </a:cubicBezTo>
                    <a:cubicBezTo>
                      <a:pt x="132" y="246"/>
                      <a:pt x="132" y="246"/>
                      <a:pt x="132" y="246"/>
                    </a:cubicBezTo>
                    <a:cubicBezTo>
                      <a:pt x="88" y="246"/>
                      <a:pt x="51" y="210"/>
                      <a:pt x="51" y="165"/>
                    </a:cubicBezTo>
                    <a:cubicBezTo>
                      <a:pt x="51" y="134"/>
                      <a:pt x="51" y="134"/>
                      <a:pt x="51" y="134"/>
                    </a:cubicBezTo>
                    <a:cubicBezTo>
                      <a:pt x="51" y="89"/>
                      <a:pt x="88" y="52"/>
                      <a:pt x="132" y="52"/>
                    </a:cubicBezTo>
                    <a:cubicBezTo>
                      <a:pt x="772" y="52"/>
                      <a:pt x="772" y="52"/>
                      <a:pt x="772" y="52"/>
                    </a:cubicBezTo>
                    <a:cubicBezTo>
                      <a:pt x="754" y="75"/>
                      <a:pt x="744" y="104"/>
                      <a:pt x="744" y="134"/>
                    </a:cubicBezTo>
                    <a:cubicBezTo>
                      <a:pt x="744" y="165"/>
                      <a:pt x="744" y="165"/>
                      <a:pt x="744" y="165"/>
                    </a:cubicBezTo>
                    <a:cubicBezTo>
                      <a:pt x="744" y="195"/>
                      <a:pt x="754" y="223"/>
                      <a:pt x="772" y="2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6"/>
              <p:cNvSpPr>
                <a:spLocks noEditPoints="1"/>
              </p:cNvSpPr>
              <p:nvPr/>
            </p:nvSpPr>
            <p:spPr bwMode="auto">
              <a:xfrm>
                <a:off x="542" y="2923"/>
                <a:ext cx="187" cy="507"/>
              </a:xfrm>
              <a:custGeom>
                <a:avLst/>
                <a:gdLst>
                  <a:gd name="T0" fmla="*/ 171 w 196"/>
                  <a:gd name="T1" fmla="*/ 0 h 529"/>
                  <a:gd name="T2" fmla="*/ 26 w 196"/>
                  <a:gd name="T3" fmla="*/ 0 h 529"/>
                  <a:gd name="T4" fmla="*/ 0 w 196"/>
                  <a:gd name="T5" fmla="*/ 26 h 529"/>
                  <a:gd name="T6" fmla="*/ 0 w 196"/>
                  <a:gd name="T7" fmla="*/ 502 h 529"/>
                  <a:gd name="T8" fmla="*/ 2 w 196"/>
                  <a:gd name="T9" fmla="*/ 512 h 529"/>
                  <a:gd name="T10" fmla="*/ 16 w 196"/>
                  <a:gd name="T11" fmla="*/ 526 h 529"/>
                  <a:gd name="T12" fmla="*/ 36 w 196"/>
                  <a:gd name="T13" fmla="*/ 526 h 529"/>
                  <a:gd name="T14" fmla="*/ 44 w 196"/>
                  <a:gd name="T15" fmla="*/ 520 h 529"/>
                  <a:gd name="T16" fmla="*/ 98 w 196"/>
                  <a:gd name="T17" fmla="*/ 466 h 529"/>
                  <a:gd name="T18" fmla="*/ 152 w 196"/>
                  <a:gd name="T19" fmla="*/ 520 h 529"/>
                  <a:gd name="T20" fmla="*/ 161 w 196"/>
                  <a:gd name="T21" fmla="*/ 526 h 529"/>
                  <a:gd name="T22" fmla="*/ 171 w 196"/>
                  <a:gd name="T23" fmla="*/ 528 h 529"/>
                  <a:gd name="T24" fmla="*/ 180 w 196"/>
                  <a:gd name="T25" fmla="*/ 526 h 529"/>
                  <a:gd name="T26" fmla="*/ 194 w 196"/>
                  <a:gd name="T27" fmla="*/ 512 h 529"/>
                  <a:gd name="T28" fmla="*/ 196 w 196"/>
                  <a:gd name="T29" fmla="*/ 502 h 529"/>
                  <a:gd name="T30" fmla="*/ 196 w 196"/>
                  <a:gd name="T31" fmla="*/ 26 h 529"/>
                  <a:gd name="T32" fmla="*/ 171 w 196"/>
                  <a:gd name="T33" fmla="*/ 0 h 529"/>
                  <a:gd name="T34" fmla="*/ 145 w 196"/>
                  <a:gd name="T35" fmla="*/ 439 h 529"/>
                  <a:gd name="T36" fmla="*/ 117 w 196"/>
                  <a:gd name="T37" fmla="*/ 410 h 529"/>
                  <a:gd name="T38" fmla="*/ 80 w 196"/>
                  <a:gd name="T39" fmla="*/ 410 h 529"/>
                  <a:gd name="T40" fmla="*/ 52 w 196"/>
                  <a:gd name="T41" fmla="*/ 439 h 529"/>
                  <a:gd name="T42" fmla="*/ 52 w 196"/>
                  <a:gd name="T43" fmla="*/ 53 h 529"/>
                  <a:gd name="T44" fmla="*/ 145 w 196"/>
                  <a:gd name="T45" fmla="*/ 53 h 529"/>
                  <a:gd name="T46" fmla="*/ 145 w 196"/>
                  <a:gd name="T47" fmla="*/ 439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6" h="529">
                    <a:moveTo>
                      <a:pt x="171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05"/>
                      <a:pt x="1" y="509"/>
                      <a:pt x="2" y="512"/>
                    </a:cubicBezTo>
                    <a:cubicBezTo>
                      <a:pt x="5" y="518"/>
                      <a:pt x="10" y="523"/>
                      <a:pt x="16" y="526"/>
                    </a:cubicBezTo>
                    <a:cubicBezTo>
                      <a:pt x="23" y="529"/>
                      <a:pt x="30" y="529"/>
                      <a:pt x="36" y="526"/>
                    </a:cubicBezTo>
                    <a:cubicBezTo>
                      <a:pt x="39" y="525"/>
                      <a:pt x="42" y="523"/>
                      <a:pt x="44" y="520"/>
                    </a:cubicBezTo>
                    <a:cubicBezTo>
                      <a:pt x="98" y="466"/>
                      <a:pt x="98" y="466"/>
                      <a:pt x="98" y="466"/>
                    </a:cubicBezTo>
                    <a:cubicBezTo>
                      <a:pt x="152" y="520"/>
                      <a:pt x="152" y="520"/>
                      <a:pt x="152" y="520"/>
                    </a:cubicBezTo>
                    <a:cubicBezTo>
                      <a:pt x="155" y="523"/>
                      <a:pt x="158" y="525"/>
                      <a:pt x="161" y="526"/>
                    </a:cubicBezTo>
                    <a:cubicBezTo>
                      <a:pt x="164" y="527"/>
                      <a:pt x="167" y="528"/>
                      <a:pt x="171" y="528"/>
                    </a:cubicBezTo>
                    <a:cubicBezTo>
                      <a:pt x="174" y="528"/>
                      <a:pt x="177" y="527"/>
                      <a:pt x="180" y="526"/>
                    </a:cubicBezTo>
                    <a:cubicBezTo>
                      <a:pt x="187" y="523"/>
                      <a:pt x="192" y="518"/>
                      <a:pt x="194" y="512"/>
                    </a:cubicBezTo>
                    <a:cubicBezTo>
                      <a:pt x="196" y="509"/>
                      <a:pt x="196" y="505"/>
                      <a:pt x="196" y="502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6" y="12"/>
                      <a:pt x="185" y="0"/>
                      <a:pt x="171" y="0"/>
                    </a:cubicBezTo>
                    <a:close/>
                    <a:moveTo>
                      <a:pt x="145" y="439"/>
                    </a:moveTo>
                    <a:cubicBezTo>
                      <a:pt x="117" y="410"/>
                      <a:pt x="117" y="410"/>
                      <a:pt x="117" y="410"/>
                    </a:cubicBezTo>
                    <a:cubicBezTo>
                      <a:pt x="107" y="400"/>
                      <a:pt x="90" y="400"/>
                      <a:pt x="80" y="410"/>
                    </a:cubicBezTo>
                    <a:cubicBezTo>
                      <a:pt x="52" y="439"/>
                      <a:pt x="52" y="439"/>
                      <a:pt x="52" y="439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145" y="53"/>
                      <a:pt x="145" y="53"/>
                      <a:pt x="145" y="53"/>
                    </a:cubicBezTo>
                    <a:lnTo>
                      <a:pt x="145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68" name="Freeform 1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>
              <a:spLocks noEditPoints="1"/>
            </p:cNvSpPr>
            <p:nvPr/>
          </p:nvSpPr>
          <p:spPr bwMode="auto">
            <a:xfrm>
              <a:off x="4870009" y="2670864"/>
              <a:ext cx="538588" cy="609829"/>
            </a:xfrm>
            <a:custGeom>
              <a:avLst/>
              <a:gdLst>
                <a:gd name="T0" fmla="*/ 41 w 706"/>
                <a:gd name="T1" fmla="*/ 680 h 800"/>
                <a:gd name="T2" fmla="*/ 39 w 706"/>
                <a:gd name="T3" fmla="*/ 273 h 800"/>
                <a:gd name="T4" fmla="*/ 243 w 706"/>
                <a:gd name="T5" fmla="*/ 109 h 800"/>
                <a:gd name="T6" fmla="*/ 237 w 706"/>
                <a:gd name="T7" fmla="*/ 90 h 800"/>
                <a:gd name="T8" fmla="*/ 545 w 706"/>
                <a:gd name="T9" fmla="*/ 40 h 800"/>
                <a:gd name="T10" fmla="*/ 600 w 706"/>
                <a:gd name="T11" fmla="*/ 95 h 800"/>
                <a:gd name="T12" fmla="*/ 640 w 706"/>
                <a:gd name="T13" fmla="*/ 231 h 800"/>
                <a:gd name="T14" fmla="*/ 611 w 706"/>
                <a:gd name="T15" fmla="*/ 28 h 800"/>
                <a:gd name="T16" fmla="*/ 600 w 706"/>
                <a:gd name="T17" fmla="*/ 17 h 800"/>
                <a:gd name="T18" fmla="*/ 586 w 706"/>
                <a:gd name="T19" fmla="*/ 10 h 800"/>
                <a:gd name="T20" fmla="*/ 570 w 706"/>
                <a:gd name="T21" fmla="*/ 3 h 800"/>
                <a:gd name="T22" fmla="*/ 554 w 706"/>
                <a:gd name="T23" fmla="*/ 0 h 800"/>
                <a:gd name="T24" fmla="*/ 127 w 706"/>
                <a:gd name="T25" fmla="*/ 0 h 800"/>
                <a:gd name="T26" fmla="*/ 122 w 706"/>
                <a:gd name="T27" fmla="*/ 1 h 800"/>
                <a:gd name="T28" fmla="*/ 115 w 706"/>
                <a:gd name="T29" fmla="*/ 4 h 800"/>
                <a:gd name="T30" fmla="*/ 109 w 706"/>
                <a:gd name="T31" fmla="*/ 14 h 800"/>
                <a:gd name="T32" fmla="*/ 0 w 706"/>
                <a:gd name="T33" fmla="*/ 288 h 800"/>
                <a:gd name="T34" fmla="*/ 28 w 706"/>
                <a:gd name="T35" fmla="*/ 732 h 800"/>
                <a:gd name="T36" fmla="*/ 199 w 706"/>
                <a:gd name="T37" fmla="*/ 760 h 800"/>
                <a:gd name="T38" fmla="*/ 94 w 706"/>
                <a:gd name="T39" fmla="*/ 720 h 800"/>
                <a:gd name="T40" fmla="*/ 47 w 706"/>
                <a:gd name="T41" fmla="*/ 693 h 800"/>
                <a:gd name="T42" fmla="*/ 480 w 706"/>
                <a:gd name="T43" fmla="*/ 320 h 800"/>
                <a:gd name="T44" fmla="*/ 146 w 706"/>
                <a:gd name="T45" fmla="*/ 360 h 800"/>
                <a:gd name="T46" fmla="*/ 400 w 706"/>
                <a:gd name="T47" fmla="*/ 413 h 800"/>
                <a:gd name="T48" fmla="*/ 146 w 706"/>
                <a:gd name="T49" fmla="*/ 453 h 800"/>
                <a:gd name="T50" fmla="*/ 400 w 706"/>
                <a:gd name="T51" fmla="*/ 413 h 800"/>
                <a:gd name="T52" fmla="*/ 306 w 706"/>
                <a:gd name="T53" fmla="*/ 547 h 800"/>
                <a:gd name="T54" fmla="*/ 146 w 706"/>
                <a:gd name="T55" fmla="*/ 507 h 800"/>
                <a:gd name="T56" fmla="*/ 146 w 706"/>
                <a:gd name="T57" fmla="*/ 227 h 800"/>
                <a:gd name="T58" fmla="*/ 533 w 706"/>
                <a:gd name="T59" fmla="*/ 267 h 800"/>
                <a:gd name="T60" fmla="*/ 146 w 706"/>
                <a:gd name="T61" fmla="*/ 227 h 800"/>
                <a:gd name="T62" fmla="*/ 339 w 706"/>
                <a:gd name="T63" fmla="*/ 591 h 800"/>
                <a:gd name="T64" fmla="*/ 603 w 706"/>
                <a:gd name="T65" fmla="*/ 337 h 800"/>
                <a:gd name="T66" fmla="*/ 638 w 706"/>
                <a:gd name="T67" fmla="*/ 337 h 800"/>
                <a:gd name="T68" fmla="*/ 693 w 706"/>
                <a:gd name="T69" fmla="*/ 385 h 800"/>
                <a:gd name="T70" fmla="*/ 693 w 706"/>
                <a:gd name="T71" fmla="*/ 450 h 800"/>
                <a:gd name="T72" fmla="*/ 339 w 706"/>
                <a:gd name="T73" fmla="*/ 591 h 800"/>
                <a:gd name="T74" fmla="*/ 270 w 706"/>
                <a:gd name="T75" fmla="*/ 658 h 800"/>
                <a:gd name="T76" fmla="*/ 226 w 706"/>
                <a:gd name="T77" fmla="*/ 800 h 800"/>
                <a:gd name="T78" fmla="*/ 414 w 706"/>
                <a:gd name="T79" fmla="*/ 723 h 800"/>
                <a:gd name="T80" fmla="*/ 594 w 706"/>
                <a:gd name="T81" fmla="*/ 703 h 800"/>
                <a:gd name="T82" fmla="*/ 460 w 706"/>
                <a:gd name="T83" fmla="*/ 719 h 800"/>
                <a:gd name="T84" fmla="*/ 553 w 706"/>
                <a:gd name="T85" fmla="*/ 760 h 800"/>
                <a:gd name="T86" fmla="*/ 653 w 706"/>
                <a:gd name="T87" fmla="*/ 663 h 800"/>
                <a:gd name="T88" fmla="*/ 611 w 706"/>
                <a:gd name="T89" fmla="*/ 587 h 800"/>
                <a:gd name="T90" fmla="*/ 594 w 706"/>
                <a:gd name="T91" fmla="*/ 703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6" h="800">
                  <a:moveTo>
                    <a:pt x="47" y="693"/>
                  </a:moveTo>
                  <a:cubicBezTo>
                    <a:pt x="44" y="689"/>
                    <a:pt x="43" y="684"/>
                    <a:pt x="41" y="680"/>
                  </a:cubicBezTo>
                  <a:cubicBezTo>
                    <a:pt x="40" y="675"/>
                    <a:pt x="39" y="670"/>
                    <a:pt x="39" y="665"/>
                  </a:cubicBezTo>
                  <a:cubicBezTo>
                    <a:pt x="39" y="273"/>
                    <a:pt x="39" y="273"/>
                    <a:pt x="39" y="273"/>
                  </a:cubicBezTo>
                  <a:cubicBezTo>
                    <a:pt x="238" y="119"/>
                    <a:pt x="238" y="119"/>
                    <a:pt x="238" y="119"/>
                  </a:cubicBezTo>
                  <a:cubicBezTo>
                    <a:pt x="241" y="115"/>
                    <a:pt x="243" y="112"/>
                    <a:pt x="243" y="109"/>
                  </a:cubicBezTo>
                  <a:cubicBezTo>
                    <a:pt x="244" y="105"/>
                    <a:pt x="244" y="102"/>
                    <a:pt x="242" y="98"/>
                  </a:cubicBezTo>
                  <a:cubicBezTo>
                    <a:pt x="241" y="95"/>
                    <a:pt x="239" y="92"/>
                    <a:pt x="237" y="9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545" y="40"/>
                    <a:pt x="545" y="40"/>
                    <a:pt x="545" y="40"/>
                  </a:cubicBezTo>
                  <a:cubicBezTo>
                    <a:pt x="560" y="40"/>
                    <a:pt x="573" y="45"/>
                    <a:pt x="584" y="56"/>
                  </a:cubicBezTo>
                  <a:cubicBezTo>
                    <a:pt x="595" y="67"/>
                    <a:pt x="600" y="80"/>
                    <a:pt x="600" y="95"/>
                  </a:cubicBezTo>
                  <a:cubicBezTo>
                    <a:pt x="600" y="270"/>
                    <a:pt x="600" y="270"/>
                    <a:pt x="600" y="270"/>
                  </a:cubicBezTo>
                  <a:cubicBezTo>
                    <a:pt x="640" y="231"/>
                    <a:pt x="640" y="231"/>
                    <a:pt x="640" y="231"/>
                  </a:cubicBezTo>
                  <a:cubicBezTo>
                    <a:pt x="640" y="95"/>
                    <a:pt x="640" y="95"/>
                    <a:pt x="640" y="95"/>
                  </a:cubicBezTo>
                  <a:cubicBezTo>
                    <a:pt x="640" y="69"/>
                    <a:pt x="630" y="47"/>
                    <a:pt x="611" y="28"/>
                  </a:cubicBezTo>
                  <a:cubicBezTo>
                    <a:pt x="609" y="26"/>
                    <a:pt x="607" y="24"/>
                    <a:pt x="606" y="22"/>
                  </a:cubicBezTo>
                  <a:cubicBezTo>
                    <a:pt x="604" y="21"/>
                    <a:pt x="602" y="19"/>
                    <a:pt x="600" y="17"/>
                  </a:cubicBezTo>
                  <a:cubicBezTo>
                    <a:pt x="592" y="13"/>
                    <a:pt x="592" y="13"/>
                    <a:pt x="592" y="13"/>
                  </a:cubicBezTo>
                  <a:cubicBezTo>
                    <a:pt x="590" y="11"/>
                    <a:pt x="588" y="10"/>
                    <a:pt x="586" y="10"/>
                  </a:cubicBezTo>
                  <a:cubicBezTo>
                    <a:pt x="578" y="6"/>
                    <a:pt x="578" y="6"/>
                    <a:pt x="578" y="6"/>
                  </a:cubicBezTo>
                  <a:cubicBezTo>
                    <a:pt x="576" y="5"/>
                    <a:pt x="573" y="4"/>
                    <a:pt x="570" y="3"/>
                  </a:cubicBezTo>
                  <a:cubicBezTo>
                    <a:pt x="567" y="2"/>
                    <a:pt x="565" y="2"/>
                    <a:pt x="562" y="1"/>
                  </a:cubicBezTo>
                  <a:cubicBezTo>
                    <a:pt x="559" y="1"/>
                    <a:pt x="557" y="1"/>
                    <a:pt x="554" y="0"/>
                  </a:cubicBezTo>
                  <a:cubicBezTo>
                    <a:pt x="551" y="0"/>
                    <a:pt x="548" y="0"/>
                    <a:pt x="54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0" y="2"/>
                    <a:pt x="118" y="2"/>
                    <a:pt x="118" y="2"/>
                  </a:cubicBezTo>
                  <a:cubicBezTo>
                    <a:pt x="117" y="3"/>
                    <a:pt x="116" y="3"/>
                    <a:pt x="115" y="4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2"/>
                    <a:pt x="109" y="13"/>
                    <a:pt x="109" y="14"/>
                  </a:cubicBezTo>
                  <a:cubicBezTo>
                    <a:pt x="2" y="280"/>
                    <a:pt x="2" y="280"/>
                    <a:pt x="2" y="280"/>
                  </a:cubicBezTo>
                  <a:cubicBezTo>
                    <a:pt x="0" y="283"/>
                    <a:pt x="0" y="285"/>
                    <a:pt x="0" y="288"/>
                  </a:cubicBezTo>
                  <a:cubicBezTo>
                    <a:pt x="0" y="665"/>
                    <a:pt x="0" y="665"/>
                    <a:pt x="0" y="665"/>
                  </a:cubicBezTo>
                  <a:cubicBezTo>
                    <a:pt x="0" y="691"/>
                    <a:pt x="9" y="713"/>
                    <a:pt x="28" y="732"/>
                  </a:cubicBezTo>
                  <a:cubicBezTo>
                    <a:pt x="46" y="751"/>
                    <a:pt x="68" y="760"/>
                    <a:pt x="94" y="760"/>
                  </a:cubicBezTo>
                  <a:cubicBezTo>
                    <a:pt x="199" y="760"/>
                    <a:pt x="199" y="760"/>
                    <a:pt x="199" y="760"/>
                  </a:cubicBezTo>
                  <a:cubicBezTo>
                    <a:pt x="214" y="720"/>
                    <a:pt x="214" y="720"/>
                    <a:pt x="214" y="720"/>
                  </a:cubicBezTo>
                  <a:cubicBezTo>
                    <a:pt x="94" y="720"/>
                    <a:pt x="94" y="720"/>
                    <a:pt x="94" y="720"/>
                  </a:cubicBezTo>
                  <a:cubicBezTo>
                    <a:pt x="79" y="720"/>
                    <a:pt x="66" y="715"/>
                    <a:pt x="56" y="704"/>
                  </a:cubicBezTo>
                  <a:cubicBezTo>
                    <a:pt x="52" y="700"/>
                    <a:pt x="50" y="696"/>
                    <a:pt x="47" y="693"/>
                  </a:cubicBezTo>
                  <a:close/>
                  <a:moveTo>
                    <a:pt x="146" y="320"/>
                  </a:moveTo>
                  <a:cubicBezTo>
                    <a:pt x="480" y="320"/>
                    <a:pt x="480" y="320"/>
                    <a:pt x="480" y="320"/>
                  </a:cubicBezTo>
                  <a:cubicBezTo>
                    <a:pt x="480" y="360"/>
                    <a:pt x="480" y="360"/>
                    <a:pt x="480" y="360"/>
                  </a:cubicBezTo>
                  <a:cubicBezTo>
                    <a:pt x="146" y="360"/>
                    <a:pt x="146" y="360"/>
                    <a:pt x="146" y="360"/>
                  </a:cubicBezTo>
                  <a:cubicBezTo>
                    <a:pt x="146" y="320"/>
                    <a:pt x="146" y="320"/>
                    <a:pt x="146" y="320"/>
                  </a:cubicBezTo>
                  <a:close/>
                  <a:moveTo>
                    <a:pt x="400" y="413"/>
                  </a:moveTo>
                  <a:cubicBezTo>
                    <a:pt x="400" y="453"/>
                    <a:pt x="400" y="453"/>
                    <a:pt x="400" y="453"/>
                  </a:cubicBezTo>
                  <a:cubicBezTo>
                    <a:pt x="146" y="453"/>
                    <a:pt x="146" y="453"/>
                    <a:pt x="146" y="453"/>
                  </a:cubicBezTo>
                  <a:cubicBezTo>
                    <a:pt x="146" y="413"/>
                    <a:pt x="146" y="413"/>
                    <a:pt x="146" y="413"/>
                  </a:cubicBezTo>
                  <a:lnTo>
                    <a:pt x="400" y="413"/>
                  </a:lnTo>
                  <a:close/>
                  <a:moveTo>
                    <a:pt x="306" y="507"/>
                  </a:moveTo>
                  <a:cubicBezTo>
                    <a:pt x="306" y="547"/>
                    <a:pt x="306" y="547"/>
                    <a:pt x="306" y="547"/>
                  </a:cubicBezTo>
                  <a:cubicBezTo>
                    <a:pt x="146" y="547"/>
                    <a:pt x="146" y="547"/>
                    <a:pt x="146" y="547"/>
                  </a:cubicBezTo>
                  <a:cubicBezTo>
                    <a:pt x="146" y="507"/>
                    <a:pt x="146" y="507"/>
                    <a:pt x="146" y="507"/>
                  </a:cubicBezTo>
                  <a:lnTo>
                    <a:pt x="306" y="507"/>
                  </a:lnTo>
                  <a:close/>
                  <a:moveTo>
                    <a:pt x="146" y="227"/>
                  </a:moveTo>
                  <a:cubicBezTo>
                    <a:pt x="533" y="227"/>
                    <a:pt x="533" y="227"/>
                    <a:pt x="533" y="227"/>
                  </a:cubicBezTo>
                  <a:cubicBezTo>
                    <a:pt x="533" y="267"/>
                    <a:pt x="533" y="267"/>
                    <a:pt x="533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6" y="227"/>
                    <a:pt x="146" y="227"/>
                    <a:pt x="146" y="227"/>
                  </a:cubicBezTo>
                  <a:cubicBezTo>
                    <a:pt x="146" y="227"/>
                    <a:pt x="146" y="227"/>
                    <a:pt x="146" y="227"/>
                  </a:cubicBezTo>
                  <a:close/>
                  <a:moveTo>
                    <a:pt x="339" y="591"/>
                  </a:moveTo>
                  <a:cubicBezTo>
                    <a:pt x="588" y="347"/>
                    <a:pt x="588" y="347"/>
                    <a:pt x="588" y="347"/>
                  </a:cubicBezTo>
                  <a:cubicBezTo>
                    <a:pt x="592" y="342"/>
                    <a:pt x="597" y="339"/>
                    <a:pt x="603" y="337"/>
                  </a:cubicBezTo>
                  <a:cubicBezTo>
                    <a:pt x="609" y="334"/>
                    <a:pt x="615" y="333"/>
                    <a:pt x="621" y="333"/>
                  </a:cubicBezTo>
                  <a:cubicBezTo>
                    <a:pt x="627" y="333"/>
                    <a:pt x="632" y="335"/>
                    <a:pt x="638" y="337"/>
                  </a:cubicBezTo>
                  <a:cubicBezTo>
                    <a:pt x="644" y="339"/>
                    <a:pt x="649" y="343"/>
                    <a:pt x="653" y="347"/>
                  </a:cubicBezTo>
                  <a:cubicBezTo>
                    <a:pt x="693" y="385"/>
                    <a:pt x="693" y="385"/>
                    <a:pt x="693" y="385"/>
                  </a:cubicBezTo>
                  <a:cubicBezTo>
                    <a:pt x="702" y="394"/>
                    <a:pt x="706" y="405"/>
                    <a:pt x="706" y="418"/>
                  </a:cubicBezTo>
                  <a:cubicBezTo>
                    <a:pt x="706" y="430"/>
                    <a:pt x="702" y="441"/>
                    <a:pt x="693" y="450"/>
                  </a:cubicBezTo>
                  <a:cubicBezTo>
                    <a:pt x="443" y="695"/>
                    <a:pt x="443" y="695"/>
                    <a:pt x="443" y="695"/>
                  </a:cubicBezTo>
                  <a:lnTo>
                    <a:pt x="339" y="591"/>
                  </a:lnTo>
                  <a:close/>
                  <a:moveTo>
                    <a:pt x="310" y="619"/>
                  </a:moveTo>
                  <a:cubicBezTo>
                    <a:pt x="270" y="658"/>
                    <a:pt x="270" y="658"/>
                    <a:pt x="270" y="658"/>
                  </a:cubicBezTo>
                  <a:cubicBezTo>
                    <a:pt x="232" y="782"/>
                    <a:pt x="232" y="782"/>
                    <a:pt x="232" y="782"/>
                  </a:cubicBezTo>
                  <a:cubicBezTo>
                    <a:pt x="226" y="800"/>
                    <a:pt x="226" y="800"/>
                    <a:pt x="226" y="800"/>
                  </a:cubicBezTo>
                  <a:cubicBezTo>
                    <a:pt x="377" y="760"/>
                    <a:pt x="377" y="760"/>
                    <a:pt x="377" y="760"/>
                  </a:cubicBezTo>
                  <a:cubicBezTo>
                    <a:pt x="414" y="723"/>
                    <a:pt x="414" y="723"/>
                    <a:pt x="414" y="723"/>
                  </a:cubicBezTo>
                  <a:lnTo>
                    <a:pt x="310" y="619"/>
                  </a:lnTo>
                  <a:close/>
                  <a:moveTo>
                    <a:pt x="594" y="703"/>
                  </a:moveTo>
                  <a:cubicBezTo>
                    <a:pt x="583" y="714"/>
                    <a:pt x="569" y="719"/>
                    <a:pt x="553" y="719"/>
                  </a:cubicBezTo>
                  <a:cubicBezTo>
                    <a:pt x="460" y="719"/>
                    <a:pt x="460" y="719"/>
                    <a:pt x="460" y="719"/>
                  </a:cubicBezTo>
                  <a:cubicBezTo>
                    <a:pt x="440" y="760"/>
                    <a:pt x="440" y="760"/>
                    <a:pt x="440" y="760"/>
                  </a:cubicBezTo>
                  <a:cubicBezTo>
                    <a:pt x="553" y="760"/>
                    <a:pt x="553" y="760"/>
                    <a:pt x="553" y="760"/>
                  </a:cubicBezTo>
                  <a:cubicBezTo>
                    <a:pt x="580" y="760"/>
                    <a:pt x="604" y="750"/>
                    <a:pt x="624" y="731"/>
                  </a:cubicBezTo>
                  <a:cubicBezTo>
                    <a:pt x="643" y="712"/>
                    <a:pt x="653" y="689"/>
                    <a:pt x="653" y="663"/>
                  </a:cubicBezTo>
                  <a:cubicBezTo>
                    <a:pt x="653" y="547"/>
                    <a:pt x="653" y="547"/>
                    <a:pt x="653" y="547"/>
                  </a:cubicBezTo>
                  <a:cubicBezTo>
                    <a:pt x="611" y="587"/>
                    <a:pt x="611" y="587"/>
                    <a:pt x="611" y="587"/>
                  </a:cubicBezTo>
                  <a:cubicBezTo>
                    <a:pt x="611" y="663"/>
                    <a:pt x="611" y="663"/>
                    <a:pt x="611" y="663"/>
                  </a:cubicBezTo>
                  <a:cubicBezTo>
                    <a:pt x="611" y="678"/>
                    <a:pt x="605" y="692"/>
                    <a:pt x="594" y="70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>
              <a:spLocks noEditPoints="1"/>
            </p:cNvSpPr>
            <p:nvPr/>
          </p:nvSpPr>
          <p:spPr bwMode="auto">
            <a:xfrm>
              <a:off x="3671033" y="2672763"/>
              <a:ext cx="619328" cy="607930"/>
            </a:xfrm>
            <a:custGeom>
              <a:avLst/>
              <a:gdLst>
                <a:gd name="T0" fmla="*/ 716 w 727"/>
                <a:gd name="T1" fmla="*/ 677 h 714"/>
                <a:gd name="T2" fmla="*/ 690 w 727"/>
                <a:gd name="T3" fmla="*/ 703 h 714"/>
                <a:gd name="T4" fmla="*/ 652 w 727"/>
                <a:gd name="T5" fmla="*/ 703 h 714"/>
                <a:gd name="T6" fmla="*/ 546 w 727"/>
                <a:gd name="T7" fmla="*/ 597 h 714"/>
                <a:gd name="T8" fmla="*/ 459 w 727"/>
                <a:gd name="T9" fmla="*/ 620 h 714"/>
                <a:gd name="T10" fmla="*/ 280 w 727"/>
                <a:gd name="T11" fmla="*/ 441 h 714"/>
                <a:gd name="T12" fmla="*/ 453 w 727"/>
                <a:gd name="T13" fmla="*/ 268 h 714"/>
                <a:gd name="T14" fmla="*/ 632 w 727"/>
                <a:gd name="T15" fmla="*/ 447 h 714"/>
                <a:gd name="T16" fmla="*/ 607 w 727"/>
                <a:gd name="T17" fmla="*/ 537 h 714"/>
                <a:gd name="T18" fmla="*/ 712 w 727"/>
                <a:gd name="T19" fmla="*/ 643 h 714"/>
                <a:gd name="T20" fmla="*/ 716 w 727"/>
                <a:gd name="T21" fmla="*/ 677 h 714"/>
                <a:gd name="T22" fmla="*/ 453 w 727"/>
                <a:gd name="T23" fmla="*/ 321 h 714"/>
                <a:gd name="T24" fmla="*/ 334 w 727"/>
                <a:gd name="T25" fmla="*/ 441 h 714"/>
                <a:gd name="T26" fmla="*/ 459 w 727"/>
                <a:gd name="T27" fmla="*/ 567 h 714"/>
                <a:gd name="T28" fmla="*/ 579 w 727"/>
                <a:gd name="T29" fmla="*/ 447 h 714"/>
                <a:gd name="T30" fmla="*/ 453 w 727"/>
                <a:gd name="T31" fmla="*/ 321 h 714"/>
                <a:gd name="T32" fmla="*/ 86 w 727"/>
                <a:gd name="T33" fmla="*/ 485 h 714"/>
                <a:gd name="T34" fmla="*/ 86 w 727"/>
                <a:gd name="T35" fmla="*/ 457 h 714"/>
                <a:gd name="T36" fmla="*/ 215 w 727"/>
                <a:gd name="T37" fmla="*/ 457 h 714"/>
                <a:gd name="T38" fmla="*/ 217 w 727"/>
                <a:gd name="T39" fmla="*/ 485 h 714"/>
                <a:gd name="T40" fmla="*/ 86 w 727"/>
                <a:gd name="T41" fmla="*/ 485 h 714"/>
                <a:gd name="T42" fmla="*/ 86 w 727"/>
                <a:gd name="T43" fmla="*/ 371 h 714"/>
                <a:gd name="T44" fmla="*/ 228 w 727"/>
                <a:gd name="T45" fmla="*/ 371 h 714"/>
                <a:gd name="T46" fmla="*/ 220 w 727"/>
                <a:gd name="T47" fmla="*/ 400 h 714"/>
                <a:gd name="T48" fmla="*/ 86 w 727"/>
                <a:gd name="T49" fmla="*/ 400 h 714"/>
                <a:gd name="T50" fmla="*/ 86 w 727"/>
                <a:gd name="T51" fmla="*/ 371 h 714"/>
                <a:gd name="T52" fmla="*/ 86 w 727"/>
                <a:gd name="T53" fmla="*/ 314 h 714"/>
                <a:gd name="T54" fmla="*/ 86 w 727"/>
                <a:gd name="T55" fmla="*/ 285 h 714"/>
                <a:gd name="T56" fmla="*/ 281 w 727"/>
                <a:gd name="T57" fmla="*/ 285 h 714"/>
                <a:gd name="T58" fmla="*/ 257 w 727"/>
                <a:gd name="T59" fmla="*/ 314 h 714"/>
                <a:gd name="T60" fmla="*/ 86 w 727"/>
                <a:gd name="T61" fmla="*/ 314 h 714"/>
                <a:gd name="T62" fmla="*/ 86 w 727"/>
                <a:gd name="T63" fmla="*/ 114 h 714"/>
                <a:gd name="T64" fmla="*/ 371 w 727"/>
                <a:gd name="T65" fmla="*/ 114 h 714"/>
                <a:gd name="T66" fmla="*/ 371 w 727"/>
                <a:gd name="T67" fmla="*/ 143 h 714"/>
                <a:gd name="T68" fmla="*/ 86 w 727"/>
                <a:gd name="T69" fmla="*/ 143 h 714"/>
                <a:gd name="T70" fmla="*/ 86 w 727"/>
                <a:gd name="T71" fmla="*/ 114 h 714"/>
                <a:gd name="T72" fmla="*/ 371 w 727"/>
                <a:gd name="T73" fmla="*/ 228 h 714"/>
                <a:gd name="T74" fmla="*/ 370 w 727"/>
                <a:gd name="T75" fmla="*/ 228 h 714"/>
                <a:gd name="T76" fmla="*/ 86 w 727"/>
                <a:gd name="T77" fmla="*/ 228 h 714"/>
                <a:gd name="T78" fmla="*/ 86 w 727"/>
                <a:gd name="T79" fmla="*/ 200 h 714"/>
                <a:gd name="T80" fmla="*/ 371 w 727"/>
                <a:gd name="T81" fmla="*/ 200 h 714"/>
                <a:gd name="T82" fmla="*/ 371 w 727"/>
                <a:gd name="T83" fmla="*/ 228 h 714"/>
                <a:gd name="T84" fmla="*/ 429 w 727"/>
                <a:gd name="T85" fmla="*/ 215 h 714"/>
                <a:gd name="T86" fmla="*/ 429 w 727"/>
                <a:gd name="T87" fmla="*/ 57 h 714"/>
                <a:gd name="T88" fmla="*/ 29 w 727"/>
                <a:gd name="T89" fmla="*/ 57 h 714"/>
                <a:gd name="T90" fmla="*/ 29 w 727"/>
                <a:gd name="T91" fmla="*/ 542 h 714"/>
                <a:gd name="T92" fmla="*/ 233 w 727"/>
                <a:gd name="T93" fmla="*/ 542 h 714"/>
                <a:gd name="T94" fmla="*/ 268 w 727"/>
                <a:gd name="T95" fmla="*/ 600 h 714"/>
                <a:gd name="T96" fmla="*/ 29 w 727"/>
                <a:gd name="T97" fmla="*/ 600 h 714"/>
                <a:gd name="T98" fmla="*/ 0 w 727"/>
                <a:gd name="T99" fmla="*/ 571 h 714"/>
                <a:gd name="T100" fmla="*/ 0 w 727"/>
                <a:gd name="T101" fmla="*/ 28 h 714"/>
                <a:gd name="T102" fmla="*/ 29 w 727"/>
                <a:gd name="T103" fmla="*/ 0 h 714"/>
                <a:gd name="T104" fmla="*/ 429 w 727"/>
                <a:gd name="T105" fmla="*/ 0 h 714"/>
                <a:gd name="T106" fmla="*/ 457 w 727"/>
                <a:gd name="T107" fmla="*/ 28 h 714"/>
                <a:gd name="T108" fmla="*/ 457 w 727"/>
                <a:gd name="T109" fmla="*/ 214 h 714"/>
                <a:gd name="T110" fmla="*/ 450 w 727"/>
                <a:gd name="T111" fmla="*/ 214 h 714"/>
                <a:gd name="T112" fmla="*/ 429 w 727"/>
                <a:gd name="T113" fmla="*/ 215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27" h="714">
                  <a:moveTo>
                    <a:pt x="716" y="677"/>
                  </a:moveTo>
                  <a:cubicBezTo>
                    <a:pt x="690" y="703"/>
                    <a:pt x="690" y="703"/>
                    <a:pt x="690" y="703"/>
                  </a:cubicBezTo>
                  <a:cubicBezTo>
                    <a:pt x="679" y="714"/>
                    <a:pt x="663" y="714"/>
                    <a:pt x="652" y="703"/>
                  </a:cubicBezTo>
                  <a:cubicBezTo>
                    <a:pt x="546" y="597"/>
                    <a:pt x="546" y="597"/>
                    <a:pt x="546" y="597"/>
                  </a:cubicBezTo>
                  <a:cubicBezTo>
                    <a:pt x="520" y="612"/>
                    <a:pt x="491" y="620"/>
                    <a:pt x="459" y="620"/>
                  </a:cubicBezTo>
                  <a:cubicBezTo>
                    <a:pt x="363" y="620"/>
                    <a:pt x="280" y="537"/>
                    <a:pt x="280" y="441"/>
                  </a:cubicBezTo>
                  <a:cubicBezTo>
                    <a:pt x="280" y="345"/>
                    <a:pt x="358" y="268"/>
                    <a:pt x="453" y="268"/>
                  </a:cubicBezTo>
                  <a:cubicBezTo>
                    <a:pt x="549" y="268"/>
                    <a:pt x="632" y="351"/>
                    <a:pt x="632" y="447"/>
                  </a:cubicBezTo>
                  <a:cubicBezTo>
                    <a:pt x="632" y="480"/>
                    <a:pt x="623" y="510"/>
                    <a:pt x="607" y="537"/>
                  </a:cubicBezTo>
                  <a:cubicBezTo>
                    <a:pt x="712" y="643"/>
                    <a:pt x="712" y="643"/>
                    <a:pt x="712" y="643"/>
                  </a:cubicBezTo>
                  <a:cubicBezTo>
                    <a:pt x="723" y="653"/>
                    <a:pt x="727" y="666"/>
                    <a:pt x="716" y="677"/>
                  </a:cubicBezTo>
                  <a:close/>
                  <a:moveTo>
                    <a:pt x="453" y="321"/>
                  </a:moveTo>
                  <a:cubicBezTo>
                    <a:pt x="387" y="321"/>
                    <a:pt x="334" y="375"/>
                    <a:pt x="334" y="441"/>
                  </a:cubicBezTo>
                  <a:cubicBezTo>
                    <a:pt x="334" y="508"/>
                    <a:pt x="393" y="567"/>
                    <a:pt x="459" y="567"/>
                  </a:cubicBezTo>
                  <a:cubicBezTo>
                    <a:pt x="525" y="567"/>
                    <a:pt x="579" y="513"/>
                    <a:pt x="579" y="447"/>
                  </a:cubicBezTo>
                  <a:cubicBezTo>
                    <a:pt x="579" y="380"/>
                    <a:pt x="520" y="321"/>
                    <a:pt x="453" y="321"/>
                  </a:cubicBezTo>
                  <a:close/>
                  <a:moveTo>
                    <a:pt x="86" y="485"/>
                  </a:moveTo>
                  <a:cubicBezTo>
                    <a:pt x="86" y="457"/>
                    <a:pt x="86" y="457"/>
                    <a:pt x="86" y="457"/>
                  </a:cubicBezTo>
                  <a:cubicBezTo>
                    <a:pt x="215" y="457"/>
                    <a:pt x="215" y="457"/>
                    <a:pt x="215" y="457"/>
                  </a:cubicBezTo>
                  <a:cubicBezTo>
                    <a:pt x="215" y="466"/>
                    <a:pt x="216" y="476"/>
                    <a:pt x="217" y="485"/>
                  </a:cubicBezTo>
                  <a:lnTo>
                    <a:pt x="86" y="485"/>
                  </a:lnTo>
                  <a:close/>
                  <a:moveTo>
                    <a:pt x="86" y="371"/>
                  </a:moveTo>
                  <a:cubicBezTo>
                    <a:pt x="228" y="371"/>
                    <a:pt x="228" y="371"/>
                    <a:pt x="228" y="371"/>
                  </a:cubicBezTo>
                  <a:cubicBezTo>
                    <a:pt x="225" y="380"/>
                    <a:pt x="222" y="390"/>
                    <a:pt x="220" y="400"/>
                  </a:cubicBezTo>
                  <a:cubicBezTo>
                    <a:pt x="86" y="400"/>
                    <a:pt x="86" y="400"/>
                    <a:pt x="86" y="400"/>
                  </a:cubicBezTo>
                  <a:lnTo>
                    <a:pt x="86" y="371"/>
                  </a:lnTo>
                  <a:close/>
                  <a:moveTo>
                    <a:pt x="86" y="314"/>
                  </a:moveTo>
                  <a:cubicBezTo>
                    <a:pt x="86" y="285"/>
                    <a:pt x="86" y="285"/>
                    <a:pt x="86" y="285"/>
                  </a:cubicBezTo>
                  <a:cubicBezTo>
                    <a:pt x="281" y="285"/>
                    <a:pt x="281" y="285"/>
                    <a:pt x="281" y="285"/>
                  </a:cubicBezTo>
                  <a:cubicBezTo>
                    <a:pt x="273" y="294"/>
                    <a:pt x="265" y="304"/>
                    <a:pt x="257" y="314"/>
                  </a:cubicBezTo>
                  <a:lnTo>
                    <a:pt x="86" y="314"/>
                  </a:lnTo>
                  <a:close/>
                  <a:moveTo>
                    <a:pt x="86" y="114"/>
                  </a:moveTo>
                  <a:cubicBezTo>
                    <a:pt x="371" y="114"/>
                    <a:pt x="371" y="114"/>
                    <a:pt x="371" y="114"/>
                  </a:cubicBezTo>
                  <a:cubicBezTo>
                    <a:pt x="371" y="143"/>
                    <a:pt x="371" y="143"/>
                    <a:pt x="371" y="143"/>
                  </a:cubicBezTo>
                  <a:cubicBezTo>
                    <a:pt x="86" y="143"/>
                    <a:pt x="86" y="143"/>
                    <a:pt x="86" y="143"/>
                  </a:cubicBezTo>
                  <a:lnTo>
                    <a:pt x="86" y="114"/>
                  </a:lnTo>
                  <a:close/>
                  <a:moveTo>
                    <a:pt x="371" y="228"/>
                  </a:moveTo>
                  <a:cubicBezTo>
                    <a:pt x="371" y="228"/>
                    <a:pt x="370" y="228"/>
                    <a:pt x="370" y="228"/>
                  </a:cubicBezTo>
                  <a:cubicBezTo>
                    <a:pt x="86" y="228"/>
                    <a:pt x="86" y="228"/>
                    <a:pt x="86" y="228"/>
                  </a:cubicBezTo>
                  <a:cubicBezTo>
                    <a:pt x="86" y="200"/>
                    <a:pt x="86" y="200"/>
                    <a:pt x="86" y="200"/>
                  </a:cubicBezTo>
                  <a:cubicBezTo>
                    <a:pt x="371" y="200"/>
                    <a:pt x="371" y="200"/>
                    <a:pt x="371" y="200"/>
                  </a:cubicBezTo>
                  <a:cubicBezTo>
                    <a:pt x="371" y="228"/>
                    <a:pt x="371" y="228"/>
                    <a:pt x="371" y="228"/>
                  </a:cubicBezTo>
                  <a:close/>
                  <a:moveTo>
                    <a:pt x="429" y="215"/>
                  </a:moveTo>
                  <a:cubicBezTo>
                    <a:pt x="429" y="57"/>
                    <a:pt x="429" y="57"/>
                    <a:pt x="4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42"/>
                    <a:pt x="29" y="542"/>
                    <a:pt x="29" y="542"/>
                  </a:cubicBezTo>
                  <a:cubicBezTo>
                    <a:pt x="233" y="542"/>
                    <a:pt x="233" y="542"/>
                    <a:pt x="233" y="542"/>
                  </a:cubicBezTo>
                  <a:cubicBezTo>
                    <a:pt x="242" y="563"/>
                    <a:pt x="254" y="582"/>
                    <a:pt x="268" y="600"/>
                  </a:cubicBezTo>
                  <a:cubicBezTo>
                    <a:pt x="29" y="600"/>
                    <a:pt x="29" y="600"/>
                    <a:pt x="29" y="600"/>
                  </a:cubicBezTo>
                  <a:cubicBezTo>
                    <a:pt x="13" y="600"/>
                    <a:pt x="0" y="587"/>
                    <a:pt x="0" y="5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44" y="0"/>
                    <a:pt x="457" y="12"/>
                    <a:pt x="457" y="28"/>
                  </a:cubicBezTo>
                  <a:cubicBezTo>
                    <a:pt x="457" y="214"/>
                    <a:pt x="457" y="214"/>
                    <a:pt x="457" y="214"/>
                  </a:cubicBezTo>
                  <a:cubicBezTo>
                    <a:pt x="455" y="214"/>
                    <a:pt x="452" y="214"/>
                    <a:pt x="450" y="214"/>
                  </a:cubicBezTo>
                  <a:cubicBezTo>
                    <a:pt x="443" y="214"/>
                    <a:pt x="436" y="214"/>
                    <a:pt x="429" y="2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72" name="组合 71"/>
          <p:cNvGrpSpPr/>
          <p:nvPr/>
        </p:nvGrpSpPr>
        <p:grpSpPr>
          <a:xfrm flipH="1">
            <a:off x="8007268" y="1866964"/>
            <a:ext cx="3851102" cy="1662142"/>
            <a:chOff x="-664908" y="1278640"/>
            <a:chExt cx="3851102" cy="1662142"/>
          </a:xfrm>
        </p:grpSpPr>
        <p:sp>
          <p:nvSpPr>
            <p:cNvPr id="73" name="矩形 7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1975542" y="1278640"/>
              <a:ext cx="1210652" cy="707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zh-CN" altLang="en-US" sz="20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业务支持</a:t>
              </a:r>
            </a:p>
            <a:p>
              <a:pPr algn="r">
                <a:defRPr/>
              </a:pPr>
              <a:endParaRPr lang="zh-CN" altLang="en-US" sz="2000" b="1" kern="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-664908" y="1601954"/>
              <a:ext cx="3845052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网页浏览、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FTP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、视频流、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VoIP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、实时视频、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Push-to-X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以及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SON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  <a:r>
                <a:rPr lang="en-US" altLang="zh-CN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SON </a:t>
              </a:r>
              <a:r>
                <a:rPr lang="zh-CN" altLang="en-US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分为自配置、自维护和自优化</a:t>
              </a:r>
              <a:r>
                <a:rPr lang="zh-CN" altLang="en-US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。</a:t>
              </a:r>
            </a:p>
          </p:txBody>
        </p:sp>
        <p:cxnSp>
          <p:nvCxnSpPr>
            <p:cNvPr id="75" name="直接连接符 7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2080948" y="1654945"/>
              <a:ext cx="99984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的主要设计目标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主要设计目标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95657" y="2371477"/>
            <a:ext cx="2681288" cy="3656012"/>
            <a:chOff x="327025" y="1878159"/>
            <a:chExt cx="2681288" cy="3656012"/>
          </a:xfrm>
        </p:grpSpPr>
        <p:grpSp>
          <p:nvGrpSpPr>
            <p:cNvPr id="32" name="组合 31"/>
            <p:cNvGrpSpPr/>
            <p:nvPr/>
          </p:nvGrpSpPr>
          <p:grpSpPr>
            <a:xfrm>
              <a:off x="327025" y="1878159"/>
              <a:ext cx="2681288" cy="3656012"/>
              <a:chOff x="327025" y="2003108"/>
              <a:chExt cx="2681288" cy="3656012"/>
            </a:xfrm>
          </p:grpSpPr>
          <p:sp>
            <p:nvSpPr>
              <p:cNvPr id="34" name="AutoShape 2"/>
              <p:cNvSpPr/>
              <p:nvPr/>
            </p:nvSpPr>
            <p:spPr>
              <a:xfrm>
                <a:off x="327025" y="2003108"/>
                <a:ext cx="2529789" cy="444500"/>
              </a:xfrm>
              <a:prstGeom prst="homePlate">
                <a:avLst>
                  <a:gd name="adj" fmla="val 12840"/>
                </a:avLst>
              </a:prstGeom>
              <a:solidFill>
                <a:srgbClr val="7EB9F6"/>
              </a:solidFill>
              <a:ln w="6350">
                <a:noFill/>
              </a:ln>
              <a:effectLst>
                <a:outerShdw dist="35921" dir="2699999" algn="ctr" rotWithShape="0">
                  <a:srgbClr val="0186CD"/>
                </a:outerShdw>
              </a:effectLst>
            </p:spPr>
            <p:txBody>
              <a:bodyPr wrap="square" lIns="0" tIns="0" rIns="0" bIns="0" anchor="ctr">
                <a:spAutoFit/>
              </a:bodyPr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Rectangle 4"/>
              <p:cNvSpPr/>
              <p:nvPr/>
            </p:nvSpPr>
            <p:spPr>
              <a:xfrm>
                <a:off x="327026" y="2547620"/>
                <a:ext cx="2529788" cy="3111500"/>
              </a:xfrm>
              <a:prstGeom prst="rect">
                <a:avLst/>
              </a:prstGeom>
              <a:noFill/>
              <a:ln w="6350" cap="flat" cmpd="sng">
                <a:solidFill>
                  <a:srgbClr val="7EB9F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Text Box 5"/>
              <p:cNvSpPr txBox="1"/>
              <p:nvPr/>
            </p:nvSpPr>
            <p:spPr>
              <a:xfrm>
                <a:off x="461963" y="2072264"/>
                <a:ext cx="2546350" cy="30777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/>
                <a:r>
                  <a:rPr lang="zh-CN" altLang="en-US" sz="20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频谱灵活性</a:t>
                </a:r>
              </a:p>
            </p:txBody>
          </p:sp>
          <p:sp>
            <p:nvSpPr>
              <p:cNvPr id="37" name="Rectangle 6"/>
              <p:cNvSpPr/>
              <p:nvPr/>
            </p:nvSpPr>
            <p:spPr>
              <a:xfrm>
                <a:off x="411163" y="2646045"/>
                <a:ext cx="2546350" cy="27699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 anchor="t">
                <a:spAutoFit/>
              </a:bodyPr>
              <a:lstStyle/>
              <a:p>
                <a:pPr marL="1905" lvl="1" defTabSz="330200" eaLnBrk="0" hangingPunct="0">
                  <a:tabLst>
                    <a:tab pos="8521700" algn="r"/>
                  </a:tabLst>
                </a:pPr>
                <a:endParaRPr lang="zh-CN" altLang="de-DE" b="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357058" y="2653402"/>
              <a:ext cx="260118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支持不同大小的频谱分配</a:t>
              </a:r>
              <a:r>
                <a:rPr lang="en-US" altLang="zh-CN" dirty="0"/>
                <a:t>,</a:t>
              </a:r>
              <a:r>
                <a:rPr lang="zh-CN" altLang="en-US" dirty="0"/>
                <a:t>包括</a:t>
              </a:r>
              <a:r>
                <a:rPr lang="en-US" altLang="zh-CN" dirty="0"/>
                <a:t>1.4 MHz</a:t>
              </a:r>
              <a:r>
                <a:rPr lang="zh-CN" altLang="en-US" dirty="0"/>
                <a:t>、</a:t>
              </a:r>
              <a:r>
                <a:rPr lang="en-US" altLang="zh-CN" dirty="0"/>
                <a:t>3 MHz </a:t>
              </a:r>
              <a:r>
                <a:rPr lang="zh-CN" altLang="en-US" dirty="0"/>
                <a:t>、</a:t>
              </a:r>
              <a:r>
                <a:rPr lang="en-US" altLang="zh-CN" dirty="0"/>
                <a:t>5 MHz</a:t>
              </a:r>
              <a:r>
                <a:rPr lang="zh-CN" altLang="en-US" dirty="0"/>
                <a:t>、</a:t>
              </a:r>
              <a:r>
                <a:rPr lang="en-US" altLang="zh-CN" dirty="0"/>
                <a:t>10 MHz</a:t>
              </a:r>
              <a:r>
                <a:rPr lang="zh-CN" altLang="en-US" dirty="0"/>
                <a:t>、</a:t>
              </a:r>
              <a:r>
                <a:rPr lang="en-US" altLang="zh-CN" dirty="0"/>
                <a:t>15 MHz </a:t>
              </a:r>
              <a:r>
                <a:rPr lang="zh-CN" altLang="en-US" dirty="0"/>
                <a:t>以及</a:t>
              </a:r>
              <a:r>
                <a:rPr lang="en-US" altLang="zh-CN" dirty="0"/>
                <a:t>20 MHz</a:t>
              </a:r>
              <a:r>
                <a:rPr lang="zh-CN" altLang="en-US" dirty="0"/>
                <a:t>，支持成对和非成对频谱。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718921" y="2386274"/>
            <a:ext cx="2702675" cy="3656012"/>
            <a:chOff x="290468" y="1878159"/>
            <a:chExt cx="2851195" cy="3656012"/>
          </a:xfrm>
        </p:grpSpPr>
        <p:grpSp>
          <p:nvGrpSpPr>
            <p:cNvPr id="39" name="组合 38"/>
            <p:cNvGrpSpPr/>
            <p:nvPr/>
          </p:nvGrpSpPr>
          <p:grpSpPr>
            <a:xfrm>
              <a:off x="290468" y="1878159"/>
              <a:ext cx="2851195" cy="3656012"/>
              <a:chOff x="290468" y="2003108"/>
              <a:chExt cx="2851195" cy="3656012"/>
            </a:xfrm>
          </p:grpSpPr>
          <p:sp>
            <p:nvSpPr>
              <p:cNvPr id="41" name="AutoShape 2"/>
              <p:cNvSpPr/>
              <p:nvPr/>
            </p:nvSpPr>
            <p:spPr>
              <a:xfrm>
                <a:off x="327025" y="2003108"/>
                <a:ext cx="2814638" cy="444500"/>
              </a:xfrm>
              <a:prstGeom prst="homePlate">
                <a:avLst>
                  <a:gd name="adj" fmla="val 12840"/>
                </a:avLst>
              </a:prstGeom>
              <a:solidFill>
                <a:srgbClr val="7EB9F6"/>
              </a:solidFill>
              <a:ln w="6350">
                <a:noFill/>
              </a:ln>
              <a:effectLst>
                <a:outerShdw dist="35921" dir="2699999" algn="ctr" rotWithShape="0">
                  <a:srgbClr val="0186CD"/>
                </a:outerShdw>
              </a:effectLst>
            </p:spPr>
            <p:txBody>
              <a:bodyPr lIns="0" tIns="0" rIns="0" bIns="0" anchor="ctr">
                <a:spAutoFit/>
              </a:bodyPr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Rectangle 4"/>
              <p:cNvSpPr/>
              <p:nvPr/>
            </p:nvSpPr>
            <p:spPr>
              <a:xfrm>
                <a:off x="327025" y="2547620"/>
                <a:ext cx="2733675" cy="3111500"/>
              </a:xfrm>
              <a:prstGeom prst="rect">
                <a:avLst/>
              </a:prstGeom>
              <a:noFill/>
              <a:ln w="6350" cap="flat" cmpd="sng">
                <a:solidFill>
                  <a:srgbClr val="7EB9F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Text Box 5"/>
              <p:cNvSpPr txBox="1"/>
              <p:nvPr/>
            </p:nvSpPr>
            <p:spPr>
              <a:xfrm>
                <a:off x="290468" y="2081291"/>
                <a:ext cx="2546350" cy="30777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 anchor="ctr">
                <a:spAutoFit/>
              </a:bodyPr>
              <a:lstStyle/>
              <a:p>
                <a:pPr algn="r">
                  <a:defRPr/>
                </a:pPr>
                <a:r>
                  <a:rPr lang="zh-CN" altLang="en-US" sz="20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减小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CAPEX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OPEX</a:t>
                </a:r>
                <a:endParaRPr lang="zh-CN" altLang="en-US" sz="2000" b="1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Rectangle 6"/>
              <p:cNvSpPr/>
              <p:nvPr/>
            </p:nvSpPr>
            <p:spPr>
              <a:xfrm>
                <a:off x="411163" y="2646045"/>
                <a:ext cx="2546350" cy="27699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 anchor="t">
                <a:spAutoFit/>
              </a:bodyPr>
              <a:lstStyle/>
              <a:p>
                <a:pPr marL="1905" lvl="1" defTabSz="330200" eaLnBrk="0" hangingPunct="0">
                  <a:tabLst>
                    <a:tab pos="8521700" algn="r"/>
                  </a:tabLst>
                </a:pPr>
                <a:endParaRPr lang="zh-CN" altLang="de-DE" b="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357058" y="2484160"/>
              <a:ext cx="2601180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体系结构的扁平化和中间节点的减少使得设备成本（</a:t>
              </a:r>
              <a:r>
                <a:rPr lang="en-US" altLang="zh-CN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CAPEX</a:t>
              </a:r>
              <a:r>
                <a:rPr lang="zh-CN" altLang="en-US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）和维护成本（</a:t>
              </a:r>
              <a:r>
                <a:rPr lang="en-US" altLang="zh-CN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OPEX</a:t>
              </a:r>
              <a:r>
                <a:rPr lang="zh-CN" altLang="en-US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）得以显著降低。</a:t>
              </a:r>
              <a:endParaRPr lang="en-US" altLang="zh-CN" dirty="0">
                <a:solidFill>
                  <a:srgbClr val="43444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434445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自规划、自配置、自优化、自维护的能力</a:t>
              </a:r>
              <a:endParaRPr lang="zh-CN" altLang="en-US" sz="2000" dirty="0">
                <a:solidFill>
                  <a:srgbClr val="43444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573095" y="1578454"/>
            <a:ext cx="6618905" cy="4664567"/>
            <a:chOff x="123603" y="4695140"/>
            <a:chExt cx="8337961" cy="4664567"/>
          </a:xfrm>
        </p:grpSpPr>
        <p:sp>
          <p:nvSpPr>
            <p:cNvPr id="46" name="矩形 4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654859" y="4695140"/>
              <a:ext cx="4822037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与现有</a:t>
              </a:r>
              <a:r>
                <a:rPr lang="en-US" altLang="zh-CN" sz="16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3GPP</a:t>
              </a:r>
              <a:r>
                <a:rPr lang="zh-CN" altLang="en-US" sz="1600" b="1" kern="1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系统的共存和互操作</a:t>
              </a:r>
            </a:p>
          </p:txBody>
        </p:sp>
        <p:sp>
          <p:nvSpPr>
            <p:cNvPr id="47" name="矩形 4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>
            <a:xfrm>
              <a:off x="123603" y="5248325"/>
              <a:ext cx="8337961" cy="41113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①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UTRAN/GERAN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多模终端支持对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UTRAN/GERAN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系统的测量，并支持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系统和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UTRAN/GERAN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系统之间的切换。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②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应有效支持系统间测量。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③对于实时业务，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之间的切换中断时间应低于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300ms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④对于非实时业务，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之间的切换中断时间应低于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500ms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⑤对于实时业务，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之间的切换中断时间应低于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300ms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⑥对于非实时业务，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之间的切换中断时间应低于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500ms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⑦处于非激活状态（类似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R6 Idle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模式或</a:t>
              </a:r>
              <a:r>
                <a:rPr lang="en-US" altLang="zh-CN" sz="1600" dirty="0" err="1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Cell_PCH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状态）的多模终端只需监测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GERAN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，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或</a:t>
              </a:r>
              <a:r>
                <a:rPr lang="en-US" altLang="zh-CN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E-UTRAN</a:t>
              </a:r>
              <a:r>
                <a:rPr lang="zh-CN" altLang="en-US" sz="1600" dirty="0">
                  <a:solidFill>
                    <a:srgbClr val="434445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中一个系统的寻呼信息。</a:t>
              </a:r>
            </a:p>
          </p:txBody>
        </p:sp>
        <p:cxnSp>
          <p:nvCxnSpPr>
            <p:cNvPr id="48" name="直接连接符 4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CxnSpPr/>
            <p:nvPr/>
          </p:nvCxnSpPr>
          <p:spPr>
            <a:xfrm>
              <a:off x="1175381" y="5122089"/>
              <a:ext cx="3867158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扁平化的网络架构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070" y="2210900"/>
            <a:ext cx="7126103" cy="447630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8797"/>
          <p:cNvSpPr>
            <a:spLocks noChangeArrowheads="1"/>
          </p:cNvSpPr>
          <p:nvPr/>
        </p:nvSpPr>
        <p:spPr bwMode="auto">
          <a:xfrm>
            <a:off x="5527352" y="1395343"/>
            <a:ext cx="1733540" cy="37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3" rIns="80147" bIns="40073"/>
          <a:lstStyle>
            <a:lvl1pPr marL="298450" indent="-29845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50875" indent="-249555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40000"/>
              </a:spcBef>
              <a:buClr>
                <a:srgbClr val="990000"/>
              </a:buClr>
              <a:buSzPct val="60000"/>
            </a:pP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LTE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网络架构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扁平化的网络架构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561378" y="1059335"/>
            <a:ext cx="8463756" cy="4864132"/>
            <a:chOff x="352425" y="1001680"/>
            <a:chExt cx="8463756" cy="4864132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8139" y="1001680"/>
              <a:ext cx="5364861" cy="4843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AutoShape 59"/>
            <p:cNvSpPr>
              <a:spLocks noChangeArrowheads="1"/>
            </p:cNvSpPr>
            <p:nvPr/>
          </p:nvSpPr>
          <p:spPr bwMode="auto">
            <a:xfrm>
              <a:off x="576993" y="2573179"/>
              <a:ext cx="1944687" cy="348805"/>
            </a:xfrm>
            <a:prstGeom prst="roundRect">
              <a:avLst>
                <a:gd name="adj" fmla="val 16667"/>
              </a:avLst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网络结构扁平化</a:t>
              </a:r>
            </a:p>
          </p:txBody>
        </p:sp>
        <p:sp>
          <p:nvSpPr>
            <p:cNvPr id="9" name="AutoShape 59"/>
            <p:cNvSpPr>
              <a:spLocks noChangeArrowheads="1"/>
            </p:cNvSpPr>
            <p:nvPr/>
          </p:nvSpPr>
          <p:spPr bwMode="auto">
            <a:xfrm>
              <a:off x="6744494" y="2635471"/>
              <a:ext cx="1944688" cy="406464"/>
            </a:xfrm>
            <a:prstGeom prst="roundRect">
              <a:avLst>
                <a:gd name="adj" fmla="val 16667"/>
              </a:avLst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与传统网络互通</a:t>
              </a:r>
            </a:p>
          </p:txBody>
        </p:sp>
        <p:sp>
          <p:nvSpPr>
            <p:cNvPr id="10" name="AutoShape 59"/>
            <p:cNvSpPr>
              <a:spLocks noChangeArrowheads="1"/>
            </p:cNvSpPr>
            <p:nvPr/>
          </p:nvSpPr>
          <p:spPr bwMode="auto">
            <a:xfrm>
              <a:off x="4422775" y="5388863"/>
              <a:ext cx="4392613" cy="476949"/>
            </a:xfrm>
            <a:prstGeom prst="roundRect">
              <a:avLst>
                <a:gd name="adj" fmla="val 16667"/>
              </a:avLst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E-UTRAN</a:t>
              </a:r>
              <a:r>
                <a:rPr kumimoji="0" lang="zh-CN" altLang="en-US"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只有一种节点网元</a:t>
              </a:r>
              <a:r>
                <a:rPr kumimoji="0" lang="en-US" altLang="zh-CN"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—E-Node B</a:t>
              </a:r>
            </a:p>
          </p:txBody>
        </p:sp>
        <p:sp>
          <p:nvSpPr>
            <p:cNvPr id="11" name="AutoShape 59"/>
            <p:cNvSpPr>
              <a:spLocks noChangeArrowheads="1"/>
            </p:cNvSpPr>
            <p:nvPr/>
          </p:nvSpPr>
          <p:spPr bwMode="auto">
            <a:xfrm>
              <a:off x="6619081" y="4574761"/>
              <a:ext cx="2197100" cy="398462"/>
            </a:xfrm>
            <a:prstGeom prst="roundRect">
              <a:avLst>
                <a:gd name="adj" fmla="val 16667"/>
              </a:avLst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用户面控制面分离</a:t>
              </a:r>
            </a:p>
          </p:txBody>
        </p:sp>
        <p:sp>
          <p:nvSpPr>
            <p:cNvPr id="13" name="AutoShape 59"/>
            <p:cNvSpPr>
              <a:spLocks noChangeArrowheads="1"/>
            </p:cNvSpPr>
            <p:nvPr/>
          </p:nvSpPr>
          <p:spPr bwMode="auto">
            <a:xfrm>
              <a:off x="352425" y="4572000"/>
              <a:ext cx="2762885" cy="398462"/>
            </a:xfrm>
            <a:prstGeom prst="roundRect">
              <a:avLst>
                <a:gd name="adj" fmla="val 16667"/>
              </a:avLst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800" b="1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RNC+NodeB</a:t>
              </a:r>
              <a:r>
                <a:rPr kumimoji="0" lang="en-US" alt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=</a:t>
              </a:r>
              <a:r>
                <a:rPr kumimoji="0" lang="en-US" altLang="zh-CN" sz="1800" b="1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eNodeB</a:t>
              </a:r>
              <a:endParaRPr kumimoji="0" lang="en-US" altLang="zh-CN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64895" y="2157200"/>
            <a:ext cx="6251223" cy="3924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5" tIns="45702" rIns="91405" bIns="45702" numCol="1" anchor="t" anchorCtr="0" compatLnSpc="1"/>
          <a:lstStyle>
            <a:lvl1pPr marL="341630" indent="-3416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680" indent="-2844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17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9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61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333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053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773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493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accent1"/>
              </a:buClr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的主要网元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Tx/>
            </a:pP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的接入网</a:t>
            </a: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E-UTRAN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en-US" altLang="zh-CN" sz="18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NodeB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组成，提供用户面和控制面。</a:t>
            </a:r>
          </a:p>
          <a:p>
            <a:pPr lvl="1">
              <a:lnSpc>
                <a:spcPct val="120000"/>
              </a:lnSpc>
              <a:buClrTx/>
            </a:pP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的核心网</a:t>
            </a: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EPC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MME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S-GW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P-GW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组成。</a:t>
            </a:r>
          </a:p>
          <a:p>
            <a:pPr marL="0" indent="0" eaLnBrk="1" hangingPunct="1">
              <a:buClr>
                <a:schemeClr val="accent1"/>
              </a:buClr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的网络接口</a:t>
            </a:r>
          </a:p>
          <a:p>
            <a:pPr lvl="1">
              <a:lnSpc>
                <a:spcPct val="120000"/>
              </a:lnSpc>
              <a:spcBef>
                <a:spcPct val="40000"/>
              </a:spcBef>
              <a:buClrTx/>
            </a:pP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en-US" altLang="zh-CN" sz="1800" kern="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NodeB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间通过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X2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接口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相互连接，支持数据和信令的直接传输。</a:t>
            </a:r>
          </a:p>
          <a:p>
            <a:pPr lvl="1">
              <a:lnSpc>
                <a:spcPct val="120000"/>
              </a:lnSpc>
              <a:spcBef>
                <a:spcPct val="40000"/>
              </a:spcBef>
              <a:buClrTx/>
            </a:pP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S1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接口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en-US" altLang="zh-CN" sz="1800" kern="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NodeB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与核心网</a:t>
            </a:r>
            <a:r>
              <a:rPr lang="en-US" altLang="zh-CN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EPC</a:t>
            </a:r>
            <a:r>
              <a:rPr lang="zh-CN" altLang="en-US" sz="1800" kern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。其中，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S1-MME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en-US" altLang="zh-CN" sz="18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NodeB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MME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的控制面接口，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S1-U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e-</a:t>
            </a:r>
            <a:r>
              <a:rPr lang="en-US" altLang="zh-CN" sz="18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NodeB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S-GW </a:t>
            </a:r>
            <a:r>
              <a:rPr lang="zh-CN" altLang="en-US" sz="1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的用户面接口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7794889" y="2590136"/>
          <a:ext cx="3928682" cy="3058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42260" imgH="2306320" progId="Visio.Drawing.11">
                  <p:embed/>
                </p:oleObj>
              </mc:Choice>
              <mc:Fallback>
                <p:oleObj r:id="rId3" imgW="2842260" imgH="2306320" progId="Visio.Drawing.11">
                  <p:embed/>
                  <p:pic>
                    <p:nvPicPr>
                      <p:cNvPr id="0" name="图片 6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889" y="2590136"/>
                        <a:ext cx="3928682" cy="3058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124" y="1789896"/>
            <a:ext cx="6294475" cy="43657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888941" y="6155626"/>
            <a:ext cx="34179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altLang="zh-CN" sz="2000" b="1" dirty="0">
                <a:solidFill>
                  <a:srgbClr val="0F6FC6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E-UTRAN</a:t>
            </a:r>
            <a:r>
              <a:rPr lang="zh-CN" altLang="zh-CN" sz="2000" b="1" dirty="0">
                <a:solidFill>
                  <a:srgbClr val="0F6FC6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和</a:t>
            </a:r>
            <a:r>
              <a:rPr lang="en-US" altLang="zh-CN" sz="2000" b="1" dirty="0">
                <a:solidFill>
                  <a:srgbClr val="0F6FC6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EPC</a:t>
            </a:r>
            <a:r>
              <a:rPr lang="zh-CN" altLang="zh-CN" sz="2000" b="1" dirty="0">
                <a:solidFill>
                  <a:srgbClr val="0F6FC6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的功能划分</a:t>
            </a:r>
            <a:endParaRPr lang="en-US" altLang="zh-CN" sz="2000" b="1" dirty="0">
              <a:solidFill>
                <a:srgbClr val="0F6FC6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39880" y="2191883"/>
            <a:ext cx="8529637" cy="4213855"/>
            <a:chOff x="261938" y="1348505"/>
            <a:chExt cx="8529637" cy="4213855"/>
          </a:xfrm>
        </p:grpSpPr>
        <p:sp>
          <p:nvSpPr>
            <p:cNvPr id="9" name="AutoShape 3"/>
            <p:cNvSpPr/>
            <p:nvPr/>
          </p:nvSpPr>
          <p:spPr>
            <a:xfrm rot="5400000">
              <a:off x="985838" y="625399"/>
              <a:ext cx="571500" cy="2019300"/>
            </a:xfrm>
            <a:prstGeom prst="homePlate">
              <a:avLst>
                <a:gd name="adj" fmla="val 26944"/>
              </a:avLst>
            </a:prstGeom>
            <a:solidFill>
              <a:srgbClr val="7EB9F6"/>
            </a:solidFill>
            <a:ln w="6350">
              <a:noFill/>
            </a:ln>
            <a:effectLst>
              <a:outerShdw dist="35921" dir="2699999" algn="ctr" rotWithShape="0">
                <a:srgbClr val="FFC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Freeform 4"/>
            <p:cNvSpPr/>
            <p:nvPr/>
          </p:nvSpPr>
          <p:spPr>
            <a:xfrm>
              <a:off x="263525" y="1866824"/>
              <a:ext cx="2017713" cy="3695536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ap="flat" cmpd="sng">
              <a:solidFill>
                <a:srgbClr val="008FD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5"/>
            <p:cNvSpPr txBox="1"/>
            <p:nvPr/>
          </p:nvSpPr>
          <p:spPr>
            <a:xfrm>
              <a:off x="306388" y="1483542"/>
              <a:ext cx="1933575" cy="307777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ctr">
              <a:spAutoFit/>
            </a:bodyPr>
            <a:lstStyle/>
            <a:p>
              <a:pPr algn="ctr"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E-Node B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309167" y="2055043"/>
              <a:ext cx="2002234" cy="304698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marL="1905" lvl="1" defTabSz="330200" eaLnBrk="0" hangingPunct="0"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具有现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3GPP </a:t>
              </a:r>
              <a:r>
                <a:rPr lang="en-US" altLang="zh-CN" dirty="0" err="1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NodeB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全部和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RNC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大部分功能，包括：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物理层功能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MAC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RLC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PDCP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功能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RRC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功能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资源调度和无线资源管理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无线接入控制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移动性管理</a:t>
              </a:r>
            </a:p>
          </p:txBody>
        </p:sp>
        <p:sp>
          <p:nvSpPr>
            <p:cNvPr id="14" name="AutoShape 7"/>
            <p:cNvSpPr/>
            <p:nvPr/>
          </p:nvSpPr>
          <p:spPr>
            <a:xfrm rot="5400000">
              <a:off x="3154363" y="625399"/>
              <a:ext cx="571500" cy="2017712"/>
            </a:xfrm>
            <a:prstGeom prst="homePlate">
              <a:avLst>
                <a:gd name="adj" fmla="val 26944"/>
              </a:avLst>
            </a:prstGeom>
            <a:solidFill>
              <a:srgbClr val="7EB9F6"/>
            </a:solidFill>
            <a:ln w="6350">
              <a:noFill/>
            </a:ln>
            <a:effectLst>
              <a:outerShdw dist="35921" dir="2699999" algn="ctr" rotWithShape="0">
                <a:srgbClr val="FFC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8"/>
            <p:cNvSpPr/>
            <p:nvPr/>
          </p:nvSpPr>
          <p:spPr>
            <a:xfrm>
              <a:off x="2433638" y="1866824"/>
              <a:ext cx="2017712" cy="3695536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ap="flat" cmpd="sng">
              <a:solidFill>
                <a:srgbClr val="008FD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9"/>
            <p:cNvSpPr txBox="1"/>
            <p:nvPr/>
          </p:nvSpPr>
          <p:spPr>
            <a:xfrm>
              <a:off x="2476500" y="1483542"/>
              <a:ext cx="1933575" cy="307777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ctr">
              <a:spAutoFit/>
            </a:bodyPr>
            <a:lstStyle/>
            <a:p>
              <a:pPr lvl="0" algn="ctr" eaLnBrk="0" hangingPunct="0">
                <a:buClr>
                  <a:schemeClr val="tx2"/>
                </a:buClr>
                <a:buSzPct val="80000"/>
              </a:pPr>
              <a:r>
                <a:rPr lang="en-US" altLang="zh-CN" sz="2000" b="1" dirty="0">
                  <a:latin typeface="Arial" panose="020B0604020202020204" pitchFamily="34" charset="0"/>
                </a:rPr>
                <a:t>MME</a:t>
              </a:r>
            </a:p>
          </p:txBody>
        </p:sp>
        <p:sp>
          <p:nvSpPr>
            <p:cNvPr id="17" name="Rectangle 10"/>
            <p:cNvSpPr/>
            <p:nvPr/>
          </p:nvSpPr>
          <p:spPr>
            <a:xfrm>
              <a:off x="2505075" y="2089624"/>
              <a:ext cx="1885950" cy="3323987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t">
              <a:spAutoFit/>
            </a:bodyPr>
            <a:lstStyle/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Arial" panose="020B0604020202020204" pitchFamily="34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NAS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信令以及安全性功能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3GPP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接入网络移动性导致的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CN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节点间信令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空闲模式下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UE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跟踪和可达性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漫游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鉴权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承载管理功能（包括专用承载的建立）</a:t>
              </a:r>
            </a:p>
          </p:txBody>
        </p:sp>
        <p:sp>
          <p:nvSpPr>
            <p:cNvPr id="18" name="AutoShape 11"/>
            <p:cNvSpPr/>
            <p:nvPr/>
          </p:nvSpPr>
          <p:spPr>
            <a:xfrm rot="5400000">
              <a:off x="5326063" y="625399"/>
              <a:ext cx="571500" cy="2019300"/>
            </a:xfrm>
            <a:prstGeom prst="homePlate">
              <a:avLst>
                <a:gd name="adj" fmla="val 26944"/>
              </a:avLst>
            </a:prstGeom>
            <a:solidFill>
              <a:srgbClr val="7EB9F6"/>
            </a:solidFill>
            <a:ln w="6350">
              <a:noFill/>
            </a:ln>
            <a:effectLst>
              <a:outerShdw dist="35921" dir="2699999" algn="ctr" rotWithShape="0">
                <a:srgbClr val="FFC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" name="Freeform 12"/>
            <p:cNvSpPr/>
            <p:nvPr/>
          </p:nvSpPr>
          <p:spPr>
            <a:xfrm>
              <a:off x="4603750" y="1866824"/>
              <a:ext cx="2017713" cy="3695536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ap="flat" cmpd="sng">
              <a:solidFill>
                <a:srgbClr val="008FD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3"/>
            <p:cNvSpPr txBox="1"/>
            <p:nvPr/>
          </p:nvSpPr>
          <p:spPr>
            <a:xfrm>
              <a:off x="4646613" y="1483542"/>
              <a:ext cx="1933575" cy="307777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buClr>
                  <a:schemeClr val="tx2"/>
                </a:buClr>
                <a:buSzPct val="80000"/>
              </a:pPr>
              <a:r>
                <a:rPr lang="en-US" altLang="zh-CN" sz="2000" b="1" dirty="0">
                  <a:latin typeface="Arial" panose="020B0604020202020204" pitchFamily="34" charset="0"/>
                </a:rPr>
                <a:t>Serving GW</a:t>
              </a:r>
            </a:p>
          </p:txBody>
        </p:sp>
        <p:sp>
          <p:nvSpPr>
            <p:cNvPr id="21" name="Rectangle 14"/>
            <p:cNvSpPr/>
            <p:nvPr/>
          </p:nvSpPr>
          <p:spPr>
            <a:xfrm>
              <a:off x="4675188" y="2160511"/>
              <a:ext cx="1885950" cy="3046988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t">
              <a:spAutoFit/>
            </a:bodyPr>
            <a:lstStyle/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支持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UE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的移动性切换用户面数据的功能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E-UTRAN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空闲模式下行分组数据缓存和寻呼支持 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数据包路由和转发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上下行传输层数据包标记</a:t>
              </a:r>
            </a:p>
          </p:txBody>
        </p:sp>
        <p:sp>
          <p:nvSpPr>
            <p:cNvPr id="22" name="AutoShape 15"/>
            <p:cNvSpPr/>
            <p:nvPr/>
          </p:nvSpPr>
          <p:spPr>
            <a:xfrm rot="5400000">
              <a:off x="7494588" y="625399"/>
              <a:ext cx="571500" cy="2017712"/>
            </a:xfrm>
            <a:prstGeom prst="homePlate">
              <a:avLst>
                <a:gd name="adj" fmla="val 26944"/>
              </a:avLst>
            </a:prstGeom>
            <a:solidFill>
              <a:srgbClr val="7EB9F6"/>
            </a:solidFill>
            <a:ln w="6350">
              <a:noFill/>
            </a:ln>
            <a:effectLst>
              <a:outerShdw dist="35921" dir="2699999" algn="ctr" rotWithShape="0">
                <a:srgbClr val="FFC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3" name="Freeform 16"/>
            <p:cNvSpPr/>
            <p:nvPr/>
          </p:nvSpPr>
          <p:spPr>
            <a:xfrm>
              <a:off x="6773863" y="1866824"/>
              <a:ext cx="2017712" cy="3695536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2551" h="2008">
                  <a:moveTo>
                    <a:pt x="2551" y="2008"/>
                  </a:moveTo>
                  <a:lnTo>
                    <a:pt x="2551" y="0"/>
                  </a:lnTo>
                  <a:lnTo>
                    <a:pt x="1274" y="97"/>
                  </a:lnTo>
                  <a:lnTo>
                    <a:pt x="0" y="0"/>
                  </a:lnTo>
                  <a:lnTo>
                    <a:pt x="0" y="2008"/>
                  </a:lnTo>
                  <a:lnTo>
                    <a:pt x="2551" y="2008"/>
                  </a:lnTo>
                </a:path>
              </a:pathLst>
            </a:custGeom>
            <a:noFill/>
            <a:ln w="6350" cap="flat" cmpd="sng">
              <a:solidFill>
                <a:srgbClr val="008FD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7"/>
            <p:cNvSpPr txBox="1"/>
            <p:nvPr/>
          </p:nvSpPr>
          <p:spPr>
            <a:xfrm>
              <a:off x="6816725" y="1483542"/>
              <a:ext cx="1933575" cy="307777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ctr">
              <a:spAutoFit/>
            </a:bodyPr>
            <a:lstStyle/>
            <a:p>
              <a:pPr lvl="0" algn="ctr" eaLnBrk="0" hangingPunct="0">
                <a:buClr>
                  <a:schemeClr val="tx2"/>
                </a:buClr>
                <a:buSzPct val="80000"/>
              </a:pPr>
              <a:r>
                <a:rPr lang="en-US" altLang="zh-CN" sz="2000" b="1" dirty="0">
                  <a:latin typeface="Arial" panose="020B0604020202020204" pitchFamily="34" charset="0"/>
                </a:rPr>
                <a:t>PDN GW</a:t>
              </a:r>
            </a:p>
          </p:txBody>
        </p:sp>
        <p:sp>
          <p:nvSpPr>
            <p:cNvPr id="25" name="Rectangle 18"/>
            <p:cNvSpPr/>
            <p:nvPr/>
          </p:nvSpPr>
          <p:spPr>
            <a:xfrm>
              <a:off x="6845300" y="2160511"/>
              <a:ext cx="1885950" cy="2769989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 anchor="t">
              <a:spAutoFit/>
            </a:bodyPr>
            <a:lstStyle/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基于用户的包过滤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合法监听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地址分配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上下行传输层数据包标记</a:t>
              </a:r>
            </a:p>
            <a:p>
              <a:pPr marL="190500" lvl="1" indent="-188595" defTabSz="330200" eaLnBrk="0" hangingPunct="0">
                <a:buChar char="•"/>
                <a:tabLst>
                  <a:tab pos="8521700" algn="r"/>
                </a:tabLst>
              </a:pP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DHCPv4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DHCPv6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client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relay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server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285574" y="3315691"/>
            <a:ext cx="9144000" cy="3111734"/>
            <a:chOff x="0" y="3319334"/>
            <a:chExt cx="9144000" cy="3111734"/>
          </a:xfrm>
          <a:solidFill>
            <a:schemeClr val="bg2">
              <a:lumMod val="90000"/>
            </a:schemeClr>
          </a:solidFill>
        </p:grpSpPr>
        <p:sp>
          <p:nvSpPr>
            <p:cNvPr id="27" name="Rectangle 2"/>
            <p:cNvSpPr>
              <a:spLocks noChangeArrowheads="1"/>
            </p:cNvSpPr>
            <p:nvPr/>
          </p:nvSpPr>
          <p:spPr bwMode="auto">
            <a:xfrm>
              <a:off x="0" y="4054581"/>
              <a:ext cx="9144000" cy="23764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8" name="Picture 6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8200" y="4338638"/>
              <a:ext cx="644525" cy="1460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522288" y="5924550"/>
              <a:ext cx="854075" cy="307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05" tIns="45702" rIns="91405" bIns="45702">
              <a:spAutoFit/>
            </a:bodyPr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Node B</a:t>
              </a:r>
            </a:p>
          </p:txBody>
        </p:sp>
        <p:pic>
          <p:nvPicPr>
            <p:cNvPr id="30" name="Picture 9" descr="ZXWN-B09侧立面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63" y="4338638"/>
              <a:ext cx="635000" cy="136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AutoShape 10"/>
            <p:cNvSpPr>
              <a:spLocks noChangeArrowheads="1"/>
            </p:cNvSpPr>
            <p:nvPr/>
          </p:nvSpPr>
          <p:spPr bwMode="auto">
            <a:xfrm>
              <a:off x="2987675" y="4932363"/>
              <a:ext cx="865188" cy="576262"/>
            </a:xfrm>
            <a:prstGeom prst="rightArrow">
              <a:avLst>
                <a:gd name="adj1" fmla="val 50000"/>
                <a:gd name="adj2" fmla="val 43735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32" name="Object 2"/>
            <p:cNvGraphicFramePr>
              <a:graphicFrameLocks noChangeAspect="1"/>
            </p:cNvGraphicFramePr>
            <p:nvPr/>
          </p:nvGraphicFramePr>
          <p:xfrm>
            <a:off x="3933974" y="3319334"/>
            <a:ext cx="1911350" cy="2606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911985" imgH="2607945" progId="Visio.Drawing.11">
                    <p:embed/>
                  </p:oleObj>
                </mc:Choice>
                <mc:Fallback>
                  <p:oleObj name="Visio" r:id="rId5" imgW="1911985" imgH="2607945" progId="Visio.Drawing.11">
                    <p:embed/>
                    <p:pic>
                      <p:nvPicPr>
                        <p:cNvPr id="0" name="图片 71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3974" y="3319334"/>
                          <a:ext cx="1911350" cy="2606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4341769" y="5922963"/>
              <a:ext cx="1095761" cy="3077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05" tIns="45702" rIns="91405" bIns="45702">
              <a:spAutoFit/>
            </a:bodyPr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 b="1" dirty="0" err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eNodeB</a:t>
              </a:r>
              <a:endParaRPr kumimoji="0"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 flipV="1">
              <a:off x="1603375" y="4986338"/>
              <a:ext cx="0" cy="287337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lIns="91405" tIns="45702" rIns="91405" bIns="45702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" name="矩形 10"/>
          <p:cNvSpPr>
            <a:spLocks noChangeArrowheads="1"/>
          </p:cNvSpPr>
          <p:nvPr/>
        </p:nvSpPr>
        <p:spPr bwMode="auto">
          <a:xfrm>
            <a:off x="859791" y="1938166"/>
            <a:ext cx="517564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charset="-122"/>
              </a:rPr>
              <a:t>ENodeB</a:t>
            </a:r>
            <a:r>
              <a:rPr lang="zh-CN" altLang="en-US" sz="2000" b="1" dirty="0">
                <a:latin typeface="微软雅黑" panose="020B0503020204020204" charset="-122"/>
              </a:rPr>
              <a:t>功能</a:t>
            </a:r>
            <a:r>
              <a:rPr lang="en-US" altLang="zh-CN" sz="2000" b="1" dirty="0">
                <a:latin typeface="微软雅黑" panose="020B0503020204020204" charset="-122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eNodeB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具有现有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3GPP R5/R6/R7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的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NodeB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功能和大部分的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RNC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功能，包括物理层功能（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HARQ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等），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MAC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RRC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，调度，无线接入控制，移动性管理等。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8320636" y="2426925"/>
            <a:ext cx="3071812" cy="4000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8FD4"/>
            </a:solidFill>
            <a:prstDash val="solid"/>
          </a:ln>
          <a:effectLst/>
        </p:spPr>
        <p:txBody>
          <a:bodyPr lIns="91405" tIns="45702" rIns="91405" bIns="45702" anchor="ctr"/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具体来讲，包括：</a:t>
            </a:r>
            <a:endParaRPr kumimoji="0" lang="en-US" altLang="zh-CN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无线资源管理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无线承载控制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无线准入控制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连接移动性控制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	UE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上下行动态资源分配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数据包头压缩和用户数据流加密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UE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连接期间选择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MME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寻呼消息的调度和传输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广播信息的调度和传输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移动和调度的测量，并进行测量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量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报告的配置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4424729" y="5919085"/>
            <a:ext cx="582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5" tIns="45702" rIns="91405" bIns="45702">
            <a:spAutoFit/>
          </a:bodyPr>
          <a:lstStyle>
            <a:lvl1pPr eaLnBrk="0" hangingPunct="0"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RNC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 animBg="1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0"/>
          <p:cNvSpPr>
            <a:spLocks noChangeArrowheads="1"/>
          </p:cNvSpPr>
          <p:nvPr/>
        </p:nvSpPr>
        <p:spPr bwMode="auto">
          <a:xfrm>
            <a:off x="760690" y="2068689"/>
            <a:ext cx="422344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</a:rPr>
              <a:t>核心网</a:t>
            </a:r>
            <a:r>
              <a:rPr lang="en-US" altLang="zh-CN" sz="2000" b="1" dirty="0">
                <a:latin typeface="微软雅黑" panose="020B0503020204020204" charset="-122"/>
              </a:rPr>
              <a:t>EPC</a:t>
            </a:r>
            <a:r>
              <a:rPr lang="zh-CN" altLang="en-US" sz="2000" b="1" dirty="0">
                <a:latin typeface="微软雅黑" panose="020B0503020204020204" charset="-122"/>
              </a:rPr>
              <a:t>功能</a:t>
            </a:r>
            <a:endParaRPr lang="en-US" altLang="zh-CN" sz="2000" b="1" dirty="0">
              <a:latin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LTE/SAE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核心网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负责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的控制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承载建立。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EPC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包含的逻辑节点有： 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PDN Gateway(P-GW)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Serving Gateway(S-GW)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Mobility Management Entity(MME)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Home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Subscribier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Server(HSS)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Policy Control and Charging Rules Function(PCRF)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84130" y="1862531"/>
            <a:ext cx="7023885" cy="3657601"/>
            <a:chOff x="3649362" y="1920319"/>
            <a:chExt cx="8542638" cy="3657601"/>
          </a:xfrm>
        </p:grpSpPr>
        <p:sp>
          <p:nvSpPr>
            <p:cNvPr id="17" name="AutoShape 7"/>
            <p:cNvSpPr>
              <a:spLocks noChangeArrowheads="1"/>
            </p:cNvSpPr>
            <p:nvPr/>
          </p:nvSpPr>
          <p:spPr bwMode="gray">
            <a:xfrm>
              <a:off x="7916562" y="1920319"/>
              <a:ext cx="762000" cy="1066800"/>
            </a:xfrm>
            <a:prstGeom prst="can">
              <a:avLst>
                <a:gd name="adj" fmla="val 35000"/>
              </a:avLst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gray">
            <a:xfrm>
              <a:off x="7916562" y="2301319"/>
              <a:ext cx="8382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HSS</a:t>
              </a: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gray">
            <a:xfrm>
              <a:off x="8449962" y="3977719"/>
              <a:ext cx="1295400" cy="685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gray">
            <a:xfrm>
              <a:off x="8526162" y="4130119"/>
              <a:ext cx="11430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P-GW</a:t>
              </a: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gray">
            <a:xfrm>
              <a:off x="6011562" y="3977719"/>
              <a:ext cx="1295400" cy="685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6087762" y="4130119"/>
              <a:ext cx="11430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S-GW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5097162" y="2148919"/>
              <a:ext cx="1295400" cy="685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gray">
            <a:xfrm>
              <a:off x="5173362" y="2301319"/>
              <a:ext cx="11430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MME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gray">
            <a:xfrm>
              <a:off x="9440562" y="2377519"/>
              <a:ext cx="1295400" cy="685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gray">
            <a:xfrm>
              <a:off x="9516762" y="2529919"/>
              <a:ext cx="11430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PCRF</a:t>
              </a: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gray">
            <a:xfrm>
              <a:off x="3649362" y="3977719"/>
              <a:ext cx="1371600" cy="6858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05" tIns="45702" rIns="91405" bIns="45702" anchor="ctr"/>
            <a:lstStyle>
              <a:lvl1pPr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Text Box 22"/>
            <p:cNvSpPr txBox="1">
              <a:spLocks noChangeArrowheads="1"/>
            </p:cNvSpPr>
            <p:nvPr/>
          </p:nvSpPr>
          <p:spPr bwMode="gray">
            <a:xfrm>
              <a:off x="3649362" y="4130119"/>
              <a:ext cx="13716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E-UTRAN</a:t>
              </a: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gray">
            <a:xfrm flipH="1">
              <a:off x="4258962" y="2529919"/>
              <a:ext cx="838200" cy="144780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gray">
            <a:xfrm>
              <a:off x="5020962" y="4282519"/>
              <a:ext cx="990600" cy="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gray">
            <a:xfrm>
              <a:off x="7306962" y="4282519"/>
              <a:ext cx="1143000" cy="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AutoShape 26"/>
            <p:cNvSpPr>
              <a:spLocks noChangeArrowheads="1"/>
            </p:cNvSpPr>
            <p:nvPr/>
          </p:nvSpPr>
          <p:spPr bwMode="gray">
            <a:xfrm>
              <a:off x="10354962" y="3672919"/>
              <a:ext cx="1752600" cy="1143000"/>
            </a:xfrm>
            <a:prstGeom prst="cloudCallout">
              <a:avLst>
                <a:gd name="adj1" fmla="val 42301"/>
                <a:gd name="adj2" fmla="val 42639"/>
              </a:avLst>
            </a:prstGeom>
            <a:solidFill>
              <a:srgbClr val="E7D900">
                <a:lumMod val="60000"/>
                <a:lumOff val="40000"/>
                <a:alpha val="30196"/>
              </a:srgbClr>
            </a:solidFill>
            <a:ln w="9525">
              <a:noFill/>
              <a:round/>
            </a:ln>
          </p:spPr>
          <p:txBody>
            <a:bodyPr lIns="91405" tIns="45702" rIns="91405" bIns="45702" anchor="ctr"/>
            <a:lstStyle/>
            <a:p>
              <a:pPr marL="0" marR="0" lvl="0" indent="0" defTabSz="95694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gray">
            <a:xfrm>
              <a:off x="9745362" y="4282519"/>
              <a:ext cx="609600" cy="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gray">
            <a:xfrm>
              <a:off x="6392562" y="2453719"/>
              <a:ext cx="1524000" cy="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31"/>
            <p:cNvSpPr txBox="1">
              <a:spLocks noChangeArrowheads="1"/>
            </p:cNvSpPr>
            <p:nvPr/>
          </p:nvSpPr>
          <p:spPr bwMode="gray">
            <a:xfrm>
              <a:off x="9745363" y="3951525"/>
              <a:ext cx="685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 dirty="0" err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SGi</a:t>
              </a:r>
              <a:endParaRPr kumimoji="0"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Text Box 32"/>
            <p:cNvSpPr txBox="1">
              <a:spLocks noChangeArrowheads="1"/>
            </p:cNvSpPr>
            <p:nvPr/>
          </p:nvSpPr>
          <p:spPr bwMode="gray">
            <a:xfrm>
              <a:off x="7306963" y="3977719"/>
              <a:ext cx="1066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S5/S8</a:t>
              </a:r>
            </a:p>
          </p:txBody>
        </p:sp>
        <p:sp>
          <p:nvSpPr>
            <p:cNvPr id="49" name="Text Box 33"/>
            <p:cNvSpPr txBox="1">
              <a:spLocks noChangeArrowheads="1"/>
            </p:cNvSpPr>
            <p:nvPr/>
          </p:nvSpPr>
          <p:spPr bwMode="gray">
            <a:xfrm>
              <a:off x="5020962" y="3901519"/>
              <a:ext cx="1066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S1-U</a:t>
              </a:r>
            </a:p>
          </p:txBody>
        </p:sp>
        <p:sp>
          <p:nvSpPr>
            <p:cNvPr id="50" name="Text Box 34"/>
            <p:cNvSpPr txBox="1">
              <a:spLocks noChangeArrowheads="1"/>
            </p:cNvSpPr>
            <p:nvPr/>
          </p:nvSpPr>
          <p:spPr bwMode="gray">
            <a:xfrm>
              <a:off x="6544962" y="2148919"/>
              <a:ext cx="1066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S6a</a:t>
              </a:r>
            </a:p>
          </p:txBody>
        </p:sp>
        <p:sp>
          <p:nvSpPr>
            <p:cNvPr id="51" name="Text Box 35"/>
            <p:cNvSpPr txBox="1">
              <a:spLocks noChangeArrowheads="1"/>
            </p:cNvSpPr>
            <p:nvPr/>
          </p:nvSpPr>
          <p:spPr bwMode="gray">
            <a:xfrm>
              <a:off x="3687462" y="2981074"/>
              <a:ext cx="12954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S1-MME</a:t>
              </a:r>
            </a:p>
          </p:txBody>
        </p:sp>
        <p:sp>
          <p:nvSpPr>
            <p:cNvPr id="52" name="Text Box 36"/>
            <p:cNvSpPr txBox="1">
              <a:spLocks noChangeArrowheads="1"/>
            </p:cNvSpPr>
            <p:nvPr/>
          </p:nvSpPr>
          <p:spPr bwMode="gray">
            <a:xfrm>
              <a:off x="8678562" y="3291919"/>
              <a:ext cx="1066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Gx</a:t>
              </a:r>
            </a:p>
          </p:txBody>
        </p:sp>
        <p:sp>
          <p:nvSpPr>
            <p:cNvPr id="53" name="Line 37"/>
            <p:cNvSpPr>
              <a:spLocks noChangeShapeType="1"/>
            </p:cNvSpPr>
            <p:nvPr/>
          </p:nvSpPr>
          <p:spPr bwMode="gray">
            <a:xfrm>
              <a:off x="10354962" y="3063319"/>
              <a:ext cx="533400" cy="68580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8"/>
            <p:cNvSpPr>
              <a:spLocks noChangeShapeType="1"/>
            </p:cNvSpPr>
            <p:nvPr/>
          </p:nvSpPr>
          <p:spPr bwMode="gray">
            <a:xfrm flipV="1">
              <a:off x="9059562" y="3063319"/>
              <a:ext cx="685800" cy="914400"/>
            </a:xfrm>
            <a:prstGeom prst="line">
              <a:avLst/>
            </a:prstGeom>
            <a:noFill/>
            <a:ln w="28575">
              <a:solidFill>
                <a:srgbClr val="008F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5" tIns="45702" rIns="91405" bIns="45702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Text Box 39"/>
            <p:cNvSpPr txBox="1">
              <a:spLocks noChangeArrowheads="1"/>
            </p:cNvSpPr>
            <p:nvPr/>
          </p:nvSpPr>
          <p:spPr bwMode="gray">
            <a:xfrm>
              <a:off x="10202562" y="3215719"/>
              <a:ext cx="106680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Rx</a:t>
              </a:r>
            </a:p>
          </p:txBody>
        </p:sp>
        <p:sp>
          <p:nvSpPr>
            <p:cNvPr id="56" name="Text Box 40"/>
            <p:cNvSpPr txBox="1">
              <a:spLocks noChangeArrowheads="1"/>
            </p:cNvSpPr>
            <p:nvPr/>
          </p:nvSpPr>
          <p:spPr bwMode="gray">
            <a:xfrm>
              <a:off x="10499124" y="3842543"/>
              <a:ext cx="1692876" cy="1015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Operator’s IP services(e.g.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IMS, PSS)</a:t>
              </a:r>
              <a:endParaRPr kumimoji="0"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Text Box 43"/>
            <p:cNvSpPr txBox="1">
              <a:spLocks noChangeArrowheads="1"/>
            </p:cNvSpPr>
            <p:nvPr/>
          </p:nvSpPr>
          <p:spPr bwMode="gray">
            <a:xfrm>
              <a:off x="6774076" y="5239402"/>
              <a:ext cx="2132570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05" tIns="45702" rIns="91405" bIns="45702">
              <a:spAutoFit/>
            </a:bodyPr>
            <a:lstStyle>
              <a:lvl1pPr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55675" eaLnBrk="0" hangingPunct="0"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556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EPC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组成结构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0"/>
          <p:cNvSpPr>
            <a:spLocks noChangeArrowheads="1"/>
          </p:cNvSpPr>
          <p:nvPr/>
        </p:nvSpPr>
        <p:spPr bwMode="auto">
          <a:xfrm>
            <a:off x="5479654" y="1516737"/>
            <a:ext cx="20091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</a:rPr>
              <a:t>核心网</a:t>
            </a:r>
            <a:r>
              <a:rPr lang="en-US" altLang="zh-CN" sz="2000" b="1" dirty="0">
                <a:solidFill>
                  <a:srgbClr val="005BAA"/>
                </a:solidFill>
                <a:latin typeface="微软雅黑" panose="020B0503020204020204" charset="-122"/>
              </a:rPr>
              <a:t>EPC</a:t>
            </a:r>
            <a:r>
              <a:rPr lang="zh-CN" altLang="en-US" sz="2000" b="1" dirty="0">
                <a:solidFill>
                  <a:srgbClr val="005BAA"/>
                </a:solidFill>
                <a:latin typeface="微软雅黑" panose="020B0503020204020204" charset="-122"/>
              </a:rPr>
              <a:t>功能</a:t>
            </a:r>
            <a:endParaRPr lang="en-US" altLang="zh-CN" sz="2000" b="1" dirty="0">
              <a:solidFill>
                <a:srgbClr val="005BAA"/>
              </a:solidFill>
              <a:latin typeface="微软雅黑" panose="020B0503020204020204" charset="-122"/>
            </a:endParaRPr>
          </a:p>
        </p:txBody>
      </p:sp>
      <p:sp>
        <p:nvSpPr>
          <p:cNvPr id="35" name="AutoShape 3"/>
          <p:cNvSpPr/>
          <p:nvPr/>
        </p:nvSpPr>
        <p:spPr>
          <a:xfrm rot="5400000">
            <a:off x="2821547" y="1795362"/>
            <a:ext cx="571500" cy="1614488"/>
          </a:xfrm>
          <a:prstGeom prst="homePlate">
            <a:avLst>
              <a:gd name="adj" fmla="val 26944"/>
            </a:avLst>
          </a:prstGeom>
          <a:solidFill>
            <a:srgbClr val="7EB9F6"/>
          </a:solidFill>
          <a:ln w="6350">
            <a:noFill/>
          </a:ln>
          <a:effectLst>
            <a:outerShdw dist="35921" dir="2699999" algn="ctr" rotWithShape="0">
              <a:srgbClr val="FFC000"/>
            </a:outerShdw>
          </a:effectLst>
        </p:spPr>
        <p:txBody>
          <a:bodyPr lIns="0" tIns="0" rIns="0" bIns="0" anchor="ctr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" name="Freeform 4"/>
          <p:cNvSpPr/>
          <p:nvPr/>
        </p:nvSpPr>
        <p:spPr>
          <a:xfrm>
            <a:off x="2302434" y="2835175"/>
            <a:ext cx="1614488" cy="349732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5"/>
          <p:cNvSpPr txBox="1"/>
          <p:nvPr/>
        </p:nvSpPr>
        <p:spPr>
          <a:xfrm>
            <a:off x="2337359" y="2333367"/>
            <a:ext cx="1546225" cy="492443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移动管理实体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MME</a:t>
            </a:r>
          </a:p>
        </p:txBody>
      </p:sp>
      <p:sp>
        <p:nvSpPr>
          <p:cNvPr id="58" name="AutoShape 6"/>
          <p:cNvSpPr/>
          <p:nvPr/>
        </p:nvSpPr>
        <p:spPr>
          <a:xfrm rot="5400000">
            <a:off x="4551922" y="1796950"/>
            <a:ext cx="571500" cy="1612900"/>
          </a:xfrm>
          <a:prstGeom prst="homePlate">
            <a:avLst>
              <a:gd name="adj" fmla="val 26944"/>
            </a:avLst>
          </a:prstGeom>
          <a:solidFill>
            <a:srgbClr val="7EB9F6"/>
          </a:solidFill>
          <a:ln w="6350">
            <a:noFill/>
          </a:ln>
          <a:effectLst>
            <a:outerShdw dist="35921" dir="2699999" algn="ctr" rotWithShape="0">
              <a:srgbClr val="FFC000"/>
            </a:outerShdw>
          </a:effectLst>
        </p:spPr>
        <p:txBody>
          <a:bodyPr lIns="0" tIns="0" rIns="0" bIns="0" anchor="ctr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" name="Freeform 7"/>
          <p:cNvSpPr/>
          <p:nvPr/>
        </p:nvSpPr>
        <p:spPr>
          <a:xfrm>
            <a:off x="4031222" y="2835175"/>
            <a:ext cx="1614487" cy="349732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Box 8"/>
          <p:cNvSpPr txBox="1"/>
          <p:nvPr/>
        </p:nvSpPr>
        <p:spPr>
          <a:xfrm>
            <a:off x="4066147" y="2456477"/>
            <a:ext cx="1546225" cy="246221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PDN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P-GW</a:t>
            </a:r>
          </a:p>
        </p:txBody>
      </p:sp>
      <p:sp>
        <p:nvSpPr>
          <p:cNvPr id="61" name="AutoShape 9"/>
          <p:cNvSpPr/>
          <p:nvPr/>
        </p:nvSpPr>
        <p:spPr>
          <a:xfrm rot="5400000">
            <a:off x="6279122" y="1795362"/>
            <a:ext cx="571500" cy="1614488"/>
          </a:xfrm>
          <a:prstGeom prst="homePlate">
            <a:avLst>
              <a:gd name="adj" fmla="val 26944"/>
            </a:avLst>
          </a:prstGeom>
          <a:solidFill>
            <a:srgbClr val="7EB9F6"/>
          </a:solidFill>
          <a:ln w="6350">
            <a:noFill/>
          </a:ln>
          <a:effectLst>
            <a:outerShdw dist="35921" dir="2699999" algn="ctr" rotWithShape="0">
              <a:srgbClr val="FFC000"/>
            </a:outerShdw>
          </a:effectLst>
        </p:spPr>
        <p:txBody>
          <a:bodyPr lIns="0" tIns="0" rIns="0" bIns="0" anchor="ctr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" name="Freeform 10"/>
          <p:cNvSpPr/>
          <p:nvPr/>
        </p:nvSpPr>
        <p:spPr>
          <a:xfrm>
            <a:off x="5760009" y="2835175"/>
            <a:ext cx="1614488" cy="349732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Box 11"/>
          <p:cNvSpPr txBox="1"/>
          <p:nvPr/>
        </p:nvSpPr>
        <p:spPr>
          <a:xfrm>
            <a:off x="5794934" y="2456477"/>
            <a:ext cx="1546225" cy="246221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业务网关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S-GW</a:t>
            </a:r>
          </a:p>
        </p:txBody>
      </p:sp>
      <p:sp>
        <p:nvSpPr>
          <p:cNvPr id="64" name="AutoShape 12"/>
          <p:cNvSpPr/>
          <p:nvPr/>
        </p:nvSpPr>
        <p:spPr>
          <a:xfrm rot="5400000">
            <a:off x="8009497" y="1796950"/>
            <a:ext cx="571500" cy="1612900"/>
          </a:xfrm>
          <a:prstGeom prst="homePlate">
            <a:avLst>
              <a:gd name="adj" fmla="val 26944"/>
            </a:avLst>
          </a:prstGeom>
          <a:solidFill>
            <a:srgbClr val="7EB9F6"/>
          </a:solidFill>
          <a:ln w="6350">
            <a:noFill/>
          </a:ln>
          <a:effectLst>
            <a:outerShdw dist="35921" dir="2699999" algn="ctr" rotWithShape="0">
              <a:srgbClr val="FFC000"/>
            </a:outerShdw>
          </a:effectLst>
        </p:spPr>
        <p:txBody>
          <a:bodyPr lIns="0" tIns="0" rIns="0" bIns="0" anchor="ctr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5" name="Freeform 13"/>
          <p:cNvSpPr/>
          <p:nvPr/>
        </p:nvSpPr>
        <p:spPr>
          <a:xfrm>
            <a:off x="7488797" y="2835174"/>
            <a:ext cx="1614487" cy="349732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Box 14"/>
          <p:cNvSpPr txBox="1"/>
          <p:nvPr/>
        </p:nvSpPr>
        <p:spPr>
          <a:xfrm>
            <a:off x="7523722" y="2333366"/>
            <a:ext cx="1546225" cy="492443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归属用户服务器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HSS</a:t>
            </a:r>
          </a:p>
        </p:txBody>
      </p:sp>
      <p:sp>
        <p:nvSpPr>
          <p:cNvPr id="67" name="AutoShape 15"/>
          <p:cNvSpPr/>
          <p:nvPr/>
        </p:nvSpPr>
        <p:spPr>
          <a:xfrm rot="5400000">
            <a:off x="9736697" y="1795362"/>
            <a:ext cx="571500" cy="1614488"/>
          </a:xfrm>
          <a:prstGeom prst="homePlate">
            <a:avLst>
              <a:gd name="adj" fmla="val 26944"/>
            </a:avLst>
          </a:prstGeom>
          <a:solidFill>
            <a:srgbClr val="7EB9F6"/>
          </a:solidFill>
          <a:ln w="6350">
            <a:noFill/>
          </a:ln>
          <a:effectLst>
            <a:outerShdw dist="35921" dir="2699999" algn="ctr" rotWithShape="0">
              <a:srgbClr val="FFC000"/>
            </a:outerShdw>
          </a:effectLst>
        </p:spPr>
        <p:txBody>
          <a:bodyPr lIns="0" tIns="0" rIns="0" bIns="0" anchor="ctr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" name="Freeform 16"/>
          <p:cNvSpPr/>
          <p:nvPr/>
        </p:nvSpPr>
        <p:spPr>
          <a:xfrm>
            <a:off x="9217584" y="2835174"/>
            <a:ext cx="1614488" cy="349732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Box 17"/>
          <p:cNvSpPr txBox="1"/>
          <p:nvPr/>
        </p:nvSpPr>
        <p:spPr>
          <a:xfrm>
            <a:off x="9252509" y="2333366"/>
            <a:ext cx="1546225" cy="492443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策略和计费控制单元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PCRF</a:t>
            </a:r>
          </a:p>
        </p:txBody>
      </p:sp>
      <p:sp>
        <p:nvSpPr>
          <p:cNvPr id="70" name="Rectangle 18"/>
          <p:cNvSpPr/>
          <p:nvPr/>
        </p:nvSpPr>
        <p:spPr>
          <a:xfrm>
            <a:off x="2392922" y="3106637"/>
            <a:ext cx="1438275" cy="3046988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t">
            <a:spAutoFit/>
          </a:bodyPr>
          <a:lstStyle/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处理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之间的控制信令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，通过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NAS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协议实现。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寻呼和控制信息分发           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承载控制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保证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NAS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信令安全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移动性管理</a:t>
            </a:r>
          </a:p>
        </p:txBody>
      </p:sp>
      <p:sp>
        <p:nvSpPr>
          <p:cNvPr id="71" name="Rectangle 19"/>
          <p:cNvSpPr/>
          <p:nvPr/>
        </p:nvSpPr>
        <p:spPr>
          <a:xfrm>
            <a:off x="4126472" y="3106637"/>
            <a:ext cx="1438275" cy="1661993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t">
            <a:spAutoFit/>
          </a:bodyPr>
          <a:lstStyle/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地址分配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QoS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保证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计费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数据包过滤</a:t>
            </a:r>
          </a:p>
        </p:txBody>
      </p:sp>
      <p:sp>
        <p:nvSpPr>
          <p:cNvPr id="72" name="Rectangle 20"/>
          <p:cNvSpPr/>
          <p:nvPr/>
        </p:nvSpPr>
        <p:spPr>
          <a:xfrm>
            <a:off x="5794934" y="3008511"/>
            <a:ext cx="1546225" cy="3323987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anchor="t">
            <a:spAutoFit/>
          </a:bodyPr>
          <a:lstStyle/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所有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数据包均通过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S-GW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在小区间切换时，作为移动性控制锚点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下行数据缓存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LTE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与其他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3GPP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技术互联时作为移动性锚点</a:t>
            </a:r>
          </a:p>
        </p:txBody>
      </p:sp>
      <p:sp>
        <p:nvSpPr>
          <p:cNvPr id="73" name="Rectangle 21"/>
          <p:cNvSpPr/>
          <p:nvPr/>
        </p:nvSpPr>
        <p:spPr>
          <a:xfrm>
            <a:off x="7591984" y="3106637"/>
            <a:ext cx="1438275" cy="2215991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t">
            <a:spAutoFit/>
          </a:bodyPr>
          <a:lstStyle/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存储用户签约信息的数据库</a:t>
            </a:r>
          </a:p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用户标识，编号和路由信息，安全信息，位置信息</a:t>
            </a:r>
          </a:p>
        </p:txBody>
      </p:sp>
      <p:sp>
        <p:nvSpPr>
          <p:cNvPr id="74" name="Rectangle 22"/>
          <p:cNvSpPr/>
          <p:nvPr/>
        </p:nvSpPr>
        <p:spPr>
          <a:xfrm>
            <a:off x="9312834" y="3106637"/>
            <a:ext cx="1438275" cy="553998"/>
          </a:xfrm>
          <a:prstGeom prst="rect">
            <a:avLst/>
          </a:prstGeom>
          <a:noFill/>
          <a:ln w="6350">
            <a:noFill/>
          </a:ln>
        </p:spPr>
        <p:txBody>
          <a:bodyPr lIns="0" tIns="0" rIns="0" bIns="0" anchor="t">
            <a:spAutoFit/>
          </a:bodyPr>
          <a:lstStyle/>
          <a:p>
            <a:pPr marL="190500" lvl="1" indent="-188595" defTabSz="330200" eaLnBrk="0" hangingPunct="0">
              <a:buChar char="•"/>
              <a:tabLst>
                <a:tab pos="8521700" algn="r"/>
              </a:tabLst>
            </a:pPr>
            <a:r>
              <a:rPr lang="zh-CN" altLang="en-US" dirty="0">
                <a:latin typeface="Arial" panose="020B0604020202020204" pitchFamily="34" charset="0"/>
              </a:rPr>
              <a:t>策略和计费执行功能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2477767" y="2172212"/>
            <a:ext cx="677037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S1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接口定义为</a:t>
            </a:r>
            <a:r>
              <a:rPr 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E-UTRAN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EPC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之间的接口。</a:t>
            </a:r>
          </a:p>
        </p:txBody>
      </p:sp>
      <p:sp>
        <p:nvSpPr>
          <p:cNvPr id="26" name="直接连接符 11"/>
          <p:cNvSpPr>
            <a:spLocks noChangeShapeType="1"/>
          </p:cNvSpPr>
          <p:nvPr/>
        </p:nvSpPr>
        <p:spPr bwMode="auto">
          <a:xfrm>
            <a:off x="2357446" y="3124601"/>
            <a:ext cx="7711505" cy="0"/>
          </a:xfrm>
          <a:prstGeom prst="line">
            <a:avLst/>
          </a:prstGeom>
          <a:noFill/>
          <a:ln w="28575" cap="flat" cmpd="sng">
            <a:solidFill>
              <a:srgbClr val="C9191C"/>
            </a:solidFill>
            <a:prstDash val="solid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477767" y="3354023"/>
            <a:ext cx="7690485" cy="1644015"/>
            <a:chOff x="1923" y="5503"/>
            <a:chExt cx="12111" cy="2589"/>
          </a:xfrm>
        </p:grpSpPr>
        <p:sp>
          <p:nvSpPr>
            <p:cNvPr id="28" name="文本框 27"/>
            <p:cNvSpPr txBox="1"/>
            <p:nvPr/>
          </p:nvSpPr>
          <p:spPr>
            <a:xfrm>
              <a:off x="1923" y="5503"/>
              <a:ext cx="4282" cy="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charset="0"/>
                <a:buChar char=""/>
              </a:pP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S1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接口包括两部分</a:t>
              </a:r>
              <a:r>
                <a:rPr lang="zh-CN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205" y="5620"/>
              <a:ext cx="7829" cy="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控制面的</a:t>
              </a: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S1-C</a:t>
              </a:r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接口。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用户面的</a:t>
              </a: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S1-U</a:t>
              </a:r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接口。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S1-C/MME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接口定义为</a:t>
              </a:r>
              <a:r>
                <a:rPr lang="en-US" altLang="zh-CN" sz="1600" b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eNB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和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MME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功能之间的接口；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S1-U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定义为</a:t>
              </a:r>
              <a:r>
                <a:rPr lang="en-US" altLang="zh-CN" sz="1600" b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eNB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和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SAE</a:t>
              </a: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网关之间的接口。 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2603024" y="5301754"/>
            <a:ext cx="74393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EPC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eNBs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之间的关系是多到多，即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接口实现多个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EPC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网元和多个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eNB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网元之间接口功能。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任务一：走进</a:t>
            </a:r>
            <a:r>
              <a:rPr lang="en-US" altLang="zh-CN" dirty="0"/>
              <a:t>LTE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9791" y="840472"/>
            <a:ext cx="3815039" cy="107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r>
              <a:rPr kumimoji="1" lang="en-US" altLang="zh-CN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LTE</a:t>
            </a:r>
            <a:r>
              <a:rPr kumimoji="1" lang="zh-CN" altLang="en-US" sz="237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kumimoji="1" lang="en-US" altLang="zh-CN" sz="2375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</a:t>
            </a:r>
            <a:r>
              <a:rPr kumimoji="1" lang="zh-CN" altLang="en-US" sz="1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各网元的职能划分</a:t>
            </a:r>
            <a:endParaRPr kumimoji="1" lang="en-US" altLang="zh-CN" sz="16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2477767" y="2172212"/>
            <a:ext cx="67703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X2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接口定义为各个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eNB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之间的接口。支持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UE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在各个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eNB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之间的移动性。</a:t>
            </a:r>
            <a:endParaRPr lang="zh-CN" altLang="en-US" sz="20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6" name="直接连接符 11"/>
          <p:cNvSpPr>
            <a:spLocks noChangeShapeType="1"/>
          </p:cNvSpPr>
          <p:nvPr/>
        </p:nvSpPr>
        <p:spPr bwMode="auto">
          <a:xfrm>
            <a:off x="2357446" y="3187875"/>
            <a:ext cx="7711505" cy="0"/>
          </a:xfrm>
          <a:prstGeom prst="line">
            <a:avLst/>
          </a:prstGeom>
          <a:noFill/>
          <a:ln w="28575" cap="flat" cmpd="sng">
            <a:solidFill>
              <a:srgbClr val="C9191C"/>
            </a:solidFill>
            <a:prstDash val="solid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477767" y="3354023"/>
            <a:ext cx="6731635" cy="2013585"/>
            <a:chOff x="1923" y="5503"/>
            <a:chExt cx="10601" cy="3171"/>
          </a:xfrm>
        </p:grpSpPr>
        <p:sp>
          <p:nvSpPr>
            <p:cNvPr id="28" name="文本框 27"/>
            <p:cNvSpPr txBox="1"/>
            <p:nvPr/>
          </p:nvSpPr>
          <p:spPr>
            <a:xfrm>
              <a:off x="1923" y="5503"/>
              <a:ext cx="4282" cy="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charset="0"/>
                <a:buChar char=""/>
              </a:pP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X2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接口包括两部分</a:t>
              </a:r>
              <a:r>
                <a:rPr lang="zh-CN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205" y="5620"/>
              <a:ext cx="6319" cy="3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600" kern="0" dirty="0">
                  <a:latin typeface="微软雅黑" panose="020B0503020204020204" charset="-122"/>
                </a:rPr>
                <a:t>X2-C</a:t>
              </a:r>
              <a:r>
                <a:rPr lang="zh-CN" altLang="en-US" sz="1600" kern="0" dirty="0">
                  <a:latin typeface="微软雅黑" panose="020B0503020204020204" charset="-122"/>
                </a:rPr>
                <a:t>接口</a:t>
              </a:r>
              <a:endPara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1600" kern="0" dirty="0">
                  <a:latin typeface="微软雅黑" panose="020B0503020204020204" charset="-122"/>
                </a:rPr>
                <a:t>X2-U</a:t>
              </a:r>
              <a:r>
                <a:rPr lang="zh-CN" altLang="en-US" sz="1600" kern="0" dirty="0">
                  <a:latin typeface="微软雅黑" panose="020B0503020204020204" charset="-122"/>
                </a:rPr>
                <a:t>接口</a:t>
              </a:r>
              <a:endParaRPr lang="en-US" altLang="zh-CN" sz="1600" kern="0" dirty="0">
                <a:latin typeface="微软雅黑" panose="020B0503020204020204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zh-CN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X2-C</a:t>
              </a:r>
              <a:r>
                <a:rPr lang="zh-CN" altLang="en-US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是各个</a:t>
              </a:r>
              <a:r>
                <a:rPr lang="en-US" altLang="zh-CN" sz="1600" b="1" kern="0" dirty="0" err="1">
                  <a:solidFill>
                    <a:srgbClr val="FF0000"/>
                  </a:solidFill>
                  <a:latin typeface="微软雅黑" panose="020B0503020204020204" charset="-122"/>
                </a:rPr>
                <a:t>eNB</a:t>
              </a:r>
              <a:r>
                <a:rPr lang="zh-CN" altLang="en-US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之间控制面间接口。</a:t>
              </a:r>
              <a:endParaRPr lang="en-US" altLang="zh-CN" sz="1600" b="1" kern="0" dirty="0">
                <a:solidFill>
                  <a:srgbClr val="FF0000"/>
                </a:solidFill>
                <a:latin typeface="微软雅黑" panose="020B0503020204020204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zh-CN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X2-U</a:t>
              </a:r>
              <a:r>
                <a:rPr lang="zh-CN" altLang="en-US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是各个</a:t>
              </a:r>
              <a:r>
                <a:rPr lang="en-US" altLang="zh-CN" sz="1600" b="1" kern="0" dirty="0" err="1">
                  <a:solidFill>
                    <a:srgbClr val="FF0000"/>
                  </a:solidFill>
                  <a:latin typeface="微软雅黑" panose="020B0503020204020204" charset="-122"/>
                </a:rPr>
                <a:t>eNB</a:t>
              </a:r>
              <a:r>
                <a:rPr lang="zh-CN" altLang="en-US" sz="1600" b="1" kern="0" dirty="0">
                  <a:solidFill>
                    <a:srgbClr val="FF0000"/>
                  </a:solidFill>
                  <a:latin typeface="微软雅黑" panose="020B0503020204020204" charset="-122"/>
                </a:rPr>
                <a:t>之间用户面之间的接口</a:t>
              </a:r>
              <a:r>
                <a:rPr lang="zh-CN" altLang="en-US" sz="1600" b="1" kern="0" dirty="0">
                  <a:solidFill>
                    <a:srgbClr val="0087E2"/>
                  </a:solidFill>
                  <a:latin typeface="微软雅黑" panose="020B050302020402020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endPara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2357446" y="5255428"/>
            <a:ext cx="82464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接口类似的地方是：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S1-U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X2-U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使用同样的用户面协议。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大开眼界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071060" y="1810582"/>
          <a:ext cx="6157607" cy="36880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1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680">
                <a:tc gridSpan="4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国际、国内</a:t>
                      </a:r>
                      <a:r>
                        <a:rPr lang="en-US" sz="1800" kern="0" dirty="0">
                          <a:effectLst/>
                        </a:rPr>
                        <a:t>4G</a:t>
                      </a:r>
                      <a:r>
                        <a:rPr lang="zh-CN" sz="1800" kern="0" dirty="0">
                          <a:effectLst/>
                        </a:rPr>
                        <a:t>网络数据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483">
                <a:tc rowSpan="2"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　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移动用户数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4G</a:t>
                      </a:r>
                      <a:r>
                        <a:rPr lang="zh-CN" sz="1800" kern="0" dirty="0">
                          <a:effectLst/>
                        </a:rPr>
                        <a:t>移动用户数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4G</a:t>
                      </a:r>
                      <a:r>
                        <a:rPr lang="zh-CN" sz="1800" kern="0" dirty="0">
                          <a:effectLst/>
                        </a:rPr>
                        <a:t>站点数量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4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（户）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（户）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（个）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全球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79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29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500</a:t>
                      </a:r>
                      <a:r>
                        <a:rPr lang="zh-CN" sz="1800" kern="0" dirty="0">
                          <a:effectLst/>
                        </a:rPr>
                        <a:t>万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中国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15.1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11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336.9</a:t>
                      </a:r>
                      <a:r>
                        <a:rPr lang="zh-CN" sz="1800" kern="0">
                          <a:effectLst/>
                        </a:rPr>
                        <a:t>万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483">
                <a:tc gridSpan="4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国内三大运营商数据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　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中国移动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中国电信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中国联通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移动用户数（户）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9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2.65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2.94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4G</a:t>
                      </a:r>
                      <a:r>
                        <a:rPr lang="zh-CN" sz="1800" kern="0" dirty="0">
                          <a:effectLst/>
                        </a:rPr>
                        <a:t>用户数（户）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6.72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2.06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1.98</a:t>
                      </a:r>
                      <a:r>
                        <a:rPr lang="zh-CN" sz="1800" kern="0">
                          <a:effectLst/>
                        </a:rPr>
                        <a:t>亿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48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4G</a:t>
                      </a:r>
                      <a:r>
                        <a:rPr lang="zh-CN" sz="1800" kern="0" dirty="0">
                          <a:effectLst/>
                        </a:rPr>
                        <a:t>站点数（个）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110</a:t>
                      </a:r>
                      <a:r>
                        <a:rPr lang="zh-CN" sz="1800" kern="0" dirty="0">
                          <a:effectLst/>
                        </a:rPr>
                        <a:t>万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135</a:t>
                      </a:r>
                      <a:r>
                        <a:rPr lang="zh-CN" sz="1800" kern="0">
                          <a:effectLst/>
                        </a:rPr>
                        <a:t>万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95</a:t>
                      </a:r>
                      <a:r>
                        <a:rPr lang="zh-CN" sz="1800" kern="0" dirty="0">
                          <a:effectLst/>
                        </a:rPr>
                        <a:t>万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48891" y="5909017"/>
            <a:ext cx="3860352" cy="3265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000" kern="100" dirty="0">
                <a:latin typeface="+mn-ea"/>
              </a:rPr>
              <a:t>国际、国内</a:t>
            </a:r>
            <a:r>
              <a:rPr lang="en-US" altLang="zh-CN" sz="2000" kern="100" dirty="0">
                <a:latin typeface="+mn-ea"/>
              </a:rPr>
              <a:t>4G</a:t>
            </a:r>
            <a:r>
              <a:rPr lang="zh-CN" altLang="zh-CN" sz="2000" kern="100" dirty="0">
                <a:latin typeface="+mn-ea"/>
              </a:rPr>
              <a:t>网络最新发展调查</a:t>
            </a:r>
            <a:endParaRPr lang="zh-CN" altLang="zh-CN" sz="2000" kern="100" dirty="0"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任务小结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7142" y="2209800"/>
            <a:ext cx="3561081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zh-CN" kern="100" dirty="0">
                <a:latin typeface="+mn-ea"/>
              </a:rPr>
              <a:t>了解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zh-CN" kern="100" dirty="0">
                <a:latin typeface="+mn-ea"/>
              </a:rPr>
              <a:t>的定义与演进历程</a:t>
            </a:r>
            <a:r>
              <a:rPr lang="zh-CN" altLang="en-US" kern="100" dirty="0">
                <a:latin typeface="+mn-ea"/>
              </a:rPr>
              <a:t>。</a:t>
            </a:r>
            <a:endParaRPr lang="en-US" altLang="zh-CN" kern="100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52540" y="2762958"/>
            <a:ext cx="436735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kern="100" dirty="0">
                <a:latin typeface="+mn-ea"/>
              </a:rPr>
              <a:t>熟悉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en-US" kern="100" dirty="0">
                <a:latin typeface="+mn-ea"/>
              </a:rPr>
              <a:t>频谱和频点的概念，以及中国三大运营商的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en-US" kern="100" dirty="0">
                <a:latin typeface="+mn-ea"/>
              </a:rPr>
              <a:t>频段范围。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853708" y="2282216"/>
            <a:ext cx="538618" cy="397032"/>
            <a:chOff x="1346142" y="4267776"/>
            <a:chExt cx="352611" cy="250762"/>
          </a:xfrm>
        </p:grpSpPr>
        <p:sp>
          <p:nvSpPr>
            <p:cNvPr id="17" name="矩形 16"/>
            <p:cNvSpPr/>
            <p:nvPr/>
          </p:nvSpPr>
          <p:spPr>
            <a:xfrm>
              <a:off x="1389761" y="4275577"/>
              <a:ext cx="236090" cy="196101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46142" y="4267776"/>
              <a:ext cx="352611" cy="250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752539" y="3527633"/>
            <a:ext cx="4788685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kern="100" dirty="0">
                <a:latin typeface="+mn-ea"/>
              </a:rPr>
              <a:t>熟悉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en-US" kern="100" dirty="0">
                <a:latin typeface="+mn-ea"/>
              </a:rPr>
              <a:t>无线网络各主要性能指标的特点与内涵，以及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en-US" kern="100" dirty="0">
                <a:latin typeface="+mn-ea"/>
              </a:rPr>
              <a:t>网络架构的特点与</a:t>
            </a:r>
            <a:r>
              <a:rPr lang="en-US" altLang="zh-CN" kern="100" dirty="0">
                <a:latin typeface="+mn-ea"/>
              </a:rPr>
              <a:t>2/3G</a:t>
            </a:r>
            <a:r>
              <a:rPr lang="zh-CN" altLang="en-US" kern="100" dirty="0">
                <a:latin typeface="+mn-ea"/>
              </a:rPr>
              <a:t>在网络架构上的不同点。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752539" y="4573070"/>
            <a:ext cx="4907754" cy="375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kern="100" dirty="0">
                <a:latin typeface="+mn-ea"/>
              </a:rPr>
              <a:t>掌握</a:t>
            </a:r>
            <a:r>
              <a:rPr lang="en-US" altLang="zh-CN" kern="100" dirty="0">
                <a:latin typeface="+mn-ea"/>
              </a:rPr>
              <a:t>LTE</a:t>
            </a:r>
            <a:r>
              <a:rPr lang="zh-CN" altLang="en-US" kern="100" dirty="0">
                <a:latin typeface="+mn-ea"/>
              </a:rPr>
              <a:t>网络架构的特点以及各网元的功能。</a:t>
            </a:r>
          </a:p>
        </p:txBody>
      </p:sp>
      <p:sp>
        <p:nvSpPr>
          <p:cNvPr id="29" name="Freeform 29"/>
          <p:cNvSpPr>
            <a:spLocks noEditPoints="1"/>
          </p:cNvSpPr>
          <p:nvPr/>
        </p:nvSpPr>
        <p:spPr bwMode="auto">
          <a:xfrm flipH="1">
            <a:off x="8336766" y="1511929"/>
            <a:ext cx="3663372" cy="3991302"/>
          </a:xfrm>
          <a:custGeom>
            <a:avLst/>
            <a:gdLst>
              <a:gd name="T0" fmla="*/ 127 w 358"/>
              <a:gd name="T1" fmla="*/ 292 h 382"/>
              <a:gd name="T2" fmla="*/ 322 w 358"/>
              <a:gd name="T3" fmla="*/ 63 h 382"/>
              <a:gd name="T4" fmla="*/ 333 w 358"/>
              <a:gd name="T5" fmla="*/ 113 h 382"/>
              <a:gd name="T6" fmla="*/ 336 w 358"/>
              <a:gd name="T7" fmla="*/ 178 h 382"/>
              <a:gd name="T8" fmla="*/ 338 w 358"/>
              <a:gd name="T9" fmla="*/ 245 h 382"/>
              <a:gd name="T10" fmla="*/ 321 w 358"/>
              <a:gd name="T11" fmla="*/ 314 h 382"/>
              <a:gd name="T12" fmla="*/ 271 w 358"/>
              <a:gd name="T13" fmla="*/ 382 h 382"/>
              <a:gd name="T14" fmla="*/ 172 w 358"/>
              <a:gd name="T15" fmla="*/ 226 h 382"/>
              <a:gd name="T16" fmla="*/ 123 w 358"/>
              <a:gd name="T17" fmla="*/ 197 h 382"/>
              <a:gd name="T18" fmla="*/ 125 w 358"/>
              <a:gd name="T19" fmla="*/ 208 h 382"/>
              <a:gd name="T20" fmla="*/ 174 w 358"/>
              <a:gd name="T21" fmla="*/ 236 h 382"/>
              <a:gd name="T22" fmla="*/ 172 w 358"/>
              <a:gd name="T23" fmla="*/ 226 h 382"/>
              <a:gd name="T24" fmla="*/ 288 w 358"/>
              <a:gd name="T25" fmla="*/ 136 h 382"/>
              <a:gd name="T26" fmla="*/ 263 w 358"/>
              <a:gd name="T27" fmla="*/ 125 h 382"/>
              <a:gd name="T28" fmla="*/ 171 w 358"/>
              <a:gd name="T29" fmla="*/ 70 h 382"/>
              <a:gd name="T30" fmla="*/ 148 w 358"/>
              <a:gd name="T31" fmla="*/ 54 h 382"/>
              <a:gd name="T32" fmla="*/ 171 w 358"/>
              <a:gd name="T33" fmla="*/ 70 h 382"/>
              <a:gd name="T34" fmla="*/ 204 w 358"/>
              <a:gd name="T35" fmla="*/ 39 h 382"/>
              <a:gd name="T36" fmla="*/ 193 w 358"/>
              <a:gd name="T37" fmla="*/ 64 h 382"/>
              <a:gd name="T38" fmla="*/ 258 w 358"/>
              <a:gd name="T39" fmla="*/ 103 h 382"/>
              <a:gd name="T40" fmla="*/ 274 w 358"/>
              <a:gd name="T41" fmla="*/ 80 h 382"/>
              <a:gd name="T42" fmla="*/ 258 w 358"/>
              <a:gd name="T43" fmla="*/ 103 h 382"/>
              <a:gd name="T44" fmla="*/ 249 w 358"/>
              <a:gd name="T45" fmla="*/ 55 h 382"/>
              <a:gd name="T46" fmla="*/ 226 w 358"/>
              <a:gd name="T47" fmla="*/ 71 h 382"/>
              <a:gd name="T48" fmla="*/ 182 w 358"/>
              <a:gd name="T49" fmla="*/ 209 h 382"/>
              <a:gd name="T50" fmla="*/ 133 w 358"/>
              <a:gd name="T51" fmla="*/ 180 h 382"/>
              <a:gd name="T52" fmla="*/ 135 w 358"/>
              <a:gd name="T53" fmla="*/ 190 h 382"/>
              <a:gd name="T54" fmla="*/ 184 w 358"/>
              <a:gd name="T55" fmla="*/ 219 h 382"/>
              <a:gd name="T56" fmla="*/ 182 w 358"/>
              <a:gd name="T57" fmla="*/ 209 h 382"/>
              <a:gd name="T58" fmla="*/ 157 w 358"/>
              <a:gd name="T59" fmla="*/ 104 h 382"/>
              <a:gd name="T60" fmla="*/ 186 w 358"/>
              <a:gd name="T61" fmla="*/ 195 h 382"/>
              <a:gd name="T62" fmla="*/ 222 w 358"/>
              <a:gd name="T63" fmla="*/ 90 h 382"/>
              <a:gd name="T64" fmla="*/ 136 w 358"/>
              <a:gd name="T65" fmla="*/ 238 h 382"/>
              <a:gd name="T66" fmla="*/ 129 w 358"/>
              <a:gd name="T67" fmla="*/ 216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8" h="382">
                <a:moveTo>
                  <a:pt x="131" y="382"/>
                </a:moveTo>
                <a:cubicBezTo>
                  <a:pt x="135" y="352"/>
                  <a:pt x="135" y="320"/>
                  <a:pt x="127" y="292"/>
                </a:cubicBezTo>
                <a:cubicBezTo>
                  <a:pt x="0" y="220"/>
                  <a:pt x="34" y="56"/>
                  <a:pt x="140" y="23"/>
                </a:cubicBezTo>
                <a:cubicBezTo>
                  <a:pt x="196" y="0"/>
                  <a:pt x="272" y="14"/>
                  <a:pt x="322" y="63"/>
                </a:cubicBezTo>
                <a:cubicBezTo>
                  <a:pt x="358" y="99"/>
                  <a:pt x="340" y="109"/>
                  <a:pt x="340" y="109"/>
                </a:cubicBezTo>
                <a:cubicBezTo>
                  <a:pt x="333" y="113"/>
                  <a:pt x="333" y="113"/>
                  <a:pt x="333" y="113"/>
                </a:cubicBezTo>
                <a:cubicBezTo>
                  <a:pt x="337" y="130"/>
                  <a:pt x="345" y="162"/>
                  <a:pt x="344" y="166"/>
                </a:cubicBezTo>
                <a:cubicBezTo>
                  <a:pt x="342" y="172"/>
                  <a:pt x="336" y="178"/>
                  <a:pt x="336" y="178"/>
                </a:cubicBezTo>
                <a:cubicBezTo>
                  <a:pt x="354" y="239"/>
                  <a:pt x="354" y="239"/>
                  <a:pt x="354" y="239"/>
                </a:cubicBezTo>
                <a:cubicBezTo>
                  <a:pt x="338" y="245"/>
                  <a:pt x="338" y="245"/>
                  <a:pt x="338" y="245"/>
                </a:cubicBezTo>
                <a:cubicBezTo>
                  <a:pt x="341" y="265"/>
                  <a:pt x="343" y="281"/>
                  <a:pt x="341" y="300"/>
                </a:cubicBezTo>
                <a:cubicBezTo>
                  <a:pt x="341" y="304"/>
                  <a:pt x="330" y="313"/>
                  <a:pt x="321" y="314"/>
                </a:cubicBezTo>
                <a:cubicBezTo>
                  <a:pt x="267" y="317"/>
                  <a:pt x="267" y="317"/>
                  <a:pt x="267" y="317"/>
                </a:cubicBezTo>
                <a:cubicBezTo>
                  <a:pt x="271" y="382"/>
                  <a:pt x="271" y="382"/>
                  <a:pt x="271" y="382"/>
                </a:cubicBezTo>
                <a:cubicBezTo>
                  <a:pt x="131" y="382"/>
                  <a:pt x="131" y="382"/>
                  <a:pt x="131" y="382"/>
                </a:cubicBezTo>
                <a:close/>
                <a:moveTo>
                  <a:pt x="172" y="226"/>
                </a:moveTo>
                <a:cubicBezTo>
                  <a:pt x="132" y="196"/>
                  <a:pt x="132" y="196"/>
                  <a:pt x="132" y="196"/>
                </a:cubicBezTo>
                <a:cubicBezTo>
                  <a:pt x="129" y="193"/>
                  <a:pt x="125" y="194"/>
                  <a:pt x="123" y="197"/>
                </a:cubicBezTo>
                <a:cubicBezTo>
                  <a:pt x="123" y="197"/>
                  <a:pt x="123" y="197"/>
                  <a:pt x="123" y="197"/>
                </a:cubicBezTo>
                <a:cubicBezTo>
                  <a:pt x="121" y="201"/>
                  <a:pt x="122" y="205"/>
                  <a:pt x="125" y="208"/>
                </a:cubicBezTo>
                <a:cubicBezTo>
                  <a:pt x="165" y="238"/>
                  <a:pt x="165" y="238"/>
                  <a:pt x="165" y="238"/>
                </a:cubicBezTo>
                <a:cubicBezTo>
                  <a:pt x="168" y="240"/>
                  <a:pt x="172" y="239"/>
                  <a:pt x="174" y="236"/>
                </a:cubicBezTo>
                <a:cubicBezTo>
                  <a:pt x="174" y="236"/>
                  <a:pt x="174" y="236"/>
                  <a:pt x="174" y="236"/>
                </a:cubicBezTo>
                <a:cubicBezTo>
                  <a:pt x="176" y="233"/>
                  <a:pt x="175" y="228"/>
                  <a:pt x="172" y="226"/>
                </a:cubicBezTo>
                <a:close/>
                <a:moveTo>
                  <a:pt x="263" y="136"/>
                </a:moveTo>
                <a:cubicBezTo>
                  <a:pt x="288" y="136"/>
                  <a:pt x="288" y="136"/>
                  <a:pt x="288" y="136"/>
                </a:cubicBezTo>
                <a:cubicBezTo>
                  <a:pt x="288" y="125"/>
                  <a:pt x="288" y="125"/>
                  <a:pt x="288" y="125"/>
                </a:cubicBezTo>
                <a:cubicBezTo>
                  <a:pt x="263" y="125"/>
                  <a:pt x="263" y="125"/>
                  <a:pt x="263" y="125"/>
                </a:cubicBezTo>
                <a:cubicBezTo>
                  <a:pt x="263" y="136"/>
                  <a:pt x="263" y="136"/>
                  <a:pt x="263" y="136"/>
                </a:cubicBezTo>
                <a:close/>
                <a:moveTo>
                  <a:pt x="171" y="70"/>
                </a:moveTo>
                <a:cubicBezTo>
                  <a:pt x="158" y="48"/>
                  <a:pt x="158" y="48"/>
                  <a:pt x="158" y="48"/>
                </a:cubicBezTo>
                <a:cubicBezTo>
                  <a:pt x="148" y="54"/>
                  <a:pt x="148" y="54"/>
                  <a:pt x="148" y="54"/>
                </a:cubicBezTo>
                <a:cubicBezTo>
                  <a:pt x="161" y="76"/>
                  <a:pt x="161" y="76"/>
                  <a:pt x="161" y="76"/>
                </a:cubicBezTo>
                <a:cubicBezTo>
                  <a:pt x="171" y="70"/>
                  <a:pt x="171" y="70"/>
                  <a:pt x="171" y="70"/>
                </a:cubicBezTo>
                <a:close/>
                <a:moveTo>
                  <a:pt x="204" y="64"/>
                </a:moveTo>
                <a:cubicBezTo>
                  <a:pt x="204" y="39"/>
                  <a:pt x="204" y="39"/>
                  <a:pt x="204" y="39"/>
                </a:cubicBezTo>
                <a:cubicBezTo>
                  <a:pt x="193" y="39"/>
                  <a:pt x="193" y="39"/>
                  <a:pt x="193" y="39"/>
                </a:cubicBezTo>
                <a:cubicBezTo>
                  <a:pt x="193" y="64"/>
                  <a:pt x="193" y="64"/>
                  <a:pt x="193" y="64"/>
                </a:cubicBezTo>
                <a:cubicBezTo>
                  <a:pt x="204" y="64"/>
                  <a:pt x="204" y="64"/>
                  <a:pt x="204" y="64"/>
                </a:cubicBezTo>
                <a:close/>
                <a:moveTo>
                  <a:pt x="258" y="103"/>
                </a:moveTo>
                <a:cubicBezTo>
                  <a:pt x="279" y="90"/>
                  <a:pt x="279" y="90"/>
                  <a:pt x="279" y="90"/>
                </a:cubicBezTo>
                <a:cubicBezTo>
                  <a:pt x="274" y="80"/>
                  <a:pt x="274" y="80"/>
                  <a:pt x="274" y="80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8" y="103"/>
                  <a:pt x="258" y="103"/>
                  <a:pt x="258" y="103"/>
                </a:cubicBezTo>
                <a:close/>
                <a:moveTo>
                  <a:pt x="236" y="76"/>
                </a:moveTo>
                <a:cubicBezTo>
                  <a:pt x="249" y="55"/>
                  <a:pt x="249" y="55"/>
                  <a:pt x="249" y="55"/>
                </a:cubicBezTo>
                <a:cubicBezTo>
                  <a:pt x="239" y="49"/>
                  <a:pt x="239" y="49"/>
                  <a:pt x="239" y="49"/>
                </a:cubicBezTo>
                <a:cubicBezTo>
                  <a:pt x="226" y="71"/>
                  <a:pt x="226" y="71"/>
                  <a:pt x="226" y="71"/>
                </a:cubicBezTo>
                <a:cubicBezTo>
                  <a:pt x="236" y="76"/>
                  <a:pt x="236" y="76"/>
                  <a:pt x="236" y="76"/>
                </a:cubicBezTo>
                <a:close/>
                <a:moveTo>
                  <a:pt x="182" y="209"/>
                </a:moveTo>
                <a:cubicBezTo>
                  <a:pt x="142" y="178"/>
                  <a:pt x="142" y="178"/>
                  <a:pt x="142" y="178"/>
                </a:cubicBezTo>
                <a:cubicBezTo>
                  <a:pt x="139" y="176"/>
                  <a:pt x="135" y="177"/>
                  <a:pt x="133" y="180"/>
                </a:cubicBezTo>
                <a:cubicBezTo>
                  <a:pt x="133" y="180"/>
                  <a:pt x="133" y="180"/>
                  <a:pt x="133" y="180"/>
                </a:cubicBezTo>
                <a:cubicBezTo>
                  <a:pt x="131" y="183"/>
                  <a:pt x="132" y="188"/>
                  <a:pt x="135" y="190"/>
                </a:cubicBezTo>
                <a:cubicBezTo>
                  <a:pt x="175" y="221"/>
                  <a:pt x="175" y="221"/>
                  <a:pt x="175" y="221"/>
                </a:cubicBezTo>
                <a:cubicBezTo>
                  <a:pt x="178" y="223"/>
                  <a:pt x="182" y="222"/>
                  <a:pt x="184" y="219"/>
                </a:cubicBezTo>
                <a:cubicBezTo>
                  <a:pt x="184" y="219"/>
                  <a:pt x="184" y="219"/>
                  <a:pt x="184" y="219"/>
                </a:cubicBezTo>
                <a:cubicBezTo>
                  <a:pt x="186" y="216"/>
                  <a:pt x="185" y="211"/>
                  <a:pt x="182" y="209"/>
                </a:cubicBezTo>
                <a:close/>
                <a:moveTo>
                  <a:pt x="222" y="90"/>
                </a:moveTo>
                <a:cubicBezTo>
                  <a:pt x="198" y="76"/>
                  <a:pt x="169" y="83"/>
                  <a:pt x="157" y="104"/>
                </a:cubicBezTo>
                <a:cubicBezTo>
                  <a:pt x="144" y="126"/>
                  <a:pt x="160" y="151"/>
                  <a:pt x="149" y="174"/>
                </a:cubicBezTo>
                <a:cubicBezTo>
                  <a:pt x="186" y="195"/>
                  <a:pt x="186" y="195"/>
                  <a:pt x="186" y="195"/>
                </a:cubicBezTo>
                <a:cubicBezTo>
                  <a:pt x="200" y="174"/>
                  <a:pt x="229" y="176"/>
                  <a:pt x="242" y="154"/>
                </a:cubicBezTo>
                <a:cubicBezTo>
                  <a:pt x="255" y="132"/>
                  <a:pt x="245" y="104"/>
                  <a:pt x="222" y="90"/>
                </a:cubicBezTo>
                <a:close/>
                <a:moveTo>
                  <a:pt x="129" y="216"/>
                </a:moveTo>
                <a:cubicBezTo>
                  <a:pt x="125" y="224"/>
                  <a:pt x="128" y="233"/>
                  <a:pt x="136" y="238"/>
                </a:cubicBezTo>
                <a:cubicBezTo>
                  <a:pt x="142" y="241"/>
                  <a:pt x="150" y="240"/>
                  <a:pt x="155" y="236"/>
                </a:cubicBezTo>
                <a:lnTo>
                  <a:pt x="129" y="216"/>
                </a:lnTo>
                <a:close/>
              </a:path>
            </a:pathLst>
          </a:custGeom>
          <a:solidFill>
            <a:srgbClr val="8F000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853708" y="2835919"/>
            <a:ext cx="538618" cy="397032"/>
            <a:chOff x="1331500" y="4248246"/>
            <a:chExt cx="352611" cy="250762"/>
          </a:xfrm>
        </p:grpSpPr>
        <p:sp>
          <p:nvSpPr>
            <p:cNvPr id="31" name="矩形 30"/>
            <p:cNvSpPr/>
            <p:nvPr/>
          </p:nvSpPr>
          <p:spPr>
            <a:xfrm>
              <a:off x="1389761" y="4275577"/>
              <a:ext cx="236090" cy="196101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331500" y="4248246"/>
              <a:ext cx="352611" cy="250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853709" y="3577067"/>
            <a:ext cx="538618" cy="397032"/>
            <a:chOff x="1331501" y="4263268"/>
            <a:chExt cx="352611" cy="250762"/>
          </a:xfrm>
        </p:grpSpPr>
        <p:sp>
          <p:nvSpPr>
            <p:cNvPr id="34" name="矩形 33"/>
            <p:cNvSpPr/>
            <p:nvPr/>
          </p:nvSpPr>
          <p:spPr>
            <a:xfrm>
              <a:off x="1389761" y="4275577"/>
              <a:ext cx="236090" cy="196101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331501" y="4263268"/>
              <a:ext cx="352611" cy="250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873336" y="4549420"/>
            <a:ext cx="538618" cy="397032"/>
            <a:chOff x="1331500" y="4259201"/>
            <a:chExt cx="352611" cy="250762"/>
          </a:xfrm>
        </p:grpSpPr>
        <p:sp>
          <p:nvSpPr>
            <p:cNvPr id="37" name="矩形 36"/>
            <p:cNvSpPr/>
            <p:nvPr/>
          </p:nvSpPr>
          <p:spPr>
            <a:xfrm>
              <a:off x="1389761" y="4275577"/>
              <a:ext cx="236090" cy="196101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31500" y="4259201"/>
              <a:ext cx="352611" cy="250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6FBB640-4F0C-0046-6653-4EE360E588EA}"/>
              </a:ext>
            </a:extLst>
          </p:cNvPr>
          <p:cNvSpPr txBox="1"/>
          <p:nvPr/>
        </p:nvSpPr>
        <p:spPr>
          <a:xfrm>
            <a:off x="2886495" y="5503231"/>
            <a:ext cx="4233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作业：教材</a:t>
            </a:r>
            <a:r>
              <a:rPr lang="en-US" altLang="zh-CN" sz="3200" dirty="0">
                <a:solidFill>
                  <a:srgbClr val="FF0000"/>
                </a:solidFill>
              </a:rPr>
              <a:t>29</a:t>
            </a:r>
            <a:r>
              <a:rPr lang="zh-CN" altLang="en-US" sz="3200" dirty="0">
                <a:solidFill>
                  <a:srgbClr val="FF0000"/>
                </a:solidFill>
              </a:rPr>
              <a:t>页</a:t>
            </a:r>
            <a:r>
              <a:rPr lang="en-US" altLang="zh-CN" sz="3200" dirty="0">
                <a:solidFill>
                  <a:srgbClr val="FF0000"/>
                </a:solidFill>
              </a:rPr>
              <a:t>1-8</a:t>
            </a:r>
            <a:r>
              <a:rPr lang="zh-CN" altLang="en-US" sz="3200" dirty="0">
                <a:solidFill>
                  <a:srgbClr val="FF0000"/>
                </a:solidFill>
              </a:rPr>
              <a:t>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0" grpId="0"/>
      <p:bldP spid="25" grpId="0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2BE9-D54D-0529-0098-F32116CC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DCE2-ECAA-0B19-2918-D8F50F61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668" y="2513740"/>
            <a:ext cx="10515600" cy="1830520"/>
          </a:xfrm>
        </p:spPr>
        <p:txBody>
          <a:bodyPr>
            <a:normAutofit/>
          </a:bodyPr>
          <a:lstStyle/>
          <a:p>
            <a:r>
              <a:rPr lang="zh-CN" altLang="en-US" sz="6700" b="1" dirty="0"/>
              <a:t>谢谢！</a:t>
            </a:r>
            <a:br>
              <a:rPr lang="en-US" altLang="zh-CN" dirty="0"/>
            </a:b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515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Q3NjQxYmZmN2ZkODIxYWNiNTEzMzQyMTZmNzQ1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730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390_3*i*1"/>
  <p:tag name="KSO_WM_TEMPLATE_CATEGORY" val="diagram"/>
  <p:tag name="KSO_WM_TEMPLATE_INDEX" val="390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390_3*i*10"/>
  <p:tag name="KSO_WM_TEMPLATE_CATEGORY" val="diagram"/>
  <p:tag name="KSO_WM_TEMPLATE_INDEX" val="390"/>
  <p:tag name="KSO_WM_UNIT_INDEX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390_3*i*10"/>
  <p:tag name="KSO_WM_TEMPLATE_CATEGORY" val="diagram"/>
  <p:tag name="KSO_WM_TEMPLATE_INDEX" val="390"/>
  <p:tag name="KSO_WM_UNIT_INDEX" val="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3"/>
  <p:tag name="KSO_WM_UNIT_ID" val="diagram390_3*l_i*1_3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4"/>
  <p:tag name="KSO_WM_UNIT_ID" val="diagram390_3*l_i*1_4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2_1"/>
  <p:tag name="KSO_WM_UNIT_ID" val="diagram390_3*l_h_a*1_2_1"/>
  <p:tag name="KSO_WM_UNIT_CLEAR" val="1"/>
  <p:tag name="KSO_WM_UNIT_LAYERLEVEL" val="1_1_1"/>
  <p:tag name="KSO_WM_UNIT_VALUE" val="21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6"/>
  <p:tag name="KSO_WM_UNIT_TEXT_FILL_TYPE" val="1"/>
  <p:tag name="KSO_WM_UNIT_USESOURCEFORMAT_APPLY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3"/>
  <p:tag name="KSO_WM_UNIT_ID" val="diagram390_3*l_i*1_3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4"/>
  <p:tag name="KSO_WM_UNIT_ID" val="diagram390_3*l_i*1_4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2_1"/>
  <p:tag name="KSO_WM_UNIT_ID" val="diagram390_3*l_h_a*1_2_1"/>
  <p:tag name="KSO_WM_UNIT_CLEAR" val="1"/>
  <p:tag name="KSO_WM_UNIT_LAYERLEVEL" val="1_1_1"/>
  <p:tag name="KSO_WM_UNIT_VALUE" val="21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6"/>
  <p:tag name="KSO_WM_UNIT_TEXT_FILL_TYPE" val="1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1"/>
  <p:tag name="KSO_WM_UNIT_ID" val="diagram390_3*l_i*1_1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2"/>
  <p:tag name="KSO_WM_UNIT_ID" val="diagram390_3*l_i*1_2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1_1"/>
  <p:tag name="KSO_WM_UNIT_ID" val="diagram390_3*l_h_a*1_1_1"/>
  <p:tag name="KSO_WM_UNIT_CLEAR" val="1"/>
  <p:tag name="KSO_WM_UNIT_LAYERLEVEL" val="1_1_1"/>
  <p:tag name="KSO_WM_UNIT_VALUE" val="21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5"/>
  <p:tag name="KSO_WM_UNIT_TEXT_FILL_TYPE" val="1"/>
  <p:tag name="KSO_WM_UNIT_USESOURCEFORMAT_APPLY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390_3*i*1"/>
  <p:tag name="KSO_WM_TEMPLATE_CATEGORY" val="diagram"/>
  <p:tag name="KSO_WM_TEMPLATE_INDEX" val="390"/>
  <p:tag name="KSO_WM_UNIT_INDEX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390_3*i*10"/>
  <p:tag name="KSO_WM_TEMPLATE_CATEGORY" val="diagram"/>
  <p:tag name="KSO_WM_TEMPLATE_INDEX" val="390"/>
  <p:tag name="KSO_WM_UNIT_INDEX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3"/>
  <p:tag name="KSO_WM_UNIT_ID" val="diagram390_3*l_i*1_3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4"/>
  <p:tag name="KSO_WM_UNIT_ID" val="diagram390_3*l_i*1_4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2_1"/>
  <p:tag name="KSO_WM_UNIT_ID" val="diagram390_3*l_h_a*1_2_1"/>
  <p:tag name="KSO_WM_UNIT_CLEAR" val="1"/>
  <p:tag name="KSO_WM_UNIT_LAYERLEVEL" val="1_1_1"/>
  <p:tag name="KSO_WM_UNIT_VALUE" val="21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6"/>
  <p:tag name="KSO_WM_UNIT_TEXT_FILL_TYPE" val="1"/>
  <p:tag name="KSO_WM_UNIT_USESOURCEFORMAT_APPLY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1"/>
  <p:tag name="KSO_WM_UNIT_ID" val="diagram390_3*l_i*1_1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i"/>
  <p:tag name="KSO_WM_UNIT_INDEX" val="1_2"/>
  <p:tag name="KSO_WM_UNIT_ID" val="diagram390_3*l_i*1_2"/>
  <p:tag name="KSO_WM_UNIT_CLEAR" val="1"/>
  <p:tag name="KSO_WM_UNIT_LAYERLEVEL" val="1_1"/>
  <p:tag name="KSO_WM_BEAUTIFY_FLAG" val="#wm#"/>
  <p:tag name="KSO_WM_TAG_VERSION" val="1.0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1_1"/>
  <p:tag name="KSO_WM_UNIT_ID" val="diagram390_3*l_h_a*1_1_1"/>
  <p:tag name="KSO_WM_UNIT_CLEAR" val="1"/>
  <p:tag name="KSO_WM_UNIT_LAYERLEVEL" val="1_1_1"/>
  <p:tag name="KSO_WM_UNIT_VALUE" val="21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5"/>
  <p:tag name="KSO_WM_UNIT_TEXT_FILL_TYPE" val="1"/>
  <p:tag name="KSO_WM_UNIT_USESOURCEFORMAT_APPLY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12677165354324,&quot;left&quot;:407.1208661417323,&quot;top&quot;:155.85346456692915,&quot;width&quot;:392.453464566929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1_1"/>
  <p:tag name="KSO_WM_UNIT_ID" val="diagram390_1*l_h_a*1_1_1"/>
  <p:tag name="KSO_WM_UNIT_CLEAR" val="1"/>
  <p:tag name="KSO_WM_UNIT_LAYERLEVEL" val="1_1_1"/>
  <p:tag name="KSO_WM_UNIT_VALUE" val="17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5"/>
  <p:tag name="KSO_WM_UNIT_TEXT_FILL_TYPE" val="1"/>
  <p:tag name="KSO_WM_UNIT_USESOURCEFORMAT_APPLY" val="0"/>
  <p:tag name="KSO_WM_DIAGRAM_VIRTUALLY_FRAME" val="{&quot;height&quot;:321.12677165354324,&quot;left&quot;:407.1208661417323,&quot;top&quot;:155.85346456692915,&quot;width&quot;:392.453464566929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Text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SubTitle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Other"/>
  <p:tag name="MH_ORDER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Text"/>
  <p:tag name="MH_ORDE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65434"/>
  <p:tag name="MH_LIBRARY" val="GRAPHIC"/>
  <p:tag name="MH_TYPE" val="Sub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SubTitle"/>
  <p:tag name="MH_ORDE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Text"/>
  <p:tag name="MH_ORDE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SubTitle"/>
  <p:tag name="MH_ORD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Text"/>
  <p:tag name="MH_ORDER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90423170230"/>
  <p:tag name="MH_LIBRARY" val="GRAPHIC"/>
  <p:tag name="MH_TYPE" val="Other"/>
  <p:tag name="MH_ORDER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90"/>
  <p:tag name="KSO_WM_UNIT_TYPE" val="l_h_a"/>
  <p:tag name="KSO_WM_UNIT_INDEX" val="1_1_1"/>
  <p:tag name="KSO_WM_UNIT_ID" val="diagram390_1*l_h_a*1_1_1"/>
  <p:tag name="KSO_WM_UNIT_CLEAR" val="1"/>
  <p:tag name="KSO_WM_UNIT_LAYERLEVEL" val="1_1_1"/>
  <p:tag name="KSO_WM_UNIT_VALUE" val="17"/>
  <p:tag name="KSO_WM_UNIT_HIGHLIGHT" val="0"/>
  <p:tag name="KSO_WM_UNIT_COMPATIBLE" val="0"/>
  <p:tag name="KSO_WM_BEAUTIFY_FLAG" val="#wm#"/>
  <p:tag name="KSO_WM_UNIT_PRESET_TEXT_INDEX" val="3"/>
  <p:tag name="KSO_WM_UNIT_PRESET_TEXT_LEN" val="12"/>
  <p:tag name="KSO_WM_TAG_VERSION" val="1.0"/>
  <p:tag name="KSO_WM_DIAGRAM_GROUP_CODE" val="l1-1"/>
  <p:tag name="KSO_WM_UNIT_TEXT_FILL_FORE_SCHEMECOLOR_INDEX" val="5"/>
  <p:tag name="KSO_WM_UNIT_TEXT_FILL_TYPE" val="1"/>
  <p:tag name="KSO_WM_UNIT_USESOURCEFORMAT_APPLY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4510</Words>
  <Application>Microsoft Office PowerPoint</Application>
  <PresentationFormat>宽屏</PresentationFormat>
  <Paragraphs>696</Paragraphs>
  <Slides>35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等线</vt:lpstr>
      <vt:lpstr>华文细黑</vt:lpstr>
      <vt:lpstr>宋体</vt:lpstr>
      <vt:lpstr>微软雅黑</vt:lpstr>
      <vt:lpstr>Arial</vt:lpstr>
      <vt:lpstr>Calibri</vt:lpstr>
      <vt:lpstr>Franklin Gothic Medium</vt:lpstr>
      <vt:lpstr>Times New Roman</vt:lpstr>
      <vt:lpstr>Wingdings</vt:lpstr>
      <vt:lpstr>4_自定义设计方案</vt:lpstr>
      <vt:lpstr>自定义设计方案</vt:lpstr>
      <vt:lpstr>1_自定义设计方案</vt:lpstr>
      <vt:lpstr>2_自定义设计方案</vt:lpstr>
      <vt:lpstr>3_自定义设计方案</vt:lpstr>
      <vt:lpstr>Visio</vt:lpstr>
      <vt:lpstr>Microsoft Visio 2003-2010 绘图</vt:lpstr>
      <vt:lpstr>《无线网络规划与优化》</vt:lpstr>
      <vt:lpstr>PowerPoint 演示文稿</vt:lpstr>
      <vt:lpstr>PowerPoint 演示文稿</vt:lpstr>
      <vt:lpstr>PowerPoint 演示文稿</vt:lpstr>
      <vt:lpstr>PowerPoint 演示文稿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任务一：走进LTE系统</vt:lpstr>
      <vt:lpstr>大开眼界</vt:lpstr>
      <vt:lpstr>任务小结</vt:lpstr>
      <vt:lpstr>谢谢！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静 吴</cp:lastModifiedBy>
  <cp:revision>538</cp:revision>
  <dcterms:created xsi:type="dcterms:W3CDTF">2017-08-03T09:01:00Z</dcterms:created>
  <dcterms:modified xsi:type="dcterms:W3CDTF">2025-09-01T04:16:13Z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CD2C71ED5DDF415C9FF576FC3286F4AE_12</vt:lpwstr>
  </property>
</Properties>
</file>