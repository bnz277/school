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6.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notesSlides/notesSlide7.xml" ContentType="application/vnd.openxmlformats-officedocument.presentationml.notesSlide+xml"/>
  <Override PartName="/ppt/tags/tag23.xml" ContentType="application/vnd.openxmlformats-officedocument.presentationml.tags+xml"/>
  <Override PartName="/ppt/notesSlides/notesSlide8.xml" ContentType="application/vnd.openxmlformats-officedocument.presentationml.notesSlide+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notesSlides/notesSlide18.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19.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20.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notesSlides/notesSlide21.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22.xml" ContentType="application/vnd.openxmlformats-officedocument.presentationml.notesSlide+xml"/>
  <Override PartName="/ppt/tags/tag7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5.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27.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47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3" r:id="rId3"/>
    <p:sldMasterId id="2147483655" r:id="rId4"/>
    <p:sldMasterId id="2147483662" r:id="rId5"/>
    <p:sldMasterId id="2147483827" r:id="rId6"/>
  </p:sldMasterIdLst>
  <p:notesMasterIdLst>
    <p:notesMasterId r:id="rId63"/>
  </p:notesMasterIdLst>
  <p:handoutMasterIdLst>
    <p:handoutMasterId r:id="rId64"/>
  </p:handoutMasterIdLst>
  <p:sldIdLst>
    <p:sldId id="272" r:id="rId7"/>
    <p:sldId id="415" r:id="rId8"/>
    <p:sldId id="316" r:id="rId9"/>
    <p:sldId id="421" r:id="rId10"/>
    <p:sldId id="463" r:id="rId11"/>
    <p:sldId id="464" r:id="rId12"/>
    <p:sldId id="465" r:id="rId13"/>
    <p:sldId id="466" r:id="rId14"/>
    <p:sldId id="467" r:id="rId15"/>
    <p:sldId id="468" r:id="rId16"/>
    <p:sldId id="469" r:id="rId17"/>
    <p:sldId id="470" r:id="rId18"/>
    <p:sldId id="473" r:id="rId19"/>
    <p:sldId id="474" r:id="rId20"/>
    <p:sldId id="475" r:id="rId21"/>
    <p:sldId id="476" r:id="rId22"/>
    <p:sldId id="477" r:id="rId23"/>
    <p:sldId id="478" r:id="rId24"/>
    <p:sldId id="480" r:id="rId25"/>
    <p:sldId id="481" r:id="rId26"/>
    <p:sldId id="479" r:id="rId27"/>
    <p:sldId id="482" r:id="rId28"/>
    <p:sldId id="483" r:id="rId29"/>
    <p:sldId id="484" r:id="rId30"/>
    <p:sldId id="485" r:id="rId31"/>
    <p:sldId id="486" r:id="rId32"/>
    <p:sldId id="487" r:id="rId33"/>
    <p:sldId id="488" r:id="rId34"/>
    <p:sldId id="489" r:id="rId35"/>
    <p:sldId id="490" r:id="rId36"/>
    <p:sldId id="513" r:id="rId37"/>
    <p:sldId id="491" r:id="rId38"/>
    <p:sldId id="492" r:id="rId39"/>
    <p:sldId id="493" r:id="rId40"/>
    <p:sldId id="494" r:id="rId41"/>
    <p:sldId id="495" r:id="rId42"/>
    <p:sldId id="496" r:id="rId43"/>
    <p:sldId id="514" r:id="rId44"/>
    <p:sldId id="515" r:id="rId45"/>
    <p:sldId id="516" r:id="rId46"/>
    <p:sldId id="497" r:id="rId47"/>
    <p:sldId id="498" r:id="rId48"/>
    <p:sldId id="499" r:id="rId49"/>
    <p:sldId id="500" r:id="rId50"/>
    <p:sldId id="501" r:id="rId51"/>
    <p:sldId id="502" r:id="rId52"/>
    <p:sldId id="503" r:id="rId53"/>
    <p:sldId id="504" r:id="rId54"/>
    <p:sldId id="505" r:id="rId55"/>
    <p:sldId id="506" r:id="rId56"/>
    <p:sldId id="507" r:id="rId57"/>
    <p:sldId id="422" r:id="rId58"/>
    <p:sldId id="510" r:id="rId59"/>
    <p:sldId id="511" r:id="rId60"/>
    <p:sldId id="512" r:id="rId61"/>
    <p:sldId id="462" r:id="rId62"/>
  </p:sldIdLst>
  <p:sldSz cx="12192000" cy="6858000"/>
  <p:notesSz cx="7104063" cy="10234613"/>
  <p:custDataLst>
    <p:tags r:id="rId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9181C"/>
    <a:srgbClr val="5B9BD5"/>
    <a:srgbClr val="D6DCE5"/>
    <a:srgbClr val="FCCDB6"/>
    <a:srgbClr val="0076CB"/>
    <a:srgbClr val="C9191C"/>
    <a:srgbClr val="EA9ADF"/>
    <a:srgbClr val="FC9988"/>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13" autoAdjust="0"/>
    <p:restoredTop sz="85406" autoAdjust="0"/>
  </p:normalViewPr>
  <p:slideViewPr>
    <p:cSldViewPr snapToGrid="0" showGuides="1">
      <p:cViewPr varScale="1">
        <p:scale>
          <a:sx n="94" d="100"/>
          <a:sy n="94" d="100"/>
        </p:scale>
        <p:origin x="1164" y="108"/>
      </p:cViewPr>
      <p:guideLst>
        <p:guide orient="horz" pos="219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diagrams/colors1.xml><?xml version="1.0" encoding="utf-8"?>
<dgm:colorsDef xmlns:dgm="http://schemas.openxmlformats.org/drawingml/2006/diagram" xmlns:a="http://schemas.openxmlformats.org/drawingml/2006/main" uniqueId="urn:microsoft.com/office/officeart/2005/8/colors/accent0_2#2">
  <dgm:title val=""/>
  <dgm:desc val=""/>
  <dgm:catLst>
    <dgm:cat type="mainScheme" pri="10200"/>
  </dgm:catLst>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69A8808-AC1C-4003-A1E2-0F8AC039D02E}" type="doc">
      <dgm:prSet loTypeId="urn:microsoft.com/office/officeart/2005/8/layout/hierarchy2#2" loCatId="hierarchy" qsTypeId="urn:microsoft.com/office/officeart/2005/8/quickstyle/simple1#5" qsCatId="simple" csTypeId="urn:microsoft.com/office/officeart/2005/8/colors/accent0_2#2" csCatId="mainScheme" phldr="1"/>
      <dgm:spPr/>
      <dgm:t>
        <a:bodyPr/>
        <a:lstStyle/>
        <a:p>
          <a:endParaRPr lang="zh-CN" altLang="en-US"/>
        </a:p>
      </dgm:t>
    </dgm:pt>
    <dgm:pt modelId="{4C8B9937-917C-4038-A273-95CF741741D0}">
      <dgm:prSet phldrT="[文本]" custT="1"/>
      <dgm:spPr/>
      <dgm:t>
        <a:bodyPr/>
        <a:lstStyle/>
        <a:p>
          <a:pPr algn="ctr"/>
          <a:r>
            <a:rPr lang="zh-CN" altLang="en-US" sz="1800" dirty="0">
              <a:solidFill>
                <a:sysClr val="windowText" lastClr="000000"/>
              </a:solidFill>
              <a:latin typeface="+mj-ea"/>
              <a:ea typeface="+mj-ea"/>
            </a:rPr>
            <a:t>基站数量</a:t>
          </a:r>
          <a:endParaRPr lang="en-US" altLang="zh-CN" sz="1800" dirty="0">
            <a:solidFill>
              <a:sysClr val="windowText" lastClr="000000"/>
            </a:solidFill>
            <a:latin typeface="+mj-ea"/>
            <a:ea typeface="+mj-ea"/>
          </a:endParaRPr>
        </a:p>
        <a:p>
          <a:pPr algn="ctr"/>
          <a:r>
            <a:rPr lang="zh-CN" altLang="en-US" sz="1800" dirty="0">
              <a:solidFill>
                <a:sysClr val="windowText" lastClr="000000"/>
              </a:solidFill>
              <a:latin typeface="+mj-ea"/>
              <a:ea typeface="+mj-ea"/>
            </a:rPr>
            <a:t>（结合基站配置）</a:t>
          </a:r>
        </a:p>
      </dgm:t>
    </dgm:pt>
    <dgm:pt modelId="{C013670A-549B-40C4-9F64-0021091CB62B}" type="parTrans" cxnId="{1786940A-4171-4889-B836-9F41CD0E0BF4}">
      <dgm:prSet/>
      <dgm:spPr/>
      <dgm:t>
        <a:bodyPr/>
        <a:lstStyle/>
        <a:p>
          <a:pPr algn="ctr"/>
          <a:endParaRPr lang="zh-CN" altLang="en-US" sz="1800">
            <a:solidFill>
              <a:sysClr val="windowText" lastClr="000000"/>
            </a:solidFill>
            <a:latin typeface="+mj-ea"/>
            <a:ea typeface="+mj-ea"/>
          </a:endParaRPr>
        </a:p>
      </dgm:t>
    </dgm:pt>
    <dgm:pt modelId="{3FFB30C4-4DC2-442D-9100-29B23B5B0AD8}" type="sibTrans" cxnId="{1786940A-4171-4889-B836-9F41CD0E0BF4}">
      <dgm:prSet/>
      <dgm:spPr/>
      <dgm:t>
        <a:bodyPr/>
        <a:lstStyle/>
        <a:p>
          <a:pPr algn="ctr"/>
          <a:endParaRPr lang="zh-CN" altLang="en-US" sz="1800">
            <a:solidFill>
              <a:sysClr val="windowText" lastClr="000000"/>
            </a:solidFill>
            <a:latin typeface="+mj-ea"/>
            <a:ea typeface="+mj-ea"/>
          </a:endParaRPr>
        </a:p>
      </dgm:t>
    </dgm:pt>
    <dgm:pt modelId="{4563C105-9C3B-4D10-93BE-07C3E6FE1C05}">
      <dgm:prSet phldrT="[文本]" custT="1">
        <dgm:style>
          <a:lnRef idx="2">
            <a:schemeClr val="accent2"/>
          </a:lnRef>
          <a:fillRef idx="1">
            <a:schemeClr val="lt1"/>
          </a:fillRef>
          <a:effectRef idx="0">
            <a:schemeClr val="accent2"/>
          </a:effectRef>
          <a:fontRef idx="minor">
            <a:schemeClr val="dk1"/>
          </a:fontRef>
        </dgm:style>
      </dgm:prSet>
      <dgm:spPr/>
      <dgm:t>
        <a:bodyPr/>
        <a:lstStyle/>
        <a:p>
          <a:pPr algn="ctr"/>
          <a:r>
            <a:rPr lang="zh-CN" altLang="en-US" sz="1800" dirty="0">
              <a:solidFill>
                <a:sysClr val="windowText" lastClr="000000"/>
              </a:solidFill>
              <a:latin typeface="+mj-ea"/>
              <a:ea typeface="+mj-ea"/>
            </a:rPr>
            <a:t>网络总吞吐量需求</a:t>
          </a:r>
        </a:p>
      </dgm:t>
    </dgm:pt>
    <dgm:pt modelId="{B92DDEE8-1E28-4BF0-8350-A578D0E265CC}" type="parTrans" cxnId="{82C34049-31F3-465D-8C6C-7E1227C213F9}">
      <dgm:prSet custT="1">
        <dgm:style>
          <a:lnRef idx="2">
            <a:schemeClr val="accent2"/>
          </a:lnRef>
          <a:fillRef idx="1">
            <a:schemeClr val="lt1"/>
          </a:fillRef>
          <a:effectRef idx="0">
            <a:schemeClr val="accent2"/>
          </a:effectRef>
          <a:fontRef idx="minor">
            <a:schemeClr val="dk1"/>
          </a:fontRef>
        </dgm:style>
      </dgm:prSet>
      <dgm:spPr/>
      <dgm:t>
        <a:bodyPr/>
        <a:lstStyle/>
        <a:p>
          <a:pPr algn="ctr"/>
          <a:endParaRPr lang="zh-CN" altLang="en-US" sz="1800">
            <a:solidFill>
              <a:sysClr val="windowText" lastClr="000000"/>
            </a:solidFill>
            <a:latin typeface="+mj-ea"/>
            <a:ea typeface="+mj-ea"/>
          </a:endParaRPr>
        </a:p>
      </dgm:t>
    </dgm:pt>
    <dgm:pt modelId="{A7EFE78B-04CE-4A7E-85AC-8D596D283618}" type="sibTrans" cxnId="{82C34049-31F3-465D-8C6C-7E1227C213F9}">
      <dgm:prSet/>
      <dgm:spPr/>
      <dgm:t>
        <a:bodyPr/>
        <a:lstStyle/>
        <a:p>
          <a:pPr algn="ctr"/>
          <a:endParaRPr lang="zh-CN" altLang="en-US" sz="1800">
            <a:solidFill>
              <a:sysClr val="windowText" lastClr="000000"/>
            </a:solidFill>
            <a:latin typeface="+mj-ea"/>
            <a:ea typeface="+mj-ea"/>
          </a:endParaRPr>
        </a:p>
      </dgm:t>
    </dgm:pt>
    <dgm:pt modelId="{768AB420-A472-4A76-B9CD-4675911F0F09}">
      <dgm:prSet phldrT="[文本]" custT="1">
        <dgm:style>
          <a:lnRef idx="2">
            <a:schemeClr val="accent2"/>
          </a:lnRef>
          <a:fillRef idx="1">
            <a:schemeClr val="lt1"/>
          </a:fillRef>
          <a:effectRef idx="0">
            <a:schemeClr val="accent2"/>
          </a:effectRef>
          <a:fontRef idx="minor">
            <a:schemeClr val="dk1"/>
          </a:fontRef>
        </dgm:style>
      </dgm:prSet>
      <dgm:spPr/>
      <dgm:t>
        <a:bodyPr/>
        <a:lstStyle/>
        <a:p>
          <a:pPr algn="ctr"/>
          <a:r>
            <a:rPr lang="zh-CN" altLang="en-US" sz="1800" dirty="0">
              <a:solidFill>
                <a:sysClr val="windowText" lastClr="000000"/>
              </a:solidFill>
              <a:latin typeface="+mj-ea"/>
              <a:ea typeface="+mj-ea"/>
            </a:rPr>
            <a:t>业务模型</a:t>
          </a:r>
        </a:p>
      </dgm:t>
    </dgm:pt>
    <dgm:pt modelId="{BB46D2E9-38E2-44C7-A2D2-F9C96BE21836}" type="parTrans" cxnId="{69C09ED1-B7FB-4C88-94C6-CA656DB1EFB1}">
      <dgm:prSet custT="1">
        <dgm:style>
          <a:lnRef idx="2">
            <a:schemeClr val="accent2"/>
          </a:lnRef>
          <a:fillRef idx="1">
            <a:schemeClr val="lt1"/>
          </a:fillRef>
          <a:effectRef idx="0">
            <a:schemeClr val="accent2"/>
          </a:effectRef>
          <a:fontRef idx="minor">
            <a:schemeClr val="dk1"/>
          </a:fontRef>
        </dgm:style>
      </dgm:prSet>
      <dgm:spPr/>
      <dgm:t>
        <a:bodyPr/>
        <a:lstStyle/>
        <a:p>
          <a:pPr algn="ctr"/>
          <a:endParaRPr lang="zh-CN" altLang="en-US" sz="1800">
            <a:solidFill>
              <a:sysClr val="windowText" lastClr="000000"/>
            </a:solidFill>
            <a:latin typeface="+mj-ea"/>
            <a:ea typeface="+mj-ea"/>
          </a:endParaRPr>
        </a:p>
      </dgm:t>
    </dgm:pt>
    <dgm:pt modelId="{5D753722-AD1E-46A1-B0BA-457058DBAEF3}" type="sibTrans" cxnId="{69C09ED1-B7FB-4C88-94C6-CA656DB1EFB1}">
      <dgm:prSet/>
      <dgm:spPr/>
      <dgm:t>
        <a:bodyPr/>
        <a:lstStyle/>
        <a:p>
          <a:pPr algn="ctr"/>
          <a:endParaRPr lang="zh-CN" altLang="en-US" sz="1800">
            <a:solidFill>
              <a:sysClr val="windowText" lastClr="000000"/>
            </a:solidFill>
            <a:latin typeface="+mj-ea"/>
            <a:ea typeface="+mj-ea"/>
          </a:endParaRPr>
        </a:p>
      </dgm:t>
    </dgm:pt>
    <dgm:pt modelId="{6CEA3D61-0A65-4CA3-B8D8-0D334B7CE0F1}">
      <dgm:prSet phldrT="[文本]" custT="1">
        <dgm:style>
          <a:lnRef idx="2">
            <a:schemeClr val="accent2"/>
          </a:lnRef>
          <a:fillRef idx="1">
            <a:schemeClr val="lt1"/>
          </a:fillRef>
          <a:effectRef idx="0">
            <a:schemeClr val="accent2"/>
          </a:effectRef>
          <a:fontRef idx="minor">
            <a:schemeClr val="dk1"/>
          </a:fontRef>
        </dgm:style>
      </dgm:prSet>
      <dgm:spPr/>
      <dgm:t>
        <a:bodyPr/>
        <a:lstStyle/>
        <a:p>
          <a:pPr algn="ctr"/>
          <a:r>
            <a:rPr lang="zh-CN" altLang="en-US" sz="1800">
              <a:solidFill>
                <a:sysClr val="windowText" lastClr="000000"/>
              </a:solidFill>
              <a:latin typeface="+mj-ea"/>
              <a:ea typeface="+mj-ea"/>
            </a:rPr>
            <a:t>话务模型</a:t>
          </a:r>
        </a:p>
      </dgm:t>
    </dgm:pt>
    <dgm:pt modelId="{1B5E62C7-8F9D-4D6E-81EE-8407B8A50B80}" type="parTrans" cxnId="{BB6D930F-2D07-4004-90F1-504E7705192F}">
      <dgm:prSet custT="1">
        <dgm:style>
          <a:lnRef idx="2">
            <a:schemeClr val="accent2"/>
          </a:lnRef>
          <a:fillRef idx="1">
            <a:schemeClr val="lt1"/>
          </a:fillRef>
          <a:effectRef idx="0">
            <a:schemeClr val="accent2"/>
          </a:effectRef>
          <a:fontRef idx="minor">
            <a:schemeClr val="dk1"/>
          </a:fontRef>
        </dgm:style>
      </dgm:prSet>
      <dgm:spPr/>
      <dgm:t>
        <a:bodyPr/>
        <a:lstStyle/>
        <a:p>
          <a:pPr algn="ctr"/>
          <a:endParaRPr lang="zh-CN" altLang="en-US" sz="1800">
            <a:solidFill>
              <a:sysClr val="windowText" lastClr="000000"/>
            </a:solidFill>
            <a:latin typeface="+mj-ea"/>
            <a:ea typeface="+mj-ea"/>
          </a:endParaRPr>
        </a:p>
      </dgm:t>
    </dgm:pt>
    <dgm:pt modelId="{52B6F160-62C4-4BDB-B82F-35B891BB4AC8}" type="sibTrans" cxnId="{BB6D930F-2D07-4004-90F1-504E7705192F}">
      <dgm:prSet/>
      <dgm:spPr/>
      <dgm:t>
        <a:bodyPr/>
        <a:lstStyle/>
        <a:p>
          <a:pPr algn="ctr"/>
          <a:endParaRPr lang="zh-CN" altLang="en-US" sz="1800">
            <a:solidFill>
              <a:sysClr val="windowText" lastClr="000000"/>
            </a:solidFill>
            <a:latin typeface="+mj-ea"/>
            <a:ea typeface="+mj-ea"/>
          </a:endParaRPr>
        </a:p>
      </dgm:t>
    </dgm:pt>
    <dgm:pt modelId="{2949BA46-1FEC-4EF5-A005-2A87790F8E6D}">
      <dgm:prSet phldrT="[文本]" custT="1"/>
      <dgm:spPr/>
      <dgm:t>
        <a:bodyPr/>
        <a:lstStyle/>
        <a:p>
          <a:pPr algn="ctr"/>
          <a:r>
            <a:rPr lang="zh-CN" altLang="en-US" sz="1800" dirty="0">
              <a:solidFill>
                <a:sysClr val="windowText" lastClr="000000"/>
              </a:solidFill>
              <a:latin typeface="+mj-ea"/>
              <a:ea typeface="+mj-ea"/>
            </a:rPr>
            <a:t>小区平均吞吐量仿真</a:t>
          </a:r>
        </a:p>
      </dgm:t>
    </dgm:pt>
    <dgm:pt modelId="{CDD2F674-7674-4973-9D5F-EEF317D4D4FB}" type="parTrans" cxnId="{072F4050-4878-43FA-9D66-53A225ED8943}">
      <dgm:prSet custT="1"/>
      <dgm:spPr/>
      <dgm:t>
        <a:bodyPr/>
        <a:lstStyle/>
        <a:p>
          <a:pPr algn="ctr"/>
          <a:endParaRPr lang="zh-CN" altLang="en-US" sz="1800">
            <a:solidFill>
              <a:sysClr val="windowText" lastClr="000000"/>
            </a:solidFill>
            <a:latin typeface="+mj-ea"/>
            <a:ea typeface="+mj-ea"/>
          </a:endParaRPr>
        </a:p>
      </dgm:t>
    </dgm:pt>
    <dgm:pt modelId="{2401D4C4-551A-487B-A895-BD0CDF278168}" type="sibTrans" cxnId="{072F4050-4878-43FA-9D66-53A225ED8943}">
      <dgm:prSet/>
      <dgm:spPr/>
      <dgm:t>
        <a:bodyPr/>
        <a:lstStyle/>
        <a:p>
          <a:pPr algn="ctr"/>
          <a:endParaRPr lang="zh-CN" altLang="en-US" sz="1800">
            <a:solidFill>
              <a:sysClr val="windowText" lastClr="000000"/>
            </a:solidFill>
            <a:latin typeface="+mj-ea"/>
            <a:ea typeface="+mj-ea"/>
          </a:endParaRPr>
        </a:p>
      </dgm:t>
    </dgm:pt>
    <dgm:pt modelId="{8E8E051E-BAD0-440C-B053-7DF465F7C734}">
      <dgm:prSet phldrT="[文本]" custT="1"/>
      <dgm:spPr/>
      <dgm:t>
        <a:bodyPr/>
        <a:lstStyle/>
        <a:p>
          <a:pPr algn="ctr"/>
          <a:r>
            <a:rPr lang="zh-CN" altLang="en-US" sz="1800">
              <a:solidFill>
                <a:sysClr val="windowText" lastClr="000000"/>
              </a:solidFill>
              <a:latin typeface="+mj-ea"/>
              <a:ea typeface="+mj-ea"/>
            </a:rPr>
            <a:t>覆盖仿真</a:t>
          </a:r>
        </a:p>
      </dgm:t>
    </dgm:pt>
    <dgm:pt modelId="{D1B833E4-24AF-4DE2-869D-82F6BDE61985}" type="parTrans" cxnId="{7A2509A9-C1A7-4A51-BE44-44C5CED86DE4}">
      <dgm:prSet custT="1"/>
      <dgm:spPr/>
      <dgm:t>
        <a:bodyPr/>
        <a:lstStyle/>
        <a:p>
          <a:pPr algn="ctr"/>
          <a:endParaRPr lang="zh-CN" altLang="en-US" sz="1800">
            <a:solidFill>
              <a:sysClr val="windowText" lastClr="000000"/>
            </a:solidFill>
            <a:latin typeface="+mj-ea"/>
            <a:ea typeface="+mj-ea"/>
          </a:endParaRPr>
        </a:p>
      </dgm:t>
    </dgm:pt>
    <dgm:pt modelId="{43907716-0A4D-4411-81A9-616C3D56107F}" type="sibTrans" cxnId="{7A2509A9-C1A7-4A51-BE44-44C5CED86DE4}">
      <dgm:prSet/>
      <dgm:spPr/>
      <dgm:t>
        <a:bodyPr/>
        <a:lstStyle/>
        <a:p>
          <a:pPr algn="ctr"/>
          <a:endParaRPr lang="zh-CN" altLang="en-US" sz="1800">
            <a:solidFill>
              <a:sysClr val="windowText" lastClr="000000"/>
            </a:solidFill>
            <a:latin typeface="+mj-ea"/>
            <a:ea typeface="+mj-ea"/>
          </a:endParaRPr>
        </a:p>
      </dgm:t>
    </dgm:pt>
    <dgm:pt modelId="{47201A43-728D-45E8-83B9-71EEBED82183}" type="pres">
      <dgm:prSet presAssocID="{D69A8808-AC1C-4003-A1E2-0F8AC039D02E}" presName="diagram" presStyleCnt="0">
        <dgm:presLayoutVars>
          <dgm:chPref val="1"/>
          <dgm:dir val="rev"/>
          <dgm:animOne val="branch"/>
          <dgm:animLvl val="lvl"/>
          <dgm:resizeHandles val="exact"/>
        </dgm:presLayoutVars>
      </dgm:prSet>
      <dgm:spPr/>
    </dgm:pt>
    <dgm:pt modelId="{129FD008-7F8B-401C-9076-26F252F3C0E1}" type="pres">
      <dgm:prSet presAssocID="{4C8B9937-917C-4038-A273-95CF741741D0}" presName="root1" presStyleCnt="0"/>
      <dgm:spPr/>
    </dgm:pt>
    <dgm:pt modelId="{40EFAD06-BAB3-49D8-8BB9-BCE830154882}" type="pres">
      <dgm:prSet presAssocID="{4C8B9937-917C-4038-A273-95CF741741D0}" presName="LevelOneTextNode" presStyleLbl="node0" presStyleIdx="0" presStyleCnt="1" custScaleX="135708">
        <dgm:presLayoutVars>
          <dgm:chPref val="3"/>
        </dgm:presLayoutVars>
      </dgm:prSet>
      <dgm:spPr/>
    </dgm:pt>
    <dgm:pt modelId="{E47EFFD3-D17E-4F30-AAF6-DE5AD7BD376C}" type="pres">
      <dgm:prSet presAssocID="{4C8B9937-917C-4038-A273-95CF741741D0}" presName="level2hierChild" presStyleCnt="0"/>
      <dgm:spPr/>
    </dgm:pt>
    <dgm:pt modelId="{231EBFC8-2AA0-4359-BB6D-3761A0FB7598}" type="pres">
      <dgm:prSet presAssocID="{B92DDEE8-1E28-4BF0-8350-A578D0E265CC}" presName="conn2-1" presStyleLbl="parChTrans1D2" presStyleIdx="0" presStyleCnt="2"/>
      <dgm:spPr/>
    </dgm:pt>
    <dgm:pt modelId="{B58F7513-5F50-405C-B5C5-8F69B614D5A4}" type="pres">
      <dgm:prSet presAssocID="{B92DDEE8-1E28-4BF0-8350-A578D0E265CC}" presName="connTx" presStyleLbl="parChTrans1D2" presStyleIdx="0" presStyleCnt="2"/>
      <dgm:spPr/>
    </dgm:pt>
    <dgm:pt modelId="{892D102A-A2D6-4BBA-AF01-9502A1DBD71E}" type="pres">
      <dgm:prSet presAssocID="{4563C105-9C3B-4D10-93BE-07C3E6FE1C05}" presName="root2" presStyleCnt="0"/>
      <dgm:spPr/>
    </dgm:pt>
    <dgm:pt modelId="{C0DF3A7A-9440-4421-87F6-A34D9304FC79}" type="pres">
      <dgm:prSet presAssocID="{4563C105-9C3B-4D10-93BE-07C3E6FE1C05}" presName="LevelTwoTextNode" presStyleLbl="node2" presStyleIdx="0" presStyleCnt="2">
        <dgm:presLayoutVars>
          <dgm:chPref val="3"/>
        </dgm:presLayoutVars>
      </dgm:prSet>
      <dgm:spPr/>
    </dgm:pt>
    <dgm:pt modelId="{3A22E13A-2F58-478D-B527-F7D6EB7B3CC0}" type="pres">
      <dgm:prSet presAssocID="{4563C105-9C3B-4D10-93BE-07C3E6FE1C05}" presName="level3hierChild" presStyleCnt="0"/>
      <dgm:spPr/>
    </dgm:pt>
    <dgm:pt modelId="{8A8D8DBF-34EB-41A9-87CA-C5E5A0C6D1A7}" type="pres">
      <dgm:prSet presAssocID="{BB46D2E9-38E2-44C7-A2D2-F9C96BE21836}" presName="conn2-1" presStyleLbl="parChTrans1D3" presStyleIdx="0" presStyleCnt="3"/>
      <dgm:spPr/>
    </dgm:pt>
    <dgm:pt modelId="{DBC75685-2ABB-4CEC-BF3A-D4DD425F1039}" type="pres">
      <dgm:prSet presAssocID="{BB46D2E9-38E2-44C7-A2D2-F9C96BE21836}" presName="connTx" presStyleLbl="parChTrans1D3" presStyleIdx="0" presStyleCnt="3"/>
      <dgm:spPr/>
    </dgm:pt>
    <dgm:pt modelId="{4D7DFB01-7715-475A-99B1-63B962F0B59C}" type="pres">
      <dgm:prSet presAssocID="{768AB420-A472-4A76-B9CD-4675911F0F09}" presName="root2" presStyleCnt="0"/>
      <dgm:spPr/>
    </dgm:pt>
    <dgm:pt modelId="{F347C56B-0FF7-44F1-951B-25093B74ABC3}" type="pres">
      <dgm:prSet presAssocID="{768AB420-A472-4A76-B9CD-4675911F0F09}" presName="LevelTwoTextNode" presStyleLbl="node3" presStyleIdx="0" presStyleCnt="3">
        <dgm:presLayoutVars>
          <dgm:chPref val="3"/>
        </dgm:presLayoutVars>
      </dgm:prSet>
      <dgm:spPr/>
    </dgm:pt>
    <dgm:pt modelId="{C9598F83-A36E-4F12-B803-1D1179DE7B90}" type="pres">
      <dgm:prSet presAssocID="{768AB420-A472-4A76-B9CD-4675911F0F09}" presName="level3hierChild" presStyleCnt="0"/>
      <dgm:spPr/>
    </dgm:pt>
    <dgm:pt modelId="{A302E2FE-3BEB-4DFA-9E2E-F631009D24F1}" type="pres">
      <dgm:prSet presAssocID="{1B5E62C7-8F9D-4D6E-81EE-8407B8A50B80}" presName="conn2-1" presStyleLbl="parChTrans1D3" presStyleIdx="1" presStyleCnt="3"/>
      <dgm:spPr/>
    </dgm:pt>
    <dgm:pt modelId="{2D344C4A-714E-4FA5-9D66-39C9F4DCFBFC}" type="pres">
      <dgm:prSet presAssocID="{1B5E62C7-8F9D-4D6E-81EE-8407B8A50B80}" presName="connTx" presStyleLbl="parChTrans1D3" presStyleIdx="1" presStyleCnt="3"/>
      <dgm:spPr/>
    </dgm:pt>
    <dgm:pt modelId="{5E08CC9F-4477-4E71-AFC7-503DED4D7ECC}" type="pres">
      <dgm:prSet presAssocID="{6CEA3D61-0A65-4CA3-B8D8-0D334B7CE0F1}" presName="root2" presStyleCnt="0"/>
      <dgm:spPr/>
    </dgm:pt>
    <dgm:pt modelId="{5AE44C53-6C74-4029-9F4F-F45CF876A017}" type="pres">
      <dgm:prSet presAssocID="{6CEA3D61-0A65-4CA3-B8D8-0D334B7CE0F1}" presName="LevelTwoTextNode" presStyleLbl="node3" presStyleIdx="1" presStyleCnt="3">
        <dgm:presLayoutVars>
          <dgm:chPref val="3"/>
        </dgm:presLayoutVars>
      </dgm:prSet>
      <dgm:spPr/>
    </dgm:pt>
    <dgm:pt modelId="{5CE14B97-ACC2-4BBA-9849-1DB9638750CE}" type="pres">
      <dgm:prSet presAssocID="{6CEA3D61-0A65-4CA3-B8D8-0D334B7CE0F1}" presName="level3hierChild" presStyleCnt="0"/>
      <dgm:spPr/>
    </dgm:pt>
    <dgm:pt modelId="{285209A9-49DF-4B98-ACF6-B166D73438D3}" type="pres">
      <dgm:prSet presAssocID="{CDD2F674-7674-4973-9D5F-EEF317D4D4FB}" presName="conn2-1" presStyleLbl="parChTrans1D2" presStyleIdx="1" presStyleCnt="2"/>
      <dgm:spPr/>
    </dgm:pt>
    <dgm:pt modelId="{1CC275E3-DDA0-4B9B-806E-3A3BB94EF281}" type="pres">
      <dgm:prSet presAssocID="{CDD2F674-7674-4973-9D5F-EEF317D4D4FB}" presName="connTx" presStyleLbl="parChTrans1D2" presStyleIdx="1" presStyleCnt="2"/>
      <dgm:spPr/>
    </dgm:pt>
    <dgm:pt modelId="{1F63D8CD-90AF-40C7-8AD0-D35EAED567A4}" type="pres">
      <dgm:prSet presAssocID="{2949BA46-1FEC-4EF5-A005-2A87790F8E6D}" presName="root2" presStyleCnt="0"/>
      <dgm:spPr/>
    </dgm:pt>
    <dgm:pt modelId="{2288C90A-653F-45F2-81F7-FF43A941F292}" type="pres">
      <dgm:prSet presAssocID="{2949BA46-1FEC-4EF5-A005-2A87790F8E6D}" presName="LevelTwoTextNode" presStyleLbl="node2" presStyleIdx="1" presStyleCnt="2">
        <dgm:presLayoutVars>
          <dgm:chPref val="3"/>
        </dgm:presLayoutVars>
      </dgm:prSet>
      <dgm:spPr/>
    </dgm:pt>
    <dgm:pt modelId="{50D4748F-FDCC-4437-B434-DFEB5FAE42F0}" type="pres">
      <dgm:prSet presAssocID="{2949BA46-1FEC-4EF5-A005-2A87790F8E6D}" presName="level3hierChild" presStyleCnt="0"/>
      <dgm:spPr/>
    </dgm:pt>
    <dgm:pt modelId="{E0A7FEBF-C83A-4FA6-8A12-C765A2E74BDF}" type="pres">
      <dgm:prSet presAssocID="{D1B833E4-24AF-4DE2-869D-82F6BDE61985}" presName="conn2-1" presStyleLbl="parChTrans1D3" presStyleIdx="2" presStyleCnt="3"/>
      <dgm:spPr/>
    </dgm:pt>
    <dgm:pt modelId="{7C53ED09-E70C-46EC-831B-5A4357385456}" type="pres">
      <dgm:prSet presAssocID="{D1B833E4-24AF-4DE2-869D-82F6BDE61985}" presName="connTx" presStyleLbl="parChTrans1D3" presStyleIdx="2" presStyleCnt="3"/>
      <dgm:spPr/>
    </dgm:pt>
    <dgm:pt modelId="{2411A899-2F54-460D-98F3-0FAB23D9C4BD}" type="pres">
      <dgm:prSet presAssocID="{8E8E051E-BAD0-440C-B053-7DF465F7C734}" presName="root2" presStyleCnt="0"/>
      <dgm:spPr/>
    </dgm:pt>
    <dgm:pt modelId="{BF814A01-A8BA-400A-9549-5F71C3371F13}" type="pres">
      <dgm:prSet presAssocID="{8E8E051E-BAD0-440C-B053-7DF465F7C734}" presName="LevelTwoTextNode" presStyleLbl="node3" presStyleIdx="2" presStyleCnt="3">
        <dgm:presLayoutVars>
          <dgm:chPref val="3"/>
        </dgm:presLayoutVars>
      </dgm:prSet>
      <dgm:spPr/>
    </dgm:pt>
    <dgm:pt modelId="{9CDF2EFD-A467-4C4F-B0DB-7DC328BBB861}" type="pres">
      <dgm:prSet presAssocID="{8E8E051E-BAD0-440C-B053-7DF465F7C734}" presName="level3hierChild" presStyleCnt="0"/>
      <dgm:spPr/>
    </dgm:pt>
  </dgm:ptLst>
  <dgm:cxnLst>
    <dgm:cxn modelId="{1786940A-4171-4889-B836-9F41CD0E0BF4}" srcId="{D69A8808-AC1C-4003-A1E2-0F8AC039D02E}" destId="{4C8B9937-917C-4038-A273-95CF741741D0}" srcOrd="0" destOrd="0" parTransId="{C013670A-549B-40C4-9F64-0021091CB62B}" sibTransId="{3FFB30C4-4DC2-442D-9100-29B23B5B0AD8}"/>
    <dgm:cxn modelId="{E3CA3E0B-9760-424B-927B-E1F86F2BB2CC}" type="presOf" srcId="{B92DDEE8-1E28-4BF0-8350-A578D0E265CC}" destId="{231EBFC8-2AA0-4359-BB6D-3761A0FB7598}" srcOrd="0" destOrd="0" presId="urn:microsoft.com/office/officeart/2005/8/layout/hierarchy2#2"/>
    <dgm:cxn modelId="{BB6D930F-2D07-4004-90F1-504E7705192F}" srcId="{4563C105-9C3B-4D10-93BE-07C3E6FE1C05}" destId="{6CEA3D61-0A65-4CA3-B8D8-0D334B7CE0F1}" srcOrd="1" destOrd="0" parTransId="{1B5E62C7-8F9D-4D6E-81EE-8407B8A50B80}" sibTransId="{52B6F160-62C4-4BDB-B82F-35B891BB4AC8}"/>
    <dgm:cxn modelId="{7789C516-6BD8-494B-8E9D-4B45AE6F9801}" type="presOf" srcId="{CDD2F674-7674-4973-9D5F-EEF317D4D4FB}" destId="{1CC275E3-DDA0-4B9B-806E-3A3BB94EF281}" srcOrd="1" destOrd="0" presId="urn:microsoft.com/office/officeart/2005/8/layout/hierarchy2#2"/>
    <dgm:cxn modelId="{A9310018-C02A-4F56-9B95-34494CF4CB1E}" type="presOf" srcId="{8E8E051E-BAD0-440C-B053-7DF465F7C734}" destId="{BF814A01-A8BA-400A-9549-5F71C3371F13}" srcOrd="0" destOrd="0" presId="urn:microsoft.com/office/officeart/2005/8/layout/hierarchy2#2"/>
    <dgm:cxn modelId="{278CBB31-3A33-440F-9A22-9C3C8EC9F461}" type="presOf" srcId="{1B5E62C7-8F9D-4D6E-81EE-8407B8A50B80}" destId="{A302E2FE-3BEB-4DFA-9E2E-F631009D24F1}" srcOrd="0" destOrd="0" presId="urn:microsoft.com/office/officeart/2005/8/layout/hierarchy2#2"/>
    <dgm:cxn modelId="{82C34049-31F3-465D-8C6C-7E1227C213F9}" srcId="{4C8B9937-917C-4038-A273-95CF741741D0}" destId="{4563C105-9C3B-4D10-93BE-07C3E6FE1C05}" srcOrd="0" destOrd="0" parTransId="{B92DDEE8-1E28-4BF0-8350-A578D0E265CC}" sibTransId="{A7EFE78B-04CE-4A7E-85AC-8D596D283618}"/>
    <dgm:cxn modelId="{19B35D6C-7A00-4354-B3FA-3306FB42E407}" type="presOf" srcId="{6CEA3D61-0A65-4CA3-B8D8-0D334B7CE0F1}" destId="{5AE44C53-6C74-4029-9F4F-F45CF876A017}" srcOrd="0" destOrd="0" presId="urn:microsoft.com/office/officeart/2005/8/layout/hierarchy2#2"/>
    <dgm:cxn modelId="{52574B6D-3497-4647-95EE-D6288DE32B4E}" type="presOf" srcId="{768AB420-A472-4A76-B9CD-4675911F0F09}" destId="{F347C56B-0FF7-44F1-951B-25093B74ABC3}" srcOrd="0" destOrd="0" presId="urn:microsoft.com/office/officeart/2005/8/layout/hierarchy2#2"/>
    <dgm:cxn modelId="{FF6D286E-A5F9-42A7-9864-40523B41447D}" type="presOf" srcId="{B92DDEE8-1E28-4BF0-8350-A578D0E265CC}" destId="{B58F7513-5F50-405C-B5C5-8F69B614D5A4}" srcOrd="1" destOrd="0" presId="urn:microsoft.com/office/officeart/2005/8/layout/hierarchy2#2"/>
    <dgm:cxn modelId="{072F4050-4878-43FA-9D66-53A225ED8943}" srcId="{4C8B9937-917C-4038-A273-95CF741741D0}" destId="{2949BA46-1FEC-4EF5-A005-2A87790F8E6D}" srcOrd="1" destOrd="0" parTransId="{CDD2F674-7674-4973-9D5F-EEF317D4D4FB}" sibTransId="{2401D4C4-551A-487B-A895-BD0CDF278168}"/>
    <dgm:cxn modelId="{74F5DE72-9BD8-406F-AAF8-D0B137E0E06C}" type="presOf" srcId="{BB46D2E9-38E2-44C7-A2D2-F9C96BE21836}" destId="{8A8D8DBF-34EB-41A9-87CA-C5E5A0C6D1A7}" srcOrd="0" destOrd="0" presId="urn:microsoft.com/office/officeart/2005/8/layout/hierarchy2#2"/>
    <dgm:cxn modelId="{69B4DA79-CDC7-43A1-96B6-18452842E860}" type="presOf" srcId="{4563C105-9C3B-4D10-93BE-07C3E6FE1C05}" destId="{C0DF3A7A-9440-4421-87F6-A34D9304FC79}" srcOrd="0" destOrd="0" presId="urn:microsoft.com/office/officeart/2005/8/layout/hierarchy2#2"/>
    <dgm:cxn modelId="{C17DFC8E-BDB0-4347-A597-9811AA85813E}" type="presOf" srcId="{D69A8808-AC1C-4003-A1E2-0F8AC039D02E}" destId="{47201A43-728D-45E8-83B9-71EEBED82183}" srcOrd="0" destOrd="0" presId="urn:microsoft.com/office/officeart/2005/8/layout/hierarchy2#2"/>
    <dgm:cxn modelId="{165D719F-2DE4-47DC-86C1-0BB93B1D4644}" type="presOf" srcId="{CDD2F674-7674-4973-9D5F-EEF317D4D4FB}" destId="{285209A9-49DF-4B98-ACF6-B166D73438D3}" srcOrd="0" destOrd="0" presId="urn:microsoft.com/office/officeart/2005/8/layout/hierarchy2#2"/>
    <dgm:cxn modelId="{B7216FA2-44F3-432D-9E8E-EBE49098302B}" type="presOf" srcId="{1B5E62C7-8F9D-4D6E-81EE-8407B8A50B80}" destId="{2D344C4A-714E-4FA5-9D66-39C9F4DCFBFC}" srcOrd="1" destOrd="0" presId="urn:microsoft.com/office/officeart/2005/8/layout/hierarchy2#2"/>
    <dgm:cxn modelId="{8B7697A2-B4E2-4D32-9EAB-0F7BA47AA441}" type="presOf" srcId="{4C8B9937-917C-4038-A273-95CF741741D0}" destId="{40EFAD06-BAB3-49D8-8BB9-BCE830154882}" srcOrd="0" destOrd="0" presId="urn:microsoft.com/office/officeart/2005/8/layout/hierarchy2#2"/>
    <dgm:cxn modelId="{7A2509A9-C1A7-4A51-BE44-44C5CED86DE4}" srcId="{2949BA46-1FEC-4EF5-A005-2A87790F8E6D}" destId="{8E8E051E-BAD0-440C-B053-7DF465F7C734}" srcOrd="0" destOrd="0" parTransId="{D1B833E4-24AF-4DE2-869D-82F6BDE61985}" sibTransId="{43907716-0A4D-4411-81A9-616C3D56107F}"/>
    <dgm:cxn modelId="{B8C264B9-86B6-4EB7-A45B-3799260BC7EA}" type="presOf" srcId="{D1B833E4-24AF-4DE2-869D-82F6BDE61985}" destId="{E0A7FEBF-C83A-4FA6-8A12-C765A2E74BDF}" srcOrd="0" destOrd="0" presId="urn:microsoft.com/office/officeart/2005/8/layout/hierarchy2#2"/>
    <dgm:cxn modelId="{40A19DC6-F3CA-44D9-BAF0-B86B7D2970F8}" type="presOf" srcId="{2949BA46-1FEC-4EF5-A005-2A87790F8E6D}" destId="{2288C90A-653F-45F2-81F7-FF43A941F292}" srcOrd="0" destOrd="0" presId="urn:microsoft.com/office/officeart/2005/8/layout/hierarchy2#2"/>
    <dgm:cxn modelId="{69C09ED1-B7FB-4C88-94C6-CA656DB1EFB1}" srcId="{4563C105-9C3B-4D10-93BE-07C3E6FE1C05}" destId="{768AB420-A472-4A76-B9CD-4675911F0F09}" srcOrd="0" destOrd="0" parTransId="{BB46D2E9-38E2-44C7-A2D2-F9C96BE21836}" sibTransId="{5D753722-AD1E-46A1-B0BA-457058DBAEF3}"/>
    <dgm:cxn modelId="{F38206E5-08D8-4AF6-A715-E2FC40954E31}" type="presOf" srcId="{BB46D2E9-38E2-44C7-A2D2-F9C96BE21836}" destId="{DBC75685-2ABB-4CEC-BF3A-D4DD425F1039}" srcOrd="1" destOrd="0" presId="urn:microsoft.com/office/officeart/2005/8/layout/hierarchy2#2"/>
    <dgm:cxn modelId="{7F2D52E9-4442-42EE-B38E-DB68C3AE9A3D}" type="presOf" srcId="{D1B833E4-24AF-4DE2-869D-82F6BDE61985}" destId="{7C53ED09-E70C-46EC-831B-5A4357385456}" srcOrd="1" destOrd="0" presId="urn:microsoft.com/office/officeart/2005/8/layout/hierarchy2#2"/>
    <dgm:cxn modelId="{D8DF5F6F-BC4E-4CF2-A782-ED7D4D7CB6C2}" type="presParOf" srcId="{47201A43-728D-45E8-83B9-71EEBED82183}" destId="{129FD008-7F8B-401C-9076-26F252F3C0E1}" srcOrd="0" destOrd="0" presId="urn:microsoft.com/office/officeart/2005/8/layout/hierarchy2#2"/>
    <dgm:cxn modelId="{0E835C72-EC9D-402C-AE6C-C84293F5F935}" type="presParOf" srcId="{129FD008-7F8B-401C-9076-26F252F3C0E1}" destId="{40EFAD06-BAB3-49D8-8BB9-BCE830154882}" srcOrd="0" destOrd="0" presId="urn:microsoft.com/office/officeart/2005/8/layout/hierarchy2#2"/>
    <dgm:cxn modelId="{233E1249-781E-409C-9480-0AFEB6BABC9E}" type="presParOf" srcId="{129FD008-7F8B-401C-9076-26F252F3C0E1}" destId="{E47EFFD3-D17E-4F30-AAF6-DE5AD7BD376C}" srcOrd="1" destOrd="0" presId="urn:microsoft.com/office/officeart/2005/8/layout/hierarchy2#2"/>
    <dgm:cxn modelId="{79A64DE5-287C-4EEB-ACEC-73EAE159A70D}" type="presParOf" srcId="{E47EFFD3-D17E-4F30-AAF6-DE5AD7BD376C}" destId="{231EBFC8-2AA0-4359-BB6D-3761A0FB7598}" srcOrd="0" destOrd="0" presId="urn:microsoft.com/office/officeart/2005/8/layout/hierarchy2#2"/>
    <dgm:cxn modelId="{CDB07D05-1EC9-49D2-B0EE-65941BE38D91}" type="presParOf" srcId="{231EBFC8-2AA0-4359-BB6D-3761A0FB7598}" destId="{B58F7513-5F50-405C-B5C5-8F69B614D5A4}" srcOrd="0" destOrd="0" presId="urn:microsoft.com/office/officeart/2005/8/layout/hierarchy2#2"/>
    <dgm:cxn modelId="{14877713-F2F7-4212-954D-20125BD9488D}" type="presParOf" srcId="{E47EFFD3-D17E-4F30-AAF6-DE5AD7BD376C}" destId="{892D102A-A2D6-4BBA-AF01-9502A1DBD71E}" srcOrd="1" destOrd="0" presId="urn:microsoft.com/office/officeart/2005/8/layout/hierarchy2#2"/>
    <dgm:cxn modelId="{4326A031-8EEF-426D-BE73-BB88C3AE3850}" type="presParOf" srcId="{892D102A-A2D6-4BBA-AF01-9502A1DBD71E}" destId="{C0DF3A7A-9440-4421-87F6-A34D9304FC79}" srcOrd="0" destOrd="0" presId="urn:microsoft.com/office/officeart/2005/8/layout/hierarchy2#2"/>
    <dgm:cxn modelId="{D62CFEC7-812D-4DCA-A625-52BE242FD210}" type="presParOf" srcId="{892D102A-A2D6-4BBA-AF01-9502A1DBD71E}" destId="{3A22E13A-2F58-478D-B527-F7D6EB7B3CC0}" srcOrd="1" destOrd="0" presId="urn:microsoft.com/office/officeart/2005/8/layout/hierarchy2#2"/>
    <dgm:cxn modelId="{8BA8EAD1-A6D0-4962-BC28-A6F3878F6E9A}" type="presParOf" srcId="{3A22E13A-2F58-478D-B527-F7D6EB7B3CC0}" destId="{8A8D8DBF-34EB-41A9-87CA-C5E5A0C6D1A7}" srcOrd="0" destOrd="0" presId="urn:microsoft.com/office/officeart/2005/8/layout/hierarchy2#2"/>
    <dgm:cxn modelId="{E37DDFF7-E4D9-4989-A1FC-B72F9B262269}" type="presParOf" srcId="{8A8D8DBF-34EB-41A9-87CA-C5E5A0C6D1A7}" destId="{DBC75685-2ABB-4CEC-BF3A-D4DD425F1039}" srcOrd="0" destOrd="0" presId="urn:microsoft.com/office/officeart/2005/8/layout/hierarchy2#2"/>
    <dgm:cxn modelId="{AC89DFD1-3CFA-4119-97E2-FD8DA032CA4C}" type="presParOf" srcId="{3A22E13A-2F58-478D-B527-F7D6EB7B3CC0}" destId="{4D7DFB01-7715-475A-99B1-63B962F0B59C}" srcOrd="1" destOrd="0" presId="urn:microsoft.com/office/officeart/2005/8/layout/hierarchy2#2"/>
    <dgm:cxn modelId="{6310CD0D-73D2-4998-A711-812AC466E992}" type="presParOf" srcId="{4D7DFB01-7715-475A-99B1-63B962F0B59C}" destId="{F347C56B-0FF7-44F1-951B-25093B74ABC3}" srcOrd="0" destOrd="0" presId="urn:microsoft.com/office/officeart/2005/8/layout/hierarchy2#2"/>
    <dgm:cxn modelId="{3C1A5D6B-91EC-4303-8D77-0B1F8383EBE6}" type="presParOf" srcId="{4D7DFB01-7715-475A-99B1-63B962F0B59C}" destId="{C9598F83-A36E-4F12-B803-1D1179DE7B90}" srcOrd="1" destOrd="0" presId="urn:microsoft.com/office/officeart/2005/8/layout/hierarchy2#2"/>
    <dgm:cxn modelId="{A5D36C14-8E3D-43E4-865C-C018FAFEFB90}" type="presParOf" srcId="{3A22E13A-2F58-478D-B527-F7D6EB7B3CC0}" destId="{A302E2FE-3BEB-4DFA-9E2E-F631009D24F1}" srcOrd="2" destOrd="0" presId="urn:microsoft.com/office/officeart/2005/8/layout/hierarchy2#2"/>
    <dgm:cxn modelId="{C4033735-B138-41BD-98C5-4A48765AE674}" type="presParOf" srcId="{A302E2FE-3BEB-4DFA-9E2E-F631009D24F1}" destId="{2D344C4A-714E-4FA5-9D66-39C9F4DCFBFC}" srcOrd="0" destOrd="0" presId="urn:microsoft.com/office/officeart/2005/8/layout/hierarchy2#2"/>
    <dgm:cxn modelId="{AAEE1E69-2B6D-4862-9687-4450B6AACCC9}" type="presParOf" srcId="{3A22E13A-2F58-478D-B527-F7D6EB7B3CC0}" destId="{5E08CC9F-4477-4E71-AFC7-503DED4D7ECC}" srcOrd="3" destOrd="0" presId="urn:microsoft.com/office/officeart/2005/8/layout/hierarchy2#2"/>
    <dgm:cxn modelId="{0680EFD2-F50F-4CFC-801A-77C4ADBED655}" type="presParOf" srcId="{5E08CC9F-4477-4E71-AFC7-503DED4D7ECC}" destId="{5AE44C53-6C74-4029-9F4F-F45CF876A017}" srcOrd="0" destOrd="0" presId="urn:microsoft.com/office/officeart/2005/8/layout/hierarchy2#2"/>
    <dgm:cxn modelId="{8CA4D60B-2F72-48E8-B5F6-779CCE8DBA15}" type="presParOf" srcId="{5E08CC9F-4477-4E71-AFC7-503DED4D7ECC}" destId="{5CE14B97-ACC2-4BBA-9849-1DB9638750CE}" srcOrd="1" destOrd="0" presId="urn:microsoft.com/office/officeart/2005/8/layout/hierarchy2#2"/>
    <dgm:cxn modelId="{FD72811A-8958-4DD2-A89A-9202C6D81FFC}" type="presParOf" srcId="{E47EFFD3-D17E-4F30-AAF6-DE5AD7BD376C}" destId="{285209A9-49DF-4B98-ACF6-B166D73438D3}" srcOrd="2" destOrd="0" presId="urn:microsoft.com/office/officeart/2005/8/layout/hierarchy2#2"/>
    <dgm:cxn modelId="{961DBC91-AA99-4640-8F2D-520F1FF3E389}" type="presParOf" srcId="{285209A9-49DF-4B98-ACF6-B166D73438D3}" destId="{1CC275E3-DDA0-4B9B-806E-3A3BB94EF281}" srcOrd="0" destOrd="0" presId="urn:microsoft.com/office/officeart/2005/8/layout/hierarchy2#2"/>
    <dgm:cxn modelId="{DAB14B48-5425-4155-BC7A-12C984923CD2}" type="presParOf" srcId="{E47EFFD3-D17E-4F30-AAF6-DE5AD7BD376C}" destId="{1F63D8CD-90AF-40C7-8AD0-D35EAED567A4}" srcOrd="3" destOrd="0" presId="urn:microsoft.com/office/officeart/2005/8/layout/hierarchy2#2"/>
    <dgm:cxn modelId="{E98EC234-F939-4295-8159-A5B9535C1111}" type="presParOf" srcId="{1F63D8CD-90AF-40C7-8AD0-D35EAED567A4}" destId="{2288C90A-653F-45F2-81F7-FF43A941F292}" srcOrd="0" destOrd="0" presId="urn:microsoft.com/office/officeart/2005/8/layout/hierarchy2#2"/>
    <dgm:cxn modelId="{E13747B9-9D7A-4FAE-B4A5-5DEA5FE801BE}" type="presParOf" srcId="{1F63D8CD-90AF-40C7-8AD0-D35EAED567A4}" destId="{50D4748F-FDCC-4437-B434-DFEB5FAE42F0}" srcOrd="1" destOrd="0" presId="urn:microsoft.com/office/officeart/2005/8/layout/hierarchy2#2"/>
    <dgm:cxn modelId="{38F10920-63C6-4EC1-8C1B-6F9A5E444095}" type="presParOf" srcId="{50D4748F-FDCC-4437-B434-DFEB5FAE42F0}" destId="{E0A7FEBF-C83A-4FA6-8A12-C765A2E74BDF}" srcOrd="0" destOrd="0" presId="urn:microsoft.com/office/officeart/2005/8/layout/hierarchy2#2"/>
    <dgm:cxn modelId="{367D9533-301D-4206-BED9-B9AE488DA4E0}" type="presParOf" srcId="{E0A7FEBF-C83A-4FA6-8A12-C765A2E74BDF}" destId="{7C53ED09-E70C-46EC-831B-5A4357385456}" srcOrd="0" destOrd="0" presId="urn:microsoft.com/office/officeart/2005/8/layout/hierarchy2#2"/>
    <dgm:cxn modelId="{0775D5A1-E9C8-4177-9B8E-6DA546DB11DB}" type="presParOf" srcId="{50D4748F-FDCC-4437-B434-DFEB5FAE42F0}" destId="{2411A899-2F54-460D-98F3-0FAB23D9C4BD}" srcOrd="1" destOrd="0" presId="urn:microsoft.com/office/officeart/2005/8/layout/hierarchy2#2"/>
    <dgm:cxn modelId="{2D50282E-8551-4294-B432-7DBACB2E09DF}" type="presParOf" srcId="{2411A899-2F54-460D-98F3-0FAB23D9C4BD}" destId="{BF814A01-A8BA-400A-9549-5F71C3371F13}" srcOrd="0" destOrd="0" presId="urn:microsoft.com/office/officeart/2005/8/layout/hierarchy2#2"/>
    <dgm:cxn modelId="{4651C6C4-8EF4-429B-968C-BD7CF96FB501}" type="presParOf" srcId="{2411A899-2F54-460D-98F3-0FAB23D9C4BD}" destId="{9CDF2EFD-A467-4C4F-B0DB-7DC328BBB861}" srcOrd="1" destOrd="0" presId="urn:microsoft.com/office/officeart/2005/8/layout/hierarchy2#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3FE0B1-801B-4739-9812-7EC10FFB536E}" type="doc">
      <dgm:prSet loTypeId="urn:microsoft.com/office/officeart/2005/8/layout/process2" loCatId="process" qsTypeId="urn:microsoft.com/office/officeart/2005/8/quickstyle/simple1#6" qsCatId="simple" csTypeId="urn:microsoft.com/office/officeart/2005/8/colors/accent1_2#4" csCatId="accent1" phldr="1"/>
      <dgm:spPr/>
      <dgm:t>
        <a:bodyPr/>
        <a:lstStyle/>
        <a:p>
          <a:endParaRPr lang="zh-CN" altLang="en-US"/>
        </a:p>
      </dgm:t>
    </dgm:pt>
    <dgm:pt modelId="{E22B7CFA-01FD-4E3A-936D-7A1C32FC9D71}">
      <dgm:prSet phldrT="[文本]" custT="1"/>
      <dgm:spPr>
        <a:xfrm>
          <a:off x="469898" y="1375"/>
          <a:ext cx="1384303" cy="255808"/>
        </a:xfr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gn="ctr"/>
          <a:r>
            <a:rPr lang="zh-CN" altLang="en-US" sz="2000" dirty="0">
              <a:solidFill>
                <a:sysClr val="window" lastClr="FFFFFF"/>
              </a:solidFill>
              <a:latin typeface="Calibri" panose="020F0502020204030204"/>
              <a:ea typeface="宋体" panose="02010600030101010101" pitchFamily="2" charset="-122"/>
              <a:cs typeface="+mn-cs"/>
            </a:rPr>
            <a:t>小区半径</a:t>
          </a:r>
        </a:p>
      </dgm:t>
    </dgm:pt>
    <dgm:pt modelId="{02F7B61B-E1DC-4965-9011-44B0918A78F8}" type="parTrans" cxnId="{3D0716A4-E80A-45D6-BB1E-1D13B4B9F124}">
      <dgm:prSet/>
      <dgm:spPr/>
      <dgm:t>
        <a:bodyPr/>
        <a:lstStyle/>
        <a:p>
          <a:pPr algn="ctr"/>
          <a:endParaRPr lang="zh-CN" altLang="en-US" sz="2000"/>
        </a:p>
      </dgm:t>
    </dgm:pt>
    <dgm:pt modelId="{5E548D7E-8B18-4DA8-AC55-25455268AA4E}" type="sibTrans" cxnId="{3D0716A4-E80A-45D6-BB1E-1D13B4B9F124}">
      <dgm:prSet custT="1"/>
      <dgm:spPr>
        <a:xfrm rot="5400000">
          <a:off x="1114085" y="263579"/>
          <a:ext cx="95928" cy="115113"/>
        </a:xfrm>
        <a:solidFill>
          <a:srgbClr val="5B9BD5">
            <a:tint val="60000"/>
            <a:hueOff val="0"/>
            <a:satOff val="0"/>
            <a:lumOff val="0"/>
            <a:alphaOff val="0"/>
          </a:srgbClr>
        </a:solidFill>
        <a:ln>
          <a:noFill/>
        </a:ln>
        <a:effectLst/>
      </dgm:spPr>
      <dgm:t>
        <a:bodyPr/>
        <a:lstStyle/>
        <a:p>
          <a:pPr algn="ctr"/>
          <a:endParaRPr lang="zh-CN" altLang="en-US" sz="1800">
            <a:solidFill>
              <a:sysClr val="window" lastClr="FFFFFF"/>
            </a:solidFill>
            <a:latin typeface="Calibri" panose="020F0502020204030204"/>
            <a:ea typeface="宋体" panose="02010600030101010101" pitchFamily="2" charset="-122"/>
            <a:cs typeface="+mn-cs"/>
          </a:endParaRPr>
        </a:p>
      </dgm:t>
    </dgm:pt>
    <dgm:pt modelId="{37BF70A2-B39B-4809-920A-58D8FD992583}">
      <dgm:prSet phldrT="[文本]" custT="1"/>
      <dgm:spPr>
        <a:xfrm>
          <a:off x="488950" y="385089"/>
          <a:ext cx="1346198" cy="255808"/>
        </a:xfr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gn="ctr"/>
          <a:r>
            <a:rPr lang="en-US" altLang="zh-CN" sz="2000">
              <a:solidFill>
                <a:sysClr val="window" lastClr="FFFFFF"/>
              </a:solidFill>
              <a:latin typeface="Calibri" panose="020F0502020204030204"/>
              <a:ea typeface="宋体" panose="02010600030101010101" pitchFamily="2" charset="-122"/>
              <a:cs typeface="+mn-cs"/>
            </a:rPr>
            <a:t>SINR</a:t>
          </a:r>
          <a:r>
            <a:rPr lang="zh-CN" altLang="en-US" sz="2000">
              <a:solidFill>
                <a:sysClr val="window" lastClr="FFFFFF"/>
              </a:solidFill>
              <a:latin typeface="Calibri" panose="020F0502020204030204"/>
              <a:ea typeface="宋体" panose="02010600030101010101" pitchFamily="2" charset="-122"/>
              <a:cs typeface="+mn-cs"/>
            </a:rPr>
            <a:t>概率分布</a:t>
          </a:r>
        </a:p>
      </dgm:t>
    </dgm:pt>
    <dgm:pt modelId="{5987AE21-A221-44F7-99A2-4AD903DCA52E}" type="parTrans" cxnId="{05DEF090-893D-4E45-9784-6E2CA10DAE0F}">
      <dgm:prSet/>
      <dgm:spPr/>
      <dgm:t>
        <a:bodyPr/>
        <a:lstStyle/>
        <a:p>
          <a:pPr algn="ctr"/>
          <a:endParaRPr lang="zh-CN" altLang="en-US" sz="2000"/>
        </a:p>
      </dgm:t>
    </dgm:pt>
    <dgm:pt modelId="{06440801-8205-4AED-AC34-59E6036DD554}" type="sibTrans" cxnId="{05DEF090-893D-4E45-9784-6E2CA10DAE0F}">
      <dgm:prSet custT="1"/>
      <dgm:spPr>
        <a:xfrm rot="5400000">
          <a:off x="1114085" y="647293"/>
          <a:ext cx="95928" cy="115113"/>
        </a:xfrm>
        <a:solidFill>
          <a:srgbClr val="5B9BD5">
            <a:tint val="60000"/>
            <a:hueOff val="0"/>
            <a:satOff val="0"/>
            <a:lumOff val="0"/>
            <a:alphaOff val="0"/>
          </a:srgbClr>
        </a:solidFill>
        <a:ln>
          <a:noFill/>
        </a:ln>
        <a:effectLst/>
      </dgm:spPr>
      <dgm:t>
        <a:bodyPr/>
        <a:lstStyle/>
        <a:p>
          <a:pPr algn="ctr"/>
          <a:endParaRPr lang="zh-CN" altLang="en-US" sz="1800">
            <a:solidFill>
              <a:sysClr val="window" lastClr="FFFFFF"/>
            </a:solidFill>
            <a:latin typeface="Calibri" panose="020F0502020204030204"/>
            <a:ea typeface="宋体" panose="02010600030101010101" pitchFamily="2" charset="-122"/>
            <a:cs typeface="+mn-cs"/>
          </a:endParaRPr>
        </a:p>
      </dgm:t>
    </dgm:pt>
    <dgm:pt modelId="{1F4D81A5-B1EE-490C-B47A-235F8C6D91EA}">
      <dgm:prSet phldrT="[文本]" custT="1"/>
      <dgm:spPr>
        <a:xfrm>
          <a:off x="469898" y="768802"/>
          <a:ext cx="1384303" cy="255808"/>
        </a:xfr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gn="ctr"/>
          <a:r>
            <a:rPr lang="en-US" altLang="zh-CN" sz="2000">
              <a:solidFill>
                <a:sysClr val="window" lastClr="FFFFFF"/>
              </a:solidFill>
              <a:latin typeface="宋体" panose="02010600030101010101" pitchFamily="2" charset="-122"/>
              <a:ea typeface="宋体" panose="02010600030101010101" pitchFamily="2" charset="-122"/>
              <a:cs typeface="+mn-cs"/>
            </a:rPr>
            <a:t>MCS</a:t>
          </a:r>
          <a:r>
            <a:rPr lang="zh-CN" altLang="en-US" sz="2000">
              <a:solidFill>
                <a:sysClr val="window" lastClr="FFFFFF"/>
              </a:solidFill>
              <a:latin typeface="宋体" panose="02010600030101010101" pitchFamily="2" charset="-122"/>
              <a:ea typeface="宋体" panose="02010600030101010101" pitchFamily="2" charset="-122"/>
              <a:cs typeface="+mn-cs"/>
            </a:rPr>
            <a:t>分布</a:t>
          </a:r>
        </a:p>
      </dgm:t>
    </dgm:pt>
    <dgm:pt modelId="{55DF4334-81EF-46E2-810D-92B3FCEF2377}" type="parTrans" cxnId="{F1B277D0-DA98-4A91-B6FF-95AB5F191430}">
      <dgm:prSet/>
      <dgm:spPr/>
      <dgm:t>
        <a:bodyPr/>
        <a:lstStyle/>
        <a:p>
          <a:pPr algn="ctr"/>
          <a:endParaRPr lang="zh-CN" altLang="en-US" sz="2000"/>
        </a:p>
      </dgm:t>
    </dgm:pt>
    <dgm:pt modelId="{0CFD5FB6-7AF1-4B60-B457-7F03698D57D8}" type="sibTrans" cxnId="{F1B277D0-DA98-4A91-B6FF-95AB5F191430}">
      <dgm:prSet custT="1"/>
      <dgm:spPr>
        <a:xfrm rot="5400000">
          <a:off x="1114085" y="1031006"/>
          <a:ext cx="95928" cy="115113"/>
        </a:xfrm>
        <a:solidFill>
          <a:srgbClr val="5B9BD5">
            <a:tint val="60000"/>
            <a:hueOff val="0"/>
            <a:satOff val="0"/>
            <a:lumOff val="0"/>
            <a:alphaOff val="0"/>
          </a:srgbClr>
        </a:solidFill>
        <a:ln>
          <a:noFill/>
        </a:ln>
        <a:effectLst/>
      </dgm:spPr>
      <dgm:t>
        <a:bodyPr/>
        <a:lstStyle/>
        <a:p>
          <a:pPr algn="ctr"/>
          <a:endParaRPr lang="zh-CN" altLang="en-US" sz="1800">
            <a:solidFill>
              <a:sysClr val="window" lastClr="FFFFFF"/>
            </a:solidFill>
            <a:latin typeface="Calibri" panose="020F0502020204030204"/>
            <a:ea typeface="宋体" panose="02010600030101010101" pitchFamily="2" charset="-122"/>
            <a:cs typeface="+mn-cs"/>
          </a:endParaRPr>
        </a:p>
      </dgm:t>
    </dgm:pt>
    <dgm:pt modelId="{E4C3C575-C95C-4F9F-A1C2-9491E881414B}">
      <dgm:prSet phldrT="[文本]" custT="1"/>
      <dgm:spPr>
        <a:xfrm>
          <a:off x="463548" y="1152515"/>
          <a:ext cx="1397002" cy="255808"/>
        </a:xfr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gn="ctr"/>
          <a:r>
            <a:rPr lang="zh-CN" altLang="en-US" sz="2000">
              <a:solidFill>
                <a:sysClr val="window" lastClr="FFFFFF"/>
              </a:solidFill>
              <a:latin typeface="Calibri" panose="020F0502020204030204"/>
              <a:ea typeface="宋体" panose="02010600030101010101" pitchFamily="2" charset="-122"/>
              <a:cs typeface="+mn-cs"/>
            </a:rPr>
            <a:t>小区平均吞吐量</a:t>
          </a:r>
        </a:p>
      </dgm:t>
    </dgm:pt>
    <dgm:pt modelId="{DF9ABD00-C2FD-488E-8227-E7A746BBA07E}" type="parTrans" cxnId="{E64E9ABB-E30E-4FA0-BF4E-AD6F3B442485}">
      <dgm:prSet/>
      <dgm:spPr/>
      <dgm:t>
        <a:bodyPr/>
        <a:lstStyle/>
        <a:p>
          <a:pPr algn="ctr"/>
          <a:endParaRPr lang="zh-CN" altLang="en-US" sz="2000"/>
        </a:p>
      </dgm:t>
    </dgm:pt>
    <dgm:pt modelId="{F2B4F354-5B0F-4A27-8759-84F4792E9325}" type="sibTrans" cxnId="{E64E9ABB-E30E-4FA0-BF4E-AD6F3B442485}">
      <dgm:prSet/>
      <dgm:spPr/>
      <dgm:t>
        <a:bodyPr/>
        <a:lstStyle/>
        <a:p>
          <a:pPr algn="ctr"/>
          <a:endParaRPr lang="zh-CN" altLang="en-US" sz="2000"/>
        </a:p>
      </dgm:t>
    </dgm:pt>
    <dgm:pt modelId="{4866DB8F-1AAB-4406-87B6-8BFF4C18084D}" type="pres">
      <dgm:prSet presAssocID="{513FE0B1-801B-4739-9812-7EC10FFB536E}" presName="linearFlow" presStyleCnt="0">
        <dgm:presLayoutVars>
          <dgm:resizeHandles val="exact"/>
        </dgm:presLayoutVars>
      </dgm:prSet>
      <dgm:spPr/>
    </dgm:pt>
    <dgm:pt modelId="{BCA53729-A85C-41CA-B450-8268BB254124}" type="pres">
      <dgm:prSet presAssocID="{E22B7CFA-01FD-4E3A-936D-7A1C32FC9D71}" presName="node" presStyleLbl="node1" presStyleIdx="0" presStyleCnt="4" custScaleX="135287">
        <dgm:presLayoutVars>
          <dgm:bulletEnabled val="1"/>
        </dgm:presLayoutVars>
      </dgm:prSet>
      <dgm:spPr>
        <a:prstGeom prst="roundRect">
          <a:avLst>
            <a:gd name="adj" fmla="val 10000"/>
          </a:avLst>
        </a:prstGeom>
      </dgm:spPr>
    </dgm:pt>
    <dgm:pt modelId="{80F5E1DA-B4AC-48FB-80B0-41F501675B14}" type="pres">
      <dgm:prSet presAssocID="{5E548D7E-8B18-4DA8-AC55-25455268AA4E}" presName="sibTrans" presStyleLbl="sibTrans2D1" presStyleIdx="0" presStyleCnt="3"/>
      <dgm:spPr>
        <a:prstGeom prst="rightArrow">
          <a:avLst>
            <a:gd name="adj1" fmla="val 60000"/>
            <a:gd name="adj2" fmla="val 50000"/>
          </a:avLst>
        </a:prstGeom>
      </dgm:spPr>
    </dgm:pt>
    <dgm:pt modelId="{B9B8DF80-51B9-49AC-A245-C14A18513190}" type="pres">
      <dgm:prSet presAssocID="{5E548D7E-8B18-4DA8-AC55-25455268AA4E}" presName="connectorText" presStyleLbl="sibTrans2D1" presStyleIdx="0" presStyleCnt="3"/>
      <dgm:spPr/>
    </dgm:pt>
    <dgm:pt modelId="{2549B08F-4286-4637-BEDC-546613256E0E}" type="pres">
      <dgm:prSet presAssocID="{37BF70A2-B39B-4809-920A-58D8FD992583}" presName="node" presStyleLbl="node1" presStyleIdx="1" presStyleCnt="4" custScaleX="131563">
        <dgm:presLayoutVars>
          <dgm:bulletEnabled val="1"/>
        </dgm:presLayoutVars>
      </dgm:prSet>
      <dgm:spPr>
        <a:prstGeom prst="roundRect">
          <a:avLst>
            <a:gd name="adj" fmla="val 10000"/>
          </a:avLst>
        </a:prstGeom>
      </dgm:spPr>
    </dgm:pt>
    <dgm:pt modelId="{09AD2E95-5807-4A53-B9FC-85AE65EB84F1}" type="pres">
      <dgm:prSet presAssocID="{06440801-8205-4AED-AC34-59E6036DD554}" presName="sibTrans" presStyleLbl="sibTrans2D1" presStyleIdx="1" presStyleCnt="3"/>
      <dgm:spPr>
        <a:prstGeom prst="rightArrow">
          <a:avLst>
            <a:gd name="adj1" fmla="val 60000"/>
            <a:gd name="adj2" fmla="val 50000"/>
          </a:avLst>
        </a:prstGeom>
      </dgm:spPr>
    </dgm:pt>
    <dgm:pt modelId="{1B4486F1-AC6A-467F-87E8-298D3D93209A}" type="pres">
      <dgm:prSet presAssocID="{06440801-8205-4AED-AC34-59E6036DD554}" presName="connectorText" presStyleLbl="sibTrans2D1" presStyleIdx="1" presStyleCnt="3"/>
      <dgm:spPr/>
    </dgm:pt>
    <dgm:pt modelId="{B151AE68-CBB3-43B9-B7E2-5C23C4699900}" type="pres">
      <dgm:prSet presAssocID="{1F4D81A5-B1EE-490C-B47A-235F8C6D91EA}" presName="node" presStyleLbl="node1" presStyleIdx="2" presStyleCnt="4" custScaleX="135287">
        <dgm:presLayoutVars>
          <dgm:bulletEnabled val="1"/>
        </dgm:presLayoutVars>
      </dgm:prSet>
      <dgm:spPr>
        <a:prstGeom prst="roundRect">
          <a:avLst>
            <a:gd name="adj" fmla="val 10000"/>
          </a:avLst>
        </a:prstGeom>
      </dgm:spPr>
    </dgm:pt>
    <dgm:pt modelId="{95B9E5B1-7390-43B4-8869-A99A306048A0}" type="pres">
      <dgm:prSet presAssocID="{0CFD5FB6-7AF1-4B60-B457-7F03698D57D8}" presName="sibTrans" presStyleLbl="sibTrans2D1" presStyleIdx="2" presStyleCnt="3"/>
      <dgm:spPr>
        <a:prstGeom prst="rightArrow">
          <a:avLst>
            <a:gd name="adj1" fmla="val 60000"/>
            <a:gd name="adj2" fmla="val 50000"/>
          </a:avLst>
        </a:prstGeom>
      </dgm:spPr>
    </dgm:pt>
    <dgm:pt modelId="{A4974030-FCDF-4209-AC19-9C9D0F65D9A1}" type="pres">
      <dgm:prSet presAssocID="{0CFD5FB6-7AF1-4B60-B457-7F03698D57D8}" presName="connectorText" presStyleLbl="sibTrans2D1" presStyleIdx="2" presStyleCnt="3"/>
      <dgm:spPr/>
    </dgm:pt>
    <dgm:pt modelId="{C69B225C-4200-47CE-88C9-8A170BCB1725}" type="pres">
      <dgm:prSet presAssocID="{E4C3C575-C95C-4F9F-A1C2-9491E881414B}" presName="node" presStyleLbl="node1" presStyleIdx="3" presStyleCnt="4" custScaleX="136528">
        <dgm:presLayoutVars>
          <dgm:bulletEnabled val="1"/>
        </dgm:presLayoutVars>
      </dgm:prSet>
      <dgm:spPr>
        <a:prstGeom prst="roundRect">
          <a:avLst>
            <a:gd name="adj" fmla="val 10000"/>
          </a:avLst>
        </a:prstGeom>
      </dgm:spPr>
    </dgm:pt>
  </dgm:ptLst>
  <dgm:cxnLst>
    <dgm:cxn modelId="{733BCB28-9947-487C-A2EF-A79EBF879E03}" type="presOf" srcId="{0CFD5FB6-7AF1-4B60-B457-7F03698D57D8}" destId="{A4974030-FCDF-4209-AC19-9C9D0F65D9A1}" srcOrd="1" destOrd="0" presId="urn:microsoft.com/office/officeart/2005/8/layout/process2"/>
    <dgm:cxn modelId="{BD43E943-1DB7-4ABA-8188-12DD1CFD01AB}" type="presOf" srcId="{513FE0B1-801B-4739-9812-7EC10FFB536E}" destId="{4866DB8F-1AAB-4406-87B6-8BFF4C18084D}" srcOrd="0" destOrd="0" presId="urn:microsoft.com/office/officeart/2005/8/layout/process2"/>
    <dgm:cxn modelId="{E60D2A48-E9C7-42C9-8049-ED55FC3F5FD0}" type="presOf" srcId="{06440801-8205-4AED-AC34-59E6036DD554}" destId="{1B4486F1-AC6A-467F-87E8-298D3D93209A}" srcOrd="1" destOrd="0" presId="urn:microsoft.com/office/officeart/2005/8/layout/process2"/>
    <dgm:cxn modelId="{89CC7C4C-6383-4FA6-BBA6-423BE0251C0C}" type="presOf" srcId="{1F4D81A5-B1EE-490C-B47A-235F8C6D91EA}" destId="{B151AE68-CBB3-43B9-B7E2-5C23C4699900}" srcOrd="0" destOrd="0" presId="urn:microsoft.com/office/officeart/2005/8/layout/process2"/>
    <dgm:cxn modelId="{F0394E6D-F973-42E5-875E-D46D2D1DFEB5}" type="presOf" srcId="{5E548D7E-8B18-4DA8-AC55-25455268AA4E}" destId="{80F5E1DA-B4AC-48FB-80B0-41F501675B14}" srcOrd="0" destOrd="0" presId="urn:microsoft.com/office/officeart/2005/8/layout/process2"/>
    <dgm:cxn modelId="{A4FC2775-473C-4E48-AC60-1724930AE806}" type="presOf" srcId="{5E548D7E-8B18-4DA8-AC55-25455268AA4E}" destId="{B9B8DF80-51B9-49AC-A245-C14A18513190}" srcOrd="1" destOrd="0" presId="urn:microsoft.com/office/officeart/2005/8/layout/process2"/>
    <dgm:cxn modelId="{05DEF090-893D-4E45-9784-6E2CA10DAE0F}" srcId="{513FE0B1-801B-4739-9812-7EC10FFB536E}" destId="{37BF70A2-B39B-4809-920A-58D8FD992583}" srcOrd="1" destOrd="0" parTransId="{5987AE21-A221-44F7-99A2-4AD903DCA52E}" sibTransId="{06440801-8205-4AED-AC34-59E6036DD554}"/>
    <dgm:cxn modelId="{3D0716A4-E80A-45D6-BB1E-1D13B4B9F124}" srcId="{513FE0B1-801B-4739-9812-7EC10FFB536E}" destId="{E22B7CFA-01FD-4E3A-936D-7A1C32FC9D71}" srcOrd="0" destOrd="0" parTransId="{02F7B61B-E1DC-4965-9011-44B0918A78F8}" sibTransId="{5E548D7E-8B18-4DA8-AC55-25455268AA4E}"/>
    <dgm:cxn modelId="{4CF52BA7-F0DE-4980-B925-0A0204199E00}" type="presOf" srcId="{37BF70A2-B39B-4809-920A-58D8FD992583}" destId="{2549B08F-4286-4637-BEDC-546613256E0E}" srcOrd="0" destOrd="0" presId="urn:microsoft.com/office/officeart/2005/8/layout/process2"/>
    <dgm:cxn modelId="{E64E9ABB-E30E-4FA0-BF4E-AD6F3B442485}" srcId="{513FE0B1-801B-4739-9812-7EC10FFB536E}" destId="{E4C3C575-C95C-4F9F-A1C2-9491E881414B}" srcOrd="3" destOrd="0" parTransId="{DF9ABD00-C2FD-488E-8227-E7A746BBA07E}" sibTransId="{F2B4F354-5B0F-4A27-8759-84F4792E9325}"/>
    <dgm:cxn modelId="{38F152BC-7C68-462B-BC2C-2DBE8418CF68}" type="presOf" srcId="{0CFD5FB6-7AF1-4B60-B457-7F03698D57D8}" destId="{95B9E5B1-7390-43B4-8869-A99A306048A0}" srcOrd="0" destOrd="0" presId="urn:microsoft.com/office/officeart/2005/8/layout/process2"/>
    <dgm:cxn modelId="{CCA566CE-468C-4DF5-A6C2-C7D4FCCA838C}" type="presOf" srcId="{E4C3C575-C95C-4F9F-A1C2-9491E881414B}" destId="{C69B225C-4200-47CE-88C9-8A170BCB1725}" srcOrd="0" destOrd="0" presId="urn:microsoft.com/office/officeart/2005/8/layout/process2"/>
    <dgm:cxn modelId="{F1B277D0-DA98-4A91-B6FF-95AB5F191430}" srcId="{513FE0B1-801B-4739-9812-7EC10FFB536E}" destId="{1F4D81A5-B1EE-490C-B47A-235F8C6D91EA}" srcOrd="2" destOrd="0" parTransId="{55DF4334-81EF-46E2-810D-92B3FCEF2377}" sibTransId="{0CFD5FB6-7AF1-4B60-B457-7F03698D57D8}"/>
    <dgm:cxn modelId="{15BD70F2-DAA6-4D48-83C1-3E26A6FE49E6}" type="presOf" srcId="{E22B7CFA-01FD-4E3A-936D-7A1C32FC9D71}" destId="{BCA53729-A85C-41CA-B450-8268BB254124}" srcOrd="0" destOrd="0" presId="urn:microsoft.com/office/officeart/2005/8/layout/process2"/>
    <dgm:cxn modelId="{0E88AEF8-58F5-4B16-9C3B-7840F407C3D4}" type="presOf" srcId="{06440801-8205-4AED-AC34-59E6036DD554}" destId="{09AD2E95-5807-4A53-B9FC-85AE65EB84F1}" srcOrd="0" destOrd="0" presId="urn:microsoft.com/office/officeart/2005/8/layout/process2"/>
    <dgm:cxn modelId="{1DE42126-E539-4F20-9632-71ED7DF7D7FE}" type="presParOf" srcId="{4866DB8F-1AAB-4406-87B6-8BFF4C18084D}" destId="{BCA53729-A85C-41CA-B450-8268BB254124}" srcOrd="0" destOrd="0" presId="urn:microsoft.com/office/officeart/2005/8/layout/process2"/>
    <dgm:cxn modelId="{4FBEDA4D-F505-42C3-944F-3C95439E1F9F}" type="presParOf" srcId="{4866DB8F-1AAB-4406-87B6-8BFF4C18084D}" destId="{80F5E1DA-B4AC-48FB-80B0-41F501675B14}" srcOrd="1" destOrd="0" presId="urn:microsoft.com/office/officeart/2005/8/layout/process2"/>
    <dgm:cxn modelId="{87D5B779-A737-45B8-880B-090274AF0130}" type="presParOf" srcId="{80F5E1DA-B4AC-48FB-80B0-41F501675B14}" destId="{B9B8DF80-51B9-49AC-A245-C14A18513190}" srcOrd="0" destOrd="0" presId="urn:microsoft.com/office/officeart/2005/8/layout/process2"/>
    <dgm:cxn modelId="{6D02D5EB-6315-432E-A7AE-8450C5EE8545}" type="presParOf" srcId="{4866DB8F-1AAB-4406-87B6-8BFF4C18084D}" destId="{2549B08F-4286-4637-BEDC-546613256E0E}" srcOrd="2" destOrd="0" presId="urn:microsoft.com/office/officeart/2005/8/layout/process2"/>
    <dgm:cxn modelId="{C008F619-6C6C-44FE-B5AA-A8A67BBF8D6B}" type="presParOf" srcId="{4866DB8F-1AAB-4406-87B6-8BFF4C18084D}" destId="{09AD2E95-5807-4A53-B9FC-85AE65EB84F1}" srcOrd="3" destOrd="0" presId="urn:microsoft.com/office/officeart/2005/8/layout/process2"/>
    <dgm:cxn modelId="{B2F413EA-6148-4C45-859C-968865EF4F27}" type="presParOf" srcId="{09AD2E95-5807-4A53-B9FC-85AE65EB84F1}" destId="{1B4486F1-AC6A-467F-87E8-298D3D93209A}" srcOrd="0" destOrd="0" presId="urn:microsoft.com/office/officeart/2005/8/layout/process2"/>
    <dgm:cxn modelId="{6291A9F6-AAA3-4DB7-A125-85FC509BABA1}" type="presParOf" srcId="{4866DB8F-1AAB-4406-87B6-8BFF4C18084D}" destId="{B151AE68-CBB3-43B9-B7E2-5C23C4699900}" srcOrd="4" destOrd="0" presId="urn:microsoft.com/office/officeart/2005/8/layout/process2"/>
    <dgm:cxn modelId="{9D4F7945-0680-4D3A-A813-54880CACD001}" type="presParOf" srcId="{4866DB8F-1AAB-4406-87B6-8BFF4C18084D}" destId="{95B9E5B1-7390-43B4-8869-A99A306048A0}" srcOrd="5" destOrd="0" presId="urn:microsoft.com/office/officeart/2005/8/layout/process2"/>
    <dgm:cxn modelId="{C6EE224E-967A-424E-9307-4F2F9CC22CBC}" type="presParOf" srcId="{95B9E5B1-7390-43B4-8869-A99A306048A0}" destId="{A4974030-FCDF-4209-AC19-9C9D0F65D9A1}" srcOrd="0" destOrd="0" presId="urn:microsoft.com/office/officeart/2005/8/layout/process2"/>
    <dgm:cxn modelId="{12E28CDB-F354-4C4D-B92D-F1057599A000}" type="presParOf" srcId="{4866DB8F-1AAB-4406-87B6-8BFF4C18084D}" destId="{C69B225C-4200-47CE-88C9-8A170BCB1725}"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FAD06-BAB3-49D8-8BB9-BCE830154882}">
      <dsp:nvSpPr>
        <dsp:cNvPr id="0" name=""/>
        <dsp:cNvSpPr/>
      </dsp:nvSpPr>
      <dsp:spPr>
        <a:xfrm>
          <a:off x="4638359" y="1409051"/>
          <a:ext cx="2245164" cy="827204"/>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ysClr val="windowText" lastClr="000000"/>
              </a:solidFill>
              <a:latin typeface="+mj-ea"/>
              <a:ea typeface="+mj-ea"/>
            </a:rPr>
            <a:t>基站数量</a:t>
          </a:r>
          <a:endParaRPr lang="en-US" altLang="zh-CN" sz="1800" kern="1200" dirty="0">
            <a:solidFill>
              <a:sysClr val="windowText" lastClr="000000"/>
            </a:solidFill>
            <a:latin typeface="+mj-ea"/>
            <a:ea typeface="+mj-ea"/>
          </a:endParaRPr>
        </a:p>
        <a:p>
          <a:pPr marL="0" lvl="0" indent="0" algn="ctr" defTabSz="800100">
            <a:lnSpc>
              <a:spcPct val="90000"/>
            </a:lnSpc>
            <a:spcBef>
              <a:spcPct val="0"/>
            </a:spcBef>
            <a:spcAft>
              <a:spcPct val="35000"/>
            </a:spcAft>
            <a:buNone/>
          </a:pPr>
          <a:r>
            <a:rPr lang="zh-CN" altLang="en-US" sz="1800" kern="1200" dirty="0">
              <a:solidFill>
                <a:sysClr val="windowText" lastClr="000000"/>
              </a:solidFill>
              <a:latin typeface="+mj-ea"/>
              <a:ea typeface="+mj-ea"/>
            </a:rPr>
            <a:t>（结合基站配置）</a:t>
          </a:r>
        </a:p>
      </dsp:txBody>
      <dsp:txXfrm>
        <a:off x="4662587" y="1433279"/>
        <a:ext cx="2196708" cy="778748"/>
      </dsp:txXfrm>
    </dsp:sp>
    <dsp:sp modelId="{231EBFC8-2AA0-4359-BB6D-3761A0FB7598}">
      <dsp:nvSpPr>
        <dsp:cNvPr id="0" name=""/>
        <dsp:cNvSpPr/>
      </dsp:nvSpPr>
      <dsp:spPr>
        <a:xfrm rot="13629178">
          <a:off x="3820918" y="1442433"/>
          <a:ext cx="973119" cy="46975"/>
        </a:xfrm>
        <a:custGeom>
          <a:avLst/>
          <a:gdLst/>
          <a:ahLst/>
          <a:cxnLst/>
          <a:rect l="0" t="0" r="0" b="0"/>
          <a:pathLst>
            <a:path>
              <a:moveTo>
                <a:pt x="0" y="23487"/>
              </a:moveTo>
              <a:lnTo>
                <a:pt x="973119" y="23487"/>
              </a:lnTo>
            </a:path>
          </a:pathLst>
        </a:custGeom>
        <a:no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ysClr val="windowText" lastClr="000000"/>
            </a:solidFill>
            <a:latin typeface="+mj-ea"/>
            <a:ea typeface="+mj-ea"/>
          </a:endParaRPr>
        </a:p>
      </dsp:txBody>
      <dsp:txXfrm rot="10800000">
        <a:off x="4283150" y="1441593"/>
        <a:ext cx="48655" cy="48655"/>
      </dsp:txXfrm>
    </dsp:sp>
    <dsp:sp modelId="{C0DF3A7A-9440-4421-87F6-A34D9304FC79}">
      <dsp:nvSpPr>
        <dsp:cNvPr id="0" name=""/>
        <dsp:cNvSpPr/>
      </dsp:nvSpPr>
      <dsp:spPr>
        <a:xfrm>
          <a:off x="2322188" y="695587"/>
          <a:ext cx="1654408" cy="827204"/>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ysClr val="windowText" lastClr="000000"/>
              </a:solidFill>
              <a:latin typeface="+mj-ea"/>
              <a:ea typeface="+mj-ea"/>
            </a:rPr>
            <a:t>网络总吞吐量需求</a:t>
          </a:r>
        </a:p>
      </dsp:txBody>
      <dsp:txXfrm>
        <a:off x="2346416" y="719815"/>
        <a:ext cx="1605952" cy="778748"/>
      </dsp:txXfrm>
    </dsp:sp>
    <dsp:sp modelId="{8A8D8DBF-34EB-41A9-87CA-C5E5A0C6D1A7}">
      <dsp:nvSpPr>
        <dsp:cNvPr id="0" name=""/>
        <dsp:cNvSpPr/>
      </dsp:nvSpPr>
      <dsp:spPr>
        <a:xfrm rot="12942401">
          <a:off x="1583824" y="847880"/>
          <a:ext cx="814964" cy="46975"/>
        </a:xfrm>
        <a:custGeom>
          <a:avLst/>
          <a:gdLst/>
          <a:ahLst/>
          <a:cxnLst/>
          <a:rect l="0" t="0" r="0" b="0"/>
          <a:pathLst>
            <a:path>
              <a:moveTo>
                <a:pt x="0" y="23487"/>
              </a:moveTo>
              <a:lnTo>
                <a:pt x="814964" y="23487"/>
              </a:lnTo>
            </a:path>
          </a:pathLst>
        </a:custGeom>
        <a:no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ysClr val="windowText" lastClr="000000"/>
            </a:solidFill>
            <a:latin typeface="+mj-ea"/>
            <a:ea typeface="+mj-ea"/>
          </a:endParaRPr>
        </a:p>
      </dsp:txBody>
      <dsp:txXfrm rot="10800000">
        <a:off x="1970932" y="850994"/>
        <a:ext cx="40748" cy="40748"/>
      </dsp:txXfrm>
    </dsp:sp>
    <dsp:sp modelId="{F347C56B-0FF7-44F1-951B-25093B74ABC3}">
      <dsp:nvSpPr>
        <dsp:cNvPr id="0" name=""/>
        <dsp:cNvSpPr/>
      </dsp:nvSpPr>
      <dsp:spPr>
        <a:xfrm>
          <a:off x="6016" y="219945"/>
          <a:ext cx="1654408" cy="827204"/>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ysClr val="windowText" lastClr="000000"/>
              </a:solidFill>
              <a:latin typeface="+mj-ea"/>
              <a:ea typeface="+mj-ea"/>
            </a:rPr>
            <a:t>业务模型</a:t>
          </a:r>
        </a:p>
      </dsp:txBody>
      <dsp:txXfrm>
        <a:off x="30244" y="244173"/>
        <a:ext cx="1605952" cy="778748"/>
      </dsp:txXfrm>
    </dsp:sp>
    <dsp:sp modelId="{A302E2FE-3BEB-4DFA-9E2E-F631009D24F1}">
      <dsp:nvSpPr>
        <dsp:cNvPr id="0" name=""/>
        <dsp:cNvSpPr/>
      </dsp:nvSpPr>
      <dsp:spPr>
        <a:xfrm rot="8657599">
          <a:off x="1583824" y="1323523"/>
          <a:ext cx="814964" cy="46975"/>
        </a:xfrm>
        <a:custGeom>
          <a:avLst/>
          <a:gdLst/>
          <a:ahLst/>
          <a:cxnLst/>
          <a:rect l="0" t="0" r="0" b="0"/>
          <a:pathLst>
            <a:path>
              <a:moveTo>
                <a:pt x="0" y="23487"/>
              </a:moveTo>
              <a:lnTo>
                <a:pt x="814964" y="23487"/>
              </a:lnTo>
            </a:path>
          </a:pathLst>
        </a:custGeom>
        <a:no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ysClr val="windowText" lastClr="000000"/>
            </a:solidFill>
            <a:latin typeface="+mj-ea"/>
            <a:ea typeface="+mj-ea"/>
          </a:endParaRPr>
        </a:p>
      </dsp:txBody>
      <dsp:txXfrm rot="10800000">
        <a:off x="1970932" y="1326636"/>
        <a:ext cx="40748" cy="40748"/>
      </dsp:txXfrm>
    </dsp:sp>
    <dsp:sp modelId="{5AE44C53-6C74-4029-9F4F-F45CF876A017}">
      <dsp:nvSpPr>
        <dsp:cNvPr id="0" name=""/>
        <dsp:cNvSpPr/>
      </dsp:nvSpPr>
      <dsp:spPr>
        <a:xfrm>
          <a:off x="6016" y="1171229"/>
          <a:ext cx="1654408" cy="827204"/>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ysClr val="windowText" lastClr="000000"/>
              </a:solidFill>
              <a:latin typeface="+mj-ea"/>
              <a:ea typeface="+mj-ea"/>
            </a:rPr>
            <a:t>话务模型</a:t>
          </a:r>
        </a:p>
      </dsp:txBody>
      <dsp:txXfrm>
        <a:off x="30244" y="1195457"/>
        <a:ext cx="1605952" cy="778748"/>
      </dsp:txXfrm>
    </dsp:sp>
    <dsp:sp modelId="{285209A9-49DF-4B98-ACF6-B166D73438D3}">
      <dsp:nvSpPr>
        <dsp:cNvPr id="0" name=""/>
        <dsp:cNvSpPr/>
      </dsp:nvSpPr>
      <dsp:spPr>
        <a:xfrm rot="7970822">
          <a:off x="3820918" y="2155897"/>
          <a:ext cx="973119" cy="46975"/>
        </a:xfrm>
        <a:custGeom>
          <a:avLst/>
          <a:gdLst/>
          <a:ahLst/>
          <a:cxnLst/>
          <a:rect l="0" t="0" r="0" b="0"/>
          <a:pathLst>
            <a:path>
              <a:moveTo>
                <a:pt x="0" y="23487"/>
              </a:moveTo>
              <a:lnTo>
                <a:pt x="973119" y="23487"/>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ysClr val="windowText" lastClr="000000"/>
            </a:solidFill>
            <a:latin typeface="+mj-ea"/>
            <a:ea typeface="+mj-ea"/>
          </a:endParaRPr>
        </a:p>
      </dsp:txBody>
      <dsp:txXfrm rot="10800000">
        <a:off x="4283150" y="2155057"/>
        <a:ext cx="48655" cy="48655"/>
      </dsp:txXfrm>
    </dsp:sp>
    <dsp:sp modelId="{2288C90A-653F-45F2-81F7-FF43A941F292}">
      <dsp:nvSpPr>
        <dsp:cNvPr id="0" name=""/>
        <dsp:cNvSpPr/>
      </dsp:nvSpPr>
      <dsp:spPr>
        <a:xfrm>
          <a:off x="2322188" y="2122514"/>
          <a:ext cx="1654408" cy="827204"/>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solidFill>
                <a:sysClr val="windowText" lastClr="000000"/>
              </a:solidFill>
              <a:latin typeface="+mj-ea"/>
              <a:ea typeface="+mj-ea"/>
            </a:rPr>
            <a:t>小区平均吞吐量仿真</a:t>
          </a:r>
        </a:p>
      </dsp:txBody>
      <dsp:txXfrm>
        <a:off x="2346416" y="2146742"/>
        <a:ext cx="1605952" cy="778748"/>
      </dsp:txXfrm>
    </dsp:sp>
    <dsp:sp modelId="{E0A7FEBF-C83A-4FA6-8A12-C765A2E74BDF}">
      <dsp:nvSpPr>
        <dsp:cNvPr id="0" name=""/>
        <dsp:cNvSpPr/>
      </dsp:nvSpPr>
      <dsp:spPr>
        <a:xfrm rot="10800000">
          <a:off x="1660424" y="2512629"/>
          <a:ext cx="661763" cy="46975"/>
        </a:xfrm>
        <a:custGeom>
          <a:avLst/>
          <a:gdLst/>
          <a:ahLst/>
          <a:cxnLst/>
          <a:rect l="0" t="0" r="0" b="0"/>
          <a:pathLst>
            <a:path>
              <a:moveTo>
                <a:pt x="0" y="23487"/>
              </a:moveTo>
              <a:lnTo>
                <a:pt x="661763" y="23487"/>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ysClr val="windowText" lastClr="000000"/>
            </a:solidFill>
            <a:latin typeface="+mj-ea"/>
            <a:ea typeface="+mj-ea"/>
          </a:endParaRPr>
        </a:p>
      </dsp:txBody>
      <dsp:txXfrm rot="10800000">
        <a:off x="1974762" y="2519572"/>
        <a:ext cx="33088" cy="33088"/>
      </dsp:txXfrm>
    </dsp:sp>
    <dsp:sp modelId="{BF814A01-A8BA-400A-9549-5F71C3371F13}">
      <dsp:nvSpPr>
        <dsp:cNvPr id="0" name=""/>
        <dsp:cNvSpPr/>
      </dsp:nvSpPr>
      <dsp:spPr>
        <a:xfrm>
          <a:off x="6016" y="2122514"/>
          <a:ext cx="1654408" cy="827204"/>
        </a:xfrm>
        <a:prstGeom prst="roundRect">
          <a:avLst>
            <a:gd name="adj" fmla="val 10000"/>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ysClr val="windowText" lastClr="000000"/>
              </a:solidFill>
              <a:latin typeface="+mj-ea"/>
              <a:ea typeface="+mj-ea"/>
            </a:rPr>
            <a:t>覆盖仿真</a:t>
          </a:r>
        </a:p>
      </dsp:txBody>
      <dsp:txXfrm>
        <a:off x="30244" y="2146742"/>
        <a:ext cx="1605952" cy="7787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A53729-A85C-41CA-B450-8268BB254124}">
      <dsp:nvSpPr>
        <dsp:cNvPr id="0" name=""/>
        <dsp:cNvSpPr/>
      </dsp:nvSpPr>
      <dsp:spPr>
        <a:xfrm>
          <a:off x="888758" y="1328"/>
          <a:ext cx="2650761" cy="494220"/>
        </a:xfrm>
        <a:prstGeom prst="roundRect">
          <a:avLst>
            <a:gd name="adj" fmla="val 10000"/>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solidFill>
                <a:sysClr val="window" lastClr="FFFFFF"/>
              </a:solidFill>
              <a:latin typeface="Calibri" panose="020F0502020204030204"/>
              <a:ea typeface="宋体" panose="02010600030101010101" pitchFamily="2" charset="-122"/>
              <a:cs typeface="+mn-cs"/>
            </a:rPr>
            <a:t>小区半径</a:t>
          </a:r>
        </a:p>
      </dsp:txBody>
      <dsp:txXfrm>
        <a:off x="903233" y="15803"/>
        <a:ext cx="2621811" cy="465270"/>
      </dsp:txXfrm>
    </dsp:sp>
    <dsp:sp modelId="{80F5E1DA-B4AC-48FB-80B0-41F501675B14}">
      <dsp:nvSpPr>
        <dsp:cNvPr id="0" name=""/>
        <dsp:cNvSpPr/>
      </dsp:nvSpPr>
      <dsp:spPr>
        <a:xfrm rot="5400000">
          <a:off x="2121472" y="507904"/>
          <a:ext cx="185332" cy="222399"/>
        </a:xfrm>
        <a:prstGeom prst="rightArrow">
          <a:avLst>
            <a:gd name="adj1" fmla="val 60000"/>
            <a:gd name="adj2" fmla="val 50000"/>
          </a:avLst>
        </a:prstGeom>
        <a:solidFill>
          <a:srgbClr val="5B9BD5">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ysClr val="window" lastClr="FFFFFF"/>
            </a:solidFill>
            <a:latin typeface="Calibri" panose="020F0502020204030204"/>
            <a:ea typeface="宋体" panose="02010600030101010101" pitchFamily="2" charset="-122"/>
            <a:cs typeface="+mn-cs"/>
          </a:endParaRPr>
        </a:p>
      </dsp:txBody>
      <dsp:txXfrm rot="-5400000">
        <a:off x="2147419" y="526437"/>
        <a:ext cx="133439" cy="129732"/>
      </dsp:txXfrm>
    </dsp:sp>
    <dsp:sp modelId="{2549B08F-4286-4637-BEDC-546613256E0E}">
      <dsp:nvSpPr>
        <dsp:cNvPr id="0" name=""/>
        <dsp:cNvSpPr/>
      </dsp:nvSpPr>
      <dsp:spPr>
        <a:xfrm>
          <a:off x="925241" y="742659"/>
          <a:ext cx="2577794" cy="494220"/>
        </a:xfrm>
        <a:prstGeom prst="roundRect">
          <a:avLst>
            <a:gd name="adj" fmla="val 10000"/>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sz="2000" kern="1200">
              <a:solidFill>
                <a:sysClr val="window" lastClr="FFFFFF"/>
              </a:solidFill>
              <a:latin typeface="Calibri" panose="020F0502020204030204"/>
              <a:ea typeface="宋体" panose="02010600030101010101" pitchFamily="2" charset="-122"/>
              <a:cs typeface="+mn-cs"/>
            </a:rPr>
            <a:t>SINR</a:t>
          </a:r>
          <a:r>
            <a:rPr lang="zh-CN" altLang="en-US" sz="2000" kern="1200">
              <a:solidFill>
                <a:sysClr val="window" lastClr="FFFFFF"/>
              </a:solidFill>
              <a:latin typeface="Calibri" panose="020F0502020204030204"/>
              <a:ea typeface="宋体" panose="02010600030101010101" pitchFamily="2" charset="-122"/>
              <a:cs typeface="+mn-cs"/>
            </a:rPr>
            <a:t>概率分布</a:t>
          </a:r>
        </a:p>
      </dsp:txBody>
      <dsp:txXfrm>
        <a:off x="939716" y="757134"/>
        <a:ext cx="2548844" cy="465270"/>
      </dsp:txXfrm>
    </dsp:sp>
    <dsp:sp modelId="{09AD2E95-5807-4A53-B9FC-85AE65EB84F1}">
      <dsp:nvSpPr>
        <dsp:cNvPr id="0" name=""/>
        <dsp:cNvSpPr/>
      </dsp:nvSpPr>
      <dsp:spPr>
        <a:xfrm rot="5400000">
          <a:off x="2121472" y="1249234"/>
          <a:ext cx="185332" cy="222399"/>
        </a:xfrm>
        <a:prstGeom prst="rightArrow">
          <a:avLst>
            <a:gd name="adj1" fmla="val 60000"/>
            <a:gd name="adj2" fmla="val 50000"/>
          </a:avLst>
        </a:prstGeom>
        <a:solidFill>
          <a:srgbClr val="5B9BD5">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ysClr val="window" lastClr="FFFFFF"/>
            </a:solidFill>
            <a:latin typeface="Calibri" panose="020F0502020204030204"/>
            <a:ea typeface="宋体" panose="02010600030101010101" pitchFamily="2" charset="-122"/>
            <a:cs typeface="+mn-cs"/>
          </a:endParaRPr>
        </a:p>
      </dsp:txBody>
      <dsp:txXfrm rot="-5400000">
        <a:off x="2147419" y="1267767"/>
        <a:ext cx="133439" cy="129732"/>
      </dsp:txXfrm>
    </dsp:sp>
    <dsp:sp modelId="{B151AE68-CBB3-43B9-B7E2-5C23C4699900}">
      <dsp:nvSpPr>
        <dsp:cNvPr id="0" name=""/>
        <dsp:cNvSpPr/>
      </dsp:nvSpPr>
      <dsp:spPr>
        <a:xfrm>
          <a:off x="888758" y="1483989"/>
          <a:ext cx="2650761" cy="494220"/>
        </a:xfrm>
        <a:prstGeom prst="roundRect">
          <a:avLst>
            <a:gd name="adj" fmla="val 10000"/>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altLang="zh-CN" sz="2000" kern="1200">
              <a:solidFill>
                <a:sysClr val="window" lastClr="FFFFFF"/>
              </a:solidFill>
              <a:latin typeface="宋体" panose="02010600030101010101" pitchFamily="2" charset="-122"/>
              <a:ea typeface="宋体" panose="02010600030101010101" pitchFamily="2" charset="-122"/>
              <a:cs typeface="+mn-cs"/>
            </a:rPr>
            <a:t>MCS</a:t>
          </a:r>
          <a:r>
            <a:rPr lang="zh-CN" altLang="en-US" sz="2000" kern="1200">
              <a:solidFill>
                <a:sysClr val="window" lastClr="FFFFFF"/>
              </a:solidFill>
              <a:latin typeface="宋体" panose="02010600030101010101" pitchFamily="2" charset="-122"/>
              <a:ea typeface="宋体" panose="02010600030101010101" pitchFamily="2" charset="-122"/>
              <a:cs typeface="+mn-cs"/>
            </a:rPr>
            <a:t>分布</a:t>
          </a:r>
        </a:p>
      </dsp:txBody>
      <dsp:txXfrm>
        <a:off x="903233" y="1498464"/>
        <a:ext cx="2621811" cy="465270"/>
      </dsp:txXfrm>
    </dsp:sp>
    <dsp:sp modelId="{95B9E5B1-7390-43B4-8869-A99A306048A0}">
      <dsp:nvSpPr>
        <dsp:cNvPr id="0" name=""/>
        <dsp:cNvSpPr/>
      </dsp:nvSpPr>
      <dsp:spPr>
        <a:xfrm rot="5400000">
          <a:off x="2121472" y="1990565"/>
          <a:ext cx="185332" cy="222399"/>
        </a:xfrm>
        <a:prstGeom prst="rightArrow">
          <a:avLst>
            <a:gd name="adj1" fmla="val 60000"/>
            <a:gd name="adj2" fmla="val 50000"/>
          </a:avLst>
        </a:prstGeom>
        <a:solidFill>
          <a:srgbClr val="5B9BD5">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solidFill>
              <a:sysClr val="window" lastClr="FFFFFF"/>
            </a:solidFill>
            <a:latin typeface="Calibri" panose="020F0502020204030204"/>
            <a:ea typeface="宋体" panose="02010600030101010101" pitchFamily="2" charset="-122"/>
            <a:cs typeface="+mn-cs"/>
          </a:endParaRPr>
        </a:p>
      </dsp:txBody>
      <dsp:txXfrm rot="-5400000">
        <a:off x="2147419" y="2009098"/>
        <a:ext cx="133439" cy="129732"/>
      </dsp:txXfrm>
    </dsp:sp>
    <dsp:sp modelId="{C69B225C-4200-47CE-88C9-8A170BCB1725}">
      <dsp:nvSpPr>
        <dsp:cNvPr id="0" name=""/>
        <dsp:cNvSpPr/>
      </dsp:nvSpPr>
      <dsp:spPr>
        <a:xfrm>
          <a:off x="876600" y="2225320"/>
          <a:ext cx="2675077" cy="494220"/>
        </a:xfrm>
        <a:prstGeom prst="roundRect">
          <a:avLst>
            <a:gd name="adj" fmla="val 10000"/>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a:solidFill>
                <a:sysClr val="window" lastClr="FFFFFF"/>
              </a:solidFill>
              <a:latin typeface="Calibri" panose="020F0502020204030204"/>
              <a:ea typeface="宋体" panose="02010600030101010101" pitchFamily="2" charset="-122"/>
              <a:cs typeface="+mn-cs"/>
            </a:rPr>
            <a:t>小区平均吞吐量</a:t>
          </a:r>
        </a:p>
      </dsp:txBody>
      <dsp:txXfrm>
        <a:off x="891075" y="2239795"/>
        <a:ext cx="2646127" cy="46527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2025/9/10</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2025/9/10</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a:t>
            </a:fld>
            <a:endParaRPr lang="zh-CN" altLang="en-US"/>
          </a:p>
        </p:txBody>
      </p:sp>
    </p:spTree>
    <p:extLst>
      <p:ext uri="{BB962C8B-B14F-4D97-AF65-F5344CB8AC3E}">
        <p14:creationId xmlns:p14="http://schemas.microsoft.com/office/powerpoint/2010/main" val="2605022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4</a:t>
            </a:fld>
            <a:endParaRPr lang="zh-CN" altLang="en-US"/>
          </a:p>
        </p:txBody>
      </p:sp>
    </p:spTree>
    <p:extLst>
      <p:ext uri="{BB962C8B-B14F-4D97-AF65-F5344CB8AC3E}">
        <p14:creationId xmlns:p14="http://schemas.microsoft.com/office/powerpoint/2010/main" val="1767136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11</a:t>
            </a:fld>
            <a:endParaRPr lang="zh-CN" altLang="en-US"/>
          </a:p>
        </p:txBody>
      </p:sp>
    </p:spTree>
    <p:extLst>
      <p:ext uri="{BB962C8B-B14F-4D97-AF65-F5344CB8AC3E}">
        <p14:creationId xmlns:p14="http://schemas.microsoft.com/office/powerpoint/2010/main" val="4023559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12</a:t>
            </a:fld>
            <a:endParaRPr lang="zh-CN" altLang="en-US"/>
          </a:p>
        </p:txBody>
      </p:sp>
    </p:spTree>
    <p:extLst>
      <p:ext uri="{BB962C8B-B14F-4D97-AF65-F5344CB8AC3E}">
        <p14:creationId xmlns:p14="http://schemas.microsoft.com/office/powerpoint/2010/main" val="2003706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13</a:t>
            </a:fld>
            <a:endParaRPr lang="zh-CN" altLang="en-US"/>
          </a:p>
        </p:txBody>
      </p:sp>
    </p:spTree>
    <p:extLst>
      <p:ext uri="{BB962C8B-B14F-4D97-AF65-F5344CB8AC3E}">
        <p14:creationId xmlns:p14="http://schemas.microsoft.com/office/powerpoint/2010/main" val="2218622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16</a:t>
            </a:fld>
            <a:endParaRPr lang="zh-CN" altLang="en-US"/>
          </a:p>
        </p:txBody>
      </p:sp>
    </p:spTree>
    <p:extLst>
      <p:ext uri="{BB962C8B-B14F-4D97-AF65-F5344CB8AC3E}">
        <p14:creationId xmlns:p14="http://schemas.microsoft.com/office/powerpoint/2010/main" val="3308103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17</a:t>
            </a:fld>
            <a:endParaRPr lang="zh-CN" altLang="en-US"/>
          </a:p>
        </p:txBody>
      </p:sp>
    </p:spTree>
    <p:extLst>
      <p:ext uri="{BB962C8B-B14F-4D97-AF65-F5344CB8AC3E}">
        <p14:creationId xmlns:p14="http://schemas.microsoft.com/office/powerpoint/2010/main" val="830564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endParaRPr lang="zh-CN" altLang="en-US"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18</a:t>
            </a:fld>
            <a:endParaRPr lang="zh-CN" altLang="en-US"/>
          </a:p>
        </p:txBody>
      </p:sp>
    </p:spTree>
    <p:extLst>
      <p:ext uri="{BB962C8B-B14F-4D97-AF65-F5344CB8AC3E}">
        <p14:creationId xmlns:p14="http://schemas.microsoft.com/office/powerpoint/2010/main" val="3751476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19</a:t>
            </a:fld>
            <a:endParaRPr lang="zh-CN" altLang="en-US"/>
          </a:p>
        </p:txBody>
      </p:sp>
    </p:spTree>
    <p:extLst>
      <p:ext uri="{BB962C8B-B14F-4D97-AF65-F5344CB8AC3E}">
        <p14:creationId xmlns:p14="http://schemas.microsoft.com/office/powerpoint/2010/main" val="1837341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20</a:t>
            </a:fld>
            <a:endParaRPr lang="zh-CN" altLang="en-US"/>
          </a:p>
        </p:txBody>
      </p:sp>
    </p:spTree>
    <p:extLst>
      <p:ext uri="{BB962C8B-B14F-4D97-AF65-F5344CB8AC3E}">
        <p14:creationId xmlns:p14="http://schemas.microsoft.com/office/powerpoint/2010/main" val="1419359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21</a:t>
            </a:fld>
            <a:endParaRPr lang="zh-CN" altLang="en-US"/>
          </a:p>
        </p:txBody>
      </p:sp>
    </p:spTree>
    <p:extLst>
      <p:ext uri="{BB962C8B-B14F-4D97-AF65-F5344CB8AC3E}">
        <p14:creationId xmlns:p14="http://schemas.microsoft.com/office/powerpoint/2010/main" val="2828980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27</a:t>
            </a:fld>
            <a:endParaRPr lang="zh-CN" altLang="en-US"/>
          </a:p>
        </p:txBody>
      </p:sp>
    </p:spTree>
    <p:extLst>
      <p:ext uri="{BB962C8B-B14F-4D97-AF65-F5344CB8AC3E}">
        <p14:creationId xmlns:p14="http://schemas.microsoft.com/office/powerpoint/2010/main" val="4072364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517CB-9748-BD76-FCB9-FFE6DCAA77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109170-5409-42CE-86A8-033723D863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9A57EE-7482-57B5-93C1-C3C92F20A9E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F384D7E-8840-CA29-740C-6E632242207B}"/>
              </a:ext>
            </a:extLst>
          </p:cNvPr>
          <p:cNvSpPr>
            <a:spLocks noGrp="1"/>
          </p:cNvSpPr>
          <p:nvPr>
            <p:ph type="sldNum" sz="quarter" idx="5"/>
          </p:nvPr>
        </p:nvSpPr>
        <p:spPr/>
        <p:txBody>
          <a:bodyPr/>
          <a:lstStyle/>
          <a:p>
            <a:fld id="{85D0DACE-38E0-42D2-9336-2B707D34BC6D}" type="slidenum">
              <a:rPr lang="zh-CN" altLang="en-US" smtClean="0"/>
              <a:t>31</a:t>
            </a:fld>
            <a:endParaRPr lang="zh-CN" altLang="en-US"/>
          </a:p>
        </p:txBody>
      </p:sp>
    </p:spTree>
    <p:extLst>
      <p:ext uri="{BB962C8B-B14F-4D97-AF65-F5344CB8AC3E}">
        <p14:creationId xmlns:p14="http://schemas.microsoft.com/office/powerpoint/2010/main" val="3090145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32</a:t>
            </a:fld>
            <a:endParaRPr lang="zh-CN" altLang="en-US"/>
          </a:p>
        </p:txBody>
      </p:sp>
    </p:spTree>
    <p:extLst>
      <p:ext uri="{BB962C8B-B14F-4D97-AF65-F5344CB8AC3E}">
        <p14:creationId xmlns:p14="http://schemas.microsoft.com/office/powerpoint/2010/main" val="3314520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34</a:t>
            </a:fld>
            <a:endParaRPr lang="zh-CN" altLang="en-US"/>
          </a:p>
        </p:txBody>
      </p:sp>
    </p:spTree>
    <p:extLst>
      <p:ext uri="{BB962C8B-B14F-4D97-AF65-F5344CB8AC3E}">
        <p14:creationId xmlns:p14="http://schemas.microsoft.com/office/powerpoint/2010/main" val="2567652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46008</a:t>
            </a:r>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35</a:t>
            </a:fld>
            <a:endParaRPr lang="zh-CN" altLang="en-US"/>
          </a:p>
        </p:txBody>
      </p:sp>
    </p:spTree>
    <p:extLst>
      <p:ext uri="{BB962C8B-B14F-4D97-AF65-F5344CB8AC3E}">
        <p14:creationId xmlns:p14="http://schemas.microsoft.com/office/powerpoint/2010/main" val="2051665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36</a:t>
            </a:fld>
            <a:endParaRPr lang="zh-CN" altLang="en-US"/>
          </a:p>
        </p:txBody>
      </p:sp>
    </p:spTree>
    <p:extLst>
      <p:ext uri="{BB962C8B-B14F-4D97-AF65-F5344CB8AC3E}">
        <p14:creationId xmlns:p14="http://schemas.microsoft.com/office/powerpoint/2010/main" val="4275048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37</a:t>
            </a:fld>
            <a:endParaRPr lang="zh-CN" altLang="en-US"/>
          </a:p>
        </p:txBody>
      </p:sp>
    </p:spTree>
    <p:extLst>
      <p:ext uri="{BB962C8B-B14F-4D97-AF65-F5344CB8AC3E}">
        <p14:creationId xmlns:p14="http://schemas.microsoft.com/office/powerpoint/2010/main" val="2500148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76947-2513-C830-3970-7DAFFECEE8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50EE52-2C7E-4DA6-1A2F-6B6C5D9F5D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435051-B888-286D-3325-606BD5383B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F1018C3-CBAE-8534-0DAE-6A65FFF8982B}"/>
              </a:ext>
            </a:extLst>
          </p:cNvPr>
          <p:cNvSpPr>
            <a:spLocks noGrp="1"/>
          </p:cNvSpPr>
          <p:nvPr>
            <p:ph type="sldNum" sz="quarter" idx="5"/>
          </p:nvPr>
        </p:nvSpPr>
        <p:spPr/>
        <p:txBody>
          <a:bodyPr/>
          <a:lstStyle/>
          <a:p>
            <a:fld id="{85D0DACE-38E0-42D2-9336-2B707D34BC6D}" type="slidenum">
              <a:rPr lang="zh-CN" altLang="en-US" smtClean="0"/>
              <a:t>38</a:t>
            </a:fld>
            <a:endParaRPr lang="zh-CN" altLang="en-US"/>
          </a:p>
        </p:txBody>
      </p:sp>
    </p:spTree>
    <p:extLst>
      <p:ext uri="{BB962C8B-B14F-4D97-AF65-F5344CB8AC3E}">
        <p14:creationId xmlns:p14="http://schemas.microsoft.com/office/powerpoint/2010/main" val="983048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3E5B-0917-C055-793F-083C805603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ADD38C-C977-C5B5-6560-B88AA193DE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9D6A46-CF8E-991C-6DA4-72095FA3EDC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AC91059-E9EC-16D2-FDEA-1632FC4BFDA5}"/>
              </a:ext>
            </a:extLst>
          </p:cNvPr>
          <p:cNvSpPr>
            <a:spLocks noGrp="1"/>
          </p:cNvSpPr>
          <p:nvPr>
            <p:ph type="sldNum" sz="quarter" idx="5"/>
          </p:nvPr>
        </p:nvSpPr>
        <p:spPr/>
        <p:txBody>
          <a:bodyPr/>
          <a:lstStyle/>
          <a:p>
            <a:fld id="{85D0DACE-38E0-42D2-9336-2B707D34BC6D}" type="slidenum">
              <a:rPr lang="zh-CN" altLang="en-US" smtClean="0"/>
              <a:t>39</a:t>
            </a:fld>
            <a:endParaRPr lang="zh-CN" altLang="en-US"/>
          </a:p>
        </p:txBody>
      </p:sp>
    </p:spTree>
    <p:extLst>
      <p:ext uri="{BB962C8B-B14F-4D97-AF65-F5344CB8AC3E}">
        <p14:creationId xmlns:p14="http://schemas.microsoft.com/office/powerpoint/2010/main" val="1886921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313E3-2F02-08E0-426C-69CBC2A9C7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BD46F9-CC77-2BEC-3643-7CD0CC8AFE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44128D0-B98D-4C3E-EAC5-03AF908BAD7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43C512D-1A9C-D90C-D1FE-BE1AA42E4E71}"/>
              </a:ext>
            </a:extLst>
          </p:cNvPr>
          <p:cNvSpPr>
            <a:spLocks noGrp="1"/>
          </p:cNvSpPr>
          <p:nvPr>
            <p:ph type="sldNum" sz="quarter" idx="5"/>
          </p:nvPr>
        </p:nvSpPr>
        <p:spPr/>
        <p:txBody>
          <a:bodyPr/>
          <a:lstStyle/>
          <a:p>
            <a:fld id="{85D0DACE-38E0-42D2-9336-2B707D34BC6D}" type="slidenum">
              <a:rPr lang="zh-CN" altLang="en-US" smtClean="0"/>
              <a:t>40</a:t>
            </a:fld>
            <a:endParaRPr lang="zh-CN" altLang="en-US"/>
          </a:p>
        </p:txBody>
      </p:sp>
    </p:spTree>
    <p:extLst>
      <p:ext uri="{BB962C8B-B14F-4D97-AF65-F5344CB8AC3E}">
        <p14:creationId xmlns:p14="http://schemas.microsoft.com/office/powerpoint/2010/main" val="39242755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43</a:t>
            </a:fld>
            <a:endParaRPr lang="zh-CN" altLang="en-US"/>
          </a:p>
        </p:txBody>
      </p:sp>
    </p:spTree>
    <p:extLst>
      <p:ext uri="{BB962C8B-B14F-4D97-AF65-F5344CB8AC3E}">
        <p14:creationId xmlns:p14="http://schemas.microsoft.com/office/powerpoint/2010/main" val="24547080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45</a:t>
            </a:fld>
            <a:endParaRPr lang="zh-CN" altLang="en-US"/>
          </a:p>
        </p:txBody>
      </p:sp>
    </p:spTree>
    <p:extLst>
      <p:ext uri="{BB962C8B-B14F-4D97-AF65-F5344CB8AC3E}">
        <p14:creationId xmlns:p14="http://schemas.microsoft.com/office/powerpoint/2010/main" val="3756270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46</a:t>
            </a:fld>
            <a:endParaRPr lang="zh-CN" altLang="en-US"/>
          </a:p>
        </p:txBody>
      </p:sp>
    </p:spTree>
    <p:extLst>
      <p:ext uri="{BB962C8B-B14F-4D97-AF65-F5344CB8AC3E}">
        <p14:creationId xmlns:p14="http://schemas.microsoft.com/office/powerpoint/2010/main" val="40336587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48</a:t>
            </a:fld>
            <a:endParaRPr lang="zh-CN" altLang="en-US"/>
          </a:p>
        </p:txBody>
      </p:sp>
    </p:spTree>
    <p:extLst>
      <p:ext uri="{BB962C8B-B14F-4D97-AF65-F5344CB8AC3E}">
        <p14:creationId xmlns:p14="http://schemas.microsoft.com/office/powerpoint/2010/main" val="5517877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50</a:t>
            </a:fld>
            <a:endParaRPr lang="zh-CN" altLang="en-US"/>
          </a:p>
        </p:txBody>
      </p:sp>
    </p:spTree>
    <p:extLst>
      <p:ext uri="{BB962C8B-B14F-4D97-AF65-F5344CB8AC3E}">
        <p14:creationId xmlns:p14="http://schemas.microsoft.com/office/powerpoint/2010/main" val="32525277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51</a:t>
            </a:fld>
            <a:endParaRPr lang="zh-CN" altLang="en-US"/>
          </a:p>
        </p:txBody>
      </p:sp>
    </p:spTree>
    <p:extLst>
      <p:ext uri="{BB962C8B-B14F-4D97-AF65-F5344CB8AC3E}">
        <p14:creationId xmlns:p14="http://schemas.microsoft.com/office/powerpoint/2010/main" val="1334329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8.xml"/></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33730" y="2171065"/>
            <a:ext cx="9644380" cy="1079500"/>
          </a:xfrm>
        </p:spPr>
        <p:txBody>
          <a:bodyPr anchor="b"/>
          <a:lstStyle>
            <a:lvl1pPr algn="l">
              <a:defRPr sz="5000" b="1"/>
            </a:lvl1pPr>
          </a:lstStyle>
          <a:p>
            <a:r>
              <a:rPr lang="zh-CN" altLang="en-US"/>
              <a:t>单击此处编辑母版标题样式</a:t>
            </a:r>
          </a:p>
        </p:txBody>
      </p:sp>
      <p:sp>
        <p:nvSpPr>
          <p:cNvPr id="3" name="副标题 2"/>
          <p:cNvSpPr>
            <a:spLocks noGrp="1"/>
          </p:cNvSpPr>
          <p:nvPr>
            <p:ph type="subTitle" idx="1"/>
          </p:nvPr>
        </p:nvSpPr>
        <p:spPr>
          <a:xfrm>
            <a:off x="838200" y="3602355"/>
            <a:ext cx="6307455" cy="485140"/>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6" name="标题 5"/>
          <p:cNvSpPr>
            <a:spLocks noGrp="1"/>
          </p:cNvSpPr>
          <p:nvPr>
            <p:ph type="title" hasCustomPrompt="1"/>
          </p:nvPr>
        </p:nvSpPr>
        <p:spPr>
          <a:xfrm>
            <a:off x="983615" y="685165"/>
            <a:ext cx="3374390" cy="1473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9" name="图片占位符 8"/>
          <p:cNvSpPr>
            <a:spLocks noGrp="1" noChangeAspect="1"/>
          </p:cNvSpPr>
          <p:nvPr>
            <p:ph type="pic" idx="1"/>
          </p:nvPr>
        </p:nvSpPr>
        <p:spPr>
          <a:xfrm>
            <a:off x="5193665" y="1324610"/>
            <a:ext cx="535432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10" name="文本占位符 9"/>
          <p:cNvSpPr>
            <a:spLocks noGrp="1"/>
          </p:cNvSpPr>
          <p:nvPr>
            <p:ph type="body" sz="half" idx="2"/>
          </p:nvPr>
        </p:nvSpPr>
        <p:spPr>
          <a:xfrm>
            <a:off x="988695" y="2615565"/>
            <a:ext cx="3374390" cy="3509010"/>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A777808-ED14-4426-99DB-3B4265319C79}" type="datetimeFigureOut">
              <a:rPr lang="zh-CN" altLang="en-US" smtClean="0"/>
              <a:t>2025/9/10</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B3216A1-BAFB-4293-B513-399F2391224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501390" y="2766060"/>
            <a:ext cx="8090535" cy="1325880"/>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图片占位符 6"/>
          <p:cNvSpPr>
            <a:spLocks noGrp="1" noChangeAspect="1"/>
          </p:cNvSpPr>
          <p:nvPr>
            <p:ph type="pic" idx="1"/>
          </p:nvPr>
        </p:nvSpPr>
        <p:spPr>
          <a:xfrm>
            <a:off x="5398135" y="1664970"/>
            <a:ext cx="535432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8" name="文本占位符 7"/>
          <p:cNvSpPr>
            <a:spLocks noGrp="1"/>
          </p:cNvSpPr>
          <p:nvPr>
            <p:ph type="body" sz="half" idx="2"/>
          </p:nvPr>
        </p:nvSpPr>
        <p:spPr>
          <a:xfrm>
            <a:off x="1193165" y="2955925"/>
            <a:ext cx="3374390" cy="3509010"/>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4" name="内容占位符 3"/>
          <p:cNvSpPr>
            <a:spLocks noGrp="1"/>
          </p:cNvSpPr>
          <p:nvPr>
            <p:ph sz="half" idx="1"/>
          </p:nvPr>
        </p:nvSpPr>
        <p:spPr>
          <a:xfrm>
            <a:off x="499745" y="1628775"/>
            <a:ext cx="5457825" cy="424815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half" idx="2"/>
          </p:nvPr>
        </p:nvSpPr>
        <p:spPr>
          <a:xfrm>
            <a:off x="6217285" y="1628775"/>
            <a:ext cx="5457825" cy="424815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4_比较">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574040" y="1395095"/>
            <a:ext cx="6176010" cy="435864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995160" y="1395095"/>
            <a:ext cx="4571365" cy="435864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标题 2"/>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8EC09-88D7-842B-B4FD-83871FFA267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6592D5E-0722-17B0-7DB8-CB0568188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001BF2B-74E6-86CC-6953-E5363CE2F3B6}"/>
              </a:ext>
            </a:extLst>
          </p:cNvPr>
          <p:cNvSpPr>
            <a:spLocks noGrp="1"/>
          </p:cNvSpPr>
          <p:nvPr>
            <p:ph type="dt" sz="half" idx="10"/>
          </p:nvPr>
        </p:nvSpPr>
        <p:spPr/>
        <p:txBody>
          <a:bodyPr/>
          <a:lstStyle/>
          <a:p>
            <a:fld id="{66AB02DA-C4B1-42F0-BF7A-714081F33071}"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A61EA6F5-E529-063B-3C0F-4B7CC8B2C2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D08C14-4BE4-188D-0DB6-259FE9C72992}"/>
              </a:ext>
            </a:extLst>
          </p:cNvPr>
          <p:cNvSpPr>
            <a:spLocks noGrp="1"/>
          </p:cNvSpPr>
          <p:nvPr>
            <p:ph type="sldNum" sz="quarter" idx="12"/>
          </p:nvPr>
        </p:nvSpPr>
        <p:spPr/>
        <p:txBody>
          <a:bodyPr/>
          <a:lstStyle/>
          <a:p>
            <a:fld id="{B40639A7-A25C-45B3-BC28-4234C13630D3}" type="slidenum">
              <a:rPr lang="zh-CN" altLang="en-US" smtClean="0"/>
              <a:t>‹#›</a:t>
            </a:fld>
            <a:endParaRPr lang="zh-CN" altLang="en-US"/>
          </a:p>
        </p:txBody>
      </p:sp>
    </p:spTree>
    <p:extLst>
      <p:ext uri="{BB962C8B-B14F-4D97-AF65-F5344CB8AC3E}">
        <p14:creationId xmlns:p14="http://schemas.microsoft.com/office/powerpoint/2010/main" val="18328843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A4B6167-61F6-C8F7-0233-E2937222C4B5}"/>
              </a:ext>
            </a:extLst>
          </p:cNvPr>
          <p:cNvSpPr>
            <a:spLocks noGrp="1"/>
          </p:cNvSpPr>
          <p:nvPr>
            <p:ph type="dt" sz="half" idx="10"/>
          </p:nvPr>
        </p:nvSpPr>
        <p:spPr/>
        <p:txBody>
          <a:bodyPr/>
          <a:lstStyle/>
          <a:p>
            <a:fld id="{9A777808-ED14-4426-99DB-3B4265319C79}" type="datetimeFigureOut">
              <a:rPr lang="zh-CN" altLang="en-US" smtClean="0"/>
              <a:t>2025/9/10</a:t>
            </a:fld>
            <a:endParaRPr lang="zh-CN" altLang="en-US"/>
          </a:p>
        </p:txBody>
      </p:sp>
      <p:sp>
        <p:nvSpPr>
          <p:cNvPr id="3" name="页脚占位符 2">
            <a:extLst>
              <a:ext uri="{FF2B5EF4-FFF2-40B4-BE49-F238E27FC236}">
                <a16:creationId xmlns:a16="http://schemas.microsoft.com/office/drawing/2014/main" id="{21997377-4D3E-1F97-71FE-0ABB97886AE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7848F2A-3ECC-A248-D059-6F95E099E3FB}"/>
              </a:ext>
            </a:extLst>
          </p:cNvPr>
          <p:cNvSpPr>
            <a:spLocks noGrp="1"/>
          </p:cNvSpPr>
          <p:nvPr>
            <p:ph type="sldNum" sz="quarter" idx="12"/>
          </p:nvPr>
        </p:nvSpPr>
        <p:spPr/>
        <p:txBody>
          <a:bodyPr/>
          <a:lstStyle/>
          <a:p>
            <a:fld id="{3B3216A1-BAFB-4293-B513-399F23912241}" type="slidenum">
              <a:rPr lang="zh-CN" altLang="en-US" smtClean="0"/>
              <a:t>‹#›</a:t>
            </a:fld>
            <a:endParaRPr lang="zh-CN" altLang="en-US"/>
          </a:p>
        </p:txBody>
      </p:sp>
    </p:spTree>
    <p:extLst>
      <p:ext uri="{BB962C8B-B14F-4D97-AF65-F5344CB8AC3E}">
        <p14:creationId xmlns:p14="http://schemas.microsoft.com/office/powerpoint/2010/main" val="172268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2237513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44326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8EC09-88D7-842B-B4FD-83871FFA267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6592D5E-0722-17B0-7DB8-CB0568188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001BF2B-74E6-86CC-6953-E5363CE2F3B6}"/>
              </a:ext>
            </a:extLst>
          </p:cNvPr>
          <p:cNvSpPr>
            <a:spLocks noGrp="1"/>
          </p:cNvSpPr>
          <p:nvPr>
            <p:ph type="dt" sz="half" idx="10"/>
          </p:nvPr>
        </p:nvSpPr>
        <p:spPr/>
        <p:txBody>
          <a:bodyPr/>
          <a:lstStyle/>
          <a:p>
            <a:fld id="{66AB02DA-C4B1-42F0-BF7A-714081F33071}"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A61EA6F5-E529-063B-3C0F-4B7CC8B2C2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D08C14-4BE4-188D-0DB6-259FE9C72992}"/>
              </a:ext>
            </a:extLst>
          </p:cNvPr>
          <p:cNvSpPr>
            <a:spLocks noGrp="1"/>
          </p:cNvSpPr>
          <p:nvPr>
            <p:ph type="sldNum" sz="quarter" idx="12"/>
          </p:nvPr>
        </p:nvSpPr>
        <p:spPr/>
        <p:txBody>
          <a:bodyPr/>
          <a:lstStyle/>
          <a:p>
            <a:fld id="{B40639A7-A25C-45B3-BC28-4234C13630D3}" type="slidenum">
              <a:rPr lang="zh-CN" altLang="en-US" smtClean="0"/>
              <a:t>‹#›</a:t>
            </a:fld>
            <a:endParaRPr lang="zh-CN" altLang="en-US"/>
          </a:p>
        </p:txBody>
      </p:sp>
    </p:spTree>
    <p:extLst>
      <p:ext uri="{BB962C8B-B14F-4D97-AF65-F5344CB8AC3E}">
        <p14:creationId xmlns:p14="http://schemas.microsoft.com/office/powerpoint/2010/main" val="40449400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660575-88BB-B3AE-A63F-8964D7B1386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0515F28-93EF-92E3-0EF9-650EC4AF2CF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80260C-CF18-943F-18FF-99D87DD87AE3}"/>
              </a:ext>
            </a:extLst>
          </p:cNvPr>
          <p:cNvSpPr>
            <a:spLocks noGrp="1"/>
          </p:cNvSpPr>
          <p:nvPr>
            <p:ph type="dt" sz="half" idx="10"/>
          </p:nvPr>
        </p:nvSpPr>
        <p:spPr/>
        <p:txBody>
          <a:bodyPr/>
          <a:lstStyle/>
          <a:p>
            <a:fld id="{59D9C70D-B7C8-466D-B87C-22D855EF72C6}"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421705DD-3F7F-A525-D5DB-83D7308A2E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2FD22A-4F3B-53A2-F7FE-2B94D46A00FD}"/>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13228024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A4192C-1116-2DFE-2447-76272EBCEED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C039DD1-A973-0CB7-4DB4-5E8D4CE557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BE4DF9B-06EC-6EA4-4A7D-7FE3A990BA2B}"/>
              </a:ext>
            </a:extLst>
          </p:cNvPr>
          <p:cNvSpPr>
            <a:spLocks noGrp="1"/>
          </p:cNvSpPr>
          <p:nvPr>
            <p:ph type="dt" sz="half" idx="10"/>
          </p:nvPr>
        </p:nvSpPr>
        <p:spPr/>
        <p:txBody>
          <a:bodyPr/>
          <a:lstStyle/>
          <a:p>
            <a:fld id="{59D9C70D-B7C8-466D-B87C-22D855EF72C6}"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78703156-C8E2-4E74-24EB-4AF3423395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3F0724-3CF4-2781-0A74-8EFDA1904255}"/>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25711599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DC4F7A-28DA-E955-B602-253C332D594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03A404-2ABC-2520-4E8F-13510121B8F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760AB8B-7FCE-18BE-9099-CC0D5A70D08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0C5695C-8CC3-76A0-602C-79E975458F64}"/>
              </a:ext>
            </a:extLst>
          </p:cNvPr>
          <p:cNvSpPr>
            <a:spLocks noGrp="1"/>
          </p:cNvSpPr>
          <p:nvPr>
            <p:ph type="dt" sz="half" idx="10"/>
          </p:nvPr>
        </p:nvSpPr>
        <p:spPr/>
        <p:txBody>
          <a:bodyPr/>
          <a:lstStyle/>
          <a:p>
            <a:fld id="{59D9C70D-B7C8-466D-B87C-22D855EF72C6}" type="datetimeFigureOut">
              <a:rPr lang="zh-CN" altLang="en-US" smtClean="0"/>
              <a:t>2025/9/10</a:t>
            </a:fld>
            <a:endParaRPr lang="zh-CN" altLang="en-US"/>
          </a:p>
        </p:txBody>
      </p:sp>
      <p:sp>
        <p:nvSpPr>
          <p:cNvPr id="6" name="页脚占位符 5">
            <a:extLst>
              <a:ext uri="{FF2B5EF4-FFF2-40B4-BE49-F238E27FC236}">
                <a16:creationId xmlns:a16="http://schemas.microsoft.com/office/drawing/2014/main" id="{DD161565-1DFD-F3EA-606C-4BEE956A09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FFA05D-D035-3C04-321D-16C710565A6A}"/>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3027625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64D174-A92F-2061-2DB5-8FEB0C578E2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057CE58-D882-78D4-FB98-3810435E6B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5D1909F-704F-5ACC-81CC-85DEB1403E3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8111619-DDCC-4C46-EC86-15007B8CBD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BD7D364-F1AB-B89A-5274-BC504315036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4773B9F-32BB-41C5-4B96-3D7227CCD6F3}"/>
              </a:ext>
            </a:extLst>
          </p:cNvPr>
          <p:cNvSpPr>
            <a:spLocks noGrp="1"/>
          </p:cNvSpPr>
          <p:nvPr>
            <p:ph type="dt" sz="half" idx="10"/>
          </p:nvPr>
        </p:nvSpPr>
        <p:spPr/>
        <p:txBody>
          <a:bodyPr/>
          <a:lstStyle/>
          <a:p>
            <a:fld id="{59D9C70D-B7C8-466D-B87C-22D855EF72C6}" type="datetimeFigureOut">
              <a:rPr lang="zh-CN" altLang="en-US" smtClean="0"/>
              <a:t>2025/9/10</a:t>
            </a:fld>
            <a:endParaRPr lang="zh-CN" altLang="en-US"/>
          </a:p>
        </p:txBody>
      </p:sp>
      <p:sp>
        <p:nvSpPr>
          <p:cNvPr id="8" name="页脚占位符 7">
            <a:extLst>
              <a:ext uri="{FF2B5EF4-FFF2-40B4-BE49-F238E27FC236}">
                <a16:creationId xmlns:a16="http://schemas.microsoft.com/office/drawing/2014/main" id="{69B57EEF-8749-A152-1815-12BB266C386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36B0CD0-2645-DDA3-04B9-A4EF2AF607ED}"/>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14948904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D43B2F-2787-07FE-A249-F846716F611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9F25AD5-299B-6419-BDD9-FFBD64A8636D}"/>
              </a:ext>
            </a:extLst>
          </p:cNvPr>
          <p:cNvSpPr>
            <a:spLocks noGrp="1"/>
          </p:cNvSpPr>
          <p:nvPr>
            <p:ph type="dt" sz="half" idx="10"/>
          </p:nvPr>
        </p:nvSpPr>
        <p:spPr/>
        <p:txBody>
          <a:bodyPr/>
          <a:lstStyle/>
          <a:p>
            <a:fld id="{59D9C70D-B7C8-466D-B87C-22D855EF72C6}" type="datetimeFigureOut">
              <a:rPr lang="zh-CN" altLang="en-US" smtClean="0"/>
              <a:t>2025/9/10</a:t>
            </a:fld>
            <a:endParaRPr lang="zh-CN" altLang="en-US"/>
          </a:p>
        </p:txBody>
      </p:sp>
      <p:sp>
        <p:nvSpPr>
          <p:cNvPr id="4" name="页脚占位符 3">
            <a:extLst>
              <a:ext uri="{FF2B5EF4-FFF2-40B4-BE49-F238E27FC236}">
                <a16:creationId xmlns:a16="http://schemas.microsoft.com/office/drawing/2014/main" id="{83E7FCC4-E618-0F9E-ECAC-90558038024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BBBD8E7-6841-B0CE-63AF-827FB22CBABB}"/>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27314623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A4B6167-61F6-C8F7-0233-E2937222C4B5}"/>
              </a:ext>
            </a:extLst>
          </p:cNvPr>
          <p:cNvSpPr>
            <a:spLocks noGrp="1"/>
          </p:cNvSpPr>
          <p:nvPr>
            <p:ph type="dt" sz="half" idx="10"/>
          </p:nvPr>
        </p:nvSpPr>
        <p:spPr/>
        <p:txBody>
          <a:bodyPr/>
          <a:lstStyle/>
          <a:p>
            <a:fld id="{9A777808-ED14-4426-99DB-3B4265319C79}" type="datetimeFigureOut">
              <a:rPr lang="zh-CN" altLang="en-US" smtClean="0"/>
              <a:t>2025/9/10</a:t>
            </a:fld>
            <a:endParaRPr lang="zh-CN" altLang="en-US"/>
          </a:p>
        </p:txBody>
      </p:sp>
      <p:sp>
        <p:nvSpPr>
          <p:cNvPr id="3" name="页脚占位符 2">
            <a:extLst>
              <a:ext uri="{FF2B5EF4-FFF2-40B4-BE49-F238E27FC236}">
                <a16:creationId xmlns:a16="http://schemas.microsoft.com/office/drawing/2014/main" id="{21997377-4D3E-1F97-71FE-0ABB97886AE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7848F2A-3ECC-A248-D059-6F95E099E3FB}"/>
              </a:ext>
            </a:extLst>
          </p:cNvPr>
          <p:cNvSpPr>
            <a:spLocks noGrp="1"/>
          </p:cNvSpPr>
          <p:nvPr>
            <p:ph type="sldNum" sz="quarter" idx="12"/>
          </p:nvPr>
        </p:nvSpPr>
        <p:spPr/>
        <p:txBody>
          <a:bodyPr/>
          <a:lstStyle/>
          <a:p>
            <a:fld id="{3B3216A1-BAFB-4293-B513-399F23912241}" type="slidenum">
              <a:rPr lang="zh-CN" altLang="en-US" smtClean="0"/>
              <a:t>‹#›</a:t>
            </a:fld>
            <a:endParaRPr lang="zh-CN" altLang="en-US"/>
          </a:p>
        </p:txBody>
      </p:sp>
    </p:spTree>
    <p:extLst>
      <p:ext uri="{BB962C8B-B14F-4D97-AF65-F5344CB8AC3E}">
        <p14:creationId xmlns:p14="http://schemas.microsoft.com/office/powerpoint/2010/main" val="22947584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71CA67-3E1D-2D03-8666-D4CB4488976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E27BE3A-9785-9024-27F7-F74089650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AFC72F-07F5-463F-85D5-D2B3BDF4CF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C69AF0-A022-F673-BEC3-B72B84BE8203}"/>
              </a:ext>
            </a:extLst>
          </p:cNvPr>
          <p:cNvSpPr>
            <a:spLocks noGrp="1"/>
          </p:cNvSpPr>
          <p:nvPr>
            <p:ph type="dt" sz="half" idx="10"/>
          </p:nvPr>
        </p:nvSpPr>
        <p:spPr/>
        <p:txBody>
          <a:bodyPr/>
          <a:lstStyle/>
          <a:p>
            <a:fld id="{59D9C70D-B7C8-466D-B87C-22D855EF72C6}" type="datetimeFigureOut">
              <a:rPr lang="zh-CN" altLang="en-US" smtClean="0"/>
              <a:t>2025/9/10</a:t>
            </a:fld>
            <a:endParaRPr lang="zh-CN" altLang="en-US"/>
          </a:p>
        </p:txBody>
      </p:sp>
      <p:sp>
        <p:nvSpPr>
          <p:cNvPr id="6" name="页脚占位符 5">
            <a:extLst>
              <a:ext uri="{FF2B5EF4-FFF2-40B4-BE49-F238E27FC236}">
                <a16:creationId xmlns:a16="http://schemas.microsoft.com/office/drawing/2014/main" id="{3258E332-3826-2FAE-4FF1-BB301926FF6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231A279-166A-1608-A4C4-09F47B28C9F8}"/>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3913588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02A913-3B94-1FFC-9D3A-E9986BA84A5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990EF19-0A28-EA51-0280-100CC57CF6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25A4E40-3DA5-BC5F-311C-0AA0022B8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0F27104-D2BA-5E15-F4A6-845BAA2D08B6}"/>
              </a:ext>
            </a:extLst>
          </p:cNvPr>
          <p:cNvSpPr>
            <a:spLocks noGrp="1"/>
          </p:cNvSpPr>
          <p:nvPr>
            <p:ph type="dt" sz="half" idx="10"/>
          </p:nvPr>
        </p:nvSpPr>
        <p:spPr/>
        <p:txBody>
          <a:bodyPr/>
          <a:lstStyle/>
          <a:p>
            <a:fld id="{59D9C70D-B7C8-466D-B87C-22D855EF72C6}" type="datetimeFigureOut">
              <a:rPr lang="zh-CN" altLang="en-US" smtClean="0"/>
              <a:t>2025/9/10</a:t>
            </a:fld>
            <a:endParaRPr lang="zh-CN" altLang="en-US"/>
          </a:p>
        </p:txBody>
      </p:sp>
      <p:sp>
        <p:nvSpPr>
          <p:cNvPr id="6" name="页脚占位符 5">
            <a:extLst>
              <a:ext uri="{FF2B5EF4-FFF2-40B4-BE49-F238E27FC236}">
                <a16:creationId xmlns:a16="http://schemas.microsoft.com/office/drawing/2014/main" id="{57786245-AD97-AF49-BA2A-C5FDFEA3E00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61FB440-9EBD-892F-8F90-4FA3EDED5B6F}"/>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9511259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260F42-9B02-D7F0-7EDA-A96FB9288B4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AB2F8E8-F22B-6640-CA3E-237DBA3620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E671711-7689-2327-B6FA-7E06DD2461DA}"/>
              </a:ext>
            </a:extLst>
          </p:cNvPr>
          <p:cNvSpPr>
            <a:spLocks noGrp="1"/>
          </p:cNvSpPr>
          <p:nvPr>
            <p:ph type="dt" sz="half" idx="10"/>
          </p:nvPr>
        </p:nvSpPr>
        <p:spPr/>
        <p:txBody>
          <a:bodyPr/>
          <a:lstStyle/>
          <a:p>
            <a:fld id="{59D9C70D-B7C8-466D-B87C-22D855EF72C6}"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F6161430-E4DE-21A5-C7CF-396C4C4D82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BFDEC1-762E-5009-389A-80F271A57850}"/>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26802238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E2D897C-AB94-E5E6-2B47-2E986536544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FACF963-9295-A7F0-B28B-4ABDC4ABE32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1EF9C1F-D02C-DBB7-E7AC-BB95D55D8103}"/>
              </a:ext>
            </a:extLst>
          </p:cNvPr>
          <p:cNvSpPr>
            <a:spLocks noGrp="1"/>
          </p:cNvSpPr>
          <p:nvPr>
            <p:ph type="dt" sz="half" idx="10"/>
          </p:nvPr>
        </p:nvSpPr>
        <p:spPr/>
        <p:txBody>
          <a:bodyPr/>
          <a:lstStyle/>
          <a:p>
            <a:fld id="{59D9C70D-B7C8-466D-B87C-22D855EF72C6}"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EEE1CE3F-4359-478A-F2ED-3ADD756788B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9492E14-A2A5-B912-2AEB-39B82FEFADB0}"/>
              </a:ext>
            </a:extLst>
          </p:cNvPr>
          <p:cNvSpPr>
            <a:spLocks noGrp="1"/>
          </p:cNvSpPr>
          <p:nvPr>
            <p:ph type="sldNum" sz="quarter" idx="12"/>
          </p:nvPr>
        </p:nvSpPr>
        <p:spPr/>
        <p:txBody>
          <a:body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26079790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extLst>
      <p:ext uri="{BB962C8B-B14F-4D97-AF65-F5344CB8AC3E}">
        <p14:creationId xmlns:p14="http://schemas.microsoft.com/office/powerpoint/2010/main" val="7023034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6355054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extLst>
      <p:ext uri="{BB962C8B-B14F-4D97-AF65-F5344CB8AC3E}">
        <p14:creationId xmlns:p14="http://schemas.microsoft.com/office/powerpoint/2010/main" val="211522646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4.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5.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6.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资源 1"/>
          <p:cNvPicPr>
            <a:picLocks noChangeAspect="1"/>
          </p:cNvPicPr>
          <p:nvPr userDrawn="1"/>
        </p:nvPicPr>
        <p:blipFill>
          <a:blip r:embed="rId5"/>
          <a:stretch>
            <a:fillRect/>
          </a:stretch>
        </p:blipFill>
        <p:spPr>
          <a:xfrm>
            <a:off x="9857105" y="5573395"/>
            <a:ext cx="2054860" cy="807085"/>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2800" kern="1200">
          <a:solidFill>
            <a:srgbClr val="CA171D"/>
          </a:solidFill>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60000"/>
            <a:lumOff val="40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60000"/>
            <a:lumOff val="40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823" r:id="rId2"/>
    <p:sldLayoutId id="2147483824" r:id="rId3"/>
    <p:sldLayoutId id="2147483825" r:id="rId4"/>
    <p:sldLayoutId id="214748382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DF233C-BC11-C839-BDFB-DDBDA3FBA1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22C0357-F902-D1D1-AD3F-ECA9BC0596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5AA8FEC-8B7C-6512-95A4-48809B0BD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2025/9/10</a:t>
            </a:fld>
            <a:endParaRPr lang="zh-CN" altLang="en-US"/>
          </a:p>
        </p:txBody>
      </p:sp>
      <p:sp>
        <p:nvSpPr>
          <p:cNvPr id="5" name="页脚占位符 4">
            <a:extLst>
              <a:ext uri="{FF2B5EF4-FFF2-40B4-BE49-F238E27FC236}">
                <a16:creationId xmlns:a16="http://schemas.microsoft.com/office/drawing/2014/main" id="{A9796E44-6E13-B305-7B8A-7AFEFC3D21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6A92DC2-F085-23A2-1F61-1EBB0F608A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extLst>
      <p:ext uri="{BB962C8B-B14F-4D97-AF65-F5344CB8AC3E}">
        <p14:creationId xmlns:p14="http://schemas.microsoft.com/office/powerpoint/2010/main" val="4059522925"/>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8" Type="http://schemas.openxmlformats.org/officeDocument/2006/relationships/tags" Target="../tags/tag19.xml"/><Relationship Id="rId3" Type="http://schemas.openxmlformats.org/officeDocument/2006/relationships/tags" Target="../tags/tag14.xml"/><Relationship Id="rId7" Type="http://schemas.openxmlformats.org/officeDocument/2006/relationships/tags" Target="../tags/tag1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10" Type="http://schemas.openxmlformats.org/officeDocument/2006/relationships/notesSlide" Target="../notesSlides/notesSlide1.xml"/><Relationship Id="rId4" Type="http://schemas.openxmlformats.org/officeDocument/2006/relationships/tags" Target="../tags/tag15.xml"/><Relationship Id="rId9"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2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1.jpeg"/><Relationship Id="rId1" Type="http://schemas.openxmlformats.org/officeDocument/2006/relationships/slideLayout" Target="../slideLayouts/slideLayout27.xml"/><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ags" Target="../tags/tag2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7.xml"/><Relationship Id="rId1" Type="http://schemas.openxmlformats.org/officeDocument/2006/relationships/tags" Target="../tags/tag2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7.xml"/><Relationship Id="rId1" Type="http://schemas.openxmlformats.org/officeDocument/2006/relationships/tags" Target="../tags/tag2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7.xml"/><Relationship Id="rId1" Type="http://schemas.openxmlformats.org/officeDocument/2006/relationships/tags" Target="../tags/tag23.xml"/><Relationship Id="rId5" Type="http://schemas.openxmlformats.org/officeDocument/2006/relationships/image" Target="../media/image17.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7.xml"/><Relationship Id="rId1" Type="http://schemas.openxmlformats.org/officeDocument/2006/relationships/tags" Target="../tags/tag24.xml"/></Relationships>
</file>

<file path=ppt/slides/_rels/slide20.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notesSlide" Target="../notesSlides/notesSlide10.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slideLayout" Target="../slideLayouts/slideLayout27.xml"/><Relationship Id="rId2" Type="http://schemas.openxmlformats.org/officeDocument/2006/relationships/tags" Target="../tags/tag26.xml"/><Relationship Id="rId16" Type="http://schemas.openxmlformats.org/officeDocument/2006/relationships/tags" Target="../tags/tag40.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image" Target="../media/image21.png"/><Relationship Id="rId2" Type="http://schemas.openxmlformats.org/officeDocument/2006/relationships/tags" Target="../tags/tag42.xml"/><Relationship Id="rId16" Type="http://schemas.openxmlformats.org/officeDocument/2006/relationships/tags" Target="../tags/tag470.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slideLayout" Target="../slideLayouts/slideLayout27.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7.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7.xml"/><Relationship Id="rId5" Type="http://schemas.openxmlformats.org/officeDocument/2006/relationships/image" Target="../media/image26.emf"/><Relationship Id="rId4" Type="http://schemas.openxmlformats.org/officeDocument/2006/relationships/image" Target="../media/image250.png"/></Relationships>
</file>

<file path=ppt/slides/_rels/slide3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20.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21.xml"/></Relationships>
</file>

<file path=ppt/slides/_rels/slide41.xml.rels><?xml version="1.0" encoding="UTF-8" standalone="yes"?>
<Relationships xmlns="http://schemas.openxmlformats.org/package/2006/relationships"><Relationship Id="rId8" Type="http://schemas.openxmlformats.org/officeDocument/2006/relationships/tags" Target="../tags/tag70.xml"/><Relationship Id="rId3" Type="http://schemas.openxmlformats.org/officeDocument/2006/relationships/tags" Target="../tags/tag65.xml"/><Relationship Id="rId7" Type="http://schemas.openxmlformats.org/officeDocument/2006/relationships/tags" Target="../tags/tag69.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9"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71.xml"/><Relationship Id="rId4" Type="http://schemas.openxmlformats.org/officeDocument/2006/relationships/image" Target="../media/image32.emf"/></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7.xml"/><Relationship Id="rId1" Type="http://schemas.openxmlformats.org/officeDocument/2006/relationships/tags" Target="../tags/tag74.xml"/></Relationships>
</file>

<file path=ppt/slides/_rels/slide4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7.xml"/><Relationship Id="rId1" Type="http://schemas.openxmlformats.org/officeDocument/2006/relationships/tags" Target="../tags/tag75.xml"/><Relationship Id="rId5" Type="http://schemas.openxmlformats.org/officeDocument/2006/relationships/image" Target="../media/image44.png"/><Relationship Id="rId4" Type="http://schemas.openxmlformats.org/officeDocument/2006/relationships/image" Target="../media/image43.png"/></Relationships>
</file>

<file path=ppt/slides/_rels/slide4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27.xml"/><Relationship Id="rId4" Type="http://schemas.openxmlformats.org/officeDocument/2006/relationships/image" Target="../media/image47.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51.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tags" Target="../tags/tag88.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image" Target="../media/image48.png"/><Relationship Id="rId2" Type="http://schemas.openxmlformats.org/officeDocument/2006/relationships/tags" Target="../tags/tag77.xml"/><Relationship Id="rId16" Type="http://schemas.openxmlformats.org/officeDocument/2006/relationships/notesSlide" Target="../notesSlides/notesSlide27.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slideLayout" Target="../slideLayouts/slideLayout27.xml"/><Relationship Id="rId10" Type="http://schemas.openxmlformats.org/officeDocument/2006/relationships/tags" Target="../tags/tag85.xml"/><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tags" Target="../tags/tag8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tags" Target="../tags/tag90.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tags" Target="../tags/tag9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tags" Target="../tags/tag9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无线网络规划与优化</a:t>
            </a:r>
            <a:r>
              <a:rPr lang="en-US" altLang="zh-CN"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20"/>
          <p:cNvSpPr/>
          <p:nvPr/>
        </p:nvSpPr>
        <p:spPr>
          <a:xfrm>
            <a:off x="2813044" y="2277357"/>
            <a:ext cx="6754289" cy="1631089"/>
          </a:xfrm>
          <a:prstGeom prst="roundRect">
            <a:avLst>
              <a:gd name="adj" fmla="val 6740"/>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5" name="圆角矩形 17"/>
          <p:cNvSpPr/>
          <p:nvPr/>
        </p:nvSpPr>
        <p:spPr>
          <a:xfrm>
            <a:off x="3410072" y="2026113"/>
            <a:ext cx="5219376" cy="513864"/>
          </a:xfrm>
          <a:prstGeom prst="roundRect">
            <a:avLst/>
          </a:prstGeom>
          <a:solidFill>
            <a:srgbClr val="C91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6" name="文本框 5"/>
          <p:cNvSpPr txBox="1"/>
          <p:nvPr/>
        </p:nvSpPr>
        <p:spPr>
          <a:xfrm>
            <a:off x="3588150" y="2082706"/>
            <a:ext cx="4652692" cy="348429"/>
          </a:xfrm>
          <a:prstGeom prst="rect">
            <a:avLst/>
          </a:prstGeom>
          <a:noFill/>
        </p:spPr>
        <p:txBody>
          <a:bodyPr wrap="square" rtlCol="0">
            <a:spAutoFit/>
          </a:bodyPr>
          <a:lstStyle/>
          <a:p>
            <a:pPr algn="dist"/>
            <a:r>
              <a:rPr kumimoji="1" lang="zh-CN" altLang="en-US" sz="1665" dirty="0">
                <a:solidFill>
                  <a:schemeClr val="bg1"/>
                </a:solidFill>
                <a:latin typeface="微软雅黑" panose="020B0503020204020204" charset="-122"/>
                <a:ea typeface="微软雅黑" panose="020B0503020204020204" charset="-122"/>
                <a:cs typeface="微软雅黑" panose="020B0503020204020204" charset="-122"/>
              </a:rPr>
              <a:t>理论篇</a:t>
            </a:r>
          </a:p>
        </p:txBody>
      </p:sp>
      <p:sp>
        <p:nvSpPr>
          <p:cNvPr id="7" name="文本框 6"/>
          <p:cNvSpPr txBox="1"/>
          <p:nvPr/>
        </p:nvSpPr>
        <p:spPr>
          <a:xfrm>
            <a:off x="2793541" y="2783065"/>
            <a:ext cx="6773792" cy="882293"/>
          </a:xfrm>
          <a:prstGeom prst="rect">
            <a:avLst/>
          </a:prstGeom>
          <a:noFill/>
        </p:spPr>
        <p:txBody>
          <a:bodyPr wrap="square" rtlCol="0">
            <a:spAutoFit/>
          </a:bodyPr>
          <a:lstStyle/>
          <a:p>
            <a:pPr algn="dist">
              <a:lnSpc>
                <a:spcPct val="120000"/>
              </a:lnSpc>
            </a:pPr>
            <a:r>
              <a:rPr kumimoji="1" lang="zh-CN" altLang="en-US" sz="4280" b="1" dirty="0">
                <a:latin typeface="微软雅黑" panose="020B0503020204020204" charset="-122"/>
                <a:ea typeface="微软雅黑" panose="020B0503020204020204" charset="-122"/>
                <a:cs typeface="微软雅黑" panose="020B0503020204020204" charset="-122"/>
              </a:rPr>
              <a:t>项目二： </a:t>
            </a:r>
            <a:r>
              <a:rPr kumimoji="1" lang="en-US" altLang="zh-CN" sz="4280" b="1" dirty="0">
                <a:latin typeface="微软雅黑" panose="020B0503020204020204" charset="-122"/>
                <a:ea typeface="微软雅黑" panose="020B0503020204020204" charset="-122"/>
                <a:cs typeface="微软雅黑" panose="020B0503020204020204" charset="-122"/>
              </a:rPr>
              <a:t>LTE</a:t>
            </a:r>
            <a:r>
              <a:rPr kumimoji="1" lang="zh-CN" altLang="en-US" sz="4280" b="1" dirty="0">
                <a:latin typeface="微软雅黑" panose="020B0503020204020204" charset="-122"/>
                <a:ea typeface="微软雅黑" panose="020B0503020204020204" charset="-122"/>
                <a:cs typeface="微软雅黑" panose="020B0503020204020204" charset="-122"/>
              </a:rPr>
              <a:t>无线网络规划</a:t>
            </a:r>
          </a:p>
        </p:txBody>
      </p:sp>
      <p:sp>
        <p:nvSpPr>
          <p:cNvPr id="8" name="椭圆 7"/>
          <p:cNvSpPr/>
          <p:nvPr/>
        </p:nvSpPr>
        <p:spPr>
          <a:xfrm>
            <a:off x="7477216" y="3858754"/>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
        <p:nvSpPr>
          <p:cNvPr id="9" name="椭圆 8"/>
          <p:cNvSpPr/>
          <p:nvPr/>
        </p:nvSpPr>
        <p:spPr>
          <a:xfrm>
            <a:off x="4626442" y="3852717"/>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grpSp>
        <p:nvGrpSpPr>
          <p:cNvPr id="4" name="组合 3"/>
          <p:cNvGrpSpPr/>
          <p:nvPr>
            <p:custDataLst>
              <p:tags r:id="rId1"/>
            </p:custDataLst>
          </p:nvPr>
        </p:nvGrpSpPr>
        <p:grpSpPr>
          <a:xfrm>
            <a:off x="1064895" y="1640307"/>
            <a:ext cx="9204894" cy="1819946"/>
            <a:chOff x="1689815" y="2549185"/>
            <a:chExt cx="9204894" cy="1819946"/>
          </a:xfrm>
        </p:grpSpPr>
        <p:sp>
          <p:nvSpPr>
            <p:cNvPr id="5" name="矩形 4"/>
            <p:cNvSpPr/>
            <p:nvPr>
              <p:custDataLst>
                <p:tags r:id="rId6"/>
              </p:custDataLst>
            </p:nvPr>
          </p:nvSpPr>
          <p:spPr>
            <a:xfrm>
              <a:off x="1794590" y="2662236"/>
              <a:ext cx="547687" cy="5667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01</a:t>
              </a:r>
              <a:endParaRPr lang="zh-CN" altLang="en-US" sz="1800" b="1" dirty="0">
                <a:solidFill>
                  <a:schemeClr val="bg1"/>
                </a:solidFill>
                <a:latin typeface="+mj-lt"/>
                <a:cs typeface="+mj-lt"/>
                <a:sym typeface="Arial" panose="020B0604020202020204" pitchFamily="34" charset="0"/>
              </a:endParaRPr>
            </a:p>
          </p:txBody>
        </p:sp>
        <p:sp>
          <p:nvSpPr>
            <p:cNvPr id="6" name="任意多边形 5"/>
            <p:cNvSpPr/>
            <p:nvPr>
              <p:custDataLst>
                <p:tags r:id="rId7"/>
              </p:custDataLst>
            </p:nvPr>
          </p:nvSpPr>
          <p:spPr>
            <a:xfrm>
              <a:off x="1689815" y="2553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anose="020B0604020202020204" pitchFamily="34" charset="0"/>
              </a:endParaRPr>
            </a:p>
          </p:txBody>
        </p:sp>
        <p:sp>
          <p:nvSpPr>
            <p:cNvPr id="7" name="文本框 6"/>
            <p:cNvSpPr txBox="1"/>
            <p:nvPr>
              <p:custDataLst>
                <p:tags r:id="rId8"/>
              </p:custDataLst>
            </p:nvPr>
          </p:nvSpPr>
          <p:spPr>
            <a:xfrm>
              <a:off x="2551827" y="2549185"/>
              <a:ext cx="8342882" cy="1819946"/>
            </a:xfrm>
            <a:prstGeom prst="rect">
              <a:avLst/>
            </a:prstGeom>
            <a:noFill/>
          </p:spPr>
          <p:txBody>
            <a:bodyPr wrap="square" lIns="0" tIns="0" rIns="0" bIns="0" rtlCol="0" anchor="ctr" anchorCtr="0">
              <a:noAutofit/>
            </a:bodyPr>
            <a:lstStyle/>
            <a:p>
              <a:pPr>
                <a:lnSpc>
                  <a:spcPts val="2800"/>
                </a:lnSpc>
              </a:pPr>
              <a:r>
                <a:rPr lang="zh-CN" altLang="en-US" sz="2000" b="1" dirty="0">
                  <a:latin typeface="微软雅黑" panose="020B0503020204020204" charset="-122"/>
                  <a:ea typeface="微软雅黑" panose="020B0503020204020204" charset="-122"/>
                </a:rPr>
                <a:t>任务描述</a:t>
              </a:r>
              <a:r>
                <a:rPr lang="en-US" altLang="zh-CN" sz="2000" b="1" dirty="0">
                  <a:latin typeface="微软雅黑" panose="020B0503020204020204" charset="-122"/>
                  <a:ea typeface="微软雅黑" panose="020B0503020204020204" charset="-122"/>
                </a:rPr>
                <a:t>:</a:t>
              </a:r>
            </a:p>
            <a:p>
              <a:pPr>
                <a:lnSpc>
                  <a:spcPts val="2800"/>
                </a:lnSpc>
              </a:pPr>
              <a:r>
                <a:rPr lang="zh-CN" altLang="en-US" dirty="0">
                  <a:latin typeface="微软雅黑" panose="020B0503020204020204" charset="-122"/>
                </a:rPr>
                <a:t>本任务介绍</a:t>
              </a:r>
              <a:r>
                <a:rPr lang="en-US" altLang="zh-CN" dirty="0">
                  <a:latin typeface="微软雅黑" panose="020B0503020204020204" charset="-122"/>
                </a:rPr>
                <a:t>LTE</a:t>
              </a:r>
              <a:r>
                <a:rPr lang="zh-CN" altLang="en-US" dirty="0">
                  <a:latin typeface="微软雅黑" panose="020B0503020204020204" charset="-122"/>
                </a:rPr>
                <a:t>覆盖规划、</a:t>
              </a:r>
              <a:r>
                <a:rPr lang="en-US" altLang="zh-CN" dirty="0">
                  <a:latin typeface="微软雅黑" panose="020B0503020204020204" charset="-122"/>
                </a:rPr>
                <a:t>LTE</a:t>
              </a:r>
              <a:r>
                <a:rPr lang="zh-CN" altLang="en-US" dirty="0">
                  <a:latin typeface="微软雅黑" panose="020B0503020204020204" charset="-122"/>
                </a:rPr>
                <a:t>容量规划以及</a:t>
              </a:r>
              <a:r>
                <a:rPr lang="en-US" altLang="zh-CN" dirty="0">
                  <a:latin typeface="微软雅黑" panose="020B0503020204020204" charset="-122"/>
                </a:rPr>
                <a:t>LTE</a:t>
              </a:r>
              <a:r>
                <a:rPr lang="zh-CN" altLang="en-US" dirty="0">
                  <a:latin typeface="微软雅黑" panose="020B0503020204020204" charset="-122"/>
                </a:rPr>
                <a:t>参数规划的内容。</a:t>
              </a:r>
              <a:r>
                <a:rPr lang="en-US" altLang="zh-CN" dirty="0">
                  <a:latin typeface="微软雅黑" panose="020B0503020204020204" charset="-122"/>
                </a:rPr>
                <a:t>LTE</a:t>
              </a:r>
              <a:r>
                <a:rPr lang="zh-CN" altLang="en-US" dirty="0">
                  <a:latin typeface="微软雅黑" panose="020B0503020204020204" charset="-122"/>
                </a:rPr>
                <a:t>覆盖规划是无线网络规划的核心内容，主要包括室外覆盖规划和室内覆盖规划。</a:t>
              </a:r>
              <a:r>
                <a:rPr lang="en-US" altLang="zh-CN" dirty="0">
                  <a:latin typeface="微软雅黑" panose="020B0503020204020204" charset="-122"/>
                </a:rPr>
                <a:t>LTE</a:t>
              </a:r>
              <a:r>
                <a:rPr lang="zh-CN" altLang="en-US" dirty="0">
                  <a:latin typeface="微软雅黑" panose="020B0503020204020204" charset="-122"/>
                </a:rPr>
                <a:t>容量规划是在覆盖规划结果基础上进行的，根据容量要求确定最终的目标基站数量和配置。</a:t>
              </a:r>
              <a:r>
                <a:rPr lang="en-US" altLang="zh-CN" dirty="0">
                  <a:latin typeface="微软雅黑" panose="020B0503020204020204" charset="-122"/>
                </a:rPr>
                <a:t>LTE</a:t>
              </a:r>
              <a:r>
                <a:rPr lang="zh-CN" altLang="en-US" dirty="0">
                  <a:latin typeface="微软雅黑" panose="020B0503020204020204" charset="-122"/>
                </a:rPr>
                <a:t>参数规划是无线网络规划的最后内容，主要涉及</a:t>
              </a:r>
              <a:r>
                <a:rPr lang="en-US" altLang="zh-CN" dirty="0">
                  <a:latin typeface="微软雅黑" panose="020B0503020204020204" charset="-122"/>
                </a:rPr>
                <a:t>LTE</a:t>
              </a:r>
              <a:r>
                <a:rPr lang="zh-CN" altLang="en-US" dirty="0">
                  <a:latin typeface="微软雅黑" panose="020B0503020204020204" charset="-122"/>
                </a:rPr>
                <a:t>小区</a:t>
              </a:r>
              <a:r>
                <a:rPr lang="en-US" altLang="zh-CN" dirty="0">
                  <a:latin typeface="微软雅黑" panose="020B0503020204020204" charset="-122"/>
                </a:rPr>
                <a:t>ID</a:t>
              </a:r>
              <a:r>
                <a:rPr lang="zh-CN" altLang="en-US" dirty="0">
                  <a:latin typeface="微软雅黑" panose="020B0503020204020204" charset="-122"/>
                </a:rPr>
                <a:t>规划、跟踪区</a:t>
              </a:r>
              <a:r>
                <a:rPr lang="en-US" altLang="zh-CN" dirty="0">
                  <a:latin typeface="微软雅黑" panose="020B0503020204020204" charset="-122"/>
                </a:rPr>
                <a:t>TA</a:t>
              </a:r>
              <a:r>
                <a:rPr lang="zh-CN" altLang="en-US" dirty="0">
                  <a:latin typeface="微软雅黑" panose="020B0503020204020204" charset="-122"/>
                </a:rPr>
                <a:t>、物理小区</a:t>
              </a:r>
              <a:r>
                <a:rPr lang="en-US" altLang="zh-CN" dirty="0">
                  <a:latin typeface="微软雅黑" panose="020B0503020204020204" charset="-122"/>
                </a:rPr>
                <a:t>ID PCI</a:t>
              </a:r>
              <a:r>
                <a:rPr lang="zh-CN" altLang="en-US" dirty="0">
                  <a:latin typeface="微软雅黑" panose="020B0503020204020204" charset="-122"/>
                </a:rPr>
                <a:t>、</a:t>
              </a:r>
              <a:r>
                <a:rPr lang="en-US" altLang="zh-CN" dirty="0">
                  <a:latin typeface="微软雅黑" panose="020B0503020204020204" charset="-122"/>
                </a:rPr>
                <a:t>PRACH</a:t>
              </a:r>
              <a:r>
                <a:rPr lang="zh-CN" altLang="en-US" dirty="0">
                  <a:latin typeface="微软雅黑" panose="020B0503020204020204" charset="-122"/>
                </a:rPr>
                <a:t>规划等。</a:t>
              </a:r>
              <a:endParaRPr lang="en-US" altLang="zh-CN" dirty="0">
                <a:solidFill>
                  <a:schemeClr val="tx1"/>
                </a:solidFill>
                <a:latin typeface="微软雅黑" panose="020B0503020204020204" charset="-122"/>
                <a:ea typeface="微软雅黑" panose="020B0503020204020204" charset="-122"/>
                <a:cs typeface="+mj-cs"/>
                <a:sym typeface="+mn-ea"/>
              </a:endParaRPr>
            </a:p>
          </p:txBody>
        </p:sp>
      </p:grpSp>
      <p:grpSp>
        <p:nvGrpSpPr>
          <p:cNvPr id="8" name="组合 7"/>
          <p:cNvGrpSpPr/>
          <p:nvPr>
            <p:custDataLst>
              <p:tags r:id="rId2"/>
            </p:custDataLst>
          </p:nvPr>
        </p:nvGrpSpPr>
        <p:grpSpPr>
          <a:xfrm>
            <a:off x="1064895" y="3859997"/>
            <a:ext cx="9111760" cy="1843890"/>
            <a:chOff x="1689815" y="3450029"/>
            <a:chExt cx="9111760" cy="1843890"/>
          </a:xfrm>
        </p:grpSpPr>
        <p:sp>
          <p:nvSpPr>
            <p:cNvPr id="9" name="矩形 8"/>
            <p:cNvSpPr/>
            <p:nvPr>
              <p:custDataLst>
                <p:tags r:id="rId3"/>
              </p:custDataLst>
            </p:nvPr>
          </p:nvSpPr>
          <p:spPr>
            <a:xfrm>
              <a:off x="1794590" y="3805236"/>
              <a:ext cx="547687" cy="566738"/>
            </a:xfrm>
            <a:prstGeom prst="rect">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02</a:t>
              </a:r>
              <a:endParaRPr lang="zh-CN" altLang="en-US" dirty="0">
                <a:solidFill>
                  <a:schemeClr val="bg1"/>
                </a:solidFill>
                <a:sym typeface="Arial" panose="020B0604020202020204" pitchFamily="34" charset="0"/>
              </a:endParaRPr>
            </a:p>
          </p:txBody>
        </p:sp>
        <p:sp>
          <p:nvSpPr>
            <p:cNvPr id="10" name="任意多边形 9"/>
            <p:cNvSpPr/>
            <p:nvPr>
              <p:custDataLst>
                <p:tags r:id="rId4"/>
              </p:custDataLst>
            </p:nvPr>
          </p:nvSpPr>
          <p:spPr>
            <a:xfrm>
              <a:off x="1689815" y="3696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anose="020B0604020202020204" pitchFamily="34" charset="0"/>
              </a:endParaRPr>
            </a:p>
          </p:txBody>
        </p:sp>
        <p:sp>
          <p:nvSpPr>
            <p:cNvPr id="11" name="文本框 10"/>
            <p:cNvSpPr txBox="1"/>
            <p:nvPr>
              <p:custDataLst>
                <p:tags r:id="rId5"/>
              </p:custDataLst>
            </p:nvPr>
          </p:nvSpPr>
          <p:spPr>
            <a:xfrm>
              <a:off x="2551827" y="3450029"/>
              <a:ext cx="8249748" cy="1843890"/>
            </a:xfrm>
            <a:prstGeom prst="rect">
              <a:avLst/>
            </a:prstGeom>
            <a:noFill/>
          </p:spPr>
          <p:txBody>
            <a:bodyPr wrap="square" lIns="0" tIns="0" rIns="0" bIns="0" rtlCol="0" anchor="ctr" anchorCtr="0">
              <a:normAutofit/>
            </a:bodyPr>
            <a:lstStyle/>
            <a:p>
              <a:pPr>
                <a:lnSpc>
                  <a:spcPts val="2800"/>
                </a:lnSpc>
              </a:pPr>
              <a:r>
                <a:rPr lang="zh-CN" altLang="en-US" sz="2000" b="1" dirty="0">
                  <a:latin typeface="微软雅黑" panose="020B0503020204020204" charset="-122"/>
                  <a:ea typeface="微软雅黑" panose="020B0503020204020204" charset="-122"/>
                </a:rPr>
                <a:t>学习目标：</a:t>
              </a:r>
              <a:endParaRPr lang="en-US" altLang="zh-CN" sz="2000" b="1" dirty="0">
                <a:latin typeface="微软雅黑" panose="020B0503020204020204" charset="-122"/>
                <a:ea typeface="微软雅黑" panose="020B0503020204020204" charset="-122"/>
              </a:endParaRP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熟悉覆盖规划的流程、链路预算、传播模型、网络覆盖要求。</a:t>
              </a: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熟悉容量规划的流程及容量规划工具。</a:t>
              </a: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掌握</a:t>
              </a:r>
              <a:r>
                <a:rPr lang="en-US" altLang="zh-CN" dirty="0">
                  <a:solidFill>
                    <a:schemeClr val="tx1">
                      <a:lumMod val="95000"/>
                      <a:lumOff val="5000"/>
                    </a:schemeClr>
                  </a:solidFill>
                  <a:latin typeface="微软雅黑" panose="020B0503020204020204" charset="-122"/>
                  <a:cs typeface="+mj-cs"/>
                  <a:sym typeface="+mn-ea"/>
                </a:rPr>
                <a:t>LTE</a:t>
              </a:r>
              <a:r>
                <a:rPr lang="zh-CN" altLang="en-US" dirty="0">
                  <a:solidFill>
                    <a:schemeClr val="tx1">
                      <a:lumMod val="95000"/>
                      <a:lumOff val="5000"/>
                    </a:schemeClr>
                  </a:solidFill>
                  <a:latin typeface="微软雅黑" panose="020B0503020204020204" charset="-122"/>
                  <a:cs typeface="+mj-cs"/>
                  <a:sym typeface="+mn-ea"/>
                </a:rPr>
                <a:t>小区</a:t>
              </a:r>
              <a:r>
                <a:rPr lang="en-US" altLang="zh-CN" dirty="0">
                  <a:solidFill>
                    <a:schemeClr val="tx1">
                      <a:lumMod val="95000"/>
                      <a:lumOff val="5000"/>
                    </a:schemeClr>
                  </a:solidFill>
                  <a:latin typeface="微软雅黑" panose="020B0503020204020204" charset="-122"/>
                  <a:cs typeface="+mj-cs"/>
                  <a:sym typeface="+mn-ea"/>
                </a:rPr>
                <a:t>ID</a:t>
              </a:r>
              <a:r>
                <a:rPr lang="zh-CN" altLang="en-US" dirty="0">
                  <a:solidFill>
                    <a:schemeClr val="tx1">
                      <a:lumMod val="95000"/>
                      <a:lumOff val="5000"/>
                    </a:schemeClr>
                  </a:solidFill>
                  <a:latin typeface="微软雅黑" panose="020B0503020204020204" charset="-122"/>
                  <a:cs typeface="+mj-cs"/>
                  <a:sym typeface="+mn-ea"/>
                </a:rPr>
                <a:t>规划、跟踪区</a:t>
              </a:r>
              <a:r>
                <a:rPr lang="en-US" altLang="zh-CN" dirty="0">
                  <a:solidFill>
                    <a:schemeClr val="tx1">
                      <a:lumMod val="95000"/>
                      <a:lumOff val="5000"/>
                    </a:schemeClr>
                  </a:solidFill>
                  <a:latin typeface="微软雅黑" panose="020B0503020204020204" charset="-122"/>
                  <a:cs typeface="+mj-cs"/>
                  <a:sym typeface="+mn-ea"/>
                </a:rPr>
                <a:t>TA</a:t>
              </a:r>
              <a:r>
                <a:rPr lang="zh-CN" altLang="en-US" dirty="0">
                  <a:solidFill>
                    <a:schemeClr val="tx1">
                      <a:lumMod val="95000"/>
                      <a:lumOff val="5000"/>
                    </a:schemeClr>
                  </a:solidFill>
                  <a:latin typeface="微软雅黑" panose="020B0503020204020204" charset="-122"/>
                  <a:cs typeface="+mj-cs"/>
                  <a:sym typeface="+mn-ea"/>
                </a:rPr>
                <a:t>、物理小区</a:t>
              </a:r>
              <a:r>
                <a:rPr lang="en-US" altLang="zh-CN" dirty="0">
                  <a:solidFill>
                    <a:schemeClr val="tx1">
                      <a:lumMod val="95000"/>
                      <a:lumOff val="5000"/>
                    </a:schemeClr>
                  </a:solidFill>
                  <a:latin typeface="微软雅黑" panose="020B0503020204020204" charset="-122"/>
                  <a:cs typeface="+mj-cs"/>
                  <a:sym typeface="+mn-ea"/>
                </a:rPr>
                <a:t>ID PCI</a:t>
              </a:r>
              <a:r>
                <a:rPr lang="zh-CN" altLang="en-US" dirty="0">
                  <a:solidFill>
                    <a:schemeClr val="tx1">
                      <a:lumMod val="95000"/>
                      <a:lumOff val="5000"/>
                    </a:schemeClr>
                  </a:solidFill>
                  <a:latin typeface="微软雅黑" panose="020B0503020204020204" charset="-122"/>
                  <a:cs typeface="+mj-cs"/>
                  <a:sym typeface="+mn-ea"/>
                </a:rPr>
                <a:t>、</a:t>
              </a:r>
              <a:r>
                <a:rPr lang="en-US" altLang="zh-CN" dirty="0">
                  <a:solidFill>
                    <a:schemeClr val="tx1">
                      <a:lumMod val="95000"/>
                      <a:lumOff val="5000"/>
                    </a:schemeClr>
                  </a:solidFill>
                  <a:latin typeface="微软雅黑" panose="020B0503020204020204" charset="-122"/>
                  <a:cs typeface="+mj-cs"/>
                  <a:sym typeface="+mn-ea"/>
                </a:rPr>
                <a:t>PRACH</a:t>
              </a:r>
              <a:r>
                <a:rPr lang="zh-CN" altLang="en-US" dirty="0">
                  <a:solidFill>
                    <a:schemeClr val="tx1">
                      <a:lumMod val="95000"/>
                      <a:lumOff val="5000"/>
                    </a:schemeClr>
                  </a:solidFill>
                  <a:latin typeface="微软雅黑" panose="020B0503020204020204" charset="-122"/>
                  <a:cs typeface="+mj-cs"/>
                  <a:sym typeface="+mn-ea"/>
                </a:rPr>
                <a:t>规划的原则。</a:t>
              </a: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掌握</a:t>
              </a:r>
              <a:r>
                <a:rPr lang="en-US" altLang="zh-CN" dirty="0">
                  <a:solidFill>
                    <a:schemeClr val="tx1">
                      <a:lumMod val="95000"/>
                      <a:lumOff val="5000"/>
                    </a:schemeClr>
                  </a:solidFill>
                  <a:latin typeface="微软雅黑" panose="020B0503020204020204" charset="-122"/>
                  <a:cs typeface="+mj-cs"/>
                  <a:sym typeface="+mn-ea"/>
                </a:rPr>
                <a:t>MapInfo</a:t>
              </a:r>
              <a:r>
                <a:rPr lang="zh-CN" altLang="en-US" dirty="0">
                  <a:solidFill>
                    <a:schemeClr val="tx1">
                      <a:lumMod val="95000"/>
                      <a:lumOff val="5000"/>
                    </a:schemeClr>
                  </a:solidFill>
                  <a:latin typeface="微软雅黑" panose="020B0503020204020204" charset="-122"/>
                  <a:cs typeface="+mj-cs"/>
                  <a:sym typeface="+mn-ea"/>
                </a:rPr>
                <a:t>软件在网络规划中的常规操作。</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33161" y="993775"/>
            <a:ext cx="4382306" cy="576440"/>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3" name="图片 32"/>
          <p:cNvPicPr/>
          <p:nvPr/>
        </p:nvPicPr>
        <p:blipFill>
          <a:blip r:embed="rId3">
            <a:extLst>
              <a:ext uri="{28A0092B-C50C-407E-A947-70E740481C1C}">
                <a14:useLocalDpi xmlns:a14="http://schemas.microsoft.com/office/drawing/2010/main" val="0"/>
              </a:ext>
            </a:extLst>
          </a:blip>
          <a:srcRect l="1703" t="1718" r="1944" b="755"/>
          <a:stretch>
            <a:fillRect/>
          </a:stretch>
        </p:blipFill>
        <p:spPr bwMode="auto">
          <a:xfrm>
            <a:off x="4182745" y="133350"/>
            <a:ext cx="4491990" cy="6609080"/>
          </a:xfrm>
          <a:prstGeom prst="rect">
            <a:avLst/>
          </a:prstGeom>
          <a:noFill/>
          <a:ln>
            <a:noFill/>
          </a:ln>
        </p:spPr>
      </p:pic>
      <p:sp>
        <p:nvSpPr>
          <p:cNvPr id="34" name="标题 1"/>
          <p:cNvSpPr txBox="1"/>
          <p:nvPr/>
        </p:nvSpPr>
        <p:spPr bwMode="auto">
          <a:xfrm>
            <a:off x="833161" y="1640712"/>
            <a:ext cx="312779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defTabSz="914400" eaLnBrk="1" hangingPunct="1">
              <a:lnSpc>
                <a:spcPct val="90000"/>
              </a:lnSpc>
              <a:buFont typeface="Wingdings" panose="05000000000000000000" pitchFamily="2" charset="2"/>
              <a:buChar char="u"/>
              <a:defRPr/>
            </a:pPr>
            <a:r>
              <a:rPr lang="zh-CN" altLang="zh-CN" sz="2000" b="1" dirty="0">
                <a:solidFill>
                  <a:srgbClr val="005BAA"/>
                </a:solidFill>
              </a:rPr>
              <a:t>覆盖估算</a:t>
            </a:r>
            <a:r>
              <a:rPr lang="zh-CN" altLang="en-US" sz="2000" b="1" dirty="0">
                <a:solidFill>
                  <a:srgbClr val="005BAA"/>
                </a:solidFill>
              </a:rPr>
              <a:t>总体</a:t>
            </a:r>
            <a:r>
              <a:rPr lang="zh-CN" altLang="zh-CN" sz="2000" b="1" dirty="0">
                <a:solidFill>
                  <a:srgbClr val="005BAA"/>
                </a:solidFill>
              </a:rPr>
              <a:t>流程</a:t>
            </a:r>
            <a:endParaRPr lang="zh-CN" altLang="en-US" sz="2000" b="1" dirty="0">
              <a:solidFill>
                <a:srgbClr val="005BA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34000">
              <a:srgbClr val="73B6E1"/>
            </a:gs>
            <a:gs pos="100000">
              <a:srgbClr val="E4E6F5"/>
            </a:gs>
            <a:gs pos="70000">
              <a:srgbClr val="BFDBF3"/>
            </a:gs>
            <a:gs pos="0">
              <a:srgbClr val="3467A0"/>
            </a:gs>
          </a:gsLst>
          <a:lin ang="2700000" scaled="1"/>
        </a:gradFill>
        <a:effectLst/>
      </p:bgPr>
    </p:bg>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628199" cy="576440"/>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7" name="标题 1"/>
          <p:cNvSpPr txBox="1"/>
          <p:nvPr/>
        </p:nvSpPr>
        <p:spPr bwMode="auto">
          <a:xfrm>
            <a:off x="878481" y="1541136"/>
            <a:ext cx="214973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marR="0" lvl="0" indent="-342900" defTabSz="914400" eaLnBrk="1" fontAlgn="base" hangingPunct="1">
              <a:lnSpc>
                <a:spcPct val="90000"/>
              </a:lnSpc>
              <a:spcAft>
                <a:spcPct val="0"/>
              </a:spcAft>
              <a:buClrTx/>
              <a:buSzTx/>
              <a:buFont typeface="Wingdings" panose="05000000000000000000" pitchFamily="2" charset="2"/>
              <a:buChar char="u"/>
              <a:defRPr/>
            </a:pPr>
            <a:r>
              <a:rPr lang="en-US" altLang="zh-CN" sz="2000" b="1" dirty="0">
                <a:solidFill>
                  <a:srgbClr val="005BAA"/>
                </a:solidFill>
              </a:rPr>
              <a:t>LTE</a:t>
            </a:r>
            <a:r>
              <a:rPr lang="zh-CN" altLang="en-US" sz="2000" b="1" dirty="0">
                <a:solidFill>
                  <a:srgbClr val="005BAA"/>
                </a:solidFill>
              </a:rPr>
              <a:t>覆盖估算</a:t>
            </a:r>
          </a:p>
        </p:txBody>
      </p:sp>
      <p:sp>
        <p:nvSpPr>
          <p:cNvPr id="28" name="TextBox 13"/>
          <p:cNvSpPr txBox="1">
            <a:spLocks noChangeArrowheads="1"/>
          </p:cNvSpPr>
          <p:nvPr/>
        </p:nvSpPr>
        <p:spPr bwMode="auto">
          <a:xfrm>
            <a:off x="3717925" y="1303655"/>
            <a:ext cx="758380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dirty="0">
                <a:latin typeface="微软雅黑" panose="020B0503020204020204" charset="-122"/>
                <a:ea typeface="微软雅黑" panose="020B0503020204020204" charset="-122"/>
              </a:rPr>
              <a:t>覆盖估算的目的：从覆盖的角度计算所需基站的数量。</a:t>
            </a:r>
            <a:endParaRPr lang="en-US" altLang="zh-CN" sz="2000" dirty="0">
              <a:latin typeface="微软雅黑" panose="020B0503020204020204" charset="-122"/>
              <a:ea typeface="微软雅黑" panose="020B0503020204020204" charset="-122"/>
            </a:endParaRPr>
          </a:p>
          <a:p>
            <a:pPr eaLnBrk="1" hangingPunct="1">
              <a:lnSpc>
                <a:spcPct val="150000"/>
              </a:lnSpc>
            </a:pPr>
            <a:r>
              <a:rPr lang="zh-CN" altLang="en-US" sz="2000" dirty="0">
                <a:latin typeface="微软雅黑" panose="020B0503020204020204" charset="-122"/>
                <a:ea typeface="微软雅黑" panose="020B0503020204020204" charset="-122"/>
              </a:rPr>
              <a:t>计算思路</a:t>
            </a:r>
            <a:r>
              <a:rPr lang="zh-CN" altLang="en-US" sz="2000" dirty="0">
                <a:solidFill>
                  <a:srgbClr val="FF0000"/>
                </a:solidFill>
                <a:latin typeface="微软雅黑" panose="020B0503020204020204" charset="-122"/>
                <a:ea typeface="微软雅黑" panose="020B0503020204020204" charset="-122"/>
              </a:rPr>
              <a:t>：</a:t>
            </a:r>
            <a:r>
              <a:rPr lang="zh-CN" altLang="en-US" sz="2000" b="1" dirty="0">
                <a:solidFill>
                  <a:srgbClr val="FF0000"/>
                </a:solidFill>
                <a:latin typeface="微软雅黑" panose="020B0503020204020204" charset="-122"/>
                <a:ea typeface="微软雅黑" panose="020B0503020204020204" charset="-122"/>
              </a:rPr>
              <a:t>基站数目</a:t>
            </a:r>
            <a:r>
              <a:rPr lang="en-US" altLang="zh-CN" sz="2000" b="1" dirty="0">
                <a:solidFill>
                  <a:srgbClr val="FF0000"/>
                </a:solidFill>
                <a:latin typeface="微软雅黑" panose="020B0503020204020204" charset="-122"/>
                <a:ea typeface="微软雅黑" panose="020B0503020204020204" charset="-122"/>
              </a:rPr>
              <a:t>=</a:t>
            </a:r>
            <a:r>
              <a:rPr lang="zh-CN" altLang="en-US" sz="2000" b="1" dirty="0">
                <a:solidFill>
                  <a:srgbClr val="FF0000"/>
                </a:solidFill>
                <a:latin typeface="微软雅黑" panose="020B0503020204020204" charset="-122"/>
                <a:ea typeface="微软雅黑" panose="020B0503020204020204" charset="-122"/>
              </a:rPr>
              <a:t>规划覆盖总面积</a:t>
            </a:r>
            <a:r>
              <a:rPr lang="en-US" altLang="zh-CN" sz="2000" b="1" dirty="0">
                <a:solidFill>
                  <a:srgbClr val="FF0000"/>
                </a:solidFill>
                <a:latin typeface="微软雅黑" panose="020B0503020204020204" charset="-122"/>
                <a:ea typeface="微软雅黑" panose="020B0503020204020204" charset="-122"/>
              </a:rPr>
              <a:t>/</a:t>
            </a:r>
            <a:r>
              <a:rPr lang="zh-CN" altLang="en-US" sz="2000" b="1" dirty="0">
                <a:solidFill>
                  <a:srgbClr val="FF0000"/>
                </a:solidFill>
                <a:latin typeface="微软雅黑" panose="020B0503020204020204" charset="-122"/>
                <a:ea typeface="微软雅黑" panose="020B0503020204020204" charset="-122"/>
                <a:hlinkClick r:id="" action="ppaction://noaction"/>
              </a:rPr>
              <a:t>单基站的覆盖面积</a:t>
            </a:r>
            <a:endParaRPr lang="zh-CN" altLang="en-US" sz="2000" b="1" dirty="0">
              <a:solidFill>
                <a:srgbClr val="FF0000"/>
              </a:solidFill>
              <a:latin typeface="微软雅黑" panose="020B0503020204020204" charset="-122"/>
              <a:ea typeface="微软雅黑" panose="020B0503020204020204" charset="-122"/>
            </a:endParaRPr>
          </a:p>
        </p:txBody>
      </p:sp>
      <p:grpSp>
        <p:nvGrpSpPr>
          <p:cNvPr id="45" name="组合 1"/>
          <p:cNvGrpSpPr/>
          <p:nvPr/>
        </p:nvGrpSpPr>
        <p:grpSpPr bwMode="auto">
          <a:xfrm>
            <a:off x="2094655" y="2579120"/>
            <a:ext cx="5596158" cy="3967077"/>
            <a:chOff x="2169862" y="1992317"/>
            <a:chExt cx="4535740" cy="3400178"/>
          </a:xfrm>
        </p:grpSpPr>
        <p:sp>
          <p:nvSpPr>
            <p:cNvPr id="46" name="矩形 1"/>
            <p:cNvSpPr>
              <a:spLocks noChangeArrowheads="1"/>
            </p:cNvSpPr>
            <p:nvPr/>
          </p:nvSpPr>
          <p:spPr bwMode="auto">
            <a:xfrm>
              <a:off x="2170115" y="2170117"/>
              <a:ext cx="1584325" cy="316554"/>
            </a:xfrm>
            <a:prstGeom prst="rect">
              <a:avLst/>
            </a:prstGeom>
            <a:noFill/>
            <a:ln w="19050">
              <a:solidFill>
                <a:schemeClr val="accent1"/>
              </a:solidFill>
              <a:round/>
            </a:ln>
            <a:effectLst>
              <a:outerShdw dist="107763" dir="2700000" algn="ctr" rotWithShape="0">
                <a:schemeClr val="bg1">
                  <a:alpha val="50000"/>
                </a:schemeClr>
              </a:outerShdw>
            </a:effectLst>
          </p:spPr>
          <p:txBody>
            <a:bodyPr>
              <a:spAutoFit/>
            </a:bodyPr>
            <a:lstStyle/>
            <a:p>
              <a:pPr algn="ctr" eaLnBrk="0" hangingPunct="0">
                <a:spcBef>
                  <a:spcPct val="50000"/>
                </a:spcBef>
                <a:defRPr/>
              </a:pPr>
              <a:r>
                <a:rPr lang="zh-CN" altLang="en-US" dirty="0">
                  <a:latin typeface="华文楷体" panose="02010600040101010101" pitchFamily="2" charset="-122"/>
                  <a:ea typeface="华文楷体" panose="02010600040101010101" pitchFamily="2" charset="-122"/>
                </a:rPr>
                <a:t>规划覆盖目标</a:t>
              </a:r>
            </a:p>
          </p:txBody>
        </p:sp>
        <p:sp>
          <p:nvSpPr>
            <p:cNvPr id="47" name="矩形 4"/>
            <p:cNvSpPr>
              <a:spLocks noChangeArrowheads="1"/>
            </p:cNvSpPr>
            <p:nvPr/>
          </p:nvSpPr>
          <p:spPr bwMode="auto">
            <a:xfrm>
              <a:off x="2170115" y="2903544"/>
              <a:ext cx="1584325" cy="300083"/>
            </a:xfrm>
            <a:prstGeom prst="rect">
              <a:avLst/>
            </a:prstGeom>
            <a:noFill/>
            <a:ln w="19050">
              <a:solidFill>
                <a:schemeClr val="accent1"/>
              </a:solidFill>
              <a:round/>
            </a:ln>
            <a:effectLst>
              <a:outerShdw dist="107763" dir="2700000" algn="ctr" rotWithShape="0">
                <a:schemeClr val="bg1">
                  <a:alpha val="50000"/>
                </a:schemeClr>
              </a:outerShdw>
            </a:effectLst>
          </p:spPr>
          <p:txBody>
            <a:bodyPr>
              <a:spAutoFit/>
            </a:bodyPr>
            <a:lstStyle/>
            <a:p>
              <a:pPr algn="ctr" eaLnBrk="0" hangingPunct="0">
                <a:spcBef>
                  <a:spcPct val="50000"/>
                </a:spcBef>
                <a:defRPr/>
              </a:pPr>
              <a:r>
                <a:rPr lang="zh-CN" altLang="en-US" dirty="0">
                  <a:solidFill>
                    <a:srgbClr val="FF0000"/>
                  </a:solidFill>
                  <a:latin typeface="华文楷体" panose="02010600040101010101" pitchFamily="2" charset="-122"/>
                  <a:ea typeface="华文楷体" panose="02010600040101010101" pitchFamily="2" charset="-122"/>
                  <a:hlinkClick r:id="" action="ppaction://noaction"/>
                </a:rPr>
                <a:t>链路预算</a:t>
              </a:r>
              <a:endParaRPr lang="zh-CN" altLang="en-US" dirty="0">
                <a:solidFill>
                  <a:srgbClr val="FF0000"/>
                </a:solidFill>
                <a:latin typeface="华文楷体" panose="02010600040101010101" pitchFamily="2" charset="-122"/>
                <a:ea typeface="华文楷体" panose="02010600040101010101" pitchFamily="2" charset="-122"/>
              </a:endParaRPr>
            </a:p>
          </p:txBody>
        </p:sp>
        <p:sp>
          <p:nvSpPr>
            <p:cNvPr id="48" name="矩形 5"/>
            <p:cNvSpPr>
              <a:spLocks noChangeArrowheads="1"/>
            </p:cNvSpPr>
            <p:nvPr/>
          </p:nvSpPr>
          <p:spPr bwMode="auto">
            <a:xfrm>
              <a:off x="2169862" y="3604775"/>
              <a:ext cx="1584325" cy="316554"/>
            </a:xfrm>
            <a:prstGeom prst="rect">
              <a:avLst/>
            </a:prstGeom>
            <a:noFill/>
            <a:ln w="19050">
              <a:solidFill>
                <a:schemeClr val="accent1"/>
              </a:solidFill>
              <a:round/>
            </a:ln>
            <a:effectLst>
              <a:outerShdw dist="107763" dir="2700000" algn="ctr" rotWithShape="0">
                <a:schemeClr val="bg1">
                  <a:alpha val="50000"/>
                </a:schemeClr>
              </a:outerShdw>
            </a:effectLst>
          </p:spPr>
          <p:txBody>
            <a:bodyPr>
              <a:spAutoFit/>
            </a:bodyPr>
            <a:lstStyle/>
            <a:p>
              <a:pPr algn="ctr" eaLnBrk="0" hangingPunct="0">
                <a:spcBef>
                  <a:spcPct val="50000"/>
                </a:spcBef>
                <a:defRPr/>
              </a:pPr>
              <a:r>
                <a:rPr lang="zh-CN" altLang="en-US">
                  <a:latin typeface="华文楷体" panose="02010600040101010101" pitchFamily="2" charset="-122"/>
                  <a:ea typeface="华文楷体" panose="02010600040101010101" pitchFamily="2" charset="-122"/>
                </a:rPr>
                <a:t>最大允许路损</a:t>
              </a:r>
            </a:p>
          </p:txBody>
        </p:sp>
        <p:sp>
          <p:nvSpPr>
            <p:cNvPr id="49" name="矩形 6"/>
            <p:cNvSpPr>
              <a:spLocks noChangeArrowheads="1"/>
            </p:cNvSpPr>
            <p:nvPr/>
          </p:nvSpPr>
          <p:spPr bwMode="auto">
            <a:xfrm>
              <a:off x="2170115" y="4390472"/>
              <a:ext cx="1584325" cy="316554"/>
            </a:xfrm>
            <a:prstGeom prst="rect">
              <a:avLst/>
            </a:prstGeom>
            <a:noFill/>
            <a:ln w="19050">
              <a:solidFill>
                <a:schemeClr val="accent1"/>
              </a:solidFill>
              <a:round/>
            </a:ln>
            <a:effectLst>
              <a:outerShdw dist="107763" dir="2700000" algn="ctr" rotWithShape="0">
                <a:schemeClr val="bg1">
                  <a:alpha val="50000"/>
                </a:schemeClr>
              </a:outerShdw>
            </a:effectLst>
          </p:spPr>
          <p:txBody>
            <a:bodyPr>
              <a:spAutoFit/>
            </a:bodyPr>
            <a:lstStyle/>
            <a:p>
              <a:pPr algn="ctr" eaLnBrk="0" hangingPunct="0">
                <a:spcBef>
                  <a:spcPct val="50000"/>
                </a:spcBef>
                <a:defRPr/>
              </a:pPr>
              <a:r>
                <a:rPr lang="zh-CN" altLang="en-US">
                  <a:latin typeface="华文楷体" panose="02010600040101010101" pitchFamily="2" charset="-122"/>
                  <a:ea typeface="华文楷体" panose="02010600040101010101" pitchFamily="2" charset="-122"/>
                </a:rPr>
                <a:t>覆盖半径</a:t>
              </a:r>
            </a:p>
          </p:txBody>
        </p:sp>
        <p:sp>
          <p:nvSpPr>
            <p:cNvPr id="50" name="矩形 7"/>
            <p:cNvSpPr>
              <a:spLocks noChangeArrowheads="1"/>
            </p:cNvSpPr>
            <p:nvPr/>
          </p:nvSpPr>
          <p:spPr bwMode="auto">
            <a:xfrm>
              <a:off x="2170115" y="5033972"/>
              <a:ext cx="1584325" cy="316554"/>
            </a:xfrm>
            <a:prstGeom prst="rect">
              <a:avLst/>
            </a:prstGeom>
            <a:noFill/>
            <a:ln w="19050">
              <a:solidFill>
                <a:schemeClr val="accent1"/>
              </a:solidFill>
              <a:round/>
            </a:ln>
            <a:effectLst>
              <a:outerShdw dist="107763" dir="2700000" algn="ctr" rotWithShape="0">
                <a:schemeClr val="bg1">
                  <a:alpha val="50000"/>
                </a:schemeClr>
              </a:outerShdw>
            </a:effectLst>
          </p:spPr>
          <p:txBody>
            <a:bodyPr>
              <a:spAutoFit/>
            </a:bodyPr>
            <a:lstStyle/>
            <a:p>
              <a:pPr algn="ctr" eaLnBrk="0" hangingPunct="0">
                <a:spcBef>
                  <a:spcPct val="50000"/>
                </a:spcBef>
                <a:defRPr/>
              </a:pPr>
              <a:r>
                <a:rPr lang="zh-CN" altLang="en-US">
                  <a:latin typeface="华文楷体" panose="02010600040101010101" pitchFamily="2" charset="-122"/>
                  <a:ea typeface="华文楷体" panose="02010600040101010101" pitchFamily="2" charset="-122"/>
                </a:rPr>
                <a:t>基站数目</a:t>
              </a:r>
            </a:p>
          </p:txBody>
        </p:sp>
        <p:sp>
          <p:nvSpPr>
            <p:cNvPr id="51" name="下箭头 9"/>
            <p:cNvSpPr>
              <a:spLocks noChangeArrowheads="1"/>
            </p:cNvSpPr>
            <p:nvPr/>
          </p:nvSpPr>
          <p:spPr bwMode="auto">
            <a:xfrm>
              <a:off x="2818042" y="3238423"/>
              <a:ext cx="143983" cy="354028"/>
            </a:xfrm>
            <a:prstGeom prst="downArrow">
              <a:avLst>
                <a:gd name="adj1" fmla="val 50000"/>
                <a:gd name="adj2" fmla="val 49978"/>
              </a:avLst>
            </a:prstGeom>
            <a:solidFill>
              <a:schemeClr val="accent2"/>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en-US" sz="3200">
                <a:solidFill>
                  <a:schemeClr val="accent2"/>
                </a:solidFill>
                <a:latin typeface="华文楷体" panose="02010600040101010101" pitchFamily="2" charset="-122"/>
                <a:ea typeface="华文楷体" panose="02010600040101010101" pitchFamily="2" charset="-122"/>
              </a:endParaRPr>
            </a:p>
          </p:txBody>
        </p:sp>
        <p:sp>
          <p:nvSpPr>
            <p:cNvPr id="52" name="矩形标注 3"/>
            <p:cNvSpPr>
              <a:spLocks noChangeArrowheads="1"/>
            </p:cNvSpPr>
            <p:nvPr/>
          </p:nvSpPr>
          <p:spPr bwMode="auto">
            <a:xfrm>
              <a:off x="4329872" y="1992317"/>
              <a:ext cx="2375730" cy="461665"/>
            </a:xfrm>
            <a:prstGeom prst="wedgeRectCallout">
              <a:avLst>
                <a:gd name="adj1" fmla="val -73755"/>
                <a:gd name="adj2" fmla="val 38144"/>
              </a:avLst>
            </a:pr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400" dirty="0">
                  <a:latin typeface="华文楷体" panose="02010600040101010101" pitchFamily="2" charset="-122"/>
                  <a:ea typeface="华文楷体" panose="02010600040101010101" pitchFamily="2" charset="-122"/>
                </a:rPr>
                <a:t>规划初期确立建网目标：覆盖范围、覆盖概率、室内覆盖程度</a:t>
              </a:r>
            </a:p>
          </p:txBody>
        </p:sp>
        <p:sp>
          <p:nvSpPr>
            <p:cNvPr id="53" name="矩形标注 14"/>
            <p:cNvSpPr>
              <a:spLocks noChangeArrowheads="1"/>
            </p:cNvSpPr>
            <p:nvPr/>
          </p:nvSpPr>
          <p:spPr bwMode="auto">
            <a:xfrm>
              <a:off x="4328799" y="2610255"/>
              <a:ext cx="2375730" cy="646331"/>
            </a:xfrm>
            <a:prstGeom prst="wedgeRectCallout">
              <a:avLst>
                <a:gd name="adj1" fmla="val -73755"/>
                <a:gd name="adj2" fmla="val 38144"/>
              </a:avLst>
            </a:pr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400" dirty="0">
                  <a:latin typeface="华文楷体" panose="02010600040101010101" pitchFamily="2" charset="-122"/>
                  <a:ea typeface="华文楷体" panose="02010600040101010101" pitchFamily="2" charset="-122"/>
                </a:rPr>
                <a:t>分上、下行，业务信道和控制信道；考虑发射端、无线环境、接收端参数</a:t>
              </a:r>
            </a:p>
          </p:txBody>
        </p:sp>
        <p:sp>
          <p:nvSpPr>
            <p:cNvPr id="54" name="矩形标注 15"/>
            <p:cNvSpPr>
              <a:spLocks noChangeArrowheads="1"/>
            </p:cNvSpPr>
            <p:nvPr/>
          </p:nvSpPr>
          <p:spPr bwMode="auto">
            <a:xfrm>
              <a:off x="4305654" y="3461574"/>
              <a:ext cx="2375730" cy="461665"/>
            </a:xfrm>
            <a:prstGeom prst="wedgeRectCallout">
              <a:avLst>
                <a:gd name="adj1" fmla="val -73755"/>
                <a:gd name="adj2" fmla="val 38144"/>
              </a:avLst>
            </a:pr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400" dirty="0">
                  <a:latin typeface="华文楷体" panose="02010600040101010101" pitchFamily="2" charset="-122"/>
                  <a:ea typeface="华文楷体" panose="02010600040101010101" pitchFamily="2" charset="-122"/>
                </a:rPr>
                <a:t>上、下行，业务信道和控制信道分别计算，取最小值（找瓶颈）</a:t>
              </a:r>
            </a:p>
          </p:txBody>
        </p:sp>
        <p:sp>
          <p:nvSpPr>
            <p:cNvPr id="55" name="矩形标注 16"/>
            <p:cNvSpPr>
              <a:spLocks noChangeArrowheads="1"/>
            </p:cNvSpPr>
            <p:nvPr/>
          </p:nvSpPr>
          <p:spPr bwMode="auto">
            <a:xfrm>
              <a:off x="4305654" y="4137856"/>
              <a:ext cx="2375730" cy="646331"/>
            </a:xfrm>
            <a:prstGeom prst="wedgeRectCallout">
              <a:avLst>
                <a:gd name="adj1" fmla="val -73755"/>
                <a:gd name="adj2" fmla="val 38144"/>
              </a:avLst>
            </a:pr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400" dirty="0">
                  <a:latin typeface="华文楷体" panose="02010600040101010101" pitchFamily="2" charset="-122"/>
                  <a:ea typeface="华文楷体" panose="02010600040101010101" pitchFamily="2" charset="-122"/>
                </a:rPr>
                <a:t>结合</a:t>
              </a:r>
              <a:r>
                <a:rPr lang="zh-CN" altLang="en-US" sz="1400" dirty="0">
                  <a:solidFill>
                    <a:srgbClr val="FF0000"/>
                  </a:solidFill>
                  <a:latin typeface="华文楷体" panose="02010600040101010101" pitchFamily="2" charset="-122"/>
                  <a:ea typeface="华文楷体" panose="02010600040101010101" pitchFamily="2" charset="-122"/>
                  <a:hlinkClick r:id="" action="ppaction://noaction"/>
                </a:rPr>
                <a:t>传播模型</a:t>
              </a:r>
              <a:r>
                <a:rPr lang="zh-CN" altLang="en-US" sz="1400" dirty="0">
                  <a:latin typeface="华文楷体" panose="02010600040101010101" pitchFamily="2" charset="-122"/>
                  <a:ea typeface="华文楷体" panose="02010600040101010101" pitchFamily="2" charset="-122"/>
                </a:rPr>
                <a:t>，由最大允许路损求覆盖半径；然后可得到单基站覆盖范围</a:t>
              </a:r>
            </a:p>
          </p:txBody>
        </p:sp>
        <p:sp>
          <p:nvSpPr>
            <p:cNvPr id="56" name="矩形标注 17"/>
            <p:cNvSpPr>
              <a:spLocks noChangeArrowheads="1"/>
            </p:cNvSpPr>
            <p:nvPr/>
          </p:nvSpPr>
          <p:spPr bwMode="auto">
            <a:xfrm>
              <a:off x="4329872" y="4930830"/>
              <a:ext cx="2375730" cy="461665"/>
            </a:xfrm>
            <a:prstGeom prst="wedgeRectCallout">
              <a:avLst>
                <a:gd name="adj1" fmla="val -73755"/>
                <a:gd name="adj2" fmla="val 38144"/>
              </a:avLst>
            </a:prstGeom>
            <a:noFill/>
            <a:ln w="28575">
              <a:solidFill>
                <a:schemeClr val="accent2"/>
              </a:solidFill>
              <a:rou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400" dirty="0">
                  <a:latin typeface="华文楷体" panose="02010600040101010101" pitchFamily="2" charset="-122"/>
                  <a:ea typeface="华文楷体" panose="02010600040101010101" pitchFamily="2" charset="-122"/>
                </a:rPr>
                <a:t>规划覆盖面积与单基站覆盖面积之比就是基站数目</a:t>
              </a:r>
            </a:p>
          </p:txBody>
        </p:sp>
      </p:grpSp>
      <p:sp>
        <p:nvSpPr>
          <p:cNvPr id="57" name="TextBox 1"/>
          <p:cNvSpPr txBox="1"/>
          <p:nvPr/>
        </p:nvSpPr>
        <p:spPr>
          <a:xfrm>
            <a:off x="8075150" y="3254351"/>
            <a:ext cx="3687762" cy="1477328"/>
          </a:xfrm>
          <a:prstGeom prst="rect">
            <a:avLst/>
          </a:prstGeom>
          <a:noFill/>
        </p:spPr>
        <p:txBody>
          <a:bodyPr>
            <a:spAutoFit/>
          </a:bodyPr>
          <a:lstStyle/>
          <a:p>
            <a:pPr>
              <a:defRPr/>
            </a:pPr>
            <a:endParaRPr lang="en-US" altLang="zh-CN" b="1" dirty="0">
              <a:solidFill>
                <a:srgbClr val="FF0000"/>
              </a:solidFill>
              <a:latin typeface="微软雅黑" panose="020B0503020204020204" charset="-122"/>
              <a:ea typeface="微软雅黑" panose="020B0503020204020204" charset="-122"/>
            </a:endParaRPr>
          </a:p>
          <a:p>
            <a:pPr marL="285750" indent="-285750">
              <a:buFont typeface="Arial" panose="020B0604020202020204" pitchFamily="34" charset="0"/>
              <a:buChar char="•"/>
              <a:defRPr/>
            </a:pPr>
            <a:r>
              <a:rPr lang="zh-CN" altLang="en-US" b="1" dirty="0">
                <a:solidFill>
                  <a:srgbClr val="FF0000"/>
                </a:solidFill>
              </a:rPr>
              <a:t>通过链路预算计算最大允许路损（</a:t>
            </a:r>
            <a:r>
              <a:rPr lang="en-US" altLang="zh-CN" b="1" dirty="0">
                <a:solidFill>
                  <a:srgbClr val="FF0000"/>
                </a:solidFill>
              </a:rPr>
              <a:t>MAPL</a:t>
            </a:r>
            <a:r>
              <a:rPr lang="zh-CN" altLang="en-US" b="1" dirty="0">
                <a:solidFill>
                  <a:srgbClr val="FF0000"/>
                </a:solidFill>
              </a:rPr>
              <a:t>）</a:t>
            </a:r>
            <a:endParaRPr lang="en-US" altLang="zh-CN" b="1" dirty="0">
              <a:solidFill>
                <a:srgbClr val="FF0000"/>
              </a:solidFill>
            </a:endParaRPr>
          </a:p>
          <a:p>
            <a:pPr marL="285750" indent="-285750">
              <a:buFont typeface="Arial" panose="020B0604020202020204" pitchFamily="34" charset="0"/>
              <a:buChar char="•"/>
              <a:defRPr/>
            </a:pPr>
            <a:r>
              <a:rPr lang="zh-CN" altLang="en-US" b="1" dirty="0">
                <a:solidFill>
                  <a:srgbClr val="FF0000"/>
                </a:solidFill>
              </a:rPr>
              <a:t>根据传播模型计算小区覆盖半径</a:t>
            </a:r>
          </a:p>
          <a:p>
            <a:pPr>
              <a:defRPr/>
            </a:pPr>
            <a:endParaRPr lang="zh-CN" altLang="en-US" dirty="0"/>
          </a:p>
        </p:txBody>
      </p:sp>
      <p:sp>
        <p:nvSpPr>
          <p:cNvPr id="58" name="下弧形箭头 2"/>
          <p:cNvSpPr>
            <a:spLocks noChangeArrowheads="1"/>
          </p:cNvSpPr>
          <p:nvPr/>
        </p:nvSpPr>
        <p:spPr bwMode="auto">
          <a:xfrm rot="15540039">
            <a:off x="9522950" y="2613251"/>
            <a:ext cx="792163" cy="357187"/>
          </a:xfrm>
          <a:prstGeom prst="curvedUpArrow">
            <a:avLst>
              <a:gd name="adj1" fmla="val 24981"/>
              <a:gd name="adj2" fmla="val 49972"/>
              <a:gd name="adj3" fmla="val 25000"/>
            </a:avLst>
          </a:prstGeom>
          <a:solidFill>
            <a:schemeClr val="accent1"/>
          </a:solidFill>
          <a:ln w="9525" algn="ctr">
            <a:solidFill>
              <a:schemeClr val="tx1"/>
            </a:solidFill>
            <a:round/>
          </a:ln>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buFontTx/>
              <a:buNone/>
            </a:pPr>
            <a:endParaRPr kumimoji="1" lang="zh-CN" altLang="en-US">
              <a:solidFill>
                <a:schemeClr val="bg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1000"/>
                                        <p:tgtEl>
                                          <p:spTgt spid="57"/>
                                        </p:tgtEl>
                                      </p:cBhvr>
                                    </p:animEffect>
                                    <p:anim calcmode="lin" valueType="num">
                                      <p:cBhvr>
                                        <p:cTn id="14" dur="1000" fill="hold"/>
                                        <p:tgtEl>
                                          <p:spTgt spid="57"/>
                                        </p:tgtEl>
                                        <p:attrNameLst>
                                          <p:attrName>ppt_x</p:attrName>
                                        </p:attrNameLst>
                                      </p:cBhvr>
                                      <p:tavLst>
                                        <p:tav tm="0">
                                          <p:val>
                                            <p:strVal val="#ppt_x"/>
                                          </p:val>
                                        </p:tav>
                                        <p:tav tm="100000">
                                          <p:val>
                                            <p:strVal val="#ppt_x"/>
                                          </p:val>
                                        </p:tav>
                                      </p:tavLst>
                                    </p:anim>
                                    <p:anim calcmode="lin" valueType="num">
                                      <p:cBhvr>
                                        <p:cTn id="15" dur="1000" fill="hold"/>
                                        <p:tgtEl>
                                          <p:spTgt spid="57"/>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1000"/>
                                        <p:tgtEl>
                                          <p:spTgt spid="58"/>
                                        </p:tgtEl>
                                      </p:cBhvr>
                                    </p:animEffect>
                                    <p:anim calcmode="lin" valueType="num">
                                      <p:cBhvr>
                                        <p:cTn id="19" dur="1000" fill="hold"/>
                                        <p:tgtEl>
                                          <p:spTgt spid="58"/>
                                        </p:tgtEl>
                                        <p:attrNameLst>
                                          <p:attrName>ppt_x</p:attrName>
                                        </p:attrNameLst>
                                      </p:cBhvr>
                                      <p:tavLst>
                                        <p:tav tm="0">
                                          <p:val>
                                            <p:strVal val="#ppt_x"/>
                                          </p:val>
                                        </p:tav>
                                        <p:tav tm="100000">
                                          <p:val>
                                            <p:strVal val="#ppt_x"/>
                                          </p:val>
                                        </p:tav>
                                      </p:tavLst>
                                    </p:anim>
                                    <p:anim calcmode="lin" valueType="num">
                                      <p:cBhvr>
                                        <p:cTn id="20"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576440"/>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标题 1"/>
          <p:cNvSpPr txBox="1"/>
          <p:nvPr/>
        </p:nvSpPr>
        <p:spPr bwMode="auto">
          <a:xfrm>
            <a:off x="798581" y="1571280"/>
            <a:ext cx="287677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marR="0" lvl="0" indent="-342900" defTabSz="914400" eaLnBrk="1" fontAlgn="base" hangingPunct="1">
              <a:lnSpc>
                <a:spcPct val="90000"/>
              </a:lnSpc>
              <a:spcAft>
                <a:spcPct val="0"/>
              </a:spcAft>
              <a:buClrTx/>
              <a:buSzTx/>
              <a:buFont typeface="Wingdings" panose="05000000000000000000" pitchFamily="2" charset="2"/>
              <a:buChar char="u"/>
              <a:defRPr/>
            </a:pPr>
            <a:r>
              <a:rPr lang="zh-CN" altLang="en-US" sz="2000" b="1" dirty="0">
                <a:solidFill>
                  <a:srgbClr val="005BAA"/>
                </a:solidFill>
              </a:rPr>
              <a:t>单基站覆盖面积计算</a:t>
            </a:r>
          </a:p>
        </p:txBody>
      </p:sp>
      <p:sp>
        <p:nvSpPr>
          <p:cNvPr id="22" name="内容占位符 2"/>
          <p:cNvSpPr txBox="1">
            <a:spLocks noChangeArrowheads="1"/>
          </p:cNvSpPr>
          <p:nvPr/>
        </p:nvSpPr>
        <p:spPr>
          <a:xfrm>
            <a:off x="3881078" y="1735548"/>
            <a:ext cx="5412071" cy="5032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zh-CN" sz="1800" dirty="0"/>
              <a:t>根据小区半径计算单个</a:t>
            </a:r>
            <a:r>
              <a:rPr lang="en-US" altLang="zh-CN" sz="1800" dirty="0"/>
              <a:t>eNodeB</a:t>
            </a:r>
            <a:r>
              <a:rPr lang="zh-CN" altLang="zh-CN" sz="1800" dirty="0"/>
              <a:t>覆盖区域的面积计算</a:t>
            </a:r>
            <a:r>
              <a:rPr lang="zh-CN" altLang="en-US" sz="1800" dirty="0"/>
              <a:t>：</a:t>
            </a:r>
            <a:endParaRPr lang="en-US" altLang="zh-CN" sz="1800" dirty="0"/>
          </a:p>
        </p:txBody>
      </p:sp>
      <p:sp>
        <p:nvSpPr>
          <p:cNvPr id="23" name="Rectangle 3"/>
          <p:cNvSpPr>
            <a:spLocks noChangeArrowheads="1"/>
          </p:cNvSpPr>
          <p:nvPr/>
        </p:nvSpPr>
        <p:spPr bwMode="auto">
          <a:xfrm>
            <a:off x="4538671" y="6333175"/>
            <a:ext cx="2235200" cy="400050"/>
          </a:xfrm>
          <a:prstGeom prst="rect">
            <a:avLst/>
          </a:prstGeom>
          <a:noFill/>
          <a:ln>
            <a:noFill/>
          </a:ln>
          <a:effectLst>
            <a:prstShdw prst="shdw17" dist="17961" dir="2700000">
              <a:schemeClr val="accent1">
                <a:gamma/>
                <a:shade val="60000"/>
                <a:invGamma/>
              </a:schemeClr>
            </a:prstShdw>
          </a:effectLst>
        </p:spPr>
        <p:txBody>
          <a:bodyPr wrap="none" anchor="ctr">
            <a:spAutoFit/>
          </a:bodyPr>
          <a:lstStyle/>
          <a:p>
            <a:pPr algn="ctr" eaLnBrk="0" hangingPunct="0">
              <a:defRPr/>
            </a:pPr>
            <a:r>
              <a:rPr lang="zh-CN" altLang="en-US" sz="2000" dirty="0"/>
              <a:t>站型与面积的关系</a:t>
            </a:r>
          </a:p>
        </p:txBody>
      </p:sp>
      <p:graphicFrame>
        <p:nvGraphicFramePr>
          <p:cNvPr id="24" name="Group 35"/>
          <p:cNvGraphicFramePr/>
          <p:nvPr>
            <p:extLst>
              <p:ext uri="{D42A27DB-BD31-4B8C-83A1-F6EECF244321}">
                <p14:modId xmlns:p14="http://schemas.microsoft.com/office/powerpoint/2010/main" val="68915551"/>
              </p:ext>
            </p:extLst>
          </p:nvPr>
        </p:nvGraphicFramePr>
        <p:xfrm>
          <a:off x="3460298" y="4896275"/>
          <a:ext cx="5256213" cy="1233221"/>
        </p:xfrm>
        <a:graphic>
          <a:graphicData uri="http://schemas.openxmlformats.org/drawingml/2006/table">
            <a:tbl>
              <a:tblPr/>
              <a:tblGrid>
                <a:gridCol w="1512888">
                  <a:extLst>
                    <a:ext uri="{9D8B030D-6E8A-4147-A177-3AD203B41FA5}">
                      <a16:colId xmlns:a16="http://schemas.microsoft.com/office/drawing/2014/main" val="20000"/>
                    </a:ext>
                  </a:extLst>
                </a:gridCol>
                <a:gridCol w="1366837">
                  <a:extLst>
                    <a:ext uri="{9D8B030D-6E8A-4147-A177-3AD203B41FA5}">
                      <a16:colId xmlns:a16="http://schemas.microsoft.com/office/drawing/2014/main" val="20001"/>
                    </a:ext>
                  </a:extLst>
                </a:gridCol>
                <a:gridCol w="2376488">
                  <a:extLst>
                    <a:ext uri="{9D8B030D-6E8A-4147-A177-3AD203B41FA5}">
                      <a16:colId xmlns:a16="http://schemas.microsoft.com/office/drawing/2014/main" val="20002"/>
                    </a:ext>
                  </a:extLst>
                </a:gridCol>
              </a:tblGrid>
              <a:tr h="441960">
                <a:tc>
                  <a:txBody>
                    <a:bodyPr/>
                    <a:lstStyle/>
                    <a:p>
                      <a:pPr marL="0" marR="0" lvl="0" indent="0" algn="ctr" defTabSz="914400" rtl="0" eaLnBrk="1" fontAlgn="base" latinLnBrk="0" hangingPunct="1">
                        <a:lnSpc>
                          <a:spcPct val="150000"/>
                        </a:lnSpc>
                        <a:spcBef>
                          <a:spcPct val="0"/>
                        </a:spcBef>
                        <a:spcAft>
                          <a:spcPct val="0"/>
                        </a:spcAft>
                        <a:buClr>
                          <a:srgbClr val="0066FF"/>
                        </a:buClr>
                        <a:buSzPct val="8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8081" marB="380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
                          <a:srgbClr val="0066FF"/>
                        </a:buClr>
                        <a:buSzPct val="8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全向站</a:t>
                      </a:r>
                    </a:p>
                  </a:txBody>
                  <a:tcPr marT="38081" marB="380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
                          <a:srgbClr val="0066FF"/>
                        </a:buClr>
                        <a:buSzPct val="8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定向站（</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65</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度，三扇区）</a:t>
                      </a:r>
                    </a:p>
                  </a:txBody>
                  <a:tcPr marT="38081" marB="380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762">
                <a:tc>
                  <a:txBody>
                    <a:bodyPr/>
                    <a:lstStyle/>
                    <a:p>
                      <a:pPr marL="0" marR="0" lvl="0" indent="0" algn="ctr" defTabSz="914400" rtl="0" eaLnBrk="1" fontAlgn="base" latinLnBrk="0" hangingPunct="1">
                        <a:lnSpc>
                          <a:spcPct val="150000"/>
                        </a:lnSpc>
                        <a:spcBef>
                          <a:spcPct val="0"/>
                        </a:spcBef>
                        <a:spcAft>
                          <a:spcPct val="0"/>
                        </a:spcAft>
                        <a:buClr>
                          <a:srgbClr val="0066FF"/>
                        </a:buClr>
                        <a:buSzPct val="8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站间距</a:t>
                      </a:r>
                    </a:p>
                  </a:txBody>
                  <a:tcPr marT="38081" marB="380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
                          <a:srgbClr val="0066FF"/>
                        </a:buClr>
                        <a:buSzPct val="80000"/>
                        <a:buFont typeface="Wingdings" panose="05000000000000000000" pitchFamily="2" charset="2"/>
                        <a:buNone/>
                        <a:tabLst/>
                        <a:defRPr/>
                      </a:pP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8081" marB="380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
                          <a:srgbClr val="0066FF"/>
                        </a:buClr>
                        <a:buSzPct val="8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38081" marB="380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762">
                <a:tc>
                  <a:txBody>
                    <a:bodyPr/>
                    <a:lstStyle/>
                    <a:p>
                      <a:pPr marL="0" marR="0" lvl="0" indent="0" algn="ctr" defTabSz="914400" rtl="0" eaLnBrk="1" fontAlgn="base" latinLnBrk="0" hangingPunct="1">
                        <a:lnSpc>
                          <a:spcPct val="150000"/>
                        </a:lnSpc>
                        <a:spcBef>
                          <a:spcPct val="0"/>
                        </a:spcBef>
                        <a:spcAft>
                          <a:spcPct val="0"/>
                        </a:spcAft>
                        <a:buClr>
                          <a:srgbClr val="0066FF"/>
                        </a:buClr>
                        <a:buSzPct val="80000"/>
                        <a:buFont typeface="Wingdings" panose="05000000000000000000" pitchFamily="2" charset="2"/>
                        <a:buNone/>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面积</a:t>
                      </a:r>
                    </a:p>
                  </a:txBody>
                  <a:tcPr marT="38081" marB="380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
                          <a:srgbClr val="0066FF"/>
                        </a:buClr>
                        <a:buSzPct val="80000"/>
                        <a:buFont typeface="Wingdings" panose="05000000000000000000" pitchFamily="2" charset="2"/>
                        <a:buNone/>
                      </a:pPr>
                      <a:endParaRPr kumimoji="0" lang="en-US" altLang="zh-CN" sz="1600" b="1" i="0" u="none" strike="noStrike" cap="none" normalizeH="0" baseline="30000" dirty="0">
                        <a:ln>
                          <a:noFill/>
                        </a:ln>
                        <a:solidFill>
                          <a:srgbClr val="FF0000"/>
                        </a:solidFill>
                        <a:effectLst/>
                        <a:latin typeface="Arial" panose="020B0604020202020204" pitchFamily="34" charset="0"/>
                        <a:ea typeface="宋体" panose="02010600030101010101" pitchFamily="2" charset="-122"/>
                      </a:endParaRPr>
                    </a:p>
                  </a:txBody>
                  <a:tcPr marT="38081" marB="380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
                          <a:srgbClr val="0066FF"/>
                        </a:buClr>
                        <a:buSzPct val="80000"/>
                        <a:buFont typeface="Wingdings" panose="05000000000000000000" pitchFamily="2" charset="2"/>
                        <a:buNone/>
                      </a:pPr>
                      <a:endParaRPr kumimoji="0" lang="en-US" altLang="zh-CN" sz="1600" b="1" i="0" u="none" strike="noStrike" cap="none" normalizeH="0" baseline="30000" dirty="0">
                        <a:ln>
                          <a:noFill/>
                        </a:ln>
                        <a:solidFill>
                          <a:srgbClr val="FF0000"/>
                        </a:solidFill>
                        <a:effectLst/>
                        <a:latin typeface="Arial" panose="020B0604020202020204" pitchFamily="34" charset="0"/>
                        <a:ea typeface="宋体" panose="02010600030101010101" pitchFamily="2" charset="-122"/>
                      </a:endParaRPr>
                    </a:p>
                  </a:txBody>
                  <a:tcPr marT="38081" marB="380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25" name="Picture 2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0190" y="2379530"/>
            <a:ext cx="18192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4092" y="2384994"/>
            <a:ext cx="2305050"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28"/>
          <p:cNvSpPr txBox="1">
            <a:spLocks noChangeArrowheads="1"/>
          </p:cNvSpPr>
          <p:nvPr/>
        </p:nvSpPr>
        <p:spPr bwMode="auto">
          <a:xfrm>
            <a:off x="3886044" y="4227103"/>
            <a:ext cx="9032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140000"/>
              </a:lnSpc>
              <a:spcBef>
                <a:spcPct val="20000"/>
              </a:spcBef>
            </a:pPr>
            <a:r>
              <a:rPr kumimoji="1" lang="zh-CN" altLang="en-US" sz="1400" dirty="0">
                <a:latin typeface="宋体" panose="02010600030101010101" pitchFamily="2" charset="-122"/>
              </a:rPr>
              <a:t>全向站型</a:t>
            </a:r>
          </a:p>
        </p:txBody>
      </p:sp>
      <p:sp>
        <p:nvSpPr>
          <p:cNvPr id="31" name="Text Box 29"/>
          <p:cNvSpPr txBox="1">
            <a:spLocks noChangeArrowheads="1"/>
          </p:cNvSpPr>
          <p:nvPr/>
        </p:nvSpPr>
        <p:spPr bwMode="auto">
          <a:xfrm>
            <a:off x="6144092" y="4223452"/>
            <a:ext cx="2117725" cy="393700"/>
          </a:xfrm>
          <a:prstGeom prst="rect">
            <a:avLst/>
          </a:prstGeom>
          <a:noFill/>
          <a:ln w="9525">
            <a:noFill/>
            <a:miter lim="800000"/>
          </a:ln>
          <a:effectLst/>
        </p:spPr>
        <p:txBody>
          <a:bodyPr wrap="none">
            <a:spAutoFit/>
          </a:bodyPr>
          <a:lstStyle/>
          <a:p>
            <a:pPr algn="ctr">
              <a:lnSpc>
                <a:spcPct val="140000"/>
              </a:lnSpc>
              <a:spcBef>
                <a:spcPct val="20000"/>
              </a:spcBef>
              <a:defRPr/>
            </a:pPr>
            <a:r>
              <a:rPr kumimoji="1" lang="zh-CN" altLang="en-US" sz="1400" dirty="0">
                <a:latin typeface="+mn-lt"/>
              </a:rPr>
              <a:t>定向站型</a:t>
            </a:r>
            <a:r>
              <a:rPr kumimoji="1" lang="en-US" altLang="zh-CN" sz="1400" dirty="0">
                <a:latin typeface="+mn-lt"/>
              </a:rPr>
              <a:t>(65</a:t>
            </a:r>
            <a:r>
              <a:rPr kumimoji="1" lang="zh-CN" altLang="en-US" sz="1400" dirty="0">
                <a:latin typeface="+mn-lt"/>
              </a:rPr>
              <a:t>度，三扇区</a:t>
            </a:r>
            <a:r>
              <a:rPr kumimoji="1" lang="en-US" altLang="zh-CN" sz="1400" dirty="0">
                <a:latin typeface="+mn-lt"/>
              </a:rPr>
              <a:t>)</a:t>
            </a:r>
          </a:p>
        </p:txBody>
      </p:sp>
      <p:sp>
        <p:nvSpPr>
          <p:cNvPr id="4" name="文本框 3">
            <a:extLst>
              <a:ext uri="{FF2B5EF4-FFF2-40B4-BE49-F238E27FC236}">
                <a16:creationId xmlns:a16="http://schemas.microsoft.com/office/drawing/2014/main" id="{300BA8C9-D9AC-0503-0C77-ADC39683AE7C}"/>
              </a:ext>
            </a:extLst>
          </p:cNvPr>
          <p:cNvSpPr txBox="1"/>
          <p:nvPr/>
        </p:nvSpPr>
        <p:spPr>
          <a:xfrm>
            <a:off x="5059971" y="5376176"/>
            <a:ext cx="1527142" cy="646331"/>
          </a:xfrm>
          <a:prstGeom prst="rect">
            <a:avLst/>
          </a:prstGeom>
          <a:noFill/>
        </p:spPr>
        <p:txBody>
          <a:bodyPr wrap="square" rtlCol="0">
            <a:spAutoFit/>
          </a:bodyPr>
          <a:lstStyle/>
          <a:p>
            <a:r>
              <a:rPr lang="en-US" altLang="zh-CN" dirty="0">
                <a:latin typeface="Arial" panose="020B0604020202020204" pitchFamily="34" charset="0"/>
                <a:ea typeface="宋体" panose="02010600030101010101" pitchFamily="2" charset="-122"/>
              </a:rPr>
              <a:t>D=1.732R</a:t>
            </a:r>
          </a:p>
          <a:p>
            <a:endParaRPr lang="zh-CN" altLang="en-US" dirty="0"/>
          </a:p>
        </p:txBody>
      </p:sp>
      <p:sp>
        <p:nvSpPr>
          <p:cNvPr id="5" name="文本框 4">
            <a:extLst>
              <a:ext uri="{FF2B5EF4-FFF2-40B4-BE49-F238E27FC236}">
                <a16:creationId xmlns:a16="http://schemas.microsoft.com/office/drawing/2014/main" id="{930E9CBB-4981-9DC9-19F6-CE4351451A3D}"/>
              </a:ext>
            </a:extLst>
          </p:cNvPr>
          <p:cNvSpPr txBox="1"/>
          <p:nvPr/>
        </p:nvSpPr>
        <p:spPr>
          <a:xfrm>
            <a:off x="6964728" y="5376175"/>
            <a:ext cx="1594810" cy="646331"/>
          </a:xfrm>
          <a:prstGeom prst="rect">
            <a:avLst/>
          </a:prstGeom>
          <a:noFill/>
        </p:spPr>
        <p:txBody>
          <a:bodyPr wrap="square" rtlCol="0">
            <a:spAutoFit/>
          </a:bodyPr>
          <a:lstStyle/>
          <a:p>
            <a:r>
              <a:rPr lang="en-US" altLang="zh-CN" dirty="0">
                <a:latin typeface="Arial" panose="020B0604020202020204" pitchFamily="34" charset="0"/>
                <a:ea typeface="宋体" panose="02010600030101010101" pitchFamily="2" charset="-122"/>
              </a:rPr>
              <a:t>D=1.5R</a:t>
            </a:r>
          </a:p>
          <a:p>
            <a:endParaRPr lang="zh-CN" altLang="en-US" dirty="0"/>
          </a:p>
        </p:txBody>
      </p:sp>
      <p:sp>
        <p:nvSpPr>
          <p:cNvPr id="7" name="文本框 6">
            <a:extLst>
              <a:ext uri="{FF2B5EF4-FFF2-40B4-BE49-F238E27FC236}">
                <a16:creationId xmlns:a16="http://schemas.microsoft.com/office/drawing/2014/main" id="{340A51BD-1559-2F12-C714-BB3425A089CC}"/>
              </a:ext>
            </a:extLst>
          </p:cNvPr>
          <p:cNvSpPr txBox="1"/>
          <p:nvPr/>
        </p:nvSpPr>
        <p:spPr>
          <a:xfrm>
            <a:off x="5155534" y="5753199"/>
            <a:ext cx="1131216" cy="646331"/>
          </a:xfrm>
          <a:prstGeom prst="rect">
            <a:avLst/>
          </a:prstGeom>
          <a:noFill/>
        </p:spPr>
        <p:txBody>
          <a:bodyPr wrap="square" rtlCol="0">
            <a:spAutoFit/>
          </a:bodyPr>
          <a:lstStyle/>
          <a:p>
            <a:r>
              <a:rPr lang="en-US" altLang="zh-CN" b="1" dirty="0">
                <a:solidFill>
                  <a:srgbClr val="FF0000"/>
                </a:solidFill>
                <a:latin typeface="Arial" panose="020B0604020202020204" pitchFamily="34" charset="0"/>
                <a:ea typeface="宋体" panose="02010600030101010101" pitchFamily="2" charset="-122"/>
              </a:rPr>
              <a:t>S=2.6R</a:t>
            </a:r>
            <a:r>
              <a:rPr lang="en-US" altLang="zh-CN" b="1" baseline="30000" dirty="0">
                <a:solidFill>
                  <a:srgbClr val="FF0000"/>
                </a:solidFill>
                <a:latin typeface="Arial" panose="020B0604020202020204" pitchFamily="34" charset="0"/>
                <a:ea typeface="宋体" panose="02010600030101010101" pitchFamily="2" charset="-122"/>
              </a:rPr>
              <a:t>2</a:t>
            </a:r>
          </a:p>
          <a:p>
            <a:endParaRPr lang="zh-CN" altLang="en-US" dirty="0"/>
          </a:p>
        </p:txBody>
      </p:sp>
      <p:sp>
        <p:nvSpPr>
          <p:cNvPr id="8" name="文本框 7">
            <a:extLst>
              <a:ext uri="{FF2B5EF4-FFF2-40B4-BE49-F238E27FC236}">
                <a16:creationId xmlns:a16="http://schemas.microsoft.com/office/drawing/2014/main" id="{75EFDDB4-0BF1-7AE3-A1A5-6FF7185E3569}"/>
              </a:ext>
            </a:extLst>
          </p:cNvPr>
          <p:cNvSpPr txBox="1"/>
          <p:nvPr/>
        </p:nvSpPr>
        <p:spPr>
          <a:xfrm>
            <a:off x="6903613" y="5742823"/>
            <a:ext cx="1263192" cy="646331"/>
          </a:xfrm>
          <a:prstGeom prst="rect">
            <a:avLst/>
          </a:prstGeom>
          <a:noFill/>
        </p:spPr>
        <p:txBody>
          <a:bodyPr wrap="square" rtlCol="0">
            <a:spAutoFit/>
          </a:bodyPr>
          <a:lstStyle/>
          <a:p>
            <a:r>
              <a:rPr lang="en-US" altLang="zh-CN" b="1" dirty="0">
                <a:solidFill>
                  <a:srgbClr val="FF0000"/>
                </a:solidFill>
                <a:latin typeface="Arial" panose="020B0604020202020204" pitchFamily="34" charset="0"/>
                <a:ea typeface="宋体" panose="02010600030101010101" pitchFamily="2" charset="-122"/>
              </a:rPr>
              <a:t>S=1.95R</a:t>
            </a:r>
            <a:r>
              <a:rPr lang="en-US" altLang="zh-CN" b="1" baseline="30000" dirty="0">
                <a:solidFill>
                  <a:srgbClr val="FF0000"/>
                </a:solidFill>
                <a:latin typeface="Arial" panose="020B0604020202020204" pitchFamily="34" charset="0"/>
                <a:ea typeface="宋体" panose="02010600030101010101" pitchFamily="2" charset="-122"/>
              </a:rPr>
              <a:t>2</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576440"/>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 name="标题 1"/>
          <p:cNvSpPr txBox="1"/>
          <p:nvPr/>
        </p:nvSpPr>
        <p:spPr bwMode="auto">
          <a:xfrm>
            <a:off x="878481" y="1523445"/>
            <a:ext cx="5770894"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marR="0" lvl="0" indent="-342900" defTabSz="914400" eaLnBrk="1" fontAlgn="base" hangingPunct="1">
              <a:lnSpc>
                <a:spcPct val="90000"/>
              </a:lnSpc>
              <a:spcAft>
                <a:spcPct val="0"/>
              </a:spcAft>
              <a:buClrTx/>
              <a:buSzTx/>
              <a:buFont typeface="Wingdings" panose="05000000000000000000" pitchFamily="2" charset="2"/>
              <a:buChar char="u"/>
              <a:defRPr/>
            </a:pPr>
            <a:r>
              <a:rPr lang="zh-CN" altLang="en-US" sz="2000" b="1" dirty="0">
                <a:solidFill>
                  <a:srgbClr val="005BAA"/>
                </a:solidFill>
              </a:rPr>
              <a:t>自由空间传播模型</a:t>
            </a:r>
          </a:p>
        </p:txBody>
      </p:sp>
      <p:graphicFrame>
        <p:nvGraphicFramePr>
          <p:cNvPr id="16" name="Object 0"/>
          <p:cNvGraphicFramePr>
            <a:graphicFrameLocks noChangeAspect="1"/>
          </p:cNvGraphicFramePr>
          <p:nvPr/>
        </p:nvGraphicFramePr>
        <p:xfrm>
          <a:off x="3414613" y="2592865"/>
          <a:ext cx="6319838" cy="469900"/>
        </p:xfrm>
        <a:graphic>
          <a:graphicData uri="http://schemas.openxmlformats.org/presentationml/2006/ole">
            <mc:AlternateContent xmlns:mc="http://schemas.openxmlformats.org/markup-compatibility/2006">
              <mc:Choice xmlns:v="urn:schemas-microsoft-com:vml" Requires="v">
                <p:oleObj r:id="rId2" imgW="2730500" imgH="241300" progId="Equation.3">
                  <p:embed/>
                </p:oleObj>
              </mc:Choice>
              <mc:Fallback>
                <p:oleObj r:id="rId2" imgW="2730500" imgH="241300" progId="Equation.3">
                  <p:embed/>
                  <p:pic>
                    <p:nvPicPr>
                      <p:cNvPr id="0" name="图片 10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4613" y="2592865"/>
                        <a:ext cx="6319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 name="Text Box 7"/>
          <p:cNvSpPr txBox="1">
            <a:spLocks noChangeArrowheads="1"/>
          </p:cNvSpPr>
          <p:nvPr/>
        </p:nvSpPr>
        <p:spPr bwMode="auto">
          <a:xfrm>
            <a:off x="4332188" y="4186715"/>
            <a:ext cx="4910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Font typeface="Arial" panose="020B0604020202020204" pitchFamily="34" charset="0"/>
              <a:buBlip>
                <a:blip r:embed="rId4"/>
              </a:buBlip>
            </a:pPr>
            <a:r>
              <a:rPr lang="en-US" altLang="zh-CN" sz="2400">
                <a:latin typeface="+mj-ea"/>
                <a:ea typeface="+mj-ea"/>
              </a:rPr>
              <a:t> </a:t>
            </a:r>
            <a:r>
              <a:rPr lang="zh-CN" altLang="en-US" sz="2400">
                <a:latin typeface="+mj-ea"/>
                <a:ea typeface="+mj-ea"/>
              </a:rPr>
              <a:t>传播距离越远，路径损耗越大</a:t>
            </a:r>
          </a:p>
        </p:txBody>
      </p:sp>
      <p:sp>
        <p:nvSpPr>
          <p:cNvPr id="18" name="Rectangle 8"/>
          <p:cNvSpPr>
            <a:spLocks noChangeArrowheads="1"/>
          </p:cNvSpPr>
          <p:nvPr/>
        </p:nvSpPr>
        <p:spPr bwMode="auto">
          <a:xfrm>
            <a:off x="4349651" y="4796315"/>
            <a:ext cx="5097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Font typeface="Arial" panose="020B0604020202020204" pitchFamily="34" charset="0"/>
              <a:buBlip>
                <a:blip r:embed="rId4"/>
              </a:buBlip>
            </a:pPr>
            <a:r>
              <a:rPr lang="zh-CN" altLang="en-US" sz="2400">
                <a:latin typeface="+mj-ea"/>
                <a:ea typeface="+mj-ea"/>
              </a:rPr>
              <a:t>电波的频率越高，路径损耗也越大</a:t>
            </a:r>
          </a:p>
        </p:txBody>
      </p:sp>
      <p:sp>
        <p:nvSpPr>
          <p:cNvPr id="19" name="TextBox 1"/>
          <p:cNvSpPr txBox="1">
            <a:spLocks noChangeArrowheads="1"/>
          </p:cNvSpPr>
          <p:nvPr/>
        </p:nvSpPr>
        <p:spPr bwMode="auto">
          <a:xfrm>
            <a:off x="3971826" y="3418365"/>
            <a:ext cx="5761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latin typeface="+mj-ea"/>
                <a:ea typeface="+mj-ea"/>
              </a:rPr>
              <a:t>L</a:t>
            </a:r>
            <a:r>
              <a:rPr lang="zh-CN" altLang="en-US" sz="2000" b="1" dirty="0">
                <a:latin typeface="+mj-ea"/>
                <a:ea typeface="+mj-ea"/>
              </a:rPr>
              <a:t>：路径损耗；</a:t>
            </a:r>
            <a:r>
              <a:rPr lang="en-US" altLang="zh-CN" sz="2000" b="1" dirty="0">
                <a:latin typeface="+mj-ea"/>
                <a:ea typeface="+mj-ea"/>
              </a:rPr>
              <a:t>d</a:t>
            </a:r>
            <a:r>
              <a:rPr lang="zh-CN" altLang="en-US" sz="2000" b="1" dirty="0">
                <a:latin typeface="+mj-ea"/>
                <a:ea typeface="+mj-ea"/>
              </a:rPr>
              <a:t>：传播距离；</a:t>
            </a:r>
            <a:r>
              <a:rPr lang="en-US" altLang="zh-CN" sz="2000" b="1" dirty="0">
                <a:latin typeface="+mj-ea"/>
                <a:ea typeface="+mj-ea"/>
              </a:rPr>
              <a:t>f</a:t>
            </a:r>
            <a:r>
              <a:rPr lang="zh-CN" altLang="en-US" sz="2000" b="1" dirty="0">
                <a:latin typeface="+mj-ea"/>
                <a:ea typeface="+mj-ea"/>
              </a:rPr>
              <a:t>：工作频率</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576440"/>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4" name="标题 1"/>
          <p:cNvSpPr txBox="1"/>
          <p:nvPr/>
        </p:nvSpPr>
        <p:spPr bwMode="auto">
          <a:xfrm>
            <a:off x="878480" y="1444997"/>
            <a:ext cx="27169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marR="0" lvl="0" indent="-342900" defTabSz="914400" eaLnBrk="1" fontAlgn="base" hangingPunct="1">
              <a:lnSpc>
                <a:spcPct val="90000"/>
              </a:lnSpc>
              <a:spcAft>
                <a:spcPct val="0"/>
              </a:spcAft>
              <a:buClrTx/>
              <a:buSzTx/>
              <a:buFont typeface="Wingdings" panose="05000000000000000000" pitchFamily="2" charset="2"/>
              <a:buChar char="u"/>
              <a:defRPr/>
            </a:pPr>
            <a:r>
              <a:rPr lang="zh-CN" altLang="en-US" sz="2000" b="1" dirty="0">
                <a:solidFill>
                  <a:srgbClr val="005BAA"/>
                </a:solidFill>
              </a:rPr>
              <a:t>小区半径的获取</a:t>
            </a:r>
          </a:p>
        </p:txBody>
      </p:sp>
      <p:sp>
        <p:nvSpPr>
          <p:cNvPr id="35" name="Rectangle 5"/>
          <p:cNvSpPr>
            <a:spLocks noChangeArrowheads="1"/>
          </p:cNvSpPr>
          <p:nvPr/>
        </p:nvSpPr>
        <p:spPr bwMode="auto">
          <a:xfrm>
            <a:off x="1326949" y="2477316"/>
            <a:ext cx="7632700"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8605" indent="-26860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0066FF"/>
              </a:buClr>
              <a:buSzPct val="80000"/>
              <a:buFont typeface="Wingdings" panose="05000000000000000000" pitchFamily="2" charset="2"/>
              <a:buChar char="n"/>
            </a:pPr>
            <a:r>
              <a:rPr lang="zh-CN" altLang="en-US" sz="1600" b="1" dirty="0">
                <a:latin typeface="+mj-ea"/>
                <a:ea typeface="+mj-ea"/>
              </a:rPr>
              <a:t>常用传播模型</a:t>
            </a:r>
          </a:p>
        </p:txBody>
      </p:sp>
      <p:sp>
        <p:nvSpPr>
          <p:cNvPr id="36" name="Rectangle 6"/>
          <p:cNvSpPr>
            <a:spLocks noChangeArrowheads="1"/>
          </p:cNvSpPr>
          <p:nvPr/>
        </p:nvSpPr>
        <p:spPr bwMode="auto">
          <a:xfrm>
            <a:off x="7125218" y="1620941"/>
            <a:ext cx="2016125" cy="660400"/>
          </a:xfrm>
          <a:prstGeom prst="rect">
            <a:avLst/>
          </a:prstGeom>
          <a:solidFill>
            <a:srgbClr val="CCFFCC"/>
          </a:solidFill>
          <a:ln w="9525" algn="ctr">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dirty="0">
                <a:latin typeface="+mj-ea"/>
                <a:ea typeface="+mj-ea"/>
              </a:rPr>
              <a:t>传播模型</a:t>
            </a:r>
          </a:p>
        </p:txBody>
      </p:sp>
      <p:sp>
        <p:nvSpPr>
          <p:cNvPr id="37" name="Text Box 7"/>
          <p:cNvSpPr txBox="1">
            <a:spLocks noChangeArrowheads="1"/>
          </p:cNvSpPr>
          <p:nvPr/>
        </p:nvSpPr>
        <p:spPr bwMode="auto">
          <a:xfrm>
            <a:off x="4053406" y="1800329"/>
            <a:ext cx="2236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latin typeface="+mj-ea"/>
                <a:ea typeface="+mj-ea"/>
              </a:rPr>
              <a:t>最大允许传播损耗</a:t>
            </a:r>
          </a:p>
        </p:txBody>
      </p:sp>
      <p:sp>
        <p:nvSpPr>
          <p:cNvPr id="38" name="Text Box 8"/>
          <p:cNvSpPr txBox="1">
            <a:spLocks noChangeArrowheads="1"/>
          </p:cNvSpPr>
          <p:nvPr/>
        </p:nvSpPr>
        <p:spPr bwMode="auto">
          <a:xfrm>
            <a:off x="9911281" y="1800329"/>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latin typeface="+mj-ea"/>
                <a:ea typeface="+mj-ea"/>
              </a:rPr>
              <a:t>小区半径</a:t>
            </a:r>
          </a:p>
        </p:txBody>
      </p:sp>
      <p:sp>
        <p:nvSpPr>
          <p:cNvPr id="39" name="Line 9"/>
          <p:cNvSpPr>
            <a:spLocks noChangeShapeType="1"/>
          </p:cNvSpPr>
          <p:nvPr/>
        </p:nvSpPr>
        <p:spPr bwMode="auto">
          <a:xfrm>
            <a:off x="6333056" y="1981304"/>
            <a:ext cx="792162"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latin typeface="+mj-ea"/>
              <a:ea typeface="+mj-ea"/>
            </a:endParaRPr>
          </a:p>
        </p:txBody>
      </p:sp>
      <p:sp>
        <p:nvSpPr>
          <p:cNvPr id="40" name="Line 10"/>
          <p:cNvSpPr>
            <a:spLocks noChangeShapeType="1"/>
          </p:cNvSpPr>
          <p:nvPr/>
        </p:nvSpPr>
        <p:spPr bwMode="auto">
          <a:xfrm>
            <a:off x="9141343" y="1981304"/>
            <a:ext cx="792163"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latin typeface="+mj-ea"/>
              <a:ea typeface="+mj-ea"/>
            </a:endParaRPr>
          </a:p>
        </p:txBody>
      </p:sp>
      <p:sp>
        <p:nvSpPr>
          <p:cNvPr id="41" name="Text Box 11"/>
          <p:cNvSpPr txBox="1">
            <a:spLocks noChangeArrowheads="1"/>
          </p:cNvSpPr>
          <p:nvPr/>
        </p:nvSpPr>
        <p:spPr bwMode="auto">
          <a:xfrm>
            <a:off x="6477518" y="1740004"/>
            <a:ext cx="4921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latin typeface="+mj-ea"/>
                <a:ea typeface="+mj-ea"/>
              </a:rPr>
              <a:t>输入</a:t>
            </a:r>
          </a:p>
        </p:txBody>
      </p:sp>
      <p:sp>
        <p:nvSpPr>
          <p:cNvPr id="42" name="Text Box 12"/>
          <p:cNvSpPr txBox="1">
            <a:spLocks noChangeArrowheads="1"/>
          </p:cNvSpPr>
          <p:nvPr/>
        </p:nvSpPr>
        <p:spPr bwMode="auto">
          <a:xfrm>
            <a:off x="9214368" y="1740004"/>
            <a:ext cx="4921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b="1" dirty="0">
                <a:latin typeface="+mj-ea"/>
                <a:ea typeface="+mj-ea"/>
              </a:rPr>
              <a:t>输出</a:t>
            </a:r>
          </a:p>
        </p:txBody>
      </p:sp>
      <p:graphicFrame>
        <p:nvGraphicFramePr>
          <p:cNvPr id="43" name="Object 1"/>
          <p:cNvGraphicFramePr>
            <a:graphicFrameLocks noChangeAspect="1"/>
          </p:cNvGraphicFramePr>
          <p:nvPr>
            <p:extLst>
              <p:ext uri="{D42A27DB-BD31-4B8C-83A1-F6EECF244321}">
                <p14:modId xmlns:p14="http://schemas.microsoft.com/office/powerpoint/2010/main" val="961025459"/>
              </p:ext>
            </p:extLst>
          </p:nvPr>
        </p:nvGraphicFramePr>
        <p:xfrm>
          <a:off x="2665413" y="3268663"/>
          <a:ext cx="8923337" cy="658812"/>
        </p:xfrm>
        <a:graphic>
          <a:graphicData uri="http://schemas.openxmlformats.org/presentationml/2006/ole">
            <mc:AlternateContent xmlns:mc="http://schemas.openxmlformats.org/markup-compatibility/2006">
              <mc:Choice xmlns:v="urn:schemas-microsoft-com:vml" Requires="v">
                <p:oleObj name="公式" r:id="rId2" imgW="5486400" imgH="482400" progId="Equation.3">
                  <p:embed/>
                </p:oleObj>
              </mc:Choice>
              <mc:Fallback>
                <p:oleObj name="公式" r:id="rId2" imgW="5486400" imgH="482400" progId="Equation.3">
                  <p:embed/>
                  <p:pic>
                    <p:nvPicPr>
                      <p:cNvPr id="0" name="图片 2063"/>
                      <p:cNvPicPr>
                        <a:picLocks noChangeAspect="1" noChangeArrowheads="1"/>
                      </p:cNvPicPr>
                      <p:nvPr/>
                    </p:nvPicPr>
                    <p:blipFill>
                      <a:blip r:embed="rId3"/>
                      <a:srcRect/>
                      <a:stretch>
                        <a:fillRect/>
                      </a:stretch>
                    </p:blipFill>
                    <p:spPr bwMode="auto">
                      <a:xfrm>
                        <a:off x="2665413" y="3268663"/>
                        <a:ext cx="8923337" cy="658812"/>
                      </a:xfrm>
                      <a:prstGeom prst="rect">
                        <a:avLst/>
                      </a:prstGeom>
                      <a:noFill/>
                      <a:ln>
                        <a:noFill/>
                      </a:ln>
                    </p:spPr>
                  </p:pic>
                </p:oleObj>
              </mc:Fallback>
            </mc:AlternateContent>
          </a:graphicData>
        </a:graphic>
      </p:graphicFrame>
      <p:pic>
        <p:nvPicPr>
          <p:cNvPr id="11" name="图片 10">
            <a:extLst>
              <a:ext uri="{FF2B5EF4-FFF2-40B4-BE49-F238E27FC236}">
                <a16:creationId xmlns:a16="http://schemas.microsoft.com/office/drawing/2014/main" id="{CACF3093-EA93-CF1D-AC99-217BF13C925C}"/>
              </a:ext>
            </a:extLst>
          </p:cNvPr>
          <p:cNvPicPr>
            <a:picLocks noChangeAspect="1"/>
          </p:cNvPicPr>
          <p:nvPr/>
        </p:nvPicPr>
        <p:blipFill>
          <a:blip r:embed="rId4"/>
          <a:stretch>
            <a:fillRect/>
          </a:stretch>
        </p:blipFill>
        <p:spPr>
          <a:xfrm>
            <a:off x="3576437" y="4583326"/>
            <a:ext cx="3114286" cy="1771429"/>
          </a:xfrm>
          <a:prstGeom prst="rect">
            <a:avLst/>
          </a:prstGeom>
        </p:spPr>
      </p:pic>
      <p:pic>
        <p:nvPicPr>
          <p:cNvPr id="14" name="图片 13">
            <a:extLst>
              <a:ext uri="{FF2B5EF4-FFF2-40B4-BE49-F238E27FC236}">
                <a16:creationId xmlns:a16="http://schemas.microsoft.com/office/drawing/2014/main" id="{5B56BE84-1269-64E0-C3AA-0A501F7787E6}"/>
              </a:ext>
            </a:extLst>
          </p:cNvPr>
          <p:cNvPicPr>
            <a:picLocks noChangeAspect="1"/>
          </p:cNvPicPr>
          <p:nvPr/>
        </p:nvPicPr>
        <p:blipFill>
          <a:blip r:embed="rId5"/>
          <a:stretch>
            <a:fillRect/>
          </a:stretch>
        </p:blipFill>
        <p:spPr>
          <a:xfrm>
            <a:off x="6969643" y="4256193"/>
            <a:ext cx="3085714" cy="24571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室外链路预算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7" name="标题 1"/>
          <p:cNvSpPr txBox="1"/>
          <p:nvPr/>
        </p:nvSpPr>
        <p:spPr bwMode="auto">
          <a:xfrm>
            <a:off x="878481" y="2001969"/>
            <a:ext cx="247173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marR="0" lvl="0" indent="-342900" defTabSz="914400" eaLnBrk="1" fontAlgn="base" hangingPunct="1">
              <a:lnSpc>
                <a:spcPct val="90000"/>
              </a:lnSpc>
              <a:spcAft>
                <a:spcPct val="0"/>
              </a:spcAft>
              <a:buClrTx/>
              <a:buSzTx/>
              <a:buFont typeface="Wingdings" panose="05000000000000000000" pitchFamily="2" charset="2"/>
              <a:buChar char="u"/>
              <a:defRPr/>
            </a:pPr>
            <a:r>
              <a:rPr lang="zh-CN" altLang="en-US" sz="2000" b="1" dirty="0">
                <a:solidFill>
                  <a:srgbClr val="005BAA"/>
                </a:solidFill>
              </a:rPr>
              <a:t>什么是链路预算</a:t>
            </a:r>
            <a:r>
              <a:rPr lang="en-US" altLang="zh-CN" sz="2000" b="1" dirty="0">
                <a:solidFill>
                  <a:srgbClr val="005BAA"/>
                </a:solidFill>
              </a:rPr>
              <a:t>?</a:t>
            </a:r>
            <a:endParaRPr lang="zh-CN" altLang="en-US" sz="2000" b="1" dirty="0">
              <a:solidFill>
                <a:srgbClr val="005BAA"/>
              </a:solidFill>
            </a:endParaRPr>
          </a:p>
        </p:txBody>
      </p:sp>
      <p:sp>
        <p:nvSpPr>
          <p:cNvPr id="18" name="Rectangle 244"/>
          <p:cNvSpPr txBox="1">
            <a:spLocks noChangeArrowheads="1"/>
          </p:cNvSpPr>
          <p:nvPr/>
        </p:nvSpPr>
        <p:spPr>
          <a:xfrm>
            <a:off x="4643120" y="1170658"/>
            <a:ext cx="6010539" cy="19875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zh-CN" altLang="en-US" sz="1800" b="1" dirty="0">
                <a:solidFill>
                  <a:srgbClr val="FF0000"/>
                </a:solidFill>
              </a:rPr>
              <a:t>链路预算</a:t>
            </a:r>
            <a:r>
              <a:rPr lang="zh-CN" altLang="en-US" sz="1800" dirty="0">
                <a:latin typeface="华文中宋" pitchFamily="2" charset="-122"/>
              </a:rPr>
              <a:t>是对一条通讯链路上的各种损耗和增益的核算。</a:t>
            </a:r>
          </a:p>
          <a:p>
            <a:pPr lvl="1">
              <a:spcBef>
                <a:spcPts val="600"/>
              </a:spcBef>
              <a:spcAft>
                <a:spcPts val="600"/>
              </a:spcAft>
            </a:pPr>
            <a:r>
              <a:rPr lang="zh-CN" altLang="en-US" sz="1800" dirty="0">
                <a:solidFill>
                  <a:srgbClr val="FF0000"/>
                </a:solidFill>
              </a:rPr>
              <a:t>确定允许的最大路径损耗</a:t>
            </a:r>
          </a:p>
          <a:p>
            <a:pPr lvl="1">
              <a:spcBef>
                <a:spcPts val="600"/>
              </a:spcBef>
              <a:spcAft>
                <a:spcPts val="600"/>
              </a:spcAft>
            </a:pPr>
            <a:r>
              <a:rPr lang="zh-CN" altLang="en-US" sz="1800" dirty="0"/>
              <a:t>进而确定最大的小区半径</a:t>
            </a:r>
          </a:p>
          <a:p>
            <a:pPr marL="0" indent="0">
              <a:spcBef>
                <a:spcPts val="600"/>
              </a:spcBef>
              <a:spcAft>
                <a:spcPts val="600"/>
              </a:spcAft>
              <a:buNone/>
            </a:pPr>
            <a:r>
              <a:rPr lang="zh-CN" altLang="en-US" sz="2000" dirty="0"/>
              <a:t>计算出满足覆盖需要的基站数量</a:t>
            </a:r>
          </a:p>
        </p:txBody>
      </p:sp>
      <p:grpSp>
        <p:nvGrpSpPr>
          <p:cNvPr id="23" name="Group 183"/>
          <p:cNvGrpSpPr/>
          <p:nvPr/>
        </p:nvGrpSpPr>
        <p:grpSpPr bwMode="auto">
          <a:xfrm>
            <a:off x="2051527" y="3411018"/>
            <a:ext cx="8424862" cy="501650"/>
            <a:chOff x="295" y="784"/>
            <a:chExt cx="5307" cy="379"/>
          </a:xfrm>
        </p:grpSpPr>
        <p:sp>
          <p:nvSpPr>
            <p:cNvPr id="24" name="Line 182"/>
            <p:cNvSpPr>
              <a:spLocks noChangeShapeType="1"/>
            </p:cNvSpPr>
            <p:nvPr/>
          </p:nvSpPr>
          <p:spPr bwMode="auto">
            <a:xfrm>
              <a:off x="793" y="1033"/>
              <a:ext cx="4355" cy="0"/>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5" name="Group 151"/>
            <p:cNvGrpSpPr/>
            <p:nvPr/>
          </p:nvGrpSpPr>
          <p:grpSpPr bwMode="auto">
            <a:xfrm>
              <a:off x="295" y="784"/>
              <a:ext cx="499" cy="379"/>
              <a:chOff x="702" y="607"/>
              <a:chExt cx="590" cy="464"/>
            </a:xfrm>
          </p:grpSpPr>
          <p:sp>
            <p:nvSpPr>
              <p:cNvPr id="59" name="AutoShape 143"/>
              <p:cNvSpPr>
                <a:spLocks noChangeArrowheads="1"/>
              </p:cNvSpPr>
              <p:nvPr/>
            </p:nvSpPr>
            <p:spPr bwMode="auto">
              <a:xfrm>
                <a:off x="702" y="738"/>
                <a:ext cx="590" cy="333"/>
              </a:xfrm>
              <a:prstGeom prst="roundRect">
                <a:avLst>
                  <a:gd name="adj" fmla="val 16667"/>
                </a:avLst>
              </a:prstGeom>
              <a:solidFill>
                <a:srgbClr val="00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ea typeface="华文细黑" panose="02010600040101010101" pitchFamily="2" charset="-122"/>
                  </a:rPr>
                  <a:t>移动台</a:t>
                </a:r>
              </a:p>
            </p:txBody>
          </p:sp>
          <p:sp>
            <p:nvSpPr>
              <p:cNvPr id="60" name="AutoShape 144"/>
              <p:cNvSpPr>
                <a:spLocks noChangeArrowheads="1"/>
              </p:cNvSpPr>
              <p:nvPr/>
            </p:nvSpPr>
            <p:spPr bwMode="auto">
              <a:xfrm>
                <a:off x="732" y="607"/>
                <a:ext cx="531" cy="377"/>
              </a:xfrm>
              <a:prstGeom prst="roundRect">
                <a:avLst>
                  <a:gd name="adj" fmla="val 16667"/>
                </a:avLst>
              </a:prstGeom>
              <a:gradFill rotWithShape="1">
                <a:gsLst>
                  <a:gs pos="0">
                    <a:schemeClr val="bg1">
                      <a:gamma/>
                      <a:tint val="0"/>
                      <a:invGamma/>
                    </a:schemeClr>
                  </a:gs>
                  <a:gs pos="100000">
                    <a:schemeClr val="bg1">
                      <a:alpha val="0"/>
                    </a:schemeClr>
                  </a:gs>
                </a:gsLst>
                <a:lin ang="5400000" scaled="1"/>
              </a:gradFill>
              <a:ln w="9525">
                <a:noFill/>
                <a:round/>
              </a:ln>
              <a:effectLst/>
            </p:spPr>
            <p:txBody>
              <a:bodyPr anchor="ctr">
                <a:spAutoFit/>
              </a:bodyPr>
              <a:lstStyle/>
              <a:p>
                <a:pPr>
                  <a:defRPr/>
                </a:pPr>
                <a:endParaRPr lang="zh-CN" altLang="en-US"/>
              </a:p>
            </p:txBody>
          </p:sp>
        </p:grpSp>
        <p:grpSp>
          <p:nvGrpSpPr>
            <p:cNvPr id="26" name="Group 152"/>
            <p:cNvGrpSpPr/>
            <p:nvPr/>
          </p:nvGrpSpPr>
          <p:grpSpPr bwMode="auto">
            <a:xfrm>
              <a:off x="884" y="784"/>
              <a:ext cx="635" cy="379"/>
              <a:chOff x="702" y="607"/>
              <a:chExt cx="590" cy="464"/>
            </a:xfrm>
          </p:grpSpPr>
          <p:sp>
            <p:nvSpPr>
              <p:cNvPr id="57" name="AutoShape 153"/>
              <p:cNvSpPr>
                <a:spLocks noChangeArrowheads="1"/>
              </p:cNvSpPr>
              <p:nvPr/>
            </p:nvSpPr>
            <p:spPr bwMode="auto">
              <a:xfrm>
                <a:off x="702" y="738"/>
                <a:ext cx="590" cy="333"/>
              </a:xfrm>
              <a:prstGeom prst="roundRect">
                <a:avLst>
                  <a:gd name="adj" fmla="val 16667"/>
                </a:avLst>
              </a:prstGeom>
              <a:solidFill>
                <a:srgbClr val="00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ea typeface="华文细黑" panose="02010600040101010101" pitchFamily="2" charset="-122"/>
                  </a:rPr>
                  <a:t>馈线损耗</a:t>
                </a:r>
              </a:p>
            </p:txBody>
          </p:sp>
          <p:sp>
            <p:nvSpPr>
              <p:cNvPr id="58" name="AutoShape 154"/>
              <p:cNvSpPr>
                <a:spLocks noChangeArrowheads="1"/>
              </p:cNvSpPr>
              <p:nvPr/>
            </p:nvSpPr>
            <p:spPr bwMode="auto">
              <a:xfrm>
                <a:off x="732" y="607"/>
                <a:ext cx="531" cy="377"/>
              </a:xfrm>
              <a:prstGeom prst="roundRect">
                <a:avLst>
                  <a:gd name="adj" fmla="val 16667"/>
                </a:avLst>
              </a:prstGeom>
              <a:gradFill rotWithShape="1">
                <a:gsLst>
                  <a:gs pos="0">
                    <a:schemeClr val="bg1">
                      <a:gamma/>
                      <a:tint val="0"/>
                      <a:invGamma/>
                    </a:schemeClr>
                  </a:gs>
                  <a:gs pos="100000">
                    <a:schemeClr val="bg1">
                      <a:alpha val="0"/>
                    </a:schemeClr>
                  </a:gs>
                </a:gsLst>
                <a:lin ang="5400000" scaled="1"/>
              </a:gradFill>
              <a:ln w="9525">
                <a:noFill/>
                <a:round/>
              </a:ln>
              <a:effectLst/>
            </p:spPr>
            <p:txBody>
              <a:bodyPr anchor="ctr">
                <a:spAutoFit/>
              </a:bodyPr>
              <a:lstStyle/>
              <a:p>
                <a:pPr>
                  <a:defRPr/>
                </a:pPr>
                <a:endParaRPr lang="zh-CN" altLang="en-US"/>
              </a:p>
            </p:txBody>
          </p:sp>
        </p:grpSp>
        <p:grpSp>
          <p:nvGrpSpPr>
            <p:cNvPr id="27" name="Group 155"/>
            <p:cNvGrpSpPr/>
            <p:nvPr/>
          </p:nvGrpSpPr>
          <p:grpSpPr bwMode="auto">
            <a:xfrm>
              <a:off x="1610" y="784"/>
              <a:ext cx="635" cy="379"/>
              <a:chOff x="702" y="607"/>
              <a:chExt cx="590" cy="464"/>
            </a:xfrm>
          </p:grpSpPr>
          <p:sp>
            <p:nvSpPr>
              <p:cNvPr id="55" name="AutoShape 156"/>
              <p:cNvSpPr>
                <a:spLocks noChangeArrowheads="1"/>
              </p:cNvSpPr>
              <p:nvPr/>
            </p:nvSpPr>
            <p:spPr bwMode="auto">
              <a:xfrm>
                <a:off x="702" y="738"/>
                <a:ext cx="590" cy="333"/>
              </a:xfrm>
              <a:prstGeom prst="roundRect">
                <a:avLst>
                  <a:gd name="adj" fmla="val 16667"/>
                </a:avLst>
              </a:prstGeom>
              <a:solidFill>
                <a:srgbClr val="00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ea typeface="华文细黑" panose="02010600040101010101" pitchFamily="2" charset="-122"/>
                  </a:rPr>
                  <a:t>天线增益</a:t>
                </a:r>
              </a:p>
            </p:txBody>
          </p:sp>
          <p:sp>
            <p:nvSpPr>
              <p:cNvPr id="56" name="AutoShape 157"/>
              <p:cNvSpPr>
                <a:spLocks noChangeArrowheads="1"/>
              </p:cNvSpPr>
              <p:nvPr/>
            </p:nvSpPr>
            <p:spPr bwMode="auto">
              <a:xfrm>
                <a:off x="732" y="607"/>
                <a:ext cx="531" cy="377"/>
              </a:xfrm>
              <a:prstGeom prst="roundRect">
                <a:avLst>
                  <a:gd name="adj" fmla="val 16667"/>
                </a:avLst>
              </a:prstGeom>
              <a:gradFill rotWithShape="1">
                <a:gsLst>
                  <a:gs pos="0">
                    <a:schemeClr val="bg1">
                      <a:gamma/>
                      <a:tint val="0"/>
                      <a:invGamma/>
                    </a:schemeClr>
                  </a:gs>
                  <a:gs pos="100000">
                    <a:schemeClr val="bg1">
                      <a:alpha val="0"/>
                    </a:schemeClr>
                  </a:gs>
                </a:gsLst>
                <a:lin ang="5400000" scaled="1"/>
              </a:gradFill>
              <a:ln w="9525">
                <a:noFill/>
                <a:round/>
              </a:ln>
              <a:effectLst/>
            </p:spPr>
            <p:txBody>
              <a:bodyPr anchor="ctr">
                <a:spAutoFit/>
              </a:bodyPr>
              <a:lstStyle/>
              <a:p>
                <a:pPr>
                  <a:defRPr/>
                </a:pPr>
                <a:endParaRPr lang="zh-CN" altLang="en-US"/>
              </a:p>
            </p:txBody>
          </p:sp>
        </p:grpSp>
        <p:grpSp>
          <p:nvGrpSpPr>
            <p:cNvPr id="28" name="Group 158"/>
            <p:cNvGrpSpPr/>
            <p:nvPr/>
          </p:nvGrpSpPr>
          <p:grpSpPr bwMode="auto">
            <a:xfrm>
              <a:off x="2336" y="784"/>
              <a:ext cx="635" cy="379"/>
              <a:chOff x="702" y="607"/>
              <a:chExt cx="590" cy="464"/>
            </a:xfrm>
          </p:grpSpPr>
          <p:sp>
            <p:nvSpPr>
              <p:cNvPr id="53" name="AutoShape 159"/>
              <p:cNvSpPr>
                <a:spLocks noChangeArrowheads="1"/>
              </p:cNvSpPr>
              <p:nvPr/>
            </p:nvSpPr>
            <p:spPr bwMode="auto">
              <a:xfrm>
                <a:off x="702" y="738"/>
                <a:ext cx="590" cy="333"/>
              </a:xfrm>
              <a:prstGeom prst="roundRect">
                <a:avLst>
                  <a:gd name="adj" fmla="val 16667"/>
                </a:avLst>
              </a:prstGeom>
              <a:solidFill>
                <a:srgbClr val="CC99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ea typeface="华文细黑" panose="02010600040101010101" pitchFamily="2" charset="-122"/>
                  </a:rPr>
                  <a:t>路径损耗</a:t>
                </a:r>
              </a:p>
            </p:txBody>
          </p:sp>
          <p:sp>
            <p:nvSpPr>
              <p:cNvPr id="54" name="AutoShape 160"/>
              <p:cNvSpPr>
                <a:spLocks noChangeArrowheads="1"/>
              </p:cNvSpPr>
              <p:nvPr/>
            </p:nvSpPr>
            <p:spPr bwMode="auto">
              <a:xfrm>
                <a:off x="732" y="607"/>
                <a:ext cx="531" cy="377"/>
              </a:xfrm>
              <a:prstGeom prst="roundRect">
                <a:avLst>
                  <a:gd name="adj" fmla="val 16667"/>
                </a:avLst>
              </a:prstGeom>
              <a:gradFill rotWithShape="1">
                <a:gsLst>
                  <a:gs pos="0">
                    <a:schemeClr val="bg1">
                      <a:gamma/>
                      <a:tint val="0"/>
                      <a:invGamma/>
                    </a:schemeClr>
                  </a:gs>
                  <a:gs pos="100000">
                    <a:schemeClr val="bg1">
                      <a:alpha val="0"/>
                    </a:schemeClr>
                  </a:gs>
                </a:gsLst>
                <a:lin ang="5400000" scaled="1"/>
              </a:gradFill>
              <a:ln w="9525">
                <a:noFill/>
                <a:round/>
              </a:ln>
              <a:effectLst/>
            </p:spPr>
            <p:txBody>
              <a:bodyPr anchor="ctr">
                <a:spAutoFit/>
              </a:bodyPr>
              <a:lstStyle/>
              <a:p>
                <a:pPr>
                  <a:defRPr/>
                </a:pPr>
                <a:endParaRPr lang="zh-CN" altLang="en-US"/>
              </a:p>
            </p:txBody>
          </p:sp>
        </p:grpSp>
        <p:grpSp>
          <p:nvGrpSpPr>
            <p:cNvPr id="29" name="Group 161"/>
            <p:cNvGrpSpPr/>
            <p:nvPr/>
          </p:nvGrpSpPr>
          <p:grpSpPr bwMode="auto">
            <a:xfrm>
              <a:off x="3061" y="784"/>
              <a:ext cx="499" cy="379"/>
              <a:chOff x="702" y="607"/>
              <a:chExt cx="590" cy="464"/>
            </a:xfrm>
          </p:grpSpPr>
          <p:sp>
            <p:nvSpPr>
              <p:cNvPr id="51" name="AutoShape 162"/>
              <p:cNvSpPr>
                <a:spLocks noChangeArrowheads="1"/>
              </p:cNvSpPr>
              <p:nvPr/>
            </p:nvSpPr>
            <p:spPr bwMode="auto">
              <a:xfrm>
                <a:off x="702" y="738"/>
                <a:ext cx="590" cy="333"/>
              </a:xfrm>
              <a:prstGeom prst="roundRect">
                <a:avLst>
                  <a:gd name="adj" fmla="val 16667"/>
                </a:avLst>
              </a:prstGeom>
              <a:solidFill>
                <a:srgbClr val="00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ea typeface="华文细黑" panose="02010600040101010101" pitchFamily="2" charset="-122"/>
                  </a:rPr>
                  <a:t>裕量</a:t>
                </a:r>
              </a:p>
            </p:txBody>
          </p:sp>
          <p:sp>
            <p:nvSpPr>
              <p:cNvPr id="52" name="AutoShape 163"/>
              <p:cNvSpPr>
                <a:spLocks noChangeArrowheads="1"/>
              </p:cNvSpPr>
              <p:nvPr/>
            </p:nvSpPr>
            <p:spPr bwMode="auto">
              <a:xfrm>
                <a:off x="732" y="607"/>
                <a:ext cx="531" cy="377"/>
              </a:xfrm>
              <a:prstGeom prst="roundRect">
                <a:avLst>
                  <a:gd name="adj" fmla="val 16667"/>
                </a:avLst>
              </a:prstGeom>
              <a:gradFill rotWithShape="1">
                <a:gsLst>
                  <a:gs pos="0">
                    <a:schemeClr val="bg1">
                      <a:gamma/>
                      <a:tint val="0"/>
                      <a:invGamma/>
                    </a:schemeClr>
                  </a:gs>
                  <a:gs pos="100000">
                    <a:schemeClr val="bg1">
                      <a:alpha val="0"/>
                    </a:schemeClr>
                  </a:gs>
                </a:gsLst>
                <a:lin ang="5400000" scaled="1"/>
              </a:gradFill>
              <a:ln w="9525">
                <a:noFill/>
                <a:round/>
              </a:ln>
              <a:effectLst/>
            </p:spPr>
            <p:txBody>
              <a:bodyPr anchor="ctr">
                <a:spAutoFit/>
              </a:bodyPr>
              <a:lstStyle/>
              <a:p>
                <a:pPr>
                  <a:defRPr/>
                </a:pPr>
                <a:endParaRPr lang="zh-CN" altLang="en-US"/>
              </a:p>
            </p:txBody>
          </p:sp>
        </p:grpSp>
        <p:grpSp>
          <p:nvGrpSpPr>
            <p:cNvPr id="30" name="Group 164"/>
            <p:cNvGrpSpPr/>
            <p:nvPr/>
          </p:nvGrpSpPr>
          <p:grpSpPr bwMode="auto">
            <a:xfrm>
              <a:off x="3651" y="784"/>
              <a:ext cx="635" cy="379"/>
              <a:chOff x="702" y="607"/>
              <a:chExt cx="590" cy="464"/>
            </a:xfrm>
          </p:grpSpPr>
          <p:sp>
            <p:nvSpPr>
              <p:cNvPr id="49" name="AutoShape 165"/>
              <p:cNvSpPr>
                <a:spLocks noChangeArrowheads="1"/>
              </p:cNvSpPr>
              <p:nvPr/>
            </p:nvSpPr>
            <p:spPr bwMode="auto">
              <a:xfrm>
                <a:off x="702" y="738"/>
                <a:ext cx="590" cy="333"/>
              </a:xfrm>
              <a:prstGeom prst="roundRect">
                <a:avLst>
                  <a:gd name="adj" fmla="val 16667"/>
                </a:avLst>
              </a:prstGeom>
              <a:solidFill>
                <a:srgbClr val="00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ea typeface="华文细黑" panose="02010600040101010101" pitchFamily="2" charset="-122"/>
                  </a:rPr>
                  <a:t>天线增益</a:t>
                </a:r>
              </a:p>
            </p:txBody>
          </p:sp>
          <p:sp>
            <p:nvSpPr>
              <p:cNvPr id="50" name="AutoShape 166"/>
              <p:cNvSpPr>
                <a:spLocks noChangeArrowheads="1"/>
              </p:cNvSpPr>
              <p:nvPr/>
            </p:nvSpPr>
            <p:spPr bwMode="auto">
              <a:xfrm>
                <a:off x="732" y="607"/>
                <a:ext cx="531" cy="377"/>
              </a:xfrm>
              <a:prstGeom prst="roundRect">
                <a:avLst>
                  <a:gd name="adj" fmla="val 16667"/>
                </a:avLst>
              </a:prstGeom>
              <a:gradFill rotWithShape="1">
                <a:gsLst>
                  <a:gs pos="0">
                    <a:schemeClr val="bg1">
                      <a:gamma/>
                      <a:tint val="0"/>
                      <a:invGamma/>
                    </a:schemeClr>
                  </a:gs>
                  <a:gs pos="100000">
                    <a:schemeClr val="bg1">
                      <a:alpha val="0"/>
                    </a:schemeClr>
                  </a:gs>
                </a:gsLst>
                <a:lin ang="5400000" scaled="1"/>
              </a:gradFill>
              <a:ln w="9525">
                <a:noFill/>
                <a:round/>
              </a:ln>
              <a:effectLst/>
            </p:spPr>
            <p:txBody>
              <a:bodyPr anchor="ctr">
                <a:spAutoFit/>
              </a:bodyPr>
              <a:lstStyle/>
              <a:p>
                <a:pPr>
                  <a:defRPr/>
                </a:pPr>
                <a:endParaRPr lang="zh-CN" altLang="en-US"/>
              </a:p>
            </p:txBody>
          </p:sp>
        </p:grpSp>
        <p:grpSp>
          <p:nvGrpSpPr>
            <p:cNvPr id="31" name="Group 167"/>
            <p:cNvGrpSpPr/>
            <p:nvPr/>
          </p:nvGrpSpPr>
          <p:grpSpPr bwMode="auto">
            <a:xfrm>
              <a:off x="4377" y="784"/>
              <a:ext cx="635" cy="379"/>
              <a:chOff x="702" y="607"/>
              <a:chExt cx="590" cy="464"/>
            </a:xfrm>
          </p:grpSpPr>
          <p:sp>
            <p:nvSpPr>
              <p:cNvPr id="47" name="AutoShape 168"/>
              <p:cNvSpPr>
                <a:spLocks noChangeArrowheads="1"/>
              </p:cNvSpPr>
              <p:nvPr/>
            </p:nvSpPr>
            <p:spPr bwMode="auto">
              <a:xfrm>
                <a:off x="702" y="738"/>
                <a:ext cx="590" cy="333"/>
              </a:xfrm>
              <a:prstGeom prst="roundRect">
                <a:avLst>
                  <a:gd name="adj" fmla="val 16667"/>
                </a:avLst>
              </a:prstGeom>
              <a:solidFill>
                <a:srgbClr val="00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ea typeface="华文细黑" panose="02010600040101010101" pitchFamily="2" charset="-122"/>
                  </a:rPr>
                  <a:t>馈线损耗</a:t>
                </a:r>
              </a:p>
            </p:txBody>
          </p:sp>
          <p:sp>
            <p:nvSpPr>
              <p:cNvPr id="48" name="AutoShape 169"/>
              <p:cNvSpPr>
                <a:spLocks noChangeArrowheads="1"/>
              </p:cNvSpPr>
              <p:nvPr/>
            </p:nvSpPr>
            <p:spPr bwMode="auto">
              <a:xfrm>
                <a:off x="732" y="607"/>
                <a:ext cx="531" cy="377"/>
              </a:xfrm>
              <a:prstGeom prst="roundRect">
                <a:avLst>
                  <a:gd name="adj" fmla="val 16667"/>
                </a:avLst>
              </a:prstGeom>
              <a:gradFill rotWithShape="1">
                <a:gsLst>
                  <a:gs pos="0">
                    <a:schemeClr val="bg1">
                      <a:gamma/>
                      <a:tint val="0"/>
                      <a:invGamma/>
                    </a:schemeClr>
                  </a:gs>
                  <a:gs pos="100000">
                    <a:schemeClr val="bg1">
                      <a:alpha val="0"/>
                    </a:schemeClr>
                  </a:gs>
                </a:gsLst>
                <a:lin ang="5400000" scaled="1"/>
              </a:gradFill>
              <a:ln w="9525">
                <a:noFill/>
                <a:round/>
              </a:ln>
              <a:effectLst/>
            </p:spPr>
            <p:txBody>
              <a:bodyPr anchor="ctr">
                <a:spAutoFit/>
              </a:bodyPr>
              <a:lstStyle/>
              <a:p>
                <a:pPr>
                  <a:defRPr/>
                </a:pPr>
                <a:endParaRPr lang="zh-CN" altLang="en-US"/>
              </a:p>
            </p:txBody>
          </p:sp>
        </p:grpSp>
        <p:grpSp>
          <p:nvGrpSpPr>
            <p:cNvPr id="32" name="Group 179"/>
            <p:cNvGrpSpPr/>
            <p:nvPr/>
          </p:nvGrpSpPr>
          <p:grpSpPr bwMode="auto">
            <a:xfrm>
              <a:off x="5103" y="784"/>
              <a:ext cx="499" cy="379"/>
              <a:chOff x="702" y="607"/>
              <a:chExt cx="590" cy="464"/>
            </a:xfrm>
          </p:grpSpPr>
          <p:sp>
            <p:nvSpPr>
              <p:cNvPr id="33" name="AutoShape 180"/>
              <p:cNvSpPr>
                <a:spLocks noChangeArrowheads="1"/>
              </p:cNvSpPr>
              <p:nvPr/>
            </p:nvSpPr>
            <p:spPr bwMode="auto">
              <a:xfrm>
                <a:off x="702" y="738"/>
                <a:ext cx="590" cy="333"/>
              </a:xfrm>
              <a:prstGeom prst="roundRect">
                <a:avLst>
                  <a:gd name="adj" fmla="val 16667"/>
                </a:avLst>
              </a:prstGeom>
              <a:solidFill>
                <a:srgbClr val="00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chemeClr val="bg1"/>
                    </a:solidFill>
                    <a:ea typeface="华文细黑" panose="02010600040101010101" pitchFamily="2" charset="-122"/>
                  </a:rPr>
                  <a:t>基站</a:t>
                </a:r>
              </a:p>
            </p:txBody>
          </p:sp>
          <p:sp>
            <p:nvSpPr>
              <p:cNvPr id="46" name="AutoShape 181"/>
              <p:cNvSpPr>
                <a:spLocks noChangeArrowheads="1"/>
              </p:cNvSpPr>
              <p:nvPr/>
            </p:nvSpPr>
            <p:spPr bwMode="auto">
              <a:xfrm>
                <a:off x="732" y="607"/>
                <a:ext cx="531" cy="377"/>
              </a:xfrm>
              <a:prstGeom prst="roundRect">
                <a:avLst>
                  <a:gd name="adj" fmla="val 16667"/>
                </a:avLst>
              </a:prstGeom>
              <a:gradFill rotWithShape="1">
                <a:gsLst>
                  <a:gs pos="0">
                    <a:schemeClr val="bg1">
                      <a:gamma/>
                      <a:tint val="0"/>
                      <a:invGamma/>
                    </a:schemeClr>
                  </a:gs>
                  <a:gs pos="100000">
                    <a:schemeClr val="bg1">
                      <a:alpha val="0"/>
                    </a:schemeClr>
                  </a:gs>
                </a:gsLst>
                <a:lin ang="5400000" scaled="1"/>
              </a:gradFill>
              <a:ln w="9525">
                <a:noFill/>
                <a:round/>
              </a:ln>
              <a:effectLst/>
            </p:spPr>
            <p:txBody>
              <a:bodyPr anchor="ctr">
                <a:spAutoFit/>
              </a:bodyPr>
              <a:lstStyle/>
              <a:p>
                <a:pPr>
                  <a:defRPr/>
                </a:pPr>
                <a:endParaRPr lang="zh-CN" altLang="en-US"/>
              </a:p>
            </p:txBody>
          </p:sp>
        </p:grpSp>
      </p:grpSp>
      <p:grpSp>
        <p:nvGrpSpPr>
          <p:cNvPr id="2" name="组合 1"/>
          <p:cNvGrpSpPr/>
          <p:nvPr/>
        </p:nvGrpSpPr>
        <p:grpSpPr>
          <a:xfrm>
            <a:off x="2677001" y="4618412"/>
            <a:ext cx="6237288" cy="1069975"/>
            <a:chOff x="4801870" y="5161044"/>
            <a:chExt cx="6237288" cy="1069975"/>
          </a:xfrm>
        </p:grpSpPr>
        <p:sp>
          <p:nvSpPr>
            <p:cNvPr id="19" name="Line 3"/>
            <p:cNvSpPr>
              <a:spLocks noChangeShapeType="1"/>
            </p:cNvSpPr>
            <p:nvPr/>
          </p:nvSpPr>
          <p:spPr bwMode="auto">
            <a:xfrm flipV="1">
              <a:off x="5751195" y="5864306"/>
              <a:ext cx="3884613" cy="0"/>
            </a:xfrm>
            <a:prstGeom prst="line">
              <a:avLst/>
            </a:prstGeom>
            <a:noFill/>
            <a:ln w="50800">
              <a:solidFill>
                <a:srgbClr val="9999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4"/>
            <p:cNvSpPr>
              <a:spLocks noChangeShapeType="1"/>
            </p:cNvSpPr>
            <p:nvPr/>
          </p:nvSpPr>
          <p:spPr bwMode="auto">
            <a:xfrm flipH="1" flipV="1">
              <a:off x="5678170" y="5530931"/>
              <a:ext cx="3957638" cy="0"/>
            </a:xfrm>
            <a:prstGeom prst="line">
              <a:avLst/>
            </a:prstGeom>
            <a:noFill/>
            <a:ln w="50800">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Rectangle 5"/>
            <p:cNvSpPr>
              <a:spLocks noChangeArrowheads="1"/>
            </p:cNvSpPr>
            <p:nvPr/>
          </p:nvSpPr>
          <p:spPr bwMode="auto">
            <a:xfrm>
              <a:off x="7103745" y="5894469"/>
              <a:ext cx="1003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nchorCtr="1">
              <a:spAutoFit/>
            </a:bodyPr>
            <a:lstStyle>
              <a:lvl1pPr defTabSz="895350" eaLnBrk="0" hangingPunct="0">
                <a:defRPr>
                  <a:solidFill>
                    <a:schemeClr val="tx1"/>
                  </a:solidFill>
                  <a:latin typeface="Arial" panose="020B0604020202020204" pitchFamily="34" charset="0"/>
                  <a:ea typeface="宋体" panose="02010600030101010101" pitchFamily="2" charset="-122"/>
                </a:defRPr>
              </a:lvl1pPr>
              <a:lvl2pPr marL="742950" indent="-285750" defTabSz="895350" eaLnBrk="0" hangingPunct="0">
                <a:defRPr>
                  <a:solidFill>
                    <a:schemeClr val="tx1"/>
                  </a:solidFill>
                  <a:latin typeface="Arial" panose="020B0604020202020204" pitchFamily="34" charset="0"/>
                  <a:ea typeface="宋体" panose="02010600030101010101" pitchFamily="2" charset="-122"/>
                </a:defRPr>
              </a:lvl2pPr>
              <a:lvl3pPr marL="1143000" indent="-228600" defTabSz="895350" eaLnBrk="0" hangingPunct="0">
                <a:defRPr>
                  <a:solidFill>
                    <a:schemeClr val="tx1"/>
                  </a:solidFill>
                  <a:latin typeface="Arial" panose="020B0604020202020204" pitchFamily="34" charset="0"/>
                  <a:ea typeface="宋体" panose="02010600030101010101" pitchFamily="2" charset="-122"/>
                </a:defRPr>
              </a:lvl3pPr>
              <a:lvl4pPr marL="1600200" indent="-228600" defTabSz="895350" eaLnBrk="0" hangingPunct="0">
                <a:defRPr>
                  <a:solidFill>
                    <a:schemeClr val="tx1"/>
                  </a:solidFill>
                  <a:latin typeface="Arial" panose="020B0604020202020204" pitchFamily="34" charset="0"/>
                  <a:ea typeface="宋体" panose="02010600030101010101" pitchFamily="2" charset="-122"/>
                </a:defRPr>
              </a:lvl4pPr>
              <a:lvl5pPr marL="2057400" indent="-228600" defTabSz="895350" eaLnBrk="0" hangingPunct="0">
                <a:defRPr>
                  <a:solidFill>
                    <a:schemeClr val="tx1"/>
                  </a:solidFill>
                  <a:latin typeface="Arial" panose="020B0604020202020204" pitchFamily="34" charset="0"/>
                  <a:ea typeface="宋体" panose="02010600030101010101" pitchFamily="2" charset="-122"/>
                </a:defRPr>
              </a:lvl5pPr>
              <a:lvl6pPr marL="2514600" indent="-228600" defTabSz="89535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89535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89535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89535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dirty="0">
                  <a:solidFill>
                    <a:srgbClr val="9999FF"/>
                  </a:solidFill>
                  <a:ea typeface="华文细黑" panose="02010600040101010101" pitchFamily="2" charset="-122"/>
                </a:rPr>
                <a:t>上行链路</a:t>
              </a:r>
            </a:p>
          </p:txBody>
        </p:sp>
        <p:sp>
          <p:nvSpPr>
            <p:cNvPr id="22" name="Rectangle 6"/>
            <p:cNvSpPr>
              <a:spLocks noChangeArrowheads="1"/>
            </p:cNvSpPr>
            <p:nvPr/>
          </p:nvSpPr>
          <p:spPr bwMode="auto">
            <a:xfrm>
              <a:off x="7103745" y="5161044"/>
              <a:ext cx="1003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nchorCtr="1">
              <a:spAutoFit/>
            </a:bodyPr>
            <a:lstStyle>
              <a:lvl1pPr defTabSz="895350" eaLnBrk="0" hangingPunct="0">
                <a:defRPr>
                  <a:solidFill>
                    <a:schemeClr val="tx1"/>
                  </a:solidFill>
                  <a:latin typeface="Arial" panose="020B0604020202020204" pitchFamily="34" charset="0"/>
                  <a:ea typeface="宋体" panose="02010600030101010101" pitchFamily="2" charset="-122"/>
                </a:defRPr>
              </a:lvl1pPr>
              <a:lvl2pPr marL="742950" indent="-285750" defTabSz="895350" eaLnBrk="0" hangingPunct="0">
                <a:defRPr>
                  <a:solidFill>
                    <a:schemeClr val="tx1"/>
                  </a:solidFill>
                  <a:latin typeface="Arial" panose="020B0604020202020204" pitchFamily="34" charset="0"/>
                  <a:ea typeface="宋体" panose="02010600030101010101" pitchFamily="2" charset="-122"/>
                </a:defRPr>
              </a:lvl2pPr>
              <a:lvl3pPr marL="1143000" indent="-228600" defTabSz="895350" eaLnBrk="0" hangingPunct="0">
                <a:defRPr>
                  <a:solidFill>
                    <a:schemeClr val="tx1"/>
                  </a:solidFill>
                  <a:latin typeface="Arial" panose="020B0604020202020204" pitchFamily="34" charset="0"/>
                  <a:ea typeface="宋体" panose="02010600030101010101" pitchFamily="2" charset="-122"/>
                </a:defRPr>
              </a:lvl3pPr>
              <a:lvl4pPr marL="1600200" indent="-228600" defTabSz="895350" eaLnBrk="0" hangingPunct="0">
                <a:defRPr>
                  <a:solidFill>
                    <a:schemeClr val="tx1"/>
                  </a:solidFill>
                  <a:latin typeface="Arial" panose="020B0604020202020204" pitchFamily="34" charset="0"/>
                  <a:ea typeface="宋体" panose="02010600030101010101" pitchFamily="2" charset="-122"/>
                </a:defRPr>
              </a:lvl4pPr>
              <a:lvl5pPr marL="2057400" indent="-228600" defTabSz="895350" eaLnBrk="0" hangingPunct="0">
                <a:defRPr>
                  <a:solidFill>
                    <a:schemeClr val="tx1"/>
                  </a:solidFill>
                  <a:latin typeface="Arial" panose="020B0604020202020204" pitchFamily="34" charset="0"/>
                  <a:ea typeface="宋体" panose="02010600030101010101" pitchFamily="2" charset="-122"/>
                </a:defRPr>
              </a:lvl5pPr>
              <a:lvl6pPr marL="2514600" indent="-228600" defTabSz="89535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89535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89535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89535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1600" b="1">
                  <a:solidFill>
                    <a:schemeClr val="hlink"/>
                  </a:solidFill>
                  <a:ea typeface="华文细黑" panose="02010600040101010101" pitchFamily="2" charset="-122"/>
                </a:rPr>
                <a:t>下行链路</a:t>
              </a:r>
            </a:p>
          </p:txBody>
        </p:sp>
        <p:pic>
          <p:nvPicPr>
            <p:cNvPr id="61" name="Picture 184" descr="C908 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01870" y="5249944"/>
              <a:ext cx="37306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2" name="Object 219"/>
            <p:cNvGraphicFramePr>
              <a:graphicFrameLocks noChangeAspect="1"/>
            </p:cNvGraphicFramePr>
            <p:nvPr/>
          </p:nvGraphicFramePr>
          <p:xfrm>
            <a:off x="9913620" y="5218194"/>
            <a:ext cx="1125538" cy="933450"/>
          </p:xfrm>
          <a:graphic>
            <a:graphicData uri="http://schemas.openxmlformats.org/presentationml/2006/ole">
              <mc:AlternateContent xmlns:mc="http://schemas.openxmlformats.org/markup-compatibility/2006">
                <mc:Choice xmlns:v="urn:schemas-microsoft-com:vml" Requires="v">
                  <p:oleObj r:id="rId3" imgW="3404870" imgH="3389630" progId="CorelDRAW.Graphic.9">
                    <p:embed/>
                  </p:oleObj>
                </mc:Choice>
                <mc:Fallback>
                  <p:oleObj r:id="rId3" imgW="3404870" imgH="3389630" progId="CorelDRAW.Graphic.9">
                    <p:embed/>
                    <p:pic>
                      <p:nvPicPr>
                        <p:cNvPr id="0" name="图片 30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13620" y="5218194"/>
                          <a:ext cx="1125538"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室外链路预算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0" name="标题 1"/>
          <p:cNvSpPr txBox="1"/>
          <p:nvPr/>
        </p:nvSpPr>
        <p:spPr bwMode="auto">
          <a:xfrm>
            <a:off x="878481" y="2001969"/>
            <a:ext cx="2739864"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marR="0" lvl="0" indent="-342900" defTabSz="914400" eaLnBrk="1" fontAlgn="base" hangingPunct="1">
              <a:lnSpc>
                <a:spcPct val="90000"/>
              </a:lnSpc>
              <a:spcAft>
                <a:spcPct val="0"/>
              </a:spcAft>
              <a:buClrTx/>
              <a:buSzTx/>
              <a:buFont typeface="Wingdings" panose="05000000000000000000" pitchFamily="2" charset="2"/>
              <a:buChar char="u"/>
              <a:defRPr/>
            </a:pPr>
            <a:r>
              <a:rPr lang="zh-CN" altLang="en-US" sz="2000" b="1" dirty="0">
                <a:solidFill>
                  <a:srgbClr val="005BAA"/>
                </a:solidFill>
              </a:rPr>
              <a:t>链路预算基本原理</a:t>
            </a:r>
          </a:p>
        </p:txBody>
      </p:sp>
      <p:sp>
        <p:nvSpPr>
          <p:cNvPr id="41" name="Rectangle 2"/>
          <p:cNvSpPr>
            <a:spLocks noChangeArrowheads="1"/>
          </p:cNvSpPr>
          <p:nvPr/>
        </p:nvSpPr>
        <p:spPr bwMode="auto">
          <a:xfrm>
            <a:off x="1379143" y="2947506"/>
            <a:ext cx="4432625" cy="2769989"/>
          </a:xfrm>
          <a:prstGeom prst="rect">
            <a:avLst/>
          </a:prstGeom>
          <a:noFill/>
          <a:ln>
            <a:noFill/>
          </a:ln>
          <a:effectLst>
            <a:prstShdw prst="shdw17" dist="17961" dir="2700000">
              <a:schemeClr val="accent1">
                <a:gamma/>
                <a:shade val="60000"/>
                <a:invGamma/>
              </a:schemeClr>
            </a:prstShdw>
          </a:effectLst>
        </p:spPr>
        <p:txBody>
          <a:bodyPr wrap="square" anchor="ctr">
            <a:spAutoFit/>
          </a:bodyPr>
          <a:lstStyle/>
          <a:p>
            <a:pPr eaLnBrk="0" hangingPunct="0">
              <a:lnSpc>
                <a:spcPct val="150000"/>
              </a:lnSpc>
              <a:defRPr/>
            </a:pPr>
            <a:r>
              <a:rPr lang="zh-CN" sz="2400" b="1" dirty="0">
                <a:solidFill>
                  <a:srgbClr val="FF0000"/>
                </a:solidFill>
                <a:latin typeface="微软雅黑" panose="020B0503020204020204" charset="-122"/>
                <a:ea typeface="微软雅黑" panose="020B0503020204020204" charset="-122"/>
                <a:cs typeface="宋体" panose="02010600030101010101" pitchFamily="2" charset="-122"/>
              </a:rPr>
              <a:t>链路预算</a:t>
            </a:r>
            <a:r>
              <a:rPr lang="zh-CN" sz="2000" dirty="0">
                <a:latin typeface="微软雅黑" panose="020B0503020204020204" charset="-122"/>
                <a:ea typeface="微软雅黑" panose="020B0503020204020204" charset="-122"/>
                <a:cs typeface="宋体" panose="02010600030101010101" pitchFamily="2" charset="-122"/>
              </a:rPr>
              <a:t>通过对系统中前反向信号传播途径中各种影响因素进行考察，对系统的覆盖能力进行估计，获得保持一定通信质量下链路所允许的最大传播损耗（</a:t>
            </a:r>
            <a:r>
              <a:rPr lang="en-US" altLang="zh-CN" sz="2000" dirty="0">
                <a:latin typeface="微软雅黑" panose="020B0503020204020204" charset="-122"/>
                <a:ea typeface="微软雅黑" panose="020B0503020204020204" charset="-122"/>
                <a:cs typeface="宋体" panose="02010600030101010101" pitchFamily="2" charset="-122"/>
              </a:rPr>
              <a:t>MAPL</a:t>
            </a:r>
            <a:r>
              <a:rPr lang="zh-CN" altLang="en-US" sz="2000" dirty="0">
                <a:latin typeface="微软雅黑" panose="020B0503020204020204" charset="-122"/>
                <a:ea typeface="微软雅黑" panose="020B0503020204020204" charset="-122"/>
                <a:cs typeface="宋体" panose="02010600030101010101" pitchFamily="2" charset="-122"/>
              </a:rPr>
              <a:t>）。</a:t>
            </a:r>
          </a:p>
          <a:p>
            <a:pPr indent="269875" eaLnBrk="0" hangingPunct="0">
              <a:buFontTx/>
              <a:buNone/>
              <a:defRPr/>
            </a:pPr>
            <a:endParaRPr lang="zh-CN" altLang="en-US" dirty="0">
              <a:ea typeface="微软雅黑" panose="020B0503020204020204" charset="-122"/>
              <a:cs typeface="宋体" panose="02010600030101010101" pitchFamily="2" charset="-122"/>
            </a:endParaRPr>
          </a:p>
        </p:txBody>
      </p:sp>
      <p:pic>
        <p:nvPicPr>
          <p:cNvPr id="42" name="图片 41"/>
          <p:cNvPicPr/>
          <p:nvPr/>
        </p:nvPicPr>
        <p:blipFill>
          <a:blip r:embed="rId2" cstate="print"/>
          <a:srcRect/>
          <a:stretch>
            <a:fillRect/>
          </a:stretch>
        </p:blipFill>
        <p:spPr bwMode="auto">
          <a:xfrm>
            <a:off x="6096000" y="1700128"/>
            <a:ext cx="5143500" cy="452628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室外链路预算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标题 1"/>
          <p:cNvSpPr txBox="1"/>
          <p:nvPr/>
        </p:nvSpPr>
        <p:spPr bwMode="auto">
          <a:xfrm>
            <a:off x="1467214" y="1865664"/>
            <a:ext cx="9853006" cy="94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defTabSz="914400" eaLnBrk="1" hangingPunct="1">
              <a:lnSpc>
                <a:spcPct val="90000"/>
              </a:lnSpc>
              <a:defRPr/>
            </a:pPr>
            <a:r>
              <a:rPr lang="zh-CN" altLang="en-US" sz="2000" b="1" dirty="0">
                <a:solidFill>
                  <a:srgbClr val="005BAA"/>
                </a:solidFill>
              </a:rPr>
              <a:t>上行链路预算：     </a:t>
            </a:r>
            <a:r>
              <a:rPr lang="en-US" altLang="zh-CN" sz="2000" b="1" dirty="0">
                <a:solidFill>
                  <a:srgbClr val="005BAA"/>
                </a:solidFill>
              </a:rPr>
              <a:t>PL_UL=</a:t>
            </a:r>
            <a:r>
              <a:rPr lang="en-US" altLang="zh-CN" sz="2000" b="1" dirty="0" err="1">
                <a:solidFill>
                  <a:srgbClr val="005BAA"/>
                </a:solidFill>
              </a:rPr>
              <a:t>Pout_UE+Ga_BS+Ga_UE-Lf_BS-Mf-MI-Lp-Lb-S_BS</a:t>
            </a:r>
            <a:endParaRPr lang="zh-CN" altLang="en-US" sz="2000" b="1" dirty="0">
              <a:solidFill>
                <a:srgbClr val="005BAA"/>
              </a:solidFill>
            </a:endParaRPr>
          </a:p>
        </p:txBody>
      </p:sp>
      <p:pic>
        <p:nvPicPr>
          <p:cNvPr id="9" name="图片 8"/>
          <p:cNvPicPr/>
          <p:nvPr/>
        </p:nvPicPr>
        <p:blipFill>
          <a:blip r:embed="rId3" cstate="print"/>
          <a:srcRect/>
          <a:stretch>
            <a:fillRect/>
          </a:stretch>
        </p:blipFill>
        <p:spPr bwMode="auto">
          <a:xfrm>
            <a:off x="2752545" y="2795326"/>
            <a:ext cx="7426642" cy="4062674"/>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室外链路预算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1" name="图片 10"/>
          <p:cNvPicPr/>
          <p:nvPr/>
        </p:nvPicPr>
        <p:blipFill>
          <a:blip r:embed="rId3" cstate="print"/>
          <a:srcRect/>
          <a:stretch>
            <a:fillRect/>
          </a:stretch>
        </p:blipFill>
        <p:spPr bwMode="auto">
          <a:xfrm>
            <a:off x="3853313" y="2519904"/>
            <a:ext cx="7727182" cy="4160960"/>
          </a:xfrm>
          <a:prstGeom prst="rect">
            <a:avLst/>
          </a:prstGeom>
          <a:noFill/>
          <a:ln w="9525">
            <a:noFill/>
            <a:miter lim="800000"/>
            <a:headEnd/>
            <a:tailEnd/>
          </a:ln>
        </p:spPr>
      </p:pic>
      <p:sp>
        <p:nvSpPr>
          <p:cNvPr id="13" name="Rectangle 1"/>
          <p:cNvSpPr>
            <a:spLocks noChangeArrowheads="1"/>
          </p:cNvSpPr>
          <p:nvPr/>
        </p:nvSpPr>
        <p:spPr bwMode="auto">
          <a:xfrm>
            <a:off x="1660124" y="2096289"/>
            <a:ext cx="101518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defTabSz="914400" fontAlgn="base">
              <a:lnSpc>
                <a:spcPct val="90000"/>
              </a:lnSpc>
              <a:spcBef>
                <a:spcPct val="0"/>
              </a:spcBef>
              <a:spcAft>
                <a:spcPct val="0"/>
              </a:spcAft>
              <a:defRPr/>
            </a:pPr>
            <a:r>
              <a:rPr lang="zh-CN" altLang="en-US" sz="2000" b="1" dirty="0">
                <a:solidFill>
                  <a:srgbClr val="005BAA"/>
                </a:solidFill>
                <a:latin typeface="微软雅黑" panose="020B0503020204020204" charset="-122"/>
                <a:ea typeface="微软雅黑" panose="020B0503020204020204" charset="-122"/>
                <a:cs typeface="+mj-cs"/>
              </a:rPr>
              <a:t>下行链路预算：</a:t>
            </a:r>
            <a:r>
              <a:rPr lang="en-US" altLang="zh-CN" sz="2000" b="1" dirty="0">
                <a:solidFill>
                  <a:srgbClr val="005BAA"/>
                </a:solidFill>
                <a:latin typeface="微软雅黑" panose="020B0503020204020204" charset="-122"/>
                <a:ea typeface="微软雅黑" panose="020B0503020204020204" charset="-122"/>
                <a:cs typeface="+mj-cs"/>
              </a:rPr>
              <a:t>PL_DL=</a:t>
            </a:r>
            <a:r>
              <a:rPr lang="en-US" altLang="zh-CN" sz="2000" b="1" dirty="0" err="1">
                <a:solidFill>
                  <a:srgbClr val="005BAA"/>
                </a:solidFill>
                <a:latin typeface="微软雅黑" panose="020B0503020204020204" charset="-122"/>
                <a:ea typeface="微软雅黑" panose="020B0503020204020204" charset="-122"/>
                <a:cs typeface="+mj-cs"/>
              </a:rPr>
              <a:t>Pout_BS-Lf_BS+Ga_BS+Ga_UE-Mf-MI-Lp-Lb-S_UE</a:t>
            </a:r>
            <a:endParaRPr lang="zh-CN" altLang="en-US" sz="2000" b="1" dirty="0">
              <a:solidFill>
                <a:srgbClr val="005BAA"/>
              </a:solidFill>
              <a:latin typeface="微软雅黑" panose="020B0503020204020204" charset="-122"/>
              <a:ea typeface="微软雅黑" panose="020B0503020204020204" charset="-122"/>
              <a:cs typeface="+mj-cs"/>
            </a:endParaRPr>
          </a:p>
        </p:txBody>
      </p:sp>
      <p:sp>
        <p:nvSpPr>
          <p:cNvPr id="2" name="矩形 1"/>
          <p:cNvSpPr/>
          <p:nvPr/>
        </p:nvSpPr>
        <p:spPr>
          <a:xfrm>
            <a:off x="878481" y="4107593"/>
            <a:ext cx="3308411" cy="1338828"/>
          </a:xfrm>
          <a:prstGeom prst="rect">
            <a:avLst/>
          </a:prstGeom>
        </p:spPr>
        <p:txBody>
          <a:bodyPr wrap="square">
            <a:spAutoFit/>
          </a:bodyPr>
          <a:lstStyle/>
          <a:p>
            <a:pPr>
              <a:lnSpc>
                <a:spcPct val="150000"/>
              </a:lnSpc>
            </a:pPr>
            <a:r>
              <a:rPr lang="zh-CN" altLang="en-US" b="1" dirty="0">
                <a:latin typeface="微软雅黑" panose="020B0503020204020204" charset="-122"/>
              </a:rPr>
              <a:t>下行的链路元素跟上行基本一致，下行负载因子和下行干扰余量的取值跟上行不同。</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LTE</a:t>
            </a:r>
            <a:r>
              <a:rPr kumimoji="1" lang="zh-CN" altLang="en-US" sz="1900" b="1" dirty="0">
                <a:latin typeface="微软雅黑" panose="020B0503020204020204" charset="-122"/>
                <a:ea typeface="微软雅黑" panose="020B0503020204020204" charset="-122"/>
                <a:cs typeface="微软雅黑" panose="020B0503020204020204" charset="-122"/>
              </a:rPr>
              <a:t>室外链路预算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标题 1"/>
          <p:cNvSpPr txBox="1"/>
          <p:nvPr/>
        </p:nvSpPr>
        <p:spPr bwMode="auto">
          <a:xfrm>
            <a:off x="878481" y="2119658"/>
            <a:ext cx="8496300" cy="399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marR="0" lvl="0" indent="-342900" defTabSz="914400" eaLnBrk="1" fontAlgn="base" hangingPunct="1">
              <a:lnSpc>
                <a:spcPct val="90000"/>
              </a:lnSpc>
              <a:spcAft>
                <a:spcPct val="0"/>
              </a:spcAft>
              <a:buClrTx/>
              <a:buSzTx/>
              <a:buFont typeface="Wingdings" panose="05000000000000000000" pitchFamily="2" charset="2"/>
              <a:buChar char="u"/>
              <a:defRPr/>
            </a:pPr>
            <a:r>
              <a:rPr lang="zh-CN" altLang="en-US" sz="2000" b="1" dirty="0">
                <a:solidFill>
                  <a:srgbClr val="005BAA"/>
                </a:solidFill>
                <a:latin typeface="+mj-ea"/>
                <a:ea typeface="+mj-ea"/>
              </a:rPr>
              <a:t>链路预算对比</a:t>
            </a:r>
          </a:p>
        </p:txBody>
      </p:sp>
      <p:sp>
        <p:nvSpPr>
          <p:cNvPr id="15" name="内容占位符 6"/>
          <p:cNvSpPr txBox="1"/>
          <p:nvPr/>
        </p:nvSpPr>
        <p:spPr>
          <a:xfrm>
            <a:off x="1842294" y="2636980"/>
            <a:ext cx="6280774" cy="31535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latin typeface="+mj-ea"/>
                <a:ea typeface="+mj-ea"/>
              </a:rPr>
              <a:t>2G GSM</a:t>
            </a:r>
            <a:r>
              <a:rPr lang="zh-CN" altLang="en-US" sz="2000" dirty="0">
                <a:latin typeface="+mj-ea"/>
                <a:ea typeface="+mj-ea"/>
              </a:rPr>
              <a:t>：固定配置计算，同容量无关</a:t>
            </a:r>
            <a:endParaRPr lang="en-US" altLang="zh-CN" sz="2000" dirty="0">
              <a:latin typeface="+mj-ea"/>
              <a:ea typeface="+mj-ea"/>
            </a:endParaRPr>
          </a:p>
          <a:p>
            <a:pPr marL="0" indent="0">
              <a:buNone/>
            </a:pPr>
            <a:r>
              <a:rPr lang="en-US" altLang="zh-CN" sz="2000" dirty="0">
                <a:latin typeface="+mj-ea"/>
                <a:ea typeface="+mj-ea"/>
              </a:rPr>
              <a:t>3G R4 TD-SCDMA</a:t>
            </a:r>
            <a:r>
              <a:rPr lang="zh-CN" altLang="en-US" sz="2000" dirty="0">
                <a:latin typeface="+mj-ea"/>
                <a:ea typeface="+mj-ea"/>
              </a:rPr>
              <a:t>：码道受限系统，同容量关系小</a:t>
            </a:r>
            <a:endParaRPr lang="en-US" altLang="zh-CN" sz="2000" dirty="0">
              <a:latin typeface="+mj-ea"/>
              <a:ea typeface="+mj-ea"/>
            </a:endParaRPr>
          </a:p>
          <a:p>
            <a:pPr marL="0" indent="0">
              <a:buNone/>
            </a:pPr>
            <a:r>
              <a:rPr lang="en-US" altLang="zh-CN" sz="2000" dirty="0">
                <a:latin typeface="+mj-ea"/>
                <a:ea typeface="+mj-ea"/>
              </a:rPr>
              <a:t>3G R5 HSPA</a:t>
            </a:r>
            <a:r>
              <a:rPr lang="zh-CN" altLang="en-US" sz="2000" dirty="0">
                <a:latin typeface="+mj-ea"/>
                <a:ea typeface="+mj-ea"/>
              </a:rPr>
              <a:t>：物理资源有限，同容量、干扰关系中等</a:t>
            </a:r>
            <a:endParaRPr lang="en-US" altLang="zh-CN" sz="2000" dirty="0">
              <a:latin typeface="+mj-ea"/>
              <a:ea typeface="+mj-ea"/>
            </a:endParaRPr>
          </a:p>
          <a:p>
            <a:pPr marL="0" indent="0">
              <a:buNone/>
            </a:pPr>
            <a:r>
              <a:rPr lang="en-US" altLang="zh-CN" sz="2000" dirty="0">
                <a:latin typeface="+mj-ea"/>
                <a:ea typeface="+mj-ea"/>
              </a:rPr>
              <a:t>4G TD-LTE</a:t>
            </a:r>
            <a:r>
              <a:rPr lang="zh-CN" altLang="en-US" sz="2000" dirty="0">
                <a:latin typeface="+mj-ea"/>
                <a:ea typeface="+mj-ea"/>
              </a:rPr>
              <a:t>：资源使用灵活，同业务、干扰相关性强</a:t>
            </a:r>
            <a:endParaRPr lang="en-US" altLang="zh-CN" sz="2000" dirty="0">
              <a:latin typeface="+mj-ea"/>
              <a:ea typeface="+mj-ea"/>
            </a:endParaRPr>
          </a:p>
          <a:p>
            <a:pPr marL="0" indent="0">
              <a:buNone/>
            </a:pPr>
            <a:endParaRPr lang="en-US" altLang="zh-CN" sz="2000" dirty="0">
              <a:latin typeface="+mj-ea"/>
              <a:ea typeface="+mj-ea"/>
            </a:endParaRPr>
          </a:p>
          <a:p>
            <a:pPr lvl="1"/>
            <a:r>
              <a:rPr lang="zh-CN" altLang="en-US" sz="1800" dirty="0">
                <a:solidFill>
                  <a:srgbClr val="FF0000"/>
                </a:solidFill>
                <a:latin typeface="+mj-ea"/>
                <a:ea typeface="+mj-ea"/>
              </a:rPr>
              <a:t>边缘速率</a:t>
            </a:r>
            <a:endParaRPr lang="en-US" altLang="zh-CN" sz="1800" dirty="0">
              <a:solidFill>
                <a:srgbClr val="FF0000"/>
              </a:solidFill>
              <a:latin typeface="+mj-ea"/>
              <a:ea typeface="+mj-ea"/>
            </a:endParaRPr>
          </a:p>
          <a:p>
            <a:pPr lvl="1"/>
            <a:r>
              <a:rPr lang="zh-CN" altLang="en-US" sz="1800" dirty="0">
                <a:solidFill>
                  <a:srgbClr val="FF0000"/>
                </a:solidFill>
                <a:latin typeface="+mj-ea"/>
                <a:ea typeface="+mj-ea"/>
              </a:rPr>
              <a:t>带宽、时隙配比</a:t>
            </a:r>
            <a:endParaRPr lang="en-US" altLang="zh-CN" sz="1800" dirty="0">
              <a:solidFill>
                <a:srgbClr val="FF0000"/>
              </a:solidFill>
              <a:latin typeface="+mj-ea"/>
              <a:ea typeface="+mj-ea"/>
            </a:endParaRPr>
          </a:p>
          <a:p>
            <a:pPr lvl="1"/>
            <a:r>
              <a:rPr lang="zh-CN" altLang="en-US" sz="1800" dirty="0">
                <a:solidFill>
                  <a:srgbClr val="FF0000"/>
                </a:solidFill>
                <a:latin typeface="+mj-ea"/>
                <a:ea typeface="+mj-ea"/>
              </a:rPr>
              <a:t>多天线模式</a:t>
            </a:r>
            <a:endParaRPr lang="en-US" altLang="zh-CN" sz="1800" dirty="0">
              <a:solidFill>
                <a:srgbClr val="FF0000"/>
              </a:solidFill>
              <a:latin typeface="+mj-ea"/>
              <a:ea typeface="+mj-ea"/>
            </a:endParaRPr>
          </a:p>
          <a:p>
            <a:pPr lvl="1"/>
            <a:r>
              <a:rPr lang="zh-CN" altLang="en-US" sz="1800" dirty="0">
                <a:solidFill>
                  <a:srgbClr val="FF0000"/>
                </a:solidFill>
                <a:latin typeface="+mj-ea"/>
                <a:ea typeface="+mj-ea"/>
              </a:rPr>
              <a:t>资源分配方式</a:t>
            </a:r>
            <a:endParaRPr lang="en-US" altLang="zh-CN" sz="1800" dirty="0">
              <a:solidFill>
                <a:srgbClr val="FF0000"/>
              </a:solidFill>
              <a:latin typeface="+mj-ea"/>
              <a:ea typeface="+mj-ea"/>
            </a:endParaRPr>
          </a:p>
          <a:p>
            <a:pPr lvl="1"/>
            <a:r>
              <a:rPr lang="en-US" altLang="zh-CN" sz="1800" dirty="0">
                <a:solidFill>
                  <a:srgbClr val="FF0000"/>
                </a:solidFill>
                <a:latin typeface="+mj-ea"/>
                <a:ea typeface="+mj-ea"/>
              </a:rPr>
              <a:t>ICIC</a:t>
            </a:r>
            <a:endParaRPr lang="zh-CN" altLang="en-US" sz="1800" dirty="0">
              <a:solidFill>
                <a:srgbClr val="FF0000"/>
              </a:solidFill>
              <a:latin typeface="+mj-ea"/>
              <a:ea typeface="+mj-ea"/>
            </a:endParaRPr>
          </a:p>
        </p:txBody>
      </p:sp>
      <p:sp>
        <p:nvSpPr>
          <p:cNvPr id="18" name="下箭头 17"/>
          <p:cNvSpPr/>
          <p:nvPr/>
        </p:nvSpPr>
        <p:spPr>
          <a:xfrm>
            <a:off x="9374781" y="2636980"/>
            <a:ext cx="214313" cy="3570288"/>
          </a:xfrm>
          <a:prstGeom prst="downArrow">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zh-CN" altLang="en-US">
              <a:latin typeface="+mj-ea"/>
              <a:ea typeface="+mj-ea"/>
            </a:endParaRPr>
          </a:p>
        </p:txBody>
      </p:sp>
      <p:sp>
        <p:nvSpPr>
          <p:cNvPr id="19" name="TextBox 8"/>
          <p:cNvSpPr txBox="1">
            <a:spLocks noChangeArrowheads="1"/>
          </p:cNvSpPr>
          <p:nvPr/>
        </p:nvSpPr>
        <p:spPr bwMode="auto">
          <a:xfrm>
            <a:off x="9600206" y="2636980"/>
            <a:ext cx="8080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mj-ea"/>
                <a:ea typeface="+mj-ea"/>
              </a:rPr>
              <a:t>简单</a:t>
            </a:r>
          </a:p>
        </p:txBody>
      </p:sp>
      <p:sp>
        <p:nvSpPr>
          <p:cNvPr id="20" name="TextBox 9"/>
          <p:cNvSpPr txBox="1">
            <a:spLocks noChangeArrowheads="1"/>
          </p:cNvSpPr>
          <p:nvPr/>
        </p:nvSpPr>
        <p:spPr bwMode="auto">
          <a:xfrm>
            <a:off x="9600206" y="5796105"/>
            <a:ext cx="80803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mj-ea"/>
                <a:ea typeface="+mj-ea"/>
              </a:rPr>
              <a:t>复杂</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LTE</a:t>
            </a:r>
            <a:r>
              <a:rPr kumimoji="1" lang="zh-CN" altLang="en-US" sz="1900" b="1" dirty="0">
                <a:latin typeface="微软雅黑" panose="020B0503020204020204" charset="-122"/>
                <a:ea typeface="微软雅黑" panose="020B0503020204020204" charset="-122"/>
                <a:cs typeface="微软雅黑" panose="020B0503020204020204" charset="-122"/>
              </a:rPr>
              <a:t>室内链路预算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Rectangle 2"/>
          <p:cNvSpPr>
            <a:spLocks noChangeArrowheads="1"/>
          </p:cNvSpPr>
          <p:nvPr/>
        </p:nvSpPr>
        <p:spPr bwMode="auto">
          <a:xfrm>
            <a:off x="968958" y="2465621"/>
            <a:ext cx="428764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3048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zh-CN" sz="2000" kern="100" dirty="0">
                <a:latin typeface="+mj-ea"/>
                <a:ea typeface="+mj-ea"/>
              </a:rPr>
              <a:t>LTE</a:t>
            </a:r>
            <a:r>
              <a:rPr lang="zh-CN" altLang="en-US" sz="2000" kern="100" dirty="0">
                <a:latin typeface="+mj-ea"/>
                <a:ea typeface="+mj-ea"/>
              </a:rPr>
              <a:t>室内覆盖链路预算流程描述：室内覆盖链路预算分成无线传播部分和有线分布系统两部分，典型的室内覆盖链路预算如图所示。</a:t>
            </a:r>
          </a:p>
        </p:txBody>
      </p:sp>
      <p:grpSp>
        <p:nvGrpSpPr>
          <p:cNvPr id="13" name="Group 3"/>
          <p:cNvGrpSpPr/>
          <p:nvPr/>
        </p:nvGrpSpPr>
        <p:grpSpPr bwMode="auto">
          <a:xfrm>
            <a:off x="5479190" y="1215205"/>
            <a:ext cx="5496437" cy="5375917"/>
            <a:chOff x="4133754" y="922338"/>
            <a:chExt cx="8016" cy="9256"/>
          </a:xfrm>
        </p:grpSpPr>
        <p:sp>
          <p:nvSpPr>
            <p:cNvPr id="14" name="AutoShape 4"/>
            <p:cNvSpPr>
              <a:spLocks noChangeAspect="1" noChangeArrowheads="1"/>
            </p:cNvSpPr>
            <p:nvPr/>
          </p:nvSpPr>
          <p:spPr bwMode="auto">
            <a:xfrm>
              <a:off x="4133850" y="922338"/>
              <a:ext cx="7920" cy="9238"/>
            </a:xfrm>
            <a:prstGeom prst="rect">
              <a:avLst/>
            </a:prstGeom>
            <a:noFill/>
            <a:ln w="9525">
              <a:noFill/>
              <a:miter lim="800000"/>
            </a:ln>
          </p:spPr>
          <p:txBody>
            <a:bodyPr/>
            <a:lstStyle/>
            <a:p>
              <a:endParaRPr lang="zh-CN" altLang="en-US"/>
            </a:p>
          </p:txBody>
        </p:sp>
        <p:sp>
          <p:nvSpPr>
            <p:cNvPr id="16" name="Rectangle 5"/>
            <p:cNvSpPr>
              <a:spLocks noChangeArrowheads="1"/>
            </p:cNvSpPr>
            <p:nvPr/>
          </p:nvSpPr>
          <p:spPr bwMode="auto">
            <a:xfrm>
              <a:off x="4137279" y="925215"/>
              <a:ext cx="4221" cy="4836"/>
            </a:xfrm>
            <a:prstGeom prst="rect">
              <a:avLst/>
            </a:prstGeom>
            <a:solidFill>
              <a:srgbClr val="00FFFF">
                <a:alpha val="50195"/>
              </a:srgbClr>
            </a:solidFill>
            <a:ln w="9525">
              <a:solidFill>
                <a:srgbClr val="000000"/>
              </a:solidFill>
              <a:miter lim="800000"/>
            </a:ln>
          </p:spPr>
          <p:txBody>
            <a:bodyPr/>
            <a:lstStyle/>
            <a:p>
              <a:endParaRPr lang="zh-CN" altLang="en-US"/>
            </a:p>
          </p:txBody>
        </p:sp>
        <p:sp>
          <p:nvSpPr>
            <p:cNvPr id="17" name="AutoShape 6"/>
            <p:cNvSpPr>
              <a:spLocks noChangeArrowheads="1"/>
            </p:cNvSpPr>
            <p:nvPr/>
          </p:nvSpPr>
          <p:spPr bwMode="auto">
            <a:xfrm>
              <a:off x="4134750" y="922380"/>
              <a:ext cx="2340" cy="467"/>
            </a:xfrm>
            <a:prstGeom prst="flowChartTerminator">
              <a:avLst/>
            </a:prstGeom>
            <a:solidFill>
              <a:srgbClr val="FFCC99"/>
            </a:solidFill>
            <a:ln w="9525">
              <a:solidFill>
                <a:srgbClr val="000000"/>
              </a:solidFill>
              <a:miter lim="800000"/>
            </a:ln>
          </p:spPr>
          <p:txBody>
            <a:bodyPr tIns="10800" bIns="10800"/>
            <a:lstStyle/>
            <a:p>
              <a:pPr indent="304800" algn="ctr" eaLnBrk="0" fontAlgn="base" hangingPunct="0">
                <a:spcAft>
                  <a:spcPts val="0"/>
                </a:spcAft>
              </a:pPr>
              <a:r>
                <a:rPr lang="zh-CN" sz="1200" kern="120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覆盖估算开始</a:t>
              </a:r>
              <a:endParaRPr lang="zh-CN" sz="1200">
                <a:effectLst/>
                <a:latin typeface="宋体" panose="02010600030101010101" pitchFamily="2" charset="-122"/>
                <a:ea typeface="宋体" panose="02010600030101010101" pitchFamily="2" charset="-122"/>
                <a:cs typeface="宋体" panose="02010600030101010101" pitchFamily="2" charset="-122"/>
              </a:endParaRPr>
            </a:p>
          </p:txBody>
        </p:sp>
        <p:sp>
          <p:nvSpPr>
            <p:cNvPr id="21" name="AutoShape 7"/>
            <p:cNvSpPr>
              <a:spLocks noChangeArrowheads="1"/>
            </p:cNvSpPr>
            <p:nvPr/>
          </p:nvSpPr>
          <p:spPr bwMode="auto">
            <a:xfrm>
              <a:off x="4133853" y="923046"/>
              <a:ext cx="4140" cy="546"/>
            </a:xfrm>
            <a:prstGeom prst="flowChartInputOutput">
              <a:avLst/>
            </a:prstGeom>
            <a:solidFill>
              <a:srgbClr val="FFFFCC"/>
            </a:solidFill>
            <a:ln w="9525">
              <a:solidFill>
                <a:srgbClr val="000000"/>
              </a:solidFill>
              <a:miter lim="800000"/>
            </a:ln>
          </p:spPr>
          <p:txBody>
            <a:bodyPr lIns="0" tIns="10800" rIns="0" bIns="10800"/>
            <a:lstStyle/>
            <a:p>
              <a:pPr indent="228600" algn="ctr" eaLnBrk="0" fontAlgn="base" hangingPunct="0">
                <a:spcAft>
                  <a:spcPts val="0"/>
                </a:spcAft>
              </a:pPr>
              <a:r>
                <a:rPr lang="zh-CN" sz="100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获取场景信息，得到配置参数</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22" name="Rectangle 8"/>
            <p:cNvSpPr>
              <a:spLocks noChangeArrowheads="1"/>
            </p:cNvSpPr>
            <p:nvPr/>
          </p:nvSpPr>
          <p:spPr bwMode="auto">
            <a:xfrm>
              <a:off x="4134750" y="925344"/>
              <a:ext cx="2340" cy="468"/>
            </a:xfrm>
            <a:prstGeom prst="rect">
              <a:avLst/>
            </a:prstGeom>
            <a:solidFill>
              <a:srgbClr val="FFFFCC"/>
            </a:solidFill>
            <a:ln w="9525">
              <a:solidFill>
                <a:srgbClr val="000000"/>
              </a:solidFill>
              <a:miter lim="800000"/>
            </a:ln>
          </p:spPr>
          <p:txBody>
            <a:bodyPr lIns="18000" tIns="36000" rIns="18000" bIns="36000"/>
            <a:lstStyle/>
            <a:p>
              <a:pPr indent="228600" algn="ctr"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计算天线口功率</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23" name="AutoShape 9"/>
            <p:cNvSpPr>
              <a:spLocks noChangeArrowheads="1"/>
            </p:cNvSpPr>
            <p:nvPr/>
          </p:nvSpPr>
          <p:spPr bwMode="auto">
            <a:xfrm>
              <a:off x="4136045" y="931127"/>
              <a:ext cx="2520" cy="467"/>
            </a:xfrm>
            <a:prstGeom prst="flowChartTerminator">
              <a:avLst/>
            </a:prstGeom>
            <a:solidFill>
              <a:srgbClr val="FFCC99"/>
            </a:solidFill>
            <a:ln w="9525">
              <a:solidFill>
                <a:srgbClr val="000000"/>
              </a:solidFill>
              <a:miter lim="800000"/>
            </a:ln>
          </p:spPr>
          <p:txBody>
            <a:bodyPr tIns="10800" bIns="10800"/>
            <a:lstStyle/>
            <a:p>
              <a:pPr algn="ctr"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覆盖估算结束</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24" name="AutoShape 10"/>
            <p:cNvCxnSpPr>
              <a:cxnSpLocks noChangeShapeType="1"/>
              <a:stCxn id="17" idx="2"/>
              <a:endCxn id="21" idx="1"/>
            </p:cNvCxnSpPr>
            <p:nvPr/>
          </p:nvCxnSpPr>
          <p:spPr bwMode="auto">
            <a:xfrm>
              <a:off x="4135920" y="922847"/>
              <a:ext cx="3" cy="199"/>
            </a:xfrm>
            <a:prstGeom prst="straightConnector1">
              <a:avLst/>
            </a:prstGeom>
            <a:noFill/>
            <a:ln w="9525">
              <a:solidFill>
                <a:srgbClr val="000000"/>
              </a:solidFill>
              <a:round/>
              <a:tailEnd type="triangle" w="med" len="med"/>
            </a:ln>
          </p:spPr>
        </p:cxnSp>
        <p:cxnSp>
          <p:nvCxnSpPr>
            <p:cNvPr id="25" name="AutoShape 11"/>
            <p:cNvCxnSpPr>
              <a:cxnSpLocks noChangeShapeType="1"/>
              <a:stCxn id="21" idx="4"/>
              <a:endCxn id="26" idx="1"/>
            </p:cNvCxnSpPr>
            <p:nvPr/>
          </p:nvCxnSpPr>
          <p:spPr bwMode="auto">
            <a:xfrm>
              <a:off x="4135923" y="923592"/>
              <a:ext cx="2" cy="234"/>
            </a:xfrm>
            <a:prstGeom prst="straightConnector1">
              <a:avLst/>
            </a:prstGeom>
            <a:noFill/>
            <a:ln w="9525">
              <a:solidFill>
                <a:srgbClr val="000000"/>
              </a:solidFill>
              <a:round/>
              <a:tailEnd type="triangle" w="med" len="med"/>
            </a:ln>
          </p:spPr>
        </p:cxnSp>
        <p:sp>
          <p:nvSpPr>
            <p:cNvPr id="26" name="AutoShape 12"/>
            <p:cNvSpPr>
              <a:spLocks noChangeArrowheads="1"/>
            </p:cNvSpPr>
            <p:nvPr/>
          </p:nvSpPr>
          <p:spPr bwMode="auto">
            <a:xfrm>
              <a:off x="4134215" y="923826"/>
              <a:ext cx="3420" cy="468"/>
            </a:xfrm>
            <a:prstGeom prst="flowChartInputOutput">
              <a:avLst/>
            </a:prstGeom>
            <a:solidFill>
              <a:srgbClr val="FFFFCC"/>
            </a:solidFill>
            <a:ln w="9525">
              <a:solidFill>
                <a:srgbClr val="000000"/>
              </a:solidFill>
              <a:miter lim="800000"/>
            </a:ln>
          </p:spPr>
          <p:txBody>
            <a:bodyPr lIns="0" tIns="10800" rIns="0" bIns="10800"/>
            <a:lstStyle/>
            <a:p>
              <a:pPr indent="228600" algn="ctr"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获取边缘覆盖场强</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27" name="Rectangle 13"/>
            <p:cNvSpPr>
              <a:spLocks noChangeArrowheads="1"/>
            </p:cNvSpPr>
            <p:nvPr/>
          </p:nvSpPr>
          <p:spPr bwMode="auto">
            <a:xfrm>
              <a:off x="4137990" y="924564"/>
              <a:ext cx="2520" cy="468"/>
            </a:xfrm>
            <a:prstGeom prst="rect">
              <a:avLst/>
            </a:prstGeom>
            <a:solidFill>
              <a:srgbClr val="FFFFCC"/>
            </a:solidFill>
            <a:ln w="9525">
              <a:solidFill>
                <a:srgbClr val="000000"/>
              </a:solidFill>
              <a:miter lim="800000"/>
            </a:ln>
          </p:spPr>
          <p:txBody>
            <a:bodyPr lIns="18000" tIns="36000" rIns="18000" bIns="36000"/>
            <a:lstStyle/>
            <a:p>
              <a:pPr indent="228600" algn="ctr"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天线布放</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28" name="AutoShape 14"/>
            <p:cNvSpPr>
              <a:spLocks noChangeArrowheads="1"/>
            </p:cNvSpPr>
            <p:nvPr/>
          </p:nvSpPr>
          <p:spPr bwMode="auto">
            <a:xfrm>
              <a:off x="4134210" y="924564"/>
              <a:ext cx="3420" cy="468"/>
            </a:xfrm>
            <a:prstGeom prst="flowChartInputOutput">
              <a:avLst/>
            </a:prstGeom>
            <a:solidFill>
              <a:srgbClr val="FFFFCC"/>
            </a:solidFill>
            <a:ln w="9525">
              <a:solidFill>
                <a:srgbClr val="000000"/>
              </a:solidFill>
              <a:miter lim="800000"/>
            </a:ln>
          </p:spPr>
          <p:txBody>
            <a:bodyPr lIns="0" tIns="10800" rIns="0" bIns="10800"/>
            <a:lstStyle/>
            <a:p>
              <a:pPr indent="228600" algn="ctr" eaLnBrk="0" fontAlgn="base" hangingPunct="0">
                <a:spcAft>
                  <a:spcPts val="0"/>
                </a:spcAft>
              </a:pPr>
              <a:r>
                <a:rPr lang="zh-CN" sz="100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获取天线覆盖半径</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29" name="AutoShape 15"/>
            <p:cNvCxnSpPr>
              <a:cxnSpLocks noChangeShapeType="1"/>
              <a:stCxn id="28" idx="5"/>
              <a:endCxn id="27" idx="1"/>
            </p:cNvCxnSpPr>
            <p:nvPr/>
          </p:nvCxnSpPr>
          <p:spPr bwMode="auto">
            <a:xfrm>
              <a:off x="4137282" y="924798"/>
              <a:ext cx="708" cy="1"/>
            </a:xfrm>
            <a:prstGeom prst="straightConnector1">
              <a:avLst/>
            </a:prstGeom>
            <a:noFill/>
            <a:ln w="9525">
              <a:solidFill>
                <a:srgbClr val="000000"/>
              </a:solidFill>
              <a:round/>
              <a:tailEnd type="triangle" w="med" len="med"/>
            </a:ln>
          </p:spPr>
        </p:cxnSp>
        <p:sp>
          <p:nvSpPr>
            <p:cNvPr id="30" name="Rectangle 16"/>
            <p:cNvSpPr>
              <a:spLocks noChangeArrowheads="1"/>
            </p:cNvSpPr>
            <p:nvPr/>
          </p:nvSpPr>
          <p:spPr bwMode="auto">
            <a:xfrm>
              <a:off x="4139250" y="926592"/>
              <a:ext cx="1260" cy="780"/>
            </a:xfrm>
            <a:prstGeom prst="rect">
              <a:avLst/>
            </a:prstGeom>
            <a:solidFill>
              <a:srgbClr val="FFFFCC"/>
            </a:solidFill>
            <a:ln w="9525">
              <a:solidFill>
                <a:srgbClr val="000000"/>
              </a:solidFill>
              <a:miter lim="800000"/>
            </a:ln>
          </p:spPr>
          <p:txBody>
            <a:bodyPr lIns="18000" tIns="36000" rIns="18000" bIns="36000"/>
            <a:lstStyle/>
            <a:p>
              <a:pPr algn="ctr"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计算每扇区天线数量</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31" name="AutoShape 17"/>
            <p:cNvCxnSpPr>
              <a:cxnSpLocks noChangeShapeType="1"/>
            </p:cNvCxnSpPr>
            <p:nvPr/>
          </p:nvCxnSpPr>
          <p:spPr bwMode="auto">
            <a:xfrm>
              <a:off x="4139250" y="925032"/>
              <a:ext cx="1" cy="312"/>
            </a:xfrm>
            <a:prstGeom prst="straightConnector1">
              <a:avLst/>
            </a:prstGeom>
            <a:noFill/>
            <a:ln w="9525">
              <a:solidFill>
                <a:srgbClr val="000000"/>
              </a:solidFill>
              <a:round/>
              <a:tailEnd type="triangle" w="med" len="med"/>
            </a:ln>
          </p:spPr>
        </p:cxnSp>
        <p:grpSp>
          <p:nvGrpSpPr>
            <p:cNvPr id="32" name="Group 18"/>
            <p:cNvGrpSpPr/>
            <p:nvPr/>
          </p:nvGrpSpPr>
          <p:grpSpPr bwMode="auto">
            <a:xfrm>
              <a:off x="4138530" y="925344"/>
              <a:ext cx="720" cy="156"/>
              <a:chOff x="4138530" y="925344"/>
              <a:chExt cx="720" cy="156"/>
            </a:xfrm>
          </p:grpSpPr>
          <p:cxnSp>
            <p:nvCxnSpPr>
              <p:cNvPr id="58" name="AutoShape 19"/>
              <p:cNvCxnSpPr>
                <a:cxnSpLocks noChangeShapeType="1"/>
              </p:cNvCxnSpPr>
              <p:nvPr/>
            </p:nvCxnSpPr>
            <p:spPr bwMode="auto">
              <a:xfrm>
                <a:off x="4138530" y="925344"/>
                <a:ext cx="1" cy="156"/>
              </a:xfrm>
              <a:prstGeom prst="straightConnector1">
                <a:avLst/>
              </a:prstGeom>
              <a:noFill/>
              <a:ln w="9525">
                <a:solidFill>
                  <a:srgbClr val="000000"/>
                </a:solidFill>
                <a:round/>
                <a:tailEnd type="triangle" w="med" len="med"/>
              </a:ln>
            </p:spPr>
          </p:cxnSp>
          <p:cxnSp>
            <p:nvCxnSpPr>
              <p:cNvPr id="59" name="AutoShape 20"/>
              <p:cNvCxnSpPr>
                <a:cxnSpLocks noChangeShapeType="1"/>
              </p:cNvCxnSpPr>
              <p:nvPr/>
            </p:nvCxnSpPr>
            <p:spPr bwMode="auto">
              <a:xfrm flipH="1">
                <a:off x="4138530" y="925344"/>
                <a:ext cx="720" cy="1"/>
              </a:xfrm>
              <a:prstGeom prst="straightConnector1">
                <a:avLst/>
              </a:prstGeom>
              <a:noFill/>
              <a:ln w="9525">
                <a:solidFill>
                  <a:srgbClr val="000000"/>
                </a:solidFill>
                <a:round/>
              </a:ln>
            </p:spPr>
          </p:cxnSp>
        </p:grpSp>
        <p:grpSp>
          <p:nvGrpSpPr>
            <p:cNvPr id="33" name="Group 21"/>
            <p:cNvGrpSpPr/>
            <p:nvPr/>
          </p:nvGrpSpPr>
          <p:grpSpPr bwMode="auto">
            <a:xfrm flipH="1">
              <a:off x="4139250" y="925344"/>
              <a:ext cx="720" cy="156"/>
              <a:chOff x="4139250" y="925344"/>
              <a:chExt cx="720" cy="156"/>
            </a:xfrm>
          </p:grpSpPr>
          <p:cxnSp>
            <p:nvCxnSpPr>
              <p:cNvPr id="56" name="AutoShape 22"/>
              <p:cNvCxnSpPr>
                <a:cxnSpLocks noChangeShapeType="1"/>
              </p:cNvCxnSpPr>
              <p:nvPr/>
            </p:nvCxnSpPr>
            <p:spPr bwMode="auto">
              <a:xfrm>
                <a:off x="4139250" y="925344"/>
                <a:ext cx="1" cy="156"/>
              </a:xfrm>
              <a:prstGeom prst="straightConnector1">
                <a:avLst/>
              </a:prstGeom>
              <a:noFill/>
              <a:ln w="9525">
                <a:solidFill>
                  <a:srgbClr val="000000"/>
                </a:solidFill>
                <a:round/>
                <a:tailEnd type="triangle" w="med" len="med"/>
              </a:ln>
            </p:spPr>
          </p:cxnSp>
          <p:cxnSp>
            <p:nvCxnSpPr>
              <p:cNvPr id="57" name="AutoShape 23"/>
              <p:cNvCxnSpPr>
                <a:cxnSpLocks noChangeShapeType="1"/>
              </p:cNvCxnSpPr>
              <p:nvPr/>
            </p:nvCxnSpPr>
            <p:spPr bwMode="auto">
              <a:xfrm flipH="1">
                <a:off x="4139250" y="925344"/>
                <a:ext cx="720" cy="1"/>
              </a:xfrm>
              <a:prstGeom prst="straightConnector1">
                <a:avLst/>
              </a:prstGeom>
              <a:noFill/>
              <a:ln w="9525">
                <a:solidFill>
                  <a:srgbClr val="000000"/>
                </a:solidFill>
                <a:round/>
              </a:ln>
            </p:spPr>
          </p:cxnSp>
        </p:grpSp>
        <p:sp>
          <p:nvSpPr>
            <p:cNvPr id="34" name="Rectangle 24"/>
            <p:cNvSpPr>
              <a:spLocks noChangeArrowheads="1"/>
            </p:cNvSpPr>
            <p:nvPr/>
          </p:nvSpPr>
          <p:spPr bwMode="auto">
            <a:xfrm>
              <a:off x="4137810" y="925500"/>
              <a:ext cx="1260" cy="780"/>
            </a:xfrm>
            <a:prstGeom prst="rect">
              <a:avLst/>
            </a:prstGeom>
            <a:solidFill>
              <a:srgbClr val="FFFFCC"/>
            </a:solidFill>
            <a:ln w="9525">
              <a:solidFill>
                <a:srgbClr val="000000"/>
              </a:solidFill>
              <a:miter lim="800000"/>
            </a:ln>
          </p:spPr>
          <p:txBody>
            <a:bodyPr lIns="18000" tIns="36000" rIns="18000" bIns="36000"/>
            <a:lstStyle/>
            <a:p>
              <a:pPr algn="ctr"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计算平层馈线长度及损耗</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35" name="Rectangle 25"/>
            <p:cNvSpPr>
              <a:spLocks noChangeArrowheads="1"/>
            </p:cNvSpPr>
            <p:nvPr/>
          </p:nvSpPr>
          <p:spPr bwMode="auto">
            <a:xfrm>
              <a:off x="4137990" y="928620"/>
              <a:ext cx="1260" cy="468"/>
            </a:xfrm>
            <a:prstGeom prst="rect">
              <a:avLst/>
            </a:prstGeom>
            <a:solidFill>
              <a:srgbClr val="FFFFCC"/>
            </a:solidFill>
            <a:ln w="9525">
              <a:solidFill>
                <a:srgbClr val="000000"/>
              </a:solidFill>
              <a:miter lim="800000"/>
            </a:ln>
          </p:spPr>
          <p:txBody>
            <a:bodyPr lIns="18000" tIns="36000" rIns="18000" bIns="36000"/>
            <a:lstStyle/>
            <a:p>
              <a:pPr algn="ctr" eaLnBrk="0" fontAlgn="base" hangingPunct="0"/>
              <a:r>
                <a:rPr lang="zh-CN" sz="1050" dirty="0">
                  <a:solidFill>
                    <a:srgbClr val="000000"/>
                  </a:solidFill>
                  <a:latin typeface="Times New Roman" panose="02020603050405020304" pitchFamily="18" charset="0"/>
                  <a:ea typeface="宋体" panose="02010600030101010101" pitchFamily="2" charset="-122"/>
                  <a:cs typeface="Arial" panose="020B0604020202020204" pitchFamily="34" charset="0"/>
                </a:rPr>
                <a:t>计算分配损耗</a:t>
              </a:r>
            </a:p>
          </p:txBody>
        </p:sp>
        <p:cxnSp>
          <p:nvCxnSpPr>
            <p:cNvPr id="36" name="AutoShape 26"/>
            <p:cNvCxnSpPr>
              <a:cxnSpLocks noChangeShapeType="1"/>
              <a:stCxn id="37" idx="1"/>
              <a:endCxn id="35" idx="0"/>
            </p:cNvCxnSpPr>
            <p:nvPr/>
          </p:nvCxnSpPr>
          <p:spPr bwMode="auto">
            <a:xfrm rot="10800000" flipV="1">
              <a:off x="4138620" y="928074"/>
              <a:ext cx="630" cy="546"/>
            </a:xfrm>
            <a:prstGeom prst="bentConnector2">
              <a:avLst/>
            </a:prstGeom>
            <a:noFill/>
            <a:ln w="9525">
              <a:solidFill>
                <a:srgbClr val="000000"/>
              </a:solidFill>
              <a:miter lim="800000"/>
              <a:tailEnd type="triangle" w="med" len="med"/>
            </a:ln>
          </p:spPr>
        </p:cxnSp>
        <p:sp>
          <p:nvSpPr>
            <p:cNvPr id="37" name="Rectangle 27"/>
            <p:cNvSpPr>
              <a:spLocks noChangeArrowheads="1"/>
            </p:cNvSpPr>
            <p:nvPr/>
          </p:nvSpPr>
          <p:spPr bwMode="auto">
            <a:xfrm>
              <a:off x="4139250" y="927684"/>
              <a:ext cx="1260" cy="780"/>
            </a:xfrm>
            <a:prstGeom prst="rect">
              <a:avLst/>
            </a:prstGeom>
            <a:solidFill>
              <a:srgbClr val="FFFFCC"/>
            </a:solidFill>
            <a:ln w="9525">
              <a:solidFill>
                <a:srgbClr val="000000"/>
              </a:solidFill>
              <a:miter lim="800000"/>
            </a:ln>
          </p:spPr>
          <p:txBody>
            <a:bodyPr lIns="18000" tIns="36000" rIns="18000" bIns="36000"/>
            <a:lstStyle/>
            <a:p>
              <a:pPr algn="ctr"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计算主干馈线长度及损耗</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38" name="Rectangle 28"/>
            <p:cNvSpPr>
              <a:spLocks noChangeArrowheads="1"/>
            </p:cNvSpPr>
            <p:nvPr/>
          </p:nvSpPr>
          <p:spPr bwMode="auto">
            <a:xfrm>
              <a:off x="4139250" y="925500"/>
              <a:ext cx="1260" cy="780"/>
            </a:xfrm>
            <a:prstGeom prst="rect">
              <a:avLst/>
            </a:prstGeom>
            <a:solidFill>
              <a:srgbClr val="FFFFCC"/>
            </a:solidFill>
            <a:ln w="9525">
              <a:solidFill>
                <a:srgbClr val="000000"/>
              </a:solidFill>
              <a:miter lim="800000"/>
            </a:ln>
          </p:spPr>
          <p:txBody>
            <a:bodyPr lIns="18000" tIns="36000" rIns="18000" bIns="36000"/>
            <a:lstStyle/>
            <a:p>
              <a:pPr algn="ctr"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扇区设置</a:t>
              </a:r>
              <a:endParaRPr lang="zh-CN" sz="1600" dirty="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39" name="AutoShape 29"/>
            <p:cNvCxnSpPr>
              <a:cxnSpLocks noChangeShapeType="1"/>
              <a:stCxn id="34" idx="1"/>
              <a:endCxn id="40" idx="0"/>
            </p:cNvCxnSpPr>
            <p:nvPr/>
          </p:nvCxnSpPr>
          <p:spPr bwMode="auto">
            <a:xfrm rot="10800000" flipV="1">
              <a:off x="4137466" y="925890"/>
              <a:ext cx="344" cy="3498"/>
            </a:xfrm>
            <a:prstGeom prst="bentConnector2">
              <a:avLst/>
            </a:prstGeom>
            <a:noFill/>
            <a:ln w="9525">
              <a:solidFill>
                <a:srgbClr val="000000"/>
              </a:solidFill>
              <a:miter lim="800000"/>
              <a:tailEnd type="triangle" w="med" len="med"/>
            </a:ln>
          </p:spPr>
        </p:cxnSp>
        <p:sp>
          <p:nvSpPr>
            <p:cNvPr id="40" name="Rectangle 30"/>
            <p:cNvSpPr>
              <a:spLocks noChangeArrowheads="1"/>
            </p:cNvSpPr>
            <p:nvPr/>
          </p:nvSpPr>
          <p:spPr bwMode="auto">
            <a:xfrm>
              <a:off x="4135486" y="929388"/>
              <a:ext cx="3960" cy="468"/>
            </a:xfrm>
            <a:prstGeom prst="rect">
              <a:avLst/>
            </a:prstGeom>
            <a:solidFill>
              <a:srgbClr val="FFFFCC"/>
            </a:solidFill>
            <a:ln w="9525">
              <a:solidFill>
                <a:srgbClr val="000000"/>
              </a:solidFill>
              <a:miter lim="800000"/>
            </a:ln>
          </p:spPr>
          <p:txBody>
            <a:bodyPr lIns="18000" tIns="36000" rIns="18000" bIns="36000"/>
            <a:lstStyle/>
            <a:p>
              <a:pPr algn="ctr"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计算功率需求</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41" name="Line 31"/>
            <p:cNvCxnSpPr/>
            <p:nvPr/>
          </p:nvCxnSpPr>
          <p:spPr bwMode="auto">
            <a:xfrm>
              <a:off x="4135844" y="925812"/>
              <a:ext cx="2" cy="3591"/>
            </a:xfrm>
            <a:prstGeom prst="line">
              <a:avLst/>
            </a:prstGeom>
            <a:noFill/>
            <a:ln w="9525">
              <a:solidFill>
                <a:srgbClr val="000000"/>
              </a:solidFill>
              <a:round/>
              <a:tailEnd type="triangle" w="med" len="med"/>
            </a:ln>
          </p:spPr>
        </p:cxnSp>
        <p:cxnSp>
          <p:nvCxnSpPr>
            <p:cNvPr id="42" name="AutoShape 32"/>
            <p:cNvCxnSpPr>
              <a:cxnSpLocks noChangeShapeType="1"/>
              <a:stCxn id="47" idx="2"/>
              <a:endCxn id="23" idx="0"/>
            </p:cNvCxnSpPr>
            <p:nvPr/>
          </p:nvCxnSpPr>
          <p:spPr bwMode="auto">
            <a:xfrm>
              <a:off x="4137305" y="930924"/>
              <a:ext cx="1" cy="203"/>
            </a:xfrm>
            <a:prstGeom prst="straightConnector1">
              <a:avLst/>
            </a:prstGeom>
            <a:noFill/>
            <a:ln w="9525">
              <a:solidFill>
                <a:srgbClr val="000000"/>
              </a:solidFill>
              <a:round/>
              <a:tailEnd type="triangle" w="med" len="med"/>
            </a:ln>
          </p:spPr>
        </p:cxnSp>
        <p:cxnSp>
          <p:nvCxnSpPr>
            <p:cNvPr id="43" name="AutoShape 33"/>
            <p:cNvCxnSpPr>
              <a:cxnSpLocks noChangeShapeType="1"/>
              <a:stCxn id="26" idx="4"/>
              <a:endCxn id="28" idx="1"/>
            </p:cNvCxnSpPr>
            <p:nvPr/>
          </p:nvCxnSpPr>
          <p:spPr bwMode="auto">
            <a:xfrm flipH="1">
              <a:off x="4135920" y="924294"/>
              <a:ext cx="5" cy="270"/>
            </a:xfrm>
            <a:prstGeom prst="straightConnector1">
              <a:avLst/>
            </a:prstGeom>
            <a:noFill/>
            <a:ln w="9525">
              <a:solidFill>
                <a:srgbClr val="000000"/>
              </a:solidFill>
              <a:round/>
              <a:tailEnd type="triangle" w="med" len="med"/>
            </a:ln>
          </p:spPr>
        </p:cxnSp>
        <p:cxnSp>
          <p:nvCxnSpPr>
            <p:cNvPr id="44" name="AutoShape 34"/>
            <p:cNvCxnSpPr>
              <a:cxnSpLocks noChangeShapeType="1"/>
              <a:stCxn id="38" idx="2"/>
              <a:endCxn id="30" idx="0"/>
            </p:cNvCxnSpPr>
            <p:nvPr/>
          </p:nvCxnSpPr>
          <p:spPr bwMode="auto">
            <a:xfrm>
              <a:off x="4139880" y="926280"/>
              <a:ext cx="1" cy="312"/>
            </a:xfrm>
            <a:prstGeom prst="straightConnector1">
              <a:avLst/>
            </a:prstGeom>
            <a:noFill/>
            <a:ln w="9525">
              <a:solidFill>
                <a:srgbClr val="000000"/>
              </a:solidFill>
              <a:round/>
              <a:tailEnd type="triangle" w="med" len="med"/>
            </a:ln>
          </p:spPr>
        </p:cxnSp>
        <p:cxnSp>
          <p:nvCxnSpPr>
            <p:cNvPr id="45" name="AutoShape 35"/>
            <p:cNvCxnSpPr>
              <a:cxnSpLocks noChangeShapeType="1"/>
              <a:stCxn id="30" idx="2"/>
              <a:endCxn id="37" idx="0"/>
            </p:cNvCxnSpPr>
            <p:nvPr/>
          </p:nvCxnSpPr>
          <p:spPr bwMode="auto">
            <a:xfrm>
              <a:off x="4139880" y="927372"/>
              <a:ext cx="1" cy="312"/>
            </a:xfrm>
            <a:prstGeom prst="straightConnector1">
              <a:avLst/>
            </a:prstGeom>
            <a:noFill/>
            <a:ln w="9525">
              <a:solidFill>
                <a:srgbClr val="000000"/>
              </a:solidFill>
              <a:round/>
              <a:tailEnd type="triangle" w="med" len="med"/>
            </a:ln>
          </p:spPr>
        </p:cxnSp>
        <p:cxnSp>
          <p:nvCxnSpPr>
            <p:cNvPr id="46" name="Line 36"/>
            <p:cNvCxnSpPr/>
            <p:nvPr/>
          </p:nvCxnSpPr>
          <p:spPr bwMode="auto">
            <a:xfrm>
              <a:off x="4138634" y="929088"/>
              <a:ext cx="2" cy="333"/>
            </a:xfrm>
            <a:prstGeom prst="line">
              <a:avLst/>
            </a:prstGeom>
            <a:noFill/>
            <a:ln w="9525">
              <a:solidFill>
                <a:srgbClr val="000000"/>
              </a:solidFill>
              <a:round/>
              <a:tailEnd type="triangle" w="med" len="med"/>
            </a:ln>
          </p:spPr>
        </p:cxnSp>
        <p:sp>
          <p:nvSpPr>
            <p:cNvPr id="47" name="AutoShape 37"/>
            <p:cNvSpPr>
              <a:spLocks noChangeArrowheads="1"/>
            </p:cNvSpPr>
            <p:nvPr/>
          </p:nvSpPr>
          <p:spPr bwMode="auto">
            <a:xfrm>
              <a:off x="4135704" y="930222"/>
              <a:ext cx="3201" cy="702"/>
            </a:xfrm>
            <a:prstGeom prst="flowChartDecision">
              <a:avLst/>
            </a:prstGeom>
            <a:solidFill>
              <a:srgbClr val="FFFFCC"/>
            </a:solidFill>
            <a:ln w="9525" algn="ctr">
              <a:solidFill>
                <a:srgbClr val="000000"/>
              </a:solidFill>
              <a:miter lim="800000"/>
            </a:ln>
          </p:spPr>
          <p:txBody>
            <a:bodyPr lIns="0" tIns="0" rIns="0" bIns="0"/>
            <a:lstStyle/>
            <a:p>
              <a:pPr indent="254000" algn="just"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功率是否匹配</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48" name="AutoShape 38"/>
            <p:cNvCxnSpPr>
              <a:cxnSpLocks noChangeShapeType="1"/>
              <a:stCxn id="28" idx="4"/>
              <a:endCxn id="22" idx="0"/>
            </p:cNvCxnSpPr>
            <p:nvPr/>
          </p:nvCxnSpPr>
          <p:spPr bwMode="auto">
            <a:xfrm>
              <a:off x="4135920" y="925032"/>
              <a:ext cx="1" cy="312"/>
            </a:xfrm>
            <a:prstGeom prst="straightConnector1">
              <a:avLst/>
            </a:prstGeom>
            <a:noFill/>
            <a:ln w="9525">
              <a:solidFill>
                <a:srgbClr val="000000"/>
              </a:solidFill>
              <a:round/>
              <a:tailEnd type="triangle" w="med" len="med"/>
            </a:ln>
          </p:spPr>
        </p:cxnSp>
        <p:cxnSp>
          <p:nvCxnSpPr>
            <p:cNvPr id="49" name="Line 39"/>
            <p:cNvCxnSpPr/>
            <p:nvPr/>
          </p:nvCxnSpPr>
          <p:spPr bwMode="auto">
            <a:xfrm>
              <a:off x="4133754" y="930559"/>
              <a:ext cx="1991" cy="1"/>
            </a:xfrm>
            <a:prstGeom prst="line">
              <a:avLst/>
            </a:prstGeom>
            <a:noFill/>
            <a:ln w="9525">
              <a:solidFill>
                <a:srgbClr val="000000"/>
              </a:solidFill>
              <a:round/>
              <a:tailEnd type="triangle" w="med" len="med"/>
            </a:ln>
          </p:spPr>
        </p:cxnSp>
        <p:sp>
          <p:nvSpPr>
            <p:cNvPr id="50" name="Text Box 40"/>
            <p:cNvSpPr txBox="1">
              <a:spLocks noChangeArrowheads="1"/>
            </p:cNvSpPr>
            <p:nvPr/>
          </p:nvSpPr>
          <p:spPr bwMode="auto">
            <a:xfrm>
              <a:off x="4134246" y="930093"/>
              <a:ext cx="1629" cy="468"/>
            </a:xfrm>
            <a:prstGeom prst="rect">
              <a:avLst/>
            </a:prstGeom>
            <a:noFill/>
            <a:ln w="9525">
              <a:noFill/>
              <a:miter lim="800000"/>
            </a:ln>
          </p:spPr>
          <p:txBody>
            <a:bodyPr/>
            <a:lstStyle/>
            <a:p>
              <a:pPr indent="254000" algn="just"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基站功率</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51" name="Freeform 41"/>
            <p:cNvSpPr/>
            <p:nvPr/>
          </p:nvSpPr>
          <p:spPr bwMode="auto">
            <a:xfrm>
              <a:off x="4138740" y="925877"/>
              <a:ext cx="2565" cy="4682"/>
            </a:xfrm>
            <a:custGeom>
              <a:avLst/>
              <a:gdLst>
                <a:gd name="T0" fmla="*/ 0 w 2565"/>
                <a:gd name="T1" fmla="*/ 4657 h 4657"/>
                <a:gd name="T2" fmla="*/ 2565 w 2565"/>
                <a:gd name="T3" fmla="*/ 4650 h 4657"/>
                <a:gd name="T4" fmla="*/ 2565 w 2565"/>
                <a:gd name="T5" fmla="*/ 0 h 4657"/>
                <a:gd name="T6" fmla="*/ 1770 w 2565"/>
                <a:gd name="T7" fmla="*/ 0 h 4657"/>
                <a:gd name="T8" fmla="*/ 0 60000 65536"/>
                <a:gd name="T9" fmla="*/ 0 60000 65536"/>
                <a:gd name="T10" fmla="*/ 0 60000 65536"/>
                <a:gd name="T11" fmla="*/ 0 60000 65536"/>
                <a:gd name="T12" fmla="*/ 0 w 2565"/>
                <a:gd name="T13" fmla="*/ 0 h 4657"/>
                <a:gd name="T14" fmla="*/ 2565 w 2565"/>
                <a:gd name="T15" fmla="*/ 4657 h 4657"/>
              </a:gdLst>
              <a:ahLst/>
              <a:cxnLst>
                <a:cxn ang="T8">
                  <a:pos x="T0" y="T1"/>
                </a:cxn>
                <a:cxn ang="T9">
                  <a:pos x="T2" y="T3"/>
                </a:cxn>
                <a:cxn ang="T10">
                  <a:pos x="T4" y="T5"/>
                </a:cxn>
                <a:cxn ang="T11">
                  <a:pos x="T6" y="T7"/>
                </a:cxn>
              </a:cxnLst>
              <a:rect l="T12" t="T13" r="T14" b="T15"/>
              <a:pathLst>
                <a:path w="2565" h="4657">
                  <a:moveTo>
                    <a:pt x="0" y="4657"/>
                  </a:moveTo>
                  <a:lnTo>
                    <a:pt x="2565" y="4650"/>
                  </a:lnTo>
                  <a:lnTo>
                    <a:pt x="2565" y="0"/>
                  </a:lnTo>
                  <a:lnTo>
                    <a:pt x="1770" y="0"/>
                  </a:lnTo>
                </a:path>
              </a:pathLst>
            </a:custGeom>
            <a:noFill/>
            <a:ln w="9525">
              <a:solidFill>
                <a:srgbClr val="000000"/>
              </a:solidFill>
              <a:round/>
              <a:tailEnd type="triangle" w="med" len="med"/>
            </a:ln>
          </p:spPr>
          <p:txBody>
            <a:bodyPr/>
            <a:lstStyle/>
            <a:p>
              <a:endParaRPr lang="zh-CN" altLang="en-US"/>
            </a:p>
          </p:txBody>
        </p:sp>
        <p:sp>
          <p:nvSpPr>
            <p:cNvPr id="52" name="Text Box 42"/>
            <p:cNvSpPr txBox="1">
              <a:spLocks noChangeArrowheads="1"/>
            </p:cNvSpPr>
            <p:nvPr/>
          </p:nvSpPr>
          <p:spPr bwMode="auto">
            <a:xfrm>
              <a:off x="4138740" y="930066"/>
              <a:ext cx="543" cy="468"/>
            </a:xfrm>
            <a:prstGeom prst="rect">
              <a:avLst/>
            </a:prstGeom>
            <a:noFill/>
            <a:ln w="9525">
              <a:noFill/>
              <a:miter lim="800000"/>
            </a:ln>
          </p:spPr>
          <p:txBody>
            <a:bodyPr/>
            <a:lstStyle/>
            <a:p>
              <a:pPr indent="254000" algn="just" eaLnBrk="0" fontAlgn="base" hangingPunct="0">
                <a:spcAft>
                  <a:spcPts val="0"/>
                </a:spcAft>
              </a:pPr>
              <a:r>
                <a:rPr lang="en-US" sz="1000" kern="120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N</a:t>
              </a:r>
              <a:endParaRPr lang="zh-CN" sz="120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53" name="AutoShape 43"/>
            <p:cNvCxnSpPr>
              <a:cxnSpLocks noChangeShapeType="1"/>
            </p:cNvCxnSpPr>
            <p:nvPr/>
          </p:nvCxnSpPr>
          <p:spPr bwMode="auto">
            <a:xfrm>
              <a:off x="4137305" y="929893"/>
              <a:ext cx="0" cy="341"/>
            </a:xfrm>
            <a:prstGeom prst="straightConnector1">
              <a:avLst/>
            </a:prstGeom>
            <a:noFill/>
            <a:ln w="9525">
              <a:solidFill>
                <a:srgbClr val="000000"/>
              </a:solidFill>
              <a:round/>
              <a:tailEnd type="triangle" w="med" len="med"/>
            </a:ln>
          </p:spPr>
        </p:cxnSp>
        <p:sp>
          <p:nvSpPr>
            <p:cNvPr id="54" name="Text Box 44"/>
            <p:cNvSpPr txBox="1">
              <a:spLocks noChangeArrowheads="1"/>
            </p:cNvSpPr>
            <p:nvPr/>
          </p:nvSpPr>
          <p:spPr bwMode="auto">
            <a:xfrm>
              <a:off x="4137473" y="930690"/>
              <a:ext cx="543" cy="468"/>
            </a:xfrm>
            <a:prstGeom prst="rect">
              <a:avLst/>
            </a:prstGeom>
            <a:noFill/>
            <a:ln w="9525">
              <a:noFill/>
              <a:miter lim="800000"/>
            </a:ln>
          </p:spPr>
          <p:txBody>
            <a:bodyPr/>
            <a:lstStyle/>
            <a:p>
              <a:pPr indent="254000" algn="just" eaLnBrk="0" fontAlgn="base" hangingPunct="0">
                <a:spcAft>
                  <a:spcPts val="0"/>
                </a:spcAft>
              </a:pPr>
              <a:r>
                <a:rPr lang="en-US" sz="1000" kern="120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Y</a:t>
              </a:r>
              <a:endParaRPr lang="zh-CN" sz="1200">
                <a:effectLst/>
                <a:latin typeface="宋体" panose="02010600030101010101" pitchFamily="2" charset="-122"/>
                <a:ea typeface="宋体" panose="02010600030101010101" pitchFamily="2" charset="-122"/>
                <a:cs typeface="宋体" panose="02010600030101010101" pitchFamily="2" charset="-122"/>
              </a:endParaRPr>
            </a:p>
          </p:txBody>
        </p:sp>
        <p:sp>
          <p:nvSpPr>
            <p:cNvPr id="55" name="Text Box 45"/>
            <p:cNvSpPr txBox="1">
              <a:spLocks noChangeArrowheads="1"/>
            </p:cNvSpPr>
            <p:nvPr/>
          </p:nvSpPr>
          <p:spPr bwMode="auto">
            <a:xfrm>
              <a:off x="4140003" y="930125"/>
              <a:ext cx="1302" cy="620"/>
            </a:xfrm>
            <a:prstGeom prst="rect">
              <a:avLst/>
            </a:prstGeom>
            <a:noFill/>
            <a:ln w="9525">
              <a:noFill/>
              <a:miter lim="800000"/>
            </a:ln>
          </p:spPr>
          <p:txBody>
            <a:bodyPr/>
            <a:lstStyle/>
            <a:p>
              <a:pPr algn="just" eaLnBrk="0" fontAlgn="base" hangingPunct="0">
                <a:spcAft>
                  <a:spcPts val="0"/>
                </a:spcAft>
              </a:pPr>
              <a:r>
                <a:rPr lang="zh-CN" sz="1050" kern="120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功率匹配</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grpSp>
      <p:sp>
        <p:nvSpPr>
          <p:cNvPr id="2" name="矩形 1"/>
          <p:cNvSpPr/>
          <p:nvPr/>
        </p:nvSpPr>
        <p:spPr>
          <a:xfrm>
            <a:off x="764448" y="4470056"/>
            <a:ext cx="6096000" cy="1200329"/>
          </a:xfrm>
          <a:prstGeom prst="rect">
            <a:avLst/>
          </a:prstGeom>
        </p:spPr>
        <p:txBody>
          <a:bodyPr>
            <a:spAutoFit/>
          </a:bodyPr>
          <a:lstStyle/>
          <a:p>
            <a:pPr lvl="0" indent="304800" eaLnBrk="0" fontAlgn="base" hangingPunct="0">
              <a:spcBef>
                <a:spcPct val="0"/>
              </a:spcBef>
              <a:spcAft>
                <a:spcPct val="0"/>
              </a:spcAft>
            </a:pPr>
            <a:r>
              <a:rPr lang="zh-CN" altLang="en-US" kern="100" dirty="0">
                <a:latin typeface="+mj-ea"/>
              </a:rPr>
              <a:t>第一步：覆盖指标确定；</a:t>
            </a:r>
          </a:p>
          <a:p>
            <a:pPr lvl="0" indent="304800" eaLnBrk="0" fontAlgn="base" hangingPunct="0">
              <a:spcBef>
                <a:spcPct val="0"/>
              </a:spcBef>
              <a:spcAft>
                <a:spcPct val="0"/>
              </a:spcAft>
            </a:pPr>
            <a:r>
              <a:rPr lang="zh-CN" altLang="en-US" kern="100" dirty="0">
                <a:latin typeface="+mj-ea"/>
              </a:rPr>
              <a:t>第二步：天线覆盖半径确定；</a:t>
            </a:r>
          </a:p>
          <a:p>
            <a:pPr lvl="0" indent="304800" eaLnBrk="0" fontAlgn="base" hangingPunct="0">
              <a:spcBef>
                <a:spcPct val="0"/>
              </a:spcBef>
              <a:spcAft>
                <a:spcPct val="0"/>
              </a:spcAft>
            </a:pPr>
            <a:r>
              <a:rPr lang="zh-CN" altLang="en-US" kern="100" dirty="0">
                <a:latin typeface="+mj-ea"/>
              </a:rPr>
              <a:t>第三步：分析传播模型；</a:t>
            </a:r>
          </a:p>
          <a:p>
            <a:pPr lvl="0" indent="304800" eaLnBrk="0" fontAlgn="base" hangingPunct="0">
              <a:spcBef>
                <a:spcPct val="0"/>
              </a:spcBef>
              <a:spcAft>
                <a:spcPct val="0"/>
              </a:spcAft>
            </a:pPr>
            <a:r>
              <a:rPr lang="zh-CN" altLang="en-US" kern="100" dirty="0">
                <a:latin typeface="+mj-ea"/>
              </a:rPr>
              <a:t>第四步：确定各种场景下的天线口功率。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LTE</a:t>
            </a:r>
            <a:r>
              <a:rPr kumimoji="1" lang="zh-CN" altLang="en-US" sz="1900" b="1" dirty="0">
                <a:latin typeface="微软雅黑" panose="020B0503020204020204" charset="-122"/>
                <a:ea typeface="微软雅黑" panose="020B0503020204020204" charset="-122"/>
                <a:cs typeface="微软雅黑" panose="020B0503020204020204" charset="-122"/>
              </a:rPr>
              <a:t>室内链路预算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3" name="文本框 62"/>
          <p:cNvSpPr txBox="1"/>
          <p:nvPr>
            <p:custDataLst>
              <p:tags r:id="rId1"/>
            </p:custDataLst>
          </p:nvPr>
        </p:nvSpPr>
        <p:spPr>
          <a:xfrm>
            <a:off x="961140" y="2001969"/>
            <a:ext cx="3042689" cy="576657"/>
          </a:xfrm>
          <a:prstGeom prst="rect">
            <a:avLst/>
          </a:prstGeom>
          <a:noFill/>
        </p:spPr>
        <p:txBody>
          <a:bodyPr wrap="square" lIns="0" tIns="0" rIns="0" bIns="0" rtlCol="0" anchor="ctr" anchorCtr="0">
            <a:normAutofit/>
          </a:bodyPr>
          <a:lstStyle/>
          <a:p>
            <a:pPr marL="342900" lvl="0" indent="-342900">
              <a:buFont typeface="Wingdings" panose="05000000000000000000" pitchFamily="2" charset="2"/>
              <a:buChar char="u"/>
            </a:pPr>
            <a:r>
              <a:rPr lang="en-US" altLang="zh-CN" sz="2100" b="1" dirty="0">
                <a:solidFill>
                  <a:srgbClr val="005BAA"/>
                </a:solidFill>
                <a:latin typeface="微软雅黑" panose="020B0503020204020204" charset="-122"/>
                <a:ea typeface="微软雅黑" panose="020B0503020204020204" charset="-122"/>
                <a:cs typeface="+mj-cs"/>
              </a:rPr>
              <a:t>LTE</a:t>
            </a:r>
            <a:r>
              <a:rPr lang="zh-CN" altLang="zh-CN" sz="2100" b="1" dirty="0">
                <a:solidFill>
                  <a:srgbClr val="005BAA"/>
                </a:solidFill>
                <a:latin typeface="微软雅黑" panose="020B0503020204020204" charset="-122"/>
                <a:ea typeface="微软雅黑" panose="020B0503020204020204" charset="-122"/>
                <a:cs typeface="+mj-cs"/>
              </a:rPr>
              <a:t>室内覆盖指标确定</a:t>
            </a:r>
            <a:endParaRPr lang="zh-CN" altLang="en-US" sz="2100" b="1" dirty="0">
              <a:solidFill>
                <a:srgbClr val="005BAA"/>
              </a:solidFill>
              <a:latin typeface="微软雅黑" panose="020B0503020204020204" charset="-122"/>
              <a:ea typeface="微软雅黑" panose="020B0503020204020204" charset="-122"/>
              <a:cs typeface="+mj-cs"/>
              <a:sym typeface="Arial" panose="020B0604020202020204" pitchFamily="34" charset="0"/>
            </a:endParaRPr>
          </a:p>
        </p:txBody>
      </p:sp>
      <p:sp>
        <p:nvSpPr>
          <p:cNvPr id="64" name="矩形 63"/>
          <p:cNvSpPr/>
          <p:nvPr/>
        </p:nvSpPr>
        <p:spPr>
          <a:xfrm>
            <a:off x="4282250" y="1462045"/>
            <a:ext cx="6992392" cy="1754326"/>
          </a:xfrm>
          <a:prstGeom prst="rect">
            <a:avLst/>
          </a:prstGeom>
        </p:spPr>
        <p:txBody>
          <a:bodyPr wrap="square">
            <a:spAutoFit/>
          </a:bodyPr>
          <a:lstStyle/>
          <a:p>
            <a:pPr lvl="0">
              <a:lnSpc>
                <a:spcPct val="150000"/>
              </a:lnSpc>
            </a:pPr>
            <a:r>
              <a:rPr lang="en-US" altLang="zh-CN" sz="1800" dirty="0"/>
              <a:t>LTE</a:t>
            </a:r>
            <a:r>
              <a:rPr lang="zh-CN" altLang="zh-CN" sz="1800" dirty="0"/>
              <a:t>可以提供多种业务，不同的区域类型要求提供不同的业务，不同的业务，其室内覆盖指标要求不一样，因此，要确定室内覆盖指标，首先要划分不同的业务覆盖区域类型，按对网络质量的要求，通常分为三类区域</a:t>
            </a:r>
            <a:r>
              <a:rPr lang="zh-CN" altLang="en-US" dirty="0"/>
              <a:t>。</a:t>
            </a:r>
            <a:endParaRPr lang="zh-CN" altLang="en-US" sz="1800" dirty="0"/>
          </a:p>
        </p:txBody>
      </p:sp>
      <p:graphicFrame>
        <p:nvGraphicFramePr>
          <p:cNvPr id="5" name="表格 4"/>
          <p:cNvGraphicFramePr>
            <a:graphicFrameLocks noGrp="1"/>
          </p:cNvGraphicFramePr>
          <p:nvPr/>
        </p:nvGraphicFramePr>
        <p:xfrm>
          <a:off x="1627573" y="3658473"/>
          <a:ext cx="9753600" cy="1560195"/>
        </p:xfrm>
        <a:graphic>
          <a:graphicData uri="http://schemas.openxmlformats.org/drawingml/2006/table">
            <a:tbl>
              <a:tblPr>
                <a:tableStyleId>{5C22544A-7EE6-4342-B048-85BDC9FD1C3A}</a:tableStyleId>
              </a:tblPr>
              <a:tblGrid>
                <a:gridCol w="2564565">
                  <a:extLst>
                    <a:ext uri="{9D8B030D-6E8A-4147-A177-3AD203B41FA5}">
                      <a16:colId xmlns:a16="http://schemas.microsoft.com/office/drawing/2014/main" val="20000"/>
                    </a:ext>
                  </a:extLst>
                </a:gridCol>
                <a:gridCol w="5141826">
                  <a:extLst>
                    <a:ext uri="{9D8B030D-6E8A-4147-A177-3AD203B41FA5}">
                      <a16:colId xmlns:a16="http://schemas.microsoft.com/office/drawing/2014/main" val="20001"/>
                    </a:ext>
                  </a:extLst>
                </a:gridCol>
                <a:gridCol w="2047209">
                  <a:extLst>
                    <a:ext uri="{9D8B030D-6E8A-4147-A177-3AD203B41FA5}">
                      <a16:colId xmlns:a16="http://schemas.microsoft.com/office/drawing/2014/main" val="20002"/>
                    </a:ext>
                  </a:extLst>
                </a:gridCol>
              </a:tblGrid>
              <a:tr h="0">
                <a:tc>
                  <a:txBody>
                    <a:bodyPr/>
                    <a:lstStyle/>
                    <a:p>
                      <a:pPr algn="l" rtl="0" fontAlgn="ctr"/>
                      <a:r>
                        <a:rPr lang="zh-CN" altLang="en-US" sz="1800" u="none" strike="noStrike" dirty="0">
                          <a:effectLst/>
                        </a:rPr>
                        <a:t>区域类型</a:t>
                      </a:r>
                      <a:endParaRPr lang="zh-CN" altLang="en-US" sz="18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tc>
                  <a:txBody>
                    <a:bodyPr/>
                    <a:lstStyle/>
                    <a:p>
                      <a:pPr algn="l" rtl="0" fontAlgn="ctr"/>
                      <a:r>
                        <a:rPr lang="zh-CN" altLang="en-US" sz="1800" u="none" strike="noStrike" dirty="0">
                          <a:effectLst/>
                        </a:rPr>
                        <a:t>场  景</a:t>
                      </a:r>
                      <a:endParaRPr lang="zh-CN" altLang="en-US" sz="18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tc>
                  <a:txBody>
                    <a:bodyPr/>
                    <a:lstStyle/>
                    <a:p>
                      <a:pPr algn="ctr" rtl="0" fontAlgn="ctr"/>
                      <a:r>
                        <a:rPr lang="zh-CN" altLang="en-US" sz="1800" u="none" strike="noStrike">
                          <a:effectLst/>
                        </a:rPr>
                        <a:t>边缘</a:t>
                      </a:r>
                      <a:r>
                        <a:rPr lang="en-US" sz="1800" u="none" strike="noStrike">
                          <a:effectLst/>
                        </a:rPr>
                        <a:t>RSRP</a:t>
                      </a:r>
                      <a:r>
                        <a:rPr lang="zh-CN" altLang="en-US" sz="1800" u="none" strike="noStrike">
                          <a:effectLst/>
                        </a:rPr>
                        <a:t>要求</a:t>
                      </a:r>
                      <a:endParaRPr lang="zh-CN" altLang="en-US" sz="1800" b="0"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extLst>
                  <a:ext uri="{0D108BD9-81ED-4DB2-BD59-A6C34878D82A}">
                    <a16:rowId xmlns:a16="http://schemas.microsoft.com/office/drawing/2014/main" val="10000"/>
                  </a:ext>
                </a:extLst>
              </a:tr>
              <a:tr h="638175">
                <a:tc>
                  <a:txBody>
                    <a:bodyPr/>
                    <a:lstStyle/>
                    <a:p>
                      <a:pPr algn="l" rtl="0" fontAlgn="ctr"/>
                      <a:r>
                        <a:rPr lang="zh-CN" altLang="en-US" sz="1800" u="none" strike="noStrike" dirty="0">
                          <a:effectLst/>
                        </a:rPr>
                        <a:t>一类区域（</a:t>
                      </a:r>
                      <a:r>
                        <a:rPr lang="en-US" altLang="zh-CN" sz="1800" u="none" strike="noStrike" dirty="0">
                          <a:effectLst/>
                        </a:rPr>
                        <a:t>1024 kbps</a:t>
                      </a:r>
                      <a:r>
                        <a:rPr lang="zh-CN" altLang="en-US" sz="1800" u="none" strike="noStrike" dirty="0">
                          <a:effectLst/>
                        </a:rPr>
                        <a:t>）</a:t>
                      </a:r>
                      <a:endParaRPr lang="zh-CN" altLang="en-US" sz="18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tc>
                  <a:txBody>
                    <a:bodyPr/>
                    <a:lstStyle/>
                    <a:p>
                      <a:pPr algn="l" rtl="0" fontAlgn="ctr"/>
                      <a:r>
                        <a:rPr lang="zh-CN" altLang="en-US" sz="1800" u="none" strike="noStrike">
                          <a:effectLst/>
                        </a:rPr>
                        <a:t>高档娱乐场所、高档办公楼、高档酒店、大型商场、候机厅</a:t>
                      </a:r>
                      <a:r>
                        <a:rPr lang="en-US" altLang="zh-CN" sz="1800" u="none" strike="noStrike">
                          <a:effectLst/>
                        </a:rPr>
                        <a:t>/</a:t>
                      </a:r>
                      <a:r>
                        <a:rPr lang="zh-CN" altLang="en-US" sz="1800" u="none" strike="noStrike">
                          <a:effectLst/>
                        </a:rPr>
                        <a:t>展厅</a:t>
                      </a:r>
                      <a:endParaRPr lang="zh-CN" altLang="en-US" sz="1800" b="0"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tc>
                  <a:txBody>
                    <a:bodyPr/>
                    <a:lstStyle/>
                    <a:p>
                      <a:pPr algn="ctr" rtl="0" fontAlgn="ctr"/>
                      <a:r>
                        <a:rPr lang="en-US" sz="1800" u="none" strike="noStrike">
                          <a:effectLst/>
                        </a:rPr>
                        <a:t>≥ -105dBm</a:t>
                      </a:r>
                      <a:endParaRPr lang="en-US" sz="1800" b="0"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extLst>
                  <a:ext uri="{0D108BD9-81ED-4DB2-BD59-A6C34878D82A}">
                    <a16:rowId xmlns:a16="http://schemas.microsoft.com/office/drawing/2014/main" val="10001"/>
                  </a:ext>
                </a:extLst>
              </a:tr>
              <a:tr h="323850">
                <a:tc>
                  <a:txBody>
                    <a:bodyPr/>
                    <a:lstStyle/>
                    <a:p>
                      <a:pPr algn="l" rtl="0" fontAlgn="ctr"/>
                      <a:r>
                        <a:rPr lang="zh-CN" altLang="en-US" sz="1800" u="none" strike="noStrike">
                          <a:effectLst/>
                        </a:rPr>
                        <a:t>二类区（</a:t>
                      </a:r>
                      <a:r>
                        <a:rPr lang="en-US" altLang="zh-CN" sz="1800" u="none" strike="noStrike">
                          <a:effectLst/>
                        </a:rPr>
                        <a:t>512</a:t>
                      </a:r>
                      <a:r>
                        <a:rPr lang="en-US" sz="1800" u="none" strike="noStrike">
                          <a:effectLst/>
                        </a:rPr>
                        <a:t>kbps）</a:t>
                      </a:r>
                      <a:endParaRPr lang="en-US" sz="1800" b="0"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tc>
                  <a:txBody>
                    <a:bodyPr/>
                    <a:lstStyle/>
                    <a:p>
                      <a:pPr algn="l" rtl="0" fontAlgn="ctr"/>
                      <a:r>
                        <a:rPr lang="zh-CN" altLang="en-US" sz="1800" u="none" strike="noStrike" dirty="0">
                          <a:effectLst/>
                        </a:rPr>
                        <a:t>一般娱乐场所、一般办公楼、一般酒店、一般商场</a:t>
                      </a:r>
                      <a:endParaRPr lang="zh-CN" altLang="en-US" sz="18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tc>
                  <a:txBody>
                    <a:bodyPr/>
                    <a:lstStyle/>
                    <a:p>
                      <a:pPr algn="ctr" rtl="0" fontAlgn="ctr"/>
                      <a:r>
                        <a:rPr lang="en-US" sz="1800" u="none" strike="noStrike">
                          <a:effectLst/>
                        </a:rPr>
                        <a:t>≥ -110dBm</a:t>
                      </a:r>
                      <a:endParaRPr lang="en-US" sz="1800" b="0"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extLst>
                  <a:ext uri="{0D108BD9-81ED-4DB2-BD59-A6C34878D82A}">
                    <a16:rowId xmlns:a16="http://schemas.microsoft.com/office/drawing/2014/main" val="10002"/>
                  </a:ext>
                </a:extLst>
              </a:tr>
              <a:tr h="323850">
                <a:tc>
                  <a:txBody>
                    <a:bodyPr/>
                    <a:lstStyle/>
                    <a:p>
                      <a:pPr algn="l" rtl="0" fontAlgn="ctr"/>
                      <a:r>
                        <a:rPr lang="zh-CN" altLang="en-US" sz="1800" u="none" strike="noStrike">
                          <a:effectLst/>
                        </a:rPr>
                        <a:t>三类区（</a:t>
                      </a:r>
                      <a:r>
                        <a:rPr lang="en-US" altLang="zh-CN" sz="1800" u="none" strike="noStrike">
                          <a:effectLst/>
                        </a:rPr>
                        <a:t>128</a:t>
                      </a:r>
                      <a:r>
                        <a:rPr lang="en-US" sz="1800" u="none" strike="noStrike">
                          <a:effectLst/>
                        </a:rPr>
                        <a:t>kbps）</a:t>
                      </a:r>
                      <a:endParaRPr lang="en-US" sz="1800" b="0" i="0" u="none" strike="noStrike">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tc>
                  <a:txBody>
                    <a:bodyPr/>
                    <a:lstStyle/>
                    <a:p>
                      <a:pPr algn="l" rtl="0" fontAlgn="ctr"/>
                      <a:r>
                        <a:rPr lang="zh-CN" altLang="en-US" sz="1800" u="none" strike="noStrike" dirty="0">
                          <a:effectLst/>
                        </a:rPr>
                        <a:t>停车场</a:t>
                      </a:r>
                      <a:endParaRPr lang="zh-CN" altLang="en-US" sz="18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tc>
                  <a:txBody>
                    <a:bodyPr/>
                    <a:lstStyle/>
                    <a:p>
                      <a:pPr algn="ctr" rtl="0" fontAlgn="ctr"/>
                      <a:r>
                        <a:rPr lang="en-US" sz="1800" u="none" strike="noStrike" dirty="0">
                          <a:effectLst/>
                        </a:rPr>
                        <a:t>≥ -115dBm</a:t>
                      </a:r>
                      <a:endParaRPr lang="en-US" sz="1800" b="0" i="0" u="none" strike="noStrike" dirty="0">
                        <a:solidFill>
                          <a:srgbClr val="000000"/>
                        </a:solidFill>
                        <a:effectLst/>
                        <a:latin typeface="微软雅黑" panose="020B0503020204020204" charset="-122"/>
                        <a:ea typeface="微软雅黑" panose="020B0503020204020204" charset="-122"/>
                      </a:endParaRPr>
                    </a:p>
                  </a:txBody>
                  <a:tcPr marL="0" marR="0" marT="0" marB="0" anchor="ctr">
                    <a:solidFill>
                      <a:schemeClr val="accent1">
                        <a:lumMod val="60000"/>
                        <a:lumOff val="4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olidFill>
                  <a:srgbClr val="00B0F0"/>
                </a:solidFill>
              </a:rPr>
              <a:t>任务二：步入</a:t>
            </a:r>
            <a:r>
              <a:rPr lang="en-US" altLang="zh-CN" dirty="0">
                <a:solidFill>
                  <a:srgbClr val="00B0F0"/>
                </a:solidFill>
              </a:rPr>
              <a:t>LTE</a:t>
            </a:r>
            <a:r>
              <a:rPr lang="zh-CN" altLang="en-US" dirty="0">
                <a:solidFill>
                  <a:srgbClr val="00B0F0"/>
                </a:solidFill>
              </a:rPr>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LTE</a:t>
            </a:r>
            <a:r>
              <a:rPr kumimoji="1" lang="zh-CN" altLang="en-US" sz="1900" b="1" dirty="0">
                <a:latin typeface="微软雅黑" panose="020B0503020204020204" charset="-122"/>
                <a:ea typeface="微软雅黑" panose="020B0503020204020204" charset="-122"/>
                <a:cs typeface="微软雅黑" panose="020B0503020204020204" charset="-122"/>
              </a:rPr>
              <a:t>室内链路预算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矩形 7"/>
          <p:cNvSpPr/>
          <p:nvPr/>
        </p:nvSpPr>
        <p:spPr>
          <a:xfrm>
            <a:off x="1270000" y="2464435"/>
            <a:ext cx="10488930" cy="4116705"/>
          </a:xfrm>
          <a:prstGeom prst="rect">
            <a:avLst/>
          </a:prstGeom>
        </p:spPr>
        <p:txBody>
          <a:bodyPr wrap="square">
            <a:noAutofit/>
          </a:bodyPr>
          <a:lstStyle/>
          <a:p>
            <a:pPr>
              <a:lnSpc>
                <a:spcPct val="150000"/>
              </a:lnSpc>
            </a:pPr>
            <a:r>
              <a:rPr lang="zh-CN" altLang="zh-CN" sz="2400" dirty="0"/>
              <a:t>室内覆盖边缘场强的确定需要同时考虑两个方面：</a:t>
            </a:r>
          </a:p>
          <a:p>
            <a:pPr>
              <a:lnSpc>
                <a:spcPct val="150000"/>
              </a:lnSpc>
            </a:pPr>
            <a:r>
              <a:rPr lang="en-US" altLang="zh-CN" sz="2400" dirty="0"/>
              <a:t>1</a:t>
            </a:r>
            <a:r>
              <a:rPr lang="zh-CN" altLang="zh-CN" sz="2400" dirty="0"/>
              <a:t>）边缘场强应满足连续覆盖业务的最小接收信号强度</a:t>
            </a:r>
            <a:r>
              <a:rPr lang="zh-CN" altLang="en-US" sz="2400" dirty="0"/>
              <a:t>（</a:t>
            </a:r>
            <a:r>
              <a:rPr lang="zh-CN" altLang="zh-CN" sz="2400" dirty="0"/>
              <a:t>需要考虑所承载业务的接收灵敏度、不同场景的慢衰落余量、干扰余量、人体损耗等因素</a:t>
            </a:r>
            <a:r>
              <a:rPr lang="zh-CN" altLang="en-US" sz="2400" dirty="0"/>
              <a:t>）</a:t>
            </a:r>
            <a:r>
              <a:rPr lang="zh-CN" altLang="zh-CN" sz="2400" dirty="0"/>
              <a:t>；</a:t>
            </a:r>
          </a:p>
          <a:p>
            <a:pPr>
              <a:lnSpc>
                <a:spcPct val="150000"/>
              </a:lnSpc>
            </a:pPr>
            <a:r>
              <a:rPr lang="en-US" altLang="zh-CN" sz="2400" dirty="0"/>
              <a:t>2</a:t>
            </a:r>
            <a:r>
              <a:rPr lang="zh-CN" altLang="zh-CN" sz="2400" dirty="0"/>
              <a:t>）应大于室外信号在室内的覆盖强度，即设计余量，其典型经验值为（</a:t>
            </a:r>
            <a:r>
              <a:rPr lang="en-US" altLang="zh-CN" sz="2400" dirty="0"/>
              <a:t>5-8</a:t>
            </a:r>
            <a:r>
              <a:rPr lang="zh-CN" altLang="zh-CN" sz="2400" dirty="0"/>
              <a:t>）</a:t>
            </a:r>
            <a:r>
              <a:rPr lang="en-US" altLang="zh-CN" sz="2400" dirty="0"/>
              <a:t>dB</a:t>
            </a:r>
            <a:r>
              <a:rPr lang="zh-CN" altLang="zh-CN" sz="2400" dirty="0"/>
              <a:t>（不同的场景要求会有差异，比如办公楼、酒店余量可以适当取大一些，相反停车场可以适当小一些）。</a:t>
            </a:r>
          </a:p>
          <a:p>
            <a:pPr lvl="0"/>
            <a:endParaRPr lang="zh-CN" altLang="zh-CN" sz="2400" dirty="0"/>
          </a:p>
        </p:txBody>
      </p:sp>
      <p:sp>
        <p:nvSpPr>
          <p:cNvPr id="9" name="文本框 8"/>
          <p:cNvSpPr txBox="1"/>
          <p:nvPr>
            <p:custDataLst>
              <p:tags r:id="rId1"/>
            </p:custDataLst>
          </p:nvPr>
        </p:nvSpPr>
        <p:spPr>
          <a:xfrm>
            <a:off x="961140" y="2001969"/>
            <a:ext cx="3042689" cy="576657"/>
          </a:xfrm>
          <a:prstGeom prst="rect">
            <a:avLst/>
          </a:prstGeom>
          <a:noFill/>
        </p:spPr>
        <p:txBody>
          <a:bodyPr wrap="square" lIns="0" tIns="0" rIns="0" bIns="0" rtlCol="0" anchor="ctr" anchorCtr="0">
            <a:normAutofit/>
          </a:bodyPr>
          <a:lstStyle/>
          <a:p>
            <a:pPr marL="342900" lvl="0" indent="-342900">
              <a:buFont typeface="Wingdings" panose="05000000000000000000" pitchFamily="2" charset="2"/>
              <a:buChar char="u"/>
            </a:pPr>
            <a:r>
              <a:rPr lang="en-US" altLang="zh-CN" sz="2100" b="1" dirty="0">
                <a:solidFill>
                  <a:srgbClr val="005BAA"/>
                </a:solidFill>
                <a:latin typeface="微软雅黑" panose="020B0503020204020204" charset="-122"/>
                <a:ea typeface="微软雅黑" panose="020B0503020204020204" charset="-122"/>
                <a:cs typeface="+mj-cs"/>
              </a:rPr>
              <a:t>LTE</a:t>
            </a:r>
            <a:r>
              <a:rPr lang="zh-CN" altLang="zh-CN" sz="2100" b="1" dirty="0">
                <a:solidFill>
                  <a:srgbClr val="005BAA"/>
                </a:solidFill>
                <a:latin typeface="微软雅黑" panose="020B0503020204020204" charset="-122"/>
                <a:ea typeface="微软雅黑" panose="020B0503020204020204" charset="-122"/>
                <a:cs typeface="+mj-cs"/>
              </a:rPr>
              <a:t>室内覆盖指标确定</a:t>
            </a:r>
            <a:endParaRPr lang="zh-CN" altLang="en-US" sz="2100" b="1" dirty="0">
              <a:solidFill>
                <a:srgbClr val="005BAA"/>
              </a:solidFill>
              <a:latin typeface="微软雅黑" panose="020B0503020204020204" charset="-122"/>
              <a:ea typeface="微软雅黑" panose="020B0503020204020204" charset="-122"/>
              <a:cs typeface="+mj-cs"/>
              <a:sym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LTE</a:t>
            </a:r>
            <a:r>
              <a:rPr kumimoji="1" lang="zh-CN" altLang="en-US" sz="1900" b="1" dirty="0">
                <a:latin typeface="微软雅黑" panose="020B0503020204020204" charset="-122"/>
                <a:ea typeface="微软雅黑" panose="020B0503020204020204" charset="-122"/>
                <a:cs typeface="微软雅黑" panose="020B0503020204020204" charset="-122"/>
              </a:rPr>
              <a:t>室内链路预算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文本框 12"/>
          <p:cNvSpPr txBox="1"/>
          <p:nvPr>
            <p:custDataLst>
              <p:tags r:id="rId1"/>
            </p:custDataLst>
          </p:nvPr>
        </p:nvSpPr>
        <p:spPr>
          <a:xfrm>
            <a:off x="959585" y="1915896"/>
            <a:ext cx="3159654" cy="576657"/>
          </a:xfrm>
          <a:prstGeom prst="rect">
            <a:avLst/>
          </a:prstGeom>
          <a:noFill/>
        </p:spPr>
        <p:txBody>
          <a:bodyPr wrap="square" lIns="0" tIns="0" rIns="0" bIns="0" rtlCol="0" anchor="ctr" anchorCtr="0">
            <a:normAutofit/>
          </a:bodyPr>
          <a:lstStyle/>
          <a:p>
            <a:pPr marL="342900" lvl="0" indent="-342900">
              <a:buFont typeface="Wingdings" panose="05000000000000000000" pitchFamily="2" charset="2"/>
              <a:buChar char="u"/>
            </a:pPr>
            <a:r>
              <a:rPr lang="en-US" altLang="zh-CN" sz="2100" b="1" dirty="0">
                <a:solidFill>
                  <a:srgbClr val="005BAA"/>
                </a:solidFill>
                <a:latin typeface="微软雅黑" panose="020B0503020204020204" charset="-122"/>
                <a:ea typeface="微软雅黑" panose="020B0503020204020204" charset="-122"/>
                <a:cs typeface="+mj-cs"/>
              </a:rPr>
              <a:t>LTE</a:t>
            </a:r>
            <a:r>
              <a:rPr lang="zh-CN" altLang="zh-CN" sz="2100" b="1" dirty="0">
                <a:solidFill>
                  <a:srgbClr val="005BAA"/>
                </a:solidFill>
                <a:latin typeface="微软雅黑" panose="020B0503020204020204" charset="-122"/>
                <a:ea typeface="微软雅黑" panose="020B0503020204020204" charset="-122"/>
                <a:cs typeface="+mj-cs"/>
              </a:rPr>
              <a:t>室内覆盖半径确定</a:t>
            </a:r>
            <a:endParaRPr lang="zh-CN" altLang="en-US" sz="2100" b="1" dirty="0">
              <a:solidFill>
                <a:srgbClr val="005BAA"/>
              </a:solidFill>
              <a:latin typeface="微软雅黑" panose="020B0503020204020204" charset="-122"/>
              <a:ea typeface="微软雅黑" panose="020B0503020204020204" charset="-122"/>
              <a:cs typeface="+mj-cs"/>
              <a:sym typeface="Arial" panose="020B0604020202020204" pitchFamily="34" charset="0"/>
            </a:endParaRPr>
          </a:p>
        </p:txBody>
      </p:sp>
      <p:sp>
        <p:nvSpPr>
          <p:cNvPr id="14" name="矩形 13"/>
          <p:cNvSpPr/>
          <p:nvPr/>
        </p:nvSpPr>
        <p:spPr>
          <a:xfrm>
            <a:off x="904875" y="2621280"/>
            <a:ext cx="2900680" cy="3216910"/>
          </a:xfrm>
          <a:prstGeom prst="rect">
            <a:avLst/>
          </a:prstGeom>
        </p:spPr>
        <p:txBody>
          <a:bodyPr wrap="square">
            <a:noAutofit/>
          </a:bodyPr>
          <a:lstStyle/>
          <a:p>
            <a:pPr lvl="0">
              <a:lnSpc>
                <a:spcPct val="150000"/>
              </a:lnSpc>
            </a:pPr>
            <a:r>
              <a:rPr lang="zh-CN" altLang="zh-CN" sz="1800" kern="100" dirty="0">
                <a:latin typeface="+mj-ea"/>
                <a:ea typeface="+mj-ea"/>
                <a:cs typeface="Times New Roman" panose="02020603050405020304" pitchFamily="18" charset="0"/>
              </a:rPr>
              <a:t>新建室内覆盖时，相同的室内覆盖场景，对于高频段系统，由于穿透损耗大，天线覆盖半径会比低频段的天线覆盖半径小，半径设置可以参考</a:t>
            </a:r>
            <a:r>
              <a:rPr lang="en-US" altLang="zh-CN" sz="1800" kern="100" dirty="0">
                <a:latin typeface="+mj-ea"/>
                <a:ea typeface="+mj-ea"/>
                <a:cs typeface="Times New Roman" panose="02020603050405020304" pitchFamily="18" charset="0"/>
              </a:rPr>
              <a:t>3G</a:t>
            </a:r>
            <a:r>
              <a:rPr lang="zh-CN" altLang="zh-CN" sz="1800" kern="100" dirty="0">
                <a:latin typeface="+mj-ea"/>
                <a:ea typeface="+mj-ea"/>
                <a:cs typeface="Times New Roman" panose="02020603050405020304" pitchFamily="18" charset="0"/>
              </a:rPr>
              <a:t>频段的覆盖半径</a:t>
            </a:r>
            <a:r>
              <a:rPr lang="zh-CN" altLang="en-US" sz="1800" kern="100" dirty="0">
                <a:latin typeface="+mj-ea"/>
                <a:ea typeface="+mj-ea"/>
                <a:cs typeface="Times New Roman" panose="02020603050405020304" pitchFamily="18" charset="0"/>
              </a:rPr>
              <a:t>。</a:t>
            </a:r>
          </a:p>
        </p:txBody>
      </p:sp>
      <p:pic>
        <p:nvPicPr>
          <p:cNvPr id="15" name="图片 14"/>
          <p:cNvPicPr/>
          <p:nvPr/>
        </p:nvPicPr>
        <p:blipFill>
          <a:blip r:embed="rId4" cstate="print"/>
          <a:srcRect/>
          <a:stretch>
            <a:fillRect/>
          </a:stretch>
        </p:blipFill>
        <p:spPr bwMode="auto">
          <a:xfrm>
            <a:off x="3920490" y="1104265"/>
            <a:ext cx="7835265" cy="524192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LTE</a:t>
            </a:r>
            <a:r>
              <a:rPr kumimoji="1" lang="zh-CN" altLang="en-US" sz="1900" b="1" dirty="0">
                <a:latin typeface="微软雅黑" panose="020B0503020204020204" charset="-122"/>
                <a:ea typeface="微软雅黑" panose="020B0503020204020204" charset="-122"/>
                <a:cs typeface="微软雅黑" panose="020B0503020204020204" charset="-122"/>
              </a:rPr>
              <a:t>室内链路预算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文本框 10"/>
          <p:cNvSpPr txBox="1"/>
          <p:nvPr>
            <p:custDataLst>
              <p:tags r:id="rId1"/>
            </p:custDataLst>
          </p:nvPr>
        </p:nvSpPr>
        <p:spPr>
          <a:xfrm>
            <a:off x="984996" y="1997109"/>
            <a:ext cx="2486173" cy="576657"/>
          </a:xfrm>
          <a:prstGeom prst="rect">
            <a:avLst/>
          </a:prstGeom>
          <a:noFill/>
        </p:spPr>
        <p:txBody>
          <a:bodyPr wrap="square" lIns="0" tIns="0" rIns="0" bIns="0" rtlCol="0" anchor="ctr" anchorCtr="0">
            <a:normAutofit/>
          </a:bodyPr>
          <a:lstStyle/>
          <a:p>
            <a:pPr marL="342900" lvl="0" indent="-342900">
              <a:buFont typeface="Wingdings" panose="05000000000000000000" pitchFamily="2" charset="2"/>
              <a:buChar char="u"/>
            </a:pPr>
            <a:r>
              <a:rPr lang="zh-CN" altLang="zh-CN" sz="2100" b="1" dirty="0">
                <a:solidFill>
                  <a:srgbClr val="005BAA"/>
                </a:solidFill>
                <a:latin typeface="微软雅黑" panose="020B0503020204020204" charset="-122"/>
                <a:ea typeface="微软雅黑" panose="020B0503020204020204" charset="-122"/>
                <a:cs typeface="+mj-cs"/>
              </a:rPr>
              <a:t>计算天线口功率</a:t>
            </a:r>
            <a:endParaRPr lang="zh-CN" altLang="en-US" sz="2100" b="1" dirty="0">
              <a:solidFill>
                <a:srgbClr val="005BAA"/>
              </a:solidFill>
              <a:latin typeface="微软雅黑" panose="020B0503020204020204" charset="-122"/>
              <a:ea typeface="微软雅黑" panose="020B0503020204020204" charset="-122"/>
              <a:cs typeface="+mj-cs"/>
              <a:sym typeface="Arial" panose="020B0604020202020204" pitchFamily="34" charset="0"/>
            </a:endParaRPr>
          </a:p>
        </p:txBody>
      </p:sp>
      <p:sp>
        <p:nvSpPr>
          <p:cNvPr id="16" name="内容占位符 2"/>
          <p:cNvSpPr txBox="1">
            <a:spLocks noChangeArrowheads="1"/>
          </p:cNvSpPr>
          <p:nvPr/>
        </p:nvSpPr>
        <p:spPr>
          <a:xfrm>
            <a:off x="3701971" y="1914806"/>
            <a:ext cx="7280115" cy="42592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buNone/>
            </a:pPr>
            <a:r>
              <a:rPr lang="zh-CN" altLang="zh-CN" sz="1800" b="1" kern="100" dirty="0">
                <a:latin typeface="+mj-ea"/>
                <a:ea typeface="+mj-ea"/>
                <a:cs typeface="Times New Roman" panose="02020603050405020304" pitchFamily="18" charset="0"/>
              </a:rPr>
              <a:t>计算天线口功率实例：</a:t>
            </a:r>
            <a:endParaRPr lang="en-US" altLang="zh-CN" sz="1800" b="1" kern="100" dirty="0">
              <a:latin typeface="+mj-ea"/>
              <a:ea typeface="+mj-ea"/>
              <a:cs typeface="Times New Roman" panose="02020603050405020304" pitchFamily="18" charset="0"/>
            </a:endParaRPr>
          </a:p>
          <a:p>
            <a:pPr marL="0" indent="0" defTabSz="685800">
              <a:buNone/>
            </a:pPr>
            <a:r>
              <a:rPr lang="zh-CN" altLang="zh-CN" sz="1800" b="1" kern="100" dirty="0">
                <a:latin typeface="+mj-ea"/>
                <a:ea typeface="+mj-ea"/>
                <a:cs typeface="Times New Roman" panose="02020603050405020304" pitchFamily="18" charset="0"/>
              </a:rPr>
              <a:t>设天线覆盖半径</a:t>
            </a:r>
            <a:r>
              <a:rPr lang="en-US" altLang="zh-CN" sz="1800" b="1" kern="100" dirty="0">
                <a:latin typeface="+mj-ea"/>
                <a:ea typeface="+mj-ea"/>
                <a:cs typeface="Times New Roman" panose="02020603050405020304" pitchFamily="18" charset="0"/>
              </a:rPr>
              <a:t>10m</a:t>
            </a:r>
            <a:r>
              <a:rPr lang="zh-CN" altLang="zh-CN" sz="1800" b="1" kern="100" dirty="0">
                <a:latin typeface="+mj-ea"/>
                <a:ea typeface="+mj-ea"/>
                <a:cs typeface="Times New Roman" panose="02020603050405020304" pitchFamily="18" charset="0"/>
              </a:rPr>
              <a:t>，墙面损耗为</a:t>
            </a:r>
            <a:r>
              <a:rPr lang="en-US" altLang="zh-CN" sz="1800" b="1" kern="100" dirty="0">
                <a:latin typeface="+mj-ea"/>
                <a:ea typeface="+mj-ea"/>
                <a:cs typeface="Times New Roman" panose="02020603050405020304" pitchFamily="18" charset="0"/>
              </a:rPr>
              <a:t>15dB</a:t>
            </a:r>
            <a:r>
              <a:rPr lang="zh-CN" altLang="zh-CN" sz="1800" b="1" kern="100" dirty="0">
                <a:latin typeface="+mj-ea"/>
                <a:ea typeface="+mj-ea"/>
                <a:cs typeface="Times New Roman" panose="02020603050405020304" pitchFamily="18" charset="0"/>
              </a:rPr>
              <a:t>，工作频段为</a:t>
            </a:r>
            <a:r>
              <a:rPr lang="en-US" altLang="zh-CN" sz="1800" b="1" kern="100" dirty="0">
                <a:latin typeface="+mj-ea"/>
                <a:ea typeface="+mj-ea"/>
                <a:cs typeface="Times New Roman" panose="02020603050405020304" pitchFamily="18" charset="0"/>
              </a:rPr>
              <a:t>2300MHz</a:t>
            </a:r>
            <a:r>
              <a:rPr lang="zh-CN" altLang="zh-CN" sz="1800" b="1" kern="100" dirty="0">
                <a:latin typeface="+mj-ea"/>
                <a:ea typeface="+mj-ea"/>
                <a:cs typeface="Times New Roman" panose="02020603050405020304" pitchFamily="18" charset="0"/>
              </a:rPr>
              <a:t>，带宽</a:t>
            </a:r>
            <a:r>
              <a:rPr lang="en-US" altLang="zh-CN" sz="1800" b="1" kern="100" dirty="0">
                <a:latin typeface="+mj-ea"/>
                <a:ea typeface="+mj-ea"/>
                <a:cs typeface="Times New Roman" panose="02020603050405020304" pitchFamily="18" charset="0"/>
              </a:rPr>
              <a:t>20MHz</a:t>
            </a:r>
            <a:r>
              <a:rPr lang="zh-CN" altLang="zh-CN" sz="1800" b="1" kern="100" dirty="0">
                <a:latin typeface="+mj-ea"/>
                <a:ea typeface="+mj-ea"/>
                <a:cs typeface="Times New Roman" panose="02020603050405020304" pitchFamily="18" charset="0"/>
              </a:rPr>
              <a:t>，慢衰落余量取</a:t>
            </a:r>
            <a:r>
              <a:rPr lang="en-US" altLang="zh-CN" sz="1800" b="1" kern="100" dirty="0">
                <a:latin typeface="+mj-ea"/>
                <a:ea typeface="+mj-ea"/>
                <a:cs typeface="Times New Roman" panose="02020603050405020304" pitchFamily="18" charset="0"/>
              </a:rPr>
              <a:t>0dB</a:t>
            </a:r>
            <a:r>
              <a:rPr lang="zh-CN" altLang="zh-CN" sz="1800" b="1" kern="100" dirty="0">
                <a:latin typeface="+mj-ea"/>
                <a:ea typeface="+mj-ea"/>
                <a:cs typeface="Times New Roman" panose="02020603050405020304" pitchFamily="18" charset="0"/>
              </a:rPr>
              <a:t>（前面边缘覆盖场强已经考虑）</a:t>
            </a:r>
            <a:r>
              <a:rPr lang="en-US" altLang="zh-CN" sz="1800" b="1" kern="100" dirty="0">
                <a:latin typeface="+mj-ea"/>
                <a:ea typeface="+mj-ea"/>
                <a:cs typeface="Times New Roman" panose="02020603050405020304" pitchFamily="18" charset="0"/>
              </a:rPr>
              <a:t>,</a:t>
            </a:r>
            <a:r>
              <a:rPr lang="zh-CN" altLang="zh-CN" sz="1800" b="1" kern="100" dirty="0">
                <a:latin typeface="+mj-ea"/>
                <a:ea typeface="+mj-ea"/>
                <a:cs typeface="Times New Roman" panose="02020603050405020304" pitchFamily="18" charset="0"/>
              </a:rPr>
              <a:t>边缘</a:t>
            </a:r>
            <a:r>
              <a:rPr lang="en-US" altLang="zh-CN" sz="1800" b="1" kern="100" dirty="0">
                <a:latin typeface="+mj-ea"/>
                <a:ea typeface="+mj-ea"/>
                <a:cs typeface="Times New Roman" panose="02020603050405020304" pitchFamily="18" charset="0"/>
              </a:rPr>
              <a:t>RSRP</a:t>
            </a:r>
            <a:r>
              <a:rPr lang="zh-CN" altLang="zh-CN" sz="1800" b="1" kern="100" dirty="0">
                <a:latin typeface="+mj-ea"/>
                <a:ea typeface="+mj-ea"/>
                <a:cs typeface="Times New Roman" panose="02020603050405020304" pitchFamily="18" charset="0"/>
              </a:rPr>
              <a:t>要求</a:t>
            </a:r>
            <a:r>
              <a:rPr lang="en-US" altLang="zh-CN" sz="1800" b="1" kern="100" dirty="0">
                <a:latin typeface="+mj-ea"/>
                <a:ea typeface="+mj-ea"/>
                <a:cs typeface="Times New Roman" panose="02020603050405020304" pitchFamily="18" charset="0"/>
              </a:rPr>
              <a:t>≥ -105dBm</a:t>
            </a:r>
            <a:r>
              <a:rPr lang="zh-CN" altLang="zh-CN" sz="1800" b="1" kern="100" dirty="0">
                <a:latin typeface="+mj-ea"/>
                <a:ea typeface="+mj-ea"/>
                <a:cs typeface="Times New Roman" panose="02020603050405020304" pitchFamily="18" charset="0"/>
              </a:rPr>
              <a:t>。</a:t>
            </a:r>
            <a:endParaRPr lang="en-US" altLang="zh-CN" sz="1800" b="1" kern="100" dirty="0">
              <a:latin typeface="+mj-ea"/>
              <a:ea typeface="+mj-ea"/>
              <a:cs typeface="Times New Roman" panose="02020603050405020304" pitchFamily="18" charset="0"/>
            </a:endParaRPr>
          </a:p>
          <a:p>
            <a:pPr marL="0" indent="0" defTabSz="685800">
              <a:buNone/>
            </a:pPr>
            <a:endParaRPr lang="en-US" altLang="zh-CN" sz="1800" kern="100" dirty="0">
              <a:latin typeface="+mj-ea"/>
              <a:ea typeface="+mj-ea"/>
              <a:cs typeface="Times New Roman" panose="02020603050405020304" pitchFamily="18" charset="0"/>
            </a:endParaRPr>
          </a:p>
          <a:p>
            <a:pPr marL="0" indent="0" defTabSz="685800">
              <a:buNone/>
            </a:pPr>
            <a:r>
              <a:rPr lang="en-US" altLang="zh-CN" sz="1800" b="1" kern="100" dirty="0">
                <a:latin typeface="+mj-ea"/>
                <a:ea typeface="+mj-ea"/>
                <a:cs typeface="Times New Roman" panose="02020603050405020304" pitchFamily="18" charset="0"/>
              </a:rPr>
              <a:t>ITU-R P.1238</a:t>
            </a:r>
            <a:r>
              <a:rPr lang="zh-CN" altLang="zh-CN" sz="1800" b="1" kern="100" dirty="0">
                <a:latin typeface="+mj-ea"/>
                <a:ea typeface="+mj-ea"/>
                <a:cs typeface="Times New Roman" panose="02020603050405020304" pitchFamily="18" charset="0"/>
              </a:rPr>
              <a:t>模型中</a:t>
            </a:r>
            <a:r>
              <a:rPr lang="en-US" altLang="zh-CN" sz="1800" b="1" kern="100" dirty="0">
                <a:latin typeface="+mj-ea"/>
                <a:ea typeface="+mj-ea"/>
                <a:cs typeface="Times New Roman" panose="02020603050405020304" pitchFamily="18" charset="0"/>
              </a:rPr>
              <a:t>N</a:t>
            </a:r>
            <a:r>
              <a:rPr lang="zh-CN" altLang="zh-CN" sz="1800" b="1" kern="100" dirty="0">
                <a:latin typeface="+mj-ea"/>
                <a:ea typeface="+mj-ea"/>
                <a:cs typeface="Times New Roman" panose="02020603050405020304" pitchFamily="18" charset="0"/>
              </a:rPr>
              <a:t>取</a:t>
            </a:r>
            <a:r>
              <a:rPr lang="en-US" altLang="zh-CN" sz="1800" b="1" kern="100" dirty="0">
                <a:latin typeface="+mj-ea"/>
                <a:ea typeface="+mj-ea"/>
                <a:cs typeface="Times New Roman" panose="02020603050405020304" pitchFamily="18" charset="0"/>
              </a:rPr>
              <a:t>28</a:t>
            </a:r>
            <a:r>
              <a:rPr lang="zh-CN" altLang="zh-CN" sz="1800" b="1" kern="100" dirty="0">
                <a:latin typeface="+mj-ea"/>
                <a:ea typeface="+mj-ea"/>
                <a:cs typeface="Times New Roman" panose="02020603050405020304" pitchFamily="18" charset="0"/>
              </a:rPr>
              <a:t>，模型公式如下</a:t>
            </a:r>
            <a:r>
              <a:rPr lang="zh-CN" altLang="zh-CN" sz="1800" kern="100" dirty="0">
                <a:latin typeface="+mj-ea"/>
                <a:ea typeface="+mj-ea"/>
                <a:cs typeface="Times New Roman" panose="02020603050405020304" pitchFamily="18" charset="0"/>
              </a:rPr>
              <a:t>：</a:t>
            </a:r>
            <a:endParaRPr lang="en-US" altLang="zh-CN" sz="1800" kern="100" dirty="0">
              <a:latin typeface="+mj-ea"/>
              <a:ea typeface="+mj-ea"/>
              <a:cs typeface="Times New Roman" panose="02020603050405020304" pitchFamily="18" charset="0"/>
            </a:endParaRPr>
          </a:p>
          <a:p>
            <a:pPr marL="0" indent="0" defTabSz="685800">
              <a:buNone/>
            </a:pPr>
            <a:r>
              <a:rPr lang="en-US" altLang="zh-CN" sz="1800" kern="100" dirty="0">
                <a:latin typeface="+mj-ea"/>
                <a:ea typeface="+mj-ea"/>
                <a:cs typeface="Times New Roman" panose="02020603050405020304" pitchFamily="18" charset="0"/>
              </a:rPr>
              <a:t> </a:t>
            </a:r>
          </a:p>
          <a:p>
            <a:pPr marL="0" indent="0" defTabSz="685800">
              <a:buNone/>
            </a:pPr>
            <a:r>
              <a:rPr lang="zh-CN" altLang="zh-CN" sz="1800" b="1" kern="100" dirty="0">
                <a:latin typeface="+mj-ea"/>
                <a:ea typeface="+mj-ea"/>
                <a:cs typeface="Times New Roman" panose="02020603050405020304" pitchFamily="18" charset="0"/>
              </a:rPr>
              <a:t>则空间传播损耗</a:t>
            </a:r>
            <a:r>
              <a:rPr lang="en-US" altLang="zh-CN" sz="1800" b="1" kern="100" dirty="0">
                <a:latin typeface="+mj-ea"/>
                <a:ea typeface="+mj-ea"/>
                <a:cs typeface="Times New Roman" panose="02020603050405020304" pitchFamily="18" charset="0"/>
              </a:rPr>
              <a:t>PL=20log(2300)+28LOG(10)+15*1-28+0=82dB</a:t>
            </a:r>
            <a:r>
              <a:rPr lang="zh-CN" altLang="zh-CN" sz="1800" b="1" kern="100" dirty="0">
                <a:latin typeface="+mj-ea"/>
                <a:ea typeface="+mj-ea"/>
                <a:cs typeface="Times New Roman" panose="02020603050405020304" pitchFamily="18" charset="0"/>
              </a:rPr>
              <a:t>。</a:t>
            </a:r>
          </a:p>
          <a:p>
            <a:pPr marL="0" indent="0" defTabSz="685800">
              <a:buNone/>
            </a:pPr>
            <a:r>
              <a:rPr lang="zh-CN" altLang="zh-CN" sz="1800" b="1" kern="100" dirty="0">
                <a:latin typeface="+mj-ea"/>
                <a:ea typeface="+mj-ea"/>
                <a:cs typeface="Times New Roman" panose="02020603050405020304" pitchFamily="18" charset="0"/>
              </a:rPr>
              <a:t>由于天线口单导频功率－</a:t>
            </a:r>
            <a:r>
              <a:rPr lang="en-US" altLang="zh-CN" sz="1800" b="1" kern="100" dirty="0">
                <a:latin typeface="+mj-ea"/>
                <a:ea typeface="+mj-ea"/>
                <a:cs typeface="Times New Roman" panose="02020603050405020304" pitchFamily="18" charset="0"/>
              </a:rPr>
              <a:t>PL</a:t>
            </a:r>
            <a:r>
              <a:rPr lang="zh-CN" altLang="zh-CN" sz="1800" b="1" kern="100" dirty="0">
                <a:latin typeface="+mj-ea"/>
                <a:ea typeface="+mj-ea"/>
                <a:cs typeface="Times New Roman" panose="02020603050405020304" pitchFamily="18" charset="0"/>
              </a:rPr>
              <a:t>≥</a:t>
            </a:r>
            <a:r>
              <a:rPr lang="en-US" altLang="zh-CN" sz="1800" b="1" kern="100" dirty="0">
                <a:latin typeface="+mj-ea"/>
                <a:ea typeface="+mj-ea"/>
                <a:cs typeface="Times New Roman" panose="02020603050405020304" pitchFamily="18" charset="0"/>
              </a:rPr>
              <a:t> -105dBm</a:t>
            </a:r>
            <a:r>
              <a:rPr lang="zh-CN" altLang="zh-CN" sz="1800" b="1" kern="100" dirty="0">
                <a:latin typeface="+mj-ea"/>
                <a:ea typeface="+mj-ea"/>
                <a:cs typeface="Times New Roman" panose="02020603050405020304" pitchFamily="18" charset="0"/>
              </a:rPr>
              <a:t>，则：天线口单导频功率≥</a:t>
            </a:r>
            <a:r>
              <a:rPr lang="en-US" altLang="zh-CN" sz="1800" b="1" kern="100" dirty="0">
                <a:latin typeface="+mj-ea"/>
                <a:ea typeface="+mj-ea"/>
                <a:cs typeface="Times New Roman" panose="02020603050405020304" pitchFamily="18" charset="0"/>
              </a:rPr>
              <a:t>-105+82=-23dBm</a:t>
            </a:r>
            <a:r>
              <a:rPr lang="zh-CN" altLang="zh-CN" sz="1800" b="1" kern="100" dirty="0">
                <a:latin typeface="+mj-ea"/>
                <a:ea typeface="+mj-ea"/>
                <a:cs typeface="Times New Roman" panose="02020603050405020304" pitchFamily="18" charset="0"/>
              </a:rPr>
              <a:t>，即天线口总发射功率</a:t>
            </a:r>
            <a:r>
              <a:rPr lang="en-US" altLang="zh-CN" sz="1800" b="1" kern="100" dirty="0">
                <a:latin typeface="+mj-ea"/>
                <a:ea typeface="+mj-ea"/>
                <a:cs typeface="Times New Roman" panose="02020603050405020304" pitchFamily="18" charset="0"/>
              </a:rPr>
              <a:t>=</a:t>
            </a:r>
            <a:r>
              <a:rPr lang="zh-CN" altLang="zh-CN" sz="1800" b="1" kern="100" dirty="0">
                <a:latin typeface="+mj-ea"/>
                <a:ea typeface="+mj-ea"/>
                <a:cs typeface="Times New Roman" panose="02020603050405020304" pitchFamily="18" charset="0"/>
              </a:rPr>
              <a:t>天线口单导频功率</a:t>
            </a:r>
            <a:r>
              <a:rPr lang="en-US" altLang="zh-CN" sz="1800" b="1" kern="100" dirty="0">
                <a:latin typeface="+mj-ea"/>
                <a:ea typeface="+mj-ea"/>
                <a:cs typeface="Times New Roman" panose="02020603050405020304" pitchFamily="18" charset="0"/>
              </a:rPr>
              <a:t>+10lg(1200)=-23+31=8dBm</a:t>
            </a:r>
            <a:r>
              <a:rPr lang="zh-CN" altLang="zh-CN" sz="1800" b="1" kern="100" dirty="0">
                <a:latin typeface="+mj-ea"/>
                <a:ea typeface="+mj-ea"/>
                <a:cs typeface="Times New Roman" panose="02020603050405020304" pitchFamily="18" charset="0"/>
              </a:rPr>
              <a:t>。所以，天线口功率≥</a:t>
            </a:r>
            <a:r>
              <a:rPr lang="en-US" altLang="zh-CN" sz="1800" b="1" kern="100" dirty="0">
                <a:latin typeface="+mj-ea"/>
                <a:ea typeface="+mj-ea"/>
                <a:cs typeface="Times New Roman" panose="02020603050405020304" pitchFamily="18" charset="0"/>
              </a:rPr>
              <a:t> 8dBm</a:t>
            </a:r>
            <a:r>
              <a:rPr lang="zh-CN" altLang="zh-CN" sz="1800" b="1" kern="100" dirty="0">
                <a:latin typeface="+mj-ea"/>
                <a:ea typeface="+mj-ea"/>
                <a:cs typeface="Times New Roman" panose="02020603050405020304" pitchFamily="18" charset="0"/>
              </a:rPr>
              <a:t>。</a:t>
            </a:r>
          </a:p>
          <a:p>
            <a:pPr marL="0" defTabSz="685800"/>
            <a:endParaRPr lang="zh-CN" altLang="zh-CN" sz="1800" b="1" kern="100" dirty="0">
              <a:latin typeface="+mj-ea"/>
              <a:ea typeface="+mj-ea"/>
              <a:cs typeface="Times New Roman" panose="02020603050405020304" pitchFamily="18" charset="0"/>
            </a:endParaRPr>
          </a:p>
          <a:p>
            <a:pPr marL="0" indent="0" defTabSz="685800">
              <a:buNone/>
            </a:pPr>
            <a:r>
              <a:rPr lang="zh-CN" altLang="zh-CN" sz="1800" b="1" kern="100" dirty="0">
                <a:latin typeface="+mj-ea"/>
                <a:ea typeface="+mj-ea"/>
                <a:cs typeface="Times New Roman" panose="02020603050405020304" pitchFamily="18" charset="0"/>
              </a:rPr>
              <a:t>假设穿透</a:t>
            </a:r>
            <a:r>
              <a:rPr lang="en-US" altLang="zh-CN" sz="1800" b="1" kern="100" dirty="0">
                <a:latin typeface="+mj-ea"/>
                <a:ea typeface="+mj-ea"/>
                <a:cs typeface="Times New Roman" panose="02020603050405020304" pitchFamily="18" charset="0"/>
              </a:rPr>
              <a:t>2</a:t>
            </a:r>
            <a:r>
              <a:rPr lang="zh-CN" altLang="zh-CN" sz="1800" b="1" kern="100" dirty="0">
                <a:latin typeface="+mj-ea"/>
                <a:ea typeface="+mj-ea"/>
                <a:cs typeface="Times New Roman" panose="02020603050405020304" pitchFamily="18" charset="0"/>
              </a:rPr>
              <a:t>层墙，墙面损耗仍为</a:t>
            </a:r>
            <a:r>
              <a:rPr lang="en-US" altLang="zh-CN" sz="1800" b="1" kern="100" dirty="0">
                <a:latin typeface="+mj-ea"/>
                <a:ea typeface="+mj-ea"/>
                <a:cs typeface="Times New Roman" panose="02020603050405020304" pitchFamily="18" charset="0"/>
              </a:rPr>
              <a:t>15dB</a:t>
            </a:r>
            <a:r>
              <a:rPr lang="zh-CN" altLang="zh-CN" sz="1800" b="1" kern="100" dirty="0">
                <a:latin typeface="+mj-ea"/>
                <a:ea typeface="+mj-ea"/>
                <a:cs typeface="Times New Roman" panose="02020603050405020304" pitchFamily="18" charset="0"/>
              </a:rPr>
              <a:t>，其它条件不变，则天线口功率 ≥</a:t>
            </a:r>
            <a:r>
              <a:rPr lang="en-US" altLang="zh-CN" sz="1800" b="1" kern="100" dirty="0">
                <a:latin typeface="+mj-ea"/>
                <a:ea typeface="+mj-ea"/>
                <a:cs typeface="Times New Roman" panose="02020603050405020304" pitchFamily="18" charset="0"/>
              </a:rPr>
              <a:t> 23dBm</a:t>
            </a:r>
            <a:r>
              <a:rPr lang="zh-CN" altLang="zh-CN" sz="1800" b="1" kern="100" dirty="0">
                <a:latin typeface="+mj-ea"/>
                <a:ea typeface="+mj-ea"/>
                <a:cs typeface="Times New Roman" panose="02020603050405020304" pitchFamily="18" charset="0"/>
              </a:rPr>
              <a:t>，已经超过电磁辐射安全标准</a:t>
            </a:r>
            <a:r>
              <a:rPr lang="en-US" altLang="zh-CN" sz="1800" b="1" kern="100" dirty="0">
                <a:latin typeface="+mj-ea"/>
                <a:ea typeface="+mj-ea"/>
                <a:cs typeface="Times New Roman" panose="02020603050405020304" pitchFamily="18" charset="0"/>
              </a:rPr>
              <a:t>15dBm</a:t>
            </a:r>
            <a:r>
              <a:rPr lang="zh-CN" altLang="zh-CN" sz="1800" b="1" kern="100" dirty="0">
                <a:latin typeface="+mj-ea"/>
                <a:ea typeface="+mj-ea"/>
                <a:cs typeface="Times New Roman" panose="02020603050405020304" pitchFamily="18" charset="0"/>
              </a:rPr>
              <a:t>。</a:t>
            </a:r>
          </a:p>
          <a:p>
            <a:endParaRPr lang="zh-CN" altLang="zh-CN" sz="1800" dirty="0"/>
          </a:p>
        </p:txBody>
      </p:sp>
      <p:sp>
        <p:nvSpPr>
          <p:cNvPr id="7" name="Rectangle 5">
            <a:extLst>
              <a:ext uri="{FF2B5EF4-FFF2-40B4-BE49-F238E27FC236}">
                <a16:creationId xmlns:a16="http://schemas.microsoft.com/office/drawing/2014/main" id="{AE7E0E42-32F4-E7D1-1148-979715D206E5}"/>
              </a:ext>
            </a:extLst>
          </p:cNvPr>
          <p:cNvSpPr>
            <a:spLocks noChangeArrowheads="1"/>
          </p:cNvSpPr>
          <p:nvPr/>
        </p:nvSpPr>
        <p:spPr bwMode="auto">
          <a:xfrm>
            <a:off x="5267386" y="2573766"/>
            <a:ext cx="12561716" cy="740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465F179D-6B7C-ADCD-B603-6A8E6566DB34}"/>
              </a:ext>
            </a:extLst>
          </p:cNvPr>
          <p:cNvGraphicFramePr>
            <a:graphicFrameLocks noChangeAspect="1"/>
          </p:cNvGraphicFramePr>
          <p:nvPr>
            <p:extLst>
              <p:ext uri="{D42A27DB-BD31-4B8C-83A1-F6EECF244321}">
                <p14:modId xmlns:p14="http://schemas.microsoft.com/office/powerpoint/2010/main" val="3033092482"/>
              </p:ext>
            </p:extLst>
          </p:nvPr>
        </p:nvGraphicFramePr>
        <p:xfrm>
          <a:off x="4007143" y="3867985"/>
          <a:ext cx="3908205" cy="411390"/>
        </p:xfrm>
        <a:graphic>
          <a:graphicData uri="http://schemas.openxmlformats.org/presentationml/2006/ole">
            <mc:AlternateContent xmlns:mc="http://schemas.openxmlformats.org/markup-compatibility/2006">
              <mc:Choice xmlns:v="urn:schemas-microsoft-com:vml" Requires="v">
                <p:oleObj r:id="rId4" imgW="2413000" imgH="254000" progId="Equation.DSMT4">
                  <p:embed/>
                </p:oleObj>
              </mc:Choice>
              <mc:Fallback>
                <p:oleObj r:id="rId4" imgW="2413000" imgH="2540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7143" y="3867985"/>
                        <a:ext cx="3908205" cy="411390"/>
                      </a:xfrm>
                      <a:prstGeom prst="rect">
                        <a:avLst/>
                      </a:prstGeom>
                      <a:noFill/>
                    </p:spPr>
                  </p:pic>
                </p:oleObj>
              </mc:Fallback>
            </mc:AlternateContent>
          </a:graphicData>
        </a:graphic>
      </p:graphicFrame>
      <p:sp>
        <p:nvSpPr>
          <p:cNvPr id="9" name="Rectangle 6">
            <a:extLst>
              <a:ext uri="{FF2B5EF4-FFF2-40B4-BE49-F238E27FC236}">
                <a16:creationId xmlns:a16="http://schemas.microsoft.com/office/drawing/2014/main" id="{31E13826-D9FE-BA43-A25C-AD9CDC86C94E}"/>
              </a:ext>
            </a:extLst>
          </p:cNvPr>
          <p:cNvSpPr>
            <a:spLocks noChangeArrowheads="1"/>
          </p:cNvSpPr>
          <p:nvPr/>
        </p:nvSpPr>
        <p:spPr bwMode="auto">
          <a:xfrm flipV="1">
            <a:off x="5267386" y="3568267"/>
            <a:ext cx="1256171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marL="543560" indent="-543560">
              <a:lnSpc>
                <a:spcPct val="150000"/>
              </a:lnSpc>
              <a:buAutoNum type="arabicPeriod"/>
            </a:pPr>
            <a:r>
              <a:rPr kumimoji="1" lang="en-US" altLang="zh-CN" sz="2375" b="1" dirty="0">
                <a:latin typeface="微软雅黑" panose="020B0503020204020204" charset="-122"/>
                <a:ea typeface="微软雅黑" panose="020B0503020204020204" charset="-122"/>
                <a:cs typeface="微软雅黑" panose="020B0503020204020204" charset="-122"/>
              </a:rPr>
              <a:t>LTE</a:t>
            </a:r>
            <a:r>
              <a:rPr kumimoji="1" lang="zh-CN" altLang="en-US" sz="2375" b="1" dirty="0">
                <a:latin typeface="微软雅黑" panose="020B0503020204020204" charset="-122"/>
                <a:ea typeface="微软雅黑" panose="020B0503020204020204" charset="-122"/>
                <a:cs typeface="微软雅黑" panose="020B0503020204020204" charset="-122"/>
              </a:rPr>
              <a:t>覆盖规划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LTE</a:t>
            </a:r>
            <a:r>
              <a:rPr kumimoji="1" lang="zh-CN" altLang="en-US" sz="1900" b="1" dirty="0">
                <a:latin typeface="微软雅黑" panose="020B0503020204020204" charset="-122"/>
                <a:ea typeface="微软雅黑" panose="020B0503020204020204" charset="-122"/>
                <a:cs typeface="微软雅黑" panose="020B0503020204020204" charset="-122"/>
              </a:rPr>
              <a:t>室内链路预算</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custDataLst>
              <p:tags r:id="rId1"/>
            </p:custDataLst>
          </p:nvPr>
        </p:nvSpPr>
        <p:spPr>
          <a:xfrm>
            <a:off x="878481" y="1920389"/>
            <a:ext cx="2716975" cy="576657"/>
          </a:xfrm>
          <a:prstGeom prst="rect">
            <a:avLst/>
          </a:prstGeom>
          <a:noFill/>
        </p:spPr>
        <p:txBody>
          <a:bodyPr wrap="square" lIns="0" tIns="0" rIns="0" bIns="0" rtlCol="0" anchor="ctr" anchorCtr="0">
            <a:normAutofit/>
          </a:bodyPr>
          <a:lstStyle/>
          <a:p>
            <a:pPr marL="342900" lvl="0" indent="-342900">
              <a:buFont typeface="Wingdings" panose="05000000000000000000" pitchFamily="2" charset="2"/>
              <a:buChar char="u"/>
            </a:pPr>
            <a:r>
              <a:rPr lang="zh-CN" altLang="zh-CN" sz="2100" b="1" dirty="0">
                <a:solidFill>
                  <a:srgbClr val="005BAA"/>
                </a:solidFill>
                <a:latin typeface="微软雅黑" panose="020B0503020204020204" charset="-122"/>
                <a:ea typeface="微软雅黑" panose="020B0503020204020204" charset="-122"/>
                <a:cs typeface="+mj-cs"/>
              </a:rPr>
              <a:t>有线分布系统损耗</a:t>
            </a:r>
          </a:p>
        </p:txBody>
      </p:sp>
      <p:sp>
        <p:nvSpPr>
          <p:cNvPr id="13" name="矩形 12"/>
          <p:cNvSpPr/>
          <p:nvPr/>
        </p:nvSpPr>
        <p:spPr>
          <a:xfrm>
            <a:off x="3926390" y="1505924"/>
            <a:ext cx="7654105" cy="922020"/>
          </a:xfrm>
          <a:prstGeom prst="rect">
            <a:avLst/>
          </a:prstGeom>
        </p:spPr>
        <p:txBody>
          <a:bodyPr wrap="square">
            <a:spAutoFit/>
          </a:bodyPr>
          <a:lstStyle/>
          <a:p>
            <a:r>
              <a:rPr lang="zh-CN" altLang="zh-CN" sz="1800" dirty="0"/>
              <a:t>根据有线分布系统损耗及天线口功率，就可以计算出基站发射功率。</a:t>
            </a:r>
          </a:p>
          <a:p>
            <a:r>
              <a:rPr lang="zh-CN" altLang="zh-CN" sz="1800" dirty="0"/>
              <a:t>室内覆盖系统有线部分的分布损耗是指从信号源到天线输入端的损耗，包括馈缆传输损耗、功分器耦合器的分配损耗、介质损耗（插入损耗）等。</a:t>
            </a:r>
          </a:p>
        </p:txBody>
      </p:sp>
      <p:graphicFrame>
        <p:nvGraphicFramePr>
          <p:cNvPr id="14" name="表格 13"/>
          <p:cNvGraphicFramePr>
            <a:graphicFrameLocks noGrp="1"/>
          </p:cNvGraphicFramePr>
          <p:nvPr/>
        </p:nvGraphicFramePr>
        <p:xfrm>
          <a:off x="1843980" y="3640731"/>
          <a:ext cx="8889123" cy="2301013"/>
        </p:xfrm>
        <a:graphic>
          <a:graphicData uri="http://schemas.openxmlformats.org/drawingml/2006/table">
            <a:tbl>
              <a:tblPr firstRow="1" firstCol="1" bandRow="1"/>
              <a:tblGrid>
                <a:gridCol w="1245449">
                  <a:extLst>
                    <a:ext uri="{9D8B030D-6E8A-4147-A177-3AD203B41FA5}">
                      <a16:colId xmlns:a16="http://schemas.microsoft.com/office/drawing/2014/main" val="20000"/>
                    </a:ext>
                  </a:extLst>
                </a:gridCol>
                <a:gridCol w="1083076">
                  <a:extLst>
                    <a:ext uri="{9D8B030D-6E8A-4147-A177-3AD203B41FA5}">
                      <a16:colId xmlns:a16="http://schemas.microsoft.com/office/drawing/2014/main" val="20001"/>
                    </a:ext>
                  </a:extLst>
                </a:gridCol>
                <a:gridCol w="1020932">
                  <a:extLst>
                    <a:ext uri="{9D8B030D-6E8A-4147-A177-3AD203B41FA5}">
                      <a16:colId xmlns:a16="http://schemas.microsoft.com/office/drawing/2014/main" val="20002"/>
                    </a:ext>
                  </a:extLst>
                </a:gridCol>
                <a:gridCol w="1189608">
                  <a:extLst>
                    <a:ext uri="{9D8B030D-6E8A-4147-A177-3AD203B41FA5}">
                      <a16:colId xmlns:a16="http://schemas.microsoft.com/office/drawing/2014/main" val="20003"/>
                    </a:ext>
                  </a:extLst>
                </a:gridCol>
                <a:gridCol w="1260629">
                  <a:extLst>
                    <a:ext uri="{9D8B030D-6E8A-4147-A177-3AD203B41FA5}">
                      <a16:colId xmlns:a16="http://schemas.microsoft.com/office/drawing/2014/main" val="20004"/>
                    </a:ext>
                  </a:extLst>
                </a:gridCol>
                <a:gridCol w="967666">
                  <a:extLst>
                    <a:ext uri="{9D8B030D-6E8A-4147-A177-3AD203B41FA5}">
                      <a16:colId xmlns:a16="http://schemas.microsoft.com/office/drawing/2014/main" val="20005"/>
                    </a:ext>
                  </a:extLst>
                </a:gridCol>
                <a:gridCol w="1029810">
                  <a:extLst>
                    <a:ext uri="{9D8B030D-6E8A-4147-A177-3AD203B41FA5}">
                      <a16:colId xmlns:a16="http://schemas.microsoft.com/office/drawing/2014/main" val="20006"/>
                    </a:ext>
                  </a:extLst>
                </a:gridCol>
                <a:gridCol w="1091953">
                  <a:extLst>
                    <a:ext uri="{9D8B030D-6E8A-4147-A177-3AD203B41FA5}">
                      <a16:colId xmlns:a16="http://schemas.microsoft.com/office/drawing/2014/main" val="20007"/>
                    </a:ext>
                  </a:extLst>
                </a:gridCol>
              </a:tblGrid>
              <a:tr h="504331">
                <a:tc>
                  <a:txBody>
                    <a:bodyPr/>
                    <a:lstStyle/>
                    <a:p>
                      <a:pPr indent="127000">
                        <a:spcAft>
                          <a:spcPts val="0"/>
                        </a:spcAft>
                      </a:pPr>
                      <a:r>
                        <a:rPr lang="zh-CN" sz="1600" kern="100" dirty="0">
                          <a:solidFill>
                            <a:srgbClr val="000000"/>
                          </a:solidFill>
                          <a:effectLst/>
                          <a:latin typeface="+mj-ea"/>
                          <a:ea typeface="+mj-ea"/>
                        </a:rPr>
                        <a:t>馈线类型</a:t>
                      </a:r>
                      <a:endParaRPr lang="zh-CN" sz="1600" kern="100" dirty="0">
                        <a:effectLst/>
                        <a:latin typeface="+mj-ea"/>
                        <a:ea typeface="+mj-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700MHz</a:t>
                      </a:r>
                      <a:endParaRPr lang="zh-CN" sz="1600" kern="100" dirty="0">
                        <a:effectLst/>
                        <a:latin typeface="+mj-ea"/>
                        <a:ea typeface="+mj-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900MHz</a:t>
                      </a:r>
                      <a:endParaRPr lang="zh-CN" sz="1600" kern="100" dirty="0">
                        <a:effectLst/>
                        <a:latin typeface="+mj-ea"/>
                        <a:ea typeface="+mj-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1700MHz</a:t>
                      </a:r>
                      <a:endParaRPr lang="zh-CN" sz="1600" kern="100" dirty="0">
                        <a:effectLst/>
                        <a:latin typeface="+mj-ea"/>
                        <a:ea typeface="+mj-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1800MHz</a:t>
                      </a:r>
                      <a:endParaRPr lang="zh-CN" sz="1600" kern="100" dirty="0">
                        <a:effectLst/>
                        <a:latin typeface="+mj-ea"/>
                        <a:ea typeface="+mj-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2.1GHz</a:t>
                      </a:r>
                      <a:endParaRPr lang="zh-CN" sz="1600" kern="100" dirty="0">
                        <a:effectLst/>
                        <a:latin typeface="+mj-ea"/>
                        <a:ea typeface="+mj-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2.3GHz</a:t>
                      </a:r>
                      <a:endParaRPr lang="zh-CN" sz="1600" kern="100" dirty="0">
                        <a:effectLst/>
                        <a:latin typeface="+mj-ea"/>
                        <a:ea typeface="+mj-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2.5GHz</a:t>
                      </a:r>
                      <a:endParaRPr lang="zh-CN" sz="1600" kern="100" dirty="0">
                        <a:effectLst/>
                        <a:latin typeface="+mj-ea"/>
                        <a:ea typeface="+mj-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299447">
                <a:tc>
                  <a:txBody>
                    <a:bodyPr/>
                    <a:lstStyle/>
                    <a:p>
                      <a:pPr indent="127000" algn="ctr">
                        <a:spcAft>
                          <a:spcPts val="0"/>
                        </a:spcAft>
                      </a:pPr>
                      <a:r>
                        <a:rPr lang="en-US" sz="1600" kern="100" dirty="0">
                          <a:solidFill>
                            <a:srgbClr val="000000"/>
                          </a:solidFill>
                          <a:effectLst/>
                          <a:latin typeface="+mj-ea"/>
                          <a:ea typeface="+mj-ea"/>
                        </a:rPr>
                        <a:t>LDF4 1/2"</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6.009</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6.855</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9.744</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10.058</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10.961</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11.535</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12.09</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299447">
                <a:tc>
                  <a:txBody>
                    <a:bodyPr/>
                    <a:lstStyle/>
                    <a:p>
                      <a:pPr indent="127000" algn="ctr">
                        <a:spcAft>
                          <a:spcPts val="0"/>
                        </a:spcAft>
                      </a:pPr>
                      <a:r>
                        <a:rPr lang="en-US" sz="1600" kern="100">
                          <a:solidFill>
                            <a:srgbClr val="000000"/>
                          </a:solidFill>
                          <a:effectLst/>
                          <a:latin typeface="+mj-ea"/>
                          <a:ea typeface="+mj-ea"/>
                        </a:rPr>
                        <a:t>FSJ4 1/2"</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9.683</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11.101</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16.027</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16.57</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18.137</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19.138</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20.11</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299447">
                <a:tc>
                  <a:txBody>
                    <a:bodyPr/>
                    <a:lstStyle/>
                    <a:p>
                      <a:pPr indent="127000" algn="ctr">
                        <a:spcAft>
                          <a:spcPts val="0"/>
                        </a:spcAft>
                      </a:pPr>
                      <a:r>
                        <a:rPr lang="en-US" sz="1600" kern="100">
                          <a:solidFill>
                            <a:srgbClr val="000000"/>
                          </a:solidFill>
                          <a:effectLst/>
                          <a:latin typeface="+mj-ea"/>
                          <a:ea typeface="+mj-ea"/>
                        </a:rPr>
                        <a:t>AVA5 7/8"</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3.093</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3.533</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5.04</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5.205</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5.678</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5.979</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6.27</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299447">
                <a:tc>
                  <a:txBody>
                    <a:bodyPr/>
                    <a:lstStyle/>
                    <a:p>
                      <a:pPr indent="127000" algn="ctr">
                        <a:spcAft>
                          <a:spcPts val="0"/>
                        </a:spcAft>
                      </a:pPr>
                      <a:r>
                        <a:rPr lang="en-US" sz="1600" kern="100">
                          <a:solidFill>
                            <a:srgbClr val="000000"/>
                          </a:solidFill>
                          <a:effectLst/>
                          <a:latin typeface="+mj-ea"/>
                          <a:ea typeface="+mj-ea"/>
                        </a:rPr>
                        <a:t>AL5 7/8"</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3.421</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3.903</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5.551</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5.73</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6.246</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6.573</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6.89</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299447">
                <a:tc>
                  <a:txBody>
                    <a:bodyPr/>
                    <a:lstStyle/>
                    <a:p>
                      <a:pPr indent="127000" algn="ctr">
                        <a:spcAft>
                          <a:spcPts val="0"/>
                        </a:spcAft>
                      </a:pPr>
                      <a:r>
                        <a:rPr lang="en-US" sz="1600" kern="100">
                          <a:solidFill>
                            <a:srgbClr val="000000"/>
                          </a:solidFill>
                          <a:effectLst/>
                          <a:latin typeface="+mj-ea"/>
                          <a:ea typeface="+mj-ea"/>
                        </a:rPr>
                        <a:t>LDP6 5/4"</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2.285</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2.627</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3.825</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3.958</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4.342</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4.588</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4.828</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299447">
                <a:tc>
                  <a:txBody>
                    <a:bodyPr/>
                    <a:lstStyle/>
                    <a:p>
                      <a:pPr indent="127000" algn="ctr">
                        <a:spcAft>
                          <a:spcPts val="0"/>
                        </a:spcAft>
                      </a:pPr>
                      <a:r>
                        <a:rPr lang="en-US" sz="1600" kern="100">
                          <a:solidFill>
                            <a:srgbClr val="000000"/>
                          </a:solidFill>
                          <a:effectLst/>
                          <a:latin typeface="+mj-ea"/>
                          <a:ea typeface="+mj-ea"/>
                        </a:rPr>
                        <a:t>AL7 13/8"</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2.037</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2.333</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3.36</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3.472</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a:solidFill>
                            <a:srgbClr val="000000"/>
                          </a:solidFill>
                          <a:effectLst/>
                          <a:latin typeface="+mj-ea"/>
                          <a:ea typeface="+mj-ea"/>
                        </a:rPr>
                        <a:t>3.798</a:t>
                      </a:r>
                      <a:endParaRPr lang="zh-CN" sz="1600" kern="10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4.006</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indent="127000" algn="ctr">
                        <a:spcAft>
                          <a:spcPts val="0"/>
                        </a:spcAft>
                      </a:pPr>
                      <a:r>
                        <a:rPr lang="en-US" sz="1600" kern="100" dirty="0">
                          <a:solidFill>
                            <a:srgbClr val="000000"/>
                          </a:solidFill>
                          <a:effectLst/>
                          <a:latin typeface="+mj-ea"/>
                          <a:ea typeface="+mj-ea"/>
                        </a:rPr>
                        <a:t>4.208</a:t>
                      </a:r>
                      <a:endParaRPr lang="zh-CN" sz="1600" kern="100" dirty="0">
                        <a:effectLst/>
                        <a:latin typeface="+mj-ea"/>
                        <a:ea typeface="+mj-ea"/>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bl>
          </a:graphicData>
        </a:graphic>
      </p:graphicFrame>
      <p:sp>
        <p:nvSpPr>
          <p:cNvPr id="2" name="矩形 1"/>
          <p:cNvSpPr/>
          <p:nvPr/>
        </p:nvSpPr>
        <p:spPr>
          <a:xfrm>
            <a:off x="1620837" y="2631936"/>
            <a:ext cx="8950325" cy="368300"/>
          </a:xfrm>
          <a:prstGeom prst="rect">
            <a:avLst/>
          </a:prstGeom>
        </p:spPr>
        <p:txBody>
          <a:bodyPr wrap="square">
            <a:spAutoFit/>
          </a:bodyPr>
          <a:lstStyle/>
          <a:p>
            <a:pPr algn="ctr"/>
            <a:r>
              <a:rPr lang="zh-CN" altLang="zh-CN" dirty="0">
                <a:solidFill>
                  <a:srgbClr val="FF0000"/>
                </a:solidFill>
              </a:rPr>
              <a:t>分布损耗：分布损耗＝馈线传输损耗＋功分器</a:t>
            </a:r>
            <a:r>
              <a:rPr lang="en-US" altLang="zh-CN" dirty="0">
                <a:solidFill>
                  <a:srgbClr val="FF0000"/>
                </a:solidFill>
              </a:rPr>
              <a:t>/</a:t>
            </a:r>
            <a:r>
              <a:rPr lang="zh-CN" altLang="zh-CN" dirty="0">
                <a:solidFill>
                  <a:srgbClr val="FF0000"/>
                </a:solidFill>
              </a:rPr>
              <a:t>耦合器分配损耗＋器件插入损耗</a:t>
            </a:r>
            <a:endParaRPr lang="zh-CN" altLang="en-US" kern="100" dirty="0">
              <a:solidFill>
                <a:srgbClr val="FF0000"/>
              </a:solidFill>
              <a:latin typeface="+mj-ea"/>
              <a:cs typeface="Times New Roman" panose="02020603050405020304" pitchFamily="18" charset="0"/>
            </a:endParaRPr>
          </a:p>
        </p:txBody>
      </p:sp>
      <p:sp>
        <p:nvSpPr>
          <p:cNvPr id="5" name="文本框 4">
            <a:extLst>
              <a:ext uri="{FF2B5EF4-FFF2-40B4-BE49-F238E27FC236}">
                <a16:creationId xmlns:a16="http://schemas.microsoft.com/office/drawing/2014/main" id="{494687FE-6383-F42B-14AB-6AD8344CE60B}"/>
              </a:ext>
            </a:extLst>
          </p:cNvPr>
          <p:cNvSpPr txBox="1"/>
          <p:nvPr/>
        </p:nvSpPr>
        <p:spPr>
          <a:xfrm>
            <a:off x="5198778" y="3135126"/>
            <a:ext cx="2469823" cy="369332"/>
          </a:xfrm>
          <a:prstGeom prst="rect">
            <a:avLst/>
          </a:prstGeom>
          <a:noFill/>
        </p:spPr>
        <p:txBody>
          <a:bodyPr wrap="square" rtlCol="0">
            <a:spAutoFit/>
          </a:bodyPr>
          <a:lstStyle/>
          <a:p>
            <a:r>
              <a:rPr lang="en-US" altLang="zh-CN" dirty="0"/>
              <a:t>100m</a:t>
            </a:r>
            <a:r>
              <a:rPr lang="zh-CN" altLang="en-US" dirty="0"/>
              <a:t>的馈线的损耗</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576440"/>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2" name="组合 1"/>
          <p:cNvGrpSpPr/>
          <p:nvPr/>
        </p:nvGrpSpPr>
        <p:grpSpPr>
          <a:xfrm>
            <a:off x="1318895" y="1679046"/>
            <a:ext cx="9362547" cy="4222751"/>
            <a:chOff x="643467" y="1712913"/>
            <a:chExt cx="9362547" cy="4222751"/>
          </a:xfrm>
        </p:grpSpPr>
        <p:sp>
          <p:nvSpPr>
            <p:cNvPr id="20" name="MH_Title_1"/>
            <p:cNvSpPr>
              <a:spLocks noChangeArrowheads="1"/>
            </p:cNvSpPr>
            <p:nvPr>
              <p:custDataLst>
                <p:tags r:id="rId1"/>
              </p:custDataLst>
            </p:nvPr>
          </p:nvSpPr>
          <p:spPr bwMode="auto">
            <a:xfrm>
              <a:off x="5562600" y="3767138"/>
              <a:ext cx="1081088" cy="1079500"/>
            </a:xfrm>
            <a:prstGeom prst="ellipse">
              <a:avLst/>
            </a:prstGeom>
            <a:solidFill>
              <a:srgbClr val="525252"/>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400" dirty="0">
                  <a:solidFill>
                    <a:srgbClr val="FFFFFF"/>
                  </a:solidFill>
                  <a:ea typeface="微软雅黑" panose="020B0503020204020204" charset="-122"/>
                </a:rPr>
                <a:t>影响因素</a:t>
              </a:r>
            </a:p>
          </p:txBody>
        </p:sp>
        <p:sp>
          <p:nvSpPr>
            <p:cNvPr id="21" name="MH_Text_2"/>
            <p:cNvSpPr/>
            <p:nvPr>
              <p:custDataLst>
                <p:tags r:id="rId2"/>
              </p:custDataLst>
            </p:nvPr>
          </p:nvSpPr>
          <p:spPr>
            <a:xfrm>
              <a:off x="7950201" y="3436938"/>
              <a:ext cx="2055813" cy="717550"/>
            </a:xfrm>
            <a:prstGeom prst="rect">
              <a:avLst/>
            </a:prstGeom>
          </p:spPr>
          <p:txBody>
            <a:bodyPr anchor="ctr">
              <a:normAutofit/>
            </a:bodyPr>
            <a:lstStyle/>
            <a:p>
              <a:pPr>
                <a:lnSpc>
                  <a:spcPct val="120000"/>
                </a:lnSpc>
                <a:defRPr/>
              </a:pPr>
              <a:r>
                <a:rPr lang="da-DK" altLang="zh-CN" sz="2400" kern="0" dirty="0">
                  <a:cs typeface="宋体" panose="02010600030101010101" pitchFamily="2" charset="-122"/>
                </a:rPr>
                <a:t>MIMO</a:t>
              </a:r>
            </a:p>
          </p:txBody>
        </p:sp>
        <p:sp>
          <p:nvSpPr>
            <p:cNvPr id="22" name="MH_Text_1"/>
            <p:cNvSpPr/>
            <p:nvPr>
              <p:custDataLst>
                <p:tags r:id="rId3"/>
              </p:custDataLst>
            </p:nvPr>
          </p:nvSpPr>
          <p:spPr>
            <a:xfrm>
              <a:off x="4946650" y="1712913"/>
              <a:ext cx="2190750" cy="717550"/>
            </a:xfrm>
            <a:prstGeom prst="rect">
              <a:avLst/>
            </a:prstGeom>
          </p:spPr>
          <p:txBody>
            <a:bodyPr anchor="ctr">
              <a:normAutofit/>
            </a:bodyPr>
            <a:lstStyle/>
            <a:p>
              <a:pPr algn="ctr">
                <a:lnSpc>
                  <a:spcPct val="120000"/>
                </a:lnSpc>
                <a:defRPr/>
              </a:pPr>
              <a:r>
                <a:rPr lang="zh-CN" altLang="en-US" sz="2400" kern="0" dirty="0">
                  <a:cs typeface="宋体" panose="02010600030101010101" pitchFamily="2" charset="-122"/>
                </a:rPr>
                <a:t>环境</a:t>
              </a:r>
            </a:p>
          </p:txBody>
        </p:sp>
        <p:sp>
          <p:nvSpPr>
            <p:cNvPr id="23" name="MH_Text_5"/>
            <p:cNvSpPr/>
            <p:nvPr>
              <p:custDataLst>
                <p:tags r:id="rId4"/>
              </p:custDataLst>
            </p:nvPr>
          </p:nvSpPr>
          <p:spPr>
            <a:xfrm>
              <a:off x="643467" y="3560763"/>
              <a:ext cx="3584047" cy="1071782"/>
            </a:xfrm>
            <a:prstGeom prst="rect">
              <a:avLst/>
            </a:prstGeom>
          </p:spPr>
          <p:txBody>
            <a:bodyPr anchor="ctr">
              <a:normAutofit fontScale="85000" lnSpcReduction="10000"/>
            </a:bodyPr>
            <a:lstStyle/>
            <a:p>
              <a:pPr algn="r">
                <a:lnSpc>
                  <a:spcPct val="120000"/>
                </a:lnSpc>
                <a:defRPr/>
              </a:pPr>
              <a:r>
                <a:rPr lang="zh-CN" altLang="en-US" sz="2800" kern="0" dirty="0">
                  <a:cs typeface="宋体" panose="02010600030101010101" pitchFamily="2" charset="-122"/>
                </a:rPr>
                <a:t>设备性能</a:t>
              </a:r>
            </a:p>
            <a:p>
              <a:pPr algn="r">
                <a:lnSpc>
                  <a:spcPct val="120000"/>
                </a:lnSpc>
                <a:defRPr/>
              </a:pPr>
              <a:r>
                <a:rPr lang="en-US" altLang="zh-CN" sz="2200" kern="0" dirty="0">
                  <a:cs typeface="宋体" panose="02010600030101010101" pitchFamily="2" charset="-122"/>
                </a:rPr>
                <a:t>(</a:t>
              </a:r>
              <a:r>
                <a:rPr lang="zh-CN" altLang="en-US" sz="2200" kern="0" dirty="0">
                  <a:cs typeface="宋体" panose="02010600030101010101" pitchFamily="2" charset="-122"/>
                </a:rPr>
                <a:t>系统带宽、发射功率、</a:t>
              </a:r>
              <a:r>
                <a:rPr lang="en-US" altLang="zh-CN" sz="2200" kern="0" dirty="0">
                  <a:cs typeface="宋体" panose="02010600030101010101" pitchFamily="2" charset="-122"/>
                </a:rPr>
                <a:t>UE</a:t>
              </a:r>
              <a:r>
                <a:rPr lang="zh-CN" altLang="en-US" sz="2200" kern="0" dirty="0">
                  <a:cs typeface="宋体" panose="02010600030101010101" pitchFamily="2" charset="-122"/>
                </a:rPr>
                <a:t>性能</a:t>
              </a:r>
              <a:r>
                <a:rPr lang="en-US" altLang="zh-CN" sz="2200" kern="0" dirty="0">
                  <a:cs typeface="宋体" panose="02010600030101010101" pitchFamily="2" charset="-122"/>
                </a:rPr>
                <a:t>)</a:t>
              </a:r>
            </a:p>
          </p:txBody>
        </p:sp>
        <p:sp>
          <p:nvSpPr>
            <p:cNvPr id="24" name="MH_Text_3"/>
            <p:cNvSpPr/>
            <p:nvPr>
              <p:custDataLst>
                <p:tags r:id="rId5"/>
              </p:custDataLst>
            </p:nvPr>
          </p:nvSpPr>
          <p:spPr>
            <a:xfrm>
              <a:off x="7480301" y="5130800"/>
              <a:ext cx="2055813" cy="717550"/>
            </a:xfrm>
            <a:prstGeom prst="rect">
              <a:avLst/>
            </a:prstGeom>
          </p:spPr>
          <p:txBody>
            <a:bodyPr anchor="ctr">
              <a:normAutofit/>
            </a:bodyPr>
            <a:lstStyle/>
            <a:p>
              <a:pPr>
                <a:lnSpc>
                  <a:spcPct val="120000"/>
                </a:lnSpc>
                <a:defRPr/>
              </a:pPr>
              <a:r>
                <a:rPr lang="zh-CN" altLang="en-US" sz="2400" kern="0" dirty="0">
                  <a:cs typeface="宋体" panose="02010600030101010101" pitchFamily="2" charset="-122"/>
                </a:rPr>
                <a:t>干扰消除</a:t>
              </a:r>
            </a:p>
          </p:txBody>
        </p:sp>
        <p:sp>
          <p:nvSpPr>
            <p:cNvPr id="25" name="MH_Text_4"/>
            <p:cNvSpPr/>
            <p:nvPr>
              <p:custDataLst>
                <p:tags r:id="rId6"/>
              </p:custDataLst>
            </p:nvPr>
          </p:nvSpPr>
          <p:spPr>
            <a:xfrm>
              <a:off x="2781301" y="5207000"/>
              <a:ext cx="2073275" cy="717550"/>
            </a:xfrm>
            <a:prstGeom prst="rect">
              <a:avLst/>
            </a:prstGeom>
          </p:spPr>
          <p:txBody>
            <a:bodyPr anchor="ctr">
              <a:normAutofit/>
            </a:bodyPr>
            <a:lstStyle/>
            <a:p>
              <a:pPr algn="r">
                <a:lnSpc>
                  <a:spcPct val="120000"/>
                </a:lnSpc>
                <a:defRPr/>
              </a:pPr>
              <a:r>
                <a:rPr lang="zh-CN" altLang="en-US" sz="2400" kern="0" dirty="0">
                  <a:cs typeface="宋体" panose="02010600030101010101" pitchFamily="2" charset="-122"/>
                </a:rPr>
                <a:t>调度算法</a:t>
              </a:r>
            </a:p>
          </p:txBody>
        </p:sp>
        <p:sp>
          <p:nvSpPr>
            <p:cNvPr id="26" name="MH_Other_1"/>
            <p:cNvSpPr/>
            <p:nvPr>
              <p:custDataLst>
                <p:tags r:id="rId7"/>
              </p:custDataLst>
            </p:nvPr>
          </p:nvSpPr>
          <p:spPr bwMode="auto">
            <a:xfrm rot="13871108" flipH="1">
              <a:off x="4634707" y="3104357"/>
              <a:ext cx="869950" cy="1462087"/>
            </a:xfrm>
            <a:custGeom>
              <a:avLst/>
              <a:gdLst>
                <a:gd name="T0" fmla="*/ 2147483647 w 849"/>
                <a:gd name="T1" fmla="*/ 0 h 1133"/>
                <a:gd name="T2" fmla="*/ 2147483647 w 849"/>
                <a:gd name="T3" fmla="*/ 2147483647 h 1133"/>
                <a:gd name="T4" fmla="*/ 2147483647 w 849"/>
                <a:gd name="T5" fmla="*/ 2147483647 h 1133"/>
                <a:gd name="T6" fmla="*/ 2147483647 w 849"/>
                <a:gd name="T7" fmla="*/ 2147483647 h 1133"/>
                <a:gd name="T8" fmla="*/ 2147483647 w 849"/>
                <a:gd name="T9" fmla="*/ 2147483647 h 1133"/>
                <a:gd name="T10" fmla="*/ 2147483647 w 849"/>
                <a:gd name="T11" fmla="*/ 2147483647 h 1133"/>
                <a:gd name="T12" fmla="*/ 0 w 849"/>
                <a:gd name="T13" fmla="*/ 2147483647 h 1133"/>
                <a:gd name="T14" fmla="*/ 2147483647 w 849"/>
                <a:gd name="T15" fmla="*/ 0 h 1133"/>
                <a:gd name="T16" fmla="*/ 0 60000 65536"/>
                <a:gd name="T17" fmla="*/ 0 60000 65536"/>
                <a:gd name="T18" fmla="*/ 0 60000 65536"/>
                <a:gd name="T19" fmla="*/ 0 60000 65536"/>
                <a:gd name="T20" fmla="*/ 0 60000 65536"/>
                <a:gd name="T21" fmla="*/ 0 60000 65536"/>
                <a:gd name="T22" fmla="*/ 0 60000 65536"/>
                <a:gd name="T23" fmla="*/ 0 60000 65536"/>
                <a:gd name="T24" fmla="*/ 0 w 849"/>
                <a:gd name="T25" fmla="*/ 0 h 1133"/>
                <a:gd name="T26" fmla="*/ 849 w 849"/>
                <a:gd name="T27" fmla="*/ 1133 h 1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49" h="1133">
                  <a:moveTo>
                    <a:pt x="283" y="0"/>
                  </a:moveTo>
                  <a:cubicBezTo>
                    <a:pt x="595" y="0"/>
                    <a:pt x="849" y="253"/>
                    <a:pt x="849" y="567"/>
                  </a:cubicBezTo>
                  <a:cubicBezTo>
                    <a:pt x="849" y="880"/>
                    <a:pt x="595" y="1133"/>
                    <a:pt x="283" y="1133"/>
                  </a:cubicBezTo>
                  <a:cubicBezTo>
                    <a:pt x="283" y="1133"/>
                    <a:pt x="283" y="1133"/>
                    <a:pt x="283" y="1133"/>
                  </a:cubicBezTo>
                  <a:cubicBezTo>
                    <a:pt x="439" y="1133"/>
                    <a:pt x="566" y="1007"/>
                    <a:pt x="566" y="851"/>
                  </a:cubicBezTo>
                  <a:cubicBezTo>
                    <a:pt x="566" y="694"/>
                    <a:pt x="439" y="567"/>
                    <a:pt x="283" y="567"/>
                  </a:cubicBezTo>
                  <a:cubicBezTo>
                    <a:pt x="127" y="567"/>
                    <a:pt x="0" y="440"/>
                    <a:pt x="0" y="283"/>
                  </a:cubicBezTo>
                  <a:cubicBezTo>
                    <a:pt x="0" y="127"/>
                    <a:pt x="127" y="0"/>
                    <a:pt x="283" y="0"/>
                  </a:cubicBezTo>
                  <a:close/>
                </a:path>
              </a:pathLst>
            </a:custGeom>
            <a:gradFill flip="none" rotWithShape="1">
              <a:gsLst>
                <a:gs pos="100000">
                  <a:srgbClr val="FFFFFF"/>
                </a:gs>
                <a:gs pos="0">
                  <a:srgbClr val="B2B2B2"/>
                </a:gs>
              </a:gsLst>
              <a:lin ang="8100000" scaled="1"/>
              <a:tileRect/>
            </a:gradFill>
            <a:ln w="3175" cap="flat" cmpd="sng" algn="ctr">
              <a:noFill/>
              <a:prstDash val="solid"/>
            </a:ln>
            <a:effectLst/>
          </p:spPr>
          <p:txBody>
            <a:bodyPr anchor="ctr"/>
            <a:lstStyle/>
            <a:p>
              <a:pPr algn="ctr">
                <a:lnSpc>
                  <a:spcPct val="120000"/>
                </a:lnSpc>
                <a:defRPr/>
              </a:pPr>
              <a:endParaRPr lang="en-US" sz="1050" b="1" kern="0" dirty="0">
                <a:solidFill>
                  <a:srgbClr val="F9F9F9"/>
                </a:solidFill>
                <a:ea typeface="微软雅黑" panose="020B0503020204020204" charset="-122"/>
              </a:endParaRPr>
            </a:p>
          </p:txBody>
        </p:sp>
        <p:sp>
          <p:nvSpPr>
            <p:cNvPr id="27" name="MH_SubTitle_5"/>
            <p:cNvSpPr/>
            <p:nvPr>
              <p:custDataLst>
                <p:tags r:id="rId8"/>
              </p:custDataLst>
            </p:nvPr>
          </p:nvSpPr>
          <p:spPr>
            <a:xfrm>
              <a:off x="4295776" y="3549651"/>
              <a:ext cx="741363" cy="741363"/>
            </a:xfrm>
            <a:prstGeom prst="ellipse">
              <a:avLst/>
            </a:prstGeom>
            <a:solidFill>
              <a:srgbClr val="92D14F"/>
            </a:solidFill>
            <a:ln w="571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defRPr/>
              </a:pPr>
              <a:r>
                <a:rPr lang="en-US" altLang="zh-CN" sz="2000" dirty="0">
                  <a:solidFill>
                    <a:srgbClr val="FFFFFF"/>
                  </a:solidFill>
                  <a:ea typeface="微软雅黑" panose="020B0503020204020204" charset="-122"/>
                </a:rPr>
                <a:t>E</a:t>
              </a:r>
              <a:endParaRPr lang="zh-CN" altLang="en-US" sz="2000" dirty="0" err="1">
                <a:solidFill>
                  <a:srgbClr val="FFFFFF"/>
                </a:solidFill>
                <a:ea typeface="微软雅黑" panose="020B0503020204020204" charset="-122"/>
              </a:endParaRPr>
            </a:p>
          </p:txBody>
        </p:sp>
        <p:sp>
          <p:nvSpPr>
            <p:cNvPr id="28" name="MH_Other_2"/>
            <p:cNvSpPr/>
            <p:nvPr>
              <p:custDataLst>
                <p:tags r:id="rId9"/>
              </p:custDataLst>
            </p:nvPr>
          </p:nvSpPr>
          <p:spPr bwMode="auto">
            <a:xfrm rot="18191108" flipH="1">
              <a:off x="5811838" y="2452688"/>
              <a:ext cx="869950" cy="1460500"/>
            </a:xfrm>
            <a:custGeom>
              <a:avLst/>
              <a:gdLst>
                <a:gd name="T0" fmla="*/ 2147483647 w 849"/>
                <a:gd name="T1" fmla="*/ 0 h 1133"/>
                <a:gd name="T2" fmla="*/ 2147483647 w 849"/>
                <a:gd name="T3" fmla="*/ 2147483647 h 1133"/>
                <a:gd name="T4" fmla="*/ 2147483647 w 849"/>
                <a:gd name="T5" fmla="*/ 2147483647 h 1133"/>
                <a:gd name="T6" fmla="*/ 2147483647 w 849"/>
                <a:gd name="T7" fmla="*/ 2147483647 h 1133"/>
                <a:gd name="T8" fmla="*/ 2147483647 w 849"/>
                <a:gd name="T9" fmla="*/ 2147483647 h 1133"/>
                <a:gd name="T10" fmla="*/ 2147483647 w 849"/>
                <a:gd name="T11" fmla="*/ 2147483647 h 1133"/>
                <a:gd name="T12" fmla="*/ 0 w 849"/>
                <a:gd name="T13" fmla="*/ 2147483647 h 1133"/>
                <a:gd name="T14" fmla="*/ 2147483647 w 849"/>
                <a:gd name="T15" fmla="*/ 0 h 1133"/>
                <a:gd name="T16" fmla="*/ 0 60000 65536"/>
                <a:gd name="T17" fmla="*/ 0 60000 65536"/>
                <a:gd name="T18" fmla="*/ 0 60000 65536"/>
                <a:gd name="T19" fmla="*/ 0 60000 65536"/>
                <a:gd name="T20" fmla="*/ 0 60000 65536"/>
                <a:gd name="T21" fmla="*/ 0 60000 65536"/>
                <a:gd name="T22" fmla="*/ 0 60000 65536"/>
                <a:gd name="T23" fmla="*/ 0 60000 65536"/>
                <a:gd name="T24" fmla="*/ 0 w 849"/>
                <a:gd name="T25" fmla="*/ 0 h 1133"/>
                <a:gd name="T26" fmla="*/ 849 w 849"/>
                <a:gd name="T27" fmla="*/ 1133 h 1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49" h="1133">
                  <a:moveTo>
                    <a:pt x="283" y="0"/>
                  </a:moveTo>
                  <a:cubicBezTo>
                    <a:pt x="595" y="0"/>
                    <a:pt x="849" y="253"/>
                    <a:pt x="849" y="567"/>
                  </a:cubicBezTo>
                  <a:cubicBezTo>
                    <a:pt x="849" y="880"/>
                    <a:pt x="595" y="1133"/>
                    <a:pt x="283" y="1133"/>
                  </a:cubicBezTo>
                  <a:cubicBezTo>
                    <a:pt x="283" y="1133"/>
                    <a:pt x="283" y="1133"/>
                    <a:pt x="283" y="1133"/>
                  </a:cubicBezTo>
                  <a:cubicBezTo>
                    <a:pt x="439" y="1133"/>
                    <a:pt x="566" y="1007"/>
                    <a:pt x="566" y="851"/>
                  </a:cubicBezTo>
                  <a:cubicBezTo>
                    <a:pt x="566" y="694"/>
                    <a:pt x="439" y="567"/>
                    <a:pt x="283" y="567"/>
                  </a:cubicBezTo>
                  <a:cubicBezTo>
                    <a:pt x="127" y="567"/>
                    <a:pt x="0" y="440"/>
                    <a:pt x="0" y="283"/>
                  </a:cubicBezTo>
                  <a:cubicBezTo>
                    <a:pt x="0" y="127"/>
                    <a:pt x="127" y="0"/>
                    <a:pt x="283" y="0"/>
                  </a:cubicBezTo>
                  <a:close/>
                </a:path>
              </a:pathLst>
            </a:custGeom>
            <a:gradFill flip="none" rotWithShape="1">
              <a:gsLst>
                <a:gs pos="100000">
                  <a:srgbClr val="FFFFFF"/>
                </a:gs>
                <a:gs pos="0">
                  <a:srgbClr val="B2B2B2"/>
                </a:gs>
              </a:gsLst>
              <a:lin ang="8100000" scaled="1"/>
              <a:tileRect/>
            </a:gradFill>
            <a:ln w="3175" cap="flat" cmpd="sng" algn="ctr">
              <a:noFill/>
              <a:prstDash val="solid"/>
            </a:ln>
            <a:effectLst/>
          </p:spPr>
          <p:txBody>
            <a:bodyPr anchor="ctr"/>
            <a:lstStyle/>
            <a:p>
              <a:pPr algn="ctr">
                <a:lnSpc>
                  <a:spcPct val="120000"/>
                </a:lnSpc>
                <a:defRPr/>
              </a:pPr>
              <a:endParaRPr lang="en-US" sz="1050" b="1" kern="0" dirty="0">
                <a:solidFill>
                  <a:srgbClr val="F9F9F9"/>
                </a:solidFill>
                <a:ea typeface="微软雅黑" panose="020B0503020204020204" charset="-122"/>
              </a:endParaRPr>
            </a:p>
          </p:txBody>
        </p:sp>
        <p:sp>
          <p:nvSpPr>
            <p:cNvPr id="29" name="MH_SubTitle_1"/>
            <p:cNvSpPr/>
            <p:nvPr>
              <p:custDataLst>
                <p:tags r:id="rId10"/>
              </p:custDataLst>
            </p:nvPr>
          </p:nvSpPr>
          <p:spPr>
            <a:xfrm>
              <a:off x="5672139" y="2455864"/>
              <a:ext cx="739775" cy="739775"/>
            </a:xfrm>
            <a:prstGeom prst="ellipse">
              <a:avLst/>
            </a:prstGeom>
            <a:solidFill>
              <a:srgbClr val="E05A3D"/>
            </a:solidFill>
            <a:ln w="571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defRPr/>
              </a:pPr>
              <a:r>
                <a:rPr lang="en-US" altLang="zh-CN" sz="2000" dirty="0">
                  <a:solidFill>
                    <a:srgbClr val="FFFFFF"/>
                  </a:solidFill>
                  <a:ea typeface="微软雅黑" panose="020B0503020204020204" charset="-122"/>
                </a:rPr>
                <a:t>A</a:t>
              </a:r>
              <a:endParaRPr lang="zh-CN" altLang="en-US" sz="2000" dirty="0" err="1">
                <a:solidFill>
                  <a:srgbClr val="FFFFFF"/>
                </a:solidFill>
                <a:ea typeface="微软雅黑" panose="020B0503020204020204" charset="-122"/>
              </a:endParaRPr>
            </a:p>
          </p:txBody>
        </p:sp>
        <p:sp>
          <p:nvSpPr>
            <p:cNvPr id="30" name="MH_Other_3"/>
            <p:cNvSpPr/>
            <p:nvPr>
              <p:custDataLst>
                <p:tags r:id="rId11"/>
              </p:custDataLst>
            </p:nvPr>
          </p:nvSpPr>
          <p:spPr bwMode="auto">
            <a:xfrm rot="911108" flipH="1">
              <a:off x="6796088" y="3370264"/>
              <a:ext cx="869950" cy="1462087"/>
            </a:xfrm>
            <a:custGeom>
              <a:avLst/>
              <a:gdLst>
                <a:gd name="T0" fmla="*/ 2147483647 w 849"/>
                <a:gd name="T1" fmla="*/ 0 h 1133"/>
                <a:gd name="T2" fmla="*/ 2147483647 w 849"/>
                <a:gd name="T3" fmla="*/ 2147483647 h 1133"/>
                <a:gd name="T4" fmla="*/ 2147483647 w 849"/>
                <a:gd name="T5" fmla="*/ 2147483647 h 1133"/>
                <a:gd name="T6" fmla="*/ 2147483647 w 849"/>
                <a:gd name="T7" fmla="*/ 2147483647 h 1133"/>
                <a:gd name="T8" fmla="*/ 2147483647 w 849"/>
                <a:gd name="T9" fmla="*/ 2147483647 h 1133"/>
                <a:gd name="T10" fmla="*/ 2147483647 w 849"/>
                <a:gd name="T11" fmla="*/ 2147483647 h 1133"/>
                <a:gd name="T12" fmla="*/ 0 w 849"/>
                <a:gd name="T13" fmla="*/ 2147483647 h 1133"/>
                <a:gd name="T14" fmla="*/ 2147483647 w 849"/>
                <a:gd name="T15" fmla="*/ 0 h 1133"/>
                <a:gd name="T16" fmla="*/ 0 60000 65536"/>
                <a:gd name="T17" fmla="*/ 0 60000 65536"/>
                <a:gd name="T18" fmla="*/ 0 60000 65536"/>
                <a:gd name="T19" fmla="*/ 0 60000 65536"/>
                <a:gd name="T20" fmla="*/ 0 60000 65536"/>
                <a:gd name="T21" fmla="*/ 0 60000 65536"/>
                <a:gd name="T22" fmla="*/ 0 60000 65536"/>
                <a:gd name="T23" fmla="*/ 0 60000 65536"/>
                <a:gd name="T24" fmla="*/ 0 w 849"/>
                <a:gd name="T25" fmla="*/ 0 h 1133"/>
                <a:gd name="T26" fmla="*/ 849 w 849"/>
                <a:gd name="T27" fmla="*/ 1133 h 1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49" h="1133">
                  <a:moveTo>
                    <a:pt x="283" y="0"/>
                  </a:moveTo>
                  <a:cubicBezTo>
                    <a:pt x="595" y="0"/>
                    <a:pt x="849" y="253"/>
                    <a:pt x="849" y="567"/>
                  </a:cubicBezTo>
                  <a:cubicBezTo>
                    <a:pt x="849" y="880"/>
                    <a:pt x="595" y="1133"/>
                    <a:pt x="283" y="1133"/>
                  </a:cubicBezTo>
                  <a:cubicBezTo>
                    <a:pt x="283" y="1133"/>
                    <a:pt x="283" y="1133"/>
                    <a:pt x="283" y="1133"/>
                  </a:cubicBezTo>
                  <a:cubicBezTo>
                    <a:pt x="439" y="1133"/>
                    <a:pt x="566" y="1007"/>
                    <a:pt x="566" y="851"/>
                  </a:cubicBezTo>
                  <a:cubicBezTo>
                    <a:pt x="566" y="694"/>
                    <a:pt x="439" y="567"/>
                    <a:pt x="283" y="567"/>
                  </a:cubicBezTo>
                  <a:cubicBezTo>
                    <a:pt x="127" y="567"/>
                    <a:pt x="0" y="440"/>
                    <a:pt x="0" y="283"/>
                  </a:cubicBezTo>
                  <a:cubicBezTo>
                    <a:pt x="0" y="127"/>
                    <a:pt x="127" y="0"/>
                    <a:pt x="283" y="0"/>
                  </a:cubicBezTo>
                  <a:close/>
                </a:path>
              </a:pathLst>
            </a:custGeom>
            <a:gradFill flip="none" rotWithShape="1">
              <a:gsLst>
                <a:gs pos="100000">
                  <a:srgbClr val="FFFFFF"/>
                </a:gs>
                <a:gs pos="0">
                  <a:srgbClr val="B2B2B2"/>
                </a:gs>
              </a:gsLst>
              <a:lin ang="8100000" scaled="1"/>
              <a:tileRect/>
            </a:gradFill>
            <a:ln w="3175" cap="flat" cmpd="sng" algn="ctr">
              <a:noFill/>
              <a:prstDash val="solid"/>
            </a:ln>
            <a:effectLst/>
          </p:spPr>
          <p:txBody>
            <a:bodyPr anchor="ctr"/>
            <a:lstStyle/>
            <a:p>
              <a:pPr algn="ctr">
                <a:lnSpc>
                  <a:spcPct val="120000"/>
                </a:lnSpc>
                <a:defRPr/>
              </a:pPr>
              <a:endParaRPr lang="en-US" sz="1050" b="1" kern="0" dirty="0">
                <a:solidFill>
                  <a:srgbClr val="F9F9F9"/>
                </a:solidFill>
                <a:ea typeface="微软雅黑" panose="020B0503020204020204" charset="-122"/>
              </a:endParaRPr>
            </a:p>
          </p:txBody>
        </p:sp>
        <p:sp>
          <p:nvSpPr>
            <p:cNvPr id="31" name="MH_SubTitle_2"/>
            <p:cNvSpPr/>
            <p:nvPr>
              <p:custDataLst>
                <p:tags r:id="rId12"/>
              </p:custDataLst>
            </p:nvPr>
          </p:nvSpPr>
          <p:spPr>
            <a:xfrm>
              <a:off x="7137401" y="3425826"/>
              <a:ext cx="739775" cy="739775"/>
            </a:xfrm>
            <a:prstGeom prst="ellipse">
              <a:avLst/>
            </a:prstGeom>
            <a:solidFill>
              <a:srgbClr val="26ACAD"/>
            </a:solidFill>
            <a:ln w="571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defRPr/>
              </a:pPr>
              <a:r>
                <a:rPr lang="en-US" altLang="zh-CN" sz="2000" dirty="0">
                  <a:solidFill>
                    <a:srgbClr val="FFFFFF"/>
                  </a:solidFill>
                  <a:ea typeface="微软雅黑" panose="020B0503020204020204" charset="-122"/>
                </a:rPr>
                <a:t>B</a:t>
              </a:r>
              <a:endParaRPr lang="zh-CN" altLang="en-US" sz="2000" dirty="0" err="1">
                <a:solidFill>
                  <a:srgbClr val="FFFFFF"/>
                </a:solidFill>
                <a:ea typeface="微软雅黑" panose="020B0503020204020204" charset="-122"/>
              </a:endParaRPr>
            </a:p>
          </p:txBody>
        </p:sp>
        <p:sp>
          <p:nvSpPr>
            <p:cNvPr id="32" name="MH_Other_4"/>
            <p:cNvSpPr/>
            <p:nvPr>
              <p:custDataLst>
                <p:tags r:id="rId13"/>
              </p:custDataLst>
            </p:nvPr>
          </p:nvSpPr>
          <p:spPr bwMode="auto">
            <a:xfrm rot="5231108" flipH="1">
              <a:off x="6226176" y="4589463"/>
              <a:ext cx="871537" cy="1462088"/>
            </a:xfrm>
            <a:custGeom>
              <a:avLst/>
              <a:gdLst>
                <a:gd name="T0" fmla="*/ 2147483647 w 849"/>
                <a:gd name="T1" fmla="*/ 0 h 1133"/>
                <a:gd name="T2" fmla="*/ 2147483647 w 849"/>
                <a:gd name="T3" fmla="*/ 2147483647 h 1133"/>
                <a:gd name="T4" fmla="*/ 2147483647 w 849"/>
                <a:gd name="T5" fmla="*/ 2147483647 h 1133"/>
                <a:gd name="T6" fmla="*/ 2147483647 w 849"/>
                <a:gd name="T7" fmla="*/ 2147483647 h 1133"/>
                <a:gd name="T8" fmla="*/ 2147483647 w 849"/>
                <a:gd name="T9" fmla="*/ 2147483647 h 1133"/>
                <a:gd name="T10" fmla="*/ 2147483647 w 849"/>
                <a:gd name="T11" fmla="*/ 2147483647 h 1133"/>
                <a:gd name="T12" fmla="*/ 0 w 849"/>
                <a:gd name="T13" fmla="*/ 2147483647 h 1133"/>
                <a:gd name="T14" fmla="*/ 2147483647 w 849"/>
                <a:gd name="T15" fmla="*/ 0 h 1133"/>
                <a:gd name="T16" fmla="*/ 0 60000 65536"/>
                <a:gd name="T17" fmla="*/ 0 60000 65536"/>
                <a:gd name="T18" fmla="*/ 0 60000 65536"/>
                <a:gd name="T19" fmla="*/ 0 60000 65536"/>
                <a:gd name="T20" fmla="*/ 0 60000 65536"/>
                <a:gd name="T21" fmla="*/ 0 60000 65536"/>
                <a:gd name="T22" fmla="*/ 0 60000 65536"/>
                <a:gd name="T23" fmla="*/ 0 60000 65536"/>
                <a:gd name="T24" fmla="*/ 0 w 849"/>
                <a:gd name="T25" fmla="*/ 0 h 1133"/>
                <a:gd name="T26" fmla="*/ 849 w 849"/>
                <a:gd name="T27" fmla="*/ 1133 h 1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49" h="1133">
                  <a:moveTo>
                    <a:pt x="283" y="0"/>
                  </a:moveTo>
                  <a:cubicBezTo>
                    <a:pt x="595" y="0"/>
                    <a:pt x="849" y="253"/>
                    <a:pt x="849" y="567"/>
                  </a:cubicBezTo>
                  <a:cubicBezTo>
                    <a:pt x="849" y="880"/>
                    <a:pt x="595" y="1133"/>
                    <a:pt x="283" y="1133"/>
                  </a:cubicBezTo>
                  <a:cubicBezTo>
                    <a:pt x="283" y="1133"/>
                    <a:pt x="283" y="1133"/>
                    <a:pt x="283" y="1133"/>
                  </a:cubicBezTo>
                  <a:cubicBezTo>
                    <a:pt x="439" y="1133"/>
                    <a:pt x="566" y="1007"/>
                    <a:pt x="566" y="851"/>
                  </a:cubicBezTo>
                  <a:cubicBezTo>
                    <a:pt x="566" y="694"/>
                    <a:pt x="439" y="567"/>
                    <a:pt x="283" y="567"/>
                  </a:cubicBezTo>
                  <a:cubicBezTo>
                    <a:pt x="127" y="567"/>
                    <a:pt x="0" y="440"/>
                    <a:pt x="0" y="283"/>
                  </a:cubicBezTo>
                  <a:cubicBezTo>
                    <a:pt x="0" y="127"/>
                    <a:pt x="127" y="0"/>
                    <a:pt x="283" y="0"/>
                  </a:cubicBezTo>
                  <a:close/>
                </a:path>
              </a:pathLst>
            </a:custGeom>
            <a:gradFill flip="none" rotWithShape="1">
              <a:gsLst>
                <a:gs pos="100000">
                  <a:srgbClr val="FFFFFF"/>
                </a:gs>
                <a:gs pos="0">
                  <a:srgbClr val="B2B2B2"/>
                </a:gs>
              </a:gsLst>
              <a:lin ang="8100000" scaled="1"/>
              <a:tileRect/>
            </a:gradFill>
            <a:ln w="3175" cap="flat" cmpd="sng" algn="ctr">
              <a:noFill/>
              <a:prstDash val="solid"/>
            </a:ln>
            <a:effectLst/>
          </p:spPr>
          <p:txBody>
            <a:bodyPr anchor="ctr"/>
            <a:lstStyle/>
            <a:p>
              <a:pPr algn="ctr">
                <a:lnSpc>
                  <a:spcPct val="120000"/>
                </a:lnSpc>
                <a:defRPr/>
              </a:pPr>
              <a:endParaRPr lang="en-US" sz="1050" b="1" kern="0" dirty="0">
                <a:solidFill>
                  <a:srgbClr val="F9F9F9"/>
                </a:solidFill>
                <a:ea typeface="微软雅黑" panose="020B0503020204020204" charset="-122"/>
              </a:endParaRPr>
            </a:p>
          </p:txBody>
        </p:sp>
        <p:sp>
          <p:nvSpPr>
            <p:cNvPr id="33" name="MH_SubTitle_3"/>
            <p:cNvSpPr/>
            <p:nvPr>
              <p:custDataLst>
                <p:tags r:id="rId14"/>
              </p:custDataLst>
            </p:nvPr>
          </p:nvSpPr>
          <p:spPr>
            <a:xfrm>
              <a:off x="6667501" y="5118101"/>
              <a:ext cx="741363" cy="741363"/>
            </a:xfrm>
            <a:prstGeom prst="ellipse">
              <a:avLst/>
            </a:prstGeom>
            <a:solidFill>
              <a:srgbClr val="F4AB42"/>
            </a:solidFill>
            <a:ln w="571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defRPr/>
              </a:pPr>
              <a:r>
                <a:rPr lang="en-US" altLang="zh-CN" sz="2000" dirty="0">
                  <a:solidFill>
                    <a:srgbClr val="FFFFFF"/>
                  </a:solidFill>
                  <a:ea typeface="微软雅黑" panose="020B0503020204020204" charset="-122"/>
                </a:rPr>
                <a:t>C</a:t>
              </a:r>
              <a:endParaRPr lang="zh-CN" altLang="en-US" sz="2000" dirty="0" err="1">
                <a:solidFill>
                  <a:srgbClr val="FFFFFF"/>
                </a:solidFill>
                <a:ea typeface="微软雅黑" panose="020B0503020204020204" charset="-122"/>
              </a:endParaRPr>
            </a:p>
          </p:txBody>
        </p:sp>
        <p:sp>
          <p:nvSpPr>
            <p:cNvPr id="34" name="MH_Other_5"/>
            <p:cNvSpPr/>
            <p:nvPr>
              <p:custDataLst>
                <p:tags r:id="rId15"/>
              </p:custDataLst>
            </p:nvPr>
          </p:nvSpPr>
          <p:spPr bwMode="auto">
            <a:xfrm rot="9551108" flipH="1">
              <a:off x="4891088" y="4425950"/>
              <a:ext cx="869950" cy="1460500"/>
            </a:xfrm>
            <a:custGeom>
              <a:avLst/>
              <a:gdLst>
                <a:gd name="T0" fmla="*/ 2147483647 w 849"/>
                <a:gd name="T1" fmla="*/ 0 h 1133"/>
                <a:gd name="T2" fmla="*/ 2147483647 w 849"/>
                <a:gd name="T3" fmla="*/ 2147483647 h 1133"/>
                <a:gd name="T4" fmla="*/ 2147483647 w 849"/>
                <a:gd name="T5" fmla="*/ 2147483647 h 1133"/>
                <a:gd name="T6" fmla="*/ 2147483647 w 849"/>
                <a:gd name="T7" fmla="*/ 2147483647 h 1133"/>
                <a:gd name="T8" fmla="*/ 2147483647 w 849"/>
                <a:gd name="T9" fmla="*/ 2147483647 h 1133"/>
                <a:gd name="T10" fmla="*/ 2147483647 w 849"/>
                <a:gd name="T11" fmla="*/ 2147483647 h 1133"/>
                <a:gd name="T12" fmla="*/ 0 w 849"/>
                <a:gd name="T13" fmla="*/ 2147483647 h 1133"/>
                <a:gd name="T14" fmla="*/ 2147483647 w 849"/>
                <a:gd name="T15" fmla="*/ 0 h 1133"/>
                <a:gd name="T16" fmla="*/ 0 60000 65536"/>
                <a:gd name="T17" fmla="*/ 0 60000 65536"/>
                <a:gd name="T18" fmla="*/ 0 60000 65536"/>
                <a:gd name="T19" fmla="*/ 0 60000 65536"/>
                <a:gd name="T20" fmla="*/ 0 60000 65536"/>
                <a:gd name="T21" fmla="*/ 0 60000 65536"/>
                <a:gd name="T22" fmla="*/ 0 60000 65536"/>
                <a:gd name="T23" fmla="*/ 0 60000 65536"/>
                <a:gd name="T24" fmla="*/ 0 w 849"/>
                <a:gd name="T25" fmla="*/ 0 h 1133"/>
                <a:gd name="T26" fmla="*/ 849 w 849"/>
                <a:gd name="T27" fmla="*/ 1133 h 11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49" h="1133">
                  <a:moveTo>
                    <a:pt x="283" y="0"/>
                  </a:moveTo>
                  <a:cubicBezTo>
                    <a:pt x="595" y="0"/>
                    <a:pt x="849" y="253"/>
                    <a:pt x="849" y="567"/>
                  </a:cubicBezTo>
                  <a:cubicBezTo>
                    <a:pt x="849" y="880"/>
                    <a:pt x="595" y="1133"/>
                    <a:pt x="283" y="1133"/>
                  </a:cubicBezTo>
                  <a:cubicBezTo>
                    <a:pt x="283" y="1133"/>
                    <a:pt x="283" y="1133"/>
                    <a:pt x="283" y="1133"/>
                  </a:cubicBezTo>
                  <a:cubicBezTo>
                    <a:pt x="439" y="1133"/>
                    <a:pt x="566" y="1007"/>
                    <a:pt x="566" y="851"/>
                  </a:cubicBezTo>
                  <a:cubicBezTo>
                    <a:pt x="566" y="694"/>
                    <a:pt x="439" y="567"/>
                    <a:pt x="283" y="567"/>
                  </a:cubicBezTo>
                  <a:cubicBezTo>
                    <a:pt x="127" y="567"/>
                    <a:pt x="0" y="440"/>
                    <a:pt x="0" y="283"/>
                  </a:cubicBezTo>
                  <a:cubicBezTo>
                    <a:pt x="0" y="127"/>
                    <a:pt x="127" y="0"/>
                    <a:pt x="283" y="0"/>
                  </a:cubicBezTo>
                  <a:close/>
                </a:path>
              </a:pathLst>
            </a:custGeom>
            <a:gradFill flip="none" rotWithShape="1">
              <a:gsLst>
                <a:gs pos="100000">
                  <a:srgbClr val="FFFFFF"/>
                </a:gs>
                <a:gs pos="0">
                  <a:srgbClr val="B2B2B2"/>
                </a:gs>
              </a:gsLst>
              <a:lin ang="8100000" scaled="1"/>
              <a:tileRect/>
            </a:gradFill>
            <a:ln w="3175" cap="flat" cmpd="sng" algn="ctr">
              <a:noFill/>
              <a:prstDash val="solid"/>
            </a:ln>
            <a:effectLst/>
          </p:spPr>
          <p:txBody>
            <a:bodyPr anchor="ctr"/>
            <a:lstStyle/>
            <a:p>
              <a:pPr algn="ctr">
                <a:lnSpc>
                  <a:spcPct val="120000"/>
                </a:lnSpc>
                <a:defRPr/>
              </a:pPr>
              <a:endParaRPr lang="en-US" sz="1050" b="1" kern="0" dirty="0">
                <a:solidFill>
                  <a:srgbClr val="F9F9F9"/>
                </a:solidFill>
                <a:ea typeface="微软雅黑" panose="020B0503020204020204" charset="-122"/>
              </a:endParaRPr>
            </a:p>
          </p:txBody>
        </p:sp>
        <p:sp>
          <p:nvSpPr>
            <p:cNvPr id="35" name="MH_SubTitle_4"/>
            <p:cNvSpPr/>
            <p:nvPr>
              <p:custDataLst>
                <p:tags r:id="rId16"/>
              </p:custDataLst>
            </p:nvPr>
          </p:nvSpPr>
          <p:spPr>
            <a:xfrm>
              <a:off x="4911726" y="5195889"/>
              <a:ext cx="741363" cy="739775"/>
            </a:xfrm>
            <a:prstGeom prst="ellipse">
              <a:avLst/>
            </a:prstGeom>
            <a:solidFill>
              <a:srgbClr val="4D606F"/>
            </a:solidFill>
            <a:ln w="571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defRPr/>
              </a:pPr>
              <a:r>
                <a:rPr lang="en-US" altLang="zh-CN" sz="2000" dirty="0">
                  <a:solidFill>
                    <a:srgbClr val="FFFFFF"/>
                  </a:solidFill>
                  <a:ea typeface="微软雅黑" panose="020B0503020204020204" charset="-122"/>
                </a:rPr>
                <a:t>D</a:t>
              </a:r>
              <a:endParaRPr lang="zh-CN" altLang="en-US" sz="2000" dirty="0" err="1">
                <a:solidFill>
                  <a:srgbClr val="FFFFFF"/>
                </a:solidFill>
                <a:ea typeface="微软雅黑" panose="020B0503020204020204" charset="-122"/>
              </a:endParaRPr>
            </a:p>
          </p:txBody>
        </p:sp>
      </p:grpSp>
      <p:sp>
        <p:nvSpPr>
          <p:cNvPr id="36" name="标题 1"/>
          <p:cNvSpPr txBox="1"/>
          <p:nvPr/>
        </p:nvSpPr>
        <p:spPr bwMode="auto">
          <a:xfrm>
            <a:off x="878481" y="1515914"/>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defTabSz="914400" eaLnBrk="1" hangingPunct="1">
              <a:lnSpc>
                <a:spcPct val="90000"/>
              </a:lnSpc>
              <a:buFont typeface="Wingdings" panose="05000000000000000000" pitchFamily="2" charset="2"/>
              <a:buChar char="u"/>
              <a:defRPr/>
            </a:pPr>
            <a:r>
              <a:rPr lang="zh-CN" altLang="en-US" sz="2000" b="1" dirty="0">
                <a:solidFill>
                  <a:srgbClr val="005BAA"/>
                </a:solidFill>
              </a:rPr>
              <a:t>影响容量的因素</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容量估算流程</a:t>
            </a:r>
          </a:p>
        </p:txBody>
      </p:sp>
      <p:graphicFrame>
        <p:nvGraphicFramePr>
          <p:cNvPr id="37" name="图示 36"/>
          <p:cNvGraphicFramePr/>
          <p:nvPr/>
        </p:nvGraphicFramePr>
        <p:xfrm>
          <a:off x="2877924" y="3023124"/>
          <a:ext cx="6889541" cy="31696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 name="TextBox 13"/>
          <p:cNvSpPr txBox="1">
            <a:spLocks noChangeArrowheads="1"/>
          </p:cNvSpPr>
          <p:nvPr/>
        </p:nvSpPr>
        <p:spPr bwMode="auto">
          <a:xfrm>
            <a:off x="3984033" y="1340249"/>
            <a:ext cx="630296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dirty="0">
                <a:latin typeface="微软雅黑" panose="020B0503020204020204" charset="-122"/>
                <a:ea typeface="微软雅黑" panose="020B0503020204020204" charset="-122"/>
              </a:rPr>
              <a:t>容量估算的目的：从容量的角度计算所需基站的数目。</a:t>
            </a:r>
            <a:endParaRPr lang="en-US" altLang="zh-CN" sz="2000" dirty="0">
              <a:latin typeface="微软雅黑" panose="020B0503020204020204" charset="-122"/>
              <a:ea typeface="微软雅黑" panose="020B0503020204020204" charset="-122"/>
            </a:endParaRPr>
          </a:p>
          <a:p>
            <a:pPr eaLnBrk="1" hangingPunct="1">
              <a:lnSpc>
                <a:spcPct val="150000"/>
              </a:lnSpc>
            </a:pPr>
            <a:r>
              <a:rPr lang="zh-CN" altLang="en-US" sz="2000" dirty="0">
                <a:latin typeface="微软雅黑" panose="020B0503020204020204" charset="-122"/>
                <a:ea typeface="微软雅黑" panose="020B0503020204020204" charset="-122"/>
              </a:rPr>
              <a:t>计算思路：</a:t>
            </a:r>
            <a:endParaRPr lang="en-US" altLang="zh-CN" sz="2000" dirty="0">
              <a:latin typeface="微软雅黑" panose="020B0503020204020204" charset="-122"/>
              <a:ea typeface="微软雅黑" panose="020B0503020204020204" charset="-122"/>
            </a:endParaRPr>
          </a:p>
          <a:p>
            <a:pPr algn="ctr" eaLnBrk="1" hangingPunct="1"/>
            <a:r>
              <a:rPr lang="zh-CN" altLang="en-US" sz="2000" b="1" dirty="0">
                <a:solidFill>
                  <a:srgbClr val="FF0000"/>
                </a:solidFill>
                <a:latin typeface="微软雅黑" panose="020B0503020204020204" charset="-122"/>
                <a:ea typeface="微软雅黑" panose="020B0503020204020204" charset="-122"/>
              </a:rPr>
              <a:t>基站数目</a:t>
            </a:r>
            <a:r>
              <a:rPr lang="en-US" altLang="zh-CN" sz="2000" b="1" dirty="0">
                <a:solidFill>
                  <a:srgbClr val="FF0000"/>
                </a:solidFill>
                <a:latin typeface="微软雅黑" panose="020B0503020204020204" charset="-122"/>
                <a:ea typeface="微软雅黑" panose="020B0503020204020204" charset="-122"/>
              </a:rPr>
              <a:t>=</a:t>
            </a:r>
            <a:r>
              <a:rPr lang="zh-CN" altLang="en-US" sz="2000" b="1" dirty="0">
                <a:solidFill>
                  <a:srgbClr val="FF0000"/>
                </a:solidFill>
                <a:latin typeface="微软雅黑" panose="020B0503020204020204" charset="-122"/>
                <a:ea typeface="微软雅黑" panose="020B0503020204020204" charset="-122"/>
              </a:rPr>
              <a:t>网络总</a:t>
            </a:r>
            <a:r>
              <a:rPr lang="zh-CN" altLang="zh-CN" sz="2000" b="1" dirty="0">
                <a:solidFill>
                  <a:srgbClr val="FF0000"/>
                </a:solidFill>
                <a:latin typeface="微软雅黑" panose="020B0503020204020204" charset="-122"/>
                <a:ea typeface="微软雅黑" panose="020B0503020204020204" charset="-122"/>
              </a:rPr>
              <a:t>吞吐量需求</a:t>
            </a:r>
            <a:r>
              <a:rPr lang="en-US" altLang="zh-CN" sz="2000" b="1" dirty="0">
                <a:solidFill>
                  <a:srgbClr val="FF0000"/>
                </a:solidFill>
                <a:latin typeface="微软雅黑" panose="020B0503020204020204" charset="-122"/>
                <a:ea typeface="微软雅黑" panose="020B0503020204020204" charset="-122"/>
              </a:rPr>
              <a:t>/</a:t>
            </a:r>
            <a:r>
              <a:rPr lang="zh-CN" altLang="en-US" sz="2000" b="1" dirty="0">
                <a:solidFill>
                  <a:srgbClr val="FF0000"/>
                </a:solidFill>
                <a:latin typeface="微软雅黑" panose="020B0503020204020204" charset="-122"/>
                <a:ea typeface="微软雅黑" panose="020B0503020204020204" charset="-122"/>
              </a:rPr>
              <a:t>小区</a:t>
            </a:r>
            <a:r>
              <a:rPr lang="zh-CN" altLang="zh-CN" sz="2000" b="1" dirty="0">
                <a:solidFill>
                  <a:srgbClr val="FF0000"/>
                </a:solidFill>
                <a:latin typeface="微软雅黑" panose="020B0503020204020204" charset="-122"/>
                <a:ea typeface="微软雅黑" panose="020B0503020204020204" charset="-122"/>
              </a:rPr>
              <a:t>平均吞吐量</a:t>
            </a:r>
            <a:endParaRPr lang="en-US" altLang="zh-CN" sz="2000" b="1" dirty="0">
              <a:solidFill>
                <a:srgbClr val="FF000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8">
                                            <p:txEl>
                                              <p:pRg st="1" end="1"/>
                                            </p:txEl>
                                          </p:spTgt>
                                        </p:tgtEl>
                                        <p:attrNameLst>
                                          <p:attrName>style.visibility</p:attrName>
                                        </p:attrNameLst>
                                      </p:cBhvr>
                                      <p:to>
                                        <p:strVal val="visible"/>
                                      </p:to>
                                    </p:set>
                                    <p:animEffect transition="in" filter="fade">
                                      <p:cBhvr>
                                        <p:cTn id="7" dur="1000"/>
                                        <p:tgtEl>
                                          <p:spTgt spid="38">
                                            <p:txEl>
                                              <p:pRg st="1" end="1"/>
                                            </p:txEl>
                                          </p:spTgt>
                                        </p:tgtEl>
                                      </p:cBhvr>
                                    </p:animEffect>
                                    <p:anim calcmode="lin" valueType="num">
                                      <p:cBhvr>
                                        <p:cTn id="8" dur="1000" fill="hold"/>
                                        <p:tgtEl>
                                          <p:spTgt spid="3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8">
                                            <p:txEl>
                                              <p:pRg st="2" end="2"/>
                                            </p:txEl>
                                          </p:spTgt>
                                        </p:tgtEl>
                                        <p:attrNameLst>
                                          <p:attrName>style.visibility</p:attrName>
                                        </p:attrNameLst>
                                      </p:cBhvr>
                                      <p:to>
                                        <p:strVal val="visible"/>
                                      </p:to>
                                    </p:set>
                                    <p:animEffect transition="in" filter="fade">
                                      <p:cBhvr>
                                        <p:cTn id="12" dur="1000"/>
                                        <p:tgtEl>
                                          <p:spTgt spid="38">
                                            <p:txEl>
                                              <p:pRg st="2" end="2"/>
                                            </p:txEl>
                                          </p:spTgt>
                                        </p:tgtEl>
                                      </p:cBhvr>
                                    </p:animEffect>
                                    <p:anim calcmode="lin" valueType="num">
                                      <p:cBhvr>
                                        <p:cTn id="13" dur="1000" fill="hold"/>
                                        <p:tgtEl>
                                          <p:spTgt spid="3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容量估算流程</a:t>
            </a:r>
          </a:p>
        </p:txBody>
      </p:sp>
      <p:sp>
        <p:nvSpPr>
          <p:cNvPr id="8" name="MH_Other_1"/>
          <p:cNvSpPr/>
          <p:nvPr>
            <p:custDataLst>
              <p:tags r:id="rId1"/>
            </p:custDataLst>
          </p:nvPr>
        </p:nvSpPr>
        <p:spPr>
          <a:xfrm>
            <a:off x="1477645" y="3087948"/>
            <a:ext cx="357188" cy="355600"/>
          </a:xfrm>
          <a:prstGeom prst="diamond">
            <a:avLst/>
          </a:prstGeom>
          <a:solidFill>
            <a:schemeClr val="accent1">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9" name="MH_Other_2"/>
          <p:cNvSpPr/>
          <p:nvPr>
            <p:custDataLst>
              <p:tags r:id="rId2"/>
            </p:custDataLst>
          </p:nvPr>
        </p:nvSpPr>
        <p:spPr>
          <a:xfrm>
            <a:off x="1477645" y="3492762"/>
            <a:ext cx="357188" cy="357187"/>
          </a:xfrm>
          <a:prstGeom prst="diamond">
            <a:avLst/>
          </a:prstGeom>
          <a:solidFill>
            <a:schemeClr val="accent1">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0" name="MH_Other_3"/>
          <p:cNvSpPr/>
          <p:nvPr>
            <p:custDataLst>
              <p:tags r:id="rId3"/>
            </p:custDataLst>
          </p:nvPr>
        </p:nvSpPr>
        <p:spPr>
          <a:xfrm>
            <a:off x="1684020" y="3291148"/>
            <a:ext cx="355600" cy="355600"/>
          </a:xfrm>
          <a:prstGeom prst="diamond">
            <a:avLst/>
          </a:prstGeom>
          <a:solidFill>
            <a:schemeClr val="accent1">
              <a:lumMod val="60000"/>
              <a:lumOff val="40000"/>
            </a:schemeClr>
          </a:solidFill>
        </p:spPr>
        <p:txBody>
          <a:bodyPr anchor="ctr"/>
          <a:lstStyle/>
          <a:p>
            <a:pPr algn="just">
              <a:lnSpc>
                <a:spcPct val="130000"/>
              </a:lnSpc>
              <a:defRPr/>
            </a:pPr>
            <a:endParaRPr lang="zh-CN" altLang="en-US" dirty="0" err="1">
              <a:solidFill>
                <a:srgbClr val="FFFFFF"/>
              </a:solidFill>
            </a:endParaRPr>
          </a:p>
        </p:txBody>
      </p:sp>
      <p:sp>
        <p:nvSpPr>
          <p:cNvPr id="11" name="MH_Other_4"/>
          <p:cNvSpPr/>
          <p:nvPr>
            <p:custDataLst>
              <p:tags r:id="rId4"/>
            </p:custDataLst>
          </p:nvPr>
        </p:nvSpPr>
        <p:spPr>
          <a:xfrm>
            <a:off x="1093470" y="2959362"/>
            <a:ext cx="534988"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3" name="MH_Other_5"/>
          <p:cNvSpPr/>
          <p:nvPr>
            <p:custDataLst>
              <p:tags r:id="rId5"/>
            </p:custDataLst>
          </p:nvPr>
        </p:nvSpPr>
        <p:spPr bwMode="auto">
          <a:xfrm>
            <a:off x="1064895" y="2959362"/>
            <a:ext cx="509588"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a:solidFill>
                  <a:srgbClr val="FFFFFF"/>
                </a:solidFill>
              </a:rPr>
              <a:t>A</a:t>
            </a:r>
            <a:endParaRPr lang="zh-CN" altLang="en-US" sz="2400" b="1">
              <a:solidFill>
                <a:srgbClr val="FFFFFF"/>
              </a:solidFill>
            </a:endParaRPr>
          </a:p>
        </p:txBody>
      </p:sp>
      <p:sp>
        <p:nvSpPr>
          <p:cNvPr id="14" name="MH_Text_1"/>
          <p:cNvSpPr/>
          <p:nvPr>
            <p:custDataLst>
              <p:tags r:id="rId6"/>
            </p:custDataLst>
          </p:nvPr>
        </p:nvSpPr>
        <p:spPr>
          <a:xfrm>
            <a:off x="709295" y="4188611"/>
            <a:ext cx="5033222" cy="1881982"/>
          </a:xfrm>
          <a:prstGeom prst="rect">
            <a:avLst/>
          </a:prstGeom>
        </p:spPr>
        <p:txBody>
          <a:bodyPr>
            <a:noAutofit/>
          </a:bodyPr>
          <a:lstStyle/>
          <a:p>
            <a:pPr marL="685800" lvl="1" indent="-342900">
              <a:lnSpc>
                <a:spcPct val="150000"/>
              </a:lnSpc>
              <a:buFont typeface="+mj-lt"/>
              <a:buAutoNum type="alphaLcPeriod"/>
            </a:pPr>
            <a:r>
              <a:rPr lang="zh-CN" altLang="zh-CN" dirty="0">
                <a:latin typeface="微软雅黑" panose="020B0503020204020204" charset="-122"/>
              </a:rPr>
              <a:t>辅助当前网络的“业务模型”和“话务模型”，估算当前网络总吞吐量需求；</a:t>
            </a:r>
          </a:p>
          <a:p>
            <a:pPr marL="685800" lvl="1" indent="-342900">
              <a:lnSpc>
                <a:spcPct val="150000"/>
              </a:lnSpc>
              <a:buFont typeface="+mj-lt"/>
              <a:buAutoNum type="alphaLcPeriod"/>
            </a:pPr>
            <a:r>
              <a:rPr lang="zh-CN" altLang="zh-CN" dirty="0">
                <a:latin typeface="微软雅黑" panose="020B0503020204020204" charset="-122"/>
              </a:rPr>
              <a:t>基于覆盖估算的结果进行仿真，仿真出单小区平均吞吐量；</a:t>
            </a:r>
          </a:p>
        </p:txBody>
      </p:sp>
      <p:sp>
        <p:nvSpPr>
          <p:cNvPr id="15" name="MH_SubTitle_1"/>
          <p:cNvSpPr/>
          <p:nvPr>
            <p:custDataLst>
              <p:tags r:id="rId7"/>
            </p:custDataLst>
          </p:nvPr>
        </p:nvSpPr>
        <p:spPr>
          <a:xfrm>
            <a:off x="2026920" y="3199867"/>
            <a:ext cx="3503613" cy="538162"/>
          </a:xfrm>
          <a:prstGeom prst="rect">
            <a:avLst/>
          </a:prstGeom>
        </p:spPr>
        <p:txBody>
          <a:bodyPr anchor="b">
            <a:normAutofit/>
          </a:bodyPr>
          <a:lstStyle/>
          <a:p>
            <a:pPr>
              <a:defRPr/>
            </a:pPr>
            <a:r>
              <a:rPr lang="zh-CN" altLang="en-US" sz="2400" b="1" kern="0" dirty="0">
                <a:solidFill>
                  <a:schemeClr val="accent1"/>
                </a:solidFill>
                <a:cs typeface="宋体" panose="02010600030101010101" pitchFamily="2" charset="-122"/>
              </a:rPr>
              <a:t>分析网络中的话务需求</a:t>
            </a:r>
          </a:p>
        </p:txBody>
      </p:sp>
      <p:sp>
        <p:nvSpPr>
          <p:cNvPr id="16" name="MH_Other_11"/>
          <p:cNvSpPr/>
          <p:nvPr>
            <p:custDataLst>
              <p:tags r:id="rId8"/>
            </p:custDataLst>
          </p:nvPr>
        </p:nvSpPr>
        <p:spPr>
          <a:xfrm>
            <a:off x="6624109" y="3084774"/>
            <a:ext cx="355600" cy="355600"/>
          </a:xfrm>
          <a:prstGeom prst="diamond">
            <a:avLst/>
          </a:pr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7" name="MH_Other_12"/>
          <p:cNvSpPr/>
          <p:nvPr>
            <p:custDataLst>
              <p:tags r:id="rId9"/>
            </p:custDataLst>
          </p:nvPr>
        </p:nvSpPr>
        <p:spPr>
          <a:xfrm>
            <a:off x="6624109" y="3491174"/>
            <a:ext cx="355600" cy="355600"/>
          </a:xfrm>
          <a:prstGeom prst="diamond">
            <a:avLst/>
          </a:pr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8" name="MH_Other_13"/>
          <p:cNvSpPr/>
          <p:nvPr>
            <p:custDataLst>
              <p:tags r:id="rId10"/>
            </p:custDataLst>
          </p:nvPr>
        </p:nvSpPr>
        <p:spPr>
          <a:xfrm>
            <a:off x="6828896" y="3287974"/>
            <a:ext cx="355600" cy="355600"/>
          </a:xfrm>
          <a:prstGeom prst="diamond">
            <a:avLst/>
          </a:prstGeom>
          <a:solidFill>
            <a:schemeClr val="accent2">
              <a:lumMod val="60000"/>
              <a:lumOff val="40000"/>
            </a:schemeClr>
          </a:solidFill>
        </p:spPr>
        <p:txBody>
          <a:bodyPr anchor="ctr"/>
          <a:lstStyle/>
          <a:p>
            <a:pPr algn="just">
              <a:lnSpc>
                <a:spcPct val="130000"/>
              </a:lnSpc>
              <a:defRPr/>
            </a:pPr>
            <a:endParaRPr lang="zh-CN" altLang="en-US" dirty="0" err="1">
              <a:solidFill>
                <a:srgbClr val="FFFFFF"/>
              </a:solidFill>
            </a:endParaRPr>
          </a:p>
        </p:txBody>
      </p:sp>
      <p:sp>
        <p:nvSpPr>
          <p:cNvPr id="19" name="MH_Other_14"/>
          <p:cNvSpPr/>
          <p:nvPr>
            <p:custDataLst>
              <p:tags r:id="rId11"/>
            </p:custDataLst>
          </p:nvPr>
        </p:nvSpPr>
        <p:spPr>
          <a:xfrm>
            <a:off x="6238347" y="2957775"/>
            <a:ext cx="536575" cy="1017587"/>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20" name="MH_Other_15"/>
          <p:cNvSpPr/>
          <p:nvPr>
            <p:custDataLst>
              <p:tags r:id="rId12"/>
            </p:custDataLst>
          </p:nvPr>
        </p:nvSpPr>
        <p:spPr bwMode="auto">
          <a:xfrm>
            <a:off x="6211359" y="2957775"/>
            <a:ext cx="508000" cy="1017587"/>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a:solidFill>
                  <a:srgbClr val="FFFFFF"/>
                </a:solidFill>
              </a:rPr>
              <a:t>B</a:t>
            </a:r>
            <a:endParaRPr lang="zh-CN" altLang="en-US" sz="2400" b="1">
              <a:solidFill>
                <a:srgbClr val="FFFFFF"/>
              </a:solidFill>
            </a:endParaRPr>
          </a:p>
        </p:txBody>
      </p:sp>
      <mc:AlternateContent xmlns:mc="http://schemas.openxmlformats.org/markup-compatibility/2006" xmlns:a14="http://schemas.microsoft.com/office/drawing/2010/main">
        <mc:Choice Requires="a14">
          <p:sp>
            <p:nvSpPr>
              <p:cNvPr id="21" name="MH_Text_2"/>
              <p:cNvSpPr/>
              <p:nvPr>
                <p:custDataLst>
                  <p:tags r:id="rId13"/>
                </p:custDataLst>
              </p:nvPr>
            </p:nvSpPr>
            <p:spPr>
              <a:xfrm>
                <a:off x="5863695" y="4108972"/>
                <a:ext cx="5926667" cy="1957389"/>
              </a:xfrm>
              <a:prstGeom prst="rect">
                <a:avLst/>
              </a:prstGeom>
            </p:spPr>
            <p:txBody>
              <a:bodyPr>
                <a:noAutofit/>
              </a:bodyPr>
              <a:lstStyle/>
              <a:p>
                <a:pPr marL="685800" lvl="1" indent="-342900">
                  <a:lnSpc>
                    <a:spcPct val="170000"/>
                  </a:lnSpc>
                  <a:buFont typeface="+mj-lt"/>
                  <a:buAutoNum type="alphaLcPeriod"/>
                </a:pPr>
                <a14:m>
                  <m:oMath xmlns:m="http://schemas.openxmlformats.org/officeDocument/2006/math">
                    <m:f>
                      <m:fPr>
                        <m:type m:val="lin"/>
                        <m:ctrlPr>
                          <a:rPr lang="zh-CN" altLang="zh-CN" i="1">
                            <a:latin typeface="Cambria Math" panose="02040503050406030204" pitchFamily="18" charset="0"/>
                          </a:rPr>
                        </m:ctrlPr>
                      </m:fPr>
                      <m:num>
                        <m:r>
                          <a:rPr lang="zh-CN" altLang="zh-CN">
                            <a:latin typeface="Cambria Math" panose="02040503050406030204" pitchFamily="18" charset="0"/>
                          </a:rPr>
                          <m:t>网络总吞吐量</m:t>
                        </m:r>
                      </m:num>
                      <m:den>
                        <m:r>
                          <a:rPr lang="zh-CN" altLang="zh-CN">
                            <a:latin typeface="Cambria Math" panose="02040503050406030204" pitchFamily="18" charset="0"/>
                          </a:rPr>
                          <m:t>小区平均吞吐量</m:t>
                        </m:r>
                      </m:den>
                    </m:f>
                    <m:r>
                      <a:rPr lang="en-US" altLang="zh-CN">
                        <a:latin typeface="Cambria Math" panose="02040503050406030204" pitchFamily="18" charset="0"/>
                      </a:rPr>
                      <m:t>=</m:t>
                    </m:r>
                    <m:r>
                      <a:rPr lang="zh-CN" altLang="zh-CN">
                        <a:latin typeface="Cambria Math" panose="02040503050406030204" pitchFamily="18" charset="0"/>
                      </a:rPr>
                      <m:t>需要的小区数量</m:t>
                    </m:r>
                  </m:oMath>
                </a14:m>
                <a:r>
                  <a:rPr lang="zh-CN" altLang="zh-CN" dirty="0">
                    <a:latin typeface="微软雅黑" panose="020B0503020204020204" charset="-122"/>
                  </a:rPr>
                  <a:t>；</a:t>
                </a:r>
              </a:p>
              <a:p>
                <a:pPr marL="685800" lvl="1" indent="-342900">
                  <a:lnSpc>
                    <a:spcPct val="170000"/>
                  </a:lnSpc>
                  <a:buFont typeface="+mj-lt"/>
                  <a:buAutoNum type="alphaLcPeriod"/>
                </a:pPr>
                <a:r>
                  <a:rPr lang="zh-CN" altLang="zh-CN" dirty="0">
                    <a:latin typeface="微软雅黑" panose="020B0503020204020204" charset="-122"/>
                  </a:rPr>
                  <a:t>结合基站的配置，如</a:t>
                </a:r>
                <a:r>
                  <a:rPr lang="en-US" altLang="zh-CN" dirty="0">
                    <a:latin typeface="微软雅黑" panose="020B0503020204020204" charset="-122"/>
                  </a:rPr>
                  <a:t>S111</a:t>
                </a:r>
                <a:r>
                  <a:rPr lang="zh-CN" altLang="zh-CN" dirty="0">
                    <a:latin typeface="微软雅黑" panose="020B0503020204020204" charset="-122"/>
                  </a:rPr>
                  <a:t>（基站数量</a:t>
                </a:r>
                <a:r>
                  <a:rPr lang="en-US" altLang="zh-CN" dirty="0">
                    <a:latin typeface="微软雅黑" panose="020B0503020204020204" charset="-122"/>
                  </a:rPr>
                  <a:t>=</a:t>
                </a:r>
                <a:r>
                  <a:rPr lang="zh-CN" altLang="zh-CN" dirty="0">
                    <a:latin typeface="微软雅黑" panose="020B0503020204020204" charset="-122"/>
                  </a:rPr>
                  <a:t>小区数量</a:t>
                </a:r>
                <a:r>
                  <a:rPr lang="en-US" altLang="zh-CN" dirty="0">
                    <a:latin typeface="微软雅黑" panose="020B0503020204020204" charset="-122"/>
                  </a:rPr>
                  <a:t>/3</a:t>
                </a:r>
                <a:r>
                  <a:rPr lang="zh-CN" altLang="zh-CN" dirty="0">
                    <a:latin typeface="微软雅黑" panose="020B0503020204020204" charset="-122"/>
                  </a:rPr>
                  <a:t>）、</a:t>
                </a:r>
                <a:r>
                  <a:rPr lang="en-US" altLang="zh-CN" dirty="0">
                    <a:latin typeface="微软雅黑" panose="020B0503020204020204" charset="-122"/>
                  </a:rPr>
                  <a:t>O1</a:t>
                </a:r>
                <a:r>
                  <a:rPr lang="zh-CN" altLang="zh-CN" dirty="0">
                    <a:latin typeface="微软雅黑" panose="020B0503020204020204" charset="-122"/>
                  </a:rPr>
                  <a:t>（基站数量</a:t>
                </a:r>
                <a:r>
                  <a:rPr lang="en-US" altLang="zh-CN" dirty="0">
                    <a:latin typeface="微软雅黑" panose="020B0503020204020204" charset="-122"/>
                  </a:rPr>
                  <a:t>=</a:t>
                </a:r>
                <a:r>
                  <a:rPr lang="zh-CN" altLang="zh-CN" dirty="0">
                    <a:latin typeface="微软雅黑" panose="020B0503020204020204" charset="-122"/>
                  </a:rPr>
                  <a:t>小区数量）等，输出需要的基站数量。</a:t>
                </a:r>
              </a:p>
            </p:txBody>
          </p:sp>
        </mc:Choice>
        <mc:Fallback xmlns="">
          <p:sp>
            <p:nvSpPr>
              <p:cNvPr id="21" name="MH_Text_2"/>
              <p:cNvSpPr>
                <a:spLocks noRot="1" noChangeAspect="1" noMove="1" noResize="1" noEditPoints="1" noAdjustHandles="1" noChangeArrowheads="1" noChangeShapeType="1" noTextEdit="1"/>
              </p:cNvSpPr>
              <p:nvPr>
                <p:custDataLst>
                  <p:tags r:id="rId16"/>
                </p:custDataLst>
              </p:nvPr>
            </p:nvSpPr>
            <p:spPr>
              <a:xfrm>
                <a:off x="5863695" y="4108972"/>
                <a:ext cx="5926667" cy="1957389"/>
              </a:xfrm>
              <a:prstGeom prst="rect">
                <a:avLst/>
              </a:prstGeom>
              <a:blipFill rotWithShape="1">
                <a:blip r:embed="rId17"/>
                <a:stretch>
                  <a:fillRect l="-2" t="-27" r="-1366" b="11"/>
                </a:stretch>
              </a:blipFill>
            </p:spPr>
            <p:txBody>
              <a:bodyPr/>
              <a:lstStyle/>
              <a:p>
                <a:r>
                  <a:rPr lang="zh-CN" altLang="en-US">
                    <a:noFill/>
                  </a:rPr>
                  <a:t> </a:t>
                </a:r>
              </a:p>
            </p:txBody>
          </p:sp>
        </mc:Fallback>
      </mc:AlternateContent>
      <p:sp>
        <p:nvSpPr>
          <p:cNvPr id="22" name="MH_SubTitle_2"/>
          <p:cNvSpPr/>
          <p:nvPr>
            <p:custDataLst>
              <p:tags r:id="rId14"/>
            </p:custDataLst>
          </p:nvPr>
        </p:nvSpPr>
        <p:spPr>
          <a:xfrm>
            <a:off x="7184496" y="3197486"/>
            <a:ext cx="3505200" cy="536575"/>
          </a:xfrm>
          <a:prstGeom prst="rect">
            <a:avLst/>
          </a:prstGeom>
        </p:spPr>
        <p:txBody>
          <a:bodyPr anchor="b">
            <a:normAutofit/>
          </a:bodyPr>
          <a:lstStyle/>
          <a:p>
            <a:pPr>
              <a:defRPr/>
            </a:pPr>
            <a:r>
              <a:rPr lang="zh-CN" altLang="en-US" sz="2400" b="1" kern="0" dirty="0">
                <a:solidFill>
                  <a:schemeClr val="accent2"/>
                </a:solidFill>
                <a:cs typeface="宋体" panose="02010600030101010101" pitchFamily="2" charset="-122"/>
              </a:rPr>
              <a:t>输出需要的基站数量</a:t>
            </a:r>
          </a:p>
        </p:txBody>
      </p:sp>
      <p:sp>
        <p:nvSpPr>
          <p:cNvPr id="2" name="矩形 1"/>
          <p:cNvSpPr/>
          <p:nvPr/>
        </p:nvSpPr>
        <p:spPr>
          <a:xfrm>
            <a:off x="4149725" y="1529788"/>
            <a:ext cx="6539971" cy="923330"/>
          </a:xfrm>
          <a:prstGeom prst="rect">
            <a:avLst/>
          </a:prstGeom>
        </p:spPr>
        <p:txBody>
          <a:bodyPr wrap="square">
            <a:spAutoFit/>
          </a:bodyPr>
          <a:lstStyle/>
          <a:p>
            <a:pPr>
              <a:lnSpc>
                <a:spcPct val="150000"/>
              </a:lnSpc>
              <a:spcAft>
                <a:spcPts val="0"/>
              </a:spcAft>
            </a:pPr>
            <a:r>
              <a:rPr lang="zh-CN" altLang="zh-CN" dirty="0">
                <a:latin typeface="微软雅黑" panose="020B0503020204020204" charset="-122"/>
              </a:rPr>
              <a:t>容量估算的最终目的是分析网络中的话务需求，确定需要的小区数量，根据基站的配置，从而得出基于容量要求的基站数量。</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网络吞吐量分析</a:t>
            </a:r>
          </a:p>
        </p:txBody>
      </p:sp>
      <mc:AlternateContent xmlns:mc="http://schemas.openxmlformats.org/markup-compatibility/2006" xmlns:a14="http://schemas.microsoft.com/office/drawing/2010/main">
        <mc:Choice Requires="a14">
          <p:sp>
            <p:nvSpPr>
              <p:cNvPr id="23" name="TextBox 13"/>
              <p:cNvSpPr txBox="1">
                <a:spLocks noChangeArrowheads="1"/>
              </p:cNvSpPr>
              <p:nvPr/>
            </p:nvSpPr>
            <p:spPr bwMode="auto">
              <a:xfrm>
                <a:off x="2565399" y="2924090"/>
                <a:ext cx="8265530" cy="232756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600"/>
                  </a:spcBef>
                  <a:spcAft>
                    <a:spcPts val="600"/>
                  </a:spcAft>
                </a:pPr>
                <a:r>
                  <a:rPr lang="zh-CN" altLang="zh-CN" sz="2000" dirty="0">
                    <a:latin typeface="微软雅黑" panose="020B0503020204020204" charset="-122"/>
                    <a:ea typeface="微软雅黑" panose="020B0503020204020204" charset="-122"/>
                  </a:rPr>
                  <a:t>容量估算的关键是进行</a:t>
                </a:r>
                <a:r>
                  <a:rPr lang="zh-CN" altLang="zh-CN" sz="2000" dirty="0">
                    <a:solidFill>
                      <a:srgbClr val="FF0000"/>
                    </a:solidFill>
                    <a:latin typeface="微软雅黑" panose="020B0503020204020204" charset="-122"/>
                    <a:ea typeface="微软雅黑" panose="020B0503020204020204" charset="-122"/>
                  </a:rPr>
                  <a:t>网络总吞吐量</a:t>
                </a:r>
                <a:r>
                  <a:rPr lang="zh-CN" altLang="zh-CN" sz="2000" dirty="0">
                    <a:latin typeface="微软雅黑" panose="020B0503020204020204" charset="-122"/>
                    <a:ea typeface="微软雅黑" panose="020B0503020204020204" charset="-122"/>
                  </a:rPr>
                  <a:t>的分析。</a:t>
                </a:r>
                <a:endParaRPr lang="en-US" altLang="zh-CN" sz="2000" dirty="0">
                  <a:latin typeface="微软雅黑" panose="020B0503020204020204" charset="-122"/>
                  <a:ea typeface="微软雅黑" panose="020B0503020204020204" charset="-122"/>
                </a:endParaRPr>
              </a:p>
              <a:p>
                <a:pPr eaLnBrk="1" hangingPunct="1">
                  <a:lnSpc>
                    <a:spcPct val="150000"/>
                  </a:lnSpc>
                  <a:spcBef>
                    <a:spcPts val="600"/>
                  </a:spcBef>
                  <a:spcAft>
                    <a:spcPts val="600"/>
                  </a:spcAft>
                </a:pPr>
                <a:r>
                  <a:rPr lang="zh-CN" altLang="zh-CN" sz="2000" dirty="0">
                    <a:latin typeface="微软雅黑" panose="020B0503020204020204" charset="-122"/>
                    <a:ea typeface="微软雅黑" panose="020B0503020204020204" charset="-122"/>
                  </a:rPr>
                  <a:t>估算公式：</a:t>
                </a:r>
                <a:endParaRPr lang="en-US" altLang="zh-CN" sz="2000" dirty="0">
                  <a:latin typeface="微软雅黑" panose="020B0503020204020204" charset="-122"/>
                  <a:ea typeface="微软雅黑" panose="020B0503020204020204" charset="-122"/>
                </a:endParaRPr>
              </a:p>
              <a:p>
                <a:pPr eaLnBrk="1" hangingPunct="1">
                  <a:lnSpc>
                    <a:spcPct val="150000"/>
                  </a:lnSpc>
                  <a:spcBef>
                    <a:spcPts val="600"/>
                  </a:spcBef>
                  <a:spcAft>
                    <a:spcPts val="600"/>
                  </a:spcAft>
                </a:pPr>
                <a14:m>
                  <m:oMathPara xmlns:m="http://schemas.openxmlformats.org/officeDocument/2006/math">
                    <m:oMathParaPr>
                      <m:jc m:val="center"/>
                    </m:oMathParaPr>
                    <m:oMath xmlns:m="http://schemas.openxmlformats.org/officeDocument/2006/math">
                      <m:r>
                        <a:rPr lang="zh-CN" altLang="zh-CN" sz="2000" smtClean="0">
                          <a:solidFill>
                            <a:srgbClr val="FF0000"/>
                          </a:solidFill>
                          <a:latin typeface="Cambria Math" panose="02040503050406030204" pitchFamily="18" charset="0"/>
                          <a:ea typeface="微软雅黑" panose="020B0503020204020204" charset="-122"/>
                        </a:rPr>
                        <m:t>单用户吞吐量</m:t>
                      </m:r>
                      <m:r>
                        <a:rPr lang="zh-CN" altLang="en-US" sz="2000">
                          <a:solidFill>
                            <a:srgbClr val="FF0000"/>
                          </a:solidFill>
                          <a:latin typeface="Cambria Math" panose="02040503050406030204" pitchFamily="18" charset="0"/>
                          <a:ea typeface="微软雅黑" panose="020B0503020204020204" charset="-122"/>
                        </a:rPr>
                        <m:t>∗</m:t>
                      </m:r>
                      <m:r>
                        <a:rPr lang="zh-CN" altLang="zh-CN" sz="2000">
                          <a:solidFill>
                            <a:srgbClr val="FF0000"/>
                          </a:solidFill>
                          <a:latin typeface="Cambria Math" panose="02040503050406030204" pitchFamily="18" charset="0"/>
                          <a:ea typeface="微软雅黑" panose="020B0503020204020204" charset="-122"/>
                        </a:rPr>
                        <m:t>忙时</m:t>
                      </m:r>
                      <m:d>
                        <m:dPr>
                          <m:begChr m:val="（"/>
                          <m:endChr m:val="）"/>
                          <m:ctrlPr>
                            <a:rPr lang="zh-CN" altLang="zh-CN" sz="2000" i="1">
                              <a:solidFill>
                                <a:srgbClr val="FF0000"/>
                              </a:solidFill>
                              <a:latin typeface="Cambria Math" panose="02040503050406030204" pitchFamily="18" charset="0"/>
                              <a:ea typeface="微软雅黑" panose="020B0503020204020204" charset="-122"/>
                            </a:rPr>
                          </m:ctrlPr>
                        </m:dPr>
                        <m:e>
                          <m:r>
                            <m:rPr>
                              <m:sty m:val="p"/>
                            </m:rPr>
                            <a:rPr lang="en-US" altLang="zh-CN" sz="2000">
                              <a:solidFill>
                                <a:srgbClr val="FF0000"/>
                              </a:solidFill>
                              <a:latin typeface="Cambria Math" panose="02040503050406030204" pitchFamily="18" charset="0"/>
                              <a:ea typeface="微软雅黑" panose="020B0503020204020204" charset="-122"/>
                            </a:rPr>
                            <m:t>BH</m:t>
                          </m:r>
                        </m:e>
                      </m:d>
                      <m:r>
                        <a:rPr lang="zh-CN" altLang="zh-CN" sz="2000">
                          <a:solidFill>
                            <a:srgbClr val="FF0000"/>
                          </a:solidFill>
                          <a:latin typeface="Cambria Math" panose="02040503050406030204" pitchFamily="18" charset="0"/>
                          <a:ea typeface="微软雅黑" panose="020B0503020204020204" charset="-122"/>
                        </a:rPr>
                        <m:t>用户数</m:t>
                      </m:r>
                      <m:r>
                        <a:rPr lang="en-US" altLang="zh-CN" sz="2000">
                          <a:solidFill>
                            <a:srgbClr val="FF0000"/>
                          </a:solidFill>
                          <a:latin typeface="Cambria Math" panose="02040503050406030204" pitchFamily="18" charset="0"/>
                          <a:ea typeface="微软雅黑" panose="020B0503020204020204" charset="-122"/>
                        </a:rPr>
                        <m:t>=</m:t>
                      </m:r>
                      <m:r>
                        <a:rPr lang="zh-CN" altLang="zh-CN" sz="2000">
                          <a:solidFill>
                            <a:srgbClr val="FF0000"/>
                          </a:solidFill>
                          <a:latin typeface="Cambria Math" panose="02040503050406030204" pitchFamily="18" charset="0"/>
                          <a:ea typeface="微软雅黑" panose="020B0503020204020204" charset="-122"/>
                        </a:rPr>
                        <m:t>网络吞吐量</m:t>
                      </m:r>
                    </m:oMath>
                  </m:oMathPara>
                </a14:m>
                <a:endParaRPr lang="en-US" altLang="zh-CN" sz="2000" dirty="0">
                  <a:solidFill>
                    <a:srgbClr val="FF0000"/>
                  </a:solidFill>
                  <a:latin typeface="微软雅黑" panose="020B0503020204020204" charset="-122"/>
                  <a:ea typeface="微软雅黑" panose="020B0503020204020204" charset="-122"/>
                </a:endParaRPr>
              </a:p>
              <a:p>
                <a:pPr eaLnBrk="1" hangingPunct="1">
                  <a:lnSpc>
                    <a:spcPct val="150000"/>
                  </a:lnSpc>
                  <a:spcBef>
                    <a:spcPts val="600"/>
                  </a:spcBef>
                  <a:spcAft>
                    <a:spcPts val="600"/>
                  </a:spcAft>
                </a:pPr>
                <a:r>
                  <a:rPr lang="zh-CN" altLang="zh-CN" sz="2000" dirty="0">
                    <a:latin typeface="微软雅黑" panose="020B0503020204020204" charset="-122"/>
                    <a:ea typeface="微软雅黑" panose="020B0503020204020204" charset="-122"/>
                  </a:rPr>
                  <a:t>其中，单用户吞吐量可由</a:t>
                </a:r>
                <a:r>
                  <a:rPr lang="zh-CN" altLang="zh-CN" sz="2000" dirty="0">
                    <a:solidFill>
                      <a:srgbClr val="FF0000"/>
                    </a:solidFill>
                    <a:latin typeface="微软雅黑" panose="020B0503020204020204" charset="-122"/>
                    <a:ea typeface="微软雅黑" panose="020B0503020204020204" charset="-122"/>
                  </a:rPr>
                  <a:t>业务模型、话务模型</a:t>
                </a:r>
                <a:r>
                  <a:rPr lang="zh-CN" altLang="zh-CN" sz="2000" dirty="0">
                    <a:latin typeface="微软雅黑" panose="020B0503020204020204" charset="-122"/>
                    <a:ea typeface="微软雅黑" panose="020B0503020204020204" charset="-122"/>
                  </a:rPr>
                  <a:t>计算得出。</a:t>
                </a:r>
                <a:endParaRPr lang="en-US" altLang="zh-CN" sz="2000" dirty="0">
                  <a:latin typeface="微软雅黑" panose="020B0503020204020204" charset="-122"/>
                  <a:ea typeface="微软雅黑" panose="020B0503020204020204" charset="-122"/>
                </a:endParaRPr>
              </a:p>
            </p:txBody>
          </p:sp>
        </mc:Choice>
        <mc:Fallback xmlns="">
          <p:sp>
            <p:nvSpPr>
              <p:cNvPr id="23" name="TextBox 13"/>
              <p:cNvSpPr txBox="1">
                <a:spLocks noRot="1" noChangeAspect="1" noMove="1" noResize="1" noEditPoints="1" noAdjustHandles="1" noChangeArrowheads="1" noChangeShapeType="1" noTextEdit="1"/>
              </p:cNvSpPr>
              <p:nvPr/>
            </p:nvSpPr>
            <p:spPr bwMode="auto">
              <a:xfrm>
                <a:off x="2565399" y="2924090"/>
                <a:ext cx="8265530" cy="2327560"/>
              </a:xfrm>
              <a:prstGeom prst="rect">
                <a:avLst/>
              </a:prstGeom>
              <a:blipFill rotWithShape="1">
                <a:blip r:embed="rId2"/>
                <a:stretch>
                  <a:fillRect l="-8" t="-24" r="4" b="-40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2817" y="-439600"/>
            <a:ext cx="10515600" cy="535305"/>
          </a:xfrm>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576403" y="2405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302078" y="-8980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576403" y="110509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网络吞吐量分析</a:t>
            </a:r>
          </a:p>
        </p:txBody>
      </p:sp>
      <p:graphicFrame>
        <p:nvGraphicFramePr>
          <p:cNvPr id="2" name="表格 1"/>
          <p:cNvGraphicFramePr>
            <a:graphicFrameLocks noGrp="1"/>
          </p:cNvGraphicFramePr>
          <p:nvPr>
            <p:extLst>
              <p:ext uri="{D42A27DB-BD31-4B8C-83A1-F6EECF244321}">
                <p14:modId xmlns:p14="http://schemas.microsoft.com/office/powerpoint/2010/main" val="4164956596"/>
              </p:ext>
            </p:extLst>
          </p:nvPr>
        </p:nvGraphicFramePr>
        <p:xfrm>
          <a:off x="1550216" y="1927800"/>
          <a:ext cx="8940801" cy="3874502"/>
        </p:xfrm>
        <a:graphic>
          <a:graphicData uri="http://schemas.openxmlformats.org/drawingml/2006/table">
            <a:tbl>
              <a:tblPr>
                <a:tableStyleId>{5C22544A-7EE6-4342-B048-85BDC9FD1C3A}</a:tableStyleId>
              </a:tblPr>
              <a:tblGrid>
                <a:gridCol w="1598686">
                  <a:extLst>
                    <a:ext uri="{9D8B030D-6E8A-4147-A177-3AD203B41FA5}">
                      <a16:colId xmlns:a16="http://schemas.microsoft.com/office/drawing/2014/main" val="20000"/>
                    </a:ext>
                  </a:extLst>
                </a:gridCol>
                <a:gridCol w="1125002">
                  <a:extLst>
                    <a:ext uri="{9D8B030D-6E8A-4147-A177-3AD203B41FA5}">
                      <a16:colId xmlns:a16="http://schemas.microsoft.com/office/drawing/2014/main" val="20001"/>
                    </a:ext>
                  </a:extLst>
                </a:gridCol>
                <a:gridCol w="1057332">
                  <a:extLst>
                    <a:ext uri="{9D8B030D-6E8A-4147-A177-3AD203B41FA5}">
                      <a16:colId xmlns:a16="http://schemas.microsoft.com/office/drawing/2014/main" val="20002"/>
                    </a:ext>
                  </a:extLst>
                </a:gridCol>
                <a:gridCol w="814513">
                  <a:extLst>
                    <a:ext uri="{9D8B030D-6E8A-4147-A177-3AD203B41FA5}">
                      <a16:colId xmlns:a16="http://schemas.microsoft.com/office/drawing/2014/main" val="20003"/>
                    </a:ext>
                  </a:extLst>
                </a:gridCol>
                <a:gridCol w="699587">
                  <a:extLst>
                    <a:ext uri="{9D8B030D-6E8A-4147-A177-3AD203B41FA5}">
                      <a16:colId xmlns:a16="http://schemas.microsoft.com/office/drawing/2014/main" val="20004"/>
                    </a:ext>
                  </a:extLst>
                </a:gridCol>
                <a:gridCol w="940369">
                  <a:extLst>
                    <a:ext uri="{9D8B030D-6E8A-4147-A177-3AD203B41FA5}">
                      <a16:colId xmlns:a16="http://schemas.microsoft.com/office/drawing/2014/main" val="20005"/>
                    </a:ext>
                  </a:extLst>
                </a:gridCol>
                <a:gridCol w="1106626">
                  <a:extLst>
                    <a:ext uri="{9D8B030D-6E8A-4147-A177-3AD203B41FA5}">
                      <a16:colId xmlns:a16="http://schemas.microsoft.com/office/drawing/2014/main" val="20006"/>
                    </a:ext>
                  </a:extLst>
                </a:gridCol>
                <a:gridCol w="710527">
                  <a:extLst>
                    <a:ext uri="{9D8B030D-6E8A-4147-A177-3AD203B41FA5}">
                      <a16:colId xmlns:a16="http://schemas.microsoft.com/office/drawing/2014/main" val="20007"/>
                    </a:ext>
                  </a:extLst>
                </a:gridCol>
                <a:gridCol w="888159">
                  <a:extLst>
                    <a:ext uri="{9D8B030D-6E8A-4147-A177-3AD203B41FA5}">
                      <a16:colId xmlns:a16="http://schemas.microsoft.com/office/drawing/2014/main" val="20008"/>
                    </a:ext>
                  </a:extLst>
                </a:gridCol>
              </a:tblGrid>
              <a:tr h="344124">
                <a:tc rowSpan="4">
                  <a:txBody>
                    <a:bodyPr/>
                    <a:lstStyle/>
                    <a:p>
                      <a:pPr algn="ctr" rtl="0" fontAlgn="ctr"/>
                      <a:r>
                        <a:rPr lang="zh-CN" altLang="en-US" sz="1800" u="none" strike="noStrike" dirty="0">
                          <a:effectLst/>
                        </a:rPr>
                        <a:t>参数</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gridSpan="4">
                  <a:txBody>
                    <a:bodyPr/>
                    <a:lstStyle/>
                    <a:p>
                      <a:pPr algn="ctr" rtl="0" fontAlgn="ctr"/>
                      <a:r>
                        <a:rPr lang="zh-CN" altLang="en-US" sz="1800" u="none" strike="noStrike" dirty="0">
                          <a:effectLst/>
                        </a:rPr>
                        <a:t>上行</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algn="ctr" rtl="0" fontAlgn="ctr"/>
                      <a:r>
                        <a:rPr lang="zh-CN" altLang="en-US" sz="1800" u="none" strike="noStrike">
                          <a:effectLst/>
                        </a:rPr>
                        <a:t>下行</a:t>
                      </a:r>
                      <a:endParaRPr lang="zh-CN" altLang="en-US" sz="1800" b="1"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79651">
                <a:tc vMerge="1">
                  <a:txBody>
                    <a:bodyPr/>
                    <a:lstStyle/>
                    <a:p>
                      <a:endParaRPr lang="zh-CN"/>
                    </a:p>
                  </a:txBody>
                  <a:tcPr/>
                </a:tc>
                <a:tc rowSpan="3">
                  <a:txBody>
                    <a:bodyPr/>
                    <a:lstStyle/>
                    <a:p>
                      <a:pPr algn="ctr" rtl="0" fontAlgn="ctr"/>
                      <a:r>
                        <a:rPr lang="zh-CN" altLang="en-US" sz="1800" u="none" strike="noStrike" dirty="0">
                          <a:effectLst/>
                        </a:rPr>
                        <a:t>承载速率（</a:t>
                      </a:r>
                      <a:r>
                        <a:rPr lang="en-US" altLang="zh-CN" sz="1800" u="none" strike="noStrike" dirty="0">
                          <a:effectLst/>
                        </a:rPr>
                        <a:t>Kbps</a:t>
                      </a:r>
                      <a:r>
                        <a:rPr lang="zh-CN" altLang="en-US" sz="1800" u="none" strike="noStrike" dirty="0">
                          <a:effectLst/>
                        </a:rPr>
                        <a:t>）</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rowSpan="3">
                  <a:txBody>
                    <a:bodyPr/>
                    <a:lstStyle/>
                    <a:p>
                      <a:pPr algn="ctr" rtl="0" fontAlgn="ctr"/>
                      <a:r>
                        <a:rPr lang="en-US" altLang="zh-CN" sz="1800" u="none" strike="noStrike" dirty="0">
                          <a:effectLst/>
                        </a:rPr>
                        <a:t>PPP</a:t>
                      </a:r>
                      <a:r>
                        <a:rPr lang="zh-CN" altLang="en-US" sz="1800" u="none" strike="noStrike" dirty="0">
                          <a:effectLst/>
                        </a:rPr>
                        <a:t>连接时长（</a:t>
                      </a:r>
                      <a:r>
                        <a:rPr lang="en-US" altLang="zh-CN" sz="1800" u="none" strike="noStrike" dirty="0">
                          <a:effectLst/>
                        </a:rPr>
                        <a:t>s</a:t>
                      </a:r>
                      <a:r>
                        <a:rPr lang="zh-CN" altLang="en-US" sz="1800" u="none" strike="noStrike" dirty="0">
                          <a:effectLst/>
                        </a:rPr>
                        <a:t>）</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rowSpan="2">
                  <a:txBody>
                    <a:bodyPr/>
                    <a:lstStyle/>
                    <a:p>
                      <a:pPr algn="ctr" rtl="0" fontAlgn="ctr"/>
                      <a:r>
                        <a:rPr lang="en-US" sz="1800" u="none" strike="noStrike" dirty="0">
                          <a:effectLst/>
                        </a:rPr>
                        <a:t>PPP</a:t>
                      </a:r>
                      <a:endParaRPr 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rowSpan="3">
                  <a:txBody>
                    <a:bodyPr/>
                    <a:lstStyle/>
                    <a:p>
                      <a:pPr algn="ctr" rtl="0" fontAlgn="ctr"/>
                      <a:r>
                        <a:rPr lang="en-US" sz="1800" u="none" strike="noStrike" dirty="0">
                          <a:effectLst/>
                        </a:rPr>
                        <a:t>BLER</a:t>
                      </a:r>
                      <a:endParaRPr 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rowSpan="3">
                  <a:txBody>
                    <a:bodyPr/>
                    <a:lstStyle/>
                    <a:p>
                      <a:pPr algn="ctr" rtl="0" fontAlgn="ctr"/>
                      <a:r>
                        <a:rPr lang="zh-CN" altLang="en-US" sz="1800" u="none" strike="noStrike" dirty="0">
                          <a:effectLst/>
                        </a:rPr>
                        <a:t>承载速率（</a:t>
                      </a:r>
                      <a:r>
                        <a:rPr lang="en-US" altLang="zh-CN" sz="1800" u="none" strike="noStrike" dirty="0">
                          <a:effectLst/>
                        </a:rPr>
                        <a:t>Kbps</a:t>
                      </a:r>
                      <a:r>
                        <a:rPr lang="zh-CN" altLang="en-US" sz="1800" u="none" strike="noStrike" dirty="0">
                          <a:effectLst/>
                        </a:rPr>
                        <a:t>）</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rowSpan="3">
                  <a:txBody>
                    <a:bodyPr/>
                    <a:lstStyle/>
                    <a:p>
                      <a:pPr algn="ctr" rtl="0" fontAlgn="ctr"/>
                      <a:r>
                        <a:rPr lang="en-US" altLang="zh-CN" sz="1800" u="none" strike="noStrike">
                          <a:effectLst/>
                        </a:rPr>
                        <a:t>PPP</a:t>
                      </a:r>
                      <a:r>
                        <a:rPr lang="zh-CN" altLang="en-US" sz="1800" u="none" strike="noStrike">
                          <a:effectLst/>
                        </a:rPr>
                        <a:t>连接时长（</a:t>
                      </a:r>
                      <a:r>
                        <a:rPr lang="en-US" altLang="zh-CN" sz="1800" u="none" strike="noStrike">
                          <a:effectLst/>
                        </a:rPr>
                        <a:t>s</a:t>
                      </a:r>
                      <a:r>
                        <a:rPr lang="zh-CN" altLang="en-US" sz="1800" u="none" strike="noStrike">
                          <a:effectLst/>
                        </a:rPr>
                        <a:t>）</a:t>
                      </a:r>
                      <a:endParaRPr lang="zh-CN" altLang="en-US" sz="1800" b="1"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sz="1800" u="none" strike="noStrike">
                          <a:effectLst/>
                        </a:rPr>
                        <a:t>PPP</a:t>
                      </a:r>
                      <a:endParaRPr lang="en-US" sz="1800" b="1"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rowSpan="3">
                  <a:txBody>
                    <a:bodyPr/>
                    <a:lstStyle/>
                    <a:p>
                      <a:pPr algn="ctr" rtl="0" fontAlgn="ctr"/>
                      <a:r>
                        <a:rPr lang="en-US" sz="1800" u="none" strike="noStrike">
                          <a:effectLst/>
                        </a:rPr>
                        <a:t>BLER</a:t>
                      </a:r>
                      <a:endParaRPr lang="en-US" sz="1800" b="1"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1"/>
                  </a:ext>
                </a:extLst>
              </a:tr>
              <a:tr h="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marL="9525" marR="9525" marT="9525" marB="0" anchor="ctr">
                    <a:solidFill>
                      <a:schemeClr val="accent1">
                        <a:lumMod val="60000"/>
                        <a:lumOff val="40000"/>
                      </a:schemeClr>
                    </a:solidFill>
                  </a:tcPr>
                </a:tc>
                <a:tc vMerge="1">
                  <a:txBody>
                    <a:bodyPr/>
                    <a:lstStyle/>
                    <a:p>
                      <a:endParaRPr lang="zh-CN"/>
                    </a:p>
                  </a:txBody>
                  <a:tcPr/>
                </a:tc>
                <a:tc vMerge="1">
                  <a:txBody>
                    <a:bodyPr/>
                    <a:lstStyle/>
                    <a:p>
                      <a:endParaRPr lang="zh-CN"/>
                    </a:p>
                  </a:txBody>
                  <a:tcPr/>
                </a:tc>
                <a:tc vMerge="1">
                  <a:txBody>
                    <a:bodyPr/>
                    <a:lstStyle/>
                    <a:p>
                      <a:endParaRPr lang="zh-CN"/>
                    </a:p>
                  </a:txBody>
                  <a:tcPr/>
                </a:tc>
                <a:tc rowSpan="2">
                  <a:txBody>
                    <a:bodyPr/>
                    <a:lstStyle/>
                    <a:p>
                      <a:pPr algn="ctr" rtl="0" fontAlgn="ctr"/>
                      <a:r>
                        <a:rPr lang="zh-CN" altLang="en-US" sz="1800" u="none" strike="noStrike" dirty="0">
                          <a:effectLst/>
                        </a:rPr>
                        <a:t>占空比</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vMerge="1">
                  <a:txBody>
                    <a:bodyPr/>
                    <a:lstStyle/>
                    <a:p>
                      <a:endParaRPr lang="zh-CN"/>
                    </a:p>
                  </a:txBody>
                  <a:tcPr/>
                </a:tc>
                <a:extLst>
                  <a:ext uri="{0D108BD9-81ED-4DB2-BD59-A6C34878D82A}">
                    <a16:rowId xmlns:a16="http://schemas.microsoft.com/office/drawing/2014/main" val="10002"/>
                  </a:ext>
                </a:extLst>
              </a:tr>
              <a:tr h="373158">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rtl="0" fontAlgn="ctr"/>
                      <a:r>
                        <a:rPr lang="zh-CN" altLang="en-US" sz="1800" u="none" strike="noStrike" dirty="0">
                          <a:effectLst/>
                        </a:rPr>
                        <a:t>占空比</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3"/>
                  </a:ext>
                </a:extLst>
              </a:tr>
              <a:tr h="279651">
                <a:tc>
                  <a:txBody>
                    <a:bodyPr/>
                    <a:lstStyle/>
                    <a:p>
                      <a:pPr algn="ctr" rtl="0" fontAlgn="ctr"/>
                      <a:r>
                        <a:rPr lang="en-US" sz="1800" u="none" strike="noStrike" dirty="0">
                          <a:effectLst/>
                        </a:rPr>
                        <a:t>VoIP</a:t>
                      </a:r>
                      <a:endParaRPr 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dirty="0">
                          <a:effectLst/>
                        </a:rPr>
                        <a:t>26.9</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80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0.4</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26.9</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80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0.4</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4"/>
                  </a:ext>
                </a:extLst>
              </a:tr>
              <a:tr h="279651">
                <a:tc>
                  <a:txBody>
                    <a:bodyPr/>
                    <a:lstStyle/>
                    <a:p>
                      <a:pPr algn="ctr" rtl="0" fontAlgn="ctr"/>
                      <a:r>
                        <a:rPr lang="zh-CN" altLang="en-US" sz="1800" u="none" strike="noStrike">
                          <a:effectLst/>
                        </a:rPr>
                        <a:t>视频电话</a:t>
                      </a:r>
                      <a:endParaRPr lang="zh-CN" altLang="en-US" sz="18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dirty="0">
                          <a:effectLst/>
                        </a:rPr>
                        <a:t>62.53</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70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62.53</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70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5"/>
                  </a:ext>
                </a:extLst>
              </a:tr>
              <a:tr h="279651">
                <a:tc>
                  <a:txBody>
                    <a:bodyPr/>
                    <a:lstStyle/>
                    <a:p>
                      <a:pPr algn="ctr" rtl="0" fontAlgn="ctr"/>
                      <a:r>
                        <a:rPr lang="zh-CN" altLang="en-US" sz="1800" u="none" strike="noStrike">
                          <a:effectLst/>
                        </a:rPr>
                        <a:t>视频会议</a:t>
                      </a:r>
                      <a:endParaRPr lang="zh-CN" altLang="en-US" sz="18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dirty="0">
                          <a:effectLst/>
                        </a:rPr>
                        <a:t>62.53</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1800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62.53</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1800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6"/>
                  </a:ext>
                </a:extLst>
              </a:tr>
              <a:tr h="279651">
                <a:tc>
                  <a:txBody>
                    <a:bodyPr/>
                    <a:lstStyle/>
                    <a:p>
                      <a:pPr algn="ctr" rtl="0" fontAlgn="ctr"/>
                      <a:r>
                        <a:rPr lang="zh-CN" altLang="en-US" sz="1800" u="none" strike="noStrike">
                          <a:effectLst/>
                        </a:rPr>
                        <a:t>网络游戏</a:t>
                      </a:r>
                      <a:endParaRPr lang="zh-CN" altLang="en-US" sz="18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a:effectLst/>
                        </a:rPr>
                        <a:t>31.26</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1800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0.2</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125.06</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1800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0.4</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7"/>
                  </a:ext>
                </a:extLst>
              </a:tr>
              <a:tr h="279651">
                <a:tc>
                  <a:txBody>
                    <a:bodyPr/>
                    <a:lstStyle/>
                    <a:p>
                      <a:pPr algn="ctr" rtl="0" fontAlgn="ctr"/>
                      <a:r>
                        <a:rPr lang="zh-CN" altLang="en-US" sz="1800" u="none" strike="noStrike">
                          <a:effectLst/>
                        </a:rPr>
                        <a:t>流媒体</a:t>
                      </a:r>
                      <a:endParaRPr lang="zh-CN" altLang="en-US" sz="18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a:effectLst/>
                        </a:rPr>
                        <a:t>31.26</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3600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0.1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250.11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3600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8"/>
                  </a:ext>
                </a:extLst>
              </a:tr>
              <a:tr h="279651">
                <a:tc>
                  <a:txBody>
                    <a:bodyPr/>
                    <a:lstStyle/>
                    <a:p>
                      <a:pPr algn="ctr" rtl="0" fontAlgn="ctr"/>
                      <a:r>
                        <a:rPr lang="en-US" sz="1800" u="none" strike="noStrike" dirty="0">
                          <a:effectLst/>
                        </a:rPr>
                        <a:t>IMS</a:t>
                      </a:r>
                      <a:r>
                        <a:rPr lang="zh-CN" altLang="en-US" sz="1800" u="none" strike="noStrike" dirty="0">
                          <a:effectLst/>
                        </a:rPr>
                        <a:t>信令</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dirty="0">
                          <a:effectLst/>
                        </a:rPr>
                        <a:t>15.63</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7</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0.2</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15.63</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7</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0.2</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9"/>
                  </a:ext>
                </a:extLst>
              </a:tr>
              <a:tr h="279651">
                <a:tc>
                  <a:txBody>
                    <a:bodyPr/>
                    <a:lstStyle/>
                    <a:p>
                      <a:pPr algn="ctr" rtl="0" fontAlgn="ctr"/>
                      <a:r>
                        <a:rPr lang="zh-CN" altLang="en-US" sz="1800" u="none" strike="noStrike" dirty="0">
                          <a:effectLst/>
                        </a:rPr>
                        <a:t>网页浏览</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a:effectLst/>
                        </a:rPr>
                        <a:t>62.53</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1800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250.11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1800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0.1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10"/>
                  </a:ext>
                </a:extLst>
              </a:tr>
              <a:tr h="279651">
                <a:tc>
                  <a:txBody>
                    <a:bodyPr/>
                    <a:lstStyle/>
                    <a:p>
                      <a:pPr algn="ctr" rtl="0" fontAlgn="ctr"/>
                      <a:r>
                        <a:rPr lang="en-US" sz="1800" u="none" strike="noStrike" dirty="0">
                          <a:effectLst/>
                        </a:rPr>
                        <a:t>FTP</a:t>
                      </a:r>
                      <a:r>
                        <a:rPr lang="zh-CN" altLang="en-US" sz="1800" u="none" strike="noStrike" dirty="0">
                          <a:effectLst/>
                        </a:rPr>
                        <a:t>文件传输</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a:effectLst/>
                        </a:rPr>
                        <a:t>140.69</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600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750.34</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600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11"/>
                  </a:ext>
                </a:extLst>
              </a:tr>
              <a:tr h="279651">
                <a:tc>
                  <a:txBody>
                    <a:bodyPr/>
                    <a:lstStyle/>
                    <a:p>
                      <a:pPr algn="ctr" rtl="0" fontAlgn="ctr"/>
                      <a:r>
                        <a:rPr lang="en-US" sz="1800" u="none" strike="noStrike" dirty="0">
                          <a:effectLst/>
                        </a:rPr>
                        <a:t>Email</a:t>
                      </a:r>
                      <a:endParaRPr 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a:effectLst/>
                        </a:rPr>
                        <a:t>140.69</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50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750.34</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50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12"/>
                  </a:ext>
                </a:extLst>
              </a:tr>
              <a:tr h="279651">
                <a:tc>
                  <a:txBody>
                    <a:bodyPr/>
                    <a:lstStyle/>
                    <a:p>
                      <a:pPr algn="ctr" rtl="0" fontAlgn="ctr"/>
                      <a:r>
                        <a:rPr lang="en-US" sz="1800" u="none" strike="noStrike" dirty="0">
                          <a:effectLst/>
                        </a:rPr>
                        <a:t>P2P</a:t>
                      </a:r>
                      <a:r>
                        <a:rPr lang="zh-CN" altLang="en-US" sz="1800" u="none" strike="noStrike" dirty="0">
                          <a:effectLst/>
                        </a:rPr>
                        <a:t>文件传输</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600" u="none" strike="noStrike">
                          <a:effectLst/>
                        </a:rPr>
                        <a:t>250.11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1200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750.34</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1200</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13"/>
                  </a:ext>
                </a:extLst>
              </a:tr>
            </a:tbl>
          </a:graphicData>
        </a:graphic>
      </p:graphicFrame>
      <p:sp>
        <p:nvSpPr>
          <p:cNvPr id="4" name="矩形 3"/>
          <p:cNvSpPr/>
          <p:nvPr/>
        </p:nvSpPr>
        <p:spPr>
          <a:xfrm>
            <a:off x="3440188" y="274774"/>
            <a:ext cx="6985000" cy="923330"/>
          </a:xfrm>
          <a:prstGeom prst="rect">
            <a:avLst/>
          </a:prstGeom>
        </p:spPr>
        <p:txBody>
          <a:bodyPr wrap="square">
            <a:spAutoFit/>
          </a:bodyPr>
          <a:lstStyle/>
          <a:p>
            <a:pPr indent="304800">
              <a:lnSpc>
                <a:spcPct val="150000"/>
              </a:lnSpc>
              <a:spcAft>
                <a:spcPts val="0"/>
              </a:spcAft>
            </a:pPr>
            <a:r>
              <a:rPr lang="en-US" altLang="zh-CN" kern="100">
                <a:latin typeface="+mj-ea"/>
              </a:rPr>
              <a:t>1</a:t>
            </a:r>
            <a:r>
              <a:rPr lang="zh-CN" altLang="zh-CN" kern="100">
                <a:latin typeface="+mj-ea"/>
              </a:rPr>
              <a:t>）业务模型</a:t>
            </a:r>
            <a:endParaRPr lang="en-US" altLang="zh-CN" kern="100">
              <a:latin typeface="+mj-ea"/>
            </a:endParaRPr>
          </a:p>
          <a:p>
            <a:pPr indent="304800">
              <a:lnSpc>
                <a:spcPct val="150000"/>
              </a:lnSpc>
              <a:spcAft>
                <a:spcPts val="0"/>
              </a:spcAft>
            </a:pPr>
            <a:r>
              <a:rPr lang="zh-CN" altLang="zh-CN" kern="100">
                <a:solidFill>
                  <a:srgbClr val="FF0000"/>
                </a:solidFill>
                <a:latin typeface="+mj-ea"/>
              </a:rPr>
              <a:t>业务模型</a:t>
            </a:r>
            <a:r>
              <a:rPr lang="zh-CN" altLang="zh-CN" kern="100">
                <a:latin typeface="+mj-ea"/>
              </a:rPr>
              <a:t>是基于</a:t>
            </a:r>
            <a:r>
              <a:rPr lang="zh-CN" altLang="zh-CN" kern="100">
                <a:solidFill>
                  <a:srgbClr val="FF0000"/>
                </a:solidFill>
                <a:latin typeface="+mj-ea"/>
              </a:rPr>
              <a:t>用户行为</a:t>
            </a:r>
            <a:r>
              <a:rPr lang="zh-CN" altLang="zh-CN" kern="100">
                <a:latin typeface="+mj-ea"/>
              </a:rPr>
              <a:t>，分析每种业务类型的数据速率。</a:t>
            </a:r>
            <a:endParaRPr lang="zh-CN" altLang="zh-CN" kern="100" dirty="0">
              <a:latin typeface="+mj-ea"/>
            </a:endParaRPr>
          </a:p>
        </p:txBody>
      </p:sp>
      <p:sp>
        <p:nvSpPr>
          <p:cNvPr id="5" name="矩形 4"/>
          <p:cNvSpPr/>
          <p:nvPr/>
        </p:nvSpPr>
        <p:spPr>
          <a:xfrm>
            <a:off x="4711382" y="1533464"/>
            <a:ext cx="2165080" cy="369332"/>
          </a:xfrm>
          <a:prstGeom prst="rect">
            <a:avLst/>
          </a:prstGeom>
        </p:spPr>
        <p:txBody>
          <a:bodyPr wrap="none">
            <a:spAutoFit/>
          </a:bodyPr>
          <a:lstStyle/>
          <a:p>
            <a:r>
              <a:rPr lang="zh-CN" altLang="zh-CN" kern="100" dirty="0">
                <a:latin typeface="+mj-ea"/>
                <a:cs typeface="Times New Roman" panose="02020603050405020304" pitchFamily="18" charset="0"/>
              </a:rPr>
              <a:t>单用户</a:t>
            </a:r>
            <a:r>
              <a:rPr lang="en-US" altLang="zh-CN" kern="100" dirty="0">
                <a:latin typeface="+mj-ea"/>
              </a:rPr>
              <a:t>LTE</a:t>
            </a:r>
            <a:r>
              <a:rPr lang="zh-CN" altLang="zh-CN" kern="100" dirty="0">
                <a:latin typeface="+mj-ea"/>
                <a:cs typeface="Times New Roman" panose="02020603050405020304" pitchFamily="18" charset="0"/>
              </a:rPr>
              <a:t>业务模型</a:t>
            </a:r>
            <a:endParaRPr lang="zh-CN" altLang="en-US" sz="2400" dirty="0">
              <a:latin typeface="+mj-ea"/>
            </a:endParaRPr>
          </a:p>
        </p:txBody>
      </p:sp>
      <p:sp>
        <p:nvSpPr>
          <p:cNvPr id="7" name="文本框 6">
            <a:extLst>
              <a:ext uri="{FF2B5EF4-FFF2-40B4-BE49-F238E27FC236}">
                <a16:creationId xmlns:a16="http://schemas.microsoft.com/office/drawing/2014/main" id="{730D7EB8-18A1-257E-C134-90A97C97862A}"/>
              </a:ext>
            </a:extLst>
          </p:cNvPr>
          <p:cNvSpPr txBox="1"/>
          <p:nvPr/>
        </p:nvSpPr>
        <p:spPr>
          <a:xfrm>
            <a:off x="1362891" y="5935436"/>
            <a:ext cx="9315450" cy="923330"/>
          </a:xfrm>
          <a:prstGeom prst="rect">
            <a:avLst/>
          </a:prstGeom>
          <a:noFill/>
        </p:spPr>
        <p:txBody>
          <a:bodyPr wrap="square" rtlCol="0">
            <a:spAutoFit/>
          </a:bodyPr>
          <a:lstStyle/>
          <a:p>
            <a:r>
              <a:rPr lang="en-US" altLang="zh-CN" dirty="0"/>
              <a:t>PPP</a:t>
            </a:r>
            <a:r>
              <a:rPr lang="zh-CN" altLang="en-US" dirty="0"/>
              <a:t>连接时长：每个会话中</a:t>
            </a:r>
            <a:r>
              <a:rPr lang="en-US" altLang="zh-CN" dirty="0"/>
              <a:t>RRC</a:t>
            </a:r>
            <a:r>
              <a:rPr lang="zh-CN" altLang="en-US" dirty="0"/>
              <a:t>连接时间长度</a:t>
            </a:r>
            <a:endParaRPr lang="en-US" altLang="zh-CN" dirty="0"/>
          </a:p>
          <a:p>
            <a:r>
              <a:rPr lang="en-US" altLang="zh-CN" dirty="0"/>
              <a:t>PPP</a:t>
            </a:r>
            <a:r>
              <a:rPr lang="zh-CN" altLang="en-US" dirty="0"/>
              <a:t>占空比：</a:t>
            </a:r>
            <a:r>
              <a:rPr lang="en-US" altLang="zh-CN" dirty="0"/>
              <a:t>RRC</a:t>
            </a:r>
            <a:r>
              <a:rPr lang="zh-CN" altLang="en-US" dirty="0"/>
              <a:t>连接态下数据包传输时长</a:t>
            </a:r>
            <a:r>
              <a:rPr lang="en-US" altLang="zh-CN" dirty="0"/>
              <a:t>/PPP</a:t>
            </a:r>
            <a:r>
              <a:rPr lang="zh-CN" altLang="en-US" dirty="0"/>
              <a:t>会话持续时间长度</a:t>
            </a:r>
            <a:endParaRPr lang="en-US" altLang="zh-CN" dirty="0"/>
          </a:p>
          <a:p>
            <a:r>
              <a:rPr lang="en-US" altLang="zh-CN" dirty="0"/>
              <a:t>BLER</a:t>
            </a:r>
            <a:r>
              <a:rPr lang="zh-CN" altLang="en-US" dirty="0"/>
              <a:t>：一次会话中统计的误码率</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网络吞吐量分析</a:t>
            </a:r>
          </a:p>
        </p:txBody>
      </p:sp>
      <mc:AlternateContent xmlns:mc="http://schemas.openxmlformats.org/markup-compatibility/2006" xmlns:a14="http://schemas.microsoft.com/office/drawing/2010/main">
        <mc:Choice Requires="a14">
          <p:sp>
            <p:nvSpPr>
              <p:cNvPr id="9" name="TextBox 13"/>
              <p:cNvSpPr txBox="1">
                <a:spLocks noChangeArrowheads="1"/>
              </p:cNvSpPr>
              <p:nvPr/>
            </p:nvSpPr>
            <p:spPr bwMode="auto">
              <a:xfrm>
                <a:off x="690034" y="2771690"/>
                <a:ext cx="5291666" cy="224734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zh-CN" dirty="0">
                    <a:latin typeface="微软雅黑" panose="020B0503020204020204" charset="-122"/>
                    <a:ea typeface="微软雅黑" panose="020B0503020204020204" charset="-122"/>
                  </a:rPr>
                  <a:t>基于以上的业务模型，可以计算出每种业务一个</a:t>
                </a:r>
                <a:r>
                  <a:rPr lang="en-US" altLang="zh-CN" dirty="0">
                    <a:latin typeface="微软雅黑" panose="020B0503020204020204" charset="-122"/>
                    <a:ea typeface="微软雅黑" panose="020B0503020204020204" charset="-122"/>
                  </a:rPr>
                  <a:t>PPP </a:t>
                </a:r>
                <a:r>
                  <a:rPr lang="zh-CN" altLang="zh-CN" dirty="0">
                    <a:latin typeface="微软雅黑" panose="020B0503020204020204" charset="-122"/>
                    <a:ea typeface="微软雅黑" panose="020B0503020204020204" charset="-122"/>
                  </a:rPr>
                  <a:t>进程内的话务量：</a:t>
                </a:r>
                <a:endParaRPr lang="en-US" altLang="zh-CN" dirty="0">
                  <a:latin typeface="微软雅黑" panose="020B0503020204020204" charset="-122"/>
                  <a:ea typeface="微软雅黑" panose="020B0503020204020204" charset="-122"/>
                </a:endParaRPr>
              </a:p>
              <a:p>
                <a:pPr eaLnBrk="1" hangingPunct="1">
                  <a:lnSpc>
                    <a:spcPct val="150000"/>
                  </a:lnSpc>
                </a:pPr>
                <a:endParaRPr lang="zh-CN" altLang="zh-CN" dirty="0">
                  <a:latin typeface="微软雅黑" panose="020B0503020204020204" charset="-122"/>
                  <a:ea typeface="微软雅黑" panose="020B0503020204020204" charset="-122"/>
                </a:endParaRPr>
              </a:p>
              <a:p>
                <a:pPr eaLnBrk="1" hangingPunct="1">
                  <a:lnSpc>
                    <a:spcPct val="150000"/>
                  </a:lnSpc>
                </a:pPr>
                <a14:m>
                  <m:oMathPara xmlns:m="http://schemas.openxmlformats.org/officeDocument/2006/math">
                    <m:oMathParaPr>
                      <m:jc m:val="centerGroup"/>
                    </m:oMathParaPr>
                    <m:oMath xmlns:m="http://schemas.openxmlformats.org/officeDocument/2006/math">
                      <m:f>
                        <m:fPr>
                          <m:ctrlPr>
                            <a:rPr lang="zh-CN" altLang="zh-CN" i="1" smtClean="0">
                              <a:solidFill>
                                <a:srgbClr val="FF0000"/>
                              </a:solidFill>
                              <a:latin typeface="Cambria Math" panose="02040503050406030204" pitchFamily="18" charset="0"/>
                              <a:ea typeface="微软雅黑" panose="020B0503020204020204" charset="-122"/>
                            </a:rPr>
                          </m:ctrlPr>
                        </m:fPr>
                        <m:num>
                          <m:r>
                            <a:rPr lang="zh-CN" altLang="zh-CN">
                              <a:solidFill>
                                <a:srgbClr val="FF0000"/>
                              </a:solidFill>
                              <a:latin typeface="Cambria Math" panose="02040503050406030204" pitchFamily="18" charset="0"/>
                              <a:ea typeface="微软雅黑" panose="020B0503020204020204" charset="-122"/>
                            </a:rPr>
                            <m:t>话务量</m:t>
                          </m:r>
                        </m:num>
                        <m:den>
                          <m:r>
                            <a:rPr lang="zh-CN" altLang="zh-CN">
                              <a:solidFill>
                                <a:srgbClr val="FF0000"/>
                              </a:solidFill>
                              <a:latin typeface="Cambria Math" panose="02040503050406030204" pitchFamily="18" charset="0"/>
                              <a:ea typeface="微软雅黑" panose="020B0503020204020204" charset="-122"/>
                            </a:rPr>
                            <m:t>进程</m:t>
                          </m:r>
                          <m:d>
                            <m:dPr>
                              <m:begChr m:val="（"/>
                              <m:endChr m:val="）"/>
                              <m:ctrlPr>
                                <a:rPr lang="zh-CN" altLang="zh-CN" i="1">
                                  <a:solidFill>
                                    <a:srgbClr val="FF0000"/>
                                  </a:solidFill>
                                  <a:latin typeface="Cambria Math" panose="02040503050406030204" pitchFamily="18" charset="0"/>
                                  <a:ea typeface="微软雅黑" panose="020B0503020204020204" charset="-122"/>
                                </a:rPr>
                              </m:ctrlPr>
                            </m:dPr>
                            <m:e>
                              <m:r>
                                <m:rPr>
                                  <m:sty m:val="p"/>
                                </m:rPr>
                                <a:rPr lang="en-US" altLang="zh-CN">
                                  <a:solidFill>
                                    <a:srgbClr val="FF0000"/>
                                  </a:solidFill>
                                  <a:latin typeface="Cambria Math" panose="02040503050406030204" pitchFamily="18" charset="0"/>
                                  <a:ea typeface="微软雅黑" panose="020B0503020204020204" charset="-122"/>
                                </a:rPr>
                                <m:t>kbit</m:t>
                              </m:r>
                            </m:e>
                          </m:d>
                        </m:den>
                      </m:f>
                      <m:r>
                        <a:rPr lang="en-US" altLang="zh-CN">
                          <a:solidFill>
                            <a:srgbClr val="FF0000"/>
                          </a:solidFill>
                          <a:latin typeface="Cambria Math" panose="02040503050406030204" pitchFamily="18" charset="0"/>
                          <a:ea typeface="微软雅黑" panose="020B0503020204020204" charset="-122"/>
                        </a:rPr>
                        <m:t>=</m:t>
                      </m:r>
                      <m:f>
                        <m:fPr>
                          <m:ctrlPr>
                            <a:rPr lang="zh-CN" altLang="zh-CN" i="1">
                              <a:solidFill>
                                <a:srgbClr val="FF0000"/>
                              </a:solidFill>
                              <a:latin typeface="Cambria Math" panose="02040503050406030204" pitchFamily="18" charset="0"/>
                              <a:ea typeface="微软雅黑" panose="020B0503020204020204" charset="-122"/>
                            </a:rPr>
                          </m:ctrlPr>
                        </m:fPr>
                        <m:num>
                          <m:r>
                            <a:rPr lang="zh-CN" altLang="zh-CN">
                              <a:solidFill>
                                <a:srgbClr val="FF0000"/>
                              </a:solidFill>
                              <a:latin typeface="Cambria Math" panose="02040503050406030204" pitchFamily="18" charset="0"/>
                              <a:ea typeface="微软雅黑" panose="020B0503020204020204" charset="-122"/>
                            </a:rPr>
                            <m:t>承载速率</m:t>
                          </m:r>
                          <m:r>
                            <a:rPr lang="en-US" altLang="zh-CN">
                              <a:solidFill>
                                <a:srgbClr val="FF0000"/>
                              </a:solidFill>
                              <a:latin typeface="Cambria Math" panose="02040503050406030204" pitchFamily="18" charset="0"/>
                              <a:ea typeface="微软雅黑" panose="020B0503020204020204" charset="-122"/>
                            </a:rPr>
                            <m:t>∗</m:t>
                          </m:r>
                          <m:r>
                            <m:rPr>
                              <m:sty m:val="p"/>
                            </m:rPr>
                            <a:rPr lang="en-US" altLang="zh-CN">
                              <a:solidFill>
                                <a:srgbClr val="FF0000"/>
                              </a:solidFill>
                              <a:latin typeface="Cambria Math" panose="02040503050406030204" pitchFamily="18" charset="0"/>
                              <a:ea typeface="微软雅黑" panose="020B0503020204020204" charset="-122"/>
                            </a:rPr>
                            <m:t>PPP</m:t>
                          </m:r>
                          <m:r>
                            <a:rPr lang="zh-CN" altLang="zh-CN">
                              <a:solidFill>
                                <a:srgbClr val="FF0000"/>
                              </a:solidFill>
                              <a:latin typeface="Cambria Math" panose="02040503050406030204" pitchFamily="18" charset="0"/>
                              <a:ea typeface="微软雅黑" panose="020B0503020204020204" charset="-122"/>
                            </a:rPr>
                            <m:t>连接时长</m:t>
                          </m:r>
                          <m:r>
                            <a:rPr lang="en-US" altLang="zh-CN">
                              <a:solidFill>
                                <a:srgbClr val="FF0000"/>
                              </a:solidFill>
                              <a:latin typeface="Cambria Math" panose="02040503050406030204" pitchFamily="18" charset="0"/>
                              <a:ea typeface="微软雅黑" panose="020B0503020204020204" charset="-122"/>
                            </a:rPr>
                            <m:t>∗</m:t>
                          </m:r>
                          <m:r>
                            <m:rPr>
                              <m:sty m:val="p"/>
                            </m:rPr>
                            <a:rPr lang="en-US" altLang="zh-CN">
                              <a:solidFill>
                                <a:srgbClr val="FF0000"/>
                              </a:solidFill>
                              <a:latin typeface="Cambria Math" panose="02040503050406030204" pitchFamily="18" charset="0"/>
                              <a:ea typeface="微软雅黑" panose="020B0503020204020204" charset="-122"/>
                            </a:rPr>
                            <m:t>PPP</m:t>
                          </m:r>
                          <m:r>
                            <a:rPr lang="zh-CN" altLang="zh-CN">
                              <a:solidFill>
                                <a:srgbClr val="FF0000"/>
                              </a:solidFill>
                              <a:latin typeface="Cambria Math" panose="02040503050406030204" pitchFamily="18" charset="0"/>
                              <a:ea typeface="微软雅黑" panose="020B0503020204020204" charset="-122"/>
                            </a:rPr>
                            <m:t>占空比</m:t>
                          </m:r>
                        </m:num>
                        <m:den>
                          <m:r>
                            <a:rPr lang="en-US" altLang="zh-CN">
                              <a:solidFill>
                                <a:srgbClr val="FF0000"/>
                              </a:solidFill>
                              <a:latin typeface="Cambria Math" panose="02040503050406030204" pitchFamily="18" charset="0"/>
                              <a:ea typeface="微软雅黑" panose="020B0503020204020204" charset="-122"/>
                            </a:rPr>
                            <m:t>1</m:t>
                          </m:r>
                          <m:r>
                            <a:rPr lang="zh-CN" altLang="en-US">
                              <a:solidFill>
                                <a:srgbClr val="FF0000"/>
                              </a:solidFill>
                              <a:latin typeface="Cambria Math" panose="02040503050406030204" pitchFamily="18" charset="0"/>
                              <a:ea typeface="微软雅黑" panose="020B0503020204020204" charset="-122"/>
                            </a:rPr>
                            <m:t>−</m:t>
                          </m:r>
                          <m:r>
                            <m:rPr>
                              <m:sty m:val="p"/>
                            </m:rPr>
                            <a:rPr lang="en-US" altLang="zh-CN">
                              <a:solidFill>
                                <a:srgbClr val="FF0000"/>
                              </a:solidFill>
                              <a:latin typeface="Cambria Math" panose="02040503050406030204" pitchFamily="18" charset="0"/>
                              <a:ea typeface="微软雅黑" panose="020B0503020204020204" charset="-122"/>
                            </a:rPr>
                            <m:t>BLER</m:t>
                          </m:r>
                        </m:den>
                      </m:f>
                    </m:oMath>
                  </m:oMathPara>
                </a14:m>
                <a:endParaRPr lang="zh-CN" altLang="zh-CN" dirty="0">
                  <a:latin typeface="微软雅黑" panose="020B0503020204020204" charset="-122"/>
                  <a:ea typeface="微软雅黑" panose="020B0503020204020204" charset="-122"/>
                </a:endParaRPr>
              </a:p>
            </p:txBody>
          </p:sp>
        </mc:Choice>
        <mc:Fallback xmlns="">
          <p:sp>
            <p:nvSpPr>
              <p:cNvPr id="9" name="TextBox 13"/>
              <p:cNvSpPr txBox="1">
                <a:spLocks noRot="1" noChangeAspect="1" noMove="1" noResize="1" noEditPoints="1" noAdjustHandles="1" noChangeArrowheads="1" noChangeShapeType="1" noTextEdit="1"/>
              </p:cNvSpPr>
              <p:nvPr/>
            </p:nvSpPr>
            <p:spPr bwMode="auto">
              <a:xfrm>
                <a:off x="690034" y="2771690"/>
                <a:ext cx="5291666" cy="2247346"/>
              </a:xfrm>
              <a:prstGeom prst="rect">
                <a:avLst/>
              </a:prstGeom>
              <a:blipFill rotWithShape="1">
                <a:blip r:embed="rId2"/>
                <a:stretch>
                  <a:fillRect l="-8" t="-24" b="2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7" name="表格 6"/>
          <p:cNvGraphicFramePr>
            <a:graphicFrameLocks noGrp="1"/>
          </p:cNvGraphicFramePr>
          <p:nvPr/>
        </p:nvGraphicFramePr>
        <p:xfrm>
          <a:off x="6095999" y="2467635"/>
          <a:ext cx="5956300" cy="3771900"/>
        </p:xfrm>
        <a:graphic>
          <a:graphicData uri="http://schemas.openxmlformats.org/drawingml/2006/table">
            <a:tbl>
              <a:tblPr>
                <a:tableStyleId>{5C22544A-7EE6-4342-B048-85BDC9FD1C3A}</a:tableStyleId>
              </a:tblPr>
              <a:tblGrid>
                <a:gridCol w="1397000">
                  <a:extLst>
                    <a:ext uri="{9D8B030D-6E8A-4147-A177-3AD203B41FA5}">
                      <a16:colId xmlns:a16="http://schemas.microsoft.com/office/drawing/2014/main" val="20000"/>
                    </a:ext>
                  </a:extLst>
                </a:gridCol>
                <a:gridCol w="2279650">
                  <a:extLst>
                    <a:ext uri="{9D8B030D-6E8A-4147-A177-3AD203B41FA5}">
                      <a16:colId xmlns:a16="http://schemas.microsoft.com/office/drawing/2014/main" val="20001"/>
                    </a:ext>
                  </a:extLst>
                </a:gridCol>
                <a:gridCol w="2279650">
                  <a:extLst>
                    <a:ext uri="{9D8B030D-6E8A-4147-A177-3AD203B41FA5}">
                      <a16:colId xmlns:a16="http://schemas.microsoft.com/office/drawing/2014/main" val="20002"/>
                    </a:ext>
                  </a:extLst>
                </a:gridCol>
              </a:tblGrid>
              <a:tr h="314325">
                <a:tc rowSpan="2">
                  <a:txBody>
                    <a:bodyPr/>
                    <a:lstStyle/>
                    <a:p>
                      <a:pPr algn="ctr" rtl="0" fontAlgn="ctr"/>
                      <a:r>
                        <a:rPr lang="zh-CN" altLang="en-US" sz="1800" u="none" strike="noStrike" dirty="0">
                          <a:effectLst/>
                        </a:rPr>
                        <a:t>参数</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zh-CN" altLang="en-US" sz="1800" u="none" strike="noStrike" dirty="0">
                          <a:effectLst/>
                        </a:rPr>
                        <a:t>上行</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zh-CN" altLang="en-US" sz="1800" u="none" strike="noStrike" dirty="0">
                          <a:effectLst/>
                        </a:rPr>
                        <a:t>下行</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extLst>
                  <a:ext uri="{0D108BD9-81ED-4DB2-BD59-A6C34878D82A}">
                    <a16:rowId xmlns:a16="http://schemas.microsoft.com/office/drawing/2014/main" val="10000"/>
                  </a:ext>
                </a:extLst>
              </a:tr>
              <a:tr h="314325">
                <a:tc vMerge="1">
                  <a:txBody>
                    <a:bodyPr/>
                    <a:lstStyle/>
                    <a:p>
                      <a:endParaRPr lang="zh-CN"/>
                    </a:p>
                  </a:txBody>
                  <a:tcPr/>
                </a:tc>
                <a:tc>
                  <a:txBody>
                    <a:bodyPr/>
                    <a:lstStyle/>
                    <a:p>
                      <a:pPr algn="ctr" rtl="0" fontAlgn="ctr"/>
                      <a:r>
                        <a:rPr lang="zh-CN" altLang="en-US" sz="1800" u="none" strike="noStrike" dirty="0">
                          <a:effectLst/>
                        </a:rPr>
                        <a:t>每进程话务量（</a:t>
                      </a:r>
                      <a:r>
                        <a:rPr lang="en-US" altLang="zh-CN" sz="1800" u="none" strike="noStrike" dirty="0" err="1">
                          <a:effectLst/>
                        </a:rPr>
                        <a:t>kbit</a:t>
                      </a:r>
                      <a:r>
                        <a:rPr lang="zh-CN" altLang="en-US" sz="1800" u="none" strike="noStrike" dirty="0">
                          <a:effectLst/>
                        </a:rPr>
                        <a:t>）</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zh-CN" altLang="en-US" sz="1800" u="none" strike="noStrike" dirty="0">
                          <a:effectLst/>
                        </a:rPr>
                        <a:t>每进程话务量（</a:t>
                      </a:r>
                      <a:r>
                        <a:rPr lang="en-US" altLang="zh-CN" sz="1800" u="none" strike="noStrike" dirty="0" err="1">
                          <a:effectLst/>
                        </a:rPr>
                        <a:t>kbit</a:t>
                      </a:r>
                      <a:r>
                        <a:rPr lang="zh-CN" altLang="en-US" sz="1800" u="none" strike="noStrike" dirty="0">
                          <a:effectLst/>
                        </a:rPr>
                        <a:t>）</a:t>
                      </a:r>
                      <a:endParaRPr lang="zh-CN" altLang="en-US" sz="1800" b="1"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extLst>
                  <a:ext uri="{0D108BD9-81ED-4DB2-BD59-A6C34878D82A}">
                    <a16:rowId xmlns:a16="http://schemas.microsoft.com/office/drawing/2014/main" val="10001"/>
                  </a:ext>
                </a:extLst>
              </a:tr>
              <a:tr h="314325">
                <a:tc>
                  <a:txBody>
                    <a:bodyPr/>
                    <a:lstStyle/>
                    <a:p>
                      <a:pPr algn="ctr" rtl="0" fontAlgn="ctr"/>
                      <a:r>
                        <a:rPr lang="en-US" sz="1800" u="none" strike="noStrike" dirty="0">
                          <a:effectLst/>
                        </a:rPr>
                        <a:t>VoIP</a:t>
                      </a:r>
                      <a:endParaRPr 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dirty="0">
                          <a:effectLst/>
                        </a:rPr>
                        <a:t>869</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869</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2"/>
                  </a:ext>
                </a:extLst>
              </a:tr>
              <a:tr h="314325">
                <a:tc>
                  <a:txBody>
                    <a:bodyPr/>
                    <a:lstStyle/>
                    <a:p>
                      <a:pPr algn="ctr" rtl="0" fontAlgn="ctr"/>
                      <a:r>
                        <a:rPr lang="zh-CN" altLang="en-US" sz="1800" u="none" strike="noStrike" dirty="0">
                          <a:effectLst/>
                        </a:rPr>
                        <a:t>视频电话</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dirty="0">
                          <a:effectLst/>
                        </a:rPr>
                        <a:t>4421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4421</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3"/>
                  </a:ext>
                </a:extLst>
              </a:tr>
              <a:tr h="314325">
                <a:tc>
                  <a:txBody>
                    <a:bodyPr/>
                    <a:lstStyle/>
                    <a:p>
                      <a:pPr algn="ctr" rtl="0" fontAlgn="ctr"/>
                      <a:r>
                        <a:rPr lang="zh-CN" altLang="en-US" sz="1800" u="none" strike="noStrike" dirty="0">
                          <a:effectLst/>
                        </a:rPr>
                        <a:t>视频会议</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dirty="0">
                          <a:effectLst/>
                        </a:rPr>
                        <a:t>113687</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113687</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4"/>
                  </a:ext>
                </a:extLst>
              </a:tr>
              <a:tr h="314325">
                <a:tc>
                  <a:txBody>
                    <a:bodyPr/>
                    <a:lstStyle/>
                    <a:p>
                      <a:pPr algn="ctr" rtl="0" fontAlgn="ctr"/>
                      <a:r>
                        <a:rPr lang="zh-CN" altLang="en-US" sz="1800" u="none" strike="noStrike" dirty="0">
                          <a:effectLst/>
                        </a:rPr>
                        <a:t>网络游戏</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dirty="0">
                          <a:effectLst/>
                        </a:rPr>
                        <a:t>11369</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a:effectLst/>
                        </a:rPr>
                        <a:t>90950</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5"/>
                  </a:ext>
                </a:extLst>
              </a:tr>
              <a:tr h="314325">
                <a:tc>
                  <a:txBody>
                    <a:bodyPr/>
                    <a:lstStyle/>
                    <a:p>
                      <a:pPr algn="ctr" rtl="0" fontAlgn="ctr"/>
                      <a:r>
                        <a:rPr lang="zh-CN" altLang="en-US" sz="1800" u="none" strike="noStrike" dirty="0">
                          <a:effectLst/>
                        </a:rPr>
                        <a:t>流媒体</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dirty="0">
                          <a:effectLst/>
                        </a:rPr>
                        <a:t>5684</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864023</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6"/>
                  </a:ext>
                </a:extLst>
              </a:tr>
              <a:tr h="314325">
                <a:tc>
                  <a:txBody>
                    <a:bodyPr/>
                    <a:lstStyle/>
                    <a:p>
                      <a:pPr algn="ctr" rtl="0" fontAlgn="ctr"/>
                      <a:r>
                        <a:rPr lang="en-US" sz="1800" u="none" strike="noStrike" dirty="0">
                          <a:effectLst/>
                        </a:rPr>
                        <a:t>IMS</a:t>
                      </a:r>
                      <a:r>
                        <a:rPr lang="zh-CN" altLang="en-US" sz="1800" u="none" strike="noStrike" dirty="0">
                          <a:effectLst/>
                        </a:rPr>
                        <a:t>信令</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a:effectLst/>
                        </a:rPr>
                        <a:t>22</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22</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7"/>
                  </a:ext>
                </a:extLst>
              </a:tr>
              <a:tr h="314325">
                <a:tc>
                  <a:txBody>
                    <a:bodyPr/>
                    <a:lstStyle/>
                    <a:p>
                      <a:pPr algn="ctr" rtl="0" fontAlgn="ctr"/>
                      <a:r>
                        <a:rPr lang="zh-CN" altLang="en-US" sz="1800" u="none" strike="noStrike" dirty="0">
                          <a:effectLst/>
                        </a:rPr>
                        <a:t>网页浏览</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a:effectLst/>
                        </a:rPr>
                        <a:t>5684</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22737</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8"/>
                  </a:ext>
                </a:extLst>
              </a:tr>
              <a:tr h="314325">
                <a:tc>
                  <a:txBody>
                    <a:bodyPr/>
                    <a:lstStyle/>
                    <a:p>
                      <a:pPr algn="ctr" rtl="0" fontAlgn="ctr"/>
                      <a:r>
                        <a:rPr lang="en-US" sz="1800" u="none" strike="noStrike" dirty="0">
                          <a:effectLst/>
                        </a:rPr>
                        <a:t>FTP</a:t>
                      </a:r>
                      <a:r>
                        <a:rPr lang="zh-CN" altLang="en-US" sz="1800" u="none" strike="noStrike" dirty="0">
                          <a:effectLst/>
                        </a:rPr>
                        <a:t>文件传输</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a:effectLst/>
                        </a:rPr>
                        <a:t>85265</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454749</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09"/>
                  </a:ext>
                </a:extLst>
              </a:tr>
              <a:tr h="314325">
                <a:tc>
                  <a:txBody>
                    <a:bodyPr/>
                    <a:lstStyle/>
                    <a:p>
                      <a:pPr algn="ctr" rtl="0" fontAlgn="ctr"/>
                      <a:r>
                        <a:rPr lang="en-US" sz="1800" u="none" strike="noStrike" dirty="0">
                          <a:effectLst/>
                        </a:rPr>
                        <a:t>Email</a:t>
                      </a:r>
                      <a:endParaRPr 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a:effectLst/>
                        </a:rPr>
                        <a:t>7105</a:t>
                      </a:r>
                      <a:endParaRPr lang="en-US" altLang="zh-CN" sz="1600" b="0" i="0" u="none" strike="noStrike">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11369</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10"/>
                  </a:ext>
                </a:extLst>
              </a:tr>
              <a:tr h="314325">
                <a:tc>
                  <a:txBody>
                    <a:bodyPr/>
                    <a:lstStyle/>
                    <a:p>
                      <a:pPr algn="ctr" rtl="0" fontAlgn="ctr"/>
                      <a:r>
                        <a:rPr lang="en-US" sz="1800" u="none" strike="noStrike" dirty="0">
                          <a:effectLst/>
                        </a:rPr>
                        <a:t>P2P</a:t>
                      </a:r>
                      <a:r>
                        <a:rPr lang="zh-CN" altLang="en-US" sz="1800" u="none" strike="noStrike" dirty="0">
                          <a:effectLst/>
                        </a:rPr>
                        <a:t>文件传输</a:t>
                      </a:r>
                      <a:endParaRPr lang="zh-CN" altLang="en-US" sz="18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1">
                        <a:lumMod val="40000"/>
                        <a:lumOff val="60000"/>
                      </a:schemeClr>
                    </a:solidFill>
                  </a:tcPr>
                </a:tc>
                <a:tc>
                  <a:txBody>
                    <a:bodyPr/>
                    <a:lstStyle/>
                    <a:p>
                      <a:pPr algn="ctr" rtl="0" fontAlgn="ctr"/>
                      <a:r>
                        <a:rPr lang="en-US" altLang="zh-CN" sz="1600" u="none" strike="noStrike" dirty="0">
                          <a:effectLst/>
                        </a:rPr>
                        <a:t>303166</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tc>
                  <a:txBody>
                    <a:bodyPr/>
                    <a:lstStyle/>
                    <a:p>
                      <a:pPr algn="ctr" rtl="0" fontAlgn="ctr"/>
                      <a:r>
                        <a:rPr lang="en-US" altLang="zh-CN" sz="1600" u="none" strike="noStrike" dirty="0">
                          <a:effectLst/>
                        </a:rPr>
                        <a:t>909498</a:t>
                      </a:r>
                      <a:endParaRPr lang="en-US" altLang="zh-CN" sz="1600" b="0" i="0" u="none" strike="noStrike" dirty="0">
                        <a:solidFill>
                          <a:srgbClr val="000000"/>
                        </a:solidFill>
                        <a:effectLst/>
                        <a:latin typeface="华文楷体" panose="02010600040101010101" pitchFamily="2" charset="-122"/>
                        <a:ea typeface="华文楷体" panose="02010600040101010101" pitchFamily="2"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0011"/>
                  </a:ext>
                </a:extLst>
              </a:tr>
            </a:tbl>
          </a:graphicData>
        </a:graphic>
      </p:graphicFrame>
      <p:sp>
        <p:nvSpPr>
          <p:cNvPr id="8" name="矩形 7"/>
          <p:cNvSpPr/>
          <p:nvPr/>
        </p:nvSpPr>
        <p:spPr>
          <a:xfrm>
            <a:off x="7703656" y="1903704"/>
            <a:ext cx="3185487" cy="369332"/>
          </a:xfrm>
          <a:prstGeom prst="rect">
            <a:avLst/>
          </a:prstGeom>
        </p:spPr>
        <p:txBody>
          <a:bodyPr wrap="none">
            <a:spAutoFit/>
          </a:bodyPr>
          <a:lstStyle/>
          <a:p>
            <a:r>
              <a:rPr lang="zh-CN" altLang="zh-CN" dirty="0">
                <a:latin typeface="微软雅黑" panose="020B0503020204020204" charset="-122"/>
              </a:rPr>
              <a:t>然后输出业务模型的分析结果</a:t>
            </a:r>
            <a:endParaRPr lang="en-US" altLang="zh-CN" dirty="0">
              <a:latin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网络吞吐量分析</a:t>
            </a:r>
          </a:p>
        </p:txBody>
      </p:sp>
      <p:sp>
        <p:nvSpPr>
          <p:cNvPr id="10" name="TextBox 13"/>
          <p:cNvSpPr txBox="1">
            <a:spLocks noChangeArrowheads="1"/>
          </p:cNvSpPr>
          <p:nvPr/>
        </p:nvSpPr>
        <p:spPr bwMode="auto">
          <a:xfrm>
            <a:off x="878481" y="2924090"/>
            <a:ext cx="5014375" cy="1443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spcBef>
                <a:spcPts val="600"/>
              </a:spcBef>
              <a:spcAft>
                <a:spcPts val="600"/>
              </a:spcAft>
            </a:pPr>
            <a:r>
              <a:rPr lang="en-US" altLang="zh-CN" dirty="0"/>
              <a:t>2</a:t>
            </a:r>
            <a:r>
              <a:rPr lang="zh-CN" altLang="zh-CN" dirty="0">
                <a:latin typeface="微软雅黑" panose="020B0503020204020204" charset="-122"/>
                <a:ea typeface="微软雅黑" panose="020B0503020204020204" charset="-122"/>
              </a:rPr>
              <a:t>）话务模型</a:t>
            </a:r>
          </a:p>
          <a:p>
            <a:pPr>
              <a:lnSpc>
                <a:spcPct val="150000"/>
              </a:lnSpc>
              <a:spcBef>
                <a:spcPts val="600"/>
              </a:spcBef>
              <a:spcAft>
                <a:spcPts val="600"/>
              </a:spcAft>
            </a:pPr>
            <a:r>
              <a:rPr lang="zh-CN" altLang="zh-CN" dirty="0">
                <a:latin typeface="微软雅黑" panose="020B0503020204020204" charset="-122"/>
                <a:ea typeface="微软雅黑" panose="020B0503020204020204" charset="-122"/>
              </a:rPr>
              <a:t>结合</a:t>
            </a:r>
            <a:r>
              <a:rPr lang="zh-CN" altLang="zh-CN" dirty="0">
                <a:solidFill>
                  <a:srgbClr val="FF0000"/>
                </a:solidFill>
                <a:latin typeface="微软雅黑" panose="020B0503020204020204" charset="-122"/>
                <a:ea typeface="微软雅黑" panose="020B0503020204020204" charset="-122"/>
              </a:rPr>
              <a:t>单用户</a:t>
            </a:r>
            <a:r>
              <a:rPr lang="en-US" altLang="zh-CN" dirty="0">
                <a:solidFill>
                  <a:srgbClr val="FF0000"/>
                </a:solidFill>
                <a:latin typeface="微软雅黑" panose="020B0503020204020204" charset="-122"/>
                <a:ea typeface="微软雅黑" panose="020B0503020204020204" charset="-122"/>
              </a:rPr>
              <a:t>LTE</a:t>
            </a:r>
            <a:r>
              <a:rPr lang="zh-CN" altLang="zh-CN" dirty="0">
                <a:solidFill>
                  <a:srgbClr val="FF0000"/>
                </a:solidFill>
                <a:latin typeface="微软雅黑" panose="020B0503020204020204" charset="-122"/>
                <a:ea typeface="微软雅黑" panose="020B0503020204020204" charset="-122"/>
              </a:rPr>
              <a:t>业务模型分析</a:t>
            </a:r>
            <a:r>
              <a:rPr lang="zh-CN" altLang="zh-CN" dirty="0">
                <a:latin typeface="微软雅黑" panose="020B0503020204020204" charset="-122"/>
                <a:ea typeface="微软雅黑" panose="020B0503020204020204" charset="-122"/>
              </a:rPr>
              <a:t>结果和常规场景下</a:t>
            </a:r>
            <a:r>
              <a:rPr lang="zh-CN" altLang="zh-CN" dirty="0">
                <a:solidFill>
                  <a:srgbClr val="FF0000"/>
                </a:solidFill>
                <a:latin typeface="微软雅黑" panose="020B0503020204020204" charset="-122"/>
                <a:ea typeface="微软雅黑" panose="020B0503020204020204" charset="-122"/>
              </a:rPr>
              <a:t>用户行为</a:t>
            </a:r>
            <a:r>
              <a:rPr lang="zh-CN" altLang="zh-CN" dirty="0">
                <a:latin typeface="微软雅黑" panose="020B0503020204020204" charset="-122"/>
                <a:ea typeface="微软雅黑" panose="020B0503020204020204" charset="-122"/>
              </a:rPr>
              <a:t>情况，分析出</a:t>
            </a:r>
            <a:r>
              <a:rPr lang="zh-CN" altLang="zh-CN" dirty="0">
                <a:solidFill>
                  <a:srgbClr val="FF0000"/>
                </a:solidFill>
                <a:latin typeface="微软雅黑" panose="020B0503020204020204" charset="-122"/>
                <a:ea typeface="微软雅黑" panose="020B0503020204020204" charset="-122"/>
              </a:rPr>
              <a:t>单用户的话务模型</a:t>
            </a:r>
            <a:r>
              <a:rPr lang="zh-CN" altLang="en-US"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p:txBody>
      </p:sp>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80797"/>
            <a:ext cx="5496448" cy="3546336"/>
          </a:xfrm>
          <a:prstGeom prst="rect">
            <a:avLst/>
          </a:prstGeom>
          <a:noFill/>
          <a:ln>
            <a:noFill/>
          </a:ln>
        </p:spPr>
      </p:pic>
      <p:sp>
        <p:nvSpPr>
          <p:cNvPr id="2" name="文本框 1">
            <a:extLst>
              <a:ext uri="{FF2B5EF4-FFF2-40B4-BE49-F238E27FC236}">
                <a16:creationId xmlns:a16="http://schemas.microsoft.com/office/drawing/2014/main" id="{5EFA371A-90EB-48EA-AC2B-3B397C052D7C}"/>
              </a:ext>
            </a:extLst>
          </p:cNvPr>
          <p:cNvSpPr txBox="1"/>
          <p:nvPr/>
        </p:nvSpPr>
        <p:spPr>
          <a:xfrm>
            <a:off x="878481" y="4780802"/>
            <a:ext cx="6947807" cy="646331"/>
          </a:xfrm>
          <a:prstGeom prst="rect">
            <a:avLst/>
          </a:prstGeom>
          <a:noFill/>
        </p:spPr>
        <p:txBody>
          <a:bodyPr wrap="square" rtlCol="0">
            <a:spAutoFit/>
          </a:bodyPr>
          <a:lstStyle/>
          <a:p>
            <a:r>
              <a:rPr lang="zh-CN" altLang="en-US" dirty="0"/>
              <a:t>业务渗透率：业务类型比例</a:t>
            </a:r>
            <a:endParaRPr lang="en-US" altLang="zh-CN" dirty="0"/>
          </a:p>
          <a:p>
            <a:r>
              <a:rPr lang="en-US" altLang="zh-CN" dirty="0"/>
              <a:t>BHSA</a:t>
            </a:r>
            <a:r>
              <a:rPr lang="zh-CN" altLang="en-US" dirty="0"/>
              <a:t>：一次会话中统计的误码率</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网络吞吐量分析</a:t>
            </a:r>
          </a:p>
        </p:txBody>
      </p:sp>
      <p:sp>
        <p:nvSpPr>
          <p:cNvPr id="8" name="Rectangle 2"/>
          <p:cNvSpPr>
            <a:spLocks noChangeArrowheads="1"/>
          </p:cNvSpPr>
          <p:nvPr/>
        </p:nvSpPr>
        <p:spPr bwMode="auto">
          <a:xfrm>
            <a:off x="1064895" y="3100497"/>
            <a:ext cx="9411450" cy="1597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1270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R="0" lvl="0" indent="0" eaLnBrk="1" fontAlgn="base" hangingPunct="1">
              <a:lnSpc>
                <a:spcPct val="150000"/>
              </a:lnSpc>
              <a:spcBef>
                <a:spcPts val="600"/>
              </a:spcBef>
              <a:spcAft>
                <a:spcPts val="600"/>
              </a:spcAft>
              <a:buClrTx/>
              <a:buSzTx/>
              <a:buFontTx/>
              <a:buNone/>
            </a:pPr>
            <a:r>
              <a:rPr lang="en-US" altLang="zh-CN" dirty="0">
                <a:latin typeface="微软雅黑" panose="020B0503020204020204" charset="-122"/>
                <a:ea typeface="微软雅黑" panose="020B0503020204020204" charset="-122"/>
              </a:rPr>
              <a:t>3</a:t>
            </a:r>
            <a:r>
              <a:rPr lang="zh-CN" altLang="en-US" dirty="0">
                <a:latin typeface="微软雅黑" panose="020B0503020204020204" charset="-122"/>
                <a:ea typeface="微软雅黑" panose="020B0503020204020204" charset="-122"/>
              </a:rPr>
              <a:t>）单用户吞吐量分析</a:t>
            </a:r>
          </a:p>
          <a:p>
            <a:pPr marR="0" lvl="0" indent="127000" eaLnBrk="1" fontAlgn="base" hangingPunct="1">
              <a:lnSpc>
                <a:spcPct val="150000"/>
              </a:lnSpc>
              <a:spcBef>
                <a:spcPts val="600"/>
              </a:spcBef>
              <a:spcAft>
                <a:spcPts val="600"/>
              </a:spcAft>
              <a:buClrTx/>
              <a:buSzTx/>
              <a:buFontTx/>
              <a:buNone/>
            </a:pPr>
            <a:r>
              <a:rPr lang="zh-CN" altLang="en-US" dirty="0">
                <a:latin typeface="微软雅黑" panose="020B0503020204020204" charset="-122"/>
                <a:ea typeface="微软雅黑" panose="020B0503020204020204" charset="-122"/>
              </a:rPr>
              <a:t>基于前面的业务模型和话务模型，可以估算得到该模型下单用户的忙时平均吞吐量。</a:t>
            </a:r>
          </a:p>
          <a:p>
            <a:pPr marR="0" lvl="0" indent="127000" algn="ctr" eaLnBrk="1" fontAlgn="base" hangingPunct="1">
              <a:lnSpc>
                <a:spcPct val="150000"/>
              </a:lnSpc>
              <a:spcBef>
                <a:spcPts val="600"/>
              </a:spcBef>
              <a:spcAft>
                <a:spcPts val="600"/>
              </a:spcAft>
              <a:buClrTx/>
              <a:buSzTx/>
              <a:buFontTx/>
              <a:buNone/>
            </a:pPr>
            <a:r>
              <a:rPr lang="zh-CN" altLang="en-US" dirty="0">
                <a:solidFill>
                  <a:srgbClr val="FF0000"/>
                </a:solidFill>
                <a:latin typeface="微软雅黑" panose="020B0503020204020204" charset="-122"/>
                <a:ea typeface="微软雅黑" panose="020B0503020204020204" charset="-122"/>
              </a:rPr>
              <a:t>单用户吞吐量（</a:t>
            </a:r>
            <a:r>
              <a:rPr lang="en-US" altLang="zh-CN" dirty="0">
                <a:solidFill>
                  <a:srgbClr val="FF0000"/>
                </a:solidFill>
                <a:latin typeface="微软雅黑" panose="020B0503020204020204" charset="-122"/>
                <a:ea typeface="微软雅黑" panose="020B0503020204020204" charset="-122"/>
              </a:rPr>
              <a:t>Kbps</a:t>
            </a:r>
            <a:r>
              <a:rPr lang="zh-CN" altLang="en-US" dirty="0">
                <a:solidFill>
                  <a:srgbClr val="FF0000"/>
                </a:solidFill>
                <a:latin typeface="微软雅黑" panose="020B0503020204020204" charset="-122"/>
                <a:ea typeface="微软雅黑" panose="020B0503020204020204" charset="-122"/>
              </a:rPr>
              <a:t>）</a:t>
            </a:r>
            <a:r>
              <a:rPr lang="en-US" altLang="zh-CN" dirty="0">
                <a:solidFill>
                  <a:srgbClr val="FF0000"/>
                </a:solidFill>
                <a:latin typeface="微软雅黑" panose="020B0503020204020204" charset="-122"/>
                <a:ea typeface="微软雅黑" panose="020B0503020204020204" charset="-122"/>
              </a:rPr>
              <a:t>=【</a:t>
            </a:r>
            <a:r>
              <a:rPr lang="zh-CN" altLang="en-US" dirty="0">
                <a:solidFill>
                  <a:srgbClr val="FF0000"/>
                </a:solidFill>
                <a:latin typeface="微软雅黑" panose="020B0503020204020204" charset="-122"/>
                <a:ea typeface="微软雅黑" panose="020B0503020204020204" charset="-122"/>
              </a:rPr>
              <a:t>话务量</a:t>
            </a:r>
            <a:r>
              <a:rPr lang="en-US" altLang="zh-CN" dirty="0">
                <a:solidFill>
                  <a:srgbClr val="FF0000"/>
                </a:solidFill>
                <a:latin typeface="微软雅黑" panose="020B0503020204020204" charset="-122"/>
                <a:ea typeface="微软雅黑" panose="020B0503020204020204" charset="-122"/>
              </a:rPr>
              <a:t>/</a:t>
            </a:r>
            <a:r>
              <a:rPr lang="zh-CN" altLang="en-US" dirty="0">
                <a:solidFill>
                  <a:srgbClr val="FF0000"/>
                </a:solidFill>
                <a:latin typeface="微软雅黑" panose="020B0503020204020204" charset="-122"/>
                <a:ea typeface="微软雅黑" panose="020B0503020204020204" charset="-122"/>
              </a:rPr>
              <a:t>进程</a:t>
            </a:r>
            <a:r>
              <a:rPr lang="en-US" altLang="zh-CN" dirty="0" err="1">
                <a:solidFill>
                  <a:srgbClr val="FF0000"/>
                </a:solidFill>
                <a:latin typeface="微软雅黑" panose="020B0503020204020204" charset="-122"/>
                <a:ea typeface="微软雅黑" panose="020B0503020204020204" charset="-122"/>
              </a:rPr>
              <a:t>kbit</a:t>
            </a:r>
            <a:r>
              <a:rPr lang="en-US" altLang="zh-CN" dirty="0">
                <a:solidFill>
                  <a:srgbClr val="FF0000"/>
                </a:solidFill>
                <a:latin typeface="微软雅黑" panose="020B0503020204020204" charset="-122"/>
                <a:ea typeface="微软雅黑" panose="020B0503020204020204" charset="-122"/>
              </a:rPr>
              <a:t>*BHSA*</a:t>
            </a:r>
            <a:r>
              <a:rPr lang="zh-CN" altLang="en-US" dirty="0">
                <a:solidFill>
                  <a:srgbClr val="FF0000"/>
                </a:solidFill>
                <a:latin typeface="微软雅黑" panose="020B0503020204020204" charset="-122"/>
                <a:ea typeface="微软雅黑" panose="020B0503020204020204" charset="-122"/>
              </a:rPr>
              <a:t>业务渗透率   </a:t>
            </a:r>
            <a:r>
              <a:rPr lang="en-US" altLang="zh-CN" dirty="0">
                <a:solidFill>
                  <a:srgbClr val="FF0000"/>
                </a:solidFill>
                <a:latin typeface="微软雅黑" panose="020B0503020204020204" charset="-122"/>
                <a:ea typeface="微软雅黑" panose="020B0503020204020204" charset="-122"/>
              </a:rPr>
              <a:t>】*</a:t>
            </a:r>
            <a:r>
              <a:rPr lang="zh-CN" altLang="en-US" dirty="0">
                <a:solidFill>
                  <a:srgbClr val="FF0000"/>
                </a:solidFill>
                <a:latin typeface="微软雅黑" panose="020B0503020204020204" charset="-122"/>
                <a:ea typeface="微软雅黑" panose="020B0503020204020204" charset="-122"/>
              </a:rPr>
              <a:t>（</a:t>
            </a:r>
            <a:r>
              <a:rPr lang="en-US" altLang="zh-CN" dirty="0">
                <a:solidFill>
                  <a:srgbClr val="FF0000"/>
                </a:solidFill>
                <a:latin typeface="微软雅黑" panose="020B0503020204020204" charset="-122"/>
                <a:ea typeface="微软雅黑" panose="020B0503020204020204" charset="-122"/>
              </a:rPr>
              <a:t>1+</a:t>
            </a:r>
            <a:r>
              <a:rPr lang="zh-CN" altLang="en-US" dirty="0">
                <a:solidFill>
                  <a:srgbClr val="FF0000"/>
                </a:solidFill>
                <a:latin typeface="微软雅黑" panose="020B0503020204020204" charset="-122"/>
                <a:ea typeface="微软雅黑" panose="020B0503020204020204" charset="-122"/>
              </a:rPr>
              <a:t>峰均比）</a:t>
            </a:r>
            <a:r>
              <a:rPr lang="en-US" altLang="zh-CN" dirty="0">
                <a:solidFill>
                  <a:srgbClr val="FF0000"/>
                </a:solidFill>
                <a:latin typeface="微软雅黑" panose="020B0503020204020204" charset="-122"/>
                <a:ea typeface="微软雅黑" panose="020B0503020204020204" charset="-122"/>
              </a:rPr>
              <a:t>/3600</a:t>
            </a:r>
          </a:p>
        </p:txBody>
      </p:sp>
      <p:pic>
        <p:nvPicPr>
          <p:cNvPr id="9" name="图片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9853" y="1754593"/>
            <a:ext cx="6250684" cy="839033"/>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3"/>
          <p:cNvSpPr>
            <a:spLocks noChangeArrowheads="1"/>
          </p:cNvSpPr>
          <p:nvPr/>
        </p:nvSpPr>
        <p:spPr bwMode="auto">
          <a:xfrm>
            <a:off x="3596012" y="4271578"/>
            <a:ext cx="654147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2" name="矩形 1"/>
          <p:cNvSpPr/>
          <p:nvPr/>
        </p:nvSpPr>
        <p:spPr>
          <a:xfrm>
            <a:off x="1064895" y="4878021"/>
            <a:ext cx="6096000" cy="369332"/>
          </a:xfrm>
          <a:prstGeom prst="rect">
            <a:avLst/>
          </a:prstGeom>
        </p:spPr>
        <p:txBody>
          <a:bodyPr>
            <a:spAutoFit/>
          </a:bodyPr>
          <a:lstStyle/>
          <a:p>
            <a:pPr lvl="0" indent="127000" fontAlgn="base">
              <a:spcBef>
                <a:spcPct val="0"/>
              </a:spcBef>
              <a:spcAft>
                <a:spcPct val="0"/>
              </a:spcAft>
            </a:pPr>
            <a:r>
              <a:rPr lang="zh-CN" altLang="en-US" dirty="0">
                <a:latin typeface="微软雅黑" panose="020B0503020204020204" charset="-122"/>
              </a:rPr>
              <a:t>其中，峰均比的设置是用来满足</a:t>
            </a:r>
            <a:r>
              <a:rPr lang="en-US" altLang="zh-CN" dirty="0">
                <a:latin typeface="微软雅黑" panose="020B0503020204020204" charset="-122"/>
              </a:rPr>
              <a:t>PS</a:t>
            </a:r>
            <a:r>
              <a:rPr lang="zh-CN" altLang="en-US" dirty="0">
                <a:latin typeface="微软雅黑" panose="020B0503020204020204" charset="-122"/>
              </a:rPr>
              <a:t>业务的突发峰值。</a:t>
            </a:r>
          </a:p>
        </p:txBody>
      </p:sp>
      <p:sp>
        <p:nvSpPr>
          <p:cNvPr id="4" name="矩形 3"/>
          <p:cNvSpPr/>
          <p:nvPr/>
        </p:nvSpPr>
        <p:spPr>
          <a:xfrm>
            <a:off x="6918561" y="1267578"/>
            <a:ext cx="1338828" cy="369332"/>
          </a:xfrm>
          <a:prstGeom prst="rect">
            <a:avLst/>
          </a:prstGeom>
        </p:spPr>
        <p:txBody>
          <a:bodyPr wrap="none">
            <a:spAutoFit/>
          </a:bodyPr>
          <a:lstStyle/>
          <a:p>
            <a:r>
              <a:rPr lang="zh-CN" altLang="en-US" dirty="0">
                <a:latin typeface="微软雅黑" panose="020B0503020204020204" charset="-122"/>
              </a:rPr>
              <a:t>参考建议值</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网络吞吐量分析</a:t>
            </a:r>
          </a:p>
        </p:txBody>
      </p:sp>
      <p:sp>
        <p:nvSpPr>
          <p:cNvPr id="13" name="Rectangle 3"/>
          <p:cNvSpPr>
            <a:spLocks noChangeArrowheads="1"/>
          </p:cNvSpPr>
          <p:nvPr/>
        </p:nvSpPr>
        <p:spPr bwMode="auto">
          <a:xfrm>
            <a:off x="3596012" y="4271578"/>
            <a:ext cx="654147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3183890" y="2418080"/>
            <a:ext cx="6953885" cy="4118610"/>
          </a:xfrm>
          <a:prstGeom prst="rect">
            <a:avLst/>
          </a:prstGeom>
          <a:noFill/>
          <a:ln>
            <a:noFill/>
          </a:ln>
        </p:spPr>
      </p:pic>
      <p:sp>
        <p:nvSpPr>
          <p:cNvPr id="14" name="TextBox 13"/>
          <p:cNvSpPr txBox="1">
            <a:spLocks noChangeArrowheads="1"/>
          </p:cNvSpPr>
          <p:nvPr/>
        </p:nvSpPr>
        <p:spPr bwMode="auto">
          <a:xfrm>
            <a:off x="4021037" y="1395203"/>
            <a:ext cx="6116452"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0" defTabSz="914400" fontAlgn="base">
              <a:lnSpc>
                <a:spcPct val="150000"/>
              </a:lnSpc>
              <a:spcBef>
                <a:spcPct val="0"/>
              </a:spcBef>
              <a:spcAft>
                <a:spcPct val="0"/>
              </a:spcAft>
            </a:pPr>
            <a:r>
              <a:rPr lang="zh-CN" altLang="en-US" dirty="0">
                <a:latin typeface="微软雅黑" panose="020B0503020204020204" charset="-122"/>
                <a:ea typeface="微软雅黑" panose="020B0503020204020204" charset="-122"/>
              </a:rPr>
              <a:t>因此，单用户吞吐量分析结果仿真如下表所示（以密集城区场景为例，其余场景同理可得）：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网络吞吐量分析</a:t>
            </a:r>
          </a:p>
        </p:txBody>
      </p:sp>
      <p:sp>
        <p:nvSpPr>
          <p:cNvPr id="13" name="Rectangle 3"/>
          <p:cNvSpPr>
            <a:spLocks noChangeArrowheads="1"/>
          </p:cNvSpPr>
          <p:nvPr/>
        </p:nvSpPr>
        <p:spPr bwMode="auto">
          <a:xfrm>
            <a:off x="3596012" y="4271578"/>
            <a:ext cx="654147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9" name="Rectangle 1"/>
          <p:cNvSpPr>
            <a:spLocks noChangeArrowheads="1"/>
          </p:cNvSpPr>
          <p:nvPr/>
        </p:nvSpPr>
        <p:spPr bwMode="auto">
          <a:xfrm>
            <a:off x="3595456" y="1462045"/>
            <a:ext cx="7672853" cy="164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1270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304800" algn="l" defTabSz="914400" rtl="0" eaLnBrk="0" fontAlgn="base" latinLnBrk="0" hangingPunct="0">
              <a:lnSpc>
                <a:spcPct val="150000"/>
              </a:lnSpc>
              <a:spcBef>
                <a:spcPts val="600"/>
              </a:spcBef>
              <a:spcAft>
                <a:spcPts val="600"/>
              </a:spcAft>
              <a:buClrTx/>
              <a:buSzTx/>
              <a:buFontTx/>
              <a:buNone/>
            </a:pPr>
            <a:r>
              <a:rPr lang="en-US" altLang="zh-CN" dirty="0">
                <a:latin typeface="微软雅黑" panose="020B0503020204020204" charset="-122"/>
                <a:ea typeface="微软雅黑" panose="020B0503020204020204" charset="-122"/>
              </a:rPr>
              <a:t>4</a:t>
            </a:r>
            <a:r>
              <a:rPr lang="zh-CN" altLang="en-US" dirty="0">
                <a:latin typeface="微软雅黑" panose="020B0503020204020204" charset="-122"/>
                <a:ea typeface="微软雅黑" panose="020B0503020204020204" charset="-122"/>
              </a:rPr>
              <a:t>）网络吞吐量</a:t>
            </a:r>
          </a:p>
          <a:p>
            <a:pPr marL="0" marR="0" lvl="0" indent="127000" algn="ctr" defTabSz="914400" rtl="0" eaLnBrk="0" fontAlgn="base" latinLnBrk="0" hangingPunct="0">
              <a:lnSpc>
                <a:spcPct val="150000"/>
              </a:lnSpc>
              <a:spcBef>
                <a:spcPts val="600"/>
              </a:spcBef>
              <a:spcAft>
                <a:spcPts val="600"/>
              </a:spcAft>
              <a:buClrTx/>
              <a:buSzTx/>
              <a:buFontTx/>
              <a:buNone/>
            </a:pPr>
            <a:r>
              <a:rPr lang="zh-CN" altLang="en-US" dirty="0">
                <a:solidFill>
                  <a:srgbClr val="FF0000"/>
                </a:solidFill>
                <a:latin typeface="微软雅黑" panose="020B0503020204020204" charset="-122"/>
                <a:ea typeface="微软雅黑" panose="020B0503020204020204" charset="-122"/>
              </a:rPr>
              <a:t>网络吞吐量</a:t>
            </a:r>
            <a:r>
              <a:rPr lang="en-US" altLang="zh-CN" dirty="0">
                <a:solidFill>
                  <a:srgbClr val="FF0000"/>
                </a:solidFill>
                <a:latin typeface="微软雅黑" panose="020B0503020204020204" charset="-122"/>
                <a:ea typeface="微软雅黑" panose="020B0503020204020204" charset="-122"/>
              </a:rPr>
              <a:t>=</a:t>
            </a:r>
            <a:r>
              <a:rPr lang="zh-CN" altLang="en-US" dirty="0">
                <a:solidFill>
                  <a:srgbClr val="FF0000"/>
                </a:solidFill>
                <a:latin typeface="微软雅黑" panose="020B0503020204020204" charset="-122"/>
                <a:ea typeface="微软雅黑" panose="020B0503020204020204" charset="-122"/>
              </a:rPr>
              <a:t>总用户数*单用户吞吐量</a:t>
            </a:r>
          </a:p>
          <a:p>
            <a:pPr marL="0" marR="0" lvl="0" indent="127000" algn="l" defTabSz="914400" rtl="0" eaLnBrk="0" fontAlgn="base" latinLnBrk="0" hangingPunct="0">
              <a:lnSpc>
                <a:spcPct val="150000"/>
              </a:lnSpc>
              <a:spcBef>
                <a:spcPts val="600"/>
              </a:spcBef>
              <a:spcAft>
                <a:spcPts val="600"/>
              </a:spcAft>
              <a:buClrTx/>
              <a:buSzTx/>
              <a:buFontTx/>
              <a:buNone/>
            </a:pPr>
            <a:r>
              <a:rPr lang="zh-CN" altLang="en-US" dirty="0">
                <a:latin typeface="微软雅黑" panose="020B0503020204020204" charset="-122"/>
                <a:ea typeface="微软雅黑" panose="020B0503020204020204" charset="-122"/>
              </a:rPr>
              <a:t>结合以上分析数据，可统计得出当前网络吞吐量结果，如下表所示： </a:t>
            </a:r>
          </a:p>
        </p:txBody>
      </p:sp>
      <p:pic>
        <p:nvPicPr>
          <p:cNvPr id="10" name="图片 9"/>
          <p:cNvPicPr/>
          <p:nvPr/>
        </p:nvPicPr>
        <p:blipFill>
          <a:blip r:embed="rId2">
            <a:extLst>
              <a:ext uri="{28A0092B-C50C-407E-A947-70E740481C1C}">
                <a14:useLocalDpi xmlns:a14="http://schemas.microsoft.com/office/drawing/2010/main" val="0"/>
              </a:ext>
            </a:extLst>
          </a:blip>
          <a:srcRect/>
          <a:stretch>
            <a:fillRect/>
          </a:stretch>
        </p:blipFill>
        <p:spPr bwMode="auto">
          <a:xfrm>
            <a:off x="1891665" y="3429000"/>
            <a:ext cx="8804275" cy="21780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小区平均吞吐量</a:t>
            </a:r>
          </a:p>
        </p:txBody>
      </p:sp>
      <p:sp>
        <p:nvSpPr>
          <p:cNvPr id="13" name="Rectangle 3"/>
          <p:cNvSpPr>
            <a:spLocks noChangeArrowheads="1"/>
          </p:cNvSpPr>
          <p:nvPr/>
        </p:nvSpPr>
        <p:spPr bwMode="auto">
          <a:xfrm>
            <a:off x="3596012" y="4271578"/>
            <a:ext cx="654147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11" name="图示 10"/>
          <p:cNvGraphicFramePr/>
          <p:nvPr/>
        </p:nvGraphicFramePr>
        <p:xfrm>
          <a:off x="6468446" y="2729278"/>
          <a:ext cx="4428278" cy="2720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Rectangle 8"/>
          <p:cNvSpPr>
            <a:spLocks noChangeArrowheads="1"/>
          </p:cNvSpPr>
          <p:nvPr/>
        </p:nvSpPr>
        <p:spPr bwMode="auto">
          <a:xfrm>
            <a:off x="794372" y="3182965"/>
            <a:ext cx="607237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304800"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50000"/>
              </a:lnSpc>
              <a:spcBef>
                <a:spcPct val="0"/>
              </a:spcBef>
              <a:spcAft>
                <a:spcPct val="0"/>
              </a:spcAft>
              <a:buClrTx/>
              <a:buSzTx/>
            </a:pPr>
            <a:r>
              <a:rPr lang="zh-CN" sz="2000" dirty="0">
                <a:latin typeface="微软雅黑" panose="020B0503020204020204" charset="-122"/>
                <a:ea typeface="微软雅黑" panose="020B0503020204020204" charset="-122"/>
              </a:rPr>
              <a:t>在完成</a:t>
            </a:r>
            <a:r>
              <a:rPr lang="en-US" altLang="zh-CN" sz="2000" dirty="0">
                <a:latin typeface="微软雅黑" panose="020B0503020204020204" charset="-122"/>
                <a:ea typeface="微软雅黑" panose="020B0503020204020204" charset="-122"/>
              </a:rPr>
              <a:t>LTE</a:t>
            </a:r>
            <a:r>
              <a:rPr lang="zh-CN" altLang="en-US" sz="2000" dirty="0">
                <a:latin typeface="微软雅黑" panose="020B0503020204020204" charset="-122"/>
                <a:ea typeface="微软雅黑" panose="020B0503020204020204" charset="-122"/>
              </a:rPr>
              <a:t>无线网络覆盖规划后，根据小区半径、小区边缘</a:t>
            </a:r>
            <a:r>
              <a:rPr lang="en-US" altLang="zh-CN" sz="2000" dirty="0">
                <a:latin typeface="微软雅黑" panose="020B0503020204020204" charset="-122"/>
                <a:ea typeface="微软雅黑" panose="020B0503020204020204" charset="-122"/>
              </a:rPr>
              <a:t>SINR</a:t>
            </a:r>
            <a:r>
              <a:rPr lang="zh-CN" altLang="en-US" sz="2000" dirty="0">
                <a:latin typeface="微软雅黑" panose="020B0503020204020204" charset="-122"/>
                <a:ea typeface="微软雅黑" panose="020B0503020204020204" charset="-122"/>
              </a:rPr>
              <a:t>以及整个小区的</a:t>
            </a:r>
            <a:r>
              <a:rPr lang="en-US" altLang="zh-CN" sz="2000" dirty="0">
                <a:latin typeface="微软雅黑" panose="020B0503020204020204" charset="-122"/>
                <a:ea typeface="微软雅黑" panose="020B0503020204020204" charset="-122"/>
              </a:rPr>
              <a:t>SINR</a:t>
            </a:r>
            <a:r>
              <a:rPr lang="zh-CN" altLang="en-US" sz="2000" dirty="0">
                <a:latin typeface="微软雅黑" panose="020B0503020204020204" charset="-122"/>
                <a:ea typeface="微软雅黑" panose="020B0503020204020204" charset="-122"/>
              </a:rPr>
              <a:t>概率分布（仿真获取），可以计算出小区平均吞吐量。</a:t>
            </a:r>
            <a:endParaRPr kumimoji="0" lang="zh-CN" altLang="en-US" sz="2000" b="0" i="0" u="none" strike="noStrike" cap="none" normalizeH="0" baseline="0" dirty="0">
              <a:ln>
                <a:noFill/>
              </a:ln>
              <a:solidFill>
                <a:schemeClr val="tx1"/>
              </a:solidFill>
              <a:effectLst/>
            </a:endParaRPr>
          </a:p>
        </p:txBody>
      </p:sp>
      <p:sp>
        <p:nvSpPr>
          <p:cNvPr id="2" name="矩形 1"/>
          <p:cNvSpPr/>
          <p:nvPr/>
        </p:nvSpPr>
        <p:spPr>
          <a:xfrm>
            <a:off x="6637740" y="1903704"/>
            <a:ext cx="3877985" cy="369332"/>
          </a:xfrm>
          <a:prstGeom prst="rect">
            <a:avLst/>
          </a:prstGeom>
        </p:spPr>
        <p:txBody>
          <a:bodyPr wrap="none">
            <a:spAutoFit/>
          </a:bodyPr>
          <a:lstStyle/>
          <a:p>
            <a:pPr lvl="0" eaLnBrk="0" fontAlgn="base" hangingPunct="0">
              <a:spcBef>
                <a:spcPct val="0"/>
              </a:spcBef>
              <a:spcAft>
                <a:spcPct val="0"/>
              </a:spcAft>
            </a:pPr>
            <a:r>
              <a:rPr lang="zh-CN" altLang="en-US" dirty="0">
                <a:latin typeface="微软雅黑" panose="020B0503020204020204" charset="-122"/>
              </a:rPr>
              <a:t>小区平均吞吐量计算方法如图所示：</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39568-4DFD-28F1-6564-FD77A608C55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2DD2279-B42B-5D5A-0BCC-D556A7EB6A78}"/>
              </a:ext>
            </a:extLst>
          </p:cNvPr>
          <p:cNvSpPr>
            <a:spLocks noGrp="1"/>
          </p:cNvSpPr>
          <p:nvPr>
            <p:ph type="title"/>
          </p:nvPr>
        </p:nvSpPr>
        <p:spPr>
          <a:xfrm>
            <a:off x="1064895" y="-125995"/>
            <a:ext cx="10515600" cy="535305"/>
          </a:xfrm>
        </p:spPr>
        <p:txBody>
          <a:bodyPr/>
          <a:lstStyle/>
          <a:p>
            <a:r>
              <a:rPr lang="zh-CN" altLang="en-US" dirty="0"/>
              <a:t>任务二：步入</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6BAF0B9F-9D0D-9FC6-BAF3-3B357DC97319}"/>
              </a:ext>
            </a:extLst>
          </p:cNvPr>
          <p:cNvSpPr txBox="1"/>
          <p:nvPr/>
        </p:nvSpPr>
        <p:spPr>
          <a:xfrm>
            <a:off x="878481" y="337657"/>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a:extLst>
              <a:ext uri="{FF2B5EF4-FFF2-40B4-BE49-F238E27FC236}">
                <a16:creationId xmlns:a16="http://schemas.microsoft.com/office/drawing/2014/main" id="{DEB840BF-4A6B-8E68-AAF1-159A863CDBA2}"/>
              </a:ext>
            </a:extLst>
          </p:cNvPr>
          <p:cNvSpPr>
            <a:spLocks noChangeArrowheads="1"/>
          </p:cNvSpPr>
          <p:nvPr/>
        </p:nvSpPr>
        <p:spPr bwMode="auto">
          <a:xfrm>
            <a:off x="0" y="-5844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a:extLst>
              <a:ext uri="{FF2B5EF4-FFF2-40B4-BE49-F238E27FC236}">
                <a16:creationId xmlns:a16="http://schemas.microsoft.com/office/drawing/2014/main" id="{29B19E91-331B-5578-CB9A-9101ACF0BFD3}"/>
              </a:ext>
            </a:extLst>
          </p:cNvPr>
          <p:cNvSpPr txBox="1"/>
          <p:nvPr/>
        </p:nvSpPr>
        <p:spPr bwMode="auto">
          <a:xfrm>
            <a:off x="878481" y="1418696"/>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小区平均吞吐量</a:t>
            </a:r>
          </a:p>
        </p:txBody>
      </p:sp>
      <p:sp>
        <p:nvSpPr>
          <p:cNvPr id="13" name="Rectangle 3">
            <a:extLst>
              <a:ext uri="{FF2B5EF4-FFF2-40B4-BE49-F238E27FC236}">
                <a16:creationId xmlns:a16="http://schemas.microsoft.com/office/drawing/2014/main" id="{36A2014A-BDB9-4F4A-1227-D6D18F1FE606}"/>
              </a:ext>
            </a:extLst>
          </p:cNvPr>
          <p:cNvSpPr>
            <a:spLocks noChangeArrowheads="1"/>
          </p:cNvSpPr>
          <p:nvPr/>
        </p:nvSpPr>
        <p:spPr bwMode="auto">
          <a:xfrm>
            <a:off x="3596012" y="3687113"/>
            <a:ext cx="654147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10" name="TextBox 13">
                <a:extLst>
                  <a:ext uri="{FF2B5EF4-FFF2-40B4-BE49-F238E27FC236}">
                    <a16:creationId xmlns:a16="http://schemas.microsoft.com/office/drawing/2014/main" id="{83261911-953E-481E-5B94-259CA3B3E0FA}"/>
                  </a:ext>
                </a:extLst>
              </p:cNvPr>
              <p:cNvSpPr txBox="1">
                <a:spLocks noChangeArrowheads="1"/>
              </p:cNvSpPr>
              <p:nvPr/>
            </p:nvSpPr>
            <p:spPr bwMode="auto">
              <a:xfrm>
                <a:off x="1064895" y="1958446"/>
                <a:ext cx="9182041" cy="140532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b="1" dirty="0">
                    <a:solidFill>
                      <a:schemeClr val="tx1"/>
                    </a:solidFill>
                    <a:latin typeface="宋体" panose="02010600030101010101" pitchFamily="2" charset="-122"/>
                  </a:rPr>
                  <a:t>LTE</a:t>
                </a:r>
                <a14:m>
                  <m:oMath xmlns:m="http://schemas.openxmlformats.org/officeDocument/2006/math">
                    <m:r>
                      <a:rPr lang="zh-CN" altLang="en-US" sz="2000" b="1" i="0" dirty="0">
                        <a:solidFill>
                          <a:schemeClr val="tx1"/>
                        </a:solidFill>
                        <a:latin typeface="Cambria Math" panose="02040503050406030204" pitchFamily="18" charset="0"/>
                        <a:ea typeface="微软雅黑" panose="020B0503020204020204" charset="-122"/>
                      </a:rPr>
                      <m:t>典型小区</m:t>
                    </m:r>
                    <m:r>
                      <a:rPr lang="zh-CN" altLang="en-US" sz="2000" b="1" i="0" dirty="0" smtClean="0">
                        <a:solidFill>
                          <a:schemeClr val="tx1"/>
                        </a:solidFill>
                        <a:latin typeface="Cambria Math" panose="02040503050406030204" pitchFamily="18" charset="0"/>
                        <a:ea typeface="微软雅黑" panose="020B0503020204020204" charset="-122"/>
                      </a:rPr>
                      <m:t>平均吞吐量</m:t>
                    </m:r>
                  </m:oMath>
                </a14:m>
                <a:r>
                  <a:rPr lang="zh-CN" altLang="en-US" sz="2000" b="1" dirty="0">
                    <a:solidFill>
                      <a:schemeClr val="tx1"/>
                    </a:solidFill>
                    <a:latin typeface="宋体" panose="02010600030101010101" pitchFamily="2" charset="-122"/>
                  </a:rPr>
                  <a:t>的仿真条件如下：</a:t>
                </a:r>
                <a:endParaRPr lang="en-US" altLang="zh-CN" sz="2000" b="1" dirty="0">
                  <a:solidFill>
                    <a:schemeClr val="tx1"/>
                  </a:solidFill>
                  <a:latin typeface="宋体" panose="02010600030101010101" pitchFamily="2" charset="-122"/>
                </a:endParaRPr>
              </a:p>
              <a:p>
                <a:pPr>
                  <a:lnSpc>
                    <a:spcPct val="150000"/>
                  </a:lnSpc>
                </a:pPr>
                <a:r>
                  <a:rPr lang="zh-CN" altLang="en-US" sz="2000" b="1" dirty="0">
                    <a:solidFill>
                      <a:schemeClr val="tx1"/>
                    </a:solidFill>
                    <a:latin typeface="宋体" panose="02010600030101010101" pitchFamily="2" charset="-122"/>
                  </a:rPr>
                  <a:t>（</a:t>
                </a:r>
                <a:r>
                  <a:rPr lang="en-US" altLang="zh-CN" sz="2000" b="1" dirty="0">
                    <a:solidFill>
                      <a:schemeClr val="tx1"/>
                    </a:solidFill>
                    <a:latin typeface="宋体" panose="02010600030101010101" pitchFamily="2" charset="-122"/>
                  </a:rPr>
                  <a:t>1</a:t>
                </a:r>
                <a:r>
                  <a:rPr lang="zh-CN" altLang="en-US" sz="2000" b="1" dirty="0">
                    <a:solidFill>
                      <a:schemeClr val="tx1"/>
                    </a:solidFill>
                    <a:latin typeface="宋体" panose="02010600030101010101" pitchFamily="2" charset="-122"/>
                  </a:rPr>
                  <a:t>）</a:t>
                </a:r>
                <a:r>
                  <a:rPr lang="en-US" altLang="zh-CN" sz="2000" b="1" dirty="0">
                    <a:solidFill>
                      <a:schemeClr val="tx1"/>
                    </a:solidFill>
                    <a:latin typeface="宋体" panose="02010600030101010101" pitchFamily="2" charset="-122"/>
                  </a:rPr>
                  <a:t>10MHz</a:t>
                </a:r>
                <a:r>
                  <a:rPr lang="zh-CN" altLang="en-US" sz="2000" b="1" dirty="0">
                    <a:solidFill>
                      <a:schemeClr val="tx1"/>
                    </a:solidFill>
                    <a:latin typeface="宋体" panose="02010600030101010101" pitchFamily="2" charset="-122"/>
                  </a:rPr>
                  <a:t>带宽、</a:t>
                </a:r>
                <a:r>
                  <a:rPr lang="en-US" altLang="zh-CN" sz="2000" b="1" dirty="0">
                    <a:solidFill>
                      <a:schemeClr val="tx1"/>
                    </a:solidFill>
                    <a:latin typeface="宋体" panose="02010600030101010101" pitchFamily="2" charset="-122"/>
                  </a:rPr>
                  <a:t>2T2R</a:t>
                </a:r>
                <a:r>
                  <a:rPr lang="zh-CN" altLang="en-US" sz="2000" b="1" dirty="0">
                    <a:solidFill>
                      <a:schemeClr val="tx1"/>
                    </a:solidFill>
                    <a:latin typeface="宋体" panose="02010600030101010101" pitchFamily="2" charset="-122"/>
                  </a:rPr>
                  <a:t>、频率复用度</a:t>
                </a:r>
                <a:r>
                  <a:rPr lang="en-US" altLang="zh-CN" sz="2000" b="1" dirty="0">
                    <a:solidFill>
                      <a:schemeClr val="tx1"/>
                    </a:solidFill>
                    <a:latin typeface="宋体" panose="02010600030101010101" pitchFamily="2" charset="-122"/>
                  </a:rPr>
                  <a:t>1</a:t>
                </a:r>
                <a:r>
                  <a:rPr lang="zh-CN" altLang="en-US" sz="2000" b="1" dirty="0">
                    <a:solidFill>
                      <a:schemeClr val="tx1"/>
                    </a:solidFill>
                    <a:latin typeface="宋体" panose="02010600030101010101" pitchFamily="2" charset="-122"/>
                  </a:rPr>
                  <a:t>*</a:t>
                </a:r>
                <a:r>
                  <a:rPr lang="en-US" altLang="zh-CN" sz="2000" b="1" dirty="0">
                    <a:solidFill>
                      <a:schemeClr val="tx1"/>
                    </a:solidFill>
                    <a:latin typeface="宋体" panose="02010600030101010101" pitchFamily="2" charset="-122"/>
                  </a:rPr>
                  <a:t>3</a:t>
                </a:r>
                <a:r>
                  <a:rPr lang="zh-CN" altLang="en-US" sz="2000" b="1" dirty="0">
                    <a:solidFill>
                      <a:schemeClr val="tx1"/>
                    </a:solidFill>
                    <a:latin typeface="宋体" panose="02010600030101010101" pitchFamily="2" charset="-122"/>
                  </a:rPr>
                  <a:t>*</a:t>
                </a:r>
                <a:r>
                  <a:rPr lang="en-US" altLang="zh-CN" sz="2000" b="1" dirty="0">
                    <a:solidFill>
                      <a:schemeClr val="tx1"/>
                    </a:solidFill>
                    <a:latin typeface="宋体" panose="02010600030101010101" pitchFamily="2" charset="-122"/>
                  </a:rPr>
                  <a:t>1</a:t>
                </a:r>
                <a:r>
                  <a:rPr lang="zh-CN" altLang="en-US" sz="2000" b="1" dirty="0">
                    <a:solidFill>
                      <a:schemeClr val="tx1"/>
                    </a:solidFill>
                    <a:latin typeface="宋体" panose="02010600030101010101" pitchFamily="2" charset="-122"/>
                  </a:rPr>
                  <a:t>、</a:t>
                </a:r>
                <a:r>
                  <a:rPr lang="en-US" altLang="zh-CN" sz="2000" b="1" dirty="0">
                    <a:solidFill>
                      <a:schemeClr val="tx1"/>
                    </a:solidFill>
                    <a:latin typeface="宋体" panose="02010600030101010101" pitchFamily="2" charset="-122"/>
                  </a:rPr>
                  <a:t>2</a:t>
                </a:r>
                <a:r>
                  <a:rPr lang="zh-CN" altLang="en-US" sz="2000" b="1" dirty="0">
                    <a:solidFill>
                      <a:schemeClr val="tx1"/>
                    </a:solidFill>
                    <a:latin typeface="宋体" panose="02010600030101010101" pitchFamily="2" charset="-122"/>
                  </a:rPr>
                  <a:t>*</a:t>
                </a:r>
                <a:r>
                  <a:rPr lang="en-US" altLang="zh-CN" sz="2000" b="1" dirty="0">
                    <a:solidFill>
                      <a:schemeClr val="tx1"/>
                    </a:solidFill>
                    <a:latin typeface="宋体" panose="02010600030101010101" pitchFamily="2" charset="-122"/>
                  </a:rPr>
                  <a:t>20W</a:t>
                </a:r>
                <a:r>
                  <a:rPr lang="zh-CN" altLang="en-US" sz="2000" b="1" dirty="0">
                    <a:solidFill>
                      <a:schemeClr val="tx1"/>
                    </a:solidFill>
                    <a:latin typeface="宋体" panose="02010600030101010101" pitchFamily="2" charset="-122"/>
                  </a:rPr>
                  <a:t>输出功率、负载</a:t>
                </a:r>
                <a:r>
                  <a:rPr lang="en-US" altLang="zh-CN" sz="2000" b="1" dirty="0">
                    <a:solidFill>
                      <a:schemeClr val="tx1"/>
                    </a:solidFill>
                    <a:latin typeface="宋体" panose="02010600030101010101" pitchFamily="2" charset="-122"/>
                  </a:rPr>
                  <a:t>50%</a:t>
                </a:r>
                <a:r>
                  <a:rPr lang="zh-CN" altLang="en-US" sz="2000" b="1" dirty="0">
                    <a:solidFill>
                      <a:schemeClr val="tx1"/>
                    </a:solidFill>
                    <a:latin typeface="宋体" panose="02010600030101010101" pitchFamily="2" charset="-122"/>
                  </a:rPr>
                  <a:t>。</a:t>
                </a:r>
                <a:endParaRPr lang="en-US" altLang="zh-CN" sz="2000" b="1" dirty="0">
                  <a:solidFill>
                    <a:schemeClr val="tx1"/>
                  </a:solidFill>
                  <a:latin typeface="宋体" panose="02010600030101010101" pitchFamily="2" charset="-122"/>
                </a:endParaRPr>
              </a:p>
              <a:p>
                <a:pPr>
                  <a:lnSpc>
                    <a:spcPct val="150000"/>
                  </a:lnSpc>
                </a:pPr>
                <a:r>
                  <a:rPr lang="zh-CN" altLang="en-US" sz="2000" b="1" dirty="0">
                    <a:solidFill>
                      <a:schemeClr val="tx1"/>
                    </a:solidFill>
                    <a:latin typeface="宋体" panose="02010600030101010101" pitchFamily="2" charset="-122"/>
                  </a:rPr>
                  <a:t>（</a:t>
                </a:r>
                <a:r>
                  <a:rPr lang="en-US" altLang="zh-CN" sz="2000" b="1" dirty="0">
                    <a:solidFill>
                      <a:schemeClr val="tx1"/>
                    </a:solidFill>
                    <a:latin typeface="宋体" panose="02010600030101010101" pitchFamily="2" charset="-122"/>
                  </a:rPr>
                  <a:t>2</a:t>
                </a:r>
                <a:r>
                  <a:rPr lang="zh-CN" altLang="en-US" sz="2000" b="1" dirty="0">
                    <a:solidFill>
                      <a:schemeClr val="tx1"/>
                    </a:solidFill>
                    <a:latin typeface="宋体" panose="02010600030101010101" pitchFamily="2" charset="-122"/>
                  </a:rPr>
                  <a:t>）测试频段</a:t>
                </a:r>
                <a:r>
                  <a:rPr lang="en-US" altLang="zh-CN" sz="2000" b="1" dirty="0">
                    <a:solidFill>
                      <a:schemeClr val="tx1"/>
                    </a:solidFill>
                    <a:latin typeface="宋体" panose="02010600030101010101" pitchFamily="2" charset="-122"/>
                  </a:rPr>
                  <a:t>2.1GHz</a:t>
                </a:r>
                <a:r>
                  <a:rPr lang="zh-CN" altLang="en-US" sz="2000" b="1" dirty="0">
                    <a:solidFill>
                      <a:schemeClr val="tx1"/>
                    </a:solidFill>
                    <a:latin typeface="宋体" panose="02010600030101010101" pitchFamily="2" charset="-122"/>
                  </a:rPr>
                  <a:t>，该频率是理想城市网络频率之一。</a:t>
                </a:r>
                <a:endParaRPr lang="en-US" altLang="zh-CN" sz="2000" b="1" dirty="0">
                  <a:solidFill>
                    <a:schemeClr val="tx1"/>
                  </a:solidFill>
                  <a:latin typeface="宋体" panose="02010600030101010101" pitchFamily="2" charset="-122"/>
                </a:endParaRPr>
              </a:p>
            </p:txBody>
          </p:sp>
        </mc:Choice>
        <mc:Fallback xmlns="">
          <p:sp>
            <p:nvSpPr>
              <p:cNvPr id="10" name="TextBox 13">
                <a:extLst>
                  <a:ext uri="{FF2B5EF4-FFF2-40B4-BE49-F238E27FC236}">
                    <a16:creationId xmlns:a16="http://schemas.microsoft.com/office/drawing/2014/main" id="{83261911-953E-481E-5B94-259CA3B3E0FA}"/>
                  </a:ext>
                </a:extLst>
              </p:cNvPr>
              <p:cNvSpPr txBox="1">
                <a:spLocks noRot="1" noChangeAspect="1" noMove="1" noResize="1" noEditPoints="1" noAdjustHandles="1" noChangeArrowheads="1" noChangeShapeType="1" noTextEdit="1"/>
              </p:cNvSpPr>
              <p:nvPr/>
            </p:nvSpPr>
            <p:spPr bwMode="auto">
              <a:xfrm>
                <a:off x="1064895" y="1958446"/>
                <a:ext cx="9182041" cy="1405321"/>
              </a:xfrm>
              <a:prstGeom prst="rect">
                <a:avLst/>
              </a:prstGeom>
              <a:blipFill>
                <a:blip r:embed="rId3"/>
                <a:stretch>
                  <a:fillRect l="-730" b="-649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1379E9FE-F0A2-C0FB-5D6A-59FB3F1A4D38}"/>
              </a:ext>
            </a:extLst>
          </p:cNvPr>
          <p:cNvSpPr txBox="1"/>
          <p:nvPr/>
        </p:nvSpPr>
        <p:spPr>
          <a:xfrm>
            <a:off x="4188476" y="3575244"/>
            <a:ext cx="3943546" cy="400110"/>
          </a:xfrm>
          <a:prstGeom prst="rect">
            <a:avLst/>
          </a:prstGeom>
          <a:noFill/>
        </p:spPr>
        <p:txBody>
          <a:bodyPr wrap="square" rtlCol="0">
            <a:spAutoFit/>
          </a:bodyPr>
          <a:lstStyle/>
          <a:p>
            <a:r>
              <a:rPr lang="en-US" altLang="zh-CN" sz="2000" b="1" dirty="0"/>
              <a:t>LTE</a:t>
            </a:r>
            <a:r>
              <a:rPr lang="zh-CN" altLang="en-US" sz="2000" b="1" dirty="0"/>
              <a:t>典型小区</a:t>
            </a:r>
            <a:r>
              <a:rPr lang="en-US" altLang="zh-CN" sz="2000" b="1" dirty="0"/>
              <a:t>MAC</a:t>
            </a:r>
            <a:r>
              <a:rPr lang="zh-CN" altLang="en-US" sz="2000" b="1" dirty="0"/>
              <a:t>层仿真结果</a:t>
            </a:r>
          </a:p>
        </p:txBody>
      </p:sp>
      <p:sp>
        <p:nvSpPr>
          <p:cNvPr id="7" name="文本框 6">
            <a:extLst>
              <a:ext uri="{FF2B5EF4-FFF2-40B4-BE49-F238E27FC236}">
                <a16:creationId xmlns:a16="http://schemas.microsoft.com/office/drawing/2014/main" id="{AD7ACBB6-0C76-5676-4010-8E60613AE577}"/>
              </a:ext>
            </a:extLst>
          </p:cNvPr>
          <p:cNvSpPr txBox="1"/>
          <p:nvPr/>
        </p:nvSpPr>
        <p:spPr>
          <a:xfrm>
            <a:off x="465674" y="5367321"/>
            <a:ext cx="11260652" cy="1015663"/>
          </a:xfrm>
          <a:prstGeom prst="rect">
            <a:avLst/>
          </a:prstGeom>
          <a:noFill/>
        </p:spPr>
        <p:txBody>
          <a:bodyPr wrap="square">
            <a:spAutoFit/>
          </a:bodyPr>
          <a:lstStyle/>
          <a:p>
            <a:pPr algn="just">
              <a:buNone/>
            </a:pP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需要将所获取的</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MAC</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层小区平均吞吐量转换成</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IP</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层（空口协议栈第三层）小区吞吐量，即单小区平均吞吐量（</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IP</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层）</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单小区平均吞吐量（</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MAC</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层）乘以</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乘以</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乘以</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，其中，</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是空口协议栈第二层到第三层的开销，参考值分别为</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99.34%</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99.34%</a:t>
            </a:r>
            <a:r>
              <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99.35%</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18" name="图片 17">
            <a:extLst>
              <a:ext uri="{FF2B5EF4-FFF2-40B4-BE49-F238E27FC236}">
                <a16:creationId xmlns:a16="http://schemas.microsoft.com/office/drawing/2014/main" id="{5189E845-27D4-D3B5-66ED-86F6E814612D}"/>
              </a:ext>
            </a:extLst>
          </p:cNvPr>
          <p:cNvPicPr>
            <a:picLocks noChangeAspect="1"/>
          </p:cNvPicPr>
          <p:nvPr/>
        </p:nvPicPr>
        <p:blipFill>
          <a:blip r:embed="rId4"/>
          <a:stretch>
            <a:fillRect/>
          </a:stretch>
        </p:blipFill>
        <p:spPr>
          <a:xfrm>
            <a:off x="110286" y="4098646"/>
            <a:ext cx="11971428" cy="857143"/>
          </a:xfrm>
          <a:prstGeom prst="rect">
            <a:avLst/>
          </a:prstGeom>
        </p:spPr>
      </p:pic>
    </p:spTree>
    <p:extLst>
      <p:ext uri="{BB962C8B-B14F-4D97-AF65-F5344CB8AC3E}">
        <p14:creationId xmlns:p14="http://schemas.microsoft.com/office/powerpoint/2010/main" val="1638067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1" y="2003161"/>
            <a:ext cx="245738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输出基站数量</a:t>
            </a:r>
          </a:p>
        </p:txBody>
      </p:sp>
      <p:sp>
        <p:nvSpPr>
          <p:cNvPr id="13" name="Rectangle 3"/>
          <p:cNvSpPr>
            <a:spLocks noChangeArrowheads="1"/>
          </p:cNvSpPr>
          <p:nvPr/>
        </p:nvSpPr>
        <p:spPr bwMode="auto">
          <a:xfrm>
            <a:off x="3596012" y="4271578"/>
            <a:ext cx="654147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10" name="TextBox 13"/>
              <p:cNvSpPr txBox="1">
                <a:spLocks noChangeArrowheads="1"/>
              </p:cNvSpPr>
              <p:nvPr/>
            </p:nvSpPr>
            <p:spPr bwMode="auto">
              <a:xfrm>
                <a:off x="3731749" y="1892602"/>
                <a:ext cx="7671773" cy="148014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a:latin typeface="微软雅黑" panose="020B0503020204020204" charset="-122"/>
                    <a:ea typeface="微软雅黑" panose="020B0503020204020204" charset="-122"/>
                  </a:rPr>
                  <a:t>结合</a:t>
                </a:r>
                <a:r>
                  <a:rPr lang="en-US" altLang="zh-CN" sz="2000" dirty="0">
                    <a:latin typeface="微软雅黑" panose="020B0503020204020204" charset="-122"/>
                    <a:ea typeface="微软雅黑" panose="020B0503020204020204" charset="-122"/>
                  </a:rPr>
                  <a:t>LTE</a:t>
                </a:r>
                <a:r>
                  <a:rPr lang="zh-CN" altLang="zh-CN" sz="2000" dirty="0">
                    <a:latin typeface="微软雅黑" panose="020B0503020204020204" charset="-122"/>
                    <a:ea typeface="微软雅黑" panose="020B0503020204020204" charset="-122"/>
                  </a:rPr>
                  <a:t>当前网络吞吐量、</a:t>
                </a:r>
                <a:r>
                  <a:rPr lang="en-US" altLang="zh-CN" sz="2000" dirty="0">
                    <a:latin typeface="微软雅黑" panose="020B0503020204020204" charset="-122"/>
                    <a:ea typeface="微软雅黑" panose="020B0503020204020204" charset="-122"/>
                  </a:rPr>
                  <a:t>LTE</a:t>
                </a:r>
                <a:r>
                  <a:rPr lang="zh-CN" altLang="zh-CN" sz="2000" dirty="0">
                    <a:latin typeface="微软雅黑" panose="020B0503020204020204" charset="-122"/>
                    <a:ea typeface="微软雅黑" panose="020B0503020204020204" charset="-122"/>
                  </a:rPr>
                  <a:t>典型小区平均吞吐量的结果，即可估算出所需的小区数量</a:t>
                </a:r>
                <a:r>
                  <a:rPr lang="zh-CN" altLang="en-US" sz="2000" dirty="0">
                    <a:latin typeface="微软雅黑" panose="020B0503020204020204" charset="-122"/>
                    <a:ea typeface="微软雅黑" panose="020B0503020204020204" charset="-122"/>
                  </a:rPr>
                  <a:t>。</a:t>
                </a:r>
                <a:endParaRPr lang="en-US" altLang="zh-CN" sz="2000" dirty="0">
                  <a:latin typeface="微软雅黑" panose="020B0503020204020204" charset="-122"/>
                  <a:ea typeface="微软雅黑" panose="020B0503020204020204" charset="-122"/>
                </a:endParaRPr>
              </a:p>
              <a:p>
                <a:pPr>
                  <a:lnSpc>
                    <a:spcPct val="150000"/>
                  </a:lnSpc>
                </a:pPr>
                <a14:m>
                  <m:oMathPara xmlns:m="http://schemas.openxmlformats.org/officeDocument/2006/math">
                    <m:oMathParaPr>
                      <m:jc m:val="centerGroup"/>
                    </m:oMathParaPr>
                    <m:oMath xmlns:m="http://schemas.openxmlformats.org/officeDocument/2006/math">
                      <m:r>
                        <a:rPr lang="zh-CN" altLang="zh-CN" sz="2000" smtClean="0">
                          <a:solidFill>
                            <a:srgbClr val="FF0000"/>
                          </a:solidFill>
                          <a:latin typeface="Cambria Math" panose="02040503050406030204" pitchFamily="18" charset="0"/>
                          <a:ea typeface="微软雅黑" panose="020B0503020204020204" charset="-122"/>
                        </a:rPr>
                        <m:t>小区数</m:t>
                      </m:r>
                      <m:r>
                        <a:rPr lang="en-US" altLang="zh-CN" sz="2000">
                          <a:solidFill>
                            <a:srgbClr val="FF0000"/>
                          </a:solidFill>
                          <a:latin typeface="Cambria Math" panose="02040503050406030204" pitchFamily="18" charset="0"/>
                          <a:ea typeface="微软雅黑" panose="020B0503020204020204" charset="-122"/>
                        </a:rPr>
                        <m:t>=</m:t>
                      </m:r>
                      <m:r>
                        <a:rPr lang="zh-CN" altLang="zh-CN" sz="2000">
                          <a:solidFill>
                            <a:srgbClr val="FF0000"/>
                          </a:solidFill>
                          <a:latin typeface="Cambria Math" panose="02040503050406030204" pitchFamily="18" charset="0"/>
                          <a:ea typeface="微软雅黑" panose="020B0503020204020204" charset="-122"/>
                        </a:rPr>
                        <m:t>网络吞吐量</m:t>
                      </m:r>
                      <m:r>
                        <a:rPr lang="en-US" altLang="zh-CN" sz="2000">
                          <a:solidFill>
                            <a:srgbClr val="FF0000"/>
                          </a:solidFill>
                          <a:latin typeface="Cambria Math" panose="02040503050406030204" pitchFamily="18" charset="0"/>
                          <a:ea typeface="微软雅黑" panose="020B0503020204020204" charset="-122"/>
                        </a:rPr>
                        <m:t>/</m:t>
                      </m:r>
                      <m:r>
                        <a:rPr lang="zh-CN" altLang="zh-CN" sz="2000">
                          <a:solidFill>
                            <a:srgbClr val="FF0000"/>
                          </a:solidFill>
                          <a:latin typeface="Cambria Math" panose="02040503050406030204" pitchFamily="18" charset="0"/>
                          <a:ea typeface="微软雅黑" panose="020B0503020204020204" charset="-122"/>
                        </a:rPr>
                        <m:t>单小区平均吞吐量</m:t>
                      </m:r>
                    </m:oMath>
                  </m:oMathPara>
                </a14:m>
                <a:endParaRPr lang="en-US" altLang="zh-CN" sz="2000" dirty="0">
                  <a:solidFill>
                    <a:srgbClr val="FF0000"/>
                  </a:solidFill>
                  <a:latin typeface="微软雅黑" panose="020B0503020204020204" charset="-122"/>
                  <a:ea typeface="微软雅黑" panose="020B0503020204020204" charset="-122"/>
                </a:endParaRPr>
              </a:p>
            </p:txBody>
          </p:sp>
        </mc:Choice>
        <mc:Fallback xmlns="">
          <p:sp>
            <p:nvSpPr>
              <p:cNvPr id="10" name="TextBox 13"/>
              <p:cNvSpPr txBox="1">
                <a:spLocks noRot="1" noChangeAspect="1" noMove="1" noResize="1" noEditPoints="1" noAdjustHandles="1" noChangeArrowheads="1" noChangeShapeType="1" noTextEdit="1"/>
              </p:cNvSpPr>
              <p:nvPr/>
            </p:nvSpPr>
            <p:spPr bwMode="auto">
              <a:xfrm>
                <a:off x="3731749" y="1892602"/>
                <a:ext cx="7671773" cy="1480149"/>
              </a:xfrm>
              <a:prstGeom prst="rect">
                <a:avLst/>
              </a:prstGeom>
              <a:blipFill rotWithShape="1">
                <a:blip r:embed="rId3"/>
                <a:stretch>
                  <a:fillRect l="-6" t="-20" r="3" b="-70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883188" y="3919633"/>
                <a:ext cx="2853268" cy="1945917"/>
              </a:xfrm>
              <a:prstGeom prst="rect">
                <a:avLst/>
              </a:prstGeom>
            </p:spPr>
            <p:txBody>
              <a:bodyPr wrap="square">
                <a:spAutoFit/>
              </a:bodyPr>
              <a:lstStyle/>
              <a:p>
                <a:pPr>
                  <a:lnSpc>
                    <a:spcPct val="150000"/>
                  </a:lnSpc>
                  <a:spcAft>
                    <a:spcPts val="0"/>
                  </a:spcAft>
                </a:pPr>
                <a:r>
                  <a:rPr lang="zh-CN" altLang="zh-CN" sz="2000" dirty="0">
                    <a:latin typeface="微软雅黑" panose="020B0503020204020204" charset="-122"/>
                    <a:ea typeface="微软雅黑" panose="020B0503020204020204" charset="-122"/>
                  </a:rPr>
                  <a:t>当基站配置为</a:t>
                </a:r>
                <a:r>
                  <a:rPr lang="en-US" altLang="zh-CN" sz="2000" dirty="0">
                    <a:latin typeface="微软雅黑" panose="020B0503020204020204" charset="-122"/>
                    <a:ea typeface="微软雅黑" panose="020B0503020204020204" charset="-122"/>
                  </a:rPr>
                  <a:t>3</a:t>
                </a:r>
                <a:r>
                  <a:rPr lang="zh-CN" altLang="zh-CN" sz="2000" dirty="0">
                    <a:latin typeface="微软雅黑" panose="020B0503020204020204" charset="-122"/>
                    <a:ea typeface="微软雅黑" panose="020B0503020204020204" charset="-122"/>
                  </a:rPr>
                  <a:t>扇区时，</a:t>
                </a:r>
                <a14:m>
                  <m:oMath xmlns:m="http://schemas.openxmlformats.org/officeDocument/2006/math">
                    <m:r>
                      <a:rPr lang="zh-CN" altLang="zh-CN" sz="2000">
                        <a:latin typeface="Cambria Math" panose="02040503050406030204" pitchFamily="18" charset="0"/>
                        <a:ea typeface="微软雅黑" panose="020B0503020204020204" charset="-122"/>
                      </a:rPr>
                      <m:t>基站数</m:t>
                    </m:r>
                    <m:r>
                      <a:rPr lang="en-US" altLang="zh-CN" sz="2000">
                        <a:latin typeface="Cambria Math" panose="02040503050406030204" pitchFamily="18" charset="0"/>
                        <a:ea typeface="微软雅黑" panose="020B0503020204020204" charset="-122"/>
                      </a:rPr>
                      <m:t>=</m:t>
                    </m:r>
                    <m:r>
                      <a:rPr lang="zh-CN" altLang="zh-CN" sz="2000">
                        <a:latin typeface="Cambria Math" panose="02040503050406030204" pitchFamily="18" charset="0"/>
                        <a:ea typeface="微软雅黑" panose="020B0503020204020204" charset="-122"/>
                      </a:rPr>
                      <m:t>小区数</m:t>
                    </m:r>
                    <m:r>
                      <a:rPr lang="en-US" altLang="zh-CN" sz="2000">
                        <a:latin typeface="Cambria Math" panose="02040503050406030204" pitchFamily="18" charset="0"/>
                        <a:ea typeface="微软雅黑" panose="020B0503020204020204" charset="-122"/>
                      </a:rPr>
                      <m:t>/3</m:t>
                    </m:r>
                  </m:oMath>
                </a14:m>
                <a:r>
                  <a:rPr lang="zh-CN" altLang="zh-CN" sz="2000" dirty="0">
                    <a:latin typeface="微软雅黑" panose="020B0503020204020204" charset="-122"/>
                    <a:ea typeface="微软雅黑" panose="020B0503020204020204" charset="-122"/>
                  </a:rPr>
                  <a:t>；</a:t>
                </a:r>
                <a:endParaRPr lang="en-US" altLang="zh-CN" sz="2000" dirty="0">
                  <a:latin typeface="微软雅黑" panose="020B0503020204020204" charset="-122"/>
                  <a:ea typeface="微软雅黑" panose="020B0503020204020204" charset="-122"/>
                </a:endParaRPr>
              </a:p>
              <a:p>
                <a:pPr>
                  <a:lnSpc>
                    <a:spcPct val="150000"/>
                  </a:lnSpc>
                  <a:spcAft>
                    <a:spcPts val="0"/>
                  </a:spcAft>
                </a:pPr>
                <a:r>
                  <a:rPr lang="zh-CN" altLang="zh-CN" sz="2000" dirty="0">
                    <a:latin typeface="微软雅黑" panose="020B0503020204020204" charset="-122"/>
                    <a:ea typeface="微软雅黑" panose="020B0503020204020204" charset="-122"/>
                  </a:rPr>
                  <a:t>当基站配置为全向站时，</a:t>
                </a:r>
                <a14:m>
                  <m:oMath xmlns:m="http://schemas.openxmlformats.org/officeDocument/2006/math">
                    <m:r>
                      <a:rPr lang="zh-CN" altLang="zh-CN" sz="2000">
                        <a:latin typeface="Cambria Math" panose="02040503050406030204" pitchFamily="18" charset="0"/>
                        <a:ea typeface="微软雅黑" panose="020B0503020204020204" charset="-122"/>
                      </a:rPr>
                      <m:t>基站数</m:t>
                    </m:r>
                    <m:r>
                      <a:rPr lang="en-US" altLang="zh-CN" sz="2000">
                        <a:latin typeface="Cambria Math" panose="02040503050406030204" pitchFamily="18" charset="0"/>
                        <a:ea typeface="微软雅黑" panose="020B0503020204020204" charset="-122"/>
                      </a:rPr>
                      <m:t>=</m:t>
                    </m:r>
                    <m:r>
                      <a:rPr lang="zh-CN" altLang="zh-CN" sz="2000">
                        <a:latin typeface="Cambria Math" panose="02040503050406030204" pitchFamily="18" charset="0"/>
                        <a:ea typeface="微软雅黑" panose="020B0503020204020204" charset="-122"/>
                      </a:rPr>
                      <m:t>小区数</m:t>
                    </m:r>
                  </m:oMath>
                </a14:m>
                <a:r>
                  <a:rPr lang="zh-CN" altLang="zh-CN" sz="2000" dirty="0">
                    <a:latin typeface="微软雅黑" panose="020B0503020204020204" charset="-122"/>
                    <a:ea typeface="微软雅黑" panose="020B0503020204020204" charset="-122"/>
                  </a:rPr>
                  <a:t>。</a:t>
                </a:r>
              </a:p>
            </p:txBody>
          </p:sp>
        </mc:Choice>
        <mc:Fallback xmlns="">
          <p:sp>
            <p:nvSpPr>
              <p:cNvPr id="15" name="矩形 14"/>
              <p:cNvSpPr>
                <a:spLocks noRot="1" noChangeAspect="1" noMove="1" noResize="1" noEditPoints="1" noAdjustHandles="1" noChangeArrowheads="1" noChangeShapeType="1" noTextEdit="1"/>
              </p:cNvSpPr>
              <p:nvPr/>
            </p:nvSpPr>
            <p:spPr>
              <a:xfrm>
                <a:off x="883188" y="3919633"/>
                <a:ext cx="2853268" cy="1945917"/>
              </a:xfrm>
              <a:prstGeom prst="rect">
                <a:avLst/>
              </a:prstGeom>
              <a:blipFill>
                <a:blip r:embed="rId4"/>
                <a:stretch>
                  <a:fillRect l="-2350" r="-6410" b="-1881"/>
                </a:stretch>
              </a:blipFill>
            </p:spPr>
            <p:txBody>
              <a:bodyPr/>
              <a:lstStyle/>
              <a:p>
                <a:r>
                  <a:rPr lang="zh-CN" altLang="en-US">
                    <a:noFill/>
                  </a:rPr>
                  <a:t> </a:t>
                </a:r>
              </a:p>
            </p:txBody>
          </p:sp>
        </mc:Fallback>
      </mc:AlternateContent>
      <p:pic>
        <p:nvPicPr>
          <p:cNvPr id="16" name="图片 15"/>
          <p:cNvPicPr/>
          <p:nvPr/>
        </p:nvPicPr>
        <p:blipFill>
          <a:blip r:embed="rId5">
            <a:extLst>
              <a:ext uri="{28A0092B-C50C-407E-A947-70E740481C1C}">
                <a14:useLocalDpi xmlns:a14="http://schemas.microsoft.com/office/drawing/2010/main" val="0"/>
              </a:ext>
            </a:extLst>
          </a:blip>
          <a:srcRect/>
          <a:stretch>
            <a:fillRect/>
          </a:stretch>
        </p:blipFill>
        <p:spPr bwMode="auto">
          <a:xfrm>
            <a:off x="3816233" y="3796033"/>
            <a:ext cx="7827667" cy="219311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878481" y="922122"/>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LTE</a:t>
            </a:r>
            <a:r>
              <a:rPr kumimoji="1" lang="zh-CN" altLang="en-US" sz="2375" b="1" dirty="0">
                <a:latin typeface="微软雅黑" panose="020B0503020204020204" charset="-122"/>
                <a:ea typeface="微软雅黑" panose="020B0503020204020204" charset="-122"/>
                <a:cs typeface="微软雅黑" panose="020B0503020204020204" charset="-122"/>
              </a:rPr>
              <a:t>容量规划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LTE</a:t>
            </a:r>
            <a:r>
              <a:rPr kumimoji="1" lang="zh-CN" altLang="en-US" sz="1900" b="1" dirty="0">
                <a:latin typeface="微软雅黑" panose="020B0503020204020204" charset="-122"/>
                <a:ea typeface="微软雅黑" panose="020B0503020204020204" charset="-122"/>
                <a:cs typeface="微软雅黑" panose="020B0503020204020204" charset="-122"/>
              </a:rPr>
              <a:t>容量估算过程</a:t>
            </a:r>
            <a:endParaRPr kumimoji="1" lang="en-US" altLang="zh-CN" sz="1665" dirty="0">
              <a:latin typeface="微软雅黑" panose="020B0503020204020204" charset="-122"/>
              <a:ea typeface="微软雅黑" panose="020B0503020204020204" charset="-122"/>
            </a:endParaRP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标题 1"/>
          <p:cNvSpPr txBox="1"/>
          <p:nvPr/>
        </p:nvSpPr>
        <p:spPr bwMode="auto">
          <a:xfrm>
            <a:off x="878480" y="2003161"/>
            <a:ext cx="399831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eaLnBrk="1" hangingPunct="1">
              <a:lnSpc>
                <a:spcPct val="90000"/>
              </a:lnSpc>
              <a:buFont typeface="Wingdings" panose="05000000000000000000" pitchFamily="2" charset="2"/>
              <a:buChar char="u"/>
              <a:defRPr/>
            </a:pPr>
            <a:r>
              <a:rPr lang="zh-CN" altLang="en-US" sz="2000" b="1" dirty="0">
                <a:solidFill>
                  <a:srgbClr val="005BAA"/>
                </a:solidFill>
              </a:rPr>
              <a:t>规模估算</a:t>
            </a:r>
            <a:r>
              <a:rPr lang="en-US" altLang="zh-CN" sz="2000" b="1" dirty="0">
                <a:solidFill>
                  <a:srgbClr val="005BAA"/>
                </a:solidFill>
              </a:rPr>
              <a:t>——</a:t>
            </a:r>
            <a:r>
              <a:rPr lang="zh-CN" altLang="en-US" sz="2000" b="1" dirty="0">
                <a:solidFill>
                  <a:srgbClr val="005BAA"/>
                </a:solidFill>
              </a:rPr>
              <a:t>基于覆盖与容量</a:t>
            </a:r>
          </a:p>
        </p:txBody>
      </p:sp>
      <p:sp>
        <p:nvSpPr>
          <p:cNvPr id="13" name="Rectangle 3"/>
          <p:cNvSpPr>
            <a:spLocks noChangeArrowheads="1"/>
          </p:cNvSpPr>
          <p:nvPr/>
        </p:nvSpPr>
        <p:spPr bwMode="auto">
          <a:xfrm>
            <a:off x="3596012" y="4271578"/>
            <a:ext cx="654147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11" name="Rectangle 3"/>
          <p:cNvSpPr txBox="1">
            <a:spLocks noChangeArrowheads="1"/>
          </p:cNvSpPr>
          <p:nvPr/>
        </p:nvSpPr>
        <p:spPr>
          <a:xfrm>
            <a:off x="2150533" y="2633819"/>
            <a:ext cx="8466667" cy="38245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600"/>
              </a:spcBef>
              <a:buNone/>
            </a:pPr>
            <a:r>
              <a:rPr lang="zh-CN" altLang="en-US" sz="2000" dirty="0"/>
              <a:t>根据覆盖确定需要的</a:t>
            </a:r>
            <a:r>
              <a:rPr lang="en-US" altLang="zh-CN" sz="2000" dirty="0"/>
              <a:t>eNodeB</a:t>
            </a:r>
            <a:r>
              <a:rPr lang="zh-CN" altLang="en-US" sz="2000" dirty="0"/>
              <a:t>数量</a:t>
            </a:r>
          </a:p>
          <a:p>
            <a:pPr lvl="1">
              <a:lnSpc>
                <a:spcPct val="150000"/>
              </a:lnSpc>
              <a:spcBef>
                <a:spcPts val="600"/>
              </a:spcBef>
            </a:pPr>
            <a:r>
              <a:rPr lang="zh-CN" altLang="en-US" sz="2000" dirty="0"/>
              <a:t>下行覆盖、上行覆盖→小区覆盖半径</a:t>
            </a:r>
          </a:p>
          <a:p>
            <a:pPr lvl="1">
              <a:lnSpc>
                <a:spcPct val="150000"/>
              </a:lnSpc>
              <a:spcBef>
                <a:spcPts val="600"/>
              </a:spcBef>
            </a:pPr>
            <a:r>
              <a:rPr lang="zh-CN" altLang="en-US" sz="2000" dirty="0"/>
              <a:t>计算</a:t>
            </a:r>
            <a:r>
              <a:rPr lang="en-US" altLang="zh-CN" sz="2000" dirty="0"/>
              <a:t>eNodeB</a:t>
            </a:r>
            <a:r>
              <a:rPr lang="zh-CN" altLang="en-US" sz="2000" dirty="0"/>
              <a:t>数量需求</a:t>
            </a:r>
          </a:p>
          <a:p>
            <a:pPr marL="0" indent="0">
              <a:lnSpc>
                <a:spcPct val="150000"/>
              </a:lnSpc>
              <a:spcBef>
                <a:spcPts val="600"/>
              </a:spcBef>
              <a:buNone/>
            </a:pPr>
            <a:r>
              <a:rPr lang="zh-CN" altLang="en-US" sz="2000" dirty="0"/>
              <a:t>根据用户容量确定需要的</a:t>
            </a:r>
            <a:r>
              <a:rPr lang="en-US" altLang="zh-CN" sz="2000" dirty="0"/>
              <a:t>eNodeB</a:t>
            </a:r>
            <a:r>
              <a:rPr lang="zh-CN" altLang="en-US" sz="2000" dirty="0"/>
              <a:t>数量</a:t>
            </a:r>
          </a:p>
          <a:p>
            <a:pPr lvl="1">
              <a:lnSpc>
                <a:spcPct val="150000"/>
              </a:lnSpc>
              <a:spcBef>
                <a:spcPts val="600"/>
              </a:spcBef>
            </a:pPr>
            <a:r>
              <a:rPr lang="zh-CN" altLang="en-US" sz="2000" dirty="0"/>
              <a:t>下行容量、上行容量→小区容量</a:t>
            </a:r>
          </a:p>
          <a:p>
            <a:pPr lvl="1">
              <a:lnSpc>
                <a:spcPct val="150000"/>
              </a:lnSpc>
              <a:spcBef>
                <a:spcPts val="600"/>
              </a:spcBef>
            </a:pPr>
            <a:r>
              <a:rPr lang="zh-CN" altLang="en-US" sz="2000" dirty="0"/>
              <a:t>计算</a:t>
            </a:r>
            <a:r>
              <a:rPr lang="en-US" altLang="zh-CN" sz="2000" dirty="0"/>
              <a:t>eNodeB</a:t>
            </a:r>
            <a:r>
              <a:rPr lang="zh-CN" altLang="en-US" sz="2000" dirty="0"/>
              <a:t>数量需求</a:t>
            </a:r>
          </a:p>
          <a:p>
            <a:pPr marL="0" indent="0">
              <a:lnSpc>
                <a:spcPct val="150000"/>
              </a:lnSpc>
              <a:spcBef>
                <a:spcPts val="600"/>
              </a:spcBef>
              <a:buNone/>
            </a:pPr>
            <a:r>
              <a:rPr lang="zh-CN" altLang="en-US" sz="2000" b="1" dirty="0">
                <a:solidFill>
                  <a:srgbClr val="FF0000"/>
                </a:solidFill>
              </a:rPr>
              <a:t>二者之间取大者</a:t>
            </a:r>
          </a:p>
        </p:txBody>
      </p: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5920" y="3429000"/>
            <a:ext cx="2938780" cy="2475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3.1  LTE</a:t>
            </a:r>
            <a:r>
              <a:rPr kumimoji="1" lang="zh-CN" altLang="en-US" sz="1900" b="1" dirty="0">
                <a:latin typeface="微软雅黑" panose="020B0503020204020204" charset="-122"/>
                <a:ea typeface="微软雅黑" panose="020B0503020204020204" charset="-122"/>
                <a:cs typeface="微软雅黑" panose="020B0503020204020204" charset="-122"/>
              </a:rPr>
              <a:t>小区</a:t>
            </a:r>
            <a:r>
              <a:rPr kumimoji="1" lang="en-US" altLang="zh-CN" sz="1900" b="1" dirty="0">
                <a:latin typeface="微软雅黑" panose="020B0503020204020204" charset="-122"/>
                <a:ea typeface="微软雅黑" panose="020B0503020204020204" charset="-122"/>
                <a:cs typeface="微软雅黑" panose="020B0503020204020204" charset="-122"/>
              </a:rPr>
              <a:t>ID</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矩形 3"/>
          <p:cNvSpPr>
            <a:spLocks noChangeArrowheads="1"/>
          </p:cNvSpPr>
          <p:nvPr/>
        </p:nvSpPr>
        <p:spPr bwMode="auto">
          <a:xfrm>
            <a:off x="2309813" y="2076797"/>
            <a:ext cx="7993062" cy="3331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a:latin typeface="微软雅黑" panose="020B0503020204020204" charset="-122"/>
                <a:ea typeface="微软雅黑" panose="020B0503020204020204" charset="-122"/>
              </a:rPr>
              <a:t>LTE</a:t>
            </a:r>
            <a:r>
              <a:rPr lang="zh-CN" altLang="zh-CN" sz="2000" dirty="0">
                <a:latin typeface="微软雅黑" panose="020B0503020204020204" charset="-122"/>
                <a:ea typeface="微软雅黑" panose="020B0503020204020204" charset="-122"/>
              </a:rPr>
              <a:t>小区标识主要由两部分组成：</a:t>
            </a:r>
            <a:r>
              <a:rPr lang="zh-CN" altLang="en-US" sz="2000" dirty="0">
                <a:solidFill>
                  <a:srgbClr val="FF0000"/>
                </a:solidFill>
                <a:latin typeface="微软雅黑" panose="020B0503020204020204" charset="-122"/>
                <a:ea typeface="微软雅黑" panose="020B0503020204020204" charset="-122"/>
              </a:rPr>
              <a:t>基站编号</a:t>
            </a:r>
            <a:r>
              <a:rPr lang="en-US" altLang="zh-CN" sz="2000" dirty="0">
                <a:solidFill>
                  <a:srgbClr val="FF0000"/>
                </a:solidFill>
                <a:latin typeface="微软雅黑" panose="020B0503020204020204" charset="-122"/>
                <a:ea typeface="微软雅黑" panose="020B0503020204020204" charset="-122"/>
              </a:rPr>
              <a:t>+</a:t>
            </a:r>
            <a:r>
              <a:rPr lang="zh-CN" altLang="en-US" sz="2000" dirty="0">
                <a:solidFill>
                  <a:srgbClr val="FF0000"/>
                </a:solidFill>
                <a:latin typeface="微软雅黑" panose="020B0503020204020204" charset="-122"/>
                <a:ea typeface="微软雅黑" panose="020B0503020204020204" charset="-122"/>
              </a:rPr>
              <a:t>小区编号</a:t>
            </a:r>
            <a:endParaRPr lang="en-US" altLang="zh-CN" sz="2000" dirty="0">
              <a:solidFill>
                <a:srgbClr val="FF0000"/>
              </a:solidFill>
              <a:latin typeface="微软雅黑" panose="020B0503020204020204" charset="-122"/>
              <a:ea typeface="微软雅黑" panose="020B0503020204020204" charset="-122"/>
            </a:endParaRPr>
          </a:p>
          <a:p>
            <a:pPr algn="ctr" eaLnBrk="1" hangingPunct="1"/>
            <a:endParaRPr lang="en-US" altLang="zh-CN" sz="2000" dirty="0">
              <a:solidFill>
                <a:srgbClr val="FF0000"/>
              </a:solidFill>
              <a:latin typeface="微软雅黑" panose="020B0503020204020204" charset="-122"/>
              <a:ea typeface="微软雅黑" panose="020B0503020204020204" charset="-122"/>
            </a:endParaRPr>
          </a:p>
          <a:p>
            <a:pPr algn="ctr" eaLnBrk="1" hangingPunct="1"/>
            <a:r>
              <a:rPr lang="en-US" altLang="zh-CN" sz="2000" dirty="0">
                <a:solidFill>
                  <a:srgbClr val="FF0000"/>
                </a:solidFill>
                <a:latin typeface="微软雅黑" panose="020B0503020204020204" charset="-122"/>
                <a:ea typeface="微软雅黑" panose="020B0503020204020204" charset="-122"/>
              </a:rPr>
              <a:t>20bit</a:t>
            </a:r>
            <a:r>
              <a:rPr lang="zh-CN" altLang="zh-CN" sz="2000" dirty="0">
                <a:solidFill>
                  <a:srgbClr val="FF0000"/>
                </a:solidFill>
                <a:latin typeface="微软雅黑" panose="020B0503020204020204" charset="-122"/>
                <a:ea typeface="微软雅黑" panose="020B0503020204020204" charset="-122"/>
              </a:rPr>
              <a:t>的</a:t>
            </a:r>
            <a:r>
              <a:rPr lang="en-US" altLang="zh-CN" sz="2000" dirty="0" err="1">
                <a:solidFill>
                  <a:srgbClr val="FF0000"/>
                </a:solidFill>
                <a:latin typeface="微软雅黑" panose="020B0503020204020204" charset="-122"/>
                <a:ea typeface="微软雅黑" panose="020B0503020204020204" charset="-122"/>
              </a:rPr>
              <a:t>eNB</a:t>
            </a:r>
            <a:r>
              <a:rPr lang="en-US" altLang="zh-CN" sz="2000" dirty="0">
                <a:solidFill>
                  <a:srgbClr val="FF0000"/>
                </a:solidFill>
                <a:latin typeface="微软雅黑" panose="020B0503020204020204" charset="-122"/>
                <a:ea typeface="微软雅黑" panose="020B0503020204020204" charset="-122"/>
              </a:rPr>
              <a:t> ID+8bit</a:t>
            </a:r>
            <a:r>
              <a:rPr lang="zh-CN" altLang="zh-CN" sz="2000" dirty="0">
                <a:solidFill>
                  <a:srgbClr val="FF0000"/>
                </a:solidFill>
                <a:latin typeface="微软雅黑" panose="020B0503020204020204" charset="-122"/>
                <a:ea typeface="微软雅黑" panose="020B0503020204020204" charset="-122"/>
              </a:rPr>
              <a:t>的</a:t>
            </a:r>
            <a:r>
              <a:rPr lang="en-US" altLang="zh-CN" sz="2000" dirty="0">
                <a:solidFill>
                  <a:srgbClr val="FF0000"/>
                </a:solidFill>
                <a:latin typeface="微软雅黑" panose="020B0503020204020204" charset="-122"/>
                <a:ea typeface="微软雅黑" panose="020B0503020204020204" charset="-122"/>
              </a:rPr>
              <a:t>Cell ID</a:t>
            </a:r>
          </a:p>
          <a:p>
            <a:pPr algn="ctr" eaLnBrk="1" hangingPunct="1"/>
            <a:endParaRPr lang="en-US" altLang="zh-CN" sz="2000" dirty="0">
              <a:solidFill>
                <a:srgbClr val="FF0000"/>
              </a:solidFill>
              <a:latin typeface="微软雅黑" panose="020B0503020204020204" charset="-122"/>
              <a:ea typeface="微软雅黑" panose="020B0503020204020204" charset="-122"/>
            </a:endParaRPr>
          </a:p>
          <a:p>
            <a:pPr eaLnBrk="1" hangingPunct="1"/>
            <a:r>
              <a:rPr lang="en-US" altLang="zh-CN" sz="1800" dirty="0">
                <a:latin typeface="微软雅黑" panose="020B0503020204020204" charset="-122"/>
                <a:ea typeface="微软雅黑" panose="020B0503020204020204" charset="-122"/>
              </a:rPr>
              <a:t>LTE</a:t>
            </a:r>
            <a:r>
              <a:rPr lang="zh-CN" altLang="zh-CN" sz="1800" dirty="0">
                <a:latin typeface="微软雅黑" panose="020B0503020204020204" charset="-122"/>
                <a:ea typeface="微软雅黑" panose="020B0503020204020204" charset="-122"/>
              </a:rPr>
              <a:t>的小区标识全网唯一</a:t>
            </a:r>
            <a:r>
              <a:rPr lang="zh-CN" altLang="en-US" sz="1800" dirty="0">
                <a:latin typeface="微软雅黑" panose="020B0503020204020204" charset="-122"/>
                <a:ea typeface="微软雅黑" panose="020B0503020204020204" charset="-122"/>
              </a:rPr>
              <a:t>，</a:t>
            </a:r>
            <a:r>
              <a:rPr lang="zh-CN" altLang="zh-CN" sz="1800" dirty="0">
                <a:latin typeface="微软雅黑" panose="020B0503020204020204" charset="-122"/>
                <a:ea typeface="微软雅黑" panose="020B0503020204020204" charset="-122"/>
              </a:rPr>
              <a:t>再加上</a:t>
            </a:r>
            <a:r>
              <a:rPr lang="zh-CN" altLang="en-US" sz="1800" dirty="0">
                <a:latin typeface="微软雅黑" panose="020B0503020204020204" charset="-122"/>
                <a:ea typeface="微软雅黑" panose="020B0503020204020204" charset="-122"/>
              </a:rPr>
              <a:t>网络号</a:t>
            </a:r>
            <a:r>
              <a:rPr lang="en-US" altLang="zh-CN" sz="1800" dirty="0">
                <a:latin typeface="微软雅黑" panose="020B0503020204020204" charset="-122"/>
                <a:ea typeface="微软雅黑" panose="020B0503020204020204" charset="-122"/>
              </a:rPr>
              <a:t>PLMN</a:t>
            </a:r>
            <a:r>
              <a:rPr lang="zh-CN" altLang="zh-CN"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MCC+MNC</a:t>
            </a:r>
            <a:r>
              <a:rPr lang="zh-CN" altLang="zh-CN" sz="1800" dirty="0">
                <a:latin typeface="微软雅黑" panose="020B0503020204020204" charset="-122"/>
                <a:ea typeface="微软雅黑" panose="020B0503020204020204" charset="-122"/>
              </a:rPr>
              <a:t>），就可以保证全球唯一</a:t>
            </a: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ECGI</a:t>
            </a:r>
            <a:r>
              <a:rPr lang="zh-CN" altLang="en-US" sz="1800" dirty="0">
                <a:latin typeface="微软雅黑" panose="020B0503020204020204" charset="-122"/>
                <a:ea typeface="微软雅黑" panose="020B0503020204020204" charset="-122"/>
              </a:rPr>
              <a:t>）</a:t>
            </a:r>
            <a:r>
              <a:rPr lang="zh-CN" altLang="zh-CN" sz="1800" dirty="0">
                <a:latin typeface="微软雅黑" panose="020B0503020204020204" charset="-122"/>
                <a:ea typeface="微软雅黑" panose="020B0503020204020204" charset="-122"/>
              </a:rPr>
              <a:t>。</a:t>
            </a:r>
            <a:endParaRPr lang="en-US" altLang="zh-CN" sz="1800" dirty="0">
              <a:latin typeface="微软雅黑" panose="020B0503020204020204" charset="-122"/>
              <a:ea typeface="微软雅黑" panose="020B0503020204020204" charset="-122"/>
            </a:endParaRPr>
          </a:p>
          <a:p>
            <a:pPr eaLnBrk="1" hangingPunct="1"/>
            <a:endParaRPr lang="en-US" altLang="zh-CN" dirty="0">
              <a:latin typeface="微软雅黑" panose="020B0503020204020204" charset="-122"/>
              <a:ea typeface="微软雅黑" panose="020B0503020204020204" charset="-122"/>
            </a:endParaRPr>
          </a:p>
          <a:p>
            <a:pPr eaLnBrk="1" hangingPunct="1"/>
            <a:endParaRPr lang="en-US" altLang="zh-CN" dirty="0">
              <a:latin typeface="微软雅黑" panose="020B0503020204020204" charset="-122"/>
              <a:ea typeface="微软雅黑" panose="020B0503020204020204" charset="-122"/>
            </a:endParaRPr>
          </a:p>
          <a:p>
            <a:pPr eaLnBrk="1" hangingPunct="1"/>
            <a:endParaRPr lang="en-US" altLang="zh-CN" dirty="0">
              <a:latin typeface="微软雅黑" panose="020B0503020204020204" charset="-122"/>
              <a:ea typeface="微软雅黑" panose="020B0503020204020204" charset="-122"/>
            </a:endParaRPr>
          </a:p>
          <a:p>
            <a:pPr eaLnBrk="1" hangingPunct="1"/>
            <a:endParaRPr lang="en-US" altLang="zh-CN" dirty="0">
              <a:latin typeface="微软雅黑" panose="020B0503020204020204" charset="-122"/>
              <a:ea typeface="微软雅黑" panose="020B0503020204020204" charset="-122"/>
            </a:endParaRPr>
          </a:p>
          <a:p>
            <a:pPr eaLnBrk="1" hangingPunct="1"/>
            <a:endParaRPr lang="en-US" altLang="zh-CN" dirty="0">
              <a:latin typeface="微软雅黑" panose="020B0503020204020204" charset="-122"/>
              <a:ea typeface="微软雅黑" panose="020B0503020204020204" charset="-122"/>
            </a:endParaRPr>
          </a:p>
          <a:p>
            <a:pPr eaLnBrk="1" hangingPunct="1"/>
            <a:endParaRPr lang="en-US" altLang="zh-CN" dirty="0">
              <a:latin typeface="微软雅黑" panose="020B0503020204020204" charset="-122"/>
              <a:ea typeface="微软雅黑" panose="020B0503020204020204" charset="-122"/>
            </a:endParaRPr>
          </a:p>
          <a:p>
            <a:pPr eaLnBrk="1" hangingPunct="1"/>
            <a:endParaRPr lang="en-US" altLang="zh-CN" dirty="0">
              <a:latin typeface="微软雅黑" panose="020B0503020204020204" charset="-122"/>
              <a:ea typeface="微软雅黑" panose="020B0503020204020204" charset="-122"/>
            </a:endParaRPr>
          </a:p>
        </p:txBody>
      </p:sp>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495" y="4082415"/>
            <a:ext cx="5740400" cy="2242185"/>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3.1  LTE</a:t>
            </a:r>
            <a:r>
              <a:rPr kumimoji="1" lang="zh-CN" altLang="en-US" sz="1900" b="1" dirty="0">
                <a:latin typeface="微软雅黑" panose="020B0503020204020204" charset="-122"/>
                <a:ea typeface="微软雅黑" panose="020B0503020204020204" charset="-122"/>
                <a:cs typeface="微软雅黑" panose="020B0503020204020204" charset="-122"/>
              </a:rPr>
              <a:t>小区</a:t>
            </a:r>
            <a:r>
              <a:rPr kumimoji="1" lang="en-US" altLang="zh-CN" sz="1900" b="1" dirty="0">
                <a:latin typeface="微软雅黑" panose="020B0503020204020204" charset="-122"/>
                <a:ea typeface="微软雅黑" panose="020B0503020204020204" charset="-122"/>
                <a:cs typeface="微软雅黑" panose="020B0503020204020204" charset="-122"/>
              </a:rPr>
              <a:t>ID</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内容占位符 2"/>
          <p:cNvSpPr txBox="1"/>
          <p:nvPr/>
        </p:nvSpPr>
        <p:spPr>
          <a:xfrm>
            <a:off x="2783628" y="2265573"/>
            <a:ext cx="8507412" cy="88459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latin typeface="+mj-ea"/>
                <a:ea typeface="+mj-ea"/>
              </a:rPr>
              <a:t>ECGI = PLMN + Cell Identity</a:t>
            </a:r>
          </a:p>
          <a:p>
            <a:pPr>
              <a:buFont typeface="Wingdings" panose="05000000000000000000" pitchFamily="2" charset="2"/>
              <a:buNone/>
            </a:pPr>
            <a:r>
              <a:rPr lang="en-US" altLang="zh-CN" sz="1800" dirty="0">
                <a:latin typeface="+mj-ea"/>
                <a:ea typeface="+mj-ea"/>
              </a:rPr>
              <a:t>PLMN = MCC + MNC     Cell Identity = eNodeB ID + Cell ID</a:t>
            </a:r>
          </a:p>
          <a:p>
            <a:pPr marL="0" indent="0">
              <a:buNone/>
            </a:pPr>
            <a:endParaRPr lang="zh-CN" altLang="en-US" sz="1800" dirty="0"/>
          </a:p>
          <a:p>
            <a:pPr>
              <a:buFont typeface="Wingdings" panose="05000000000000000000" pitchFamily="2" charset="2"/>
              <a:buNone/>
            </a:pPr>
            <a:endParaRPr lang="en-US" altLang="zh-CN" sz="1800" dirty="0">
              <a:latin typeface="+mj-ea"/>
              <a:ea typeface="+mj-ea"/>
            </a:endParaRPr>
          </a:p>
          <a:p>
            <a:endParaRPr lang="zh-CN" altLang="en-US" sz="1800" dirty="0">
              <a:latin typeface="+mj-ea"/>
              <a:ea typeface="+mj-ea"/>
            </a:endParaRPr>
          </a:p>
        </p:txBody>
      </p:sp>
      <p:sp>
        <p:nvSpPr>
          <p:cNvPr id="2" name="矩形 1"/>
          <p:cNvSpPr/>
          <p:nvPr/>
        </p:nvSpPr>
        <p:spPr>
          <a:xfrm>
            <a:off x="1527207" y="3338943"/>
            <a:ext cx="9137585" cy="3508653"/>
          </a:xfrm>
          <a:prstGeom prst="rect">
            <a:avLst/>
          </a:prstGeom>
        </p:spPr>
        <p:txBody>
          <a:bodyPr wrap="square">
            <a:spAutoFit/>
          </a:bodyPr>
          <a:lstStyle/>
          <a:p>
            <a:pPr>
              <a:spcBef>
                <a:spcPts val="600"/>
              </a:spcBef>
              <a:spcAft>
                <a:spcPts val="600"/>
              </a:spcAft>
            </a:pPr>
            <a:r>
              <a:rPr lang="zh-CN" altLang="en-US" dirty="0">
                <a:latin typeface="+mj-ea"/>
              </a:rPr>
              <a:t>参数解释：</a:t>
            </a:r>
          </a:p>
          <a:p>
            <a:pPr>
              <a:spcBef>
                <a:spcPts val="600"/>
              </a:spcBef>
              <a:spcAft>
                <a:spcPts val="600"/>
              </a:spcAft>
              <a:buFont typeface="Wingdings" panose="05000000000000000000" pitchFamily="2" charset="2"/>
              <a:buNone/>
            </a:pPr>
            <a:r>
              <a:rPr lang="en-US" altLang="zh-CN" dirty="0">
                <a:latin typeface="+mj-ea"/>
              </a:rPr>
              <a:t>   ECGI </a:t>
            </a:r>
            <a:r>
              <a:rPr lang="zh-CN" altLang="en-US" dirty="0">
                <a:latin typeface="+mj-ea"/>
              </a:rPr>
              <a:t>：</a:t>
            </a:r>
            <a:r>
              <a:rPr lang="en-US" altLang="zh-CN" dirty="0">
                <a:latin typeface="+mj-ea"/>
              </a:rPr>
              <a:t>E-UTRAN Cell Global Identifier</a:t>
            </a:r>
          </a:p>
          <a:p>
            <a:pPr>
              <a:spcBef>
                <a:spcPts val="600"/>
              </a:spcBef>
              <a:spcAft>
                <a:spcPts val="600"/>
              </a:spcAft>
              <a:buFont typeface="Wingdings" panose="05000000000000000000" pitchFamily="2" charset="2"/>
              <a:buNone/>
            </a:pPr>
            <a:r>
              <a:rPr lang="en-US" altLang="zh-CN" dirty="0">
                <a:latin typeface="+mj-ea"/>
              </a:rPr>
              <a:t>   1</a:t>
            </a:r>
            <a:r>
              <a:rPr lang="zh-CN" altLang="en-US" dirty="0">
                <a:latin typeface="+mj-ea"/>
              </a:rPr>
              <a:t>、</a:t>
            </a:r>
            <a:r>
              <a:rPr lang="en-US" altLang="zh-CN" dirty="0">
                <a:latin typeface="+mj-ea"/>
              </a:rPr>
              <a:t>MCC</a:t>
            </a:r>
            <a:r>
              <a:rPr lang="zh-CN" altLang="en-US" dirty="0">
                <a:latin typeface="+mj-ea"/>
              </a:rPr>
              <a:t>是移动用户所属国家代号：占</a:t>
            </a:r>
            <a:r>
              <a:rPr lang="en-US" altLang="zh-CN" dirty="0">
                <a:latin typeface="+mj-ea"/>
              </a:rPr>
              <a:t>3</a:t>
            </a:r>
            <a:r>
              <a:rPr lang="zh-CN" altLang="en-US" dirty="0">
                <a:latin typeface="+mj-ea"/>
              </a:rPr>
              <a:t>位，取值范围</a:t>
            </a:r>
            <a:r>
              <a:rPr lang="en-US" altLang="zh-CN" dirty="0">
                <a:latin typeface="+mj-ea"/>
              </a:rPr>
              <a:t>0-999</a:t>
            </a:r>
            <a:r>
              <a:rPr lang="zh-CN" altLang="en-US" dirty="0">
                <a:latin typeface="+mj-ea"/>
              </a:rPr>
              <a:t>。</a:t>
            </a:r>
            <a:endParaRPr lang="en-US" altLang="zh-CN" dirty="0">
              <a:latin typeface="+mj-ea"/>
            </a:endParaRPr>
          </a:p>
          <a:p>
            <a:pPr>
              <a:spcBef>
                <a:spcPts val="600"/>
              </a:spcBef>
              <a:spcAft>
                <a:spcPts val="600"/>
              </a:spcAft>
              <a:buNone/>
            </a:pPr>
            <a:r>
              <a:rPr lang="zh-CN" altLang="en-US" dirty="0">
                <a:latin typeface="+mj-ea"/>
              </a:rPr>
              <a:t>   </a:t>
            </a:r>
            <a:r>
              <a:rPr lang="en-US" altLang="zh-CN" dirty="0">
                <a:latin typeface="+mj-ea"/>
              </a:rPr>
              <a:t>2</a:t>
            </a:r>
            <a:r>
              <a:rPr lang="zh-CN" altLang="en-US" dirty="0">
                <a:latin typeface="+mj-ea"/>
              </a:rPr>
              <a:t>、</a:t>
            </a:r>
            <a:r>
              <a:rPr lang="en-US" altLang="zh-CN" dirty="0">
                <a:latin typeface="+mj-ea"/>
              </a:rPr>
              <a:t>MNC</a:t>
            </a:r>
            <a:r>
              <a:rPr lang="zh-CN" altLang="en-US" dirty="0">
                <a:latin typeface="+mj-ea"/>
              </a:rPr>
              <a:t>移动网络码：占</a:t>
            </a:r>
            <a:r>
              <a:rPr lang="en-US" altLang="zh-CN" dirty="0">
                <a:latin typeface="+mj-ea"/>
              </a:rPr>
              <a:t>2~3</a:t>
            </a:r>
            <a:r>
              <a:rPr lang="zh-CN" altLang="en-US" dirty="0">
                <a:latin typeface="+mj-ea"/>
              </a:rPr>
              <a:t>位，取值范围</a:t>
            </a:r>
            <a:r>
              <a:rPr lang="en-US" altLang="zh-CN" dirty="0">
                <a:latin typeface="+mj-ea"/>
              </a:rPr>
              <a:t>0-999</a:t>
            </a:r>
            <a:r>
              <a:rPr lang="zh-CN" altLang="en-US" dirty="0">
                <a:latin typeface="+mj-ea"/>
              </a:rPr>
              <a:t>。</a:t>
            </a:r>
          </a:p>
          <a:p>
            <a:pPr>
              <a:spcBef>
                <a:spcPts val="600"/>
              </a:spcBef>
              <a:spcAft>
                <a:spcPts val="600"/>
              </a:spcAft>
              <a:buFont typeface="Wingdings" panose="05000000000000000000" pitchFamily="2" charset="2"/>
              <a:buNone/>
            </a:pPr>
            <a:r>
              <a:rPr lang="zh-CN" altLang="en-US" dirty="0">
                <a:latin typeface="+mj-ea"/>
              </a:rPr>
              <a:t>   </a:t>
            </a:r>
            <a:r>
              <a:rPr lang="en-US" altLang="zh-CN" dirty="0">
                <a:latin typeface="+mj-ea"/>
              </a:rPr>
              <a:t>3</a:t>
            </a:r>
            <a:r>
              <a:rPr lang="zh-CN" altLang="en-US" dirty="0">
                <a:latin typeface="+mj-ea"/>
              </a:rPr>
              <a:t>、</a:t>
            </a:r>
            <a:r>
              <a:rPr lang="en-US" altLang="zh-CN" dirty="0">
                <a:latin typeface="+mj-ea"/>
              </a:rPr>
              <a:t>Cell Identity</a:t>
            </a:r>
            <a:r>
              <a:rPr lang="zh-CN" altLang="en-US" dirty="0">
                <a:latin typeface="+mj-ea"/>
              </a:rPr>
              <a:t>包含</a:t>
            </a:r>
            <a:r>
              <a:rPr lang="en-US" altLang="zh-CN" dirty="0">
                <a:latin typeface="+mj-ea"/>
              </a:rPr>
              <a:t>28bit</a:t>
            </a:r>
            <a:r>
              <a:rPr lang="zh-CN" altLang="en-US" dirty="0">
                <a:latin typeface="+mj-ea"/>
              </a:rPr>
              <a:t>信息，前</a:t>
            </a:r>
            <a:r>
              <a:rPr lang="en-US" altLang="zh-CN" dirty="0">
                <a:latin typeface="+mj-ea"/>
              </a:rPr>
              <a:t>20bit</a:t>
            </a:r>
            <a:r>
              <a:rPr lang="zh-CN" altLang="en-US" dirty="0">
                <a:latin typeface="+mj-ea"/>
              </a:rPr>
              <a:t>用于</a:t>
            </a:r>
            <a:r>
              <a:rPr lang="en-US" altLang="zh-CN" dirty="0">
                <a:latin typeface="+mj-ea"/>
              </a:rPr>
              <a:t>eNodeB ID</a:t>
            </a:r>
            <a:r>
              <a:rPr lang="zh-CN" altLang="en-US" dirty="0">
                <a:latin typeface="+mj-ea"/>
              </a:rPr>
              <a:t>，后</a:t>
            </a:r>
            <a:r>
              <a:rPr lang="en-US" altLang="zh-CN" dirty="0">
                <a:latin typeface="+mj-ea"/>
              </a:rPr>
              <a:t>8bit</a:t>
            </a:r>
            <a:r>
              <a:rPr lang="zh-CN" altLang="en-US" dirty="0">
                <a:latin typeface="+mj-ea"/>
              </a:rPr>
              <a:t>用于</a:t>
            </a:r>
            <a:r>
              <a:rPr lang="en-US" altLang="zh-CN" dirty="0">
                <a:latin typeface="+mj-ea"/>
              </a:rPr>
              <a:t>Cell ID</a:t>
            </a:r>
            <a:r>
              <a:rPr lang="zh-CN" altLang="en-US" dirty="0">
                <a:latin typeface="+mj-ea"/>
              </a:rPr>
              <a:t>。</a:t>
            </a:r>
            <a:endParaRPr lang="en-US" altLang="zh-CN" dirty="0">
              <a:latin typeface="+mj-ea"/>
            </a:endParaRPr>
          </a:p>
          <a:p>
            <a:pPr marL="571500" indent="-285750">
              <a:spcBef>
                <a:spcPts val="600"/>
              </a:spcBef>
              <a:spcAft>
                <a:spcPts val="600"/>
              </a:spcAft>
              <a:buFont typeface="Arial" panose="020B0604020202020204" pitchFamily="34" charset="0"/>
              <a:buChar char="•"/>
            </a:pPr>
            <a:r>
              <a:rPr lang="en-US" altLang="zh-CN" sz="1600" dirty="0">
                <a:latin typeface="+mj-ea"/>
              </a:rPr>
              <a:t>eNodeB ID</a:t>
            </a:r>
            <a:r>
              <a:rPr lang="zh-CN" altLang="en-US" sz="1600" dirty="0">
                <a:latin typeface="+mj-ea"/>
              </a:rPr>
              <a:t>，取值范围</a:t>
            </a:r>
            <a:r>
              <a:rPr lang="en-US" altLang="zh-CN" sz="1600" dirty="0">
                <a:latin typeface="+mj-ea"/>
              </a:rPr>
              <a:t>0-1048575</a:t>
            </a:r>
            <a:r>
              <a:rPr lang="zh-CN" altLang="en-US" sz="1600" dirty="0">
                <a:latin typeface="+mj-ea"/>
              </a:rPr>
              <a:t>。用于在</a:t>
            </a:r>
            <a:r>
              <a:rPr lang="en-US" altLang="zh-CN" sz="1600" dirty="0">
                <a:latin typeface="+mj-ea"/>
              </a:rPr>
              <a:t>PLMN</a:t>
            </a:r>
            <a:r>
              <a:rPr lang="zh-CN" altLang="en-US" sz="1600" dirty="0">
                <a:latin typeface="+mj-ea"/>
              </a:rPr>
              <a:t>范围内唯一标识一个</a:t>
            </a:r>
            <a:r>
              <a:rPr lang="en-US" altLang="zh-CN" sz="1600" dirty="0">
                <a:latin typeface="+mj-ea"/>
              </a:rPr>
              <a:t>eNodeB</a:t>
            </a:r>
            <a:r>
              <a:rPr lang="zh-CN" altLang="en-US" sz="1600" dirty="0">
                <a:latin typeface="+mj-ea"/>
              </a:rPr>
              <a:t>，即在一个国家的一个运营商网络下保持唯一。规划时需要考虑不同运营商的实际情况进行，可分为小型网络，通用网络，大规模网络和共用网络等几种情况。</a:t>
            </a:r>
            <a:endParaRPr lang="en-US" altLang="zh-CN" sz="1600" dirty="0">
              <a:latin typeface="+mj-ea"/>
            </a:endParaRPr>
          </a:p>
          <a:p>
            <a:pPr marL="571500" indent="-285750">
              <a:spcBef>
                <a:spcPts val="600"/>
              </a:spcBef>
              <a:spcAft>
                <a:spcPts val="600"/>
              </a:spcAft>
              <a:buFont typeface="Arial" panose="020B0604020202020204" pitchFamily="34" charset="0"/>
              <a:buChar char="•"/>
            </a:pPr>
            <a:r>
              <a:rPr lang="en-US" altLang="zh-CN" sz="1600" dirty="0">
                <a:latin typeface="+mj-ea"/>
              </a:rPr>
              <a:t>Cell ID</a:t>
            </a:r>
            <a:r>
              <a:rPr lang="zh-CN" altLang="en-US" sz="1600" dirty="0">
                <a:latin typeface="+mj-ea"/>
              </a:rPr>
              <a:t>在一个</a:t>
            </a:r>
            <a:r>
              <a:rPr lang="en-US" altLang="zh-CN" sz="1600" dirty="0">
                <a:latin typeface="+mj-ea"/>
              </a:rPr>
              <a:t>eNodeB ID</a:t>
            </a:r>
            <a:r>
              <a:rPr lang="zh-CN" altLang="en-US" sz="1600" dirty="0">
                <a:latin typeface="+mj-ea"/>
              </a:rPr>
              <a:t>中保持唯一即可，取值范围</a:t>
            </a:r>
            <a:r>
              <a:rPr lang="en-US" altLang="zh-CN" sz="1600" dirty="0">
                <a:latin typeface="+mj-ea"/>
              </a:rPr>
              <a:t>0~255</a:t>
            </a:r>
            <a:r>
              <a:rPr lang="zh-CN" altLang="en-US" sz="1600" dirty="0">
                <a:latin typeface="+mj-ea"/>
              </a:rPr>
              <a:t>。</a:t>
            </a:r>
            <a:endParaRPr lang="en-US" altLang="zh-CN" sz="1600" dirty="0">
              <a:latin typeface="+mj-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3.2  LTE TA</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1579241" y="2610579"/>
            <a:ext cx="1613820" cy="400110"/>
          </a:xfrm>
          <a:prstGeom prst="rect">
            <a:avLst/>
          </a:prstGeom>
          <a:noFill/>
        </p:spPr>
        <p:txBody>
          <a:bodyPr wrap="square" rtlCol="0">
            <a:spAutoFit/>
          </a:bodyPr>
          <a:lstStyle/>
          <a:p>
            <a:r>
              <a:rPr lang="zh-CN" altLang="en-US" sz="2000" dirty="0">
                <a:solidFill>
                  <a:srgbClr val="8F000B"/>
                </a:solidFill>
                <a:latin typeface="+mn-ea"/>
                <a:cs typeface="Arial" panose="020B0604020202020204" pitchFamily="34" charset="0"/>
              </a:rPr>
              <a:t>跟踪区</a:t>
            </a:r>
            <a:endParaRPr lang="en-US" altLang="zh-CN" sz="2000" dirty="0">
              <a:solidFill>
                <a:srgbClr val="8F000B"/>
              </a:solidFill>
              <a:latin typeface="+mn-ea"/>
              <a:cs typeface="Arial" panose="020B0604020202020204" pitchFamily="34" charset="0"/>
            </a:endParaRPr>
          </a:p>
        </p:txBody>
      </p:sp>
      <p:grpSp>
        <p:nvGrpSpPr>
          <p:cNvPr id="9" name="组合 8"/>
          <p:cNvGrpSpPr/>
          <p:nvPr/>
        </p:nvGrpSpPr>
        <p:grpSpPr>
          <a:xfrm>
            <a:off x="1337597" y="2701261"/>
            <a:ext cx="196101" cy="196101"/>
            <a:chOff x="1389761" y="2111236"/>
            <a:chExt cx="196101" cy="196101"/>
          </a:xfrm>
        </p:grpSpPr>
        <p:sp>
          <p:nvSpPr>
            <p:cNvPr id="10" name="矩形 9"/>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11"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latin typeface="Calibri" panose="020F0502020204030204"/>
                <a:ea typeface="宋体" panose="02010600030101010101" pitchFamily="2" charset="-122"/>
              </a:endParaRPr>
            </a:p>
          </p:txBody>
        </p:sp>
      </p:grpSp>
      <p:sp>
        <p:nvSpPr>
          <p:cNvPr id="13" name="文本框 12"/>
          <p:cNvSpPr txBox="1"/>
          <p:nvPr/>
        </p:nvSpPr>
        <p:spPr>
          <a:xfrm>
            <a:off x="1579240" y="2979911"/>
            <a:ext cx="4093427" cy="1311128"/>
          </a:xfrm>
          <a:prstGeom prst="rect">
            <a:avLst/>
          </a:prstGeom>
          <a:noFill/>
        </p:spPr>
        <p:txBody>
          <a:bodyPr wrap="square" rtlCol="0">
            <a:spAutoFit/>
          </a:bodyPr>
          <a:lstStyle/>
          <a:p>
            <a:pPr algn="just">
              <a:lnSpc>
                <a:spcPct val="110000"/>
              </a:lnSpc>
            </a:pPr>
            <a:r>
              <a:rPr lang="en-US" altLang="zh-CN" dirty="0">
                <a:latin typeface="+mn-ea"/>
                <a:cs typeface="Arial" panose="020B0604020202020204" pitchFamily="34" charset="0"/>
              </a:rPr>
              <a:t>Tracking Area</a:t>
            </a:r>
            <a:r>
              <a:rPr lang="zh-CN" altLang="en-US" dirty="0">
                <a:latin typeface="+mn-ea"/>
                <a:cs typeface="Arial" panose="020B0604020202020204" pitchFamily="34" charset="0"/>
              </a:rPr>
              <a:t>，简称</a:t>
            </a:r>
            <a:r>
              <a:rPr lang="en-US" altLang="zh-CN" dirty="0">
                <a:latin typeface="+mn-ea"/>
                <a:cs typeface="Arial" panose="020B0604020202020204" pitchFamily="34" charset="0"/>
              </a:rPr>
              <a:t>TA</a:t>
            </a:r>
            <a:r>
              <a:rPr lang="zh-CN" altLang="en-US" dirty="0">
                <a:latin typeface="+mn-ea"/>
                <a:cs typeface="Arial" panose="020B0604020202020204" pitchFamily="34" charset="0"/>
              </a:rPr>
              <a:t>，跟踪区类似于</a:t>
            </a:r>
            <a:r>
              <a:rPr lang="en-US" altLang="zh-CN" dirty="0">
                <a:latin typeface="+mn-ea"/>
                <a:cs typeface="Arial" panose="020B0604020202020204" pitchFamily="34" charset="0"/>
              </a:rPr>
              <a:t>2G/3G</a:t>
            </a:r>
            <a:r>
              <a:rPr lang="zh-CN" altLang="en-US" dirty="0">
                <a:latin typeface="+mn-ea"/>
                <a:cs typeface="Arial" panose="020B0604020202020204" pitchFamily="34" charset="0"/>
              </a:rPr>
              <a:t>里的位置区和路由区</a:t>
            </a:r>
            <a:r>
              <a:rPr lang="en-US" altLang="zh-CN" dirty="0">
                <a:latin typeface="+mn-ea"/>
                <a:cs typeface="Arial" panose="020B0604020202020204" pitchFamily="34" charset="0"/>
              </a:rPr>
              <a:t>, </a:t>
            </a:r>
            <a:r>
              <a:rPr lang="zh-CN" altLang="en-US" dirty="0">
                <a:latin typeface="+mn-ea"/>
                <a:cs typeface="Arial" panose="020B0604020202020204" pitchFamily="34" charset="0"/>
              </a:rPr>
              <a:t>是</a:t>
            </a:r>
            <a:r>
              <a:rPr lang="en-US" altLang="zh-CN" dirty="0">
                <a:latin typeface="+mn-ea"/>
                <a:cs typeface="Arial" panose="020B0604020202020204" pitchFamily="34" charset="0"/>
              </a:rPr>
              <a:t>LTE</a:t>
            </a:r>
            <a:r>
              <a:rPr lang="zh-CN" altLang="en-US" dirty="0">
                <a:latin typeface="+mn-ea"/>
                <a:cs typeface="Arial" panose="020B0604020202020204" pitchFamily="34" charset="0"/>
              </a:rPr>
              <a:t>系统为</a:t>
            </a:r>
            <a:r>
              <a:rPr lang="en-US" altLang="zh-CN" dirty="0">
                <a:latin typeface="+mn-ea"/>
                <a:cs typeface="Arial" panose="020B0604020202020204" pitchFamily="34" charset="0"/>
              </a:rPr>
              <a:t>UE</a:t>
            </a:r>
            <a:r>
              <a:rPr lang="zh-CN" altLang="en-US" dirty="0">
                <a:latin typeface="+mn-ea"/>
                <a:cs typeface="Arial" panose="020B0604020202020204" pitchFamily="34" charset="0"/>
              </a:rPr>
              <a:t>的位置管理新设立的概念；是用来进行寻呼和位置更新的区域。</a:t>
            </a:r>
          </a:p>
        </p:txBody>
      </p:sp>
      <p:sp>
        <p:nvSpPr>
          <p:cNvPr id="14" name="文本框 13"/>
          <p:cNvSpPr txBox="1"/>
          <p:nvPr/>
        </p:nvSpPr>
        <p:spPr>
          <a:xfrm>
            <a:off x="1579241" y="4660371"/>
            <a:ext cx="1613820" cy="400110"/>
          </a:xfrm>
          <a:prstGeom prst="rect">
            <a:avLst/>
          </a:prstGeom>
          <a:noFill/>
        </p:spPr>
        <p:txBody>
          <a:bodyPr wrap="square" rtlCol="0">
            <a:spAutoFit/>
          </a:bodyPr>
          <a:lstStyle/>
          <a:p>
            <a:r>
              <a:rPr lang="zh-CN" altLang="en-US" sz="2000" dirty="0">
                <a:solidFill>
                  <a:srgbClr val="8F000B"/>
                </a:solidFill>
                <a:latin typeface="+mn-ea"/>
                <a:cs typeface="Arial" panose="020B0604020202020204" pitchFamily="34" charset="0"/>
              </a:rPr>
              <a:t>跟踪区编码</a:t>
            </a:r>
            <a:endParaRPr lang="en-US" altLang="zh-CN" sz="2000" dirty="0">
              <a:solidFill>
                <a:srgbClr val="8F000B"/>
              </a:solidFill>
              <a:latin typeface="+mn-ea"/>
              <a:cs typeface="Arial" panose="020B0604020202020204" pitchFamily="34" charset="0"/>
            </a:endParaRPr>
          </a:p>
        </p:txBody>
      </p:sp>
      <p:grpSp>
        <p:nvGrpSpPr>
          <p:cNvPr id="15" name="组合 14"/>
          <p:cNvGrpSpPr/>
          <p:nvPr/>
        </p:nvGrpSpPr>
        <p:grpSpPr>
          <a:xfrm>
            <a:off x="1337597" y="4751053"/>
            <a:ext cx="196101" cy="196101"/>
            <a:chOff x="1389761" y="2111236"/>
            <a:chExt cx="196101" cy="196101"/>
          </a:xfrm>
        </p:grpSpPr>
        <p:sp>
          <p:nvSpPr>
            <p:cNvPr id="16" name="矩形 15"/>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17"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latin typeface="Calibri" panose="020F0502020204030204"/>
                <a:ea typeface="宋体" panose="02010600030101010101" pitchFamily="2" charset="-122"/>
              </a:endParaRPr>
            </a:p>
          </p:txBody>
        </p:sp>
      </p:grpSp>
      <p:sp>
        <p:nvSpPr>
          <p:cNvPr id="18" name="文本框 17"/>
          <p:cNvSpPr txBox="1"/>
          <p:nvPr/>
        </p:nvSpPr>
        <p:spPr>
          <a:xfrm>
            <a:off x="1579241" y="5111264"/>
            <a:ext cx="3787384" cy="991938"/>
          </a:xfrm>
          <a:prstGeom prst="rect">
            <a:avLst/>
          </a:prstGeom>
          <a:noFill/>
        </p:spPr>
        <p:txBody>
          <a:bodyPr wrap="square" rtlCol="0">
            <a:spAutoFit/>
          </a:bodyPr>
          <a:lstStyle/>
          <a:p>
            <a:pPr algn="just">
              <a:lnSpc>
                <a:spcPct val="110000"/>
              </a:lnSpc>
            </a:pPr>
            <a:r>
              <a:rPr lang="en-US" altLang="zh-CN" dirty="0">
                <a:latin typeface="+mn-ea"/>
                <a:cs typeface="Arial" panose="020B0604020202020204" pitchFamily="34" charset="0"/>
              </a:rPr>
              <a:t>TAC(Tracking Area Code)</a:t>
            </a:r>
            <a:r>
              <a:rPr lang="zh-CN" altLang="en-US" dirty="0">
                <a:latin typeface="+mn-ea"/>
                <a:cs typeface="Arial" panose="020B0604020202020204" pitchFamily="34" charset="0"/>
              </a:rPr>
              <a:t>，范围：</a:t>
            </a:r>
            <a:r>
              <a:rPr lang="en-US" altLang="zh-CN" dirty="0">
                <a:latin typeface="+mn-ea"/>
                <a:cs typeface="Arial" panose="020B0604020202020204" pitchFamily="34" charset="0"/>
              </a:rPr>
              <a:t>0-65535</a:t>
            </a:r>
            <a:r>
              <a:rPr lang="zh-CN" altLang="en-US" dirty="0">
                <a:latin typeface="+mn-ea"/>
                <a:cs typeface="Arial" panose="020B0604020202020204" pitchFamily="34" charset="0"/>
              </a:rPr>
              <a:t>。跟踪区的大小，即是一个跟踪区码</a:t>
            </a:r>
            <a:r>
              <a:rPr lang="en-US" altLang="zh-CN" dirty="0">
                <a:latin typeface="+mn-ea"/>
                <a:cs typeface="Arial" panose="020B0604020202020204" pitchFamily="34" charset="0"/>
              </a:rPr>
              <a:t>TAC</a:t>
            </a:r>
            <a:r>
              <a:rPr lang="zh-CN" altLang="en-US" dirty="0">
                <a:latin typeface="+mn-ea"/>
                <a:cs typeface="Arial" panose="020B0604020202020204" pitchFamily="34" charset="0"/>
              </a:rPr>
              <a:t>所覆盖的范围大小。</a:t>
            </a:r>
          </a:p>
        </p:txBody>
      </p:sp>
      <p:sp>
        <p:nvSpPr>
          <p:cNvPr id="19" name="文本框 18"/>
          <p:cNvSpPr txBox="1"/>
          <p:nvPr/>
        </p:nvSpPr>
        <p:spPr>
          <a:xfrm>
            <a:off x="6564338" y="1876742"/>
            <a:ext cx="2154561" cy="400110"/>
          </a:xfrm>
          <a:prstGeom prst="rect">
            <a:avLst/>
          </a:prstGeom>
          <a:noFill/>
        </p:spPr>
        <p:txBody>
          <a:bodyPr wrap="square" rtlCol="0">
            <a:spAutoFit/>
          </a:bodyPr>
          <a:lstStyle/>
          <a:p>
            <a:r>
              <a:rPr lang="zh-CN" altLang="en-US" sz="2000" dirty="0">
                <a:solidFill>
                  <a:srgbClr val="8F000B"/>
                </a:solidFill>
                <a:latin typeface="+mn-ea"/>
                <a:cs typeface="Arial" panose="020B0604020202020204" pitchFamily="34" charset="0"/>
              </a:rPr>
              <a:t>跟踪区域标识</a:t>
            </a:r>
            <a:endParaRPr lang="en-US" altLang="zh-CN" sz="2000" dirty="0">
              <a:solidFill>
                <a:srgbClr val="8F000B"/>
              </a:solidFill>
              <a:latin typeface="+mn-ea"/>
              <a:cs typeface="Arial" panose="020B0604020202020204" pitchFamily="34" charset="0"/>
            </a:endParaRPr>
          </a:p>
        </p:txBody>
      </p:sp>
      <p:grpSp>
        <p:nvGrpSpPr>
          <p:cNvPr id="20" name="组合 19"/>
          <p:cNvGrpSpPr/>
          <p:nvPr/>
        </p:nvGrpSpPr>
        <p:grpSpPr>
          <a:xfrm>
            <a:off x="6322695" y="1967424"/>
            <a:ext cx="196101" cy="196101"/>
            <a:chOff x="1389761" y="2111236"/>
            <a:chExt cx="196101" cy="196101"/>
          </a:xfrm>
        </p:grpSpPr>
        <p:sp>
          <p:nvSpPr>
            <p:cNvPr id="21" name="矩形 20"/>
            <p:cNvSpPr/>
            <p:nvPr/>
          </p:nvSpPr>
          <p:spPr>
            <a:xfrm>
              <a:off x="1389761" y="2111236"/>
              <a:ext cx="196101" cy="196101"/>
            </a:xfrm>
            <a:prstGeom prst="rect">
              <a:avLst/>
            </a:prstGeom>
            <a:solidFill>
              <a:srgbClr val="FFFFFF">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22" name="Freeform 9"/>
            <p:cNvSpPr/>
            <p:nvPr/>
          </p:nvSpPr>
          <p:spPr bwMode="auto">
            <a:xfrm>
              <a:off x="1413970" y="2129319"/>
              <a:ext cx="157206" cy="150410"/>
            </a:xfrm>
            <a:custGeom>
              <a:avLst/>
              <a:gdLst>
                <a:gd name="T0" fmla="*/ 173 w 347"/>
                <a:gd name="T1" fmla="*/ 0 h 332"/>
                <a:gd name="T2" fmla="*/ 226 w 347"/>
                <a:gd name="T3" fmla="*/ 107 h 332"/>
                <a:gd name="T4" fmla="*/ 347 w 347"/>
                <a:gd name="T5" fmla="*/ 126 h 332"/>
                <a:gd name="T6" fmla="*/ 260 w 347"/>
                <a:gd name="T7" fmla="*/ 211 h 332"/>
                <a:gd name="T8" fmla="*/ 279 w 347"/>
                <a:gd name="T9" fmla="*/ 332 h 332"/>
                <a:gd name="T10" fmla="*/ 173 w 347"/>
                <a:gd name="T11" fmla="*/ 274 h 332"/>
                <a:gd name="T12" fmla="*/ 65 w 347"/>
                <a:gd name="T13" fmla="*/ 332 h 332"/>
                <a:gd name="T14" fmla="*/ 84 w 347"/>
                <a:gd name="T15" fmla="*/ 211 h 332"/>
                <a:gd name="T16" fmla="*/ 0 w 347"/>
                <a:gd name="T17" fmla="*/ 126 h 332"/>
                <a:gd name="T18" fmla="*/ 118 w 347"/>
                <a:gd name="T19" fmla="*/ 107 h 332"/>
                <a:gd name="T20" fmla="*/ 173 w 347"/>
                <a:gd name="T2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7" h="332">
                  <a:moveTo>
                    <a:pt x="173" y="0"/>
                  </a:moveTo>
                  <a:lnTo>
                    <a:pt x="226" y="107"/>
                  </a:lnTo>
                  <a:lnTo>
                    <a:pt x="347" y="126"/>
                  </a:lnTo>
                  <a:lnTo>
                    <a:pt x="260" y="211"/>
                  </a:lnTo>
                  <a:lnTo>
                    <a:pt x="279" y="332"/>
                  </a:lnTo>
                  <a:lnTo>
                    <a:pt x="173" y="274"/>
                  </a:lnTo>
                  <a:lnTo>
                    <a:pt x="65" y="332"/>
                  </a:lnTo>
                  <a:lnTo>
                    <a:pt x="84" y="211"/>
                  </a:lnTo>
                  <a:lnTo>
                    <a:pt x="0" y="126"/>
                  </a:lnTo>
                  <a:lnTo>
                    <a:pt x="118" y="107"/>
                  </a:lnTo>
                  <a:lnTo>
                    <a:pt x="173" y="0"/>
                  </a:ln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latin typeface="Calibri" panose="020F0502020204030204"/>
                <a:ea typeface="宋体" panose="02010600030101010101" pitchFamily="2" charset="-122"/>
              </a:endParaRPr>
            </a:p>
          </p:txBody>
        </p:sp>
      </p:grpSp>
      <p:sp>
        <p:nvSpPr>
          <p:cNvPr id="23" name="文本框 22"/>
          <p:cNvSpPr txBox="1"/>
          <p:nvPr/>
        </p:nvSpPr>
        <p:spPr>
          <a:xfrm>
            <a:off x="6564339" y="2246074"/>
            <a:ext cx="3609102" cy="701731"/>
          </a:xfrm>
          <a:prstGeom prst="rect">
            <a:avLst/>
          </a:prstGeom>
          <a:noFill/>
        </p:spPr>
        <p:txBody>
          <a:bodyPr wrap="square" rtlCol="0">
            <a:spAutoFit/>
          </a:bodyPr>
          <a:lstStyle/>
          <a:p>
            <a:pPr algn="just">
              <a:lnSpc>
                <a:spcPct val="110000"/>
              </a:lnSpc>
            </a:pPr>
            <a:r>
              <a:rPr lang="en-US" altLang="zh-CN" dirty="0">
                <a:latin typeface="+mn-ea"/>
                <a:cs typeface="Arial" panose="020B0604020202020204" pitchFamily="34" charset="0"/>
              </a:rPr>
              <a:t>TAI</a:t>
            </a:r>
            <a:r>
              <a:rPr lang="zh-CN" altLang="en-US" dirty="0">
                <a:latin typeface="+mn-ea"/>
                <a:cs typeface="Arial" panose="020B0604020202020204" pitchFamily="34" charset="0"/>
              </a:rPr>
              <a:t>唯一标识一个</a:t>
            </a:r>
            <a:r>
              <a:rPr lang="en-US" altLang="zh-CN" dirty="0">
                <a:latin typeface="+mn-ea"/>
                <a:cs typeface="Arial" panose="020B0604020202020204" pitchFamily="34" charset="0"/>
              </a:rPr>
              <a:t>TA</a:t>
            </a:r>
          </a:p>
          <a:p>
            <a:pPr algn="just">
              <a:lnSpc>
                <a:spcPct val="110000"/>
              </a:lnSpc>
            </a:pPr>
            <a:r>
              <a:rPr lang="en-US" altLang="zh-CN" dirty="0">
                <a:latin typeface="+mn-ea"/>
                <a:cs typeface="Arial" panose="020B0604020202020204" pitchFamily="34" charset="0"/>
              </a:rPr>
              <a:t>TAI</a:t>
            </a:r>
            <a:r>
              <a:rPr lang="zh-CN" altLang="en-US" dirty="0">
                <a:latin typeface="+mn-ea"/>
                <a:cs typeface="Arial" panose="020B0604020202020204" pitchFamily="34" charset="0"/>
              </a:rPr>
              <a:t>＝</a:t>
            </a:r>
            <a:r>
              <a:rPr lang="en-US" altLang="zh-CN" dirty="0">
                <a:latin typeface="+mn-ea"/>
                <a:cs typeface="Arial" panose="020B0604020202020204" pitchFamily="34" charset="0"/>
              </a:rPr>
              <a:t>MCC+MNC+TAC</a:t>
            </a:r>
            <a:endParaRPr lang="zh-CN" altLang="en-US" dirty="0">
              <a:latin typeface="+mn-ea"/>
              <a:cs typeface="Arial" panose="020B0604020202020204" pitchFamily="34" charset="0"/>
            </a:endParaRPr>
          </a:p>
        </p:txBody>
      </p:sp>
      <p:sp>
        <p:nvSpPr>
          <p:cNvPr id="4" name="矩形 3"/>
          <p:cNvSpPr/>
          <p:nvPr/>
        </p:nvSpPr>
        <p:spPr>
          <a:xfrm>
            <a:off x="6234153" y="3250501"/>
            <a:ext cx="4620250" cy="2957156"/>
          </a:xfrm>
          <a:prstGeom prst="rect">
            <a:avLst/>
          </a:prstGeom>
        </p:spPr>
        <p:txBody>
          <a:bodyPr wrap="square">
            <a:spAutoFit/>
          </a:bodyPr>
          <a:lstStyle/>
          <a:p>
            <a:pPr>
              <a:lnSpc>
                <a:spcPct val="150000"/>
              </a:lnSpc>
            </a:pPr>
            <a:r>
              <a:rPr lang="en-US" altLang="zh-CN" dirty="0">
                <a:solidFill>
                  <a:srgbClr val="FF0000"/>
                </a:solidFill>
                <a:latin typeface="微软雅黑" panose="020B0503020204020204" charset="-122"/>
              </a:rPr>
              <a:t>TA</a:t>
            </a:r>
            <a:r>
              <a:rPr lang="zh-CN" altLang="zh-CN" dirty="0">
                <a:solidFill>
                  <a:srgbClr val="FF0000"/>
                </a:solidFill>
                <a:latin typeface="微软雅黑" panose="020B0503020204020204" charset="-122"/>
              </a:rPr>
              <a:t>规划的目的</a:t>
            </a:r>
            <a:r>
              <a:rPr lang="zh-CN" altLang="zh-CN" dirty="0">
                <a:latin typeface="微软雅黑" panose="020B0503020204020204" charset="-122"/>
              </a:rPr>
              <a:t>主要是在</a:t>
            </a:r>
            <a:r>
              <a:rPr lang="en-US" altLang="zh-CN" dirty="0">
                <a:latin typeface="微软雅黑" panose="020B0503020204020204" charset="-122"/>
              </a:rPr>
              <a:t>LTE</a:t>
            </a:r>
            <a:r>
              <a:rPr lang="zh-CN" altLang="zh-CN" dirty="0">
                <a:latin typeface="微软雅黑" panose="020B0503020204020204" charset="-122"/>
              </a:rPr>
              <a:t>系统中尽量减少因位置改变而引起的位置更新信令。</a:t>
            </a:r>
            <a:r>
              <a:rPr lang="zh-CN" altLang="en-US" dirty="0">
                <a:latin typeface="微软雅黑" panose="020B0503020204020204" charset="-122"/>
              </a:rPr>
              <a:t>要确保寻呼信道容量不受限，同时对于区域边界的位置更新开销更小，而且要求易于管理。</a:t>
            </a:r>
            <a:endParaRPr lang="en-US" altLang="zh-CN" dirty="0">
              <a:latin typeface="微软雅黑" panose="020B0503020204020204" charset="-122"/>
            </a:endParaRPr>
          </a:p>
          <a:p>
            <a:pPr>
              <a:lnSpc>
                <a:spcPct val="150000"/>
              </a:lnSpc>
            </a:pPr>
            <a:endParaRPr lang="en-US" altLang="zh-CN" dirty="0">
              <a:latin typeface="微软雅黑" panose="020B0503020204020204" charset="-122"/>
            </a:endParaRPr>
          </a:p>
          <a:p>
            <a:pPr>
              <a:lnSpc>
                <a:spcPct val="150000"/>
              </a:lnSpc>
            </a:pPr>
            <a:r>
              <a:rPr lang="zh-CN" altLang="en-US" dirty="0">
                <a:latin typeface="微软雅黑" panose="020B0503020204020204" charset="-122"/>
              </a:rPr>
              <a:t>跟踪区</a:t>
            </a:r>
            <a:r>
              <a:rPr lang="en-US" altLang="zh-CN" dirty="0">
                <a:latin typeface="微软雅黑" panose="020B0503020204020204" charset="-122"/>
              </a:rPr>
              <a:t>TA</a:t>
            </a:r>
            <a:r>
              <a:rPr lang="zh-CN" altLang="en-US" dirty="0">
                <a:latin typeface="微软雅黑" panose="020B0503020204020204" charset="-122"/>
              </a:rPr>
              <a:t>的大小取决于：</a:t>
            </a:r>
            <a:r>
              <a:rPr lang="zh-CN" altLang="en-US" dirty="0">
                <a:solidFill>
                  <a:srgbClr val="FF0000"/>
                </a:solidFill>
                <a:latin typeface="微软雅黑" panose="020B0503020204020204" charset="-122"/>
              </a:rPr>
              <a:t>寻呼负荷、位置更新的信令开销</a:t>
            </a:r>
            <a:r>
              <a:rPr lang="zh-CN" altLang="en-US" dirty="0">
                <a:latin typeface="微软雅黑" panose="020B0503020204020204" charset="-122"/>
              </a:rPr>
              <a:t>。</a:t>
            </a:r>
            <a:endParaRPr lang="zh-CN" altLang="zh-CN" dirty="0">
              <a:latin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064895" y="-121194"/>
            <a:ext cx="10515600" cy="535305"/>
          </a:xfrm>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611505" y="-97615"/>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3.2  LTE TA</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0" y="-5796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p:cNvGrpSpPr/>
          <p:nvPr/>
        </p:nvGrpSpPr>
        <p:grpSpPr>
          <a:xfrm>
            <a:off x="1457854" y="2414815"/>
            <a:ext cx="3884611" cy="3067174"/>
            <a:chOff x="1457854" y="2994479"/>
            <a:chExt cx="3884611" cy="3067174"/>
          </a:xfrm>
        </p:grpSpPr>
        <p:sp>
          <p:nvSpPr>
            <p:cNvPr id="31" name="MH_Text_1"/>
            <p:cNvSpPr/>
            <p:nvPr>
              <p:custDataLst>
                <p:tags r:id="rId1"/>
              </p:custDataLst>
            </p:nvPr>
          </p:nvSpPr>
          <p:spPr>
            <a:xfrm>
              <a:off x="1457854" y="3363433"/>
              <a:ext cx="3884611" cy="2698220"/>
            </a:xfrm>
            <a:custGeom>
              <a:avLst/>
              <a:gdLst>
                <a:gd name="connsiteX0" fmla="*/ 0 w 2160000"/>
                <a:gd name="connsiteY0" fmla="*/ 1377240 h 1593240"/>
                <a:gd name="connsiteX1" fmla="*/ 54000 w 2160000"/>
                <a:gd name="connsiteY1" fmla="*/ 1377240 h 1593240"/>
                <a:gd name="connsiteX2" fmla="*/ 54000 w 2160000"/>
                <a:gd name="connsiteY2" fmla="*/ 1539240 h 1593240"/>
                <a:gd name="connsiteX3" fmla="*/ 2106000 w 2160000"/>
                <a:gd name="connsiteY3" fmla="*/ 1539240 h 1593240"/>
                <a:gd name="connsiteX4" fmla="*/ 2106000 w 2160000"/>
                <a:gd name="connsiteY4" fmla="*/ 1377240 h 1593240"/>
                <a:gd name="connsiteX5" fmla="*/ 2160000 w 2160000"/>
                <a:gd name="connsiteY5" fmla="*/ 1377240 h 1593240"/>
                <a:gd name="connsiteX6" fmla="*/ 2160000 w 2160000"/>
                <a:gd name="connsiteY6" fmla="*/ 1539240 h 1593240"/>
                <a:gd name="connsiteX7" fmla="*/ 2160000 w 2160000"/>
                <a:gd name="connsiteY7" fmla="*/ 1593240 h 1593240"/>
                <a:gd name="connsiteX8" fmla="*/ 2106000 w 2160000"/>
                <a:gd name="connsiteY8" fmla="*/ 1593240 h 1593240"/>
                <a:gd name="connsiteX9" fmla="*/ 54000 w 2160000"/>
                <a:gd name="connsiteY9" fmla="*/ 1593240 h 1593240"/>
                <a:gd name="connsiteX10" fmla="*/ 0 w 2160000"/>
                <a:gd name="connsiteY10" fmla="*/ 1593240 h 1593240"/>
                <a:gd name="connsiteX11" fmla="*/ 0 w 2160000"/>
                <a:gd name="connsiteY11" fmla="*/ 1539240 h 1593240"/>
                <a:gd name="connsiteX12" fmla="*/ 1800000 w 2160000"/>
                <a:gd name="connsiteY12" fmla="*/ 0 h 1593240"/>
                <a:gd name="connsiteX13" fmla="*/ 2106000 w 2160000"/>
                <a:gd name="connsiteY13" fmla="*/ 0 h 1593240"/>
                <a:gd name="connsiteX14" fmla="*/ 2160000 w 2160000"/>
                <a:gd name="connsiteY14" fmla="*/ 0 h 1593240"/>
                <a:gd name="connsiteX15" fmla="*/ 2160000 w 2160000"/>
                <a:gd name="connsiteY15" fmla="*/ 54000 h 1593240"/>
                <a:gd name="connsiteX16" fmla="*/ 2160000 w 2160000"/>
                <a:gd name="connsiteY16" fmla="*/ 216000 h 1593240"/>
                <a:gd name="connsiteX17" fmla="*/ 2106000 w 2160000"/>
                <a:gd name="connsiteY17" fmla="*/ 216000 h 1593240"/>
                <a:gd name="connsiteX18" fmla="*/ 2106000 w 2160000"/>
                <a:gd name="connsiteY18" fmla="*/ 54000 h 1593240"/>
                <a:gd name="connsiteX19" fmla="*/ 1800000 w 2160000"/>
                <a:gd name="connsiteY19" fmla="*/ 54000 h 1593240"/>
                <a:gd name="connsiteX20" fmla="*/ 0 w 2160000"/>
                <a:gd name="connsiteY20" fmla="*/ 0 h 1593240"/>
                <a:gd name="connsiteX21" fmla="*/ 54000 w 2160000"/>
                <a:gd name="connsiteY21" fmla="*/ 0 h 1593240"/>
                <a:gd name="connsiteX22" fmla="*/ 360000 w 2160000"/>
                <a:gd name="connsiteY22" fmla="*/ 0 h 1593240"/>
                <a:gd name="connsiteX23" fmla="*/ 360000 w 2160000"/>
                <a:gd name="connsiteY23" fmla="*/ 54000 h 1593240"/>
                <a:gd name="connsiteX24" fmla="*/ 54000 w 2160000"/>
                <a:gd name="connsiteY24" fmla="*/ 54000 h 1593240"/>
                <a:gd name="connsiteX25" fmla="*/ 54000 w 2160000"/>
                <a:gd name="connsiteY25" fmla="*/ 216000 h 1593240"/>
                <a:gd name="connsiteX26" fmla="*/ 0 w 2160000"/>
                <a:gd name="connsiteY26" fmla="*/ 216000 h 1593240"/>
                <a:gd name="connsiteX27" fmla="*/ 0 w 2160000"/>
                <a:gd name="connsiteY27" fmla="*/ 54000 h 159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60000" h="1593240">
                  <a:moveTo>
                    <a:pt x="0" y="1377240"/>
                  </a:moveTo>
                  <a:lnTo>
                    <a:pt x="54000" y="1377240"/>
                  </a:lnTo>
                  <a:lnTo>
                    <a:pt x="54000" y="1539240"/>
                  </a:lnTo>
                  <a:lnTo>
                    <a:pt x="2106000" y="1539240"/>
                  </a:lnTo>
                  <a:lnTo>
                    <a:pt x="2106000" y="1377240"/>
                  </a:lnTo>
                  <a:lnTo>
                    <a:pt x="2160000" y="1377240"/>
                  </a:lnTo>
                  <a:lnTo>
                    <a:pt x="2160000" y="1539240"/>
                  </a:lnTo>
                  <a:lnTo>
                    <a:pt x="2160000" y="1593240"/>
                  </a:lnTo>
                  <a:lnTo>
                    <a:pt x="2106000" y="1593240"/>
                  </a:lnTo>
                  <a:lnTo>
                    <a:pt x="54000" y="1593240"/>
                  </a:lnTo>
                  <a:lnTo>
                    <a:pt x="0" y="1593240"/>
                  </a:lnTo>
                  <a:lnTo>
                    <a:pt x="0" y="1539240"/>
                  </a:lnTo>
                  <a:close/>
                  <a:moveTo>
                    <a:pt x="1800000" y="0"/>
                  </a:moveTo>
                  <a:lnTo>
                    <a:pt x="2106000" y="0"/>
                  </a:lnTo>
                  <a:lnTo>
                    <a:pt x="2160000" y="0"/>
                  </a:lnTo>
                  <a:lnTo>
                    <a:pt x="2160000" y="54000"/>
                  </a:lnTo>
                  <a:lnTo>
                    <a:pt x="2160000" y="216000"/>
                  </a:lnTo>
                  <a:lnTo>
                    <a:pt x="2106000" y="216000"/>
                  </a:lnTo>
                  <a:lnTo>
                    <a:pt x="2106000" y="54000"/>
                  </a:lnTo>
                  <a:lnTo>
                    <a:pt x="1800000" y="54000"/>
                  </a:lnTo>
                  <a:close/>
                  <a:moveTo>
                    <a:pt x="0" y="0"/>
                  </a:moveTo>
                  <a:lnTo>
                    <a:pt x="54000" y="0"/>
                  </a:lnTo>
                  <a:lnTo>
                    <a:pt x="360000" y="0"/>
                  </a:lnTo>
                  <a:lnTo>
                    <a:pt x="360000" y="54000"/>
                  </a:lnTo>
                  <a:lnTo>
                    <a:pt x="54000" y="54000"/>
                  </a:lnTo>
                  <a:lnTo>
                    <a:pt x="54000" y="216000"/>
                  </a:lnTo>
                  <a:lnTo>
                    <a:pt x="0" y="216000"/>
                  </a:lnTo>
                  <a:lnTo>
                    <a:pt x="0" y="54000"/>
                  </a:lnTo>
                  <a:close/>
                </a:path>
              </a:pathLst>
            </a:custGeom>
            <a:solidFill>
              <a:srgbClr val="0F6FC6"/>
            </a:solidFill>
          </p:spPr>
          <p:txBody>
            <a:bodyPr lIns="108000" tIns="144000" rIns="108000" anchor="ctr">
              <a:normAutofit/>
            </a:bodyPr>
            <a:lstStyle/>
            <a:p>
              <a:pPr algn="ctr">
                <a:lnSpc>
                  <a:spcPct val="150000"/>
                </a:lnSpc>
                <a:defRPr/>
              </a:pPr>
              <a:r>
                <a:rPr lang="en-US" altLang="zh-CN" dirty="0">
                  <a:latin typeface="+mn-ea"/>
                </a:rPr>
                <a:t>1</a:t>
              </a:r>
              <a:r>
                <a:rPr lang="zh-CN" altLang="en-US" dirty="0">
                  <a:latin typeface="+mn-ea"/>
                </a:rPr>
                <a:t>、区域连续、避免插花</a:t>
              </a:r>
            </a:p>
            <a:p>
              <a:pPr algn="ctr">
                <a:lnSpc>
                  <a:spcPct val="150000"/>
                </a:lnSpc>
                <a:defRPr/>
              </a:pPr>
              <a:r>
                <a:rPr lang="en-US" altLang="zh-CN" dirty="0">
                  <a:latin typeface="+mn-ea"/>
                </a:rPr>
                <a:t>2</a:t>
              </a:r>
              <a:r>
                <a:rPr lang="zh-CN" altLang="en-US" dirty="0">
                  <a:latin typeface="+mn-ea"/>
                </a:rPr>
                <a:t>、利用地物、巧妙分割</a:t>
              </a:r>
            </a:p>
            <a:p>
              <a:pPr algn="ctr">
                <a:lnSpc>
                  <a:spcPct val="150000"/>
                </a:lnSpc>
                <a:defRPr/>
              </a:pPr>
              <a:r>
                <a:rPr lang="en-US" altLang="zh-CN" dirty="0">
                  <a:latin typeface="+mn-ea"/>
                </a:rPr>
                <a:t>  3</a:t>
              </a:r>
              <a:r>
                <a:rPr lang="zh-CN" altLang="en-US" dirty="0">
                  <a:latin typeface="+mn-ea"/>
                </a:rPr>
                <a:t>、不跨</a:t>
              </a:r>
              <a:r>
                <a:rPr lang="en-US" altLang="zh-CN" dirty="0">
                  <a:latin typeface="+mn-ea"/>
                </a:rPr>
                <a:t>MME</a:t>
              </a:r>
              <a:r>
                <a:rPr lang="zh-CN" altLang="en-US" dirty="0">
                  <a:latin typeface="+mn-ea"/>
                </a:rPr>
                <a:t>、归属唯 一</a:t>
              </a:r>
              <a:endParaRPr lang="en-US" altLang="zh-CN" dirty="0">
                <a:latin typeface="+mn-ea"/>
              </a:endParaRPr>
            </a:p>
            <a:p>
              <a:pPr algn="ctr">
                <a:lnSpc>
                  <a:spcPct val="150000"/>
                </a:lnSpc>
                <a:defRPr/>
              </a:pPr>
              <a:r>
                <a:rPr lang="en-US" altLang="zh-CN" dirty="0">
                  <a:latin typeface="+mn-ea"/>
                </a:rPr>
                <a:t>4</a:t>
              </a:r>
              <a:r>
                <a:rPr lang="zh-CN" altLang="en-US" dirty="0">
                  <a:latin typeface="+mn-ea"/>
                </a:rPr>
                <a:t>、多个频段、两个思路</a:t>
              </a:r>
            </a:p>
          </p:txBody>
        </p:sp>
        <p:sp>
          <p:nvSpPr>
            <p:cNvPr id="32" name="MH_SubTitle_1"/>
            <p:cNvSpPr/>
            <p:nvPr>
              <p:custDataLst>
                <p:tags r:id="rId2"/>
              </p:custDataLst>
            </p:nvPr>
          </p:nvSpPr>
          <p:spPr>
            <a:xfrm>
              <a:off x="1969992" y="2994479"/>
              <a:ext cx="2588791" cy="737908"/>
            </a:xfrm>
            <a:prstGeom prst="rect">
              <a:avLst/>
            </a:prstGeom>
          </p:spPr>
          <p:txBody>
            <a:bodyPr lIns="0" tIns="0" rIns="0" bIns="0" anchor="ctr">
              <a:normAutofit/>
            </a:bodyPr>
            <a:lstStyle/>
            <a:p>
              <a:pPr algn="ctr">
                <a:defRPr/>
              </a:pPr>
              <a:r>
                <a:rPr lang="en-US" altLang="zh-CN" sz="2400" b="1" kern="0" dirty="0">
                  <a:solidFill>
                    <a:srgbClr val="0F6FC6"/>
                  </a:solidFill>
                  <a:cs typeface="宋体" panose="02010600030101010101" pitchFamily="2" charset="-122"/>
                </a:rPr>
                <a:t>TA</a:t>
              </a:r>
              <a:r>
                <a:rPr lang="zh-CN" altLang="en-US" sz="2400" b="1" kern="0" dirty="0">
                  <a:solidFill>
                    <a:srgbClr val="0F6FC6"/>
                  </a:solidFill>
                  <a:cs typeface="宋体" panose="02010600030101010101" pitchFamily="2" charset="-122"/>
                </a:rPr>
                <a:t>规划原则   </a:t>
              </a:r>
            </a:p>
          </p:txBody>
        </p:sp>
      </p:grpSp>
      <p:pic>
        <p:nvPicPr>
          <p:cNvPr id="3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0860" y="3631217"/>
            <a:ext cx="4176713" cy="2160587"/>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10860" y="872580"/>
            <a:ext cx="4340225" cy="2447925"/>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116C7104-BE3C-F5A6-E3C8-77926E9DDFE5}"/>
              </a:ext>
            </a:extLst>
          </p:cNvPr>
          <p:cNvSpPr txBox="1"/>
          <p:nvPr/>
        </p:nvSpPr>
        <p:spPr>
          <a:xfrm>
            <a:off x="367393" y="1137275"/>
            <a:ext cx="6115050" cy="923330"/>
          </a:xfrm>
          <a:prstGeom prst="rect">
            <a:avLst/>
          </a:prstGeom>
          <a:noFill/>
        </p:spPr>
        <p:txBody>
          <a:bodyPr wrap="square" rtlCol="0">
            <a:spAutoFit/>
          </a:bodyPr>
          <a:lstStyle/>
          <a:p>
            <a:r>
              <a:rPr lang="en-US" altLang="zh-CN" dirty="0"/>
              <a:t>       TA</a:t>
            </a:r>
            <a:r>
              <a:rPr lang="zh-CN" altLang="en-US" dirty="0"/>
              <a:t>规划作为</a:t>
            </a:r>
            <a:r>
              <a:rPr lang="en-US" altLang="zh-CN" dirty="0"/>
              <a:t>LTE</a:t>
            </a:r>
            <a:r>
              <a:rPr lang="zh-CN" altLang="en-US" dirty="0"/>
              <a:t>网络规划的一部分，与网络寻呼性能密切相关。跟踪区的合理规划，能够均衡寻呼负荷和</a:t>
            </a:r>
            <a:r>
              <a:rPr lang="en-US" altLang="zh-CN" dirty="0"/>
              <a:t>TA</a:t>
            </a:r>
            <a:r>
              <a:rPr lang="zh-CN" altLang="en-US" dirty="0"/>
              <a:t>位置更新信令流程，有效控制系统信令负荷。</a:t>
            </a:r>
          </a:p>
        </p:txBody>
      </p:sp>
      <p:sp>
        <p:nvSpPr>
          <p:cNvPr id="4" name="文本框 3">
            <a:extLst>
              <a:ext uri="{FF2B5EF4-FFF2-40B4-BE49-F238E27FC236}">
                <a16:creationId xmlns:a16="http://schemas.microsoft.com/office/drawing/2014/main" id="{9DACCFBA-AC45-1B6F-0EE5-786CB098FEE7}"/>
              </a:ext>
            </a:extLst>
          </p:cNvPr>
          <p:cNvSpPr txBox="1"/>
          <p:nvPr/>
        </p:nvSpPr>
        <p:spPr>
          <a:xfrm>
            <a:off x="857250" y="6042570"/>
            <a:ext cx="10346872" cy="646331"/>
          </a:xfrm>
          <a:prstGeom prst="rect">
            <a:avLst/>
          </a:prstGeom>
          <a:noFill/>
        </p:spPr>
        <p:txBody>
          <a:bodyPr wrap="square" rtlCol="0">
            <a:spAutoFit/>
          </a:bodyPr>
          <a:lstStyle/>
          <a:p>
            <a:r>
              <a:rPr lang="zh-CN" altLang="en-US" dirty="0"/>
              <a:t>跟踪区规划应在地理上为一块连续的区域，避免和减少各跟踪区基站插花组网。如果跟踪区不连续或基站插花组网，会导致</a:t>
            </a:r>
            <a:r>
              <a:rPr lang="en-US" altLang="zh-CN" dirty="0"/>
              <a:t>UE</a:t>
            </a:r>
            <a:r>
              <a:rPr lang="zh-CN" altLang="en-US" dirty="0"/>
              <a:t>频繁进行跟踪区更新，增加信令开销，降低系统性能和用户体验。</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1432-8E61-B8FD-0070-93A712E833E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5B323D1-1B8D-A738-E5BE-FD2AEE0DE145}"/>
              </a:ext>
            </a:extLst>
          </p:cNvPr>
          <p:cNvSpPr>
            <a:spLocks noGrp="1"/>
          </p:cNvSpPr>
          <p:nvPr>
            <p:ph type="title"/>
          </p:nvPr>
        </p:nvSpPr>
        <p:spPr>
          <a:xfrm>
            <a:off x="1064895" y="-121194"/>
            <a:ext cx="10515600" cy="535305"/>
          </a:xfrm>
        </p:spPr>
        <p:txBody>
          <a:bodyPr/>
          <a:lstStyle/>
          <a:p>
            <a:r>
              <a:rPr lang="zh-CN" altLang="en-US" dirty="0"/>
              <a:t>任务二：步入</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64F6D614-A8D7-351E-9777-602B24CCD240}"/>
              </a:ext>
            </a:extLst>
          </p:cNvPr>
          <p:cNvSpPr txBox="1"/>
          <p:nvPr/>
        </p:nvSpPr>
        <p:spPr>
          <a:xfrm>
            <a:off x="611505" y="-97615"/>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3.2  LTE TA</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a:extLst>
              <a:ext uri="{FF2B5EF4-FFF2-40B4-BE49-F238E27FC236}">
                <a16:creationId xmlns:a16="http://schemas.microsoft.com/office/drawing/2014/main" id="{CB5DC54F-7144-1326-E6DC-398993A88DCB}"/>
              </a:ext>
            </a:extLst>
          </p:cNvPr>
          <p:cNvSpPr>
            <a:spLocks noChangeArrowheads="1"/>
          </p:cNvSpPr>
          <p:nvPr/>
        </p:nvSpPr>
        <p:spPr bwMode="auto">
          <a:xfrm>
            <a:off x="0" y="-5796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a:extLst>
              <a:ext uri="{FF2B5EF4-FFF2-40B4-BE49-F238E27FC236}">
                <a16:creationId xmlns:a16="http://schemas.microsoft.com/office/drawing/2014/main" id="{29B2FBBF-5BBE-60BC-FBCC-068BCB9ED4C7}"/>
              </a:ext>
            </a:extLst>
          </p:cNvPr>
          <p:cNvGrpSpPr/>
          <p:nvPr/>
        </p:nvGrpSpPr>
        <p:grpSpPr>
          <a:xfrm>
            <a:off x="1457854" y="2414815"/>
            <a:ext cx="3884611" cy="3067174"/>
            <a:chOff x="1457854" y="2994479"/>
            <a:chExt cx="3884611" cy="3067174"/>
          </a:xfrm>
        </p:grpSpPr>
        <p:sp>
          <p:nvSpPr>
            <p:cNvPr id="31" name="MH_Text_1">
              <a:extLst>
                <a:ext uri="{FF2B5EF4-FFF2-40B4-BE49-F238E27FC236}">
                  <a16:creationId xmlns:a16="http://schemas.microsoft.com/office/drawing/2014/main" id="{B2DFA220-43CD-38CD-49D9-16355FA26C5A}"/>
                </a:ext>
              </a:extLst>
            </p:cNvPr>
            <p:cNvSpPr/>
            <p:nvPr>
              <p:custDataLst>
                <p:tags r:id="rId1"/>
              </p:custDataLst>
            </p:nvPr>
          </p:nvSpPr>
          <p:spPr>
            <a:xfrm>
              <a:off x="1457854" y="3363433"/>
              <a:ext cx="3884611" cy="2698220"/>
            </a:xfrm>
            <a:custGeom>
              <a:avLst/>
              <a:gdLst>
                <a:gd name="connsiteX0" fmla="*/ 0 w 2160000"/>
                <a:gd name="connsiteY0" fmla="*/ 1377240 h 1593240"/>
                <a:gd name="connsiteX1" fmla="*/ 54000 w 2160000"/>
                <a:gd name="connsiteY1" fmla="*/ 1377240 h 1593240"/>
                <a:gd name="connsiteX2" fmla="*/ 54000 w 2160000"/>
                <a:gd name="connsiteY2" fmla="*/ 1539240 h 1593240"/>
                <a:gd name="connsiteX3" fmla="*/ 2106000 w 2160000"/>
                <a:gd name="connsiteY3" fmla="*/ 1539240 h 1593240"/>
                <a:gd name="connsiteX4" fmla="*/ 2106000 w 2160000"/>
                <a:gd name="connsiteY4" fmla="*/ 1377240 h 1593240"/>
                <a:gd name="connsiteX5" fmla="*/ 2160000 w 2160000"/>
                <a:gd name="connsiteY5" fmla="*/ 1377240 h 1593240"/>
                <a:gd name="connsiteX6" fmla="*/ 2160000 w 2160000"/>
                <a:gd name="connsiteY6" fmla="*/ 1539240 h 1593240"/>
                <a:gd name="connsiteX7" fmla="*/ 2160000 w 2160000"/>
                <a:gd name="connsiteY7" fmla="*/ 1593240 h 1593240"/>
                <a:gd name="connsiteX8" fmla="*/ 2106000 w 2160000"/>
                <a:gd name="connsiteY8" fmla="*/ 1593240 h 1593240"/>
                <a:gd name="connsiteX9" fmla="*/ 54000 w 2160000"/>
                <a:gd name="connsiteY9" fmla="*/ 1593240 h 1593240"/>
                <a:gd name="connsiteX10" fmla="*/ 0 w 2160000"/>
                <a:gd name="connsiteY10" fmla="*/ 1593240 h 1593240"/>
                <a:gd name="connsiteX11" fmla="*/ 0 w 2160000"/>
                <a:gd name="connsiteY11" fmla="*/ 1539240 h 1593240"/>
                <a:gd name="connsiteX12" fmla="*/ 1800000 w 2160000"/>
                <a:gd name="connsiteY12" fmla="*/ 0 h 1593240"/>
                <a:gd name="connsiteX13" fmla="*/ 2106000 w 2160000"/>
                <a:gd name="connsiteY13" fmla="*/ 0 h 1593240"/>
                <a:gd name="connsiteX14" fmla="*/ 2160000 w 2160000"/>
                <a:gd name="connsiteY14" fmla="*/ 0 h 1593240"/>
                <a:gd name="connsiteX15" fmla="*/ 2160000 w 2160000"/>
                <a:gd name="connsiteY15" fmla="*/ 54000 h 1593240"/>
                <a:gd name="connsiteX16" fmla="*/ 2160000 w 2160000"/>
                <a:gd name="connsiteY16" fmla="*/ 216000 h 1593240"/>
                <a:gd name="connsiteX17" fmla="*/ 2106000 w 2160000"/>
                <a:gd name="connsiteY17" fmla="*/ 216000 h 1593240"/>
                <a:gd name="connsiteX18" fmla="*/ 2106000 w 2160000"/>
                <a:gd name="connsiteY18" fmla="*/ 54000 h 1593240"/>
                <a:gd name="connsiteX19" fmla="*/ 1800000 w 2160000"/>
                <a:gd name="connsiteY19" fmla="*/ 54000 h 1593240"/>
                <a:gd name="connsiteX20" fmla="*/ 0 w 2160000"/>
                <a:gd name="connsiteY20" fmla="*/ 0 h 1593240"/>
                <a:gd name="connsiteX21" fmla="*/ 54000 w 2160000"/>
                <a:gd name="connsiteY21" fmla="*/ 0 h 1593240"/>
                <a:gd name="connsiteX22" fmla="*/ 360000 w 2160000"/>
                <a:gd name="connsiteY22" fmla="*/ 0 h 1593240"/>
                <a:gd name="connsiteX23" fmla="*/ 360000 w 2160000"/>
                <a:gd name="connsiteY23" fmla="*/ 54000 h 1593240"/>
                <a:gd name="connsiteX24" fmla="*/ 54000 w 2160000"/>
                <a:gd name="connsiteY24" fmla="*/ 54000 h 1593240"/>
                <a:gd name="connsiteX25" fmla="*/ 54000 w 2160000"/>
                <a:gd name="connsiteY25" fmla="*/ 216000 h 1593240"/>
                <a:gd name="connsiteX26" fmla="*/ 0 w 2160000"/>
                <a:gd name="connsiteY26" fmla="*/ 216000 h 1593240"/>
                <a:gd name="connsiteX27" fmla="*/ 0 w 2160000"/>
                <a:gd name="connsiteY27" fmla="*/ 54000 h 159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60000" h="1593240">
                  <a:moveTo>
                    <a:pt x="0" y="1377240"/>
                  </a:moveTo>
                  <a:lnTo>
                    <a:pt x="54000" y="1377240"/>
                  </a:lnTo>
                  <a:lnTo>
                    <a:pt x="54000" y="1539240"/>
                  </a:lnTo>
                  <a:lnTo>
                    <a:pt x="2106000" y="1539240"/>
                  </a:lnTo>
                  <a:lnTo>
                    <a:pt x="2106000" y="1377240"/>
                  </a:lnTo>
                  <a:lnTo>
                    <a:pt x="2160000" y="1377240"/>
                  </a:lnTo>
                  <a:lnTo>
                    <a:pt x="2160000" y="1539240"/>
                  </a:lnTo>
                  <a:lnTo>
                    <a:pt x="2160000" y="1593240"/>
                  </a:lnTo>
                  <a:lnTo>
                    <a:pt x="2106000" y="1593240"/>
                  </a:lnTo>
                  <a:lnTo>
                    <a:pt x="54000" y="1593240"/>
                  </a:lnTo>
                  <a:lnTo>
                    <a:pt x="0" y="1593240"/>
                  </a:lnTo>
                  <a:lnTo>
                    <a:pt x="0" y="1539240"/>
                  </a:lnTo>
                  <a:close/>
                  <a:moveTo>
                    <a:pt x="1800000" y="0"/>
                  </a:moveTo>
                  <a:lnTo>
                    <a:pt x="2106000" y="0"/>
                  </a:lnTo>
                  <a:lnTo>
                    <a:pt x="2160000" y="0"/>
                  </a:lnTo>
                  <a:lnTo>
                    <a:pt x="2160000" y="54000"/>
                  </a:lnTo>
                  <a:lnTo>
                    <a:pt x="2160000" y="216000"/>
                  </a:lnTo>
                  <a:lnTo>
                    <a:pt x="2106000" y="216000"/>
                  </a:lnTo>
                  <a:lnTo>
                    <a:pt x="2106000" y="54000"/>
                  </a:lnTo>
                  <a:lnTo>
                    <a:pt x="1800000" y="54000"/>
                  </a:lnTo>
                  <a:close/>
                  <a:moveTo>
                    <a:pt x="0" y="0"/>
                  </a:moveTo>
                  <a:lnTo>
                    <a:pt x="54000" y="0"/>
                  </a:lnTo>
                  <a:lnTo>
                    <a:pt x="360000" y="0"/>
                  </a:lnTo>
                  <a:lnTo>
                    <a:pt x="360000" y="54000"/>
                  </a:lnTo>
                  <a:lnTo>
                    <a:pt x="54000" y="54000"/>
                  </a:lnTo>
                  <a:lnTo>
                    <a:pt x="54000" y="216000"/>
                  </a:lnTo>
                  <a:lnTo>
                    <a:pt x="0" y="216000"/>
                  </a:lnTo>
                  <a:lnTo>
                    <a:pt x="0" y="54000"/>
                  </a:lnTo>
                  <a:close/>
                </a:path>
              </a:pathLst>
            </a:custGeom>
            <a:solidFill>
              <a:srgbClr val="0F6FC6"/>
            </a:solidFill>
          </p:spPr>
          <p:txBody>
            <a:bodyPr lIns="108000" tIns="144000" rIns="108000" anchor="ctr">
              <a:normAutofit/>
            </a:bodyPr>
            <a:lstStyle/>
            <a:p>
              <a:pPr algn="ctr">
                <a:lnSpc>
                  <a:spcPct val="150000"/>
                </a:lnSpc>
                <a:defRPr/>
              </a:pPr>
              <a:r>
                <a:rPr lang="en-US" altLang="zh-CN" dirty="0">
                  <a:latin typeface="+mn-ea"/>
                </a:rPr>
                <a:t>1</a:t>
              </a:r>
              <a:r>
                <a:rPr lang="zh-CN" altLang="en-US" dirty="0">
                  <a:latin typeface="+mn-ea"/>
                </a:rPr>
                <a:t>、区域连续、避免插花</a:t>
              </a:r>
            </a:p>
            <a:p>
              <a:pPr algn="ctr">
                <a:lnSpc>
                  <a:spcPct val="150000"/>
                </a:lnSpc>
                <a:defRPr/>
              </a:pPr>
              <a:r>
                <a:rPr lang="en-US" altLang="zh-CN" dirty="0">
                  <a:latin typeface="+mn-ea"/>
                </a:rPr>
                <a:t>2</a:t>
              </a:r>
              <a:r>
                <a:rPr lang="zh-CN" altLang="en-US" dirty="0">
                  <a:latin typeface="+mn-ea"/>
                </a:rPr>
                <a:t>、利用地物、巧妙分割</a:t>
              </a:r>
            </a:p>
            <a:p>
              <a:pPr algn="ctr">
                <a:lnSpc>
                  <a:spcPct val="150000"/>
                </a:lnSpc>
                <a:defRPr/>
              </a:pPr>
              <a:r>
                <a:rPr lang="en-US" altLang="zh-CN" dirty="0">
                  <a:latin typeface="+mn-ea"/>
                </a:rPr>
                <a:t>  3</a:t>
              </a:r>
              <a:r>
                <a:rPr lang="zh-CN" altLang="en-US" dirty="0">
                  <a:latin typeface="+mn-ea"/>
                </a:rPr>
                <a:t>、不跨</a:t>
              </a:r>
              <a:r>
                <a:rPr lang="en-US" altLang="zh-CN" dirty="0">
                  <a:latin typeface="+mn-ea"/>
                </a:rPr>
                <a:t>MME</a:t>
              </a:r>
              <a:r>
                <a:rPr lang="zh-CN" altLang="en-US" dirty="0">
                  <a:latin typeface="+mn-ea"/>
                </a:rPr>
                <a:t>、归属唯 一</a:t>
              </a:r>
              <a:endParaRPr lang="en-US" altLang="zh-CN" dirty="0">
                <a:latin typeface="+mn-ea"/>
              </a:endParaRPr>
            </a:p>
            <a:p>
              <a:pPr algn="ctr">
                <a:lnSpc>
                  <a:spcPct val="150000"/>
                </a:lnSpc>
                <a:defRPr/>
              </a:pPr>
              <a:r>
                <a:rPr lang="en-US" altLang="zh-CN" dirty="0">
                  <a:latin typeface="+mn-ea"/>
                </a:rPr>
                <a:t>4</a:t>
              </a:r>
              <a:r>
                <a:rPr lang="zh-CN" altLang="en-US" dirty="0">
                  <a:latin typeface="+mn-ea"/>
                </a:rPr>
                <a:t>、多个频段、两个思路</a:t>
              </a:r>
            </a:p>
          </p:txBody>
        </p:sp>
        <p:sp>
          <p:nvSpPr>
            <p:cNvPr id="32" name="MH_SubTitle_1">
              <a:extLst>
                <a:ext uri="{FF2B5EF4-FFF2-40B4-BE49-F238E27FC236}">
                  <a16:creationId xmlns:a16="http://schemas.microsoft.com/office/drawing/2014/main" id="{08C6736E-D69B-2C2C-1AB6-F35E35737C1C}"/>
                </a:ext>
              </a:extLst>
            </p:cNvPr>
            <p:cNvSpPr/>
            <p:nvPr>
              <p:custDataLst>
                <p:tags r:id="rId2"/>
              </p:custDataLst>
            </p:nvPr>
          </p:nvSpPr>
          <p:spPr>
            <a:xfrm>
              <a:off x="1969992" y="2994479"/>
              <a:ext cx="2588791" cy="737908"/>
            </a:xfrm>
            <a:prstGeom prst="rect">
              <a:avLst/>
            </a:prstGeom>
          </p:spPr>
          <p:txBody>
            <a:bodyPr lIns="0" tIns="0" rIns="0" bIns="0" anchor="ctr">
              <a:normAutofit/>
            </a:bodyPr>
            <a:lstStyle/>
            <a:p>
              <a:pPr algn="ctr">
                <a:defRPr/>
              </a:pPr>
              <a:r>
                <a:rPr lang="en-US" altLang="zh-CN" sz="2400" b="1" kern="0" dirty="0">
                  <a:solidFill>
                    <a:srgbClr val="0F6FC6"/>
                  </a:solidFill>
                  <a:cs typeface="宋体" panose="02010600030101010101" pitchFamily="2" charset="-122"/>
                </a:rPr>
                <a:t>TA</a:t>
              </a:r>
              <a:r>
                <a:rPr lang="zh-CN" altLang="en-US" sz="2400" b="1" kern="0" dirty="0">
                  <a:solidFill>
                    <a:srgbClr val="0F6FC6"/>
                  </a:solidFill>
                  <a:cs typeface="宋体" panose="02010600030101010101" pitchFamily="2" charset="-122"/>
                </a:rPr>
                <a:t>规划原则   </a:t>
              </a:r>
            </a:p>
          </p:txBody>
        </p:sp>
      </p:grpSp>
      <p:pic>
        <p:nvPicPr>
          <p:cNvPr id="33" name="Picture 2">
            <a:extLst>
              <a:ext uri="{FF2B5EF4-FFF2-40B4-BE49-F238E27FC236}">
                <a16:creationId xmlns:a16="http://schemas.microsoft.com/office/drawing/2014/main" id="{4CE4D3AB-09F0-3AB2-B4AE-69FB564FB2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0860" y="3631217"/>
            <a:ext cx="4176713" cy="2160587"/>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5">
            <a:extLst>
              <a:ext uri="{FF2B5EF4-FFF2-40B4-BE49-F238E27FC236}">
                <a16:creationId xmlns:a16="http://schemas.microsoft.com/office/drawing/2014/main" id="{DEBFD613-1BFF-8383-084F-630FBE4337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10860" y="872580"/>
            <a:ext cx="4340225" cy="2447925"/>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04292EA-E57D-AFE7-69D6-A997B9BDE793}"/>
              </a:ext>
            </a:extLst>
          </p:cNvPr>
          <p:cNvSpPr txBox="1"/>
          <p:nvPr/>
        </p:nvSpPr>
        <p:spPr>
          <a:xfrm>
            <a:off x="367393" y="1137275"/>
            <a:ext cx="6115050" cy="923330"/>
          </a:xfrm>
          <a:prstGeom prst="rect">
            <a:avLst/>
          </a:prstGeom>
          <a:noFill/>
        </p:spPr>
        <p:txBody>
          <a:bodyPr wrap="square" rtlCol="0">
            <a:spAutoFit/>
          </a:bodyPr>
          <a:lstStyle/>
          <a:p>
            <a:r>
              <a:rPr lang="en-US" altLang="zh-CN" dirty="0"/>
              <a:t>       TA</a:t>
            </a:r>
            <a:r>
              <a:rPr lang="zh-CN" altLang="en-US" dirty="0"/>
              <a:t>规划作为</a:t>
            </a:r>
            <a:r>
              <a:rPr lang="en-US" altLang="zh-CN" dirty="0"/>
              <a:t>LTE</a:t>
            </a:r>
            <a:r>
              <a:rPr lang="zh-CN" altLang="en-US" dirty="0"/>
              <a:t>网络规划的一部分，与网络寻呼性能密切相关。跟踪区的合理规划，能够均衡寻呼负荷和</a:t>
            </a:r>
            <a:r>
              <a:rPr lang="en-US" altLang="zh-CN" dirty="0"/>
              <a:t>TA</a:t>
            </a:r>
            <a:r>
              <a:rPr lang="zh-CN" altLang="en-US" dirty="0"/>
              <a:t>位置更新信令流程，有效控制系统信令负荷。</a:t>
            </a:r>
          </a:p>
        </p:txBody>
      </p:sp>
      <p:sp>
        <p:nvSpPr>
          <p:cNvPr id="4" name="文本框 3">
            <a:extLst>
              <a:ext uri="{FF2B5EF4-FFF2-40B4-BE49-F238E27FC236}">
                <a16:creationId xmlns:a16="http://schemas.microsoft.com/office/drawing/2014/main" id="{F8EBC3CD-EA4F-54F2-A575-233E53F5D432}"/>
              </a:ext>
            </a:extLst>
          </p:cNvPr>
          <p:cNvSpPr txBox="1"/>
          <p:nvPr/>
        </p:nvSpPr>
        <p:spPr>
          <a:xfrm>
            <a:off x="604213" y="5934670"/>
            <a:ext cx="10346872" cy="923330"/>
          </a:xfrm>
          <a:prstGeom prst="rect">
            <a:avLst/>
          </a:prstGeom>
          <a:noFill/>
        </p:spPr>
        <p:txBody>
          <a:bodyPr wrap="square" rtlCol="0">
            <a:spAutoFit/>
          </a:bodyPr>
          <a:lstStyle/>
          <a:p>
            <a:r>
              <a:rPr lang="zh-CN" altLang="en-US" dirty="0"/>
              <a:t>利用规划区域山体、河流等作为跟踪区边界，减少两个跟踪区下不同小区交叠深度，尽量使跟踪区边缘更新成本最低。同时，</a:t>
            </a:r>
            <a:r>
              <a:rPr lang="en-US" altLang="zh-CN" dirty="0"/>
              <a:t>TA</a:t>
            </a:r>
            <a:r>
              <a:rPr lang="zh-CN" altLang="en-US" dirty="0"/>
              <a:t>划分尽量不要以街道为界，一般要求</a:t>
            </a:r>
            <a:r>
              <a:rPr lang="en-US" altLang="zh-CN" dirty="0"/>
              <a:t>TA</a:t>
            </a:r>
            <a:r>
              <a:rPr lang="zh-CN" altLang="en-US" dirty="0"/>
              <a:t>边界不与街道平行或垂直，而是斜交，避免产生乒乓效应的位置或路由更新。</a:t>
            </a:r>
          </a:p>
        </p:txBody>
      </p:sp>
    </p:spTree>
    <p:extLst>
      <p:ext uri="{BB962C8B-B14F-4D97-AF65-F5344CB8AC3E}">
        <p14:creationId xmlns:p14="http://schemas.microsoft.com/office/powerpoint/2010/main" val="28458120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C4CCD-7384-66E2-9A41-DAD9589565C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8CAB65C-4020-395F-A884-376AA624FDE0}"/>
              </a:ext>
            </a:extLst>
          </p:cNvPr>
          <p:cNvSpPr>
            <a:spLocks noGrp="1"/>
          </p:cNvSpPr>
          <p:nvPr>
            <p:ph type="title"/>
          </p:nvPr>
        </p:nvSpPr>
        <p:spPr>
          <a:xfrm>
            <a:off x="1064895" y="-121194"/>
            <a:ext cx="10515600" cy="535305"/>
          </a:xfrm>
        </p:spPr>
        <p:txBody>
          <a:bodyPr/>
          <a:lstStyle/>
          <a:p>
            <a:r>
              <a:rPr lang="zh-CN" altLang="en-US" dirty="0"/>
              <a:t>任务二：步入</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53134F3B-B522-5698-D3D1-548664BE5421}"/>
              </a:ext>
            </a:extLst>
          </p:cNvPr>
          <p:cNvSpPr txBox="1"/>
          <p:nvPr/>
        </p:nvSpPr>
        <p:spPr>
          <a:xfrm>
            <a:off x="611505" y="-97615"/>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3.2  LTE TA</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a:extLst>
              <a:ext uri="{FF2B5EF4-FFF2-40B4-BE49-F238E27FC236}">
                <a16:creationId xmlns:a16="http://schemas.microsoft.com/office/drawing/2014/main" id="{18D733AD-DE1D-0319-2002-3E98A5D92E5A}"/>
              </a:ext>
            </a:extLst>
          </p:cNvPr>
          <p:cNvSpPr>
            <a:spLocks noChangeArrowheads="1"/>
          </p:cNvSpPr>
          <p:nvPr/>
        </p:nvSpPr>
        <p:spPr bwMode="auto">
          <a:xfrm>
            <a:off x="0" y="-5796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a:extLst>
              <a:ext uri="{FF2B5EF4-FFF2-40B4-BE49-F238E27FC236}">
                <a16:creationId xmlns:a16="http://schemas.microsoft.com/office/drawing/2014/main" id="{BB167012-9922-9DB8-481A-55BB0ABE02EF}"/>
              </a:ext>
            </a:extLst>
          </p:cNvPr>
          <p:cNvGrpSpPr/>
          <p:nvPr/>
        </p:nvGrpSpPr>
        <p:grpSpPr>
          <a:xfrm>
            <a:off x="1457854" y="2414815"/>
            <a:ext cx="3884611" cy="3067174"/>
            <a:chOff x="1457854" y="2994479"/>
            <a:chExt cx="3884611" cy="3067174"/>
          </a:xfrm>
        </p:grpSpPr>
        <p:sp>
          <p:nvSpPr>
            <p:cNvPr id="31" name="MH_Text_1">
              <a:extLst>
                <a:ext uri="{FF2B5EF4-FFF2-40B4-BE49-F238E27FC236}">
                  <a16:creationId xmlns:a16="http://schemas.microsoft.com/office/drawing/2014/main" id="{1407C542-E562-DB8E-2B15-7084671E9DDD}"/>
                </a:ext>
              </a:extLst>
            </p:cNvPr>
            <p:cNvSpPr/>
            <p:nvPr>
              <p:custDataLst>
                <p:tags r:id="rId1"/>
              </p:custDataLst>
            </p:nvPr>
          </p:nvSpPr>
          <p:spPr>
            <a:xfrm>
              <a:off x="1457854" y="3363433"/>
              <a:ext cx="3884611" cy="2698220"/>
            </a:xfrm>
            <a:custGeom>
              <a:avLst/>
              <a:gdLst>
                <a:gd name="connsiteX0" fmla="*/ 0 w 2160000"/>
                <a:gd name="connsiteY0" fmla="*/ 1377240 h 1593240"/>
                <a:gd name="connsiteX1" fmla="*/ 54000 w 2160000"/>
                <a:gd name="connsiteY1" fmla="*/ 1377240 h 1593240"/>
                <a:gd name="connsiteX2" fmla="*/ 54000 w 2160000"/>
                <a:gd name="connsiteY2" fmla="*/ 1539240 h 1593240"/>
                <a:gd name="connsiteX3" fmla="*/ 2106000 w 2160000"/>
                <a:gd name="connsiteY3" fmla="*/ 1539240 h 1593240"/>
                <a:gd name="connsiteX4" fmla="*/ 2106000 w 2160000"/>
                <a:gd name="connsiteY4" fmla="*/ 1377240 h 1593240"/>
                <a:gd name="connsiteX5" fmla="*/ 2160000 w 2160000"/>
                <a:gd name="connsiteY5" fmla="*/ 1377240 h 1593240"/>
                <a:gd name="connsiteX6" fmla="*/ 2160000 w 2160000"/>
                <a:gd name="connsiteY6" fmla="*/ 1539240 h 1593240"/>
                <a:gd name="connsiteX7" fmla="*/ 2160000 w 2160000"/>
                <a:gd name="connsiteY7" fmla="*/ 1593240 h 1593240"/>
                <a:gd name="connsiteX8" fmla="*/ 2106000 w 2160000"/>
                <a:gd name="connsiteY8" fmla="*/ 1593240 h 1593240"/>
                <a:gd name="connsiteX9" fmla="*/ 54000 w 2160000"/>
                <a:gd name="connsiteY9" fmla="*/ 1593240 h 1593240"/>
                <a:gd name="connsiteX10" fmla="*/ 0 w 2160000"/>
                <a:gd name="connsiteY10" fmla="*/ 1593240 h 1593240"/>
                <a:gd name="connsiteX11" fmla="*/ 0 w 2160000"/>
                <a:gd name="connsiteY11" fmla="*/ 1539240 h 1593240"/>
                <a:gd name="connsiteX12" fmla="*/ 1800000 w 2160000"/>
                <a:gd name="connsiteY12" fmla="*/ 0 h 1593240"/>
                <a:gd name="connsiteX13" fmla="*/ 2106000 w 2160000"/>
                <a:gd name="connsiteY13" fmla="*/ 0 h 1593240"/>
                <a:gd name="connsiteX14" fmla="*/ 2160000 w 2160000"/>
                <a:gd name="connsiteY14" fmla="*/ 0 h 1593240"/>
                <a:gd name="connsiteX15" fmla="*/ 2160000 w 2160000"/>
                <a:gd name="connsiteY15" fmla="*/ 54000 h 1593240"/>
                <a:gd name="connsiteX16" fmla="*/ 2160000 w 2160000"/>
                <a:gd name="connsiteY16" fmla="*/ 216000 h 1593240"/>
                <a:gd name="connsiteX17" fmla="*/ 2106000 w 2160000"/>
                <a:gd name="connsiteY17" fmla="*/ 216000 h 1593240"/>
                <a:gd name="connsiteX18" fmla="*/ 2106000 w 2160000"/>
                <a:gd name="connsiteY18" fmla="*/ 54000 h 1593240"/>
                <a:gd name="connsiteX19" fmla="*/ 1800000 w 2160000"/>
                <a:gd name="connsiteY19" fmla="*/ 54000 h 1593240"/>
                <a:gd name="connsiteX20" fmla="*/ 0 w 2160000"/>
                <a:gd name="connsiteY20" fmla="*/ 0 h 1593240"/>
                <a:gd name="connsiteX21" fmla="*/ 54000 w 2160000"/>
                <a:gd name="connsiteY21" fmla="*/ 0 h 1593240"/>
                <a:gd name="connsiteX22" fmla="*/ 360000 w 2160000"/>
                <a:gd name="connsiteY22" fmla="*/ 0 h 1593240"/>
                <a:gd name="connsiteX23" fmla="*/ 360000 w 2160000"/>
                <a:gd name="connsiteY23" fmla="*/ 54000 h 1593240"/>
                <a:gd name="connsiteX24" fmla="*/ 54000 w 2160000"/>
                <a:gd name="connsiteY24" fmla="*/ 54000 h 1593240"/>
                <a:gd name="connsiteX25" fmla="*/ 54000 w 2160000"/>
                <a:gd name="connsiteY25" fmla="*/ 216000 h 1593240"/>
                <a:gd name="connsiteX26" fmla="*/ 0 w 2160000"/>
                <a:gd name="connsiteY26" fmla="*/ 216000 h 1593240"/>
                <a:gd name="connsiteX27" fmla="*/ 0 w 2160000"/>
                <a:gd name="connsiteY27" fmla="*/ 54000 h 159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60000" h="1593240">
                  <a:moveTo>
                    <a:pt x="0" y="1377240"/>
                  </a:moveTo>
                  <a:lnTo>
                    <a:pt x="54000" y="1377240"/>
                  </a:lnTo>
                  <a:lnTo>
                    <a:pt x="54000" y="1539240"/>
                  </a:lnTo>
                  <a:lnTo>
                    <a:pt x="2106000" y="1539240"/>
                  </a:lnTo>
                  <a:lnTo>
                    <a:pt x="2106000" y="1377240"/>
                  </a:lnTo>
                  <a:lnTo>
                    <a:pt x="2160000" y="1377240"/>
                  </a:lnTo>
                  <a:lnTo>
                    <a:pt x="2160000" y="1539240"/>
                  </a:lnTo>
                  <a:lnTo>
                    <a:pt x="2160000" y="1593240"/>
                  </a:lnTo>
                  <a:lnTo>
                    <a:pt x="2106000" y="1593240"/>
                  </a:lnTo>
                  <a:lnTo>
                    <a:pt x="54000" y="1593240"/>
                  </a:lnTo>
                  <a:lnTo>
                    <a:pt x="0" y="1593240"/>
                  </a:lnTo>
                  <a:lnTo>
                    <a:pt x="0" y="1539240"/>
                  </a:lnTo>
                  <a:close/>
                  <a:moveTo>
                    <a:pt x="1800000" y="0"/>
                  </a:moveTo>
                  <a:lnTo>
                    <a:pt x="2106000" y="0"/>
                  </a:lnTo>
                  <a:lnTo>
                    <a:pt x="2160000" y="0"/>
                  </a:lnTo>
                  <a:lnTo>
                    <a:pt x="2160000" y="54000"/>
                  </a:lnTo>
                  <a:lnTo>
                    <a:pt x="2160000" y="216000"/>
                  </a:lnTo>
                  <a:lnTo>
                    <a:pt x="2106000" y="216000"/>
                  </a:lnTo>
                  <a:lnTo>
                    <a:pt x="2106000" y="54000"/>
                  </a:lnTo>
                  <a:lnTo>
                    <a:pt x="1800000" y="54000"/>
                  </a:lnTo>
                  <a:close/>
                  <a:moveTo>
                    <a:pt x="0" y="0"/>
                  </a:moveTo>
                  <a:lnTo>
                    <a:pt x="54000" y="0"/>
                  </a:lnTo>
                  <a:lnTo>
                    <a:pt x="360000" y="0"/>
                  </a:lnTo>
                  <a:lnTo>
                    <a:pt x="360000" y="54000"/>
                  </a:lnTo>
                  <a:lnTo>
                    <a:pt x="54000" y="54000"/>
                  </a:lnTo>
                  <a:lnTo>
                    <a:pt x="54000" y="216000"/>
                  </a:lnTo>
                  <a:lnTo>
                    <a:pt x="0" y="216000"/>
                  </a:lnTo>
                  <a:lnTo>
                    <a:pt x="0" y="54000"/>
                  </a:lnTo>
                  <a:close/>
                </a:path>
              </a:pathLst>
            </a:custGeom>
            <a:solidFill>
              <a:srgbClr val="0F6FC6"/>
            </a:solidFill>
          </p:spPr>
          <p:txBody>
            <a:bodyPr lIns="108000" tIns="144000" rIns="108000" anchor="ctr">
              <a:normAutofit/>
            </a:bodyPr>
            <a:lstStyle/>
            <a:p>
              <a:pPr algn="ctr">
                <a:lnSpc>
                  <a:spcPct val="150000"/>
                </a:lnSpc>
                <a:defRPr/>
              </a:pPr>
              <a:r>
                <a:rPr lang="en-US" altLang="zh-CN" dirty="0">
                  <a:latin typeface="+mn-ea"/>
                </a:rPr>
                <a:t>1</a:t>
              </a:r>
              <a:r>
                <a:rPr lang="zh-CN" altLang="en-US" dirty="0">
                  <a:latin typeface="+mn-ea"/>
                </a:rPr>
                <a:t>、区域连续、避免插花</a:t>
              </a:r>
            </a:p>
            <a:p>
              <a:pPr algn="ctr">
                <a:lnSpc>
                  <a:spcPct val="150000"/>
                </a:lnSpc>
                <a:defRPr/>
              </a:pPr>
              <a:r>
                <a:rPr lang="en-US" altLang="zh-CN" dirty="0">
                  <a:latin typeface="+mn-ea"/>
                </a:rPr>
                <a:t>2</a:t>
              </a:r>
              <a:r>
                <a:rPr lang="zh-CN" altLang="en-US" dirty="0">
                  <a:latin typeface="+mn-ea"/>
                </a:rPr>
                <a:t>、利用地物、巧妙分割</a:t>
              </a:r>
            </a:p>
            <a:p>
              <a:pPr algn="ctr">
                <a:lnSpc>
                  <a:spcPct val="150000"/>
                </a:lnSpc>
                <a:defRPr/>
              </a:pPr>
              <a:r>
                <a:rPr lang="en-US" altLang="zh-CN" dirty="0">
                  <a:latin typeface="+mn-ea"/>
                </a:rPr>
                <a:t>  3</a:t>
              </a:r>
              <a:r>
                <a:rPr lang="zh-CN" altLang="en-US" dirty="0">
                  <a:latin typeface="+mn-ea"/>
                </a:rPr>
                <a:t>、不跨</a:t>
              </a:r>
              <a:r>
                <a:rPr lang="en-US" altLang="zh-CN" dirty="0">
                  <a:latin typeface="+mn-ea"/>
                </a:rPr>
                <a:t>MME</a:t>
              </a:r>
              <a:r>
                <a:rPr lang="zh-CN" altLang="en-US" dirty="0">
                  <a:latin typeface="+mn-ea"/>
                </a:rPr>
                <a:t>、归属唯 一</a:t>
              </a:r>
              <a:endParaRPr lang="en-US" altLang="zh-CN" dirty="0">
                <a:latin typeface="+mn-ea"/>
              </a:endParaRPr>
            </a:p>
            <a:p>
              <a:pPr algn="ctr">
                <a:lnSpc>
                  <a:spcPct val="150000"/>
                </a:lnSpc>
                <a:defRPr/>
              </a:pPr>
              <a:r>
                <a:rPr lang="en-US" altLang="zh-CN" dirty="0">
                  <a:latin typeface="+mn-ea"/>
                </a:rPr>
                <a:t>4</a:t>
              </a:r>
              <a:r>
                <a:rPr lang="zh-CN" altLang="en-US" dirty="0">
                  <a:latin typeface="+mn-ea"/>
                </a:rPr>
                <a:t>、多个频段、两个思路</a:t>
              </a:r>
            </a:p>
          </p:txBody>
        </p:sp>
        <p:sp>
          <p:nvSpPr>
            <p:cNvPr id="32" name="MH_SubTitle_1">
              <a:extLst>
                <a:ext uri="{FF2B5EF4-FFF2-40B4-BE49-F238E27FC236}">
                  <a16:creationId xmlns:a16="http://schemas.microsoft.com/office/drawing/2014/main" id="{0F3595F0-69C8-5AAC-593C-27576E5C3FA1}"/>
                </a:ext>
              </a:extLst>
            </p:cNvPr>
            <p:cNvSpPr/>
            <p:nvPr>
              <p:custDataLst>
                <p:tags r:id="rId2"/>
              </p:custDataLst>
            </p:nvPr>
          </p:nvSpPr>
          <p:spPr>
            <a:xfrm>
              <a:off x="1969992" y="2994479"/>
              <a:ext cx="2588791" cy="737908"/>
            </a:xfrm>
            <a:prstGeom prst="rect">
              <a:avLst/>
            </a:prstGeom>
          </p:spPr>
          <p:txBody>
            <a:bodyPr lIns="0" tIns="0" rIns="0" bIns="0" anchor="ctr">
              <a:normAutofit/>
            </a:bodyPr>
            <a:lstStyle/>
            <a:p>
              <a:pPr algn="ctr">
                <a:defRPr/>
              </a:pPr>
              <a:r>
                <a:rPr lang="en-US" altLang="zh-CN" sz="2400" b="1" kern="0" dirty="0">
                  <a:solidFill>
                    <a:srgbClr val="0F6FC6"/>
                  </a:solidFill>
                  <a:cs typeface="宋体" panose="02010600030101010101" pitchFamily="2" charset="-122"/>
                </a:rPr>
                <a:t>TA</a:t>
              </a:r>
              <a:r>
                <a:rPr lang="zh-CN" altLang="en-US" sz="2400" b="1" kern="0" dirty="0">
                  <a:solidFill>
                    <a:srgbClr val="0F6FC6"/>
                  </a:solidFill>
                  <a:cs typeface="宋体" panose="02010600030101010101" pitchFamily="2" charset="-122"/>
                </a:rPr>
                <a:t>规划原则   </a:t>
              </a:r>
            </a:p>
          </p:txBody>
        </p:sp>
      </p:grpSp>
      <p:pic>
        <p:nvPicPr>
          <p:cNvPr id="33" name="Picture 2">
            <a:extLst>
              <a:ext uri="{FF2B5EF4-FFF2-40B4-BE49-F238E27FC236}">
                <a16:creationId xmlns:a16="http://schemas.microsoft.com/office/drawing/2014/main" id="{2395FA95-BED7-57EC-8ED0-C31753A9F2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0860" y="3631217"/>
            <a:ext cx="4176713" cy="2160587"/>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5">
            <a:extLst>
              <a:ext uri="{FF2B5EF4-FFF2-40B4-BE49-F238E27FC236}">
                <a16:creationId xmlns:a16="http://schemas.microsoft.com/office/drawing/2014/main" id="{53E9A84D-D27C-9AFE-7AE4-EA3CA63B91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10860" y="872580"/>
            <a:ext cx="4340225" cy="2447925"/>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002C814-AEF8-53B7-D398-1933EC3933B5}"/>
              </a:ext>
            </a:extLst>
          </p:cNvPr>
          <p:cNvSpPr txBox="1"/>
          <p:nvPr/>
        </p:nvSpPr>
        <p:spPr>
          <a:xfrm>
            <a:off x="367393" y="1137275"/>
            <a:ext cx="6115050" cy="923330"/>
          </a:xfrm>
          <a:prstGeom prst="rect">
            <a:avLst/>
          </a:prstGeom>
          <a:noFill/>
        </p:spPr>
        <p:txBody>
          <a:bodyPr wrap="square" rtlCol="0">
            <a:spAutoFit/>
          </a:bodyPr>
          <a:lstStyle/>
          <a:p>
            <a:r>
              <a:rPr lang="en-US" altLang="zh-CN" dirty="0"/>
              <a:t>       TA</a:t>
            </a:r>
            <a:r>
              <a:rPr lang="zh-CN" altLang="en-US" dirty="0"/>
              <a:t>规划作为</a:t>
            </a:r>
            <a:r>
              <a:rPr lang="en-US" altLang="zh-CN" dirty="0"/>
              <a:t>LTE</a:t>
            </a:r>
            <a:r>
              <a:rPr lang="zh-CN" altLang="en-US" dirty="0"/>
              <a:t>网络规划的一部分，与网络寻呼性能密切相关。跟踪区的合理规划，能够均衡寻呼负荷和</a:t>
            </a:r>
            <a:r>
              <a:rPr lang="en-US" altLang="zh-CN" dirty="0"/>
              <a:t>TA</a:t>
            </a:r>
            <a:r>
              <a:rPr lang="zh-CN" altLang="en-US" dirty="0"/>
              <a:t>位置更新信令流程，有效控制系统信令负荷。</a:t>
            </a:r>
          </a:p>
        </p:txBody>
      </p:sp>
      <p:sp>
        <p:nvSpPr>
          <p:cNvPr id="4" name="文本框 3">
            <a:extLst>
              <a:ext uri="{FF2B5EF4-FFF2-40B4-BE49-F238E27FC236}">
                <a16:creationId xmlns:a16="http://schemas.microsoft.com/office/drawing/2014/main" id="{DF6F02BF-82F1-1BE0-4DDE-CFEF8F9B2DD7}"/>
              </a:ext>
            </a:extLst>
          </p:cNvPr>
          <p:cNvSpPr txBox="1"/>
          <p:nvPr/>
        </p:nvSpPr>
        <p:spPr>
          <a:xfrm>
            <a:off x="857250" y="6042570"/>
            <a:ext cx="10346872" cy="646331"/>
          </a:xfrm>
          <a:prstGeom prst="rect">
            <a:avLst/>
          </a:prstGeom>
          <a:noFill/>
        </p:spPr>
        <p:txBody>
          <a:bodyPr wrap="square" rtlCol="0">
            <a:spAutoFit/>
          </a:bodyPr>
          <a:lstStyle/>
          <a:p>
            <a:r>
              <a:rPr lang="zh-CN" altLang="en-US" dirty="0"/>
              <a:t>寻呼区域不跨</a:t>
            </a:r>
            <a:r>
              <a:rPr lang="en-US" altLang="zh-CN" dirty="0"/>
              <a:t>MME</a:t>
            </a:r>
            <a:r>
              <a:rPr lang="zh-CN" altLang="en-US" dirty="0"/>
              <a:t>原则，如果跨越</a:t>
            </a:r>
            <a:r>
              <a:rPr lang="en-US" altLang="zh-CN" dirty="0"/>
              <a:t>MME</a:t>
            </a:r>
            <a:r>
              <a:rPr lang="zh-CN" altLang="en-US" dirty="0"/>
              <a:t>，可能会导致</a:t>
            </a:r>
            <a:r>
              <a:rPr lang="en-US" altLang="zh-CN" dirty="0"/>
              <a:t>MME</a:t>
            </a:r>
            <a:r>
              <a:rPr lang="zh-CN" altLang="en-US" dirty="0"/>
              <a:t>之间的信令交互增加，增加核心网的负荷和复杂度，同时也可能影响</a:t>
            </a:r>
            <a:r>
              <a:rPr lang="en-US" altLang="zh-CN" dirty="0"/>
              <a:t>UE</a:t>
            </a:r>
            <a:r>
              <a:rPr lang="zh-CN" altLang="en-US" dirty="0"/>
              <a:t>的位置更新和寻呼性能。</a:t>
            </a:r>
          </a:p>
        </p:txBody>
      </p:sp>
    </p:spTree>
    <p:extLst>
      <p:ext uri="{BB962C8B-B14F-4D97-AF65-F5344CB8AC3E}">
        <p14:creationId xmlns:p14="http://schemas.microsoft.com/office/powerpoint/2010/main" val="538273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74FA6-0641-B705-5227-A0026041FEB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0C0C303-0BCB-8BB3-0845-8601161EFFCF}"/>
              </a:ext>
            </a:extLst>
          </p:cNvPr>
          <p:cNvSpPr>
            <a:spLocks noGrp="1"/>
          </p:cNvSpPr>
          <p:nvPr>
            <p:ph type="title"/>
          </p:nvPr>
        </p:nvSpPr>
        <p:spPr>
          <a:xfrm>
            <a:off x="1064895" y="-121194"/>
            <a:ext cx="10515600" cy="535305"/>
          </a:xfrm>
        </p:spPr>
        <p:txBody>
          <a:bodyPr/>
          <a:lstStyle/>
          <a:p>
            <a:r>
              <a:rPr lang="zh-CN" altLang="en-US" dirty="0"/>
              <a:t>任务二：步入</a:t>
            </a:r>
            <a:r>
              <a:rPr lang="en-US" altLang="zh-CN" dirty="0"/>
              <a:t>LTE</a:t>
            </a:r>
            <a:r>
              <a:rPr lang="zh-CN" altLang="en-US" dirty="0"/>
              <a:t>网络规划</a:t>
            </a:r>
          </a:p>
        </p:txBody>
      </p:sp>
      <p:sp>
        <p:nvSpPr>
          <p:cNvPr id="12" name="文本框 11">
            <a:extLst>
              <a:ext uri="{FF2B5EF4-FFF2-40B4-BE49-F238E27FC236}">
                <a16:creationId xmlns:a16="http://schemas.microsoft.com/office/drawing/2014/main" id="{221C8CBC-4A25-ED39-D3C5-23201A636C07}"/>
              </a:ext>
            </a:extLst>
          </p:cNvPr>
          <p:cNvSpPr txBox="1"/>
          <p:nvPr/>
        </p:nvSpPr>
        <p:spPr>
          <a:xfrm>
            <a:off x="611505" y="-97615"/>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3.2  LTE TA</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a:extLst>
              <a:ext uri="{FF2B5EF4-FFF2-40B4-BE49-F238E27FC236}">
                <a16:creationId xmlns:a16="http://schemas.microsoft.com/office/drawing/2014/main" id="{3CEA09A6-41B4-A7BE-CEB5-ADEEEE81988F}"/>
              </a:ext>
            </a:extLst>
          </p:cNvPr>
          <p:cNvSpPr>
            <a:spLocks noChangeArrowheads="1"/>
          </p:cNvSpPr>
          <p:nvPr/>
        </p:nvSpPr>
        <p:spPr bwMode="auto">
          <a:xfrm>
            <a:off x="0" y="-57966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a:extLst>
              <a:ext uri="{FF2B5EF4-FFF2-40B4-BE49-F238E27FC236}">
                <a16:creationId xmlns:a16="http://schemas.microsoft.com/office/drawing/2014/main" id="{AB321A60-00EC-93C1-5480-E6882B41B282}"/>
              </a:ext>
            </a:extLst>
          </p:cNvPr>
          <p:cNvGrpSpPr/>
          <p:nvPr/>
        </p:nvGrpSpPr>
        <p:grpSpPr>
          <a:xfrm>
            <a:off x="1457854" y="2414815"/>
            <a:ext cx="3884611" cy="3067174"/>
            <a:chOff x="1457854" y="2994479"/>
            <a:chExt cx="3884611" cy="3067174"/>
          </a:xfrm>
        </p:grpSpPr>
        <p:sp>
          <p:nvSpPr>
            <p:cNvPr id="31" name="MH_Text_1">
              <a:extLst>
                <a:ext uri="{FF2B5EF4-FFF2-40B4-BE49-F238E27FC236}">
                  <a16:creationId xmlns:a16="http://schemas.microsoft.com/office/drawing/2014/main" id="{F9794596-907A-4E4A-682C-A139460EA779}"/>
                </a:ext>
              </a:extLst>
            </p:cNvPr>
            <p:cNvSpPr/>
            <p:nvPr>
              <p:custDataLst>
                <p:tags r:id="rId1"/>
              </p:custDataLst>
            </p:nvPr>
          </p:nvSpPr>
          <p:spPr>
            <a:xfrm>
              <a:off x="1457854" y="3363433"/>
              <a:ext cx="3884611" cy="2698220"/>
            </a:xfrm>
            <a:custGeom>
              <a:avLst/>
              <a:gdLst>
                <a:gd name="connsiteX0" fmla="*/ 0 w 2160000"/>
                <a:gd name="connsiteY0" fmla="*/ 1377240 h 1593240"/>
                <a:gd name="connsiteX1" fmla="*/ 54000 w 2160000"/>
                <a:gd name="connsiteY1" fmla="*/ 1377240 h 1593240"/>
                <a:gd name="connsiteX2" fmla="*/ 54000 w 2160000"/>
                <a:gd name="connsiteY2" fmla="*/ 1539240 h 1593240"/>
                <a:gd name="connsiteX3" fmla="*/ 2106000 w 2160000"/>
                <a:gd name="connsiteY3" fmla="*/ 1539240 h 1593240"/>
                <a:gd name="connsiteX4" fmla="*/ 2106000 w 2160000"/>
                <a:gd name="connsiteY4" fmla="*/ 1377240 h 1593240"/>
                <a:gd name="connsiteX5" fmla="*/ 2160000 w 2160000"/>
                <a:gd name="connsiteY5" fmla="*/ 1377240 h 1593240"/>
                <a:gd name="connsiteX6" fmla="*/ 2160000 w 2160000"/>
                <a:gd name="connsiteY6" fmla="*/ 1539240 h 1593240"/>
                <a:gd name="connsiteX7" fmla="*/ 2160000 w 2160000"/>
                <a:gd name="connsiteY7" fmla="*/ 1593240 h 1593240"/>
                <a:gd name="connsiteX8" fmla="*/ 2106000 w 2160000"/>
                <a:gd name="connsiteY8" fmla="*/ 1593240 h 1593240"/>
                <a:gd name="connsiteX9" fmla="*/ 54000 w 2160000"/>
                <a:gd name="connsiteY9" fmla="*/ 1593240 h 1593240"/>
                <a:gd name="connsiteX10" fmla="*/ 0 w 2160000"/>
                <a:gd name="connsiteY10" fmla="*/ 1593240 h 1593240"/>
                <a:gd name="connsiteX11" fmla="*/ 0 w 2160000"/>
                <a:gd name="connsiteY11" fmla="*/ 1539240 h 1593240"/>
                <a:gd name="connsiteX12" fmla="*/ 1800000 w 2160000"/>
                <a:gd name="connsiteY12" fmla="*/ 0 h 1593240"/>
                <a:gd name="connsiteX13" fmla="*/ 2106000 w 2160000"/>
                <a:gd name="connsiteY13" fmla="*/ 0 h 1593240"/>
                <a:gd name="connsiteX14" fmla="*/ 2160000 w 2160000"/>
                <a:gd name="connsiteY14" fmla="*/ 0 h 1593240"/>
                <a:gd name="connsiteX15" fmla="*/ 2160000 w 2160000"/>
                <a:gd name="connsiteY15" fmla="*/ 54000 h 1593240"/>
                <a:gd name="connsiteX16" fmla="*/ 2160000 w 2160000"/>
                <a:gd name="connsiteY16" fmla="*/ 216000 h 1593240"/>
                <a:gd name="connsiteX17" fmla="*/ 2106000 w 2160000"/>
                <a:gd name="connsiteY17" fmla="*/ 216000 h 1593240"/>
                <a:gd name="connsiteX18" fmla="*/ 2106000 w 2160000"/>
                <a:gd name="connsiteY18" fmla="*/ 54000 h 1593240"/>
                <a:gd name="connsiteX19" fmla="*/ 1800000 w 2160000"/>
                <a:gd name="connsiteY19" fmla="*/ 54000 h 1593240"/>
                <a:gd name="connsiteX20" fmla="*/ 0 w 2160000"/>
                <a:gd name="connsiteY20" fmla="*/ 0 h 1593240"/>
                <a:gd name="connsiteX21" fmla="*/ 54000 w 2160000"/>
                <a:gd name="connsiteY21" fmla="*/ 0 h 1593240"/>
                <a:gd name="connsiteX22" fmla="*/ 360000 w 2160000"/>
                <a:gd name="connsiteY22" fmla="*/ 0 h 1593240"/>
                <a:gd name="connsiteX23" fmla="*/ 360000 w 2160000"/>
                <a:gd name="connsiteY23" fmla="*/ 54000 h 1593240"/>
                <a:gd name="connsiteX24" fmla="*/ 54000 w 2160000"/>
                <a:gd name="connsiteY24" fmla="*/ 54000 h 1593240"/>
                <a:gd name="connsiteX25" fmla="*/ 54000 w 2160000"/>
                <a:gd name="connsiteY25" fmla="*/ 216000 h 1593240"/>
                <a:gd name="connsiteX26" fmla="*/ 0 w 2160000"/>
                <a:gd name="connsiteY26" fmla="*/ 216000 h 1593240"/>
                <a:gd name="connsiteX27" fmla="*/ 0 w 2160000"/>
                <a:gd name="connsiteY27" fmla="*/ 54000 h 159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60000" h="1593240">
                  <a:moveTo>
                    <a:pt x="0" y="1377240"/>
                  </a:moveTo>
                  <a:lnTo>
                    <a:pt x="54000" y="1377240"/>
                  </a:lnTo>
                  <a:lnTo>
                    <a:pt x="54000" y="1539240"/>
                  </a:lnTo>
                  <a:lnTo>
                    <a:pt x="2106000" y="1539240"/>
                  </a:lnTo>
                  <a:lnTo>
                    <a:pt x="2106000" y="1377240"/>
                  </a:lnTo>
                  <a:lnTo>
                    <a:pt x="2160000" y="1377240"/>
                  </a:lnTo>
                  <a:lnTo>
                    <a:pt x="2160000" y="1539240"/>
                  </a:lnTo>
                  <a:lnTo>
                    <a:pt x="2160000" y="1593240"/>
                  </a:lnTo>
                  <a:lnTo>
                    <a:pt x="2106000" y="1593240"/>
                  </a:lnTo>
                  <a:lnTo>
                    <a:pt x="54000" y="1593240"/>
                  </a:lnTo>
                  <a:lnTo>
                    <a:pt x="0" y="1593240"/>
                  </a:lnTo>
                  <a:lnTo>
                    <a:pt x="0" y="1539240"/>
                  </a:lnTo>
                  <a:close/>
                  <a:moveTo>
                    <a:pt x="1800000" y="0"/>
                  </a:moveTo>
                  <a:lnTo>
                    <a:pt x="2106000" y="0"/>
                  </a:lnTo>
                  <a:lnTo>
                    <a:pt x="2160000" y="0"/>
                  </a:lnTo>
                  <a:lnTo>
                    <a:pt x="2160000" y="54000"/>
                  </a:lnTo>
                  <a:lnTo>
                    <a:pt x="2160000" y="216000"/>
                  </a:lnTo>
                  <a:lnTo>
                    <a:pt x="2106000" y="216000"/>
                  </a:lnTo>
                  <a:lnTo>
                    <a:pt x="2106000" y="54000"/>
                  </a:lnTo>
                  <a:lnTo>
                    <a:pt x="1800000" y="54000"/>
                  </a:lnTo>
                  <a:close/>
                  <a:moveTo>
                    <a:pt x="0" y="0"/>
                  </a:moveTo>
                  <a:lnTo>
                    <a:pt x="54000" y="0"/>
                  </a:lnTo>
                  <a:lnTo>
                    <a:pt x="360000" y="0"/>
                  </a:lnTo>
                  <a:lnTo>
                    <a:pt x="360000" y="54000"/>
                  </a:lnTo>
                  <a:lnTo>
                    <a:pt x="54000" y="54000"/>
                  </a:lnTo>
                  <a:lnTo>
                    <a:pt x="54000" y="216000"/>
                  </a:lnTo>
                  <a:lnTo>
                    <a:pt x="0" y="216000"/>
                  </a:lnTo>
                  <a:lnTo>
                    <a:pt x="0" y="54000"/>
                  </a:lnTo>
                  <a:close/>
                </a:path>
              </a:pathLst>
            </a:custGeom>
            <a:solidFill>
              <a:srgbClr val="0F6FC6"/>
            </a:solidFill>
          </p:spPr>
          <p:txBody>
            <a:bodyPr lIns="108000" tIns="144000" rIns="108000" anchor="ctr">
              <a:normAutofit/>
            </a:bodyPr>
            <a:lstStyle/>
            <a:p>
              <a:pPr algn="ctr">
                <a:lnSpc>
                  <a:spcPct val="150000"/>
                </a:lnSpc>
                <a:defRPr/>
              </a:pPr>
              <a:r>
                <a:rPr lang="en-US" altLang="zh-CN" dirty="0">
                  <a:latin typeface="+mn-ea"/>
                </a:rPr>
                <a:t>1</a:t>
              </a:r>
              <a:r>
                <a:rPr lang="zh-CN" altLang="en-US" dirty="0">
                  <a:latin typeface="+mn-ea"/>
                </a:rPr>
                <a:t>、区域连续、避免插花</a:t>
              </a:r>
            </a:p>
            <a:p>
              <a:pPr algn="ctr">
                <a:lnSpc>
                  <a:spcPct val="150000"/>
                </a:lnSpc>
                <a:defRPr/>
              </a:pPr>
              <a:r>
                <a:rPr lang="en-US" altLang="zh-CN" dirty="0">
                  <a:latin typeface="+mn-ea"/>
                </a:rPr>
                <a:t>2</a:t>
              </a:r>
              <a:r>
                <a:rPr lang="zh-CN" altLang="en-US" dirty="0">
                  <a:latin typeface="+mn-ea"/>
                </a:rPr>
                <a:t>、利用地物、巧妙分割</a:t>
              </a:r>
            </a:p>
            <a:p>
              <a:pPr algn="ctr">
                <a:lnSpc>
                  <a:spcPct val="150000"/>
                </a:lnSpc>
                <a:defRPr/>
              </a:pPr>
              <a:r>
                <a:rPr lang="en-US" altLang="zh-CN" dirty="0">
                  <a:latin typeface="+mn-ea"/>
                </a:rPr>
                <a:t>  3</a:t>
              </a:r>
              <a:r>
                <a:rPr lang="zh-CN" altLang="en-US" dirty="0">
                  <a:latin typeface="+mn-ea"/>
                </a:rPr>
                <a:t>、不跨</a:t>
              </a:r>
              <a:r>
                <a:rPr lang="en-US" altLang="zh-CN" dirty="0">
                  <a:latin typeface="+mn-ea"/>
                </a:rPr>
                <a:t>MME</a:t>
              </a:r>
              <a:r>
                <a:rPr lang="zh-CN" altLang="en-US" dirty="0">
                  <a:latin typeface="+mn-ea"/>
                </a:rPr>
                <a:t>、归属唯 一</a:t>
              </a:r>
              <a:endParaRPr lang="en-US" altLang="zh-CN" dirty="0">
                <a:latin typeface="+mn-ea"/>
              </a:endParaRPr>
            </a:p>
            <a:p>
              <a:pPr algn="ctr">
                <a:lnSpc>
                  <a:spcPct val="150000"/>
                </a:lnSpc>
                <a:defRPr/>
              </a:pPr>
              <a:r>
                <a:rPr lang="en-US" altLang="zh-CN" dirty="0">
                  <a:latin typeface="+mn-ea"/>
                </a:rPr>
                <a:t>4</a:t>
              </a:r>
              <a:r>
                <a:rPr lang="zh-CN" altLang="en-US" dirty="0">
                  <a:latin typeface="+mn-ea"/>
                </a:rPr>
                <a:t>、多个频段、两个思路</a:t>
              </a:r>
            </a:p>
          </p:txBody>
        </p:sp>
        <p:sp>
          <p:nvSpPr>
            <p:cNvPr id="32" name="MH_SubTitle_1">
              <a:extLst>
                <a:ext uri="{FF2B5EF4-FFF2-40B4-BE49-F238E27FC236}">
                  <a16:creationId xmlns:a16="http://schemas.microsoft.com/office/drawing/2014/main" id="{A8338497-238E-97E1-6F92-5F4BE3A0D27A}"/>
                </a:ext>
              </a:extLst>
            </p:cNvPr>
            <p:cNvSpPr/>
            <p:nvPr>
              <p:custDataLst>
                <p:tags r:id="rId2"/>
              </p:custDataLst>
            </p:nvPr>
          </p:nvSpPr>
          <p:spPr>
            <a:xfrm>
              <a:off x="1969992" y="2994479"/>
              <a:ext cx="2588791" cy="737908"/>
            </a:xfrm>
            <a:prstGeom prst="rect">
              <a:avLst/>
            </a:prstGeom>
          </p:spPr>
          <p:txBody>
            <a:bodyPr lIns="0" tIns="0" rIns="0" bIns="0" anchor="ctr">
              <a:normAutofit/>
            </a:bodyPr>
            <a:lstStyle/>
            <a:p>
              <a:pPr algn="ctr">
                <a:defRPr/>
              </a:pPr>
              <a:r>
                <a:rPr lang="en-US" altLang="zh-CN" sz="2400" b="1" kern="0" dirty="0">
                  <a:solidFill>
                    <a:srgbClr val="0F6FC6"/>
                  </a:solidFill>
                  <a:cs typeface="宋体" panose="02010600030101010101" pitchFamily="2" charset="-122"/>
                </a:rPr>
                <a:t>TA</a:t>
              </a:r>
              <a:r>
                <a:rPr lang="zh-CN" altLang="en-US" sz="2400" b="1" kern="0" dirty="0">
                  <a:solidFill>
                    <a:srgbClr val="0F6FC6"/>
                  </a:solidFill>
                  <a:cs typeface="宋体" panose="02010600030101010101" pitchFamily="2" charset="-122"/>
                </a:rPr>
                <a:t>规划原则   </a:t>
              </a:r>
            </a:p>
          </p:txBody>
        </p:sp>
      </p:grpSp>
      <p:pic>
        <p:nvPicPr>
          <p:cNvPr id="33" name="Picture 2">
            <a:extLst>
              <a:ext uri="{FF2B5EF4-FFF2-40B4-BE49-F238E27FC236}">
                <a16:creationId xmlns:a16="http://schemas.microsoft.com/office/drawing/2014/main" id="{C6359143-4CB3-1674-9D26-1A2F700F13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0860" y="3631217"/>
            <a:ext cx="4176713" cy="2160587"/>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5">
            <a:extLst>
              <a:ext uri="{FF2B5EF4-FFF2-40B4-BE49-F238E27FC236}">
                <a16:creationId xmlns:a16="http://schemas.microsoft.com/office/drawing/2014/main" id="{1D98DCBC-118B-10F1-7878-0F541129417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10860" y="872580"/>
            <a:ext cx="4340225" cy="2447925"/>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DF01467F-00DF-26EF-F040-7CB5C3D50858}"/>
              </a:ext>
            </a:extLst>
          </p:cNvPr>
          <p:cNvSpPr txBox="1"/>
          <p:nvPr/>
        </p:nvSpPr>
        <p:spPr>
          <a:xfrm>
            <a:off x="367393" y="1137275"/>
            <a:ext cx="6115050" cy="923330"/>
          </a:xfrm>
          <a:prstGeom prst="rect">
            <a:avLst/>
          </a:prstGeom>
          <a:noFill/>
        </p:spPr>
        <p:txBody>
          <a:bodyPr wrap="square" rtlCol="0">
            <a:spAutoFit/>
          </a:bodyPr>
          <a:lstStyle/>
          <a:p>
            <a:r>
              <a:rPr lang="en-US" altLang="zh-CN" dirty="0"/>
              <a:t>       TA</a:t>
            </a:r>
            <a:r>
              <a:rPr lang="zh-CN" altLang="en-US" dirty="0"/>
              <a:t>规划作为</a:t>
            </a:r>
            <a:r>
              <a:rPr lang="en-US" altLang="zh-CN" dirty="0"/>
              <a:t>LTE</a:t>
            </a:r>
            <a:r>
              <a:rPr lang="zh-CN" altLang="en-US" dirty="0"/>
              <a:t>网络规划的一部分，与网络寻呼性能密切相关。跟踪区的合理规划，能够均衡寻呼负荷和</a:t>
            </a:r>
            <a:r>
              <a:rPr lang="en-US" altLang="zh-CN" dirty="0"/>
              <a:t>TA</a:t>
            </a:r>
            <a:r>
              <a:rPr lang="zh-CN" altLang="en-US" dirty="0"/>
              <a:t>位置更新信令流程，有效控制系统信令负荷。</a:t>
            </a:r>
          </a:p>
        </p:txBody>
      </p:sp>
      <p:sp>
        <p:nvSpPr>
          <p:cNvPr id="4" name="文本框 3">
            <a:extLst>
              <a:ext uri="{FF2B5EF4-FFF2-40B4-BE49-F238E27FC236}">
                <a16:creationId xmlns:a16="http://schemas.microsoft.com/office/drawing/2014/main" id="{EF162533-5562-9BA1-3735-9E35BABB5404}"/>
              </a:ext>
            </a:extLst>
          </p:cNvPr>
          <p:cNvSpPr txBox="1"/>
          <p:nvPr/>
        </p:nvSpPr>
        <p:spPr>
          <a:xfrm>
            <a:off x="115661" y="5850943"/>
            <a:ext cx="11960678" cy="923330"/>
          </a:xfrm>
          <a:prstGeom prst="rect">
            <a:avLst/>
          </a:prstGeom>
          <a:noFill/>
        </p:spPr>
        <p:txBody>
          <a:bodyPr wrap="square" rtlCol="0">
            <a:spAutoFit/>
          </a:bodyPr>
          <a:lstStyle/>
          <a:p>
            <a:r>
              <a:rPr lang="zh-CN" altLang="en-US" dirty="0"/>
              <a:t>一是可以根据频段进行划分，即将不同频段的小区划分到不同的跟踪区，这样可以便于对不同频段的资源进行管理和优化；二是根据地理位置划分，不考虑频段因素，将地理位置相邻的小区划分到同一个跟踪区，这种方式更符合传统的区域划分思路，便于网络的规划和维护。</a:t>
            </a:r>
          </a:p>
        </p:txBody>
      </p:sp>
    </p:spTree>
    <p:extLst>
      <p:ext uri="{BB962C8B-B14F-4D97-AF65-F5344CB8AC3E}">
        <p14:creationId xmlns:p14="http://schemas.microsoft.com/office/powerpoint/2010/main" val="13806010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3.2  LTE TA</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MH_Other_1"/>
          <p:cNvSpPr/>
          <p:nvPr>
            <p:custDataLst>
              <p:tags r:id="rId1"/>
            </p:custDataLst>
          </p:nvPr>
        </p:nvSpPr>
        <p:spPr>
          <a:xfrm>
            <a:off x="1064895" y="2578903"/>
            <a:ext cx="2251075" cy="334963"/>
          </a:xfrm>
          <a:prstGeom prst="round2SameRect">
            <a:avLst>
              <a:gd name="adj1" fmla="val 19408"/>
              <a:gd name="adj2" fmla="val 0"/>
            </a:avLst>
          </a:prstGeom>
          <a:solidFill>
            <a:srgbClr val="FC5629"/>
          </a:solidFill>
        </p:spPr>
        <p:txBody>
          <a:bodyPr lIns="36000" tIns="0" bIns="0" anchor="ctr"/>
          <a:lstStyle/>
          <a:p>
            <a:pPr algn="just">
              <a:defRPr/>
            </a:pPr>
            <a:r>
              <a:rPr lang="en-US" altLang="zh-CN" b="1" dirty="0">
                <a:solidFill>
                  <a:srgbClr val="FFFFFF"/>
                </a:solidFill>
                <a:latin typeface="Calibri" panose="020F0502020204030204" pitchFamily="34" charset="0"/>
                <a:ea typeface="微软雅黑" panose="020B0503020204020204" charset="-122"/>
              </a:rPr>
              <a:t>01</a:t>
            </a:r>
            <a:endParaRPr lang="zh-CN" altLang="en-US" b="1" dirty="0" err="1">
              <a:solidFill>
                <a:srgbClr val="FFFFFF"/>
              </a:solidFill>
              <a:latin typeface="Calibri" panose="020F0502020204030204" pitchFamily="34" charset="0"/>
              <a:ea typeface="微软雅黑" panose="020B0503020204020204" charset="-122"/>
            </a:endParaRPr>
          </a:p>
        </p:txBody>
      </p:sp>
      <p:sp>
        <p:nvSpPr>
          <p:cNvPr id="11" name="MH_SubTitle_1"/>
          <p:cNvSpPr>
            <a:spLocks noChangeArrowheads="1"/>
          </p:cNvSpPr>
          <p:nvPr>
            <p:custDataLst>
              <p:tags r:id="rId2"/>
            </p:custDataLst>
          </p:nvPr>
        </p:nvSpPr>
        <p:spPr bwMode="auto">
          <a:xfrm>
            <a:off x="1426846" y="2623351"/>
            <a:ext cx="3970778" cy="901083"/>
          </a:xfrm>
          <a:prstGeom prst="rect">
            <a:avLst/>
          </a:prstGeom>
          <a:solidFill>
            <a:srgbClr val="FFFFFF"/>
          </a:solidFill>
          <a:ln w="9525">
            <a:solidFill>
              <a:srgbClr val="D9D9D9"/>
            </a:solidFill>
            <a:miter lim="800000"/>
          </a:ln>
        </p:spPr>
        <p:txBody>
          <a:bodyPr anchor="ct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6pPr>
            <a:lvl7pPr marL="29718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7pPr>
            <a:lvl8pPr marL="34290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8pPr>
            <a:lvl9pPr marL="38862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9pPr>
          </a:lstStyle>
          <a:p>
            <a:pPr algn="just"/>
            <a:r>
              <a:rPr lang="zh-CN" altLang="en-US" dirty="0">
                <a:solidFill>
                  <a:srgbClr val="FC5629"/>
                </a:solidFill>
                <a:latin typeface="Calibri" panose="020F0502020204030204" pitchFamily="34" charset="0"/>
                <a:ea typeface="微软雅黑" panose="020B0503020204020204" charset="-122"/>
              </a:rPr>
              <a:t>跟踪区划分应利用移动用户的地理分布和行为进行区域划分，减少跟踪区边缘位置更新。</a:t>
            </a:r>
            <a:endParaRPr lang="en-US" altLang="zh-CN" dirty="0">
              <a:solidFill>
                <a:srgbClr val="FC5629"/>
              </a:solidFill>
              <a:latin typeface="Calibri" panose="020F0502020204030204" pitchFamily="34" charset="0"/>
              <a:ea typeface="微软雅黑" panose="020B0503020204020204" charset="-122"/>
            </a:endParaRPr>
          </a:p>
        </p:txBody>
      </p:sp>
      <p:sp>
        <p:nvSpPr>
          <p:cNvPr id="13" name="MH_Other_2"/>
          <p:cNvSpPr/>
          <p:nvPr>
            <p:custDataLst>
              <p:tags r:id="rId3"/>
            </p:custDataLst>
          </p:nvPr>
        </p:nvSpPr>
        <p:spPr>
          <a:xfrm>
            <a:off x="5960746" y="3391770"/>
            <a:ext cx="2251075" cy="334962"/>
          </a:xfrm>
          <a:prstGeom prst="round2SameRect">
            <a:avLst>
              <a:gd name="adj1" fmla="val 19408"/>
              <a:gd name="adj2" fmla="val 0"/>
            </a:avLst>
          </a:prstGeom>
          <a:solidFill>
            <a:srgbClr val="265D72"/>
          </a:solidFill>
        </p:spPr>
        <p:txBody>
          <a:bodyPr lIns="36000" tIns="0" bIns="0" anchor="ctr"/>
          <a:lstStyle/>
          <a:p>
            <a:pPr algn="just">
              <a:defRPr/>
            </a:pPr>
            <a:r>
              <a:rPr lang="en-US" altLang="zh-CN" b="1" dirty="0">
                <a:solidFill>
                  <a:srgbClr val="FFFFFF"/>
                </a:solidFill>
                <a:latin typeface="Calibri" panose="020F0502020204030204" pitchFamily="34" charset="0"/>
                <a:ea typeface="微软雅黑" panose="020B0503020204020204" charset="-122"/>
              </a:rPr>
              <a:t>03</a:t>
            </a:r>
            <a:endParaRPr lang="zh-CN" altLang="en-US" b="1" dirty="0" err="1">
              <a:solidFill>
                <a:srgbClr val="FFFFFF"/>
              </a:solidFill>
              <a:latin typeface="Calibri" panose="020F0502020204030204" pitchFamily="34" charset="0"/>
              <a:ea typeface="微软雅黑" panose="020B0503020204020204" charset="-122"/>
            </a:endParaRPr>
          </a:p>
        </p:txBody>
      </p:sp>
      <p:sp>
        <p:nvSpPr>
          <p:cNvPr id="14" name="MH_SubTitle_3"/>
          <p:cNvSpPr>
            <a:spLocks noChangeArrowheads="1"/>
          </p:cNvSpPr>
          <p:nvPr>
            <p:custDataLst>
              <p:tags r:id="rId4"/>
            </p:custDataLst>
          </p:nvPr>
        </p:nvSpPr>
        <p:spPr bwMode="auto">
          <a:xfrm>
            <a:off x="6320107" y="3444885"/>
            <a:ext cx="4829175" cy="880462"/>
          </a:xfrm>
          <a:prstGeom prst="rect">
            <a:avLst/>
          </a:prstGeom>
          <a:solidFill>
            <a:srgbClr val="FFFFFF"/>
          </a:solidFill>
          <a:ln w="9525">
            <a:solidFill>
              <a:srgbClr val="D9D9D9"/>
            </a:solidFill>
            <a:miter lim="800000"/>
          </a:ln>
        </p:spPr>
        <p:txBody>
          <a:bodyPr anchor="ct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6pPr>
            <a:lvl7pPr marL="29718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7pPr>
            <a:lvl8pPr marL="34290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8pPr>
            <a:lvl9pPr marL="38862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9pPr>
          </a:lstStyle>
          <a:p>
            <a:pPr algn="just"/>
            <a:r>
              <a:rPr lang="zh-CN" altLang="en-US" dirty="0">
                <a:solidFill>
                  <a:srgbClr val="265D72"/>
                </a:solidFill>
                <a:latin typeface="Calibri" panose="020F0502020204030204" pitchFamily="34" charset="0"/>
                <a:ea typeface="微软雅黑" panose="020B0503020204020204" charset="-122"/>
              </a:rPr>
              <a:t>跟踪区边界可以参考</a:t>
            </a:r>
            <a:r>
              <a:rPr lang="en-US" altLang="zh-CN" dirty="0">
                <a:solidFill>
                  <a:srgbClr val="265D72"/>
                </a:solidFill>
                <a:latin typeface="Calibri" panose="020F0502020204030204" pitchFamily="34" charset="0"/>
                <a:ea typeface="微软雅黑" panose="020B0503020204020204" charset="-122"/>
              </a:rPr>
              <a:t>2G</a:t>
            </a:r>
            <a:r>
              <a:rPr lang="zh-CN" altLang="en-US" dirty="0">
                <a:solidFill>
                  <a:srgbClr val="265D72"/>
                </a:solidFill>
                <a:latin typeface="Calibri" panose="020F0502020204030204" pitchFamily="34" charset="0"/>
                <a:ea typeface="微软雅黑" panose="020B0503020204020204" charset="-122"/>
              </a:rPr>
              <a:t>、</a:t>
            </a:r>
            <a:r>
              <a:rPr lang="en-US" altLang="zh-CN" dirty="0">
                <a:solidFill>
                  <a:srgbClr val="265D72"/>
                </a:solidFill>
                <a:latin typeface="Calibri" panose="020F0502020204030204" pitchFamily="34" charset="0"/>
                <a:ea typeface="微软雅黑" panose="020B0503020204020204" charset="-122"/>
              </a:rPr>
              <a:t>3G</a:t>
            </a:r>
            <a:r>
              <a:rPr lang="zh-CN" altLang="en-US" dirty="0">
                <a:solidFill>
                  <a:srgbClr val="265D72"/>
                </a:solidFill>
                <a:latin typeface="Calibri" panose="020F0502020204030204" pitchFamily="34" charset="0"/>
                <a:ea typeface="微软雅黑" panose="020B0503020204020204" charset="-122"/>
              </a:rPr>
              <a:t>位置区的边界，并结合</a:t>
            </a:r>
            <a:r>
              <a:rPr lang="en-US" altLang="zh-CN" dirty="0">
                <a:solidFill>
                  <a:srgbClr val="265D72"/>
                </a:solidFill>
                <a:latin typeface="Calibri" panose="020F0502020204030204" pitchFamily="34" charset="0"/>
                <a:ea typeface="微软雅黑" panose="020B0503020204020204" charset="-122"/>
              </a:rPr>
              <a:t>TD-LTE</a:t>
            </a:r>
            <a:r>
              <a:rPr lang="zh-CN" altLang="en-US" dirty="0">
                <a:solidFill>
                  <a:srgbClr val="265D72"/>
                </a:solidFill>
                <a:latin typeface="Calibri" panose="020F0502020204030204" pitchFamily="34" charset="0"/>
                <a:ea typeface="微软雅黑" panose="020B0503020204020204" charset="-122"/>
              </a:rPr>
              <a:t>需求进行调整，提高跟踪区规划的效率和质量。</a:t>
            </a:r>
          </a:p>
        </p:txBody>
      </p:sp>
      <p:sp>
        <p:nvSpPr>
          <p:cNvPr id="15" name="MH_Other_3"/>
          <p:cNvSpPr/>
          <p:nvPr>
            <p:custDataLst>
              <p:tags r:id="rId5"/>
            </p:custDataLst>
          </p:nvPr>
        </p:nvSpPr>
        <p:spPr>
          <a:xfrm>
            <a:off x="8902382" y="5065782"/>
            <a:ext cx="2249488" cy="336550"/>
          </a:xfrm>
          <a:prstGeom prst="round2SameRect">
            <a:avLst>
              <a:gd name="adj1" fmla="val 19408"/>
              <a:gd name="adj2" fmla="val 0"/>
            </a:avLst>
          </a:prstGeom>
          <a:solidFill>
            <a:srgbClr val="0CBAE5"/>
          </a:solidFill>
        </p:spPr>
        <p:txBody>
          <a:bodyPr lIns="90000" tIns="0" rIns="36000" bIns="0" anchor="ctr"/>
          <a:lstStyle/>
          <a:p>
            <a:pPr algn="r">
              <a:defRPr/>
            </a:pPr>
            <a:r>
              <a:rPr lang="en-US" altLang="zh-CN" b="1" dirty="0">
                <a:solidFill>
                  <a:srgbClr val="FFFFFF"/>
                </a:solidFill>
                <a:latin typeface="Calibri" panose="020F0502020204030204" pitchFamily="34" charset="0"/>
                <a:ea typeface="微软雅黑" panose="020B0503020204020204" charset="-122"/>
              </a:rPr>
              <a:t>04</a:t>
            </a:r>
            <a:endParaRPr lang="zh-CN" altLang="en-US" b="1" dirty="0" err="1">
              <a:solidFill>
                <a:srgbClr val="FFFFFF"/>
              </a:solidFill>
              <a:latin typeface="Calibri" panose="020F0502020204030204" pitchFamily="34" charset="0"/>
              <a:ea typeface="微软雅黑" panose="020B0503020204020204" charset="-122"/>
            </a:endParaRPr>
          </a:p>
        </p:txBody>
      </p:sp>
      <p:sp>
        <p:nvSpPr>
          <p:cNvPr id="16" name="MH_SubTitle_4"/>
          <p:cNvSpPr>
            <a:spLocks noChangeArrowheads="1"/>
          </p:cNvSpPr>
          <p:nvPr>
            <p:custDataLst>
              <p:tags r:id="rId6"/>
            </p:custDataLst>
          </p:nvPr>
        </p:nvSpPr>
        <p:spPr bwMode="auto">
          <a:xfrm>
            <a:off x="5960746" y="5111819"/>
            <a:ext cx="4829175" cy="590550"/>
          </a:xfrm>
          <a:prstGeom prst="rect">
            <a:avLst/>
          </a:prstGeom>
          <a:solidFill>
            <a:srgbClr val="FFFFFF"/>
          </a:solidFill>
          <a:ln w="9525">
            <a:solidFill>
              <a:srgbClr val="D9D9D9"/>
            </a:solidFill>
            <a:miter lim="800000"/>
          </a:ln>
        </p:spPr>
        <p:txBody>
          <a:bodyPr anchor="ct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6pPr>
            <a:lvl7pPr marL="29718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7pPr>
            <a:lvl8pPr marL="34290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8pPr>
            <a:lvl9pPr marL="38862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9pPr>
          </a:lstStyle>
          <a:p>
            <a:pPr algn="just"/>
            <a:r>
              <a:rPr lang="zh-CN" altLang="en-US" dirty="0">
                <a:solidFill>
                  <a:srgbClr val="0CBAE5"/>
                </a:solidFill>
                <a:latin typeface="Calibri" panose="020F0502020204030204" pitchFamily="34" charset="0"/>
                <a:ea typeface="微软雅黑" panose="020B0503020204020204" charset="-122"/>
              </a:rPr>
              <a:t>针对高速移动等跟踪区频繁变更的场景，可以通过</a:t>
            </a:r>
            <a:r>
              <a:rPr lang="en-US" altLang="zh-CN" dirty="0">
                <a:solidFill>
                  <a:srgbClr val="0CBAE5"/>
                </a:solidFill>
                <a:latin typeface="Calibri" panose="020F0502020204030204" pitchFamily="34" charset="0"/>
                <a:ea typeface="微软雅黑" panose="020B0503020204020204" charset="-122"/>
              </a:rPr>
              <a:t>TA List</a:t>
            </a:r>
            <a:r>
              <a:rPr lang="zh-CN" altLang="en-US" dirty="0">
                <a:solidFill>
                  <a:srgbClr val="0CBAE5"/>
                </a:solidFill>
                <a:latin typeface="Calibri" panose="020F0502020204030204" pitchFamily="34" charset="0"/>
                <a:ea typeface="微软雅黑" panose="020B0503020204020204" charset="-122"/>
              </a:rPr>
              <a:t>功能降低跟踪区更新的负荷。</a:t>
            </a:r>
          </a:p>
        </p:txBody>
      </p:sp>
      <p:sp>
        <p:nvSpPr>
          <p:cNvPr id="17" name="MH_Other_4"/>
          <p:cNvSpPr/>
          <p:nvPr>
            <p:custDataLst>
              <p:tags r:id="rId7"/>
            </p:custDataLst>
          </p:nvPr>
        </p:nvSpPr>
        <p:spPr>
          <a:xfrm>
            <a:off x="8902382" y="1911149"/>
            <a:ext cx="2249488" cy="333116"/>
          </a:xfrm>
          <a:prstGeom prst="round2SameRect">
            <a:avLst>
              <a:gd name="adj1" fmla="val 19408"/>
              <a:gd name="adj2" fmla="val 0"/>
            </a:avLst>
          </a:prstGeom>
          <a:solidFill>
            <a:srgbClr val="F0C301"/>
          </a:solidFill>
        </p:spPr>
        <p:txBody>
          <a:bodyPr lIns="90000" tIns="0" rIns="36000" bIns="0" anchor="ctr"/>
          <a:lstStyle/>
          <a:p>
            <a:pPr algn="r">
              <a:defRPr/>
            </a:pPr>
            <a:r>
              <a:rPr lang="en-US" altLang="zh-CN" b="1" dirty="0">
                <a:solidFill>
                  <a:srgbClr val="FFFFFF"/>
                </a:solidFill>
                <a:latin typeface="Calibri" panose="020F0502020204030204" pitchFamily="34" charset="0"/>
                <a:ea typeface="微软雅黑" panose="020B0503020204020204" charset="-122"/>
              </a:rPr>
              <a:t>02</a:t>
            </a:r>
            <a:endParaRPr lang="zh-CN" altLang="en-US" b="1" dirty="0" err="1">
              <a:solidFill>
                <a:srgbClr val="FFFFFF"/>
              </a:solidFill>
              <a:latin typeface="Calibri" panose="020F0502020204030204" pitchFamily="34" charset="0"/>
              <a:ea typeface="微软雅黑" panose="020B0503020204020204" charset="-122"/>
            </a:endParaRPr>
          </a:p>
        </p:txBody>
      </p:sp>
      <p:sp>
        <p:nvSpPr>
          <p:cNvPr id="18" name="MH_SubTitle_2"/>
          <p:cNvSpPr>
            <a:spLocks noChangeArrowheads="1"/>
          </p:cNvSpPr>
          <p:nvPr>
            <p:custDataLst>
              <p:tags r:id="rId8"/>
            </p:custDataLst>
          </p:nvPr>
        </p:nvSpPr>
        <p:spPr bwMode="auto">
          <a:xfrm>
            <a:off x="5960746" y="1959779"/>
            <a:ext cx="4829175" cy="584524"/>
          </a:xfrm>
          <a:prstGeom prst="rect">
            <a:avLst/>
          </a:prstGeom>
          <a:solidFill>
            <a:srgbClr val="FFFFFF"/>
          </a:solidFill>
          <a:ln w="9525">
            <a:solidFill>
              <a:srgbClr val="D9D9D9"/>
            </a:solidFill>
            <a:miter lim="800000"/>
          </a:ln>
        </p:spPr>
        <p:txBody>
          <a:bodyPr anchor="ct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6pPr>
            <a:lvl7pPr marL="29718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7pPr>
            <a:lvl8pPr marL="34290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8pPr>
            <a:lvl9pPr marL="38862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9pPr>
          </a:lstStyle>
          <a:p>
            <a:pPr algn="just"/>
            <a:r>
              <a:rPr lang="zh-CN" altLang="en-US" dirty="0">
                <a:solidFill>
                  <a:srgbClr val="D5AD01"/>
                </a:solidFill>
                <a:latin typeface="Calibri" panose="020F0502020204030204" pitchFamily="34" charset="0"/>
                <a:ea typeface="微软雅黑" panose="020B0503020204020204" charset="-122"/>
              </a:rPr>
              <a:t>跟踪区划分应满足小区寻呼信道的容量要求并适当预留，跟踪区不宜跨越</a:t>
            </a:r>
            <a:r>
              <a:rPr lang="en-US" altLang="zh-CN" dirty="0">
                <a:solidFill>
                  <a:srgbClr val="D5AD01"/>
                </a:solidFill>
                <a:latin typeface="Calibri" panose="020F0502020204030204" pitchFamily="34" charset="0"/>
                <a:ea typeface="微软雅黑" panose="020B0503020204020204" charset="-122"/>
              </a:rPr>
              <a:t>MME</a:t>
            </a:r>
            <a:r>
              <a:rPr lang="zh-CN" altLang="en-US" dirty="0">
                <a:solidFill>
                  <a:srgbClr val="D5AD01"/>
                </a:solidFill>
                <a:latin typeface="Calibri" panose="020F0502020204030204" pitchFamily="34" charset="0"/>
                <a:ea typeface="微软雅黑" panose="020B0503020204020204" charset="-122"/>
              </a:rPr>
              <a:t>区域。</a:t>
            </a:r>
          </a:p>
        </p:txBody>
      </p:sp>
      <p:sp>
        <p:nvSpPr>
          <p:cNvPr id="2" name="矩形 1"/>
          <p:cNvSpPr/>
          <p:nvPr/>
        </p:nvSpPr>
        <p:spPr>
          <a:xfrm>
            <a:off x="614199" y="3704636"/>
            <a:ext cx="4508216" cy="2308324"/>
          </a:xfrm>
          <a:prstGeom prst="rect">
            <a:avLst/>
          </a:prstGeom>
        </p:spPr>
        <p:txBody>
          <a:bodyPr wrap="square">
            <a:spAutoFit/>
          </a:bodyPr>
          <a:lstStyle/>
          <a:p>
            <a:pPr marL="742950" lvl="1" indent="-285750" algn="just">
              <a:lnSpc>
                <a:spcPct val="150000"/>
              </a:lnSpc>
              <a:buClr>
                <a:srgbClr val="0070C0"/>
              </a:buClr>
              <a:buSzPct val="80000"/>
              <a:buFont typeface="Arial" panose="020B0604020202020204" pitchFamily="34" charset="0"/>
              <a:buChar char="•"/>
            </a:pPr>
            <a:r>
              <a:rPr lang="zh-CN" altLang="en-US" sz="1600" dirty="0">
                <a:latin typeface="+mj-ea"/>
              </a:rPr>
              <a:t>跟踪区边界划分不宜以街道为界，不宜放在话务量较高的地方。</a:t>
            </a:r>
          </a:p>
          <a:p>
            <a:pPr marL="742950" lvl="1" indent="-285750" algn="just">
              <a:lnSpc>
                <a:spcPct val="150000"/>
              </a:lnSpc>
              <a:buClr>
                <a:srgbClr val="0070C0"/>
              </a:buClr>
              <a:buSzPct val="80000"/>
              <a:buFont typeface="Arial" panose="020B0604020202020204" pitchFamily="34" charset="0"/>
              <a:buChar char="•"/>
            </a:pPr>
            <a:r>
              <a:rPr lang="zh-CN" altLang="en-US" sz="1600" dirty="0">
                <a:latin typeface="+mj-ea"/>
              </a:rPr>
              <a:t>跟踪区边界不宜与街道平行或垂直。</a:t>
            </a:r>
          </a:p>
          <a:p>
            <a:pPr marL="742950" lvl="1" indent="-285750" algn="just">
              <a:lnSpc>
                <a:spcPct val="150000"/>
              </a:lnSpc>
              <a:buClr>
                <a:srgbClr val="0070C0"/>
              </a:buClr>
              <a:buSzPct val="80000"/>
              <a:buFont typeface="Arial" panose="020B0604020202020204" pitchFamily="34" charset="0"/>
              <a:buChar char="•"/>
            </a:pPr>
            <a:r>
              <a:rPr lang="zh-CN" altLang="en-US" sz="1600" dirty="0">
                <a:latin typeface="+mj-ea"/>
              </a:rPr>
              <a:t>在市区和城郊交界区域，宜将跟踪区的边界放在外围一线的基站处，而不宜放在话务密集的城郊结合部。</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3.3  LTE PRACH</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MH_SubTitle_1"/>
          <p:cNvSpPr/>
          <p:nvPr>
            <p:custDataLst>
              <p:tags r:id="rId1"/>
            </p:custDataLst>
          </p:nvPr>
        </p:nvSpPr>
        <p:spPr>
          <a:xfrm>
            <a:off x="1617345" y="2076797"/>
            <a:ext cx="9410699" cy="2583980"/>
          </a:xfrm>
          <a:custGeom>
            <a:avLst/>
            <a:gdLst>
              <a:gd name="connsiteX0" fmla="*/ 0 w 1692000"/>
              <a:gd name="connsiteY0" fmla="*/ 0 h 1692000"/>
              <a:gd name="connsiteX1" fmla="*/ 1692000 w 1692000"/>
              <a:gd name="connsiteY1" fmla="*/ 0 h 1692000"/>
              <a:gd name="connsiteX2" fmla="*/ 1692000 w 1692000"/>
              <a:gd name="connsiteY2" fmla="*/ 1692000 h 1692000"/>
              <a:gd name="connsiteX3" fmla="*/ 868860 w 1692000"/>
              <a:gd name="connsiteY3" fmla="*/ 1692000 h 1692000"/>
              <a:gd name="connsiteX4" fmla="*/ 868860 w 1692000"/>
              <a:gd name="connsiteY4" fmla="*/ 1604050 h 1692000"/>
              <a:gd name="connsiteX5" fmla="*/ 880604 w 1692000"/>
              <a:gd name="connsiteY5" fmla="*/ 1601679 h 1692000"/>
              <a:gd name="connsiteX6" fmla="*/ 934900 w 1692000"/>
              <a:gd name="connsiteY6" fmla="*/ 1519765 h 1692000"/>
              <a:gd name="connsiteX7" fmla="*/ 846000 w 1692000"/>
              <a:gd name="connsiteY7" fmla="*/ 1430865 h 1692000"/>
              <a:gd name="connsiteX8" fmla="*/ 757100 w 1692000"/>
              <a:gd name="connsiteY8" fmla="*/ 1519765 h 1692000"/>
              <a:gd name="connsiteX9" fmla="*/ 811396 w 1692000"/>
              <a:gd name="connsiteY9" fmla="*/ 1601679 h 1692000"/>
              <a:gd name="connsiteX10" fmla="*/ 823141 w 1692000"/>
              <a:gd name="connsiteY10" fmla="*/ 1604050 h 1692000"/>
              <a:gd name="connsiteX11" fmla="*/ 823141 w 1692000"/>
              <a:gd name="connsiteY11" fmla="*/ 1692000 h 1692000"/>
              <a:gd name="connsiteX12" fmla="*/ 0 w 1692000"/>
              <a:gd name="connsiteY12" fmla="*/ 1692000 h 16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2000" h="1692000">
                <a:moveTo>
                  <a:pt x="0" y="0"/>
                </a:moveTo>
                <a:lnTo>
                  <a:pt x="1692000" y="0"/>
                </a:lnTo>
                <a:lnTo>
                  <a:pt x="1692000" y="1692000"/>
                </a:lnTo>
                <a:lnTo>
                  <a:pt x="868860" y="1692000"/>
                </a:lnTo>
                <a:lnTo>
                  <a:pt x="868860" y="1604050"/>
                </a:lnTo>
                <a:lnTo>
                  <a:pt x="880604" y="1601679"/>
                </a:lnTo>
                <a:cubicBezTo>
                  <a:pt x="912511" y="1588183"/>
                  <a:pt x="934900" y="1556589"/>
                  <a:pt x="934900" y="1519765"/>
                </a:cubicBezTo>
                <a:cubicBezTo>
                  <a:pt x="934900" y="1470667"/>
                  <a:pt x="895098" y="1430865"/>
                  <a:pt x="846000" y="1430865"/>
                </a:cubicBezTo>
                <a:cubicBezTo>
                  <a:pt x="796902" y="1430865"/>
                  <a:pt x="757100" y="1470667"/>
                  <a:pt x="757100" y="1519765"/>
                </a:cubicBezTo>
                <a:cubicBezTo>
                  <a:pt x="757100" y="1556589"/>
                  <a:pt x="779489" y="1588183"/>
                  <a:pt x="811396" y="1601679"/>
                </a:cubicBezTo>
                <a:lnTo>
                  <a:pt x="823141" y="1604050"/>
                </a:lnTo>
                <a:lnTo>
                  <a:pt x="823141" y="1692000"/>
                </a:lnTo>
                <a:lnTo>
                  <a:pt x="0" y="16920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180000" anchor="ctr">
            <a:normAutofit/>
          </a:bodyPr>
          <a:lstStyle/>
          <a:p>
            <a:pPr>
              <a:lnSpc>
                <a:spcPct val="150000"/>
              </a:lnSpc>
              <a:spcBef>
                <a:spcPct val="0"/>
              </a:spcBef>
              <a:buClr>
                <a:srgbClr val="0066FF"/>
              </a:buClr>
              <a:buFont typeface="Wingdings" panose="05000000000000000000" pitchFamily="2" charset="2"/>
              <a:buNone/>
              <a:defRPr/>
            </a:pPr>
            <a:r>
              <a:rPr lang="en-US" altLang="zh-CN" sz="2000" dirty="0">
                <a:solidFill>
                  <a:schemeClr val="tx1"/>
                </a:solidFill>
                <a:latin typeface="+mj-ea"/>
              </a:rPr>
              <a:t>PRACH</a:t>
            </a:r>
            <a:r>
              <a:rPr lang="zh-CN" altLang="en-US" sz="2000" dirty="0">
                <a:solidFill>
                  <a:schemeClr val="tx1"/>
                </a:solidFill>
                <a:latin typeface="+mj-ea"/>
              </a:rPr>
              <a:t>是</a:t>
            </a:r>
            <a:r>
              <a:rPr lang="zh-CN" altLang="en-US" sz="2000" dirty="0">
                <a:solidFill>
                  <a:srgbClr val="FF0000"/>
                </a:solidFill>
                <a:latin typeface="+mj-ea"/>
              </a:rPr>
              <a:t>随机接入信道</a:t>
            </a:r>
            <a:r>
              <a:rPr lang="zh-CN" altLang="en-US" sz="2000" dirty="0">
                <a:solidFill>
                  <a:schemeClr val="tx1"/>
                </a:solidFill>
                <a:latin typeface="+mj-ea"/>
              </a:rPr>
              <a:t>，主要用于随机接入过程中，</a:t>
            </a:r>
            <a:r>
              <a:rPr lang="en-US" altLang="zh-CN" sz="2000" dirty="0">
                <a:solidFill>
                  <a:schemeClr val="tx1"/>
                </a:solidFill>
                <a:latin typeface="+mj-ea"/>
              </a:rPr>
              <a:t>LTE</a:t>
            </a:r>
            <a:r>
              <a:rPr lang="zh-CN" altLang="en-US" sz="2000" dirty="0">
                <a:solidFill>
                  <a:schemeClr val="tx1"/>
                </a:solidFill>
                <a:latin typeface="+mj-ea"/>
              </a:rPr>
              <a:t>系统的随机接入作用包括：</a:t>
            </a:r>
          </a:p>
          <a:p>
            <a:pPr marL="342900" indent="-342900">
              <a:lnSpc>
                <a:spcPct val="150000"/>
              </a:lnSpc>
              <a:spcBef>
                <a:spcPct val="0"/>
              </a:spcBef>
              <a:buClr>
                <a:srgbClr val="0066FF"/>
              </a:buClr>
              <a:buFont typeface="Arial" panose="020B0604020202020204" pitchFamily="34" charset="0"/>
              <a:buChar char="•"/>
              <a:defRPr/>
            </a:pPr>
            <a:r>
              <a:rPr lang="zh-CN" altLang="en-US" dirty="0">
                <a:solidFill>
                  <a:schemeClr val="tx1"/>
                </a:solidFill>
                <a:latin typeface="+mj-ea"/>
              </a:rPr>
              <a:t>随机接入的主要作用是获取上行同步，比如初始接入以及切换中。</a:t>
            </a:r>
          </a:p>
          <a:p>
            <a:pPr marL="342900" indent="-342900">
              <a:lnSpc>
                <a:spcPct val="150000"/>
              </a:lnSpc>
              <a:spcBef>
                <a:spcPct val="0"/>
              </a:spcBef>
              <a:buClr>
                <a:srgbClr val="0066FF"/>
              </a:buClr>
              <a:buFont typeface="Arial" panose="020B0604020202020204" pitchFamily="34" charset="0"/>
              <a:buChar char="•"/>
              <a:defRPr/>
            </a:pPr>
            <a:r>
              <a:rPr lang="zh-CN" altLang="en-US" dirty="0">
                <a:solidFill>
                  <a:schemeClr val="tx1"/>
                </a:solidFill>
                <a:latin typeface="+mj-ea"/>
              </a:rPr>
              <a:t>在建立初始网络接入的时候，例如从</a:t>
            </a:r>
            <a:r>
              <a:rPr lang="en-US" altLang="zh-CN" dirty="0">
                <a:solidFill>
                  <a:schemeClr val="tx1"/>
                </a:solidFill>
                <a:latin typeface="+mj-ea"/>
              </a:rPr>
              <a:t>RRC_IDLE</a:t>
            </a:r>
            <a:r>
              <a:rPr lang="zh-CN" altLang="en-US" dirty="0">
                <a:solidFill>
                  <a:schemeClr val="tx1"/>
                </a:solidFill>
                <a:latin typeface="+mj-ea"/>
              </a:rPr>
              <a:t>状态过度到</a:t>
            </a:r>
            <a:r>
              <a:rPr lang="en-US" altLang="zh-CN" dirty="0">
                <a:solidFill>
                  <a:schemeClr val="tx1"/>
                </a:solidFill>
                <a:latin typeface="+mj-ea"/>
              </a:rPr>
              <a:t>RRC_CONNECTED</a:t>
            </a:r>
            <a:r>
              <a:rPr lang="zh-CN" altLang="en-US" dirty="0">
                <a:solidFill>
                  <a:schemeClr val="tx1"/>
                </a:solidFill>
                <a:latin typeface="+mj-ea"/>
              </a:rPr>
              <a:t>状态，随机接入还起到给</a:t>
            </a:r>
            <a:r>
              <a:rPr lang="en-US" altLang="zh-CN" dirty="0">
                <a:solidFill>
                  <a:schemeClr val="tx1"/>
                </a:solidFill>
                <a:latin typeface="+mj-ea"/>
              </a:rPr>
              <a:t>UE</a:t>
            </a:r>
            <a:r>
              <a:rPr lang="zh-CN" altLang="en-US" dirty="0">
                <a:solidFill>
                  <a:schemeClr val="tx1"/>
                </a:solidFill>
                <a:latin typeface="+mj-ea"/>
              </a:rPr>
              <a:t>分配一个小区唯一的标示符</a:t>
            </a:r>
            <a:r>
              <a:rPr lang="en-US" altLang="zh-CN" dirty="0">
                <a:solidFill>
                  <a:schemeClr val="tx1"/>
                </a:solidFill>
                <a:latin typeface="+mj-ea"/>
              </a:rPr>
              <a:t>C-RNTI</a:t>
            </a:r>
            <a:r>
              <a:rPr lang="zh-CN" altLang="en-US" dirty="0">
                <a:solidFill>
                  <a:schemeClr val="tx1"/>
                </a:solidFill>
                <a:latin typeface="+mj-ea"/>
              </a:rPr>
              <a:t>的作用。</a:t>
            </a:r>
            <a:endParaRPr lang="en-US" altLang="zh-CN" dirty="0">
              <a:solidFill>
                <a:schemeClr val="tx1"/>
              </a:solidFill>
              <a:latin typeface="+mj-ea"/>
            </a:endParaRPr>
          </a:p>
          <a:p>
            <a:pPr>
              <a:lnSpc>
                <a:spcPct val="150000"/>
              </a:lnSpc>
              <a:spcBef>
                <a:spcPct val="0"/>
              </a:spcBef>
              <a:buClr>
                <a:srgbClr val="0066FF"/>
              </a:buClr>
              <a:buFont typeface="Wingdings" panose="05000000000000000000" pitchFamily="2" charset="2"/>
              <a:buNone/>
              <a:defRPr/>
            </a:pPr>
            <a:r>
              <a:rPr lang="en-US" altLang="zh-CN" sz="2000" dirty="0">
                <a:solidFill>
                  <a:schemeClr val="tx1"/>
                </a:solidFill>
                <a:latin typeface="+mj-ea"/>
              </a:rPr>
              <a:t>LTE</a:t>
            </a:r>
            <a:r>
              <a:rPr lang="zh-CN" altLang="en-US" sz="2000" dirty="0">
                <a:solidFill>
                  <a:schemeClr val="tx1"/>
                </a:solidFill>
                <a:latin typeface="+mj-ea"/>
              </a:rPr>
              <a:t>系统的随机接入过程有两种方式：</a:t>
            </a:r>
            <a:r>
              <a:rPr lang="zh-CN" altLang="en-US" sz="2000" b="1" dirty="0">
                <a:solidFill>
                  <a:srgbClr val="FF0000"/>
                </a:solidFill>
                <a:latin typeface="+mj-ea"/>
              </a:rPr>
              <a:t>基于竞争和基于非竞争方式</a:t>
            </a:r>
          </a:p>
        </p:txBody>
      </p:sp>
      <p:graphicFrame>
        <p:nvGraphicFramePr>
          <p:cNvPr id="20" name="Object 2"/>
          <p:cNvGraphicFramePr>
            <a:graphicFrameLocks noChangeAspect="1"/>
          </p:cNvGraphicFramePr>
          <p:nvPr/>
        </p:nvGraphicFramePr>
        <p:xfrm>
          <a:off x="3118325" y="4966717"/>
          <a:ext cx="6408738" cy="1547813"/>
        </p:xfrm>
        <a:graphic>
          <a:graphicData uri="http://schemas.openxmlformats.org/presentationml/2006/ole">
            <mc:AlternateContent xmlns:mc="http://schemas.openxmlformats.org/markup-compatibility/2006">
              <mc:Choice xmlns:v="urn:schemas-microsoft-com:vml" Requires="v">
                <p:oleObj name="Visio" r:id="rId3" imgW="4696460" imgH="1579245" progId="Visio.Drawing.11">
                  <p:embed/>
                </p:oleObj>
              </mc:Choice>
              <mc:Fallback>
                <p:oleObj name="Visio" r:id="rId3" imgW="4696460" imgH="1579245" progId="Visio.Drawing.11">
                  <p:embed/>
                  <p:pic>
                    <p:nvPicPr>
                      <p:cNvPr id="0" name="图片 61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8325" y="4966717"/>
                        <a:ext cx="6408738"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93397" y="-504915"/>
            <a:ext cx="10515600" cy="535305"/>
          </a:xfrm>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332384" y="33565"/>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3.3  LTE PRACH</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571498" y="-96338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MH_SubTitle_1"/>
          <p:cNvSpPr txBox="1">
            <a:spLocks noChangeArrowheads="1"/>
          </p:cNvSpPr>
          <p:nvPr>
            <p:custDataLst>
              <p:tags r:id="rId1"/>
            </p:custDataLst>
          </p:nvPr>
        </p:nvSpPr>
        <p:spPr bwMode="auto">
          <a:xfrm>
            <a:off x="937280" y="1027339"/>
            <a:ext cx="56610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342900" indent="-342900" fontAlgn="base">
              <a:lnSpc>
                <a:spcPct val="90000"/>
              </a:lnSpc>
              <a:spcBef>
                <a:spcPct val="0"/>
              </a:spcBef>
              <a:spcAft>
                <a:spcPct val="0"/>
              </a:spcAft>
              <a:buFont typeface="Wingdings" panose="05000000000000000000" pitchFamily="2" charset="2"/>
              <a:buChar char="u"/>
              <a:defRPr/>
            </a:pPr>
            <a:r>
              <a:rPr lang="da-DK" altLang="zh-CN" sz="2000" b="1" dirty="0">
                <a:solidFill>
                  <a:srgbClr val="005BAA"/>
                </a:solidFill>
                <a:latin typeface="微软雅黑" panose="020B0503020204020204" charset="-122"/>
                <a:ea typeface="微软雅黑" panose="020B0503020204020204" charset="-122"/>
                <a:cs typeface="+mj-cs"/>
              </a:rPr>
              <a:t>PRACH</a:t>
            </a:r>
            <a:r>
              <a:rPr lang="zh-CN" altLang="en-US" sz="2000" b="1" dirty="0">
                <a:solidFill>
                  <a:srgbClr val="005BAA"/>
                </a:solidFill>
                <a:latin typeface="微软雅黑" panose="020B0503020204020204" charset="-122"/>
                <a:ea typeface="微软雅黑" panose="020B0503020204020204" charset="-122"/>
                <a:cs typeface="+mj-cs"/>
              </a:rPr>
              <a:t>规划</a:t>
            </a:r>
            <a:r>
              <a:rPr lang="en-US" altLang="zh-CN" sz="2000" b="1" dirty="0">
                <a:solidFill>
                  <a:srgbClr val="005BAA"/>
                </a:solidFill>
                <a:latin typeface="微软雅黑" panose="020B0503020204020204" charset="-122"/>
                <a:ea typeface="微软雅黑" panose="020B0503020204020204" charset="-122"/>
                <a:cs typeface="+mj-cs"/>
              </a:rPr>
              <a:t>--</a:t>
            </a:r>
            <a:r>
              <a:rPr lang="zh-CN" altLang="en-US" sz="2000" b="1" dirty="0">
                <a:solidFill>
                  <a:srgbClr val="005BAA"/>
                </a:solidFill>
                <a:latin typeface="微软雅黑" panose="020B0503020204020204" charset="-122"/>
                <a:ea typeface="微软雅黑" panose="020B0503020204020204" charset="-122"/>
                <a:cs typeface="+mj-cs"/>
              </a:rPr>
              <a:t>基础概念和特性</a:t>
            </a:r>
          </a:p>
        </p:txBody>
      </p:sp>
      <p:sp>
        <p:nvSpPr>
          <p:cNvPr id="8" name="MH_Text_1"/>
          <p:cNvSpPr txBox="1"/>
          <p:nvPr>
            <p:custDataLst>
              <p:tags r:id="rId2"/>
            </p:custDataLst>
          </p:nvPr>
        </p:nvSpPr>
        <p:spPr>
          <a:xfrm>
            <a:off x="937280" y="1578715"/>
            <a:ext cx="8034717" cy="1515039"/>
          </a:xfrm>
          <a:prstGeom prst="rect">
            <a:avLst/>
          </a:prstGeom>
          <a:noFill/>
        </p:spPr>
        <p:txBody>
          <a:bodyPr lIns="0" tIns="0" rIns="0" bIns="0">
            <a:noAutofit/>
          </a:bodyPr>
          <a:lstStyle/>
          <a:p>
            <a:pPr>
              <a:lnSpc>
                <a:spcPct val="120000"/>
              </a:lnSpc>
              <a:defRPr/>
            </a:pPr>
            <a:r>
              <a:rPr lang="en-US" altLang="zh-CN" sz="2000" dirty="0">
                <a:solidFill>
                  <a:srgbClr val="FF0000"/>
                </a:solidFill>
                <a:latin typeface="+mj-ea"/>
                <a:ea typeface="+mj-ea"/>
              </a:rPr>
              <a:t>PRACH</a:t>
            </a:r>
          </a:p>
          <a:p>
            <a:pPr marL="342900" indent="-342900">
              <a:lnSpc>
                <a:spcPct val="120000"/>
              </a:lnSpc>
              <a:buFont typeface="Arial" panose="020B0604020202020204" pitchFamily="34" charset="0"/>
              <a:buChar char="•"/>
              <a:defRPr/>
            </a:pPr>
            <a:r>
              <a:rPr lang="zh-CN" altLang="en-US" dirty="0"/>
              <a:t>由</a:t>
            </a:r>
            <a:r>
              <a:rPr lang="en-US" altLang="zh-CN" dirty="0"/>
              <a:t>CP</a:t>
            </a:r>
            <a:r>
              <a:rPr lang="zh-CN" altLang="en-US" dirty="0"/>
              <a:t>、前导序列和保护间隔组成</a:t>
            </a:r>
            <a:endParaRPr lang="en-US" altLang="zh-CN" dirty="0"/>
          </a:p>
          <a:p>
            <a:pPr marL="342900" indent="-342900">
              <a:lnSpc>
                <a:spcPct val="120000"/>
              </a:lnSpc>
              <a:buFont typeface="Arial" panose="020B0604020202020204" pitchFamily="34" charset="0"/>
              <a:buChar char="•"/>
              <a:defRPr/>
            </a:pPr>
            <a:r>
              <a:rPr lang="en-US" altLang="zh-CN" dirty="0"/>
              <a:t>LTE</a:t>
            </a:r>
            <a:r>
              <a:rPr lang="zh-CN" altLang="en-US" dirty="0"/>
              <a:t>小区前导序列是由</a:t>
            </a:r>
            <a:r>
              <a:rPr lang="en-US" altLang="zh-CN" dirty="0"/>
              <a:t>ZC</a:t>
            </a:r>
            <a:r>
              <a:rPr lang="zh-CN" altLang="en-US" dirty="0"/>
              <a:t>根序列循环移位（</a:t>
            </a:r>
            <a:r>
              <a:rPr lang="en-US" altLang="zh-CN" dirty="0" err="1"/>
              <a:t>Ncs</a:t>
            </a:r>
            <a:r>
              <a:rPr lang="zh-CN" altLang="en-US" dirty="0"/>
              <a:t>）生成的</a:t>
            </a:r>
            <a:endParaRPr lang="en-US" altLang="zh-CN" dirty="0"/>
          </a:p>
          <a:p>
            <a:pPr marL="285750" indent="-285750">
              <a:lnSpc>
                <a:spcPct val="120000"/>
              </a:lnSpc>
              <a:buFont typeface="Arial" panose="020B0604020202020204" pitchFamily="34" charset="0"/>
              <a:buChar char="•"/>
              <a:defRPr/>
            </a:pPr>
            <a:r>
              <a:rPr lang="zh-CN" altLang="en-US" dirty="0"/>
              <a:t>随机接入信道，每个扇区的</a:t>
            </a:r>
            <a:r>
              <a:rPr lang="en-US" altLang="zh-CN" dirty="0"/>
              <a:t>PRACH</a:t>
            </a:r>
            <a:r>
              <a:rPr lang="zh-CN" altLang="en-US" dirty="0"/>
              <a:t>需要提供</a:t>
            </a:r>
            <a:r>
              <a:rPr lang="en-US" altLang="zh-CN" dirty="0"/>
              <a:t>64</a:t>
            </a:r>
            <a:r>
              <a:rPr lang="zh-CN" altLang="en-US" dirty="0"/>
              <a:t>个接入前导给</a:t>
            </a:r>
            <a:r>
              <a:rPr lang="en-US" altLang="zh-CN" dirty="0"/>
              <a:t>UE</a:t>
            </a:r>
            <a:r>
              <a:rPr lang="zh-CN" altLang="en-US" dirty="0"/>
              <a:t>接入使用。</a:t>
            </a:r>
          </a:p>
          <a:p>
            <a:pPr marL="285750" indent="-285750">
              <a:lnSpc>
                <a:spcPct val="120000"/>
              </a:lnSpc>
              <a:buFont typeface="Arial" panose="020B0604020202020204" pitchFamily="34" charset="0"/>
              <a:buChar char="•"/>
              <a:defRPr/>
            </a:pPr>
            <a:r>
              <a:rPr lang="zh-CN" altLang="en-US" dirty="0"/>
              <a:t>相邻的小区使用不同的逻辑根序列和循环移位来实现接入前导错开。</a:t>
            </a:r>
          </a:p>
          <a:p>
            <a:pPr marL="285750" indent="-285750">
              <a:lnSpc>
                <a:spcPct val="120000"/>
              </a:lnSpc>
              <a:buFont typeface="Arial" panose="020B0604020202020204" pitchFamily="34" charset="0"/>
              <a:buChar char="•"/>
              <a:defRPr/>
            </a:pPr>
            <a:endParaRPr lang="en-US" altLang="zh-CN" dirty="0">
              <a:latin typeface="+mj-ea"/>
              <a:ea typeface="+mj-ea"/>
            </a:endParaRPr>
          </a:p>
        </p:txBody>
      </p:sp>
      <p:sp>
        <p:nvSpPr>
          <p:cNvPr id="2" name="矩形 1"/>
          <p:cNvSpPr/>
          <p:nvPr/>
        </p:nvSpPr>
        <p:spPr>
          <a:xfrm>
            <a:off x="847473" y="3595899"/>
            <a:ext cx="6096000" cy="1105046"/>
          </a:xfrm>
          <a:prstGeom prst="rect">
            <a:avLst/>
          </a:prstGeom>
        </p:spPr>
        <p:txBody>
          <a:bodyPr>
            <a:spAutoFit/>
          </a:bodyPr>
          <a:lstStyle/>
          <a:p>
            <a:pPr>
              <a:lnSpc>
                <a:spcPct val="120000"/>
              </a:lnSpc>
              <a:defRPr/>
            </a:pPr>
            <a:r>
              <a:rPr lang="zh-CN" altLang="en-US" sz="2000" dirty="0">
                <a:solidFill>
                  <a:srgbClr val="FF0000"/>
                </a:solidFill>
                <a:latin typeface="+mj-ea"/>
                <a:ea typeface="+mj-ea"/>
              </a:rPr>
              <a:t>逻辑根序列</a:t>
            </a:r>
            <a:endParaRPr lang="en-US" altLang="zh-CN" sz="2000" dirty="0">
              <a:solidFill>
                <a:srgbClr val="FF0000"/>
              </a:solidFill>
              <a:latin typeface="+mj-ea"/>
              <a:ea typeface="+mj-ea"/>
            </a:endParaRPr>
          </a:p>
          <a:p>
            <a:pPr marL="285750" indent="-285750">
              <a:lnSpc>
                <a:spcPct val="120000"/>
              </a:lnSpc>
              <a:buFont typeface="Arial" panose="020B0604020202020204" pitchFamily="34" charset="0"/>
              <a:buChar char="•"/>
              <a:defRPr/>
            </a:pPr>
            <a:r>
              <a:rPr lang="en-US" altLang="zh-CN" dirty="0"/>
              <a:t>838</a:t>
            </a:r>
            <a:r>
              <a:rPr lang="zh-CN" altLang="en-US" dirty="0"/>
              <a:t>个逻辑根序列，每个长度为</a:t>
            </a:r>
            <a:r>
              <a:rPr lang="en-US" altLang="zh-CN" dirty="0"/>
              <a:t>839</a:t>
            </a:r>
            <a:r>
              <a:rPr lang="zh-CN" altLang="en-US" dirty="0"/>
              <a:t>位。</a:t>
            </a:r>
            <a:endParaRPr lang="en-US" altLang="zh-CN" dirty="0"/>
          </a:p>
          <a:p>
            <a:pPr marL="285750" indent="-285750">
              <a:lnSpc>
                <a:spcPct val="120000"/>
              </a:lnSpc>
              <a:buFont typeface="Arial" panose="020B0604020202020204" pitchFamily="34" charset="0"/>
              <a:buChar char="•"/>
              <a:defRPr/>
            </a:pPr>
            <a:r>
              <a:rPr lang="zh-CN" altLang="en-US" dirty="0"/>
              <a:t>一个逻辑根序列中的某一段就可以构成一个接入前导</a:t>
            </a:r>
            <a:r>
              <a:rPr lang="zh-CN" altLang="en-US" dirty="0">
                <a:latin typeface="+mj-ea"/>
                <a:ea typeface="+mj-ea"/>
              </a:rPr>
              <a:t>。</a:t>
            </a:r>
            <a:endParaRPr lang="en-US" altLang="zh-CN" dirty="0">
              <a:latin typeface="+mj-ea"/>
              <a:ea typeface="+mj-ea"/>
            </a:endParaRPr>
          </a:p>
        </p:txBody>
      </p:sp>
      <p:sp>
        <p:nvSpPr>
          <p:cNvPr id="4" name="文本框 3">
            <a:extLst>
              <a:ext uri="{FF2B5EF4-FFF2-40B4-BE49-F238E27FC236}">
                <a16:creationId xmlns:a16="http://schemas.microsoft.com/office/drawing/2014/main" id="{12DBD139-1748-CE2E-38C0-D07AA8E92823}"/>
              </a:ext>
            </a:extLst>
          </p:cNvPr>
          <p:cNvSpPr txBox="1"/>
          <p:nvPr/>
        </p:nvSpPr>
        <p:spPr>
          <a:xfrm>
            <a:off x="847473" y="5067516"/>
            <a:ext cx="10892772"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PRACH</a:t>
            </a:r>
            <a:r>
              <a:rPr lang="zh-CN" altLang="en-US" dirty="0"/>
              <a:t>规划实际上是</a:t>
            </a:r>
            <a:r>
              <a:rPr lang="en-US" altLang="zh-CN" dirty="0"/>
              <a:t>ZC</a:t>
            </a:r>
            <a:r>
              <a:rPr lang="zh-CN" altLang="en-US" dirty="0"/>
              <a:t>根序列的规划，目的是为小区分配</a:t>
            </a:r>
            <a:r>
              <a:rPr lang="en-US" altLang="zh-CN" dirty="0"/>
              <a:t>ZC</a:t>
            </a:r>
            <a:r>
              <a:rPr lang="zh-CN" altLang="en-US" dirty="0"/>
              <a:t>根序列索引以保证相邻小区使用该索引生成的前导序列不同，从而降低相邻小区使用相同的前导序列而产生的相互干扰。</a:t>
            </a:r>
            <a:endParaRPr lang="en-US" altLang="zh-CN" dirty="0"/>
          </a:p>
          <a:p>
            <a:pPr marL="285750" indent="-285750">
              <a:buFont typeface="Arial" panose="020B0604020202020204" pitchFamily="34" charset="0"/>
              <a:buChar char="•"/>
            </a:pPr>
            <a:r>
              <a:rPr lang="zh-CN" altLang="en-US" dirty="0"/>
              <a:t>规划采用的</a:t>
            </a:r>
            <a:r>
              <a:rPr lang="en-US" altLang="zh-CN" dirty="0" err="1"/>
              <a:t>Ncs</a:t>
            </a:r>
            <a:r>
              <a:rPr lang="zh-CN" altLang="en-US" dirty="0"/>
              <a:t>值不宜过小，否则超过</a:t>
            </a:r>
            <a:r>
              <a:rPr lang="en-US" altLang="zh-CN" dirty="0" err="1"/>
              <a:t>Ncs</a:t>
            </a:r>
            <a:r>
              <a:rPr lang="zh-CN" altLang="en-US" dirty="0"/>
              <a:t>对应半径的用户将由于无法被识别出正确的前导码而导致无法接入。同时</a:t>
            </a:r>
            <a:r>
              <a:rPr lang="en-US" altLang="zh-CN" dirty="0" err="1"/>
              <a:t>Ncs</a:t>
            </a:r>
            <a:r>
              <a:rPr lang="zh-CN" altLang="en-US" dirty="0"/>
              <a:t>值不宜过大，即超过基站需要支持的接入半径，会造成基站的资源浪费。</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3.3  LTE PRACH</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标题 1"/>
          <p:cNvSpPr txBox="1"/>
          <p:nvPr/>
        </p:nvSpPr>
        <p:spPr bwMode="auto">
          <a:xfrm>
            <a:off x="1328792" y="2249626"/>
            <a:ext cx="2097989" cy="495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PRACH</a:t>
            </a:r>
            <a:r>
              <a:rPr lang="zh-CN" altLang="en-US" sz="2000" b="1" dirty="0">
                <a:solidFill>
                  <a:srgbClr val="005BAA"/>
                </a:solidFill>
              </a:rPr>
              <a:t>格式</a:t>
            </a:r>
          </a:p>
        </p:txBody>
      </p:sp>
      <p:pic>
        <p:nvPicPr>
          <p:cNvPr id="10" name="图片 9"/>
          <p:cNvPicPr/>
          <p:nvPr/>
        </p:nvPicPr>
        <p:blipFill>
          <a:blip r:embed="rId2"/>
          <a:stretch>
            <a:fillRect/>
          </a:stretch>
        </p:blipFill>
        <p:spPr>
          <a:xfrm>
            <a:off x="1698307" y="3865576"/>
            <a:ext cx="9248775" cy="2752725"/>
          </a:xfrm>
          <a:prstGeom prst="rect">
            <a:avLst/>
          </a:prstGeom>
        </p:spPr>
      </p:pic>
      <p:sp>
        <p:nvSpPr>
          <p:cNvPr id="4" name="矩形 3"/>
          <p:cNvSpPr/>
          <p:nvPr/>
        </p:nvSpPr>
        <p:spPr>
          <a:xfrm>
            <a:off x="4114235" y="1320397"/>
            <a:ext cx="6832847" cy="2120902"/>
          </a:xfrm>
          <a:prstGeom prst="rect">
            <a:avLst/>
          </a:prstGeom>
        </p:spPr>
        <p:txBody>
          <a:bodyPr wrap="square">
            <a:spAutoFit/>
          </a:bodyPr>
          <a:lstStyle/>
          <a:p>
            <a:pPr>
              <a:lnSpc>
                <a:spcPct val="150000"/>
              </a:lnSpc>
              <a:spcAft>
                <a:spcPts val="0"/>
              </a:spcAft>
            </a:pPr>
            <a:r>
              <a:rPr lang="en-US" altLang="zh-CN" kern="100" dirty="0">
                <a:latin typeface="+mj-ea"/>
              </a:rPr>
              <a:t>1</a:t>
            </a:r>
            <a:r>
              <a:rPr lang="zh-CN" altLang="zh-CN" kern="100" dirty="0">
                <a:latin typeface="+mj-ea"/>
              </a:rPr>
              <a:t>）格式</a:t>
            </a:r>
            <a:r>
              <a:rPr lang="en-US" altLang="zh-CN" kern="100" dirty="0">
                <a:latin typeface="+mj-ea"/>
              </a:rPr>
              <a:t>0</a:t>
            </a:r>
            <a:r>
              <a:rPr lang="zh-CN" altLang="zh-CN" kern="100" dirty="0">
                <a:latin typeface="+mj-ea"/>
              </a:rPr>
              <a:t>用于正常小区覆盖；</a:t>
            </a:r>
          </a:p>
          <a:p>
            <a:pPr>
              <a:lnSpc>
                <a:spcPct val="150000"/>
              </a:lnSpc>
              <a:spcAft>
                <a:spcPts val="0"/>
              </a:spcAft>
            </a:pPr>
            <a:r>
              <a:rPr lang="en-US" altLang="zh-CN" kern="100" dirty="0">
                <a:latin typeface="+mj-ea"/>
              </a:rPr>
              <a:t>2</a:t>
            </a:r>
            <a:r>
              <a:rPr lang="zh-CN" altLang="zh-CN" kern="100" dirty="0">
                <a:latin typeface="+mj-ea"/>
              </a:rPr>
              <a:t>）格式</a:t>
            </a:r>
            <a:r>
              <a:rPr lang="en-US" altLang="zh-CN" kern="100" dirty="0">
                <a:latin typeface="+mj-ea"/>
              </a:rPr>
              <a:t>1</a:t>
            </a:r>
            <a:r>
              <a:rPr lang="zh-CN" altLang="zh-CN" kern="100" dirty="0">
                <a:latin typeface="+mj-ea"/>
              </a:rPr>
              <a:t>、</a:t>
            </a:r>
            <a:r>
              <a:rPr lang="en-US" altLang="zh-CN" kern="100" dirty="0">
                <a:latin typeface="+mj-ea"/>
              </a:rPr>
              <a:t>3</a:t>
            </a:r>
            <a:r>
              <a:rPr lang="zh-CN" altLang="zh-CN" kern="100" dirty="0">
                <a:latin typeface="+mj-ea"/>
              </a:rPr>
              <a:t>用于超远覆盖和</a:t>
            </a:r>
            <a:r>
              <a:rPr lang="en-US" altLang="zh-CN" kern="100" dirty="0">
                <a:latin typeface="+mj-ea"/>
              </a:rPr>
              <a:t>UE</a:t>
            </a:r>
            <a:r>
              <a:rPr lang="zh-CN" altLang="zh-CN" kern="100" dirty="0">
                <a:latin typeface="+mj-ea"/>
              </a:rPr>
              <a:t>高速移动场景；</a:t>
            </a:r>
          </a:p>
          <a:p>
            <a:pPr>
              <a:lnSpc>
                <a:spcPct val="150000"/>
              </a:lnSpc>
              <a:spcAft>
                <a:spcPts val="0"/>
              </a:spcAft>
            </a:pPr>
            <a:r>
              <a:rPr lang="en-US" altLang="zh-CN" kern="100" dirty="0">
                <a:latin typeface="+mj-ea"/>
              </a:rPr>
              <a:t>3</a:t>
            </a:r>
            <a:r>
              <a:rPr lang="zh-CN" altLang="zh-CN" kern="100" dirty="0">
                <a:latin typeface="+mj-ea"/>
              </a:rPr>
              <a:t>）格式</a:t>
            </a:r>
            <a:r>
              <a:rPr lang="en-US" altLang="zh-CN" kern="100" dirty="0">
                <a:latin typeface="+mj-ea"/>
              </a:rPr>
              <a:t>2</a:t>
            </a:r>
            <a:r>
              <a:rPr lang="zh-CN" altLang="zh-CN" kern="100" dirty="0">
                <a:latin typeface="+mj-ea"/>
              </a:rPr>
              <a:t>用于较大覆盖小区和</a:t>
            </a:r>
            <a:r>
              <a:rPr lang="en-US" altLang="zh-CN" kern="100" dirty="0">
                <a:latin typeface="+mj-ea"/>
              </a:rPr>
              <a:t>UE</a:t>
            </a:r>
            <a:r>
              <a:rPr lang="zh-CN" altLang="zh-CN" kern="100" dirty="0">
                <a:latin typeface="+mj-ea"/>
              </a:rPr>
              <a:t>快速移动场景；</a:t>
            </a:r>
          </a:p>
          <a:p>
            <a:pPr>
              <a:lnSpc>
                <a:spcPct val="150000"/>
              </a:lnSpc>
              <a:spcAft>
                <a:spcPts val="0"/>
              </a:spcAft>
            </a:pPr>
            <a:r>
              <a:rPr lang="en-US" altLang="zh-CN" kern="100" dirty="0">
                <a:latin typeface="+mj-ea"/>
              </a:rPr>
              <a:t>4</a:t>
            </a:r>
            <a:r>
              <a:rPr lang="zh-CN" altLang="zh-CN" kern="100" dirty="0">
                <a:latin typeface="+mj-ea"/>
              </a:rPr>
              <a:t>）格式</a:t>
            </a:r>
            <a:r>
              <a:rPr lang="en-US" altLang="zh-CN" kern="100" dirty="0">
                <a:latin typeface="+mj-ea"/>
              </a:rPr>
              <a:t>4</a:t>
            </a:r>
            <a:r>
              <a:rPr lang="zh-CN" altLang="zh-CN" kern="100" dirty="0">
                <a:latin typeface="+mj-ea"/>
              </a:rPr>
              <a:t>用于热点覆盖。</a:t>
            </a:r>
          </a:p>
          <a:p>
            <a:pPr>
              <a:lnSpc>
                <a:spcPct val="150000"/>
              </a:lnSpc>
              <a:spcAft>
                <a:spcPts val="0"/>
              </a:spcAft>
            </a:pPr>
            <a:r>
              <a:rPr lang="en-US" altLang="zh-CN" kern="100" dirty="0">
                <a:latin typeface="+mj-ea"/>
              </a:rPr>
              <a:t>5</a:t>
            </a:r>
            <a:r>
              <a:rPr lang="zh-CN" altLang="zh-CN" kern="100" dirty="0">
                <a:latin typeface="+mj-ea"/>
              </a:rPr>
              <a:t>）这</a:t>
            </a:r>
            <a:r>
              <a:rPr lang="en-US" altLang="zh-CN" kern="100" dirty="0">
                <a:latin typeface="+mj-ea"/>
              </a:rPr>
              <a:t>5</a:t>
            </a:r>
            <a:r>
              <a:rPr lang="zh-CN" altLang="zh-CN" kern="100" dirty="0">
                <a:latin typeface="+mj-ea"/>
              </a:rPr>
              <a:t>种格式均适用于</a:t>
            </a:r>
            <a:r>
              <a:rPr lang="en-US" altLang="zh-CN" kern="100" dirty="0">
                <a:latin typeface="+mj-ea"/>
              </a:rPr>
              <a:t>TDD</a:t>
            </a:r>
            <a:r>
              <a:rPr lang="zh-CN" altLang="zh-CN" kern="100" dirty="0">
                <a:latin typeface="+mj-ea"/>
              </a:rPr>
              <a:t>系统，但是</a:t>
            </a:r>
            <a:r>
              <a:rPr lang="en-US" altLang="zh-CN" kern="100" dirty="0">
                <a:latin typeface="+mj-ea"/>
              </a:rPr>
              <a:t>FDD</a:t>
            </a:r>
            <a:r>
              <a:rPr lang="zh-CN" altLang="zh-CN" kern="100" dirty="0">
                <a:latin typeface="+mj-ea"/>
              </a:rPr>
              <a:t>只能适用前</a:t>
            </a:r>
            <a:r>
              <a:rPr lang="en-US" altLang="zh-CN" kern="100" dirty="0">
                <a:latin typeface="+mj-ea"/>
              </a:rPr>
              <a:t>4</a:t>
            </a:r>
            <a:r>
              <a:rPr lang="zh-CN" altLang="zh-CN" kern="100" dirty="0">
                <a:latin typeface="+mj-ea"/>
              </a:rPr>
              <a:t>种。</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3.3  LTE PRACH</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MH_Text_1"/>
          <p:cNvSpPr txBox="1"/>
          <p:nvPr>
            <p:custDataLst>
              <p:tags r:id="rId1"/>
            </p:custDataLst>
          </p:nvPr>
        </p:nvSpPr>
        <p:spPr>
          <a:xfrm>
            <a:off x="1373181" y="2941189"/>
            <a:ext cx="8034717" cy="1933260"/>
          </a:xfrm>
          <a:prstGeom prst="rect">
            <a:avLst/>
          </a:prstGeom>
          <a:noFill/>
        </p:spPr>
        <p:txBody>
          <a:bodyPr lIns="0" tIns="0" rIns="0" bIns="0">
            <a:noAutofit/>
          </a:bodyPr>
          <a:lstStyle/>
          <a:p>
            <a:pPr>
              <a:lnSpc>
                <a:spcPct val="150000"/>
              </a:lnSpc>
              <a:defRPr/>
            </a:pPr>
            <a:r>
              <a:rPr lang="en-US" altLang="zh-CN" sz="2000" dirty="0">
                <a:solidFill>
                  <a:srgbClr val="FF0000"/>
                </a:solidFill>
                <a:latin typeface="+mj-ea"/>
                <a:ea typeface="+mj-ea"/>
              </a:rPr>
              <a:t>PRACH</a:t>
            </a:r>
            <a:r>
              <a:rPr lang="zh-CN" altLang="en-US" sz="2000" dirty="0">
                <a:solidFill>
                  <a:srgbClr val="FF0000"/>
                </a:solidFill>
                <a:latin typeface="+mj-ea"/>
                <a:ea typeface="+mj-ea"/>
              </a:rPr>
              <a:t>根序列选择原则</a:t>
            </a:r>
            <a:endParaRPr lang="en-US" altLang="zh-CN" sz="2000" dirty="0">
              <a:solidFill>
                <a:srgbClr val="FF0000"/>
              </a:solidFill>
              <a:latin typeface="+mj-ea"/>
              <a:ea typeface="+mj-ea"/>
            </a:endParaRPr>
          </a:p>
          <a:p>
            <a:pPr>
              <a:lnSpc>
                <a:spcPct val="150000"/>
              </a:lnSpc>
              <a:defRPr/>
            </a:pPr>
            <a:r>
              <a:rPr lang="zh-CN" altLang="en-US" dirty="0">
                <a:latin typeface="+mj-ea"/>
                <a:ea typeface="+mj-ea"/>
              </a:rPr>
              <a:t>（</a:t>
            </a:r>
            <a:r>
              <a:rPr lang="en-US" altLang="zh-CN" dirty="0">
                <a:latin typeface="+mj-ea"/>
                <a:ea typeface="+mj-ea"/>
              </a:rPr>
              <a:t>1</a:t>
            </a:r>
            <a:r>
              <a:rPr lang="zh-CN" altLang="en-US" dirty="0">
                <a:latin typeface="+mj-ea"/>
                <a:ea typeface="+mj-ea"/>
              </a:rPr>
              <a:t>）共站小区，邻区以及邻区的邻区之间根序列不同。</a:t>
            </a:r>
          </a:p>
          <a:p>
            <a:pPr>
              <a:lnSpc>
                <a:spcPct val="150000"/>
              </a:lnSpc>
              <a:defRPr/>
            </a:pPr>
            <a:r>
              <a:rPr lang="zh-CN" altLang="en-US" dirty="0">
                <a:latin typeface="+mj-ea"/>
                <a:ea typeface="+mj-ea"/>
              </a:rPr>
              <a:t>（</a:t>
            </a:r>
            <a:r>
              <a:rPr lang="en-US" altLang="zh-CN" dirty="0">
                <a:latin typeface="+mj-ea"/>
                <a:ea typeface="+mj-ea"/>
              </a:rPr>
              <a:t>2</a:t>
            </a:r>
            <a:r>
              <a:rPr lang="zh-CN" altLang="en-US" dirty="0">
                <a:latin typeface="+mj-ea"/>
                <a:ea typeface="+mj-ea"/>
              </a:rPr>
              <a:t>）复用根序列的小区之间尽量满足复用距离。</a:t>
            </a:r>
          </a:p>
          <a:p>
            <a:pPr>
              <a:lnSpc>
                <a:spcPct val="150000"/>
              </a:lnSpc>
              <a:defRPr/>
            </a:pPr>
            <a:r>
              <a:rPr lang="zh-CN" altLang="en-US" dirty="0">
                <a:latin typeface="+mj-ea"/>
                <a:ea typeface="+mj-ea"/>
              </a:rPr>
              <a:t>（</a:t>
            </a:r>
            <a:r>
              <a:rPr lang="en-US" altLang="zh-CN" dirty="0">
                <a:latin typeface="+mj-ea"/>
                <a:ea typeface="+mj-ea"/>
              </a:rPr>
              <a:t>3</a:t>
            </a:r>
            <a:r>
              <a:rPr lang="zh-CN" altLang="en-US" dirty="0">
                <a:latin typeface="+mj-ea"/>
                <a:ea typeface="+mj-ea"/>
              </a:rPr>
              <a:t>）高速场景选择循环偏移小的根序列。</a:t>
            </a:r>
          </a:p>
        </p:txBody>
      </p:sp>
      <p:sp>
        <p:nvSpPr>
          <p:cNvPr id="2" name="矩形 1"/>
          <p:cNvSpPr/>
          <p:nvPr/>
        </p:nvSpPr>
        <p:spPr>
          <a:xfrm>
            <a:off x="1195628" y="5334130"/>
            <a:ext cx="10254134" cy="369332"/>
          </a:xfrm>
          <a:prstGeom prst="rect">
            <a:avLst/>
          </a:prstGeom>
        </p:spPr>
        <p:txBody>
          <a:bodyPr wrap="square">
            <a:spAutoFit/>
          </a:bodyPr>
          <a:lstStyle/>
          <a:p>
            <a:r>
              <a:rPr lang="zh-CN" altLang="en-US" dirty="0">
                <a:latin typeface="+mj-ea"/>
              </a:rPr>
              <a:t>高速场景循环偏移不宜过大，用于解决频偏造成的循环移位对峰值检测的影响，协议中给出了推荐值。</a:t>
            </a:r>
            <a:endParaRPr lang="zh-CN" altLang="en-US" dirty="0"/>
          </a:p>
        </p:txBody>
      </p:sp>
      <p:sp>
        <p:nvSpPr>
          <p:cNvPr id="11" name="标题 1"/>
          <p:cNvSpPr txBox="1"/>
          <p:nvPr/>
        </p:nvSpPr>
        <p:spPr bwMode="auto">
          <a:xfrm>
            <a:off x="1373181" y="2110434"/>
            <a:ext cx="274605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PRACH</a:t>
            </a:r>
            <a:r>
              <a:rPr lang="zh-CN" altLang="en-US" sz="2000" b="1" dirty="0">
                <a:solidFill>
                  <a:srgbClr val="005BAA"/>
                </a:solidFill>
              </a:rPr>
              <a:t>分配原则</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480736" y="188686"/>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3.4  LTE PCI</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标题 1"/>
          <p:cNvSpPr txBox="1"/>
          <p:nvPr/>
        </p:nvSpPr>
        <p:spPr bwMode="auto">
          <a:xfrm>
            <a:off x="480736" y="1382068"/>
            <a:ext cx="356016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PCI</a:t>
            </a:r>
            <a:r>
              <a:rPr lang="zh-CN" altLang="en-US" sz="2000" b="1" dirty="0">
                <a:solidFill>
                  <a:srgbClr val="005BAA"/>
                </a:solidFill>
              </a:rPr>
              <a:t>规划</a:t>
            </a:r>
            <a:r>
              <a:rPr lang="en-US" altLang="zh-CN" sz="2000" b="1" dirty="0">
                <a:solidFill>
                  <a:srgbClr val="005BAA"/>
                </a:solidFill>
              </a:rPr>
              <a:t>--</a:t>
            </a:r>
            <a:r>
              <a:rPr lang="zh-CN" altLang="en-US" sz="2000" b="1" dirty="0">
                <a:solidFill>
                  <a:srgbClr val="005BAA"/>
                </a:solidFill>
              </a:rPr>
              <a:t>基础概念和特性</a:t>
            </a:r>
          </a:p>
        </p:txBody>
      </p:sp>
      <p:sp>
        <p:nvSpPr>
          <p:cNvPr id="10" name="Oval 2"/>
          <p:cNvSpPr>
            <a:spLocks noChangeArrowheads="1"/>
          </p:cNvSpPr>
          <p:nvPr/>
        </p:nvSpPr>
        <p:spPr bwMode="gray">
          <a:xfrm>
            <a:off x="4708071" y="2488547"/>
            <a:ext cx="2743200" cy="2286000"/>
          </a:xfrm>
          <a:prstGeom prst="ellipse">
            <a:avLst/>
          </a:prstGeom>
          <a:solidFill>
            <a:srgbClr val="FFFFFF">
              <a:alpha val="8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3" name="Oval 3"/>
          <p:cNvSpPr>
            <a:spLocks noChangeArrowheads="1"/>
          </p:cNvSpPr>
          <p:nvPr/>
        </p:nvSpPr>
        <p:spPr bwMode="gray">
          <a:xfrm>
            <a:off x="5851071" y="2917172"/>
            <a:ext cx="1619250" cy="1349375"/>
          </a:xfrm>
          <a:prstGeom prst="ellipse">
            <a:avLst/>
          </a:prstGeom>
          <a:solidFill>
            <a:srgbClr val="DCDCDC">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4" name="Line 4"/>
          <p:cNvSpPr>
            <a:spLocks noChangeShapeType="1"/>
          </p:cNvSpPr>
          <p:nvPr/>
        </p:nvSpPr>
        <p:spPr bwMode="gray">
          <a:xfrm>
            <a:off x="5089071" y="3568047"/>
            <a:ext cx="1524000" cy="63500"/>
          </a:xfrm>
          <a:prstGeom prst="line">
            <a:avLst/>
          </a:prstGeom>
          <a:noFill/>
          <a:ln w="12700">
            <a:solidFill>
              <a:srgbClr val="000000"/>
            </a:solid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5" name="Line 5"/>
          <p:cNvSpPr>
            <a:spLocks noChangeShapeType="1"/>
          </p:cNvSpPr>
          <p:nvPr/>
        </p:nvSpPr>
        <p:spPr bwMode="gray">
          <a:xfrm>
            <a:off x="5927271" y="2615547"/>
            <a:ext cx="914400" cy="762000"/>
          </a:xfrm>
          <a:prstGeom prst="line">
            <a:avLst/>
          </a:prstGeom>
          <a:noFill/>
          <a:ln w="12700">
            <a:solidFill>
              <a:srgbClr val="000000"/>
            </a:solid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6" name="Line 6"/>
          <p:cNvSpPr>
            <a:spLocks noChangeShapeType="1"/>
          </p:cNvSpPr>
          <p:nvPr/>
        </p:nvSpPr>
        <p:spPr bwMode="gray">
          <a:xfrm flipH="1">
            <a:off x="6022521" y="3885547"/>
            <a:ext cx="819150" cy="1174750"/>
          </a:xfrm>
          <a:prstGeom prst="line">
            <a:avLst/>
          </a:prstGeom>
          <a:noFill/>
          <a:ln w="12700">
            <a:solidFill>
              <a:srgbClr val="000000"/>
            </a:solid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7" name="Line 7"/>
          <p:cNvSpPr>
            <a:spLocks noChangeShapeType="1"/>
          </p:cNvSpPr>
          <p:nvPr/>
        </p:nvSpPr>
        <p:spPr bwMode="gray">
          <a:xfrm>
            <a:off x="7222671" y="3822047"/>
            <a:ext cx="228600" cy="127000"/>
          </a:xfrm>
          <a:prstGeom prst="line">
            <a:avLst/>
          </a:prstGeom>
          <a:noFill/>
          <a:ln w="12700">
            <a:solidFill>
              <a:srgbClr val="000000"/>
            </a:solid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8" name="Line 8"/>
          <p:cNvSpPr>
            <a:spLocks noChangeShapeType="1"/>
          </p:cNvSpPr>
          <p:nvPr/>
        </p:nvSpPr>
        <p:spPr bwMode="gray">
          <a:xfrm flipV="1">
            <a:off x="7222671" y="2742547"/>
            <a:ext cx="533400" cy="698500"/>
          </a:xfrm>
          <a:prstGeom prst="line">
            <a:avLst/>
          </a:prstGeom>
          <a:noFill/>
          <a:ln w="12700">
            <a:solidFill>
              <a:srgbClr val="000000"/>
            </a:solid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9" name="Oval 9"/>
          <p:cNvSpPr>
            <a:spLocks noChangeArrowheads="1"/>
          </p:cNvSpPr>
          <p:nvPr/>
        </p:nvSpPr>
        <p:spPr bwMode="gray">
          <a:xfrm>
            <a:off x="6489246" y="3242610"/>
            <a:ext cx="895350" cy="746125"/>
          </a:xfrm>
          <a:prstGeom prst="ellipse">
            <a:avLst/>
          </a:prstGeom>
          <a:solidFill>
            <a:srgbClr val="C0C0C0">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nvGrpSpPr>
          <p:cNvPr id="20" name="Group 11"/>
          <p:cNvGrpSpPr/>
          <p:nvPr/>
        </p:nvGrpSpPr>
        <p:grpSpPr bwMode="auto">
          <a:xfrm>
            <a:off x="5012871" y="1791635"/>
            <a:ext cx="1146175" cy="1152525"/>
            <a:chOff x="2064" y="1008"/>
            <a:chExt cx="722" cy="872"/>
          </a:xfrm>
        </p:grpSpPr>
        <p:sp>
          <p:nvSpPr>
            <p:cNvPr id="21" name="Oval 12"/>
            <p:cNvSpPr>
              <a:spLocks noChangeArrowheads="1"/>
            </p:cNvSpPr>
            <p:nvPr/>
          </p:nvSpPr>
          <p:spPr bwMode="gray">
            <a:xfrm>
              <a:off x="2064" y="1008"/>
              <a:ext cx="722" cy="727"/>
            </a:xfrm>
            <a:prstGeom prst="ellipse">
              <a:avLst/>
            </a:prstGeom>
            <a:solidFill>
              <a:srgbClr val="EAEAEA">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nvGrpSpPr>
            <p:cNvPr id="22" name="Group 13"/>
            <p:cNvGrpSpPr/>
            <p:nvPr/>
          </p:nvGrpSpPr>
          <p:grpSpPr bwMode="auto">
            <a:xfrm>
              <a:off x="2086" y="1031"/>
              <a:ext cx="680" cy="849"/>
              <a:chOff x="3975" y="1593"/>
              <a:chExt cx="931" cy="1163"/>
            </a:xfrm>
          </p:grpSpPr>
          <p:pic>
            <p:nvPicPr>
              <p:cNvPr id="35" name="Picture 14"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Oval 15"/>
              <p:cNvSpPr>
                <a:spLocks noChangeArrowheads="1"/>
              </p:cNvSpPr>
              <p:nvPr/>
            </p:nvSpPr>
            <p:spPr bwMode="gray">
              <a:xfrm>
                <a:off x="3975" y="1593"/>
                <a:ext cx="931" cy="938"/>
              </a:xfrm>
              <a:prstGeom prst="ellipse">
                <a:avLst/>
              </a:prstGeom>
              <a:solidFill>
                <a:srgbClr val="9BBB59">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pic>
            <p:nvPicPr>
              <p:cNvPr id="37" name="Picture 16" descr="light_shadow1"/>
              <p:cNvPicPr>
                <a:picLocks noChangeAspect="1" noChangeArrowheads="1"/>
              </p:cNvPicPr>
              <p:nvPr/>
            </p:nvPicPr>
            <p:blipFill>
              <a:blip r:embed="rId4">
                <a:extLst>
                  <a:ext uri="{28A0092B-C50C-407E-A947-70E740481C1C}">
                    <a14:useLocalDpi xmlns:a14="http://schemas.microsoft.com/office/drawing/2010/main" val="0"/>
                  </a:ext>
                </a:extLst>
              </a:blip>
              <a:srcRect t="14285"/>
              <a:stretch>
                <a:fillRect/>
              </a:stretch>
            </p:blipFill>
            <p:spPr bwMode="auto">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 name="Group 17"/>
              <p:cNvGrpSpPr/>
              <p:nvPr/>
            </p:nvGrpSpPr>
            <p:grpSpPr bwMode="auto">
              <a:xfrm rot="-3733502" flipH="1" flipV="1">
                <a:off x="4256" y="2247"/>
                <a:ext cx="820" cy="198"/>
                <a:chOff x="2532" y="1051"/>
                <a:chExt cx="893" cy="246"/>
              </a:xfrm>
            </p:grpSpPr>
            <p:grpSp>
              <p:nvGrpSpPr>
                <p:cNvPr id="39" name="Group 18"/>
                <p:cNvGrpSpPr/>
                <p:nvPr/>
              </p:nvGrpSpPr>
              <p:grpSpPr bwMode="auto">
                <a:xfrm>
                  <a:off x="2532" y="1051"/>
                  <a:ext cx="743" cy="185"/>
                  <a:chOff x="1565" y="2568"/>
                  <a:chExt cx="1118" cy="279"/>
                </a:xfrm>
              </p:grpSpPr>
              <p:sp>
                <p:nvSpPr>
                  <p:cNvPr id="45" name="AutoShape 19"/>
                  <p:cNvSpPr>
                    <a:spLocks noChangeArrowheads="1"/>
                  </p:cNvSpPr>
                  <p:nvPr/>
                </p:nvSpPr>
                <p:spPr bwMode="white">
                  <a:xfrm rot="5263130">
                    <a:off x="1814" y="2378"/>
                    <a:ext cx="233" cy="798"/>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46" name="AutoShape 20"/>
                  <p:cNvSpPr>
                    <a:spLocks noChangeArrowheads="1"/>
                  </p:cNvSpPr>
                  <p:nvPr/>
                </p:nvSpPr>
                <p:spPr bwMode="white">
                  <a:xfrm rot="6078281">
                    <a:off x="1938" y="2385"/>
                    <a:ext cx="233" cy="782"/>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47" name="AutoShape 21"/>
                  <p:cNvSpPr>
                    <a:spLocks noChangeArrowheads="1"/>
                  </p:cNvSpPr>
                  <p:nvPr/>
                </p:nvSpPr>
                <p:spPr bwMode="white">
                  <a:xfrm rot="6373927">
                    <a:off x="2011" y="2412"/>
                    <a:ext cx="239" cy="774"/>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48" name="AutoShape 22"/>
                  <p:cNvSpPr>
                    <a:spLocks noChangeArrowheads="1"/>
                  </p:cNvSpPr>
                  <p:nvPr/>
                </p:nvSpPr>
                <p:spPr bwMode="white">
                  <a:xfrm rot="6906312">
                    <a:off x="2110" y="2439"/>
                    <a:ext cx="246" cy="77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40" name="Group 23"/>
                <p:cNvGrpSpPr/>
                <p:nvPr/>
              </p:nvGrpSpPr>
              <p:grpSpPr bwMode="auto">
                <a:xfrm rot="1353540">
                  <a:off x="2682" y="1111"/>
                  <a:ext cx="743" cy="186"/>
                  <a:chOff x="1565" y="2568"/>
                  <a:chExt cx="1118" cy="279"/>
                </a:xfrm>
              </p:grpSpPr>
              <p:sp>
                <p:nvSpPr>
                  <p:cNvPr id="41" name="AutoShape 24"/>
                  <p:cNvSpPr>
                    <a:spLocks noChangeArrowheads="1"/>
                  </p:cNvSpPr>
                  <p:nvPr/>
                </p:nvSpPr>
                <p:spPr bwMode="white">
                  <a:xfrm rot="5263130">
                    <a:off x="1841" y="2395"/>
                    <a:ext cx="255" cy="790"/>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42" name="AutoShape 25"/>
                  <p:cNvSpPr>
                    <a:spLocks noChangeArrowheads="1"/>
                  </p:cNvSpPr>
                  <p:nvPr/>
                </p:nvSpPr>
                <p:spPr bwMode="white">
                  <a:xfrm rot="6078281">
                    <a:off x="1977" y="2396"/>
                    <a:ext cx="255" cy="79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43" name="AutoShape 26"/>
                  <p:cNvSpPr>
                    <a:spLocks noChangeArrowheads="1"/>
                  </p:cNvSpPr>
                  <p:nvPr/>
                </p:nvSpPr>
                <p:spPr bwMode="white">
                  <a:xfrm rot="6373927">
                    <a:off x="2040" y="2426"/>
                    <a:ext cx="258" cy="79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44" name="AutoShape 27"/>
                  <p:cNvSpPr>
                    <a:spLocks noChangeArrowheads="1"/>
                  </p:cNvSpPr>
                  <p:nvPr/>
                </p:nvSpPr>
                <p:spPr bwMode="white">
                  <a:xfrm rot="6906312">
                    <a:off x="2130" y="2466"/>
                    <a:ext cx="260" cy="79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grpSp>
        <p:grpSp>
          <p:nvGrpSpPr>
            <p:cNvPr id="23" name="Group 28"/>
            <p:cNvGrpSpPr/>
            <p:nvPr/>
          </p:nvGrpSpPr>
          <p:grpSpPr bwMode="auto">
            <a:xfrm rot="-3733502" flipH="1" flipV="1">
              <a:off x="2360" y="1503"/>
              <a:ext cx="527" cy="128"/>
              <a:chOff x="2532" y="1051"/>
              <a:chExt cx="893" cy="246"/>
            </a:xfrm>
          </p:grpSpPr>
          <p:grpSp>
            <p:nvGrpSpPr>
              <p:cNvPr id="25" name="Group 29"/>
              <p:cNvGrpSpPr/>
              <p:nvPr/>
            </p:nvGrpSpPr>
            <p:grpSpPr bwMode="auto">
              <a:xfrm>
                <a:off x="2532" y="1051"/>
                <a:ext cx="743" cy="185"/>
                <a:chOff x="1565" y="2568"/>
                <a:chExt cx="1118" cy="279"/>
              </a:xfrm>
            </p:grpSpPr>
            <p:sp>
              <p:nvSpPr>
                <p:cNvPr id="31" name="AutoShape 30"/>
                <p:cNvSpPr>
                  <a:spLocks noChangeArrowheads="1"/>
                </p:cNvSpPr>
                <p:nvPr/>
              </p:nvSpPr>
              <p:spPr bwMode="white">
                <a:xfrm rot="5263130">
                  <a:off x="1739" y="2375"/>
                  <a:ext cx="209" cy="766"/>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32" name="AutoShape 31"/>
                <p:cNvSpPr>
                  <a:spLocks noChangeArrowheads="1"/>
                </p:cNvSpPr>
                <p:nvPr/>
              </p:nvSpPr>
              <p:spPr bwMode="white">
                <a:xfrm rot="6078281">
                  <a:off x="1864" y="2376"/>
                  <a:ext cx="212" cy="772"/>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33" name="AutoShape 32"/>
                <p:cNvSpPr>
                  <a:spLocks noChangeArrowheads="1"/>
                </p:cNvSpPr>
                <p:nvPr/>
              </p:nvSpPr>
              <p:spPr bwMode="white">
                <a:xfrm rot="6373927">
                  <a:off x="1930" y="2394"/>
                  <a:ext cx="212" cy="76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34" name="AutoShape 33"/>
                <p:cNvSpPr>
                  <a:spLocks noChangeArrowheads="1"/>
                </p:cNvSpPr>
                <p:nvPr/>
              </p:nvSpPr>
              <p:spPr bwMode="white">
                <a:xfrm rot="6906312">
                  <a:off x="2024" y="2432"/>
                  <a:ext cx="212" cy="75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26" name="Group 34"/>
              <p:cNvGrpSpPr/>
              <p:nvPr/>
            </p:nvGrpSpPr>
            <p:grpSpPr bwMode="auto">
              <a:xfrm rot="1353540">
                <a:off x="2682" y="1111"/>
                <a:ext cx="743" cy="186"/>
                <a:chOff x="1565" y="2568"/>
                <a:chExt cx="1118" cy="279"/>
              </a:xfrm>
            </p:grpSpPr>
            <p:sp>
              <p:nvSpPr>
                <p:cNvPr id="27" name="AutoShape 35"/>
                <p:cNvSpPr>
                  <a:spLocks noChangeArrowheads="1"/>
                </p:cNvSpPr>
                <p:nvPr/>
              </p:nvSpPr>
              <p:spPr bwMode="white">
                <a:xfrm rot="5263130">
                  <a:off x="1794" y="2419"/>
                  <a:ext cx="248" cy="756"/>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28" name="AutoShape 36"/>
                <p:cNvSpPr>
                  <a:spLocks noChangeArrowheads="1"/>
                </p:cNvSpPr>
                <p:nvPr/>
              </p:nvSpPr>
              <p:spPr bwMode="white">
                <a:xfrm rot="6078281">
                  <a:off x="1925" y="2426"/>
                  <a:ext cx="239" cy="76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29" name="AutoShape 37"/>
                <p:cNvSpPr>
                  <a:spLocks noChangeArrowheads="1"/>
                </p:cNvSpPr>
                <p:nvPr/>
              </p:nvSpPr>
              <p:spPr bwMode="white">
                <a:xfrm rot="6373927">
                  <a:off x="1988" y="2438"/>
                  <a:ext cx="242" cy="76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30" name="AutoShape 38"/>
                <p:cNvSpPr>
                  <a:spLocks noChangeArrowheads="1"/>
                </p:cNvSpPr>
                <p:nvPr/>
              </p:nvSpPr>
              <p:spPr bwMode="white">
                <a:xfrm rot="6906312">
                  <a:off x="2061" y="2465"/>
                  <a:ext cx="242" cy="76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sp>
          <p:nvSpPr>
            <p:cNvPr id="24" name="Rectangle 39"/>
            <p:cNvSpPr>
              <a:spLocks noChangeArrowheads="1"/>
            </p:cNvSpPr>
            <p:nvPr/>
          </p:nvSpPr>
          <p:spPr bwMode="gray">
            <a:xfrm>
              <a:off x="2179" y="1272"/>
              <a:ext cx="504" cy="348"/>
            </a:xfrm>
            <a:prstGeom prst="rect">
              <a:avLst/>
            </a:prstGeom>
            <a:noFill/>
            <a:ln w="9525" algn="ctr">
              <a:noFill/>
              <a:miter lim="800000"/>
            </a:ln>
            <a:effectLst/>
          </p:spPr>
          <p:txBody>
            <a:bodyPr wrap="none">
              <a:spAutoFit/>
              <a:flatTx/>
            </a:bodyPr>
            <a:lstStyle/>
            <a:p>
              <a:pPr algn="ctr" fontAlgn="auto">
                <a:spcBef>
                  <a:spcPts val="0"/>
                </a:spcBef>
                <a:spcAft>
                  <a:spcPts val="0"/>
                </a:spcAft>
                <a:buFontTx/>
                <a:buNone/>
                <a:defRPr/>
              </a:pPr>
              <a:r>
                <a:rPr lang="zh-CN" altLang="en-US" sz="2400" b="1" kern="0" dirty="0">
                  <a:solidFill>
                    <a:srgbClr val="000000"/>
                  </a:solidFill>
                  <a:latin typeface="微软雅黑" panose="020B0503020204020204" charset="-122"/>
                  <a:ea typeface="微软雅黑" panose="020B0503020204020204" charset="-122"/>
                </a:rPr>
                <a:t>作用</a:t>
              </a:r>
              <a:endParaRPr lang="en-US" altLang="zh-CN" sz="2400" b="1" kern="0" dirty="0">
                <a:solidFill>
                  <a:srgbClr val="000000"/>
                </a:solidFill>
                <a:latin typeface="微软雅黑" panose="020B0503020204020204" charset="-122"/>
                <a:ea typeface="微软雅黑" panose="020B0503020204020204" charset="-122"/>
              </a:endParaRPr>
            </a:p>
          </p:txBody>
        </p:sp>
      </p:grpSp>
      <p:grpSp>
        <p:nvGrpSpPr>
          <p:cNvPr id="49" name="Group 40"/>
          <p:cNvGrpSpPr/>
          <p:nvPr/>
        </p:nvGrpSpPr>
        <p:grpSpPr bwMode="auto">
          <a:xfrm>
            <a:off x="4001634" y="2955272"/>
            <a:ext cx="1211262" cy="1152525"/>
            <a:chOff x="2050" y="1008"/>
            <a:chExt cx="763" cy="872"/>
          </a:xfrm>
        </p:grpSpPr>
        <p:sp>
          <p:nvSpPr>
            <p:cNvPr id="50" name="Oval 41"/>
            <p:cNvSpPr>
              <a:spLocks noChangeArrowheads="1"/>
            </p:cNvSpPr>
            <p:nvPr/>
          </p:nvSpPr>
          <p:spPr bwMode="gray">
            <a:xfrm>
              <a:off x="2064" y="1008"/>
              <a:ext cx="722" cy="727"/>
            </a:xfrm>
            <a:prstGeom prst="ellipse">
              <a:avLst/>
            </a:prstGeom>
            <a:solidFill>
              <a:srgbClr val="EAEAEA">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nvGrpSpPr>
            <p:cNvPr id="51" name="Group 42"/>
            <p:cNvGrpSpPr/>
            <p:nvPr/>
          </p:nvGrpSpPr>
          <p:grpSpPr bwMode="auto">
            <a:xfrm>
              <a:off x="2086" y="1031"/>
              <a:ext cx="680" cy="849"/>
              <a:chOff x="3975" y="1593"/>
              <a:chExt cx="931" cy="1163"/>
            </a:xfrm>
          </p:grpSpPr>
          <p:pic>
            <p:nvPicPr>
              <p:cNvPr id="64" name="Picture 43"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Oval 44"/>
              <p:cNvSpPr>
                <a:spLocks noChangeArrowheads="1"/>
              </p:cNvSpPr>
              <p:nvPr/>
            </p:nvSpPr>
            <p:spPr bwMode="gray">
              <a:xfrm>
                <a:off x="3975" y="1593"/>
                <a:ext cx="931" cy="938"/>
              </a:xfrm>
              <a:prstGeom prst="ellipse">
                <a:avLst/>
              </a:prstGeom>
              <a:solidFill>
                <a:srgbClr val="C0504D">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pic>
            <p:nvPicPr>
              <p:cNvPr id="66" name="Picture 45" descr="light_shadow1"/>
              <p:cNvPicPr>
                <a:picLocks noChangeAspect="1" noChangeArrowheads="1"/>
              </p:cNvPicPr>
              <p:nvPr/>
            </p:nvPicPr>
            <p:blipFill>
              <a:blip r:embed="rId4">
                <a:extLst>
                  <a:ext uri="{28A0092B-C50C-407E-A947-70E740481C1C}">
                    <a14:useLocalDpi xmlns:a14="http://schemas.microsoft.com/office/drawing/2010/main" val="0"/>
                  </a:ext>
                </a:extLst>
              </a:blip>
              <a:srcRect t="14285"/>
              <a:stretch>
                <a:fillRect/>
              </a:stretch>
            </p:blipFill>
            <p:spPr bwMode="auto">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7" name="Group 46"/>
              <p:cNvGrpSpPr/>
              <p:nvPr/>
            </p:nvGrpSpPr>
            <p:grpSpPr bwMode="auto">
              <a:xfrm rot="-3733502" flipH="1" flipV="1">
                <a:off x="4256" y="2247"/>
                <a:ext cx="820" cy="198"/>
                <a:chOff x="2532" y="1051"/>
                <a:chExt cx="893" cy="246"/>
              </a:xfrm>
            </p:grpSpPr>
            <p:grpSp>
              <p:nvGrpSpPr>
                <p:cNvPr id="68" name="Group 47"/>
                <p:cNvGrpSpPr/>
                <p:nvPr/>
              </p:nvGrpSpPr>
              <p:grpSpPr bwMode="auto">
                <a:xfrm>
                  <a:off x="2532" y="1051"/>
                  <a:ext cx="743" cy="185"/>
                  <a:chOff x="1565" y="2568"/>
                  <a:chExt cx="1118" cy="279"/>
                </a:xfrm>
              </p:grpSpPr>
              <p:sp>
                <p:nvSpPr>
                  <p:cNvPr id="74" name="AutoShape 48"/>
                  <p:cNvSpPr>
                    <a:spLocks noChangeArrowheads="1"/>
                  </p:cNvSpPr>
                  <p:nvPr/>
                </p:nvSpPr>
                <p:spPr bwMode="white">
                  <a:xfrm rot="5263130">
                    <a:off x="1814" y="2378"/>
                    <a:ext cx="233" cy="798"/>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75" name="AutoShape 49"/>
                  <p:cNvSpPr>
                    <a:spLocks noChangeArrowheads="1"/>
                  </p:cNvSpPr>
                  <p:nvPr/>
                </p:nvSpPr>
                <p:spPr bwMode="white">
                  <a:xfrm rot="6078281">
                    <a:off x="1938" y="2385"/>
                    <a:ext cx="233" cy="782"/>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76" name="AutoShape 50"/>
                  <p:cNvSpPr>
                    <a:spLocks noChangeArrowheads="1"/>
                  </p:cNvSpPr>
                  <p:nvPr/>
                </p:nvSpPr>
                <p:spPr bwMode="white">
                  <a:xfrm rot="6373927">
                    <a:off x="2011" y="2412"/>
                    <a:ext cx="239" cy="774"/>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77" name="AutoShape 51"/>
                  <p:cNvSpPr>
                    <a:spLocks noChangeArrowheads="1"/>
                  </p:cNvSpPr>
                  <p:nvPr/>
                </p:nvSpPr>
                <p:spPr bwMode="white">
                  <a:xfrm rot="6906312">
                    <a:off x="2110" y="2439"/>
                    <a:ext cx="246" cy="77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69" name="Group 52"/>
                <p:cNvGrpSpPr/>
                <p:nvPr/>
              </p:nvGrpSpPr>
              <p:grpSpPr bwMode="auto">
                <a:xfrm rot="1353540">
                  <a:off x="2682" y="1111"/>
                  <a:ext cx="743" cy="186"/>
                  <a:chOff x="1565" y="2568"/>
                  <a:chExt cx="1118" cy="279"/>
                </a:xfrm>
              </p:grpSpPr>
              <p:sp>
                <p:nvSpPr>
                  <p:cNvPr id="70" name="AutoShape 53"/>
                  <p:cNvSpPr>
                    <a:spLocks noChangeArrowheads="1"/>
                  </p:cNvSpPr>
                  <p:nvPr/>
                </p:nvSpPr>
                <p:spPr bwMode="white">
                  <a:xfrm rot="5263130">
                    <a:off x="1841" y="2395"/>
                    <a:ext cx="255" cy="790"/>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71" name="AutoShape 54"/>
                  <p:cNvSpPr>
                    <a:spLocks noChangeArrowheads="1"/>
                  </p:cNvSpPr>
                  <p:nvPr/>
                </p:nvSpPr>
                <p:spPr bwMode="white">
                  <a:xfrm rot="6078281">
                    <a:off x="1977" y="2396"/>
                    <a:ext cx="255" cy="79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72" name="AutoShape 55"/>
                  <p:cNvSpPr>
                    <a:spLocks noChangeArrowheads="1"/>
                  </p:cNvSpPr>
                  <p:nvPr/>
                </p:nvSpPr>
                <p:spPr bwMode="white">
                  <a:xfrm rot="6373927">
                    <a:off x="2040" y="2426"/>
                    <a:ext cx="258" cy="79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73" name="AutoShape 56"/>
                  <p:cNvSpPr>
                    <a:spLocks noChangeArrowheads="1"/>
                  </p:cNvSpPr>
                  <p:nvPr/>
                </p:nvSpPr>
                <p:spPr bwMode="white">
                  <a:xfrm rot="6906312">
                    <a:off x="2130" y="2466"/>
                    <a:ext cx="260" cy="79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grpSp>
        <p:grpSp>
          <p:nvGrpSpPr>
            <p:cNvPr id="52" name="Group 57"/>
            <p:cNvGrpSpPr/>
            <p:nvPr/>
          </p:nvGrpSpPr>
          <p:grpSpPr bwMode="auto">
            <a:xfrm rot="-3733502" flipH="1" flipV="1">
              <a:off x="2360" y="1503"/>
              <a:ext cx="527" cy="128"/>
              <a:chOff x="2532" y="1051"/>
              <a:chExt cx="893" cy="246"/>
            </a:xfrm>
          </p:grpSpPr>
          <p:grpSp>
            <p:nvGrpSpPr>
              <p:cNvPr id="54" name="Group 58"/>
              <p:cNvGrpSpPr/>
              <p:nvPr/>
            </p:nvGrpSpPr>
            <p:grpSpPr bwMode="auto">
              <a:xfrm>
                <a:off x="2532" y="1051"/>
                <a:ext cx="743" cy="185"/>
                <a:chOff x="1565" y="2568"/>
                <a:chExt cx="1118" cy="279"/>
              </a:xfrm>
            </p:grpSpPr>
            <p:sp>
              <p:nvSpPr>
                <p:cNvPr id="60" name="AutoShape 59"/>
                <p:cNvSpPr>
                  <a:spLocks noChangeArrowheads="1"/>
                </p:cNvSpPr>
                <p:nvPr/>
              </p:nvSpPr>
              <p:spPr bwMode="white">
                <a:xfrm rot="5263130">
                  <a:off x="1739" y="2375"/>
                  <a:ext cx="209" cy="766"/>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61" name="AutoShape 60"/>
                <p:cNvSpPr>
                  <a:spLocks noChangeArrowheads="1"/>
                </p:cNvSpPr>
                <p:nvPr/>
              </p:nvSpPr>
              <p:spPr bwMode="white">
                <a:xfrm rot="6078281">
                  <a:off x="1864" y="2376"/>
                  <a:ext cx="212" cy="772"/>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62" name="AutoShape 61"/>
                <p:cNvSpPr>
                  <a:spLocks noChangeArrowheads="1"/>
                </p:cNvSpPr>
                <p:nvPr/>
              </p:nvSpPr>
              <p:spPr bwMode="white">
                <a:xfrm rot="6373927">
                  <a:off x="1930" y="2394"/>
                  <a:ext cx="212" cy="76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63" name="AutoShape 62"/>
                <p:cNvSpPr>
                  <a:spLocks noChangeArrowheads="1"/>
                </p:cNvSpPr>
                <p:nvPr/>
              </p:nvSpPr>
              <p:spPr bwMode="white">
                <a:xfrm rot="6906312">
                  <a:off x="2024" y="2432"/>
                  <a:ext cx="212" cy="75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55" name="Group 63"/>
              <p:cNvGrpSpPr/>
              <p:nvPr/>
            </p:nvGrpSpPr>
            <p:grpSpPr bwMode="auto">
              <a:xfrm rot="1353540">
                <a:off x="2682" y="1111"/>
                <a:ext cx="743" cy="186"/>
                <a:chOff x="1565" y="2568"/>
                <a:chExt cx="1118" cy="279"/>
              </a:xfrm>
            </p:grpSpPr>
            <p:sp>
              <p:nvSpPr>
                <p:cNvPr id="56" name="AutoShape 64"/>
                <p:cNvSpPr>
                  <a:spLocks noChangeArrowheads="1"/>
                </p:cNvSpPr>
                <p:nvPr/>
              </p:nvSpPr>
              <p:spPr bwMode="white">
                <a:xfrm rot="5263130">
                  <a:off x="1794" y="2419"/>
                  <a:ext cx="248" cy="756"/>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57" name="AutoShape 65"/>
                <p:cNvSpPr>
                  <a:spLocks noChangeArrowheads="1"/>
                </p:cNvSpPr>
                <p:nvPr/>
              </p:nvSpPr>
              <p:spPr bwMode="white">
                <a:xfrm rot="6078281">
                  <a:off x="1925" y="2426"/>
                  <a:ext cx="239" cy="76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58" name="AutoShape 66"/>
                <p:cNvSpPr>
                  <a:spLocks noChangeArrowheads="1"/>
                </p:cNvSpPr>
                <p:nvPr/>
              </p:nvSpPr>
              <p:spPr bwMode="white">
                <a:xfrm rot="6373927">
                  <a:off x="1988" y="2438"/>
                  <a:ext cx="242" cy="76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59" name="AutoShape 67"/>
                <p:cNvSpPr>
                  <a:spLocks noChangeArrowheads="1"/>
                </p:cNvSpPr>
                <p:nvPr/>
              </p:nvSpPr>
              <p:spPr bwMode="white">
                <a:xfrm rot="6906312">
                  <a:off x="2070" y="2468"/>
                  <a:ext cx="242" cy="76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sp>
          <p:nvSpPr>
            <p:cNvPr id="53" name="Rectangle 68"/>
            <p:cNvSpPr>
              <a:spLocks noChangeArrowheads="1"/>
            </p:cNvSpPr>
            <p:nvPr/>
          </p:nvSpPr>
          <p:spPr bwMode="gray">
            <a:xfrm>
              <a:off x="2050" y="1272"/>
              <a:ext cx="763" cy="303"/>
            </a:xfrm>
            <a:prstGeom prst="rect">
              <a:avLst/>
            </a:prstGeom>
            <a:noFill/>
            <a:ln w="9525" algn="ctr">
              <a:noFill/>
              <a:miter lim="800000"/>
            </a:ln>
            <a:effectLst/>
          </p:spPr>
          <p:txBody>
            <a:bodyPr wrap="none">
              <a:spAutoFit/>
              <a:flatTx/>
            </a:bodyPr>
            <a:lstStyle/>
            <a:p>
              <a:pPr algn="ctr" fontAlgn="auto">
                <a:spcBef>
                  <a:spcPts val="0"/>
                </a:spcBef>
                <a:spcAft>
                  <a:spcPts val="0"/>
                </a:spcAft>
                <a:buFontTx/>
                <a:buNone/>
                <a:defRPr/>
              </a:pPr>
              <a:r>
                <a:rPr lang="zh-CN" altLang="en-US" sz="2000" b="1" kern="0" dirty="0">
                  <a:solidFill>
                    <a:srgbClr val="000000"/>
                  </a:solidFill>
                  <a:latin typeface="微软雅黑" panose="020B0503020204020204" charset="-122"/>
                  <a:ea typeface="微软雅黑" panose="020B0503020204020204" charset="-122"/>
                </a:rPr>
                <a:t>邻区影响</a:t>
              </a:r>
              <a:endParaRPr lang="en-US" altLang="zh-CN" sz="2000" b="1" kern="0" dirty="0">
                <a:solidFill>
                  <a:srgbClr val="000000"/>
                </a:solidFill>
                <a:latin typeface="微软雅黑" panose="020B0503020204020204" charset="-122"/>
                <a:ea typeface="微软雅黑" panose="020B0503020204020204" charset="-122"/>
              </a:endParaRPr>
            </a:p>
          </p:txBody>
        </p:sp>
      </p:grpSp>
      <p:grpSp>
        <p:nvGrpSpPr>
          <p:cNvPr id="78" name="Group 69"/>
          <p:cNvGrpSpPr/>
          <p:nvPr/>
        </p:nvGrpSpPr>
        <p:grpSpPr bwMode="auto">
          <a:xfrm>
            <a:off x="5114471" y="4911072"/>
            <a:ext cx="1211263" cy="1152525"/>
            <a:chOff x="2050" y="1008"/>
            <a:chExt cx="763" cy="872"/>
          </a:xfrm>
        </p:grpSpPr>
        <p:sp>
          <p:nvSpPr>
            <p:cNvPr id="79" name="Oval 70"/>
            <p:cNvSpPr>
              <a:spLocks noChangeArrowheads="1"/>
            </p:cNvSpPr>
            <p:nvPr/>
          </p:nvSpPr>
          <p:spPr bwMode="gray">
            <a:xfrm>
              <a:off x="2064" y="1008"/>
              <a:ext cx="722" cy="727"/>
            </a:xfrm>
            <a:prstGeom prst="ellipse">
              <a:avLst/>
            </a:prstGeom>
            <a:solidFill>
              <a:srgbClr val="EAEAEA">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nvGrpSpPr>
            <p:cNvPr id="80" name="Group 71"/>
            <p:cNvGrpSpPr/>
            <p:nvPr/>
          </p:nvGrpSpPr>
          <p:grpSpPr bwMode="auto">
            <a:xfrm>
              <a:off x="2086" y="1031"/>
              <a:ext cx="680" cy="849"/>
              <a:chOff x="3975" y="1593"/>
              <a:chExt cx="931" cy="1163"/>
            </a:xfrm>
          </p:grpSpPr>
          <p:pic>
            <p:nvPicPr>
              <p:cNvPr id="93" name="Picture 72"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Oval 73"/>
              <p:cNvSpPr>
                <a:spLocks noChangeArrowheads="1"/>
              </p:cNvSpPr>
              <p:nvPr/>
            </p:nvSpPr>
            <p:spPr bwMode="gray">
              <a:xfrm>
                <a:off x="3975" y="1593"/>
                <a:ext cx="931" cy="938"/>
              </a:xfrm>
              <a:prstGeom prst="ellipse">
                <a:avLst/>
              </a:prstGeom>
              <a:solidFill>
                <a:srgbClr val="4F81BD">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pic>
            <p:nvPicPr>
              <p:cNvPr id="95" name="Picture 74" descr="light_shadow1"/>
              <p:cNvPicPr>
                <a:picLocks noChangeAspect="1" noChangeArrowheads="1"/>
              </p:cNvPicPr>
              <p:nvPr/>
            </p:nvPicPr>
            <p:blipFill>
              <a:blip r:embed="rId4">
                <a:extLst>
                  <a:ext uri="{28A0092B-C50C-407E-A947-70E740481C1C}">
                    <a14:useLocalDpi xmlns:a14="http://schemas.microsoft.com/office/drawing/2010/main" val="0"/>
                  </a:ext>
                </a:extLst>
              </a:blip>
              <a:srcRect t="14285"/>
              <a:stretch>
                <a:fillRect/>
              </a:stretch>
            </p:blipFill>
            <p:spPr bwMode="auto">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6" name="Group 75"/>
              <p:cNvGrpSpPr/>
              <p:nvPr/>
            </p:nvGrpSpPr>
            <p:grpSpPr bwMode="auto">
              <a:xfrm rot="-3733502" flipH="1" flipV="1">
                <a:off x="4256" y="2247"/>
                <a:ext cx="820" cy="198"/>
                <a:chOff x="2532" y="1051"/>
                <a:chExt cx="893" cy="246"/>
              </a:xfrm>
            </p:grpSpPr>
            <p:grpSp>
              <p:nvGrpSpPr>
                <p:cNvPr id="97" name="Group 76"/>
                <p:cNvGrpSpPr/>
                <p:nvPr/>
              </p:nvGrpSpPr>
              <p:grpSpPr bwMode="auto">
                <a:xfrm>
                  <a:off x="2532" y="1051"/>
                  <a:ext cx="743" cy="185"/>
                  <a:chOff x="1565" y="2568"/>
                  <a:chExt cx="1118" cy="279"/>
                </a:xfrm>
              </p:grpSpPr>
              <p:sp>
                <p:nvSpPr>
                  <p:cNvPr id="103" name="AutoShape 77"/>
                  <p:cNvSpPr>
                    <a:spLocks noChangeArrowheads="1"/>
                  </p:cNvSpPr>
                  <p:nvPr/>
                </p:nvSpPr>
                <p:spPr bwMode="white">
                  <a:xfrm rot="5263130">
                    <a:off x="1814" y="2378"/>
                    <a:ext cx="233" cy="798"/>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04" name="AutoShape 78"/>
                  <p:cNvSpPr>
                    <a:spLocks noChangeArrowheads="1"/>
                  </p:cNvSpPr>
                  <p:nvPr/>
                </p:nvSpPr>
                <p:spPr bwMode="white">
                  <a:xfrm rot="6078281">
                    <a:off x="1938" y="2385"/>
                    <a:ext cx="233" cy="782"/>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05" name="AutoShape 79"/>
                  <p:cNvSpPr>
                    <a:spLocks noChangeArrowheads="1"/>
                  </p:cNvSpPr>
                  <p:nvPr/>
                </p:nvSpPr>
                <p:spPr bwMode="white">
                  <a:xfrm rot="6373927">
                    <a:off x="2011" y="2412"/>
                    <a:ext cx="239" cy="774"/>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06" name="AutoShape 80"/>
                  <p:cNvSpPr>
                    <a:spLocks noChangeArrowheads="1"/>
                  </p:cNvSpPr>
                  <p:nvPr/>
                </p:nvSpPr>
                <p:spPr bwMode="white">
                  <a:xfrm rot="6906312">
                    <a:off x="2110" y="2439"/>
                    <a:ext cx="246" cy="77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98" name="Group 81"/>
                <p:cNvGrpSpPr/>
                <p:nvPr/>
              </p:nvGrpSpPr>
              <p:grpSpPr bwMode="auto">
                <a:xfrm rot="1353540">
                  <a:off x="2682" y="1111"/>
                  <a:ext cx="743" cy="186"/>
                  <a:chOff x="1565" y="2568"/>
                  <a:chExt cx="1118" cy="279"/>
                </a:xfrm>
              </p:grpSpPr>
              <p:sp>
                <p:nvSpPr>
                  <p:cNvPr id="99" name="AutoShape 82"/>
                  <p:cNvSpPr>
                    <a:spLocks noChangeArrowheads="1"/>
                  </p:cNvSpPr>
                  <p:nvPr/>
                </p:nvSpPr>
                <p:spPr bwMode="white">
                  <a:xfrm rot="5263130">
                    <a:off x="1841" y="2395"/>
                    <a:ext cx="255" cy="790"/>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00" name="AutoShape 83"/>
                  <p:cNvSpPr>
                    <a:spLocks noChangeArrowheads="1"/>
                  </p:cNvSpPr>
                  <p:nvPr/>
                </p:nvSpPr>
                <p:spPr bwMode="white">
                  <a:xfrm rot="6078281">
                    <a:off x="1977" y="2396"/>
                    <a:ext cx="255" cy="79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01" name="AutoShape 84"/>
                  <p:cNvSpPr>
                    <a:spLocks noChangeArrowheads="1"/>
                  </p:cNvSpPr>
                  <p:nvPr/>
                </p:nvSpPr>
                <p:spPr bwMode="white">
                  <a:xfrm rot="6373927">
                    <a:off x="2040" y="2426"/>
                    <a:ext cx="258" cy="79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02" name="AutoShape 85"/>
                  <p:cNvSpPr>
                    <a:spLocks noChangeArrowheads="1"/>
                  </p:cNvSpPr>
                  <p:nvPr/>
                </p:nvSpPr>
                <p:spPr bwMode="white">
                  <a:xfrm rot="6906312">
                    <a:off x="2130" y="2466"/>
                    <a:ext cx="260" cy="79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grpSp>
        <p:grpSp>
          <p:nvGrpSpPr>
            <p:cNvPr id="81" name="Group 86"/>
            <p:cNvGrpSpPr/>
            <p:nvPr/>
          </p:nvGrpSpPr>
          <p:grpSpPr bwMode="auto">
            <a:xfrm rot="-3733502" flipH="1" flipV="1">
              <a:off x="2360" y="1503"/>
              <a:ext cx="527" cy="128"/>
              <a:chOff x="2532" y="1051"/>
              <a:chExt cx="893" cy="246"/>
            </a:xfrm>
          </p:grpSpPr>
          <p:grpSp>
            <p:nvGrpSpPr>
              <p:cNvPr id="83" name="Group 87"/>
              <p:cNvGrpSpPr/>
              <p:nvPr/>
            </p:nvGrpSpPr>
            <p:grpSpPr bwMode="auto">
              <a:xfrm>
                <a:off x="2532" y="1051"/>
                <a:ext cx="743" cy="185"/>
                <a:chOff x="1565" y="2568"/>
                <a:chExt cx="1118" cy="279"/>
              </a:xfrm>
            </p:grpSpPr>
            <p:sp>
              <p:nvSpPr>
                <p:cNvPr id="89" name="AutoShape 88"/>
                <p:cNvSpPr>
                  <a:spLocks noChangeArrowheads="1"/>
                </p:cNvSpPr>
                <p:nvPr/>
              </p:nvSpPr>
              <p:spPr bwMode="white">
                <a:xfrm rot="5263130">
                  <a:off x="1739" y="2375"/>
                  <a:ext cx="209" cy="766"/>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90" name="AutoShape 89"/>
                <p:cNvSpPr>
                  <a:spLocks noChangeArrowheads="1"/>
                </p:cNvSpPr>
                <p:nvPr/>
              </p:nvSpPr>
              <p:spPr bwMode="white">
                <a:xfrm rot="6078281">
                  <a:off x="1864" y="2376"/>
                  <a:ext cx="212" cy="772"/>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91" name="AutoShape 90"/>
                <p:cNvSpPr>
                  <a:spLocks noChangeArrowheads="1"/>
                </p:cNvSpPr>
                <p:nvPr/>
              </p:nvSpPr>
              <p:spPr bwMode="white">
                <a:xfrm rot="6373927">
                  <a:off x="1930" y="2394"/>
                  <a:ext cx="212" cy="76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92" name="AutoShape 91"/>
                <p:cNvSpPr>
                  <a:spLocks noChangeArrowheads="1"/>
                </p:cNvSpPr>
                <p:nvPr/>
              </p:nvSpPr>
              <p:spPr bwMode="white">
                <a:xfrm rot="6906312">
                  <a:off x="2024" y="2432"/>
                  <a:ext cx="212" cy="75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84" name="Group 92"/>
              <p:cNvGrpSpPr/>
              <p:nvPr/>
            </p:nvGrpSpPr>
            <p:grpSpPr bwMode="auto">
              <a:xfrm rot="1353540">
                <a:off x="2682" y="1111"/>
                <a:ext cx="743" cy="186"/>
                <a:chOff x="1565" y="2568"/>
                <a:chExt cx="1118" cy="279"/>
              </a:xfrm>
            </p:grpSpPr>
            <p:sp>
              <p:nvSpPr>
                <p:cNvPr id="85" name="AutoShape 93"/>
                <p:cNvSpPr>
                  <a:spLocks noChangeArrowheads="1"/>
                </p:cNvSpPr>
                <p:nvPr/>
              </p:nvSpPr>
              <p:spPr bwMode="white">
                <a:xfrm rot="5263130">
                  <a:off x="1794" y="2419"/>
                  <a:ext cx="248" cy="756"/>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86" name="AutoShape 94"/>
                <p:cNvSpPr>
                  <a:spLocks noChangeArrowheads="1"/>
                </p:cNvSpPr>
                <p:nvPr/>
              </p:nvSpPr>
              <p:spPr bwMode="white">
                <a:xfrm rot="6078281">
                  <a:off x="1925" y="2426"/>
                  <a:ext cx="239" cy="76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87" name="AutoShape 95"/>
                <p:cNvSpPr>
                  <a:spLocks noChangeArrowheads="1"/>
                </p:cNvSpPr>
                <p:nvPr/>
              </p:nvSpPr>
              <p:spPr bwMode="white">
                <a:xfrm rot="6373927">
                  <a:off x="1988" y="2438"/>
                  <a:ext cx="242" cy="76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88" name="AutoShape 96"/>
                <p:cNvSpPr>
                  <a:spLocks noChangeArrowheads="1"/>
                </p:cNvSpPr>
                <p:nvPr/>
              </p:nvSpPr>
              <p:spPr bwMode="white">
                <a:xfrm rot="6906312">
                  <a:off x="2070" y="2468"/>
                  <a:ext cx="242" cy="76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sp>
          <p:nvSpPr>
            <p:cNvPr id="82" name="Rectangle 97"/>
            <p:cNvSpPr>
              <a:spLocks noChangeArrowheads="1"/>
            </p:cNvSpPr>
            <p:nvPr/>
          </p:nvSpPr>
          <p:spPr bwMode="gray">
            <a:xfrm>
              <a:off x="2050" y="1272"/>
              <a:ext cx="763" cy="303"/>
            </a:xfrm>
            <a:prstGeom prst="rect">
              <a:avLst/>
            </a:prstGeom>
            <a:noFill/>
            <a:ln w="9525" algn="ctr">
              <a:noFill/>
              <a:miter lim="800000"/>
            </a:ln>
            <a:effectLst/>
          </p:spPr>
          <p:txBody>
            <a:bodyPr wrap="none">
              <a:spAutoFit/>
              <a:flatTx/>
            </a:bodyPr>
            <a:lstStyle/>
            <a:p>
              <a:pPr algn="ctr" fontAlgn="auto">
                <a:spcBef>
                  <a:spcPts val="0"/>
                </a:spcBef>
                <a:spcAft>
                  <a:spcPts val="0"/>
                </a:spcAft>
                <a:buFontTx/>
                <a:buNone/>
                <a:defRPr/>
              </a:pPr>
              <a:r>
                <a:rPr lang="zh-CN" altLang="en-US" sz="2000" b="1" kern="0" dirty="0">
                  <a:solidFill>
                    <a:srgbClr val="000000"/>
                  </a:solidFill>
                  <a:latin typeface="微软雅黑" panose="020B0503020204020204" charset="-122"/>
                  <a:ea typeface="微软雅黑" panose="020B0503020204020204" charset="-122"/>
                </a:rPr>
                <a:t>模三要求</a:t>
              </a:r>
              <a:endParaRPr lang="en-US" altLang="zh-CN" sz="2000" b="1" kern="0" dirty="0">
                <a:solidFill>
                  <a:srgbClr val="000000"/>
                </a:solidFill>
                <a:latin typeface="微软雅黑" panose="020B0503020204020204" charset="-122"/>
                <a:ea typeface="微软雅黑" panose="020B0503020204020204" charset="-122"/>
              </a:endParaRPr>
            </a:p>
          </p:txBody>
        </p:sp>
      </p:grpSp>
      <p:grpSp>
        <p:nvGrpSpPr>
          <p:cNvPr id="107" name="Group 98"/>
          <p:cNvGrpSpPr/>
          <p:nvPr/>
        </p:nvGrpSpPr>
        <p:grpSpPr bwMode="auto">
          <a:xfrm>
            <a:off x="7359196" y="3695047"/>
            <a:ext cx="1211263" cy="1154113"/>
            <a:chOff x="2050" y="1008"/>
            <a:chExt cx="763" cy="872"/>
          </a:xfrm>
        </p:grpSpPr>
        <p:sp>
          <p:nvSpPr>
            <p:cNvPr id="108" name="Oval 99"/>
            <p:cNvSpPr>
              <a:spLocks noChangeArrowheads="1"/>
            </p:cNvSpPr>
            <p:nvPr/>
          </p:nvSpPr>
          <p:spPr bwMode="gray">
            <a:xfrm>
              <a:off x="2064" y="1008"/>
              <a:ext cx="722" cy="727"/>
            </a:xfrm>
            <a:prstGeom prst="ellipse">
              <a:avLst/>
            </a:prstGeom>
            <a:solidFill>
              <a:srgbClr val="EAEAEA">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nvGrpSpPr>
            <p:cNvPr id="109" name="Group 100"/>
            <p:cNvGrpSpPr/>
            <p:nvPr/>
          </p:nvGrpSpPr>
          <p:grpSpPr bwMode="auto">
            <a:xfrm>
              <a:off x="2086" y="1031"/>
              <a:ext cx="680" cy="849"/>
              <a:chOff x="3975" y="1593"/>
              <a:chExt cx="931" cy="1163"/>
            </a:xfrm>
          </p:grpSpPr>
          <p:pic>
            <p:nvPicPr>
              <p:cNvPr id="122" name="Picture 101"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 name="Oval 102"/>
              <p:cNvSpPr>
                <a:spLocks noChangeArrowheads="1"/>
              </p:cNvSpPr>
              <p:nvPr/>
            </p:nvSpPr>
            <p:spPr bwMode="gray">
              <a:xfrm>
                <a:off x="3975" y="1593"/>
                <a:ext cx="931" cy="937"/>
              </a:xfrm>
              <a:prstGeom prst="ellipse">
                <a:avLst/>
              </a:prstGeom>
              <a:solidFill>
                <a:srgbClr val="969696">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pic>
            <p:nvPicPr>
              <p:cNvPr id="124" name="Picture 103" descr="light_shadow1"/>
              <p:cNvPicPr>
                <a:picLocks noChangeAspect="1" noChangeArrowheads="1"/>
              </p:cNvPicPr>
              <p:nvPr/>
            </p:nvPicPr>
            <p:blipFill>
              <a:blip r:embed="rId5">
                <a:extLst>
                  <a:ext uri="{28A0092B-C50C-407E-A947-70E740481C1C}">
                    <a14:useLocalDpi xmlns:a14="http://schemas.microsoft.com/office/drawing/2010/main" val="0"/>
                  </a:ext>
                </a:extLst>
              </a:blip>
              <a:srcRect t="14285"/>
              <a:stretch>
                <a:fillRect/>
              </a:stretch>
            </p:blipFill>
            <p:spPr bwMode="auto">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5" name="Group 104"/>
              <p:cNvGrpSpPr/>
              <p:nvPr/>
            </p:nvGrpSpPr>
            <p:grpSpPr bwMode="auto">
              <a:xfrm rot="-3733502" flipH="1" flipV="1">
                <a:off x="4256" y="2247"/>
                <a:ext cx="820" cy="198"/>
                <a:chOff x="2532" y="1051"/>
                <a:chExt cx="893" cy="246"/>
              </a:xfrm>
            </p:grpSpPr>
            <p:grpSp>
              <p:nvGrpSpPr>
                <p:cNvPr id="126" name="Group 105"/>
                <p:cNvGrpSpPr/>
                <p:nvPr/>
              </p:nvGrpSpPr>
              <p:grpSpPr bwMode="auto">
                <a:xfrm>
                  <a:off x="2532" y="1051"/>
                  <a:ext cx="743" cy="185"/>
                  <a:chOff x="1565" y="2568"/>
                  <a:chExt cx="1118" cy="279"/>
                </a:xfrm>
              </p:grpSpPr>
              <p:sp>
                <p:nvSpPr>
                  <p:cNvPr id="132" name="AutoShape 106"/>
                  <p:cNvSpPr>
                    <a:spLocks noChangeArrowheads="1"/>
                  </p:cNvSpPr>
                  <p:nvPr/>
                </p:nvSpPr>
                <p:spPr bwMode="white">
                  <a:xfrm rot="5263130">
                    <a:off x="1871" y="2367"/>
                    <a:ext cx="236" cy="800"/>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33" name="AutoShape 107"/>
                  <p:cNvSpPr>
                    <a:spLocks noChangeArrowheads="1"/>
                  </p:cNvSpPr>
                  <p:nvPr/>
                </p:nvSpPr>
                <p:spPr bwMode="white">
                  <a:xfrm rot="6078281">
                    <a:off x="1988" y="2354"/>
                    <a:ext cx="233" cy="816"/>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34" name="AutoShape 108"/>
                  <p:cNvSpPr>
                    <a:spLocks noChangeArrowheads="1"/>
                  </p:cNvSpPr>
                  <p:nvPr/>
                </p:nvSpPr>
                <p:spPr bwMode="white">
                  <a:xfrm rot="6373927">
                    <a:off x="2103" y="2383"/>
                    <a:ext cx="228" cy="808"/>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35" name="AutoShape 109"/>
                  <p:cNvSpPr>
                    <a:spLocks noChangeArrowheads="1"/>
                  </p:cNvSpPr>
                  <p:nvPr/>
                </p:nvSpPr>
                <p:spPr bwMode="white">
                  <a:xfrm rot="6906312">
                    <a:off x="2159" y="2387"/>
                    <a:ext cx="233" cy="808"/>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127" name="Group 110"/>
                <p:cNvGrpSpPr/>
                <p:nvPr/>
              </p:nvGrpSpPr>
              <p:grpSpPr bwMode="auto">
                <a:xfrm rot="1353540">
                  <a:off x="2682" y="1111"/>
                  <a:ext cx="743" cy="186"/>
                  <a:chOff x="1565" y="2568"/>
                  <a:chExt cx="1118" cy="279"/>
                </a:xfrm>
              </p:grpSpPr>
              <p:sp>
                <p:nvSpPr>
                  <p:cNvPr id="128" name="AutoShape 111"/>
                  <p:cNvSpPr>
                    <a:spLocks noChangeArrowheads="1"/>
                  </p:cNvSpPr>
                  <p:nvPr/>
                </p:nvSpPr>
                <p:spPr bwMode="white">
                  <a:xfrm rot="5263130">
                    <a:off x="1884" y="2373"/>
                    <a:ext cx="265" cy="808"/>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29" name="AutoShape 112"/>
                  <p:cNvSpPr>
                    <a:spLocks noChangeArrowheads="1"/>
                  </p:cNvSpPr>
                  <p:nvPr/>
                </p:nvSpPr>
                <p:spPr bwMode="white">
                  <a:xfrm rot="6078281">
                    <a:off x="2020" y="2365"/>
                    <a:ext cx="263" cy="800"/>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30" name="AutoShape 113"/>
                  <p:cNvSpPr>
                    <a:spLocks noChangeArrowheads="1"/>
                  </p:cNvSpPr>
                  <p:nvPr/>
                </p:nvSpPr>
                <p:spPr bwMode="white">
                  <a:xfrm rot="6373927">
                    <a:off x="2114" y="2407"/>
                    <a:ext cx="245" cy="800"/>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31" name="AutoShape 114"/>
                  <p:cNvSpPr>
                    <a:spLocks noChangeArrowheads="1"/>
                  </p:cNvSpPr>
                  <p:nvPr/>
                </p:nvSpPr>
                <p:spPr bwMode="white">
                  <a:xfrm rot="6906312">
                    <a:off x="2193" y="2434"/>
                    <a:ext cx="260" cy="808"/>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grpSp>
        <p:grpSp>
          <p:nvGrpSpPr>
            <p:cNvPr id="110" name="Group 115"/>
            <p:cNvGrpSpPr/>
            <p:nvPr/>
          </p:nvGrpSpPr>
          <p:grpSpPr bwMode="auto">
            <a:xfrm rot="-3733502" flipH="1" flipV="1">
              <a:off x="2360" y="1503"/>
              <a:ext cx="527" cy="128"/>
              <a:chOff x="2532" y="1051"/>
              <a:chExt cx="893" cy="246"/>
            </a:xfrm>
          </p:grpSpPr>
          <p:grpSp>
            <p:nvGrpSpPr>
              <p:cNvPr id="112" name="Group 116"/>
              <p:cNvGrpSpPr/>
              <p:nvPr/>
            </p:nvGrpSpPr>
            <p:grpSpPr bwMode="auto">
              <a:xfrm>
                <a:off x="2532" y="1051"/>
                <a:ext cx="743" cy="185"/>
                <a:chOff x="1565" y="2568"/>
                <a:chExt cx="1118" cy="279"/>
              </a:xfrm>
            </p:grpSpPr>
            <p:sp>
              <p:nvSpPr>
                <p:cNvPr id="118" name="AutoShape 117"/>
                <p:cNvSpPr>
                  <a:spLocks noChangeArrowheads="1"/>
                </p:cNvSpPr>
                <p:nvPr/>
              </p:nvSpPr>
              <p:spPr bwMode="white">
                <a:xfrm rot="5263130">
                  <a:off x="1805" y="2335"/>
                  <a:ext cx="212" cy="79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19" name="AutoShape 118"/>
                <p:cNvSpPr>
                  <a:spLocks noChangeArrowheads="1"/>
                </p:cNvSpPr>
                <p:nvPr/>
              </p:nvSpPr>
              <p:spPr bwMode="white">
                <a:xfrm rot="6078281">
                  <a:off x="1947" y="2345"/>
                  <a:ext cx="209" cy="79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20" name="AutoShape 119"/>
                <p:cNvSpPr>
                  <a:spLocks noChangeArrowheads="1"/>
                </p:cNvSpPr>
                <p:nvPr/>
              </p:nvSpPr>
              <p:spPr bwMode="white">
                <a:xfrm rot="6373927">
                  <a:off x="2032" y="2344"/>
                  <a:ext cx="223" cy="79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21" name="AutoShape 120"/>
                <p:cNvSpPr>
                  <a:spLocks noChangeArrowheads="1"/>
                </p:cNvSpPr>
                <p:nvPr/>
              </p:nvSpPr>
              <p:spPr bwMode="white">
                <a:xfrm rot="6906312">
                  <a:off x="2091" y="2390"/>
                  <a:ext cx="212" cy="78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113" name="Group 121"/>
              <p:cNvGrpSpPr/>
              <p:nvPr/>
            </p:nvGrpSpPr>
            <p:grpSpPr bwMode="auto">
              <a:xfrm rot="1353540">
                <a:off x="2682" y="1111"/>
                <a:ext cx="743" cy="186"/>
                <a:chOff x="1565" y="2568"/>
                <a:chExt cx="1118" cy="279"/>
              </a:xfrm>
            </p:grpSpPr>
            <p:sp>
              <p:nvSpPr>
                <p:cNvPr id="114" name="AutoShape 122"/>
                <p:cNvSpPr>
                  <a:spLocks noChangeArrowheads="1"/>
                </p:cNvSpPr>
                <p:nvPr/>
              </p:nvSpPr>
              <p:spPr bwMode="white">
                <a:xfrm rot="5263130">
                  <a:off x="1845" y="2383"/>
                  <a:ext cx="242" cy="79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15" name="AutoShape 123"/>
                <p:cNvSpPr>
                  <a:spLocks noChangeArrowheads="1"/>
                </p:cNvSpPr>
                <p:nvPr/>
              </p:nvSpPr>
              <p:spPr bwMode="white">
                <a:xfrm rot="6078281">
                  <a:off x="1981" y="2364"/>
                  <a:ext cx="242" cy="814"/>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16" name="AutoShape 124"/>
                <p:cNvSpPr>
                  <a:spLocks noChangeArrowheads="1"/>
                </p:cNvSpPr>
                <p:nvPr/>
              </p:nvSpPr>
              <p:spPr bwMode="white">
                <a:xfrm rot="6373927">
                  <a:off x="2046" y="2423"/>
                  <a:ext cx="236" cy="771"/>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17" name="AutoShape 125"/>
                <p:cNvSpPr>
                  <a:spLocks noChangeArrowheads="1"/>
                </p:cNvSpPr>
                <p:nvPr/>
              </p:nvSpPr>
              <p:spPr bwMode="white">
                <a:xfrm rot="6906312">
                  <a:off x="2128" y="2444"/>
                  <a:ext cx="245" cy="777"/>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sp>
          <p:nvSpPr>
            <p:cNvPr id="111" name="Rectangle 126"/>
            <p:cNvSpPr>
              <a:spLocks noChangeArrowheads="1"/>
            </p:cNvSpPr>
            <p:nvPr/>
          </p:nvSpPr>
          <p:spPr bwMode="gray">
            <a:xfrm>
              <a:off x="2050" y="1272"/>
              <a:ext cx="763" cy="302"/>
            </a:xfrm>
            <a:prstGeom prst="rect">
              <a:avLst/>
            </a:prstGeom>
            <a:noFill/>
            <a:ln w="9525" algn="ctr">
              <a:noFill/>
              <a:miter lim="800000"/>
            </a:ln>
            <a:effectLst/>
          </p:spPr>
          <p:txBody>
            <a:bodyPr wrap="none">
              <a:spAutoFit/>
              <a:flatTx/>
            </a:bodyPr>
            <a:lstStyle/>
            <a:p>
              <a:pPr algn="ctr" fontAlgn="auto">
                <a:spcBef>
                  <a:spcPts val="0"/>
                </a:spcBef>
                <a:spcAft>
                  <a:spcPts val="0"/>
                </a:spcAft>
                <a:buFontTx/>
                <a:buNone/>
                <a:defRPr/>
              </a:pPr>
              <a:r>
                <a:rPr lang="zh-CN" altLang="en-US" sz="2000" b="1" kern="0" dirty="0">
                  <a:solidFill>
                    <a:srgbClr val="000000"/>
                  </a:solidFill>
                  <a:latin typeface="微软雅黑" panose="020B0503020204020204" charset="-122"/>
                  <a:ea typeface="微软雅黑" panose="020B0503020204020204" charset="-122"/>
                </a:rPr>
                <a:t>距离要求</a:t>
              </a:r>
              <a:endParaRPr lang="en-US" altLang="zh-CN" sz="2000" b="1" kern="0" dirty="0">
                <a:solidFill>
                  <a:srgbClr val="000000"/>
                </a:solidFill>
                <a:latin typeface="微软雅黑" panose="020B0503020204020204" charset="-122"/>
                <a:ea typeface="微软雅黑" panose="020B0503020204020204" charset="-122"/>
              </a:endParaRPr>
            </a:p>
          </p:txBody>
        </p:sp>
      </p:grpSp>
      <p:grpSp>
        <p:nvGrpSpPr>
          <p:cNvPr id="136" name="Group 127"/>
          <p:cNvGrpSpPr/>
          <p:nvPr/>
        </p:nvGrpSpPr>
        <p:grpSpPr bwMode="auto">
          <a:xfrm>
            <a:off x="7375071" y="1894822"/>
            <a:ext cx="1146175" cy="1152525"/>
            <a:chOff x="2064" y="1008"/>
            <a:chExt cx="722" cy="872"/>
          </a:xfrm>
        </p:grpSpPr>
        <p:sp>
          <p:nvSpPr>
            <p:cNvPr id="137" name="Oval 128"/>
            <p:cNvSpPr>
              <a:spLocks noChangeArrowheads="1"/>
            </p:cNvSpPr>
            <p:nvPr/>
          </p:nvSpPr>
          <p:spPr bwMode="gray">
            <a:xfrm>
              <a:off x="2064" y="1008"/>
              <a:ext cx="722" cy="727"/>
            </a:xfrm>
            <a:prstGeom prst="ellipse">
              <a:avLst/>
            </a:prstGeom>
            <a:solidFill>
              <a:srgbClr val="EAEAEA">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nvGrpSpPr>
            <p:cNvPr id="138" name="Group 129"/>
            <p:cNvGrpSpPr/>
            <p:nvPr/>
          </p:nvGrpSpPr>
          <p:grpSpPr bwMode="auto">
            <a:xfrm>
              <a:off x="2086" y="1031"/>
              <a:ext cx="680" cy="849"/>
              <a:chOff x="3975" y="1593"/>
              <a:chExt cx="931" cy="1163"/>
            </a:xfrm>
          </p:grpSpPr>
          <p:pic>
            <p:nvPicPr>
              <p:cNvPr id="151" name="Picture 130" descr="circuler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5" y="1593"/>
                <a:ext cx="925" cy="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Oval 131"/>
              <p:cNvSpPr>
                <a:spLocks noChangeArrowheads="1"/>
              </p:cNvSpPr>
              <p:nvPr/>
            </p:nvSpPr>
            <p:spPr bwMode="gray">
              <a:xfrm>
                <a:off x="3975" y="1593"/>
                <a:ext cx="931" cy="938"/>
              </a:xfrm>
              <a:prstGeom prst="ellipse">
                <a:avLst/>
              </a:prstGeom>
              <a:solidFill>
                <a:srgbClr val="8064A2">
                  <a:alpha val="50000"/>
                </a:srgbClr>
              </a:soli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pic>
            <p:nvPicPr>
              <p:cNvPr id="153" name="Picture 132" descr="light_shadow1"/>
              <p:cNvPicPr>
                <a:picLocks noChangeAspect="1" noChangeArrowheads="1"/>
              </p:cNvPicPr>
              <p:nvPr/>
            </p:nvPicPr>
            <p:blipFill>
              <a:blip r:embed="rId4">
                <a:extLst>
                  <a:ext uri="{28A0092B-C50C-407E-A947-70E740481C1C}">
                    <a14:useLocalDpi xmlns:a14="http://schemas.microsoft.com/office/drawing/2010/main" val="0"/>
                  </a:ext>
                </a:extLst>
              </a:blip>
              <a:srcRect t="14285"/>
              <a:stretch>
                <a:fillRect/>
              </a:stretch>
            </p:blipFill>
            <p:spPr bwMode="auto">
              <a:xfrm>
                <a:off x="3984" y="1632"/>
                <a:ext cx="682"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4" name="Group 133"/>
              <p:cNvGrpSpPr/>
              <p:nvPr/>
            </p:nvGrpSpPr>
            <p:grpSpPr bwMode="auto">
              <a:xfrm rot="-3733502" flipH="1" flipV="1">
                <a:off x="4256" y="2247"/>
                <a:ext cx="820" cy="198"/>
                <a:chOff x="2532" y="1051"/>
                <a:chExt cx="893" cy="246"/>
              </a:xfrm>
            </p:grpSpPr>
            <p:grpSp>
              <p:nvGrpSpPr>
                <p:cNvPr id="155" name="Group 134"/>
                <p:cNvGrpSpPr/>
                <p:nvPr/>
              </p:nvGrpSpPr>
              <p:grpSpPr bwMode="auto">
                <a:xfrm>
                  <a:off x="2532" y="1051"/>
                  <a:ext cx="743" cy="185"/>
                  <a:chOff x="1565" y="2568"/>
                  <a:chExt cx="1118" cy="279"/>
                </a:xfrm>
              </p:grpSpPr>
              <p:sp>
                <p:nvSpPr>
                  <p:cNvPr id="161" name="AutoShape 135"/>
                  <p:cNvSpPr>
                    <a:spLocks noChangeArrowheads="1"/>
                  </p:cNvSpPr>
                  <p:nvPr/>
                </p:nvSpPr>
                <p:spPr bwMode="white">
                  <a:xfrm rot="5263130">
                    <a:off x="1814" y="2378"/>
                    <a:ext cx="233" cy="798"/>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62" name="AutoShape 136"/>
                  <p:cNvSpPr>
                    <a:spLocks noChangeArrowheads="1"/>
                  </p:cNvSpPr>
                  <p:nvPr/>
                </p:nvSpPr>
                <p:spPr bwMode="white">
                  <a:xfrm rot="6078281">
                    <a:off x="1938" y="2385"/>
                    <a:ext cx="233" cy="782"/>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63" name="AutoShape 137"/>
                  <p:cNvSpPr>
                    <a:spLocks noChangeArrowheads="1"/>
                  </p:cNvSpPr>
                  <p:nvPr/>
                </p:nvSpPr>
                <p:spPr bwMode="white">
                  <a:xfrm rot="6373927">
                    <a:off x="2011" y="2412"/>
                    <a:ext cx="239" cy="774"/>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64" name="AutoShape 138"/>
                  <p:cNvSpPr>
                    <a:spLocks noChangeArrowheads="1"/>
                  </p:cNvSpPr>
                  <p:nvPr/>
                </p:nvSpPr>
                <p:spPr bwMode="white">
                  <a:xfrm rot="6906312">
                    <a:off x="2110" y="2439"/>
                    <a:ext cx="246" cy="77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156" name="Group 139"/>
                <p:cNvGrpSpPr/>
                <p:nvPr/>
              </p:nvGrpSpPr>
              <p:grpSpPr bwMode="auto">
                <a:xfrm rot="1353540">
                  <a:off x="2682" y="1111"/>
                  <a:ext cx="743" cy="186"/>
                  <a:chOff x="1565" y="2568"/>
                  <a:chExt cx="1118" cy="279"/>
                </a:xfrm>
              </p:grpSpPr>
              <p:sp>
                <p:nvSpPr>
                  <p:cNvPr id="157" name="AutoShape 140"/>
                  <p:cNvSpPr>
                    <a:spLocks noChangeArrowheads="1"/>
                  </p:cNvSpPr>
                  <p:nvPr/>
                </p:nvSpPr>
                <p:spPr bwMode="white">
                  <a:xfrm rot="5263130">
                    <a:off x="1841" y="2395"/>
                    <a:ext cx="255" cy="790"/>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58" name="AutoShape 141"/>
                  <p:cNvSpPr>
                    <a:spLocks noChangeArrowheads="1"/>
                  </p:cNvSpPr>
                  <p:nvPr/>
                </p:nvSpPr>
                <p:spPr bwMode="white">
                  <a:xfrm rot="6078281">
                    <a:off x="1977" y="2396"/>
                    <a:ext cx="255" cy="79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59" name="AutoShape 142"/>
                  <p:cNvSpPr>
                    <a:spLocks noChangeArrowheads="1"/>
                  </p:cNvSpPr>
                  <p:nvPr/>
                </p:nvSpPr>
                <p:spPr bwMode="white">
                  <a:xfrm rot="6373927">
                    <a:off x="2040" y="2426"/>
                    <a:ext cx="258" cy="79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60" name="AutoShape 143"/>
                  <p:cNvSpPr>
                    <a:spLocks noChangeArrowheads="1"/>
                  </p:cNvSpPr>
                  <p:nvPr/>
                </p:nvSpPr>
                <p:spPr bwMode="white">
                  <a:xfrm rot="6906312">
                    <a:off x="2130" y="2466"/>
                    <a:ext cx="260" cy="79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grpSp>
        <p:grpSp>
          <p:nvGrpSpPr>
            <p:cNvPr id="139" name="Group 144"/>
            <p:cNvGrpSpPr/>
            <p:nvPr/>
          </p:nvGrpSpPr>
          <p:grpSpPr bwMode="auto">
            <a:xfrm rot="-3733502" flipH="1" flipV="1">
              <a:off x="2360" y="1503"/>
              <a:ext cx="527" cy="128"/>
              <a:chOff x="2532" y="1051"/>
              <a:chExt cx="893" cy="246"/>
            </a:xfrm>
          </p:grpSpPr>
          <p:grpSp>
            <p:nvGrpSpPr>
              <p:cNvPr id="141" name="Group 145"/>
              <p:cNvGrpSpPr/>
              <p:nvPr/>
            </p:nvGrpSpPr>
            <p:grpSpPr bwMode="auto">
              <a:xfrm>
                <a:off x="2532" y="1051"/>
                <a:ext cx="743" cy="185"/>
                <a:chOff x="1565" y="2568"/>
                <a:chExt cx="1118" cy="279"/>
              </a:xfrm>
            </p:grpSpPr>
            <p:sp>
              <p:nvSpPr>
                <p:cNvPr id="147" name="AutoShape 146"/>
                <p:cNvSpPr>
                  <a:spLocks noChangeArrowheads="1"/>
                </p:cNvSpPr>
                <p:nvPr/>
              </p:nvSpPr>
              <p:spPr bwMode="white">
                <a:xfrm rot="5263130">
                  <a:off x="1739" y="2375"/>
                  <a:ext cx="209" cy="766"/>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48" name="AutoShape 147"/>
                <p:cNvSpPr>
                  <a:spLocks noChangeArrowheads="1"/>
                </p:cNvSpPr>
                <p:nvPr/>
              </p:nvSpPr>
              <p:spPr bwMode="white">
                <a:xfrm rot="6078281">
                  <a:off x="1864" y="2376"/>
                  <a:ext cx="212" cy="772"/>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49" name="AutoShape 148"/>
                <p:cNvSpPr>
                  <a:spLocks noChangeArrowheads="1"/>
                </p:cNvSpPr>
                <p:nvPr/>
              </p:nvSpPr>
              <p:spPr bwMode="white">
                <a:xfrm rot="6373927">
                  <a:off x="1930" y="2394"/>
                  <a:ext cx="212" cy="76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50" name="AutoShape 149"/>
                <p:cNvSpPr>
                  <a:spLocks noChangeArrowheads="1"/>
                </p:cNvSpPr>
                <p:nvPr/>
              </p:nvSpPr>
              <p:spPr bwMode="white">
                <a:xfrm rot="6906312">
                  <a:off x="2024" y="2432"/>
                  <a:ext cx="212" cy="75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142" name="Group 150"/>
              <p:cNvGrpSpPr/>
              <p:nvPr/>
            </p:nvGrpSpPr>
            <p:grpSpPr bwMode="auto">
              <a:xfrm rot="1353540">
                <a:off x="2682" y="1111"/>
                <a:ext cx="743" cy="186"/>
                <a:chOff x="1565" y="2568"/>
                <a:chExt cx="1118" cy="279"/>
              </a:xfrm>
            </p:grpSpPr>
            <p:sp>
              <p:nvSpPr>
                <p:cNvPr id="143" name="AutoShape 151"/>
                <p:cNvSpPr>
                  <a:spLocks noChangeArrowheads="1"/>
                </p:cNvSpPr>
                <p:nvPr/>
              </p:nvSpPr>
              <p:spPr bwMode="white">
                <a:xfrm rot="5263130">
                  <a:off x="1794" y="2419"/>
                  <a:ext cx="248" cy="756"/>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44" name="AutoShape 152"/>
                <p:cNvSpPr>
                  <a:spLocks noChangeArrowheads="1"/>
                </p:cNvSpPr>
                <p:nvPr/>
              </p:nvSpPr>
              <p:spPr bwMode="white">
                <a:xfrm rot="6078281">
                  <a:off x="1925" y="2426"/>
                  <a:ext cx="239" cy="76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45" name="AutoShape 153"/>
                <p:cNvSpPr>
                  <a:spLocks noChangeArrowheads="1"/>
                </p:cNvSpPr>
                <p:nvPr/>
              </p:nvSpPr>
              <p:spPr bwMode="white">
                <a:xfrm rot="6373927">
                  <a:off x="1988" y="2438"/>
                  <a:ext cx="242" cy="763"/>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46" name="AutoShape 154"/>
                <p:cNvSpPr>
                  <a:spLocks noChangeArrowheads="1"/>
                </p:cNvSpPr>
                <p:nvPr/>
              </p:nvSpPr>
              <p:spPr bwMode="white">
                <a:xfrm rot="6906312">
                  <a:off x="2070" y="2468"/>
                  <a:ext cx="242" cy="769"/>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sp>
          <p:nvSpPr>
            <p:cNvPr id="140" name="Rectangle 155"/>
            <p:cNvSpPr>
              <a:spLocks noChangeArrowheads="1"/>
            </p:cNvSpPr>
            <p:nvPr/>
          </p:nvSpPr>
          <p:spPr bwMode="gray">
            <a:xfrm>
              <a:off x="2179" y="1272"/>
              <a:ext cx="504" cy="348"/>
            </a:xfrm>
            <a:prstGeom prst="rect">
              <a:avLst/>
            </a:prstGeom>
            <a:noFill/>
            <a:ln w="9525" algn="ctr">
              <a:noFill/>
              <a:miter lim="800000"/>
            </a:ln>
            <a:effectLst/>
          </p:spPr>
          <p:txBody>
            <a:bodyPr wrap="none">
              <a:spAutoFit/>
              <a:flatTx/>
            </a:bodyPr>
            <a:lstStyle/>
            <a:p>
              <a:pPr algn="ctr" fontAlgn="auto">
                <a:spcBef>
                  <a:spcPts val="0"/>
                </a:spcBef>
                <a:spcAft>
                  <a:spcPts val="0"/>
                </a:spcAft>
                <a:buFontTx/>
                <a:buNone/>
                <a:defRPr/>
              </a:pPr>
              <a:r>
                <a:rPr lang="zh-CN" altLang="en-US" sz="2400" b="1" kern="0" dirty="0">
                  <a:solidFill>
                    <a:srgbClr val="000000"/>
                  </a:solidFill>
                  <a:latin typeface="微软雅黑" panose="020B0503020204020204" charset="-122"/>
                  <a:ea typeface="微软雅黑" panose="020B0503020204020204" charset="-122"/>
                </a:rPr>
                <a:t>数量</a:t>
              </a:r>
              <a:endParaRPr lang="en-US" altLang="zh-CN" sz="2400" b="1" kern="0" dirty="0">
                <a:solidFill>
                  <a:srgbClr val="000000"/>
                </a:solidFill>
                <a:latin typeface="微软雅黑" panose="020B0503020204020204" charset="-122"/>
                <a:ea typeface="微软雅黑" panose="020B0503020204020204" charset="-122"/>
              </a:endParaRPr>
            </a:p>
          </p:txBody>
        </p:sp>
      </p:grpSp>
      <p:grpSp>
        <p:nvGrpSpPr>
          <p:cNvPr id="165" name="Group 156"/>
          <p:cNvGrpSpPr/>
          <p:nvPr/>
        </p:nvGrpSpPr>
        <p:grpSpPr bwMode="auto">
          <a:xfrm rot="4976862" flipH="1">
            <a:off x="6732133" y="3334685"/>
            <a:ext cx="561975" cy="647700"/>
            <a:chOff x="1944" y="1111"/>
            <a:chExt cx="204" cy="196"/>
          </a:xfrm>
        </p:grpSpPr>
        <p:pic>
          <p:nvPicPr>
            <p:cNvPr id="166" name="Picture 157" descr="circuler_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961" y="1124"/>
              <a:ext cx="174"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 name="Oval 158"/>
            <p:cNvSpPr>
              <a:spLocks noChangeArrowheads="1"/>
            </p:cNvSpPr>
            <p:nvPr/>
          </p:nvSpPr>
          <p:spPr bwMode="gray">
            <a:xfrm flipH="1">
              <a:off x="1962" y="1124"/>
              <a:ext cx="173" cy="172"/>
            </a:xfrm>
            <a:prstGeom prst="ellipse">
              <a:avLst/>
            </a:prstGeom>
            <a:gradFill rotWithShape="1">
              <a:gsLst>
                <a:gs pos="0">
                  <a:srgbClr val="969696">
                    <a:gamma/>
                    <a:shade val="46275"/>
                    <a:invGamma/>
                  </a:srgbClr>
                </a:gs>
                <a:gs pos="50000">
                  <a:srgbClr val="969696">
                    <a:alpha val="50000"/>
                  </a:srgbClr>
                </a:gs>
                <a:gs pos="100000">
                  <a:srgbClr val="969696">
                    <a:gamma/>
                    <a:shade val="46275"/>
                    <a:invGamma/>
                  </a:srgbClr>
                </a:gs>
              </a:gsLst>
              <a:lin ang="5400000" scaled="1"/>
            </a:gradFill>
            <a:ln w="9525" algn="ctr">
              <a:noFill/>
              <a:round/>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nvGrpSpPr>
            <p:cNvPr id="168" name="Group 159"/>
            <p:cNvGrpSpPr/>
            <p:nvPr/>
          </p:nvGrpSpPr>
          <p:grpSpPr bwMode="auto">
            <a:xfrm rot="1297425" flipV="1">
              <a:off x="1971" y="1258"/>
              <a:ext cx="151" cy="37"/>
              <a:chOff x="2532" y="1051"/>
              <a:chExt cx="893" cy="246"/>
            </a:xfrm>
          </p:grpSpPr>
          <p:grpSp>
            <p:nvGrpSpPr>
              <p:cNvPr id="171" name="Group 160"/>
              <p:cNvGrpSpPr/>
              <p:nvPr/>
            </p:nvGrpSpPr>
            <p:grpSpPr bwMode="auto">
              <a:xfrm>
                <a:off x="2532" y="1051"/>
                <a:ext cx="743" cy="185"/>
                <a:chOff x="1565" y="2568"/>
                <a:chExt cx="1118" cy="279"/>
              </a:xfrm>
            </p:grpSpPr>
            <p:sp>
              <p:nvSpPr>
                <p:cNvPr id="177" name="AutoShape 161"/>
                <p:cNvSpPr>
                  <a:spLocks noChangeArrowheads="1"/>
                </p:cNvSpPr>
                <p:nvPr/>
              </p:nvSpPr>
              <p:spPr bwMode="gray">
                <a:xfrm rot="5263130">
                  <a:off x="2197" y="2035"/>
                  <a:ext cx="226" cy="810"/>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78" name="AutoShape 162"/>
                <p:cNvSpPr>
                  <a:spLocks noChangeArrowheads="1"/>
                </p:cNvSpPr>
                <p:nvPr/>
              </p:nvSpPr>
              <p:spPr bwMode="gray">
                <a:xfrm rot="6078281">
                  <a:off x="2360" y="2034"/>
                  <a:ext cx="226" cy="80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79" name="AutoShape 163"/>
                <p:cNvSpPr>
                  <a:spLocks noChangeArrowheads="1"/>
                </p:cNvSpPr>
                <p:nvPr/>
              </p:nvSpPr>
              <p:spPr bwMode="gray">
                <a:xfrm rot="6373927">
                  <a:off x="2443" y="2082"/>
                  <a:ext cx="226" cy="80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80" name="AutoShape 164"/>
                <p:cNvSpPr>
                  <a:spLocks noChangeArrowheads="1"/>
                </p:cNvSpPr>
                <p:nvPr/>
              </p:nvSpPr>
              <p:spPr bwMode="gray">
                <a:xfrm rot="6906312">
                  <a:off x="2512" y="2145"/>
                  <a:ext cx="226" cy="80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nvGrpSpPr>
              <p:cNvPr id="172" name="Group 165"/>
              <p:cNvGrpSpPr/>
              <p:nvPr/>
            </p:nvGrpSpPr>
            <p:grpSpPr bwMode="auto">
              <a:xfrm rot="1353540">
                <a:off x="2682" y="1111"/>
                <a:ext cx="743" cy="186"/>
                <a:chOff x="1565" y="2568"/>
                <a:chExt cx="1118" cy="279"/>
              </a:xfrm>
            </p:grpSpPr>
            <p:sp>
              <p:nvSpPr>
                <p:cNvPr id="173" name="AutoShape 166"/>
                <p:cNvSpPr>
                  <a:spLocks noChangeArrowheads="1"/>
                </p:cNvSpPr>
                <p:nvPr/>
              </p:nvSpPr>
              <p:spPr bwMode="gray">
                <a:xfrm rot="5263130">
                  <a:off x="2168" y="2056"/>
                  <a:ext cx="196" cy="81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74" name="AutoShape 167"/>
                <p:cNvSpPr>
                  <a:spLocks noChangeArrowheads="1"/>
                </p:cNvSpPr>
                <p:nvPr/>
              </p:nvSpPr>
              <p:spPr bwMode="gray">
                <a:xfrm rot="6078281">
                  <a:off x="2310" y="2053"/>
                  <a:ext cx="192" cy="80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75" name="AutoShape 168"/>
                <p:cNvSpPr>
                  <a:spLocks noChangeArrowheads="1"/>
                </p:cNvSpPr>
                <p:nvPr/>
              </p:nvSpPr>
              <p:spPr bwMode="gray">
                <a:xfrm rot="6373927">
                  <a:off x="2377" y="2098"/>
                  <a:ext cx="192" cy="81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sp>
              <p:nvSpPr>
                <p:cNvPr id="176" name="AutoShape 169"/>
                <p:cNvSpPr>
                  <a:spLocks noChangeArrowheads="1"/>
                </p:cNvSpPr>
                <p:nvPr/>
              </p:nvSpPr>
              <p:spPr bwMode="gray">
                <a:xfrm rot="6906312">
                  <a:off x="2463" y="2096"/>
                  <a:ext cx="206" cy="805"/>
                </a:xfrm>
                <a:prstGeom prst="moon">
                  <a:avLst>
                    <a:gd name="adj" fmla="val 49773"/>
                  </a:avLst>
                </a:prstGeom>
                <a:solidFill>
                  <a:srgbClr val="FFFFFF">
                    <a:alpha val="3999"/>
                  </a:srgbClr>
                </a:solidFill>
                <a:ln w="9525">
                  <a:noFill/>
                  <a:miter lim="800000"/>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grpSp>
        </p:grpSp>
        <p:sp>
          <p:nvSpPr>
            <p:cNvPr id="169" name="Arc 170"/>
            <p:cNvSpPr/>
            <p:nvPr/>
          </p:nvSpPr>
          <p:spPr bwMode="gray">
            <a:xfrm rot="25447716">
              <a:off x="1948" y="1107"/>
              <a:ext cx="196" cy="204"/>
            </a:xfrm>
            <a:custGeom>
              <a:avLst/>
              <a:gdLst>
                <a:gd name="G0" fmla="+- 21600 0 0"/>
                <a:gd name="G1" fmla="+- 21600 0 0"/>
                <a:gd name="G2" fmla="+- 21600 0 0"/>
                <a:gd name="T0" fmla="*/ 3603 w 43200"/>
                <a:gd name="T1" fmla="*/ 33545 h 43155"/>
                <a:gd name="T2" fmla="*/ 22996 w 43200"/>
                <a:gd name="T3" fmla="*/ 43155 h 43155"/>
                <a:gd name="T4" fmla="*/ 21600 w 43200"/>
                <a:gd name="T5" fmla="*/ 21600 h 43155"/>
              </a:gdLst>
              <a:ahLst/>
              <a:cxnLst>
                <a:cxn ang="0">
                  <a:pos x="T0" y="T1"/>
                </a:cxn>
                <a:cxn ang="0">
                  <a:pos x="T2" y="T3"/>
                </a:cxn>
                <a:cxn ang="0">
                  <a:pos x="T4" y="T5"/>
                </a:cxn>
              </a:cxnLst>
              <a:rect l="0" t="0" r="r" b="b"/>
              <a:pathLst>
                <a:path w="43200" h="43155" fill="none"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path>
                <a:path w="43200" h="43155" stroke="0" extrusionOk="0">
                  <a:moveTo>
                    <a:pt x="3603" y="33544"/>
                  </a:moveTo>
                  <a:cubicBezTo>
                    <a:pt x="1253" y="30004"/>
                    <a:pt x="0" y="25849"/>
                    <a:pt x="0" y="21600"/>
                  </a:cubicBezTo>
                  <a:cubicBezTo>
                    <a:pt x="0" y="9670"/>
                    <a:pt x="9670" y="0"/>
                    <a:pt x="21600" y="0"/>
                  </a:cubicBezTo>
                  <a:cubicBezTo>
                    <a:pt x="33529" y="0"/>
                    <a:pt x="43200" y="9670"/>
                    <a:pt x="43200" y="21600"/>
                  </a:cubicBezTo>
                  <a:cubicBezTo>
                    <a:pt x="43200" y="32987"/>
                    <a:pt x="34359" y="42418"/>
                    <a:pt x="22995" y="43154"/>
                  </a:cubicBezTo>
                  <a:lnTo>
                    <a:pt x="21600" y="21600"/>
                  </a:lnTo>
                  <a:close/>
                </a:path>
              </a:pathLst>
            </a:custGeom>
            <a:noFill/>
            <a:ln w="12700">
              <a:solidFill>
                <a:srgbClr val="000000"/>
              </a:solidFill>
              <a:prstDash val="sysDot"/>
              <a:round/>
              <a:tailEnd type="triangle" w="sm" len="sm"/>
            </a:ln>
            <a:effectLst/>
          </p:spPr>
          <p:txBody>
            <a:bodyPr wrap="none" anchor="ctr"/>
            <a:lstStyle/>
            <a:p>
              <a:pPr fontAlgn="auto">
                <a:spcBef>
                  <a:spcPts val="0"/>
                </a:spcBef>
                <a:spcAft>
                  <a:spcPts val="0"/>
                </a:spcAft>
                <a:buFontTx/>
                <a:buNone/>
                <a:defRPr/>
              </a:pPr>
              <a:endParaRPr lang="zh-CN" altLang="en-US" kern="0">
                <a:solidFill>
                  <a:sysClr val="windowText" lastClr="000000"/>
                </a:solidFill>
              </a:endParaRPr>
            </a:p>
          </p:txBody>
        </p:sp>
        <p:pic>
          <p:nvPicPr>
            <p:cNvPr id="170" name="Picture 171" descr="light_shadow1"/>
            <p:cNvPicPr>
              <a:picLocks noChangeAspect="1" noChangeArrowheads="1"/>
            </p:cNvPicPr>
            <p:nvPr/>
          </p:nvPicPr>
          <p:blipFill>
            <a:blip r:embed="rId7">
              <a:extLst>
                <a:ext uri="{28A0092B-C50C-407E-A947-70E740481C1C}">
                  <a14:useLocalDpi xmlns:a14="http://schemas.microsoft.com/office/drawing/2010/main" val="0"/>
                </a:ext>
              </a:extLst>
            </a:blip>
            <a:srcRect t="23740"/>
            <a:stretch>
              <a:fillRect/>
            </a:stretch>
          </p:blipFill>
          <p:spPr bwMode="auto">
            <a:xfrm rot="2569845" flipH="1">
              <a:off x="2015" y="1139"/>
              <a:ext cx="129"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1"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58589" y="2421182"/>
            <a:ext cx="2376488" cy="105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2"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0094" y="3292347"/>
            <a:ext cx="1296987"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95713" y="4827273"/>
            <a:ext cx="5614378" cy="1596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0094" y="3944809"/>
            <a:ext cx="168592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14457E0D-6DA1-BD2C-1303-6C2CAE076E42}"/>
              </a:ext>
            </a:extLst>
          </p:cNvPr>
          <p:cNvSpPr txBox="1"/>
          <p:nvPr/>
        </p:nvSpPr>
        <p:spPr>
          <a:xfrm>
            <a:off x="426404" y="2035353"/>
            <a:ext cx="4190450" cy="923330"/>
          </a:xfrm>
          <a:prstGeom prst="rect">
            <a:avLst/>
          </a:prstGeom>
          <a:noFill/>
        </p:spPr>
        <p:txBody>
          <a:bodyPr wrap="square" rtlCol="0">
            <a:spAutoFit/>
          </a:bodyPr>
          <a:lstStyle/>
          <a:p>
            <a:r>
              <a:rPr lang="en-US" altLang="zh-CN" dirty="0"/>
              <a:t>LTE</a:t>
            </a:r>
            <a:r>
              <a:rPr lang="zh-CN" altLang="en-US" dirty="0"/>
              <a:t>的物理小区标识（</a:t>
            </a:r>
            <a:r>
              <a:rPr lang="en-US" altLang="zh-CN" dirty="0"/>
              <a:t>PCI</a:t>
            </a:r>
            <a:r>
              <a:rPr lang="zh-CN" altLang="en-US" dirty="0"/>
              <a:t>）用以区分不同小区的无线信号，必须保证在相关小区覆盖范围内没有相同的</a:t>
            </a:r>
            <a:r>
              <a:rPr lang="en-US" altLang="zh-CN" dirty="0"/>
              <a:t>PCI</a:t>
            </a:r>
            <a:r>
              <a:rPr lang="zh-CN" altLang="en-US" dirty="0"/>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3.4  LTE PCI</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6" name="TextBox 3"/>
          <p:cNvSpPr txBox="1">
            <a:spLocks noChangeArrowheads="1"/>
          </p:cNvSpPr>
          <p:nvPr/>
        </p:nvSpPr>
        <p:spPr bwMode="auto">
          <a:xfrm>
            <a:off x="4743176" y="2076797"/>
            <a:ext cx="2857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0" i="0" u="none" strike="noStrike" kern="0" cap="none" spc="0" normalizeH="0" baseline="0" noProof="0" dirty="0">
                <a:ln>
                  <a:noFill/>
                </a:ln>
                <a:solidFill>
                  <a:srgbClr val="000000"/>
                </a:solidFill>
                <a:effectLst/>
                <a:uLnTx/>
                <a:uFillTx/>
                <a:latin typeface="+mj-ea"/>
                <a:ea typeface="+mj-ea"/>
              </a:rPr>
              <a:t>PCI</a:t>
            </a:r>
            <a:r>
              <a:rPr kumimoji="0" lang="zh-CN" altLang="en-US" sz="2800" b="0" i="0" u="none" strike="noStrike" kern="0" cap="none" spc="0" normalizeH="0" baseline="0" noProof="0" dirty="0">
                <a:ln>
                  <a:noFill/>
                </a:ln>
                <a:solidFill>
                  <a:srgbClr val="000000"/>
                </a:solidFill>
                <a:effectLst/>
                <a:uLnTx/>
                <a:uFillTx/>
                <a:latin typeface="+mj-ea"/>
                <a:ea typeface="+mj-ea"/>
              </a:rPr>
              <a:t>与</a:t>
            </a:r>
            <a:r>
              <a:rPr kumimoji="0" lang="en-US" altLang="zh-CN" sz="2800" b="0" i="0" u="none" strike="noStrike" kern="0" cap="none" spc="0" normalizeH="0" baseline="0" noProof="0" dirty="0">
                <a:ln>
                  <a:noFill/>
                </a:ln>
                <a:solidFill>
                  <a:srgbClr val="000000"/>
                </a:solidFill>
                <a:effectLst/>
                <a:uLnTx/>
                <a:uFillTx/>
                <a:latin typeface="+mj-ea"/>
                <a:ea typeface="+mj-ea"/>
              </a:rPr>
              <a:t>ECGI</a:t>
            </a:r>
            <a:r>
              <a:rPr kumimoji="0" lang="zh-CN" altLang="en-US" sz="2800" b="0" i="0" u="none" strike="noStrike" kern="0" cap="none" spc="0" normalizeH="0" baseline="0" noProof="0" dirty="0">
                <a:ln>
                  <a:noFill/>
                </a:ln>
                <a:solidFill>
                  <a:srgbClr val="000000"/>
                </a:solidFill>
                <a:effectLst/>
                <a:uLnTx/>
                <a:uFillTx/>
                <a:latin typeface="+mj-ea"/>
                <a:ea typeface="+mj-ea"/>
              </a:rPr>
              <a:t>的区别</a:t>
            </a:r>
          </a:p>
        </p:txBody>
      </p:sp>
      <p:graphicFrame>
        <p:nvGraphicFramePr>
          <p:cNvPr id="4" name="表格 3"/>
          <p:cNvGraphicFramePr>
            <a:graphicFrameLocks noGrp="1"/>
          </p:cNvGraphicFramePr>
          <p:nvPr>
            <p:extLst>
              <p:ext uri="{D42A27DB-BD31-4B8C-83A1-F6EECF244321}">
                <p14:modId xmlns:p14="http://schemas.microsoft.com/office/powerpoint/2010/main" val="690037553"/>
              </p:ext>
            </p:extLst>
          </p:nvPr>
        </p:nvGraphicFramePr>
        <p:xfrm>
          <a:off x="1380066" y="2937791"/>
          <a:ext cx="9431867" cy="2800350"/>
        </p:xfrm>
        <a:graphic>
          <a:graphicData uri="http://schemas.openxmlformats.org/drawingml/2006/table">
            <a:tbl>
              <a:tblPr/>
              <a:tblGrid>
                <a:gridCol w="1837266">
                  <a:extLst>
                    <a:ext uri="{9D8B030D-6E8A-4147-A177-3AD203B41FA5}">
                      <a16:colId xmlns:a16="http://schemas.microsoft.com/office/drawing/2014/main" val="20000"/>
                    </a:ext>
                  </a:extLst>
                </a:gridCol>
                <a:gridCol w="3818468">
                  <a:extLst>
                    <a:ext uri="{9D8B030D-6E8A-4147-A177-3AD203B41FA5}">
                      <a16:colId xmlns:a16="http://schemas.microsoft.com/office/drawing/2014/main" val="20001"/>
                    </a:ext>
                  </a:extLst>
                </a:gridCol>
                <a:gridCol w="3776133">
                  <a:extLst>
                    <a:ext uri="{9D8B030D-6E8A-4147-A177-3AD203B41FA5}">
                      <a16:colId xmlns:a16="http://schemas.microsoft.com/office/drawing/2014/main" val="20002"/>
                    </a:ext>
                  </a:extLst>
                </a:gridCol>
              </a:tblGrid>
              <a:tr h="352425">
                <a:tc>
                  <a:txBody>
                    <a:bodyPr/>
                    <a:lstStyle/>
                    <a:p>
                      <a:pPr algn="ctr" rtl="0" fontAlgn="ctr"/>
                      <a:r>
                        <a:rPr lang="zh-CN" altLang="en-US" sz="1800" b="1" i="0" u="none" strike="noStrike">
                          <a:solidFill>
                            <a:srgbClr val="FFFFFF"/>
                          </a:solidFill>
                          <a:effectLst/>
                          <a:latin typeface="华文细黑" panose="02010600040101010101" pitchFamily="2" charset="-122"/>
                          <a:ea typeface="华文细黑" panose="02010600040101010101" pitchFamily="2" charset="-122"/>
                        </a:rPr>
                        <a:t>对比项</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8C00"/>
                    </a:solidFill>
                  </a:tcPr>
                </a:tc>
                <a:tc>
                  <a:txBody>
                    <a:bodyPr/>
                    <a:lstStyle/>
                    <a:p>
                      <a:pPr algn="ctr" rtl="0" fontAlgn="ctr"/>
                      <a:r>
                        <a:rPr lang="en-US" sz="1800" b="1" i="0" u="none" strike="noStrike" dirty="0">
                          <a:solidFill>
                            <a:srgbClr val="FFFFFF"/>
                          </a:solidFill>
                          <a:effectLst/>
                          <a:latin typeface="Arial" panose="020B0604020202020204" pitchFamily="34" charset="0"/>
                          <a:ea typeface="宋体" panose="02010600030101010101" pitchFamily="2" charset="-122"/>
                        </a:rPr>
                        <a:t>PCI</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8C00"/>
                    </a:solidFill>
                  </a:tcPr>
                </a:tc>
                <a:tc>
                  <a:txBody>
                    <a:bodyPr/>
                    <a:lstStyle/>
                    <a:p>
                      <a:pPr algn="ctr" rtl="0" fontAlgn="ctr"/>
                      <a:r>
                        <a:rPr lang="en-US" altLang="zh-CN" sz="1800" b="1" i="0" u="none" strike="noStrike" dirty="0">
                          <a:solidFill>
                            <a:srgbClr val="FFFFFF"/>
                          </a:solidFill>
                          <a:effectLst/>
                          <a:latin typeface="Arial" panose="020B0604020202020204" pitchFamily="34" charset="0"/>
                          <a:ea typeface="宋体" panose="02010600030101010101" pitchFamily="2" charset="-122"/>
                        </a:rPr>
                        <a:t>E</a:t>
                      </a:r>
                      <a:r>
                        <a:rPr lang="en-US" sz="1800" b="1" i="0" u="none" strike="noStrike" dirty="0">
                          <a:solidFill>
                            <a:srgbClr val="FFFFFF"/>
                          </a:solidFill>
                          <a:effectLst/>
                          <a:latin typeface="Arial" panose="020B0604020202020204" pitchFamily="34" charset="0"/>
                          <a:ea typeface="宋体" panose="02010600030101010101" pitchFamily="2" charset="-122"/>
                        </a:rPr>
                        <a:t>CGI</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8C00"/>
                    </a:solidFill>
                  </a:tcPr>
                </a:tc>
                <a:extLst>
                  <a:ext uri="{0D108BD9-81ED-4DB2-BD59-A6C34878D82A}">
                    <a16:rowId xmlns:a16="http://schemas.microsoft.com/office/drawing/2014/main" val="10000"/>
                  </a:ext>
                </a:extLst>
              </a:tr>
              <a:tr h="704850">
                <a:tc>
                  <a:txBody>
                    <a:bodyPr/>
                    <a:lstStyle/>
                    <a:p>
                      <a:pPr algn="l" rtl="0" fontAlgn="ctr"/>
                      <a:r>
                        <a:rPr lang="zh-CN" altLang="en-US" sz="1800" b="0" i="0" u="none" strike="noStrike">
                          <a:solidFill>
                            <a:srgbClr val="000000"/>
                          </a:solidFill>
                          <a:effectLst/>
                          <a:latin typeface="华文细黑" panose="02010600040101010101" pitchFamily="2" charset="-122"/>
                          <a:ea typeface="华文细黑" panose="02010600040101010101" pitchFamily="2" charset="-122"/>
                        </a:rPr>
                        <a:t>作用</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tc>
                  <a:txBody>
                    <a:bodyPr/>
                    <a:lstStyle/>
                    <a:p>
                      <a:pPr algn="l" rtl="0" fontAlgn="ctr"/>
                      <a:r>
                        <a:rPr lang="zh-CN" altLang="en-US" sz="1800" b="0" i="0" u="none" strike="noStrike">
                          <a:solidFill>
                            <a:srgbClr val="000000"/>
                          </a:solidFill>
                          <a:effectLst/>
                          <a:latin typeface="华文细黑" panose="02010600040101010101" pitchFamily="2" charset="-122"/>
                          <a:ea typeface="华文细黑" panose="02010600040101010101" pitchFamily="2" charset="-122"/>
                        </a:rPr>
                        <a:t>手机和无线接入网之间区别不同小区</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tc>
                  <a:txBody>
                    <a:bodyPr/>
                    <a:lstStyle/>
                    <a:p>
                      <a:pPr algn="l" rtl="0" fontAlgn="ctr"/>
                      <a:r>
                        <a:rPr lang="zh-CN" altLang="en-US" sz="1800" b="0" i="0" u="none" strike="noStrike">
                          <a:solidFill>
                            <a:srgbClr val="000000"/>
                          </a:solidFill>
                          <a:effectLst/>
                          <a:latin typeface="华文细黑" panose="02010600040101010101" pitchFamily="2" charset="-122"/>
                          <a:ea typeface="华文细黑" panose="02010600040101010101" pitchFamily="2" charset="-122"/>
                        </a:rPr>
                        <a:t>网络侧区别不同基站的小区</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extLst>
                  <a:ext uri="{0D108BD9-81ED-4DB2-BD59-A6C34878D82A}">
                    <a16:rowId xmlns:a16="http://schemas.microsoft.com/office/drawing/2014/main" val="10001"/>
                  </a:ext>
                </a:extLst>
              </a:tr>
              <a:tr h="695325">
                <a:tc>
                  <a:txBody>
                    <a:bodyPr/>
                    <a:lstStyle/>
                    <a:p>
                      <a:pPr algn="l" rtl="0" fontAlgn="ctr"/>
                      <a:r>
                        <a:rPr lang="zh-CN" altLang="en-US" sz="1800" b="0" i="0" u="none" strike="noStrike">
                          <a:solidFill>
                            <a:srgbClr val="000000"/>
                          </a:solidFill>
                          <a:effectLst/>
                          <a:latin typeface="华文细黑" panose="02010600040101010101" pitchFamily="2" charset="-122"/>
                          <a:ea typeface="华文细黑" panose="02010600040101010101" pitchFamily="2" charset="-122"/>
                        </a:rPr>
                        <a:t>含义和内容</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同步过程使用的不同序列</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先国家码、网络号、后基站、小区号</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extLst>
                  <a:ext uri="{0D108BD9-81ED-4DB2-BD59-A6C34878D82A}">
                    <a16:rowId xmlns:a16="http://schemas.microsoft.com/office/drawing/2014/main" val="10002"/>
                  </a:ext>
                </a:extLst>
              </a:tr>
              <a:tr h="352425">
                <a:tc>
                  <a:txBody>
                    <a:bodyPr/>
                    <a:lstStyle/>
                    <a:p>
                      <a:pPr algn="l" rtl="0" fontAlgn="ctr"/>
                      <a:r>
                        <a:rPr lang="zh-CN" altLang="en-US" sz="1800" b="0" i="0" u="none" strike="noStrike">
                          <a:solidFill>
                            <a:srgbClr val="000000"/>
                          </a:solidFill>
                          <a:effectLst/>
                          <a:latin typeface="华文细黑" panose="02010600040101010101" pitchFamily="2" charset="-122"/>
                          <a:ea typeface="华文细黑" panose="02010600040101010101" pitchFamily="2" charset="-122"/>
                        </a:rPr>
                        <a:t>数量</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tc>
                  <a:txBody>
                    <a:bodyPr/>
                    <a:lstStyle/>
                    <a:p>
                      <a:pPr algn="l" rtl="0" fontAlgn="ctr"/>
                      <a:r>
                        <a:rPr lang="en-US" altLang="zh-CN" sz="1800" b="0" i="0" u="none" strike="noStrike">
                          <a:solidFill>
                            <a:srgbClr val="000000"/>
                          </a:solidFill>
                          <a:effectLst/>
                          <a:latin typeface="Arial" panose="020B0604020202020204" pitchFamily="34" charset="0"/>
                          <a:ea typeface="宋体" panose="02010600030101010101" pitchFamily="2" charset="-122"/>
                        </a:rPr>
                        <a:t>504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tc>
                  <a:txBody>
                    <a:bodyPr/>
                    <a:lstStyle/>
                    <a:p>
                      <a:pPr algn="l" rtl="0" fontAlgn="ctr"/>
                      <a:r>
                        <a:rPr lang="zh-CN" altLang="en-US" sz="1800" b="0" i="0" u="none" strike="noStrike">
                          <a:solidFill>
                            <a:srgbClr val="000000"/>
                          </a:solidFill>
                          <a:effectLst/>
                          <a:latin typeface="华文细黑" panose="02010600040101010101" pitchFamily="2" charset="-122"/>
                          <a:ea typeface="华文细黑" panose="02010600040101010101" pitchFamily="2" charset="-122"/>
                        </a:rPr>
                        <a:t>认为有无数多个</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9DBCB"/>
                    </a:solidFill>
                  </a:tcPr>
                </a:tc>
                <a:extLst>
                  <a:ext uri="{0D108BD9-81ED-4DB2-BD59-A6C34878D82A}">
                    <a16:rowId xmlns:a16="http://schemas.microsoft.com/office/drawing/2014/main" val="10003"/>
                  </a:ext>
                </a:extLst>
              </a:tr>
              <a:tr h="695325">
                <a:tc>
                  <a:txBody>
                    <a:bodyPr/>
                    <a:lstStyle/>
                    <a:p>
                      <a:pPr algn="l" rtl="0" fontAlgn="ctr"/>
                      <a:r>
                        <a:rPr lang="zh-CN" altLang="en-US" sz="1800" b="0" i="0" u="none" strike="noStrike">
                          <a:solidFill>
                            <a:srgbClr val="000000"/>
                          </a:solidFill>
                          <a:effectLst/>
                          <a:latin typeface="华文细黑" panose="02010600040101010101" pitchFamily="2" charset="-122"/>
                          <a:ea typeface="华文细黑" panose="02010600040101010101" pitchFamily="2" charset="-122"/>
                        </a:rPr>
                        <a:t>是否复用</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tc>
                  <a:txBody>
                    <a:bodyPr/>
                    <a:lstStyle/>
                    <a:p>
                      <a:pPr algn="l" rtl="0" fontAlgn="ctr"/>
                      <a:r>
                        <a:rPr lang="zh-CN" altLang="en-US" sz="1800" b="0" i="0" u="none" strike="noStrike">
                          <a:solidFill>
                            <a:srgbClr val="000000"/>
                          </a:solidFill>
                          <a:effectLst/>
                          <a:latin typeface="华文细黑" panose="02010600040101010101" pitchFamily="2" charset="-122"/>
                          <a:ea typeface="华文细黑" panose="02010600040101010101" pitchFamily="2" charset="-122"/>
                        </a:rPr>
                        <a:t>间隔一定距离，可以复用</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tc>
                  <a:txBody>
                    <a:bodyPr/>
                    <a:lstStyle/>
                    <a:p>
                      <a:pPr algn="l" rtl="0" fontAlgn="ctr"/>
                      <a:r>
                        <a:rPr lang="zh-CN" altLang="en-US" sz="1800" b="0" i="0" u="none" strike="noStrike" dirty="0">
                          <a:solidFill>
                            <a:srgbClr val="000000"/>
                          </a:solidFill>
                          <a:effectLst/>
                          <a:latin typeface="华文细黑" panose="02010600040101010101" pitchFamily="2" charset="-122"/>
                          <a:ea typeface="华文细黑" panose="02010600040101010101" pitchFamily="2" charset="-122"/>
                        </a:rPr>
                        <a:t>全球唯一，不能复用</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E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29615" y="-201930"/>
            <a:ext cx="10515600" cy="535305"/>
          </a:xfrm>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314602" y="14351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3.4  LTE PCI</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335280" y="-66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MH_Text_1"/>
          <p:cNvSpPr txBox="1"/>
          <p:nvPr>
            <p:custDataLst>
              <p:tags r:id="rId1"/>
            </p:custDataLst>
          </p:nvPr>
        </p:nvSpPr>
        <p:spPr>
          <a:xfrm>
            <a:off x="609600" y="1674842"/>
            <a:ext cx="11247120" cy="2940233"/>
          </a:xfrm>
          <a:prstGeom prst="rect">
            <a:avLst/>
          </a:prstGeom>
          <a:noFill/>
        </p:spPr>
        <p:txBody>
          <a:bodyPr lIns="0" tIns="0" rIns="0" bIns="0">
            <a:noAutofit/>
          </a:bodyPr>
          <a:lstStyle/>
          <a:p>
            <a:pPr>
              <a:lnSpc>
                <a:spcPct val="120000"/>
              </a:lnSpc>
              <a:spcAft>
                <a:spcPts val="600"/>
              </a:spcAft>
              <a:defRPr/>
            </a:pPr>
            <a:r>
              <a:rPr lang="en-US" altLang="zh-CN" sz="1600" dirty="0">
                <a:latin typeface="+mj-ea"/>
                <a:ea typeface="+mj-ea"/>
              </a:rPr>
              <a:t>PCI</a:t>
            </a:r>
            <a:r>
              <a:rPr lang="zh-CN" altLang="en-US" sz="1600" dirty="0">
                <a:latin typeface="+mj-ea"/>
                <a:ea typeface="+mj-ea"/>
              </a:rPr>
              <a:t>规划的目的就是为每个小区分配一个小区</a:t>
            </a:r>
            <a:r>
              <a:rPr lang="en-US" altLang="zh-CN" sz="1600" dirty="0">
                <a:latin typeface="+mj-ea"/>
                <a:ea typeface="+mj-ea"/>
              </a:rPr>
              <a:t>ID</a:t>
            </a:r>
            <a:r>
              <a:rPr lang="zh-CN" altLang="en-US" sz="1600" dirty="0">
                <a:latin typeface="+mj-ea"/>
                <a:ea typeface="+mj-ea"/>
              </a:rPr>
              <a:t>，确保同频同小区</a:t>
            </a:r>
            <a:r>
              <a:rPr lang="en-US" altLang="zh-CN" sz="1600" dirty="0">
                <a:latin typeface="+mj-ea"/>
                <a:ea typeface="+mj-ea"/>
              </a:rPr>
              <a:t>ID</a:t>
            </a:r>
            <a:r>
              <a:rPr lang="zh-CN" altLang="en-US" sz="1600" dirty="0">
                <a:latin typeface="+mj-ea"/>
                <a:ea typeface="+mj-ea"/>
              </a:rPr>
              <a:t>的小区下行信号之间不会互相产生干扰，避免影响终端正常同步和解码正常服务小区的导频信道。若</a:t>
            </a:r>
            <a:r>
              <a:rPr lang="en-US" altLang="zh-CN" sz="1600" dirty="0">
                <a:latin typeface="+mj-ea"/>
                <a:ea typeface="+mj-ea"/>
              </a:rPr>
              <a:t>PCI</a:t>
            </a:r>
            <a:r>
              <a:rPr lang="zh-CN" altLang="en-US" sz="1600" dirty="0">
                <a:latin typeface="+mj-ea"/>
                <a:ea typeface="+mj-ea"/>
              </a:rPr>
              <a:t>规划不合理导致</a:t>
            </a:r>
            <a:r>
              <a:rPr lang="en-US" altLang="zh-CN" sz="1600" dirty="0">
                <a:latin typeface="+mj-ea"/>
                <a:ea typeface="+mj-ea"/>
              </a:rPr>
              <a:t>PCI</a:t>
            </a:r>
            <a:r>
              <a:rPr lang="zh-CN" altLang="en-US" sz="1600" dirty="0">
                <a:latin typeface="+mj-ea"/>
                <a:ea typeface="+mj-ea"/>
              </a:rPr>
              <a:t>复用距离不够就会使一些非相关的导频信号产生干扰，在跟踪导频信号时会产生错误。如果错误发生在</a:t>
            </a:r>
            <a:r>
              <a:rPr lang="en-US" altLang="zh-CN" sz="1600" dirty="0">
                <a:latin typeface="+mj-ea"/>
                <a:ea typeface="+mj-ea"/>
              </a:rPr>
              <a:t>UE</a:t>
            </a:r>
            <a:r>
              <a:rPr lang="zh-CN" altLang="en-US" sz="1600" dirty="0">
                <a:latin typeface="+mj-ea"/>
                <a:ea typeface="+mj-ea"/>
              </a:rPr>
              <a:t>识别系统的呼叫过程中，就会导致切换到错误的服务小区，严重时甚至掉话。</a:t>
            </a:r>
            <a:endParaRPr lang="en-US" altLang="zh-CN" sz="1600" dirty="0">
              <a:latin typeface="+mj-ea"/>
              <a:ea typeface="+mj-ea"/>
            </a:endParaRPr>
          </a:p>
          <a:p>
            <a:pPr>
              <a:lnSpc>
                <a:spcPct val="120000"/>
              </a:lnSpc>
              <a:spcAft>
                <a:spcPts val="600"/>
              </a:spcAft>
              <a:defRPr/>
            </a:pPr>
            <a:r>
              <a:rPr lang="en-US" altLang="zh-CN" sz="1600" dirty="0">
                <a:solidFill>
                  <a:srgbClr val="FF0000"/>
                </a:solidFill>
                <a:latin typeface="+mj-ea"/>
                <a:ea typeface="+mj-ea"/>
              </a:rPr>
              <a:t>PCI</a:t>
            </a:r>
            <a:r>
              <a:rPr lang="zh-CN" altLang="en-US" sz="1600" dirty="0">
                <a:solidFill>
                  <a:srgbClr val="FF0000"/>
                </a:solidFill>
                <a:latin typeface="+mj-ea"/>
                <a:ea typeface="+mj-ea"/>
              </a:rPr>
              <a:t>规划应注意以下原则</a:t>
            </a:r>
            <a:r>
              <a:rPr lang="zh-CN" altLang="en-US" sz="1600" dirty="0">
                <a:latin typeface="+mj-ea"/>
                <a:ea typeface="+mj-ea"/>
              </a:rPr>
              <a:t>：</a:t>
            </a:r>
            <a:endParaRPr lang="en-US" altLang="zh-CN" sz="1600" dirty="0">
              <a:latin typeface="+mj-ea"/>
              <a:ea typeface="+mj-ea"/>
            </a:endParaRPr>
          </a:p>
          <a:p>
            <a:pPr>
              <a:lnSpc>
                <a:spcPct val="120000"/>
              </a:lnSpc>
              <a:defRPr/>
            </a:pPr>
            <a:r>
              <a:rPr lang="en-US" altLang="zh-CN" dirty="0">
                <a:latin typeface="+mj-ea"/>
                <a:ea typeface="+mj-ea"/>
              </a:rPr>
              <a:t>    </a:t>
            </a:r>
            <a:r>
              <a:rPr lang="en-US" altLang="zh-CN" sz="1600" dirty="0">
                <a:latin typeface="+mj-ea"/>
                <a:ea typeface="+mj-ea"/>
              </a:rPr>
              <a:t>1</a:t>
            </a:r>
            <a:r>
              <a:rPr lang="zh-CN" altLang="en-US" sz="1600" dirty="0">
                <a:latin typeface="+mj-ea"/>
                <a:ea typeface="+mj-ea"/>
              </a:rPr>
              <a:t>）避免</a:t>
            </a:r>
            <a:r>
              <a:rPr lang="en-US" altLang="zh-CN" sz="1600" dirty="0">
                <a:latin typeface="+mj-ea"/>
                <a:ea typeface="+mj-ea"/>
              </a:rPr>
              <a:t>PCI</a:t>
            </a:r>
            <a:r>
              <a:rPr lang="zh-CN" altLang="en-US" sz="1600" dirty="0">
                <a:latin typeface="+mj-ea"/>
                <a:ea typeface="+mj-ea"/>
              </a:rPr>
              <a:t>冲突。同频情况下，覆盖相同方向的相邻小区</a:t>
            </a:r>
            <a:r>
              <a:rPr lang="en-US" altLang="zh-CN" sz="1600" dirty="0">
                <a:latin typeface="+mj-ea"/>
                <a:ea typeface="+mj-ea"/>
              </a:rPr>
              <a:t>PCI</a:t>
            </a:r>
            <a:r>
              <a:rPr lang="zh-CN" altLang="en-US" sz="1600" dirty="0">
                <a:latin typeface="+mj-ea"/>
                <a:ea typeface="+mj-ea"/>
              </a:rPr>
              <a:t>错开；</a:t>
            </a:r>
            <a:endParaRPr lang="en-US" altLang="zh-CN" sz="1600" dirty="0">
              <a:latin typeface="+mj-ea"/>
              <a:ea typeface="+mj-ea"/>
            </a:endParaRPr>
          </a:p>
          <a:p>
            <a:pPr>
              <a:lnSpc>
                <a:spcPct val="120000"/>
              </a:lnSpc>
              <a:defRPr/>
            </a:pPr>
            <a:r>
              <a:rPr lang="en-US" altLang="zh-CN" sz="1600" dirty="0">
                <a:latin typeface="+mj-ea"/>
                <a:ea typeface="+mj-ea"/>
              </a:rPr>
              <a:t>    2</a:t>
            </a:r>
            <a:r>
              <a:rPr lang="zh-CN" altLang="en-US" sz="1600" dirty="0">
                <a:latin typeface="+mj-ea"/>
                <a:ea typeface="+mj-ea"/>
              </a:rPr>
              <a:t>）对主小区有强干扰的其他同频小区，不能使用和主小区相同的</a:t>
            </a:r>
            <a:r>
              <a:rPr lang="en-US" altLang="zh-CN" sz="1600" dirty="0">
                <a:latin typeface="+mj-ea"/>
                <a:ea typeface="+mj-ea"/>
              </a:rPr>
              <a:t>PCI</a:t>
            </a:r>
            <a:r>
              <a:rPr lang="zh-CN" altLang="en-US" sz="1600" dirty="0">
                <a:latin typeface="+mj-ea"/>
                <a:ea typeface="+mj-ea"/>
              </a:rPr>
              <a:t>；</a:t>
            </a:r>
            <a:endParaRPr lang="en-US" altLang="zh-CN" sz="1600" dirty="0">
              <a:latin typeface="+mj-ea"/>
              <a:ea typeface="+mj-ea"/>
            </a:endParaRPr>
          </a:p>
          <a:p>
            <a:pPr>
              <a:lnSpc>
                <a:spcPct val="120000"/>
              </a:lnSpc>
              <a:defRPr/>
            </a:pPr>
            <a:r>
              <a:rPr lang="en-US" altLang="zh-CN" sz="1600" dirty="0">
                <a:latin typeface="+mj-ea"/>
                <a:ea typeface="+mj-ea"/>
              </a:rPr>
              <a:t>    3</a:t>
            </a:r>
            <a:r>
              <a:rPr lang="zh-CN" altLang="en-US" sz="1600" dirty="0">
                <a:latin typeface="+mj-ea"/>
                <a:ea typeface="+mj-ea"/>
              </a:rPr>
              <a:t>）邻小区下行导频采用</a:t>
            </a:r>
            <a:r>
              <a:rPr lang="en-US" altLang="zh-CN" sz="1600" dirty="0">
                <a:latin typeface="+mj-ea"/>
                <a:ea typeface="+mj-ea"/>
              </a:rPr>
              <a:t>MOD3</a:t>
            </a:r>
            <a:r>
              <a:rPr lang="zh-CN" altLang="en-US" sz="1600" dirty="0">
                <a:latin typeface="+mj-ea"/>
                <a:ea typeface="+mj-ea"/>
              </a:rPr>
              <a:t>（</a:t>
            </a:r>
            <a:r>
              <a:rPr lang="en-US" altLang="zh-CN" sz="1600" dirty="0">
                <a:latin typeface="+mj-ea"/>
                <a:ea typeface="+mj-ea"/>
              </a:rPr>
              <a:t>MOD3:PCI </a:t>
            </a:r>
            <a:r>
              <a:rPr lang="zh-CN" altLang="en-US" sz="1600" dirty="0">
                <a:latin typeface="+mj-ea"/>
                <a:ea typeface="+mj-ea"/>
              </a:rPr>
              <a:t>除以</a:t>
            </a:r>
            <a:r>
              <a:rPr lang="en-US" altLang="zh-CN" sz="1600" dirty="0">
                <a:latin typeface="+mj-ea"/>
                <a:ea typeface="+mj-ea"/>
              </a:rPr>
              <a:t>3</a:t>
            </a:r>
            <a:r>
              <a:rPr lang="zh-CN" altLang="en-US" sz="1600" dirty="0">
                <a:latin typeface="+mj-ea"/>
                <a:ea typeface="+mj-ea"/>
              </a:rPr>
              <a:t>取余数）错开；</a:t>
            </a:r>
            <a:endParaRPr lang="en-US" altLang="zh-CN" sz="1600" dirty="0">
              <a:latin typeface="+mj-ea"/>
              <a:ea typeface="+mj-ea"/>
            </a:endParaRPr>
          </a:p>
          <a:p>
            <a:pPr>
              <a:lnSpc>
                <a:spcPct val="120000"/>
              </a:lnSpc>
              <a:defRPr/>
            </a:pPr>
            <a:r>
              <a:rPr lang="en-US" altLang="zh-CN" sz="1600" dirty="0">
                <a:latin typeface="+mj-ea"/>
                <a:ea typeface="+mj-ea"/>
              </a:rPr>
              <a:t>    4</a:t>
            </a:r>
            <a:r>
              <a:rPr lang="zh-CN" altLang="en-US" sz="1600" dirty="0">
                <a:latin typeface="+mj-ea"/>
                <a:ea typeface="+mj-ea"/>
              </a:rPr>
              <a:t>）邻小区上行导频序列组号采用</a:t>
            </a:r>
            <a:r>
              <a:rPr lang="en-US" altLang="zh-CN" sz="1600" dirty="0">
                <a:latin typeface="+mj-ea"/>
                <a:ea typeface="+mj-ea"/>
              </a:rPr>
              <a:t>MOD30</a:t>
            </a:r>
            <a:r>
              <a:rPr lang="zh-CN" altLang="en-US" sz="1600" dirty="0">
                <a:latin typeface="+mj-ea"/>
                <a:ea typeface="+mj-ea"/>
              </a:rPr>
              <a:t>错开；</a:t>
            </a:r>
            <a:endParaRPr lang="en-US" altLang="zh-CN" sz="1600" dirty="0">
              <a:latin typeface="+mj-ea"/>
              <a:ea typeface="+mj-ea"/>
            </a:endParaRPr>
          </a:p>
          <a:p>
            <a:pPr>
              <a:lnSpc>
                <a:spcPct val="120000"/>
              </a:lnSpc>
              <a:defRPr/>
            </a:pPr>
            <a:r>
              <a:rPr lang="en-US" altLang="zh-CN" sz="1600" dirty="0">
                <a:latin typeface="+mj-ea"/>
                <a:ea typeface="+mj-ea"/>
              </a:rPr>
              <a:t>    5</a:t>
            </a:r>
            <a:r>
              <a:rPr lang="zh-CN" altLang="en-US" sz="1600" dirty="0">
                <a:latin typeface="+mj-ea"/>
                <a:ea typeface="+mj-ea"/>
              </a:rPr>
              <a:t>）需要考虑室内覆盖预留，多个城市需要考虑边界预留、对于可能</a:t>
            </a:r>
            <a:endParaRPr lang="en-US" altLang="zh-CN" sz="1600" dirty="0">
              <a:latin typeface="+mj-ea"/>
              <a:ea typeface="+mj-ea"/>
            </a:endParaRPr>
          </a:p>
          <a:p>
            <a:pPr>
              <a:lnSpc>
                <a:spcPct val="120000"/>
              </a:lnSpc>
              <a:defRPr/>
            </a:pPr>
            <a:r>
              <a:rPr lang="en-US" altLang="zh-CN" sz="1600" dirty="0">
                <a:latin typeface="+mj-ea"/>
                <a:ea typeface="+mj-ea"/>
              </a:rPr>
              <a:t>         </a:t>
            </a:r>
            <a:r>
              <a:rPr lang="zh-CN" altLang="en-US" sz="1600" dirty="0">
                <a:latin typeface="+mj-ea"/>
                <a:ea typeface="+mj-ea"/>
              </a:rPr>
              <a:t>导致越区覆盖的高站，需要单独设定较大的复用距离等。</a:t>
            </a:r>
          </a:p>
        </p:txBody>
      </p:sp>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9948" y="4856479"/>
            <a:ext cx="3556000" cy="1658937"/>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1948" y="4856479"/>
            <a:ext cx="2952750" cy="1658937"/>
          </a:xfrm>
          <a:prstGeom prst="rect">
            <a:avLst/>
          </a:prstGeom>
          <a:noFill/>
          <a:ln>
            <a:noFill/>
          </a:ln>
          <a:effectLst>
            <a:prstShdw prst="shdw17" dist="17961" dir="2700000">
              <a:srgbClr val="905400"/>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标题 1"/>
          <p:cNvSpPr txBox="1"/>
          <p:nvPr/>
        </p:nvSpPr>
        <p:spPr bwMode="auto">
          <a:xfrm>
            <a:off x="436821" y="1194886"/>
            <a:ext cx="2594756"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PCI</a:t>
            </a:r>
            <a:r>
              <a:rPr lang="zh-CN" altLang="en-US" sz="2000" b="1" dirty="0">
                <a:solidFill>
                  <a:srgbClr val="005BAA"/>
                </a:solidFill>
              </a:rPr>
              <a:t>规划基本原则</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3.4  LTE PCI</a:t>
            </a:r>
            <a:r>
              <a:rPr kumimoji="1" lang="zh-CN" altLang="en-US" sz="1900" b="1" dirty="0">
                <a:latin typeface="微软雅黑" panose="020B0503020204020204" charset="-122"/>
                <a:ea typeface="微软雅黑" panose="020B0503020204020204" charset="-122"/>
                <a:cs typeface="微软雅黑" panose="020B0503020204020204" charset="-122"/>
              </a:rPr>
              <a:t>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标题 1"/>
          <p:cNvSpPr txBox="1"/>
          <p:nvPr/>
        </p:nvSpPr>
        <p:spPr bwMode="auto">
          <a:xfrm>
            <a:off x="982070" y="2076797"/>
            <a:ext cx="84963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2pPr>
            <a:lvl3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3pPr>
            <a:lvl4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4pPr>
            <a:lvl5pPr algn="l" rtl="0" eaLnBrk="0" fontAlgn="base" hangingPunct="0">
              <a:spcBef>
                <a:spcPct val="0"/>
              </a:spcBef>
              <a:spcAft>
                <a:spcPct val="0"/>
              </a:spcAft>
              <a:defRPr sz="2400">
                <a:solidFill>
                  <a:srgbClr val="008FD4"/>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6pPr>
            <a:lvl7pPr marL="9144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7pPr>
            <a:lvl8pPr marL="13716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8pPr>
            <a:lvl9pPr marL="1828800" algn="l" rtl="0" eaLnBrk="1" fontAlgn="base" hangingPunct="1">
              <a:spcBef>
                <a:spcPct val="0"/>
              </a:spcBef>
              <a:spcAft>
                <a:spcPct val="0"/>
              </a:spcAft>
              <a:defRPr sz="3000">
                <a:solidFill>
                  <a:schemeClr val="tx2"/>
                </a:solidFill>
                <a:latin typeface="Arial" panose="020B0604020202020204" pitchFamily="34" charset="0"/>
                <a:ea typeface="黑体" panose="02010609060101010101" pitchFamily="2" charset="-122"/>
              </a:defRPr>
            </a:lvl9pPr>
          </a:lstStyle>
          <a:p>
            <a:pPr marL="342900" lvl="0" indent="-342900" defTabSz="914400" eaLnBrk="1" hangingPunct="1">
              <a:lnSpc>
                <a:spcPct val="90000"/>
              </a:lnSpc>
              <a:buFont typeface="Wingdings" panose="05000000000000000000" pitchFamily="2" charset="2"/>
              <a:buChar char="u"/>
              <a:defRPr/>
            </a:pPr>
            <a:r>
              <a:rPr lang="en-US" altLang="zh-CN" sz="2000" b="1" dirty="0">
                <a:solidFill>
                  <a:srgbClr val="005BAA"/>
                </a:solidFill>
              </a:rPr>
              <a:t>PCI</a:t>
            </a:r>
            <a:r>
              <a:rPr lang="zh-CN" altLang="en-US" sz="2000" b="1" dirty="0">
                <a:solidFill>
                  <a:srgbClr val="005BAA"/>
                </a:solidFill>
              </a:rPr>
              <a:t>规划步骤</a:t>
            </a:r>
          </a:p>
        </p:txBody>
      </p:sp>
      <p:sp>
        <p:nvSpPr>
          <p:cNvPr id="13" name="内容占位符 2"/>
          <p:cNvSpPr txBox="1"/>
          <p:nvPr/>
        </p:nvSpPr>
        <p:spPr bwMode="auto">
          <a:xfrm>
            <a:off x="1025525" y="2496855"/>
            <a:ext cx="8507413" cy="425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sz="3200">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baseline="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sz="2000">
                <a:solidFill>
                  <a:srgbClr val="404040"/>
                </a:solidFill>
                <a:latin typeface="微软雅黑" panose="020B0503020204020204" charset="-122"/>
                <a:ea typeface="微软雅黑" panose="020B0503020204020204" charset="-122"/>
              </a:defRPr>
            </a:lvl5pPr>
            <a:lvl6pPr marL="25146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6pPr>
            <a:lvl7pPr marL="29718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7pPr>
            <a:lvl8pPr marL="34290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8pPr>
            <a:lvl9pPr marL="3886200" indent="-228600" algn="l" rtl="0" eaLnBrk="1" fontAlgn="base" hangingPunct="1">
              <a:spcBef>
                <a:spcPct val="20000"/>
              </a:spcBef>
              <a:spcAft>
                <a:spcPct val="0"/>
              </a:spcAft>
              <a:buClr>
                <a:schemeClr val="tx2"/>
              </a:buClr>
              <a:buFont typeface="Arial" panose="020B0604020202020204" pitchFamily="34" charset="0"/>
              <a:buChar char="»"/>
              <a:defRPr>
                <a:solidFill>
                  <a:schemeClr val="tx1"/>
                </a:solidFill>
                <a:latin typeface="+mn-lt"/>
                <a:ea typeface="+mn-ea"/>
              </a:defRPr>
            </a:lvl9pPr>
          </a:lstStyle>
          <a:p>
            <a:pPr marL="0" indent="0">
              <a:buNone/>
            </a:pPr>
            <a:r>
              <a:rPr lang="en-US" altLang="zh-CN" sz="1800" dirty="0"/>
              <a:t>1</a:t>
            </a:r>
            <a:r>
              <a:rPr lang="zh-CN" altLang="zh-CN" sz="1800" dirty="0"/>
              <a:t>）设定</a:t>
            </a:r>
            <a:r>
              <a:rPr lang="en-US" altLang="zh-CN" sz="1800" dirty="0"/>
              <a:t>PCI</a:t>
            </a:r>
            <a:r>
              <a:rPr lang="zh-CN" altLang="zh-CN" sz="1800" dirty="0"/>
              <a:t>复用层数和距离；</a:t>
            </a:r>
          </a:p>
          <a:p>
            <a:pPr marL="0" indent="0">
              <a:buNone/>
            </a:pPr>
            <a:r>
              <a:rPr lang="en-US" altLang="zh-CN" sz="1800" dirty="0"/>
              <a:t>2</a:t>
            </a:r>
            <a:r>
              <a:rPr lang="zh-CN" altLang="zh-CN" sz="1800" dirty="0"/>
              <a:t>）通过工具筛选不满足</a:t>
            </a:r>
            <a:r>
              <a:rPr lang="en-US" altLang="zh-CN" sz="1800" dirty="0"/>
              <a:t>PCI</a:t>
            </a:r>
            <a:r>
              <a:rPr lang="zh-CN" altLang="zh-CN" sz="1800" dirty="0"/>
              <a:t>复用条件的小区；</a:t>
            </a:r>
          </a:p>
          <a:p>
            <a:pPr marL="0" indent="0">
              <a:buNone/>
            </a:pPr>
            <a:r>
              <a:rPr lang="en-US" altLang="zh-CN" sz="1800" dirty="0"/>
              <a:t>3</a:t>
            </a:r>
            <a:r>
              <a:rPr lang="zh-CN" altLang="zh-CN" sz="1800" dirty="0"/>
              <a:t>）使用预留的</a:t>
            </a:r>
            <a:r>
              <a:rPr lang="en-US" altLang="zh-CN" sz="1800" dirty="0"/>
              <a:t>PCI</a:t>
            </a:r>
            <a:r>
              <a:rPr lang="zh-CN" altLang="zh-CN" sz="1800" dirty="0"/>
              <a:t>（</a:t>
            </a:r>
            <a:r>
              <a:rPr lang="en-US" altLang="zh-CN" sz="1800" dirty="0"/>
              <a:t>PCI</a:t>
            </a:r>
            <a:r>
              <a:rPr lang="zh-CN" altLang="zh-CN" sz="1800" dirty="0"/>
              <a:t>组）对不满足复用条件的小区进行替换；</a:t>
            </a:r>
          </a:p>
          <a:p>
            <a:pPr marL="0" indent="0">
              <a:buNone/>
            </a:pPr>
            <a:r>
              <a:rPr lang="en-US" altLang="zh-CN" sz="1800" dirty="0"/>
              <a:t>4</a:t>
            </a:r>
            <a:r>
              <a:rPr lang="zh-CN" altLang="zh-CN" sz="1800" dirty="0"/>
              <a:t>）调整完后，再次进行评估，确保满足要求。</a:t>
            </a:r>
          </a:p>
        </p:txBody>
      </p:sp>
      <p:pic>
        <p:nvPicPr>
          <p:cNvPr id="1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9596" y="1503081"/>
            <a:ext cx="214947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9303" y="3798325"/>
            <a:ext cx="5105400"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2186" y="4298667"/>
            <a:ext cx="3071812"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3.5  </a:t>
            </a:r>
            <a:r>
              <a:rPr kumimoji="1" lang="zh-CN" altLang="en-US" sz="1900" b="1" dirty="0">
                <a:latin typeface="微软雅黑" panose="020B0503020204020204" charset="-122"/>
                <a:ea typeface="微软雅黑" panose="020B0503020204020204" charset="-122"/>
                <a:cs typeface="微软雅黑" panose="020B0503020204020204" charset="-122"/>
              </a:rPr>
              <a:t>邻区规划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矩形 1"/>
          <p:cNvSpPr/>
          <p:nvPr/>
        </p:nvSpPr>
        <p:spPr>
          <a:xfrm>
            <a:off x="3801532" y="1536873"/>
            <a:ext cx="6790267" cy="892552"/>
          </a:xfrm>
          <a:prstGeom prst="rect">
            <a:avLst/>
          </a:prstGeom>
        </p:spPr>
        <p:txBody>
          <a:bodyPr wrap="square">
            <a:spAutoFit/>
          </a:bodyPr>
          <a:lstStyle/>
          <a:p>
            <a:pPr lvl="0" fontAlgn="base">
              <a:lnSpc>
                <a:spcPct val="130000"/>
              </a:lnSpc>
              <a:spcBef>
                <a:spcPct val="20000"/>
              </a:spcBef>
              <a:spcAft>
                <a:spcPct val="0"/>
              </a:spcAft>
              <a:buClr>
                <a:srgbClr val="008FD4"/>
              </a:buClr>
              <a:buSzPct val="70000"/>
              <a:defRPr/>
            </a:pPr>
            <a:r>
              <a:rPr lang="zh-CN" altLang="zh-CN" sz="2000" dirty="0">
                <a:solidFill>
                  <a:srgbClr val="FF0000"/>
                </a:solidFill>
                <a:latin typeface="+mj-ea"/>
              </a:rPr>
              <a:t>邻区规划的目的在于保证在小区服务边界的手机能及时切换到信号最佳的邻小区，以保证通话质量和整网的性能。</a:t>
            </a:r>
            <a:endParaRPr lang="en-US" altLang="zh-CN" sz="2000" dirty="0">
              <a:solidFill>
                <a:srgbClr val="FF0000"/>
              </a:solidFill>
              <a:latin typeface="+mj-ea"/>
            </a:endParaRPr>
          </a:p>
        </p:txBody>
      </p:sp>
      <p:sp>
        <p:nvSpPr>
          <p:cNvPr id="4" name="矩形 3"/>
          <p:cNvSpPr/>
          <p:nvPr/>
        </p:nvSpPr>
        <p:spPr>
          <a:xfrm>
            <a:off x="1064895" y="2705426"/>
            <a:ext cx="9730105" cy="3360920"/>
          </a:xfrm>
          <a:prstGeom prst="rect">
            <a:avLst/>
          </a:prstGeom>
        </p:spPr>
        <p:txBody>
          <a:bodyPr wrap="square">
            <a:spAutoFit/>
          </a:bodyPr>
          <a:lstStyle/>
          <a:p>
            <a:pPr marL="342900" lvl="0" indent="-342900" fontAlgn="base">
              <a:lnSpc>
                <a:spcPct val="130000"/>
              </a:lnSpc>
              <a:spcBef>
                <a:spcPct val="20000"/>
              </a:spcBef>
              <a:spcAft>
                <a:spcPct val="0"/>
              </a:spcAft>
              <a:buClr>
                <a:srgbClr val="008FD4"/>
              </a:buClr>
              <a:buSzPct val="70000"/>
              <a:defRPr/>
            </a:pPr>
            <a:r>
              <a:rPr lang="zh-CN" altLang="zh-CN" dirty="0">
                <a:latin typeface="+mj-ea"/>
              </a:rPr>
              <a:t>一般按照如下</a:t>
            </a:r>
            <a:r>
              <a:rPr lang="zh-CN" altLang="zh-CN" dirty="0">
                <a:solidFill>
                  <a:srgbClr val="FF0000"/>
                </a:solidFill>
                <a:latin typeface="+mj-ea"/>
              </a:rPr>
              <a:t>原则</a:t>
            </a:r>
            <a:r>
              <a:rPr lang="zh-CN" altLang="zh-CN" dirty="0">
                <a:latin typeface="+mj-ea"/>
              </a:rPr>
              <a:t>进行分配：</a:t>
            </a:r>
          </a:p>
          <a:p>
            <a:pPr marL="342900" lvl="0" indent="-342900" fontAlgn="base">
              <a:lnSpc>
                <a:spcPct val="130000"/>
              </a:lnSpc>
              <a:spcBef>
                <a:spcPct val="20000"/>
              </a:spcBef>
              <a:spcAft>
                <a:spcPct val="0"/>
              </a:spcAft>
              <a:buClr>
                <a:srgbClr val="008FD4"/>
              </a:buClr>
              <a:buSzPct val="70000"/>
              <a:defRPr/>
            </a:pPr>
            <a:r>
              <a:rPr lang="en-US" altLang="zh-CN" dirty="0">
                <a:solidFill>
                  <a:srgbClr val="404040"/>
                </a:solidFill>
                <a:latin typeface="+mj-ea"/>
              </a:rPr>
              <a:t>	</a:t>
            </a:r>
            <a:r>
              <a:rPr lang="en-US" altLang="zh-CN" dirty="0">
                <a:latin typeface="+mj-ea"/>
              </a:rPr>
              <a:t>1</a:t>
            </a:r>
            <a:r>
              <a:rPr lang="zh-CN" altLang="en-US" dirty="0">
                <a:latin typeface="+mj-ea"/>
              </a:rPr>
              <a:t>）</a:t>
            </a:r>
            <a:r>
              <a:rPr lang="zh-CN" altLang="zh-CN" dirty="0">
                <a:latin typeface="+mj-ea"/>
              </a:rPr>
              <a:t>地理位置上直接相邻的小区一般要作为邻区；</a:t>
            </a:r>
          </a:p>
          <a:p>
            <a:pPr marL="342900" lvl="0" indent="-342900" fontAlgn="base">
              <a:lnSpc>
                <a:spcPct val="130000"/>
              </a:lnSpc>
              <a:spcBef>
                <a:spcPct val="20000"/>
              </a:spcBef>
              <a:spcAft>
                <a:spcPct val="0"/>
              </a:spcAft>
              <a:buClr>
                <a:srgbClr val="008FD4"/>
              </a:buClr>
              <a:buSzPct val="70000"/>
              <a:defRPr/>
            </a:pPr>
            <a:r>
              <a:rPr lang="en-US" altLang="zh-CN" dirty="0">
                <a:latin typeface="+mj-ea"/>
              </a:rPr>
              <a:t>	2</a:t>
            </a:r>
            <a:r>
              <a:rPr lang="zh-CN" altLang="en-US" dirty="0">
                <a:latin typeface="+mj-ea"/>
              </a:rPr>
              <a:t>）</a:t>
            </a:r>
            <a:r>
              <a:rPr lang="zh-CN" altLang="zh-CN" dirty="0">
                <a:latin typeface="+mj-ea"/>
              </a:rPr>
              <a:t>邻区一般都要求互为邻区；在一些特殊场合，可能要求配置单向邻区。</a:t>
            </a:r>
          </a:p>
          <a:p>
            <a:pPr marL="342900" lvl="0" indent="-342900" fontAlgn="base">
              <a:lnSpc>
                <a:spcPct val="130000"/>
              </a:lnSpc>
              <a:spcBef>
                <a:spcPct val="20000"/>
              </a:spcBef>
              <a:spcAft>
                <a:spcPct val="0"/>
              </a:spcAft>
              <a:buClr>
                <a:srgbClr val="008FD4"/>
              </a:buClr>
              <a:buSzPct val="70000"/>
              <a:defRPr/>
            </a:pPr>
            <a:r>
              <a:rPr lang="en-US" altLang="zh-CN" dirty="0">
                <a:latin typeface="+mj-ea"/>
              </a:rPr>
              <a:t>	3</a:t>
            </a:r>
            <a:r>
              <a:rPr lang="zh-CN" altLang="en-US" dirty="0">
                <a:latin typeface="+mj-ea"/>
              </a:rPr>
              <a:t>）</a:t>
            </a:r>
            <a:r>
              <a:rPr lang="zh-CN" altLang="zh-CN" dirty="0">
                <a:latin typeface="+mj-ea"/>
              </a:rPr>
              <a:t>邻区适当原则。邻区不是越多越好，也不是越少越好。应该遵循适当原则。太多，可能</a:t>
            </a:r>
            <a:endParaRPr lang="en-US" altLang="zh-CN" dirty="0">
              <a:latin typeface="+mj-ea"/>
            </a:endParaRPr>
          </a:p>
          <a:p>
            <a:pPr marL="342900" lvl="0" indent="-342900" fontAlgn="base">
              <a:lnSpc>
                <a:spcPct val="130000"/>
              </a:lnSpc>
              <a:spcBef>
                <a:spcPct val="20000"/>
              </a:spcBef>
              <a:spcAft>
                <a:spcPct val="0"/>
              </a:spcAft>
              <a:buClr>
                <a:srgbClr val="008FD4"/>
              </a:buClr>
              <a:buSzPct val="70000"/>
              <a:defRPr/>
            </a:pPr>
            <a:r>
              <a:rPr lang="en-US" altLang="zh-CN" dirty="0">
                <a:latin typeface="+mj-ea"/>
              </a:rPr>
              <a:t>          </a:t>
            </a:r>
            <a:r>
              <a:rPr lang="zh-CN" altLang="zh-CN" dirty="0">
                <a:latin typeface="+mj-ea"/>
              </a:rPr>
              <a:t>会加重手机终端测量负担。太少，可能会因为缺少邻区导致不必要的掉话和切换失败。</a:t>
            </a:r>
            <a:r>
              <a:rPr lang="en-US" altLang="zh-CN" dirty="0">
                <a:latin typeface="+mj-ea"/>
              </a:rPr>
              <a:t> </a:t>
            </a:r>
          </a:p>
          <a:p>
            <a:pPr marL="342900" lvl="0" indent="-342900" fontAlgn="base">
              <a:lnSpc>
                <a:spcPct val="130000"/>
              </a:lnSpc>
              <a:spcBef>
                <a:spcPct val="20000"/>
              </a:spcBef>
              <a:spcAft>
                <a:spcPct val="0"/>
              </a:spcAft>
              <a:buClr>
                <a:srgbClr val="008FD4"/>
              </a:buClr>
              <a:buSzPct val="70000"/>
              <a:defRPr/>
            </a:pPr>
            <a:r>
              <a:rPr lang="en-US" altLang="zh-CN" dirty="0">
                <a:latin typeface="+mj-ea"/>
              </a:rPr>
              <a:t>          </a:t>
            </a:r>
            <a:r>
              <a:rPr lang="zh-CN" altLang="zh-CN" dirty="0">
                <a:latin typeface="+mj-ea"/>
              </a:rPr>
              <a:t>初始配置推荐在</a:t>
            </a:r>
            <a:r>
              <a:rPr lang="en-US" altLang="zh-CN" dirty="0">
                <a:latin typeface="+mj-ea"/>
              </a:rPr>
              <a:t>16</a:t>
            </a:r>
            <a:r>
              <a:rPr lang="zh-CN" altLang="zh-CN" dirty="0">
                <a:latin typeface="+mj-ea"/>
              </a:rPr>
              <a:t>个以内。</a:t>
            </a:r>
          </a:p>
          <a:p>
            <a:pPr marL="228600" lvl="0" indent="-228600" fontAlgn="base">
              <a:lnSpc>
                <a:spcPct val="130000"/>
              </a:lnSpc>
              <a:spcBef>
                <a:spcPct val="20000"/>
              </a:spcBef>
              <a:spcAft>
                <a:spcPct val="0"/>
              </a:spcAft>
              <a:buClr>
                <a:srgbClr val="008FD4"/>
              </a:buClr>
              <a:buSzPct val="70000"/>
              <a:defRPr/>
            </a:pPr>
            <a:r>
              <a:rPr lang="en-US" altLang="zh-CN" dirty="0">
                <a:latin typeface="+mj-ea"/>
              </a:rPr>
              <a:t>	 4</a:t>
            </a:r>
            <a:r>
              <a:rPr lang="zh-CN" altLang="en-US" dirty="0">
                <a:latin typeface="+mj-ea"/>
              </a:rPr>
              <a:t>）</a:t>
            </a:r>
            <a:r>
              <a:rPr lang="zh-CN" altLang="zh-CN" dirty="0">
                <a:latin typeface="+mj-ea"/>
              </a:rPr>
              <a:t>邻区应该根据路测情况和实际无线环境而定。尤其对于市郊和郊县的基站，即使站间距</a:t>
            </a:r>
            <a:endParaRPr lang="en-US" altLang="zh-CN" dirty="0">
              <a:latin typeface="+mj-ea"/>
            </a:endParaRPr>
          </a:p>
          <a:p>
            <a:pPr marL="228600" lvl="0" indent="-228600" fontAlgn="base">
              <a:lnSpc>
                <a:spcPct val="130000"/>
              </a:lnSpc>
              <a:spcBef>
                <a:spcPct val="20000"/>
              </a:spcBef>
              <a:spcAft>
                <a:spcPct val="0"/>
              </a:spcAft>
              <a:buClr>
                <a:srgbClr val="008FD4"/>
              </a:buClr>
              <a:buSzPct val="70000"/>
              <a:defRPr/>
            </a:pPr>
            <a:r>
              <a:rPr lang="en-US" altLang="zh-CN" dirty="0">
                <a:latin typeface="+mj-ea"/>
              </a:rPr>
              <a:t>          </a:t>
            </a:r>
            <a:r>
              <a:rPr lang="zh-CN" altLang="zh-CN" dirty="0">
                <a:latin typeface="+mj-ea"/>
              </a:rPr>
              <a:t>很大，也尽量把要把位置上相邻的作为邻区，保证能够及时做可能的切换。</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17"/>
          <a:tile tx="0" ty="0" sx="100000" sy="100000" flip="none" algn="tl"/>
        </a:blipFill>
        <a:effectLst/>
      </p:bgPr>
    </p:bg>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任务二：步入</a:t>
            </a:r>
            <a:r>
              <a:rPr lang="en-US" altLang="zh-CN" dirty="0"/>
              <a:t>LTE</a:t>
            </a:r>
            <a:r>
              <a:rPr lang="zh-CN" altLang="en-US" dirty="0"/>
              <a:t>网络规划</a:t>
            </a:r>
          </a:p>
        </p:txBody>
      </p:sp>
      <p:sp>
        <p:nvSpPr>
          <p:cNvPr id="12" name="文本框 11"/>
          <p:cNvSpPr txBox="1"/>
          <p:nvPr/>
        </p:nvSpPr>
        <p:spPr>
          <a:xfrm>
            <a:off x="903882" y="996950"/>
            <a:ext cx="2716975"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3.  LTE</a:t>
            </a:r>
            <a:r>
              <a:rPr kumimoji="1" lang="zh-CN" altLang="en-US" sz="2375" b="1" dirty="0">
                <a:latin typeface="微软雅黑" panose="020B0503020204020204" charset="-122"/>
                <a:ea typeface="微软雅黑" panose="020B0503020204020204" charset="-122"/>
                <a:cs typeface="微软雅黑" panose="020B0503020204020204" charset="-122"/>
              </a:rPr>
              <a:t>参数规划</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3.5  </a:t>
            </a:r>
            <a:r>
              <a:rPr kumimoji="1" lang="zh-CN" altLang="en-US" sz="1900" b="1" dirty="0">
                <a:latin typeface="微软雅黑" panose="020B0503020204020204" charset="-122"/>
                <a:ea typeface="微软雅黑" panose="020B0503020204020204" charset="-122"/>
                <a:cs typeface="微软雅黑" panose="020B0503020204020204" charset="-122"/>
              </a:rPr>
              <a:t>邻区规划</a:t>
            </a:r>
          </a:p>
        </p:txBody>
      </p:sp>
      <p:sp>
        <p:nvSpPr>
          <p:cNvPr id="6"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MH_Other_1"/>
          <p:cNvSpPr>
            <a:spLocks noChangeArrowheads="1"/>
          </p:cNvSpPr>
          <p:nvPr>
            <p:custDataLst>
              <p:tags r:id="rId1"/>
            </p:custDataLst>
          </p:nvPr>
        </p:nvSpPr>
        <p:spPr bwMode="auto">
          <a:xfrm>
            <a:off x="1477645" y="2689570"/>
            <a:ext cx="357188" cy="355600"/>
          </a:xfrm>
          <a:prstGeom prst="diamond">
            <a:avLst/>
          </a:prstGeom>
          <a:solidFill>
            <a:srgbClr val="CFEDE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2"/>
          <p:cNvSpPr>
            <a:spLocks noChangeArrowheads="1"/>
          </p:cNvSpPr>
          <p:nvPr>
            <p:custDataLst>
              <p:tags r:id="rId2"/>
            </p:custDataLst>
          </p:nvPr>
        </p:nvSpPr>
        <p:spPr bwMode="auto">
          <a:xfrm>
            <a:off x="1477645" y="3094384"/>
            <a:ext cx="357188" cy="357187"/>
          </a:xfrm>
          <a:prstGeom prst="diamond">
            <a:avLst/>
          </a:prstGeom>
          <a:solidFill>
            <a:srgbClr val="CFEDE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3"/>
          <p:cNvSpPr>
            <a:spLocks noChangeArrowheads="1"/>
          </p:cNvSpPr>
          <p:nvPr>
            <p:custDataLst>
              <p:tags r:id="rId3"/>
            </p:custDataLst>
          </p:nvPr>
        </p:nvSpPr>
        <p:spPr bwMode="auto">
          <a:xfrm>
            <a:off x="1684020" y="2892770"/>
            <a:ext cx="355600" cy="355600"/>
          </a:xfrm>
          <a:prstGeom prst="diamond">
            <a:avLst/>
          </a:prstGeom>
          <a:solidFill>
            <a:srgbClr val="95D7BB"/>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4"/>
          <p:cNvSpPr/>
          <p:nvPr>
            <p:custDataLst>
              <p:tags r:id="rId4"/>
            </p:custDataLst>
          </p:nvPr>
        </p:nvSpPr>
        <p:spPr>
          <a:xfrm>
            <a:off x="1093470" y="2560984"/>
            <a:ext cx="534988"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a:lnSpc>
                <a:spcPct val="130000"/>
              </a:lnSpc>
              <a:defRPr/>
            </a:pPr>
            <a:endParaRPr lang="zh-CN" altLang="en-US" dirty="0" err="1">
              <a:solidFill>
                <a:srgbClr val="FFFFFF"/>
              </a:solidFill>
              <a:ea typeface="微软雅黑" panose="020B0503020204020204" charset="-122"/>
            </a:endParaRPr>
          </a:p>
        </p:txBody>
      </p:sp>
      <p:sp>
        <p:nvSpPr>
          <p:cNvPr id="11" name="MH_Other_5"/>
          <p:cNvSpPr/>
          <p:nvPr>
            <p:custDataLst>
              <p:tags r:id="rId5"/>
            </p:custDataLst>
          </p:nvPr>
        </p:nvSpPr>
        <p:spPr bwMode="auto">
          <a:xfrm>
            <a:off x="1064895" y="2560984"/>
            <a:ext cx="509588"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a:solidFill>
                  <a:srgbClr val="FFFFFF"/>
                </a:solidFill>
                <a:ea typeface="微软雅黑" panose="020B0503020204020204" charset="-122"/>
              </a:rPr>
              <a:t>A</a:t>
            </a:r>
            <a:endParaRPr lang="zh-CN" altLang="en-US" sz="2400" b="1">
              <a:solidFill>
                <a:srgbClr val="FFFFFF"/>
              </a:solidFill>
              <a:ea typeface="微软雅黑" panose="020B0503020204020204" charset="-122"/>
            </a:endParaRPr>
          </a:p>
        </p:txBody>
      </p:sp>
      <p:sp>
        <p:nvSpPr>
          <p:cNvPr id="13" name="MH_Text_1"/>
          <p:cNvSpPr/>
          <p:nvPr>
            <p:custDataLst>
              <p:tags r:id="rId6"/>
            </p:custDataLst>
          </p:nvPr>
        </p:nvSpPr>
        <p:spPr>
          <a:xfrm>
            <a:off x="2039620" y="3045170"/>
            <a:ext cx="3765550" cy="2712162"/>
          </a:xfrm>
          <a:prstGeom prst="rect">
            <a:avLst/>
          </a:prstGeom>
        </p:spPr>
        <p:txBody>
          <a:bodyPr>
            <a:normAutofit/>
          </a:bodyPr>
          <a:lstStyle/>
          <a:p>
            <a:pPr marL="285750" indent="-285750">
              <a:lnSpc>
                <a:spcPct val="150000"/>
              </a:lnSpc>
              <a:buFont typeface="Arial" panose="020B0604020202020204" pitchFamily="34" charset="0"/>
              <a:buChar char="•"/>
              <a:defRPr/>
            </a:pPr>
            <a:r>
              <a:rPr lang="zh-CN" altLang="en-US" dirty="0"/>
              <a:t>用于指示终端更快地搜索相邻扇区的信号</a:t>
            </a:r>
          </a:p>
          <a:p>
            <a:pPr marL="285750" indent="-285750">
              <a:lnSpc>
                <a:spcPct val="150000"/>
              </a:lnSpc>
              <a:buFont typeface="Arial" panose="020B0604020202020204" pitchFamily="34" charset="0"/>
              <a:buChar char="•"/>
              <a:defRPr/>
            </a:pPr>
            <a:r>
              <a:rPr lang="zh-CN" altLang="en-US" dirty="0"/>
              <a:t>用于系统自身的切换判决，以决定到底应该和哪个小区切换</a:t>
            </a:r>
          </a:p>
        </p:txBody>
      </p:sp>
      <p:sp>
        <p:nvSpPr>
          <p:cNvPr id="14" name="MH_SubTitle_1"/>
          <p:cNvSpPr/>
          <p:nvPr>
            <p:custDataLst>
              <p:tags r:id="rId7"/>
            </p:custDataLst>
          </p:nvPr>
        </p:nvSpPr>
        <p:spPr>
          <a:xfrm>
            <a:off x="2039620" y="2689569"/>
            <a:ext cx="2578100" cy="409576"/>
          </a:xfrm>
          <a:prstGeom prst="rect">
            <a:avLst/>
          </a:prstGeom>
        </p:spPr>
        <p:txBody>
          <a:bodyPr anchor="b">
            <a:normAutofit fontScale="92500" lnSpcReduction="10000"/>
          </a:bodyPr>
          <a:lstStyle/>
          <a:p>
            <a:pPr>
              <a:defRPr/>
            </a:pPr>
            <a:r>
              <a:rPr lang="zh-CN" altLang="en-US" sz="2400" b="1" kern="0" dirty="0">
                <a:solidFill>
                  <a:srgbClr val="76CBA6"/>
                </a:solidFill>
                <a:cs typeface="宋体" panose="02010600030101010101" pitchFamily="2" charset="-122"/>
              </a:rPr>
              <a:t>邻区的作用</a:t>
            </a:r>
          </a:p>
        </p:txBody>
      </p:sp>
      <p:sp>
        <p:nvSpPr>
          <p:cNvPr id="15" name="MH_Other_11"/>
          <p:cNvSpPr>
            <a:spLocks noChangeArrowheads="1"/>
          </p:cNvSpPr>
          <p:nvPr>
            <p:custDataLst>
              <p:tags r:id="rId8"/>
            </p:custDataLst>
          </p:nvPr>
        </p:nvSpPr>
        <p:spPr bwMode="auto">
          <a:xfrm>
            <a:off x="5708332" y="1477962"/>
            <a:ext cx="357188" cy="355600"/>
          </a:xfrm>
          <a:prstGeom prst="diamond">
            <a:avLst/>
          </a:prstGeom>
          <a:solidFill>
            <a:srgbClr val="FFDAD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12"/>
          <p:cNvSpPr>
            <a:spLocks noChangeArrowheads="1"/>
          </p:cNvSpPr>
          <p:nvPr>
            <p:custDataLst>
              <p:tags r:id="rId9"/>
            </p:custDataLst>
          </p:nvPr>
        </p:nvSpPr>
        <p:spPr bwMode="auto">
          <a:xfrm>
            <a:off x="5708332" y="1882776"/>
            <a:ext cx="357188" cy="357187"/>
          </a:xfrm>
          <a:prstGeom prst="diamond">
            <a:avLst/>
          </a:prstGeom>
          <a:solidFill>
            <a:srgbClr val="FFDAD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Other_13"/>
          <p:cNvSpPr>
            <a:spLocks noChangeArrowheads="1"/>
          </p:cNvSpPr>
          <p:nvPr>
            <p:custDataLst>
              <p:tags r:id="rId10"/>
            </p:custDataLst>
          </p:nvPr>
        </p:nvSpPr>
        <p:spPr bwMode="auto">
          <a:xfrm>
            <a:off x="5914707" y="1681162"/>
            <a:ext cx="355600" cy="355600"/>
          </a:xfrm>
          <a:prstGeom prst="diamond">
            <a:avLst/>
          </a:prstGeom>
          <a:solidFill>
            <a:srgbClr val="FFA09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4"/>
          <p:cNvSpPr/>
          <p:nvPr>
            <p:custDataLst>
              <p:tags r:id="rId11"/>
            </p:custDataLst>
          </p:nvPr>
        </p:nvSpPr>
        <p:spPr>
          <a:xfrm>
            <a:off x="5324157" y="1349376"/>
            <a:ext cx="534988"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a typeface="微软雅黑" panose="020B0503020204020204" charset="-122"/>
            </a:endParaRPr>
          </a:p>
        </p:txBody>
      </p:sp>
      <p:sp>
        <p:nvSpPr>
          <p:cNvPr id="19" name="MH_Other_15"/>
          <p:cNvSpPr/>
          <p:nvPr>
            <p:custDataLst>
              <p:tags r:id="rId12"/>
            </p:custDataLst>
          </p:nvPr>
        </p:nvSpPr>
        <p:spPr bwMode="auto">
          <a:xfrm>
            <a:off x="5295582" y="1349376"/>
            <a:ext cx="509588"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400" b="1">
                <a:solidFill>
                  <a:srgbClr val="FFFFFF"/>
                </a:solidFill>
                <a:ea typeface="微软雅黑" panose="020B0503020204020204" charset="-122"/>
              </a:rPr>
              <a:t>B</a:t>
            </a:r>
            <a:endParaRPr lang="zh-CN" altLang="en-US" sz="2400" b="1">
              <a:solidFill>
                <a:srgbClr val="FFFFFF"/>
              </a:solidFill>
              <a:ea typeface="微软雅黑" panose="020B0503020204020204" charset="-122"/>
            </a:endParaRPr>
          </a:p>
        </p:txBody>
      </p:sp>
      <p:sp>
        <p:nvSpPr>
          <p:cNvPr id="20" name="MH_Text_2"/>
          <p:cNvSpPr/>
          <p:nvPr>
            <p:custDataLst>
              <p:tags r:id="rId13"/>
            </p:custDataLst>
          </p:nvPr>
        </p:nvSpPr>
        <p:spPr>
          <a:xfrm>
            <a:off x="6270306" y="1833562"/>
            <a:ext cx="5447561" cy="4643438"/>
          </a:xfrm>
          <a:prstGeom prst="rect">
            <a:avLst/>
          </a:prstGeom>
        </p:spPr>
        <p:txBody>
          <a:bodyPr>
            <a:normAutofit fontScale="92500" lnSpcReduction="10000"/>
          </a:bodyPr>
          <a:lstStyle/>
          <a:p>
            <a:pPr marL="285750" indent="-285750">
              <a:lnSpc>
                <a:spcPct val="120000"/>
              </a:lnSpc>
              <a:spcBef>
                <a:spcPts val="600"/>
              </a:spcBef>
              <a:spcAft>
                <a:spcPts val="600"/>
              </a:spcAft>
              <a:buFont typeface="Arial" panose="020B0604020202020204" pitchFamily="34" charset="0"/>
              <a:buChar char="•"/>
              <a:defRPr/>
            </a:pPr>
            <a:r>
              <a:rPr lang="zh-CN" altLang="en-US" dirty="0"/>
              <a:t>邻近原则：如果两个小区相邻，那么它们要再彼此的邻区列表中。对于站点较少的业务区，可将所有扇区设置为邻区。</a:t>
            </a:r>
          </a:p>
          <a:p>
            <a:pPr marL="285750" indent="-285750">
              <a:lnSpc>
                <a:spcPct val="120000"/>
              </a:lnSpc>
              <a:spcBef>
                <a:spcPts val="600"/>
              </a:spcBef>
              <a:spcAft>
                <a:spcPts val="600"/>
              </a:spcAft>
              <a:buFont typeface="Arial" panose="020B0604020202020204" pitchFamily="34" charset="0"/>
              <a:buChar char="•"/>
              <a:defRPr/>
            </a:pPr>
            <a:r>
              <a:rPr lang="zh-CN" altLang="en-US" dirty="0"/>
              <a:t>互易性原则：如果小区</a:t>
            </a:r>
            <a:r>
              <a:rPr lang="en-US" altLang="zh-CN" dirty="0"/>
              <a:t>A</a:t>
            </a:r>
            <a:r>
              <a:rPr lang="zh-CN" altLang="en-US" dirty="0"/>
              <a:t>在小区</a:t>
            </a:r>
            <a:r>
              <a:rPr lang="en-US" altLang="zh-CN" dirty="0"/>
              <a:t>B</a:t>
            </a:r>
            <a:r>
              <a:rPr lang="zh-CN" altLang="en-US" dirty="0"/>
              <a:t>的邻区列表中，那么小区</a:t>
            </a:r>
            <a:r>
              <a:rPr lang="en-US" altLang="zh-CN" dirty="0"/>
              <a:t>B</a:t>
            </a:r>
            <a:r>
              <a:rPr lang="zh-CN" altLang="en-US" dirty="0"/>
              <a:t>也要在小区</a:t>
            </a:r>
            <a:r>
              <a:rPr lang="en-US" altLang="zh-CN" dirty="0"/>
              <a:t>A</a:t>
            </a:r>
            <a:r>
              <a:rPr lang="zh-CN" altLang="en-US" dirty="0"/>
              <a:t>的邻区列表中。在一些特殊场合，处理孤岛覆盖时，为了减少掉话，只配置单向邻区。如当高层室内覆盖的窗口处，室外宏站小区的信号较强，为了避免</a:t>
            </a:r>
            <a:r>
              <a:rPr lang="en-US" altLang="zh-CN" dirty="0"/>
              <a:t>UE</a:t>
            </a:r>
            <a:r>
              <a:rPr lang="zh-CN" altLang="en-US" dirty="0"/>
              <a:t>重选到室外小区后发起呼叫后，往室内走时很可能会产生掉话，配置室外小区到室内的单向邻区，这样可以降低室外宏小区的负荷。</a:t>
            </a:r>
          </a:p>
          <a:p>
            <a:pPr marL="285750" indent="-285750">
              <a:lnSpc>
                <a:spcPct val="120000"/>
              </a:lnSpc>
              <a:spcBef>
                <a:spcPts val="600"/>
              </a:spcBef>
              <a:spcAft>
                <a:spcPts val="600"/>
              </a:spcAft>
              <a:buFont typeface="Arial" panose="020B0604020202020204" pitchFamily="34" charset="0"/>
              <a:buChar char="•"/>
              <a:defRPr/>
            </a:pPr>
            <a:r>
              <a:rPr lang="zh-CN" altLang="en-US" dirty="0"/>
              <a:t>百分比重叠覆盖原则：确定一个终端可以接入的导频门限，在大于导频门限的小区覆盖范围内，如果两个小区重叠覆盖的区域比例达到一定程度（如</a:t>
            </a:r>
            <a:r>
              <a:rPr lang="en-US" altLang="zh-CN" dirty="0"/>
              <a:t>20%</a:t>
            </a:r>
            <a:r>
              <a:rPr lang="zh-CN" altLang="en-US" dirty="0"/>
              <a:t>），将这两个小区分别置于彼此的邻区列表中。</a:t>
            </a:r>
          </a:p>
        </p:txBody>
      </p:sp>
      <p:sp>
        <p:nvSpPr>
          <p:cNvPr id="21" name="MH_SubTitle_2"/>
          <p:cNvSpPr/>
          <p:nvPr>
            <p:custDataLst>
              <p:tags r:id="rId14"/>
            </p:custDataLst>
          </p:nvPr>
        </p:nvSpPr>
        <p:spPr>
          <a:xfrm>
            <a:off x="6270307" y="1452243"/>
            <a:ext cx="2578100" cy="435293"/>
          </a:xfrm>
          <a:prstGeom prst="rect">
            <a:avLst/>
          </a:prstGeom>
        </p:spPr>
        <p:txBody>
          <a:bodyPr anchor="b">
            <a:normAutofit lnSpcReduction="10000"/>
          </a:bodyPr>
          <a:lstStyle/>
          <a:p>
            <a:pPr>
              <a:defRPr/>
            </a:pPr>
            <a:r>
              <a:rPr lang="zh-CN" altLang="en-US" sz="2400" b="1" kern="0" dirty="0">
                <a:solidFill>
                  <a:srgbClr val="FF6B55"/>
                </a:solidFill>
                <a:cs typeface="宋体" panose="02010600030101010101" pitchFamily="2" charset="-122"/>
              </a:rPr>
              <a:t>邻区规划的原则</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任务小结</a:t>
            </a:r>
          </a:p>
        </p:txBody>
      </p:sp>
      <p:sp>
        <p:nvSpPr>
          <p:cNvPr id="29" name="Freeform 29"/>
          <p:cNvSpPr>
            <a:spLocks noEditPoints="1"/>
          </p:cNvSpPr>
          <p:nvPr/>
        </p:nvSpPr>
        <p:spPr bwMode="auto">
          <a:xfrm flipH="1">
            <a:off x="8528628" y="1678942"/>
            <a:ext cx="3663372" cy="3991302"/>
          </a:xfrm>
          <a:custGeom>
            <a:avLst/>
            <a:gdLst>
              <a:gd name="T0" fmla="*/ 127 w 358"/>
              <a:gd name="T1" fmla="*/ 292 h 382"/>
              <a:gd name="T2" fmla="*/ 322 w 358"/>
              <a:gd name="T3" fmla="*/ 63 h 382"/>
              <a:gd name="T4" fmla="*/ 333 w 358"/>
              <a:gd name="T5" fmla="*/ 113 h 382"/>
              <a:gd name="T6" fmla="*/ 336 w 358"/>
              <a:gd name="T7" fmla="*/ 178 h 382"/>
              <a:gd name="T8" fmla="*/ 338 w 358"/>
              <a:gd name="T9" fmla="*/ 245 h 382"/>
              <a:gd name="T10" fmla="*/ 321 w 358"/>
              <a:gd name="T11" fmla="*/ 314 h 382"/>
              <a:gd name="T12" fmla="*/ 271 w 358"/>
              <a:gd name="T13" fmla="*/ 382 h 382"/>
              <a:gd name="T14" fmla="*/ 172 w 358"/>
              <a:gd name="T15" fmla="*/ 226 h 382"/>
              <a:gd name="T16" fmla="*/ 123 w 358"/>
              <a:gd name="T17" fmla="*/ 197 h 382"/>
              <a:gd name="T18" fmla="*/ 125 w 358"/>
              <a:gd name="T19" fmla="*/ 208 h 382"/>
              <a:gd name="T20" fmla="*/ 174 w 358"/>
              <a:gd name="T21" fmla="*/ 236 h 382"/>
              <a:gd name="T22" fmla="*/ 172 w 358"/>
              <a:gd name="T23" fmla="*/ 226 h 382"/>
              <a:gd name="T24" fmla="*/ 288 w 358"/>
              <a:gd name="T25" fmla="*/ 136 h 382"/>
              <a:gd name="T26" fmla="*/ 263 w 358"/>
              <a:gd name="T27" fmla="*/ 125 h 382"/>
              <a:gd name="T28" fmla="*/ 171 w 358"/>
              <a:gd name="T29" fmla="*/ 70 h 382"/>
              <a:gd name="T30" fmla="*/ 148 w 358"/>
              <a:gd name="T31" fmla="*/ 54 h 382"/>
              <a:gd name="T32" fmla="*/ 171 w 358"/>
              <a:gd name="T33" fmla="*/ 70 h 382"/>
              <a:gd name="T34" fmla="*/ 204 w 358"/>
              <a:gd name="T35" fmla="*/ 39 h 382"/>
              <a:gd name="T36" fmla="*/ 193 w 358"/>
              <a:gd name="T37" fmla="*/ 64 h 382"/>
              <a:gd name="T38" fmla="*/ 258 w 358"/>
              <a:gd name="T39" fmla="*/ 103 h 382"/>
              <a:gd name="T40" fmla="*/ 274 w 358"/>
              <a:gd name="T41" fmla="*/ 80 h 382"/>
              <a:gd name="T42" fmla="*/ 258 w 358"/>
              <a:gd name="T43" fmla="*/ 103 h 382"/>
              <a:gd name="T44" fmla="*/ 249 w 358"/>
              <a:gd name="T45" fmla="*/ 55 h 382"/>
              <a:gd name="T46" fmla="*/ 226 w 358"/>
              <a:gd name="T47" fmla="*/ 71 h 382"/>
              <a:gd name="T48" fmla="*/ 182 w 358"/>
              <a:gd name="T49" fmla="*/ 209 h 382"/>
              <a:gd name="T50" fmla="*/ 133 w 358"/>
              <a:gd name="T51" fmla="*/ 180 h 382"/>
              <a:gd name="T52" fmla="*/ 135 w 358"/>
              <a:gd name="T53" fmla="*/ 190 h 382"/>
              <a:gd name="T54" fmla="*/ 184 w 358"/>
              <a:gd name="T55" fmla="*/ 219 h 382"/>
              <a:gd name="T56" fmla="*/ 182 w 358"/>
              <a:gd name="T57" fmla="*/ 209 h 382"/>
              <a:gd name="T58" fmla="*/ 157 w 358"/>
              <a:gd name="T59" fmla="*/ 104 h 382"/>
              <a:gd name="T60" fmla="*/ 186 w 358"/>
              <a:gd name="T61" fmla="*/ 195 h 382"/>
              <a:gd name="T62" fmla="*/ 222 w 358"/>
              <a:gd name="T63" fmla="*/ 90 h 382"/>
              <a:gd name="T64" fmla="*/ 136 w 358"/>
              <a:gd name="T65" fmla="*/ 238 h 382"/>
              <a:gd name="T66" fmla="*/ 129 w 358"/>
              <a:gd name="T67" fmla="*/ 2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8" h="382">
                <a:moveTo>
                  <a:pt x="131" y="382"/>
                </a:moveTo>
                <a:cubicBezTo>
                  <a:pt x="135" y="352"/>
                  <a:pt x="135" y="320"/>
                  <a:pt x="127" y="292"/>
                </a:cubicBezTo>
                <a:cubicBezTo>
                  <a:pt x="0" y="220"/>
                  <a:pt x="34" y="56"/>
                  <a:pt x="140" y="23"/>
                </a:cubicBezTo>
                <a:cubicBezTo>
                  <a:pt x="196" y="0"/>
                  <a:pt x="272" y="14"/>
                  <a:pt x="322" y="63"/>
                </a:cubicBezTo>
                <a:cubicBezTo>
                  <a:pt x="358" y="99"/>
                  <a:pt x="340" y="109"/>
                  <a:pt x="340" y="109"/>
                </a:cubicBezTo>
                <a:cubicBezTo>
                  <a:pt x="333" y="113"/>
                  <a:pt x="333" y="113"/>
                  <a:pt x="333" y="113"/>
                </a:cubicBezTo>
                <a:cubicBezTo>
                  <a:pt x="337" y="130"/>
                  <a:pt x="345" y="162"/>
                  <a:pt x="344" y="166"/>
                </a:cubicBezTo>
                <a:cubicBezTo>
                  <a:pt x="342" y="172"/>
                  <a:pt x="336" y="178"/>
                  <a:pt x="336" y="178"/>
                </a:cubicBezTo>
                <a:cubicBezTo>
                  <a:pt x="354" y="239"/>
                  <a:pt x="354" y="239"/>
                  <a:pt x="354" y="239"/>
                </a:cubicBezTo>
                <a:cubicBezTo>
                  <a:pt x="338" y="245"/>
                  <a:pt x="338" y="245"/>
                  <a:pt x="338" y="245"/>
                </a:cubicBezTo>
                <a:cubicBezTo>
                  <a:pt x="341" y="265"/>
                  <a:pt x="343" y="281"/>
                  <a:pt x="341" y="300"/>
                </a:cubicBezTo>
                <a:cubicBezTo>
                  <a:pt x="341" y="304"/>
                  <a:pt x="330" y="313"/>
                  <a:pt x="321" y="314"/>
                </a:cubicBezTo>
                <a:cubicBezTo>
                  <a:pt x="267" y="317"/>
                  <a:pt x="267" y="317"/>
                  <a:pt x="267" y="317"/>
                </a:cubicBezTo>
                <a:cubicBezTo>
                  <a:pt x="271" y="382"/>
                  <a:pt x="271" y="382"/>
                  <a:pt x="271" y="382"/>
                </a:cubicBezTo>
                <a:cubicBezTo>
                  <a:pt x="131" y="382"/>
                  <a:pt x="131" y="382"/>
                  <a:pt x="131" y="382"/>
                </a:cubicBezTo>
                <a:close/>
                <a:moveTo>
                  <a:pt x="172" y="226"/>
                </a:moveTo>
                <a:cubicBezTo>
                  <a:pt x="132" y="196"/>
                  <a:pt x="132" y="196"/>
                  <a:pt x="132" y="196"/>
                </a:cubicBezTo>
                <a:cubicBezTo>
                  <a:pt x="129" y="193"/>
                  <a:pt x="125" y="194"/>
                  <a:pt x="123" y="197"/>
                </a:cubicBezTo>
                <a:cubicBezTo>
                  <a:pt x="123" y="197"/>
                  <a:pt x="123" y="197"/>
                  <a:pt x="123" y="197"/>
                </a:cubicBezTo>
                <a:cubicBezTo>
                  <a:pt x="121" y="201"/>
                  <a:pt x="122" y="205"/>
                  <a:pt x="125" y="208"/>
                </a:cubicBezTo>
                <a:cubicBezTo>
                  <a:pt x="165" y="238"/>
                  <a:pt x="165" y="238"/>
                  <a:pt x="165" y="238"/>
                </a:cubicBezTo>
                <a:cubicBezTo>
                  <a:pt x="168" y="240"/>
                  <a:pt x="172" y="239"/>
                  <a:pt x="174" y="236"/>
                </a:cubicBezTo>
                <a:cubicBezTo>
                  <a:pt x="174" y="236"/>
                  <a:pt x="174" y="236"/>
                  <a:pt x="174" y="236"/>
                </a:cubicBezTo>
                <a:cubicBezTo>
                  <a:pt x="176" y="233"/>
                  <a:pt x="175" y="228"/>
                  <a:pt x="172" y="226"/>
                </a:cubicBezTo>
                <a:close/>
                <a:moveTo>
                  <a:pt x="263" y="136"/>
                </a:moveTo>
                <a:cubicBezTo>
                  <a:pt x="288" y="136"/>
                  <a:pt x="288" y="136"/>
                  <a:pt x="288" y="136"/>
                </a:cubicBezTo>
                <a:cubicBezTo>
                  <a:pt x="288" y="125"/>
                  <a:pt x="288" y="125"/>
                  <a:pt x="288" y="125"/>
                </a:cubicBezTo>
                <a:cubicBezTo>
                  <a:pt x="263" y="125"/>
                  <a:pt x="263" y="125"/>
                  <a:pt x="263" y="125"/>
                </a:cubicBezTo>
                <a:cubicBezTo>
                  <a:pt x="263" y="136"/>
                  <a:pt x="263" y="136"/>
                  <a:pt x="263" y="136"/>
                </a:cubicBezTo>
                <a:close/>
                <a:moveTo>
                  <a:pt x="171" y="70"/>
                </a:moveTo>
                <a:cubicBezTo>
                  <a:pt x="158" y="48"/>
                  <a:pt x="158" y="48"/>
                  <a:pt x="158" y="48"/>
                </a:cubicBezTo>
                <a:cubicBezTo>
                  <a:pt x="148" y="54"/>
                  <a:pt x="148" y="54"/>
                  <a:pt x="148" y="54"/>
                </a:cubicBezTo>
                <a:cubicBezTo>
                  <a:pt x="161" y="76"/>
                  <a:pt x="161" y="76"/>
                  <a:pt x="161" y="76"/>
                </a:cubicBezTo>
                <a:cubicBezTo>
                  <a:pt x="171" y="70"/>
                  <a:pt x="171" y="70"/>
                  <a:pt x="171" y="70"/>
                </a:cubicBezTo>
                <a:close/>
                <a:moveTo>
                  <a:pt x="204" y="64"/>
                </a:moveTo>
                <a:cubicBezTo>
                  <a:pt x="204" y="39"/>
                  <a:pt x="204" y="39"/>
                  <a:pt x="204" y="39"/>
                </a:cubicBezTo>
                <a:cubicBezTo>
                  <a:pt x="193" y="39"/>
                  <a:pt x="193" y="39"/>
                  <a:pt x="193" y="39"/>
                </a:cubicBezTo>
                <a:cubicBezTo>
                  <a:pt x="193" y="64"/>
                  <a:pt x="193" y="64"/>
                  <a:pt x="193" y="64"/>
                </a:cubicBezTo>
                <a:cubicBezTo>
                  <a:pt x="204" y="64"/>
                  <a:pt x="204" y="64"/>
                  <a:pt x="204" y="64"/>
                </a:cubicBezTo>
                <a:close/>
                <a:moveTo>
                  <a:pt x="258" y="103"/>
                </a:moveTo>
                <a:cubicBezTo>
                  <a:pt x="279" y="90"/>
                  <a:pt x="279" y="90"/>
                  <a:pt x="279" y="90"/>
                </a:cubicBezTo>
                <a:cubicBezTo>
                  <a:pt x="274" y="80"/>
                  <a:pt x="274" y="80"/>
                  <a:pt x="274" y="80"/>
                </a:cubicBezTo>
                <a:cubicBezTo>
                  <a:pt x="252" y="93"/>
                  <a:pt x="252" y="93"/>
                  <a:pt x="252" y="93"/>
                </a:cubicBezTo>
                <a:cubicBezTo>
                  <a:pt x="258" y="103"/>
                  <a:pt x="258" y="103"/>
                  <a:pt x="258" y="103"/>
                </a:cubicBezTo>
                <a:close/>
                <a:moveTo>
                  <a:pt x="236" y="76"/>
                </a:moveTo>
                <a:cubicBezTo>
                  <a:pt x="249" y="55"/>
                  <a:pt x="249" y="55"/>
                  <a:pt x="249" y="55"/>
                </a:cubicBezTo>
                <a:cubicBezTo>
                  <a:pt x="239" y="49"/>
                  <a:pt x="239" y="49"/>
                  <a:pt x="239" y="49"/>
                </a:cubicBezTo>
                <a:cubicBezTo>
                  <a:pt x="226" y="71"/>
                  <a:pt x="226" y="71"/>
                  <a:pt x="226" y="71"/>
                </a:cubicBezTo>
                <a:cubicBezTo>
                  <a:pt x="236" y="76"/>
                  <a:pt x="236" y="76"/>
                  <a:pt x="236" y="76"/>
                </a:cubicBezTo>
                <a:close/>
                <a:moveTo>
                  <a:pt x="182" y="209"/>
                </a:moveTo>
                <a:cubicBezTo>
                  <a:pt x="142" y="178"/>
                  <a:pt x="142" y="178"/>
                  <a:pt x="142" y="178"/>
                </a:cubicBezTo>
                <a:cubicBezTo>
                  <a:pt x="139" y="176"/>
                  <a:pt x="135" y="177"/>
                  <a:pt x="133" y="180"/>
                </a:cubicBezTo>
                <a:cubicBezTo>
                  <a:pt x="133" y="180"/>
                  <a:pt x="133" y="180"/>
                  <a:pt x="133" y="180"/>
                </a:cubicBezTo>
                <a:cubicBezTo>
                  <a:pt x="131" y="183"/>
                  <a:pt x="132" y="188"/>
                  <a:pt x="135" y="190"/>
                </a:cubicBezTo>
                <a:cubicBezTo>
                  <a:pt x="175" y="221"/>
                  <a:pt x="175" y="221"/>
                  <a:pt x="175" y="221"/>
                </a:cubicBezTo>
                <a:cubicBezTo>
                  <a:pt x="178" y="223"/>
                  <a:pt x="182" y="222"/>
                  <a:pt x="184" y="219"/>
                </a:cubicBezTo>
                <a:cubicBezTo>
                  <a:pt x="184" y="219"/>
                  <a:pt x="184" y="219"/>
                  <a:pt x="184" y="219"/>
                </a:cubicBezTo>
                <a:cubicBezTo>
                  <a:pt x="186" y="216"/>
                  <a:pt x="185" y="211"/>
                  <a:pt x="182" y="209"/>
                </a:cubicBezTo>
                <a:close/>
                <a:moveTo>
                  <a:pt x="222" y="90"/>
                </a:moveTo>
                <a:cubicBezTo>
                  <a:pt x="198" y="76"/>
                  <a:pt x="169" y="83"/>
                  <a:pt x="157" y="104"/>
                </a:cubicBezTo>
                <a:cubicBezTo>
                  <a:pt x="144" y="126"/>
                  <a:pt x="160" y="151"/>
                  <a:pt x="149" y="174"/>
                </a:cubicBezTo>
                <a:cubicBezTo>
                  <a:pt x="186" y="195"/>
                  <a:pt x="186" y="195"/>
                  <a:pt x="186" y="195"/>
                </a:cubicBezTo>
                <a:cubicBezTo>
                  <a:pt x="200" y="174"/>
                  <a:pt x="229" y="176"/>
                  <a:pt x="242" y="154"/>
                </a:cubicBezTo>
                <a:cubicBezTo>
                  <a:pt x="255" y="132"/>
                  <a:pt x="245" y="104"/>
                  <a:pt x="222" y="90"/>
                </a:cubicBezTo>
                <a:close/>
                <a:moveTo>
                  <a:pt x="129" y="216"/>
                </a:moveTo>
                <a:cubicBezTo>
                  <a:pt x="125" y="224"/>
                  <a:pt x="128" y="233"/>
                  <a:pt x="136" y="238"/>
                </a:cubicBezTo>
                <a:cubicBezTo>
                  <a:pt x="142" y="241"/>
                  <a:pt x="150" y="240"/>
                  <a:pt x="155" y="236"/>
                </a:cubicBezTo>
                <a:lnTo>
                  <a:pt x="129" y="216"/>
                </a:lnTo>
                <a:close/>
              </a:path>
            </a:pathLst>
          </a:custGeom>
          <a:solidFill>
            <a:srgbClr val="8F000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latin typeface="Calibri" panose="020F0502020204030204"/>
              <a:ea typeface="宋体" panose="02010600030101010101" pitchFamily="2" charset="-122"/>
            </a:endParaRPr>
          </a:p>
        </p:txBody>
      </p:sp>
      <p:sp>
        <p:nvSpPr>
          <p:cNvPr id="2" name="矩形 1"/>
          <p:cNvSpPr/>
          <p:nvPr/>
        </p:nvSpPr>
        <p:spPr>
          <a:xfrm>
            <a:off x="1675908" y="1913951"/>
            <a:ext cx="6096000" cy="3521285"/>
          </a:xfrm>
          <a:prstGeom prst="rect">
            <a:avLst/>
          </a:prstGeom>
        </p:spPr>
        <p:txBody>
          <a:bodyPr>
            <a:spAutoFit/>
          </a:bodyPr>
          <a:lstStyle/>
          <a:p>
            <a:pPr marL="285750" indent="-285750" algn="just">
              <a:lnSpc>
                <a:spcPct val="150000"/>
              </a:lnSpc>
              <a:spcBef>
                <a:spcPts val="600"/>
              </a:spcBef>
              <a:spcAft>
                <a:spcPts val="600"/>
              </a:spcAft>
              <a:buFont typeface="Arial" panose="020B0604020202020204" pitchFamily="34" charset="0"/>
              <a:buChar char="•"/>
            </a:pPr>
            <a:r>
              <a:rPr lang="zh-CN" altLang="en-US" kern="100" dirty="0">
                <a:latin typeface="+mn-ea"/>
                <a:cs typeface="Arial" panose="020B0604020202020204" pitchFamily="34" charset="0"/>
              </a:rPr>
              <a:t>本次任务主要介绍了覆盖规划的流程、室内、外链路预算的方法，容量规划的流程和容量仿真工具，以及</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小区</a:t>
            </a:r>
            <a:r>
              <a:rPr lang="en-US" altLang="zh-CN" kern="100" dirty="0">
                <a:latin typeface="+mn-ea"/>
                <a:cs typeface="Arial" panose="020B0604020202020204" pitchFamily="34" charset="0"/>
              </a:rPr>
              <a:t>ID</a:t>
            </a:r>
            <a:r>
              <a:rPr lang="zh-CN" altLang="en-US" kern="100" dirty="0">
                <a:latin typeface="+mn-ea"/>
                <a:cs typeface="Arial" panose="020B0604020202020204" pitchFamily="34" charset="0"/>
              </a:rPr>
              <a:t>规划、跟踪区</a:t>
            </a:r>
            <a:r>
              <a:rPr lang="en-US" altLang="zh-CN" kern="100" dirty="0">
                <a:latin typeface="+mn-ea"/>
                <a:cs typeface="Arial" panose="020B0604020202020204" pitchFamily="34" charset="0"/>
              </a:rPr>
              <a:t>TA</a:t>
            </a:r>
            <a:r>
              <a:rPr lang="zh-CN" altLang="en-US" kern="100" dirty="0">
                <a:latin typeface="+mn-ea"/>
                <a:cs typeface="Arial" panose="020B0604020202020204" pitchFamily="34" charset="0"/>
              </a:rPr>
              <a:t>、物理小区</a:t>
            </a:r>
            <a:r>
              <a:rPr lang="en-US" altLang="zh-CN" kern="100" dirty="0">
                <a:latin typeface="+mn-ea"/>
                <a:cs typeface="Arial" panose="020B0604020202020204" pitchFamily="34" charset="0"/>
              </a:rPr>
              <a:t>ID PCI</a:t>
            </a:r>
            <a:r>
              <a:rPr lang="zh-CN" altLang="en-US" kern="100" dirty="0">
                <a:latin typeface="+mn-ea"/>
                <a:cs typeface="Arial" panose="020B0604020202020204" pitchFamily="34" charset="0"/>
              </a:rPr>
              <a:t>、</a:t>
            </a:r>
            <a:r>
              <a:rPr lang="en-US" altLang="zh-CN" kern="100" dirty="0">
                <a:latin typeface="+mn-ea"/>
                <a:cs typeface="Arial" panose="020B0604020202020204" pitchFamily="34" charset="0"/>
              </a:rPr>
              <a:t>PRACH</a:t>
            </a:r>
            <a:r>
              <a:rPr lang="zh-CN" altLang="en-US" kern="100" dirty="0">
                <a:latin typeface="+mn-ea"/>
                <a:cs typeface="Arial" panose="020B0604020202020204" pitchFamily="34" charset="0"/>
              </a:rPr>
              <a:t>规划。</a:t>
            </a:r>
          </a:p>
          <a:p>
            <a:pPr marL="285750" indent="-285750" algn="just">
              <a:lnSpc>
                <a:spcPct val="150000"/>
              </a:lnSpc>
              <a:spcBef>
                <a:spcPts val="600"/>
              </a:spcBef>
              <a:spcAft>
                <a:spcPts val="600"/>
              </a:spcAft>
              <a:buFont typeface="Arial" panose="020B0604020202020204" pitchFamily="34" charset="0"/>
              <a:buChar char="•"/>
            </a:pPr>
            <a:r>
              <a:rPr lang="zh-CN" altLang="en-US" kern="100" dirty="0">
                <a:latin typeface="+mn-ea"/>
                <a:cs typeface="Arial" panose="020B0604020202020204" pitchFamily="34" charset="0"/>
              </a:rPr>
              <a:t>通过本任务的学习，应熟练掌握覆盖规划的思路，室外上、下行链路预算的区别，室外和室内覆盖规划的区别；熟悉容量规划的流程，掌握容量估算的思路和容量仿真工具。在参数规划阶段，应掌握</a:t>
            </a:r>
            <a:r>
              <a:rPr lang="en-US" altLang="zh-CN" kern="100" dirty="0">
                <a:latin typeface="+mn-ea"/>
                <a:cs typeface="Arial" panose="020B0604020202020204" pitchFamily="34" charset="0"/>
              </a:rPr>
              <a:t>LTE</a:t>
            </a:r>
            <a:r>
              <a:rPr lang="zh-CN" altLang="en-US" kern="100" dirty="0">
                <a:latin typeface="+mn-ea"/>
                <a:cs typeface="Arial" panose="020B0604020202020204" pitchFamily="34" charset="0"/>
              </a:rPr>
              <a:t>小区</a:t>
            </a:r>
            <a:r>
              <a:rPr lang="en-US" altLang="zh-CN" kern="100" dirty="0">
                <a:latin typeface="+mn-ea"/>
                <a:cs typeface="Arial" panose="020B0604020202020204" pitchFamily="34" charset="0"/>
              </a:rPr>
              <a:t>ID</a:t>
            </a:r>
            <a:r>
              <a:rPr lang="zh-CN" altLang="en-US" kern="100" dirty="0">
                <a:latin typeface="+mn-ea"/>
                <a:cs typeface="Arial" panose="020B0604020202020204" pitchFamily="34" charset="0"/>
              </a:rPr>
              <a:t>规划、跟踪区</a:t>
            </a:r>
            <a:r>
              <a:rPr lang="en-US" altLang="zh-CN" kern="100" dirty="0">
                <a:latin typeface="+mn-ea"/>
                <a:cs typeface="Arial" panose="020B0604020202020204" pitchFamily="34" charset="0"/>
              </a:rPr>
              <a:t>TA</a:t>
            </a:r>
            <a:r>
              <a:rPr lang="zh-CN" altLang="en-US" kern="100" dirty="0">
                <a:latin typeface="+mn-ea"/>
                <a:cs typeface="Arial" panose="020B0604020202020204" pitchFamily="34" charset="0"/>
              </a:rPr>
              <a:t>、物理小区</a:t>
            </a:r>
            <a:r>
              <a:rPr lang="en-US" altLang="zh-CN" kern="100" dirty="0">
                <a:latin typeface="+mn-ea"/>
                <a:cs typeface="Arial" panose="020B0604020202020204" pitchFamily="34" charset="0"/>
              </a:rPr>
              <a:t>ID PCI</a:t>
            </a:r>
            <a:r>
              <a:rPr lang="zh-CN" altLang="en-US" kern="100" dirty="0">
                <a:latin typeface="+mn-ea"/>
                <a:cs typeface="Arial" panose="020B0604020202020204" pitchFamily="34" charset="0"/>
              </a:rPr>
              <a:t>、</a:t>
            </a:r>
            <a:r>
              <a:rPr lang="en-US" altLang="zh-CN" kern="100" dirty="0">
                <a:latin typeface="+mn-ea"/>
                <a:cs typeface="Arial" panose="020B0604020202020204" pitchFamily="34" charset="0"/>
              </a:rPr>
              <a:t>PRACH</a:t>
            </a:r>
            <a:r>
              <a:rPr lang="zh-CN" altLang="en-US" kern="100" dirty="0">
                <a:latin typeface="+mn-ea"/>
                <a:cs typeface="Arial" panose="020B0604020202020204" pitchFamily="34" charset="0"/>
              </a:rPr>
              <a:t>规划原则与策略。</a:t>
            </a:r>
            <a:endParaRPr lang="zh-CN" altLang="en-US" dirty="0">
              <a:latin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8200" y="1825625"/>
            <a:ext cx="10515600" cy="2282351"/>
          </a:xfrm>
        </p:spPr>
        <p:txBody>
          <a:bodyPr/>
          <a:lstStyle/>
          <a:p>
            <a:r>
              <a:rPr lang="zh-CN" altLang="en-US" dirty="0"/>
              <a:t>通过本项目的学习，掌握了</a:t>
            </a:r>
            <a:r>
              <a:rPr lang="en-US" altLang="zh-CN" dirty="0"/>
              <a:t>LTE</a:t>
            </a:r>
            <a:r>
              <a:rPr lang="zh-CN" altLang="en-US" dirty="0"/>
              <a:t>无线网络规划设计思路，</a:t>
            </a:r>
            <a:r>
              <a:rPr lang="en-US" altLang="zh-CN" dirty="0"/>
              <a:t>LTE</a:t>
            </a:r>
            <a:r>
              <a:rPr lang="zh-CN" altLang="en-US" dirty="0"/>
              <a:t>网络覆盖规划、容量规划和参数规划的知识技能，可以在工作中完成 </a:t>
            </a:r>
            <a:r>
              <a:rPr lang="en-US" altLang="zh-CN" dirty="0"/>
              <a:t>LTE</a:t>
            </a:r>
            <a:r>
              <a:rPr lang="zh-CN" altLang="en-US" dirty="0"/>
              <a:t>网络室内室外相关规划、咨询、设计以及整体规划方案输出工作任务等等。</a:t>
            </a:r>
          </a:p>
        </p:txBody>
      </p:sp>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a:solidFill>
                  <a:srgbClr val="BF2021"/>
                </a:solidFill>
                <a:latin typeface="微软雅黑" panose="020B0503020204020204" charset="-122"/>
                <a:ea typeface="微软雅黑" panose="020B0503020204020204" charset="-122"/>
                <a:cs typeface="微软雅黑" panose="020B0503020204020204" charset="-122"/>
              </a:rPr>
              <a:t>项目总结</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p:txBody>
          <a:bodyPr/>
          <a:lstStyle/>
          <a:p>
            <a:r>
              <a:rPr lang="en-US" altLang="zh-CN" dirty="0"/>
              <a:t>TD-LTE  </a:t>
            </a:r>
            <a:r>
              <a:rPr lang="zh-CN" altLang="en-US" dirty="0"/>
              <a:t>二、八天线的应用？</a:t>
            </a:r>
            <a:endParaRPr lang="en-US" altLang="zh-CN" dirty="0"/>
          </a:p>
          <a:p>
            <a:r>
              <a:rPr lang="zh-CN" altLang="en-US" dirty="0"/>
              <a:t>立体式网络架构和扁平式网络架构各自的优缺点？</a:t>
            </a:r>
            <a:endParaRPr lang="en-US" altLang="zh-CN" dirty="0"/>
          </a:p>
        </p:txBody>
      </p:sp>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a:solidFill>
                  <a:srgbClr val="BF2021"/>
                </a:solidFill>
                <a:latin typeface="微软雅黑" panose="020B0503020204020204" charset="-122"/>
                <a:ea typeface="微软雅黑" panose="020B0503020204020204" charset="-122"/>
                <a:cs typeface="微软雅黑" panose="020B0503020204020204" charset="-122"/>
              </a:rPr>
              <a:t>项目思考</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a:solidFill>
                  <a:srgbClr val="BF2021"/>
                </a:solidFill>
                <a:latin typeface="微软雅黑" panose="020B0503020204020204" charset="-122"/>
                <a:ea typeface="微软雅黑" panose="020B0503020204020204" charset="-122"/>
                <a:cs typeface="微软雅黑" panose="020B0503020204020204" charset="-122"/>
              </a:rPr>
              <a:t>拓展训练</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sp>
        <p:nvSpPr>
          <p:cNvPr id="5" name="TextBox 79"/>
          <p:cNvSpPr txBox="1"/>
          <p:nvPr/>
        </p:nvSpPr>
        <p:spPr>
          <a:xfrm>
            <a:off x="1145482" y="1889882"/>
            <a:ext cx="6796251" cy="3695499"/>
          </a:xfrm>
          <a:prstGeom prst="rect">
            <a:avLst/>
          </a:prstGeom>
          <a:noFill/>
        </p:spPr>
        <p:txBody>
          <a:bodyPr wrap="square" rtlCol="0">
            <a:spAutoFit/>
          </a:bodyPr>
          <a:lstStyle/>
          <a:p>
            <a:pPr>
              <a:lnSpc>
                <a:spcPct val="110000"/>
              </a:lnSpc>
              <a:spcBef>
                <a:spcPts val="600"/>
              </a:spcBef>
              <a:spcAft>
                <a:spcPts val="600"/>
              </a:spcAft>
            </a:pPr>
            <a:r>
              <a:rPr sz="2375" b="1" dirty="0">
                <a:latin typeface="微软雅黑" panose="020B0503020204020204" charset="-122"/>
                <a:ea typeface="微软雅黑" panose="020B0503020204020204" charset="-122"/>
              </a:rPr>
              <a:t>调研要求：</a:t>
            </a:r>
          </a:p>
          <a:p>
            <a:pPr marL="342900" indent="-342900">
              <a:lnSpc>
                <a:spcPct val="110000"/>
              </a:lnSpc>
              <a:buFont typeface="Arial" panose="020B0604020202020204" pitchFamily="34" charset="0"/>
              <a:buChar char="•"/>
            </a:pPr>
            <a:r>
              <a:rPr lang="zh-CN" altLang="en-US" sz="1900" dirty="0">
                <a:latin typeface="微软雅黑" panose="020B0503020204020204" charset="-122"/>
                <a:ea typeface="微软雅黑" panose="020B0503020204020204" charset="-122"/>
              </a:rPr>
              <a:t>熟悉高铁移动通信的业务特点。</a:t>
            </a:r>
          </a:p>
          <a:p>
            <a:pPr marL="342900" indent="-342900">
              <a:lnSpc>
                <a:spcPct val="110000"/>
              </a:lnSpc>
              <a:buFont typeface="Arial" panose="020B0604020202020204" pitchFamily="34" charset="0"/>
              <a:buChar char="•"/>
            </a:pPr>
            <a:r>
              <a:rPr lang="zh-CN" altLang="en-US" sz="1900" dirty="0">
                <a:latin typeface="微软雅黑" panose="020B0503020204020204" charset="-122"/>
                <a:ea typeface="微软雅黑" panose="020B0503020204020204" charset="-122"/>
              </a:rPr>
              <a:t>了解高铁移动通信面临的问题挑战。</a:t>
            </a:r>
          </a:p>
          <a:p>
            <a:pPr>
              <a:lnSpc>
                <a:spcPct val="110000"/>
              </a:lnSpc>
              <a:spcBef>
                <a:spcPts val="600"/>
              </a:spcBef>
              <a:spcAft>
                <a:spcPts val="600"/>
              </a:spcAft>
            </a:pPr>
            <a:r>
              <a:rPr sz="2375" b="1" dirty="0">
                <a:latin typeface="微软雅黑" panose="020B0503020204020204" charset="-122"/>
                <a:ea typeface="微软雅黑" panose="020B0503020204020204" charset="-122"/>
              </a:rPr>
              <a:t> </a:t>
            </a:r>
            <a:r>
              <a:rPr sz="2375" b="1" dirty="0" err="1">
                <a:latin typeface="微软雅黑" panose="020B0503020204020204" charset="-122"/>
                <a:ea typeface="微软雅黑" panose="020B0503020204020204" charset="-122"/>
              </a:rPr>
              <a:t>要求</a:t>
            </a:r>
            <a:r>
              <a:rPr sz="2375" b="1" dirty="0">
                <a:latin typeface="微软雅黑" panose="020B0503020204020204" charset="-122"/>
                <a:ea typeface="微软雅黑" panose="020B0503020204020204" charset="-122"/>
              </a:rPr>
              <a:t>：</a:t>
            </a:r>
          </a:p>
          <a:p>
            <a:pPr>
              <a:lnSpc>
                <a:spcPct val="110000"/>
              </a:lnSpc>
            </a:pPr>
            <a:r>
              <a:rPr sz="2375" b="1" dirty="0">
                <a:latin typeface="微软雅黑" panose="020B0503020204020204" charset="-122"/>
                <a:ea typeface="微软雅黑" panose="020B0503020204020204" charset="-122"/>
              </a:rPr>
              <a:t>    </a:t>
            </a:r>
            <a:r>
              <a:rPr lang="en-US" altLang="zh-CN" sz="1900" dirty="0">
                <a:latin typeface="微软雅黑" panose="020B0503020204020204" charset="-122"/>
                <a:ea typeface="微软雅黑" panose="020B0503020204020204" charset="-122"/>
              </a:rPr>
              <a:t>1</a:t>
            </a:r>
            <a:r>
              <a:rPr lang="zh-CN" altLang="en-US" sz="1900" dirty="0">
                <a:latin typeface="微软雅黑" panose="020B0503020204020204" charset="-122"/>
                <a:ea typeface="微软雅黑" panose="020B0503020204020204" charset="-122"/>
              </a:rPr>
              <a:t>、调研我国高铁场景下</a:t>
            </a:r>
            <a:r>
              <a:rPr lang="en-US" altLang="zh-CN" sz="1900" dirty="0">
                <a:latin typeface="微软雅黑" panose="020B0503020204020204" charset="-122"/>
                <a:ea typeface="微软雅黑" panose="020B0503020204020204" charset="-122"/>
              </a:rPr>
              <a:t>TD-LTE</a:t>
            </a:r>
            <a:r>
              <a:rPr lang="zh-CN" altLang="en-US" sz="1900" dirty="0">
                <a:latin typeface="微软雅黑" panose="020B0503020204020204" charset="-122"/>
                <a:ea typeface="微软雅黑" panose="020B0503020204020204" charset="-122"/>
              </a:rPr>
              <a:t>组网方案建设。</a:t>
            </a:r>
            <a:endParaRPr lang="en-US" altLang="zh-CN" sz="1900" dirty="0">
              <a:latin typeface="微软雅黑" panose="020B0503020204020204" charset="-122"/>
              <a:ea typeface="微软雅黑" panose="020B0503020204020204" charset="-122"/>
            </a:endParaRPr>
          </a:p>
          <a:p>
            <a:pPr>
              <a:lnSpc>
                <a:spcPct val="110000"/>
              </a:lnSpc>
            </a:pPr>
            <a:r>
              <a:rPr lang="en-US" altLang="zh-CN" sz="1900" dirty="0">
                <a:latin typeface="微软雅黑" panose="020B0503020204020204" charset="-122"/>
                <a:ea typeface="微软雅黑" panose="020B0503020204020204" charset="-122"/>
              </a:rPr>
              <a:t>     2</a:t>
            </a:r>
            <a:r>
              <a:rPr lang="zh-CN" altLang="en-US" sz="1900" dirty="0">
                <a:latin typeface="微软雅黑" panose="020B0503020204020204" charset="-122"/>
                <a:ea typeface="微软雅黑" panose="020B0503020204020204" charset="-122"/>
              </a:rPr>
              <a:t>、调研</a:t>
            </a:r>
            <a:r>
              <a:rPr lang="en-US" altLang="zh-CN" sz="1900" dirty="0">
                <a:latin typeface="微软雅黑" panose="020B0503020204020204" charset="-122"/>
                <a:ea typeface="微软雅黑" panose="020B0503020204020204" charset="-122"/>
              </a:rPr>
              <a:t>TD-LTE</a:t>
            </a:r>
            <a:r>
              <a:rPr lang="zh-CN" altLang="en-US" sz="1900" dirty="0">
                <a:latin typeface="微软雅黑" panose="020B0503020204020204" charset="-122"/>
                <a:ea typeface="微软雅黑" panose="020B0503020204020204" charset="-122"/>
              </a:rPr>
              <a:t>网络高铁场景下的设计与解决方案。</a:t>
            </a:r>
          </a:p>
          <a:p>
            <a:pPr>
              <a:lnSpc>
                <a:spcPct val="110000"/>
              </a:lnSpc>
              <a:spcBef>
                <a:spcPts val="600"/>
              </a:spcBef>
              <a:spcAft>
                <a:spcPts val="600"/>
              </a:spcAft>
            </a:pPr>
            <a:r>
              <a:rPr sz="2375" b="1" dirty="0" err="1">
                <a:latin typeface="微软雅黑" panose="020B0503020204020204" charset="-122"/>
                <a:ea typeface="微软雅黑" panose="020B0503020204020204" charset="-122"/>
              </a:rPr>
              <a:t>考核方式</a:t>
            </a:r>
            <a:r>
              <a:rPr sz="2375" b="1" dirty="0">
                <a:latin typeface="微软雅黑" panose="020B0503020204020204" charset="-122"/>
                <a:ea typeface="微软雅黑" panose="020B0503020204020204" charset="-122"/>
              </a:rPr>
              <a:t>：</a:t>
            </a:r>
          </a:p>
          <a:p>
            <a:pPr>
              <a:lnSpc>
                <a:spcPct val="110000"/>
              </a:lnSpc>
            </a:pPr>
            <a:r>
              <a:rPr lang="zh-CN" altLang="en-US" sz="1900" dirty="0">
                <a:latin typeface="微软雅黑" panose="020B0503020204020204" charset="-122"/>
                <a:ea typeface="微软雅黑" panose="020B0503020204020204" charset="-122"/>
              </a:rPr>
              <a:t>     各学员通过调研、搜集网络数据等方式完成。</a:t>
            </a:r>
            <a:endParaRPr lang="en-US" altLang="zh-CN" sz="1900" dirty="0">
              <a:latin typeface="微软雅黑" panose="020B0503020204020204" charset="-122"/>
              <a:ea typeface="微软雅黑" panose="020B0503020204020204" charset="-122"/>
            </a:endParaRPr>
          </a:p>
          <a:p>
            <a:pPr>
              <a:lnSpc>
                <a:spcPct val="110000"/>
              </a:lnSpc>
            </a:pPr>
            <a:r>
              <a:rPr lang="zh-CN" altLang="en-US" sz="1900" dirty="0">
                <a:latin typeface="微软雅黑" panose="020B0503020204020204" charset="-122"/>
                <a:ea typeface="微软雅黑" panose="020B0503020204020204" charset="-122"/>
              </a:rPr>
              <a:t>     分组讨论：如何构建高铁场景下最佳</a:t>
            </a:r>
            <a:r>
              <a:rPr lang="en-US" altLang="zh-CN" sz="1900" dirty="0">
                <a:latin typeface="微软雅黑" panose="020B0503020204020204" charset="-122"/>
                <a:ea typeface="微软雅黑" panose="020B0503020204020204" charset="-122"/>
              </a:rPr>
              <a:t>DT-LTE</a:t>
            </a:r>
            <a:r>
              <a:rPr lang="zh-CN" altLang="en-US" sz="1900" dirty="0">
                <a:latin typeface="微软雅黑" panose="020B0503020204020204" charset="-122"/>
                <a:ea typeface="微软雅黑" panose="020B0503020204020204" charset="-122"/>
              </a:rPr>
              <a:t>组网方案</a:t>
            </a:r>
            <a:r>
              <a:rPr sz="1900" dirty="0">
                <a:latin typeface="微软雅黑" panose="020B0503020204020204" charset="-122"/>
                <a:ea typeface="微软雅黑" panose="020B0503020204020204" charset="-122"/>
              </a:rPr>
              <a:t>。</a:t>
            </a: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830520"/>
          </a:xfrm>
        </p:spPr>
        <p:txBody>
          <a:bodyPr>
            <a:normAutofit/>
          </a:bodyPr>
          <a:lstStyle/>
          <a:p>
            <a:r>
              <a:rPr lang="zh-CN" altLang="en-US" sz="6700" b="1" dirty="0"/>
              <a:t>谢谢！</a:t>
            </a:r>
            <a:endParaRPr lang="zh-CN" altLang="en-US"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mQ3NjQxYmZmN2ZkODIxYWNiNTEzMzQyMTZmNzQ1MmMifQ=="/>
  <p:tag name="RESOURCE_RECORD_KEY" val="{&quot;13&quot;:[4685212,19951222,4721865]}"/>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390_3*i*10"/>
  <p:tag name="KSO_WM_TEMPLATE_CATEGORY" val="diagram"/>
  <p:tag name="KSO_WM_TEMPLATE_INDEX" val="390"/>
  <p:tag name="KSO_WM_UNIT_INDEX" val="10"/>
</p:tagLst>
</file>

<file path=ppt/tags/tag1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3"/>
  <p:tag name="KSO_WM_UNIT_ID" val="diagram390_3*l_i*1_3"/>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14"/>
  <p:tag name="KSO_WM_UNIT_TEXT_FILL_TYPE" val="1"/>
  <p:tag name="KSO_WM_UNIT_USESOURCEFORMAT_APPLY" val="0"/>
</p:tagLst>
</file>

<file path=ppt/tags/tag1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4"/>
  <p:tag name="KSO_WM_UNIT_ID" val="diagram390_3*l_i*1_4"/>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 name="KSO_WM_UNIT_USESOURCEFORMAT_APPLY" val="0"/>
</p:tagLst>
</file>

<file path=ppt/tags/tag1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2_1"/>
  <p:tag name="KSO_WM_UNIT_ID" val="diagram390_3*l_h_a*1_2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6"/>
  <p:tag name="KSO_WM_UNIT_TEXT_FILL_TYPE" val="1"/>
  <p:tag name="KSO_WM_UNIT_USESOURCEFORMAT_APPLY" val="0"/>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1"/>
  <p:tag name="KSO_WM_UNIT_ID" val="diagram390_3*l_i*1_1"/>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14"/>
  <p:tag name="KSO_WM_UNIT_TEXT_FILL_TYPE" val="1"/>
  <p:tag name="KSO_WM_UNIT_USESOURCEFORMAT_APPLY" val="0"/>
</p:tagLst>
</file>

<file path=ppt/tags/tag1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2"/>
  <p:tag name="KSO_WM_UNIT_ID" val="diagram390_3*l_i*1_2"/>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1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2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1_1"/>
  <p:tag name="KSO_WM_UNIT_ID" val="diagram390_1*l_h_a*1_1_1"/>
  <p:tag name="KSO_WM_UNIT_CLEAR" val="1"/>
  <p:tag name="KSO_WM_UNIT_LAYERLEVEL" val="1_1_1"/>
  <p:tag name="KSO_WM_UNIT_VALUE" val="17"/>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2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1_1"/>
  <p:tag name="KSO_WM_UNIT_ID" val="diagram390_1*l_h_a*1_1_1"/>
  <p:tag name="KSO_WM_UNIT_CLEAR" val="1"/>
  <p:tag name="KSO_WM_UNIT_LAYERLEVEL" val="1_1_1"/>
  <p:tag name="KSO_WM_UNIT_VALUE" val="17"/>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2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1_1"/>
  <p:tag name="KSO_WM_UNIT_ID" val="diagram390_1*l_h_a*1_1_1"/>
  <p:tag name="KSO_WM_UNIT_CLEAR" val="1"/>
  <p:tag name="KSO_WM_UNIT_LAYERLEVEL" val="1_1_1"/>
  <p:tag name="KSO_WM_UNIT_VALUE" val="17"/>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1_1"/>
  <p:tag name="KSO_WM_UNIT_ID" val="diagram390_1*l_h_a*1_1_1"/>
  <p:tag name="KSO_WM_UNIT_CLEAR" val="1"/>
  <p:tag name="KSO_WM_UNIT_LAYERLEVEL" val="1_1_1"/>
  <p:tag name="KSO_WM_UNIT_VALUE" val="17"/>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1_1"/>
  <p:tag name="KSO_WM_UNIT_ID" val="diagram390_1*l_h_a*1_1_1"/>
  <p:tag name="KSO_WM_UNIT_CLEAR" val="1"/>
  <p:tag name="KSO_WM_UNIT_LAYERLEVEL" val="1_1_1"/>
  <p:tag name="KSO_WM_UNIT_VALUE" val="17"/>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25.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Title"/>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Text"/>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Text"/>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Text"/>
  <p:tag name="MH_ORDER" val="5"/>
</p:tagLst>
</file>

<file path=ppt/tags/tag29.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Text"/>
  <p:tag name="MH_ORDER" val="3"/>
</p:tagLst>
</file>

<file path=ppt/tags/tag30.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Text"/>
  <p:tag name="MH_ORDER" val="4"/>
</p:tagLst>
</file>

<file path=ppt/tags/tag31.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Other"/>
  <p:tag name="MH_ORDER" val="1"/>
</p:tagLst>
</file>

<file path=ppt/tags/tag32.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SubTitle"/>
  <p:tag name="MH_ORDER" val="5"/>
</p:tagLst>
</file>

<file path=ppt/tags/tag33.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Other"/>
  <p:tag name="MH_ORDER" val="2"/>
</p:tagLst>
</file>

<file path=ppt/tags/tag34.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SubTitle"/>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Other"/>
  <p:tag name="MH_ORDER" val="3"/>
</p:tagLst>
</file>

<file path=ppt/tags/tag36.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SubTitle"/>
  <p:tag name="MH_ORDER" val="2"/>
</p:tagLst>
</file>

<file path=ppt/tags/tag37.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Other"/>
  <p:tag name="MH_ORDER" val="4"/>
</p:tagLst>
</file>

<file path=ppt/tags/tag38.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SubTitle"/>
  <p:tag name="MH_ORDER" val="3"/>
</p:tagLst>
</file>

<file path=ppt/tags/tag39.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Other"/>
  <p:tag name="MH_ORDER" val="5"/>
</p:tagLst>
</file>

<file path=ppt/tags/tag40.xml><?xml version="1.0" encoding="utf-8"?>
<p:tagLst xmlns:a="http://schemas.openxmlformats.org/drawingml/2006/main" xmlns:r="http://schemas.openxmlformats.org/officeDocument/2006/relationships" xmlns:p="http://schemas.openxmlformats.org/presentationml/2006/main">
  <p:tag name="MH" val="20190506101310"/>
  <p:tag name="MH_LIBRARY" val="GRAPHIC"/>
  <p:tag name="MH_TYPE" val="SubTitle"/>
  <p:tag name="MH_ORDER" val="4"/>
</p:tagLst>
</file>

<file path=ppt/tags/tag41.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1"/>
</p:tagLst>
</file>

<file path=ppt/tags/tag42.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2"/>
</p:tagLst>
</file>

<file path=ppt/tags/tag43.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3"/>
</p:tagLst>
</file>

<file path=ppt/tags/tag44.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4"/>
</p:tagLst>
</file>

<file path=ppt/tags/tag45.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5"/>
</p:tagLst>
</file>

<file path=ppt/tags/tag46.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Text"/>
  <p:tag name="MH_ORDER" val="1"/>
</p:tagLst>
</file>

<file path=ppt/tags/tag47.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SubTitle"/>
  <p:tag name="MH_ORDER" val="1"/>
</p:tagLst>
</file>

<file path=ppt/tags/tag48.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11"/>
</p:tagLst>
</file>

<file path=ppt/tags/tag49.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12"/>
</p:tagLst>
</file>

<file path=ppt/tags/tag50.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13"/>
</p:tagLst>
</file>

<file path=ppt/tags/tag51.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14"/>
</p:tagLst>
</file>

<file path=ppt/tags/tag52.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Other"/>
  <p:tag name="MH_ORDER" val="15"/>
</p:tagLst>
</file>

<file path=ppt/tags/tag53.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Text"/>
  <p:tag name="MH_ORDER" val="2"/>
</p:tagLst>
</file>

<file path=ppt/tags/tag54.xml><?xml version="1.0" encoding="utf-8"?>
<p:tagLst xmlns:a="http://schemas.openxmlformats.org/drawingml/2006/main" xmlns:r="http://schemas.openxmlformats.org/officeDocument/2006/relationships" xmlns:p="http://schemas.openxmlformats.org/presentationml/2006/main">
  <p:tag name="MH" val="20190506102212"/>
  <p:tag name="MH_LIBRARY" val="GRAPHIC"/>
  <p:tag name="MH_TYPE" val="SubTitle"/>
  <p:tag name="MH_ORDER" val="2"/>
</p:tagLst>
</file>

<file path=ppt/tags/tag55.xml><?xml version="1.0" encoding="utf-8"?>
<p:tagLst xmlns:a="http://schemas.openxmlformats.org/drawingml/2006/main" xmlns:r="http://schemas.openxmlformats.org/officeDocument/2006/relationships" xmlns:p="http://schemas.openxmlformats.org/presentationml/2006/main">
  <p:tag name="MH" val="20190507091922"/>
  <p:tag name="MH_LIBRARY" val="GRAPHIC"/>
  <p:tag name="MH_TYPE" val="Text"/>
  <p:tag name="MH_ORDER" val="1"/>
</p:tagLst>
</file>

<file path=ppt/tags/tag56.xml><?xml version="1.0" encoding="utf-8"?>
<p:tagLst xmlns:a="http://schemas.openxmlformats.org/drawingml/2006/main" xmlns:r="http://schemas.openxmlformats.org/officeDocument/2006/relationships" xmlns:p="http://schemas.openxmlformats.org/presentationml/2006/main">
  <p:tag name="MH" val="20190507091922"/>
  <p:tag name="MH_LIBRARY" val="GRAPHIC"/>
  <p:tag name="MH_TYPE" val="SubTitle"/>
  <p:tag name="MH_ORDER" val="1"/>
</p:tagLst>
</file>

<file path=ppt/tags/tag57.xml><?xml version="1.0" encoding="utf-8"?>
<p:tagLst xmlns:a="http://schemas.openxmlformats.org/drawingml/2006/main" xmlns:r="http://schemas.openxmlformats.org/officeDocument/2006/relationships" xmlns:p="http://schemas.openxmlformats.org/presentationml/2006/main">
  <p:tag name="MH" val="20190507091922"/>
  <p:tag name="MH_LIBRARY" val="GRAPHIC"/>
  <p:tag name="MH_TYPE" val="Text"/>
  <p:tag name="MH_ORDER" val="1"/>
</p:tagLst>
</file>

<file path=ppt/tags/tag58.xml><?xml version="1.0" encoding="utf-8"?>
<p:tagLst xmlns:a="http://schemas.openxmlformats.org/drawingml/2006/main" xmlns:r="http://schemas.openxmlformats.org/officeDocument/2006/relationships" xmlns:p="http://schemas.openxmlformats.org/presentationml/2006/main">
  <p:tag name="MH" val="20190507091922"/>
  <p:tag name="MH_LIBRARY" val="GRAPHIC"/>
  <p:tag name="MH_TYPE" val="SubTitle"/>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90507091922"/>
  <p:tag name="MH_LIBRARY" val="GRAPHIC"/>
  <p:tag name="MH_TYPE" val="Text"/>
  <p:tag name="MH_ORDER" val="1"/>
</p:tagLst>
</file>

<file path=ppt/tags/tag60.xml><?xml version="1.0" encoding="utf-8"?>
<p:tagLst xmlns:a="http://schemas.openxmlformats.org/drawingml/2006/main" xmlns:r="http://schemas.openxmlformats.org/officeDocument/2006/relationships" xmlns:p="http://schemas.openxmlformats.org/presentationml/2006/main">
  <p:tag name="MH" val="20190507091922"/>
  <p:tag name="MH_LIBRARY" val="GRAPHIC"/>
  <p:tag name="MH_TYPE" val="SubTitle"/>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90507091922"/>
  <p:tag name="MH_LIBRARY" val="GRAPHIC"/>
  <p:tag name="MH_TYPE" val="Text"/>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90507091922"/>
  <p:tag name="MH_LIBRARY" val="GRAPHIC"/>
  <p:tag name="MH_TYPE" val="SubTitle"/>
  <p:tag name="MH_ORDER" val="1"/>
</p:tagLst>
</file>

<file path=ppt/tags/tag63.xml><?xml version="1.0" encoding="utf-8"?>
<p:tagLst xmlns:a="http://schemas.openxmlformats.org/drawingml/2006/main" xmlns:r="http://schemas.openxmlformats.org/officeDocument/2006/relationships" xmlns:p="http://schemas.openxmlformats.org/presentationml/2006/main">
  <p:tag name="MH" val="20190507092523"/>
  <p:tag name="MH_LIBRARY" val="GRAPHIC"/>
  <p:tag name="MH_TYPE" val="Other"/>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90507092523"/>
  <p:tag name="MH_LIBRARY" val="GRAPHIC"/>
  <p:tag name="MH_TYPE" val="SubTitle"/>
  <p:tag name="MH_ORDER" val="1"/>
</p:tagLst>
</file>

<file path=ppt/tags/tag65.xml><?xml version="1.0" encoding="utf-8"?>
<p:tagLst xmlns:a="http://schemas.openxmlformats.org/drawingml/2006/main" xmlns:r="http://schemas.openxmlformats.org/officeDocument/2006/relationships" xmlns:p="http://schemas.openxmlformats.org/presentationml/2006/main">
  <p:tag name="MH" val="20190507092523"/>
  <p:tag name="MH_LIBRARY" val="GRAPHIC"/>
  <p:tag name="MH_TYPE" val="Other"/>
  <p:tag name="MH_ORDER" val="2"/>
</p:tagLst>
</file>

<file path=ppt/tags/tag66.xml><?xml version="1.0" encoding="utf-8"?>
<p:tagLst xmlns:a="http://schemas.openxmlformats.org/drawingml/2006/main" xmlns:r="http://schemas.openxmlformats.org/officeDocument/2006/relationships" xmlns:p="http://schemas.openxmlformats.org/presentationml/2006/main">
  <p:tag name="MH" val="20190507092523"/>
  <p:tag name="MH_LIBRARY" val="GRAPHIC"/>
  <p:tag name="MH_TYPE" val="SubTitle"/>
  <p:tag name="MH_ORDER" val="3"/>
</p:tagLst>
</file>

<file path=ppt/tags/tag67.xml><?xml version="1.0" encoding="utf-8"?>
<p:tagLst xmlns:a="http://schemas.openxmlformats.org/drawingml/2006/main" xmlns:r="http://schemas.openxmlformats.org/officeDocument/2006/relationships" xmlns:p="http://schemas.openxmlformats.org/presentationml/2006/main">
  <p:tag name="MH" val="20190507092523"/>
  <p:tag name="MH_LIBRARY" val="GRAPHIC"/>
  <p:tag name="MH_TYPE" val="Other"/>
  <p:tag name="MH_ORDER" val="3"/>
</p:tagLst>
</file>

<file path=ppt/tags/tag68.xml><?xml version="1.0" encoding="utf-8"?>
<p:tagLst xmlns:a="http://schemas.openxmlformats.org/drawingml/2006/main" xmlns:r="http://schemas.openxmlformats.org/officeDocument/2006/relationships" xmlns:p="http://schemas.openxmlformats.org/presentationml/2006/main">
  <p:tag name="MH" val="20190507092523"/>
  <p:tag name="MH_LIBRARY" val="GRAPHIC"/>
  <p:tag name="MH_TYPE" val="SubTitle"/>
  <p:tag name="MH_ORDER" val="4"/>
</p:tagLst>
</file>

<file path=ppt/tags/tag69.xml><?xml version="1.0" encoding="utf-8"?>
<p:tagLst xmlns:a="http://schemas.openxmlformats.org/drawingml/2006/main" xmlns:r="http://schemas.openxmlformats.org/officeDocument/2006/relationships" xmlns:p="http://schemas.openxmlformats.org/presentationml/2006/main">
  <p:tag name="MH" val="20190507092523"/>
  <p:tag name="MH_LIBRARY" val="GRAPHIC"/>
  <p:tag name="MH_TYPE" val="Other"/>
  <p:tag name="MH_ORDER" val="4"/>
</p:tagLst>
</file>

<file path=ppt/tags/tag70.xml><?xml version="1.0" encoding="utf-8"?>
<p:tagLst xmlns:a="http://schemas.openxmlformats.org/drawingml/2006/main" xmlns:r="http://schemas.openxmlformats.org/officeDocument/2006/relationships" xmlns:p="http://schemas.openxmlformats.org/presentationml/2006/main">
  <p:tag name="MH" val="20190507092523"/>
  <p:tag name="MH_LIBRARY" val="GRAPHIC"/>
  <p:tag name="MH_TYPE" val="SubTitle"/>
  <p:tag name="MH_ORDER" val="2"/>
</p:tagLst>
</file>

<file path=ppt/tags/tag71.xml><?xml version="1.0" encoding="utf-8"?>
<p:tagLst xmlns:a="http://schemas.openxmlformats.org/drawingml/2006/main" xmlns:r="http://schemas.openxmlformats.org/officeDocument/2006/relationships" xmlns:p="http://schemas.openxmlformats.org/presentationml/2006/main">
  <p:tag name="MH" val="20190507094048"/>
  <p:tag name="MH_LIBRARY" val="GRAPHIC"/>
  <p:tag name="MH_TYPE" val="SubTitle"/>
  <p:tag name="MH_ORDER" val="1"/>
</p:tagLst>
</file>

<file path=ppt/tags/tag72.xml><?xml version="1.0" encoding="utf-8"?>
<p:tagLst xmlns:a="http://schemas.openxmlformats.org/drawingml/2006/main" xmlns:r="http://schemas.openxmlformats.org/officeDocument/2006/relationships" xmlns:p="http://schemas.openxmlformats.org/presentationml/2006/main">
  <p:tag name="MH" val="20190507094407"/>
  <p:tag name="MH_LIBRARY" val="GRAPHIC"/>
  <p:tag name="MH_TYPE" val="SubTitle"/>
  <p:tag name="MH_ORDER" val="1"/>
</p:tagLst>
</file>

<file path=ppt/tags/tag73.xml><?xml version="1.0" encoding="utf-8"?>
<p:tagLst xmlns:a="http://schemas.openxmlformats.org/drawingml/2006/main" xmlns:r="http://schemas.openxmlformats.org/officeDocument/2006/relationships" xmlns:p="http://schemas.openxmlformats.org/presentationml/2006/main">
  <p:tag name="MH" val="20190507094407"/>
  <p:tag name="MH_LIBRARY" val="GRAPHIC"/>
  <p:tag name="MH_TYPE" val="Text"/>
  <p:tag name="MH_ORDER" val="1"/>
</p:tagLst>
</file>

<file path=ppt/tags/tag74.xml><?xml version="1.0" encoding="utf-8"?>
<p:tagLst xmlns:a="http://schemas.openxmlformats.org/drawingml/2006/main" xmlns:r="http://schemas.openxmlformats.org/officeDocument/2006/relationships" xmlns:p="http://schemas.openxmlformats.org/presentationml/2006/main">
  <p:tag name="MH" val="20190507094407"/>
  <p:tag name="MH_LIBRARY" val="GRAPHIC"/>
  <p:tag name="MH_TYPE" val="Text"/>
  <p:tag name="MH_ORDER" val="1"/>
</p:tagLst>
</file>

<file path=ppt/tags/tag75.xml><?xml version="1.0" encoding="utf-8"?>
<p:tagLst xmlns:a="http://schemas.openxmlformats.org/drawingml/2006/main" xmlns:r="http://schemas.openxmlformats.org/officeDocument/2006/relationships" xmlns:p="http://schemas.openxmlformats.org/presentationml/2006/main">
  <p:tag name="MH" val="20190507094407"/>
  <p:tag name="MH_LIBRARY" val="GRAPHIC"/>
  <p:tag name="MH_TYPE" val="Text"/>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1"/>
</p:tagLst>
</file>

<file path=ppt/tags/tag77.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2"/>
</p:tagLst>
</file>

<file path=ppt/tags/tag78.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3"/>
</p:tagLst>
</file>

<file path=ppt/tags/tag79.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4"/>
</p:tagLst>
</file>

<file path=ppt/tags/tag80.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5"/>
</p:tagLst>
</file>

<file path=ppt/tags/tag81.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Text"/>
  <p:tag name="MH_ORDER" val="1"/>
</p:tagLst>
</file>

<file path=ppt/tags/tag82.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SubTitle"/>
  <p:tag name="MH_ORDER" val="1"/>
</p:tagLst>
</file>

<file path=ppt/tags/tag83.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11"/>
</p:tagLst>
</file>

<file path=ppt/tags/tag84.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12"/>
</p:tagLst>
</file>

<file path=ppt/tags/tag85.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13"/>
</p:tagLst>
</file>

<file path=ppt/tags/tag86.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14"/>
</p:tagLst>
</file>

<file path=ppt/tags/tag87.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Other"/>
  <p:tag name="MH_ORDER" val="15"/>
</p:tagLst>
</file>

<file path=ppt/tags/tag88.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Text"/>
  <p:tag name="MH_ORDER" val="2"/>
</p:tagLst>
</file>

<file path=ppt/tags/tag89.xml><?xml version="1.0" encoding="utf-8"?>
<p:tagLst xmlns:a="http://schemas.openxmlformats.org/drawingml/2006/main" xmlns:r="http://schemas.openxmlformats.org/officeDocument/2006/relationships" xmlns:p="http://schemas.openxmlformats.org/presentationml/2006/main">
  <p:tag name="MH" val="20190507101340"/>
  <p:tag name="MH_LIBRARY" val="GRAPHIC"/>
  <p:tag name="MH_TYPE" val="SubTitle"/>
  <p:tag name="MH_ORDER" val="2"/>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470.xml><?xml version="1.0" encoding="utf-8"?>
<p:tagLst xmlns:p="http://schemas.openxmlformats.org/presentationml/2006/main">
  <p:tag name="MH" val="20190506102212"/>
  <p:tag name="MH_LIBRARY" val="GRAPHIC"/>
  <p:tag name="MH_TYPE" val="Text"/>
  <p:tag name="MH_ORDER" val="2"/>
</p:tagLst>
</file>

<file path=ppt/theme/theme1.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3239</TotalTime>
  <Words>5806</Words>
  <Application>Microsoft Office PowerPoint</Application>
  <PresentationFormat>宽屏</PresentationFormat>
  <Paragraphs>770</Paragraphs>
  <Slides>56</Slides>
  <Notes>27</Notes>
  <HiddenSlides>0</HiddenSlides>
  <MMClips>0</MMClips>
  <ScaleCrop>false</ScaleCrop>
  <HeadingPairs>
    <vt:vector size="8" baseType="variant">
      <vt:variant>
        <vt:lpstr>已用的字体</vt:lpstr>
      </vt:variant>
      <vt:variant>
        <vt:i4>13</vt:i4>
      </vt:variant>
      <vt:variant>
        <vt:lpstr>主题</vt:lpstr>
      </vt:variant>
      <vt:variant>
        <vt:i4>6</vt:i4>
      </vt:variant>
      <vt:variant>
        <vt:lpstr>嵌入 OLE 服务器</vt:lpstr>
      </vt:variant>
      <vt:variant>
        <vt:i4>5</vt:i4>
      </vt:variant>
      <vt:variant>
        <vt:lpstr>幻灯片标题</vt:lpstr>
      </vt:variant>
      <vt:variant>
        <vt:i4>56</vt:i4>
      </vt:variant>
    </vt:vector>
  </HeadingPairs>
  <TitlesOfParts>
    <vt:vector size="80" baseType="lpstr">
      <vt:lpstr>等线</vt:lpstr>
      <vt:lpstr>等线 Light</vt:lpstr>
      <vt:lpstr>华文楷体</vt:lpstr>
      <vt:lpstr>华文细黑</vt:lpstr>
      <vt:lpstr>华文中宋</vt:lpstr>
      <vt:lpstr>宋体</vt:lpstr>
      <vt:lpstr>微软雅黑</vt:lpstr>
      <vt:lpstr>Arial</vt:lpstr>
      <vt:lpstr>Calibri</vt:lpstr>
      <vt:lpstr>Cambria Math</vt:lpstr>
      <vt:lpstr>Franklin Gothic Medium</vt:lpstr>
      <vt:lpstr>Times New Roman</vt:lpstr>
      <vt:lpstr>Wingdings</vt:lpstr>
      <vt:lpstr>4_自定义设计方案</vt:lpstr>
      <vt:lpstr>自定义设计方案</vt:lpstr>
      <vt:lpstr>1_自定义设计方案</vt:lpstr>
      <vt:lpstr>2_自定义设计方案</vt:lpstr>
      <vt:lpstr>3_自定义设计方案</vt:lpstr>
      <vt:lpstr>Office 主题​​</vt:lpstr>
      <vt:lpstr>Microsoft 公式 3.0</vt:lpstr>
      <vt:lpstr>公式</vt:lpstr>
      <vt:lpstr>CorelDRAW.Graphic.9</vt:lpstr>
      <vt:lpstr>Equation.DSMT4</vt:lpstr>
      <vt:lpstr>Visio</vt:lpstr>
      <vt:lpstr>《无线网络规划与优化》</vt:lpstr>
      <vt:lpstr>PowerPoint 演示文稿</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任务二：步入LTE网络规划</vt:lpstr>
      <vt:lpstr>任务小结</vt:lpstr>
      <vt:lpstr>PowerPoint 演示文稿</vt:lpstr>
      <vt:lpstr>PowerPoint 演示文稿</vt:lpstr>
      <vt:lpstr>PowerPoint 演示文稿</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kingsoft</dc:creator>
  <cp:lastModifiedBy>静 吴</cp:lastModifiedBy>
  <cp:revision>631</cp:revision>
  <dcterms:created xsi:type="dcterms:W3CDTF">2017-08-03T09:01:00Z</dcterms:created>
  <dcterms:modified xsi:type="dcterms:W3CDTF">2025-09-10T13:28:53Z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8A233E964E4D4A3EB96E7B4258BCBB46_12</vt:lpwstr>
  </property>
</Properties>
</file>