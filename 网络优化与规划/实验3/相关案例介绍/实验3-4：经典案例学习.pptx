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Default Extension="png" ContentType="image/png"/>
  <Override PartName="/ppt/slideLayouts/slideLayout7.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7" r:id="rId2"/>
    <p:sldMasterId id="2147483672" r:id="rId3"/>
  </p:sldMasterIdLst>
  <p:notesMasterIdLst>
    <p:notesMasterId r:id="rId47"/>
  </p:notesMasterIdLst>
  <p:sldIdLst>
    <p:sldId id="294" r:id="rId4"/>
    <p:sldId id="295" r:id="rId5"/>
    <p:sldId id="296" r:id="rId6"/>
    <p:sldId id="297" r:id="rId7"/>
    <p:sldId id="257" r:id="rId8"/>
    <p:sldId id="262" r:id="rId9"/>
    <p:sldId id="263" r:id="rId10"/>
    <p:sldId id="261" r:id="rId11"/>
    <p:sldId id="260" r:id="rId12"/>
    <p:sldId id="258" r:id="rId13"/>
    <p:sldId id="259"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98" r:id="rId37"/>
    <p:sldId id="299" r:id="rId38"/>
    <p:sldId id="288" r:id="rId39"/>
    <p:sldId id="289" r:id="rId40"/>
    <p:sldId id="290" r:id="rId41"/>
    <p:sldId id="291" r:id="rId42"/>
    <p:sldId id="300" r:id="rId43"/>
    <p:sldId id="301" r:id="rId44"/>
    <p:sldId id="303" r:id="rId45"/>
    <p:sldId id="304" r:id="rId46"/>
  </p:sldIdLst>
  <p:sldSz cx="10261600" cy="5397500"/>
  <p:notesSz cx="6858000" cy="9144000"/>
  <p:defaultTextStyle>
    <a:defPPr>
      <a:defRPr lang="zh-CN"/>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5"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0" autoAdjust="0"/>
    <p:restoredTop sz="94660"/>
  </p:normalViewPr>
  <p:slideViewPr>
    <p:cSldViewPr>
      <p:cViewPr>
        <p:scale>
          <a:sx n="75" d="100"/>
          <a:sy n="75" d="100"/>
        </p:scale>
        <p:origin x="-1435" y="-509"/>
      </p:cViewPr>
      <p:guideLst>
        <p:guide orient="horz" pos="1701"/>
        <p:guide pos="3233"/>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1946D8-51F4-4F94-925B-35D3CF6D7C96}" type="datetimeFigureOut">
              <a:rPr lang="zh-CN" altLang="en-US" smtClean="0"/>
              <a:pPr/>
              <a:t>2022-2-25</a:t>
            </a:fld>
            <a:endParaRPr lang="zh-CN" altLang="en-US"/>
          </a:p>
        </p:txBody>
      </p:sp>
      <p:sp>
        <p:nvSpPr>
          <p:cNvPr id="4" name="幻灯片图像占位符 3"/>
          <p:cNvSpPr>
            <a:spLocks noGrp="1" noRot="1" noChangeAspect="1"/>
          </p:cNvSpPr>
          <p:nvPr>
            <p:ph type="sldImg" idx="2"/>
          </p:nvPr>
        </p:nvSpPr>
        <p:spPr>
          <a:xfrm>
            <a:off x="169863" y="685800"/>
            <a:ext cx="651827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5869CD-8C30-4796-9972-9D26C0E7D318}" type="slidenum">
              <a:rPr lang="zh-CN" altLang="en-US" smtClean="0"/>
              <a:pPr/>
              <a:t>‹#›</a:t>
            </a:fld>
            <a:endParaRPr lang="zh-CN" altLang="en-US"/>
          </a:p>
        </p:txBody>
      </p:sp>
    </p:spTree>
    <p:extLst>
      <p:ext uri="{BB962C8B-B14F-4D97-AF65-F5344CB8AC3E}">
        <p14:creationId xmlns:p14="http://schemas.microsoft.com/office/powerpoint/2010/main" xmlns="" val="3777608035"/>
      </p:ext>
    </p:extLst>
  </p:cSld>
  <p:clrMap bg1="lt1" tx1="dk1" bg2="lt2" tx2="dk2" accent1="accent1" accent2="accent2" accent3="accent3" accent4="accent4" accent5="accent5" accent6="accent6" hlink="hlink" folHlink="folHlink"/>
  <p:notesStyle>
    <a:lvl1pPr marL="0" algn="l" defTabSz="914309" rtl="0" eaLnBrk="1" latinLnBrk="0" hangingPunct="1">
      <a:defRPr sz="1200" kern="1200">
        <a:solidFill>
          <a:schemeClr val="tx1"/>
        </a:solidFill>
        <a:latin typeface="+mn-lt"/>
        <a:ea typeface="+mn-ea"/>
        <a:cs typeface="+mn-cs"/>
      </a:defRPr>
    </a:lvl1pPr>
    <a:lvl2pPr marL="457154" algn="l" defTabSz="914309" rtl="0" eaLnBrk="1" latinLnBrk="0" hangingPunct="1">
      <a:defRPr sz="1200" kern="1200">
        <a:solidFill>
          <a:schemeClr val="tx1"/>
        </a:solidFill>
        <a:latin typeface="+mn-lt"/>
        <a:ea typeface="+mn-ea"/>
        <a:cs typeface="+mn-cs"/>
      </a:defRPr>
    </a:lvl2pPr>
    <a:lvl3pPr marL="914309" algn="l" defTabSz="914309" rtl="0" eaLnBrk="1" latinLnBrk="0" hangingPunct="1">
      <a:defRPr sz="1200" kern="1200">
        <a:solidFill>
          <a:schemeClr val="tx1"/>
        </a:solidFill>
        <a:latin typeface="+mn-lt"/>
        <a:ea typeface="+mn-ea"/>
        <a:cs typeface="+mn-cs"/>
      </a:defRPr>
    </a:lvl3pPr>
    <a:lvl4pPr marL="1371463" algn="l" defTabSz="914309" rtl="0" eaLnBrk="1" latinLnBrk="0" hangingPunct="1">
      <a:defRPr sz="1200" kern="1200">
        <a:solidFill>
          <a:schemeClr val="tx1"/>
        </a:solidFill>
        <a:latin typeface="+mn-lt"/>
        <a:ea typeface="+mn-ea"/>
        <a:cs typeface="+mn-cs"/>
      </a:defRPr>
    </a:lvl4pPr>
    <a:lvl5pPr marL="1828617" algn="l" defTabSz="914309" rtl="0" eaLnBrk="1" latinLnBrk="0" hangingPunct="1">
      <a:defRPr sz="1200" kern="1200">
        <a:solidFill>
          <a:schemeClr val="tx1"/>
        </a:solidFill>
        <a:latin typeface="+mn-lt"/>
        <a:ea typeface="+mn-ea"/>
        <a:cs typeface="+mn-cs"/>
      </a:defRPr>
    </a:lvl5pPr>
    <a:lvl6pPr marL="2285771" algn="l" defTabSz="914309" rtl="0" eaLnBrk="1" latinLnBrk="0" hangingPunct="1">
      <a:defRPr sz="1200" kern="1200">
        <a:solidFill>
          <a:schemeClr val="tx1"/>
        </a:solidFill>
        <a:latin typeface="+mn-lt"/>
        <a:ea typeface="+mn-ea"/>
        <a:cs typeface="+mn-cs"/>
      </a:defRPr>
    </a:lvl6pPr>
    <a:lvl7pPr marL="2742925" algn="l" defTabSz="914309" rtl="0" eaLnBrk="1" latinLnBrk="0" hangingPunct="1">
      <a:defRPr sz="1200" kern="1200">
        <a:solidFill>
          <a:schemeClr val="tx1"/>
        </a:solidFill>
        <a:latin typeface="+mn-lt"/>
        <a:ea typeface="+mn-ea"/>
        <a:cs typeface="+mn-cs"/>
      </a:defRPr>
    </a:lvl7pPr>
    <a:lvl8pPr marL="3200080" algn="l" defTabSz="914309" rtl="0" eaLnBrk="1" latinLnBrk="0" hangingPunct="1">
      <a:defRPr sz="1200" kern="1200">
        <a:solidFill>
          <a:schemeClr val="tx1"/>
        </a:solidFill>
        <a:latin typeface="+mn-lt"/>
        <a:ea typeface="+mn-ea"/>
        <a:cs typeface="+mn-cs"/>
      </a:defRPr>
    </a:lvl8pPr>
    <a:lvl9pPr marL="3657234" algn="l" defTabSz="914309"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9863" y="685800"/>
            <a:ext cx="651827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5869CD-8C30-4796-9972-9D26C0E7D318}" type="slidenum">
              <a:rPr lang="zh-CN" altLang="en-US" smtClean="0"/>
              <a:pPr/>
              <a:t>5</a:t>
            </a:fld>
            <a:endParaRPr lang="zh-CN" altLang="en-US"/>
          </a:p>
        </p:txBody>
      </p:sp>
    </p:spTree>
    <p:extLst>
      <p:ext uri="{BB962C8B-B14F-4D97-AF65-F5344CB8AC3E}">
        <p14:creationId xmlns:p14="http://schemas.microsoft.com/office/powerpoint/2010/main" xmlns="" val="904665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9863" y="685800"/>
            <a:ext cx="651827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5869CD-8C30-4796-9972-9D26C0E7D318}" type="slidenum">
              <a:rPr lang="zh-CN" altLang="en-US" smtClean="0"/>
              <a:pPr/>
              <a:t>6</a:t>
            </a:fld>
            <a:endParaRPr lang="zh-CN" altLang="en-US"/>
          </a:p>
        </p:txBody>
      </p:sp>
    </p:spTree>
    <p:extLst>
      <p:ext uri="{BB962C8B-B14F-4D97-AF65-F5344CB8AC3E}">
        <p14:creationId xmlns:p14="http://schemas.microsoft.com/office/powerpoint/2010/main" xmlns="" val="904665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9863" y="685800"/>
            <a:ext cx="651827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5869CD-8C30-4796-9972-9D26C0E7D318}" type="slidenum">
              <a:rPr lang="zh-CN" altLang="en-US" smtClean="0"/>
              <a:pPr/>
              <a:t>7</a:t>
            </a:fld>
            <a:endParaRPr lang="zh-CN" altLang="en-US"/>
          </a:p>
        </p:txBody>
      </p:sp>
    </p:spTree>
    <p:extLst>
      <p:ext uri="{BB962C8B-B14F-4D97-AF65-F5344CB8AC3E}">
        <p14:creationId xmlns:p14="http://schemas.microsoft.com/office/powerpoint/2010/main" xmlns="" val="904665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9863" y="685800"/>
            <a:ext cx="651827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5869CD-8C30-4796-9972-9D26C0E7D318}" type="slidenum">
              <a:rPr lang="zh-CN" altLang="en-US" smtClean="0"/>
              <a:pPr/>
              <a:t>8</a:t>
            </a:fld>
            <a:endParaRPr lang="zh-CN" altLang="en-US"/>
          </a:p>
        </p:txBody>
      </p:sp>
    </p:spTree>
    <p:extLst>
      <p:ext uri="{BB962C8B-B14F-4D97-AF65-F5344CB8AC3E}">
        <p14:creationId xmlns:p14="http://schemas.microsoft.com/office/powerpoint/2010/main" xmlns="" val="904665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9863" y="685800"/>
            <a:ext cx="651827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5869CD-8C30-4796-9972-9D26C0E7D318}" type="slidenum">
              <a:rPr lang="zh-CN" altLang="en-US" smtClean="0"/>
              <a:pPr/>
              <a:t>9</a:t>
            </a:fld>
            <a:endParaRPr lang="zh-CN" altLang="en-US"/>
          </a:p>
        </p:txBody>
      </p:sp>
    </p:spTree>
    <p:extLst>
      <p:ext uri="{BB962C8B-B14F-4D97-AF65-F5344CB8AC3E}">
        <p14:creationId xmlns:p14="http://schemas.microsoft.com/office/powerpoint/2010/main" xmlns="" val="904665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9863" y="685800"/>
            <a:ext cx="651827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5869CD-8C30-4796-9972-9D26C0E7D318}" type="slidenum">
              <a:rPr lang="zh-CN" altLang="en-US" smtClean="0"/>
              <a:pPr/>
              <a:t>10</a:t>
            </a:fld>
            <a:endParaRPr lang="zh-CN" altLang="en-US"/>
          </a:p>
        </p:txBody>
      </p:sp>
    </p:spTree>
    <p:extLst>
      <p:ext uri="{BB962C8B-B14F-4D97-AF65-F5344CB8AC3E}">
        <p14:creationId xmlns:p14="http://schemas.microsoft.com/office/powerpoint/2010/main" xmlns="" val="904665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9863" y="685800"/>
            <a:ext cx="651827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5869CD-8C30-4796-9972-9D26C0E7D318}" type="slidenum">
              <a:rPr lang="zh-CN" altLang="en-US" smtClean="0"/>
              <a:pPr/>
              <a:t>11</a:t>
            </a:fld>
            <a:endParaRPr lang="zh-CN" altLang="en-US"/>
          </a:p>
        </p:txBody>
      </p:sp>
    </p:spTree>
    <p:extLst>
      <p:ext uri="{BB962C8B-B14F-4D97-AF65-F5344CB8AC3E}">
        <p14:creationId xmlns:p14="http://schemas.microsoft.com/office/powerpoint/2010/main" xmlns="" val="904665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9863" y="685800"/>
            <a:ext cx="651827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5869CD-8C30-4796-9972-9D26C0E7D318}" type="slidenum">
              <a:rPr lang="zh-CN" altLang="en-US" smtClean="0"/>
              <a:pPr/>
              <a:t>12</a:t>
            </a:fld>
            <a:endParaRPr lang="zh-CN" altLang="en-US"/>
          </a:p>
        </p:txBody>
      </p:sp>
    </p:spTree>
    <p:extLst>
      <p:ext uri="{BB962C8B-B14F-4D97-AF65-F5344CB8AC3E}">
        <p14:creationId xmlns:p14="http://schemas.microsoft.com/office/powerpoint/2010/main" xmlns="" val="904665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xfrm>
            <a:off x="169863" y="685800"/>
            <a:ext cx="6518275" cy="3429000"/>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0243" name="备注占位符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10244" name="灯片编号占位符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fld id="{B9075F70-2C26-40D9-88E9-D137FCBCA72B}" type="slidenum">
              <a:rPr lang="zh-CN" altLang="en-US" smtClean="0"/>
              <a:pPr/>
              <a:t>34</a:t>
            </a:fld>
            <a:endParaRPr lang="zh-CN" altLang="en-US" smtClean="0"/>
          </a:p>
        </p:txBody>
      </p:sp>
    </p:spTree>
    <p:extLst>
      <p:ext uri="{BB962C8B-B14F-4D97-AF65-F5344CB8AC3E}">
        <p14:creationId xmlns:p14="http://schemas.microsoft.com/office/powerpoint/2010/main" xmlns="" val="448467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169863" y="685800"/>
            <a:ext cx="6518275" cy="3429000"/>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fld id="{F1BDE38C-014F-48DD-85AA-088907A2B98C}" type="slidenum">
              <a:rPr lang="zh-CN" altLang="en-US" smtClean="0"/>
              <a:pPr/>
              <a:t>36</a:t>
            </a:fld>
            <a:endParaRPr lang="zh-CN" altLang="en-US" smtClean="0"/>
          </a:p>
        </p:txBody>
      </p:sp>
    </p:spTree>
    <p:extLst>
      <p:ext uri="{BB962C8B-B14F-4D97-AF65-F5344CB8AC3E}">
        <p14:creationId xmlns:p14="http://schemas.microsoft.com/office/powerpoint/2010/main" xmlns="" val="2176999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9863" y="685800"/>
            <a:ext cx="651827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5869CD-8C30-4796-9972-9D26C0E7D318}" type="slidenum">
              <a:rPr lang="zh-CN" altLang="en-US" smtClean="0"/>
              <a:pPr/>
              <a:t>38</a:t>
            </a:fld>
            <a:endParaRPr lang="zh-CN" altLang="en-US"/>
          </a:p>
        </p:txBody>
      </p:sp>
    </p:spTree>
    <p:extLst>
      <p:ext uri="{BB962C8B-B14F-4D97-AF65-F5344CB8AC3E}">
        <p14:creationId xmlns:p14="http://schemas.microsoft.com/office/powerpoint/2010/main" xmlns="" val="9046652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6" descr="ppt模板-01.jpg"/>
          <p:cNvPicPr>
            <a:picLocks noChangeAspect="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1" y="1"/>
            <a:ext cx="10261600" cy="5397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242551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2" name="图片 6" descr="ppt模板-02.jpg"/>
          <p:cNvPicPr>
            <a:picLocks noChangeAspect="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1" y="1"/>
            <a:ext cx="10261600" cy="5397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85408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 xmlns:a16="http://schemas.microsoft.com/office/drawing/2014/main" id="{F4FF4D38-1970-48B1-BFB1-C89773A79131}"/>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443680" y="5092260"/>
            <a:ext cx="1679316" cy="202399"/>
          </a:xfrm>
          <a:prstGeom prst="rect">
            <a:avLst/>
          </a:prstGeom>
        </p:spPr>
      </p:pic>
      <p:sp>
        <p:nvSpPr>
          <p:cNvPr id="6" name="文本框 5">
            <a:extLst>
              <a:ext uri="{FF2B5EF4-FFF2-40B4-BE49-F238E27FC236}">
                <a16:creationId xmlns="" xmlns:a16="http://schemas.microsoft.com/office/drawing/2014/main" id="{4C46F4C3-B2F3-4568-9273-A555114041E8}"/>
              </a:ext>
            </a:extLst>
          </p:cNvPr>
          <p:cNvSpPr txBox="1"/>
          <p:nvPr/>
        </p:nvSpPr>
        <p:spPr>
          <a:xfrm>
            <a:off x="89460" y="5092260"/>
            <a:ext cx="1334226" cy="246293"/>
          </a:xfrm>
          <a:prstGeom prst="rect">
            <a:avLst/>
          </a:prstGeom>
          <a:noFill/>
        </p:spPr>
        <p:txBody>
          <a:bodyPr wrap="none" lIns="91449" tIns="45724" rIns="91449" bIns="45724" rtlCol="0">
            <a:spAutoFit/>
          </a:bodyPr>
          <a:lstStyle/>
          <a:p>
            <a:pPr defTabSz="914492"/>
            <a:r>
              <a:rPr lang="zh-CN" altLang="en-US" sz="1000" dirty="0">
                <a:solidFill>
                  <a:prstClr val="black"/>
                </a:solidFill>
                <a:latin typeface="微软雅黑 Light" panose="020B0502040204020203" pitchFamily="34" charset="-122"/>
                <a:ea typeface="微软雅黑 Light" panose="020B0502040204020203" pitchFamily="34" charset="-122"/>
              </a:rPr>
              <a:t>▲</a:t>
            </a:r>
            <a:r>
              <a:rPr lang="zh-CN" altLang="en-US" sz="900" dirty="0">
                <a:solidFill>
                  <a:prstClr val="black"/>
                </a:solidFill>
                <a:latin typeface="微软雅黑 Light" panose="020B0502040204020203" pitchFamily="34" charset="-122"/>
                <a:ea typeface="微软雅黑 Light" panose="020B0502040204020203" pitchFamily="34" charset="-122"/>
              </a:rPr>
              <a:t>版权归经世教育所有</a:t>
            </a:r>
          </a:p>
        </p:txBody>
      </p:sp>
      <p:pic>
        <p:nvPicPr>
          <p:cNvPr id="4" name="图片 3" descr="水印.png"/>
          <p:cNvPicPr>
            <a:picLocks noChangeAspect="1" noChangeArrowheads="1"/>
          </p:cNvPicPr>
          <p:nvPr userDrawn="1"/>
        </p:nvPicPr>
        <p:blipFill>
          <a:blip r:embed="rId3" cstate="print"/>
          <a:srcRect/>
          <a:stretch>
            <a:fillRect/>
          </a:stretch>
        </p:blipFill>
        <p:spPr bwMode="auto">
          <a:xfrm>
            <a:off x="8299643" y="201574"/>
            <a:ext cx="1814332" cy="453123"/>
          </a:xfrm>
          <a:prstGeom prst="rect">
            <a:avLst/>
          </a:prstGeom>
          <a:noFill/>
          <a:ln w="9525">
            <a:noFill/>
            <a:miter lim="800000"/>
            <a:headEnd/>
            <a:tailEnd/>
          </a:ln>
        </p:spPr>
      </p:pic>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cxnSp>
        <p:nvCxnSpPr>
          <p:cNvPr id="3" name="直线连接符 3"/>
          <p:cNvCxnSpPr/>
          <p:nvPr userDrawn="1"/>
        </p:nvCxnSpPr>
        <p:spPr>
          <a:xfrm>
            <a:off x="449555" y="681933"/>
            <a:ext cx="9146431"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4" name="图片 3" descr="水印.png"/>
          <p:cNvPicPr>
            <a:picLocks noChangeAspect="1" noChangeArrowheads="1"/>
          </p:cNvPicPr>
          <p:nvPr userDrawn="1"/>
        </p:nvPicPr>
        <p:blipFill>
          <a:blip r:embed="rId2" cstate="print"/>
          <a:srcRect/>
          <a:stretch>
            <a:fillRect/>
          </a:stretch>
        </p:blipFill>
        <p:spPr bwMode="auto">
          <a:xfrm>
            <a:off x="8299643" y="201574"/>
            <a:ext cx="1814332" cy="453123"/>
          </a:xfrm>
          <a:prstGeom prst="rect">
            <a:avLst/>
          </a:prstGeom>
          <a:noFill/>
          <a:ln w="9525">
            <a:noFill/>
            <a:miter lim="800000"/>
            <a:headEnd/>
            <a:tailEnd/>
          </a:ln>
        </p:spPr>
      </p:pic>
      <p:pic>
        <p:nvPicPr>
          <p:cNvPr id="5" name="图片 4">
            <a:extLst>
              <a:ext uri="{FF2B5EF4-FFF2-40B4-BE49-F238E27FC236}">
                <a16:creationId xmlns="" xmlns:a16="http://schemas.microsoft.com/office/drawing/2014/main" id="{F4FF4D38-1970-48B1-BFB1-C89773A79131}"/>
              </a:ext>
            </a:extLst>
          </p:cNvPr>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8443680" y="5092260"/>
            <a:ext cx="1679316" cy="202399"/>
          </a:xfrm>
          <a:prstGeom prst="rect">
            <a:avLst/>
          </a:prstGeom>
        </p:spPr>
      </p:pic>
      <p:sp>
        <p:nvSpPr>
          <p:cNvPr id="6" name="文本框 5">
            <a:extLst>
              <a:ext uri="{FF2B5EF4-FFF2-40B4-BE49-F238E27FC236}">
                <a16:creationId xmlns="" xmlns:a16="http://schemas.microsoft.com/office/drawing/2014/main" id="{4C46F4C3-B2F3-4568-9273-A555114041E8}"/>
              </a:ext>
            </a:extLst>
          </p:cNvPr>
          <p:cNvSpPr txBox="1"/>
          <p:nvPr userDrawn="1"/>
        </p:nvSpPr>
        <p:spPr>
          <a:xfrm>
            <a:off x="89460" y="5092260"/>
            <a:ext cx="1334226" cy="246293"/>
          </a:xfrm>
          <a:prstGeom prst="rect">
            <a:avLst/>
          </a:prstGeom>
          <a:noFill/>
        </p:spPr>
        <p:txBody>
          <a:bodyPr wrap="none" lIns="91449" tIns="45724" rIns="91449" bIns="45724" rtlCol="0">
            <a:spAutoFit/>
          </a:bodyPr>
          <a:lstStyle/>
          <a:p>
            <a:pPr defTabSz="914492"/>
            <a:r>
              <a:rPr lang="zh-CN" altLang="en-US" sz="1000" dirty="0">
                <a:solidFill>
                  <a:prstClr val="black"/>
                </a:solidFill>
                <a:latin typeface="微软雅黑 Light" panose="020B0502040204020203" pitchFamily="34" charset="-122"/>
                <a:ea typeface="微软雅黑 Light" panose="020B0502040204020203" pitchFamily="34" charset="-122"/>
              </a:rPr>
              <a:t>▲</a:t>
            </a:r>
            <a:r>
              <a:rPr lang="zh-CN" altLang="en-US" sz="900" dirty="0">
                <a:solidFill>
                  <a:prstClr val="black"/>
                </a:solidFill>
                <a:latin typeface="微软雅黑 Light" panose="020B0502040204020203" pitchFamily="34" charset="-122"/>
                <a:ea typeface="微软雅黑 Light" panose="020B0502040204020203" pitchFamily="34" charset="-122"/>
              </a:rPr>
              <a:t>版权归经世教育所有</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 xmlns:a16="http://schemas.microsoft.com/office/drawing/2014/main" id="{F4FF4D38-1970-48B1-BFB1-C89773A79131}"/>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443680" y="5092259"/>
            <a:ext cx="1679316" cy="202399"/>
          </a:xfrm>
          <a:prstGeom prst="rect">
            <a:avLst/>
          </a:prstGeom>
        </p:spPr>
      </p:pic>
      <p:sp>
        <p:nvSpPr>
          <p:cNvPr id="6" name="文本框 5">
            <a:extLst>
              <a:ext uri="{FF2B5EF4-FFF2-40B4-BE49-F238E27FC236}">
                <a16:creationId xmlns="" xmlns:a16="http://schemas.microsoft.com/office/drawing/2014/main" id="{4C46F4C3-B2F3-4568-9273-A555114041E8}"/>
              </a:ext>
            </a:extLst>
          </p:cNvPr>
          <p:cNvSpPr txBox="1"/>
          <p:nvPr/>
        </p:nvSpPr>
        <p:spPr>
          <a:xfrm>
            <a:off x="89460" y="5092259"/>
            <a:ext cx="1334226" cy="246293"/>
          </a:xfrm>
          <a:prstGeom prst="rect">
            <a:avLst/>
          </a:prstGeom>
          <a:noFill/>
        </p:spPr>
        <p:txBody>
          <a:bodyPr wrap="none" lIns="91458" tIns="45729" rIns="91458" bIns="45729" rtlCol="0">
            <a:spAutoFit/>
          </a:bodyPr>
          <a:lstStyle/>
          <a:p>
            <a:pPr defTabSz="914583"/>
            <a:r>
              <a:rPr lang="zh-CN" altLang="en-US" sz="1000" dirty="0">
                <a:solidFill>
                  <a:prstClr val="black"/>
                </a:solidFill>
                <a:latin typeface="微软雅黑 Light" panose="020B0502040204020203" pitchFamily="34" charset="-122"/>
                <a:ea typeface="微软雅黑 Light" panose="020B0502040204020203" pitchFamily="34" charset="-122"/>
              </a:rPr>
              <a:t>▲</a:t>
            </a:r>
            <a:r>
              <a:rPr lang="zh-CN" altLang="en-US" sz="900" dirty="0">
                <a:solidFill>
                  <a:prstClr val="black"/>
                </a:solidFill>
                <a:latin typeface="微软雅黑 Light" panose="020B0502040204020203" pitchFamily="34" charset="-122"/>
                <a:ea typeface="微软雅黑 Light" panose="020B0502040204020203" pitchFamily="34" charset="-122"/>
              </a:rPr>
              <a:t>版权归经世教育所有</a:t>
            </a:r>
          </a:p>
        </p:txBody>
      </p:sp>
      <p:pic>
        <p:nvPicPr>
          <p:cNvPr id="4" name="图片 3" descr="水印.png"/>
          <p:cNvPicPr>
            <a:picLocks noChangeAspect="1" noChangeArrowheads="1"/>
          </p:cNvPicPr>
          <p:nvPr userDrawn="1"/>
        </p:nvPicPr>
        <p:blipFill>
          <a:blip r:embed="rId3" cstate="print"/>
          <a:srcRect/>
          <a:stretch>
            <a:fillRect/>
          </a:stretch>
        </p:blipFill>
        <p:spPr bwMode="auto">
          <a:xfrm>
            <a:off x="8299642" y="201574"/>
            <a:ext cx="1814332" cy="453123"/>
          </a:xfrm>
          <a:prstGeom prst="rect">
            <a:avLst/>
          </a:prstGeom>
          <a:noFill/>
          <a:ln w="9525">
            <a:noFill/>
            <a:miter lim="800000"/>
            <a:headEnd/>
            <a:tailEnd/>
          </a:ln>
        </p:spPr>
      </p:pic>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cxnSp>
        <p:nvCxnSpPr>
          <p:cNvPr id="3" name="直线连接符 3"/>
          <p:cNvCxnSpPr/>
          <p:nvPr userDrawn="1"/>
        </p:nvCxnSpPr>
        <p:spPr>
          <a:xfrm>
            <a:off x="449555" y="681933"/>
            <a:ext cx="9146431"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4" name="图片 3" descr="水印.png"/>
          <p:cNvPicPr>
            <a:picLocks noChangeAspect="1" noChangeArrowheads="1"/>
          </p:cNvPicPr>
          <p:nvPr userDrawn="1"/>
        </p:nvPicPr>
        <p:blipFill>
          <a:blip r:embed="rId2" cstate="print"/>
          <a:srcRect/>
          <a:stretch>
            <a:fillRect/>
          </a:stretch>
        </p:blipFill>
        <p:spPr bwMode="auto">
          <a:xfrm>
            <a:off x="8299642" y="201574"/>
            <a:ext cx="1814332" cy="453123"/>
          </a:xfrm>
          <a:prstGeom prst="rect">
            <a:avLst/>
          </a:prstGeom>
          <a:noFill/>
          <a:ln w="9525">
            <a:noFill/>
            <a:miter lim="800000"/>
            <a:headEnd/>
            <a:tailEnd/>
          </a:ln>
        </p:spPr>
      </p:pic>
      <p:pic>
        <p:nvPicPr>
          <p:cNvPr id="5" name="图片 4">
            <a:extLst>
              <a:ext uri="{FF2B5EF4-FFF2-40B4-BE49-F238E27FC236}">
                <a16:creationId xmlns="" xmlns:a16="http://schemas.microsoft.com/office/drawing/2014/main" id="{F4FF4D38-1970-48B1-BFB1-C89773A79131}"/>
              </a:ext>
            </a:extLst>
          </p:cNvPr>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8443680" y="5092259"/>
            <a:ext cx="1679316" cy="202399"/>
          </a:xfrm>
          <a:prstGeom prst="rect">
            <a:avLst/>
          </a:prstGeom>
        </p:spPr>
      </p:pic>
      <p:sp>
        <p:nvSpPr>
          <p:cNvPr id="6" name="文本框 5">
            <a:extLst>
              <a:ext uri="{FF2B5EF4-FFF2-40B4-BE49-F238E27FC236}">
                <a16:creationId xmlns="" xmlns:a16="http://schemas.microsoft.com/office/drawing/2014/main" id="{4C46F4C3-B2F3-4568-9273-A555114041E8}"/>
              </a:ext>
            </a:extLst>
          </p:cNvPr>
          <p:cNvSpPr txBox="1"/>
          <p:nvPr userDrawn="1"/>
        </p:nvSpPr>
        <p:spPr>
          <a:xfrm>
            <a:off x="89460" y="5092259"/>
            <a:ext cx="1334226" cy="246293"/>
          </a:xfrm>
          <a:prstGeom prst="rect">
            <a:avLst/>
          </a:prstGeom>
          <a:noFill/>
        </p:spPr>
        <p:txBody>
          <a:bodyPr wrap="none" lIns="91458" tIns="45729" rIns="91458" bIns="45729" rtlCol="0">
            <a:spAutoFit/>
          </a:bodyPr>
          <a:lstStyle/>
          <a:p>
            <a:pPr defTabSz="914583"/>
            <a:r>
              <a:rPr lang="zh-CN" altLang="en-US" sz="1000" dirty="0">
                <a:solidFill>
                  <a:prstClr val="black"/>
                </a:solidFill>
                <a:latin typeface="微软雅黑 Light" panose="020B0502040204020203" pitchFamily="34" charset="-122"/>
                <a:ea typeface="微软雅黑 Light" panose="020B0502040204020203" pitchFamily="34" charset="-122"/>
              </a:rPr>
              <a:t>▲</a:t>
            </a:r>
            <a:r>
              <a:rPr lang="zh-CN" altLang="en-US" sz="900" dirty="0">
                <a:solidFill>
                  <a:prstClr val="black"/>
                </a:solidFill>
                <a:latin typeface="微软雅黑 Light" panose="020B0502040204020203" pitchFamily="34" charset="-122"/>
                <a:ea typeface="微软雅黑 Light" panose="020B0502040204020203" pitchFamily="34" charset="-122"/>
              </a:rPr>
              <a:t>版权归经世教育所有</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theme" Target="../theme/theme3.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652302916"/>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ctr" rtl="0" eaLnBrk="0" fontAlgn="base" hangingPunct="0">
        <a:spcBef>
          <a:spcPct val="0"/>
        </a:spcBef>
        <a:spcAft>
          <a:spcPct val="0"/>
        </a:spcAft>
        <a:defRPr sz="4400" kern="1200">
          <a:solidFill>
            <a:schemeClr val="tx1"/>
          </a:solidFill>
          <a:latin typeface="+mj-lt"/>
          <a:ea typeface="+mj-ea"/>
          <a:cs typeface="宋体" charset="0"/>
        </a:defRPr>
      </a:lvl1pPr>
      <a:lvl2pPr algn="ctr" rtl="0" eaLnBrk="0" fontAlgn="base" hangingPunct="0">
        <a:spcBef>
          <a:spcPct val="0"/>
        </a:spcBef>
        <a:spcAft>
          <a:spcPct val="0"/>
        </a:spcAft>
        <a:defRPr sz="4400">
          <a:solidFill>
            <a:schemeClr val="tx1"/>
          </a:solidFill>
          <a:latin typeface="Calibri" charset="0"/>
          <a:ea typeface="宋体" charset="0"/>
          <a:cs typeface="宋体" charset="0"/>
        </a:defRPr>
      </a:lvl2pPr>
      <a:lvl3pPr algn="ctr" rtl="0" eaLnBrk="0" fontAlgn="base" hangingPunct="0">
        <a:spcBef>
          <a:spcPct val="0"/>
        </a:spcBef>
        <a:spcAft>
          <a:spcPct val="0"/>
        </a:spcAft>
        <a:defRPr sz="4400">
          <a:solidFill>
            <a:schemeClr val="tx1"/>
          </a:solidFill>
          <a:latin typeface="Calibri" charset="0"/>
          <a:ea typeface="宋体" charset="0"/>
          <a:cs typeface="宋体" charset="0"/>
        </a:defRPr>
      </a:lvl3pPr>
      <a:lvl4pPr algn="ctr" rtl="0" eaLnBrk="0" fontAlgn="base" hangingPunct="0">
        <a:spcBef>
          <a:spcPct val="0"/>
        </a:spcBef>
        <a:spcAft>
          <a:spcPct val="0"/>
        </a:spcAft>
        <a:defRPr sz="4400">
          <a:solidFill>
            <a:schemeClr val="tx1"/>
          </a:solidFill>
          <a:latin typeface="Calibri" charset="0"/>
          <a:ea typeface="宋体" charset="0"/>
          <a:cs typeface="宋体" charset="0"/>
        </a:defRPr>
      </a:lvl4pPr>
      <a:lvl5pPr algn="ctr" rtl="0" eaLnBrk="0" fontAlgn="base" hangingPunct="0">
        <a:spcBef>
          <a:spcPct val="0"/>
        </a:spcBef>
        <a:spcAft>
          <a:spcPct val="0"/>
        </a:spcAft>
        <a:defRPr sz="4400">
          <a:solidFill>
            <a:schemeClr val="tx1"/>
          </a:solidFill>
          <a:latin typeface="Calibri" charset="0"/>
          <a:ea typeface="宋体" charset="0"/>
          <a:cs typeface="宋体" charset="0"/>
        </a:defRPr>
      </a:lvl5pPr>
      <a:lvl6pPr marL="457154" algn="ctr" rtl="0" fontAlgn="base">
        <a:spcBef>
          <a:spcPct val="0"/>
        </a:spcBef>
        <a:spcAft>
          <a:spcPct val="0"/>
        </a:spcAft>
        <a:defRPr sz="4400">
          <a:solidFill>
            <a:schemeClr val="tx1"/>
          </a:solidFill>
          <a:latin typeface="Calibri" charset="0"/>
          <a:ea typeface="宋体" charset="0"/>
          <a:cs typeface="宋体" charset="0"/>
        </a:defRPr>
      </a:lvl6pPr>
      <a:lvl7pPr marL="914309" algn="ctr" rtl="0" fontAlgn="base">
        <a:spcBef>
          <a:spcPct val="0"/>
        </a:spcBef>
        <a:spcAft>
          <a:spcPct val="0"/>
        </a:spcAft>
        <a:defRPr sz="4400">
          <a:solidFill>
            <a:schemeClr val="tx1"/>
          </a:solidFill>
          <a:latin typeface="Calibri" charset="0"/>
          <a:ea typeface="宋体" charset="0"/>
          <a:cs typeface="宋体" charset="0"/>
        </a:defRPr>
      </a:lvl7pPr>
      <a:lvl8pPr marL="1371463" algn="ctr" rtl="0" fontAlgn="base">
        <a:spcBef>
          <a:spcPct val="0"/>
        </a:spcBef>
        <a:spcAft>
          <a:spcPct val="0"/>
        </a:spcAft>
        <a:defRPr sz="4400">
          <a:solidFill>
            <a:schemeClr val="tx1"/>
          </a:solidFill>
          <a:latin typeface="Calibri" charset="0"/>
          <a:ea typeface="宋体" charset="0"/>
          <a:cs typeface="宋体" charset="0"/>
        </a:defRPr>
      </a:lvl8pPr>
      <a:lvl9pPr marL="1828617" algn="ctr" rtl="0" fontAlgn="base">
        <a:spcBef>
          <a:spcPct val="0"/>
        </a:spcBef>
        <a:spcAft>
          <a:spcPct val="0"/>
        </a:spcAft>
        <a:defRPr sz="4400">
          <a:solidFill>
            <a:schemeClr val="tx1"/>
          </a:solidFill>
          <a:latin typeface="Calibri" charset="0"/>
          <a:ea typeface="宋体" charset="0"/>
          <a:cs typeface="宋体" charset="0"/>
        </a:defRPr>
      </a:lvl9pPr>
    </p:titleStyle>
    <p:bodyStyle>
      <a:lvl1pPr marL="342866" indent="-342866"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宋体" charset="0"/>
        </a:defRPr>
      </a:lvl1pPr>
      <a:lvl2pPr marL="742876" indent="-285721"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宋体" charset="0"/>
        </a:defRPr>
      </a:lvl2pPr>
      <a:lvl3pPr marL="1142886" indent="-228577"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宋体" charset="0"/>
        </a:defRPr>
      </a:lvl3pPr>
      <a:lvl4pPr marL="1600040" indent="-228577"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宋体" charset="0"/>
        </a:defRPr>
      </a:lvl4pPr>
      <a:lvl5pPr marL="2057194" indent="-228577"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宋体" charset="0"/>
        </a:defRPr>
      </a:lvl5pPr>
      <a:lvl6pPr marL="2514349" indent="-228577" algn="l" defTabSz="914309"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02" indent="-228577" algn="l" defTabSz="914309"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7" indent="-228577" algn="l" defTabSz="91430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11" indent="-228577" algn="l" defTabSz="914309"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5"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Lst>
  <p:txStyles>
    <p:titleStyle>
      <a:lvl1pPr algn="ctr" defTabSz="719527" rtl="0" eaLnBrk="1" latinLnBrk="0" hangingPunct="1">
        <a:spcBef>
          <a:spcPct val="0"/>
        </a:spcBef>
        <a:buNone/>
        <a:defRPr sz="2800" b="0" kern="1200">
          <a:solidFill>
            <a:schemeClr val="tx1"/>
          </a:solidFill>
          <a:latin typeface="新宋体" panose="02010609030101010101" pitchFamily="49" charset="-122"/>
          <a:ea typeface="新宋体" panose="02010609030101010101" pitchFamily="49" charset="-122"/>
          <a:cs typeface="+mj-cs"/>
        </a:defRPr>
      </a:lvl1pPr>
    </p:titleStyle>
    <p:bodyStyle>
      <a:lvl1pPr marL="269902" indent="-269267" algn="l" defTabSz="719527" rtl="0" eaLnBrk="1" latinLnBrk="0" hangingPunct="1">
        <a:spcBef>
          <a:spcPts val="75"/>
        </a:spcBef>
        <a:buFont typeface="Arial" pitchFamily="34" charset="0"/>
        <a:buChar char="•"/>
        <a:defRPr sz="2500" kern="1200">
          <a:solidFill>
            <a:schemeClr val="tx1"/>
          </a:solidFill>
          <a:latin typeface="+mn-lt"/>
          <a:ea typeface="+mn-ea"/>
          <a:cs typeface="+mn-cs"/>
        </a:defRPr>
      </a:lvl1pPr>
      <a:lvl2pPr marL="584894" indent="-224178" algn="l" defTabSz="719527" rtl="0" eaLnBrk="1" latinLnBrk="0" hangingPunct="1">
        <a:spcBef>
          <a:spcPts val="75"/>
        </a:spcBef>
        <a:buFont typeface="Arial" pitchFamily="34" charset="0"/>
        <a:buChar char="–"/>
        <a:defRPr sz="2200" kern="1200">
          <a:solidFill>
            <a:schemeClr val="tx1"/>
          </a:solidFill>
          <a:latin typeface="+mn-lt"/>
          <a:ea typeface="+mn-ea"/>
          <a:cs typeface="+mn-cs"/>
        </a:defRPr>
      </a:lvl2pPr>
      <a:lvl3pPr marL="899250" indent="-179088" algn="l" defTabSz="719527" rtl="0" eaLnBrk="1" latinLnBrk="0" hangingPunct="1">
        <a:spcBef>
          <a:spcPts val="75"/>
        </a:spcBef>
        <a:buFont typeface="Arial" pitchFamily="34" charset="0"/>
        <a:buChar char="•"/>
        <a:defRPr sz="1900" kern="1200">
          <a:solidFill>
            <a:schemeClr val="tx1"/>
          </a:solidFill>
          <a:latin typeface="+mn-lt"/>
          <a:ea typeface="+mn-ea"/>
          <a:cs typeface="+mn-cs"/>
        </a:defRPr>
      </a:lvl3pPr>
      <a:lvl4pPr marL="1259331" indent="-179088" algn="l" defTabSz="719527" rtl="0" eaLnBrk="1" latinLnBrk="0" hangingPunct="1">
        <a:spcBef>
          <a:spcPts val="75"/>
        </a:spcBef>
        <a:buFont typeface="Arial" pitchFamily="34" charset="0"/>
        <a:buChar char="–"/>
        <a:defRPr sz="1600" kern="1200">
          <a:solidFill>
            <a:schemeClr val="tx1"/>
          </a:solidFill>
          <a:latin typeface="+mn-lt"/>
          <a:ea typeface="+mn-ea"/>
          <a:cs typeface="+mn-cs"/>
        </a:defRPr>
      </a:lvl4pPr>
      <a:lvl5pPr marL="1618777" indent="-179088" algn="l" defTabSz="719527" rtl="0" eaLnBrk="1" latinLnBrk="0" hangingPunct="1">
        <a:spcBef>
          <a:spcPts val="75"/>
        </a:spcBef>
        <a:buFont typeface="Arial" pitchFamily="34" charset="0"/>
        <a:buChar char="»"/>
        <a:defRPr sz="1600" kern="1200">
          <a:solidFill>
            <a:schemeClr val="tx1"/>
          </a:solidFill>
          <a:latin typeface="+mn-lt"/>
          <a:ea typeface="+mn-ea"/>
          <a:cs typeface="+mn-cs"/>
        </a:defRPr>
      </a:lvl5pPr>
      <a:lvl6pPr marL="1978858" indent="-179088" algn="l" defTabSz="719527" rtl="0" eaLnBrk="1" latinLnBrk="0" hangingPunct="1">
        <a:spcBef>
          <a:spcPts val="75"/>
        </a:spcBef>
        <a:buFont typeface="Arial" pitchFamily="34" charset="0"/>
        <a:buChar char="•"/>
        <a:defRPr sz="1600" kern="1200">
          <a:solidFill>
            <a:schemeClr val="tx1"/>
          </a:solidFill>
          <a:latin typeface="+mn-lt"/>
          <a:ea typeface="+mn-ea"/>
          <a:cs typeface="+mn-cs"/>
        </a:defRPr>
      </a:lvl6pPr>
      <a:lvl7pPr marL="2338939" indent="-179088" algn="l" defTabSz="719527" rtl="0" eaLnBrk="1" latinLnBrk="0" hangingPunct="1">
        <a:spcBef>
          <a:spcPts val="75"/>
        </a:spcBef>
        <a:buFont typeface="Arial" pitchFamily="34" charset="0"/>
        <a:buChar char="•"/>
        <a:defRPr sz="1600" kern="1200">
          <a:solidFill>
            <a:schemeClr val="tx1"/>
          </a:solidFill>
          <a:latin typeface="+mn-lt"/>
          <a:ea typeface="+mn-ea"/>
          <a:cs typeface="+mn-cs"/>
        </a:defRPr>
      </a:lvl7pPr>
      <a:lvl8pPr marL="2698385" indent="-179088" algn="l" defTabSz="719527" rtl="0" eaLnBrk="1" latinLnBrk="0" hangingPunct="1">
        <a:spcBef>
          <a:spcPts val="75"/>
        </a:spcBef>
        <a:buFont typeface="Arial" pitchFamily="34" charset="0"/>
        <a:buChar char="•"/>
        <a:defRPr sz="1600" kern="1200">
          <a:solidFill>
            <a:schemeClr val="tx1"/>
          </a:solidFill>
          <a:latin typeface="+mn-lt"/>
          <a:ea typeface="+mn-ea"/>
          <a:cs typeface="+mn-cs"/>
        </a:defRPr>
      </a:lvl8pPr>
      <a:lvl9pPr marL="3058466" indent="-179088" algn="l" defTabSz="719527" rtl="0" eaLnBrk="1" latinLnBrk="0" hangingPunct="1">
        <a:spcBef>
          <a:spcPts val="75"/>
        </a:spcBef>
        <a:buFont typeface="Arial" pitchFamily="34" charset="0"/>
        <a:buChar char="•"/>
        <a:defRPr sz="1600" kern="1200">
          <a:solidFill>
            <a:schemeClr val="tx1"/>
          </a:solidFill>
          <a:latin typeface="+mn-lt"/>
          <a:ea typeface="+mn-ea"/>
          <a:cs typeface="+mn-cs"/>
        </a:defRPr>
      </a:lvl9pPr>
    </p:bodyStyle>
    <p:otherStyle>
      <a:defPPr>
        <a:defRPr lang="zh-CN"/>
      </a:defPPr>
      <a:lvl1pPr marL="0" algn="l" defTabSz="719527" rtl="0" eaLnBrk="1" latinLnBrk="0" hangingPunct="1">
        <a:defRPr sz="1400" kern="1200">
          <a:solidFill>
            <a:schemeClr val="tx1"/>
          </a:solidFill>
          <a:latin typeface="+mn-lt"/>
          <a:ea typeface="+mn-ea"/>
          <a:cs typeface="+mn-cs"/>
        </a:defRPr>
      </a:lvl1pPr>
      <a:lvl2pPr marL="360081" algn="l" defTabSz="719527" rtl="0" eaLnBrk="1" latinLnBrk="0" hangingPunct="1">
        <a:defRPr sz="1400" kern="1200">
          <a:solidFill>
            <a:schemeClr val="tx1"/>
          </a:solidFill>
          <a:latin typeface="+mn-lt"/>
          <a:ea typeface="+mn-ea"/>
          <a:cs typeface="+mn-cs"/>
        </a:defRPr>
      </a:lvl2pPr>
      <a:lvl3pPr marL="719527" algn="l" defTabSz="719527" rtl="0" eaLnBrk="1" latinLnBrk="0" hangingPunct="1">
        <a:defRPr sz="1400" kern="1200">
          <a:solidFill>
            <a:schemeClr val="tx1"/>
          </a:solidFill>
          <a:latin typeface="+mn-lt"/>
          <a:ea typeface="+mn-ea"/>
          <a:cs typeface="+mn-cs"/>
        </a:defRPr>
      </a:lvl3pPr>
      <a:lvl4pPr marL="1079608" algn="l" defTabSz="719527" rtl="0" eaLnBrk="1" latinLnBrk="0" hangingPunct="1">
        <a:defRPr sz="1400" kern="1200">
          <a:solidFill>
            <a:schemeClr val="tx1"/>
          </a:solidFill>
          <a:latin typeface="+mn-lt"/>
          <a:ea typeface="+mn-ea"/>
          <a:cs typeface="+mn-cs"/>
        </a:defRPr>
      </a:lvl4pPr>
      <a:lvl5pPr marL="1439054" algn="l" defTabSz="719527" rtl="0" eaLnBrk="1" latinLnBrk="0" hangingPunct="1">
        <a:defRPr sz="1400" kern="1200">
          <a:solidFill>
            <a:schemeClr val="tx1"/>
          </a:solidFill>
          <a:latin typeface="+mn-lt"/>
          <a:ea typeface="+mn-ea"/>
          <a:cs typeface="+mn-cs"/>
        </a:defRPr>
      </a:lvl5pPr>
      <a:lvl6pPr marL="1799135" algn="l" defTabSz="719527" rtl="0" eaLnBrk="1" latinLnBrk="0" hangingPunct="1">
        <a:defRPr sz="1400" kern="1200">
          <a:solidFill>
            <a:schemeClr val="tx1"/>
          </a:solidFill>
          <a:latin typeface="+mn-lt"/>
          <a:ea typeface="+mn-ea"/>
          <a:cs typeface="+mn-cs"/>
        </a:defRPr>
      </a:lvl6pPr>
      <a:lvl7pPr marL="2158581" algn="l" defTabSz="719527" rtl="0" eaLnBrk="1" latinLnBrk="0" hangingPunct="1">
        <a:defRPr sz="1400" kern="1200">
          <a:solidFill>
            <a:schemeClr val="tx1"/>
          </a:solidFill>
          <a:latin typeface="+mn-lt"/>
          <a:ea typeface="+mn-ea"/>
          <a:cs typeface="+mn-cs"/>
        </a:defRPr>
      </a:lvl7pPr>
      <a:lvl8pPr marL="2518662" algn="l" defTabSz="719527" rtl="0" eaLnBrk="1" latinLnBrk="0" hangingPunct="1">
        <a:defRPr sz="1400" kern="1200">
          <a:solidFill>
            <a:schemeClr val="tx1"/>
          </a:solidFill>
          <a:latin typeface="+mn-lt"/>
          <a:ea typeface="+mn-ea"/>
          <a:cs typeface="+mn-cs"/>
        </a:defRPr>
      </a:lvl8pPr>
      <a:lvl9pPr marL="2878108" algn="l" defTabSz="719527" rtl="0" eaLnBrk="1" latinLnBrk="0" hangingPunct="1">
        <a:defRPr sz="1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ctr" defTabSz="719599" rtl="0" eaLnBrk="1" latinLnBrk="0" hangingPunct="1">
        <a:spcBef>
          <a:spcPct val="0"/>
        </a:spcBef>
        <a:buNone/>
        <a:defRPr sz="2800" b="0" kern="1200">
          <a:solidFill>
            <a:schemeClr val="tx1"/>
          </a:solidFill>
          <a:latin typeface="新宋体" panose="02010609030101010101" pitchFamily="49" charset="-122"/>
          <a:ea typeface="新宋体" panose="02010609030101010101" pitchFamily="49" charset="-122"/>
          <a:cs typeface="+mj-cs"/>
        </a:defRPr>
      </a:lvl1pPr>
    </p:titleStyle>
    <p:bodyStyle>
      <a:lvl1pPr marL="269929" indent="-269294" algn="l" defTabSz="719599" rtl="0" eaLnBrk="1" latinLnBrk="0" hangingPunct="1">
        <a:spcBef>
          <a:spcPts val="75"/>
        </a:spcBef>
        <a:buFont typeface="Arial" pitchFamily="34" charset="0"/>
        <a:buChar char="•"/>
        <a:defRPr sz="2500" kern="1200">
          <a:solidFill>
            <a:schemeClr val="tx1"/>
          </a:solidFill>
          <a:latin typeface="+mn-lt"/>
          <a:ea typeface="+mn-ea"/>
          <a:cs typeface="+mn-cs"/>
        </a:defRPr>
      </a:lvl1pPr>
      <a:lvl2pPr marL="584952" indent="-224200" algn="l" defTabSz="719599" rtl="0" eaLnBrk="1" latinLnBrk="0" hangingPunct="1">
        <a:spcBef>
          <a:spcPts val="75"/>
        </a:spcBef>
        <a:buFont typeface="Arial" pitchFamily="34" charset="0"/>
        <a:buChar char="–"/>
        <a:defRPr sz="2200" kern="1200">
          <a:solidFill>
            <a:schemeClr val="tx1"/>
          </a:solidFill>
          <a:latin typeface="+mn-lt"/>
          <a:ea typeface="+mn-ea"/>
          <a:cs typeface="+mn-cs"/>
        </a:defRPr>
      </a:lvl2pPr>
      <a:lvl3pPr marL="899340" indent="-179106" algn="l" defTabSz="719599" rtl="0" eaLnBrk="1" latinLnBrk="0" hangingPunct="1">
        <a:spcBef>
          <a:spcPts val="75"/>
        </a:spcBef>
        <a:buFont typeface="Arial" pitchFamily="34" charset="0"/>
        <a:buChar char="•"/>
        <a:defRPr sz="1900" kern="1200">
          <a:solidFill>
            <a:schemeClr val="tx1"/>
          </a:solidFill>
          <a:latin typeface="+mn-lt"/>
          <a:ea typeface="+mn-ea"/>
          <a:cs typeface="+mn-cs"/>
        </a:defRPr>
      </a:lvl3pPr>
      <a:lvl4pPr marL="1259457" indent="-179106" algn="l" defTabSz="719599" rtl="0" eaLnBrk="1" latinLnBrk="0" hangingPunct="1">
        <a:spcBef>
          <a:spcPts val="75"/>
        </a:spcBef>
        <a:buFont typeface="Arial" pitchFamily="34" charset="0"/>
        <a:buChar char="–"/>
        <a:defRPr sz="1600" kern="1200">
          <a:solidFill>
            <a:schemeClr val="tx1"/>
          </a:solidFill>
          <a:latin typeface="+mn-lt"/>
          <a:ea typeface="+mn-ea"/>
          <a:cs typeface="+mn-cs"/>
        </a:defRPr>
      </a:lvl4pPr>
      <a:lvl5pPr marL="1618939" indent="-179106" algn="l" defTabSz="719599" rtl="0" eaLnBrk="1" latinLnBrk="0" hangingPunct="1">
        <a:spcBef>
          <a:spcPts val="75"/>
        </a:spcBef>
        <a:buFont typeface="Arial" pitchFamily="34" charset="0"/>
        <a:buChar char="»"/>
        <a:defRPr sz="1600" kern="1200">
          <a:solidFill>
            <a:schemeClr val="tx1"/>
          </a:solidFill>
          <a:latin typeface="+mn-lt"/>
          <a:ea typeface="+mn-ea"/>
          <a:cs typeface="+mn-cs"/>
        </a:defRPr>
      </a:lvl5pPr>
      <a:lvl6pPr marL="1979056" indent="-179106" algn="l" defTabSz="719599" rtl="0" eaLnBrk="1" latinLnBrk="0" hangingPunct="1">
        <a:spcBef>
          <a:spcPts val="75"/>
        </a:spcBef>
        <a:buFont typeface="Arial" pitchFamily="34" charset="0"/>
        <a:buChar char="•"/>
        <a:defRPr sz="1600" kern="1200">
          <a:solidFill>
            <a:schemeClr val="tx1"/>
          </a:solidFill>
          <a:latin typeface="+mn-lt"/>
          <a:ea typeface="+mn-ea"/>
          <a:cs typeface="+mn-cs"/>
        </a:defRPr>
      </a:lvl6pPr>
      <a:lvl7pPr marL="2339173" indent="-179106" algn="l" defTabSz="719599" rtl="0" eaLnBrk="1" latinLnBrk="0" hangingPunct="1">
        <a:spcBef>
          <a:spcPts val="75"/>
        </a:spcBef>
        <a:buFont typeface="Arial" pitchFamily="34" charset="0"/>
        <a:buChar char="•"/>
        <a:defRPr sz="1600" kern="1200">
          <a:solidFill>
            <a:schemeClr val="tx1"/>
          </a:solidFill>
          <a:latin typeface="+mn-lt"/>
          <a:ea typeface="+mn-ea"/>
          <a:cs typeface="+mn-cs"/>
        </a:defRPr>
      </a:lvl7pPr>
      <a:lvl8pPr marL="2698655" indent="-179106" algn="l" defTabSz="719599" rtl="0" eaLnBrk="1" latinLnBrk="0" hangingPunct="1">
        <a:spcBef>
          <a:spcPts val="75"/>
        </a:spcBef>
        <a:buFont typeface="Arial" pitchFamily="34" charset="0"/>
        <a:buChar char="•"/>
        <a:defRPr sz="1600" kern="1200">
          <a:solidFill>
            <a:schemeClr val="tx1"/>
          </a:solidFill>
          <a:latin typeface="+mn-lt"/>
          <a:ea typeface="+mn-ea"/>
          <a:cs typeface="+mn-cs"/>
        </a:defRPr>
      </a:lvl8pPr>
      <a:lvl9pPr marL="3058772" indent="-179106" algn="l" defTabSz="719599" rtl="0" eaLnBrk="1" latinLnBrk="0" hangingPunct="1">
        <a:spcBef>
          <a:spcPts val="75"/>
        </a:spcBef>
        <a:buFont typeface="Arial" pitchFamily="34" charset="0"/>
        <a:buChar char="•"/>
        <a:defRPr sz="1600" kern="1200">
          <a:solidFill>
            <a:schemeClr val="tx1"/>
          </a:solidFill>
          <a:latin typeface="+mn-lt"/>
          <a:ea typeface="+mn-ea"/>
          <a:cs typeface="+mn-cs"/>
        </a:defRPr>
      </a:lvl9pPr>
    </p:bodyStyle>
    <p:otherStyle>
      <a:defPPr>
        <a:defRPr lang="zh-CN"/>
      </a:defPPr>
      <a:lvl1pPr marL="0" algn="l" defTabSz="719599" rtl="0" eaLnBrk="1" latinLnBrk="0" hangingPunct="1">
        <a:defRPr sz="1400" kern="1200">
          <a:solidFill>
            <a:schemeClr val="tx1"/>
          </a:solidFill>
          <a:latin typeface="+mn-lt"/>
          <a:ea typeface="+mn-ea"/>
          <a:cs typeface="+mn-cs"/>
        </a:defRPr>
      </a:lvl1pPr>
      <a:lvl2pPr marL="360117" algn="l" defTabSz="719599" rtl="0" eaLnBrk="1" latinLnBrk="0" hangingPunct="1">
        <a:defRPr sz="1400" kern="1200">
          <a:solidFill>
            <a:schemeClr val="tx1"/>
          </a:solidFill>
          <a:latin typeface="+mn-lt"/>
          <a:ea typeface="+mn-ea"/>
          <a:cs typeface="+mn-cs"/>
        </a:defRPr>
      </a:lvl2pPr>
      <a:lvl3pPr marL="719599" algn="l" defTabSz="719599" rtl="0" eaLnBrk="1" latinLnBrk="0" hangingPunct="1">
        <a:defRPr sz="1400" kern="1200">
          <a:solidFill>
            <a:schemeClr val="tx1"/>
          </a:solidFill>
          <a:latin typeface="+mn-lt"/>
          <a:ea typeface="+mn-ea"/>
          <a:cs typeface="+mn-cs"/>
        </a:defRPr>
      </a:lvl3pPr>
      <a:lvl4pPr marL="1079716" algn="l" defTabSz="719599" rtl="0" eaLnBrk="1" latinLnBrk="0" hangingPunct="1">
        <a:defRPr sz="1400" kern="1200">
          <a:solidFill>
            <a:schemeClr val="tx1"/>
          </a:solidFill>
          <a:latin typeface="+mn-lt"/>
          <a:ea typeface="+mn-ea"/>
          <a:cs typeface="+mn-cs"/>
        </a:defRPr>
      </a:lvl4pPr>
      <a:lvl5pPr marL="1439198" algn="l" defTabSz="719599" rtl="0" eaLnBrk="1" latinLnBrk="0" hangingPunct="1">
        <a:defRPr sz="1400" kern="1200">
          <a:solidFill>
            <a:schemeClr val="tx1"/>
          </a:solidFill>
          <a:latin typeface="+mn-lt"/>
          <a:ea typeface="+mn-ea"/>
          <a:cs typeface="+mn-cs"/>
        </a:defRPr>
      </a:lvl5pPr>
      <a:lvl6pPr marL="1799315" algn="l" defTabSz="719599" rtl="0" eaLnBrk="1" latinLnBrk="0" hangingPunct="1">
        <a:defRPr sz="1400" kern="1200">
          <a:solidFill>
            <a:schemeClr val="tx1"/>
          </a:solidFill>
          <a:latin typeface="+mn-lt"/>
          <a:ea typeface="+mn-ea"/>
          <a:cs typeface="+mn-cs"/>
        </a:defRPr>
      </a:lvl6pPr>
      <a:lvl7pPr marL="2158797" algn="l" defTabSz="719599" rtl="0" eaLnBrk="1" latinLnBrk="0" hangingPunct="1">
        <a:defRPr sz="1400" kern="1200">
          <a:solidFill>
            <a:schemeClr val="tx1"/>
          </a:solidFill>
          <a:latin typeface="+mn-lt"/>
          <a:ea typeface="+mn-ea"/>
          <a:cs typeface="+mn-cs"/>
        </a:defRPr>
      </a:lvl7pPr>
      <a:lvl8pPr marL="2518914" algn="l" defTabSz="719599" rtl="0" eaLnBrk="1" latinLnBrk="0" hangingPunct="1">
        <a:defRPr sz="1400" kern="1200">
          <a:solidFill>
            <a:schemeClr val="tx1"/>
          </a:solidFill>
          <a:latin typeface="+mn-lt"/>
          <a:ea typeface="+mn-ea"/>
          <a:cs typeface="+mn-cs"/>
        </a:defRPr>
      </a:lvl8pPr>
      <a:lvl9pPr marL="2878396" algn="l" defTabSz="719599"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cid:image002.png@01D0EA4D.73C07B00" TargetMode="External"/><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41.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257041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20">
            <a:extLst>
              <a:ext uri="{FF2B5EF4-FFF2-40B4-BE49-F238E27FC236}">
                <a16:creationId xmlns="" xmlns:a16="http://schemas.microsoft.com/office/drawing/2014/main" id="{FA456F78-6A79-42B0-A38E-74312BC36333}"/>
              </a:ext>
            </a:extLst>
          </p:cNvPr>
          <p:cNvSpPr/>
          <p:nvPr/>
        </p:nvSpPr>
        <p:spPr>
          <a:xfrm>
            <a:off x="1924801" y="1729317"/>
            <a:ext cx="6374842" cy="1373025"/>
          </a:xfrm>
          <a:prstGeom prst="roundRect">
            <a:avLst>
              <a:gd name="adj" fmla="val 6740"/>
            </a:avLst>
          </a:prstGeom>
          <a:noFill/>
          <a:ln w="6350">
            <a:solidFill>
              <a:schemeClr val="bg1">
                <a:lumMod val="65000"/>
              </a:schemeClr>
            </a:solidFill>
          </a:ln>
          <a:extLst>
            <a:ext uri="{909E8E84-426E-40DD-AFC4-6F175D3DCCD1}">
              <a14:hiddenFill xmlns=""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91440" tIns="45719" rIns="91440" bIns="45719" rtlCol="0" anchor="ctr"/>
          <a:lstStyle/>
          <a:p>
            <a:pPr algn="ctr" defTabSz="914401"/>
            <a:endParaRPr lang="zh-CN" altLang="en-US" dirty="0">
              <a:solidFill>
                <a:prstClr val="white"/>
              </a:solidFill>
            </a:endParaRPr>
          </a:p>
        </p:txBody>
      </p:sp>
      <p:sp>
        <p:nvSpPr>
          <p:cNvPr id="5" name="圆角矩形 17">
            <a:extLst>
              <a:ext uri="{FF2B5EF4-FFF2-40B4-BE49-F238E27FC236}">
                <a16:creationId xmlns="" xmlns:a16="http://schemas.microsoft.com/office/drawing/2014/main" id="{09F71133-92FC-4C5B-91AA-3072C0D91C61}"/>
              </a:ext>
            </a:extLst>
          </p:cNvPr>
          <p:cNvSpPr/>
          <p:nvPr/>
        </p:nvSpPr>
        <p:spPr>
          <a:xfrm>
            <a:off x="2870146" y="1517824"/>
            <a:ext cx="4392974" cy="432562"/>
          </a:xfrm>
          <a:prstGeom prst="round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19" rIns="91440" bIns="45719" rtlCol="0" anchor="ctr"/>
          <a:lstStyle/>
          <a:p>
            <a:pPr algn="ctr" defTabSz="914401"/>
            <a:endParaRPr lang="zh-CN" altLang="en-US" dirty="0">
              <a:solidFill>
                <a:prstClr val="white"/>
              </a:solidFill>
            </a:endParaRPr>
          </a:p>
        </p:txBody>
      </p:sp>
      <p:sp>
        <p:nvSpPr>
          <p:cNvPr id="6" name="文本框 5">
            <a:extLst>
              <a:ext uri="{FF2B5EF4-FFF2-40B4-BE49-F238E27FC236}">
                <a16:creationId xmlns="" xmlns:a16="http://schemas.microsoft.com/office/drawing/2014/main" id="{6B1C8DC1-8156-42F6-8C16-1F596B0C5E06}"/>
              </a:ext>
            </a:extLst>
          </p:cNvPr>
          <p:cNvSpPr txBox="1"/>
          <p:nvPr/>
        </p:nvSpPr>
        <p:spPr>
          <a:xfrm>
            <a:off x="3020026" y="1565463"/>
            <a:ext cx="3916016" cy="306795"/>
          </a:xfrm>
          <a:prstGeom prst="rect">
            <a:avLst/>
          </a:prstGeom>
          <a:noFill/>
        </p:spPr>
        <p:txBody>
          <a:bodyPr wrap="square" lIns="91440" tIns="45719" rIns="91440" bIns="45719" rtlCol="0">
            <a:spAutoFit/>
          </a:bodyPr>
          <a:lstStyle/>
          <a:p>
            <a:pPr algn="dist" defTabSz="914401"/>
            <a:r>
              <a:rPr kumimoji="1" lang="en-US" altLang="zh-CN" sz="1400" dirty="0">
                <a:solidFill>
                  <a:prstClr val="white"/>
                </a:solidFill>
                <a:latin typeface="微软雅黑" panose="020B0503020204020204" charset="-122"/>
                <a:ea typeface="微软雅黑" panose="020B0503020204020204" charset="-122"/>
                <a:cs typeface="微软雅黑" panose="020B0503020204020204" charset="-122"/>
              </a:rPr>
              <a:t>LTE</a:t>
            </a:r>
            <a:r>
              <a:rPr kumimoji="1" lang="en-US" altLang="zh-CN" sz="1400" dirty="0" smtClean="0">
                <a:solidFill>
                  <a:prstClr val="white"/>
                </a:solidFill>
                <a:latin typeface="微软雅黑" panose="020B0503020204020204" charset="-122"/>
                <a:ea typeface="微软雅黑" panose="020B0503020204020204" charset="-122"/>
                <a:cs typeface="微软雅黑" panose="020B0503020204020204" charset="-122"/>
              </a:rPr>
              <a:t>/</a:t>
            </a:r>
            <a:r>
              <a:rPr kumimoji="1" lang="zh-CN" altLang="en-US" sz="1400" dirty="0" smtClean="0">
                <a:solidFill>
                  <a:prstClr val="white"/>
                </a:solidFill>
                <a:latin typeface="微软雅黑" panose="020B0503020204020204" charset="-122"/>
                <a:ea typeface="微软雅黑" panose="020B0503020204020204" charset="-122"/>
                <a:cs typeface="微软雅黑" panose="020B0503020204020204" charset="-122"/>
              </a:rPr>
              <a:t>无</a:t>
            </a:r>
            <a:r>
              <a:rPr kumimoji="1" lang="en-US" altLang="zh-CN" sz="1400" dirty="0" smtClean="0">
                <a:solidFill>
                  <a:prstClr val="white"/>
                </a:solidFill>
                <a:latin typeface="微软雅黑" panose="020B0503020204020204" charset="-122"/>
                <a:ea typeface="微软雅黑" panose="020B0503020204020204" charset="-122"/>
                <a:cs typeface="微软雅黑" panose="020B0503020204020204" charset="-122"/>
              </a:rPr>
              <a:t>/</a:t>
            </a:r>
            <a:r>
              <a:rPr kumimoji="1" lang="zh-CN" altLang="en-US" sz="1400" dirty="0" smtClean="0">
                <a:solidFill>
                  <a:prstClr val="white"/>
                </a:solidFill>
                <a:latin typeface="微软雅黑" panose="020B0503020204020204" charset="-122"/>
                <a:ea typeface="微软雅黑" panose="020B0503020204020204" charset="-122"/>
                <a:cs typeface="微软雅黑" panose="020B0503020204020204" charset="-122"/>
              </a:rPr>
              <a:t>线</a:t>
            </a:r>
            <a:r>
              <a:rPr kumimoji="1" lang="en-US" altLang="zh-CN" sz="1400" dirty="0" smtClean="0">
                <a:solidFill>
                  <a:prstClr val="white"/>
                </a:solidFill>
                <a:latin typeface="微软雅黑" panose="020B0503020204020204" charset="-122"/>
                <a:ea typeface="微软雅黑" panose="020B0503020204020204" charset="-122"/>
                <a:cs typeface="微软雅黑" panose="020B0503020204020204" charset="-122"/>
              </a:rPr>
              <a:t>/</a:t>
            </a:r>
            <a:r>
              <a:rPr kumimoji="1" lang="zh-CN" altLang="en-US" sz="1400" dirty="0" smtClean="0">
                <a:solidFill>
                  <a:prstClr val="white"/>
                </a:solidFill>
                <a:latin typeface="微软雅黑" panose="020B0503020204020204" charset="-122"/>
                <a:ea typeface="微软雅黑" panose="020B0503020204020204" charset="-122"/>
                <a:cs typeface="微软雅黑" panose="020B0503020204020204" charset="-122"/>
              </a:rPr>
              <a:t>网</a:t>
            </a:r>
            <a:r>
              <a:rPr kumimoji="1" lang="en-US" altLang="zh-CN" sz="1400" dirty="0" smtClean="0">
                <a:solidFill>
                  <a:prstClr val="white"/>
                </a:solidFill>
                <a:latin typeface="微软雅黑" panose="020B0503020204020204" charset="-122"/>
                <a:ea typeface="微软雅黑" panose="020B0503020204020204" charset="-122"/>
                <a:cs typeface="微软雅黑" panose="020B0503020204020204" charset="-122"/>
              </a:rPr>
              <a:t>/</a:t>
            </a:r>
            <a:r>
              <a:rPr kumimoji="1" lang="zh-CN" altLang="en-US" sz="1400" dirty="0">
                <a:solidFill>
                  <a:prstClr val="white"/>
                </a:solidFill>
                <a:latin typeface="微软雅黑" panose="020B0503020204020204" charset="-122"/>
                <a:ea typeface="微软雅黑" panose="020B0503020204020204" charset="-122"/>
                <a:cs typeface="微软雅黑" panose="020B0503020204020204" charset="-122"/>
              </a:rPr>
              <a:t>络</a:t>
            </a:r>
            <a:r>
              <a:rPr kumimoji="1" lang="en-US" altLang="zh-CN" sz="1400" dirty="0" smtClean="0">
                <a:solidFill>
                  <a:prstClr val="white"/>
                </a:solidFill>
                <a:latin typeface="微软雅黑" panose="020B0503020204020204" charset="-122"/>
                <a:ea typeface="微软雅黑" panose="020B0503020204020204" charset="-122"/>
                <a:cs typeface="微软雅黑" panose="020B0503020204020204" charset="-122"/>
              </a:rPr>
              <a:t>/</a:t>
            </a:r>
            <a:r>
              <a:rPr kumimoji="1" lang="zh-CN" altLang="en-US" sz="1400" dirty="0" smtClean="0">
                <a:solidFill>
                  <a:prstClr val="white"/>
                </a:solidFill>
                <a:latin typeface="微软雅黑" panose="020B0503020204020204" charset="-122"/>
                <a:ea typeface="微软雅黑" panose="020B0503020204020204" charset="-122"/>
                <a:cs typeface="微软雅黑" panose="020B0503020204020204" charset="-122"/>
              </a:rPr>
              <a:t>优</a:t>
            </a:r>
            <a:r>
              <a:rPr kumimoji="1" lang="en-US" altLang="zh-CN" sz="1400" dirty="0" smtClean="0">
                <a:solidFill>
                  <a:prstClr val="white"/>
                </a:solidFill>
                <a:latin typeface="微软雅黑" panose="020B0503020204020204" charset="-122"/>
                <a:ea typeface="微软雅黑" panose="020B0503020204020204" charset="-122"/>
                <a:cs typeface="微软雅黑" panose="020B0503020204020204" charset="-122"/>
              </a:rPr>
              <a:t>/</a:t>
            </a:r>
            <a:r>
              <a:rPr kumimoji="1" lang="zh-CN" altLang="en-US" sz="1400" dirty="0" smtClean="0">
                <a:solidFill>
                  <a:prstClr val="white"/>
                </a:solidFill>
                <a:latin typeface="微软雅黑" panose="020B0503020204020204" charset="-122"/>
                <a:ea typeface="微软雅黑" panose="020B0503020204020204" charset="-122"/>
                <a:cs typeface="微软雅黑" panose="020B0503020204020204" charset="-122"/>
              </a:rPr>
              <a:t>化</a:t>
            </a:r>
            <a:endParaRPr kumimoji="1" lang="zh-CN" altLang="en-US" sz="140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7" name="文本框 6">
            <a:extLst>
              <a:ext uri="{FF2B5EF4-FFF2-40B4-BE49-F238E27FC236}">
                <a16:creationId xmlns="" xmlns:a16="http://schemas.microsoft.com/office/drawing/2014/main" id="{83DFFA35-D1A6-4066-A271-60FE1D868DAD}"/>
              </a:ext>
            </a:extLst>
          </p:cNvPr>
          <p:cNvSpPr txBox="1"/>
          <p:nvPr/>
        </p:nvSpPr>
        <p:spPr>
          <a:xfrm>
            <a:off x="2193715" y="2142846"/>
            <a:ext cx="5745831" cy="757128"/>
          </a:xfrm>
          <a:prstGeom prst="rect">
            <a:avLst/>
          </a:prstGeom>
          <a:noFill/>
        </p:spPr>
        <p:txBody>
          <a:bodyPr wrap="square" lIns="91440" tIns="45719" rIns="91440" bIns="45719" rtlCol="0">
            <a:spAutoFit/>
          </a:bodyPr>
          <a:lstStyle/>
          <a:p>
            <a:pPr algn="dist" defTabSz="914401">
              <a:lnSpc>
                <a:spcPct val="120000"/>
              </a:lnSpc>
            </a:pPr>
            <a:r>
              <a:rPr kumimoji="1" lang="zh-CN" altLang="en-US" sz="3600" b="1" dirty="0" smtClean="0">
                <a:solidFill>
                  <a:prstClr val="black"/>
                </a:solidFill>
                <a:latin typeface="微软雅黑" panose="020B0503020204020204" charset="-122"/>
                <a:ea typeface="微软雅黑" panose="020B0503020204020204" charset="-122"/>
                <a:cs typeface="微软雅黑" panose="020B0503020204020204" charset="-122"/>
              </a:rPr>
              <a:t>项目五 经典案例学习</a:t>
            </a:r>
            <a:endParaRPr kumimoji="1" lang="en-US" altLang="zh-CN" sz="2400" b="1" dirty="0">
              <a:solidFill>
                <a:prstClr val="black"/>
              </a:solidFill>
              <a:latin typeface="微软雅黑" panose="020B0503020204020204" charset="-122"/>
              <a:ea typeface="微软雅黑" panose="020B0503020204020204" charset="-122"/>
              <a:cs typeface="微软雅黑" panose="020B0503020204020204" charset="-122"/>
            </a:endParaRPr>
          </a:p>
        </p:txBody>
      </p:sp>
      <p:sp>
        <p:nvSpPr>
          <p:cNvPr id="8" name="椭圆 7">
            <a:extLst>
              <a:ext uri="{FF2B5EF4-FFF2-40B4-BE49-F238E27FC236}">
                <a16:creationId xmlns="" xmlns:a16="http://schemas.microsoft.com/office/drawing/2014/main" id="{D2071E4C-521B-4D32-A049-73FD216703FB}"/>
              </a:ext>
            </a:extLst>
          </p:cNvPr>
          <p:cNvSpPr/>
          <p:nvPr/>
        </p:nvSpPr>
        <p:spPr>
          <a:xfrm>
            <a:off x="5797313" y="3082743"/>
            <a:ext cx="75577" cy="75587"/>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19" rIns="91440" bIns="45719" numCol="1" spcCol="0" rtlCol="0" fromWordArt="0" anchor="ctr" anchorCtr="0" forceAA="0" compatLnSpc="1">
            <a:noAutofit/>
          </a:bodyPr>
          <a:lstStyle/>
          <a:p>
            <a:pPr algn="ctr" defTabSz="914401"/>
            <a:endParaRPr lang="zh-CN" altLang="en-US" dirty="0">
              <a:solidFill>
                <a:prstClr val="white"/>
              </a:solidFill>
              <a:sym typeface="+mn-ea"/>
            </a:endParaRPr>
          </a:p>
        </p:txBody>
      </p:sp>
      <p:sp>
        <p:nvSpPr>
          <p:cNvPr id="9" name="椭圆 8">
            <a:extLst>
              <a:ext uri="{FF2B5EF4-FFF2-40B4-BE49-F238E27FC236}">
                <a16:creationId xmlns="" xmlns:a16="http://schemas.microsoft.com/office/drawing/2014/main" id="{A4968330-C8B2-42BC-BE3E-E6108EACC18A}"/>
              </a:ext>
            </a:extLst>
          </p:cNvPr>
          <p:cNvSpPr/>
          <p:nvPr/>
        </p:nvSpPr>
        <p:spPr>
          <a:xfrm>
            <a:off x="4273077" y="3082743"/>
            <a:ext cx="75577" cy="75587"/>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19" rIns="91440" bIns="45719" numCol="1" spcCol="0" rtlCol="0" fromWordArt="0" anchor="ctr" anchorCtr="0" forceAA="0" compatLnSpc="1">
            <a:noAutofit/>
          </a:bodyPr>
          <a:lstStyle/>
          <a:p>
            <a:pPr algn="ctr" defTabSz="914401"/>
            <a:endParaRPr lang="zh-CN" altLang="en-US" dirty="0">
              <a:solidFill>
                <a:prstClr val="white"/>
              </a:solidFill>
              <a:sym typeface="+mn-ea"/>
            </a:endParaRPr>
          </a:p>
        </p:txBody>
      </p:sp>
    </p:spTree>
    <p:extLst>
      <p:ext uri="{BB962C8B-B14F-4D97-AF65-F5344CB8AC3E}">
        <p14:creationId xmlns="" xmlns:p14="http://schemas.microsoft.com/office/powerpoint/2010/main" val="2365853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txBox="1"/>
          <p:nvPr/>
        </p:nvSpPr>
        <p:spPr>
          <a:xfrm>
            <a:off x="3546624" y="2410719"/>
            <a:ext cx="4032448" cy="336649"/>
          </a:xfrm>
          <a:prstGeom prst="rect">
            <a:avLst/>
          </a:prstGeom>
        </p:spPr>
        <p:txBody>
          <a:bodyPr lIns="91440" tIns="45719" rIns="91440" bIns="45719"/>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800" b="1" dirty="0">
                <a:solidFill>
                  <a:prstClr val="black">
                    <a:lumMod val="65000"/>
                    <a:lumOff val="35000"/>
                  </a:prstClr>
                </a:solidFill>
                <a:latin typeface="微软雅黑" panose="020B0503020204020204" charset="-122"/>
                <a:ea typeface="微软雅黑" panose="020B0503020204020204" charset="-122"/>
              </a:rPr>
              <a:t>掌握经典案例处理方法</a:t>
            </a:r>
            <a:endParaRPr sz="2800" b="1" dirty="0">
              <a:solidFill>
                <a:prstClr val="black">
                  <a:lumMod val="65000"/>
                  <a:lumOff val="35000"/>
                </a:prstClr>
              </a:solidFill>
              <a:latin typeface="微软雅黑" panose="020B0503020204020204" charset="-122"/>
              <a:ea typeface="微软雅黑" panose="020B0503020204020204" charset="-122"/>
            </a:endParaRPr>
          </a:p>
        </p:txBody>
      </p:sp>
      <p:sp>
        <p:nvSpPr>
          <p:cNvPr id="4" name="文本框 3"/>
          <p:cNvSpPr txBox="1"/>
          <p:nvPr/>
        </p:nvSpPr>
        <p:spPr>
          <a:xfrm>
            <a:off x="3906665" y="610519"/>
            <a:ext cx="2305407" cy="646521"/>
          </a:xfrm>
          <a:prstGeom prst="rect">
            <a:avLst/>
          </a:prstGeom>
          <a:noFill/>
        </p:spPr>
        <p:txBody>
          <a:bodyPr wrap="square" lIns="91440" tIns="45719" rIns="91440" bIns="45719" rtlCol="0">
            <a:spAutoFit/>
          </a:bodyPr>
          <a:lstStyle/>
          <a:p>
            <a:pPr defTabSz="914401"/>
            <a:r>
              <a:rPr lang="zh-CN" altLang="en-US" sz="3600" b="1" dirty="0">
                <a:solidFill>
                  <a:prstClr val="black">
                    <a:lumMod val="65000"/>
                    <a:lumOff val="35000"/>
                  </a:prstClr>
                </a:solidFill>
                <a:latin typeface="微软雅黑" panose="020B0503020204020204" charset="-122"/>
                <a:ea typeface="微软雅黑" panose="020B0503020204020204" charset="-122"/>
              </a:rPr>
              <a:t>学习目标</a:t>
            </a:r>
          </a:p>
        </p:txBody>
      </p:sp>
      <p:sp>
        <p:nvSpPr>
          <p:cNvPr id="7" name="Freeform 12"/>
          <p:cNvSpPr/>
          <p:nvPr/>
        </p:nvSpPr>
        <p:spPr bwMode="auto">
          <a:xfrm>
            <a:off x="957782" y="1348864"/>
            <a:ext cx="528720" cy="530381"/>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9BD9FF"/>
          </a:solidFill>
          <a:ln>
            <a:noFill/>
          </a:ln>
        </p:spPr>
        <p:txBody>
          <a:bodyPr lIns="91440" tIns="45719" rIns="91440" bIns="45719"/>
          <a:lstStyle/>
          <a:p>
            <a:pPr defTabSz="914401"/>
            <a:endParaRPr lang="zh-CN" altLang="en-US" dirty="0">
              <a:solidFill>
                <a:prstClr val="black">
                  <a:lumMod val="65000"/>
                  <a:lumOff val="35000"/>
                </a:prstClr>
              </a:solidFill>
            </a:endParaRPr>
          </a:p>
        </p:txBody>
      </p:sp>
      <p:sp>
        <p:nvSpPr>
          <p:cNvPr id="8" name="Freeform 12"/>
          <p:cNvSpPr/>
          <p:nvPr/>
        </p:nvSpPr>
        <p:spPr bwMode="auto">
          <a:xfrm flipH="1" flipV="1">
            <a:off x="8385771" y="3716831"/>
            <a:ext cx="528720" cy="530381"/>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9BD9FF"/>
          </a:solidFill>
          <a:ln>
            <a:noFill/>
          </a:ln>
        </p:spPr>
        <p:txBody>
          <a:bodyPr lIns="91440" tIns="45719" rIns="91440" bIns="45719"/>
          <a:lstStyle/>
          <a:p>
            <a:pPr defTabSz="914401"/>
            <a:endParaRPr lang="zh-CN" altLang="en-US" dirty="0">
              <a:solidFill>
                <a:prstClr val="black">
                  <a:lumMod val="50000"/>
                  <a:lumOff val="50000"/>
                </a:prstClr>
              </a:solidFill>
            </a:endParaRPr>
          </a:p>
        </p:txBody>
      </p:sp>
      <p:sp>
        <p:nvSpPr>
          <p:cNvPr id="10" name="矩形 9"/>
          <p:cNvSpPr/>
          <p:nvPr/>
        </p:nvSpPr>
        <p:spPr>
          <a:xfrm>
            <a:off x="3001479" y="2442011"/>
            <a:ext cx="341683" cy="348718"/>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19" rIns="91440" bIns="45719" rtlCol="0" anchor="ctr"/>
          <a:lstStyle/>
          <a:p>
            <a:pPr algn="ctr" defTabSz="914401"/>
            <a:r>
              <a:rPr lang="en-US" altLang="zh-CN" b="1" dirty="0">
                <a:solidFill>
                  <a:prstClr val="white"/>
                </a:solidFill>
              </a:rPr>
              <a:t>1</a:t>
            </a:r>
          </a:p>
        </p:txBody>
      </p:sp>
    </p:spTree>
    <p:extLst>
      <p:ext uri="{BB962C8B-B14F-4D97-AF65-F5344CB8AC3E}">
        <p14:creationId xmlns="" xmlns:p14="http://schemas.microsoft.com/office/powerpoint/2010/main" val="1871988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693484" y="1141407"/>
            <a:ext cx="4309525" cy="1754334"/>
          </a:xfrm>
          <a:prstGeom prst="rect">
            <a:avLst/>
          </a:prstGeom>
          <a:noFill/>
        </p:spPr>
        <p:txBody>
          <a:bodyPr wrap="square" lIns="91440" tIns="45719" rIns="91440" bIns="45719" rtlCol="0">
            <a:spAutoFit/>
          </a:bodyPr>
          <a:lstStyle/>
          <a:p>
            <a:pPr algn="ctr" defTabSz="914401">
              <a:lnSpc>
                <a:spcPct val="120000"/>
              </a:lnSpc>
            </a:pPr>
            <a:r>
              <a:rPr kumimoji="1" lang="zh-CN" altLang="en-US" sz="3600" b="1" dirty="0">
                <a:solidFill>
                  <a:prstClr val="black"/>
                </a:solidFill>
                <a:latin typeface="微软雅黑"/>
                <a:ea typeface="微软雅黑"/>
                <a:cs typeface="微软雅黑"/>
              </a:rPr>
              <a:t>目    录 </a:t>
            </a:r>
            <a:endParaRPr kumimoji="1" lang="en-US" altLang="zh-CN" sz="3600" b="1" dirty="0">
              <a:solidFill>
                <a:prstClr val="black"/>
              </a:solidFill>
              <a:latin typeface="微软雅黑"/>
              <a:ea typeface="微软雅黑"/>
              <a:cs typeface="微软雅黑"/>
            </a:endParaRPr>
          </a:p>
          <a:p>
            <a:pPr defTabSz="914401">
              <a:lnSpc>
                <a:spcPct val="120000"/>
              </a:lnSpc>
            </a:pPr>
            <a:endParaRPr kumimoji="1" lang="en-US" altLang="zh-CN" sz="1400" b="1" dirty="0">
              <a:solidFill>
                <a:prstClr val="black"/>
              </a:solidFill>
              <a:latin typeface="微软雅黑"/>
              <a:ea typeface="微软雅黑"/>
              <a:cs typeface="微软雅黑"/>
            </a:endParaRPr>
          </a:p>
          <a:p>
            <a:pPr defTabSz="914401">
              <a:lnSpc>
                <a:spcPct val="200000"/>
              </a:lnSpc>
            </a:pPr>
            <a:r>
              <a:rPr kumimoji="1" lang="zh-CN" altLang="en-US" sz="2400" dirty="0" smtClean="0">
                <a:solidFill>
                  <a:prstClr val="black"/>
                </a:solidFill>
                <a:latin typeface="微软雅黑"/>
                <a:ea typeface="微软雅黑"/>
                <a:cs typeface="微软雅黑"/>
              </a:rPr>
              <a:t>一、经典案例的排障过程</a:t>
            </a:r>
            <a:endParaRPr kumimoji="1" lang="en-US" altLang="zh-CN" sz="2400" dirty="0" smtClean="0">
              <a:solidFill>
                <a:prstClr val="black"/>
              </a:solidFill>
              <a:latin typeface="微软雅黑"/>
              <a:ea typeface="微软雅黑"/>
              <a:cs typeface="微软雅黑"/>
            </a:endParaRPr>
          </a:p>
        </p:txBody>
      </p:sp>
    </p:spTree>
    <p:extLst>
      <p:ext uri="{BB962C8B-B14F-4D97-AF65-F5344CB8AC3E}">
        <p14:creationId xmlns="" xmlns:p14="http://schemas.microsoft.com/office/powerpoint/2010/main" val="90141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0337" y="91794"/>
            <a:ext cx="8364441" cy="294660"/>
          </a:xfrm>
          <a:prstGeom prst="rect">
            <a:avLst/>
          </a:prstGeom>
        </p:spPr>
        <p:txBody>
          <a:bodyPr lIns="91431" tIns="45715" rIns="91431"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base">
              <a:spcAft>
                <a:spcPct val="0"/>
              </a:spcAft>
            </a:pPr>
            <a:r>
              <a:rPr lang="zh-CN" altLang="en-US" sz="2400" b="1" dirty="0" smtClean="0">
                <a:solidFill>
                  <a:prstClr val="white"/>
                </a:solidFill>
                <a:latin typeface="微软雅黑"/>
              </a:rPr>
              <a:t>案例</a:t>
            </a:r>
            <a:r>
              <a:rPr lang="en-US" altLang="zh-CN" sz="2400" b="1" dirty="0" smtClean="0">
                <a:solidFill>
                  <a:prstClr val="white"/>
                </a:solidFill>
                <a:latin typeface="微软雅黑"/>
              </a:rPr>
              <a:t>1</a:t>
            </a:r>
            <a:r>
              <a:rPr lang="zh-CN" altLang="en-US" sz="2400" b="1" dirty="0" smtClean="0">
                <a:solidFill>
                  <a:prstClr val="white"/>
                </a:solidFill>
                <a:latin typeface="微软雅黑"/>
              </a:rPr>
              <a:t>：滨州家客用户</a:t>
            </a:r>
            <a:r>
              <a:rPr lang="zh-CN" altLang="en-US" sz="2400" b="1" dirty="0" smtClean="0">
                <a:solidFill>
                  <a:schemeClr val="bg1"/>
                </a:solidFill>
              </a:rPr>
              <a:t>反映悠扬棋牌游戏无法登陆的处理</a:t>
            </a:r>
            <a:r>
              <a:rPr lang="zh-CN" altLang="zh-CN" sz="2400" b="1" dirty="0" smtClean="0">
                <a:solidFill>
                  <a:schemeClr val="bg1"/>
                </a:solidFill>
              </a:rPr>
              <a:t>案例</a:t>
            </a:r>
            <a:endParaRPr lang="zh-CN" altLang="en-US" sz="2400" b="1" dirty="0" smtClean="0">
              <a:solidFill>
                <a:schemeClr val="bg1"/>
              </a:solidFill>
              <a:latin typeface="微软雅黑"/>
            </a:endParaRPr>
          </a:p>
        </p:txBody>
      </p:sp>
      <p:sp>
        <p:nvSpPr>
          <p:cNvPr id="9" name="矩形 8"/>
          <p:cNvSpPr/>
          <p:nvPr/>
        </p:nvSpPr>
        <p:spPr>
          <a:xfrm>
            <a:off x="363071" y="591856"/>
            <a:ext cx="9616268" cy="4713851"/>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fontAlgn="base">
              <a:spcBef>
                <a:spcPct val="0"/>
              </a:spcBef>
              <a:spcAft>
                <a:spcPct val="0"/>
              </a:spcAft>
            </a:pPr>
            <a:endParaRPr lang="zh-CN" altLang="en-US">
              <a:solidFill>
                <a:prstClr val="white"/>
              </a:solidFill>
              <a:latin typeface="微软雅黑"/>
            </a:endParaRPr>
          </a:p>
        </p:txBody>
      </p:sp>
      <p:grpSp>
        <p:nvGrpSpPr>
          <p:cNvPr id="27" name="组合 26"/>
          <p:cNvGrpSpPr/>
          <p:nvPr/>
        </p:nvGrpSpPr>
        <p:grpSpPr>
          <a:xfrm>
            <a:off x="595065" y="657590"/>
            <a:ext cx="1768027" cy="338554"/>
            <a:chOff x="467544" y="1437373"/>
            <a:chExt cx="1575470" cy="430162"/>
          </a:xfrm>
        </p:grpSpPr>
        <p:sp>
          <p:nvSpPr>
            <p:cNvPr id="22"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问题现象</a:t>
              </a:r>
            </a:p>
          </p:txBody>
        </p:sp>
        <p:cxnSp>
          <p:nvCxnSpPr>
            <p:cNvPr id="20" name="直接连接符 19"/>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18" name="矩形标注 17"/>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1</a:t>
              </a:r>
              <a:endParaRPr lang="zh-CN" altLang="en-US" sz="1600" dirty="0">
                <a:solidFill>
                  <a:prstClr val="white"/>
                </a:solidFill>
                <a:latin typeface="微软雅黑"/>
              </a:endParaRPr>
            </a:p>
          </p:txBody>
        </p:sp>
      </p:grpSp>
      <p:sp>
        <p:nvSpPr>
          <p:cNvPr id="26" name="矩形 25"/>
          <p:cNvSpPr/>
          <p:nvPr/>
        </p:nvSpPr>
        <p:spPr>
          <a:xfrm>
            <a:off x="641319" y="899571"/>
            <a:ext cx="4539736" cy="738654"/>
          </a:xfrm>
          <a:prstGeom prst="rect">
            <a:avLst/>
          </a:prstGeom>
          <a:noFill/>
        </p:spPr>
        <p:txBody>
          <a:bodyPr wrap="square" lIns="91431" tIns="45715" rIns="91431" bIns="45715">
            <a:spAutoFit/>
          </a:bodyPr>
          <a:lstStyle/>
          <a:p>
            <a:pPr>
              <a:lnSpc>
                <a:spcPct val="150000"/>
              </a:lnSpc>
            </a:pPr>
            <a:r>
              <a:rPr lang="zh-CN" altLang="en-US" sz="1400" dirty="0" smtClean="0"/>
              <a:t>    滨州家客用户反映客户端游戏</a:t>
            </a:r>
            <a:r>
              <a:rPr lang="en-US" altLang="zh-CN" sz="1400" dirty="0" smtClean="0"/>
              <a:t>《</a:t>
            </a:r>
            <a:r>
              <a:rPr lang="zh-CN" altLang="en-US" sz="1400" dirty="0" smtClean="0"/>
              <a:t>悠洋棋牌</a:t>
            </a:r>
            <a:r>
              <a:rPr lang="en-US" altLang="zh-CN" sz="1400" dirty="0" smtClean="0"/>
              <a:t>》</a:t>
            </a:r>
            <a:r>
              <a:rPr lang="zh-CN" altLang="en-US" sz="1400" dirty="0" smtClean="0"/>
              <a:t>无法登陆，经测试也无法注册。</a:t>
            </a:r>
            <a:endParaRPr lang="zh-CN" altLang="zh-CN" sz="1400" dirty="0"/>
          </a:p>
        </p:txBody>
      </p:sp>
      <p:grpSp>
        <p:nvGrpSpPr>
          <p:cNvPr id="32" name="组合 31"/>
          <p:cNvGrpSpPr/>
          <p:nvPr/>
        </p:nvGrpSpPr>
        <p:grpSpPr>
          <a:xfrm>
            <a:off x="561149" y="3951949"/>
            <a:ext cx="1768027" cy="338554"/>
            <a:chOff x="467544" y="1437373"/>
            <a:chExt cx="1575470" cy="430162"/>
          </a:xfrm>
        </p:grpSpPr>
        <p:sp>
          <p:nvSpPr>
            <p:cNvPr id="33" name="文本框 3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根本</a:t>
              </a:r>
              <a:r>
                <a:rPr lang="zh-CN" altLang="en-US" sz="1600" b="1" dirty="0" smtClean="0">
                  <a:solidFill>
                    <a:prstClr val="black"/>
                  </a:solidFill>
                  <a:latin typeface="微软雅黑"/>
                </a:rPr>
                <a:t>原因</a:t>
              </a:r>
              <a:endParaRPr lang="zh-CN" altLang="en-US" sz="1600" b="1" dirty="0">
                <a:solidFill>
                  <a:prstClr val="black"/>
                </a:solidFill>
                <a:latin typeface="微软雅黑"/>
              </a:endParaRPr>
            </a:p>
          </p:txBody>
        </p:sp>
        <p:cxnSp>
          <p:nvCxnSpPr>
            <p:cNvPr id="34" name="直接连接符 3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5" name="矩形标注 3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3</a:t>
              </a:r>
              <a:endParaRPr lang="zh-CN" altLang="en-US" sz="1600" dirty="0">
                <a:solidFill>
                  <a:prstClr val="white"/>
                </a:solidFill>
                <a:latin typeface="微软雅黑"/>
              </a:endParaRPr>
            </a:p>
          </p:txBody>
        </p:sp>
      </p:grpSp>
      <p:grpSp>
        <p:nvGrpSpPr>
          <p:cNvPr id="37" name="组合 36"/>
          <p:cNvGrpSpPr/>
          <p:nvPr/>
        </p:nvGrpSpPr>
        <p:grpSpPr>
          <a:xfrm>
            <a:off x="5777273" y="688246"/>
            <a:ext cx="1768027" cy="338554"/>
            <a:chOff x="467544" y="1437373"/>
            <a:chExt cx="1575470" cy="430162"/>
          </a:xfrm>
        </p:grpSpPr>
        <p:sp>
          <p:nvSpPr>
            <p:cNvPr id="38" name="文本框 37"/>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解决措施</a:t>
              </a:r>
            </a:p>
          </p:txBody>
        </p:sp>
        <p:cxnSp>
          <p:nvCxnSpPr>
            <p:cNvPr id="39" name="直接连接符 38"/>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0" name="矩形标注 39"/>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4</a:t>
              </a:r>
              <a:endParaRPr lang="zh-CN" altLang="en-US" sz="1600" dirty="0">
                <a:solidFill>
                  <a:prstClr val="white"/>
                </a:solidFill>
                <a:latin typeface="微软雅黑"/>
              </a:endParaRPr>
            </a:p>
          </p:txBody>
        </p:sp>
      </p:grpSp>
      <p:sp>
        <p:nvSpPr>
          <p:cNvPr id="41" name="矩形 40"/>
          <p:cNvSpPr/>
          <p:nvPr/>
        </p:nvSpPr>
        <p:spPr>
          <a:xfrm>
            <a:off x="5722979" y="1011541"/>
            <a:ext cx="4256361" cy="738654"/>
          </a:xfrm>
          <a:prstGeom prst="rect">
            <a:avLst/>
          </a:prstGeom>
          <a:noFill/>
        </p:spPr>
        <p:txBody>
          <a:bodyPr wrap="square" lIns="91431" tIns="45715" rIns="91431" bIns="45715">
            <a:spAutoFit/>
          </a:bodyPr>
          <a:lstStyle/>
          <a:p>
            <a:pPr>
              <a:lnSpc>
                <a:spcPct val="150000"/>
              </a:lnSpc>
            </a:pPr>
            <a:r>
              <a:rPr lang="zh-CN" altLang="en-US" sz="1400" dirty="0" smtClean="0"/>
              <a:t>    由于三方出口路由不同导致，发省铁通调整三方出口后，可正常打开。</a:t>
            </a:r>
            <a:endParaRPr lang="zh-CN" altLang="en-US" sz="1400" dirty="0"/>
          </a:p>
        </p:txBody>
      </p:sp>
      <p:grpSp>
        <p:nvGrpSpPr>
          <p:cNvPr id="42" name="组合 41"/>
          <p:cNvGrpSpPr/>
          <p:nvPr/>
        </p:nvGrpSpPr>
        <p:grpSpPr>
          <a:xfrm>
            <a:off x="5874810" y="3678213"/>
            <a:ext cx="1768027" cy="338554"/>
            <a:chOff x="467544" y="1437373"/>
            <a:chExt cx="1575470" cy="486087"/>
          </a:xfrm>
        </p:grpSpPr>
        <p:sp>
          <p:nvSpPr>
            <p:cNvPr id="43" name="文本框 42"/>
            <p:cNvSpPr txBox="1"/>
            <p:nvPr/>
          </p:nvSpPr>
          <p:spPr>
            <a:xfrm>
              <a:off x="839492" y="1437373"/>
              <a:ext cx="895904" cy="486087"/>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经验总结</a:t>
              </a:r>
            </a:p>
          </p:txBody>
        </p:sp>
        <p:cxnSp>
          <p:nvCxnSpPr>
            <p:cNvPr id="44" name="直接连接符 4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5" name="矩形标注 4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5</a:t>
              </a:r>
              <a:endParaRPr lang="zh-CN" altLang="en-US" sz="1600" dirty="0">
                <a:solidFill>
                  <a:prstClr val="white"/>
                </a:solidFill>
                <a:latin typeface="微软雅黑"/>
              </a:endParaRPr>
            </a:p>
          </p:txBody>
        </p:sp>
      </p:grpSp>
      <p:sp>
        <p:nvSpPr>
          <p:cNvPr id="3" name="矩形 2"/>
          <p:cNvSpPr/>
          <p:nvPr/>
        </p:nvSpPr>
        <p:spPr>
          <a:xfrm>
            <a:off x="561150" y="4285594"/>
            <a:ext cx="4506502" cy="1061829"/>
          </a:xfrm>
          <a:prstGeom prst="rect">
            <a:avLst/>
          </a:prstGeom>
        </p:spPr>
        <p:txBody>
          <a:bodyPr wrap="square" lIns="91431" tIns="45715" rIns="91431" bIns="45715">
            <a:spAutoFit/>
          </a:bodyPr>
          <a:lstStyle/>
          <a:p>
            <a:pPr>
              <a:lnSpc>
                <a:spcPct val="150000"/>
              </a:lnSpc>
            </a:pPr>
            <a:r>
              <a:rPr lang="en-US" sz="1400" dirty="0" smtClean="0"/>
              <a:t>1</a:t>
            </a:r>
            <a:r>
              <a:rPr lang="zh-CN" altLang="en-US" sz="1400" dirty="0" smtClean="0"/>
              <a:t>、现场测速、测光正常，打开网页、视频均正常。</a:t>
            </a:r>
          </a:p>
          <a:p>
            <a:pPr>
              <a:lnSpc>
                <a:spcPct val="150000"/>
              </a:lnSpc>
            </a:pPr>
            <a:r>
              <a:rPr lang="en-US" sz="1400" dirty="0" smtClean="0"/>
              <a:t>2</a:t>
            </a:r>
            <a:r>
              <a:rPr lang="zh-CN" altLang="en-US" sz="1400" dirty="0" smtClean="0"/>
              <a:t>、用</a:t>
            </a:r>
            <a:r>
              <a:rPr lang="en-US" altLang="zh-CN" sz="1400" dirty="0" smtClean="0"/>
              <a:t>IP</a:t>
            </a:r>
            <a:r>
              <a:rPr lang="zh-CN" altLang="en-US" sz="1400" dirty="0" smtClean="0"/>
              <a:t>雷达软件抓取登陆游戏页面服务器地址是：</a:t>
            </a:r>
            <a:r>
              <a:rPr lang="zh-CN" altLang="zh-CN" sz="1400" dirty="0" smtClean="0"/>
              <a:t>123</a:t>
            </a:r>
            <a:r>
              <a:rPr lang="zh-CN" altLang="zh-CN" sz="1400" dirty="0"/>
              <a:t>.125.115.120 </a:t>
            </a:r>
            <a:r>
              <a:rPr lang="zh-CN" altLang="en-US" sz="1400" dirty="0" smtClean="0"/>
              <a:t>，</a:t>
            </a:r>
            <a:r>
              <a:rPr lang="en-US" sz="1400" dirty="0" smtClean="0"/>
              <a:t>trace</a:t>
            </a:r>
            <a:r>
              <a:rPr lang="zh-CN" altLang="en-US" sz="1400" dirty="0" smtClean="0"/>
              <a:t>路由走三方出口</a:t>
            </a:r>
            <a:r>
              <a:rPr lang="zh-CN" altLang="en-US" sz="1400" dirty="0"/>
              <a:t>。</a:t>
            </a:r>
            <a:endParaRPr lang="en-US" altLang="zh-CN" sz="1400" dirty="0" smtClean="0"/>
          </a:p>
        </p:txBody>
      </p:sp>
      <p:sp>
        <p:nvSpPr>
          <p:cNvPr id="36" name="矩形 35"/>
          <p:cNvSpPr/>
          <p:nvPr/>
        </p:nvSpPr>
        <p:spPr>
          <a:xfrm>
            <a:off x="6012663" y="3963390"/>
            <a:ext cx="3899836" cy="1384995"/>
          </a:xfrm>
          <a:prstGeom prst="rect">
            <a:avLst/>
          </a:prstGeom>
        </p:spPr>
        <p:txBody>
          <a:bodyPr wrap="square" lIns="91431" tIns="45715" rIns="91431" bIns="45715">
            <a:spAutoFit/>
          </a:bodyPr>
          <a:lstStyle/>
          <a:p>
            <a:pPr>
              <a:lnSpc>
                <a:spcPct val="150000"/>
              </a:lnSpc>
            </a:pPr>
            <a:r>
              <a:rPr lang="zh-CN" altLang="en-US" sz="1400" dirty="0" smtClean="0"/>
              <a:t>客户端游戏打不开的处理方法：</a:t>
            </a:r>
            <a:endParaRPr lang="en-US" altLang="zh-CN" sz="1400" dirty="0" smtClean="0"/>
          </a:p>
          <a:p>
            <a:pPr>
              <a:lnSpc>
                <a:spcPct val="150000"/>
              </a:lnSpc>
            </a:pPr>
            <a:r>
              <a:rPr lang="en-US" altLang="zh-CN" sz="1400" dirty="0"/>
              <a:t> </a:t>
            </a:r>
            <a:r>
              <a:rPr lang="en-US" altLang="zh-CN" sz="1400" dirty="0" smtClean="0"/>
              <a:t>   </a:t>
            </a:r>
            <a:r>
              <a:rPr lang="zh-CN" altLang="en-US" sz="1400" dirty="0" smtClean="0"/>
              <a:t>准确抓取客户端登陆页面的服务器地址，有时候和游戏服务器地址不一样，根据路由走向调整一般即可恢复，不需要进行加速。</a:t>
            </a:r>
            <a:endParaRPr lang="zh-CN" altLang="en-US" sz="1400" dirty="0"/>
          </a:p>
        </p:txBody>
      </p:sp>
      <p:grpSp>
        <p:nvGrpSpPr>
          <p:cNvPr id="24" name="组合 23"/>
          <p:cNvGrpSpPr/>
          <p:nvPr/>
        </p:nvGrpSpPr>
        <p:grpSpPr>
          <a:xfrm>
            <a:off x="561149" y="3204769"/>
            <a:ext cx="1768027" cy="338554"/>
            <a:chOff x="467544" y="1437373"/>
            <a:chExt cx="1575470" cy="430162"/>
          </a:xfrm>
        </p:grpSpPr>
        <p:sp>
          <p:nvSpPr>
            <p:cNvPr id="25"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影响范围</a:t>
              </a:r>
            </a:p>
          </p:txBody>
        </p:sp>
        <p:cxnSp>
          <p:nvCxnSpPr>
            <p:cNvPr id="28" name="直接连接符 27"/>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29" name="矩形标注 28"/>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2</a:t>
              </a:r>
              <a:endParaRPr lang="zh-CN" altLang="en-US" sz="1600" dirty="0">
                <a:solidFill>
                  <a:prstClr val="white"/>
                </a:solidFill>
                <a:latin typeface="微软雅黑"/>
              </a:endParaRPr>
            </a:p>
          </p:txBody>
        </p:sp>
      </p:grpSp>
      <p:sp>
        <p:nvSpPr>
          <p:cNvPr id="5" name="TextBox 4"/>
          <p:cNvSpPr txBox="1"/>
          <p:nvPr/>
        </p:nvSpPr>
        <p:spPr>
          <a:xfrm>
            <a:off x="678227" y="3587537"/>
            <a:ext cx="4182023" cy="307777"/>
          </a:xfrm>
          <a:prstGeom prst="rect">
            <a:avLst/>
          </a:prstGeom>
          <a:noFill/>
        </p:spPr>
        <p:txBody>
          <a:bodyPr wrap="square" lIns="91431" tIns="45715" rIns="91431" bIns="45715" rtlCol="0">
            <a:spAutoFit/>
          </a:bodyPr>
          <a:lstStyle/>
          <a:p>
            <a:r>
              <a:rPr lang="zh-CN" altLang="en-US" sz="1400" dirty="0" smtClean="0"/>
              <a:t>滨州无棣县滨海大学一游戏爱好者用户。</a:t>
            </a:r>
            <a:endParaRPr lang="zh-CN" altLang="en-US" sz="1400" dirty="0"/>
          </a:p>
        </p:txBody>
      </p:sp>
      <p:pic>
        <p:nvPicPr>
          <p:cNvPr id="4" name="图片 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098835" y="1618631"/>
            <a:ext cx="3724507" cy="1472209"/>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292219" y="1716836"/>
            <a:ext cx="2990031" cy="1754388"/>
          </a:xfrm>
          <a:prstGeom prst="rect">
            <a:avLst/>
          </a:prstGeom>
        </p:spPr>
      </p:pic>
    </p:spTree>
    <p:extLst>
      <p:ext uri="{BB962C8B-B14F-4D97-AF65-F5344CB8AC3E}">
        <p14:creationId xmlns:p14="http://schemas.microsoft.com/office/powerpoint/2010/main" xmlns="" val="22987551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0338" y="91794"/>
            <a:ext cx="9010911" cy="294660"/>
          </a:xfrm>
          <a:prstGeom prst="rect">
            <a:avLst/>
          </a:prstGeom>
        </p:spPr>
        <p:txBody>
          <a:bodyPr lIns="91431" tIns="45715" rIns="91431"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base">
              <a:spcAft>
                <a:spcPct val="0"/>
              </a:spcAft>
            </a:pPr>
            <a:r>
              <a:rPr lang="zh-CN" altLang="en-US" sz="2400" b="1" dirty="0" smtClean="0">
                <a:solidFill>
                  <a:prstClr val="white"/>
                </a:solidFill>
                <a:latin typeface="微软雅黑"/>
              </a:rPr>
              <a:t>案例</a:t>
            </a:r>
            <a:r>
              <a:rPr lang="en-US" altLang="zh-CN" sz="2400" b="1" dirty="0" smtClean="0">
                <a:solidFill>
                  <a:prstClr val="white"/>
                </a:solidFill>
                <a:latin typeface="微软雅黑"/>
              </a:rPr>
              <a:t>2</a:t>
            </a:r>
            <a:r>
              <a:rPr lang="zh-CN" altLang="en-US" sz="2400" b="1" dirty="0" smtClean="0">
                <a:solidFill>
                  <a:prstClr val="white"/>
                </a:solidFill>
                <a:latin typeface="微软雅黑"/>
              </a:rPr>
              <a:t>：滨州家客用户</a:t>
            </a:r>
            <a:r>
              <a:rPr lang="zh-CN" altLang="en-US" sz="2400" b="1" dirty="0" smtClean="0">
                <a:solidFill>
                  <a:schemeClr val="bg1"/>
                </a:solidFill>
              </a:rPr>
              <a:t>反映</a:t>
            </a:r>
            <a:r>
              <a:rPr lang="zh-CN" altLang="zh-CN" sz="2400" b="1" dirty="0" smtClean="0">
                <a:solidFill>
                  <a:schemeClr val="bg1"/>
                </a:solidFill>
              </a:rPr>
              <a:t>网</a:t>
            </a:r>
            <a:r>
              <a:rPr lang="zh-CN" altLang="en-US" sz="2400" b="1" dirty="0" smtClean="0">
                <a:solidFill>
                  <a:schemeClr val="bg1"/>
                </a:solidFill>
              </a:rPr>
              <a:t>页</a:t>
            </a:r>
            <a:r>
              <a:rPr lang="zh-CN" altLang="en-US" sz="2400" b="1" dirty="0">
                <a:solidFill>
                  <a:schemeClr val="bg1"/>
                </a:solidFill>
              </a:rPr>
              <a:t>中</a:t>
            </a:r>
            <a:r>
              <a:rPr lang="zh-CN" altLang="zh-CN" sz="2400" b="1" dirty="0" smtClean="0">
                <a:solidFill>
                  <a:schemeClr val="bg1"/>
                </a:solidFill>
              </a:rPr>
              <a:t>录音</a:t>
            </a:r>
            <a:r>
              <a:rPr lang="zh-CN" altLang="zh-CN" sz="2400" b="1" dirty="0">
                <a:solidFill>
                  <a:schemeClr val="bg1"/>
                </a:solidFill>
              </a:rPr>
              <a:t>模块无法使用的案例</a:t>
            </a:r>
            <a:endParaRPr lang="zh-CN" altLang="en-US" sz="2400" b="1" dirty="0" smtClean="0">
              <a:solidFill>
                <a:schemeClr val="bg1"/>
              </a:solidFill>
              <a:latin typeface="微软雅黑"/>
            </a:endParaRPr>
          </a:p>
        </p:txBody>
      </p:sp>
      <p:sp>
        <p:nvSpPr>
          <p:cNvPr id="9" name="矩形 8"/>
          <p:cNvSpPr/>
          <p:nvPr/>
        </p:nvSpPr>
        <p:spPr>
          <a:xfrm>
            <a:off x="363071" y="591856"/>
            <a:ext cx="9616268" cy="4713851"/>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fontAlgn="base">
              <a:spcBef>
                <a:spcPct val="0"/>
              </a:spcBef>
              <a:spcAft>
                <a:spcPct val="0"/>
              </a:spcAft>
            </a:pPr>
            <a:endParaRPr lang="zh-CN" altLang="en-US">
              <a:solidFill>
                <a:prstClr val="white"/>
              </a:solidFill>
              <a:latin typeface="微软雅黑"/>
            </a:endParaRPr>
          </a:p>
        </p:txBody>
      </p:sp>
      <p:grpSp>
        <p:nvGrpSpPr>
          <p:cNvPr id="27" name="组合 26"/>
          <p:cNvGrpSpPr/>
          <p:nvPr/>
        </p:nvGrpSpPr>
        <p:grpSpPr>
          <a:xfrm>
            <a:off x="595065" y="704012"/>
            <a:ext cx="1768027" cy="338554"/>
            <a:chOff x="467544" y="1437373"/>
            <a:chExt cx="1575470" cy="430162"/>
          </a:xfrm>
        </p:grpSpPr>
        <p:sp>
          <p:nvSpPr>
            <p:cNvPr id="22"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问题现象</a:t>
              </a:r>
            </a:p>
          </p:txBody>
        </p:sp>
        <p:cxnSp>
          <p:nvCxnSpPr>
            <p:cNvPr id="20" name="直接连接符 19"/>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18" name="矩形标注 17"/>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1</a:t>
              </a:r>
              <a:endParaRPr lang="zh-CN" altLang="en-US" sz="1600" dirty="0">
                <a:solidFill>
                  <a:prstClr val="white"/>
                </a:solidFill>
                <a:latin typeface="微软雅黑"/>
              </a:endParaRPr>
            </a:p>
          </p:txBody>
        </p:sp>
      </p:grpSp>
      <p:sp>
        <p:nvSpPr>
          <p:cNvPr id="26" name="矩形 25"/>
          <p:cNvSpPr/>
          <p:nvPr/>
        </p:nvSpPr>
        <p:spPr>
          <a:xfrm>
            <a:off x="716008" y="1011541"/>
            <a:ext cx="4539736" cy="1062943"/>
          </a:xfrm>
          <a:prstGeom prst="rect">
            <a:avLst/>
          </a:prstGeom>
          <a:noFill/>
        </p:spPr>
        <p:txBody>
          <a:bodyPr wrap="square" lIns="91431" tIns="45715" rIns="91431" bIns="45715">
            <a:spAutoFit/>
          </a:bodyPr>
          <a:lstStyle/>
          <a:p>
            <a:pPr>
              <a:lnSpc>
                <a:spcPct val="150000"/>
              </a:lnSpc>
            </a:pPr>
            <a:r>
              <a:rPr lang="zh-CN" altLang="zh-CN" sz="1400" dirty="0"/>
              <a:t>滨州某家客用户反映学习网站</a:t>
            </a:r>
            <a:r>
              <a:rPr lang="en-US" altLang="zh-CN" sz="1400" dirty="0"/>
              <a:t>www.17zuoye.com</a:t>
            </a:r>
            <a:r>
              <a:rPr lang="zh-CN" altLang="zh-CN" sz="1400" dirty="0"/>
              <a:t>中的录音功能无法使用，</a:t>
            </a:r>
            <a:r>
              <a:rPr lang="zh-CN" altLang="zh-CN" sz="1400" dirty="0" smtClean="0"/>
              <a:t>其它</a:t>
            </a:r>
            <a:r>
              <a:rPr lang="zh-CN" altLang="en-US" sz="1400" dirty="0" smtClean="0"/>
              <a:t>模块</a:t>
            </a:r>
            <a:r>
              <a:rPr lang="zh-CN" altLang="zh-CN" sz="1400" dirty="0" smtClean="0"/>
              <a:t>使用</a:t>
            </a:r>
            <a:r>
              <a:rPr lang="zh-CN" altLang="zh-CN" sz="1400" dirty="0"/>
              <a:t>正常。现场测速正常，打开其他网页、视频等网页加载均</a:t>
            </a:r>
            <a:r>
              <a:rPr lang="zh-CN" altLang="zh-CN" sz="1400" dirty="0" smtClean="0"/>
              <a:t>正常</a:t>
            </a:r>
            <a:r>
              <a:rPr lang="zh-CN" altLang="en-US" sz="1400" dirty="0" smtClean="0"/>
              <a:t>。</a:t>
            </a:r>
            <a:endParaRPr lang="zh-CN" altLang="zh-CN" sz="1400" dirty="0"/>
          </a:p>
        </p:txBody>
      </p:sp>
      <p:grpSp>
        <p:nvGrpSpPr>
          <p:cNvPr id="32" name="组合 31"/>
          <p:cNvGrpSpPr/>
          <p:nvPr/>
        </p:nvGrpSpPr>
        <p:grpSpPr>
          <a:xfrm>
            <a:off x="546119" y="3335009"/>
            <a:ext cx="1768027" cy="338554"/>
            <a:chOff x="467544" y="1437373"/>
            <a:chExt cx="1575470" cy="430162"/>
          </a:xfrm>
        </p:grpSpPr>
        <p:sp>
          <p:nvSpPr>
            <p:cNvPr id="33" name="文本框 3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根本</a:t>
              </a:r>
              <a:r>
                <a:rPr lang="zh-CN" altLang="en-US" sz="1600" b="1" dirty="0" smtClean="0">
                  <a:solidFill>
                    <a:prstClr val="black"/>
                  </a:solidFill>
                  <a:latin typeface="微软雅黑"/>
                </a:rPr>
                <a:t>原因</a:t>
              </a:r>
              <a:endParaRPr lang="zh-CN" altLang="en-US" sz="1600" b="1" dirty="0">
                <a:solidFill>
                  <a:prstClr val="black"/>
                </a:solidFill>
                <a:latin typeface="微软雅黑"/>
              </a:endParaRPr>
            </a:p>
          </p:txBody>
        </p:sp>
        <p:cxnSp>
          <p:nvCxnSpPr>
            <p:cNvPr id="34" name="直接连接符 3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5" name="矩形标注 3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2</a:t>
              </a:r>
              <a:endParaRPr lang="zh-CN" altLang="en-US" sz="1600" dirty="0">
                <a:solidFill>
                  <a:prstClr val="white"/>
                </a:solidFill>
                <a:latin typeface="微软雅黑"/>
              </a:endParaRPr>
            </a:p>
          </p:txBody>
        </p:sp>
      </p:grpSp>
      <p:grpSp>
        <p:nvGrpSpPr>
          <p:cNvPr id="37" name="组合 36"/>
          <p:cNvGrpSpPr/>
          <p:nvPr/>
        </p:nvGrpSpPr>
        <p:grpSpPr>
          <a:xfrm>
            <a:off x="5378997" y="682526"/>
            <a:ext cx="1768027" cy="338554"/>
            <a:chOff x="467544" y="1437373"/>
            <a:chExt cx="1575470" cy="430162"/>
          </a:xfrm>
        </p:grpSpPr>
        <p:sp>
          <p:nvSpPr>
            <p:cNvPr id="38" name="文本框 37"/>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解决措施</a:t>
              </a:r>
            </a:p>
          </p:txBody>
        </p:sp>
        <p:cxnSp>
          <p:nvCxnSpPr>
            <p:cNvPr id="39" name="直接连接符 38"/>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0" name="矩形标注 39"/>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3</a:t>
              </a:r>
              <a:endParaRPr lang="zh-CN" altLang="en-US" sz="1600" dirty="0">
                <a:solidFill>
                  <a:prstClr val="white"/>
                </a:solidFill>
                <a:latin typeface="微软雅黑"/>
              </a:endParaRPr>
            </a:p>
          </p:txBody>
        </p:sp>
      </p:grpSp>
      <p:sp>
        <p:nvSpPr>
          <p:cNvPr id="41" name="矩形 40"/>
          <p:cNvSpPr/>
          <p:nvPr/>
        </p:nvSpPr>
        <p:spPr>
          <a:xfrm>
            <a:off x="5346824" y="970559"/>
            <a:ext cx="4536504" cy="738654"/>
          </a:xfrm>
          <a:prstGeom prst="rect">
            <a:avLst/>
          </a:prstGeom>
          <a:noFill/>
        </p:spPr>
        <p:txBody>
          <a:bodyPr wrap="square" lIns="91431" tIns="45715" rIns="91431" bIns="45715">
            <a:spAutoFit/>
          </a:bodyPr>
          <a:lstStyle/>
          <a:p>
            <a:pPr fontAlgn="base">
              <a:lnSpc>
                <a:spcPct val="150000"/>
              </a:lnSpc>
              <a:spcBef>
                <a:spcPct val="0"/>
              </a:spcBef>
              <a:spcAft>
                <a:spcPct val="0"/>
              </a:spcAft>
            </a:pPr>
            <a:r>
              <a:rPr lang="zh-CN" altLang="en-US" sz="1400" dirty="0" smtClean="0"/>
              <a:t>使用集团专线测试发现情况较稳定，</a:t>
            </a:r>
            <a:r>
              <a:rPr lang="zh-CN" altLang="zh-CN" sz="1400" dirty="0" smtClean="0"/>
              <a:t>将</a:t>
            </a:r>
            <a:r>
              <a:rPr lang="zh-CN" altLang="zh-CN" sz="1400" dirty="0"/>
              <a:t>地址调到集团</a:t>
            </a:r>
            <a:r>
              <a:rPr lang="zh-CN" altLang="zh-CN" sz="1400" dirty="0" smtClean="0"/>
              <a:t>出口</a:t>
            </a:r>
            <a:r>
              <a:rPr lang="zh-CN" altLang="en-US" sz="1400" dirty="0" smtClean="0"/>
              <a:t>后</a:t>
            </a:r>
            <a:r>
              <a:rPr lang="zh-CN" altLang="zh-CN" sz="1400" dirty="0" smtClean="0"/>
              <a:t>，</a:t>
            </a:r>
            <a:r>
              <a:rPr lang="zh-CN" altLang="zh-CN" sz="1400" dirty="0"/>
              <a:t>可正常</a:t>
            </a:r>
            <a:r>
              <a:rPr lang="zh-CN" altLang="zh-CN" sz="1400" dirty="0" smtClean="0"/>
              <a:t>使用</a:t>
            </a:r>
            <a:r>
              <a:rPr lang="zh-CN" altLang="en-US" sz="1400" kern="0" dirty="0" smtClean="0">
                <a:solidFill>
                  <a:prstClr val="black"/>
                </a:solidFill>
                <a:latin typeface="微软雅黑"/>
                <a:cs typeface="宋体" panose="02010600030101010101" pitchFamily="2" charset="-122"/>
              </a:rPr>
              <a:t>。</a:t>
            </a:r>
            <a:endParaRPr lang="zh-CN" altLang="en-US" sz="1400" kern="0" dirty="0">
              <a:solidFill>
                <a:prstClr val="black"/>
              </a:solidFill>
              <a:latin typeface="微软雅黑"/>
              <a:cs typeface="宋体" panose="02010600030101010101" pitchFamily="2" charset="-122"/>
            </a:endParaRPr>
          </a:p>
        </p:txBody>
      </p:sp>
      <p:grpSp>
        <p:nvGrpSpPr>
          <p:cNvPr id="42" name="组合 41"/>
          <p:cNvGrpSpPr/>
          <p:nvPr/>
        </p:nvGrpSpPr>
        <p:grpSpPr>
          <a:xfrm>
            <a:off x="5378997" y="3368308"/>
            <a:ext cx="1768027" cy="338554"/>
            <a:chOff x="467544" y="1437373"/>
            <a:chExt cx="1575470" cy="430162"/>
          </a:xfrm>
        </p:grpSpPr>
        <p:sp>
          <p:nvSpPr>
            <p:cNvPr id="43" name="文本框 4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经验总结</a:t>
              </a:r>
            </a:p>
          </p:txBody>
        </p:sp>
        <p:cxnSp>
          <p:nvCxnSpPr>
            <p:cNvPr id="44" name="直接连接符 4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5" name="矩形标注 4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4</a:t>
              </a:r>
              <a:endParaRPr lang="zh-CN" altLang="en-US" sz="1600" dirty="0">
                <a:solidFill>
                  <a:prstClr val="white"/>
                </a:solidFill>
                <a:latin typeface="微软雅黑"/>
              </a:endParaRPr>
            </a:p>
          </p:txBody>
        </p:sp>
      </p:grpSp>
      <p:sp>
        <p:nvSpPr>
          <p:cNvPr id="3" name="矩形 2"/>
          <p:cNvSpPr/>
          <p:nvPr/>
        </p:nvSpPr>
        <p:spPr>
          <a:xfrm>
            <a:off x="575586" y="3688700"/>
            <a:ext cx="4506502" cy="1384995"/>
          </a:xfrm>
          <a:prstGeom prst="rect">
            <a:avLst/>
          </a:prstGeom>
        </p:spPr>
        <p:txBody>
          <a:bodyPr wrap="square" lIns="91431" tIns="45715" rIns="91431" bIns="45715">
            <a:spAutoFit/>
          </a:bodyPr>
          <a:lstStyle/>
          <a:p>
            <a:pPr>
              <a:lnSpc>
                <a:spcPct val="150000"/>
              </a:lnSpc>
            </a:pPr>
            <a:r>
              <a:rPr lang="zh-CN" altLang="zh-CN" sz="1400" dirty="0"/>
              <a:t>用家客线测试录音模块确实无法使用，电信、联通线使用正常。准确抓取的录音模块的地址是</a:t>
            </a:r>
            <a:r>
              <a:rPr lang="en-US" altLang="zh-CN" sz="1400" dirty="0"/>
              <a:t>101.251.192.236</a:t>
            </a:r>
            <a:r>
              <a:rPr lang="en-US" altLang="zh-CN" sz="1400" dirty="0" smtClean="0"/>
              <a:t>,</a:t>
            </a:r>
            <a:r>
              <a:rPr lang="zh-CN" altLang="en-US" sz="1400" dirty="0" smtClean="0"/>
              <a:t>经</a:t>
            </a:r>
            <a:r>
              <a:rPr lang="en-US" altLang="zh-CN" sz="1400" dirty="0" smtClean="0"/>
              <a:t>trace</a:t>
            </a:r>
            <a:r>
              <a:rPr lang="zh-CN" altLang="zh-CN" sz="1400" dirty="0"/>
              <a:t>路由走铁通</a:t>
            </a:r>
            <a:r>
              <a:rPr lang="zh-CN" altLang="zh-CN" sz="1400" dirty="0" smtClean="0"/>
              <a:t>。</a:t>
            </a:r>
            <a:r>
              <a:rPr lang="zh-CN" altLang="zh-CN" sz="1400" dirty="0"/>
              <a:t>联系铁通多次调整路由后</a:t>
            </a:r>
            <a:r>
              <a:rPr lang="zh-CN" altLang="zh-CN" sz="1400" dirty="0" smtClean="0"/>
              <a:t>，使用情况</a:t>
            </a:r>
            <a:r>
              <a:rPr lang="zh-CN" altLang="en-US" sz="1400" dirty="0" smtClean="0"/>
              <a:t>仍</a:t>
            </a:r>
            <a:r>
              <a:rPr lang="zh-CN" altLang="zh-CN" sz="1400" dirty="0" smtClean="0"/>
              <a:t>不稳定</a:t>
            </a:r>
            <a:r>
              <a:rPr lang="zh-CN" altLang="zh-CN" sz="1400" dirty="0"/>
              <a:t>，时好时坏。</a:t>
            </a:r>
          </a:p>
        </p:txBody>
      </p:sp>
      <p:sp>
        <p:nvSpPr>
          <p:cNvPr id="36" name="矩形 35"/>
          <p:cNvSpPr/>
          <p:nvPr/>
        </p:nvSpPr>
        <p:spPr>
          <a:xfrm>
            <a:off x="5274816" y="3832876"/>
            <a:ext cx="4608512" cy="954107"/>
          </a:xfrm>
          <a:prstGeom prst="rect">
            <a:avLst/>
          </a:prstGeom>
        </p:spPr>
        <p:txBody>
          <a:bodyPr wrap="square" lIns="91431" tIns="45715" rIns="91431" bIns="45715">
            <a:spAutoFit/>
          </a:bodyPr>
          <a:lstStyle/>
          <a:p>
            <a:r>
              <a:rPr lang="zh-CN" altLang="zh-CN" sz="1400" dirty="0" smtClean="0"/>
              <a:t>对于网页</a:t>
            </a:r>
            <a:r>
              <a:rPr lang="zh-CN" altLang="en-US" sz="1400" dirty="0" smtClean="0"/>
              <a:t>中</a:t>
            </a:r>
            <a:r>
              <a:rPr lang="zh-CN" altLang="zh-CN" sz="1400" dirty="0" smtClean="0"/>
              <a:t>部分</a:t>
            </a:r>
            <a:r>
              <a:rPr lang="zh-CN" altLang="zh-CN" sz="1400" dirty="0"/>
              <a:t>功能模块打不开的</a:t>
            </a:r>
            <a:r>
              <a:rPr lang="zh-CN" altLang="zh-CN" sz="1400" dirty="0" smtClean="0"/>
              <a:t>故障</a:t>
            </a:r>
            <a:r>
              <a:rPr lang="zh-CN" altLang="en-US" sz="1400" dirty="0" smtClean="0"/>
              <a:t>，首先排除终端设置、安全设置等非网络问题后，最重要的是</a:t>
            </a:r>
            <a:r>
              <a:rPr lang="zh-CN" altLang="zh-CN" sz="1400" dirty="0" smtClean="0"/>
              <a:t>需要</a:t>
            </a:r>
            <a:r>
              <a:rPr lang="zh-CN" altLang="zh-CN" sz="1400" dirty="0"/>
              <a:t>准确抓取模块对应</a:t>
            </a:r>
            <a:r>
              <a:rPr lang="zh-CN" altLang="zh-CN" sz="1400" dirty="0" smtClean="0"/>
              <a:t>的</a:t>
            </a:r>
            <a:r>
              <a:rPr lang="zh-CN" altLang="en-US" sz="1400" dirty="0" smtClean="0"/>
              <a:t>服务器</a:t>
            </a:r>
            <a:r>
              <a:rPr lang="zh-CN" altLang="zh-CN" sz="1400" dirty="0" smtClean="0"/>
              <a:t>地址</a:t>
            </a:r>
            <a:r>
              <a:rPr lang="zh-CN" altLang="zh-CN" sz="1400" dirty="0"/>
              <a:t>，再进一步分析，多次调整路由后故障未恢复，需尝试其它办法</a:t>
            </a:r>
            <a:r>
              <a:rPr lang="zh-CN" altLang="zh-CN" sz="1400" dirty="0" smtClean="0"/>
              <a:t>。</a:t>
            </a:r>
            <a:endParaRPr lang="en-US" altLang="zh-CN" sz="1400" dirty="0" smtClean="0"/>
          </a:p>
        </p:txBody>
      </p:sp>
      <p:pic>
        <p:nvPicPr>
          <p:cNvPr id="5" name="图片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816208" y="2041412"/>
            <a:ext cx="3554338" cy="1147837"/>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504588" y="1690638"/>
            <a:ext cx="3686027" cy="1584176"/>
          </a:xfrm>
          <a:prstGeom prst="rect">
            <a:avLst/>
          </a:prstGeom>
        </p:spPr>
      </p:pic>
    </p:spTree>
    <p:extLst>
      <p:ext uri="{BB962C8B-B14F-4D97-AF65-F5344CB8AC3E}">
        <p14:creationId xmlns:p14="http://schemas.microsoft.com/office/powerpoint/2010/main" xmlns="" val="14328500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0338" y="91794"/>
            <a:ext cx="9010911" cy="294660"/>
          </a:xfrm>
          <a:prstGeom prst="rect">
            <a:avLst/>
          </a:prstGeom>
        </p:spPr>
        <p:txBody>
          <a:bodyPr lIns="91431" tIns="45715" rIns="91431"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base">
              <a:spcAft>
                <a:spcPct val="0"/>
              </a:spcAft>
            </a:pPr>
            <a:r>
              <a:rPr lang="zh-CN" altLang="en-US" sz="2400" b="1" dirty="0" smtClean="0">
                <a:solidFill>
                  <a:prstClr val="white"/>
                </a:solidFill>
                <a:latin typeface="微软雅黑"/>
              </a:rPr>
              <a:t>案例</a:t>
            </a:r>
            <a:r>
              <a:rPr lang="en-US" altLang="zh-CN" sz="2400" b="1" dirty="0" smtClean="0">
                <a:solidFill>
                  <a:prstClr val="white"/>
                </a:solidFill>
                <a:latin typeface="微软雅黑"/>
              </a:rPr>
              <a:t>3</a:t>
            </a:r>
            <a:r>
              <a:rPr lang="zh-CN" altLang="en-US" sz="2400" b="1" dirty="0" smtClean="0">
                <a:solidFill>
                  <a:prstClr val="white"/>
                </a:solidFill>
                <a:latin typeface="微软雅黑"/>
              </a:rPr>
              <a:t>：滨州家客用户</a:t>
            </a:r>
            <a:r>
              <a:rPr lang="zh-CN" altLang="en-US" sz="2400" b="1" dirty="0" smtClean="0">
                <a:solidFill>
                  <a:schemeClr val="bg1"/>
                </a:solidFill>
              </a:rPr>
              <a:t>反映某</a:t>
            </a:r>
            <a:r>
              <a:rPr lang="zh-CN" altLang="zh-CN" sz="2400" b="1" dirty="0" smtClean="0">
                <a:solidFill>
                  <a:schemeClr val="bg1"/>
                </a:solidFill>
              </a:rPr>
              <a:t>网</a:t>
            </a:r>
            <a:r>
              <a:rPr lang="zh-CN" altLang="en-US" sz="2400" b="1" dirty="0" smtClean="0">
                <a:solidFill>
                  <a:schemeClr val="bg1"/>
                </a:solidFill>
              </a:rPr>
              <a:t>页无法正常访问</a:t>
            </a:r>
            <a:r>
              <a:rPr lang="zh-CN" altLang="zh-CN" sz="2400" b="1" dirty="0" smtClean="0">
                <a:solidFill>
                  <a:schemeClr val="bg1"/>
                </a:solidFill>
              </a:rPr>
              <a:t>的</a:t>
            </a:r>
            <a:r>
              <a:rPr lang="zh-CN" altLang="zh-CN" sz="2400" b="1" dirty="0">
                <a:solidFill>
                  <a:schemeClr val="bg1"/>
                </a:solidFill>
              </a:rPr>
              <a:t>案例</a:t>
            </a:r>
            <a:endParaRPr lang="zh-CN" altLang="en-US" sz="2400" b="1" dirty="0" smtClean="0">
              <a:solidFill>
                <a:schemeClr val="bg1"/>
              </a:solidFill>
              <a:latin typeface="微软雅黑"/>
            </a:endParaRPr>
          </a:p>
        </p:txBody>
      </p:sp>
      <p:sp>
        <p:nvSpPr>
          <p:cNvPr id="9" name="矩形 8"/>
          <p:cNvSpPr/>
          <p:nvPr/>
        </p:nvSpPr>
        <p:spPr>
          <a:xfrm>
            <a:off x="363071" y="591856"/>
            <a:ext cx="9616268" cy="4713851"/>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fontAlgn="base">
              <a:spcBef>
                <a:spcPct val="0"/>
              </a:spcBef>
              <a:spcAft>
                <a:spcPct val="0"/>
              </a:spcAft>
            </a:pPr>
            <a:endParaRPr lang="zh-CN" altLang="en-US">
              <a:solidFill>
                <a:prstClr val="white"/>
              </a:solidFill>
              <a:latin typeface="微软雅黑"/>
            </a:endParaRPr>
          </a:p>
        </p:txBody>
      </p:sp>
      <p:grpSp>
        <p:nvGrpSpPr>
          <p:cNvPr id="27" name="组合 26"/>
          <p:cNvGrpSpPr/>
          <p:nvPr/>
        </p:nvGrpSpPr>
        <p:grpSpPr>
          <a:xfrm>
            <a:off x="595065" y="657590"/>
            <a:ext cx="1768027" cy="338554"/>
            <a:chOff x="467544" y="1437373"/>
            <a:chExt cx="1575470" cy="430162"/>
          </a:xfrm>
        </p:grpSpPr>
        <p:sp>
          <p:nvSpPr>
            <p:cNvPr id="22"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问题现象</a:t>
              </a:r>
            </a:p>
          </p:txBody>
        </p:sp>
        <p:cxnSp>
          <p:nvCxnSpPr>
            <p:cNvPr id="20" name="直接连接符 19"/>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18" name="矩形标注 17"/>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1</a:t>
              </a:r>
              <a:endParaRPr lang="zh-CN" altLang="en-US" sz="1600" dirty="0">
                <a:solidFill>
                  <a:prstClr val="white"/>
                </a:solidFill>
                <a:latin typeface="微软雅黑"/>
              </a:endParaRPr>
            </a:p>
          </p:txBody>
        </p:sp>
      </p:grpSp>
      <p:sp>
        <p:nvSpPr>
          <p:cNvPr id="26" name="矩形 25"/>
          <p:cNvSpPr/>
          <p:nvPr/>
        </p:nvSpPr>
        <p:spPr>
          <a:xfrm>
            <a:off x="522288" y="1011541"/>
            <a:ext cx="4680520" cy="738654"/>
          </a:xfrm>
          <a:prstGeom prst="rect">
            <a:avLst/>
          </a:prstGeom>
          <a:noFill/>
        </p:spPr>
        <p:txBody>
          <a:bodyPr wrap="square" lIns="91431" tIns="45715" rIns="91431" bIns="45715">
            <a:spAutoFit/>
          </a:bodyPr>
          <a:lstStyle/>
          <a:p>
            <a:pPr>
              <a:lnSpc>
                <a:spcPct val="150000"/>
              </a:lnSpc>
            </a:pPr>
            <a:r>
              <a:rPr lang="zh-CN" altLang="en-US" sz="1400" dirty="0"/>
              <a:t>滨州家客用户反映域名：</a:t>
            </a:r>
            <a:r>
              <a:rPr lang="en-US" altLang="zh-CN" sz="1400" dirty="0"/>
              <a:t>sdbz.isgenetic.com</a:t>
            </a:r>
            <a:r>
              <a:rPr lang="zh-CN" altLang="en-US" sz="1400" dirty="0"/>
              <a:t>（滨州新生儿疾病筛查中心）无法打开，打开其他网页、视频均正常。</a:t>
            </a:r>
            <a:endParaRPr lang="zh-CN" altLang="zh-CN" sz="1400" dirty="0"/>
          </a:p>
        </p:txBody>
      </p:sp>
      <p:grpSp>
        <p:nvGrpSpPr>
          <p:cNvPr id="32" name="组合 31"/>
          <p:cNvGrpSpPr/>
          <p:nvPr/>
        </p:nvGrpSpPr>
        <p:grpSpPr>
          <a:xfrm>
            <a:off x="546119" y="3335009"/>
            <a:ext cx="1768027" cy="338554"/>
            <a:chOff x="467544" y="1437373"/>
            <a:chExt cx="1575470" cy="430162"/>
          </a:xfrm>
        </p:grpSpPr>
        <p:sp>
          <p:nvSpPr>
            <p:cNvPr id="33" name="文本框 3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根本</a:t>
              </a:r>
              <a:r>
                <a:rPr lang="zh-CN" altLang="en-US" sz="1600" b="1" dirty="0" smtClean="0">
                  <a:solidFill>
                    <a:prstClr val="black"/>
                  </a:solidFill>
                  <a:latin typeface="微软雅黑"/>
                </a:rPr>
                <a:t>原因</a:t>
              </a:r>
              <a:endParaRPr lang="zh-CN" altLang="en-US" sz="1600" b="1" dirty="0">
                <a:solidFill>
                  <a:prstClr val="black"/>
                </a:solidFill>
                <a:latin typeface="微软雅黑"/>
              </a:endParaRPr>
            </a:p>
          </p:txBody>
        </p:sp>
        <p:cxnSp>
          <p:nvCxnSpPr>
            <p:cNvPr id="34" name="直接连接符 3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5" name="矩形标注 3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2</a:t>
              </a:r>
              <a:endParaRPr lang="zh-CN" altLang="en-US" sz="1600" dirty="0">
                <a:solidFill>
                  <a:prstClr val="white"/>
                </a:solidFill>
                <a:latin typeface="微软雅黑"/>
              </a:endParaRPr>
            </a:p>
          </p:txBody>
        </p:sp>
      </p:grpSp>
      <p:grpSp>
        <p:nvGrpSpPr>
          <p:cNvPr id="37" name="组合 36"/>
          <p:cNvGrpSpPr/>
          <p:nvPr/>
        </p:nvGrpSpPr>
        <p:grpSpPr>
          <a:xfrm>
            <a:off x="5451005" y="761874"/>
            <a:ext cx="1768027" cy="338554"/>
            <a:chOff x="467544" y="1437373"/>
            <a:chExt cx="1575470" cy="430162"/>
          </a:xfrm>
        </p:grpSpPr>
        <p:sp>
          <p:nvSpPr>
            <p:cNvPr id="38" name="文本框 37"/>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解决措施</a:t>
              </a:r>
            </a:p>
          </p:txBody>
        </p:sp>
        <p:cxnSp>
          <p:nvCxnSpPr>
            <p:cNvPr id="39" name="直接连接符 38"/>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0" name="矩形标注 39"/>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3</a:t>
              </a:r>
              <a:endParaRPr lang="zh-CN" altLang="en-US" sz="1600" dirty="0">
                <a:solidFill>
                  <a:prstClr val="white"/>
                </a:solidFill>
                <a:latin typeface="微软雅黑"/>
              </a:endParaRPr>
            </a:p>
          </p:txBody>
        </p:sp>
      </p:grpSp>
      <p:sp>
        <p:nvSpPr>
          <p:cNvPr id="41" name="矩形 40"/>
          <p:cNvSpPr/>
          <p:nvPr/>
        </p:nvSpPr>
        <p:spPr>
          <a:xfrm>
            <a:off x="5346825" y="1158206"/>
            <a:ext cx="4605999" cy="738654"/>
          </a:xfrm>
          <a:prstGeom prst="rect">
            <a:avLst/>
          </a:prstGeom>
          <a:noFill/>
        </p:spPr>
        <p:txBody>
          <a:bodyPr wrap="square" lIns="91431" tIns="45715" rIns="91431" bIns="45715">
            <a:spAutoFit/>
          </a:bodyPr>
          <a:lstStyle/>
          <a:p>
            <a:pPr fontAlgn="base">
              <a:lnSpc>
                <a:spcPct val="150000"/>
              </a:lnSpc>
              <a:spcBef>
                <a:spcPct val="0"/>
              </a:spcBef>
              <a:spcAft>
                <a:spcPct val="0"/>
              </a:spcAft>
            </a:pPr>
            <a:r>
              <a:rPr lang="zh-CN" altLang="en-US" sz="1400" dirty="0"/>
              <a:t>经集团公司确认，由于涉黄域名：</a:t>
            </a:r>
            <a:r>
              <a:rPr lang="en-US" altLang="zh-CN" sz="1400" dirty="0"/>
              <a:t>bbs.haobi.ml</a:t>
            </a:r>
            <a:r>
              <a:rPr lang="zh-CN" altLang="en-US" sz="1400" dirty="0"/>
              <a:t>恶意指向</a:t>
            </a:r>
            <a:r>
              <a:rPr lang="en-US" altLang="zh-CN" sz="1400" dirty="0"/>
              <a:t>IP</a:t>
            </a:r>
            <a:r>
              <a:rPr lang="zh-CN" altLang="en-US" sz="1400" dirty="0"/>
              <a:t>：</a:t>
            </a:r>
            <a:r>
              <a:rPr lang="en-US" altLang="zh-CN" sz="1400" dirty="0"/>
              <a:t>54.250.120.19</a:t>
            </a:r>
            <a:r>
              <a:rPr lang="zh-CN" altLang="en-US" sz="1400" dirty="0"/>
              <a:t>导致此网页被误</a:t>
            </a:r>
            <a:r>
              <a:rPr lang="zh-CN" altLang="en-US" sz="1400" dirty="0" smtClean="0"/>
              <a:t>封，解封后可正常使用。</a:t>
            </a:r>
            <a:endParaRPr lang="zh-CN" altLang="en-US" sz="1400" kern="0" dirty="0">
              <a:solidFill>
                <a:prstClr val="black"/>
              </a:solidFill>
              <a:latin typeface="微软雅黑"/>
              <a:cs typeface="宋体" panose="02010600030101010101" pitchFamily="2" charset="-122"/>
            </a:endParaRPr>
          </a:p>
        </p:txBody>
      </p:sp>
      <p:grpSp>
        <p:nvGrpSpPr>
          <p:cNvPr id="42" name="组合 41"/>
          <p:cNvGrpSpPr/>
          <p:nvPr/>
        </p:nvGrpSpPr>
        <p:grpSpPr>
          <a:xfrm>
            <a:off x="5418832" y="3335009"/>
            <a:ext cx="1768027" cy="338554"/>
            <a:chOff x="467544" y="1437373"/>
            <a:chExt cx="1575470" cy="430162"/>
          </a:xfrm>
        </p:grpSpPr>
        <p:sp>
          <p:nvSpPr>
            <p:cNvPr id="43" name="文本框 4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经验总结</a:t>
              </a:r>
            </a:p>
          </p:txBody>
        </p:sp>
        <p:cxnSp>
          <p:nvCxnSpPr>
            <p:cNvPr id="44" name="直接连接符 4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5" name="矩形标注 4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4</a:t>
              </a:r>
              <a:endParaRPr lang="zh-CN" altLang="en-US" sz="1600" dirty="0">
                <a:solidFill>
                  <a:prstClr val="white"/>
                </a:solidFill>
                <a:latin typeface="微软雅黑"/>
              </a:endParaRPr>
            </a:p>
          </p:txBody>
        </p:sp>
      </p:grpSp>
      <p:sp>
        <p:nvSpPr>
          <p:cNvPr id="3" name="矩形 2"/>
          <p:cNvSpPr/>
          <p:nvPr/>
        </p:nvSpPr>
        <p:spPr>
          <a:xfrm>
            <a:off x="575586" y="3688700"/>
            <a:ext cx="4506502" cy="1384995"/>
          </a:xfrm>
          <a:prstGeom prst="rect">
            <a:avLst/>
          </a:prstGeom>
        </p:spPr>
        <p:txBody>
          <a:bodyPr wrap="square" lIns="91431" tIns="45715" rIns="91431" bIns="45715">
            <a:spAutoFit/>
          </a:bodyPr>
          <a:lstStyle/>
          <a:p>
            <a:pPr>
              <a:lnSpc>
                <a:spcPct val="150000"/>
              </a:lnSpc>
            </a:pPr>
            <a:r>
              <a:rPr lang="zh-CN" altLang="en-US" sz="1400" dirty="0"/>
              <a:t>用电信、联通线打开网页，可正常访问，用移动专线、</a:t>
            </a:r>
            <a:r>
              <a:rPr lang="en-US" altLang="zh-CN" sz="1400" dirty="0"/>
              <a:t>4G</a:t>
            </a:r>
            <a:r>
              <a:rPr lang="zh-CN" altLang="en-US" sz="1400" dirty="0"/>
              <a:t>、家客线均无法打开。登陆封堵系统查询，此网站域名</a:t>
            </a:r>
            <a:r>
              <a:rPr lang="en-US" altLang="zh-CN" sz="1400" dirty="0" smtClean="0"/>
              <a:t>:sdbz.isgenetic.com  </a:t>
            </a:r>
            <a:r>
              <a:rPr lang="zh-CN" altLang="en-US" sz="1400" dirty="0" smtClean="0"/>
              <a:t>暂</a:t>
            </a:r>
            <a:r>
              <a:rPr lang="zh-CN" altLang="en-US" sz="1400" dirty="0"/>
              <a:t>不在集团屏蔽列表，但对应</a:t>
            </a:r>
            <a:r>
              <a:rPr lang="en-US" altLang="zh-CN" sz="1400" dirty="0"/>
              <a:t>IP</a:t>
            </a:r>
            <a:r>
              <a:rPr lang="zh-CN" altLang="en-US" sz="1400" dirty="0"/>
              <a:t>：</a:t>
            </a:r>
            <a:r>
              <a:rPr lang="en-US" altLang="zh-CN" sz="1400" dirty="0"/>
              <a:t>54.250.120.19</a:t>
            </a:r>
            <a:r>
              <a:rPr lang="zh-CN" altLang="en-US" sz="1400" dirty="0"/>
              <a:t>在集团屏蔽列表。</a:t>
            </a:r>
            <a:endParaRPr lang="zh-CN" altLang="zh-CN" sz="1400" dirty="0"/>
          </a:p>
        </p:txBody>
      </p:sp>
      <p:sp>
        <p:nvSpPr>
          <p:cNvPr id="36" name="矩形 35"/>
          <p:cNvSpPr/>
          <p:nvPr/>
        </p:nvSpPr>
        <p:spPr>
          <a:xfrm>
            <a:off x="5418832" y="3778871"/>
            <a:ext cx="4464496" cy="1062113"/>
          </a:xfrm>
          <a:prstGeom prst="rect">
            <a:avLst/>
          </a:prstGeom>
        </p:spPr>
        <p:txBody>
          <a:bodyPr wrap="square" lIns="91431" tIns="45715" rIns="91431" bIns="45715">
            <a:spAutoFit/>
          </a:bodyPr>
          <a:lstStyle/>
          <a:p>
            <a:pPr>
              <a:lnSpc>
                <a:spcPct val="150000"/>
              </a:lnSpc>
            </a:pPr>
            <a:r>
              <a:rPr lang="zh-CN" altLang="en-US" sz="1400" dirty="0" smtClean="0"/>
              <a:t>一般只有涉及</a:t>
            </a:r>
            <a:r>
              <a:rPr lang="zh-CN" altLang="en-US" sz="1400" dirty="0"/>
              <a:t>黄赌毒等不良信息的网页才会被封堵，对于一些无不良信息的网页</a:t>
            </a:r>
            <a:r>
              <a:rPr lang="zh-CN" altLang="en-US" sz="1400" dirty="0" smtClean="0"/>
              <a:t>，会</a:t>
            </a:r>
            <a:r>
              <a:rPr lang="zh-CN" altLang="en-US" sz="1400" dirty="0"/>
              <a:t>由于域名恶意指向网页</a:t>
            </a:r>
            <a:r>
              <a:rPr lang="en-US" altLang="zh-CN" sz="1400" dirty="0" smtClean="0"/>
              <a:t>IP</a:t>
            </a:r>
            <a:r>
              <a:rPr lang="zh-CN" altLang="en-US" sz="1400" dirty="0" smtClean="0"/>
              <a:t>而导致</a:t>
            </a:r>
            <a:r>
              <a:rPr lang="zh-CN" altLang="en-US" sz="1400" dirty="0"/>
              <a:t>误封堵，一般误封堵网站均是</a:t>
            </a:r>
            <a:r>
              <a:rPr lang="en-US" altLang="zh-CN" sz="1400" dirty="0"/>
              <a:t>IP</a:t>
            </a:r>
            <a:r>
              <a:rPr lang="zh-CN" altLang="en-US" sz="1400" dirty="0"/>
              <a:t>封堵。</a:t>
            </a:r>
            <a:endParaRPr lang="en-US" altLang="zh-CN" sz="1400" dirty="0" smtClean="0"/>
          </a:p>
        </p:txBody>
      </p:sp>
      <p:pic>
        <p:nvPicPr>
          <p:cNvPr id="28" name="图片 27"/>
          <p:cNvPicPr/>
          <p:nvPr/>
        </p:nvPicPr>
        <p:blipFill>
          <a:blip r:embed="rId3" cstate="print">
            <a:extLst>
              <a:ext uri="{28A0092B-C50C-407E-A947-70E740481C1C}">
                <a14:useLocalDpi xmlns:a14="http://schemas.microsoft.com/office/drawing/2010/main" xmlns="" val="0"/>
              </a:ext>
            </a:extLst>
          </a:blip>
          <a:stretch>
            <a:fillRect/>
          </a:stretch>
        </p:blipFill>
        <p:spPr>
          <a:xfrm>
            <a:off x="947360" y="1712244"/>
            <a:ext cx="3679384" cy="1562570"/>
          </a:xfrm>
          <a:prstGeom prst="rect">
            <a:avLst/>
          </a:prstGeom>
        </p:spPr>
      </p:pic>
      <p:pic>
        <p:nvPicPr>
          <p:cNvPr id="29" name="图片 28"/>
          <p:cNvPicPr/>
          <p:nvPr/>
        </p:nvPicPr>
        <p:blipFill>
          <a:blip r:embed="rId4" cstate="print">
            <a:extLst>
              <a:ext uri="{28A0092B-C50C-407E-A947-70E740481C1C}">
                <a14:useLocalDpi xmlns:a14="http://schemas.microsoft.com/office/drawing/2010/main" xmlns="" val="0"/>
              </a:ext>
            </a:extLst>
          </a:blip>
          <a:stretch>
            <a:fillRect/>
          </a:stretch>
        </p:blipFill>
        <p:spPr>
          <a:xfrm>
            <a:off x="5458897" y="1978671"/>
            <a:ext cx="4352424" cy="1204839"/>
          </a:xfrm>
          <a:prstGeom prst="rect">
            <a:avLst/>
          </a:prstGeom>
        </p:spPr>
      </p:pic>
    </p:spTree>
    <p:extLst>
      <p:ext uri="{BB962C8B-B14F-4D97-AF65-F5344CB8AC3E}">
        <p14:creationId xmlns:p14="http://schemas.microsoft.com/office/powerpoint/2010/main" xmlns="" val="8331816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0338" y="91794"/>
            <a:ext cx="9010911" cy="294660"/>
          </a:xfrm>
          <a:prstGeom prst="rect">
            <a:avLst/>
          </a:prstGeom>
        </p:spPr>
        <p:txBody>
          <a:bodyPr lIns="91431" tIns="45715" rIns="91431"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base">
              <a:spcAft>
                <a:spcPct val="0"/>
              </a:spcAft>
            </a:pPr>
            <a:r>
              <a:rPr lang="zh-CN" altLang="en-US" sz="2400" b="1" dirty="0" smtClean="0">
                <a:solidFill>
                  <a:prstClr val="white"/>
                </a:solidFill>
                <a:latin typeface="微软雅黑"/>
              </a:rPr>
              <a:t>案例</a:t>
            </a:r>
            <a:r>
              <a:rPr lang="en-US" altLang="zh-CN" sz="2400" b="1" dirty="0" smtClean="0">
                <a:solidFill>
                  <a:prstClr val="white"/>
                </a:solidFill>
                <a:latin typeface="微软雅黑"/>
              </a:rPr>
              <a:t>4</a:t>
            </a:r>
            <a:r>
              <a:rPr lang="zh-CN" altLang="en-US" sz="2400" b="1" dirty="0" smtClean="0">
                <a:solidFill>
                  <a:prstClr val="white"/>
                </a:solidFill>
                <a:latin typeface="微软雅黑"/>
              </a:rPr>
              <a:t>：滨州家客用户</a:t>
            </a:r>
            <a:r>
              <a:rPr lang="zh-CN" altLang="en-US" sz="2400" b="1" dirty="0" smtClean="0">
                <a:solidFill>
                  <a:schemeClr val="bg1"/>
                </a:solidFill>
              </a:rPr>
              <a:t>反映迅雷游戏盒子无法注册和登陆</a:t>
            </a:r>
            <a:r>
              <a:rPr lang="zh-CN" altLang="zh-CN" sz="2400" b="1" dirty="0" smtClean="0">
                <a:solidFill>
                  <a:schemeClr val="bg1"/>
                </a:solidFill>
              </a:rPr>
              <a:t>的</a:t>
            </a:r>
            <a:r>
              <a:rPr lang="zh-CN" altLang="zh-CN" sz="2400" b="1" dirty="0">
                <a:solidFill>
                  <a:schemeClr val="bg1"/>
                </a:solidFill>
              </a:rPr>
              <a:t>案例</a:t>
            </a:r>
            <a:endParaRPr lang="zh-CN" altLang="en-US" sz="2400" b="1" dirty="0" smtClean="0">
              <a:solidFill>
                <a:schemeClr val="bg1"/>
              </a:solidFill>
              <a:latin typeface="微软雅黑"/>
            </a:endParaRPr>
          </a:p>
        </p:txBody>
      </p:sp>
      <p:sp>
        <p:nvSpPr>
          <p:cNvPr id="9" name="矩形 8"/>
          <p:cNvSpPr/>
          <p:nvPr/>
        </p:nvSpPr>
        <p:spPr>
          <a:xfrm>
            <a:off x="363071" y="591856"/>
            <a:ext cx="9616268" cy="4713851"/>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fontAlgn="base">
              <a:spcBef>
                <a:spcPct val="0"/>
              </a:spcBef>
              <a:spcAft>
                <a:spcPct val="0"/>
              </a:spcAft>
            </a:pPr>
            <a:endParaRPr lang="zh-CN" altLang="en-US">
              <a:solidFill>
                <a:prstClr val="white"/>
              </a:solidFill>
              <a:latin typeface="微软雅黑"/>
            </a:endParaRPr>
          </a:p>
        </p:txBody>
      </p:sp>
      <p:grpSp>
        <p:nvGrpSpPr>
          <p:cNvPr id="27" name="组合 26"/>
          <p:cNvGrpSpPr/>
          <p:nvPr/>
        </p:nvGrpSpPr>
        <p:grpSpPr>
          <a:xfrm>
            <a:off x="595065" y="657590"/>
            <a:ext cx="1768027" cy="338554"/>
            <a:chOff x="467544" y="1437373"/>
            <a:chExt cx="1575470" cy="430162"/>
          </a:xfrm>
        </p:grpSpPr>
        <p:sp>
          <p:nvSpPr>
            <p:cNvPr id="22"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问题现象</a:t>
              </a:r>
            </a:p>
          </p:txBody>
        </p:sp>
        <p:cxnSp>
          <p:nvCxnSpPr>
            <p:cNvPr id="20" name="直接连接符 19"/>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18" name="矩形标注 17"/>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1</a:t>
              </a:r>
              <a:endParaRPr lang="zh-CN" altLang="en-US" sz="1600" dirty="0">
                <a:solidFill>
                  <a:prstClr val="white"/>
                </a:solidFill>
                <a:latin typeface="微软雅黑"/>
              </a:endParaRPr>
            </a:p>
          </p:txBody>
        </p:sp>
      </p:grpSp>
      <p:sp>
        <p:nvSpPr>
          <p:cNvPr id="26" name="矩形 25"/>
          <p:cNvSpPr/>
          <p:nvPr/>
        </p:nvSpPr>
        <p:spPr>
          <a:xfrm>
            <a:off x="522288" y="951975"/>
            <a:ext cx="4752528" cy="738654"/>
          </a:xfrm>
          <a:prstGeom prst="rect">
            <a:avLst/>
          </a:prstGeom>
          <a:noFill/>
        </p:spPr>
        <p:txBody>
          <a:bodyPr wrap="square" lIns="91431" tIns="45715" rIns="91431" bIns="45715">
            <a:spAutoFit/>
          </a:bodyPr>
          <a:lstStyle/>
          <a:p>
            <a:pPr>
              <a:lnSpc>
                <a:spcPct val="150000"/>
              </a:lnSpc>
            </a:pPr>
            <a:r>
              <a:rPr lang="zh-CN" altLang="zh-CN" sz="1400" dirty="0"/>
              <a:t>滨州某家客用户</a:t>
            </a:r>
            <a:r>
              <a:rPr lang="zh-CN" altLang="zh-CN" sz="1400" dirty="0" smtClean="0"/>
              <a:t>反映</a:t>
            </a:r>
            <a:r>
              <a:rPr lang="zh-CN" altLang="en-US" sz="1400" dirty="0" smtClean="0"/>
              <a:t>使用</a:t>
            </a:r>
            <a:r>
              <a:rPr lang="zh-CN" altLang="en-US" sz="1400" dirty="0"/>
              <a:t>客户端迅雷游戏盒子无法</a:t>
            </a:r>
            <a:r>
              <a:rPr lang="zh-CN" altLang="en-US" sz="1400" dirty="0" smtClean="0"/>
              <a:t>注册、也无法登陆</a:t>
            </a:r>
            <a:r>
              <a:rPr lang="zh-CN" altLang="en-US" sz="1400" dirty="0"/>
              <a:t>。</a:t>
            </a:r>
            <a:endParaRPr lang="zh-CN" altLang="zh-CN" sz="1400" dirty="0"/>
          </a:p>
        </p:txBody>
      </p:sp>
      <p:grpSp>
        <p:nvGrpSpPr>
          <p:cNvPr id="32" name="组合 31"/>
          <p:cNvGrpSpPr/>
          <p:nvPr/>
        </p:nvGrpSpPr>
        <p:grpSpPr>
          <a:xfrm>
            <a:off x="546119" y="3335009"/>
            <a:ext cx="1768027" cy="338554"/>
            <a:chOff x="467544" y="1437373"/>
            <a:chExt cx="1575470" cy="430162"/>
          </a:xfrm>
        </p:grpSpPr>
        <p:sp>
          <p:nvSpPr>
            <p:cNvPr id="33" name="文本框 3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根本</a:t>
              </a:r>
              <a:r>
                <a:rPr lang="zh-CN" altLang="en-US" sz="1600" b="1" dirty="0" smtClean="0">
                  <a:solidFill>
                    <a:prstClr val="black"/>
                  </a:solidFill>
                  <a:latin typeface="微软雅黑"/>
                </a:rPr>
                <a:t>原因</a:t>
              </a:r>
              <a:endParaRPr lang="zh-CN" altLang="en-US" sz="1600" b="1" dirty="0">
                <a:solidFill>
                  <a:prstClr val="black"/>
                </a:solidFill>
                <a:latin typeface="微软雅黑"/>
              </a:endParaRPr>
            </a:p>
          </p:txBody>
        </p:sp>
        <p:cxnSp>
          <p:nvCxnSpPr>
            <p:cNvPr id="34" name="直接连接符 3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5" name="矩形标注 3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2</a:t>
              </a:r>
              <a:endParaRPr lang="zh-CN" altLang="en-US" sz="1600" dirty="0">
                <a:solidFill>
                  <a:prstClr val="white"/>
                </a:solidFill>
                <a:latin typeface="微软雅黑"/>
              </a:endParaRPr>
            </a:p>
          </p:txBody>
        </p:sp>
      </p:grpSp>
      <p:grpSp>
        <p:nvGrpSpPr>
          <p:cNvPr id="37" name="组合 36"/>
          <p:cNvGrpSpPr/>
          <p:nvPr/>
        </p:nvGrpSpPr>
        <p:grpSpPr>
          <a:xfrm>
            <a:off x="5777273" y="761874"/>
            <a:ext cx="1768027" cy="338554"/>
            <a:chOff x="467544" y="1437373"/>
            <a:chExt cx="1575470" cy="430162"/>
          </a:xfrm>
        </p:grpSpPr>
        <p:sp>
          <p:nvSpPr>
            <p:cNvPr id="38" name="文本框 37"/>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解决措施</a:t>
              </a:r>
            </a:p>
          </p:txBody>
        </p:sp>
        <p:cxnSp>
          <p:nvCxnSpPr>
            <p:cNvPr id="39" name="直接连接符 38"/>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0" name="矩形标注 39"/>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3</a:t>
              </a:r>
              <a:endParaRPr lang="zh-CN" altLang="en-US" sz="1600" dirty="0">
                <a:solidFill>
                  <a:prstClr val="white"/>
                </a:solidFill>
                <a:latin typeface="微软雅黑"/>
              </a:endParaRPr>
            </a:p>
          </p:txBody>
        </p:sp>
      </p:grpSp>
      <p:sp>
        <p:nvSpPr>
          <p:cNvPr id="41" name="矩形 40"/>
          <p:cNvSpPr/>
          <p:nvPr/>
        </p:nvSpPr>
        <p:spPr>
          <a:xfrm>
            <a:off x="5696463" y="1095991"/>
            <a:ext cx="4256361" cy="738654"/>
          </a:xfrm>
          <a:prstGeom prst="rect">
            <a:avLst/>
          </a:prstGeom>
          <a:noFill/>
        </p:spPr>
        <p:txBody>
          <a:bodyPr wrap="square" lIns="91431" tIns="45715" rIns="91431" bIns="45715">
            <a:spAutoFit/>
          </a:bodyPr>
          <a:lstStyle/>
          <a:p>
            <a:pPr fontAlgn="base">
              <a:lnSpc>
                <a:spcPct val="150000"/>
              </a:lnSpc>
              <a:spcBef>
                <a:spcPct val="0"/>
              </a:spcBef>
              <a:spcAft>
                <a:spcPct val="0"/>
              </a:spcAft>
            </a:pPr>
            <a:r>
              <a:rPr lang="zh-CN" altLang="en-US" sz="1400" dirty="0" smtClean="0"/>
              <a:t>确认是客户端</a:t>
            </a:r>
            <a:r>
              <a:rPr lang="zh-CN" altLang="en-US" sz="1400" dirty="0"/>
              <a:t>服务器地址的互联互通问题，由于三方出口不稳定，经调整路由后可正常使用游戏。</a:t>
            </a:r>
            <a:endParaRPr lang="zh-CN" altLang="en-US" sz="1400" kern="0" dirty="0">
              <a:solidFill>
                <a:prstClr val="black"/>
              </a:solidFill>
              <a:latin typeface="微软雅黑"/>
              <a:cs typeface="宋体" panose="02010600030101010101" pitchFamily="2" charset="-122"/>
            </a:endParaRPr>
          </a:p>
        </p:txBody>
      </p:sp>
      <p:grpSp>
        <p:nvGrpSpPr>
          <p:cNvPr id="42" name="组合 41"/>
          <p:cNvGrpSpPr/>
          <p:nvPr/>
        </p:nvGrpSpPr>
        <p:grpSpPr>
          <a:xfrm>
            <a:off x="5706865" y="3562846"/>
            <a:ext cx="1768027" cy="338554"/>
            <a:chOff x="467544" y="1437373"/>
            <a:chExt cx="1575470" cy="486087"/>
          </a:xfrm>
        </p:grpSpPr>
        <p:sp>
          <p:nvSpPr>
            <p:cNvPr id="43" name="文本框 42"/>
            <p:cNvSpPr txBox="1"/>
            <p:nvPr/>
          </p:nvSpPr>
          <p:spPr>
            <a:xfrm>
              <a:off x="839492" y="1437373"/>
              <a:ext cx="895904" cy="486087"/>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经验总结</a:t>
              </a:r>
            </a:p>
          </p:txBody>
        </p:sp>
        <p:cxnSp>
          <p:nvCxnSpPr>
            <p:cNvPr id="44" name="直接连接符 4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5" name="矩形标注 4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4</a:t>
              </a:r>
              <a:endParaRPr lang="zh-CN" altLang="en-US" sz="1600" dirty="0">
                <a:solidFill>
                  <a:prstClr val="white"/>
                </a:solidFill>
                <a:latin typeface="微软雅黑"/>
              </a:endParaRPr>
            </a:p>
          </p:txBody>
        </p:sp>
      </p:grpSp>
      <p:sp>
        <p:nvSpPr>
          <p:cNvPr id="3" name="矩形 2"/>
          <p:cNvSpPr/>
          <p:nvPr/>
        </p:nvSpPr>
        <p:spPr>
          <a:xfrm>
            <a:off x="575586" y="3688700"/>
            <a:ext cx="4771238" cy="1384995"/>
          </a:xfrm>
          <a:prstGeom prst="rect">
            <a:avLst/>
          </a:prstGeom>
        </p:spPr>
        <p:txBody>
          <a:bodyPr wrap="square" lIns="91431" tIns="45715" rIns="91431" bIns="45715">
            <a:spAutoFit/>
          </a:bodyPr>
          <a:lstStyle/>
          <a:p>
            <a:pPr>
              <a:lnSpc>
                <a:spcPct val="150000"/>
              </a:lnSpc>
            </a:pPr>
            <a:r>
              <a:rPr lang="en-US" altLang="zh-CN" sz="1400" dirty="0" smtClean="0"/>
              <a:t>1</a:t>
            </a:r>
            <a:r>
              <a:rPr lang="zh-CN" altLang="en-US" sz="1400" dirty="0" smtClean="0"/>
              <a:t>、使用</a:t>
            </a:r>
            <a:r>
              <a:rPr lang="zh-CN" altLang="en-US" sz="1400" dirty="0"/>
              <a:t>联通线打开游戏盒子和正常注册和登陆。</a:t>
            </a:r>
          </a:p>
          <a:p>
            <a:pPr>
              <a:lnSpc>
                <a:spcPct val="150000"/>
              </a:lnSpc>
            </a:pPr>
            <a:r>
              <a:rPr lang="en-US" altLang="zh-CN" sz="1400" dirty="0"/>
              <a:t>2</a:t>
            </a:r>
            <a:r>
              <a:rPr lang="zh-CN" altLang="en-US" sz="1400" dirty="0"/>
              <a:t>、现场测速、测光正常，打开其它网页、视频使用均正常。</a:t>
            </a:r>
          </a:p>
          <a:p>
            <a:pPr>
              <a:lnSpc>
                <a:spcPct val="150000"/>
              </a:lnSpc>
            </a:pPr>
            <a:r>
              <a:rPr lang="en-US" altLang="zh-CN" sz="1400" dirty="0" smtClean="0"/>
              <a:t>3</a:t>
            </a:r>
            <a:r>
              <a:rPr lang="zh-CN" altLang="en-US" sz="1400" dirty="0" smtClean="0"/>
              <a:t>、抓取</a:t>
            </a:r>
            <a:r>
              <a:rPr lang="zh-CN" altLang="en-US" sz="1400" dirty="0"/>
              <a:t>服务器地址是：</a:t>
            </a:r>
            <a:r>
              <a:rPr lang="en-US" altLang="zh-CN" sz="1400" dirty="0"/>
              <a:t>125.39.36.105</a:t>
            </a:r>
            <a:r>
              <a:rPr lang="zh-CN" altLang="en-US" sz="1400" dirty="0"/>
              <a:t>，属于联通地址，</a:t>
            </a:r>
            <a:r>
              <a:rPr lang="en-US" altLang="zh-CN" sz="1400" dirty="0" err="1"/>
              <a:t>tracert</a:t>
            </a:r>
            <a:r>
              <a:rPr lang="zh-CN" altLang="en-US" sz="1400" dirty="0"/>
              <a:t>路由走三方出口地址</a:t>
            </a:r>
            <a:r>
              <a:rPr lang="en-US" altLang="zh-CN" sz="1400" dirty="0" smtClean="0"/>
              <a:t>222.43.106.57</a:t>
            </a:r>
            <a:r>
              <a:rPr lang="zh-CN" altLang="en-US" sz="1400" dirty="0" smtClean="0"/>
              <a:t>后不通。</a:t>
            </a:r>
            <a:endParaRPr lang="zh-CN" altLang="en-US" sz="1400" dirty="0"/>
          </a:p>
        </p:txBody>
      </p:sp>
      <p:sp>
        <p:nvSpPr>
          <p:cNvPr id="36" name="矩形 35"/>
          <p:cNvSpPr/>
          <p:nvPr/>
        </p:nvSpPr>
        <p:spPr>
          <a:xfrm>
            <a:off x="5601962" y="3850878"/>
            <a:ext cx="4281366" cy="1384995"/>
          </a:xfrm>
          <a:prstGeom prst="rect">
            <a:avLst/>
          </a:prstGeom>
        </p:spPr>
        <p:txBody>
          <a:bodyPr wrap="square" lIns="91431" tIns="45715" rIns="91431" bIns="45715">
            <a:spAutoFit/>
          </a:bodyPr>
          <a:lstStyle/>
          <a:p>
            <a:pPr>
              <a:lnSpc>
                <a:spcPct val="150000"/>
              </a:lnSpc>
            </a:pPr>
            <a:r>
              <a:rPr lang="zh-CN" altLang="en-US" sz="1400" dirty="0" smtClean="0"/>
              <a:t>    游戏问题一般分为两种，一种是游戏卡顿，另一种是游戏无法登陆和注册。</a:t>
            </a:r>
            <a:endParaRPr lang="en-US" altLang="zh-CN" sz="1400" dirty="0" smtClean="0"/>
          </a:p>
          <a:p>
            <a:pPr>
              <a:lnSpc>
                <a:spcPct val="150000"/>
              </a:lnSpc>
            </a:pPr>
            <a:r>
              <a:rPr lang="en-US" altLang="zh-CN" sz="1400" dirty="0"/>
              <a:t> </a:t>
            </a:r>
            <a:r>
              <a:rPr lang="en-US" altLang="zh-CN" sz="1400" dirty="0" smtClean="0"/>
              <a:t>   </a:t>
            </a:r>
            <a:r>
              <a:rPr lang="zh-CN" altLang="en-US" sz="1400" dirty="0" smtClean="0"/>
              <a:t>对于无法登陆和注册的，多数是由于路由不通引起，可进行路由调整。</a:t>
            </a:r>
            <a:endParaRPr lang="zh-CN" altLang="en-US" sz="1400" dirty="0"/>
          </a:p>
        </p:txBody>
      </p:sp>
      <p:pic>
        <p:nvPicPr>
          <p:cNvPr id="28" name="图片 27"/>
          <p:cNvPicPr/>
          <p:nvPr/>
        </p:nvPicPr>
        <p:blipFill>
          <a:blip r:embed="rId3" cstate="print">
            <a:extLst>
              <a:ext uri="{28A0092B-C50C-407E-A947-70E740481C1C}">
                <a14:useLocalDpi xmlns:a14="http://schemas.microsoft.com/office/drawing/2010/main" xmlns="" val="0"/>
              </a:ext>
            </a:extLst>
          </a:blip>
          <a:stretch>
            <a:fillRect/>
          </a:stretch>
        </p:blipFill>
        <p:spPr>
          <a:xfrm>
            <a:off x="595066" y="1690638"/>
            <a:ext cx="4487022" cy="1512168"/>
          </a:xfrm>
          <a:prstGeom prst="rect">
            <a:avLst/>
          </a:prstGeom>
        </p:spPr>
      </p:pic>
      <p:pic>
        <p:nvPicPr>
          <p:cNvPr id="29" name="图片 28"/>
          <p:cNvPicPr/>
          <p:nvPr/>
        </p:nvPicPr>
        <p:blipFill>
          <a:blip r:embed="rId4" cstate="print">
            <a:extLst>
              <a:ext uri="{28A0092B-C50C-407E-A947-70E740481C1C}">
                <a14:useLocalDpi xmlns:a14="http://schemas.microsoft.com/office/drawing/2010/main" xmlns="" val="0"/>
              </a:ext>
            </a:extLst>
          </a:blip>
          <a:stretch>
            <a:fillRect/>
          </a:stretch>
        </p:blipFill>
        <p:spPr>
          <a:xfrm>
            <a:off x="5922888" y="1834655"/>
            <a:ext cx="3672408" cy="1656184"/>
          </a:xfrm>
          <a:prstGeom prst="rect">
            <a:avLst/>
          </a:prstGeom>
        </p:spPr>
      </p:pic>
    </p:spTree>
    <p:extLst>
      <p:ext uri="{BB962C8B-B14F-4D97-AF65-F5344CB8AC3E}">
        <p14:creationId xmlns:p14="http://schemas.microsoft.com/office/powerpoint/2010/main" xmlns="" val="4269395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0338" y="91794"/>
            <a:ext cx="9010911" cy="294660"/>
          </a:xfrm>
          <a:prstGeom prst="rect">
            <a:avLst/>
          </a:prstGeom>
        </p:spPr>
        <p:txBody>
          <a:bodyPr lIns="91431" tIns="45715" rIns="91431"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base">
              <a:spcAft>
                <a:spcPct val="0"/>
              </a:spcAft>
            </a:pPr>
            <a:r>
              <a:rPr lang="zh-CN" altLang="en-US" sz="2400" b="1" dirty="0" smtClean="0">
                <a:solidFill>
                  <a:prstClr val="white"/>
                </a:solidFill>
                <a:latin typeface="微软雅黑"/>
              </a:rPr>
              <a:t>案例</a:t>
            </a:r>
            <a:r>
              <a:rPr lang="en-US" altLang="zh-CN" sz="2400" b="1" dirty="0" smtClean="0">
                <a:solidFill>
                  <a:prstClr val="white"/>
                </a:solidFill>
                <a:latin typeface="微软雅黑"/>
              </a:rPr>
              <a:t>5</a:t>
            </a:r>
            <a:r>
              <a:rPr lang="zh-CN" altLang="en-US" sz="2400" b="1" dirty="0" smtClean="0">
                <a:solidFill>
                  <a:prstClr val="white"/>
                </a:solidFill>
                <a:latin typeface="微软雅黑"/>
              </a:rPr>
              <a:t>：滨州家客用户</a:t>
            </a:r>
            <a:r>
              <a:rPr lang="zh-CN" altLang="en-US" sz="2400" b="1" dirty="0" smtClean="0">
                <a:solidFill>
                  <a:schemeClr val="bg1"/>
                </a:solidFill>
              </a:rPr>
              <a:t>反映网速慢的处理</a:t>
            </a:r>
            <a:r>
              <a:rPr lang="zh-CN" altLang="zh-CN" sz="2400" b="1" dirty="0" smtClean="0">
                <a:solidFill>
                  <a:schemeClr val="bg1"/>
                </a:solidFill>
              </a:rPr>
              <a:t>案例</a:t>
            </a:r>
            <a:endParaRPr lang="zh-CN" altLang="en-US" sz="2400" b="1" dirty="0" smtClean="0">
              <a:solidFill>
                <a:schemeClr val="bg1"/>
              </a:solidFill>
              <a:latin typeface="微软雅黑"/>
            </a:endParaRPr>
          </a:p>
        </p:txBody>
      </p:sp>
      <p:sp>
        <p:nvSpPr>
          <p:cNvPr id="9" name="矩形 8"/>
          <p:cNvSpPr/>
          <p:nvPr/>
        </p:nvSpPr>
        <p:spPr>
          <a:xfrm>
            <a:off x="363071" y="591856"/>
            <a:ext cx="9616268" cy="4713851"/>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fontAlgn="base">
              <a:spcBef>
                <a:spcPct val="0"/>
              </a:spcBef>
              <a:spcAft>
                <a:spcPct val="0"/>
              </a:spcAft>
            </a:pPr>
            <a:endParaRPr lang="zh-CN" altLang="en-US">
              <a:solidFill>
                <a:prstClr val="white"/>
              </a:solidFill>
              <a:latin typeface="微软雅黑"/>
            </a:endParaRPr>
          </a:p>
        </p:txBody>
      </p:sp>
      <p:grpSp>
        <p:nvGrpSpPr>
          <p:cNvPr id="27" name="组合 26"/>
          <p:cNvGrpSpPr/>
          <p:nvPr/>
        </p:nvGrpSpPr>
        <p:grpSpPr>
          <a:xfrm>
            <a:off x="595065" y="657590"/>
            <a:ext cx="1768027" cy="338554"/>
            <a:chOff x="467544" y="1437373"/>
            <a:chExt cx="1575470" cy="430162"/>
          </a:xfrm>
        </p:grpSpPr>
        <p:sp>
          <p:nvSpPr>
            <p:cNvPr id="22"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问题现象</a:t>
              </a:r>
            </a:p>
          </p:txBody>
        </p:sp>
        <p:cxnSp>
          <p:nvCxnSpPr>
            <p:cNvPr id="20" name="直接连接符 19"/>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18" name="矩形标注 17"/>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1</a:t>
              </a:r>
              <a:endParaRPr lang="zh-CN" altLang="en-US" sz="1600" dirty="0">
                <a:solidFill>
                  <a:prstClr val="white"/>
                </a:solidFill>
                <a:latin typeface="微软雅黑"/>
              </a:endParaRPr>
            </a:p>
          </p:txBody>
        </p:sp>
      </p:grpSp>
      <p:sp>
        <p:nvSpPr>
          <p:cNvPr id="26" name="矩形 25"/>
          <p:cNvSpPr/>
          <p:nvPr/>
        </p:nvSpPr>
        <p:spPr>
          <a:xfrm>
            <a:off x="681123" y="948269"/>
            <a:ext cx="4539736" cy="1062113"/>
          </a:xfrm>
          <a:prstGeom prst="rect">
            <a:avLst/>
          </a:prstGeom>
          <a:noFill/>
        </p:spPr>
        <p:txBody>
          <a:bodyPr wrap="square" lIns="91431" tIns="45715" rIns="91431" bIns="45715">
            <a:spAutoFit/>
          </a:bodyPr>
          <a:lstStyle/>
          <a:p>
            <a:pPr>
              <a:lnSpc>
                <a:spcPct val="150000"/>
              </a:lnSpc>
            </a:pPr>
            <a:r>
              <a:rPr lang="zh-CN" altLang="en-US" sz="1400" dirty="0" smtClean="0"/>
              <a:t>    滨</a:t>
            </a:r>
            <a:r>
              <a:rPr lang="zh-CN" altLang="en-US" sz="1400" dirty="0"/>
              <a:t>州家客用户</a:t>
            </a:r>
            <a:r>
              <a:rPr lang="zh-CN" altLang="en-US" sz="1400" dirty="0" smtClean="0"/>
              <a:t>反映使用</a:t>
            </a:r>
            <a:r>
              <a:rPr lang="zh-CN" altLang="en-US" sz="1400" dirty="0"/>
              <a:t>移动宽带全天时间段</a:t>
            </a:r>
            <a:r>
              <a:rPr lang="zh-CN" altLang="en-US" sz="1400" dirty="0" smtClean="0"/>
              <a:t>上网打开任何网站、视频都慢、卡顿，晚上尤其严重，</a:t>
            </a:r>
            <a:r>
              <a:rPr lang="zh-CN" altLang="en-US" sz="1400" dirty="0"/>
              <a:t>用和</a:t>
            </a:r>
            <a:r>
              <a:rPr lang="en-US" altLang="zh-CN" sz="1400" dirty="0"/>
              <a:t>TV</a:t>
            </a:r>
            <a:r>
              <a:rPr lang="zh-CN" altLang="en-US" sz="1400" dirty="0"/>
              <a:t>看</a:t>
            </a:r>
            <a:r>
              <a:rPr lang="zh-CN" altLang="en-US" sz="1400" dirty="0" smtClean="0"/>
              <a:t>直播缓冲时间长、卡顿，</a:t>
            </a:r>
            <a:r>
              <a:rPr lang="zh-CN" altLang="en-US" sz="1400" dirty="0"/>
              <a:t>点播无法观看。</a:t>
            </a:r>
            <a:endParaRPr lang="zh-CN" altLang="zh-CN" sz="1400" dirty="0"/>
          </a:p>
        </p:txBody>
      </p:sp>
      <p:grpSp>
        <p:nvGrpSpPr>
          <p:cNvPr id="32" name="组合 31"/>
          <p:cNvGrpSpPr/>
          <p:nvPr/>
        </p:nvGrpSpPr>
        <p:grpSpPr>
          <a:xfrm>
            <a:off x="576293" y="3431197"/>
            <a:ext cx="1768027" cy="338554"/>
            <a:chOff x="467544" y="1437373"/>
            <a:chExt cx="1575470" cy="430162"/>
          </a:xfrm>
        </p:grpSpPr>
        <p:sp>
          <p:nvSpPr>
            <p:cNvPr id="33" name="文本框 3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根本</a:t>
              </a:r>
              <a:r>
                <a:rPr lang="zh-CN" altLang="en-US" sz="1600" b="1" dirty="0" smtClean="0">
                  <a:solidFill>
                    <a:prstClr val="black"/>
                  </a:solidFill>
                  <a:latin typeface="微软雅黑"/>
                </a:rPr>
                <a:t>原因</a:t>
              </a:r>
              <a:endParaRPr lang="zh-CN" altLang="en-US" sz="1600" b="1" dirty="0">
                <a:solidFill>
                  <a:prstClr val="black"/>
                </a:solidFill>
                <a:latin typeface="微软雅黑"/>
              </a:endParaRPr>
            </a:p>
          </p:txBody>
        </p:sp>
        <p:cxnSp>
          <p:nvCxnSpPr>
            <p:cNvPr id="34" name="直接连接符 3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5" name="矩形标注 3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3</a:t>
              </a:r>
              <a:endParaRPr lang="zh-CN" altLang="en-US" sz="1600" dirty="0">
                <a:solidFill>
                  <a:prstClr val="white"/>
                </a:solidFill>
                <a:latin typeface="微软雅黑"/>
              </a:endParaRPr>
            </a:p>
          </p:txBody>
        </p:sp>
      </p:grpSp>
      <p:grpSp>
        <p:nvGrpSpPr>
          <p:cNvPr id="37" name="组合 36"/>
          <p:cNvGrpSpPr/>
          <p:nvPr/>
        </p:nvGrpSpPr>
        <p:grpSpPr>
          <a:xfrm>
            <a:off x="5202809" y="682526"/>
            <a:ext cx="1768027" cy="338554"/>
            <a:chOff x="467544" y="1437373"/>
            <a:chExt cx="1575470" cy="430162"/>
          </a:xfrm>
        </p:grpSpPr>
        <p:sp>
          <p:nvSpPr>
            <p:cNvPr id="38" name="文本框 37"/>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解决措施</a:t>
              </a:r>
            </a:p>
          </p:txBody>
        </p:sp>
        <p:cxnSp>
          <p:nvCxnSpPr>
            <p:cNvPr id="39" name="直接连接符 38"/>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0" name="矩形标注 39"/>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4</a:t>
              </a:r>
              <a:endParaRPr lang="zh-CN" altLang="en-US" sz="1600" dirty="0">
                <a:solidFill>
                  <a:prstClr val="white"/>
                </a:solidFill>
                <a:latin typeface="微软雅黑"/>
              </a:endParaRPr>
            </a:p>
          </p:txBody>
        </p:sp>
      </p:grpSp>
      <p:sp>
        <p:nvSpPr>
          <p:cNvPr id="41" name="矩形 40"/>
          <p:cNvSpPr/>
          <p:nvPr/>
        </p:nvSpPr>
        <p:spPr>
          <a:xfrm>
            <a:off x="5130801" y="1011542"/>
            <a:ext cx="4704523" cy="2031325"/>
          </a:xfrm>
          <a:prstGeom prst="rect">
            <a:avLst/>
          </a:prstGeom>
          <a:noFill/>
        </p:spPr>
        <p:txBody>
          <a:bodyPr wrap="square" lIns="91431" tIns="45715" rIns="91431" bIns="45715">
            <a:spAutoFit/>
          </a:bodyPr>
          <a:lstStyle/>
          <a:p>
            <a:pPr>
              <a:lnSpc>
                <a:spcPct val="150000"/>
              </a:lnSpc>
            </a:pPr>
            <a:r>
              <a:rPr lang="en-US" altLang="zh-CN" sz="1400" dirty="0"/>
              <a:t> </a:t>
            </a:r>
            <a:r>
              <a:rPr lang="en-US" altLang="zh-CN" sz="1400" dirty="0" smtClean="0"/>
              <a:t>1</a:t>
            </a:r>
            <a:r>
              <a:rPr lang="zh-CN" altLang="en-US" sz="1400" dirty="0" smtClean="0"/>
              <a:t>、</a:t>
            </a:r>
            <a:r>
              <a:rPr lang="zh-CN" altLang="en-US" sz="1400" dirty="0"/>
              <a:t>摘掉路由器将光猫直连电脑测试，网页打开显示全面，视频播放无卡顿。</a:t>
            </a:r>
          </a:p>
          <a:p>
            <a:pPr>
              <a:lnSpc>
                <a:spcPct val="150000"/>
              </a:lnSpc>
            </a:pPr>
            <a:r>
              <a:rPr lang="en-US" altLang="zh-CN" sz="1400" dirty="0" smtClean="0"/>
              <a:t>2</a:t>
            </a:r>
            <a:r>
              <a:rPr lang="zh-CN" altLang="en-US" sz="1400" dirty="0" smtClean="0"/>
              <a:t>、</a:t>
            </a:r>
            <a:r>
              <a:rPr lang="zh-CN" altLang="en-US" sz="1400" dirty="0"/>
              <a:t>连接路由器测试电脑，网页、视频打开均正常，和</a:t>
            </a:r>
            <a:r>
              <a:rPr lang="en-US" altLang="zh-CN" sz="1400" dirty="0"/>
              <a:t>TV</a:t>
            </a:r>
            <a:r>
              <a:rPr lang="zh-CN" altLang="en-US" sz="1400" dirty="0"/>
              <a:t>直播换台时缓冲时间较长。</a:t>
            </a:r>
          </a:p>
          <a:p>
            <a:pPr fontAlgn="base">
              <a:lnSpc>
                <a:spcPct val="150000"/>
              </a:lnSpc>
              <a:spcBef>
                <a:spcPct val="0"/>
              </a:spcBef>
              <a:spcAft>
                <a:spcPct val="0"/>
              </a:spcAft>
            </a:pPr>
            <a:r>
              <a:rPr lang="en-US" altLang="zh-CN" sz="1400" dirty="0" smtClean="0"/>
              <a:t>  3</a:t>
            </a:r>
            <a:r>
              <a:rPr lang="zh-CN" altLang="en-US" sz="1400" dirty="0" smtClean="0"/>
              <a:t>、将</a:t>
            </a:r>
            <a:r>
              <a:rPr lang="zh-CN" altLang="en-US" sz="1400" dirty="0"/>
              <a:t>机顶盒与路由器有线连接后，看直播有好转但是点播无法观看，恢复机顶盒出厂设置后可正常观看。</a:t>
            </a:r>
          </a:p>
        </p:txBody>
      </p:sp>
      <p:grpSp>
        <p:nvGrpSpPr>
          <p:cNvPr id="42" name="组合 41"/>
          <p:cNvGrpSpPr/>
          <p:nvPr/>
        </p:nvGrpSpPr>
        <p:grpSpPr>
          <a:xfrm>
            <a:off x="5162974" y="3080276"/>
            <a:ext cx="1768027" cy="338554"/>
            <a:chOff x="467544" y="1437373"/>
            <a:chExt cx="1575470" cy="486087"/>
          </a:xfrm>
        </p:grpSpPr>
        <p:sp>
          <p:nvSpPr>
            <p:cNvPr id="43" name="文本框 42"/>
            <p:cNvSpPr txBox="1"/>
            <p:nvPr/>
          </p:nvSpPr>
          <p:spPr>
            <a:xfrm>
              <a:off x="839492" y="1437373"/>
              <a:ext cx="895904" cy="486087"/>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经验总结</a:t>
              </a:r>
            </a:p>
          </p:txBody>
        </p:sp>
        <p:cxnSp>
          <p:nvCxnSpPr>
            <p:cNvPr id="44" name="直接连接符 4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5" name="矩形标注 4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5</a:t>
              </a:r>
              <a:endParaRPr lang="zh-CN" altLang="en-US" sz="1600" dirty="0">
                <a:solidFill>
                  <a:prstClr val="white"/>
                </a:solidFill>
                <a:latin typeface="微软雅黑"/>
              </a:endParaRPr>
            </a:p>
          </p:txBody>
        </p:sp>
      </p:grpSp>
      <p:sp>
        <p:nvSpPr>
          <p:cNvPr id="3" name="矩形 2"/>
          <p:cNvSpPr/>
          <p:nvPr/>
        </p:nvSpPr>
        <p:spPr>
          <a:xfrm>
            <a:off x="595067" y="3719230"/>
            <a:ext cx="4506502" cy="1384995"/>
          </a:xfrm>
          <a:prstGeom prst="rect">
            <a:avLst/>
          </a:prstGeom>
        </p:spPr>
        <p:txBody>
          <a:bodyPr wrap="square" lIns="91431" tIns="45715" rIns="91431" bIns="45715">
            <a:spAutoFit/>
          </a:bodyPr>
          <a:lstStyle/>
          <a:p>
            <a:pPr>
              <a:lnSpc>
                <a:spcPct val="150000"/>
              </a:lnSpc>
            </a:pPr>
            <a:r>
              <a:rPr lang="en-US" altLang="zh-CN" sz="1400" dirty="0"/>
              <a:t>1</a:t>
            </a:r>
            <a:r>
              <a:rPr lang="zh-CN" altLang="en-US" sz="1400" dirty="0"/>
              <a:t>、现场测速、</a:t>
            </a:r>
            <a:r>
              <a:rPr lang="zh-CN" altLang="en-US" sz="1400" dirty="0" smtClean="0"/>
              <a:t>测光均正常</a:t>
            </a:r>
            <a:r>
              <a:rPr lang="zh-CN" altLang="en-US" sz="1400" dirty="0"/>
              <a:t>。</a:t>
            </a:r>
          </a:p>
          <a:p>
            <a:pPr>
              <a:lnSpc>
                <a:spcPct val="150000"/>
              </a:lnSpc>
            </a:pPr>
            <a:r>
              <a:rPr lang="en-US" altLang="zh-CN" sz="1400" dirty="0"/>
              <a:t>2</a:t>
            </a:r>
            <a:r>
              <a:rPr lang="zh-CN" altLang="en-US" sz="1400" dirty="0" smtClean="0"/>
              <a:t>、现场查看用户路由器与电脑放置在卧室，和</a:t>
            </a:r>
            <a:r>
              <a:rPr lang="en-US" altLang="zh-CN" sz="1400" dirty="0" smtClean="0"/>
              <a:t>TV</a:t>
            </a:r>
            <a:r>
              <a:rPr lang="zh-CN" altLang="en-US" sz="1400" dirty="0" smtClean="0"/>
              <a:t>在客厅通过无线连接路由器，距离较远，有墙阻挡，信号较弱是造成和</a:t>
            </a:r>
            <a:r>
              <a:rPr lang="en-US" altLang="zh-CN" sz="1400" dirty="0" smtClean="0"/>
              <a:t>TV</a:t>
            </a:r>
            <a:r>
              <a:rPr lang="zh-CN" altLang="en-US" sz="1400" dirty="0" smtClean="0"/>
              <a:t>直播缓冲时间较长的主要因素。</a:t>
            </a:r>
            <a:endParaRPr lang="en-US" altLang="zh-CN" sz="1400" dirty="0" smtClean="0"/>
          </a:p>
        </p:txBody>
      </p:sp>
      <p:sp>
        <p:nvSpPr>
          <p:cNvPr id="36" name="矩形 35"/>
          <p:cNvSpPr/>
          <p:nvPr/>
        </p:nvSpPr>
        <p:spPr>
          <a:xfrm>
            <a:off x="5130800" y="3346822"/>
            <a:ext cx="4824536" cy="1708160"/>
          </a:xfrm>
          <a:prstGeom prst="rect">
            <a:avLst/>
          </a:prstGeom>
        </p:spPr>
        <p:txBody>
          <a:bodyPr wrap="square" lIns="91431" tIns="45715" rIns="91431" bIns="45715">
            <a:spAutoFit/>
          </a:bodyPr>
          <a:lstStyle/>
          <a:p>
            <a:pPr>
              <a:lnSpc>
                <a:spcPct val="150000"/>
              </a:lnSpc>
            </a:pPr>
            <a:r>
              <a:rPr lang="zh-CN" altLang="en-US" sz="1400" dirty="0" smtClean="0"/>
              <a:t>    </a:t>
            </a:r>
            <a:r>
              <a:rPr lang="zh-CN" altLang="en-US" sz="1400" dirty="0"/>
              <a:t>一般用户反映网速慢，打开所有</a:t>
            </a:r>
            <a:r>
              <a:rPr lang="zh-CN" altLang="en-US" sz="1400" dirty="0" smtClean="0"/>
              <a:t>网站、视频都很慢，</a:t>
            </a:r>
            <a:r>
              <a:rPr lang="zh-CN" altLang="en-US" sz="1400" dirty="0"/>
              <a:t>在测速、测光正常的情况下，多数是路由器原因</a:t>
            </a:r>
            <a:r>
              <a:rPr lang="zh-CN" altLang="en-US" sz="1400" dirty="0" smtClean="0"/>
              <a:t>导致，主要有：</a:t>
            </a:r>
            <a:endParaRPr lang="en-US" altLang="zh-CN" sz="1400" dirty="0"/>
          </a:p>
          <a:p>
            <a:pPr>
              <a:lnSpc>
                <a:spcPct val="150000"/>
              </a:lnSpc>
            </a:pPr>
            <a:r>
              <a:rPr lang="en-US" altLang="zh-CN" sz="1400" dirty="0"/>
              <a:t>1</a:t>
            </a:r>
            <a:r>
              <a:rPr lang="zh-CN" altLang="en-US" sz="1400" dirty="0"/>
              <a:t>、路由器长时间使用，温度过高，性能变差</a:t>
            </a:r>
            <a:r>
              <a:rPr lang="zh-CN" altLang="en-US" sz="1400" dirty="0" smtClean="0"/>
              <a:t>导致。</a:t>
            </a:r>
            <a:endParaRPr lang="en-US" altLang="zh-CN" sz="1400" dirty="0"/>
          </a:p>
          <a:p>
            <a:pPr>
              <a:lnSpc>
                <a:spcPct val="150000"/>
              </a:lnSpc>
            </a:pPr>
            <a:r>
              <a:rPr lang="en-US" altLang="zh-CN" sz="1400" dirty="0"/>
              <a:t>2</a:t>
            </a:r>
            <a:r>
              <a:rPr lang="zh-CN" altLang="en-US" sz="1400" dirty="0"/>
              <a:t>、通过路由器连接多个终端同时</a:t>
            </a:r>
            <a:r>
              <a:rPr lang="zh-CN" altLang="en-US" sz="1400" dirty="0" smtClean="0"/>
              <a:t>使用，导致。</a:t>
            </a:r>
            <a:endParaRPr lang="en-US" altLang="zh-CN" sz="1400" dirty="0"/>
          </a:p>
          <a:p>
            <a:pPr>
              <a:lnSpc>
                <a:spcPct val="150000"/>
              </a:lnSpc>
            </a:pPr>
            <a:r>
              <a:rPr lang="en-US" altLang="zh-CN" sz="1400" dirty="0"/>
              <a:t>3</a:t>
            </a:r>
            <a:r>
              <a:rPr lang="zh-CN" altLang="en-US" sz="1400" dirty="0"/>
              <a:t>、路由器隔墙使用，信号强度变</a:t>
            </a:r>
            <a:r>
              <a:rPr lang="zh-CN" altLang="en-US" sz="1400" dirty="0" smtClean="0"/>
              <a:t>弱导致。</a:t>
            </a:r>
            <a:endParaRPr lang="zh-CN" altLang="en-US" sz="1400" dirty="0"/>
          </a:p>
        </p:txBody>
      </p:sp>
      <p:grpSp>
        <p:nvGrpSpPr>
          <p:cNvPr id="24" name="组合 23"/>
          <p:cNvGrpSpPr/>
          <p:nvPr/>
        </p:nvGrpSpPr>
        <p:grpSpPr>
          <a:xfrm>
            <a:off x="576293" y="2050678"/>
            <a:ext cx="1768027" cy="338554"/>
            <a:chOff x="467544" y="1437373"/>
            <a:chExt cx="1575470" cy="430162"/>
          </a:xfrm>
        </p:grpSpPr>
        <p:sp>
          <p:nvSpPr>
            <p:cNvPr id="25"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影响范围</a:t>
              </a:r>
            </a:p>
          </p:txBody>
        </p:sp>
        <p:cxnSp>
          <p:nvCxnSpPr>
            <p:cNvPr id="28" name="直接连接符 27"/>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29" name="矩形标注 28"/>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2</a:t>
              </a:r>
              <a:endParaRPr lang="zh-CN" altLang="en-US" sz="1600" dirty="0">
                <a:solidFill>
                  <a:prstClr val="white"/>
                </a:solidFill>
                <a:latin typeface="微软雅黑"/>
              </a:endParaRPr>
            </a:p>
          </p:txBody>
        </p:sp>
      </p:grpSp>
      <p:sp>
        <p:nvSpPr>
          <p:cNvPr id="5" name="TextBox 4"/>
          <p:cNvSpPr txBox="1"/>
          <p:nvPr/>
        </p:nvSpPr>
        <p:spPr>
          <a:xfrm>
            <a:off x="576293" y="2351078"/>
            <a:ext cx="4182023" cy="1062113"/>
          </a:xfrm>
          <a:prstGeom prst="rect">
            <a:avLst/>
          </a:prstGeom>
          <a:noFill/>
        </p:spPr>
        <p:txBody>
          <a:bodyPr wrap="square" lIns="91431" tIns="45715" rIns="91431" bIns="45715" rtlCol="0">
            <a:spAutoFit/>
          </a:bodyPr>
          <a:lstStyle/>
          <a:p>
            <a:pPr>
              <a:lnSpc>
                <a:spcPct val="150000"/>
              </a:lnSpc>
            </a:pPr>
            <a:r>
              <a:rPr lang="zh-CN" altLang="en-US" sz="1400" dirty="0" smtClean="0"/>
              <a:t>    目前仅影响此用户使用，</a:t>
            </a:r>
            <a:r>
              <a:rPr lang="en-US" altLang="zh-CN" sz="1400" dirty="0"/>
              <a:t> </a:t>
            </a:r>
            <a:r>
              <a:rPr lang="zh-CN" altLang="en-US" sz="1400" dirty="0" smtClean="0"/>
              <a:t>不满意回访中用户反映</a:t>
            </a:r>
            <a:r>
              <a:rPr lang="zh-CN" altLang="en-US" sz="1400" dirty="0"/>
              <a:t>网速慢，</a:t>
            </a:r>
            <a:r>
              <a:rPr lang="zh-CN" altLang="en-US" sz="1400" dirty="0" smtClean="0"/>
              <a:t>卡顿较普遍，影响网慢的因素很多，需要根据具体现象确定原因。</a:t>
            </a:r>
            <a:endParaRPr lang="zh-CN" altLang="en-US" sz="1400" dirty="0"/>
          </a:p>
        </p:txBody>
      </p:sp>
    </p:spTree>
    <p:extLst>
      <p:ext uri="{BB962C8B-B14F-4D97-AF65-F5344CB8AC3E}">
        <p14:creationId xmlns:p14="http://schemas.microsoft.com/office/powerpoint/2010/main" xmlns="" val="15501190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0337" y="91794"/>
            <a:ext cx="8364441" cy="294660"/>
          </a:xfrm>
          <a:prstGeom prst="rect">
            <a:avLst/>
          </a:prstGeom>
        </p:spPr>
        <p:txBody>
          <a:bodyPr lIns="91431" tIns="45715" rIns="91431"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base">
              <a:spcAft>
                <a:spcPct val="0"/>
              </a:spcAft>
            </a:pPr>
            <a:r>
              <a:rPr lang="zh-CN" altLang="en-US" sz="2400" b="1" dirty="0" smtClean="0">
                <a:solidFill>
                  <a:prstClr val="white"/>
                </a:solidFill>
                <a:latin typeface="微软雅黑"/>
              </a:rPr>
              <a:t>案例</a:t>
            </a:r>
            <a:r>
              <a:rPr lang="en-US" altLang="zh-CN" sz="2400" b="1" dirty="0" smtClean="0">
                <a:solidFill>
                  <a:prstClr val="white"/>
                </a:solidFill>
                <a:latin typeface="微软雅黑"/>
              </a:rPr>
              <a:t>6</a:t>
            </a:r>
            <a:r>
              <a:rPr lang="zh-CN" altLang="en-US" sz="2400" b="1" dirty="0" smtClean="0">
                <a:solidFill>
                  <a:prstClr val="white"/>
                </a:solidFill>
                <a:latin typeface="微软雅黑"/>
              </a:rPr>
              <a:t>：滨州家客用户</a:t>
            </a:r>
            <a:r>
              <a:rPr lang="zh-CN" altLang="en-US" sz="2400" b="1" dirty="0" smtClean="0">
                <a:solidFill>
                  <a:schemeClr val="bg1"/>
                </a:solidFill>
              </a:rPr>
              <a:t>反映远程登录无法访问的处理</a:t>
            </a:r>
            <a:r>
              <a:rPr lang="zh-CN" altLang="zh-CN" sz="2400" b="1" dirty="0" smtClean="0">
                <a:solidFill>
                  <a:schemeClr val="bg1"/>
                </a:solidFill>
              </a:rPr>
              <a:t>案例</a:t>
            </a:r>
            <a:endParaRPr lang="zh-CN" altLang="en-US" sz="2400" b="1" dirty="0" smtClean="0">
              <a:solidFill>
                <a:schemeClr val="bg1"/>
              </a:solidFill>
              <a:latin typeface="微软雅黑"/>
            </a:endParaRPr>
          </a:p>
        </p:txBody>
      </p:sp>
      <p:sp>
        <p:nvSpPr>
          <p:cNvPr id="9" name="矩形 8"/>
          <p:cNvSpPr/>
          <p:nvPr/>
        </p:nvSpPr>
        <p:spPr>
          <a:xfrm>
            <a:off x="363071" y="591856"/>
            <a:ext cx="9616268" cy="4713851"/>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fontAlgn="base">
              <a:spcBef>
                <a:spcPct val="0"/>
              </a:spcBef>
              <a:spcAft>
                <a:spcPct val="0"/>
              </a:spcAft>
            </a:pPr>
            <a:endParaRPr lang="zh-CN" altLang="en-US">
              <a:solidFill>
                <a:prstClr val="white"/>
              </a:solidFill>
              <a:latin typeface="微软雅黑"/>
            </a:endParaRPr>
          </a:p>
        </p:txBody>
      </p:sp>
      <p:grpSp>
        <p:nvGrpSpPr>
          <p:cNvPr id="27" name="组合 26"/>
          <p:cNvGrpSpPr/>
          <p:nvPr/>
        </p:nvGrpSpPr>
        <p:grpSpPr>
          <a:xfrm>
            <a:off x="595065" y="657590"/>
            <a:ext cx="1768027" cy="338554"/>
            <a:chOff x="467544" y="1437373"/>
            <a:chExt cx="1575470" cy="430162"/>
          </a:xfrm>
        </p:grpSpPr>
        <p:sp>
          <p:nvSpPr>
            <p:cNvPr id="22"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问题现象</a:t>
              </a:r>
            </a:p>
          </p:txBody>
        </p:sp>
        <p:cxnSp>
          <p:nvCxnSpPr>
            <p:cNvPr id="20" name="直接连接符 19"/>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18" name="矩形标注 17"/>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1</a:t>
              </a:r>
              <a:endParaRPr lang="zh-CN" altLang="en-US" sz="1600" dirty="0">
                <a:solidFill>
                  <a:prstClr val="white"/>
                </a:solidFill>
                <a:latin typeface="微软雅黑"/>
              </a:endParaRPr>
            </a:p>
          </p:txBody>
        </p:sp>
      </p:grpSp>
      <p:sp>
        <p:nvSpPr>
          <p:cNvPr id="26" name="矩形 25"/>
          <p:cNvSpPr/>
          <p:nvPr/>
        </p:nvSpPr>
        <p:spPr>
          <a:xfrm>
            <a:off x="378272" y="978259"/>
            <a:ext cx="4535734" cy="415488"/>
          </a:xfrm>
          <a:prstGeom prst="rect">
            <a:avLst/>
          </a:prstGeom>
          <a:noFill/>
        </p:spPr>
        <p:txBody>
          <a:bodyPr wrap="square" lIns="91431" tIns="45715" rIns="91431" bIns="45715">
            <a:spAutoFit/>
          </a:bodyPr>
          <a:lstStyle/>
          <a:p>
            <a:pPr>
              <a:lnSpc>
                <a:spcPct val="150000"/>
              </a:lnSpc>
            </a:pPr>
            <a:r>
              <a:rPr lang="zh-CN" altLang="en-US" sz="1400" dirty="0" smtClean="0"/>
              <a:t>    滨州家客用户反映远程无法登录</a:t>
            </a:r>
            <a:r>
              <a:rPr lang="en-US" altLang="zh-CN" sz="1400" dirty="0" smtClean="0"/>
              <a:t>sdlfsm.gnway.org:4430</a:t>
            </a:r>
            <a:endParaRPr lang="zh-CN" altLang="zh-CN" sz="1400" dirty="0"/>
          </a:p>
        </p:txBody>
      </p:sp>
      <p:grpSp>
        <p:nvGrpSpPr>
          <p:cNvPr id="32" name="组合 31"/>
          <p:cNvGrpSpPr/>
          <p:nvPr/>
        </p:nvGrpSpPr>
        <p:grpSpPr>
          <a:xfrm>
            <a:off x="561149" y="3778870"/>
            <a:ext cx="1768027" cy="338554"/>
            <a:chOff x="467544" y="1437373"/>
            <a:chExt cx="1575470" cy="430162"/>
          </a:xfrm>
        </p:grpSpPr>
        <p:sp>
          <p:nvSpPr>
            <p:cNvPr id="33" name="文本框 3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根本</a:t>
              </a:r>
              <a:r>
                <a:rPr lang="zh-CN" altLang="en-US" sz="1600" b="1" dirty="0" smtClean="0">
                  <a:solidFill>
                    <a:prstClr val="black"/>
                  </a:solidFill>
                  <a:latin typeface="微软雅黑"/>
                </a:rPr>
                <a:t>原因</a:t>
              </a:r>
              <a:endParaRPr lang="zh-CN" altLang="en-US" sz="1600" b="1" dirty="0">
                <a:solidFill>
                  <a:prstClr val="black"/>
                </a:solidFill>
                <a:latin typeface="微软雅黑"/>
              </a:endParaRPr>
            </a:p>
          </p:txBody>
        </p:sp>
        <p:cxnSp>
          <p:nvCxnSpPr>
            <p:cNvPr id="34" name="直接连接符 3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5" name="矩形标注 3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3</a:t>
              </a:r>
              <a:endParaRPr lang="zh-CN" altLang="en-US" sz="1600" dirty="0">
                <a:solidFill>
                  <a:prstClr val="white"/>
                </a:solidFill>
                <a:latin typeface="微软雅黑"/>
              </a:endParaRPr>
            </a:p>
          </p:txBody>
        </p:sp>
      </p:grpSp>
      <p:grpSp>
        <p:nvGrpSpPr>
          <p:cNvPr id="37" name="组合 36"/>
          <p:cNvGrpSpPr/>
          <p:nvPr/>
        </p:nvGrpSpPr>
        <p:grpSpPr>
          <a:xfrm>
            <a:off x="5105197" y="688246"/>
            <a:ext cx="1768027" cy="338554"/>
            <a:chOff x="467544" y="1437373"/>
            <a:chExt cx="1575470" cy="430162"/>
          </a:xfrm>
        </p:grpSpPr>
        <p:sp>
          <p:nvSpPr>
            <p:cNvPr id="38" name="文本框 37"/>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解决措施</a:t>
              </a:r>
            </a:p>
          </p:txBody>
        </p:sp>
        <p:cxnSp>
          <p:nvCxnSpPr>
            <p:cNvPr id="39" name="直接连接符 38"/>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0" name="矩形标注 39"/>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4</a:t>
              </a:r>
              <a:endParaRPr lang="zh-CN" altLang="en-US" sz="1600" dirty="0">
                <a:solidFill>
                  <a:prstClr val="white"/>
                </a:solidFill>
                <a:latin typeface="微软雅黑"/>
              </a:endParaRPr>
            </a:p>
          </p:txBody>
        </p:sp>
      </p:grpSp>
      <p:sp>
        <p:nvSpPr>
          <p:cNvPr id="41" name="矩形 40"/>
          <p:cNvSpPr/>
          <p:nvPr/>
        </p:nvSpPr>
        <p:spPr>
          <a:xfrm>
            <a:off x="5050902" y="898550"/>
            <a:ext cx="4760418" cy="1708160"/>
          </a:xfrm>
          <a:prstGeom prst="rect">
            <a:avLst/>
          </a:prstGeom>
          <a:noFill/>
        </p:spPr>
        <p:txBody>
          <a:bodyPr wrap="square" lIns="91431" tIns="45715" rIns="91431" bIns="45715">
            <a:spAutoFit/>
          </a:bodyPr>
          <a:lstStyle/>
          <a:p>
            <a:pPr>
              <a:lnSpc>
                <a:spcPct val="150000"/>
              </a:lnSpc>
            </a:pPr>
            <a:r>
              <a:rPr lang="zh-CN" altLang="en-US" sz="1400" dirty="0" smtClean="0"/>
              <a:t>    多次调整三方出口后家客测试线可正常访问，但用户仍无法访问，第二天用户称可正常访问，确认发现服务器地址更换为</a:t>
            </a:r>
            <a:r>
              <a:rPr lang="en-US" altLang="zh-CN" sz="1400" dirty="0" smtClean="0"/>
              <a:t>39.82.125.127</a:t>
            </a:r>
            <a:r>
              <a:rPr lang="zh-CN" altLang="en-US" sz="1400" dirty="0" smtClean="0"/>
              <a:t>。</a:t>
            </a:r>
            <a:r>
              <a:rPr lang="zh-CN" altLang="en-US" sz="1400" dirty="0"/>
              <a:t>由于用户侧服务器</a:t>
            </a:r>
            <a:r>
              <a:rPr lang="zh-CN" altLang="en-US" sz="1400" dirty="0" smtClean="0"/>
              <a:t>地址不固定，将无法访问的地址</a:t>
            </a:r>
            <a:r>
              <a:rPr lang="en-US" altLang="zh-CN" sz="1400" dirty="0" smtClean="0"/>
              <a:t>112.232.20.0</a:t>
            </a:r>
            <a:r>
              <a:rPr lang="zh-CN" altLang="en-US" sz="1400" dirty="0" smtClean="0"/>
              <a:t>调至集团出口，保证可正常访问此服务器地址，问题得到解决。</a:t>
            </a:r>
            <a:endParaRPr lang="en-US" altLang="zh-CN" sz="1400" dirty="0"/>
          </a:p>
        </p:txBody>
      </p:sp>
      <p:grpSp>
        <p:nvGrpSpPr>
          <p:cNvPr id="42" name="组合 41"/>
          <p:cNvGrpSpPr/>
          <p:nvPr/>
        </p:nvGrpSpPr>
        <p:grpSpPr>
          <a:xfrm>
            <a:off x="5142775" y="3778870"/>
            <a:ext cx="1768027" cy="338554"/>
            <a:chOff x="467544" y="1437373"/>
            <a:chExt cx="1575470" cy="486087"/>
          </a:xfrm>
        </p:grpSpPr>
        <p:sp>
          <p:nvSpPr>
            <p:cNvPr id="43" name="文本框 42"/>
            <p:cNvSpPr txBox="1"/>
            <p:nvPr/>
          </p:nvSpPr>
          <p:spPr>
            <a:xfrm>
              <a:off x="839492" y="1437373"/>
              <a:ext cx="895904" cy="486087"/>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经验总结</a:t>
              </a:r>
            </a:p>
          </p:txBody>
        </p:sp>
        <p:cxnSp>
          <p:nvCxnSpPr>
            <p:cNvPr id="44" name="直接连接符 4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5" name="矩形标注 4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5</a:t>
              </a:r>
              <a:endParaRPr lang="zh-CN" altLang="en-US" sz="1600" dirty="0">
                <a:solidFill>
                  <a:prstClr val="white"/>
                </a:solidFill>
                <a:latin typeface="微软雅黑"/>
              </a:endParaRPr>
            </a:p>
          </p:txBody>
        </p:sp>
      </p:grpSp>
      <p:sp>
        <p:nvSpPr>
          <p:cNvPr id="3" name="矩形 2"/>
          <p:cNvSpPr/>
          <p:nvPr/>
        </p:nvSpPr>
        <p:spPr>
          <a:xfrm>
            <a:off x="561150" y="4112515"/>
            <a:ext cx="4506502" cy="1061829"/>
          </a:xfrm>
          <a:prstGeom prst="rect">
            <a:avLst/>
          </a:prstGeom>
        </p:spPr>
        <p:txBody>
          <a:bodyPr wrap="square" lIns="91431" tIns="45715" rIns="91431" bIns="45715">
            <a:spAutoFit/>
          </a:bodyPr>
          <a:lstStyle/>
          <a:p>
            <a:pPr>
              <a:lnSpc>
                <a:spcPct val="150000"/>
              </a:lnSpc>
            </a:pPr>
            <a:r>
              <a:rPr lang="en-US" sz="1400" dirty="0" smtClean="0"/>
              <a:t>1</a:t>
            </a:r>
            <a:r>
              <a:rPr lang="zh-CN" altLang="en-US" sz="1400" dirty="0" smtClean="0"/>
              <a:t>、现场测速、测光正常，打开网页、视频均正常。</a:t>
            </a:r>
          </a:p>
          <a:p>
            <a:pPr>
              <a:lnSpc>
                <a:spcPct val="150000"/>
              </a:lnSpc>
            </a:pPr>
            <a:r>
              <a:rPr lang="en-US" sz="1400" dirty="0" smtClean="0"/>
              <a:t>2</a:t>
            </a:r>
            <a:r>
              <a:rPr lang="zh-CN" altLang="en-US" sz="1400" dirty="0" smtClean="0"/>
              <a:t>、解析</a:t>
            </a:r>
            <a:r>
              <a:rPr lang="en-US" altLang="zh-CN" sz="1400" dirty="0" smtClean="0"/>
              <a:t>sdlfsm.gnway.org:4430</a:t>
            </a:r>
            <a:r>
              <a:rPr lang="zh-CN" altLang="en-US" sz="1400" dirty="0" smtClean="0"/>
              <a:t>对应的服务器地址是：</a:t>
            </a:r>
            <a:r>
              <a:rPr lang="en-US" altLang="zh-CN" sz="1400" dirty="0"/>
              <a:t>112.232.20.0</a:t>
            </a:r>
            <a:r>
              <a:rPr lang="zh-CN" altLang="en-US" sz="1400" dirty="0" smtClean="0"/>
              <a:t>，</a:t>
            </a:r>
            <a:r>
              <a:rPr lang="en-US" sz="1400" dirty="0" smtClean="0"/>
              <a:t>trace</a:t>
            </a:r>
            <a:r>
              <a:rPr lang="zh-CN" altLang="en-US" sz="1400" dirty="0" smtClean="0"/>
              <a:t>路由走三方出口</a:t>
            </a:r>
            <a:r>
              <a:rPr lang="zh-CN" altLang="en-US" sz="1400" dirty="0"/>
              <a:t>。</a:t>
            </a:r>
            <a:endParaRPr lang="en-US" altLang="zh-CN" sz="1400" dirty="0" smtClean="0"/>
          </a:p>
        </p:txBody>
      </p:sp>
      <p:sp>
        <p:nvSpPr>
          <p:cNvPr id="36" name="矩形 35"/>
          <p:cNvSpPr/>
          <p:nvPr/>
        </p:nvSpPr>
        <p:spPr>
          <a:xfrm>
            <a:off x="5150802" y="3994895"/>
            <a:ext cx="4444494" cy="1384995"/>
          </a:xfrm>
          <a:prstGeom prst="rect">
            <a:avLst/>
          </a:prstGeom>
        </p:spPr>
        <p:txBody>
          <a:bodyPr wrap="square" lIns="91431" tIns="45715" rIns="91431" bIns="45715">
            <a:spAutoFit/>
          </a:bodyPr>
          <a:lstStyle/>
          <a:p>
            <a:pPr>
              <a:lnSpc>
                <a:spcPct val="150000"/>
              </a:lnSpc>
            </a:pPr>
            <a:r>
              <a:rPr lang="zh-CN" altLang="en-US" sz="1400" dirty="0" smtClean="0"/>
              <a:t>远程登录无法正常访问的情况：</a:t>
            </a:r>
            <a:endParaRPr lang="en-US" altLang="zh-CN" sz="1400" dirty="0" smtClean="0"/>
          </a:p>
          <a:p>
            <a:pPr>
              <a:lnSpc>
                <a:spcPct val="150000"/>
              </a:lnSpc>
            </a:pPr>
            <a:r>
              <a:rPr lang="en-US" altLang="zh-CN" sz="1400" dirty="0" smtClean="0"/>
              <a:t>1.</a:t>
            </a:r>
            <a:r>
              <a:rPr lang="zh-CN" altLang="en-US" sz="1400" dirty="0" smtClean="0"/>
              <a:t>需准确确认远程登录的服务器地址是否有多个。</a:t>
            </a:r>
            <a:endParaRPr lang="en-US" altLang="zh-CN" sz="1400" dirty="0" smtClean="0"/>
          </a:p>
          <a:p>
            <a:pPr>
              <a:lnSpc>
                <a:spcPct val="150000"/>
              </a:lnSpc>
            </a:pPr>
            <a:r>
              <a:rPr lang="en-US" altLang="zh-CN" sz="1400" dirty="0" smtClean="0"/>
              <a:t>2.</a:t>
            </a:r>
            <a:r>
              <a:rPr lang="zh-CN" altLang="en-US" sz="1400" dirty="0" smtClean="0"/>
              <a:t>根据路由走向结合集团专线或</a:t>
            </a:r>
            <a:r>
              <a:rPr lang="en-US" altLang="zh-CN" sz="1400" dirty="0" smtClean="0"/>
              <a:t>4G</a:t>
            </a:r>
            <a:r>
              <a:rPr lang="zh-CN" altLang="en-US" sz="1400" dirty="0" smtClean="0"/>
              <a:t>网对比分析，确定真正无法访问原因。</a:t>
            </a:r>
            <a:endParaRPr lang="en-US" altLang="zh-CN" sz="1400" dirty="0" smtClean="0"/>
          </a:p>
        </p:txBody>
      </p:sp>
      <p:grpSp>
        <p:nvGrpSpPr>
          <p:cNvPr id="24" name="组合 23"/>
          <p:cNvGrpSpPr/>
          <p:nvPr/>
        </p:nvGrpSpPr>
        <p:grpSpPr>
          <a:xfrm>
            <a:off x="561149" y="3058790"/>
            <a:ext cx="1768027" cy="338554"/>
            <a:chOff x="467544" y="1437373"/>
            <a:chExt cx="1575470" cy="430162"/>
          </a:xfrm>
        </p:grpSpPr>
        <p:sp>
          <p:nvSpPr>
            <p:cNvPr id="25"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影响范围</a:t>
              </a:r>
            </a:p>
          </p:txBody>
        </p:sp>
        <p:cxnSp>
          <p:nvCxnSpPr>
            <p:cNvPr id="28" name="直接连接符 27"/>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29" name="矩形标注 28"/>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2</a:t>
              </a:r>
              <a:endParaRPr lang="zh-CN" altLang="en-US" sz="1600" dirty="0">
                <a:solidFill>
                  <a:prstClr val="white"/>
                </a:solidFill>
                <a:latin typeface="微软雅黑"/>
              </a:endParaRPr>
            </a:p>
          </p:txBody>
        </p:sp>
      </p:grpSp>
      <p:sp>
        <p:nvSpPr>
          <p:cNvPr id="5" name="TextBox 4"/>
          <p:cNvSpPr txBox="1"/>
          <p:nvPr/>
        </p:nvSpPr>
        <p:spPr>
          <a:xfrm>
            <a:off x="678227" y="3418831"/>
            <a:ext cx="4182023" cy="307777"/>
          </a:xfrm>
          <a:prstGeom prst="rect">
            <a:avLst/>
          </a:prstGeom>
          <a:noFill/>
        </p:spPr>
        <p:txBody>
          <a:bodyPr wrap="square" lIns="91431" tIns="45715" rIns="91431" bIns="45715" rtlCol="0">
            <a:spAutoFit/>
          </a:bodyPr>
          <a:lstStyle/>
          <a:p>
            <a:r>
              <a:rPr lang="zh-CN" altLang="en-US" sz="1400" dirty="0" smtClean="0"/>
              <a:t>滨州滨城区迪斯尼专卖店的宽带用户</a:t>
            </a:r>
            <a:endParaRPr lang="zh-CN" altLang="en-US" sz="1400" dirty="0"/>
          </a:p>
        </p:txBody>
      </p:sp>
      <p:pic>
        <p:nvPicPr>
          <p:cNvPr id="7" name="图片 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880975" y="1391996"/>
            <a:ext cx="3037691" cy="1556523"/>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600059" y="2554735"/>
            <a:ext cx="3707205" cy="1226968"/>
          </a:xfrm>
          <a:prstGeom prst="rect">
            <a:avLst/>
          </a:prstGeom>
        </p:spPr>
      </p:pic>
    </p:spTree>
    <p:extLst>
      <p:ext uri="{BB962C8B-B14F-4D97-AF65-F5344CB8AC3E}">
        <p14:creationId xmlns:p14="http://schemas.microsoft.com/office/powerpoint/2010/main" xmlns="" val="34015614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0337" y="91794"/>
            <a:ext cx="8364441" cy="294660"/>
          </a:xfrm>
          <a:prstGeom prst="rect">
            <a:avLst/>
          </a:prstGeom>
        </p:spPr>
        <p:txBody>
          <a:bodyPr lIns="91431" tIns="45715" rIns="91431"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base">
              <a:spcAft>
                <a:spcPct val="0"/>
              </a:spcAft>
            </a:pPr>
            <a:r>
              <a:rPr lang="zh-CN" altLang="en-US" sz="2400" b="1" dirty="0" smtClean="0">
                <a:solidFill>
                  <a:prstClr val="white"/>
                </a:solidFill>
                <a:latin typeface="微软雅黑"/>
              </a:rPr>
              <a:t>案例</a:t>
            </a:r>
            <a:r>
              <a:rPr lang="en-US" altLang="zh-CN" sz="2400" b="1" dirty="0" smtClean="0">
                <a:solidFill>
                  <a:prstClr val="white"/>
                </a:solidFill>
                <a:latin typeface="微软雅黑"/>
              </a:rPr>
              <a:t>7</a:t>
            </a:r>
            <a:r>
              <a:rPr lang="zh-CN" altLang="en-US" sz="2400" b="1" dirty="0" smtClean="0">
                <a:solidFill>
                  <a:prstClr val="white"/>
                </a:solidFill>
                <a:latin typeface="微软雅黑"/>
              </a:rPr>
              <a:t>：滨州家客用户</a:t>
            </a:r>
            <a:r>
              <a:rPr lang="zh-CN" altLang="en-US" sz="2400" b="1" dirty="0" smtClean="0">
                <a:solidFill>
                  <a:schemeClr val="bg1"/>
                </a:solidFill>
              </a:rPr>
              <a:t>反映乐视视频卡顿的处理</a:t>
            </a:r>
            <a:r>
              <a:rPr lang="zh-CN" altLang="zh-CN" sz="2400" b="1" dirty="0" smtClean="0">
                <a:solidFill>
                  <a:schemeClr val="bg1"/>
                </a:solidFill>
              </a:rPr>
              <a:t>案例</a:t>
            </a:r>
            <a:endParaRPr lang="zh-CN" altLang="en-US" sz="2400" b="1" dirty="0" smtClean="0">
              <a:solidFill>
                <a:schemeClr val="bg1"/>
              </a:solidFill>
              <a:latin typeface="微软雅黑"/>
            </a:endParaRPr>
          </a:p>
        </p:txBody>
      </p:sp>
      <p:sp>
        <p:nvSpPr>
          <p:cNvPr id="9" name="矩形 8"/>
          <p:cNvSpPr/>
          <p:nvPr/>
        </p:nvSpPr>
        <p:spPr>
          <a:xfrm>
            <a:off x="363071" y="591856"/>
            <a:ext cx="9616268" cy="4713851"/>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fontAlgn="base">
              <a:spcBef>
                <a:spcPct val="0"/>
              </a:spcBef>
              <a:spcAft>
                <a:spcPct val="0"/>
              </a:spcAft>
            </a:pPr>
            <a:endParaRPr lang="zh-CN" altLang="en-US">
              <a:solidFill>
                <a:prstClr val="white"/>
              </a:solidFill>
              <a:latin typeface="微软雅黑"/>
            </a:endParaRPr>
          </a:p>
        </p:txBody>
      </p:sp>
      <p:grpSp>
        <p:nvGrpSpPr>
          <p:cNvPr id="27" name="组合 26"/>
          <p:cNvGrpSpPr/>
          <p:nvPr/>
        </p:nvGrpSpPr>
        <p:grpSpPr>
          <a:xfrm>
            <a:off x="595065" y="657590"/>
            <a:ext cx="1768027" cy="338554"/>
            <a:chOff x="467544" y="1437373"/>
            <a:chExt cx="1575470" cy="430162"/>
          </a:xfrm>
        </p:grpSpPr>
        <p:sp>
          <p:nvSpPr>
            <p:cNvPr id="22"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问题现象</a:t>
              </a:r>
            </a:p>
          </p:txBody>
        </p:sp>
        <p:cxnSp>
          <p:nvCxnSpPr>
            <p:cNvPr id="20" name="直接连接符 19"/>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18" name="矩形标注 17"/>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1</a:t>
              </a:r>
              <a:endParaRPr lang="zh-CN" altLang="en-US" sz="1600" dirty="0">
                <a:solidFill>
                  <a:prstClr val="white"/>
                </a:solidFill>
                <a:latin typeface="微软雅黑"/>
              </a:endParaRPr>
            </a:p>
          </p:txBody>
        </p:sp>
      </p:grpSp>
      <p:sp>
        <p:nvSpPr>
          <p:cNvPr id="26" name="矩形 25"/>
          <p:cNvSpPr/>
          <p:nvPr/>
        </p:nvSpPr>
        <p:spPr>
          <a:xfrm>
            <a:off x="641319" y="899571"/>
            <a:ext cx="4539736" cy="738654"/>
          </a:xfrm>
          <a:prstGeom prst="rect">
            <a:avLst/>
          </a:prstGeom>
          <a:noFill/>
        </p:spPr>
        <p:txBody>
          <a:bodyPr wrap="square" lIns="91431" tIns="45715" rIns="91431" bIns="45715">
            <a:spAutoFit/>
          </a:bodyPr>
          <a:lstStyle/>
          <a:p>
            <a:pPr>
              <a:lnSpc>
                <a:spcPct val="150000"/>
              </a:lnSpc>
            </a:pPr>
            <a:r>
              <a:rPr lang="zh-CN" altLang="en-US" sz="1400" dirty="0" smtClean="0"/>
              <a:t>    滨州家客用户反映使用乐视视频观看芈月传等视频，经常出现卡顿现象，导致无法正常观看。</a:t>
            </a:r>
            <a:endParaRPr lang="zh-CN" altLang="zh-CN" sz="1400" dirty="0"/>
          </a:p>
        </p:txBody>
      </p:sp>
      <p:grpSp>
        <p:nvGrpSpPr>
          <p:cNvPr id="32" name="组合 31"/>
          <p:cNvGrpSpPr/>
          <p:nvPr/>
        </p:nvGrpSpPr>
        <p:grpSpPr>
          <a:xfrm>
            <a:off x="542378" y="3654376"/>
            <a:ext cx="1768027" cy="338554"/>
            <a:chOff x="467544" y="1437373"/>
            <a:chExt cx="1575470" cy="430162"/>
          </a:xfrm>
        </p:grpSpPr>
        <p:sp>
          <p:nvSpPr>
            <p:cNvPr id="33" name="文本框 3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根本</a:t>
              </a:r>
              <a:r>
                <a:rPr lang="zh-CN" altLang="en-US" sz="1600" b="1" dirty="0" smtClean="0">
                  <a:solidFill>
                    <a:prstClr val="black"/>
                  </a:solidFill>
                  <a:latin typeface="微软雅黑"/>
                </a:rPr>
                <a:t>原因</a:t>
              </a:r>
              <a:endParaRPr lang="zh-CN" altLang="en-US" sz="1600" b="1" dirty="0">
                <a:solidFill>
                  <a:prstClr val="black"/>
                </a:solidFill>
                <a:latin typeface="微软雅黑"/>
              </a:endParaRPr>
            </a:p>
          </p:txBody>
        </p:sp>
        <p:cxnSp>
          <p:nvCxnSpPr>
            <p:cNvPr id="34" name="直接连接符 3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5" name="矩形标注 3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3</a:t>
              </a:r>
              <a:endParaRPr lang="zh-CN" altLang="en-US" sz="1600" dirty="0">
                <a:solidFill>
                  <a:prstClr val="white"/>
                </a:solidFill>
                <a:latin typeface="微软雅黑"/>
              </a:endParaRPr>
            </a:p>
          </p:txBody>
        </p:sp>
      </p:grpSp>
      <p:grpSp>
        <p:nvGrpSpPr>
          <p:cNvPr id="37" name="组合 36"/>
          <p:cNvGrpSpPr/>
          <p:nvPr/>
        </p:nvGrpSpPr>
        <p:grpSpPr>
          <a:xfrm>
            <a:off x="5634857" y="688246"/>
            <a:ext cx="1768027" cy="338554"/>
            <a:chOff x="467544" y="1437373"/>
            <a:chExt cx="1575470" cy="430162"/>
          </a:xfrm>
        </p:grpSpPr>
        <p:sp>
          <p:nvSpPr>
            <p:cNvPr id="38" name="文本框 37"/>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解决措施</a:t>
              </a:r>
            </a:p>
          </p:txBody>
        </p:sp>
        <p:cxnSp>
          <p:nvCxnSpPr>
            <p:cNvPr id="39" name="直接连接符 38"/>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0" name="矩形标注 39"/>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4</a:t>
              </a:r>
              <a:endParaRPr lang="zh-CN" altLang="en-US" sz="1600" dirty="0">
                <a:solidFill>
                  <a:prstClr val="white"/>
                </a:solidFill>
                <a:latin typeface="微软雅黑"/>
              </a:endParaRPr>
            </a:p>
          </p:txBody>
        </p:sp>
      </p:grpSp>
      <p:sp>
        <p:nvSpPr>
          <p:cNvPr id="41" name="矩形 40"/>
          <p:cNvSpPr/>
          <p:nvPr/>
        </p:nvSpPr>
        <p:spPr>
          <a:xfrm>
            <a:off x="5562848" y="970559"/>
            <a:ext cx="4416491" cy="1061829"/>
          </a:xfrm>
          <a:prstGeom prst="rect">
            <a:avLst/>
          </a:prstGeom>
          <a:noFill/>
        </p:spPr>
        <p:txBody>
          <a:bodyPr wrap="square" lIns="91431" tIns="45715" rIns="91431" bIns="45715">
            <a:spAutoFit/>
          </a:bodyPr>
          <a:lstStyle/>
          <a:p>
            <a:pPr>
              <a:lnSpc>
                <a:spcPct val="150000"/>
              </a:lnSpc>
            </a:pPr>
            <a:r>
              <a:rPr lang="zh-CN" altLang="en-US" sz="1400" dirty="0" smtClean="0"/>
              <a:t>    经省公司确认为网站侧资源满导致，网站侧扩容后，仍有用户反映还是无法观看，经再次查证确认属于省公司服务器问题，解决后观看效果较之前有明显改善。</a:t>
            </a:r>
            <a:endParaRPr lang="zh-CN" altLang="en-US" sz="1400" dirty="0"/>
          </a:p>
        </p:txBody>
      </p:sp>
      <p:grpSp>
        <p:nvGrpSpPr>
          <p:cNvPr id="42" name="组合 41"/>
          <p:cNvGrpSpPr/>
          <p:nvPr/>
        </p:nvGrpSpPr>
        <p:grpSpPr>
          <a:xfrm>
            <a:off x="5634857" y="3490838"/>
            <a:ext cx="1768027" cy="338554"/>
            <a:chOff x="467544" y="1437373"/>
            <a:chExt cx="1575470" cy="486087"/>
          </a:xfrm>
        </p:grpSpPr>
        <p:sp>
          <p:nvSpPr>
            <p:cNvPr id="43" name="文本框 42"/>
            <p:cNvSpPr txBox="1"/>
            <p:nvPr/>
          </p:nvSpPr>
          <p:spPr>
            <a:xfrm>
              <a:off x="839492" y="1437373"/>
              <a:ext cx="895904" cy="486087"/>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经验总结</a:t>
              </a:r>
            </a:p>
          </p:txBody>
        </p:sp>
        <p:cxnSp>
          <p:nvCxnSpPr>
            <p:cNvPr id="44" name="直接连接符 4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5" name="矩形标注 4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5</a:t>
              </a:r>
              <a:endParaRPr lang="zh-CN" altLang="en-US" sz="1600" dirty="0">
                <a:solidFill>
                  <a:prstClr val="white"/>
                </a:solidFill>
                <a:latin typeface="微软雅黑"/>
              </a:endParaRPr>
            </a:p>
          </p:txBody>
        </p:sp>
      </p:grpSp>
      <p:sp>
        <p:nvSpPr>
          <p:cNvPr id="3" name="矩形 2"/>
          <p:cNvSpPr/>
          <p:nvPr/>
        </p:nvSpPr>
        <p:spPr>
          <a:xfrm>
            <a:off x="595065" y="3994895"/>
            <a:ext cx="4858971" cy="1169551"/>
          </a:xfrm>
          <a:prstGeom prst="rect">
            <a:avLst/>
          </a:prstGeom>
        </p:spPr>
        <p:txBody>
          <a:bodyPr wrap="square" lIns="91431" tIns="45715" rIns="91431" bIns="45715">
            <a:spAutoFit/>
          </a:bodyPr>
          <a:lstStyle/>
          <a:p>
            <a:r>
              <a:rPr lang="en-US" sz="1400" dirty="0" smtClean="0"/>
              <a:t>1</a:t>
            </a:r>
            <a:r>
              <a:rPr lang="zh-CN" altLang="en-US" sz="1400" dirty="0" smtClean="0"/>
              <a:t>、现场测速、测光正常，打开网页、视频均正常。</a:t>
            </a:r>
          </a:p>
          <a:p>
            <a:r>
              <a:rPr lang="en-US" sz="1400" dirty="0" smtClean="0"/>
              <a:t>2</a:t>
            </a:r>
            <a:r>
              <a:rPr lang="zh-CN" altLang="en-US" sz="1400" dirty="0" smtClean="0"/>
              <a:t>、用</a:t>
            </a:r>
            <a:r>
              <a:rPr lang="en-US" altLang="zh-CN" sz="1400" dirty="0" err="1" smtClean="0"/>
              <a:t>httpwatch</a:t>
            </a:r>
            <a:r>
              <a:rPr lang="zh-CN" altLang="en-US" sz="1400" dirty="0" smtClean="0"/>
              <a:t>软件抓取登陆视频服务器地址发</a:t>
            </a:r>
            <a:endParaRPr lang="en-US" altLang="zh-CN" sz="1400" dirty="0" smtClean="0"/>
          </a:p>
          <a:p>
            <a:r>
              <a:rPr lang="zh-CN" altLang="en-US" sz="1400" dirty="0" smtClean="0"/>
              <a:t>现每段视频源调取的地址不一样，但均包含在省公司</a:t>
            </a:r>
            <a:r>
              <a:rPr lang="en-US" altLang="zh-CN" sz="1400" dirty="0" smtClean="0"/>
              <a:t>IDC</a:t>
            </a:r>
            <a:r>
              <a:rPr lang="zh-CN" altLang="en-US" sz="1400" dirty="0" smtClean="0"/>
              <a:t>地址段：</a:t>
            </a:r>
            <a:r>
              <a:rPr lang="en-US" altLang="zh-CN" sz="1400" dirty="0" smtClean="0"/>
              <a:t>223.99.224.0/19</a:t>
            </a:r>
            <a:r>
              <a:rPr lang="zh-CN" altLang="en-US" sz="1400" dirty="0"/>
              <a:t>、</a:t>
            </a:r>
            <a:r>
              <a:rPr lang="en-US" altLang="zh-CN" sz="1400" dirty="0" smtClean="0"/>
              <a:t>218.201.166.0/23</a:t>
            </a:r>
            <a:r>
              <a:rPr lang="zh-CN" altLang="en-US" sz="1400" dirty="0"/>
              <a:t>、</a:t>
            </a:r>
            <a:r>
              <a:rPr lang="en-US" altLang="zh-CN" sz="1400" dirty="0" smtClean="0"/>
              <a:t>120.192.80.0/20 </a:t>
            </a:r>
            <a:r>
              <a:rPr lang="zh-CN" altLang="en-US" sz="1400" dirty="0" smtClean="0"/>
              <a:t>、</a:t>
            </a:r>
            <a:r>
              <a:rPr lang="en-US" altLang="zh-CN" sz="1400" dirty="0" smtClean="0"/>
              <a:t>120.192.77.0/23</a:t>
            </a:r>
            <a:r>
              <a:rPr lang="zh-CN" altLang="en-US" sz="1400" dirty="0" smtClean="0"/>
              <a:t>。</a:t>
            </a:r>
            <a:r>
              <a:rPr lang="en-US" altLang="zh-CN" sz="1400" dirty="0" smtClean="0"/>
              <a:t> </a:t>
            </a:r>
          </a:p>
        </p:txBody>
      </p:sp>
      <p:sp>
        <p:nvSpPr>
          <p:cNvPr id="36" name="矩形 35"/>
          <p:cNvSpPr/>
          <p:nvPr/>
        </p:nvSpPr>
        <p:spPr>
          <a:xfrm>
            <a:off x="5562849" y="3834035"/>
            <a:ext cx="4205635" cy="1384995"/>
          </a:xfrm>
          <a:prstGeom prst="rect">
            <a:avLst/>
          </a:prstGeom>
        </p:spPr>
        <p:txBody>
          <a:bodyPr wrap="square" lIns="91431" tIns="45715" rIns="91431" bIns="45715">
            <a:spAutoFit/>
          </a:bodyPr>
          <a:lstStyle/>
          <a:p>
            <a:pPr>
              <a:lnSpc>
                <a:spcPct val="150000"/>
              </a:lnSpc>
            </a:pPr>
            <a:r>
              <a:rPr lang="zh-CN" altLang="en-US" sz="1400" dirty="0" smtClean="0"/>
              <a:t>乐视视频处理难点：</a:t>
            </a:r>
            <a:endParaRPr lang="en-US" altLang="zh-CN" sz="1400" dirty="0" smtClean="0"/>
          </a:p>
          <a:p>
            <a:pPr>
              <a:lnSpc>
                <a:spcPct val="150000"/>
              </a:lnSpc>
            </a:pPr>
            <a:r>
              <a:rPr lang="en-US" altLang="zh-CN" sz="1400" dirty="0" smtClean="0"/>
              <a:t>1.</a:t>
            </a:r>
            <a:r>
              <a:rPr lang="zh-CN" altLang="en-US" sz="1400" dirty="0" smtClean="0"/>
              <a:t>由于视频源调度的地址不同，无法具体确认问题视频源服务器地址。</a:t>
            </a:r>
            <a:endParaRPr lang="en-US" altLang="zh-CN" sz="1400" dirty="0" smtClean="0"/>
          </a:p>
          <a:p>
            <a:pPr>
              <a:lnSpc>
                <a:spcPct val="150000"/>
              </a:lnSpc>
            </a:pPr>
            <a:r>
              <a:rPr lang="en-US" altLang="zh-CN" sz="1400" dirty="0" smtClean="0"/>
              <a:t>2.</a:t>
            </a:r>
            <a:r>
              <a:rPr lang="zh-CN" altLang="en-US" sz="1400" dirty="0" smtClean="0"/>
              <a:t> 问题原因查找难度大，较难确认真正故障原因。</a:t>
            </a:r>
            <a:endParaRPr lang="zh-CN" altLang="en-US" sz="1400" dirty="0"/>
          </a:p>
        </p:txBody>
      </p:sp>
      <p:grpSp>
        <p:nvGrpSpPr>
          <p:cNvPr id="24" name="组合 23"/>
          <p:cNvGrpSpPr/>
          <p:nvPr/>
        </p:nvGrpSpPr>
        <p:grpSpPr>
          <a:xfrm>
            <a:off x="561149" y="3061601"/>
            <a:ext cx="1768027" cy="338554"/>
            <a:chOff x="467544" y="1437373"/>
            <a:chExt cx="1575470" cy="430162"/>
          </a:xfrm>
        </p:grpSpPr>
        <p:sp>
          <p:nvSpPr>
            <p:cNvPr id="25"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a:rPr>
                <a:t>影响范围</a:t>
              </a:r>
            </a:p>
          </p:txBody>
        </p:sp>
        <p:cxnSp>
          <p:nvCxnSpPr>
            <p:cNvPr id="28" name="直接连接符 27"/>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29" name="矩形标注 28"/>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2</a:t>
              </a:r>
              <a:endParaRPr lang="zh-CN" altLang="en-US" sz="1600" dirty="0">
                <a:solidFill>
                  <a:prstClr val="white"/>
                </a:solidFill>
                <a:latin typeface="微软雅黑"/>
              </a:endParaRPr>
            </a:p>
          </p:txBody>
        </p:sp>
      </p:grpSp>
      <p:sp>
        <p:nvSpPr>
          <p:cNvPr id="5" name="TextBox 4"/>
          <p:cNvSpPr txBox="1"/>
          <p:nvPr/>
        </p:nvSpPr>
        <p:spPr>
          <a:xfrm>
            <a:off x="631698" y="3402830"/>
            <a:ext cx="4182023" cy="307777"/>
          </a:xfrm>
          <a:prstGeom prst="rect">
            <a:avLst/>
          </a:prstGeom>
          <a:noFill/>
        </p:spPr>
        <p:txBody>
          <a:bodyPr wrap="square" lIns="91431" tIns="45715" rIns="91431" bIns="45715" rtlCol="0">
            <a:spAutoFit/>
          </a:bodyPr>
          <a:lstStyle/>
          <a:p>
            <a:r>
              <a:rPr lang="zh-CN" altLang="en-US" sz="1400" dirty="0" smtClean="0"/>
              <a:t>滨州家客所有使用乐视视频的用户。</a:t>
            </a:r>
            <a:endParaRPr lang="zh-CN" altLang="en-US" sz="1400" dirty="0"/>
          </a:p>
        </p:txBody>
      </p:sp>
      <p:pic>
        <p:nvPicPr>
          <p:cNvPr id="4" name="图片 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95066" y="1608482"/>
            <a:ext cx="4499067" cy="1450309"/>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672893" y="2050679"/>
            <a:ext cx="4223492" cy="1296144"/>
          </a:xfrm>
          <a:prstGeom prst="rect">
            <a:avLst/>
          </a:prstGeom>
        </p:spPr>
      </p:pic>
    </p:spTree>
    <p:extLst>
      <p:ext uri="{BB962C8B-B14F-4D97-AF65-F5344CB8AC3E}">
        <p14:creationId xmlns:p14="http://schemas.microsoft.com/office/powerpoint/2010/main" xmlns="" val="13564387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0338" y="91794"/>
            <a:ext cx="9010911" cy="294660"/>
          </a:xfrm>
          <a:prstGeom prst="rect">
            <a:avLst/>
          </a:prstGeom>
        </p:spPr>
        <p:txBody>
          <a:bodyPr lIns="91431" tIns="45715" rIns="91431"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base">
              <a:spcAft>
                <a:spcPct val="0"/>
              </a:spcAft>
            </a:pPr>
            <a:r>
              <a:rPr lang="zh-CN" altLang="en-US" sz="2400" b="1" dirty="0" smtClean="0">
                <a:solidFill>
                  <a:schemeClr val="bg1"/>
                </a:solidFill>
                <a:latin typeface="微软雅黑" panose="020B0503020204020204" pitchFamily="34" charset="-122"/>
                <a:ea typeface="微软雅黑" panose="020B0503020204020204" pitchFamily="34" charset="-122"/>
              </a:rPr>
              <a:t>案例</a:t>
            </a:r>
            <a:r>
              <a:rPr lang="en-US" altLang="zh-CN" sz="2400" b="1" dirty="0" smtClean="0">
                <a:solidFill>
                  <a:schemeClr val="bg1"/>
                </a:solidFill>
                <a:latin typeface="微软雅黑" panose="020B0503020204020204" pitchFamily="34" charset="-122"/>
                <a:ea typeface="微软雅黑" panose="020B0503020204020204" pitchFamily="34" charset="-122"/>
              </a:rPr>
              <a:t>8</a:t>
            </a:r>
            <a:r>
              <a:rPr lang="zh-CN" altLang="en-US" sz="2400" b="1" dirty="0" smtClean="0">
                <a:solidFill>
                  <a:schemeClr val="bg1"/>
                </a:solidFill>
                <a:latin typeface="微软雅黑" panose="020B0503020204020204" pitchFamily="34" charset="-122"/>
                <a:ea typeface="微软雅黑" panose="020B0503020204020204" pitchFamily="34" charset="-122"/>
              </a:rPr>
              <a:t>：</a:t>
            </a:r>
            <a:r>
              <a:rPr lang="zh-CN" altLang="zh-CN" sz="2400" b="1" dirty="0">
                <a:solidFill>
                  <a:schemeClr val="bg1"/>
                </a:solidFill>
                <a:latin typeface="微软雅黑" panose="020B0503020204020204" pitchFamily="34" charset="-122"/>
                <a:ea typeface="微软雅黑" panose="020B0503020204020204" pitchFamily="34" charset="-122"/>
              </a:rPr>
              <a:t>工程质量监督局网站</a:t>
            </a:r>
            <a:r>
              <a:rPr lang="zh-CN" altLang="en-US" sz="2400" b="1" dirty="0" smtClean="0">
                <a:solidFill>
                  <a:schemeClr val="bg1"/>
                </a:solidFill>
                <a:latin typeface="微软雅黑" panose="020B0503020204020204" pitchFamily="34" charset="-122"/>
                <a:ea typeface="微软雅黑" panose="020B0503020204020204" pitchFamily="34" charset="-122"/>
              </a:rPr>
              <a:t>部分</a:t>
            </a:r>
            <a:r>
              <a:rPr lang="zh-CN" altLang="zh-CN" sz="2400" b="1" dirty="0" smtClean="0">
                <a:solidFill>
                  <a:schemeClr val="bg1"/>
                </a:solidFill>
                <a:latin typeface="微软雅黑" panose="020B0503020204020204" pitchFamily="34" charset="-122"/>
                <a:ea typeface="微软雅黑" panose="020B0503020204020204" pitchFamily="34" charset="-122"/>
              </a:rPr>
              <a:t>信息无法显示</a:t>
            </a:r>
            <a:r>
              <a:rPr lang="zh-CN" altLang="zh-CN" sz="2400" b="1" dirty="0">
                <a:solidFill>
                  <a:schemeClr val="bg1"/>
                </a:solidFill>
                <a:latin typeface="微软雅黑" panose="020B0503020204020204" pitchFamily="34" charset="-122"/>
                <a:ea typeface="微软雅黑" panose="020B0503020204020204" pitchFamily="34" charset="-122"/>
              </a:rPr>
              <a:t>的处理案例</a:t>
            </a:r>
            <a:endParaRPr lang="zh-CN" altLang="en-US" sz="2400" b="1" dirty="0" smtClean="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363071" y="591856"/>
            <a:ext cx="9616268" cy="4713851"/>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fontAlgn="base">
              <a:spcBef>
                <a:spcPct val="0"/>
              </a:spcBef>
              <a:spcAft>
                <a:spcPct val="0"/>
              </a:spcAft>
            </a:pPr>
            <a:endParaRPr lang="zh-CN" altLang="en-US">
              <a:solidFill>
                <a:prstClr val="white"/>
              </a:solidFill>
              <a:latin typeface="微软雅黑"/>
            </a:endParaRPr>
          </a:p>
        </p:txBody>
      </p:sp>
      <p:grpSp>
        <p:nvGrpSpPr>
          <p:cNvPr id="27" name="组合 26"/>
          <p:cNvGrpSpPr/>
          <p:nvPr/>
        </p:nvGrpSpPr>
        <p:grpSpPr>
          <a:xfrm>
            <a:off x="595065" y="657590"/>
            <a:ext cx="1768027" cy="338554"/>
            <a:chOff x="467544" y="1437373"/>
            <a:chExt cx="1575470" cy="430162"/>
          </a:xfrm>
        </p:grpSpPr>
        <p:sp>
          <p:nvSpPr>
            <p:cNvPr id="22"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panose="020B0503020204020204" pitchFamily="34" charset="-122"/>
                  <a:ea typeface="微软雅黑" panose="020B0503020204020204" pitchFamily="34" charset="-122"/>
                </a:rPr>
                <a:t>问题现象</a:t>
              </a:r>
            </a:p>
          </p:txBody>
        </p:sp>
        <p:cxnSp>
          <p:nvCxnSpPr>
            <p:cNvPr id="20" name="直接连接符 19"/>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18" name="矩形标注 17"/>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a:rPr>
                <a:t>1</a:t>
              </a:r>
              <a:endParaRPr lang="zh-CN" altLang="en-US" sz="1600" dirty="0">
                <a:solidFill>
                  <a:prstClr val="white"/>
                </a:solidFill>
                <a:latin typeface="微软雅黑"/>
              </a:endParaRPr>
            </a:p>
          </p:txBody>
        </p:sp>
      </p:grpSp>
      <p:sp>
        <p:nvSpPr>
          <p:cNvPr id="26" name="矩形 25"/>
          <p:cNvSpPr/>
          <p:nvPr/>
        </p:nvSpPr>
        <p:spPr>
          <a:xfrm>
            <a:off x="522288" y="970559"/>
            <a:ext cx="4824536" cy="738654"/>
          </a:xfrm>
          <a:prstGeom prst="rect">
            <a:avLst/>
          </a:prstGeom>
          <a:noFill/>
        </p:spPr>
        <p:txBody>
          <a:bodyPr wrap="square" lIns="91431" tIns="45715" rIns="91431" bIns="45715">
            <a:spAutoFit/>
          </a:bodyPr>
          <a:lstStyle/>
          <a:p>
            <a:pPr>
              <a:lnSpc>
                <a:spcPct val="150000"/>
              </a:lnSpc>
            </a:pPr>
            <a:r>
              <a:rPr lang="en-US" altLang="zh-CN" sz="1400" dirty="0" smtClean="0">
                <a:latin typeface="微软雅黑" panose="020B0503020204020204" pitchFamily="34" charset="-122"/>
                <a:ea typeface="微软雅黑" panose="020B0503020204020204" pitchFamily="34" charset="-122"/>
              </a:rPr>
              <a:t>3</a:t>
            </a:r>
            <a:r>
              <a:rPr lang="zh-CN" altLang="en-US" sz="1400" dirty="0" smtClean="0">
                <a:latin typeface="微软雅黑" panose="020B0503020204020204" pitchFamily="34" charset="-122"/>
                <a:ea typeface="微软雅黑" panose="020B0503020204020204" pitchFamily="34" charset="-122"/>
              </a:rPr>
              <a:t>月</a:t>
            </a:r>
            <a:r>
              <a:rPr lang="en-US" altLang="zh-CN" sz="1400" dirty="0" smtClean="0">
                <a:latin typeface="微软雅黑" panose="020B0503020204020204" pitchFamily="34" charset="-122"/>
                <a:ea typeface="微软雅黑" panose="020B0503020204020204" pitchFamily="34" charset="-122"/>
              </a:rPr>
              <a:t>9</a:t>
            </a:r>
            <a:r>
              <a:rPr lang="zh-CN" altLang="en-US" sz="1400" dirty="0" smtClean="0">
                <a:latin typeface="微软雅黑" panose="020B0503020204020204" pitchFamily="34" charset="-122"/>
                <a:ea typeface="微软雅黑" panose="020B0503020204020204" pitchFamily="34" charset="-122"/>
              </a:rPr>
              <a:t>日</a:t>
            </a:r>
            <a:r>
              <a:rPr lang="zh-CN" altLang="zh-CN" sz="1400" dirty="0" smtClean="0">
                <a:latin typeface="微软雅黑" panose="020B0503020204020204" pitchFamily="34" charset="-122"/>
                <a:ea typeface="微软雅黑" panose="020B0503020204020204" pitchFamily="34" charset="-122"/>
              </a:rPr>
              <a:t>滨</a:t>
            </a:r>
            <a:r>
              <a:rPr lang="zh-CN" altLang="zh-CN" sz="1400" dirty="0">
                <a:latin typeface="微软雅黑" panose="020B0503020204020204" pitchFamily="34" charset="-122"/>
                <a:ea typeface="微软雅黑" panose="020B0503020204020204" pitchFamily="34" charset="-122"/>
              </a:rPr>
              <a:t>州某家客用户反映交通部工程质量监督局网站可打开网站首页，但是输入用户名和密码后无法查看报表信息</a:t>
            </a:r>
            <a:r>
              <a:rPr lang="zh-CN" altLang="zh-CN" sz="1400" dirty="0" smtClean="0">
                <a:latin typeface="微软雅黑" panose="020B0503020204020204" pitchFamily="34" charset="-122"/>
                <a:ea typeface="微软雅黑" panose="020B0503020204020204" pitchFamily="34" charset="-122"/>
              </a:rPr>
              <a:t>。</a:t>
            </a:r>
            <a:endParaRPr lang="zh-CN" altLang="zh-CN" sz="1400" dirty="0">
              <a:latin typeface="微软雅黑" panose="020B0503020204020204" pitchFamily="34" charset="-122"/>
              <a:ea typeface="微软雅黑" panose="020B0503020204020204" pitchFamily="34" charset="-122"/>
            </a:endParaRPr>
          </a:p>
        </p:txBody>
      </p:sp>
      <p:grpSp>
        <p:nvGrpSpPr>
          <p:cNvPr id="32" name="组合 31"/>
          <p:cNvGrpSpPr/>
          <p:nvPr/>
        </p:nvGrpSpPr>
        <p:grpSpPr>
          <a:xfrm>
            <a:off x="594296" y="1762646"/>
            <a:ext cx="1768027" cy="338554"/>
            <a:chOff x="467544" y="1437373"/>
            <a:chExt cx="1575470" cy="430162"/>
          </a:xfrm>
        </p:grpSpPr>
        <p:sp>
          <p:nvSpPr>
            <p:cNvPr id="33" name="文本框 3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smtClean="0">
                  <a:solidFill>
                    <a:prstClr val="black"/>
                  </a:solidFill>
                  <a:latin typeface="微软雅黑" panose="020B0503020204020204" pitchFamily="34" charset="-122"/>
                  <a:ea typeface="微软雅黑" panose="020B0503020204020204" pitchFamily="34" charset="-122"/>
                </a:rPr>
                <a:t>原因分析</a:t>
              </a:r>
              <a:endParaRPr lang="en-US" altLang="zh-CN" sz="1600" b="1" dirty="0" smtClean="0">
                <a:solidFill>
                  <a:prstClr val="black"/>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5" name="矩形标注 3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2</a:t>
              </a:r>
              <a:endParaRPr lang="zh-CN" altLang="en-US" sz="1600" dirty="0">
                <a:solidFill>
                  <a:prstClr val="white"/>
                </a:solidFill>
                <a:latin typeface="微软雅黑"/>
              </a:endParaRPr>
            </a:p>
          </p:txBody>
        </p:sp>
      </p:grpSp>
      <p:grpSp>
        <p:nvGrpSpPr>
          <p:cNvPr id="37" name="组合 36"/>
          <p:cNvGrpSpPr/>
          <p:nvPr/>
        </p:nvGrpSpPr>
        <p:grpSpPr>
          <a:xfrm>
            <a:off x="5777273" y="761874"/>
            <a:ext cx="1768027" cy="338554"/>
            <a:chOff x="467544" y="1437373"/>
            <a:chExt cx="1575470" cy="430162"/>
          </a:xfrm>
        </p:grpSpPr>
        <p:sp>
          <p:nvSpPr>
            <p:cNvPr id="38" name="文本框 37"/>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panose="020B0503020204020204" pitchFamily="34" charset="-122"/>
                  <a:ea typeface="微软雅黑" panose="020B0503020204020204" pitchFamily="34" charset="-122"/>
                </a:rPr>
                <a:t>解决措施</a:t>
              </a:r>
            </a:p>
          </p:txBody>
        </p:sp>
        <p:cxnSp>
          <p:nvCxnSpPr>
            <p:cNvPr id="39" name="直接连接符 38"/>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0" name="矩形标注 39"/>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3</a:t>
              </a:r>
              <a:endParaRPr lang="zh-CN" altLang="en-US" sz="1600" dirty="0">
                <a:solidFill>
                  <a:prstClr val="white"/>
                </a:solidFill>
                <a:latin typeface="微软雅黑"/>
              </a:endParaRPr>
            </a:p>
          </p:txBody>
        </p:sp>
      </p:grpSp>
      <p:sp>
        <p:nvSpPr>
          <p:cNvPr id="41" name="矩形 40"/>
          <p:cNvSpPr/>
          <p:nvPr/>
        </p:nvSpPr>
        <p:spPr>
          <a:xfrm>
            <a:off x="5696463" y="1158206"/>
            <a:ext cx="4256361" cy="738654"/>
          </a:xfrm>
          <a:prstGeom prst="rect">
            <a:avLst/>
          </a:prstGeom>
          <a:noFill/>
        </p:spPr>
        <p:txBody>
          <a:bodyPr wrap="square" lIns="91431" tIns="45715" rIns="91431" bIns="45715">
            <a:spAutoFit/>
          </a:bodyPr>
          <a:lstStyle/>
          <a:p>
            <a:pPr fontAlgn="base">
              <a:lnSpc>
                <a:spcPct val="150000"/>
              </a:lnSpc>
              <a:spcBef>
                <a:spcPct val="0"/>
              </a:spcBef>
              <a:spcAft>
                <a:spcPct val="0"/>
              </a:spcAft>
            </a:pPr>
            <a:r>
              <a:rPr lang="zh-CN" altLang="zh-CN" sz="1400" dirty="0">
                <a:latin typeface="微软雅黑" panose="020B0503020204020204" pitchFamily="34" charset="-122"/>
                <a:ea typeface="微软雅黑" panose="020B0503020204020204" pitchFamily="34" charset="-122"/>
              </a:rPr>
              <a:t>将网站的网址加载到</a:t>
            </a:r>
            <a:r>
              <a:rPr lang="en-US" altLang="zh-CN" sz="1400" dirty="0">
                <a:latin typeface="微软雅黑" panose="020B0503020204020204" pitchFamily="34" charset="-122"/>
                <a:ea typeface="微软雅黑" panose="020B0503020204020204" pitchFamily="34" charset="-122"/>
              </a:rPr>
              <a:t>Internet</a:t>
            </a:r>
            <a:r>
              <a:rPr lang="zh-CN" altLang="zh-CN" sz="1400" dirty="0">
                <a:latin typeface="微软雅黑" panose="020B0503020204020204" pitchFamily="34" charset="-122"/>
                <a:ea typeface="微软雅黑" panose="020B0503020204020204" pitchFamily="34" charset="-122"/>
              </a:rPr>
              <a:t>选项安全列表的可信任站点中</a:t>
            </a:r>
            <a:r>
              <a:rPr lang="zh-CN"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报表信息可查看</a:t>
            </a:r>
            <a:r>
              <a:rPr lang="zh-CN"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网页可正常使用</a:t>
            </a:r>
            <a:r>
              <a:rPr lang="zh-CN" altLang="en-US" sz="1400" kern="0" dirty="0" smtClean="0">
                <a:solidFill>
                  <a:prstClr val="black"/>
                </a:solidFill>
                <a:latin typeface="微软雅黑" panose="020B0503020204020204" pitchFamily="34" charset="-122"/>
                <a:ea typeface="微软雅黑" panose="020B0503020204020204" pitchFamily="34" charset="-122"/>
                <a:cs typeface="宋体" panose="02010600030101010101" pitchFamily="2" charset="-122"/>
              </a:rPr>
              <a:t>。</a:t>
            </a:r>
            <a:endParaRPr lang="zh-CN" altLang="en-US" sz="1400" kern="0" dirty="0">
              <a:solidFill>
                <a:prstClr val="black"/>
              </a:solidFill>
              <a:latin typeface="微软雅黑" panose="020B0503020204020204" pitchFamily="34" charset="-122"/>
              <a:ea typeface="微软雅黑" panose="020B0503020204020204" pitchFamily="34" charset="-122"/>
              <a:cs typeface="宋体" panose="02010600030101010101" pitchFamily="2" charset="-122"/>
            </a:endParaRPr>
          </a:p>
        </p:txBody>
      </p:sp>
      <p:grpSp>
        <p:nvGrpSpPr>
          <p:cNvPr id="42" name="组合 41"/>
          <p:cNvGrpSpPr/>
          <p:nvPr/>
        </p:nvGrpSpPr>
        <p:grpSpPr>
          <a:xfrm>
            <a:off x="5777273" y="2124251"/>
            <a:ext cx="1768027" cy="338554"/>
            <a:chOff x="467544" y="1437373"/>
            <a:chExt cx="1575470" cy="430162"/>
          </a:xfrm>
        </p:grpSpPr>
        <p:sp>
          <p:nvSpPr>
            <p:cNvPr id="43" name="文本框 4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panose="020B0503020204020204" pitchFamily="34" charset="-122"/>
                  <a:ea typeface="微软雅黑" panose="020B0503020204020204" pitchFamily="34" charset="-122"/>
                </a:rPr>
                <a:t>经验总结</a:t>
              </a:r>
            </a:p>
          </p:txBody>
        </p:sp>
        <p:cxnSp>
          <p:nvCxnSpPr>
            <p:cNvPr id="44" name="直接连接符 4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5" name="矩形标注 4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smtClean="0">
                  <a:solidFill>
                    <a:prstClr val="white"/>
                  </a:solidFill>
                  <a:latin typeface="微软雅黑"/>
                </a:rPr>
                <a:t>4</a:t>
              </a:r>
              <a:endParaRPr lang="zh-CN" altLang="en-US" sz="1600" dirty="0">
                <a:solidFill>
                  <a:prstClr val="white"/>
                </a:solidFill>
                <a:latin typeface="微软雅黑"/>
              </a:endParaRPr>
            </a:p>
          </p:txBody>
        </p:sp>
      </p:grpSp>
      <p:sp>
        <p:nvSpPr>
          <p:cNvPr id="3" name="矩形 2"/>
          <p:cNvSpPr/>
          <p:nvPr/>
        </p:nvSpPr>
        <p:spPr>
          <a:xfrm>
            <a:off x="522288" y="2122686"/>
            <a:ext cx="4824536" cy="1384995"/>
          </a:xfrm>
          <a:prstGeom prst="rect">
            <a:avLst/>
          </a:prstGeom>
        </p:spPr>
        <p:txBody>
          <a:bodyPr wrap="square" lIns="91431" tIns="45715" rIns="91431" bIns="45715">
            <a:spAutoFit/>
          </a:bodyPr>
          <a:lstStyle/>
          <a:p>
            <a:r>
              <a:rPr lang="en-US" altLang="zh-CN" sz="1400" dirty="0" smtClean="0">
                <a:latin typeface="微软雅黑" panose="020B0503020204020204" pitchFamily="34" charset="-122"/>
                <a:ea typeface="微软雅黑" panose="020B0503020204020204" pitchFamily="34" charset="-122"/>
              </a:rPr>
              <a:t>1</a:t>
            </a:r>
            <a:r>
              <a:rPr lang="zh-CN" altLang="en-US" sz="1400" dirty="0" smtClean="0">
                <a:latin typeface="微软雅黑" panose="020B0503020204020204" pitchFamily="34" charset="-122"/>
                <a:ea typeface="微软雅黑" panose="020B0503020204020204" pitchFamily="34" charset="-122"/>
              </a:rPr>
              <a:t>、</a:t>
            </a:r>
            <a:r>
              <a:rPr lang="zh-CN" altLang="zh-CN" sz="1400" dirty="0" smtClean="0">
                <a:latin typeface="微软雅黑" panose="020B0503020204020204" pitchFamily="34" charset="-122"/>
                <a:ea typeface="微软雅黑" panose="020B0503020204020204" pitchFamily="34" charset="-122"/>
              </a:rPr>
              <a:t>现场</a:t>
            </a:r>
            <a:r>
              <a:rPr lang="zh-CN" altLang="zh-CN" sz="1400" dirty="0">
                <a:latin typeface="微软雅黑" panose="020B0503020204020204" pitchFamily="34" charset="-122"/>
                <a:ea typeface="微软雅黑" panose="020B0503020204020204" pitchFamily="34" charset="-122"/>
              </a:rPr>
              <a:t>测速正常，</a:t>
            </a:r>
            <a:r>
              <a:rPr lang="en-US" altLang="zh-CN" sz="1400" dirty="0">
                <a:latin typeface="微软雅黑" panose="020B0503020204020204" pitchFamily="34" charset="-122"/>
                <a:ea typeface="微软雅黑" panose="020B0503020204020204" pitchFamily="34" charset="-122"/>
              </a:rPr>
              <a:t>DNS</a:t>
            </a:r>
            <a:r>
              <a:rPr lang="zh-CN" altLang="en-US" sz="1400" dirty="0">
                <a:latin typeface="微软雅黑" panose="020B0503020204020204" pitchFamily="34" charset="-122"/>
                <a:ea typeface="微软雅黑" panose="020B0503020204020204" pitchFamily="34" charset="-122"/>
              </a:rPr>
              <a:t>设置正常，</a:t>
            </a:r>
            <a:r>
              <a:rPr lang="zh-CN" altLang="zh-CN" sz="1400" dirty="0">
                <a:latin typeface="微软雅黑" panose="020B0503020204020204" pitchFamily="34" charset="-122"/>
                <a:ea typeface="微软雅黑" panose="020B0503020204020204" pitchFamily="34" charset="-122"/>
              </a:rPr>
              <a:t>打开其他网页、视频等网页加载均正常。</a:t>
            </a:r>
          </a:p>
          <a:p>
            <a:r>
              <a:rPr lang="en-US" altLang="zh-CN" sz="1400" dirty="0" smtClean="0">
                <a:latin typeface="微软雅黑" panose="020B0503020204020204" pitchFamily="34" charset="-122"/>
                <a:ea typeface="微软雅黑" panose="020B0503020204020204" pitchFamily="34" charset="-122"/>
              </a:rPr>
              <a:t>2</a:t>
            </a:r>
            <a:r>
              <a:rPr lang="zh-CN" altLang="en-US" sz="1400" dirty="0" smtClean="0">
                <a:latin typeface="微软雅黑" panose="020B0503020204020204" pitchFamily="34" charset="-122"/>
                <a:ea typeface="微软雅黑" panose="020B0503020204020204" pitchFamily="34" charset="-122"/>
              </a:rPr>
              <a:t>、</a:t>
            </a:r>
            <a:r>
              <a:rPr lang="zh-CN" altLang="zh-CN" sz="1400" dirty="0" smtClean="0">
                <a:latin typeface="微软雅黑" panose="020B0503020204020204" pitchFamily="34" charset="-122"/>
                <a:ea typeface="微软雅黑" panose="020B0503020204020204" pitchFamily="34" charset="-122"/>
              </a:rPr>
              <a:t>清理</a:t>
            </a:r>
            <a:r>
              <a:rPr lang="zh-CN" altLang="zh-CN" sz="1400" dirty="0">
                <a:latin typeface="微软雅黑" panose="020B0503020204020204" pitchFamily="34" charset="-122"/>
                <a:ea typeface="微软雅黑" panose="020B0503020204020204" pitchFamily="34" charset="-122"/>
              </a:rPr>
              <a:t>浏览器本地缓存的临时文件和</a:t>
            </a:r>
            <a:r>
              <a:rPr lang="en-US" altLang="zh-CN" sz="1400" dirty="0">
                <a:latin typeface="微软雅黑" panose="020B0503020204020204" pitchFamily="34" charset="-122"/>
                <a:ea typeface="微软雅黑" panose="020B0503020204020204" pitchFamily="34" charset="-122"/>
              </a:rPr>
              <a:t>COOKIE</a:t>
            </a:r>
            <a:r>
              <a:rPr lang="zh-CN" altLang="zh-CN" sz="1400" dirty="0">
                <a:latin typeface="微软雅黑" panose="020B0503020204020204" pitchFamily="34" charset="-122"/>
                <a:ea typeface="微软雅黑" panose="020B0503020204020204" pitchFamily="34" charset="-122"/>
              </a:rPr>
              <a:t>，关闭浏览器重新登录，测试故障仍未恢复</a:t>
            </a:r>
            <a:r>
              <a:rPr lang="zh-CN" altLang="zh-CN" sz="1400" dirty="0" smtClean="0">
                <a:latin typeface="微软雅黑" panose="020B0503020204020204" pitchFamily="34" charset="-122"/>
                <a:ea typeface="微软雅黑" panose="020B0503020204020204" pitchFamily="34" charset="-122"/>
              </a:rPr>
              <a:t>。</a:t>
            </a:r>
            <a:endParaRPr lang="en-US" altLang="zh-CN" sz="1400" dirty="0" smtClean="0">
              <a:latin typeface="微软雅黑" panose="020B0503020204020204" pitchFamily="34" charset="-122"/>
              <a:ea typeface="微软雅黑" panose="020B0503020204020204" pitchFamily="34" charset="-122"/>
            </a:endParaRPr>
          </a:p>
          <a:p>
            <a:r>
              <a:rPr lang="en-US" altLang="zh-CN" sz="1400" dirty="0" smtClean="0">
                <a:latin typeface="微软雅黑" panose="020B0503020204020204" pitchFamily="34" charset="-122"/>
                <a:ea typeface="微软雅黑" panose="020B0503020204020204" pitchFamily="34" charset="-122"/>
              </a:rPr>
              <a:t>3</a:t>
            </a:r>
            <a:r>
              <a:rPr lang="zh-CN" altLang="en-US" sz="1400" dirty="0" smtClean="0">
                <a:latin typeface="微软雅黑" panose="020B0503020204020204" pitchFamily="34" charset="-122"/>
                <a:ea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rPr>
              <a:t>ping</a:t>
            </a:r>
            <a:r>
              <a:rPr lang="zh-CN" altLang="zh-CN" sz="1400" dirty="0">
                <a:latin typeface="微软雅黑" panose="020B0503020204020204" pitchFamily="34" charset="-122"/>
                <a:ea typeface="微软雅黑" panose="020B0503020204020204" pitchFamily="34" charset="-122"/>
              </a:rPr>
              <a:t>和</a:t>
            </a:r>
            <a:r>
              <a:rPr lang="en-US" altLang="zh-CN" sz="1400" dirty="0" err="1">
                <a:latin typeface="微软雅黑" panose="020B0503020204020204" pitchFamily="34" charset="-122"/>
                <a:ea typeface="微软雅黑" panose="020B0503020204020204" pitchFamily="34" charset="-122"/>
              </a:rPr>
              <a:t>tracert</a:t>
            </a:r>
            <a:r>
              <a:rPr lang="zh-CN" altLang="zh-CN" sz="1400" dirty="0">
                <a:latin typeface="微软雅黑" panose="020B0503020204020204" pitchFamily="34" charset="-122"/>
                <a:ea typeface="微软雅黑" panose="020B0503020204020204" pitchFamily="34" charset="-122"/>
              </a:rPr>
              <a:t>网页服务器</a:t>
            </a:r>
            <a:r>
              <a:rPr lang="zh-CN" altLang="zh-CN" sz="1400" dirty="0" smtClean="0">
                <a:latin typeface="微软雅黑" panose="020B0503020204020204" pitchFamily="34" charset="-122"/>
                <a:ea typeface="微软雅黑" panose="020B0503020204020204" pitchFamily="34" charset="-122"/>
              </a:rPr>
              <a:t>地址</a:t>
            </a:r>
            <a:r>
              <a:rPr lang="zh-CN" altLang="en-US" sz="1400" dirty="0" smtClean="0">
                <a:latin typeface="微软雅黑" panose="020B0503020204020204" pitchFamily="34" charset="-122"/>
                <a:ea typeface="微软雅黑" panose="020B0503020204020204" pitchFamily="34" charset="-122"/>
              </a:rPr>
              <a:t>发现走铁通，调整路由后故障仍未恢复</a:t>
            </a:r>
            <a:r>
              <a:rPr lang="zh-CN" altLang="zh-CN" sz="1400" dirty="0" smtClean="0">
                <a:latin typeface="微软雅黑" panose="020B0503020204020204" pitchFamily="34" charset="-122"/>
                <a:ea typeface="微软雅黑" panose="020B0503020204020204" pitchFamily="34" charset="-122"/>
              </a:rPr>
              <a:t>。</a:t>
            </a:r>
            <a:endParaRPr lang="zh-CN" altLang="zh-CN" sz="1400" dirty="0">
              <a:latin typeface="微软雅黑" panose="020B0503020204020204" pitchFamily="34" charset="-122"/>
              <a:ea typeface="微软雅黑" panose="020B0503020204020204" pitchFamily="34" charset="-122"/>
            </a:endParaRPr>
          </a:p>
        </p:txBody>
      </p:sp>
      <p:sp>
        <p:nvSpPr>
          <p:cNvPr id="36" name="矩形 35"/>
          <p:cNvSpPr/>
          <p:nvPr/>
        </p:nvSpPr>
        <p:spPr>
          <a:xfrm>
            <a:off x="5673416" y="2596583"/>
            <a:ext cx="4209911" cy="1384995"/>
          </a:xfrm>
          <a:prstGeom prst="rect">
            <a:avLst/>
          </a:prstGeom>
        </p:spPr>
        <p:txBody>
          <a:bodyPr wrap="square" lIns="91431" tIns="45715" rIns="91431" bIns="45715">
            <a:spAutoFit/>
          </a:bodyPr>
          <a:lstStyle/>
          <a:p>
            <a:pPr>
              <a:lnSpc>
                <a:spcPct val="150000"/>
              </a:lnSpc>
            </a:pPr>
            <a:r>
              <a:rPr lang="zh-CN" altLang="zh-CN" sz="1400" dirty="0">
                <a:latin typeface="微软雅黑" panose="020B0503020204020204" pitchFamily="34" charset="-122"/>
                <a:ea typeface="微软雅黑" panose="020B0503020204020204" pitchFamily="34" charset="-122"/>
              </a:rPr>
              <a:t>对于此类网页打不开的故障，</a:t>
            </a:r>
            <a:r>
              <a:rPr lang="zh-CN" altLang="zh-CN" sz="1400" dirty="0" smtClean="0">
                <a:latin typeface="微软雅黑" panose="020B0503020204020204" pitchFamily="34" charset="-122"/>
                <a:ea typeface="微软雅黑" panose="020B0503020204020204" pitchFamily="34" charset="-122"/>
              </a:rPr>
              <a:t>由于</a:t>
            </a:r>
            <a:r>
              <a:rPr lang="zh-CN" altLang="en-US" sz="1400" dirty="0" smtClean="0">
                <a:latin typeface="微软雅黑" panose="020B0503020204020204" pitchFamily="34" charset="-122"/>
                <a:ea typeface="微软雅黑" panose="020B0503020204020204" pitchFamily="34" charset="-122"/>
              </a:rPr>
              <a:t>一些网站，尤其政府类网站对安全性要求很高，访问时会</a:t>
            </a:r>
            <a:r>
              <a:rPr lang="zh-CN" altLang="zh-CN" sz="1400" dirty="0" smtClean="0">
                <a:latin typeface="微软雅黑" panose="020B0503020204020204" pitchFamily="34" charset="-122"/>
                <a:ea typeface="微软雅黑" panose="020B0503020204020204" pitchFamily="34" charset="-122"/>
              </a:rPr>
              <a:t>限制网站</a:t>
            </a:r>
            <a:r>
              <a:rPr lang="zh-CN" altLang="en-US" sz="1400" dirty="0" smtClean="0">
                <a:latin typeface="微软雅黑" panose="020B0503020204020204" pitchFamily="34" charset="-122"/>
                <a:ea typeface="微软雅黑" panose="020B0503020204020204" pitchFamily="34" charset="-122"/>
              </a:rPr>
              <a:t>中</a:t>
            </a:r>
            <a:r>
              <a:rPr lang="zh-CN" altLang="zh-CN" sz="1400" dirty="0" smtClean="0">
                <a:latin typeface="微软雅黑" panose="020B0503020204020204" pitchFamily="34" charset="-122"/>
                <a:ea typeface="微软雅黑" panose="020B0503020204020204" pitchFamily="34" charset="-122"/>
              </a:rPr>
              <a:t>某些</a:t>
            </a:r>
            <a:r>
              <a:rPr lang="zh-CN" altLang="zh-CN" sz="1400" dirty="0">
                <a:latin typeface="微软雅黑" panose="020B0503020204020204" pitchFamily="34" charset="-122"/>
                <a:ea typeface="微软雅黑" panose="020B0503020204020204" pitchFamily="34" charset="-122"/>
              </a:rPr>
              <a:t>内容的访问，可首先尝试</a:t>
            </a:r>
            <a:r>
              <a:rPr lang="zh-CN" altLang="zh-CN" sz="1400" dirty="0" smtClean="0">
                <a:latin typeface="微软雅黑" panose="020B0503020204020204" pitchFamily="34" charset="-122"/>
                <a:ea typeface="微软雅黑" panose="020B0503020204020204" pitchFamily="34" charset="-122"/>
              </a:rPr>
              <a:t>将网址</a:t>
            </a:r>
            <a:r>
              <a:rPr lang="zh-CN" altLang="en-US" sz="1400" dirty="0" smtClean="0">
                <a:latin typeface="微软雅黑" panose="020B0503020204020204" pitchFamily="34" charset="-122"/>
                <a:ea typeface="微软雅黑" panose="020B0503020204020204" pitchFamily="34" charset="-122"/>
              </a:rPr>
              <a:t>域名</a:t>
            </a:r>
            <a:r>
              <a:rPr lang="zh-CN" altLang="zh-CN" sz="1400" dirty="0" smtClean="0">
                <a:latin typeface="微软雅黑" panose="020B0503020204020204" pitchFamily="34" charset="-122"/>
                <a:ea typeface="微软雅黑" panose="020B0503020204020204" pitchFamily="34" charset="-122"/>
              </a:rPr>
              <a:t>加入</a:t>
            </a:r>
            <a:r>
              <a:rPr lang="zh-CN" altLang="zh-CN" sz="1400" dirty="0">
                <a:latin typeface="微软雅黑" panose="020B0503020204020204" pitchFamily="34" charset="-122"/>
                <a:ea typeface="微软雅黑" panose="020B0503020204020204" pitchFamily="34" charset="-122"/>
              </a:rPr>
              <a:t>到</a:t>
            </a:r>
            <a:r>
              <a:rPr lang="en-US" altLang="zh-CN" sz="1400" dirty="0">
                <a:latin typeface="微软雅黑" panose="020B0503020204020204" pitchFamily="34" charset="-122"/>
                <a:ea typeface="微软雅黑" panose="020B0503020204020204" pitchFamily="34" charset="-122"/>
              </a:rPr>
              <a:t>Internet</a:t>
            </a:r>
            <a:r>
              <a:rPr lang="zh-CN" altLang="zh-CN" sz="1400" dirty="0">
                <a:latin typeface="微软雅黑" panose="020B0503020204020204" pitchFamily="34" charset="-122"/>
                <a:ea typeface="微软雅黑" panose="020B0503020204020204" pitchFamily="34" charset="-122"/>
              </a:rPr>
              <a:t>选项中的可信任</a:t>
            </a:r>
            <a:r>
              <a:rPr lang="zh-CN" altLang="zh-CN" sz="1400" dirty="0" smtClean="0">
                <a:latin typeface="微软雅黑" panose="020B0503020204020204" pitchFamily="34" charset="-122"/>
                <a:ea typeface="微软雅黑" panose="020B0503020204020204" pitchFamily="34" charset="-122"/>
              </a:rPr>
              <a:t>站点</a:t>
            </a:r>
            <a:r>
              <a:rPr lang="zh-CN" altLang="en-US" sz="1400" dirty="0" smtClean="0">
                <a:latin typeface="微软雅黑" panose="020B0503020204020204" pitchFamily="34" charset="-122"/>
                <a:ea typeface="微软雅黑" panose="020B0503020204020204" pitchFamily="34" charset="-122"/>
              </a:rPr>
              <a:t>列表</a:t>
            </a:r>
            <a:r>
              <a:rPr lang="zh-CN" altLang="zh-CN" sz="1400" dirty="0" smtClean="0">
                <a:latin typeface="微软雅黑" panose="020B0503020204020204" pitchFamily="34" charset="-122"/>
                <a:ea typeface="微软雅黑" panose="020B0503020204020204" pitchFamily="34" charset="-122"/>
              </a:rPr>
              <a:t>中</a:t>
            </a:r>
            <a:r>
              <a:rPr lang="zh-CN" altLang="zh-CN" sz="1400" dirty="0">
                <a:latin typeface="微软雅黑" panose="020B0503020204020204" pitchFamily="34" charset="-122"/>
                <a:ea typeface="微软雅黑" panose="020B0503020204020204" pitchFamily="34" charset="-122"/>
              </a:rPr>
              <a:t>。</a:t>
            </a:r>
            <a:endParaRPr lang="en-US" altLang="zh-CN" sz="1400" dirty="0" smtClean="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94296" y="3562846"/>
            <a:ext cx="4618516" cy="1584176"/>
          </a:xfrm>
          <a:prstGeom prst="rect">
            <a:avLst/>
          </a:prstGeom>
        </p:spPr>
      </p:pic>
    </p:spTree>
    <p:extLst>
      <p:ext uri="{BB962C8B-B14F-4D97-AF65-F5344CB8AC3E}">
        <p14:creationId xmlns:p14="http://schemas.microsoft.com/office/powerpoint/2010/main" xmlns="" val="25899669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2248" y="106463"/>
            <a:ext cx="8000089"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9</a:t>
            </a:r>
            <a:r>
              <a:rPr lang="zh-CN" altLang="en-US" sz="2400" b="1" dirty="0" smtClean="0">
                <a:solidFill>
                  <a:schemeClr val="bg1"/>
                </a:solidFill>
                <a:latin typeface="+mn-ea"/>
              </a:rPr>
              <a:t>：</a:t>
            </a:r>
            <a:r>
              <a:rPr lang="zh-CN" altLang="zh-CN" sz="2400" b="1" dirty="0" smtClean="0">
                <a:solidFill>
                  <a:schemeClr val="bg1"/>
                </a:solidFill>
                <a:latin typeface="+mn-ea"/>
              </a:rPr>
              <a:t>三星</a:t>
            </a:r>
            <a:r>
              <a:rPr lang="en-US" altLang="zh-CN" sz="2400" b="1" dirty="0">
                <a:solidFill>
                  <a:schemeClr val="bg1"/>
                </a:solidFill>
                <a:latin typeface="+mn-ea"/>
              </a:rPr>
              <a:t>S6</a:t>
            </a:r>
            <a:r>
              <a:rPr lang="zh-CN" altLang="zh-CN" sz="2400" b="1" dirty="0">
                <a:solidFill>
                  <a:schemeClr val="bg1"/>
                </a:solidFill>
                <a:latin typeface="+mn-ea"/>
              </a:rPr>
              <a:t>基带版本低造成</a:t>
            </a:r>
            <a:r>
              <a:rPr lang="en-US" altLang="zh-CN" sz="2400" b="1" dirty="0">
                <a:solidFill>
                  <a:schemeClr val="bg1"/>
                </a:solidFill>
                <a:latin typeface="+mn-ea"/>
              </a:rPr>
              <a:t>VOLTE</a:t>
            </a:r>
            <a:r>
              <a:rPr lang="zh-CN" altLang="zh-CN" sz="2400" b="1" dirty="0">
                <a:solidFill>
                  <a:schemeClr val="bg1"/>
                </a:solidFill>
                <a:latin typeface="+mn-ea"/>
              </a:rPr>
              <a:t>通话异常问题</a:t>
            </a:r>
            <a:endParaRPr lang="zh-CN" altLang="en-US" sz="2400" b="1" dirty="0">
              <a:solidFill>
                <a:schemeClr val="bg1"/>
              </a:solidFill>
              <a:latin typeface="+mn-ea"/>
            </a:endParaRPr>
          </a:p>
        </p:txBody>
      </p:sp>
      <p:sp>
        <p:nvSpPr>
          <p:cNvPr id="3" name="矩形 2"/>
          <p:cNvSpPr/>
          <p:nvPr/>
        </p:nvSpPr>
        <p:spPr>
          <a:xfrm>
            <a:off x="159608" y="552211"/>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en-US" altLang="zh-CN" b="1" smtClean="0">
                <a:solidFill>
                  <a:prstClr val="black"/>
                </a:solidFill>
                <a:latin typeface="Arial" charset="0"/>
              </a:rPr>
              <a:t>【</a:t>
            </a:r>
            <a:r>
              <a:rPr lang="zh-CN" altLang="en-US" b="1" smtClean="0">
                <a:solidFill>
                  <a:prstClr val="black"/>
                </a:solidFill>
                <a:latin typeface="Arial" charset="0"/>
              </a:rPr>
              <a:t>问题描述</a:t>
            </a:r>
            <a:r>
              <a:rPr lang="en-US" altLang="zh-CN" b="1" smtClean="0">
                <a:solidFill>
                  <a:prstClr val="black"/>
                </a:solidFill>
                <a:latin typeface="Arial" charset="0"/>
              </a:rPr>
              <a:t>】</a:t>
            </a:r>
            <a:r>
              <a:rPr lang="zh-CN" altLang="en-US" b="1" smtClean="0">
                <a:solidFill>
                  <a:prstClr val="black"/>
                </a:solidFill>
                <a:latin typeface="Arial" charset="0"/>
              </a:rPr>
              <a:t>：</a:t>
            </a:r>
            <a:endParaRPr lang="en-US" altLang="zh-CN" b="1" dirty="0">
              <a:solidFill>
                <a:prstClr val="black"/>
              </a:solidFill>
              <a:latin typeface="Arial" charset="0"/>
            </a:endParaRPr>
          </a:p>
        </p:txBody>
      </p:sp>
      <p:sp>
        <p:nvSpPr>
          <p:cNvPr id="4" name="TextBox 3"/>
          <p:cNvSpPr txBox="1"/>
          <p:nvPr/>
        </p:nvSpPr>
        <p:spPr>
          <a:xfrm>
            <a:off x="594296" y="898550"/>
            <a:ext cx="3959640" cy="1015663"/>
          </a:xfrm>
          <a:prstGeom prst="rect">
            <a:avLst/>
          </a:prstGeom>
          <a:noFill/>
        </p:spPr>
        <p:txBody>
          <a:bodyPr wrap="square" lIns="91431" tIns="45715" rIns="91431" bIns="45715" rtlCol="0">
            <a:spAutoFit/>
          </a:bodyPr>
          <a:lstStyle/>
          <a:p>
            <a:r>
              <a:rPr lang="zh-CN" altLang="zh-CN" sz="1200" dirty="0"/>
              <a:t>支持</a:t>
            </a:r>
            <a:r>
              <a:rPr lang="en-US" altLang="zh-CN" sz="1200" dirty="0"/>
              <a:t>VOLTE</a:t>
            </a:r>
            <a:r>
              <a:rPr lang="zh-CN" altLang="zh-CN" sz="1200" dirty="0"/>
              <a:t>功能的三星</a:t>
            </a:r>
            <a:r>
              <a:rPr lang="en-US" altLang="zh-CN" sz="1200" dirty="0"/>
              <a:t>S6</a:t>
            </a:r>
            <a:r>
              <a:rPr lang="zh-CN" altLang="zh-CN" sz="1200" dirty="0"/>
              <a:t>使用</a:t>
            </a:r>
            <a:r>
              <a:rPr lang="en-US" altLang="zh-CN" sz="1200" dirty="0"/>
              <a:t>VOLTE</a:t>
            </a:r>
            <a:r>
              <a:rPr lang="zh-CN" altLang="zh-CN" sz="1200" dirty="0"/>
              <a:t>号码拨打非</a:t>
            </a:r>
            <a:r>
              <a:rPr lang="en-US" altLang="zh-CN" sz="1200" dirty="0"/>
              <a:t>VOLTE</a:t>
            </a:r>
            <a:r>
              <a:rPr lang="zh-CN" altLang="zh-CN" sz="1200" dirty="0"/>
              <a:t>终端通话正常，在将被叫号码开通</a:t>
            </a:r>
            <a:r>
              <a:rPr lang="en-US" altLang="zh-CN" sz="1200" dirty="0"/>
              <a:t>VOLTE</a:t>
            </a:r>
            <a:r>
              <a:rPr lang="zh-CN" altLang="zh-CN" sz="1200" dirty="0"/>
              <a:t>功能后仍使用非</a:t>
            </a:r>
            <a:r>
              <a:rPr lang="en-US" altLang="zh-CN" sz="1200" dirty="0"/>
              <a:t>VOLTE</a:t>
            </a:r>
            <a:r>
              <a:rPr lang="zh-CN" altLang="zh-CN" sz="1200" dirty="0"/>
              <a:t>终端，出现通话</a:t>
            </a:r>
            <a:r>
              <a:rPr lang="en-US" altLang="zh-CN" sz="1200" dirty="0"/>
              <a:t>20</a:t>
            </a:r>
            <a:r>
              <a:rPr lang="zh-CN" altLang="zh-CN" sz="1200" dirty="0"/>
              <a:t>秒立即挂断的现象，并且在弱覆盖区域无法启动</a:t>
            </a:r>
            <a:r>
              <a:rPr lang="en-US" altLang="zh-CN" sz="1200" dirty="0" err="1"/>
              <a:t>esrvcc</a:t>
            </a:r>
            <a:r>
              <a:rPr lang="zh-CN" altLang="zh-CN" sz="1200" dirty="0"/>
              <a:t>功能至</a:t>
            </a:r>
            <a:r>
              <a:rPr lang="en-US" altLang="zh-CN" sz="1200" dirty="0"/>
              <a:t>GSM</a:t>
            </a:r>
            <a:r>
              <a:rPr lang="zh-CN" altLang="zh-CN" sz="1200" dirty="0"/>
              <a:t>网络，只能在</a:t>
            </a:r>
            <a:r>
              <a:rPr lang="en-US" altLang="zh-CN" sz="1200" dirty="0"/>
              <a:t>VOLTE</a:t>
            </a:r>
            <a:r>
              <a:rPr lang="zh-CN" altLang="zh-CN" sz="1200" dirty="0"/>
              <a:t>下通话，会出现通话质量差甚至掉话等现象。</a:t>
            </a:r>
            <a:endParaRPr lang="zh-CN" altLang="en-US" sz="1200" dirty="0">
              <a:latin typeface="+mn-ea"/>
            </a:endParaRPr>
          </a:p>
        </p:txBody>
      </p:sp>
      <p:pic>
        <p:nvPicPr>
          <p:cNvPr id="5" name="图片 4"/>
          <p:cNvPicPr/>
          <p:nvPr/>
        </p:nvPicPr>
        <p:blipFill>
          <a:blip r:embed="rId2" cstate="print">
            <a:extLst>
              <a:ext uri="{28A0092B-C50C-407E-A947-70E740481C1C}">
                <a14:useLocalDpi xmlns:a14="http://schemas.microsoft.com/office/drawing/2010/main" xmlns="" val="0"/>
              </a:ext>
            </a:extLst>
          </a:blip>
          <a:stretch>
            <a:fillRect/>
          </a:stretch>
        </p:blipFill>
        <p:spPr>
          <a:xfrm>
            <a:off x="6765898" y="610519"/>
            <a:ext cx="1845663" cy="2637379"/>
          </a:xfrm>
          <a:prstGeom prst="rect">
            <a:avLst/>
          </a:prstGeom>
        </p:spPr>
      </p:pic>
      <p:sp>
        <p:nvSpPr>
          <p:cNvPr id="6" name="矩形 5"/>
          <p:cNvSpPr/>
          <p:nvPr/>
        </p:nvSpPr>
        <p:spPr>
          <a:xfrm>
            <a:off x="159608" y="1943265"/>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【问题分析】</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7" name="TextBox 6"/>
          <p:cNvSpPr txBox="1"/>
          <p:nvPr/>
        </p:nvSpPr>
        <p:spPr>
          <a:xfrm>
            <a:off x="586760" y="2233945"/>
            <a:ext cx="5656628" cy="830997"/>
          </a:xfrm>
          <a:prstGeom prst="rect">
            <a:avLst/>
          </a:prstGeom>
          <a:noFill/>
        </p:spPr>
        <p:txBody>
          <a:bodyPr wrap="square" lIns="91431" tIns="45715" rIns="91431" bIns="45715" rtlCol="0">
            <a:spAutoFit/>
          </a:bodyPr>
          <a:lstStyle/>
          <a:p>
            <a:r>
              <a:rPr lang="en-US" altLang="zh-CN" sz="1200" dirty="0"/>
              <a:t>1</a:t>
            </a:r>
            <a:r>
              <a:rPr lang="zh-CN" altLang="zh-CN" sz="1200" dirty="0"/>
              <a:t>、对问题终端更换测试号码无效，问题仍然存在。</a:t>
            </a:r>
          </a:p>
          <a:p>
            <a:r>
              <a:rPr lang="en-US" altLang="zh-CN" sz="1200" dirty="0"/>
              <a:t>2</a:t>
            </a:r>
            <a:r>
              <a:rPr lang="zh-CN" altLang="zh-CN" sz="1200" dirty="0"/>
              <a:t>、将原来的号码更换终端后无类似问题。</a:t>
            </a:r>
          </a:p>
          <a:p>
            <a:r>
              <a:rPr lang="zh-CN" altLang="zh-CN" sz="1200" dirty="0"/>
              <a:t>基于以上两点判断为终端问题。</a:t>
            </a:r>
          </a:p>
          <a:p>
            <a:endParaRPr lang="zh-CN" altLang="en-US" sz="1200" dirty="0"/>
          </a:p>
        </p:txBody>
      </p:sp>
      <p:sp>
        <p:nvSpPr>
          <p:cNvPr id="8" name="矩形 7"/>
          <p:cNvSpPr/>
          <p:nvPr/>
        </p:nvSpPr>
        <p:spPr>
          <a:xfrm>
            <a:off x="161956" y="2977491"/>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Arial" charset="0"/>
              </a:rPr>
              <a:t>【处理措施】</a:t>
            </a:r>
            <a:r>
              <a:rPr lang="zh-CN" altLang="en-US" dirty="0">
                <a:solidFill>
                  <a:prstClr val="black"/>
                </a:solidFill>
                <a:latin typeface="Arial" charset="0"/>
              </a:rPr>
              <a:t>：</a:t>
            </a:r>
            <a:endParaRPr lang="en-US" altLang="zh-CN" dirty="0">
              <a:solidFill>
                <a:prstClr val="black"/>
              </a:solidFill>
              <a:latin typeface="Arial" charset="0"/>
            </a:endParaRPr>
          </a:p>
        </p:txBody>
      </p:sp>
      <p:sp>
        <p:nvSpPr>
          <p:cNvPr id="9" name="TextBox 8"/>
          <p:cNvSpPr txBox="1"/>
          <p:nvPr/>
        </p:nvSpPr>
        <p:spPr>
          <a:xfrm>
            <a:off x="605498" y="3274815"/>
            <a:ext cx="3232359" cy="1384995"/>
          </a:xfrm>
          <a:prstGeom prst="rect">
            <a:avLst/>
          </a:prstGeom>
          <a:noFill/>
        </p:spPr>
        <p:txBody>
          <a:bodyPr wrap="square" lIns="91431" tIns="45715" rIns="91431" bIns="45715" rtlCol="0">
            <a:spAutoFit/>
          </a:bodyPr>
          <a:lstStyle/>
          <a:p>
            <a:r>
              <a:rPr lang="zh-CN" altLang="zh-CN" sz="1200" dirty="0"/>
              <a:t>对存在问题的</a:t>
            </a:r>
            <a:r>
              <a:rPr lang="en-US" altLang="zh-CN" sz="1200" dirty="0"/>
              <a:t>S6</a:t>
            </a:r>
            <a:r>
              <a:rPr lang="zh-CN" altLang="zh-CN" sz="1200" dirty="0"/>
              <a:t>终端进行版本升级，在设定—关于手机—系统更新中操作，只能使用</a:t>
            </a:r>
            <a:r>
              <a:rPr lang="en-US" altLang="zh-CN" sz="1200" dirty="0"/>
              <a:t>WLAN</a:t>
            </a:r>
            <a:r>
              <a:rPr lang="zh-CN" altLang="zh-CN" sz="1200" dirty="0"/>
              <a:t>网络对终端进行升级，且服务器不稳定。三星客服中心建议采用</a:t>
            </a:r>
            <a:r>
              <a:rPr lang="en-US" altLang="zh-CN" sz="1200" dirty="0" err="1"/>
              <a:t>Smartswitch</a:t>
            </a:r>
            <a:r>
              <a:rPr lang="zh-CN" altLang="zh-CN" sz="1200" dirty="0"/>
              <a:t>工具（见右下图，三星移机助手，可在三星官网下载）进行升级。</a:t>
            </a:r>
          </a:p>
          <a:p>
            <a:endParaRPr lang="zh-CN" altLang="en-US" sz="1200" dirty="0"/>
          </a:p>
        </p:txBody>
      </p:sp>
      <p:pic>
        <p:nvPicPr>
          <p:cNvPr id="10" name="图片 9"/>
          <p:cNvPicPr/>
          <p:nvPr/>
        </p:nvPicPr>
        <p:blipFill>
          <a:blip r:embed="rId3" cstate="print">
            <a:extLst>
              <a:ext uri="{28A0092B-C50C-407E-A947-70E740481C1C}">
                <a14:useLocalDpi xmlns:a14="http://schemas.microsoft.com/office/drawing/2010/main" xmlns="" val="0"/>
              </a:ext>
            </a:extLst>
          </a:blip>
          <a:stretch>
            <a:fillRect/>
          </a:stretch>
        </p:blipFill>
        <p:spPr>
          <a:xfrm>
            <a:off x="4310227" y="2349620"/>
            <a:ext cx="1641143" cy="2653387"/>
          </a:xfrm>
          <a:prstGeom prst="rect">
            <a:avLst/>
          </a:prstGeom>
        </p:spPr>
      </p:pic>
      <p:pic>
        <p:nvPicPr>
          <p:cNvPr id="11" name="图片 10"/>
          <p:cNvPicPr/>
          <p:nvPr/>
        </p:nvPicPr>
        <p:blipFill>
          <a:blip r:embed="rId4" cstate="print">
            <a:extLst>
              <a:ext uri="{28A0092B-C50C-407E-A947-70E740481C1C}">
                <a14:useLocalDpi xmlns:a14="http://schemas.microsoft.com/office/drawing/2010/main" xmlns="" val="0"/>
              </a:ext>
            </a:extLst>
          </a:blip>
          <a:stretch>
            <a:fillRect/>
          </a:stretch>
        </p:blipFill>
        <p:spPr>
          <a:xfrm>
            <a:off x="6243390" y="3340525"/>
            <a:ext cx="2858283" cy="1589264"/>
          </a:xfrm>
          <a:prstGeom prst="rect">
            <a:avLst/>
          </a:prstGeom>
        </p:spPr>
      </p:pic>
    </p:spTree>
    <p:extLst>
      <p:ext uri="{BB962C8B-B14F-4D97-AF65-F5344CB8AC3E}">
        <p14:creationId xmlns:p14="http://schemas.microsoft.com/office/powerpoint/2010/main" xmlns="" val="11467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2249" y="682527"/>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Arial" charset="0"/>
              </a:rPr>
              <a:t>【处理措施】</a:t>
            </a:r>
            <a:r>
              <a:rPr lang="zh-CN" altLang="en-US" dirty="0">
                <a:solidFill>
                  <a:prstClr val="black"/>
                </a:solidFill>
                <a:latin typeface="Arial" charset="0"/>
              </a:rPr>
              <a:t>：</a:t>
            </a:r>
            <a:endParaRPr lang="en-US" altLang="zh-CN" dirty="0">
              <a:solidFill>
                <a:prstClr val="black"/>
              </a:solidFill>
              <a:latin typeface="Arial" charset="0"/>
            </a:endParaRPr>
          </a:p>
        </p:txBody>
      </p:sp>
      <p:sp>
        <p:nvSpPr>
          <p:cNvPr id="5" name="TextBox 4"/>
          <p:cNvSpPr txBox="1"/>
          <p:nvPr/>
        </p:nvSpPr>
        <p:spPr>
          <a:xfrm>
            <a:off x="605497" y="1061465"/>
            <a:ext cx="3877231" cy="830997"/>
          </a:xfrm>
          <a:prstGeom prst="rect">
            <a:avLst/>
          </a:prstGeom>
          <a:noFill/>
        </p:spPr>
        <p:txBody>
          <a:bodyPr wrap="square" lIns="91431" tIns="45715" rIns="91431" bIns="45715" rtlCol="0">
            <a:spAutoFit/>
          </a:bodyPr>
          <a:lstStyle/>
          <a:p>
            <a:r>
              <a:rPr lang="zh-CN" altLang="zh-CN" sz="1200" dirty="0"/>
              <a:t>升级前后的基带版本对比如下：左图为升级后的版本（</a:t>
            </a:r>
            <a:r>
              <a:rPr lang="en-US" altLang="zh-CN" sz="1200" dirty="0"/>
              <a:t>2015-11-19</a:t>
            </a:r>
            <a:r>
              <a:rPr lang="zh-CN" altLang="zh-CN" sz="1200" dirty="0"/>
              <a:t>，</a:t>
            </a:r>
            <a:r>
              <a:rPr lang="en-US" altLang="zh-CN" sz="1200" dirty="0"/>
              <a:t>volte</a:t>
            </a:r>
            <a:r>
              <a:rPr lang="zh-CN" altLang="zh-CN" sz="1200" dirty="0"/>
              <a:t>功能开启后显示</a:t>
            </a:r>
            <a:r>
              <a:rPr lang="en-US" altLang="zh-CN" sz="1200" dirty="0"/>
              <a:t>HD</a:t>
            </a:r>
            <a:r>
              <a:rPr lang="zh-CN" altLang="zh-CN" sz="1200" dirty="0"/>
              <a:t>），右图为升级前的版本（</a:t>
            </a:r>
            <a:r>
              <a:rPr lang="en-US" altLang="zh-CN" sz="1200" dirty="0"/>
              <a:t>2015-08-14</a:t>
            </a:r>
            <a:r>
              <a:rPr lang="zh-CN" altLang="zh-CN" sz="1200" dirty="0"/>
              <a:t>，</a:t>
            </a:r>
            <a:r>
              <a:rPr lang="en-US" altLang="zh-CN" sz="1200" dirty="0"/>
              <a:t>volte</a:t>
            </a:r>
            <a:r>
              <a:rPr lang="zh-CN" altLang="zh-CN" sz="1200" dirty="0"/>
              <a:t>功能开启后显示</a:t>
            </a:r>
            <a:r>
              <a:rPr lang="en-US" altLang="zh-CN" sz="1200" dirty="0"/>
              <a:t>volte</a:t>
            </a:r>
            <a:r>
              <a:rPr lang="zh-CN" altLang="zh-CN" sz="1200" dirty="0"/>
              <a:t>）</a:t>
            </a:r>
          </a:p>
          <a:p>
            <a:endParaRPr lang="zh-CN" altLang="en-US" sz="1200" dirty="0"/>
          </a:p>
        </p:txBody>
      </p:sp>
      <p:pic>
        <p:nvPicPr>
          <p:cNvPr id="6" name="图片 5"/>
          <p:cNvPicPr/>
          <p:nvPr/>
        </p:nvPicPr>
        <p:blipFill>
          <a:blip r:embed="rId2" cstate="print">
            <a:extLst>
              <a:ext uri="{28A0092B-C50C-407E-A947-70E740481C1C}">
                <a14:useLocalDpi xmlns:a14="http://schemas.microsoft.com/office/drawing/2010/main" xmlns="" val="0"/>
              </a:ext>
            </a:extLst>
          </a:blip>
          <a:stretch>
            <a:fillRect/>
          </a:stretch>
        </p:blipFill>
        <p:spPr>
          <a:xfrm>
            <a:off x="5049992" y="825292"/>
            <a:ext cx="1559609" cy="2350416"/>
          </a:xfrm>
          <a:prstGeom prst="rect">
            <a:avLst/>
          </a:prstGeom>
        </p:spPr>
      </p:pic>
      <p:pic>
        <p:nvPicPr>
          <p:cNvPr id="7" name="图片 6"/>
          <p:cNvPicPr/>
          <p:nvPr/>
        </p:nvPicPr>
        <p:blipFill>
          <a:blip r:embed="rId3" cstate="print">
            <a:extLst>
              <a:ext uri="{28A0092B-C50C-407E-A947-70E740481C1C}">
                <a14:useLocalDpi xmlns:a14="http://schemas.microsoft.com/office/drawing/2010/main" xmlns="" val="0"/>
              </a:ext>
            </a:extLst>
          </a:blip>
          <a:stretch>
            <a:fillRect/>
          </a:stretch>
        </p:blipFill>
        <p:spPr>
          <a:xfrm>
            <a:off x="7088481" y="796955"/>
            <a:ext cx="1459010" cy="2407090"/>
          </a:xfrm>
          <a:prstGeom prst="rect">
            <a:avLst/>
          </a:prstGeom>
        </p:spPr>
      </p:pic>
      <p:sp>
        <p:nvSpPr>
          <p:cNvPr id="8" name="矩形 7"/>
          <p:cNvSpPr/>
          <p:nvPr/>
        </p:nvSpPr>
        <p:spPr>
          <a:xfrm>
            <a:off x="295764" y="3499861"/>
            <a:ext cx="1338828" cy="369332"/>
          </a:xfrm>
          <a:prstGeom prst="rect">
            <a:avLst/>
          </a:prstGeom>
        </p:spPr>
        <p:txBody>
          <a:bodyPr wrap="none" lIns="91431" tIns="45715" rIns="91431" bIns="45715">
            <a:spAutoFit/>
          </a:bodyPr>
          <a:lstStyle/>
          <a:p>
            <a:r>
              <a:rPr lang="zh-CN" altLang="zh-CN" b="1" dirty="0"/>
              <a:t>效果验证：</a:t>
            </a:r>
            <a:endParaRPr lang="zh-CN" altLang="zh-CN" dirty="0"/>
          </a:p>
        </p:txBody>
      </p:sp>
      <p:sp>
        <p:nvSpPr>
          <p:cNvPr id="9" name="TextBox 8"/>
          <p:cNvSpPr txBox="1"/>
          <p:nvPr/>
        </p:nvSpPr>
        <p:spPr>
          <a:xfrm>
            <a:off x="666305" y="3955986"/>
            <a:ext cx="3781729" cy="830997"/>
          </a:xfrm>
          <a:prstGeom prst="rect">
            <a:avLst/>
          </a:prstGeom>
          <a:noFill/>
        </p:spPr>
        <p:txBody>
          <a:bodyPr wrap="square" lIns="91431" tIns="45715" rIns="91431" bIns="45715" rtlCol="0">
            <a:spAutoFit/>
          </a:bodyPr>
          <a:lstStyle/>
          <a:p>
            <a:r>
              <a:rPr lang="zh-CN" altLang="zh-CN" sz="1200" dirty="0"/>
              <a:t>升级完成对问题终端按照前期的方案的进行拨打测试，</a:t>
            </a:r>
            <a:r>
              <a:rPr lang="en-US" altLang="zh-CN" sz="1200" dirty="0"/>
              <a:t>VOLTE</a:t>
            </a:r>
            <a:r>
              <a:rPr lang="zh-CN" altLang="zh-CN" sz="1200" dirty="0"/>
              <a:t>通话正常，</a:t>
            </a:r>
            <a:r>
              <a:rPr lang="en-US" altLang="zh-CN" sz="1200" dirty="0" err="1"/>
              <a:t>eSrvcc</a:t>
            </a:r>
            <a:r>
              <a:rPr lang="zh-CN" altLang="zh-CN" sz="1200" dirty="0"/>
              <a:t>功能也正常，由此判断为终端基带版本低造成的</a:t>
            </a:r>
            <a:r>
              <a:rPr lang="en-US" altLang="zh-CN" sz="1200" dirty="0"/>
              <a:t>VOLTE</a:t>
            </a:r>
            <a:r>
              <a:rPr lang="zh-CN" altLang="zh-CN" sz="1200" dirty="0"/>
              <a:t>通话异常问题。如下图所示，在</a:t>
            </a:r>
            <a:r>
              <a:rPr lang="en-US" altLang="zh-CN" sz="1200" dirty="0"/>
              <a:t>LTE</a:t>
            </a:r>
            <a:r>
              <a:rPr lang="zh-CN" altLang="zh-CN" sz="1200" dirty="0"/>
              <a:t>信号强度低于</a:t>
            </a:r>
            <a:r>
              <a:rPr lang="en-US" altLang="zh-CN" sz="1200" dirty="0"/>
              <a:t>-110dbm</a:t>
            </a:r>
            <a:r>
              <a:rPr lang="zh-CN" altLang="zh-CN" sz="1200" dirty="0"/>
              <a:t>后可正常切换至</a:t>
            </a:r>
            <a:r>
              <a:rPr lang="en-US" altLang="zh-CN" sz="1200" dirty="0"/>
              <a:t>GSM</a:t>
            </a:r>
            <a:r>
              <a:rPr lang="zh-CN" altLang="zh-CN" sz="1200" dirty="0"/>
              <a:t>小区。</a:t>
            </a:r>
            <a:endParaRPr lang="zh-CN" altLang="en-US" sz="1200" dirty="0"/>
          </a:p>
        </p:txBody>
      </p:sp>
      <p:pic>
        <p:nvPicPr>
          <p:cNvPr id="10" name="图片 9"/>
          <p:cNvPicPr/>
          <p:nvPr/>
        </p:nvPicPr>
        <p:blipFill>
          <a:blip r:embed="rId4" cstate="print">
            <a:extLst>
              <a:ext uri="{28A0092B-C50C-407E-A947-70E740481C1C}">
                <a14:useLocalDpi xmlns:a14="http://schemas.microsoft.com/office/drawing/2010/main" xmlns="" val="0"/>
              </a:ext>
            </a:extLst>
          </a:blip>
          <a:stretch>
            <a:fillRect/>
          </a:stretch>
        </p:blipFill>
        <p:spPr>
          <a:xfrm>
            <a:off x="5184708" y="3435500"/>
            <a:ext cx="1290174" cy="1566275"/>
          </a:xfrm>
          <a:prstGeom prst="rect">
            <a:avLst/>
          </a:prstGeom>
        </p:spPr>
      </p:pic>
      <p:sp>
        <p:nvSpPr>
          <p:cNvPr id="11" name="TextBox 10"/>
          <p:cNvSpPr txBox="1"/>
          <p:nvPr/>
        </p:nvSpPr>
        <p:spPr>
          <a:xfrm>
            <a:off x="162248" y="106463"/>
            <a:ext cx="8000089"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9</a:t>
            </a:r>
            <a:r>
              <a:rPr lang="zh-CN" altLang="en-US" sz="2400" b="1" dirty="0" smtClean="0">
                <a:solidFill>
                  <a:schemeClr val="bg1"/>
                </a:solidFill>
                <a:latin typeface="+mn-ea"/>
              </a:rPr>
              <a:t>：</a:t>
            </a:r>
            <a:r>
              <a:rPr lang="zh-CN" altLang="zh-CN" sz="2400" b="1" dirty="0" smtClean="0">
                <a:solidFill>
                  <a:schemeClr val="bg1"/>
                </a:solidFill>
                <a:latin typeface="+mn-ea"/>
              </a:rPr>
              <a:t>三星</a:t>
            </a:r>
            <a:r>
              <a:rPr lang="en-US" altLang="zh-CN" sz="2400" b="1" dirty="0">
                <a:solidFill>
                  <a:schemeClr val="bg1"/>
                </a:solidFill>
                <a:latin typeface="+mn-ea"/>
              </a:rPr>
              <a:t>S6</a:t>
            </a:r>
            <a:r>
              <a:rPr lang="zh-CN" altLang="zh-CN" sz="2400" b="1" dirty="0">
                <a:solidFill>
                  <a:schemeClr val="bg1"/>
                </a:solidFill>
                <a:latin typeface="+mn-ea"/>
              </a:rPr>
              <a:t>基带版本低造成</a:t>
            </a:r>
            <a:r>
              <a:rPr lang="en-US" altLang="zh-CN" sz="2400" b="1" dirty="0">
                <a:solidFill>
                  <a:schemeClr val="bg1"/>
                </a:solidFill>
                <a:latin typeface="+mn-ea"/>
              </a:rPr>
              <a:t>VOLTE</a:t>
            </a:r>
            <a:r>
              <a:rPr lang="zh-CN" altLang="zh-CN" sz="2400" b="1" dirty="0">
                <a:solidFill>
                  <a:schemeClr val="bg1"/>
                </a:solidFill>
                <a:latin typeface="+mn-ea"/>
              </a:rPr>
              <a:t>通话异常问题</a:t>
            </a:r>
            <a:endParaRPr lang="zh-CN" altLang="en-US" sz="2400" b="1" dirty="0">
              <a:solidFill>
                <a:schemeClr val="bg1"/>
              </a:solidFill>
              <a:latin typeface="+mn-ea"/>
            </a:endParaRPr>
          </a:p>
        </p:txBody>
      </p:sp>
    </p:spTree>
    <p:extLst>
      <p:ext uri="{BB962C8B-B14F-4D97-AF65-F5344CB8AC3E}">
        <p14:creationId xmlns:p14="http://schemas.microsoft.com/office/powerpoint/2010/main" xmlns="" val="2696069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2249" y="76846"/>
            <a:ext cx="8808179"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10</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烟台 </a:t>
            </a:r>
            <a:r>
              <a:rPr lang="zh-CN" altLang="zh-CN" sz="2400" b="1" dirty="0" smtClean="0">
                <a:solidFill>
                  <a:schemeClr val="bg1"/>
                </a:solidFill>
                <a:latin typeface="+mn-ea"/>
              </a:rPr>
              <a:t>服务器</a:t>
            </a:r>
            <a:r>
              <a:rPr lang="zh-CN" altLang="zh-CN" sz="2400" b="1" dirty="0">
                <a:solidFill>
                  <a:schemeClr val="bg1"/>
                </a:solidFill>
                <a:latin typeface="+mn-ea"/>
              </a:rPr>
              <a:t>内部错误导致终端异常挂机</a:t>
            </a:r>
            <a:endParaRPr lang="zh-CN" altLang="en-US" sz="2400" b="1" dirty="0">
              <a:solidFill>
                <a:schemeClr val="bg1"/>
              </a:solidFill>
              <a:latin typeface="+mn-ea"/>
            </a:endParaRPr>
          </a:p>
        </p:txBody>
      </p:sp>
      <p:sp>
        <p:nvSpPr>
          <p:cNvPr id="3" name="矩形 2"/>
          <p:cNvSpPr/>
          <p:nvPr/>
        </p:nvSpPr>
        <p:spPr>
          <a:xfrm>
            <a:off x="181235" y="591705"/>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en-US" altLang="zh-CN" b="1" smtClean="0">
                <a:solidFill>
                  <a:prstClr val="black"/>
                </a:solidFill>
                <a:latin typeface="Arial" charset="0"/>
              </a:rPr>
              <a:t>【</a:t>
            </a:r>
            <a:r>
              <a:rPr lang="zh-CN" altLang="en-US" b="1" smtClean="0">
                <a:solidFill>
                  <a:prstClr val="black"/>
                </a:solidFill>
                <a:latin typeface="Arial" charset="0"/>
              </a:rPr>
              <a:t>问题描述</a:t>
            </a:r>
            <a:r>
              <a:rPr lang="en-US" altLang="zh-CN" b="1" smtClean="0">
                <a:solidFill>
                  <a:prstClr val="black"/>
                </a:solidFill>
                <a:latin typeface="Arial" charset="0"/>
              </a:rPr>
              <a:t>】</a:t>
            </a:r>
            <a:r>
              <a:rPr lang="zh-CN" altLang="en-US" b="1" smtClean="0">
                <a:solidFill>
                  <a:prstClr val="black"/>
                </a:solidFill>
                <a:latin typeface="Arial" charset="0"/>
              </a:rPr>
              <a:t>：</a:t>
            </a:r>
            <a:endParaRPr lang="en-US" altLang="zh-CN" b="1" dirty="0">
              <a:solidFill>
                <a:prstClr val="black"/>
              </a:solidFill>
              <a:latin typeface="Arial" charset="0"/>
            </a:endParaRPr>
          </a:p>
        </p:txBody>
      </p:sp>
      <p:sp>
        <p:nvSpPr>
          <p:cNvPr id="4" name="TextBox 3"/>
          <p:cNvSpPr txBox="1"/>
          <p:nvPr/>
        </p:nvSpPr>
        <p:spPr>
          <a:xfrm>
            <a:off x="363072" y="882384"/>
            <a:ext cx="9373841" cy="461665"/>
          </a:xfrm>
          <a:prstGeom prst="rect">
            <a:avLst/>
          </a:prstGeom>
          <a:noFill/>
        </p:spPr>
        <p:txBody>
          <a:bodyPr wrap="square" lIns="91431" tIns="45715" rIns="91431" bIns="45715" rtlCol="0">
            <a:spAutoFit/>
          </a:bodyPr>
          <a:lstStyle/>
          <a:p>
            <a:r>
              <a:rPr lang="zh-CN" altLang="zh-CN" sz="1200" dirty="0"/>
              <a:t> 烟台对网格</a:t>
            </a:r>
            <a:r>
              <a:rPr lang="en-US" altLang="zh-CN" sz="1200" dirty="0"/>
              <a:t>3</a:t>
            </a:r>
            <a:r>
              <a:rPr lang="zh-CN" altLang="zh-CN" sz="1200" dirty="0"/>
              <a:t>进行</a:t>
            </a:r>
            <a:r>
              <a:rPr lang="en-US" altLang="zh-CN" sz="1200" dirty="0" err="1"/>
              <a:t>VoLTE</a:t>
            </a:r>
            <a:r>
              <a:rPr lang="zh-CN" altLang="zh-CN" sz="1200" dirty="0"/>
              <a:t>拉网测试过程中，测试车辆从楚凤二街驶进只楚路后，沿只楚路由西向东行驶时，出现一次异常挂机。</a:t>
            </a:r>
          </a:p>
          <a:p>
            <a:endParaRPr lang="zh-CN" altLang="en-US" sz="1200" dirty="0"/>
          </a:p>
        </p:txBody>
      </p:sp>
      <p:pic>
        <p:nvPicPr>
          <p:cNvPr id="5" name="图片 4"/>
          <p:cNvPicPr/>
          <p:nvPr/>
        </p:nvPicPr>
        <p:blipFill>
          <a:blip r:embed="rId2" cstate="print">
            <a:extLst>
              <a:ext uri="{28A0092B-C50C-407E-A947-70E740481C1C}">
                <a14:useLocalDpi xmlns:a14="http://schemas.microsoft.com/office/drawing/2010/main" xmlns="" val="0"/>
              </a:ext>
            </a:extLst>
          </a:blip>
          <a:stretch>
            <a:fillRect/>
          </a:stretch>
        </p:blipFill>
        <p:spPr>
          <a:xfrm>
            <a:off x="1890440" y="1136725"/>
            <a:ext cx="5918948" cy="2184988"/>
          </a:xfrm>
          <a:prstGeom prst="rect">
            <a:avLst/>
          </a:prstGeom>
        </p:spPr>
      </p:pic>
      <p:sp>
        <p:nvSpPr>
          <p:cNvPr id="6" name="矩形 5"/>
          <p:cNvSpPr/>
          <p:nvPr/>
        </p:nvSpPr>
        <p:spPr>
          <a:xfrm>
            <a:off x="201454" y="3176236"/>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【问题分析】</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7" name="TextBox 6"/>
          <p:cNvSpPr txBox="1"/>
          <p:nvPr/>
        </p:nvSpPr>
        <p:spPr>
          <a:xfrm>
            <a:off x="363071" y="3466915"/>
            <a:ext cx="9212223" cy="461665"/>
          </a:xfrm>
          <a:prstGeom prst="rect">
            <a:avLst/>
          </a:prstGeom>
          <a:noFill/>
        </p:spPr>
        <p:txBody>
          <a:bodyPr wrap="square" lIns="91431" tIns="45715" rIns="91431" bIns="45715" rtlCol="0">
            <a:spAutoFit/>
          </a:bodyPr>
          <a:lstStyle/>
          <a:p>
            <a:r>
              <a:rPr lang="zh-CN" altLang="zh-CN" sz="1200" dirty="0"/>
              <a:t>通过无线侧信令回放发现，终端在起呼时上发</a:t>
            </a:r>
            <a:r>
              <a:rPr lang="en-US" altLang="zh-CN" sz="1200" dirty="0"/>
              <a:t>SIP INVITE</a:t>
            </a:r>
            <a:r>
              <a:rPr lang="zh-CN" altLang="zh-CN" sz="1200" dirty="0"/>
              <a:t>信令后，收到</a:t>
            </a:r>
            <a:r>
              <a:rPr lang="en-US" altLang="zh-CN" sz="1200" dirty="0"/>
              <a:t>SIP INVITE -&gt;Server Internal Error 500 </a:t>
            </a:r>
            <a:r>
              <a:rPr lang="zh-CN" altLang="zh-CN" sz="1200" dirty="0"/>
              <a:t>消息提示服务器内部错误，随后终端异常挂机，并在接下来的呼叫中上发</a:t>
            </a:r>
            <a:r>
              <a:rPr lang="en-US" altLang="zh-CN" sz="1200" dirty="0"/>
              <a:t>Extended service request </a:t>
            </a:r>
            <a:r>
              <a:rPr lang="zh-CN" altLang="zh-CN" sz="1200" dirty="0"/>
              <a:t>进行</a:t>
            </a:r>
            <a:r>
              <a:rPr lang="en-US" altLang="zh-CN" sz="1200" dirty="0"/>
              <a:t>CSFB</a:t>
            </a:r>
            <a:r>
              <a:rPr lang="zh-CN" altLang="zh-CN" sz="1200" dirty="0"/>
              <a:t>通话。</a:t>
            </a:r>
            <a:endParaRPr lang="zh-CN" altLang="en-US" sz="1200" dirty="0"/>
          </a:p>
        </p:txBody>
      </p:sp>
      <p:sp>
        <p:nvSpPr>
          <p:cNvPr id="8" name="矩形 7"/>
          <p:cNvSpPr/>
          <p:nvPr/>
        </p:nvSpPr>
        <p:spPr>
          <a:xfrm>
            <a:off x="201454" y="3975852"/>
            <a:ext cx="2031325"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zh-CN" b="1" dirty="0"/>
              <a:t>拟解决思路</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9" name="TextBox 8"/>
          <p:cNvSpPr txBox="1"/>
          <p:nvPr/>
        </p:nvSpPr>
        <p:spPr>
          <a:xfrm>
            <a:off x="423988" y="4342268"/>
            <a:ext cx="9151307" cy="646331"/>
          </a:xfrm>
          <a:prstGeom prst="rect">
            <a:avLst/>
          </a:prstGeom>
          <a:noFill/>
        </p:spPr>
        <p:txBody>
          <a:bodyPr wrap="square" lIns="91431" tIns="45715" rIns="91431" bIns="45715" rtlCol="0">
            <a:spAutoFit/>
          </a:bodyPr>
          <a:lstStyle/>
          <a:p>
            <a:r>
              <a:rPr lang="zh-CN" altLang="zh-CN" sz="1200" dirty="0"/>
              <a:t>当天测试时，在起始路段测试中，核心网侧暂时未能对核心网侧信令进行跟踪，随后网格</a:t>
            </a:r>
            <a:r>
              <a:rPr lang="en-US" altLang="zh-CN" sz="1200" dirty="0"/>
              <a:t>3</a:t>
            </a:r>
            <a:r>
              <a:rPr lang="zh-CN" altLang="zh-CN" sz="1200" dirty="0"/>
              <a:t>测试完成后，重新对该路段进行测试时，再未出现异常挂机。烟台拟在后期测试中，通过对该路段进行大量重复测试，并协调核心网共同进行信令跟踪，争取对问题点进行复现，以实现对问题的跟踪定位及解决。</a:t>
            </a:r>
          </a:p>
        </p:txBody>
      </p:sp>
    </p:spTree>
    <p:extLst>
      <p:ext uri="{BB962C8B-B14F-4D97-AF65-F5344CB8AC3E}">
        <p14:creationId xmlns:p14="http://schemas.microsoft.com/office/powerpoint/2010/main" xmlns="" val="4191098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1956" y="601850"/>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en-US" altLang="zh-CN" b="1" dirty="0" smtClean="0">
                <a:solidFill>
                  <a:prstClr val="black"/>
                </a:solidFill>
                <a:latin typeface="Arial" charset="0"/>
              </a:rPr>
              <a:t>【</a:t>
            </a:r>
            <a:r>
              <a:rPr lang="zh-CN" altLang="en-US" b="1" dirty="0" smtClean="0">
                <a:solidFill>
                  <a:prstClr val="black"/>
                </a:solidFill>
                <a:latin typeface="Arial" charset="0"/>
              </a:rPr>
              <a:t>问题描述</a:t>
            </a:r>
            <a:r>
              <a:rPr lang="en-US" altLang="zh-CN" b="1" dirty="0" smtClean="0">
                <a:solidFill>
                  <a:prstClr val="black"/>
                </a:solidFill>
                <a:latin typeface="Arial" charset="0"/>
              </a:rPr>
              <a:t>】</a:t>
            </a:r>
            <a:r>
              <a:rPr lang="zh-CN" altLang="en-US" b="1" dirty="0" smtClean="0">
                <a:solidFill>
                  <a:prstClr val="black"/>
                </a:solidFill>
                <a:latin typeface="Arial" charset="0"/>
              </a:rPr>
              <a:t>：</a:t>
            </a:r>
            <a:endParaRPr lang="en-US" altLang="zh-CN" b="1" dirty="0">
              <a:solidFill>
                <a:prstClr val="black"/>
              </a:solidFill>
              <a:latin typeface="Arial" charset="0"/>
            </a:endParaRPr>
          </a:p>
        </p:txBody>
      </p:sp>
      <p:sp>
        <p:nvSpPr>
          <p:cNvPr id="4" name="矩形 3"/>
          <p:cNvSpPr/>
          <p:nvPr/>
        </p:nvSpPr>
        <p:spPr>
          <a:xfrm>
            <a:off x="131954" y="2266703"/>
            <a:ext cx="2118527" cy="369332"/>
          </a:xfrm>
          <a:prstGeom prst="rect">
            <a:avLst/>
          </a:prstGeom>
        </p:spPr>
        <p:txBody>
          <a:bodyPr wrap="squar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【问题分析】</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5" name="矩形 4"/>
          <p:cNvSpPr/>
          <p:nvPr/>
        </p:nvSpPr>
        <p:spPr>
          <a:xfrm>
            <a:off x="161956" y="4201627"/>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【问题</a:t>
            </a:r>
            <a:r>
              <a:rPr lang="zh-CN" altLang="en-US" b="1" dirty="0" smtClean="0">
                <a:solidFill>
                  <a:prstClr val="black"/>
                </a:solidFill>
                <a:latin typeface="宋体" panose="02010600030101010101" pitchFamily="2" charset="-122"/>
              </a:rPr>
              <a:t>解决</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7" name="TextBox 6"/>
          <p:cNvSpPr txBox="1"/>
          <p:nvPr/>
        </p:nvSpPr>
        <p:spPr>
          <a:xfrm>
            <a:off x="433143" y="1003658"/>
            <a:ext cx="4481634" cy="830997"/>
          </a:xfrm>
          <a:prstGeom prst="rect">
            <a:avLst/>
          </a:prstGeom>
          <a:noFill/>
        </p:spPr>
        <p:txBody>
          <a:bodyPr wrap="square" lIns="91431" tIns="45715" rIns="91431" bIns="45715" rtlCol="0">
            <a:spAutoFit/>
          </a:bodyPr>
          <a:lstStyle/>
          <a:p>
            <a:r>
              <a:rPr lang="zh-CN" altLang="zh-CN" sz="1200" dirty="0"/>
              <a:t> 烟台对福山县城进行</a:t>
            </a:r>
            <a:r>
              <a:rPr lang="en-US" altLang="zh-CN" sz="1200" dirty="0" err="1"/>
              <a:t>VoLTE</a:t>
            </a:r>
            <a:r>
              <a:rPr lang="zh-CN" altLang="zh-CN" sz="1200" dirty="0"/>
              <a:t>拉网测试过程中，当测试车辆沿福山福海路南北行驶至福海路与同福街交界附近时产生一次未接通。主叫在</a:t>
            </a:r>
            <a:r>
              <a:rPr lang="en-US" altLang="zh-CN" sz="1200" dirty="0"/>
              <a:t>QCI 1</a:t>
            </a:r>
            <a:r>
              <a:rPr lang="zh-CN" altLang="zh-CN" sz="1200" dirty="0"/>
              <a:t>建立完成之后发起切换，终端连发了</a:t>
            </a:r>
            <a:r>
              <a:rPr lang="en-US" altLang="zh-CN" sz="1200" dirty="0"/>
              <a:t>5</a:t>
            </a:r>
            <a:r>
              <a:rPr lang="zh-CN" altLang="zh-CN" sz="1200" dirty="0"/>
              <a:t>次测量报告后发起</a:t>
            </a:r>
            <a:r>
              <a:rPr lang="en-US" altLang="zh-CN" sz="1200" dirty="0"/>
              <a:t>RRC</a:t>
            </a:r>
            <a:r>
              <a:rPr lang="zh-CN" altLang="zh-CN" sz="1200" dirty="0"/>
              <a:t>重建，重建失败，导致呼叫失败</a:t>
            </a:r>
            <a:r>
              <a:rPr lang="zh-CN" altLang="zh-CN" sz="1200" dirty="0" smtClean="0"/>
              <a:t>。</a:t>
            </a:r>
            <a:endParaRPr lang="zh-CN" altLang="en-US" sz="1200" dirty="0"/>
          </a:p>
        </p:txBody>
      </p:sp>
      <p:pic>
        <p:nvPicPr>
          <p:cNvPr id="8" name="图片 7"/>
          <p:cNvPicPr/>
          <p:nvPr/>
        </p:nvPicPr>
        <p:blipFill>
          <a:blip r:embed="rId2" cstate="print">
            <a:extLst>
              <a:ext uri="{28A0092B-C50C-407E-A947-70E740481C1C}">
                <a14:useLocalDpi xmlns:a14="http://schemas.microsoft.com/office/drawing/2010/main" xmlns="" val="0"/>
              </a:ext>
            </a:extLst>
          </a:blip>
          <a:stretch>
            <a:fillRect/>
          </a:stretch>
        </p:blipFill>
        <p:spPr>
          <a:xfrm>
            <a:off x="5241218" y="538511"/>
            <a:ext cx="4786126" cy="2509797"/>
          </a:xfrm>
          <a:prstGeom prst="rect">
            <a:avLst/>
          </a:prstGeom>
        </p:spPr>
      </p:pic>
      <p:pic>
        <p:nvPicPr>
          <p:cNvPr id="9" name="图片 8"/>
          <p:cNvPicPr/>
          <p:nvPr/>
        </p:nvPicPr>
        <p:blipFill>
          <a:blip r:embed="rId3" cstate="print"/>
          <a:srcRect/>
          <a:stretch>
            <a:fillRect/>
          </a:stretch>
        </p:blipFill>
        <p:spPr bwMode="auto">
          <a:xfrm>
            <a:off x="5274817" y="3130798"/>
            <a:ext cx="3172147" cy="1424137"/>
          </a:xfrm>
          <a:prstGeom prst="rect">
            <a:avLst/>
          </a:prstGeom>
          <a:noFill/>
          <a:ln w="9525">
            <a:solidFill>
              <a:schemeClr val="tx1"/>
            </a:solidFill>
            <a:prstDash val="sysDot"/>
            <a:miter lim="800000"/>
            <a:headEnd/>
            <a:tailEnd/>
          </a:ln>
        </p:spPr>
      </p:pic>
      <p:sp>
        <p:nvSpPr>
          <p:cNvPr id="10" name="TextBox 9"/>
          <p:cNvSpPr txBox="1"/>
          <p:nvPr/>
        </p:nvSpPr>
        <p:spPr>
          <a:xfrm>
            <a:off x="433143" y="2561491"/>
            <a:ext cx="4444494" cy="1384995"/>
          </a:xfrm>
          <a:prstGeom prst="rect">
            <a:avLst/>
          </a:prstGeom>
          <a:noFill/>
        </p:spPr>
        <p:txBody>
          <a:bodyPr wrap="square" lIns="91431" tIns="45715" rIns="91431" bIns="45715" rtlCol="0">
            <a:spAutoFit/>
          </a:bodyPr>
          <a:lstStyle/>
          <a:p>
            <a:r>
              <a:rPr lang="zh-CN" altLang="zh-CN" sz="1200" dirty="0"/>
              <a:t>测试车辆沿福海路由南向北行驶时，</a:t>
            </a:r>
            <a:r>
              <a:rPr lang="en-US" altLang="zh-CN" sz="1200" dirty="0"/>
              <a:t> UE</a:t>
            </a:r>
            <a:r>
              <a:rPr lang="zh-CN" altLang="zh-CN" sz="1200" dirty="0"/>
              <a:t>占用</a:t>
            </a:r>
            <a:r>
              <a:rPr lang="en-US" altLang="zh-CN" sz="1200" dirty="0"/>
              <a:t>LDH0520261H1_</a:t>
            </a:r>
            <a:r>
              <a:rPr lang="zh-CN" altLang="zh-CN" sz="1200" dirty="0"/>
              <a:t>东华建筑。随着向北信号逐渐减弱，</a:t>
            </a:r>
            <a:r>
              <a:rPr lang="en-US" altLang="zh-CN" sz="1200" dirty="0"/>
              <a:t>UE</a:t>
            </a:r>
            <a:r>
              <a:rPr lang="zh-CN" altLang="zh-CN" sz="1200" dirty="0"/>
              <a:t>上发测量报告，显示该路段</a:t>
            </a:r>
            <a:r>
              <a:rPr lang="en-US" altLang="zh-CN" sz="1200" dirty="0"/>
              <a:t>LDH0520213H1_</a:t>
            </a:r>
            <a:r>
              <a:rPr lang="zh-CN" altLang="zh-CN" sz="1200" dirty="0"/>
              <a:t>体校北二路主覆盖信号较好，但却未进行切换，后台核查参数发现，服务小区东华建筑</a:t>
            </a:r>
            <a:r>
              <a:rPr lang="en-US" altLang="zh-CN" sz="1200" dirty="0"/>
              <a:t>1</a:t>
            </a:r>
            <a:r>
              <a:rPr lang="zh-CN" altLang="zh-CN" sz="1200" dirty="0"/>
              <a:t>小区没有添加体校北二路</a:t>
            </a:r>
            <a:r>
              <a:rPr lang="en-US" altLang="zh-CN" sz="1200" dirty="0"/>
              <a:t>3</a:t>
            </a:r>
            <a:r>
              <a:rPr lang="zh-CN" altLang="zh-CN" sz="1200" dirty="0"/>
              <a:t>小区邻区关系。</a:t>
            </a:r>
          </a:p>
          <a:p>
            <a:r>
              <a:rPr lang="en-US" altLang="zh-CN" sz="1200" dirty="0"/>
              <a:t>  </a:t>
            </a:r>
            <a:r>
              <a:rPr lang="zh-CN" altLang="zh-CN" sz="1200" dirty="0"/>
              <a:t>问题原因：服务小区东华建筑</a:t>
            </a:r>
            <a:r>
              <a:rPr lang="en-US" altLang="zh-CN" sz="1200" dirty="0"/>
              <a:t>1</a:t>
            </a:r>
            <a:r>
              <a:rPr lang="zh-CN" altLang="zh-CN" sz="1200" dirty="0"/>
              <a:t>小区没有添加体校北二路</a:t>
            </a:r>
            <a:r>
              <a:rPr lang="en-US" altLang="zh-CN" sz="1200" dirty="0"/>
              <a:t>3</a:t>
            </a:r>
            <a:r>
              <a:rPr lang="zh-CN" altLang="zh-CN" sz="1200" dirty="0"/>
              <a:t>小区邻区</a:t>
            </a:r>
            <a:r>
              <a:rPr lang="zh-CN" altLang="zh-CN" sz="1200" dirty="0" smtClean="0"/>
              <a:t>关系</a:t>
            </a:r>
            <a:endParaRPr lang="zh-CN" altLang="en-US" sz="1200" dirty="0"/>
          </a:p>
        </p:txBody>
      </p:sp>
      <p:sp>
        <p:nvSpPr>
          <p:cNvPr id="12" name="TextBox 11"/>
          <p:cNvSpPr txBox="1"/>
          <p:nvPr/>
        </p:nvSpPr>
        <p:spPr>
          <a:xfrm>
            <a:off x="433142" y="4568959"/>
            <a:ext cx="8980534" cy="646331"/>
          </a:xfrm>
          <a:prstGeom prst="rect">
            <a:avLst/>
          </a:prstGeom>
          <a:noFill/>
        </p:spPr>
        <p:txBody>
          <a:bodyPr wrap="square" lIns="91431" tIns="45715" rIns="91431" bIns="45715" rtlCol="0">
            <a:spAutoFit/>
          </a:bodyPr>
          <a:lstStyle/>
          <a:p>
            <a:r>
              <a:rPr lang="zh-CN" altLang="zh-CN" dirty="0">
                <a:latin typeface="+mn-ea"/>
              </a:rPr>
              <a:t>添加</a:t>
            </a:r>
            <a:r>
              <a:rPr lang="en-US" altLang="zh-CN" dirty="0">
                <a:latin typeface="+mn-ea"/>
              </a:rPr>
              <a:t>LDH0520261H1_</a:t>
            </a:r>
            <a:r>
              <a:rPr lang="zh-CN" altLang="zh-CN" dirty="0">
                <a:latin typeface="+mn-ea"/>
              </a:rPr>
              <a:t>东华建筑与</a:t>
            </a:r>
            <a:r>
              <a:rPr lang="en-US" altLang="zh-CN" dirty="0">
                <a:latin typeface="+mn-ea"/>
              </a:rPr>
              <a:t>LDH0520213H1_</a:t>
            </a:r>
            <a:r>
              <a:rPr lang="zh-CN" altLang="zh-CN" dirty="0">
                <a:latin typeface="+mn-ea"/>
              </a:rPr>
              <a:t>体校北二路邻区关系。</a:t>
            </a:r>
          </a:p>
          <a:p>
            <a:endParaRPr lang="zh-CN" altLang="en-US" dirty="0"/>
          </a:p>
        </p:txBody>
      </p:sp>
      <p:sp>
        <p:nvSpPr>
          <p:cNvPr id="11" name="TextBox 10"/>
          <p:cNvSpPr txBox="1"/>
          <p:nvPr/>
        </p:nvSpPr>
        <p:spPr>
          <a:xfrm>
            <a:off x="162249" y="76846"/>
            <a:ext cx="8808179"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11</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烟台 邻区漏配导致</a:t>
            </a:r>
            <a:r>
              <a:rPr lang="en-US" altLang="zh-CN" sz="2400" b="1" dirty="0" err="1" smtClean="0">
                <a:solidFill>
                  <a:schemeClr val="bg1"/>
                </a:solidFill>
                <a:latin typeface="+mn-ea"/>
              </a:rPr>
              <a:t>VoLTE</a:t>
            </a:r>
            <a:r>
              <a:rPr lang="zh-CN" altLang="en-US" sz="2400" b="1" dirty="0" smtClean="0">
                <a:solidFill>
                  <a:schemeClr val="bg1"/>
                </a:solidFill>
                <a:latin typeface="+mn-ea"/>
              </a:rPr>
              <a:t>未接通</a:t>
            </a:r>
            <a:endParaRPr lang="zh-CN" altLang="en-US" sz="2400" b="1" dirty="0">
              <a:solidFill>
                <a:schemeClr val="bg1"/>
              </a:solidFill>
              <a:latin typeface="+mn-ea"/>
            </a:endParaRPr>
          </a:p>
        </p:txBody>
      </p:sp>
    </p:spTree>
    <p:extLst>
      <p:ext uri="{BB962C8B-B14F-4D97-AF65-F5344CB8AC3E}">
        <p14:creationId xmlns:p14="http://schemas.microsoft.com/office/powerpoint/2010/main" xmlns="" val="2633839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 y="545261"/>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en-US" altLang="zh-CN" b="1" dirty="0">
                <a:solidFill>
                  <a:prstClr val="black"/>
                </a:solidFill>
                <a:latin typeface="Arial" charset="0"/>
              </a:rPr>
              <a:t>【</a:t>
            </a:r>
            <a:r>
              <a:rPr lang="zh-CN" altLang="en-US" b="1" dirty="0">
                <a:solidFill>
                  <a:prstClr val="black"/>
                </a:solidFill>
                <a:latin typeface="Arial" charset="0"/>
              </a:rPr>
              <a:t>问题描述</a:t>
            </a:r>
            <a:r>
              <a:rPr lang="en-US" altLang="zh-CN" b="1" dirty="0">
                <a:solidFill>
                  <a:prstClr val="black"/>
                </a:solidFill>
                <a:latin typeface="Arial" charset="0"/>
              </a:rPr>
              <a:t>】</a:t>
            </a:r>
            <a:r>
              <a:rPr lang="zh-CN" altLang="en-US" b="1" dirty="0">
                <a:solidFill>
                  <a:prstClr val="black"/>
                </a:solidFill>
                <a:latin typeface="Arial" charset="0"/>
              </a:rPr>
              <a:t>：</a:t>
            </a:r>
            <a:endParaRPr lang="en-US" altLang="zh-CN" b="1" dirty="0">
              <a:solidFill>
                <a:prstClr val="black"/>
              </a:solidFill>
              <a:latin typeface="Arial" charset="0"/>
            </a:endParaRPr>
          </a:p>
        </p:txBody>
      </p:sp>
      <p:sp>
        <p:nvSpPr>
          <p:cNvPr id="4" name="矩形 3"/>
          <p:cNvSpPr/>
          <p:nvPr/>
        </p:nvSpPr>
        <p:spPr>
          <a:xfrm>
            <a:off x="2" y="2770759"/>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【问题分析】</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5" name="TextBox 4"/>
          <p:cNvSpPr txBox="1"/>
          <p:nvPr/>
        </p:nvSpPr>
        <p:spPr>
          <a:xfrm>
            <a:off x="242891" y="826543"/>
            <a:ext cx="6975354" cy="461665"/>
          </a:xfrm>
          <a:prstGeom prst="rect">
            <a:avLst/>
          </a:prstGeom>
          <a:noFill/>
        </p:spPr>
        <p:txBody>
          <a:bodyPr wrap="square" lIns="91431" tIns="45715" rIns="91431" bIns="45715" rtlCol="0">
            <a:spAutoFit/>
          </a:bodyPr>
          <a:lstStyle/>
          <a:p>
            <a:r>
              <a:rPr lang="zh-CN" altLang="zh-CN" sz="1200" dirty="0"/>
              <a:t>淄博移动公司测试人员在</a:t>
            </a:r>
            <a:r>
              <a:rPr lang="en-US" altLang="zh-CN" sz="1200" dirty="0"/>
              <a:t>11</a:t>
            </a:r>
            <a:r>
              <a:rPr lang="zh-CN" altLang="zh-CN" sz="1200" dirty="0"/>
              <a:t>月</a:t>
            </a:r>
            <a:r>
              <a:rPr lang="en-US" altLang="zh-CN" sz="1200" dirty="0"/>
              <a:t>16</a:t>
            </a:r>
            <a:r>
              <a:rPr lang="zh-CN" altLang="zh-CN" sz="1200" dirty="0"/>
              <a:t>号在张店技师学院</a:t>
            </a:r>
            <a:r>
              <a:rPr lang="en-US" altLang="zh-CN" sz="1200" dirty="0"/>
              <a:t>2#</a:t>
            </a:r>
            <a:r>
              <a:rPr lang="zh-CN" altLang="zh-CN" sz="1200" dirty="0"/>
              <a:t>教学楼附近进行</a:t>
            </a:r>
            <a:r>
              <a:rPr lang="en-US" altLang="zh-CN" sz="1200" dirty="0"/>
              <a:t>VOLTE</a:t>
            </a:r>
            <a:r>
              <a:rPr lang="zh-CN" altLang="zh-CN" sz="1200" dirty="0"/>
              <a:t>分场景化测试，测试软件在进行</a:t>
            </a:r>
            <a:r>
              <a:rPr lang="en-US" altLang="zh-CN" sz="1200" dirty="0"/>
              <a:t>MOS</a:t>
            </a:r>
            <a:r>
              <a:rPr lang="zh-CN" altLang="zh-CN" sz="1200" dirty="0"/>
              <a:t>测试时发生</a:t>
            </a:r>
            <a:r>
              <a:rPr lang="en-US" altLang="zh-CN" sz="1200" dirty="0"/>
              <a:t>POLQA </a:t>
            </a:r>
            <a:r>
              <a:rPr lang="en-US" altLang="zh-CN" sz="1200" dirty="0" err="1"/>
              <a:t>Calc</a:t>
            </a:r>
            <a:r>
              <a:rPr lang="en-US" altLang="zh-CN" sz="1200" dirty="0"/>
              <a:t> Failed</a:t>
            </a:r>
            <a:r>
              <a:rPr lang="zh-CN" altLang="zh-CN" sz="1200" dirty="0"/>
              <a:t>，具体涉及站点信息如下</a:t>
            </a:r>
            <a:r>
              <a:rPr lang="zh-CN" altLang="zh-CN" sz="1200" dirty="0" smtClean="0"/>
              <a:t>：</a:t>
            </a:r>
            <a:endParaRPr lang="zh-CN" altLang="en-US" sz="1200" dirty="0"/>
          </a:p>
        </p:txBody>
      </p:sp>
      <p:graphicFrame>
        <p:nvGraphicFramePr>
          <p:cNvPr id="10" name="表格 9"/>
          <p:cNvGraphicFramePr>
            <a:graphicFrameLocks noGrp="1"/>
          </p:cNvGraphicFramePr>
          <p:nvPr>
            <p:extLst>
              <p:ext uri="{D42A27DB-BD31-4B8C-83A1-F6EECF244321}">
                <p14:modId xmlns:p14="http://schemas.microsoft.com/office/powerpoint/2010/main" xmlns="" val="115733112"/>
              </p:ext>
            </p:extLst>
          </p:nvPr>
        </p:nvGraphicFramePr>
        <p:xfrm>
          <a:off x="381296" y="1259186"/>
          <a:ext cx="6698545" cy="719525"/>
        </p:xfrm>
        <a:graphic>
          <a:graphicData uri="http://schemas.openxmlformats.org/drawingml/2006/table">
            <a:tbl>
              <a:tblPr firstRow="1" firstCol="1" bandRow="1">
                <a:tableStyleId>{5C22544A-7EE6-4342-B048-85BDC9FD1C3A}</a:tableStyleId>
              </a:tblPr>
              <a:tblGrid>
                <a:gridCol w="769620"/>
                <a:gridCol w="2750679"/>
                <a:gridCol w="3178246"/>
              </a:tblGrid>
              <a:tr h="134938">
                <a:tc>
                  <a:txBody>
                    <a:bodyPr/>
                    <a:lstStyle/>
                    <a:p>
                      <a:pPr algn="ctr">
                        <a:spcAft>
                          <a:spcPts val="0"/>
                        </a:spcAft>
                      </a:pPr>
                      <a:r>
                        <a:rPr lang="zh-CN" sz="800" kern="0" dirty="0">
                          <a:effectLst/>
                        </a:rPr>
                        <a:t>站型</a:t>
                      </a:r>
                      <a:endParaRPr lang="zh-CN" sz="800" kern="100" dirty="0">
                        <a:effectLst/>
                        <a:latin typeface="Calibri"/>
                        <a:ea typeface="宋体"/>
                        <a:cs typeface="Times New Roman"/>
                      </a:endParaRPr>
                    </a:p>
                  </a:txBody>
                  <a:tcPr marL="76962" marR="76962" marT="0" marB="0" anchor="ctr"/>
                </a:tc>
                <a:tc>
                  <a:txBody>
                    <a:bodyPr/>
                    <a:lstStyle/>
                    <a:p>
                      <a:pPr algn="ctr">
                        <a:spcAft>
                          <a:spcPts val="0"/>
                        </a:spcAft>
                      </a:pPr>
                      <a:r>
                        <a:rPr lang="en-US" sz="800" kern="0">
                          <a:effectLst/>
                        </a:rPr>
                        <a:t>SITE</a:t>
                      </a:r>
                      <a:endParaRPr lang="zh-CN" sz="800" kern="100">
                        <a:effectLst/>
                        <a:latin typeface="Calibri"/>
                        <a:ea typeface="宋体"/>
                        <a:cs typeface="Times New Roman"/>
                      </a:endParaRPr>
                    </a:p>
                  </a:txBody>
                  <a:tcPr marL="76962" marR="76962" marT="0" marB="0" anchor="ctr"/>
                </a:tc>
                <a:tc>
                  <a:txBody>
                    <a:bodyPr/>
                    <a:lstStyle/>
                    <a:p>
                      <a:pPr algn="ctr">
                        <a:spcAft>
                          <a:spcPts val="0"/>
                        </a:spcAft>
                      </a:pPr>
                      <a:r>
                        <a:rPr lang="zh-CN" sz="800" kern="0">
                          <a:effectLst/>
                        </a:rPr>
                        <a:t>版本</a:t>
                      </a:r>
                      <a:endParaRPr lang="zh-CN" sz="800" kern="100">
                        <a:effectLst/>
                        <a:latin typeface="Calibri"/>
                        <a:ea typeface="宋体"/>
                        <a:cs typeface="Times New Roman"/>
                      </a:endParaRPr>
                    </a:p>
                  </a:txBody>
                  <a:tcPr marL="76962" marR="76962" marT="0" marB="0" anchor="ctr"/>
                </a:tc>
              </a:tr>
              <a:tr h="137200">
                <a:tc>
                  <a:txBody>
                    <a:bodyPr/>
                    <a:lstStyle/>
                    <a:p>
                      <a:pPr algn="l">
                        <a:spcAft>
                          <a:spcPts val="0"/>
                        </a:spcAft>
                      </a:pPr>
                      <a:r>
                        <a:rPr lang="zh-CN" sz="900" kern="0" dirty="0">
                          <a:effectLst/>
                        </a:rPr>
                        <a:t>宏站</a:t>
                      </a:r>
                      <a:endParaRPr lang="zh-CN" sz="800" kern="100" dirty="0">
                        <a:effectLst/>
                        <a:latin typeface="Calibri"/>
                        <a:ea typeface="宋体"/>
                        <a:cs typeface="Times New Roman"/>
                      </a:endParaRPr>
                    </a:p>
                  </a:txBody>
                  <a:tcPr marL="76962" marR="76962" marT="0" marB="0" anchor="b"/>
                </a:tc>
                <a:tc>
                  <a:txBody>
                    <a:bodyPr/>
                    <a:lstStyle/>
                    <a:p>
                      <a:pPr algn="l">
                        <a:spcAft>
                          <a:spcPts val="0"/>
                        </a:spcAft>
                      </a:pPr>
                      <a:r>
                        <a:rPr lang="en-US" sz="900" kern="0">
                          <a:effectLst/>
                        </a:rPr>
                        <a:t>LDH030707H_</a:t>
                      </a:r>
                      <a:r>
                        <a:rPr lang="zh-CN" sz="900" kern="0">
                          <a:effectLst/>
                        </a:rPr>
                        <a:t>张店技师学院</a:t>
                      </a:r>
                      <a:endParaRPr lang="zh-CN" sz="800" kern="100">
                        <a:effectLst/>
                        <a:latin typeface="Calibri"/>
                        <a:ea typeface="宋体"/>
                        <a:cs typeface="Times New Roman"/>
                      </a:endParaRPr>
                    </a:p>
                  </a:txBody>
                  <a:tcPr marL="76962" marR="76962" marT="0" marB="0" anchor="b"/>
                </a:tc>
                <a:tc>
                  <a:txBody>
                    <a:bodyPr/>
                    <a:lstStyle/>
                    <a:p>
                      <a:pPr algn="just">
                        <a:spcAft>
                          <a:spcPts val="0"/>
                        </a:spcAft>
                      </a:pPr>
                      <a:r>
                        <a:rPr lang="en-US" sz="900" kern="100">
                          <a:effectLst/>
                        </a:rPr>
                        <a:t>V1R10C10SPC150</a:t>
                      </a:r>
                      <a:endParaRPr lang="zh-CN" sz="800" kern="100">
                        <a:effectLst/>
                        <a:latin typeface="Calibri"/>
                        <a:ea typeface="宋体"/>
                        <a:cs typeface="Times New Roman"/>
                      </a:endParaRPr>
                    </a:p>
                  </a:txBody>
                  <a:tcPr marL="76962" marR="76962" marT="0" marB="0"/>
                </a:tc>
              </a:tr>
              <a:tr h="183509">
                <a:tc>
                  <a:txBody>
                    <a:bodyPr/>
                    <a:lstStyle/>
                    <a:p>
                      <a:pPr algn="l">
                        <a:spcAft>
                          <a:spcPts val="0"/>
                        </a:spcAft>
                      </a:pPr>
                      <a:r>
                        <a:rPr lang="zh-CN" sz="900" kern="0">
                          <a:effectLst/>
                        </a:rPr>
                        <a:t>宏站</a:t>
                      </a:r>
                      <a:endParaRPr lang="zh-CN" sz="800" kern="100">
                        <a:effectLst/>
                        <a:latin typeface="Calibri"/>
                        <a:ea typeface="宋体"/>
                        <a:cs typeface="Times New Roman"/>
                      </a:endParaRPr>
                    </a:p>
                  </a:txBody>
                  <a:tcPr marL="76962" marR="76962" marT="0" marB="0" anchor="b"/>
                </a:tc>
                <a:tc>
                  <a:txBody>
                    <a:bodyPr/>
                    <a:lstStyle/>
                    <a:p>
                      <a:pPr algn="l">
                        <a:spcAft>
                          <a:spcPts val="0"/>
                        </a:spcAft>
                      </a:pPr>
                      <a:r>
                        <a:rPr lang="en-US" sz="900" kern="0">
                          <a:effectLst/>
                        </a:rPr>
                        <a:t>LDH030001H_</a:t>
                      </a:r>
                      <a:r>
                        <a:rPr lang="zh-CN" sz="900" kern="0">
                          <a:effectLst/>
                        </a:rPr>
                        <a:t>张店公司总部</a:t>
                      </a:r>
                      <a:endParaRPr lang="zh-CN" sz="800" kern="100">
                        <a:effectLst/>
                        <a:latin typeface="Calibri"/>
                        <a:ea typeface="宋体"/>
                        <a:cs typeface="Times New Roman"/>
                      </a:endParaRPr>
                    </a:p>
                  </a:txBody>
                  <a:tcPr marL="76962" marR="76962" marT="0" marB="0" anchor="b"/>
                </a:tc>
                <a:tc>
                  <a:txBody>
                    <a:bodyPr/>
                    <a:lstStyle/>
                    <a:p>
                      <a:pPr algn="just">
                        <a:spcAft>
                          <a:spcPts val="0"/>
                        </a:spcAft>
                      </a:pPr>
                      <a:r>
                        <a:rPr lang="en-US" sz="900" kern="100" dirty="0">
                          <a:effectLst/>
                        </a:rPr>
                        <a:t>V1R10C10SPC150</a:t>
                      </a:r>
                      <a:endParaRPr lang="zh-CN" sz="800" kern="100" dirty="0">
                        <a:effectLst/>
                        <a:latin typeface="Calibri"/>
                        <a:ea typeface="宋体"/>
                        <a:cs typeface="Times New Roman"/>
                      </a:endParaRPr>
                    </a:p>
                  </a:txBody>
                  <a:tcPr marL="76962" marR="76962" marT="0" marB="0"/>
                </a:tc>
              </a:tr>
              <a:tr h="263878">
                <a:tc>
                  <a:txBody>
                    <a:bodyPr/>
                    <a:lstStyle/>
                    <a:p>
                      <a:pPr algn="l">
                        <a:spcAft>
                          <a:spcPts val="0"/>
                        </a:spcAft>
                      </a:pPr>
                      <a:r>
                        <a:rPr lang="zh-CN" sz="900" kern="0" dirty="0">
                          <a:effectLst/>
                        </a:rPr>
                        <a:t>宏站</a:t>
                      </a:r>
                      <a:endParaRPr lang="zh-CN" sz="800" kern="100" dirty="0">
                        <a:effectLst/>
                        <a:latin typeface="Calibri"/>
                        <a:ea typeface="宋体"/>
                        <a:cs typeface="Times New Roman"/>
                      </a:endParaRPr>
                    </a:p>
                  </a:txBody>
                  <a:tcPr marL="76962" marR="76962" marT="0" marB="0" anchor="b"/>
                </a:tc>
                <a:tc>
                  <a:txBody>
                    <a:bodyPr/>
                    <a:lstStyle/>
                    <a:p>
                      <a:pPr algn="l">
                        <a:spcAft>
                          <a:spcPts val="0"/>
                        </a:spcAft>
                      </a:pPr>
                      <a:r>
                        <a:rPr lang="en-US" sz="900" kern="0">
                          <a:effectLst/>
                        </a:rPr>
                        <a:t>LDH030195R_</a:t>
                      </a:r>
                      <a:r>
                        <a:rPr lang="zh-CN" sz="900" kern="0">
                          <a:effectLst/>
                        </a:rPr>
                        <a:t>张店北西六路</a:t>
                      </a:r>
                      <a:r>
                        <a:rPr lang="en-US" sz="900" kern="0">
                          <a:effectLst/>
                        </a:rPr>
                        <a:t>17</a:t>
                      </a:r>
                      <a:r>
                        <a:rPr lang="zh-CN" sz="900" kern="0">
                          <a:effectLst/>
                        </a:rPr>
                        <a:t>号市体育场西</a:t>
                      </a:r>
                      <a:endParaRPr lang="zh-CN" sz="800" kern="100">
                        <a:effectLst/>
                        <a:latin typeface="Calibri"/>
                        <a:ea typeface="宋体"/>
                        <a:cs typeface="Times New Roman"/>
                      </a:endParaRPr>
                    </a:p>
                  </a:txBody>
                  <a:tcPr marL="76962" marR="76962" marT="0" marB="0" anchor="b"/>
                </a:tc>
                <a:tc>
                  <a:txBody>
                    <a:bodyPr/>
                    <a:lstStyle/>
                    <a:p>
                      <a:pPr algn="just">
                        <a:spcAft>
                          <a:spcPts val="0"/>
                        </a:spcAft>
                      </a:pPr>
                      <a:r>
                        <a:rPr lang="en-US" sz="900" kern="100" dirty="0">
                          <a:effectLst/>
                        </a:rPr>
                        <a:t>V1R10C10SPC150</a:t>
                      </a:r>
                      <a:endParaRPr lang="zh-CN" sz="800" kern="100" dirty="0">
                        <a:effectLst/>
                        <a:latin typeface="Calibri"/>
                        <a:ea typeface="宋体"/>
                        <a:cs typeface="Times New Roman"/>
                      </a:endParaRPr>
                    </a:p>
                  </a:txBody>
                  <a:tcPr marL="76962" marR="76962" marT="0" marB="0"/>
                </a:tc>
              </a:tr>
            </a:tbl>
          </a:graphicData>
        </a:graphic>
      </p:graphicFrame>
      <p:sp>
        <p:nvSpPr>
          <p:cNvPr id="11" name="TextBox 10"/>
          <p:cNvSpPr txBox="1"/>
          <p:nvPr/>
        </p:nvSpPr>
        <p:spPr>
          <a:xfrm>
            <a:off x="242890" y="1999708"/>
            <a:ext cx="8056262" cy="830997"/>
          </a:xfrm>
          <a:prstGeom prst="rect">
            <a:avLst/>
          </a:prstGeom>
          <a:noFill/>
        </p:spPr>
        <p:txBody>
          <a:bodyPr wrap="square" lIns="91431" tIns="45715" rIns="91431" bIns="45715" rtlCol="0">
            <a:spAutoFit/>
          </a:bodyPr>
          <a:lstStyle/>
          <a:p>
            <a:r>
              <a:rPr lang="zh-CN" altLang="zh-CN" sz="1200" dirty="0"/>
              <a:t>核查该路段周边站点状态正常无故障告警，小区状态正常、无干扰，核查各项</a:t>
            </a:r>
            <a:r>
              <a:rPr lang="en-US" altLang="zh-CN" sz="1200" dirty="0"/>
              <a:t>VOLTE</a:t>
            </a:r>
            <a:r>
              <a:rPr lang="zh-CN" altLang="zh-CN" sz="1200" dirty="0"/>
              <a:t>开关也无异常，对客户终端进行检查亦无异常。对该路段进行现场测试排查，发现该测试地点无线环境好，</a:t>
            </a:r>
            <a:r>
              <a:rPr lang="en-US" altLang="zh-CN" sz="1200" dirty="0"/>
              <a:t>RSRP</a:t>
            </a:r>
            <a:r>
              <a:rPr lang="zh-CN" altLang="zh-CN" sz="1200" dirty="0"/>
              <a:t>在</a:t>
            </a:r>
            <a:r>
              <a:rPr lang="en-US" altLang="zh-CN" sz="1200" dirty="0"/>
              <a:t>-91.31dBm</a:t>
            </a:r>
            <a:r>
              <a:rPr lang="zh-CN" altLang="zh-CN" sz="1200" dirty="0"/>
              <a:t>左右，</a:t>
            </a:r>
            <a:r>
              <a:rPr lang="en-US" altLang="zh-CN" sz="1200" dirty="0"/>
              <a:t>SINR</a:t>
            </a:r>
            <a:r>
              <a:rPr lang="zh-CN" altLang="zh-CN" sz="1200" dirty="0"/>
              <a:t>值在</a:t>
            </a:r>
            <a:r>
              <a:rPr lang="en-US" altLang="zh-CN" sz="1200" dirty="0"/>
              <a:t>9.6</a:t>
            </a:r>
            <a:r>
              <a:rPr lang="zh-CN" altLang="zh-CN" sz="1200" dirty="0"/>
              <a:t>左右，</a:t>
            </a:r>
            <a:r>
              <a:rPr lang="en-US" altLang="zh-CN" sz="1200" dirty="0"/>
              <a:t>UE</a:t>
            </a:r>
            <a:r>
              <a:rPr lang="zh-CN" altLang="zh-CN" sz="1200" dirty="0"/>
              <a:t>能够进行呼叫并能接通，但鼎力测试软件</a:t>
            </a:r>
            <a:r>
              <a:rPr lang="en-US" altLang="zh-CN" sz="1200" dirty="0"/>
              <a:t>MOS</a:t>
            </a:r>
            <a:r>
              <a:rPr lang="zh-CN" altLang="zh-CN" sz="1200" dirty="0"/>
              <a:t>测试无法进行</a:t>
            </a:r>
            <a:r>
              <a:rPr lang="en-US" altLang="zh-CN" sz="1200" dirty="0"/>
              <a:t>MOS</a:t>
            </a:r>
            <a:r>
              <a:rPr lang="zh-CN" altLang="zh-CN" sz="1200" dirty="0"/>
              <a:t>计分，怀疑为测试软件配置问题，对该软件进行</a:t>
            </a:r>
            <a:r>
              <a:rPr lang="en-US" altLang="zh-CN" sz="1200" dirty="0"/>
              <a:t>LICENSE</a:t>
            </a:r>
            <a:r>
              <a:rPr lang="zh-CN" altLang="zh-CN" sz="1200" dirty="0"/>
              <a:t>升级后问题解决。具体问题处理流程</a:t>
            </a:r>
            <a:r>
              <a:rPr lang="zh-CN" altLang="zh-CN" sz="1200" dirty="0" smtClean="0"/>
              <a:t>如</a:t>
            </a:r>
            <a:r>
              <a:rPr lang="zh-CN" altLang="en-US" sz="1200" dirty="0" smtClean="0"/>
              <a:t>右图</a:t>
            </a:r>
            <a:r>
              <a:rPr lang="zh-CN" altLang="zh-CN" sz="1200" dirty="0" smtClean="0"/>
              <a:t>：</a:t>
            </a:r>
            <a:endParaRPr lang="zh-CN" altLang="en-US" sz="1200" dirty="0"/>
          </a:p>
        </p:txBody>
      </p:sp>
      <p:sp>
        <p:nvSpPr>
          <p:cNvPr id="12" name="TextBox 11"/>
          <p:cNvSpPr txBox="1"/>
          <p:nvPr/>
        </p:nvSpPr>
        <p:spPr>
          <a:xfrm>
            <a:off x="242891" y="3089751"/>
            <a:ext cx="8272286" cy="2308324"/>
          </a:xfrm>
          <a:prstGeom prst="rect">
            <a:avLst/>
          </a:prstGeom>
          <a:noFill/>
        </p:spPr>
        <p:txBody>
          <a:bodyPr wrap="square" lIns="91431" tIns="45715" rIns="91431" bIns="45715" rtlCol="0">
            <a:spAutoFit/>
          </a:bodyPr>
          <a:lstStyle/>
          <a:p>
            <a:r>
              <a:rPr lang="zh-CN" altLang="zh-CN" sz="1200" dirty="0"/>
              <a:t>由于</a:t>
            </a:r>
            <a:r>
              <a:rPr lang="en-US" altLang="zh-CN" sz="1200" dirty="0"/>
              <a:t>VOLTE</a:t>
            </a:r>
            <a:r>
              <a:rPr lang="zh-CN" altLang="zh-CN" sz="1200" dirty="0"/>
              <a:t>尚未试商用，问题在最近才开始出现，而问题区域近期未进行网络操作及</a:t>
            </a:r>
            <a:r>
              <a:rPr lang="en-US" altLang="zh-CN" sz="1200" dirty="0"/>
              <a:t>RF</a:t>
            </a:r>
            <a:r>
              <a:rPr lang="zh-CN" altLang="zh-CN" sz="1200" dirty="0"/>
              <a:t>优化调整，且问题点位于高校，用户较多，之前测试无异常，所以怀疑此问题由软件或终端问题引起，针对这一个方向对问题区域进行现场测试及问题定位。</a:t>
            </a:r>
          </a:p>
          <a:p>
            <a:pPr lvl="0"/>
            <a:r>
              <a:rPr lang="en-US" altLang="zh-CN" sz="1200" b="1" dirty="0"/>
              <a:t> </a:t>
            </a:r>
            <a:r>
              <a:rPr lang="zh-CN" altLang="zh-CN" sz="1200" b="1" dirty="0"/>
              <a:t>覆盖测试</a:t>
            </a:r>
            <a:endParaRPr lang="zh-CN" altLang="zh-CN" sz="1200" dirty="0"/>
          </a:p>
          <a:p>
            <a:r>
              <a:rPr lang="zh-CN" altLang="zh-CN" sz="1200" dirty="0"/>
              <a:t>现场信号测试服务小区</a:t>
            </a:r>
            <a:r>
              <a:rPr lang="en-US" altLang="zh-CN" sz="1200" dirty="0"/>
              <a:t>LDH0307073H1_</a:t>
            </a:r>
            <a:r>
              <a:rPr lang="zh-CN" altLang="zh-CN" sz="1200" dirty="0"/>
              <a:t>张店技师学院</a:t>
            </a:r>
            <a:r>
              <a:rPr lang="en-US" altLang="zh-CN" sz="1200" dirty="0"/>
              <a:t>RSRP</a:t>
            </a:r>
            <a:r>
              <a:rPr lang="zh-CN" altLang="zh-CN" sz="1200" dirty="0"/>
              <a:t>为</a:t>
            </a:r>
            <a:r>
              <a:rPr lang="en-US" altLang="zh-CN" sz="1200" dirty="0"/>
              <a:t>-91.31dBm</a:t>
            </a:r>
            <a:r>
              <a:rPr lang="zh-CN" altLang="zh-CN" sz="1200" dirty="0"/>
              <a:t>左右，</a:t>
            </a:r>
            <a:r>
              <a:rPr lang="en-US" altLang="zh-CN" sz="1200" dirty="0"/>
              <a:t>SINR</a:t>
            </a:r>
            <a:r>
              <a:rPr lang="zh-CN" altLang="zh-CN" sz="1200" dirty="0"/>
              <a:t>在</a:t>
            </a:r>
            <a:r>
              <a:rPr lang="en-US" altLang="zh-CN" sz="1200" dirty="0"/>
              <a:t>9.6</a:t>
            </a:r>
            <a:r>
              <a:rPr lang="zh-CN" altLang="zh-CN" sz="1200" dirty="0"/>
              <a:t>左右，无线环境较好。</a:t>
            </a:r>
          </a:p>
          <a:p>
            <a:pPr lvl="0"/>
            <a:r>
              <a:rPr lang="en-US" altLang="zh-CN" sz="1200" b="1" dirty="0"/>
              <a:t>VOLTE</a:t>
            </a:r>
            <a:r>
              <a:rPr lang="zh-CN" altLang="zh-CN" sz="1200" b="1" dirty="0"/>
              <a:t>拨打测试</a:t>
            </a:r>
            <a:endParaRPr lang="zh-CN" altLang="zh-CN" sz="1200" dirty="0"/>
          </a:p>
          <a:p>
            <a:r>
              <a:rPr lang="zh-CN" altLang="zh-CN" sz="1200" dirty="0"/>
              <a:t>测试设备</a:t>
            </a:r>
            <a:r>
              <a:rPr lang="zh-CN" altLang="zh-CN" sz="1200" dirty="0" smtClean="0"/>
              <a:t>：</a:t>
            </a:r>
            <a:r>
              <a:rPr lang="en-US" altLang="zh-CN" sz="1200" dirty="0" smtClean="0"/>
              <a:t>1</a:t>
            </a:r>
            <a:r>
              <a:rPr lang="zh-CN" altLang="zh-CN" sz="1200" dirty="0" smtClean="0"/>
              <a:t>）</a:t>
            </a:r>
            <a:r>
              <a:rPr lang="en-US" altLang="zh-CN" sz="1200" dirty="0" smtClean="0"/>
              <a:t>MS1</a:t>
            </a:r>
            <a:r>
              <a:rPr lang="zh-CN" altLang="zh-CN" sz="1200" dirty="0"/>
              <a:t>：</a:t>
            </a:r>
            <a:r>
              <a:rPr lang="en-US" altLang="zh-CN" sz="1200" dirty="0"/>
              <a:t>HUAWEI Mate7</a:t>
            </a:r>
            <a:r>
              <a:rPr lang="zh-CN" altLang="zh-CN" sz="1200" dirty="0"/>
              <a:t>，版本</a:t>
            </a:r>
            <a:r>
              <a:rPr lang="en-US" altLang="zh-CN" sz="1200" dirty="0"/>
              <a:t>Jazz-TL20V100R001C01B011</a:t>
            </a:r>
            <a:endParaRPr lang="zh-CN" altLang="zh-CN" sz="1200" dirty="0"/>
          </a:p>
          <a:p>
            <a:r>
              <a:rPr lang="en-US" altLang="zh-CN" sz="1200" dirty="0" smtClean="0"/>
              <a:t>                      2</a:t>
            </a:r>
            <a:r>
              <a:rPr lang="zh-CN" altLang="zh-CN" sz="1200" dirty="0" smtClean="0"/>
              <a:t>）</a:t>
            </a:r>
            <a:r>
              <a:rPr lang="en-US" altLang="zh-CN" sz="1200" dirty="0" smtClean="0"/>
              <a:t>MS2</a:t>
            </a:r>
            <a:r>
              <a:rPr lang="zh-CN" altLang="zh-CN" sz="1200" dirty="0"/>
              <a:t>：</a:t>
            </a:r>
            <a:r>
              <a:rPr lang="en-US" altLang="zh-CN" sz="1200" dirty="0"/>
              <a:t>HUAWEI Mate7</a:t>
            </a:r>
            <a:r>
              <a:rPr lang="zh-CN" altLang="zh-CN" sz="1200" dirty="0"/>
              <a:t>，版本</a:t>
            </a:r>
            <a:r>
              <a:rPr lang="en-US" altLang="zh-CN" sz="1200" dirty="0"/>
              <a:t>Jazz-TL20V100R001C01B011</a:t>
            </a:r>
            <a:endParaRPr lang="zh-CN" altLang="zh-CN" sz="1200" dirty="0"/>
          </a:p>
          <a:p>
            <a:r>
              <a:rPr lang="en-US" altLang="zh-CN" sz="1200" dirty="0" smtClean="0"/>
              <a:t>                      3</a:t>
            </a:r>
            <a:r>
              <a:rPr lang="zh-CN" altLang="zh-CN" sz="1200" dirty="0" smtClean="0"/>
              <a:t>）</a:t>
            </a:r>
            <a:r>
              <a:rPr lang="en-US" altLang="zh-CN" sz="1200" dirty="0" smtClean="0"/>
              <a:t>Pilot </a:t>
            </a:r>
            <a:r>
              <a:rPr lang="en-US" altLang="zh-CN" sz="1200" dirty="0"/>
              <a:t>Pioneer9.6.0.0710</a:t>
            </a:r>
            <a:endParaRPr lang="zh-CN" altLang="zh-CN" sz="1200" dirty="0"/>
          </a:p>
          <a:p>
            <a:r>
              <a:rPr lang="en-US" altLang="zh-CN" sz="1200" dirty="0" smtClean="0"/>
              <a:t>                      4</a:t>
            </a:r>
            <a:r>
              <a:rPr lang="zh-CN" altLang="zh-CN" sz="1200" dirty="0"/>
              <a:t>）测试</a:t>
            </a:r>
            <a:r>
              <a:rPr lang="en-US" altLang="zh-CN" sz="1200" dirty="0"/>
              <a:t>PC</a:t>
            </a:r>
            <a:r>
              <a:rPr lang="zh-CN" altLang="zh-CN" sz="1200" dirty="0"/>
              <a:t>，</a:t>
            </a:r>
            <a:r>
              <a:rPr lang="en-US" altLang="zh-CN" sz="1200" dirty="0"/>
              <a:t>USB</a:t>
            </a:r>
            <a:r>
              <a:rPr lang="zh-CN" altLang="zh-CN" sz="1200" dirty="0"/>
              <a:t>口</a:t>
            </a:r>
            <a:r>
              <a:rPr lang="en-US" altLang="zh-CN" sz="1200" dirty="0"/>
              <a:t>3</a:t>
            </a:r>
            <a:r>
              <a:rPr lang="zh-CN" altLang="zh-CN" sz="1200" dirty="0"/>
              <a:t>个，需连接</a:t>
            </a:r>
            <a:r>
              <a:rPr lang="en-US" altLang="zh-CN" sz="1200" dirty="0"/>
              <a:t>GPS,2</a:t>
            </a:r>
            <a:r>
              <a:rPr lang="zh-CN" altLang="zh-CN" sz="1200" dirty="0"/>
              <a:t>部手机</a:t>
            </a:r>
          </a:p>
          <a:p>
            <a:r>
              <a:rPr lang="zh-CN" altLang="zh-CN" sz="1200" dirty="0"/>
              <a:t>测试情况：两款终端</a:t>
            </a:r>
            <a:r>
              <a:rPr lang="en-US" altLang="zh-CN" sz="1200" dirty="0"/>
              <a:t>VOLTE</a:t>
            </a:r>
            <a:r>
              <a:rPr lang="zh-CN" altLang="zh-CN" sz="1200" dirty="0"/>
              <a:t>被叫均能接通，主、被叫无掉话。</a:t>
            </a:r>
          </a:p>
          <a:p>
            <a:r>
              <a:rPr lang="zh-CN" altLang="zh-CN" sz="1200" dirty="0"/>
              <a:t>测试分析</a:t>
            </a:r>
            <a:r>
              <a:rPr lang="zh-CN" altLang="zh-CN" sz="1200" dirty="0" smtClean="0"/>
              <a:t>：对</a:t>
            </a:r>
            <a:r>
              <a:rPr lang="en-US" altLang="zh-CN" sz="1200" dirty="0"/>
              <a:t>VOLTE</a:t>
            </a:r>
            <a:r>
              <a:rPr lang="zh-CN" altLang="zh-CN" sz="1200" dirty="0"/>
              <a:t>测试的信令进行分析，发现信令无异常，事件中出现</a:t>
            </a:r>
            <a:r>
              <a:rPr lang="en-US" altLang="zh-CN" sz="1200" dirty="0"/>
              <a:t>POLQA </a:t>
            </a:r>
            <a:r>
              <a:rPr lang="en-US" altLang="zh-CN" sz="1200" dirty="0" err="1"/>
              <a:t>Calc</a:t>
            </a:r>
            <a:r>
              <a:rPr lang="en-US" altLang="zh-CN" sz="1200" dirty="0"/>
              <a:t> Failed</a:t>
            </a:r>
            <a:r>
              <a:rPr lang="zh-CN" altLang="zh-CN" sz="1200" dirty="0"/>
              <a:t>，同时无线环境较好，</a:t>
            </a:r>
            <a:r>
              <a:rPr lang="en-US" altLang="zh-CN" sz="1200" dirty="0"/>
              <a:t>RSRP</a:t>
            </a:r>
            <a:r>
              <a:rPr lang="zh-CN" altLang="zh-CN" sz="1200" dirty="0"/>
              <a:t>为</a:t>
            </a:r>
            <a:r>
              <a:rPr lang="en-US" altLang="zh-CN" sz="1200" dirty="0"/>
              <a:t>-91.31dBm</a:t>
            </a:r>
            <a:r>
              <a:rPr lang="zh-CN" altLang="zh-CN" sz="1200" dirty="0"/>
              <a:t>， </a:t>
            </a:r>
            <a:r>
              <a:rPr lang="en-US" altLang="zh-CN" sz="1200" dirty="0"/>
              <a:t>SINR</a:t>
            </a:r>
            <a:r>
              <a:rPr lang="zh-CN" altLang="zh-CN" sz="1200" dirty="0"/>
              <a:t>值为</a:t>
            </a:r>
            <a:r>
              <a:rPr lang="en-US" altLang="zh-CN" sz="1200" dirty="0"/>
              <a:t>9.6</a:t>
            </a:r>
            <a:r>
              <a:rPr lang="zh-CN" altLang="zh-CN" sz="1200" dirty="0" smtClean="0"/>
              <a:t>。</a:t>
            </a:r>
            <a:endParaRPr lang="zh-CN" altLang="en-US" sz="1200" dirty="0"/>
          </a:p>
        </p:txBody>
      </p:sp>
      <p:pic>
        <p:nvPicPr>
          <p:cNvPr id="1029"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515177" y="610518"/>
            <a:ext cx="1672077" cy="460043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3" name="TextBox 12"/>
          <p:cNvSpPr txBox="1"/>
          <p:nvPr/>
        </p:nvSpPr>
        <p:spPr>
          <a:xfrm>
            <a:off x="162249" y="76846"/>
            <a:ext cx="8808179"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12</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淄博 鼎力软件</a:t>
            </a:r>
            <a:r>
              <a:rPr lang="en-US" altLang="zh-CN" sz="2400" b="1" dirty="0" err="1" smtClean="0">
                <a:solidFill>
                  <a:schemeClr val="bg1"/>
                </a:solidFill>
                <a:latin typeface="+mn-ea"/>
              </a:rPr>
              <a:t>VolTE</a:t>
            </a:r>
            <a:r>
              <a:rPr lang="zh-CN" altLang="en-US" sz="2400" b="1" dirty="0" smtClean="0">
                <a:solidFill>
                  <a:schemeClr val="bg1"/>
                </a:solidFill>
                <a:latin typeface="+mn-ea"/>
              </a:rPr>
              <a:t>测试</a:t>
            </a:r>
            <a:r>
              <a:rPr lang="en-US" altLang="zh-CN" sz="2400" b="1" dirty="0" smtClean="0">
                <a:solidFill>
                  <a:schemeClr val="bg1"/>
                </a:solidFill>
                <a:latin typeface="+mn-ea"/>
              </a:rPr>
              <a:t>MOS</a:t>
            </a:r>
            <a:r>
              <a:rPr lang="zh-CN" altLang="en-US" sz="2400" b="1" dirty="0" smtClean="0">
                <a:solidFill>
                  <a:schemeClr val="bg1"/>
                </a:solidFill>
                <a:latin typeface="+mn-ea"/>
              </a:rPr>
              <a:t>计分失败分析</a:t>
            </a:r>
          </a:p>
        </p:txBody>
      </p:sp>
    </p:spTree>
    <p:extLst>
      <p:ext uri="{BB962C8B-B14F-4D97-AF65-F5344CB8AC3E}">
        <p14:creationId xmlns:p14="http://schemas.microsoft.com/office/powerpoint/2010/main" xmlns="" val="416206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1454" y="601850"/>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【问题分析】</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pic>
        <p:nvPicPr>
          <p:cNvPr id="6" name="图片 5"/>
          <p:cNvPicPr/>
          <p:nvPr/>
        </p:nvPicPr>
        <p:blipFill>
          <a:blip r:embed="rId2" cstate="print"/>
          <a:stretch>
            <a:fillRect/>
          </a:stretch>
        </p:blipFill>
        <p:spPr>
          <a:xfrm>
            <a:off x="6498953" y="676760"/>
            <a:ext cx="3456384" cy="1877974"/>
          </a:xfrm>
          <a:prstGeom prst="rect">
            <a:avLst/>
          </a:prstGeom>
          <a:ln w="6350">
            <a:solidFill>
              <a:schemeClr val="tx1"/>
            </a:solidFill>
          </a:ln>
        </p:spPr>
      </p:pic>
      <p:pic>
        <p:nvPicPr>
          <p:cNvPr id="7" name="图片 6"/>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498952" y="2626742"/>
            <a:ext cx="3456384" cy="1934881"/>
          </a:xfrm>
          <a:prstGeom prst="rect">
            <a:avLst/>
          </a:prstGeom>
          <a:noFill/>
          <a:ln w="6350">
            <a:solidFill>
              <a:schemeClr val="tx1"/>
            </a:solidFill>
          </a:ln>
        </p:spPr>
      </p:pic>
      <p:sp>
        <p:nvSpPr>
          <p:cNvPr id="8" name="TextBox 7"/>
          <p:cNvSpPr txBox="1"/>
          <p:nvPr/>
        </p:nvSpPr>
        <p:spPr>
          <a:xfrm>
            <a:off x="282262" y="906632"/>
            <a:ext cx="5979864" cy="1384995"/>
          </a:xfrm>
          <a:prstGeom prst="rect">
            <a:avLst/>
          </a:prstGeom>
          <a:noFill/>
        </p:spPr>
        <p:txBody>
          <a:bodyPr wrap="square" lIns="91431" tIns="45715" rIns="91431" bIns="45715" rtlCol="0">
            <a:spAutoFit/>
          </a:bodyPr>
          <a:lstStyle/>
          <a:p>
            <a:r>
              <a:rPr lang="zh-CN" altLang="zh-CN" sz="1200" dirty="0"/>
              <a:t>经查，问题区域站点无告警、各类</a:t>
            </a:r>
            <a:r>
              <a:rPr lang="en-US" altLang="zh-CN" sz="1200" dirty="0"/>
              <a:t>VOLTE</a:t>
            </a:r>
            <a:r>
              <a:rPr lang="zh-CN" altLang="zh-CN" sz="1200" dirty="0"/>
              <a:t>开关均打开，门限配置正常。更换测试地点后问题依然存在。</a:t>
            </a:r>
          </a:p>
          <a:p>
            <a:r>
              <a:rPr lang="zh-CN" altLang="zh-CN" sz="1200" dirty="0"/>
              <a:t>怀疑为终端问题，将测试终端由华为</a:t>
            </a:r>
            <a:r>
              <a:rPr lang="en-US" altLang="zh-CN" sz="1200" dirty="0"/>
              <a:t>MATE7</a:t>
            </a:r>
            <a:r>
              <a:rPr lang="zh-CN" altLang="zh-CN" sz="1200" dirty="0"/>
              <a:t>更换为</a:t>
            </a:r>
            <a:r>
              <a:rPr lang="en-US" altLang="zh-CN" sz="1200" dirty="0"/>
              <a:t>HTC M8</a:t>
            </a:r>
            <a:r>
              <a:rPr lang="zh-CN" altLang="zh-CN" sz="1200" dirty="0"/>
              <a:t>后问题依然存在。</a:t>
            </a:r>
          </a:p>
          <a:p>
            <a:r>
              <a:rPr lang="zh-CN" altLang="zh-CN" sz="1200" dirty="0"/>
              <a:t>怀疑为测试电脑问题，更换测试电脑后后问题依然存在。</a:t>
            </a:r>
          </a:p>
          <a:p>
            <a:r>
              <a:rPr lang="zh-CN" altLang="zh-CN" sz="1200" dirty="0"/>
              <a:t>怀疑为测试软件问题，将测试软件重新安装后问题依然存在。</a:t>
            </a:r>
          </a:p>
          <a:p>
            <a:r>
              <a:rPr lang="zh-CN" altLang="zh-CN" sz="1200" dirty="0"/>
              <a:t>进一步查看测试软件</a:t>
            </a:r>
            <a:r>
              <a:rPr lang="en-US" altLang="zh-CN" sz="1200" dirty="0"/>
              <a:t>LICENSE</a:t>
            </a:r>
            <a:r>
              <a:rPr lang="zh-CN" altLang="zh-CN" sz="1200" dirty="0"/>
              <a:t>文件获知，测试软件</a:t>
            </a:r>
            <a:r>
              <a:rPr lang="en-US" altLang="zh-CN" sz="1200" dirty="0"/>
              <a:t>LICENSE</a:t>
            </a:r>
            <a:r>
              <a:rPr lang="zh-CN" altLang="zh-CN" sz="1200" dirty="0"/>
              <a:t>到期需延期。</a:t>
            </a:r>
          </a:p>
          <a:p>
            <a:endParaRPr lang="zh-CN" altLang="en-US" sz="1200" dirty="0"/>
          </a:p>
        </p:txBody>
      </p:sp>
      <p:pic>
        <p:nvPicPr>
          <p:cNvPr id="9" name="图片 8"/>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78273" y="2126471"/>
            <a:ext cx="5911109" cy="1364368"/>
          </a:xfrm>
          <a:prstGeom prst="rect">
            <a:avLst/>
          </a:prstGeom>
          <a:noFill/>
          <a:ln w="6350">
            <a:solidFill>
              <a:schemeClr val="tx1"/>
            </a:solidFill>
          </a:ln>
        </p:spPr>
      </p:pic>
      <p:sp>
        <p:nvSpPr>
          <p:cNvPr id="10" name="TextBox 9"/>
          <p:cNvSpPr txBox="1"/>
          <p:nvPr/>
        </p:nvSpPr>
        <p:spPr>
          <a:xfrm>
            <a:off x="282263" y="3490839"/>
            <a:ext cx="5424602" cy="276999"/>
          </a:xfrm>
          <a:prstGeom prst="rect">
            <a:avLst/>
          </a:prstGeom>
          <a:noFill/>
        </p:spPr>
        <p:txBody>
          <a:bodyPr wrap="square" lIns="91431" tIns="45715" rIns="91431" bIns="45715" rtlCol="0">
            <a:spAutoFit/>
          </a:bodyPr>
          <a:lstStyle/>
          <a:p>
            <a:r>
              <a:rPr lang="zh-CN" altLang="zh-CN" sz="1200" dirty="0"/>
              <a:t>经与软件厂家沟通获知测试软件</a:t>
            </a:r>
            <a:r>
              <a:rPr lang="en-US" altLang="zh-CN" sz="1200" dirty="0"/>
              <a:t>LICENSE</a:t>
            </a:r>
            <a:r>
              <a:rPr lang="zh-CN" altLang="zh-CN" sz="1200" dirty="0"/>
              <a:t>已到期，需更换</a:t>
            </a:r>
            <a:r>
              <a:rPr lang="en-US" altLang="zh-CN" sz="1200" dirty="0"/>
              <a:t>LICENSE</a:t>
            </a:r>
            <a:r>
              <a:rPr lang="zh-CN" altLang="zh-CN" sz="1200" dirty="0"/>
              <a:t>文件</a:t>
            </a:r>
            <a:r>
              <a:rPr lang="zh-CN" altLang="zh-CN" sz="1200" dirty="0" smtClean="0"/>
              <a:t>。</a:t>
            </a:r>
            <a:endParaRPr lang="zh-CN" altLang="en-US" sz="1200" dirty="0"/>
          </a:p>
        </p:txBody>
      </p:sp>
      <p:pic>
        <p:nvPicPr>
          <p:cNvPr id="11" name="图片 10"/>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78273" y="3778870"/>
            <a:ext cx="5911109" cy="1574271"/>
          </a:xfrm>
          <a:prstGeom prst="rect">
            <a:avLst/>
          </a:prstGeom>
          <a:noFill/>
          <a:ln w="6350">
            <a:solidFill>
              <a:schemeClr val="tx1"/>
            </a:solidFill>
          </a:ln>
        </p:spPr>
      </p:pic>
      <p:sp>
        <p:nvSpPr>
          <p:cNvPr id="12" name="TextBox 11"/>
          <p:cNvSpPr txBox="1"/>
          <p:nvPr/>
        </p:nvSpPr>
        <p:spPr>
          <a:xfrm>
            <a:off x="162249" y="76846"/>
            <a:ext cx="8808179"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12</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淄博 鼎力软件</a:t>
            </a:r>
            <a:r>
              <a:rPr lang="en-US" altLang="zh-CN" sz="2400" b="1" dirty="0" err="1" smtClean="0">
                <a:solidFill>
                  <a:schemeClr val="bg1"/>
                </a:solidFill>
                <a:latin typeface="+mn-ea"/>
              </a:rPr>
              <a:t>VolTE</a:t>
            </a:r>
            <a:r>
              <a:rPr lang="zh-CN" altLang="en-US" sz="2400" b="1" dirty="0" smtClean="0">
                <a:solidFill>
                  <a:schemeClr val="bg1"/>
                </a:solidFill>
                <a:latin typeface="+mn-ea"/>
              </a:rPr>
              <a:t>测试</a:t>
            </a:r>
            <a:r>
              <a:rPr lang="en-US" altLang="zh-CN" sz="2400" b="1" dirty="0" smtClean="0">
                <a:solidFill>
                  <a:schemeClr val="bg1"/>
                </a:solidFill>
                <a:latin typeface="+mn-ea"/>
              </a:rPr>
              <a:t>MOS</a:t>
            </a:r>
            <a:r>
              <a:rPr lang="zh-CN" altLang="en-US" sz="2400" b="1" dirty="0" smtClean="0">
                <a:solidFill>
                  <a:schemeClr val="bg1"/>
                </a:solidFill>
                <a:latin typeface="+mn-ea"/>
              </a:rPr>
              <a:t>计分失败分析</a:t>
            </a:r>
          </a:p>
        </p:txBody>
      </p:sp>
    </p:spTree>
    <p:extLst>
      <p:ext uri="{BB962C8B-B14F-4D97-AF65-F5344CB8AC3E}">
        <p14:creationId xmlns:p14="http://schemas.microsoft.com/office/powerpoint/2010/main" xmlns="" val="2162466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658524"/>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【问题分析】</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5" name="TextBox 4"/>
          <p:cNvSpPr txBox="1"/>
          <p:nvPr/>
        </p:nvSpPr>
        <p:spPr>
          <a:xfrm>
            <a:off x="686306" y="1055236"/>
            <a:ext cx="9131414" cy="461665"/>
          </a:xfrm>
          <a:prstGeom prst="rect">
            <a:avLst/>
          </a:prstGeom>
          <a:noFill/>
        </p:spPr>
        <p:txBody>
          <a:bodyPr wrap="square" lIns="91431" tIns="45715" rIns="91431" bIns="45715" rtlCol="0">
            <a:spAutoFit/>
          </a:bodyPr>
          <a:lstStyle/>
          <a:p>
            <a:r>
              <a:rPr lang="zh-CN" altLang="zh-CN" sz="1200" dirty="0"/>
              <a:t>将安装目录下</a:t>
            </a:r>
            <a:r>
              <a:rPr lang="en-US" altLang="zh-CN" sz="1200" dirty="0"/>
              <a:t>PESQ</a:t>
            </a:r>
            <a:r>
              <a:rPr lang="zh-CN" altLang="zh-CN" sz="1200" dirty="0"/>
              <a:t>文件夹内过期的</a:t>
            </a:r>
            <a:r>
              <a:rPr lang="en-US" altLang="zh-CN" sz="1200" dirty="0"/>
              <a:t>LICENSE</a:t>
            </a:r>
            <a:r>
              <a:rPr lang="zh-CN" altLang="zh-CN" sz="1200" dirty="0"/>
              <a:t>文件替换掉后，问题解决，</a:t>
            </a:r>
            <a:r>
              <a:rPr lang="en-US" altLang="zh-CN" sz="1200" dirty="0"/>
              <a:t>MOS</a:t>
            </a:r>
            <a:r>
              <a:rPr lang="zh-CN" altLang="zh-CN" sz="1200" dirty="0"/>
              <a:t>测试能够正常进行。</a:t>
            </a:r>
          </a:p>
          <a:p>
            <a:endParaRPr lang="zh-CN" altLang="en-US" sz="1200" dirty="0"/>
          </a:p>
        </p:txBody>
      </p:sp>
      <p:pic>
        <p:nvPicPr>
          <p:cNvPr id="6" name="图片 5"/>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17634" y="1418582"/>
            <a:ext cx="5911109" cy="1994076"/>
          </a:xfrm>
          <a:prstGeom prst="rect">
            <a:avLst/>
          </a:prstGeom>
          <a:noFill/>
          <a:ln w="9525">
            <a:solidFill>
              <a:schemeClr val="tx1"/>
            </a:solidFill>
          </a:ln>
        </p:spPr>
      </p:pic>
      <p:sp>
        <p:nvSpPr>
          <p:cNvPr id="7" name="矩形 6"/>
          <p:cNvSpPr/>
          <p:nvPr/>
        </p:nvSpPr>
        <p:spPr>
          <a:xfrm>
            <a:off x="282263" y="3718864"/>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【问题</a:t>
            </a:r>
            <a:r>
              <a:rPr lang="zh-CN" altLang="en-US" b="1" dirty="0" smtClean="0">
                <a:solidFill>
                  <a:prstClr val="black"/>
                </a:solidFill>
                <a:latin typeface="宋体" panose="02010600030101010101" pitchFamily="2" charset="-122"/>
              </a:rPr>
              <a:t>总结</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8" name="TextBox 7"/>
          <p:cNvSpPr txBox="1"/>
          <p:nvPr/>
        </p:nvSpPr>
        <p:spPr>
          <a:xfrm>
            <a:off x="1010276" y="4172249"/>
            <a:ext cx="7999355" cy="830997"/>
          </a:xfrm>
          <a:prstGeom prst="rect">
            <a:avLst/>
          </a:prstGeom>
          <a:noFill/>
        </p:spPr>
        <p:txBody>
          <a:bodyPr wrap="square" lIns="91431" tIns="45715" rIns="91431" bIns="45715" rtlCol="0">
            <a:spAutoFit/>
          </a:bodyPr>
          <a:lstStyle/>
          <a:p>
            <a:pPr>
              <a:lnSpc>
                <a:spcPct val="150000"/>
              </a:lnSpc>
            </a:pPr>
            <a:r>
              <a:rPr lang="en-US" altLang="zh-CN" sz="1200" dirty="0"/>
              <a:t>VOLTE MOS</a:t>
            </a:r>
            <a:r>
              <a:rPr lang="zh-CN" altLang="zh-CN" sz="1200" dirty="0"/>
              <a:t>测试涉及方面较多，包括核心网、</a:t>
            </a:r>
            <a:r>
              <a:rPr lang="en-US" altLang="zh-CN" sz="1200" dirty="0"/>
              <a:t>ENODEB</a:t>
            </a:r>
            <a:r>
              <a:rPr lang="zh-CN" altLang="zh-CN" sz="1200" dirty="0"/>
              <a:t>、测试软件、测试终端等等，测试前应确认测试软件在有效期内、测试终端各类端口均已打开，</a:t>
            </a:r>
            <a:r>
              <a:rPr lang="en-US" altLang="zh-CN" sz="1200" dirty="0"/>
              <a:t>ENODEB</a:t>
            </a:r>
            <a:r>
              <a:rPr lang="zh-CN" altLang="zh-CN" sz="1200" dirty="0"/>
              <a:t>无告警，各类开关、门限正常等。</a:t>
            </a:r>
          </a:p>
          <a:p>
            <a:endParaRPr lang="zh-CN" altLang="en-US" sz="1200" dirty="0"/>
          </a:p>
        </p:txBody>
      </p:sp>
      <p:sp>
        <p:nvSpPr>
          <p:cNvPr id="9" name="TextBox 8"/>
          <p:cNvSpPr txBox="1"/>
          <p:nvPr/>
        </p:nvSpPr>
        <p:spPr>
          <a:xfrm>
            <a:off x="162249" y="76846"/>
            <a:ext cx="8808179"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12</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淄博 鼎力软件</a:t>
            </a:r>
            <a:r>
              <a:rPr lang="en-US" altLang="zh-CN" sz="2400" b="1" dirty="0" err="1" smtClean="0">
                <a:solidFill>
                  <a:schemeClr val="bg1"/>
                </a:solidFill>
                <a:latin typeface="+mn-ea"/>
              </a:rPr>
              <a:t>VolTE</a:t>
            </a:r>
            <a:r>
              <a:rPr lang="zh-CN" altLang="en-US" sz="2400" b="1" dirty="0" smtClean="0">
                <a:solidFill>
                  <a:schemeClr val="bg1"/>
                </a:solidFill>
                <a:latin typeface="+mn-ea"/>
              </a:rPr>
              <a:t>测试</a:t>
            </a:r>
            <a:r>
              <a:rPr lang="en-US" altLang="zh-CN" sz="2400" b="1" dirty="0" smtClean="0">
                <a:solidFill>
                  <a:schemeClr val="bg1"/>
                </a:solidFill>
                <a:latin typeface="+mn-ea"/>
              </a:rPr>
              <a:t>MOS</a:t>
            </a:r>
            <a:r>
              <a:rPr lang="zh-CN" altLang="en-US" sz="2400" b="1" dirty="0" smtClean="0">
                <a:solidFill>
                  <a:schemeClr val="bg1"/>
                </a:solidFill>
                <a:latin typeface="+mn-ea"/>
              </a:rPr>
              <a:t>计分失败分析</a:t>
            </a:r>
          </a:p>
        </p:txBody>
      </p:sp>
    </p:spTree>
    <p:extLst>
      <p:ext uri="{BB962C8B-B14F-4D97-AF65-F5344CB8AC3E}">
        <p14:creationId xmlns:p14="http://schemas.microsoft.com/office/powerpoint/2010/main" xmlns="" val="720638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545178"/>
            <a:ext cx="2262158"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solidFill>
                  <a:prstClr val="black"/>
                </a:solidFill>
                <a:latin typeface="宋体" panose="02010600030101010101" pitchFamily="2" charset="-122"/>
              </a:rPr>
              <a:t>测试总体情况</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4" name="TextBox 3"/>
          <p:cNvSpPr txBox="1"/>
          <p:nvPr/>
        </p:nvSpPr>
        <p:spPr>
          <a:xfrm>
            <a:off x="417200" y="835856"/>
            <a:ext cx="4565707" cy="2308324"/>
          </a:xfrm>
          <a:prstGeom prst="rect">
            <a:avLst/>
          </a:prstGeom>
          <a:noFill/>
        </p:spPr>
        <p:txBody>
          <a:bodyPr wrap="square" lIns="91431" tIns="45715" rIns="91431" bIns="45715" rtlCol="0">
            <a:spAutoFit/>
          </a:bodyPr>
          <a:lstStyle/>
          <a:p>
            <a:pPr lvl="0"/>
            <a:r>
              <a:rPr lang="zh-CN" altLang="zh-CN" sz="1200" b="1" dirty="0"/>
              <a:t>测试日期</a:t>
            </a:r>
            <a:endParaRPr lang="zh-CN" altLang="zh-CN" sz="1200" dirty="0"/>
          </a:p>
          <a:p>
            <a:r>
              <a:rPr lang="en-US" altLang="zh-CN" sz="1200" dirty="0"/>
              <a:t>2015</a:t>
            </a:r>
            <a:r>
              <a:rPr lang="zh-CN" altLang="zh-CN" sz="1200" dirty="0"/>
              <a:t>年</a:t>
            </a:r>
            <a:r>
              <a:rPr lang="en-US" altLang="zh-CN" sz="1200" dirty="0"/>
              <a:t>12</a:t>
            </a:r>
            <a:r>
              <a:rPr lang="zh-CN" altLang="zh-CN" sz="1200" dirty="0"/>
              <a:t>月</a:t>
            </a:r>
            <a:r>
              <a:rPr lang="en-US" altLang="zh-CN" sz="1200" dirty="0"/>
              <a:t>17</a:t>
            </a:r>
            <a:r>
              <a:rPr lang="zh-CN" altLang="zh-CN" sz="1200" dirty="0"/>
              <a:t>日</a:t>
            </a:r>
          </a:p>
          <a:p>
            <a:pPr lvl="0"/>
            <a:r>
              <a:rPr lang="zh-CN" altLang="zh-CN" sz="1200" b="1" dirty="0"/>
              <a:t>测试设备</a:t>
            </a:r>
            <a:endParaRPr lang="zh-CN" altLang="zh-CN" sz="1200" dirty="0"/>
          </a:p>
          <a:p>
            <a:pPr lvl="0"/>
            <a:r>
              <a:rPr lang="zh-CN" altLang="zh-CN" sz="1200" dirty="0"/>
              <a:t>测试软件（包括版本）：</a:t>
            </a:r>
          </a:p>
          <a:p>
            <a:r>
              <a:rPr lang="en-US" altLang="zh-CN" sz="1200" dirty="0"/>
              <a:t>Pilot Pioneer9.6</a:t>
            </a:r>
            <a:endParaRPr lang="zh-CN" altLang="zh-CN" sz="1200" dirty="0"/>
          </a:p>
          <a:p>
            <a:pPr lvl="0"/>
            <a:r>
              <a:rPr lang="zh-CN" altLang="zh-CN" sz="1200" dirty="0"/>
              <a:t>测试硬件：</a:t>
            </a:r>
          </a:p>
          <a:p>
            <a:r>
              <a:rPr lang="en-US" altLang="zh-CN" sz="1200" dirty="0"/>
              <a:t>HTC M8*2</a:t>
            </a:r>
            <a:r>
              <a:rPr lang="zh-CN" altLang="zh-CN" sz="1200" dirty="0"/>
              <a:t>，笔记本电脑</a:t>
            </a:r>
            <a:r>
              <a:rPr lang="en-US" altLang="zh-CN" sz="1200" dirty="0"/>
              <a:t>*1</a:t>
            </a:r>
            <a:r>
              <a:rPr lang="zh-CN" altLang="zh-CN" sz="1200" dirty="0"/>
              <a:t>，</a:t>
            </a:r>
            <a:r>
              <a:rPr lang="en-US" altLang="zh-CN" sz="1200" dirty="0"/>
              <a:t>GPS*1</a:t>
            </a:r>
            <a:r>
              <a:rPr lang="zh-CN" altLang="zh-CN" sz="1200" dirty="0"/>
              <a:t>，</a:t>
            </a:r>
            <a:r>
              <a:rPr lang="en-US" altLang="zh-CN" sz="1200" dirty="0"/>
              <a:t>USB HUB*1</a:t>
            </a:r>
            <a:r>
              <a:rPr lang="zh-CN" altLang="zh-CN" sz="1200" dirty="0"/>
              <a:t>，</a:t>
            </a:r>
            <a:r>
              <a:rPr lang="en-US" altLang="zh-CN" sz="1200" dirty="0"/>
              <a:t>MOS BOX*1</a:t>
            </a:r>
            <a:r>
              <a:rPr lang="zh-CN" altLang="zh-CN" sz="1200" dirty="0"/>
              <a:t>，华为</a:t>
            </a:r>
            <a:r>
              <a:rPr lang="en-US" altLang="zh-CN" sz="1200" dirty="0"/>
              <a:t> Mate7*2</a:t>
            </a:r>
            <a:endParaRPr lang="zh-CN" altLang="zh-CN" sz="1200" dirty="0"/>
          </a:p>
          <a:p>
            <a:pPr lvl="0"/>
            <a:r>
              <a:rPr lang="zh-CN" altLang="zh-CN" sz="1200" b="1" dirty="0"/>
              <a:t>测试方式</a:t>
            </a:r>
            <a:endParaRPr lang="zh-CN" altLang="zh-CN" sz="1200" dirty="0"/>
          </a:p>
          <a:p>
            <a:r>
              <a:rPr lang="zh-CN" altLang="zh-CN" sz="1200" dirty="0"/>
              <a:t>在同一地点覆盖良好的情况下测试终端分别采用华为</a:t>
            </a:r>
            <a:r>
              <a:rPr lang="en-US" altLang="zh-CN" sz="1200" dirty="0"/>
              <a:t> Mate7</a:t>
            </a:r>
            <a:r>
              <a:rPr lang="zh-CN" altLang="zh-CN" sz="1200" dirty="0"/>
              <a:t>、</a:t>
            </a:r>
            <a:r>
              <a:rPr lang="en-US" altLang="zh-CN" sz="1200" dirty="0"/>
              <a:t>HTC M8</a:t>
            </a:r>
            <a:r>
              <a:rPr lang="zh-CN" altLang="zh-CN" sz="1200" dirty="0"/>
              <a:t>使用</a:t>
            </a:r>
            <a:r>
              <a:rPr lang="en-US" altLang="zh-CN" sz="1200" dirty="0" err="1"/>
              <a:t>polqa</a:t>
            </a:r>
            <a:r>
              <a:rPr lang="en-US" altLang="zh-CN" sz="1200" dirty="0"/>
              <a:t> SWB</a:t>
            </a:r>
            <a:r>
              <a:rPr lang="zh-CN" altLang="zh-CN" sz="1200" dirty="0"/>
              <a:t>算法做</a:t>
            </a:r>
            <a:r>
              <a:rPr lang="en-US" altLang="zh-CN" sz="1200" dirty="0"/>
              <a:t>VOLTE</a:t>
            </a:r>
            <a:r>
              <a:rPr lang="zh-CN" altLang="zh-CN" sz="1200" dirty="0"/>
              <a:t>语音拨打测试业务。</a:t>
            </a:r>
          </a:p>
          <a:p>
            <a:endParaRPr lang="zh-CN" altLang="en-US" sz="1200" dirty="0"/>
          </a:p>
        </p:txBody>
      </p:sp>
      <p:sp>
        <p:nvSpPr>
          <p:cNvPr id="5" name="矩形 4"/>
          <p:cNvSpPr/>
          <p:nvPr/>
        </p:nvSpPr>
        <p:spPr>
          <a:xfrm>
            <a:off x="5523621" y="532980"/>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solidFill>
                  <a:prstClr val="black"/>
                </a:solidFill>
                <a:latin typeface="宋体" panose="02010600030101010101" pitchFamily="2" charset="-122"/>
              </a:rPr>
              <a:t>测试场景</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pic>
        <p:nvPicPr>
          <p:cNvPr id="6" name="图片 5"/>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704482" y="1168580"/>
            <a:ext cx="3631012" cy="1714354"/>
          </a:xfrm>
          <a:prstGeom prst="rect">
            <a:avLst/>
          </a:prstGeom>
          <a:noFill/>
          <a:ln>
            <a:noFill/>
          </a:ln>
        </p:spPr>
      </p:pic>
      <p:sp>
        <p:nvSpPr>
          <p:cNvPr id="7" name="TextBox 6"/>
          <p:cNvSpPr txBox="1"/>
          <p:nvPr/>
        </p:nvSpPr>
        <p:spPr>
          <a:xfrm>
            <a:off x="5540239" y="832809"/>
            <a:ext cx="4196675" cy="276999"/>
          </a:xfrm>
          <a:prstGeom prst="rect">
            <a:avLst/>
          </a:prstGeom>
          <a:noFill/>
        </p:spPr>
        <p:txBody>
          <a:bodyPr wrap="square" lIns="91431" tIns="45715" rIns="91431" bIns="45715" rtlCol="0">
            <a:spAutoFit/>
          </a:bodyPr>
          <a:lstStyle/>
          <a:p>
            <a:r>
              <a:rPr lang="zh-CN" altLang="zh-CN" sz="1200" dirty="0"/>
              <a:t>测试位置距离基站约</a:t>
            </a:r>
            <a:r>
              <a:rPr lang="en-US" altLang="zh-CN" sz="1200" dirty="0"/>
              <a:t>120</a:t>
            </a:r>
            <a:r>
              <a:rPr lang="zh-CN" altLang="zh-CN" sz="1200" dirty="0"/>
              <a:t>米，主被叫均采用</a:t>
            </a:r>
            <a:r>
              <a:rPr lang="en-US" altLang="zh-CN" sz="1200" dirty="0"/>
              <a:t>VOLTE</a:t>
            </a:r>
            <a:r>
              <a:rPr lang="zh-CN" altLang="zh-CN" sz="1200" dirty="0"/>
              <a:t>模式</a:t>
            </a:r>
            <a:endParaRPr lang="zh-CN" altLang="en-US" sz="1200" dirty="0"/>
          </a:p>
        </p:txBody>
      </p:sp>
      <p:sp>
        <p:nvSpPr>
          <p:cNvPr id="8" name="矩形 7"/>
          <p:cNvSpPr/>
          <p:nvPr/>
        </p:nvSpPr>
        <p:spPr>
          <a:xfrm>
            <a:off x="259045" y="3945555"/>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zh-CN" b="1" dirty="0"/>
              <a:t>结果分析</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graphicFrame>
        <p:nvGraphicFramePr>
          <p:cNvPr id="9" name="表格 8"/>
          <p:cNvGraphicFramePr>
            <a:graphicFrameLocks noGrp="1"/>
          </p:cNvGraphicFramePr>
          <p:nvPr>
            <p:extLst>
              <p:ext uri="{D42A27DB-BD31-4B8C-83A1-F6EECF244321}">
                <p14:modId xmlns:p14="http://schemas.microsoft.com/office/powerpoint/2010/main" xmlns="" val="1935020644"/>
              </p:ext>
            </p:extLst>
          </p:nvPr>
        </p:nvGraphicFramePr>
        <p:xfrm>
          <a:off x="501467" y="3038789"/>
          <a:ext cx="9235440" cy="599723"/>
        </p:xfrm>
        <a:graphic>
          <a:graphicData uri="http://schemas.openxmlformats.org/drawingml/2006/table">
            <a:tbl>
              <a:tblPr firstRow="1" firstCol="1" bandRow="1">
                <a:tableStyleId>{5C22544A-7EE6-4342-B048-85BDC9FD1C3A}</a:tableStyleId>
              </a:tblPr>
              <a:tblGrid>
                <a:gridCol w="840425"/>
                <a:gridCol w="840425"/>
                <a:gridCol w="840425"/>
                <a:gridCol w="840425"/>
                <a:gridCol w="840425"/>
                <a:gridCol w="840425"/>
                <a:gridCol w="840425"/>
                <a:gridCol w="840425"/>
                <a:gridCol w="840425"/>
                <a:gridCol w="840425"/>
                <a:gridCol w="831190"/>
              </a:tblGrid>
              <a:tr h="269875">
                <a:tc>
                  <a:txBody>
                    <a:bodyPr/>
                    <a:lstStyle/>
                    <a:p>
                      <a:pPr algn="l">
                        <a:spcAft>
                          <a:spcPts val="0"/>
                        </a:spcAft>
                      </a:pPr>
                      <a:r>
                        <a:rPr lang="zh-CN" sz="800" kern="0">
                          <a:effectLst/>
                        </a:rPr>
                        <a:t>测试终端型号</a:t>
                      </a:r>
                      <a:endParaRPr lang="zh-CN" sz="800" kern="100">
                        <a:effectLst/>
                        <a:latin typeface="Calibri"/>
                        <a:ea typeface="宋体"/>
                        <a:cs typeface="Times New Roman"/>
                      </a:endParaRPr>
                    </a:p>
                  </a:txBody>
                  <a:tcPr marL="76962" marR="76962" marT="0" marB="0" anchor="ctr"/>
                </a:tc>
                <a:tc>
                  <a:txBody>
                    <a:bodyPr/>
                    <a:lstStyle/>
                    <a:p>
                      <a:pPr algn="l">
                        <a:spcAft>
                          <a:spcPts val="0"/>
                        </a:spcAft>
                      </a:pPr>
                      <a:r>
                        <a:rPr lang="en-US" sz="800" kern="0">
                          <a:effectLst/>
                        </a:rPr>
                        <a:t>RSRP</a:t>
                      </a:r>
                      <a:endParaRPr lang="zh-CN" sz="800" kern="100">
                        <a:effectLst/>
                        <a:latin typeface="Calibri"/>
                        <a:ea typeface="宋体"/>
                        <a:cs typeface="Times New Roman"/>
                      </a:endParaRPr>
                    </a:p>
                  </a:txBody>
                  <a:tcPr marL="76962" marR="76962" marT="0" marB="0" anchor="ctr"/>
                </a:tc>
                <a:tc>
                  <a:txBody>
                    <a:bodyPr/>
                    <a:lstStyle/>
                    <a:p>
                      <a:pPr algn="l">
                        <a:spcAft>
                          <a:spcPts val="0"/>
                        </a:spcAft>
                      </a:pPr>
                      <a:r>
                        <a:rPr lang="en-US" sz="800" kern="0">
                          <a:effectLst/>
                        </a:rPr>
                        <a:t>SINR</a:t>
                      </a:r>
                      <a:endParaRPr lang="zh-CN" sz="800" kern="100">
                        <a:effectLst/>
                        <a:latin typeface="Calibri"/>
                        <a:ea typeface="宋体"/>
                        <a:cs typeface="Times New Roman"/>
                      </a:endParaRPr>
                    </a:p>
                  </a:txBody>
                  <a:tcPr marL="76962" marR="76962" marT="0" marB="0" anchor="ctr"/>
                </a:tc>
                <a:tc>
                  <a:txBody>
                    <a:bodyPr/>
                    <a:lstStyle/>
                    <a:p>
                      <a:pPr algn="l">
                        <a:spcAft>
                          <a:spcPts val="0"/>
                        </a:spcAft>
                      </a:pPr>
                      <a:r>
                        <a:rPr lang="zh-CN" sz="800" kern="0">
                          <a:effectLst/>
                        </a:rPr>
                        <a:t>呼叫建立时延</a:t>
                      </a:r>
                      <a:endParaRPr lang="zh-CN" sz="800" kern="100">
                        <a:effectLst/>
                        <a:latin typeface="Calibri"/>
                        <a:ea typeface="宋体"/>
                        <a:cs typeface="Times New Roman"/>
                      </a:endParaRPr>
                    </a:p>
                  </a:txBody>
                  <a:tcPr marL="76962" marR="76962" marT="0" marB="0" anchor="ctr"/>
                </a:tc>
                <a:tc>
                  <a:txBody>
                    <a:bodyPr/>
                    <a:lstStyle/>
                    <a:p>
                      <a:pPr algn="l">
                        <a:spcAft>
                          <a:spcPts val="0"/>
                        </a:spcAft>
                      </a:pPr>
                      <a:r>
                        <a:rPr lang="zh-CN" sz="800" kern="0">
                          <a:effectLst/>
                        </a:rPr>
                        <a:t>呼叫次数</a:t>
                      </a:r>
                      <a:endParaRPr lang="zh-CN" sz="800" kern="100">
                        <a:effectLst/>
                        <a:latin typeface="Calibri"/>
                        <a:ea typeface="宋体"/>
                        <a:cs typeface="Times New Roman"/>
                      </a:endParaRPr>
                    </a:p>
                  </a:txBody>
                  <a:tcPr marL="76962" marR="76962" marT="0" marB="0" anchor="ctr"/>
                </a:tc>
                <a:tc>
                  <a:txBody>
                    <a:bodyPr/>
                    <a:lstStyle/>
                    <a:p>
                      <a:pPr algn="l">
                        <a:spcAft>
                          <a:spcPts val="0"/>
                        </a:spcAft>
                      </a:pPr>
                      <a:r>
                        <a:rPr lang="zh-CN" sz="800" kern="0">
                          <a:effectLst/>
                        </a:rPr>
                        <a:t>接通次数</a:t>
                      </a:r>
                      <a:endParaRPr lang="zh-CN" sz="800" kern="100">
                        <a:effectLst/>
                        <a:latin typeface="Calibri"/>
                        <a:ea typeface="宋体"/>
                        <a:cs typeface="Times New Roman"/>
                      </a:endParaRPr>
                    </a:p>
                  </a:txBody>
                  <a:tcPr marL="76962" marR="76962" marT="0" marB="0" anchor="ctr"/>
                </a:tc>
                <a:tc>
                  <a:txBody>
                    <a:bodyPr/>
                    <a:lstStyle/>
                    <a:p>
                      <a:pPr algn="l">
                        <a:spcAft>
                          <a:spcPts val="0"/>
                        </a:spcAft>
                      </a:pPr>
                      <a:r>
                        <a:rPr lang="zh-CN" sz="800" kern="0">
                          <a:effectLst/>
                        </a:rPr>
                        <a:t>接通率</a:t>
                      </a:r>
                      <a:endParaRPr lang="zh-CN" sz="800" kern="100">
                        <a:effectLst/>
                        <a:latin typeface="Calibri"/>
                        <a:ea typeface="宋体"/>
                        <a:cs typeface="Times New Roman"/>
                      </a:endParaRPr>
                    </a:p>
                  </a:txBody>
                  <a:tcPr marL="76962" marR="76962" marT="0" marB="0" anchor="ctr"/>
                </a:tc>
                <a:tc>
                  <a:txBody>
                    <a:bodyPr/>
                    <a:lstStyle/>
                    <a:p>
                      <a:pPr algn="l">
                        <a:spcAft>
                          <a:spcPts val="0"/>
                        </a:spcAft>
                      </a:pPr>
                      <a:r>
                        <a:rPr lang="zh-CN" sz="800" kern="0">
                          <a:effectLst/>
                        </a:rPr>
                        <a:t>掉话率</a:t>
                      </a:r>
                      <a:endParaRPr lang="zh-CN" sz="800" kern="100">
                        <a:effectLst/>
                        <a:latin typeface="Calibri"/>
                        <a:ea typeface="宋体"/>
                        <a:cs typeface="Times New Roman"/>
                      </a:endParaRPr>
                    </a:p>
                  </a:txBody>
                  <a:tcPr marL="76962" marR="76962" marT="0" marB="0" anchor="ctr"/>
                </a:tc>
                <a:tc>
                  <a:txBody>
                    <a:bodyPr/>
                    <a:lstStyle/>
                    <a:p>
                      <a:pPr algn="l">
                        <a:spcAft>
                          <a:spcPts val="0"/>
                        </a:spcAft>
                      </a:pPr>
                      <a:r>
                        <a:rPr lang="zh-CN" sz="800" kern="0">
                          <a:effectLst/>
                        </a:rPr>
                        <a:t>平均</a:t>
                      </a:r>
                      <a:r>
                        <a:rPr lang="en-US" sz="800" kern="0">
                          <a:effectLst/>
                        </a:rPr>
                        <a:t>MOS</a:t>
                      </a:r>
                      <a:r>
                        <a:rPr lang="zh-CN" sz="800" kern="0">
                          <a:effectLst/>
                        </a:rPr>
                        <a:t>值</a:t>
                      </a:r>
                      <a:endParaRPr lang="zh-CN" sz="800" kern="100">
                        <a:effectLst/>
                        <a:latin typeface="Calibri"/>
                        <a:ea typeface="宋体"/>
                        <a:cs typeface="Times New Roman"/>
                      </a:endParaRPr>
                    </a:p>
                  </a:txBody>
                  <a:tcPr marL="76962" marR="76962" marT="0" marB="0" anchor="ctr"/>
                </a:tc>
                <a:tc>
                  <a:txBody>
                    <a:bodyPr/>
                    <a:lstStyle/>
                    <a:p>
                      <a:pPr algn="l">
                        <a:spcAft>
                          <a:spcPts val="0"/>
                        </a:spcAft>
                      </a:pPr>
                      <a:r>
                        <a:rPr lang="en-US" sz="800" kern="0">
                          <a:effectLst/>
                        </a:rPr>
                        <a:t>MOS3.0</a:t>
                      </a:r>
                      <a:r>
                        <a:rPr lang="zh-CN" sz="800" kern="0">
                          <a:effectLst/>
                        </a:rPr>
                        <a:t>以上占比</a:t>
                      </a:r>
                      <a:endParaRPr lang="zh-CN" sz="800" kern="100">
                        <a:effectLst/>
                        <a:latin typeface="Calibri"/>
                        <a:ea typeface="宋体"/>
                        <a:cs typeface="Times New Roman"/>
                      </a:endParaRPr>
                    </a:p>
                  </a:txBody>
                  <a:tcPr marL="76962" marR="76962" marT="0" marB="0" anchor="ctr"/>
                </a:tc>
                <a:tc>
                  <a:txBody>
                    <a:bodyPr/>
                    <a:lstStyle/>
                    <a:p>
                      <a:pPr algn="l">
                        <a:spcAft>
                          <a:spcPts val="0"/>
                        </a:spcAft>
                      </a:pPr>
                      <a:r>
                        <a:rPr lang="en-US" sz="800" kern="0">
                          <a:effectLst/>
                        </a:rPr>
                        <a:t>MOS3.5</a:t>
                      </a:r>
                      <a:r>
                        <a:rPr lang="zh-CN" sz="800" kern="0">
                          <a:effectLst/>
                        </a:rPr>
                        <a:t>以上占比</a:t>
                      </a:r>
                      <a:endParaRPr lang="zh-CN" sz="800" kern="100">
                        <a:effectLst/>
                        <a:latin typeface="Calibri"/>
                        <a:ea typeface="宋体"/>
                        <a:cs typeface="Times New Roman"/>
                      </a:endParaRPr>
                    </a:p>
                  </a:txBody>
                  <a:tcPr marL="76962" marR="76962" marT="0" marB="0" anchor="ctr"/>
                </a:tc>
              </a:tr>
              <a:tr h="164924">
                <a:tc>
                  <a:txBody>
                    <a:bodyPr/>
                    <a:lstStyle/>
                    <a:p>
                      <a:pPr algn="l">
                        <a:spcAft>
                          <a:spcPts val="0"/>
                        </a:spcAft>
                      </a:pPr>
                      <a:r>
                        <a:rPr lang="en-US" sz="800" kern="0">
                          <a:effectLst/>
                        </a:rPr>
                        <a:t>MATE7</a:t>
                      </a:r>
                      <a:endParaRPr lang="zh-CN" sz="800" kern="100">
                        <a:effectLst/>
                        <a:latin typeface="Calibri"/>
                        <a:ea typeface="宋体"/>
                        <a:cs typeface="Times New Roman"/>
                      </a:endParaRPr>
                    </a:p>
                  </a:txBody>
                  <a:tcPr marL="76962" marR="76962" marT="0" marB="0" anchor="ctr"/>
                </a:tc>
                <a:tc>
                  <a:txBody>
                    <a:bodyPr/>
                    <a:lstStyle/>
                    <a:p>
                      <a:pPr algn="ctr">
                        <a:spcAft>
                          <a:spcPts val="0"/>
                        </a:spcAft>
                      </a:pPr>
                      <a:r>
                        <a:rPr lang="en-US" sz="800" kern="0">
                          <a:effectLst/>
                        </a:rPr>
                        <a:t>-83.27 </a:t>
                      </a:r>
                      <a:endParaRPr lang="zh-CN" sz="800" kern="100">
                        <a:effectLst/>
                        <a:latin typeface="Calibri"/>
                        <a:ea typeface="宋体"/>
                        <a:cs typeface="Times New Roman"/>
                      </a:endParaRPr>
                    </a:p>
                  </a:txBody>
                  <a:tcPr marL="76962" marR="76962" marT="0" marB="0" anchor="ctr"/>
                </a:tc>
                <a:tc>
                  <a:txBody>
                    <a:bodyPr/>
                    <a:lstStyle/>
                    <a:p>
                      <a:pPr algn="ctr">
                        <a:spcAft>
                          <a:spcPts val="0"/>
                        </a:spcAft>
                      </a:pPr>
                      <a:r>
                        <a:rPr lang="en-US" sz="800" kern="0">
                          <a:effectLst/>
                        </a:rPr>
                        <a:t>11.11 </a:t>
                      </a:r>
                      <a:endParaRPr lang="zh-CN" sz="800" kern="100">
                        <a:effectLst/>
                        <a:latin typeface="Calibri"/>
                        <a:ea typeface="宋体"/>
                        <a:cs typeface="Times New Roman"/>
                      </a:endParaRPr>
                    </a:p>
                  </a:txBody>
                  <a:tcPr marL="76962" marR="76962" marT="0" marB="0" anchor="ctr"/>
                </a:tc>
                <a:tc>
                  <a:txBody>
                    <a:bodyPr/>
                    <a:lstStyle/>
                    <a:p>
                      <a:pPr algn="ctr">
                        <a:spcAft>
                          <a:spcPts val="0"/>
                        </a:spcAft>
                      </a:pPr>
                      <a:r>
                        <a:rPr lang="en-US" sz="800" kern="0">
                          <a:effectLst/>
                        </a:rPr>
                        <a:t>2.94 </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5</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5</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100%</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0</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4.21</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98.10%</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95.24%</a:t>
                      </a:r>
                      <a:endParaRPr lang="zh-CN" sz="800" kern="100">
                        <a:effectLst/>
                        <a:latin typeface="Calibri"/>
                        <a:ea typeface="宋体"/>
                        <a:cs typeface="Times New Roman"/>
                      </a:endParaRPr>
                    </a:p>
                  </a:txBody>
                  <a:tcPr marL="76962" marR="76962" marT="0" marB="0" anchor="ctr"/>
                </a:tc>
              </a:tr>
              <a:tr h="164924">
                <a:tc>
                  <a:txBody>
                    <a:bodyPr/>
                    <a:lstStyle/>
                    <a:p>
                      <a:pPr algn="l">
                        <a:spcAft>
                          <a:spcPts val="0"/>
                        </a:spcAft>
                      </a:pPr>
                      <a:r>
                        <a:rPr lang="en-US" sz="800" kern="0">
                          <a:effectLst/>
                        </a:rPr>
                        <a:t>HTC M8 </a:t>
                      </a:r>
                      <a:endParaRPr lang="zh-CN" sz="800" kern="100">
                        <a:effectLst/>
                        <a:latin typeface="Calibri"/>
                        <a:ea typeface="宋体"/>
                        <a:cs typeface="Times New Roman"/>
                      </a:endParaRPr>
                    </a:p>
                  </a:txBody>
                  <a:tcPr marL="76962" marR="76962" marT="0" marB="0" anchor="ctr"/>
                </a:tc>
                <a:tc>
                  <a:txBody>
                    <a:bodyPr/>
                    <a:lstStyle/>
                    <a:p>
                      <a:pPr algn="ctr">
                        <a:spcAft>
                          <a:spcPts val="0"/>
                        </a:spcAft>
                      </a:pPr>
                      <a:r>
                        <a:rPr lang="en-US" sz="800" kern="0">
                          <a:effectLst/>
                        </a:rPr>
                        <a:t>-88.70 </a:t>
                      </a:r>
                      <a:endParaRPr lang="zh-CN" sz="800" kern="100">
                        <a:effectLst/>
                        <a:latin typeface="Calibri"/>
                        <a:ea typeface="宋体"/>
                        <a:cs typeface="Times New Roman"/>
                      </a:endParaRPr>
                    </a:p>
                  </a:txBody>
                  <a:tcPr marL="76962" marR="76962" marT="0" marB="0" anchor="ctr"/>
                </a:tc>
                <a:tc>
                  <a:txBody>
                    <a:bodyPr/>
                    <a:lstStyle/>
                    <a:p>
                      <a:pPr algn="ctr">
                        <a:spcAft>
                          <a:spcPts val="0"/>
                        </a:spcAft>
                      </a:pPr>
                      <a:r>
                        <a:rPr lang="en-US" sz="800" kern="0">
                          <a:effectLst/>
                        </a:rPr>
                        <a:t>11.12 </a:t>
                      </a:r>
                      <a:endParaRPr lang="zh-CN" sz="800" kern="100">
                        <a:effectLst/>
                        <a:latin typeface="Calibri"/>
                        <a:ea typeface="宋体"/>
                        <a:cs typeface="Times New Roman"/>
                      </a:endParaRPr>
                    </a:p>
                  </a:txBody>
                  <a:tcPr marL="76962" marR="76962" marT="0" marB="0" anchor="ctr"/>
                </a:tc>
                <a:tc>
                  <a:txBody>
                    <a:bodyPr/>
                    <a:lstStyle/>
                    <a:p>
                      <a:pPr algn="ctr">
                        <a:spcAft>
                          <a:spcPts val="0"/>
                        </a:spcAft>
                      </a:pPr>
                      <a:r>
                        <a:rPr lang="en-US" sz="800" kern="0">
                          <a:effectLst/>
                        </a:rPr>
                        <a:t>2.80 </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5</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5</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100%</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0</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4.07</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a:effectLst/>
                        </a:rPr>
                        <a:t>100.00%</a:t>
                      </a:r>
                      <a:endParaRPr lang="zh-CN" sz="800" kern="100">
                        <a:effectLst/>
                        <a:latin typeface="Calibri"/>
                        <a:ea typeface="宋体"/>
                        <a:cs typeface="Times New Roman"/>
                      </a:endParaRPr>
                    </a:p>
                  </a:txBody>
                  <a:tcPr marL="76962" marR="76962" marT="0" marB="0" anchor="ctr"/>
                </a:tc>
                <a:tc>
                  <a:txBody>
                    <a:bodyPr/>
                    <a:lstStyle/>
                    <a:p>
                      <a:pPr algn="r">
                        <a:spcAft>
                          <a:spcPts val="0"/>
                        </a:spcAft>
                      </a:pPr>
                      <a:r>
                        <a:rPr lang="en-US" sz="800" kern="0" dirty="0">
                          <a:effectLst/>
                        </a:rPr>
                        <a:t>99.05%</a:t>
                      </a:r>
                      <a:endParaRPr lang="zh-CN" sz="800" kern="100" dirty="0">
                        <a:effectLst/>
                        <a:latin typeface="Calibri"/>
                        <a:ea typeface="宋体"/>
                        <a:cs typeface="Times New Roman"/>
                      </a:endParaRPr>
                    </a:p>
                  </a:txBody>
                  <a:tcPr marL="76962" marR="76962" marT="0" marB="0" anchor="ctr"/>
                </a:tc>
              </a:tr>
            </a:tbl>
          </a:graphicData>
        </a:graphic>
      </p:graphicFrame>
      <p:sp>
        <p:nvSpPr>
          <p:cNvPr id="10" name="TextBox 9"/>
          <p:cNvSpPr txBox="1"/>
          <p:nvPr/>
        </p:nvSpPr>
        <p:spPr>
          <a:xfrm>
            <a:off x="443880" y="4342268"/>
            <a:ext cx="9293032" cy="1015663"/>
          </a:xfrm>
          <a:prstGeom prst="rect">
            <a:avLst/>
          </a:prstGeom>
          <a:noFill/>
        </p:spPr>
        <p:txBody>
          <a:bodyPr wrap="square" lIns="91431" tIns="45715" rIns="91431" bIns="45715" rtlCol="0">
            <a:spAutoFit/>
          </a:bodyPr>
          <a:lstStyle/>
          <a:p>
            <a:r>
              <a:rPr lang="zh-CN" altLang="zh-CN" sz="1200" dirty="0"/>
              <a:t>经过对在同一地点无线环境良好的情况下测试终端分别采用华为</a:t>
            </a:r>
            <a:r>
              <a:rPr lang="en-US" altLang="zh-CN" sz="1200" dirty="0"/>
              <a:t>MATE7</a:t>
            </a:r>
            <a:r>
              <a:rPr lang="zh-CN" altLang="zh-CN" sz="1200" dirty="0"/>
              <a:t>、</a:t>
            </a:r>
            <a:r>
              <a:rPr lang="en-US" altLang="zh-CN" sz="1200" dirty="0"/>
              <a:t>HTC M8</a:t>
            </a:r>
            <a:r>
              <a:rPr lang="zh-CN" altLang="zh-CN" sz="1200" dirty="0"/>
              <a:t>做</a:t>
            </a:r>
            <a:r>
              <a:rPr lang="en-US" altLang="zh-CN" sz="1200" dirty="0"/>
              <a:t>MOS</a:t>
            </a:r>
            <a:r>
              <a:rPr lang="zh-CN" altLang="zh-CN" sz="1200" dirty="0"/>
              <a:t>对比测试，在不考虑天气、温度等自然因素引起的误差及无线环境波动情况下，主、被叫使用</a:t>
            </a:r>
            <a:r>
              <a:rPr lang="en-US" altLang="zh-CN" sz="1200" dirty="0" err="1"/>
              <a:t>polqa</a:t>
            </a:r>
            <a:r>
              <a:rPr lang="en-US" altLang="zh-CN" sz="1200" dirty="0"/>
              <a:t> SWB</a:t>
            </a:r>
            <a:r>
              <a:rPr lang="zh-CN" altLang="zh-CN" sz="1200" dirty="0"/>
              <a:t>算法测试终端</a:t>
            </a:r>
            <a:r>
              <a:rPr lang="en-US" altLang="zh-CN" sz="1200" dirty="0"/>
              <a:t>MATE7</a:t>
            </a:r>
            <a:r>
              <a:rPr lang="zh-CN" altLang="zh-CN" sz="1200" dirty="0"/>
              <a:t>较</a:t>
            </a:r>
            <a:r>
              <a:rPr lang="en-US" altLang="zh-CN" sz="1200" dirty="0"/>
              <a:t>HTC M8</a:t>
            </a:r>
            <a:r>
              <a:rPr lang="zh-CN" altLang="zh-CN" sz="1200" dirty="0"/>
              <a:t>平均</a:t>
            </a:r>
            <a:r>
              <a:rPr lang="en-US" altLang="zh-CN" sz="1200" dirty="0"/>
              <a:t>MOS</a:t>
            </a:r>
            <a:r>
              <a:rPr lang="zh-CN" altLang="zh-CN" sz="1200" dirty="0"/>
              <a:t>值高</a:t>
            </a:r>
            <a:r>
              <a:rPr lang="en-US" altLang="zh-CN" sz="1200" dirty="0"/>
              <a:t>0.2</a:t>
            </a:r>
            <a:r>
              <a:rPr lang="zh-CN" altLang="zh-CN" sz="1200" dirty="0"/>
              <a:t>，呼叫建立时延较</a:t>
            </a:r>
            <a:r>
              <a:rPr lang="en-US" altLang="zh-CN" sz="1200" dirty="0"/>
              <a:t>HTC</a:t>
            </a:r>
            <a:r>
              <a:rPr lang="zh-CN" altLang="zh-CN" sz="1200" dirty="0"/>
              <a:t>高</a:t>
            </a:r>
            <a:r>
              <a:rPr lang="en-US" altLang="zh-CN" sz="1200" dirty="0"/>
              <a:t>0.1s</a:t>
            </a:r>
            <a:r>
              <a:rPr lang="zh-CN" altLang="zh-CN" sz="1200" dirty="0"/>
              <a:t>左右，但</a:t>
            </a:r>
            <a:r>
              <a:rPr lang="en-US" altLang="zh-CN" sz="1200" dirty="0"/>
              <a:t>MOS 3.5</a:t>
            </a:r>
            <a:r>
              <a:rPr lang="zh-CN" altLang="zh-CN" sz="1200" dirty="0"/>
              <a:t>以上占比较</a:t>
            </a:r>
            <a:r>
              <a:rPr lang="en-US" altLang="zh-CN" sz="1200" dirty="0"/>
              <a:t>HTC M8</a:t>
            </a:r>
            <a:r>
              <a:rPr lang="zh-CN" altLang="zh-CN" sz="1200" dirty="0"/>
              <a:t>低</a:t>
            </a:r>
            <a:r>
              <a:rPr lang="en-US" altLang="zh-CN" sz="1200" dirty="0"/>
              <a:t>4</a:t>
            </a:r>
            <a:r>
              <a:rPr lang="zh-CN" altLang="zh-CN" sz="1200" dirty="0"/>
              <a:t>个百分点，即</a:t>
            </a:r>
            <a:r>
              <a:rPr lang="en-US" altLang="zh-CN" sz="1200" dirty="0"/>
              <a:t>MATE7</a:t>
            </a:r>
            <a:r>
              <a:rPr lang="zh-CN" altLang="zh-CN" sz="1200" dirty="0"/>
              <a:t>波动性较大，稳定性较</a:t>
            </a:r>
            <a:r>
              <a:rPr lang="en-US" altLang="zh-CN" sz="1200" dirty="0"/>
              <a:t>HTC M8</a:t>
            </a:r>
            <a:r>
              <a:rPr lang="zh-CN" altLang="zh-CN" sz="1200" dirty="0"/>
              <a:t>低。建议后期测试尽量使用</a:t>
            </a:r>
            <a:r>
              <a:rPr lang="en-US" altLang="zh-CN" sz="1200" dirty="0"/>
              <a:t>HTC M8</a:t>
            </a:r>
            <a:r>
              <a:rPr lang="zh-CN" altLang="zh-CN" sz="1200" dirty="0"/>
              <a:t>。但是由于测试时间的紧迫性，一次测试结果未必能说明问题。后续将继续做跟踪对比测试。</a:t>
            </a:r>
          </a:p>
          <a:p>
            <a:endParaRPr lang="zh-CN" altLang="en-US" sz="1200" dirty="0"/>
          </a:p>
        </p:txBody>
      </p:sp>
      <p:sp>
        <p:nvSpPr>
          <p:cNvPr id="12" name="TextBox 11"/>
          <p:cNvSpPr txBox="1"/>
          <p:nvPr/>
        </p:nvSpPr>
        <p:spPr>
          <a:xfrm>
            <a:off x="162249" y="76846"/>
            <a:ext cx="9433048"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13</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淄博 测试终端华为</a:t>
            </a:r>
            <a:r>
              <a:rPr lang="en-US" altLang="zh-CN" sz="2400" b="1" dirty="0" smtClean="0">
                <a:solidFill>
                  <a:schemeClr val="bg1"/>
                </a:solidFill>
                <a:latin typeface="+mn-ea"/>
              </a:rPr>
              <a:t>MATE7</a:t>
            </a:r>
            <a:r>
              <a:rPr lang="zh-CN" altLang="en-US" sz="2400" b="1" dirty="0" smtClean="0">
                <a:solidFill>
                  <a:schemeClr val="bg1"/>
                </a:solidFill>
                <a:latin typeface="+mn-ea"/>
              </a:rPr>
              <a:t>、</a:t>
            </a:r>
            <a:r>
              <a:rPr lang="en-US" altLang="zh-CN" sz="2400" b="1" dirty="0" smtClean="0">
                <a:solidFill>
                  <a:schemeClr val="bg1"/>
                </a:solidFill>
                <a:latin typeface="+mn-ea"/>
              </a:rPr>
              <a:t>HTC M8</a:t>
            </a:r>
            <a:r>
              <a:rPr lang="zh-CN" altLang="en-US" sz="2400" b="1" dirty="0" smtClean="0">
                <a:solidFill>
                  <a:schemeClr val="bg1"/>
                </a:solidFill>
                <a:latin typeface="+mn-ea"/>
              </a:rPr>
              <a:t>测试对比报告</a:t>
            </a:r>
          </a:p>
        </p:txBody>
      </p:sp>
    </p:spTree>
    <p:extLst>
      <p:ext uri="{BB962C8B-B14F-4D97-AF65-F5344CB8AC3E}">
        <p14:creationId xmlns:p14="http://schemas.microsoft.com/office/powerpoint/2010/main" xmlns="" val="1550197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7148" y="658524"/>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en-US" altLang="zh-CN" b="1" dirty="0">
                <a:solidFill>
                  <a:prstClr val="black"/>
                </a:solidFill>
                <a:latin typeface="Arial" charset="0"/>
              </a:rPr>
              <a:t>【</a:t>
            </a:r>
            <a:r>
              <a:rPr lang="zh-CN" altLang="en-US" b="1" dirty="0">
                <a:solidFill>
                  <a:prstClr val="black"/>
                </a:solidFill>
                <a:latin typeface="Arial" charset="0"/>
              </a:rPr>
              <a:t>问题描述</a:t>
            </a:r>
            <a:r>
              <a:rPr lang="en-US" altLang="zh-CN" b="1" dirty="0">
                <a:solidFill>
                  <a:prstClr val="black"/>
                </a:solidFill>
                <a:latin typeface="Arial" charset="0"/>
              </a:rPr>
              <a:t>】</a:t>
            </a:r>
            <a:r>
              <a:rPr lang="zh-CN" altLang="en-US" b="1" dirty="0">
                <a:solidFill>
                  <a:prstClr val="black"/>
                </a:solidFill>
                <a:latin typeface="Arial" charset="0"/>
              </a:rPr>
              <a:t>：</a:t>
            </a:r>
            <a:endParaRPr lang="en-US" altLang="zh-CN" b="1" dirty="0">
              <a:solidFill>
                <a:prstClr val="black"/>
              </a:solidFill>
              <a:latin typeface="Arial" charset="0"/>
            </a:endParaRPr>
          </a:p>
        </p:txBody>
      </p:sp>
      <p:sp>
        <p:nvSpPr>
          <p:cNvPr id="4" name="TextBox 3"/>
          <p:cNvSpPr txBox="1"/>
          <p:nvPr/>
        </p:nvSpPr>
        <p:spPr>
          <a:xfrm>
            <a:off x="363070" y="1055236"/>
            <a:ext cx="9697078" cy="646331"/>
          </a:xfrm>
          <a:prstGeom prst="rect">
            <a:avLst/>
          </a:prstGeom>
          <a:noFill/>
        </p:spPr>
        <p:txBody>
          <a:bodyPr wrap="square" lIns="91431" tIns="45715" rIns="91431" bIns="45715" rtlCol="0">
            <a:spAutoFit/>
          </a:bodyPr>
          <a:lstStyle/>
          <a:p>
            <a:r>
              <a:rPr lang="zh-CN" altLang="zh-CN" sz="1200" dirty="0"/>
              <a:t>在</a:t>
            </a:r>
            <a:r>
              <a:rPr lang="en-US" altLang="zh-CN" sz="1200" dirty="0" err="1"/>
              <a:t>VoLTE</a:t>
            </a:r>
            <a:r>
              <a:rPr lang="en-US" altLang="zh-CN" sz="1200" dirty="0"/>
              <a:t> CQT</a:t>
            </a:r>
            <a:r>
              <a:rPr lang="zh-CN" altLang="zh-CN" sz="1200" dirty="0"/>
              <a:t>测试过程中，在某大型场所发现</a:t>
            </a:r>
            <a:r>
              <a:rPr lang="en-US" altLang="zh-CN" sz="1200" dirty="0" err="1"/>
              <a:t>VoLTE</a:t>
            </a:r>
            <a:r>
              <a:rPr lang="zh-CN" altLang="zh-CN" sz="1200" dirty="0"/>
              <a:t>通话</a:t>
            </a:r>
            <a:r>
              <a:rPr lang="en-US" altLang="zh-CN" sz="1200" dirty="0"/>
              <a:t>MOS</a:t>
            </a:r>
            <a:r>
              <a:rPr lang="zh-CN" altLang="zh-CN" sz="1200" dirty="0"/>
              <a:t>值较低，双</a:t>
            </a:r>
            <a:r>
              <a:rPr lang="en-US" altLang="zh-CN" sz="1200" dirty="0"/>
              <a:t>VOLTE</a:t>
            </a:r>
            <a:r>
              <a:rPr lang="zh-CN" altLang="zh-CN" sz="1200" dirty="0"/>
              <a:t>方式进行</a:t>
            </a:r>
            <a:r>
              <a:rPr lang="en-US" altLang="zh-CN" sz="1200" dirty="0"/>
              <a:t>CQT</a:t>
            </a:r>
            <a:r>
              <a:rPr lang="zh-CN" altLang="zh-CN" sz="1200" dirty="0"/>
              <a:t>测试，</a:t>
            </a:r>
            <a:r>
              <a:rPr lang="en-US" altLang="zh-CN" sz="1200" dirty="0"/>
              <a:t>MOS3.0</a:t>
            </a:r>
            <a:r>
              <a:rPr lang="zh-CN" altLang="zh-CN" sz="1200" dirty="0"/>
              <a:t>以上占比</a:t>
            </a:r>
            <a:r>
              <a:rPr lang="en-US" altLang="zh-CN" sz="1200" dirty="0"/>
              <a:t>30.77%</a:t>
            </a:r>
            <a:r>
              <a:rPr lang="zh-CN" altLang="zh-CN" sz="1200" dirty="0"/>
              <a:t>，</a:t>
            </a:r>
            <a:r>
              <a:rPr lang="en-US" altLang="zh-CN" sz="1200" dirty="0"/>
              <a:t>MOS</a:t>
            </a:r>
            <a:r>
              <a:rPr lang="zh-CN" altLang="zh-CN" sz="1200" dirty="0"/>
              <a:t>平均值为</a:t>
            </a:r>
            <a:r>
              <a:rPr lang="en-US" altLang="zh-CN" sz="1200" dirty="0"/>
              <a:t>2.2</a:t>
            </a:r>
            <a:r>
              <a:rPr lang="zh-CN" altLang="zh-CN" sz="1200" dirty="0"/>
              <a:t>。具体指标如下：</a:t>
            </a:r>
          </a:p>
          <a:p>
            <a:endParaRPr lang="zh-CN" altLang="en-US" sz="1200" dirty="0"/>
          </a:p>
        </p:txBody>
      </p:sp>
      <p:graphicFrame>
        <p:nvGraphicFramePr>
          <p:cNvPr id="5" name="表格 4"/>
          <p:cNvGraphicFramePr>
            <a:graphicFrameLocks noGrp="1"/>
          </p:cNvGraphicFramePr>
          <p:nvPr>
            <p:extLst>
              <p:ext uri="{D42A27DB-BD31-4B8C-83A1-F6EECF244321}">
                <p14:modId xmlns:p14="http://schemas.microsoft.com/office/powerpoint/2010/main" xmlns="" val="2656577763"/>
              </p:ext>
            </p:extLst>
          </p:nvPr>
        </p:nvGraphicFramePr>
        <p:xfrm>
          <a:off x="1575206" y="1451946"/>
          <a:ext cx="7912926" cy="836613"/>
        </p:xfrm>
        <a:graphic>
          <a:graphicData uri="http://schemas.openxmlformats.org/drawingml/2006/table">
            <a:tbl>
              <a:tblPr firstRow="1" firstCol="1" bandRow="1">
                <a:tableStyleId>{5C22544A-7EE6-4342-B048-85BDC9FD1C3A}</a:tableStyleId>
              </a:tblPr>
              <a:tblGrid>
                <a:gridCol w="1404315"/>
                <a:gridCol w="1187413"/>
                <a:gridCol w="1247577"/>
                <a:gridCol w="1247577"/>
                <a:gridCol w="916684"/>
                <a:gridCol w="721947"/>
                <a:gridCol w="1187413"/>
              </a:tblGrid>
              <a:tr h="674688">
                <a:tc>
                  <a:txBody>
                    <a:bodyPr/>
                    <a:lstStyle/>
                    <a:p>
                      <a:pPr>
                        <a:lnSpc>
                          <a:spcPct val="150000"/>
                        </a:lnSpc>
                        <a:spcAft>
                          <a:spcPts val="0"/>
                        </a:spcAft>
                      </a:pPr>
                      <a:r>
                        <a:rPr lang="en-US" sz="900" kern="100" dirty="0">
                          <a:effectLst/>
                        </a:rPr>
                        <a:t>CQT</a:t>
                      </a:r>
                      <a:r>
                        <a:rPr lang="zh-CN" sz="900" kern="100" dirty="0">
                          <a:effectLst/>
                        </a:rPr>
                        <a:t>点</a:t>
                      </a:r>
                      <a:endParaRPr lang="zh-CN" sz="800" kern="100" dirty="0">
                        <a:effectLst/>
                        <a:latin typeface="Times New Roman"/>
                        <a:ea typeface="宋体"/>
                      </a:endParaRPr>
                    </a:p>
                  </a:txBody>
                  <a:tcPr marL="76962" marR="76962" marT="0" marB="0" anchor="ctr"/>
                </a:tc>
                <a:tc>
                  <a:txBody>
                    <a:bodyPr/>
                    <a:lstStyle/>
                    <a:p>
                      <a:pPr>
                        <a:lnSpc>
                          <a:spcPct val="150000"/>
                        </a:lnSpc>
                        <a:spcAft>
                          <a:spcPts val="0"/>
                        </a:spcAft>
                      </a:pPr>
                      <a:r>
                        <a:rPr lang="zh-CN" sz="900" kern="100" dirty="0">
                          <a:effectLst/>
                        </a:rPr>
                        <a:t>测试类型</a:t>
                      </a:r>
                      <a:endParaRPr lang="zh-CN" sz="800" kern="100" dirty="0">
                        <a:effectLst/>
                        <a:latin typeface="Times New Roman"/>
                        <a:ea typeface="宋体"/>
                      </a:endParaRPr>
                    </a:p>
                  </a:txBody>
                  <a:tcPr marL="76962" marR="76962" marT="0" marB="0" anchor="ctr"/>
                </a:tc>
                <a:tc>
                  <a:txBody>
                    <a:bodyPr/>
                    <a:lstStyle/>
                    <a:p>
                      <a:pPr>
                        <a:lnSpc>
                          <a:spcPct val="150000"/>
                        </a:lnSpc>
                        <a:spcAft>
                          <a:spcPts val="0"/>
                        </a:spcAft>
                      </a:pPr>
                      <a:r>
                        <a:rPr lang="zh-CN" sz="900" kern="100" dirty="0">
                          <a:effectLst/>
                        </a:rPr>
                        <a:t>平均</a:t>
                      </a:r>
                      <a:r>
                        <a:rPr lang="en-US" sz="900" kern="100" dirty="0">
                          <a:effectLst/>
                        </a:rPr>
                        <a:t>RSRP</a:t>
                      </a:r>
                      <a:endParaRPr lang="zh-CN" sz="800" kern="100" dirty="0">
                        <a:effectLst/>
                        <a:latin typeface="Times New Roman"/>
                        <a:ea typeface="宋体"/>
                      </a:endParaRPr>
                    </a:p>
                  </a:txBody>
                  <a:tcPr marL="76962" marR="76962" marT="0" marB="0" anchor="ctr"/>
                </a:tc>
                <a:tc>
                  <a:txBody>
                    <a:bodyPr/>
                    <a:lstStyle/>
                    <a:p>
                      <a:pPr>
                        <a:lnSpc>
                          <a:spcPct val="150000"/>
                        </a:lnSpc>
                        <a:spcAft>
                          <a:spcPts val="0"/>
                        </a:spcAft>
                      </a:pPr>
                      <a:r>
                        <a:rPr lang="zh-CN" sz="900" kern="100">
                          <a:effectLst/>
                        </a:rPr>
                        <a:t>平均</a:t>
                      </a:r>
                      <a:r>
                        <a:rPr lang="en-US" sz="900" kern="100">
                          <a:effectLst/>
                        </a:rPr>
                        <a:t>SINR</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zh-CN" sz="900" kern="100">
                          <a:effectLst/>
                        </a:rPr>
                        <a:t>覆盖率</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zh-CN" sz="900" kern="100">
                          <a:effectLst/>
                        </a:rPr>
                        <a:t>平均</a:t>
                      </a:r>
                      <a:r>
                        <a:rPr lang="en-US" sz="900" kern="100">
                          <a:effectLst/>
                        </a:rPr>
                        <a:t>MOS</a:t>
                      </a:r>
                      <a:r>
                        <a:rPr lang="zh-CN" sz="900" kern="100">
                          <a:effectLst/>
                        </a:rPr>
                        <a:t>值</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en-US" sz="900" kern="100">
                          <a:effectLst/>
                        </a:rPr>
                        <a:t>MOS</a:t>
                      </a:r>
                      <a:r>
                        <a:rPr lang="zh-CN" sz="900" kern="100">
                          <a:effectLst/>
                        </a:rPr>
                        <a:t>（</a:t>
                      </a:r>
                      <a:r>
                        <a:rPr lang="en-US" sz="900" kern="100">
                          <a:effectLst/>
                        </a:rPr>
                        <a:t>MOS3.0</a:t>
                      </a:r>
                      <a:r>
                        <a:rPr lang="zh-CN" sz="900" kern="100">
                          <a:effectLst/>
                        </a:rPr>
                        <a:t>以上占比</a:t>
                      </a:r>
                      <a:r>
                        <a:rPr lang="en-US" sz="900" kern="100">
                          <a:effectLst/>
                        </a:rPr>
                        <a:t>polqa</a:t>
                      </a:r>
                      <a:r>
                        <a:rPr lang="zh-CN" sz="900" kern="100">
                          <a:effectLst/>
                        </a:rPr>
                        <a:t>算法）</a:t>
                      </a:r>
                      <a:endParaRPr lang="zh-CN" sz="800" kern="100">
                        <a:effectLst/>
                        <a:latin typeface="Times New Roman"/>
                        <a:ea typeface="宋体"/>
                      </a:endParaRPr>
                    </a:p>
                  </a:txBody>
                  <a:tcPr marL="76962" marR="76962" marT="0" marB="0" anchor="ctr"/>
                </a:tc>
              </a:tr>
              <a:tr h="161925">
                <a:tc>
                  <a:txBody>
                    <a:bodyPr/>
                    <a:lstStyle/>
                    <a:p>
                      <a:pPr>
                        <a:lnSpc>
                          <a:spcPct val="150000"/>
                        </a:lnSpc>
                        <a:spcAft>
                          <a:spcPts val="0"/>
                        </a:spcAft>
                      </a:pPr>
                      <a:r>
                        <a:rPr lang="zh-CN" sz="700" kern="100">
                          <a:effectLst/>
                        </a:rPr>
                        <a:t>火车站售票厅</a:t>
                      </a:r>
                      <a:endParaRPr lang="zh-CN" sz="800" kern="100">
                        <a:effectLst/>
                        <a:latin typeface="Times New Roman"/>
                        <a:ea typeface="宋体"/>
                      </a:endParaRPr>
                    </a:p>
                  </a:txBody>
                  <a:tcPr marL="76962" marR="76962" marT="0" marB="0" anchor="b"/>
                </a:tc>
                <a:tc>
                  <a:txBody>
                    <a:bodyPr/>
                    <a:lstStyle/>
                    <a:p>
                      <a:pPr>
                        <a:lnSpc>
                          <a:spcPct val="150000"/>
                        </a:lnSpc>
                        <a:spcAft>
                          <a:spcPts val="0"/>
                        </a:spcAft>
                      </a:pPr>
                      <a:r>
                        <a:rPr lang="zh-CN" sz="700" kern="100">
                          <a:effectLst/>
                        </a:rPr>
                        <a:t>双</a:t>
                      </a:r>
                      <a:r>
                        <a:rPr lang="en-US" sz="700" kern="100">
                          <a:effectLst/>
                        </a:rPr>
                        <a:t>VOLTE</a:t>
                      </a:r>
                      <a:endParaRPr lang="zh-CN" sz="800" kern="100">
                        <a:effectLst/>
                        <a:latin typeface="Times New Roman"/>
                        <a:ea typeface="宋体"/>
                      </a:endParaRPr>
                    </a:p>
                  </a:txBody>
                  <a:tcPr marL="76962" marR="76962" marT="0" marB="0" anchor="b"/>
                </a:tc>
                <a:tc>
                  <a:txBody>
                    <a:bodyPr/>
                    <a:lstStyle/>
                    <a:p>
                      <a:pPr algn="ctr">
                        <a:lnSpc>
                          <a:spcPct val="150000"/>
                        </a:lnSpc>
                        <a:spcAft>
                          <a:spcPts val="0"/>
                        </a:spcAft>
                      </a:pPr>
                      <a:r>
                        <a:rPr lang="en-US" sz="700" kern="100">
                          <a:effectLst/>
                        </a:rPr>
                        <a:t>-67.46 </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en-US" sz="700" kern="100">
                          <a:effectLst/>
                        </a:rPr>
                        <a:t>38.30 </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en-US" sz="700" kern="100">
                          <a:effectLst/>
                        </a:rPr>
                        <a:t>100.00%</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en-US" sz="700" kern="100">
                          <a:effectLst/>
                        </a:rPr>
                        <a:t>2.200 </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en-US" sz="700" kern="100" dirty="0">
                          <a:effectLst/>
                        </a:rPr>
                        <a:t>30.77%</a:t>
                      </a:r>
                      <a:endParaRPr lang="zh-CN" sz="800" kern="100" dirty="0">
                        <a:effectLst/>
                        <a:latin typeface="Times New Roman"/>
                        <a:ea typeface="宋体"/>
                      </a:endParaRPr>
                    </a:p>
                  </a:txBody>
                  <a:tcPr marL="76962" marR="76962" marT="0" marB="0" anchor="ctr"/>
                </a:tc>
              </a:tr>
            </a:tbl>
          </a:graphicData>
        </a:graphic>
      </p:graphicFrame>
      <p:sp>
        <p:nvSpPr>
          <p:cNvPr id="6" name="TextBox 5"/>
          <p:cNvSpPr txBox="1"/>
          <p:nvPr/>
        </p:nvSpPr>
        <p:spPr>
          <a:xfrm>
            <a:off x="363068" y="2415385"/>
            <a:ext cx="9373844" cy="1384995"/>
          </a:xfrm>
          <a:prstGeom prst="rect">
            <a:avLst/>
          </a:prstGeom>
          <a:noFill/>
        </p:spPr>
        <p:txBody>
          <a:bodyPr wrap="square" lIns="91431" tIns="45715" rIns="91431" bIns="45715" rtlCol="0">
            <a:spAutoFit/>
          </a:bodyPr>
          <a:lstStyle/>
          <a:p>
            <a:r>
              <a:rPr lang="zh-CN" altLang="zh-CN" sz="1200" dirty="0"/>
              <a:t>对信令进行分析，发现出现信令无异常。要对此次事件进行分析，需观察</a:t>
            </a:r>
            <a:r>
              <a:rPr lang="en-US" altLang="zh-CN" sz="1200" dirty="0" err="1"/>
              <a:t>VoLTE</a:t>
            </a:r>
            <a:r>
              <a:rPr lang="zh-CN" altLang="zh-CN" sz="1200" dirty="0"/>
              <a:t>过程中的</a:t>
            </a:r>
            <a:r>
              <a:rPr lang="en-US" altLang="zh-CN" sz="1200" dirty="0"/>
              <a:t>SIP</a:t>
            </a:r>
            <a:r>
              <a:rPr lang="zh-CN" altLang="zh-CN" sz="1200" dirty="0"/>
              <a:t>消息、信令、事件等对此次异常释放进行分析。</a:t>
            </a:r>
          </a:p>
          <a:p>
            <a:r>
              <a:rPr lang="zh-CN" altLang="zh-CN" sz="1200" dirty="0"/>
              <a:t>测试软件及工具描述：</a:t>
            </a:r>
          </a:p>
          <a:p>
            <a:r>
              <a:rPr lang="en-US" altLang="zh-CN" sz="1200" dirty="0"/>
              <a:t>1</a:t>
            </a:r>
            <a:r>
              <a:rPr lang="zh-CN" altLang="zh-CN" sz="1200" dirty="0"/>
              <a:t>）</a:t>
            </a:r>
            <a:r>
              <a:rPr lang="en-US" altLang="zh-CN" sz="1200" dirty="0"/>
              <a:t>	MS1</a:t>
            </a:r>
            <a:r>
              <a:rPr lang="zh-CN" altLang="zh-CN" sz="1200" dirty="0"/>
              <a:t>：</a:t>
            </a:r>
            <a:r>
              <a:rPr lang="en-US" altLang="zh-CN" sz="1200" dirty="0"/>
              <a:t>HUAWEI Mate7</a:t>
            </a:r>
            <a:r>
              <a:rPr lang="zh-CN" altLang="zh-CN" sz="1200" dirty="0"/>
              <a:t>，版本</a:t>
            </a:r>
            <a:r>
              <a:rPr lang="en-US" altLang="zh-CN" sz="1200" dirty="0"/>
              <a:t>Jazz-TL20V100R001C01B731</a:t>
            </a:r>
            <a:endParaRPr lang="zh-CN" altLang="zh-CN" sz="1200" dirty="0"/>
          </a:p>
          <a:p>
            <a:r>
              <a:rPr lang="en-US" altLang="zh-CN" sz="1200" dirty="0"/>
              <a:t>2</a:t>
            </a:r>
            <a:r>
              <a:rPr lang="zh-CN" altLang="zh-CN" sz="1200" dirty="0"/>
              <a:t>）</a:t>
            </a:r>
            <a:r>
              <a:rPr lang="en-US" altLang="zh-CN" sz="1200" dirty="0"/>
              <a:t>	MS2</a:t>
            </a:r>
            <a:r>
              <a:rPr lang="zh-CN" altLang="zh-CN" sz="1200" dirty="0"/>
              <a:t>：</a:t>
            </a:r>
            <a:r>
              <a:rPr lang="en-US" altLang="zh-CN" sz="1200" dirty="0"/>
              <a:t>HUAWEI Mate7</a:t>
            </a:r>
            <a:r>
              <a:rPr lang="zh-CN" altLang="zh-CN" sz="1200" dirty="0"/>
              <a:t>，版本</a:t>
            </a:r>
            <a:r>
              <a:rPr lang="en-US" altLang="zh-CN" sz="1200" dirty="0"/>
              <a:t>Jazz-TL20V100R001C01B731</a:t>
            </a:r>
            <a:endParaRPr lang="zh-CN" altLang="zh-CN" sz="1200" dirty="0"/>
          </a:p>
          <a:p>
            <a:r>
              <a:rPr lang="en-US" altLang="zh-CN" sz="1200" dirty="0"/>
              <a:t>3</a:t>
            </a:r>
            <a:r>
              <a:rPr lang="zh-CN" altLang="zh-CN" sz="1200" dirty="0"/>
              <a:t>）</a:t>
            </a:r>
            <a:r>
              <a:rPr lang="en-US" altLang="zh-CN" sz="1200" dirty="0"/>
              <a:t>	Pilot Pioneer9.6.106.0925</a:t>
            </a:r>
            <a:endParaRPr lang="zh-CN" altLang="zh-CN" sz="1200" dirty="0"/>
          </a:p>
          <a:p>
            <a:r>
              <a:rPr lang="en-US" altLang="zh-CN" sz="1200" dirty="0"/>
              <a:t>4</a:t>
            </a:r>
            <a:r>
              <a:rPr lang="zh-CN" altLang="zh-CN" sz="1200" dirty="0"/>
              <a:t>）测试</a:t>
            </a:r>
            <a:r>
              <a:rPr lang="en-US" altLang="zh-CN" sz="1200" dirty="0"/>
              <a:t>PC</a:t>
            </a:r>
            <a:r>
              <a:rPr lang="zh-CN" altLang="zh-CN" sz="1200" dirty="0"/>
              <a:t>，</a:t>
            </a:r>
            <a:r>
              <a:rPr lang="en-US" altLang="zh-CN" sz="1200" dirty="0"/>
              <a:t>USB HUB 1</a:t>
            </a:r>
            <a:r>
              <a:rPr lang="zh-CN" altLang="zh-CN" sz="1200" dirty="0"/>
              <a:t>个，</a:t>
            </a:r>
            <a:r>
              <a:rPr lang="en-US" altLang="zh-CN" sz="1200" dirty="0"/>
              <a:t>GPS 1</a:t>
            </a:r>
            <a:r>
              <a:rPr lang="zh-CN" altLang="zh-CN" sz="1200" dirty="0"/>
              <a:t>个</a:t>
            </a:r>
          </a:p>
          <a:p>
            <a:endParaRPr lang="zh-CN" altLang="en-US" sz="1200" dirty="0"/>
          </a:p>
        </p:txBody>
      </p:sp>
      <p:sp>
        <p:nvSpPr>
          <p:cNvPr id="9" name="矩形 8"/>
          <p:cNvSpPr/>
          <p:nvPr/>
        </p:nvSpPr>
        <p:spPr>
          <a:xfrm>
            <a:off x="201454" y="3505428"/>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en-US" altLang="zh-CN" b="1" dirty="0" smtClean="0">
                <a:solidFill>
                  <a:prstClr val="black"/>
                </a:solidFill>
                <a:latin typeface="Arial" charset="0"/>
              </a:rPr>
              <a:t>【</a:t>
            </a:r>
            <a:r>
              <a:rPr lang="zh-CN" altLang="en-US" b="1" dirty="0" smtClean="0">
                <a:solidFill>
                  <a:prstClr val="black"/>
                </a:solidFill>
                <a:latin typeface="Arial" charset="0"/>
              </a:rPr>
              <a:t>问题分析</a:t>
            </a:r>
            <a:r>
              <a:rPr lang="en-US" altLang="zh-CN" b="1" dirty="0" smtClean="0">
                <a:solidFill>
                  <a:prstClr val="black"/>
                </a:solidFill>
                <a:latin typeface="Arial" charset="0"/>
              </a:rPr>
              <a:t>】</a:t>
            </a:r>
            <a:r>
              <a:rPr lang="zh-CN" altLang="en-US" b="1" dirty="0">
                <a:solidFill>
                  <a:prstClr val="black"/>
                </a:solidFill>
                <a:latin typeface="Arial" charset="0"/>
              </a:rPr>
              <a:t>：</a:t>
            </a:r>
            <a:endParaRPr lang="en-US" altLang="zh-CN" b="1" dirty="0">
              <a:solidFill>
                <a:prstClr val="black"/>
              </a:solidFill>
              <a:latin typeface="Arial" charset="0"/>
            </a:endParaRPr>
          </a:p>
        </p:txBody>
      </p:sp>
      <p:sp>
        <p:nvSpPr>
          <p:cNvPr id="11" name="TextBox 10"/>
          <p:cNvSpPr txBox="1"/>
          <p:nvPr/>
        </p:nvSpPr>
        <p:spPr>
          <a:xfrm>
            <a:off x="605498" y="3945555"/>
            <a:ext cx="2262651" cy="1107996"/>
          </a:xfrm>
          <a:prstGeom prst="rect">
            <a:avLst/>
          </a:prstGeom>
          <a:noFill/>
        </p:spPr>
        <p:txBody>
          <a:bodyPr wrap="square" lIns="91431" tIns="45715" rIns="91431" bIns="45715" rtlCol="0">
            <a:spAutoFit/>
          </a:bodyPr>
          <a:lstStyle/>
          <a:p>
            <a:pPr lvl="1">
              <a:lnSpc>
                <a:spcPct val="150000"/>
              </a:lnSpc>
            </a:pPr>
            <a:r>
              <a:rPr lang="en-US" altLang="zh-CN" sz="1200" b="1" dirty="0" smtClean="0">
                <a:latin typeface="+mn-ea"/>
              </a:rPr>
              <a:t>2.1 </a:t>
            </a:r>
            <a:r>
              <a:rPr lang="zh-CN" altLang="zh-CN" sz="1200" b="1" dirty="0" smtClean="0">
                <a:latin typeface="+mn-ea"/>
              </a:rPr>
              <a:t>告警</a:t>
            </a:r>
            <a:r>
              <a:rPr lang="zh-CN" altLang="zh-CN" sz="1200" b="1" dirty="0">
                <a:latin typeface="+mn-ea"/>
              </a:rPr>
              <a:t>状态查询</a:t>
            </a:r>
          </a:p>
          <a:p>
            <a:pPr>
              <a:lnSpc>
                <a:spcPct val="150000"/>
              </a:lnSpc>
            </a:pPr>
            <a:r>
              <a:rPr lang="zh-CN" altLang="zh-CN" sz="1200" dirty="0">
                <a:latin typeface="+mn-ea"/>
              </a:rPr>
              <a:t>查询</a:t>
            </a:r>
            <a:r>
              <a:rPr lang="en-US" altLang="zh-CN" sz="1200" dirty="0">
                <a:latin typeface="+mn-ea"/>
              </a:rPr>
              <a:t>ERAB</a:t>
            </a:r>
            <a:r>
              <a:rPr lang="zh-CN" altLang="zh-CN" sz="1200" dirty="0">
                <a:latin typeface="+mn-ea"/>
              </a:rPr>
              <a:t>异常释放时所占据小区状态，发现无告警。</a:t>
            </a:r>
          </a:p>
          <a:p>
            <a:endParaRPr lang="zh-CN" altLang="en-US" sz="1200" dirty="0"/>
          </a:p>
        </p:txBody>
      </p:sp>
      <p:pic>
        <p:nvPicPr>
          <p:cNvPr id="12" name="图片 11" descr="C:\Users\l00290751\Desktop\Snap3.jpg"/>
          <p:cNvPicPr/>
          <p:nvPr/>
        </p:nvPicPr>
        <p:blipFill>
          <a:blip r:embed="rId2" cstate="print"/>
          <a:srcRect/>
          <a:stretch>
            <a:fillRect/>
          </a:stretch>
        </p:blipFill>
        <p:spPr bwMode="auto">
          <a:xfrm>
            <a:off x="3747192" y="3796104"/>
            <a:ext cx="2605596" cy="1266188"/>
          </a:xfrm>
          <a:prstGeom prst="rect">
            <a:avLst/>
          </a:prstGeom>
          <a:noFill/>
          <a:ln w="9525">
            <a:solidFill>
              <a:schemeClr val="tx1"/>
            </a:solidFill>
            <a:miter lim="800000"/>
            <a:headEnd/>
            <a:tailEnd/>
          </a:ln>
        </p:spPr>
      </p:pic>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540771" y="2713295"/>
            <a:ext cx="937623" cy="246452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14</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淄博 </a:t>
            </a:r>
            <a:r>
              <a:rPr lang="en-US" altLang="zh-CN" sz="2400" b="1" dirty="0" err="1" smtClean="0">
                <a:solidFill>
                  <a:schemeClr val="bg1"/>
                </a:solidFill>
                <a:latin typeface="+mn-ea"/>
              </a:rPr>
              <a:t>VoLTE</a:t>
            </a:r>
            <a:r>
              <a:rPr lang="zh-CN" altLang="en-US" sz="2400" b="1" dirty="0" smtClean="0">
                <a:solidFill>
                  <a:schemeClr val="bg1"/>
                </a:solidFill>
                <a:latin typeface="+mn-ea"/>
              </a:rPr>
              <a:t>测试中由于上行干扰导致</a:t>
            </a:r>
            <a:r>
              <a:rPr lang="en-US" altLang="zh-CN" sz="2400" b="1" dirty="0" smtClean="0">
                <a:solidFill>
                  <a:schemeClr val="bg1"/>
                </a:solidFill>
                <a:latin typeface="+mn-ea"/>
              </a:rPr>
              <a:t>MOS</a:t>
            </a:r>
            <a:r>
              <a:rPr lang="zh-CN" altLang="en-US" sz="2400" b="1" dirty="0" smtClean="0">
                <a:solidFill>
                  <a:schemeClr val="bg1"/>
                </a:solidFill>
                <a:latin typeface="+mn-ea"/>
              </a:rPr>
              <a:t>值低问题分析</a:t>
            </a:r>
          </a:p>
        </p:txBody>
      </p:sp>
    </p:spTree>
    <p:extLst>
      <p:ext uri="{BB962C8B-B14F-4D97-AF65-F5344CB8AC3E}">
        <p14:creationId xmlns:p14="http://schemas.microsoft.com/office/powerpoint/2010/main" xmlns="" val="3519248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24688" y="904832"/>
            <a:ext cx="8969797" cy="461665"/>
          </a:xfrm>
          <a:prstGeom prst="rect">
            <a:avLst/>
          </a:prstGeom>
        </p:spPr>
        <p:txBody>
          <a:bodyPr wrap="square" lIns="91431" tIns="45715" rIns="91431" bIns="45715">
            <a:spAutoFit/>
          </a:bodyPr>
          <a:lstStyle/>
          <a:p>
            <a:pPr lvl="1"/>
            <a:r>
              <a:rPr lang="en-US" altLang="zh-CN" sz="1200" b="1" dirty="0" smtClean="0"/>
              <a:t>2.2 </a:t>
            </a:r>
            <a:r>
              <a:rPr lang="zh-CN" altLang="zh-CN" sz="1200" b="1" dirty="0" smtClean="0"/>
              <a:t>小区</a:t>
            </a:r>
            <a:r>
              <a:rPr lang="zh-CN" altLang="zh-CN" sz="1200" b="1" dirty="0"/>
              <a:t>操作查询</a:t>
            </a:r>
          </a:p>
          <a:p>
            <a:r>
              <a:rPr lang="zh-CN" altLang="zh-CN" sz="1200" dirty="0"/>
              <a:t>查询异常释放时所占据站点的操作日志如下，发现并未进行特别操作。</a:t>
            </a:r>
          </a:p>
        </p:txBody>
      </p:sp>
      <p:sp>
        <p:nvSpPr>
          <p:cNvPr id="4" name="矩形 3"/>
          <p:cNvSpPr/>
          <p:nvPr/>
        </p:nvSpPr>
        <p:spPr>
          <a:xfrm>
            <a:off x="568" y="601850"/>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a:t>
            </a:r>
            <a:r>
              <a:rPr lang="zh-CN" altLang="zh-CN" b="1" dirty="0"/>
              <a:t>结果分析</a:t>
            </a:r>
            <a:r>
              <a:rPr lang="zh-CN" altLang="zh-CN" b="1" dirty="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pic>
        <p:nvPicPr>
          <p:cNvPr id="5" name="图片 4" descr="E:\Snap4.jpg"/>
          <p:cNvPicPr/>
          <p:nvPr/>
        </p:nvPicPr>
        <p:blipFill>
          <a:blip r:embed="rId2" cstate="print"/>
          <a:srcRect/>
          <a:stretch>
            <a:fillRect/>
          </a:stretch>
        </p:blipFill>
        <p:spPr bwMode="auto">
          <a:xfrm>
            <a:off x="2871216" y="1338600"/>
            <a:ext cx="3875764" cy="1700189"/>
          </a:xfrm>
          <a:prstGeom prst="rect">
            <a:avLst/>
          </a:prstGeom>
          <a:noFill/>
          <a:ln w="9525">
            <a:solidFill>
              <a:schemeClr val="tx1"/>
            </a:solidFill>
            <a:miter lim="800000"/>
            <a:headEnd/>
            <a:tailEnd/>
          </a:ln>
        </p:spPr>
      </p:pic>
      <p:sp>
        <p:nvSpPr>
          <p:cNvPr id="6" name="TextBox 5"/>
          <p:cNvSpPr txBox="1"/>
          <p:nvPr/>
        </p:nvSpPr>
        <p:spPr>
          <a:xfrm>
            <a:off x="526594" y="3038789"/>
            <a:ext cx="9048700" cy="646331"/>
          </a:xfrm>
          <a:prstGeom prst="rect">
            <a:avLst/>
          </a:prstGeom>
          <a:noFill/>
        </p:spPr>
        <p:txBody>
          <a:bodyPr wrap="square" lIns="91431" tIns="45715" rIns="91431" bIns="45715" rtlCol="0">
            <a:spAutoFit/>
          </a:bodyPr>
          <a:lstStyle/>
          <a:p>
            <a:pPr lvl="1"/>
            <a:r>
              <a:rPr lang="en-US" altLang="zh-CN" sz="1200" b="1" dirty="0" smtClean="0"/>
              <a:t>2.3 </a:t>
            </a:r>
            <a:r>
              <a:rPr lang="zh-CN" altLang="zh-CN" sz="1200" b="1" dirty="0" smtClean="0"/>
              <a:t>干扰</a:t>
            </a:r>
            <a:r>
              <a:rPr lang="zh-CN" altLang="zh-CN" sz="1200" b="1" dirty="0"/>
              <a:t>情况分析</a:t>
            </a:r>
          </a:p>
          <a:p>
            <a:r>
              <a:rPr lang="zh-CN" altLang="zh-CN" sz="1200" dirty="0"/>
              <a:t>对做定点测试发生</a:t>
            </a:r>
            <a:r>
              <a:rPr lang="en-US" altLang="zh-CN" sz="1200" dirty="0"/>
              <a:t>MOS</a:t>
            </a:r>
            <a:r>
              <a:rPr lang="zh-CN" altLang="zh-CN" sz="1200" dirty="0"/>
              <a:t>值差时所占据的小区干扰情况进行分析，发现该小区存在干扰，且较强烈。</a:t>
            </a:r>
          </a:p>
          <a:p>
            <a:endParaRPr lang="zh-CN" altLang="en-US" sz="1200" dirty="0"/>
          </a:p>
        </p:txBody>
      </p:sp>
      <p:pic>
        <p:nvPicPr>
          <p:cNvPr id="7" name="图片 6"/>
          <p:cNvPicPr/>
          <p:nvPr/>
        </p:nvPicPr>
        <p:blipFill>
          <a:blip r:embed="rId3" cstate="print"/>
          <a:stretch>
            <a:fillRect/>
          </a:stretch>
        </p:blipFill>
        <p:spPr>
          <a:xfrm>
            <a:off x="1656015" y="3549132"/>
            <a:ext cx="5575819" cy="1643228"/>
          </a:xfrm>
          <a:prstGeom prst="rect">
            <a:avLst/>
          </a:prstGeom>
          <a:ln w="6350">
            <a:solidFill>
              <a:schemeClr val="tx1"/>
            </a:solidFill>
          </a:ln>
        </p:spPr>
      </p:pic>
      <p:sp>
        <p:nvSpPr>
          <p:cNvPr id="8" name="TextBox 7"/>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14</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淄博 </a:t>
            </a:r>
            <a:r>
              <a:rPr lang="en-US" altLang="zh-CN" sz="2400" b="1" dirty="0" err="1" smtClean="0">
                <a:solidFill>
                  <a:schemeClr val="bg1"/>
                </a:solidFill>
                <a:latin typeface="+mn-ea"/>
              </a:rPr>
              <a:t>VoLTE</a:t>
            </a:r>
            <a:r>
              <a:rPr lang="zh-CN" altLang="en-US" sz="2400" b="1" dirty="0" smtClean="0">
                <a:solidFill>
                  <a:schemeClr val="bg1"/>
                </a:solidFill>
                <a:latin typeface="+mn-ea"/>
              </a:rPr>
              <a:t>测试中由于上行干扰导致</a:t>
            </a:r>
            <a:r>
              <a:rPr lang="en-US" altLang="zh-CN" sz="2400" b="1" dirty="0" smtClean="0">
                <a:solidFill>
                  <a:schemeClr val="bg1"/>
                </a:solidFill>
                <a:latin typeface="+mn-ea"/>
              </a:rPr>
              <a:t>MOS</a:t>
            </a:r>
            <a:r>
              <a:rPr lang="zh-CN" altLang="en-US" sz="2400" b="1" dirty="0" smtClean="0">
                <a:solidFill>
                  <a:schemeClr val="bg1"/>
                </a:solidFill>
                <a:latin typeface="+mn-ea"/>
              </a:rPr>
              <a:t>值低问题分析</a:t>
            </a:r>
          </a:p>
        </p:txBody>
      </p:sp>
    </p:spTree>
    <p:extLst>
      <p:ext uri="{BB962C8B-B14F-4D97-AF65-F5344CB8AC3E}">
        <p14:creationId xmlns:p14="http://schemas.microsoft.com/office/powerpoint/2010/main" xmlns="" val="4203566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 y="590302"/>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a:t>
            </a:r>
            <a:r>
              <a:rPr lang="zh-CN" altLang="zh-CN" b="1" dirty="0"/>
              <a:t>结果分析</a:t>
            </a:r>
            <a:r>
              <a:rPr lang="zh-CN" altLang="zh-CN" b="1" dirty="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4" name="TextBox 3"/>
          <p:cNvSpPr txBox="1"/>
          <p:nvPr/>
        </p:nvSpPr>
        <p:spPr>
          <a:xfrm>
            <a:off x="412968" y="941890"/>
            <a:ext cx="9454650" cy="830997"/>
          </a:xfrm>
          <a:prstGeom prst="rect">
            <a:avLst/>
          </a:prstGeom>
          <a:noFill/>
        </p:spPr>
        <p:txBody>
          <a:bodyPr wrap="square" lIns="91431" tIns="45715" rIns="91431" bIns="45715" rtlCol="0">
            <a:spAutoFit/>
          </a:bodyPr>
          <a:lstStyle/>
          <a:p>
            <a:r>
              <a:rPr lang="zh-CN" altLang="zh-CN" sz="1200" dirty="0"/>
              <a:t>对火车站上行干扰进行检测知，该室分所有</a:t>
            </a:r>
            <a:r>
              <a:rPr lang="en-US" altLang="zh-CN" sz="1200" dirty="0"/>
              <a:t>RB</a:t>
            </a:r>
            <a:r>
              <a:rPr lang="zh-CN" altLang="zh-CN" sz="1200" dirty="0"/>
              <a:t>上长时间干扰较强，且不同</a:t>
            </a:r>
            <a:r>
              <a:rPr lang="en-US" altLang="zh-CN" sz="1200" dirty="0"/>
              <a:t>RB</a:t>
            </a:r>
            <a:r>
              <a:rPr lang="zh-CN" altLang="zh-CN" sz="1200" dirty="0"/>
              <a:t>上的干扰电平接近；提取该小区一键式日志导入华为</a:t>
            </a:r>
            <a:r>
              <a:rPr lang="en-US" altLang="zh-CN" sz="1200" dirty="0"/>
              <a:t>PEAC</a:t>
            </a:r>
            <a:r>
              <a:rPr lang="zh-CN" altLang="zh-CN" sz="1200" dirty="0"/>
              <a:t>平台进行分析，确认该干扰为非制式全频段系统外干扰。</a:t>
            </a:r>
          </a:p>
          <a:p>
            <a:r>
              <a:rPr lang="zh-CN" altLang="zh-CN" sz="1200" dirty="0"/>
              <a:t>检测结果如下：</a:t>
            </a:r>
          </a:p>
          <a:p>
            <a:endParaRPr lang="zh-CN" altLang="en-US" sz="1200" dirty="0"/>
          </a:p>
        </p:txBody>
      </p:sp>
      <p:graphicFrame>
        <p:nvGraphicFramePr>
          <p:cNvPr id="6" name="表格 5"/>
          <p:cNvGraphicFramePr>
            <a:graphicFrameLocks noGrp="1"/>
          </p:cNvGraphicFramePr>
          <p:nvPr>
            <p:extLst>
              <p:ext uri="{D42A27DB-BD31-4B8C-83A1-F6EECF244321}">
                <p14:modId xmlns:p14="http://schemas.microsoft.com/office/powerpoint/2010/main" xmlns="" val="3754829967"/>
              </p:ext>
            </p:extLst>
          </p:nvPr>
        </p:nvGraphicFramePr>
        <p:xfrm>
          <a:off x="443881" y="1583144"/>
          <a:ext cx="9235441" cy="905618"/>
        </p:xfrm>
        <a:graphic>
          <a:graphicData uri="http://schemas.openxmlformats.org/drawingml/2006/table">
            <a:tbl>
              <a:tblPr firstRow="1" firstCol="1" bandRow="1">
                <a:tableStyleId>{5C22544A-7EE6-4342-B048-85BDC9FD1C3A}</a:tableStyleId>
              </a:tblPr>
              <a:tblGrid>
                <a:gridCol w="1708597"/>
                <a:gridCol w="1287380"/>
                <a:gridCol w="1002969"/>
                <a:gridCol w="1058381"/>
                <a:gridCol w="1002969"/>
                <a:gridCol w="770236"/>
                <a:gridCol w="831190"/>
                <a:gridCol w="587374"/>
                <a:gridCol w="986345"/>
              </a:tblGrid>
              <a:tr h="365868">
                <a:tc>
                  <a:txBody>
                    <a:bodyPr/>
                    <a:lstStyle/>
                    <a:p>
                      <a:pPr algn="ctr">
                        <a:lnSpc>
                          <a:spcPct val="150000"/>
                        </a:lnSpc>
                        <a:spcAft>
                          <a:spcPts val="0"/>
                        </a:spcAft>
                      </a:pPr>
                      <a:r>
                        <a:rPr lang="en-US" sz="800" kern="100" dirty="0">
                          <a:effectLst/>
                        </a:rPr>
                        <a:t>Cell Name</a:t>
                      </a:r>
                      <a:endParaRPr lang="zh-CN" sz="800" kern="100" dirty="0">
                        <a:effectLst/>
                        <a:latin typeface="Times New Roman"/>
                        <a:ea typeface="宋体"/>
                      </a:endParaRPr>
                    </a:p>
                  </a:txBody>
                  <a:tcPr marL="76962" marR="76962" marT="0" marB="0" anchor="ctr"/>
                </a:tc>
                <a:tc>
                  <a:txBody>
                    <a:bodyPr/>
                    <a:lstStyle/>
                    <a:p>
                      <a:pPr algn="ctr">
                        <a:lnSpc>
                          <a:spcPct val="150000"/>
                        </a:lnSpc>
                        <a:spcAft>
                          <a:spcPts val="0"/>
                        </a:spcAft>
                      </a:pPr>
                      <a:r>
                        <a:rPr lang="zh-CN" sz="800" kern="100" dirty="0">
                          <a:effectLst/>
                        </a:rPr>
                        <a:t>干扰类型</a:t>
                      </a:r>
                      <a:endParaRPr lang="zh-CN" sz="800" kern="100" dirty="0">
                        <a:effectLst/>
                        <a:latin typeface="Times New Roman"/>
                        <a:ea typeface="宋体"/>
                      </a:endParaRPr>
                    </a:p>
                  </a:txBody>
                  <a:tcPr marL="76962" marR="76962" marT="0" marB="0" anchor="ctr"/>
                </a:tc>
                <a:tc>
                  <a:txBody>
                    <a:bodyPr/>
                    <a:lstStyle/>
                    <a:p>
                      <a:pPr algn="ctr">
                        <a:lnSpc>
                          <a:spcPct val="150000"/>
                        </a:lnSpc>
                        <a:spcAft>
                          <a:spcPts val="0"/>
                        </a:spcAft>
                      </a:pPr>
                      <a:r>
                        <a:rPr lang="zh-CN" sz="800" kern="100">
                          <a:effectLst/>
                        </a:rPr>
                        <a:t>干扰强度</a:t>
                      </a:r>
                      <a:r>
                        <a:rPr lang="en-US" sz="800" kern="100">
                          <a:effectLst/>
                        </a:rPr>
                        <a:t>(dBm)</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zh-CN" sz="800" kern="100">
                          <a:effectLst/>
                        </a:rPr>
                        <a:t>干扰密度</a:t>
                      </a:r>
                      <a:r>
                        <a:rPr lang="en-US" sz="800" kern="100">
                          <a:effectLst/>
                        </a:rPr>
                        <a:t>(%)</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zh-CN" sz="800" kern="100">
                          <a:effectLst/>
                        </a:rPr>
                        <a:t>平均干扰功率</a:t>
                      </a:r>
                      <a:r>
                        <a:rPr lang="en-US" sz="800" kern="100">
                          <a:effectLst/>
                        </a:rPr>
                        <a:t>(dBm)</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zh-CN" sz="800" kern="100">
                          <a:effectLst/>
                        </a:rPr>
                        <a:t>干扰程度</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zh-CN" sz="800" kern="100">
                          <a:effectLst/>
                        </a:rPr>
                        <a:t>干扰状态</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zh-CN" sz="800" kern="100">
                          <a:effectLst/>
                        </a:rPr>
                        <a:t>频带</a:t>
                      </a:r>
                      <a:endParaRPr lang="zh-CN" sz="800" kern="100">
                        <a:effectLst/>
                        <a:latin typeface="Times New Roman"/>
                        <a:ea typeface="宋体"/>
                      </a:endParaRPr>
                    </a:p>
                  </a:txBody>
                  <a:tcPr marL="76962" marR="76962" marT="0" marB="0" anchor="ctr"/>
                </a:tc>
                <a:tc>
                  <a:txBody>
                    <a:bodyPr/>
                    <a:lstStyle/>
                    <a:p>
                      <a:pPr algn="ctr">
                        <a:lnSpc>
                          <a:spcPct val="150000"/>
                        </a:lnSpc>
                        <a:spcAft>
                          <a:spcPts val="0"/>
                        </a:spcAft>
                      </a:pPr>
                      <a:r>
                        <a:rPr lang="zh-CN" sz="800" kern="100">
                          <a:effectLst/>
                        </a:rPr>
                        <a:t>下行频点</a:t>
                      </a:r>
                      <a:endParaRPr lang="zh-CN" sz="800" kern="100">
                        <a:effectLst/>
                        <a:latin typeface="Times New Roman"/>
                        <a:ea typeface="宋体"/>
                      </a:endParaRPr>
                    </a:p>
                  </a:txBody>
                  <a:tcPr marL="76962" marR="76962" marT="0" marB="0" anchor="ctr"/>
                </a:tc>
              </a:tr>
              <a:tr h="539750">
                <a:tc>
                  <a:txBody>
                    <a:bodyPr/>
                    <a:lstStyle/>
                    <a:p>
                      <a:pPr>
                        <a:lnSpc>
                          <a:spcPct val="150000"/>
                        </a:lnSpc>
                        <a:spcAft>
                          <a:spcPts val="0"/>
                        </a:spcAft>
                      </a:pPr>
                      <a:r>
                        <a:rPr lang="en-US" sz="800" kern="100">
                          <a:effectLst/>
                        </a:rPr>
                        <a:t>LEH0301651S1_</a:t>
                      </a:r>
                      <a:r>
                        <a:rPr lang="zh-CN" sz="800" kern="100">
                          <a:effectLst/>
                        </a:rPr>
                        <a:t>张店淄博火车站</a:t>
                      </a:r>
                      <a:r>
                        <a:rPr lang="en-US" sz="800" kern="100">
                          <a:effectLst/>
                        </a:rPr>
                        <a:t>1</a:t>
                      </a:r>
                      <a:endParaRPr lang="zh-CN" sz="800" kern="100">
                        <a:effectLst/>
                        <a:latin typeface="Times New Roman"/>
                        <a:ea typeface="宋体"/>
                      </a:endParaRPr>
                    </a:p>
                  </a:txBody>
                  <a:tcPr marL="76962" marR="76962" marT="0" marB="0" anchor="ctr"/>
                </a:tc>
                <a:tc>
                  <a:txBody>
                    <a:bodyPr/>
                    <a:lstStyle/>
                    <a:p>
                      <a:pPr>
                        <a:lnSpc>
                          <a:spcPct val="150000"/>
                        </a:lnSpc>
                        <a:spcAft>
                          <a:spcPts val="0"/>
                        </a:spcAft>
                      </a:pPr>
                      <a:r>
                        <a:rPr lang="zh-CN" sz="800" kern="100">
                          <a:effectLst/>
                        </a:rPr>
                        <a:t>非制式全频段系统外干扰</a:t>
                      </a:r>
                      <a:endParaRPr lang="zh-CN" sz="800" kern="100">
                        <a:effectLst/>
                        <a:latin typeface="Times New Roman"/>
                        <a:ea typeface="宋体"/>
                      </a:endParaRPr>
                    </a:p>
                  </a:txBody>
                  <a:tcPr marL="76962" marR="76962" marT="0" marB="0" anchor="ctr"/>
                </a:tc>
                <a:tc>
                  <a:txBody>
                    <a:bodyPr/>
                    <a:lstStyle/>
                    <a:p>
                      <a:pPr>
                        <a:lnSpc>
                          <a:spcPct val="150000"/>
                        </a:lnSpc>
                        <a:spcAft>
                          <a:spcPts val="0"/>
                        </a:spcAft>
                      </a:pPr>
                      <a:r>
                        <a:rPr lang="en-US" sz="800" kern="100">
                          <a:effectLst/>
                        </a:rPr>
                        <a:t>-90.95</a:t>
                      </a:r>
                      <a:endParaRPr lang="zh-CN" sz="800" kern="100">
                        <a:effectLst/>
                        <a:latin typeface="Times New Roman"/>
                        <a:ea typeface="宋体"/>
                      </a:endParaRPr>
                    </a:p>
                  </a:txBody>
                  <a:tcPr marL="76962" marR="76962" marT="0" marB="0" anchor="ctr"/>
                </a:tc>
                <a:tc>
                  <a:txBody>
                    <a:bodyPr/>
                    <a:lstStyle/>
                    <a:p>
                      <a:pPr>
                        <a:lnSpc>
                          <a:spcPct val="150000"/>
                        </a:lnSpc>
                        <a:spcAft>
                          <a:spcPts val="0"/>
                        </a:spcAft>
                      </a:pPr>
                      <a:r>
                        <a:rPr lang="en-US" sz="800" kern="100">
                          <a:effectLst/>
                        </a:rPr>
                        <a:t>100.00</a:t>
                      </a:r>
                      <a:endParaRPr lang="zh-CN" sz="800" kern="100">
                        <a:effectLst/>
                        <a:latin typeface="Times New Roman"/>
                        <a:ea typeface="宋体"/>
                      </a:endParaRPr>
                    </a:p>
                  </a:txBody>
                  <a:tcPr marL="76962" marR="76962" marT="0" marB="0" anchor="ctr"/>
                </a:tc>
                <a:tc>
                  <a:txBody>
                    <a:bodyPr/>
                    <a:lstStyle/>
                    <a:p>
                      <a:pPr>
                        <a:lnSpc>
                          <a:spcPct val="150000"/>
                        </a:lnSpc>
                        <a:spcAft>
                          <a:spcPts val="0"/>
                        </a:spcAft>
                      </a:pPr>
                      <a:r>
                        <a:rPr lang="en-US" sz="800" kern="100">
                          <a:effectLst/>
                        </a:rPr>
                        <a:t>-90.95</a:t>
                      </a:r>
                      <a:endParaRPr lang="zh-CN" sz="800" kern="100">
                        <a:effectLst/>
                        <a:latin typeface="Times New Roman"/>
                        <a:ea typeface="宋体"/>
                      </a:endParaRPr>
                    </a:p>
                  </a:txBody>
                  <a:tcPr marL="76962" marR="76962" marT="0" marB="0" anchor="ctr"/>
                </a:tc>
                <a:tc>
                  <a:txBody>
                    <a:bodyPr/>
                    <a:lstStyle/>
                    <a:p>
                      <a:pPr>
                        <a:lnSpc>
                          <a:spcPct val="150000"/>
                        </a:lnSpc>
                        <a:spcAft>
                          <a:spcPts val="0"/>
                        </a:spcAft>
                      </a:pPr>
                      <a:r>
                        <a:rPr lang="en-US" sz="800" kern="100">
                          <a:effectLst/>
                        </a:rPr>
                        <a:t>Mid</a:t>
                      </a:r>
                      <a:endParaRPr lang="zh-CN" sz="800" kern="100">
                        <a:effectLst/>
                        <a:latin typeface="Times New Roman"/>
                        <a:ea typeface="宋体"/>
                      </a:endParaRPr>
                    </a:p>
                  </a:txBody>
                  <a:tcPr marL="76962" marR="76962" marT="0" marB="0" anchor="ctr"/>
                </a:tc>
                <a:tc>
                  <a:txBody>
                    <a:bodyPr/>
                    <a:lstStyle/>
                    <a:p>
                      <a:pPr>
                        <a:lnSpc>
                          <a:spcPct val="150000"/>
                        </a:lnSpc>
                        <a:spcAft>
                          <a:spcPts val="0"/>
                        </a:spcAft>
                      </a:pPr>
                      <a:r>
                        <a:rPr lang="en-US" sz="800" kern="100">
                          <a:effectLst/>
                        </a:rPr>
                        <a:t>NOK</a:t>
                      </a:r>
                      <a:endParaRPr lang="zh-CN" sz="800" kern="100">
                        <a:effectLst/>
                        <a:latin typeface="Times New Roman"/>
                        <a:ea typeface="宋体"/>
                      </a:endParaRPr>
                    </a:p>
                  </a:txBody>
                  <a:tcPr marL="76962" marR="76962" marT="0" marB="0" anchor="ctr"/>
                </a:tc>
                <a:tc>
                  <a:txBody>
                    <a:bodyPr/>
                    <a:lstStyle/>
                    <a:p>
                      <a:pPr>
                        <a:lnSpc>
                          <a:spcPct val="150000"/>
                        </a:lnSpc>
                        <a:spcAft>
                          <a:spcPts val="0"/>
                        </a:spcAft>
                      </a:pPr>
                      <a:r>
                        <a:rPr lang="en-US" sz="800" kern="100">
                          <a:effectLst/>
                        </a:rPr>
                        <a:t>40</a:t>
                      </a:r>
                      <a:endParaRPr lang="zh-CN" sz="800" kern="100">
                        <a:effectLst/>
                        <a:latin typeface="Times New Roman"/>
                        <a:ea typeface="宋体"/>
                      </a:endParaRPr>
                    </a:p>
                  </a:txBody>
                  <a:tcPr marL="76962" marR="76962" marT="0" marB="0" anchor="ctr"/>
                </a:tc>
                <a:tc>
                  <a:txBody>
                    <a:bodyPr/>
                    <a:lstStyle/>
                    <a:p>
                      <a:pPr>
                        <a:lnSpc>
                          <a:spcPct val="150000"/>
                        </a:lnSpc>
                        <a:spcAft>
                          <a:spcPts val="0"/>
                        </a:spcAft>
                      </a:pPr>
                      <a:r>
                        <a:rPr lang="en-US" sz="800" kern="100" dirty="0">
                          <a:effectLst/>
                        </a:rPr>
                        <a:t>38950</a:t>
                      </a:r>
                      <a:endParaRPr lang="zh-CN" sz="800" kern="100" dirty="0">
                        <a:effectLst/>
                        <a:latin typeface="Times New Roman"/>
                        <a:ea typeface="宋体"/>
                      </a:endParaRPr>
                    </a:p>
                  </a:txBody>
                  <a:tcPr marL="76962" marR="76962" marT="0" marB="0" anchor="ctr"/>
                </a:tc>
              </a:tr>
            </a:tbl>
          </a:graphicData>
        </a:graphic>
      </p:graphicFrame>
      <p:pic>
        <p:nvPicPr>
          <p:cNvPr id="7" name="图片 6" descr="C:\Users\rick\AppData\Local\Temp\HZ$D.621.1712\干扰平均功率图(366478_0).png"/>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10277" y="2553412"/>
            <a:ext cx="3878831" cy="1660231"/>
          </a:xfrm>
          <a:prstGeom prst="rect">
            <a:avLst/>
          </a:prstGeom>
          <a:noFill/>
          <a:ln>
            <a:noFill/>
          </a:ln>
        </p:spPr>
      </p:pic>
      <p:pic>
        <p:nvPicPr>
          <p:cNvPr id="8" name="图片 7" descr="C:\Users\rick\AppData\Local\Temp\HZ$D.621.1713\ulAndDl(366478_0).png"/>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171205" y="2678772"/>
            <a:ext cx="4525303" cy="1473497"/>
          </a:xfrm>
          <a:prstGeom prst="rect">
            <a:avLst/>
          </a:prstGeom>
          <a:noFill/>
          <a:ln>
            <a:noFill/>
          </a:ln>
        </p:spPr>
      </p:pic>
      <p:sp>
        <p:nvSpPr>
          <p:cNvPr id="9" name="矩形 8"/>
          <p:cNvSpPr/>
          <p:nvPr/>
        </p:nvSpPr>
        <p:spPr>
          <a:xfrm>
            <a:off x="337237" y="4267723"/>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a:t>
            </a:r>
            <a:r>
              <a:rPr lang="zh-CN" altLang="en-US" b="1" dirty="0"/>
              <a:t>处理方法</a:t>
            </a:r>
            <a:r>
              <a:rPr lang="zh-CN" altLang="zh-CN" b="1" dirty="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10" name="TextBox 9"/>
          <p:cNvSpPr txBox="1"/>
          <p:nvPr/>
        </p:nvSpPr>
        <p:spPr>
          <a:xfrm>
            <a:off x="817012" y="4644708"/>
            <a:ext cx="8646561" cy="646331"/>
          </a:xfrm>
          <a:prstGeom prst="rect">
            <a:avLst/>
          </a:prstGeom>
          <a:noFill/>
        </p:spPr>
        <p:txBody>
          <a:bodyPr wrap="square" lIns="91431" tIns="45715" rIns="91431" bIns="45715" rtlCol="0">
            <a:spAutoFit/>
          </a:bodyPr>
          <a:lstStyle/>
          <a:p>
            <a:r>
              <a:rPr lang="en-US" altLang="zh-CN" sz="1200" dirty="0"/>
              <a:t>1</a:t>
            </a:r>
            <a:r>
              <a:rPr lang="zh-CN" altLang="zh-CN" sz="1200" dirty="0"/>
              <a:t>、使用</a:t>
            </a:r>
            <a:r>
              <a:rPr lang="en-US" altLang="zh-CN" sz="1200" dirty="0"/>
              <a:t>TD-LTE</a:t>
            </a:r>
            <a:r>
              <a:rPr lang="zh-CN" altLang="zh-CN" sz="1200" dirty="0"/>
              <a:t>专用扫频仪，进行扫频测试确定干扰源位置，与干扰源责任主体沟通，关闭干扰源。由于淄博现在无全频段扫频仪，无法定位干扰源。</a:t>
            </a:r>
          </a:p>
          <a:p>
            <a:r>
              <a:rPr lang="en-US" altLang="zh-CN" sz="1200" dirty="0"/>
              <a:t>2</a:t>
            </a:r>
            <a:r>
              <a:rPr lang="zh-CN" altLang="zh-CN" sz="1200" dirty="0"/>
              <a:t>、将受干扰小区的频点</a:t>
            </a:r>
            <a:r>
              <a:rPr lang="en-US" altLang="zh-CN" sz="1200" dirty="0"/>
              <a:t>38950</a:t>
            </a:r>
            <a:r>
              <a:rPr lang="zh-CN" altLang="zh-CN" sz="1200" dirty="0"/>
              <a:t>更换为</a:t>
            </a:r>
            <a:r>
              <a:rPr lang="en-US" altLang="zh-CN" sz="1200" dirty="0"/>
              <a:t>E2</a:t>
            </a:r>
            <a:r>
              <a:rPr lang="zh-CN" altLang="zh-CN" sz="1200" dirty="0"/>
              <a:t>频点</a:t>
            </a:r>
            <a:r>
              <a:rPr lang="zh-CN" altLang="zh-CN" sz="1200" dirty="0" smtClean="0"/>
              <a:t>。</a:t>
            </a:r>
            <a:endParaRPr lang="zh-CN" altLang="en-US" sz="1200" dirty="0"/>
          </a:p>
        </p:txBody>
      </p:sp>
      <p:sp>
        <p:nvSpPr>
          <p:cNvPr id="11" name="TextBox 10"/>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14</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淄博 </a:t>
            </a:r>
            <a:r>
              <a:rPr lang="en-US" altLang="zh-CN" sz="2400" b="1" dirty="0" err="1" smtClean="0">
                <a:solidFill>
                  <a:schemeClr val="bg1"/>
                </a:solidFill>
                <a:latin typeface="+mn-ea"/>
              </a:rPr>
              <a:t>VoLTE</a:t>
            </a:r>
            <a:r>
              <a:rPr lang="zh-CN" altLang="en-US" sz="2400" b="1" dirty="0" smtClean="0">
                <a:solidFill>
                  <a:schemeClr val="bg1"/>
                </a:solidFill>
                <a:latin typeface="+mn-ea"/>
              </a:rPr>
              <a:t>测试中由于上行干扰导致</a:t>
            </a:r>
            <a:r>
              <a:rPr lang="en-US" altLang="zh-CN" sz="2400" b="1" dirty="0" smtClean="0">
                <a:solidFill>
                  <a:schemeClr val="bg1"/>
                </a:solidFill>
                <a:latin typeface="+mn-ea"/>
              </a:rPr>
              <a:t>MOS</a:t>
            </a:r>
            <a:r>
              <a:rPr lang="zh-CN" altLang="en-US" sz="2400" b="1" dirty="0" smtClean="0">
                <a:solidFill>
                  <a:schemeClr val="bg1"/>
                </a:solidFill>
                <a:latin typeface="+mn-ea"/>
              </a:rPr>
              <a:t>值低问题分析</a:t>
            </a:r>
          </a:p>
        </p:txBody>
      </p:sp>
    </p:spTree>
    <p:extLst>
      <p:ext uri="{BB962C8B-B14F-4D97-AF65-F5344CB8AC3E}">
        <p14:creationId xmlns:p14="http://schemas.microsoft.com/office/powerpoint/2010/main" xmlns="" val="2094546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 y="587770"/>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t>问题描述</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4" name="TextBox 3"/>
          <p:cNvSpPr txBox="1"/>
          <p:nvPr/>
        </p:nvSpPr>
        <p:spPr>
          <a:xfrm>
            <a:off x="306264" y="898550"/>
            <a:ext cx="9131414" cy="276999"/>
          </a:xfrm>
          <a:prstGeom prst="rect">
            <a:avLst/>
          </a:prstGeom>
          <a:noFill/>
        </p:spPr>
        <p:txBody>
          <a:bodyPr wrap="square" lIns="91431" tIns="45715" rIns="91431" bIns="45715" rtlCol="0">
            <a:spAutoFit/>
          </a:bodyPr>
          <a:lstStyle/>
          <a:p>
            <a:r>
              <a:rPr lang="en-US" altLang="zh-CN" sz="1200" dirty="0"/>
              <a:t>12</a:t>
            </a:r>
            <a:r>
              <a:rPr lang="zh-CN" altLang="zh-CN" sz="1200" dirty="0"/>
              <a:t>月</a:t>
            </a:r>
            <a:r>
              <a:rPr lang="en-US" altLang="zh-CN" sz="1200" dirty="0"/>
              <a:t>23</a:t>
            </a:r>
            <a:r>
              <a:rPr lang="zh-CN" altLang="zh-CN" sz="1200" dirty="0"/>
              <a:t>日晚上在山东菏泽移动室分站点做</a:t>
            </a:r>
            <a:r>
              <a:rPr lang="en-US" altLang="zh-CN" sz="1200" dirty="0"/>
              <a:t>VOLTE</a:t>
            </a:r>
            <a:r>
              <a:rPr lang="zh-CN" altLang="zh-CN" sz="1200" dirty="0"/>
              <a:t>拨打测试，测试过程中连选出现多次出现网络返回</a:t>
            </a:r>
            <a:r>
              <a:rPr lang="en-US" altLang="zh-CN" sz="1200" dirty="0"/>
              <a:t>404</a:t>
            </a:r>
            <a:r>
              <a:rPr lang="zh-CN" altLang="zh-CN" sz="1200" dirty="0"/>
              <a:t>错误导致未接通。</a:t>
            </a:r>
            <a:endParaRPr lang="zh-CN" altLang="en-US" sz="1200" dirty="0"/>
          </a:p>
        </p:txBody>
      </p:sp>
      <p:sp>
        <p:nvSpPr>
          <p:cNvPr id="5" name="矩形 4"/>
          <p:cNvSpPr/>
          <p:nvPr/>
        </p:nvSpPr>
        <p:spPr>
          <a:xfrm>
            <a:off x="13435" y="1156481"/>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【问题分析】</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6" name="TextBox 5"/>
          <p:cNvSpPr txBox="1"/>
          <p:nvPr/>
        </p:nvSpPr>
        <p:spPr>
          <a:xfrm>
            <a:off x="282262" y="1546534"/>
            <a:ext cx="3878831" cy="830997"/>
          </a:xfrm>
          <a:prstGeom prst="rect">
            <a:avLst/>
          </a:prstGeom>
          <a:noFill/>
        </p:spPr>
        <p:txBody>
          <a:bodyPr wrap="square" lIns="91431" tIns="45715" rIns="91431" bIns="45715" rtlCol="0">
            <a:spAutoFit/>
          </a:bodyPr>
          <a:lstStyle/>
          <a:p>
            <a:r>
              <a:rPr lang="zh-CN" altLang="zh-CN" sz="1200" dirty="0"/>
              <a:t>分析基站侧抓包信令，终端在正常拨打</a:t>
            </a:r>
            <a:r>
              <a:rPr lang="en-US" altLang="zh-CN" sz="1200" dirty="0"/>
              <a:t>VOLTE</a:t>
            </a:r>
            <a:r>
              <a:rPr lang="zh-CN" altLang="zh-CN" sz="1200" dirty="0"/>
              <a:t>电话后，向核心网发送</a:t>
            </a:r>
            <a:r>
              <a:rPr lang="en-US" altLang="zh-CN" sz="1200" dirty="0"/>
              <a:t>INVITE</a:t>
            </a:r>
            <a:r>
              <a:rPr lang="zh-CN" altLang="zh-CN" sz="1200" dirty="0"/>
              <a:t>请求后，正常收到</a:t>
            </a:r>
            <a:r>
              <a:rPr lang="en-US" altLang="zh-CN" sz="1200" dirty="0"/>
              <a:t>IMS</a:t>
            </a:r>
            <a:r>
              <a:rPr lang="zh-CN" altLang="zh-CN" sz="1200" dirty="0"/>
              <a:t>返回的</a:t>
            </a:r>
            <a:r>
              <a:rPr lang="en-US" altLang="zh-CN" sz="1200" dirty="0"/>
              <a:t>100 </a:t>
            </a:r>
            <a:r>
              <a:rPr lang="en-US" altLang="zh-CN" sz="1200" dirty="0" err="1"/>
              <a:t>tring</a:t>
            </a:r>
            <a:r>
              <a:rPr lang="zh-CN" altLang="zh-CN" sz="1200" dirty="0"/>
              <a:t>，随后十几毫秒后有返回</a:t>
            </a:r>
            <a:r>
              <a:rPr lang="en-US" altLang="zh-CN" sz="1200" dirty="0"/>
              <a:t>404</a:t>
            </a:r>
            <a:r>
              <a:rPr lang="zh-CN" altLang="zh-CN" sz="1200" dirty="0"/>
              <a:t>错误，每次未接通均是此种情况。详细问题截图</a:t>
            </a:r>
            <a:r>
              <a:rPr lang="zh-CN" altLang="zh-CN" sz="1200" dirty="0" smtClean="0"/>
              <a:t>如</a:t>
            </a:r>
            <a:r>
              <a:rPr lang="zh-CN" altLang="en-US" sz="1200" dirty="0" smtClean="0"/>
              <a:t>右图</a:t>
            </a:r>
            <a:r>
              <a:rPr lang="zh-CN" altLang="zh-CN" sz="1200" dirty="0" smtClean="0"/>
              <a:t>：</a:t>
            </a:r>
            <a:endParaRPr lang="zh-CN" altLang="en-US" sz="1200" dirty="0"/>
          </a:p>
        </p:txBody>
      </p:sp>
      <p:pic>
        <p:nvPicPr>
          <p:cNvPr id="7" name="图片 6"/>
          <p:cNvPicPr/>
          <p:nvPr/>
        </p:nvPicPr>
        <p:blipFill>
          <a:blip r:embed="rId2" cstate="print"/>
          <a:srcRect/>
          <a:stretch>
            <a:fillRect/>
          </a:stretch>
        </p:blipFill>
        <p:spPr bwMode="auto">
          <a:xfrm>
            <a:off x="4410720" y="1251402"/>
            <a:ext cx="5616624" cy="1087308"/>
          </a:xfrm>
          <a:prstGeom prst="rect">
            <a:avLst/>
          </a:prstGeom>
          <a:noFill/>
          <a:ln w="9525">
            <a:noFill/>
            <a:miter lim="800000"/>
            <a:headEnd/>
            <a:tailEnd/>
          </a:ln>
        </p:spPr>
      </p:pic>
      <p:sp>
        <p:nvSpPr>
          <p:cNvPr id="8" name="TextBox 7"/>
          <p:cNvSpPr txBox="1"/>
          <p:nvPr/>
        </p:nvSpPr>
        <p:spPr>
          <a:xfrm>
            <a:off x="282262" y="2375743"/>
            <a:ext cx="4416491" cy="1938992"/>
          </a:xfrm>
          <a:prstGeom prst="rect">
            <a:avLst/>
          </a:prstGeom>
          <a:noFill/>
        </p:spPr>
        <p:txBody>
          <a:bodyPr wrap="square" lIns="91431" tIns="45715" rIns="91431" bIns="45715" rtlCol="0">
            <a:spAutoFit/>
          </a:bodyPr>
          <a:lstStyle/>
          <a:p>
            <a:r>
              <a:rPr lang="zh-CN" altLang="zh-CN" sz="1200" dirty="0"/>
              <a:t>该问题基本定位为核心网</a:t>
            </a:r>
            <a:r>
              <a:rPr lang="en-US" altLang="zh-CN" sz="1200" dirty="0"/>
              <a:t>IMS</a:t>
            </a:r>
            <a:r>
              <a:rPr lang="zh-CN" altLang="zh-CN" sz="1200" dirty="0"/>
              <a:t>返回错误导致</a:t>
            </a:r>
            <a:r>
              <a:rPr lang="en-US" altLang="zh-CN" sz="1200" dirty="0"/>
              <a:t>VOLTE</a:t>
            </a:r>
            <a:r>
              <a:rPr lang="zh-CN" altLang="zh-CN" sz="1200" dirty="0"/>
              <a:t>未接通，需要</a:t>
            </a:r>
            <a:r>
              <a:rPr lang="en-US" altLang="zh-CN" sz="1200" dirty="0"/>
              <a:t>IMS</a:t>
            </a:r>
            <a:r>
              <a:rPr lang="zh-CN" altLang="zh-CN" sz="1200" dirty="0"/>
              <a:t>网络协助分析，将该反馈给核心网同事，经</a:t>
            </a:r>
            <a:r>
              <a:rPr lang="en-US" altLang="zh-CN" sz="1200" dirty="0"/>
              <a:t>IMS</a:t>
            </a:r>
            <a:r>
              <a:rPr lang="zh-CN" altLang="zh-CN" sz="1200" dirty="0"/>
              <a:t>网络同事分析，核心网注册有效期时间是</a:t>
            </a:r>
            <a:r>
              <a:rPr lang="en-US" altLang="zh-CN" sz="1200" dirty="0"/>
              <a:t>60</a:t>
            </a:r>
            <a:r>
              <a:rPr lang="zh-CN" altLang="zh-CN" sz="1200" dirty="0"/>
              <a:t>分钟，终端超过该时间未刷新注册导致</a:t>
            </a:r>
            <a:r>
              <a:rPr lang="en-US" altLang="zh-CN" sz="1200" dirty="0"/>
              <a:t>IMS</a:t>
            </a:r>
            <a:r>
              <a:rPr lang="zh-CN" altLang="zh-CN" sz="1200" dirty="0"/>
              <a:t>网络将该用户的注册信息删除，拨打</a:t>
            </a:r>
            <a:r>
              <a:rPr lang="en-US" altLang="zh-CN" sz="1200" dirty="0"/>
              <a:t>VOLTE</a:t>
            </a:r>
            <a:r>
              <a:rPr lang="zh-CN" altLang="zh-CN" sz="1200" dirty="0"/>
              <a:t>电话失败。</a:t>
            </a:r>
          </a:p>
          <a:p>
            <a:r>
              <a:rPr lang="zh-CN" altLang="zh-CN" sz="1200" dirty="0"/>
              <a:t>经过对抓取的</a:t>
            </a:r>
            <a:r>
              <a:rPr lang="en-US" altLang="zh-CN" sz="1200" dirty="0"/>
              <a:t>60</a:t>
            </a:r>
            <a:r>
              <a:rPr lang="zh-CN" altLang="zh-CN" sz="1200" dirty="0"/>
              <a:t>分钟内的信令分析，发现在</a:t>
            </a:r>
            <a:r>
              <a:rPr lang="en-US" altLang="zh-CN" sz="1200" dirty="0"/>
              <a:t>1</a:t>
            </a:r>
            <a:r>
              <a:rPr lang="zh-CN" altLang="zh-CN" sz="1200" dirty="0"/>
              <a:t>点</a:t>
            </a:r>
            <a:r>
              <a:rPr lang="en-US" altLang="zh-CN" sz="1200" dirty="0"/>
              <a:t>10</a:t>
            </a:r>
            <a:r>
              <a:rPr lang="zh-CN" altLang="zh-CN" sz="1200" dirty="0"/>
              <a:t>分终端已经刷新注册，并且</a:t>
            </a:r>
            <a:r>
              <a:rPr lang="en-US" altLang="zh-CN" sz="1200" dirty="0"/>
              <a:t>IMS</a:t>
            </a:r>
            <a:r>
              <a:rPr lang="zh-CN" altLang="zh-CN" sz="1200" dirty="0"/>
              <a:t>网络已经返回注册的</a:t>
            </a:r>
            <a:r>
              <a:rPr lang="en-US" altLang="zh-CN" sz="1200" dirty="0"/>
              <a:t>200ok</a:t>
            </a:r>
            <a:r>
              <a:rPr lang="zh-CN" altLang="zh-CN" sz="1200" dirty="0"/>
              <a:t>消息，也就是终端在上次刷新注册后</a:t>
            </a:r>
            <a:r>
              <a:rPr lang="en-US" altLang="zh-CN" sz="1200" dirty="0"/>
              <a:t>50</a:t>
            </a:r>
            <a:r>
              <a:rPr lang="zh-CN" altLang="zh-CN" sz="1200" dirty="0"/>
              <a:t>分已经重新发起刷新注册，</a:t>
            </a:r>
            <a:r>
              <a:rPr lang="en-US" altLang="zh-CN" sz="1200" dirty="0"/>
              <a:t>IMS</a:t>
            </a:r>
            <a:r>
              <a:rPr lang="zh-CN" altLang="zh-CN" sz="1200" dirty="0"/>
              <a:t>网络正常不应该删除该用户的注册信息，终端重新刷新注册时间如下图：</a:t>
            </a:r>
          </a:p>
          <a:p>
            <a:endParaRPr lang="zh-CN" altLang="en-US" sz="1200" dirty="0"/>
          </a:p>
        </p:txBody>
      </p:sp>
      <p:pic>
        <p:nvPicPr>
          <p:cNvPr id="9" name="图片 8"/>
          <p:cNvPicPr/>
          <p:nvPr/>
        </p:nvPicPr>
        <p:blipFill>
          <a:blip r:embed="rId3" cstate="print"/>
          <a:srcRect/>
          <a:stretch>
            <a:fillRect/>
          </a:stretch>
        </p:blipFill>
        <p:spPr bwMode="auto">
          <a:xfrm>
            <a:off x="4626745" y="2485444"/>
            <a:ext cx="5421802" cy="1509451"/>
          </a:xfrm>
          <a:prstGeom prst="rect">
            <a:avLst/>
          </a:prstGeom>
          <a:noFill/>
          <a:ln w="9525">
            <a:noFill/>
            <a:miter lim="800000"/>
            <a:headEnd/>
            <a:tailEnd/>
          </a:ln>
        </p:spPr>
      </p:pic>
      <p:sp>
        <p:nvSpPr>
          <p:cNvPr id="10" name="TextBox 9"/>
          <p:cNvSpPr txBox="1"/>
          <p:nvPr/>
        </p:nvSpPr>
        <p:spPr>
          <a:xfrm>
            <a:off x="282262" y="4037286"/>
            <a:ext cx="9293032" cy="461665"/>
          </a:xfrm>
          <a:prstGeom prst="rect">
            <a:avLst/>
          </a:prstGeom>
          <a:noFill/>
        </p:spPr>
        <p:txBody>
          <a:bodyPr wrap="square" lIns="91431" tIns="45715" rIns="91431" bIns="45715" rtlCol="0">
            <a:spAutoFit/>
          </a:bodyPr>
          <a:lstStyle/>
          <a:p>
            <a:r>
              <a:rPr lang="zh-CN" altLang="zh-CN" sz="1200" dirty="0"/>
              <a:t>问题基本确认是</a:t>
            </a:r>
            <a:r>
              <a:rPr lang="en-US" altLang="zh-CN" sz="1200" dirty="0"/>
              <a:t>IMS</a:t>
            </a:r>
            <a:r>
              <a:rPr lang="zh-CN" altLang="zh-CN" sz="1200" dirty="0"/>
              <a:t>侧网络问题导致注册失效，经过检查</a:t>
            </a:r>
            <a:r>
              <a:rPr lang="en-US" altLang="zh-CN" sz="1200" dirty="0"/>
              <a:t>SBC</a:t>
            </a:r>
            <a:r>
              <a:rPr lang="zh-CN" altLang="zh-CN" sz="1200" dirty="0"/>
              <a:t>的配置发现</a:t>
            </a:r>
            <a:r>
              <a:rPr lang="en-US" altLang="zh-CN" sz="1200" dirty="0"/>
              <a:t>SBC</a:t>
            </a:r>
            <a:r>
              <a:rPr lang="zh-CN" altLang="zh-CN" sz="1200" dirty="0"/>
              <a:t>配置了一个定时器时间不正确，这个配置导致</a:t>
            </a:r>
            <a:r>
              <a:rPr lang="en-US" altLang="zh-CN" sz="1200" dirty="0"/>
              <a:t>SBC</a:t>
            </a:r>
            <a:r>
              <a:rPr lang="zh-CN" altLang="zh-CN" sz="1200" dirty="0"/>
              <a:t>在收到终端的刷新注册消息时拦截掉而不会转发给网络侧，由于这个配置导致了</a:t>
            </a:r>
            <a:r>
              <a:rPr lang="en-US" altLang="zh-CN" sz="1200" dirty="0"/>
              <a:t>SBC</a:t>
            </a:r>
            <a:r>
              <a:rPr lang="zh-CN" altLang="zh-CN" sz="1200" dirty="0"/>
              <a:t>和</a:t>
            </a:r>
            <a:r>
              <a:rPr lang="en-US" altLang="zh-CN" sz="1200" dirty="0"/>
              <a:t>CSCF</a:t>
            </a:r>
            <a:r>
              <a:rPr lang="zh-CN" altLang="zh-CN" sz="1200" dirty="0"/>
              <a:t>网元在用户注册流程上配合失误把用户从网络侧误踢掉</a:t>
            </a:r>
            <a:r>
              <a:rPr lang="zh-CN" altLang="zh-CN" sz="1200" dirty="0" smtClean="0"/>
              <a:t>。</a:t>
            </a:r>
            <a:endParaRPr lang="zh-CN" altLang="en-US" sz="1200" dirty="0"/>
          </a:p>
        </p:txBody>
      </p:sp>
      <p:sp>
        <p:nvSpPr>
          <p:cNvPr id="11" name="矩形 10"/>
          <p:cNvSpPr/>
          <p:nvPr/>
        </p:nvSpPr>
        <p:spPr>
          <a:xfrm>
            <a:off x="59950" y="4454243"/>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solidFill>
                  <a:prstClr val="black"/>
                </a:solidFill>
                <a:latin typeface="宋体" panose="02010600030101010101" pitchFamily="2" charset="-122"/>
              </a:rPr>
              <a:t>处理方法</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12" name="TextBox 11"/>
          <p:cNvSpPr txBox="1"/>
          <p:nvPr/>
        </p:nvSpPr>
        <p:spPr>
          <a:xfrm>
            <a:off x="327930" y="4805708"/>
            <a:ext cx="7676853" cy="461665"/>
          </a:xfrm>
          <a:prstGeom prst="rect">
            <a:avLst/>
          </a:prstGeom>
          <a:noFill/>
        </p:spPr>
        <p:txBody>
          <a:bodyPr wrap="square" lIns="91431" tIns="45715" rIns="91431" bIns="45715" rtlCol="0">
            <a:spAutoFit/>
          </a:bodyPr>
          <a:lstStyle/>
          <a:p>
            <a:r>
              <a:rPr lang="zh-CN" altLang="zh-CN" sz="1200" dirty="0"/>
              <a:t>更改</a:t>
            </a:r>
            <a:r>
              <a:rPr lang="en-US" altLang="zh-CN" sz="1200" dirty="0"/>
              <a:t>SBC</a:t>
            </a:r>
            <a:r>
              <a:rPr lang="zh-CN" altLang="zh-CN" sz="1200" dirty="0"/>
              <a:t>的定时器配置，具体配置项为</a:t>
            </a:r>
            <a:r>
              <a:rPr lang="en-US" altLang="zh-CN" sz="1200" dirty="0" err="1"/>
              <a:t>termail</a:t>
            </a:r>
            <a:r>
              <a:rPr lang="en-US" altLang="zh-CN" sz="1200" dirty="0"/>
              <a:t> expire interval time</a:t>
            </a:r>
            <a:endParaRPr lang="zh-CN" altLang="zh-CN" sz="1200" dirty="0"/>
          </a:p>
          <a:p>
            <a:endParaRPr lang="zh-CN" altLang="en-US" sz="1200" dirty="0"/>
          </a:p>
        </p:txBody>
      </p:sp>
      <p:sp>
        <p:nvSpPr>
          <p:cNvPr id="13" name="TextBox 12"/>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15</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菏泽 </a:t>
            </a:r>
            <a:r>
              <a:rPr lang="en-US" altLang="zh-CN" sz="2400" b="1" dirty="0" smtClean="0">
                <a:solidFill>
                  <a:schemeClr val="bg1"/>
                </a:solidFill>
                <a:latin typeface="+mn-ea"/>
              </a:rPr>
              <a:t>VOLTE</a:t>
            </a:r>
            <a:r>
              <a:rPr lang="zh-CN" altLang="en-US" sz="2400" b="1" dirty="0" smtClean="0">
                <a:solidFill>
                  <a:schemeClr val="bg1"/>
                </a:solidFill>
                <a:latin typeface="+mn-ea"/>
              </a:rPr>
              <a:t>用户拨打无法接通，</a:t>
            </a:r>
            <a:r>
              <a:rPr lang="en-US" altLang="zh-CN" sz="2400" b="1" dirty="0" smtClean="0">
                <a:solidFill>
                  <a:schemeClr val="bg1"/>
                </a:solidFill>
                <a:latin typeface="+mn-ea"/>
              </a:rPr>
              <a:t>IMS</a:t>
            </a:r>
            <a:r>
              <a:rPr lang="zh-CN" altLang="en-US" sz="2400" b="1" dirty="0" smtClean="0">
                <a:solidFill>
                  <a:schemeClr val="bg1"/>
                </a:solidFill>
                <a:latin typeface="+mn-ea"/>
              </a:rPr>
              <a:t>返回</a:t>
            </a:r>
            <a:r>
              <a:rPr lang="en-US" altLang="zh-CN" sz="2400" b="1" dirty="0" smtClean="0">
                <a:solidFill>
                  <a:schemeClr val="bg1"/>
                </a:solidFill>
                <a:latin typeface="+mn-ea"/>
              </a:rPr>
              <a:t>404</a:t>
            </a:r>
            <a:r>
              <a:rPr lang="zh-CN" altLang="en-US" sz="2400" b="1" dirty="0" smtClean="0">
                <a:solidFill>
                  <a:schemeClr val="bg1"/>
                </a:solidFill>
                <a:latin typeface="+mn-ea"/>
              </a:rPr>
              <a:t>案例</a:t>
            </a:r>
          </a:p>
        </p:txBody>
      </p:sp>
    </p:spTree>
    <p:extLst>
      <p:ext uri="{BB962C8B-B14F-4D97-AF65-F5344CB8AC3E}">
        <p14:creationId xmlns:p14="http://schemas.microsoft.com/office/powerpoint/2010/main" xmlns="" val="2088226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885" y="601850"/>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a:t>
            </a:r>
            <a:r>
              <a:rPr lang="zh-CN" altLang="en-US" b="1" dirty="0"/>
              <a:t>问题描述</a:t>
            </a:r>
            <a:r>
              <a:rPr lang="zh-CN" altLang="zh-CN" b="1" dirty="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4" name="TextBox 3"/>
          <p:cNvSpPr txBox="1"/>
          <p:nvPr/>
        </p:nvSpPr>
        <p:spPr>
          <a:xfrm>
            <a:off x="443880" y="1055235"/>
            <a:ext cx="4175019" cy="1200329"/>
          </a:xfrm>
          <a:prstGeom prst="rect">
            <a:avLst/>
          </a:prstGeom>
          <a:noFill/>
        </p:spPr>
        <p:txBody>
          <a:bodyPr wrap="square" lIns="91431" tIns="45715" rIns="91431" bIns="45715" rtlCol="0">
            <a:spAutoFit/>
          </a:bodyPr>
          <a:lstStyle/>
          <a:p>
            <a:r>
              <a:rPr lang="zh-CN" altLang="zh-CN" sz="1200" dirty="0" smtClean="0"/>
              <a:t>进行</a:t>
            </a:r>
            <a:r>
              <a:rPr lang="zh-CN" altLang="en-US" sz="1200" dirty="0" smtClean="0"/>
              <a:t>泰安</a:t>
            </a:r>
            <a:r>
              <a:rPr lang="zh-CN" altLang="zh-CN" sz="1200" dirty="0" smtClean="0"/>
              <a:t>网格</a:t>
            </a:r>
            <a:r>
              <a:rPr lang="en-US" altLang="zh-CN" sz="1200" dirty="0"/>
              <a:t>6</a:t>
            </a:r>
            <a:r>
              <a:rPr lang="zh-CN" altLang="zh-CN" sz="1200" dirty="0"/>
              <a:t>的</a:t>
            </a:r>
            <a:r>
              <a:rPr lang="en-US" altLang="zh-CN" sz="1200" dirty="0" err="1"/>
              <a:t>VoLTE</a:t>
            </a:r>
            <a:r>
              <a:rPr lang="zh-CN" altLang="zh-CN" sz="1200" dirty="0"/>
              <a:t>拉网测试时，在利民小区东附近，主叫</a:t>
            </a:r>
            <a:r>
              <a:rPr lang="en-US" altLang="zh-CN" sz="1200" dirty="0"/>
              <a:t>UE</a:t>
            </a:r>
            <a:r>
              <a:rPr lang="zh-CN" altLang="zh-CN" sz="1200" dirty="0"/>
              <a:t>在</a:t>
            </a:r>
            <a:r>
              <a:rPr lang="en-US" altLang="zh-CN" sz="1200" dirty="0" err="1"/>
              <a:t>VoLTE</a:t>
            </a:r>
            <a:r>
              <a:rPr lang="zh-CN" altLang="zh-CN" sz="1200" dirty="0"/>
              <a:t>呼叫建立阶段，因</a:t>
            </a:r>
            <a:r>
              <a:rPr lang="en-US" altLang="zh-CN" sz="1200" dirty="0"/>
              <a:t>503</a:t>
            </a:r>
            <a:r>
              <a:rPr lang="zh-CN" altLang="zh-CN" sz="1200" dirty="0"/>
              <a:t>错误导致</a:t>
            </a:r>
            <a:r>
              <a:rPr lang="en-US" altLang="zh-CN" sz="1200" dirty="0"/>
              <a:t>SIP</a:t>
            </a:r>
            <a:r>
              <a:rPr lang="zh-CN" altLang="zh-CN" sz="1200" dirty="0"/>
              <a:t>流程失败，近而转</a:t>
            </a:r>
            <a:r>
              <a:rPr lang="en-US" altLang="zh-CN" sz="1200" dirty="0"/>
              <a:t>CSFB</a:t>
            </a:r>
            <a:r>
              <a:rPr lang="zh-CN" altLang="zh-CN" sz="1200" dirty="0"/>
              <a:t>进行呼叫建立，造成呼叫建立时延较大。如下图主叫</a:t>
            </a:r>
            <a:r>
              <a:rPr lang="en-US" altLang="zh-CN" sz="1200" dirty="0"/>
              <a:t>UE</a:t>
            </a:r>
            <a:r>
              <a:rPr lang="zh-CN" altLang="zh-CN" sz="1200" dirty="0"/>
              <a:t>的</a:t>
            </a:r>
            <a:r>
              <a:rPr lang="en-US" altLang="zh-CN" sz="1200" dirty="0"/>
              <a:t>SINR</a:t>
            </a:r>
            <a:r>
              <a:rPr lang="zh-CN" altLang="zh-CN" sz="1200" dirty="0"/>
              <a:t>轨迹图所示，发生位置为红色圆圈附近，该位置</a:t>
            </a:r>
            <a:r>
              <a:rPr lang="en-US" altLang="zh-CN" sz="1200" dirty="0"/>
              <a:t>RSRP</a:t>
            </a:r>
            <a:r>
              <a:rPr lang="zh-CN" altLang="zh-CN" sz="1200" dirty="0"/>
              <a:t>和</a:t>
            </a:r>
            <a:r>
              <a:rPr lang="en-US" altLang="zh-CN" sz="1200" dirty="0"/>
              <a:t>SINR</a:t>
            </a:r>
            <a:r>
              <a:rPr lang="zh-CN" altLang="zh-CN" sz="1200" dirty="0"/>
              <a:t>均能满足正常的呼叫条件。</a:t>
            </a:r>
          </a:p>
          <a:p>
            <a:endParaRPr lang="zh-CN" altLang="en-US" sz="1200" dirty="0"/>
          </a:p>
        </p:txBody>
      </p:sp>
      <p:pic>
        <p:nvPicPr>
          <p:cNvPr id="5" name="图片 4"/>
          <p:cNvPicPr/>
          <p:nvPr/>
        </p:nvPicPr>
        <p:blipFill>
          <a:blip r:embed="rId2" cstate="print"/>
          <a:stretch>
            <a:fillRect/>
          </a:stretch>
        </p:blipFill>
        <p:spPr>
          <a:xfrm>
            <a:off x="522289" y="2194694"/>
            <a:ext cx="4090801" cy="2853099"/>
          </a:xfrm>
          <a:prstGeom prst="rect">
            <a:avLst/>
          </a:prstGeom>
          <a:ln>
            <a:solidFill>
              <a:schemeClr val="accent1"/>
            </a:solidFill>
          </a:ln>
        </p:spPr>
      </p:pic>
      <p:sp>
        <p:nvSpPr>
          <p:cNvPr id="6" name="TextBox 5"/>
          <p:cNvSpPr txBox="1"/>
          <p:nvPr/>
        </p:nvSpPr>
        <p:spPr>
          <a:xfrm>
            <a:off x="5477243" y="4568958"/>
            <a:ext cx="461647" cy="340038"/>
          </a:xfrm>
          <a:prstGeom prst="rect">
            <a:avLst/>
          </a:prstGeom>
          <a:noFill/>
        </p:spPr>
        <p:txBody>
          <a:bodyPr vert="eaVert" wrap="square" lIns="91431" tIns="45715" rIns="91431" bIns="45715" rtlCol="0">
            <a:spAutoFit/>
          </a:bodyPr>
          <a:lstStyle/>
          <a:p>
            <a:endParaRPr lang="zh-CN" altLang="en-US" dirty="0"/>
          </a:p>
        </p:txBody>
      </p:sp>
      <p:sp>
        <p:nvSpPr>
          <p:cNvPr id="7" name="TextBox 6"/>
          <p:cNvSpPr txBox="1"/>
          <p:nvPr/>
        </p:nvSpPr>
        <p:spPr>
          <a:xfrm>
            <a:off x="1026160" y="4342268"/>
            <a:ext cx="6852146" cy="276999"/>
          </a:xfrm>
          <a:prstGeom prst="rect">
            <a:avLst/>
          </a:prstGeom>
          <a:noFill/>
        </p:spPr>
        <p:txBody>
          <a:bodyPr wrap="square" lIns="91431" tIns="45715" rIns="91431" bIns="45715" rtlCol="0">
            <a:spAutoFit/>
          </a:bodyPr>
          <a:lstStyle/>
          <a:p>
            <a:endParaRPr lang="zh-CN" altLang="en-US" sz="1200" dirty="0"/>
          </a:p>
        </p:txBody>
      </p:sp>
      <p:grpSp>
        <p:nvGrpSpPr>
          <p:cNvPr id="8" name="画布 39"/>
          <p:cNvGrpSpPr/>
          <p:nvPr/>
        </p:nvGrpSpPr>
        <p:grpSpPr>
          <a:xfrm>
            <a:off x="5058792" y="1033171"/>
            <a:ext cx="5040560" cy="4045845"/>
            <a:chOff x="0" y="0"/>
            <a:chExt cx="4304030" cy="6519545"/>
          </a:xfrm>
        </p:grpSpPr>
        <p:sp>
          <p:nvSpPr>
            <p:cNvPr id="9" name="矩形 8"/>
            <p:cNvSpPr/>
            <p:nvPr/>
          </p:nvSpPr>
          <p:spPr>
            <a:xfrm>
              <a:off x="0" y="0"/>
              <a:ext cx="4304030" cy="6519545"/>
            </a:xfrm>
            <a:prstGeom prst="rect">
              <a:avLst/>
            </a:prstGeom>
            <a:noFill/>
            <a:ln w="9525" cap="flat" cmpd="sng" algn="ctr">
              <a:solidFill>
                <a:srgbClr val="000000"/>
              </a:solidFill>
              <a:prstDash val="solid"/>
              <a:miter lim="800000"/>
              <a:headEnd type="none" w="med" len="med"/>
              <a:tailEnd type="none" w="med" len="med"/>
            </a:ln>
          </p:spPr>
        </p:sp>
        <p:grpSp>
          <p:nvGrpSpPr>
            <p:cNvPr id="10" name="Group 4"/>
            <p:cNvGrpSpPr>
              <a:grpSpLocks/>
            </p:cNvGrpSpPr>
            <p:nvPr/>
          </p:nvGrpSpPr>
          <p:grpSpPr bwMode="auto">
            <a:xfrm>
              <a:off x="322040" y="228441"/>
              <a:ext cx="3878268" cy="6062672"/>
              <a:chOff x="4495" y="5861"/>
              <a:chExt cx="3442" cy="8360"/>
            </a:xfrm>
          </p:grpSpPr>
          <p:sp>
            <p:nvSpPr>
              <p:cNvPr id="11" name="AutoShape 5"/>
              <p:cNvSpPr>
                <a:spLocks noChangeArrowheads="1"/>
              </p:cNvSpPr>
              <p:nvPr/>
            </p:nvSpPr>
            <p:spPr bwMode="auto">
              <a:xfrm>
                <a:off x="4727" y="5861"/>
                <a:ext cx="2159" cy="689"/>
              </a:xfrm>
              <a:prstGeom prst="roundRect">
                <a:avLst>
                  <a:gd name="adj" fmla="val 16667"/>
                </a:avLst>
              </a:prstGeom>
              <a:solidFill>
                <a:srgbClr val="FFFFFF"/>
              </a:solidFill>
              <a:ln w="9525">
                <a:solidFill>
                  <a:srgbClr val="000000"/>
                </a:solidFill>
                <a:round/>
                <a:headEnd/>
                <a:tailEnd/>
              </a:ln>
            </p:spPr>
            <p:txBody>
              <a:bodyPr rot="0" vert="horz" wrap="square" lIns="90415" tIns="45209" rIns="90415" bIns="45209" anchor="ctr" anchorCtr="0" upright="1">
                <a:noAutofit/>
              </a:bodyPr>
              <a:lstStyle/>
              <a:p>
                <a:pPr algn="ctr"/>
                <a:r>
                  <a:rPr lang="en-US" sz="1000" kern="100" dirty="0" err="1">
                    <a:latin typeface="Calibri"/>
                    <a:ea typeface="宋体"/>
                    <a:cs typeface="Times New Roman"/>
                  </a:rPr>
                  <a:t>VoLTE</a:t>
                </a:r>
                <a:r>
                  <a:rPr lang="zh-CN" altLang="en-US" sz="1000" kern="100" dirty="0">
                    <a:latin typeface="Calibri"/>
                    <a:ea typeface="宋体"/>
                    <a:cs typeface="Times New Roman"/>
                  </a:rPr>
                  <a:t>主叫</a:t>
                </a:r>
                <a:r>
                  <a:rPr lang="en-US" sz="1000" kern="100" dirty="0">
                    <a:latin typeface="Calibri"/>
                    <a:ea typeface="宋体"/>
                    <a:cs typeface="Times New Roman"/>
                  </a:rPr>
                  <a:t>SIP</a:t>
                </a:r>
                <a:r>
                  <a:rPr lang="zh-CN" altLang="en-US" sz="1000" kern="100" dirty="0">
                    <a:latin typeface="Calibri"/>
                    <a:ea typeface="宋体"/>
                    <a:cs typeface="Times New Roman"/>
                  </a:rPr>
                  <a:t>失败转</a:t>
                </a:r>
                <a:r>
                  <a:rPr lang="en-US" sz="1000" kern="100" dirty="0">
                    <a:latin typeface="Calibri"/>
                    <a:ea typeface="宋体"/>
                    <a:cs typeface="Times New Roman"/>
                  </a:rPr>
                  <a:t>CSFB</a:t>
                </a:r>
                <a:endParaRPr lang="zh-CN" altLang="en-US" sz="1000" kern="100" dirty="0">
                  <a:latin typeface="Calibri"/>
                  <a:ea typeface="宋体"/>
                  <a:cs typeface="Times New Roman"/>
                </a:endParaRPr>
              </a:p>
            </p:txBody>
          </p:sp>
          <p:sp>
            <p:nvSpPr>
              <p:cNvPr id="12" name="Rectangle 6"/>
              <p:cNvSpPr>
                <a:spLocks noChangeArrowheads="1"/>
              </p:cNvSpPr>
              <p:nvPr/>
            </p:nvSpPr>
            <p:spPr bwMode="auto">
              <a:xfrm>
                <a:off x="4650" y="6869"/>
                <a:ext cx="2302" cy="702"/>
              </a:xfrm>
              <a:prstGeom prst="rect">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可能原因：无线覆盖环境差、后台参数配置错误、核心网和终端</a:t>
                </a:r>
                <a:r>
                  <a:rPr lang="zh-CN" altLang="en-US" sz="1000" kern="100" dirty="0" smtClean="0">
                    <a:latin typeface="Calibri"/>
                    <a:ea typeface="宋体"/>
                    <a:cs typeface="Times New Roman"/>
                  </a:rPr>
                  <a:t>问题、</a:t>
                </a:r>
                <a:r>
                  <a:rPr lang="en-US" sz="1000" kern="100" dirty="0">
                    <a:latin typeface="Calibri"/>
                    <a:ea typeface="宋体"/>
                    <a:cs typeface="Times New Roman"/>
                  </a:rPr>
                  <a:t>UE</a:t>
                </a:r>
                <a:r>
                  <a:rPr lang="zh-CN" altLang="en-US" sz="1000" kern="100" dirty="0">
                    <a:latin typeface="Calibri"/>
                    <a:ea typeface="宋体"/>
                    <a:cs typeface="Times New Roman"/>
                  </a:rPr>
                  <a:t>内部错误、</a:t>
                </a:r>
                <a:r>
                  <a:rPr lang="en-US" sz="1000" kern="100" dirty="0" err="1">
                    <a:latin typeface="Calibri"/>
                    <a:ea typeface="宋体"/>
                    <a:cs typeface="Times New Roman"/>
                  </a:rPr>
                  <a:t>eNB</a:t>
                </a:r>
                <a:r>
                  <a:rPr lang="zh-CN" altLang="en-US" sz="1000" kern="100" dirty="0">
                    <a:latin typeface="Calibri"/>
                    <a:ea typeface="宋体"/>
                    <a:cs typeface="Times New Roman"/>
                  </a:rPr>
                  <a:t>打印异常</a:t>
                </a:r>
              </a:p>
            </p:txBody>
          </p:sp>
          <p:sp>
            <p:nvSpPr>
              <p:cNvPr id="13" name="Rectangle 7"/>
              <p:cNvSpPr>
                <a:spLocks noChangeArrowheads="1"/>
              </p:cNvSpPr>
              <p:nvPr/>
            </p:nvSpPr>
            <p:spPr bwMode="auto">
              <a:xfrm>
                <a:off x="4650" y="7928"/>
                <a:ext cx="2302" cy="351"/>
              </a:xfrm>
              <a:prstGeom prst="rect">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可能原因</a:t>
                </a:r>
                <a:r>
                  <a:rPr lang="en-US" sz="1000" kern="100" dirty="0">
                    <a:latin typeface="Calibri"/>
                    <a:ea typeface="宋体"/>
                    <a:cs typeface="Times New Roman"/>
                  </a:rPr>
                  <a:t>1</a:t>
                </a:r>
                <a:r>
                  <a:rPr lang="zh-CN" altLang="en-US" sz="1000" kern="100" dirty="0">
                    <a:latin typeface="Calibri"/>
                    <a:ea typeface="宋体"/>
                    <a:cs typeface="Times New Roman"/>
                  </a:rPr>
                  <a:t>：无线覆盖环境差？</a:t>
                </a:r>
              </a:p>
            </p:txBody>
          </p:sp>
          <p:sp>
            <p:nvSpPr>
              <p:cNvPr id="14" name="AutoShape 8"/>
              <p:cNvSpPr>
                <a:spLocks noChangeArrowheads="1"/>
              </p:cNvSpPr>
              <p:nvPr/>
            </p:nvSpPr>
            <p:spPr bwMode="auto">
              <a:xfrm>
                <a:off x="4507" y="8559"/>
                <a:ext cx="2548" cy="690"/>
              </a:xfrm>
              <a:prstGeom prst="flowChartDecision">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是否为该原因？</a:t>
                </a:r>
              </a:p>
            </p:txBody>
          </p:sp>
          <p:sp>
            <p:nvSpPr>
              <p:cNvPr id="15" name="AutoShape 9"/>
              <p:cNvSpPr>
                <a:spLocks noChangeArrowheads="1"/>
              </p:cNvSpPr>
              <p:nvPr/>
            </p:nvSpPr>
            <p:spPr bwMode="auto">
              <a:xfrm>
                <a:off x="4495" y="10359"/>
                <a:ext cx="2560" cy="690"/>
              </a:xfrm>
              <a:prstGeom prst="flowChartDecision">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是否为该原因？</a:t>
                </a:r>
              </a:p>
            </p:txBody>
          </p:sp>
          <p:sp>
            <p:nvSpPr>
              <p:cNvPr id="16" name="Rectangle 10"/>
              <p:cNvSpPr>
                <a:spLocks noChangeArrowheads="1"/>
              </p:cNvSpPr>
              <p:nvPr/>
            </p:nvSpPr>
            <p:spPr bwMode="auto">
              <a:xfrm>
                <a:off x="4650" y="9670"/>
                <a:ext cx="2302" cy="351"/>
              </a:xfrm>
              <a:prstGeom prst="rect">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可能原因</a:t>
                </a:r>
                <a:r>
                  <a:rPr lang="en-US" sz="1000" kern="100" dirty="0">
                    <a:latin typeface="Calibri"/>
                    <a:ea typeface="宋体"/>
                    <a:cs typeface="Times New Roman"/>
                  </a:rPr>
                  <a:t>2</a:t>
                </a:r>
                <a:r>
                  <a:rPr lang="zh-CN" altLang="en-US" sz="1000" kern="100" dirty="0">
                    <a:latin typeface="Calibri"/>
                    <a:ea typeface="宋体"/>
                    <a:cs typeface="Times New Roman"/>
                  </a:rPr>
                  <a:t>：后台参数配置</a:t>
                </a:r>
                <a:r>
                  <a:rPr lang="zh-CN" altLang="en-US" sz="1000" kern="100" dirty="0" smtClean="0">
                    <a:latin typeface="Calibri"/>
                    <a:ea typeface="宋体"/>
                    <a:cs typeface="Times New Roman"/>
                  </a:rPr>
                  <a:t>错误</a:t>
                </a:r>
                <a:endParaRPr lang="zh-CN" altLang="en-US" sz="1000" kern="100" dirty="0">
                  <a:latin typeface="Calibri"/>
                  <a:ea typeface="宋体"/>
                  <a:cs typeface="Times New Roman"/>
                </a:endParaRPr>
              </a:p>
            </p:txBody>
          </p:sp>
          <p:sp>
            <p:nvSpPr>
              <p:cNvPr id="17" name="Rectangle 11"/>
              <p:cNvSpPr>
                <a:spLocks noChangeArrowheads="1"/>
              </p:cNvSpPr>
              <p:nvPr/>
            </p:nvSpPr>
            <p:spPr bwMode="auto">
              <a:xfrm>
                <a:off x="4650" y="11453"/>
                <a:ext cx="2302" cy="351"/>
              </a:xfrm>
              <a:prstGeom prst="rect">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提供解决方案或整改建议</a:t>
                </a:r>
              </a:p>
            </p:txBody>
          </p:sp>
          <p:sp>
            <p:nvSpPr>
              <p:cNvPr id="18" name="AutoShape 12"/>
              <p:cNvSpPr>
                <a:spLocks noChangeArrowheads="1"/>
              </p:cNvSpPr>
              <p:nvPr/>
            </p:nvSpPr>
            <p:spPr bwMode="auto">
              <a:xfrm>
                <a:off x="4598" y="12141"/>
                <a:ext cx="2457" cy="690"/>
              </a:xfrm>
              <a:prstGeom prst="flowChartDecision">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已经消除</a:t>
                </a:r>
              </a:p>
            </p:txBody>
          </p:sp>
          <p:sp>
            <p:nvSpPr>
              <p:cNvPr id="19" name="Rectangle 13"/>
              <p:cNvSpPr>
                <a:spLocks noChangeArrowheads="1"/>
              </p:cNvSpPr>
              <p:nvPr/>
            </p:nvSpPr>
            <p:spPr bwMode="auto">
              <a:xfrm>
                <a:off x="4650" y="13087"/>
                <a:ext cx="2302" cy="351"/>
              </a:xfrm>
              <a:prstGeom prst="rect">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经验总结</a:t>
                </a:r>
              </a:p>
            </p:txBody>
          </p:sp>
          <p:sp>
            <p:nvSpPr>
              <p:cNvPr id="20" name="AutoShape 14"/>
              <p:cNvSpPr>
                <a:spLocks noChangeArrowheads="1"/>
              </p:cNvSpPr>
              <p:nvPr/>
            </p:nvSpPr>
            <p:spPr bwMode="auto">
              <a:xfrm>
                <a:off x="4727" y="13766"/>
                <a:ext cx="2211" cy="455"/>
              </a:xfrm>
              <a:prstGeom prst="flowChartAlternateProcess">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结束</a:t>
                </a:r>
              </a:p>
            </p:txBody>
          </p:sp>
          <p:cxnSp>
            <p:nvCxnSpPr>
              <p:cNvPr id="21" name="AutoShape 15"/>
              <p:cNvCxnSpPr>
                <a:cxnSpLocks noChangeShapeType="1"/>
                <a:stCxn id="11" idx="2"/>
                <a:endCxn id="12" idx="0"/>
              </p:cNvCxnSpPr>
              <p:nvPr/>
            </p:nvCxnSpPr>
            <p:spPr bwMode="auto">
              <a:xfrm flipH="1">
                <a:off x="5802" y="6550"/>
                <a:ext cx="5" cy="3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22" name="AutoShape 16"/>
              <p:cNvCxnSpPr>
                <a:cxnSpLocks noChangeShapeType="1"/>
              </p:cNvCxnSpPr>
              <p:nvPr/>
            </p:nvCxnSpPr>
            <p:spPr bwMode="auto">
              <a:xfrm flipH="1">
                <a:off x="5797" y="7571"/>
                <a:ext cx="5" cy="3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23" name="AutoShape 17"/>
              <p:cNvCxnSpPr>
                <a:cxnSpLocks noChangeShapeType="1"/>
              </p:cNvCxnSpPr>
              <p:nvPr/>
            </p:nvCxnSpPr>
            <p:spPr bwMode="auto">
              <a:xfrm flipH="1">
                <a:off x="5797" y="8240"/>
                <a:ext cx="5" cy="3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24" name="AutoShape 18"/>
              <p:cNvCxnSpPr>
                <a:cxnSpLocks noChangeShapeType="1"/>
                <a:endCxn id="16" idx="0"/>
              </p:cNvCxnSpPr>
              <p:nvPr/>
            </p:nvCxnSpPr>
            <p:spPr bwMode="auto">
              <a:xfrm>
                <a:off x="5797" y="9249"/>
                <a:ext cx="5" cy="42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25" name="AutoShape 19"/>
              <p:cNvCxnSpPr>
                <a:cxnSpLocks noChangeShapeType="1"/>
              </p:cNvCxnSpPr>
              <p:nvPr/>
            </p:nvCxnSpPr>
            <p:spPr bwMode="auto">
              <a:xfrm flipH="1">
                <a:off x="5789" y="10021"/>
                <a:ext cx="4" cy="3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26" name="AutoShape 20"/>
              <p:cNvCxnSpPr>
                <a:cxnSpLocks noChangeShapeType="1"/>
              </p:cNvCxnSpPr>
              <p:nvPr/>
            </p:nvCxnSpPr>
            <p:spPr bwMode="auto">
              <a:xfrm>
                <a:off x="5789" y="11049"/>
                <a:ext cx="1" cy="40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27" name="AutoShape 21"/>
              <p:cNvCxnSpPr>
                <a:cxnSpLocks noChangeShapeType="1"/>
              </p:cNvCxnSpPr>
              <p:nvPr/>
            </p:nvCxnSpPr>
            <p:spPr bwMode="auto">
              <a:xfrm flipH="1">
                <a:off x="5784" y="11804"/>
                <a:ext cx="5" cy="32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28" name="AutoShape 22"/>
              <p:cNvCxnSpPr>
                <a:cxnSpLocks noChangeShapeType="1"/>
                <a:stCxn id="18" idx="2"/>
              </p:cNvCxnSpPr>
              <p:nvPr/>
            </p:nvCxnSpPr>
            <p:spPr bwMode="auto">
              <a:xfrm flipH="1">
                <a:off x="5784" y="12831"/>
                <a:ext cx="42" cy="25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29" name="AutoShape 23"/>
              <p:cNvCxnSpPr>
                <a:cxnSpLocks noChangeShapeType="1"/>
              </p:cNvCxnSpPr>
              <p:nvPr/>
            </p:nvCxnSpPr>
            <p:spPr bwMode="auto">
              <a:xfrm flipH="1">
                <a:off x="5784" y="13438"/>
                <a:ext cx="5" cy="32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30" name="AutoShape 24"/>
              <p:cNvCxnSpPr>
                <a:cxnSpLocks noChangeShapeType="1"/>
              </p:cNvCxnSpPr>
              <p:nvPr/>
            </p:nvCxnSpPr>
            <p:spPr bwMode="auto">
              <a:xfrm>
                <a:off x="7936" y="8879"/>
                <a:ext cx="1" cy="243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31" name="AutoShape 25"/>
              <p:cNvCxnSpPr>
                <a:cxnSpLocks noChangeShapeType="1"/>
                <a:stCxn id="14" idx="3"/>
              </p:cNvCxnSpPr>
              <p:nvPr/>
            </p:nvCxnSpPr>
            <p:spPr bwMode="auto">
              <a:xfrm flipV="1">
                <a:off x="7055" y="8879"/>
                <a:ext cx="881" cy="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32" name="AutoShape 26"/>
              <p:cNvCxnSpPr>
                <a:cxnSpLocks noChangeShapeType="1"/>
                <a:stCxn id="15" idx="3"/>
              </p:cNvCxnSpPr>
              <p:nvPr/>
            </p:nvCxnSpPr>
            <p:spPr bwMode="auto">
              <a:xfrm>
                <a:off x="7055" y="10704"/>
                <a:ext cx="881"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33" name="AutoShape 27"/>
              <p:cNvCxnSpPr>
                <a:cxnSpLocks noChangeShapeType="1"/>
              </p:cNvCxnSpPr>
              <p:nvPr/>
            </p:nvCxnSpPr>
            <p:spPr bwMode="auto">
              <a:xfrm flipH="1">
                <a:off x="5826" y="11309"/>
                <a:ext cx="211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sp>
            <p:nvSpPr>
              <p:cNvPr id="34" name="Rectangle 28"/>
              <p:cNvSpPr>
                <a:spLocks noChangeArrowheads="1"/>
              </p:cNvSpPr>
              <p:nvPr/>
            </p:nvSpPr>
            <p:spPr bwMode="auto">
              <a:xfrm>
                <a:off x="7253" y="8510"/>
                <a:ext cx="329" cy="369"/>
              </a:xfrm>
              <a:prstGeom prst="rect">
                <a:avLst/>
              </a:prstGeom>
              <a:solidFill>
                <a:srgbClr val="FFFFFF">
                  <a:alpha val="0"/>
                </a:srgbClr>
              </a:solidFill>
              <a:ln w="9525">
                <a:solidFill>
                  <a:srgbClr val="FFFFFF"/>
                </a:solidFill>
                <a:miter lim="800000"/>
                <a:headEnd/>
                <a:tailEnd/>
              </a:ln>
            </p:spPr>
            <p:txBody>
              <a:bodyPr rot="0" vert="horz" wrap="square" lIns="91440" tIns="45720" rIns="91440" bIns="45720" anchor="ctr" anchorCtr="0" upright="1">
                <a:noAutofit/>
              </a:bodyPr>
              <a:lstStyle/>
              <a:p>
                <a:pPr algn="just"/>
                <a:r>
                  <a:rPr lang="en-US" sz="1000" kern="100" dirty="0">
                    <a:latin typeface="Calibri"/>
                    <a:ea typeface="宋体"/>
                    <a:cs typeface="Times New Roman"/>
                  </a:rPr>
                  <a:t>Y</a:t>
                </a:r>
                <a:endParaRPr lang="zh-CN" altLang="en-US" sz="1000" kern="100" dirty="0">
                  <a:latin typeface="Calibri"/>
                  <a:ea typeface="宋体"/>
                  <a:cs typeface="Times New Roman"/>
                </a:endParaRPr>
              </a:p>
            </p:txBody>
          </p:sp>
          <p:cxnSp>
            <p:nvCxnSpPr>
              <p:cNvPr id="35" name="AutoShape 29"/>
              <p:cNvCxnSpPr>
                <a:cxnSpLocks noChangeShapeType="1"/>
                <a:stCxn id="18" idx="1"/>
              </p:cNvCxnSpPr>
              <p:nvPr/>
            </p:nvCxnSpPr>
            <p:spPr bwMode="auto">
              <a:xfrm rot="10800000" flipH="1">
                <a:off x="4598" y="11309"/>
                <a:ext cx="1186" cy="1177"/>
              </a:xfrm>
              <a:prstGeom prst="bentConnector3">
                <a:avLst>
                  <a:gd name="adj1" fmla="val -26569"/>
                </a:avLst>
              </a:prstGeom>
              <a:noFill/>
              <a:ln w="9525">
                <a:solidFill>
                  <a:srgbClr val="000000"/>
                </a:solidFill>
                <a:miter lim="800000"/>
                <a:headEnd/>
                <a:tailEnd type="triangle" w="med" len="med"/>
              </a:ln>
              <a:extLst>
                <a:ext uri="{909E8E84-426E-40DD-AFC4-6F175D3DCCD1}">
                  <a14:hiddenFill xmlns:a14="http://schemas.microsoft.com/office/drawing/2010/main" xmlns="">
                    <a:noFill/>
                  </a14:hiddenFill>
                </a:ext>
              </a:extLst>
            </p:spPr>
          </p:cxnSp>
          <p:sp>
            <p:nvSpPr>
              <p:cNvPr id="36" name="Rectangle 30"/>
              <p:cNvSpPr>
                <a:spLocks noChangeArrowheads="1"/>
              </p:cNvSpPr>
              <p:nvPr/>
            </p:nvSpPr>
            <p:spPr bwMode="auto">
              <a:xfrm flipV="1">
                <a:off x="7253" y="10359"/>
                <a:ext cx="394" cy="502"/>
              </a:xfrm>
              <a:prstGeom prst="rect">
                <a:avLst/>
              </a:prstGeom>
              <a:solidFill>
                <a:srgbClr val="FFFFFF">
                  <a:alpha val="0"/>
                </a:srgbClr>
              </a:solidFill>
              <a:ln w="9525">
                <a:solidFill>
                  <a:srgbClr val="FFFFFF"/>
                </a:solidFill>
                <a:miter lim="800000"/>
                <a:headEnd/>
                <a:tailEnd/>
              </a:ln>
            </p:spPr>
            <p:txBody>
              <a:bodyPr rot="0" vert="horz" wrap="square" lIns="91440" tIns="45720" rIns="91440" bIns="45720" anchor="ctr" anchorCtr="0" upright="1">
                <a:noAutofit/>
              </a:bodyPr>
              <a:lstStyle/>
              <a:p>
                <a:pPr algn="just"/>
                <a:r>
                  <a:rPr lang="en-US" sz="1000" kern="100" dirty="0">
                    <a:latin typeface="Calibri"/>
                    <a:ea typeface="宋体"/>
                    <a:cs typeface="Times New Roman"/>
                  </a:rPr>
                  <a:t>Y</a:t>
                </a:r>
                <a:endParaRPr lang="zh-CN" altLang="en-US" sz="1000" kern="100" dirty="0">
                  <a:latin typeface="Calibri"/>
                  <a:ea typeface="宋体"/>
                  <a:cs typeface="Times New Roman"/>
                </a:endParaRPr>
              </a:p>
            </p:txBody>
          </p:sp>
          <p:sp>
            <p:nvSpPr>
              <p:cNvPr id="37" name="Rectangle 31"/>
              <p:cNvSpPr>
                <a:spLocks noChangeArrowheads="1"/>
              </p:cNvSpPr>
              <p:nvPr/>
            </p:nvSpPr>
            <p:spPr bwMode="auto">
              <a:xfrm>
                <a:off x="5826" y="9249"/>
                <a:ext cx="329" cy="369"/>
              </a:xfrm>
              <a:prstGeom prst="rect">
                <a:avLst/>
              </a:prstGeom>
              <a:solidFill>
                <a:srgbClr val="FFFFFF">
                  <a:alpha val="0"/>
                </a:srgbClr>
              </a:solidFill>
              <a:ln w="9525">
                <a:solidFill>
                  <a:srgbClr val="FFFFFF"/>
                </a:solidFill>
                <a:miter lim="800000"/>
                <a:headEnd/>
                <a:tailEnd/>
              </a:ln>
            </p:spPr>
            <p:txBody>
              <a:bodyPr rot="0" vert="horz" wrap="square" lIns="91440" tIns="45720" rIns="91440" bIns="45720" anchor="ctr" anchorCtr="0" upright="1">
                <a:noAutofit/>
              </a:bodyPr>
              <a:lstStyle/>
              <a:p>
                <a:pPr algn="just"/>
                <a:r>
                  <a:rPr lang="en-US" sz="1000" kern="100" dirty="0">
                    <a:latin typeface="Calibri"/>
                    <a:ea typeface="宋体"/>
                    <a:cs typeface="Times New Roman"/>
                  </a:rPr>
                  <a:t>N</a:t>
                </a:r>
                <a:endParaRPr lang="zh-CN" altLang="en-US" sz="1000" kern="100" dirty="0">
                  <a:latin typeface="Calibri"/>
                  <a:ea typeface="宋体"/>
                  <a:cs typeface="Times New Roman"/>
                </a:endParaRPr>
              </a:p>
            </p:txBody>
          </p:sp>
          <p:sp>
            <p:nvSpPr>
              <p:cNvPr id="38" name="Rectangle 32"/>
              <p:cNvSpPr>
                <a:spLocks noChangeArrowheads="1"/>
              </p:cNvSpPr>
              <p:nvPr/>
            </p:nvSpPr>
            <p:spPr bwMode="auto">
              <a:xfrm>
                <a:off x="5901" y="10942"/>
                <a:ext cx="328" cy="368"/>
              </a:xfrm>
              <a:prstGeom prst="rect">
                <a:avLst/>
              </a:prstGeom>
              <a:solidFill>
                <a:srgbClr val="FFFFFF">
                  <a:alpha val="0"/>
                </a:srgbClr>
              </a:solidFill>
              <a:ln w="9525">
                <a:solidFill>
                  <a:srgbClr val="FFFFFF"/>
                </a:solidFill>
                <a:miter lim="800000"/>
                <a:headEnd/>
                <a:tailEnd/>
              </a:ln>
            </p:spPr>
            <p:txBody>
              <a:bodyPr rot="0" vert="horz" wrap="square" lIns="91440" tIns="45720" rIns="91440" bIns="45720" anchor="ctr" anchorCtr="0" upright="1">
                <a:noAutofit/>
              </a:bodyPr>
              <a:lstStyle/>
              <a:p>
                <a:pPr algn="just"/>
                <a:r>
                  <a:rPr lang="en-US" sz="1000" kern="100" dirty="0">
                    <a:latin typeface="Calibri"/>
                    <a:ea typeface="宋体"/>
                    <a:cs typeface="Times New Roman"/>
                  </a:rPr>
                  <a:t>N</a:t>
                </a:r>
                <a:endParaRPr lang="zh-CN" altLang="en-US" sz="1000" kern="100" dirty="0">
                  <a:latin typeface="Calibri"/>
                  <a:ea typeface="宋体"/>
                  <a:cs typeface="Times New Roman"/>
                </a:endParaRPr>
              </a:p>
            </p:txBody>
          </p:sp>
          <p:sp>
            <p:nvSpPr>
              <p:cNvPr id="39" name="Rectangle 33"/>
              <p:cNvSpPr>
                <a:spLocks noChangeArrowheads="1"/>
              </p:cNvSpPr>
              <p:nvPr/>
            </p:nvSpPr>
            <p:spPr bwMode="auto">
              <a:xfrm flipV="1">
                <a:off x="5797" y="12753"/>
                <a:ext cx="394" cy="427"/>
              </a:xfrm>
              <a:prstGeom prst="rect">
                <a:avLst/>
              </a:prstGeom>
              <a:solidFill>
                <a:srgbClr val="FFFFFF">
                  <a:alpha val="0"/>
                </a:srgbClr>
              </a:solidFill>
              <a:ln w="9525">
                <a:solidFill>
                  <a:srgbClr val="FFFFFF"/>
                </a:solidFill>
                <a:miter lim="800000"/>
                <a:headEnd/>
                <a:tailEnd/>
              </a:ln>
            </p:spPr>
            <p:txBody>
              <a:bodyPr rot="0" vert="horz" wrap="square" lIns="91440" tIns="45720" rIns="91440" bIns="45720" anchor="ctr" anchorCtr="0" upright="1">
                <a:noAutofit/>
              </a:bodyPr>
              <a:lstStyle/>
              <a:p>
                <a:pPr algn="just"/>
                <a:r>
                  <a:rPr lang="en-US" sz="1000" kern="100" dirty="0">
                    <a:latin typeface="Calibri"/>
                    <a:ea typeface="宋体"/>
                    <a:cs typeface="Times New Roman"/>
                  </a:rPr>
                  <a:t>Y</a:t>
                </a:r>
                <a:endParaRPr lang="zh-CN" altLang="en-US" sz="1000" kern="100" dirty="0">
                  <a:latin typeface="Calibri"/>
                  <a:ea typeface="宋体"/>
                  <a:cs typeface="Times New Roman"/>
                </a:endParaRPr>
              </a:p>
            </p:txBody>
          </p:sp>
        </p:grpSp>
      </p:grpSp>
      <p:sp>
        <p:nvSpPr>
          <p:cNvPr id="40" name="TextBox 39"/>
          <p:cNvSpPr txBox="1"/>
          <p:nvPr/>
        </p:nvSpPr>
        <p:spPr>
          <a:xfrm>
            <a:off x="5058793" y="682527"/>
            <a:ext cx="922136" cy="276999"/>
          </a:xfrm>
          <a:prstGeom prst="rect">
            <a:avLst/>
          </a:prstGeom>
          <a:noFill/>
        </p:spPr>
        <p:txBody>
          <a:bodyPr wrap="square" lIns="91431" tIns="45715" rIns="91431" bIns="45715" rtlCol="0">
            <a:spAutoFit/>
          </a:bodyPr>
          <a:lstStyle/>
          <a:p>
            <a:r>
              <a:rPr lang="zh-CN" altLang="zh-CN" sz="1200" b="1" dirty="0" smtClean="0">
                <a:solidFill>
                  <a:srgbClr val="FF0000"/>
                </a:solidFill>
              </a:rPr>
              <a:t>流程图</a:t>
            </a:r>
            <a:endParaRPr lang="zh-CN" altLang="en-US" sz="1200" dirty="0"/>
          </a:p>
        </p:txBody>
      </p:sp>
      <p:sp>
        <p:nvSpPr>
          <p:cNvPr id="41" name="TextBox 40"/>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16</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泰安 </a:t>
            </a:r>
            <a:r>
              <a:rPr lang="en-US" altLang="zh-CN" sz="2400" b="1" dirty="0" smtClean="0">
                <a:solidFill>
                  <a:schemeClr val="bg1"/>
                </a:solidFill>
                <a:latin typeface="+mn-ea"/>
              </a:rPr>
              <a:t>503</a:t>
            </a:r>
            <a:r>
              <a:rPr lang="zh-CN" altLang="en-US" sz="2400" b="1" dirty="0" smtClean="0">
                <a:solidFill>
                  <a:schemeClr val="bg1"/>
                </a:solidFill>
                <a:latin typeface="+mn-ea"/>
              </a:rPr>
              <a:t>错误导致</a:t>
            </a:r>
            <a:r>
              <a:rPr lang="en-US" altLang="zh-CN" sz="2400" b="1" dirty="0" smtClean="0">
                <a:solidFill>
                  <a:schemeClr val="bg1"/>
                </a:solidFill>
                <a:latin typeface="+mn-ea"/>
              </a:rPr>
              <a:t>SIP</a:t>
            </a:r>
            <a:r>
              <a:rPr lang="zh-CN" altLang="en-US" sz="2400" b="1" dirty="0" smtClean="0">
                <a:solidFill>
                  <a:schemeClr val="bg1"/>
                </a:solidFill>
                <a:latin typeface="+mn-ea"/>
              </a:rPr>
              <a:t>流程失败转</a:t>
            </a:r>
            <a:r>
              <a:rPr lang="en-US" altLang="zh-CN" sz="2400" b="1" dirty="0" smtClean="0">
                <a:solidFill>
                  <a:schemeClr val="bg1"/>
                </a:solidFill>
                <a:latin typeface="+mn-ea"/>
              </a:rPr>
              <a:t>CSFB</a:t>
            </a:r>
            <a:r>
              <a:rPr lang="zh-CN" altLang="en-US" sz="2400" b="1" dirty="0" smtClean="0">
                <a:solidFill>
                  <a:schemeClr val="bg1"/>
                </a:solidFill>
                <a:latin typeface="+mn-ea"/>
              </a:rPr>
              <a:t>流程案例分析</a:t>
            </a:r>
          </a:p>
        </p:txBody>
      </p:sp>
    </p:spTree>
    <p:extLst>
      <p:ext uri="{BB962C8B-B14F-4D97-AF65-F5344CB8AC3E}">
        <p14:creationId xmlns:p14="http://schemas.microsoft.com/office/powerpoint/2010/main" xmlns="" val="3522291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885" y="601850"/>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t>问题分析</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6" name="TextBox 5"/>
          <p:cNvSpPr txBox="1"/>
          <p:nvPr/>
        </p:nvSpPr>
        <p:spPr>
          <a:xfrm>
            <a:off x="5477243" y="4568958"/>
            <a:ext cx="461647" cy="340038"/>
          </a:xfrm>
          <a:prstGeom prst="rect">
            <a:avLst/>
          </a:prstGeom>
          <a:noFill/>
        </p:spPr>
        <p:txBody>
          <a:bodyPr vert="eaVert" wrap="square" lIns="91431" tIns="45715" rIns="91431" bIns="45715" rtlCol="0">
            <a:spAutoFit/>
          </a:bodyPr>
          <a:lstStyle/>
          <a:p>
            <a:endParaRPr lang="zh-CN" altLang="en-US" dirty="0"/>
          </a:p>
        </p:txBody>
      </p:sp>
      <p:sp>
        <p:nvSpPr>
          <p:cNvPr id="41" name="TextBox 40"/>
          <p:cNvSpPr txBox="1"/>
          <p:nvPr/>
        </p:nvSpPr>
        <p:spPr>
          <a:xfrm>
            <a:off x="280180" y="936048"/>
            <a:ext cx="9373841" cy="830997"/>
          </a:xfrm>
          <a:prstGeom prst="rect">
            <a:avLst/>
          </a:prstGeom>
          <a:noFill/>
        </p:spPr>
        <p:txBody>
          <a:bodyPr wrap="square" lIns="91431" tIns="45715" rIns="91431" bIns="45715" rtlCol="0">
            <a:spAutoFit/>
          </a:bodyPr>
          <a:lstStyle/>
          <a:p>
            <a:r>
              <a:rPr lang="en-US" altLang="zh-CN" sz="1200" dirty="0" err="1"/>
              <a:t>VoLTE</a:t>
            </a:r>
            <a:r>
              <a:rPr lang="zh-CN" altLang="zh-CN" sz="1200" dirty="0"/>
              <a:t>呼叫建立过程中</a:t>
            </a:r>
            <a:r>
              <a:rPr lang="en-US" altLang="zh-CN" sz="1200" dirty="0"/>
              <a:t>SIP</a:t>
            </a:r>
            <a:r>
              <a:rPr lang="zh-CN" altLang="zh-CN" sz="1200" dirty="0"/>
              <a:t>流程失败转</a:t>
            </a:r>
            <a:r>
              <a:rPr lang="en-US" altLang="zh-CN" sz="1200" dirty="0"/>
              <a:t>CSFB</a:t>
            </a:r>
            <a:r>
              <a:rPr lang="zh-CN" altLang="zh-CN" sz="1200" dirty="0"/>
              <a:t>与无线环境、后台参数配置错误、终端或核心网原因有关。之后对该位置进行复测，该位置附近</a:t>
            </a:r>
            <a:r>
              <a:rPr lang="en-US" altLang="zh-CN" sz="1200" dirty="0"/>
              <a:t>LTE</a:t>
            </a:r>
            <a:r>
              <a:rPr lang="zh-CN" altLang="zh-CN" sz="1200" dirty="0"/>
              <a:t>覆盖正常，</a:t>
            </a:r>
            <a:r>
              <a:rPr lang="en-US" altLang="zh-CN" sz="1200" dirty="0"/>
              <a:t>SINR</a:t>
            </a:r>
            <a:r>
              <a:rPr lang="zh-CN" altLang="zh-CN" sz="1200" dirty="0"/>
              <a:t>值良好，能够满足正常的</a:t>
            </a:r>
            <a:r>
              <a:rPr lang="en-US" altLang="zh-CN" sz="1200" dirty="0" err="1"/>
              <a:t>VoLTE</a:t>
            </a:r>
            <a:r>
              <a:rPr lang="zh-CN" altLang="zh-CN" sz="1200" dirty="0"/>
              <a:t>通话需求，后台检查</a:t>
            </a:r>
            <a:r>
              <a:rPr lang="en-US" altLang="zh-CN" sz="1200" dirty="0"/>
              <a:t>LTE</a:t>
            </a:r>
            <a:r>
              <a:rPr lang="zh-CN" altLang="zh-CN" sz="1200" dirty="0"/>
              <a:t>小区</a:t>
            </a:r>
            <a:r>
              <a:rPr lang="en-US" altLang="zh-CN" sz="1200" dirty="0" err="1"/>
              <a:t>VoLTE</a:t>
            </a:r>
            <a:r>
              <a:rPr lang="zh-CN" altLang="zh-CN" sz="1200" dirty="0"/>
              <a:t>参数设置正常。通过分析当时事件</a:t>
            </a:r>
            <a:r>
              <a:rPr lang="en-US" altLang="zh-CN" sz="1200" dirty="0"/>
              <a:t>LOG</a:t>
            </a:r>
            <a:r>
              <a:rPr lang="zh-CN" altLang="zh-CN" sz="1200" dirty="0"/>
              <a:t>，进一步查明原因。在下文中：符号↓标识下行信令，符号↑表示上行信令。</a:t>
            </a:r>
          </a:p>
          <a:p>
            <a:endParaRPr lang="zh-CN" altLang="en-US" sz="1200" dirty="0"/>
          </a:p>
        </p:txBody>
      </p:sp>
      <p:sp>
        <p:nvSpPr>
          <p:cNvPr id="42" name="矩形 41"/>
          <p:cNvSpPr/>
          <p:nvPr/>
        </p:nvSpPr>
        <p:spPr>
          <a:xfrm>
            <a:off x="357037" y="1465322"/>
            <a:ext cx="7757662" cy="369332"/>
          </a:xfrm>
          <a:prstGeom prst="rect">
            <a:avLst/>
          </a:prstGeom>
        </p:spPr>
        <p:txBody>
          <a:bodyPr wrap="square" lIns="91431" tIns="45715" rIns="91431" bIns="45715">
            <a:spAutoFit/>
          </a:bodyPr>
          <a:lstStyle/>
          <a:p>
            <a:r>
              <a:rPr lang="en-US" altLang="zh-CN" b="1" dirty="0"/>
              <a:t>（1）主叫UE：14:59:02.162  ↑  LTE NAS--&gt;Service request</a:t>
            </a:r>
            <a:endParaRPr lang="zh-CN" altLang="zh-CN" b="1" dirty="0"/>
          </a:p>
        </p:txBody>
      </p:sp>
      <p:pic>
        <p:nvPicPr>
          <p:cNvPr id="43" name="图片 42"/>
          <p:cNvPicPr/>
          <p:nvPr/>
        </p:nvPicPr>
        <p:blipFill>
          <a:blip r:embed="rId2" cstate="print"/>
          <a:stretch>
            <a:fillRect/>
          </a:stretch>
        </p:blipFill>
        <p:spPr>
          <a:xfrm>
            <a:off x="1736823" y="1776842"/>
            <a:ext cx="5918948" cy="1209940"/>
          </a:xfrm>
          <a:prstGeom prst="rect">
            <a:avLst/>
          </a:prstGeom>
          <a:ln>
            <a:solidFill>
              <a:schemeClr val="accent1"/>
            </a:solidFill>
          </a:ln>
        </p:spPr>
      </p:pic>
      <p:sp>
        <p:nvSpPr>
          <p:cNvPr id="44" name="TextBox 43"/>
          <p:cNvSpPr txBox="1"/>
          <p:nvPr/>
        </p:nvSpPr>
        <p:spPr>
          <a:xfrm>
            <a:off x="1056790" y="3027134"/>
            <a:ext cx="8549135" cy="461665"/>
          </a:xfrm>
          <a:prstGeom prst="rect">
            <a:avLst/>
          </a:prstGeom>
          <a:noFill/>
        </p:spPr>
        <p:txBody>
          <a:bodyPr wrap="square" lIns="91431" tIns="45715" rIns="91431" bIns="45715" rtlCol="0">
            <a:spAutoFit/>
          </a:bodyPr>
          <a:lstStyle/>
          <a:p>
            <a:r>
              <a:rPr lang="zh-CN" altLang="zh-CN" sz="1200" dirty="0"/>
              <a:t>时间：</a:t>
            </a:r>
            <a:r>
              <a:rPr lang="en-US" altLang="zh-CN" sz="1200" dirty="0"/>
              <a:t>14:59:02.162</a:t>
            </a:r>
            <a:r>
              <a:rPr lang="zh-CN" altLang="zh-CN" sz="1200" dirty="0"/>
              <a:t>，主叫</a:t>
            </a:r>
            <a:r>
              <a:rPr lang="en-US" altLang="zh-CN" sz="1200" dirty="0"/>
              <a:t>UE</a:t>
            </a:r>
            <a:r>
              <a:rPr lang="zh-CN" altLang="zh-CN" sz="1200" dirty="0"/>
              <a:t>向基站侧发送</a:t>
            </a:r>
            <a:r>
              <a:rPr lang="en-US" altLang="zh-CN" sz="1200" b="1" dirty="0"/>
              <a:t>Service request</a:t>
            </a:r>
            <a:r>
              <a:rPr lang="zh-CN" altLang="zh-CN" sz="1200" dirty="0"/>
              <a:t>消息，开始呼叫建立请求。</a:t>
            </a:r>
          </a:p>
          <a:p>
            <a:endParaRPr lang="zh-CN" altLang="en-US" sz="1200" dirty="0"/>
          </a:p>
        </p:txBody>
      </p:sp>
      <p:sp>
        <p:nvSpPr>
          <p:cNvPr id="45" name="矩形 44"/>
          <p:cNvSpPr/>
          <p:nvPr/>
        </p:nvSpPr>
        <p:spPr>
          <a:xfrm>
            <a:off x="357038" y="3245141"/>
            <a:ext cx="8795711" cy="369332"/>
          </a:xfrm>
          <a:prstGeom prst="rect">
            <a:avLst/>
          </a:prstGeom>
        </p:spPr>
        <p:txBody>
          <a:bodyPr wrap="square" lIns="91431" tIns="45715" rIns="91431" bIns="45715">
            <a:spAutoFit/>
          </a:bodyPr>
          <a:lstStyle/>
          <a:p>
            <a:r>
              <a:rPr lang="en-US" altLang="zh-CN" b="1" dirty="0"/>
              <a:t>（2）</a:t>
            </a:r>
            <a:r>
              <a:rPr lang="zh-CN" altLang="zh-CN" b="1" dirty="0"/>
              <a:t>主叫</a:t>
            </a:r>
            <a:r>
              <a:rPr lang="en-US" altLang="zh-CN" b="1" dirty="0"/>
              <a:t>UE</a:t>
            </a:r>
            <a:r>
              <a:rPr lang="zh-CN" altLang="zh-CN" b="1" dirty="0"/>
              <a:t>：</a:t>
            </a:r>
            <a:r>
              <a:rPr lang="en-US" altLang="zh-CN" b="1" dirty="0"/>
              <a:t>14:59:06.522  ↓  IMS_SIP_INVITE-&gt;Trying 100</a:t>
            </a:r>
            <a:endParaRPr lang="zh-CN" altLang="zh-CN" b="1" dirty="0"/>
          </a:p>
        </p:txBody>
      </p:sp>
      <p:pic>
        <p:nvPicPr>
          <p:cNvPr id="46" name="图片 45"/>
          <p:cNvPicPr/>
          <p:nvPr/>
        </p:nvPicPr>
        <p:blipFill>
          <a:blip r:embed="rId3" cstate="print"/>
          <a:stretch>
            <a:fillRect/>
          </a:stretch>
        </p:blipFill>
        <p:spPr>
          <a:xfrm>
            <a:off x="1736823" y="3581042"/>
            <a:ext cx="5918948" cy="1205941"/>
          </a:xfrm>
          <a:prstGeom prst="rect">
            <a:avLst/>
          </a:prstGeom>
          <a:ln>
            <a:solidFill>
              <a:schemeClr val="accent1"/>
            </a:solidFill>
          </a:ln>
        </p:spPr>
      </p:pic>
      <p:sp>
        <p:nvSpPr>
          <p:cNvPr id="47" name="TextBox 46"/>
          <p:cNvSpPr txBox="1"/>
          <p:nvPr/>
        </p:nvSpPr>
        <p:spPr>
          <a:xfrm>
            <a:off x="605498" y="4786983"/>
            <a:ext cx="9048523" cy="276999"/>
          </a:xfrm>
          <a:prstGeom prst="rect">
            <a:avLst/>
          </a:prstGeom>
          <a:noFill/>
        </p:spPr>
        <p:txBody>
          <a:bodyPr wrap="square" lIns="91431" tIns="45715" rIns="91431" bIns="45715" rtlCol="0">
            <a:spAutoFit/>
          </a:bodyPr>
          <a:lstStyle/>
          <a:p>
            <a:r>
              <a:rPr lang="zh-CN" altLang="zh-CN" sz="1200" dirty="0"/>
              <a:t>时间：</a:t>
            </a:r>
            <a:r>
              <a:rPr lang="en-US" altLang="zh-CN" sz="1200" dirty="0"/>
              <a:t>14:59:06.522</a:t>
            </a:r>
            <a:r>
              <a:rPr lang="zh-CN" altLang="zh-CN" sz="1200" dirty="0"/>
              <a:t>，基站侧下发</a:t>
            </a:r>
            <a:r>
              <a:rPr lang="en-US" altLang="zh-CN" sz="1200" dirty="0"/>
              <a:t>Trying 100</a:t>
            </a:r>
            <a:r>
              <a:rPr lang="zh-CN" altLang="zh-CN" sz="1200" dirty="0"/>
              <a:t>消息，主叫</a:t>
            </a:r>
            <a:r>
              <a:rPr lang="en-US" altLang="zh-CN" sz="1200" dirty="0"/>
              <a:t>QCI=1</a:t>
            </a:r>
            <a:r>
              <a:rPr lang="zh-CN" altLang="zh-CN" sz="1200" dirty="0"/>
              <a:t>的专用承载建立成功，</a:t>
            </a:r>
            <a:r>
              <a:rPr lang="en-US" altLang="zh-CN" sz="1200" dirty="0"/>
              <a:t>E-RAB</a:t>
            </a:r>
            <a:r>
              <a:rPr lang="zh-CN" altLang="zh-CN" sz="1200" dirty="0"/>
              <a:t>建立成功，至此为正常的</a:t>
            </a:r>
            <a:r>
              <a:rPr lang="en-US" altLang="zh-CN" sz="1200" dirty="0" err="1"/>
              <a:t>VoLTE</a:t>
            </a:r>
            <a:r>
              <a:rPr lang="zh-CN" altLang="zh-CN" sz="1200" dirty="0"/>
              <a:t>呼叫建立流程</a:t>
            </a:r>
            <a:r>
              <a:rPr lang="zh-CN" altLang="zh-CN" sz="1200" dirty="0" smtClean="0"/>
              <a:t>。</a:t>
            </a:r>
            <a:endParaRPr lang="zh-CN" altLang="en-US" sz="1200" dirty="0"/>
          </a:p>
        </p:txBody>
      </p:sp>
      <p:sp>
        <p:nvSpPr>
          <p:cNvPr id="12" name="TextBox 11"/>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16</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泰安 </a:t>
            </a:r>
            <a:r>
              <a:rPr lang="en-US" altLang="zh-CN" sz="2400" b="1" dirty="0" smtClean="0">
                <a:solidFill>
                  <a:schemeClr val="bg1"/>
                </a:solidFill>
                <a:latin typeface="+mn-ea"/>
              </a:rPr>
              <a:t>503</a:t>
            </a:r>
            <a:r>
              <a:rPr lang="zh-CN" altLang="en-US" sz="2400" b="1" dirty="0" smtClean="0">
                <a:solidFill>
                  <a:schemeClr val="bg1"/>
                </a:solidFill>
                <a:latin typeface="+mn-ea"/>
              </a:rPr>
              <a:t>错误导致</a:t>
            </a:r>
            <a:r>
              <a:rPr lang="en-US" altLang="zh-CN" sz="2400" b="1" dirty="0" smtClean="0">
                <a:solidFill>
                  <a:schemeClr val="bg1"/>
                </a:solidFill>
                <a:latin typeface="+mn-ea"/>
              </a:rPr>
              <a:t>SIP</a:t>
            </a:r>
            <a:r>
              <a:rPr lang="zh-CN" altLang="en-US" sz="2400" b="1" dirty="0" smtClean="0">
                <a:solidFill>
                  <a:schemeClr val="bg1"/>
                </a:solidFill>
                <a:latin typeface="+mn-ea"/>
              </a:rPr>
              <a:t>流程失败转</a:t>
            </a:r>
            <a:r>
              <a:rPr lang="en-US" altLang="zh-CN" sz="2400" b="1" dirty="0" smtClean="0">
                <a:solidFill>
                  <a:schemeClr val="bg1"/>
                </a:solidFill>
                <a:latin typeface="+mn-ea"/>
              </a:rPr>
              <a:t>CSFB</a:t>
            </a:r>
            <a:r>
              <a:rPr lang="zh-CN" altLang="en-US" sz="2400" b="1" dirty="0" smtClean="0">
                <a:solidFill>
                  <a:schemeClr val="bg1"/>
                </a:solidFill>
                <a:latin typeface="+mn-ea"/>
              </a:rPr>
              <a:t>流程案例分析</a:t>
            </a:r>
          </a:p>
        </p:txBody>
      </p:sp>
    </p:spTree>
    <p:extLst>
      <p:ext uri="{BB962C8B-B14F-4D97-AF65-F5344CB8AC3E}">
        <p14:creationId xmlns:p14="http://schemas.microsoft.com/office/powerpoint/2010/main" xmlns="" val="2143620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885" y="601850"/>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t>问题分析</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6" name="TextBox 5"/>
          <p:cNvSpPr txBox="1"/>
          <p:nvPr/>
        </p:nvSpPr>
        <p:spPr>
          <a:xfrm>
            <a:off x="5477243" y="4568958"/>
            <a:ext cx="461647" cy="340038"/>
          </a:xfrm>
          <a:prstGeom prst="rect">
            <a:avLst/>
          </a:prstGeom>
          <a:noFill/>
        </p:spPr>
        <p:txBody>
          <a:bodyPr vert="eaVert" wrap="square" lIns="91431" tIns="45715" rIns="91431" bIns="45715" rtlCol="0">
            <a:spAutoFit/>
          </a:bodyPr>
          <a:lstStyle/>
          <a:p>
            <a:endParaRPr lang="zh-CN" altLang="en-US" dirty="0"/>
          </a:p>
        </p:txBody>
      </p:sp>
      <p:sp>
        <p:nvSpPr>
          <p:cNvPr id="4" name="矩形 3"/>
          <p:cNvSpPr/>
          <p:nvPr/>
        </p:nvSpPr>
        <p:spPr>
          <a:xfrm>
            <a:off x="374957" y="892530"/>
            <a:ext cx="9604381" cy="369332"/>
          </a:xfrm>
          <a:prstGeom prst="rect">
            <a:avLst/>
          </a:prstGeom>
        </p:spPr>
        <p:txBody>
          <a:bodyPr wrap="square" lIns="91431" tIns="45715" rIns="91431" bIns="45715">
            <a:spAutoFit/>
          </a:bodyPr>
          <a:lstStyle/>
          <a:p>
            <a:r>
              <a:rPr lang="en-US" altLang="zh-CN" b="1" dirty="0"/>
              <a:t>（3）主叫UE</a:t>
            </a:r>
            <a:r>
              <a:rPr lang="zh-CN" altLang="zh-CN" b="1" dirty="0"/>
              <a:t>：</a:t>
            </a:r>
            <a:r>
              <a:rPr lang="en-US" altLang="zh-CN" b="1" dirty="0"/>
              <a:t>14:59:06.682  ↑  LTE NAS--&gt;Deactivate EPS bearer context accept  </a:t>
            </a:r>
            <a:endParaRPr lang="zh-CN" altLang="zh-CN" b="1" dirty="0"/>
          </a:p>
        </p:txBody>
      </p:sp>
      <p:pic>
        <p:nvPicPr>
          <p:cNvPr id="13" name="图片 12"/>
          <p:cNvPicPr/>
          <p:nvPr/>
        </p:nvPicPr>
        <p:blipFill>
          <a:blip r:embed="rId2" cstate="print"/>
          <a:stretch>
            <a:fillRect/>
          </a:stretch>
        </p:blipFill>
        <p:spPr>
          <a:xfrm>
            <a:off x="2171327" y="1183208"/>
            <a:ext cx="5918948" cy="1206941"/>
          </a:xfrm>
          <a:prstGeom prst="rect">
            <a:avLst/>
          </a:prstGeom>
          <a:ln>
            <a:solidFill>
              <a:schemeClr val="accent1"/>
            </a:solidFill>
          </a:ln>
        </p:spPr>
      </p:pic>
      <p:sp>
        <p:nvSpPr>
          <p:cNvPr id="5" name="TextBox 4"/>
          <p:cNvSpPr txBox="1"/>
          <p:nvPr/>
        </p:nvSpPr>
        <p:spPr>
          <a:xfrm>
            <a:off x="443880" y="2440067"/>
            <a:ext cx="8969797" cy="461665"/>
          </a:xfrm>
          <a:prstGeom prst="rect">
            <a:avLst/>
          </a:prstGeom>
          <a:noFill/>
        </p:spPr>
        <p:txBody>
          <a:bodyPr wrap="square" lIns="91431" tIns="45715" rIns="91431" bIns="45715" rtlCol="0">
            <a:spAutoFit/>
          </a:bodyPr>
          <a:lstStyle/>
          <a:p>
            <a:r>
              <a:rPr lang="zh-CN" altLang="zh-CN" sz="1200" dirty="0"/>
              <a:t>主叫</a:t>
            </a:r>
            <a:r>
              <a:rPr lang="en-US" altLang="zh-CN" sz="1200" dirty="0"/>
              <a:t>UE</a:t>
            </a:r>
            <a:r>
              <a:rPr lang="zh-CN" altLang="zh-CN" sz="1200" dirty="0"/>
              <a:t>在时间：</a:t>
            </a:r>
            <a:r>
              <a:rPr lang="en-US" altLang="zh-CN" sz="1200" dirty="0"/>
              <a:t>14:59:06.682</a:t>
            </a:r>
            <a:r>
              <a:rPr lang="zh-CN" altLang="zh-CN" sz="1200" dirty="0"/>
              <a:t>，向基站侧发送专用承载修改成功的信令，在此表示向</a:t>
            </a:r>
            <a:r>
              <a:rPr lang="en-US" altLang="zh-CN" sz="1200" dirty="0"/>
              <a:t>PCI=125</a:t>
            </a:r>
            <a:r>
              <a:rPr lang="zh-CN" altLang="zh-CN" sz="1200" dirty="0"/>
              <a:t>的</a:t>
            </a:r>
            <a:r>
              <a:rPr lang="en-US" altLang="zh-CN" sz="1200" dirty="0"/>
              <a:t>LTE</a:t>
            </a:r>
            <a:r>
              <a:rPr lang="zh-CN" altLang="zh-CN" sz="1200" dirty="0"/>
              <a:t>小区切换成功。</a:t>
            </a:r>
          </a:p>
          <a:p>
            <a:endParaRPr lang="zh-CN" altLang="en-US" sz="1200" dirty="0"/>
          </a:p>
        </p:txBody>
      </p:sp>
      <p:sp>
        <p:nvSpPr>
          <p:cNvPr id="7" name="矩形 6"/>
          <p:cNvSpPr/>
          <p:nvPr/>
        </p:nvSpPr>
        <p:spPr>
          <a:xfrm>
            <a:off x="374399" y="2621738"/>
            <a:ext cx="9373841" cy="369332"/>
          </a:xfrm>
          <a:prstGeom prst="rect">
            <a:avLst/>
          </a:prstGeom>
        </p:spPr>
        <p:txBody>
          <a:bodyPr wrap="square" lIns="91431" tIns="45715" rIns="91431" bIns="45715">
            <a:spAutoFit/>
          </a:bodyPr>
          <a:lstStyle/>
          <a:p>
            <a:r>
              <a:rPr lang="en-US" altLang="zh-CN" b="1" dirty="0"/>
              <a:t>（4）主叫UE</a:t>
            </a:r>
            <a:r>
              <a:rPr lang="zh-CN" altLang="zh-CN" b="1" dirty="0"/>
              <a:t>：</a:t>
            </a:r>
            <a:r>
              <a:rPr lang="en-US" altLang="zh-CN" b="1" dirty="0"/>
              <a:t>14:59:13.622  ↓  IMS_SIP_INVITE 503</a:t>
            </a:r>
            <a:endParaRPr lang="zh-CN" altLang="zh-CN" b="1" dirty="0"/>
          </a:p>
        </p:txBody>
      </p:sp>
      <p:pic>
        <p:nvPicPr>
          <p:cNvPr id="16" name="图片 15"/>
          <p:cNvPicPr/>
          <p:nvPr/>
        </p:nvPicPr>
        <p:blipFill>
          <a:blip r:embed="rId3" cstate="print"/>
          <a:stretch>
            <a:fillRect/>
          </a:stretch>
        </p:blipFill>
        <p:spPr>
          <a:xfrm>
            <a:off x="1991231" y="2912418"/>
            <a:ext cx="6867300" cy="1839050"/>
          </a:xfrm>
          <a:prstGeom prst="rect">
            <a:avLst/>
          </a:prstGeom>
          <a:ln>
            <a:solidFill>
              <a:schemeClr val="accent1"/>
            </a:solidFill>
          </a:ln>
        </p:spPr>
      </p:pic>
      <p:sp>
        <p:nvSpPr>
          <p:cNvPr id="8" name="TextBox 7"/>
          <p:cNvSpPr txBox="1"/>
          <p:nvPr/>
        </p:nvSpPr>
        <p:spPr>
          <a:xfrm>
            <a:off x="420345" y="4751469"/>
            <a:ext cx="8969797" cy="646331"/>
          </a:xfrm>
          <a:prstGeom prst="rect">
            <a:avLst/>
          </a:prstGeom>
          <a:noFill/>
        </p:spPr>
        <p:txBody>
          <a:bodyPr wrap="square" lIns="91431" tIns="45715" rIns="91431" bIns="45715" rtlCol="0">
            <a:spAutoFit/>
          </a:bodyPr>
          <a:lstStyle/>
          <a:p>
            <a:r>
              <a:rPr lang="zh-CN" altLang="zh-CN" sz="1200" dirty="0"/>
              <a:t>时间：</a:t>
            </a:r>
            <a:r>
              <a:rPr lang="en-US" altLang="zh-CN" sz="1200" dirty="0"/>
              <a:t>14:59:13.622</a:t>
            </a:r>
            <a:r>
              <a:rPr lang="zh-CN" altLang="zh-CN" sz="1200" dirty="0"/>
              <a:t>，在主叫</a:t>
            </a:r>
            <a:r>
              <a:rPr lang="en-US" altLang="zh-CN" sz="1200" dirty="0"/>
              <a:t>UE</a:t>
            </a:r>
            <a:r>
              <a:rPr lang="zh-CN" altLang="zh-CN" sz="1200" dirty="0"/>
              <a:t>切换成功之后，基站侧向</a:t>
            </a:r>
            <a:r>
              <a:rPr lang="en-US" altLang="zh-CN" sz="1200" dirty="0"/>
              <a:t>UE</a:t>
            </a:r>
            <a:r>
              <a:rPr lang="zh-CN" altLang="zh-CN" sz="1200" dirty="0"/>
              <a:t>下发</a:t>
            </a:r>
            <a:r>
              <a:rPr lang="en-US" altLang="zh-CN" sz="1200" dirty="0"/>
              <a:t>SIP 503</a:t>
            </a:r>
            <a:r>
              <a:rPr lang="zh-CN" altLang="zh-CN" sz="1200" dirty="0"/>
              <a:t>错误，通过详细信令窗口可以看到原因值为：</a:t>
            </a:r>
            <a:r>
              <a:rPr lang="en-US" altLang="zh-CN" sz="1200" dirty="0"/>
              <a:t>Media Bearer Lost</a:t>
            </a:r>
            <a:r>
              <a:rPr lang="zh-CN" altLang="zh-CN" sz="1200" dirty="0"/>
              <a:t>。协议规定</a:t>
            </a:r>
            <a:r>
              <a:rPr lang="en-US" altLang="zh-CN" sz="1200" dirty="0"/>
              <a:t>SERVICE_UNAVAILABLE(503)</a:t>
            </a:r>
            <a:r>
              <a:rPr lang="zh-CN" altLang="zh-CN" sz="1200" dirty="0"/>
              <a:t>表示服务器由于负荷过载或者维护问题暂时无法处理发送请求。</a:t>
            </a:r>
          </a:p>
          <a:p>
            <a:endParaRPr lang="zh-CN" altLang="en-US" sz="1200" dirty="0"/>
          </a:p>
        </p:txBody>
      </p:sp>
      <p:sp>
        <p:nvSpPr>
          <p:cNvPr id="11" name="TextBox 10"/>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16</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泰安 </a:t>
            </a:r>
            <a:r>
              <a:rPr lang="en-US" altLang="zh-CN" sz="2400" b="1" dirty="0" smtClean="0">
                <a:solidFill>
                  <a:schemeClr val="bg1"/>
                </a:solidFill>
                <a:latin typeface="+mn-ea"/>
              </a:rPr>
              <a:t>503</a:t>
            </a:r>
            <a:r>
              <a:rPr lang="zh-CN" altLang="en-US" sz="2400" b="1" dirty="0" smtClean="0">
                <a:solidFill>
                  <a:schemeClr val="bg1"/>
                </a:solidFill>
                <a:latin typeface="+mn-ea"/>
              </a:rPr>
              <a:t>错误导致</a:t>
            </a:r>
            <a:r>
              <a:rPr lang="en-US" altLang="zh-CN" sz="2400" b="1" dirty="0" smtClean="0">
                <a:solidFill>
                  <a:schemeClr val="bg1"/>
                </a:solidFill>
                <a:latin typeface="+mn-ea"/>
              </a:rPr>
              <a:t>SIP</a:t>
            </a:r>
            <a:r>
              <a:rPr lang="zh-CN" altLang="en-US" sz="2400" b="1" dirty="0" smtClean="0">
                <a:solidFill>
                  <a:schemeClr val="bg1"/>
                </a:solidFill>
                <a:latin typeface="+mn-ea"/>
              </a:rPr>
              <a:t>流程失败转</a:t>
            </a:r>
            <a:r>
              <a:rPr lang="en-US" altLang="zh-CN" sz="2400" b="1" dirty="0" smtClean="0">
                <a:solidFill>
                  <a:schemeClr val="bg1"/>
                </a:solidFill>
                <a:latin typeface="+mn-ea"/>
              </a:rPr>
              <a:t>CSFB</a:t>
            </a:r>
            <a:r>
              <a:rPr lang="zh-CN" altLang="en-US" sz="2400" b="1" dirty="0" smtClean="0">
                <a:solidFill>
                  <a:schemeClr val="bg1"/>
                </a:solidFill>
                <a:latin typeface="+mn-ea"/>
              </a:rPr>
              <a:t>流程</a:t>
            </a:r>
          </a:p>
        </p:txBody>
      </p:sp>
    </p:spTree>
    <p:extLst>
      <p:ext uri="{BB962C8B-B14F-4D97-AF65-F5344CB8AC3E}">
        <p14:creationId xmlns:p14="http://schemas.microsoft.com/office/powerpoint/2010/main" xmlns="" val="26558868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22188" y="601850"/>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t>问题分析</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6" name="TextBox 5"/>
          <p:cNvSpPr txBox="1"/>
          <p:nvPr/>
        </p:nvSpPr>
        <p:spPr>
          <a:xfrm>
            <a:off x="5477243" y="4568958"/>
            <a:ext cx="461647" cy="340038"/>
          </a:xfrm>
          <a:prstGeom prst="rect">
            <a:avLst/>
          </a:prstGeom>
          <a:noFill/>
        </p:spPr>
        <p:txBody>
          <a:bodyPr vert="eaVert" wrap="square" lIns="91431" tIns="45715" rIns="91431" bIns="45715" rtlCol="0">
            <a:spAutoFit/>
          </a:bodyPr>
          <a:lstStyle/>
          <a:p>
            <a:endParaRPr lang="zh-CN" altLang="en-US" dirty="0"/>
          </a:p>
        </p:txBody>
      </p:sp>
      <p:sp>
        <p:nvSpPr>
          <p:cNvPr id="9" name="矩形 8"/>
          <p:cNvSpPr/>
          <p:nvPr/>
        </p:nvSpPr>
        <p:spPr>
          <a:xfrm>
            <a:off x="443879" y="892530"/>
            <a:ext cx="8888988" cy="369332"/>
          </a:xfrm>
          <a:prstGeom prst="rect">
            <a:avLst/>
          </a:prstGeom>
        </p:spPr>
        <p:txBody>
          <a:bodyPr wrap="square" lIns="91431" tIns="45715" rIns="91431" bIns="45715">
            <a:spAutoFit/>
          </a:bodyPr>
          <a:lstStyle/>
          <a:p>
            <a:r>
              <a:rPr lang="en-US" altLang="zh-CN" b="1" dirty="0"/>
              <a:t>（5）主叫UE</a:t>
            </a:r>
            <a:r>
              <a:rPr lang="zh-CN" altLang="zh-CN" b="1" dirty="0"/>
              <a:t>：</a:t>
            </a:r>
            <a:r>
              <a:rPr lang="en-US" altLang="zh-CN" b="1" dirty="0"/>
              <a:t>14:59:14.272  ↑  LTE NAS--&gt;Extended service request</a:t>
            </a:r>
            <a:endParaRPr lang="zh-CN" altLang="zh-CN" b="1" dirty="0"/>
          </a:p>
        </p:txBody>
      </p:sp>
      <p:pic>
        <p:nvPicPr>
          <p:cNvPr id="12" name="图片 11"/>
          <p:cNvPicPr/>
          <p:nvPr/>
        </p:nvPicPr>
        <p:blipFill>
          <a:blip r:embed="rId2" cstate="print"/>
          <a:stretch>
            <a:fillRect/>
          </a:stretch>
        </p:blipFill>
        <p:spPr>
          <a:xfrm>
            <a:off x="2142739" y="1183208"/>
            <a:ext cx="5654757" cy="2195618"/>
          </a:xfrm>
          <a:prstGeom prst="rect">
            <a:avLst/>
          </a:prstGeom>
          <a:ln>
            <a:solidFill>
              <a:schemeClr val="accent1"/>
            </a:solidFill>
          </a:ln>
        </p:spPr>
      </p:pic>
      <p:sp>
        <p:nvSpPr>
          <p:cNvPr id="10" name="TextBox 9"/>
          <p:cNvSpPr txBox="1"/>
          <p:nvPr/>
        </p:nvSpPr>
        <p:spPr>
          <a:xfrm>
            <a:off x="495654" y="3491941"/>
            <a:ext cx="8948928" cy="830997"/>
          </a:xfrm>
          <a:prstGeom prst="rect">
            <a:avLst/>
          </a:prstGeom>
          <a:noFill/>
        </p:spPr>
        <p:txBody>
          <a:bodyPr wrap="square" lIns="91431" tIns="45715" rIns="91431" bIns="45715" rtlCol="0">
            <a:spAutoFit/>
          </a:bodyPr>
          <a:lstStyle/>
          <a:p>
            <a:r>
              <a:rPr lang="zh-CN" altLang="zh-CN" sz="1200" dirty="0"/>
              <a:t> 时间：</a:t>
            </a:r>
            <a:r>
              <a:rPr lang="en-US" altLang="zh-CN" sz="1200" dirty="0"/>
              <a:t>14:59:14.272</a:t>
            </a:r>
            <a:r>
              <a:rPr lang="zh-CN" altLang="zh-CN" sz="1200" dirty="0"/>
              <a:t>，主叫在确认收到</a:t>
            </a:r>
            <a:r>
              <a:rPr lang="en-US" altLang="zh-CN" sz="1200" dirty="0"/>
              <a:t>503</a:t>
            </a:r>
            <a:r>
              <a:rPr lang="zh-CN" altLang="zh-CN" sz="1200" dirty="0"/>
              <a:t>错误之后，进行外部服务请求，并在</a:t>
            </a:r>
            <a:r>
              <a:rPr lang="en-US" altLang="zh-CN" sz="1200" dirty="0"/>
              <a:t>LTE RRC--&gt;RRC Connection Release</a:t>
            </a:r>
            <a:r>
              <a:rPr lang="zh-CN" altLang="zh-CN" sz="1200" dirty="0"/>
              <a:t>中携带</a:t>
            </a:r>
            <a:r>
              <a:rPr lang="en-US" altLang="zh-CN" sz="1200" dirty="0"/>
              <a:t>GERAN</a:t>
            </a:r>
            <a:r>
              <a:rPr lang="zh-CN" altLang="zh-CN" sz="1200" dirty="0"/>
              <a:t>频点信息，开始</a:t>
            </a:r>
            <a:r>
              <a:rPr lang="en-US" altLang="zh-CN" sz="1200" dirty="0"/>
              <a:t>CSFB</a:t>
            </a:r>
            <a:r>
              <a:rPr lang="zh-CN" altLang="zh-CN" sz="1200" dirty="0"/>
              <a:t>呼叫流程，至此造成接通时延较长。经核查</a:t>
            </a:r>
            <a:r>
              <a:rPr lang="en-US" altLang="zh-CN" sz="1200" dirty="0"/>
              <a:t>PCI=125</a:t>
            </a:r>
            <a:r>
              <a:rPr lang="zh-CN" altLang="zh-CN" sz="1200" dirty="0"/>
              <a:t>的</a:t>
            </a:r>
            <a:r>
              <a:rPr lang="en-US" altLang="zh-CN" sz="1200" dirty="0"/>
              <a:t>LTE</a:t>
            </a:r>
            <a:r>
              <a:rPr lang="zh-CN" altLang="zh-CN" sz="1200" dirty="0"/>
              <a:t>小区为：</a:t>
            </a:r>
            <a:r>
              <a:rPr lang="en-US" altLang="zh-CN" sz="1200" dirty="0"/>
              <a:t>LDZ0804113H1_</a:t>
            </a:r>
            <a:r>
              <a:rPr lang="zh-CN" altLang="zh-CN" sz="1200" dirty="0"/>
              <a:t>施家结庄，经核查该小区</a:t>
            </a:r>
            <a:r>
              <a:rPr lang="en-US" altLang="zh-CN" sz="1200" dirty="0" err="1"/>
              <a:t>VoLTE</a:t>
            </a:r>
            <a:r>
              <a:rPr lang="zh-CN" altLang="zh-CN" sz="1200" dirty="0"/>
              <a:t>参数均正常，此次事件非无线环境覆盖问题所致，可能和服务器或核心网问题有关。</a:t>
            </a:r>
          </a:p>
          <a:p>
            <a:endParaRPr lang="zh-CN" altLang="en-US" sz="1200" dirty="0"/>
          </a:p>
        </p:txBody>
      </p:sp>
      <p:sp>
        <p:nvSpPr>
          <p:cNvPr id="11" name="矩形 10"/>
          <p:cNvSpPr/>
          <p:nvPr/>
        </p:nvSpPr>
        <p:spPr>
          <a:xfrm>
            <a:off x="122188" y="4124309"/>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t>问题结论</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14" name="TextBox 13"/>
          <p:cNvSpPr txBox="1"/>
          <p:nvPr/>
        </p:nvSpPr>
        <p:spPr>
          <a:xfrm>
            <a:off x="396684" y="4455613"/>
            <a:ext cx="9146867" cy="646331"/>
          </a:xfrm>
          <a:prstGeom prst="rect">
            <a:avLst/>
          </a:prstGeom>
          <a:noFill/>
        </p:spPr>
        <p:txBody>
          <a:bodyPr wrap="square" lIns="91431" tIns="45715" rIns="91431" bIns="45715" rtlCol="0">
            <a:spAutoFit/>
          </a:bodyPr>
          <a:lstStyle/>
          <a:p>
            <a:r>
              <a:rPr lang="zh-CN" altLang="zh-CN" sz="1200" dirty="0"/>
              <a:t>在</a:t>
            </a:r>
            <a:r>
              <a:rPr lang="en-US" altLang="zh-CN" sz="1200" dirty="0" err="1"/>
              <a:t>VoLTE</a:t>
            </a:r>
            <a:r>
              <a:rPr lang="zh-CN" altLang="zh-CN" sz="1200" dirty="0"/>
              <a:t>呼叫建立过程中，如果出现了</a:t>
            </a:r>
            <a:r>
              <a:rPr lang="en-US" altLang="zh-CN" sz="1200" dirty="0"/>
              <a:t>SIP</a:t>
            </a:r>
            <a:r>
              <a:rPr lang="zh-CN" altLang="zh-CN" sz="1200" dirty="0"/>
              <a:t>流程失败转为</a:t>
            </a:r>
            <a:r>
              <a:rPr lang="en-US" altLang="zh-CN" sz="1200" dirty="0"/>
              <a:t>CSFB</a:t>
            </a:r>
            <a:r>
              <a:rPr lang="zh-CN" altLang="zh-CN" sz="1200" dirty="0"/>
              <a:t>接通的事件，在排除无线环境和参数配置原因之后，需要从信令上进一步分析原因。若为服务器或核心网问题，需核心网侧进一步进行分析和确认。</a:t>
            </a:r>
          </a:p>
          <a:p>
            <a:endParaRPr lang="zh-CN" altLang="en-US" sz="1200" dirty="0"/>
          </a:p>
        </p:txBody>
      </p:sp>
      <p:sp>
        <p:nvSpPr>
          <p:cNvPr id="15" name="TextBox 14"/>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16</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泰安 </a:t>
            </a:r>
            <a:r>
              <a:rPr lang="en-US" altLang="zh-CN" sz="2400" b="1" dirty="0" smtClean="0">
                <a:solidFill>
                  <a:schemeClr val="bg1"/>
                </a:solidFill>
                <a:latin typeface="+mn-ea"/>
              </a:rPr>
              <a:t>503</a:t>
            </a:r>
            <a:r>
              <a:rPr lang="zh-CN" altLang="en-US" sz="2400" b="1" dirty="0" smtClean="0">
                <a:solidFill>
                  <a:schemeClr val="bg1"/>
                </a:solidFill>
                <a:latin typeface="+mn-ea"/>
              </a:rPr>
              <a:t>错误导致</a:t>
            </a:r>
            <a:r>
              <a:rPr lang="en-US" altLang="zh-CN" sz="2400" b="1" dirty="0" smtClean="0">
                <a:solidFill>
                  <a:schemeClr val="bg1"/>
                </a:solidFill>
                <a:latin typeface="+mn-ea"/>
              </a:rPr>
              <a:t>SIP</a:t>
            </a:r>
            <a:r>
              <a:rPr lang="zh-CN" altLang="en-US" sz="2400" b="1" dirty="0" smtClean="0">
                <a:solidFill>
                  <a:schemeClr val="bg1"/>
                </a:solidFill>
                <a:latin typeface="+mn-ea"/>
              </a:rPr>
              <a:t>流程失败转</a:t>
            </a:r>
            <a:r>
              <a:rPr lang="en-US" altLang="zh-CN" sz="2400" b="1" dirty="0" smtClean="0">
                <a:solidFill>
                  <a:schemeClr val="bg1"/>
                </a:solidFill>
                <a:latin typeface="+mn-ea"/>
              </a:rPr>
              <a:t>CSFB</a:t>
            </a:r>
            <a:r>
              <a:rPr lang="zh-CN" altLang="en-US" sz="2400" b="1" dirty="0" smtClean="0">
                <a:solidFill>
                  <a:schemeClr val="bg1"/>
                </a:solidFill>
                <a:latin typeface="+mn-ea"/>
              </a:rPr>
              <a:t>流程</a:t>
            </a:r>
          </a:p>
        </p:txBody>
      </p:sp>
    </p:spTree>
    <p:extLst>
      <p:ext uri="{BB962C8B-B14F-4D97-AF65-F5344CB8AC3E}">
        <p14:creationId xmlns:p14="http://schemas.microsoft.com/office/powerpoint/2010/main" xmlns="" val="2674321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22188" y="601850"/>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t>问题描述</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6" name="TextBox 5"/>
          <p:cNvSpPr txBox="1"/>
          <p:nvPr/>
        </p:nvSpPr>
        <p:spPr>
          <a:xfrm>
            <a:off x="5477243" y="4568958"/>
            <a:ext cx="461647" cy="340038"/>
          </a:xfrm>
          <a:prstGeom prst="rect">
            <a:avLst/>
          </a:prstGeom>
          <a:noFill/>
        </p:spPr>
        <p:txBody>
          <a:bodyPr vert="eaVert" wrap="square" lIns="91431" tIns="45715" rIns="91431" bIns="45715" rtlCol="0">
            <a:spAutoFit/>
          </a:bodyPr>
          <a:lstStyle/>
          <a:p>
            <a:endParaRPr lang="zh-CN" altLang="en-US" dirty="0"/>
          </a:p>
        </p:txBody>
      </p:sp>
      <p:sp>
        <p:nvSpPr>
          <p:cNvPr id="4" name="TextBox 3"/>
          <p:cNvSpPr txBox="1"/>
          <p:nvPr/>
        </p:nvSpPr>
        <p:spPr>
          <a:xfrm>
            <a:off x="443880" y="998563"/>
            <a:ext cx="4398889" cy="1200329"/>
          </a:xfrm>
          <a:prstGeom prst="rect">
            <a:avLst/>
          </a:prstGeom>
          <a:noFill/>
        </p:spPr>
        <p:txBody>
          <a:bodyPr wrap="square" lIns="91431" tIns="45715" rIns="91431" bIns="45715" rtlCol="0">
            <a:spAutoFit/>
          </a:bodyPr>
          <a:lstStyle/>
          <a:p>
            <a:pPr>
              <a:lnSpc>
                <a:spcPct val="150000"/>
              </a:lnSpc>
            </a:pPr>
            <a:r>
              <a:rPr lang="zh-CN" altLang="zh-CN" sz="1200" dirty="0"/>
              <a:t>对进行网格</a:t>
            </a:r>
            <a:r>
              <a:rPr lang="en-US" altLang="zh-CN" sz="1200" dirty="0"/>
              <a:t>2</a:t>
            </a:r>
            <a:r>
              <a:rPr lang="zh-CN" altLang="zh-CN" sz="1200" dirty="0"/>
              <a:t>的</a:t>
            </a:r>
            <a:r>
              <a:rPr lang="en-US" altLang="zh-CN" sz="1200" dirty="0" err="1"/>
              <a:t>VoLTE</a:t>
            </a:r>
            <a:r>
              <a:rPr lang="zh-CN" altLang="zh-CN" sz="1200" dirty="0"/>
              <a:t>拉网测试时，在青年路方圆公司附近，主叫</a:t>
            </a:r>
            <a:r>
              <a:rPr lang="en-US" altLang="zh-CN" sz="1200" dirty="0"/>
              <a:t>UE</a:t>
            </a:r>
            <a:r>
              <a:rPr lang="zh-CN" altLang="zh-CN" sz="1200" dirty="0"/>
              <a:t>在</a:t>
            </a:r>
            <a:r>
              <a:rPr lang="en-US" altLang="zh-CN" sz="1200" dirty="0" err="1"/>
              <a:t>VoLTE</a:t>
            </a:r>
            <a:r>
              <a:rPr lang="zh-CN" altLang="zh-CN" sz="1200" dirty="0"/>
              <a:t>呼叫建立阶段，因位置更新导致呼叫建立失败。如下图主叫</a:t>
            </a:r>
            <a:r>
              <a:rPr lang="en-US" altLang="zh-CN" sz="1200" dirty="0"/>
              <a:t>UE</a:t>
            </a:r>
            <a:r>
              <a:rPr lang="zh-CN" altLang="zh-CN" sz="1200" dirty="0"/>
              <a:t>的</a:t>
            </a:r>
            <a:r>
              <a:rPr lang="en-US" altLang="zh-CN" sz="1200" dirty="0"/>
              <a:t>SINR</a:t>
            </a:r>
            <a:r>
              <a:rPr lang="zh-CN" altLang="zh-CN" sz="1200" dirty="0"/>
              <a:t>轨迹图所示，发生位置为红色圆圈附近，红色虚线为</a:t>
            </a:r>
            <a:r>
              <a:rPr lang="en-US" altLang="zh-CN" sz="1200" dirty="0"/>
              <a:t>TAC</a:t>
            </a:r>
            <a:r>
              <a:rPr lang="zh-CN" altLang="zh-CN" sz="1200" dirty="0"/>
              <a:t>边界，该位置</a:t>
            </a:r>
            <a:r>
              <a:rPr lang="en-US" altLang="zh-CN" sz="1200" dirty="0"/>
              <a:t>RSRP</a:t>
            </a:r>
            <a:r>
              <a:rPr lang="zh-CN" altLang="zh-CN" sz="1200" dirty="0"/>
              <a:t>和</a:t>
            </a:r>
            <a:r>
              <a:rPr lang="en-US" altLang="zh-CN" sz="1200" dirty="0"/>
              <a:t>SINR</a:t>
            </a:r>
            <a:r>
              <a:rPr lang="zh-CN" altLang="zh-CN" sz="1200" dirty="0"/>
              <a:t>均能满足正常的呼叫条件。</a:t>
            </a:r>
            <a:endParaRPr lang="zh-CN" altLang="en-US" sz="1200" dirty="0"/>
          </a:p>
        </p:txBody>
      </p:sp>
      <p:pic>
        <p:nvPicPr>
          <p:cNvPr id="13" name="图片 12"/>
          <p:cNvPicPr/>
          <p:nvPr/>
        </p:nvPicPr>
        <p:blipFill>
          <a:blip r:embed="rId2" cstate="print"/>
          <a:stretch>
            <a:fillRect/>
          </a:stretch>
        </p:blipFill>
        <p:spPr>
          <a:xfrm>
            <a:off x="522288" y="2266702"/>
            <a:ext cx="4248472" cy="2592288"/>
          </a:xfrm>
          <a:prstGeom prst="rect">
            <a:avLst/>
          </a:prstGeom>
          <a:ln>
            <a:solidFill>
              <a:schemeClr val="accent1"/>
            </a:solidFill>
          </a:ln>
        </p:spPr>
      </p:pic>
      <p:sp>
        <p:nvSpPr>
          <p:cNvPr id="5" name="TextBox 4"/>
          <p:cNvSpPr txBox="1"/>
          <p:nvPr/>
        </p:nvSpPr>
        <p:spPr>
          <a:xfrm>
            <a:off x="4986785" y="682527"/>
            <a:ext cx="1080058" cy="461665"/>
          </a:xfrm>
          <a:prstGeom prst="rect">
            <a:avLst/>
          </a:prstGeom>
          <a:noFill/>
        </p:spPr>
        <p:txBody>
          <a:bodyPr wrap="square" lIns="91431" tIns="45715" rIns="91431" bIns="45715" rtlCol="0">
            <a:spAutoFit/>
          </a:bodyPr>
          <a:lstStyle/>
          <a:p>
            <a:r>
              <a:rPr lang="zh-CN" altLang="zh-CN" sz="1200" b="1" dirty="0">
                <a:solidFill>
                  <a:srgbClr val="FF0000"/>
                </a:solidFill>
              </a:rPr>
              <a:t>流程图</a:t>
            </a:r>
          </a:p>
          <a:p>
            <a:endParaRPr lang="zh-CN" altLang="en-US" sz="1200" dirty="0"/>
          </a:p>
        </p:txBody>
      </p:sp>
      <p:grpSp>
        <p:nvGrpSpPr>
          <p:cNvPr id="46" name="画布 39"/>
          <p:cNvGrpSpPr/>
          <p:nvPr/>
        </p:nvGrpSpPr>
        <p:grpSpPr>
          <a:xfrm>
            <a:off x="5058793" y="1042567"/>
            <a:ext cx="4896544" cy="4045845"/>
            <a:chOff x="0" y="0"/>
            <a:chExt cx="4304030" cy="6519545"/>
          </a:xfrm>
        </p:grpSpPr>
        <p:sp>
          <p:nvSpPr>
            <p:cNvPr id="47" name="矩形 46"/>
            <p:cNvSpPr/>
            <p:nvPr/>
          </p:nvSpPr>
          <p:spPr>
            <a:xfrm>
              <a:off x="0" y="0"/>
              <a:ext cx="4304030" cy="6519545"/>
            </a:xfrm>
            <a:prstGeom prst="rect">
              <a:avLst/>
            </a:prstGeom>
            <a:noFill/>
            <a:ln w="9525" cap="flat" cmpd="sng" algn="ctr">
              <a:solidFill>
                <a:srgbClr val="000000"/>
              </a:solidFill>
              <a:prstDash val="solid"/>
              <a:miter lim="800000"/>
              <a:headEnd type="none" w="med" len="med"/>
              <a:tailEnd type="none" w="med" len="med"/>
            </a:ln>
          </p:spPr>
        </p:sp>
        <p:grpSp>
          <p:nvGrpSpPr>
            <p:cNvPr id="48" name="Group 4"/>
            <p:cNvGrpSpPr>
              <a:grpSpLocks/>
            </p:cNvGrpSpPr>
            <p:nvPr/>
          </p:nvGrpSpPr>
          <p:grpSpPr bwMode="auto">
            <a:xfrm>
              <a:off x="322040" y="228441"/>
              <a:ext cx="3878268" cy="6062672"/>
              <a:chOff x="4495" y="5861"/>
              <a:chExt cx="3442" cy="8360"/>
            </a:xfrm>
          </p:grpSpPr>
          <p:sp>
            <p:nvSpPr>
              <p:cNvPr id="49" name="AutoShape 5"/>
              <p:cNvSpPr>
                <a:spLocks noChangeArrowheads="1"/>
              </p:cNvSpPr>
              <p:nvPr/>
            </p:nvSpPr>
            <p:spPr bwMode="auto">
              <a:xfrm>
                <a:off x="4727" y="5861"/>
                <a:ext cx="2159" cy="689"/>
              </a:xfrm>
              <a:prstGeom prst="roundRect">
                <a:avLst>
                  <a:gd name="adj" fmla="val 16667"/>
                </a:avLst>
              </a:prstGeom>
              <a:solidFill>
                <a:srgbClr val="FFFFFF"/>
              </a:solidFill>
              <a:ln w="9525">
                <a:solidFill>
                  <a:srgbClr val="000000"/>
                </a:solidFill>
                <a:round/>
                <a:headEnd/>
                <a:tailEnd/>
              </a:ln>
            </p:spPr>
            <p:txBody>
              <a:bodyPr rot="0" vert="horz" wrap="square" lIns="90415" tIns="45209" rIns="90415" bIns="45209" anchor="ctr" anchorCtr="0" upright="1">
                <a:noAutofit/>
              </a:bodyPr>
              <a:lstStyle/>
              <a:p>
                <a:pPr algn="ctr"/>
                <a:r>
                  <a:rPr lang="en-US" sz="1000" kern="100" dirty="0" err="1">
                    <a:latin typeface="Calibri"/>
                    <a:ea typeface="宋体"/>
                    <a:cs typeface="Times New Roman"/>
                  </a:rPr>
                  <a:t>VoLTE</a:t>
                </a:r>
                <a:r>
                  <a:rPr lang="zh-CN" altLang="en-US" sz="1000" kern="100" dirty="0">
                    <a:latin typeface="Calibri"/>
                    <a:ea typeface="宋体"/>
                    <a:cs typeface="Times New Roman"/>
                  </a:rPr>
                  <a:t>主叫</a:t>
                </a:r>
                <a:r>
                  <a:rPr lang="en-US" sz="1000" kern="100" dirty="0">
                    <a:latin typeface="Calibri"/>
                    <a:ea typeface="宋体"/>
                    <a:cs typeface="Times New Roman"/>
                  </a:rPr>
                  <a:t>SIP</a:t>
                </a:r>
                <a:r>
                  <a:rPr lang="zh-CN" altLang="en-US" sz="1000" kern="100" dirty="0">
                    <a:latin typeface="Calibri"/>
                    <a:ea typeface="宋体"/>
                    <a:cs typeface="Times New Roman"/>
                  </a:rPr>
                  <a:t>失败转</a:t>
                </a:r>
                <a:r>
                  <a:rPr lang="en-US" sz="1000" kern="100" dirty="0">
                    <a:latin typeface="Calibri"/>
                    <a:ea typeface="宋体"/>
                    <a:cs typeface="Times New Roman"/>
                  </a:rPr>
                  <a:t>CSFB</a:t>
                </a:r>
                <a:endParaRPr lang="zh-CN" altLang="en-US" sz="1000" kern="100" dirty="0">
                  <a:latin typeface="Calibri"/>
                  <a:ea typeface="宋体"/>
                  <a:cs typeface="Times New Roman"/>
                </a:endParaRPr>
              </a:p>
            </p:txBody>
          </p:sp>
          <p:sp>
            <p:nvSpPr>
              <p:cNvPr id="50" name="Rectangle 6"/>
              <p:cNvSpPr>
                <a:spLocks noChangeArrowheads="1"/>
              </p:cNvSpPr>
              <p:nvPr/>
            </p:nvSpPr>
            <p:spPr bwMode="auto">
              <a:xfrm>
                <a:off x="4546" y="6869"/>
                <a:ext cx="2528" cy="702"/>
              </a:xfrm>
              <a:prstGeom prst="rect">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可能原因：无线覆盖环境差、后台参数配置错误、核心网和终端</a:t>
                </a:r>
                <a:r>
                  <a:rPr lang="zh-CN" altLang="en-US" sz="1000" kern="100" dirty="0" smtClean="0">
                    <a:latin typeface="Calibri"/>
                    <a:ea typeface="宋体"/>
                    <a:cs typeface="Times New Roman"/>
                  </a:rPr>
                  <a:t>问题、</a:t>
                </a:r>
                <a:r>
                  <a:rPr lang="en-US" sz="1000" kern="100" dirty="0">
                    <a:latin typeface="Calibri"/>
                    <a:ea typeface="宋体"/>
                    <a:cs typeface="Times New Roman"/>
                  </a:rPr>
                  <a:t>UE</a:t>
                </a:r>
                <a:r>
                  <a:rPr lang="zh-CN" altLang="en-US" sz="1000" kern="100" dirty="0">
                    <a:latin typeface="Calibri"/>
                    <a:ea typeface="宋体"/>
                    <a:cs typeface="Times New Roman"/>
                  </a:rPr>
                  <a:t>内部错误、</a:t>
                </a:r>
                <a:r>
                  <a:rPr lang="en-US" sz="1000" kern="100" dirty="0" err="1">
                    <a:latin typeface="Calibri"/>
                    <a:ea typeface="宋体"/>
                    <a:cs typeface="Times New Roman"/>
                  </a:rPr>
                  <a:t>eNB</a:t>
                </a:r>
                <a:r>
                  <a:rPr lang="zh-CN" altLang="en-US" sz="1000" kern="100" dirty="0">
                    <a:latin typeface="Calibri"/>
                    <a:ea typeface="宋体"/>
                    <a:cs typeface="Times New Roman"/>
                  </a:rPr>
                  <a:t>打印异常</a:t>
                </a:r>
              </a:p>
            </p:txBody>
          </p:sp>
          <p:sp>
            <p:nvSpPr>
              <p:cNvPr id="51" name="Rectangle 7"/>
              <p:cNvSpPr>
                <a:spLocks noChangeArrowheads="1"/>
              </p:cNvSpPr>
              <p:nvPr/>
            </p:nvSpPr>
            <p:spPr bwMode="auto">
              <a:xfrm>
                <a:off x="4650" y="7928"/>
                <a:ext cx="2302" cy="351"/>
              </a:xfrm>
              <a:prstGeom prst="rect">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可能原因</a:t>
                </a:r>
                <a:r>
                  <a:rPr lang="en-US" sz="1000" kern="100" dirty="0">
                    <a:latin typeface="Calibri"/>
                    <a:ea typeface="宋体"/>
                    <a:cs typeface="Times New Roman"/>
                  </a:rPr>
                  <a:t>1</a:t>
                </a:r>
                <a:r>
                  <a:rPr lang="zh-CN" altLang="en-US" sz="1000" kern="100" dirty="0">
                    <a:latin typeface="Calibri"/>
                    <a:ea typeface="宋体"/>
                    <a:cs typeface="Times New Roman"/>
                  </a:rPr>
                  <a:t>：无线覆盖环境差？</a:t>
                </a:r>
              </a:p>
            </p:txBody>
          </p:sp>
          <p:sp>
            <p:nvSpPr>
              <p:cNvPr id="52" name="AutoShape 8"/>
              <p:cNvSpPr>
                <a:spLocks noChangeArrowheads="1"/>
              </p:cNvSpPr>
              <p:nvPr/>
            </p:nvSpPr>
            <p:spPr bwMode="auto">
              <a:xfrm>
                <a:off x="4507" y="8559"/>
                <a:ext cx="2548" cy="690"/>
              </a:xfrm>
              <a:prstGeom prst="flowChartDecision">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是否为该原因？</a:t>
                </a:r>
              </a:p>
            </p:txBody>
          </p:sp>
          <p:sp>
            <p:nvSpPr>
              <p:cNvPr id="53" name="AutoShape 9"/>
              <p:cNvSpPr>
                <a:spLocks noChangeArrowheads="1"/>
              </p:cNvSpPr>
              <p:nvPr/>
            </p:nvSpPr>
            <p:spPr bwMode="auto">
              <a:xfrm>
                <a:off x="4495" y="10359"/>
                <a:ext cx="2560" cy="690"/>
              </a:xfrm>
              <a:prstGeom prst="flowChartDecision">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是否为该原因？</a:t>
                </a:r>
              </a:p>
            </p:txBody>
          </p:sp>
          <p:sp>
            <p:nvSpPr>
              <p:cNvPr id="54" name="Rectangle 10"/>
              <p:cNvSpPr>
                <a:spLocks noChangeArrowheads="1"/>
              </p:cNvSpPr>
              <p:nvPr/>
            </p:nvSpPr>
            <p:spPr bwMode="auto">
              <a:xfrm>
                <a:off x="4650" y="9670"/>
                <a:ext cx="2302" cy="351"/>
              </a:xfrm>
              <a:prstGeom prst="rect">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可能原因</a:t>
                </a:r>
                <a:r>
                  <a:rPr lang="en-US" sz="1000" kern="100" dirty="0">
                    <a:latin typeface="Calibri"/>
                    <a:ea typeface="宋体"/>
                    <a:cs typeface="Times New Roman"/>
                  </a:rPr>
                  <a:t>2</a:t>
                </a:r>
                <a:r>
                  <a:rPr lang="zh-CN" altLang="en-US" sz="1000" kern="100" dirty="0">
                    <a:latin typeface="Calibri"/>
                    <a:ea typeface="宋体"/>
                    <a:cs typeface="Times New Roman"/>
                  </a:rPr>
                  <a:t>：后台参数配置</a:t>
                </a:r>
                <a:r>
                  <a:rPr lang="zh-CN" altLang="en-US" sz="1000" kern="100" dirty="0" smtClean="0">
                    <a:latin typeface="Calibri"/>
                    <a:ea typeface="宋体"/>
                    <a:cs typeface="Times New Roman"/>
                  </a:rPr>
                  <a:t>错误</a:t>
                </a:r>
                <a:endParaRPr lang="zh-CN" altLang="en-US" sz="1000" kern="100" dirty="0">
                  <a:latin typeface="Calibri"/>
                  <a:ea typeface="宋体"/>
                  <a:cs typeface="Times New Roman"/>
                </a:endParaRPr>
              </a:p>
            </p:txBody>
          </p:sp>
          <p:sp>
            <p:nvSpPr>
              <p:cNvPr id="55" name="Rectangle 11"/>
              <p:cNvSpPr>
                <a:spLocks noChangeArrowheads="1"/>
              </p:cNvSpPr>
              <p:nvPr/>
            </p:nvSpPr>
            <p:spPr bwMode="auto">
              <a:xfrm>
                <a:off x="4650" y="11453"/>
                <a:ext cx="2302" cy="351"/>
              </a:xfrm>
              <a:prstGeom prst="rect">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提供解决方案或整改建议</a:t>
                </a:r>
              </a:p>
            </p:txBody>
          </p:sp>
          <p:sp>
            <p:nvSpPr>
              <p:cNvPr id="56" name="AutoShape 12"/>
              <p:cNvSpPr>
                <a:spLocks noChangeArrowheads="1"/>
              </p:cNvSpPr>
              <p:nvPr/>
            </p:nvSpPr>
            <p:spPr bwMode="auto">
              <a:xfrm>
                <a:off x="4598" y="12141"/>
                <a:ext cx="2457" cy="690"/>
              </a:xfrm>
              <a:prstGeom prst="flowChartDecision">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已经消除</a:t>
                </a:r>
              </a:p>
            </p:txBody>
          </p:sp>
          <p:sp>
            <p:nvSpPr>
              <p:cNvPr id="57" name="Rectangle 13"/>
              <p:cNvSpPr>
                <a:spLocks noChangeArrowheads="1"/>
              </p:cNvSpPr>
              <p:nvPr/>
            </p:nvSpPr>
            <p:spPr bwMode="auto">
              <a:xfrm>
                <a:off x="4650" y="13087"/>
                <a:ext cx="2302" cy="351"/>
              </a:xfrm>
              <a:prstGeom prst="rect">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经验总结</a:t>
                </a:r>
              </a:p>
            </p:txBody>
          </p:sp>
          <p:sp>
            <p:nvSpPr>
              <p:cNvPr id="58" name="AutoShape 14"/>
              <p:cNvSpPr>
                <a:spLocks noChangeArrowheads="1"/>
              </p:cNvSpPr>
              <p:nvPr/>
            </p:nvSpPr>
            <p:spPr bwMode="auto">
              <a:xfrm>
                <a:off x="4727" y="13766"/>
                <a:ext cx="2211" cy="455"/>
              </a:xfrm>
              <a:prstGeom prst="flowChartAlternateProcess">
                <a:avLst/>
              </a:prstGeom>
              <a:solidFill>
                <a:srgbClr val="FFFFFF"/>
              </a:solidFill>
              <a:ln w="9525">
                <a:solidFill>
                  <a:srgbClr val="000000"/>
                </a:solidFill>
                <a:miter lim="800000"/>
                <a:headEnd/>
                <a:tailEnd/>
              </a:ln>
            </p:spPr>
            <p:txBody>
              <a:bodyPr rot="0" vert="horz" wrap="square" lIns="90415" tIns="45209" rIns="90415" bIns="45209" anchor="ctr" anchorCtr="0" upright="1">
                <a:noAutofit/>
              </a:bodyPr>
              <a:lstStyle/>
              <a:p>
                <a:pPr algn="ctr"/>
                <a:r>
                  <a:rPr lang="zh-CN" altLang="en-US" sz="1000" kern="100" dirty="0">
                    <a:latin typeface="Calibri"/>
                    <a:ea typeface="宋体"/>
                    <a:cs typeface="Times New Roman"/>
                  </a:rPr>
                  <a:t>结束</a:t>
                </a:r>
              </a:p>
            </p:txBody>
          </p:sp>
          <p:cxnSp>
            <p:nvCxnSpPr>
              <p:cNvPr id="59" name="AutoShape 15"/>
              <p:cNvCxnSpPr>
                <a:cxnSpLocks noChangeShapeType="1"/>
                <a:stCxn id="49" idx="2"/>
                <a:endCxn id="50" idx="0"/>
              </p:cNvCxnSpPr>
              <p:nvPr/>
            </p:nvCxnSpPr>
            <p:spPr bwMode="auto">
              <a:xfrm>
                <a:off x="5807" y="6550"/>
                <a:ext cx="4" cy="3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60" name="AutoShape 16"/>
              <p:cNvCxnSpPr>
                <a:cxnSpLocks noChangeShapeType="1"/>
              </p:cNvCxnSpPr>
              <p:nvPr/>
            </p:nvCxnSpPr>
            <p:spPr bwMode="auto">
              <a:xfrm flipH="1">
                <a:off x="5797" y="7571"/>
                <a:ext cx="5" cy="3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61" name="AutoShape 17"/>
              <p:cNvCxnSpPr>
                <a:cxnSpLocks noChangeShapeType="1"/>
              </p:cNvCxnSpPr>
              <p:nvPr/>
            </p:nvCxnSpPr>
            <p:spPr bwMode="auto">
              <a:xfrm flipH="1">
                <a:off x="5797" y="8240"/>
                <a:ext cx="5" cy="3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62" name="AutoShape 18"/>
              <p:cNvCxnSpPr>
                <a:cxnSpLocks noChangeShapeType="1"/>
                <a:endCxn id="54" idx="0"/>
              </p:cNvCxnSpPr>
              <p:nvPr/>
            </p:nvCxnSpPr>
            <p:spPr bwMode="auto">
              <a:xfrm>
                <a:off x="5797" y="9249"/>
                <a:ext cx="5" cy="42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63" name="AutoShape 19"/>
              <p:cNvCxnSpPr>
                <a:cxnSpLocks noChangeShapeType="1"/>
              </p:cNvCxnSpPr>
              <p:nvPr/>
            </p:nvCxnSpPr>
            <p:spPr bwMode="auto">
              <a:xfrm flipH="1">
                <a:off x="5789" y="10021"/>
                <a:ext cx="4" cy="3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64" name="AutoShape 20"/>
              <p:cNvCxnSpPr>
                <a:cxnSpLocks noChangeShapeType="1"/>
              </p:cNvCxnSpPr>
              <p:nvPr/>
            </p:nvCxnSpPr>
            <p:spPr bwMode="auto">
              <a:xfrm>
                <a:off x="5789" y="11049"/>
                <a:ext cx="1" cy="40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65" name="AutoShape 21"/>
              <p:cNvCxnSpPr>
                <a:cxnSpLocks noChangeShapeType="1"/>
              </p:cNvCxnSpPr>
              <p:nvPr/>
            </p:nvCxnSpPr>
            <p:spPr bwMode="auto">
              <a:xfrm flipH="1">
                <a:off x="5784" y="11804"/>
                <a:ext cx="5" cy="32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66" name="AutoShape 22"/>
              <p:cNvCxnSpPr>
                <a:cxnSpLocks noChangeShapeType="1"/>
                <a:stCxn id="56" idx="2"/>
              </p:cNvCxnSpPr>
              <p:nvPr/>
            </p:nvCxnSpPr>
            <p:spPr bwMode="auto">
              <a:xfrm flipH="1">
                <a:off x="5784" y="12831"/>
                <a:ext cx="42" cy="25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67" name="AutoShape 23"/>
              <p:cNvCxnSpPr>
                <a:cxnSpLocks noChangeShapeType="1"/>
              </p:cNvCxnSpPr>
              <p:nvPr/>
            </p:nvCxnSpPr>
            <p:spPr bwMode="auto">
              <a:xfrm flipH="1">
                <a:off x="5784" y="13438"/>
                <a:ext cx="5" cy="32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68" name="AutoShape 24"/>
              <p:cNvCxnSpPr>
                <a:cxnSpLocks noChangeShapeType="1"/>
              </p:cNvCxnSpPr>
              <p:nvPr/>
            </p:nvCxnSpPr>
            <p:spPr bwMode="auto">
              <a:xfrm>
                <a:off x="7936" y="8879"/>
                <a:ext cx="1" cy="243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69" name="AutoShape 25"/>
              <p:cNvCxnSpPr>
                <a:cxnSpLocks noChangeShapeType="1"/>
                <a:stCxn id="52" idx="3"/>
              </p:cNvCxnSpPr>
              <p:nvPr/>
            </p:nvCxnSpPr>
            <p:spPr bwMode="auto">
              <a:xfrm flipV="1">
                <a:off x="7055" y="8879"/>
                <a:ext cx="881" cy="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70" name="AutoShape 26"/>
              <p:cNvCxnSpPr>
                <a:cxnSpLocks noChangeShapeType="1"/>
                <a:stCxn id="53" idx="3"/>
              </p:cNvCxnSpPr>
              <p:nvPr/>
            </p:nvCxnSpPr>
            <p:spPr bwMode="auto">
              <a:xfrm>
                <a:off x="7055" y="10704"/>
                <a:ext cx="881"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71" name="AutoShape 27"/>
              <p:cNvCxnSpPr>
                <a:cxnSpLocks noChangeShapeType="1"/>
              </p:cNvCxnSpPr>
              <p:nvPr/>
            </p:nvCxnSpPr>
            <p:spPr bwMode="auto">
              <a:xfrm flipH="1">
                <a:off x="5826" y="11309"/>
                <a:ext cx="211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sp>
            <p:nvSpPr>
              <p:cNvPr id="72" name="Rectangle 28"/>
              <p:cNvSpPr>
                <a:spLocks noChangeArrowheads="1"/>
              </p:cNvSpPr>
              <p:nvPr/>
            </p:nvSpPr>
            <p:spPr bwMode="auto">
              <a:xfrm>
                <a:off x="7253" y="8510"/>
                <a:ext cx="329" cy="369"/>
              </a:xfrm>
              <a:prstGeom prst="rect">
                <a:avLst/>
              </a:prstGeom>
              <a:solidFill>
                <a:srgbClr val="FFFFFF">
                  <a:alpha val="0"/>
                </a:srgbClr>
              </a:solidFill>
              <a:ln w="9525">
                <a:solidFill>
                  <a:srgbClr val="FFFFFF"/>
                </a:solidFill>
                <a:miter lim="800000"/>
                <a:headEnd/>
                <a:tailEnd/>
              </a:ln>
            </p:spPr>
            <p:txBody>
              <a:bodyPr rot="0" vert="horz" wrap="square" lIns="91440" tIns="45720" rIns="91440" bIns="45720" anchor="ctr" anchorCtr="0" upright="1">
                <a:noAutofit/>
              </a:bodyPr>
              <a:lstStyle/>
              <a:p>
                <a:pPr algn="just"/>
                <a:r>
                  <a:rPr lang="en-US" sz="1000" kern="100" dirty="0">
                    <a:latin typeface="Calibri"/>
                    <a:ea typeface="宋体"/>
                    <a:cs typeface="Times New Roman"/>
                  </a:rPr>
                  <a:t>Y</a:t>
                </a:r>
                <a:endParaRPr lang="zh-CN" altLang="en-US" sz="1000" kern="100" dirty="0">
                  <a:latin typeface="Calibri"/>
                  <a:ea typeface="宋体"/>
                  <a:cs typeface="Times New Roman"/>
                </a:endParaRPr>
              </a:p>
            </p:txBody>
          </p:sp>
          <p:cxnSp>
            <p:nvCxnSpPr>
              <p:cNvPr id="73" name="AutoShape 29"/>
              <p:cNvCxnSpPr>
                <a:cxnSpLocks noChangeShapeType="1"/>
                <a:stCxn id="56" idx="1"/>
              </p:cNvCxnSpPr>
              <p:nvPr/>
            </p:nvCxnSpPr>
            <p:spPr bwMode="auto">
              <a:xfrm rot="10800000" flipH="1">
                <a:off x="4598" y="11309"/>
                <a:ext cx="1186" cy="1177"/>
              </a:xfrm>
              <a:prstGeom prst="bentConnector3">
                <a:avLst>
                  <a:gd name="adj1" fmla="val -26569"/>
                </a:avLst>
              </a:prstGeom>
              <a:noFill/>
              <a:ln w="9525">
                <a:solidFill>
                  <a:srgbClr val="000000"/>
                </a:solidFill>
                <a:miter lim="800000"/>
                <a:headEnd/>
                <a:tailEnd type="triangle" w="med" len="med"/>
              </a:ln>
              <a:extLst>
                <a:ext uri="{909E8E84-426E-40DD-AFC4-6F175D3DCCD1}">
                  <a14:hiddenFill xmlns:a14="http://schemas.microsoft.com/office/drawing/2010/main" xmlns="">
                    <a:noFill/>
                  </a14:hiddenFill>
                </a:ext>
              </a:extLst>
            </p:spPr>
          </p:cxnSp>
          <p:sp>
            <p:nvSpPr>
              <p:cNvPr id="74" name="Rectangle 30"/>
              <p:cNvSpPr>
                <a:spLocks noChangeArrowheads="1"/>
              </p:cNvSpPr>
              <p:nvPr/>
            </p:nvSpPr>
            <p:spPr bwMode="auto">
              <a:xfrm flipV="1">
                <a:off x="7253" y="10359"/>
                <a:ext cx="394" cy="502"/>
              </a:xfrm>
              <a:prstGeom prst="rect">
                <a:avLst/>
              </a:prstGeom>
              <a:solidFill>
                <a:srgbClr val="FFFFFF">
                  <a:alpha val="0"/>
                </a:srgbClr>
              </a:solidFill>
              <a:ln w="9525">
                <a:solidFill>
                  <a:srgbClr val="FFFFFF"/>
                </a:solidFill>
                <a:miter lim="800000"/>
                <a:headEnd/>
                <a:tailEnd/>
              </a:ln>
            </p:spPr>
            <p:txBody>
              <a:bodyPr rot="0" vert="horz" wrap="square" lIns="91440" tIns="45720" rIns="91440" bIns="45720" anchor="ctr" anchorCtr="0" upright="1">
                <a:noAutofit/>
              </a:bodyPr>
              <a:lstStyle/>
              <a:p>
                <a:pPr algn="just"/>
                <a:r>
                  <a:rPr lang="en-US" sz="1000" kern="100" dirty="0">
                    <a:latin typeface="Calibri"/>
                    <a:ea typeface="宋体"/>
                    <a:cs typeface="Times New Roman"/>
                  </a:rPr>
                  <a:t>Y</a:t>
                </a:r>
                <a:endParaRPr lang="zh-CN" altLang="en-US" sz="1000" kern="100" dirty="0">
                  <a:latin typeface="Calibri"/>
                  <a:ea typeface="宋体"/>
                  <a:cs typeface="Times New Roman"/>
                </a:endParaRPr>
              </a:p>
            </p:txBody>
          </p:sp>
          <p:sp>
            <p:nvSpPr>
              <p:cNvPr id="75" name="Rectangle 31"/>
              <p:cNvSpPr>
                <a:spLocks noChangeArrowheads="1"/>
              </p:cNvSpPr>
              <p:nvPr/>
            </p:nvSpPr>
            <p:spPr bwMode="auto">
              <a:xfrm>
                <a:off x="5826" y="9249"/>
                <a:ext cx="329" cy="369"/>
              </a:xfrm>
              <a:prstGeom prst="rect">
                <a:avLst/>
              </a:prstGeom>
              <a:solidFill>
                <a:srgbClr val="FFFFFF">
                  <a:alpha val="0"/>
                </a:srgbClr>
              </a:solidFill>
              <a:ln w="9525">
                <a:solidFill>
                  <a:srgbClr val="FFFFFF"/>
                </a:solidFill>
                <a:miter lim="800000"/>
                <a:headEnd/>
                <a:tailEnd/>
              </a:ln>
            </p:spPr>
            <p:txBody>
              <a:bodyPr rot="0" vert="horz" wrap="square" lIns="91440" tIns="45720" rIns="91440" bIns="45720" anchor="ctr" anchorCtr="0" upright="1">
                <a:noAutofit/>
              </a:bodyPr>
              <a:lstStyle/>
              <a:p>
                <a:pPr algn="just"/>
                <a:r>
                  <a:rPr lang="en-US" sz="1000" kern="100" dirty="0">
                    <a:latin typeface="Calibri"/>
                    <a:ea typeface="宋体"/>
                    <a:cs typeface="Times New Roman"/>
                  </a:rPr>
                  <a:t>N</a:t>
                </a:r>
                <a:endParaRPr lang="zh-CN" altLang="en-US" sz="1000" kern="100" dirty="0">
                  <a:latin typeface="Calibri"/>
                  <a:ea typeface="宋体"/>
                  <a:cs typeface="Times New Roman"/>
                </a:endParaRPr>
              </a:p>
            </p:txBody>
          </p:sp>
          <p:sp>
            <p:nvSpPr>
              <p:cNvPr id="76" name="Rectangle 32"/>
              <p:cNvSpPr>
                <a:spLocks noChangeArrowheads="1"/>
              </p:cNvSpPr>
              <p:nvPr/>
            </p:nvSpPr>
            <p:spPr bwMode="auto">
              <a:xfrm>
                <a:off x="5901" y="10942"/>
                <a:ext cx="328" cy="368"/>
              </a:xfrm>
              <a:prstGeom prst="rect">
                <a:avLst/>
              </a:prstGeom>
              <a:solidFill>
                <a:srgbClr val="FFFFFF">
                  <a:alpha val="0"/>
                </a:srgbClr>
              </a:solidFill>
              <a:ln w="9525">
                <a:solidFill>
                  <a:srgbClr val="FFFFFF"/>
                </a:solidFill>
                <a:miter lim="800000"/>
                <a:headEnd/>
                <a:tailEnd/>
              </a:ln>
            </p:spPr>
            <p:txBody>
              <a:bodyPr rot="0" vert="horz" wrap="square" lIns="91440" tIns="45720" rIns="91440" bIns="45720" anchor="ctr" anchorCtr="0" upright="1">
                <a:noAutofit/>
              </a:bodyPr>
              <a:lstStyle/>
              <a:p>
                <a:pPr algn="just"/>
                <a:r>
                  <a:rPr lang="en-US" sz="1000" kern="100" dirty="0">
                    <a:latin typeface="Calibri"/>
                    <a:ea typeface="宋体"/>
                    <a:cs typeface="Times New Roman"/>
                  </a:rPr>
                  <a:t>N</a:t>
                </a:r>
                <a:endParaRPr lang="zh-CN" altLang="en-US" sz="1000" kern="100" dirty="0">
                  <a:latin typeface="Calibri"/>
                  <a:ea typeface="宋体"/>
                  <a:cs typeface="Times New Roman"/>
                </a:endParaRPr>
              </a:p>
            </p:txBody>
          </p:sp>
          <p:sp>
            <p:nvSpPr>
              <p:cNvPr id="77" name="Rectangle 33"/>
              <p:cNvSpPr>
                <a:spLocks noChangeArrowheads="1"/>
              </p:cNvSpPr>
              <p:nvPr/>
            </p:nvSpPr>
            <p:spPr bwMode="auto">
              <a:xfrm flipV="1">
                <a:off x="5797" y="12753"/>
                <a:ext cx="394" cy="427"/>
              </a:xfrm>
              <a:prstGeom prst="rect">
                <a:avLst/>
              </a:prstGeom>
              <a:solidFill>
                <a:srgbClr val="FFFFFF">
                  <a:alpha val="0"/>
                </a:srgbClr>
              </a:solidFill>
              <a:ln w="9525">
                <a:solidFill>
                  <a:srgbClr val="FFFFFF"/>
                </a:solidFill>
                <a:miter lim="800000"/>
                <a:headEnd/>
                <a:tailEnd/>
              </a:ln>
            </p:spPr>
            <p:txBody>
              <a:bodyPr rot="0" vert="horz" wrap="square" lIns="91440" tIns="45720" rIns="91440" bIns="45720" anchor="ctr" anchorCtr="0" upright="1">
                <a:noAutofit/>
              </a:bodyPr>
              <a:lstStyle/>
              <a:p>
                <a:pPr algn="just"/>
                <a:r>
                  <a:rPr lang="en-US" sz="1000" kern="100" dirty="0">
                    <a:latin typeface="Calibri"/>
                    <a:ea typeface="宋体"/>
                    <a:cs typeface="Times New Roman"/>
                  </a:rPr>
                  <a:t>Y</a:t>
                </a:r>
                <a:endParaRPr lang="zh-CN" altLang="en-US" sz="1000" kern="100" dirty="0">
                  <a:latin typeface="Calibri"/>
                  <a:ea typeface="宋体"/>
                  <a:cs typeface="Times New Roman"/>
                </a:endParaRPr>
              </a:p>
            </p:txBody>
          </p:sp>
        </p:grpSp>
      </p:grpSp>
      <p:sp>
        <p:nvSpPr>
          <p:cNvPr id="80" name="TextBox 79"/>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17</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泰安 青年路</a:t>
            </a:r>
            <a:r>
              <a:rPr lang="en-US" altLang="zh-CN" sz="2400" b="1" dirty="0" err="1" smtClean="0">
                <a:solidFill>
                  <a:schemeClr val="bg1"/>
                </a:solidFill>
                <a:latin typeface="+mn-ea"/>
              </a:rPr>
              <a:t>VoLTE</a:t>
            </a:r>
            <a:r>
              <a:rPr lang="zh-CN" altLang="en-US" sz="2400" b="1" dirty="0" smtClean="0">
                <a:solidFill>
                  <a:schemeClr val="bg1"/>
                </a:solidFill>
                <a:latin typeface="+mn-ea"/>
              </a:rPr>
              <a:t>呼叫建立失败（</a:t>
            </a:r>
            <a:r>
              <a:rPr lang="en-US" altLang="zh-CN" sz="2400" b="1" dirty="0" smtClean="0">
                <a:solidFill>
                  <a:schemeClr val="bg1"/>
                </a:solidFill>
                <a:latin typeface="+mn-ea"/>
              </a:rPr>
              <a:t>TAC</a:t>
            </a:r>
            <a:r>
              <a:rPr lang="zh-CN" altLang="en-US" sz="2400" b="1" dirty="0" smtClean="0">
                <a:solidFill>
                  <a:schemeClr val="bg1"/>
                </a:solidFill>
                <a:latin typeface="+mn-ea"/>
              </a:rPr>
              <a:t>位置更新）</a:t>
            </a:r>
          </a:p>
        </p:txBody>
      </p:sp>
    </p:spTree>
    <p:extLst>
      <p:ext uri="{BB962C8B-B14F-4D97-AF65-F5344CB8AC3E}">
        <p14:creationId xmlns:p14="http://schemas.microsoft.com/office/powerpoint/2010/main" xmlns="" val="4243413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 y="601850"/>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t>问题分析</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4" name="TextBox 3"/>
          <p:cNvSpPr txBox="1"/>
          <p:nvPr/>
        </p:nvSpPr>
        <p:spPr>
          <a:xfrm>
            <a:off x="363071" y="998564"/>
            <a:ext cx="9697077" cy="830997"/>
          </a:xfrm>
          <a:prstGeom prst="rect">
            <a:avLst/>
          </a:prstGeom>
          <a:noFill/>
        </p:spPr>
        <p:txBody>
          <a:bodyPr wrap="square" lIns="91431" tIns="45715" rIns="91431" bIns="45715" rtlCol="0">
            <a:spAutoFit/>
          </a:bodyPr>
          <a:lstStyle/>
          <a:p>
            <a:r>
              <a:rPr lang="zh-CN" altLang="zh-CN" sz="1200" dirty="0"/>
              <a:t> </a:t>
            </a:r>
            <a:r>
              <a:rPr lang="en-US" altLang="zh-CN" sz="1200" dirty="0" err="1"/>
              <a:t>VoLTE</a:t>
            </a:r>
            <a:r>
              <a:rPr lang="zh-CN" altLang="zh-CN" sz="1200" dirty="0"/>
              <a:t>呼叫建立失败可能与无线环境、终端或核心网原因、</a:t>
            </a:r>
            <a:r>
              <a:rPr lang="en-US" altLang="zh-CN" sz="1200" dirty="0"/>
              <a:t>TAC</a:t>
            </a:r>
            <a:r>
              <a:rPr lang="zh-CN" altLang="zh-CN" sz="1200" dirty="0"/>
              <a:t>位置更新有关。之后对该位置进行复测，该位置附近</a:t>
            </a:r>
            <a:r>
              <a:rPr lang="en-US" altLang="zh-CN" sz="1200" dirty="0"/>
              <a:t>LTE</a:t>
            </a:r>
            <a:r>
              <a:rPr lang="zh-CN" altLang="zh-CN" sz="1200" dirty="0"/>
              <a:t>覆盖正常，</a:t>
            </a:r>
            <a:r>
              <a:rPr lang="en-US" altLang="zh-CN" sz="1200" dirty="0"/>
              <a:t>SINR</a:t>
            </a:r>
            <a:r>
              <a:rPr lang="zh-CN" altLang="zh-CN" sz="1200" dirty="0"/>
              <a:t>值良好，能够满足正常的</a:t>
            </a:r>
            <a:r>
              <a:rPr lang="en-US" altLang="zh-CN" sz="1200" dirty="0" err="1"/>
              <a:t>VoLTE</a:t>
            </a:r>
            <a:r>
              <a:rPr lang="zh-CN" altLang="zh-CN" sz="1200" dirty="0"/>
              <a:t>通话需求，后台检查</a:t>
            </a:r>
            <a:r>
              <a:rPr lang="en-US" altLang="zh-CN" sz="1200" dirty="0"/>
              <a:t>LTE</a:t>
            </a:r>
            <a:r>
              <a:rPr lang="zh-CN" altLang="zh-CN" sz="1200" dirty="0"/>
              <a:t>小区</a:t>
            </a:r>
            <a:r>
              <a:rPr lang="en-US" altLang="zh-CN" sz="1200" dirty="0" err="1"/>
              <a:t>VoLTE</a:t>
            </a:r>
            <a:r>
              <a:rPr lang="zh-CN" altLang="zh-CN" sz="1200" dirty="0"/>
              <a:t>参数设置正常，核心网核查正常。通过分析当时事件</a:t>
            </a:r>
            <a:r>
              <a:rPr lang="en-US" altLang="zh-CN" sz="1200" dirty="0"/>
              <a:t>LOG</a:t>
            </a:r>
            <a:r>
              <a:rPr lang="zh-CN" altLang="zh-CN" sz="1200" dirty="0"/>
              <a:t>，进一步查明原因。在下文中：符号↓标识下行信令，符号↑表示上行信令。</a:t>
            </a:r>
          </a:p>
          <a:p>
            <a:endParaRPr lang="zh-CN" altLang="en-US" sz="1200" dirty="0"/>
          </a:p>
        </p:txBody>
      </p:sp>
      <p:sp>
        <p:nvSpPr>
          <p:cNvPr id="5" name="矩形 4"/>
          <p:cNvSpPr/>
          <p:nvPr/>
        </p:nvSpPr>
        <p:spPr>
          <a:xfrm>
            <a:off x="201454" y="1508619"/>
            <a:ext cx="9293032" cy="369332"/>
          </a:xfrm>
          <a:prstGeom prst="rect">
            <a:avLst/>
          </a:prstGeom>
        </p:spPr>
        <p:txBody>
          <a:bodyPr wrap="square" lIns="91431" tIns="45715" rIns="91431" bIns="45715">
            <a:spAutoFit/>
          </a:bodyPr>
          <a:lstStyle/>
          <a:p>
            <a:r>
              <a:rPr lang="en-US" altLang="zh-CN" b="1" dirty="0"/>
              <a:t>（1）主叫UE：12:41:37.944  ↑  LTE NAS--&gt;Service request</a:t>
            </a:r>
            <a:endParaRPr lang="zh-CN" altLang="zh-CN" b="1" dirty="0"/>
          </a:p>
        </p:txBody>
      </p:sp>
      <p:pic>
        <p:nvPicPr>
          <p:cNvPr id="6" name="图片 5"/>
          <p:cNvPicPr/>
          <p:nvPr/>
        </p:nvPicPr>
        <p:blipFill>
          <a:blip r:embed="rId2" cstate="print"/>
          <a:stretch>
            <a:fillRect/>
          </a:stretch>
        </p:blipFill>
        <p:spPr>
          <a:xfrm>
            <a:off x="1888496" y="1799297"/>
            <a:ext cx="5918948" cy="1223433"/>
          </a:xfrm>
          <a:prstGeom prst="rect">
            <a:avLst/>
          </a:prstGeom>
          <a:ln>
            <a:solidFill>
              <a:schemeClr val="accent1"/>
            </a:solidFill>
          </a:ln>
        </p:spPr>
      </p:pic>
      <p:sp>
        <p:nvSpPr>
          <p:cNvPr id="7" name="TextBox 6"/>
          <p:cNvSpPr txBox="1"/>
          <p:nvPr/>
        </p:nvSpPr>
        <p:spPr>
          <a:xfrm>
            <a:off x="822848" y="3027135"/>
            <a:ext cx="8808179" cy="461665"/>
          </a:xfrm>
          <a:prstGeom prst="rect">
            <a:avLst/>
          </a:prstGeom>
          <a:noFill/>
        </p:spPr>
        <p:txBody>
          <a:bodyPr wrap="square" lIns="91431" tIns="45715" rIns="91431" bIns="45715" rtlCol="0">
            <a:spAutoFit/>
          </a:bodyPr>
          <a:lstStyle/>
          <a:p>
            <a:r>
              <a:rPr lang="zh-CN" altLang="zh-CN" sz="1200" dirty="0"/>
              <a:t>时间：</a:t>
            </a:r>
            <a:r>
              <a:rPr lang="en-US" altLang="zh-CN" sz="1200" dirty="0"/>
              <a:t>12:41:37.944</a:t>
            </a:r>
            <a:r>
              <a:rPr lang="zh-CN" altLang="zh-CN" sz="1200" dirty="0"/>
              <a:t>，主叫</a:t>
            </a:r>
            <a:r>
              <a:rPr lang="en-US" altLang="zh-CN" sz="1200" dirty="0"/>
              <a:t>UE</a:t>
            </a:r>
            <a:r>
              <a:rPr lang="zh-CN" altLang="zh-CN" sz="1200" dirty="0"/>
              <a:t>向基站侧发送</a:t>
            </a:r>
            <a:r>
              <a:rPr lang="en-US" altLang="zh-CN" sz="1200" b="1" dirty="0"/>
              <a:t>Service request</a:t>
            </a:r>
            <a:r>
              <a:rPr lang="zh-CN" altLang="zh-CN" sz="1200" dirty="0"/>
              <a:t>消息，开始呼叫建立请求。</a:t>
            </a:r>
          </a:p>
          <a:p>
            <a:endParaRPr lang="zh-CN" altLang="en-US" sz="1200" dirty="0"/>
          </a:p>
        </p:txBody>
      </p:sp>
      <p:sp>
        <p:nvSpPr>
          <p:cNvPr id="8" name="矩形 7"/>
          <p:cNvSpPr/>
          <p:nvPr/>
        </p:nvSpPr>
        <p:spPr>
          <a:xfrm>
            <a:off x="168657" y="3208808"/>
            <a:ext cx="9574833" cy="369332"/>
          </a:xfrm>
          <a:prstGeom prst="rect">
            <a:avLst/>
          </a:prstGeom>
        </p:spPr>
        <p:txBody>
          <a:bodyPr wrap="square" lIns="91431" tIns="45715" rIns="91431" bIns="45715">
            <a:spAutoFit/>
          </a:bodyPr>
          <a:lstStyle/>
          <a:p>
            <a:r>
              <a:rPr lang="en-US" altLang="zh-CN" b="1" dirty="0"/>
              <a:t>（2）</a:t>
            </a:r>
            <a:r>
              <a:rPr lang="zh-CN" altLang="zh-CN" b="1" dirty="0"/>
              <a:t>主叫</a:t>
            </a:r>
            <a:r>
              <a:rPr lang="en-US" altLang="zh-CN" b="1" dirty="0"/>
              <a:t>UE</a:t>
            </a:r>
            <a:r>
              <a:rPr lang="zh-CN" altLang="zh-CN" b="1" dirty="0"/>
              <a:t>：</a:t>
            </a:r>
            <a:r>
              <a:rPr lang="en-US" altLang="zh-CN" b="1" dirty="0"/>
              <a:t>12:41:40.844  ↑  LTE RRC--&gt;RRC Connection Reconfiguration Complete</a:t>
            </a:r>
            <a:endParaRPr lang="zh-CN" altLang="zh-CN" b="1" dirty="0"/>
          </a:p>
        </p:txBody>
      </p:sp>
      <p:pic>
        <p:nvPicPr>
          <p:cNvPr id="9" name="图片 8"/>
          <p:cNvPicPr/>
          <p:nvPr/>
        </p:nvPicPr>
        <p:blipFill>
          <a:blip r:embed="rId3" cstate="print"/>
          <a:stretch>
            <a:fillRect/>
          </a:stretch>
        </p:blipFill>
        <p:spPr>
          <a:xfrm>
            <a:off x="1869659" y="3499485"/>
            <a:ext cx="5918948" cy="1310893"/>
          </a:xfrm>
          <a:prstGeom prst="rect">
            <a:avLst/>
          </a:prstGeom>
          <a:ln>
            <a:solidFill>
              <a:schemeClr val="accent1"/>
            </a:solidFill>
          </a:ln>
        </p:spPr>
      </p:pic>
      <p:sp>
        <p:nvSpPr>
          <p:cNvPr id="10" name="TextBox 9"/>
          <p:cNvSpPr txBox="1"/>
          <p:nvPr/>
        </p:nvSpPr>
        <p:spPr>
          <a:xfrm>
            <a:off x="822848" y="4908998"/>
            <a:ext cx="8808179" cy="461665"/>
          </a:xfrm>
          <a:prstGeom prst="rect">
            <a:avLst/>
          </a:prstGeom>
          <a:noFill/>
        </p:spPr>
        <p:txBody>
          <a:bodyPr wrap="square" lIns="91431" tIns="45715" rIns="91431" bIns="45715" rtlCol="0">
            <a:spAutoFit/>
          </a:bodyPr>
          <a:lstStyle/>
          <a:p>
            <a:r>
              <a:rPr lang="zh-CN" altLang="zh-CN" sz="1200" dirty="0"/>
              <a:t>时间：</a:t>
            </a:r>
            <a:r>
              <a:rPr lang="en-US" altLang="zh-CN" sz="1200" dirty="0"/>
              <a:t>12:41:40.844</a:t>
            </a:r>
            <a:r>
              <a:rPr lang="zh-CN" altLang="zh-CN" sz="1200" dirty="0"/>
              <a:t>，基站侧下发</a:t>
            </a:r>
            <a:r>
              <a:rPr lang="en-US" altLang="zh-CN" sz="1200" dirty="0"/>
              <a:t>Trying 100</a:t>
            </a:r>
            <a:r>
              <a:rPr lang="zh-CN" altLang="zh-CN" sz="1200" dirty="0"/>
              <a:t>小时候，主叫</a:t>
            </a:r>
            <a:r>
              <a:rPr lang="en-US" altLang="zh-CN" sz="1200" dirty="0"/>
              <a:t>QCI=1</a:t>
            </a:r>
            <a:r>
              <a:rPr lang="zh-CN" altLang="zh-CN" sz="1200" dirty="0"/>
              <a:t>的专用承载建立成功，</a:t>
            </a:r>
            <a:r>
              <a:rPr lang="en-US" altLang="zh-CN" sz="1200" dirty="0"/>
              <a:t>E-RAB</a:t>
            </a:r>
            <a:r>
              <a:rPr lang="zh-CN" altLang="zh-CN" sz="1200" dirty="0"/>
              <a:t>建立成功，至此为正常的</a:t>
            </a:r>
            <a:r>
              <a:rPr lang="en-US" altLang="zh-CN" sz="1200" dirty="0" err="1"/>
              <a:t>VoLTE</a:t>
            </a:r>
            <a:r>
              <a:rPr lang="zh-CN" altLang="zh-CN" sz="1200" dirty="0"/>
              <a:t>呼叫建立流程</a:t>
            </a:r>
            <a:r>
              <a:rPr lang="zh-CN" altLang="zh-CN" sz="1200" dirty="0" smtClean="0"/>
              <a:t>。</a:t>
            </a:r>
            <a:endParaRPr lang="zh-CN" altLang="en-US" sz="1200" dirty="0"/>
          </a:p>
        </p:txBody>
      </p:sp>
      <p:sp>
        <p:nvSpPr>
          <p:cNvPr id="11" name="TextBox 10"/>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17</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泰安 青年路</a:t>
            </a:r>
            <a:r>
              <a:rPr lang="en-US" altLang="zh-CN" sz="2400" b="1" dirty="0" err="1" smtClean="0">
                <a:solidFill>
                  <a:schemeClr val="bg1"/>
                </a:solidFill>
                <a:latin typeface="+mn-ea"/>
              </a:rPr>
              <a:t>VoLTE</a:t>
            </a:r>
            <a:r>
              <a:rPr lang="zh-CN" altLang="en-US" sz="2400" b="1" dirty="0" smtClean="0">
                <a:solidFill>
                  <a:schemeClr val="bg1"/>
                </a:solidFill>
                <a:latin typeface="+mn-ea"/>
              </a:rPr>
              <a:t>呼叫建立失败（</a:t>
            </a:r>
            <a:r>
              <a:rPr lang="en-US" altLang="zh-CN" sz="2400" b="1" dirty="0" smtClean="0">
                <a:solidFill>
                  <a:schemeClr val="bg1"/>
                </a:solidFill>
                <a:latin typeface="+mn-ea"/>
              </a:rPr>
              <a:t>TAC</a:t>
            </a:r>
            <a:r>
              <a:rPr lang="zh-CN" altLang="en-US" sz="2400" b="1" dirty="0" smtClean="0">
                <a:solidFill>
                  <a:schemeClr val="bg1"/>
                </a:solidFill>
                <a:latin typeface="+mn-ea"/>
              </a:rPr>
              <a:t>位置更新）</a:t>
            </a:r>
          </a:p>
        </p:txBody>
      </p:sp>
    </p:spTree>
    <p:extLst>
      <p:ext uri="{BB962C8B-B14F-4D97-AF65-F5344CB8AC3E}">
        <p14:creationId xmlns:p14="http://schemas.microsoft.com/office/powerpoint/2010/main" xmlns="" val="1325682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545178"/>
            <a:ext cx="2141197" cy="369332"/>
          </a:xfrm>
          <a:prstGeom prst="rect">
            <a:avLst/>
          </a:prstGeom>
        </p:spPr>
        <p:txBody>
          <a:bodyPr wrap="square" lIns="91431" tIns="45715" rIns="91431" bIns="45715">
            <a:spAutoFit/>
          </a:bodyPr>
          <a:lstStyle/>
          <a:p>
            <a:pPr eaLnBrk="0" fontAlgn="base" hangingPunct="0">
              <a:spcBef>
                <a:spcPct val="0"/>
              </a:spcBef>
              <a:spcAft>
                <a:spcPct val="0"/>
              </a:spcAft>
              <a:defRPr/>
            </a:pPr>
            <a:r>
              <a:rPr lang="zh-CN" altLang="zh-CN" b="1" dirty="0">
                <a:solidFill>
                  <a:prstClr val="black"/>
                </a:solidFill>
                <a:latin typeface="宋体" panose="02010600030101010101" pitchFamily="2" charset="-122"/>
              </a:rPr>
              <a:t>【</a:t>
            </a:r>
            <a:r>
              <a:rPr lang="zh-CN" altLang="en-US" b="1" dirty="0"/>
              <a:t>问题分析</a:t>
            </a:r>
            <a:r>
              <a:rPr lang="zh-CN" altLang="zh-CN" b="1" dirty="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4" name="矩形 3"/>
          <p:cNvSpPr/>
          <p:nvPr/>
        </p:nvSpPr>
        <p:spPr>
          <a:xfrm>
            <a:off x="282261" y="835855"/>
            <a:ext cx="9777886" cy="369332"/>
          </a:xfrm>
          <a:prstGeom prst="rect">
            <a:avLst/>
          </a:prstGeom>
        </p:spPr>
        <p:txBody>
          <a:bodyPr wrap="square" lIns="91431" tIns="45715" rIns="91431" bIns="45715">
            <a:spAutoFit/>
          </a:bodyPr>
          <a:lstStyle/>
          <a:p>
            <a:r>
              <a:rPr lang="en-US" altLang="zh-CN" b="1" dirty="0"/>
              <a:t>（3）被叫UE</a:t>
            </a:r>
            <a:r>
              <a:rPr lang="zh-CN" altLang="zh-CN" b="1" dirty="0"/>
              <a:t>：</a:t>
            </a:r>
            <a:r>
              <a:rPr lang="en-US" altLang="zh-CN" b="1" dirty="0"/>
              <a:t>10:42:05.574  ↓  LTE RRC--&gt;System Information Block Type 1  </a:t>
            </a:r>
            <a:endParaRPr lang="zh-CN" altLang="zh-CN" b="1" dirty="0"/>
          </a:p>
        </p:txBody>
      </p:sp>
      <p:pic>
        <p:nvPicPr>
          <p:cNvPr id="5" name="图片 4"/>
          <p:cNvPicPr/>
          <p:nvPr/>
        </p:nvPicPr>
        <p:blipFill>
          <a:blip r:embed="rId2" cstate="print"/>
          <a:stretch>
            <a:fillRect/>
          </a:stretch>
        </p:blipFill>
        <p:spPr>
          <a:xfrm>
            <a:off x="1781285" y="1126534"/>
            <a:ext cx="5907722" cy="1662565"/>
          </a:xfrm>
          <a:prstGeom prst="rect">
            <a:avLst/>
          </a:prstGeom>
          <a:ln>
            <a:solidFill>
              <a:schemeClr val="accent1"/>
            </a:solidFill>
          </a:ln>
        </p:spPr>
      </p:pic>
      <p:sp>
        <p:nvSpPr>
          <p:cNvPr id="6" name="TextBox 5"/>
          <p:cNvSpPr txBox="1"/>
          <p:nvPr/>
        </p:nvSpPr>
        <p:spPr>
          <a:xfrm>
            <a:off x="626368" y="2810050"/>
            <a:ext cx="8646561" cy="646331"/>
          </a:xfrm>
          <a:prstGeom prst="rect">
            <a:avLst/>
          </a:prstGeom>
          <a:noFill/>
        </p:spPr>
        <p:txBody>
          <a:bodyPr wrap="square" lIns="91431" tIns="45715" rIns="91431" bIns="45715" rtlCol="0">
            <a:spAutoFit/>
          </a:bodyPr>
          <a:lstStyle/>
          <a:p>
            <a:r>
              <a:rPr lang="zh-CN" altLang="zh-CN" sz="1200" dirty="0"/>
              <a:t>主叫</a:t>
            </a:r>
            <a:r>
              <a:rPr lang="en-US" altLang="zh-CN" sz="1200" dirty="0"/>
              <a:t>UE</a:t>
            </a:r>
            <a:r>
              <a:rPr lang="zh-CN" altLang="zh-CN" sz="1200" dirty="0"/>
              <a:t>在时间：</a:t>
            </a:r>
            <a:r>
              <a:rPr lang="en-US" altLang="zh-CN" sz="1200" dirty="0"/>
              <a:t>10:42:05.574</a:t>
            </a:r>
            <a:r>
              <a:rPr lang="zh-CN" altLang="zh-CN" sz="1200" dirty="0"/>
              <a:t>，进行位置更新，通过位置更信后基站侧下发的</a:t>
            </a:r>
            <a:r>
              <a:rPr lang="en-US" altLang="zh-CN" sz="1200" dirty="0"/>
              <a:t>SIB1</a:t>
            </a:r>
            <a:r>
              <a:rPr lang="zh-CN" altLang="zh-CN" sz="1200" dirty="0"/>
              <a:t>中的</a:t>
            </a:r>
            <a:r>
              <a:rPr lang="en-US" altLang="zh-CN" sz="1200" dirty="0" err="1"/>
              <a:t>cellIdentity</a:t>
            </a:r>
            <a:r>
              <a:rPr lang="en-US" altLang="zh-CN" sz="1200" dirty="0"/>
              <a:t> = 0101101011110000101000001100</a:t>
            </a:r>
            <a:r>
              <a:rPr lang="zh-CN" altLang="zh-CN" sz="1200" dirty="0"/>
              <a:t>进行计算，该小区为</a:t>
            </a:r>
            <a:r>
              <a:rPr lang="en-US" altLang="zh-CN" sz="1200" dirty="0"/>
              <a:t>372490-12</a:t>
            </a:r>
            <a:r>
              <a:rPr lang="zh-CN" altLang="zh-CN" sz="1200" dirty="0"/>
              <a:t>，即青年路</a:t>
            </a:r>
            <a:r>
              <a:rPr lang="en-US" altLang="zh-CN" sz="1200" dirty="0"/>
              <a:t>2</a:t>
            </a:r>
            <a:r>
              <a:rPr lang="zh-CN" altLang="zh-CN" sz="1200" dirty="0"/>
              <a:t>小区，</a:t>
            </a:r>
            <a:r>
              <a:rPr lang="en-US" altLang="zh-CN" sz="1200" dirty="0"/>
              <a:t>UE</a:t>
            </a:r>
            <a:r>
              <a:rPr lang="zh-CN" altLang="zh-CN" sz="1200" dirty="0"/>
              <a:t>跨</a:t>
            </a:r>
            <a:r>
              <a:rPr lang="en-US" altLang="zh-CN" sz="1200" dirty="0"/>
              <a:t>TAC</a:t>
            </a:r>
            <a:r>
              <a:rPr lang="zh-CN" altLang="zh-CN" sz="1200" dirty="0"/>
              <a:t>进行了位置更新。</a:t>
            </a:r>
          </a:p>
          <a:p>
            <a:endParaRPr lang="zh-CN" altLang="en-US" sz="1200" dirty="0"/>
          </a:p>
        </p:txBody>
      </p:sp>
      <p:sp>
        <p:nvSpPr>
          <p:cNvPr id="7" name="矩形 6"/>
          <p:cNvSpPr/>
          <p:nvPr/>
        </p:nvSpPr>
        <p:spPr>
          <a:xfrm>
            <a:off x="241857" y="3125049"/>
            <a:ext cx="9212223" cy="369332"/>
          </a:xfrm>
          <a:prstGeom prst="rect">
            <a:avLst/>
          </a:prstGeom>
        </p:spPr>
        <p:txBody>
          <a:bodyPr wrap="square" lIns="91431" tIns="45715" rIns="91431" bIns="45715">
            <a:spAutoFit/>
          </a:bodyPr>
          <a:lstStyle/>
          <a:p>
            <a:r>
              <a:rPr lang="en-US" altLang="zh-CN" b="1" dirty="0"/>
              <a:t>（4）被叫UE</a:t>
            </a:r>
            <a:r>
              <a:rPr lang="zh-CN" altLang="zh-CN" b="1" dirty="0"/>
              <a:t>：</a:t>
            </a:r>
            <a:r>
              <a:rPr lang="en-US" altLang="zh-CN" b="1" dirty="0"/>
              <a:t>12:42:10.404  ↑  IMS_SIP_CANCEL</a:t>
            </a:r>
            <a:endParaRPr lang="zh-CN" altLang="zh-CN" b="1" dirty="0"/>
          </a:p>
        </p:txBody>
      </p:sp>
      <p:pic>
        <p:nvPicPr>
          <p:cNvPr id="8" name="图片 7"/>
          <p:cNvPicPr/>
          <p:nvPr/>
        </p:nvPicPr>
        <p:blipFill>
          <a:blip r:embed="rId3" cstate="print"/>
          <a:stretch>
            <a:fillRect/>
          </a:stretch>
        </p:blipFill>
        <p:spPr>
          <a:xfrm>
            <a:off x="1713446" y="3415728"/>
            <a:ext cx="5918948" cy="1217936"/>
          </a:xfrm>
          <a:prstGeom prst="rect">
            <a:avLst/>
          </a:prstGeom>
          <a:ln>
            <a:solidFill>
              <a:schemeClr val="accent1"/>
            </a:solidFill>
          </a:ln>
        </p:spPr>
      </p:pic>
      <p:sp>
        <p:nvSpPr>
          <p:cNvPr id="9" name="TextBox 8"/>
          <p:cNvSpPr txBox="1"/>
          <p:nvPr/>
        </p:nvSpPr>
        <p:spPr>
          <a:xfrm>
            <a:off x="544890" y="4738978"/>
            <a:ext cx="8909190" cy="646331"/>
          </a:xfrm>
          <a:prstGeom prst="rect">
            <a:avLst/>
          </a:prstGeom>
          <a:noFill/>
        </p:spPr>
        <p:txBody>
          <a:bodyPr wrap="square" lIns="91431" tIns="45715" rIns="91431" bIns="45715" rtlCol="0">
            <a:spAutoFit/>
          </a:bodyPr>
          <a:lstStyle/>
          <a:p>
            <a:r>
              <a:rPr lang="zh-CN" altLang="zh-CN" sz="1200" dirty="0"/>
              <a:t>时间：</a:t>
            </a:r>
            <a:r>
              <a:rPr lang="en-US" altLang="zh-CN" sz="1200" dirty="0"/>
              <a:t>12:42:10.404</a:t>
            </a:r>
            <a:r>
              <a:rPr lang="zh-CN" altLang="zh-CN" sz="1200" dirty="0"/>
              <a:t>，基站侧仍按照主叫</a:t>
            </a:r>
            <a:r>
              <a:rPr lang="en-US" altLang="zh-CN" sz="1200" dirty="0"/>
              <a:t>UE</a:t>
            </a:r>
            <a:r>
              <a:rPr lang="zh-CN" altLang="zh-CN" sz="1200" dirty="0"/>
              <a:t>位置更新之前的</a:t>
            </a:r>
            <a:r>
              <a:rPr lang="en-US" altLang="zh-CN" sz="1200" dirty="0"/>
              <a:t>TA-List</a:t>
            </a:r>
            <a:r>
              <a:rPr lang="zh-CN" altLang="zh-CN" sz="1200" dirty="0"/>
              <a:t>进行寻呼，但由于主叫</a:t>
            </a:r>
            <a:r>
              <a:rPr lang="en-US" altLang="zh-CN" sz="1200" dirty="0"/>
              <a:t>UE</a:t>
            </a:r>
            <a:r>
              <a:rPr lang="zh-CN" altLang="zh-CN" sz="1200" dirty="0"/>
              <a:t>进行了位置更新，导致寻呼失败，超时后主叫</a:t>
            </a:r>
            <a:r>
              <a:rPr lang="en-US" altLang="zh-CN" sz="1200" dirty="0"/>
              <a:t>UE</a:t>
            </a:r>
            <a:r>
              <a:rPr lang="zh-CN" altLang="zh-CN" sz="1200" dirty="0"/>
              <a:t>上发</a:t>
            </a:r>
            <a:r>
              <a:rPr lang="en-US" altLang="zh-CN" sz="1200" dirty="0"/>
              <a:t>IMS_SIP_CANCEL</a:t>
            </a:r>
            <a:r>
              <a:rPr lang="zh-CN" altLang="zh-CN" sz="1200" dirty="0"/>
              <a:t>，呼叫建立失败。</a:t>
            </a:r>
          </a:p>
          <a:p>
            <a:endParaRPr lang="zh-CN" altLang="en-US" sz="1200" dirty="0"/>
          </a:p>
        </p:txBody>
      </p:sp>
      <p:sp>
        <p:nvSpPr>
          <p:cNvPr id="10" name="TextBox 9"/>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17</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泰安 青年路</a:t>
            </a:r>
            <a:r>
              <a:rPr lang="en-US" altLang="zh-CN" sz="2400" b="1" dirty="0" err="1" smtClean="0">
                <a:solidFill>
                  <a:schemeClr val="bg1"/>
                </a:solidFill>
                <a:latin typeface="+mn-ea"/>
              </a:rPr>
              <a:t>VoLTE</a:t>
            </a:r>
            <a:r>
              <a:rPr lang="zh-CN" altLang="en-US" sz="2400" b="1" dirty="0" smtClean="0">
                <a:solidFill>
                  <a:schemeClr val="bg1"/>
                </a:solidFill>
                <a:latin typeface="+mn-ea"/>
              </a:rPr>
              <a:t>呼叫建立失败（</a:t>
            </a:r>
            <a:r>
              <a:rPr lang="en-US" altLang="zh-CN" sz="2400" b="1" dirty="0" smtClean="0">
                <a:solidFill>
                  <a:schemeClr val="bg1"/>
                </a:solidFill>
                <a:latin typeface="+mn-ea"/>
              </a:rPr>
              <a:t>TAC</a:t>
            </a:r>
            <a:r>
              <a:rPr lang="zh-CN" altLang="en-US" sz="2400" b="1" dirty="0" smtClean="0">
                <a:solidFill>
                  <a:schemeClr val="bg1"/>
                </a:solidFill>
                <a:latin typeface="+mn-ea"/>
              </a:rPr>
              <a:t>位置更新）</a:t>
            </a:r>
          </a:p>
        </p:txBody>
      </p:sp>
    </p:spTree>
    <p:extLst>
      <p:ext uri="{BB962C8B-B14F-4D97-AF65-F5344CB8AC3E}">
        <p14:creationId xmlns:p14="http://schemas.microsoft.com/office/powerpoint/2010/main" xmlns="" val="1201248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1454" y="692063"/>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t>问题结论</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4" name="TextBox 3"/>
          <p:cNvSpPr txBox="1"/>
          <p:nvPr/>
        </p:nvSpPr>
        <p:spPr>
          <a:xfrm>
            <a:off x="1090352" y="1395273"/>
            <a:ext cx="8242516" cy="923330"/>
          </a:xfrm>
          <a:prstGeom prst="rect">
            <a:avLst/>
          </a:prstGeom>
          <a:noFill/>
        </p:spPr>
        <p:txBody>
          <a:bodyPr wrap="square" lIns="91431" tIns="45715" rIns="91431" bIns="45715" rtlCol="0">
            <a:spAutoFit/>
          </a:bodyPr>
          <a:lstStyle/>
          <a:p>
            <a:pPr>
              <a:lnSpc>
                <a:spcPct val="150000"/>
              </a:lnSpc>
            </a:pPr>
            <a:r>
              <a:rPr lang="zh-CN" altLang="zh-CN" sz="1200" dirty="0"/>
              <a:t>在</a:t>
            </a:r>
            <a:r>
              <a:rPr lang="en-US" altLang="zh-CN" sz="1200" dirty="0" err="1"/>
              <a:t>VoLTE</a:t>
            </a:r>
            <a:r>
              <a:rPr lang="zh-CN" altLang="zh-CN" sz="1200" dirty="0"/>
              <a:t>呼叫建立过程中，如果出现了</a:t>
            </a:r>
            <a:r>
              <a:rPr lang="en-US" altLang="zh-CN" sz="1200" dirty="0"/>
              <a:t>TAC</a:t>
            </a:r>
            <a:r>
              <a:rPr lang="zh-CN" altLang="zh-CN" sz="1200" dirty="0"/>
              <a:t>位置更新，容易导致基站侧无法正常对</a:t>
            </a:r>
            <a:r>
              <a:rPr lang="en-US" altLang="zh-CN" sz="1200" dirty="0"/>
              <a:t>UE</a:t>
            </a:r>
            <a:r>
              <a:rPr lang="zh-CN" altLang="zh-CN" sz="1200" dirty="0"/>
              <a:t>进行寻呼，进而造成呼叫建立失败。因此在日常测试中，尽可能避免在</a:t>
            </a:r>
            <a:r>
              <a:rPr lang="en-US" altLang="zh-CN" sz="1200" dirty="0"/>
              <a:t>TAC</a:t>
            </a:r>
            <a:r>
              <a:rPr lang="zh-CN" altLang="zh-CN" sz="1200" dirty="0"/>
              <a:t>边界进行呼叫建立请求，提高呼叫建立成功率。</a:t>
            </a:r>
          </a:p>
          <a:p>
            <a:pPr>
              <a:lnSpc>
                <a:spcPct val="150000"/>
              </a:lnSpc>
            </a:pPr>
            <a:endParaRPr lang="zh-CN" altLang="en-US" sz="1200" dirty="0"/>
          </a:p>
        </p:txBody>
      </p:sp>
      <p:sp>
        <p:nvSpPr>
          <p:cNvPr id="5" name="TextBox 4"/>
          <p:cNvSpPr txBox="1"/>
          <p:nvPr/>
        </p:nvSpPr>
        <p:spPr>
          <a:xfrm>
            <a:off x="162248" y="76846"/>
            <a:ext cx="10099352" cy="461665"/>
          </a:xfrm>
          <a:prstGeom prst="rect">
            <a:avLst/>
          </a:prstGeom>
          <a:noFill/>
        </p:spPr>
        <p:txBody>
          <a:bodyPr wrap="square" lIns="91431" tIns="45715" rIns="91431" bIns="45715" rtlCol="0">
            <a:spAutoFit/>
          </a:bodyPr>
          <a:lstStyle/>
          <a:p>
            <a:pPr lvl="0"/>
            <a:r>
              <a:rPr lang="zh-CN" altLang="en-US" sz="2400" b="1" dirty="0" smtClean="0">
                <a:solidFill>
                  <a:schemeClr val="bg1"/>
                </a:solidFill>
                <a:latin typeface="+mn-ea"/>
              </a:rPr>
              <a:t>案例</a:t>
            </a:r>
            <a:r>
              <a:rPr lang="en-US" altLang="zh-CN" sz="2400" b="1" dirty="0" smtClean="0">
                <a:solidFill>
                  <a:schemeClr val="bg1"/>
                </a:solidFill>
                <a:latin typeface="+mn-ea"/>
              </a:rPr>
              <a:t>17</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泰安 青年路</a:t>
            </a:r>
            <a:r>
              <a:rPr lang="en-US" altLang="zh-CN" sz="2400" b="1" dirty="0" err="1" smtClean="0">
                <a:solidFill>
                  <a:schemeClr val="bg1"/>
                </a:solidFill>
                <a:latin typeface="+mn-ea"/>
              </a:rPr>
              <a:t>VoLTE</a:t>
            </a:r>
            <a:r>
              <a:rPr lang="zh-CN" altLang="en-US" sz="2400" b="1" dirty="0" smtClean="0">
                <a:solidFill>
                  <a:schemeClr val="bg1"/>
                </a:solidFill>
                <a:latin typeface="+mn-ea"/>
              </a:rPr>
              <a:t>呼叫建立失败（</a:t>
            </a:r>
            <a:r>
              <a:rPr lang="en-US" altLang="zh-CN" sz="2400" b="1" dirty="0" smtClean="0">
                <a:solidFill>
                  <a:schemeClr val="bg1"/>
                </a:solidFill>
                <a:latin typeface="+mn-ea"/>
              </a:rPr>
              <a:t>TAC</a:t>
            </a:r>
            <a:r>
              <a:rPr lang="zh-CN" altLang="en-US" sz="2400" b="1" dirty="0" smtClean="0">
                <a:solidFill>
                  <a:schemeClr val="bg1"/>
                </a:solidFill>
                <a:latin typeface="+mn-ea"/>
              </a:rPr>
              <a:t>位置更新）</a:t>
            </a:r>
          </a:p>
        </p:txBody>
      </p:sp>
    </p:spTree>
    <p:extLst>
      <p:ext uri="{BB962C8B-B14F-4D97-AF65-F5344CB8AC3E}">
        <p14:creationId xmlns:p14="http://schemas.microsoft.com/office/powerpoint/2010/main" xmlns="" val="1249754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 y="575421"/>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t>问题描述</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4" name="矩形 3"/>
          <p:cNvSpPr/>
          <p:nvPr/>
        </p:nvSpPr>
        <p:spPr>
          <a:xfrm>
            <a:off x="0" y="1395544"/>
            <a:ext cx="2262158"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t>问题分析处理</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5" name="矩形 4"/>
          <p:cNvSpPr/>
          <p:nvPr/>
        </p:nvSpPr>
        <p:spPr>
          <a:xfrm>
            <a:off x="259046" y="4278281"/>
            <a:ext cx="1800493" cy="369332"/>
          </a:xfrm>
          <a:prstGeom prst="rect">
            <a:avLst/>
          </a:prstGeom>
        </p:spPr>
        <p:txBody>
          <a:bodyPr wrap="none" lIns="91431" tIns="45715" rIns="91431" bIns="45715">
            <a:spAutoFit/>
          </a:bodyPr>
          <a:lstStyle/>
          <a:p>
            <a:pPr eaLnBrk="0" fontAlgn="base" hangingPunct="0">
              <a:spcBef>
                <a:spcPct val="0"/>
              </a:spcBef>
              <a:spcAft>
                <a:spcPct val="0"/>
              </a:spcAft>
              <a:defRPr/>
            </a:pPr>
            <a:r>
              <a:rPr lang="zh-CN" altLang="zh-CN" b="1" dirty="0" smtClean="0">
                <a:solidFill>
                  <a:prstClr val="black"/>
                </a:solidFill>
                <a:latin typeface="宋体" panose="02010600030101010101" pitchFamily="2" charset="-122"/>
              </a:rPr>
              <a:t>【</a:t>
            </a:r>
            <a:r>
              <a:rPr lang="zh-CN" altLang="en-US" b="1" dirty="0" smtClean="0"/>
              <a:t>问题总结</a:t>
            </a:r>
            <a:r>
              <a:rPr lang="zh-CN" altLang="zh-CN" b="1" dirty="0" smtClean="0">
                <a:solidFill>
                  <a:prstClr val="black"/>
                </a:solidFill>
                <a:latin typeface="宋体" panose="02010600030101010101" pitchFamily="2" charset="-122"/>
              </a:rPr>
              <a:t>】</a:t>
            </a:r>
            <a:r>
              <a:rPr lang="zh-CN" altLang="en-US" dirty="0">
                <a:solidFill>
                  <a:prstClr val="black"/>
                </a:solidFill>
                <a:latin typeface="宋体" panose="02010600030101010101" pitchFamily="2" charset="-122"/>
              </a:rPr>
              <a:t>：</a:t>
            </a:r>
            <a:endParaRPr lang="en-US" altLang="zh-CN" dirty="0">
              <a:solidFill>
                <a:prstClr val="black"/>
              </a:solidFill>
              <a:latin typeface="宋体" panose="02010600030101010101" pitchFamily="2" charset="-122"/>
            </a:endParaRPr>
          </a:p>
        </p:txBody>
      </p:sp>
      <p:sp>
        <p:nvSpPr>
          <p:cNvPr id="6" name="TextBox 5"/>
          <p:cNvSpPr txBox="1"/>
          <p:nvPr/>
        </p:nvSpPr>
        <p:spPr>
          <a:xfrm>
            <a:off x="282261" y="926403"/>
            <a:ext cx="9758620" cy="646331"/>
          </a:xfrm>
          <a:prstGeom prst="rect">
            <a:avLst/>
          </a:prstGeom>
          <a:noFill/>
        </p:spPr>
        <p:txBody>
          <a:bodyPr wrap="square" lIns="91431" tIns="45715" rIns="91431" bIns="45715" rtlCol="0">
            <a:spAutoFit/>
          </a:bodyPr>
          <a:lstStyle/>
          <a:p>
            <a:r>
              <a:rPr lang="en-US" altLang="zh-CN" sz="1200" dirty="0"/>
              <a:t>OLT</a:t>
            </a:r>
            <a:r>
              <a:rPr lang="zh-CN" altLang="zh-CN" sz="1200" dirty="0"/>
              <a:t>的某</a:t>
            </a:r>
            <a:r>
              <a:rPr lang="en-US" altLang="zh-CN" sz="1200" dirty="0"/>
              <a:t>PON</a:t>
            </a:r>
            <a:r>
              <a:rPr lang="zh-CN" altLang="zh-CN" sz="1200" dirty="0"/>
              <a:t>囗下一共下挂</a:t>
            </a:r>
            <a:r>
              <a:rPr lang="en-US" altLang="zh-CN" sz="1200" dirty="0"/>
              <a:t>4</a:t>
            </a:r>
            <a:r>
              <a:rPr lang="zh-CN" altLang="zh-CN" sz="1200" dirty="0"/>
              <a:t>台</a:t>
            </a:r>
            <a:r>
              <a:rPr lang="en-US" altLang="zh-CN" sz="1200" dirty="0"/>
              <a:t>ONU</a:t>
            </a:r>
            <a:r>
              <a:rPr lang="zh-CN" altLang="zh-CN" sz="1200" dirty="0"/>
              <a:t>，开局后这个</a:t>
            </a:r>
            <a:r>
              <a:rPr lang="en-US" altLang="zh-CN" sz="1200" dirty="0"/>
              <a:t>PON</a:t>
            </a:r>
            <a:r>
              <a:rPr lang="zh-CN" altLang="zh-CN" sz="1200" dirty="0"/>
              <a:t>端囗下经常同时出现部分</a:t>
            </a:r>
            <a:r>
              <a:rPr lang="en-US" altLang="zh-CN" sz="1200" dirty="0"/>
              <a:t>ONU</a:t>
            </a:r>
            <a:r>
              <a:rPr lang="zh-CN" altLang="zh-CN" sz="1200" dirty="0"/>
              <a:t>或所有</a:t>
            </a:r>
            <a:r>
              <a:rPr lang="en-US" altLang="zh-CN" sz="1200" dirty="0"/>
              <a:t>ONU</a:t>
            </a:r>
            <a:r>
              <a:rPr lang="zh-CN" altLang="zh-CN" sz="1200" dirty="0"/>
              <a:t>下的所有用户出现拔号错误</a:t>
            </a:r>
            <a:r>
              <a:rPr lang="en-US" altLang="zh-CN" sz="1200" dirty="0"/>
              <a:t>678</a:t>
            </a:r>
            <a:r>
              <a:rPr lang="zh-CN" altLang="zh-CN" sz="1200" dirty="0"/>
              <a:t>，并且无法远程登录出现拔号错误</a:t>
            </a:r>
            <a:r>
              <a:rPr lang="en-US" altLang="zh-CN" sz="1200" dirty="0"/>
              <a:t>678</a:t>
            </a:r>
            <a:r>
              <a:rPr lang="zh-CN" altLang="zh-CN" sz="1200" dirty="0"/>
              <a:t>的</a:t>
            </a:r>
            <a:r>
              <a:rPr lang="en-US" altLang="zh-CN" sz="1200" dirty="0"/>
              <a:t>ONU</a:t>
            </a:r>
            <a:r>
              <a:rPr lang="zh-CN" altLang="zh-CN" sz="1200" dirty="0"/>
              <a:t>设备，也无法从</a:t>
            </a:r>
            <a:r>
              <a:rPr lang="en-US" altLang="zh-CN" sz="1200" dirty="0" err="1"/>
              <a:t>OLTping</a:t>
            </a:r>
            <a:r>
              <a:rPr lang="zh-CN" altLang="zh-CN" sz="1200" dirty="0"/>
              <a:t>通</a:t>
            </a:r>
            <a:r>
              <a:rPr lang="en-US" altLang="zh-CN" sz="1200" dirty="0"/>
              <a:t>ONU</a:t>
            </a:r>
            <a:r>
              <a:rPr lang="zh-CN" altLang="zh-CN" sz="1200" dirty="0"/>
              <a:t>。</a:t>
            </a:r>
          </a:p>
          <a:p>
            <a:endParaRPr lang="zh-CN" altLang="en-US" sz="1200" dirty="0"/>
          </a:p>
        </p:txBody>
      </p:sp>
      <p:sp>
        <p:nvSpPr>
          <p:cNvPr id="7" name="矩形 6"/>
          <p:cNvSpPr/>
          <p:nvPr/>
        </p:nvSpPr>
        <p:spPr>
          <a:xfrm>
            <a:off x="485337" y="1753355"/>
            <a:ext cx="2492990" cy="369332"/>
          </a:xfrm>
          <a:prstGeom prst="rect">
            <a:avLst/>
          </a:prstGeom>
        </p:spPr>
        <p:txBody>
          <a:bodyPr wrap="none" lIns="91431" tIns="45715" rIns="91431" bIns="45715">
            <a:spAutoFit/>
          </a:bodyPr>
          <a:lstStyle/>
          <a:p>
            <a:r>
              <a:rPr lang="zh-CN" altLang="zh-CN" dirty="0"/>
              <a:t>（一）网络拓扑分析：</a:t>
            </a:r>
            <a:endParaRPr lang="zh-CN" altLang="en-US" dirty="0"/>
          </a:p>
        </p:txBody>
      </p:sp>
      <p:pic>
        <p:nvPicPr>
          <p:cNvPr id="8194" name="图片 1"/>
          <p:cNvPicPr>
            <a:picLocks noChangeAspect="1" noChangeArrowheads="1"/>
          </p:cNvPicPr>
          <p:nvPr/>
        </p:nvPicPr>
        <p:blipFill>
          <a:blip r:embed="rId2" cstate="print">
            <a:extLst>
              <a:ext uri="{28A0092B-C50C-407E-A947-70E740481C1C}">
                <a14:useLocalDpi xmlns:a14="http://schemas.microsoft.com/office/drawing/2010/main" xmlns="" val="0"/>
              </a:ext>
            </a:extLst>
          </a:blip>
          <a:srcRect b="648"/>
          <a:stretch>
            <a:fillRect/>
          </a:stretch>
        </p:blipFill>
        <p:spPr bwMode="auto">
          <a:xfrm>
            <a:off x="4919104" y="1289749"/>
            <a:ext cx="4171336" cy="15541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TextBox 7"/>
          <p:cNvSpPr txBox="1"/>
          <p:nvPr/>
        </p:nvSpPr>
        <p:spPr>
          <a:xfrm>
            <a:off x="574442" y="2600608"/>
            <a:ext cx="9092862" cy="1754326"/>
          </a:xfrm>
          <a:prstGeom prst="rect">
            <a:avLst/>
          </a:prstGeom>
          <a:noFill/>
        </p:spPr>
        <p:txBody>
          <a:bodyPr wrap="square" lIns="91431" tIns="45715" rIns="91431" bIns="45715" rtlCol="0">
            <a:spAutoFit/>
          </a:bodyPr>
          <a:lstStyle/>
          <a:p>
            <a:r>
              <a:rPr lang="zh-CN" altLang="zh-CN" dirty="0"/>
              <a:t>（二）现场处理过程： </a:t>
            </a:r>
            <a:endParaRPr lang="en-US" altLang="zh-CN" dirty="0" smtClean="0"/>
          </a:p>
          <a:p>
            <a:endParaRPr lang="zh-CN" altLang="zh-CN" dirty="0"/>
          </a:p>
          <a:p>
            <a:r>
              <a:rPr lang="en-US" altLang="zh-CN" sz="1200" dirty="0"/>
              <a:t>1.</a:t>
            </a:r>
            <a:r>
              <a:rPr lang="zh-CN" altLang="zh-CN" sz="1200" dirty="0"/>
              <a:t>由于不只一个</a:t>
            </a:r>
            <a:r>
              <a:rPr lang="en-US" altLang="zh-CN" sz="1200" dirty="0"/>
              <a:t>ONU</a:t>
            </a:r>
            <a:r>
              <a:rPr lang="zh-CN" altLang="zh-CN" sz="1200" dirty="0"/>
              <a:t>存在此问题，而是</a:t>
            </a:r>
            <a:r>
              <a:rPr lang="en-US" altLang="zh-CN" sz="1200" dirty="0"/>
              <a:t>PON</a:t>
            </a:r>
            <a:r>
              <a:rPr lang="zh-CN" altLang="zh-CN" sz="1200" dirty="0"/>
              <a:t>端囗下所有</a:t>
            </a:r>
            <a:r>
              <a:rPr lang="en-US" altLang="zh-CN" sz="1200" dirty="0"/>
              <a:t>ONU</a:t>
            </a:r>
            <a:r>
              <a:rPr lang="zh-CN" altLang="zh-CN" sz="1200" dirty="0"/>
              <a:t>都间歇性的出现此问题，排除单个</a:t>
            </a:r>
            <a:r>
              <a:rPr lang="en-US" altLang="zh-CN" sz="1200" dirty="0"/>
              <a:t>ONU</a:t>
            </a:r>
            <a:r>
              <a:rPr lang="zh-CN" altLang="zh-CN" sz="1200" dirty="0"/>
              <a:t>设备 的问题； </a:t>
            </a:r>
          </a:p>
          <a:p>
            <a:r>
              <a:rPr lang="en-US" altLang="zh-CN" sz="1200" dirty="0"/>
              <a:t>2.</a:t>
            </a:r>
            <a:r>
              <a:rPr lang="zh-CN" altLang="zh-CN" sz="1200" dirty="0"/>
              <a:t>更换一个新的分光器后，故障依旧，排除分光器故障； </a:t>
            </a:r>
          </a:p>
          <a:p>
            <a:r>
              <a:rPr lang="en-US" altLang="zh-CN" sz="1200" dirty="0"/>
              <a:t>3.</a:t>
            </a:r>
            <a:r>
              <a:rPr lang="zh-CN" altLang="zh-CN" sz="1200" dirty="0"/>
              <a:t>更换</a:t>
            </a:r>
            <a:r>
              <a:rPr lang="en-US" altLang="zh-CN" sz="1200" dirty="0"/>
              <a:t>PON</a:t>
            </a:r>
            <a:r>
              <a:rPr lang="zh-CN" altLang="zh-CN" sz="1200" dirty="0"/>
              <a:t>口，故障依旧，排除</a:t>
            </a:r>
            <a:r>
              <a:rPr lang="en-US" altLang="zh-CN" sz="1200" dirty="0"/>
              <a:t>OLT PON</a:t>
            </a:r>
            <a:r>
              <a:rPr lang="zh-CN" altLang="zh-CN" sz="1200" dirty="0"/>
              <a:t>端囗故障； </a:t>
            </a:r>
          </a:p>
          <a:p>
            <a:r>
              <a:rPr lang="en-US" altLang="zh-CN" sz="1200" dirty="0"/>
              <a:t>4.</a:t>
            </a:r>
            <a:r>
              <a:rPr lang="zh-CN" altLang="zh-CN" sz="1200" dirty="0"/>
              <a:t>检查光路发现，每个</a:t>
            </a:r>
            <a:r>
              <a:rPr lang="en-US" altLang="zh-CN" sz="1200" dirty="0"/>
              <a:t>ONU</a:t>
            </a:r>
            <a:r>
              <a:rPr lang="zh-CN" altLang="zh-CN" sz="1200" dirty="0"/>
              <a:t>到此</a:t>
            </a:r>
            <a:r>
              <a:rPr lang="en-US" altLang="zh-CN" sz="1200" dirty="0"/>
              <a:t>OLT</a:t>
            </a:r>
            <a:r>
              <a:rPr lang="zh-CN" altLang="zh-CN" sz="1200" dirty="0"/>
              <a:t>之间的距离在</a:t>
            </a:r>
            <a:r>
              <a:rPr lang="en-US" altLang="zh-CN" sz="1200" dirty="0"/>
              <a:t>1700m</a:t>
            </a:r>
            <a:r>
              <a:rPr lang="zh-CN" altLang="zh-CN" sz="1200" dirty="0"/>
              <a:t>左右，在分光器主</a:t>
            </a:r>
            <a:r>
              <a:rPr lang="en-US" altLang="zh-CN" sz="1200" dirty="0"/>
              <a:t>PON</a:t>
            </a:r>
            <a:r>
              <a:rPr lang="zh-CN" altLang="zh-CN" sz="1200" dirty="0"/>
              <a:t>端囗测试收光为</a:t>
            </a:r>
            <a:r>
              <a:rPr lang="en-US" altLang="zh-CN" sz="1200" dirty="0"/>
              <a:t>2dB</a:t>
            </a:r>
            <a:r>
              <a:rPr lang="zh-CN" altLang="zh-CN" sz="1200" dirty="0"/>
              <a:t>左右 ，每个</a:t>
            </a:r>
            <a:r>
              <a:rPr lang="en-US" altLang="zh-CN" sz="1200" dirty="0"/>
              <a:t>ONU</a:t>
            </a:r>
            <a:r>
              <a:rPr lang="zh-CN" altLang="zh-CN" sz="1200" dirty="0"/>
              <a:t>端囗测试收光在</a:t>
            </a:r>
            <a:r>
              <a:rPr lang="en-US" altLang="zh-CN" sz="1200" dirty="0"/>
              <a:t>-6.3dB</a:t>
            </a:r>
            <a:r>
              <a:rPr lang="zh-CN" altLang="zh-CN" sz="1200" dirty="0"/>
              <a:t>左右。而</a:t>
            </a:r>
            <a:r>
              <a:rPr lang="en-US" altLang="zh-CN" sz="1200" dirty="0"/>
              <a:t>ONU</a:t>
            </a:r>
            <a:r>
              <a:rPr lang="zh-CN" altLang="zh-CN" sz="1200" dirty="0"/>
              <a:t>的</a:t>
            </a:r>
            <a:r>
              <a:rPr lang="en-US" altLang="zh-CN" sz="1200" dirty="0"/>
              <a:t>PON</a:t>
            </a:r>
            <a:r>
              <a:rPr lang="zh-CN" altLang="zh-CN" sz="1200" dirty="0"/>
              <a:t>囗收光范围在</a:t>
            </a:r>
            <a:r>
              <a:rPr lang="en-US" altLang="zh-CN" sz="1200" dirty="0"/>
              <a:t>-8dB</a:t>
            </a:r>
            <a:r>
              <a:rPr lang="zh-CN" altLang="zh-CN" sz="1200" dirty="0"/>
              <a:t>～</a:t>
            </a:r>
            <a:r>
              <a:rPr lang="en-US" altLang="zh-CN" sz="1200" dirty="0"/>
              <a:t>-24dB</a:t>
            </a:r>
            <a:r>
              <a:rPr lang="zh-CN" altLang="zh-CN" sz="1200" dirty="0"/>
              <a:t>之间。由于这几个 </a:t>
            </a:r>
            <a:r>
              <a:rPr lang="en-US" altLang="zh-CN" sz="1200" dirty="0"/>
              <a:t>ONU</a:t>
            </a:r>
            <a:r>
              <a:rPr lang="zh-CN" altLang="zh-CN" sz="1200" dirty="0"/>
              <a:t>的</a:t>
            </a:r>
            <a:r>
              <a:rPr lang="en-US" altLang="zh-CN" sz="1200" dirty="0"/>
              <a:t>PON</a:t>
            </a:r>
            <a:r>
              <a:rPr lang="zh-CN" altLang="zh-CN" sz="1200" dirty="0"/>
              <a:t>收光都超过</a:t>
            </a:r>
            <a:r>
              <a:rPr lang="en-US" altLang="zh-CN" sz="1200" dirty="0"/>
              <a:t>-8dB</a:t>
            </a:r>
            <a:r>
              <a:rPr lang="zh-CN" altLang="zh-CN" sz="1200" dirty="0"/>
              <a:t>，怀疑是光信号太强导致； </a:t>
            </a:r>
          </a:p>
          <a:p>
            <a:r>
              <a:rPr lang="en-US" altLang="zh-CN" sz="1200" dirty="0"/>
              <a:t>5.</a:t>
            </a:r>
            <a:r>
              <a:rPr lang="zh-CN" altLang="zh-CN" sz="1200" dirty="0"/>
              <a:t>在</a:t>
            </a:r>
            <a:r>
              <a:rPr lang="en-US" altLang="zh-CN" sz="1200" dirty="0"/>
              <a:t>OLT</a:t>
            </a:r>
            <a:r>
              <a:rPr lang="zh-CN" altLang="zh-CN" sz="1200" dirty="0"/>
              <a:t>的主</a:t>
            </a:r>
            <a:r>
              <a:rPr lang="en-US" altLang="zh-CN" sz="1200" dirty="0"/>
              <a:t>PON</a:t>
            </a:r>
            <a:r>
              <a:rPr lang="zh-CN" altLang="zh-CN" sz="1200" dirty="0"/>
              <a:t>上增加一个</a:t>
            </a:r>
            <a:r>
              <a:rPr lang="en-US" altLang="zh-CN" sz="1200" dirty="0"/>
              <a:t>5dB</a:t>
            </a:r>
            <a:r>
              <a:rPr lang="zh-CN" altLang="zh-CN" sz="1200" dirty="0"/>
              <a:t>的光衰后，测试</a:t>
            </a:r>
            <a:r>
              <a:rPr lang="en-US" altLang="zh-CN" sz="1200" dirty="0"/>
              <a:t>ONU</a:t>
            </a:r>
            <a:r>
              <a:rPr lang="zh-CN" altLang="zh-CN" sz="1200" dirty="0"/>
              <a:t>的收光在</a:t>
            </a:r>
            <a:r>
              <a:rPr lang="en-US" altLang="zh-CN" sz="1200" dirty="0"/>
              <a:t>-12dB</a:t>
            </a:r>
            <a:r>
              <a:rPr lang="zh-CN" altLang="zh-CN" sz="1200" dirty="0"/>
              <a:t>左右。观察将近一周时间，用户使用始终稳定，故障恢复。</a:t>
            </a:r>
            <a:endParaRPr lang="zh-CN" altLang="en-US" sz="1200" dirty="0"/>
          </a:p>
        </p:txBody>
      </p:sp>
      <p:sp>
        <p:nvSpPr>
          <p:cNvPr id="9" name="TextBox 8"/>
          <p:cNvSpPr txBox="1"/>
          <p:nvPr/>
        </p:nvSpPr>
        <p:spPr>
          <a:xfrm>
            <a:off x="661050" y="4699907"/>
            <a:ext cx="8880731" cy="461665"/>
          </a:xfrm>
          <a:prstGeom prst="rect">
            <a:avLst/>
          </a:prstGeom>
          <a:noFill/>
        </p:spPr>
        <p:txBody>
          <a:bodyPr wrap="square" lIns="91431" tIns="45715" rIns="91431" bIns="45715" rtlCol="0">
            <a:spAutoFit/>
          </a:bodyPr>
          <a:lstStyle/>
          <a:p>
            <a:r>
              <a:rPr lang="en-US" altLang="zh-CN" sz="1200" dirty="0"/>
              <a:t>ONU</a:t>
            </a:r>
            <a:r>
              <a:rPr lang="zh-CN" altLang="zh-CN" sz="1200" dirty="0"/>
              <a:t>的</a:t>
            </a:r>
            <a:r>
              <a:rPr lang="en-US" altLang="zh-CN" sz="1200" dirty="0"/>
              <a:t>PON</a:t>
            </a:r>
            <a:r>
              <a:rPr lang="zh-CN" altLang="zh-CN" sz="1200" dirty="0"/>
              <a:t>囗收光范围在</a:t>
            </a:r>
            <a:r>
              <a:rPr lang="en-US" altLang="zh-CN" sz="1200" dirty="0"/>
              <a:t>-8dB</a:t>
            </a:r>
            <a:r>
              <a:rPr lang="zh-CN" altLang="zh-CN" sz="1200" dirty="0"/>
              <a:t>至</a:t>
            </a:r>
            <a:r>
              <a:rPr lang="en-US" altLang="zh-CN" sz="1200" dirty="0"/>
              <a:t>-24dB</a:t>
            </a:r>
            <a:r>
              <a:rPr lang="zh-CN" altLang="zh-CN" sz="1200" dirty="0"/>
              <a:t>之间，</a:t>
            </a:r>
            <a:r>
              <a:rPr lang="en-US" altLang="zh-CN" sz="1200" dirty="0"/>
              <a:t>ONU</a:t>
            </a:r>
            <a:r>
              <a:rPr lang="zh-CN" altLang="zh-CN" sz="1200" dirty="0"/>
              <a:t>收光功率过强或过弱，都会影响网络的稳定性。</a:t>
            </a:r>
          </a:p>
          <a:p>
            <a:endParaRPr lang="zh-CN" altLang="en-US" sz="1200" dirty="0"/>
          </a:p>
        </p:txBody>
      </p:sp>
      <p:sp>
        <p:nvSpPr>
          <p:cNvPr id="11" name="TextBox 10"/>
          <p:cNvSpPr txBox="1"/>
          <p:nvPr/>
        </p:nvSpPr>
        <p:spPr>
          <a:xfrm>
            <a:off x="162248" y="76846"/>
            <a:ext cx="10099352"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18</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临沂 光信号过强导致拔号错误</a:t>
            </a:r>
            <a:r>
              <a:rPr lang="en-US" altLang="zh-CN" sz="2400" b="1" dirty="0" smtClean="0">
                <a:solidFill>
                  <a:schemeClr val="bg1"/>
                </a:solidFill>
                <a:latin typeface="+mn-ea"/>
              </a:rPr>
              <a:t>678</a:t>
            </a:r>
            <a:r>
              <a:rPr lang="zh-CN" altLang="en-US" sz="2400" b="1" dirty="0" smtClean="0">
                <a:solidFill>
                  <a:schemeClr val="bg1"/>
                </a:solidFill>
                <a:latin typeface="+mn-ea"/>
              </a:rPr>
              <a:t>的故障处理</a:t>
            </a:r>
          </a:p>
        </p:txBody>
      </p:sp>
    </p:spTree>
    <p:extLst>
      <p:ext uri="{BB962C8B-B14F-4D97-AF65-F5344CB8AC3E}">
        <p14:creationId xmlns:p14="http://schemas.microsoft.com/office/powerpoint/2010/main" xmlns="" val="13725356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128"/>
          <p:cNvSpPr>
            <a:spLocks noChangeArrowheads="1"/>
          </p:cNvSpPr>
          <p:nvPr/>
        </p:nvSpPr>
        <p:spPr bwMode="auto">
          <a:xfrm flipV="1">
            <a:off x="201314" y="1580060"/>
            <a:ext cx="4648005" cy="3494954"/>
          </a:xfrm>
          <a:prstGeom prst="rect">
            <a:avLst/>
          </a:prstGeom>
          <a:solidFill>
            <a:srgbClr val="3366FF">
              <a:alpha val="5098"/>
            </a:srgbClr>
          </a:solidFill>
          <a:ln w="0">
            <a:solidFill>
              <a:srgbClr val="99CCFF"/>
            </a:solidFill>
            <a:prstDash val="dash"/>
            <a:miter lim="800000"/>
            <a:headEnd/>
            <a:tailEnd/>
          </a:ln>
        </p:spPr>
        <p:txBody>
          <a:bodyPr wrap="none" lIns="75007" tIns="39004" rIns="75007" bIns="39004" anchor="ctr"/>
          <a:lstStyle>
            <a:lvl1pPr defTabSz="762000">
              <a:defRPr>
                <a:solidFill>
                  <a:schemeClr val="tx1"/>
                </a:solidFill>
                <a:latin typeface="Arial" pitchFamily="34" charset="0"/>
                <a:ea typeface="宋体" pitchFamily="2" charset="-122"/>
              </a:defRPr>
            </a:lvl1pPr>
            <a:lvl2pPr marL="742950" indent="-285750" defTabSz="762000">
              <a:defRPr>
                <a:solidFill>
                  <a:schemeClr val="tx1"/>
                </a:solidFill>
                <a:latin typeface="Arial" pitchFamily="34" charset="0"/>
                <a:ea typeface="宋体" pitchFamily="2" charset="-122"/>
              </a:defRPr>
            </a:lvl2pPr>
            <a:lvl3pPr marL="1143000" indent="-228600" defTabSz="762000">
              <a:defRPr>
                <a:solidFill>
                  <a:schemeClr val="tx1"/>
                </a:solidFill>
                <a:latin typeface="Arial" pitchFamily="34" charset="0"/>
                <a:ea typeface="宋体" pitchFamily="2" charset="-122"/>
              </a:defRPr>
            </a:lvl3pPr>
            <a:lvl4pPr marL="1600200" indent="-228600" defTabSz="762000">
              <a:defRPr>
                <a:solidFill>
                  <a:schemeClr val="tx1"/>
                </a:solidFill>
                <a:latin typeface="Arial" pitchFamily="34" charset="0"/>
                <a:ea typeface="宋体" pitchFamily="2" charset="-122"/>
              </a:defRPr>
            </a:lvl4pPr>
            <a:lvl5pPr marL="2057400" indent="-228600" defTabSz="76200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sz="1400" dirty="0">
              <a:latin typeface="微软雅黑" pitchFamily="34" charset="-122"/>
              <a:ea typeface="微软雅黑" pitchFamily="34" charset="-122"/>
            </a:endParaRPr>
          </a:p>
        </p:txBody>
      </p:sp>
      <p:sp>
        <p:nvSpPr>
          <p:cNvPr id="44" name="TextBox 36"/>
          <p:cNvSpPr txBox="1">
            <a:spLocks noChangeArrowheads="1"/>
          </p:cNvSpPr>
          <p:nvPr/>
        </p:nvSpPr>
        <p:spPr bwMode="auto">
          <a:xfrm>
            <a:off x="201315" y="787927"/>
            <a:ext cx="4664040" cy="7386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31" tIns="45715" rIns="91431" bIns="45715">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50000"/>
              </a:lnSpc>
              <a:buFont typeface="Wingdings" pitchFamily="2" charset="2"/>
              <a:buChar char="Ø"/>
            </a:pPr>
            <a:r>
              <a:rPr lang="zh-CN" altLang="en-US" sz="1400" dirty="0">
                <a:latin typeface="微软雅黑" pitchFamily="34" charset="-122"/>
                <a:ea typeface="微软雅黑" pitchFamily="34" charset="-122"/>
              </a:rPr>
              <a:t>用户投诉反映三星</a:t>
            </a:r>
            <a:r>
              <a:rPr lang="en-US" altLang="zh-CN" sz="1400" dirty="0">
                <a:latin typeface="微软雅黑" pitchFamily="34" charset="-122"/>
                <a:ea typeface="微软雅黑" pitchFamily="34" charset="-122"/>
              </a:rPr>
              <a:t>G9008v</a:t>
            </a:r>
            <a:r>
              <a:rPr lang="zh-CN" altLang="en-US" sz="1400" dirty="0">
                <a:latin typeface="微软雅黑" pitchFamily="34" charset="-122"/>
                <a:ea typeface="微软雅黑" pitchFamily="34" charset="-122"/>
              </a:rPr>
              <a:t>阶段性不能接听或拨打电话，且阶段性不能收发短信息，但是</a:t>
            </a:r>
            <a:r>
              <a:rPr lang="en-US" altLang="zh-CN" sz="1400" dirty="0">
                <a:latin typeface="微软雅黑" pitchFamily="34" charset="-122"/>
                <a:ea typeface="微软雅黑" pitchFamily="34" charset="-122"/>
              </a:rPr>
              <a:t>4G</a:t>
            </a:r>
            <a:r>
              <a:rPr lang="zh-CN" altLang="en-US" sz="1400" dirty="0">
                <a:latin typeface="微软雅黑" pitchFamily="34" charset="-122"/>
                <a:ea typeface="微软雅黑" pitchFamily="34" charset="-122"/>
              </a:rPr>
              <a:t>上网业务正常。</a:t>
            </a:r>
            <a:endParaRPr lang="en-US" altLang="zh-CN" sz="1400" dirty="0">
              <a:solidFill>
                <a:srgbClr val="FF0000"/>
              </a:solidFill>
              <a:latin typeface="微软雅黑" pitchFamily="34" charset="-122"/>
              <a:ea typeface="微软雅黑" pitchFamily="34" charset="-122"/>
            </a:endParaRPr>
          </a:p>
        </p:txBody>
      </p:sp>
      <p:sp>
        <p:nvSpPr>
          <p:cNvPr id="46" name="AutoShape 8"/>
          <p:cNvSpPr>
            <a:spLocks noChangeArrowheads="1"/>
          </p:cNvSpPr>
          <p:nvPr/>
        </p:nvSpPr>
        <p:spPr bwMode="gray">
          <a:xfrm>
            <a:off x="160339" y="1585059"/>
            <a:ext cx="2020253" cy="283618"/>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问题分析</a:t>
            </a:r>
            <a:endParaRPr lang="en-US" altLang="zh-CN" sz="1600" b="1" dirty="0">
              <a:latin typeface="Arial" pitchFamily="34" charset="0"/>
              <a:ea typeface="微软雅黑" pitchFamily="34" charset="-122"/>
            </a:endParaRPr>
          </a:p>
        </p:txBody>
      </p:sp>
      <p:sp>
        <p:nvSpPr>
          <p:cNvPr id="47" name="TextBox 60"/>
          <p:cNvSpPr txBox="1">
            <a:spLocks noChangeArrowheads="1"/>
          </p:cNvSpPr>
          <p:nvPr/>
        </p:nvSpPr>
        <p:spPr bwMode="auto">
          <a:xfrm>
            <a:off x="4995404" y="3462147"/>
            <a:ext cx="5184246" cy="13849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31" tIns="45715" rIns="91431" bIns="45715">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50000"/>
              </a:lnSpc>
              <a:buFont typeface="Wingdings" pitchFamily="2" charset="2"/>
              <a:buChar char="Ø"/>
            </a:pPr>
            <a:r>
              <a:rPr lang="zh-CN" altLang="en-US" sz="1400" dirty="0">
                <a:latin typeface="微软雅黑" pitchFamily="34" charset="-122"/>
                <a:ea typeface="微软雅黑" pitchFamily="34" charset="-122"/>
              </a:rPr>
              <a:t>通过手机经销商联系了三星和高通厂家工程师，经过三家联合分析确认手机新系统存在掉网问题。该问题发生时影响正常的</a:t>
            </a:r>
            <a:r>
              <a:rPr lang="en-US" altLang="zh-CN" sz="1400" dirty="0">
                <a:latin typeface="微软雅黑" pitchFamily="34" charset="-122"/>
                <a:ea typeface="微软雅黑" pitchFamily="34" charset="-122"/>
              </a:rPr>
              <a:t>2G</a:t>
            </a:r>
            <a:r>
              <a:rPr lang="zh-CN" altLang="en-US" sz="1400" dirty="0">
                <a:latin typeface="微软雅黑" pitchFamily="34" charset="-122"/>
                <a:ea typeface="微软雅黑" pitchFamily="34" charset="-122"/>
              </a:rPr>
              <a:t>通话和短信息业务，不影响</a:t>
            </a:r>
            <a:r>
              <a:rPr lang="en-US" altLang="zh-CN" sz="1400" dirty="0">
                <a:latin typeface="微软雅黑" pitchFamily="34" charset="-122"/>
                <a:ea typeface="微软雅黑" pitchFamily="34" charset="-122"/>
              </a:rPr>
              <a:t>4G</a:t>
            </a:r>
            <a:r>
              <a:rPr lang="zh-CN" altLang="en-US" sz="1400" dirty="0">
                <a:latin typeface="微软雅黑" pitchFamily="34" charset="-122"/>
                <a:ea typeface="微软雅黑" pitchFamily="34" charset="-122"/>
              </a:rPr>
              <a:t>业务。三星厂家通过将手机基带版本更新为 </a:t>
            </a:r>
            <a:r>
              <a:rPr lang="en-US" altLang="zh-CN" sz="1400" dirty="0">
                <a:latin typeface="微软雅黑" pitchFamily="34" charset="-122"/>
                <a:ea typeface="微软雅黑" pitchFamily="34" charset="-122"/>
              </a:rPr>
              <a:t>G9008VZMU1ANE4</a:t>
            </a:r>
            <a:r>
              <a:rPr lang="zh-CN" altLang="en-US" sz="1400" dirty="0">
                <a:latin typeface="微软雅黑" pitchFamily="34" charset="-122"/>
                <a:ea typeface="微软雅黑" pitchFamily="34" charset="-122"/>
              </a:rPr>
              <a:t>问题圆满解决。</a:t>
            </a:r>
            <a:endParaRPr lang="zh-CN" altLang="zh-CN" sz="1400" dirty="0">
              <a:latin typeface="微软雅黑" pitchFamily="34" charset="-122"/>
              <a:ea typeface="微软雅黑" pitchFamily="34" charset="-122"/>
            </a:endParaRPr>
          </a:p>
        </p:txBody>
      </p:sp>
      <p:sp>
        <p:nvSpPr>
          <p:cNvPr id="49" name="AutoShape 8"/>
          <p:cNvSpPr>
            <a:spLocks noChangeArrowheads="1"/>
          </p:cNvSpPr>
          <p:nvPr/>
        </p:nvSpPr>
        <p:spPr bwMode="gray">
          <a:xfrm>
            <a:off x="5027473" y="3106062"/>
            <a:ext cx="2020253" cy="283619"/>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问题解决</a:t>
            </a:r>
            <a:endParaRPr lang="en-US" altLang="zh-CN" sz="1600" b="1" dirty="0">
              <a:latin typeface="Arial" pitchFamily="34" charset="0"/>
              <a:ea typeface="微软雅黑" pitchFamily="34" charset="-122"/>
            </a:endParaRPr>
          </a:p>
        </p:txBody>
      </p:sp>
      <p:sp>
        <p:nvSpPr>
          <p:cNvPr id="50" name="AutoShape 8"/>
          <p:cNvSpPr>
            <a:spLocks noChangeArrowheads="1"/>
          </p:cNvSpPr>
          <p:nvPr/>
        </p:nvSpPr>
        <p:spPr bwMode="gray">
          <a:xfrm>
            <a:off x="201313" y="560533"/>
            <a:ext cx="1916924" cy="267376"/>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问题描述</a:t>
            </a:r>
            <a:endParaRPr lang="en-US" altLang="zh-CN" sz="1600" b="1" dirty="0">
              <a:latin typeface="Arial" pitchFamily="34" charset="0"/>
              <a:ea typeface="微软雅黑" pitchFamily="34" charset="-122"/>
            </a:endParaRPr>
          </a:p>
        </p:txBody>
      </p:sp>
      <p:sp>
        <p:nvSpPr>
          <p:cNvPr id="52" name="TextBox 36"/>
          <p:cNvSpPr txBox="1">
            <a:spLocks noChangeArrowheads="1"/>
          </p:cNvSpPr>
          <p:nvPr/>
        </p:nvSpPr>
        <p:spPr bwMode="auto">
          <a:xfrm>
            <a:off x="162120" y="1869927"/>
            <a:ext cx="4687199" cy="3216265"/>
          </a:xfrm>
          <a:prstGeom prst="rect">
            <a:avLst/>
          </a:prstGeom>
          <a:noFill/>
          <a:ln w="9525">
            <a:noFill/>
            <a:miter lim="800000"/>
            <a:headEnd/>
            <a:tailEnd/>
          </a:ln>
        </p:spPr>
        <p:txBody>
          <a:bodyPr lIns="91431" tIns="45715" rIns="91431" bIns="45715">
            <a:spAutoFit/>
          </a:bodyPr>
          <a:lstStyle/>
          <a:p>
            <a:pPr eaLnBrk="1" hangingPunct="1">
              <a:lnSpc>
                <a:spcPct val="150000"/>
              </a:lnSpc>
              <a:buFont typeface="Wingdings" pitchFamily="2" charset="2"/>
              <a:buChar char="Ø"/>
              <a:defRPr/>
            </a:pPr>
            <a:r>
              <a:rPr lang="zh-CN" altLang="zh-CN" sz="1400" b="1" dirty="0">
                <a:latin typeface="微软雅黑" pitchFamily="34" charset="-122"/>
                <a:ea typeface="微软雅黑" pitchFamily="34" charset="-122"/>
              </a:rPr>
              <a:t>网络质量问题：</a:t>
            </a:r>
          </a:p>
          <a:p>
            <a:pPr eaLnBrk="1" hangingPunct="1">
              <a:lnSpc>
                <a:spcPct val="150000"/>
              </a:lnSpc>
              <a:defRPr/>
            </a:pPr>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经测试，确认用户所处区域信号良好，并排除干扰问题，后台信令跟踪未发现异常。</a:t>
            </a:r>
            <a:endParaRPr lang="en-US" altLang="zh-CN" sz="1400" dirty="0">
              <a:latin typeface="微软雅黑" pitchFamily="34" charset="-122"/>
              <a:ea typeface="微软雅黑" pitchFamily="34" charset="-122"/>
            </a:endParaRPr>
          </a:p>
          <a:p>
            <a:pPr marL="285721" indent="-285721">
              <a:lnSpc>
                <a:spcPct val="150000"/>
              </a:lnSpc>
              <a:buFont typeface="Wingdings" pitchFamily="2" charset="2"/>
              <a:buChar char="Ø"/>
              <a:defRPr/>
            </a:pPr>
            <a:r>
              <a:rPr lang="zh-CN" altLang="en-US" sz="1400" b="1" dirty="0">
                <a:latin typeface="微软雅黑" pitchFamily="34" charset="-122"/>
                <a:ea typeface="微软雅黑" pitchFamily="34" charset="-122"/>
              </a:rPr>
              <a:t>用户安装软件</a:t>
            </a:r>
            <a:r>
              <a:rPr lang="zh-CN" altLang="zh-CN" sz="1400" b="1" dirty="0">
                <a:latin typeface="微软雅黑" pitchFamily="34" charset="-122"/>
                <a:ea typeface="微软雅黑" pitchFamily="34" charset="-122"/>
              </a:rPr>
              <a:t>问题：</a:t>
            </a:r>
            <a:endParaRPr lang="en-US" altLang="zh-CN" sz="1400" b="1" dirty="0">
              <a:latin typeface="微软雅黑" pitchFamily="34" charset="-122"/>
              <a:ea typeface="微软雅黑" pitchFamily="34" charset="-122"/>
            </a:endParaRPr>
          </a:p>
          <a:p>
            <a:pPr eaLnBrk="1" hangingPunct="1">
              <a:lnSpc>
                <a:spcPct val="150000"/>
              </a:lnSpc>
              <a:defRPr/>
            </a:pPr>
            <a:r>
              <a:rPr lang="zh-CN" altLang="en-US" sz="1400" dirty="0">
                <a:latin typeface="微软雅黑" pitchFamily="34" charset="-122"/>
                <a:ea typeface="微软雅黑" pitchFamily="34" charset="-122"/>
              </a:rPr>
              <a:t>用户终端恢复出厂值设置后，经过近一个小时测试仍然有无法接听和拨打电话的现象，排除由于用户软件原因导致。</a:t>
            </a:r>
            <a:endParaRPr lang="en-US" altLang="zh-CN" sz="1400" dirty="0">
              <a:latin typeface="微软雅黑" pitchFamily="34" charset="-122"/>
              <a:ea typeface="微软雅黑" pitchFamily="34" charset="-122"/>
            </a:endParaRPr>
          </a:p>
          <a:p>
            <a:pPr marL="285721" indent="-285721">
              <a:lnSpc>
                <a:spcPct val="150000"/>
              </a:lnSpc>
              <a:buFont typeface="Wingdings" pitchFamily="2" charset="2"/>
              <a:buChar char="Ø"/>
              <a:defRPr/>
            </a:pPr>
            <a:r>
              <a:rPr lang="zh-CN" altLang="en-US" sz="1400" b="1" dirty="0">
                <a:latin typeface="微软雅黑" pitchFamily="34" charset="-122"/>
                <a:ea typeface="微软雅黑" pitchFamily="34" charset="-122"/>
              </a:rPr>
              <a:t>终端系统</a:t>
            </a:r>
            <a:r>
              <a:rPr lang="zh-CN" altLang="zh-CN" sz="1400" b="1" dirty="0">
                <a:latin typeface="微软雅黑" pitchFamily="34" charset="-122"/>
                <a:ea typeface="微软雅黑" pitchFamily="34" charset="-122"/>
              </a:rPr>
              <a:t>问题：</a:t>
            </a:r>
            <a:endParaRPr lang="en-US" altLang="zh-CN" sz="1400" b="1" dirty="0">
              <a:latin typeface="微软雅黑" pitchFamily="34" charset="-122"/>
              <a:ea typeface="微软雅黑" pitchFamily="34" charset="-122"/>
            </a:endParaRPr>
          </a:p>
          <a:p>
            <a:pPr marL="342866" indent="-342866">
              <a:buFont typeface="+mj-ea"/>
              <a:buAutoNum type="circleNumDbPlain"/>
              <a:defRPr/>
            </a:pPr>
            <a:r>
              <a:rPr lang="zh-CN" altLang="en-US" sz="1400" dirty="0">
                <a:latin typeface="微软雅黑" pitchFamily="34" charset="-122"/>
                <a:ea typeface="微软雅黑" pitchFamily="34" charset="-122"/>
              </a:rPr>
              <a:t>用户手机是否为最新系统。</a:t>
            </a:r>
            <a:endParaRPr lang="en-US" altLang="zh-CN" sz="1400" dirty="0">
              <a:latin typeface="微软雅黑" pitchFamily="34" charset="-122"/>
              <a:ea typeface="微软雅黑" pitchFamily="34" charset="-122"/>
            </a:endParaRPr>
          </a:p>
          <a:p>
            <a:pPr marL="342866" indent="-342866">
              <a:buFont typeface="+mj-ea"/>
              <a:buAutoNum type="circleNumDbPlain"/>
              <a:defRPr/>
            </a:pPr>
            <a:r>
              <a:rPr lang="zh-CN" altLang="en-US" sz="1400" dirty="0">
                <a:latin typeface="微软雅黑" pitchFamily="34" charset="-122"/>
                <a:ea typeface="微软雅黑" pitchFamily="34" charset="-122"/>
              </a:rPr>
              <a:t>新系统本身是否有问题。 </a:t>
            </a:r>
            <a:endParaRPr lang="en-US" altLang="zh-CN" sz="1400" dirty="0">
              <a:latin typeface="微软雅黑" pitchFamily="34" charset="-122"/>
              <a:ea typeface="微软雅黑" pitchFamily="34" charset="-122"/>
            </a:endParaRPr>
          </a:p>
          <a:p>
            <a:pPr eaLnBrk="1" hangingPunct="1">
              <a:defRPr/>
            </a:pPr>
            <a:r>
              <a:rPr lang="zh-CN" altLang="en-US" sz="1400" dirty="0">
                <a:latin typeface="微软雅黑" pitchFamily="34" charset="-122"/>
                <a:ea typeface="微软雅黑" pitchFamily="34" charset="-122"/>
              </a:rPr>
              <a:t>经联合三星厂家、高通厂家共同确认，三星终端新系统存在隐患。</a:t>
            </a:r>
            <a:endParaRPr lang="en-US" altLang="zh-CN" sz="1400" dirty="0">
              <a:latin typeface="微软雅黑" pitchFamily="34" charset="-122"/>
              <a:ea typeface="微软雅黑" pitchFamily="34" charset="-122"/>
            </a:endParaRPr>
          </a:p>
        </p:txBody>
      </p:sp>
      <p:pic>
        <p:nvPicPr>
          <p:cNvPr id="53" name="Picture 45" descr="UE跟踪"/>
          <p:cNvPicPr>
            <a:picLocks noChangeAspect="1" noChangeArrowheads="1"/>
          </p:cNvPicPr>
          <p:nvPr/>
        </p:nvPicPr>
        <p:blipFill>
          <a:blip r:embed="rId3" cstate="print">
            <a:extLst>
              <a:ext uri="{28A0092B-C50C-407E-A947-70E740481C1C}">
                <a14:useLocalDpi xmlns:a14="http://schemas.microsoft.com/office/drawing/2010/main" xmlns="" val="0"/>
              </a:ext>
            </a:extLst>
          </a:blip>
          <a:srcRect l="-1628" t="19037"/>
          <a:stretch>
            <a:fillRect/>
          </a:stretch>
        </p:blipFill>
        <p:spPr bwMode="auto">
          <a:xfrm>
            <a:off x="5007876" y="541001"/>
            <a:ext cx="5171775" cy="24413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4" name="TextBox 53"/>
          <p:cNvSpPr txBox="1"/>
          <p:nvPr/>
        </p:nvSpPr>
        <p:spPr>
          <a:xfrm>
            <a:off x="162248" y="76846"/>
            <a:ext cx="10099352"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19</a:t>
            </a:r>
            <a:r>
              <a:rPr lang="zh-CN" altLang="en-US" sz="2400" b="1" dirty="0" smtClean="0">
                <a:solidFill>
                  <a:schemeClr val="bg1"/>
                </a:solidFill>
                <a:latin typeface="+mn-ea"/>
              </a:rPr>
              <a:t>：三星</a:t>
            </a:r>
            <a:r>
              <a:rPr lang="en-US" altLang="zh-CN" sz="2400" b="1" dirty="0" smtClean="0">
                <a:solidFill>
                  <a:schemeClr val="bg1"/>
                </a:solidFill>
                <a:latin typeface="+mn-ea"/>
              </a:rPr>
              <a:t>G9008V</a:t>
            </a:r>
            <a:r>
              <a:rPr lang="zh-CN" altLang="en-US" sz="2400" b="1" dirty="0" smtClean="0">
                <a:solidFill>
                  <a:schemeClr val="bg1"/>
                </a:solidFill>
                <a:latin typeface="+mn-ea"/>
              </a:rPr>
              <a:t>阶段性不能接打电话和不能接发短信</a:t>
            </a:r>
          </a:p>
        </p:txBody>
      </p:sp>
    </p:spTree>
    <p:extLst>
      <p:ext uri="{BB962C8B-B14F-4D97-AF65-F5344CB8AC3E}">
        <p14:creationId xmlns:p14="http://schemas.microsoft.com/office/powerpoint/2010/main" xmlns="" val="321826235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8"/>
          <p:cNvSpPr>
            <a:spLocks noChangeArrowheads="1"/>
          </p:cNvSpPr>
          <p:nvPr/>
        </p:nvSpPr>
        <p:spPr bwMode="auto">
          <a:xfrm flipV="1">
            <a:off x="201314" y="1627987"/>
            <a:ext cx="4648005" cy="2947384"/>
          </a:xfrm>
          <a:prstGeom prst="rect">
            <a:avLst/>
          </a:prstGeom>
          <a:solidFill>
            <a:srgbClr val="3366FF">
              <a:alpha val="5098"/>
            </a:srgbClr>
          </a:solidFill>
          <a:ln w="0">
            <a:solidFill>
              <a:srgbClr val="99CCFF"/>
            </a:solidFill>
            <a:prstDash val="dash"/>
            <a:miter lim="800000"/>
            <a:headEnd/>
            <a:tailEnd/>
          </a:ln>
        </p:spPr>
        <p:txBody>
          <a:bodyPr wrap="none" lIns="75007" tIns="39004" rIns="75007" bIns="39004" anchor="ctr"/>
          <a:lstStyle>
            <a:lvl1pPr defTabSz="762000">
              <a:defRPr>
                <a:solidFill>
                  <a:schemeClr val="tx1"/>
                </a:solidFill>
                <a:latin typeface="Arial" pitchFamily="34" charset="0"/>
                <a:ea typeface="宋体" pitchFamily="2" charset="-122"/>
              </a:defRPr>
            </a:lvl1pPr>
            <a:lvl2pPr marL="742950" indent="-285750" defTabSz="762000">
              <a:defRPr>
                <a:solidFill>
                  <a:schemeClr val="tx1"/>
                </a:solidFill>
                <a:latin typeface="Arial" pitchFamily="34" charset="0"/>
                <a:ea typeface="宋体" pitchFamily="2" charset="-122"/>
              </a:defRPr>
            </a:lvl2pPr>
            <a:lvl3pPr marL="1143000" indent="-228600" defTabSz="762000">
              <a:defRPr>
                <a:solidFill>
                  <a:schemeClr val="tx1"/>
                </a:solidFill>
                <a:latin typeface="Arial" pitchFamily="34" charset="0"/>
                <a:ea typeface="宋体" pitchFamily="2" charset="-122"/>
              </a:defRPr>
            </a:lvl3pPr>
            <a:lvl4pPr marL="1600200" indent="-228600" defTabSz="762000">
              <a:defRPr>
                <a:solidFill>
                  <a:schemeClr val="tx1"/>
                </a:solidFill>
                <a:latin typeface="Arial" pitchFamily="34" charset="0"/>
                <a:ea typeface="宋体" pitchFamily="2" charset="-122"/>
              </a:defRPr>
            </a:lvl4pPr>
            <a:lvl5pPr marL="2057400" indent="-228600" defTabSz="76200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sz="1400" dirty="0">
              <a:latin typeface="微软雅黑" pitchFamily="34" charset="-122"/>
              <a:ea typeface="微软雅黑" pitchFamily="34" charset="-122"/>
            </a:endParaRPr>
          </a:p>
        </p:txBody>
      </p:sp>
      <p:sp>
        <p:nvSpPr>
          <p:cNvPr id="3" name="AutoShape 8"/>
          <p:cNvSpPr>
            <a:spLocks noChangeArrowheads="1"/>
          </p:cNvSpPr>
          <p:nvPr/>
        </p:nvSpPr>
        <p:spPr bwMode="gray">
          <a:xfrm>
            <a:off x="201315" y="1345617"/>
            <a:ext cx="2020253" cy="283618"/>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问题分析</a:t>
            </a:r>
            <a:endParaRPr lang="en-US" altLang="zh-CN" sz="1600" b="1" dirty="0">
              <a:latin typeface="Arial" pitchFamily="34" charset="0"/>
              <a:ea typeface="微软雅黑" pitchFamily="34" charset="-122"/>
            </a:endParaRPr>
          </a:p>
        </p:txBody>
      </p:sp>
      <p:sp>
        <p:nvSpPr>
          <p:cNvPr id="4" name="TextBox 60"/>
          <p:cNvSpPr txBox="1">
            <a:spLocks noChangeArrowheads="1"/>
          </p:cNvSpPr>
          <p:nvPr/>
        </p:nvSpPr>
        <p:spPr bwMode="auto">
          <a:xfrm>
            <a:off x="117581" y="4739056"/>
            <a:ext cx="9780588" cy="4154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31" tIns="45715" rIns="91431" bIns="45715">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50000"/>
              </a:lnSpc>
              <a:buFont typeface="Wingdings" pitchFamily="2" charset="2"/>
              <a:buChar char="Ø"/>
            </a:pPr>
            <a:r>
              <a:rPr lang="zh-CN" altLang="en-US" sz="1400" dirty="0">
                <a:latin typeface="微软雅黑" pitchFamily="34" charset="-122"/>
                <a:ea typeface="微软雅黑" pitchFamily="34" charset="-122"/>
              </a:rPr>
              <a:t>在关口局</a:t>
            </a:r>
            <a:r>
              <a:rPr lang="en-US" altLang="zh-CN" sz="1400" dirty="0">
                <a:latin typeface="微软雅黑" pitchFamily="34" charset="-122"/>
                <a:ea typeface="微软雅黑" pitchFamily="34" charset="-122"/>
              </a:rPr>
              <a:t>LYIDS3</a:t>
            </a:r>
            <a:r>
              <a:rPr lang="zh-CN" altLang="en-US" sz="1400" dirty="0">
                <a:latin typeface="微软雅黑" pitchFamily="34" charset="-122"/>
                <a:ea typeface="微软雅黑" pitchFamily="34" charset="-122"/>
              </a:rPr>
              <a:t>，</a:t>
            </a:r>
            <a:r>
              <a:rPr lang="en-US" altLang="zh-CN" sz="1400" dirty="0">
                <a:latin typeface="微软雅黑" pitchFamily="34" charset="-122"/>
                <a:ea typeface="微软雅黑" pitchFamily="34" charset="-122"/>
              </a:rPr>
              <a:t>4</a:t>
            </a:r>
            <a:r>
              <a:rPr lang="zh-CN" altLang="en-US" sz="1400" dirty="0">
                <a:latin typeface="微软雅黑" pitchFamily="34" charset="-122"/>
                <a:ea typeface="微软雅黑" pitchFamily="34" charset="-122"/>
              </a:rPr>
              <a:t>上修改数据，增加</a:t>
            </a:r>
            <a:r>
              <a:rPr lang="en-US" altLang="zh-CN" sz="1400" dirty="0">
                <a:latin typeface="微软雅黑" pitchFamily="34" charset="-122"/>
                <a:ea typeface="微软雅黑" pitchFamily="34" charset="-122"/>
              </a:rPr>
              <a:t>13800535</a:t>
            </a:r>
            <a:r>
              <a:rPr lang="zh-CN" altLang="en-US" sz="1400" dirty="0">
                <a:latin typeface="微软雅黑" pitchFamily="34" charset="-122"/>
                <a:ea typeface="微软雅黑" pitchFamily="34" charset="-122"/>
              </a:rPr>
              <a:t>，路由指向</a:t>
            </a:r>
            <a:r>
              <a:rPr lang="en-US" altLang="zh-CN" sz="1400" dirty="0">
                <a:latin typeface="微软雅黑" pitchFamily="34" charset="-122"/>
                <a:ea typeface="微软雅黑" pitchFamily="34" charset="-122"/>
              </a:rPr>
              <a:t>CMN</a:t>
            </a:r>
            <a:r>
              <a:rPr lang="zh-CN" altLang="en-US" sz="1400" dirty="0">
                <a:latin typeface="微软雅黑" pitchFamily="34" charset="-122"/>
                <a:ea typeface="微软雅黑" pitchFamily="34" charset="-122"/>
              </a:rPr>
              <a:t>汇接局，测试结果正常。</a:t>
            </a:r>
            <a:endParaRPr lang="zh-CN" altLang="zh-CN" sz="1400" dirty="0">
              <a:latin typeface="微软雅黑" pitchFamily="34" charset="-122"/>
              <a:ea typeface="微软雅黑" pitchFamily="34" charset="-122"/>
            </a:endParaRPr>
          </a:p>
        </p:txBody>
      </p:sp>
      <p:sp>
        <p:nvSpPr>
          <p:cNvPr id="5" name="AutoShape 8"/>
          <p:cNvSpPr>
            <a:spLocks noChangeArrowheads="1"/>
          </p:cNvSpPr>
          <p:nvPr/>
        </p:nvSpPr>
        <p:spPr bwMode="gray">
          <a:xfrm>
            <a:off x="201315" y="4575371"/>
            <a:ext cx="2020253" cy="283619"/>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问题解决</a:t>
            </a:r>
            <a:endParaRPr lang="en-US" altLang="zh-CN" sz="1600" b="1" dirty="0">
              <a:latin typeface="Arial" pitchFamily="34" charset="0"/>
              <a:ea typeface="微软雅黑" pitchFamily="34" charset="-122"/>
            </a:endParaRPr>
          </a:p>
        </p:txBody>
      </p:sp>
      <p:sp>
        <p:nvSpPr>
          <p:cNvPr id="6" name="AutoShape 8"/>
          <p:cNvSpPr>
            <a:spLocks noChangeArrowheads="1"/>
          </p:cNvSpPr>
          <p:nvPr/>
        </p:nvSpPr>
        <p:spPr bwMode="gray">
          <a:xfrm>
            <a:off x="201313" y="488526"/>
            <a:ext cx="1916924" cy="267376"/>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问题描述</a:t>
            </a:r>
            <a:endParaRPr lang="en-US" altLang="zh-CN" sz="1600" b="1" dirty="0">
              <a:latin typeface="Arial" pitchFamily="34" charset="0"/>
              <a:ea typeface="微软雅黑" pitchFamily="34" charset="-122"/>
            </a:endParaRPr>
          </a:p>
        </p:txBody>
      </p:sp>
      <p:sp>
        <p:nvSpPr>
          <p:cNvPr id="7" name="Rectangle 128"/>
          <p:cNvSpPr>
            <a:spLocks noChangeArrowheads="1"/>
          </p:cNvSpPr>
          <p:nvPr/>
        </p:nvSpPr>
        <p:spPr bwMode="auto">
          <a:xfrm flipV="1">
            <a:off x="297517" y="744655"/>
            <a:ext cx="4648005" cy="585943"/>
          </a:xfrm>
          <a:prstGeom prst="rect">
            <a:avLst/>
          </a:prstGeom>
          <a:solidFill>
            <a:srgbClr val="3366FF">
              <a:alpha val="5098"/>
            </a:srgbClr>
          </a:solidFill>
          <a:ln w="0">
            <a:solidFill>
              <a:srgbClr val="99CCFF"/>
            </a:solidFill>
            <a:prstDash val="dash"/>
            <a:miter lim="800000"/>
            <a:headEnd/>
            <a:tailEnd/>
          </a:ln>
        </p:spPr>
        <p:txBody>
          <a:bodyPr wrap="none" lIns="75007" tIns="39004" rIns="75007" bIns="39004" anchor="ctr"/>
          <a:lstStyle>
            <a:lvl1pPr defTabSz="762000">
              <a:defRPr>
                <a:solidFill>
                  <a:schemeClr val="tx1"/>
                </a:solidFill>
                <a:latin typeface="Arial" pitchFamily="34" charset="0"/>
                <a:ea typeface="宋体" pitchFamily="2" charset="-122"/>
              </a:defRPr>
            </a:lvl1pPr>
            <a:lvl2pPr marL="742950" indent="-285750" defTabSz="762000">
              <a:defRPr>
                <a:solidFill>
                  <a:schemeClr val="tx1"/>
                </a:solidFill>
                <a:latin typeface="Arial" pitchFamily="34" charset="0"/>
                <a:ea typeface="宋体" pitchFamily="2" charset="-122"/>
              </a:defRPr>
            </a:lvl2pPr>
            <a:lvl3pPr marL="1143000" indent="-228600" defTabSz="762000">
              <a:defRPr>
                <a:solidFill>
                  <a:schemeClr val="tx1"/>
                </a:solidFill>
                <a:latin typeface="Arial" pitchFamily="34" charset="0"/>
                <a:ea typeface="宋体" pitchFamily="2" charset="-122"/>
              </a:defRPr>
            </a:lvl3pPr>
            <a:lvl4pPr marL="1600200" indent="-228600" defTabSz="762000">
              <a:defRPr>
                <a:solidFill>
                  <a:schemeClr val="tx1"/>
                </a:solidFill>
                <a:latin typeface="Arial" pitchFamily="34" charset="0"/>
                <a:ea typeface="宋体" pitchFamily="2" charset="-122"/>
              </a:defRPr>
            </a:lvl4pPr>
            <a:lvl5pPr marL="2057400" indent="-228600" defTabSz="76200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sz="1200" dirty="0">
              <a:latin typeface="微软雅黑" pitchFamily="34" charset="-122"/>
              <a:ea typeface="微软雅黑" pitchFamily="34" charset="-122"/>
            </a:endParaRPr>
          </a:p>
        </p:txBody>
      </p:sp>
      <p:pic>
        <p:nvPicPr>
          <p:cNvPr id="8" name="图片 45" descr="cid:image002.png@01D0EA4D.73C07B00"/>
          <p:cNvPicPr>
            <a:picLocks noChangeAspect="1" noChangeArrowheads="1"/>
          </p:cNvPicPr>
          <p:nvPr/>
        </p:nvPicPr>
        <p:blipFill>
          <a:blip r:embed="rId2" r:link="rId3" cstate="print">
            <a:extLst>
              <a:ext uri="{28A0092B-C50C-407E-A947-70E740481C1C}">
                <a14:useLocalDpi xmlns:a14="http://schemas.microsoft.com/office/drawing/2010/main" xmlns="" val="0"/>
              </a:ext>
            </a:extLst>
          </a:blip>
          <a:srcRect/>
          <a:stretch>
            <a:fillRect/>
          </a:stretch>
        </p:blipFill>
        <p:spPr bwMode="auto">
          <a:xfrm>
            <a:off x="4897421" y="622213"/>
            <a:ext cx="5373088" cy="2020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图片 4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888512" y="2698751"/>
            <a:ext cx="5323205" cy="20403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extBox 9"/>
          <p:cNvSpPr txBox="1"/>
          <p:nvPr/>
        </p:nvSpPr>
        <p:spPr>
          <a:xfrm>
            <a:off x="162248" y="76846"/>
            <a:ext cx="8352928"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20</a:t>
            </a:r>
            <a:r>
              <a:rPr lang="zh-CN" altLang="en-US" sz="2400" b="1" dirty="0" smtClean="0">
                <a:solidFill>
                  <a:schemeClr val="bg1"/>
                </a:solidFill>
                <a:latin typeface="+mn-ea"/>
              </a:rPr>
              <a:t>：</a:t>
            </a:r>
            <a:r>
              <a:rPr lang="en-US" altLang="zh-CN" sz="2400" b="1" dirty="0" smtClean="0">
                <a:solidFill>
                  <a:schemeClr val="bg1"/>
                </a:solidFill>
                <a:latin typeface="+mn-ea"/>
              </a:rPr>
              <a:t>VOLTE</a:t>
            </a:r>
            <a:r>
              <a:rPr lang="zh-CN" altLang="en-US" sz="2400" b="1" dirty="0" smtClean="0">
                <a:solidFill>
                  <a:schemeClr val="bg1"/>
                </a:solidFill>
                <a:latin typeface="+mn-ea"/>
              </a:rPr>
              <a:t>用户使用来电提醒业务异常的问题处理</a:t>
            </a:r>
          </a:p>
        </p:txBody>
      </p:sp>
      <p:sp>
        <p:nvSpPr>
          <p:cNvPr id="11" name="TextBox 36"/>
          <p:cNvSpPr txBox="1">
            <a:spLocks noChangeArrowheads="1"/>
          </p:cNvSpPr>
          <p:nvPr/>
        </p:nvSpPr>
        <p:spPr bwMode="auto">
          <a:xfrm>
            <a:off x="304643" y="658446"/>
            <a:ext cx="4664040" cy="7386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31" tIns="45715" rIns="91431" bIns="45715">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50000"/>
              </a:lnSpc>
              <a:buFont typeface="Wingdings" pitchFamily="2" charset="2"/>
              <a:buChar char="Ø"/>
            </a:pPr>
            <a:r>
              <a:rPr lang="en-US" altLang="zh-CN" sz="1400" dirty="0">
                <a:latin typeface="微软雅黑" pitchFamily="34" charset="-122"/>
                <a:ea typeface="微软雅黑" pitchFamily="34" charset="-122"/>
              </a:rPr>
              <a:t>VOLTE</a:t>
            </a:r>
            <a:r>
              <a:rPr lang="zh-CN" altLang="en-US" sz="1400" dirty="0">
                <a:latin typeface="微软雅黑" pitchFamily="34" charset="-122"/>
                <a:ea typeface="微软雅黑" pitchFamily="34" charset="-122"/>
              </a:rPr>
              <a:t>号码签约来电提醒业务，关机时做被叫，概率性听来电提醒提示音</a:t>
            </a:r>
            <a:r>
              <a:rPr lang="en-US" altLang="zh-CN" sz="1400" dirty="0">
                <a:latin typeface="微软雅黑" pitchFamily="34" charset="-122"/>
                <a:ea typeface="微软雅黑" pitchFamily="34" charset="-122"/>
              </a:rPr>
              <a:t>, </a:t>
            </a:r>
            <a:r>
              <a:rPr lang="zh-CN" altLang="en-US" sz="1400" dirty="0">
                <a:latin typeface="微软雅黑" pitchFamily="34" charset="-122"/>
                <a:ea typeface="微软雅黑" pitchFamily="34" charset="-122"/>
              </a:rPr>
              <a:t>部分听不到正常提示音。</a:t>
            </a:r>
            <a:endParaRPr lang="en-US" altLang="zh-CN" sz="1400" dirty="0">
              <a:solidFill>
                <a:srgbClr val="FF0000"/>
              </a:solidFill>
              <a:latin typeface="微软雅黑" pitchFamily="34" charset="-122"/>
              <a:ea typeface="微软雅黑" pitchFamily="34" charset="-122"/>
            </a:endParaRPr>
          </a:p>
        </p:txBody>
      </p:sp>
      <p:sp>
        <p:nvSpPr>
          <p:cNvPr id="12" name="TextBox 36"/>
          <p:cNvSpPr txBox="1">
            <a:spLocks noChangeArrowheads="1"/>
          </p:cNvSpPr>
          <p:nvPr/>
        </p:nvSpPr>
        <p:spPr bwMode="auto">
          <a:xfrm>
            <a:off x="234257" y="1660765"/>
            <a:ext cx="4664040" cy="29144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31" tIns="45715" rIns="91431" bIns="45715">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ts val="1999"/>
              </a:lnSpc>
              <a:buFont typeface="Wingdings" pitchFamily="2" charset="2"/>
              <a:buChar char="Ø"/>
            </a:pPr>
            <a:r>
              <a:rPr lang="zh-CN" altLang="en-US" sz="1400" dirty="0">
                <a:latin typeface="微软雅黑" pitchFamily="34" charset="-122"/>
                <a:ea typeface="微软雅黑" pitchFamily="34" charset="-122"/>
              </a:rPr>
              <a:t></a:t>
            </a:r>
            <a:r>
              <a:rPr lang="zh-CN" altLang="en-US" sz="1200" dirty="0">
                <a:latin typeface="微软雅黑" pitchFamily="34" charset="-122"/>
                <a:ea typeface="微软雅黑" pitchFamily="34" charset="-122"/>
              </a:rPr>
              <a:t>在相关局点进行信令跟踪，发现消息已送至关口局，但是关口局有两个局向并未将消息发送至来电提醒平台。其中到</a:t>
            </a:r>
            <a:r>
              <a:rPr lang="en-US" altLang="zh-CN" sz="1200" dirty="0">
                <a:latin typeface="微软雅黑" pitchFamily="34" charset="-122"/>
                <a:ea typeface="微软雅黑" pitchFamily="34" charset="-122"/>
              </a:rPr>
              <a:t>4</a:t>
            </a:r>
            <a:r>
              <a:rPr lang="zh-CN" altLang="en-US" sz="1200" dirty="0">
                <a:latin typeface="微软雅黑" pitchFamily="34" charset="-122"/>
                <a:ea typeface="微软雅黑" pitchFamily="34" charset="-122"/>
              </a:rPr>
              <a:t>个关口局的话务经过</a:t>
            </a:r>
            <a:r>
              <a:rPr lang="en-US" altLang="zh-CN" sz="1200" dirty="0">
                <a:latin typeface="微软雅黑" pitchFamily="34" charset="-122"/>
                <a:ea typeface="微软雅黑" pitchFamily="34" charset="-122"/>
              </a:rPr>
              <a:t>0AFB6D</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0AFB6C</a:t>
            </a:r>
            <a:r>
              <a:rPr lang="zh-CN" altLang="en-US" sz="1200" dirty="0">
                <a:latin typeface="微软雅黑" pitchFamily="34" charset="-122"/>
                <a:ea typeface="微软雅黑" pitchFamily="34" charset="-122"/>
              </a:rPr>
              <a:t>的话务正常，经过</a:t>
            </a:r>
            <a:r>
              <a:rPr lang="en-US" altLang="zh-CN" sz="1200" dirty="0">
                <a:latin typeface="微软雅黑" pitchFamily="34" charset="-122"/>
                <a:ea typeface="微软雅黑" pitchFamily="34" charset="-122"/>
              </a:rPr>
              <a:t>0AF95A</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0AF95D</a:t>
            </a:r>
            <a:r>
              <a:rPr lang="zh-CN" altLang="en-US" sz="1200" dirty="0">
                <a:latin typeface="微软雅黑" pitchFamily="34" charset="-122"/>
                <a:ea typeface="微软雅黑" pitchFamily="34" charset="-122"/>
              </a:rPr>
              <a:t>的话务不正常；返回错误，错误信息如图所示</a:t>
            </a:r>
          </a:p>
          <a:p>
            <a:pPr>
              <a:lnSpc>
                <a:spcPts val="1999"/>
              </a:lnSpc>
              <a:buFont typeface="Wingdings" pitchFamily="2" charset="2"/>
              <a:buChar char="Ø"/>
            </a:pPr>
            <a:r>
              <a:rPr lang="zh-CN" altLang="en-US" sz="1200" dirty="0">
                <a:latin typeface="微软雅黑" pitchFamily="34" charset="-122"/>
                <a:ea typeface="微软雅黑" pitchFamily="34" charset="-122"/>
              </a:rPr>
              <a:t>对比普通</a:t>
            </a:r>
            <a:r>
              <a:rPr lang="en-US" altLang="zh-CN" sz="1200" dirty="0">
                <a:latin typeface="微软雅黑" pitchFamily="34" charset="-122"/>
                <a:ea typeface="微软雅黑" pitchFamily="34" charset="-122"/>
              </a:rPr>
              <a:t>2/3G</a:t>
            </a:r>
            <a:r>
              <a:rPr lang="zh-CN" altLang="en-US" sz="1200" dirty="0">
                <a:latin typeface="微软雅黑" pitchFamily="34" charset="-122"/>
                <a:ea typeface="微软雅黑" pitchFamily="34" charset="-122"/>
              </a:rPr>
              <a:t>手机用户数据，发现签约的来电提醒平台不一致，</a:t>
            </a:r>
            <a:r>
              <a:rPr lang="en-US" altLang="zh-CN" sz="1200" dirty="0">
                <a:latin typeface="微软雅黑" pitchFamily="34" charset="-122"/>
                <a:ea typeface="微软雅黑" pitchFamily="34" charset="-122"/>
              </a:rPr>
              <a:t>VOLTE</a:t>
            </a:r>
            <a:r>
              <a:rPr lang="zh-CN" altLang="en-US" sz="1200" dirty="0">
                <a:latin typeface="微软雅黑" pitchFamily="34" charset="-122"/>
                <a:ea typeface="微软雅黑" pitchFamily="34" charset="-122"/>
              </a:rPr>
              <a:t>用户签约的来电提醒平台号码为</a:t>
            </a:r>
            <a:r>
              <a:rPr lang="en-US" altLang="zh-CN" sz="1200" dirty="0">
                <a:latin typeface="微软雅黑" pitchFamily="34" charset="-122"/>
                <a:ea typeface="微软雅黑" pitchFamily="34" charset="-122"/>
              </a:rPr>
              <a:t>13800535513,</a:t>
            </a:r>
            <a:r>
              <a:rPr lang="zh-CN" altLang="en-US" sz="1200" dirty="0">
                <a:latin typeface="微软雅黑" pitchFamily="34" charset="-122"/>
                <a:ea typeface="微软雅黑" pitchFamily="34" charset="-122"/>
              </a:rPr>
              <a:t>普通</a:t>
            </a:r>
            <a:r>
              <a:rPr lang="en-US" altLang="zh-CN" sz="1200" dirty="0">
                <a:latin typeface="微软雅黑" pitchFamily="34" charset="-122"/>
                <a:ea typeface="微软雅黑" pitchFamily="34" charset="-122"/>
              </a:rPr>
              <a:t>2/3G</a:t>
            </a:r>
            <a:r>
              <a:rPr lang="zh-CN" altLang="en-US" sz="1200" dirty="0">
                <a:latin typeface="微软雅黑" pitchFamily="34" charset="-122"/>
                <a:ea typeface="微软雅黑" pitchFamily="34" charset="-122"/>
              </a:rPr>
              <a:t>用户签约的来电提醒平台号码为</a:t>
            </a:r>
            <a:r>
              <a:rPr lang="en-US" altLang="zh-CN" sz="1200" dirty="0">
                <a:latin typeface="微软雅黑" pitchFamily="34" charset="-122"/>
                <a:ea typeface="微软雅黑" pitchFamily="34" charset="-122"/>
              </a:rPr>
              <a:t>13800539513</a:t>
            </a:r>
            <a:r>
              <a:rPr lang="zh-CN" altLang="en-US" sz="1200" dirty="0">
                <a:latin typeface="微软雅黑" pitchFamily="34" charset="-122"/>
                <a:ea typeface="微软雅黑" pitchFamily="34" charset="-122"/>
              </a:rPr>
              <a:t>。检查关口局数据，发现</a:t>
            </a:r>
            <a:r>
              <a:rPr lang="en-US" altLang="zh-CN" sz="1200" dirty="0">
                <a:latin typeface="微软雅黑" pitchFamily="34" charset="-122"/>
                <a:ea typeface="微软雅黑" pitchFamily="34" charset="-122"/>
              </a:rPr>
              <a:t>13800539513</a:t>
            </a:r>
            <a:r>
              <a:rPr lang="zh-CN" altLang="en-US" sz="1200" dirty="0">
                <a:latin typeface="微软雅黑" pitchFamily="34" charset="-122"/>
                <a:ea typeface="微软雅黑" pitchFamily="34" charset="-122"/>
              </a:rPr>
              <a:t>指向为</a:t>
            </a:r>
            <a:r>
              <a:rPr lang="en-US" altLang="zh-CN" sz="1200" dirty="0">
                <a:latin typeface="微软雅黑" pitchFamily="34" charset="-122"/>
                <a:ea typeface="微软雅黑" pitchFamily="34" charset="-122"/>
              </a:rPr>
              <a:t>CMN</a:t>
            </a:r>
            <a:r>
              <a:rPr lang="zh-CN" altLang="en-US" sz="1200" dirty="0">
                <a:latin typeface="微软雅黑" pitchFamily="34" charset="-122"/>
                <a:ea typeface="微软雅黑" pitchFamily="34" charset="-122"/>
              </a:rPr>
              <a:t>汇接局，</a:t>
            </a:r>
            <a:r>
              <a:rPr lang="en-US" altLang="zh-CN" sz="1200" dirty="0">
                <a:latin typeface="微软雅黑" pitchFamily="34" charset="-122"/>
                <a:ea typeface="微软雅黑" pitchFamily="34" charset="-122"/>
              </a:rPr>
              <a:t>13800535513</a:t>
            </a:r>
            <a:r>
              <a:rPr lang="zh-CN" altLang="en-US" sz="1200" dirty="0">
                <a:latin typeface="微软雅黑" pitchFamily="34" charset="-122"/>
                <a:ea typeface="微软雅黑" pitchFamily="34" charset="-122"/>
              </a:rPr>
              <a:t>无具体指向，最大匹配的</a:t>
            </a:r>
            <a:r>
              <a:rPr lang="en-US" altLang="zh-CN" sz="1200" dirty="0">
                <a:latin typeface="微软雅黑" pitchFamily="34" charset="-122"/>
                <a:ea typeface="微软雅黑" pitchFamily="34" charset="-122"/>
              </a:rPr>
              <a:t>1380053</a:t>
            </a:r>
            <a:r>
              <a:rPr lang="zh-CN" altLang="en-US" sz="1200" dirty="0">
                <a:latin typeface="微软雅黑" pitchFamily="34" charset="-122"/>
                <a:ea typeface="微软雅黑" pitchFamily="34" charset="-122"/>
              </a:rPr>
              <a:t>指向了</a:t>
            </a:r>
            <a:r>
              <a:rPr lang="en-US" altLang="zh-CN" sz="1200" dirty="0">
                <a:latin typeface="微软雅黑" pitchFamily="34" charset="-122"/>
                <a:ea typeface="微软雅黑" pitchFamily="34" charset="-122"/>
              </a:rPr>
              <a:t>JNB</a:t>
            </a:r>
            <a:r>
              <a:rPr lang="zh-CN" altLang="en-US" sz="1200" dirty="0">
                <a:latin typeface="微软雅黑" pitchFamily="34" charset="-122"/>
                <a:ea typeface="微软雅黑" pitchFamily="34" charset="-122"/>
              </a:rPr>
              <a:t>局，由于该话务由</a:t>
            </a:r>
            <a:r>
              <a:rPr lang="en-US" altLang="zh-CN" sz="1200" dirty="0">
                <a:latin typeface="微软雅黑" pitchFamily="34" charset="-122"/>
                <a:ea typeface="微软雅黑" pitchFamily="34" charset="-122"/>
              </a:rPr>
              <a:t>CMN</a:t>
            </a:r>
            <a:r>
              <a:rPr lang="zh-CN" altLang="en-US" sz="1200" dirty="0">
                <a:latin typeface="微软雅黑" pitchFamily="34" charset="-122"/>
                <a:ea typeface="微软雅黑" pitchFamily="34" charset="-122"/>
              </a:rPr>
              <a:t>汇接局接续，所以</a:t>
            </a:r>
            <a:r>
              <a:rPr lang="en-US" altLang="zh-CN" sz="1200" dirty="0">
                <a:latin typeface="微软雅黑" pitchFamily="34" charset="-122"/>
                <a:ea typeface="微软雅黑" pitchFamily="34" charset="-122"/>
              </a:rPr>
              <a:t>JNB</a:t>
            </a:r>
            <a:r>
              <a:rPr lang="zh-CN" altLang="en-US" sz="1200" dirty="0">
                <a:latin typeface="微软雅黑" pitchFamily="34" charset="-122"/>
                <a:ea typeface="微软雅黑" pitchFamily="34" charset="-122"/>
              </a:rPr>
              <a:t>局回复了释放消息，将</a:t>
            </a:r>
            <a:r>
              <a:rPr lang="en-US" altLang="zh-CN" sz="1200" dirty="0">
                <a:latin typeface="微软雅黑" pitchFamily="34" charset="-122"/>
                <a:ea typeface="微软雅黑" pitchFamily="34" charset="-122"/>
              </a:rPr>
              <a:t>VOLTE</a:t>
            </a:r>
            <a:r>
              <a:rPr lang="zh-CN" altLang="en-US" sz="1200" dirty="0">
                <a:latin typeface="微软雅黑" pitchFamily="34" charset="-122"/>
                <a:ea typeface="微软雅黑" pitchFamily="34" charset="-122"/>
              </a:rPr>
              <a:t>用户签约的来电提醒平台号码修改为</a:t>
            </a:r>
            <a:r>
              <a:rPr lang="en-US" altLang="zh-CN" sz="1200" dirty="0">
                <a:latin typeface="微软雅黑" pitchFamily="34" charset="-122"/>
                <a:ea typeface="微软雅黑" pitchFamily="34" charset="-122"/>
              </a:rPr>
              <a:t>13800539513,</a:t>
            </a:r>
            <a:r>
              <a:rPr lang="zh-CN" altLang="en-US" sz="1200" dirty="0">
                <a:latin typeface="微软雅黑" pitchFamily="34" charset="-122"/>
                <a:ea typeface="微软雅黑" pitchFamily="34" charset="-122"/>
              </a:rPr>
              <a:t>测试可以听到正常提示音。</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363432" y="592227"/>
            <a:ext cx="9616687" cy="4714067"/>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algn="ctr">
              <a:defRPr/>
            </a:pPr>
            <a:endParaRPr lang="zh-CN" altLang="en-US">
              <a:solidFill>
                <a:prstClr val="white"/>
              </a:solidFill>
              <a:latin typeface="微软雅黑"/>
            </a:endParaRPr>
          </a:p>
        </p:txBody>
      </p:sp>
      <p:grpSp>
        <p:nvGrpSpPr>
          <p:cNvPr id="8196" name="组合 26"/>
          <p:cNvGrpSpPr>
            <a:grpSpLocks/>
          </p:cNvGrpSpPr>
          <p:nvPr/>
        </p:nvGrpSpPr>
        <p:grpSpPr bwMode="auto">
          <a:xfrm>
            <a:off x="595031" y="657197"/>
            <a:ext cx="1767276" cy="338554"/>
            <a:chOff x="467544" y="1437373"/>
            <a:chExt cx="1575470" cy="428680"/>
          </a:xfrm>
        </p:grpSpPr>
        <p:sp>
          <p:nvSpPr>
            <p:cNvPr id="8210" name="文本框 21"/>
            <p:cNvSpPr txBox="1">
              <a:spLocks noChangeArrowheads="1"/>
            </p:cNvSpPr>
            <p:nvPr/>
          </p:nvSpPr>
          <p:spPr bwMode="auto">
            <a:xfrm>
              <a:off x="839492" y="1437373"/>
              <a:ext cx="902001" cy="4286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600" b="1" dirty="0">
                  <a:solidFill>
                    <a:srgbClr val="000000"/>
                  </a:solidFill>
                  <a:latin typeface="微软雅黑" pitchFamily="34" charset="-122"/>
                </a:rPr>
                <a:t>问题名称</a:t>
              </a:r>
            </a:p>
          </p:txBody>
        </p:sp>
        <p:cxnSp>
          <p:nvCxnSpPr>
            <p:cNvPr id="20" name="直接连接符 19"/>
            <p:cNvCxnSpPr/>
            <p:nvPr/>
          </p:nvCxnSpPr>
          <p:spPr>
            <a:xfrm>
              <a:off x="467544" y="1755361"/>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18" name="矩形标注 17"/>
            <p:cNvSpPr/>
            <p:nvPr/>
          </p:nvSpPr>
          <p:spPr>
            <a:xfrm>
              <a:off x="467544" y="1476924"/>
              <a:ext cx="306518" cy="291093"/>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anchor="ctr"/>
            <a:lstStyle/>
            <a:p>
              <a:pPr algn="ctr">
                <a:defRPr/>
              </a:pPr>
              <a:r>
                <a:rPr lang="en-US" altLang="zh-CN" sz="1600" dirty="0">
                  <a:solidFill>
                    <a:prstClr val="white"/>
                  </a:solidFill>
                  <a:latin typeface="微软雅黑"/>
                </a:rPr>
                <a:t>1</a:t>
              </a:r>
              <a:endParaRPr lang="zh-CN" altLang="en-US" sz="1600" dirty="0">
                <a:solidFill>
                  <a:prstClr val="white"/>
                </a:solidFill>
                <a:latin typeface="微软雅黑"/>
              </a:endParaRPr>
            </a:p>
          </p:txBody>
        </p:sp>
      </p:grpSp>
      <p:sp>
        <p:nvSpPr>
          <p:cNvPr id="8197" name="矩形 25"/>
          <p:cNvSpPr>
            <a:spLocks noChangeArrowheads="1"/>
          </p:cNvSpPr>
          <p:nvPr/>
        </p:nvSpPr>
        <p:spPr bwMode="auto">
          <a:xfrm>
            <a:off x="721520" y="1080751"/>
            <a:ext cx="4539333"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31" tIns="45715" rIns="91431" bIns="45715">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zh-CN" sz="1400" dirty="0"/>
              <a:t>无线环境差导致未接通</a:t>
            </a:r>
          </a:p>
        </p:txBody>
      </p:sp>
      <p:grpSp>
        <p:nvGrpSpPr>
          <p:cNvPr id="8198" name="组合 31"/>
          <p:cNvGrpSpPr>
            <a:grpSpLocks/>
          </p:cNvGrpSpPr>
          <p:nvPr/>
        </p:nvGrpSpPr>
        <p:grpSpPr bwMode="auto">
          <a:xfrm>
            <a:off x="561182" y="1461823"/>
            <a:ext cx="1767276" cy="338554"/>
            <a:chOff x="467544" y="1437373"/>
            <a:chExt cx="1575470" cy="430692"/>
          </a:xfrm>
        </p:grpSpPr>
        <p:sp>
          <p:nvSpPr>
            <p:cNvPr id="8207" name="文本框 32"/>
            <p:cNvSpPr txBox="1">
              <a:spLocks noChangeArrowheads="1"/>
            </p:cNvSpPr>
            <p:nvPr/>
          </p:nvSpPr>
          <p:spPr bwMode="auto">
            <a:xfrm>
              <a:off x="839492" y="1437373"/>
              <a:ext cx="902001" cy="4306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600" b="1" dirty="0">
                  <a:solidFill>
                    <a:srgbClr val="000000"/>
                  </a:solidFill>
                  <a:latin typeface="微软雅黑" pitchFamily="34" charset="-122"/>
                </a:rPr>
                <a:t>问题描述</a:t>
              </a:r>
            </a:p>
          </p:txBody>
        </p:sp>
        <p:cxnSp>
          <p:nvCxnSpPr>
            <p:cNvPr id="34" name="直接连接符 33"/>
            <p:cNvCxnSpPr/>
            <p:nvPr/>
          </p:nvCxnSpPr>
          <p:spPr>
            <a:xfrm>
              <a:off x="467544" y="1755264"/>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5" name="矩形标注 34"/>
            <p:cNvSpPr/>
            <p:nvPr/>
          </p:nvSpPr>
          <p:spPr>
            <a:xfrm>
              <a:off x="467544" y="1477110"/>
              <a:ext cx="306517" cy="290869"/>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anchor="ctr"/>
            <a:lstStyle/>
            <a:p>
              <a:pPr algn="ctr">
                <a:defRPr/>
              </a:pPr>
              <a:r>
                <a:rPr lang="en-US" altLang="zh-CN" sz="1600" dirty="0">
                  <a:solidFill>
                    <a:prstClr val="white"/>
                  </a:solidFill>
                  <a:latin typeface="微软雅黑"/>
                </a:rPr>
                <a:t>2</a:t>
              </a:r>
              <a:endParaRPr lang="zh-CN" altLang="en-US" sz="1600" dirty="0">
                <a:solidFill>
                  <a:prstClr val="white"/>
                </a:solidFill>
                <a:latin typeface="微软雅黑"/>
              </a:endParaRPr>
            </a:p>
          </p:txBody>
        </p:sp>
      </p:grpSp>
      <p:grpSp>
        <p:nvGrpSpPr>
          <p:cNvPr id="8199" name="组合 36"/>
          <p:cNvGrpSpPr>
            <a:grpSpLocks/>
          </p:cNvGrpSpPr>
          <p:nvPr/>
        </p:nvGrpSpPr>
        <p:grpSpPr bwMode="auto">
          <a:xfrm>
            <a:off x="5460385" y="2698750"/>
            <a:ext cx="1769057" cy="338554"/>
            <a:chOff x="467544" y="1437373"/>
            <a:chExt cx="1575470" cy="430694"/>
          </a:xfrm>
        </p:grpSpPr>
        <p:sp>
          <p:nvSpPr>
            <p:cNvPr id="8204" name="文本框 37"/>
            <p:cNvSpPr txBox="1">
              <a:spLocks noChangeArrowheads="1"/>
            </p:cNvSpPr>
            <p:nvPr/>
          </p:nvSpPr>
          <p:spPr bwMode="auto">
            <a:xfrm>
              <a:off x="839492" y="1437373"/>
              <a:ext cx="901093" cy="4306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600" b="1" dirty="0">
                  <a:solidFill>
                    <a:srgbClr val="000000"/>
                  </a:solidFill>
                  <a:latin typeface="微软雅黑" pitchFamily="34" charset="-122"/>
                </a:rPr>
                <a:t>解决措施</a:t>
              </a:r>
            </a:p>
          </p:txBody>
        </p:sp>
        <p:cxnSp>
          <p:nvCxnSpPr>
            <p:cNvPr id="39" name="直接连接符 38"/>
            <p:cNvCxnSpPr/>
            <p:nvPr/>
          </p:nvCxnSpPr>
          <p:spPr>
            <a:xfrm>
              <a:off x="467544" y="1755265"/>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0" name="矩形标注 39"/>
            <p:cNvSpPr/>
            <p:nvPr/>
          </p:nvSpPr>
          <p:spPr>
            <a:xfrm>
              <a:off x="467544" y="1477109"/>
              <a:ext cx="306209" cy="29087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anchor="ctr"/>
            <a:lstStyle/>
            <a:p>
              <a:pPr algn="ctr">
                <a:defRPr/>
              </a:pPr>
              <a:r>
                <a:rPr lang="en-US" altLang="zh-CN" sz="1600" dirty="0">
                  <a:solidFill>
                    <a:prstClr val="white"/>
                  </a:solidFill>
                  <a:latin typeface="微软雅黑"/>
                </a:rPr>
                <a:t>3</a:t>
              </a:r>
              <a:endParaRPr lang="zh-CN" altLang="en-US" sz="1600" dirty="0">
                <a:solidFill>
                  <a:prstClr val="white"/>
                </a:solidFill>
                <a:latin typeface="微软雅黑"/>
              </a:endParaRPr>
            </a:p>
          </p:txBody>
        </p:sp>
      </p:grpSp>
      <p:sp>
        <p:nvSpPr>
          <p:cNvPr id="41" name="矩形 40"/>
          <p:cNvSpPr/>
          <p:nvPr/>
        </p:nvSpPr>
        <p:spPr>
          <a:xfrm>
            <a:off x="5405156" y="2986783"/>
            <a:ext cx="4539333" cy="2354491"/>
          </a:xfrm>
          <a:prstGeom prst="rect">
            <a:avLst/>
          </a:prstGeom>
          <a:noFill/>
        </p:spPr>
        <p:txBody>
          <a:bodyPr lIns="91431" tIns="45715" rIns="91431" bIns="45715">
            <a:spAutoFit/>
          </a:bodyPr>
          <a:lstStyle/>
          <a:p>
            <a:pPr>
              <a:lnSpc>
                <a:spcPct val="150000"/>
              </a:lnSpc>
              <a:defRPr/>
            </a:pPr>
            <a:r>
              <a:rPr lang="zh-CN" altLang="zh-CN" sz="1400" dirty="0">
                <a:latin typeface="Arial" charset="0"/>
              </a:rPr>
              <a:t>调整方案：</a:t>
            </a:r>
          </a:p>
          <a:p>
            <a:pPr>
              <a:lnSpc>
                <a:spcPct val="150000"/>
              </a:lnSpc>
              <a:defRPr/>
            </a:pPr>
            <a:r>
              <a:rPr lang="en-US" altLang="zh-CN" sz="1400" dirty="0">
                <a:latin typeface="Arial" charset="0"/>
              </a:rPr>
              <a:t>1</a:t>
            </a:r>
            <a:r>
              <a:rPr lang="zh-CN" altLang="en-US" sz="1400" dirty="0">
                <a:latin typeface="Arial" charset="0"/>
              </a:rPr>
              <a:t>、</a:t>
            </a:r>
            <a:r>
              <a:rPr lang="zh-CN" altLang="zh-CN" sz="1400" dirty="0">
                <a:latin typeface="Arial" charset="0"/>
              </a:rPr>
              <a:t>调整河东远通汽贸</a:t>
            </a:r>
            <a:r>
              <a:rPr lang="en-US" altLang="zh-CN" sz="1400" dirty="0">
                <a:latin typeface="Arial" charset="0"/>
              </a:rPr>
              <a:t>1</a:t>
            </a:r>
            <a:r>
              <a:rPr lang="zh-CN" altLang="zh-CN" sz="1400" dirty="0">
                <a:latin typeface="Arial" charset="0"/>
              </a:rPr>
              <a:t>小区的机械下倾角上抬</a:t>
            </a:r>
            <a:r>
              <a:rPr lang="en-US" altLang="zh-CN" sz="1400" dirty="0">
                <a:latin typeface="Arial" charset="0"/>
              </a:rPr>
              <a:t>2</a:t>
            </a:r>
            <a:r>
              <a:rPr lang="zh-CN" altLang="zh-CN" sz="1400" dirty="0">
                <a:latin typeface="Arial" charset="0"/>
              </a:rPr>
              <a:t>度。</a:t>
            </a:r>
          </a:p>
          <a:p>
            <a:pPr>
              <a:lnSpc>
                <a:spcPct val="150000"/>
              </a:lnSpc>
              <a:defRPr/>
            </a:pPr>
            <a:r>
              <a:rPr lang="en-US" altLang="zh-CN" sz="1400" dirty="0">
                <a:latin typeface="Arial" charset="0"/>
              </a:rPr>
              <a:t>2</a:t>
            </a:r>
            <a:r>
              <a:rPr lang="zh-CN" altLang="en-US" sz="1400" dirty="0">
                <a:latin typeface="Arial" charset="0"/>
              </a:rPr>
              <a:t>、</a:t>
            </a:r>
            <a:r>
              <a:rPr lang="zh-CN" altLang="zh-CN" sz="1400" dirty="0">
                <a:latin typeface="Arial" charset="0"/>
              </a:rPr>
              <a:t>调整河东远通汽贸</a:t>
            </a:r>
            <a:r>
              <a:rPr lang="en-US" altLang="zh-CN" sz="1400" dirty="0">
                <a:latin typeface="Arial" charset="0"/>
              </a:rPr>
              <a:t>1</a:t>
            </a:r>
            <a:r>
              <a:rPr lang="zh-CN" altLang="zh-CN" sz="1400" dirty="0">
                <a:latin typeface="Arial" charset="0"/>
              </a:rPr>
              <a:t>小区的方位角未</a:t>
            </a:r>
            <a:r>
              <a:rPr lang="en-US" altLang="zh-CN" sz="1400" dirty="0">
                <a:latin typeface="Arial" charset="0"/>
              </a:rPr>
              <a:t>30</a:t>
            </a:r>
            <a:r>
              <a:rPr lang="zh-CN" altLang="zh-CN" sz="1400" dirty="0">
                <a:latin typeface="Arial" charset="0"/>
              </a:rPr>
              <a:t>度。</a:t>
            </a:r>
          </a:p>
          <a:p>
            <a:pPr>
              <a:lnSpc>
                <a:spcPct val="150000"/>
              </a:lnSpc>
              <a:defRPr/>
            </a:pPr>
            <a:r>
              <a:rPr lang="en-US" altLang="zh-CN" sz="1400" dirty="0">
                <a:latin typeface="Arial" charset="0"/>
              </a:rPr>
              <a:t>3</a:t>
            </a:r>
            <a:r>
              <a:rPr lang="zh-CN" altLang="en-US" sz="1400" dirty="0">
                <a:latin typeface="Arial" charset="0"/>
              </a:rPr>
              <a:t>、</a:t>
            </a:r>
            <a:r>
              <a:rPr lang="zh-CN" altLang="zh-CN" sz="1400" dirty="0">
                <a:latin typeface="Arial" charset="0"/>
              </a:rPr>
              <a:t>调整河东远通汽贸</a:t>
            </a:r>
            <a:r>
              <a:rPr lang="en-US" altLang="zh-CN" sz="1400" dirty="0">
                <a:latin typeface="Arial" charset="0"/>
              </a:rPr>
              <a:t>1</a:t>
            </a:r>
            <a:r>
              <a:rPr lang="zh-CN" altLang="zh-CN" sz="1400" dirty="0">
                <a:latin typeface="Arial" charset="0"/>
              </a:rPr>
              <a:t>小区的</a:t>
            </a:r>
            <a:r>
              <a:rPr lang="en-US" altLang="zh-CN" sz="1400" dirty="0">
                <a:latin typeface="Arial" charset="0"/>
              </a:rPr>
              <a:t>PDSCH</a:t>
            </a:r>
            <a:r>
              <a:rPr lang="zh-CN" altLang="zh-CN" sz="1400" dirty="0">
                <a:latin typeface="Arial" charset="0"/>
              </a:rPr>
              <a:t>功率为</a:t>
            </a:r>
            <a:r>
              <a:rPr lang="en-US" altLang="zh-CN" sz="1400" dirty="0">
                <a:latin typeface="Arial" charset="0"/>
              </a:rPr>
              <a:t>152</a:t>
            </a:r>
            <a:r>
              <a:rPr lang="zh-CN" altLang="zh-CN" sz="1400" dirty="0">
                <a:latin typeface="Arial" charset="0"/>
              </a:rPr>
              <a:t>加强覆盖。</a:t>
            </a:r>
          </a:p>
          <a:p>
            <a:pPr>
              <a:lnSpc>
                <a:spcPct val="150000"/>
              </a:lnSpc>
              <a:defRPr/>
            </a:pPr>
            <a:r>
              <a:rPr lang="en-US" altLang="zh-CN" sz="1400" dirty="0">
                <a:latin typeface="Arial" charset="0"/>
              </a:rPr>
              <a:t>4</a:t>
            </a:r>
            <a:r>
              <a:rPr lang="zh-CN" altLang="en-US" sz="1400" dirty="0">
                <a:latin typeface="Arial" charset="0"/>
              </a:rPr>
              <a:t>、</a:t>
            </a:r>
            <a:r>
              <a:rPr lang="zh-CN" altLang="zh-CN" sz="1400" dirty="0">
                <a:latin typeface="Arial" charset="0"/>
              </a:rPr>
              <a:t>下压河东远通汽贸</a:t>
            </a:r>
            <a:r>
              <a:rPr lang="en-US" altLang="zh-CN" sz="1400" dirty="0">
                <a:latin typeface="Arial" charset="0"/>
              </a:rPr>
              <a:t>1</a:t>
            </a:r>
            <a:r>
              <a:rPr lang="zh-CN" altLang="zh-CN" sz="1400" dirty="0">
                <a:latin typeface="Arial" charset="0"/>
              </a:rPr>
              <a:t>小区的机械下倾角</a:t>
            </a:r>
            <a:r>
              <a:rPr lang="en-US" altLang="zh-CN" sz="1400" dirty="0">
                <a:latin typeface="Arial" charset="0"/>
              </a:rPr>
              <a:t>2</a:t>
            </a:r>
            <a:r>
              <a:rPr lang="zh-CN" altLang="zh-CN" sz="1400" dirty="0">
                <a:latin typeface="Arial" charset="0"/>
              </a:rPr>
              <a:t>度防止越区干扰。</a:t>
            </a:r>
            <a:endParaRPr lang="zh-CN" altLang="en-US" sz="1400" kern="0" dirty="0">
              <a:solidFill>
                <a:prstClr val="black"/>
              </a:solidFill>
              <a:latin typeface="微软雅黑"/>
              <a:cs typeface="宋体" panose="02010600030101010101" pitchFamily="2" charset="-122"/>
            </a:endParaRPr>
          </a:p>
        </p:txBody>
      </p:sp>
      <p:sp>
        <p:nvSpPr>
          <p:cNvPr id="8201" name="矩形 2"/>
          <p:cNvSpPr>
            <a:spLocks noChangeArrowheads="1"/>
          </p:cNvSpPr>
          <p:nvPr/>
        </p:nvSpPr>
        <p:spPr bwMode="auto">
          <a:xfrm>
            <a:off x="721521" y="1844146"/>
            <a:ext cx="4507265" cy="2031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31" tIns="45715" rIns="91431" bIns="45715">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pPr>
            <a:r>
              <a:rPr lang="zh-CN" altLang="zh-CN" sz="1400" dirty="0"/>
              <a:t>被叫</a:t>
            </a:r>
            <a:r>
              <a:rPr lang="en-US" altLang="zh-CN" sz="1400" dirty="0"/>
              <a:t>14:36:40.774</a:t>
            </a:r>
            <a:r>
              <a:rPr lang="zh-CN" altLang="zh-CN" sz="1400" dirty="0"/>
              <a:t>上发</a:t>
            </a:r>
            <a:r>
              <a:rPr lang="en-US" altLang="zh-CN" sz="1400" dirty="0"/>
              <a:t>INCITE Ringing 180,</a:t>
            </a:r>
            <a:r>
              <a:rPr lang="zh-CN" altLang="zh-CN" sz="1400" dirty="0"/>
              <a:t>主叫</a:t>
            </a:r>
            <a:r>
              <a:rPr lang="en-US" altLang="zh-CN" sz="1400" dirty="0"/>
              <a:t>14:36:44.364</a:t>
            </a:r>
            <a:r>
              <a:rPr lang="zh-CN" altLang="zh-CN" sz="1400" dirty="0"/>
              <a:t>收到</a:t>
            </a:r>
            <a:r>
              <a:rPr lang="en-US" altLang="zh-CN" sz="1400" dirty="0"/>
              <a:t>UPDATE 200</a:t>
            </a:r>
            <a:r>
              <a:rPr lang="zh-CN" altLang="zh-CN" sz="1400" dirty="0"/>
              <a:t>，但一直未响</a:t>
            </a:r>
            <a:r>
              <a:rPr lang="en-US" altLang="zh-CN" sz="1400" dirty="0"/>
              <a:t>INCITE Ringing 180</a:t>
            </a:r>
            <a:r>
              <a:rPr lang="zh-CN" altLang="zh-CN" sz="1400" dirty="0"/>
              <a:t>，此时主被叫无线环境均较差：</a:t>
            </a:r>
            <a:r>
              <a:rPr lang="en-US" altLang="zh-CN" sz="1400" dirty="0"/>
              <a:t>RSRP=-120dbm</a:t>
            </a:r>
            <a:r>
              <a:rPr lang="zh-CN" altLang="zh-CN" sz="1400" dirty="0"/>
              <a:t>左右，</a:t>
            </a:r>
            <a:r>
              <a:rPr lang="en-US" altLang="zh-CN" sz="1400" dirty="0"/>
              <a:t>SINR</a:t>
            </a:r>
            <a:r>
              <a:rPr lang="zh-CN" altLang="zh-CN" sz="1400" dirty="0"/>
              <a:t>在</a:t>
            </a:r>
            <a:r>
              <a:rPr lang="en-US" altLang="zh-CN" sz="1400" dirty="0"/>
              <a:t>-3</a:t>
            </a:r>
            <a:r>
              <a:rPr lang="zh-CN" altLang="zh-CN" sz="1400" dirty="0"/>
              <a:t>以下；应是无线环境差导致信令丢失，</a:t>
            </a:r>
            <a:r>
              <a:rPr lang="en-US" altLang="zh-CN" sz="1400" dirty="0"/>
              <a:t>UE</a:t>
            </a:r>
            <a:r>
              <a:rPr lang="zh-CN" altLang="zh-CN" sz="1400" dirty="0"/>
              <a:t>未能及时响应导致未接通。</a:t>
            </a:r>
          </a:p>
          <a:p>
            <a:pPr>
              <a:lnSpc>
                <a:spcPct val="150000"/>
              </a:lnSpc>
            </a:pPr>
            <a:endParaRPr lang="zh-CN" altLang="en-US" sz="1400" dirty="0"/>
          </a:p>
        </p:txBody>
      </p:sp>
      <p:pic>
        <p:nvPicPr>
          <p:cNvPr id="8202" name="图片 2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46462" y="3221009"/>
            <a:ext cx="4425315" cy="1972837"/>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pic>
      <p:pic>
        <p:nvPicPr>
          <p:cNvPr id="8203" name="图片 27"/>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469290" y="739659"/>
            <a:ext cx="4368306" cy="1887084"/>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pic>
      <p:sp>
        <p:nvSpPr>
          <p:cNvPr id="21" name="TextBox 20"/>
          <p:cNvSpPr txBox="1"/>
          <p:nvPr/>
        </p:nvSpPr>
        <p:spPr>
          <a:xfrm>
            <a:off x="162249" y="76846"/>
            <a:ext cx="5544616"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21</a:t>
            </a:r>
            <a:r>
              <a:rPr lang="zh-CN" altLang="en-US" sz="2400" b="1" dirty="0" smtClean="0">
                <a:solidFill>
                  <a:schemeClr val="bg1"/>
                </a:solidFill>
                <a:latin typeface="+mn-ea"/>
              </a:rPr>
              <a:t>：无线环境差导致未接通</a:t>
            </a:r>
          </a:p>
        </p:txBody>
      </p:sp>
    </p:spTree>
    <p:extLst>
      <p:ext uri="{BB962C8B-B14F-4D97-AF65-F5344CB8AC3E}">
        <p14:creationId xmlns:p14="http://schemas.microsoft.com/office/powerpoint/2010/main" xmlns="" val="296798550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1453" y="600481"/>
            <a:ext cx="1800493" cy="369332"/>
          </a:xfrm>
          <a:prstGeom prst="rect">
            <a:avLst/>
          </a:prstGeom>
        </p:spPr>
        <p:txBody>
          <a:bodyPr wrap="none" lIns="91431" tIns="45715" rIns="91431" bIns="45715">
            <a:spAutoFit/>
          </a:bodyPr>
          <a:lstStyle/>
          <a:p>
            <a:r>
              <a:rPr lang="zh-CN" altLang="zh-CN" b="1" dirty="0" smtClean="0">
                <a:solidFill>
                  <a:prstClr val="black"/>
                </a:solidFill>
                <a:latin typeface="宋体" panose="02010600030101010101" pitchFamily="2" charset="-122"/>
              </a:rPr>
              <a:t>【</a:t>
            </a:r>
            <a:r>
              <a:rPr lang="zh-CN" altLang="en-US" b="1" dirty="0" smtClean="0"/>
              <a:t>问题描述</a:t>
            </a:r>
            <a:r>
              <a:rPr lang="zh-CN" altLang="zh-CN" b="1" dirty="0" smtClean="0">
                <a:solidFill>
                  <a:prstClr val="black"/>
                </a:solidFill>
                <a:latin typeface="宋体" panose="02010600030101010101" pitchFamily="2" charset="-122"/>
              </a:rPr>
              <a:t>】</a:t>
            </a:r>
            <a:r>
              <a:rPr lang="zh-CN" altLang="en-US" b="1" dirty="0" smtClean="0">
                <a:solidFill>
                  <a:prstClr val="black"/>
                </a:solidFill>
                <a:latin typeface="宋体" panose="02010600030101010101" pitchFamily="2" charset="-122"/>
              </a:rPr>
              <a:t>：</a:t>
            </a:r>
            <a:endParaRPr lang="zh-CN" altLang="en-US" dirty="0"/>
          </a:p>
        </p:txBody>
      </p:sp>
      <p:sp>
        <p:nvSpPr>
          <p:cNvPr id="4" name="TextBox 3"/>
          <p:cNvSpPr txBox="1"/>
          <p:nvPr/>
        </p:nvSpPr>
        <p:spPr>
          <a:xfrm>
            <a:off x="605498" y="891159"/>
            <a:ext cx="9050606" cy="276999"/>
          </a:xfrm>
          <a:prstGeom prst="rect">
            <a:avLst/>
          </a:prstGeom>
          <a:noFill/>
        </p:spPr>
        <p:txBody>
          <a:bodyPr wrap="square" lIns="91431" tIns="45715" rIns="91431" bIns="45715" rtlCol="0">
            <a:spAutoFit/>
          </a:bodyPr>
          <a:lstStyle/>
          <a:p>
            <a:r>
              <a:rPr lang="zh-CN" altLang="zh-CN" sz="1200" dirty="0"/>
              <a:t>济宁</a:t>
            </a:r>
            <a:r>
              <a:rPr lang="en-US" altLang="zh-CN" sz="1200" dirty="0"/>
              <a:t>MATE 7</a:t>
            </a:r>
            <a:r>
              <a:rPr lang="zh-CN" altLang="zh-CN" sz="1200" dirty="0"/>
              <a:t>手机用户在</a:t>
            </a:r>
            <a:r>
              <a:rPr lang="en-US" altLang="zh-CN" sz="1200" dirty="0"/>
              <a:t>25</a:t>
            </a:r>
            <a:r>
              <a:rPr lang="zh-CN" altLang="zh-CN" sz="1200" dirty="0"/>
              <a:t>日上午</a:t>
            </a:r>
            <a:r>
              <a:rPr lang="en-US" altLang="zh-CN" sz="1200" dirty="0"/>
              <a:t>8:30-9:30</a:t>
            </a:r>
            <a:r>
              <a:rPr lang="zh-CN" altLang="zh-CN" sz="1200" dirty="0"/>
              <a:t>出现无法注册到</a:t>
            </a:r>
            <a:r>
              <a:rPr lang="en-US" altLang="zh-CN" sz="1200" dirty="0"/>
              <a:t>IMS</a:t>
            </a:r>
            <a:r>
              <a:rPr lang="zh-CN" altLang="zh-CN" sz="1200" dirty="0"/>
              <a:t>网络的情况，手机显示已驻留在</a:t>
            </a:r>
            <a:r>
              <a:rPr lang="en-US" altLang="zh-CN" sz="1200" dirty="0"/>
              <a:t>4G</a:t>
            </a:r>
            <a:r>
              <a:rPr lang="zh-CN" altLang="zh-CN" sz="1200" dirty="0"/>
              <a:t>网络。</a:t>
            </a:r>
            <a:endParaRPr lang="zh-CN" altLang="en-US" sz="1200" dirty="0"/>
          </a:p>
        </p:txBody>
      </p:sp>
      <p:sp>
        <p:nvSpPr>
          <p:cNvPr id="5" name="矩形 4"/>
          <p:cNvSpPr/>
          <p:nvPr/>
        </p:nvSpPr>
        <p:spPr>
          <a:xfrm>
            <a:off x="201454" y="1173412"/>
            <a:ext cx="1800493" cy="369332"/>
          </a:xfrm>
          <a:prstGeom prst="rect">
            <a:avLst/>
          </a:prstGeom>
        </p:spPr>
        <p:txBody>
          <a:bodyPr wrap="none" lIns="91431" tIns="45715" rIns="91431" bIns="45715">
            <a:spAutoFit/>
          </a:bodyPr>
          <a:lstStyle/>
          <a:p>
            <a:r>
              <a:rPr lang="zh-CN" altLang="zh-CN" b="1" dirty="0" smtClean="0">
                <a:solidFill>
                  <a:prstClr val="black"/>
                </a:solidFill>
                <a:latin typeface="宋体" panose="02010600030101010101" pitchFamily="2" charset="-122"/>
              </a:rPr>
              <a:t>【</a:t>
            </a:r>
            <a:r>
              <a:rPr lang="zh-CN" altLang="en-US" b="1" dirty="0" smtClean="0"/>
              <a:t>原因分析</a:t>
            </a:r>
            <a:r>
              <a:rPr lang="zh-CN" altLang="zh-CN" b="1" dirty="0" smtClean="0">
                <a:solidFill>
                  <a:prstClr val="black"/>
                </a:solidFill>
                <a:latin typeface="宋体" panose="02010600030101010101" pitchFamily="2" charset="-122"/>
              </a:rPr>
              <a:t>】</a:t>
            </a:r>
            <a:r>
              <a:rPr lang="zh-CN" altLang="en-US" b="1" dirty="0">
                <a:solidFill>
                  <a:prstClr val="black"/>
                </a:solidFill>
                <a:latin typeface="宋体" panose="02010600030101010101" pitchFamily="2" charset="-122"/>
              </a:rPr>
              <a:t>：</a:t>
            </a:r>
            <a:endParaRPr lang="zh-CN" altLang="en-US" dirty="0"/>
          </a:p>
        </p:txBody>
      </p:sp>
      <p:sp>
        <p:nvSpPr>
          <p:cNvPr id="6" name="矩形 5"/>
          <p:cNvSpPr/>
          <p:nvPr/>
        </p:nvSpPr>
        <p:spPr>
          <a:xfrm>
            <a:off x="318448" y="2464465"/>
            <a:ext cx="2723823" cy="369332"/>
          </a:xfrm>
          <a:prstGeom prst="rect">
            <a:avLst/>
          </a:prstGeom>
        </p:spPr>
        <p:txBody>
          <a:bodyPr wrap="none" lIns="91431" tIns="45715" rIns="91431" bIns="45715">
            <a:spAutoFit/>
          </a:bodyPr>
          <a:lstStyle/>
          <a:p>
            <a:r>
              <a:rPr lang="zh-CN" altLang="zh-CN" b="1" dirty="0" smtClean="0">
                <a:solidFill>
                  <a:prstClr val="black"/>
                </a:solidFill>
                <a:latin typeface="宋体" panose="02010600030101010101" pitchFamily="2" charset="-122"/>
              </a:rPr>
              <a:t>【</a:t>
            </a:r>
            <a:r>
              <a:rPr lang="zh-CN" altLang="zh-CN" b="1" dirty="0"/>
              <a:t>后续问题跟踪建议</a:t>
            </a:r>
            <a:r>
              <a:rPr lang="zh-CN" altLang="zh-CN" b="1" dirty="0" smtClean="0">
                <a:solidFill>
                  <a:prstClr val="black"/>
                </a:solidFill>
                <a:latin typeface="宋体" panose="02010600030101010101" pitchFamily="2" charset="-122"/>
              </a:rPr>
              <a:t>】</a:t>
            </a:r>
            <a:r>
              <a:rPr lang="zh-CN" altLang="en-US" b="1" dirty="0">
                <a:solidFill>
                  <a:prstClr val="black"/>
                </a:solidFill>
                <a:latin typeface="宋体" panose="02010600030101010101" pitchFamily="2" charset="-122"/>
              </a:rPr>
              <a:t>：</a:t>
            </a:r>
            <a:endParaRPr lang="zh-CN" altLang="en-US" dirty="0"/>
          </a:p>
        </p:txBody>
      </p:sp>
      <p:sp>
        <p:nvSpPr>
          <p:cNvPr id="7" name="TextBox 6"/>
          <p:cNvSpPr txBox="1"/>
          <p:nvPr/>
        </p:nvSpPr>
        <p:spPr>
          <a:xfrm>
            <a:off x="605497" y="1621966"/>
            <a:ext cx="9293032" cy="646321"/>
          </a:xfrm>
          <a:prstGeom prst="rect">
            <a:avLst/>
          </a:prstGeom>
          <a:noFill/>
        </p:spPr>
        <p:txBody>
          <a:bodyPr wrap="square" lIns="91431" tIns="45715" rIns="91431" bIns="45715" rtlCol="0">
            <a:spAutoFit/>
          </a:bodyPr>
          <a:lstStyle/>
          <a:p>
            <a:pPr>
              <a:lnSpc>
                <a:spcPct val="150000"/>
              </a:lnSpc>
            </a:pPr>
            <a:r>
              <a:rPr lang="zh-CN" altLang="zh-CN" sz="1200" dirty="0"/>
              <a:t>经与华为专家沟通，在</a:t>
            </a:r>
            <a:r>
              <a:rPr lang="en-US" altLang="zh-CN" sz="1200" dirty="0"/>
              <a:t>7:30 IMS</a:t>
            </a:r>
            <a:r>
              <a:rPr lang="zh-CN" altLang="zh-CN" sz="1200" dirty="0"/>
              <a:t>网络收到了该终端的注册指令，按照</a:t>
            </a:r>
            <a:r>
              <a:rPr lang="en-US" altLang="zh-CN" sz="1200" dirty="0" err="1"/>
              <a:t>VoLTE</a:t>
            </a:r>
            <a:r>
              <a:rPr lang="zh-CN" altLang="zh-CN" sz="1200" dirty="0"/>
              <a:t>系统机制，终端在</a:t>
            </a:r>
            <a:r>
              <a:rPr lang="en-US" altLang="zh-CN" sz="1200" dirty="0"/>
              <a:t>3600s</a:t>
            </a:r>
            <a:r>
              <a:rPr lang="zh-CN" altLang="zh-CN" sz="1200" dirty="0"/>
              <a:t>后应该再次发送注册指令。但</a:t>
            </a:r>
            <a:r>
              <a:rPr lang="en-US" altLang="zh-CN" sz="1200" dirty="0"/>
              <a:t>8:30 IMS</a:t>
            </a:r>
            <a:r>
              <a:rPr lang="zh-CN" altLang="zh-CN" sz="1200" dirty="0"/>
              <a:t>网络没有收到终端发送的注册指令，</a:t>
            </a:r>
            <a:r>
              <a:rPr lang="en-US" altLang="zh-CN" sz="1200" dirty="0"/>
              <a:t>IMS</a:t>
            </a:r>
            <a:r>
              <a:rPr lang="zh-CN" altLang="zh-CN" sz="1200" dirty="0"/>
              <a:t>也没有向终端发送寻呼消息，导致终端无法驻留。</a:t>
            </a:r>
            <a:endParaRPr lang="zh-CN" altLang="en-US" sz="1200" dirty="0"/>
          </a:p>
        </p:txBody>
      </p:sp>
      <p:sp>
        <p:nvSpPr>
          <p:cNvPr id="8" name="TextBox 7"/>
          <p:cNvSpPr txBox="1"/>
          <p:nvPr/>
        </p:nvSpPr>
        <p:spPr>
          <a:xfrm>
            <a:off x="443879" y="2868770"/>
            <a:ext cx="7757662" cy="830997"/>
          </a:xfrm>
          <a:prstGeom prst="rect">
            <a:avLst/>
          </a:prstGeom>
          <a:noFill/>
        </p:spPr>
        <p:txBody>
          <a:bodyPr wrap="square" lIns="91431" tIns="45715" rIns="91431" bIns="45715" rtlCol="0">
            <a:spAutoFit/>
          </a:bodyPr>
          <a:lstStyle/>
          <a:p>
            <a:pPr>
              <a:lnSpc>
                <a:spcPct val="150000"/>
              </a:lnSpc>
            </a:pPr>
            <a:r>
              <a:rPr lang="zh-CN" altLang="zh-CN" sz="1200" dirty="0" smtClean="0"/>
              <a:t>需要</a:t>
            </a:r>
            <a:r>
              <a:rPr lang="zh-CN" altLang="zh-CN" sz="1200" dirty="0"/>
              <a:t>定位</a:t>
            </a:r>
            <a:r>
              <a:rPr lang="en-US" altLang="zh-CN" sz="1200" dirty="0"/>
              <a:t>IMS</a:t>
            </a:r>
            <a:r>
              <a:rPr lang="zh-CN" altLang="zh-CN" sz="1200" dirty="0"/>
              <a:t>网络无法收到终端注册指令的原因：是终端没发送还是终端发送但</a:t>
            </a:r>
            <a:r>
              <a:rPr lang="en-US" altLang="zh-CN" sz="1200" dirty="0"/>
              <a:t>IMS</a:t>
            </a:r>
            <a:r>
              <a:rPr lang="zh-CN" altLang="zh-CN" sz="1200" dirty="0"/>
              <a:t>网络没收到。</a:t>
            </a:r>
            <a:r>
              <a:rPr lang="en-US" altLang="zh-CN" sz="1200" dirty="0"/>
              <a:t>IMS</a:t>
            </a:r>
            <a:r>
              <a:rPr lang="zh-CN" altLang="zh-CN" sz="1200" dirty="0"/>
              <a:t>网络</a:t>
            </a:r>
            <a:r>
              <a:rPr lang="en-US" altLang="zh-CN" sz="1200" dirty="0"/>
              <a:t>8:30</a:t>
            </a:r>
            <a:r>
              <a:rPr lang="zh-CN" altLang="zh-CN" sz="1200" dirty="0"/>
              <a:t>在没有收到终端周期性注册指令的情况下为什么没向终端发送寻呼消息。</a:t>
            </a:r>
          </a:p>
          <a:p>
            <a:endParaRPr lang="zh-CN" altLang="en-US" sz="1200" dirty="0"/>
          </a:p>
        </p:txBody>
      </p:sp>
      <p:sp>
        <p:nvSpPr>
          <p:cNvPr id="9" name="矩形 8"/>
          <p:cNvSpPr/>
          <p:nvPr/>
        </p:nvSpPr>
        <p:spPr>
          <a:xfrm>
            <a:off x="302854" y="3492171"/>
            <a:ext cx="1800493" cy="369332"/>
          </a:xfrm>
          <a:prstGeom prst="rect">
            <a:avLst/>
          </a:prstGeom>
        </p:spPr>
        <p:txBody>
          <a:bodyPr wrap="none" lIns="91431" tIns="45715" rIns="91431" bIns="45715">
            <a:spAutoFit/>
          </a:bodyPr>
          <a:lstStyle/>
          <a:p>
            <a:r>
              <a:rPr lang="zh-CN" altLang="zh-CN" b="1" dirty="0" smtClean="0">
                <a:solidFill>
                  <a:prstClr val="black"/>
                </a:solidFill>
                <a:latin typeface="宋体" panose="02010600030101010101" pitchFamily="2" charset="-122"/>
              </a:rPr>
              <a:t>【</a:t>
            </a:r>
            <a:r>
              <a:rPr lang="zh-CN" altLang="en-US" b="1" dirty="0" smtClean="0"/>
              <a:t>问题难点</a:t>
            </a:r>
            <a:r>
              <a:rPr lang="zh-CN" altLang="zh-CN" b="1" dirty="0" smtClean="0">
                <a:solidFill>
                  <a:prstClr val="black"/>
                </a:solidFill>
                <a:latin typeface="宋体" panose="02010600030101010101" pitchFamily="2" charset="-122"/>
              </a:rPr>
              <a:t>】</a:t>
            </a:r>
            <a:r>
              <a:rPr lang="zh-CN" altLang="en-US" b="1" dirty="0">
                <a:solidFill>
                  <a:prstClr val="black"/>
                </a:solidFill>
                <a:latin typeface="宋体" panose="02010600030101010101" pitchFamily="2" charset="-122"/>
              </a:rPr>
              <a:t>：</a:t>
            </a:r>
            <a:endParaRPr lang="zh-CN" altLang="en-US" dirty="0"/>
          </a:p>
        </p:txBody>
      </p:sp>
      <p:sp>
        <p:nvSpPr>
          <p:cNvPr id="10" name="TextBox 9"/>
          <p:cNvSpPr txBox="1"/>
          <p:nvPr/>
        </p:nvSpPr>
        <p:spPr>
          <a:xfrm>
            <a:off x="605498" y="4002231"/>
            <a:ext cx="9050606" cy="830997"/>
          </a:xfrm>
          <a:prstGeom prst="rect">
            <a:avLst/>
          </a:prstGeom>
          <a:noFill/>
        </p:spPr>
        <p:txBody>
          <a:bodyPr wrap="square" lIns="91431" tIns="45715" rIns="91431" bIns="45715" rtlCol="0">
            <a:spAutoFit/>
          </a:bodyPr>
          <a:lstStyle/>
          <a:p>
            <a:pPr>
              <a:lnSpc>
                <a:spcPct val="150000"/>
              </a:lnSpc>
            </a:pPr>
            <a:r>
              <a:rPr lang="zh-CN" altLang="zh-CN" sz="1200" dirty="0"/>
              <a:t>该问题需无线与核心网同时跟踪定位，问题周期较长，复现难度较大。同时，需要关注其他机型是否出现该问题，判断是否为终端问题导致。</a:t>
            </a:r>
          </a:p>
          <a:p>
            <a:endParaRPr lang="zh-CN" altLang="en-US" sz="1200" dirty="0"/>
          </a:p>
        </p:txBody>
      </p:sp>
      <p:sp>
        <p:nvSpPr>
          <p:cNvPr id="11" name="TextBox 10"/>
          <p:cNvSpPr txBox="1"/>
          <p:nvPr/>
        </p:nvSpPr>
        <p:spPr>
          <a:xfrm>
            <a:off x="162248" y="76846"/>
            <a:ext cx="8280920"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22</a:t>
            </a:r>
            <a:r>
              <a:rPr lang="zh-CN" altLang="en-US" sz="2400" b="1" dirty="0" smtClean="0">
                <a:solidFill>
                  <a:schemeClr val="bg1"/>
                </a:solidFill>
                <a:latin typeface="+mn-ea"/>
              </a:rPr>
              <a:t>：无线</a:t>
            </a:r>
            <a:r>
              <a:rPr lang="en-US" altLang="zh-CN" sz="2400" b="1" dirty="0" smtClean="0">
                <a:solidFill>
                  <a:schemeClr val="bg1"/>
                </a:solidFill>
                <a:latin typeface="+mn-ea"/>
              </a:rPr>
              <a:t>-</a:t>
            </a:r>
            <a:r>
              <a:rPr lang="zh-CN" altLang="en-US" sz="2400" b="1" dirty="0" smtClean="0">
                <a:solidFill>
                  <a:schemeClr val="bg1"/>
                </a:solidFill>
                <a:latin typeface="+mn-ea"/>
              </a:rPr>
              <a:t>济宁 华为</a:t>
            </a:r>
            <a:r>
              <a:rPr lang="en-US" altLang="zh-CN" sz="2400" b="1" dirty="0" smtClean="0">
                <a:solidFill>
                  <a:schemeClr val="bg1"/>
                </a:solidFill>
                <a:latin typeface="+mn-ea"/>
              </a:rPr>
              <a:t>MATE7 IMS</a:t>
            </a:r>
            <a:r>
              <a:rPr lang="zh-CN" altLang="en-US" sz="2400" b="1" dirty="0" smtClean="0">
                <a:solidFill>
                  <a:schemeClr val="bg1"/>
                </a:solidFill>
                <a:latin typeface="+mn-ea"/>
              </a:rPr>
              <a:t>网络注册问题</a:t>
            </a:r>
          </a:p>
        </p:txBody>
      </p:sp>
    </p:spTree>
    <p:extLst>
      <p:ext uri="{BB962C8B-B14F-4D97-AF65-F5344CB8AC3E}">
        <p14:creationId xmlns:p14="http://schemas.microsoft.com/office/powerpoint/2010/main" xmlns="" val="769969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0338" y="91794"/>
            <a:ext cx="9010911" cy="294660"/>
          </a:xfrm>
          <a:prstGeom prst="rect">
            <a:avLst/>
          </a:prstGeom>
        </p:spPr>
        <p:txBody>
          <a:bodyPr lIns="91431" tIns="45715" rIns="91431"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zh-CN" altLang="zh-CN" sz="2800" b="1" dirty="0">
              <a:solidFill>
                <a:schemeClr val="bg1"/>
              </a:solidFill>
              <a:latin typeface="微软雅黑" pitchFamily="34" charset="-122"/>
              <a:ea typeface="微软雅黑" pitchFamily="34" charset="-122"/>
            </a:endParaRPr>
          </a:p>
        </p:txBody>
      </p:sp>
      <p:sp>
        <p:nvSpPr>
          <p:cNvPr id="9" name="矩形 8"/>
          <p:cNvSpPr/>
          <p:nvPr/>
        </p:nvSpPr>
        <p:spPr>
          <a:xfrm>
            <a:off x="160304" y="562225"/>
            <a:ext cx="9860825" cy="4722846"/>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fontAlgn="base">
              <a:spcBef>
                <a:spcPct val="0"/>
              </a:spcBef>
              <a:spcAft>
                <a:spcPct val="0"/>
              </a:spcAft>
            </a:pPr>
            <a:endParaRPr lang="zh-CN" altLang="en-US">
              <a:solidFill>
                <a:prstClr val="white"/>
              </a:solidFill>
              <a:latin typeface="微软雅黑" pitchFamily="34" charset="-122"/>
              <a:ea typeface="微软雅黑" pitchFamily="34" charset="-122"/>
            </a:endParaRPr>
          </a:p>
        </p:txBody>
      </p:sp>
      <p:sp>
        <p:nvSpPr>
          <p:cNvPr id="12" name="文本框 11"/>
          <p:cNvSpPr txBox="1"/>
          <p:nvPr/>
        </p:nvSpPr>
        <p:spPr>
          <a:xfrm>
            <a:off x="282263" y="2185984"/>
            <a:ext cx="4349064" cy="584775"/>
          </a:xfrm>
          <a:prstGeom prst="rect">
            <a:avLst/>
          </a:prstGeom>
          <a:noFill/>
        </p:spPr>
        <p:txBody>
          <a:bodyPr wrap="square" lIns="91431" tIns="45715" rIns="91431" bIns="45715">
            <a:spAutoFit/>
          </a:bodyPr>
          <a:lstStyle>
            <a:defPPr>
              <a:defRPr lang="zh-CN"/>
            </a:defPPr>
            <a:lvl1pPr>
              <a:defRPr sz="1400" kern="0">
                <a:latin typeface="微软雅黑" panose="020B0503020204020204" pitchFamily="34" charset="-122"/>
                <a:ea typeface="微软雅黑" panose="020B0503020204020204" pitchFamily="34" charset="-122"/>
                <a:cs typeface="宋体" panose="02010600030101010101" pitchFamily="2" charset="-122"/>
              </a:defRPr>
            </a:lvl1pPr>
          </a:lstStyle>
          <a:p>
            <a:pPr fontAlgn="base">
              <a:spcBef>
                <a:spcPct val="0"/>
              </a:spcBef>
              <a:spcAft>
                <a:spcPct val="0"/>
              </a:spcAft>
            </a:pPr>
            <a:r>
              <a:rPr lang="zh-CN" altLang="en-US" sz="1600" dirty="0" smtClean="0"/>
              <a:t>      用户反映的地址位于竹岛街道华能电厂小区，其他区域暂无报障。</a:t>
            </a:r>
            <a:endParaRPr lang="zh-CN" altLang="en-US" sz="1600" dirty="0">
              <a:solidFill>
                <a:prstClr val="black"/>
              </a:solidFill>
            </a:endParaRPr>
          </a:p>
        </p:txBody>
      </p:sp>
      <p:grpSp>
        <p:nvGrpSpPr>
          <p:cNvPr id="4" name="组合 26"/>
          <p:cNvGrpSpPr/>
          <p:nvPr/>
        </p:nvGrpSpPr>
        <p:grpSpPr>
          <a:xfrm>
            <a:off x="497500" y="601850"/>
            <a:ext cx="1768027" cy="338554"/>
            <a:chOff x="467544" y="1437373"/>
            <a:chExt cx="1575470" cy="430162"/>
          </a:xfrm>
        </p:grpSpPr>
        <p:sp>
          <p:nvSpPr>
            <p:cNvPr id="22" name="文本框 21"/>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pitchFamily="34" charset="-122"/>
                  <a:ea typeface="微软雅黑" pitchFamily="34" charset="-122"/>
                </a:rPr>
                <a:t>问题现象</a:t>
              </a:r>
            </a:p>
          </p:txBody>
        </p:sp>
        <p:cxnSp>
          <p:nvCxnSpPr>
            <p:cNvPr id="20" name="直接连接符 19"/>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18" name="矩形标注 17"/>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pitchFamily="34" charset="-122"/>
                  <a:ea typeface="微软雅黑" pitchFamily="34" charset="-122"/>
                </a:rPr>
                <a:t>1</a:t>
              </a:r>
              <a:endParaRPr lang="zh-CN" altLang="en-US" sz="1600" dirty="0">
                <a:solidFill>
                  <a:prstClr val="white"/>
                </a:solidFill>
                <a:latin typeface="微软雅黑" pitchFamily="34" charset="-122"/>
                <a:ea typeface="微软雅黑" pitchFamily="34" charset="-122"/>
              </a:endParaRPr>
            </a:p>
          </p:txBody>
        </p:sp>
      </p:grpSp>
      <p:grpSp>
        <p:nvGrpSpPr>
          <p:cNvPr id="5" name="组合 27"/>
          <p:cNvGrpSpPr/>
          <p:nvPr/>
        </p:nvGrpSpPr>
        <p:grpSpPr>
          <a:xfrm>
            <a:off x="524690" y="1848654"/>
            <a:ext cx="1858606" cy="338554"/>
            <a:chOff x="467544" y="1437373"/>
            <a:chExt cx="1575470" cy="421380"/>
          </a:xfrm>
        </p:grpSpPr>
        <p:sp>
          <p:nvSpPr>
            <p:cNvPr id="29" name="文本框 28"/>
            <p:cNvSpPr txBox="1"/>
            <p:nvPr/>
          </p:nvSpPr>
          <p:spPr>
            <a:xfrm>
              <a:off x="839492" y="1437373"/>
              <a:ext cx="852242" cy="421380"/>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pitchFamily="34" charset="-122"/>
                  <a:ea typeface="微软雅黑" pitchFamily="34" charset="-122"/>
                </a:rPr>
                <a:t>影响范围</a:t>
              </a:r>
            </a:p>
          </p:txBody>
        </p:sp>
        <p:cxnSp>
          <p:nvCxnSpPr>
            <p:cNvPr id="30" name="直接连接符 29"/>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1" name="矩形标注 30"/>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pitchFamily="34" charset="-122"/>
                  <a:ea typeface="微软雅黑" pitchFamily="34" charset="-122"/>
                </a:rPr>
                <a:t>2</a:t>
              </a:r>
              <a:endParaRPr lang="zh-CN" altLang="en-US" sz="1600" dirty="0">
                <a:solidFill>
                  <a:prstClr val="white"/>
                </a:solidFill>
                <a:latin typeface="微软雅黑" pitchFamily="34" charset="-122"/>
                <a:ea typeface="微软雅黑" pitchFamily="34" charset="-122"/>
              </a:endParaRPr>
            </a:p>
          </p:txBody>
        </p:sp>
      </p:grpSp>
      <p:grpSp>
        <p:nvGrpSpPr>
          <p:cNvPr id="6" name="组合 31"/>
          <p:cNvGrpSpPr/>
          <p:nvPr/>
        </p:nvGrpSpPr>
        <p:grpSpPr>
          <a:xfrm>
            <a:off x="524688" y="2755423"/>
            <a:ext cx="1768027" cy="338554"/>
            <a:chOff x="467544" y="1437373"/>
            <a:chExt cx="1575470" cy="430162"/>
          </a:xfrm>
        </p:grpSpPr>
        <p:sp>
          <p:nvSpPr>
            <p:cNvPr id="33" name="文本框 3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pitchFamily="34" charset="-122"/>
                  <a:ea typeface="微软雅黑" pitchFamily="34" charset="-122"/>
                </a:rPr>
                <a:t>根本原因</a:t>
              </a:r>
            </a:p>
          </p:txBody>
        </p:sp>
        <p:cxnSp>
          <p:nvCxnSpPr>
            <p:cNvPr id="34" name="直接连接符 33"/>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5" name="矩形标注 34"/>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pitchFamily="34" charset="-122"/>
                  <a:ea typeface="微软雅黑" pitchFamily="34" charset="-122"/>
                </a:rPr>
                <a:t>3</a:t>
              </a:r>
              <a:endParaRPr lang="zh-CN" altLang="en-US" sz="1600" dirty="0">
                <a:solidFill>
                  <a:prstClr val="white"/>
                </a:solidFill>
                <a:latin typeface="微软雅黑" pitchFamily="34" charset="-122"/>
                <a:ea typeface="微软雅黑" pitchFamily="34" charset="-122"/>
              </a:endParaRPr>
            </a:p>
          </p:txBody>
        </p:sp>
      </p:grpSp>
      <p:sp>
        <p:nvSpPr>
          <p:cNvPr id="41" name="矩形 40"/>
          <p:cNvSpPr/>
          <p:nvPr/>
        </p:nvSpPr>
        <p:spPr>
          <a:xfrm>
            <a:off x="4161092" y="1539141"/>
            <a:ext cx="5194998" cy="415488"/>
          </a:xfrm>
          <a:prstGeom prst="rect">
            <a:avLst/>
          </a:prstGeom>
          <a:noFill/>
        </p:spPr>
        <p:txBody>
          <a:bodyPr wrap="square" lIns="91431" tIns="45715" rIns="91431" bIns="45715">
            <a:spAutoFit/>
          </a:bodyPr>
          <a:lstStyle/>
          <a:p>
            <a:pPr marL="342866">
              <a:lnSpc>
                <a:spcPct val="150000"/>
              </a:lnSpc>
            </a:pPr>
            <a:endParaRPr lang="zh-CN" altLang="zh-CN" sz="1400" dirty="0" smtClean="0">
              <a:latin typeface="微软雅黑" pitchFamily="34" charset="-122"/>
              <a:ea typeface="微软雅黑" pitchFamily="34" charset="-122"/>
            </a:endParaRPr>
          </a:p>
        </p:txBody>
      </p:sp>
      <p:sp>
        <p:nvSpPr>
          <p:cNvPr id="32" name="矩形 31"/>
          <p:cNvSpPr/>
          <p:nvPr/>
        </p:nvSpPr>
        <p:spPr>
          <a:xfrm>
            <a:off x="556870" y="1160325"/>
            <a:ext cx="4539736" cy="415488"/>
          </a:xfrm>
          <a:prstGeom prst="rect">
            <a:avLst/>
          </a:prstGeom>
          <a:noFill/>
        </p:spPr>
        <p:txBody>
          <a:bodyPr wrap="square" lIns="91431" tIns="45715" rIns="91431" bIns="45715">
            <a:spAutoFit/>
          </a:bodyPr>
          <a:lstStyle/>
          <a:p>
            <a:pPr>
              <a:lnSpc>
                <a:spcPct val="150000"/>
              </a:lnSpc>
            </a:pPr>
            <a:endParaRPr lang="zh-CN" altLang="zh-CN" sz="1400" b="1" dirty="0">
              <a:latin typeface="微软雅黑" pitchFamily="34" charset="-122"/>
              <a:ea typeface="微软雅黑" pitchFamily="34" charset="-122"/>
            </a:endParaRPr>
          </a:p>
        </p:txBody>
      </p:sp>
      <p:sp>
        <p:nvSpPr>
          <p:cNvPr id="36" name="矩形 35"/>
          <p:cNvSpPr/>
          <p:nvPr/>
        </p:nvSpPr>
        <p:spPr>
          <a:xfrm>
            <a:off x="269880" y="931650"/>
            <a:ext cx="5041382" cy="830997"/>
          </a:xfrm>
          <a:prstGeom prst="rect">
            <a:avLst/>
          </a:prstGeom>
        </p:spPr>
        <p:txBody>
          <a:bodyPr wrap="square" lIns="91431" tIns="45715" rIns="91431" bIns="45715">
            <a:spAutoFit/>
          </a:bodyPr>
          <a:lstStyle/>
          <a:p>
            <a:r>
              <a:rPr lang="zh-CN" altLang="en-US" sz="1600" dirty="0" smtClean="0">
                <a:latin typeface="微软雅黑" pitchFamily="34" charset="-122"/>
                <a:ea typeface="微软雅黑" pitchFamily="34" charset="-122"/>
              </a:rPr>
              <a:t>       </a:t>
            </a:r>
            <a:r>
              <a:rPr lang="en-US" altLang="zh-CN" sz="1600" dirty="0" smtClean="0">
                <a:latin typeface="微软雅黑" pitchFamily="34" charset="-122"/>
                <a:ea typeface="微软雅黑" pitchFamily="34" charset="-122"/>
              </a:rPr>
              <a:t>12.18</a:t>
            </a:r>
            <a:r>
              <a:rPr lang="zh-CN" altLang="en-US" sz="1600" dirty="0" smtClean="0">
                <a:latin typeface="微软雅黑" pitchFamily="34" charset="-122"/>
                <a:ea typeface="微软雅黑" pitchFamily="34" charset="-122"/>
              </a:rPr>
              <a:t>日客户</a:t>
            </a:r>
            <a:r>
              <a:rPr lang="en-US" altLang="zh-CN" sz="1600" dirty="0" smtClean="0">
                <a:latin typeface="微软雅黑" pitchFamily="34" charset="-122"/>
                <a:ea typeface="微软雅黑" pitchFamily="34" charset="-122"/>
              </a:rPr>
              <a:t>13676317377</a:t>
            </a:r>
            <a:r>
              <a:rPr lang="zh-CN" altLang="en-US" sz="1600" dirty="0" smtClean="0">
                <a:latin typeface="微软雅黑" pitchFamily="34" charset="-122"/>
                <a:ea typeface="微软雅黑" pitchFamily="34" charset="-122"/>
              </a:rPr>
              <a:t>通过</a:t>
            </a:r>
            <a:r>
              <a:rPr lang="en-US" altLang="zh-CN" sz="1600" dirty="0" smtClean="0">
                <a:latin typeface="微软雅黑" pitchFamily="34" charset="-122"/>
                <a:ea typeface="微软雅黑" pitchFamily="34" charset="-122"/>
              </a:rPr>
              <a:t>10086</a:t>
            </a:r>
            <a:r>
              <a:rPr lang="zh-CN" altLang="en-US" sz="1600" dirty="0" smtClean="0">
                <a:latin typeface="微软雅黑" pitchFamily="34" charset="-122"/>
                <a:ea typeface="微软雅黑" pitchFamily="34" charset="-122"/>
              </a:rPr>
              <a:t>反映在威海环翠区竹岛街道华能电厂小区使用家庭宽带和</a:t>
            </a:r>
            <a:r>
              <a:rPr lang="en-US" altLang="zh-CN" sz="1600" dirty="0" smtClean="0">
                <a:latin typeface="微软雅黑" pitchFamily="34" charset="-122"/>
                <a:ea typeface="微软雅黑" pitchFamily="34" charset="-122"/>
              </a:rPr>
              <a:t>TV</a:t>
            </a:r>
            <a:r>
              <a:rPr lang="zh-CN" altLang="en-US" sz="1600" dirty="0" smtClean="0">
                <a:latin typeface="微软雅黑" pitchFamily="34" charset="-122"/>
                <a:ea typeface="微软雅黑" pitchFamily="34" charset="-122"/>
              </a:rPr>
              <a:t>无法观看电视点播的情况。</a:t>
            </a:r>
            <a:endParaRPr lang="en-US" altLang="zh-CN" sz="1600" dirty="0" smtClean="0">
              <a:latin typeface="微软雅黑" pitchFamily="34" charset="-122"/>
              <a:ea typeface="微软雅黑" pitchFamily="34" charset="-122"/>
            </a:endParaRPr>
          </a:p>
        </p:txBody>
      </p:sp>
      <p:sp>
        <p:nvSpPr>
          <p:cNvPr id="46" name="矩形 45"/>
          <p:cNvSpPr/>
          <p:nvPr/>
        </p:nvSpPr>
        <p:spPr>
          <a:xfrm>
            <a:off x="201453" y="3130798"/>
            <a:ext cx="5041382" cy="1815882"/>
          </a:xfrm>
          <a:prstGeom prst="rect">
            <a:avLst/>
          </a:prstGeom>
        </p:spPr>
        <p:txBody>
          <a:bodyPr wrap="square" lIns="91431" tIns="45715" rIns="91431" bIns="45715">
            <a:spAutoFit/>
          </a:bodyPr>
          <a:lstStyle/>
          <a:p>
            <a:r>
              <a:rPr lang="en-US" altLang="zh-CN" sz="1600" dirty="0" smtClean="0">
                <a:latin typeface="微软雅黑" pitchFamily="34" charset="-122"/>
                <a:ea typeface="微软雅黑" pitchFamily="34" charset="-122"/>
              </a:rPr>
              <a:t>       </a:t>
            </a:r>
            <a:r>
              <a:rPr lang="zh-CN" altLang="zh-CN" sz="1600" dirty="0" smtClean="0">
                <a:latin typeface="微软雅黑" pitchFamily="34" charset="-122"/>
                <a:ea typeface="微软雅黑" pitchFamily="34" charset="-122"/>
              </a:rPr>
              <a:t>接到用户反映故障电话后装维人员上门进行测试，测试中发现用户反映情况属实，和</a:t>
            </a:r>
            <a:r>
              <a:rPr lang="en-US" altLang="zh-CN" sz="1600" dirty="0" smtClean="0">
                <a:latin typeface="微软雅黑" pitchFamily="34" charset="-122"/>
                <a:ea typeface="微软雅黑" pitchFamily="34" charset="-122"/>
              </a:rPr>
              <a:t>TV</a:t>
            </a:r>
            <a:r>
              <a:rPr lang="zh-CN" altLang="zh-CN" sz="1600" dirty="0" smtClean="0">
                <a:latin typeface="微软雅黑" pitchFamily="34" charset="-122"/>
                <a:ea typeface="微软雅黑" pitchFamily="34" charset="-122"/>
              </a:rPr>
              <a:t>无法正常观看点播，测速用户的下载速率可以达到</a:t>
            </a:r>
            <a:r>
              <a:rPr lang="en-US" altLang="zh-CN" sz="1600" dirty="0" smtClean="0">
                <a:latin typeface="微软雅黑" pitchFamily="34" charset="-122"/>
                <a:ea typeface="微软雅黑" pitchFamily="34" charset="-122"/>
              </a:rPr>
              <a:t>9Mbps </a:t>
            </a:r>
            <a:r>
              <a:rPr lang="zh-CN" altLang="zh-CN" sz="1600" dirty="0" smtClean="0">
                <a:latin typeface="微软雅黑" pitchFamily="34" charset="-122"/>
                <a:ea typeface="微软雅黑" pitchFamily="34" charset="-122"/>
              </a:rPr>
              <a:t>。用户打开网页、视频正常。</a:t>
            </a:r>
          </a:p>
          <a:p>
            <a:r>
              <a:rPr lang="en-US" altLang="zh-CN" sz="1600" dirty="0" smtClean="0">
                <a:latin typeface="微软雅黑" pitchFamily="34" charset="-122"/>
                <a:ea typeface="微软雅黑" pitchFamily="34" charset="-122"/>
              </a:rPr>
              <a:t>       </a:t>
            </a:r>
            <a:r>
              <a:rPr lang="zh-CN" altLang="zh-CN" sz="1600" dirty="0" smtClean="0">
                <a:latin typeface="微软雅黑" pitchFamily="34" charset="-122"/>
                <a:ea typeface="微软雅黑" pitchFamily="34" charset="-122"/>
              </a:rPr>
              <a:t>网管</a:t>
            </a:r>
            <a:r>
              <a:rPr lang="zh-CN" altLang="en-US" sz="1600" dirty="0" smtClean="0">
                <a:latin typeface="微软雅黑" pitchFamily="34" charset="-122"/>
                <a:ea typeface="微软雅黑" pitchFamily="34" charset="-122"/>
              </a:rPr>
              <a:t>查看</a:t>
            </a:r>
            <a:r>
              <a:rPr lang="en-US" altLang="zh-CN" sz="1600" dirty="0" smtClean="0">
                <a:latin typeface="微软雅黑" pitchFamily="34" charset="-122"/>
                <a:ea typeface="微软雅黑" pitchFamily="34" charset="-122"/>
              </a:rPr>
              <a:t>ONU</a:t>
            </a:r>
            <a:r>
              <a:rPr lang="zh-CN" altLang="en-US" sz="1600" dirty="0" smtClean="0">
                <a:latin typeface="微软雅黑" pitchFamily="34" charset="-122"/>
                <a:ea typeface="微软雅黑" pitchFamily="34" charset="-122"/>
              </a:rPr>
              <a:t>状态</a:t>
            </a:r>
            <a:r>
              <a:rPr lang="zh-CN" altLang="zh-CN" sz="1600" dirty="0" smtClean="0">
                <a:latin typeface="微软雅黑" pitchFamily="34" charset="-122"/>
                <a:ea typeface="微软雅黑" pitchFamily="34" charset="-122"/>
              </a:rPr>
              <a:t>正常。使用</a:t>
            </a:r>
            <a:r>
              <a:rPr lang="en-US" altLang="zh-CN" sz="1600" dirty="0" smtClean="0">
                <a:latin typeface="微软雅黑" pitchFamily="34" charset="-122"/>
                <a:ea typeface="微软雅黑" pitchFamily="34" charset="-122"/>
              </a:rPr>
              <a:t>ONU</a:t>
            </a:r>
            <a:r>
              <a:rPr lang="zh-CN" altLang="zh-CN" sz="1600" dirty="0" smtClean="0">
                <a:latin typeface="微软雅黑" pitchFamily="34" charset="-122"/>
                <a:ea typeface="微软雅黑" pitchFamily="34" charset="-122"/>
              </a:rPr>
              <a:t>其他端口进行测试发现网速正常同设备下其他用户可以正常观看和</a:t>
            </a:r>
            <a:r>
              <a:rPr lang="en-US" altLang="zh-CN" sz="1600" dirty="0" smtClean="0">
                <a:latin typeface="微软雅黑" pitchFamily="34" charset="-122"/>
                <a:ea typeface="微软雅黑" pitchFamily="34" charset="-122"/>
              </a:rPr>
              <a:t>TV</a:t>
            </a:r>
            <a:r>
              <a:rPr lang="zh-CN" altLang="zh-CN" sz="1600" dirty="0" smtClean="0">
                <a:latin typeface="微软雅黑" pitchFamily="34" charset="-122"/>
                <a:ea typeface="微软雅黑" pitchFamily="34" charset="-122"/>
              </a:rPr>
              <a:t>点播</a:t>
            </a:r>
            <a:r>
              <a:rPr lang="zh-CN" altLang="en-US" sz="1600" dirty="0" smtClean="0">
                <a:latin typeface="微软雅黑" pitchFamily="34" charset="-122"/>
                <a:ea typeface="微软雅黑" pitchFamily="34" charset="-122"/>
              </a:rPr>
              <a:t>，</a:t>
            </a:r>
            <a:r>
              <a:rPr lang="zh-CN" altLang="zh-CN" sz="1600" dirty="0" smtClean="0">
                <a:latin typeface="微软雅黑" pitchFamily="34" charset="-122"/>
                <a:ea typeface="微软雅黑" pitchFamily="34" charset="-122"/>
              </a:rPr>
              <a:t>因此排除网络侧</a:t>
            </a:r>
            <a:r>
              <a:rPr lang="en-US" altLang="zh-CN" sz="1600" dirty="0" smtClean="0">
                <a:latin typeface="微软雅黑" pitchFamily="34" charset="-122"/>
                <a:ea typeface="微软雅黑" pitchFamily="34" charset="-122"/>
              </a:rPr>
              <a:t>ONU</a:t>
            </a:r>
            <a:r>
              <a:rPr lang="zh-CN" altLang="zh-CN" sz="1600" dirty="0" smtClean="0">
                <a:latin typeface="微软雅黑" pitchFamily="34" charset="-122"/>
                <a:ea typeface="微软雅黑" pitchFamily="34" charset="-122"/>
              </a:rPr>
              <a:t>问题</a:t>
            </a:r>
            <a:r>
              <a:rPr lang="zh-CN" altLang="en-US" sz="1600" dirty="0" smtClean="0">
                <a:latin typeface="微软雅黑" pitchFamily="34" charset="-122"/>
                <a:ea typeface="微软雅黑" pitchFamily="34" charset="-122"/>
              </a:rPr>
              <a:t>。</a:t>
            </a:r>
            <a:endParaRPr lang="zh-CN" altLang="en-US" sz="1600" dirty="0">
              <a:latin typeface="微软雅黑" pitchFamily="34" charset="-122"/>
              <a:ea typeface="微软雅黑" pitchFamily="34" charset="-122"/>
            </a:endParaRPr>
          </a:p>
        </p:txBody>
      </p:sp>
      <p:sp>
        <p:nvSpPr>
          <p:cNvPr id="51" name="矩形 50"/>
          <p:cNvSpPr/>
          <p:nvPr/>
        </p:nvSpPr>
        <p:spPr>
          <a:xfrm>
            <a:off x="5211610" y="4244018"/>
            <a:ext cx="4489481" cy="830997"/>
          </a:xfrm>
          <a:prstGeom prst="rect">
            <a:avLst/>
          </a:prstGeom>
        </p:spPr>
        <p:txBody>
          <a:bodyPr wrap="square" lIns="91431" tIns="45715" rIns="91431" bIns="45715">
            <a:spAutoFit/>
          </a:bodyPr>
          <a:lstStyle/>
          <a:p>
            <a:r>
              <a:rPr lang="en-US" altLang="zh-CN" sz="1600" dirty="0" smtClean="0">
                <a:latin typeface="微软雅黑" pitchFamily="34" charset="-122"/>
                <a:ea typeface="微软雅黑" pitchFamily="34" charset="-122"/>
              </a:rPr>
              <a:t>      </a:t>
            </a:r>
            <a:r>
              <a:rPr lang="zh-CN" altLang="zh-CN" sz="1600" dirty="0" smtClean="0">
                <a:latin typeface="微软雅黑" pitchFamily="34" charset="-122"/>
                <a:ea typeface="微软雅黑" pitchFamily="34" charset="-122"/>
              </a:rPr>
              <a:t>网络上层</a:t>
            </a:r>
            <a:r>
              <a:rPr lang="zh-CN" altLang="en-US" sz="1600" dirty="0" smtClean="0">
                <a:latin typeface="微软雅黑" pitchFamily="34" charset="-122"/>
                <a:ea typeface="微软雅黑" pitchFamily="34" charset="-122"/>
              </a:rPr>
              <a:t>排查后</a:t>
            </a:r>
            <a:r>
              <a:rPr lang="zh-CN" altLang="zh-CN" sz="1600" dirty="0" smtClean="0">
                <a:latin typeface="微软雅黑" pitchFamily="34" charset="-122"/>
                <a:ea typeface="微软雅黑" pitchFamily="34" charset="-122"/>
              </a:rPr>
              <a:t>确定在用户终端侧出现问题，</a:t>
            </a:r>
            <a:r>
              <a:rPr lang="zh-CN" altLang="en-US" sz="1600" dirty="0" smtClean="0">
                <a:latin typeface="微软雅黑" pitchFamily="34" charset="-122"/>
                <a:ea typeface="微软雅黑" pitchFamily="34" charset="-122"/>
              </a:rPr>
              <a:t>已</a:t>
            </a:r>
            <a:r>
              <a:rPr lang="zh-CN" altLang="zh-CN" sz="1600" dirty="0" smtClean="0">
                <a:latin typeface="微软雅黑" pitchFamily="34" charset="-122"/>
                <a:ea typeface="微软雅黑" pitchFamily="34" charset="-122"/>
              </a:rPr>
              <a:t>将用户和</a:t>
            </a:r>
            <a:r>
              <a:rPr lang="en-US" altLang="zh-CN" sz="1600" dirty="0" smtClean="0">
                <a:latin typeface="微软雅黑" pitchFamily="34" charset="-122"/>
                <a:ea typeface="微软雅黑" pitchFamily="34" charset="-122"/>
              </a:rPr>
              <a:t>TV</a:t>
            </a:r>
            <a:r>
              <a:rPr lang="zh-CN" altLang="zh-CN" sz="1600" dirty="0" smtClean="0">
                <a:latin typeface="微软雅黑" pitchFamily="34" charset="-122"/>
                <a:ea typeface="微软雅黑" pitchFamily="34" charset="-122"/>
              </a:rPr>
              <a:t>盒子更换</a:t>
            </a:r>
            <a:r>
              <a:rPr lang="zh-CN" altLang="en-US" sz="1600" dirty="0" smtClean="0">
                <a:latin typeface="微软雅黑" pitchFamily="34" charset="-122"/>
                <a:ea typeface="微软雅黑" pitchFamily="34" charset="-122"/>
              </a:rPr>
              <a:t>，</a:t>
            </a:r>
            <a:r>
              <a:rPr lang="zh-CN" altLang="zh-CN" sz="1600" dirty="0" smtClean="0">
                <a:latin typeface="微软雅黑" pitchFamily="34" charset="-122"/>
                <a:ea typeface="微软雅黑" pitchFamily="34" charset="-122"/>
              </a:rPr>
              <a:t>点播还是无法正常观看，</a:t>
            </a:r>
            <a:r>
              <a:rPr lang="zh-CN" altLang="en-US" sz="1600" dirty="0" smtClean="0">
                <a:latin typeface="微软雅黑" pitchFamily="34" charset="-122"/>
                <a:ea typeface="微软雅黑" pitchFamily="34" charset="-122"/>
              </a:rPr>
              <a:t>最后</a:t>
            </a:r>
            <a:r>
              <a:rPr lang="zh-CN" altLang="zh-CN" sz="1600" dirty="0" smtClean="0">
                <a:latin typeface="微软雅黑" pitchFamily="34" charset="-122"/>
                <a:ea typeface="微软雅黑" pitchFamily="34" charset="-122"/>
              </a:rPr>
              <a:t>将用户路由器甩开发现业务恢复正常</a:t>
            </a:r>
            <a:r>
              <a:rPr lang="zh-CN" altLang="en-US" sz="1600" dirty="0" smtClean="0">
                <a:latin typeface="微软雅黑" pitchFamily="34" charset="-122"/>
                <a:ea typeface="微软雅黑" pitchFamily="34" charset="-122"/>
              </a:rPr>
              <a:t>。</a:t>
            </a:r>
            <a:r>
              <a:rPr lang="en-US" altLang="zh-CN" sz="1600" dirty="0" smtClean="0">
                <a:latin typeface="微软雅黑" pitchFamily="34" charset="-122"/>
                <a:ea typeface="微软雅黑" pitchFamily="34" charset="-122"/>
              </a:rPr>
              <a:t>    </a:t>
            </a:r>
            <a:endParaRPr lang="en-US" altLang="zh-CN" sz="1600" dirty="0">
              <a:latin typeface="微软雅黑" pitchFamily="34" charset="-122"/>
              <a:ea typeface="微软雅黑" pitchFamily="34" charset="-122"/>
            </a:endParaRPr>
          </a:p>
        </p:txBody>
      </p:sp>
      <p:pic>
        <p:nvPicPr>
          <p:cNvPr id="1026" name="Picture 2"/>
          <p:cNvPicPr>
            <a:picLocks noChangeAspect="1" noChangeArrowheads="1"/>
          </p:cNvPicPr>
          <p:nvPr/>
        </p:nvPicPr>
        <p:blipFill>
          <a:blip r:embed="rId3" cstate="print"/>
          <a:srcRect/>
          <a:stretch>
            <a:fillRect/>
          </a:stretch>
        </p:blipFill>
        <p:spPr bwMode="auto">
          <a:xfrm>
            <a:off x="5292418" y="885215"/>
            <a:ext cx="4606112" cy="1765881"/>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5627136" y="2762196"/>
            <a:ext cx="3752136" cy="1448722"/>
          </a:xfrm>
          <a:prstGeom prst="rect">
            <a:avLst/>
          </a:prstGeom>
          <a:noFill/>
          <a:ln w="9525">
            <a:noFill/>
            <a:miter lim="800000"/>
            <a:headEnd/>
            <a:tailEnd/>
          </a:ln>
        </p:spPr>
      </p:pic>
      <p:sp>
        <p:nvSpPr>
          <p:cNvPr id="26" name="TextBox 25"/>
          <p:cNvSpPr txBox="1"/>
          <p:nvPr/>
        </p:nvSpPr>
        <p:spPr>
          <a:xfrm>
            <a:off x="162248" y="76846"/>
            <a:ext cx="8280920"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23</a:t>
            </a:r>
            <a:r>
              <a:rPr lang="zh-CN" altLang="en-US" sz="2400" b="1" dirty="0" smtClean="0">
                <a:solidFill>
                  <a:schemeClr val="bg1"/>
                </a:solidFill>
                <a:latin typeface="+mn-ea"/>
              </a:rPr>
              <a:t>：</a:t>
            </a:r>
            <a:r>
              <a:rPr lang="zh-CN" altLang="zh-CN" sz="2400" b="1" dirty="0" smtClean="0">
                <a:solidFill>
                  <a:schemeClr val="bg1"/>
                </a:solidFill>
                <a:latin typeface="微软雅黑" pitchFamily="34" charset="-122"/>
                <a:ea typeface="微软雅黑" pitchFamily="34" charset="-122"/>
                <a:sym typeface="Wingdings" pitchFamily="2" charset="2"/>
              </a:rPr>
              <a:t>和</a:t>
            </a:r>
            <a:r>
              <a:rPr lang="en-US" altLang="zh-CN" sz="2400" b="1" dirty="0" smtClean="0">
                <a:solidFill>
                  <a:schemeClr val="bg1"/>
                </a:solidFill>
                <a:latin typeface="微软雅黑" pitchFamily="34" charset="-122"/>
                <a:ea typeface="微软雅黑" pitchFamily="34" charset="-122"/>
                <a:sym typeface="Wingdings" pitchFamily="2" charset="2"/>
              </a:rPr>
              <a:t>TV</a:t>
            </a:r>
            <a:r>
              <a:rPr lang="zh-CN" altLang="zh-CN" sz="2400" b="1" dirty="0" smtClean="0">
                <a:solidFill>
                  <a:schemeClr val="bg1"/>
                </a:solidFill>
                <a:latin typeface="微软雅黑" pitchFamily="34" charset="-122"/>
                <a:ea typeface="微软雅黑" pitchFamily="34" charset="-122"/>
                <a:sym typeface="Wingdings" pitchFamily="2" charset="2"/>
              </a:rPr>
              <a:t>点播无法正常观看的问题处理</a:t>
            </a:r>
            <a:endParaRPr lang="zh-CN" altLang="en-US" sz="2400" b="1" dirty="0" smtClean="0">
              <a:solidFill>
                <a:schemeClr val="bg1"/>
              </a:solidFill>
              <a:latin typeface="+mn-ea"/>
            </a:endParaRPr>
          </a:p>
        </p:txBody>
      </p:sp>
    </p:spTree>
    <p:extLst>
      <p:ext uri="{BB962C8B-B14F-4D97-AF65-F5344CB8AC3E}">
        <p14:creationId xmlns:p14="http://schemas.microsoft.com/office/powerpoint/2010/main" xmlns="" val="64013046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6"/>
          <p:cNvGrpSpPr/>
          <p:nvPr/>
        </p:nvGrpSpPr>
        <p:grpSpPr>
          <a:xfrm>
            <a:off x="363071" y="771869"/>
            <a:ext cx="1768027" cy="338554"/>
            <a:chOff x="467544" y="1469452"/>
            <a:chExt cx="1575470" cy="430162"/>
          </a:xfrm>
        </p:grpSpPr>
        <p:sp>
          <p:nvSpPr>
            <p:cNvPr id="32" name="文本框 37"/>
            <p:cNvSpPr txBox="1"/>
            <p:nvPr/>
          </p:nvSpPr>
          <p:spPr>
            <a:xfrm>
              <a:off x="824734" y="1469452"/>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pitchFamily="34" charset="-122"/>
                  <a:ea typeface="微软雅黑" pitchFamily="34" charset="-122"/>
                </a:rPr>
                <a:t>解决措施</a:t>
              </a:r>
            </a:p>
          </p:txBody>
        </p:sp>
        <p:cxnSp>
          <p:nvCxnSpPr>
            <p:cNvPr id="33" name="直接连接符 32"/>
            <p:cNvCxnSpPr/>
            <p:nvPr/>
          </p:nvCxnSpPr>
          <p:spPr>
            <a:xfrm>
              <a:off x="467544" y="1754596"/>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34" name="矩形标注 33"/>
            <p:cNvSpPr/>
            <p:nvPr/>
          </p:nvSpPr>
          <p:spPr>
            <a:xfrm>
              <a:off x="467544" y="1476324"/>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pitchFamily="34" charset="-122"/>
                  <a:ea typeface="微软雅黑" pitchFamily="34" charset="-122"/>
                </a:rPr>
                <a:t>4</a:t>
              </a:r>
              <a:endParaRPr lang="zh-CN" altLang="en-US" sz="1600" dirty="0">
                <a:solidFill>
                  <a:prstClr val="white"/>
                </a:solidFill>
                <a:latin typeface="微软雅黑" pitchFamily="34" charset="-122"/>
                <a:ea typeface="微软雅黑" pitchFamily="34" charset="-122"/>
              </a:endParaRPr>
            </a:p>
          </p:txBody>
        </p:sp>
      </p:grpSp>
      <p:sp>
        <p:nvSpPr>
          <p:cNvPr id="4" name="矩形 3"/>
          <p:cNvSpPr/>
          <p:nvPr/>
        </p:nvSpPr>
        <p:spPr>
          <a:xfrm>
            <a:off x="201452" y="1159288"/>
            <a:ext cx="4794127" cy="1323439"/>
          </a:xfrm>
          <a:prstGeom prst="rect">
            <a:avLst/>
          </a:prstGeom>
        </p:spPr>
        <p:txBody>
          <a:bodyPr wrap="square" lIns="91431" tIns="45715" rIns="91431" bIns="45715">
            <a:spAutoFit/>
          </a:bodyPr>
          <a:lstStyle/>
          <a:p>
            <a:r>
              <a:rPr lang="en-US" altLang="zh-CN" sz="1600" dirty="0" smtClean="0">
                <a:latin typeface="微软雅黑" pitchFamily="34" charset="-122"/>
                <a:ea typeface="微软雅黑" pitchFamily="34" charset="-122"/>
              </a:rPr>
              <a:t>      </a:t>
            </a:r>
            <a:r>
              <a:rPr lang="zh-CN" altLang="zh-CN" sz="1600" dirty="0" smtClean="0">
                <a:latin typeface="微软雅黑" pitchFamily="34" charset="-122"/>
                <a:ea typeface="微软雅黑" pitchFamily="34" charset="-122"/>
              </a:rPr>
              <a:t>更换路由器，对新路由器设置后重新测试，网速正常，网页、视频、和</a:t>
            </a:r>
            <a:r>
              <a:rPr lang="en-US" altLang="zh-CN" sz="1600" dirty="0" smtClean="0">
                <a:latin typeface="微软雅黑" pitchFamily="34" charset="-122"/>
                <a:ea typeface="微软雅黑" pitchFamily="34" charset="-122"/>
              </a:rPr>
              <a:t>TV</a:t>
            </a:r>
            <a:r>
              <a:rPr lang="zh-CN" altLang="zh-CN" sz="1600" dirty="0" smtClean="0">
                <a:latin typeface="微软雅黑" pitchFamily="34" charset="-122"/>
                <a:ea typeface="微软雅黑" pitchFamily="34" charset="-122"/>
              </a:rPr>
              <a:t>观看正常。对比发现用户</a:t>
            </a:r>
            <a:r>
              <a:rPr lang="zh-CN" altLang="en-US" sz="1600" dirty="0" smtClean="0">
                <a:latin typeface="微软雅黑" pitchFamily="34" charset="-122"/>
                <a:ea typeface="微软雅黑" pitchFamily="34" charset="-122"/>
              </a:rPr>
              <a:t>原来</a:t>
            </a:r>
            <a:r>
              <a:rPr lang="zh-CN" altLang="zh-CN" sz="1600" dirty="0" smtClean="0">
                <a:latin typeface="微软雅黑" pitchFamily="34" charset="-122"/>
                <a:ea typeface="微软雅黑" pitchFamily="34" charset="-122"/>
              </a:rPr>
              <a:t>使用的路由器的网口内部只接通使用</a:t>
            </a:r>
            <a:r>
              <a:rPr lang="en-US" altLang="zh-CN" sz="1600" dirty="0" smtClean="0">
                <a:latin typeface="微软雅黑" pitchFamily="34" charset="-122"/>
                <a:ea typeface="微软雅黑" pitchFamily="34" charset="-122"/>
              </a:rPr>
              <a:t>1</a:t>
            </a:r>
            <a:r>
              <a:rPr lang="zh-CN" altLang="zh-CN" sz="1600" dirty="0" smtClean="0">
                <a:latin typeface="微软雅黑" pitchFamily="34" charset="-122"/>
                <a:ea typeface="微软雅黑" pitchFamily="34" charset="-122"/>
              </a:rPr>
              <a:t>、</a:t>
            </a:r>
            <a:r>
              <a:rPr lang="en-US" altLang="zh-CN" sz="1600" dirty="0" smtClean="0">
                <a:latin typeface="微软雅黑" pitchFamily="34" charset="-122"/>
                <a:ea typeface="微软雅黑" pitchFamily="34" charset="-122"/>
              </a:rPr>
              <a:t>2</a:t>
            </a:r>
            <a:r>
              <a:rPr lang="zh-CN" altLang="zh-CN" sz="1600" dirty="0" smtClean="0">
                <a:latin typeface="微软雅黑" pitchFamily="34" charset="-122"/>
                <a:ea typeface="微软雅黑" pitchFamily="34" charset="-122"/>
              </a:rPr>
              <a:t>、</a:t>
            </a:r>
            <a:r>
              <a:rPr lang="en-US" altLang="zh-CN" sz="1600" dirty="0" smtClean="0">
                <a:latin typeface="微软雅黑" pitchFamily="34" charset="-122"/>
                <a:ea typeface="微软雅黑" pitchFamily="34" charset="-122"/>
              </a:rPr>
              <a:t>3</a:t>
            </a:r>
            <a:r>
              <a:rPr lang="zh-CN" altLang="zh-CN" sz="1600" dirty="0" smtClean="0">
                <a:latin typeface="微软雅黑" pitchFamily="34" charset="-122"/>
                <a:ea typeface="微软雅黑" pitchFamily="34" charset="-122"/>
              </a:rPr>
              <a:t>、</a:t>
            </a:r>
            <a:r>
              <a:rPr lang="en-US" altLang="zh-CN" sz="1600" dirty="0" smtClean="0">
                <a:latin typeface="微软雅黑" pitchFamily="34" charset="-122"/>
                <a:ea typeface="微软雅黑" pitchFamily="34" charset="-122"/>
              </a:rPr>
              <a:t>6</a:t>
            </a:r>
            <a:r>
              <a:rPr lang="zh-CN" altLang="zh-CN" sz="1600" dirty="0" smtClean="0">
                <a:latin typeface="微软雅黑" pitchFamily="34" charset="-122"/>
                <a:ea typeface="微软雅黑" pitchFamily="34" charset="-122"/>
              </a:rPr>
              <a:t>线位，可以正常上网，但使用和</a:t>
            </a:r>
            <a:r>
              <a:rPr lang="en-US" altLang="zh-CN" sz="1600" dirty="0" smtClean="0">
                <a:latin typeface="微软雅黑" pitchFamily="34" charset="-122"/>
                <a:ea typeface="微软雅黑" pitchFamily="34" charset="-122"/>
              </a:rPr>
              <a:t>TV</a:t>
            </a:r>
            <a:r>
              <a:rPr lang="zh-CN" altLang="zh-CN" sz="1600" dirty="0" smtClean="0">
                <a:latin typeface="微软雅黑" pitchFamily="34" charset="-122"/>
                <a:ea typeface="微软雅黑" pitchFamily="34" charset="-122"/>
              </a:rPr>
              <a:t>无法正常观看点播，直播正常。</a:t>
            </a:r>
            <a:endParaRPr lang="zh-CN" altLang="zh-CN" sz="1600" dirty="0">
              <a:latin typeface="微软雅黑" pitchFamily="34" charset="-122"/>
              <a:ea typeface="微软雅黑" pitchFamily="34" charset="-122"/>
            </a:endParaRPr>
          </a:p>
        </p:txBody>
      </p:sp>
      <p:grpSp>
        <p:nvGrpSpPr>
          <p:cNvPr id="19" name="组合 41"/>
          <p:cNvGrpSpPr/>
          <p:nvPr/>
        </p:nvGrpSpPr>
        <p:grpSpPr>
          <a:xfrm>
            <a:off x="363071" y="2585405"/>
            <a:ext cx="1768027" cy="338554"/>
            <a:chOff x="395536" y="1437373"/>
            <a:chExt cx="1575470" cy="430162"/>
          </a:xfrm>
        </p:grpSpPr>
        <p:sp>
          <p:nvSpPr>
            <p:cNvPr id="20" name="文本框 42"/>
            <p:cNvSpPr txBox="1"/>
            <p:nvPr/>
          </p:nvSpPr>
          <p:spPr>
            <a:xfrm>
              <a:off x="839492" y="1437373"/>
              <a:ext cx="895904" cy="430162"/>
            </a:xfrm>
            <a:prstGeom prst="rect">
              <a:avLst/>
            </a:prstGeom>
            <a:noFill/>
          </p:spPr>
          <p:txBody>
            <a:bodyPr wrap="none" rtlCol="0">
              <a:spAutoFit/>
            </a:bodyPr>
            <a:lstStyle/>
            <a:p>
              <a:pPr fontAlgn="base">
                <a:spcBef>
                  <a:spcPct val="0"/>
                </a:spcBef>
                <a:spcAft>
                  <a:spcPct val="0"/>
                </a:spcAft>
              </a:pPr>
              <a:r>
                <a:rPr lang="zh-CN" altLang="en-US" sz="1600" b="1" dirty="0">
                  <a:solidFill>
                    <a:prstClr val="black"/>
                  </a:solidFill>
                  <a:latin typeface="微软雅黑" pitchFamily="34" charset="-122"/>
                  <a:ea typeface="微软雅黑" pitchFamily="34" charset="-122"/>
                </a:rPr>
                <a:t>经验总结</a:t>
              </a:r>
            </a:p>
          </p:txBody>
        </p:sp>
        <p:cxnSp>
          <p:nvCxnSpPr>
            <p:cNvPr id="21" name="直接连接符 20"/>
            <p:cNvCxnSpPr/>
            <p:nvPr/>
          </p:nvCxnSpPr>
          <p:spPr>
            <a:xfrm>
              <a:off x="395536" y="1797413"/>
              <a:ext cx="1575470"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22" name="矩形标注 21"/>
            <p:cNvSpPr/>
            <p:nvPr/>
          </p:nvSpPr>
          <p:spPr>
            <a:xfrm>
              <a:off x="467544" y="1437373"/>
              <a:ext cx="305868" cy="291431"/>
            </a:xfrm>
            <a:prstGeom prst="wedgeRectCallout">
              <a:avLst>
                <a:gd name="adj1" fmla="val -27554"/>
                <a:gd name="adj2" fmla="val 73082"/>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fontAlgn="base">
                <a:spcBef>
                  <a:spcPct val="0"/>
                </a:spcBef>
                <a:spcAft>
                  <a:spcPct val="0"/>
                </a:spcAft>
              </a:pPr>
              <a:r>
                <a:rPr lang="en-US" altLang="zh-CN" sz="1600" dirty="0">
                  <a:solidFill>
                    <a:prstClr val="white"/>
                  </a:solidFill>
                  <a:latin typeface="微软雅黑" pitchFamily="34" charset="-122"/>
                  <a:ea typeface="微软雅黑" pitchFamily="34" charset="-122"/>
                </a:rPr>
                <a:t>5</a:t>
              </a:r>
              <a:endParaRPr lang="zh-CN" altLang="en-US" sz="1600" dirty="0">
                <a:solidFill>
                  <a:prstClr val="white"/>
                </a:solidFill>
                <a:latin typeface="微软雅黑" pitchFamily="34" charset="-122"/>
                <a:ea typeface="微软雅黑" pitchFamily="34" charset="-122"/>
              </a:endParaRPr>
            </a:p>
          </p:txBody>
        </p:sp>
      </p:grpSp>
      <p:sp>
        <p:nvSpPr>
          <p:cNvPr id="3" name="矩形 2"/>
          <p:cNvSpPr/>
          <p:nvPr/>
        </p:nvSpPr>
        <p:spPr>
          <a:xfrm>
            <a:off x="282262" y="3115116"/>
            <a:ext cx="4686921" cy="1815882"/>
          </a:xfrm>
          <a:prstGeom prst="rect">
            <a:avLst/>
          </a:prstGeom>
        </p:spPr>
        <p:txBody>
          <a:bodyPr wrap="square" lIns="91431" tIns="45715" rIns="91431" bIns="45715">
            <a:spAutoFit/>
          </a:bodyPr>
          <a:lstStyle/>
          <a:p>
            <a:r>
              <a:rPr lang="en-US" altLang="zh-CN" sz="1600" dirty="0" smtClean="0">
                <a:latin typeface="微软雅黑" pitchFamily="34" charset="-122"/>
                <a:ea typeface="微软雅黑" pitchFamily="34" charset="-122"/>
              </a:rPr>
              <a:t>     </a:t>
            </a:r>
            <a:r>
              <a:rPr lang="zh-CN" altLang="zh-CN" sz="1600" dirty="0" smtClean="0">
                <a:latin typeface="微软雅黑" pitchFamily="34" charset="-122"/>
                <a:ea typeface="微软雅黑" pitchFamily="34" charset="-122"/>
              </a:rPr>
              <a:t>装维上门安装宽带后必须首先甩开路由器设置，并且测试用户使用情况，测试正常后将用户路由器设置正确，并再次查看业务使用问题，同时执行“三个一操作”即：打开一个网页，下载一个软件，收发一封邮件。在进行此操作时工作人员需观察网速是否正常。对和</a:t>
            </a:r>
            <a:r>
              <a:rPr lang="en-US" altLang="zh-CN" sz="1600" dirty="0" smtClean="0">
                <a:latin typeface="微软雅黑" pitchFamily="34" charset="-122"/>
                <a:ea typeface="微软雅黑" pitchFamily="34" charset="-122"/>
              </a:rPr>
              <a:t>TV</a:t>
            </a:r>
            <a:r>
              <a:rPr lang="zh-CN" altLang="zh-CN" sz="1600" dirty="0" smtClean="0">
                <a:latin typeface="微软雅黑" pitchFamily="34" charset="-122"/>
                <a:ea typeface="微软雅黑" pitchFamily="34" charset="-122"/>
              </a:rPr>
              <a:t>安装后对各种功能使用操作，若</a:t>
            </a:r>
            <a:endParaRPr lang="zh-CN" altLang="en-US" sz="1600" dirty="0">
              <a:latin typeface="微软雅黑" pitchFamily="34" charset="-122"/>
              <a:ea typeface="微软雅黑" pitchFamily="34" charset="-122"/>
            </a:endParaRPr>
          </a:p>
        </p:txBody>
      </p:sp>
      <p:sp>
        <p:nvSpPr>
          <p:cNvPr id="13" name="TextBox 12"/>
          <p:cNvSpPr txBox="1"/>
          <p:nvPr/>
        </p:nvSpPr>
        <p:spPr>
          <a:xfrm>
            <a:off x="5292418" y="1055236"/>
            <a:ext cx="4686921" cy="830997"/>
          </a:xfrm>
          <a:prstGeom prst="rect">
            <a:avLst/>
          </a:prstGeom>
          <a:noFill/>
        </p:spPr>
        <p:txBody>
          <a:bodyPr wrap="square" lIns="91431" tIns="45715" rIns="91431" bIns="45715" rtlCol="0">
            <a:spAutoFit/>
          </a:bodyPr>
          <a:lstStyle/>
          <a:p>
            <a:r>
              <a:rPr lang="zh-CN" altLang="zh-CN" sz="1600" dirty="0" smtClean="0">
                <a:latin typeface="微软雅黑" pitchFamily="34" charset="-122"/>
                <a:ea typeface="微软雅黑" pitchFamily="34" charset="-122"/>
              </a:rPr>
              <a:t>网速、点播不达标</a:t>
            </a:r>
            <a:r>
              <a:rPr lang="zh-CN" altLang="en-US" sz="1600" dirty="0" smtClean="0">
                <a:latin typeface="微软雅黑" pitchFamily="34" charset="-122"/>
                <a:ea typeface="微软雅黑" pitchFamily="34" charset="-122"/>
              </a:rPr>
              <a:t>或不能正常使用</a:t>
            </a:r>
            <a:r>
              <a:rPr lang="zh-CN" altLang="zh-CN" sz="1600" dirty="0" smtClean="0">
                <a:latin typeface="微软雅黑" pitchFamily="34" charset="-122"/>
                <a:ea typeface="微软雅黑" pitchFamily="34" charset="-122"/>
              </a:rPr>
              <a:t>，首先考虑设置及终端问题，若设置、终端没问题再联系工程师排查上层数据问题</a:t>
            </a:r>
            <a:r>
              <a:rPr lang="zh-CN" altLang="en-US" sz="1600" dirty="0" smtClean="0">
                <a:latin typeface="微软雅黑" pitchFamily="34" charset="-122"/>
                <a:ea typeface="微软雅黑" pitchFamily="34" charset="-122"/>
              </a:rPr>
              <a:t>。</a:t>
            </a:r>
            <a:endParaRPr lang="zh-CN" altLang="en-US" sz="1600" dirty="0"/>
          </a:p>
        </p:txBody>
      </p:sp>
      <p:sp>
        <p:nvSpPr>
          <p:cNvPr id="14" name="TextBox 13"/>
          <p:cNvSpPr txBox="1"/>
          <p:nvPr/>
        </p:nvSpPr>
        <p:spPr>
          <a:xfrm>
            <a:off x="162248" y="76846"/>
            <a:ext cx="8280920"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23</a:t>
            </a:r>
            <a:r>
              <a:rPr lang="zh-CN" altLang="en-US" sz="2400" b="1" dirty="0" smtClean="0">
                <a:solidFill>
                  <a:schemeClr val="bg1"/>
                </a:solidFill>
                <a:latin typeface="+mn-ea"/>
              </a:rPr>
              <a:t>：</a:t>
            </a:r>
            <a:r>
              <a:rPr lang="zh-CN" altLang="zh-CN" sz="2400" b="1" dirty="0" smtClean="0">
                <a:solidFill>
                  <a:schemeClr val="bg1"/>
                </a:solidFill>
                <a:latin typeface="微软雅黑" pitchFamily="34" charset="-122"/>
                <a:ea typeface="微软雅黑" pitchFamily="34" charset="-122"/>
                <a:sym typeface="Wingdings" pitchFamily="2" charset="2"/>
              </a:rPr>
              <a:t>和</a:t>
            </a:r>
            <a:r>
              <a:rPr lang="en-US" altLang="zh-CN" sz="2400" b="1" dirty="0" smtClean="0">
                <a:solidFill>
                  <a:schemeClr val="bg1"/>
                </a:solidFill>
                <a:latin typeface="微软雅黑" pitchFamily="34" charset="-122"/>
                <a:ea typeface="微软雅黑" pitchFamily="34" charset="-122"/>
                <a:sym typeface="Wingdings" pitchFamily="2" charset="2"/>
              </a:rPr>
              <a:t>TV</a:t>
            </a:r>
            <a:r>
              <a:rPr lang="zh-CN" altLang="zh-CN" sz="2400" b="1" dirty="0" smtClean="0">
                <a:solidFill>
                  <a:schemeClr val="bg1"/>
                </a:solidFill>
                <a:latin typeface="微软雅黑" pitchFamily="34" charset="-122"/>
                <a:ea typeface="微软雅黑" pitchFamily="34" charset="-122"/>
                <a:sym typeface="Wingdings" pitchFamily="2" charset="2"/>
              </a:rPr>
              <a:t>点播无法正常观看的问题处理</a:t>
            </a:r>
            <a:endParaRPr lang="zh-CN" altLang="en-US" sz="2400" b="1" dirty="0" smtClean="0">
              <a:solidFill>
                <a:schemeClr val="bg1"/>
              </a:solidFill>
              <a:latin typeface="+mn-ea"/>
            </a:endParaRPr>
          </a:p>
        </p:txBody>
      </p:sp>
    </p:spTree>
    <p:extLst>
      <p:ext uri="{BB962C8B-B14F-4D97-AF65-F5344CB8AC3E}">
        <p14:creationId xmlns:p14="http://schemas.microsoft.com/office/powerpoint/2010/main" xmlns="" val="263445734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6"/>
          <p:cNvSpPr txBox="1">
            <a:spLocks noChangeArrowheads="1"/>
          </p:cNvSpPr>
          <p:nvPr/>
        </p:nvSpPr>
        <p:spPr bwMode="auto">
          <a:xfrm>
            <a:off x="120645" y="998561"/>
            <a:ext cx="4040587" cy="73865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91431" tIns="45715" rIns="91431" bIns="45715">
            <a:spAutoFit/>
          </a:bodyPr>
          <a:lstStyle/>
          <a:p>
            <a:pPr>
              <a:lnSpc>
                <a:spcPct val="150000"/>
              </a:lnSpc>
              <a:buFont typeface="Wingdings" pitchFamily="2" charset="2"/>
              <a:buChar char="Ø"/>
              <a:defRPr/>
            </a:pPr>
            <a:r>
              <a:rPr lang="zh-CN" altLang="en-US" sz="1400" dirty="0" smtClean="0">
                <a:latin typeface="微软雅黑" pitchFamily="34" charset="-122"/>
                <a:ea typeface="微软雅黑" pitchFamily="34" charset="-122"/>
              </a:rPr>
              <a:t>威海</a:t>
            </a:r>
            <a:r>
              <a:rPr lang="en-US" altLang="zh-CN" sz="1400" dirty="0" err="1" smtClean="0">
                <a:latin typeface="微软雅黑" pitchFamily="34" charset="-122"/>
                <a:ea typeface="微软雅黑" pitchFamily="34" charset="-122"/>
              </a:rPr>
              <a:t>wlan</a:t>
            </a:r>
            <a:r>
              <a:rPr lang="zh-CN" altLang="en-US" sz="1400" dirty="0" smtClean="0">
                <a:latin typeface="微软雅黑" pitchFamily="34" charset="-122"/>
                <a:ea typeface="微软雅黑" pitchFamily="34" charset="-122"/>
              </a:rPr>
              <a:t>用户反映无法观看微信朋友圈转发视频，打开视频处于一直缓冲状态。</a:t>
            </a:r>
            <a:endParaRPr lang="en-US" altLang="zh-CN" sz="1400" dirty="0">
              <a:latin typeface="微软雅黑" pitchFamily="34" charset="-122"/>
              <a:ea typeface="微软雅黑" pitchFamily="34" charset="-122"/>
            </a:endParaRPr>
          </a:p>
        </p:txBody>
      </p:sp>
      <p:sp>
        <p:nvSpPr>
          <p:cNvPr id="10" name="Rectangle 128"/>
          <p:cNvSpPr>
            <a:spLocks noChangeArrowheads="1"/>
          </p:cNvSpPr>
          <p:nvPr/>
        </p:nvSpPr>
        <p:spPr bwMode="auto">
          <a:xfrm flipV="1">
            <a:off x="120645" y="2075347"/>
            <a:ext cx="5575819" cy="20969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lIns="75007" tIns="39004" rIns="75007" bIns="39004" anchor="ctr"/>
          <a:lstStyle/>
          <a:p>
            <a:pPr defTabSz="761923">
              <a:defRPr/>
            </a:pPr>
            <a:endParaRPr lang="zh-CN" altLang="en-US" sz="1400" dirty="0">
              <a:latin typeface="微软雅黑" pitchFamily="34" charset="-122"/>
              <a:ea typeface="微软雅黑" pitchFamily="34" charset="-122"/>
            </a:endParaRPr>
          </a:p>
        </p:txBody>
      </p:sp>
      <p:sp>
        <p:nvSpPr>
          <p:cNvPr id="11" name="AutoShape 8"/>
          <p:cNvSpPr>
            <a:spLocks noChangeArrowheads="1"/>
          </p:cNvSpPr>
          <p:nvPr/>
        </p:nvSpPr>
        <p:spPr bwMode="gray">
          <a:xfrm>
            <a:off x="1" y="1678637"/>
            <a:ext cx="2020253" cy="283618"/>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问题分析</a:t>
            </a:r>
            <a:endParaRPr lang="en-US" altLang="zh-CN" sz="1600" b="1" dirty="0">
              <a:latin typeface="Arial" pitchFamily="34" charset="0"/>
              <a:ea typeface="微软雅黑" pitchFamily="34" charset="-122"/>
            </a:endParaRPr>
          </a:p>
        </p:txBody>
      </p:sp>
      <p:sp>
        <p:nvSpPr>
          <p:cNvPr id="12" name="TextBox 60"/>
          <p:cNvSpPr txBox="1">
            <a:spLocks noChangeArrowheads="1"/>
          </p:cNvSpPr>
          <p:nvPr/>
        </p:nvSpPr>
        <p:spPr bwMode="auto">
          <a:xfrm>
            <a:off x="120645" y="4568959"/>
            <a:ext cx="9780588" cy="73865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1431" tIns="45715" rIns="91431" bIns="45715">
            <a:spAutoFit/>
          </a:bodyPr>
          <a:lstStyle/>
          <a:p>
            <a:pPr>
              <a:lnSpc>
                <a:spcPct val="150000"/>
              </a:lnSpc>
              <a:buFont typeface="Wingdings" pitchFamily="2" charset="2"/>
              <a:buChar char="Ø"/>
              <a:defRPr/>
            </a:pPr>
            <a:r>
              <a:rPr lang="zh-CN" altLang="en-US" sz="1400" dirty="0" smtClean="0">
                <a:latin typeface="微软雅黑" pitchFamily="34" charset="-122"/>
                <a:ea typeface="微软雅黑" pitchFamily="34" charset="-122"/>
              </a:rPr>
              <a:t>联系省公司发现省内</a:t>
            </a:r>
            <a:r>
              <a:rPr lang="en-US" altLang="zh-CN" sz="1400" dirty="0" smtClean="0">
                <a:latin typeface="微软雅黑" pitchFamily="34" charset="-122"/>
                <a:ea typeface="微软雅黑" pitchFamily="34" charset="-122"/>
              </a:rPr>
              <a:t>IDC</a:t>
            </a:r>
            <a:r>
              <a:rPr lang="zh-CN" altLang="en-US" sz="1400" dirty="0" smtClean="0">
                <a:latin typeface="微软雅黑" pitchFamily="34" charset="-122"/>
                <a:ea typeface="微软雅黑" pitchFamily="34" charset="-122"/>
              </a:rPr>
              <a:t>资源扩容，部分私网地址访问受限，本地出口路由器上增加路由策略：</a:t>
            </a:r>
            <a:r>
              <a:rPr lang="en-US" altLang="zh-CN" sz="1400" dirty="0" err="1" smtClean="0">
                <a:latin typeface="微软雅黑" pitchFamily="34" charset="-122"/>
                <a:ea typeface="微软雅黑" pitchFamily="34" charset="-122"/>
              </a:rPr>
              <a:t>wlan</a:t>
            </a:r>
            <a:r>
              <a:rPr lang="zh-CN" altLang="en-US" sz="1400" dirty="0" smtClean="0">
                <a:latin typeface="微软雅黑" pitchFamily="34" charset="-122"/>
                <a:ea typeface="微软雅黑" pitchFamily="34" charset="-122"/>
              </a:rPr>
              <a:t>私网地址经过</a:t>
            </a:r>
            <a:r>
              <a:rPr lang="en-US" altLang="zh-CN" sz="1400" dirty="0" smtClean="0">
                <a:latin typeface="微软雅黑" pitchFamily="34" charset="-122"/>
                <a:ea typeface="微软雅黑" pitchFamily="34" charset="-122"/>
              </a:rPr>
              <a:t>NAT</a:t>
            </a:r>
            <a:r>
              <a:rPr lang="zh-CN" altLang="en-US" sz="1400" dirty="0" smtClean="0">
                <a:latin typeface="微软雅黑" pitchFamily="34" charset="-122"/>
                <a:ea typeface="微软雅黑" pitchFamily="34" charset="-122"/>
              </a:rPr>
              <a:t>后再访问省内微信</a:t>
            </a:r>
            <a:r>
              <a:rPr lang="en-US" altLang="zh-CN" sz="1400" dirty="0" smtClean="0">
                <a:latin typeface="微软雅黑" pitchFamily="34" charset="-122"/>
                <a:ea typeface="微软雅黑" pitchFamily="34" charset="-122"/>
              </a:rPr>
              <a:t>IDC</a:t>
            </a:r>
            <a:r>
              <a:rPr lang="zh-CN" altLang="en-US" sz="1400" dirty="0" smtClean="0">
                <a:latin typeface="微软雅黑" pitchFamily="34" charset="-122"/>
                <a:ea typeface="微软雅黑" pitchFamily="34" charset="-122"/>
              </a:rPr>
              <a:t>服务器，故障解决。</a:t>
            </a:r>
            <a:endParaRPr lang="zh-CN" altLang="zh-CN" sz="1400" dirty="0">
              <a:latin typeface="微软雅黑" pitchFamily="34" charset="-122"/>
              <a:ea typeface="微软雅黑" pitchFamily="34" charset="-122"/>
            </a:endParaRPr>
          </a:p>
        </p:txBody>
      </p:sp>
      <p:sp>
        <p:nvSpPr>
          <p:cNvPr id="13" name="AutoShape 8"/>
          <p:cNvSpPr>
            <a:spLocks noChangeArrowheads="1"/>
          </p:cNvSpPr>
          <p:nvPr/>
        </p:nvSpPr>
        <p:spPr bwMode="gray">
          <a:xfrm>
            <a:off x="1" y="4228921"/>
            <a:ext cx="2020253" cy="283619"/>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问题解决</a:t>
            </a:r>
            <a:endParaRPr lang="en-US" altLang="zh-CN" sz="1600" b="1" dirty="0">
              <a:latin typeface="Arial" pitchFamily="34" charset="0"/>
              <a:ea typeface="微软雅黑" pitchFamily="34" charset="-122"/>
            </a:endParaRPr>
          </a:p>
        </p:txBody>
      </p:sp>
      <p:sp>
        <p:nvSpPr>
          <p:cNvPr id="14" name="AutoShape 8"/>
          <p:cNvSpPr>
            <a:spLocks noChangeArrowheads="1"/>
          </p:cNvSpPr>
          <p:nvPr/>
        </p:nvSpPr>
        <p:spPr bwMode="gray">
          <a:xfrm>
            <a:off x="0" y="601538"/>
            <a:ext cx="1916924" cy="267376"/>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问题描述</a:t>
            </a:r>
            <a:endParaRPr lang="en-US" altLang="zh-CN" sz="1600" b="1" dirty="0">
              <a:latin typeface="Arial" pitchFamily="34" charset="0"/>
              <a:ea typeface="微软雅黑" pitchFamily="34" charset="-122"/>
            </a:endParaRPr>
          </a:p>
        </p:txBody>
      </p:sp>
      <p:sp>
        <p:nvSpPr>
          <p:cNvPr id="15" name="矩形 14"/>
          <p:cNvSpPr/>
          <p:nvPr/>
        </p:nvSpPr>
        <p:spPr>
          <a:xfrm>
            <a:off x="6342936" y="1338600"/>
            <a:ext cx="2348272" cy="307777"/>
          </a:xfrm>
          <a:prstGeom prst="rect">
            <a:avLst/>
          </a:prstGeom>
        </p:spPr>
        <p:txBody>
          <a:bodyPr wrap="none" lIns="91431" tIns="45715" rIns="91431" bIns="45715">
            <a:spAutoFit/>
          </a:bodyPr>
          <a:lstStyle/>
          <a:p>
            <a:r>
              <a:rPr lang="en-US" altLang="zh-CN" sz="1400" dirty="0" smtClean="0"/>
              <a:t>WLAN</a:t>
            </a:r>
            <a:r>
              <a:rPr lang="zh-CN" altLang="en-US" sz="1400" dirty="0" smtClean="0"/>
              <a:t>私网</a:t>
            </a:r>
            <a:r>
              <a:rPr lang="en-US" altLang="zh-CN" sz="1400" dirty="0" smtClean="0"/>
              <a:t>ping</a:t>
            </a:r>
            <a:r>
              <a:rPr lang="zh-CN" altLang="en-US" sz="1400" dirty="0" smtClean="0"/>
              <a:t>和</a:t>
            </a:r>
            <a:r>
              <a:rPr lang="en-US" altLang="zh-CN" sz="1400" dirty="0" err="1" smtClean="0"/>
              <a:t>tracert</a:t>
            </a:r>
            <a:r>
              <a:rPr lang="zh-CN" altLang="en-US" sz="1400" dirty="0" smtClean="0"/>
              <a:t>路由</a:t>
            </a:r>
            <a:endParaRPr lang="zh-CN" altLang="en-US" sz="1400" dirty="0"/>
          </a:p>
        </p:txBody>
      </p:sp>
      <p:pic>
        <p:nvPicPr>
          <p:cNvPr id="16" name="Picture 5"/>
          <p:cNvPicPr>
            <a:picLocks noChangeAspect="1" noChangeArrowheads="1"/>
          </p:cNvPicPr>
          <p:nvPr/>
        </p:nvPicPr>
        <p:blipFill>
          <a:blip r:embed="rId2" cstate="print"/>
          <a:srcRect/>
          <a:stretch>
            <a:fillRect/>
          </a:stretch>
        </p:blipFill>
        <p:spPr bwMode="auto">
          <a:xfrm>
            <a:off x="6342935" y="1735310"/>
            <a:ext cx="3636404" cy="1035518"/>
          </a:xfrm>
          <a:prstGeom prst="rect">
            <a:avLst/>
          </a:prstGeom>
          <a:noFill/>
          <a:ln w="9525">
            <a:noFill/>
            <a:miter lim="800000"/>
            <a:headEnd/>
            <a:tailEnd/>
          </a:ln>
        </p:spPr>
      </p:pic>
      <p:pic>
        <p:nvPicPr>
          <p:cNvPr id="17" name="Picture 6"/>
          <p:cNvPicPr>
            <a:picLocks noChangeAspect="1" noChangeArrowheads="1"/>
          </p:cNvPicPr>
          <p:nvPr/>
        </p:nvPicPr>
        <p:blipFill>
          <a:blip r:embed="rId3" cstate="print"/>
          <a:srcRect/>
          <a:stretch>
            <a:fillRect/>
          </a:stretch>
        </p:blipFill>
        <p:spPr bwMode="auto">
          <a:xfrm>
            <a:off x="6262127" y="2868770"/>
            <a:ext cx="3733721" cy="1609789"/>
          </a:xfrm>
          <a:prstGeom prst="rect">
            <a:avLst/>
          </a:prstGeom>
          <a:noFill/>
          <a:ln w="9525">
            <a:noFill/>
            <a:miter lim="800000"/>
            <a:headEnd/>
            <a:tailEnd/>
          </a:ln>
        </p:spPr>
      </p:pic>
      <p:pic>
        <p:nvPicPr>
          <p:cNvPr id="18" name="Picture 7"/>
          <p:cNvPicPr>
            <a:picLocks noChangeAspect="1" noChangeArrowheads="1"/>
          </p:cNvPicPr>
          <p:nvPr/>
        </p:nvPicPr>
        <p:blipFill>
          <a:blip r:embed="rId4" cstate="print"/>
          <a:srcRect/>
          <a:stretch>
            <a:fillRect/>
          </a:stretch>
        </p:blipFill>
        <p:spPr bwMode="auto">
          <a:xfrm>
            <a:off x="5740117" y="828542"/>
            <a:ext cx="4521484" cy="450624"/>
          </a:xfrm>
          <a:prstGeom prst="rect">
            <a:avLst/>
          </a:prstGeom>
          <a:noFill/>
          <a:ln w="9525">
            <a:noFill/>
            <a:miter lim="800000"/>
            <a:headEnd/>
            <a:tailEnd/>
          </a:ln>
        </p:spPr>
      </p:pic>
      <p:sp>
        <p:nvSpPr>
          <p:cNvPr id="19" name="矩形 18"/>
          <p:cNvSpPr/>
          <p:nvPr/>
        </p:nvSpPr>
        <p:spPr>
          <a:xfrm>
            <a:off x="6666172" y="545179"/>
            <a:ext cx="1717137" cy="307777"/>
          </a:xfrm>
          <a:prstGeom prst="rect">
            <a:avLst/>
          </a:prstGeom>
        </p:spPr>
        <p:txBody>
          <a:bodyPr wrap="none" lIns="91431" tIns="45715" rIns="91431" bIns="45715">
            <a:spAutoFit/>
          </a:bodyPr>
          <a:lstStyle/>
          <a:p>
            <a:r>
              <a:rPr lang="en-US" altLang="zh-CN" sz="1400" dirty="0" smtClean="0"/>
              <a:t>WLAN</a:t>
            </a:r>
            <a:r>
              <a:rPr lang="zh-CN" altLang="en-US" sz="1400" dirty="0" smtClean="0"/>
              <a:t>私网地址抓包</a:t>
            </a:r>
            <a:endParaRPr lang="zh-CN" altLang="en-US" sz="1400" dirty="0"/>
          </a:p>
        </p:txBody>
      </p:sp>
      <p:sp>
        <p:nvSpPr>
          <p:cNvPr id="20" name="TextBox 19"/>
          <p:cNvSpPr txBox="1"/>
          <p:nvPr/>
        </p:nvSpPr>
        <p:spPr>
          <a:xfrm>
            <a:off x="162248" y="76846"/>
            <a:ext cx="8280920" cy="461665"/>
          </a:xfrm>
          <a:prstGeom prst="rect">
            <a:avLst/>
          </a:prstGeom>
          <a:noFill/>
        </p:spPr>
        <p:txBody>
          <a:bodyPr wrap="square" lIns="91431" tIns="45715" rIns="91431" bIns="45715" rtlCol="0">
            <a:spAutoFit/>
          </a:bodyPr>
          <a:lstStyle/>
          <a:p>
            <a:r>
              <a:rPr lang="zh-CN" altLang="en-US" sz="2400" b="1" dirty="0" smtClean="0">
                <a:solidFill>
                  <a:schemeClr val="bg1"/>
                </a:solidFill>
                <a:latin typeface="+mn-ea"/>
              </a:rPr>
              <a:t>案例</a:t>
            </a:r>
            <a:r>
              <a:rPr lang="en-US" altLang="zh-CN" sz="2400" b="1" dirty="0" smtClean="0">
                <a:solidFill>
                  <a:schemeClr val="bg1"/>
                </a:solidFill>
                <a:latin typeface="+mn-ea"/>
              </a:rPr>
              <a:t>24</a:t>
            </a:r>
            <a:r>
              <a:rPr lang="zh-CN" altLang="en-US" sz="2400" b="1" dirty="0" smtClean="0">
                <a:solidFill>
                  <a:schemeClr val="bg1"/>
                </a:solidFill>
                <a:latin typeface="+mn-ea"/>
              </a:rPr>
              <a:t>：</a:t>
            </a:r>
            <a:r>
              <a:rPr lang="zh-CN" altLang="en-US" sz="2400" b="1" dirty="0" smtClean="0">
                <a:solidFill>
                  <a:schemeClr val="bg1"/>
                </a:solidFill>
                <a:latin typeface="微软雅黑" pitchFamily="34" charset="-122"/>
                <a:ea typeface="微软雅黑" pitchFamily="34" charset="-122"/>
                <a:sym typeface="Wingdings" pitchFamily="2" charset="2"/>
              </a:rPr>
              <a:t>威海</a:t>
            </a:r>
            <a:r>
              <a:rPr lang="en-US" altLang="zh-CN" sz="2400" b="1" dirty="0" err="1" smtClean="0">
                <a:solidFill>
                  <a:schemeClr val="bg1"/>
                </a:solidFill>
                <a:latin typeface="微软雅黑" pitchFamily="34" charset="-122"/>
                <a:ea typeface="微软雅黑" pitchFamily="34" charset="-122"/>
                <a:sym typeface="Wingdings" pitchFamily="2" charset="2"/>
              </a:rPr>
              <a:t>wlan</a:t>
            </a:r>
            <a:r>
              <a:rPr lang="zh-CN" altLang="en-US" sz="2400" b="1" dirty="0" smtClean="0">
                <a:solidFill>
                  <a:schemeClr val="bg1"/>
                </a:solidFill>
                <a:latin typeface="微软雅黑" pitchFamily="34" charset="-122"/>
                <a:ea typeface="微软雅黑" pitchFamily="34" charset="-122"/>
                <a:sym typeface="Wingdings" pitchFamily="2" charset="2"/>
              </a:rPr>
              <a:t>用户无法观看微信朋友圈视频</a:t>
            </a:r>
          </a:p>
        </p:txBody>
      </p:sp>
      <p:sp>
        <p:nvSpPr>
          <p:cNvPr id="21" name="TextBox 46"/>
          <p:cNvSpPr txBox="1">
            <a:spLocks noChangeArrowheads="1"/>
          </p:cNvSpPr>
          <p:nvPr/>
        </p:nvSpPr>
        <p:spPr bwMode="auto">
          <a:xfrm>
            <a:off x="201453" y="2132021"/>
            <a:ext cx="5495010" cy="21074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31" tIns="45715" rIns="91431" bIns="45715">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nSpc>
                <a:spcPct val="150000"/>
              </a:lnSpc>
              <a:buFont typeface="Wingdings" pitchFamily="2" charset="2"/>
              <a:buChar char="Ø"/>
            </a:pPr>
            <a:r>
              <a:rPr lang="zh-CN" altLang="en-US" sz="1400" dirty="0" smtClean="0">
                <a:solidFill>
                  <a:schemeClr val="dk1"/>
                </a:solidFill>
                <a:latin typeface="微软雅黑" pitchFamily="34" charset="-122"/>
                <a:ea typeface="微软雅黑" pitchFamily="34" charset="-122"/>
              </a:rPr>
              <a:t>实地测试发现米山镇移动营业厅、米山路营业厅可以正常观看， 韩北疆荣昌花园 、东谭家口村无法正常观看，排除客户终端问题。</a:t>
            </a:r>
            <a:endParaRPr lang="en-US" altLang="zh-CN" sz="1400" dirty="0" smtClean="0">
              <a:solidFill>
                <a:schemeClr val="dk1"/>
              </a:solidFill>
              <a:latin typeface="微软雅黑" pitchFamily="34" charset="-122"/>
              <a:ea typeface="微软雅黑" pitchFamily="34" charset="-122"/>
            </a:endParaRPr>
          </a:p>
          <a:p>
            <a:pPr>
              <a:lnSpc>
                <a:spcPct val="150000"/>
              </a:lnSpc>
              <a:buFont typeface="Wingdings" pitchFamily="2" charset="2"/>
              <a:buChar char="Ø"/>
            </a:pPr>
            <a:r>
              <a:rPr lang="en-US" altLang="zh-CN" sz="1400" dirty="0" smtClean="0">
                <a:solidFill>
                  <a:schemeClr val="dk1"/>
                </a:solidFill>
                <a:latin typeface="微软雅黑" pitchFamily="34" charset="-122"/>
                <a:ea typeface="微软雅黑" pitchFamily="34" charset="-122"/>
              </a:rPr>
              <a:t> </a:t>
            </a:r>
            <a:r>
              <a:rPr lang="zh-CN" altLang="en-US" sz="1400" dirty="0" smtClean="0">
                <a:solidFill>
                  <a:schemeClr val="dk1"/>
                </a:solidFill>
                <a:latin typeface="微软雅黑" pitchFamily="34" charset="-122"/>
                <a:ea typeface="微软雅黑" pitchFamily="34" charset="-122"/>
              </a:rPr>
              <a:t>腾讯微信资源属于省内引入的</a:t>
            </a:r>
            <a:r>
              <a:rPr lang="en-US" altLang="zh-CN" sz="1400" dirty="0" smtClean="0">
                <a:solidFill>
                  <a:schemeClr val="dk1"/>
                </a:solidFill>
                <a:latin typeface="微软雅黑" pitchFamily="34" charset="-122"/>
                <a:ea typeface="微软雅黑" pitchFamily="34" charset="-122"/>
              </a:rPr>
              <a:t>IDC</a:t>
            </a:r>
            <a:r>
              <a:rPr lang="zh-CN" altLang="en-US" sz="1400" dirty="0" smtClean="0">
                <a:solidFill>
                  <a:schemeClr val="dk1"/>
                </a:solidFill>
                <a:latin typeface="微软雅黑" pitchFamily="34" charset="-122"/>
                <a:ea typeface="微软雅黑" pitchFamily="34" charset="-122"/>
              </a:rPr>
              <a:t>资源，借鉴前期故障处理经验，本地配置</a:t>
            </a:r>
            <a:r>
              <a:rPr lang="en-US" altLang="zh-CN" sz="1400" dirty="0" err="1" smtClean="0">
                <a:solidFill>
                  <a:schemeClr val="dk1"/>
                </a:solidFill>
                <a:latin typeface="微软雅黑" pitchFamily="34" charset="-122"/>
                <a:ea typeface="微软雅黑" pitchFamily="34" charset="-122"/>
              </a:rPr>
              <a:t>wlan</a:t>
            </a:r>
            <a:r>
              <a:rPr lang="zh-CN" altLang="en-US" sz="1400" dirty="0" smtClean="0">
                <a:solidFill>
                  <a:schemeClr val="dk1"/>
                </a:solidFill>
                <a:latin typeface="微软雅黑" pitchFamily="34" charset="-122"/>
                <a:ea typeface="微软雅黑" pitchFamily="34" charset="-122"/>
              </a:rPr>
              <a:t>公网和私网地址抓包测试分析，测试发现公网地址可以正常访问，</a:t>
            </a:r>
            <a:r>
              <a:rPr lang="en-US" altLang="zh-CN" sz="1400" dirty="0" err="1" smtClean="0">
                <a:solidFill>
                  <a:schemeClr val="dk1"/>
                </a:solidFill>
                <a:latin typeface="微软雅黑" pitchFamily="34" charset="-122"/>
                <a:ea typeface="微软雅黑" pitchFamily="34" charset="-122"/>
              </a:rPr>
              <a:t>wlan</a:t>
            </a:r>
            <a:r>
              <a:rPr lang="zh-CN" altLang="en-US" sz="1400" dirty="0" smtClean="0">
                <a:solidFill>
                  <a:schemeClr val="dk1"/>
                </a:solidFill>
                <a:latin typeface="微软雅黑" pitchFamily="34" charset="-122"/>
                <a:ea typeface="微软雅黑" pitchFamily="34" charset="-122"/>
              </a:rPr>
              <a:t>私网地址</a:t>
            </a:r>
            <a:r>
              <a:rPr lang="zh-CN" altLang="en-US" sz="1400" dirty="0" smtClean="0">
                <a:latin typeface="微软雅黑" pitchFamily="34" charset="-122"/>
                <a:ea typeface="微软雅黑" pitchFamily="34" charset="-122"/>
              </a:rPr>
              <a:t>打开视频处于一直缓冲状态，定位为</a:t>
            </a:r>
            <a:r>
              <a:rPr lang="en-US" altLang="zh-CN" sz="1400" dirty="0" err="1" smtClean="0">
                <a:latin typeface="微软雅黑" pitchFamily="34" charset="-122"/>
                <a:ea typeface="微软雅黑" pitchFamily="34" charset="-122"/>
              </a:rPr>
              <a:t>wlan</a:t>
            </a:r>
            <a:r>
              <a:rPr lang="zh-CN" altLang="en-US" sz="1400" dirty="0" smtClean="0">
                <a:latin typeface="微软雅黑" pitchFamily="34" charset="-122"/>
                <a:ea typeface="微软雅黑" pitchFamily="34" charset="-122"/>
              </a:rPr>
              <a:t>私网地址到省内微信</a:t>
            </a:r>
            <a:r>
              <a:rPr lang="en-US" altLang="zh-CN" sz="1400" dirty="0" smtClean="0">
                <a:latin typeface="微软雅黑" pitchFamily="34" charset="-122"/>
                <a:ea typeface="微软雅黑" pitchFamily="34" charset="-122"/>
              </a:rPr>
              <a:t>IDC</a:t>
            </a:r>
            <a:r>
              <a:rPr lang="zh-CN" altLang="en-US" sz="1400" dirty="0" smtClean="0">
                <a:latin typeface="微软雅黑" pitchFamily="34" charset="-122"/>
                <a:ea typeface="微软雅黑" pitchFamily="34" charset="-122"/>
              </a:rPr>
              <a:t>服务器不通问题导致。</a:t>
            </a:r>
            <a:endParaRPr lang="en-US" altLang="zh-CN" sz="1400" dirty="0" smtClean="0">
              <a:latin typeface="微软雅黑" pitchFamily="34" charset="-122"/>
              <a:ea typeface="微软雅黑"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2248" y="76846"/>
            <a:ext cx="8280920" cy="461665"/>
          </a:xfrm>
          <a:prstGeom prst="rect">
            <a:avLst/>
          </a:prstGeom>
          <a:noFill/>
        </p:spPr>
        <p:txBody>
          <a:bodyPr wrap="square" lIns="91431" tIns="45715" rIns="91431" bIns="45715" rtlCol="0">
            <a:spAutoFit/>
          </a:bodyPr>
          <a:lstStyle/>
          <a:p>
            <a:pPr>
              <a:defRPr/>
            </a:pPr>
            <a:r>
              <a:rPr lang="zh-CN" altLang="en-US" sz="2400" b="1" dirty="0" smtClean="0">
                <a:solidFill>
                  <a:schemeClr val="bg1"/>
                </a:solidFill>
                <a:latin typeface="+mn-ea"/>
              </a:rPr>
              <a:t>案例</a:t>
            </a:r>
            <a:r>
              <a:rPr lang="en-US" altLang="zh-CN" sz="2400" b="1" dirty="0" smtClean="0">
                <a:solidFill>
                  <a:schemeClr val="bg1"/>
                </a:solidFill>
                <a:latin typeface="+mn-ea"/>
              </a:rPr>
              <a:t>25</a:t>
            </a:r>
            <a:r>
              <a:rPr lang="zh-CN" altLang="en-US" sz="2400" b="1" dirty="0" smtClean="0">
                <a:solidFill>
                  <a:schemeClr val="bg1"/>
                </a:solidFill>
                <a:latin typeface="+mn-ea"/>
              </a:rPr>
              <a:t>：</a:t>
            </a:r>
            <a:r>
              <a:rPr lang="zh-CN" altLang="en-US" sz="2400" b="1" dirty="0" smtClean="0">
                <a:solidFill>
                  <a:schemeClr val="bg1"/>
                </a:solidFill>
                <a:latin typeface="微软雅黑" pitchFamily="34" charset="-122"/>
                <a:ea typeface="微软雅黑" pitchFamily="34" charset="-122"/>
                <a:sym typeface="Wingdings"/>
              </a:rPr>
              <a:t>威海微波站点业务不畅协同排查</a:t>
            </a:r>
            <a:endParaRPr lang="zh-CN" altLang="en-US" sz="2400" b="1" dirty="0">
              <a:solidFill>
                <a:schemeClr val="bg1"/>
              </a:solidFill>
              <a:latin typeface="微软雅黑" pitchFamily="34" charset="-122"/>
              <a:ea typeface="微软雅黑" pitchFamily="34" charset="-122"/>
              <a:sym typeface="Wingdings"/>
            </a:endParaRPr>
          </a:p>
        </p:txBody>
      </p:sp>
      <p:sp>
        <p:nvSpPr>
          <p:cNvPr id="3" name="TextBox 36"/>
          <p:cNvSpPr txBox="1">
            <a:spLocks noChangeArrowheads="1"/>
          </p:cNvSpPr>
          <p:nvPr/>
        </p:nvSpPr>
        <p:spPr bwMode="auto">
          <a:xfrm>
            <a:off x="120644" y="998561"/>
            <a:ext cx="4525303"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91431" tIns="45715" rIns="91431" bIns="45715">
            <a:spAutoFit/>
          </a:bodyPr>
          <a:lstStyle/>
          <a:p>
            <a:pPr>
              <a:buFont typeface="Wingdings" pitchFamily="2" charset="2"/>
              <a:buChar char="Ø"/>
              <a:defRPr/>
            </a:pPr>
            <a:r>
              <a:rPr lang="zh-CN" altLang="en-US" sz="1400" dirty="0" smtClean="0">
                <a:latin typeface="微软雅黑" pitchFamily="34" charset="-122"/>
                <a:ea typeface="微软雅黑" pitchFamily="34" charset="-122"/>
              </a:rPr>
              <a:t>威海“温泉高管处”频繁出现</a:t>
            </a:r>
            <a:r>
              <a:rPr lang="en-US" altLang="zh-CN" sz="1400" dirty="0" smtClean="0">
                <a:latin typeface="微软雅黑" pitchFamily="34" charset="-122"/>
                <a:ea typeface="微软雅黑" pitchFamily="34" charset="-122"/>
              </a:rPr>
              <a:t>X2</a:t>
            </a:r>
            <a:r>
              <a:rPr lang="zh-CN" altLang="en-US" sz="1400" dirty="0" smtClean="0">
                <a:latin typeface="微软雅黑" pitchFamily="34" charset="-122"/>
                <a:ea typeface="微软雅黑" pitchFamily="34" charset="-122"/>
              </a:rPr>
              <a:t>告警，发现大包丢失率</a:t>
            </a:r>
            <a:r>
              <a:rPr lang="en-US" altLang="zh-CN" sz="1400" dirty="0" smtClean="0">
                <a:latin typeface="微软雅黑" pitchFamily="34" charset="-122"/>
                <a:ea typeface="微软雅黑" pitchFamily="34" charset="-122"/>
              </a:rPr>
              <a:t>100%</a:t>
            </a:r>
            <a:r>
              <a:rPr lang="zh-CN" altLang="en-US" sz="1400" dirty="0" smtClean="0">
                <a:latin typeface="微软雅黑" pitchFamily="34" charset="-122"/>
                <a:ea typeface="微软雅黑" pitchFamily="34" charset="-122"/>
              </a:rPr>
              <a:t>，</a:t>
            </a:r>
            <a:r>
              <a:rPr lang="en-US" altLang="zh-CN" sz="1400" dirty="0" smtClean="0">
                <a:latin typeface="微软雅黑" pitchFamily="34" charset="-122"/>
                <a:ea typeface="微软雅黑" pitchFamily="34" charset="-122"/>
              </a:rPr>
              <a:t>ping</a:t>
            </a:r>
            <a:r>
              <a:rPr lang="zh-CN" altLang="en-US" sz="1400" dirty="0" smtClean="0">
                <a:latin typeface="微软雅黑" pitchFamily="34" charset="-122"/>
                <a:ea typeface="微软雅黑" pitchFamily="34" charset="-122"/>
              </a:rPr>
              <a:t>小包没有问题。</a:t>
            </a:r>
            <a:endParaRPr lang="en-US" altLang="zh-CN" sz="1400" dirty="0">
              <a:latin typeface="微软雅黑" pitchFamily="34" charset="-122"/>
              <a:ea typeface="微软雅黑" pitchFamily="34" charset="-122"/>
            </a:endParaRPr>
          </a:p>
        </p:txBody>
      </p:sp>
      <p:sp>
        <p:nvSpPr>
          <p:cNvPr id="4" name="Rectangle 128"/>
          <p:cNvSpPr>
            <a:spLocks noChangeArrowheads="1"/>
          </p:cNvSpPr>
          <p:nvPr/>
        </p:nvSpPr>
        <p:spPr bwMode="auto">
          <a:xfrm flipV="1">
            <a:off x="120644" y="2075347"/>
            <a:ext cx="4686921" cy="20969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lIns="75007" tIns="39004" rIns="75007" bIns="39004" anchor="ctr"/>
          <a:lstStyle/>
          <a:p>
            <a:pPr defTabSz="761923">
              <a:defRPr/>
            </a:pPr>
            <a:endParaRPr lang="zh-CN" altLang="en-US" sz="1400" dirty="0">
              <a:latin typeface="微软雅黑" pitchFamily="34" charset="-122"/>
              <a:ea typeface="微软雅黑" pitchFamily="34" charset="-122"/>
            </a:endParaRPr>
          </a:p>
        </p:txBody>
      </p:sp>
      <p:sp>
        <p:nvSpPr>
          <p:cNvPr id="5" name="AutoShape 8"/>
          <p:cNvSpPr>
            <a:spLocks noChangeArrowheads="1"/>
          </p:cNvSpPr>
          <p:nvPr/>
        </p:nvSpPr>
        <p:spPr bwMode="gray">
          <a:xfrm>
            <a:off x="1" y="1678637"/>
            <a:ext cx="2020253" cy="283618"/>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问题分析</a:t>
            </a:r>
            <a:endParaRPr lang="en-US" altLang="zh-CN" sz="1600" b="1" dirty="0">
              <a:latin typeface="Arial" pitchFamily="34" charset="0"/>
              <a:ea typeface="微软雅黑" pitchFamily="34" charset="-122"/>
            </a:endParaRPr>
          </a:p>
        </p:txBody>
      </p:sp>
      <p:sp>
        <p:nvSpPr>
          <p:cNvPr id="6" name="TextBox 60"/>
          <p:cNvSpPr txBox="1">
            <a:spLocks noChangeArrowheads="1"/>
          </p:cNvSpPr>
          <p:nvPr/>
        </p:nvSpPr>
        <p:spPr bwMode="auto">
          <a:xfrm>
            <a:off x="120645" y="4561803"/>
            <a:ext cx="9939503" cy="692497"/>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91431" tIns="45715" rIns="91431" bIns="45715">
            <a:spAutoFit/>
          </a:bodyPr>
          <a:lstStyle/>
          <a:p>
            <a:pPr>
              <a:defRPr/>
            </a:pPr>
            <a:r>
              <a:rPr lang="zh-CN" altLang="en-US" sz="1300" dirty="0" smtClean="0">
                <a:latin typeface="微软雅黑" pitchFamily="34" charset="-122"/>
                <a:ea typeface="微软雅黑" pitchFamily="34" charset="-122"/>
              </a:rPr>
              <a:t>       华为微波传输设备端口</a:t>
            </a:r>
            <a:r>
              <a:rPr lang="zh-CN" altLang="zh-CN" sz="1300" dirty="0" smtClean="0">
                <a:latin typeface="微软雅黑" pitchFamily="34" charset="-122"/>
                <a:ea typeface="微软雅黑" pitchFamily="34" charset="-122"/>
              </a:rPr>
              <a:t>的</a:t>
            </a:r>
            <a:r>
              <a:rPr lang="en-US" altLang="zh-CN" sz="1300" dirty="0" smtClean="0">
                <a:latin typeface="微软雅黑" pitchFamily="34" charset="-122"/>
                <a:ea typeface="微软雅黑" pitchFamily="34" charset="-122"/>
              </a:rPr>
              <a:t>MTU</a:t>
            </a:r>
            <a:r>
              <a:rPr lang="zh-CN" altLang="zh-CN" sz="1300" dirty="0" smtClean="0">
                <a:latin typeface="微软雅黑" pitchFamily="34" charset="-122"/>
                <a:ea typeface="微软雅黑" pitchFamily="34" charset="-122"/>
              </a:rPr>
              <a:t>值设置为</a:t>
            </a:r>
            <a:r>
              <a:rPr lang="en-US" altLang="zh-CN" sz="1300" dirty="0" smtClean="0">
                <a:latin typeface="微软雅黑" pitchFamily="34" charset="-122"/>
                <a:ea typeface="微软雅黑" pitchFamily="34" charset="-122"/>
              </a:rPr>
              <a:t>1522</a:t>
            </a:r>
            <a:r>
              <a:rPr lang="zh-CN" altLang="zh-CN" sz="1300" dirty="0" smtClean="0">
                <a:latin typeface="微软雅黑" pitchFamily="34" charset="-122"/>
                <a:ea typeface="微软雅黑" pitchFamily="34" charset="-122"/>
              </a:rPr>
              <a:t>字节，当用户进行大包操作时</a:t>
            </a:r>
            <a:r>
              <a:rPr lang="zh-CN" altLang="en-US" sz="1300" dirty="0" smtClean="0">
                <a:latin typeface="微软雅黑" pitchFamily="34" charset="-122"/>
                <a:ea typeface="微软雅黑" pitchFamily="34" charset="-122"/>
              </a:rPr>
              <a:t>，</a:t>
            </a:r>
            <a:r>
              <a:rPr lang="zh-CN" altLang="zh-CN" sz="1300" dirty="0" smtClean="0">
                <a:latin typeface="微软雅黑" pitchFamily="34" charset="-122"/>
                <a:ea typeface="微软雅黑" pitchFamily="34" charset="-122"/>
              </a:rPr>
              <a:t>包的字节数大于了</a:t>
            </a:r>
            <a:r>
              <a:rPr lang="zh-CN" altLang="en-US" sz="1300" dirty="0" smtClean="0">
                <a:latin typeface="微软雅黑" pitchFamily="34" charset="-122"/>
                <a:ea typeface="微软雅黑" pitchFamily="34" charset="-122"/>
              </a:rPr>
              <a:t>微波</a:t>
            </a:r>
            <a:r>
              <a:rPr lang="zh-CN" altLang="zh-CN" sz="1300" dirty="0" smtClean="0">
                <a:latin typeface="微软雅黑" pitchFamily="34" charset="-122"/>
                <a:ea typeface="微软雅黑" pitchFamily="34" charset="-122"/>
              </a:rPr>
              <a:t>中限制的</a:t>
            </a:r>
            <a:r>
              <a:rPr lang="en-US" altLang="zh-CN" sz="1300" dirty="0" smtClean="0">
                <a:latin typeface="微软雅黑" pitchFamily="34" charset="-122"/>
                <a:ea typeface="微软雅黑" pitchFamily="34" charset="-122"/>
              </a:rPr>
              <a:t>1522</a:t>
            </a:r>
            <a:r>
              <a:rPr lang="zh-CN" altLang="zh-CN" sz="1300" dirty="0" smtClean="0">
                <a:latin typeface="微软雅黑" pitchFamily="34" charset="-122"/>
                <a:ea typeface="微软雅黑" pitchFamily="34" charset="-122"/>
              </a:rPr>
              <a:t>字节，导致大包业务被截断。所以终端在进行图片等大包业务时不成功，而发送文字等小包业务时可以成功。传输修改该两处站点</a:t>
            </a:r>
            <a:r>
              <a:rPr lang="en-US" altLang="zh-CN" sz="1300" dirty="0" smtClean="0">
                <a:latin typeface="微软雅黑" pitchFamily="34" charset="-122"/>
                <a:ea typeface="微软雅黑" pitchFamily="34" charset="-122"/>
              </a:rPr>
              <a:t>MTU</a:t>
            </a:r>
            <a:r>
              <a:rPr lang="zh-CN" altLang="zh-CN" sz="1300" dirty="0" smtClean="0">
                <a:latin typeface="微软雅黑" pitchFamily="34" charset="-122"/>
                <a:ea typeface="微软雅黑" pitchFamily="34" charset="-122"/>
              </a:rPr>
              <a:t>值后，后台</a:t>
            </a:r>
            <a:r>
              <a:rPr lang="en-US" altLang="zh-CN" sz="1300" dirty="0" smtClean="0">
                <a:latin typeface="微软雅黑" pitchFamily="34" charset="-122"/>
                <a:ea typeface="微软雅黑" pitchFamily="34" charset="-122"/>
              </a:rPr>
              <a:t>PING</a:t>
            </a:r>
            <a:r>
              <a:rPr lang="zh-CN" altLang="zh-CN" sz="1300" dirty="0" smtClean="0">
                <a:latin typeface="微软雅黑" pitchFamily="34" charset="-122"/>
                <a:ea typeface="微软雅黑" pitchFamily="34" charset="-122"/>
              </a:rPr>
              <a:t>大包发现已恢复正常 </a:t>
            </a:r>
            <a:r>
              <a:rPr lang="zh-CN" altLang="en-US" sz="1300" dirty="0" smtClean="0">
                <a:latin typeface="微软雅黑" pitchFamily="34" charset="-122"/>
                <a:ea typeface="微软雅黑" pitchFamily="34" charset="-122"/>
              </a:rPr>
              <a:t>。</a:t>
            </a:r>
            <a:endParaRPr lang="zh-CN" altLang="zh-CN" sz="1300" dirty="0">
              <a:latin typeface="微软雅黑" pitchFamily="34" charset="-122"/>
              <a:ea typeface="微软雅黑" pitchFamily="34" charset="-122"/>
            </a:endParaRPr>
          </a:p>
        </p:txBody>
      </p:sp>
      <p:sp>
        <p:nvSpPr>
          <p:cNvPr id="7" name="AutoShape 8"/>
          <p:cNvSpPr>
            <a:spLocks noChangeArrowheads="1"/>
          </p:cNvSpPr>
          <p:nvPr/>
        </p:nvSpPr>
        <p:spPr bwMode="gray">
          <a:xfrm>
            <a:off x="1" y="4228921"/>
            <a:ext cx="2020253" cy="283619"/>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问题解决</a:t>
            </a:r>
            <a:endParaRPr lang="en-US" altLang="zh-CN" sz="1600" b="1" dirty="0">
              <a:latin typeface="Arial" pitchFamily="34" charset="0"/>
              <a:ea typeface="微软雅黑" pitchFamily="34" charset="-122"/>
            </a:endParaRPr>
          </a:p>
        </p:txBody>
      </p:sp>
      <p:sp>
        <p:nvSpPr>
          <p:cNvPr id="8" name="AutoShape 8"/>
          <p:cNvSpPr>
            <a:spLocks noChangeArrowheads="1"/>
          </p:cNvSpPr>
          <p:nvPr/>
        </p:nvSpPr>
        <p:spPr bwMode="gray">
          <a:xfrm>
            <a:off x="0" y="601538"/>
            <a:ext cx="1916924" cy="267376"/>
          </a:xfrm>
          <a:prstGeom prst="roundRect">
            <a:avLst/>
          </a:prstGeom>
          <a:solidFill>
            <a:schemeClr val="accent1"/>
          </a:solidFill>
          <a:ln>
            <a:solidFill>
              <a:schemeClr val="bg1"/>
            </a:solidFill>
            <a:headEnd/>
            <a:tailEnd/>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marL="0" lvl="1">
              <a:lnSpc>
                <a:spcPct val="130000"/>
              </a:lnSpc>
              <a:defRPr/>
            </a:pPr>
            <a:r>
              <a:rPr lang="zh-CN" altLang="en-US" sz="1600" b="1" dirty="0">
                <a:latin typeface="Arial" pitchFamily="34" charset="0"/>
                <a:ea typeface="微软雅黑" pitchFamily="34" charset="-122"/>
              </a:rPr>
              <a:t>问题描述</a:t>
            </a:r>
            <a:endParaRPr lang="en-US" altLang="zh-CN" sz="1600" b="1" dirty="0">
              <a:latin typeface="Arial" pitchFamily="34" charset="0"/>
              <a:ea typeface="微软雅黑" pitchFamily="34" charset="-122"/>
            </a:endParaRPr>
          </a:p>
        </p:txBody>
      </p:sp>
      <p:pic>
        <p:nvPicPr>
          <p:cNvPr id="9" name="Picture 2" descr="C:\Documents and Settings\Administrator\My Documents\Fetion\312350678\temp\1d4f9aa5afd784ae265237c765c63993.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888373" y="715196"/>
            <a:ext cx="5252584" cy="3400378"/>
          </a:xfrm>
          <a:prstGeom prst="rect">
            <a:avLst/>
          </a:prstGeom>
          <a:noFill/>
          <a:ln>
            <a:solidFill>
              <a:schemeClr val="accent1"/>
            </a:solidFill>
          </a:ln>
          <a:extLst>
            <a:ext uri="{909E8E84-426E-40DD-AFC4-6F175D3DCCD1}">
              <a14:hiddenFill xmlns:a14="http://schemas.microsoft.com/office/drawing/2010/main" xmlns="">
                <a:solidFill>
                  <a:srgbClr val="FFFFFF"/>
                </a:solidFill>
              </a14:hiddenFill>
            </a:ext>
          </a:extLst>
        </p:spPr>
      </p:pic>
      <p:sp>
        <p:nvSpPr>
          <p:cNvPr id="10" name="TextBox 46"/>
          <p:cNvSpPr txBox="1">
            <a:spLocks noChangeArrowheads="1"/>
          </p:cNvSpPr>
          <p:nvPr/>
        </p:nvSpPr>
        <p:spPr bwMode="auto">
          <a:xfrm>
            <a:off x="201452" y="2132021"/>
            <a:ext cx="4606112" cy="18928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31" tIns="45715" rIns="91431" bIns="45715">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285721" indent="-285721"/>
            <a:r>
              <a:rPr lang="en-US" altLang="zh-CN" sz="1300" dirty="0" smtClean="0">
                <a:latin typeface="微软雅黑" pitchFamily="34" charset="-122"/>
                <a:ea typeface="微软雅黑" pitchFamily="34" charset="-122"/>
              </a:rPr>
              <a:t>1</a:t>
            </a:r>
            <a:r>
              <a:rPr lang="zh-CN" altLang="en-US" sz="1300" dirty="0" smtClean="0">
                <a:latin typeface="微软雅黑" pitchFamily="34" charset="-122"/>
                <a:ea typeface="微软雅黑" pitchFamily="34" charset="-122"/>
              </a:rPr>
              <a:t>、</a:t>
            </a:r>
            <a:r>
              <a:rPr lang="zh-CN" altLang="zh-CN" sz="1300" dirty="0" smtClean="0">
                <a:latin typeface="微软雅黑" pitchFamily="34" charset="-122"/>
                <a:ea typeface="微软雅黑" pitchFamily="34" charset="-122"/>
              </a:rPr>
              <a:t>排查终端和笔记本、</a:t>
            </a:r>
            <a:r>
              <a:rPr lang="en-US" altLang="zh-CN" sz="1300" dirty="0" smtClean="0">
                <a:latin typeface="微软雅黑" pitchFamily="34" charset="-122"/>
                <a:ea typeface="微软雅黑" pitchFamily="34" charset="-122"/>
              </a:rPr>
              <a:t>FTP</a:t>
            </a:r>
            <a:r>
              <a:rPr lang="zh-CN" altLang="zh-CN" sz="1300" dirty="0" smtClean="0">
                <a:latin typeface="微软雅黑" pitchFamily="34" charset="-122"/>
                <a:ea typeface="微软雅黑" pitchFamily="34" charset="-122"/>
              </a:rPr>
              <a:t>服务器；</a:t>
            </a:r>
            <a:endParaRPr lang="en-US" altLang="zh-CN" sz="1300" dirty="0" smtClean="0">
              <a:latin typeface="微软雅黑" pitchFamily="34" charset="-122"/>
              <a:ea typeface="微软雅黑" pitchFamily="34" charset="-122"/>
            </a:endParaRPr>
          </a:p>
          <a:p>
            <a:pPr marL="285721" indent="-285721"/>
            <a:r>
              <a:rPr lang="en-US" altLang="zh-CN" sz="1300" dirty="0" smtClean="0">
                <a:latin typeface="微软雅黑" pitchFamily="34" charset="-122"/>
                <a:ea typeface="微软雅黑" pitchFamily="34" charset="-122"/>
              </a:rPr>
              <a:t>2</a:t>
            </a:r>
            <a:r>
              <a:rPr lang="zh-CN" altLang="en-US" sz="1300" dirty="0" smtClean="0">
                <a:latin typeface="微软雅黑" pitchFamily="34" charset="-122"/>
                <a:ea typeface="微软雅黑" pitchFamily="34" charset="-122"/>
              </a:rPr>
              <a:t>、</a:t>
            </a:r>
            <a:r>
              <a:rPr lang="zh-CN" altLang="zh-CN" sz="1300" dirty="0" smtClean="0">
                <a:latin typeface="微软雅黑" pitchFamily="34" charset="-122"/>
                <a:ea typeface="微软雅黑" pitchFamily="34" charset="-122"/>
              </a:rPr>
              <a:t>参数核查：后台对本站点参数对比无异常，无告警；</a:t>
            </a:r>
          </a:p>
          <a:p>
            <a:pPr marL="285721" indent="-285721"/>
            <a:r>
              <a:rPr lang="en-US" altLang="zh-CN" sz="1300" dirty="0" smtClean="0">
                <a:latin typeface="微软雅黑" pitchFamily="34" charset="-122"/>
                <a:ea typeface="微软雅黑" pitchFamily="34" charset="-122"/>
              </a:rPr>
              <a:t>3</a:t>
            </a:r>
            <a:r>
              <a:rPr lang="zh-CN" altLang="en-US" sz="1300" dirty="0" smtClean="0">
                <a:latin typeface="微软雅黑" pitchFamily="34" charset="-122"/>
                <a:ea typeface="微软雅黑" pitchFamily="34" charset="-122"/>
              </a:rPr>
              <a:t>、</a:t>
            </a:r>
            <a:r>
              <a:rPr lang="zh-CN" altLang="zh-CN" sz="1300" dirty="0" smtClean="0">
                <a:latin typeface="微软雅黑" pitchFamily="34" charset="-122"/>
                <a:ea typeface="微软雅黑" pitchFamily="34" charset="-122"/>
              </a:rPr>
              <a:t>排查无线环境：无线环境及覆盖良好，其它业务均达标；</a:t>
            </a:r>
          </a:p>
          <a:p>
            <a:r>
              <a:rPr lang="zh-CN" altLang="zh-CN" sz="1300" dirty="0" smtClean="0">
                <a:latin typeface="微软雅黑" pitchFamily="34" charset="-122"/>
                <a:ea typeface="微软雅黑" pitchFamily="34" charset="-122"/>
              </a:rPr>
              <a:t>通过维护工具</a:t>
            </a:r>
            <a:r>
              <a:rPr lang="en-US" altLang="zh-CN" sz="1300" dirty="0" err="1" smtClean="0">
                <a:latin typeface="微软雅黑" pitchFamily="34" charset="-122"/>
                <a:ea typeface="微软雅黑" pitchFamily="34" charset="-122"/>
              </a:rPr>
              <a:t>iSStar</a:t>
            </a:r>
            <a:r>
              <a:rPr lang="zh-CN" altLang="zh-CN" sz="1300" dirty="0" smtClean="0">
                <a:latin typeface="微软雅黑" pitchFamily="34" charset="-122"/>
                <a:ea typeface="微软雅黑" pitchFamily="34" charset="-122"/>
              </a:rPr>
              <a:t>对全网站点传输性能进行分析，发现</a:t>
            </a:r>
            <a:r>
              <a:rPr lang="zh-CN" altLang="en-US" sz="1300" dirty="0" smtClean="0">
                <a:latin typeface="微软雅黑" pitchFamily="34" charset="-122"/>
                <a:ea typeface="微软雅黑" pitchFamily="34" charset="-122"/>
              </a:rPr>
              <a:t>纹石宝滩以及滨海新城</a:t>
            </a:r>
            <a:r>
              <a:rPr lang="zh-CN" altLang="zh-CN" sz="1300" dirty="0" smtClean="0">
                <a:latin typeface="微软雅黑" pitchFamily="34" charset="-122"/>
                <a:ea typeface="微软雅黑" pitchFamily="34" charset="-122"/>
              </a:rPr>
              <a:t>站点在</a:t>
            </a:r>
            <a:r>
              <a:rPr lang="en-US" altLang="zh-CN" sz="1300" dirty="0" smtClean="0">
                <a:latin typeface="微软雅黑" pitchFamily="34" charset="-122"/>
                <a:ea typeface="微软雅黑" pitchFamily="34" charset="-122"/>
              </a:rPr>
              <a:t>ping</a:t>
            </a:r>
            <a:r>
              <a:rPr lang="zh-CN" altLang="zh-CN" sz="1300" dirty="0" smtClean="0">
                <a:latin typeface="微软雅黑" pitchFamily="34" charset="-122"/>
                <a:ea typeface="微软雅黑" pitchFamily="34" charset="-122"/>
              </a:rPr>
              <a:t>包为</a:t>
            </a:r>
            <a:r>
              <a:rPr lang="en-US" altLang="zh-CN" sz="1300" dirty="0" smtClean="0">
                <a:latin typeface="微软雅黑" pitchFamily="34" charset="-122"/>
                <a:ea typeface="微软雅黑" pitchFamily="34" charset="-122"/>
              </a:rPr>
              <a:t>1600</a:t>
            </a:r>
            <a:r>
              <a:rPr lang="zh-CN" altLang="zh-CN" sz="1300" dirty="0" smtClean="0">
                <a:latin typeface="微软雅黑" pitchFamily="34" charset="-122"/>
                <a:ea typeface="微软雅黑" pitchFamily="34" charset="-122"/>
              </a:rPr>
              <a:t>字节时丢包率为</a:t>
            </a:r>
            <a:r>
              <a:rPr lang="en-US" altLang="zh-CN" sz="1300" dirty="0" smtClean="0">
                <a:latin typeface="微软雅黑" pitchFamily="34" charset="-122"/>
                <a:ea typeface="微软雅黑" pitchFamily="34" charset="-122"/>
              </a:rPr>
              <a:t>100%</a:t>
            </a:r>
            <a:r>
              <a:rPr lang="zh-CN" altLang="zh-CN" sz="1300" dirty="0" smtClean="0">
                <a:latin typeface="微软雅黑" pitchFamily="34" charset="-122"/>
                <a:ea typeface="微软雅黑" pitchFamily="34" charset="-122"/>
              </a:rPr>
              <a:t>，而</a:t>
            </a:r>
            <a:r>
              <a:rPr lang="en-US" altLang="zh-CN" sz="1300" dirty="0" smtClean="0">
                <a:latin typeface="微软雅黑" pitchFamily="34" charset="-122"/>
                <a:ea typeface="微软雅黑" pitchFamily="34" charset="-122"/>
              </a:rPr>
              <a:t>ping</a:t>
            </a:r>
            <a:r>
              <a:rPr lang="zh-CN" altLang="zh-CN" sz="1300" dirty="0" smtClean="0">
                <a:latin typeface="微软雅黑" pitchFamily="34" charset="-122"/>
                <a:ea typeface="微软雅黑" pitchFamily="34" charset="-122"/>
              </a:rPr>
              <a:t>包为</a:t>
            </a:r>
            <a:r>
              <a:rPr lang="en-US" altLang="zh-CN" sz="1300" dirty="0" smtClean="0">
                <a:latin typeface="微软雅黑" pitchFamily="34" charset="-122"/>
                <a:ea typeface="微软雅黑" pitchFamily="34" charset="-122"/>
              </a:rPr>
              <a:t>32</a:t>
            </a:r>
            <a:r>
              <a:rPr lang="zh-CN" altLang="zh-CN" sz="1300" dirty="0" smtClean="0">
                <a:latin typeface="微软雅黑" pitchFamily="34" charset="-122"/>
                <a:ea typeface="微软雅黑" pitchFamily="34" charset="-122"/>
              </a:rPr>
              <a:t>字节和</a:t>
            </a:r>
            <a:r>
              <a:rPr lang="en-US" altLang="zh-CN" sz="1300" dirty="0" smtClean="0">
                <a:latin typeface="微软雅黑" pitchFamily="34" charset="-122"/>
                <a:ea typeface="微软雅黑" pitchFamily="34" charset="-122"/>
              </a:rPr>
              <a:t>1400</a:t>
            </a:r>
            <a:r>
              <a:rPr lang="zh-CN" altLang="zh-CN" sz="1300" dirty="0" smtClean="0">
                <a:latin typeface="微软雅黑" pitchFamily="34" charset="-122"/>
                <a:ea typeface="微软雅黑" pitchFamily="34" charset="-122"/>
              </a:rPr>
              <a:t>字节时均正常，如</a:t>
            </a:r>
            <a:r>
              <a:rPr lang="zh-CN" altLang="en-US" sz="1300" dirty="0" smtClean="0">
                <a:latin typeface="微软雅黑" pitchFamily="34" charset="-122"/>
                <a:ea typeface="微软雅黑" pitchFamily="34" charset="-122"/>
              </a:rPr>
              <a:t>右</a:t>
            </a:r>
            <a:r>
              <a:rPr lang="zh-CN" altLang="zh-CN" sz="1300" dirty="0" smtClean="0">
                <a:latin typeface="微软雅黑" pitchFamily="34" charset="-122"/>
                <a:ea typeface="微软雅黑" pitchFamily="34" charset="-122"/>
              </a:rPr>
              <a:t>图所示：</a:t>
            </a:r>
            <a:endParaRPr lang="en-US" altLang="zh-CN" sz="1300" dirty="0" smtClean="0">
              <a:latin typeface="微软雅黑" pitchFamily="34" charset="-122"/>
              <a:ea typeface="微软雅黑" pitchFamily="34" charset="-122"/>
            </a:endParaRPr>
          </a:p>
          <a:p>
            <a:r>
              <a:rPr lang="zh-CN" altLang="en-US" sz="1300" dirty="0" smtClean="0">
                <a:latin typeface="微软雅黑" pitchFamily="34" charset="-122"/>
                <a:ea typeface="微软雅黑" pitchFamily="34" charset="-122"/>
              </a:rPr>
              <a:t>      </a:t>
            </a:r>
            <a:r>
              <a:rPr lang="zh-CN" altLang="zh-CN" sz="1300" dirty="0" smtClean="0">
                <a:latin typeface="微软雅黑" pitchFamily="34" charset="-122"/>
                <a:ea typeface="微软雅黑" pitchFamily="34" charset="-122"/>
              </a:rPr>
              <a:t>怀疑传输侧参数配置出现问题，</a:t>
            </a:r>
            <a:r>
              <a:rPr lang="zh-CN" altLang="en-US" sz="1300" dirty="0" smtClean="0">
                <a:latin typeface="微软雅黑" pitchFamily="34" charset="-122"/>
                <a:ea typeface="微软雅黑" pitchFamily="34" charset="-122"/>
              </a:rPr>
              <a:t>经</a:t>
            </a:r>
            <a:r>
              <a:rPr lang="zh-CN" altLang="zh-CN" sz="1300" dirty="0" smtClean="0">
                <a:latin typeface="微软雅黑" pitchFamily="34" charset="-122"/>
                <a:ea typeface="微软雅黑" pitchFamily="34" charset="-122"/>
              </a:rPr>
              <a:t>协调传输核查参数发现该</a:t>
            </a:r>
            <a:r>
              <a:rPr lang="zh-CN" altLang="en-US" sz="1300" dirty="0" smtClean="0">
                <a:latin typeface="微软雅黑" pitchFamily="34" charset="-122"/>
                <a:ea typeface="微软雅黑" pitchFamily="34" charset="-122"/>
              </a:rPr>
              <a:t>三</a:t>
            </a:r>
            <a:r>
              <a:rPr lang="zh-CN" altLang="zh-CN" sz="1300" dirty="0" smtClean="0">
                <a:latin typeface="微软雅黑" pitchFamily="34" charset="-122"/>
                <a:ea typeface="微软雅黑" pitchFamily="34" charset="-122"/>
              </a:rPr>
              <a:t>处站点</a:t>
            </a:r>
            <a:r>
              <a:rPr lang="en-US" altLang="zh-CN" sz="1300" dirty="0" smtClean="0">
                <a:latin typeface="微软雅黑" pitchFamily="34" charset="-122"/>
                <a:ea typeface="微软雅黑" pitchFamily="34" charset="-122"/>
              </a:rPr>
              <a:t>MTU</a:t>
            </a:r>
            <a:r>
              <a:rPr lang="zh-CN" altLang="zh-CN" sz="1300" dirty="0" smtClean="0">
                <a:latin typeface="微软雅黑" pitchFamily="34" charset="-122"/>
                <a:ea typeface="微软雅黑" pitchFamily="34" charset="-122"/>
              </a:rPr>
              <a:t>值设置过小，问题得到定位。</a:t>
            </a:r>
            <a:endParaRPr lang="en-US" altLang="zh-CN" sz="1300" dirty="0" smtClean="0">
              <a:latin typeface="微软雅黑" pitchFamily="34" charset="-122"/>
              <a:ea typeface="微软雅黑"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690418" y="970051"/>
            <a:ext cx="2305407" cy="646521"/>
          </a:xfrm>
          <a:prstGeom prst="rect">
            <a:avLst/>
          </a:prstGeom>
          <a:noFill/>
        </p:spPr>
        <p:txBody>
          <a:bodyPr wrap="square" lIns="91449" tIns="45724" rIns="91449" bIns="45724" rtlCol="0">
            <a:spAutoFit/>
          </a:bodyPr>
          <a:lstStyle/>
          <a:p>
            <a:r>
              <a:rPr lang="zh-CN" altLang="en-US" sz="3600" b="1" dirty="0">
                <a:solidFill>
                  <a:prstClr val="black">
                    <a:lumMod val="65000"/>
                    <a:lumOff val="35000"/>
                  </a:prstClr>
                </a:solidFill>
                <a:latin typeface="微软雅黑" panose="020B0503020204020204" charset="-122"/>
                <a:ea typeface="微软雅黑" panose="020B0503020204020204" charset="-122"/>
              </a:rPr>
              <a:t>项目总结</a:t>
            </a:r>
          </a:p>
        </p:txBody>
      </p:sp>
      <p:sp>
        <p:nvSpPr>
          <p:cNvPr id="5" name="内容占位符 2">
            <a:extLst>
              <a:ext uri="{FF2B5EF4-FFF2-40B4-BE49-F238E27FC236}">
                <a16:creationId xmlns="" xmlns:a16="http://schemas.microsoft.com/office/drawing/2014/main" id="{3E76974C-F819-494B-9017-B35B7A11732D}"/>
              </a:ext>
            </a:extLst>
          </p:cNvPr>
          <p:cNvSpPr txBox="1"/>
          <p:nvPr/>
        </p:nvSpPr>
        <p:spPr>
          <a:xfrm>
            <a:off x="4122839" y="2334276"/>
            <a:ext cx="2592382" cy="508532"/>
          </a:xfrm>
          <a:prstGeom prst="rect">
            <a:avLst/>
          </a:prstGeom>
        </p:spPr>
        <p:txBody>
          <a:bodyPr lIns="91449" tIns="45724" rIns="91449" bIns="45724"/>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1600" dirty="0" smtClean="0">
                <a:solidFill>
                  <a:prstClr val="black">
                    <a:lumMod val="65000"/>
                    <a:lumOff val="35000"/>
                  </a:prstClr>
                </a:solidFill>
                <a:latin typeface="微软雅黑" panose="020B0503020204020204" charset="-122"/>
                <a:ea typeface="微软雅黑" panose="020B0503020204020204" charset="-122"/>
              </a:rPr>
              <a:t>掌握各种案例的分析方法</a:t>
            </a:r>
            <a:endParaRPr sz="1600" dirty="0">
              <a:solidFill>
                <a:prstClr val="black">
                  <a:lumMod val="65000"/>
                  <a:lumOff val="35000"/>
                </a:prstClr>
              </a:solidFill>
              <a:latin typeface="微软雅黑" panose="020B0503020204020204" charset="-122"/>
              <a:ea typeface="微软雅黑" panose="020B0503020204020204" charset="-122"/>
            </a:endParaRPr>
          </a:p>
        </p:txBody>
      </p:sp>
      <p:sp>
        <p:nvSpPr>
          <p:cNvPr id="6" name="矩形 5">
            <a:extLst>
              <a:ext uri="{FF2B5EF4-FFF2-40B4-BE49-F238E27FC236}">
                <a16:creationId xmlns="" xmlns:a16="http://schemas.microsoft.com/office/drawing/2014/main" id="{F3388219-87BB-482E-B5D7-C807FA5B80F0}"/>
              </a:ext>
            </a:extLst>
          </p:cNvPr>
          <p:cNvSpPr/>
          <p:nvPr/>
        </p:nvSpPr>
        <p:spPr>
          <a:xfrm>
            <a:off x="3594438" y="2285144"/>
            <a:ext cx="341683" cy="348718"/>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9" tIns="45724" rIns="91449" bIns="45724" rtlCol="0" anchor="ctr"/>
          <a:lstStyle/>
          <a:p>
            <a:pPr algn="ctr"/>
            <a:r>
              <a:rPr lang="en-US" altLang="zh-CN" b="1">
                <a:solidFill>
                  <a:prstClr val="white"/>
                </a:solidFill>
              </a:rPr>
              <a:t>1</a:t>
            </a:r>
          </a:p>
        </p:txBody>
      </p:sp>
    </p:spTree>
    <p:extLst>
      <p:ext uri="{BB962C8B-B14F-4D97-AF65-F5344CB8AC3E}">
        <p14:creationId xmlns="" xmlns:p14="http://schemas.microsoft.com/office/powerpoint/2010/main" val="28377509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70982151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1254</TotalTime>
  <Words>7123</Words>
  <Application>Microsoft Office PowerPoint</Application>
  <PresentationFormat>自定义</PresentationFormat>
  <Paragraphs>515</Paragraphs>
  <Slides>43</Slides>
  <Notes>11</Notes>
  <HiddenSlides>0</HiddenSlides>
  <MMClips>0</MMClips>
  <ScaleCrop>false</ScaleCrop>
  <HeadingPairs>
    <vt:vector size="4" baseType="variant">
      <vt:variant>
        <vt:lpstr>主题</vt:lpstr>
      </vt:variant>
      <vt:variant>
        <vt:i4>3</vt:i4>
      </vt:variant>
      <vt:variant>
        <vt:lpstr>幻灯片标题</vt:lpstr>
      </vt:variant>
      <vt:variant>
        <vt:i4>43</vt:i4>
      </vt:variant>
    </vt:vector>
  </HeadingPairs>
  <TitlesOfParts>
    <vt:vector size="46" baseType="lpstr">
      <vt:lpstr>Office 主题</vt:lpstr>
      <vt:lpstr>1_Office 主题</vt:lpstr>
      <vt:lpstr>2_Office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pl</dc:creator>
  <cp:lastModifiedBy>ASUS</cp:lastModifiedBy>
  <cp:revision>101</cp:revision>
  <dcterms:created xsi:type="dcterms:W3CDTF">2014-09-02T05:36:28Z</dcterms:created>
  <dcterms:modified xsi:type="dcterms:W3CDTF">2022-02-25T09:40:56Z</dcterms:modified>
</cp:coreProperties>
</file>