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0.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theme/themeOverride1.xml" ContentType="application/vnd.openxmlformats-officedocument.themeOverr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4" r:id="rId4"/>
    <p:sldMasterId id="2147483674" r:id="rId5"/>
  </p:sldMasterIdLst>
  <p:notesMasterIdLst>
    <p:notesMasterId r:id="rId134"/>
  </p:notesMasterIdLst>
  <p:handoutMasterIdLst>
    <p:handoutMasterId r:id="rId135"/>
  </p:handoutMasterIdLst>
  <p:sldIdLst>
    <p:sldId id="747" r:id="rId6"/>
    <p:sldId id="862" r:id="rId7"/>
    <p:sldId id="1090" r:id="rId8"/>
    <p:sldId id="1091" r:id="rId9"/>
    <p:sldId id="1108" r:id="rId10"/>
    <p:sldId id="1094" r:id="rId11"/>
    <p:sldId id="1262" r:id="rId12"/>
    <p:sldId id="1096" r:id="rId13"/>
    <p:sldId id="1097" r:id="rId14"/>
    <p:sldId id="1241" r:id="rId15"/>
    <p:sldId id="1098" r:id="rId16"/>
    <p:sldId id="1099" r:id="rId17"/>
    <p:sldId id="1100" r:id="rId18"/>
    <p:sldId id="1101" r:id="rId19"/>
    <p:sldId id="1103" r:id="rId20"/>
    <p:sldId id="1154" r:id="rId21"/>
    <p:sldId id="1105" r:id="rId22"/>
    <p:sldId id="1106" r:id="rId23"/>
    <p:sldId id="1107" r:id="rId24"/>
    <p:sldId id="1140" r:id="rId25"/>
    <p:sldId id="1263" r:id="rId26"/>
    <p:sldId id="1159" r:id="rId27"/>
    <p:sldId id="1160" r:id="rId28"/>
    <p:sldId id="1161" r:id="rId29"/>
    <p:sldId id="1162" r:id="rId30"/>
    <p:sldId id="1163" r:id="rId31"/>
    <p:sldId id="1200" r:id="rId32"/>
    <p:sldId id="1164" r:id="rId33"/>
    <p:sldId id="1221" r:id="rId34"/>
    <p:sldId id="1201" r:id="rId35"/>
    <p:sldId id="1220" r:id="rId36"/>
    <p:sldId id="1206" r:id="rId37"/>
    <p:sldId id="1207" r:id="rId38"/>
    <p:sldId id="1208" r:id="rId39"/>
    <p:sldId id="1202" r:id="rId40"/>
    <p:sldId id="1219" r:id="rId41"/>
    <p:sldId id="1203" r:id="rId42"/>
    <p:sldId id="1204" r:id="rId43"/>
    <p:sldId id="1218" r:id="rId44"/>
    <p:sldId id="1210" r:id="rId45"/>
    <p:sldId id="1211" r:id="rId46"/>
    <p:sldId id="1212" r:id="rId47"/>
    <p:sldId id="1213" r:id="rId48"/>
    <p:sldId id="1214" r:id="rId49"/>
    <p:sldId id="1215" r:id="rId50"/>
    <p:sldId id="1216" r:id="rId51"/>
    <p:sldId id="1167" r:id="rId52"/>
    <p:sldId id="1168" r:id="rId53"/>
    <p:sldId id="1264" r:id="rId54"/>
    <p:sldId id="1222" r:id="rId55"/>
    <p:sldId id="1223" r:id="rId56"/>
    <p:sldId id="1224" r:id="rId57"/>
    <p:sldId id="1225" r:id="rId58"/>
    <p:sldId id="1226" r:id="rId59"/>
    <p:sldId id="1227" r:id="rId60"/>
    <p:sldId id="1228" r:id="rId61"/>
    <p:sldId id="1229" r:id="rId62"/>
    <p:sldId id="1230" r:id="rId63"/>
    <p:sldId id="1231" r:id="rId64"/>
    <p:sldId id="1254" r:id="rId65"/>
    <p:sldId id="1232" r:id="rId66"/>
    <p:sldId id="1110" r:id="rId67"/>
    <p:sldId id="1111" r:id="rId68"/>
    <p:sldId id="1242" r:id="rId69"/>
    <p:sldId id="1243" r:id="rId70"/>
    <p:sldId id="1259" r:id="rId71"/>
    <p:sldId id="1255" r:id="rId72"/>
    <p:sldId id="1256" r:id="rId73"/>
    <p:sldId id="1257" r:id="rId74"/>
    <p:sldId id="1258" r:id="rId75"/>
    <p:sldId id="1112" r:id="rId76"/>
    <p:sldId id="1092" r:id="rId77"/>
    <p:sldId id="1137" r:id="rId78"/>
    <p:sldId id="1115" r:id="rId79"/>
    <p:sldId id="1116" r:id="rId80"/>
    <p:sldId id="1136" r:id="rId81"/>
    <p:sldId id="1252" r:id="rId82"/>
    <p:sldId id="1233" r:id="rId83"/>
    <p:sldId id="1236" r:id="rId84"/>
    <p:sldId id="1237" r:id="rId85"/>
    <p:sldId id="1238" r:id="rId86"/>
    <p:sldId id="1240" r:id="rId87"/>
    <p:sldId id="1147" r:id="rId88"/>
    <p:sldId id="1149" r:id="rId89"/>
    <p:sldId id="1135" r:id="rId90"/>
    <p:sldId id="1249" r:id="rId91"/>
    <p:sldId id="1125" r:id="rId92"/>
    <p:sldId id="1260" r:id="rId93"/>
    <p:sldId id="1234" r:id="rId94"/>
    <p:sldId id="1235" r:id="rId95"/>
    <p:sldId id="1244" r:id="rId96"/>
    <p:sldId id="1245" r:id="rId97"/>
    <p:sldId id="1247" r:id="rId98"/>
    <p:sldId id="1261" r:id="rId99"/>
    <p:sldId id="1246" r:id="rId100"/>
    <p:sldId id="1248" r:id="rId101"/>
    <p:sldId id="1132" r:id="rId102"/>
    <p:sldId id="1131" r:id="rId103"/>
    <p:sldId id="1133" r:id="rId104"/>
    <p:sldId id="1142" r:id="rId105"/>
    <p:sldId id="1177" r:id="rId106"/>
    <p:sldId id="1178" r:id="rId107"/>
    <p:sldId id="1179" r:id="rId108"/>
    <p:sldId id="1181" r:id="rId109"/>
    <p:sldId id="1182" r:id="rId110"/>
    <p:sldId id="1134" r:id="rId111"/>
    <p:sldId id="1143" r:id="rId112"/>
    <p:sldId id="1144" r:id="rId113"/>
    <p:sldId id="1145" r:id="rId114"/>
    <p:sldId id="1150" r:id="rId115"/>
    <p:sldId id="1183" r:id="rId116"/>
    <p:sldId id="1184" r:id="rId117"/>
    <p:sldId id="1185" r:id="rId118"/>
    <p:sldId id="1186" r:id="rId119"/>
    <p:sldId id="1187" r:id="rId120"/>
    <p:sldId id="1188" r:id="rId121"/>
    <p:sldId id="1189" r:id="rId122"/>
    <p:sldId id="1190" r:id="rId123"/>
    <p:sldId id="1191" r:id="rId124"/>
    <p:sldId id="1153" r:id="rId125"/>
    <p:sldId id="1193" r:id="rId126"/>
    <p:sldId id="1194" r:id="rId127"/>
    <p:sldId id="1195" r:id="rId128"/>
    <p:sldId id="1196" r:id="rId129"/>
    <p:sldId id="1197" r:id="rId130"/>
    <p:sldId id="1198" r:id="rId131"/>
    <p:sldId id="1199" r:id="rId132"/>
    <p:sldId id="1089" r:id="rId133"/>
  </p:sldIdLst>
  <p:sldSz cx="9144000" cy="6858000" type="screen4x3"/>
  <p:notesSz cx="6805613" cy="9939338"/>
  <p:defaultTextStyle>
    <a:defPPr>
      <a:defRPr lang="zh-CN"/>
    </a:defPPr>
    <a:lvl1pPr algn="l" rtl="0" fontAlgn="t">
      <a:spcBef>
        <a:spcPct val="0"/>
      </a:spcBef>
      <a:spcAft>
        <a:spcPct val="0"/>
      </a:spcAft>
      <a:defRPr kern="1200">
        <a:solidFill>
          <a:schemeClr val="tx1"/>
        </a:solidFill>
        <a:latin typeface="Arial" charset="0"/>
        <a:ea typeface="华文细黑" pitchFamily="2" charset="-122"/>
        <a:cs typeface="+mn-cs"/>
      </a:defRPr>
    </a:lvl1pPr>
    <a:lvl2pPr marL="457200" algn="l" rtl="0" fontAlgn="t">
      <a:spcBef>
        <a:spcPct val="0"/>
      </a:spcBef>
      <a:spcAft>
        <a:spcPct val="0"/>
      </a:spcAft>
      <a:defRPr kern="1200">
        <a:solidFill>
          <a:schemeClr val="tx1"/>
        </a:solidFill>
        <a:latin typeface="Arial" charset="0"/>
        <a:ea typeface="华文细黑" pitchFamily="2" charset="-122"/>
        <a:cs typeface="+mn-cs"/>
      </a:defRPr>
    </a:lvl2pPr>
    <a:lvl3pPr marL="914400" algn="l" rtl="0" fontAlgn="t">
      <a:spcBef>
        <a:spcPct val="0"/>
      </a:spcBef>
      <a:spcAft>
        <a:spcPct val="0"/>
      </a:spcAft>
      <a:defRPr kern="1200">
        <a:solidFill>
          <a:schemeClr val="tx1"/>
        </a:solidFill>
        <a:latin typeface="Arial" charset="0"/>
        <a:ea typeface="华文细黑" pitchFamily="2" charset="-122"/>
        <a:cs typeface="+mn-cs"/>
      </a:defRPr>
    </a:lvl3pPr>
    <a:lvl4pPr marL="1371600" algn="l" rtl="0" fontAlgn="t">
      <a:spcBef>
        <a:spcPct val="0"/>
      </a:spcBef>
      <a:spcAft>
        <a:spcPct val="0"/>
      </a:spcAft>
      <a:defRPr kern="1200">
        <a:solidFill>
          <a:schemeClr val="tx1"/>
        </a:solidFill>
        <a:latin typeface="Arial" charset="0"/>
        <a:ea typeface="华文细黑" pitchFamily="2" charset="-122"/>
        <a:cs typeface="+mn-cs"/>
      </a:defRPr>
    </a:lvl4pPr>
    <a:lvl5pPr marL="1828800" algn="l" rtl="0" fontAlgn="t">
      <a:spcBef>
        <a:spcPct val="0"/>
      </a:spcBef>
      <a:spcAft>
        <a:spcPct val="0"/>
      </a:spcAft>
      <a:defRPr kern="1200">
        <a:solidFill>
          <a:schemeClr val="tx1"/>
        </a:solidFill>
        <a:latin typeface="Arial" charset="0"/>
        <a:ea typeface="华文细黑" pitchFamily="2" charset="-122"/>
        <a:cs typeface="+mn-cs"/>
      </a:defRPr>
    </a:lvl5pPr>
    <a:lvl6pPr marL="2286000" algn="l" defTabSz="914400" rtl="0" eaLnBrk="1" latinLnBrk="0" hangingPunct="1">
      <a:defRPr kern="1200">
        <a:solidFill>
          <a:schemeClr val="tx1"/>
        </a:solidFill>
        <a:latin typeface="Arial" charset="0"/>
        <a:ea typeface="华文细黑" pitchFamily="2" charset="-122"/>
        <a:cs typeface="+mn-cs"/>
      </a:defRPr>
    </a:lvl6pPr>
    <a:lvl7pPr marL="2743200" algn="l" defTabSz="914400" rtl="0" eaLnBrk="1" latinLnBrk="0" hangingPunct="1">
      <a:defRPr kern="1200">
        <a:solidFill>
          <a:schemeClr val="tx1"/>
        </a:solidFill>
        <a:latin typeface="Arial" charset="0"/>
        <a:ea typeface="华文细黑" pitchFamily="2" charset="-122"/>
        <a:cs typeface="+mn-cs"/>
      </a:defRPr>
    </a:lvl7pPr>
    <a:lvl8pPr marL="3200400" algn="l" defTabSz="914400" rtl="0" eaLnBrk="1" latinLnBrk="0" hangingPunct="1">
      <a:defRPr kern="1200">
        <a:solidFill>
          <a:schemeClr val="tx1"/>
        </a:solidFill>
        <a:latin typeface="Arial" charset="0"/>
        <a:ea typeface="华文细黑" pitchFamily="2" charset="-122"/>
        <a:cs typeface="+mn-cs"/>
      </a:defRPr>
    </a:lvl8pPr>
    <a:lvl9pPr marL="3657600" algn="l" defTabSz="914400" rtl="0" eaLnBrk="1" latinLnBrk="0" hangingPunct="1">
      <a:defRPr kern="1200">
        <a:solidFill>
          <a:schemeClr val="tx1"/>
        </a:solidFill>
        <a:latin typeface="Arial" charset="0"/>
        <a:ea typeface="华文细黑" pitchFamily="2" charset="-122"/>
        <a:cs typeface="+mn-cs"/>
      </a:defRPr>
    </a:lvl9pPr>
  </p:defaultTextStyle>
  <p:extLst>
    <p:ext uri="{EFAFB233-063F-42B5-8137-9DF3F51BA10A}">
      <p15:sldGuideLst xmlns:p15="http://schemas.microsoft.com/office/powerpoint/2012/main">
        <p15:guide id="1" orient="horz" pos="226">
          <p15:clr>
            <a:srgbClr val="A4A3A4"/>
          </p15:clr>
        </p15:guide>
        <p15:guide id="2" orient="horz" pos="312">
          <p15:clr>
            <a:srgbClr val="A4A3A4"/>
          </p15:clr>
        </p15:guide>
        <p15:guide id="3" orient="horz" pos="552">
          <p15:clr>
            <a:srgbClr val="A4A3A4"/>
          </p15:clr>
        </p15:guide>
        <p15:guide id="4" pos="805">
          <p15:clr>
            <a:srgbClr val="A4A3A4"/>
          </p15:clr>
        </p15:guide>
        <p15:guide id="5" pos="440">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hoop" initials=""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C6E2"/>
    <a:srgbClr val="4D4D4D"/>
    <a:srgbClr val="777777"/>
    <a:srgbClr val="FFC5B7"/>
    <a:srgbClr val="AED6EA"/>
    <a:srgbClr val="52A7D2"/>
    <a:srgbClr val="800000"/>
    <a:srgbClr val="00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68" autoAdjust="0"/>
    <p:restoredTop sz="74806" autoAdjust="0"/>
  </p:normalViewPr>
  <p:slideViewPr>
    <p:cSldViewPr snapToGrid="0" showGuides="1">
      <p:cViewPr varScale="1">
        <p:scale>
          <a:sx n="55" d="100"/>
          <a:sy n="55" d="100"/>
        </p:scale>
        <p:origin x="1764" y="78"/>
      </p:cViewPr>
      <p:guideLst>
        <p:guide orient="horz" pos="226"/>
        <p:guide orient="horz" pos="312"/>
        <p:guide orient="horz" pos="552"/>
        <p:guide pos="805"/>
        <p:guide pos="440"/>
      </p:guideLst>
    </p:cSldViewPr>
  </p:slideViewPr>
  <p:notesTextViewPr>
    <p:cViewPr>
      <p:scale>
        <a:sx n="100" d="100"/>
        <a:sy n="100" d="100"/>
      </p:scale>
      <p:origin x="0" y="0"/>
    </p:cViewPr>
  </p:notesTextViewPr>
  <p:notesViewPr>
    <p:cSldViewPr snapToGrid="0" showGuides="1">
      <p:cViewPr varScale="1">
        <p:scale>
          <a:sx n="60" d="100"/>
          <a:sy n="60" d="100"/>
        </p:scale>
        <p:origin x="2754" y="60"/>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viewProps" Target="viewProp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notesMaster" Target="notesMasters/notesMaster1.xml"/><Relationship Id="rId139" Type="http://schemas.openxmlformats.org/officeDocument/2006/relationships/theme" Target="theme/theme1.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124" Type="http://schemas.openxmlformats.org/officeDocument/2006/relationships/slide" Target="slides/slide119.xml"/><Relationship Id="rId129" Type="http://schemas.openxmlformats.org/officeDocument/2006/relationships/slide" Target="slides/slide124.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4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slide" Target="slides/slide114.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130" Type="http://schemas.openxmlformats.org/officeDocument/2006/relationships/slide" Target="slides/slide125.xml"/><Relationship Id="rId135" Type="http://schemas.openxmlformats.org/officeDocument/2006/relationships/handoutMaster" Target="handoutMasters/handoutMaster1.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commentAuthors" Target="commentAuthor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13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D841772-EAFA-4736-98FA-CF58E603DE6C}"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zh-CN" altLang="en-US"/>
        </a:p>
      </dgm:t>
    </dgm:pt>
    <dgm:pt modelId="{AAEB64ED-5C29-4F57-B797-E6525E872CC9}">
      <dgm:prSet phldrT="[文本]"/>
      <dgm:spPr/>
      <dgm:t>
        <a:bodyPr/>
        <a:lstStyle/>
        <a:p>
          <a:r>
            <a:rPr lang="zh-CN" altLang="en-US" dirty="0" smtClean="0">
              <a:solidFill>
                <a:schemeClr val="tx1"/>
              </a:solidFill>
            </a:rPr>
            <a:t>单站验证目的</a:t>
          </a:r>
          <a:endParaRPr lang="zh-CN" altLang="en-US" dirty="0">
            <a:solidFill>
              <a:schemeClr val="tx1"/>
            </a:solidFill>
          </a:endParaRPr>
        </a:p>
      </dgm:t>
    </dgm:pt>
    <dgm:pt modelId="{49CECA1B-BC3E-46A2-8B65-E24B83A1F6C8}" type="parTrans" cxnId="{E2FA06DF-7DC7-4BB5-9EF7-FC34A946E1A2}">
      <dgm:prSet/>
      <dgm:spPr/>
      <dgm:t>
        <a:bodyPr/>
        <a:lstStyle/>
        <a:p>
          <a:endParaRPr lang="zh-CN" altLang="en-US">
            <a:solidFill>
              <a:schemeClr val="tx1"/>
            </a:solidFill>
          </a:endParaRPr>
        </a:p>
      </dgm:t>
    </dgm:pt>
    <dgm:pt modelId="{A27687CA-E7A2-47EF-AA7A-617F831456AD}" type="sibTrans" cxnId="{E2FA06DF-7DC7-4BB5-9EF7-FC34A946E1A2}">
      <dgm:prSet/>
      <dgm:spPr/>
      <dgm:t>
        <a:bodyPr/>
        <a:lstStyle/>
        <a:p>
          <a:endParaRPr lang="zh-CN" altLang="en-US">
            <a:solidFill>
              <a:schemeClr val="tx1"/>
            </a:solidFill>
          </a:endParaRPr>
        </a:p>
      </dgm:t>
    </dgm:pt>
    <dgm:pt modelId="{FA1BEA05-6D8C-4E32-B76C-BB69B14C27CD}">
      <dgm:prSet phldrT="[文本]"/>
      <dgm:spPr/>
      <dgm:t>
        <a:bodyPr/>
        <a:lstStyle/>
        <a:p>
          <a:r>
            <a:rPr lang="zh-CN" altLang="en-US" dirty="0" smtClean="0">
              <a:solidFill>
                <a:schemeClr val="tx1"/>
              </a:solidFill>
            </a:rPr>
            <a:t>保证小区基本功能正常可用</a:t>
          </a:r>
          <a:endParaRPr lang="zh-CN" altLang="en-US" dirty="0">
            <a:solidFill>
              <a:schemeClr val="tx1"/>
            </a:solidFill>
          </a:endParaRPr>
        </a:p>
      </dgm:t>
    </dgm:pt>
    <dgm:pt modelId="{A9B4A4A3-5744-49FA-A9AF-05224F2DDF20}" type="parTrans" cxnId="{EB4747D1-8AC9-4F47-8938-06FECF21B304}">
      <dgm:prSet/>
      <dgm:spPr/>
      <dgm:t>
        <a:bodyPr/>
        <a:lstStyle/>
        <a:p>
          <a:endParaRPr lang="zh-CN" altLang="en-US">
            <a:solidFill>
              <a:schemeClr val="tx1"/>
            </a:solidFill>
          </a:endParaRPr>
        </a:p>
      </dgm:t>
    </dgm:pt>
    <dgm:pt modelId="{0808A38B-C60A-421F-8FF8-1C19D61F138B}" type="sibTrans" cxnId="{EB4747D1-8AC9-4F47-8938-06FECF21B304}">
      <dgm:prSet/>
      <dgm:spPr/>
      <dgm:t>
        <a:bodyPr/>
        <a:lstStyle/>
        <a:p>
          <a:endParaRPr lang="zh-CN" altLang="en-US">
            <a:solidFill>
              <a:schemeClr val="tx1"/>
            </a:solidFill>
          </a:endParaRPr>
        </a:p>
      </dgm:t>
    </dgm:pt>
    <dgm:pt modelId="{EB4D1DA2-9446-4636-A94E-53078ECCB3BA}">
      <dgm:prSet phldrT="[文本]"/>
      <dgm:spPr/>
      <dgm:t>
        <a:bodyPr/>
        <a:lstStyle/>
        <a:p>
          <a:r>
            <a:rPr lang="zh-CN" altLang="en-US" dirty="0" smtClean="0">
              <a:solidFill>
                <a:schemeClr val="tx1"/>
              </a:solidFill>
            </a:rPr>
            <a:t>验收</a:t>
          </a:r>
          <a:r>
            <a:rPr lang="en-US" altLang="zh-CN" dirty="0" smtClean="0">
              <a:solidFill>
                <a:schemeClr val="tx1"/>
              </a:solidFill>
            </a:rPr>
            <a:t>KPI</a:t>
          </a:r>
          <a:endParaRPr lang="zh-CN" altLang="en-US" dirty="0">
            <a:solidFill>
              <a:schemeClr val="tx1"/>
            </a:solidFill>
          </a:endParaRPr>
        </a:p>
      </dgm:t>
    </dgm:pt>
    <dgm:pt modelId="{64005BE6-3432-4E0D-B369-140897B16890}" type="parTrans" cxnId="{2E72EF7D-D0B1-437A-86F1-66C9FC40BCB1}">
      <dgm:prSet/>
      <dgm:spPr/>
      <dgm:t>
        <a:bodyPr/>
        <a:lstStyle/>
        <a:p>
          <a:endParaRPr lang="zh-CN" altLang="en-US">
            <a:solidFill>
              <a:schemeClr val="tx1"/>
            </a:solidFill>
          </a:endParaRPr>
        </a:p>
      </dgm:t>
    </dgm:pt>
    <dgm:pt modelId="{6944279A-4741-43CE-BAF7-B57382476828}" type="sibTrans" cxnId="{2E72EF7D-D0B1-437A-86F1-66C9FC40BCB1}">
      <dgm:prSet/>
      <dgm:spPr/>
      <dgm:t>
        <a:bodyPr/>
        <a:lstStyle/>
        <a:p>
          <a:endParaRPr lang="zh-CN" altLang="en-US">
            <a:solidFill>
              <a:schemeClr val="tx1"/>
            </a:solidFill>
          </a:endParaRPr>
        </a:p>
      </dgm:t>
    </dgm:pt>
    <dgm:pt modelId="{95480846-F6AF-4690-B1ED-A71C23F33A44}">
      <dgm:prSet phldrT="[文本]"/>
      <dgm:spPr/>
      <dgm:t>
        <a:bodyPr/>
        <a:lstStyle/>
        <a:p>
          <a:r>
            <a:rPr lang="zh-CN" altLang="en-US" dirty="0" smtClean="0">
              <a:solidFill>
                <a:schemeClr val="tx1"/>
              </a:solidFill>
            </a:rPr>
            <a:t>熟悉区域内的站点位置、配置、环境等</a:t>
          </a:r>
          <a:endParaRPr lang="zh-CN" altLang="en-US" dirty="0">
            <a:solidFill>
              <a:schemeClr val="tx1"/>
            </a:solidFill>
          </a:endParaRPr>
        </a:p>
      </dgm:t>
    </dgm:pt>
    <dgm:pt modelId="{DB63EE8C-48F0-4AB6-8261-ADD3B0CD88EF}" type="parTrans" cxnId="{20AD717C-304E-416D-8D00-18E62126335C}">
      <dgm:prSet/>
      <dgm:spPr/>
      <dgm:t>
        <a:bodyPr/>
        <a:lstStyle/>
        <a:p>
          <a:endParaRPr lang="zh-CN" altLang="en-US">
            <a:solidFill>
              <a:schemeClr val="tx1"/>
            </a:solidFill>
          </a:endParaRPr>
        </a:p>
      </dgm:t>
    </dgm:pt>
    <dgm:pt modelId="{1ADEF1CE-9B43-47C6-BC2D-9E36D530441F}" type="sibTrans" cxnId="{20AD717C-304E-416D-8D00-18E62126335C}">
      <dgm:prSet/>
      <dgm:spPr/>
      <dgm:t>
        <a:bodyPr/>
        <a:lstStyle/>
        <a:p>
          <a:endParaRPr lang="zh-CN" altLang="en-US">
            <a:solidFill>
              <a:schemeClr val="tx1"/>
            </a:solidFill>
          </a:endParaRPr>
        </a:p>
      </dgm:t>
    </dgm:pt>
    <dgm:pt modelId="{B91E356B-E410-4F3A-A172-E41720AB976D}" type="pres">
      <dgm:prSet presAssocID="{1D841772-EAFA-4736-98FA-CF58E603DE6C}" presName="cycle" presStyleCnt="0">
        <dgm:presLayoutVars>
          <dgm:chMax val="1"/>
          <dgm:dir/>
          <dgm:animLvl val="ctr"/>
          <dgm:resizeHandles val="exact"/>
        </dgm:presLayoutVars>
      </dgm:prSet>
      <dgm:spPr/>
      <dgm:t>
        <a:bodyPr/>
        <a:lstStyle/>
        <a:p>
          <a:endParaRPr lang="zh-CN" altLang="en-US"/>
        </a:p>
      </dgm:t>
    </dgm:pt>
    <dgm:pt modelId="{613365BE-A811-469A-BE58-EC2916E5A9D3}" type="pres">
      <dgm:prSet presAssocID="{AAEB64ED-5C29-4F57-B797-E6525E872CC9}" presName="centerShape" presStyleLbl="node0" presStyleIdx="0" presStyleCnt="1" custLinFactNeighborX="796" custLinFactNeighborY="-4380"/>
      <dgm:spPr/>
      <dgm:t>
        <a:bodyPr/>
        <a:lstStyle/>
        <a:p>
          <a:endParaRPr lang="zh-CN" altLang="en-US"/>
        </a:p>
      </dgm:t>
    </dgm:pt>
    <dgm:pt modelId="{A66C02EC-AB4A-4960-81B1-A1A543BE53FB}" type="pres">
      <dgm:prSet presAssocID="{A9B4A4A3-5744-49FA-A9AF-05224F2DDF20}" presName="parTrans" presStyleLbl="bgSibTrans2D1" presStyleIdx="0" presStyleCnt="3"/>
      <dgm:spPr/>
      <dgm:t>
        <a:bodyPr/>
        <a:lstStyle/>
        <a:p>
          <a:endParaRPr lang="zh-CN" altLang="en-US"/>
        </a:p>
      </dgm:t>
    </dgm:pt>
    <dgm:pt modelId="{4375FD71-E275-4FFA-9BD6-56144647990D}" type="pres">
      <dgm:prSet presAssocID="{FA1BEA05-6D8C-4E32-B76C-BB69B14C27CD}" presName="node" presStyleLbl="node1" presStyleIdx="0" presStyleCnt="3" custScaleX="127179" custRadScaleRad="112795" custRadScaleInc="-68432">
        <dgm:presLayoutVars>
          <dgm:bulletEnabled val="1"/>
        </dgm:presLayoutVars>
      </dgm:prSet>
      <dgm:spPr/>
      <dgm:t>
        <a:bodyPr/>
        <a:lstStyle/>
        <a:p>
          <a:endParaRPr lang="zh-CN" altLang="en-US"/>
        </a:p>
      </dgm:t>
    </dgm:pt>
    <dgm:pt modelId="{6B41DB03-5F0B-4DF8-9DD3-8A360E5D5FDF}" type="pres">
      <dgm:prSet presAssocID="{64005BE6-3432-4E0D-B369-140897B16890}" presName="parTrans" presStyleLbl="bgSibTrans2D1" presStyleIdx="1" presStyleCnt="3"/>
      <dgm:spPr/>
      <dgm:t>
        <a:bodyPr/>
        <a:lstStyle/>
        <a:p>
          <a:endParaRPr lang="zh-CN" altLang="en-US"/>
        </a:p>
      </dgm:t>
    </dgm:pt>
    <dgm:pt modelId="{DF8D8A70-141E-4F1F-9324-0C393CBF6898}" type="pres">
      <dgm:prSet presAssocID="{EB4D1DA2-9446-4636-A94E-53078ECCB3BA}" presName="node" presStyleLbl="node1" presStyleIdx="1" presStyleCnt="3" custRadScaleRad="112024" custRadScaleInc="2037">
        <dgm:presLayoutVars>
          <dgm:bulletEnabled val="1"/>
        </dgm:presLayoutVars>
      </dgm:prSet>
      <dgm:spPr/>
      <dgm:t>
        <a:bodyPr/>
        <a:lstStyle/>
        <a:p>
          <a:endParaRPr lang="zh-CN" altLang="en-US"/>
        </a:p>
      </dgm:t>
    </dgm:pt>
    <dgm:pt modelId="{B9BEA7CC-8544-466D-ADC7-E169650F25DA}" type="pres">
      <dgm:prSet presAssocID="{DB63EE8C-48F0-4AB6-8261-ADD3B0CD88EF}" presName="parTrans" presStyleLbl="bgSibTrans2D1" presStyleIdx="2" presStyleCnt="3"/>
      <dgm:spPr/>
      <dgm:t>
        <a:bodyPr/>
        <a:lstStyle/>
        <a:p>
          <a:endParaRPr lang="zh-CN" altLang="en-US"/>
        </a:p>
      </dgm:t>
    </dgm:pt>
    <dgm:pt modelId="{A61878CB-FAA4-4022-965D-69FF6DBBC0C5}" type="pres">
      <dgm:prSet presAssocID="{95480846-F6AF-4690-B1ED-A71C23F33A44}" presName="node" presStyleLbl="node1" presStyleIdx="2" presStyleCnt="3" custScaleX="131523" custRadScaleRad="112782" custRadScaleInc="66139">
        <dgm:presLayoutVars>
          <dgm:bulletEnabled val="1"/>
        </dgm:presLayoutVars>
      </dgm:prSet>
      <dgm:spPr/>
      <dgm:t>
        <a:bodyPr/>
        <a:lstStyle/>
        <a:p>
          <a:endParaRPr lang="zh-CN" altLang="en-US"/>
        </a:p>
      </dgm:t>
    </dgm:pt>
  </dgm:ptLst>
  <dgm:cxnLst>
    <dgm:cxn modelId="{D5053445-AF29-4BC0-9EE3-CE9E140071F8}" type="presOf" srcId="{AAEB64ED-5C29-4F57-B797-E6525E872CC9}" destId="{613365BE-A811-469A-BE58-EC2916E5A9D3}" srcOrd="0" destOrd="0" presId="urn:microsoft.com/office/officeart/2005/8/layout/radial4"/>
    <dgm:cxn modelId="{38F73F68-BAB2-4486-820B-9AEAE25ECB36}" type="presOf" srcId="{DB63EE8C-48F0-4AB6-8261-ADD3B0CD88EF}" destId="{B9BEA7CC-8544-466D-ADC7-E169650F25DA}" srcOrd="0" destOrd="0" presId="urn:microsoft.com/office/officeart/2005/8/layout/radial4"/>
    <dgm:cxn modelId="{82258A61-4455-45F0-A0B8-AAAD4CCFE7C1}" type="presOf" srcId="{FA1BEA05-6D8C-4E32-B76C-BB69B14C27CD}" destId="{4375FD71-E275-4FFA-9BD6-56144647990D}" srcOrd="0" destOrd="0" presId="urn:microsoft.com/office/officeart/2005/8/layout/radial4"/>
    <dgm:cxn modelId="{C4BB7193-0CB2-40B1-A9D2-6C9BB39656D2}" type="presOf" srcId="{64005BE6-3432-4E0D-B369-140897B16890}" destId="{6B41DB03-5F0B-4DF8-9DD3-8A360E5D5FDF}" srcOrd="0" destOrd="0" presId="urn:microsoft.com/office/officeart/2005/8/layout/radial4"/>
    <dgm:cxn modelId="{E2FA06DF-7DC7-4BB5-9EF7-FC34A946E1A2}" srcId="{1D841772-EAFA-4736-98FA-CF58E603DE6C}" destId="{AAEB64ED-5C29-4F57-B797-E6525E872CC9}" srcOrd="0" destOrd="0" parTransId="{49CECA1B-BC3E-46A2-8B65-E24B83A1F6C8}" sibTransId="{A27687CA-E7A2-47EF-AA7A-617F831456AD}"/>
    <dgm:cxn modelId="{2EEA634D-7C4F-4CC9-835F-1212F7F9362D}" type="presOf" srcId="{95480846-F6AF-4690-B1ED-A71C23F33A44}" destId="{A61878CB-FAA4-4022-965D-69FF6DBBC0C5}" srcOrd="0" destOrd="0" presId="urn:microsoft.com/office/officeart/2005/8/layout/radial4"/>
    <dgm:cxn modelId="{12584019-4898-43F6-A175-6779245E3B01}" type="presOf" srcId="{EB4D1DA2-9446-4636-A94E-53078ECCB3BA}" destId="{DF8D8A70-141E-4F1F-9324-0C393CBF6898}" srcOrd="0" destOrd="0" presId="urn:microsoft.com/office/officeart/2005/8/layout/radial4"/>
    <dgm:cxn modelId="{EB4747D1-8AC9-4F47-8938-06FECF21B304}" srcId="{AAEB64ED-5C29-4F57-B797-E6525E872CC9}" destId="{FA1BEA05-6D8C-4E32-B76C-BB69B14C27CD}" srcOrd="0" destOrd="0" parTransId="{A9B4A4A3-5744-49FA-A9AF-05224F2DDF20}" sibTransId="{0808A38B-C60A-421F-8FF8-1C19D61F138B}"/>
    <dgm:cxn modelId="{82DEBED9-C756-4427-9F10-5555820F042F}" type="presOf" srcId="{1D841772-EAFA-4736-98FA-CF58E603DE6C}" destId="{B91E356B-E410-4F3A-A172-E41720AB976D}" srcOrd="0" destOrd="0" presId="urn:microsoft.com/office/officeart/2005/8/layout/radial4"/>
    <dgm:cxn modelId="{20AD717C-304E-416D-8D00-18E62126335C}" srcId="{AAEB64ED-5C29-4F57-B797-E6525E872CC9}" destId="{95480846-F6AF-4690-B1ED-A71C23F33A44}" srcOrd="2" destOrd="0" parTransId="{DB63EE8C-48F0-4AB6-8261-ADD3B0CD88EF}" sibTransId="{1ADEF1CE-9B43-47C6-BC2D-9E36D530441F}"/>
    <dgm:cxn modelId="{2E72EF7D-D0B1-437A-86F1-66C9FC40BCB1}" srcId="{AAEB64ED-5C29-4F57-B797-E6525E872CC9}" destId="{EB4D1DA2-9446-4636-A94E-53078ECCB3BA}" srcOrd="1" destOrd="0" parTransId="{64005BE6-3432-4E0D-B369-140897B16890}" sibTransId="{6944279A-4741-43CE-BAF7-B57382476828}"/>
    <dgm:cxn modelId="{16492C09-27F7-4A75-945A-6149ECACE927}" type="presOf" srcId="{A9B4A4A3-5744-49FA-A9AF-05224F2DDF20}" destId="{A66C02EC-AB4A-4960-81B1-A1A543BE53FB}" srcOrd="0" destOrd="0" presId="urn:microsoft.com/office/officeart/2005/8/layout/radial4"/>
    <dgm:cxn modelId="{859E9899-F9E1-4C27-AC08-E45B0082EE26}" type="presParOf" srcId="{B91E356B-E410-4F3A-A172-E41720AB976D}" destId="{613365BE-A811-469A-BE58-EC2916E5A9D3}" srcOrd="0" destOrd="0" presId="urn:microsoft.com/office/officeart/2005/8/layout/radial4"/>
    <dgm:cxn modelId="{C5277D81-DCBA-4FEC-96D7-6071361B2C7A}" type="presParOf" srcId="{B91E356B-E410-4F3A-A172-E41720AB976D}" destId="{A66C02EC-AB4A-4960-81B1-A1A543BE53FB}" srcOrd="1" destOrd="0" presId="urn:microsoft.com/office/officeart/2005/8/layout/radial4"/>
    <dgm:cxn modelId="{24EAD62B-A2CC-4748-958A-70455A404492}" type="presParOf" srcId="{B91E356B-E410-4F3A-A172-E41720AB976D}" destId="{4375FD71-E275-4FFA-9BD6-56144647990D}" srcOrd="2" destOrd="0" presId="urn:microsoft.com/office/officeart/2005/8/layout/radial4"/>
    <dgm:cxn modelId="{61E6A892-B5A0-4408-81EA-978D73752ABC}" type="presParOf" srcId="{B91E356B-E410-4F3A-A172-E41720AB976D}" destId="{6B41DB03-5F0B-4DF8-9DD3-8A360E5D5FDF}" srcOrd="3" destOrd="0" presId="urn:microsoft.com/office/officeart/2005/8/layout/radial4"/>
    <dgm:cxn modelId="{71A1D445-0A3F-42EC-B630-9CBC8E143036}" type="presParOf" srcId="{B91E356B-E410-4F3A-A172-E41720AB976D}" destId="{DF8D8A70-141E-4F1F-9324-0C393CBF6898}" srcOrd="4" destOrd="0" presId="urn:microsoft.com/office/officeart/2005/8/layout/radial4"/>
    <dgm:cxn modelId="{DCE54A40-DC4A-4E85-AC08-705C79CDD9C8}" type="presParOf" srcId="{B91E356B-E410-4F3A-A172-E41720AB976D}" destId="{B9BEA7CC-8544-466D-ADC7-E169650F25DA}" srcOrd="5" destOrd="0" presId="urn:microsoft.com/office/officeart/2005/8/layout/radial4"/>
    <dgm:cxn modelId="{EF22FD8C-DFCC-475C-BA76-1F0BE6CEA083}" type="presParOf" srcId="{B91E356B-E410-4F3A-A172-E41720AB976D}" destId="{A61878CB-FAA4-4022-965D-69FF6DBBC0C5}"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4723C43-7AD3-44FA-9D8A-01E677E9CD2D}" type="doc">
      <dgm:prSet loTypeId="urn:microsoft.com/office/officeart/2005/8/layout/gear1" loCatId="cycle" qsTypeId="urn:microsoft.com/office/officeart/2005/8/quickstyle/simple1" qsCatId="simple" csTypeId="urn:microsoft.com/office/officeart/2005/8/colors/accent1_1" csCatId="accent1" phldr="1"/>
      <dgm:spPr/>
    </dgm:pt>
    <dgm:pt modelId="{73C403CF-848F-463B-AE9C-758B09BF5FA1}">
      <dgm:prSet phldrT="[文本]"/>
      <dgm:spPr/>
      <dgm:t>
        <a:bodyPr/>
        <a:lstStyle/>
        <a:p>
          <a:r>
            <a:rPr lang="zh-CN" altLang="en-US" dirty="0" smtClean="0"/>
            <a:t>业务测试关闭邻区</a:t>
          </a:r>
          <a:endParaRPr lang="zh-CN" altLang="en-US" dirty="0"/>
        </a:p>
      </dgm:t>
    </dgm:pt>
    <dgm:pt modelId="{3EBD96E1-72DC-454F-B50B-4FABC3E42E9C}" type="parTrans" cxnId="{2590F77D-43EF-4F87-AE27-27CFB67BF46E}">
      <dgm:prSet/>
      <dgm:spPr/>
      <dgm:t>
        <a:bodyPr/>
        <a:lstStyle/>
        <a:p>
          <a:endParaRPr lang="zh-CN" altLang="en-US"/>
        </a:p>
      </dgm:t>
    </dgm:pt>
    <dgm:pt modelId="{74BFF7C6-860F-4558-A272-749E57E46CC2}" type="sibTrans" cxnId="{2590F77D-43EF-4F87-AE27-27CFB67BF46E}">
      <dgm:prSet/>
      <dgm:spPr/>
      <dgm:t>
        <a:bodyPr/>
        <a:lstStyle/>
        <a:p>
          <a:endParaRPr lang="zh-CN" altLang="en-US"/>
        </a:p>
      </dgm:t>
    </dgm:pt>
    <dgm:pt modelId="{8F0E4607-3FF3-49F1-A842-D4134B77EE26}">
      <dgm:prSet phldrT="[文本]"/>
      <dgm:spPr/>
      <dgm:t>
        <a:bodyPr/>
        <a:lstStyle/>
        <a:p>
          <a:r>
            <a:rPr lang="zh-CN" altLang="en-US" dirty="0" smtClean="0"/>
            <a:t>测试车辆速度</a:t>
          </a:r>
          <a:endParaRPr lang="zh-CN" altLang="en-US" dirty="0"/>
        </a:p>
      </dgm:t>
    </dgm:pt>
    <dgm:pt modelId="{3C87CA1A-F8A1-4BF8-B671-E1C5A1DC82F3}" type="parTrans" cxnId="{1ADF5DAD-F9A5-40D3-9B8C-A2D2A838958B}">
      <dgm:prSet/>
      <dgm:spPr/>
      <dgm:t>
        <a:bodyPr/>
        <a:lstStyle/>
        <a:p>
          <a:endParaRPr lang="zh-CN" altLang="en-US"/>
        </a:p>
      </dgm:t>
    </dgm:pt>
    <dgm:pt modelId="{3CB8200A-162F-443B-B138-9AD4D6FFCCD1}" type="sibTrans" cxnId="{1ADF5DAD-F9A5-40D3-9B8C-A2D2A838958B}">
      <dgm:prSet/>
      <dgm:spPr/>
      <dgm:t>
        <a:bodyPr/>
        <a:lstStyle/>
        <a:p>
          <a:endParaRPr lang="zh-CN" altLang="en-US"/>
        </a:p>
      </dgm:t>
    </dgm:pt>
    <dgm:pt modelId="{353F2CC2-EF8A-4ED3-83C7-AA2787405498}">
      <dgm:prSet phldrT="[文本]"/>
      <dgm:spPr/>
      <dgm:t>
        <a:bodyPr/>
        <a:lstStyle/>
        <a:p>
          <a:r>
            <a:rPr lang="zh-CN" altLang="en-US" dirty="0" smtClean="0"/>
            <a:t>测试工具检查</a:t>
          </a:r>
          <a:endParaRPr lang="zh-CN" altLang="en-US" dirty="0"/>
        </a:p>
      </dgm:t>
    </dgm:pt>
    <dgm:pt modelId="{A6301CEA-40CF-4A60-A10A-A91C91724833}" type="parTrans" cxnId="{73FCFE3A-9267-4C89-8C00-5FCC8200CC82}">
      <dgm:prSet/>
      <dgm:spPr/>
      <dgm:t>
        <a:bodyPr/>
        <a:lstStyle/>
        <a:p>
          <a:endParaRPr lang="zh-CN" altLang="en-US"/>
        </a:p>
      </dgm:t>
    </dgm:pt>
    <dgm:pt modelId="{B5083996-525E-465B-971C-6CD9C15757AD}" type="sibTrans" cxnId="{73FCFE3A-9267-4C89-8C00-5FCC8200CC82}">
      <dgm:prSet/>
      <dgm:spPr/>
      <dgm:t>
        <a:bodyPr/>
        <a:lstStyle/>
        <a:p>
          <a:endParaRPr lang="zh-CN" altLang="en-US"/>
        </a:p>
      </dgm:t>
    </dgm:pt>
    <dgm:pt modelId="{536D8B7F-72D2-4440-9B14-29E48FFE0E43}" type="pres">
      <dgm:prSet presAssocID="{D4723C43-7AD3-44FA-9D8A-01E677E9CD2D}" presName="composite" presStyleCnt="0">
        <dgm:presLayoutVars>
          <dgm:chMax val="3"/>
          <dgm:animLvl val="lvl"/>
          <dgm:resizeHandles val="exact"/>
        </dgm:presLayoutVars>
      </dgm:prSet>
      <dgm:spPr/>
    </dgm:pt>
    <dgm:pt modelId="{C3577D8B-C3F4-41DD-BDDF-37AB9246F34B}" type="pres">
      <dgm:prSet presAssocID="{73C403CF-848F-463B-AE9C-758B09BF5FA1}" presName="gear1" presStyleLbl="node1" presStyleIdx="0" presStyleCnt="3">
        <dgm:presLayoutVars>
          <dgm:chMax val="1"/>
          <dgm:bulletEnabled val="1"/>
        </dgm:presLayoutVars>
      </dgm:prSet>
      <dgm:spPr/>
      <dgm:t>
        <a:bodyPr/>
        <a:lstStyle/>
        <a:p>
          <a:endParaRPr lang="zh-CN" altLang="en-US"/>
        </a:p>
      </dgm:t>
    </dgm:pt>
    <dgm:pt modelId="{57B47365-F7F2-448D-908C-DEF9FE87C0D5}" type="pres">
      <dgm:prSet presAssocID="{73C403CF-848F-463B-AE9C-758B09BF5FA1}" presName="gear1srcNode" presStyleLbl="node1" presStyleIdx="0" presStyleCnt="3"/>
      <dgm:spPr/>
      <dgm:t>
        <a:bodyPr/>
        <a:lstStyle/>
        <a:p>
          <a:endParaRPr lang="zh-CN" altLang="en-US"/>
        </a:p>
      </dgm:t>
    </dgm:pt>
    <dgm:pt modelId="{032E3371-B8F9-4244-953C-3F5D4377D562}" type="pres">
      <dgm:prSet presAssocID="{73C403CF-848F-463B-AE9C-758B09BF5FA1}" presName="gear1dstNode" presStyleLbl="node1" presStyleIdx="0" presStyleCnt="3"/>
      <dgm:spPr/>
      <dgm:t>
        <a:bodyPr/>
        <a:lstStyle/>
        <a:p>
          <a:endParaRPr lang="zh-CN" altLang="en-US"/>
        </a:p>
      </dgm:t>
    </dgm:pt>
    <dgm:pt modelId="{0039C136-6721-4035-B3BB-7CE05C33EF1B}" type="pres">
      <dgm:prSet presAssocID="{8F0E4607-3FF3-49F1-A842-D4134B77EE26}" presName="gear2" presStyleLbl="node1" presStyleIdx="1" presStyleCnt="3">
        <dgm:presLayoutVars>
          <dgm:chMax val="1"/>
          <dgm:bulletEnabled val="1"/>
        </dgm:presLayoutVars>
      </dgm:prSet>
      <dgm:spPr/>
      <dgm:t>
        <a:bodyPr/>
        <a:lstStyle/>
        <a:p>
          <a:endParaRPr lang="zh-CN" altLang="en-US"/>
        </a:p>
      </dgm:t>
    </dgm:pt>
    <dgm:pt modelId="{8E907632-14FD-47B2-AFAB-7487D34D612A}" type="pres">
      <dgm:prSet presAssocID="{8F0E4607-3FF3-49F1-A842-D4134B77EE26}" presName="gear2srcNode" presStyleLbl="node1" presStyleIdx="1" presStyleCnt="3"/>
      <dgm:spPr/>
      <dgm:t>
        <a:bodyPr/>
        <a:lstStyle/>
        <a:p>
          <a:endParaRPr lang="zh-CN" altLang="en-US"/>
        </a:p>
      </dgm:t>
    </dgm:pt>
    <dgm:pt modelId="{19D67EF7-363A-4D92-92DD-3D439FEB5C45}" type="pres">
      <dgm:prSet presAssocID="{8F0E4607-3FF3-49F1-A842-D4134B77EE26}" presName="gear2dstNode" presStyleLbl="node1" presStyleIdx="1" presStyleCnt="3"/>
      <dgm:spPr/>
      <dgm:t>
        <a:bodyPr/>
        <a:lstStyle/>
        <a:p>
          <a:endParaRPr lang="zh-CN" altLang="en-US"/>
        </a:p>
      </dgm:t>
    </dgm:pt>
    <dgm:pt modelId="{A91878FD-707F-45FD-842E-37FB9F88A691}" type="pres">
      <dgm:prSet presAssocID="{353F2CC2-EF8A-4ED3-83C7-AA2787405498}" presName="gear3" presStyleLbl="node1" presStyleIdx="2" presStyleCnt="3"/>
      <dgm:spPr/>
      <dgm:t>
        <a:bodyPr/>
        <a:lstStyle/>
        <a:p>
          <a:endParaRPr lang="zh-CN" altLang="en-US"/>
        </a:p>
      </dgm:t>
    </dgm:pt>
    <dgm:pt modelId="{B6514746-F2AE-48B5-876A-8095E591170A}" type="pres">
      <dgm:prSet presAssocID="{353F2CC2-EF8A-4ED3-83C7-AA2787405498}" presName="gear3tx" presStyleLbl="node1" presStyleIdx="2" presStyleCnt="3">
        <dgm:presLayoutVars>
          <dgm:chMax val="1"/>
          <dgm:bulletEnabled val="1"/>
        </dgm:presLayoutVars>
      </dgm:prSet>
      <dgm:spPr/>
      <dgm:t>
        <a:bodyPr/>
        <a:lstStyle/>
        <a:p>
          <a:endParaRPr lang="zh-CN" altLang="en-US"/>
        </a:p>
      </dgm:t>
    </dgm:pt>
    <dgm:pt modelId="{536397EC-BFF3-4740-B8D0-A23492B5EDF7}" type="pres">
      <dgm:prSet presAssocID="{353F2CC2-EF8A-4ED3-83C7-AA2787405498}" presName="gear3srcNode" presStyleLbl="node1" presStyleIdx="2" presStyleCnt="3"/>
      <dgm:spPr/>
      <dgm:t>
        <a:bodyPr/>
        <a:lstStyle/>
        <a:p>
          <a:endParaRPr lang="zh-CN" altLang="en-US"/>
        </a:p>
      </dgm:t>
    </dgm:pt>
    <dgm:pt modelId="{ED8CB4F3-71FD-4280-87CC-761698AE52C7}" type="pres">
      <dgm:prSet presAssocID="{353F2CC2-EF8A-4ED3-83C7-AA2787405498}" presName="gear3dstNode" presStyleLbl="node1" presStyleIdx="2" presStyleCnt="3"/>
      <dgm:spPr/>
      <dgm:t>
        <a:bodyPr/>
        <a:lstStyle/>
        <a:p>
          <a:endParaRPr lang="zh-CN" altLang="en-US"/>
        </a:p>
      </dgm:t>
    </dgm:pt>
    <dgm:pt modelId="{7A06CBDC-0A38-44CC-862D-110FFDB20553}" type="pres">
      <dgm:prSet presAssocID="{74BFF7C6-860F-4558-A272-749E57E46CC2}" presName="connector1" presStyleLbl="sibTrans2D1" presStyleIdx="0" presStyleCnt="3"/>
      <dgm:spPr/>
      <dgm:t>
        <a:bodyPr/>
        <a:lstStyle/>
        <a:p>
          <a:endParaRPr lang="zh-CN" altLang="en-US"/>
        </a:p>
      </dgm:t>
    </dgm:pt>
    <dgm:pt modelId="{DFB20399-D119-4952-93C4-1F4171EFFFCB}" type="pres">
      <dgm:prSet presAssocID="{3CB8200A-162F-443B-B138-9AD4D6FFCCD1}" presName="connector2" presStyleLbl="sibTrans2D1" presStyleIdx="1" presStyleCnt="3"/>
      <dgm:spPr/>
      <dgm:t>
        <a:bodyPr/>
        <a:lstStyle/>
        <a:p>
          <a:endParaRPr lang="zh-CN" altLang="en-US"/>
        </a:p>
      </dgm:t>
    </dgm:pt>
    <dgm:pt modelId="{933C78CC-8388-46D2-A874-452859111697}" type="pres">
      <dgm:prSet presAssocID="{B5083996-525E-465B-971C-6CD9C15757AD}" presName="connector3" presStyleLbl="sibTrans2D1" presStyleIdx="2" presStyleCnt="3"/>
      <dgm:spPr/>
      <dgm:t>
        <a:bodyPr/>
        <a:lstStyle/>
        <a:p>
          <a:endParaRPr lang="zh-CN" altLang="en-US"/>
        </a:p>
      </dgm:t>
    </dgm:pt>
  </dgm:ptLst>
  <dgm:cxnLst>
    <dgm:cxn modelId="{D0B812E9-1E21-4B8A-87A8-70C3B080CFEE}" type="presOf" srcId="{353F2CC2-EF8A-4ED3-83C7-AA2787405498}" destId="{ED8CB4F3-71FD-4280-87CC-761698AE52C7}" srcOrd="3" destOrd="0" presId="urn:microsoft.com/office/officeart/2005/8/layout/gear1"/>
    <dgm:cxn modelId="{20140897-B0A5-48C9-91B6-2CD769F4369E}" type="presOf" srcId="{74BFF7C6-860F-4558-A272-749E57E46CC2}" destId="{7A06CBDC-0A38-44CC-862D-110FFDB20553}" srcOrd="0" destOrd="0" presId="urn:microsoft.com/office/officeart/2005/8/layout/gear1"/>
    <dgm:cxn modelId="{EC69C5ED-6307-420B-B48C-9737267339E0}" type="presOf" srcId="{8F0E4607-3FF3-49F1-A842-D4134B77EE26}" destId="{19D67EF7-363A-4D92-92DD-3D439FEB5C45}" srcOrd="2" destOrd="0" presId="urn:microsoft.com/office/officeart/2005/8/layout/gear1"/>
    <dgm:cxn modelId="{563ADCAF-F6EE-4786-9136-978BE5BCD943}" type="presOf" srcId="{8F0E4607-3FF3-49F1-A842-D4134B77EE26}" destId="{8E907632-14FD-47B2-AFAB-7487D34D612A}" srcOrd="1" destOrd="0" presId="urn:microsoft.com/office/officeart/2005/8/layout/gear1"/>
    <dgm:cxn modelId="{01FF5344-9F67-4BBD-BDB9-9EB686451B28}" type="presOf" srcId="{73C403CF-848F-463B-AE9C-758B09BF5FA1}" destId="{57B47365-F7F2-448D-908C-DEF9FE87C0D5}" srcOrd="1" destOrd="0" presId="urn:microsoft.com/office/officeart/2005/8/layout/gear1"/>
    <dgm:cxn modelId="{F77A0E9A-6F60-4ECC-8E5D-8606552C6812}" type="presOf" srcId="{73C403CF-848F-463B-AE9C-758B09BF5FA1}" destId="{C3577D8B-C3F4-41DD-BDDF-37AB9246F34B}" srcOrd="0" destOrd="0" presId="urn:microsoft.com/office/officeart/2005/8/layout/gear1"/>
    <dgm:cxn modelId="{146B9F99-2788-4CFB-A7A4-AD24CB6997FF}" type="presOf" srcId="{353F2CC2-EF8A-4ED3-83C7-AA2787405498}" destId="{B6514746-F2AE-48B5-876A-8095E591170A}" srcOrd="1" destOrd="0" presId="urn:microsoft.com/office/officeart/2005/8/layout/gear1"/>
    <dgm:cxn modelId="{A2984AD4-E51C-44DF-A294-D25DBEF1BF3F}" type="presOf" srcId="{3CB8200A-162F-443B-B138-9AD4D6FFCCD1}" destId="{DFB20399-D119-4952-93C4-1F4171EFFFCB}" srcOrd="0" destOrd="0" presId="urn:microsoft.com/office/officeart/2005/8/layout/gear1"/>
    <dgm:cxn modelId="{544FF6B7-1CC0-4D84-A0AD-D935B705FE40}" type="presOf" srcId="{353F2CC2-EF8A-4ED3-83C7-AA2787405498}" destId="{A91878FD-707F-45FD-842E-37FB9F88A691}" srcOrd="0" destOrd="0" presId="urn:microsoft.com/office/officeart/2005/8/layout/gear1"/>
    <dgm:cxn modelId="{997C9D4D-ECF2-4B7C-959F-37B466EE65DA}" type="presOf" srcId="{353F2CC2-EF8A-4ED3-83C7-AA2787405498}" destId="{536397EC-BFF3-4740-B8D0-A23492B5EDF7}" srcOrd="2" destOrd="0" presId="urn:microsoft.com/office/officeart/2005/8/layout/gear1"/>
    <dgm:cxn modelId="{73FCFE3A-9267-4C89-8C00-5FCC8200CC82}" srcId="{D4723C43-7AD3-44FA-9D8A-01E677E9CD2D}" destId="{353F2CC2-EF8A-4ED3-83C7-AA2787405498}" srcOrd="2" destOrd="0" parTransId="{A6301CEA-40CF-4A60-A10A-A91C91724833}" sibTransId="{B5083996-525E-465B-971C-6CD9C15757AD}"/>
    <dgm:cxn modelId="{1ADF5DAD-F9A5-40D3-9B8C-A2D2A838958B}" srcId="{D4723C43-7AD3-44FA-9D8A-01E677E9CD2D}" destId="{8F0E4607-3FF3-49F1-A842-D4134B77EE26}" srcOrd="1" destOrd="0" parTransId="{3C87CA1A-F8A1-4BF8-B671-E1C5A1DC82F3}" sibTransId="{3CB8200A-162F-443B-B138-9AD4D6FFCCD1}"/>
    <dgm:cxn modelId="{6A4A362A-AAEE-41E5-9EBF-FE4B54FD5347}" type="presOf" srcId="{8F0E4607-3FF3-49F1-A842-D4134B77EE26}" destId="{0039C136-6721-4035-B3BB-7CE05C33EF1B}" srcOrd="0" destOrd="0" presId="urn:microsoft.com/office/officeart/2005/8/layout/gear1"/>
    <dgm:cxn modelId="{963F3992-FCEC-4051-BB60-5B0C12681657}" type="presOf" srcId="{D4723C43-7AD3-44FA-9D8A-01E677E9CD2D}" destId="{536D8B7F-72D2-4440-9B14-29E48FFE0E43}" srcOrd="0" destOrd="0" presId="urn:microsoft.com/office/officeart/2005/8/layout/gear1"/>
    <dgm:cxn modelId="{9AD23792-8F96-4416-96FA-4B269B2FC956}" type="presOf" srcId="{73C403CF-848F-463B-AE9C-758B09BF5FA1}" destId="{032E3371-B8F9-4244-953C-3F5D4377D562}" srcOrd="2" destOrd="0" presId="urn:microsoft.com/office/officeart/2005/8/layout/gear1"/>
    <dgm:cxn modelId="{9C8BC963-B447-465C-B274-9EFB494007B8}" type="presOf" srcId="{B5083996-525E-465B-971C-6CD9C15757AD}" destId="{933C78CC-8388-46D2-A874-452859111697}" srcOrd="0" destOrd="0" presId="urn:microsoft.com/office/officeart/2005/8/layout/gear1"/>
    <dgm:cxn modelId="{2590F77D-43EF-4F87-AE27-27CFB67BF46E}" srcId="{D4723C43-7AD3-44FA-9D8A-01E677E9CD2D}" destId="{73C403CF-848F-463B-AE9C-758B09BF5FA1}" srcOrd="0" destOrd="0" parTransId="{3EBD96E1-72DC-454F-B50B-4FABC3E42E9C}" sibTransId="{74BFF7C6-860F-4558-A272-749E57E46CC2}"/>
    <dgm:cxn modelId="{3A738C4F-B396-4B0F-94EB-55EA892AB60B}" type="presParOf" srcId="{536D8B7F-72D2-4440-9B14-29E48FFE0E43}" destId="{C3577D8B-C3F4-41DD-BDDF-37AB9246F34B}" srcOrd="0" destOrd="0" presId="urn:microsoft.com/office/officeart/2005/8/layout/gear1"/>
    <dgm:cxn modelId="{0EEB9D9C-89C3-4325-944C-4A304D666B5D}" type="presParOf" srcId="{536D8B7F-72D2-4440-9B14-29E48FFE0E43}" destId="{57B47365-F7F2-448D-908C-DEF9FE87C0D5}" srcOrd="1" destOrd="0" presId="urn:microsoft.com/office/officeart/2005/8/layout/gear1"/>
    <dgm:cxn modelId="{AF48D495-238C-4E16-A0D0-2F33EE66E022}" type="presParOf" srcId="{536D8B7F-72D2-4440-9B14-29E48FFE0E43}" destId="{032E3371-B8F9-4244-953C-3F5D4377D562}" srcOrd="2" destOrd="0" presId="urn:microsoft.com/office/officeart/2005/8/layout/gear1"/>
    <dgm:cxn modelId="{60A2BDE5-9231-4270-92FB-EC5C8C5011AE}" type="presParOf" srcId="{536D8B7F-72D2-4440-9B14-29E48FFE0E43}" destId="{0039C136-6721-4035-B3BB-7CE05C33EF1B}" srcOrd="3" destOrd="0" presId="urn:microsoft.com/office/officeart/2005/8/layout/gear1"/>
    <dgm:cxn modelId="{96D91299-AE06-4A8F-8A60-F797B9D2A6C8}" type="presParOf" srcId="{536D8B7F-72D2-4440-9B14-29E48FFE0E43}" destId="{8E907632-14FD-47B2-AFAB-7487D34D612A}" srcOrd="4" destOrd="0" presId="urn:microsoft.com/office/officeart/2005/8/layout/gear1"/>
    <dgm:cxn modelId="{C770353C-AB70-4C4B-9A84-75345E9B50EB}" type="presParOf" srcId="{536D8B7F-72D2-4440-9B14-29E48FFE0E43}" destId="{19D67EF7-363A-4D92-92DD-3D439FEB5C45}" srcOrd="5" destOrd="0" presId="urn:microsoft.com/office/officeart/2005/8/layout/gear1"/>
    <dgm:cxn modelId="{DA64167D-9F15-407C-91DF-E32E394CB709}" type="presParOf" srcId="{536D8B7F-72D2-4440-9B14-29E48FFE0E43}" destId="{A91878FD-707F-45FD-842E-37FB9F88A691}" srcOrd="6" destOrd="0" presId="urn:microsoft.com/office/officeart/2005/8/layout/gear1"/>
    <dgm:cxn modelId="{5E942C5C-DE10-4FAB-9931-64911BF6C93D}" type="presParOf" srcId="{536D8B7F-72D2-4440-9B14-29E48FFE0E43}" destId="{B6514746-F2AE-48B5-876A-8095E591170A}" srcOrd="7" destOrd="0" presId="urn:microsoft.com/office/officeart/2005/8/layout/gear1"/>
    <dgm:cxn modelId="{49DE272B-44D5-42AC-AA7E-23A88620DEEC}" type="presParOf" srcId="{536D8B7F-72D2-4440-9B14-29E48FFE0E43}" destId="{536397EC-BFF3-4740-B8D0-A23492B5EDF7}" srcOrd="8" destOrd="0" presId="urn:microsoft.com/office/officeart/2005/8/layout/gear1"/>
    <dgm:cxn modelId="{4F7CAFA5-6E6B-41EA-AF4D-5DD767F5A3A5}" type="presParOf" srcId="{536D8B7F-72D2-4440-9B14-29E48FFE0E43}" destId="{ED8CB4F3-71FD-4280-87CC-761698AE52C7}" srcOrd="9" destOrd="0" presId="urn:microsoft.com/office/officeart/2005/8/layout/gear1"/>
    <dgm:cxn modelId="{4EBDFD71-0435-43D1-863F-DF8B0BFCBFA5}" type="presParOf" srcId="{536D8B7F-72D2-4440-9B14-29E48FFE0E43}" destId="{7A06CBDC-0A38-44CC-862D-110FFDB20553}" srcOrd="10" destOrd="0" presId="urn:microsoft.com/office/officeart/2005/8/layout/gear1"/>
    <dgm:cxn modelId="{13B517A0-A756-4E10-938F-3C7D8B8FE60E}" type="presParOf" srcId="{536D8B7F-72D2-4440-9B14-29E48FFE0E43}" destId="{DFB20399-D119-4952-93C4-1F4171EFFFCB}" srcOrd="11" destOrd="0" presId="urn:microsoft.com/office/officeart/2005/8/layout/gear1"/>
    <dgm:cxn modelId="{A7989ED4-0787-4744-9EC0-0AC336558385}" type="presParOf" srcId="{536D8B7F-72D2-4440-9B14-29E48FFE0E43}" destId="{933C78CC-8388-46D2-A874-452859111697}" srcOrd="12" destOrd="0" presId="urn:microsoft.com/office/officeart/2005/8/layout/gear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358EBE2-B466-45BF-834D-65484059FA31}" type="doc">
      <dgm:prSet loTypeId="urn:microsoft.com/office/officeart/2005/8/layout/cycle3" loCatId="cycle" qsTypeId="urn:microsoft.com/office/officeart/2005/8/quickstyle/simple1" qsCatId="simple" csTypeId="urn:microsoft.com/office/officeart/2005/8/colors/accent1_2" csCatId="accent1" phldr="1"/>
      <dgm:spPr/>
      <dgm:t>
        <a:bodyPr/>
        <a:lstStyle/>
        <a:p>
          <a:endParaRPr lang="zh-CN" altLang="en-US"/>
        </a:p>
      </dgm:t>
    </dgm:pt>
    <dgm:pt modelId="{5AF1CBE9-FC5C-448E-AE4D-A48C04D0CD2D}">
      <dgm:prSet phldrT="[文本]"/>
      <dgm:spPr/>
      <dgm:t>
        <a:bodyPr/>
        <a:lstStyle/>
        <a:p>
          <a:r>
            <a:rPr lang="zh-CN" altLang="en-US" dirty="0" smtClean="0"/>
            <a:t>支持多种网络制式</a:t>
          </a:r>
          <a:endParaRPr lang="zh-CN" altLang="en-US" dirty="0"/>
        </a:p>
      </dgm:t>
    </dgm:pt>
    <dgm:pt modelId="{03B3A0DD-4FB1-448F-B696-A5DAB79E03C6}" type="parTrans" cxnId="{D365F421-B1C1-4C7C-8CDF-24D93994AF66}">
      <dgm:prSet/>
      <dgm:spPr/>
      <dgm:t>
        <a:bodyPr/>
        <a:lstStyle/>
        <a:p>
          <a:endParaRPr lang="zh-CN" altLang="en-US"/>
        </a:p>
      </dgm:t>
    </dgm:pt>
    <dgm:pt modelId="{29045E2B-8901-4E31-9D0D-36FF1D16606E}" type="sibTrans" cxnId="{D365F421-B1C1-4C7C-8CDF-24D93994AF66}">
      <dgm:prSet/>
      <dgm:spPr/>
      <dgm:t>
        <a:bodyPr/>
        <a:lstStyle/>
        <a:p>
          <a:endParaRPr lang="zh-CN" altLang="en-US"/>
        </a:p>
      </dgm:t>
    </dgm:pt>
    <dgm:pt modelId="{E88F06D8-5FF7-4DF1-A66E-B96006021AB1}">
      <dgm:prSet phldrT="[文本]"/>
      <dgm:spPr/>
      <dgm:t>
        <a:bodyPr/>
        <a:lstStyle/>
        <a:p>
          <a:r>
            <a:rPr lang="zh-CN" altLang="en-US" dirty="0" smtClean="0"/>
            <a:t>语音业务和数据业务测试</a:t>
          </a:r>
          <a:endParaRPr lang="zh-CN" altLang="en-US" dirty="0"/>
        </a:p>
      </dgm:t>
    </dgm:pt>
    <dgm:pt modelId="{F8FE318F-E76D-437E-936D-1CDFDBCAE854}" type="parTrans" cxnId="{A05213C5-96FF-4550-953E-591EAA6401C3}">
      <dgm:prSet/>
      <dgm:spPr/>
      <dgm:t>
        <a:bodyPr/>
        <a:lstStyle/>
        <a:p>
          <a:endParaRPr lang="zh-CN" altLang="en-US"/>
        </a:p>
      </dgm:t>
    </dgm:pt>
    <dgm:pt modelId="{8088639E-42A1-4579-845D-9175F585707B}" type="sibTrans" cxnId="{A05213C5-96FF-4550-953E-591EAA6401C3}">
      <dgm:prSet/>
      <dgm:spPr/>
      <dgm:t>
        <a:bodyPr/>
        <a:lstStyle/>
        <a:p>
          <a:endParaRPr lang="zh-CN" altLang="en-US"/>
        </a:p>
      </dgm:t>
    </dgm:pt>
    <dgm:pt modelId="{31F4EF3D-D361-4969-9766-86505B056979}">
      <dgm:prSet phldrT="[文本]"/>
      <dgm:spPr/>
      <dgm:t>
        <a:bodyPr/>
        <a:lstStyle/>
        <a:p>
          <a:r>
            <a:rPr lang="zh-CN" altLang="en-US" dirty="0" smtClean="0"/>
            <a:t>语音质量评估</a:t>
          </a:r>
          <a:endParaRPr lang="zh-CN" altLang="en-US" dirty="0"/>
        </a:p>
      </dgm:t>
    </dgm:pt>
    <dgm:pt modelId="{9C9FD6C3-1DD9-4FCE-9692-06DC2C8522B7}" type="parTrans" cxnId="{A91BFCDE-5F4C-474C-A9DF-57CB56FF334D}">
      <dgm:prSet/>
      <dgm:spPr/>
      <dgm:t>
        <a:bodyPr/>
        <a:lstStyle/>
        <a:p>
          <a:endParaRPr lang="zh-CN" altLang="en-US"/>
        </a:p>
      </dgm:t>
    </dgm:pt>
    <dgm:pt modelId="{B9A6745A-DEFB-4AE2-B6A9-A4675B7EBD7A}" type="sibTrans" cxnId="{A91BFCDE-5F4C-474C-A9DF-57CB56FF334D}">
      <dgm:prSet/>
      <dgm:spPr/>
      <dgm:t>
        <a:bodyPr/>
        <a:lstStyle/>
        <a:p>
          <a:endParaRPr lang="zh-CN" altLang="en-US"/>
        </a:p>
      </dgm:t>
    </dgm:pt>
    <dgm:pt modelId="{F4A746B4-6212-4948-A96C-1B038D9DF7DD}">
      <dgm:prSet phldrT="[文本]"/>
      <dgm:spPr/>
      <dgm:t>
        <a:bodyPr/>
        <a:lstStyle/>
        <a:p>
          <a:r>
            <a:rPr lang="zh-CN" altLang="en-US" dirty="0" smtClean="0"/>
            <a:t>地理化显示无线测量数据</a:t>
          </a:r>
          <a:endParaRPr lang="zh-CN" altLang="en-US" dirty="0"/>
        </a:p>
      </dgm:t>
    </dgm:pt>
    <dgm:pt modelId="{E0F18EEF-89FB-4B60-803A-6E5A1A55EEC6}" type="parTrans" cxnId="{5907A453-C859-47BA-864C-2BC5EB412332}">
      <dgm:prSet/>
      <dgm:spPr/>
      <dgm:t>
        <a:bodyPr/>
        <a:lstStyle/>
        <a:p>
          <a:endParaRPr lang="zh-CN" altLang="en-US"/>
        </a:p>
      </dgm:t>
    </dgm:pt>
    <dgm:pt modelId="{5643345B-0186-4A7D-B9D2-71F59535D541}" type="sibTrans" cxnId="{5907A453-C859-47BA-864C-2BC5EB412332}">
      <dgm:prSet/>
      <dgm:spPr/>
      <dgm:t>
        <a:bodyPr/>
        <a:lstStyle/>
        <a:p>
          <a:endParaRPr lang="zh-CN" altLang="en-US"/>
        </a:p>
      </dgm:t>
    </dgm:pt>
    <dgm:pt modelId="{4CA4323A-42C0-437B-A347-DE8B787B3B4D}">
      <dgm:prSet phldrT="[文本]"/>
      <dgm:spPr/>
      <dgm:t>
        <a:bodyPr/>
        <a:lstStyle/>
        <a:p>
          <a:r>
            <a:rPr lang="zh-CN" altLang="en-US" dirty="0" smtClean="0"/>
            <a:t>支持多种视图</a:t>
          </a:r>
          <a:endParaRPr lang="zh-CN" altLang="en-US" dirty="0"/>
        </a:p>
      </dgm:t>
    </dgm:pt>
    <dgm:pt modelId="{65A72C89-B59E-4A09-AAD8-C9FCE091F45B}" type="parTrans" cxnId="{DBCA9EF3-7809-4FF4-8347-B2EE346D4A3F}">
      <dgm:prSet/>
      <dgm:spPr/>
      <dgm:t>
        <a:bodyPr/>
        <a:lstStyle/>
        <a:p>
          <a:endParaRPr lang="zh-CN" altLang="en-US"/>
        </a:p>
      </dgm:t>
    </dgm:pt>
    <dgm:pt modelId="{8AEF5987-60F5-4695-B9AC-038906E173D2}" type="sibTrans" cxnId="{DBCA9EF3-7809-4FF4-8347-B2EE346D4A3F}">
      <dgm:prSet/>
      <dgm:spPr/>
      <dgm:t>
        <a:bodyPr/>
        <a:lstStyle/>
        <a:p>
          <a:endParaRPr lang="zh-CN" altLang="en-US"/>
        </a:p>
      </dgm:t>
    </dgm:pt>
    <dgm:pt modelId="{1D3B9825-63CB-46CE-AF8F-7FFF4C9B3007}" type="pres">
      <dgm:prSet presAssocID="{D358EBE2-B466-45BF-834D-65484059FA31}" presName="Name0" presStyleCnt="0">
        <dgm:presLayoutVars>
          <dgm:dir/>
          <dgm:resizeHandles val="exact"/>
        </dgm:presLayoutVars>
      </dgm:prSet>
      <dgm:spPr/>
      <dgm:t>
        <a:bodyPr/>
        <a:lstStyle/>
        <a:p>
          <a:endParaRPr lang="zh-CN" altLang="en-US"/>
        </a:p>
      </dgm:t>
    </dgm:pt>
    <dgm:pt modelId="{03846F64-E51F-417C-8C83-5576C7003635}" type="pres">
      <dgm:prSet presAssocID="{D358EBE2-B466-45BF-834D-65484059FA31}" presName="cycle" presStyleCnt="0"/>
      <dgm:spPr/>
    </dgm:pt>
    <dgm:pt modelId="{7A166B6A-E322-4B7A-9CEA-267A6E8F93E0}" type="pres">
      <dgm:prSet presAssocID="{5AF1CBE9-FC5C-448E-AE4D-A48C04D0CD2D}" presName="nodeFirstNode" presStyleLbl="node1" presStyleIdx="0" presStyleCnt="5">
        <dgm:presLayoutVars>
          <dgm:bulletEnabled val="1"/>
        </dgm:presLayoutVars>
      </dgm:prSet>
      <dgm:spPr/>
      <dgm:t>
        <a:bodyPr/>
        <a:lstStyle/>
        <a:p>
          <a:endParaRPr lang="zh-CN" altLang="en-US"/>
        </a:p>
      </dgm:t>
    </dgm:pt>
    <dgm:pt modelId="{BCAC5E22-01A6-4FF4-8E5D-7D530E33DA89}" type="pres">
      <dgm:prSet presAssocID="{29045E2B-8901-4E31-9D0D-36FF1D16606E}" presName="sibTransFirstNode" presStyleLbl="bgShp" presStyleIdx="0" presStyleCnt="1"/>
      <dgm:spPr/>
      <dgm:t>
        <a:bodyPr/>
        <a:lstStyle/>
        <a:p>
          <a:endParaRPr lang="zh-CN" altLang="en-US"/>
        </a:p>
      </dgm:t>
    </dgm:pt>
    <dgm:pt modelId="{A8F9C9D1-6B67-4033-B9C3-5220A7B50040}" type="pres">
      <dgm:prSet presAssocID="{E88F06D8-5FF7-4DF1-A66E-B96006021AB1}" presName="nodeFollowingNodes" presStyleLbl="node1" presStyleIdx="1" presStyleCnt="5">
        <dgm:presLayoutVars>
          <dgm:bulletEnabled val="1"/>
        </dgm:presLayoutVars>
      </dgm:prSet>
      <dgm:spPr/>
      <dgm:t>
        <a:bodyPr/>
        <a:lstStyle/>
        <a:p>
          <a:endParaRPr lang="zh-CN" altLang="en-US"/>
        </a:p>
      </dgm:t>
    </dgm:pt>
    <dgm:pt modelId="{8563979A-0B96-4514-95E0-B6CF4C3DCF3E}" type="pres">
      <dgm:prSet presAssocID="{31F4EF3D-D361-4969-9766-86505B056979}" presName="nodeFollowingNodes" presStyleLbl="node1" presStyleIdx="2" presStyleCnt="5">
        <dgm:presLayoutVars>
          <dgm:bulletEnabled val="1"/>
        </dgm:presLayoutVars>
      </dgm:prSet>
      <dgm:spPr/>
      <dgm:t>
        <a:bodyPr/>
        <a:lstStyle/>
        <a:p>
          <a:endParaRPr lang="zh-CN" altLang="en-US"/>
        </a:p>
      </dgm:t>
    </dgm:pt>
    <dgm:pt modelId="{99A9D14B-1E96-4283-AD94-6C00B248488F}" type="pres">
      <dgm:prSet presAssocID="{F4A746B4-6212-4948-A96C-1B038D9DF7DD}" presName="nodeFollowingNodes" presStyleLbl="node1" presStyleIdx="3" presStyleCnt="5">
        <dgm:presLayoutVars>
          <dgm:bulletEnabled val="1"/>
        </dgm:presLayoutVars>
      </dgm:prSet>
      <dgm:spPr/>
      <dgm:t>
        <a:bodyPr/>
        <a:lstStyle/>
        <a:p>
          <a:endParaRPr lang="zh-CN" altLang="en-US"/>
        </a:p>
      </dgm:t>
    </dgm:pt>
    <dgm:pt modelId="{EFC5981D-C599-4152-B686-FD3ECE3FE990}" type="pres">
      <dgm:prSet presAssocID="{4CA4323A-42C0-437B-A347-DE8B787B3B4D}" presName="nodeFollowingNodes" presStyleLbl="node1" presStyleIdx="4" presStyleCnt="5">
        <dgm:presLayoutVars>
          <dgm:bulletEnabled val="1"/>
        </dgm:presLayoutVars>
      </dgm:prSet>
      <dgm:spPr/>
      <dgm:t>
        <a:bodyPr/>
        <a:lstStyle/>
        <a:p>
          <a:endParaRPr lang="zh-CN" altLang="en-US"/>
        </a:p>
      </dgm:t>
    </dgm:pt>
  </dgm:ptLst>
  <dgm:cxnLst>
    <dgm:cxn modelId="{01049454-C100-4023-B24C-7B95037991F8}" type="presOf" srcId="{E88F06D8-5FF7-4DF1-A66E-B96006021AB1}" destId="{A8F9C9D1-6B67-4033-B9C3-5220A7B50040}" srcOrd="0" destOrd="0" presId="urn:microsoft.com/office/officeart/2005/8/layout/cycle3"/>
    <dgm:cxn modelId="{45A41044-FE79-4FEC-A55B-B4CB97EEB326}" type="presOf" srcId="{29045E2B-8901-4E31-9D0D-36FF1D16606E}" destId="{BCAC5E22-01A6-4FF4-8E5D-7D530E33DA89}" srcOrd="0" destOrd="0" presId="urn:microsoft.com/office/officeart/2005/8/layout/cycle3"/>
    <dgm:cxn modelId="{31624BA2-0303-4484-BB5B-E95CC18FB881}" type="presOf" srcId="{F4A746B4-6212-4948-A96C-1B038D9DF7DD}" destId="{99A9D14B-1E96-4283-AD94-6C00B248488F}" srcOrd="0" destOrd="0" presId="urn:microsoft.com/office/officeart/2005/8/layout/cycle3"/>
    <dgm:cxn modelId="{DBCA9EF3-7809-4FF4-8347-B2EE346D4A3F}" srcId="{D358EBE2-B466-45BF-834D-65484059FA31}" destId="{4CA4323A-42C0-437B-A347-DE8B787B3B4D}" srcOrd="4" destOrd="0" parTransId="{65A72C89-B59E-4A09-AAD8-C9FCE091F45B}" sibTransId="{8AEF5987-60F5-4695-B9AC-038906E173D2}"/>
    <dgm:cxn modelId="{5907A453-C859-47BA-864C-2BC5EB412332}" srcId="{D358EBE2-B466-45BF-834D-65484059FA31}" destId="{F4A746B4-6212-4948-A96C-1B038D9DF7DD}" srcOrd="3" destOrd="0" parTransId="{E0F18EEF-89FB-4B60-803A-6E5A1A55EEC6}" sibTransId="{5643345B-0186-4A7D-B9D2-71F59535D541}"/>
    <dgm:cxn modelId="{79A53B39-98E7-4DEA-BFB6-2518FEDB8E32}" type="presOf" srcId="{5AF1CBE9-FC5C-448E-AE4D-A48C04D0CD2D}" destId="{7A166B6A-E322-4B7A-9CEA-267A6E8F93E0}" srcOrd="0" destOrd="0" presId="urn:microsoft.com/office/officeart/2005/8/layout/cycle3"/>
    <dgm:cxn modelId="{B424FAB6-D61F-4600-B7CB-F837965C029D}" type="presOf" srcId="{4CA4323A-42C0-437B-A347-DE8B787B3B4D}" destId="{EFC5981D-C599-4152-B686-FD3ECE3FE990}" srcOrd="0" destOrd="0" presId="urn:microsoft.com/office/officeart/2005/8/layout/cycle3"/>
    <dgm:cxn modelId="{A91BFCDE-5F4C-474C-A9DF-57CB56FF334D}" srcId="{D358EBE2-B466-45BF-834D-65484059FA31}" destId="{31F4EF3D-D361-4969-9766-86505B056979}" srcOrd="2" destOrd="0" parTransId="{9C9FD6C3-1DD9-4FCE-9692-06DC2C8522B7}" sibTransId="{B9A6745A-DEFB-4AE2-B6A9-A4675B7EBD7A}"/>
    <dgm:cxn modelId="{A05213C5-96FF-4550-953E-591EAA6401C3}" srcId="{D358EBE2-B466-45BF-834D-65484059FA31}" destId="{E88F06D8-5FF7-4DF1-A66E-B96006021AB1}" srcOrd="1" destOrd="0" parTransId="{F8FE318F-E76D-437E-936D-1CDFDBCAE854}" sibTransId="{8088639E-42A1-4579-845D-9175F585707B}"/>
    <dgm:cxn modelId="{D365F421-B1C1-4C7C-8CDF-24D93994AF66}" srcId="{D358EBE2-B466-45BF-834D-65484059FA31}" destId="{5AF1CBE9-FC5C-448E-AE4D-A48C04D0CD2D}" srcOrd="0" destOrd="0" parTransId="{03B3A0DD-4FB1-448F-B696-A5DAB79E03C6}" sibTransId="{29045E2B-8901-4E31-9D0D-36FF1D16606E}"/>
    <dgm:cxn modelId="{45146D46-DE13-47D5-9F39-792C020A57E3}" type="presOf" srcId="{31F4EF3D-D361-4969-9766-86505B056979}" destId="{8563979A-0B96-4514-95E0-B6CF4C3DCF3E}" srcOrd="0" destOrd="0" presId="urn:microsoft.com/office/officeart/2005/8/layout/cycle3"/>
    <dgm:cxn modelId="{A20F3A3B-942C-4AC3-9A32-ED37B9F6F521}" type="presOf" srcId="{D358EBE2-B466-45BF-834D-65484059FA31}" destId="{1D3B9825-63CB-46CE-AF8F-7FFF4C9B3007}" srcOrd="0" destOrd="0" presId="urn:microsoft.com/office/officeart/2005/8/layout/cycle3"/>
    <dgm:cxn modelId="{DB3F90C0-BA68-421C-ABC6-55CFD7988786}" type="presParOf" srcId="{1D3B9825-63CB-46CE-AF8F-7FFF4C9B3007}" destId="{03846F64-E51F-417C-8C83-5576C7003635}" srcOrd="0" destOrd="0" presId="urn:microsoft.com/office/officeart/2005/8/layout/cycle3"/>
    <dgm:cxn modelId="{E5D1B9E1-42A3-49A6-85DE-C87EEFE135F4}" type="presParOf" srcId="{03846F64-E51F-417C-8C83-5576C7003635}" destId="{7A166B6A-E322-4B7A-9CEA-267A6E8F93E0}" srcOrd="0" destOrd="0" presId="urn:microsoft.com/office/officeart/2005/8/layout/cycle3"/>
    <dgm:cxn modelId="{D08DA164-78EF-47D1-B7AA-E60627C93C9A}" type="presParOf" srcId="{03846F64-E51F-417C-8C83-5576C7003635}" destId="{BCAC5E22-01A6-4FF4-8E5D-7D530E33DA89}" srcOrd="1" destOrd="0" presId="urn:microsoft.com/office/officeart/2005/8/layout/cycle3"/>
    <dgm:cxn modelId="{3DC5E9D4-1248-41FD-A8DC-29FA669FAFEA}" type="presParOf" srcId="{03846F64-E51F-417C-8C83-5576C7003635}" destId="{A8F9C9D1-6B67-4033-B9C3-5220A7B50040}" srcOrd="2" destOrd="0" presId="urn:microsoft.com/office/officeart/2005/8/layout/cycle3"/>
    <dgm:cxn modelId="{223D3430-5D9F-46AE-9419-A023F92FCEA7}" type="presParOf" srcId="{03846F64-E51F-417C-8C83-5576C7003635}" destId="{8563979A-0B96-4514-95E0-B6CF4C3DCF3E}" srcOrd="3" destOrd="0" presId="urn:microsoft.com/office/officeart/2005/8/layout/cycle3"/>
    <dgm:cxn modelId="{76489D01-4497-4AFC-99A4-E411EA25A59A}" type="presParOf" srcId="{03846F64-E51F-417C-8C83-5576C7003635}" destId="{99A9D14B-1E96-4283-AD94-6C00B248488F}" srcOrd="4" destOrd="0" presId="urn:microsoft.com/office/officeart/2005/8/layout/cycle3"/>
    <dgm:cxn modelId="{A27415DC-537C-4803-B37A-ABF01EA738A2}" type="presParOf" srcId="{03846F64-E51F-417C-8C83-5576C7003635}" destId="{EFC5981D-C599-4152-B686-FD3ECE3FE990}" srcOrd="5"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2C12F7-BA7A-4BDF-9126-ADA041F0383A}"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zh-CN" altLang="en-US"/>
        </a:p>
      </dgm:t>
    </dgm:pt>
    <dgm:pt modelId="{BDAD1D29-0E9B-421D-AA94-879B6D610110}">
      <dgm:prSet phldrT="[文本]"/>
      <dgm:spPr/>
      <dgm:t>
        <a:bodyPr/>
        <a:lstStyle/>
        <a:p>
          <a:r>
            <a:rPr lang="zh-CN" altLang="en-US" dirty="0" smtClean="0"/>
            <a:t>实测模式</a:t>
          </a:r>
          <a:endParaRPr lang="zh-CN" altLang="en-US" dirty="0"/>
        </a:p>
      </dgm:t>
    </dgm:pt>
    <dgm:pt modelId="{90D6F614-8CFF-494C-B7B2-B7EDC0959B0E}" type="parTrans" cxnId="{F3BF49C0-6126-4E2F-9826-5EEA58F7CBB4}">
      <dgm:prSet/>
      <dgm:spPr/>
      <dgm:t>
        <a:bodyPr/>
        <a:lstStyle/>
        <a:p>
          <a:endParaRPr lang="zh-CN" altLang="en-US"/>
        </a:p>
      </dgm:t>
    </dgm:pt>
    <dgm:pt modelId="{724A31FD-D6A5-494E-8511-8F21D27F26B3}" type="sibTrans" cxnId="{F3BF49C0-6126-4E2F-9826-5EEA58F7CBB4}">
      <dgm:prSet/>
      <dgm:spPr/>
      <dgm:t>
        <a:bodyPr/>
        <a:lstStyle/>
        <a:p>
          <a:endParaRPr lang="zh-CN" altLang="en-US"/>
        </a:p>
      </dgm:t>
    </dgm:pt>
    <dgm:pt modelId="{11298844-E740-4454-AD94-ACDFCDB0A34C}">
      <dgm:prSet phldrT="[文本]"/>
      <dgm:spPr/>
      <dgm:t>
        <a:bodyPr/>
        <a:lstStyle/>
        <a:p>
          <a:r>
            <a:rPr lang="en-US" altLang="zh-CN" dirty="0" smtClean="0"/>
            <a:t>Probe</a:t>
          </a:r>
          <a:r>
            <a:rPr lang="zh-CN" altLang="en-US" dirty="0" smtClean="0"/>
            <a:t>结合测试终端和其它外部设备，采集空口参数，并记录测试数据，将测试数据保存在</a:t>
          </a:r>
          <a:r>
            <a:rPr lang="en-US" altLang="zh-CN" dirty="0" err="1" smtClean="0"/>
            <a:t>Logfile</a:t>
          </a:r>
          <a:r>
            <a:rPr lang="zh-CN" altLang="en-US" dirty="0" smtClean="0"/>
            <a:t>中。在采集过程中，还可以实时观察测试数据。</a:t>
          </a:r>
          <a:endParaRPr lang="zh-CN" altLang="en-US" dirty="0"/>
        </a:p>
      </dgm:t>
    </dgm:pt>
    <dgm:pt modelId="{1ED510D1-91C9-48AC-86B4-44E50F789A4E}" type="parTrans" cxnId="{F9BF74EE-AB2E-4307-8ECC-1482E360153D}">
      <dgm:prSet/>
      <dgm:spPr/>
      <dgm:t>
        <a:bodyPr/>
        <a:lstStyle/>
        <a:p>
          <a:endParaRPr lang="zh-CN" altLang="en-US"/>
        </a:p>
      </dgm:t>
    </dgm:pt>
    <dgm:pt modelId="{151DC26B-9904-484A-AA9F-EAC3F8E7E0A0}" type="sibTrans" cxnId="{F9BF74EE-AB2E-4307-8ECC-1482E360153D}">
      <dgm:prSet/>
      <dgm:spPr/>
      <dgm:t>
        <a:bodyPr/>
        <a:lstStyle/>
        <a:p>
          <a:endParaRPr lang="zh-CN" altLang="en-US"/>
        </a:p>
      </dgm:t>
    </dgm:pt>
    <dgm:pt modelId="{81B327B8-AC7E-46D8-9D1F-B39E5ABE187E}">
      <dgm:prSet phldrT="[文本]"/>
      <dgm:spPr/>
      <dgm:t>
        <a:bodyPr/>
        <a:lstStyle/>
        <a:p>
          <a:r>
            <a:rPr lang="zh-CN" altLang="en-US" dirty="0" smtClean="0"/>
            <a:t>回放模式</a:t>
          </a:r>
          <a:endParaRPr lang="zh-CN" altLang="en-US" dirty="0"/>
        </a:p>
      </dgm:t>
    </dgm:pt>
    <dgm:pt modelId="{3957A94F-6B8D-4437-AC08-3CAEC296497D}" type="parTrans" cxnId="{0DB6A4A0-16F2-4295-A6B0-6FE3878EC87B}">
      <dgm:prSet/>
      <dgm:spPr/>
      <dgm:t>
        <a:bodyPr/>
        <a:lstStyle/>
        <a:p>
          <a:endParaRPr lang="zh-CN" altLang="en-US"/>
        </a:p>
      </dgm:t>
    </dgm:pt>
    <dgm:pt modelId="{FBBB8BF0-84F2-464D-99DA-C6585F8D6E78}" type="sibTrans" cxnId="{0DB6A4A0-16F2-4295-A6B0-6FE3878EC87B}">
      <dgm:prSet/>
      <dgm:spPr/>
      <dgm:t>
        <a:bodyPr/>
        <a:lstStyle/>
        <a:p>
          <a:endParaRPr lang="zh-CN" altLang="en-US"/>
        </a:p>
      </dgm:t>
    </dgm:pt>
    <dgm:pt modelId="{01F35C88-4246-4632-9744-9669D4FF4012}">
      <dgm:prSet phldrT="[文本]"/>
      <dgm:spPr/>
      <dgm:t>
        <a:bodyPr/>
        <a:lstStyle/>
        <a:p>
          <a:r>
            <a:rPr lang="en-US" altLang="zh-CN" dirty="0" smtClean="0"/>
            <a:t>Probe</a:t>
          </a:r>
          <a:r>
            <a:rPr lang="zh-CN" altLang="en-US" dirty="0" smtClean="0"/>
            <a:t>从</a:t>
          </a:r>
          <a:r>
            <a:rPr lang="en-US" altLang="zh-CN" dirty="0" err="1" smtClean="0"/>
            <a:t>Logfile</a:t>
          </a:r>
          <a:r>
            <a:rPr lang="zh-CN" altLang="en-US" dirty="0" smtClean="0"/>
            <a:t>中读取测试数据，重现测试过程。回放过程中，可以调整回放速率，定位回放点到指定位置，便于定位和分析问题。</a:t>
          </a:r>
          <a:endParaRPr lang="zh-CN" altLang="en-US" dirty="0"/>
        </a:p>
      </dgm:t>
    </dgm:pt>
    <dgm:pt modelId="{7DE44565-19A8-470D-B738-4CBA3ADDB62E}" type="parTrans" cxnId="{6EF6AF68-C91A-4B70-AFAC-CEC03BFFB04B}">
      <dgm:prSet/>
      <dgm:spPr/>
      <dgm:t>
        <a:bodyPr/>
        <a:lstStyle/>
        <a:p>
          <a:endParaRPr lang="zh-CN" altLang="en-US"/>
        </a:p>
      </dgm:t>
    </dgm:pt>
    <dgm:pt modelId="{AEBC9E70-99CA-4764-8522-F9FDEFAA29FE}" type="sibTrans" cxnId="{6EF6AF68-C91A-4B70-AFAC-CEC03BFFB04B}">
      <dgm:prSet/>
      <dgm:spPr/>
      <dgm:t>
        <a:bodyPr/>
        <a:lstStyle/>
        <a:p>
          <a:endParaRPr lang="zh-CN" altLang="en-US"/>
        </a:p>
      </dgm:t>
    </dgm:pt>
    <dgm:pt modelId="{E4FA9481-E2B9-44C9-9F16-5F57570DFA8C}" type="pres">
      <dgm:prSet presAssocID="{432C12F7-BA7A-4BDF-9126-ADA041F0383A}" presName="Name0" presStyleCnt="0">
        <dgm:presLayoutVars>
          <dgm:dir/>
          <dgm:animLvl val="lvl"/>
          <dgm:resizeHandles val="exact"/>
        </dgm:presLayoutVars>
      </dgm:prSet>
      <dgm:spPr/>
      <dgm:t>
        <a:bodyPr/>
        <a:lstStyle/>
        <a:p>
          <a:endParaRPr lang="zh-CN" altLang="en-US"/>
        </a:p>
      </dgm:t>
    </dgm:pt>
    <dgm:pt modelId="{DC2880D9-EA75-4100-AA1C-DC1330F01CC6}" type="pres">
      <dgm:prSet presAssocID="{BDAD1D29-0E9B-421D-AA94-879B6D610110}" presName="linNode" presStyleCnt="0"/>
      <dgm:spPr/>
    </dgm:pt>
    <dgm:pt modelId="{71494600-A285-4084-9435-9F753F0E8ABF}" type="pres">
      <dgm:prSet presAssocID="{BDAD1D29-0E9B-421D-AA94-879B6D610110}" presName="parentText" presStyleLbl="node1" presStyleIdx="0" presStyleCnt="2" custScaleX="53231" custLinFactNeighborY="-986">
        <dgm:presLayoutVars>
          <dgm:chMax val="1"/>
          <dgm:bulletEnabled val="1"/>
        </dgm:presLayoutVars>
      </dgm:prSet>
      <dgm:spPr/>
      <dgm:t>
        <a:bodyPr/>
        <a:lstStyle/>
        <a:p>
          <a:endParaRPr lang="zh-CN" altLang="en-US"/>
        </a:p>
      </dgm:t>
    </dgm:pt>
    <dgm:pt modelId="{2EFD0591-40C1-49D3-86CF-590808AA7817}" type="pres">
      <dgm:prSet presAssocID="{BDAD1D29-0E9B-421D-AA94-879B6D610110}" presName="descendantText" presStyleLbl="alignAccFollowNode1" presStyleIdx="0" presStyleCnt="2" custAng="0" custScaleX="107918">
        <dgm:presLayoutVars>
          <dgm:bulletEnabled val="1"/>
        </dgm:presLayoutVars>
      </dgm:prSet>
      <dgm:spPr/>
      <dgm:t>
        <a:bodyPr/>
        <a:lstStyle/>
        <a:p>
          <a:endParaRPr lang="zh-CN" altLang="en-US"/>
        </a:p>
      </dgm:t>
    </dgm:pt>
    <dgm:pt modelId="{05C42CC3-ED71-430C-B89C-BDA1279F57E9}" type="pres">
      <dgm:prSet presAssocID="{724A31FD-D6A5-494E-8511-8F21D27F26B3}" presName="sp" presStyleCnt="0"/>
      <dgm:spPr/>
    </dgm:pt>
    <dgm:pt modelId="{3902BB35-3822-446D-B6AC-19D6A8044518}" type="pres">
      <dgm:prSet presAssocID="{81B327B8-AC7E-46D8-9D1F-B39E5ABE187E}" presName="linNode" presStyleCnt="0"/>
      <dgm:spPr/>
    </dgm:pt>
    <dgm:pt modelId="{66F126CD-C475-4E85-A28C-9B8FC01D7BE5}" type="pres">
      <dgm:prSet presAssocID="{81B327B8-AC7E-46D8-9D1F-B39E5ABE187E}" presName="parentText" presStyleLbl="node1" presStyleIdx="1" presStyleCnt="2" custScaleX="53231">
        <dgm:presLayoutVars>
          <dgm:chMax val="1"/>
          <dgm:bulletEnabled val="1"/>
        </dgm:presLayoutVars>
      </dgm:prSet>
      <dgm:spPr/>
      <dgm:t>
        <a:bodyPr/>
        <a:lstStyle/>
        <a:p>
          <a:endParaRPr lang="zh-CN" altLang="en-US"/>
        </a:p>
      </dgm:t>
    </dgm:pt>
    <dgm:pt modelId="{CE613A66-48E8-4CB1-AFBB-30980561B264}" type="pres">
      <dgm:prSet presAssocID="{81B327B8-AC7E-46D8-9D1F-B39E5ABE187E}" presName="descendantText" presStyleLbl="alignAccFollowNode1" presStyleIdx="1" presStyleCnt="2" custAng="0" custScaleX="107918">
        <dgm:presLayoutVars>
          <dgm:bulletEnabled val="1"/>
        </dgm:presLayoutVars>
      </dgm:prSet>
      <dgm:spPr/>
      <dgm:t>
        <a:bodyPr/>
        <a:lstStyle/>
        <a:p>
          <a:endParaRPr lang="zh-CN" altLang="en-US"/>
        </a:p>
      </dgm:t>
    </dgm:pt>
  </dgm:ptLst>
  <dgm:cxnLst>
    <dgm:cxn modelId="{0DB6A4A0-16F2-4295-A6B0-6FE3878EC87B}" srcId="{432C12F7-BA7A-4BDF-9126-ADA041F0383A}" destId="{81B327B8-AC7E-46D8-9D1F-B39E5ABE187E}" srcOrd="1" destOrd="0" parTransId="{3957A94F-6B8D-4437-AC08-3CAEC296497D}" sibTransId="{FBBB8BF0-84F2-464D-99DA-C6585F8D6E78}"/>
    <dgm:cxn modelId="{5C3CD4F7-8D7C-4DE6-87DC-F5A0C2640408}" type="presOf" srcId="{81B327B8-AC7E-46D8-9D1F-B39E5ABE187E}" destId="{66F126CD-C475-4E85-A28C-9B8FC01D7BE5}" srcOrd="0" destOrd="0" presId="urn:microsoft.com/office/officeart/2005/8/layout/vList5"/>
    <dgm:cxn modelId="{F3BF49C0-6126-4E2F-9826-5EEA58F7CBB4}" srcId="{432C12F7-BA7A-4BDF-9126-ADA041F0383A}" destId="{BDAD1D29-0E9B-421D-AA94-879B6D610110}" srcOrd="0" destOrd="0" parTransId="{90D6F614-8CFF-494C-B7B2-B7EDC0959B0E}" sibTransId="{724A31FD-D6A5-494E-8511-8F21D27F26B3}"/>
    <dgm:cxn modelId="{6EF6AF68-C91A-4B70-AFAC-CEC03BFFB04B}" srcId="{81B327B8-AC7E-46D8-9D1F-B39E5ABE187E}" destId="{01F35C88-4246-4632-9744-9669D4FF4012}" srcOrd="0" destOrd="0" parTransId="{7DE44565-19A8-470D-B738-4CBA3ADDB62E}" sibTransId="{AEBC9E70-99CA-4764-8522-F9FDEFAA29FE}"/>
    <dgm:cxn modelId="{CB7F846A-4FB7-4302-91D8-7FCC73C85AB7}" type="presOf" srcId="{11298844-E740-4454-AD94-ACDFCDB0A34C}" destId="{2EFD0591-40C1-49D3-86CF-590808AA7817}" srcOrd="0" destOrd="0" presId="urn:microsoft.com/office/officeart/2005/8/layout/vList5"/>
    <dgm:cxn modelId="{5511A1AC-8FF8-4CA5-A988-145E6AEF0F22}" type="presOf" srcId="{BDAD1D29-0E9B-421D-AA94-879B6D610110}" destId="{71494600-A285-4084-9435-9F753F0E8ABF}" srcOrd="0" destOrd="0" presId="urn:microsoft.com/office/officeart/2005/8/layout/vList5"/>
    <dgm:cxn modelId="{F9BF74EE-AB2E-4307-8ECC-1482E360153D}" srcId="{BDAD1D29-0E9B-421D-AA94-879B6D610110}" destId="{11298844-E740-4454-AD94-ACDFCDB0A34C}" srcOrd="0" destOrd="0" parTransId="{1ED510D1-91C9-48AC-86B4-44E50F789A4E}" sibTransId="{151DC26B-9904-484A-AA9F-EAC3F8E7E0A0}"/>
    <dgm:cxn modelId="{5EA68EB4-E537-4B76-9A96-B33F6BB46D1F}" type="presOf" srcId="{01F35C88-4246-4632-9744-9669D4FF4012}" destId="{CE613A66-48E8-4CB1-AFBB-30980561B264}" srcOrd="0" destOrd="0" presId="urn:microsoft.com/office/officeart/2005/8/layout/vList5"/>
    <dgm:cxn modelId="{D4001B5B-8907-46C2-9F06-62B48E036B8D}" type="presOf" srcId="{432C12F7-BA7A-4BDF-9126-ADA041F0383A}" destId="{E4FA9481-E2B9-44C9-9F16-5F57570DFA8C}" srcOrd="0" destOrd="0" presId="urn:microsoft.com/office/officeart/2005/8/layout/vList5"/>
    <dgm:cxn modelId="{055078BF-5DF2-42C3-8DC2-944BD3EBBA64}" type="presParOf" srcId="{E4FA9481-E2B9-44C9-9F16-5F57570DFA8C}" destId="{DC2880D9-EA75-4100-AA1C-DC1330F01CC6}" srcOrd="0" destOrd="0" presId="urn:microsoft.com/office/officeart/2005/8/layout/vList5"/>
    <dgm:cxn modelId="{21041112-24AB-4F59-AEBF-212CB2931840}" type="presParOf" srcId="{DC2880D9-EA75-4100-AA1C-DC1330F01CC6}" destId="{71494600-A285-4084-9435-9F753F0E8ABF}" srcOrd="0" destOrd="0" presId="urn:microsoft.com/office/officeart/2005/8/layout/vList5"/>
    <dgm:cxn modelId="{29D856D0-6A65-4FBB-B2BF-304B29386B3A}" type="presParOf" srcId="{DC2880D9-EA75-4100-AA1C-DC1330F01CC6}" destId="{2EFD0591-40C1-49D3-86CF-590808AA7817}" srcOrd="1" destOrd="0" presId="urn:microsoft.com/office/officeart/2005/8/layout/vList5"/>
    <dgm:cxn modelId="{C6D90D90-83F7-468E-9CC7-8CE8B662AB5E}" type="presParOf" srcId="{E4FA9481-E2B9-44C9-9F16-5F57570DFA8C}" destId="{05C42CC3-ED71-430C-B89C-BDA1279F57E9}" srcOrd="1" destOrd="0" presId="urn:microsoft.com/office/officeart/2005/8/layout/vList5"/>
    <dgm:cxn modelId="{ACA59923-4A32-4C23-8890-79E99ED73937}" type="presParOf" srcId="{E4FA9481-E2B9-44C9-9F16-5F57570DFA8C}" destId="{3902BB35-3822-446D-B6AC-19D6A8044518}" srcOrd="2" destOrd="0" presId="urn:microsoft.com/office/officeart/2005/8/layout/vList5"/>
    <dgm:cxn modelId="{1D9F77F5-F87C-4273-AEC7-09A7607D7507}" type="presParOf" srcId="{3902BB35-3822-446D-B6AC-19D6A8044518}" destId="{66F126CD-C475-4E85-A28C-9B8FC01D7BE5}" srcOrd="0" destOrd="0" presId="urn:microsoft.com/office/officeart/2005/8/layout/vList5"/>
    <dgm:cxn modelId="{6A13A063-37C3-43B8-BC74-EDC649F03A11}" type="presParOf" srcId="{3902BB35-3822-446D-B6AC-19D6A8044518}" destId="{CE613A66-48E8-4CB1-AFBB-30980561B26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3319BC7-B433-41D7-AA6A-F967A1DF2FFB}"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zh-CN" altLang="en-US"/>
        </a:p>
      </dgm:t>
    </dgm:pt>
    <dgm:pt modelId="{B1B33514-0B13-4398-AF44-C85B3E900130}">
      <dgm:prSet phldrT="[文本]"/>
      <dgm:spPr/>
      <dgm:t>
        <a:bodyPr/>
        <a:lstStyle/>
        <a:p>
          <a:r>
            <a:rPr lang="zh-CN" altLang="en-US" dirty="0" smtClean="0"/>
            <a:t>获取</a:t>
          </a:r>
          <a:r>
            <a:rPr lang="en-US" dirty="0" smtClean="0"/>
            <a:t>Probe </a:t>
          </a:r>
          <a:r>
            <a:rPr lang="zh-CN" altLang="en-US" dirty="0" smtClean="0"/>
            <a:t>软件安装包</a:t>
          </a:r>
          <a:endParaRPr lang="zh-CN" altLang="en-US" dirty="0"/>
        </a:p>
      </dgm:t>
    </dgm:pt>
    <dgm:pt modelId="{42086A30-B3E9-4CC2-9A7C-585BFBE1F5C2}" type="parTrans" cxnId="{DABDF955-F74E-46F7-931E-5DCAE160A2DC}">
      <dgm:prSet/>
      <dgm:spPr/>
      <dgm:t>
        <a:bodyPr/>
        <a:lstStyle/>
        <a:p>
          <a:endParaRPr lang="zh-CN" altLang="en-US"/>
        </a:p>
      </dgm:t>
    </dgm:pt>
    <dgm:pt modelId="{B2471773-3FA5-4971-84A6-94936993EB97}" type="sibTrans" cxnId="{DABDF955-F74E-46F7-931E-5DCAE160A2DC}">
      <dgm:prSet/>
      <dgm:spPr/>
      <dgm:t>
        <a:bodyPr/>
        <a:lstStyle/>
        <a:p>
          <a:endParaRPr lang="zh-CN" altLang="en-US"/>
        </a:p>
      </dgm:t>
    </dgm:pt>
    <dgm:pt modelId="{DC0AFFFE-0F29-4EF9-8EC2-6EF1AEDBD472}">
      <dgm:prSet phldrT="[文本]"/>
      <dgm:spPr/>
      <dgm:t>
        <a:bodyPr/>
        <a:lstStyle/>
        <a:p>
          <a:r>
            <a:rPr lang="zh-CN" altLang="en-US" dirty="0" smtClean="0"/>
            <a:t>双击</a:t>
          </a:r>
          <a:r>
            <a:rPr lang="en-US" altLang="zh-CN" dirty="0" smtClean="0"/>
            <a:t>Setup.exe</a:t>
          </a:r>
          <a:r>
            <a:rPr lang="zh-CN" altLang="en-US" dirty="0" smtClean="0"/>
            <a:t>，启动安装</a:t>
          </a:r>
          <a:endParaRPr lang="zh-CN" altLang="en-US" dirty="0"/>
        </a:p>
      </dgm:t>
    </dgm:pt>
    <dgm:pt modelId="{3C8F42B2-A9BC-4218-B835-2871CCED1153}" type="parTrans" cxnId="{2A191F39-563A-4D0F-B0B2-A7F0F23D6708}">
      <dgm:prSet/>
      <dgm:spPr/>
      <dgm:t>
        <a:bodyPr/>
        <a:lstStyle/>
        <a:p>
          <a:endParaRPr lang="zh-CN" altLang="en-US"/>
        </a:p>
      </dgm:t>
    </dgm:pt>
    <dgm:pt modelId="{FE7290C7-24EB-43C0-900A-1436D8A91C3A}" type="sibTrans" cxnId="{2A191F39-563A-4D0F-B0B2-A7F0F23D6708}">
      <dgm:prSet/>
      <dgm:spPr/>
      <dgm:t>
        <a:bodyPr/>
        <a:lstStyle/>
        <a:p>
          <a:endParaRPr lang="zh-CN" altLang="en-US"/>
        </a:p>
      </dgm:t>
    </dgm:pt>
    <dgm:pt modelId="{44AB68BF-7F8D-4540-9284-73DA74A1D2AB}">
      <dgm:prSet phldrT="[文本]"/>
      <dgm:spPr/>
      <dgm:t>
        <a:bodyPr/>
        <a:lstStyle/>
        <a:p>
          <a:r>
            <a:rPr lang="zh-CN" altLang="en-US" dirty="0" smtClean="0"/>
            <a:t>系统弹出对话框点击“</a:t>
          </a:r>
          <a:r>
            <a:rPr lang="en-US" altLang="zh-CN" dirty="0" smtClean="0"/>
            <a:t>yes</a:t>
          </a:r>
          <a:r>
            <a:rPr lang="zh-CN" altLang="en-US" dirty="0" smtClean="0"/>
            <a:t>”</a:t>
          </a:r>
          <a:endParaRPr lang="zh-CN" altLang="en-US" dirty="0"/>
        </a:p>
      </dgm:t>
    </dgm:pt>
    <dgm:pt modelId="{F8F329BA-555E-4DE2-8B93-C99204209627}" type="parTrans" cxnId="{455AE369-0F5E-4B7E-A965-D8A5A1A9CB08}">
      <dgm:prSet/>
      <dgm:spPr/>
      <dgm:t>
        <a:bodyPr/>
        <a:lstStyle/>
        <a:p>
          <a:endParaRPr lang="zh-CN" altLang="en-US"/>
        </a:p>
      </dgm:t>
    </dgm:pt>
    <dgm:pt modelId="{0E36C424-EF18-4FF2-B49A-9BEAE7BC122B}" type="sibTrans" cxnId="{455AE369-0F5E-4B7E-A965-D8A5A1A9CB08}">
      <dgm:prSet/>
      <dgm:spPr/>
      <dgm:t>
        <a:bodyPr/>
        <a:lstStyle/>
        <a:p>
          <a:endParaRPr lang="zh-CN" altLang="en-US"/>
        </a:p>
      </dgm:t>
    </dgm:pt>
    <dgm:pt modelId="{91242FFD-3DB6-42A5-9C2E-3600DEC1DE5D}">
      <dgm:prSet phldrT="[文本]"/>
      <dgm:spPr/>
      <dgm:t>
        <a:bodyPr/>
        <a:lstStyle/>
        <a:p>
          <a:r>
            <a:rPr lang="zh-CN" altLang="en-US" dirty="0" smtClean="0"/>
            <a:t>单击“</a:t>
          </a:r>
          <a:r>
            <a:rPr lang="en-US" dirty="0" smtClean="0"/>
            <a:t>Next”</a:t>
          </a:r>
          <a:endParaRPr lang="zh-CN" altLang="en-US" dirty="0"/>
        </a:p>
      </dgm:t>
    </dgm:pt>
    <dgm:pt modelId="{93186C29-DE94-4065-B25A-C489DD19E26E}" type="parTrans" cxnId="{E7ADC2C3-6074-485F-A881-4DBDF2D04876}">
      <dgm:prSet/>
      <dgm:spPr/>
      <dgm:t>
        <a:bodyPr/>
        <a:lstStyle/>
        <a:p>
          <a:endParaRPr lang="zh-CN" altLang="en-US"/>
        </a:p>
      </dgm:t>
    </dgm:pt>
    <dgm:pt modelId="{6C51BFFE-CB73-4DE7-BC1F-F487A7BBF7EE}" type="sibTrans" cxnId="{E7ADC2C3-6074-485F-A881-4DBDF2D04876}">
      <dgm:prSet/>
      <dgm:spPr/>
      <dgm:t>
        <a:bodyPr/>
        <a:lstStyle/>
        <a:p>
          <a:endParaRPr lang="zh-CN" altLang="en-US"/>
        </a:p>
      </dgm:t>
    </dgm:pt>
    <dgm:pt modelId="{ABE61A18-1361-48A6-B58C-B7347289DFEB}">
      <dgm:prSet phldrT="[文本]"/>
      <dgm:spPr/>
      <dgm:t>
        <a:bodyPr/>
        <a:lstStyle/>
        <a:p>
          <a:r>
            <a:rPr lang="zh-CN" altLang="en-US" dirty="0" smtClean="0"/>
            <a:t>在确认对话框中，选择“</a:t>
          </a:r>
          <a:r>
            <a:rPr lang="en-US" dirty="0" smtClean="0"/>
            <a:t>I accept ……”</a:t>
          </a:r>
          <a:endParaRPr lang="zh-CN" altLang="en-US" dirty="0"/>
        </a:p>
      </dgm:t>
    </dgm:pt>
    <dgm:pt modelId="{D4938D26-5EFA-4926-AF81-300D8B7D09ED}" type="parTrans" cxnId="{5AB90507-AD63-4AB2-97DC-C4C30172F540}">
      <dgm:prSet/>
      <dgm:spPr/>
      <dgm:t>
        <a:bodyPr/>
        <a:lstStyle/>
        <a:p>
          <a:endParaRPr lang="zh-CN" altLang="en-US"/>
        </a:p>
      </dgm:t>
    </dgm:pt>
    <dgm:pt modelId="{DF026E1A-2D82-4FA6-9785-94DC9E6E077B}" type="sibTrans" cxnId="{5AB90507-AD63-4AB2-97DC-C4C30172F540}">
      <dgm:prSet/>
      <dgm:spPr/>
      <dgm:t>
        <a:bodyPr/>
        <a:lstStyle/>
        <a:p>
          <a:endParaRPr lang="zh-CN" altLang="en-US"/>
        </a:p>
      </dgm:t>
    </dgm:pt>
    <dgm:pt modelId="{F603FF95-1B0A-4FDC-9EF2-89366F3A6CEA}">
      <dgm:prSet phldrT="[文本]"/>
      <dgm:spPr/>
      <dgm:t>
        <a:bodyPr/>
        <a:lstStyle/>
        <a:p>
          <a:r>
            <a:rPr lang="zh-CN" altLang="en-US" dirty="0" smtClean="0"/>
            <a:t>单击“</a:t>
          </a:r>
          <a:r>
            <a:rPr lang="en-US" dirty="0" smtClean="0"/>
            <a:t>Next”</a:t>
          </a:r>
          <a:endParaRPr lang="zh-CN" altLang="en-US" dirty="0"/>
        </a:p>
      </dgm:t>
    </dgm:pt>
    <dgm:pt modelId="{D2B5501F-B680-407D-AA3D-B046BCD01DFB}" type="parTrans" cxnId="{5FAF9B32-3F8E-4CAD-9387-3CC94796B30A}">
      <dgm:prSet/>
      <dgm:spPr/>
      <dgm:t>
        <a:bodyPr/>
        <a:lstStyle/>
        <a:p>
          <a:endParaRPr lang="zh-CN" altLang="en-US"/>
        </a:p>
      </dgm:t>
    </dgm:pt>
    <dgm:pt modelId="{553C90D9-4ACD-4716-AC9E-6C6A42985BE4}" type="sibTrans" cxnId="{5FAF9B32-3F8E-4CAD-9387-3CC94796B30A}">
      <dgm:prSet/>
      <dgm:spPr/>
      <dgm:t>
        <a:bodyPr/>
        <a:lstStyle/>
        <a:p>
          <a:endParaRPr lang="zh-CN" altLang="en-US"/>
        </a:p>
      </dgm:t>
    </dgm:pt>
    <dgm:pt modelId="{6648F247-6E1E-4625-B50C-7FCB174B77A9}">
      <dgm:prSet phldrT="[文本]"/>
      <dgm:spPr/>
      <dgm:t>
        <a:bodyPr/>
        <a:lstStyle/>
        <a:p>
          <a:r>
            <a:rPr lang="zh-CN" altLang="en-US" dirty="0" smtClean="0"/>
            <a:t>对话框，输入</a:t>
          </a:r>
          <a:r>
            <a:rPr lang="en-US" b="1" dirty="0" smtClean="0"/>
            <a:t>User Name</a:t>
          </a:r>
          <a:r>
            <a:rPr lang="zh-CN" altLang="en-US" dirty="0" smtClean="0"/>
            <a:t>和</a:t>
          </a:r>
          <a:r>
            <a:rPr lang="en-US" b="1" dirty="0" smtClean="0"/>
            <a:t>Company Name</a:t>
          </a:r>
          <a:endParaRPr lang="zh-CN" altLang="en-US" dirty="0"/>
        </a:p>
      </dgm:t>
    </dgm:pt>
    <dgm:pt modelId="{55648FAC-A810-47D2-A61E-F2CFFB1E934C}" type="parTrans" cxnId="{6E670DBF-D546-48AF-A986-1F599A53AF9D}">
      <dgm:prSet/>
      <dgm:spPr/>
      <dgm:t>
        <a:bodyPr/>
        <a:lstStyle/>
        <a:p>
          <a:endParaRPr lang="zh-CN" altLang="en-US"/>
        </a:p>
      </dgm:t>
    </dgm:pt>
    <dgm:pt modelId="{7084CCA2-CCAE-4FC4-8A00-3834307BA1A7}" type="sibTrans" cxnId="{6E670DBF-D546-48AF-A986-1F599A53AF9D}">
      <dgm:prSet/>
      <dgm:spPr/>
      <dgm:t>
        <a:bodyPr/>
        <a:lstStyle/>
        <a:p>
          <a:endParaRPr lang="zh-CN" altLang="en-US"/>
        </a:p>
      </dgm:t>
    </dgm:pt>
    <dgm:pt modelId="{6F383DA3-CCD6-4FE7-B1A6-A98B5F79F422}">
      <dgm:prSet phldrT="[文本]"/>
      <dgm:spPr/>
      <dgm:t>
        <a:bodyPr/>
        <a:lstStyle/>
        <a:p>
          <a:r>
            <a:rPr lang="zh-CN" altLang="en-US" dirty="0" smtClean="0"/>
            <a:t>单击“</a:t>
          </a:r>
          <a:r>
            <a:rPr lang="en-US" dirty="0" smtClean="0"/>
            <a:t>Next”</a:t>
          </a:r>
          <a:endParaRPr lang="zh-CN" altLang="en-US" dirty="0"/>
        </a:p>
      </dgm:t>
    </dgm:pt>
    <dgm:pt modelId="{359A2D6A-08F7-4019-A539-607B8E00AF08}" type="parTrans" cxnId="{54C815F2-5ECC-4B27-9851-40654F64941C}">
      <dgm:prSet/>
      <dgm:spPr/>
      <dgm:t>
        <a:bodyPr/>
        <a:lstStyle/>
        <a:p>
          <a:endParaRPr lang="zh-CN" altLang="en-US"/>
        </a:p>
      </dgm:t>
    </dgm:pt>
    <dgm:pt modelId="{465D7F52-132D-42DD-9807-0A23F94F0CFC}" type="sibTrans" cxnId="{54C815F2-5ECC-4B27-9851-40654F64941C}">
      <dgm:prSet/>
      <dgm:spPr/>
      <dgm:t>
        <a:bodyPr/>
        <a:lstStyle/>
        <a:p>
          <a:endParaRPr lang="zh-CN" altLang="en-US"/>
        </a:p>
      </dgm:t>
    </dgm:pt>
    <dgm:pt modelId="{3830A735-A16E-4F2B-AD5A-1EF848D844A1}">
      <dgm:prSet phldrT="[文本]"/>
      <dgm:spPr/>
      <dgm:t>
        <a:bodyPr/>
        <a:lstStyle/>
        <a:p>
          <a:r>
            <a:rPr lang="zh-CN" altLang="en-US" dirty="0" smtClean="0"/>
            <a:t>选择安装方式</a:t>
          </a:r>
          <a:endParaRPr lang="zh-CN" altLang="en-US" dirty="0"/>
        </a:p>
      </dgm:t>
    </dgm:pt>
    <dgm:pt modelId="{4CE96597-1498-489E-A55D-6185D6B630AF}" type="parTrans" cxnId="{3BC3231A-B99A-43BB-AFFC-4E490524EC31}">
      <dgm:prSet/>
      <dgm:spPr/>
      <dgm:t>
        <a:bodyPr/>
        <a:lstStyle/>
        <a:p>
          <a:endParaRPr lang="zh-CN" altLang="en-US"/>
        </a:p>
      </dgm:t>
    </dgm:pt>
    <dgm:pt modelId="{D1192C55-41EB-4047-9605-CD8C8E98BE51}" type="sibTrans" cxnId="{3BC3231A-B99A-43BB-AFFC-4E490524EC31}">
      <dgm:prSet/>
      <dgm:spPr/>
      <dgm:t>
        <a:bodyPr/>
        <a:lstStyle/>
        <a:p>
          <a:endParaRPr lang="zh-CN" altLang="en-US"/>
        </a:p>
      </dgm:t>
    </dgm:pt>
    <dgm:pt modelId="{C567CFEC-C64E-4907-A227-EF3220F23DF8}">
      <dgm:prSet phldrT="[文本]"/>
      <dgm:spPr/>
      <dgm:t>
        <a:bodyPr/>
        <a:lstStyle/>
        <a:p>
          <a:r>
            <a:rPr lang="zh-CN" altLang="en-US" dirty="0" smtClean="0"/>
            <a:t>单击“</a:t>
          </a:r>
          <a:r>
            <a:rPr lang="en-US" altLang="zh-CN" dirty="0" smtClean="0"/>
            <a:t>Browse”</a:t>
          </a:r>
          <a:r>
            <a:rPr lang="zh-CN" altLang="en-US" dirty="0" smtClean="0"/>
            <a:t>，设置安装路径。</a:t>
          </a:r>
          <a:endParaRPr lang="zh-CN" altLang="en-US" dirty="0"/>
        </a:p>
      </dgm:t>
    </dgm:pt>
    <dgm:pt modelId="{65E8A2A2-DA03-44AA-9300-BD4CF7528F21}" type="parTrans" cxnId="{22770FD3-2C5B-4AE3-B7FA-C97D87AB35AA}">
      <dgm:prSet/>
      <dgm:spPr/>
      <dgm:t>
        <a:bodyPr/>
        <a:lstStyle/>
        <a:p>
          <a:endParaRPr lang="zh-CN" altLang="en-US"/>
        </a:p>
      </dgm:t>
    </dgm:pt>
    <dgm:pt modelId="{B77B5390-7299-4BE6-AB5D-905A01A78246}" type="sibTrans" cxnId="{22770FD3-2C5B-4AE3-B7FA-C97D87AB35AA}">
      <dgm:prSet/>
      <dgm:spPr/>
      <dgm:t>
        <a:bodyPr/>
        <a:lstStyle/>
        <a:p>
          <a:endParaRPr lang="zh-CN" altLang="en-US"/>
        </a:p>
      </dgm:t>
    </dgm:pt>
    <dgm:pt modelId="{CA5078A8-68B2-4C35-9236-705D1F188A8F}">
      <dgm:prSet phldrT="[文本]"/>
      <dgm:spPr/>
      <dgm:t>
        <a:bodyPr/>
        <a:lstStyle/>
        <a:p>
          <a:r>
            <a:rPr lang="zh-CN" altLang="en-US" dirty="0" smtClean="0"/>
            <a:t>单击“</a:t>
          </a:r>
          <a:r>
            <a:rPr lang="en-US" altLang="zh-CN" dirty="0" smtClean="0"/>
            <a:t>Next”</a:t>
          </a:r>
          <a:r>
            <a:rPr lang="zh-CN" altLang="en-US" dirty="0" smtClean="0"/>
            <a:t>，弹出提示信息，单击“确定”</a:t>
          </a:r>
          <a:endParaRPr lang="zh-CN" altLang="en-US" dirty="0"/>
        </a:p>
      </dgm:t>
    </dgm:pt>
    <dgm:pt modelId="{8AC4E5B6-A9EE-496B-B08B-16F15491761A}" type="parTrans" cxnId="{66723087-5807-4E63-8918-3F1421583BE1}">
      <dgm:prSet/>
      <dgm:spPr/>
      <dgm:t>
        <a:bodyPr/>
        <a:lstStyle/>
        <a:p>
          <a:endParaRPr lang="zh-CN" altLang="en-US"/>
        </a:p>
      </dgm:t>
    </dgm:pt>
    <dgm:pt modelId="{8742A678-F78C-4BA9-843C-4495544A2CBE}" type="sibTrans" cxnId="{66723087-5807-4E63-8918-3F1421583BE1}">
      <dgm:prSet/>
      <dgm:spPr/>
      <dgm:t>
        <a:bodyPr/>
        <a:lstStyle/>
        <a:p>
          <a:endParaRPr lang="zh-CN" altLang="en-US"/>
        </a:p>
      </dgm:t>
    </dgm:pt>
    <dgm:pt modelId="{14BB70E3-908E-4CF0-9F56-BCA6ACD9D606}">
      <dgm:prSet phldrT="[文本]"/>
      <dgm:spPr/>
      <dgm:t>
        <a:bodyPr/>
        <a:lstStyle/>
        <a:p>
          <a:r>
            <a:rPr lang="zh-CN" altLang="en-US" dirty="0" smtClean="0"/>
            <a:t>安装完成</a:t>
          </a:r>
          <a:endParaRPr lang="zh-CN" altLang="en-US" dirty="0"/>
        </a:p>
      </dgm:t>
    </dgm:pt>
    <dgm:pt modelId="{5536DAE9-99A5-4BF1-9F0A-984CF5DC27D6}" type="parTrans" cxnId="{AAC61B2A-99A4-49DF-89D0-B29D24DBA6A0}">
      <dgm:prSet/>
      <dgm:spPr/>
      <dgm:t>
        <a:bodyPr/>
        <a:lstStyle/>
        <a:p>
          <a:endParaRPr lang="zh-CN" altLang="en-US"/>
        </a:p>
      </dgm:t>
    </dgm:pt>
    <dgm:pt modelId="{67048A07-024B-4B14-B8D6-851AA7287EF0}" type="sibTrans" cxnId="{AAC61B2A-99A4-49DF-89D0-B29D24DBA6A0}">
      <dgm:prSet/>
      <dgm:spPr/>
      <dgm:t>
        <a:bodyPr/>
        <a:lstStyle/>
        <a:p>
          <a:endParaRPr lang="zh-CN" altLang="en-US"/>
        </a:p>
      </dgm:t>
    </dgm:pt>
    <dgm:pt modelId="{88E6B3DC-0B99-4561-9615-ABFDFE585E9B}" type="pres">
      <dgm:prSet presAssocID="{B3319BC7-B433-41D7-AA6A-F967A1DF2FFB}" presName="Name0" presStyleCnt="0">
        <dgm:presLayoutVars>
          <dgm:dir/>
          <dgm:resizeHandles val="exact"/>
        </dgm:presLayoutVars>
      </dgm:prSet>
      <dgm:spPr/>
      <dgm:t>
        <a:bodyPr/>
        <a:lstStyle/>
        <a:p>
          <a:endParaRPr lang="zh-CN" altLang="en-US"/>
        </a:p>
      </dgm:t>
    </dgm:pt>
    <dgm:pt modelId="{3BD071E6-989E-4B99-A87C-75DEAE5B9F75}" type="pres">
      <dgm:prSet presAssocID="{B1B33514-0B13-4398-AF44-C85B3E900130}" presName="node" presStyleLbl="node1" presStyleIdx="0" presStyleCnt="12" custScaleX="74913" custScaleY="88412">
        <dgm:presLayoutVars>
          <dgm:bulletEnabled val="1"/>
        </dgm:presLayoutVars>
      </dgm:prSet>
      <dgm:spPr/>
      <dgm:t>
        <a:bodyPr/>
        <a:lstStyle/>
        <a:p>
          <a:endParaRPr lang="zh-CN" altLang="en-US"/>
        </a:p>
      </dgm:t>
    </dgm:pt>
    <dgm:pt modelId="{125E1379-94A9-4230-B9C1-A0C615289BA3}" type="pres">
      <dgm:prSet presAssocID="{B2471773-3FA5-4971-84A6-94936993EB97}" presName="sibTrans" presStyleLbl="sibTrans1D1" presStyleIdx="0" presStyleCnt="11"/>
      <dgm:spPr/>
      <dgm:t>
        <a:bodyPr/>
        <a:lstStyle/>
        <a:p>
          <a:endParaRPr lang="zh-CN" altLang="en-US"/>
        </a:p>
      </dgm:t>
    </dgm:pt>
    <dgm:pt modelId="{FE6A2B61-D21C-4AFB-AC81-3A4A05EE0317}" type="pres">
      <dgm:prSet presAssocID="{B2471773-3FA5-4971-84A6-94936993EB97}" presName="connectorText" presStyleLbl="sibTrans1D1" presStyleIdx="0" presStyleCnt="11"/>
      <dgm:spPr/>
      <dgm:t>
        <a:bodyPr/>
        <a:lstStyle/>
        <a:p>
          <a:endParaRPr lang="zh-CN" altLang="en-US"/>
        </a:p>
      </dgm:t>
    </dgm:pt>
    <dgm:pt modelId="{96F9D174-117F-4F69-A730-EF932F7397C6}" type="pres">
      <dgm:prSet presAssocID="{DC0AFFFE-0F29-4EF9-8EC2-6EF1AEDBD472}" presName="node" presStyleLbl="node1" presStyleIdx="1" presStyleCnt="12" custScaleX="75462" custScaleY="89484">
        <dgm:presLayoutVars>
          <dgm:bulletEnabled val="1"/>
        </dgm:presLayoutVars>
      </dgm:prSet>
      <dgm:spPr/>
      <dgm:t>
        <a:bodyPr/>
        <a:lstStyle/>
        <a:p>
          <a:endParaRPr lang="zh-CN" altLang="en-US"/>
        </a:p>
      </dgm:t>
    </dgm:pt>
    <dgm:pt modelId="{103F4B4E-04FD-4E11-9B7F-086475FCD2D4}" type="pres">
      <dgm:prSet presAssocID="{FE7290C7-24EB-43C0-900A-1436D8A91C3A}" presName="sibTrans" presStyleLbl="sibTrans1D1" presStyleIdx="1" presStyleCnt="11"/>
      <dgm:spPr/>
      <dgm:t>
        <a:bodyPr/>
        <a:lstStyle/>
        <a:p>
          <a:endParaRPr lang="zh-CN" altLang="en-US"/>
        </a:p>
      </dgm:t>
    </dgm:pt>
    <dgm:pt modelId="{C3FCE4EB-CCC6-4268-8CDA-62B781786436}" type="pres">
      <dgm:prSet presAssocID="{FE7290C7-24EB-43C0-900A-1436D8A91C3A}" presName="connectorText" presStyleLbl="sibTrans1D1" presStyleIdx="1" presStyleCnt="11"/>
      <dgm:spPr/>
      <dgm:t>
        <a:bodyPr/>
        <a:lstStyle/>
        <a:p>
          <a:endParaRPr lang="zh-CN" altLang="en-US"/>
        </a:p>
      </dgm:t>
    </dgm:pt>
    <dgm:pt modelId="{061CB3CB-09DA-4A93-9D3D-A972D06C2E53}" type="pres">
      <dgm:prSet presAssocID="{44AB68BF-7F8D-4540-9284-73DA74A1D2AB}" presName="node" presStyleLbl="node1" presStyleIdx="2" presStyleCnt="12" custScaleX="75018" custScaleY="92130">
        <dgm:presLayoutVars>
          <dgm:bulletEnabled val="1"/>
        </dgm:presLayoutVars>
      </dgm:prSet>
      <dgm:spPr/>
      <dgm:t>
        <a:bodyPr/>
        <a:lstStyle/>
        <a:p>
          <a:endParaRPr lang="zh-CN" altLang="en-US"/>
        </a:p>
      </dgm:t>
    </dgm:pt>
    <dgm:pt modelId="{DEA6D478-6B6D-4621-A38F-BB6AFA91D9A0}" type="pres">
      <dgm:prSet presAssocID="{0E36C424-EF18-4FF2-B49A-9BEAE7BC122B}" presName="sibTrans" presStyleLbl="sibTrans1D1" presStyleIdx="2" presStyleCnt="11"/>
      <dgm:spPr/>
      <dgm:t>
        <a:bodyPr/>
        <a:lstStyle/>
        <a:p>
          <a:endParaRPr lang="zh-CN" altLang="en-US"/>
        </a:p>
      </dgm:t>
    </dgm:pt>
    <dgm:pt modelId="{96752779-B176-4BCF-9149-1C6458A37568}" type="pres">
      <dgm:prSet presAssocID="{0E36C424-EF18-4FF2-B49A-9BEAE7BC122B}" presName="connectorText" presStyleLbl="sibTrans1D1" presStyleIdx="2" presStyleCnt="11"/>
      <dgm:spPr/>
      <dgm:t>
        <a:bodyPr/>
        <a:lstStyle/>
        <a:p>
          <a:endParaRPr lang="zh-CN" altLang="en-US"/>
        </a:p>
      </dgm:t>
    </dgm:pt>
    <dgm:pt modelId="{9285CFFE-F952-4303-BA9F-298518E35A79}" type="pres">
      <dgm:prSet presAssocID="{91242FFD-3DB6-42A5-9C2E-3600DEC1DE5D}" presName="node" presStyleLbl="node1" presStyleIdx="3" presStyleCnt="12" custScaleX="77561" custScaleY="86529">
        <dgm:presLayoutVars>
          <dgm:bulletEnabled val="1"/>
        </dgm:presLayoutVars>
      </dgm:prSet>
      <dgm:spPr/>
      <dgm:t>
        <a:bodyPr/>
        <a:lstStyle/>
        <a:p>
          <a:endParaRPr lang="zh-CN" altLang="en-US"/>
        </a:p>
      </dgm:t>
    </dgm:pt>
    <dgm:pt modelId="{90BD0D17-C4DF-4DFA-B709-DFBEEA0B4B84}" type="pres">
      <dgm:prSet presAssocID="{6C51BFFE-CB73-4DE7-BC1F-F487A7BBF7EE}" presName="sibTrans" presStyleLbl="sibTrans1D1" presStyleIdx="3" presStyleCnt="11"/>
      <dgm:spPr/>
      <dgm:t>
        <a:bodyPr/>
        <a:lstStyle/>
        <a:p>
          <a:endParaRPr lang="zh-CN" altLang="en-US"/>
        </a:p>
      </dgm:t>
    </dgm:pt>
    <dgm:pt modelId="{19D991DC-D8E7-49CD-A08D-74A57B7C9190}" type="pres">
      <dgm:prSet presAssocID="{6C51BFFE-CB73-4DE7-BC1F-F487A7BBF7EE}" presName="connectorText" presStyleLbl="sibTrans1D1" presStyleIdx="3" presStyleCnt="11"/>
      <dgm:spPr/>
      <dgm:t>
        <a:bodyPr/>
        <a:lstStyle/>
        <a:p>
          <a:endParaRPr lang="zh-CN" altLang="en-US"/>
        </a:p>
      </dgm:t>
    </dgm:pt>
    <dgm:pt modelId="{81551007-1965-4437-8E6B-60748BB1B601}" type="pres">
      <dgm:prSet presAssocID="{ABE61A18-1361-48A6-B58C-B7347289DFEB}" presName="node" presStyleLbl="node1" presStyleIdx="4" presStyleCnt="12" custScaleX="75284" custScaleY="94042">
        <dgm:presLayoutVars>
          <dgm:bulletEnabled val="1"/>
        </dgm:presLayoutVars>
      </dgm:prSet>
      <dgm:spPr/>
      <dgm:t>
        <a:bodyPr/>
        <a:lstStyle/>
        <a:p>
          <a:endParaRPr lang="zh-CN" altLang="en-US"/>
        </a:p>
      </dgm:t>
    </dgm:pt>
    <dgm:pt modelId="{F53E4137-A670-4FF5-8B0E-C45983296981}" type="pres">
      <dgm:prSet presAssocID="{DF026E1A-2D82-4FA6-9785-94DC9E6E077B}" presName="sibTrans" presStyleLbl="sibTrans1D1" presStyleIdx="4" presStyleCnt="11"/>
      <dgm:spPr/>
      <dgm:t>
        <a:bodyPr/>
        <a:lstStyle/>
        <a:p>
          <a:endParaRPr lang="zh-CN" altLang="en-US"/>
        </a:p>
      </dgm:t>
    </dgm:pt>
    <dgm:pt modelId="{1DDD0907-022D-4704-841B-076225988505}" type="pres">
      <dgm:prSet presAssocID="{DF026E1A-2D82-4FA6-9785-94DC9E6E077B}" presName="connectorText" presStyleLbl="sibTrans1D1" presStyleIdx="4" presStyleCnt="11"/>
      <dgm:spPr/>
      <dgm:t>
        <a:bodyPr/>
        <a:lstStyle/>
        <a:p>
          <a:endParaRPr lang="zh-CN" altLang="en-US"/>
        </a:p>
      </dgm:t>
    </dgm:pt>
    <dgm:pt modelId="{F37C60EB-A3F4-4C01-B3E7-4EDBFBD72D76}" type="pres">
      <dgm:prSet presAssocID="{F603FF95-1B0A-4FDC-9EF2-89366F3A6CEA}" presName="node" presStyleLbl="node1" presStyleIdx="5" presStyleCnt="12" custScaleX="70378" custScaleY="90886" custLinFactNeighborX="1788" custLinFactNeighborY="-621">
        <dgm:presLayoutVars>
          <dgm:bulletEnabled val="1"/>
        </dgm:presLayoutVars>
      </dgm:prSet>
      <dgm:spPr/>
      <dgm:t>
        <a:bodyPr/>
        <a:lstStyle/>
        <a:p>
          <a:endParaRPr lang="zh-CN" altLang="en-US"/>
        </a:p>
      </dgm:t>
    </dgm:pt>
    <dgm:pt modelId="{CF07202F-E3AC-4C3D-B4E5-154DACAA0BF7}" type="pres">
      <dgm:prSet presAssocID="{553C90D9-4ACD-4716-AC9E-6C6A42985BE4}" presName="sibTrans" presStyleLbl="sibTrans1D1" presStyleIdx="5" presStyleCnt="11"/>
      <dgm:spPr/>
      <dgm:t>
        <a:bodyPr/>
        <a:lstStyle/>
        <a:p>
          <a:endParaRPr lang="zh-CN" altLang="en-US"/>
        </a:p>
      </dgm:t>
    </dgm:pt>
    <dgm:pt modelId="{1ED00417-B7C7-44B4-8452-FB6A419338F1}" type="pres">
      <dgm:prSet presAssocID="{553C90D9-4ACD-4716-AC9E-6C6A42985BE4}" presName="connectorText" presStyleLbl="sibTrans1D1" presStyleIdx="5" presStyleCnt="11"/>
      <dgm:spPr/>
      <dgm:t>
        <a:bodyPr/>
        <a:lstStyle/>
        <a:p>
          <a:endParaRPr lang="zh-CN" altLang="en-US"/>
        </a:p>
      </dgm:t>
    </dgm:pt>
    <dgm:pt modelId="{C38A3DA1-B682-40C7-9CCF-F253DD9F9B7C}" type="pres">
      <dgm:prSet presAssocID="{6648F247-6E1E-4625-B50C-7FCB174B77A9}" presName="node" presStyleLbl="node1" presStyleIdx="6" presStyleCnt="12" custScaleX="79761" custScaleY="92435" custLinFactNeighborX="1788" custLinFactNeighborY="-621">
        <dgm:presLayoutVars>
          <dgm:bulletEnabled val="1"/>
        </dgm:presLayoutVars>
      </dgm:prSet>
      <dgm:spPr/>
      <dgm:t>
        <a:bodyPr/>
        <a:lstStyle/>
        <a:p>
          <a:endParaRPr lang="zh-CN" altLang="en-US"/>
        </a:p>
      </dgm:t>
    </dgm:pt>
    <dgm:pt modelId="{8239E47C-7733-4877-96C6-F3C15AACD7BC}" type="pres">
      <dgm:prSet presAssocID="{7084CCA2-CCAE-4FC4-8A00-3834307BA1A7}" presName="sibTrans" presStyleLbl="sibTrans1D1" presStyleIdx="6" presStyleCnt="11"/>
      <dgm:spPr/>
      <dgm:t>
        <a:bodyPr/>
        <a:lstStyle/>
        <a:p>
          <a:endParaRPr lang="zh-CN" altLang="en-US"/>
        </a:p>
      </dgm:t>
    </dgm:pt>
    <dgm:pt modelId="{DE8FA047-E0DC-43B5-98D1-CFF8DBD2379B}" type="pres">
      <dgm:prSet presAssocID="{7084CCA2-CCAE-4FC4-8A00-3834307BA1A7}" presName="connectorText" presStyleLbl="sibTrans1D1" presStyleIdx="6" presStyleCnt="11"/>
      <dgm:spPr/>
      <dgm:t>
        <a:bodyPr/>
        <a:lstStyle/>
        <a:p>
          <a:endParaRPr lang="zh-CN" altLang="en-US"/>
        </a:p>
      </dgm:t>
    </dgm:pt>
    <dgm:pt modelId="{17B8ECE5-B23B-4F2D-9994-0B03267AA72C}" type="pres">
      <dgm:prSet presAssocID="{6F383DA3-CCD6-4FE7-B1A6-A98B5F79F422}" presName="node" presStyleLbl="node1" presStyleIdx="7" presStyleCnt="12" custScaleX="73215" custScaleY="93346" custLinFactNeighborX="1788" custLinFactNeighborY="-621">
        <dgm:presLayoutVars>
          <dgm:bulletEnabled val="1"/>
        </dgm:presLayoutVars>
      </dgm:prSet>
      <dgm:spPr/>
      <dgm:t>
        <a:bodyPr/>
        <a:lstStyle/>
        <a:p>
          <a:endParaRPr lang="zh-CN" altLang="en-US"/>
        </a:p>
      </dgm:t>
    </dgm:pt>
    <dgm:pt modelId="{FDDB450C-6962-4597-97CF-3B8CC988E33B}" type="pres">
      <dgm:prSet presAssocID="{465D7F52-132D-42DD-9807-0A23F94F0CFC}" presName="sibTrans" presStyleLbl="sibTrans1D1" presStyleIdx="7" presStyleCnt="11"/>
      <dgm:spPr/>
      <dgm:t>
        <a:bodyPr/>
        <a:lstStyle/>
        <a:p>
          <a:endParaRPr lang="zh-CN" altLang="en-US"/>
        </a:p>
      </dgm:t>
    </dgm:pt>
    <dgm:pt modelId="{5B1F70E8-302B-4F93-B32A-3EFC89027FD0}" type="pres">
      <dgm:prSet presAssocID="{465D7F52-132D-42DD-9807-0A23F94F0CFC}" presName="connectorText" presStyleLbl="sibTrans1D1" presStyleIdx="7" presStyleCnt="11"/>
      <dgm:spPr/>
      <dgm:t>
        <a:bodyPr/>
        <a:lstStyle/>
        <a:p>
          <a:endParaRPr lang="zh-CN" altLang="en-US"/>
        </a:p>
      </dgm:t>
    </dgm:pt>
    <dgm:pt modelId="{D2CCE1C4-A4EA-4F00-A899-3BAAA42829D1}" type="pres">
      <dgm:prSet presAssocID="{3830A735-A16E-4F2B-AD5A-1EF848D844A1}" presName="node" presStyleLbl="node1" presStyleIdx="8" presStyleCnt="12" custScaleX="69623" custScaleY="92435" custLinFactNeighborX="1788" custLinFactNeighborY="993">
        <dgm:presLayoutVars>
          <dgm:bulletEnabled val="1"/>
        </dgm:presLayoutVars>
      </dgm:prSet>
      <dgm:spPr/>
      <dgm:t>
        <a:bodyPr/>
        <a:lstStyle/>
        <a:p>
          <a:endParaRPr lang="zh-CN" altLang="en-US"/>
        </a:p>
      </dgm:t>
    </dgm:pt>
    <dgm:pt modelId="{3FFFEC09-7009-4074-88D9-F793F63CC077}" type="pres">
      <dgm:prSet presAssocID="{D1192C55-41EB-4047-9605-CD8C8E98BE51}" presName="sibTrans" presStyleLbl="sibTrans1D1" presStyleIdx="8" presStyleCnt="11"/>
      <dgm:spPr/>
      <dgm:t>
        <a:bodyPr/>
        <a:lstStyle/>
        <a:p>
          <a:endParaRPr lang="zh-CN" altLang="en-US"/>
        </a:p>
      </dgm:t>
    </dgm:pt>
    <dgm:pt modelId="{07A83DBC-BF62-4BAB-94EF-A55DD50C0AE7}" type="pres">
      <dgm:prSet presAssocID="{D1192C55-41EB-4047-9605-CD8C8E98BE51}" presName="connectorText" presStyleLbl="sibTrans1D1" presStyleIdx="8" presStyleCnt="11"/>
      <dgm:spPr/>
      <dgm:t>
        <a:bodyPr/>
        <a:lstStyle/>
        <a:p>
          <a:endParaRPr lang="zh-CN" altLang="en-US"/>
        </a:p>
      </dgm:t>
    </dgm:pt>
    <dgm:pt modelId="{83EE2394-675F-43FA-A986-279E2C0D8A0D}" type="pres">
      <dgm:prSet presAssocID="{C567CFEC-C64E-4907-A227-EF3220F23DF8}" presName="node" presStyleLbl="node1" presStyleIdx="9" presStyleCnt="12" custScaleX="77204" custScaleY="92435" custLinFactNeighborX="1788" custLinFactNeighborY="993">
        <dgm:presLayoutVars>
          <dgm:bulletEnabled val="1"/>
        </dgm:presLayoutVars>
      </dgm:prSet>
      <dgm:spPr/>
      <dgm:t>
        <a:bodyPr/>
        <a:lstStyle/>
        <a:p>
          <a:endParaRPr lang="zh-CN" altLang="en-US"/>
        </a:p>
      </dgm:t>
    </dgm:pt>
    <dgm:pt modelId="{3CBBBB48-59FC-43D2-867D-70A944B73EB8}" type="pres">
      <dgm:prSet presAssocID="{B77B5390-7299-4BE6-AB5D-905A01A78246}" presName="sibTrans" presStyleLbl="sibTrans1D1" presStyleIdx="9" presStyleCnt="11"/>
      <dgm:spPr/>
      <dgm:t>
        <a:bodyPr/>
        <a:lstStyle/>
        <a:p>
          <a:endParaRPr lang="zh-CN" altLang="en-US"/>
        </a:p>
      </dgm:t>
    </dgm:pt>
    <dgm:pt modelId="{EC18B34D-AEC7-4285-A0A6-7E09DD5BEA54}" type="pres">
      <dgm:prSet presAssocID="{B77B5390-7299-4BE6-AB5D-905A01A78246}" presName="connectorText" presStyleLbl="sibTrans1D1" presStyleIdx="9" presStyleCnt="11"/>
      <dgm:spPr/>
      <dgm:t>
        <a:bodyPr/>
        <a:lstStyle/>
        <a:p>
          <a:endParaRPr lang="zh-CN" altLang="en-US"/>
        </a:p>
      </dgm:t>
    </dgm:pt>
    <dgm:pt modelId="{CA93391D-DF23-4A8F-9F4F-75A622D2ABB2}" type="pres">
      <dgm:prSet presAssocID="{CA5078A8-68B2-4C35-9236-705D1F188A8F}" presName="node" presStyleLbl="node1" presStyleIdx="10" presStyleCnt="12" custScaleX="77204" custScaleY="92435" custLinFactNeighborX="1788" custLinFactNeighborY="993">
        <dgm:presLayoutVars>
          <dgm:bulletEnabled val="1"/>
        </dgm:presLayoutVars>
      </dgm:prSet>
      <dgm:spPr/>
      <dgm:t>
        <a:bodyPr/>
        <a:lstStyle/>
        <a:p>
          <a:endParaRPr lang="zh-CN" altLang="en-US"/>
        </a:p>
      </dgm:t>
    </dgm:pt>
    <dgm:pt modelId="{2C8E6598-C144-492B-B58C-6DF1E9FCA325}" type="pres">
      <dgm:prSet presAssocID="{8742A678-F78C-4BA9-843C-4495544A2CBE}" presName="sibTrans" presStyleLbl="sibTrans1D1" presStyleIdx="10" presStyleCnt="11"/>
      <dgm:spPr/>
      <dgm:t>
        <a:bodyPr/>
        <a:lstStyle/>
        <a:p>
          <a:endParaRPr lang="zh-CN" altLang="en-US"/>
        </a:p>
      </dgm:t>
    </dgm:pt>
    <dgm:pt modelId="{82A210CF-953C-4462-A0E7-D2C0241A2223}" type="pres">
      <dgm:prSet presAssocID="{8742A678-F78C-4BA9-843C-4495544A2CBE}" presName="connectorText" presStyleLbl="sibTrans1D1" presStyleIdx="10" presStyleCnt="11"/>
      <dgm:spPr/>
      <dgm:t>
        <a:bodyPr/>
        <a:lstStyle/>
        <a:p>
          <a:endParaRPr lang="zh-CN" altLang="en-US"/>
        </a:p>
      </dgm:t>
    </dgm:pt>
    <dgm:pt modelId="{CBBDB814-135D-4E0B-838A-09DCCFA0A274}" type="pres">
      <dgm:prSet presAssocID="{14BB70E3-908E-4CF0-9F56-BCA6ACD9D606}" presName="node" presStyleLbl="node1" presStyleIdx="11" presStyleCnt="12" custScaleX="77204" custScaleY="92435" custLinFactNeighborX="1788" custLinFactNeighborY="993">
        <dgm:presLayoutVars>
          <dgm:bulletEnabled val="1"/>
        </dgm:presLayoutVars>
      </dgm:prSet>
      <dgm:spPr/>
      <dgm:t>
        <a:bodyPr/>
        <a:lstStyle/>
        <a:p>
          <a:endParaRPr lang="zh-CN" altLang="en-US"/>
        </a:p>
      </dgm:t>
    </dgm:pt>
  </dgm:ptLst>
  <dgm:cxnLst>
    <dgm:cxn modelId="{AAC61B2A-99A4-49DF-89D0-B29D24DBA6A0}" srcId="{B3319BC7-B433-41D7-AA6A-F967A1DF2FFB}" destId="{14BB70E3-908E-4CF0-9F56-BCA6ACD9D606}" srcOrd="11" destOrd="0" parTransId="{5536DAE9-99A5-4BF1-9F0A-984CF5DC27D6}" sibTransId="{67048A07-024B-4B14-B8D6-851AA7287EF0}"/>
    <dgm:cxn modelId="{E14DBE8F-B3C7-4D74-9330-82F9312362DA}" type="presOf" srcId="{465D7F52-132D-42DD-9807-0A23F94F0CFC}" destId="{FDDB450C-6962-4597-97CF-3B8CC988E33B}" srcOrd="0" destOrd="0" presId="urn:microsoft.com/office/officeart/2005/8/layout/bProcess3"/>
    <dgm:cxn modelId="{E3BA3383-FCC6-4342-BA8C-E97FC710EF4A}" type="presOf" srcId="{6F383DA3-CCD6-4FE7-B1A6-A98B5F79F422}" destId="{17B8ECE5-B23B-4F2D-9994-0B03267AA72C}" srcOrd="0" destOrd="0" presId="urn:microsoft.com/office/officeart/2005/8/layout/bProcess3"/>
    <dgm:cxn modelId="{C2B1F20B-534F-4666-84E7-9A1E137F695E}" type="presOf" srcId="{8742A678-F78C-4BA9-843C-4495544A2CBE}" destId="{2C8E6598-C144-492B-B58C-6DF1E9FCA325}" srcOrd="0" destOrd="0" presId="urn:microsoft.com/office/officeart/2005/8/layout/bProcess3"/>
    <dgm:cxn modelId="{C8671E11-4E27-43CC-A879-2CA2BE21268B}" type="presOf" srcId="{6C51BFFE-CB73-4DE7-BC1F-F487A7BBF7EE}" destId="{19D991DC-D8E7-49CD-A08D-74A57B7C9190}" srcOrd="1" destOrd="0" presId="urn:microsoft.com/office/officeart/2005/8/layout/bProcess3"/>
    <dgm:cxn modelId="{1CBDC5FE-B504-4A5E-9BA8-F6322B5F5F29}" type="presOf" srcId="{465D7F52-132D-42DD-9807-0A23F94F0CFC}" destId="{5B1F70E8-302B-4F93-B32A-3EFC89027FD0}" srcOrd="1" destOrd="0" presId="urn:microsoft.com/office/officeart/2005/8/layout/bProcess3"/>
    <dgm:cxn modelId="{457C66C2-E735-4D3D-AE75-26C983DE6BBE}" type="presOf" srcId="{FE7290C7-24EB-43C0-900A-1436D8A91C3A}" destId="{C3FCE4EB-CCC6-4268-8CDA-62B781786436}" srcOrd="1" destOrd="0" presId="urn:microsoft.com/office/officeart/2005/8/layout/bProcess3"/>
    <dgm:cxn modelId="{E6816DE4-F20D-41F1-9207-2C4826034965}" type="presOf" srcId="{6648F247-6E1E-4625-B50C-7FCB174B77A9}" destId="{C38A3DA1-B682-40C7-9CCF-F253DD9F9B7C}" srcOrd="0" destOrd="0" presId="urn:microsoft.com/office/officeart/2005/8/layout/bProcess3"/>
    <dgm:cxn modelId="{176DF926-5DEE-4BCD-BA05-C15C7EC24F55}" type="presOf" srcId="{D1192C55-41EB-4047-9605-CD8C8E98BE51}" destId="{07A83DBC-BF62-4BAB-94EF-A55DD50C0AE7}" srcOrd="1" destOrd="0" presId="urn:microsoft.com/office/officeart/2005/8/layout/bProcess3"/>
    <dgm:cxn modelId="{0A60A611-AE2C-4EDB-A50C-C8221F3EA107}" type="presOf" srcId="{0E36C424-EF18-4FF2-B49A-9BEAE7BC122B}" destId="{96752779-B176-4BCF-9149-1C6458A37568}" srcOrd="1" destOrd="0" presId="urn:microsoft.com/office/officeart/2005/8/layout/bProcess3"/>
    <dgm:cxn modelId="{FCDD01A0-AABE-4981-996D-7F1C2D802278}" type="presOf" srcId="{DC0AFFFE-0F29-4EF9-8EC2-6EF1AEDBD472}" destId="{96F9D174-117F-4F69-A730-EF932F7397C6}" srcOrd="0" destOrd="0" presId="urn:microsoft.com/office/officeart/2005/8/layout/bProcess3"/>
    <dgm:cxn modelId="{2A191F39-563A-4D0F-B0B2-A7F0F23D6708}" srcId="{B3319BC7-B433-41D7-AA6A-F967A1DF2FFB}" destId="{DC0AFFFE-0F29-4EF9-8EC2-6EF1AEDBD472}" srcOrd="1" destOrd="0" parTransId="{3C8F42B2-A9BC-4218-B835-2871CCED1153}" sibTransId="{FE7290C7-24EB-43C0-900A-1436D8A91C3A}"/>
    <dgm:cxn modelId="{5AB90507-AD63-4AB2-97DC-C4C30172F540}" srcId="{B3319BC7-B433-41D7-AA6A-F967A1DF2FFB}" destId="{ABE61A18-1361-48A6-B58C-B7347289DFEB}" srcOrd="4" destOrd="0" parTransId="{D4938D26-5EFA-4926-AF81-300D8B7D09ED}" sibTransId="{DF026E1A-2D82-4FA6-9785-94DC9E6E077B}"/>
    <dgm:cxn modelId="{DE26B75B-84F5-499E-A814-7D56DCCA9697}" type="presOf" srcId="{F603FF95-1B0A-4FDC-9EF2-89366F3A6CEA}" destId="{F37C60EB-A3F4-4C01-B3E7-4EDBFBD72D76}" srcOrd="0" destOrd="0" presId="urn:microsoft.com/office/officeart/2005/8/layout/bProcess3"/>
    <dgm:cxn modelId="{C3B60143-0737-4006-BF59-8ABA4687CD92}" type="presOf" srcId="{ABE61A18-1361-48A6-B58C-B7347289DFEB}" destId="{81551007-1965-4437-8E6B-60748BB1B601}" srcOrd="0" destOrd="0" presId="urn:microsoft.com/office/officeart/2005/8/layout/bProcess3"/>
    <dgm:cxn modelId="{71F04EF1-408B-4696-B0DB-329F57930563}" type="presOf" srcId="{B77B5390-7299-4BE6-AB5D-905A01A78246}" destId="{EC18B34D-AEC7-4285-A0A6-7E09DD5BEA54}" srcOrd="1" destOrd="0" presId="urn:microsoft.com/office/officeart/2005/8/layout/bProcess3"/>
    <dgm:cxn modelId="{0D4671BA-5A69-4CD6-B591-06618B094686}" type="presOf" srcId="{3830A735-A16E-4F2B-AD5A-1EF848D844A1}" destId="{D2CCE1C4-A4EA-4F00-A899-3BAAA42829D1}" srcOrd="0" destOrd="0" presId="urn:microsoft.com/office/officeart/2005/8/layout/bProcess3"/>
    <dgm:cxn modelId="{F14D894A-07D6-48CC-ADB7-28CF771019A9}" type="presOf" srcId="{8742A678-F78C-4BA9-843C-4495544A2CBE}" destId="{82A210CF-953C-4462-A0E7-D2C0241A2223}" srcOrd="1" destOrd="0" presId="urn:microsoft.com/office/officeart/2005/8/layout/bProcess3"/>
    <dgm:cxn modelId="{4E37E60A-1DE6-419A-875B-6E7C7388F9F5}" type="presOf" srcId="{D1192C55-41EB-4047-9605-CD8C8E98BE51}" destId="{3FFFEC09-7009-4074-88D9-F793F63CC077}" srcOrd="0" destOrd="0" presId="urn:microsoft.com/office/officeart/2005/8/layout/bProcess3"/>
    <dgm:cxn modelId="{D6171D5A-A54A-491C-8A22-18A2DABCB137}" type="presOf" srcId="{14BB70E3-908E-4CF0-9F56-BCA6ACD9D606}" destId="{CBBDB814-135D-4E0B-838A-09DCCFA0A274}" srcOrd="0" destOrd="0" presId="urn:microsoft.com/office/officeart/2005/8/layout/bProcess3"/>
    <dgm:cxn modelId="{54C815F2-5ECC-4B27-9851-40654F64941C}" srcId="{B3319BC7-B433-41D7-AA6A-F967A1DF2FFB}" destId="{6F383DA3-CCD6-4FE7-B1A6-A98B5F79F422}" srcOrd="7" destOrd="0" parTransId="{359A2D6A-08F7-4019-A539-607B8E00AF08}" sibTransId="{465D7F52-132D-42DD-9807-0A23F94F0CFC}"/>
    <dgm:cxn modelId="{CEEF7E19-2283-49B4-907B-18EE4B4B67B9}" type="presOf" srcId="{CA5078A8-68B2-4C35-9236-705D1F188A8F}" destId="{CA93391D-DF23-4A8F-9F4F-75A622D2ABB2}" srcOrd="0" destOrd="0" presId="urn:microsoft.com/office/officeart/2005/8/layout/bProcess3"/>
    <dgm:cxn modelId="{59F922CC-69B3-4336-B62E-FBF004F75E11}" type="presOf" srcId="{6C51BFFE-CB73-4DE7-BC1F-F487A7BBF7EE}" destId="{90BD0D17-C4DF-4DFA-B709-DFBEEA0B4B84}" srcOrd="0" destOrd="0" presId="urn:microsoft.com/office/officeart/2005/8/layout/bProcess3"/>
    <dgm:cxn modelId="{5FAF9B32-3F8E-4CAD-9387-3CC94796B30A}" srcId="{B3319BC7-B433-41D7-AA6A-F967A1DF2FFB}" destId="{F603FF95-1B0A-4FDC-9EF2-89366F3A6CEA}" srcOrd="5" destOrd="0" parTransId="{D2B5501F-B680-407D-AA3D-B046BCD01DFB}" sibTransId="{553C90D9-4ACD-4716-AC9E-6C6A42985BE4}"/>
    <dgm:cxn modelId="{22770FD3-2C5B-4AE3-B7FA-C97D87AB35AA}" srcId="{B3319BC7-B433-41D7-AA6A-F967A1DF2FFB}" destId="{C567CFEC-C64E-4907-A227-EF3220F23DF8}" srcOrd="9" destOrd="0" parTransId="{65E8A2A2-DA03-44AA-9300-BD4CF7528F21}" sibTransId="{B77B5390-7299-4BE6-AB5D-905A01A78246}"/>
    <dgm:cxn modelId="{9CDE80EA-B93D-466F-A4C3-DBDA1C841E96}" type="presOf" srcId="{B2471773-3FA5-4971-84A6-94936993EB97}" destId="{FE6A2B61-D21C-4AFB-AC81-3A4A05EE0317}" srcOrd="1" destOrd="0" presId="urn:microsoft.com/office/officeart/2005/8/layout/bProcess3"/>
    <dgm:cxn modelId="{66723087-5807-4E63-8918-3F1421583BE1}" srcId="{B3319BC7-B433-41D7-AA6A-F967A1DF2FFB}" destId="{CA5078A8-68B2-4C35-9236-705D1F188A8F}" srcOrd="10" destOrd="0" parTransId="{8AC4E5B6-A9EE-496B-B08B-16F15491761A}" sibTransId="{8742A678-F78C-4BA9-843C-4495544A2CBE}"/>
    <dgm:cxn modelId="{CBF31F3D-30A9-4044-8A81-A2E150311AED}" type="presOf" srcId="{DF026E1A-2D82-4FA6-9785-94DC9E6E077B}" destId="{F53E4137-A670-4FF5-8B0E-C45983296981}" srcOrd="0" destOrd="0" presId="urn:microsoft.com/office/officeart/2005/8/layout/bProcess3"/>
    <dgm:cxn modelId="{DABDF955-F74E-46F7-931E-5DCAE160A2DC}" srcId="{B3319BC7-B433-41D7-AA6A-F967A1DF2FFB}" destId="{B1B33514-0B13-4398-AF44-C85B3E900130}" srcOrd="0" destOrd="0" parTransId="{42086A30-B3E9-4CC2-9A7C-585BFBE1F5C2}" sibTransId="{B2471773-3FA5-4971-84A6-94936993EB97}"/>
    <dgm:cxn modelId="{6E670DBF-D546-48AF-A986-1F599A53AF9D}" srcId="{B3319BC7-B433-41D7-AA6A-F967A1DF2FFB}" destId="{6648F247-6E1E-4625-B50C-7FCB174B77A9}" srcOrd="6" destOrd="0" parTransId="{55648FAC-A810-47D2-A61E-F2CFFB1E934C}" sibTransId="{7084CCA2-CCAE-4FC4-8A00-3834307BA1A7}"/>
    <dgm:cxn modelId="{0F28CC63-E06F-435A-A8F7-E98074DE384D}" type="presOf" srcId="{FE7290C7-24EB-43C0-900A-1436D8A91C3A}" destId="{103F4B4E-04FD-4E11-9B7F-086475FCD2D4}" srcOrd="0" destOrd="0" presId="urn:microsoft.com/office/officeart/2005/8/layout/bProcess3"/>
    <dgm:cxn modelId="{F12126C3-0ED7-4FFF-BFE3-56C63929457F}" type="presOf" srcId="{B77B5390-7299-4BE6-AB5D-905A01A78246}" destId="{3CBBBB48-59FC-43D2-867D-70A944B73EB8}" srcOrd="0" destOrd="0" presId="urn:microsoft.com/office/officeart/2005/8/layout/bProcess3"/>
    <dgm:cxn modelId="{BC9F11A8-0B80-49C9-8C88-90D76C8D3232}" type="presOf" srcId="{91242FFD-3DB6-42A5-9C2E-3600DEC1DE5D}" destId="{9285CFFE-F952-4303-BA9F-298518E35A79}" srcOrd="0" destOrd="0" presId="urn:microsoft.com/office/officeart/2005/8/layout/bProcess3"/>
    <dgm:cxn modelId="{14C8EDF1-A9FF-4B19-867D-02C9ED59C5FD}" type="presOf" srcId="{C567CFEC-C64E-4907-A227-EF3220F23DF8}" destId="{83EE2394-675F-43FA-A986-279E2C0D8A0D}" srcOrd="0" destOrd="0" presId="urn:microsoft.com/office/officeart/2005/8/layout/bProcess3"/>
    <dgm:cxn modelId="{455AE369-0F5E-4B7E-A965-D8A5A1A9CB08}" srcId="{B3319BC7-B433-41D7-AA6A-F967A1DF2FFB}" destId="{44AB68BF-7F8D-4540-9284-73DA74A1D2AB}" srcOrd="2" destOrd="0" parTransId="{F8F329BA-555E-4DE2-8B93-C99204209627}" sibTransId="{0E36C424-EF18-4FF2-B49A-9BEAE7BC122B}"/>
    <dgm:cxn modelId="{134CF3ED-46FF-4685-B5A0-560595D04F7F}" type="presOf" srcId="{B2471773-3FA5-4971-84A6-94936993EB97}" destId="{125E1379-94A9-4230-B9C1-A0C615289BA3}" srcOrd="0" destOrd="0" presId="urn:microsoft.com/office/officeart/2005/8/layout/bProcess3"/>
    <dgm:cxn modelId="{E7ADC2C3-6074-485F-A881-4DBDF2D04876}" srcId="{B3319BC7-B433-41D7-AA6A-F967A1DF2FFB}" destId="{91242FFD-3DB6-42A5-9C2E-3600DEC1DE5D}" srcOrd="3" destOrd="0" parTransId="{93186C29-DE94-4065-B25A-C489DD19E26E}" sibTransId="{6C51BFFE-CB73-4DE7-BC1F-F487A7BBF7EE}"/>
    <dgm:cxn modelId="{EB4F3823-197F-4AED-B69E-32E245916CE4}" type="presOf" srcId="{B3319BC7-B433-41D7-AA6A-F967A1DF2FFB}" destId="{88E6B3DC-0B99-4561-9615-ABFDFE585E9B}" srcOrd="0" destOrd="0" presId="urn:microsoft.com/office/officeart/2005/8/layout/bProcess3"/>
    <dgm:cxn modelId="{6E6F2870-983D-4006-B756-A26E72FB922C}" type="presOf" srcId="{44AB68BF-7F8D-4540-9284-73DA74A1D2AB}" destId="{061CB3CB-09DA-4A93-9D3D-A972D06C2E53}" srcOrd="0" destOrd="0" presId="urn:microsoft.com/office/officeart/2005/8/layout/bProcess3"/>
    <dgm:cxn modelId="{CFA0449A-124B-44EA-92A7-013A0DC46250}" type="presOf" srcId="{DF026E1A-2D82-4FA6-9785-94DC9E6E077B}" destId="{1DDD0907-022D-4704-841B-076225988505}" srcOrd="1" destOrd="0" presId="urn:microsoft.com/office/officeart/2005/8/layout/bProcess3"/>
    <dgm:cxn modelId="{1384A48D-8561-430A-85FD-D31D870B384E}" type="presOf" srcId="{0E36C424-EF18-4FF2-B49A-9BEAE7BC122B}" destId="{DEA6D478-6B6D-4621-A38F-BB6AFA91D9A0}" srcOrd="0" destOrd="0" presId="urn:microsoft.com/office/officeart/2005/8/layout/bProcess3"/>
    <dgm:cxn modelId="{2D0C37B1-CB8C-45EB-B448-DBDB0005C177}" type="presOf" srcId="{553C90D9-4ACD-4716-AC9E-6C6A42985BE4}" destId="{CF07202F-E3AC-4C3D-B4E5-154DACAA0BF7}" srcOrd="0" destOrd="0" presId="urn:microsoft.com/office/officeart/2005/8/layout/bProcess3"/>
    <dgm:cxn modelId="{A04CB293-0330-40A7-A2DA-E20C73BD596E}" type="presOf" srcId="{7084CCA2-CCAE-4FC4-8A00-3834307BA1A7}" destId="{DE8FA047-E0DC-43B5-98D1-CFF8DBD2379B}" srcOrd="1" destOrd="0" presId="urn:microsoft.com/office/officeart/2005/8/layout/bProcess3"/>
    <dgm:cxn modelId="{3BC3231A-B99A-43BB-AFFC-4E490524EC31}" srcId="{B3319BC7-B433-41D7-AA6A-F967A1DF2FFB}" destId="{3830A735-A16E-4F2B-AD5A-1EF848D844A1}" srcOrd="8" destOrd="0" parTransId="{4CE96597-1498-489E-A55D-6185D6B630AF}" sibTransId="{D1192C55-41EB-4047-9605-CD8C8E98BE51}"/>
    <dgm:cxn modelId="{127328AF-4644-40EE-8D33-C55350BE9732}" type="presOf" srcId="{B1B33514-0B13-4398-AF44-C85B3E900130}" destId="{3BD071E6-989E-4B99-A87C-75DEAE5B9F75}" srcOrd="0" destOrd="0" presId="urn:microsoft.com/office/officeart/2005/8/layout/bProcess3"/>
    <dgm:cxn modelId="{5E2F7999-7378-418B-9126-B80E34127EF4}" type="presOf" srcId="{553C90D9-4ACD-4716-AC9E-6C6A42985BE4}" destId="{1ED00417-B7C7-44B4-8452-FB6A419338F1}" srcOrd="1" destOrd="0" presId="urn:microsoft.com/office/officeart/2005/8/layout/bProcess3"/>
    <dgm:cxn modelId="{43778C15-5D6B-419B-9843-AFD2254A17D3}" type="presOf" srcId="{7084CCA2-CCAE-4FC4-8A00-3834307BA1A7}" destId="{8239E47C-7733-4877-96C6-F3C15AACD7BC}" srcOrd="0" destOrd="0" presId="urn:microsoft.com/office/officeart/2005/8/layout/bProcess3"/>
    <dgm:cxn modelId="{CB18E296-9E1C-43A3-98F4-326B4D5A1206}" type="presParOf" srcId="{88E6B3DC-0B99-4561-9615-ABFDFE585E9B}" destId="{3BD071E6-989E-4B99-A87C-75DEAE5B9F75}" srcOrd="0" destOrd="0" presId="urn:microsoft.com/office/officeart/2005/8/layout/bProcess3"/>
    <dgm:cxn modelId="{BD149573-92CE-4F40-B92F-5289A1F49488}" type="presParOf" srcId="{88E6B3DC-0B99-4561-9615-ABFDFE585E9B}" destId="{125E1379-94A9-4230-B9C1-A0C615289BA3}" srcOrd="1" destOrd="0" presId="urn:microsoft.com/office/officeart/2005/8/layout/bProcess3"/>
    <dgm:cxn modelId="{85D8212F-DAFE-4192-BA77-B60C0E73D6C6}" type="presParOf" srcId="{125E1379-94A9-4230-B9C1-A0C615289BA3}" destId="{FE6A2B61-D21C-4AFB-AC81-3A4A05EE0317}" srcOrd="0" destOrd="0" presId="urn:microsoft.com/office/officeart/2005/8/layout/bProcess3"/>
    <dgm:cxn modelId="{6F18B159-2364-40E9-A363-DC4A3EB9E06D}" type="presParOf" srcId="{88E6B3DC-0B99-4561-9615-ABFDFE585E9B}" destId="{96F9D174-117F-4F69-A730-EF932F7397C6}" srcOrd="2" destOrd="0" presId="urn:microsoft.com/office/officeart/2005/8/layout/bProcess3"/>
    <dgm:cxn modelId="{3AC1C9DE-7150-4264-820E-583EF1E17D1A}" type="presParOf" srcId="{88E6B3DC-0B99-4561-9615-ABFDFE585E9B}" destId="{103F4B4E-04FD-4E11-9B7F-086475FCD2D4}" srcOrd="3" destOrd="0" presId="urn:microsoft.com/office/officeart/2005/8/layout/bProcess3"/>
    <dgm:cxn modelId="{CE318C05-C6FE-42E6-BA4F-76648891D20A}" type="presParOf" srcId="{103F4B4E-04FD-4E11-9B7F-086475FCD2D4}" destId="{C3FCE4EB-CCC6-4268-8CDA-62B781786436}" srcOrd="0" destOrd="0" presId="urn:microsoft.com/office/officeart/2005/8/layout/bProcess3"/>
    <dgm:cxn modelId="{4EDE9ADD-AF70-49B1-B2D6-1D3A60FA2CBF}" type="presParOf" srcId="{88E6B3DC-0B99-4561-9615-ABFDFE585E9B}" destId="{061CB3CB-09DA-4A93-9D3D-A972D06C2E53}" srcOrd="4" destOrd="0" presId="urn:microsoft.com/office/officeart/2005/8/layout/bProcess3"/>
    <dgm:cxn modelId="{609DF372-EC72-4543-9C67-C533207695E1}" type="presParOf" srcId="{88E6B3DC-0B99-4561-9615-ABFDFE585E9B}" destId="{DEA6D478-6B6D-4621-A38F-BB6AFA91D9A0}" srcOrd="5" destOrd="0" presId="urn:microsoft.com/office/officeart/2005/8/layout/bProcess3"/>
    <dgm:cxn modelId="{2BEF7C95-0BD8-4F7C-AA65-2C3737CEC50E}" type="presParOf" srcId="{DEA6D478-6B6D-4621-A38F-BB6AFA91D9A0}" destId="{96752779-B176-4BCF-9149-1C6458A37568}" srcOrd="0" destOrd="0" presId="urn:microsoft.com/office/officeart/2005/8/layout/bProcess3"/>
    <dgm:cxn modelId="{5FF39338-284E-4851-B61F-51908EE3D13B}" type="presParOf" srcId="{88E6B3DC-0B99-4561-9615-ABFDFE585E9B}" destId="{9285CFFE-F952-4303-BA9F-298518E35A79}" srcOrd="6" destOrd="0" presId="urn:microsoft.com/office/officeart/2005/8/layout/bProcess3"/>
    <dgm:cxn modelId="{E68F9894-E907-4969-995D-42AC9FD614B7}" type="presParOf" srcId="{88E6B3DC-0B99-4561-9615-ABFDFE585E9B}" destId="{90BD0D17-C4DF-4DFA-B709-DFBEEA0B4B84}" srcOrd="7" destOrd="0" presId="urn:microsoft.com/office/officeart/2005/8/layout/bProcess3"/>
    <dgm:cxn modelId="{AE328AC9-6209-4960-9CC2-88E384781AD2}" type="presParOf" srcId="{90BD0D17-C4DF-4DFA-B709-DFBEEA0B4B84}" destId="{19D991DC-D8E7-49CD-A08D-74A57B7C9190}" srcOrd="0" destOrd="0" presId="urn:microsoft.com/office/officeart/2005/8/layout/bProcess3"/>
    <dgm:cxn modelId="{E0590815-41DD-45A3-BF88-7686EE52CF4B}" type="presParOf" srcId="{88E6B3DC-0B99-4561-9615-ABFDFE585E9B}" destId="{81551007-1965-4437-8E6B-60748BB1B601}" srcOrd="8" destOrd="0" presId="urn:microsoft.com/office/officeart/2005/8/layout/bProcess3"/>
    <dgm:cxn modelId="{F0D67494-3229-4C7F-A8F7-391F7ED9D263}" type="presParOf" srcId="{88E6B3DC-0B99-4561-9615-ABFDFE585E9B}" destId="{F53E4137-A670-4FF5-8B0E-C45983296981}" srcOrd="9" destOrd="0" presId="urn:microsoft.com/office/officeart/2005/8/layout/bProcess3"/>
    <dgm:cxn modelId="{4421A708-1F73-422A-86E8-6F2416FA0874}" type="presParOf" srcId="{F53E4137-A670-4FF5-8B0E-C45983296981}" destId="{1DDD0907-022D-4704-841B-076225988505}" srcOrd="0" destOrd="0" presId="urn:microsoft.com/office/officeart/2005/8/layout/bProcess3"/>
    <dgm:cxn modelId="{6E62CE49-445E-4A6D-AF37-98AD35F26412}" type="presParOf" srcId="{88E6B3DC-0B99-4561-9615-ABFDFE585E9B}" destId="{F37C60EB-A3F4-4C01-B3E7-4EDBFBD72D76}" srcOrd="10" destOrd="0" presId="urn:microsoft.com/office/officeart/2005/8/layout/bProcess3"/>
    <dgm:cxn modelId="{C0F33C5B-87AD-47B9-842C-AFFEC551F19C}" type="presParOf" srcId="{88E6B3DC-0B99-4561-9615-ABFDFE585E9B}" destId="{CF07202F-E3AC-4C3D-B4E5-154DACAA0BF7}" srcOrd="11" destOrd="0" presId="urn:microsoft.com/office/officeart/2005/8/layout/bProcess3"/>
    <dgm:cxn modelId="{6193C14A-F588-40BF-9299-BA894B81B3DD}" type="presParOf" srcId="{CF07202F-E3AC-4C3D-B4E5-154DACAA0BF7}" destId="{1ED00417-B7C7-44B4-8452-FB6A419338F1}" srcOrd="0" destOrd="0" presId="urn:microsoft.com/office/officeart/2005/8/layout/bProcess3"/>
    <dgm:cxn modelId="{3E277F7A-3C5C-46B7-BC9E-0CD1CD4E6B98}" type="presParOf" srcId="{88E6B3DC-0B99-4561-9615-ABFDFE585E9B}" destId="{C38A3DA1-B682-40C7-9CCF-F253DD9F9B7C}" srcOrd="12" destOrd="0" presId="urn:microsoft.com/office/officeart/2005/8/layout/bProcess3"/>
    <dgm:cxn modelId="{36428CA6-50B5-4905-86CE-A045F22B1E44}" type="presParOf" srcId="{88E6B3DC-0B99-4561-9615-ABFDFE585E9B}" destId="{8239E47C-7733-4877-96C6-F3C15AACD7BC}" srcOrd="13" destOrd="0" presId="urn:microsoft.com/office/officeart/2005/8/layout/bProcess3"/>
    <dgm:cxn modelId="{EDA003A0-A50D-43C1-9F06-D7B0516FBC0B}" type="presParOf" srcId="{8239E47C-7733-4877-96C6-F3C15AACD7BC}" destId="{DE8FA047-E0DC-43B5-98D1-CFF8DBD2379B}" srcOrd="0" destOrd="0" presId="urn:microsoft.com/office/officeart/2005/8/layout/bProcess3"/>
    <dgm:cxn modelId="{7AF28EDB-4C1D-4024-A6EB-88B2ED0E8C30}" type="presParOf" srcId="{88E6B3DC-0B99-4561-9615-ABFDFE585E9B}" destId="{17B8ECE5-B23B-4F2D-9994-0B03267AA72C}" srcOrd="14" destOrd="0" presId="urn:microsoft.com/office/officeart/2005/8/layout/bProcess3"/>
    <dgm:cxn modelId="{E81315C5-046E-44FE-AFD0-3C8663058A1B}" type="presParOf" srcId="{88E6B3DC-0B99-4561-9615-ABFDFE585E9B}" destId="{FDDB450C-6962-4597-97CF-3B8CC988E33B}" srcOrd="15" destOrd="0" presId="urn:microsoft.com/office/officeart/2005/8/layout/bProcess3"/>
    <dgm:cxn modelId="{09B49DFF-1714-44FF-B60C-633A6E71B7E7}" type="presParOf" srcId="{FDDB450C-6962-4597-97CF-3B8CC988E33B}" destId="{5B1F70E8-302B-4F93-B32A-3EFC89027FD0}" srcOrd="0" destOrd="0" presId="urn:microsoft.com/office/officeart/2005/8/layout/bProcess3"/>
    <dgm:cxn modelId="{C978BDE5-14E4-474A-93F0-9C05FDC9BC15}" type="presParOf" srcId="{88E6B3DC-0B99-4561-9615-ABFDFE585E9B}" destId="{D2CCE1C4-A4EA-4F00-A899-3BAAA42829D1}" srcOrd="16" destOrd="0" presId="urn:microsoft.com/office/officeart/2005/8/layout/bProcess3"/>
    <dgm:cxn modelId="{736095E6-ABD3-44D3-9710-08B69A4E5268}" type="presParOf" srcId="{88E6B3DC-0B99-4561-9615-ABFDFE585E9B}" destId="{3FFFEC09-7009-4074-88D9-F793F63CC077}" srcOrd="17" destOrd="0" presId="urn:microsoft.com/office/officeart/2005/8/layout/bProcess3"/>
    <dgm:cxn modelId="{6353C909-6814-41EC-8C77-8EDE4448994B}" type="presParOf" srcId="{3FFFEC09-7009-4074-88D9-F793F63CC077}" destId="{07A83DBC-BF62-4BAB-94EF-A55DD50C0AE7}" srcOrd="0" destOrd="0" presId="urn:microsoft.com/office/officeart/2005/8/layout/bProcess3"/>
    <dgm:cxn modelId="{5CFB1BDA-70A1-42DD-918C-BF846D5F9B07}" type="presParOf" srcId="{88E6B3DC-0B99-4561-9615-ABFDFE585E9B}" destId="{83EE2394-675F-43FA-A986-279E2C0D8A0D}" srcOrd="18" destOrd="0" presId="urn:microsoft.com/office/officeart/2005/8/layout/bProcess3"/>
    <dgm:cxn modelId="{5BF76FA8-6BF5-4C85-8957-BCC7DD77321D}" type="presParOf" srcId="{88E6B3DC-0B99-4561-9615-ABFDFE585E9B}" destId="{3CBBBB48-59FC-43D2-867D-70A944B73EB8}" srcOrd="19" destOrd="0" presId="urn:microsoft.com/office/officeart/2005/8/layout/bProcess3"/>
    <dgm:cxn modelId="{9FBE7571-5BE5-437E-ADC5-5A9308551DA6}" type="presParOf" srcId="{3CBBBB48-59FC-43D2-867D-70A944B73EB8}" destId="{EC18B34D-AEC7-4285-A0A6-7E09DD5BEA54}" srcOrd="0" destOrd="0" presId="urn:microsoft.com/office/officeart/2005/8/layout/bProcess3"/>
    <dgm:cxn modelId="{482A6F3D-3881-4824-BA38-A1C70970B3D0}" type="presParOf" srcId="{88E6B3DC-0B99-4561-9615-ABFDFE585E9B}" destId="{CA93391D-DF23-4A8F-9F4F-75A622D2ABB2}" srcOrd="20" destOrd="0" presId="urn:microsoft.com/office/officeart/2005/8/layout/bProcess3"/>
    <dgm:cxn modelId="{32A3F15E-7473-4575-861E-6C441F4C99E4}" type="presParOf" srcId="{88E6B3DC-0B99-4561-9615-ABFDFE585E9B}" destId="{2C8E6598-C144-492B-B58C-6DF1E9FCA325}" srcOrd="21" destOrd="0" presId="urn:microsoft.com/office/officeart/2005/8/layout/bProcess3"/>
    <dgm:cxn modelId="{BEFFB12D-0181-421F-AE91-4F203CBDD4BA}" type="presParOf" srcId="{2C8E6598-C144-492B-B58C-6DF1E9FCA325}" destId="{82A210CF-953C-4462-A0E7-D2C0241A2223}" srcOrd="0" destOrd="0" presId="urn:microsoft.com/office/officeart/2005/8/layout/bProcess3"/>
    <dgm:cxn modelId="{B14F6148-A732-45F6-9038-0F27585366F4}" type="presParOf" srcId="{88E6B3DC-0B99-4561-9615-ABFDFE585E9B}" destId="{CBBDB814-135D-4E0B-838A-09DCCFA0A274}" srcOrd="22" destOrd="0" presId="urn:microsoft.com/office/officeart/2005/8/layout/b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1CBB587-6749-4558-9E0C-BF762C515F10}" type="doc">
      <dgm:prSet loTypeId="urn:microsoft.com/office/officeart/2005/8/layout/chevron2" loCatId="process" qsTypeId="urn:microsoft.com/office/officeart/2005/8/quickstyle/simple1" qsCatId="simple" csTypeId="urn:microsoft.com/office/officeart/2005/8/colors/accent1_2" csCatId="accent1" phldr="1"/>
      <dgm:spPr/>
      <dgm:t>
        <a:bodyPr/>
        <a:lstStyle/>
        <a:p>
          <a:endParaRPr lang="zh-CN" altLang="en-US"/>
        </a:p>
      </dgm:t>
    </dgm:pt>
    <dgm:pt modelId="{F82DD9BC-793A-479D-84E9-DF3D284FF856}">
      <dgm:prSet phldrT="[文本]"/>
      <dgm:spPr/>
      <dgm:t>
        <a:bodyPr/>
        <a:lstStyle/>
        <a:p>
          <a:r>
            <a:rPr lang="en-US" altLang="zh-CN" dirty="0" smtClean="0"/>
            <a:t>1</a:t>
          </a:r>
          <a:endParaRPr lang="zh-CN" altLang="en-US" dirty="0"/>
        </a:p>
      </dgm:t>
    </dgm:pt>
    <dgm:pt modelId="{1A4B3B46-8122-4F4F-B568-C31FA5644149}" type="parTrans" cxnId="{2C27BB5B-53A2-4053-BFDA-6442406457C3}">
      <dgm:prSet/>
      <dgm:spPr/>
      <dgm:t>
        <a:bodyPr/>
        <a:lstStyle/>
        <a:p>
          <a:endParaRPr lang="zh-CN" altLang="en-US"/>
        </a:p>
      </dgm:t>
    </dgm:pt>
    <dgm:pt modelId="{0E30133B-8235-4066-A721-382450A83E0F}" type="sibTrans" cxnId="{2C27BB5B-53A2-4053-BFDA-6442406457C3}">
      <dgm:prSet/>
      <dgm:spPr/>
      <dgm:t>
        <a:bodyPr/>
        <a:lstStyle/>
        <a:p>
          <a:endParaRPr lang="zh-CN" altLang="en-US"/>
        </a:p>
      </dgm:t>
    </dgm:pt>
    <dgm:pt modelId="{58189933-9A0B-4892-BA21-121824FD9C59}">
      <dgm:prSet phldrT="[文本]"/>
      <dgm:spPr/>
      <dgm:t>
        <a:bodyPr/>
        <a:lstStyle/>
        <a:p>
          <a:r>
            <a:rPr lang="zh-CN" altLang="en-US" dirty="0" smtClean="0"/>
            <a:t>连接硬件狗至</a:t>
          </a:r>
          <a:r>
            <a:rPr lang="en-US" altLang="zh-CN" dirty="0" smtClean="0"/>
            <a:t>PC</a:t>
          </a:r>
          <a:r>
            <a:rPr lang="zh-CN" altLang="en-US" dirty="0" smtClean="0"/>
            <a:t>。</a:t>
          </a:r>
          <a:endParaRPr lang="zh-CN" altLang="en-US" dirty="0"/>
        </a:p>
      </dgm:t>
    </dgm:pt>
    <dgm:pt modelId="{DF97AF6D-0D69-4381-BA2B-1DFFC67F645C}" type="parTrans" cxnId="{359745F9-FF5F-43F4-9EA6-92F24815B478}">
      <dgm:prSet/>
      <dgm:spPr/>
      <dgm:t>
        <a:bodyPr/>
        <a:lstStyle/>
        <a:p>
          <a:endParaRPr lang="zh-CN" altLang="en-US"/>
        </a:p>
      </dgm:t>
    </dgm:pt>
    <dgm:pt modelId="{2B7303B9-F6A7-4203-835A-6831D12ED1FF}" type="sibTrans" cxnId="{359745F9-FF5F-43F4-9EA6-92F24815B478}">
      <dgm:prSet/>
      <dgm:spPr/>
      <dgm:t>
        <a:bodyPr/>
        <a:lstStyle/>
        <a:p>
          <a:endParaRPr lang="zh-CN" altLang="en-US"/>
        </a:p>
      </dgm:t>
    </dgm:pt>
    <dgm:pt modelId="{F9F22CCF-6696-4D02-BDDA-D6714BEBD04D}">
      <dgm:prSet phldrT="[文本]"/>
      <dgm:spPr/>
      <dgm:t>
        <a:bodyPr/>
        <a:lstStyle/>
        <a:p>
          <a:r>
            <a:rPr lang="en-US" altLang="zh-CN" dirty="0" smtClean="0"/>
            <a:t>2</a:t>
          </a:r>
          <a:endParaRPr lang="zh-CN" altLang="en-US" dirty="0"/>
        </a:p>
      </dgm:t>
    </dgm:pt>
    <dgm:pt modelId="{934FF146-9AE7-4A07-B474-4A440DC7D0F4}" type="parTrans" cxnId="{D8319673-73D8-46FE-A6E3-C2CB44ED2D22}">
      <dgm:prSet/>
      <dgm:spPr/>
      <dgm:t>
        <a:bodyPr/>
        <a:lstStyle/>
        <a:p>
          <a:endParaRPr lang="zh-CN" altLang="en-US"/>
        </a:p>
      </dgm:t>
    </dgm:pt>
    <dgm:pt modelId="{DA7FBC6E-5FF6-407A-8420-12C3426CAE8F}" type="sibTrans" cxnId="{D8319673-73D8-46FE-A6E3-C2CB44ED2D22}">
      <dgm:prSet/>
      <dgm:spPr/>
      <dgm:t>
        <a:bodyPr/>
        <a:lstStyle/>
        <a:p>
          <a:endParaRPr lang="zh-CN" altLang="en-US"/>
        </a:p>
      </dgm:t>
    </dgm:pt>
    <dgm:pt modelId="{4B69CFA1-0760-4046-8DC2-86B471FEE727}">
      <dgm:prSet phldrT="[文本]"/>
      <dgm:spPr/>
      <dgm:t>
        <a:bodyPr/>
        <a:lstStyle/>
        <a:p>
          <a:r>
            <a:rPr lang="zh-CN" altLang="en-US" dirty="0" smtClean="0"/>
            <a:t>运行主程序。</a:t>
          </a:r>
          <a:endParaRPr lang="zh-CN" altLang="en-US" dirty="0"/>
        </a:p>
      </dgm:t>
    </dgm:pt>
    <dgm:pt modelId="{205571C9-010D-4E2D-B38D-D478BF95195F}" type="parTrans" cxnId="{EB889C5B-E521-4008-BBF1-EC58729A155A}">
      <dgm:prSet/>
      <dgm:spPr/>
      <dgm:t>
        <a:bodyPr/>
        <a:lstStyle/>
        <a:p>
          <a:endParaRPr lang="zh-CN" altLang="en-US"/>
        </a:p>
      </dgm:t>
    </dgm:pt>
    <dgm:pt modelId="{7E8F33B9-ECB7-4503-97CE-B0A3E8E52086}" type="sibTrans" cxnId="{EB889C5B-E521-4008-BBF1-EC58729A155A}">
      <dgm:prSet/>
      <dgm:spPr/>
      <dgm:t>
        <a:bodyPr/>
        <a:lstStyle/>
        <a:p>
          <a:endParaRPr lang="zh-CN" altLang="en-US"/>
        </a:p>
      </dgm:t>
    </dgm:pt>
    <dgm:pt modelId="{5A7F2F36-0F4E-4339-9A6F-BE0D03F90091}">
      <dgm:prSet phldrT="[文本]"/>
      <dgm:spPr/>
      <dgm:t>
        <a:bodyPr/>
        <a:lstStyle/>
        <a:p>
          <a:r>
            <a:rPr lang="en-US" altLang="zh-CN" dirty="0" smtClean="0"/>
            <a:t>3</a:t>
          </a:r>
          <a:endParaRPr lang="zh-CN" altLang="en-US" dirty="0"/>
        </a:p>
      </dgm:t>
    </dgm:pt>
    <dgm:pt modelId="{1312CDB0-216E-4BD4-AE28-A71A4E901471}" type="parTrans" cxnId="{0E39F68C-CB98-4607-9260-6C8FC39B602B}">
      <dgm:prSet/>
      <dgm:spPr/>
      <dgm:t>
        <a:bodyPr/>
        <a:lstStyle/>
        <a:p>
          <a:endParaRPr lang="zh-CN" altLang="en-US"/>
        </a:p>
      </dgm:t>
    </dgm:pt>
    <dgm:pt modelId="{3BAB9032-9E4A-4E5D-AF44-EED797E2CB85}" type="sibTrans" cxnId="{0E39F68C-CB98-4607-9260-6C8FC39B602B}">
      <dgm:prSet/>
      <dgm:spPr/>
      <dgm:t>
        <a:bodyPr/>
        <a:lstStyle/>
        <a:p>
          <a:endParaRPr lang="zh-CN" altLang="en-US"/>
        </a:p>
      </dgm:t>
    </dgm:pt>
    <dgm:pt modelId="{325B2966-4107-4080-97E7-8665F8957993}">
      <dgm:prSet phldrT="[文本]"/>
      <dgm:spPr/>
      <dgm:t>
        <a:bodyPr/>
        <a:lstStyle/>
        <a:p>
          <a:r>
            <a:rPr lang="zh-CN" altLang="en-US" dirty="0" smtClean="0"/>
            <a:t>在主界面，选择“</a:t>
          </a:r>
          <a:r>
            <a:rPr lang="en-US" dirty="0" smtClean="0"/>
            <a:t>Help &gt; View ESN”。 </a:t>
          </a:r>
          <a:endParaRPr lang="zh-CN" altLang="en-US" dirty="0"/>
        </a:p>
      </dgm:t>
    </dgm:pt>
    <dgm:pt modelId="{8AE7283C-2DD4-404C-8E6A-74B32549D9AE}" type="parTrans" cxnId="{3029D723-CB0B-497E-99DD-876365C4E43E}">
      <dgm:prSet/>
      <dgm:spPr/>
      <dgm:t>
        <a:bodyPr/>
        <a:lstStyle/>
        <a:p>
          <a:endParaRPr lang="zh-CN" altLang="en-US"/>
        </a:p>
      </dgm:t>
    </dgm:pt>
    <dgm:pt modelId="{3894A411-008B-4FE3-BD92-6F4043072F7D}" type="sibTrans" cxnId="{3029D723-CB0B-497E-99DD-876365C4E43E}">
      <dgm:prSet/>
      <dgm:spPr/>
      <dgm:t>
        <a:bodyPr/>
        <a:lstStyle/>
        <a:p>
          <a:endParaRPr lang="zh-CN" altLang="en-US"/>
        </a:p>
      </dgm:t>
    </dgm:pt>
    <dgm:pt modelId="{5B322B40-55BF-4B06-A5D2-1C2ED0E3EB39}">
      <dgm:prSet phldrT="[文本]"/>
      <dgm:spPr/>
      <dgm:t>
        <a:bodyPr/>
        <a:lstStyle/>
        <a:p>
          <a:r>
            <a:rPr lang="en-US" altLang="zh-CN" dirty="0" smtClean="0"/>
            <a:t>4</a:t>
          </a:r>
          <a:endParaRPr lang="zh-CN" altLang="en-US" dirty="0"/>
        </a:p>
      </dgm:t>
    </dgm:pt>
    <dgm:pt modelId="{122F68B9-5C26-4BCB-86DA-1F7D50E72FA8}" type="parTrans" cxnId="{DC0D29D3-A9A8-40B7-974D-D2E9E4B18952}">
      <dgm:prSet/>
      <dgm:spPr/>
      <dgm:t>
        <a:bodyPr/>
        <a:lstStyle/>
        <a:p>
          <a:endParaRPr lang="zh-CN" altLang="en-US"/>
        </a:p>
      </dgm:t>
    </dgm:pt>
    <dgm:pt modelId="{C6B5D738-FE37-429B-8412-1CEFE25EFC90}" type="sibTrans" cxnId="{DC0D29D3-A9A8-40B7-974D-D2E9E4B18952}">
      <dgm:prSet/>
      <dgm:spPr/>
      <dgm:t>
        <a:bodyPr/>
        <a:lstStyle/>
        <a:p>
          <a:endParaRPr lang="zh-CN" altLang="en-US"/>
        </a:p>
      </dgm:t>
    </dgm:pt>
    <dgm:pt modelId="{D67F87B4-A324-45FF-8CE4-C15D8FC00C27}">
      <dgm:prSet phldrT="[文本]"/>
      <dgm:spPr/>
      <dgm:t>
        <a:bodyPr/>
        <a:lstStyle/>
        <a:p>
          <a:r>
            <a:rPr lang="zh-CN" altLang="en-US" dirty="0" smtClean="0"/>
            <a:t>将获得的</a:t>
          </a:r>
          <a:r>
            <a:rPr lang="en-US" altLang="zh-CN" dirty="0" smtClean="0"/>
            <a:t>ESN</a:t>
          </a:r>
          <a:r>
            <a:rPr lang="zh-CN" altLang="en-US" dirty="0" smtClean="0"/>
            <a:t>反馈给华为技术服务工程师，获取新的</a:t>
          </a:r>
          <a:r>
            <a:rPr lang="en-US" altLang="zh-CN" dirty="0" smtClean="0"/>
            <a:t>License</a:t>
          </a:r>
          <a:r>
            <a:rPr lang="zh-CN" altLang="en-US" dirty="0" smtClean="0"/>
            <a:t>。 </a:t>
          </a:r>
          <a:endParaRPr lang="zh-CN" altLang="en-US" dirty="0"/>
        </a:p>
      </dgm:t>
    </dgm:pt>
    <dgm:pt modelId="{19A7B957-5D17-434D-A163-CFC96772C3D8}" type="parTrans" cxnId="{8261301D-8CD2-4025-84BF-9C061794F879}">
      <dgm:prSet/>
      <dgm:spPr/>
      <dgm:t>
        <a:bodyPr/>
        <a:lstStyle/>
        <a:p>
          <a:endParaRPr lang="zh-CN" altLang="en-US"/>
        </a:p>
      </dgm:t>
    </dgm:pt>
    <dgm:pt modelId="{E945F0D3-39F4-417F-AA45-26E316EE79C8}" type="sibTrans" cxnId="{8261301D-8CD2-4025-84BF-9C061794F879}">
      <dgm:prSet/>
      <dgm:spPr/>
      <dgm:t>
        <a:bodyPr/>
        <a:lstStyle/>
        <a:p>
          <a:endParaRPr lang="zh-CN" altLang="en-US"/>
        </a:p>
      </dgm:t>
    </dgm:pt>
    <dgm:pt modelId="{E1BFC11C-1379-4704-B664-CF8CDB34D8CA}">
      <dgm:prSet phldrT="[文本]"/>
      <dgm:spPr/>
      <dgm:t>
        <a:bodyPr/>
        <a:lstStyle/>
        <a:p>
          <a:r>
            <a:rPr lang="en-US" altLang="zh-CN" dirty="0" smtClean="0"/>
            <a:t>5</a:t>
          </a:r>
          <a:endParaRPr lang="zh-CN" altLang="en-US" dirty="0"/>
        </a:p>
      </dgm:t>
    </dgm:pt>
    <dgm:pt modelId="{8E0C7348-258B-41FD-B451-D9485D6E2DF1}" type="parTrans" cxnId="{0B9D7913-3EDF-49B1-9AA9-804DE87C1A6B}">
      <dgm:prSet/>
      <dgm:spPr/>
      <dgm:t>
        <a:bodyPr/>
        <a:lstStyle/>
        <a:p>
          <a:endParaRPr lang="zh-CN" altLang="en-US"/>
        </a:p>
      </dgm:t>
    </dgm:pt>
    <dgm:pt modelId="{E2DC4D30-4AF4-4001-BBDE-2EB999C01E42}" type="sibTrans" cxnId="{0B9D7913-3EDF-49B1-9AA9-804DE87C1A6B}">
      <dgm:prSet/>
      <dgm:spPr/>
      <dgm:t>
        <a:bodyPr/>
        <a:lstStyle/>
        <a:p>
          <a:endParaRPr lang="zh-CN" altLang="en-US"/>
        </a:p>
      </dgm:t>
    </dgm:pt>
    <dgm:pt modelId="{2DF74191-1BCA-4BD4-A117-C4C550C851B5}">
      <dgm:prSet phldrT="[文本]"/>
      <dgm:spPr/>
      <dgm:t>
        <a:bodyPr/>
        <a:lstStyle/>
        <a:p>
          <a:r>
            <a:rPr lang="zh-CN" altLang="en-US" dirty="0" smtClean="0"/>
            <a:t>获取新的</a:t>
          </a:r>
          <a:r>
            <a:rPr lang="en-US" dirty="0" smtClean="0"/>
            <a:t>License</a:t>
          </a:r>
          <a:r>
            <a:rPr lang="zh-CN" altLang="en-US" dirty="0" smtClean="0"/>
            <a:t>后，更新</a:t>
          </a:r>
          <a:r>
            <a:rPr lang="en-US" dirty="0" smtClean="0"/>
            <a:t>License</a:t>
          </a:r>
          <a:r>
            <a:rPr lang="zh-CN" altLang="en-US" dirty="0" smtClean="0"/>
            <a:t>到硬件狗。</a:t>
          </a:r>
          <a:endParaRPr lang="zh-CN" altLang="en-US" dirty="0"/>
        </a:p>
      </dgm:t>
    </dgm:pt>
    <dgm:pt modelId="{F5810B82-5A21-495B-AFA3-AE03116B42C1}" type="parTrans" cxnId="{A731AA34-66C7-4637-AD7A-51C94307251A}">
      <dgm:prSet/>
      <dgm:spPr/>
      <dgm:t>
        <a:bodyPr/>
        <a:lstStyle/>
        <a:p>
          <a:endParaRPr lang="zh-CN" altLang="en-US"/>
        </a:p>
      </dgm:t>
    </dgm:pt>
    <dgm:pt modelId="{F5B84644-DFCF-4B76-97FB-C275DD362C77}" type="sibTrans" cxnId="{A731AA34-66C7-4637-AD7A-51C94307251A}">
      <dgm:prSet/>
      <dgm:spPr/>
      <dgm:t>
        <a:bodyPr/>
        <a:lstStyle/>
        <a:p>
          <a:endParaRPr lang="zh-CN" altLang="en-US"/>
        </a:p>
      </dgm:t>
    </dgm:pt>
    <dgm:pt modelId="{66E4CE78-2C6B-4303-B3BB-E32C660C3884}">
      <dgm:prSet phldrT="[文本]"/>
      <dgm:spPr/>
      <dgm:t>
        <a:bodyPr/>
        <a:lstStyle/>
        <a:p>
          <a:r>
            <a:rPr lang="en-US" altLang="zh-CN" dirty="0" smtClean="0"/>
            <a:t>6</a:t>
          </a:r>
          <a:endParaRPr lang="zh-CN" altLang="en-US" dirty="0"/>
        </a:p>
      </dgm:t>
    </dgm:pt>
    <dgm:pt modelId="{F616E80E-D7AF-46B1-B32E-944ABAAED3A6}" type="parTrans" cxnId="{F86D4491-29A4-4ADB-B799-CF00DA449250}">
      <dgm:prSet/>
      <dgm:spPr/>
      <dgm:t>
        <a:bodyPr/>
        <a:lstStyle/>
        <a:p>
          <a:endParaRPr lang="zh-CN" altLang="en-US"/>
        </a:p>
      </dgm:t>
    </dgm:pt>
    <dgm:pt modelId="{271E03A1-63EF-4355-8435-148F00D088DB}" type="sibTrans" cxnId="{F86D4491-29A4-4ADB-B799-CF00DA449250}">
      <dgm:prSet/>
      <dgm:spPr/>
      <dgm:t>
        <a:bodyPr/>
        <a:lstStyle/>
        <a:p>
          <a:endParaRPr lang="zh-CN" altLang="en-US"/>
        </a:p>
      </dgm:t>
    </dgm:pt>
    <dgm:pt modelId="{498A9744-7E64-4465-A147-BD73F59B91A4}">
      <dgm:prSet phldrT="[文本]"/>
      <dgm:spPr/>
      <dgm:t>
        <a:bodyPr/>
        <a:lstStyle/>
        <a:p>
          <a:r>
            <a:rPr lang="zh-CN" altLang="en-US" b="1" dirty="0" smtClean="0"/>
            <a:t>可选：</a:t>
          </a:r>
          <a:r>
            <a:rPr lang="zh-CN" altLang="en-US" dirty="0" smtClean="0"/>
            <a:t>选择“</a:t>
          </a:r>
          <a:r>
            <a:rPr lang="en-US" dirty="0" smtClean="0"/>
            <a:t>Help &gt; License Info”，</a:t>
          </a:r>
          <a:r>
            <a:rPr lang="zh-CN" altLang="en-US" dirty="0" smtClean="0"/>
            <a:t>查看硬件狗的授权信息。</a:t>
          </a:r>
          <a:endParaRPr lang="zh-CN" altLang="en-US" dirty="0"/>
        </a:p>
      </dgm:t>
    </dgm:pt>
    <dgm:pt modelId="{84E4E82D-5DE1-4240-90C2-3642115ABD04}" type="parTrans" cxnId="{D8EA07F4-AF07-49DB-BB8C-DBED954D461C}">
      <dgm:prSet/>
      <dgm:spPr/>
      <dgm:t>
        <a:bodyPr/>
        <a:lstStyle/>
        <a:p>
          <a:endParaRPr lang="zh-CN" altLang="en-US"/>
        </a:p>
      </dgm:t>
    </dgm:pt>
    <dgm:pt modelId="{968233B1-89FC-442E-A8C8-EEC284C4491E}" type="sibTrans" cxnId="{D8EA07F4-AF07-49DB-BB8C-DBED954D461C}">
      <dgm:prSet/>
      <dgm:spPr/>
      <dgm:t>
        <a:bodyPr/>
        <a:lstStyle/>
        <a:p>
          <a:endParaRPr lang="zh-CN" altLang="en-US"/>
        </a:p>
      </dgm:t>
    </dgm:pt>
    <dgm:pt modelId="{A3FE4681-4D16-4BA5-A0B8-58D8C608BC62}" type="pres">
      <dgm:prSet presAssocID="{11CBB587-6749-4558-9E0C-BF762C515F10}" presName="linearFlow" presStyleCnt="0">
        <dgm:presLayoutVars>
          <dgm:dir/>
          <dgm:animLvl val="lvl"/>
          <dgm:resizeHandles val="exact"/>
        </dgm:presLayoutVars>
      </dgm:prSet>
      <dgm:spPr/>
      <dgm:t>
        <a:bodyPr/>
        <a:lstStyle/>
        <a:p>
          <a:endParaRPr lang="zh-CN" altLang="en-US"/>
        </a:p>
      </dgm:t>
    </dgm:pt>
    <dgm:pt modelId="{06E9CD1D-2D57-4958-9D21-EE6C1ADA364E}" type="pres">
      <dgm:prSet presAssocID="{F82DD9BC-793A-479D-84E9-DF3D284FF856}" presName="composite" presStyleCnt="0"/>
      <dgm:spPr/>
    </dgm:pt>
    <dgm:pt modelId="{DFD3B4D3-283C-450C-965C-5EA6C9232BCB}" type="pres">
      <dgm:prSet presAssocID="{F82DD9BC-793A-479D-84E9-DF3D284FF856}" presName="parentText" presStyleLbl="alignNode1" presStyleIdx="0" presStyleCnt="6">
        <dgm:presLayoutVars>
          <dgm:chMax val="1"/>
          <dgm:bulletEnabled val="1"/>
        </dgm:presLayoutVars>
      </dgm:prSet>
      <dgm:spPr/>
      <dgm:t>
        <a:bodyPr/>
        <a:lstStyle/>
        <a:p>
          <a:endParaRPr lang="zh-CN" altLang="en-US"/>
        </a:p>
      </dgm:t>
    </dgm:pt>
    <dgm:pt modelId="{C48C41F2-21E5-46A6-9F9B-864ED270A46F}" type="pres">
      <dgm:prSet presAssocID="{F82DD9BC-793A-479D-84E9-DF3D284FF856}" presName="descendantText" presStyleLbl="alignAcc1" presStyleIdx="0" presStyleCnt="6">
        <dgm:presLayoutVars>
          <dgm:bulletEnabled val="1"/>
        </dgm:presLayoutVars>
      </dgm:prSet>
      <dgm:spPr/>
      <dgm:t>
        <a:bodyPr/>
        <a:lstStyle/>
        <a:p>
          <a:endParaRPr lang="zh-CN" altLang="en-US"/>
        </a:p>
      </dgm:t>
    </dgm:pt>
    <dgm:pt modelId="{B7CD20DD-278A-43D5-9F80-FF0102863A7E}" type="pres">
      <dgm:prSet presAssocID="{0E30133B-8235-4066-A721-382450A83E0F}" presName="sp" presStyleCnt="0"/>
      <dgm:spPr/>
    </dgm:pt>
    <dgm:pt modelId="{C79F726D-772A-4DD3-9382-D5AF035B34CF}" type="pres">
      <dgm:prSet presAssocID="{F9F22CCF-6696-4D02-BDDA-D6714BEBD04D}" presName="composite" presStyleCnt="0"/>
      <dgm:spPr/>
    </dgm:pt>
    <dgm:pt modelId="{1D2D1A68-4342-47CC-8250-977F3E42D8BB}" type="pres">
      <dgm:prSet presAssocID="{F9F22CCF-6696-4D02-BDDA-D6714BEBD04D}" presName="parentText" presStyleLbl="alignNode1" presStyleIdx="1" presStyleCnt="6">
        <dgm:presLayoutVars>
          <dgm:chMax val="1"/>
          <dgm:bulletEnabled val="1"/>
        </dgm:presLayoutVars>
      </dgm:prSet>
      <dgm:spPr/>
      <dgm:t>
        <a:bodyPr/>
        <a:lstStyle/>
        <a:p>
          <a:endParaRPr lang="zh-CN" altLang="en-US"/>
        </a:p>
      </dgm:t>
    </dgm:pt>
    <dgm:pt modelId="{52162AC9-7165-4AC1-BA64-5C281FD4001B}" type="pres">
      <dgm:prSet presAssocID="{F9F22CCF-6696-4D02-BDDA-D6714BEBD04D}" presName="descendantText" presStyleLbl="alignAcc1" presStyleIdx="1" presStyleCnt="6">
        <dgm:presLayoutVars>
          <dgm:bulletEnabled val="1"/>
        </dgm:presLayoutVars>
      </dgm:prSet>
      <dgm:spPr/>
      <dgm:t>
        <a:bodyPr/>
        <a:lstStyle/>
        <a:p>
          <a:endParaRPr lang="zh-CN" altLang="en-US"/>
        </a:p>
      </dgm:t>
    </dgm:pt>
    <dgm:pt modelId="{BD3AC9C8-F39C-4F7B-90C1-F940D05F8981}" type="pres">
      <dgm:prSet presAssocID="{DA7FBC6E-5FF6-407A-8420-12C3426CAE8F}" presName="sp" presStyleCnt="0"/>
      <dgm:spPr/>
    </dgm:pt>
    <dgm:pt modelId="{27FA66F1-59A0-4097-B31D-803BB7953BD0}" type="pres">
      <dgm:prSet presAssocID="{5A7F2F36-0F4E-4339-9A6F-BE0D03F90091}" presName="composite" presStyleCnt="0"/>
      <dgm:spPr/>
    </dgm:pt>
    <dgm:pt modelId="{ED575E75-27DE-468C-9AA2-148AA802FE53}" type="pres">
      <dgm:prSet presAssocID="{5A7F2F36-0F4E-4339-9A6F-BE0D03F90091}" presName="parentText" presStyleLbl="alignNode1" presStyleIdx="2" presStyleCnt="6">
        <dgm:presLayoutVars>
          <dgm:chMax val="1"/>
          <dgm:bulletEnabled val="1"/>
        </dgm:presLayoutVars>
      </dgm:prSet>
      <dgm:spPr/>
      <dgm:t>
        <a:bodyPr/>
        <a:lstStyle/>
        <a:p>
          <a:endParaRPr lang="zh-CN" altLang="en-US"/>
        </a:p>
      </dgm:t>
    </dgm:pt>
    <dgm:pt modelId="{017D77B0-BA68-4989-A055-62C91CBE699D}" type="pres">
      <dgm:prSet presAssocID="{5A7F2F36-0F4E-4339-9A6F-BE0D03F90091}" presName="descendantText" presStyleLbl="alignAcc1" presStyleIdx="2" presStyleCnt="6">
        <dgm:presLayoutVars>
          <dgm:bulletEnabled val="1"/>
        </dgm:presLayoutVars>
      </dgm:prSet>
      <dgm:spPr/>
      <dgm:t>
        <a:bodyPr/>
        <a:lstStyle/>
        <a:p>
          <a:endParaRPr lang="zh-CN" altLang="en-US"/>
        </a:p>
      </dgm:t>
    </dgm:pt>
    <dgm:pt modelId="{0C12D944-C4A7-4F38-989D-1A7E393EA927}" type="pres">
      <dgm:prSet presAssocID="{3BAB9032-9E4A-4E5D-AF44-EED797E2CB85}" presName="sp" presStyleCnt="0"/>
      <dgm:spPr/>
    </dgm:pt>
    <dgm:pt modelId="{F03C9C54-5E67-46EC-ABB0-C2734C307C08}" type="pres">
      <dgm:prSet presAssocID="{5B322B40-55BF-4B06-A5D2-1C2ED0E3EB39}" presName="composite" presStyleCnt="0"/>
      <dgm:spPr/>
    </dgm:pt>
    <dgm:pt modelId="{0ECE4510-821C-44AF-B9A0-099AE5A29AA1}" type="pres">
      <dgm:prSet presAssocID="{5B322B40-55BF-4B06-A5D2-1C2ED0E3EB39}" presName="parentText" presStyleLbl="alignNode1" presStyleIdx="3" presStyleCnt="6">
        <dgm:presLayoutVars>
          <dgm:chMax val="1"/>
          <dgm:bulletEnabled val="1"/>
        </dgm:presLayoutVars>
      </dgm:prSet>
      <dgm:spPr/>
      <dgm:t>
        <a:bodyPr/>
        <a:lstStyle/>
        <a:p>
          <a:endParaRPr lang="zh-CN" altLang="en-US"/>
        </a:p>
      </dgm:t>
    </dgm:pt>
    <dgm:pt modelId="{A30BF532-7D84-4FE7-BDD6-E7E3406D0BFF}" type="pres">
      <dgm:prSet presAssocID="{5B322B40-55BF-4B06-A5D2-1C2ED0E3EB39}" presName="descendantText" presStyleLbl="alignAcc1" presStyleIdx="3" presStyleCnt="6">
        <dgm:presLayoutVars>
          <dgm:bulletEnabled val="1"/>
        </dgm:presLayoutVars>
      </dgm:prSet>
      <dgm:spPr/>
      <dgm:t>
        <a:bodyPr/>
        <a:lstStyle/>
        <a:p>
          <a:endParaRPr lang="zh-CN" altLang="en-US"/>
        </a:p>
      </dgm:t>
    </dgm:pt>
    <dgm:pt modelId="{5F805E1B-60BC-45D0-91D3-2CCA9F834DA9}" type="pres">
      <dgm:prSet presAssocID="{C6B5D738-FE37-429B-8412-1CEFE25EFC90}" presName="sp" presStyleCnt="0"/>
      <dgm:spPr/>
    </dgm:pt>
    <dgm:pt modelId="{87B1CD68-273E-4D18-8BDB-2673C4BABDE0}" type="pres">
      <dgm:prSet presAssocID="{E1BFC11C-1379-4704-B664-CF8CDB34D8CA}" presName="composite" presStyleCnt="0"/>
      <dgm:spPr/>
    </dgm:pt>
    <dgm:pt modelId="{54D3AB66-F3E6-4116-AF47-ACD44575A7E3}" type="pres">
      <dgm:prSet presAssocID="{E1BFC11C-1379-4704-B664-CF8CDB34D8CA}" presName="parentText" presStyleLbl="alignNode1" presStyleIdx="4" presStyleCnt="6">
        <dgm:presLayoutVars>
          <dgm:chMax val="1"/>
          <dgm:bulletEnabled val="1"/>
        </dgm:presLayoutVars>
      </dgm:prSet>
      <dgm:spPr/>
      <dgm:t>
        <a:bodyPr/>
        <a:lstStyle/>
        <a:p>
          <a:endParaRPr lang="zh-CN" altLang="en-US"/>
        </a:p>
      </dgm:t>
    </dgm:pt>
    <dgm:pt modelId="{8EDA604D-71D5-4A6A-BD6B-3ADD07CE4F3C}" type="pres">
      <dgm:prSet presAssocID="{E1BFC11C-1379-4704-B664-CF8CDB34D8CA}" presName="descendantText" presStyleLbl="alignAcc1" presStyleIdx="4" presStyleCnt="6">
        <dgm:presLayoutVars>
          <dgm:bulletEnabled val="1"/>
        </dgm:presLayoutVars>
      </dgm:prSet>
      <dgm:spPr/>
      <dgm:t>
        <a:bodyPr/>
        <a:lstStyle/>
        <a:p>
          <a:endParaRPr lang="zh-CN" altLang="en-US"/>
        </a:p>
      </dgm:t>
    </dgm:pt>
    <dgm:pt modelId="{4EF5D96D-B294-4242-AE79-CD34591334D0}" type="pres">
      <dgm:prSet presAssocID="{E2DC4D30-4AF4-4001-BBDE-2EB999C01E42}" presName="sp" presStyleCnt="0"/>
      <dgm:spPr/>
    </dgm:pt>
    <dgm:pt modelId="{1B2A655C-191B-43F7-B4D4-55FE49EFE01C}" type="pres">
      <dgm:prSet presAssocID="{66E4CE78-2C6B-4303-B3BB-E32C660C3884}" presName="composite" presStyleCnt="0"/>
      <dgm:spPr/>
    </dgm:pt>
    <dgm:pt modelId="{FF4AD607-864D-45BA-8458-8A83BA70292F}" type="pres">
      <dgm:prSet presAssocID="{66E4CE78-2C6B-4303-B3BB-E32C660C3884}" presName="parentText" presStyleLbl="alignNode1" presStyleIdx="5" presStyleCnt="6">
        <dgm:presLayoutVars>
          <dgm:chMax val="1"/>
          <dgm:bulletEnabled val="1"/>
        </dgm:presLayoutVars>
      </dgm:prSet>
      <dgm:spPr/>
      <dgm:t>
        <a:bodyPr/>
        <a:lstStyle/>
        <a:p>
          <a:endParaRPr lang="zh-CN" altLang="en-US"/>
        </a:p>
      </dgm:t>
    </dgm:pt>
    <dgm:pt modelId="{781F8703-684A-453C-8683-6D9906B7325B}" type="pres">
      <dgm:prSet presAssocID="{66E4CE78-2C6B-4303-B3BB-E32C660C3884}" presName="descendantText" presStyleLbl="alignAcc1" presStyleIdx="5" presStyleCnt="6">
        <dgm:presLayoutVars>
          <dgm:bulletEnabled val="1"/>
        </dgm:presLayoutVars>
      </dgm:prSet>
      <dgm:spPr/>
      <dgm:t>
        <a:bodyPr/>
        <a:lstStyle/>
        <a:p>
          <a:endParaRPr lang="zh-CN" altLang="en-US"/>
        </a:p>
      </dgm:t>
    </dgm:pt>
  </dgm:ptLst>
  <dgm:cxnLst>
    <dgm:cxn modelId="{D8EA07F4-AF07-49DB-BB8C-DBED954D461C}" srcId="{66E4CE78-2C6B-4303-B3BB-E32C660C3884}" destId="{498A9744-7E64-4465-A147-BD73F59B91A4}" srcOrd="0" destOrd="0" parTransId="{84E4E82D-5DE1-4240-90C2-3642115ABD04}" sibTransId="{968233B1-89FC-442E-A8C8-EEC284C4491E}"/>
    <dgm:cxn modelId="{DC0D29D3-A9A8-40B7-974D-D2E9E4B18952}" srcId="{11CBB587-6749-4558-9E0C-BF762C515F10}" destId="{5B322B40-55BF-4B06-A5D2-1C2ED0E3EB39}" srcOrd="3" destOrd="0" parTransId="{122F68B9-5C26-4BCB-86DA-1F7D50E72FA8}" sibTransId="{C6B5D738-FE37-429B-8412-1CEFE25EFC90}"/>
    <dgm:cxn modelId="{2C27BB5B-53A2-4053-BFDA-6442406457C3}" srcId="{11CBB587-6749-4558-9E0C-BF762C515F10}" destId="{F82DD9BC-793A-479D-84E9-DF3D284FF856}" srcOrd="0" destOrd="0" parTransId="{1A4B3B46-8122-4F4F-B568-C31FA5644149}" sibTransId="{0E30133B-8235-4066-A721-382450A83E0F}"/>
    <dgm:cxn modelId="{0865F58B-4E7D-4459-8F53-D415C44CB2C9}" type="presOf" srcId="{E1BFC11C-1379-4704-B664-CF8CDB34D8CA}" destId="{54D3AB66-F3E6-4116-AF47-ACD44575A7E3}" srcOrd="0" destOrd="0" presId="urn:microsoft.com/office/officeart/2005/8/layout/chevron2"/>
    <dgm:cxn modelId="{0B9D7913-3EDF-49B1-9AA9-804DE87C1A6B}" srcId="{11CBB587-6749-4558-9E0C-BF762C515F10}" destId="{E1BFC11C-1379-4704-B664-CF8CDB34D8CA}" srcOrd="4" destOrd="0" parTransId="{8E0C7348-258B-41FD-B451-D9485D6E2DF1}" sibTransId="{E2DC4D30-4AF4-4001-BBDE-2EB999C01E42}"/>
    <dgm:cxn modelId="{A731AA34-66C7-4637-AD7A-51C94307251A}" srcId="{E1BFC11C-1379-4704-B664-CF8CDB34D8CA}" destId="{2DF74191-1BCA-4BD4-A117-C4C550C851B5}" srcOrd="0" destOrd="0" parTransId="{F5810B82-5A21-495B-AFA3-AE03116B42C1}" sibTransId="{F5B84644-DFCF-4B76-97FB-C275DD362C77}"/>
    <dgm:cxn modelId="{D0507A8F-29F8-4428-825E-AD45F662D945}" type="presOf" srcId="{11CBB587-6749-4558-9E0C-BF762C515F10}" destId="{A3FE4681-4D16-4BA5-A0B8-58D8C608BC62}" srcOrd="0" destOrd="0" presId="urn:microsoft.com/office/officeart/2005/8/layout/chevron2"/>
    <dgm:cxn modelId="{C46F1BD9-5694-475D-A40E-CF4918276A99}" type="presOf" srcId="{F9F22CCF-6696-4D02-BDDA-D6714BEBD04D}" destId="{1D2D1A68-4342-47CC-8250-977F3E42D8BB}" srcOrd="0" destOrd="0" presId="urn:microsoft.com/office/officeart/2005/8/layout/chevron2"/>
    <dgm:cxn modelId="{23E9D69B-FE23-4713-B956-1C72154BE3D3}" type="presOf" srcId="{D67F87B4-A324-45FF-8CE4-C15D8FC00C27}" destId="{A30BF532-7D84-4FE7-BDD6-E7E3406D0BFF}" srcOrd="0" destOrd="0" presId="urn:microsoft.com/office/officeart/2005/8/layout/chevron2"/>
    <dgm:cxn modelId="{3241A69B-FC81-4BD4-BBEC-977AA0BB4225}" type="presOf" srcId="{498A9744-7E64-4465-A147-BD73F59B91A4}" destId="{781F8703-684A-453C-8683-6D9906B7325B}" srcOrd="0" destOrd="0" presId="urn:microsoft.com/office/officeart/2005/8/layout/chevron2"/>
    <dgm:cxn modelId="{DB652DCF-47C0-4A4D-84CA-A0283D4E7BF7}" type="presOf" srcId="{5A7F2F36-0F4E-4339-9A6F-BE0D03F90091}" destId="{ED575E75-27DE-468C-9AA2-148AA802FE53}" srcOrd="0" destOrd="0" presId="urn:microsoft.com/office/officeart/2005/8/layout/chevron2"/>
    <dgm:cxn modelId="{F86D4491-29A4-4ADB-B799-CF00DA449250}" srcId="{11CBB587-6749-4558-9E0C-BF762C515F10}" destId="{66E4CE78-2C6B-4303-B3BB-E32C660C3884}" srcOrd="5" destOrd="0" parTransId="{F616E80E-D7AF-46B1-B32E-944ABAAED3A6}" sibTransId="{271E03A1-63EF-4355-8435-148F00D088DB}"/>
    <dgm:cxn modelId="{EB889C5B-E521-4008-BBF1-EC58729A155A}" srcId="{F9F22CCF-6696-4D02-BDDA-D6714BEBD04D}" destId="{4B69CFA1-0760-4046-8DC2-86B471FEE727}" srcOrd="0" destOrd="0" parTransId="{205571C9-010D-4E2D-B38D-D478BF95195F}" sibTransId="{7E8F33B9-ECB7-4503-97CE-B0A3E8E52086}"/>
    <dgm:cxn modelId="{8089BD77-130A-40DE-824D-9732B78083BE}" type="presOf" srcId="{58189933-9A0B-4892-BA21-121824FD9C59}" destId="{C48C41F2-21E5-46A6-9F9B-864ED270A46F}" srcOrd="0" destOrd="0" presId="urn:microsoft.com/office/officeart/2005/8/layout/chevron2"/>
    <dgm:cxn modelId="{22675D96-ABFF-4C2F-81BD-289935B0E8DA}" type="presOf" srcId="{4B69CFA1-0760-4046-8DC2-86B471FEE727}" destId="{52162AC9-7165-4AC1-BA64-5C281FD4001B}" srcOrd="0" destOrd="0" presId="urn:microsoft.com/office/officeart/2005/8/layout/chevron2"/>
    <dgm:cxn modelId="{FEBBA62D-6A6A-4D9A-9B82-FA6866C80532}" type="presOf" srcId="{66E4CE78-2C6B-4303-B3BB-E32C660C3884}" destId="{FF4AD607-864D-45BA-8458-8A83BA70292F}" srcOrd="0" destOrd="0" presId="urn:microsoft.com/office/officeart/2005/8/layout/chevron2"/>
    <dgm:cxn modelId="{5210EDA9-D63A-423E-8795-A37734BF6F11}" type="presOf" srcId="{F82DD9BC-793A-479D-84E9-DF3D284FF856}" destId="{DFD3B4D3-283C-450C-965C-5EA6C9232BCB}" srcOrd="0" destOrd="0" presId="urn:microsoft.com/office/officeart/2005/8/layout/chevron2"/>
    <dgm:cxn modelId="{3029D723-CB0B-497E-99DD-876365C4E43E}" srcId="{5A7F2F36-0F4E-4339-9A6F-BE0D03F90091}" destId="{325B2966-4107-4080-97E7-8665F8957993}" srcOrd="0" destOrd="0" parTransId="{8AE7283C-2DD4-404C-8E6A-74B32549D9AE}" sibTransId="{3894A411-008B-4FE3-BD92-6F4043072F7D}"/>
    <dgm:cxn modelId="{64ADC400-3FFF-419B-9667-598499E4BD42}" type="presOf" srcId="{2DF74191-1BCA-4BD4-A117-C4C550C851B5}" destId="{8EDA604D-71D5-4A6A-BD6B-3ADD07CE4F3C}" srcOrd="0" destOrd="0" presId="urn:microsoft.com/office/officeart/2005/8/layout/chevron2"/>
    <dgm:cxn modelId="{B15A4071-391F-4D9E-803F-C83DB640FA6F}" type="presOf" srcId="{325B2966-4107-4080-97E7-8665F8957993}" destId="{017D77B0-BA68-4989-A055-62C91CBE699D}" srcOrd="0" destOrd="0" presId="urn:microsoft.com/office/officeart/2005/8/layout/chevron2"/>
    <dgm:cxn modelId="{8261301D-8CD2-4025-84BF-9C061794F879}" srcId="{5B322B40-55BF-4B06-A5D2-1C2ED0E3EB39}" destId="{D67F87B4-A324-45FF-8CE4-C15D8FC00C27}" srcOrd="0" destOrd="0" parTransId="{19A7B957-5D17-434D-A163-CFC96772C3D8}" sibTransId="{E945F0D3-39F4-417F-AA45-26E316EE79C8}"/>
    <dgm:cxn modelId="{0E39F68C-CB98-4607-9260-6C8FC39B602B}" srcId="{11CBB587-6749-4558-9E0C-BF762C515F10}" destId="{5A7F2F36-0F4E-4339-9A6F-BE0D03F90091}" srcOrd="2" destOrd="0" parTransId="{1312CDB0-216E-4BD4-AE28-A71A4E901471}" sibTransId="{3BAB9032-9E4A-4E5D-AF44-EED797E2CB85}"/>
    <dgm:cxn modelId="{218AD932-E647-4D88-9E11-DEE64C5AE400}" type="presOf" srcId="{5B322B40-55BF-4B06-A5D2-1C2ED0E3EB39}" destId="{0ECE4510-821C-44AF-B9A0-099AE5A29AA1}" srcOrd="0" destOrd="0" presId="urn:microsoft.com/office/officeart/2005/8/layout/chevron2"/>
    <dgm:cxn modelId="{359745F9-FF5F-43F4-9EA6-92F24815B478}" srcId="{F82DD9BC-793A-479D-84E9-DF3D284FF856}" destId="{58189933-9A0B-4892-BA21-121824FD9C59}" srcOrd="0" destOrd="0" parTransId="{DF97AF6D-0D69-4381-BA2B-1DFFC67F645C}" sibTransId="{2B7303B9-F6A7-4203-835A-6831D12ED1FF}"/>
    <dgm:cxn modelId="{D8319673-73D8-46FE-A6E3-C2CB44ED2D22}" srcId="{11CBB587-6749-4558-9E0C-BF762C515F10}" destId="{F9F22CCF-6696-4D02-BDDA-D6714BEBD04D}" srcOrd="1" destOrd="0" parTransId="{934FF146-9AE7-4A07-B474-4A440DC7D0F4}" sibTransId="{DA7FBC6E-5FF6-407A-8420-12C3426CAE8F}"/>
    <dgm:cxn modelId="{90165F5E-ED86-4877-BDF7-141106B4ACAE}" type="presParOf" srcId="{A3FE4681-4D16-4BA5-A0B8-58D8C608BC62}" destId="{06E9CD1D-2D57-4958-9D21-EE6C1ADA364E}" srcOrd="0" destOrd="0" presId="urn:microsoft.com/office/officeart/2005/8/layout/chevron2"/>
    <dgm:cxn modelId="{4FDC38D2-CD7E-4DAC-B8CF-AA6F17E19269}" type="presParOf" srcId="{06E9CD1D-2D57-4958-9D21-EE6C1ADA364E}" destId="{DFD3B4D3-283C-450C-965C-5EA6C9232BCB}" srcOrd="0" destOrd="0" presId="urn:microsoft.com/office/officeart/2005/8/layout/chevron2"/>
    <dgm:cxn modelId="{9C3036B9-5046-4303-852D-E349FE3586DB}" type="presParOf" srcId="{06E9CD1D-2D57-4958-9D21-EE6C1ADA364E}" destId="{C48C41F2-21E5-46A6-9F9B-864ED270A46F}" srcOrd="1" destOrd="0" presId="urn:microsoft.com/office/officeart/2005/8/layout/chevron2"/>
    <dgm:cxn modelId="{7D016AF1-F369-465E-8199-BD65B824D37A}" type="presParOf" srcId="{A3FE4681-4D16-4BA5-A0B8-58D8C608BC62}" destId="{B7CD20DD-278A-43D5-9F80-FF0102863A7E}" srcOrd="1" destOrd="0" presId="urn:microsoft.com/office/officeart/2005/8/layout/chevron2"/>
    <dgm:cxn modelId="{AB53EEF0-848C-4202-B0A7-0FEE3B4D4619}" type="presParOf" srcId="{A3FE4681-4D16-4BA5-A0B8-58D8C608BC62}" destId="{C79F726D-772A-4DD3-9382-D5AF035B34CF}" srcOrd="2" destOrd="0" presId="urn:microsoft.com/office/officeart/2005/8/layout/chevron2"/>
    <dgm:cxn modelId="{21DF981D-65D9-4FA9-ACEF-5AAA638DC2D1}" type="presParOf" srcId="{C79F726D-772A-4DD3-9382-D5AF035B34CF}" destId="{1D2D1A68-4342-47CC-8250-977F3E42D8BB}" srcOrd="0" destOrd="0" presId="urn:microsoft.com/office/officeart/2005/8/layout/chevron2"/>
    <dgm:cxn modelId="{1ED6667F-5546-4FEB-BF4B-D22BB1A8A7E0}" type="presParOf" srcId="{C79F726D-772A-4DD3-9382-D5AF035B34CF}" destId="{52162AC9-7165-4AC1-BA64-5C281FD4001B}" srcOrd="1" destOrd="0" presId="urn:microsoft.com/office/officeart/2005/8/layout/chevron2"/>
    <dgm:cxn modelId="{D6674638-BB43-4F7A-A135-49E6C14EB8C2}" type="presParOf" srcId="{A3FE4681-4D16-4BA5-A0B8-58D8C608BC62}" destId="{BD3AC9C8-F39C-4F7B-90C1-F940D05F8981}" srcOrd="3" destOrd="0" presId="urn:microsoft.com/office/officeart/2005/8/layout/chevron2"/>
    <dgm:cxn modelId="{410B5826-B3C8-4DA1-8A77-BD9EE286AFE3}" type="presParOf" srcId="{A3FE4681-4D16-4BA5-A0B8-58D8C608BC62}" destId="{27FA66F1-59A0-4097-B31D-803BB7953BD0}" srcOrd="4" destOrd="0" presId="urn:microsoft.com/office/officeart/2005/8/layout/chevron2"/>
    <dgm:cxn modelId="{913EA9C4-BE78-4EFC-9C7C-A5EACFAAC9E3}" type="presParOf" srcId="{27FA66F1-59A0-4097-B31D-803BB7953BD0}" destId="{ED575E75-27DE-468C-9AA2-148AA802FE53}" srcOrd="0" destOrd="0" presId="urn:microsoft.com/office/officeart/2005/8/layout/chevron2"/>
    <dgm:cxn modelId="{45C139A4-982F-4DC7-88CF-E53BCC809E6C}" type="presParOf" srcId="{27FA66F1-59A0-4097-B31D-803BB7953BD0}" destId="{017D77B0-BA68-4989-A055-62C91CBE699D}" srcOrd="1" destOrd="0" presId="urn:microsoft.com/office/officeart/2005/8/layout/chevron2"/>
    <dgm:cxn modelId="{719A8539-5267-4295-B9A8-77D68DE2C8F5}" type="presParOf" srcId="{A3FE4681-4D16-4BA5-A0B8-58D8C608BC62}" destId="{0C12D944-C4A7-4F38-989D-1A7E393EA927}" srcOrd="5" destOrd="0" presId="urn:microsoft.com/office/officeart/2005/8/layout/chevron2"/>
    <dgm:cxn modelId="{8D84E828-A3D7-43F7-A187-CA54AD1A05EC}" type="presParOf" srcId="{A3FE4681-4D16-4BA5-A0B8-58D8C608BC62}" destId="{F03C9C54-5E67-46EC-ABB0-C2734C307C08}" srcOrd="6" destOrd="0" presId="urn:microsoft.com/office/officeart/2005/8/layout/chevron2"/>
    <dgm:cxn modelId="{6FD6466C-5864-408D-8761-CAF14700A71E}" type="presParOf" srcId="{F03C9C54-5E67-46EC-ABB0-C2734C307C08}" destId="{0ECE4510-821C-44AF-B9A0-099AE5A29AA1}" srcOrd="0" destOrd="0" presId="urn:microsoft.com/office/officeart/2005/8/layout/chevron2"/>
    <dgm:cxn modelId="{FDA34047-6141-47E7-A192-7AA2A556BB04}" type="presParOf" srcId="{F03C9C54-5E67-46EC-ABB0-C2734C307C08}" destId="{A30BF532-7D84-4FE7-BDD6-E7E3406D0BFF}" srcOrd="1" destOrd="0" presId="urn:microsoft.com/office/officeart/2005/8/layout/chevron2"/>
    <dgm:cxn modelId="{F2666DB4-5087-43D1-80CB-8811B54428E4}" type="presParOf" srcId="{A3FE4681-4D16-4BA5-A0B8-58D8C608BC62}" destId="{5F805E1B-60BC-45D0-91D3-2CCA9F834DA9}" srcOrd="7" destOrd="0" presId="urn:microsoft.com/office/officeart/2005/8/layout/chevron2"/>
    <dgm:cxn modelId="{598475B7-F887-4C79-BE32-5B5785A847E2}" type="presParOf" srcId="{A3FE4681-4D16-4BA5-A0B8-58D8C608BC62}" destId="{87B1CD68-273E-4D18-8BDB-2673C4BABDE0}" srcOrd="8" destOrd="0" presId="urn:microsoft.com/office/officeart/2005/8/layout/chevron2"/>
    <dgm:cxn modelId="{90E931B3-D54E-4413-A97A-FB973C40BB4F}" type="presParOf" srcId="{87B1CD68-273E-4D18-8BDB-2673C4BABDE0}" destId="{54D3AB66-F3E6-4116-AF47-ACD44575A7E3}" srcOrd="0" destOrd="0" presId="urn:microsoft.com/office/officeart/2005/8/layout/chevron2"/>
    <dgm:cxn modelId="{ED8C8C9F-54DC-4D35-A99D-DEAE430C7CA1}" type="presParOf" srcId="{87B1CD68-273E-4D18-8BDB-2673C4BABDE0}" destId="{8EDA604D-71D5-4A6A-BD6B-3ADD07CE4F3C}" srcOrd="1" destOrd="0" presId="urn:microsoft.com/office/officeart/2005/8/layout/chevron2"/>
    <dgm:cxn modelId="{9E85F3CF-CA2B-498E-B789-925C18A8FC30}" type="presParOf" srcId="{A3FE4681-4D16-4BA5-A0B8-58D8C608BC62}" destId="{4EF5D96D-B294-4242-AE79-CD34591334D0}" srcOrd="9" destOrd="0" presId="urn:microsoft.com/office/officeart/2005/8/layout/chevron2"/>
    <dgm:cxn modelId="{26CAF762-CA50-4865-9F7D-231558BE803C}" type="presParOf" srcId="{A3FE4681-4D16-4BA5-A0B8-58D8C608BC62}" destId="{1B2A655C-191B-43F7-B4D4-55FE49EFE01C}" srcOrd="10" destOrd="0" presId="urn:microsoft.com/office/officeart/2005/8/layout/chevron2"/>
    <dgm:cxn modelId="{04FE2D0D-0565-4653-95BF-0DCC2AEB88EE}" type="presParOf" srcId="{1B2A655C-191B-43F7-B4D4-55FE49EFE01C}" destId="{FF4AD607-864D-45BA-8458-8A83BA70292F}" srcOrd="0" destOrd="0" presId="urn:microsoft.com/office/officeart/2005/8/layout/chevron2"/>
    <dgm:cxn modelId="{D1537F5D-6370-457A-9144-6DF1B8BFCB5C}" type="presParOf" srcId="{1B2A655C-191B-43F7-B4D4-55FE49EFE01C}" destId="{781F8703-684A-453C-8683-6D9906B7325B}"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3365BE-A811-469A-BE58-EC2916E5A9D3}">
      <dsp:nvSpPr>
        <dsp:cNvPr id="0" name=""/>
        <dsp:cNvSpPr/>
      </dsp:nvSpPr>
      <dsp:spPr>
        <a:xfrm>
          <a:off x="2563216" y="1496669"/>
          <a:ext cx="1390777" cy="1390777"/>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lvl="0" algn="ctr" defTabSz="1066800">
            <a:lnSpc>
              <a:spcPct val="90000"/>
            </a:lnSpc>
            <a:spcBef>
              <a:spcPct val="0"/>
            </a:spcBef>
            <a:spcAft>
              <a:spcPct val="35000"/>
            </a:spcAft>
          </a:pPr>
          <a:r>
            <a:rPr lang="zh-CN" altLang="en-US" sz="2400" kern="1200" dirty="0" smtClean="0">
              <a:solidFill>
                <a:schemeClr val="tx1"/>
              </a:solidFill>
            </a:rPr>
            <a:t>单站验证目的</a:t>
          </a:r>
          <a:endParaRPr lang="zh-CN" altLang="en-US" sz="2400" kern="1200" dirty="0">
            <a:solidFill>
              <a:schemeClr val="tx1"/>
            </a:solidFill>
          </a:endParaRPr>
        </a:p>
      </dsp:txBody>
      <dsp:txXfrm>
        <a:off x="2766891" y="1700344"/>
        <a:ext cx="983427" cy="983427"/>
      </dsp:txXfrm>
    </dsp:sp>
    <dsp:sp modelId="{A66C02EC-AB4A-4960-81B1-A1A543BE53FB}">
      <dsp:nvSpPr>
        <dsp:cNvPr id="0" name=""/>
        <dsp:cNvSpPr/>
      </dsp:nvSpPr>
      <dsp:spPr>
        <a:xfrm rot="10261421">
          <a:off x="1177525" y="2217866"/>
          <a:ext cx="1326093" cy="39637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375FD71-E275-4FFA-9BD6-56144647990D}">
      <dsp:nvSpPr>
        <dsp:cNvPr id="0" name=""/>
        <dsp:cNvSpPr/>
      </dsp:nvSpPr>
      <dsp:spPr>
        <a:xfrm>
          <a:off x="345476" y="1991009"/>
          <a:ext cx="1680337" cy="10569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zh-CN" altLang="en-US" sz="1900" kern="1200" dirty="0" smtClean="0">
              <a:solidFill>
                <a:schemeClr val="tx1"/>
              </a:solidFill>
            </a:rPr>
            <a:t>保证小区基本功能正常可用</a:t>
          </a:r>
          <a:endParaRPr lang="zh-CN" altLang="en-US" sz="1900" kern="1200" dirty="0">
            <a:solidFill>
              <a:schemeClr val="tx1"/>
            </a:solidFill>
          </a:endParaRPr>
        </a:p>
      </dsp:txBody>
      <dsp:txXfrm>
        <a:off x="376434" y="2021967"/>
        <a:ext cx="1618421" cy="995074"/>
      </dsp:txXfrm>
    </dsp:sp>
    <dsp:sp modelId="{6B41DB03-5F0B-4DF8-9DD3-8A360E5D5FDF}">
      <dsp:nvSpPr>
        <dsp:cNvPr id="0" name=""/>
        <dsp:cNvSpPr/>
      </dsp:nvSpPr>
      <dsp:spPr>
        <a:xfrm rot="16230029">
          <a:off x="2811648" y="787784"/>
          <a:ext cx="914984" cy="39637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F8D8A70-141E-4F1F-9324-0C393CBF6898}">
      <dsp:nvSpPr>
        <dsp:cNvPr id="0" name=""/>
        <dsp:cNvSpPr/>
      </dsp:nvSpPr>
      <dsp:spPr>
        <a:xfrm>
          <a:off x="2612517" y="0"/>
          <a:ext cx="1321238" cy="10569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zh-CN" altLang="en-US" sz="1900" kern="1200" dirty="0" smtClean="0">
              <a:solidFill>
                <a:schemeClr val="tx1"/>
              </a:solidFill>
            </a:rPr>
            <a:t>验收</a:t>
          </a:r>
          <a:r>
            <a:rPr lang="en-US" altLang="zh-CN" sz="1900" kern="1200" dirty="0" smtClean="0">
              <a:solidFill>
                <a:schemeClr val="tx1"/>
              </a:solidFill>
            </a:rPr>
            <a:t>KPI</a:t>
          </a:r>
          <a:endParaRPr lang="zh-CN" altLang="en-US" sz="1900" kern="1200" dirty="0">
            <a:solidFill>
              <a:schemeClr val="tx1"/>
            </a:solidFill>
          </a:endParaRPr>
        </a:p>
      </dsp:txBody>
      <dsp:txXfrm>
        <a:off x="2643475" y="30958"/>
        <a:ext cx="1259322" cy="995074"/>
      </dsp:txXfrm>
    </dsp:sp>
    <dsp:sp modelId="{B9BEA7CC-8544-466D-ADC7-E169650F25DA}">
      <dsp:nvSpPr>
        <dsp:cNvPr id="0" name=""/>
        <dsp:cNvSpPr/>
      </dsp:nvSpPr>
      <dsp:spPr>
        <a:xfrm rot="552628">
          <a:off x="4010111" y="2219187"/>
          <a:ext cx="1276041" cy="396371"/>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61878CB-FAA4-4022-965D-69FF6DBBC0C5}">
      <dsp:nvSpPr>
        <dsp:cNvPr id="0" name=""/>
        <dsp:cNvSpPr/>
      </dsp:nvSpPr>
      <dsp:spPr>
        <a:xfrm>
          <a:off x="4409060" y="1991000"/>
          <a:ext cx="1737732" cy="105699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36195" rIns="36195" bIns="36195" numCol="1" spcCol="1270" anchor="ctr" anchorCtr="0">
          <a:noAutofit/>
        </a:bodyPr>
        <a:lstStyle/>
        <a:p>
          <a:pPr lvl="0" algn="ctr" defTabSz="844550">
            <a:lnSpc>
              <a:spcPct val="90000"/>
            </a:lnSpc>
            <a:spcBef>
              <a:spcPct val="0"/>
            </a:spcBef>
            <a:spcAft>
              <a:spcPct val="35000"/>
            </a:spcAft>
          </a:pPr>
          <a:r>
            <a:rPr lang="zh-CN" altLang="en-US" sz="1900" kern="1200" dirty="0" smtClean="0">
              <a:solidFill>
                <a:schemeClr val="tx1"/>
              </a:solidFill>
            </a:rPr>
            <a:t>熟悉区域内的站点位置、配置、环境等</a:t>
          </a:r>
          <a:endParaRPr lang="zh-CN" altLang="en-US" sz="1900" kern="1200" dirty="0">
            <a:solidFill>
              <a:schemeClr val="tx1"/>
            </a:solidFill>
          </a:endParaRPr>
        </a:p>
      </dsp:txBody>
      <dsp:txXfrm>
        <a:off x="4440018" y="2021958"/>
        <a:ext cx="1675816" cy="9950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577D8B-C3F4-41DD-BDDF-37AB9246F34B}">
      <dsp:nvSpPr>
        <dsp:cNvPr id="0" name=""/>
        <dsp:cNvSpPr/>
      </dsp:nvSpPr>
      <dsp:spPr>
        <a:xfrm>
          <a:off x="3754992" y="1888092"/>
          <a:ext cx="2307669" cy="2307669"/>
        </a:xfrm>
        <a:prstGeom prst="gear9">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kern="1200" dirty="0" smtClean="0"/>
            <a:t>业务测试关闭邻区</a:t>
          </a:r>
          <a:endParaRPr lang="zh-CN" altLang="en-US" sz="2000" kern="1200" dirty="0"/>
        </a:p>
      </dsp:txBody>
      <dsp:txXfrm>
        <a:off x="4218936" y="2428652"/>
        <a:ext cx="1379781" cy="1186190"/>
      </dsp:txXfrm>
    </dsp:sp>
    <dsp:sp modelId="{0039C136-6721-4035-B3BB-7CE05C33EF1B}">
      <dsp:nvSpPr>
        <dsp:cNvPr id="0" name=""/>
        <dsp:cNvSpPr/>
      </dsp:nvSpPr>
      <dsp:spPr>
        <a:xfrm>
          <a:off x="2412349" y="1342643"/>
          <a:ext cx="1678304" cy="1678304"/>
        </a:xfrm>
        <a:prstGeom prst="gear6">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kern="1200" dirty="0" smtClean="0"/>
            <a:t>测试车辆速度</a:t>
          </a:r>
          <a:endParaRPr lang="zh-CN" altLang="en-US" sz="2000" kern="1200" dirty="0"/>
        </a:p>
      </dsp:txBody>
      <dsp:txXfrm>
        <a:off x="2834867" y="1767715"/>
        <a:ext cx="833268" cy="828160"/>
      </dsp:txXfrm>
    </dsp:sp>
    <dsp:sp modelId="{A91878FD-707F-45FD-842E-37FB9F88A691}">
      <dsp:nvSpPr>
        <dsp:cNvPr id="0" name=""/>
        <dsp:cNvSpPr/>
      </dsp:nvSpPr>
      <dsp:spPr>
        <a:xfrm rot="20700000">
          <a:off x="3352371" y="184784"/>
          <a:ext cx="1644396" cy="1644396"/>
        </a:xfrm>
        <a:prstGeom prst="gear6">
          <a:avLst/>
        </a:prstGeom>
        <a:solidFill>
          <a:schemeClr val="lt1">
            <a:hueOff val="0"/>
            <a:satOff val="0"/>
            <a:lumOff val="0"/>
            <a:alphaOff val="0"/>
          </a:schemeClr>
        </a:solidFill>
        <a:ln w="25400" cap="flat"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zh-CN" altLang="en-US" sz="2000" kern="1200" dirty="0" smtClean="0"/>
            <a:t>测试工具检查</a:t>
          </a:r>
          <a:endParaRPr lang="zh-CN" altLang="en-US" sz="2000" kern="1200" dirty="0"/>
        </a:p>
      </dsp:txBody>
      <dsp:txXfrm rot="-20700000">
        <a:off x="3713035" y="545449"/>
        <a:ext cx="923067" cy="923067"/>
      </dsp:txXfrm>
    </dsp:sp>
    <dsp:sp modelId="{7A06CBDC-0A38-44CC-862D-110FFDB20553}">
      <dsp:nvSpPr>
        <dsp:cNvPr id="0" name=""/>
        <dsp:cNvSpPr/>
      </dsp:nvSpPr>
      <dsp:spPr>
        <a:xfrm>
          <a:off x="3577564" y="1539861"/>
          <a:ext cx="2953816" cy="2953816"/>
        </a:xfrm>
        <a:prstGeom prst="circularArrow">
          <a:avLst>
            <a:gd name="adj1" fmla="val 4688"/>
            <a:gd name="adj2" fmla="val 299029"/>
            <a:gd name="adj3" fmla="val 2516280"/>
            <a:gd name="adj4" fmla="val 15861030"/>
            <a:gd name="adj5" fmla="val 5469"/>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FB20399-D119-4952-93C4-1F4171EFFFCB}">
      <dsp:nvSpPr>
        <dsp:cNvPr id="0" name=""/>
        <dsp:cNvSpPr/>
      </dsp:nvSpPr>
      <dsp:spPr>
        <a:xfrm>
          <a:off x="2115124" y="971292"/>
          <a:ext cx="2146132" cy="2146132"/>
        </a:xfrm>
        <a:prstGeom prst="leftCircularArrow">
          <a:avLst>
            <a:gd name="adj1" fmla="val 6452"/>
            <a:gd name="adj2" fmla="val 429999"/>
            <a:gd name="adj3" fmla="val 10489124"/>
            <a:gd name="adj4" fmla="val 14837806"/>
            <a:gd name="adj5" fmla="val 7527"/>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3C78CC-8388-46D2-A874-452859111697}">
      <dsp:nvSpPr>
        <dsp:cNvPr id="0" name=""/>
        <dsp:cNvSpPr/>
      </dsp:nvSpPr>
      <dsp:spPr>
        <a:xfrm>
          <a:off x="2972005" y="-175406"/>
          <a:ext cx="2313962" cy="2313962"/>
        </a:xfrm>
        <a:prstGeom prst="circularArrow">
          <a:avLst>
            <a:gd name="adj1" fmla="val 5984"/>
            <a:gd name="adj2" fmla="val 394124"/>
            <a:gd name="adj3" fmla="val 13313824"/>
            <a:gd name="adj4" fmla="val 10508221"/>
            <a:gd name="adj5" fmla="val 6981"/>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AC5E22-01A6-4FF4-8E5D-7D530E33DA89}">
      <dsp:nvSpPr>
        <dsp:cNvPr id="0" name=""/>
        <dsp:cNvSpPr/>
      </dsp:nvSpPr>
      <dsp:spPr>
        <a:xfrm>
          <a:off x="968134" y="-19847"/>
          <a:ext cx="3767845" cy="3767845"/>
        </a:xfrm>
        <a:prstGeom prst="circularArrow">
          <a:avLst>
            <a:gd name="adj1" fmla="val 5544"/>
            <a:gd name="adj2" fmla="val 330680"/>
            <a:gd name="adj3" fmla="val 13832295"/>
            <a:gd name="adj4" fmla="val 17351752"/>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166B6A-E322-4B7A-9CEA-267A6E8F93E0}">
      <dsp:nvSpPr>
        <dsp:cNvPr id="0" name=""/>
        <dsp:cNvSpPr/>
      </dsp:nvSpPr>
      <dsp:spPr>
        <a:xfrm>
          <a:off x="1991426" y="1402"/>
          <a:ext cx="1721260" cy="8606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smtClean="0"/>
            <a:t>支持多种网络制式</a:t>
          </a:r>
          <a:endParaRPr lang="zh-CN" altLang="en-US" sz="1900" kern="1200" dirty="0"/>
        </a:p>
      </dsp:txBody>
      <dsp:txXfrm>
        <a:off x="2033438" y="43414"/>
        <a:ext cx="1637236" cy="776606"/>
      </dsp:txXfrm>
    </dsp:sp>
    <dsp:sp modelId="{A8F9C9D1-6B67-4033-B9C3-5220A7B50040}">
      <dsp:nvSpPr>
        <dsp:cNvPr id="0" name=""/>
        <dsp:cNvSpPr/>
      </dsp:nvSpPr>
      <dsp:spPr>
        <a:xfrm>
          <a:off x="3519543" y="1111644"/>
          <a:ext cx="1721260" cy="8606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smtClean="0"/>
            <a:t>语音业务和数据业务测试</a:t>
          </a:r>
          <a:endParaRPr lang="zh-CN" altLang="en-US" sz="1900" kern="1200" dirty="0"/>
        </a:p>
      </dsp:txBody>
      <dsp:txXfrm>
        <a:off x="3561555" y="1153656"/>
        <a:ext cx="1637236" cy="776606"/>
      </dsp:txXfrm>
    </dsp:sp>
    <dsp:sp modelId="{8563979A-0B96-4514-95E0-B6CF4C3DCF3E}">
      <dsp:nvSpPr>
        <dsp:cNvPr id="0" name=""/>
        <dsp:cNvSpPr/>
      </dsp:nvSpPr>
      <dsp:spPr>
        <a:xfrm>
          <a:off x="2935854" y="2908053"/>
          <a:ext cx="1721260" cy="8606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smtClean="0"/>
            <a:t>语音质量评估</a:t>
          </a:r>
          <a:endParaRPr lang="zh-CN" altLang="en-US" sz="1900" kern="1200" dirty="0"/>
        </a:p>
      </dsp:txBody>
      <dsp:txXfrm>
        <a:off x="2977866" y="2950065"/>
        <a:ext cx="1637236" cy="776606"/>
      </dsp:txXfrm>
    </dsp:sp>
    <dsp:sp modelId="{99A9D14B-1E96-4283-AD94-6C00B248488F}">
      <dsp:nvSpPr>
        <dsp:cNvPr id="0" name=""/>
        <dsp:cNvSpPr/>
      </dsp:nvSpPr>
      <dsp:spPr>
        <a:xfrm>
          <a:off x="1046998" y="2908053"/>
          <a:ext cx="1721260" cy="8606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smtClean="0"/>
            <a:t>地理化显示无线测量数据</a:t>
          </a:r>
          <a:endParaRPr lang="zh-CN" altLang="en-US" sz="1900" kern="1200" dirty="0"/>
        </a:p>
      </dsp:txBody>
      <dsp:txXfrm>
        <a:off x="1089010" y="2950065"/>
        <a:ext cx="1637236" cy="776606"/>
      </dsp:txXfrm>
    </dsp:sp>
    <dsp:sp modelId="{EFC5981D-C599-4152-B686-FD3ECE3FE990}">
      <dsp:nvSpPr>
        <dsp:cNvPr id="0" name=""/>
        <dsp:cNvSpPr/>
      </dsp:nvSpPr>
      <dsp:spPr>
        <a:xfrm>
          <a:off x="463309" y="1111644"/>
          <a:ext cx="1721260" cy="86063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lvl="0" algn="ctr" defTabSz="844550">
            <a:lnSpc>
              <a:spcPct val="90000"/>
            </a:lnSpc>
            <a:spcBef>
              <a:spcPct val="0"/>
            </a:spcBef>
            <a:spcAft>
              <a:spcPct val="35000"/>
            </a:spcAft>
          </a:pPr>
          <a:r>
            <a:rPr lang="zh-CN" altLang="en-US" sz="1900" kern="1200" dirty="0" smtClean="0"/>
            <a:t>支持多种视图</a:t>
          </a:r>
          <a:endParaRPr lang="zh-CN" altLang="en-US" sz="1900" kern="1200" dirty="0"/>
        </a:p>
      </dsp:txBody>
      <dsp:txXfrm>
        <a:off x="505321" y="1153656"/>
        <a:ext cx="1637236" cy="7766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02" name="Rectangle 2"/>
          <p:cNvSpPr>
            <a:spLocks noGrp="1" noChangeArrowheads="1"/>
          </p:cNvSpPr>
          <p:nvPr>
            <p:ph type="hdr" sz="quarter"/>
          </p:nvPr>
        </p:nvSpPr>
        <p:spPr bwMode="auto">
          <a:xfrm>
            <a:off x="0" y="1"/>
            <a:ext cx="2949302" cy="497969"/>
          </a:xfrm>
          <a:prstGeom prst="rect">
            <a:avLst/>
          </a:prstGeom>
          <a:noFill/>
          <a:ln w="9525">
            <a:noFill/>
            <a:miter lim="800000"/>
            <a:headEnd/>
            <a:tailEnd/>
          </a:ln>
          <a:effectLst/>
        </p:spPr>
        <p:txBody>
          <a:bodyPr vert="horz" wrap="square" lIns="93500" tIns="46751" rIns="93500" bIns="46751" numCol="1" anchor="t" anchorCtr="0" compatLnSpc="1">
            <a:prstTxWarp prst="textNoShape">
              <a:avLst/>
            </a:prstTxWarp>
          </a:bodyPr>
          <a:lstStyle>
            <a:lvl1pPr defTabSz="935450" fontAlgn="base">
              <a:defRPr sz="1300">
                <a:ea typeface="宋体" charset="-122"/>
              </a:defRPr>
            </a:lvl1pPr>
          </a:lstStyle>
          <a:p>
            <a:r>
              <a:rPr lang="en-US" altLang="zh-CN" smtClean="0"/>
              <a:t>LTE</a:t>
            </a:r>
            <a:r>
              <a:rPr lang="zh-CN" altLang="en-US" smtClean="0"/>
              <a:t>单站验证</a:t>
            </a:r>
            <a:endParaRPr lang="en-US" altLang="zh-CN" dirty="0"/>
          </a:p>
        </p:txBody>
      </p:sp>
      <p:sp>
        <p:nvSpPr>
          <p:cNvPr id="512003" name="Rectangle 3"/>
          <p:cNvSpPr>
            <a:spLocks noGrp="1" noChangeArrowheads="1"/>
          </p:cNvSpPr>
          <p:nvPr>
            <p:ph type="dt" sz="quarter" idx="1"/>
          </p:nvPr>
        </p:nvSpPr>
        <p:spPr bwMode="auto">
          <a:xfrm>
            <a:off x="3854790" y="1"/>
            <a:ext cx="2949302" cy="497969"/>
          </a:xfrm>
          <a:prstGeom prst="rect">
            <a:avLst/>
          </a:prstGeom>
          <a:noFill/>
          <a:ln w="9525">
            <a:noFill/>
            <a:miter lim="800000"/>
            <a:headEnd/>
            <a:tailEnd/>
          </a:ln>
          <a:effectLst/>
        </p:spPr>
        <p:txBody>
          <a:bodyPr vert="horz" wrap="square" lIns="93500" tIns="46751" rIns="93500" bIns="46751" numCol="1" anchor="t" anchorCtr="0" compatLnSpc="1">
            <a:prstTxWarp prst="textNoShape">
              <a:avLst/>
            </a:prstTxWarp>
          </a:bodyPr>
          <a:lstStyle>
            <a:lvl1pPr algn="r" defTabSz="935450" fontAlgn="base">
              <a:defRPr sz="1300">
                <a:ea typeface="宋体" charset="-122"/>
              </a:defRPr>
            </a:lvl1pPr>
          </a:lstStyle>
          <a:p>
            <a:endParaRPr lang="en-US" altLang="zh-CN"/>
          </a:p>
        </p:txBody>
      </p:sp>
      <p:sp>
        <p:nvSpPr>
          <p:cNvPr id="512004" name="Rectangle 4"/>
          <p:cNvSpPr>
            <a:spLocks noGrp="1" noChangeArrowheads="1"/>
          </p:cNvSpPr>
          <p:nvPr>
            <p:ph type="ftr" sz="quarter" idx="2"/>
          </p:nvPr>
        </p:nvSpPr>
        <p:spPr bwMode="auto">
          <a:xfrm>
            <a:off x="0" y="9439828"/>
            <a:ext cx="2949302" cy="497968"/>
          </a:xfrm>
          <a:prstGeom prst="rect">
            <a:avLst/>
          </a:prstGeom>
          <a:noFill/>
          <a:ln w="9525">
            <a:noFill/>
            <a:miter lim="800000"/>
            <a:headEnd/>
            <a:tailEnd/>
          </a:ln>
          <a:effectLst/>
        </p:spPr>
        <p:txBody>
          <a:bodyPr vert="horz" wrap="square" lIns="93500" tIns="46751" rIns="93500" bIns="46751" numCol="1" anchor="b" anchorCtr="0" compatLnSpc="1">
            <a:prstTxWarp prst="textNoShape">
              <a:avLst/>
            </a:prstTxWarp>
          </a:bodyPr>
          <a:lstStyle>
            <a:lvl1pPr defTabSz="935450" fontAlgn="base">
              <a:defRPr sz="1300">
                <a:ea typeface="宋体" charset="-122"/>
              </a:defRPr>
            </a:lvl1pPr>
          </a:lstStyle>
          <a:p>
            <a:endParaRPr lang="en-US" altLang="zh-CN"/>
          </a:p>
        </p:txBody>
      </p:sp>
      <p:sp>
        <p:nvSpPr>
          <p:cNvPr id="512005" name="Rectangle 5"/>
          <p:cNvSpPr>
            <a:spLocks noGrp="1" noChangeArrowheads="1"/>
          </p:cNvSpPr>
          <p:nvPr>
            <p:ph type="sldNum" sz="quarter" idx="3"/>
          </p:nvPr>
        </p:nvSpPr>
        <p:spPr bwMode="auto">
          <a:xfrm>
            <a:off x="3854790" y="9439828"/>
            <a:ext cx="2949302" cy="497968"/>
          </a:xfrm>
          <a:prstGeom prst="rect">
            <a:avLst/>
          </a:prstGeom>
          <a:noFill/>
          <a:ln w="9525">
            <a:noFill/>
            <a:miter lim="800000"/>
            <a:headEnd/>
            <a:tailEnd/>
          </a:ln>
          <a:effectLst/>
        </p:spPr>
        <p:txBody>
          <a:bodyPr vert="horz" wrap="square" lIns="93500" tIns="46751" rIns="93500" bIns="46751" numCol="1" anchor="b" anchorCtr="0" compatLnSpc="1">
            <a:prstTxWarp prst="textNoShape">
              <a:avLst/>
            </a:prstTxWarp>
          </a:bodyPr>
          <a:lstStyle>
            <a:lvl1pPr algn="r" defTabSz="935450" fontAlgn="base">
              <a:defRPr sz="1300">
                <a:ea typeface="宋体" charset="-122"/>
              </a:defRPr>
            </a:lvl1pPr>
          </a:lstStyle>
          <a:p>
            <a:fld id="{AF030996-59FA-4BBF-8042-83020DEE9712}" type="slidenum">
              <a:rPr lang="en-US" altLang="zh-CN"/>
              <a:pPr/>
              <a:t>‹#›</a:t>
            </a:fld>
            <a:endParaRPr lang="en-US" altLang="zh-CN"/>
          </a:p>
        </p:txBody>
      </p:sp>
    </p:spTree>
    <p:extLst>
      <p:ext uri="{BB962C8B-B14F-4D97-AF65-F5344CB8AC3E}">
        <p14:creationId xmlns:p14="http://schemas.microsoft.com/office/powerpoint/2010/main" val="379901800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855268" y="379259"/>
            <a:ext cx="2949302" cy="497969"/>
          </a:xfrm>
          <a:prstGeom prst="rect">
            <a:avLst/>
          </a:prstGeom>
          <a:noFill/>
          <a:ln w="9525">
            <a:noFill/>
            <a:miter lim="800000"/>
            <a:headEnd/>
            <a:tailEnd/>
          </a:ln>
          <a:effectLst/>
        </p:spPr>
        <p:txBody>
          <a:bodyPr vert="horz" wrap="square" lIns="93500" tIns="46751" rIns="93500" bIns="46751" numCol="1" anchor="t" anchorCtr="0" compatLnSpc="1">
            <a:prstTxWarp prst="textNoShape">
              <a:avLst/>
            </a:prstTxWarp>
          </a:bodyPr>
          <a:lstStyle>
            <a:lvl1pPr defTabSz="935450" fontAlgn="base">
              <a:defRPr sz="1000">
                <a:latin typeface="FrutigerNext LT Medium" pitchFamily="34" charset="0"/>
              </a:defRPr>
            </a:lvl1pPr>
          </a:lstStyle>
          <a:p>
            <a:r>
              <a:rPr lang="en-US" altLang="zh-CN" smtClean="0"/>
              <a:t>LTE</a:t>
            </a:r>
            <a:r>
              <a:rPr lang="zh-CN" altLang="en-US" smtClean="0"/>
              <a:t>单站验证</a:t>
            </a:r>
            <a:endParaRPr lang="zh-CN" altLang="en-US" dirty="0"/>
          </a:p>
        </p:txBody>
      </p:sp>
      <p:sp>
        <p:nvSpPr>
          <p:cNvPr id="14343" name="Rectangle 7"/>
          <p:cNvSpPr>
            <a:spLocks noGrp="1" noChangeArrowheads="1"/>
          </p:cNvSpPr>
          <p:nvPr>
            <p:ph type="sldNum" sz="quarter" idx="5"/>
          </p:nvPr>
        </p:nvSpPr>
        <p:spPr bwMode="auto">
          <a:xfrm>
            <a:off x="3892835" y="144920"/>
            <a:ext cx="2051424" cy="497969"/>
          </a:xfrm>
          <a:prstGeom prst="rect">
            <a:avLst/>
          </a:prstGeom>
          <a:noFill/>
          <a:ln w="9525">
            <a:noFill/>
            <a:miter lim="800000"/>
            <a:headEnd/>
            <a:tailEnd/>
          </a:ln>
          <a:effectLst/>
        </p:spPr>
        <p:txBody>
          <a:bodyPr vert="horz" wrap="square" lIns="93500" tIns="46751" rIns="93500" bIns="46751" numCol="1" anchor="b" anchorCtr="0" compatLnSpc="1">
            <a:prstTxWarp prst="textNoShape">
              <a:avLst/>
            </a:prstTxWarp>
          </a:bodyPr>
          <a:lstStyle>
            <a:lvl1pPr algn="r" defTabSz="935450" fontAlgn="base">
              <a:defRPr sz="1000">
                <a:ea typeface="宋体" charset="-122"/>
              </a:defRPr>
            </a:lvl1pPr>
          </a:lstStyle>
          <a:p>
            <a:r>
              <a:rPr lang="en-US" altLang="zh-CN"/>
              <a:t>P-</a:t>
            </a:r>
            <a:fld id="{53C4D65A-8D61-4BF8-8EE6-980764D8408A}" type="slidenum">
              <a:rPr lang="en-US" altLang="zh-CN"/>
              <a:pPr/>
              <a:t>‹#›</a:t>
            </a:fld>
            <a:endParaRPr lang="en-US" altLang="zh-CN"/>
          </a:p>
        </p:txBody>
      </p:sp>
      <p:sp>
        <p:nvSpPr>
          <p:cNvPr id="8" name="备注占位符 7"/>
          <p:cNvSpPr>
            <a:spLocks noGrp="1"/>
          </p:cNvSpPr>
          <p:nvPr>
            <p:ph type="body" sz="quarter" idx="3"/>
          </p:nvPr>
        </p:nvSpPr>
        <p:spPr>
          <a:xfrm>
            <a:off x="680258" y="4720684"/>
            <a:ext cx="5445099" cy="4472471"/>
          </a:xfrm>
          <a:prstGeom prst="rect">
            <a:avLst/>
          </a:prstGeom>
        </p:spPr>
        <p:txBody>
          <a:bodyPr vert="horz" lIns="88331" tIns="44166" rIns="88331" bIns="44166"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10" name="页脚占位符 9"/>
          <p:cNvSpPr>
            <a:spLocks noGrp="1"/>
          </p:cNvSpPr>
          <p:nvPr>
            <p:ph type="ftr" sz="quarter" idx="4"/>
          </p:nvPr>
        </p:nvSpPr>
        <p:spPr>
          <a:xfrm>
            <a:off x="1550860" y="9203824"/>
            <a:ext cx="3674863" cy="496427"/>
          </a:xfrm>
          <a:prstGeom prst="rect">
            <a:avLst/>
          </a:prstGeom>
        </p:spPr>
        <p:txBody>
          <a:bodyPr vert="horz" lIns="88331" tIns="44166" rIns="88331" bIns="44166" rtlCol="0" anchor="b"/>
          <a:lstStyle>
            <a:lvl1pPr algn="l">
              <a:defRPr sz="1200"/>
            </a:lvl1pPr>
          </a:lstStyle>
          <a:p>
            <a:r>
              <a:rPr lang="zh-CN" altLang="en-US" dirty="0" smtClean="0"/>
              <a:t>华为技术有限公司  版权所有  未经许可不得扩散</a:t>
            </a:r>
            <a:endParaRPr lang="zh-CN" altLang="en-US" dirty="0"/>
          </a:p>
        </p:txBody>
      </p:sp>
      <p:sp>
        <p:nvSpPr>
          <p:cNvPr id="13" name="幻灯片图像占位符 12"/>
          <p:cNvSpPr>
            <a:spLocks noGrp="1" noRot="1" noChangeAspect="1"/>
          </p:cNvSpPr>
          <p:nvPr>
            <p:ph type="sldImg" idx="2"/>
          </p:nvPr>
        </p:nvSpPr>
        <p:spPr>
          <a:xfrm>
            <a:off x="919163" y="746125"/>
            <a:ext cx="4967287" cy="3725863"/>
          </a:xfrm>
          <a:prstGeom prst="rect">
            <a:avLst/>
          </a:prstGeom>
          <a:noFill/>
          <a:ln w="12700">
            <a:solidFill>
              <a:prstClr val="black"/>
            </a:solidFill>
          </a:ln>
        </p:spPr>
        <p:txBody>
          <a:bodyPr vert="horz" lIns="88331" tIns="44166" rIns="88331" bIns="44166" rtlCol="0" anchor="ctr"/>
          <a:lstStyle/>
          <a:p>
            <a:endParaRPr lang="zh-CN" altLang="en-US"/>
          </a:p>
        </p:txBody>
      </p:sp>
    </p:spTree>
    <p:extLst>
      <p:ext uri="{BB962C8B-B14F-4D97-AF65-F5344CB8AC3E}">
        <p14:creationId xmlns:p14="http://schemas.microsoft.com/office/powerpoint/2010/main" val="10122932"/>
      </p:ext>
    </p:extLst>
  </p:cSld>
  <p:clrMap bg1="lt1" tx1="dk1" bg2="lt2" tx2="dk2" accent1="accent1" accent2="accent2" accent3="accent3" accent4="accent4" accent5="accent5" accent6="accent6" hlink="hlink" folHlink="folHlink"/>
  <p:hf dt="0"/>
  <p:notesStyle>
    <a:lvl1pPr marL="180975" indent="-180975" algn="l" rtl="0" fontAlgn="base">
      <a:lnSpc>
        <a:spcPct val="125000"/>
      </a:lnSpc>
      <a:spcBef>
        <a:spcPct val="0"/>
      </a:spcBef>
      <a:spcAft>
        <a:spcPts val="300"/>
      </a:spcAft>
      <a:buSzPct val="70000"/>
      <a:buFont typeface="Wingdings" pitchFamily="2" charset="2"/>
      <a:buChar char="l"/>
      <a:defRPr sz="1100" kern="1200">
        <a:solidFill>
          <a:schemeClr val="tx1"/>
        </a:solidFill>
        <a:latin typeface="FrutigerNext LT Regular" pitchFamily="34" charset="0"/>
        <a:ea typeface="华文细黑" pitchFamily="2" charset="-122"/>
        <a:cs typeface="+mn-cs"/>
      </a:defRPr>
    </a:lvl1pPr>
    <a:lvl2pPr marL="628650" indent="-171450" algn="l" rtl="0" fontAlgn="base">
      <a:lnSpc>
        <a:spcPct val="125000"/>
      </a:lnSpc>
      <a:spcBef>
        <a:spcPct val="0"/>
      </a:spcBef>
      <a:spcAft>
        <a:spcPts val="300"/>
      </a:spcAft>
      <a:buSzPct val="50000"/>
      <a:buFont typeface="Wingdings" pitchFamily="2" charset="2"/>
      <a:buChar char="p"/>
      <a:defRPr sz="1100" kern="1200">
        <a:solidFill>
          <a:schemeClr val="tx1"/>
        </a:solidFill>
        <a:latin typeface="FrutigerNext LT Regular" pitchFamily="34" charset="0"/>
        <a:ea typeface="华文细黑" pitchFamily="2" charset="-122"/>
        <a:cs typeface="+mn-cs"/>
      </a:defRPr>
    </a:lvl2pPr>
    <a:lvl3pPr marL="1076325" indent="-161925" algn="l" rtl="0" fontAlgn="base">
      <a:lnSpc>
        <a:spcPct val="125000"/>
      </a:lnSpc>
      <a:spcBef>
        <a:spcPct val="0"/>
      </a:spcBef>
      <a:spcAft>
        <a:spcPts val="300"/>
      </a:spcAft>
      <a:buSzPct val="50000"/>
      <a:buFont typeface="Wingdings" pitchFamily="2" charset="2"/>
      <a:buChar char="n"/>
      <a:defRPr sz="1100" kern="1200">
        <a:solidFill>
          <a:schemeClr val="tx1"/>
        </a:solidFill>
        <a:latin typeface="FrutigerNext LT Regular" pitchFamily="34" charset="0"/>
        <a:ea typeface="华文细黑" pitchFamily="2" charset="-122"/>
        <a:cs typeface="+mn-cs"/>
      </a:defRPr>
    </a:lvl3pPr>
    <a:lvl4pPr marL="1371600" algn="l" rtl="0" fontAlgn="base">
      <a:lnSpc>
        <a:spcPct val="125000"/>
      </a:lnSpc>
      <a:spcBef>
        <a:spcPct val="30000"/>
      </a:spcBef>
      <a:spcAft>
        <a:spcPts val="300"/>
      </a:spcAft>
      <a:defRPr sz="1100" kern="1200">
        <a:solidFill>
          <a:schemeClr val="tx1"/>
        </a:solidFill>
        <a:latin typeface="FrutigerNext LT Regular" pitchFamily="34" charset="0"/>
        <a:ea typeface="华文细黑" pitchFamily="2" charset="-122"/>
        <a:cs typeface="+mn-cs"/>
      </a:defRPr>
    </a:lvl4pPr>
    <a:lvl5pPr marL="1828800" algn="l" rtl="0" fontAlgn="base">
      <a:lnSpc>
        <a:spcPct val="125000"/>
      </a:lnSpc>
      <a:spcBef>
        <a:spcPct val="30000"/>
      </a:spcBef>
      <a:spcAft>
        <a:spcPts val="300"/>
      </a:spcAft>
      <a:defRPr sz="1100" kern="1200">
        <a:solidFill>
          <a:schemeClr val="tx1"/>
        </a:solidFill>
        <a:latin typeface="FrutigerNext LT Regular" pitchFamily="34" charset="0"/>
        <a:ea typeface="华文细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upport.huawei.com/hedex/pages/SC0000727234GZB0718A/Draft%20A/SC0000727234GZB0718A/Draft%20A/resources/dt/pv3r5/concept/p_exter_equip.html" TargetMode="External"/><Relationship Id="rId2" Type="http://schemas.openxmlformats.org/officeDocument/2006/relationships/slide" Target="../slides/slide27.xml"/><Relationship Id="rId1" Type="http://schemas.openxmlformats.org/officeDocument/2006/relationships/notesMaster" Target="../notesMasters/notesMaster1.xml"/><Relationship Id="rId5" Type="http://schemas.openxmlformats.org/officeDocument/2006/relationships/hyperlink" Target="http://support.huawei.com/hedex/pages/SC0000727234GZB0718A/Draft%20A/SC0000727234GZB0718A/Draft%20A/resources/dt/pv3r5/task/p_forcing_test.html" TargetMode="External"/><Relationship Id="rId4" Type="http://schemas.openxmlformats.org/officeDocument/2006/relationships/hyperlink" Target="http://support.huawei.com/hedex/pages/SC0000727234GZB0718A/Draft%20A/SC0000727234GZB0718A/Draft%20A/resources/dt/pv3r5/concept/p_whatsnew_v2r3c00.html" TargetMode="Externa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3" Type="http://schemas.openxmlformats.org/officeDocument/2006/relationships/hyperlink" Target="http://3ms.huawei.com/term/docMaintain/termOperate.do?method=listTermAndDefinition&amp;f_id=20091010000080" TargetMode="External"/><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hdr" sz="quarter"/>
          </p:nvPr>
        </p:nvSpPr>
        <p:spPr/>
        <p:txBody>
          <a:bodyPr/>
          <a:lstStyle/>
          <a:p>
            <a:r>
              <a:rPr lang="en-US" altLang="zh-CN" smtClean="0"/>
              <a:t>LTE</a:t>
            </a:r>
            <a:r>
              <a:rPr lang="zh-CN" altLang="en-US" smtClean="0"/>
              <a:t>单站验证</a:t>
            </a:r>
            <a:endParaRPr lang="zh-CN" altLang="en-US" dirty="0"/>
          </a:p>
        </p:txBody>
      </p:sp>
      <p:sp>
        <p:nvSpPr>
          <p:cNvPr id="5" name="Rectangle 6"/>
          <p:cNvSpPr>
            <a:spLocks noGrp="1" noChangeArrowheads="1"/>
          </p:cNvSpPr>
          <p:nvPr>
            <p:ph type="ftr" sz="quarter" idx="4"/>
          </p:nvPr>
        </p:nvSpPr>
        <p:spPr/>
        <p:txBody>
          <a:bodyPr/>
          <a:lstStyle/>
          <a:p>
            <a:r>
              <a:rPr lang="zh-CN" altLang="en-US" smtClean="0"/>
              <a:t>华为技术有限公司  版权所有  未经许可不得扩散</a:t>
            </a:r>
            <a:endParaRPr lang="zh-CN" altLang="en-US"/>
          </a:p>
        </p:txBody>
      </p:sp>
      <p:sp>
        <p:nvSpPr>
          <p:cNvPr id="10" name="备注占位符 9"/>
          <p:cNvSpPr>
            <a:spLocks noGrp="1"/>
          </p:cNvSpPr>
          <p:nvPr>
            <p:ph type="body" idx="1"/>
          </p:nvPr>
        </p:nvSpPr>
        <p:spPr/>
        <p:txBody>
          <a:bodyPr>
            <a:normAutofit/>
          </a:bodyPr>
          <a:lstStyle/>
          <a:p>
            <a:endParaRPr lang="zh-CN" altLang="en-US"/>
          </a:p>
        </p:txBody>
      </p:sp>
      <p:sp>
        <p:nvSpPr>
          <p:cNvPr id="11" name="幻灯片图像占位符 10"/>
          <p:cNvSpPr>
            <a:spLocks noGrp="1" noRot="1" noChangeAspect="1"/>
          </p:cNvSpPr>
          <p:nvPr>
            <p:ph type="sldImg"/>
          </p:nvPr>
        </p:nvSpPr>
        <p:spPr>
          <a:xfrm>
            <a:off x="919163" y="746125"/>
            <a:ext cx="4967287" cy="3725863"/>
          </a:xfrm>
          <a:prstGeom prst="rect">
            <a:avLst/>
          </a:prstGeom>
        </p:spPr>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0</a:t>
            </a:fld>
            <a:endParaRPr lang="en-US" altLang="zh-CN"/>
          </a:p>
        </p:txBody>
      </p:sp>
    </p:spTree>
    <p:extLst>
      <p:ext uri="{BB962C8B-B14F-4D97-AF65-F5344CB8AC3E}">
        <p14:creationId xmlns:p14="http://schemas.microsoft.com/office/powerpoint/2010/main" val="1866008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1</a:t>
            </a:fld>
            <a:endParaRPr lang="en-US" altLang="zh-CN"/>
          </a:p>
        </p:txBody>
      </p:sp>
    </p:spTree>
    <p:extLst>
      <p:ext uri="{BB962C8B-B14F-4D97-AF65-F5344CB8AC3E}">
        <p14:creationId xmlns:p14="http://schemas.microsoft.com/office/powerpoint/2010/main" val="2223345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2</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516754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zh-CN" altLang="zh-CN" sz="1100" kern="1200" dirty="0" smtClean="0">
                <a:solidFill>
                  <a:schemeClr val="tx1"/>
                </a:solidFill>
                <a:latin typeface="FrutigerNext LT Regular" pitchFamily="34" charset="0"/>
                <a:ea typeface="华文细黑" pitchFamily="2" charset="-122"/>
                <a:cs typeface="+mn-cs"/>
              </a:rPr>
              <a:t>在网络进入</a:t>
            </a:r>
            <a:r>
              <a:rPr lang="en-US" altLang="zh-CN" sz="1100" kern="1200" dirty="0" smtClean="0">
                <a:solidFill>
                  <a:schemeClr val="tx1"/>
                </a:solidFill>
                <a:latin typeface="FrutigerNext LT Regular" pitchFamily="34" charset="0"/>
                <a:ea typeface="华文细黑" pitchFamily="2" charset="-122"/>
                <a:cs typeface="+mn-cs"/>
              </a:rPr>
              <a:t>Cluster</a:t>
            </a:r>
            <a:r>
              <a:rPr lang="zh-CN" altLang="zh-CN" sz="1100" kern="1200" dirty="0" smtClean="0">
                <a:solidFill>
                  <a:schemeClr val="tx1"/>
                </a:solidFill>
                <a:latin typeface="FrutigerNext LT Regular" pitchFamily="34" charset="0"/>
                <a:ea typeface="华文细黑" pitchFamily="2" charset="-122"/>
                <a:cs typeface="+mn-cs"/>
              </a:rPr>
              <a:t>优化前，保证各个站点下各个小区的基本功能（如接入、通话等）是正常的。可以将网络优化中需要解决的因为网络覆盖原因造成的掉话、接入等问题与设备功能性掉话、接入等问题分离开来，有利于后期问题定位和问题解决，提高网络优化效率。</a:t>
            </a:r>
          </a:p>
          <a:p>
            <a:pPr lvl="0"/>
            <a:r>
              <a:rPr lang="zh-CN" altLang="zh-CN" sz="1100" kern="1200" dirty="0" smtClean="0">
                <a:solidFill>
                  <a:schemeClr val="tx1"/>
                </a:solidFill>
                <a:latin typeface="FrutigerNext LT Regular" pitchFamily="34" charset="0"/>
                <a:ea typeface="华文细黑" pitchFamily="2" charset="-122"/>
                <a:cs typeface="+mn-cs"/>
              </a:rPr>
              <a:t>对于特定局点，若合同中客户要求单站验收</a:t>
            </a:r>
            <a:r>
              <a:rPr lang="en-US" altLang="zh-CN" sz="1100" kern="1200" dirty="0" smtClean="0">
                <a:solidFill>
                  <a:schemeClr val="tx1"/>
                </a:solidFill>
                <a:latin typeface="FrutigerNext LT Regular" pitchFamily="34" charset="0"/>
                <a:ea typeface="华文细黑" pitchFamily="2" charset="-122"/>
                <a:cs typeface="+mn-cs"/>
              </a:rPr>
              <a:t>PAT</a:t>
            </a:r>
            <a:r>
              <a:rPr lang="zh-CN" altLang="zh-CN" sz="1100" kern="1200" dirty="0" smtClean="0">
                <a:solidFill>
                  <a:schemeClr val="tx1"/>
                </a:solidFill>
                <a:latin typeface="FrutigerNext LT Regular" pitchFamily="34" charset="0"/>
                <a:ea typeface="华文细黑" pitchFamily="2" charset="-122"/>
                <a:cs typeface="+mn-cs"/>
              </a:rPr>
              <a:t>作为回款依据，单站验证的验证项目和方法都可作为验收的参考，具体验收</a:t>
            </a:r>
            <a:r>
              <a:rPr lang="en-US" altLang="zh-CN" sz="1100" kern="1200" dirty="0" smtClean="0">
                <a:solidFill>
                  <a:schemeClr val="tx1"/>
                </a:solidFill>
                <a:latin typeface="FrutigerNext LT Regular" pitchFamily="34" charset="0"/>
                <a:ea typeface="华文细黑" pitchFamily="2" charset="-122"/>
                <a:cs typeface="+mn-cs"/>
              </a:rPr>
              <a:t>KPI</a:t>
            </a:r>
            <a:r>
              <a:rPr lang="zh-CN" altLang="zh-CN" sz="1100" kern="1200" dirty="0" smtClean="0">
                <a:solidFill>
                  <a:schemeClr val="tx1"/>
                </a:solidFill>
                <a:latin typeface="FrutigerNext LT Regular" pitchFamily="34" charset="0"/>
                <a:ea typeface="华文细黑" pitchFamily="2" charset="-122"/>
                <a:cs typeface="+mn-cs"/>
              </a:rPr>
              <a:t>需与客户商定。</a:t>
            </a:r>
          </a:p>
          <a:p>
            <a:r>
              <a:rPr lang="zh-CN" altLang="zh-CN" sz="1100" kern="1200" dirty="0" smtClean="0">
                <a:solidFill>
                  <a:schemeClr val="tx1"/>
                </a:solidFill>
                <a:latin typeface="FrutigerNext LT Regular" pitchFamily="34" charset="0"/>
                <a:ea typeface="华文细黑" pitchFamily="2" charset="-122"/>
                <a:cs typeface="+mn-cs"/>
              </a:rPr>
              <a:t>单站验证还可以帮助网规工程师熟悉优化区域内的站点位置、配置、周围无线环境等信息，为下一步的优化打下基础。</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3</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8409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单站验证的工作流程如</a:t>
            </a:r>
            <a:r>
              <a:rPr lang="zh-CN" altLang="en-US" sz="1100" kern="1200" dirty="0" smtClean="0">
                <a:solidFill>
                  <a:schemeClr val="tx1"/>
                </a:solidFill>
                <a:latin typeface="FrutigerNext LT Regular" pitchFamily="34" charset="0"/>
                <a:ea typeface="华文细黑" pitchFamily="2" charset="-122"/>
                <a:cs typeface="+mn-cs"/>
              </a:rPr>
              <a:t>上表</a:t>
            </a:r>
            <a:r>
              <a:rPr lang="zh-CN" altLang="zh-CN" sz="1100" kern="1200" dirty="0" smtClean="0">
                <a:solidFill>
                  <a:schemeClr val="tx1"/>
                </a:solidFill>
                <a:latin typeface="FrutigerNext LT Regular" pitchFamily="34" charset="0"/>
                <a:ea typeface="华文细黑" pitchFamily="2" charset="-122"/>
                <a:cs typeface="+mn-cs"/>
              </a:rPr>
              <a:t>所示。该阶段的输出是《单站验证报告》，并保证站点成功商用；单站验证具体工作包括：单站验证准备，测试与分析，调整建议与实施，单站验证报告四个关键步骤。保证在单站验证中发现的问题能够得到闭环的解决。</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4</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35107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5</a:t>
            </a:fld>
            <a:endParaRPr lang="en-US" altLang="zh-CN"/>
          </a:p>
        </p:txBody>
      </p:sp>
    </p:spTree>
    <p:extLst>
      <p:ext uri="{BB962C8B-B14F-4D97-AF65-F5344CB8AC3E}">
        <p14:creationId xmlns:p14="http://schemas.microsoft.com/office/powerpoint/2010/main" val="2977718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6</a:t>
            </a:fld>
            <a:endParaRPr lang="en-US" altLang="zh-CN"/>
          </a:p>
        </p:txBody>
      </p:sp>
    </p:spTree>
    <p:extLst>
      <p:ext uri="{BB962C8B-B14F-4D97-AF65-F5344CB8AC3E}">
        <p14:creationId xmlns:p14="http://schemas.microsoft.com/office/powerpoint/2010/main" val="167454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100" kern="1200" dirty="0" smtClean="0">
                <a:solidFill>
                  <a:schemeClr val="tx1"/>
                </a:solidFill>
                <a:latin typeface="FrutigerNext LT Regular" pitchFamily="34" charset="0"/>
                <a:ea typeface="华文细黑" pitchFamily="2" charset="-122"/>
                <a:cs typeface="+mn-cs"/>
              </a:rPr>
              <a:t>Probe</a:t>
            </a:r>
            <a:r>
              <a:rPr lang="zh-CN" altLang="zh-CN" sz="1100" kern="1200" dirty="0" smtClean="0">
                <a:solidFill>
                  <a:schemeClr val="tx1"/>
                </a:solidFill>
                <a:latin typeface="FrutigerNext LT Regular" pitchFamily="34" charset="0"/>
                <a:ea typeface="华文细黑" pitchFamily="2" charset="-122"/>
                <a:cs typeface="+mn-cs"/>
              </a:rPr>
              <a:t>是一款空口测试工具，主要用于搜集</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网络空口测试数据。通过这个工具，可以进行网络优化指导，网络性能评估。同时搜集的空口数据可以被保存为文件，后续可以使用后处理软件来进行分析处理。</a:t>
            </a:r>
          </a:p>
          <a:p>
            <a:r>
              <a:rPr lang="en-US" altLang="zh-CN" sz="1100" kern="1200" dirty="0" err="1" smtClean="0">
                <a:solidFill>
                  <a:schemeClr val="tx1"/>
                </a:solidFill>
                <a:latin typeface="FrutigerNext LT Regular" pitchFamily="34" charset="0"/>
                <a:ea typeface="华文细黑" pitchFamily="2" charset="-122"/>
                <a:cs typeface="+mn-cs"/>
              </a:rPr>
              <a:t>Iperf</a:t>
            </a:r>
            <a:r>
              <a:rPr lang="zh-CN" altLang="zh-CN" sz="1100" kern="1200" dirty="0" smtClean="0">
                <a:solidFill>
                  <a:schemeClr val="tx1"/>
                </a:solidFill>
                <a:latin typeface="FrutigerNext LT Regular" pitchFamily="34" charset="0"/>
                <a:ea typeface="华文细黑" pitchFamily="2" charset="-122"/>
                <a:cs typeface="+mn-cs"/>
              </a:rPr>
              <a:t>工具是一款用于测试空口能力的</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灌包工具，它可以屏蔽掉应用层参数设置问题，直接用来验证</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空口能力。通常在测试峰值和解调能力的时候使用</a:t>
            </a:r>
            <a:r>
              <a:rPr lang="en-US" altLang="zh-CN" sz="1100" kern="1200" dirty="0" err="1" smtClean="0">
                <a:solidFill>
                  <a:schemeClr val="tx1"/>
                </a:solidFill>
                <a:latin typeface="FrutigerNext LT Regular" pitchFamily="34" charset="0"/>
                <a:ea typeface="华文细黑" pitchFamily="2" charset="-122"/>
                <a:cs typeface="+mn-cs"/>
              </a:rPr>
              <a:t>Iperf</a:t>
            </a:r>
            <a:r>
              <a:rPr lang="zh-CN" altLang="zh-CN" sz="1100" kern="1200" dirty="0" smtClean="0">
                <a:solidFill>
                  <a:schemeClr val="tx1"/>
                </a:solidFill>
                <a:latin typeface="FrutigerNext LT Regular" pitchFamily="34" charset="0"/>
                <a:ea typeface="华文细黑" pitchFamily="2" charset="-122"/>
                <a:cs typeface="+mn-cs"/>
              </a:rPr>
              <a:t>工具来进行</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灌包，而不采用</a:t>
            </a:r>
            <a:r>
              <a:rPr lang="en-US"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类的业务。</a:t>
            </a:r>
          </a:p>
          <a:p>
            <a:r>
              <a:rPr lang="zh-CN" altLang="zh-CN" sz="1100" kern="1200" dirty="0" smtClean="0">
                <a:solidFill>
                  <a:schemeClr val="tx1"/>
                </a:solidFill>
                <a:latin typeface="FrutigerNext LT Regular" pitchFamily="34" charset="0"/>
                <a:ea typeface="华文细黑" pitchFamily="2" charset="-122"/>
                <a:cs typeface="+mn-cs"/>
              </a:rPr>
              <a:t>三星终端作为目前唯一商用的</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终端，许多人对其使用还不是很熟悉，本章节主要是介绍三星终端的安装与调试。</a:t>
            </a:r>
          </a:p>
          <a:p>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是一款常用的网络抓包工具，支持多种协议解析，可以用来分析网络行为，对数传问题定位有很大的帮助。</a:t>
            </a:r>
          </a:p>
          <a:p>
            <a:r>
              <a:rPr lang="en-US" altLang="zh-CN" sz="1100" kern="1200" dirty="0" smtClean="0">
                <a:solidFill>
                  <a:schemeClr val="tx1"/>
                </a:solidFill>
                <a:latin typeface="FrutigerNext LT Regular" pitchFamily="34" charset="0"/>
                <a:ea typeface="华文细黑" pitchFamily="2" charset="-122"/>
                <a:cs typeface="+mn-cs"/>
              </a:rPr>
              <a:t>CHR</a:t>
            </a:r>
            <a:r>
              <a:rPr lang="zh-CN" altLang="zh-CN" sz="1100" kern="1200" dirty="0" smtClean="0">
                <a:solidFill>
                  <a:schemeClr val="tx1"/>
                </a:solidFill>
                <a:latin typeface="FrutigerNext LT Regular" pitchFamily="34" charset="0"/>
                <a:ea typeface="华文细黑" pitchFamily="2" charset="-122"/>
                <a:cs typeface="+mn-cs"/>
              </a:rPr>
              <a:t>和一键式日志是用来搜集呼叫日志和系统运行日志，通过这些日志可以分析和定位常见的一些问题。</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7</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377712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Ring</a:t>
            </a:r>
            <a:r>
              <a:rPr lang="zh-CN" altLang="zh-CN" sz="1100" kern="1200" dirty="0" smtClean="0">
                <a:solidFill>
                  <a:schemeClr val="tx1"/>
                </a:solidFill>
                <a:latin typeface="FrutigerNext LT Regular" pitchFamily="34" charset="0"/>
                <a:ea typeface="华文细黑" pitchFamily="2" charset="-122"/>
                <a:cs typeface="+mn-cs"/>
              </a:rPr>
              <a:t>”还有一个作用：即在进行验证单站的项目时，以“</a:t>
            </a:r>
            <a:r>
              <a:rPr lang="en-US" altLang="zh-CN" sz="1100" kern="1200" dirty="0" smtClean="0">
                <a:solidFill>
                  <a:schemeClr val="tx1"/>
                </a:solidFill>
                <a:latin typeface="FrutigerNext LT Regular" pitchFamily="34" charset="0"/>
                <a:ea typeface="华文细黑" pitchFamily="2" charset="-122"/>
                <a:cs typeface="+mn-cs"/>
              </a:rPr>
              <a:t>Ring</a:t>
            </a:r>
            <a:r>
              <a:rPr lang="zh-CN" altLang="zh-CN" sz="1100" kern="1200" dirty="0" smtClean="0">
                <a:solidFill>
                  <a:schemeClr val="tx1"/>
                </a:solidFill>
                <a:latin typeface="FrutigerNext LT Regular" pitchFamily="34" charset="0"/>
                <a:ea typeface="华文细黑" pitchFamily="2" charset="-122"/>
                <a:cs typeface="+mn-cs"/>
              </a:rPr>
              <a:t>”中样本的测试结果和统计结果为主。</a:t>
            </a:r>
            <a:endParaRPr lang="en-US" altLang="zh-CN" sz="1100" kern="1200" dirty="0" smtClean="0">
              <a:solidFill>
                <a:schemeClr val="tx1"/>
              </a:solidFill>
              <a:latin typeface="FrutigerNext LT Regular" pitchFamily="34" charset="0"/>
              <a:ea typeface="华文细黑" pitchFamily="2" charset="-122"/>
              <a:cs typeface="+mn-cs"/>
            </a:endParaRPr>
          </a:p>
          <a:p>
            <a:r>
              <a:rPr lang="zh-CN" altLang="zh-CN" sz="1100" kern="1200" dirty="0" smtClean="0">
                <a:solidFill>
                  <a:schemeClr val="tx1"/>
                </a:solidFill>
                <a:latin typeface="FrutigerNext LT Regular" pitchFamily="34" charset="0"/>
                <a:ea typeface="华文细黑" pitchFamily="2" charset="-122"/>
                <a:cs typeface="+mn-cs"/>
              </a:rPr>
              <a:t>在测试前，每个站点的类型及对应测试</a:t>
            </a:r>
            <a:r>
              <a:rPr lang="en-US" altLang="zh-CN" sz="1100" kern="1200" dirty="0" smtClean="0">
                <a:solidFill>
                  <a:schemeClr val="tx1"/>
                </a:solidFill>
                <a:latin typeface="FrutigerNext LT Regular" pitchFamily="34" charset="0"/>
                <a:ea typeface="华文细黑" pitchFamily="2" charset="-122"/>
                <a:cs typeface="+mn-cs"/>
              </a:rPr>
              <a:t>Ring</a:t>
            </a:r>
            <a:r>
              <a:rPr lang="zh-CN" altLang="zh-CN" sz="1100" kern="1200" dirty="0" smtClean="0">
                <a:solidFill>
                  <a:schemeClr val="tx1"/>
                </a:solidFill>
                <a:latin typeface="FrutigerNext LT Regular" pitchFamily="34" charset="0"/>
                <a:ea typeface="华文细黑" pitchFamily="2" charset="-122"/>
                <a:cs typeface="+mn-cs"/>
              </a:rPr>
              <a:t>的大小必须得到华为和客户双方确认。</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8</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8637935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B64A9837-89FF-447B-86AD-ED489B0DBCC2}" type="slidenum">
              <a:rPr lang="zh-CN" altLang="en-US"/>
              <a:pPr/>
              <a:t>9</a:t>
            </a:fld>
            <a:endParaRPr lang="en-US" altLang="zh-CN"/>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zh-CN" altLang="en-US" smtClean="0"/>
          </a:p>
        </p:txBody>
      </p:sp>
    </p:spTree>
    <p:extLst>
      <p:ext uri="{BB962C8B-B14F-4D97-AF65-F5344CB8AC3E}">
        <p14:creationId xmlns:p14="http://schemas.microsoft.com/office/powerpoint/2010/main" val="2203608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通常对于</a:t>
            </a:r>
            <a:r>
              <a:rPr lang="zh-CN" altLang="en-US" sz="1100" kern="1200" dirty="0" smtClean="0">
                <a:solidFill>
                  <a:schemeClr val="tx1"/>
                </a:solidFill>
                <a:latin typeface="FrutigerNext LT Regular" pitchFamily="34" charset="0"/>
                <a:ea typeface="华文细黑" pitchFamily="2" charset="-122"/>
                <a:cs typeface="+mn-cs"/>
              </a:rPr>
              <a:t>城市</a:t>
            </a:r>
            <a:r>
              <a:rPr lang="zh-CN" altLang="zh-CN" sz="1100" kern="1200" dirty="0" smtClean="0">
                <a:solidFill>
                  <a:schemeClr val="tx1"/>
                </a:solidFill>
                <a:latin typeface="FrutigerNext LT Regular" pitchFamily="34" charset="0"/>
                <a:ea typeface="华文细黑" pitchFamily="2" charset="-122"/>
                <a:cs typeface="+mn-cs"/>
              </a:rPr>
              <a:t>站点，测试</a:t>
            </a:r>
            <a:r>
              <a:rPr lang="en-US" altLang="zh-CN" sz="1100" kern="1200" dirty="0" smtClean="0">
                <a:solidFill>
                  <a:schemeClr val="tx1"/>
                </a:solidFill>
                <a:latin typeface="FrutigerNext LT Regular" pitchFamily="34" charset="0"/>
                <a:ea typeface="华文细黑" pitchFamily="2" charset="-122"/>
                <a:cs typeface="+mn-cs"/>
              </a:rPr>
              <a:t>Ring</a:t>
            </a:r>
            <a:r>
              <a:rPr lang="zh-CN" altLang="zh-CN" sz="1100" kern="1200" dirty="0" smtClean="0">
                <a:solidFill>
                  <a:schemeClr val="tx1"/>
                </a:solidFill>
                <a:latin typeface="FrutigerNext LT Regular" pitchFamily="34" charset="0"/>
                <a:ea typeface="华文细黑" pitchFamily="2" charset="-122"/>
                <a:cs typeface="+mn-cs"/>
              </a:rPr>
              <a:t>的半径为</a:t>
            </a:r>
            <a:r>
              <a:rPr lang="en-US" altLang="zh-CN" sz="1100" kern="1200" dirty="0" smtClean="0">
                <a:solidFill>
                  <a:schemeClr val="tx1"/>
                </a:solidFill>
                <a:latin typeface="FrutigerNext LT Regular" pitchFamily="34" charset="0"/>
                <a:ea typeface="华文细黑" pitchFamily="2" charset="-122"/>
                <a:cs typeface="+mn-cs"/>
              </a:rPr>
              <a:t>350m</a:t>
            </a:r>
            <a:r>
              <a:rPr lang="zh-CN" altLang="zh-CN" sz="1100" kern="1200" dirty="0" smtClean="0">
                <a:solidFill>
                  <a:schemeClr val="tx1"/>
                </a:solidFill>
                <a:latin typeface="FrutigerNext LT Regular" pitchFamily="34" charset="0"/>
                <a:ea typeface="华文细黑" pitchFamily="2" charset="-122"/>
                <a:cs typeface="+mn-cs"/>
              </a:rPr>
              <a:t>，</a:t>
            </a:r>
            <a:r>
              <a:rPr lang="zh-CN" altLang="en-US" sz="1100" kern="1200" dirty="0" smtClean="0">
                <a:solidFill>
                  <a:schemeClr val="tx1"/>
                </a:solidFill>
                <a:latin typeface="FrutigerNext LT Regular" pitchFamily="34" charset="0"/>
                <a:ea typeface="华文细黑" pitchFamily="2" charset="-122"/>
                <a:cs typeface="+mn-cs"/>
              </a:rPr>
              <a:t>远程</a:t>
            </a:r>
            <a:r>
              <a:rPr lang="zh-CN" altLang="zh-CN" sz="1100" kern="1200" dirty="0" smtClean="0">
                <a:solidFill>
                  <a:schemeClr val="tx1"/>
                </a:solidFill>
                <a:latin typeface="FrutigerNext LT Regular" pitchFamily="34" charset="0"/>
                <a:ea typeface="华文细黑" pitchFamily="2" charset="-122"/>
                <a:cs typeface="+mn-cs"/>
              </a:rPr>
              <a:t>站点的半径为</a:t>
            </a:r>
            <a:r>
              <a:rPr lang="en-US" altLang="zh-CN" sz="1100" kern="1200" dirty="0" smtClean="0">
                <a:solidFill>
                  <a:schemeClr val="tx1"/>
                </a:solidFill>
                <a:latin typeface="FrutigerNext LT Regular" pitchFamily="34" charset="0"/>
                <a:ea typeface="华文细黑" pitchFamily="2" charset="-122"/>
                <a:cs typeface="+mn-cs"/>
              </a:rPr>
              <a:t>2.5km</a:t>
            </a:r>
            <a:r>
              <a:rPr lang="zh-CN" altLang="zh-CN" sz="1100" kern="1200" dirty="0" smtClean="0">
                <a:solidFill>
                  <a:schemeClr val="tx1"/>
                </a:solidFill>
                <a:latin typeface="FrutigerNext LT Regular" pitchFamily="34" charset="0"/>
                <a:ea typeface="华文细黑" pitchFamily="2" charset="-122"/>
                <a:cs typeface="+mn-cs"/>
              </a:rPr>
              <a:t>左右，</a:t>
            </a:r>
            <a:r>
              <a:rPr lang="zh-CN" altLang="en-US" sz="1100" kern="1200" dirty="0" smtClean="0">
                <a:solidFill>
                  <a:schemeClr val="tx1"/>
                </a:solidFill>
                <a:latin typeface="FrutigerNext LT Regular" pitchFamily="34" charset="0"/>
                <a:ea typeface="华文细黑" pitchFamily="2" charset="-122"/>
                <a:cs typeface="+mn-cs"/>
              </a:rPr>
              <a:t>高速公路</a:t>
            </a:r>
            <a:r>
              <a:rPr lang="zh-CN" altLang="zh-CN" sz="1100" kern="1200" dirty="0" smtClean="0">
                <a:solidFill>
                  <a:schemeClr val="tx1"/>
                </a:solidFill>
                <a:latin typeface="FrutigerNext LT Regular" pitchFamily="34" charset="0"/>
                <a:ea typeface="华文细黑" pitchFamily="2" charset="-122"/>
                <a:cs typeface="+mn-cs"/>
              </a:rPr>
              <a:t>站点的半径为</a:t>
            </a:r>
            <a:r>
              <a:rPr lang="en-US" altLang="zh-CN" sz="1100" kern="1200" dirty="0" smtClean="0">
                <a:solidFill>
                  <a:schemeClr val="tx1"/>
                </a:solidFill>
                <a:latin typeface="FrutigerNext LT Regular" pitchFamily="34" charset="0"/>
                <a:ea typeface="华文细黑" pitchFamily="2" charset="-122"/>
                <a:cs typeface="+mn-cs"/>
              </a:rPr>
              <a:t>4km</a:t>
            </a:r>
            <a:r>
              <a:rPr lang="zh-CN" altLang="zh-CN" sz="1100" kern="1200" dirty="0" smtClean="0">
                <a:solidFill>
                  <a:schemeClr val="tx1"/>
                </a:solidFill>
                <a:latin typeface="FrutigerNext LT Regular" pitchFamily="34" charset="0"/>
                <a:ea typeface="华文细黑" pitchFamily="2" charset="-122"/>
                <a:cs typeface="+mn-cs"/>
              </a:rPr>
              <a:t>左右。</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10</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725910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测试路线可以使用</a:t>
            </a:r>
            <a:r>
              <a:rPr lang="en-US" altLang="zh-CN" sz="1100" kern="1200" dirty="0" err="1" smtClean="0">
                <a:solidFill>
                  <a:schemeClr val="tx1"/>
                </a:solidFill>
                <a:latin typeface="FrutigerNext LT Regular" pitchFamily="34" charset="0"/>
                <a:ea typeface="华文细黑" pitchFamily="2" charset="-122"/>
                <a:cs typeface="+mn-cs"/>
              </a:rPr>
              <a:t>Mapinfo</a:t>
            </a:r>
            <a:r>
              <a:rPr lang="zh-CN" altLang="zh-CN" sz="1100" kern="1200" dirty="0" smtClean="0">
                <a:solidFill>
                  <a:schemeClr val="tx1"/>
                </a:solidFill>
                <a:latin typeface="FrutigerNext LT Regular" pitchFamily="34" charset="0"/>
                <a:ea typeface="华文细黑" pitchFamily="2" charset="-122"/>
                <a:cs typeface="+mn-cs"/>
              </a:rPr>
              <a:t>工具制作，具体方式是：在数字地图上新建一个图层，标明测试起始点和测试终止点，中间过程使用带箭头的折线表示测试路线和测试过程。在测试时，把该图层在路测工具中打开，指导单站测试顺利且完整的进行。</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12</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6254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dirty="0" smtClean="0"/>
              <a:t>室外宏站和室分站均适用。</a:t>
            </a:r>
          </a:p>
          <a:p>
            <a:r>
              <a:rPr lang="zh-CN" altLang="zh-CN" sz="1100" kern="1200" dirty="0" smtClean="0">
                <a:solidFill>
                  <a:schemeClr val="tx1"/>
                </a:solidFill>
                <a:latin typeface="FrutigerNext LT Regular" pitchFamily="34" charset="0"/>
                <a:ea typeface="华文细黑" pitchFamily="2" charset="-122"/>
                <a:cs typeface="+mn-cs"/>
              </a:rPr>
              <a:t>完成以上测试项，并输出到《单站验证报告》中</a:t>
            </a:r>
            <a:r>
              <a:rPr lang="zh-CN" altLang="en-US" sz="1100" kern="1200" dirty="0" smtClean="0">
                <a:solidFill>
                  <a:schemeClr val="tx1"/>
                </a:solidFill>
                <a:latin typeface="FrutigerNext LT Regular" pitchFamily="34" charset="0"/>
                <a:ea typeface="华文细黑" pitchFamily="2" charset="-122"/>
                <a:cs typeface="+mn-cs"/>
              </a:rPr>
              <a:t>。</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15</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1112205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单站验证环节测试前准备工作还包括：</a:t>
            </a:r>
          </a:p>
          <a:p>
            <a:pPr lvl="1"/>
            <a:r>
              <a:rPr lang="zh-CN" altLang="zh-CN" sz="1100" kern="1200" dirty="0" smtClean="0">
                <a:solidFill>
                  <a:schemeClr val="tx1"/>
                </a:solidFill>
                <a:latin typeface="FrutigerNext LT Regular" pitchFamily="34" charset="0"/>
                <a:ea typeface="华文细黑" pitchFamily="2" charset="-122"/>
                <a:cs typeface="+mn-cs"/>
              </a:rPr>
              <a:t>测试工具检查：测试前通过便携式电脑连接</a:t>
            </a:r>
            <a:r>
              <a:rPr lang="en-US" altLang="zh-CN" sz="1100" kern="1200" dirty="0" smtClean="0">
                <a:solidFill>
                  <a:schemeClr val="tx1"/>
                </a:solidFill>
                <a:latin typeface="FrutigerNext LT Regular" pitchFamily="34" charset="0"/>
                <a:ea typeface="华文细黑" pitchFamily="2" charset="-122"/>
                <a:cs typeface="+mn-cs"/>
              </a:rPr>
              <a:t>LTE UE</a:t>
            </a:r>
            <a:r>
              <a:rPr lang="zh-CN" altLang="zh-CN" sz="1100" kern="1200" dirty="0" smtClean="0">
                <a:solidFill>
                  <a:schemeClr val="tx1"/>
                </a:solidFill>
                <a:latin typeface="FrutigerNext LT Regular" pitchFamily="34" charset="0"/>
                <a:ea typeface="华文细黑" pitchFamily="2" charset="-122"/>
                <a:cs typeface="+mn-cs"/>
              </a:rPr>
              <a:t>终端和</a:t>
            </a:r>
            <a:r>
              <a:rPr lang="en-US" altLang="zh-CN" sz="1100" kern="1200" dirty="0" smtClean="0">
                <a:solidFill>
                  <a:schemeClr val="tx1"/>
                </a:solidFill>
                <a:latin typeface="FrutigerNext LT Regular" pitchFamily="34" charset="0"/>
                <a:ea typeface="华文细黑" pitchFamily="2" charset="-122"/>
                <a:cs typeface="+mn-cs"/>
              </a:rPr>
              <a:t>GPS</a:t>
            </a:r>
            <a:r>
              <a:rPr lang="zh-CN" altLang="zh-CN" sz="1100" kern="1200" dirty="0" smtClean="0">
                <a:solidFill>
                  <a:schemeClr val="tx1"/>
                </a:solidFill>
                <a:latin typeface="FrutigerNext LT Regular" pitchFamily="34" charset="0"/>
                <a:ea typeface="华文细黑" pitchFamily="2" charset="-122"/>
                <a:cs typeface="+mn-cs"/>
              </a:rPr>
              <a:t>，并保证测试设备和测试软件工作正常。</a:t>
            </a:r>
          </a:p>
          <a:p>
            <a:pPr lvl="1"/>
            <a:r>
              <a:rPr lang="zh-CN" altLang="zh-CN" sz="1100" kern="1200" dirty="0" smtClean="0">
                <a:solidFill>
                  <a:schemeClr val="tx1"/>
                </a:solidFill>
                <a:latin typeface="FrutigerNext LT Regular" pitchFamily="34" charset="0"/>
                <a:ea typeface="华文细黑" pitchFamily="2" charset="-122"/>
                <a:cs typeface="+mn-cs"/>
              </a:rPr>
              <a:t>测试车辆速度：建议保持在</a:t>
            </a:r>
            <a:r>
              <a:rPr lang="en-US" altLang="zh-CN" sz="1100" kern="1200" dirty="0" smtClean="0">
                <a:solidFill>
                  <a:schemeClr val="tx1"/>
                </a:solidFill>
                <a:latin typeface="FrutigerNext LT Regular" pitchFamily="34" charset="0"/>
                <a:ea typeface="华文细黑" pitchFamily="2" charset="-122"/>
                <a:cs typeface="+mn-cs"/>
              </a:rPr>
              <a:t>30</a:t>
            </a:r>
            <a:r>
              <a:rPr lang="zh-CN" altLang="zh-CN" sz="1100" kern="1200" dirty="0" smtClean="0">
                <a:solidFill>
                  <a:schemeClr val="tx1"/>
                </a:solidFill>
                <a:latin typeface="FrutigerNext LT Regular" pitchFamily="34" charset="0"/>
                <a:ea typeface="华文细黑" pitchFamily="2" charset="-122"/>
                <a:cs typeface="+mn-cs"/>
              </a:rPr>
              <a:t>公里</a:t>
            </a:r>
            <a:r>
              <a:rPr lang="en-US" altLang="zh-CN" sz="1100" kern="1200" dirty="0" smtClean="0">
                <a:solidFill>
                  <a:schemeClr val="tx1"/>
                </a:solidFill>
                <a:latin typeface="FrutigerNext LT Regular" pitchFamily="34" charset="0"/>
                <a:ea typeface="华文细黑" pitchFamily="2" charset="-122"/>
                <a:cs typeface="+mn-cs"/>
              </a:rPr>
              <a:t>/</a:t>
            </a:r>
            <a:r>
              <a:rPr lang="zh-CN" altLang="zh-CN" sz="1100" kern="1200" dirty="0" smtClean="0">
                <a:solidFill>
                  <a:schemeClr val="tx1"/>
                </a:solidFill>
                <a:latin typeface="FrutigerNext LT Regular" pitchFamily="34" charset="0"/>
                <a:ea typeface="华文细黑" pitchFamily="2" charset="-122"/>
                <a:cs typeface="+mn-cs"/>
              </a:rPr>
              <a:t>小时左右，经过待测小区的主服务区时或发现有异常情况（如</a:t>
            </a:r>
            <a:r>
              <a:rPr lang="en-US" altLang="zh-CN" sz="1100" kern="1200" dirty="0" smtClean="0">
                <a:solidFill>
                  <a:schemeClr val="tx1"/>
                </a:solidFill>
                <a:latin typeface="FrutigerNext LT Regular" pitchFamily="34" charset="0"/>
                <a:ea typeface="华文细黑" pitchFamily="2" charset="-122"/>
                <a:cs typeface="+mn-cs"/>
              </a:rPr>
              <a:t>Attach</a:t>
            </a:r>
            <a:r>
              <a:rPr lang="zh-CN" altLang="zh-CN" sz="1100" kern="1200" dirty="0" smtClean="0">
                <a:solidFill>
                  <a:schemeClr val="tx1"/>
                </a:solidFill>
                <a:latin typeface="FrutigerNext LT Regular" pitchFamily="34" charset="0"/>
                <a:ea typeface="华文细黑" pitchFamily="2" charset="-122"/>
                <a:cs typeface="+mn-cs"/>
              </a:rPr>
              <a:t>接入功能异常，测试设备工作异常，某个小区的</a:t>
            </a:r>
            <a:r>
              <a:rPr lang="en-US" altLang="zh-CN" sz="1100" kern="1200" dirty="0" smtClean="0">
                <a:solidFill>
                  <a:schemeClr val="tx1"/>
                </a:solidFill>
                <a:latin typeface="FrutigerNext LT Regular" pitchFamily="34" charset="0"/>
                <a:ea typeface="华文细黑" pitchFamily="2" charset="-122"/>
                <a:cs typeface="+mn-cs"/>
              </a:rPr>
              <a:t>RSRP</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SINR</a:t>
            </a:r>
            <a:r>
              <a:rPr lang="zh-CN" altLang="zh-CN" sz="1100" kern="1200" dirty="0" smtClean="0">
                <a:solidFill>
                  <a:schemeClr val="tx1"/>
                </a:solidFill>
                <a:latin typeface="FrutigerNext LT Regular" pitchFamily="34" charset="0"/>
                <a:ea typeface="华文细黑" pitchFamily="2" charset="-122"/>
                <a:cs typeface="+mn-cs"/>
              </a:rPr>
              <a:t>覆盖情况异常，等等）时，需要减速行驶或暂时靠边停止行驶；如果存在异常情况，将异常情况记录下来，重新接入业务后继续前进，完成其他小区的测试，待区域验证工作完成后再对异常小区进行详细的验证和问题处理。</a:t>
            </a:r>
          </a:p>
          <a:p>
            <a:pPr lvl="1"/>
            <a:r>
              <a:rPr lang="zh-CN" altLang="en-US" sz="1100" kern="1200" dirty="0" smtClean="0">
                <a:solidFill>
                  <a:schemeClr val="tx1"/>
                </a:solidFill>
                <a:latin typeface="FrutigerNext LT Regular" pitchFamily="34" charset="0"/>
                <a:ea typeface="华文细黑" pitchFamily="2" charset="-122"/>
                <a:cs typeface="+mn-cs"/>
              </a:rPr>
              <a:t>建议：</a:t>
            </a:r>
            <a:r>
              <a:rPr lang="zh-CN" altLang="zh-CN" sz="1100" kern="1200" dirty="0" smtClean="0">
                <a:solidFill>
                  <a:schemeClr val="tx1"/>
                </a:solidFill>
                <a:latin typeface="FrutigerNext LT Regular" pitchFamily="34" charset="0"/>
                <a:ea typeface="华文细黑" pitchFamily="2" charset="-122"/>
                <a:cs typeface="+mn-cs"/>
              </a:rPr>
              <a:t>为了避免邻基站对待测试基站的干扰影响，建议在单站测试的</a:t>
            </a:r>
            <a:r>
              <a:rPr lang="en-US"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业务和切换业务之前去激活邻基站的小区。所用命令：</a:t>
            </a:r>
            <a:r>
              <a:rPr lang="en-US" altLang="zh-CN" sz="1100" kern="1200" dirty="0" smtClean="0">
                <a:solidFill>
                  <a:schemeClr val="tx1"/>
                </a:solidFill>
                <a:latin typeface="FrutigerNext LT Regular" pitchFamily="34" charset="0"/>
                <a:ea typeface="华文细黑" pitchFamily="2" charset="-122"/>
                <a:cs typeface="+mn-cs"/>
              </a:rPr>
              <a:t>DEA CELL</a:t>
            </a:r>
            <a:endParaRPr lang="zh-CN" altLang="zh-CN" sz="1100" kern="1200" dirty="0" smtClean="0">
              <a:solidFill>
                <a:schemeClr val="tx1"/>
              </a:solidFill>
              <a:latin typeface="FrutigerNext LT Regular" pitchFamily="34" charset="0"/>
              <a:ea typeface="华文细黑" pitchFamily="2" charset="-122"/>
              <a:cs typeface="+mn-cs"/>
            </a:endParaRP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18</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9511986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19</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221730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20</a:t>
            </a:fld>
            <a:endParaRPr lang="en-US" altLang="zh-CN"/>
          </a:p>
        </p:txBody>
      </p:sp>
    </p:spTree>
    <p:extLst>
      <p:ext uri="{BB962C8B-B14F-4D97-AF65-F5344CB8AC3E}">
        <p14:creationId xmlns:p14="http://schemas.microsoft.com/office/powerpoint/2010/main" val="2542876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buNone/>
            </a:pP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22</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334471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进行</a:t>
            </a:r>
            <a:r>
              <a:rPr lang="en-US" altLang="zh-CN" sz="1100" kern="1200" dirty="0" smtClean="0">
                <a:solidFill>
                  <a:schemeClr val="tx1"/>
                </a:solidFill>
                <a:latin typeface="FrutigerNext LT Regular" pitchFamily="34" charset="0"/>
                <a:ea typeface="华文细黑" pitchFamily="2" charset="-122"/>
                <a:cs typeface="+mn-cs"/>
              </a:rPr>
              <a:t>Profile Management</a:t>
            </a:r>
            <a:r>
              <a:rPr lang="zh-CN" altLang="zh-CN" sz="1100" kern="1200" dirty="0" smtClean="0">
                <a:solidFill>
                  <a:schemeClr val="tx1"/>
                </a:solidFill>
                <a:latin typeface="FrutigerNext LT Regular" pitchFamily="34" charset="0"/>
                <a:ea typeface="华文细黑" pitchFamily="2" charset="-122"/>
                <a:cs typeface="+mn-cs"/>
              </a:rPr>
              <a:t>配置，此时，需要咨询一下</a:t>
            </a:r>
            <a:r>
              <a:rPr lang="en-US" altLang="zh-CN" sz="1100" kern="1200" dirty="0" smtClean="0">
                <a:solidFill>
                  <a:schemeClr val="tx1"/>
                </a:solidFill>
                <a:latin typeface="FrutigerNext LT Regular" pitchFamily="34" charset="0"/>
                <a:ea typeface="华文细黑" pitchFamily="2" charset="-122"/>
                <a:cs typeface="+mn-cs"/>
              </a:rPr>
              <a:t>MME</a:t>
            </a:r>
            <a:r>
              <a:rPr lang="zh-CN" altLang="zh-CN" sz="1100" kern="1200" dirty="0" smtClean="0">
                <a:solidFill>
                  <a:schemeClr val="tx1"/>
                </a:solidFill>
                <a:latin typeface="FrutigerNext LT Regular" pitchFamily="34" charset="0"/>
                <a:ea typeface="华文细黑" pitchFamily="2" charset="-122"/>
                <a:cs typeface="+mn-cs"/>
              </a:rPr>
              <a:t>的同事，</a:t>
            </a:r>
            <a:r>
              <a:rPr lang="en-US" altLang="zh-CN" sz="1100" kern="1200" dirty="0" smtClean="0">
                <a:solidFill>
                  <a:schemeClr val="tx1"/>
                </a:solidFill>
                <a:latin typeface="FrutigerNext LT Regular" pitchFamily="34" charset="0"/>
                <a:ea typeface="华文细黑" pitchFamily="2" charset="-122"/>
                <a:cs typeface="+mn-cs"/>
              </a:rPr>
              <a:t>APN</a:t>
            </a:r>
            <a:r>
              <a:rPr lang="zh-CN" altLang="zh-CN" sz="1100" kern="1200" dirty="0" smtClean="0">
                <a:solidFill>
                  <a:schemeClr val="tx1"/>
                </a:solidFill>
                <a:latin typeface="FrutigerNext LT Regular" pitchFamily="34" charset="0"/>
                <a:ea typeface="华文细黑" pitchFamily="2" charset="-122"/>
                <a:cs typeface="+mn-cs"/>
              </a:rPr>
              <a:t>是否是动态配置，如果是静态的，应该如何设置。</a:t>
            </a:r>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23</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6256816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en-US" altLang="zh-CN" sz="1100" kern="1200" dirty="0" smtClean="0">
                <a:solidFill>
                  <a:schemeClr val="tx1"/>
                </a:solidFill>
                <a:latin typeface="FrutigerNext LT Regular" pitchFamily="34" charset="0"/>
                <a:ea typeface="华文细黑" pitchFamily="2" charset="-122"/>
                <a:cs typeface="+mn-cs"/>
              </a:rPr>
              <a:t>E392</a:t>
            </a:r>
            <a:r>
              <a:rPr lang="zh-CN" altLang="zh-CN" sz="1100" kern="1200" dirty="0" smtClean="0">
                <a:solidFill>
                  <a:schemeClr val="tx1"/>
                </a:solidFill>
                <a:latin typeface="FrutigerNext LT Regular" pitchFamily="34" charset="0"/>
                <a:ea typeface="华文细黑" pitchFamily="2" charset="-122"/>
                <a:cs typeface="+mn-cs"/>
              </a:rPr>
              <a:t>终端在连接到电脑之后，会自己搜网，出现下图中左下角红框中的图标时，说明已</a:t>
            </a:r>
            <a:r>
              <a:rPr lang="en-US" altLang="zh-CN" sz="1100" kern="1200" dirty="0" smtClean="0">
                <a:solidFill>
                  <a:schemeClr val="tx1"/>
                </a:solidFill>
                <a:latin typeface="FrutigerNext LT Regular" pitchFamily="34" charset="0"/>
                <a:ea typeface="华文细黑" pitchFamily="2" charset="-122"/>
                <a:cs typeface="+mn-cs"/>
              </a:rPr>
              <a:t>Attach</a:t>
            </a:r>
            <a:r>
              <a:rPr lang="zh-CN" altLang="zh-CN" sz="1100" kern="1200" dirty="0" smtClean="0">
                <a:solidFill>
                  <a:schemeClr val="tx1"/>
                </a:solidFill>
                <a:latin typeface="FrutigerNext LT Regular" pitchFamily="34" charset="0"/>
                <a:ea typeface="华文细黑" pitchFamily="2" charset="-122"/>
                <a:cs typeface="+mn-cs"/>
              </a:rPr>
              <a:t>到</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网络中了，此时，点击“</a:t>
            </a:r>
            <a:r>
              <a:rPr lang="en-US" altLang="zh-CN" sz="1100" kern="1200" dirty="0" smtClean="0">
                <a:solidFill>
                  <a:schemeClr val="tx1"/>
                </a:solidFill>
                <a:latin typeface="FrutigerNext LT Regular" pitchFamily="34" charset="0"/>
                <a:ea typeface="华文细黑" pitchFamily="2" charset="-122"/>
                <a:cs typeface="+mn-cs"/>
              </a:rPr>
              <a:t>Connect</a:t>
            </a:r>
            <a:r>
              <a:rPr lang="zh-CN" altLang="zh-CN" sz="1100" kern="1200" dirty="0" smtClean="0">
                <a:solidFill>
                  <a:schemeClr val="tx1"/>
                </a:solidFill>
                <a:latin typeface="FrutigerNext LT Regular" pitchFamily="34" charset="0"/>
                <a:ea typeface="华文细黑" pitchFamily="2" charset="-122"/>
                <a:cs typeface="+mn-cs"/>
              </a:rPr>
              <a:t>”</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24</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3013446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85000" lnSpcReduction="20000"/>
          </a:bodyPr>
          <a:lstStyle/>
          <a:p>
            <a:r>
              <a:rPr lang="en-US" altLang="zh-CN" dirty="0" smtClean="0"/>
              <a:t>Probe</a:t>
            </a:r>
            <a:r>
              <a:rPr lang="zh-CN" altLang="en-US" dirty="0" smtClean="0"/>
              <a:t>的产品特点如下：</a:t>
            </a:r>
          </a:p>
          <a:p>
            <a:r>
              <a:rPr lang="zh-CN" altLang="en-US" dirty="0" smtClean="0"/>
              <a:t>支持</a:t>
            </a:r>
            <a:r>
              <a:rPr lang="en-US" altLang="zh-CN" dirty="0" smtClean="0"/>
              <a:t>GSM/WCDMA/CDMA/</a:t>
            </a:r>
            <a:r>
              <a:rPr lang="en-US" altLang="zh-CN" dirty="0" err="1" smtClean="0"/>
              <a:t>WiMAX</a:t>
            </a:r>
            <a:r>
              <a:rPr lang="en-US" altLang="zh-CN" dirty="0" smtClean="0"/>
              <a:t>/LTE</a:t>
            </a:r>
            <a:r>
              <a:rPr lang="zh-CN" altLang="en-US" dirty="0" smtClean="0"/>
              <a:t>多种网络制式。 </a:t>
            </a:r>
          </a:p>
          <a:p>
            <a:r>
              <a:rPr lang="zh-CN" altLang="en-US" dirty="0" smtClean="0"/>
              <a:t>支持丰富的设备类型，包括： </a:t>
            </a:r>
          </a:p>
          <a:p>
            <a:pPr lvl="1"/>
            <a:r>
              <a:rPr lang="zh-CN" altLang="en-US" dirty="0" smtClean="0">
                <a:hlinkClick r:id="rId3" action="ppaction://hlinkfile"/>
              </a:rPr>
              <a:t>测试终端</a:t>
            </a:r>
            <a:r>
              <a:rPr lang="zh-CN" altLang="en-US" dirty="0" smtClean="0"/>
              <a:t> </a:t>
            </a:r>
          </a:p>
          <a:p>
            <a:pPr lvl="1"/>
            <a:r>
              <a:rPr lang="en-US" altLang="zh-CN" dirty="0" smtClean="0">
                <a:hlinkClick r:id="rId3" action="ppaction://hlinkfile"/>
              </a:rPr>
              <a:t>Scanner</a:t>
            </a:r>
            <a:r>
              <a:rPr lang="zh-CN" altLang="en-US" dirty="0" smtClean="0"/>
              <a:t> </a:t>
            </a:r>
          </a:p>
          <a:p>
            <a:pPr lvl="1"/>
            <a:r>
              <a:rPr lang="en-US" altLang="zh-CN" dirty="0" smtClean="0">
                <a:hlinkClick r:id="rId3" action="ppaction://hlinkfile"/>
              </a:rPr>
              <a:t>GPS</a:t>
            </a:r>
            <a:endParaRPr lang="zh-CN" altLang="en-US" dirty="0" smtClean="0"/>
          </a:p>
          <a:p>
            <a:r>
              <a:rPr lang="zh-CN" altLang="en-US" dirty="0" smtClean="0"/>
              <a:t>多种语音业务和数据业务测试，包括语音业务测试、</a:t>
            </a:r>
            <a:r>
              <a:rPr lang="en-US" altLang="zh-CN" dirty="0" smtClean="0"/>
              <a:t>Scanner</a:t>
            </a:r>
            <a:r>
              <a:rPr lang="zh-CN" altLang="en-US" dirty="0" smtClean="0"/>
              <a:t>测试、数据业务测试以及语音和数据业务的并发测试等。 </a:t>
            </a:r>
          </a:p>
          <a:p>
            <a:r>
              <a:rPr lang="zh-CN" altLang="en-US" dirty="0" smtClean="0"/>
              <a:t>多种语音质量评估方法。 具体请参见</a:t>
            </a:r>
            <a:r>
              <a:rPr lang="en-US" altLang="zh-CN" dirty="0" smtClean="0">
                <a:hlinkClick r:id="rId4" action="ppaction://hlinkfile"/>
              </a:rPr>
              <a:t>Probe V200R003</a:t>
            </a:r>
            <a:r>
              <a:rPr lang="zh-CN" altLang="en-US" dirty="0" smtClean="0">
                <a:hlinkClick r:id="rId4" action="ppaction://hlinkfile"/>
              </a:rPr>
              <a:t>相对于</a:t>
            </a:r>
            <a:r>
              <a:rPr lang="en-US" altLang="zh-CN" dirty="0" smtClean="0">
                <a:hlinkClick r:id="rId4" action="ppaction://hlinkfile"/>
              </a:rPr>
              <a:t>Probe V200R002</a:t>
            </a:r>
            <a:r>
              <a:rPr lang="zh-CN" altLang="en-US" dirty="0" smtClean="0">
                <a:hlinkClick r:id="rId4" action="ppaction://hlinkfile"/>
              </a:rPr>
              <a:t>的新增特性</a:t>
            </a:r>
            <a:r>
              <a:rPr lang="zh-CN" altLang="en-US" dirty="0" smtClean="0"/>
              <a:t>。</a:t>
            </a:r>
          </a:p>
          <a:p>
            <a:r>
              <a:rPr lang="zh-CN" altLang="en-US" dirty="0" smtClean="0"/>
              <a:t>强大的强制功能测试。 具体请参见</a:t>
            </a:r>
            <a:r>
              <a:rPr lang="zh-CN" altLang="en-US" dirty="0" smtClean="0">
                <a:hlinkClick r:id="rId5" action="ppaction://hlinkfile"/>
              </a:rPr>
              <a:t>强制功能测试</a:t>
            </a:r>
            <a:r>
              <a:rPr lang="zh-CN" altLang="en-US" dirty="0" smtClean="0"/>
              <a:t>。</a:t>
            </a:r>
          </a:p>
          <a:p>
            <a:r>
              <a:rPr lang="zh-CN" altLang="en-US" dirty="0" smtClean="0"/>
              <a:t>地理化显示无线测量数据。 </a:t>
            </a:r>
            <a:r>
              <a:rPr lang="en-US" altLang="zh-CN" dirty="0" smtClean="0"/>
              <a:t>Probe</a:t>
            </a:r>
            <a:r>
              <a:rPr lang="zh-CN" altLang="en-US" dirty="0" smtClean="0"/>
              <a:t>能够动态显示测试参数、测试路线和邻区连线，以图形化方式呈现事件，支持站点信息的地理化显示，并支持</a:t>
            </a:r>
            <a:r>
              <a:rPr lang="en-US" altLang="zh-CN" dirty="0" smtClean="0"/>
              <a:t>MapInfo</a:t>
            </a:r>
            <a:r>
              <a:rPr lang="zh-CN" altLang="en-US" dirty="0" smtClean="0"/>
              <a:t>地图格式、栅格地图格式。</a:t>
            </a:r>
          </a:p>
          <a:p>
            <a:r>
              <a:rPr lang="zh-CN" altLang="en-US" dirty="0" smtClean="0"/>
              <a:t>实时记录和保存</a:t>
            </a:r>
            <a:r>
              <a:rPr lang="en-US" altLang="zh-CN" dirty="0" err="1" smtClean="0"/>
              <a:t>Logfile</a:t>
            </a:r>
            <a:r>
              <a:rPr lang="zh-CN" altLang="en-US" dirty="0" smtClean="0"/>
              <a:t>，并通过回放功能，重现测试过程。测试过程中还可以分割</a:t>
            </a:r>
            <a:r>
              <a:rPr lang="en-US" altLang="zh-CN" dirty="0" err="1" smtClean="0"/>
              <a:t>Logfile</a:t>
            </a:r>
            <a:r>
              <a:rPr lang="zh-CN" altLang="en-US" dirty="0" smtClean="0"/>
              <a:t>，便于管理不同时间段记录的</a:t>
            </a:r>
            <a:r>
              <a:rPr lang="en-US" altLang="zh-CN" dirty="0" err="1" smtClean="0"/>
              <a:t>Logfile</a:t>
            </a:r>
            <a:r>
              <a:rPr lang="zh-CN" altLang="en-US" dirty="0" smtClean="0"/>
              <a:t>。 </a:t>
            </a:r>
          </a:p>
          <a:p>
            <a:r>
              <a:rPr lang="zh-CN" altLang="en-US" dirty="0" smtClean="0"/>
              <a:t>实时显示关键事件，如切换、掉话等测试过程中发生的事件。在测试过程中可以实时统计关键事件和</a:t>
            </a:r>
            <a:r>
              <a:rPr lang="en-US" altLang="zh-CN" dirty="0" smtClean="0"/>
              <a:t>KPI</a:t>
            </a:r>
            <a:r>
              <a:rPr lang="zh-CN" altLang="en-US" dirty="0" smtClean="0"/>
              <a:t>，便于及时发现问题。 </a:t>
            </a:r>
          </a:p>
          <a:p>
            <a:r>
              <a:rPr lang="zh-CN" altLang="en-US" dirty="0" smtClean="0"/>
              <a:t>支持信令视图、地图视图和事件视图的数据联动，方便定位和分析问题。</a:t>
            </a:r>
          </a:p>
          <a:p>
            <a:r>
              <a:rPr lang="zh-CN" altLang="en-US" b="1" dirty="0" smtClean="0"/>
              <a:t>应用场景</a:t>
            </a:r>
          </a:p>
          <a:p>
            <a:r>
              <a:rPr lang="en-US" altLang="zh-CN" dirty="0" smtClean="0"/>
              <a:t>Probe</a:t>
            </a:r>
            <a:r>
              <a:rPr lang="zh-CN" altLang="en-US" dirty="0" smtClean="0"/>
              <a:t>可以应用于网络规划、网络建设、网络扩容和网络优化等网络生命周期各个阶段。</a:t>
            </a:r>
          </a:p>
          <a:p>
            <a:r>
              <a:rPr lang="zh-CN" altLang="en-US" dirty="0" smtClean="0"/>
              <a:t>传播环境探测 在网络建设规划阶段，使用</a:t>
            </a:r>
            <a:r>
              <a:rPr lang="en-US" altLang="zh-CN" dirty="0" smtClean="0"/>
              <a:t>Scanner</a:t>
            </a:r>
            <a:r>
              <a:rPr lang="zh-CN" altLang="en-US" dirty="0" smtClean="0"/>
              <a:t>进行</a:t>
            </a:r>
            <a:r>
              <a:rPr lang="en-US" altLang="zh-CN" dirty="0" smtClean="0"/>
              <a:t>CW</a:t>
            </a:r>
            <a:r>
              <a:rPr lang="zh-CN" altLang="en-US" dirty="0" smtClean="0"/>
              <a:t>（</a:t>
            </a:r>
            <a:r>
              <a:rPr lang="en-US" altLang="zh-CN" dirty="0" smtClean="0"/>
              <a:t>Continuous Wave</a:t>
            </a:r>
            <a:r>
              <a:rPr lang="zh-CN" altLang="en-US" dirty="0" smtClean="0"/>
              <a:t>）测试，获得典型环境下无线信号空间衰落测试数据，这些数据可以用于校正传播模型，为网络规划提供依据。</a:t>
            </a:r>
          </a:p>
          <a:p>
            <a:r>
              <a:rPr lang="zh-CN" altLang="en-US" dirty="0" smtClean="0"/>
              <a:t>性能评估测试 在网络建设、扩容或优化等阶段，利用</a:t>
            </a:r>
            <a:r>
              <a:rPr lang="en-US" altLang="zh-CN" dirty="0" smtClean="0"/>
              <a:t>Probe</a:t>
            </a:r>
            <a:r>
              <a:rPr lang="zh-CN" altLang="en-US" dirty="0" smtClean="0"/>
              <a:t>评估各网络的性能，为进一步网络建设或网络优化提供依据。</a:t>
            </a:r>
          </a:p>
          <a:p>
            <a:r>
              <a:rPr lang="zh-CN" altLang="en-US" dirty="0" smtClean="0"/>
              <a:t>网络问题定位 在网络维护或优化阶段，利用</a:t>
            </a:r>
            <a:r>
              <a:rPr lang="en-US" altLang="zh-CN" dirty="0" smtClean="0"/>
              <a:t>Probe</a:t>
            </a:r>
            <a:r>
              <a:rPr lang="zh-CN" altLang="en-US" dirty="0" smtClean="0"/>
              <a:t>自身的回放功能，重现测试过程，并结合后处理软件（如</a:t>
            </a:r>
            <a:r>
              <a:rPr lang="en-US" altLang="zh-CN" dirty="0" smtClean="0"/>
              <a:t>GENEX Assistant</a:t>
            </a:r>
            <a:r>
              <a:rPr lang="zh-CN" altLang="en-US" dirty="0" smtClean="0"/>
              <a:t>），快速定位网络问题。</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26</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799019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27</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7569660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bwMode="auto">
          <a:noFill/>
          <a:ln>
            <a:solidFill>
              <a:srgbClr val="000000"/>
            </a:solidFill>
            <a:miter lim="800000"/>
            <a:headEnd/>
            <a:tailEnd/>
          </a:ln>
        </p:spPr>
      </p:sp>
      <p:sp>
        <p:nvSpPr>
          <p:cNvPr id="11878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t>安装完成后，请核查软件版本是否正确。</a:t>
            </a:r>
            <a:endParaRPr lang="en-US" altLang="zh-CN" smtClean="0"/>
          </a:p>
          <a:p>
            <a:pPr eaLnBrk="1" hangingPunct="1"/>
            <a:r>
              <a:rPr lang="zh-CN" altLang="en-US" smtClean="0"/>
              <a:t>详细安装信息请参考</a:t>
            </a:r>
            <a:r>
              <a:rPr lang="en-US" altLang="zh-CN" smtClean="0"/>
              <a:t>GENEX probe</a:t>
            </a:r>
            <a:r>
              <a:rPr lang="zh-CN" altLang="en-US" smtClean="0"/>
              <a:t>。</a:t>
            </a:r>
          </a:p>
          <a:p>
            <a:pPr eaLnBrk="1" hangingPunct="1"/>
            <a:endParaRPr lang="zh-CN" altLang="en-US" smtClean="0"/>
          </a:p>
        </p:txBody>
      </p:sp>
      <p:sp>
        <p:nvSpPr>
          <p:cNvPr id="118788"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18789"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18790"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19398778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smtClean="0"/>
              <a:t>Probe</a:t>
            </a:r>
            <a:r>
              <a:rPr lang="zh-CN" altLang="en-US" dirty="0" smtClean="0"/>
              <a:t>系统结构说明</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zh-CN" altLang="en-US" dirty="0" smtClean="0"/>
              <a:t>测试过程中，最多允许连接</a:t>
            </a:r>
            <a:r>
              <a:rPr lang="en-US" altLang="zh-CN" dirty="0" smtClean="0"/>
              <a:t>6</a:t>
            </a:r>
            <a:r>
              <a:rPr lang="zh-CN" altLang="en-US" dirty="0" smtClean="0"/>
              <a:t>个测试终端、</a:t>
            </a:r>
            <a:r>
              <a:rPr lang="en-US" altLang="zh-CN" dirty="0" smtClean="0"/>
              <a:t>1</a:t>
            </a:r>
            <a:r>
              <a:rPr lang="zh-CN" altLang="en-US" dirty="0" smtClean="0"/>
              <a:t>个</a:t>
            </a:r>
            <a:r>
              <a:rPr lang="en-US" altLang="zh-CN" dirty="0" smtClean="0"/>
              <a:t>Scanner</a:t>
            </a:r>
            <a:r>
              <a:rPr lang="zh-CN" altLang="en-US" dirty="0" smtClean="0"/>
              <a:t>和</a:t>
            </a:r>
            <a:r>
              <a:rPr lang="en-US" altLang="zh-CN" dirty="0" smtClean="0"/>
              <a:t>1</a:t>
            </a:r>
            <a:r>
              <a:rPr lang="zh-CN" altLang="en-US" dirty="0" smtClean="0"/>
              <a:t>个</a:t>
            </a:r>
            <a:r>
              <a:rPr lang="en-US" altLang="zh-CN" dirty="0" smtClean="0"/>
              <a:t>GPS</a:t>
            </a:r>
            <a:r>
              <a:rPr lang="zh-CN" altLang="en-US" dirty="0" smtClean="0"/>
              <a:t>。</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29</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graphicFrame>
        <p:nvGraphicFramePr>
          <p:cNvPr id="7" name="表格 6"/>
          <p:cNvGraphicFramePr>
            <a:graphicFrameLocks noGrp="1"/>
          </p:cNvGraphicFramePr>
          <p:nvPr/>
        </p:nvGraphicFramePr>
        <p:xfrm>
          <a:off x="985962" y="5127181"/>
          <a:ext cx="4858247" cy="2180068"/>
        </p:xfrm>
        <a:graphic>
          <a:graphicData uri="http://schemas.openxmlformats.org/drawingml/2006/table">
            <a:tbl>
              <a:tblPr/>
              <a:tblGrid>
                <a:gridCol w="707666"/>
                <a:gridCol w="4150581"/>
              </a:tblGrid>
              <a:tr h="369087">
                <a:tc>
                  <a:txBody>
                    <a:bodyPr/>
                    <a:lstStyle/>
                    <a:p>
                      <a:pPr algn="ctr"/>
                      <a:r>
                        <a:rPr lang="zh-CN" altLang="en-US" sz="1100" dirty="0"/>
                        <a:t>物理实体</a:t>
                      </a:r>
                    </a:p>
                  </a:txBody>
                  <a:tcPr marL="22505" marR="22505" marT="22505" marB="225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85000"/>
                      </a:schemeClr>
                    </a:solidFill>
                  </a:tcPr>
                </a:tc>
                <a:tc>
                  <a:txBody>
                    <a:bodyPr/>
                    <a:lstStyle/>
                    <a:p>
                      <a:pPr algn="ctr"/>
                      <a:r>
                        <a:rPr lang="zh-CN" altLang="en-US" sz="1100" dirty="0"/>
                        <a:t>说明</a:t>
                      </a:r>
                    </a:p>
                  </a:txBody>
                  <a:tcPr marL="22505" marR="22505" marT="22505" marB="225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alpha val="85000"/>
                      </a:schemeClr>
                    </a:solidFill>
                  </a:tcPr>
                </a:tc>
              </a:tr>
              <a:tr h="721653">
                <a:tc>
                  <a:txBody>
                    <a:bodyPr/>
                    <a:lstStyle/>
                    <a:p>
                      <a:pPr algn="ctr"/>
                      <a:r>
                        <a:rPr lang="en-US" sz="1100" dirty="0">
                          <a:latin typeface="华文细黑" pitchFamily="2" charset="-122"/>
                          <a:ea typeface="华文细黑" pitchFamily="2" charset="-122"/>
                        </a:rPr>
                        <a:t>PC</a:t>
                      </a:r>
                    </a:p>
                  </a:txBody>
                  <a:tcPr marL="22505" marR="22505" marT="22505" marB="225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dirty="0">
                          <a:latin typeface="华文细黑" pitchFamily="2" charset="-122"/>
                          <a:ea typeface="华文细黑" pitchFamily="2" charset="-122"/>
                        </a:rPr>
                        <a:t>台式机或便携机。用于安装</a:t>
                      </a:r>
                      <a:r>
                        <a:rPr lang="en-US" altLang="zh-CN" sz="1100" dirty="0">
                          <a:latin typeface="华文细黑" pitchFamily="2" charset="-122"/>
                          <a:ea typeface="华文细黑" pitchFamily="2" charset="-122"/>
                        </a:rPr>
                        <a:t>GENEX Probe</a:t>
                      </a:r>
                      <a:r>
                        <a:rPr lang="zh-CN" altLang="en-US" sz="1100" dirty="0">
                          <a:latin typeface="华文细黑" pitchFamily="2" charset="-122"/>
                          <a:ea typeface="华文细黑" pitchFamily="2" charset="-122"/>
                        </a:rPr>
                        <a:t>主程序、</a:t>
                      </a:r>
                      <a:r>
                        <a:rPr lang="en-US" altLang="zh-CN" sz="1100" dirty="0">
                          <a:latin typeface="华文细黑" pitchFamily="2" charset="-122"/>
                          <a:ea typeface="华文细黑" pitchFamily="2" charset="-122"/>
                        </a:rPr>
                        <a:t>GENEX Shared</a:t>
                      </a:r>
                      <a:r>
                        <a:rPr lang="zh-CN" altLang="en-US" sz="1100" dirty="0">
                          <a:latin typeface="华文细黑" pitchFamily="2" charset="-122"/>
                          <a:ea typeface="华文细黑" pitchFamily="2" charset="-122"/>
                        </a:rPr>
                        <a:t>组件和一些设备驱动程序，提供无线空中接口数据测试平台，并且可以通过串口、</a:t>
                      </a:r>
                      <a:r>
                        <a:rPr lang="en-US" altLang="zh-CN" sz="1100" dirty="0">
                          <a:latin typeface="华文细黑" pitchFamily="2" charset="-122"/>
                          <a:ea typeface="华文细黑" pitchFamily="2" charset="-122"/>
                        </a:rPr>
                        <a:t>USB</a:t>
                      </a:r>
                      <a:r>
                        <a:rPr lang="zh-CN" altLang="en-US" sz="1100" dirty="0">
                          <a:latin typeface="华文细黑" pitchFamily="2" charset="-122"/>
                          <a:ea typeface="华文细黑" pitchFamily="2" charset="-122"/>
                        </a:rPr>
                        <a:t>接口、</a:t>
                      </a:r>
                      <a:r>
                        <a:rPr lang="en-US" altLang="zh-CN" sz="1100" dirty="0">
                          <a:latin typeface="华文细黑" pitchFamily="2" charset="-122"/>
                          <a:ea typeface="华文细黑" pitchFamily="2" charset="-122"/>
                        </a:rPr>
                        <a:t>IEEE 1394</a:t>
                      </a:r>
                      <a:r>
                        <a:rPr lang="zh-CN" altLang="en-US" sz="1100" dirty="0">
                          <a:latin typeface="华文细黑" pitchFamily="2" charset="-122"/>
                          <a:ea typeface="华文细黑" pitchFamily="2" charset="-122"/>
                        </a:rPr>
                        <a:t>接口或网口，和</a:t>
                      </a:r>
                      <a:r>
                        <a:rPr lang="en-US" altLang="zh-CN" sz="1100" dirty="0">
                          <a:latin typeface="华文细黑" pitchFamily="2" charset="-122"/>
                          <a:ea typeface="华文细黑" pitchFamily="2" charset="-122"/>
                        </a:rPr>
                        <a:t>GPS</a:t>
                      </a:r>
                      <a:r>
                        <a:rPr lang="zh-CN" altLang="en-US" sz="1100" dirty="0">
                          <a:latin typeface="华文细黑" pitchFamily="2" charset="-122"/>
                          <a:ea typeface="华文细黑" pitchFamily="2" charset="-122"/>
                        </a:rPr>
                        <a:t>、</a:t>
                      </a:r>
                      <a:r>
                        <a:rPr lang="en-US" altLang="zh-CN" sz="1100" dirty="0">
                          <a:latin typeface="华文细黑" pitchFamily="2" charset="-122"/>
                          <a:ea typeface="华文细黑" pitchFamily="2" charset="-122"/>
                        </a:rPr>
                        <a:t>Scanner</a:t>
                      </a:r>
                      <a:r>
                        <a:rPr lang="zh-CN" altLang="en-US" sz="1100" dirty="0">
                          <a:latin typeface="华文细黑" pitchFamily="2" charset="-122"/>
                          <a:ea typeface="华文细黑" pitchFamily="2" charset="-122"/>
                        </a:rPr>
                        <a:t>、测试终端、硬件狗相连。</a:t>
                      </a:r>
                    </a:p>
                  </a:txBody>
                  <a:tcPr marL="22505" marR="22505" marT="22505" marB="225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6489">
                <a:tc>
                  <a:txBody>
                    <a:bodyPr/>
                    <a:lstStyle/>
                    <a:p>
                      <a:pPr algn="ctr"/>
                      <a:r>
                        <a:rPr lang="zh-CN" altLang="en-US" sz="1100">
                          <a:latin typeface="华文细黑" pitchFamily="2" charset="-122"/>
                          <a:ea typeface="华文细黑" pitchFamily="2" charset="-122"/>
                        </a:rPr>
                        <a:t>硬件狗</a:t>
                      </a:r>
                    </a:p>
                  </a:txBody>
                  <a:tcPr marL="22505" marR="22505" marT="22505" marB="225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dirty="0">
                          <a:latin typeface="华文细黑" pitchFamily="2" charset="-122"/>
                          <a:ea typeface="华文细黑" pitchFamily="2" charset="-122"/>
                        </a:rPr>
                        <a:t>包含</a:t>
                      </a:r>
                      <a:r>
                        <a:rPr lang="en-US" sz="1100" dirty="0">
                          <a:latin typeface="华文细黑" pitchFamily="2" charset="-122"/>
                          <a:ea typeface="华文细黑" pitchFamily="2" charset="-122"/>
                        </a:rPr>
                        <a:t>License</a:t>
                      </a:r>
                      <a:r>
                        <a:rPr lang="zh-CN" altLang="en-US" sz="1100" dirty="0">
                          <a:latin typeface="华文细黑" pitchFamily="2" charset="-122"/>
                          <a:ea typeface="华文细黑" pitchFamily="2" charset="-122"/>
                        </a:rPr>
                        <a:t>信息的硬件设备。用于控制</a:t>
                      </a:r>
                      <a:r>
                        <a:rPr lang="en-US" sz="1100" dirty="0">
                          <a:latin typeface="华文细黑" pitchFamily="2" charset="-122"/>
                          <a:ea typeface="华文细黑" pitchFamily="2" charset="-122"/>
                        </a:rPr>
                        <a:t>Probe</a:t>
                      </a:r>
                      <a:r>
                        <a:rPr lang="zh-CN" altLang="en-US" sz="1100" dirty="0">
                          <a:latin typeface="华文细黑" pitchFamily="2" charset="-122"/>
                          <a:ea typeface="华文细黑" pitchFamily="2" charset="-122"/>
                        </a:rPr>
                        <a:t>的使用权限。</a:t>
                      </a:r>
                    </a:p>
                  </a:txBody>
                  <a:tcPr marL="22505" marR="22505" marT="22505" marB="225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07049">
                <a:tc>
                  <a:txBody>
                    <a:bodyPr/>
                    <a:lstStyle/>
                    <a:p>
                      <a:pPr algn="ctr"/>
                      <a:r>
                        <a:rPr lang="en-US" sz="1100">
                          <a:latin typeface="华文细黑" pitchFamily="2" charset="-122"/>
                          <a:ea typeface="华文细黑" pitchFamily="2" charset="-122"/>
                        </a:rPr>
                        <a:t>GPS</a:t>
                      </a:r>
                    </a:p>
                  </a:txBody>
                  <a:tcPr marL="22505" marR="22505" marT="22505" marB="225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dirty="0">
                          <a:latin typeface="华文细黑" pitchFamily="2" charset="-122"/>
                          <a:ea typeface="华文细黑" pitchFamily="2" charset="-122"/>
                        </a:rPr>
                        <a:t>用于室外测试时记录测试轨迹。</a:t>
                      </a:r>
                    </a:p>
                  </a:txBody>
                  <a:tcPr marL="22505" marR="22505" marT="22505" marB="225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83698">
                <a:tc>
                  <a:txBody>
                    <a:bodyPr/>
                    <a:lstStyle/>
                    <a:p>
                      <a:pPr algn="ctr"/>
                      <a:r>
                        <a:rPr lang="en-US" sz="1100">
                          <a:latin typeface="华文细黑" pitchFamily="2" charset="-122"/>
                          <a:ea typeface="华文细黑" pitchFamily="2" charset="-122"/>
                        </a:rPr>
                        <a:t>Scanner</a:t>
                      </a:r>
                    </a:p>
                  </a:txBody>
                  <a:tcPr marL="22505" marR="22505" marT="22505" marB="225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dirty="0">
                          <a:latin typeface="华文细黑" pitchFamily="2" charset="-122"/>
                          <a:ea typeface="华文细黑" pitchFamily="2" charset="-122"/>
                        </a:rPr>
                        <a:t>扫频仪。详细记录空中接口数据的频谱状况，可以将频谱状况输入计算机进行观测。</a:t>
                      </a:r>
                    </a:p>
                  </a:txBody>
                  <a:tcPr marL="22505" marR="22505" marT="22505" marB="225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246491">
                <a:tc>
                  <a:txBody>
                    <a:bodyPr/>
                    <a:lstStyle/>
                    <a:p>
                      <a:pPr algn="ctr"/>
                      <a:r>
                        <a:rPr lang="zh-CN" altLang="en-US" sz="1100" dirty="0">
                          <a:latin typeface="华文细黑" pitchFamily="2" charset="-122"/>
                          <a:ea typeface="华文细黑" pitchFamily="2" charset="-122"/>
                        </a:rPr>
                        <a:t>测试终端</a:t>
                      </a:r>
                    </a:p>
                  </a:txBody>
                  <a:tcPr marL="22505" marR="22505" marT="22505" marB="225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zh-CN" altLang="en-US" sz="1100" dirty="0">
                          <a:latin typeface="华文细黑" pitchFamily="2" charset="-122"/>
                          <a:ea typeface="华文细黑" pitchFamily="2" charset="-122"/>
                        </a:rPr>
                        <a:t>测试手机或数据卡。</a:t>
                      </a:r>
                    </a:p>
                  </a:txBody>
                  <a:tcPr marL="22505" marR="22505" marT="22505" marB="2250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40634979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t>注意</a:t>
            </a:r>
          </a:p>
          <a:p>
            <a:pPr lvl="1" eaLnBrk="1" hangingPunct="1"/>
            <a:r>
              <a:rPr lang="zh-CN" altLang="en-US" smtClean="0"/>
              <a:t>通常，测试终端连接上笔记本电脑后，驱动程序会自动安装。否则将要手动安装驱动。</a:t>
            </a:r>
            <a:endParaRPr lang="en-US" altLang="zh-CN" smtClean="0"/>
          </a:p>
        </p:txBody>
      </p:sp>
      <p:sp>
        <p:nvSpPr>
          <p:cNvPr id="123907" name="Slide Image Placeholder 9"/>
          <p:cNvSpPr>
            <a:spLocks noGrp="1" noRot="1" noChangeAspect="1" noTextEdit="1"/>
          </p:cNvSpPr>
          <p:nvPr>
            <p:ph type="sldImg"/>
          </p:nvPr>
        </p:nvSpPr>
        <p:spPr bwMode="auto">
          <a:noFill/>
          <a:ln>
            <a:solidFill>
              <a:srgbClr val="000000"/>
            </a:solidFill>
            <a:miter lim="800000"/>
            <a:headEnd/>
            <a:tailEnd/>
          </a:ln>
        </p:spPr>
      </p:sp>
      <p:sp>
        <p:nvSpPr>
          <p:cNvPr id="123908"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23909"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23910"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11759344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Slide Image Placeholder 1"/>
          <p:cNvSpPr>
            <a:spLocks noGrp="1" noRot="1" noChangeAspect="1" noTextEdit="1"/>
          </p:cNvSpPr>
          <p:nvPr>
            <p:ph type="sldImg"/>
          </p:nvPr>
        </p:nvSpPr>
        <p:spPr bwMode="auto">
          <a:noFill/>
          <a:ln>
            <a:solidFill>
              <a:srgbClr val="000000"/>
            </a:solidFill>
            <a:miter lim="800000"/>
            <a:headEnd/>
            <a:tailEnd/>
          </a:ln>
        </p:spPr>
      </p:sp>
      <p:sp>
        <p:nvSpPr>
          <p:cNvPr id="1105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t>扫描传播环境</a:t>
            </a:r>
          </a:p>
          <a:p>
            <a:pPr lvl="1" eaLnBrk="1" hangingPunct="1"/>
            <a:r>
              <a:rPr lang="zh-CN" altLang="en-US" smtClean="0"/>
              <a:t>网络规划时，</a:t>
            </a:r>
            <a:r>
              <a:rPr lang="en-US" altLang="zh-CN" smtClean="0"/>
              <a:t>Probe</a:t>
            </a:r>
            <a:r>
              <a:rPr lang="zh-CN" altLang="en-US" smtClean="0"/>
              <a:t>可以使用</a:t>
            </a:r>
            <a:r>
              <a:rPr lang="en-US" altLang="zh-CN" smtClean="0"/>
              <a:t>scanner</a:t>
            </a:r>
            <a:r>
              <a:rPr lang="zh-CN" altLang="en-US" smtClean="0"/>
              <a:t>进行连续波（</a:t>
            </a:r>
            <a:r>
              <a:rPr lang="en-US" altLang="zh-CN" smtClean="0"/>
              <a:t>CW</a:t>
            </a:r>
            <a:r>
              <a:rPr lang="zh-CN" altLang="en-US" smtClean="0"/>
              <a:t>）测试，以获得典型环境下无线信号的测试数据。此数据用于校准传播模型并指导网络规划。</a:t>
            </a:r>
          </a:p>
          <a:p>
            <a:pPr eaLnBrk="1" hangingPunct="1"/>
            <a:r>
              <a:rPr lang="zh-CN" altLang="en-US" smtClean="0"/>
              <a:t>执行测试和评估</a:t>
            </a:r>
          </a:p>
          <a:p>
            <a:pPr lvl="1" eaLnBrk="1" hangingPunct="1"/>
            <a:r>
              <a:rPr lang="zh-CN" altLang="en-US" smtClean="0"/>
              <a:t>在网络建设和扩容时，可以通过</a:t>
            </a:r>
            <a:r>
              <a:rPr lang="en-US" altLang="zh-CN" smtClean="0"/>
              <a:t>Probe</a:t>
            </a:r>
            <a:r>
              <a:rPr lang="zh-CN" altLang="en-US" smtClean="0"/>
              <a:t>评估网络性能。评估结果用于调整和优化网络参数。</a:t>
            </a:r>
            <a:endParaRPr lang="en-US" altLang="zh-CN" smtClean="0"/>
          </a:p>
          <a:p>
            <a:pPr eaLnBrk="1" hangingPunct="1"/>
            <a:r>
              <a:rPr lang="zh-CN" altLang="en-US" smtClean="0"/>
              <a:t>网络问题定位</a:t>
            </a:r>
          </a:p>
          <a:p>
            <a:pPr lvl="1" eaLnBrk="1" hangingPunct="1"/>
            <a:r>
              <a:rPr lang="zh-CN" altLang="en-US" smtClean="0"/>
              <a:t>在网络维护或优化时，可以通过</a:t>
            </a:r>
            <a:r>
              <a:rPr lang="en-US" altLang="zh-CN" smtClean="0"/>
              <a:t>Probe</a:t>
            </a:r>
            <a:r>
              <a:rPr lang="zh-CN" altLang="en-US" smtClean="0"/>
              <a:t>的回放功能重现测试过程。通过</a:t>
            </a:r>
            <a:r>
              <a:rPr lang="en-US" altLang="zh-CN" smtClean="0"/>
              <a:t>Probe</a:t>
            </a:r>
            <a:r>
              <a:rPr lang="zh-CN" altLang="en-US" smtClean="0"/>
              <a:t>的回放功能和后台数据分析软件（如</a:t>
            </a:r>
            <a:r>
              <a:rPr lang="en-US" altLang="zh-CN" smtClean="0"/>
              <a:t>GENEX Assistant</a:t>
            </a:r>
            <a:r>
              <a:rPr lang="zh-CN" altLang="en-US" smtClean="0"/>
              <a:t> ）可以快速定位网络问题。</a:t>
            </a:r>
            <a:endParaRPr lang="en-US" altLang="zh-CN" smtClean="0"/>
          </a:p>
        </p:txBody>
      </p:sp>
      <p:sp>
        <p:nvSpPr>
          <p:cNvPr id="110596"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10597"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10598"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27176519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headEnd/>
            <a:tailEnd/>
          </a:ln>
        </p:spPr>
      </p:sp>
      <p:sp>
        <p:nvSpPr>
          <p:cNvPr id="114691" name="备注占位符 2"/>
          <p:cNvSpPr>
            <a:spLocks noGrp="1"/>
          </p:cNvSpPr>
          <p:nvPr>
            <p:ph type="body" idx="1"/>
          </p:nvPr>
        </p:nvSpPr>
        <p:spPr bwMode="auto">
          <a:noFill/>
        </p:spPr>
        <p:txBody>
          <a:bodyPr wrap="square" numCol="1" anchor="t" anchorCtr="0" compatLnSpc="1">
            <a:prstTxWarp prst="textNoShape">
              <a:avLst/>
            </a:prstTxWarp>
          </a:bodyPr>
          <a:lstStyle/>
          <a:p>
            <a:r>
              <a:rPr lang="zh-CN" altLang="en-US" smtClean="0"/>
              <a:t>两种工作模式是相互排斥的：</a:t>
            </a:r>
          </a:p>
          <a:p>
            <a:pPr lvl="1"/>
            <a:r>
              <a:rPr lang="zh-CN" altLang="en-US" smtClean="0"/>
              <a:t>当系统处于实测模式时，若切换为回放模式，则必须在打开</a:t>
            </a:r>
            <a:r>
              <a:rPr lang="en-US" altLang="zh-CN" smtClean="0"/>
              <a:t>Logfile</a:t>
            </a:r>
            <a:r>
              <a:rPr lang="zh-CN" altLang="en-US" smtClean="0"/>
              <a:t>之前，停止测试。 </a:t>
            </a:r>
          </a:p>
          <a:p>
            <a:pPr lvl="1"/>
            <a:r>
              <a:rPr lang="zh-CN" altLang="en-US" smtClean="0"/>
              <a:t>当系统处于回放模式时，若切换为实测模式，则必须在连接外部设备之前，停止回放，并关闭</a:t>
            </a:r>
            <a:r>
              <a:rPr lang="en-US" altLang="zh-CN" smtClean="0"/>
              <a:t>Logfile</a:t>
            </a:r>
            <a:r>
              <a:rPr lang="zh-CN" altLang="en-US" smtClean="0"/>
              <a:t>。</a:t>
            </a:r>
          </a:p>
          <a:p>
            <a:endParaRPr lang="zh-CN" altLang="en-US" smtClean="0"/>
          </a:p>
        </p:txBody>
      </p:sp>
      <p:sp>
        <p:nvSpPr>
          <p:cNvPr id="114692" name="页眉占位符 3"/>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
        <p:nvSpPr>
          <p:cNvPr id="114693" name="页脚占位符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Tree>
    <p:extLst>
      <p:ext uri="{BB962C8B-B14F-4D97-AF65-F5344CB8AC3E}">
        <p14:creationId xmlns:p14="http://schemas.microsoft.com/office/powerpoint/2010/main" val="37241577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bwMode="auto">
          <a:noFill/>
          <a:ln>
            <a:solidFill>
              <a:srgbClr val="000000"/>
            </a:solidFill>
            <a:miter lim="800000"/>
            <a:headEnd/>
            <a:tailEnd/>
          </a:ln>
        </p:spPr>
      </p:sp>
      <p:sp>
        <p:nvSpPr>
          <p:cNvPr id="11673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buFont typeface="Wingdings" pitchFamily="2" charset="2"/>
              <a:buNone/>
            </a:pPr>
            <a:endParaRPr lang="zh-CN" altLang="en-US" smtClean="0"/>
          </a:p>
        </p:txBody>
      </p:sp>
      <p:sp>
        <p:nvSpPr>
          <p:cNvPr id="116740"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16741"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16742"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29369924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smtClean="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35</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8650939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pPr marL="228600" indent="-228600">
              <a:buSzPct val="110000"/>
              <a:buFont typeface="+mj-lt"/>
              <a:buAutoNum type="arabicPeriod"/>
            </a:pPr>
            <a:r>
              <a:rPr lang="zh-CN" altLang="en-US" dirty="0" smtClean="0"/>
              <a:t>获取</a:t>
            </a:r>
            <a:r>
              <a:rPr lang="en-US" altLang="zh-CN" dirty="0" smtClean="0"/>
              <a:t>GENEX Probe V300R005</a:t>
            </a:r>
            <a:r>
              <a:rPr lang="zh-CN" altLang="en-US" dirty="0" smtClean="0"/>
              <a:t>软件安装包。 </a:t>
            </a:r>
            <a:endParaRPr lang="en-US" altLang="zh-CN" dirty="0" smtClean="0"/>
          </a:p>
          <a:p>
            <a:pPr marL="228600" indent="-228600">
              <a:buSzPct val="110000"/>
              <a:buFont typeface="+mj-lt"/>
              <a:buAutoNum type="arabicPeriod"/>
            </a:pPr>
            <a:r>
              <a:rPr lang="zh-CN" altLang="en-US" dirty="0" smtClean="0"/>
              <a:t>双击</a:t>
            </a:r>
            <a:r>
              <a:rPr lang="en-US" altLang="zh-CN" dirty="0" smtClean="0"/>
              <a:t>Setup.exe</a:t>
            </a:r>
            <a:r>
              <a:rPr lang="zh-CN" altLang="en-US" dirty="0" smtClean="0"/>
              <a:t>，启动安装界面。 </a:t>
            </a:r>
          </a:p>
          <a:p>
            <a:pPr marL="228600" indent="-228600">
              <a:buSzPct val="110000"/>
              <a:buFont typeface="+mj-lt"/>
              <a:buAutoNum type="arabicPeriod"/>
            </a:pPr>
            <a:r>
              <a:rPr lang="zh-CN" altLang="en-US" dirty="0" smtClean="0"/>
              <a:t>当系统弹出“</a:t>
            </a:r>
            <a:r>
              <a:rPr lang="en-US" altLang="zh-CN" dirty="0" smtClean="0"/>
              <a:t>You are installing the Probe as a non-administrator user. The Probe may be uninstalled improperly because of insufficient rights. Are you sure you want to continue?”</a:t>
            </a:r>
            <a:r>
              <a:rPr lang="zh-CN" altLang="en-US" dirty="0" smtClean="0"/>
              <a:t>时，请单击“</a:t>
            </a:r>
            <a:r>
              <a:rPr lang="en-US" altLang="zh-CN" dirty="0" smtClean="0"/>
              <a:t>YES”</a:t>
            </a:r>
            <a:r>
              <a:rPr lang="zh-CN" altLang="en-US" dirty="0" smtClean="0"/>
              <a:t>。 如果退出安装，请单击“</a:t>
            </a:r>
            <a:r>
              <a:rPr lang="en-US" altLang="zh-CN" dirty="0" smtClean="0"/>
              <a:t>NO”</a:t>
            </a:r>
            <a:r>
              <a:rPr lang="zh-CN" altLang="en-US" dirty="0" smtClean="0"/>
              <a:t>。</a:t>
            </a:r>
          </a:p>
          <a:p>
            <a:pPr marL="228600" indent="-228600">
              <a:buSzPct val="110000"/>
              <a:buFont typeface="+mj-lt"/>
              <a:buAutoNum type="arabicPeriod"/>
            </a:pPr>
            <a:r>
              <a:rPr lang="zh-CN" altLang="en-US" dirty="0" smtClean="0"/>
              <a:t>单击“</a:t>
            </a:r>
            <a:r>
              <a:rPr lang="en-US" altLang="zh-CN" dirty="0" smtClean="0"/>
              <a:t>Next”</a:t>
            </a:r>
            <a:r>
              <a:rPr lang="zh-CN" altLang="en-US" dirty="0" smtClean="0"/>
              <a:t>。 </a:t>
            </a:r>
          </a:p>
          <a:p>
            <a:pPr marL="228600" indent="-228600">
              <a:buSzPct val="110000"/>
              <a:buFont typeface="+mj-lt"/>
              <a:buAutoNum type="arabicPeriod"/>
            </a:pPr>
            <a:r>
              <a:rPr lang="zh-CN" altLang="en-US" dirty="0" smtClean="0"/>
              <a:t>在协议确认对话框中，选择“</a:t>
            </a:r>
            <a:r>
              <a:rPr lang="en-US" altLang="zh-CN" dirty="0" smtClean="0"/>
              <a:t>I accept the terms of the license agreement”</a:t>
            </a:r>
            <a:r>
              <a:rPr lang="zh-CN" altLang="en-US" dirty="0" smtClean="0"/>
              <a:t>。 </a:t>
            </a:r>
          </a:p>
          <a:p>
            <a:pPr marL="228600" indent="-228600">
              <a:buSzPct val="110000"/>
              <a:buFont typeface="+mj-lt"/>
              <a:buAutoNum type="arabicPeriod"/>
            </a:pPr>
            <a:r>
              <a:rPr lang="zh-CN" altLang="en-US" dirty="0" smtClean="0"/>
              <a:t>单击“</a:t>
            </a:r>
            <a:r>
              <a:rPr lang="en-US" altLang="zh-CN" dirty="0" smtClean="0"/>
              <a:t>Next”</a:t>
            </a:r>
            <a:r>
              <a:rPr lang="zh-CN" altLang="en-US" dirty="0" smtClean="0"/>
              <a:t>。 </a:t>
            </a:r>
            <a:endParaRPr lang="en-US" altLang="zh-CN" dirty="0" smtClean="0"/>
          </a:p>
          <a:p>
            <a:pPr marL="228600" indent="-228600">
              <a:buSzPct val="110000"/>
              <a:buFont typeface="+mj-lt"/>
              <a:buAutoNum type="arabicPeriod"/>
            </a:pPr>
            <a:r>
              <a:rPr lang="zh-CN" altLang="en-US" dirty="0" smtClean="0"/>
              <a:t>在弹出的对话框中，输入</a:t>
            </a:r>
            <a:r>
              <a:rPr lang="en-US" altLang="zh-CN" b="1" dirty="0" smtClean="0"/>
              <a:t>User Name</a:t>
            </a:r>
            <a:r>
              <a:rPr lang="zh-CN" altLang="en-US" dirty="0" smtClean="0"/>
              <a:t>和</a:t>
            </a:r>
            <a:r>
              <a:rPr lang="en-US" altLang="zh-CN" b="1" dirty="0" smtClean="0"/>
              <a:t>Company Name</a:t>
            </a:r>
            <a:r>
              <a:rPr lang="zh-CN" altLang="en-US" dirty="0" smtClean="0"/>
              <a:t>。 </a:t>
            </a:r>
            <a:endParaRPr lang="en-US" altLang="zh-CN" dirty="0" smtClean="0"/>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单击“</a:t>
            </a:r>
            <a:r>
              <a:rPr lang="en-US" altLang="zh-CN" sz="1100" kern="1200" dirty="0" smtClean="0">
                <a:solidFill>
                  <a:schemeClr val="tx1"/>
                </a:solidFill>
                <a:latin typeface="FrutigerNext LT Regular" pitchFamily="34" charset="0"/>
                <a:ea typeface="华文细黑" pitchFamily="2" charset="-122"/>
                <a:cs typeface="+mn-cs"/>
              </a:rPr>
              <a:t>Next”</a:t>
            </a:r>
            <a:r>
              <a:rPr lang="zh-CN" altLang="en-US" sz="1100" kern="1200" dirty="0" smtClean="0">
                <a:solidFill>
                  <a:schemeClr val="tx1"/>
                </a:solidFill>
                <a:latin typeface="FrutigerNext LT Regular" pitchFamily="34" charset="0"/>
                <a:ea typeface="华文细黑" pitchFamily="2" charset="-122"/>
                <a:cs typeface="+mn-cs"/>
              </a:rPr>
              <a:t>。 </a:t>
            </a:r>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选择安装方式。 </a:t>
            </a:r>
          </a:p>
          <a:p>
            <a:pPr lvl="1">
              <a:buSzPct val="110000"/>
            </a:pPr>
            <a:r>
              <a:rPr lang="zh-CN" altLang="en-US" dirty="0" smtClean="0"/>
              <a:t>“</a:t>
            </a:r>
            <a:r>
              <a:rPr lang="en-US" altLang="zh-CN" dirty="0" smtClean="0"/>
              <a:t>Complete”</a:t>
            </a:r>
            <a:r>
              <a:rPr lang="zh-CN" altLang="en-US" dirty="0" smtClean="0"/>
              <a:t>：同时安装</a:t>
            </a:r>
            <a:r>
              <a:rPr lang="en-US" altLang="zh-CN" dirty="0" smtClean="0"/>
              <a:t>Probe</a:t>
            </a:r>
            <a:r>
              <a:rPr lang="zh-CN" altLang="en-US" dirty="0" smtClean="0"/>
              <a:t>、</a:t>
            </a:r>
            <a:r>
              <a:rPr lang="en-US" altLang="zh-CN" dirty="0" smtClean="0"/>
              <a:t>PSTN</a:t>
            </a:r>
            <a:r>
              <a:rPr lang="zh-CN" altLang="en-US" dirty="0" smtClean="0"/>
              <a:t>和</a:t>
            </a:r>
            <a:r>
              <a:rPr lang="en-US" altLang="zh-CN" dirty="0" smtClean="0"/>
              <a:t>Shared</a:t>
            </a:r>
            <a:r>
              <a:rPr lang="zh-CN" altLang="en-US" dirty="0" smtClean="0"/>
              <a:t>。 </a:t>
            </a:r>
          </a:p>
          <a:p>
            <a:pPr lvl="1">
              <a:buSzPct val="110000"/>
            </a:pPr>
            <a:r>
              <a:rPr lang="zh-CN" altLang="en-US" dirty="0" smtClean="0"/>
              <a:t>“</a:t>
            </a:r>
            <a:r>
              <a:rPr lang="en-US" altLang="zh-CN" dirty="0" smtClean="0"/>
              <a:t>Custom”</a:t>
            </a:r>
            <a:r>
              <a:rPr lang="zh-CN" altLang="en-US" dirty="0" smtClean="0"/>
              <a:t>：自定义安装。默认安装</a:t>
            </a:r>
            <a:r>
              <a:rPr lang="en-US" altLang="zh-CN" dirty="0" smtClean="0"/>
              <a:t>Probe</a:t>
            </a:r>
            <a:r>
              <a:rPr lang="zh-CN" altLang="en-US" dirty="0" smtClean="0"/>
              <a:t>和</a:t>
            </a:r>
            <a:r>
              <a:rPr lang="en-US" altLang="zh-CN" dirty="0" smtClean="0"/>
              <a:t>Shared</a:t>
            </a:r>
            <a:r>
              <a:rPr lang="zh-CN" altLang="en-US" dirty="0" smtClean="0"/>
              <a:t>，您可以选择是否安装</a:t>
            </a:r>
            <a:r>
              <a:rPr lang="en-US" altLang="zh-CN" dirty="0" smtClean="0"/>
              <a:t>PSTN</a:t>
            </a:r>
            <a:r>
              <a:rPr lang="zh-CN" altLang="en-US" dirty="0" smtClean="0"/>
              <a:t>。</a:t>
            </a:r>
            <a:endParaRPr lang="en-US" altLang="zh-CN" dirty="0" smtClean="0"/>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单击“</a:t>
            </a:r>
            <a:r>
              <a:rPr lang="en-US" altLang="zh-CN" sz="1100" kern="1200" dirty="0" smtClean="0">
                <a:solidFill>
                  <a:schemeClr val="tx1"/>
                </a:solidFill>
                <a:latin typeface="FrutigerNext LT Regular" pitchFamily="34" charset="0"/>
                <a:ea typeface="华文细黑" pitchFamily="2" charset="-122"/>
                <a:cs typeface="+mn-cs"/>
              </a:rPr>
              <a:t>Browse”</a:t>
            </a:r>
            <a:r>
              <a:rPr lang="zh-CN" altLang="en-US" sz="1100" kern="1200" dirty="0" smtClean="0">
                <a:solidFill>
                  <a:schemeClr val="tx1"/>
                </a:solidFill>
                <a:latin typeface="FrutigerNext LT Regular" pitchFamily="34" charset="0"/>
                <a:ea typeface="华文细黑" pitchFamily="2" charset="-122"/>
                <a:cs typeface="+mn-cs"/>
              </a:rPr>
              <a:t>，设置安装路径。 </a:t>
            </a:r>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单击“</a:t>
            </a:r>
            <a:r>
              <a:rPr lang="en-US" altLang="zh-CN" sz="1100" kern="1200" dirty="0" smtClean="0">
                <a:solidFill>
                  <a:schemeClr val="tx1"/>
                </a:solidFill>
                <a:latin typeface="FrutigerNext LT Regular" pitchFamily="34" charset="0"/>
                <a:ea typeface="华文细黑" pitchFamily="2" charset="-122"/>
                <a:cs typeface="+mn-cs"/>
              </a:rPr>
              <a:t>Next”</a:t>
            </a:r>
            <a:r>
              <a:rPr lang="zh-CN" altLang="en-US" sz="1100" kern="1200" dirty="0" smtClean="0">
                <a:solidFill>
                  <a:schemeClr val="tx1"/>
                </a:solidFill>
                <a:latin typeface="FrutigerNext LT Regular" pitchFamily="34" charset="0"/>
                <a:ea typeface="华文细黑" pitchFamily="2" charset="-122"/>
                <a:cs typeface="+mn-cs"/>
              </a:rPr>
              <a:t>，弹出提示信息，单击“确定”。 </a:t>
            </a:r>
            <a:endParaRPr lang="en-US" altLang="zh-CN" sz="1100" kern="1200" dirty="0" smtClean="0">
              <a:solidFill>
                <a:schemeClr val="tx1"/>
              </a:solidFill>
              <a:latin typeface="FrutigerNext LT Regular" pitchFamily="34" charset="0"/>
              <a:ea typeface="华文细黑" pitchFamily="2" charset="-122"/>
              <a:cs typeface="+mn-cs"/>
            </a:endParaRPr>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按照界面提示安装完成后，您可以选择“</a:t>
            </a:r>
            <a:r>
              <a:rPr lang="en-US" altLang="zh-CN" sz="1100" kern="1200" dirty="0" smtClean="0">
                <a:solidFill>
                  <a:schemeClr val="tx1"/>
                </a:solidFill>
                <a:latin typeface="FrutigerNext LT Regular" pitchFamily="34" charset="0"/>
                <a:ea typeface="华文细黑" pitchFamily="2" charset="-122"/>
                <a:cs typeface="+mn-cs"/>
              </a:rPr>
              <a:t>Yes, I want to restart my computer now”</a:t>
            </a:r>
            <a:r>
              <a:rPr lang="zh-CN" altLang="en-US" sz="1100" kern="1200" dirty="0" smtClean="0">
                <a:solidFill>
                  <a:schemeClr val="tx1"/>
                </a:solidFill>
                <a:latin typeface="FrutigerNext LT Regular" pitchFamily="34" charset="0"/>
                <a:ea typeface="华文细黑" pitchFamily="2" charset="-122"/>
                <a:cs typeface="+mn-cs"/>
              </a:rPr>
              <a:t>或“</a:t>
            </a:r>
            <a:r>
              <a:rPr lang="en-US" altLang="zh-CN" sz="1100" kern="1200" dirty="0" smtClean="0">
                <a:solidFill>
                  <a:schemeClr val="tx1"/>
                </a:solidFill>
                <a:latin typeface="FrutigerNext LT Regular" pitchFamily="34" charset="0"/>
                <a:ea typeface="华文细黑" pitchFamily="2" charset="-122"/>
                <a:cs typeface="+mn-cs"/>
              </a:rPr>
              <a:t>No, I will restart my computer later”</a:t>
            </a:r>
            <a:r>
              <a:rPr lang="zh-CN" altLang="en-US" sz="1100" kern="1200" dirty="0" smtClean="0">
                <a:solidFill>
                  <a:schemeClr val="tx1"/>
                </a:solidFill>
                <a:latin typeface="FrutigerNext LT Regular" pitchFamily="34" charset="0"/>
                <a:ea typeface="华文细黑" pitchFamily="2" charset="-122"/>
                <a:cs typeface="+mn-cs"/>
              </a:rPr>
              <a:t>，单击“</a:t>
            </a:r>
            <a:r>
              <a:rPr lang="en-US" altLang="zh-CN" sz="1100" kern="1200" dirty="0" smtClean="0">
                <a:solidFill>
                  <a:schemeClr val="tx1"/>
                </a:solidFill>
                <a:latin typeface="FrutigerNext LT Regular" pitchFamily="34" charset="0"/>
                <a:ea typeface="华文细黑" pitchFamily="2" charset="-122"/>
                <a:cs typeface="+mn-cs"/>
              </a:rPr>
              <a:t>Finish”</a:t>
            </a:r>
            <a:r>
              <a:rPr lang="zh-CN" altLang="en-US" sz="1100" kern="1200" dirty="0" smtClean="0">
                <a:solidFill>
                  <a:schemeClr val="tx1"/>
                </a:solidFill>
                <a:latin typeface="FrutigerNext LT Regular" pitchFamily="34" charset="0"/>
                <a:ea typeface="华文细黑" pitchFamily="2" charset="-122"/>
                <a:cs typeface="+mn-cs"/>
              </a:rPr>
              <a:t>。 </a:t>
            </a:r>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建议选择“</a:t>
            </a:r>
            <a:r>
              <a:rPr lang="en-US" altLang="zh-CN" sz="1100" kern="1200" dirty="0" smtClean="0">
                <a:solidFill>
                  <a:schemeClr val="tx1"/>
                </a:solidFill>
                <a:latin typeface="FrutigerNext LT Regular" pitchFamily="34" charset="0"/>
                <a:ea typeface="华文细黑" pitchFamily="2" charset="-122"/>
                <a:cs typeface="+mn-cs"/>
              </a:rPr>
              <a:t>Yes, I want to restart my computer now”</a:t>
            </a:r>
            <a:r>
              <a:rPr lang="zh-CN" altLang="en-US" sz="1100" kern="1200" dirty="0" smtClean="0">
                <a:solidFill>
                  <a:schemeClr val="tx1"/>
                </a:solidFill>
                <a:latin typeface="FrutigerNext LT Regular" pitchFamily="34" charset="0"/>
                <a:ea typeface="华文细黑" pitchFamily="2" charset="-122"/>
                <a:cs typeface="+mn-cs"/>
              </a:rPr>
              <a:t>。</a:t>
            </a:r>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检查</a:t>
            </a:r>
            <a:r>
              <a:rPr lang="en-US" altLang="zh-CN" sz="1100" kern="1200" dirty="0" smtClean="0">
                <a:solidFill>
                  <a:schemeClr val="tx1"/>
                </a:solidFill>
                <a:latin typeface="FrutigerNext LT Regular" pitchFamily="34" charset="0"/>
                <a:ea typeface="华文细黑" pitchFamily="2" charset="-122"/>
                <a:cs typeface="+mn-cs"/>
              </a:rPr>
              <a:t>Probe</a:t>
            </a:r>
            <a:r>
              <a:rPr lang="zh-CN" altLang="en-US" sz="1100" kern="1200" dirty="0" smtClean="0">
                <a:solidFill>
                  <a:schemeClr val="tx1"/>
                </a:solidFill>
                <a:latin typeface="FrutigerNext LT Regular" pitchFamily="34" charset="0"/>
                <a:ea typeface="华文细黑" pitchFamily="2" charset="-122"/>
                <a:cs typeface="+mn-cs"/>
              </a:rPr>
              <a:t>是否安装成功。 </a:t>
            </a:r>
          </a:p>
          <a:p>
            <a:pPr marL="228600" indent="-228600" algn="l" rtl="0" fontAlgn="base">
              <a:lnSpc>
                <a:spcPct val="125000"/>
              </a:lnSpc>
              <a:spcBef>
                <a:spcPct val="0"/>
              </a:spcBef>
              <a:spcAft>
                <a:spcPts val="300"/>
              </a:spcAft>
              <a:buSzPct val="110000"/>
              <a:buFont typeface="+mj-lt"/>
              <a:buAutoNum type="arabicPeriod"/>
            </a:pPr>
            <a:r>
              <a:rPr lang="zh-CN" altLang="en-US" sz="1100" kern="1200" dirty="0" smtClean="0">
                <a:solidFill>
                  <a:schemeClr val="tx1"/>
                </a:solidFill>
                <a:latin typeface="FrutigerNext LT Regular" pitchFamily="34" charset="0"/>
                <a:ea typeface="华文细黑" pitchFamily="2" charset="-122"/>
                <a:cs typeface="+mn-cs"/>
              </a:rPr>
              <a:t>选择“开始 </a:t>
            </a:r>
            <a:r>
              <a:rPr lang="en-US" altLang="zh-CN" sz="1100" kern="1200" dirty="0" smtClean="0">
                <a:solidFill>
                  <a:schemeClr val="tx1"/>
                </a:solidFill>
                <a:latin typeface="FrutigerNext LT Regular" pitchFamily="34" charset="0"/>
                <a:ea typeface="华文细黑" pitchFamily="2" charset="-122"/>
                <a:cs typeface="+mn-cs"/>
              </a:rPr>
              <a:t>&gt; </a:t>
            </a:r>
            <a:r>
              <a:rPr lang="zh-CN" altLang="en-US" sz="1100" kern="1200" dirty="0" smtClean="0">
                <a:solidFill>
                  <a:schemeClr val="tx1"/>
                </a:solidFill>
                <a:latin typeface="FrutigerNext LT Regular" pitchFamily="34" charset="0"/>
                <a:ea typeface="华文细黑" pitchFamily="2" charset="-122"/>
                <a:cs typeface="+mn-cs"/>
              </a:rPr>
              <a:t>所有程序 </a:t>
            </a:r>
            <a:r>
              <a:rPr lang="en-US" altLang="zh-CN" sz="1100" kern="1200" dirty="0" smtClean="0">
                <a:solidFill>
                  <a:schemeClr val="tx1"/>
                </a:solidFill>
                <a:latin typeface="FrutigerNext LT Regular" pitchFamily="34" charset="0"/>
                <a:ea typeface="华文细黑" pitchFamily="2" charset="-122"/>
                <a:cs typeface="+mn-cs"/>
              </a:rPr>
              <a:t>&gt; GENEX Drive Test Solution &gt; GENEX Probe 3.5 &gt; Probe”</a:t>
            </a:r>
            <a:r>
              <a:rPr lang="zh-CN" altLang="en-US" sz="1100" kern="1200" dirty="0" smtClean="0">
                <a:solidFill>
                  <a:schemeClr val="tx1"/>
                </a:solidFill>
                <a:latin typeface="FrutigerNext LT Regular" pitchFamily="34" charset="0"/>
                <a:ea typeface="华文细黑" pitchFamily="2" charset="-122"/>
                <a:cs typeface="+mn-cs"/>
              </a:rPr>
              <a:t>菜单，查看是否存在</a:t>
            </a:r>
            <a:r>
              <a:rPr lang="en-US" altLang="zh-CN" sz="1100" kern="1200" dirty="0" smtClean="0">
                <a:solidFill>
                  <a:schemeClr val="tx1"/>
                </a:solidFill>
                <a:latin typeface="FrutigerNext LT Regular" pitchFamily="34" charset="0"/>
                <a:ea typeface="华文细黑" pitchFamily="2" charset="-122"/>
                <a:cs typeface="+mn-cs"/>
              </a:rPr>
              <a:t>Probe</a:t>
            </a:r>
            <a:r>
              <a:rPr lang="zh-CN" altLang="en-US" sz="1100" kern="1200" dirty="0" smtClean="0">
                <a:solidFill>
                  <a:schemeClr val="tx1"/>
                </a:solidFill>
                <a:latin typeface="FrutigerNext LT Regular" pitchFamily="34" charset="0"/>
                <a:ea typeface="华文细黑" pitchFamily="2" charset="-122"/>
                <a:cs typeface="+mn-cs"/>
              </a:rPr>
              <a:t>的软件信息。</a:t>
            </a:r>
          </a:p>
          <a:p>
            <a:pPr marL="228600" indent="-228600" algn="l" rtl="0" fontAlgn="base">
              <a:lnSpc>
                <a:spcPct val="125000"/>
              </a:lnSpc>
              <a:spcBef>
                <a:spcPct val="0"/>
              </a:spcBef>
              <a:spcAft>
                <a:spcPts val="300"/>
              </a:spcAft>
              <a:buSzPct val="70000"/>
              <a:buFont typeface="+mj-lt"/>
              <a:buAutoNum type="arabicPeriod"/>
            </a:pPr>
            <a:endParaRPr lang="zh-CN" altLang="en-US" sz="1100" kern="1200" dirty="0" smtClean="0">
              <a:solidFill>
                <a:schemeClr val="tx1"/>
              </a:solidFill>
              <a:latin typeface="FrutigerNext LT Regular" pitchFamily="34" charset="0"/>
              <a:ea typeface="华文细黑" pitchFamily="2" charset="-122"/>
              <a:cs typeface="+mn-cs"/>
            </a:endParaRPr>
          </a:p>
          <a:p>
            <a:pPr lvl="1"/>
            <a:endParaRPr lang="zh-CN" altLang="en-US" dirty="0" smtClean="0"/>
          </a:p>
          <a:p>
            <a:pPr marL="228600" indent="-228600">
              <a:buFont typeface="+mj-lt"/>
              <a:buAutoNum type="arabicPeriod"/>
            </a:pPr>
            <a:endParaRPr lang="zh-CN" altLang="en-US" dirty="0" smtClean="0"/>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36</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3665799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连接硬件狗至</a:t>
            </a:r>
            <a:r>
              <a:rPr lang="en-US" altLang="zh-CN" dirty="0" smtClean="0"/>
              <a:t>PC</a:t>
            </a:r>
            <a:r>
              <a:rPr lang="zh-CN" altLang="en-US" dirty="0" smtClean="0"/>
              <a:t>。 </a:t>
            </a:r>
            <a:endParaRPr lang="en-US" altLang="zh-CN" dirty="0" smtClean="0"/>
          </a:p>
          <a:p>
            <a:pPr lvl="1"/>
            <a:r>
              <a:rPr lang="zh-CN" altLang="en-US" b="1" dirty="0" smtClean="0"/>
              <a:t>初次使用软件且已获得硬件狗，</a:t>
            </a:r>
            <a:r>
              <a:rPr lang="zh-CN" altLang="en-US" dirty="0" smtClean="0"/>
              <a:t>将硬件狗连接到</a:t>
            </a:r>
            <a:r>
              <a:rPr lang="en-US" altLang="zh-CN" dirty="0" smtClean="0"/>
              <a:t>PC</a:t>
            </a:r>
            <a:r>
              <a:rPr lang="zh-CN" altLang="en-US" dirty="0" smtClean="0"/>
              <a:t>机的</a:t>
            </a:r>
            <a:r>
              <a:rPr lang="en-US" altLang="zh-CN" dirty="0" smtClean="0"/>
              <a:t>USB</a:t>
            </a:r>
            <a:r>
              <a:rPr lang="zh-CN" altLang="en-US" dirty="0" smtClean="0"/>
              <a:t>接口即可，不需要执行后续步骤。</a:t>
            </a:r>
            <a:endParaRPr lang="en-US" altLang="zh-CN" dirty="0" smtClean="0"/>
          </a:p>
          <a:p>
            <a:pPr lvl="1"/>
            <a:r>
              <a:rPr lang="zh-CN" altLang="en-US" b="1" dirty="0" smtClean="0"/>
              <a:t>硬件狗过期，</a:t>
            </a:r>
            <a:r>
              <a:rPr lang="zh-CN" altLang="en-US" dirty="0" smtClean="0"/>
              <a:t>更新</a:t>
            </a:r>
            <a:r>
              <a:rPr lang="en-US" altLang="zh-CN" dirty="0" smtClean="0"/>
              <a:t>License</a:t>
            </a:r>
            <a:r>
              <a:rPr lang="zh-CN" altLang="en-US" dirty="0" smtClean="0"/>
              <a:t>至硬件狗。</a:t>
            </a:r>
          </a:p>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en-US" dirty="0" smtClean="0"/>
              <a:t>选择“开始 </a:t>
            </a:r>
            <a:r>
              <a:rPr lang="en-US" altLang="zh-CN" dirty="0" smtClean="0"/>
              <a:t>&gt; </a:t>
            </a:r>
            <a:r>
              <a:rPr lang="zh-CN" altLang="en-US" dirty="0" smtClean="0"/>
              <a:t>所有程序 </a:t>
            </a:r>
            <a:r>
              <a:rPr lang="en-US" altLang="zh-CN" dirty="0" smtClean="0"/>
              <a:t>&gt; GENEX Drive Test Solution &gt; GENEX Probe 3.5 &gt; </a:t>
            </a:r>
            <a:r>
              <a:rPr lang="zh-CN" altLang="en-US" dirty="0" smtClean="0"/>
              <a:t>相应的软件名称（如</a:t>
            </a:r>
            <a:r>
              <a:rPr lang="en-US" altLang="zh-CN" dirty="0" smtClean="0"/>
              <a:t>Probe</a:t>
            </a:r>
            <a:r>
              <a:rPr lang="zh-CN" altLang="en-US" dirty="0" smtClean="0"/>
              <a:t>或</a:t>
            </a:r>
            <a:r>
              <a:rPr lang="en-US" altLang="zh-CN" dirty="0" smtClean="0"/>
              <a:t>PSTN SQE Server</a:t>
            </a:r>
            <a:r>
              <a:rPr lang="zh-CN" altLang="en-US" dirty="0" smtClean="0"/>
              <a:t>）”，运行主程序。 </a:t>
            </a:r>
          </a:p>
          <a:p>
            <a:r>
              <a:rPr lang="zh-CN" altLang="en-US" dirty="0" smtClean="0"/>
              <a:t>在主界面，选择“</a:t>
            </a:r>
            <a:r>
              <a:rPr lang="en-US" altLang="zh-CN" dirty="0" smtClean="0"/>
              <a:t>Help &gt; View ESN”</a:t>
            </a:r>
            <a:r>
              <a:rPr lang="zh-CN" altLang="en-US" dirty="0" smtClean="0"/>
              <a:t>。 </a:t>
            </a:r>
          </a:p>
          <a:p>
            <a:r>
              <a:rPr lang="zh-CN" altLang="en-US" dirty="0" smtClean="0"/>
              <a:t>将获得的</a:t>
            </a:r>
            <a:r>
              <a:rPr lang="en-US" altLang="zh-CN" dirty="0" smtClean="0"/>
              <a:t>ESN</a:t>
            </a:r>
            <a:r>
              <a:rPr lang="zh-CN" altLang="en-US" dirty="0" smtClean="0"/>
              <a:t>反馈给华为技术服务工程师，等待至华为技术服务工程师反馈新的</a:t>
            </a:r>
            <a:r>
              <a:rPr lang="en-US" altLang="zh-CN" dirty="0" smtClean="0"/>
              <a:t>License</a:t>
            </a:r>
            <a:r>
              <a:rPr lang="zh-CN" altLang="en-US" dirty="0" smtClean="0"/>
              <a:t>。 </a:t>
            </a:r>
          </a:p>
          <a:p>
            <a:r>
              <a:rPr lang="zh-CN" altLang="en-US" dirty="0" smtClean="0"/>
              <a:t>这个过程需要</a:t>
            </a:r>
            <a:r>
              <a:rPr lang="en-US" altLang="zh-CN" dirty="0" smtClean="0"/>
              <a:t>2</a:t>
            </a:r>
            <a:r>
              <a:rPr lang="zh-CN" altLang="en-US" dirty="0" smtClean="0"/>
              <a:t>～</a:t>
            </a:r>
            <a:r>
              <a:rPr lang="en-US" altLang="zh-CN" dirty="0" smtClean="0"/>
              <a:t>3</a:t>
            </a:r>
            <a:r>
              <a:rPr lang="zh-CN" altLang="en-US" dirty="0" smtClean="0"/>
              <a:t>天，请耐心等待。</a:t>
            </a:r>
          </a:p>
          <a:p>
            <a:r>
              <a:rPr lang="zh-CN" altLang="en-US" dirty="0" smtClean="0"/>
              <a:t>获取新的</a:t>
            </a:r>
            <a:r>
              <a:rPr lang="en-US" altLang="zh-CN" dirty="0" smtClean="0"/>
              <a:t>License</a:t>
            </a:r>
            <a:r>
              <a:rPr lang="zh-CN" altLang="en-US" dirty="0" smtClean="0"/>
              <a:t>后，更新</a:t>
            </a:r>
            <a:r>
              <a:rPr lang="en-US" altLang="zh-CN" dirty="0" smtClean="0"/>
              <a:t>License</a:t>
            </a:r>
            <a:r>
              <a:rPr lang="zh-CN" altLang="en-US" dirty="0" smtClean="0"/>
              <a:t>到硬件狗。 </a:t>
            </a:r>
          </a:p>
          <a:p>
            <a:pPr lvl="1"/>
            <a:r>
              <a:rPr lang="zh-CN" altLang="en-US" dirty="0" smtClean="0"/>
              <a:t>在主界面，选择“</a:t>
            </a:r>
            <a:r>
              <a:rPr lang="en-US" altLang="zh-CN" dirty="0" smtClean="0"/>
              <a:t>Help &gt; Update License”</a:t>
            </a:r>
            <a:r>
              <a:rPr lang="zh-CN" altLang="en-US" dirty="0" smtClean="0"/>
              <a:t>。 </a:t>
            </a:r>
          </a:p>
          <a:p>
            <a:pPr lvl="1"/>
            <a:r>
              <a:rPr lang="zh-CN" altLang="en-US" dirty="0" smtClean="0"/>
              <a:t>在“打开”对话框中，选择新申请的</a:t>
            </a:r>
            <a:r>
              <a:rPr lang="en-US" altLang="zh-CN" dirty="0" smtClean="0"/>
              <a:t>License</a:t>
            </a:r>
            <a:r>
              <a:rPr lang="zh-CN" altLang="en-US" dirty="0" smtClean="0"/>
              <a:t>。 </a:t>
            </a:r>
          </a:p>
          <a:p>
            <a:pPr lvl="1"/>
            <a:r>
              <a:rPr lang="zh-CN" altLang="en-US" dirty="0" smtClean="0"/>
              <a:t>单击“打开”。 </a:t>
            </a:r>
          </a:p>
          <a:p>
            <a:pPr lvl="1"/>
            <a:r>
              <a:rPr lang="zh-CN" altLang="en-US" dirty="0" smtClean="0"/>
              <a:t>在弹出的确认对话框中，单击“确定”。 </a:t>
            </a:r>
          </a:p>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en-US" b="1" dirty="0" smtClean="0"/>
              <a:t>可选：</a:t>
            </a:r>
            <a:r>
              <a:rPr lang="zh-CN" altLang="en-US" dirty="0" smtClean="0"/>
              <a:t>选择“</a:t>
            </a:r>
            <a:r>
              <a:rPr lang="en-US" altLang="zh-CN" dirty="0" smtClean="0"/>
              <a:t>Help &gt; License Info”</a:t>
            </a:r>
            <a:r>
              <a:rPr lang="zh-CN" altLang="en-US" dirty="0" smtClean="0"/>
              <a:t>，查看硬件狗的授权信息。 </a:t>
            </a:r>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37</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6919216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ChangeArrowheads="1" noTextEdit="1"/>
          </p:cNvSpPr>
          <p:nvPr>
            <p:ph type="sldImg"/>
          </p:nvPr>
        </p:nvSpPr>
        <p:spPr bwMode="auto">
          <a:xfrm>
            <a:off x="925513" y="747713"/>
            <a:ext cx="4960937" cy="3722687"/>
          </a:xfrm>
          <a:noFill/>
          <a:ln>
            <a:solidFill>
              <a:srgbClr val="000000"/>
            </a:solidFill>
            <a:miter lim="800000"/>
            <a:headEnd/>
            <a:tailEnd/>
          </a:ln>
        </p:spPr>
      </p:sp>
      <p:sp>
        <p:nvSpPr>
          <p:cNvPr id="124931" name="Rectangle 3"/>
          <p:cNvSpPr>
            <a:spLocks noGrp="1" noChangeArrowheads="1"/>
          </p:cNvSpPr>
          <p:nvPr>
            <p:ph type="body" idx="1"/>
          </p:nvPr>
        </p:nvSpPr>
        <p:spPr bwMode="auto">
          <a:xfrm>
            <a:off x="678735" y="4720684"/>
            <a:ext cx="5448143" cy="4472471"/>
          </a:xfrm>
          <a:noFill/>
        </p:spPr>
        <p:txBody>
          <a:bodyPr wrap="square" numCol="1" anchor="t" anchorCtr="0" compatLnSpc="1">
            <a:prstTxWarp prst="textNoShape">
              <a:avLst/>
            </a:prstTxWarp>
          </a:bodyPr>
          <a:lstStyle/>
          <a:p>
            <a:pPr eaLnBrk="1" hangingPunct="1"/>
            <a:r>
              <a:rPr lang="zh-CN" altLang="en-US" smtClean="0">
                <a:sym typeface="Wingdings" pitchFamily="2" charset="2"/>
              </a:rPr>
              <a:t>连接外部设备的基本步骤：</a:t>
            </a:r>
          </a:p>
          <a:p>
            <a:pPr lvl="1" eaLnBrk="1" hangingPunct="1"/>
            <a:r>
              <a:rPr lang="en-US" altLang="zh-CN" smtClean="0">
                <a:sym typeface="Wingdings" pitchFamily="2" charset="2"/>
              </a:rPr>
              <a:t>1.</a:t>
            </a:r>
            <a:r>
              <a:rPr lang="zh-CN" altLang="en-US" smtClean="0">
                <a:sym typeface="Wingdings" pitchFamily="2" charset="2"/>
              </a:rPr>
              <a:t>选择设备类型（测试终端、</a:t>
            </a:r>
            <a:r>
              <a:rPr lang="en-US" altLang="zh-CN" smtClean="0">
                <a:sym typeface="Wingdings" pitchFamily="2" charset="2"/>
              </a:rPr>
              <a:t>GPS</a:t>
            </a:r>
            <a:r>
              <a:rPr lang="zh-CN" altLang="en-US" smtClean="0">
                <a:sym typeface="Wingdings" pitchFamily="2" charset="2"/>
              </a:rPr>
              <a:t>或者</a:t>
            </a:r>
            <a:r>
              <a:rPr lang="en-US" altLang="zh-CN" smtClean="0">
                <a:sym typeface="Wingdings" pitchFamily="2" charset="2"/>
              </a:rPr>
              <a:t>scanner</a:t>
            </a:r>
            <a:r>
              <a:rPr lang="zh-CN" altLang="en-US" smtClean="0">
                <a:sym typeface="Wingdings" pitchFamily="2" charset="2"/>
              </a:rPr>
              <a:t>）</a:t>
            </a:r>
          </a:p>
          <a:p>
            <a:pPr lvl="1" eaLnBrk="1" hangingPunct="1"/>
            <a:r>
              <a:rPr lang="en-US" altLang="zh-CN" smtClean="0">
                <a:sym typeface="Wingdings" pitchFamily="2" charset="2"/>
              </a:rPr>
              <a:t>2. </a:t>
            </a:r>
            <a:r>
              <a:rPr lang="zh-CN" altLang="en-US" smtClean="0">
                <a:sym typeface="Wingdings" pitchFamily="2" charset="2"/>
              </a:rPr>
              <a:t>配置外部设备</a:t>
            </a:r>
          </a:p>
          <a:p>
            <a:pPr lvl="2" eaLnBrk="1" hangingPunct="1"/>
            <a:r>
              <a:rPr lang="zh-CN" altLang="en-US" smtClean="0">
                <a:sym typeface="Wingdings" pitchFamily="2" charset="2"/>
              </a:rPr>
              <a:t>请参看</a:t>
            </a:r>
            <a:r>
              <a:rPr lang="en-US" altLang="zh-CN" smtClean="0">
                <a:sym typeface="Wingdings" pitchFamily="2" charset="2"/>
              </a:rPr>
              <a:t>GENEX probe</a:t>
            </a:r>
            <a:r>
              <a:rPr lang="zh-CN" altLang="en-US" smtClean="0">
                <a:sym typeface="Wingdings" pitchFamily="2" charset="2"/>
              </a:rPr>
              <a:t>说明书了解外部设备配置的具体细节。</a:t>
            </a:r>
          </a:p>
        </p:txBody>
      </p:sp>
      <p:sp>
        <p:nvSpPr>
          <p:cNvPr id="124932"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24933"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24934"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16014504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39</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485712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45</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8089734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48</a:t>
            </a:fld>
            <a:endParaRPr lang="en-US" altLang="zh-CN"/>
          </a:p>
        </p:txBody>
      </p:sp>
    </p:spTree>
    <p:extLst>
      <p:ext uri="{BB962C8B-B14F-4D97-AF65-F5344CB8AC3E}">
        <p14:creationId xmlns:p14="http://schemas.microsoft.com/office/powerpoint/2010/main" val="2879769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p:spPr>
      </p:sp>
      <p:sp>
        <p:nvSpPr>
          <p:cNvPr id="1269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t>导入工程参数的路径为 </a:t>
            </a:r>
            <a:r>
              <a:rPr lang="en-US" altLang="zh-CN" b="1" smtClean="0"/>
              <a:t>&lt;The installation directory of Probe&gt;\Template\Engineering Parameters</a:t>
            </a:r>
            <a:r>
              <a:rPr lang="en-US" altLang="zh-CN" smtClean="0"/>
              <a:t>.</a:t>
            </a:r>
            <a:endParaRPr lang="en-US" altLang="zh-CN" b="1" i="1" smtClean="0"/>
          </a:p>
        </p:txBody>
      </p:sp>
      <p:sp>
        <p:nvSpPr>
          <p:cNvPr id="126980"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26981"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26982"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223647836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bwMode="auto">
          <a:noFill/>
          <a:ln>
            <a:solidFill>
              <a:srgbClr val="000000"/>
            </a:solidFill>
            <a:miter lim="800000"/>
            <a:headEnd/>
            <a:tailEnd/>
          </a:ln>
        </p:spPr>
      </p:sp>
      <p:sp>
        <p:nvSpPr>
          <p:cNvPr id="12800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28004"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28005"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28006"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39370266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headEnd/>
            <a:tailEnd/>
          </a:ln>
        </p:spPr>
      </p:sp>
      <p:sp>
        <p:nvSpPr>
          <p:cNvPr id="12902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29028"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29029"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29030"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18083934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bwMode="auto">
          <a:noFill/>
          <a:ln>
            <a:solidFill>
              <a:srgbClr val="000000"/>
            </a:solidFill>
            <a:miter lim="800000"/>
            <a:headEnd/>
            <a:tailEnd/>
          </a:ln>
        </p:spPr>
      </p:sp>
      <p:sp>
        <p:nvSpPr>
          <p:cNvPr id="1300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zh-CN" b="1" i="1" smtClean="0"/>
              <a:t>Excel Param </a:t>
            </a:r>
            <a:r>
              <a:rPr lang="zh-CN" altLang="en-US" smtClean="0"/>
              <a:t>和</a:t>
            </a:r>
            <a:r>
              <a:rPr lang="en-US" altLang="zh-CN" b="1" i="1" smtClean="0"/>
              <a:t>Probe Param</a:t>
            </a:r>
            <a:r>
              <a:rPr lang="zh-CN" altLang="en-US" smtClean="0"/>
              <a:t>中会有部分内容不同，</a:t>
            </a:r>
            <a:r>
              <a:rPr lang="en-US" altLang="zh-CN" smtClean="0"/>
              <a:t>Probe</a:t>
            </a:r>
            <a:r>
              <a:rPr lang="zh-CN" altLang="en-US" smtClean="0"/>
              <a:t>能自动找出来。</a:t>
            </a:r>
          </a:p>
        </p:txBody>
      </p:sp>
      <p:sp>
        <p:nvSpPr>
          <p:cNvPr id="130052"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0053"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0054"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34070341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bwMode="auto">
          <a:noFill/>
          <a:ln>
            <a:solidFill>
              <a:srgbClr val="000000"/>
            </a:solidFill>
            <a:miter lim="800000"/>
            <a:headEnd/>
            <a:tailEnd/>
          </a:ln>
        </p:spPr>
      </p:sp>
      <p:sp>
        <p:nvSpPr>
          <p:cNvPr id="131075" name="备注占位符 2"/>
          <p:cNvSpPr>
            <a:spLocks noGrp="1"/>
          </p:cNvSpPr>
          <p:nvPr>
            <p:ph type="body" idx="1"/>
          </p:nvPr>
        </p:nvSpPr>
        <p:spPr bwMode="auto">
          <a:noFill/>
        </p:spPr>
        <p:txBody>
          <a:bodyPr wrap="square" numCol="1" anchor="t" anchorCtr="0" compatLnSpc="1">
            <a:prstTxWarp prst="textNoShape">
              <a:avLst/>
            </a:prstTxWarp>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en-US" sz="1100" dirty="0" smtClean="0"/>
              <a:t>如果</a:t>
            </a:r>
            <a:r>
              <a:rPr lang="en-US" altLang="zh-CN" sz="1100" b="1" i="1" dirty="0" smtClean="0"/>
              <a:t>Probe </a:t>
            </a:r>
            <a:r>
              <a:rPr lang="en-US" altLang="zh-CN" sz="1100" b="1" i="1" dirty="0" err="1" smtClean="0"/>
              <a:t>Param</a:t>
            </a:r>
            <a:r>
              <a:rPr lang="zh-CN" altLang="en-US" sz="1100" dirty="0" smtClean="0"/>
              <a:t>和</a:t>
            </a:r>
            <a:r>
              <a:rPr lang="en-US" altLang="zh-CN" sz="1100" b="1" i="1" dirty="0" smtClean="0"/>
              <a:t>Excel </a:t>
            </a:r>
            <a:r>
              <a:rPr lang="en-US" altLang="zh-CN" sz="1100" b="1" i="1" dirty="0" err="1" smtClean="0"/>
              <a:t>Param</a:t>
            </a:r>
            <a:r>
              <a:rPr lang="zh-CN" altLang="en-US" sz="1100" dirty="0" smtClean="0"/>
              <a:t>中有部分参数不同，可以选择进行匹配。</a:t>
            </a:r>
            <a:endParaRPr lang="en-US" altLang="zh-CN" sz="1100" dirty="0" smtClean="0"/>
          </a:p>
          <a:p>
            <a:pPr eaLnBrk="1" hangingPunct="1"/>
            <a:endParaRPr lang="zh-CN" altLang="en-US" dirty="0" smtClean="0"/>
          </a:p>
        </p:txBody>
      </p:sp>
      <p:sp>
        <p:nvSpPr>
          <p:cNvPr id="131076"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1077"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1078"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4303307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bwMode="auto">
          <a:noFill/>
          <a:ln>
            <a:solidFill>
              <a:srgbClr val="000000"/>
            </a:solidFill>
            <a:miter lim="800000"/>
            <a:headEnd/>
            <a:tailEnd/>
          </a:ln>
        </p:spPr>
      </p:sp>
      <p:sp>
        <p:nvSpPr>
          <p:cNvPr id="132099"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t>应用工参之前，可以编辑工参，并且保存成一个新的文件。</a:t>
            </a:r>
          </a:p>
        </p:txBody>
      </p:sp>
      <p:sp>
        <p:nvSpPr>
          <p:cNvPr id="132100"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2101"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2102"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27385266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bwMode="auto">
          <a:noFill/>
          <a:ln>
            <a:solidFill>
              <a:srgbClr val="000000"/>
            </a:solidFill>
            <a:miter lim="800000"/>
            <a:headEnd/>
            <a:tailEnd/>
          </a:ln>
        </p:spPr>
      </p:sp>
      <p:sp>
        <p:nvSpPr>
          <p:cNvPr id="13312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33124"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3125"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3126"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224557674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bwMode="auto">
          <a:noFill/>
          <a:ln>
            <a:solidFill>
              <a:srgbClr val="000000"/>
            </a:solidFill>
            <a:miter lim="800000"/>
            <a:headEnd/>
            <a:tailEnd/>
          </a:ln>
        </p:spPr>
      </p:sp>
      <p:sp>
        <p:nvSpPr>
          <p:cNvPr id="134147"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t>注意：</a:t>
            </a:r>
          </a:p>
          <a:p>
            <a:pPr lvl="1" eaLnBrk="1" hangingPunct="1"/>
            <a:r>
              <a:rPr lang="en-US" altLang="zh-CN" b="1" i="1" smtClean="0"/>
              <a:t>*.tab </a:t>
            </a:r>
            <a:r>
              <a:rPr lang="zh-CN" altLang="en-US" smtClean="0"/>
              <a:t>是国际标准的地图格式</a:t>
            </a:r>
          </a:p>
          <a:p>
            <a:pPr lvl="1" eaLnBrk="1" hangingPunct="1"/>
            <a:r>
              <a:rPr lang="zh-CN" altLang="en-US" smtClean="0"/>
              <a:t>一般地， </a:t>
            </a:r>
            <a:r>
              <a:rPr lang="zh-CN" altLang="en-US" b="1" i="1" smtClean="0"/>
              <a:t>*</a:t>
            </a:r>
            <a:r>
              <a:rPr lang="en-US" altLang="zh-CN" b="1" i="1" smtClean="0"/>
              <a:t>.tab</a:t>
            </a:r>
            <a:r>
              <a:rPr lang="zh-CN" altLang="en-US" smtClean="0"/>
              <a:t>是初始地图格式，您可以通过</a:t>
            </a:r>
            <a:r>
              <a:rPr lang="en-US" altLang="zh-CN" smtClean="0"/>
              <a:t>GENEX Probe</a:t>
            </a:r>
            <a:r>
              <a:rPr lang="zh-CN" altLang="en-US" smtClean="0"/>
              <a:t>保存成</a:t>
            </a:r>
            <a:r>
              <a:rPr lang="zh-CN" altLang="en-US" b="1" i="1" smtClean="0"/>
              <a:t> </a:t>
            </a:r>
            <a:r>
              <a:rPr lang="en-US" altLang="zh-CN" smtClean="0"/>
              <a:t>*.gst</a:t>
            </a:r>
            <a:r>
              <a:rPr lang="zh-CN" altLang="en-US" smtClean="0"/>
              <a:t>格式。</a:t>
            </a:r>
          </a:p>
          <a:p>
            <a:pPr lvl="1" eaLnBrk="1" hangingPunct="1"/>
            <a:r>
              <a:rPr lang="en-US" altLang="zh-CN" b="1" i="1" smtClean="0"/>
              <a:t>*.gs</a:t>
            </a:r>
            <a:r>
              <a:rPr lang="en-US" altLang="zh-CN" smtClean="0"/>
              <a:t>t </a:t>
            </a:r>
            <a:r>
              <a:rPr lang="zh-CN" altLang="en-US" smtClean="0"/>
              <a:t>是</a:t>
            </a:r>
            <a:r>
              <a:rPr lang="zh-CN" altLang="en-US" b="1" i="1" smtClean="0"/>
              <a:t>*</a:t>
            </a:r>
            <a:r>
              <a:rPr lang="en-US" altLang="zh-CN" b="1" i="1" smtClean="0"/>
              <a:t>.tab</a:t>
            </a:r>
            <a:r>
              <a:rPr lang="zh-CN" altLang="en-US" smtClean="0"/>
              <a:t>的一个索引文件。</a:t>
            </a:r>
          </a:p>
        </p:txBody>
      </p:sp>
      <p:sp>
        <p:nvSpPr>
          <p:cNvPr id="134148"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4149"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4150"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42091701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bwMode="auto">
          <a:noFill/>
          <a:ln>
            <a:solidFill>
              <a:srgbClr val="000000"/>
            </a:solidFill>
            <a:miter lim="800000"/>
            <a:headEnd/>
            <a:tailEnd/>
          </a:ln>
        </p:spPr>
      </p:sp>
      <p:sp>
        <p:nvSpPr>
          <p:cNvPr id="13517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altLang="zh-CN" b="1" i="1" smtClean="0"/>
              <a:t>Layer control </a:t>
            </a:r>
            <a:r>
              <a:rPr lang="zh-CN" altLang="en-US" smtClean="0"/>
              <a:t>中可以对图层属性进行更改，一般使用默认值。</a:t>
            </a:r>
            <a:r>
              <a:rPr lang="zh-CN" altLang="en-US" b="1" i="1" smtClean="0"/>
              <a:t> </a:t>
            </a:r>
          </a:p>
          <a:p>
            <a:pPr eaLnBrk="1" hangingPunct="1"/>
            <a:r>
              <a:rPr lang="en-US" altLang="zh-CN" b="1" i="1" smtClean="0"/>
              <a:t>Map Layers </a:t>
            </a:r>
            <a:r>
              <a:rPr lang="zh-CN" altLang="en-US" smtClean="0"/>
              <a:t>窗口也能帮助您控制地图属性。</a:t>
            </a:r>
          </a:p>
        </p:txBody>
      </p:sp>
      <p:sp>
        <p:nvSpPr>
          <p:cNvPr id="135172"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5173"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5174"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6651504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58</a:t>
            </a:fld>
            <a:endParaRPr lang="en-US" altLang="zh-CN"/>
          </a:p>
        </p:txBody>
      </p:sp>
    </p:spTree>
    <p:extLst>
      <p:ext uri="{BB962C8B-B14F-4D97-AF65-F5344CB8AC3E}">
        <p14:creationId xmlns:p14="http://schemas.microsoft.com/office/powerpoint/2010/main" val="40973571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59</a:t>
            </a:fld>
            <a:endParaRPr lang="en-US" altLang="zh-CN"/>
          </a:p>
        </p:txBody>
      </p:sp>
    </p:spTree>
    <p:extLst>
      <p:ext uri="{BB962C8B-B14F-4D97-AF65-F5344CB8AC3E}">
        <p14:creationId xmlns:p14="http://schemas.microsoft.com/office/powerpoint/2010/main" val="4751856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38243"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38244"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8245"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8246"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39989148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smtClean="0"/>
              <a:t>覆盖</a:t>
            </a:r>
            <a:r>
              <a:rPr lang="en-US" altLang="zh-CN" dirty="0" smtClean="0"/>
              <a:t>DT</a:t>
            </a:r>
            <a:r>
              <a:rPr lang="zh-CN" altLang="zh-CN" dirty="0" smtClean="0"/>
              <a:t>测试主要是通过路测，检查</a:t>
            </a:r>
            <a:r>
              <a:rPr lang="en-US" altLang="zh-CN" dirty="0" smtClean="0"/>
              <a:t> UE </a:t>
            </a:r>
            <a:r>
              <a:rPr lang="zh-CN" altLang="zh-CN" dirty="0" smtClean="0"/>
              <a:t>接收的</a:t>
            </a:r>
            <a:r>
              <a:rPr lang="en-US" altLang="zh-CN" dirty="0" smtClean="0"/>
              <a:t> RSRP</a:t>
            </a:r>
            <a:r>
              <a:rPr lang="zh-CN" altLang="zh-CN" dirty="0" smtClean="0"/>
              <a:t>和</a:t>
            </a:r>
            <a:r>
              <a:rPr lang="en-US" altLang="zh-CN" dirty="0" smtClean="0"/>
              <a:t>SINR </a:t>
            </a:r>
            <a:r>
              <a:rPr lang="zh-CN" altLang="zh-CN" dirty="0" smtClean="0"/>
              <a:t>是否异常（例如是否存在其中一个测试小区的</a:t>
            </a:r>
            <a:r>
              <a:rPr lang="en-US" altLang="zh-CN" dirty="0" smtClean="0"/>
              <a:t>RSRP</a:t>
            </a:r>
            <a:r>
              <a:rPr lang="zh-CN" altLang="zh-CN" dirty="0" smtClean="0"/>
              <a:t>和</a:t>
            </a:r>
            <a:r>
              <a:rPr lang="en-US" altLang="zh-CN" dirty="0" smtClean="0"/>
              <a:t>SINR</a:t>
            </a:r>
            <a:r>
              <a:rPr lang="zh-CN" altLang="zh-CN" dirty="0" smtClean="0"/>
              <a:t>明显差于其他的小区），</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61</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705885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Slide Image Placeholder 7"/>
          <p:cNvSpPr>
            <a:spLocks noGrp="1" noRot="1" noChangeAspect="1" noTextEdit="1"/>
          </p:cNvSpPr>
          <p:nvPr>
            <p:ph type="sldImg"/>
          </p:nvPr>
        </p:nvSpPr>
        <p:spPr bwMode="auto">
          <a:noFill/>
          <a:ln>
            <a:solidFill>
              <a:srgbClr val="000000"/>
            </a:solidFill>
            <a:miter lim="800000"/>
            <a:headEnd/>
            <a:tailEnd/>
          </a:ln>
        </p:spPr>
      </p:sp>
      <p:sp>
        <p:nvSpPr>
          <p:cNvPr id="148483" name="Notes Placeholder 8"/>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ea typeface="黑体" pitchFamily="49" charset="-122"/>
              </a:rPr>
              <a:t>保存</a:t>
            </a:r>
            <a:r>
              <a:rPr lang="en-US" altLang="zh-CN" smtClean="0">
                <a:ea typeface="黑体" pitchFamily="49" charset="-122"/>
              </a:rPr>
              <a:t>logfile</a:t>
            </a:r>
            <a:r>
              <a:rPr lang="zh-CN" altLang="en-US" smtClean="0">
                <a:ea typeface="黑体" pitchFamily="49" charset="-122"/>
              </a:rPr>
              <a:t>的缺省路径是 </a:t>
            </a:r>
            <a:r>
              <a:rPr lang="en-US" altLang="zh-CN" b="1" smtClean="0">
                <a:ea typeface="黑体" pitchFamily="49" charset="-122"/>
              </a:rPr>
              <a:t>C:\GENEX Logfile</a:t>
            </a:r>
            <a:r>
              <a:rPr lang="en-US" altLang="zh-CN" smtClean="0">
                <a:ea typeface="黑体" pitchFamily="49" charset="-122"/>
              </a:rPr>
              <a:t>.</a:t>
            </a:r>
          </a:p>
          <a:p>
            <a:pPr eaLnBrk="1" hangingPunct="1"/>
            <a:endParaRPr lang="en-US" altLang="zh-CN" smtClean="0"/>
          </a:p>
        </p:txBody>
      </p:sp>
      <p:sp>
        <p:nvSpPr>
          <p:cNvPr id="148484"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48485"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48486"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10086305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50531" name="Slide Image Placeholder 9"/>
          <p:cNvSpPr>
            <a:spLocks noGrp="1" noRot="1" noChangeAspect="1" noTextEdit="1"/>
          </p:cNvSpPr>
          <p:nvPr>
            <p:ph type="sldImg"/>
          </p:nvPr>
        </p:nvSpPr>
        <p:spPr bwMode="auto">
          <a:noFill/>
          <a:ln>
            <a:solidFill>
              <a:srgbClr val="000000"/>
            </a:solidFill>
            <a:miter lim="800000"/>
            <a:headEnd/>
            <a:tailEnd/>
          </a:ln>
        </p:spPr>
      </p:sp>
      <p:sp>
        <p:nvSpPr>
          <p:cNvPr id="150532"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50533"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50534"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30334797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51555" name="Slide Image Placeholder 9"/>
          <p:cNvSpPr>
            <a:spLocks noGrp="1" noRot="1" noChangeAspect="1" noTextEdit="1"/>
          </p:cNvSpPr>
          <p:nvPr>
            <p:ph type="sldImg"/>
          </p:nvPr>
        </p:nvSpPr>
        <p:spPr bwMode="auto">
          <a:noFill/>
          <a:ln>
            <a:solidFill>
              <a:srgbClr val="000000"/>
            </a:solidFill>
            <a:miter lim="800000"/>
            <a:headEnd/>
            <a:tailEnd/>
          </a:ln>
        </p:spPr>
      </p:sp>
      <p:sp>
        <p:nvSpPr>
          <p:cNvPr id="151556"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51557"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51558"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8837545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52579" name="Slide Image Placeholder 9"/>
          <p:cNvSpPr>
            <a:spLocks noGrp="1" noRot="1" noChangeAspect="1" noTextEdit="1"/>
          </p:cNvSpPr>
          <p:nvPr>
            <p:ph type="sldImg"/>
          </p:nvPr>
        </p:nvSpPr>
        <p:spPr bwMode="auto">
          <a:noFill/>
          <a:ln>
            <a:solidFill>
              <a:srgbClr val="000000"/>
            </a:solidFill>
            <a:miter lim="800000"/>
            <a:headEnd/>
            <a:tailEnd/>
          </a:ln>
        </p:spPr>
      </p:sp>
      <p:sp>
        <p:nvSpPr>
          <p:cNvPr id="152580"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52581"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52582"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16310488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当基站发生这种问题后，由于它打破了</a:t>
            </a:r>
            <a:r>
              <a:rPr lang="en-US" altLang="zh-CN" sz="1100" kern="1200" dirty="0" smtClean="0">
                <a:solidFill>
                  <a:schemeClr val="tx1"/>
                </a:solidFill>
                <a:latin typeface="FrutigerNext LT Regular" pitchFamily="34" charset="0"/>
                <a:ea typeface="华文细黑" pitchFamily="2" charset="-122"/>
                <a:cs typeface="+mn-cs"/>
              </a:rPr>
              <a:t>PCI</a:t>
            </a:r>
            <a:r>
              <a:rPr lang="zh-CN" altLang="zh-CN" sz="1100" kern="1200" dirty="0" smtClean="0">
                <a:solidFill>
                  <a:schemeClr val="tx1"/>
                </a:solidFill>
                <a:latin typeface="FrutigerNext LT Regular" pitchFamily="34" charset="0"/>
                <a:ea typeface="华文细黑" pitchFamily="2" charset="-122"/>
                <a:cs typeface="+mn-cs"/>
              </a:rPr>
              <a:t>规划，导致实际的邻区数据与规划邻区不一致，会存在较多的切换失败导致掉话。</a:t>
            </a:r>
          </a:p>
          <a:p>
            <a:r>
              <a:rPr lang="zh-CN" altLang="zh-CN" sz="1100" kern="1200" dirty="0" smtClean="0">
                <a:solidFill>
                  <a:schemeClr val="tx1"/>
                </a:solidFill>
                <a:latin typeface="FrutigerNext LT Regular" pitchFamily="34" charset="0"/>
                <a:ea typeface="华文细黑" pitchFamily="2" charset="-122"/>
                <a:cs typeface="+mn-cs"/>
              </a:rPr>
              <a:t>对待这类问题，应当把规划与实际覆盖的差异和初步分析反馈给</a:t>
            </a:r>
            <a:r>
              <a:rPr lang="en-US" altLang="zh-CN" sz="1100" kern="1200" dirty="0" err="1" smtClean="0">
                <a:solidFill>
                  <a:schemeClr val="tx1"/>
                </a:solidFill>
                <a:latin typeface="FrutigerNext LT Regular" pitchFamily="34" charset="0"/>
                <a:ea typeface="华文细黑" pitchFamily="2" charset="-122"/>
                <a:cs typeface="+mn-cs"/>
              </a:rPr>
              <a:t>eNB</a:t>
            </a:r>
            <a:r>
              <a:rPr lang="zh-CN" altLang="zh-CN" sz="1100" kern="1200" dirty="0" smtClean="0">
                <a:solidFill>
                  <a:schemeClr val="tx1"/>
                </a:solidFill>
                <a:latin typeface="FrutigerNext LT Regular" pitchFamily="34" charset="0"/>
                <a:ea typeface="华文细黑" pitchFamily="2" charset="-122"/>
                <a:cs typeface="+mn-cs"/>
              </a:rPr>
              <a:t>工程师，推动</a:t>
            </a:r>
            <a:r>
              <a:rPr lang="en-US" altLang="zh-CN" sz="1100" kern="1200" dirty="0" err="1" smtClean="0">
                <a:solidFill>
                  <a:schemeClr val="tx1"/>
                </a:solidFill>
                <a:latin typeface="FrutigerNext LT Regular" pitchFamily="34" charset="0"/>
                <a:ea typeface="华文细黑" pitchFamily="2" charset="-122"/>
                <a:cs typeface="+mn-cs"/>
              </a:rPr>
              <a:t>eNB</a:t>
            </a:r>
            <a:r>
              <a:rPr lang="zh-CN" altLang="zh-CN" sz="1100" kern="1200" dirty="0" smtClean="0">
                <a:solidFill>
                  <a:schemeClr val="tx1"/>
                </a:solidFill>
                <a:latin typeface="FrutigerNext LT Regular" pitchFamily="34" charset="0"/>
                <a:ea typeface="华文细黑" pitchFamily="2" charset="-122"/>
                <a:cs typeface="+mn-cs"/>
              </a:rPr>
              <a:t>工程师进行问题整改。</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70</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4382127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lvl="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在</a:t>
            </a:r>
            <a:r>
              <a:rPr lang="zh-CN" altLang="en-US" sz="1100" kern="1200" dirty="0" smtClean="0">
                <a:solidFill>
                  <a:schemeClr val="tx1"/>
                </a:solidFill>
                <a:latin typeface="FrutigerNext LT Regular" pitchFamily="34" charset="0"/>
                <a:ea typeface="华文细黑" pitchFamily="2" charset="-122"/>
                <a:cs typeface="+mn-cs"/>
              </a:rPr>
              <a:t>方位角</a:t>
            </a:r>
            <a:r>
              <a:rPr lang="zh-CN" altLang="zh-CN" sz="1100" kern="1200" dirty="0" smtClean="0">
                <a:solidFill>
                  <a:schemeClr val="tx1"/>
                </a:solidFill>
                <a:latin typeface="FrutigerNext LT Regular" pitchFamily="34" charset="0"/>
                <a:ea typeface="华文细黑" pitchFamily="2" charset="-122"/>
                <a:cs typeface="+mn-cs"/>
              </a:rPr>
              <a:t>与</a:t>
            </a:r>
            <a:r>
              <a:rPr lang="en-US" altLang="zh-CN" sz="1100" kern="1200" dirty="0" smtClean="0">
                <a:solidFill>
                  <a:schemeClr val="tx1"/>
                </a:solidFill>
                <a:latin typeface="FrutigerNext LT Regular" pitchFamily="34" charset="0"/>
                <a:ea typeface="华文细黑" pitchFamily="2" charset="-122"/>
                <a:cs typeface="+mn-cs"/>
              </a:rPr>
              <a:t>PCI</a:t>
            </a:r>
            <a:r>
              <a:rPr lang="zh-CN" altLang="zh-CN" sz="1100" kern="1200" dirty="0" smtClean="0">
                <a:solidFill>
                  <a:schemeClr val="tx1"/>
                </a:solidFill>
                <a:latin typeface="FrutigerNext LT Regular" pitchFamily="34" charset="0"/>
                <a:ea typeface="华文细黑" pitchFamily="2" charset="-122"/>
                <a:cs typeface="+mn-cs"/>
              </a:rPr>
              <a:t>一致的前提下，如果</a:t>
            </a:r>
            <a:r>
              <a:rPr lang="en-US" altLang="zh-CN" sz="1100" kern="1200" dirty="0" smtClean="0">
                <a:solidFill>
                  <a:schemeClr val="tx1"/>
                </a:solidFill>
                <a:latin typeface="FrutigerNext LT Regular" pitchFamily="34" charset="0"/>
                <a:ea typeface="华文细黑" pitchFamily="2" charset="-122"/>
                <a:cs typeface="+mn-cs"/>
              </a:rPr>
              <a:t>PLMN</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TAC</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CGI</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UL Frequency</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DL Frequency</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UL Bandwidth</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DL Bandwidth</a:t>
            </a:r>
            <a:r>
              <a:rPr lang="zh-CN" altLang="zh-CN" sz="1100" kern="1200" dirty="0" smtClean="0">
                <a:solidFill>
                  <a:schemeClr val="tx1"/>
                </a:solidFill>
                <a:latin typeface="FrutigerNext LT Regular" pitchFamily="34" charset="0"/>
                <a:ea typeface="华文细黑" pitchFamily="2" charset="-122"/>
                <a:cs typeface="+mn-cs"/>
              </a:rPr>
              <a:t>的任意数据与规划参数不符，应当尽快协调</a:t>
            </a:r>
            <a:r>
              <a:rPr lang="en-US" altLang="zh-CN" sz="1100" kern="1200" dirty="0" smtClean="0">
                <a:solidFill>
                  <a:schemeClr val="tx1"/>
                </a:solidFill>
                <a:latin typeface="FrutigerNext LT Regular" pitchFamily="34" charset="0"/>
                <a:ea typeface="华文细黑" pitchFamily="2" charset="-122"/>
                <a:cs typeface="+mn-cs"/>
              </a:rPr>
              <a:t>OMC</a:t>
            </a:r>
            <a:r>
              <a:rPr lang="zh-CN" altLang="zh-CN" sz="1100" kern="1200" dirty="0" smtClean="0">
                <a:solidFill>
                  <a:schemeClr val="tx1"/>
                </a:solidFill>
                <a:latin typeface="FrutigerNext LT Regular" pitchFamily="34" charset="0"/>
                <a:ea typeface="华文细黑" pitchFamily="2" charset="-122"/>
                <a:cs typeface="+mn-cs"/>
              </a:rPr>
              <a:t>机房进行数据修改。数据修改完毕后安排复测。</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71</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41539353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72</a:t>
            </a:fld>
            <a:endParaRPr lang="en-US" altLang="zh-CN"/>
          </a:p>
        </p:txBody>
      </p:sp>
    </p:spTree>
    <p:extLst>
      <p:ext uri="{BB962C8B-B14F-4D97-AF65-F5344CB8AC3E}">
        <p14:creationId xmlns:p14="http://schemas.microsoft.com/office/powerpoint/2010/main" val="284426538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其中：</a:t>
            </a:r>
          </a:p>
          <a:p>
            <a:pPr lvl="1"/>
            <a:r>
              <a:rPr lang="en-US" altLang="zh-CN" sz="1100" kern="1200" dirty="0" smtClean="0">
                <a:solidFill>
                  <a:schemeClr val="tx1"/>
                </a:solidFill>
                <a:latin typeface="FrutigerNext LT Regular" pitchFamily="34" charset="0"/>
                <a:ea typeface="华文细黑" pitchFamily="2" charset="-122"/>
                <a:cs typeface="+mn-cs"/>
              </a:rPr>
              <a:t>Loop Test Count=20</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Attach Timeout (s)=15</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Attach Mode</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Attach only</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Wait duration (s)=5</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Detach Type=PS</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Detach Timeout (s)</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15</a:t>
            </a:r>
            <a:endParaRPr lang="zh-CN" altLang="zh-CN" sz="1100" kern="1200" dirty="0" smtClean="0">
              <a:solidFill>
                <a:schemeClr val="tx1"/>
              </a:solidFill>
              <a:latin typeface="FrutigerNext LT Regular" pitchFamily="34" charset="0"/>
              <a:ea typeface="华文细黑" pitchFamily="2" charset="-122"/>
              <a:cs typeface="+mn-cs"/>
            </a:endParaRPr>
          </a:p>
          <a:p>
            <a:pPr marL="180975" marR="0" lvl="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在</a:t>
            </a:r>
            <a:r>
              <a:rPr lang="en-US" altLang="zh-CN" sz="1100" kern="1200" dirty="0" smtClean="0">
                <a:solidFill>
                  <a:schemeClr val="tx1"/>
                </a:solidFill>
                <a:latin typeface="FrutigerNext LT Regular" pitchFamily="34" charset="0"/>
                <a:ea typeface="华文细黑" pitchFamily="2" charset="-122"/>
                <a:cs typeface="+mn-cs"/>
              </a:rPr>
              <a:t>Probe</a:t>
            </a:r>
            <a:r>
              <a:rPr lang="zh-CN" altLang="zh-CN" sz="1100" kern="1200" dirty="0" smtClean="0">
                <a:solidFill>
                  <a:schemeClr val="tx1"/>
                </a:solidFill>
                <a:latin typeface="FrutigerNext LT Regular" pitchFamily="34" charset="0"/>
                <a:ea typeface="华文细黑" pitchFamily="2" charset="-122"/>
                <a:cs typeface="+mn-cs"/>
              </a:rPr>
              <a:t>软件里点击“</a:t>
            </a:r>
            <a:r>
              <a:rPr lang="en-US" altLang="zh-CN" sz="1100" kern="1200" dirty="0" smtClean="0">
                <a:solidFill>
                  <a:schemeClr val="tx1"/>
                </a:solidFill>
                <a:latin typeface="FrutigerNext LT Regular" pitchFamily="34" charset="0"/>
                <a:ea typeface="华文细黑" pitchFamily="2" charset="-122"/>
                <a:cs typeface="+mn-cs"/>
              </a:rPr>
              <a:t>Start Test Plan</a:t>
            </a:r>
            <a:r>
              <a:rPr lang="zh-CN" altLang="zh-CN" sz="1100" kern="1200" dirty="0" smtClean="0">
                <a:solidFill>
                  <a:schemeClr val="tx1"/>
                </a:solidFill>
                <a:latin typeface="FrutigerNext LT Regular" pitchFamily="34" charset="0"/>
                <a:ea typeface="华文细黑" pitchFamily="2" charset="-122"/>
                <a:cs typeface="+mn-cs"/>
              </a:rPr>
              <a:t>”，开始测试并记录测试文件，系统自动循环接入</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小区。</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73</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20431175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从</a:t>
            </a:r>
            <a:r>
              <a:rPr lang="en-US" altLang="zh-CN" sz="1100" b="1" kern="1200" dirty="0" smtClean="0">
                <a:solidFill>
                  <a:schemeClr val="tx1"/>
                </a:solidFill>
                <a:latin typeface="FrutigerNext LT Regular" pitchFamily="34" charset="0"/>
                <a:ea typeface="华文细黑" pitchFamily="2" charset="-122"/>
                <a:cs typeface="+mn-cs"/>
              </a:rPr>
              <a:t>Attach Accept</a:t>
            </a:r>
            <a:r>
              <a:rPr lang="zh-CN" altLang="zh-CN" sz="1100" kern="1200" dirty="0" smtClean="0">
                <a:solidFill>
                  <a:schemeClr val="tx1"/>
                </a:solidFill>
                <a:latin typeface="FrutigerNext LT Regular" pitchFamily="34" charset="0"/>
                <a:ea typeface="华文细黑" pitchFamily="2" charset="-122"/>
                <a:cs typeface="+mn-cs"/>
              </a:rPr>
              <a:t>消息中可以读出核心网分配给</a:t>
            </a:r>
            <a:r>
              <a:rPr lang="en-US" altLang="zh-CN" sz="1100" kern="1200" dirty="0" smtClean="0">
                <a:solidFill>
                  <a:schemeClr val="tx1"/>
                </a:solidFill>
                <a:latin typeface="FrutigerNext LT Regular" pitchFamily="34" charset="0"/>
                <a:ea typeface="华文细黑" pitchFamily="2" charset="-122"/>
                <a:cs typeface="+mn-cs"/>
              </a:rPr>
              <a:t>UE</a:t>
            </a:r>
            <a:r>
              <a:rPr lang="zh-CN" altLang="zh-CN" sz="1100" kern="1200" dirty="0" smtClean="0">
                <a:solidFill>
                  <a:schemeClr val="tx1"/>
                </a:solidFill>
                <a:latin typeface="FrutigerNext LT Regular" pitchFamily="34" charset="0"/>
                <a:ea typeface="华文细黑" pitchFamily="2" charset="-122"/>
                <a:cs typeface="+mn-cs"/>
              </a:rPr>
              <a:t>的业务</a:t>
            </a:r>
            <a:r>
              <a:rPr lang="en-US" altLang="zh-CN" sz="1100" kern="1200" dirty="0" smtClean="0">
                <a:solidFill>
                  <a:schemeClr val="tx1"/>
                </a:solidFill>
                <a:latin typeface="FrutigerNext LT Regular" pitchFamily="34" charset="0"/>
                <a:ea typeface="华文细黑" pitchFamily="2" charset="-122"/>
                <a:cs typeface="+mn-cs"/>
              </a:rPr>
              <a:t>IP</a:t>
            </a:r>
            <a:r>
              <a:rPr lang="zh-CN" altLang="zh-CN" sz="1100" kern="1200" dirty="0" smtClean="0">
                <a:solidFill>
                  <a:schemeClr val="tx1"/>
                </a:solidFill>
                <a:latin typeface="FrutigerNext LT Regular" pitchFamily="34" charset="0"/>
                <a:ea typeface="华文细黑" pitchFamily="2" charset="-122"/>
                <a:cs typeface="+mn-cs"/>
              </a:rPr>
              <a:t>。</a:t>
            </a:r>
          </a:p>
          <a:p>
            <a:pPr lvl="0"/>
            <a:r>
              <a:rPr lang="zh-CN" altLang="zh-CN" sz="1100" kern="1200" dirty="0" smtClean="0">
                <a:solidFill>
                  <a:schemeClr val="tx1"/>
                </a:solidFill>
                <a:latin typeface="FrutigerNext LT Regular" pitchFamily="34" charset="0"/>
                <a:ea typeface="华文细黑" pitchFamily="2" charset="-122"/>
                <a:cs typeface="+mn-cs"/>
              </a:rPr>
              <a:t>可以通过</a:t>
            </a:r>
            <a:r>
              <a:rPr lang="en-US" altLang="zh-CN" sz="1100" kern="1200" dirty="0" smtClean="0">
                <a:solidFill>
                  <a:schemeClr val="tx1"/>
                </a:solidFill>
                <a:latin typeface="FrutigerNext LT Regular" pitchFamily="34" charset="0"/>
                <a:ea typeface="华文细黑" pitchFamily="2" charset="-122"/>
                <a:cs typeface="+mn-cs"/>
              </a:rPr>
              <a:t>M2000</a:t>
            </a:r>
            <a:r>
              <a:rPr lang="zh-CN" altLang="zh-CN" sz="1100" kern="1200" dirty="0" smtClean="0">
                <a:solidFill>
                  <a:schemeClr val="tx1"/>
                </a:solidFill>
                <a:latin typeface="FrutigerNext LT Regular" pitchFamily="34" charset="0"/>
                <a:ea typeface="华文细黑" pitchFamily="2" charset="-122"/>
                <a:cs typeface="+mn-cs"/>
              </a:rPr>
              <a:t>上的话统查看该小区的入网成功次数和</a:t>
            </a:r>
            <a:r>
              <a:rPr lang="en-US" altLang="zh-CN" sz="1100" kern="1200" dirty="0" smtClean="0">
                <a:solidFill>
                  <a:schemeClr val="tx1"/>
                </a:solidFill>
                <a:latin typeface="FrutigerNext LT Regular" pitchFamily="34" charset="0"/>
                <a:ea typeface="华文细黑" pitchFamily="2" charset="-122"/>
                <a:cs typeface="+mn-cs"/>
              </a:rPr>
              <a:t>SAE</a:t>
            </a:r>
            <a:r>
              <a:rPr lang="zh-CN" altLang="zh-CN" sz="1100" kern="1200" dirty="0" smtClean="0">
                <a:solidFill>
                  <a:schemeClr val="tx1"/>
                </a:solidFill>
                <a:latin typeface="FrutigerNext LT Regular" pitchFamily="34" charset="0"/>
                <a:ea typeface="华文细黑" pitchFamily="2" charset="-122"/>
                <a:cs typeface="+mn-cs"/>
              </a:rPr>
              <a:t>承载建立成功次数。</a:t>
            </a:r>
          </a:p>
          <a:p>
            <a:r>
              <a:rPr lang="zh-CN" altLang="zh-CN" sz="1100" kern="1200" dirty="0" smtClean="0">
                <a:solidFill>
                  <a:schemeClr val="tx1"/>
                </a:solidFill>
                <a:latin typeface="FrutigerNext LT Regular" pitchFamily="34" charset="0"/>
                <a:ea typeface="华文细黑" pitchFamily="2" charset="-122"/>
                <a:cs typeface="+mn-cs"/>
              </a:rPr>
              <a:t>在对该站点完成相关的验证后，把详细的分析结果填入《</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单站点验证表》。</a:t>
            </a:r>
            <a:endParaRPr lang="en-US" altLang="zh-CN" sz="1100" kern="1200" dirty="0" smtClean="0">
              <a:solidFill>
                <a:schemeClr val="tx1"/>
              </a:solidFill>
              <a:latin typeface="FrutigerNext LT Regular" pitchFamily="34" charset="0"/>
              <a:ea typeface="华文细黑" pitchFamily="2" charset="-122"/>
              <a:cs typeface="+mn-cs"/>
            </a:endParaRPr>
          </a:p>
          <a:p>
            <a:r>
              <a:rPr lang="zh-CN" altLang="zh-CN" sz="1100" kern="1200" dirty="0" smtClean="0">
                <a:solidFill>
                  <a:schemeClr val="tx1"/>
                </a:solidFill>
                <a:latin typeface="FrutigerNext LT Regular" pitchFamily="34" charset="0"/>
                <a:ea typeface="华文细黑" pitchFamily="2" charset="-122"/>
                <a:cs typeface="+mn-cs"/>
              </a:rPr>
              <a:t>对于单站验证环节，网优工程师只需要完成</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接入功能的验证。</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74</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55786686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75</a:t>
            </a:fld>
            <a:endParaRPr lang="en-US" altLang="zh-CN"/>
          </a:p>
        </p:txBody>
      </p:sp>
    </p:spTree>
    <p:extLst>
      <p:ext uri="{BB962C8B-B14F-4D97-AF65-F5344CB8AC3E}">
        <p14:creationId xmlns:p14="http://schemas.microsoft.com/office/powerpoint/2010/main" val="221866054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en-US" altLang="zh-CN" dirty="0" smtClean="0"/>
              <a:t>Ping</a:t>
            </a:r>
            <a:r>
              <a:rPr lang="zh-CN" altLang="zh-CN" dirty="0" smtClean="0"/>
              <a:t>时延测试，用于测试站点的网络时延，测试时，</a:t>
            </a:r>
            <a:r>
              <a:rPr lang="en-US" altLang="zh-CN" dirty="0" smtClean="0"/>
              <a:t>Ping</a:t>
            </a:r>
            <a:r>
              <a:rPr lang="zh-CN" altLang="zh-CN" dirty="0" smtClean="0"/>
              <a:t>的对象最好选择内部</a:t>
            </a:r>
            <a:r>
              <a:rPr lang="en-US" altLang="zh-CN" dirty="0" smtClean="0"/>
              <a:t>FTP</a:t>
            </a:r>
            <a:r>
              <a:rPr lang="zh-CN" altLang="zh-CN" dirty="0" smtClean="0"/>
              <a:t>服务器，以排除网络</a:t>
            </a:r>
            <a:r>
              <a:rPr lang="en-US" altLang="zh-CN" dirty="0" smtClean="0"/>
              <a:t>Internet</a:t>
            </a:r>
            <a:r>
              <a:rPr lang="zh-CN" altLang="zh-CN" dirty="0" smtClean="0"/>
              <a:t>时延的影响。</a:t>
            </a:r>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76</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48617013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Notes Placeholder 9"/>
          <p:cNvSpPr>
            <a:spLocks noGrp="1"/>
          </p:cNvSpPr>
          <p:nvPr>
            <p:ph type="body" idx="1"/>
          </p:nvPr>
        </p:nvSpPr>
        <p:spPr bwMode="auto"/>
        <p:txBody>
          <a:bodyPr wrap="square" numCol="1" anchor="t" anchorCtr="0" compatLnSpc="1">
            <a:prstTxWarp prst="textNoShape">
              <a:avLst/>
            </a:prstTxWarp>
            <a:normAutofit lnSpcReduction="10000"/>
          </a:bodyPr>
          <a:lstStyle/>
          <a:p>
            <a:pPr eaLnBrk="1" hangingPunct="1">
              <a:defRPr/>
            </a:pPr>
            <a:r>
              <a:rPr lang="zh-CN" altLang="en-US" dirty="0" smtClean="0"/>
              <a:t>参数描述：</a:t>
            </a:r>
            <a:endParaRPr lang="en-US" altLang="zh-CN" dirty="0" smtClean="0"/>
          </a:p>
          <a:p>
            <a:pPr eaLnBrk="1" hangingPunct="1">
              <a:defRPr/>
            </a:pPr>
            <a:r>
              <a:rPr lang="en-US" altLang="zh-CN" b="1" i="1" dirty="0" smtClean="0"/>
              <a:t>IP</a:t>
            </a:r>
            <a:r>
              <a:rPr lang="zh-CN" altLang="en-US" dirty="0" smtClean="0"/>
              <a:t>：描述目的地址，例如：</a:t>
            </a:r>
            <a:r>
              <a:rPr lang="en-US" altLang="zh-CN" dirty="0" smtClean="0"/>
              <a:t>10.10.10.1</a:t>
            </a:r>
            <a:r>
              <a:rPr lang="zh-CN" altLang="en-US" dirty="0" smtClean="0"/>
              <a:t>。 </a:t>
            </a:r>
            <a:endParaRPr lang="en-US" altLang="zh-CN" dirty="0" smtClean="0"/>
          </a:p>
          <a:p>
            <a:pPr eaLnBrk="1" hangingPunct="1">
              <a:defRPr/>
            </a:pPr>
            <a:r>
              <a:rPr lang="en-US" altLang="zh-CN" b="1" i="1" dirty="0" smtClean="0"/>
              <a:t>Packet Size</a:t>
            </a:r>
            <a:r>
              <a:rPr lang="zh-CN" altLang="en-US" dirty="0" smtClean="0"/>
              <a:t>：指示</a:t>
            </a:r>
            <a:r>
              <a:rPr lang="en-US" altLang="zh-CN" dirty="0" smtClean="0"/>
              <a:t>PING</a:t>
            </a:r>
            <a:r>
              <a:rPr lang="zh-CN" altLang="en-US" dirty="0" smtClean="0"/>
              <a:t>数据包的大小。发送数据包的大小将影响发送时延。默认值为“</a:t>
            </a:r>
            <a:r>
              <a:rPr lang="en-US" altLang="zh-CN" dirty="0" smtClean="0"/>
              <a:t>32”</a:t>
            </a:r>
            <a:r>
              <a:rPr lang="zh-CN" altLang="en-US" dirty="0" smtClean="0"/>
              <a:t>，在进行</a:t>
            </a:r>
            <a:r>
              <a:rPr lang="en-US" altLang="zh-CN" dirty="0" smtClean="0"/>
              <a:t>PING</a:t>
            </a:r>
            <a:r>
              <a:rPr lang="zh-CN" altLang="en-US" dirty="0" smtClean="0"/>
              <a:t>测试时，根据测试计划定义的数据块大小进行测试。如果未定义数据块大小，则按默认值。</a:t>
            </a:r>
          </a:p>
          <a:p>
            <a:pPr lvl="1" eaLnBrk="1" hangingPunct="1">
              <a:defRPr/>
            </a:pPr>
            <a:r>
              <a:rPr lang="zh-CN" altLang="en-US" dirty="0" smtClean="0"/>
              <a:t>单位： </a:t>
            </a:r>
            <a:r>
              <a:rPr lang="en-US" altLang="zh-CN" dirty="0" smtClean="0"/>
              <a:t>byte</a:t>
            </a:r>
          </a:p>
          <a:p>
            <a:pPr lvl="1" eaLnBrk="1" hangingPunct="1">
              <a:defRPr/>
            </a:pPr>
            <a:r>
              <a:rPr lang="zh-CN" altLang="en-US" dirty="0" smtClean="0"/>
              <a:t>取值范围： </a:t>
            </a:r>
            <a:r>
              <a:rPr lang="en-US" altLang="zh-CN" dirty="0" smtClean="0"/>
              <a:t>8</a:t>
            </a:r>
            <a:r>
              <a:rPr lang="zh-CN" altLang="en-US" dirty="0" smtClean="0"/>
              <a:t> ～ </a:t>
            </a:r>
            <a:r>
              <a:rPr lang="en-US" altLang="zh-CN" dirty="0" smtClean="0"/>
              <a:t>1024</a:t>
            </a:r>
          </a:p>
          <a:p>
            <a:pPr lvl="1" eaLnBrk="1" hangingPunct="1">
              <a:defRPr/>
            </a:pPr>
            <a:r>
              <a:rPr lang="zh-CN" altLang="en-US" dirty="0" smtClean="0"/>
              <a:t>缺省值： </a:t>
            </a:r>
            <a:r>
              <a:rPr lang="en-US" altLang="zh-CN" dirty="0" smtClean="0"/>
              <a:t>32</a:t>
            </a:r>
            <a:endParaRPr lang="zh-CN" altLang="en-US" dirty="0" smtClean="0"/>
          </a:p>
          <a:p>
            <a:pPr eaLnBrk="1" hangingPunct="1">
              <a:defRPr/>
            </a:pPr>
            <a:r>
              <a:rPr lang="en-US" altLang="zh-CN" b="1" i="1" dirty="0" smtClean="0"/>
              <a:t>Fragment Flag</a:t>
            </a:r>
            <a:r>
              <a:rPr lang="zh-CN" altLang="en-US" b="1" i="1" dirty="0" smtClean="0"/>
              <a:t>：</a:t>
            </a:r>
            <a:r>
              <a:rPr lang="zh-CN" altLang="en-US" dirty="0" smtClean="0"/>
              <a:t> 指示是否执行分包测试。</a:t>
            </a:r>
            <a:endParaRPr lang="en-US" altLang="zh-CN" dirty="0" smtClean="0"/>
          </a:p>
          <a:p>
            <a:pPr lvl="1" eaLnBrk="1" hangingPunct="1">
              <a:defRPr/>
            </a:pPr>
            <a:r>
              <a:rPr lang="en-US" altLang="zh-CN" b="1" i="1" dirty="0" smtClean="0"/>
              <a:t>False</a:t>
            </a:r>
            <a:r>
              <a:rPr lang="zh-CN" altLang="en-US" dirty="0" smtClean="0"/>
              <a:t>：不分包测试。</a:t>
            </a:r>
          </a:p>
          <a:p>
            <a:pPr lvl="1" eaLnBrk="1" hangingPunct="1">
              <a:defRPr/>
            </a:pPr>
            <a:r>
              <a:rPr lang="en-US" altLang="zh-CN" b="1" i="1" dirty="0" smtClean="0"/>
              <a:t>True</a:t>
            </a:r>
            <a:r>
              <a:rPr lang="zh-CN" altLang="en-US" dirty="0" smtClean="0"/>
              <a:t>：分包测试。 </a:t>
            </a:r>
            <a:endParaRPr lang="en-US" altLang="zh-CN" dirty="0" smtClean="0"/>
          </a:p>
          <a:p>
            <a:pPr lvl="1" eaLnBrk="1" hangingPunct="1">
              <a:defRPr/>
            </a:pPr>
            <a:r>
              <a:rPr lang="zh-CN" altLang="en-US" dirty="0" smtClean="0"/>
              <a:t>缺省值： </a:t>
            </a:r>
            <a:r>
              <a:rPr lang="en-US" altLang="zh-CN" b="1" i="1" dirty="0" smtClean="0"/>
              <a:t>False</a:t>
            </a:r>
            <a:r>
              <a:rPr lang="zh-CN" altLang="en-US" dirty="0" smtClean="0"/>
              <a:t>。</a:t>
            </a:r>
          </a:p>
          <a:p>
            <a:pPr eaLnBrk="1" hangingPunct="1">
              <a:defRPr/>
            </a:pPr>
            <a:r>
              <a:rPr lang="en-US" altLang="zh-CN" b="1" i="1" dirty="0" smtClean="0"/>
              <a:t>Test Control Mode</a:t>
            </a:r>
            <a:r>
              <a:rPr lang="zh-CN" altLang="en-US" dirty="0" smtClean="0"/>
              <a:t>：指示测试控制模式。</a:t>
            </a:r>
          </a:p>
          <a:p>
            <a:pPr lvl="1" eaLnBrk="1" hangingPunct="1">
              <a:defRPr/>
            </a:pPr>
            <a:r>
              <a:rPr lang="zh-CN" altLang="en-US" dirty="0" smtClean="0"/>
              <a:t>目前只支持“</a:t>
            </a:r>
            <a:r>
              <a:rPr lang="en-US" altLang="zh-CN" dirty="0" smtClean="0"/>
              <a:t>Test by Count”</a:t>
            </a:r>
            <a:r>
              <a:rPr lang="zh-CN" altLang="en-US" dirty="0" smtClean="0"/>
              <a:t>模式 。即按照次数控制测试。 </a:t>
            </a:r>
            <a:endParaRPr lang="en-US" altLang="zh-CN" dirty="0" smtClean="0"/>
          </a:p>
          <a:p>
            <a:pPr eaLnBrk="1" hangingPunct="1">
              <a:defRPr/>
            </a:pPr>
            <a:r>
              <a:rPr lang="en-US" altLang="zh-CN" b="1" i="1" dirty="0" smtClean="0"/>
              <a:t>Test Count</a:t>
            </a:r>
            <a:r>
              <a:rPr lang="zh-CN" altLang="en-US" dirty="0" smtClean="0"/>
              <a:t>：指示测试次数。</a:t>
            </a:r>
          </a:p>
          <a:p>
            <a:pPr lvl="1" eaLnBrk="1" hangingPunct="1">
              <a:defRPr/>
            </a:pPr>
            <a:r>
              <a:rPr lang="zh-CN" altLang="en-US" dirty="0" smtClean="0"/>
              <a:t>缺省值是 </a:t>
            </a:r>
            <a:r>
              <a:rPr lang="en-US" altLang="zh-CN" dirty="0" smtClean="0"/>
              <a:t>20</a:t>
            </a:r>
            <a:r>
              <a:rPr lang="zh-CN" altLang="en-US" dirty="0" smtClean="0"/>
              <a:t>。</a:t>
            </a:r>
          </a:p>
          <a:p>
            <a:pPr eaLnBrk="1" hangingPunct="1">
              <a:defRPr/>
            </a:pPr>
            <a:r>
              <a:rPr lang="en-US" altLang="zh-CN" b="1" i="1" dirty="0" smtClean="0"/>
              <a:t>Test Interval</a:t>
            </a:r>
            <a:r>
              <a:rPr lang="zh-CN" altLang="en-US" dirty="0" smtClean="0"/>
              <a:t>：指示两次</a:t>
            </a:r>
            <a:r>
              <a:rPr lang="en-US" altLang="zh-CN" dirty="0" smtClean="0"/>
              <a:t>Ping</a:t>
            </a:r>
            <a:r>
              <a:rPr lang="zh-CN" altLang="en-US" dirty="0" smtClean="0"/>
              <a:t>测试的间隔时长。</a:t>
            </a:r>
          </a:p>
          <a:p>
            <a:pPr lvl="1" eaLnBrk="1" hangingPunct="1">
              <a:defRPr/>
            </a:pPr>
            <a:r>
              <a:rPr lang="zh-CN" altLang="en-US" dirty="0" smtClean="0"/>
              <a:t>单位为：</a:t>
            </a:r>
            <a:r>
              <a:rPr lang="en-US" altLang="zh-CN" dirty="0" smtClean="0"/>
              <a:t>s </a:t>
            </a:r>
          </a:p>
          <a:p>
            <a:pPr lvl="1" eaLnBrk="1" hangingPunct="1">
              <a:defRPr/>
            </a:pPr>
            <a:r>
              <a:rPr lang="zh-CN" altLang="en-US" dirty="0" smtClean="0"/>
              <a:t>默认值为：</a:t>
            </a:r>
            <a:r>
              <a:rPr lang="en-US" altLang="zh-CN" dirty="0" smtClean="0"/>
              <a:t>5</a:t>
            </a:r>
            <a:endParaRPr lang="zh-CN" altLang="en-US" dirty="0" smtClean="0"/>
          </a:p>
          <a:p>
            <a:pPr lvl="1" eaLnBrk="1" hangingPunct="1">
              <a:defRPr/>
            </a:pPr>
            <a:endParaRPr lang="en-US" altLang="zh-CN" dirty="0" smtClean="0"/>
          </a:p>
        </p:txBody>
      </p:sp>
      <p:sp>
        <p:nvSpPr>
          <p:cNvPr id="139267" name="Slide Image Placeholder 13"/>
          <p:cNvSpPr>
            <a:spLocks noGrp="1" noRot="1" noChangeAspect="1" noTextEdit="1"/>
          </p:cNvSpPr>
          <p:nvPr>
            <p:ph type="sldImg"/>
          </p:nvPr>
        </p:nvSpPr>
        <p:spPr bwMode="auto">
          <a:noFill/>
          <a:ln>
            <a:solidFill>
              <a:srgbClr val="000000"/>
            </a:solidFill>
            <a:miter lim="800000"/>
            <a:headEnd/>
            <a:tailEnd/>
          </a:ln>
        </p:spPr>
      </p:sp>
      <p:sp>
        <p:nvSpPr>
          <p:cNvPr id="139268"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39269"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39270"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345940858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zh-CN" altLang="en-US" smtClean="0"/>
              <a:t>开始测试后，您可以核查测试结果：</a:t>
            </a:r>
          </a:p>
          <a:p>
            <a:pPr lvl="1" eaLnBrk="1" hangingPunct="1"/>
            <a:r>
              <a:rPr lang="zh-CN" altLang="en-US" smtClean="0"/>
              <a:t>对于</a:t>
            </a:r>
            <a:r>
              <a:rPr lang="en-US" altLang="zh-CN" smtClean="0"/>
              <a:t>LTE</a:t>
            </a:r>
            <a:r>
              <a:rPr lang="zh-CN" altLang="en-US" smtClean="0"/>
              <a:t>，通过</a:t>
            </a:r>
            <a:r>
              <a:rPr lang="en-US" altLang="zh-CN" b="1" i="1" smtClean="0"/>
              <a:t>[View]-[LTE]</a:t>
            </a:r>
            <a:r>
              <a:rPr lang="zh-CN" altLang="en-US" smtClean="0"/>
              <a:t>打开相关窗口，例如</a:t>
            </a:r>
            <a:r>
              <a:rPr lang="en-US" altLang="zh-CN" smtClean="0"/>
              <a:t>LTE</a:t>
            </a:r>
            <a:r>
              <a:rPr lang="zh-CN" altLang="en-US" smtClean="0"/>
              <a:t>无线参数，小区参数等等。</a:t>
            </a:r>
            <a:endParaRPr lang="en-US" altLang="zh-CN" smtClean="0"/>
          </a:p>
          <a:p>
            <a:pPr eaLnBrk="1" hangingPunct="1"/>
            <a:endParaRPr lang="zh-CN" altLang="en-US" smtClean="0"/>
          </a:p>
        </p:txBody>
      </p:sp>
      <p:sp>
        <p:nvSpPr>
          <p:cNvPr id="145411" name="Slide Image Placeholder 9"/>
          <p:cNvSpPr>
            <a:spLocks noGrp="1" noRot="1" noChangeAspect="1" noTextEdit="1"/>
          </p:cNvSpPr>
          <p:nvPr>
            <p:ph type="sldImg"/>
          </p:nvPr>
        </p:nvSpPr>
        <p:spPr bwMode="auto">
          <a:noFill/>
          <a:ln>
            <a:solidFill>
              <a:srgbClr val="000000"/>
            </a:solidFill>
            <a:miter lim="800000"/>
            <a:headEnd/>
            <a:tailEnd/>
          </a:ln>
        </p:spPr>
      </p:sp>
      <p:sp>
        <p:nvSpPr>
          <p:cNvPr id="145412"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45413"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45414"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327865557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zh-CN" altLang="en-US" smtClean="0"/>
          </a:p>
        </p:txBody>
      </p:sp>
      <p:sp>
        <p:nvSpPr>
          <p:cNvPr id="146435" name="Slide Image Placeholder 9"/>
          <p:cNvSpPr>
            <a:spLocks noGrp="1" noRot="1" noChangeAspect="1" noTextEdit="1"/>
          </p:cNvSpPr>
          <p:nvPr>
            <p:ph type="sldImg"/>
          </p:nvPr>
        </p:nvSpPr>
        <p:spPr bwMode="auto">
          <a:noFill/>
          <a:ln>
            <a:solidFill>
              <a:srgbClr val="000000"/>
            </a:solidFill>
            <a:miter lim="800000"/>
            <a:headEnd/>
            <a:tailEnd/>
          </a:ln>
        </p:spPr>
      </p:sp>
      <p:sp>
        <p:nvSpPr>
          <p:cNvPr id="146436"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46437"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46438"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344877243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p:spPr>
      </p:sp>
      <p:sp>
        <p:nvSpPr>
          <p:cNvPr id="147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altLang="zh-CN" smtClean="0"/>
          </a:p>
        </p:txBody>
      </p:sp>
      <p:sp>
        <p:nvSpPr>
          <p:cNvPr id="147460"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47461"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47462"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280769193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在对该站点完成相关的验证后，把详细的分析结果填入《</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单站点验证表》。</a:t>
            </a:r>
            <a:endParaRPr lang="en-US" altLang="zh-CN" sz="1100" kern="1200" dirty="0" smtClean="0">
              <a:solidFill>
                <a:schemeClr val="tx1"/>
              </a:solidFill>
              <a:latin typeface="FrutigerNext LT Regular" pitchFamily="34" charset="0"/>
              <a:ea typeface="华文细黑" pitchFamily="2" charset="-122"/>
              <a:cs typeface="+mn-cs"/>
            </a:endParaRPr>
          </a:p>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在实际做</a:t>
            </a:r>
            <a:r>
              <a:rPr lang="en-US" altLang="zh-CN" sz="1100" kern="1200" dirty="0" smtClean="0">
                <a:solidFill>
                  <a:schemeClr val="tx1"/>
                </a:solidFill>
                <a:latin typeface="FrutigerNext LT Regular" pitchFamily="34" charset="0"/>
                <a:ea typeface="华文细黑" pitchFamily="2" charset="-122"/>
                <a:cs typeface="+mn-cs"/>
              </a:rPr>
              <a:t>ping</a:t>
            </a:r>
            <a:r>
              <a:rPr lang="zh-CN" altLang="zh-CN" sz="1100" kern="1200" dirty="0" smtClean="0">
                <a:solidFill>
                  <a:schemeClr val="tx1"/>
                </a:solidFill>
                <a:latin typeface="FrutigerNext LT Regular" pitchFamily="34" charset="0"/>
                <a:ea typeface="华文细黑" pitchFamily="2" charset="-122"/>
                <a:cs typeface="+mn-cs"/>
              </a:rPr>
              <a:t>测试中，建议关闭业务电脑的防火墙及</a:t>
            </a:r>
            <a:r>
              <a:rPr lang="en-US" altLang="zh-CN" sz="1100" kern="1200" dirty="0" smtClean="0">
                <a:solidFill>
                  <a:schemeClr val="tx1"/>
                </a:solidFill>
                <a:latin typeface="FrutigerNext LT Regular" pitchFamily="34" charset="0"/>
                <a:ea typeface="华文细黑" pitchFamily="2" charset="-122"/>
                <a:cs typeface="+mn-cs"/>
              </a:rPr>
              <a:t>Symantec</a:t>
            </a:r>
            <a:r>
              <a:rPr lang="zh-CN" altLang="zh-CN" sz="1100" kern="1200" dirty="0" smtClean="0">
                <a:solidFill>
                  <a:schemeClr val="tx1"/>
                </a:solidFill>
                <a:latin typeface="FrutigerNext LT Regular" pitchFamily="34" charset="0"/>
                <a:ea typeface="华文细黑" pitchFamily="2" charset="-122"/>
                <a:cs typeface="+mn-cs"/>
              </a:rPr>
              <a:t>防毒软件的</a:t>
            </a:r>
            <a:r>
              <a:rPr lang="en-US" altLang="zh-CN" sz="1100" kern="1200" dirty="0" smtClean="0">
                <a:solidFill>
                  <a:schemeClr val="tx1"/>
                </a:solidFill>
                <a:latin typeface="FrutigerNext LT Regular" pitchFamily="34" charset="0"/>
                <a:ea typeface="华文细黑" pitchFamily="2" charset="-122"/>
                <a:cs typeface="+mn-cs"/>
              </a:rPr>
              <a:t>Network Threat Protection</a:t>
            </a:r>
            <a:r>
              <a:rPr lang="zh-CN" altLang="zh-CN" sz="1100" kern="1200" dirty="0" smtClean="0">
                <a:solidFill>
                  <a:schemeClr val="tx1"/>
                </a:solidFill>
                <a:latin typeface="FrutigerNext LT Regular" pitchFamily="34" charset="0"/>
                <a:ea typeface="华文细黑" pitchFamily="2" charset="-122"/>
                <a:cs typeface="+mn-cs"/>
              </a:rPr>
              <a:t>功能</a:t>
            </a:r>
            <a:r>
              <a:rPr lang="en-US" altLang="zh-CN" sz="1100" kern="1200" dirty="0" smtClean="0">
                <a:solidFill>
                  <a:schemeClr val="tx1"/>
                </a:solidFill>
                <a:latin typeface="FrutigerNext LT Regular" pitchFamily="34" charset="0"/>
                <a:ea typeface="华文细黑" pitchFamily="2" charset="-122"/>
                <a:cs typeface="+mn-cs"/>
              </a:rPr>
              <a:t>(</a:t>
            </a:r>
            <a:r>
              <a:rPr lang="zh-CN" altLang="zh-CN" sz="1100" kern="1200" dirty="0" smtClean="0">
                <a:solidFill>
                  <a:schemeClr val="tx1"/>
                </a:solidFill>
                <a:latin typeface="FrutigerNext LT Regular" pitchFamily="34" charset="0"/>
                <a:ea typeface="华文细黑" pitchFamily="2" charset="-122"/>
                <a:cs typeface="+mn-cs"/>
              </a:rPr>
              <a:t>如果是安装的此款软件</a:t>
            </a:r>
            <a:r>
              <a:rPr lang="en-US" altLang="zh-CN" sz="1100" kern="1200" dirty="0" smtClean="0">
                <a:solidFill>
                  <a:schemeClr val="tx1"/>
                </a:solidFill>
                <a:latin typeface="FrutigerNext LT Regular" pitchFamily="34" charset="0"/>
                <a:ea typeface="华文细黑" pitchFamily="2" charset="-122"/>
                <a:cs typeface="+mn-cs"/>
              </a:rPr>
              <a:t>)</a:t>
            </a:r>
            <a:r>
              <a:rPr lang="zh-CN" altLang="zh-CN" sz="1100" kern="1200" dirty="0" smtClean="0">
                <a:solidFill>
                  <a:schemeClr val="tx1"/>
                </a:solidFill>
                <a:latin typeface="FrutigerNext LT Regular" pitchFamily="34" charset="0"/>
                <a:ea typeface="华文细黑" pitchFamily="2" charset="-122"/>
                <a:cs typeface="+mn-cs"/>
              </a:rPr>
              <a:t>。此功能如果不关闭则会造成每一次</a:t>
            </a:r>
            <a:r>
              <a:rPr lang="en-US" altLang="zh-CN" sz="1100" kern="1200" dirty="0" smtClean="0">
                <a:solidFill>
                  <a:schemeClr val="tx1"/>
                </a:solidFill>
                <a:latin typeface="FrutigerNext LT Regular" pitchFamily="34" charset="0"/>
                <a:ea typeface="华文细黑" pitchFamily="2" charset="-122"/>
                <a:cs typeface="+mn-cs"/>
              </a:rPr>
              <a:t>ping</a:t>
            </a:r>
            <a:r>
              <a:rPr lang="zh-CN" altLang="zh-CN" sz="1100" kern="1200" dirty="0" smtClean="0">
                <a:solidFill>
                  <a:schemeClr val="tx1"/>
                </a:solidFill>
                <a:latin typeface="FrutigerNext LT Regular" pitchFamily="34" charset="0"/>
                <a:ea typeface="华文细黑" pitchFamily="2" charset="-122"/>
                <a:cs typeface="+mn-cs"/>
              </a:rPr>
              <a:t>包的时延过大，会拉低平均时延</a:t>
            </a:r>
            <a:r>
              <a:rPr lang="en-US" altLang="zh-CN" sz="1100" kern="1200" dirty="0" smtClean="0">
                <a:solidFill>
                  <a:schemeClr val="tx1"/>
                </a:solidFill>
                <a:latin typeface="FrutigerNext LT Regular" pitchFamily="34" charset="0"/>
                <a:ea typeface="华文细黑" pitchFamily="2" charset="-122"/>
                <a:cs typeface="+mn-cs"/>
              </a:rPr>
              <a:t>.</a:t>
            </a:r>
            <a:endParaRPr lang="zh-CN" altLang="zh-CN" sz="1100" kern="1200" dirty="0" smtClean="0">
              <a:solidFill>
                <a:schemeClr val="tx1"/>
              </a:solidFill>
              <a:latin typeface="FrutigerNext LT Regular" pitchFamily="34" charset="0"/>
              <a:ea typeface="华文细黑" pitchFamily="2" charset="-122"/>
              <a:cs typeface="+mn-cs"/>
            </a:endParaRP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81</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4533429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84</a:t>
            </a:fld>
            <a:endParaRPr lang="en-US" altLang="zh-CN"/>
          </a:p>
        </p:txBody>
      </p:sp>
    </p:spTree>
    <p:extLst>
      <p:ext uri="{BB962C8B-B14F-4D97-AF65-F5344CB8AC3E}">
        <p14:creationId xmlns:p14="http://schemas.microsoft.com/office/powerpoint/2010/main" val="105065840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在对该站点完成相关的验证后，把详细的分析结果填入《</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单站点验证表》。</a:t>
            </a:r>
          </a:p>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对于单站验证环节，由于硬件故障，参数配置错误，</a:t>
            </a:r>
            <a:r>
              <a:rPr lang="en-US"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窗口配置不合理等各方面的原因，都有可能导致单用户</a:t>
            </a:r>
            <a:r>
              <a:rPr lang="en-US"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业务达不到峰值，网优工程师需要逐一排查。</a:t>
            </a:r>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85</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68255073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b="0" kern="1200" dirty="0" smtClean="0">
                <a:solidFill>
                  <a:schemeClr val="tx1"/>
                </a:solidFill>
                <a:latin typeface="FrutigerNext LT Regular" pitchFamily="34" charset="0"/>
                <a:ea typeface="华文细黑" pitchFamily="2" charset="-122"/>
                <a:cs typeface="+mn-cs"/>
              </a:rPr>
              <a:t>涉及命令及操作指导</a:t>
            </a:r>
          </a:p>
          <a:p>
            <a:pPr lvl="1"/>
            <a:r>
              <a:rPr lang="zh-CN" altLang="zh-CN" sz="1100" kern="1200" dirty="0" smtClean="0">
                <a:solidFill>
                  <a:schemeClr val="tx1"/>
                </a:solidFill>
                <a:latin typeface="FrutigerNext LT Regular" pitchFamily="34" charset="0"/>
                <a:ea typeface="华文细黑" pitchFamily="2" charset="-122"/>
                <a:cs typeface="+mn-cs"/>
              </a:rPr>
              <a:t>测试时，如果有</a:t>
            </a:r>
            <a:r>
              <a:rPr lang="en-US" altLang="zh-CN" sz="1100" kern="1200" dirty="0" smtClean="0">
                <a:solidFill>
                  <a:schemeClr val="tx1"/>
                </a:solidFill>
                <a:latin typeface="FrutigerNext LT Regular" pitchFamily="34" charset="0"/>
                <a:ea typeface="华文细黑" pitchFamily="2" charset="-122"/>
                <a:cs typeface="+mn-cs"/>
              </a:rPr>
              <a:t>FTP</a:t>
            </a:r>
            <a:r>
              <a:rPr lang="zh-CN" altLang="zh-CN" sz="1100" kern="1200" dirty="0" smtClean="0">
                <a:solidFill>
                  <a:schemeClr val="tx1"/>
                </a:solidFill>
                <a:latin typeface="FrutigerNext LT Regular" pitchFamily="34" charset="0"/>
                <a:ea typeface="华文细黑" pitchFamily="2" charset="-122"/>
                <a:cs typeface="+mn-cs"/>
              </a:rPr>
              <a:t>，则尽量作用</a:t>
            </a:r>
            <a:r>
              <a:rPr lang="en-US" altLang="zh-CN" sz="1100" kern="1200" dirty="0" smtClean="0">
                <a:solidFill>
                  <a:schemeClr val="tx1"/>
                </a:solidFill>
                <a:latin typeface="FrutigerNext LT Regular" pitchFamily="34" charset="0"/>
                <a:ea typeface="华文细黑" pitchFamily="2" charset="-122"/>
                <a:cs typeface="+mn-cs"/>
              </a:rPr>
              <a:t>FTP</a:t>
            </a:r>
            <a:r>
              <a:rPr lang="zh-CN" altLang="zh-CN" sz="1100" kern="1200" dirty="0" smtClean="0">
                <a:solidFill>
                  <a:schemeClr val="tx1"/>
                </a:solidFill>
                <a:latin typeface="FrutigerNext LT Regular" pitchFamily="34" charset="0"/>
                <a:ea typeface="华文细黑" pitchFamily="2" charset="-122"/>
                <a:cs typeface="+mn-cs"/>
              </a:rPr>
              <a:t>进行测试，如果没有，首先</a:t>
            </a:r>
            <a:r>
              <a:rPr lang="en-US"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进行测试</a:t>
            </a:r>
            <a:r>
              <a:rPr lang="zh-CN" altLang="en-US" sz="1100" kern="1200" dirty="0" smtClean="0">
                <a:solidFill>
                  <a:schemeClr val="tx1"/>
                </a:solidFill>
                <a:latin typeface="FrutigerNext LT Regular" pitchFamily="34" charset="0"/>
                <a:ea typeface="华文细黑" pitchFamily="2" charset="-122"/>
                <a:cs typeface="+mn-cs"/>
              </a:rPr>
              <a:t>。</a:t>
            </a:r>
            <a:endParaRPr lang="en-US" altLang="zh-CN" sz="1100" kern="1200" dirty="0" smtClean="0">
              <a:solidFill>
                <a:schemeClr val="tx1"/>
              </a:solidFill>
              <a:latin typeface="FrutigerNext LT Regular" pitchFamily="34" charset="0"/>
              <a:ea typeface="华文细黑" pitchFamily="2" charset="-122"/>
              <a:cs typeface="+mn-cs"/>
            </a:endParaRPr>
          </a:p>
          <a:p>
            <a:pPr lvl="1"/>
            <a:r>
              <a:rPr lang="zh-CN" altLang="zh-CN" sz="1100" kern="1200" dirty="0" smtClean="0">
                <a:solidFill>
                  <a:schemeClr val="tx1"/>
                </a:solidFill>
                <a:latin typeface="FrutigerNext LT Regular" pitchFamily="34" charset="0"/>
                <a:ea typeface="华文细黑" pitchFamily="2" charset="-122"/>
                <a:cs typeface="+mn-cs"/>
              </a:rPr>
              <a:t>如果无法进</a:t>
            </a:r>
            <a:r>
              <a:rPr lang="en-US"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测试，则使用</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进行测试</a:t>
            </a:r>
            <a:r>
              <a:rPr lang="zh-CN" altLang="en-US" sz="1100" kern="1200" dirty="0" smtClean="0">
                <a:solidFill>
                  <a:schemeClr val="tx1"/>
                </a:solidFill>
                <a:latin typeface="FrutigerNext LT Regular" pitchFamily="34" charset="0"/>
                <a:ea typeface="华文细黑" pitchFamily="2" charset="-122"/>
                <a:cs typeface="+mn-cs"/>
              </a:rPr>
              <a:t>。</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87</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97765749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type="body" idx="1"/>
          </p:nvPr>
        </p:nvSpPr>
        <p:spPr bwMode="auto">
          <a:noFill/>
        </p:spPr>
        <p:txBody>
          <a:bodyPr wrap="square" numCol="1" anchor="t" anchorCtr="0" compatLnSpc="1">
            <a:prstTxWarp prst="textNoShape">
              <a:avLst/>
            </a:prstTxWarp>
            <a:normAutofit lnSpcReduction="10000"/>
          </a:bodyPr>
          <a:lstStyle/>
          <a:p>
            <a:pPr>
              <a:lnSpc>
                <a:spcPct val="100000"/>
              </a:lnSpc>
              <a:spcAft>
                <a:spcPts val="193"/>
              </a:spcAft>
            </a:pPr>
            <a:r>
              <a:rPr lang="zh-CN" altLang="en-US" dirty="0" smtClean="0"/>
              <a:t>参数描述：</a:t>
            </a:r>
            <a:endParaRPr lang="en-US" altLang="zh-CN" dirty="0" smtClean="0"/>
          </a:p>
          <a:p>
            <a:pPr>
              <a:lnSpc>
                <a:spcPct val="100000"/>
              </a:lnSpc>
              <a:spcAft>
                <a:spcPts val="193"/>
              </a:spcAft>
            </a:pPr>
            <a:r>
              <a:rPr kumimoji="1" lang="en-US" altLang="zh-CN" b="1" i="1" dirty="0" smtClean="0"/>
              <a:t>User</a:t>
            </a:r>
            <a:r>
              <a:rPr kumimoji="1" lang="zh-CN" altLang="en-US" dirty="0" smtClean="0"/>
              <a:t>：指示访问</a:t>
            </a:r>
            <a:r>
              <a:rPr kumimoji="1" lang="en-US" altLang="zh-CN" dirty="0" smtClean="0"/>
              <a:t>FTP</a:t>
            </a:r>
            <a:r>
              <a:rPr kumimoji="1" lang="zh-CN" altLang="en-US" dirty="0" smtClean="0"/>
              <a:t>服务器的用户名。</a:t>
            </a:r>
          </a:p>
          <a:p>
            <a:pPr lvl="1">
              <a:lnSpc>
                <a:spcPct val="100000"/>
              </a:lnSpc>
              <a:spcAft>
                <a:spcPts val="193"/>
              </a:spcAft>
            </a:pPr>
            <a:r>
              <a:rPr lang="zh-CN" altLang="en-US" dirty="0" smtClean="0"/>
              <a:t>缺省值：无</a:t>
            </a:r>
            <a:endParaRPr lang="en-US" altLang="zh-CN" dirty="0" smtClean="0"/>
          </a:p>
          <a:p>
            <a:pPr>
              <a:lnSpc>
                <a:spcPct val="100000"/>
              </a:lnSpc>
              <a:spcAft>
                <a:spcPts val="193"/>
              </a:spcAft>
            </a:pPr>
            <a:r>
              <a:rPr kumimoji="1" lang="en-US" altLang="zh-CN" b="1" i="1" dirty="0" smtClean="0"/>
              <a:t>Password</a:t>
            </a:r>
            <a:r>
              <a:rPr kumimoji="1" lang="zh-CN" altLang="en-US" dirty="0" smtClean="0"/>
              <a:t>：</a:t>
            </a:r>
            <a:r>
              <a:rPr lang="zh-CN" altLang="en-US" dirty="0" smtClean="0"/>
              <a:t>访问</a:t>
            </a:r>
            <a:r>
              <a:rPr lang="en-US" altLang="zh-CN" dirty="0" smtClean="0"/>
              <a:t>FTP</a:t>
            </a:r>
            <a:r>
              <a:rPr lang="zh-CN" altLang="en-US" dirty="0" smtClean="0"/>
              <a:t>服务器的用户密码。 </a:t>
            </a:r>
            <a:endParaRPr lang="en-US" altLang="zh-CN" dirty="0" smtClean="0"/>
          </a:p>
          <a:p>
            <a:pPr>
              <a:lnSpc>
                <a:spcPct val="100000"/>
              </a:lnSpc>
              <a:spcAft>
                <a:spcPts val="193"/>
              </a:spcAft>
            </a:pPr>
            <a:r>
              <a:rPr kumimoji="1" lang="en-US" altLang="zh-CN" b="1" i="1" dirty="0" smtClean="0"/>
              <a:t>Remote File</a:t>
            </a:r>
            <a:r>
              <a:rPr kumimoji="1" lang="zh-CN" altLang="en-US" dirty="0" smtClean="0"/>
              <a:t>：</a:t>
            </a:r>
            <a:r>
              <a:rPr lang="zh-CN" altLang="en-US" dirty="0" smtClean="0"/>
              <a:t>指示</a:t>
            </a:r>
            <a:r>
              <a:rPr lang="en-US" altLang="zh-CN" dirty="0" smtClean="0"/>
              <a:t>FTP</a:t>
            </a:r>
            <a:r>
              <a:rPr lang="zh-CN" altLang="en-US" dirty="0" smtClean="0"/>
              <a:t>服务器上下载文件的路径。</a:t>
            </a:r>
            <a:r>
              <a:rPr lang="en-US" altLang="zh-CN" dirty="0" smtClean="0"/>
              <a:t>.</a:t>
            </a:r>
            <a:endParaRPr lang="zh-CN" altLang="en-US" dirty="0" smtClean="0"/>
          </a:p>
          <a:p>
            <a:pPr lvl="1">
              <a:lnSpc>
                <a:spcPct val="100000"/>
              </a:lnSpc>
              <a:spcAft>
                <a:spcPts val="193"/>
              </a:spcAft>
            </a:pPr>
            <a:r>
              <a:rPr lang="zh-CN" altLang="en-US" dirty="0" smtClean="0"/>
              <a:t>输入格式为</a:t>
            </a:r>
            <a:r>
              <a:rPr lang="en-US" altLang="zh-CN" dirty="0" smtClean="0"/>
              <a:t>ftp://</a:t>
            </a:r>
            <a:r>
              <a:rPr lang="en-US" altLang="zh-CN" i="1" dirty="0" smtClean="0"/>
              <a:t>IP</a:t>
            </a:r>
            <a:r>
              <a:rPr lang="zh-CN" altLang="en-US" i="1" dirty="0" smtClean="0"/>
              <a:t>地址或域名</a:t>
            </a:r>
            <a:r>
              <a:rPr lang="en-US" altLang="zh-CN" dirty="0" smtClean="0"/>
              <a:t>/</a:t>
            </a:r>
            <a:r>
              <a:rPr lang="zh-CN" altLang="en-US" i="1" dirty="0" smtClean="0"/>
              <a:t>文件名</a:t>
            </a:r>
            <a:r>
              <a:rPr lang="zh-CN" altLang="en-US" dirty="0" smtClean="0"/>
              <a:t>。</a:t>
            </a:r>
            <a:endParaRPr kumimoji="1" lang="zh-CN" altLang="en-US" dirty="0" smtClean="0"/>
          </a:p>
          <a:p>
            <a:pPr>
              <a:lnSpc>
                <a:spcPct val="100000"/>
              </a:lnSpc>
              <a:spcAft>
                <a:spcPts val="193"/>
              </a:spcAft>
            </a:pPr>
            <a:r>
              <a:rPr kumimoji="1" lang="en-US" altLang="zh-CN" b="1" i="1" dirty="0" smtClean="0"/>
              <a:t>Port</a:t>
            </a:r>
            <a:r>
              <a:rPr kumimoji="1" lang="zh-CN" altLang="en-US" dirty="0" smtClean="0"/>
              <a:t>：指示</a:t>
            </a:r>
            <a:r>
              <a:rPr lang="en-US" altLang="zh-CN" dirty="0" smtClean="0"/>
              <a:t>FTP</a:t>
            </a:r>
            <a:r>
              <a:rPr lang="zh-CN" altLang="en-US" dirty="0" smtClean="0"/>
              <a:t>服务器的端口号。</a:t>
            </a:r>
          </a:p>
          <a:p>
            <a:pPr lvl="1">
              <a:lnSpc>
                <a:spcPct val="100000"/>
              </a:lnSpc>
              <a:spcAft>
                <a:spcPts val="193"/>
              </a:spcAft>
            </a:pPr>
            <a:r>
              <a:rPr lang="zh-CN" altLang="en-US" dirty="0" smtClean="0"/>
              <a:t>缺省值：</a:t>
            </a:r>
            <a:r>
              <a:rPr lang="en-US" altLang="zh-CN" dirty="0" smtClean="0"/>
              <a:t> 21</a:t>
            </a:r>
          </a:p>
          <a:p>
            <a:pPr>
              <a:lnSpc>
                <a:spcPct val="100000"/>
              </a:lnSpc>
              <a:spcAft>
                <a:spcPts val="193"/>
              </a:spcAft>
            </a:pPr>
            <a:r>
              <a:rPr kumimoji="1" lang="en-US" altLang="zh-CN" b="1" i="1" dirty="0" smtClean="0"/>
              <a:t>Write Local File</a:t>
            </a:r>
            <a:r>
              <a:rPr kumimoji="1" lang="zh-CN" altLang="en-US" dirty="0" smtClean="0"/>
              <a:t>：指示</a:t>
            </a:r>
            <a:r>
              <a:rPr lang="zh-CN" altLang="en-US" dirty="0" smtClean="0"/>
              <a:t>文件下载后，是否需要保存文件。</a:t>
            </a:r>
          </a:p>
          <a:p>
            <a:pPr lvl="1">
              <a:lnSpc>
                <a:spcPct val="115000"/>
              </a:lnSpc>
            </a:pPr>
            <a:r>
              <a:rPr lang="zh-CN" altLang="en-US" dirty="0" smtClean="0"/>
              <a:t>如果设置为“</a:t>
            </a:r>
            <a:r>
              <a:rPr lang="en-US" altLang="zh-CN" dirty="0" smtClean="0"/>
              <a:t>True”</a:t>
            </a:r>
            <a:r>
              <a:rPr lang="zh-CN" altLang="en-US" dirty="0" smtClean="0"/>
              <a:t>，表示文件下载后，保存该文件。 </a:t>
            </a:r>
          </a:p>
          <a:p>
            <a:pPr lvl="1">
              <a:lnSpc>
                <a:spcPct val="115000"/>
              </a:lnSpc>
            </a:pPr>
            <a:r>
              <a:rPr lang="zh-CN" altLang="en-US" dirty="0" smtClean="0"/>
              <a:t>如果设置为“</a:t>
            </a:r>
            <a:r>
              <a:rPr lang="en-US" altLang="zh-CN" dirty="0" smtClean="0"/>
              <a:t>False”</a:t>
            </a:r>
            <a:r>
              <a:rPr lang="zh-CN" altLang="en-US" dirty="0" smtClean="0"/>
              <a:t>，表示文件下载后，不保存该文件。</a:t>
            </a:r>
          </a:p>
          <a:p>
            <a:pPr lvl="1">
              <a:lnSpc>
                <a:spcPct val="100000"/>
              </a:lnSpc>
              <a:spcAft>
                <a:spcPts val="193"/>
              </a:spcAft>
            </a:pPr>
            <a:r>
              <a:rPr lang="zh-CN" altLang="en-US" dirty="0" smtClean="0"/>
              <a:t>缺省值： </a:t>
            </a:r>
            <a:r>
              <a:rPr kumimoji="1" lang="en-US" altLang="zh-CN" b="1" i="1" dirty="0" smtClean="0"/>
              <a:t>False</a:t>
            </a:r>
            <a:endParaRPr lang="zh-CN" altLang="en-US" dirty="0" smtClean="0"/>
          </a:p>
          <a:p>
            <a:pPr>
              <a:lnSpc>
                <a:spcPct val="100000"/>
              </a:lnSpc>
              <a:spcAft>
                <a:spcPts val="193"/>
              </a:spcAft>
            </a:pPr>
            <a:r>
              <a:rPr kumimoji="1" lang="en-US" altLang="zh-CN" b="1" i="1" dirty="0" smtClean="0"/>
              <a:t>Local File</a:t>
            </a:r>
            <a:r>
              <a:rPr kumimoji="1" lang="zh-CN" altLang="en-US" dirty="0" smtClean="0"/>
              <a:t>：指示保存文件的路径及文件名。在“</a:t>
            </a:r>
            <a:r>
              <a:rPr kumimoji="1" lang="en-US" altLang="zh-CN" dirty="0" smtClean="0"/>
              <a:t>Write Local File”</a:t>
            </a:r>
            <a:r>
              <a:rPr kumimoji="1" lang="zh-CN" altLang="en-US" dirty="0" smtClean="0"/>
              <a:t>中选择“</a:t>
            </a:r>
            <a:r>
              <a:rPr kumimoji="1" lang="en-US" altLang="zh-CN" dirty="0" smtClean="0"/>
              <a:t>True”</a:t>
            </a:r>
            <a:r>
              <a:rPr kumimoji="1" lang="zh-CN" altLang="en-US" dirty="0" smtClean="0"/>
              <a:t>时，可设置该属性。</a:t>
            </a:r>
          </a:p>
          <a:p>
            <a:pPr lvl="1">
              <a:lnSpc>
                <a:spcPct val="100000"/>
              </a:lnSpc>
              <a:spcAft>
                <a:spcPts val="193"/>
              </a:spcAft>
            </a:pPr>
            <a:r>
              <a:rPr lang="zh-CN" altLang="en-US" dirty="0" smtClean="0"/>
              <a:t>需要设置为完整的路径，如</a:t>
            </a:r>
            <a:r>
              <a:rPr lang="en-US" altLang="zh-CN" dirty="0" smtClean="0"/>
              <a:t>C:\test.dat</a:t>
            </a:r>
            <a:r>
              <a:rPr lang="zh-CN" altLang="en-US" dirty="0" smtClean="0"/>
              <a:t>。</a:t>
            </a:r>
            <a:endParaRPr kumimoji="1" lang="zh-CN" altLang="en-US" dirty="0" smtClean="0"/>
          </a:p>
          <a:p>
            <a:pPr>
              <a:lnSpc>
                <a:spcPct val="100000"/>
              </a:lnSpc>
              <a:spcAft>
                <a:spcPts val="193"/>
              </a:spcAft>
            </a:pPr>
            <a:r>
              <a:rPr kumimoji="1" lang="en-US" altLang="zh-CN" b="1" i="1" dirty="0" smtClean="0"/>
              <a:t>Multi Task Count</a:t>
            </a:r>
            <a:r>
              <a:rPr kumimoji="1" lang="zh-CN" altLang="en-US" dirty="0" smtClean="0"/>
              <a:t>：指示</a:t>
            </a:r>
            <a:r>
              <a:rPr lang="en-US" altLang="zh-CN" dirty="0" smtClean="0"/>
              <a:t>FTP</a:t>
            </a:r>
            <a:r>
              <a:rPr lang="zh-CN" altLang="en-US" dirty="0" smtClean="0"/>
              <a:t>传输的线程数。一个</a:t>
            </a:r>
            <a:r>
              <a:rPr lang="en-US" altLang="zh-CN" dirty="0" smtClean="0"/>
              <a:t>FTP</a:t>
            </a:r>
            <a:r>
              <a:rPr lang="zh-CN" altLang="en-US" dirty="0" smtClean="0"/>
              <a:t>传输任务可以采取多线程的方式完成。 </a:t>
            </a:r>
          </a:p>
          <a:p>
            <a:pPr lvl="1">
              <a:lnSpc>
                <a:spcPct val="100000"/>
              </a:lnSpc>
              <a:spcAft>
                <a:spcPts val="193"/>
              </a:spcAft>
            </a:pPr>
            <a:r>
              <a:rPr lang="zh-CN" altLang="en-US" dirty="0" smtClean="0"/>
              <a:t>范围为：</a:t>
            </a:r>
            <a:r>
              <a:rPr lang="en-US" altLang="zh-CN" dirty="0" smtClean="0"/>
              <a:t>1</a:t>
            </a:r>
            <a:r>
              <a:rPr lang="zh-CN" altLang="en-US" dirty="0" smtClean="0"/>
              <a:t>～</a:t>
            </a:r>
            <a:r>
              <a:rPr lang="en-US" altLang="zh-CN" dirty="0" smtClean="0"/>
              <a:t>10</a:t>
            </a:r>
          </a:p>
          <a:p>
            <a:pPr lvl="1">
              <a:lnSpc>
                <a:spcPct val="100000"/>
              </a:lnSpc>
              <a:spcAft>
                <a:spcPts val="193"/>
              </a:spcAft>
            </a:pPr>
            <a:r>
              <a:rPr lang="zh-CN" altLang="en-US" dirty="0" smtClean="0"/>
              <a:t>缺省值： </a:t>
            </a:r>
            <a:r>
              <a:rPr lang="en-US" altLang="zh-CN" dirty="0" smtClean="0"/>
              <a:t>1</a:t>
            </a:r>
            <a:endParaRPr lang="zh-CN" altLang="en-US" dirty="0" smtClean="0"/>
          </a:p>
          <a:p>
            <a:pPr>
              <a:lnSpc>
                <a:spcPct val="100000"/>
              </a:lnSpc>
              <a:spcAft>
                <a:spcPts val="193"/>
              </a:spcAft>
            </a:pPr>
            <a:r>
              <a:rPr kumimoji="1" lang="en-US" altLang="zh-CN" b="1" i="1" dirty="0" smtClean="0"/>
              <a:t>Test Interval</a:t>
            </a:r>
            <a:r>
              <a:rPr kumimoji="1" lang="zh-CN" altLang="en-US" dirty="0" smtClean="0"/>
              <a:t>：</a:t>
            </a:r>
            <a:r>
              <a:rPr lang="zh-CN" altLang="en-US" dirty="0" smtClean="0"/>
              <a:t>两次</a:t>
            </a:r>
            <a:r>
              <a:rPr lang="en-US" altLang="zh-CN" dirty="0" smtClean="0"/>
              <a:t>FTP</a:t>
            </a:r>
            <a:r>
              <a:rPr lang="zh-CN" altLang="en-US" dirty="0" smtClean="0"/>
              <a:t>下载测试的间隔时长。时间从上一次测试结束到下一次测试开始。</a:t>
            </a:r>
            <a:endParaRPr kumimoji="1" lang="en-US" altLang="zh-CN" dirty="0" smtClean="0"/>
          </a:p>
          <a:p>
            <a:pPr lvl="1">
              <a:lnSpc>
                <a:spcPct val="100000"/>
              </a:lnSpc>
              <a:spcAft>
                <a:spcPts val="193"/>
              </a:spcAft>
            </a:pPr>
            <a:r>
              <a:rPr lang="zh-CN" altLang="en-US" dirty="0" smtClean="0"/>
              <a:t>单位： </a:t>
            </a:r>
            <a:r>
              <a:rPr lang="en-US" altLang="zh-CN" dirty="0" smtClean="0"/>
              <a:t>s</a:t>
            </a:r>
            <a:endParaRPr lang="zh-CN" altLang="en-US" dirty="0" smtClean="0"/>
          </a:p>
          <a:p>
            <a:pPr lvl="1">
              <a:lnSpc>
                <a:spcPct val="100000"/>
              </a:lnSpc>
              <a:spcAft>
                <a:spcPts val="193"/>
              </a:spcAft>
            </a:pPr>
            <a:r>
              <a:rPr lang="zh-CN" altLang="en-US" dirty="0" smtClean="0"/>
              <a:t>缺省值： </a:t>
            </a:r>
            <a:r>
              <a:rPr lang="en-US" altLang="zh-CN" dirty="0" smtClean="0"/>
              <a:t>15</a:t>
            </a:r>
            <a:endParaRPr lang="zh-CN" altLang="en-US" dirty="0" smtClean="0"/>
          </a:p>
        </p:txBody>
      </p:sp>
      <p:sp>
        <p:nvSpPr>
          <p:cNvPr id="141315" name="Slide Image Placeholder 9"/>
          <p:cNvSpPr>
            <a:spLocks noGrp="1" noRot="1" noChangeAspect="1" noTextEdit="1"/>
          </p:cNvSpPr>
          <p:nvPr>
            <p:ph type="sldImg"/>
          </p:nvPr>
        </p:nvSpPr>
        <p:spPr bwMode="auto">
          <a:noFill/>
          <a:ln>
            <a:solidFill>
              <a:srgbClr val="000000"/>
            </a:solidFill>
            <a:miter lim="800000"/>
            <a:headEnd/>
            <a:tailEnd/>
          </a:ln>
        </p:spPr>
      </p:sp>
      <p:sp>
        <p:nvSpPr>
          <p:cNvPr id="141316"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41317"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41318"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174988901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3"/>
          <p:cNvSpPr>
            <a:spLocks noGrp="1" noChangeArrowheads="1"/>
          </p:cNvSpPr>
          <p:nvPr>
            <p:ph type="body" idx="1"/>
          </p:nvPr>
        </p:nvSpPr>
        <p:spPr bwMode="auto">
          <a:xfrm>
            <a:off x="689389" y="743099"/>
            <a:ext cx="5445099" cy="4472471"/>
          </a:xfrm>
          <a:noFill/>
        </p:spPr>
        <p:txBody>
          <a:bodyPr wrap="square" numCol="1" anchor="t" anchorCtr="0" compatLnSpc="1">
            <a:prstTxWarp prst="textNoShape">
              <a:avLst/>
            </a:prstTxWarp>
          </a:bodyPr>
          <a:lstStyle/>
          <a:p>
            <a:pPr>
              <a:lnSpc>
                <a:spcPct val="100000"/>
              </a:lnSpc>
              <a:spcAft>
                <a:spcPts val="193"/>
              </a:spcAft>
            </a:pPr>
            <a:r>
              <a:rPr kumimoji="1" lang="en-US" altLang="zh-CN" b="1" i="1" dirty="0" smtClean="0"/>
              <a:t>Test Count</a:t>
            </a:r>
            <a:r>
              <a:rPr kumimoji="1" lang="zh-CN" altLang="en-US" dirty="0" smtClean="0"/>
              <a:t>：指示</a:t>
            </a:r>
            <a:r>
              <a:rPr kumimoji="1" lang="en-US" altLang="zh-CN" dirty="0" smtClean="0"/>
              <a:t>FTP</a:t>
            </a:r>
            <a:r>
              <a:rPr kumimoji="1" lang="zh-CN" altLang="en-US" dirty="0" smtClean="0"/>
              <a:t>下载测试的次数。</a:t>
            </a:r>
            <a:endParaRPr lang="en-US" altLang="zh-CN" dirty="0" smtClean="0"/>
          </a:p>
          <a:p>
            <a:pPr lvl="1">
              <a:lnSpc>
                <a:spcPct val="100000"/>
              </a:lnSpc>
              <a:spcAft>
                <a:spcPts val="193"/>
              </a:spcAft>
            </a:pPr>
            <a:r>
              <a:rPr lang="zh-CN" altLang="en-US" dirty="0" smtClean="0"/>
              <a:t>缺省值： </a:t>
            </a:r>
            <a:r>
              <a:rPr kumimoji="1" lang="en-US" altLang="zh-CN" dirty="0" smtClean="0"/>
              <a:t>1</a:t>
            </a:r>
            <a:endParaRPr kumimoji="1" lang="zh-CN" altLang="en-US" dirty="0" smtClean="0"/>
          </a:p>
          <a:p>
            <a:pPr>
              <a:lnSpc>
                <a:spcPct val="100000"/>
              </a:lnSpc>
              <a:spcAft>
                <a:spcPts val="193"/>
              </a:spcAft>
            </a:pPr>
            <a:r>
              <a:rPr kumimoji="1" lang="en-US" altLang="zh-CN" b="1" i="1" dirty="0" smtClean="0"/>
              <a:t>Disconnection Mode</a:t>
            </a:r>
            <a:r>
              <a:rPr kumimoji="1" lang="zh-CN" altLang="en-US" dirty="0" smtClean="0"/>
              <a:t>：指示</a:t>
            </a:r>
            <a:r>
              <a:rPr lang="zh-CN" altLang="en-US" dirty="0" smtClean="0"/>
              <a:t>断开当前激活的数据连接的方式。</a:t>
            </a:r>
            <a:endParaRPr kumimoji="1" lang="zh-CN" altLang="en-US" dirty="0" smtClean="0"/>
          </a:p>
          <a:p>
            <a:pPr lvl="1">
              <a:lnSpc>
                <a:spcPct val="100000"/>
              </a:lnSpc>
              <a:spcAft>
                <a:spcPts val="193"/>
              </a:spcAft>
            </a:pPr>
            <a:r>
              <a:rPr lang="zh-CN" altLang="en-US" dirty="0" smtClean="0"/>
              <a:t>目前，只支持</a:t>
            </a:r>
            <a:r>
              <a:rPr lang="en-US" altLang="zh-CN" b="1" i="1" dirty="0" smtClean="0"/>
              <a:t>Keep Connecting </a:t>
            </a:r>
            <a:r>
              <a:rPr lang="zh-CN" altLang="en-US" dirty="0" smtClean="0"/>
              <a:t>，即下载完成后，不断开连接，经过“</a:t>
            </a:r>
            <a:r>
              <a:rPr lang="en-US" altLang="zh-CN" dirty="0" smtClean="0"/>
              <a:t>Test Interval”</a:t>
            </a:r>
            <a:r>
              <a:rPr lang="zh-CN" altLang="en-US" dirty="0" smtClean="0"/>
              <a:t>后，进行下一次</a:t>
            </a:r>
            <a:r>
              <a:rPr lang="en-US" altLang="zh-CN" dirty="0" smtClean="0"/>
              <a:t>FTP Download</a:t>
            </a:r>
            <a:r>
              <a:rPr lang="zh-CN" altLang="en-US" dirty="0" smtClean="0"/>
              <a:t>测试。</a:t>
            </a:r>
          </a:p>
        </p:txBody>
      </p:sp>
      <p:sp>
        <p:nvSpPr>
          <p:cNvPr id="142339"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42340" name="页脚占位符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42341" name="页眉占位符 6"/>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248197601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使用</a:t>
            </a:r>
            <a:r>
              <a:rPr lang="en-US" altLang="zh-CN" sz="1100" kern="1200" dirty="0" smtClean="0">
                <a:solidFill>
                  <a:schemeClr val="tx1"/>
                </a:solidFill>
                <a:latin typeface="FrutigerNext LT Regular" pitchFamily="34" charset="0"/>
                <a:ea typeface="华文细黑" pitchFamily="2" charset="-122"/>
                <a:cs typeface="+mn-cs"/>
              </a:rPr>
              <a:t>TUE</a:t>
            </a:r>
            <a:r>
              <a:rPr lang="zh-CN" altLang="zh-CN" sz="1100" kern="1200" dirty="0" smtClean="0">
                <a:solidFill>
                  <a:schemeClr val="tx1"/>
                </a:solidFill>
                <a:latin typeface="FrutigerNext LT Regular" pitchFamily="34" charset="0"/>
                <a:ea typeface="华文细黑" pitchFamily="2" charset="-122"/>
                <a:cs typeface="+mn-cs"/>
              </a:rPr>
              <a:t>与商用终端测试时，峰值有一定的区别，原因在于</a:t>
            </a:r>
            <a:r>
              <a:rPr lang="en-US" altLang="zh-CN" sz="1100" kern="1200" dirty="0" smtClean="0">
                <a:solidFill>
                  <a:schemeClr val="tx1"/>
                </a:solidFill>
                <a:latin typeface="FrutigerNext LT Regular" pitchFamily="34" charset="0"/>
                <a:ea typeface="华文细黑" pitchFamily="2" charset="-122"/>
                <a:cs typeface="+mn-cs"/>
              </a:rPr>
              <a:t>TUE</a:t>
            </a:r>
            <a:r>
              <a:rPr lang="zh-CN" altLang="zh-CN" sz="1100" kern="1200" dirty="0" smtClean="0">
                <a:solidFill>
                  <a:schemeClr val="tx1"/>
                </a:solidFill>
                <a:latin typeface="FrutigerNext LT Regular" pitchFamily="34" charset="0"/>
                <a:ea typeface="华文细黑" pitchFamily="2" charset="-122"/>
                <a:cs typeface="+mn-cs"/>
              </a:rPr>
              <a:t>为</a:t>
            </a:r>
            <a:r>
              <a:rPr lang="en-US" altLang="zh-CN" sz="1100" kern="1200" dirty="0" smtClean="0">
                <a:solidFill>
                  <a:schemeClr val="tx1"/>
                </a:solidFill>
                <a:latin typeface="FrutigerNext LT Regular" pitchFamily="34" charset="0"/>
                <a:ea typeface="华文细黑" pitchFamily="2" charset="-122"/>
                <a:cs typeface="+mn-cs"/>
              </a:rPr>
              <a:t>CAT5</a:t>
            </a:r>
            <a:r>
              <a:rPr lang="zh-CN" altLang="zh-CN" sz="1100" kern="1200" dirty="0" smtClean="0">
                <a:solidFill>
                  <a:schemeClr val="tx1"/>
                </a:solidFill>
                <a:latin typeface="FrutigerNext LT Regular" pitchFamily="34" charset="0"/>
                <a:ea typeface="华文细黑" pitchFamily="2" charset="-122"/>
                <a:cs typeface="+mn-cs"/>
              </a:rPr>
              <a:t>的终端，商用终端为</a:t>
            </a:r>
            <a:r>
              <a:rPr lang="en-US" altLang="zh-CN" sz="1100" kern="1200" dirty="0" smtClean="0">
                <a:solidFill>
                  <a:schemeClr val="tx1"/>
                </a:solidFill>
                <a:latin typeface="FrutigerNext LT Regular" pitchFamily="34" charset="0"/>
                <a:ea typeface="华文细黑" pitchFamily="2" charset="-122"/>
                <a:cs typeface="+mn-cs"/>
              </a:rPr>
              <a:t>CAT3</a:t>
            </a:r>
            <a:r>
              <a:rPr lang="zh-CN" altLang="zh-CN" sz="1100" kern="1200" dirty="0" smtClean="0">
                <a:solidFill>
                  <a:schemeClr val="tx1"/>
                </a:solidFill>
                <a:latin typeface="FrutigerNext LT Regular" pitchFamily="34" charset="0"/>
                <a:ea typeface="华文细黑" pitchFamily="2" charset="-122"/>
                <a:cs typeface="+mn-cs"/>
              </a:rPr>
              <a:t>，前者上行可使用</a:t>
            </a:r>
            <a:r>
              <a:rPr lang="en-US" altLang="zh-CN" sz="1100" kern="1200" dirty="0" smtClean="0">
                <a:solidFill>
                  <a:schemeClr val="tx1"/>
                </a:solidFill>
                <a:latin typeface="FrutigerNext LT Regular" pitchFamily="34" charset="0"/>
                <a:ea typeface="华文细黑" pitchFamily="2" charset="-122"/>
                <a:cs typeface="+mn-cs"/>
              </a:rPr>
              <a:t>64QAM</a:t>
            </a:r>
            <a:r>
              <a:rPr lang="zh-CN" altLang="zh-CN" sz="1100" kern="1200" dirty="0" smtClean="0">
                <a:solidFill>
                  <a:schemeClr val="tx1"/>
                </a:solidFill>
                <a:latin typeface="FrutigerNext LT Regular" pitchFamily="34" charset="0"/>
                <a:ea typeface="华文细黑" pitchFamily="2" charset="-122"/>
                <a:cs typeface="+mn-cs"/>
              </a:rPr>
              <a:t>，而后者最高可使用</a:t>
            </a:r>
            <a:r>
              <a:rPr lang="en-US" altLang="zh-CN" sz="1100" kern="1200" dirty="0" smtClean="0">
                <a:solidFill>
                  <a:schemeClr val="tx1"/>
                </a:solidFill>
                <a:latin typeface="FrutigerNext LT Regular" pitchFamily="34" charset="0"/>
                <a:ea typeface="华文细黑" pitchFamily="2" charset="-122"/>
                <a:cs typeface="+mn-cs"/>
              </a:rPr>
              <a:t>16QAM</a:t>
            </a:r>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zh-CN" altLang="zh-CN" dirty="0" smtClean="0"/>
              <a:t>涉及命令及操作指导</a:t>
            </a:r>
            <a:r>
              <a:rPr lang="zh-CN" altLang="en-US" dirty="0" smtClean="0"/>
              <a:t>：</a:t>
            </a:r>
            <a:endParaRPr lang="en-US" altLang="zh-CN" dirty="0" smtClean="0"/>
          </a:p>
          <a:p>
            <a:pPr lvl="1"/>
            <a:r>
              <a:rPr lang="zh-CN" altLang="zh-CN" dirty="0" smtClean="0"/>
              <a:t>测试时，如果有</a:t>
            </a:r>
            <a:r>
              <a:rPr lang="en-US" altLang="zh-CN" dirty="0" smtClean="0"/>
              <a:t>FTP</a:t>
            </a:r>
            <a:r>
              <a:rPr lang="zh-CN" altLang="zh-CN" dirty="0" smtClean="0"/>
              <a:t>，则尽量作用</a:t>
            </a:r>
            <a:r>
              <a:rPr lang="en-US" altLang="zh-CN" dirty="0" smtClean="0"/>
              <a:t>FTP</a:t>
            </a:r>
            <a:r>
              <a:rPr lang="zh-CN" altLang="zh-CN" dirty="0" smtClean="0"/>
              <a:t>进行测试，如果没有，首先</a:t>
            </a:r>
            <a:r>
              <a:rPr lang="en-US" altLang="zh-CN" dirty="0" smtClean="0"/>
              <a:t>TCP</a:t>
            </a:r>
            <a:r>
              <a:rPr lang="zh-CN" altLang="zh-CN" dirty="0" smtClean="0"/>
              <a:t>进行测试</a:t>
            </a:r>
            <a:r>
              <a:rPr lang="zh-CN" altLang="en-US" dirty="0" smtClean="0"/>
              <a:t>。</a:t>
            </a:r>
            <a:endParaRPr lang="en-US" altLang="zh-CN" dirty="0" smtClean="0"/>
          </a:p>
          <a:p>
            <a:pPr lvl="1"/>
            <a:r>
              <a:rPr lang="zh-CN" altLang="zh-CN" dirty="0" smtClean="0"/>
              <a:t>如果无法进</a:t>
            </a:r>
            <a:r>
              <a:rPr lang="en-US" altLang="zh-CN" dirty="0" smtClean="0"/>
              <a:t>TCP</a:t>
            </a:r>
            <a:r>
              <a:rPr lang="zh-CN" altLang="zh-CN" dirty="0" smtClean="0"/>
              <a:t>测试，则使用</a:t>
            </a:r>
            <a:r>
              <a:rPr lang="en-US" altLang="zh-CN" dirty="0" smtClean="0"/>
              <a:t>UDP</a:t>
            </a:r>
            <a:r>
              <a:rPr lang="zh-CN" altLang="zh-CN" dirty="0" smtClean="0"/>
              <a:t>进行测试</a:t>
            </a:r>
            <a:r>
              <a:rPr lang="zh-CN" altLang="en-US" dirty="0" smtClean="0"/>
              <a:t>。</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93</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graphicFrame>
        <p:nvGraphicFramePr>
          <p:cNvPr id="7" name="表格 6"/>
          <p:cNvGraphicFramePr>
            <a:graphicFrameLocks noGrp="1"/>
          </p:cNvGraphicFramePr>
          <p:nvPr/>
        </p:nvGraphicFramePr>
        <p:xfrm>
          <a:off x="1676656" y="5394565"/>
          <a:ext cx="2832100" cy="918210"/>
        </p:xfrm>
        <a:graphic>
          <a:graphicData uri="http://schemas.openxmlformats.org/drawingml/2006/table">
            <a:tbl>
              <a:tblPr/>
              <a:tblGrid>
                <a:gridCol w="943610"/>
                <a:gridCol w="944245"/>
                <a:gridCol w="944245"/>
              </a:tblGrid>
              <a:tr h="237490">
                <a:tc>
                  <a:txBody>
                    <a:bodyPr/>
                    <a:lstStyle/>
                    <a:p>
                      <a:pPr marL="0" indent="0" algn="ctr">
                        <a:lnSpc>
                          <a:spcPct val="150000"/>
                        </a:lnSpc>
                        <a:spcAft>
                          <a:spcPts val="0"/>
                        </a:spcAft>
                      </a:pPr>
                      <a:r>
                        <a:rPr lang="zh-CN" sz="900" dirty="0">
                          <a:latin typeface="Times New Roman"/>
                          <a:ea typeface="宋体"/>
                        </a:rPr>
                        <a:t>下行吞吐率标准</a:t>
                      </a:r>
                      <a:endParaRPr lang="zh-CN" sz="1050" dirty="0">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15M</a:t>
                      </a:r>
                      <a:r>
                        <a:rPr lang="zh-CN" sz="900" kern="1200" dirty="0">
                          <a:solidFill>
                            <a:schemeClr val="tx1"/>
                          </a:solidFill>
                          <a:latin typeface="Times New Roman"/>
                          <a:ea typeface="宋体"/>
                          <a:cs typeface="+mn-cs"/>
                        </a:rPr>
                        <a:t>带宽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20M</a:t>
                      </a:r>
                      <a:r>
                        <a:rPr lang="zh-CN" sz="900" kern="1200" dirty="0">
                          <a:solidFill>
                            <a:schemeClr val="tx1"/>
                          </a:solidFill>
                          <a:latin typeface="Times New Roman"/>
                          <a:ea typeface="宋体"/>
                          <a:cs typeface="+mn-cs"/>
                        </a:rPr>
                        <a:t>带宽</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490">
                <a:tc>
                  <a:txBody>
                    <a:bodyPr/>
                    <a:lstStyle/>
                    <a:p>
                      <a:pPr marL="0" indent="0" algn="ctr" rtl="0" fontAlgn="t">
                        <a:lnSpc>
                          <a:spcPct val="150000"/>
                        </a:lnSpc>
                        <a:spcBef>
                          <a:spcPct val="0"/>
                        </a:spcBef>
                        <a:spcAft>
                          <a:spcPts val="0"/>
                        </a:spcAft>
                      </a:pPr>
                      <a:r>
                        <a:rPr lang="zh-CN" sz="900" kern="1200" dirty="0">
                          <a:solidFill>
                            <a:schemeClr val="tx1"/>
                          </a:solidFill>
                          <a:latin typeface="Times New Roman"/>
                          <a:ea typeface="宋体"/>
                          <a:cs typeface="+mn-cs"/>
                        </a:rPr>
                        <a:t>商用终端</a:t>
                      </a:r>
                      <a:r>
                        <a:rPr lang="en-US" sz="900" kern="1200" dirty="0">
                          <a:solidFill>
                            <a:schemeClr val="tx1"/>
                          </a:solidFill>
                          <a:latin typeface="Times New Roman"/>
                          <a:ea typeface="宋体"/>
                          <a:cs typeface="+mn-cs"/>
                        </a:rPr>
                        <a:t>(cat3)</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30Mbps</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35Mbps</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37490">
                <a:tc>
                  <a:txBody>
                    <a:bodyPr/>
                    <a:lstStyle/>
                    <a:p>
                      <a:pPr marL="0" indent="0" algn="ctr" rtl="0" fontAlgn="t">
                        <a:lnSpc>
                          <a:spcPct val="150000"/>
                        </a:lnSpc>
                        <a:spcBef>
                          <a:spcPct val="0"/>
                        </a:spcBef>
                        <a:spcAft>
                          <a:spcPts val="0"/>
                        </a:spcAft>
                      </a:pPr>
                      <a:r>
                        <a:rPr lang="zh-CN" sz="900" kern="1200" dirty="0">
                          <a:solidFill>
                            <a:schemeClr val="tx1"/>
                          </a:solidFill>
                          <a:latin typeface="Times New Roman"/>
                          <a:ea typeface="宋体"/>
                          <a:cs typeface="+mn-cs"/>
                        </a:rPr>
                        <a:t>商用终端</a:t>
                      </a:r>
                      <a:r>
                        <a:rPr lang="en-US" sz="900" kern="1200" dirty="0">
                          <a:solidFill>
                            <a:schemeClr val="tx1"/>
                          </a:solidFill>
                          <a:latin typeface="Times New Roman"/>
                          <a:ea typeface="宋体"/>
                          <a:cs typeface="+mn-cs"/>
                        </a:rPr>
                        <a:t>(cat4)</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30Mbps</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35Mbps</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40970">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TUE(cat5)</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35Mbps</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indent="0" algn="ctr" rtl="0" fontAlgn="t">
                        <a:lnSpc>
                          <a:spcPct val="150000"/>
                        </a:lnSpc>
                        <a:spcBef>
                          <a:spcPct val="0"/>
                        </a:spcBef>
                        <a:spcAft>
                          <a:spcPts val="0"/>
                        </a:spcAft>
                      </a:pPr>
                      <a:r>
                        <a:rPr lang="en-US" sz="900" kern="1200" dirty="0">
                          <a:solidFill>
                            <a:schemeClr val="tx1"/>
                          </a:solidFill>
                          <a:latin typeface="Times New Roman"/>
                          <a:ea typeface="宋体"/>
                          <a:cs typeface="+mn-cs"/>
                        </a:rPr>
                        <a:t>50Mbps</a:t>
                      </a:r>
                      <a:endParaRPr lang="zh-CN" sz="900" kern="1200" dirty="0">
                        <a:solidFill>
                          <a:schemeClr val="tx1"/>
                        </a:solidFill>
                        <a:latin typeface="Times New Roman"/>
                        <a:ea typeface="宋体"/>
                        <a:cs typeface="+mn-cs"/>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4896935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Notes Placeholder 9"/>
          <p:cNvSpPr>
            <a:spLocks noGrp="1"/>
          </p:cNvSpPr>
          <p:nvPr>
            <p:ph type="body" idx="1"/>
          </p:nvPr>
        </p:nvSpPr>
        <p:spPr bwMode="auto">
          <a:noFill/>
        </p:spPr>
        <p:txBody>
          <a:bodyPr wrap="square" numCol="1" anchor="t" anchorCtr="0" compatLnSpc="1">
            <a:prstTxWarp prst="textNoShape">
              <a:avLst/>
            </a:prstTxWarp>
          </a:bodyPr>
          <a:lstStyle/>
          <a:p>
            <a:pPr eaLnBrk="1" hangingPunct="1">
              <a:lnSpc>
                <a:spcPct val="115000"/>
              </a:lnSpc>
            </a:pPr>
            <a:r>
              <a:rPr lang="zh-CN" altLang="en-US" smtClean="0"/>
              <a:t>参数描述：</a:t>
            </a:r>
            <a:endParaRPr lang="en-US" altLang="zh-CN" smtClean="0"/>
          </a:p>
          <a:p>
            <a:pPr eaLnBrk="1" hangingPunct="1">
              <a:lnSpc>
                <a:spcPct val="115000"/>
              </a:lnSpc>
            </a:pPr>
            <a:r>
              <a:rPr lang="en-US" altLang="zh-CN" b="1" i="1" smtClean="0"/>
              <a:t>User</a:t>
            </a:r>
            <a:r>
              <a:rPr lang="zh-CN" altLang="en-US" b="1" i="1" smtClean="0"/>
              <a:t>：</a:t>
            </a:r>
            <a:r>
              <a:rPr lang="zh-CN" altLang="en-US" smtClean="0"/>
              <a:t>访问</a:t>
            </a:r>
            <a:r>
              <a:rPr lang="en-US" altLang="zh-CN" smtClean="0"/>
              <a:t>FTP</a:t>
            </a:r>
            <a:r>
              <a:rPr lang="zh-CN" altLang="en-US" smtClean="0"/>
              <a:t>服务器的用户名。</a:t>
            </a:r>
          </a:p>
          <a:p>
            <a:pPr lvl="1" eaLnBrk="1" hangingPunct="1">
              <a:lnSpc>
                <a:spcPct val="115000"/>
              </a:lnSpc>
            </a:pPr>
            <a:r>
              <a:rPr lang="zh-CN" altLang="en-US" smtClean="0"/>
              <a:t>缺省值：无</a:t>
            </a:r>
            <a:endParaRPr lang="en-US" altLang="zh-CN" b="1" i="1" smtClean="0"/>
          </a:p>
          <a:p>
            <a:pPr eaLnBrk="1" hangingPunct="1">
              <a:lnSpc>
                <a:spcPct val="115000"/>
              </a:lnSpc>
            </a:pPr>
            <a:r>
              <a:rPr lang="en-US" altLang="zh-CN" b="1" i="1" smtClean="0"/>
              <a:t>Password</a:t>
            </a:r>
            <a:r>
              <a:rPr lang="zh-CN" altLang="en-US" smtClean="0"/>
              <a:t>：访问</a:t>
            </a:r>
            <a:r>
              <a:rPr lang="en-US" altLang="zh-CN" smtClean="0"/>
              <a:t>FTP</a:t>
            </a:r>
            <a:r>
              <a:rPr lang="zh-CN" altLang="en-US" smtClean="0"/>
              <a:t>服务器的用户密码。 </a:t>
            </a:r>
            <a:endParaRPr lang="en-US" altLang="zh-CN" smtClean="0"/>
          </a:p>
          <a:p>
            <a:pPr eaLnBrk="1" hangingPunct="1">
              <a:lnSpc>
                <a:spcPct val="115000"/>
              </a:lnSpc>
            </a:pPr>
            <a:r>
              <a:rPr lang="en-US" altLang="zh-CN" b="1" i="1" smtClean="0"/>
              <a:t>Remote File</a:t>
            </a:r>
            <a:r>
              <a:rPr lang="zh-CN" altLang="en-US" smtClean="0"/>
              <a:t>：指示</a:t>
            </a:r>
            <a:r>
              <a:rPr lang="en-US" altLang="zh-CN" smtClean="0"/>
              <a:t>FTP</a:t>
            </a:r>
            <a:r>
              <a:rPr lang="zh-CN" altLang="en-US" smtClean="0"/>
              <a:t>服务器上上传文件的路径。</a:t>
            </a:r>
          </a:p>
          <a:p>
            <a:pPr lvl="1" eaLnBrk="1" hangingPunct="1">
              <a:lnSpc>
                <a:spcPct val="115000"/>
              </a:lnSpc>
            </a:pPr>
            <a:r>
              <a:rPr lang="zh-CN" altLang="en-US" smtClean="0"/>
              <a:t>输入格式为</a:t>
            </a:r>
            <a:r>
              <a:rPr lang="en-US" altLang="zh-CN" smtClean="0"/>
              <a:t>ftp://</a:t>
            </a:r>
            <a:r>
              <a:rPr lang="en-US" altLang="zh-CN" i="1" smtClean="0"/>
              <a:t>IP</a:t>
            </a:r>
            <a:r>
              <a:rPr lang="zh-CN" altLang="en-US" i="1" smtClean="0"/>
              <a:t>地址或域名</a:t>
            </a:r>
            <a:r>
              <a:rPr lang="en-US" altLang="zh-CN" smtClean="0"/>
              <a:t>/</a:t>
            </a:r>
            <a:r>
              <a:rPr lang="zh-CN" altLang="en-US" i="1" smtClean="0"/>
              <a:t>文件名</a:t>
            </a:r>
            <a:r>
              <a:rPr lang="zh-CN" altLang="en-US" smtClean="0"/>
              <a:t>。</a:t>
            </a:r>
          </a:p>
          <a:p>
            <a:pPr eaLnBrk="1" hangingPunct="1">
              <a:lnSpc>
                <a:spcPct val="115000"/>
              </a:lnSpc>
            </a:pPr>
            <a:r>
              <a:rPr lang="en-US" altLang="zh-CN" b="1" i="1" smtClean="0"/>
              <a:t>Port</a:t>
            </a:r>
            <a:r>
              <a:rPr lang="zh-CN" altLang="en-US" smtClean="0"/>
              <a:t>：</a:t>
            </a:r>
            <a:r>
              <a:rPr lang="en-US" altLang="zh-CN" smtClean="0"/>
              <a:t>FTP</a:t>
            </a:r>
            <a:r>
              <a:rPr lang="zh-CN" altLang="en-US" smtClean="0"/>
              <a:t>服务器的端口号。</a:t>
            </a:r>
          </a:p>
          <a:p>
            <a:pPr lvl="1" eaLnBrk="1" hangingPunct="1">
              <a:lnSpc>
                <a:spcPct val="115000"/>
              </a:lnSpc>
            </a:pPr>
            <a:r>
              <a:rPr lang="zh-CN" altLang="en-US" smtClean="0"/>
              <a:t>缺省值：</a:t>
            </a:r>
            <a:r>
              <a:rPr lang="en-US" altLang="zh-CN" smtClean="0"/>
              <a:t> 21</a:t>
            </a:r>
            <a:endParaRPr lang="zh-CN" altLang="en-US" smtClean="0"/>
          </a:p>
          <a:p>
            <a:pPr eaLnBrk="1" hangingPunct="1">
              <a:lnSpc>
                <a:spcPct val="115000"/>
              </a:lnSpc>
            </a:pPr>
            <a:r>
              <a:rPr lang="en-US" altLang="zh-CN" b="1" i="1" smtClean="0"/>
              <a:t>Local File</a:t>
            </a:r>
            <a:r>
              <a:rPr lang="zh-CN" altLang="en-US" b="1" i="1" smtClean="0"/>
              <a:t>：</a:t>
            </a:r>
            <a:r>
              <a:rPr lang="zh-CN" altLang="en-US" smtClean="0"/>
              <a:t>指示要上传的本地文件路径及文件名。</a:t>
            </a:r>
          </a:p>
          <a:p>
            <a:pPr lvl="1" eaLnBrk="1" hangingPunct="1">
              <a:lnSpc>
                <a:spcPct val="115000"/>
              </a:lnSpc>
            </a:pPr>
            <a:r>
              <a:rPr lang="zh-CN" altLang="en-US" smtClean="0"/>
              <a:t>需要设置为完整的路径，如</a:t>
            </a:r>
            <a:r>
              <a:rPr lang="en-US" altLang="zh-CN" smtClean="0"/>
              <a:t>C:\test.dat</a:t>
            </a:r>
            <a:r>
              <a:rPr lang="zh-CN" altLang="en-US" smtClean="0"/>
              <a:t>。</a:t>
            </a:r>
          </a:p>
          <a:p>
            <a:pPr eaLnBrk="1" hangingPunct="1">
              <a:lnSpc>
                <a:spcPct val="115000"/>
              </a:lnSpc>
            </a:pPr>
            <a:r>
              <a:rPr lang="en-US" altLang="zh-CN" b="1" i="1" smtClean="0"/>
              <a:t>Test Interval</a:t>
            </a:r>
            <a:r>
              <a:rPr lang="zh-CN" altLang="en-US" smtClean="0"/>
              <a:t>：两次</a:t>
            </a:r>
            <a:r>
              <a:rPr lang="en-US" altLang="zh-CN" smtClean="0"/>
              <a:t>FTP</a:t>
            </a:r>
            <a:r>
              <a:rPr lang="zh-CN" altLang="en-US" smtClean="0"/>
              <a:t>上传测试的间隔时长。时间从上一次测试结束到下一次测试开始。</a:t>
            </a:r>
          </a:p>
          <a:p>
            <a:pPr lvl="1" eaLnBrk="1" hangingPunct="1">
              <a:lnSpc>
                <a:spcPct val="115000"/>
              </a:lnSpc>
            </a:pPr>
            <a:r>
              <a:rPr lang="zh-CN" altLang="en-US" smtClean="0"/>
              <a:t>单位：</a:t>
            </a:r>
            <a:r>
              <a:rPr lang="en-US" altLang="zh-CN" smtClean="0"/>
              <a:t>s </a:t>
            </a:r>
          </a:p>
          <a:p>
            <a:pPr lvl="1" eaLnBrk="1" hangingPunct="1">
              <a:lnSpc>
                <a:spcPct val="115000"/>
              </a:lnSpc>
            </a:pPr>
            <a:r>
              <a:rPr lang="zh-CN" altLang="en-US" smtClean="0"/>
              <a:t>缺省值：</a:t>
            </a:r>
            <a:r>
              <a:rPr lang="en-US" altLang="zh-CN" smtClean="0"/>
              <a:t> 15</a:t>
            </a:r>
            <a:endParaRPr lang="zh-CN" altLang="en-US" smtClean="0"/>
          </a:p>
          <a:p>
            <a:pPr eaLnBrk="1" hangingPunct="1">
              <a:lnSpc>
                <a:spcPct val="115000"/>
              </a:lnSpc>
            </a:pPr>
            <a:r>
              <a:rPr lang="en-US" altLang="zh-CN" b="1" i="1" smtClean="0"/>
              <a:t>Test Count</a:t>
            </a:r>
            <a:r>
              <a:rPr lang="zh-CN" altLang="en-US" b="1" i="1" smtClean="0"/>
              <a:t>：</a:t>
            </a:r>
            <a:r>
              <a:rPr lang="zh-CN" altLang="en-US" smtClean="0"/>
              <a:t>指示</a:t>
            </a:r>
            <a:r>
              <a:rPr lang="en-US" altLang="zh-CN" smtClean="0"/>
              <a:t>FTP</a:t>
            </a:r>
            <a:r>
              <a:rPr lang="zh-CN" altLang="en-US" smtClean="0"/>
              <a:t>上传测试的次数。</a:t>
            </a:r>
          </a:p>
          <a:p>
            <a:pPr lvl="1" eaLnBrk="1" hangingPunct="1">
              <a:lnSpc>
                <a:spcPct val="115000"/>
              </a:lnSpc>
            </a:pPr>
            <a:r>
              <a:rPr lang="zh-CN" altLang="en-US" smtClean="0"/>
              <a:t>缺省值：</a:t>
            </a:r>
            <a:r>
              <a:rPr lang="en-US" altLang="zh-CN" smtClean="0"/>
              <a:t> 1</a:t>
            </a:r>
            <a:endParaRPr lang="zh-CN" altLang="en-US" smtClean="0"/>
          </a:p>
          <a:p>
            <a:pPr eaLnBrk="1" hangingPunct="1">
              <a:lnSpc>
                <a:spcPct val="115000"/>
              </a:lnSpc>
            </a:pPr>
            <a:r>
              <a:rPr lang="en-US" altLang="zh-CN" b="1" i="1" smtClean="0"/>
              <a:t>Disconnection Mode</a:t>
            </a:r>
            <a:r>
              <a:rPr lang="zh-CN" altLang="en-US" smtClean="0"/>
              <a:t>：断开当前激活的数据连接的方式。</a:t>
            </a:r>
          </a:p>
          <a:p>
            <a:pPr lvl="1" eaLnBrk="1" hangingPunct="1">
              <a:lnSpc>
                <a:spcPct val="115000"/>
              </a:lnSpc>
            </a:pPr>
            <a:r>
              <a:rPr lang="zh-CN" altLang="en-US" smtClean="0"/>
              <a:t>目前，只支持</a:t>
            </a:r>
            <a:r>
              <a:rPr lang="en-US" altLang="zh-CN" b="1" i="1" smtClean="0"/>
              <a:t>Keep Connecting </a:t>
            </a:r>
            <a:r>
              <a:rPr lang="zh-CN" altLang="en-US" smtClean="0"/>
              <a:t>，即上传完成后，不断开连接，经过“</a:t>
            </a:r>
            <a:r>
              <a:rPr lang="en-US" altLang="zh-CN" smtClean="0"/>
              <a:t>Test Interval”</a:t>
            </a:r>
            <a:r>
              <a:rPr lang="zh-CN" altLang="en-US" smtClean="0"/>
              <a:t>后，进行下一次</a:t>
            </a:r>
            <a:r>
              <a:rPr lang="en-US" altLang="zh-CN" smtClean="0"/>
              <a:t>FTP Upload</a:t>
            </a:r>
            <a:r>
              <a:rPr lang="zh-CN" altLang="en-US" smtClean="0"/>
              <a:t>测试。</a:t>
            </a:r>
          </a:p>
          <a:p>
            <a:pPr eaLnBrk="1" hangingPunct="1">
              <a:lnSpc>
                <a:spcPct val="115000"/>
              </a:lnSpc>
            </a:pPr>
            <a:endParaRPr lang="en-US" altLang="zh-CN" smtClean="0"/>
          </a:p>
        </p:txBody>
      </p:sp>
      <p:sp>
        <p:nvSpPr>
          <p:cNvPr id="140291" name="Slide Image Placeholder 13"/>
          <p:cNvSpPr>
            <a:spLocks noGrp="1" noRot="1" noChangeAspect="1" noTextEdit="1"/>
          </p:cNvSpPr>
          <p:nvPr>
            <p:ph type="sldImg"/>
          </p:nvPr>
        </p:nvSpPr>
        <p:spPr bwMode="auto">
          <a:noFill/>
          <a:ln>
            <a:solidFill>
              <a:srgbClr val="000000"/>
            </a:solidFill>
            <a:miter lim="800000"/>
            <a:headEnd/>
            <a:tailEnd/>
          </a:ln>
        </p:spPr>
      </p:sp>
      <p:sp>
        <p:nvSpPr>
          <p:cNvPr id="140292" name="Rectangle 10"/>
          <p:cNvSpPr txBox="1">
            <a:spLocks noGrp="1" noChangeArrowheads="1"/>
          </p:cNvSpPr>
          <p:nvPr/>
        </p:nvSpPr>
        <p:spPr bwMode="auto">
          <a:xfrm>
            <a:off x="1550743" y="9203947"/>
            <a:ext cx="3675213" cy="496427"/>
          </a:xfrm>
          <a:prstGeom prst="rect">
            <a:avLst/>
          </a:prstGeom>
          <a:noFill/>
          <a:ln w="9525">
            <a:noFill/>
            <a:miter lim="800000"/>
            <a:headEnd/>
            <a:tailEnd/>
          </a:ln>
        </p:spPr>
        <p:txBody>
          <a:bodyPr lIns="88331" tIns="44166" rIns="88331" bIns="44166" anchor="b"/>
          <a:lstStyle/>
          <a:p>
            <a:pPr fontAlgn="t"/>
            <a:r>
              <a:rPr lang="zh-CN" altLang="en-US" sz="1200" dirty="0"/>
              <a:t>华为技术有限公司 版权所有 未经许可不得扩散</a:t>
            </a:r>
            <a:endParaRPr lang="en-US" altLang="zh-CN" sz="1200" dirty="0"/>
          </a:p>
        </p:txBody>
      </p:sp>
      <p:sp>
        <p:nvSpPr>
          <p:cNvPr id="140293" name="页脚占位符 5"/>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en-US" altLang="zh-CN" smtClean="0"/>
              <a:t>Confidential Information of Huawei.  No Spreading Without Permission </a:t>
            </a:r>
          </a:p>
        </p:txBody>
      </p:sp>
      <p:sp>
        <p:nvSpPr>
          <p:cNvPr id="140294" name="页眉占位符 7"/>
          <p:cNvSpPr>
            <a:spLocks noGrp="1"/>
          </p:cNvSpPr>
          <p:nvPr>
            <p:ph type="hdr" sz="quarter"/>
          </p:nvPr>
        </p:nvSpPr>
        <p:spPr>
          <a:noFill/>
        </p:spPr>
        <p:txBody>
          <a:bodyPr/>
          <a:lstStyle/>
          <a:p>
            <a:r>
              <a:rPr lang="en-US" altLang="zh-CN" smtClean="0"/>
              <a:t>LTE Genex Probe V300R005</a:t>
            </a:r>
            <a:r>
              <a:rPr lang="zh-CN" altLang="en-US" smtClean="0"/>
              <a:t>操作指导</a:t>
            </a:r>
            <a:endParaRPr lang="en-US" altLang="zh-CN" smtClean="0"/>
          </a:p>
        </p:txBody>
      </p:sp>
    </p:spTree>
    <p:extLst>
      <p:ext uri="{BB962C8B-B14F-4D97-AF65-F5344CB8AC3E}">
        <p14:creationId xmlns:p14="http://schemas.microsoft.com/office/powerpoint/2010/main" val="40431119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96</a:t>
            </a:fld>
            <a:endParaRPr lang="en-US" altLang="zh-CN"/>
          </a:p>
        </p:txBody>
      </p:sp>
    </p:spTree>
    <p:extLst>
      <p:ext uri="{BB962C8B-B14F-4D97-AF65-F5344CB8AC3E}">
        <p14:creationId xmlns:p14="http://schemas.microsoft.com/office/powerpoint/2010/main" val="1353027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通过该项测试，检查待测</a:t>
            </a:r>
            <a:r>
              <a:rPr lang="en-US" altLang="zh-CN" sz="1100" kern="1200" dirty="0" smtClean="0">
                <a:solidFill>
                  <a:schemeClr val="tx1"/>
                </a:solidFill>
                <a:latin typeface="FrutigerNext LT Regular" pitchFamily="34" charset="0"/>
                <a:ea typeface="华文细黑" pitchFamily="2" charset="-122"/>
                <a:cs typeface="+mn-cs"/>
              </a:rPr>
              <a:t>LTE</a:t>
            </a:r>
            <a:r>
              <a:rPr lang="zh-CN" altLang="zh-CN" sz="1100" kern="1200" dirty="0" smtClean="0">
                <a:solidFill>
                  <a:schemeClr val="tx1"/>
                </a:solidFill>
                <a:latin typeface="FrutigerNext LT Regular" pitchFamily="34" charset="0"/>
                <a:ea typeface="华文细黑" pitchFamily="2" charset="-122"/>
                <a:cs typeface="+mn-cs"/>
              </a:rPr>
              <a:t>站内切换是否正常。</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97</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3526300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对于单站验证环节，如果</a:t>
            </a:r>
            <a:r>
              <a:rPr lang="en-US" altLang="zh-CN" sz="1100" kern="1200" dirty="0" smtClean="0">
                <a:solidFill>
                  <a:schemeClr val="tx1"/>
                </a:solidFill>
                <a:latin typeface="FrutigerNext LT Regular" pitchFamily="34" charset="0"/>
                <a:ea typeface="华文细黑" pitchFamily="2" charset="-122"/>
                <a:cs typeface="+mn-cs"/>
              </a:rPr>
              <a:t>UE</a:t>
            </a:r>
            <a:r>
              <a:rPr lang="zh-CN" altLang="zh-CN" sz="1100" kern="1200" dirty="0" smtClean="0">
                <a:solidFill>
                  <a:schemeClr val="tx1"/>
                </a:solidFill>
                <a:latin typeface="FrutigerNext LT Regular" pitchFamily="34" charset="0"/>
                <a:ea typeface="华文细黑" pitchFamily="2" charset="-122"/>
                <a:cs typeface="+mn-cs"/>
              </a:rPr>
              <a:t>能接入网络但是不能切换，可以通过以下步骤来排查原因：</a:t>
            </a:r>
          </a:p>
          <a:p>
            <a:pPr lvl="1"/>
            <a:r>
              <a:rPr lang="zh-CN" altLang="zh-CN" kern="1200" dirty="0" smtClean="0">
                <a:solidFill>
                  <a:schemeClr val="tx1"/>
                </a:solidFill>
                <a:latin typeface="FrutigerNext LT Regular" pitchFamily="34" charset="0"/>
                <a:ea typeface="华文细黑" pitchFamily="2" charset="-122"/>
                <a:cs typeface="+mn-cs"/>
              </a:rPr>
              <a:t>检查无线信号是否良好，</a:t>
            </a:r>
            <a:r>
              <a:rPr lang="en-US" altLang="zh-CN" kern="1200" dirty="0" smtClean="0">
                <a:solidFill>
                  <a:schemeClr val="tx1"/>
                </a:solidFill>
                <a:latin typeface="FrutigerNext LT Regular" pitchFamily="34" charset="0"/>
                <a:ea typeface="华文细黑" pitchFamily="2" charset="-122"/>
                <a:cs typeface="+mn-cs"/>
              </a:rPr>
              <a:t>RSRP</a:t>
            </a:r>
            <a:r>
              <a:rPr lang="zh-CN" altLang="zh-CN" kern="1200" dirty="0" smtClean="0">
                <a:solidFill>
                  <a:schemeClr val="tx1"/>
                </a:solidFill>
                <a:latin typeface="FrutigerNext LT Regular" pitchFamily="34" charset="0"/>
                <a:ea typeface="华文细黑" pitchFamily="2" charset="-122"/>
                <a:cs typeface="+mn-cs"/>
              </a:rPr>
              <a:t>，</a:t>
            </a:r>
            <a:r>
              <a:rPr lang="en-US" altLang="zh-CN" kern="1200" dirty="0" smtClean="0">
                <a:solidFill>
                  <a:schemeClr val="tx1"/>
                </a:solidFill>
                <a:latin typeface="FrutigerNext LT Regular" pitchFamily="34" charset="0"/>
                <a:ea typeface="华文细黑" pitchFamily="2" charset="-122"/>
                <a:cs typeface="+mn-cs"/>
              </a:rPr>
              <a:t>SINR</a:t>
            </a:r>
            <a:r>
              <a:rPr lang="zh-CN" altLang="zh-CN" kern="1200" dirty="0" smtClean="0">
                <a:solidFill>
                  <a:schemeClr val="tx1"/>
                </a:solidFill>
                <a:latin typeface="FrutigerNext LT Regular" pitchFamily="34" charset="0"/>
                <a:ea typeface="华文细黑" pitchFamily="2" charset="-122"/>
                <a:cs typeface="+mn-cs"/>
              </a:rPr>
              <a:t>值是否偏小。参考值（</a:t>
            </a:r>
            <a:r>
              <a:rPr lang="en-US" altLang="zh-CN" kern="1200" dirty="0" smtClean="0">
                <a:solidFill>
                  <a:schemeClr val="tx1"/>
                </a:solidFill>
                <a:latin typeface="FrutigerNext LT Regular" pitchFamily="34" charset="0"/>
                <a:ea typeface="华文细黑" pitchFamily="2" charset="-122"/>
                <a:cs typeface="+mn-cs"/>
              </a:rPr>
              <a:t>RSRP&gt;-90dBm,SINR&gt;5dB</a:t>
            </a:r>
            <a:r>
              <a:rPr lang="zh-CN" altLang="zh-CN" kern="1200" dirty="0" smtClean="0">
                <a:solidFill>
                  <a:schemeClr val="tx1"/>
                </a:solidFill>
                <a:latin typeface="FrutigerNext LT Regular" pitchFamily="34" charset="0"/>
                <a:ea typeface="华文细黑" pitchFamily="2" charset="-122"/>
                <a:cs typeface="+mn-cs"/>
              </a:rPr>
              <a:t>）</a:t>
            </a:r>
          </a:p>
          <a:p>
            <a:pPr lvl="1"/>
            <a:r>
              <a:rPr lang="zh-CN" altLang="zh-CN" kern="1200" dirty="0" smtClean="0">
                <a:solidFill>
                  <a:schemeClr val="tx1"/>
                </a:solidFill>
                <a:latin typeface="FrutigerNext LT Regular" pitchFamily="34" charset="0"/>
                <a:ea typeface="华文细黑" pitchFamily="2" charset="-122"/>
                <a:cs typeface="+mn-cs"/>
              </a:rPr>
              <a:t>核查</a:t>
            </a:r>
            <a:r>
              <a:rPr lang="en-US" altLang="zh-CN" kern="1200" dirty="0" smtClean="0">
                <a:solidFill>
                  <a:schemeClr val="tx1"/>
                </a:solidFill>
                <a:latin typeface="FrutigerNext LT Regular" pitchFamily="34" charset="0"/>
                <a:ea typeface="华文细黑" pitchFamily="2" charset="-122"/>
                <a:cs typeface="+mn-cs"/>
              </a:rPr>
              <a:t>RRC</a:t>
            </a:r>
            <a:r>
              <a:rPr lang="zh-CN" altLang="zh-CN" kern="1200" dirty="0" smtClean="0">
                <a:solidFill>
                  <a:schemeClr val="tx1"/>
                </a:solidFill>
                <a:latin typeface="FrutigerNext LT Regular" pitchFamily="34" charset="0"/>
                <a:ea typeface="华文细黑" pitchFamily="2" charset="-122"/>
                <a:cs typeface="+mn-cs"/>
              </a:rPr>
              <a:t>重传是否成功</a:t>
            </a:r>
          </a:p>
          <a:p>
            <a:pPr lvl="1"/>
            <a:r>
              <a:rPr lang="zh-CN" altLang="zh-CN" kern="1200" dirty="0" smtClean="0">
                <a:solidFill>
                  <a:schemeClr val="tx1"/>
                </a:solidFill>
                <a:latin typeface="FrutigerNext LT Regular" pitchFamily="34" charset="0"/>
                <a:ea typeface="华文细黑" pitchFamily="2" charset="-122"/>
                <a:cs typeface="+mn-cs"/>
              </a:rPr>
              <a:t>检查切换参数配置</a:t>
            </a:r>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98</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87422278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dirty="0"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99</a:t>
            </a:fld>
            <a:endParaRPr lang="en-US" altLang="zh-CN"/>
          </a:p>
        </p:txBody>
      </p:sp>
    </p:spTree>
    <p:extLst>
      <p:ext uri="{BB962C8B-B14F-4D97-AF65-F5344CB8AC3E}">
        <p14:creationId xmlns:p14="http://schemas.microsoft.com/office/powerpoint/2010/main" val="195759217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说明：</a:t>
            </a:r>
            <a:r>
              <a:rPr lang="pl-PL" altLang="zh-CN" sz="1100" kern="1200" dirty="0" smtClean="0">
                <a:solidFill>
                  <a:schemeClr val="tx1"/>
                </a:solidFill>
                <a:latin typeface="FrutigerNext LT Regular" pitchFamily="34" charset="0"/>
                <a:ea typeface="华文细黑" pitchFamily="2" charset="-122"/>
                <a:cs typeface="+mn-cs"/>
              </a:rPr>
              <a:t>-c xx.xx.xx.xx</a:t>
            </a:r>
            <a:r>
              <a:rPr lang="zh-CN" altLang="zh-CN" sz="1100" kern="1200" dirty="0" smtClean="0">
                <a:solidFill>
                  <a:schemeClr val="tx1"/>
                </a:solidFill>
                <a:latin typeface="FrutigerNext LT Regular" pitchFamily="34" charset="0"/>
                <a:ea typeface="华文细黑" pitchFamily="2" charset="-122"/>
                <a:cs typeface="+mn-cs"/>
              </a:rPr>
              <a:t>表示向</a:t>
            </a:r>
            <a:r>
              <a:rPr lang="pl-PL" altLang="zh-CN" sz="1100" kern="1200" dirty="0" smtClean="0">
                <a:solidFill>
                  <a:schemeClr val="tx1"/>
                </a:solidFill>
                <a:latin typeface="FrutigerNext LT Regular" pitchFamily="34" charset="0"/>
                <a:ea typeface="华文细黑" pitchFamily="2" charset="-122"/>
                <a:cs typeface="+mn-cs"/>
              </a:rPr>
              <a:t>xx.xx.xx.xx</a:t>
            </a:r>
            <a:r>
              <a:rPr lang="zh-CN" altLang="zh-CN" sz="1100" kern="1200" dirty="0" smtClean="0">
                <a:solidFill>
                  <a:schemeClr val="tx1"/>
                </a:solidFill>
                <a:latin typeface="FrutigerNext LT Regular" pitchFamily="34" charset="0"/>
                <a:ea typeface="华文细黑" pitchFamily="2" charset="-122"/>
                <a:cs typeface="+mn-cs"/>
              </a:rPr>
              <a:t>灌包（</a:t>
            </a:r>
            <a:r>
              <a:rPr lang="pl-PL" altLang="zh-CN" sz="1100" kern="1200" dirty="0" smtClean="0">
                <a:solidFill>
                  <a:schemeClr val="tx1"/>
                </a:solidFill>
                <a:latin typeface="FrutigerNext LT Regular" pitchFamily="34" charset="0"/>
                <a:ea typeface="华文细黑" pitchFamily="2" charset="-122"/>
                <a:cs typeface="+mn-cs"/>
              </a:rPr>
              <a:t>xx.xx.xx.xx</a:t>
            </a:r>
            <a:r>
              <a:rPr lang="zh-CN" altLang="zh-CN" sz="1100" kern="1200" dirty="0" smtClean="0">
                <a:solidFill>
                  <a:schemeClr val="tx1"/>
                </a:solidFill>
                <a:latin typeface="FrutigerNext LT Regular" pitchFamily="34" charset="0"/>
                <a:ea typeface="华文细黑" pitchFamily="2" charset="-122"/>
                <a:cs typeface="+mn-cs"/>
              </a:rPr>
              <a:t>为</a:t>
            </a:r>
            <a:r>
              <a:rPr lang="pl-PL" altLang="zh-CN" sz="1100" kern="1200" dirty="0" smtClean="0">
                <a:solidFill>
                  <a:schemeClr val="tx1"/>
                </a:solidFill>
                <a:latin typeface="FrutigerNext LT Regular" pitchFamily="34" charset="0"/>
                <a:ea typeface="华文细黑" pitchFamily="2" charset="-122"/>
                <a:cs typeface="+mn-cs"/>
              </a:rPr>
              <a:t>UE ip</a:t>
            </a:r>
            <a:r>
              <a:rPr lang="zh-CN" altLang="zh-CN" sz="1100" kern="1200" dirty="0" smtClean="0">
                <a:solidFill>
                  <a:schemeClr val="tx1"/>
                </a:solidFill>
                <a:latin typeface="FrutigerNext LT Regular" pitchFamily="34" charset="0"/>
                <a:ea typeface="华文细黑" pitchFamily="2" charset="-122"/>
                <a:cs typeface="+mn-cs"/>
              </a:rPr>
              <a:t>地址），</a:t>
            </a:r>
            <a:r>
              <a:rPr lang="pl-PL" altLang="zh-CN" sz="1100" kern="1200" dirty="0" smtClean="0">
                <a:solidFill>
                  <a:schemeClr val="tx1"/>
                </a:solidFill>
                <a:latin typeface="FrutigerNext LT Regular" pitchFamily="34" charset="0"/>
                <a:ea typeface="华文细黑" pitchFamily="2" charset="-122"/>
                <a:cs typeface="+mn-cs"/>
              </a:rPr>
              <a:t>-u </a:t>
            </a:r>
            <a:r>
              <a:rPr lang="zh-CN" altLang="zh-CN" sz="1100" kern="1200" dirty="0" smtClean="0">
                <a:solidFill>
                  <a:schemeClr val="tx1"/>
                </a:solidFill>
                <a:latin typeface="FrutigerNext LT Regular" pitchFamily="34" charset="0"/>
                <a:ea typeface="华文细黑" pitchFamily="2" charset="-122"/>
                <a:cs typeface="+mn-cs"/>
              </a:rPr>
              <a:t>表示启动</a:t>
            </a:r>
            <a:r>
              <a:rPr lang="pl-PL"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灌包，如果是灌</a:t>
            </a:r>
            <a:r>
              <a:rPr lang="pl-PL"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则不需要</a:t>
            </a:r>
            <a:r>
              <a:rPr lang="pl-PL" altLang="zh-CN" sz="1100" kern="1200" dirty="0" smtClean="0">
                <a:solidFill>
                  <a:schemeClr val="tx1"/>
                </a:solidFill>
                <a:latin typeface="FrutigerNext LT Regular" pitchFamily="34" charset="0"/>
                <a:ea typeface="华文细黑" pitchFamily="2" charset="-122"/>
                <a:cs typeface="+mn-cs"/>
              </a:rPr>
              <a:t>-u</a:t>
            </a:r>
            <a:r>
              <a:rPr lang="zh-CN" altLang="zh-CN" sz="1100" kern="1200" dirty="0" smtClean="0">
                <a:solidFill>
                  <a:schemeClr val="tx1"/>
                </a:solidFill>
                <a:latin typeface="FrutigerNext LT Regular" pitchFamily="34" charset="0"/>
                <a:ea typeface="华文细黑" pitchFamily="2" charset="-122"/>
                <a:cs typeface="+mn-cs"/>
              </a:rPr>
              <a:t>这个参数，</a:t>
            </a:r>
            <a:r>
              <a:rPr lang="pl-PL" altLang="zh-CN" sz="1100" kern="1200" dirty="0" smtClean="0">
                <a:solidFill>
                  <a:schemeClr val="tx1"/>
                </a:solidFill>
                <a:latin typeface="FrutigerNext LT Regular" pitchFamily="34" charset="0"/>
                <a:ea typeface="华文细黑" pitchFamily="2" charset="-122"/>
                <a:cs typeface="+mn-cs"/>
              </a:rPr>
              <a:t>-b 100m </a:t>
            </a:r>
            <a:r>
              <a:rPr lang="zh-CN" altLang="zh-CN" sz="1100" kern="1200" dirty="0" smtClean="0">
                <a:solidFill>
                  <a:schemeClr val="tx1"/>
                </a:solidFill>
                <a:latin typeface="FrutigerNext LT Regular" pitchFamily="34" charset="0"/>
                <a:ea typeface="华文细黑" pitchFamily="2" charset="-122"/>
                <a:cs typeface="+mn-cs"/>
              </a:rPr>
              <a:t>表示指定灌包大小，</a:t>
            </a:r>
            <a:r>
              <a:rPr lang="pl-PL" altLang="zh-CN" sz="1100" kern="1200" dirty="0" smtClean="0">
                <a:solidFill>
                  <a:schemeClr val="tx1"/>
                </a:solidFill>
                <a:latin typeface="FrutigerNext LT Regular" pitchFamily="34" charset="0"/>
                <a:ea typeface="华文细黑" pitchFamily="2" charset="-122"/>
                <a:cs typeface="+mn-cs"/>
              </a:rPr>
              <a:t>-p 6001</a:t>
            </a:r>
            <a:r>
              <a:rPr lang="zh-CN" altLang="zh-CN" sz="1100" kern="1200" dirty="0" smtClean="0">
                <a:solidFill>
                  <a:schemeClr val="tx1"/>
                </a:solidFill>
                <a:latin typeface="FrutigerNext LT Regular" pitchFamily="34" charset="0"/>
                <a:ea typeface="华文细黑" pitchFamily="2" charset="-122"/>
                <a:cs typeface="+mn-cs"/>
              </a:rPr>
              <a:t>表示指定灌包的端口为</a:t>
            </a:r>
            <a:r>
              <a:rPr lang="pl-PL" altLang="zh-CN" sz="1100" kern="1200" dirty="0" smtClean="0">
                <a:solidFill>
                  <a:schemeClr val="tx1"/>
                </a:solidFill>
                <a:latin typeface="FrutigerNext LT Regular" pitchFamily="34" charset="0"/>
                <a:ea typeface="华文细黑" pitchFamily="2" charset="-122"/>
                <a:cs typeface="+mn-cs"/>
              </a:rPr>
              <a:t>6001</a:t>
            </a:r>
            <a:r>
              <a:rPr lang="zh-CN" altLang="zh-CN" sz="1100" kern="1200" dirty="0" smtClean="0">
                <a:solidFill>
                  <a:schemeClr val="tx1"/>
                </a:solidFill>
                <a:latin typeface="FrutigerNext LT Regular" pitchFamily="34" charset="0"/>
                <a:ea typeface="华文细黑" pitchFamily="2" charset="-122"/>
                <a:cs typeface="+mn-cs"/>
              </a:rPr>
              <a:t>，可根据需要更改，</a:t>
            </a:r>
            <a:r>
              <a:rPr lang="pl-PL" altLang="zh-CN" sz="1100" kern="1200" dirty="0" smtClean="0">
                <a:solidFill>
                  <a:schemeClr val="tx1"/>
                </a:solidFill>
                <a:latin typeface="FrutigerNext LT Regular" pitchFamily="34" charset="0"/>
                <a:ea typeface="华文细黑" pitchFamily="2" charset="-122"/>
                <a:cs typeface="+mn-cs"/>
              </a:rPr>
              <a:t>-t 99999</a:t>
            </a:r>
            <a:r>
              <a:rPr lang="zh-CN" altLang="zh-CN" sz="1100" kern="1200" dirty="0" smtClean="0">
                <a:solidFill>
                  <a:schemeClr val="tx1"/>
                </a:solidFill>
                <a:latin typeface="FrutigerNext LT Regular" pitchFamily="34" charset="0"/>
                <a:ea typeface="华文细黑" pitchFamily="2" charset="-122"/>
                <a:cs typeface="+mn-cs"/>
              </a:rPr>
              <a:t>表示指定灌</a:t>
            </a:r>
            <a:r>
              <a:rPr lang="pl-PL" altLang="zh-CN" sz="1100" kern="1200" dirty="0" smtClean="0">
                <a:solidFill>
                  <a:schemeClr val="tx1"/>
                </a:solidFill>
                <a:latin typeface="FrutigerNext LT Regular" pitchFamily="34" charset="0"/>
                <a:ea typeface="华文细黑" pitchFamily="2" charset="-122"/>
                <a:cs typeface="+mn-cs"/>
              </a:rPr>
              <a:t>99999</a:t>
            </a:r>
            <a:r>
              <a:rPr lang="zh-CN" altLang="zh-CN" sz="1100" kern="1200" dirty="0" smtClean="0">
                <a:solidFill>
                  <a:schemeClr val="tx1"/>
                </a:solidFill>
                <a:latin typeface="FrutigerNext LT Regular" pitchFamily="34" charset="0"/>
                <a:ea typeface="华文细黑" pitchFamily="2" charset="-122"/>
                <a:cs typeface="+mn-cs"/>
              </a:rPr>
              <a:t>秒，可根据需要修改灌包时长。</a:t>
            </a:r>
            <a:r>
              <a:rPr lang="pl-PL" altLang="zh-CN" sz="1100" kern="1200" dirty="0" smtClean="0">
                <a:solidFill>
                  <a:schemeClr val="tx1"/>
                </a:solidFill>
                <a:latin typeface="FrutigerNext LT Regular" pitchFamily="34" charset="0"/>
                <a:ea typeface="华文细黑" pitchFamily="2" charset="-122"/>
                <a:cs typeface="+mn-cs"/>
              </a:rPr>
              <a:t>-s</a:t>
            </a:r>
            <a:r>
              <a:rPr lang="zh-CN" altLang="zh-CN" sz="1100" kern="1200" dirty="0" smtClean="0">
                <a:solidFill>
                  <a:schemeClr val="tx1"/>
                </a:solidFill>
                <a:latin typeface="FrutigerNext LT Regular" pitchFamily="34" charset="0"/>
                <a:ea typeface="华文细黑" pitchFamily="2" charset="-122"/>
                <a:cs typeface="+mn-cs"/>
              </a:rPr>
              <a:t>表示启动</a:t>
            </a:r>
            <a:r>
              <a:rPr lang="pl-PL" altLang="zh-CN" sz="1100" kern="1200" dirty="0" smtClean="0">
                <a:solidFill>
                  <a:schemeClr val="tx1"/>
                </a:solidFill>
                <a:latin typeface="FrutigerNext LT Regular" pitchFamily="34" charset="0"/>
                <a:ea typeface="华文细黑" pitchFamily="2" charset="-122"/>
                <a:cs typeface="+mn-cs"/>
              </a:rPr>
              <a:t>iperf</a:t>
            </a:r>
            <a:r>
              <a:rPr lang="zh-CN" altLang="zh-CN" sz="1100" kern="1200" dirty="0" smtClean="0">
                <a:solidFill>
                  <a:schemeClr val="tx1"/>
                </a:solidFill>
                <a:latin typeface="FrutigerNext LT Regular" pitchFamily="34" charset="0"/>
                <a:ea typeface="华文细黑" pitchFamily="2" charset="-122"/>
                <a:cs typeface="+mn-cs"/>
              </a:rPr>
              <a:t>服务器。</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101</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134815573"/>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说明：</a:t>
            </a:r>
            <a:r>
              <a:rPr lang="pl-PL" altLang="zh-CN" sz="1100" kern="1200" dirty="0" smtClean="0">
                <a:solidFill>
                  <a:schemeClr val="tx1"/>
                </a:solidFill>
                <a:latin typeface="FrutigerNext LT Regular" pitchFamily="34" charset="0"/>
                <a:ea typeface="华文细黑" pitchFamily="2" charset="-122"/>
                <a:cs typeface="+mn-cs"/>
              </a:rPr>
              <a:t>-c xx.xx.xx.xx</a:t>
            </a:r>
            <a:r>
              <a:rPr lang="zh-CN" altLang="zh-CN" sz="1100" kern="1200" dirty="0" smtClean="0">
                <a:solidFill>
                  <a:schemeClr val="tx1"/>
                </a:solidFill>
                <a:latin typeface="FrutigerNext LT Regular" pitchFamily="34" charset="0"/>
                <a:ea typeface="华文细黑" pitchFamily="2" charset="-122"/>
                <a:cs typeface="+mn-cs"/>
              </a:rPr>
              <a:t>表示向</a:t>
            </a:r>
            <a:r>
              <a:rPr lang="pl-PL" altLang="zh-CN" sz="1100" kern="1200" dirty="0" smtClean="0">
                <a:solidFill>
                  <a:schemeClr val="tx1"/>
                </a:solidFill>
                <a:latin typeface="FrutigerNext LT Regular" pitchFamily="34" charset="0"/>
                <a:ea typeface="华文细黑" pitchFamily="2" charset="-122"/>
                <a:cs typeface="+mn-cs"/>
              </a:rPr>
              <a:t>xx.xx.xx.xx</a:t>
            </a:r>
            <a:r>
              <a:rPr lang="zh-CN" altLang="zh-CN" sz="1100" kern="1200" dirty="0" smtClean="0">
                <a:solidFill>
                  <a:schemeClr val="tx1"/>
                </a:solidFill>
                <a:latin typeface="FrutigerNext LT Regular" pitchFamily="34" charset="0"/>
                <a:ea typeface="华文细黑" pitchFamily="2" charset="-122"/>
                <a:cs typeface="+mn-cs"/>
              </a:rPr>
              <a:t>灌包（</a:t>
            </a:r>
            <a:r>
              <a:rPr lang="pl-PL" altLang="zh-CN" sz="1100" kern="1200" dirty="0" smtClean="0">
                <a:solidFill>
                  <a:schemeClr val="tx1"/>
                </a:solidFill>
                <a:latin typeface="FrutigerNext LT Regular" pitchFamily="34" charset="0"/>
                <a:ea typeface="华文细黑" pitchFamily="2" charset="-122"/>
                <a:cs typeface="+mn-cs"/>
              </a:rPr>
              <a:t>xx.xx.xx.xx</a:t>
            </a:r>
            <a:r>
              <a:rPr lang="zh-CN" altLang="zh-CN" sz="1100" kern="1200" dirty="0" smtClean="0">
                <a:solidFill>
                  <a:schemeClr val="tx1"/>
                </a:solidFill>
                <a:latin typeface="FrutigerNext LT Regular" pitchFamily="34" charset="0"/>
                <a:ea typeface="华文细黑" pitchFamily="2" charset="-122"/>
                <a:cs typeface="+mn-cs"/>
              </a:rPr>
              <a:t>为</a:t>
            </a:r>
            <a:r>
              <a:rPr lang="pl-PL" altLang="zh-CN" sz="1100" kern="1200" dirty="0" smtClean="0">
                <a:solidFill>
                  <a:schemeClr val="tx1"/>
                </a:solidFill>
                <a:latin typeface="FrutigerNext LT Regular" pitchFamily="34" charset="0"/>
                <a:ea typeface="华文细黑" pitchFamily="2" charset="-122"/>
                <a:cs typeface="+mn-cs"/>
              </a:rPr>
              <a:t>UE ip</a:t>
            </a:r>
            <a:r>
              <a:rPr lang="zh-CN" altLang="zh-CN" sz="1100" kern="1200" dirty="0" smtClean="0">
                <a:solidFill>
                  <a:schemeClr val="tx1"/>
                </a:solidFill>
                <a:latin typeface="FrutigerNext LT Regular" pitchFamily="34" charset="0"/>
                <a:ea typeface="华文细黑" pitchFamily="2" charset="-122"/>
                <a:cs typeface="+mn-cs"/>
              </a:rPr>
              <a:t>地址），</a:t>
            </a:r>
            <a:r>
              <a:rPr lang="pl-PL" altLang="zh-CN" sz="1100" kern="1200" dirty="0" smtClean="0">
                <a:solidFill>
                  <a:schemeClr val="tx1"/>
                </a:solidFill>
                <a:latin typeface="FrutigerNext LT Regular" pitchFamily="34" charset="0"/>
                <a:ea typeface="华文细黑" pitchFamily="2" charset="-122"/>
                <a:cs typeface="+mn-cs"/>
              </a:rPr>
              <a:t>-w </a:t>
            </a:r>
            <a:r>
              <a:rPr lang="zh-CN" altLang="zh-CN" sz="1100" kern="1200" dirty="0" smtClean="0">
                <a:solidFill>
                  <a:schemeClr val="tx1"/>
                </a:solidFill>
                <a:latin typeface="FrutigerNext LT Regular" pitchFamily="34" charset="0"/>
                <a:ea typeface="华文细黑" pitchFamily="2" charset="-122"/>
                <a:cs typeface="+mn-cs"/>
              </a:rPr>
              <a:t>指定</a:t>
            </a:r>
            <a:r>
              <a:rPr lang="pl-PL" altLang="zh-CN" sz="1100" kern="1200" dirty="0" smtClean="0">
                <a:solidFill>
                  <a:schemeClr val="tx1"/>
                </a:solidFill>
                <a:latin typeface="FrutigerNext LT Regular" pitchFamily="34" charset="0"/>
                <a:ea typeface="华文细黑" pitchFamily="2" charset="-122"/>
                <a:cs typeface="+mn-cs"/>
              </a:rPr>
              <a:t>TCP</a:t>
            </a:r>
            <a:r>
              <a:rPr lang="zh-CN" altLang="zh-CN" sz="1100" kern="1200" dirty="0" smtClean="0">
                <a:solidFill>
                  <a:schemeClr val="tx1"/>
                </a:solidFill>
                <a:latin typeface="FrutigerNext LT Regular" pitchFamily="34" charset="0"/>
                <a:ea typeface="华文细黑" pitchFamily="2" charset="-122"/>
                <a:cs typeface="+mn-cs"/>
              </a:rPr>
              <a:t>窗口大小。</a:t>
            </a:r>
            <a:r>
              <a:rPr lang="zh-CN" altLang="zh-CN" sz="1100" b="1" kern="1200" dirty="0" smtClean="0">
                <a:solidFill>
                  <a:schemeClr val="tx1"/>
                </a:solidFill>
                <a:latin typeface="FrutigerNext LT Regular" pitchFamily="34" charset="0"/>
                <a:ea typeface="华文细黑" pitchFamily="2" charset="-122"/>
                <a:cs typeface="+mn-cs"/>
              </a:rPr>
              <a:t>需要特别注意的是千万不要－</a:t>
            </a:r>
            <a:r>
              <a:rPr lang="pl-PL" altLang="zh-CN" sz="1100" b="1" kern="1200" dirty="0" smtClean="0">
                <a:solidFill>
                  <a:schemeClr val="tx1"/>
                </a:solidFill>
                <a:latin typeface="FrutigerNext LT Regular" pitchFamily="34" charset="0"/>
                <a:ea typeface="华文细黑" pitchFamily="2" charset="-122"/>
                <a:cs typeface="+mn-cs"/>
              </a:rPr>
              <a:t>b</a:t>
            </a:r>
            <a:r>
              <a:rPr lang="zh-CN" altLang="zh-CN" sz="1100" b="1" kern="1200" dirty="0" smtClean="0">
                <a:solidFill>
                  <a:schemeClr val="tx1"/>
                </a:solidFill>
                <a:latin typeface="FrutigerNext LT Regular" pitchFamily="34" charset="0"/>
                <a:ea typeface="华文细黑" pitchFamily="2" charset="-122"/>
                <a:cs typeface="+mn-cs"/>
              </a:rPr>
              <a:t>，否则就成为</a:t>
            </a:r>
            <a:r>
              <a:rPr lang="pl-PL" altLang="zh-CN" sz="1100" b="1" kern="1200" dirty="0" smtClean="0">
                <a:solidFill>
                  <a:schemeClr val="tx1"/>
                </a:solidFill>
                <a:latin typeface="FrutigerNext LT Regular" pitchFamily="34" charset="0"/>
                <a:ea typeface="华文细黑" pitchFamily="2" charset="-122"/>
                <a:cs typeface="+mn-cs"/>
              </a:rPr>
              <a:t>UDP</a:t>
            </a:r>
            <a:r>
              <a:rPr lang="zh-CN" altLang="zh-CN" sz="1100" b="1" kern="1200" dirty="0" smtClean="0">
                <a:solidFill>
                  <a:schemeClr val="tx1"/>
                </a:solidFill>
                <a:latin typeface="FrutigerNext LT Regular" pitchFamily="34" charset="0"/>
                <a:ea typeface="华文细黑" pitchFamily="2" charset="-122"/>
                <a:cs typeface="+mn-cs"/>
              </a:rPr>
              <a:t>灌包。</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103</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5357530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环回测试原理是：测试基站到对端的</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环回，首先要确保对端设置</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环回，监控开始之后，本端向对端进行</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灌包，对端将接收到的报文源地址和目的地址对调之后，将收到的</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包返回给源基站，源基站统计返回的</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包，从而检测</a:t>
            </a:r>
            <a:r>
              <a:rPr lang="en-US" altLang="zh-CN" sz="1100" kern="1200" dirty="0" smtClean="0">
                <a:solidFill>
                  <a:schemeClr val="tx1"/>
                </a:solidFill>
                <a:latin typeface="FrutigerNext LT Regular" pitchFamily="34" charset="0"/>
                <a:ea typeface="华文细黑" pitchFamily="2" charset="-122"/>
                <a:cs typeface="+mn-cs"/>
              </a:rPr>
              <a:t>UDP</a:t>
            </a:r>
            <a:r>
              <a:rPr lang="zh-CN" altLang="zh-CN" sz="1100" kern="1200" dirty="0" smtClean="0">
                <a:solidFill>
                  <a:schemeClr val="tx1"/>
                </a:solidFill>
                <a:latin typeface="FrutigerNext LT Regular" pitchFamily="34" charset="0"/>
                <a:ea typeface="华文细黑" pitchFamily="2" charset="-122"/>
                <a:cs typeface="+mn-cs"/>
              </a:rPr>
              <a:t>链路的通断与质量。</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105</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73740817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此测试方法只适用于</a:t>
            </a:r>
            <a:r>
              <a:rPr lang="zh-CN" altLang="zh-CN" sz="1100" kern="1200" dirty="0" smtClean="0">
                <a:solidFill>
                  <a:schemeClr val="tx1"/>
                </a:solidFill>
                <a:latin typeface="FrutigerNext LT Regular" pitchFamily="34" charset="0"/>
                <a:ea typeface="华文细黑" pitchFamily="2" charset="-122"/>
                <a:cs typeface="+mn-cs"/>
              </a:rPr>
              <a:t>于华为</a:t>
            </a:r>
            <a:r>
              <a:rPr lang="en-US" altLang="zh-CN" sz="1100" kern="1200" dirty="0" smtClean="0">
                <a:solidFill>
                  <a:schemeClr val="tx1"/>
                </a:solidFill>
                <a:latin typeface="FrutigerNext LT Regular" pitchFamily="34" charset="0"/>
                <a:ea typeface="华文细黑" pitchFamily="2" charset="-122"/>
                <a:cs typeface="+mn-cs"/>
              </a:rPr>
              <a:t>UGW</a:t>
            </a:r>
            <a:r>
              <a:rPr lang="zh-CN" altLang="en-US" sz="1100" kern="1200" dirty="0" smtClean="0">
                <a:solidFill>
                  <a:schemeClr val="tx1"/>
                </a:solidFill>
                <a:latin typeface="FrutigerNext LT Regular" pitchFamily="34" charset="0"/>
                <a:ea typeface="华文细黑" pitchFamily="2" charset="-122"/>
                <a:cs typeface="+mn-cs"/>
              </a:rPr>
              <a:t>。</a:t>
            </a:r>
            <a:endParaRPr lang="en-US" altLang="zh-CN" sz="1100" kern="1200" dirty="0" smtClean="0">
              <a:solidFill>
                <a:schemeClr val="tx1"/>
              </a:solidFill>
              <a:latin typeface="FrutigerNext LT Regular" pitchFamily="34" charset="0"/>
              <a:ea typeface="华文细黑" pitchFamily="2" charset="-122"/>
              <a:cs typeface="+mn-cs"/>
            </a:endParaRPr>
          </a:p>
          <a:p>
            <a:r>
              <a:rPr lang="zh-CN" altLang="zh-CN" sz="1100" kern="1200" dirty="0" smtClean="0">
                <a:solidFill>
                  <a:schemeClr val="tx1"/>
                </a:solidFill>
                <a:latin typeface="FrutigerNext LT Regular" pitchFamily="34" charset="0"/>
                <a:ea typeface="华文细黑" pitchFamily="2" charset="-122"/>
                <a:cs typeface="+mn-cs"/>
              </a:rPr>
              <a:t>注</a:t>
            </a:r>
            <a:r>
              <a:rPr lang="en-US" altLang="zh-CN" sz="1100" kern="1200" dirty="0" smtClean="0">
                <a:solidFill>
                  <a:schemeClr val="tx1"/>
                </a:solidFill>
                <a:latin typeface="FrutigerNext LT Regular" pitchFamily="34" charset="0"/>
                <a:ea typeface="华文细黑" pitchFamily="2" charset="-122"/>
                <a:cs typeface="+mn-cs"/>
              </a:rPr>
              <a:t>:</a:t>
            </a:r>
          </a:p>
          <a:p>
            <a:pPr lvl="1"/>
            <a:r>
              <a:rPr lang="en-US" altLang="zh-CN" sz="1100" kern="1200" dirty="0" smtClean="0">
                <a:solidFill>
                  <a:schemeClr val="tx1"/>
                </a:solidFill>
                <a:latin typeface="FrutigerNext LT Regular" pitchFamily="34" charset="0"/>
                <a:ea typeface="华文细黑" pitchFamily="2" charset="-122"/>
                <a:cs typeface="+mn-cs"/>
              </a:rPr>
              <a:t>* UDP</a:t>
            </a:r>
            <a:r>
              <a:rPr lang="zh-CN" altLang="zh-CN" sz="1100" kern="1200" dirty="0" smtClean="0">
                <a:solidFill>
                  <a:schemeClr val="tx1"/>
                </a:solidFill>
                <a:latin typeface="FrutigerNext LT Regular" pitchFamily="34" charset="0"/>
                <a:ea typeface="华文细黑" pitchFamily="2" charset="-122"/>
                <a:cs typeface="+mn-cs"/>
              </a:rPr>
              <a:t>环回操作会中断业务</a:t>
            </a:r>
            <a:r>
              <a:rPr lang="en-US" altLang="zh-CN" sz="1100" kern="1200" dirty="0" smtClean="0">
                <a:solidFill>
                  <a:schemeClr val="tx1"/>
                </a:solidFill>
                <a:latin typeface="FrutigerNext LT Regular" pitchFamily="34" charset="0"/>
                <a:ea typeface="华文细黑" pitchFamily="2" charset="-122"/>
                <a:cs typeface="+mn-cs"/>
              </a:rPr>
              <a:t>,</a:t>
            </a:r>
            <a:r>
              <a:rPr lang="zh-CN" altLang="zh-CN" sz="1100" kern="1200" dirty="0" smtClean="0">
                <a:solidFill>
                  <a:schemeClr val="tx1"/>
                </a:solidFill>
                <a:latin typeface="FrutigerNext LT Regular" pitchFamily="34" charset="0"/>
                <a:ea typeface="华文细黑" pitchFamily="2" charset="-122"/>
                <a:cs typeface="+mn-cs"/>
              </a:rPr>
              <a:t>仅适用于站点开通前操作</a:t>
            </a:r>
            <a:r>
              <a:rPr lang="en-US" altLang="zh-CN" sz="1100" kern="1200" dirty="0" smtClean="0">
                <a:solidFill>
                  <a:schemeClr val="tx1"/>
                </a:solidFill>
                <a:latin typeface="FrutigerNext LT Regular" pitchFamily="34" charset="0"/>
                <a:ea typeface="华文细黑" pitchFamily="2" charset="-122"/>
                <a:cs typeface="+mn-cs"/>
              </a:rPr>
              <a:t>;</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 UDP</a:t>
            </a:r>
            <a:r>
              <a:rPr lang="zh-CN" altLang="zh-CN" sz="1100" kern="1200" dirty="0" smtClean="0">
                <a:solidFill>
                  <a:schemeClr val="tx1"/>
                </a:solidFill>
                <a:latin typeface="FrutigerNext LT Regular" pitchFamily="34" charset="0"/>
                <a:ea typeface="华文细黑" pitchFamily="2" charset="-122"/>
                <a:cs typeface="+mn-cs"/>
              </a:rPr>
              <a:t>环回需要在</a:t>
            </a:r>
            <a:r>
              <a:rPr lang="en-US" altLang="zh-CN" sz="1100" kern="1200" dirty="0" smtClean="0">
                <a:solidFill>
                  <a:schemeClr val="tx1"/>
                </a:solidFill>
                <a:latin typeface="FrutigerNext LT Regular" pitchFamily="34" charset="0"/>
                <a:ea typeface="华文细黑" pitchFamily="2" charset="-122"/>
                <a:cs typeface="+mn-cs"/>
              </a:rPr>
              <a:t>UGW</a:t>
            </a:r>
            <a:r>
              <a:rPr lang="zh-CN" altLang="zh-CN" sz="1100" kern="1200" dirty="0" smtClean="0">
                <a:solidFill>
                  <a:schemeClr val="tx1"/>
                </a:solidFill>
                <a:latin typeface="FrutigerNext LT Regular" pitchFamily="34" charset="0"/>
                <a:ea typeface="华文细黑" pitchFamily="2" charset="-122"/>
                <a:cs typeface="+mn-cs"/>
              </a:rPr>
              <a:t>上操作</a:t>
            </a:r>
            <a:r>
              <a:rPr lang="en-US" altLang="zh-CN" sz="1100" kern="1200" dirty="0" smtClean="0">
                <a:solidFill>
                  <a:schemeClr val="tx1"/>
                </a:solidFill>
                <a:latin typeface="FrutigerNext LT Regular" pitchFamily="34" charset="0"/>
                <a:ea typeface="华文细黑" pitchFamily="2" charset="-122"/>
                <a:cs typeface="+mn-cs"/>
              </a:rPr>
              <a:t>,</a:t>
            </a:r>
            <a:r>
              <a:rPr lang="zh-CN" altLang="zh-CN" sz="1100" kern="1200" dirty="0" smtClean="0">
                <a:solidFill>
                  <a:schemeClr val="tx1"/>
                </a:solidFill>
                <a:latin typeface="FrutigerNext LT Regular" pitchFamily="34" charset="0"/>
                <a:ea typeface="华文细黑" pitchFamily="2" charset="-122"/>
                <a:cs typeface="+mn-cs"/>
              </a:rPr>
              <a:t>适用于华为</a:t>
            </a:r>
            <a:r>
              <a:rPr lang="en-US" altLang="zh-CN" sz="1100" kern="1200" dirty="0" smtClean="0">
                <a:solidFill>
                  <a:schemeClr val="tx1"/>
                </a:solidFill>
                <a:latin typeface="FrutigerNext LT Regular" pitchFamily="34" charset="0"/>
                <a:ea typeface="华文细黑" pitchFamily="2" charset="-122"/>
                <a:cs typeface="+mn-cs"/>
              </a:rPr>
              <a:t>UGW,</a:t>
            </a:r>
            <a:r>
              <a:rPr lang="zh-CN" altLang="zh-CN" sz="1100" kern="1200" dirty="0" smtClean="0">
                <a:solidFill>
                  <a:schemeClr val="tx1"/>
                </a:solidFill>
                <a:latin typeface="FrutigerNext LT Regular" pitchFamily="34" charset="0"/>
                <a:ea typeface="华文细黑" pitchFamily="2" charset="-122"/>
                <a:cs typeface="+mn-cs"/>
              </a:rPr>
              <a:t>若为友商的</a:t>
            </a:r>
            <a:r>
              <a:rPr lang="en-US" altLang="zh-CN" sz="1100" kern="1200" dirty="0" smtClean="0">
                <a:solidFill>
                  <a:schemeClr val="tx1"/>
                </a:solidFill>
                <a:latin typeface="FrutigerNext LT Regular" pitchFamily="34" charset="0"/>
                <a:ea typeface="华文细黑" pitchFamily="2" charset="-122"/>
                <a:cs typeface="+mn-cs"/>
              </a:rPr>
              <a:t>UGW</a:t>
            </a:r>
            <a:r>
              <a:rPr lang="zh-CN" altLang="zh-CN" sz="1100" kern="1200" dirty="0" smtClean="0">
                <a:solidFill>
                  <a:schemeClr val="tx1"/>
                </a:solidFill>
                <a:latin typeface="FrutigerNext LT Regular" pitchFamily="34" charset="0"/>
                <a:ea typeface="华文细黑" pitchFamily="2" charset="-122"/>
                <a:cs typeface="+mn-cs"/>
              </a:rPr>
              <a:t>该测试项可以不测</a:t>
            </a:r>
            <a:r>
              <a:rPr lang="en-US" altLang="zh-CN" sz="1100" kern="1200" dirty="0" smtClean="0">
                <a:solidFill>
                  <a:schemeClr val="tx1"/>
                </a:solidFill>
                <a:latin typeface="FrutigerNext LT Regular" pitchFamily="34" charset="0"/>
                <a:ea typeface="华文细黑" pitchFamily="2" charset="-122"/>
                <a:cs typeface="+mn-cs"/>
              </a:rPr>
              <a:t>; </a:t>
            </a:r>
          </a:p>
          <a:p>
            <a:pPr marL="180975" lvl="0" indent="-180975" algn="l" rtl="0" fontAlgn="base">
              <a:lnSpc>
                <a:spcPct val="125000"/>
              </a:lnSpc>
              <a:spcBef>
                <a:spcPct val="0"/>
              </a:spcBef>
              <a:spcAft>
                <a:spcPts val="300"/>
              </a:spcAft>
              <a:buSzPct val="70000"/>
              <a:buFont typeface="Wingdings" pitchFamily="2" charset="2"/>
              <a:buChar char="l"/>
            </a:pPr>
            <a:r>
              <a:rPr lang="zh-CN" altLang="en-US" sz="1100" kern="1200" dirty="0" smtClean="0">
                <a:solidFill>
                  <a:schemeClr val="tx1"/>
                </a:solidFill>
                <a:latin typeface="FrutigerNext LT Regular" pitchFamily="34" charset="0"/>
                <a:ea typeface="华文细黑" pitchFamily="2" charset="-122"/>
                <a:cs typeface="+mn-cs"/>
              </a:rPr>
              <a:t>参数说明：</a:t>
            </a:r>
            <a:endParaRPr lang="en-US" altLang="zh-CN" sz="1100" kern="1200" dirty="0" smtClean="0">
              <a:solidFill>
                <a:schemeClr val="tx1"/>
              </a:solidFill>
              <a:latin typeface="FrutigerNext LT Regular" pitchFamily="34" charset="0"/>
              <a:ea typeface="华文细黑" pitchFamily="2" charset="-122"/>
              <a:cs typeface="+mn-cs"/>
            </a:endParaRPr>
          </a:p>
          <a:p>
            <a:pPr lvl="1"/>
            <a:r>
              <a:rPr lang="zh-CN" altLang="zh-CN" sz="1100" kern="1200" dirty="0" smtClean="0">
                <a:solidFill>
                  <a:schemeClr val="tx1"/>
                </a:solidFill>
                <a:latin typeface="FrutigerNext LT Regular" pitchFamily="34" charset="0"/>
                <a:ea typeface="华文细黑" pitchFamily="2" charset="-122"/>
                <a:cs typeface="+mn-cs"/>
              </a:rPr>
              <a:t>环回模式选择远端环回</a:t>
            </a:r>
          </a:p>
          <a:p>
            <a:pPr lvl="1"/>
            <a:r>
              <a:rPr lang="zh-CN" altLang="zh-CN" sz="1100" kern="1200" dirty="0" smtClean="0">
                <a:solidFill>
                  <a:schemeClr val="tx1"/>
                </a:solidFill>
                <a:latin typeface="FrutigerNext LT Regular" pitchFamily="34" charset="0"/>
                <a:ea typeface="华文细黑" pitchFamily="2" charset="-122"/>
                <a:cs typeface="+mn-cs"/>
              </a:rPr>
              <a:t>本端源</a:t>
            </a:r>
            <a:r>
              <a:rPr lang="en-US" altLang="zh-CN" sz="1100" kern="1200" dirty="0" smtClean="0">
                <a:solidFill>
                  <a:schemeClr val="tx1"/>
                </a:solidFill>
                <a:latin typeface="FrutigerNext LT Regular" pitchFamily="34" charset="0"/>
                <a:ea typeface="华文细黑" pitchFamily="2" charset="-122"/>
                <a:cs typeface="+mn-cs"/>
              </a:rPr>
              <a:t>IP</a:t>
            </a:r>
            <a:r>
              <a:rPr lang="zh-CN" altLang="zh-CN" sz="1100" kern="1200" dirty="0" smtClean="0">
                <a:solidFill>
                  <a:schemeClr val="tx1"/>
                </a:solidFill>
                <a:latin typeface="FrutigerNext LT Regular" pitchFamily="34" charset="0"/>
                <a:ea typeface="华文细黑" pitchFamily="2" charset="-122"/>
                <a:cs typeface="+mn-cs"/>
              </a:rPr>
              <a:t>地址和本端源端口号填写本</a:t>
            </a:r>
            <a:r>
              <a:rPr lang="en-US" altLang="zh-CN" sz="1100" kern="1200" dirty="0" err="1" smtClean="0">
                <a:solidFill>
                  <a:schemeClr val="tx1"/>
                </a:solidFill>
                <a:latin typeface="FrutigerNext LT Regular" pitchFamily="34" charset="0"/>
                <a:ea typeface="华文细黑" pitchFamily="2" charset="-122"/>
                <a:cs typeface="+mn-cs"/>
              </a:rPr>
              <a:t>eNodeB</a:t>
            </a:r>
            <a:r>
              <a:rPr lang="zh-CN" altLang="zh-CN" sz="1100" kern="1200" dirty="0" smtClean="0">
                <a:solidFill>
                  <a:schemeClr val="tx1"/>
                </a:solidFill>
                <a:latin typeface="FrutigerNext LT Regular" pitchFamily="34" charset="0"/>
                <a:ea typeface="华文细黑" pitchFamily="2" charset="-122"/>
                <a:cs typeface="+mn-cs"/>
              </a:rPr>
              <a:t>的信息</a:t>
            </a:r>
          </a:p>
          <a:p>
            <a:pPr lvl="1"/>
            <a:r>
              <a:rPr lang="zh-CN" altLang="zh-CN" sz="1100" kern="1200" dirty="0" smtClean="0">
                <a:solidFill>
                  <a:schemeClr val="tx1"/>
                </a:solidFill>
                <a:latin typeface="FrutigerNext LT Regular" pitchFamily="34" charset="0"/>
                <a:ea typeface="华文细黑" pitchFamily="2" charset="-122"/>
                <a:cs typeface="+mn-cs"/>
              </a:rPr>
              <a:t>本端目的</a:t>
            </a:r>
            <a:r>
              <a:rPr lang="en-US" altLang="zh-CN" sz="1100" kern="1200" dirty="0" smtClean="0">
                <a:solidFill>
                  <a:schemeClr val="tx1"/>
                </a:solidFill>
                <a:latin typeface="FrutigerNext LT Regular" pitchFamily="34" charset="0"/>
                <a:ea typeface="华文细黑" pitchFamily="2" charset="-122"/>
                <a:cs typeface="+mn-cs"/>
              </a:rPr>
              <a:t>IP</a:t>
            </a:r>
            <a:r>
              <a:rPr lang="zh-CN" altLang="zh-CN" sz="1100" kern="1200" dirty="0" smtClean="0">
                <a:solidFill>
                  <a:schemeClr val="tx1"/>
                </a:solidFill>
                <a:latin typeface="FrutigerNext LT Regular" pitchFamily="34" charset="0"/>
                <a:ea typeface="华文细黑" pitchFamily="2" charset="-122"/>
                <a:cs typeface="+mn-cs"/>
              </a:rPr>
              <a:t>地址和本端目的端口号填写对应</a:t>
            </a:r>
            <a:r>
              <a:rPr lang="en-US" altLang="zh-CN" sz="1100" kern="1200" dirty="0" smtClean="0">
                <a:solidFill>
                  <a:schemeClr val="tx1"/>
                </a:solidFill>
                <a:latin typeface="FrutigerNext LT Regular" pitchFamily="34" charset="0"/>
                <a:ea typeface="华文细黑" pitchFamily="2" charset="-122"/>
                <a:cs typeface="+mn-cs"/>
              </a:rPr>
              <a:t>UGW</a:t>
            </a:r>
            <a:r>
              <a:rPr lang="zh-CN" altLang="zh-CN" sz="1100" kern="1200" dirty="0" smtClean="0">
                <a:solidFill>
                  <a:schemeClr val="tx1"/>
                </a:solidFill>
                <a:latin typeface="FrutigerNext LT Regular" pitchFamily="34" charset="0"/>
                <a:ea typeface="华文细黑" pitchFamily="2" charset="-122"/>
                <a:cs typeface="+mn-cs"/>
              </a:rPr>
              <a:t>的信息</a:t>
            </a:r>
          </a:p>
          <a:p>
            <a:pPr lvl="1"/>
            <a:r>
              <a:rPr lang="zh-CN" altLang="zh-CN" sz="1100" kern="1200" dirty="0" smtClean="0">
                <a:solidFill>
                  <a:schemeClr val="tx1"/>
                </a:solidFill>
                <a:latin typeface="FrutigerNext LT Regular" pitchFamily="34" charset="0"/>
                <a:ea typeface="华文细黑" pitchFamily="2" charset="-122"/>
                <a:cs typeface="+mn-cs"/>
              </a:rPr>
              <a:t>对端源</a:t>
            </a:r>
            <a:r>
              <a:rPr lang="en-US" altLang="zh-CN" sz="1100" kern="1200" dirty="0" smtClean="0">
                <a:solidFill>
                  <a:schemeClr val="tx1"/>
                </a:solidFill>
                <a:latin typeface="FrutigerNext LT Regular" pitchFamily="34" charset="0"/>
                <a:ea typeface="华文细黑" pitchFamily="2" charset="-122"/>
                <a:cs typeface="+mn-cs"/>
              </a:rPr>
              <a:t>IP</a:t>
            </a:r>
            <a:r>
              <a:rPr lang="zh-CN" altLang="zh-CN" sz="1100" kern="1200" dirty="0" smtClean="0">
                <a:solidFill>
                  <a:schemeClr val="tx1"/>
                </a:solidFill>
                <a:latin typeface="FrutigerNext LT Regular" pitchFamily="34" charset="0"/>
                <a:ea typeface="华文细黑" pitchFamily="2" charset="-122"/>
                <a:cs typeface="+mn-cs"/>
              </a:rPr>
              <a:t>地址和对端源端口号填写对应</a:t>
            </a:r>
            <a:r>
              <a:rPr lang="en-US" altLang="zh-CN" sz="1100" kern="1200" dirty="0" smtClean="0">
                <a:solidFill>
                  <a:schemeClr val="tx1"/>
                </a:solidFill>
                <a:latin typeface="FrutigerNext LT Regular" pitchFamily="34" charset="0"/>
                <a:ea typeface="华文细黑" pitchFamily="2" charset="-122"/>
                <a:cs typeface="+mn-cs"/>
              </a:rPr>
              <a:t>UGW</a:t>
            </a:r>
            <a:r>
              <a:rPr lang="zh-CN" altLang="zh-CN" sz="1100" kern="1200" dirty="0" smtClean="0">
                <a:solidFill>
                  <a:schemeClr val="tx1"/>
                </a:solidFill>
                <a:latin typeface="FrutigerNext LT Regular" pitchFamily="34" charset="0"/>
                <a:ea typeface="华文细黑" pitchFamily="2" charset="-122"/>
                <a:cs typeface="+mn-cs"/>
              </a:rPr>
              <a:t>的信息</a:t>
            </a:r>
          </a:p>
          <a:p>
            <a:pPr lvl="1"/>
            <a:r>
              <a:rPr lang="zh-CN" altLang="zh-CN" sz="1100" kern="1200" dirty="0" smtClean="0">
                <a:solidFill>
                  <a:schemeClr val="tx1"/>
                </a:solidFill>
                <a:latin typeface="FrutigerNext LT Regular" pitchFamily="34" charset="0"/>
                <a:ea typeface="华文细黑" pitchFamily="2" charset="-122"/>
                <a:cs typeface="+mn-cs"/>
              </a:rPr>
              <a:t>对端目的</a:t>
            </a:r>
            <a:r>
              <a:rPr lang="en-US" altLang="zh-CN" sz="1100" kern="1200" dirty="0" smtClean="0">
                <a:solidFill>
                  <a:schemeClr val="tx1"/>
                </a:solidFill>
                <a:latin typeface="FrutigerNext LT Regular" pitchFamily="34" charset="0"/>
                <a:ea typeface="华文细黑" pitchFamily="2" charset="-122"/>
                <a:cs typeface="+mn-cs"/>
              </a:rPr>
              <a:t>IP</a:t>
            </a:r>
            <a:r>
              <a:rPr lang="zh-CN" altLang="zh-CN" sz="1100" kern="1200" dirty="0" smtClean="0">
                <a:solidFill>
                  <a:schemeClr val="tx1"/>
                </a:solidFill>
                <a:latin typeface="FrutigerNext LT Regular" pitchFamily="34" charset="0"/>
                <a:ea typeface="华文细黑" pitchFamily="2" charset="-122"/>
                <a:cs typeface="+mn-cs"/>
              </a:rPr>
              <a:t>地址和对端目的端口号填写本</a:t>
            </a:r>
            <a:r>
              <a:rPr lang="en-US" altLang="zh-CN" sz="1100" kern="1200" dirty="0" err="1" smtClean="0">
                <a:solidFill>
                  <a:schemeClr val="tx1"/>
                </a:solidFill>
                <a:latin typeface="FrutigerNext LT Regular" pitchFamily="34" charset="0"/>
                <a:ea typeface="华文细黑" pitchFamily="2" charset="-122"/>
                <a:cs typeface="+mn-cs"/>
              </a:rPr>
              <a:t>eNodeB</a:t>
            </a:r>
            <a:r>
              <a:rPr lang="zh-CN" altLang="zh-CN" sz="1100" kern="1200" dirty="0" smtClean="0">
                <a:solidFill>
                  <a:schemeClr val="tx1"/>
                </a:solidFill>
                <a:latin typeface="FrutigerNext LT Regular" pitchFamily="34" charset="0"/>
                <a:ea typeface="华文细黑" pitchFamily="2" charset="-122"/>
                <a:cs typeface="+mn-cs"/>
              </a:rPr>
              <a:t>的信息</a:t>
            </a:r>
          </a:p>
          <a:p>
            <a:pPr lvl="1"/>
            <a:r>
              <a:rPr lang="zh-CN" altLang="zh-CN" sz="1100" kern="1200" dirty="0" smtClean="0">
                <a:solidFill>
                  <a:schemeClr val="tx1"/>
                </a:solidFill>
                <a:latin typeface="FrutigerNext LT Regular" pitchFamily="34" charset="0"/>
                <a:ea typeface="华文细黑" pitchFamily="2" charset="-122"/>
                <a:cs typeface="+mn-cs"/>
              </a:rPr>
              <a:t>环回时间建议</a:t>
            </a:r>
            <a:r>
              <a:rPr lang="en-US" altLang="zh-CN" sz="1100" kern="1200" dirty="0" smtClean="0">
                <a:solidFill>
                  <a:schemeClr val="tx1"/>
                </a:solidFill>
                <a:latin typeface="FrutigerNext LT Regular" pitchFamily="34" charset="0"/>
                <a:ea typeface="华文细黑" pitchFamily="2" charset="-122"/>
                <a:cs typeface="+mn-cs"/>
              </a:rPr>
              <a:t>15</a:t>
            </a:r>
            <a:r>
              <a:rPr lang="zh-CN" altLang="zh-CN" sz="1100" kern="1200" dirty="0" smtClean="0">
                <a:solidFill>
                  <a:schemeClr val="tx1"/>
                </a:solidFill>
                <a:latin typeface="FrutigerNext LT Regular" pitchFamily="34" charset="0"/>
                <a:ea typeface="华文细黑" pitchFamily="2" charset="-122"/>
                <a:cs typeface="+mn-cs"/>
              </a:rPr>
              <a:t>分钟</a:t>
            </a:r>
          </a:p>
          <a:p>
            <a:pPr lvl="1"/>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106</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99271092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0"/>
            <a:r>
              <a:rPr lang="en-US" altLang="zh-CN" sz="1100" kern="1200" dirty="0" smtClean="0">
                <a:solidFill>
                  <a:schemeClr val="tx1"/>
                </a:solidFill>
                <a:latin typeface="FrutigerNext LT Regular" pitchFamily="34" charset="0"/>
                <a:ea typeface="华文细黑" pitchFamily="2" charset="-122"/>
                <a:cs typeface="+mn-cs"/>
              </a:rPr>
              <a:t>DSCP</a:t>
            </a:r>
            <a:r>
              <a:rPr lang="zh-CN" altLang="zh-CN" sz="1100" kern="1200" dirty="0" smtClean="0">
                <a:solidFill>
                  <a:schemeClr val="tx1"/>
                </a:solidFill>
                <a:latin typeface="FrutigerNext LT Regular" pitchFamily="34" charset="0"/>
                <a:ea typeface="华文细黑" pitchFamily="2" charset="-122"/>
                <a:cs typeface="+mn-cs"/>
              </a:rPr>
              <a:t>：建议设置为</a:t>
            </a:r>
            <a:r>
              <a:rPr lang="en-US" altLang="zh-CN" sz="1100" kern="1200" dirty="0" smtClean="0">
                <a:solidFill>
                  <a:schemeClr val="tx1"/>
                </a:solidFill>
                <a:latin typeface="FrutigerNext LT Regular" pitchFamily="34" charset="0"/>
                <a:ea typeface="华文细黑" pitchFamily="2" charset="-122"/>
                <a:cs typeface="+mn-cs"/>
              </a:rPr>
              <a:t>0</a:t>
            </a:r>
            <a:endParaRPr lang="zh-CN" altLang="zh-CN" sz="1100" kern="1200" dirty="0" smtClean="0">
              <a:solidFill>
                <a:schemeClr val="tx1"/>
              </a:solidFill>
              <a:latin typeface="FrutigerNext LT Regular" pitchFamily="34" charset="0"/>
              <a:ea typeface="华文细黑" pitchFamily="2" charset="-122"/>
              <a:cs typeface="+mn-cs"/>
            </a:endParaRPr>
          </a:p>
          <a:p>
            <a:pPr lvl="0"/>
            <a:r>
              <a:rPr lang="en-US" altLang="zh-CN" sz="1100" kern="1200" dirty="0" smtClean="0">
                <a:solidFill>
                  <a:schemeClr val="tx1"/>
                </a:solidFill>
                <a:latin typeface="FrutigerNext LT Regular" pitchFamily="34" charset="0"/>
                <a:ea typeface="华文细黑" pitchFamily="2" charset="-122"/>
                <a:cs typeface="+mn-cs"/>
              </a:rPr>
              <a:t>Speed</a:t>
            </a:r>
            <a:r>
              <a:rPr lang="zh-CN" altLang="zh-CN" sz="1100" kern="1200" dirty="0" smtClean="0">
                <a:solidFill>
                  <a:schemeClr val="tx1"/>
                </a:solidFill>
                <a:latin typeface="FrutigerNext LT Regular" pitchFamily="34" charset="0"/>
                <a:ea typeface="华文细黑" pitchFamily="2" charset="-122"/>
                <a:cs typeface="+mn-cs"/>
              </a:rPr>
              <a:t>：根据实际要测试的带宽设置，如</a:t>
            </a:r>
            <a:r>
              <a:rPr lang="en-US" altLang="zh-CN" sz="1100" kern="1200" dirty="0" smtClean="0">
                <a:solidFill>
                  <a:schemeClr val="tx1"/>
                </a:solidFill>
                <a:latin typeface="FrutigerNext LT Regular" pitchFamily="34" charset="0"/>
                <a:ea typeface="华文细黑" pitchFamily="2" charset="-122"/>
                <a:cs typeface="+mn-cs"/>
              </a:rPr>
              <a:t>20M</a:t>
            </a:r>
            <a:r>
              <a:rPr lang="zh-CN" altLang="zh-CN" sz="1100" kern="1200" dirty="0" smtClean="0">
                <a:solidFill>
                  <a:schemeClr val="tx1"/>
                </a:solidFill>
                <a:latin typeface="FrutigerNext LT Regular" pitchFamily="34" charset="0"/>
                <a:ea typeface="华文细黑" pitchFamily="2" charset="-122"/>
                <a:cs typeface="+mn-cs"/>
              </a:rPr>
              <a:t>带宽要求至少</a:t>
            </a:r>
            <a:r>
              <a:rPr lang="en-US" altLang="zh-CN" sz="1100" kern="1200" dirty="0" smtClean="0">
                <a:solidFill>
                  <a:schemeClr val="tx1"/>
                </a:solidFill>
                <a:latin typeface="FrutigerNext LT Regular" pitchFamily="34" charset="0"/>
                <a:ea typeface="华文细黑" pitchFamily="2" charset="-122"/>
                <a:cs typeface="+mn-cs"/>
              </a:rPr>
              <a:t>150M</a:t>
            </a:r>
            <a:r>
              <a:rPr lang="zh-CN" altLang="zh-CN" sz="1100" kern="1200" dirty="0" smtClean="0">
                <a:solidFill>
                  <a:schemeClr val="tx1"/>
                </a:solidFill>
                <a:latin typeface="FrutigerNext LT Regular" pitchFamily="34" charset="0"/>
                <a:ea typeface="华文细黑" pitchFamily="2" charset="-122"/>
                <a:cs typeface="+mn-cs"/>
              </a:rPr>
              <a:t>的，就输入</a:t>
            </a:r>
            <a:r>
              <a:rPr lang="en-US" altLang="zh-CN" sz="1100" kern="1200" dirty="0" smtClean="0">
                <a:solidFill>
                  <a:schemeClr val="tx1"/>
                </a:solidFill>
                <a:latin typeface="FrutigerNext LT Regular" pitchFamily="34" charset="0"/>
                <a:ea typeface="华文细黑" pitchFamily="2" charset="-122"/>
                <a:cs typeface="+mn-cs"/>
              </a:rPr>
              <a:t>150000</a:t>
            </a:r>
            <a:endParaRPr lang="zh-CN" altLang="zh-CN" sz="1100" kern="1200" dirty="0" smtClean="0">
              <a:solidFill>
                <a:schemeClr val="tx1"/>
              </a:solidFill>
              <a:latin typeface="FrutigerNext LT Regular" pitchFamily="34" charset="0"/>
              <a:ea typeface="华文细黑" pitchFamily="2" charset="-122"/>
              <a:cs typeface="+mn-cs"/>
            </a:endParaRPr>
          </a:p>
          <a:p>
            <a:pPr lvl="0"/>
            <a:r>
              <a:rPr lang="en-US" altLang="zh-CN" sz="1100" kern="1200" dirty="0" smtClean="0">
                <a:solidFill>
                  <a:schemeClr val="tx1"/>
                </a:solidFill>
                <a:latin typeface="FrutigerNext LT Regular" pitchFamily="34" charset="0"/>
                <a:ea typeface="华文细黑" pitchFamily="2" charset="-122"/>
                <a:cs typeface="+mn-cs"/>
              </a:rPr>
              <a:t>UDP Package Length</a:t>
            </a:r>
            <a:r>
              <a:rPr lang="zh-CN" altLang="zh-CN" sz="1100" kern="1200" dirty="0" smtClean="0">
                <a:solidFill>
                  <a:schemeClr val="tx1"/>
                </a:solidFill>
                <a:latin typeface="FrutigerNext LT Regular" pitchFamily="34" charset="0"/>
                <a:ea typeface="华文细黑" pitchFamily="2" charset="-122"/>
                <a:cs typeface="+mn-cs"/>
              </a:rPr>
              <a:t>：设置要小于</a:t>
            </a:r>
            <a:r>
              <a:rPr lang="en-US" altLang="zh-CN" sz="1100" kern="1200" dirty="0" smtClean="0">
                <a:solidFill>
                  <a:schemeClr val="tx1"/>
                </a:solidFill>
                <a:latin typeface="FrutigerNext LT Regular" pitchFamily="34" charset="0"/>
                <a:ea typeface="华文细黑" pitchFamily="2" charset="-122"/>
                <a:cs typeface="+mn-cs"/>
              </a:rPr>
              <a:t>1460byte</a:t>
            </a:r>
            <a:r>
              <a:rPr lang="zh-CN" altLang="zh-CN" sz="1100" kern="1200" dirty="0" smtClean="0">
                <a:solidFill>
                  <a:schemeClr val="tx1"/>
                </a:solidFill>
                <a:latin typeface="FrutigerNext LT Regular" pitchFamily="34" charset="0"/>
                <a:ea typeface="华文细黑" pitchFamily="2" charset="-122"/>
                <a:cs typeface="+mn-cs"/>
              </a:rPr>
              <a:t>，建议设置</a:t>
            </a:r>
            <a:r>
              <a:rPr lang="en-US" altLang="zh-CN" sz="1100" kern="1200" dirty="0" smtClean="0">
                <a:solidFill>
                  <a:schemeClr val="tx1"/>
                </a:solidFill>
                <a:latin typeface="FrutigerNext LT Regular" pitchFamily="34" charset="0"/>
                <a:ea typeface="华文细黑" pitchFamily="2" charset="-122"/>
                <a:cs typeface="+mn-cs"/>
              </a:rPr>
              <a:t>1300byte</a:t>
            </a:r>
            <a:endParaRPr lang="zh-CN" altLang="zh-CN" sz="1100" kern="1200" dirty="0" smtClean="0">
              <a:solidFill>
                <a:schemeClr val="tx1"/>
              </a:solidFill>
              <a:latin typeface="FrutigerNext LT Regular" pitchFamily="34" charset="0"/>
              <a:ea typeface="华文细黑" pitchFamily="2" charset="-122"/>
              <a:cs typeface="+mn-cs"/>
            </a:endParaRPr>
          </a:p>
          <a:p>
            <a:pPr lvl="0"/>
            <a:r>
              <a:rPr lang="en-US" altLang="zh-CN" sz="1100" kern="1200" dirty="0" smtClean="0">
                <a:solidFill>
                  <a:schemeClr val="tx1"/>
                </a:solidFill>
                <a:latin typeface="FrutigerNext LT Regular" pitchFamily="34" charset="0"/>
                <a:ea typeface="华文细黑" pitchFamily="2" charset="-122"/>
                <a:cs typeface="+mn-cs"/>
              </a:rPr>
              <a:t>TM</a:t>
            </a:r>
            <a:r>
              <a:rPr lang="zh-CN" altLang="zh-CN" sz="1100" kern="1200" dirty="0" smtClean="0">
                <a:solidFill>
                  <a:schemeClr val="tx1"/>
                </a:solidFill>
                <a:latin typeface="FrutigerNext LT Regular" pitchFamily="34" charset="0"/>
                <a:ea typeface="华文细黑" pitchFamily="2" charset="-122"/>
                <a:cs typeface="+mn-cs"/>
              </a:rPr>
              <a:t>：建议设置为</a:t>
            </a:r>
            <a:r>
              <a:rPr lang="en-US" altLang="zh-CN" sz="1100" kern="1200" dirty="0" smtClean="0">
                <a:solidFill>
                  <a:schemeClr val="tx1"/>
                </a:solidFill>
                <a:latin typeface="FrutigerNext LT Regular" pitchFamily="34" charset="0"/>
                <a:ea typeface="华文细黑" pitchFamily="2" charset="-122"/>
                <a:cs typeface="+mn-cs"/>
              </a:rPr>
              <a:t>15Min</a:t>
            </a:r>
            <a:endParaRPr lang="zh-CN" altLang="zh-CN" sz="1100" kern="1200" dirty="0" smtClean="0">
              <a:solidFill>
                <a:schemeClr val="tx1"/>
              </a:solidFill>
              <a:latin typeface="FrutigerNext LT Regular" pitchFamily="34" charset="0"/>
              <a:ea typeface="华文细黑" pitchFamily="2" charset="-122"/>
              <a:cs typeface="+mn-cs"/>
            </a:endParaRP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107</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51149048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108</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graphicFrame>
        <p:nvGraphicFramePr>
          <p:cNvPr id="7" name="表格 6"/>
          <p:cNvGraphicFramePr>
            <a:graphicFrameLocks noGrp="1"/>
          </p:cNvGraphicFramePr>
          <p:nvPr/>
        </p:nvGraphicFramePr>
        <p:xfrm>
          <a:off x="1767267" y="5003461"/>
          <a:ext cx="2794000" cy="822960"/>
        </p:xfrm>
        <a:graphic>
          <a:graphicData uri="http://schemas.openxmlformats.org/drawingml/2006/table">
            <a:tbl>
              <a:tblPr/>
              <a:tblGrid>
                <a:gridCol w="520700"/>
                <a:gridCol w="2273300"/>
              </a:tblGrid>
              <a:tr h="180975">
                <a:tc>
                  <a:txBody>
                    <a:bodyPr/>
                    <a:lstStyle/>
                    <a:p>
                      <a:pPr>
                        <a:lnSpc>
                          <a:spcPct val="150000"/>
                        </a:lnSpc>
                        <a:spcAft>
                          <a:spcPts val="0"/>
                        </a:spcAft>
                      </a:pPr>
                      <a:r>
                        <a:rPr lang="zh-CN" sz="1200">
                          <a:latin typeface="Times New Roman"/>
                          <a:ea typeface="宋体"/>
                          <a:cs typeface="宋体"/>
                        </a:rPr>
                        <a:t>　</a:t>
                      </a:r>
                      <a:endParaRPr lang="zh-CN" sz="105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200">
                          <a:latin typeface="Times New Roman"/>
                          <a:ea typeface="宋体"/>
                          <a:cs typeface="宋体"/>
                        </a:rPr>
                        <a:t>基站传输要求</a:t>
                      </a:r>
                      <a:endParaRPr lang="zh-CN" sz="105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nSpc>
                          <a:spcPct val="150000"/>
                        </a:lnSpc>
                        <a:spcAft>
                          <a:spcPts val="0"/>
                        </a:spcAft>
                      </a:pPr>
                      <a:r>
                        <a:rPr lang="en-US" sz="1100">
                          <a:solidFill>
                            <a:srgbClr val="000000"/>
                          </a:solidFill>
                          <a:latin typeface="宋体"/>
                          <a:ea typeface="宋体"/>
                          <a:cs typeface="宋体"/>
                        </a:rPr>
                        <a:t>15Mhz</a:t>
                      </a:r>
                      <a:endParaRPr lang="zh-CN" sz="105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200">
                          <a:latin typeface="宋体"/>
                          <a:ea typeface="宋体"/>
                          <a:cs typeface="宋体"/>
                        </a:rPr>
                        <a:t>110mbps</a:t>
                      </a:r>
                      <a:endParaRPr lang="zh-CN" sz="105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nSpc>
                          <a:spcPct val="150000"/>
                        </a:lnSpc>
                        <a:spcAft>
                          <a:spcPts val="0"/>
                        </a:spcAft>
                      </a:pPr>
                      <a:r>
                        <a:rPr lang="en-US" sz="1100">
                          <a:solidFill>
                            <a:srgbClr val="000000"/>
                          </a:solidFill>
                          <a:latin typeface="宋体"/>
                          <a:ea typeface="宋体"/>
                          <a:cs typeface="宋体"/>
                        </a:rPr>
                        <a:t>20MHz</a:t>
                      </a:r>
                      <a:endParaRPr lang="zh-CN" sz="105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200" dirty="0">
                          <a:latin typeface="宋体"/>
                          <a:ea typeface="宋体"/>
                          <a:cs typeface="宋体"/>
                        </a:rPr>
                        <a:t>150mbps</a:t>
                      </a:r>
                      <a:endParaRPr lang="zh-CN" sz="1050" dirty="0">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6032782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Slide Image Placeholder 1"/>
          <p:cNvSpPr>
            <a:spLocks noGrp="1" noRot="1" noChangeAspect="1" noTextEdit="1"/>
          </p:cNvSpPr>
          <p:nvPr>
            <p:ph type="sldImg"/>
          </p:nvPr>
        </p:nvSpPr>
        <p:spPr bwMode="auto">
          <a:noFill/>
          <a:ln>
            <a:solidFill>
              <a:srgbClr val="000000"/>
            </a:solidFill>
            <a:miter lim="800000"/>
            <a:headEnd/>
            <a:tailEnd/>
          </a:ln>
        </p:spPr>
      </p:sp>
      <p:sp>
        <p:nvSpPr>
          <p:cNvPr id="1505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zh-CN" altLang="en-US" smtClean="0"/>
          </a:p>
        </p:txBody>
      </p:sp>
      <p:sp>
        <p:nvSpPr>
          <p:cNvPr id="150532" name="Header Placeholder 3"/>
          <p:cNvSpPr>
            <a:spLocks noGrp="1"/>
          </p:cNvSpPr>
          <p:nvPr>
            <p:ph type="hdr" sz="quarter"/>
          </p:nvPr>
        </p:nvSpPr>
        <p:spPr bwMode="auto">
          <a:noFill/>
          <a:ln>
            <a:miter lim="800000"/>
            <a:headEnd/>
            <a:tailEnd/>
          </a:ln>
        </p:spPr>
        <p:txBody>
          <a:bodyPr wrap="square" numCol="1" anchor="t" anchorCtr="0" compatLnSpc="1">
            <a:prstTxWarp prst="textNoShape">
              <a:avLst/>
            </a:prstTxWarp>
          </a:bodyPr>
          <a:lstStyle/>
          <a:p>
            <a:r>
              <a:rPr lang="en-US" altLang="zh-CN" smtClean="0">
                <a:ea typeface="宋体" pitchFamily="2" charset="-122"/>
              </a:rPr>
              <a:t>LTE</a:t>
            </a:r>
            <a:r>
              <a:rPr lang="zh-CN" altLang="en-US" smtClean="0">
                <a:ea typeface="宋体" pitchFamily="2" charset="-122"/>
              </a:rPr>
              <a:t>单站验证</a:t>
            </a:r>
            <a:endParaRPr lang="zh-CN" altLang="en-US" dirty="0" smtClean="0">
              <a:ea typeface="宋体" pitchFamily="2" charset="-122"/>
            </a:endParaRPr>
          </a:p>
        </p:txBody>
      </p:sp>
      <p:sp>
        <p:nvSpPr>
          <p:cNvPr id="150533" name="Footer Placeholder 4"/>
          <p:cNvSpPr>
            <a:spLocks noGrp="1"/>
          </p:cNvSpPr>
          <p:nvPr>
            <p:ph type="ftr" sz="quarter" idx="4"/>
          </p:nvPr>
        </p:nvSpPr>
        <p:spPr bwMode="auto">
          <a:noFill/>
          <a:ln>
            <a:miter lim="800000"/>
            <a:headEnd/>
            <a:tailEnd/>
          </a:ln>
        </p:spPr>
        <p:txBody>
          <a:bodyPr wrap="square" numCol="1" anchorCtr="0" compatLnSpc="1">
            <a:prstTxWarp prst="textNoShape">
              <a:avLst/>
            </a:prstTxWarp>
          </a:bodyPr>
          <a:lstStyle/>
          <a:p>
            <a:r>
              <a:rPr lang="zh-CN" altLang="en-US" smtClean="0">
                <a:ea typeface="宋体" pitchFamily="2" charset="-122"/>
              </a:rPr>
              <a:t>华为技术有限公司  版权所有  未经许可不得扩散</a:t>
            </a:r>
          </a:p>
        </p:txBody>
      </p:sp>
      <p:sp>
        <p:nvSpPr>
          <p:cNvPr id="6" name="灯片编号占位符 5"/>
          <p:cNvSpPr>
            <a:spLocks noGrp="1"/>
          </p:cNvSpPr>
          <p:nvPr>
            <p:ph type="sldNum" sz="quarter" idx="10"/>
          </p:nvPr>
        </p:nvSpPr>
        <p:spPr/>
        <p:txBody>
          <a:bodyPr/>
          <a:lstStyle/>
          <a:p>
            <a:r>
              <a:rPr lang="en-US" altLang="zh-CN" smtClean="0"/>
              <a:t>P-</a:t>
            </a:r>
            <a:fld id="{53C4D65A-8D61-4BF8-8EE6-980764D8408A}" type="slidenum">
              <a:rPr lang="en-US" altLang="zh-CN" smtClean="0"/>
              <a:pPr/>
              <a:t>109</a:t>
            </a:fld>
            <a:endParaRPr lang="en-US" altLang="zh-CN"/>
          </a:p>
        </p:txBody>
      </p:sp>
    </p:spTree>
    <p:extLst>
      <p:ext uri="{BB962C8B-B14F-4D97-AF65-F5344CB8AC3E}">
        <p14:creationId xmlns:p14="http://schemas.microsoft.com/office/powerpoint/2010/main" val="356669785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lnSpcReduction="10000"/>
          </a:bodyPr>
          <a:lstStyle/>
          <a:p>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是一款常用的网络抓包工具，支持多种协议解析，可以用来分析网络行为，对数传问题定位有很大的帮助。</a:t>
            </a:r>
          </a:p>
          <a:p>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和</a:t>
            </a:r>
            <a:r>
              <a:rPr lang="en-US" altLang="zh-CN" sz="1100" kern="1200" dirty="0" err="1" smtClean="0">
                <a:solidFill>
                  <a:schemeClr val="tx1"/>
                </a:solidFill>
                <a:latin typeface="FrutigerNext LT Regular" pitchFamily="34" charset="0"/>
                <a:ea typeface="华文细黑" pitchFamily="2" charset="-122"/>
                <a:cs typeface="+mn-cs"/>
              </a:rPr>
              <a:t>Wireshark</a:t>
            </a:r>
            <a:r>
              <a:rPr lang="zh-CN" altLang="zh-CN" sz="1100" kern="1200" dirty="0" smtClean="0">
                <a:solidFill>
                  <a:schemeClr val="tx1"/>
                </a:solidFill>
                <a:latin typeface="FrutigerNext LT Regular" pitchFamily="34" charset="0"/>
                <a:ea typeface="华文细黑" pitchFamily="2" charset="-122"/>
                <a:cs typeface="+mn-cs"/>
              </a:rPr>
              <a:t>属于同一款软件，使用方法完全相同，只是软件界面颜色不同而已。</a:t>
            </a:r>
            <a:endParaRPr lang="en-US" altLang="zh-CN" sz="1100" kern="1200" dirty="0" smtClean="0">
              <a:solidFill>
                <a:schemeClr val="tx1"/>
              </a:solidFill>
              <a:latin typeface="FrutigerNext LT Regular" pitchFamily="34" charset="0"/>
              <a:ea typeface="华文细黑" pitchFamily="2" charset="-122"/>
              <a:cs typeface="+mn-cs"/>
            </a:endParaRPr>
          </a:p>
          <a:p>
            <a:pPr lvl="0"/>
            <a:r>
              <a:rPr lang="zh-CN" altLang="zh-CN" sz="1100" kern="1200" dirty="0" smtClean="0">
                <a:solidFill>
                  <a:schemeClr val="tx1"/>
                </a:solidFill>
                <a:latin typeface="FrutigerNext LT Regular" pitchFamily="34" charset="0"/>
                <a:ea typeface="华文细黑" pitchFamily="2" charset="-122"/>
                <a:cs typeface="+mn-cs"/>
              </a:rPr>
              <a:t>常见问题</a:t>
            </a:r>
          </a:p>
          <a:p>
            <a:r>
              <a:rPr lang="en-US" altLang="zh-CN" sz="1100" b="1" kern="1200" dirty="0" smtClean="0">
                <a:solidFill>
                  <a:schemeClr val="tx1"/>
                </a:solidFill>
                <a:latin typeface="FrutigerNext LT Regular" pitchFamily="34" charset="0"/>
                <a:ea typeface="华文细黑" pitchFamily="2" charset="-122"/>
                <a:cs typeface="+mn-cs"/>
              </a:rPr>
              <a:t>1</a:t>
            </a:r>
            <a:r>
              <a:rPr lang="zh-CN" altLang="zh-CN" sz="1100" b="1" kern="1200" dirty="0" smtClean="0">
                <a:solidFill>
                  <a:schemeClr val="tx1"/>
                </a:solidFill>
                <a:latin typeface="FrutigerNext LT Regular" pitchFamily="34" charset="0"/>
                <a:ea typeface="华文细黑" pitchFamily="2" charset="-122"/>
                <a:cs typeface="+mn-cs"/>
              </a:rPr>
              <a:t>、安装</a:t>
            </a:r>
            <a:r>
              <a:rPr lang="en-US" altLang="zh-CN" sz="1100" b="1" kern="1200" dirty="0" err="1" smtClean="0">
                <a:solidFill>
                  <a:schemeClr val="tx1"/>
                </a:solidFill>
                <a:latin typeface="FrutigerNext LT Regular" pitchFamily="34" charset="0"/>
                <a:ea typeface="华文细黑" pitchFamily="2" charset="-122"/>
                <a:cs typeface="+mn-cs"/>
              </a:rPr>
              <a:t>wincap</a:t>
            </a:r>
            <a:r>
              <a:rPr lang="zh-CN" altLang="zh-CN" sz="1100" b="1" kern="1200" dirty="0" smtClean="0">
                <a:solidFill>
                  <a:schemeClr val="tx1"/>
                </a:solidFill>
                <a:latin typeface="FrutigerNext LT Regular" pitchFamily="34" charset="0"/>
                <a:ea typeface="华文细黑" pitchFamily="2" charset="-122"/>
                <a:cs typeface="+mn-cs"/>
              </a:rPr>
              <a:t>时提示已安装</a:t>
            </a:r>
            <a:r>
              <a:rPr lang="en-US" altLang="zh-CN" sz="1100" b="1" kern="1200" dirty="0" err="1" smtClean="0">
                <a:solidFill>
                  <a:schemeClr val="tx1"/>
                </a:solidFill>
                <a:latin typeface="FrutigerNext LT Regular" pitchFamily="34" charset="0"/>
                <a:ea typeface="华文细黑" pitchFamily="2" charset="-122"/>
                <a:cs typeface="+mn-cs"/>
              </a:rPr>
              <a:t>wincap</a:t>
            </a:r>
            <a:r>
              <a:rPr lang="zh-CN" altLang="zh-CN" sz="1100" b="1" kern="1200" dirty="0" smtClean="0">
                <a:solidFill>
                  <a:schemeClr val="tx1"/>
                </a:solidFill>
                <a:latin typeface="FrutigerNext LT Regular" pitchFamily="34" charset="0"/>
                <a:ea typeface="华文细黑" pitchFamily="2" charset="-122"/>
                <a:cs typeface="+mn-cs"/>
              </a:rPr>
              <a:t>，且版本比正在安装的要高，不能替换</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sz="1100" kern="1200" dirty="0" smtClean="0">
                <a:solidFill>
                  <a:schemeClr val="tx1"/>
                </a:solidFill>
                <a:latin typeface="FrutigerNext LT Regular" pitchFamily="34" charset="0"/>
                <a:ea typeface="华文细黑" pitchFamily="2" charset="-122"/>
                <a:cs typeface="+mn-cs"/>
              </a:rPr>
              <a:t>解决方法：由于每个</a:t>
            </a:r>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或</a:t>
            </a:r>
            <a:r>
              <a:rPr lang="en-US" altLang="zh-CN" sz="1100" kern="1200" dirty="0" err="1" smtClean="0">
                <a:solidFill>
                  <a:schemeClr val="tx1"/>
                </a:solidFill>
                <a:latin typeface="FrutigerNext LT Regular" pitchFamily="34" charset="0"/>
                <a:ea typeface="华文细黑" pitchFamily="2" charset="-122"/>
                <a:cs typeface="+mn-cs"/>
              </a:rPr>
              <a:t>wireshark</a:t>
            </a:r>
            <a:r>
              <a:rPr lang="zh-CN" altLang="zh-CN" sz="1100" kern="1200" dirty="0" smtClean="0">
                <a:solidFill>
                  <a:schemeClr val="tx1"/>
                </a:solidFill>
                <a:latin typeface="FrutigerNext LT Regular" pitchFamily="34" charset="0"/>
                <a:ea typeface="华文细黑" pitchFamily="2" charset="-122"/>
                <a:cs typeface="+mn-cs"/>
              </a:rPr>
              <a:t>对</a:t>
            </a:r>
            <a:r>
              <a:rPr lang="en-US" altLang="zh-CN" sz="1100" kern="1200" dirty="0" err="1" smtClean="0">
                <a:solidFill>
                  <a:schemeClr val="tx1"/>
                </a:solidFill>
                <a:latin typeface="FrutigerNext LT Regular" pitchFamily="34" charset="0"/>
                <a:ea typeface="华文细黑" pitchFamily="2" charset="-122"/>
                <a:cs typeface="+mn-cs"/>
              </a:rPr>
              <a:t>wincap</a:t>
            </a:r>
            <a:r>
              <a:rPr lang="zh-CN" altLang="zh-CN" sz="1100" kern="1200" dirty="0" smtClean="0">
                <a:solidFill>
                  <a:schemeClr val="tx1"/>
                </a:solidFill>
                <a:latin typeface="FrutigerNext LT Regular" pitchFamily="34" charset="0"/>
                <a:ea typeface="华文细黑" pitchFamily="2" charset="-122"/>
                <a:cs typeface="+mn-cs"/>
              </a:rPr>
              <a:t>的版本有一定的要求，并不是越新越好，所以建议将电脑中原有的</a:t>
            </a:r>
            <a:r>
              <a:rPr lang="en-US" altLang="zh-CN" sz="1100" kern="1200" dirty="0" err="1" smtClean="0">
                <a:solidFill>
                  <a:schemeClr val="tx1"/>
                </a:solidFill>
                <a:latin typeface="FrutigerNext LT Regular" pitchFamily="34" charset="0"/>
                <a:ea typeface="华文细黑" pitchFamily="2" charset="-122"/>
                <a:cs typeface="+mn-cs"/>
              </a:rPr>
              <a:t>wincap</a:t>
            </a:r>
            <a:r>
              <a:rPr lang="zh-CN" altLang="zh-CN" sz="1100" kern="1200" dirty="0" smtClean="0">
                <a:solidFill>
                  <a:schemeClr val="tx1"/>
                </a:solidFill>
                <a:latin typeface="FrutigerNext LT Regular" pitchFamily="34" charset="0"/>
                <a:ea typeface="华文细黑" pitchFamily="2" charset="-122"/>
                <a:cs typeface="+mn-cs"/>
              </a:rPr>
              <a:t>卸载后，重新安装合适版本的</a:t>
            </a:r>
            <a:r>
              <a:rPr lang="en-US" altLang="zh-CN" sz="1100" kern="1200" dirty="0" err="1" smtClean="0">
                <a:solidFill>
                  <a:schemeClr val="tx1"/>
                </a:solidFill>
                <a:latin typeface="FrutigerNext LT Regular" pitchFamily="34" charset="0"/>
                <a:ea typeface="华文细黑" pitchFamily="2" charset="-122"/>
                <a:cs typeface="+mn-cs"/>
              </a:rPr>
              <a:t>wincap</a:t>
            </a:r>
            <a:r>
              <a:rPr lang="zh-CN" altLang="zh-CN" sz="1100" kern="1200" dirty="0" smtClean="0">
                <a:solidFill>
                  <a:schemeClr val="tx1"/>
                </a:solidFill>
                <a:latin typeface="FrutigerNext LT Regular" pitchFamily="34" charset="0"/>
                <a:ea typeface="华文细黑" pitchFamily="2" charset="-122"/>
                <a:cs typeface="+mn-cs"/>
              </a:rPr>
              <a:t>。如果</a:t>
            </a:r>
            <a:r>
              <a:rPr lang="en-US" altLang="zh-CN" sz="1100" kern="1200" dirty="0" err="1" smtClean="0">
                <a:solidFill>
                  <a:schemeClr val="tx1"/>
                </a:solidFill>
                <a:latin typeface="FrutigerNext LT Regular" pitchFamily="34" charset="0"/>
                <a:ea typeface="华文细黑" pitchFamily="2" charset="-122"/>
                <a:cs typeface="+mn-cs"/>
              </a:rPr>
              <a:t>wincap</a:t>
            </a:r>
            <a:r>
              <a:rPr lang="zh-CN" altLang="zh-CN" sz="1100" kern="1200" dirty="0" smtClean="0">
                <a:solidFill>
                  <a:schemeClr val="tx1"/>
                </a:solidFill>
                <a:latin typeface="FrutigerNext LT Regular" pitchFamily="34" charset="0"/>
                <a:ea typeface="华文细黑" pitchFamily="2" charset="-122"/>
                <a:cs typeface="+mn-cs"/>
              </a:rPr>
              <a:t>是合入</a:t>
            </a:r>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或</a:t>
            </a:r>
            <a:r>
              <a:rPr lang="en-US" altLang="zh-CN" sz="1100" kern="1200" dirty="0" err="1" smtClean="0">
                <a:solidFill>
                  <a:schemeClr val="tx1"/>
                </a:solidFill>
                <a:latin typeface="FrutigerNext LT Regular" pitchFamily="34" charset="0"/>
                <a:ea typeface="华文细黑" pitchFamily="2" charset="-122"/>
                <a:cs typeface="+mn-cs"/>
              </a:rPr>
              <a:t>wireshark</a:t>
            </a:r>
            <a:r>
              <a:rPr lang="zh-CN" altLang="zh-CN" sz="1100" kern="1200" dirty="0" smtClean="0">
                <a:solidFill>
                  <a:schemeClr val="tx1"/>
                </a:solidFill>
                <a:latin typeface="FrutigerNext LT Regular" pitchFamily="34" charset="0"/>
                <a:ea typeface="华文细黑" pitchFamily="2" charset="-122"/>
                <a:cs typeface="+mn-cs"/>
              </a:rPr>
              <a:t>安装文件中的，则需要将</a:t>
            </a:r>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或</a:t>
            </a:r>
            <a:r>
              <a:rPr lang="en-US" altLang="zh-CN" sz="1100" kern="1200" dirty="0" err="1" smtClean="0">
                <a:solidFill>
                  <a:schemeClr val="tx1"/>
                </a:solidFill>
                <a:latin typeface="FrutigerNext LT Regular" pitchFamily="34" charset="0"/>
                <a:ea typeface="华文细黑" pitchFamily="2" charset="-122"/>
                <a:cs typeface="+mn-cs"/>
              </a:rPr>
              <a:t>wireshark</a:t>
            </a:r>
            <a:r>
              <a:rPr lang="zh-CN" altLang="zh-CN" sz="1100" kern="1200" dirty="0" smtClean="0">
                <a:solidFill>
                  <a:schemeClr val="tx1"/>
                </a:solidFill>
                <a:latin typeface="FrutigerNext LT Regular" pitchFamily="34" charset="0"/>
                <a:ea typeface="华文细黑" pitchFamily="2" charset="-122"/>
                <a:cs typeface="+mn-cs"/>
              </a:rPr>
              <a:t>也一并卸载掉，然后再重新安装。</a:t>
            </a:r>
          </a:p>
          <a:p>
            <a:r>
              <a:rPr lang="en-US" altLang="zh-CN" sz="1100" b="1" kern="1200" dirty="0" smtClean="0">
                <a:solidFill>
                  <a:schemeClr val="tx1"/>
                </a:solidFill>
                <a:latin typeface="FrutigerNext LT Regular" pitchFamily="34" charset="0"/>
                <a:ea typeface="华文细黑" pitchFamily="2" charset="-122"/>
                <a:cs typeface="+mn-cs"/>
              </a:rPr>
              <a:t>2</a:t>
            </a:r>
            <a:r>
              <a:rPr lang="zh-CN" altLang="zh-CN" sz="1100" b="1" kern="1200" dirty="0" smtClean="0">
                <a:solidFill>
                  <a:schemeClr val="tx1"/>
                </a:solidFill>
                <a:latin typeface="FrutigerNext LT Regular" pitchFamily="34" charset="0"/>
                <a:ea typeface="华文细黑" pitchFamily="2" charset="-122"/>
                <a:cs typeface="+mn-cs"/>
              </a:rPr>
              <a:t>、跟踪数据时，网卡选项框中没有网卡，或者只有个别网卡</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sz="1100" kern="1200" dirty="0" smtClean="0">
                <a:solidFill>
                  <a:schemeClr val="tx1"/>
                </a:solidFill>
                <a:latin typeface="FrutigerNext LT Regular" pitchFamily="34" charset="0"/>
                <a:ea typeface="华文细黑" pitchFamily="2" charset="-122"/>
                <a:cs typeface="+mn-cs"/>
              </a:rPr>
              <a:t>解决方法：</a:t>
            </a:r>
          </a:p>
          <a:p>
            <a:pPr lvl="1"/>
            <a:r>
              <a:rPr lang="en-US" altLang="zh-CN" sz="1100" kern="1200" dirty="0" smtClean="0">
                <a:solidFill>
                  <a:schemeClr val="tx1"/>
                </a:solidFill>
                <a:latin typeface="FrutigerNext LT Regular" pitchFamily="34" charset="0"/>
                <a:ea typeface="华文细黑" pitchFamily="2" charset="-122"/>
                <a:cs typeface="+mn-cs"/>
              </a:rPr>
              <a:t>a. </a:t>
            </a:r>
            <a:r>
              <a:rPr lang="zh-CN" altLang="zh-CN" sz="1100" kern="1200" dirty="0" smtClean="0">
                <a:solidFill>
                  <a:schemeClr val="tx1"/>
                </a:solidFill>
                <a:latin typeface="FrutigerNext LT Regular" pitchFamily="34" charset="0"/>
                <a:ea typeface="华文细黑" pitchFamily="2" charset="-122"/>
                <a:cs typeface="+mn-cs"/>
              </a:rPr>
              <a:t>先重启一下电脑，看问题是否还存在。</a:t>
            </a:r>
          </a:p>
          <a:p>
            <a:pPr lvl="1"/>
            <a:r>
              <a:rPr lang="en-US" altLang="zh-CN" sz="1100" kern="1200" dirty="0" smtClean="0">
                <a:solidFill>
                  <a:schemeClr val="tx1"/>
                </a:solidFill>
                <a:latin typeface="FrutigerNext LT Regular" pitchFamily="34" charset="0"/>
                <a:ea typeface="华文细黑" pitchFamily="2" charset="-122"/>
                <a:cs typeface="+mn-cs"/>
              </a:rPr>
              <a:t>b. </a:t>
            </a:r>
            <a:r>
              <a:rPr lang="zh-CN" altLang="zh-CN" sz="1100" kern="1200" dirty="0" smtClean="0">
                <a:solidFill>
                  <a:schemeClr val="tx1"/>
                </a:solidFill>
                <a:latin typeface="FrutigerNext LT Regular" pitchFamily="34" charset="0"/>
                <a:ea typeface="华文细黑" pitchFamily="2" charset="-122"/>
                <a:cs typeface="+mn-cs"/>
              </a:rPr>
              <a:t>如果重启电脑不行，则把</a:t>
            </a:r>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和</a:t>
            </a:r>
            <a:r>
              <a:rPr lang="en-US" altLang="zh-CN" sz="1100" kern="1200" dirty="0" err="1" smtClean="0">
                <a:solidFill>
                  <a:schemeClr val="tx1"/>
                </a:solidFill>
                <a:latin typeface="FrutigerNext LT Regular" pitchFamily="34" charset="0"/>
                <a:ea typeface="华文细黑" pitchFamily="2" charset="-122"/>
                <a:cs typeface="+mn-cs"/>
              </a:rPr>
              <a:t>wincap</a:t>
            </a:r>
            <a:r>
              <a:rPr lang="zh-CN" altLang="zh-CN" sz="1100" kern="1200" dirty="0" smtClean="0">
                <a:solidFill>
                  <a:schemeClr val="tx1"/>
                </a:solidFill>
                <a:latin typeface="FrutigerNext LT Regular" pitchFamily="34" charset="0"/>
                <a:ea typeface="华文细黑" pitchFamily="2" charset="-122"/>
                <a:cs typeface="+mn-cs"/>
              </a:rPr>
              <a:t>都卸载掉，将原来的安装目录删掉。</a:t>
            </a:r>
          </a:p>
          <a:p>
            <a:pPr lvl="1"/>
            <a:r>
              <a:rPr lang="en-US" altLang="zh-CN" sz="1100" kern="1200" dirty="0" smtClean="0">
                <a:solidFill>
                  <a:schemeClr val="tx1"/>
                </a:solidFill>
                <a:latin typeface="FrutigerNext LT Regular" pitchFamily="34" charset="0"/>
                <a:ea typeface="华文细黑" pitchFamily="2" charset="-122"/>
                <a:cs typeface="+mn-cs"/>
              </a:rPr>
              <a:t>c. </a:t>
            </a:r>
            <a:r>
              <a:rPr lang="zh-CN" altLang="zh-CN" sz="1100" kern="1200" dirty="0" smtClean="0">
                <a:solidFill>
                  <a:schemeClr val="tx1"/>
                </a:solidFill>
                <a:latin typeface="FrutigerNext LT Regular" pitchFamily="34" charset="0"/>
                <a:ea typeface="华文细黑" pitchFamily="2" charset="-122"/>
                <a:cs typeface="+mn-cs"/>
              </a:rPr>
              <a:t>到下面指定的目录中删除文件，共三个。删除以后重新安装</a:t>
            </a:r>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和</a:t>
            </a:r>
            <a:r>
              <a:rPr lang="en-US" altLang="zh-CN" sz="1100" kern="1200" dirty="0" err="1" smtClean="0">
                <a:solidFill>
                  <a:schemeClr val="tx1"/>
                </a:solidFill>
                <a:latin typeface="FrutigerNext LT Regular" pitchFamily="34" charset="0"/>
                <a:ea typeface="华文细黑" pitchFamily="2" charset="-122"/>
                <a:cs typeface="+mn-cs"/>
              </a:rPr>
              <a:t>wincap</a:t>
            </a:r>
            <a:r>
              <a:rPr lang="zh-CN" altLang="zh-CN" sz="1100" kern="1200" dirty="0" smtClean="0">
                <a:solidFill>
                  <a:schemeClr val="tx1"/>
                </a:solidFill>
                <a:latin typeface="FrutigerNext LT Regular" pitchFamily="34" charset="0"/>
                <a:ea typeface="华文细黑" pitchFamily="2" charset="-122"/>
                <a:cs typeface="+mn-cs"/>
              </a:rPr>
              <a:t>。</a:t>
            </a:r>
          </a:p>
          <a:p>
            <a:pPr lvl="1"/>
            <a:r>
              <a:rPr lang="en-US" altLang="zh-CN" sz="1100" kern="1200" dirty="0" smtClean="0">
                <a:solidFill>
                  <a:schemeClr val="tx1"/>
                </a:solidFill>
                <a:latin typeface="FrutigerNext LT Regular" pitchFamily="34" charset="0"/>
                <a:ea typeface="华文细黑" pitchFamily="2" charset="-122"/>
                <a:cs typeface="+mn-cs"/>
              </a:rPr>
              <a:t>C:\WINDOWS\system32\packet.dll</a:t>
            </a:r>
            <a:r>
              <a:rPr lang="zh-CN" altLang="zh-CN" sz="1100" kern="1200" dirty="0" smtClean="0">
                <a:solidFill>
                  <a:schemeClr val="tx1"/>
                </a:solidFill>
                <a:latin typeface="FrutigerNext LT Regular" pitchFamily="34" charset="0"/>
                <a:ea typeface="华文细黑" pitchFamily="2" charset="-122"/>
                <a:cs typeface="+mn-cs"/>
              </a:rPr>
              <a:t>和</a:t>
            </a:r>
            <a:r>
              <a:rPr lang="en-US" altLang="zh-CN" sz="1100" kern="1200" dirty="0" smtClean="0">
                <a:solidFill>
                  <a:schemeClr val="tx1"/>
                </a:solidFill>
                <a:latin typeface="FrutigerNext LT Regular" pitchFamily="34" charset="0"/>
                <a:ea typeface="华文细黑" pitchFamily="2" charset="-122"/>
                <a:cs typeface="+mn-cs"/>
              </a:rPr>
              <a:t>wpcap.dll </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C:\WINDOWS\system32\drivers\npf.sys </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110</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22749896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zh-CN" sz="1100" kern="1200" dirty="0" smtClean="0">
                <a:solidFill>
                  <a:schemeClr val="tx1"/>
                </a:solidFill>
                <a:latin typeface="FrutigerNext LT Regular" pitchFamily="34" charset="0"/>
                <a:ea typeface="华文细黑" pitchFamily="2" charset="-122"/>
                <a:cs typeface="+mn-cs"/>
              </a:rPr>
              <a:t>停止跟踪时，若有对话框显示跟踪过程，则可点击对话框中的</a:t>
            </a:r>
            <a:r>
              <a:rPr lang="en-US" altLang="zh-CN" sz="1100" kern="1200" dirty="0" smtClean="0">
                <a:solidFill>
                  <a:schemeClr val="tx1"/>
                </a:solidFill>
                <a:latin typeface="FrutigerNext LT Regular" pitchFamily="34" charset="0"/>
                <a:ea typeface="华文细黑" pitchFamily="2" charset="-122"/>
                <a:cs typeface="+mn-cs"/>
              </a:rPr>
              <a:t>Stop</a:t>
            </a:r>
            <a:r>
              <a:rPr lang="zh-CN" altLang="zh-CN" sz="1100" kern="1200" dirty="0" smtClean="0">
                <a:solidFill>
                  <a:schemeClr val="tx1"/>
                </a:solidFill>
                <a:latin typeface="FrutigerNext LT Regular" pitchFamily="34" charset="0"/>
                <a:ea typeface="华文细黑" pitchFamily="2" charset="-122"/>
                <a:cs typeface="+mn-cs"/>
              </a:rPr>
              <a:t>键，或者直接用</a:t>
            </a:r>
            <a:r>
              <a:rPr lang="en-US" altLang="zh-CN" sz="1100" kern="1200" dirty="0" smtClean="0">
                <a:solidFill>
                  <a:schemeClr val="tx1"/>
                </a:solidFill>
                <a:latin typeface="FrutigerNext LT Regular" pitchFamily="34" charset="0"/>
                <a:ea typeface="华文细黑" pitchFamily="2" charset="-122"/>
                <a:cs typeface="+mn-cs"/>
              </a:rPr>
              <a:t>Ctrl</a:t>
            </a:r>
            <a:r>
              <a:rPr lang="zh-CN" altLang="zh-CN" sz="1100" kern="1200" dirty="0" smtClean="0">
                <a:solidFill>
                  <a:schemeClr val="tx1"/>
                </a:solidFill>
                <a:latin typeface="FrutigerNext LT Regular" pitchFamily="34" charset="0"/>
                <a:ea typeface="华文细黑" pitchFamily="2" charset="-122"/>
                <a:cs typeface="+mn-cs"/>
              </a:rPr>
              <a:t>＋</a:t>
            </a:r>
            <a:r>
              <a:rPr lang="en-US" altLang="zh-CN" sz="1100" kern="1200" dirty="0" smtClean="0">
                <a:solidFill>
                  <a:schemeClr val="tx1"/>
                </a:solidFill>
                <a:latin typeface="FrutigerNext LT Regular" pitchFamily="34" charset="0"/>
                <a:ea typeface="华文细黑" pitchFamily="2" charset="-122"/>
                <a:cs typeface="+mn-cs"/>
              </a:rPr>
              <a:t>E</a:t>
            </a:r>
            <a:r>
              <a:rPr lang="zh-CN" altLang="zh-CN" sz="1100" kern="1200" dirty="0" smtClean="0">
                <a:solidFill>
                  <a:schemeClr val="tx1"/>
                </a:solidFill>
                <a:latin typeface="FrutigerNext LT Regular" pitchFamily="34" charset="0"/>
                <a:ea typeface="华文细黑" pitchFamily="2" charset="-122"/>
                <a:cs typeface="+mn-cs"/>
              </a:rPr>
              <a:t>来停止。</a:t>
            </a:r>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111</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21708925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dirty="0" smtClean="0"/>
              <a:t>软件分为菜单、工具栏、过滤栏、跟踪显示区、协议解析区、码流显示区这几个部分。</a:t>
            </a:r>
          </a:p>
          <a:p>
            <a:r>
              <a:rPr lang="zh-CN" altLang="zh-CN" dirty="0" smtClean="0"/>
              <a:t>有时显示区会隐藏，例如协议解析区没有显示，可将鼠标移到跟踪显示区下边的边框上，待鼠标显示上下箭头</a:t>
            </a:r>
            <a:r>
              <a:rPr lang="en-US" altLang="zh-CN" dirty="0" smtClean="0"/>
              <a:t>     </a:t>
            </a:r>
            <a:r>
              <a:rPr lang="zh-CN" altLang="zh-CN" dirty="0" smtClean="0"/>
              <a:t>时，左键点击边框并将其往上移即可显示下面的协议解析区。另外，由于显示问题，跟踪显示区中的数据包可能会比实际抓的包要少，此时将跟踪显示区的下边框上下移动即可。</a:t>
            </a:r>
            <a:endParaRPr lang="en-US" altLang="zh-CN" dirty="0" smtClean="0"/>
          </a:p>
          <a:p>
            <a:pPr lvl="0"/>
            <a:r>
              <a:rPr lang="zh-CN" altLang="zh-CN" dirty="0" smtClean="0"/>
              <a:t>跟踪显示区</a:t>
            </a:r>
          </a:p>
          <a:p>
            <a:pPr lvl="1"/>
            <a:r>
              <a:rPr lang="zh-CN" altLang="zh-CN" dirty="0" smtClean="0"/>
              <a:t>跟踪完成后，在跟踪显示区会呈现数据包的基本信息，如时间、源</a:t>
            </a:r>
            <a:r>
              <a:rPr lang="en-US" altLang="zh-CN" dirty="0" smtClean="0"/>
              <a:t>IP</a:t>
            </a:r>
            <a:r>
              <a:rPr lang="zh-CN" altLang="zh-CN" dirty="0" smtClean="0"/>
              <a:t>、目的</a:t>
            </a:r>
            <a:r>
              <a:rPr lang="en-US" altLang="zh-CN" dirty="0" smtClean="0"/>
              <a:t>IP</a:t>
            </a:r>
            <a:r>
              <a:rPr lang="zh-CN" altLang="zh-CN" dirty="0" smtClean="0"/>
              <a:t>、数据包协议、以及数据包的摘要。</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115</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pic>
        <p:nvPicPr>
          <p:cNvPr id="7" name="图片 6"/>
          <p:cNvPicPr/>
          <p:nvPr/>
        </p:nvPicPr>
        <p:blipFill>
          <a:blip r:embed="rId3" cstate="print"/>
          <a:srcRect/>
          <a:stretch>
            <a:fillRect/>
          </a:stretch>
        </p:blipFill>
        <p:spPr bwMode="auto">
          <a:xfrm>
            <a:off x="2669795" y="5415148"/>
            <a:ext cx="114300" cy="238125"/>
          </a:xfrm>
          <a:prstGeom prst="rect">
            <a:avLst/>
          </a:prstGeom>
          <a:noFill/>
          <a:ln w="9525">
            <a:noFill/>
            <a:miter lim="800000"/>
            <a:headEnd/>
            <a:tailEnd/>
          </a:ln>
        </p:spPr>
      </p:pic>
    </p:spTree>
    <p:extLst>
      <p:ext uri="{BB962C8B-B14F-4D97-AF65-F5344CB8AC3E}">
        <p14:creationId xmlns:p14="http://schemas.microsoft.com/office/powerpoint/2010/main" val="368250990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r>
              <a:rPr lang="zh-CN" altLang="zh-CN" sz="1100" b="1" kern="1200" dirty="0" smtClean="0">
                <a:solidFill>
                  <a:schemeClr val="tx1"/>
                </a:solidFill>
                <a:latin typeface="FrutigerNext LT Regular" pitchFamily="34" charset="0"/>
                <a:ea typeface="华文细黑" pitchFamily="2" charset="-122"/>
                <a:cs typeface="+mn-cs"/>
              </a:rPr>
              <a:t>技巧</a:t>
            </a:r>
            <a:r>
              <a:rPr lang="en-US" altLang="zh-CN" sz="1100" b="1" kern="1200" dirty="0" smtClean="0">
                <a:solidFill>
                  <a:schemeClr val="tx1"/>
                </a:solidFill>
                <a:latin typeface="FrutigerNext LT Regular" pitchFamily="34" charset="0"/>
                <a:ea typeface="华文细黑" pitchFamily="2" charset="-122"/>
                <a:cs typeface="+mn-cs"/>
              </a:rPr>
              <a:t>1</a:t>
            </a:r>
            <a:r>
              <a:rPr lang="zh-CN" altLang="zh-CN" sz="1100" b="1" kern="1200" dirty="0" smtClean="0">
                <a:solidFill>
                  <a:schemeClr val="tx1"/>
                </a:solidFill>
                <a:latin typeface="FrutigerNext LT Regular" pitchFamily="34" charset="0"/>
                <a:ea typeface="华文细黑" pitchFamily="2" charset="-122"/>
                <a:cs typeface="+mn-cs"/>
              </a:rPr>
              <a:t>：修改时间显示方式</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sz="1100" kern="1200" dirty="0" smtClean="0">
                <a:solidFill>
                  <a:schemeClr val="tx1"/>
                </a:solidFill>
                <a:latin typeface="FrutigerNext LT Regular" pitchFamily="34" charset="0"/>
                <a:ea typeface="华文细黑" pitchFamily="2" charset="-122"/>
                <a:cs typeface="+mn-cs"/>
              </a:rPr>
              <a:t>显示时间有几种方式，如绝对时间、相对时间等，可以在菜单</a:t>
            </a:r>
            <a:r>
              <a:rPr lang="en-US" altLang="zh-CN" sz="1100" kern="1200" dirty="0" smtClean="0">
                <a:solidFill>
                  <a:schemeClr val="tx1"/>
                </a:solidFill>
                <a:latin typeface="FrutigerNext LT Regular" pitchFamily="34" charset="0"/>
                <a:ea typeface="华文细黑" pitchFamily="2" charset="-122"/>
                <a:cs typeface="+mn-cs"/>
              </a:rPr>
              <a:t>View-&gt;Time Display Format</a:t>
            </a:r>
            <a:r>
              <a:rPr lang="zh-CN" altLang="zh-CN" sz="1100" kern="1200" dirty="0" smtClean="0">
                <a:solidFill>
                  <a:schemeClr val="tx1"/>
                </a:solidFill>
                <a:latin typeface="FrutigerNext LT Regular" pitchFamily="34" charset="0"/>
                <a:ea typeface="华文细黑" pitchFamily="2" charset="-122"/>
                <a:cs typeface="+mn-cs"/>
              </a:rPr>
              <a:t>中选择需要显示的方式。如果需要以某个数据包为统计时间起始点，则右键点击该数据包，选择</a:t>
            </a:r>
            <a:r>
              <a:rPr lang="en-US" altLang="zh-CN" sz="1100" kern="1200" dirty="0" smtClean="0">
                <a:solidFill>
                  <a:schemeClr val="tx1"/>
                </a:solidFill>
                <a:latin typeface="FrutigerNext LT Regular" pitchFamily="34" charset="0"/>
                <a:ea typeface="华文细黑" pitchFamily="2" charset="-122"/>
                <a:cs typeface="+mn-cs"/>
              </a:rPr>
              <a:t>Set Time Reference</a:t>
            </a:r>
            <a:r>
              <a:rPr lang="zh-CN" altLang="zh-CN" sz="1100" kern="1200" dirty="0" smtClean="0">
                <a:solidFill>
                  <a:schemeClr val="tx1"/>
                </a:solidFill>
                <a:latin typeface="FrutigerNext LT Regular" pitchFamily="34" charset="0"/>
                <a:ea typeface="华文细黑" pitchFamily="2" charset="-122"/>
                <a:cs typeface="+mn-cs"/>
              </a:rPr>
              <a:t>。如果取消该起始点，则重复一下该操作即可。</a:t>
            </a:r>
          </a:p>
          <a:p>
            <a:r>
              <a:rPr lang="zh-CN" altLang="zh-CN" sz="1100" b="1" kern="1200" dirty="0" smtClean="0">
                <a:solidFill>
                  <a:schemeClr val="tx1"/>
                </a:solidFill>
                <a:latin typeface="FrutigerNext LT Regular" pitchFamily="34" charset="0"/>
                <a:ea typeface="华文细黑" pitchFamily="2" charset="-122"/>
                <a:cs typeface="+mn-cs"/>
              </a:rPr>
              <a:t>技巧</a:t>
            </a:r>
            <a:r>
              <a:rPr lang="en-US" altLang="zh-CN" sz="1100" b="1" kern="1200" dirty="0" smtClean="0">
                <a:solidFill>
                  <a:schemeClr val="tx1"/>
                </a:solidFill>
                <a:latin typeface="FrutigerNext LT Regular" pitchFamily="34" charset="0"/>
                <a:ea typeface="华文细黑" pitchFamily="2" charset="-122"/>
                <a:cs typeface="+mn-cs"/>
              </a:rPr>
              <a:t>2</a:t>
            </a:r>
            <a:r>
              <a:rPr lang="zh-CN" altLang="zh-CN" sz="1100" b="1" kern="1200" dirty="0" smtClean="0">
                <a:solidFill>
                  <a:schemeClr val="tx1"/>
                </a:solidFill>
                <a:latin typeface="FrutigerNext LT Regular" pitchFamily="34" charset="0"/>
                <a:ea typeface="华文细黑" pitchFamily="2" charset="-122"/>
                <a:cs typeface="+mn-cs"/>
              </a:rPr>
              <a:t>：按源</a:t>
            </a:r>
            <a:r>
              <a:rPr lang="en-US" altLang="zh-CN" sz="1100" b="1" kern="1200" dirty="0" smtClean="0">
                <a:solidFill>
                  <a:schemeClr val="tx1"/>
                </a:solidFill>
                <a:latin typeface="FrutigerNext LT Regular" pitchFamily="34" charset="0"/>
                <a:ea typeface="华文细黑" pitchFamily="2" charset="-122"/>
                <a:cs typeface="+mn-cs"/>
              </a:rPr>
              <a:t>IP</a:t>
            </a:r>
            <a:r>
              <a:rPr lang="zh-CN" altLang="zh-CN" sz="1100" b="1" kern="1200" dirty="0" smtClean="0">
                <a:solidFill>
                  <a:schemeClr val="tx1"/>
                </a:solidFill>
                <a:latin typeface="FrutigerNext LT Regular" pitchFamily="34" charset="0"/>
                <a:ea typeface="华文细黑" pitchFamily="2" charset="-122"/>
                <a:cs typeface="+mn-cs"/>
              </a:rPr>
              <a:t>或目的</a:t>
            </a:r>
            <a:r>
              <a:rPr lang="en-US" altLang="zh-CN" sz="1100" b="1" kern="1200" dirty="0" smtClean="0">
                <a:solidFill>
                  <a:schemeClr val="tx1"/>
                </a:solidFill>
                <a:latin typeface="FrutigerNext LT Regular" pitchFamily="34" charset="0"/>
                <a:ea typeface="华文细黑" pitchFamily="2" charset="-122"/>
                <a:cs typeface="+mn-cs"/>
              </a:rPr>
              <a:t>IP</a:t>
            </a:r>
            <a:r>
              <a:rPr lang="zh-CN" altLang="zh-CN" sz="1100" b="1" kern="1200" dirty="0" smtClean="0">
                <a:solidFill>
                  <a:schemeClr val="tx1"/>
                </a:solidFill>
                <a:latin typeface="FrutigerNext LT Regular" pitchFamily="34" charset="0"/>
                <a:ea typeface="华文细黑" pitchFamily="2" charset="-122"/>
                <a:cs typeface="+mn-cs"/>
              </a:rPr>
              <a:t>排序</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kern="1200" dirty="0" smtClean="0">
                <a:solidFill>
                  <a:schemeClr val="tx1"/>
                </a:solidFill>
                <a:latin typeface="FrutigerNext LT Regular" pitchFamily="34" charset="0"/>
                <a:ea typeface="华文细黑" pitchFamily="2" charset="-122"/>
                <a:cs typeface="+mn-cs"/>
              </a:rPr>
              <a:t>协议解析区</a:t>
            </a:r>
          </a:p>
          <a:p>
            <a:pPr lvl="2"/>
            <a:r>
              <a:rPr lang="zh-CN" altLang="zh-CN" kern="1200" dirty="0" smtClean="0">
                <a:solidFill>
                  <a:schemeClr val="tx1"/>
                </a:solidFill>
                <a:latin typeface="FrutigerNext LT Regular" pitchFamily="34" charset="0"/>
                <a:ea typeface="华文细黑" pitchFamily="2" charset="-122"/>
                <a:cs typeface="+mn-cs"/>
              </a:rPr>
              <a:t>在跟踪显示区点击某一数据包时，协议解析区会对该数据包进行协议解析，从有线传输的最底层开始一直解析到应用层，每一层都对协议包头做了详细的解析。</a:t>
            </a:r>
          </a:p>
          <a:p>
            <a:pPr lvl="1"/>
            <a:r>
              <a:rPr lang="zh-CN" altLang="zh-CN" kern="1200" dirty="0" smtClean="0">
                <a:solidFill>
                  <a:schemeClr val="tx1"/>
                </a:solidFill>
                <a:latin typeface="FrutigerNext LT Regular" pitchFamily="34" charset="0"/>
                <a:ea typeface="华文细黑" pitchFamily="2" charset="-122"/>
                <a:cs typeface="+mn-cs"/>
              </a:rPr>
              <a:t>码流显示区</a:t>
            </a:r>
          </a:p>
          <a:p>
            <a:pPr lvl="2"/>
            <a:r>
              <a:rPr lang="zh-CN" altLang="zh-CN" kern="1200" dirty="0" smtClean="0">
                <a:solidFill>
                  <a:schemeClr val="tx1"/>
                </a:solidFill>
                <a:latin typeface="FrutigerNext LT Regular" pitchFamily="34" charset="0"/>
                <a:ea typeface="华文细黑" pitchFamily="2" charset="-122"/>
                <a:cs typeface="+mn-cs"/>
              </a:rPr>
              <a:t>在跟踪显示区点击某一数据包时，码流显示区会以十六进制的方式显示该数据包码流。</a:t>
            </a:r>
          </a:p>
          <a:p>
            <a:pPr lvl="2"/>
            <a:r>
              <a:rPr lang="zh-CN" altLang="zh-CN" kern="1200" dirty="0" smtClean="0">
                <a:solidFill>
                  <a:schemeClr val="tx1"/>
                </a:solidFill>
                <a:latin typeface="FrutigerNext LT Regular" pitchFamily="34" charset="0"/>
                <a:ea typeface="华文细黑" pitchFamily="2" charset="-122"/>
                <a:cs typeface="+mn-cs"/>
              </a:rPr>
              <a:t>在协议解析区点击某一层协议解析或某个协议项时，码流显示区也会突出显示选中项所占的码流。</a:t>
            </a:r>
          </a:p>
          <a:p>
            <a:pPr lvl="1"/>
            <a:r>
              <a:rPr lang="zh-CN" altLang="zh-CN" kern="1200" dirty="0" smtClean="0">
                <a:solidFill>
                  <a:schemeClr val="tx1"/>
                </a:solidFill>
                <a:latin typeface="FrutigerNext LT Regular" pitchFamily="34" charset="0"/>
                <a:ea typeface="华文细黑" pitchFamily="2" charset="-122"/>
                <a:cs typeface="+mn-cs"/>
              </a:rPr>
              <a:t>过滤功能</a:t>
            </a:r>
          </a:p>
          <a:p>
            <a:pPr lvl="2"/>
            <a:r>
              <a:rPr lang="zh-CN" altLang="zh-CN" kern="1200" dirty="0" smtClean="0">
                <a:solidFill>
                  <a:schemeClr val="tx1"/>
                </a:solidFill>
                <a:latin typeface="FrutigerNext LT Regular" pitchFamily="34" charset="0"/>
                <a:ea typeface="华文细黑" pitchFamily="2" charset="-122"/>
                <a:cs typeface="+mn-cs"/>
              </a:rPr>
              <a:t>过滤栏可以对已捕获的数据包进行过滤显示，使用时可以直接在过滤框中输入过滤条件，也可以通过右边的</a:t>
            </a:r>
            <a:r>
              <a:rPr lang="en-US" altLang="zh-CN" kern="1200" dirty="0" smtClean="0">
                <a:solidFill>
                  <a:schemeClr val="tx1"/>
                </a:solidFill>
                <a:latin typeface="FrutigerNext LT Regular" pitchFamily="34" charset="0"/>
                <a:ea typeface="华文细黑" pitchFamily="2" charset="-122"/>
                <a:cs typeface="+mn-cs"/>
              </a:rPr>
              <a:t>Expression</a:t>
            </a:r>
            <a:r>
              <a:rPr lang="zh-CN" altLang="zh-CN" kern="1200" dirty="0" smtClean="0">
                <a:solidFill>
                  <a:schemeClr val="tx1"/>
                </a:solidFill>
                <a:latin typeface="FrutigerNext LT Regular" pitchFamily="34" charset="0"/>
                <a:ea typeface="华文细黑" pitchFamily="2" charset="-122"/>
                <a:cs typeface="+mn-cs"/>
              </a:rPr>
              <a:t>按钮选择过滤条件。如果过滤条件符合规范，则过滤框会以绿色显示，若不符合规范则以红色提醒。设置完成后，点击右边的</a:t>
            </a:r>
            <a:r>
              <a:rPr lang="en-US" altLang="zh-CN" kern="1200" dirty="0" smtClean="0">
                <a:solidFill>
                  <a:schemeClr val="tx1"/>
                </a:solidFill>
                <a:latin typeface="FrutigerNext LT Regular" pitchFamily="34" charset="0"/>
                <a:ea typeface="华文细黑" pitchFamily="2" charset="-122"/>
                <a:cs typeface="+mn-cs"/>
              </a:rPr>
              <a:t>Apply</a:t>
            </a:r>
            <a:r>
              <a:rPr lang="zh-CN" altLang="zh-CN" kern="1200" dirty="0" smtClean="0">
                <a:solidFill>
                  <a:schemeClr val="tx1"/>
                </a:solidFill>
                <a:latin typeface="FrutigerNext LT Regular" pitchFamily="34" charset="0"/>
                <a:ea typeface="华文细黑" pitchFamily="2" charset="-122"/>
                <a:cs typeface="+mn-cs"/>
              </a:rPr>
              <a:t>按钮即开始按条件过滤。想取消过滤，则点击</a:t>
            </a:r>
            <a:r>
              <a:rPr lang="en-US" altLang="zh-CN" kern="1200" dirty="0" smtClean="0">
                <a:solidFill>
                  <a:schemeClr val="tx1"/>
                </a:solidFill>
                <a:latin typeface="FrutigerNext LT Regular" pitchFamily="34" charset="0"/>
                <a:ea typeface="华文细黑" pitchFamily="2" charset="-122"/>
                <a:cs typeface="+mn-cs"/>
              </a:rPr>
              <a:t>Clear</a:t>
            </a:r>
            <a:r>
              <a:rPr lang="zh-CN" altLang="zh-CN" kern="1200" dirty="0" smtClean="0">
                <a:solidFill>
                  <a:schemeClr val="tx1"/>
                </a:solidFill>
                <a:latin typeface="FrutigerNext LT Regular" pitchFamily="34" charset="0"/>
                <a:ea typeface="华文细黑" pitchFamily="2" charset="-122"/>
                <a:cs typeface="+mn-cs"/>
              </a:rPr>
              <a:t>按钮。</a:t>
            </a:r>
            <a:r>
              <a:rPr lang="zh-CN" altLang="zh-CN" dirty="0" smtClean="0"/>
              <a:t>过滤条件使用的符号：等于</a:t>
            </a:r>
            <a:r>
              <a:rPr lang="en-US" altLang="zh-CN" dirty="0" smtClean="0"/>
              <a:t> ==</a:t>
            </a:r>
            <a:r>
              <a:rPr lang="zh-CN" altLang="zh-CN" dirty="0" smtClean="0"/>
              <a:t>或</a:t>
            </a:r>
            <a:r>
              <a:rPr lang="en-US" altLang="zh-CN" dirty="0" err="1" smtClean="0"/>
              <a:t>eq</a:t>
            </a:r>
            <a:r>
              <a:rPr lang="zh-CN" altLang="zh-CN" dirty="0" smtClean="0"/>
              <a:t>，不等于</a:t>
            </a:r>
            <a:r>
              <a:rPr lang="en-US" altLang="zh-CN" dirty="0" smtClean="0"/>
              <a:t> !=</a:t>
            </a:r>
            <a:r>
              <a:rPr lang="zh-CN" altLang="zh-CN" dirty="0" smtClean="0"/>
              <a:t>，大于</a:t>
            </a:r>
            <a:r>
              <a:rPr lang="en-US" altLang="zh-CN" dirty="0" smtClean="0"/>
              <a:t>&gt;</a:t>
            </a:r>
            <a:r>
              <a:rPr lang="zh-CN" altLang="zh-CN" dirty="0" smtClean="0"/>
              <a:t>，大于等于</a:t>
            </a:r>
            <a:r>
              <a:rPr lang="en-US" altLang="zh-CN" dirty="0" smtClean="0"/>
              <a:t>&gt;=</a:t>
            </a:r>
            <a:r>
              <a:rPr lang="zh-CN" altLang="zh-CN" dirty="0" smtClean="0"/>
              <a:t>，小于</a:t>
            </a:r>
            <a:r>
              <a:rPr lang="en-US" altLang="zh-CN" dirty="0" smtClean="0"/>
              <a:t>&lt;</a:t>
            </a:r>
            <a:r>
              <a:rPr lang="zh-CN" altLang="zh-CN" dirty="0" smtClean="0"/>
              <a:t>，小于等于</a:t>
            </a:r>
            <a:r>
              <a:rPr lang="en-US" altLang="zh-CN" dirty="0" smtClean="0"/>
              <a:t>&lt;=</a:t>
            </a:r>
            <a:r>
              <a:rPr lang="zh-CN" altLang="zh-CN" dirty="0" smtClean="0"/>
              <a:t>，条件与</a:t>
            </a:r>
            <a:r>
              <a:rPr lang="en-US" altLang="zh-CN" dirty="0" smtClean="0"/>
              <a:t> &amp;&amp;</a:t>
            </a:r>
            <a:r>
              <a:rPr lang="zh-CN" altLang="zh-CN" dirty="0" smtClean="0"/>
              <a:t>，条件或</a:t>
            </a:r>
            <a:r>
              <a:rPr lang="en-US" altLang="zh-CN" dirty="0" smtClean="0"/>
              <a:t> ||</a:t>
            </a:r>
            <a:r>
              <a:rPr lang="zh-CN" altLang="en-US" dirty="0" smtClean="0"/>
              <a:t>。</a:t>
            </a:r>
            <a:endParaRPr lang="zh-CN" altLang="zh-CN" dirty="0" smtClean="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116</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76680898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b="1" kern="1200" dirty="0" smtClean="0">
                <a:solidFill>
                  <a:schemeClr val="tx1"/>
                </a:solidFill>
                <a:latin typeface="FrutigerNext LT Regular" pitchFamily="34" charset="0"/>
                <a:ea typeface="华文细黑" pitchFamily="2" charset="-122"/>
                <a:cs typeface="+mn-cs"/>
              </a:rPr>
              <a:t>技巧</a:t>
            </a:r>
            <a:r>
              <a:rPr lang="en-US" altLang="zh-CN" sz="1100" b="1" kern="1200" dirty="0" smtClean="0">
                <a:solidFill>
                  <a:schemeClr val="tx1"/>
                </a:solidFill>
                <a:latin typeface="FrutigerNext LT Regular" pitchFamily="34" charset="0"/>
                <a:ea typeface="华文细黑" pitchFamily="2" charset="-122"/>
                <a:cs typeface="+mn-cs"/>
              </a:rPr>
              <a:t>1</a:t>
            </a:r>
            <a:r>
              <a:rPr lang="zh-CN" altLang="zh-CN" sz="1100" b="1" kern="1200" dirty="0" smtClean="0">
                <a:solidFill>
                  <a:schemeClr val="tx1"/>
                </a:solidFill>
                <a:latin typeface="FrutigerNext LT Regular" pitchFamily="34" charset="0"/>
                <a:ea typeface="华文细黑" pitchFamily="2" charset="-122"/>
                <a:cs typeface="+mn-cs"/>
              </a:rPr>
              <a:t>：按</a:t>
            </a:r>
            <a:r>
              <a:rPr lang="en-US" altLang="zh-CN" sz="1100" b="1" kern="1200" dirty="0" smtClean="0">
                <a:solidFill>
                  <a:schemeClr val="tx1"/>
                </a:solidFill>
                <a:latin typeface="FrutigerNext LT Regular" pitchFamily="34" charset="0"/>
                <a:ea typeface="华文细黑" pitchFamily="2" charset="-122"/>
                <a:cs typeface="+mn-cs"/>
              </a:rPr>
              <a:t>IP</a:t>
            </a:r>
            <a:r>
              <a:rPr lang="zh-CN" altLang="zh-CN" sz="1100" b="1" kern="1200" dirty="0" smtClean="0">
                <a:solidFill>
                  <a:schemeClr val="tx1"/>
                </a:solidFill>
                <a:latin typeface="FrutigerNext LT Regular" pitchFamily="34" charset="0"/>
                <a:ea typeface="华文细黑" pitchFamily="2" charset="-122"/>
                <a:cs typeface="+mn-cs"/>
              </a:rPr>
              <a:t>过滤</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kern="1200" dirty="0" smtClean="0">
                <a:solidFill>
                  <a:schemeClr val="tx1"/>
                </a:solidFill>
                <a:latin typeface="FrutigerNext LT Regular" pitchFamily="34" charset="0"/>
                <a:ea typeface="华文细黑" pitchFamily="2" charset="-122"/>
                <a:cs typeface="+mn-cs"/>
              </a:rPr>
              <a:t>在过滤框中输入</a:t>
            </a:r>
            <a:r>
              <a:rPr lang="en-US" altLang="zh-CN" kern="1200" dirty="0" err="1" smtClean="0">
                <a:solidFill>
                  <a:schemeClr val="tx1"/>
                </a:solidFill>
                <a:latin typeface="FrutigerNext LT Regular" pitchFamily="34" charset="0"/>
                <a:ea typeface="华文细黑" pitchFamily="2" charset="-122"/>
                <a:cs typeface="+mn-cs"/>
              </a:rPr>
              <a:t>ip.addr</a:t>
            </a:r>
            <a:r>
              <a:rPr lang="en-US" altLang="zh-CN" kern="1200" dirty="0" smtClean="0">
                <a:solidFill>
                  <a:schemeClr val="tx1"/>
                </a:solidFill>
                <a:latin typeface="FrutigerNext LT Regular" pitchFamily="34" charset="0"/>
                <a:ea typeface="华文细黑" pitchFamily="2" charset="-122"/>
                <a:cs typeface="+mn-cs"/>
              </a:rPr>
              <a:t> == IP</a:t>
            </a:r>
            <a:r>
              <a:rPr lang="zh-CN" altLang="zh-CN" kern="1200" dirty="0" smtClean="0">
                <a:solidFill>
                  <a:schemeClr val="tx1"/>
                </a:solidFill>
                <a:latin typeface="FrutigerNext LT Regular" pitchFamily="34" charset="0"/>
                <a:ea typeface="华文细黑" pitchFamily="2" charset="-122"/>
                <a:cs typeface="+mn-cs"/>
              </a:rPr>
              <a:t>，例如</a:t>
            </a:r>
            <a:r>
              <a:rPr lang="en-US" altLang="zh-CN" kern="1200" dirty="0" err="1" smtClean="0">
                <a:solidFill>
                  <a:schemeClr val="tx1"/>
                </a:solidFill>
                <a:latin typeface="FrutigerNext LT Regular" pitchFamily="34" charset="0"/>
                <a:ea typeface="华文细黑" pitchFamily="2" charset="-122"/>
                <a:cs typeface="+mn-cs"/>
              </a:rPr>
              <a:t>ip.addr</a:t>
            </a:r>
            <a:r>
              <a:rPr lang="en-US" altLang="zh-CN" kern="1200" dirty="0" smtClean="0">
                <a:solidFill>
                  <a:schemeClr val="tx1"/>
                </a:solidFill>
                <a:latin typeface="FrutigerNext LT Regular" pitchFamily="34" charset="0"/>
                <a:ea typeface="华文细黑" pitchFamily="2" charset="-122"/>
                <a:cs typeface="+mn-cs"/>
              </a:rPr>
              <a:t> == 10.121.144.57</a:t>
            </a:r>
            <a:r>
              <a:rPr lang="zh-CN" altLang="zh-CN" kern="1200" dirty="0" smtClean="0">
                <a:solidFill>
                  <a:schemeClr val="tx1"/>
                </a:solidFill>
                <a:latin typeface="FrutigerNext LT Regular" pitchFamily="34" charset="0"/>
                <a:ea typeface="华文细黑" pitchFamily="2" charset="-122"/>
                <a:cs typeface="+mn-cs"/>
              </a:rPr>
              <a:t>，点击</a:t>
            </a:r>
            <a:r>
              <a:rPr lang="en-US" altLang="zh-CN" kern="1200" dirty="0" smtClean="0">
                <a:solidFill>
                  <a:schemeClr val="tx1"/>
                </a:solidFill>
                <a:latin typeface="FrutigerNext LT Regular" pitchFamily="34" charset="0"/>
                <a:ea typeface="华文细黑" pitchFamily="2" charset="-122"/>
                <a:cs typeface="+mn-cs"/>
              </a:rPr>
              <a:t>Apply</a:t>
            </a:r>
            <a:r>
              <a:rPr lang="zh-CN" altLang="zh-CN" kern="1200" dirty="0" smtClean="0">
                <a:solidFill>
                  <a:schemeClr val="tx1"/>
                </a:solidFill>
                <a:latin typeface="FrutigerNext LT Regular" pitchFamily="34" charset="0"/>
                <a:ea typeface="华文细黑" pitchFamily="2" charset="-122"/>
                <a:cs typeface="+mn-cs"/>
              </a:rPr>
              <a:t>即可按该</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过滤。只要源</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或目的</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等于该</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即可。如果只需要源</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或目的</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符合要求，则输入</a:t>
            </a:r>
            <a:r>
              <a:rPr lang="en-US" altLang="zh-CN" kern="1200" dirty="0" smtClean="0">
                <a:solidFill>
                  <a:schemeClr val="tx1"/>
                </a:solidFill>
                <a:latin typeface="FrutigerNext LT Regular" pitchFamily="34" charset="0"/>
                <a:ea typeface="华文细黑" pitchFamily="2" charset="-122"/>
                <a:cs typeface="+mn-cs"/>
              </a:rPr>
              <a:t>ip.src == IP</a:t>
            </a:r>
            <a:r>
              <a:rPr lang="zh-CN" altLang="zh-CN" kern="1200" dirty="0" smtClean="0">
                <a:solidFill>
                  <a:schemeClr val="tx1"/>
                </a:solidFill>
                <a:latin typeface="FrutigerNext LT Regular" pitchFamily="34" charset="0"/>
                <a:ea typeface="华文细黑" pitchFamily="2" charset="-122"/>
                <a:cs typeface="+mn-cs"/>
              </a:rPr>
              <a:t>或</a:t>
            </a:r>
            <a:r>
              <a:rPr lang="en-US" altLang="zh-CN" kern="1200" dirty="0" smtClean="0">
                <a:solidFill>
                  <a:schemeClr val="tx1"/>
                </a:solidFill>
                <a:latin typeface="FrutigerNext LT Regular" pitchFamily="34" charset="0"/>
                <a:ea typeface="华文细黑" pitchFamily="2" charset="-122"/>
                <a:cs typeface="+mn-cs"/>
              </a:rPr>
              <a:t>ip.dst == IP</a:t>
            </a:r>
            <a:r>
              <a:rPr lang="zh-CN" altLang="zh-CN" kern="1200" dirty="0" smtClean="0">
                <a:solidFill>
                  <a:schemeClr val="tx1"/>
                </a:solidFill>
                <a:latin typeface="FrutigerNext LT Regular" pitchFamily="34" charset="0"/>
                <a:ea typeface="华文细黑" pitchFamily="2" charset="-122"/>
                <a:cs typeface="+mn-cs"/>
              </a:rPr>
              <a:t>。</a:t>
            </a:r>
          </a:p>
          <a:p>
            <a:r>
              <a:rPr lang="zh-CN" altLang="zh-CN" sz="1100" b="1" kern="1200" dirty="0" smtClean="0">
                <a:solidFill>
                  <a:schemeClr val="tx1"/>
                </a:solidFill>
                <a:latin typeface="FrutigerNext LT Regular" pitchFamily="34" charset="0"/>
                <a:ea typeface="华文细黑" pitchFamily="2" charset="-122"/>
                <a:cs typeface="+mn-cs"/>
              </a:rPr>
              <a:t>技巧</a:t>
            </a:r>
            <a:r>
              <a:rPr lang="en-US" altLang="zh-CN" sz="1100" b="1" kern="1200" dirty="0" smtClean="0">
                <a:solidFill>
                  <a:schemeClr val="tx1"/>
                </a:solidFill>
                <a:latin typeface="FrutigerNext LT Regular" pitchFamily="34" charset="0"/>
                <a:ea typeface="华文细黑" pitchFamily="2" charset="-122"/>
                <a:cs typeface="+mn-cs"/>
              </a:rPr>
              <a:t>2</a:t>
            </a:r>
            <a:r>
              <a:rPr lang="zh-CN" altLang="zh-CN" sz="1100" b="1" kern="1200" dirty="0" smtClean="0">
                <a:solidFill>
                  <a:schemeClr val="tx1"/>
                </a:solidFill>
                <a:latin typeface="FrutigerNext LT Regular" pitchFamily="34" charset="0"/>
                <a:ea typeface="华文细黑" pitchFamily="2" charset="-122"/>
                <a:cs typeface="+mn-cs"/>
              </a:rPr>
              <a:t>：按包长过滤</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kern="1200" dirty="0" smtClean="0">
                <a:solidFill>
                  <a:schemeClr val="tx1"/>
                </a:solidFill>
                <a:latin typeface="FrutigerNext LT Regular" pitchFamily="34" charset="0"/>
                <a:ea typeface="华文细黑" pitchFamily="2" charset="-122"/>
                <a:cs typeface="+mn-cs"/>
              </a:rPr>
              <a:t>在过滤框中输入</a:t>
            </a:r>
            <a:r>
              <a:rPr lang="en-US" altLang="zh-CN" kern="1200" dirty="0" smtClean="0">
                <a:solidFill>
                  <a:schemeClr val="tx1"/>
                </a:solidFill>
                <a:latin typeface="FrutigerNext LT Regular" pitchFamily="34" charset="0"/>
                <a:ea typeface="华文细黑" pitchFamily="2" charset="-122"/>
                <a:cs typeface="+mn-cs"/>
              </a:rPr>
              <a:t>ip.len == 40</a:t>
            </a:r>
            <a:r>
              <a:rPr lang="zh-CN" altLang="zh-CN" kern="1200" dirty="0" smtClean="0">
                <a:solidFill>
                  <a:schemeClr val="tx1"/>
                </a:solidFill>
                <a:latin typeface="FrutigerNext LT Regular" pitchFamily="34" charset="0"/>
                <a:ea typeface="华文细黑" pitchFamily="2" charset="-122"/>
                <a:cs typeface="+mn-cs"/>
              </a:rPr>
              <a:t>，即按</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包长等于</a:t>
            </a:r>
            <a:r>
              <a:rPr lang="en-US" altLang="zh-CN" kern="1200" dirty="0" smtClean="0">
                <a:solidFill>
                  <a:schemeClr val="tx1"/>
                </a:solidFill>
                <a:latin typeface="FrutigerNext LT Regular" pitchFamily="34" charset="0"/>
                <a:ea typeface="华文细黑" pitchFamily="2" charset="-122"/>
                <a:cs typeface="+mn-cs"/>
              </a:rPr>
              <a:t>40byte</a:t>
            </a:r>
            <a:r>
              <a:rPr lang="zh-CN" altLang="zh-CN" kern="1200" dirty="0" smtClean="0">
                <a:solidFill>
                  <a:schemeClr val="tx1"/>
                </a:solidFill>
                <a:latin typeface="FrutigerNext LT Regular" pitchFamily="34" charset="0"/>
                <a:ea typeface="华文细黑" pitchFamily="2" charset="-122"/>
                <a:cs typeface="+mn-cs"/>
              </a:rPr>
              <a:t>来过滤，这个包长包括了</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头。</a:t>
            </a:r>
            <a:r>
              <a:rPr lang="en-US" altLang="zh-CN" kern="1200" dirty="0" smtClean="0">
                <a:solidFill>
                  <a:schemeClr val="tx1"/>
                </a:solidFill>
                <a:latin typeface="FrutigerNext LT Regular" pitchFamily="34" charset="0"/>
                <a:ea typeface="华文细黑" pitchFamily="2" charset="-122"/>
                <a:cs typeface="+mn-cs"/>
              </a:rPr>
              <a:t>ip.len &gt; 100</a:t>
            </a:r>
            <a:r>
              <a:rPr lang="zh-CN" altLang="zh-CN" kern="1200" dirty="0" smtClean="0">
                <a:solidFill>
                  <a:schemeClr val="tx1"/>
                </a:solidFill>
                <a:latin typeface="FrutigerNext LT Regular" pitchFamily="34" charset="0"/>
                <a:ea typeface="华文细黑" pitchFamily="2" charset="-122"/>
                <a:cs typeface="+mn-cs"/>
              </a:rPr>
              <a:t>或</a:t>
            </a:r>
            <a:r>
              <a:rPr lang="en-US" altLang="zh-CN" kern="1200" dirty="0" smtClean="0">
                <a:solidFill>
                  <a:schemeClr val="tx1"/>
                </a:solidFill>
                <a:latin typeface="FrutigerNext LT Regular" pitchFamily="34" charset="0"/>
                <a:ea typeface="华文细黑" pitchFamily="2" charset="-122"/>
                <a:cs typeface="+mn-cs"/>
              </a:rPr>
              <a:t>ip.len &lt; 100</a:t>
            </a:r>
            <a:r>
              <a:rPr lang="zh-CN" altLang="zh-CN" kern="1200" dirty="0" smtClean="0">
                <a:solidFill>
                  <a:schemeClr val="tx1"/>
                </a:solidFill>
                <a:latin typeface="FrutigerNext LT Regular" pitchFamily="34" charset="0"/>
                <a:ea typeface="华文细黑" pitchFamily="2" charset="-122"/>
                <a:cs typeface="+mn-cs"/>
              </a:rPr>
              <a:t>，则表示按包长大于</a:t>
            </a:r>
            <a:r>
              <a:rPr lang="en-US" altLang="zh-CN" kern="1200" dirty="0" smtClean="0">
                <a:solidFill>
                  <a:schemeClr val="tx1"/>
                </a:solidFill>
                <a:latin typeface="FrutigerNext LT Regular" pitchFamily="34" charset="0"/>
                <a:ea typeface="华文细黑" pitchFamily="2" charset="-122"/>
                <a:cs typeface="+mn-cs"/>
              </a:rPr>
              <a:t>100byte</a:t>
            </a:r>
            <a:r>
              <a:rPr lang="zh-CN" altLang="zh-CN" kern="1200" dirty="0" smtClean="0">
                <a:solidFill>
                  <a:schemeClr val="tx1"/>
                </a:solidFill>
                <a:latin typeface="FrutigerNext LT Regular" pitchFamily="34" charset="0"/>
                <a:ea typeface="华文细黑" pitchFamily="2" charset="-122"/>
                <a:cs typeface="+mn-cs"/>
              </a:rPr>
              <a:t>或小于</a:t>
            </a:r>
            <a:r>
              <a:rPr lang="en-US" altLang="zh-CN" kern="1200" dirty="0" smtClean="0">
                <a:solidFill>
                  <a:schemeClr val="tx1"/>
                </a:solidFill>
                <a:latin typeface="FrutigerNext LT Regular" pitchFamily="34" charset="0"/>
                <a:ea typeface="华文细黑" pitchFamily="2" charset="-122"/>
                <a:cs typeface="+mn-cs"/>
              </a:rPr>
              <a:t>100byte</a:t>
            </a:r>
            <a:r>
              <a:rPr lang="zh-CN" altLang="zh-CN" kern="1200" dirty="0" smtClean="0">
                <a:solidFill>
                  <a:schemeClr val="tx1"/>
                </a:solidFill>
                <a:latin typeface="FrutigerNext LT Regular" pitchFamily="34" charset="0"/>
                <a:ea typeface="华文细黑" pitchFamily="2" charset="-122"/>
                <a:cs typeface="+mn-cs"/>
              </a:rPr>
              <a:t>来过滤。若要设定包长在某个范围之内，则可用</a:t>
            </a:r>
            <a:r>
              <a:rPr lang="en-US" altLang="zh-CN" kern="1200" dirty="0" smtClean="0">
                <a:solidFill>
                  <a:schemeClr val="tx1"/>
                </a:solidFill>
                <a:latin typeface="FrutigerNext LT Regular" pitchFamily="34" charset="0"/>
                <a:ea typeface="华文细黑" pitchFamily="2" charset="-122"/>
                <a:cs typeface="+mn-cs"/>
              </a:rPr>
              <a:t>&amp;&amp;</a:t>
            </a:r>
            <a:r>
              <a:rPr lang="zh-CN" altLang="zh-CN" kern="1200" dirty="0" smtClean="0">
                <a:solidFill>
                  <a:schemeClr val="tx1"/>
                </a:solidFill>
                <a:latin typeface="FrutigerNext LT Regular" pitchFamily="34" charset="0"/>
                <a:ea typeface="华文细黑" pitchFamily="2" charset="-122"/>
                <a:cs typeface="+mn-cs"/>
              </a:rPr>
              <a:t>符号，例如</a:t>
            </a:r>
            <a:r>
              <a:rPr lang="en-US" altLang="zh-CN" kern="1200" dirty="0" smtClean="0">
                <a:solidFill>
                  <a:schemeClr val="tx1"/>
                </a:solidFill>
                <a:latin typeface="FrutigerNext LT Regular" pitchFamily="34" charset="0"/>
                <a:ea typeface="华文细黑" pitchFamily="2" charset="-122"/>
                <a:cs typeface="+mn-cs"/>
              </a:rPr>
              <a:t>ip.len &gt;100 &amp;&amp; ip.len&lt;500</a:t>
            </a:r>
            <a:r>
              <a:rPr lang="zh-CN" altLang="zh-CN" kern="1200" dirty="0" smtClean="0">
                <a:solidFill>
                  <a:schemeClr val="tx1"/>
                </a:solidFill>
                <a:latin typeface="FrutigerNext LT Regular" pitchFamily="34" charset="0"/>
                <a:ea typeface="华文细黑" pitchFamily="2" charset="-122"/>
                <a:cs typeface="+mn-cs"/>
              </a:rPr>
              <a:t>，则过滤出包长在</a:t>
            </a:r>
            <a:r>
              <a:rPr lang="en-US" altLang="zh-CN" kern="1200" dirty="0" smtClean="0">
                <a:solidFill>
                  <a:schemeClr val="tx1"/>
                </a:solidFill>
                <a:latin typeface="FrutigerNext LT Regular" pitchFamily="34" charset="0"/>
                <a:ea typeface="华文细黑" pitchFamily="2" charset="-122"/>
                <a:cs typeface="+mn-cs"/>
              </a:rPr>
              <a:t>100</a:t>
            </a:r>
            <a:r>
              <a:rPr lang="zh-CN" altLang="zh-CN" kern="1200" dirty="0" smtClean="0">
                <a:solidFill>
                  <a:schemeClr val="tx1"/>
                </a:solidFill>
                <a:latin typeface="FrutigerNext LT Regular" pitchFamily="34" charset="0"/>
                <a:ea typeface="华文细黑" pitchFamily="2" charset="-122"/>
                <a:cs typeface="+mn-cs"/>
              </a:rPr>
              <a:t>到</a:t>
            </a:r>
            <a:r>
              <a:rPr lang="en-US" altLang="zh-CN" kern="1200" dirty="0" smtClean="0">
                <a:solidFill>
                  <a:schemeClr val="tx1"/>
                </a:solidFill>
                <a:latin typeface="FrutigerNext LT Regular" pitchFamily="34" charset="0"/>
                <a:ea typeface="华文细黑" pitchFamily="2" charset="-122"/>
                <a:cs typeface="+mn-cs"/>
              </a:rPr>
              <a:t>500</a:t>
            </a:r>
            <a:r>
              <a:rPr lang="zh-CN" altLang="zh-CN" kern="1200" dirty="0" smtClean="0">
                <a:solidFill>
                  <a:schemeClr val="tx1"/>
                </a:solidFill>
                <a:latin typeface="FrutigerNext LT Regular" pitchFamily="34" charset="0"/>
                <a:ea typeface="华文细黑" pitchFamily="2" charset="-122"/>
                <a:cs typeface="+mn-cs"/>
              </a:rPr>
              <a:t>之间的数据包。</a:t>
            </a:r>
          </a:p>
          <a:p>
            <a:r>
              <a:rPr lang="zh-CN" altLang="zh-CN" sz="1100" b="1" kern="1200" dirty="0" smtClean="0">
                <a:solidFill>
                  <a:schemeClr val="tx1"/>
                </a:solidFill>
                <a:latin typeface="FrutigerNext LT Regular" pitchFamily="34" charset="0"/>
                <a:ea typeface="华文细黑" pitchFamily="2" charset="-122"/>
                <a:cs typeface="+mn-cs"/>
              </a:rPr>
              <a:t>技巧</a:t>
            </a:r>
            <a:r>
              <a:rPr lang="en-US" altLang="zh-CN" sz="1100" b="1" kern="1200" dirty="0" smtClean="0">
                <a:solidFill>
                  <a:schemeClr val="tx1"/>
                </a:solidFill>
                <a:latin typeface="FrutigerNext LT Regular" pitchFamily="34" charset="0"/>
                <a:ea typeface="华文细黑" pitchFamily="2" charset="-122"/>
                <a:cs typeface="+mn-cs"/>
              </a:rPr>
              <a:t>3</a:t>
            </a:r>
            <a:r>
              <a:rPr lang="zh-CN" altLang="zh-CN" sz="1100" b="1" kern="1200" dirty="0" smtClean="0">
                <a:solidFill>
                  <a:schemeClr val="tx1"/>
                </a:solidFill>
                <a:latin typeface="FrutigerNext LT Regular" pitchFamily="34" charset="0"/>
                <a:ea typeface="华文细黑" pitchFamily="2" charset="-122"/>
                <a:cs typeface="+mn-cs"/>
              </a:rPr>
              <a:t>：按端口过滤</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kern="1200" dirty="0" smtClean="0">
                <a:solidFill>
                  <a:schemeClr val="tx1"/>
                </a:solidFill>
                <a:latin typeface="FrutigerNext LT Regular" pitchFamily="34" charset="0"/>
                <a:ea typeface="华文细黑" pitchFamily="2" charset="-122"/>
                <a:cs typeface="+mn-cs"/>
              </a:rPr>
              <a:t>如果是</a:t>
            </a:r>
            <a:r>
              <a:rPr lang="en-US" altLang="zh-CN" kern="1200" dirty="0" smtClean="0">
                <a:solidFill>
                  <a:schemeClr val="tx1"/>
                </a:solidFill>
                <a:latin typeface="FrutigerNext LT Regular" pitchFamily="34" charset="0"/>
                <a:ea typeface="华文细黑" pitchFamily="2" charset="-122"/>
                <a:cs typeface="+mn-cs"/>
              </a:rPr>
              <a:t>UDP</a:t>
            </a:r>
            <a:r>
              <a:rPr lang="zh-CN" altLang="zh-CN" kern="1200" dirty="0" smtClean="0">
                <a:solidFill>
                  <a:schemeClr val="tx1"/>
                </a:solidFill>
                <a:latin typeface="FrutigerNext LT Regular" pitchFamily="34" charset="0"/>
                <a:ea typeface="华文细黑" pitchFamily="2" charset="-122"/>
                <a:cs typeface="+mn-cs"/>
              </a:rPr>
              <a:t>包，则在过滤框中输入</a:t>
            </a:r>
            <a:r>
              <a:rPr lang="en-US" altLang="zh-CN" kern="1200" dirty="0" err="1" smtClean="0">
                <a:solidFill>
                  <a:schemeClr val="tx1"/>
                </a:solidFill>
                <a:latin typeface="FrutigerNext LT Regular" pitchFamily="34" charset="0"/>
                <a:ea typeface="华文细黑" pitchFamily="2" charset="-122"/>
                <a:cs typeface="+mn-cs"/>
              </a:rPr>
              <a:t>udp.port</a:t>
            </a:r>
            <a:r>
              <a:rPr lang="en-US" altLang="zh-CN" kern="1200" dirty="0" smtClean="0">
                <a:solidFill>
                  <a:schemeClr val="tx1"/>
                </a:solidFill>
                <a:latin typeface="FrutigerNext LT Regular" pitchFamily="34" charset="0"/>
                <a:ea typeface="华文细黑" pitchFamily="2" charset="-122"/>
                <a:cs typeface="+mn-cs"/>
              </a:rPr>
              <a:t> == xx</a:t>
            </a:r>
            <a:r>
              <a:rPr lang="zh-CN" altLang="zh-CN" kern="1200" dirty="0" smtClean="0">
                <a:solidFill>
                  <a:schemeClr val="tx1"/>
                </a:solidFill>
                <a:latin typeface="FrutigerNext LT Regular" pitchFamily="34" charset="0"/>
                <a:ea typeface="华文细黑" pitchFamily="2" charset="-122"/>
                <a:cs typeface="+mn-cs"/>
              </a:rPr>
              <a:t>，</a:t>
            </a:r>
            <a:r>
              <a:rPr lang="en-US" altLang="zh-CN" kern="1200" dirty="0" smtClean="0">
                <a:solidFill>
                  <a:schemeClr val="tx1"/>
                </a:solidFill>
                <a:latin typeface="FrutigerNext LT Regular" pitchFamily="34" charset="0"/>
                <a:ea typeface="华文细黑" pitchFamily="2" charset="-122"/>
                <a:cs typeface="+mn-cs"/>
              </a:rPr>
              <a:t>xx</a:t>
            </a:r>
            <a:r>
              <a:rPr lang="zh-CN" altLang="zh-CN" kern="1200" dirty="0" smtClean="0">
                <a:solidFill>
                  <a:schemeClr val="tx1"/>
                </a:solidFill>
                <a:latin typeface="FrutigerNext LT Regular" pitchFamily="34" charset="0"/>
                <a:ea typeface="华文细黑" pitchFamily="2" charset="-122"/>
                <a:cs typeface="+mn-cs"/>
              </a:rPr>
              <a:t>为过滤端口号。如果只需要过滤源端口，则输入</a:t>
            </a:r>
            <a:r>
              <a:rPr lang="en-US" altLang="zh-CN" kern="1200" dirty="0" err="1" smtClean="0">
                <a:solidFill>
                  <a:schemeClr val="tx1"/>
                </a:solidFill>
                <a:latin typeface="FrutigerNext LT Regular" pitchFamily="34" charset="0"/>
                <a:ea typeface="华文细黑" pitchFamily="2" charset="-122"/>
                <a:cs typeface="+mn-cs"/>
              </a:rPr>
              <a:t>udp.srcport</a:t>
            </a:r>
            <a:r>
              <a:rPr lang="en-US" altLang="zh-CN" kern="1200" dirty="0" smtClean="0">
                <a:solidFill>
                  <a:schemeClr val="tx1"/>
                </a:solidFill>
                <a:latin typeface="FrutigerNext LT Regular" pitchFamily="34" charset="0"/>
                <a:ea typeface="华文细黑" pitchFamily="2" charset="-122"/>
                <a:cs typeface="+mn-cs"/>
              </a:rPr>
              <a:t> == xx</a:t>
            </a:r>
            <a:r>
              <a:rPr lang="zh-CN" altLang="zh-CN" kern="1200" dirty="0" smtClean="0">
                <a:solidFill>
                  <a:schemeClr val="tx1"/>
                </a:solidFill>
                <a:latin typeface="FrutigerNext LT Regular" pitchFamily="34" charset="0"/>
                <a:ea typeface="华文细黑" pitchFamily="2" charset="-122"/>
                <a:cs typeface="+mn-cs"/>
              </a:rPr>
              <a:t>，过滤目的端口则输入</a:t>
            </a:r>
            <a:r>
              <a:rPr lang="en-US" altLang="zh-CN" kern="1200" dirty="0" err="1" smtClean="0">
                <a:solidFill>
                  <a:schemeClr val="tx1"/>
                </a:solidFill>
                <a:latin typeface="FrutigerNext LT Regular" pitchFamily="34" charset="0"/>
                <a:ea typeface="华文细黑" pitchFamily="2" charset="-122"/>
                <a:cs typeface="+mn-cs"/>
              </a:rPr>
              <a:t>udp.dstport</a:t>
            </a:r>
            <a:r>
              <a:rPr lang="en-US" altLang="zh-CN" kern="1200" dirty="0" smtClean="0">
                <a:solidFill>
                  <a:schemeClr val="tx1"/>
                </a:solidFill>
                <a:latin typeface="FrutigerNext LT Regular" pitchFamily="34" charset="0"/>
                <a:ea typeface="华文细黑" pitchFamily="2" charset="-122"/>
                <a:cs typeface="+mn-cs"/>
              </a:rPr>
              <a:t> == xx</a:t>
            </a:r>
            <a:r>
              <a:rPr lang="zh-CN" altLang="zh-CN" kern="1200" dirty="0" smtClean="0">
                <a:solidFill>
                  <a:schemeClr val="tx1"/>
                </a:solidFill>
                <a:latin typeface="FrutigerNext LT Regular" pitchFamily="34" charset="0"/>
                <a:ea typeface="华文细黑" pitchFamily="2" charset="-122"/>
                <a:cs typeface="+mn-cs"/>
              </a:rPr>
              <a:t>。</a:t>
            </a:r>
          </a:p>
          <a:p>
            <a:pPr lvl="1"/>
            <a:r>
              <a:rPr lang="zh-CN" altLang="zh-CN" kern="1200" dirty="0" smtClean="0">
                <a:solidFill>
                  <a:schemeClr val="tx1"/>
                </a:solidFill>
                <a:latin typeface="FrutigerNext LT Regular" pitchFamily="34" charset="0"/>
                <a:ea typeface="华文细黑" pitchFamily="2" charset="-122"/>
                <a:cs typeface="+mn-cs"/>
              </a:rPr>
              <a:t>如果是</a:t>
            </a:r>
            <a:r>
              <a:rPr lang="en-US" altLang="zh-CN" kern="1200" dirty="0" smtClean="0">
                <a:solidFill>
                  <a:schemeClr val="tx1"/>
                </a:solidFill>
                <a:latin typeface="FrutigerNext LT Regular" pitchFamily="34" charset="0"/>
                <a:ea typeface="华文细黑" pitchFamily="2" charset="-122"/>
                <a:cs typeface="+mn-cs"/>
              </a:rPr>
              <a:t>TCP</a:t>
            </a:r>
            <a:r>
              <a:rPr lang="zh-CN" altLang="zh-CN" kern="1200" dirty="0" smtClean="0">
                <a:solidFill>
                  <a:schemeClr val="tx1"/>
                </a:solidFill>
                <a:latin typeface="FrutigerNext LT Regular" pitchFamily="34" charset="0"/>
                <a:ea typeface="华文细黑" pitchFamily="2" charset="-122"/>
                <a:cs typeface="+mn-cs"/>
              </a:rPr>
              <a:t>包，方法与</a:t>
            </a:r>
            <a:r>
              <a:rPr lang="en-US" altLang="zh-CN" kern="1200" dirty="0" smtClean="0">
                <a:solidFill>
                  <a:schemeClr val="tx1"/>
                </a:solidFill>
                <a:latin typeface="FrutigerNext LT Regular" pitchFamily="34" charset="0"/>
                <a:ea typeface="华文细黑" pitchFamily="2" charset="-122"/>
                <a:cs typeface="+mn-cs"/>
              </a:rPr>
              <a:t>UDP</a:t>
            </a:r>
            <a:r>
              <a:rPr lang="zh-CN" altLang="zh-CN" kern="1200" dirty="0" smtClean="0">
                <a:solidFill>
                  <a:schemeClr val="tx1"/>
                </a:solidFill>
                <a:latin typeface="FrutigerNext LT Regular" pitchFamily="34" charset="0"/>
                <a:ea typeface="华文细黑" pitchFamily="2" charset="-122"/>
                <a:cs typeface="+mn-cs"/>
              </a:rPr>
              <a:t>相同，只是将公式中的</a:t>
            </a:r>
            <a:r>
              <a:rPr lang="en-US" altLang="zh-CN" kern="1200" dirty="0" err="1" smtClean="0">
                <a:solidFill>
                  <a:schemeClr val="tx1"/>
                </a:solidFill>
                <a:latin typeface="FrutigerNext LT Regular" pitchFamily="34" charset="0"/>
                <a:ea typeface="华文细黑" pitchFamily="2" charset="-122"/>
                <a:cs typeface="+mn-cs"/>
              </a:rPr>
              <a:t>udp</a:t>
            </a:r>
            <a:r>
              <a:rPr lang="zh-CN" altLang="zh-CN" kern="1200" dirty="0" smtClean="0">
                <a:solidFill>
                  <a:schemeClr val="tx1"/>
                </a:solidFill>
                <a:latin typeface="FrutigerNext LT Regular" pitchFamily="34" charset="0"/>
                <a:ea typeface="华文细黑" pitchFamily="2" charset="-122"/>
                <a:cs typeface="+mn-cs"/>
              </a:rPr>
              <a:t>改为</a:t>
            </a:r>
            <a:r>
              <a:rPr lang="en-US" altLang="zh-CN" kern="1200" dirty="0" err="1" smtClean="0">
                <a:solidFill>
                  <a:schemeClr val="tx1"/>
                </a:solidFill>
                <a:latin typeface="FrutigerNext LT Regular" pitchFamily="34" charset="0"/>
                <a:ea typeface="华文细黑" pitchFamily="2" charset="-122"/>
                <a:cs typeface="+mn-cs"/>
              </a:rPr>
              <a:t>tcp</a:t>
            </a:r>
            <a:r>
              <a:rPr lang="zh-CN" altLang="zh-CN" kern="1200" dirty="0" smtClean="0">
                <a:solidFill>
                  <a:schemeClr val="tx1"/>
                </a:solidFill>
                <a:latin typeface="FrutigerNext LT Regular" pitchFamily="34" charset="0"/>
                <a:ea typeface="华文细黑" pitchFamily="2" charset="-122"/>
                <a:cs typeface="+mn-cs"/>
              </a:rPr>
              <a:t>即可。</a:t>
            </a: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117</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12230704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b="1" kern="1200" dirty="0" smtClean="0">
                <a:solidFill>
                  <a:schemeClr val="tx1"/>
                </a:solidFill>
                <a:latin typeface="FrutigerNext LT Regular" pitchFamily="34" charset="0"/>
                <a:ea typeface="华文细黑" pitchFamily="2" charset="-122"/>
                <a:cs typeface="+mn-cs"/>
              </a:rPr>
              <a:t>技巧</a:t>
            </a:r>
            <a:r>
              <a:rPr lang="en-US" altLang="zh-CN" sz="1100" b="1" kern="1200" dirty="0" smtClean="0">
                <a:solidFill>
                  <a:schemeClr val="tx1"/>
                </a:solidFill>
                <a:latin typeface="FrutigerNext LT Regular" pitchFamily="34" charset="0"/>
                <a:ea typeface="华文细黑" pitchFamily="2" charset="-122"/>
                <a:cs typeface="+mn-cs"/>
              </a:rPr>
              <a:t>4</a:t>
            </a:r>
            <a:r>
              <a:rPr lang="zh-CN" altLang="zh-CN" sz="1100" b="1" kern="1200" dirty="0" smtClean="0">
                <a:solidFill>
                  <a:schemeClr val="tx1"/>
                </a:solidFill>
                <a:latin typeface="FrutigerNext LT Regular" pitchFamily="34" charset="0"/>
                <a:ea typeface="华文细黑" pitchFamily="2" charset="-122"/>
                <a:cs typeface="+mn-cs"/>
              </a:rPr>
              <a:t>：使用</a:t>
            </a:r>
            <a:r>
              <a:rPr lang="en-US" altLang="zh-CN" sz="1100" b="1" kern="1200" dirty="0" smtClean="0">
                <a:solidFill>
                  <a:schemeClr val="tx1"/>
                </a:solidFill>
                <a:latin typeface="FrutigerNext LT Regular" pitchFamily="34" charset="0"/>
                <a:ea typeface="华文细黑" pitchFamily="2" charset="-122"/>
                <a:cs typeface="+mn-cs"/>
              </a:rPr>
              <a:t>Expression</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zh-CN" altLang="zh-CN" kern="1200" dirty="0" smtClean="0">
                <a:solidFill>
                  <a:schemeClr val="tx1"/>
                </a:solidFill>
                <a:latin typeface="FrutigerNext LT Regular" pitchFamily="34" charset="0"/>
                <a:ea typeface="华文细黑" pitchFamily="2" charset="-122"/>
                <a:cs typeface="+mn-cs"/>
              </a:rPr>
              <a:t>上述的过滤公式均可以通过</a:t>
            </a:r>
            <a:r>
              <a:rPr lang="en-US" altLang="zh-CN" kern="1200" dirty="0" smtClean="0">
                <a:solidFill>
                  <a:schemeClr val="tx1"/>
                </a:solidFill>
                <a:latin typeface="FrutigerNext LT Regular" pitchFamily="34" charset="0"/>
                <a:ea typeface="华文细黑" pitchFamily="2" charset="-122"/>
                <a:cs typeface="+mn-cs"/>
              </a:rPr>
              <a:t>Expression</a:t>
            </a:r>
            <a:r>
              <a:rPr lang="zh-CN" altLang="zh-CN" kern="1200" dirty="0" smtClean="0">
                <a:solidFill>
                  <a:schemeClr val="tx1"/>
                </a:solidFill>
                <a:latin typeface="FrutigerNext LT Regular" pitchFamily="34" charset="0"/>
                <a:ea typeface="华文细黑" pitchFamily="2" charset="-122"/>
                <a:cs typeface="+mn-cs"/>
              </a:rPr>
              <a:t>提供的协议过滤对话框中设置完成。点击</a:t>
            </a:r>
            <a:r>
              <a:rPr lang="en-US" altLang="zh-CN" kern="1200" dirty="0" smtClean="0">
                <a:solidFill>
                  <a:schemeClr val="tx1"/>
                </a:solidFill>
                <a:latin typeface="FrutigerNext LT Regular" pitchFamily="34" charset="0"/>
                <a:ea typeface="华文细黑" pitchFamily="2" charset="-122"/>
                <a:cs typeface="+mn-cs"/>
              </a:rPr>
              <a:t>Expression</a:t>
            </a:r>
            <a:r>
              <a:rPr lang="zh-CN" altLang="zh-CN" kern="1200" dirty="0" smtClean="0">
                <a:solidFill>
                  <a:schemeClr val="tx1"/>
                </a:solidFill>
                <a:latin typeface="FrutigerNext LT Regular" pitchFamily="34" charset="0"/>
                <a:ea typeface="华文细黑" pitchFamily="2" charset="-122"/>
                <a:cs typeface="+mn-cs"/>
              </a:rPr>
              <a:t>按钮，出现</a:t>
            </a:r>
            <a:r>
              <a:rPr lang="en-US" altLang="zh-CN" kern="1200" dirty="0" smtClean="0">
                <a:solidFill>
                  <a:schemeClr val="tx1"/>
                </a:solidFill>
                <a:latin typeface="FrutigerNext LT Regular" pitchFamily="34" charset="0"/>
                <a:ea typeface="华文细黑" pitchFamily="2" charset="-122"/>
                <a:cs typeface="+mn-cs"/>
              </a:rPr>
              <a:t>Filter Expression</a:t>
            </a:r>
            <a:r>
              <a:rPr lang="zh-CN" altLang="zh-CN" kern="1200" dirty="0" smtClean="0">
                <a:solidFill>
                  <a:schemeClr val="tx1"/>
                </a:solidFill>
                <a:latin typeface="FrutigerNext LT Regular" pitchFamily="34" charset="0"/>
                <a:ea typeface="华文细黑" pitchFamily="2" charset="-122"/>
                <a:cs typeface="+mn-cs"/>
              </a:rPr>
              <a:t>对话框。在对话框的左边</a:t>
            </a:r>
            <a:r>
              <a:rPr lang="en-US" altLang="zh-CN" kern="1200" dirty="0" smtClean="0">
                <a:solidFill>
                  <a:schemeClr val="tx1"/>
                </a:solidFill>
                <a:latin typeface="FrutigerNext LT Regular" pitchFamily="34" charset="0"/>
                <a:ea typeface="华文细黑" pitchFamily="2" charset="-122"/>
                <a:cs typeface="+mn-cs"/>
              </a:rPr>
              <a:t>Field name</a:t>
            </a:r>
            <a:r>
              <a:rPr lang="zh-CN" altLang="zh-CN" kern="1200" dirty="0" smtClean="0">
                <a:solidFill>
                  <a:schemeClr val="tx1"/>
                </a:solidFill>
                <a:latin typeface="FrutigerNext LT Regular" pitchFamily="34" charset="0"/>
                <a:ea typeface="华文细黑" pitchFamily="2" charset="-122"/>
                <a:cs typeface="+mn-cs"/>
              </a:rPr>
              <a:t>一栏中选择你要过滤的协议名称及过滤项，在右边的</a:t>
            </a:r>
            <a:r>
              <a:rPr lang="en-US" altLang="zh-CN" kern="1200" dirty="0" smtClean="0">
                <a:solidFill>
                  <a:schemeClr val="tx1"/>
                </a:solidFill>
                <a:latin typeface="FrutigerNext LT Regular" pitchFamily="34" charset="0"/>
                <a:ea typeface="华文细黑" pitchFamily="2" charset="-122"/>
                <a:cs typeface="+mn-cs"/>
              </a:rPr>
              <a:t>Relation</a:t>
            </a:r>
            <a:r>
              <a:rPr lang="zh-CN" altLang="zh-CN" kern="1200" dirty="0" smtClean="0">
                <a:solidFill>
                  <a:schemeClr val="tx1"/>
                </a:solidFill>
                <a:latin typeface="FrutigerNext LT Regular" pitchFamily="34" charset="0"/>
                <a:ea typeface="华文细黑" pitchFamily="2" charset="-122"/>
                <a:cs typeface="+mn-cs"/>
              </a:rPr>
              <a:t>一栏中则显示可以使用的运算符。例如按</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的包长过滤，在</a:t>
            </a:r>
            <a:r>
              <a:rPr lang="en-US" altLang="zh-CN" kern="1200" dirty="0" smtClean="0">
                <a:solidFill>
                  <a:schemeClr val="tx1"/>
                </a:solidFill>
                <a:latin typeface="FrutigerNext LT Regular" pitchFamily="34" charset="0"/>
                <a:ea typeface="华文细黑" pitchFamily="2" charset="-122"/>
                <a:cs typeface="+mn-cs"/>
              </a:rPr>
              <a:t>Field name</a:t>
            </a:r>
            <a:r>
              <a:rPr lang="zh-CN" altLang="zh-CN" kern="1200" dirty="0" smtClean="0">
                <a:solidFill>
                  <a:schemeClr val="tx1"/>
                </a:solidFill>
                <a:latin typeface="FrutigerNext LT Regular" pitchFamily="34" charset="0"/>
                <a:ea typeface="华文细黑" pitchFamily="2" charset="-122"/>
                <a:cs typeface="+mn-cs"/>
              </a:rPr>
              <a:t>栏中找到</a:t>
            </a:r>
            <a:r>
              <a:rPr lang="en-US" altLang="zh-CN" kern="1200" dirty="0" smtClean="0">
                <a:solidFill>
                  <a:schemeClr val="tx1"/>
                </a:solidFill>
                <a:latin typeface="FrutigerNext LT Regular" pitchFamily="34" charset="0"/>
                <a:ea typeface="华文细黑" pitchFamily="2" charset="-122"/>
                <a:cs typeface="+mn-cs"/>
              </a:rPr>
              <a:t>IP</a:t>
            </a:r>
            <a:r>
              <a:rPr lang="zh-CN" altLang="zh-CN" kern="1200" dirty="0" smtClean="0">
                <a:solidFill>
                  <a:schemeClr val="tx1"/>
                </a:solidFill>
                <a:latin typeface="FrutigerNext LT Regular" pitchFamily="34" charset="0"/>
                <a:ea typeface="华文细黑" pitchFamily="2" charset="-122"/>
                <a:cs typeface="+mn-cs"/>
              </a:rPr>
              <a:t>，然后选择</a:t>
            </a:r>
            <a:r>
              <a:rPr lang="en-US" altLang="zh-CN" kern="1200" dirty="0" smtClean="0">
                <a:solidFill>
                  <a:schemeClr val="tx1"/>
                </a:solidFill>
                <a:latin typeface="FrutigerNext LT Regular" pitchFamily="34" charset="0"/>
                <a:ea typeface="华文细黑" pitchFamily="2" charset="-122"/>
                <a:cs typeface="+mn-cs"/>
              </a:rPr>
              <a:t>ip.len</a:t>
            </a:r>
            <a:r>
              <a:rPr lang="zh-CN" altLang="zh-CN" kern="1200" dirty="0" smtClean="0">
                <a:solidFill>
                  <a:schemeClr val="tx1"/>
                </a:solidFill>
                <a:latin typeface="FrutigerNext LT Regular" pitchFamily="34" charset="0"/>
                <a:ea typeface="华文细黑" pitchFamily="2" charset="-122"/>
                <a:cs typeface="+mn-cs"/>
              </a:rPr>
              <a:t>，</a:t>
            </a:r>
            <a:r>
              <a:rPr lang="en-US" altLang="zh-CN" kern="1200" dirty="0" smtClean="0">
                <a:solidFill>
                  <a:schemeClr val="tx1"/>
                </a:solidFill>
                <a:latin typeface="FrutigerNext LT Regular" pitchFamily="34" charset="0"/>
                <a:ea typeface="华文细黑" pitchFamily="2" charset="-122"/>
                <a:cs typeface="+mn-cs"/>
              </a:rPr>
              <a:t>Relation</a:t>
            </a:r>
            <a:r>
              <a:rPr lang="zh-CN" altLang="zh-CN" kern="1200" dirty="0" smtClean="0">
                <a:solidFill>
                  <a:schemeClr val="tx1"/>
                </a:solidFill>
                <a:latin typeface="FrutigerNext LT Regular" pitchFamily="34" charset="0"/>
                <a:ea typeface="华文细黑" pitchFamily="2" charset="-122"/>
                <a:cs typeface="+mn-cs"/>
              </a:rPr>
              <a:t>中选择</a:t>
            </a:r>
            <a:r>
              <a:rPr lang="en-US" altLang="zh-CN" kern="1200" dirty="0" smtClean="0">
                <a:solidFill>
                  <a:schemeClr val="tx1"/>
                </a:solidFill>
                <a:latin typeface="FrutigerNext LT Regular" pitchFamily="34" charset="0"/>
                <a:ea typeface="华文细黑" pitchFamily="2" charset="-122"/>
                <a:cs typeface="+mn-cs"/>
              </a:rPr>
              <a:t>==</a:t>
            </a:r>
            <a:r>
              <a:rPr lang="zh-CN" altLang="zh-CN" kern="1200" dirty="0" smtClean="0">
                <a:solidFill>
                  <a:schemeClr val="tx1"/>
                </a:solidFill>
                <a:latin typeface="FrutigerNext LT Regular" pitchFamily="34" charset="0"/>
                <a:ea typeface="华文细黑" pitchFamily="2" charset="-122"/>
                <a:cs typeface="+mn-cs"/>
              </a:rPr>
              <a:t>，在</a:t>
            </a:r>
            <a:r>
              <a:rPr lang="en-US" altLang="zh-CN" kern="1200" dirty="0" smtClean="0">
                <a:solidFill>
                  <a:schemeClr val="tx1"/>
                </a:solidFill>
                <a:latin typeface="FrutigerNext LT Regular" pitchFamily="34" charset="0"/>
                <a:ea typeface="华文细黑" pitchFamily="2" charset="-122"/>
                <a:cs typeface="+mn-cs"/>
              </a:rPr>
              <a:t>Value</a:t>
            </a:r>
            <a:r>
              <a:rPr lang="zh-CN" altLang="zh-CN" kern="1200" dirty="0" smtClean="0">
                <a:solidFill>
                  <a:schemeClr val="tx1"/>
                </a:solidFill>
                <a:latin typeface="FrutigerNext LT Regular" pitchFamily="34" charset="0"/>
                <a:ea typeface="华文细黑" pitchFamily="2" charset="-122"/>
                <a:cs typeface="+mn-cs"/>
              </a:rPr>
              <a:t>中输入</a:t>
            </a:r>
            <a:r>
              <a:rPr lang="en-US" altLang="zh-CN" kern="1200" dirty="0" smtClean="0">
                <a:solidFill>
                  <a:schemeClr val="tx1"/>
                </a:solidFill>
                <a:latin typeface="FrutigerNext LT Regular" pitchFamily="34" charset="0"/>
                <a:ea typeface="华文细黑" pitchFamily="2" charset="-122"/>
                <a:cs typeface="+mn-cs"/>
              </a:rPr>
              <a:t>1000</a:t>
            </a:r>
            <a:r>
              <a:rPr lang="zh-CN" altLang="zh-CN" kern="1200" dirty="0" smtClean="0">
                <a:solidFill>
                  <a:schemeClr val="tx1"/>
                </a:solidFill>
                <a:latin typeface="FrutigerNext LT Regular" pitchFamily="34" charset="0"/>
                <a:ea typeface="华文细黑" pitchFamily="2" charset="-122"/>
                <a:cs typeface="+mn-cs"/>
              </a:rPr>
              <a:t>，点击右下角的</a:t>
            </a:r>
            <a:r>
              <a:rPr lang="en-US" altLang="zh-CN" kern="1200" dirty="0" smtClean="0">
                <a:solidFill>
                  <a:schemeClr val="tx1"/>
                </a:solidFill>
                <a:latin typeface="FrutigerNext LT Regular" pitchFamily="34" charset="0"/>
                <a:ea typeface="华文细黑" pitchFamily="2" charset="-122"/>
                <a:cs typeface="+mn-cs"/>
              </a:rPr>
              <a:t>OK</a:t>
            </a:r>
            <a:r>
              <a:rPr lang="zh-CN" altLang="zh-CN" kern="1200" dirty="0" smtClean="0">
                <a:solidFill>
                  <a:schemeClr val="tx1"/>
                </a:solidFill>
                <a:latin typeface="FrutigerNext LT Regular" pitchFamily="34" charset="0"/>
                <a:ea typeface="华文细黑" pitchFamily="2" charset="-122"/>
                <a:cs typeface="+mn-cs"/>
              </a:rPr>
              <a:t>，则在过滤栏中显示</a:t>
            </a:r>
            <a:r>
              <a:rPr lang="en-US" altLang="zh-CN" kern="1200" dirty="0" smtClean="0">
                <a:solidFill>
                  <a:schemeClr val="tx1"/>
                </a:solidFill>
                <a:latin typeface="FrutigerNext LT Regular" pitchFamily="34" charset="0"/>
                <a:ea typeface="华文细黑" pitchFamily="2" charset="-122"/>
                <a:cs typeface="+mn-cs"/>
              </a:rPr>
              <a:t>ip.len == 1000</a:t>
            </a:r>
            <a:r>
              <a:rPr lang="zh-CN" altLang="zh-CN" kern="1200" dirty="0" smtClean="0">
                <a:solidFill>
                  <a:schemeClr val="tx1"/>
                </a:solidFill>
                <a:latin typeface="FrutigerNext LT Regular" pitchFamily="34" charset="0"/>
                <a:ea typeface="华文细黑" pitchFamily="2" charset="-122"/>
                <a:cs typeface="+mn-cs"/>
              </a:rPr>
              <a:t>，点击</a:t>
            </a:r>
            <a:r>
              <a:rPr lang="en-US" altLang="zh-CN" kern="1200" dirty="0" smtClean="0">
                <a:solidFill>
                  <a:schemeClr val="tx1"/>
                </a:solidFill>
                <a:latin typeface="FrutigerNext LT Regular" pitchFamily="34" charset="0"/>
                <a:ea typeface="华文细黑" pitchFamily="2" charset="-122"/>
                <a:cs typeface="+mn-cs"/>
              </a:rPr>
              <a:t>Apple</a:t>
            </a:r>
            <a:r>
              <a:rPr lang="zh-CN" altLang="zh-CN" kern="1200" dirty="0" smtClean="0">
                <a:solidFill>
                  <a:schemeClr val="tx1"/>
                </a:solidFill>
                <a:latin typeface="FrutigerNext LT Regular" pitchFamily="34" charset="0"/>
                <a:ea typeface="华文细黑" pitchFamily="2" charset="-122"/>
                <a:cs typeface="+mn-cs"/>
              </a:rPr>
              <a:t>即可。</a:t>
            </a:r>
            <a:endParaRPr lang="zh-CN" altLang="en-US" dirty="0" smtClean="0"/>
          </a:p>
          <a:p>
            <a:r>
              <a:rPr lang="zh-CN" altLang="zh-CN" dirty="0" smtClean="0"/>
              <a:t>技巧</a:t>
            </a:r>
            <a:r>
              <a:rPr lang="en-US" altLang="zh-CN" dirty="0" smtClean="0"/>
              <a:t>5</a:t>
            </a:r>
            <a:r>
              <a:rPr lang="zh-CN" altLang="zh-CN" dirty="0" smtClean="0"/>
              <a:t>：协议解析区快捷设置过滤项</a:t>
            </a:r>
            <a:r>
              <a:rPr lang="zh-CN" altLang="en-US" dirty="0" smtClean="0"/>
              <a:t>：</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r>
              <a:rPr lang="zh-CN" altLang="zh-CN" dirty="0" smtClean="0"/>
              <a:t>其它协议过滤可以通过相同的方法，选择需要过滤的协议项，以及运算符，选好后可以在过滤栏中修改过滤公式，执行过滤即可。</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118</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pic>
        <p:nvPicPr>
          <p:cNvPr id="7" name="图片 6"/>
          <p:cNvPicPr/>
          <p:nvPr/>
        </p:nvPicPr>
        <p:blipFill>
          <a:blip r:embed="rId3" cstate="print"/>
          <a:srcRect/>
          <a:stretch>
            <a:fillRect/>
          </a:stretch>
        </p:blipFill>
        <p:spPr bwMode="auto">
          <a:xfrm>
            <a:off x="1149648" y="6666030"/>
            <a:ext cx="4782025" cy="1022881"/>
          </a:xfrm>
          <a:prstGeom prst="rect">
            <a:avLst/>
          </a:prstGeom>
          <a:noFill/>
          <a:ln w="9525">
            <a:noFill/>
            <a:miter lim="800000"/>
            <a:headEnd/>
            <a:tailEnd/>
          </a:ln>
        </p:spPr>
      </p:pic>
    </p:spTree>
    <p:extLst>
      <p:ext uri="{BB962C8B-B14F-4D97-AF65-F5344CB8AC3E}">
        <p14:creationId xmlns:p14="http://schemas.microsoft.com/office/powerpoint/2010/main" val="135540070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0000" lnSpcReduction="20000"/>
          </a:bodyPr>
          <a:lstStyle/>
          <a:p>
            <a:r>
              <a:rPr lang="zh-CN" altLang="zh-CN" b="1" dirty="0" smtClean="0"/>
              <a:t>注意事项：</a:t>
            </a:r>
            <a:endParaRPr lang="zh-CN" altLang="zh-CN" dirty="0" smtClean="0"/>
          </a:p>
          <a:p>
            <a:pPr lvl="1"/>
            <a:r>
              <a:rPr lang="en-US" altLang="zh-CN" dirty="0" smtClean="0"/>
              <a:t>1</a:t>
            </a:r>
            <a:r>
              <a:rPr lang="zh-CN" altLang="zh-CN" dirty="0" smtClean="0"/>
              <a:t>、一定要选择数据包而不是</a:t>
            </a:r>
            <a:r>
              <a:rPr lang="en-US" altLang="zh-CN" dirty="0" smtClean="0"/>
              <a:t>ACK</a:t>
            </a:r>
            <a:r>
              <a:rPr lang="zh-CN" altLang="zh-CN" dirty="0" smtClean="0"/>
              <a:t>包，这两种包的区分是包长。</a:t>
            </a:r>
            <a:r>
              <a:rPr lang="en-US" altLang="zh-CN" dirty="0" smtClean="0"/>
              <a:t>ACK</a:t>
            </a:r>
            <a:r>
              <a:rPr lang="zh-CN" altLang="zh-CN" dirty="0" smtClean="0"/>
              <a:t>包在跟踪显示区中有</a:t>
            </a:r>
            <a:r>
              <a:rPr lang="en-US" altLang="zh-CN" dirty="0" smtClean="0"/>
              <a:t>ACK</a:t>
            </a:r>
            <a:r>
              <a:rPr lang="zh-CN" altLang="zh-CN" dirty="0" smtClean="0"/>
              <a:t>字样的提示且在协议解析区可以查看其长度一般为</a:t>
            </a:r>
            <a:r>
              <a:rPr lang="en-US" altLang="zh-CN" dirty="0" smtClean="0"/>
              <a:t>40byte</a:t>
            </a:r>
            <a:r>
              <a:rPr lang="zh-CN" altLang="zh-CN" dirty="0" smtClean="0"/>
              <a:t>，而数据包的包长一般比较大。另外可以从</a:t>
            </a:r>
            <a:r>
              <a:rPr lang="en-US" altLang="zh-CN" dirty="0" smtClean="0"/>
              <a:t>IP</a:t>
            </a:r>
            <a:r>
              <a:rPr lang="zh-CN" altLang="zh-CN" dirty="0" smtClean="0"/>
              <a:t>来区分，源</a:t>
            </a:r>
            <a:r>
              <a:rPr lang="en-US" altLang="zh-CN" dirty="0" smtClean="0"/>
              <a:t>IP</a:t>
            </a:r>
            <a:r>
              <a:rPr lang="zh-CN" altLang="zh-CN" dirty="0" smtClean="0"/>
              <a:t>为数据发送方</a:t>
            </a:r>
            <a:r>
              <a:rPr lang="en-US" altLang="zh-CN" dirty="0" smtClean="0"/>
              <a:t>IP</a:t>
            </a:r>
            <a:r>
              <a:rPr lang="zh-CN" altLang="zh-CN" dirty="0" smtClean="0"/>
              <a:t>的包一般为数据包。</a:t>
            </a:r>
          </a:p>
          <a:p>
            <a:pPr lvl="1"/>
            <a:r>
              <a:rPr lang="en-US" altLang="zh-CN" dirty="0" smtClean="0"/>
              <a:t>2</a:t>
            </a:r>
            <a:r>
              <a:rPr lang="zh-CN" altLang="zh-CN" dirty="0" smtClean="0"/>
              <a:t>、</a:t>
            </a:r>
            <a:r>
              <a:rPr lang="en-US" altLang="zh-CN" dirty="0" smtClean="0"/>
              <a:t>RTT</a:t>
            </a:r>
            <a:r>
              <a:rPr lang="zh-CN" altLang="zh-CN" dirty="0" smtClean="0"/>
              <a:t>时延对软件而言只是捕获到数据包到捕获数据包对应确认包的时间差。如果是在数据发送方进行</a:t>
            </a:r>
            <a:r>
              <a:rPr lang="en-US" altLang="zh-CN" dirty="0" smtClean="0"/>
              <a:t>ethereal</a:t>
            </a:r>
            <a:r>
              <a:rPr lang="zh-CN" altLang="zh-CN" dirty="0" smtClean="0"/>
              <a:t>抓包，则获得的</a:t>
            </a:r>
            <a:r>
              <a:rPr lang="en-US" altLang="zh-CN" dirty="0" smtClean="0"/>
              <a:t>RTT</a:t>
            </a:r>
            <a:r>
              <a:rPr lang="zh-CN" altLang="zh-CN" dirty="0" smtClean="0"/>
              <a:t>时延为数据包发送到收到确认包的时间，这就是一般意义上的</a:t>
            </a:r>
            <a:r>
              <a:rPr lang="en-US" altLang="zh-CN" dirty="0" smtClean="0"/>
              <a:t>RTT</a:t>
            </a:r>
            <a:r>
              <a:rPr lang="zh-CN" altLang="zh-CN" dirty="0" smtClean="0"/>
              <a:t>。而如果在接收方进行</a:t>
            </a:r>
            <a:r>
              <a:rPr lang="en-US" altLang="zh-CN" dirty="0" smtClean="0"/>
              <a:t>ethereal</a:t>
            </a:r>
            <a:r>
              <a:rPr lang="zh-CN" altLang="zh-CN" dirty="0" smtClean="0"/>
              <a:t>抓包，则得到的</a:t>
            </a:r>
            <a:r>
              <a:rPr lang="en-US" altLang="zh-CN" dirty="0" smtClean="0"/>
              <a:t>RTT</a:t>
            </a:r>
            <a:r>
              <a:rPr lang="zh-CN" altLang="zh-CN" dirty="0" smtClean="0"/>
              <a:t>时延只是接收方收到数据包到发出确认包的时间差，这体现的只是接收方处理数据包的时延。</a:t>
            </a:r>
          </a:p>
          <a:p>
            <a:pPr lvl="0"/>
            <a:r>
              <a:rPr lang="zh-CN" altLang="zh-CN" dirty="0" smtClean="0"/>
              <a:t>发送窗口</a:t>
            </a:r>
          </a:p>
          <a:p>
            <a:pPr lvl="1"/>
            <a:r>
              <a:rPr lang="zh-CN" altLang="zh-CN" dirty="0" smtClean="0"/>
              <a:t>发送窗口不能通过软件直接得到，需要进行一定的计算，且</a:t>
            </a:r>
            <a:r>
              <a:rPr lang="zh-CN" altLang="zh-CN" b="1" dirty="0" smtClean="0"/>
              <a:t>只能在发送方跟踪的</a:t>
            </a:r>
            <a:r>
              <a:rPr lang="en-US" altLang="zh-CN" dirty="0" smtClean="0"/>
              <a:t>ethereal</a:t>
            </a:r>
            <a:r>
              <a:rPr lang="zh-CN" altLang="zh-CN" dirty="0" smtClean="0"/>
              <a:t>数据查看。</a:t>
            </a:r>
          </a:p>
          <a:p>
            <a:pPr lvl="1"/>
            <a:r>
              <a:rPr lang="en-US" altLang="zh-CN" dirty="0" smtClean="0"/>
              <a:t>1</a:t>
            </a:r>
            <a:r>
              <a:rPr lang="zh-CN" altLang="zh-CN" dirty="0" smtClean="0"/>
              <a:t>、如果捕获的数据中杂包较多，则先进行</a:t>
            </a:r>
            <a:r>
              <a:rPr lang="en-US" altLang="zh-CN" dirty="0" smtClean="0"/>
              <a:t>TCP</a:t>
            </a:r>
            <a:r>
              <a:rPr lang="zh-CN" altLang="zh-CN" dirty="0" smtClean="0"/>
              <a:t>连接过滤，将需要分析的</a:t>
            </a:r>
            <a:r>
              <a:rPr lang="en-US" altLang="zh-CN" dirty="0" smtClean="0"/>
              <a:t>TCP</a:t>
            </a:r>
            <a:r>
              <a:rPr lang="zh-CN" altLang="zh-CN" dirty="0" smtClean="0"/>
              <a:t>连接提取出来。</a:t>
            </a:r>
          </a:p>
          <a:p>
            <a:pPr lvl="1"/>
            <a:r>
              <a:rPr lang="zh-CN" altLang="zh-CN" dirty="0" smtClean="0"/>
              <a:t>方法：右键点击需要提取的</a:t>
            </a:r>
            <a:r>
              <a:rPr lang="en-US" altLang="zh-CN" dirty="0" smtClean="0"/>
              <a:t>TCP</a:t>
            </a:r>
            <a:r>
              <a:rPr lang="zh-CN" altLang="zh-CN" dirty="0" smtClean="0"/>
              <a:t>连接中任意一个包，选择</a:t>
            </a:r>
            <a:r>
              <a:rPr lang="en-US" altLang="zh-CN" dirty="0" smtClean="0"/>
              <a:t>Follow TCP Stream</a:t>
            </a:r>
            <a:r>
              <a:rPr lang="zh-CN" altLang="zh-CN" dirty="0" smtClean="0"/>
              <a:t>，连接数据提取完成后会显示一个对话框，直接将其关掉即可。</a:t>
            </a:r>
          </a:p>
          <a:p>
            <a:pPr lvl="1"/>
            <a:r>
              <a:rPr lang="en-US" altLang="zh-CN" dirty="0" smtClean="0"/>
              <a:t>2</a:t>
            </a:r>
            <a:r>
              <a:rPr lang="zh-CN" altLang="zh-CN" dirty="0" smtClean="0"/>
              <a:t>、选取某一数据包，查看已发送的序列号（在协议解析区中，打开</a:t>
            </a:r>
            <a:r>
              <a:rPr lang="en-US" altLang="zh-CN" dirty="0" smtClean="0"/>
              <a:t>TCP</a:t>
            </a:r>
            <a:r>
              <a:rPr lang="zh-CN" altLang="zh-CN" dirty="0" smtClean="0"/>
              <a:t>协议，查看其中的</a:t>
            </a:r>
            <a:r>
              <a:rPr lang="en-US" altLang="zh-CN" dirty="0" smtClean="0"/>
              <a:t>Next Sequence Number</a:t>
            </a:r>
            <a:r>
              <a:rPr lang="zh-CN" altLang="zh-CN" dirty="0" smtClean="0"/>
              <a:t>），将这个序列号减去已收到的</a:t>
            </a:r>
            <a:r>
              <a:rPr lang="en-US" altLang="zh-CN" dirty="0" smtClean="0"/>
              <a:t>ACK</a:t>
            </a:r>
            <a:r>
              <a:rPr lang="zh-CN" altLang="zh-CN" dirty="0" smtClean="0"/>
              <a:t>序列号（在跟踪显示区中可以看到</a:t>
            </a:r>
            <a:r>
              <a:rPr lang="en-US" altLang="zh-CN" dirty="0" smtClean="0"/>
              <a:t>ACK</a:t>
            </a:r>
            <a:r>
              <a:rPr lang="zh-CN" altLang="zh-CN" dirty="0" smtClean="0"/>
              <a:t>＝？？）即为此时的发送窗口。</a:t>
            </a:r>
          </a:p>
          <a:p>
            <a:pPr lvl="1"/>
            <a:r>
              <a:rPr lang="en-US" altLang="zh-CN" dirty="0" smtClean="0"/>
              <a:t>3</a:t>
            </a:r>
            <a:r>
              <a:rPr lang="zh-CN" altLang="zh-CN" dirty="0" smtClean="0"/>
              <a:t>、说明：在初始数传阶段有慢启动，此时的发送窗口有一个逐渐扩大的过程，而有丢包时发送窗口会减半，所以在查看最大发送窗口时要避开这两种情况，在正常数传一段时间速率稳定后才能查看到真实的最大发送窗口。</a:t>
            </a:r>
          </a:p>
          <a:p>
            <a:pPr lvl="0"/>
            <a:r>
              <a:rPr lang="zh-CN" altLang="zh-CN" dirty="0" smtClean="0"/>
              <a:t>丢包和重传</a:t>
            </a:r>
          </a:p>
          <a:p>
            <a:pPr lvl="1"/>
            <a:r>
              <a:rPr lang="zh-CN" altLang="zh-CN" dirty="0" smtClean="0"/>
              <a:t>如果发送方收到三个重复的</a:t>
            </a:r>
            <a:r>
              <a:rPr lang="en-US" altLang="zh-CN" dirty="0" smtClean="0"/>
              <a:t>ACK</a:t>
            </a:r>
            <a:r>
              <a:rPr lang="zh-CN" altLang="zh-CN" dirty="0" smtClean="0"/>
              <a:t>，则判断为丢包。重复</a:t>
            </a:r>
            <a:r>
              <a:rPr lang="en-US" altLang="zh-CN" dirty="0" smtClean="0"/>
              <a:t>ACK</a:t>
            </a:r>
            <a:r>
              <a:rPr lang="zh-CN" altLang="zh-CN" dirty="0" smtClean="0"/>
              <a:t>可以在跟踪显示区查看是否有</a:t>
            </a:r>
            <a:r>
              <a:rPr lang="en-US" altLang="zh-CN" dirty="0" smtClean="0"/>
              <a:t>TCP Dup ACK</a:t>
            </a:r>
            <a:r>
              <a:rPr lang="zh-CN" altLang="zh-CN" dirty="0" smtClean="0"/>
              <a:t>，也可以将重复</a:t>
            </a:r>
            <a:r>
              <a:rPr lang="en-US" altLang="zh-CN" dirty="0" smtClean="0"/>
              <a:t>ACK</a:t>
            </a:r>
            <a:r>
              <a:rPr lang="zh-CN" altLang="zh-CN" dirty="0" smtClean="0"/>
              <a:t>过滤出来：在过滤栏中输入</a:t>
            </a:r>
            <a:r>
              <a:rPr lang="en-US" altLang="zh-CN" dirty="0" err="1" smtClean="0"/>
              <a:t>tcp.analysis.duplicate_ack</a:t>
            </a:r>
            <a:r>
              <a:rPr lang="zh-CN" altLang="zh-CN" dirty="0" smtClean="0"/>
              <a:t>，每个</a:t>
            </a:r>
            <a:r>
              <a:rPr lang="en-US" altLang="zh-CN" dirty="0" smtClean="0"/>
              <a:t>ACK</a:t>
            </a:r>
            <a:r>
              <a:rPr lang="zh-CN" altLang="zh-CN" dirty="0" smtClean="0"/>
              <a:t>都会有重复次数的显示，如下图中的</a:t>
            </a:r>
            <a:r>
              <a:rPr lang="en-US" altLang="zh-CN" dirty="0" smtClean="0"/>
              <a:t>#1</a:t>
            </a:r>
            <a:r>
              <a:rPr lang="zh-CN" altLang="zh-CN" dirty="0" smtClean="0"/>
              <a:t>到</a:t>
            </a:r>
            <a:r>
              <a:rPr lang="en-US" altLang="zh-CN" dirty="0" smtClean="0"/>
              <a:t>#5</a:t>
            </a:r>
            <a:r>
              <a:rPr lang="zh-CN" altLang="zh-CN" dirty="0" smtClean="0"/>
              <a:t>，表示已经收到五次相同的</a:t>
            </a:r>
            <a:r>
              <a:rPr lang="en-US" altLang="zh-CN" dirty="0" smtClean="0"/>
              <a:t>ACK</a:t>
            </a:r>
            <a:r>
              <a:rPr lang="zh-CN" altLang="zh-CN" dirty="0" smtClean="0"/>
              <a:t>（加上正常返回的</a:t>
            </a:r>
            <a:r>
              <a:rPr lang="en-US" altLang="zh-CN" dirty="0" smtClean="0"/>
              <a:t>ACK</a:t>
            </a:r>
            <a:r>
              <a:rPr lang="zh-CN" altLang="zh-CN" dirty="0" smtClean="0"/>
              <a:t>，则收到六个相同的</a:t>
            </a:r>
            <a:r>
              <a:rPr lang="en-US" altLang="zh-CN" dirty="0" smtClean="0"/>
              <a:t>ACK</a:t>
            </a:r>
            <a:r>
              <a:rPr lang="zh-CN" altLang="zh-CN" dirty="0" smtClean="0"/>
              <a:t>）。</a:t>
            </a:r>
          </a:p>
          <a:p>
            <a:pPr lvl="1"/>
            <a:r>
              <a:rPr lang="zh-CN" altLang="zh-CN" dirty="0" smtClean="0"/>
              <a:t>如果发送方收到三个重复的</a:t>
            </a:r>
            <a:r>
              <a:rPr lang="en-US" altLang="zh-CN" dirty="0" smtClean="0"/>
              <a:t>ACK</a:t>
            </a:r>
            <a:r>
              <a:rPr lang="zh-CN" altLang="zh-CN" dirty="0" smtClean="0"/>
              <a:t>，则判断为丢包，一般会进行重传。在跟踪显示区中重传包会有</a:t>
            </a:r>
            <a:r>
              <a:rPr lang="en-US" altLang="zh-CN" dirty="0" smtClean="0"/>
              <a:t>TCP Fast Retransmission</a:t>
            </a:r>
            <a:r>
              <a:rPr lang="zh-CN" altLang="zh-CN" dirty="0" smtClean="0"/>
              <a:t>或</a:t>
            </a:r>
            <a:r>
              <a:rPr lang="en-US" altLang="zh-CN" dirty="0" smtClean="0"/>
              <a:t>TCP Retransmission</a:t>
            </a:r>
            <a:r>
              <a:rPr lang="zh-CN" altLang="zh-CN" dirty="0" smtClean="0"/>
              <a:t>的字样显示，如下图所示：</a:t>
            </a:r>
          </a:p>
          <a:p>
            <a:pPr lvl="1"/>
            <a:r>
              <a:rPr lang="zh-CN" altLang="zh-CN" dirty="0" smtClean="0"/>
              <a:t>也可以在过滤栏中输入</a:t>
            </a:r>
            <a:r>
              <a:rPr lang="en-US" altLang="zh-CN" dirty="0" err="1" smtClean="0"/>
              <a:t>tcp.analysis.retransmission</a:t>
            </a:r>
            <a:r>
              <a:rPr lang="zh-CN" altLang="zh-CN" dirty="0" smtClean="0"/>
              <a:t>，将重传包过滤出来。</a:t>
            </a:r>
          </a:p>
          <a:p>
            <a:pPr lvl="1"/>
            <a:r>
              <a:rPr lang="zh-CN" altLang="zh-CN" b="1" dirty="0" smtClean="0"/>
              <a:t>在接收方用</a:t>
            </a:r>
            <a:r>
              <a:rPr lang="en-US" altLang="zh-CN" b="1" dirty="0" err="1" smtClean="0"/>
              <a:t>tcp.analysis.lost_segment</a:t>
            </a:r>
            <a:r>
              <a:rPr lang="zh-CN" altLang="zh-CN" b="1" dirty="0" smtClean="0"/>
              <a:t>过滤后，如果有</a:t>
            </a:r>
            <a:r>
              <a:rPr lang="en-US" altLang="zh-CN" b="1" dirty="0" smtClean="0"/>
              <a:t>Previous Segment Lost</a:t>
            </a:r>
            <a:r>
              <a:rPr lang="zh-CN" altLang="zh-CN" b="1" dirty="0" smtClean="0"/>
              <a:t>包显示，则表示该数据包之前的某个包被丢弃，这可以用于定位数据包在哪被丢弃。</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119</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313339903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zh-CN" sz="1100" kern="1200" dirty="0" smtClean="0">
                <a:solidFill>
                  <a:schemeClr val="tx1"/>
                </a:solidFill>
                <a:latin typeface="FrutigerNext LT Regular" pitchFamily="34" charset="0"/>
                <a:ea typeface="华文细黑" pitchFamily="2" charset="-122"/>
                <a:cs typeface="+mn-cs"/>
              </a:rPr>
              <a:t>选择解析显示的格式</a:t>
            </a:r>
            <a:r>
              <a:rPr lang="en-US" altLang="zh-CN" sz="1100" kern="1200" dirty="0" smtClean="0">
                <a:solidFill>
                  <a:schemeClr val="tx1"/>
                </a:solidFill>
                <a:latin typeface="FrutigerNext LT Regular" pitchFamily="34" charset="0"/>
                <a:ea typeface="华文细黑" pitchFamily="2" charset="-122"/>
                <a:cs typeface="+mn-cs"/>
              </a:rPr>
              <a:t>Packet Format</a:t>
            </a:r>
            <a:endParaRPr lang="zh-CN" altLang="zh-CN" sz="1100" kern="1200" dirty="0" smtClean="0">
              <a:solidFill>
                <a:schemeClr val="tx1"/>
              </a:solidFill>
              <a:latin typeface="FrutigerNext LT Regular" pitchFamily="34" charset="0"/>
              <a:ea typeface="华文细黑" pitchFamily="2" charset="-122"/>
              <a:cs typeface="+mn-cs"/>
            </a:endParaRPr>
          </a:p>
          <a:p>
            <a:pPr lvl="1"/>
            <a:r>
              <a:rPr lang="en-US" altLang="zh-CN" sz="1100" kern="1200" dirty="0" smtClean="0">
                <a:solidFill>
                  <a:schemeClr val="tx1"/>
                </a:solidFill>
                <a:latin typeface="FrutigerNext LT Regular" pitchFamily="34" charset="0"/>
                <a:ea typeface="华文细黑" pitchFamily="2" charset="-122"/>
                <a:cs typeface="+mn-cs"/>
              </a:rPr>
              <a:t>a. </a:t>
            </a:r>
            <a:r>
              <a:rPr lang="zh-CN" altLang="zh-CN" sz="1100" kern="1200" dirty="0" smtClean="0">
                <a:solidFill>
                  <a:schemeClr val="tx1"/>
                </a:solidFill>
                <a:latin typeface="FrutigerNext LT Regular" pitchFamily="34" charset="0"/>
                <a:ea typeface="华文细黑" pitchFamily="2" charset="-122"/>
                <a:cs typeface="+mn-cs"/>
              </a:rPr>
              <a:t>勾选</a:t>
            </a:r>
            <a:r>
              <a:rPr lang="en-US" altLang="zh-CN" sz="1100" kern="1200" dirty="0" smtClean="0">
                <a:solidFill>
                  <a:schemeClr val="tx1"/>
                </a:solidFill>
                <a:latin typeface="FrutigerNext LT Regular" pitchFamily="34" charset="0"/>
                <a:ea typeface="华文细黑" pitchFamily="2" charset="-122"/>
                <a:cs typeface="+mn-cs"/>
              </a:rPr>
              <a:t>Packet summary line</a:t>
            </a:r>
            <a:r>
              <a:rPr lang="zh-CN" altLang="zh-CN" sz="1100" kern="1200" dirty="0" smtClean="0">
                <a:solidFill>
                  <a:schemeClr val="tx1"/>
                </a:solidFill>
                <a:latin typeface="FrutigerNext LT Regular" pitchFamily="34" charset="0"/>
                <a:ea typeface="华文细黑" pitchFamily="2" charset="-122"/>
                <a:cs typeface="+mn-cs"/>
              </a:rPr>
              <a:t>则显示跟踪显示区所示的每个数据包简单信息，如源</a:t>
            </a:r>
            <a:r>
              <a:rPr lang="en-US" altLang="zh-CN" sz="1100" kern="1200" dirty="0" smtClean="0">
                <a:solidFill>
                  <a:schemeClr val="tx1"/>
                </a:solidFill>
                <a:latin typeface="FrutigerNext LT Regular" pitchFamily="34" charset="0"/>
                <a:ea typeface="华文细黑" pitchFamily="2" charset="-122"/>
                <a:cs typeface="+mn-cs"/>
              </a:rPr>
              <a:t>IP</a:t>
            </a:r>
            <a:r>
              <a:rPr lang="zh-CN" altLang="zh-CN" sz="1100" kern="1200" dirty="0" smtClean="0">
                <a:solidFill>
                  <a:schemeClr val="tx1"/>
                </a:solidFill>
                <a:latin typeface="FrutigerNext LT Regular" pitchFamily="34" charset="0"/>
                <a:ea typeface="华文细黑" pitchFamily="2" charset="-122"/>
                <a:cs typeface="+mn-cs"/>
              </a:rPr>
              <a:t>、目的</a:t>
            </a:r>
            <a:r>
              <a:rPr lang="en-US" altLang="zh-CN" sz="1100" kern="1200" dirty="0" smtClean="0">
                <a:solidFill>
                  <a:schemeClr val="tx1"/>
                </a:solidFill>
                <a:latin typeface="FrutigerNext LT Regular" pitchFamily="34" charset="0"/>
                <a:ea typeface="华文细黑" pitchFamily="2" charset="-122"/>
                <a:cs typeface="+mn-cs"/>
              </a:rPr>
              <a:t>IP</a:t>
            </a:r>
            <a:r>
              <a:rPr lang="zh-CN" altLang="zh-CN" sz="1100" kern="1200" dirty="0" smtClean="0">
                <a:solidFill>
                  <a:schemeClr val="tx1"/>
                </a:solidFill>
                <a:latin typeface="FrutigerNext LT Regular" pitchFamily="34" charset="0"/>
                <a:ea typeface="华文细黑" pitchFamily="2" charset="-122"/>
                <a:cs typeface="+mn-cs"/>
              </a:rPr>
              <a:t>、基本协议、基本摘要等；</a:t>
            </a:r>
          </a:p>
          <a:p>
            <a:pPr lvl="1"/>
            <a:r>
              <a:rPr lang="en-US" altLang="zh-CN" sz="1100" kern="1200" dirty="0" smtClean="0">
                <a:solidFill>
                  <a:schemeClr val="tx1"/>
                </a:solidFill>
                <a:latin typeface="FrutigerNext LT Regular" pitchFamily="34" charset="0"/>
                <a:ea typeface="华文细黑" pitchFamily="2" charset="-122"/>
                <a:cs typeface="+mn-cs"/>
              </a:rPr>
              <a:t>b. </a:t>
            </a:r>
            <a:r>
              <a:rPr lang="zh-CN" altLang="zh-CN" sz="1100" kern="1200" dirty="0" smtClean="0">
                <a:solidFill>
                  <a:schemeClr val="tx1"/>
                </a:solidFill>
                <a:latin typeface="FrutigerNext LT Regular" pitchFamily="34" charset="0"/>
                <a:ea typeface="华文细黑" pitchFamily="2" charset="-122"/>
                <a:cs typeface="+mn-cs"/>
              </a:rPr>
              <a:t>勾选</a:t>
            </a:r>
            <a:r>
              <a:rPr lang="en-US" altLang="zh-CN" sz="1100" kern="1200" dirty="0" smtClean="0">
                <a:solidFill>
                  <a:schemeClr val="tx1"/>
                </a:solidFill>
                <a:latin typeface="FrutigerNext LT Regular" pitchFamily="34" charset="0"/>
                <a:ea typeface="华文细黑" pitchFamily="2" charset="-122"/>
                <a:cs typeface="+mn-cs"/>
              </a:rPr>
              <a:t>Packet details</a:t>
            </a:r>
            <a:r>
              <a:rPr lang="zh-CN" altLang="zh-CN" sz="1100" kern="1200" dirty="0" smtClean="0">
                <a:solidFill>
                  <a:schemeClr val="tx1"/>
                </a:solidFill>
                <a:latin typeface="FrutigerNext LT Regular" pitchFamily="34" charset="0"/>
                <a:ea typeface="华文细黑" pitchFamily="2" charset="-122"/>
                <a:cs typeface="+mn-cs"/>
              </a:rPr>
              <a:t>则显示数据包的具体内容。其中</a:t>
            </a:r>
            <a:r>
              <a:rPr lang="en-US" altLang="zh-CN" sz="1100" kern="1200" dirty="0" smtClean="0">
                <a:solidFill>
                  <a:schemeClr val="tx1"/>
                </a:solidFill>
                <a:latin typeface="FrutigerNext LT Regular" pitchFamily="34" charset="0"/>
                <a:ea typeface="华文细黑" pitchFamily="2" charset="-122"/>
                <a:cs typeface="+mn-cs"/>
              </a:rPr>
              <a:t>All collapsed</a:t>
            </a:r>
            <a:r>
              <a:rPr lang="zh-CN" altLang="zh-CN" sz="1100" kern="1200" dirty="0" smtClean="0">
                <a:solidFill>
                  <a:schemeClr val="tx1"/>
                </a:solidFill>
                <a:latin typeface="FrutigerNext LT Regular" pitchFamily="34" charset="0"/>
                <a:ea typeface="华文细黑" pitchFamily="2" charset="-122"/>
                <a:cs typeface="+mn-cs"/>
              </a:rPr>
              <a:t>显示解析到每个协议层的简单信息，</a:t>
            </a:r>
            <a:r>
              <a:rPr lang="en-US" altLang="zh-CN" sz="1100" kern="1200" dirty="0" smtClean="0">
                <a:solidFill>
                  <a:schemeClr val="tx1"/>
                </a:solidFill>
                <a:latin typeface="FrutigerNext LT Regular" pitchFamily="34" charset="0"/>
                <a:ea typeface="华文细黑" pitchFamily="2" charset="-122"/>
                <a:cs typeface="+mn-cs"/>
              </a:rPr>
              <a:t>All expanded</a:t>
            </a:r>
            <a:r>
              <a:rPr lang="zh-CN" altLang="zh-CN" sz="1100" kern="1200" dirty="0" smtClean="0">
                <a:solidFill>
                  <a:schemeClr val="tx1"/>
                </a:solidFill>
                <a:latin typeface="FrutigerNext LT Regular" pitchFamily="34" charset="0"/>
                <a:ea typeface="华文细黑" pitchFamily="2" charset="-122"/>
                <a:cs typeface="+mn-cs"/>
              </a:rPr>
              <a:t>显示每个协议层的所有信息，</a:t>
            </a:r>
            <a:r>
              <a:rPr lang="en-US" altLang="zh-CN" sz="1100" kern="1200" dirty="0" smtClean="0">
                <a:solidFill>
                  <a:schemeClr val="tx1"/>
                </a:solidFill>
                <a:latin typeface="FrutigerNext LT Regular" pitchFamily="34" charset="0"/>
                <a:ea typeface="华文细黑" pitchFamily="2" charset="-122"/>
                <a:cs typeface="+mn-cs"/>
              </a:rPr>
              <a:t>As displayed</a:t>
            </a:r>
            <a:r>
              <a:rPr lang="zh-CN" altLang="zh-CN" sz="1100" kern="1200" dirty="0" smtClean="0">
                <a:solidFill>
                  <a:schemeClr val="tx1"/>
                </a:solidFill>
                <a:latin typeface="FrutigerNext LT Regular" pitchFamily="34" charset="0"/>
                <a:ea typeface="华文细黑" pitchFamily="2" charset="-122"/>
                <a:cs typeface="+mn-cs"/>
              </a:rPr>
              <a:t>则按协议解析层当前显示的形式来呈现。</a:t>
            </a:r>
            <a:endParaRPr lang="en-US" altLang="zh-CN" sz="1100" kern="1200" dirty="0" smtClean="0">
              <a:solidFill>
                <a:schemeClr val="tx1"/>
              </a:solidFill>
              <a:latin typeface="FrutigerNext LT Regular" pitchFamily="34" charset="0"/>
              <a:ea typeface="华文细黑" pitchFamily="2" charset="-122"/>
              <a:cs typeface="+mn-cs"/>
            </a:endParaRPr>
          </a:p>
          <a:p>
            <a:pPr marL="180975" indent="-180975" algn="l" rtl="0" fontAlgn="base">
              <a:lnSpc>
                <a:spcPct val="125000"/>
              </a:lnSpc>
              <a:spcBef>
                <a:spcPct val="0"/>
              </a:spcBef>
              <a:spcAft>
                <a:spcPts val="300"/>
              </a:spcAft>
              <a:buSzPct val="70000"/>
              <a:buFont typeface="Wingdings" pitchFamily="2" charset="2"/>
              <a:buChar char="l"/>
            </a:pPr>
            <a:r>
              <a:rPr lang="zh-CN" altLang="zh-CN" sz="1100" kern="1200" dirty="0" smtClean="0">
                <a:solidFill>
                  <a:schemeClr val="tx1"/>
                </a:solidFill>
                <a:latin typeface="FrutigerNext LT Regular" pitchFamily="34" charset="0"/>
                <a:ea typeface="华文细黑" pitchFamily="2" charset="-122"/>
                <a:cs typeface="+mn-cs"/>
              </a:rPr>
              <a:t>以上三个方面都选好后点击右下角的</a:t>
            </a:r>
            <a:r>
              <a:rPr lang="en-US" altLang="zh-CN" sz="1100" kern="1200" dirty="0" smtClean="0">
                <a:solidFill>
                  <a:schemeClr val="tx1"/>
                </a:solidFill>
                <a:latin typeface="FrutigerNext LT Regular" pitchFamily="34" charset="0"/>
                <a:ea typeface="华文细黑" pitchFamily="2" charset="-122"/>
                <a:cs typeface="+mn-cs"/>
              </a:rPr>
              <a:t>Print</a:t>
            </a:r>
            <a:r>
              <a:rPr lang="zh-CN" altLang="zh-CN" sz="1100" kern="1200" dirty="0" smtClean="0">
                <a:solidFill>
                  <a:schemeClr val="tx1"/>
                </a:solidFill>
                <a:latin typeface="FrutigerNext LT Regular" pitchFamily="34" charset="0"/>
                <a:ea typeface="华文细黑" pitchFamily="2" charset="-122"/>
                <a:cs typeface="+mn-cs"/>
              </a:rPr>
              <a:t>按钮即可。</a:t>
            </a:r>
          </a:p>
          <a:p>
            <a:pPr marL="180975" lvl="0" indent="-180975" algn="l" rtl="0" fontAlgn="base">
              <a:lnSpc>
                <a:spcPct val="125000"/>
              </a:lnSpc>
              <a:spcBef>
                <a:spcPct val="0"/>
              </a:spcBef>
              <a:spcAft>
                <a:spcPts val="300"/>
              </a:spcAft>
              <a:buSzPct val="70000"/>
              <a:buFont typeface="Wingdings" pitchFamily="2" charset="2"/>
              <a:buChar char="l"/>
            </a:pPr>
            <a:r>
              <a:rPr lang="zh-CN" altLang="zh-CN" sz="1100" kern="1200" dirty="0" smtClean="0">
                <a:solidFill>
                  <a:schemeClr val="tx1"/>
                </a:solidFill>
                <a:latin typeface="FrutigerNext LT Regular" pitchFamily="34" charset="0"/>
                <a:ea typeface="华文细黑" pitchFamily="2" charset="-122"/>
                <a:cs typeface="+mn-cs"/>
              </a:rPr>
              <a:t>文件合并</a:t>
            </a:r>
          </a:p>
          <a:p>
            <a:pPr lvl="1"/>
            <a:r>
              <a:rPr lang="zh-CN" altLang="zh-CN" sz="1100" b="1" kern="1200" dirty="0" smtClean="0">
                <a:solidFill>
                  <a:schemeClr val="tx1"/>
                </a:solidFill>
                <a:latin typeface="FrutigerNext LT Regular" pitchFamily="34" charset="0"/>
                <a:ea typeface="华文细黑" pitchFamily="2" charset="-122"/>
                <a:cs typeface="+mn-cs"/>
              </a:rPr>
              <a:t>方法一：</a:t>
            </a:r>
            <a:r>
              <a:rPr lang="zh-CN" altLang="zh-CN" sz="1100" kern="1200" dirty="0" smtClean="0">
                <a:solidFill>
                  <a:schemeClr val="tx1"/>
                </a:solidFill>
                <a:latin typeface="FrutigerNext LT Regular" pitchFamily="34" charset="0"/>
                <a:ea typeface="华文细黑" pitchFamily="2" charset="-122"/>
                <a:cs typeface="+mn-cs"/>
              </a:rPr>
              <a:t>将几个需要合并的文件放在同一文件夹中，然后将这些文件一起拖进</a:t>
            </a:r>
            <a:r>
              <a:rPr lang="en-US" altLang="zh-CN" sz="1100" kern="1200" dirty="0" smtClean="0">
                <a:solidFill>
                  <a:schemeClr val="tx1"/>
                </a:solidFill>
                <a:latin typeface="FrutigerNext LT Regular" pitchFamily="34" charset="0"/>
                <a:ea typeface="华文细黑" pitchFamily="2" charset="-122"/>
                <a:cs typeface="+mn-cs"/>
              </a:rPr>
              <a:t>ethereal</a:t>
            </a:r>
            <a:r>
              <a:rPr lang="zh-CN" altLang="zh-CN" sz="1100" kern="1200" dirty="0" smtClean="0">
                <a:solidFill>
                  <a:schemeClr val="tx1"/>
                </a:solidFill>
                <a:latin typeface="FrutigerNext LT Regular" pitchFamily="34" charset="0"/>
                <a:ea typeface="华文细黑" pitchFamily="2" charset="-122"/>
                <a:cs typeface="+mn-cs"/>
              </a:rPr>
              <a:t>，这时软件会提示是否将这些文件合并，点击</a:t>
            </a:r>
            <a:r>
              <a:rPr lang="en-US" altLang="zh-CN" sz="1100" kern="1200" dirty="0" smtClean="0">
                <a:solidFill>
                  <a:schemeClr val="tx1"/>
                </a:solidFill>
                <a:latin typeface="FrutigerNext LT Regular" pitchFamily="34" charset="0"/>
                <a:ea typeface="华文细黑" pitchFamily="2" charset="-122"/>
                <a:cs typeface="+mn-cs"/>
              </a:rPr>
              <a:t>OK</a:t>
            </a:r>
            <a:r>
              <a:rPr lang="zh-CN" altLang="zh-CN" sz="1100" kern="1200" dirty="0" smtClean="0">
                <a:solidFill>
                  <a:schemeClr val="tx1"/>
                </a:solidFill>
                <a:latin typeface="FrutigerNext LT Regular" pitchFamily="34" charset="0"/>
                <a:ea typeface="华文细黑" pitchFamily="2" charset="-122"/>
                <a:cs typeface="+mn-cs"/>
              </a:rPr>
              <a:t>。这样就将这些文件在同一个文件中打开，然后将文件另存为即可。</a:t>
            </a:r>
          </a:p>
          <a:p>
            <a:pPr lvl="1"/>
            <a:r>
              <a:rPr lang="zh-CN" altLang="zh-CN" sz="1100" b="1" kern="1200" dirty="0" smtClean="0">
                <a:solidFill>
                  <a:schemeClr val="tx1"/>
                </a:solidFill>
                <a:latin typeface="FrutigerNext LT Regular" pitchFamily="34" charset="0"/>
                <a:ea typeface="华文细黑" pitchFamily="2" charset="-122"/>
                <a:cs typeface="+mn-cs"/>
              </a:rPr>
              <a:t>方法二：</a:t>
            </a:r>
            <a:r>
              <a:rPr lang="zh-CN" altLang="zh-CN" sz="1100" kern="1200" dirty="0" smtClean="0">
                <a:solidFill>
                  <a:schemeClr val="tx1"/>
                </a:solidFill>
                <a:latin typeface="FrutigerNext LT Regular" pitchFamily="34" charset="0"/>
                <a:ea typeface="华文细黑" pitchFamily="2" charset="-122"/>
                <a:cs typeface="+mn-cs"/>
              </a:rPr>
              <a:t>打开一个文件后，在菜单</a:t>
            </a:r>
            <a:r>
              <a:rPr lang="en-US" altLang="zh-CN" sz="1100" kern="1200" dirty="0" smtClean="0">
                <a:solidFill>
                  <a:schemeClr val="tx1"/>
                </a:solidFill>
                <a:latin typeface="FrutigerNext LT Regular" pitchFamily="34" charset="0"/>
                <a:ea typeface="华文细黑" pitchFamily="2" charset="-122"/>
                <a:cs typeface="+mn-cs"/>
              </a:rPr>
              <a:t>File</a:t>
            </a:r>
            <a:r>
              <a:rPr lang="zh-CN" altLang="zh-CN" sz="1100" kern="1200" dirty="0" smtClean="0">
                <a:solidFill>
                  <a:schemeClr val="tx1"/>
                </a:solidFill>
                <a:latin typeface="FrutigerNext LT Regular" pitchFamily="34" charset="0"/>
                <a:ea typeface="华文细黑" pitchFamily="2" charset="-122"/>
                <a:cs typeface="+mn-cs"/>
              </a:rPr>
              <a:t>下选择</a:t>
            </a:r>
            <a:r>
              <a:rPr lang="en-US" altLang="zh-CN" sz="1100" kern="1200" dirty="0" smtClean="0">
                <a:solidFill>
                  <a:schemeClr val="tx1"/>
                </a:solidFill>
                <a:latin typeface="FrutigerNext LT Regular" pitchFamily="34" charset="0"/>
                <a:ea typeface="华文细黑" pitchFamily="2" charset="-122"/>
                <a:cs typeface="+mn-cs"/>
              </a:rPr>
              <a:t>Merge</a:t>
            </a:r>
            <a:r>
              <a:rPr lang="zh-CN" altLang="zh-CN" sz="1100" kern="1200" dirty="0" smtClean="0">
                <a:solidFill>
                  <a:schemeClr val="tx1"/>
                </a:solidFill>
                <a:latin typeface="FrutigerNext LT Regular" pitchFamily="34" charset="0"/>
                <a:ea typeface="华文细黑" pitchFamily="2" charset="-122"/>
                <a:cs typeface="+mn-cs"/>
              </a:rPr>
              <a:t>，然后选择需要合并的文件，软件会将合并打开，只需将文件另存为即可。</a:t>
            </a:r>
            <a:endParaRPr lang="en-US" altLang="zh-CN" sz="1200" kern="1200" dirty="0" smtClean="0">
              <a:solidFill>
                <a:schemeClr val="tx1"/>
              </a:solidFill>
              <a:latin typeface="FrutigerNext LT Regular" pitchFamily="34" charset="0"/>
              <a:ea typeface="华文细黑" pitchFamily="2" charset="-122"/>
              <a:cs typeface="+mn-cs"/>
            </a:endParaRPr>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122</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134401748"/>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err="1" smtClean="0"/>
              <a:t>CHR:</a:t>
            </a:r>
            <a:r>
              <a:rPr lang="en-US" altLang="zh-CN" dirty="0" err="1" smtClean="0">
                <a:hlinkClick r:id="rId3" tooltip="call history record"/>
              </a:rPr>
              <a:t>call</a:t>
            </a:r>
            <a:r>
              <a:rPr lang="en-US" altLang="zh-CN" dirty="0" smtClean="0">
                <a:hlinkClick r:id="rId3" tooltip="call history record"/>
              </a:rPr>
              <a:t> history record</a:t>
            </a:r>
            <a:r>
              <a:rPr lang="en-US" altLang="zh-CN" dirty="0" smtClean="0"/>
              <a:t>,</a:t>
            </a:r>
            <a:r>
              <a:rPr lang="zh-CN" altLang="en-US" dirty="0" smtClean="0"/>
              <a:t>呼叫记录系统</a:t>
            </a:r>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123</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228905936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r>
              <a:rPr lang="zh-CN" altLang="en-US" b="1" dirty="0" smtClean="0"/>
              <a:t>上载日志文件</a:t>
            </a:r>
            <a:r>
              <a:rPr lang="en-US" altLang="zh-CN" b="1" dirty="0" smtClean="0"/>
              <a:t>(ULD LOG)</a:t>
            </a:r>
            <a:r>
              <a:rPr lang="zh-CN" altLang="en-US" b="1" dirty="0" smtClean="0"/>
              <a:t>：</a:t>
            </a:r>
            <a:r>
              <a:rPr lang="zh-CN" altLang="en-US" dirty="0" smtClean="0"/>
              <a:t>该命令用于把网元中生成的二进制日志文件上载到指定的</a:t>
            </a:r>
            <a:r>
              <a:rPr lang="en-US" altLang="zh-CN" dirty="0" smtClean="0"/>
              <a:t>FTP</a:t>
            </a:r>
            <a:r>
              <a:rPr lang="zh-CN" altLang="en-US" smtClean="0"/>
              <a:t>服务器。</a:t>
            </a:r>
          </a:p>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endParaRPr lang="en-US" altLang="zh-CN" b="1" dirty="0" smtClean="0"/>
          </a:p>
          <a:p>
            <a:pPr marL="180975" marR="0" indent="-180975" algn="l" defTabSz="914400" rtl="0" eaLnBrk="1" fontAlgn="base" latinLnBrk="0" hangingPunct="1">
              <a:lnSpc>
                <a:spcPct val="125000"/>
              </a:lnSpc>
              <a:spcBef>
                <a:spcPct val="0"/>
              </a:spcBef>
              <a:spcAft>
                <a:spcPts val="300"/>
              </a:spcAft>
              <a:buClrTx/>
              <a:buSzPct val="70000"/>
              <a:buFont typeface="Wingdings" pitchFamily="2" charset="2"/>
              <a:buChar char="l"/>
              <a:tabLst/>
              <a:defRPr/>
            </a:pPr>
            <a:endParaRPr lang="en-US" altLang="zh-CN" b="1" dirty="0" smtClean="0"/>
          </a:p>
          <a:p>
            <a:endParaRPr lang="zh-CN" altLang="en-US" dirty="0"/>
          </a:p>
        </p:txBody>
      </p:sp>
      <p:sp>
        <p:nvSpPr>
          <p:cNvPr id="4" name="页眉占位符 3"/>
          <p:cNvSpPr>
            <a:spLocks noGrp="1"/>
          </p:cNvSpPr>
          <p:nvPr>
            <p:ph type="hdr" sz="quarter" idx="10"/>
          </p:nvPr>
        </p:nvSpPr>
        <p:spPr/>
        <p:txBody>
          <a:bodyPr/>
          <a:lstStyle/>
          <a:p>
            <a:r>
              <a:rPr lang="en-US" altLang="zh-CN" smtClean="0"/>
              <a:t>LTE</a:t>
            </a:r>
            <a:r>
              <a:rPr lang="zh-CN" altLang="en-US" smtClean="0"/>
              <a:t>单站验证</a:t>
            </a:r>
            <a:endParaRPr lang="zh-CN" altLang="en-US" dirty="0"/>
          </a:p>
        </p:txBody>
      </p:sp>
      <p:sp>
        <p:nvSpPr>
          <p:cNvPr id="5" name="灯片编号占位符 4"/>
          <p:cNvSpPr>
            <a:spLocks noGrp="1"/>
          </p:cNvSpPr>
          <p:nvPr>
            <p:ph type="sldNum" sz="quarter" idx="11"/>
          </p:nvPr>
        </p:nvSpPr>
        <p:spPr/>
        <p:txBody>
          <a:bodyPr/>
          <a:lstStyle/>
          <a:p>
            <a:r>
              <a:rPr lang="en-US" altLang="zh-CN" smtClean="0"/>
              <a:t>P-</a:t>
            </a:r>
            <a:fld id="{53C4D65A-8D61-4BF8-8EE6-980764D8408A}" type="slidenum">
              <a:rPr lang="en-US" altLang="zh-CN" smtClean="0"/>
              <a:pPr/>
              <a:t>125</a:t>
            </a:fld>
            <a:endParaRPr lang="en-US" altLang="zh-CN"/>
          </a:p>
        </p:txBody>
      </p:sp>
      <p:sp>
        <p:nvSpPr>
          <p:cNvPr id="6" name="页脚占位符 5"/>
          <p:cNvSpPr>
            <a:spLocks noGrp="1"/>
          </p:cNvSpPr>
          <p:nvPr>
            <p:ph type="ftr" sz="quarter" idx="12"/>
          </p:nvPr>
        </p:nvSpPr>
        <p:spPr/>
        <p:txBody>
          <a:bodyPr/>
          <a:lstStyle/>
          <a:p>
            <a:r>
              <a:rPr lang="zh-CN" altLang="en-US" smtClean="0"/>
              <a:t>华为技术有限公司  版权所有  未经许可不得扩散</a:t>
            </a:r>
            <a:endParaRPr lang="zh-CN" altLang="en-US" dirty="0"/>
          </a:p>
        </p:txBody>
      </p:sp>
    </p:spTree>
    <p:extLst>
      <p:ext uri="{BB962C8B-B14F-4D97-AF65-F5344CB8AC3E}">
        <p14:creationId xmlns:p14="http://schemas.microsoft.com/office/powerpoint/2010/main" val="9346537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1466370" name="Picture 2" descr="Logo"/>
          <p:cNvPicPr>
            <a:picLocks noChangeAspect="1" noChangeArrowheads="1"/>
          </p:cNvPicPr>
          <p:nvPr/>
        </p:nvPicPr>
        <p:blipFill>
          <a:blip r:embed="rId2" cstate="print"/>
          <a:srcRect/>
          <a:stretch>
            <a:fillRect/>
          </a:stretch>
        </p:blipFill>
        <p:spPr bwMode="auto">
          <a:xfrm>
            <a:off x="7508875" y="5578475"/>
            <a:ext cx="820738" cy="820738"/>
          </a:xfrm>
          <a:prstGeom prst="rect">
            <a:avLst/>
          </a:prstGeom>
          <a:noFill/>
        </p:spPr>
      </p:pic>
      <p:pic>
        <p:nvPicPr>
          <p:cNvPr id="1466371" name="Picture 3" descr="2"/>
          <p:cNvPicPr>
            <a:picLocks noChangeAspect="1" noChangeArrowheads="1"/>
          </p:cNvPicPr>
          <p:nvPr/>
        </p:nvPicPr>
        <p:blipFill>
          <a:blip r:embed="rId3" cstate="print"/>
          <a:srcRect/>
          <a:stretch>
            <a:fillRect/>
          </a:stretch>
        </p:blipFill>
        <p:spPr bwMode="auto">
          <a:xfrm>
            <a:off x="0" y="782638"/>
            <a:ext cx="9144000" cy="3810000"/>
          </a:xfrm>
          <a:prstGeom prst="rect">
            <a:avLst/>
          </a:prstGeom>
          <a:noFill/>
        </p:spPr>
      </p:pic>
      <p:sp>
        <p:nvSpPr>
          <p:cNvPr id="1466372" name="Rectangle 4"/>
          <p:cNvSpPr>
            <a:spLocks noGrp="1" noChangeArrowheads="1"/>
          </p:cNvSpPr>
          <p:nvPr>
            <p:ph type="ctrTitle" sz="quarter"/>
          </p:nvPr>
        </p:nvSpPr>
        <p:spPr>
          <a:xfrm>
            <a:off x="647700" y="1392238"/>
            <a:ext cx="5303838" cy="1666875"/>
          </a:xfrm>
        </p:spPr>
        <p:txBody>
          <a:bodyPr/>
          <a:lstStyle>
            <a:lvl1pPr>
              <a:defRPr sz="4000">
                <a:solidFill>
                  <a:schemeClr val="bg1"/>
                </a:solidFill>
              </a:defRPr>
            </a:lvl1pPr>
          </a:lstStyle>
          <a:p>
            <a:r>
              <a:rPr lang="zh-CN" altLang="en-US" smtClean="0"/>
              <a:t>单击此处编辑母版标题样式</a:t>
            </a:r>
            <a:endParaRPr lang="zh-CN" altLang="en-US"/>
          </a:p>
        </p:txBody>
      </p:sp>
      <p:sp>
        <p:nvSpPr>
          <p:cNvPr id="1466375" name="Text Box 7"/>
          <p:cNvSpPr txBox="1">
            <a:spLocks noChangeArrowheads="1"/>
          </p:cNvSpPr>
          <p:nvPr/>
        </p:nvSpPr>
        <p:spPr bwMode="auto">
          <a:xfrm>
            <a:off x="7224713" y="4094163"/>
            <a:ext cx="1333500" cy="261937"/>
          </a:xfrm>
          <a:prstGeom prst="rect">
            <a:avLst/>
          </a:prstGeom>
          <a:noFill/>
          <a:ln w="9525">
            <a:noFill/>
            <a:miter lim="800000"/>
            <a:headEnd/>
            <a:tailEnd/>
          </a:ln>
        </p:spPr>
        <p:txBody>
          <a:bodyPr wrap="none" lIns="80101" tIns="40052" rIns="80101" bIns="40052">
            <a:spAutoFit/>
          </a:bodyPr>
          <a:lstStyle/>
          <a:p>
            <a:pPr defTabSz="801688" eaLnBrk="0" fontAlgn="base" hangingPunct="0"/>
            <a:r>
              <a:rPr lang="en-US" altLang="zh-CN" sz="1200">
                <a:solidFill>
                  <a:schemeClr val="bg1"/>
                </a:solidFill>
                <a:latin typeface="FrutigerNext LT Regular" pitchFamily="34" charset="0"/>
                <a:ea typeface="ＭＳ Ｐゴシック" pitchFamily="34" charset="-128"/>
              </a:rPr>
              <a:t>www.huawei.com</a:t>
            </a:r>
          </a:p>
        </p:txBody>
      </p:sp>
      <p:sp>
        <p:nvSpPr>
          <p:cNvPr id="1466378" name="Rectangle 10"/>
          <p:cNvSpPr>
            <a:spLocks noGrp="1" noChangeArrowheads="1"/>
          </p:cNvSpPr>
          <p:nvPr>
            <p:ph type="dt" sz="quarter" idx="2"/>
          </p:nvPr>
        </p:nvSpPr>
        <p:spPr bwMode="auto">
          <a:xfrm>
            <a:off x="684213" y="282575"/>
            <a:ext cx="2132012" cy="474663"/>
          </a:xfrm>
          <a:prstGeom prst="rect">
            <a:avLst/>
          </a:prstGeom>
          <a:noFill/>
          <a:ln>
            <a:miter lim="800000"/>
            <a:headEnd/>
            <a:tailEnd/>
          </a:ln>
        </p:spPr>
        <p:txBody>
          <a:bodyPr vert="horz" wrap="square" lIns="80114" tIns="40058" rIns="80114" bIns="40058" numCol="1" anchor="t" anchorCtr="0" compatLnSpc="1">
            <a:prstTxWarp prst="textNoShape">
              <a:avLst/>
            </a:prstTxWarp>
          </a:bodyPr>
          <a:lstStyle>
            <a:lvl1pPr defTabSz="801688" eaLnBrk="0" fontAlgn="base" hangingPunct="0">
              <a:defRPr sz="1300">
                <a:latin typeface="+mn-lt"/>
                <a:ea typeface="ＭＳ Ｐゴシック" pitchFamily="34" charset="-128"/>
              </a:defRPr>
            </a:lvl1pPr>
          </a:lstStyle>
          <a:p>
            <a:endParaRPr lang="en-US" altLang="zh-CN"/>
          </a:p>
        </p:txBody>
      </p:sp>
      <p:sp>
        <p:nvSpPr>
          <p:cNvPr id="1466382" name="Rectangle 14"/>
          <p:cNvSpPr>
            <a:spLocks noChangeArrowheads="1"/>
          </p:cNvSpPr>
          <p:nvPr/>
        </p:nvSpPr>
        <p:spPr bwMode="auto">
          <a:xfrm>
            <a:off x="655638" y="6207125"/>
            <a:ext cx="5017968" cy="265552"/>
          </a:xfrm>
          <a:prstGeom prst="rect">
            <a:avLst/>
          </a:prstGeom>
          <a:noFill/>
          <a:ln w="9525" algn="ctr">
            <a:noFill/>
            <a:miter lim="800000"/>
            <a:headEnd/>
            <a:tailEnd/>
          </a:ln>
          <a:effectLst/>
        </p:spPr>
        <p:txBody>
          <a:bodyPr wrap="none" lIns="80101" tIns="40052" rIns="80101" bIns="40052">
            <a:spAutoFit/>
          </a:bodyPr>
          <a:lstStyle/>
          <a:p>
            <a:pPr defTabSz="801688" eaLnBrk="0" fontAlgn="base" hangingPunct="0"/>
            <a:r>
              <a:rPr lang="en-US" altLang="zh-CN" sz="1200" dirty="0">
                <a:latin typeface="FrutigerNext LT Bold" pitchFamily="1" charset="0"/>
                <a:ea typeface="ＭＳ Ｐゴシック" pitchFamily="34" charset="-128"/>
              </a:rPr>
              <a:t>Copyright © </a:t>
            </a:r>
            <a:r>
              <a:rPr lang="en-US" altLang="zh-CN" sz="1200" dirty="0" smtClean="0">
                <a:latin typeface="FrutigerNext LT Bold" pitchFamily="1" charset="0"/>
                <a:ea typeface="ＭＳ Ｐゴシック" pitchFamily="34" charset="-128"/>
              </a:rPr>
              <a:t>2018 </a:t>
            </a:r>
            <a:r>
              <a:rPr lang="en-US" altLang="zh-CN" sz="1200" dirty="0">
                <a:latin typeface="FrutigerNext LT Bold" pitchFamily="1" charset="0"/>
                <a:ea typeface="ＭＳ Ｐゴシック" pitchFamily="34" charset="-128"/>
              </a:rPr>
              <a:t>Huawei Technologies Co., Ltd. All rights reserved. </a:t>
            </a:r>
          </a:p>
        </p:txBody>
      </p:sp>
      <p:sp>
        <p:nvSpPr>
          <p:cNvPr id="1466384" name="Text Box 16"/>
          <p:cNvSpPr txBox="1">
            <a:spLocks noChangeArrowheads="1"/>
          </p:cNvSpPr>
          <p:nvPr/>
        </p:nvSpPr>
        <p:spPr bwMode="auto">
          <a:xfrm>
            <a:off x="-1968500" y="1322388"/>
            <a:ext cx="1968500" cy="3752850"/>
          </a:xfrm>
          <a:prstGeom prst="rect">
            <a:avLst/>
          </a:prstGeom>
          <a:noFill/>
          <a:ln w="9525" algn="ctr">
            <a:noFill/>
            <a:miter lim="800000"/>
            <a:headEnd/>
            <a:tailEnd/>
          </a:ln>
          <a:effectLst/>
        </p:spPr>
        <p:txBody>
          <a:bodyPr lIns="80139" tIns="40069" rIns="80139" bIns="40069">
            <a:spAutoFit/>
          </a:bodyPr>
          <a:lstStyle/>
          <a:p>
            <a:pPr algn="r" defTabSz="801688" eaLnBrk="0" fontAlgn="base" hangingPunct="0">
              <a:lnSpc>
                <a:spcPct val="125000"/>
              </a:lnSpc>
            </a:pPr>
            <a:r>
              <a:rPr lang="zh-CN" altLang="en-US" sz="1100" dirty="0">
                <a:solidFill>
                  <a:schemeClr val="bg1"/>
                </a:solidFill>
              </a:rPr>
              <a:t>英文标题</a:t>
            </a:r>
            <a:r>
              <a:rPr lang="en-US" altLang="zh-CN" sz="1100" dirty="0">
                <a:solidFill>
                  <a:schemeClr val="bg1"/>
                </a:solidFill>
              </a:rPr>
              <a:t>:40-47pt  </a:t>
            </a:r>
          </a:p>
          <a:p>
            <a:pPr algn="r" defTabSz="801688" eaLnBrk="0" fontAlgn="base" hangingPunct="0">
              <a:lnSpc>
                <a:spcPct val="125000"/>
              </a:lnSpc>
            </a:pPr>
            <a:r>
              <a:rPr lang="zh-CN" altLang="en-US" sz="1100" dirty="0">
                <a:solidFill>
                  <a:schemeClr val="bg1"/>
                </a:solidFill>
              </a:rPr>
              <a:t>副标题</a:t>
            </a:r>
            <a:r>
              <a:rPr lang="en-US" altLang="zh-CN" sz="1100" dirty="0">
                <a:solidFill>
                  <a:schemeClr val="bg1"/>
                </a:solidFill>
              </a:rPr>
              <a:t>:26-30pt</a:t>
            </a:r>
          </a:p>
          <a:p>
            <a:pPr algn="r" defTabSz="801688" eaLnBrk="0" fontAlgn="base" hangingPunct="0">
              <a:lnSpc>
                <a:spcPct val="125000"/>
              </a:lnSpc>
            </a:pPr>
            <a:r>
              <a:rPr lang="zh-CN" altLang="en-US" sz="1100" dirty="0">
                <a:solidFill>
                  <a:schemeClr val="bg1"/>
                </a:solidFill>
              </a:rPr>
              <a:t>字体颜色</a:t>
            </a:r>
            <a:r>
              <a:rPr lang="en-US" altLang="zh-CN" sz="1100" dirty="0">
                <a:solidFill>
                  <a:schemeClr val="bg1"/>
                </a:solidFill>
              </a:rPr>
              <a:t>:</a:t>
            </a:r>
            <a:r>
              <a:rPr lang="zh-CN" altLang="en-US" sz="1100" dirty="0">
                <a:solidFill>
                  <a:schemeClr val="bg1"/>
                </a:solidFill>
              </a:rPr>
              <a:t>反白</a:t>
            </a:r>
          </a:p>
          <a:p>
            <a:pPr algn="r" defTabSz="801688" eaLnBrk="0" fontAlgn="base" hangingPunct="0">
              <a:lnSpc>
                <a:spcPct val="125000"/>
              </a:lnSpc>
            </a:pPr>
            <a:r>
              <a:rPr lang="zh-CN" altLang="en-US" sz="1100" dirty="0">
                <a:solidFill>
                  <a:schemeClr val="bg1"/>
                </a:solidFill>
              </a:rPr>
              <a:t>内部使用字体 </a:t>
            </a:r>
            <a:r>
              <a:rPr lang="en-US" altLang="zh-CN" sz="1100" dirty="0">
                <a:solidFill>
                  <a:schemeClr val="bg1"/>
                </a:solidFill>
              </a:rPr>
              <a:t>:</a:t>
            </a:r>
          </a:p>
          <a:p>
            <a:pPr algn="r" defTabSz="801688" eaLnBrk="0" fontAlgn="base" hangingPunct="0">
              <a:lnSpc>
                <a:spcPct val="125000"/>
              </a:lnSpc>
            </a:pPr>
            <a:r>
              <a:rPr lang="en-US" altLang="zh-CN" sz="1100" dirty="0" err="1">
                <a:solidFill>
                  <a:schemeClr val="bg1"/>
                </a:solidFill>
              </a:rPr>
              <a:t>FrutigerNext</a:t>
            </a:r>
            <a:r>
              <a:rPr lang="en-US" altLang="zh-CN" sz="1100" dirty="0">
                <a:solidFill>
                  <a:schemeClr val="bg1"/>
                </a:solidFill>
              </a:rPr>
              <a:t> LT Medium</a:t>
            </a:r>
          </a:p>
          <a:p>
            <a:pPr algn="r" defTabSz="801688" eaLnBrk="0" fontAlgn="base" hangingPunct="0">
              <a:lnSpc>
                <a:spcPct val="125000"/>
              </a:lnSpc>
            </a:pPr>
            <a:r>
              <a:rPr lang="zh-CN" altLang="en-US" sz="1100" dirty="0">
                <a:solidFill>
                  <a:schemeClr val="bg1"/>
                </a:solidFill>
              </a:rPr>
              <a:t>外部使用字体 </a:t>
            </a:r>
            <a:r>
              <a:rPr lang="en-US" altLang="zh-CN" sz="1100" dirty="0">
                <a:solidFill>
                  <a:schemeClr val="bg1"/>
                </a:solidFill>
              </a:rPr>
              <a:t>: Arial</a:t>
            </a:r>
          </a:p>
          <a:p>
            <a:pPr algn="r" defTabSz="801688" eaLnBrk="0" fontAlgn="base" hangingPunct="0">
              <a:lnSpc>
                <a:spcPct val="125000"/>
              </a:lnSpc>
            </a:pPr>
            <a:endParaRPr lang="en-US" altLang="zh-CN" sz="1100" dirty="0">
              <a:solidFill>
                <a:schemeClr val="bg1"/>
              </a:solidFill>
            </a:endParaRPr>
          </a:p>
          <a:p>
            <a:pPr algn="r" defTabSz="801688" eaLnBrk="0" fontAlgn="base" hangingPunct="0">
              <a:lnSpc>
                <a:spcPct val="125000"/>
              </a:lnSpc>
            </a:pPr>
            <a:endParaRPr lang="en-US" altLang="zh-CN" sz="1100" dirty="0">
              <a:solidFill>
                <a:schemeClr val="bg1"/>
              </a:solidFill>
            </a:endParaRPr>
          </a:p>
          <a:p>
            <a:pPr algn="r" defTabSz="801688" eaLnBrk="0" fontAlgn="base" hangingPunct="0">
              <a:lnSpc>
                <a:spcPct val="125000"/>
              </a:lnSpc>
            </a:pPr>
            <a:r>
              <a:rPr lang="zh-CN" altLang="en-US" sz="1100" dirty="0">
                <a:solidFill>
                  <a:schemeClr val="bg1"/>
                </a:solidFill>
              </a:rPr>
              <a:t>中文标题</a:t>
            </a:r>
            <a:r>
              <a:rPr lang="en-US" altLang="zh-CN" sz="1100" dirty="0">
                <a:solidFill>
                  <a:schemeClr val="bg1"/>
                </a:solidFill>
              </a:rPr>
              <a:t>:35-47pt</a:t>
            </a:r>
          </a:p>
          <a:p>
            <a:pPr algn="r" defTabSz="801688" eaLnBrk="0" fontAlgn="base" hangingPunct="0">
              <a:lnSpc>
                <a:spcPct val="125000"/>
              </a:lnSpc>
            </a:pPr>
            <a:r>
              <a:rPr lang="zh-CN" altLang="en-US" sz="1100" dirty="0">
                <a:solidFill>
                  <a:schemeClr val="bg1"/>
                </a:solidFill>
              </a:rPr>
              <a:t>字体</a:t>
            </a:r>
            <a:r>
              <a:rPr lang="en-US" altLang="zh-CN" sz="1100" dirty="0">
                <a:solidFill>
                  <a:schemeClr val="bg1"/>
                </a:solidFill>
              </a:rPr>
              <a:t>:</a:t>
            </a:r>
            <a:r>
              <a:rPr lang="zh-CN" altLang="en-US" sz="1100" dirty="0">
                <a:solidFill>
                  <a:schemeClr val="bg1"/>
                </a:solidFill>
              </a:rPr>
              <a:t>黑体</a:t>
            </a:r>
          </a:p>
          <a:p>
            <a:pPr algn="r" defTabSz="801688" eaLnBrk="0" fontAlgn="base" hangingPunct="0">
              <a:lnSpc>
                <a:spcPct val="125000"/>
              </a:lnSpc>
            </a:pPr>
            <a:r>
              <a:rPr lang="zh-CN" altLang="en-US" sz="1100" dirty="0">
                <a:solidFill>
                  <a:schemeClr val="bg1"/>
                </a:solidFill>
              </a:rPr>
              <a:t>  副标题</a:t>
            </a:r>
            <a:r>
              <a:rPr lang="en-US" altLang="zh-CN" sz="1100" dirty="0">
                <a:solidFill>
                  <a:schemeClr val="bg1"/>
                </a:solidFill>
              </a:rPr>
              <a:t>:24-28pt</a:t>
            </a:r>
          </a:p>
          <a:p>
            <a:pPr algn="r" defTabSz="801688" eaLnBrk="0" fontAlgn="base" hangingPunct="0">
              <a:lnSpc>
                <a:spcPct val="125000"/>
              </a:lnSpc>
            </a:pPr>
            <a:r>
              <a:rPr lang="zh-CN" altLang="en-US" sz="1100" dirty="0">
                <a:solidFill>
                  <a:schemeClr val="bg1"/>
                </a:solidFill>
              </a:rPr>
              <a:t>字体颜色</a:t>
            </a:r>
            <a:r>
              <a:rPr lang="en-US" altLang="zh-CN" sz="1100" dirty="0">
                <a:solidFill>
                  <a:schemeClr val="bg1"/>
                </a:solidFill>
              </a:rPr>
              <a:t>:</a:t>
            </a:r>
            <a:r>
              <a:rPr lang="zh-CN" altLang="en-US" sz="1100" dirty="0">
                <a:solidFill>
                  <a:schemeClr val="bg1"/>
                </a:solidFill>
              </a:rPr>
              <a:t>反白</a:t>
            </a:r>
          </a:p>
          <a:p>
            <a:pPr algn="r" defTabSz="801688" eaLnBrk="0" fontAlgn="base" hangingPunct="0">
              <a:lnSpc>
                <a:spcPct val="125000"/>
              </a:lnSpc>
            </a:pPr>
            <a:r>
              <a:rPr lang="zh-CN" altLang="en-US" sz="1100" dirty="0">
                <a:solidFill>
                  <a:schemeClr val="bg1"/>
                </a:solidFill>
              </a:rPr>
              <a:t>字体</a:t>
            </a:r>
            <a:r>
              <a:rPr lang="en-US" altLang="zh-CN" sz="1100" dirty="0">
                <a:solidFill>
                  <a:schemeClr val="bg1"/>
                </a:solidFill>
              </a:rPr>
              <a:t>:</a:t>
            </a:r>
            <a:r>
              <a:rPr lang="zh-CN" altLang="en-US" sz="1100" dirty="0">
                <a:solidFill>
                  <a:schemeClr val="bg1"/>
                </a:solidFill>
              </a:rPr>
              <a:t>细黑体</a:t>
            </a:r>
          </a:p>
          <a:p>
            <a:pPr algn="r" defTabSz="801688" eaLnBrk="0" fontAlgn="base" hangingPunct="0">
              <a:lnSpc>
                <a:spcPct val="125000"/>
              </a:lnSpc>
            </a:pPr>
            <a:endParaRPr lang="zh-CN" altLang="en-US" sz="1100" dirty="0">
              <a:solidFill>
                <a:schemeClr val="bg1"/>
              </a:solidFill>
            </a:endParaRPr>
          </a:p>
          <a:p>
            <a:pPr algn="r" defTabSz="801688" eaLnBrk="0" fontAlgn="base" hangingPunct="0">
              <a:lnSpc>
                <a:spcPct val="125000"/>
              </a:lnSpc>
            </a:pPr>
            <a:endParaRPr lang="zh-CN" altLang="en-US" sz="1100" dirty="0">
              <a:solidFill>
                <a:schemeClr val="bg1"/>
              </a:solidFill>
            </a:endParaRPr>
          </a:p>
          <a:p>
            <a:pPr algn="r" defTabSz="801688" eaLnBrk="0" fontAlgn="base" hangingPunct="0">
              <a:lnSpc>
                <a:spcPct val="125000"/>
              </a:lnSpc>
            </a:pPr>
            <a:endParaRPr lang="zh-CN" altLang="en-US" sz="1100" dirty="0">
              <a:solidFill>
                <a:schemeClr val="bg1"/>
              </a:solidFill>
            </a:endParaRPr>
          </a:p>
          <a:p>
            <a:pPr algn="r" defTabSz="801688" eaLnBrk="0" fontAlgn="base" hangingPunct="0">
              <a:lnSpc>
                <a:spcPct val="125000"/>
              </a:lnSpc>
              <a:spcBef>
                <a:spcPct val="50000"/>
              </a:spcBef>
            </a:pPr>
            <a:endParaRPr lang="en-US" altLang="zh-CN" sz="1100"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灯片编号占位符 3"/>
          <p:cNvSpPr>
            <a:spLocks noGrp="1"/>
          </p:cNvSpPr>
          <p:nvPr>
            <p:ph type="sldNum" sz="quarter" idx="10"/>
          </p:nvPr>
        </p:nvSpPr>
        <p:spPr/>
        <p:txBody>
          <a:bodyPr/>
          <a:lstStyle>
            <a:lvl1pPr>
              <a:defRPr/>
            </a:lvl1pPr>
          </a:lstStyle>
          <a:p>
            <a:r>
              <a:rPr lang="en-US" altLang="zh-CN"/>
              <a:t>Page</a:t>
            </a:r>
            <a:fld id="{B77D227A-1AE4-4BCD-9973-754D0181BA73}" type="slidenum">
              <a:rPr lang="en-US" altLang="zh-CN"/>
              <a:pPr/>
              <a:t>‹#›</a:t>
            </a:fld>
            <a:endParaRPr lang="en-US" altLang="zh-CN"/>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52463" y="1376363"/>
            <a:ext cx="3887787" cy="4195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92650" y="1376363"/>
            <a:ext cx="3889375" cy="4195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灯片编号占位符 4"/>
          <p:cNvSpPr>
            <a:spLocks noGrp="1"/>
          </p:cNvSpPr>
          <p:nvPr>
            <p:ph type="sldNum" sz="quarter" idx="10"/>
          </p:nvPr>
        </p:nvSpPr>
        <p:spPr/>
        <p:txBody>
          <a:bodyPr/>
          <a:lstStyle>
            <a:lvl1pPr>
              <a:defRPr/>
            </a:lvl1pPr>
          </a:lstStyle>
          <a:p>
            <a:r>
              <a:rPr lang="en-US" altLang="zh-CN"/>
              <a:t>Page</a:t>
            </a:r>
            <a:fld id="{4C256DB5-389A-4FB4-B099-F703EC060353}" type="slidenum">
              <a:rPr lang="en-US" altLang="zh-CN"/>
              <a:pPr/>
              <a:t>‹#›</a:t>
            </a:fld>
            <a:endParaRPr lang="en-US" altLang="zh-CN"/>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灯片编号占位符 6"/>
          <p:cNvSpPr>
            <a:spLocks noGrp="1"/>
          </p:cNvSpPr>
          <p:nvPr>
            <p:ph type="sldNum" sz="quarter" idx="10"/>
          </p:nvPr>
        </p:nvSpPr>
        <p:spPr/>
        <p:txBody>
          <a:bodyPr/>
          <a:lstStyle>
            <a:lvl1pPr>
              <a:defRPr/>
            </a:lvl1pPr>
          </a:lstStyle>
          <a:p>
            <a:r>
              <a:rPr lang="en-US" altLang="zh-CN"/>
              <a:t>Page</a:t>
            </a:r>
            <a:fld id="{AE9EA312-83E9-45C8-B799-C8003D9C901B}" type="slidenum">
              <a:rPr lang="en-US" altLang="zh-CN"/>
              <a:pPr/>
              <a:t>‹#›</a:t>
            </a:fld>
            <a:endParaRPr lang="en-US" altLang="zh-CN"/>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lstStyle>
            <a:lvl1pPr>
              <a:defRPr/>
            </a:lvl1pPr>
          </a:lstStyle>
          <a:p>
            <a:r>
              <a:rPr lang="en-US" altLang="zh-CN"/>
              <a:t>Page</a:t>
            </a:r>
            <a:fld id="{09F8CA13-6817-4D26-B6E5-2EECD94D1A30}" type="slidenum">
              <a:rPr lang="en-US" altLang="zh-CN"/>
              <a:pPr/>
              <a:t>‹#›</a:t>
            </a:fld>
            <a:endParaRPr lang="en-US" altLang="zh-CN"/>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lvl1pPr>
              <a:defRPr/>
            </a:lvl1pPr>
          </a:lstStyle>
          <a:p>
            <a:r>
              <a:rPr lang="en-US" altLang="zh-CN"/>
              <a:t>Page</a:t>
            </a:r>
            <a:fld id="{DBB3C000-297E-4DA1-B17C-94F96E9CD7D1}" type="slidenum">
              <a:rPr lang="en-US" altLang="zh-CN"/>
              <a:pPr/>
              <a:t>‹#›</a:t>
            </a:fld>
            <a:endParaRPr lang="en-US" altLang="zh-CN"/>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theme" Target="../theme/theme2.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465346" name="Picture 2" descr="7"/>
          <p:cNvPicPr>
            <a:picLocks noChangeAspect="1" noChangeArrowheads="1"/>
          </p:cNvPicPr>
          <p:nvPr/>
        </p:nvPicPr>
        <p:blipFill>
          <a:blip r:embed="rId8" cstate="print"/>
          <a:srcRect/>
          <a:stretch>
            <a:fillRect/>
          </a:stretch>
        </p:blipFill>
        <p:spPr bwMode="auto">
          <a:xfrm>
            <a:off x="0" y="6221413"/>
            <a:ext cx="9142413" cy="636587"/>
          </a:xfrm>
          <a:prstGeom prst="rect">
            <a:avLst/>
          </a:prstGeom>
          <a:noFill/>
        </p:spPr>
      </p:pic>
      <p:pic>
        <p:nvPicPr>
          <p:cNvPr id="1465348" name="Picture 4" descr="8"/>
          <p:cNvPicPr>
            <a:picLocks noChangeAspect="1" noChangeArrowheads="1"/>
          </p:cNvPicPr>
          <p:nvPr/>
        </p:nvPicPr>
        <p:blipFill>
          <a:blip r:embed="rId9" cstate="print"/>
          <a:srcRect/>
          <a:stretch>
            <a:fillRect/>
          </a:stretch>
        </p:blipFill>
        <p:spPr bwMode="auto">
          <a:xfrm>
            <a:off x="7508875" y="6399213"/>
            <a:ext cx="1311275" cy="314325"/>
          </a:xfrm>
          <a:prstGeom prst="rect">
            <a:avLst/>
          </a:prstGeom>
          <a:noFill/>
        </p:spPr>
      </p:pic>
      <p:sp>
        <p:nvSpPr>
          <p:cNvPr id="1465350" name="Rectangle 6"/>
          <p:cNvSpPr>
            <a:spLocks noGrp="1" noChangeArrowheads="1"/>
          </p:cNvSpPr>
          <p:nvPr>
            <p:ph type="title"/>
          </p:nvPr>
        </p:nvSpPr>
        <p:spPr bwMode="auto">
          <a:xfrm>
            <a:off x="641350" y="358775"/>
            <a:ext cx="7731125" cy="868363"/>
          </a:xfrm>
          <a:prstGeom prst="rect">
            <a:avLst/>
          </a:prstGeom>
          <a:noFill/>
          <a:ln w="9525">
            <a:noFill/>
            <a:miter lim="800000"/>
            <a:headEnd/>
            <a:tailEnd/>
          </a:ln>
          <a:effectLst/>
        </p:spPr>
        <p:txBody>
          <a:bodyPr vert="horz" wrap="square" lIns="80114" tIns="40058" rIns="80114" bIns="40058" numCol="1" anchor="ctr" anchorCtr="0" compatLnSpc="1">
            <a:prstTxWarp prst="textNoShape">
              <a:avLst/>
            </a:prstTxWarp>
          </a:bodyPr>
          <a:lstStyle/>
          <a:p>
            <a:pPr lvl="0"/>
            <a:r>
              <a:rPr lang="zh-CN" altLang="en-US" smtClean="0"/>
              <a:t>单击此处编辑母版标题样式</a:t>
            </a:r>
          </a:p>
        </p:txBody>
      </p:sp>
      <p:sp>
        <p:nvSpPr>
          <p:cNvPr id="1465394" name="Rectangle 50"/>
          <p:cNvSpPr>
            <a:spLocks noGrp="1" noChangeArrowheads="1"/>
          </p:cNvSpPr>
          <p:nvPr>
            <p:ph type="body" idx="1"/>
          </p:nvPr>
        </p:nvSpPr>
        <p:spPr bwMode="auto">
          <a:xfrm>
            <a:off x="652463" y="1376363"/>
            <a:ext cx="7929562" cy="4195762"/>
          </a:xfrm>
          <a:prstGeom prst="rect">
            <a:avLst/>
          </a:prstGeom>
          <a:noFill/>
          <a:ln w="9525">
            <a:noFill/>
            <a:miter lim="800000"/>
            <a:headEnd/>
            <a:tailEnd/>
          </a:ln>
          <a:effectLst/>
        </p:spPr>
        <p:txBody>
          <a:bodyPr vert="horz" wrap="square" lIns="80127" tIns="40065" rIns="80127" bIns="40065"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465398" name="Rectangle 54"/>
          <p:cNvSpPr>
            <a:spLocks noChangeArrowheads="1"/>
          </p:cNvSpPr>
          <p:nvPr/>
        </p:nvSpPr>
        <p:spPr bwMode="auto">
          <a:xfrm>
            <a:off x="655638" y="6451600"/>
            <a:ext cx="5017968" cy="265552"/>
          </a:xfrm>
          <a:prstGeom prst="rect">
            <a:avLst/>
          </a:prstGeom>
          <a:noFill/>
          <a:ln w="9525" algn="ctr">
            <a:noFill/>
            <a:miter lim="800000"/>
            <a:headEnd/>
            <a:tailEnd/>
          </a:ln>
          <a:effectLst/>
        </p:spPr>
        <p:txBody>
          <a:bodyPr wrap="none" lIns="80101" tIns="40052" rIns="80101" bIns="40052">
            <a:spAutoFit/>
          </a:bodyPr>
          <a:lstStyle/>
          <a:p>
            <a:pPr defTabSz="801688" eaLnBrk="0" fontAlgn="base" hangingPunct="0"/>
            <a:r>
              <a:rPr lang="en-US" altLang="zh-CN" sz="1200" dirty="0">
                <a:latin typeface="FrutigerNext LT Bold" pitchFamily="1" charset="0"/>
                <a:ea typeface="ＭＳ Ｐゴシック" pitchFamily="34" charset="-128"/>
              </a:rPr>
              <a:t>Copyright © </a:t>
            </a:r>
            <a:r>
              <a:rPr lang="en-US" altLang="zh-CN" sz="1200" dirty="0" smtClean="0">
                <a:latin typeface="FrutigerNext LT Bold" pitchFamily="1" charset="0"/>
                <a:ea typeface="ＭＳ Ｐゴシック" pitchFamily="34" charset="-128"/>
              </a:rPr>
              <a:t>2018 </a:t>
            </a:r>
            <a:r>
              <a:rPr lang="en-US" altLang="zh-CN" sz="1200" dirty="0">
                <a:latin typeface="FrutigerNext LT Bold" pitchFamily="1" charset="0"/>
                <a:ea typeface="ＭＳ Ｐゴシック" pitchFamily="34" charset="-128"/>
              </a:rPr>
              <a:t>Huawei Technologies Co., Ltd. All rights reserved. </a:t>
            </a:r>
          </a:p>
        </p:txBody>
      </p:sp>
      <p:sp>
        <p:nvSpPr>
          <p:cNvPr id="1465402" name="Rectangle 58"/>
          <p:cNvSpPr>
            <a:spLocks noChangeArrowheads="1"/>
          </p:cNvSpPr>
          <p:nvPr/>
        </p:nvSpPr>
        <p:spPr bwMode="auto">
          <a:xfrm>
            <a:off x="-1908175" y="528638"/>
            <a:ext cx="1844675" cy="5307012"/>
          </a:xfrm>
          <a:prstGeom prst="rect">
            <a:avLst/>
          </a:prstGeom>
          <a:noFill/>
          <a:ln w="9525">
            <a:noFill/>
            <a:miter lim="800000"/>
            <a:headEnd/>
            <a:tailEnd/>
          </a:ln>
          <a:effectLst/>
        </p:spPr>
        <p:txBody>
          <a:bodyPr lIns="80124" tIns="40063" rIns="80124" bIns="40063"/>
          <a:lstStyle/>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英文标题</a:t>
            </a:r>
            <a:r>
              <a:rPr lang="en-US" altLang="zh-CN" sz="1100" dirty="0">
                <a:solidFill>
                  <a:schemeClr val="bg1"/>
                </a:solidFill>
              </a:rPr>
              <a:t>:32-35pt  </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颜色</a:t>
            </a:r>
            <a:r>
              <a:rPr lang="en-US" altLang="zh-CN" sz="1100" dirty="0">
                <a:solidFill>
                  <a:schemeClr val="bg1"/>
                </a:solidFill>
              </a:rPr>
              <a:t>: R153 G0 B0</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latin typeface="FrutigerNext LT Regular" pitchFamily="34" charset="0"/>
              </a:rPr>
              <a:t>内部使用字体 </a:t>
            </a:r>
            <a:r>
              <a:rPr lang="en-US" altLang="zh-CN" sz="1100" dirty="0">
                <a:solidFill>
                  <a:schemeClr val="bg1"/>
                </a:solidFill>
                <a:latin typeface="FrutigerNext LT Regular" pitchFamily="34" charset="0"/>
              </a:rPr>
              <a:t>:</a:t>
            </a:r>
          </a:p>
          <a:p>
            <a:pPr algn="r" defTabSz="801688" fontAlgn="base">
              <a:lnSpc>
                <a:spcPct val="105000"/>
              </a:lnSpc>
              <a:spcBef>
                <a:spcPct val="30000"/>
              </a:spcBef>
              <a:buClr>
                <a:srgbClr val="808080"/>
              </a:buClr>
              <a:buSzPct val="60000"/>
              <a:buFont typeface="Wingdings" pitchFamily="2" charset="2"/>
              <a:buNone/>
            </a:pPr>
            <a:r>
              <a:rPr lang="en-US" altLang="zh-CN" sz="1100" dirty="0" err="1">
                <a:solidFill>
                  <a:schemeClr val="bg1"/>
                </a:solidFill>
                <a:latin typeface="FrutigerNext LT Regular" pitchFamily="34" charset="0"/>
              </a:rPr>
              <a:t>FrutigerNext</a:t>
            </a:r>
            <a:r>
              <a:rPr lang="en-US" altLang="zh-CN" sz="1100" dirty="0">
                <a:solidFill>
                  <a:schemeClr val="bg1"/>
                </a:solidFill>
                <a:latin typeface="FrutigerNext LT Regular" pitchFamily="34" charset="0"/>
              </a:rPr>
              <a:t> LT Medium</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latin typeface="FrutigerNext LT Regular" pitchFamily="34" charset="0"/>
              </a:rPr>
              <a:t>外部使用字体 </a:t>
            </a:r>
            <a:r>
              <a:rPr lang="en-US" altLang="zh-CN" sz="1100" dirty="0">
                <a:solidFill>
                  <a:schemeClr val="bg1"/>
                </a:solidFill>
                <a:latin typeface="FrutigerNext LT Regular" pitchFamily="34" charset="0"/>
              </a:rPr>
              <a:t>: Arial</a:t>
            </a:r>
          </a:p>
          <a:p>
            <a:pPr algn="r" defTabSz="801688" fontAlgn="base">
              <a:lnSpc>
                <a:spcPct val="105000"/>
              </a:lnSpc>
              <a:spcBef>
                <a:spcPct val="30000"/>
              </a:spcBef>
              <a:buClr>
                <a:srgbClr val="808080"/>
              </a:buClr>
              <a:buSzPct val="60000"/>
              <a:buFont typeface="Wingdings" pitchFamily="2" charset="2"/>
              <a:buNone/>
            </a:pPr>
            <a:endParaRPr lang="en-US" altLang="zh-CN"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中文标题</a:t>
            </a:r>
            <a:r>
              <a:rPr lang="en-US" altLang="zh-CN" sz="1100" dirty="0">
                <a:solidFill>
                  <a:schemeClr val="bg1"/>
                </a:solidFill>
              </a:rPr>
              <a:t>:30-32pt  </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颜色</a:t>
            </a:r>
            <a:r>
              <a:rPr lang="en-US" altLang="zh-CN" sz="1100" dirty="0">
                <a:solidFill>
                  <a:schemeClr val="bg1"/>
                </a:solidFill>
              </a:rPr>
              <a:t>: R153 G0 B0</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字体</a:t>
            </a:r>
            <a:r>
              <a:rPr lang="en-US" altLang="zh-CN" sz="1100" dirty="0">
                <a:solidFill>
                  <a:schemeClr val="bg1"/>
                </a:solidFill>
              </a:rPr>
              <a:t>:</a:t>
            </a:r>
            <a:r>
              <a:rPr lang="zh-CN" altLang="en-US" sz="1100" dirty="0">
                <a:solidFill>
                  <a:schemeClr val="bg1"/>
                </a:solidFill>
              </a:rPr>
              <a:t>黑体</a:t>
            </a:r>
          </a:p>
          <a:p>
            <a:pPr algn="r" defTabSz="801688" fontAlgn="base">
              <a:lnSpc>
                <a:spcPct val="105000"/>
              </a:lnSpc>
              <a:spcBef>
                <a:spcPct val="30000"/>
              </a:spcBef>
              <a:buClr>
                <a:srgbClr val="808080"/>
              </a:buClr>
              <a:buSzPct val="60000"/>
              <a:buFont typeface="Wingdings" pitchFamily="2" charset="2"/>
              <a:buNone/>
            </a:pPr>
            <a:endParaRPr lang="zh-CN" altLang="en-US"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endParaRPr lang="zh-CN" altLang="en-US"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endParaRPr lang="zh-CN" altLang="en-US"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英文正文</a:t>
            </a:r>
            <a:r>
              <a:rPr lang="en-US" altLang="zh-CN" sz="1100" dirty="0">
                <a:solidFill>
                  <a:schemeClr val="bg1"/>
                </a:solidFill>
              </a:rPr>
              <a:t>:20-22pt</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子目录 </a:t>
            </a:r>
            <a:r>
              <a:rPr lang="en-US" altLang="zh-CN" sz="1100" dirty="0">
                <a:solidFill>
                  <a:schemeClr val="bg1"/>
                </a:solidFill>
              </a:rPr>
              <a:t>(2-5</a:t>
            </a:r>
            <a:r>
              <a:rPr lang="zh-CN" altLang="en-US" sz="1100" dirty="0">
                <a:solidFill>
                  <a:schemeClr val="bg1"/>
                </a:solidFill>
              </a:rPr>
              <a:t>级</a:t>
            </a:r>
            <a:r>
              <a:rPr lang="en-US" altLang="zh-CN" sz="1100" dirty="0">
                <a:solidFill>
                  <a:schemeClr val="bg1"/>
                </a:solidFill>
              </a:rPr>
              <a:t>) :18pt  </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颜色</a:t>
            </a:r>
            <a:r>
              <a:rPr lang="en-US" altLang="zh-CN" sz="1100" dirty="0">
                <a:solidFill>
                  <a:schemeClr val="bg1"/>
                </a:solidFill>
              </a:rPr>
              <a:t>:</a:t>
            </a:r>
            <a:r>
              <a:rPr lang="zh-CN" altLang="en-US" sz="1100" dirty="0">
                <a:solidFill>
                  <a:schemeClr val="bg1"/>
                </a:solidFill>
              </a:rPr>
              <a:t>黑色</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latin typeface="FrutigerNext LT Regular" pitchFamily="34" charset="0"/>
              </a:rPr>
              <a:t>内部使用字体 </a:t>
            </a:r>
            <a:r>
              <a:rPr lang="en-US" altLang="zh-CN" sz="1100" dirty="0">
                <a:solidFill>
                  <a:schemeClr val="bg1"/>
                </a:solidFill>
                <a:latin typeface="FrutigerNext LT Regular" pitchFamily="34" charset="0"/>
              </a:rPr>
              <a:t>:</a:t>
            </a:r>
          </a:p>
          <a:p>
            <a:pPr algn="r" defTabSz="801688" fontAlgn="base">
              <a:lnSpc>
                <a:spcPct val="105000"/>
              </a:lnSpc>
              <a:spcBef>
                <a:spcPct val="30000"/>
              </a:spcBef>
              <a:buClr>
                <a:srgbClr val="808080"/>
              </a:buClr>
              <a:buSzPct val="60000"/>
              <a:buFont typeface="Wingdings" pitchFamily="2" charset="2"/>
              <a:buNone/>
            </a:pPr>
            <a:r>
              <a:rPr lang="en-US" altLang="zh-CN" sz="1100" dirty="0" err="1">
                <a:solidFill>
                  <a:schemeClr val="bg1"/>
                </a:solidFill>
                <a:latin typeface="FrutigerNext LT Regular" pitchFamily="34" charset="0"/>
              </a:rPr>
              <a:t>FrutigerNext</a:t>
            </a:r>
            <a:r>
              <a:rPr lang="en-US" altLang="zh-CN" sz="1100" dirty="0">
                <a:solidFill>
                  <a:schemeClr val="bg1"/>
                </a:solidFill>
                <a:latin typeface="FrutigerNext LT Regular" pitchFamily="34" charset="0"/>
              </a:rPr>
              <a:t> LT Regular</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latin typeface="FrutigerNext LT Regular" pitchFamily="34" charset="0"/>
              </a:rPr>
              <a:t>外部使用字体 </a:t>
            </a:r>
            <a:r>
              <a:rPr lang="en-US" altLang="zh-CN" sz="1100" dirty="0">
                <a:solidFill>
                  <a:schemeClr val="bg1"/>
                </a:solidFill>
                <a:latin typeface="FrutigerNext LT Regular" pitchFamily="34" charset="0"/>
              </a:rPr>
              <a:t>: Arial</a:t>
            </a:r>
          </a:p>
          <a:p>
            <a:pPr algn="r" defTabSz="801688" fontAlgn="base">
              <a:lnSpc>
                <a:spcPct val="105000"/>
              </a:lnSpc>
              <a:spcBef>
                <a:spcPct val="30000"/>
              </a:spcBef>
              <a:buClr>
                <a:srgbClr val="808080"/>
              </a:buClr>
              <a:buSzPct val="60000"/>
              <a:buFont typeface="Wingdings" pitchFamily="2" charset="2"/>
              <a:buNone/>
            </a:pPr>
            <a:endParaRPr lang="en-US" altLang="zh-CN"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中文正文</a:t>
            </a:r>
            <a:r>
              <a:rPr lang="en-US" altLang="zh-CN" sz="1100" dirty="0">
                <a:solidFill>
                  <a:schemeClr val="bg1"/>
                </a:solidFill>
              </a:rPr>
              <a:t>:18-20pt</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子目录</a:t>
            </a:r>
            <a:r>
              <a:rPr lang="en-US" altLang="zh-CN" sz="1100" dirty="0">
                <a:solidFill>
                  <a:schemeClr val="bg1"/>
                </a:solidFill>
              </a:rPr>
              <a:t>(2-5</a:t>
            </a:r>
            <a:r>
              <a:rPr lang="zh-CN" altLang="en-US" sz="1100" dirty="0">
                <a:solidFill>
                  <a:schemeClr val="bg1"/>
                </a:solidFill>
              </a:rPr>
              <a:t>级</a:t>
            </a:r>
            <a:r>
              <a:rPr lang="en-US" altLang="zh-CN" sz="1100" dirty="0">
                <a:solidFill>
                  <a:schemeClr val="bg1"/>
                </a:solidFill>
              </a:rPr>
              <a:t>):18pt </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颜色</a:t>
            </a:r>
            <a:r>
              <a:rPr lang="en-US" altLang="zh-CN" sz="1100" dirty="0">
                <a:solidFill>
                  <a:schemeClr val="bg1"/>
                </a:solidFill>
              </a:rPr>
              <a:t>:</a:t>
            </a:r>
            <a:r>
              <a:rPr lang="zh-CN" altLang="en-US" sz="1100" dirty="0">
                <a:solidFill>
                  <a:schemeClr val="bg1"/>
                </a:solidFill>
              </a:rPr>
              <a:t>黑色</a:t>
            </a:r>
          </a:p>
          <a:p>
            <a:pPr algn="r" defTabSz="801688" fontAlgn="base">
              <a:lnSpc>
                <a:spcPct val="105000"/>
              </a:lnSpc>
              <a:spcBef>
                <a:spcPct val="30000"/>
              </a:spcBef>
              <a:buClr>
                <a:srgbClr val="808080"/>
              </a:buClr>
              <a:buSzPct val="60000"/>
              <a:buFont typeface="Wingdings" pitchFamily="2" charset="2"/>
              <a:buNone/>
            </a:pPr>
            <a:r>
              <a:rPr lang="zh-CN" altLang="en-US" sz="1100" dirty="0">
                <a:solidFill>
                  <a:schemeClr val="bg1"/>
                </a:solidFill>
              </a:rPr>
              <a:t>字体</a:t>
            </a:r>
            <a:r>
              <a:rPr lang="en-US" altLang="zh-CN" sz="1100" dirty="0">
                <a:solidFill>
                  <a:schemeClr val="bg1"/>
                </a:solidFill>
              </a:rPr>
              <a:t>:</a:t>
            </a:r>
            <a:r>
              <a:rPr lang="zh-CN" altLang="en-US" sz="1100" dirty="0">
                <a:solidFill>
                  <a:schemeClr val="bg1"/>
                </a:solidFill>
              </a:rPr>
              <a:t>细黑体 </a:t>
            </a:r>
          </a:p>
          <a:p>
            <a:pPr algn="r" defTabSz="801688" fontAlgn="base">
              <a:lnSpc>
                <a:spcPct val="105000"/>
              </a:lnSpc>
              <a:spcBef>
                <a:spcPct val="30000"/>
              </a:spcBef>
              <a:buClr>
                <a:srgbClr val="808080"/>
              </a:buClr>
              <a:buSzPct val="60000"/>
              <a:buFont typeface="Wingdings" pitchFamily="2" charset="2"/>
              <a:buNone/>
            </a:pPr>
            <a:endParaRPr lang="zh-CN" altLang="en-US"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endParaRPr lang="zh-CN" altLang="en-US"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endParaRPr lang="zh-CN" altLang="en-US"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endParaRPr lang="zh-CN" altLang="en-US" sz="1100" dirty="0">
              <a:solidFill>
                <a:schemeClr val="bg1"/>
              </a:solidFill>
            </a:endParaRPr>
          </a:p>
          <a:p>
            <a:pPr algn="r" defTabSz="801688" fontAlgn="base">
              <a:lnSpc>
                <a:spcPct val="105000"/>
              </a:lnSpc>
              <a:spcBef>
                <a:spcPct val="30000"/>
              </a:spcBef>
              <a:buClr>
                <a:srgbClr val="808080"/>
              </a:buClr>
              <a:buSzPct val="60000"/>
              <a:buFont typeface="Wingdings" pitchFamily="2" charset="2"/>
              <a:buNone/>
            </a:pPr>
            <a:endParaRPr lang="en-US" altLang="zh-CN" sz="1100" dirty="0"/>
          </a:p>
        </p:txBody>
      </p:sp>
      <p:sp>
        <p:nvSpPr>
          <p:cNvPr id="1465403" name="Rectangle 59"/>
          <p:cNvSpPr>
            <a:spLocks noChangeArrowheads="1"/>
          </p:cNvSpPr>
          <p:nvPr/>
        </p:nvSpPr>
        <p:spPr bwMode="auto">
          <a:xfrm>
            <a:off x="9199563" y="1423988"/>
            <a:ext cx="1049337" cy="2005012"/>
          </a:xfrm>
          <a:prstGeom prst="rect">
            <a:avLst/>
          </a:prstGeom>
          <a:noFill/>
          <a:ln w="9525">
            <a:noFill/>
            <a:miter lim="800000"/>
            <a:headEnd/>
            <a:tailEnd/>
          </a:ln>
          <a:effectLst/>
        </p:spPr>
        <p:txBody>
          <a:bodyPr lIns="80124" tIns="40063" rIns="80124" bIns="40063"/>
          <a:lstStyle/>
          <a:p>
            <a:pPr defTabSz="801688" fontAlgn="base">
              <a:lnSpc>
                <a:spcPct val="120000"/>
              </a:lnSpc>
              <a:spcBef>
                <a:spcPct val="30000"/>
              </a:spcBef>
              <a:buClr>
                <a:srgbClr val="808080"/>
              </a:buClr>
              <a:buSzPct val="60000"/>
              <a:buFont typeface="Wingdings" pitchFamily="2" charset="2"/>
              <a:buNone/>
            </a:pPr>
            <a:r>
              <a:rPr lang="zh-CN" altLang="en-US" sz="1100">
                <a:solidFill>
                  <a:schemeClr val="bg1"/>
                </a:solidFill>
                <a:latin typeface="华文细黑" pitchFamily="2" charset="-122"/>
              </a:rPr>
              <a:t>配色参考方案：</a:t>
            </a:r>
          </a:p>
          <a:p>
            <a:pPr defTabSz="801688" fontAlgn="base">
              <a:lnSpc>
                <a:spcPct val="120000"/>
              </a:lnSpc>
              <a:spcBef>
                <a:spcPct val="30000"/>
              </a:spcBef>
              <a:buClr>
                <a:srgbClr val="808080"/>
              </a:buClr>
              <a:buSzPct val="60000"/>
              <a:buFont typeface="Wingdings" pitchFamily="2" charset="2"/>
              <a:buNone/>
            </a:pPr>
            <a:r>
              <a:rPr lang="zh-CN" altLang="en-US" sz="1100">
                <a:solidFill>
                  <a:schemeClr val="bg1"/>
                </a:solidFill>
                <a:latin typeface="华文细黑" pitchFamily="2" charset="-122"/>
              </a:rPr>
              <a:t>建议同一页面内不超过四种颜色，以下是</a:t>
            </a:r>
            <a:r>
              <a:rPr lang="en-US" altLang="zh-CN" sz="1100">
                <a:solidFill>
                  <a:schemeClr val="bg1"/>
                </a:solidFill>
                <a:latin typeface="华文细黑" pitchFamily="2" charset="-122"/>
              </a:rPr>
              <a:t>13</a:t>
            </a:r>
            <a:r>
              <a:rPr lang="zh-CN" altLang="en-US" sz="1100">
                <a:solidFill>
                  <a:schemeClr val="bg1"/>
                </a:solidFill>
                <a:latin typeface="华文细黑" pitchFamily="2" charset="-122"/>
              </a:rPr>
              <a:t>组配色方案，同一页面内只选择一组使用。（仅供参考）</a:t>
            </a:r>
          </a:p>
          <a:p>
            <a:pPr defTabSz="801688" fontAlgn="base">
              <a:lnSpc>
                <a:spcPct val="125000"/>
              </a:lnSpc>
              <a:spcBef>
                <a:spcPct val="30000"/>
              </a:spcBef>
              <a:buClr>
                <a:srgbClr val="808080"/>
              </a:buClr>
              <a:buSzPct val="60000"/>
              <a:buFont typeface="Wingdings" pitchFamily="2" charset="2"/>
              <a:buNone/>
            </a:pPr>
            <a:endParaRPr lang="zh-CN" altLang="en-US" sz="1100">
              <a:solidFill>
                <a:schemeClr val="bg1"/>
              </a:solidFill>
              <a:latin typeface="华文细黑" pitchFamily="2" charset="-122"/>
            </a:endParaRPr>
          </a:p>
          <a:p>
            <a:pPr defTabSz="801688" fontAlgn="base">
              <a:lnSpc>
                <a:spcPct val="125000"/>
              </a:lnSpc>
              <a:spcBef>
                <a:spcPct val="30000"/>
              </a:spcBef>
              <a:buClr>
                <a:srgbClr val="808080"/>
              </a:buClr>
              <a:buSzPct val="60000"/>
              <a:buFont typeface="Wingdings" pitchFamily="2" charset="2"/>
              <a:buChar char="l"/>
            </a:pPr>
            <a:endParaRPr lang="zh-CN" altLang="en-US" sz="1100">
              <a:solidFill>
                <a:schemeClr val="bg1"/>
              </a:solidFill>
              <a:latin typeface="华文细黑" pitchFamily="2" charset="-122"/>
            </a:endParaRPr>
          </a:p>
          <a:p>
            <a:pPr defTabSz="801688" fontAlgn="base">
              <a:lnSpc>
                <a:spcPct val="125000"/>
              </a:lnSpc>
              <a:spcBef>
                <a:spcPct val="30000"/>
              </a:spcBef>
              <a:buClr>
                <a:srgbClr val="808080"/>
              </a:buClr>
              <a:buSzPct val="60000"/>
              <a:buFont typeface="Wingdings" pitchFamily="2" charset="2"/>
              <a:buChar char="l"/>
            </a:pPr>
            <a:endParaRPr lang="en-US" altLang="zh-CN" sz="1100">
              <a:solidFill>
                <a:schemeClr val="bg1"/>
              </a:solidFill>
              <a:latin typeface="华文细黑" pitchFamily="2" charset="-122"/>
            </a:endParaRPr>
          </a:p>
        </p:txBody>
      </p:sp>
      <p:sp>
        <p:nvSpPr>
          <p:cNvPr id="1465404" name="Rectangle 60"/>
          <p:cNvSpPr>
            <a:spLocks noChangeArrowheads="1"/>
          </p:cNvSpPr>
          <p:nvPr/>
        </p:nvSpPr>
        <p:spPr bwMode="auto">
          <a:xfrm>
            <a:off x="9199563" y="-61913"/>
            <a:ext cx="1049337" cy="838201"/>
          </a:xfrm>
          <a:prstGeom prst="rect">
            <a:avLst/>
          </a:prstGeom>
          <a:noFill/>
          <a:ln w="9525">
            <a:noFill/>
            <a:miter lim="800000"/>
            <a:headEnd/>
            <a:tailEnd/>
          </a:ln>
          <a:effectLst/>
        </p:spPr>
        <p:txBody>
          <a:bodyPr lIns="80124" tIns="40063" rIns="80124" bIns="40063"/>
          <a:lstStyle/>
          <a:p>
            <a:pPr defTabSz="801688" fontAlgn="base">
              <a:lnSpc>
                <a:spcPct val="120000"/>
              </a:lnSpc>
              <a:spcBef>
                <a:spcPct val="30000"/>
              </a:spcBef>
              <a:buClr>
                <a:srgbClr val="808080"/>
              </a:buClr>
              <a:buSzPct val="60000"/>
              <a:buFont typeface="Wingdings" pitchFamily="2" charset="2"/>
              <a:buNone/>
            </a:pPr>
            <a:r>
              <a:rPr lang="zh-CN" altLang="en-US" sz="1100">
                <a:solidFill>
                  <a:schemeClr val="bg1"/>
                </a:solidFill>
                <a:latin typeface="华文细黑" pitchFamily="2" charset="-122"/>
              </a:rPr>
              <a:t>客户或者合作伙伴的标志放在右上角</a:t>
            </a:r>
            <a:r>
              <a:rPr lang="en-US" altLang="zh-CN" sz="1100">
                <a:solidFill>
                  <a:schemeClr val="bg1"/>
                </a:solidFill>
                <a:latin typeface="华文细黑" pitchFamily="2" charset="-122"/>
              </a:rPr>
              <a:t>.</a:t>
            </a:r>
          </a:p>
          <a:p>
            <a:pPr defTabSz="801688" fontAlgn="base">
              <a:lnSpc>
                <a:spcPct val="125000"/>
              </a:lnSpc>
              <a:spcBef>
                <a:spcPct val="30000"/>
              </a:spcBef>
              <a:buClr>
                <a:srgbClr val="808080"/>
              </a:buClr>
              <a:buSzPct val="60000"/>
              <a:buFont typeface="Wingdings" pitchFamily="2" charset="2"/>
              <a:buNone/>
            </a:pPr>
            <a:endParaRPr lang="en-US" altLang="zh-CN" sz="1100">
              <a:solidFill>
                <a:schemeClr val="bg1"/>
              </a:solidFill>
              <a:latin typeface="华文细黑" pitchFamily="2" charset="-122"/>
            </a:endParaRPr>
          </a:p>
          <a:p>
            <a:pPr defTabSz="801688" fontAlgn="base">
              <a:lnSpc>
                <a:spcPct val="125000"/>
              </a:lnSpc>
              <a:spcBef>
                <a:spcPct val="30000"/>
              </a:spcBef>
              <a:buClr>
                <a:srgbClr val="808080"/>
              </a:buClr>
              <a:buSzPct val="60000"/>
              <a:buFont typeface="Wingdings" pitchFamily="2" charset="2"/>
              <a:buChar char="l"/>
            </a:pPr>
            <a:endParaRPr lang="en-US" altLang="zh-CN" sz="1100">
              <a:solidFill>
                <a:schemeClr val="bg1"/>
              </a:solidFill>
              <a:latin typeface="华文细黑" pitchFamily="2" charset="-122"/>
            </a:endParaRPr>
          </a:p>
          <a:p>
            <a:pPr defTabSz="801688" fontAlgn="base">
              <a:lnSpc>
                <a:spcPct val="125000"/>
              </a:lnSpc>
              <a:spcBef>
                <a:spcPct val="30000"/>
              </a:spcBef>
              <a:buClr>
                <a:srgbClr val="808080"/>
              </a:buClr>
              <a:buSzPct val="60000"/>
              <a:buFont typeface="Wingdings" pitchFamily="2" charset="2"/>
              <a:buChar char="l"/>
            </a:pPr>
            <a:endParaRPr lang="en-US" altLang="zh-CN" sz="1100">
              <a:solidFill>
                <a:schemeClr val="bg1"/>
              </a:solidFill>
              <a:latin typeface="华文细黑" pitchFamily="2" charset="-122"/>
            </a:endParaRPr>
          </a:p>
        </p:txBody>
      </p:sp>
      <p:sp>
        <p:nvSpPr>
          <p:cNvPr id="1465405" name="Rectangle 61"/>
          <p:cNvSpPr>
            <a:spLocks noChangeArrowheads="1"/>
          </p:cNvSpPr>
          <p:nvPr/>
        </p:nvSpPr>
        <p:spPr bwMode="auto">
          <a:xfrm>
            <a:off x="9269413" y="3429000"/>
            <a:ext cx="919162" cy="3490913"/>
          </a:xfrm>
          <a:prstGeom prst="rect">
            <a:avLst/>
          </a:prstGeom>
          <a:solidFill>
            <a:schemeClr val="bg1"/>
          </a:solidFill>
          <a:ln w="9525" algn="ctr">
            <a:noFill/>
            <a:miter lim="800000"/>
            <a:headEnd/>
            <a:tailEnd/>
          </a:ln>
          <a:effectLst/>
        </p:spPr>
        <p:txBody>
          <a:bodyPr lIns="91425" tIns="45712" rIns="91425" bIns="45712" anchor="ctr">
            <a:spAutoFit/>
          </a:bodyPr>
          <a:lstStyle/>
          <a:p>
            <a:endParaRPr lang="zh-CN" altLang="en-US"/>
          </a:p>
        </p:txBody>
      </p:sp>
      <p:grpSp>
        <p:nvGrpSpPr>
          <p:cNvPr id="1465406" name="Group 62"/>
          <p:cNvGrpSpPr>
            <a:grpSpLocks/>
          </p:cNvGrpSpPr>
          <p:nvPr/>
        </p:nvGrpSpPr>
        <p:grpSpPr bwMode="auto">
          <a:xfrm>
            <a:off x="9355138" y="3789363"/>
            <a:ext cx="739775" cy="182562"/>
            <a:chOff x="5893" y="2387"/>
            <a:chExt cx="466" cy="115"/>
          </a:xfrm>
        </p:grpSpPr>
        <p:sp>
          <p:nvSpPr>
            <p:cNvPr id="1465407" name="Rectangle 63"/>
            <p:cNvSpPr>
              <a:spLocks noChangeArrowheads="1"/>
            </p:cNvSpPr>
            <p:nvPr userDrawn="1"/>
          </p:nvSpPr>
          <p:spPr bwMode="auto">
            <a:xfrm flipV="1">
              <a:off x="6010" y="2387"/>
              <a:ext cx="116" cy="115"/>
            </a:xfrm>
            <a:prstGeom prst="rect">
              <a:avLst/>
            </a:prstGeom>
            <a:solidFill>
              <a:srgbClr val="FFCC66"/>
            </a:solidFill>
            <a:ln w="9525">
              <a:noFill/>
              <a:miter lim="800000"/>
              <a:headEnd/>
              <a:tailEnd/>
            </a:ln>
            <a:effectLst/>
          </p:spPr>
          <p:txBody>
            <a:bodyPr wrap="none" anchor="ctr"/>
            <a:lstStyle/>
            <a:p>
              <a:endParaRPr lang="zh-CN" altLang="en-US"/>
            </a:p>
          </p:txBody>
        </p:sp>
        <p:sp>
          <p:nvSpPr>
            <p:cNvPr id="1465408" name="Rectangle 64"/>
            <p:cNvSpPr>
              <a:spLocks noChangeArrowheads="1"/>
            </p:cNvSpPr>
            <p:nvPr userDrawn="1"/>
          </p:nvSpPr>
          <p:spPr bwMode="auto">
            <a:xfrm flipV="1">
              <a:off x="6126" y="2387"/>
              <a:ext cx="116" cy="115"/>
            </a:xfrm>
            <a:prstGeom prst="rect">
              <a:avLst/>
            </a:prstGeom>
            <a:solidFill>
              <a:srgbClr val="FF9900"/>
            </a:solidFill>
            <a:ln w="9525">
              <a:noFill/>
              <a:miter lim="800000"/>
              <a:headEnd/>
              <a:tailEnd/>
            </a:ln>
            <a:effectLst/>
          </p:spPr>
          <p:txBody>
            <a:bodyPr wrap="none" anchor="ctr"/>
            <a:lstStyle/>
            <a:p>
              <a:endParaRPr lang="zh-CN" altLang="en-US"/>
            </a:p>
          </p:txBody>
        </p:sp>
        <p:sp>
          <p:nvSpPr>
            <p:cNvPr id="1465409" name="Rectangle 65"/>
            <p:cNvSpPr>
              <a:spLocks noChangeArrowheads="1"/>
            </p:cNvSpPr>
            <p:nvPr userDrawn="1"/>
          </p:nvSpPr>
          <p:spPr bwMode="auto">
            <a:xfrm flipV="1">
              <a:off x="6242" y="2387"/>
              <a:ext cx="117" cy="115"/>
            </a:xfrm>
            <a:prstGeom prst="rect">
              <a:avLst/>
            </a:prstGeom>
            <a:solidFill>
              <a:srgbClr val="99660A"/>
            </a:solidFill>
            <a:ln w="9525">
              <a:noFill/>
              <a:miter lim="800000"/>
              <a:headEnd/>
              <a:tailEnd/>
            </a:ln>
            <a:effectLst/>
          </p:spPr>
          <p:txBody>
            <a:bodyPr wrap="none" anchor="ctr"/>
            <a:lstStyle/>
            <a:p>
              <a:endParaRPr lang="zh-CN" altLang="en-US"/>
            </a:p>
          </p:txBody>
        </p:sp>
        <p:sp>
          <p:nvSpPr>
            <p:cNvPr id="1465410" name="Rectangle 66"/>
            <p:cNvSpPr>
              <a:spLocks noChangeArrowheads="1"/>
            </p:cNvSpPr>
            <p:nvPr userDrawn="1"/>
          </p:nvSpPr>
          <p:spPr bwMode="auto">
            <a:xfrm flipV="1">
              <a:off x="5893" y="2387"/>
              <a:ext cx="117" cy="115"/>
            </a:xfrm>
            <a:prstGeom prst="rect">
              <a:avLst/>
            </a:prstGeom>
            <a:solidFill>
              <a:srgbClr val="FFCC99"/>
            </a:solidFill>
            <a:ln w="9525">
              <a:noFill/>
              <a:miter lim="800000"/>
              <a:headEnd/>
              <a:tailEnd/>
            </a:ln>
            <a:effectLst/>
          </p:spPr>
          <p:txBody>
            <a:bodyPr wrap="none" anchor="ctr"/>
            <a:lstStyle/>
            <a:p>
              <a:endParaRPr lang="zh-CN" altLang="en-US"/>
            </a:p>
          </p:txBody>
        </p:sp>
      </p:grpSp>
      <p:grpSp>
        <p:nvGrpSpPr>
          <p:cNvPr id="1465411" name="Group 67"/>
          <p:cNvGrpSpPr>
            <a:grpSpLocks/>
          </p:cNvGrpSpPr>
          <p:nvPr/>
        </p:nvGrpSpPr>
        <p:grpSpPr bwMode="auto">
          <a:xfrm>
            <a:off x="9355138" y="4005263"/>
            <a:ext cx="739775" cy="182562"/>
            <a:chOff x="5893" y="2523"/>
            <a:chExt cx="466" cy="115"/>
          </a:xfrm>
        </p:grpSpPr>
        <p:sp>
          <p:nvSpPr>
            <p:cNvPr id="1465412" name="Rectangle 68"/>
            <p:cNvSpPr>
              <a:spLocks noChangeArrowheads="1"/>
            </p:cNvSpPr>
            <p:nvPr userDrawn="1"/>
          </p:nvSpPr>
          <p:spPr bwMode="auto">
            <a:xfrm flipV="1">
              <a:off x="6010" y="2523"/>
              <a:ext cx="116" cy="115"/>
            </a:xfrm>
            <a:prstGeom prst="rect">
              <a:avLst/>
            </a:prstGeom>
            <a:solidFill>
              <a:srgbClr val="99CCFF"/>
            </a:solidFill>
            <a:ln w="9525">
              <a:noFill/>
              <a:miter lim="800000"/>
              <a:headEnd/>
              <a:tailEnd/>
            </a:ln>
            <a:effectLst/>
          </p:spPr>
          <p:txBody>
            <a:bodyPr wrap="none" anchor="ctr"/>
            <a:lstStyle/>
            <a:p>
              <a:endParaRPr lang="zh-CN" altLang="en-US"/>
            </a:p>
          </p:txBody>
        </p:sp>
        <p:sp>
          <p:nvSpPr>
            <p:cNvPr id="1465413" name="Rectangle 69"/>
            <p:cNvSpPr>
              <a:spLocks noChangeArrowheads="1"/>
            </p:cNvSpPr>
            <p:nvPr userDrawn="1"/>
          </p:nvSpPr>
          <p:spPr bwMode="auto">
            <a:xfrm flipV="1">
              <a:off x="6126" y="2523"/>
              <a:ext cx="116" cy="115"/>
            </a:xfrm>
            <a:prstGeom prst="rect">
              <a:avLst/>
            </a:prstGeom>
            <a:solidFill>
              <a:srgbClr val="99CCCC"/>
            </a:solidFill>
            <a:ln w="9525">
              <a:noFill/>
              <a:miter lim="800000"/>
              <a:headEnd/>
              <a:tailEnd/>
            </a:ln>
            <a:effectLst/>
          </p:spPr>
          <p:txBody>
            <a:bodyPr wrap="none" anchor="ctr"/>
            <a:lstStyle/>
            <a:p>
              <a:endParaRPr lang="zh-CN" altLang="en-US"/>
            </a:p>
          </p:txBody>
        </p:sp>
        <p:sp>
          <p:nvSpPr>
            <p:cNvPr id="1465414" name="Rectangle 70"/>
            <p:cNvSpPr>
              <a:spLocks noChangeArrowheads="1"/>
            </p:cNvSpPr>
            <p:nvPr userDrawn="1"/>
          </p:nvSpPr>
          <p:spPr bwMode="auto">
            <a:xfrm flipV="1">
              <a:off x="6242" y="2523"/>
              <a:ext cx="117" cy="115"/>
            </a:xfrm>
            <a:prstGeom prst="rect">
              <a:avLst/>
            </a:prstGeom>
            <a:solidFill>
              <a:srgbClr val="009999"/>
            </a:solidFill>
            <a:ln w="9525">
              <a:noFill/>
              <a:miter lim="800000"/>
              <a:headEnd/>
              <a:tailEnd/>
            </a:ln>
            <a:effectLst/>
          </p:spPr>
          <p:txBody>
            <a:bodyPr wrap="none" anchor="ctr"/>
            <a:lstStyle/>
            <a:p>
              <a:endParaRPr lang="zh-CN" altLang="en-US"/>
            </a:p>
          </p:txBody>
        </p:sp>
        <p:sp>
          <p:nvSpPr>
            <p:cNvPr id="1465415" name="Rectangle 71"/>
            <p:cNvSpPr>
              <a:spLocks noChangeArrowheads="1"/>
            </p:cNvSpPr>
            <p:nvPr userDrawn="1"/>
          </p:nvSpPr>
          <p:spPr bwMode="auto">
            <a:xfrm flipV="1">
              <a:off x="5893" y="2523"/>
              <a:ext cx="117" cy="115"/>
            </a:xfrm>
            <a:prstGeom prst="rect">
              <a:avLst/>
            </a:prstGeom>
            <a:solidFill>
              <a:srgbClr val="CCCCFF"/>
            </a:solidFill>
            <a:ln w="9525">
              <a:noFill/>
              <a:miter lim="800000"/>
              <a:headEnd/>
              <a:tailEnd/>
            </a:ln>
            <a:effectLst/>
          </p:spPr>
          <p:txBody>
            <a:bodyPr wrap="none" anchor="ctr"/>
            <a:lstStyle/>
            <a:p>
              <a:endParaRPr lang="zh-CN" altLang="en-US"/>
            </a:p>
          </p:txBody>
        </p:sp>
      </p:grpSp>
      <p:grpSp>
        <p:nvGrpSpPr>
          <p:cNvPr id="1465416" name="Group 72"/>
          <p:cNvGrpSpPr>
            <a:grpSpLocks/>
          </p:cNvGrpSpPr>
          <p:nvPr/>
        </p:nvGrpSpPr>
        <p:grpSpPr bwMode="auto">
          <a:xfrm>
            <a:off x="9355138" y="4221163"/>
            <a:ext cx="739775" cy="182562"/>
            <a:chOff x="5893" y="2659"/>
            <a:chExt cx="466" cy="115"/>
          </a:xfrm>
        </p:grpSpPr>
        <p:sp>
          <p:nvSpPr>
            <p:cNvPr id="1465417" name="Rectangle 73"/>
            <p:cNvSpPr>
              <a:spLocks noChangeArrowheads="1"/>
            </p:cNvSpPr>
            <p:nvPr userDrawn="1"/>
          </p:nvSpPr>
          <p:spPr bwMode="auto">
            <a:xfrm flipV="1">
              <a:off x="6010" y="2659"/>
              <a:ext cx="116" cy="115"/>
            </a:xfrm>
            <a:prstGeom prst="rect">
              <a:avLst/>
            </a:prstGeom>
            <a:solidFill>
              <a:srgbClr val="99CCCC"/>
            </a:solidFill>
            <a:ln w="9525">
              <a:noFill/>
              <a:miter lim="800000"/>
              <a:headEnd/>
              <a:tailEnd/>
            </a:ln>
            <a:effectLst/>
          </p:spPr>
          <p:txBody>
            <a:bodyPr wrap="none" anchor="ctr"/>
            <a:lstStyle/>
            <a:p>
              <a:endParaRPr lang="zh-CN" altLang="en-US"/>
            </a:p>
          </p:txBody>
        </p:sp>
        <p:sp>
          <p:nvSpPr>
            <p:cNvPr id="1465418" name="Rectangle 74"/>
            <p:cNvSpPr>
              <a:spLocks noChangeArrowheads="1"/>
            </p:cNvSpPr>
            <p:nvPr userDrawn="1"/>
          </p:nvSpPr>
          <p:spPr bwMode="auto">
            <a:xfrm flipV="1">
              <a:off x="6126" y="2659"/>
              <a:ext cx="116" cy="115"/>
            </a:xfrm>
            <a:prstGeom prst="rect">
              <a:avLst/>
            </a:prstGeom>
            <a:solidFill>
              <a:srgbClr val="0099CC"/>
            </a:solidFill>
            <a:ln w="9525">
              <a:noFill/>
              <a:miter lim="800000"/>
              <a:headEnd/>
              <a:tailEnd/>
            </a:ln>
            <a:effectLst/>
          </p:spPr>
          <p:txBody>
            <a:bodyPr wrap="none" anchor="ctr"/>
            <a:lstStyle/>
            <a:p>
              <a:endParaRPr lang="zh-CN" altLang="en-US"/>
            </a:p>
          </p:txBody>
        </p:sp>
        <p:sp>
          <p:nvSpPr>
            <p:cNvPr id="1465419" name="Rectangle 75"/>
            <p:cNvSpPr>
              <a:spLocks noChangeArrowheads="1"/>
            </p:cNvSpPr>
            <p:nvPr userDrawn="1"/>
          </p:nvSpPr>
          <p:spPr bwMode="auto">
            <a:xfrm flipV="1">
              <a:off x="6242" y="2659"/>
              <a:ext cx="117" cy="115"/>
            </a:xfrm>
            <a:prstGeom prst="rect">
              <a:avLst/>
            </a:prstGeom>
            <a:solidFill>
              <a:srgbClr val="006699"/>
            </a:solidFill>
            <a:ln w="9525">
              <a:noFill/>
              <a:miter lim="800000"/>
              <a:headEnd/>
              <a:tailEnd/>
            </a:ln>
            <a:effectLst/>
          </p:spPr>
          <p:txBody>
            <a:bodyPr wrap="none" anchor="ctr"/>
            <a:lstStyle/>
            <a:p>
              <a:endParaRPr lang="zh-CN" altLang="en-US"/>
            </a:p>
          </p:txBody>
        </p:sp>
        <p:sp>
          <p:nvSpPr>
            <p:cNvPr id="1465420" name="Rectangle 76"/>
            <p:cNvSpPr>
              <a:spLocks noChangeArrowheads="1"/>
            </p:cNvSpPr>
            <p:nvPr userDrawn="1"/>
          </p:nvSpPr>
          <p:spPr bwMode="auto">
            <a:xfrm flipV="1">
              <a:off x="5893" y="2659"/>
              <a:ext cx="117" cy="115"/>
            </a:xfrm>
            <a:prstGeom prst="rect">
              <a:avLst/>
            </a:prstGeom>
            <a:solidFill>
              <a:srgbClr val="CCFF99"/>
            </a:solidFill>
            <a:ln w="9525">
              <a:noFill/>
              <a:miter lim="800000"/>
              <a:headEnd/>
              <a:tailEnd/>
            </a:ln>
            <a:effectLst/>
          </p:spPr>
          <p:txBody>
            <a:bodyPr wrap="none" anchor="ctr"/>
            <a:lstStyle/>
            <a:p>
              <a:endParaRPr lang="zh-CN" altLang="en-US"/>
            </a:p>
          </p:txBody>
        </p:sp>
      </p:grpSp>
      <p:grpSp>
        <p:nvGrpSpPr>
          <p:cNvPr id="1465421" name="Group 77"/>
          <p:cNvGrpSpPr>
            <a:grpSpLocks/>
          </p:cNvGrpSpPr>
          <p:nvPr/>
        </p:nvGrpSpPr>
        <p:grpSpPr bwMode="auto">
          <a:xfrm>
            <a:off x="9355138" y="3573463"/>
            <a:ext cx="739775" cy="188912"/>
            <a:chOff x="5893" y="2251"/>
            <a:chExt cx="466" cy="119"/>
          </a:xfrm>
        </p:grpSpPr>
        <p:sp>
          <p:nvSpPr>
            <p:cNvPr id="1465422" name="Rectangle 78"/>
            <p:cNvSpPr>
              <a:spLocks noChangeArrowheads="1"/>
            </p:cNvSpPr>
            <p:nvPr userDrawn="1"/>
          </p:nvSpPr>
          <p:spPr bwMode="auto">
            <a:xfrm flipV="1">
              <a:off x="6126" y="2251"/>
              <a:ext cx="116" cy="119"/>
            </a:xfrm>
            <a:prstGeom prst="rect">
              <a:avLst/>
            </a:prstGeom>
            <a:solidFill>
              <a:srgbClr val="FF9900"/>
            </a:solidFill>
            <a:ln w="9525">
              <a:noFill/>
              <a:miter lim="800000"/>
              <a:headEnd/>
              <a:tailEnd/>
            </a:ln>
            <a:effectLst/>
          </p:spPr>
          <p:txBody>
            <a:bodyPr wrap="none" anchor="ctr"/>
            <a:lstStyle/>
            <a:p>
              <a:endParaRPr lang="zh-CN" altLang="en-US"/>
            </a:p>
          </p:txBody>
        </p:sp>
        <p:sp>
          <p:nvSpPr>
            <p:cNvPr id="1465423" name="Rectangle 79"/>
            <p:cNvSpPr>
              <a:spLocks noChangeArrowheads="1"/>
            </p:cNvSpPr>
            <p:nvPr userDrawn="1"/>
          </p:nvSpPr>
          <p:spPr bwMode="auto">
            <a:xfrm flipV="1">
              <a:off x="6242" y="2251"/>
              <a:ext cx="117" cy="119"/>
            </a:xfrm>
            <a:prstGeom prst="rect">
              <a:avLst/>
            </a:prstGeom>
            <a:solidFill>
              <a:srgbClr val="CCCCCC"/>
            </a:solidFill>
            <a:ln w="9525">
              <a:noFill/>
              <a:miter lim="800000"/>
              <a:headEnd/>
              <a:tailEnd/>
            </a:ln>
            <a:effectLst/>
          </p:spPr>
          <p:txBody>
            <a:bodyPr wrap="none" anchor="ctr"/>
            <a:lstStyle/>
            <a:p>
              <a:endParaRPr lang="zh-CN" altLang="en-US"/>
            </a:p>
          </p:txBody>
        </p:sp>
        <p:sp>
          <p:nvSpPr>
            <p:cNvPr id="1465424" name="Rectangle 80"/>
            <p:cNvSpPr>
              <a:spLocks noChangeArrowheads="1"/>
            </p:cNvSpPr>
            <p:nvPr userDrawn="1"/>
          </p:nvSpPr>
          <p:spPr bwMode="auto">
            <a:xfrm flipV="1">
              <a:off x="5893" y="2251"/>
              <a:ext cx="117" cy="119"/>
            </a:xfrm>
            <a:prstGeom prst="rect">
              <a:avLst/>
            </a:prstGeom>
            <a:solidFill>
              <a:srgbClr val="99CCFF"/>
            </a:solidFill>
            <a:ln w="9525">
              <a:noFill/>
              <a:miter lim="800000"/>
              <a:headEnd/>
              <a:tailEnd/>
            </a:ln>
            <a:effectLst/>
          </p:spPr>
          <p:txBody>
            <a:bodyPr wrap="none" anchor="ctr"/>
            <a:lstStyle/>
            <a:p>
              <a:endParaRPr lang="zh-CN" altLang="en-US"/>
            </a:p>
          </p:txBody>
        </p:sp>
        <p:sp>
          <p:nvSpPr>
            <p:cNvPr id="1465425" name="Rectangle 81"/>
            <p:cNvSpPr>
              <a:spLocks noChangeArrowheads="1"/>
            </p:cNvSpPr>
            <p:nvPr userDrawn="1"/>
          </p:nvSpPr>
          <p:spPr bwMode="auto">
            <a:xfrm flipV="1">
              <a:off x="6010" y="2251"/>
              <a:ext cx="116" cy="119"/>
            </a:xfrm>
            <a:prstGeom prst="rect">
              <a:avLst/>
            </a:prstGeom>
            <a:solidFill>
              <a:srgbClr val="669900"/>
            </a:solidFill>
            <a:ln w="9525">
              <a:noFill/>
              <a:miter lim="800000"/>
              <a:headEnd/>
              <a:tailEnd/>
            </a:ln>
            <a:effectLst/>
          </p:spPr>
          <p:txBody>
            <a:bodyPr wrap="none" anchor="ctr"/>
            <a:lstStyle/>
            <a:p>
              <a:endParaRPr lang="zh-CN" altLang="en-US"/>
            </a:p>
          </p:txBody>
        </p:sp>
      </p:grpSp>
      <p:grpSp>
        <p:nvGrpSpPr>
          <p:cNvPr id="1465426" name="Group 82"/>
          <p:cNvGrpSpPr>
            <a:grpSpLocks/>
          </p:cNvGrpSpPr>
          <p:nvPr/>
        </p:nvGrpSpPr>
        <p:grpSpPr bwMode="auto">
          <a:xfrm>
            <a:off x="9355138" y="4581525"/>
            <a:ext cx="739775" cy="182563"/>
            <a:chOff x="5893" y="2886"/>
            <a:chExt cx="466" cy="115"/>
          </a:xfrm>
        </p:grpSpPr>
        <p:sp>
          <p:nvSpPr>
            <p:cNvPr id="1465427" name="Rectangle 83"/>
            <p:cNvSpPr>
              <a:spLocks noChangeArrowheads="1"/>
            </p:cNvSpPr>
            <p:nvPr userDrawn="1"/>
          </p:nvSpPr>
          <p:spPr bwMode="auto">
            <a:xfrm flipV="1">
              <a:off x="6010" y="2886"/>
              <a:ext cx="116" cy="115"/>
            </a:xfrm>
            <a:prstGeom prst="rect">
              <a:avLst/>
            </a:prstGeom>
            <a:solidFill>
              <a:srgbClr val="FF9900"/>
            </a:solidFill>
            <a:ln w="9525">
              <a:noFill/>
              <a:miter lim="800000"/>
              <a:headEnd/>
              <a:tailEnd/>
            </a:ln>
            <a:effectLst/>
          </p:spPr>
          <p:txBody>
            <a:bodyPr wrap="none" anchor="ctr"/>
            <a:lstStyle/>
            <a:p>
              <a:endParaRPr lang="zh-CN" altLang="en-US"/>
            </a:p>
          </p:txBody>
        </p:sp>
        <p:sp>
          <p:nvSpPr>
            <p:cNvPr id="1465428" name="Rectangle 84"/>
            <p:cNvSpPr>
              <a:spLocks noChangeArrowheads="1"/>
            </p:cNvSpPr>
            <p:nvPr userDrawn="1"/>
          </p:nvSpPr>
          <p:spPr bwMode="auto">
            <a:xfrm flipV="1">
              <a:off x="6126" y="2886"/>
              <a:ext cx="116" cy="115"/>
            </a:xfrm>
            <a:prstGeom prst="rect">
              <a:avLst/>
            </a:prstGeom>
            <a:solidFill>
              <a:srgbClr val="FFCC99"/>
            </a:solidFill>
            <a:ln w="9525">
              <a:noFill/>
              <a:miter lim="800000"/>
              <a:headEnd/>
              <a:tailEnd/>
            </a:ln>
            <a:effectLst/>
          </p:spPr>
          <p:txBody>
            <a:bodyPr wrap="none" anchor="ctr"/>
            <a:lstStyle/>
            <a:p>
              <a:endParaRPr lang="zh-CN" altLang="en-US"/>
            </a:p>
          </p:txBody>
        </p:sp>
        <p:sp>
          <p:nvSpPr>
            <p:cNvPr id="1465429" name="Rectangle 85"/>
            <p:cNvSpPr>
              <a:spLocks noChangeArrowheads="1"/>
            </p:cNvSpPr>
            <p:nvPr userDrawn="1"/>
          </p:nvSpPr>
          <p:spPr bwMode="auto">
            <a:xfrm flipV="1">
              <a:off x="6242" y="2886"/>
              <a:ext cx="117" cy="115"/>
            </a:xfrm>
            <a:prstGeom prst="rect">
              <a:avLst/>
            </a:prstGeom>
            <a:solidFill>
              <a:srgbClr val="FFCC66"/>
            </a:solidFill>
            <a:ln w="9525">
              <a:noFill/>
              <a:miter lim="800000"/>
              <a:headEnd/>
              <a:tailEnd/>
            </a:ln>
            <a:effectLst/>
          </p:spPr>
          <p:txBody>
            <a:bodyPr wrap="none" anchor="ctr"/>
            <a:lstStyle/>
            <a:p>
              <a:endParaRPr lang="zh-CN" altLang="en-US"/>
            </a:p>
          </p:txBody>
        </p:sp>
        <p:sp>
          <p:nvSpPr>
            <p:cNvPr id="1465430" name="Rectangle 86"/>
            <p:cNvSpPr>
              <a:spLocks noChangeArrowheads="1"/>
            </p:cNvSpPr>
            <p:nvPr userDrawn="1"/>
          </p:nvSpPr>
          <p:spPr bwMode="auto">
            <a:xfrm flipV="1">
              <a:off x="5893" y="2886"/>
              <a:ext cx="117" cy="115"/>
            </a:xfrm>
            <a:prstGeom prst="rect">
              <a:avLst/>
            </a:prstGeom>
            <a:solidFill>
              <a:schemeClr val="tx2"/>
            </a:solidFill>
            <a:ln w="9525">
              <a:noFill/>
              <a:miter lim="800000"/>
              <a:headEnd/>
              <a:tailEnd/>
            </a:ln>
            <a:effectLst/>
          </p:spPr>
          <p:txBody>
            <a:bodyPr wrap="none" anchor="ctr"/>
            <a:lstStyle/>
            <a:p>
              <a:endParaRPr lang="zh-CN" altLang="en-US"/>
            </a:p>
          </p:txBody>
        </p:sp>
      </p:grpSp>
      <p:grpSp>
        <p:nvGrpSpPr>
          <p:cNvPr id="1465431" name="Group 87"/>
          <p:cNvGrpSpPr>
            <a:grpSpLocks/>
          </p:cNvGrpSpPr>
          <p:nvPr/>
        </p:nvGrpSpPr>
        <p:grpSpPr bwMode="auto">
          <a:xfrm>
            <a:off x="9355138" y="4797425"/>
            <a:ext cx="739775" cy="182563"/>
            <a:chOff x="5893" y="3022"/>
            <a:chExt cx="466" cy="115"/>
          </a:xfrm>
        </p:grpSpPr>
        <p:sp>
          <p:nvSpPr>
            <p:cNvPr id="1465432" name="Rectangle 88"/>
            <p:cNvSpPr>
              <a:spLocks noChangeArrowheads="1"/>
            </p:cNvSpPr>
            <p:nvPr userDrawn="1"/>
          </p:nvSpPr>
          <p:spPr bwMode="auto">
            <a:xfrm flipV="1">
              <a:off x="6010" y="3022"/>
              <a:ext cx="116" cy="115"/>
            </a:xfrm>
            <a:prstGeom prst="rect">
              <a:avLst/>
            </a:prstGeom>
            <a:solidFill>
              <a:srgbClr val="006699"/>
            </a:solidFill>
            <a:ln w="9525">
              <a:noFill/>
              <a:miter lim="800000"/>
              <a:headEnd/>
              <a:tailEnd/>
            </a:ln>
            <a:effectLst/>
          </p:spPr>
          <p:txBody>
            <a:bodyPr wrap="none" anchor="ctr"/>
            <a:lstStyle/>
            <a:p>
              <a:endParaRPr lang="zh-CN" altLang="en-US"/>
            </a:p>
          </p:txBody>
        </p:sp>
        <p:sp>
          <p:nvSpPr>
            <p:cNvPr id="1465433" name="Rectangle 89"/>
            <p:cNvSpPr>
              <a:spLocks noChangeArrowheads="1"/>
            </p:cNvSpPr>
            <p:nvPr userDrawn="1"/>
          </p:nvSpPr>
          <p:spPr bwMode="auto">
            <a:xfrm flipV="1">
              <a:off x="6126" y="3022"/>
              <a:ext cx="116" cy="115"/>
            </a:xfrm>
            <a:prstGeom prst="rect">
              <a:avLst/>
            </a:prstGeom>
            <a:solidFill>
              <a:srgbClr val="99CCFF"/>
            </a:solidFill>
            <a:ln w="9525">
              <a:noFill/>
              <a:miter lim="800000"/>
              <a:headEnd/>
              <a:tailEnd/>
            </a:ln>
            <a:effectLst/>
          </p:spPr>
          <p:txBody>
            <a:bodyPr wrap="none" anchor="ctr"/>
            <a:lstStyle/>
            <a:p>
              <a:endParaRPr lang="zh-CN" altLang="en-US"/>
            </a:p>
          </p:txBody>
        </p:sp>
        <p:sp>
          <p:nvSpPr>
            <p:cNvPr id="1465434" name="Rectangle 90"/>
            <p:cNvSpPr>
              <a:spLocks noChangeArrowheads="1"/>
            </p:cNvSpPr>
            <p:nvPr userDrawn="1"/>
          </p:nvSpPr>
          <p:spPr bwMode="auto">
            <a:xfrm flipV="1">
              <a:off x="6242" y="3022"/>
              <a:ext cx="117" cy="115"/>
            </a:xfrm>
            <a:prstGeom prst="rect">
              <a:avLst/>
            </a:prstGeom>
            <a:solidFill>
              <a:srgbClr val="CCCCFF"/>
            </a:solidFill>
            <a:ln w="9525">
              <a:noFill/>
              <a:miter lim="800000"/>
              <a:headEnd/>
              <a:tailEnd/>
            </a:ln>
            <a:effectLst/>
          </p:spPr>
          <p:txBody>
            <a:bodyPr wrap="none" anchor="ctr"/>
            <a:lstStyle/>
            <a:p>
              <a:endParaRPr lang="zh-CN" altLang="en-US"/>
            </a:p>
          </p:txBody>
        </p:sp>
        <p:sp>
          <p:nvSpPr>
            <p:cNvPr id="1465435" name="Rectangle 91"/>
            <p:cNvSpPr>
              <a:spLocks noChangeArrowheads="1"/>
            </p:cNvSpPr>
            <p:nvPr userDrawn="1"/>
          </p:nvSpPr>
          <p:spPr bwMode="auto">
            <a:xfrm flipV="1">
              <a:off x="5893" y="3022"/>
              <a:ext cx="117" cy="115"/>
            </a:xfrm>
            <a:prstGeom prst="rect">
              <a:avLst/>
            </a:prstGeom>
            <a:solidFill>
              <a:srgbClr val="990000"/>
            </a:solidFill>
            <a:ln w="9525">
              <a:noFill/>
              <a:miter lim="800000"/>
              <a:headEnd/>
              <a:tailEnd/>
            </a:ln>
            <a:effectLst/>
          </p:spPr>
          <p:txBody>
            <a:bodyPr wrap="none" anchor="ctr"/>
            <a:lstStyle/>
            <a:p>
              <a:endParaRPr lang="zh-CN" altLang="en-US"/>
            </a:p>
          </p:txBody>
        </p:sp>
      </p:grpSp>
      <p:grpSp>
        <p:nvGrpSpPr>
          <p:cNvPr id="1465436" name="Group 92"/>
          <p:cNvGrpSpPr>
            <a:grpSpLocks/>
          </p:cNvGrpSpPr>
          <p:nvPr/>
        </p:nvGrpSpPr>
        <p:grpSpPr bwMode="auto">
          <a:xfrm>
            <a:off x="9355138" y="5013325"/>
            <a:ext cx="739775" cy="182563"/>
            <a:chOff x="5893" y="3158"/>
            <a:chExt cx="466" cy="115"/>
          </a:xfrm>
        </p:grpSpPr>
        <p:sp>
          <p:nvSpPr>
            <p:cNvPr id="1465437" name="Rectangle 93"/>
            <p:cNvSpPr>
              <a:spLocks noChangeArrowheads="1"/>
            </p:cNvSpPr>
            <p:nvPr userDrawn="1"/>
          </p:nvSpPr>
          <p:spPr bwMode="auto">
            <a:xfrm flipV="1">
              <a:off x="6010" y="3158"/>
              <a:ext cx="116" cy="115"/>
            </a:xfrm>
            <a:prstGeom prst="rect">
              <a:avLst/>
            </a:prstGeom>
            <a:solidFill>
              <a:srgbClr val="009999"/>
            </a:solidFill>
            <a:ln w="9525">
              <a:noFill/>
              <a:miter lim="800000"/>
              <a:headEnd/>
              <a:tailEnd/>
            </a:ln>
            <a:effectLst/>
          </p:spPr>
          <p:txBody>
            <a:bodyPr wrap="none" anchor="ctr"/>
            <a:lstStyle/>
            <a:p>
              <a:endParaRPr lang="zh-CN" altLang="en-US"/>
            </a:p>
          </p:txBody>
        </p:sp>
        <p:sp>
          <p:nvSpPr>
            <p:cNvPr id="1465438" name="Rectangle 94"/>
            <p:cNvSpPr>
              <a:spLocks noChangeArrowheads="1"/>
            </p:cNvSpPr>
            <p:nvPr userDrawn="1"/>
          </p:nvSpPr>
          <p:spPr bwMode="auto">
            <a:xfrm flipV="1">
              <a:off x="6126" y="3158"/>
              <a:ext cx="116" cy="115"/>
            </a:xfrm>
            <a:prstGeom prst="rect">
              <a:avLst/>
            </a:prstGeom>
            <a:solidFill>
              <a:srgbClr val="CCFF99"/>
            </a:solidFill>
            <a:ln w="9525">
              <a:noFill/>
              <a:miter lim="800000"/>
              <a:headEnd/>
              <a:tailEnd/>
            </a:ln>
            <a:effectLst/>
          </p:spPr>
          <p:txBody>
            <a:bodyPr wrap="none" anchor="ctr"/>
            <a:lstStyle/>
            <a:p>
              <a:endParaRPr lang="zh-CN" altLang="en-US"/>
            </a:p>
          </p:txBody>
        </p:sp>
        <p:sp>
          <p:nvSpPr>
            <p:cNvPr id="1465439" name="Rectangle 95"/>
            <p:cNvSpPr>
              <a:spLocks noChangeArrowheads="1"/>
            </p:cNvSpPr>
            <p:nvPr userDrawn="1"/>
          </p:nvSpPr>
          <p:spPr bwMode="auto">
            <a:xfrm flipV="1">
              <a:off x="6242" y="3158"/>
              <a:ext cx="117" cy="115"/>
            </a:xfrm>
            <a:prstGeom prst="rect">
              <a:avLst/>
            </a:prstGeom>
            <a:solidFill>
              <a:srgbClr val="99CCCC"/>
            </a:solidFill>
            <a:ln w="9525">
              <a:noFill/>
              <a:miter lim="800000"/>
              <a:headEnd/>
              <a:tailEnd/>
            </a:ln>
            <a:effectLst/>
          </p:spPr>
          <p:txBody>
            <a:bodyPr wrap="none" anchor="ctr"/>
            <a:lstStyle/>
            <a:p>
              <a:endParaRPr lang="zh-CN" altLang="en-US"/>
            </a:p>
          </p:txBody>
        </p:sp>
        <p:sp>
          <p:nvSpPr>
            <p:cNvPr id="1465440" name="Rectangle 96"/>
            <p:cNvSpPr>
              <a:spLocks noChangeArrowheads="1"/>
            </p:cNvSpPr>
            <p:nvPr userDrawn="1"/>
          </p:nvSpPr>
          <p:spPr bwMode="auto">
            <a:xfrm flipV="1">
              <a:off x="5893" y="3158"/>
              <a:ext cx="117" cy="115"/>
            </a:xfrm>
            <a:prstGeom prst="rect">
              <a:avLst/>
            </a:prstGeom>
            <a:solidFill>
              <a:srgbClr val="990000"/>
            </a:solidFill>
            <a:ln w="9525">
              <a:noFill/>
              <a:miter lim="800000"/>
              <a:headEnd/>
              <a:tailEnd/>
            </a:ln>
            <a:effectLst/>
          </p:spPr>
          <p:txBody>
            <a:bodyPr wrap="none" anchor="ctr"/>
            <a:lstStyle/>
            <a:p>
              <a:endParaRPr lang="zh-CN" altLang="en-US"/>
            </a:p>
          </p:txBody>
        </p:sp>
      </p:grpSp>
      <p:grpSp>
        <p:nvGrpSpPr>
          <p:cNvPr id="1465441" name="Group 97"/>
          <p:cNvGrpSpPr>
            <a:grpSpLocks/>
          </p:cNvGrpSpPr>
          <p:nvPr/>
        </p:nvGrpSpPr>
        <p:grpSpPr bwMode="auto">
          <a:xfrm>
            <a:off x="9355138" y="5373688"/>
            <a:ext cx="739775" cy="182562"/>
            <a:chOff x="5893" y="3385"/>
            <a:chExt cx="466" cy="115"/>
          </a:xfrm>
        </p:grpSpPr>
        <p:sp>
          <p:nvSpPr>
            <p:cNvPr id="1465442" name="Rectangle 98"/>
            <p:cNvSpPr>
              <a:spLocks noChangeArrowheads="1"/>
            </p:cNvSpPr>
            <p:nvPr userDrawn="1"/>
          </p:nvSpPr>
          <p:spPr bwMode="auto">
            <a:xfrm flipV="1">
              <a:off x="6010" y="3385"/>
              <a:ext cx="116" cy="115"/>
            </a:xfrm>
            <a:prstGeom prst="rect">
              <a:avLst/>
            </a:prstGeom>
            <a:solidFill>
              <a:srgbClr val="FF9900"/>
            </a:solidFill>
            <a:ln w="9525">
              <a:noFill/>
              <a:miter lim="800000"/>
              <a:headEnd/>
              <a:tailEnd/>
            </a:ln>
            <a:effectLst/>
          </p:spPr>
          <p:txBody>
            <a:bodyPr wrap="none" anchor="ctr"/>
            <a:lstStyle/>
            <a:p>
              <a:endParaRPr lang="zh-CN" altLang="en-US"/>
            </a:p>
          </p:txBody>
        </p:sp>
        <p:sp>
          <p:nvSpPr>
            <p:cNvPr id="1465443" name="Rectangle 99"/>
            <p:cNvSpPr>
              <a:spLocks noChangeArrowheads="1"/>
            </p:cNvSpPr>
            <p:nvPr userDrawn="1"/>
          </p:nvSpPr>
          <p:spPr bwMode="auto">
            <a:xfrm flipV="1">
              <a:off x="6126" y="3385"/>
              <a:ext cx="116" cy="115"/>
            </a:xfrm>
            <a:prstGeom prst="rect">
              <a:avLst/>
            </a:prstGeom>
            <a:solidFill>
              <a:srgbClr val="FFCC99"/>
            </a:solidFill>
            <a:ln w="9525">
              <a:noFill/>
              <a:miter lim="800000"/>
              <a:headEnd/>
              <a:tailEnd/>
            </a:ln>
            <a:effectLst/>
          </p:spPr>
          <p:txBody>
            <a:bodyPr wrap="none" anchor="ctr"/>
            <a:lstStyle/>
            <a:p>
              <a:endParaRPr lang="zh-CN" altLang="en-US"/>
            </a:p>
          </p:txBody>
        </p:sp>
        <p:sp>
          <p:nvSpPr>
            <p:cNvPr id="1465444" name="Rectangle 100"/>
            <p:cNvSpPr>
              <a:spLocks noChangeArrowheads="1"/>
            </p:cNvSpPr>
            <p:nvPr userDrawn="1"/>
          </p:nvSpPr>
          <p:spPr bwMode="auto">
            <a:xfrm flipV="1">
              <a:off x="6242" y="3385"/>
              <a:ext cx="117" cy="115"/>
            </a:xfrm>
            <a:prstGeom prst="rect">
              <a:avLst/>
            </a:prstGeom>
            <a:solidFill>
              <a:srgbClr val="FFCC66"/>
            </a:solidFill>
            <a:ln w="9525">
              <a:noFill/>
              <a:miter lim="800000"/>
              <a:headEnd/>
              <a:tailEnd/>
            </a:ln>
            <a:effectLst/>
          </p:spPr>
          <p:txBody>
            <a:bodyPr wrap="none" anchor="ctr"/>
            <a:lstStyle/>
            <a:p>
              <a:endParaRPr lang="zh-CN" altLang="en-US"/>
            </a:p>
          </p:txBody>
        </p:sp>
        <p:sp>
          <p:nvSpPr>
            <p:cNvPr id="1465445" name="Rectangle 101"/>
            <p:cNvSpPr>
              <a:spLocks noChangeArrowheads="1"/>
            </p:cNvSpPr>
            <p:nvPr userDrawn="1"/>
          </p:nvSpPr>
          <p:spPr bwMode="auto">
            <a:xfrm flipV="1">
              <a:off x="5893" y="3385"/>
              <a:ext cx="117" cy="115"/>
            </a:xfrm>
            <a:prstGeom prst="rect">
              <a:avLst/>
            </a:prstGeom>
            <a:solidFill>
              <a:schemeClr val="tx1"/>
            </a:solidFill>
            <a:ln w="9525">
              <a:noFill/>
              <a:miter lim="800000"/>
              <a:headEnd/>
              <a:tailEnd/>
            </a:ln>
            <a:effectLst/>
          </p:spPr>
          <p:txBody>
            <a:bodyPr wrap="none" anchor="ctr"/>
            <a:lstStyle/>
            <a:p>
              <a:endParaRPr lang="zh-CN" altLang="en-US"/>
            </a:p>
          </p:txBody>
        </p:sp>
      </p:grpSp>
      <p:grpSp>
        <p:nvGrpSpPr>
          <p:cNvPr id="1465446" name="Group 102"/>
          <p:cNvGrpSpPr>
            <a:grpSpLocks/>
          </p:cNvGrpSpPr>
          <p:nvPr/>
        </p:nvGrpSpPr>
        <p:grpSpPr bwMode="auto">
          <a:xfrm>
            <a:off x="9355138" y="5589588"/>
            <a:ext cx="739775" cy="182562"/>
            <a:chOff x="5893" y="3521"/>
            <a:chExt cx="466" cy="115"/>
          </a:xfrm>
        </p:grpSpPr>
        <p:sp>
          <p:nvSpPr>
            <p:cNvPr id="1465447" name="Rectangle 103"/>
            <p:cNvSpPr>
              <a:spLocks noChangeArrowheads="1"/>
            </p:cNvSpPr>
            <p:nvPr userDrawn="1"/>
          </p:nvSpPr>
          <p:spPr bwMode="auto">
            <a:xfrm flipV="1">
              <a:off x="6010" y="3521"/>
              <a:ext cx="116" cy="115"/>
            </a:xfrm>
            <a:prstGeom prst="rect">
              <a:avLst/>
            </a:prstGeom>
            <a:solidFill>
              <a:srgbClr val="006699"/>
            </a:solidFill>
            <a:ln w="9525">
              <a:noFill/>
              <a:miter lim="800000"/>
              <a:headEnd/>
              <a:tailEnd/>
            </a:ln>
            <a:effectLst/>
          </p:spPr>
          <p:txBody>
            <a:bodyPr wrap="none" anchor="ctr"/>
            <a:lstStyle/>
            <a:p>
              <a:endParaRPr lang="zh-CN" altLang="en-US"/>
            </a:p>
          </p:txBody>
        </p:sp>
        <p:sp>
          <p:nvSpPr>
            <p:cNvPr id="1465448" name="Rectangle 104"/>
            <p:cNvSpPr>
              <a:spLocks noChangeArrowheads="1"/>
            </p:cNvSpPr>
            <p:nvPr userDrawn="1"/>
          </p:nvSpPr>
          <p:spPr bwMode="auto">
            <a:xfrm flipV="1">
              <a:off x="6126" y="3521"/>
              <a:ext cx="116" cy="115"/>
            </a:xfrm>
            <a:prstGeom prst="rect">
              <a:avLst/>
            </a:prstGeom>
            <a:solidFill>
              <a:srgbClr val="99CCFF"/>
            </a:solidFill>
            <a:ln w="9525">
              <a:noFill/>
              <a:miter lim="800000"/>
              <a:headEnd/>
              <a:tailEnd/>
            </a:ln>
            <a:effectLst/>
          </p:spPr>
          <p:txBody>
            <a:bodyPr wrap="none" anchor="ctr"/>
            <a:lstStyle/>
            <a:p>
              <a:endParaRPr lang="zh-CN" altLang="en-US"/>
            </a:p>
          </p:txBody>
        </p:sp>
        <p:sp>
          <p:nvSpPr>
            <p:cNvPr id="1465449" name="Rectangle 105"/>
            <p:cNvSpPr>
              <a:spLocks noChangeArrowheads="1"/>
            </p:cNvSpPr>
            <p:nvPr userDrawn="1"/>
          </p:nvSpPr>
          <p:spPr bwMode="auto">
            <a:xfrm flipV="1">
              <a:off x="6242" y="3521"/>
              <a:ext cx="117" cy="115"/>
            </a:xfrm>
            <a:prstGeom prst="rect">
              <a:avLst/>
            </a:prstGeom>
            <a:solidFill>
              <a:srgbClr val="CCCCFF"/>
            </a:solidFill>
            <a:ln w="9525">
              <a:noFill/>
              <a:miter lim="800000"/>
              <a:headEnd/>
              <a:tailEnd/>
            </a:ln>
            <a:effectLst/>
          </p:spPr>
          <p:txBody>
            <a:bodyPr wrap="none" anchor="ctr"/>
            <a:lstStyle/>
            <a:p>
              <a:endParaRPr lang="zh-CN" altLang="en-US"/>
            </a:p>
          </p:txBody>
        </p:sp>
        <p:sp>
          <p:nvSpPr>
            <p:cNvPr id="1465450" name="Rectangle 106"/>
            <p:cNvSpPr>
              <a:spLocks noChangeArrowheads="1"/>
            </p:cNvSpPr>
            <p:nvPr userDrawn="1"/>
          </p:nvSpPr>
          <p:spPr bwMode="auto">
            <a:xfrm flipV="1">
              <a:off x="5893" y="3521"/>
              <a:ext cx="117" cy="115"/>
            </a:xfrm>
            <a:prstGeom prst="rect">
              <a:avLst/>
            </a:prstGeom>
            <a:solidFill>
              <a:schemeClr val="tx1"/>
            </a:solidFill>
            <a:ln w="9525">
              <a:noFill/>
              <a:miter lim="800000"/>
              <a:headEnd/>
              <a:tailEnd/>
            </a:ln>
            <a:effectLst/>
          </p:spPr>
          <p:txBody>
            <a:bodyPr wrap="none" anchor="ctr"/>
            <a:lstStyle/>
            <a:p>
              <a:endParaRPr lang="zh-CN" altLang="en-US"/>
            </a:p>
          </p:txBody>
        </p:sp>
      </p:grpSp>
      <p:grpSp>
        <p:nvGrpSpPr>
          <p:cNvPr id="1465451" name="Group 107"/>
          <p:cNvGrpSpPr>
            <a:grpSpLocks/>
          </p:cNvGrpSpPr>
          <p:nvPr/>
        </p:nvGrpSpPr>
        <p:grpSpPr bwMode="auto">
          <a:xfrm>
            <a:off x="9355138" y="5805488"/>
            <a:ext cx="739775" cy="182562"/>
            <a:chOff x="5893" y="3657"/>
            <a:chExt cx="466" cy="115"/>
          </a:xfrm>
        </p:grpSpPr>
        <p:sp>
          <p:nvSpPr>
            <p:cNvPr id="1465452" name="Rectangle 108"/>
            <p:cNvSpPr>
              <a:spLocks noChangeArrowheads="1"/>
            </p:cNvSpPr>
            <p:nvPr userDrawn="1"/>
          </p:nvSpPr>
          <p:spPr bwMode="auto">
            <a:xfrm flipV="1">
              <a:off x="6010" y="3657"/>
              <a:ext cx="116" cy="115"/>
            </a:xfrm>
            <a:prstGeom prst="rect">
              <a:avLst/>
            </a:prstGeom>
            <a:solidFill>
              <a:srgbClr val="009999"/>
            </a:solidFill>
            <a:ln w="9525">
              <a:noFill/>
              <a:miter lim="800000"/>
              <a:headEnd/>
              <a:tailEnd/>
            </a:ln>
            <a:effectLst/>
          </p:spPr>
          <p:txBody>
            <a:bodyPr wrap="none" anchor="ctr"/>
            <a:lstStyle/>
            <a:p>
              <a:endParaRPr lang="zh-CN" altLang="en-US"/>
            </a:p>
          </p:txBody>
        </p:sp>
        <p:sp>
          <p:nvSpPr>
            <p:cNvPr id="1465453" name="Rectangle 109"/>
            <p:cNvSpPr>
              <a:spLocks noChangeArrowheads="1"/>
            </p:cNvSpPr>
            <p:nvPr userDrawn="1"/>
          </p:nvSpPr>
          <p:spPr bwMode="auto">
            <a:xfrm flipV="1">
              <a:off x="6126" y="3657"/>
              <a:ext cx="116" cy="115"/>
            </a:xfrm>
            <a:prstGeom prst="rect">
              <a:avLst/>
            </a:prstGeom>
            <a:solidFill>
              <a:srgbClr val="CCFF99"/>
            </a:solidFill>
            <a:ln w="9525">
              <a:noFill/>
              <a:miter lim="800000"/>
              <a:headEnd/>
              <a:tailEnd/>
            </a:ln>
            <a:effectLst/>
          </p:spPr>
          <p:txBody>
            <a:bodyPr wrap="none" anchor="ctr"/>
            <a:lstStyle/>
            <a:p>
              <a:endParaRPr lang="zh-CN" altLang="en-US"/>
            </a:p>
          </p:txBody>
        </p:sp>
        <p:sp>
          <p:nvSpPr>
            <p:cNvPr id="1465454" name="Rectangle 110"/>
            <p:cNvSpPr>
              <a:spLocks noChangeArrowheads="1"/>
            </p:cNvSpPr>
            <p:nvPr userDrawn="1"/>
          </p:nvSpPr>
          <p:spPr bwMode="auto">
            <a:xfrm flipV="1">
              <a:off x="6242" y="3657"/>
              <a:ext cx="117" cy="115"/>
            </a:xfrm>
            <a:prstGeom prst="rect">
              <a:avLst/>
            </a:prstGeom>
            <a:solidFill>
              <a:srgbClr val="99CCCC"/>
            </a:solidFill>
            <a:ln w="9525">
              <a:noFill/>
              <a:miter lim="800000"/>
              <a:headEnd/>
              <a:tailEnd/>
            </a:ln>
            <a:effectLst/>
          </p:spPr>
          <p:txBody>
            <a:bodyPr wrap="none" anchor="ctr"/>
            <a:lstStyle/>
            <a:p>
              <a:endParaRPr lang="zh-CN" altLang="en-US"/>
            </a:p>
          </p:txBody>
        </p:sp>
        <p:sp>
          <p:nvSpPr>
            <p:cNvPr id="1465455" name="Rectangle 111"/>
            <p:cNvSpPr>
              <a:spLocks noChangeArrowheads="1"/>
            </p:cNvSpPr>
            <p:nvPr userDrawn="1"/>
          </p:nvSpPr>
          <p:spPr bwMode="auto">
            <a:xfrm flipV="1">
              <a:off x="5893" y="3657"/>
              <a:ext cx="117" cy="115"/>
            </a:xfrm>
            <a:prstGeom prst="rect">
              <a:avLst/>
            </a:prstGeom>
            <a:solidFill>
              <a:schemeClr val="tx1"/>
            </a:solidFill>
            <a:ln w="9525">
              <a:noFill/>
              <a:miter lim="800000"/>
              <a:headEnd/>
              <a:tailEnd/>
            </a:ln>
            <a:effectLst/>
          </p:spPr>
          <p:txBody>
            <a:bodyPr wrap="none" anchor="ctr"/>
            <a:lstStyle/>
            <a:p>
              <a:endParaRPr lang="zh-CN" altLang="en-US"/>
            </a:p>
          </p:txBody>
        </p:sp>
      </p:grpSp>
      <p:grpSp>
        <p:nvGrpSpPr>
          <p:cNvPr id="1465456" name="Group 112"/>
          <p:cNvGrpSpPr>
            <a:grpSpLocks/>
          </p:cNvGrpSpPr>
          <p:nvPr/>
        </p:nvGrpSpPr>
        <p:grpSpPr bwMode="auto">
          <a:xfrm>
            <a:off x="9355138" y="6165850"/>
            <a:ext cx="739775" cy="182563"/>
            <a:chOff x="5893" y="3884"/>
            <a:chExt cx="466" cy="115"/>
          </a:xfrm>
        </p:grpSpPr>
        <p:sp>
          <p:nvSpPr>
            <p:cNvPr id="1465457" name="Rectangle 113"/>
            <p:cNvSpPr>
              <a:spLocks noChangeArrowheads="1"/>
            </p:cNvSpPr>
            <p:nvPr userDrawn="1"/>
          </p:nvSpPr>
          <p:spPr bwMode="auto">
            <a:xfrm flipV="1">
              <a:off x="6010" y="3884"/>
              <a:ext cx="116" cy="115"/>
            </a:xfrm>
            <a:prstGeom prst="rect">
              <a:avLst/>
            </a:prstGeom>
            <a:solidFill>
              <a:srgbClr val="FF9900"/>
            </a:solidFill>
            <a:ln w="9525">
              <a:noFill/>
              <a:miter lim="800000"/>
              <a:headEnd/>
              <a:tailEnd/>
            </a:ln>
            <a:effectLst/>
          </p:spPr>
          <p:txBody>
            <a:bodyPr wrap="none" anchor="ctr"/>
            <a:lstStyle/>
            <a:p>
              <a:endParaRPr lang="zh-CN" altLang="en-US"/>
            </a:p>
          </p:txBody>
        </p:sp>
        <p:sp>
          <p:nvSpPr>
            <p:cNvPr id="1465458" name="Rectangle 114"/>
            <p:cNvSpPr>
              <a:spLocks noChangeArrowheads="1"/>
            </p:cNvSpPr>
            <p:nvPr userDrawn="1"/>
          </p:nvSpPr>
          <p:spPr bwMode="auto">
            <a:xfrm flipV="1">
              <a:off x="6126" y="3884"/>
              <a:ext cx="116" cy="115"/>
            </a:xfrm>
            <a:prstGeom prst="rect">
              <a:avLst/>
            </a:prstGeom>
            <a:solidFill>
              <a:srgbClr val="FFCC99"/>
            </a:solidFill>
            <a:ln w="9525">
              <a:noFill/>
              <a:miter lim="800000"/>
              <a:headEnd/>
              <a:tailEnd/>
            </a:ln>
            <a:effectLst/>
          </p:spPr>
          <p:txBody>
            <a:bodyPr wrap="none" anchor="ctr"/>
            <a:lstStyle/>
            <a:p>
              <a:endParaRPr lang="zh-CN" altLang="en-US"/>
            </a:p>
          </p:txBody>
        </p:sp>
        <p:sp>
          <p:nvSpPr>
            <p:cNvPr id="1465459" name="Rectangle 115"/>
            <p:cNvSpPr>
              <a:spLocks noChangeArrowheads="1"/>
            </p:cNvSpPr>
            <p:nvPr userDrawn="1"/>
          </p:nvSpPr>
          <p:spPr bwMode="auto">
            <a:xfrm flipV="1">
              <a:off x="6242" y="3884"/>
              <a:ext cx="117" cy="115"/>
            </a:xfrm>
            <a:prstGeom prst="rect">
              <a:avLst/>
            </a:prstGeom>
            <a:solidFill>
              <a:srgbClr val="FFCC66"/>
            </a:solidFill>
            <a:ln w="9525">
              <a:noFill/>
              <a:miter lim="800000"/>
              <a:headEnd/>
              <a:tailEnd/>
            </a:ln>
            <a:effectLst/>
          </p:spPr>
          <p:txBody>
            <a:bodyPr wrap="none" anchor="ctr"/>
            <a:lstStyle/>
            <a:p>
              <a:endParaRPr lang="zh-CN" altLang="en-US"/>
            </a:p>
          </p:txBody>
        </p:sp>
        <p:sp>
          <p:nvSpPr>
            <p:cNvPr id="1465460" name="Rectangle 116"/>
            <p:cNvSpPr>
              <a:spLocks noChangeArrowheads="1"/>
            </p:cNvSpPr>
            <p:nvPr userDrawn="1"/>
          </p:nvSpPr>
          <p:spPr bwMode="auto">
            <a:xfrm flipV="1">
              <a:off x="5893" y="3884"/>
              <a:ext cx="117" cy="115"/>
            </a:xfrm>
            <a:prstGeom prst="rect">
              <a:avLst/>
            </a:prstGeom>
            <a:solidFill>
              <a:schemeClr val="bg2"/>
            </a:solidFill>
            <a:ln w="9525">
              <a:noFill/>
              <a:miter lim="800000"/>
              <a:headEnd/>
              <a:tailEnd/>
            </a:ln>
            <a:effectLst/>
          </p:spPr>
          <p:txBody>
            <a:bodyPr wrap="none" anchor="ctr"/>
            <a:lstStyle/>
            <a:p>
              <a:endParaRPr lang="zh-CN" altLang="en-US"/>
            </a:p>
          </p:txBody>
        </p:sp>
      </p:grpSp>
      <p:grpSp>
        <p:nvGrpSpPr>
          <p:cNvPr id="1465461" name="Group 117"/>
          <p:cNvGrpSpPr>
            <a:grpSpLocks/>
          </p:cNvGrpSpPr>
          <p:nvPr/>
        </p:nvGrpSpPr>
        <p:grpSpPr bwMode="auto">
          <a:xfrm>
            <a:off x="9355138" y="6391275"/>
            <a:ext cx="739775" cy="182563"/>
            <a:chOff x="5893" y="4026"/>
            <a:chExt cx="466" cy="115"/>
          </a:xfrm>
        </p:grpSpPr>
        <p:sp>
          <p:nvSpPr>
            <p:cNvPr id="1465462" name="Rectangle 118"/>
            <p:cNvSpPr>
              <a:spLocks noChangeArrowheads="1"/>
            </p:cNvSpPr>
            <p:nvPr userDrawn="1"/>
          </p:nvSpPr>
          <p:spPr bwMode="auto">
            <a:xfrm flipV="1">
              <a:off x="6010" y="4026"/>
              <a:ext cx="116" cy="115"/>
            </a:xfrm>
            <a:prstGeom prst="rect">
              <a:avLst/>
            </a:prstGeom>
            <a:solidFill>
              <a:srgbClr val="006699"/>
            </a:solidFill>
            <a:ln w="9525">
              <a:noFill/>
              <a:miter lim="800000"/>
              <a:headEnd/>
              <a:tailEnd/>
            </a:ln>
            <a:effectLst/>
          </p:spPr>
          <p:txBody>
            <a:bodyPr wrap="none" anchor="ctr"/>
            <a:lstStyle/>
            <a:p>
              <a:endParaRPr lang="zh-CN" altLang="en-US"/>
            </a:p>
          </p:txBody>
        </p:sp>
        <p:sp>
          <p:nvSpPr>
            <p:cNvPr id="1465463" name="Rectangle 119"/>
            <p:cNvSpPr>
              <a:spLocks noChangeArrowheads="1"/>
            </p:cNvSpPr>
            <p:nvPr userDrawn="1"/>
          </p:nvSpPr>
          <p:spPr bwMode="auto">
            <a:xfrm flipV="1">
              <a:off x="6126" y="4026"/>
              <a:ext cx="116" cy="115"/>
            </a:xfrm>
            <a:prstGeom prst="rect">
              <a:avLst/>
            </a:prstGeom>
            <a:solidFill>
              <a:srgbClr val="99CCFF"/>
            </a:solidFill>
            <a:ln w="9525">
              <a:noFill/>
              <a:miter lim="800000"/>
              <a:headEnd/>
              <a:tailEnd/>
            </a:ln>
            <a:effectLst/>
          </p:spPr>
          <p:txBody>
            <a:bodyPr wrap="none" anchor="ctr"/>
            <a:lstStyle/>
            <a:p>
              <a:endParaRPr lang="zh-CN" altLang="en-US"/>
            </a:p>
          </p:txBody>
        </p:sp>
        <p:sp>
          <p:nvSpPr>
            <p:cNvPr id="1465464" name="Rectangle 120"/>
            <p:cNvSpPr>
              <a:spLocks noChangeArrowheads="1"/>
            </p:cNvSpPr>
            <p:nvPr userDrawn="1"/>
          </p:nvSpPr>
          <p:spPr bwMode="auto">
            <a:xfrm flipV="1">
              <a:off x="6242" y="4026"/>
              <a:ext cx="117" cy="115"/>
            </a:xfrm>
            <a:prstGeom prst="rect">
              <a:avLst/>
            </a:prstGeom>
            <a:solidFill>
              <a:srgbClr val="CCCCFF"/>
            </a:solidFill>
            <a:ln w="9525">
              <a:noFill/>
              <a:miter lim="800000"/>
              <a:headEnd/>
              <a:tailEnd/>
            </a:ln>
            <a:effectLst/>
          </p:spPr>
          <p:txBody>
            <a:bodyPr wrap="none" anchor="ctr"/>
            <a:lstStyle/>
            <a:p>
              <a:endParaRPr lang="zh-CN" altLang="en-US"/>
            </a:p>
          </p:txBody>
        </p:sp>
        <p:sp>
          <p:nvSpPr>
            <p:cNvPr id="1465465" name="Rectangle 121"/>
            <p:cNvSpPr>
              <a:spLocks noChangeArrowheads="1"/>
            </p:cNvSpPr>
            <p:nvPr userDrawn="1"/>
          </p:nvSpPr>
          <p:spPr bwMode="auto">
            <a:xfrm flipV="1">
              <a:off x="5893" y="4026"/>
              <a:ext cx="117" cy="115"/>
            </a:xfrm>
            <a:prstGeom prst="rect">
              <a:avLst/>
            </a:prstGeom>
            <a:solidFill>
              <a:schemeClr val="bg2"/>
            </a:solidFill>
            <a:ln w="9525">
              <a:noFill/>
              <a:miter lim="800000"/>
              <a:headEnd/>
              <a:tailEnd/>
            </a:ln>
            <a:effectLst/>
          </p:spPr>
          <p:txBody>
            <a:bodyPr wrap="none" anchor="ctr"/>
            <a:lstStyle/>
            <a:p>
              <a:endParaRPr lang="zh-CN" altLang="en-US"/>
            </a:p>
          </p:txBody>
        </p:sp>
      </p:grpSp>
      <p:grpSp>
        <p:nvGrpSpPr>
          <p:cNvPr id="1465466" name="Group 122"/>
          <p:cNvGrpSpPr>
            <a:grpSpLocks/>
          </p:cNvGrpSpPr>
          <p:nvPr/>
        </p:nvGrpSpPr>
        <p:grpSpPr bwMode="auto">
          <a:xfrm>
            <a:off x="9355138" y="6615113"/>
            <a:ext cx="739775" cy="182562"/>
            <a:chOff x="5893" y="4167"/>
            <a:chExt cx="466" cy="115"/>
          </a:xfrm>
        </p:grpSpPr>
        <p:sp>
          <p:nvSpPr>
            <p:cNvPr id="1465467" name="Rectangle 123"/>
            <p:cNvSpPr>
              <a:spLocks noChangeArrowheads="1"/>
            </p:cNvSpPr>
            <p:nvPr userDrawn="1"/>
          </p:nvSpPr>
          <p:spPr bwMode="auto">
            <a:xfrm flipV="1">
              <a:off x="6010" y="4167"/>
              <a:ext cx="116" cy="115"/>
            </a:xfrm>
            <a:prstGeom prst="rect">
              <a:avLst/>
            </a:prstGeom>
            <a:solidFill>
              <a:schemeClr val="hlink"/>
            </a:solidFill>
            <a:ln w="9525">
              <a:noFill/>
              <a:miter lim="800000"/>
              <a:headEnd/>
              <a:tailEnd/>
            </a:ln>
            <a:effectLst/>
          </p:spPr>
          <p:txBody>
            <a:bodyPr wrap="none" anchor="ctr"/>
            <a:lstStyle/>
            <a:p>
              <a:endParaRPr lang="zh-CN" altLang="en-US"/>
            </a:p>
          </p:txBody>
        </p:sp>
        <p:sp>
          <p:nvSpPr>
            <p:cNvPr id="1465468" name="Rectangle 124"/>
            <p:cNvSpPr>
              <a:spLocks noChangeArrowheads="1"/>
            </p:cNvSpPr>
            <p:nvPr userDrawn="1"/>
          </p:nvSpPr>
          <p:spPr bwMode="auto">
            <a:xfrm flipV="1">
              <a:off x="6126" y="4167"/>
              <a:ext cx="116" cy="115"/>
            </a:xfrm>
            <a:prstGeom prst="rect">
              <a:avLst/>
            </a:prstGeom>
            <a:solidFill>
              <a:schemeClr val="accent2"/>
            </a:solidFill>
            <a:ln w="9525">
              <a:noFill/>
              <a:miter lim="800000"/>
              <a:headEnd/>
              <a:tailEnd/>
            </a:ln>
            <a:effectLst/>
          </p:spPr>
          <p:txBody>
            <a:bodyPr wrap="none" anchor="ctr"/>
            <a:lstStyle/>
            <a:p>
              <a:endParaRPr lang="zh-CN" altLang="en-US"/>
            </a:p>
          </p:txBody>
        </p:sp>
        <p:sp>
          <p:nvSpPr>
            <p:cNvPr id="1465469" name="Rectangle 125"/>
            <p:cNvSpPr>
              <a:spLocks noChangeArrowheads="1"/>
            </p:cNvSpPr>
            <p:nvPr userDrawn="1"/>
          </p:nvSpPr>
          <p:spPr bwMode="auto">
            <a:xfrm flipV="1">
              <a:off x="6242" y="4167"/>
              <a:ext cx="117" cy="115"/>
            </a:xfrm>
            <a:prstGeom prst="rect">
              <a:avLst/>
            </a:prstGeom>
            <a:solidFill>
              <a:schemeClr val="accent1"/>
            </a:solidFill>
            <a:ln w="9525">
              <a:noFill/>
              <a:miter lim="800000"/>
              <a:headEnd/>
              <a:tailEnd/>
            </a:ln>
            <a:effectLst/>
          </p:spPr>
          <p:txBody>
            <a:bodyPr wrap="none" anchor="ctr"/>
            <a:lstStyle/>
            <a:p>
              <a:endParaRPr lang="zh-CN" altLang="en-US"/>
            </a:p>
          </p:txBody>
        </p:sp>
        <p:sp>
          <p:nvSpPr>
            <p:cNvPr id="1465470" name="Rectangle 126"/>
            <p:cNvSpPr>
              <a:spLocks noChangeArrowheads="1"/>
            </p:cNvSpPr>
            <p:nvPr userDrawn="1"/>
          </p:nvSpPr>
          <p:spPr bwMode="auto">
            <a:xfrm flipV="1">
              <a:off x="5893" y="4167"/>
              <a:ext cx="117" cy="115"/>
            </a:xfrm>
            <a:prstGeom prst="rect">
              <a:avLst/>
            </a:prstGeom>
            <a:solidFill>
              <a:schemeClr val="bg2"/>
            </a:solidFill>
            <a:ln w="9525">
              <a:noFill/>
              <a:miter lim="800000"/>
              <a:headEnd/>
              <a:tailEnd/>
            </a:ln>
            <a:effectLst/>
          </p:spPr>
          <p:txBody>
            <a:bodyPr wrap="none" anchor="ctr"/>
            <a:lstStyle/>
            <a:p>
              <a:endParaRPr lang="zh-CN" altLang="en-US"/>
            </a:p>
          </p:txBody>
        </p:sp>
      </p:grpSp>
      <p:sp>
        <p:nvSpPr>
          <p:cNvPr id="1465471" name="Rectangle 127"/>
          <p:cNvSpPr>
            <a:spLocks noGrp="1" noChangeArrowheads="1"/>
          </p:cNvSpPr>
          <p:nvPr>
            <p:ph type="sldNum" sz="quarter" idx="4"/>
          </p:nvPr>
        </p:nvSpPr>
        <p:spPr bwMode="auto">
          <a:xfrm>
            <a:off x="6096000" y="6524625"/>
            <a:ext cx="1519238" cy="333375"/>
          </a:xfrm>
          <a:prstGeom prst="rect">
            <a:avLst/>
          </a:prstGeom>
          <a:noFill/>
          <a:ln w="9525" algn="ctr">
            <a:noFill/>
            <a:miter lim="800000"/>
            <a:headEnd/>
            <a:tailEnd/>
          </a:ln>
          <a:effectLst/>
        </p:spPr>
        <p:txBody>
          <a:bodyPr vert="horz" wrap="square" lIns="0" tIns="0" rIns="0" bIns="0" numCol="1" anchor="t" anchorCtr="0" compatLnSpc="1">
            <a:prstTxWarp prst="textNoShape">
              <a:avLst/>
            </a:prstTxWarp>
          </a:bodyPr>
          <a:lstStyle>
            <a:lvl1pPr defTabSz="877888" eaLnBrk="0" fontAlgn="base" hangingPunct="0">
              <a:lnSpc>
                <a:spcPct val="85000"/>
              </a:lnSpc>
              <a:defRPr sz="1200">
                <a:latin typeface="FrutigerNext LT Bold" pitchFamily="1" charset="0"/>
                <a:ea typeface="ＭＳ Ｐゴシック" pitchFamily="34" charset="-128"/>
              </a:defRPr>
            </a:lvl1pPr>
          </a:lstStyle>
          <a:p>
            <a:r>
              <a:rPr lang="en-US" altLang="zh-CN" dirty="0"/>
              <a:t>Page</a:t>
            </a:r>
            <a:fld id="{D4789C36-C1FE-4AFB-B45B-65918AF97793}" type="slidenum">
              <a:rPr lang="en-US" altLang="zh-CN"/>
              <a:pPr/>
              <a:t>‹#›</a:t>
            </a:fld>
            <a:endParaRPr lang="en-US" altLang="zh-CN" dirty="0"/>
          </a:p>
        </p:txBody>
      </p:sp>
    </p:spTree>
  </p:cSld>
  <p:clrMap bg1="lt1" tx1="dk1" bg2="lt2" tx2="dk2" accent1="accent1" accent2="accent2" accent3="accent3" accent4="accent4" accent5="accent5" accent6="accent6" hlink="hlink" folHlink="folHlink"/>
  <p:sldLayoutIdLst>
    <p:sldLayoutId id="2147483665" r:id="rId1"/>
    <p:sldLayoutId id="2147483668" r:id="rId2"/>
    <p:sldLayoutId id="2147483670" r:id="rId3"/>
    <p:sldLayoutId id="2147483671" r:id="rId4"/>
    <p:sldLayoutId id="2147483672" r:id="rId5"/>
    <p:sldLayoutId id="2147483673" r:id="rId6"/>
  </p:sldLayoutIdLst>
  <p:timing>
    <p:tnLst>
      <p:par>
        <p:cTn id="1" dur="indefinite" restart="never" nodeType="tmRoot"/>
      </p:par>
    </p:tnLst>
  </p:timing>
  <p:hf hdr="0" ftr="0" dt="0"/>
  <p:txStyles>
    <p:titleStyle>
      <a:lvl1pPr algn="l" defTabSz="801688" rtl="0" eaLnBrk="1" fontAlgn="base" hangingPunct="1">
        <a:spcBef>
          <a:spcPct val="0"/>
        </a:spcBef>
        <a:spcAft>
          <a:spcPct val="0"/>
        </a:spcAft>
        <a:defRPr sz="3500">
          <a:solidFill>
            <a:srgbClr val="990000"/>
          </a:solidFill>
          <a:latin typeface="+mj-lt"/>
          <a:ea typeface="+mj-ea"/>
          <a:cs typeface="+mj-cs"/>
        </a:defRPr>
      </a:lvl1pPr>
      <a:lvl2pPr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2pPr>
      <a:lvl3pPr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3pPr>
      <a:lvl4pPr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4pPr>
      <a:lvl5pPr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5pPr>
      <a:lvl6pPr marL="457200"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6pPr>
      <a:lvl7pPr marL="914400"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7pPr>
      <a:lvl8pPr marL="1371600"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8pPr>
      <a:lvl9pPr marL="1828800" algn="l" defTabSz="801688" rtl="0" eaLnBrk="1" fontAlgn="base" hangingPunct="1">
        <a:spcBef>
          <a:spcPct val="0"/>
        </a:spcBef>
        <a:spcAft>
          <a:spcPct val="0"/>
        </a:spcAft>
        <a:defRPr sz="3500">
          <a:solidFill>
            <a:srgbClr val="990000"/>
          </a:solidFill>
          <a:latin typeface="FrutigerNext LT Medium" pitchFamily="34" charset="0"/>
          <a:ea typeface="黑体" pitchFamily="2" charset="-122"/>
        </a:defRPr>
      </a:lvl9pPr>
    </p:titleStyle>
    <p:bodyStyle>
      <a:lvl1pPr marL="301625" indent="-301625" algn="l" defTabSz="801688" rtl="0" eaLnBrk="1" fontAlgn="base" hangingPunct="1">
        <a:lnSpc>
          <a:spcPct val="140000"/>
        </a:lnSpc>
        <a:spcBef>
          <a:spcPct val="30000"/>
        </a:spcBef>
        <a:spcAft>
          <a:spcPct val="0"/>
        </a:spcAft>
        <a:buClr>
          <a:srgbClr val="808080"/>
        </a:buClr>
        <a:buSzPct val="60000"/>
        <a:buFont typeface="Wingdings" pitchFamily="2" charset="2"/>
        <a:buChar char="l"/>
        <a:defRPr sz="2200">
          <a:solidFill>
            <a:schemeClr val="tx1"/>
          </a:solidFill>
          <a:latin typeface="+mn-lt"/>
          <a:ea typeface="+mn-ea"/>
          <a:cs typeface="+mn-cs"/>
        </a:defRPr>
      </a:lvl1pPr>
      <a:lvl2pPr marL="654050" indent="-252413" algn="l" defTabSz="801688" rtl="0" eaLnBrk="1" fontAlgn="base" hangingPunct="1">
        <a:lnSpc>
          <a:spcPct val="140000"/>
        </a:lnSpc>
        <a:spcBef>
          <a:spcPct val="30000"/>
        </a:spcBef>
        <a:spcAft>
          <a:spcPct val="0"/>
        </a:spcAft>
        <a:buClr>
          <a:srgbClr val="080808"/>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mn-lt"/>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0225" indent="-200025"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7425" indent="-200025"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4625" indent="-200025"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1825" indent="-200025"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29025" indent="-200025"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469444" name="Picture 4" descr="5"/>
          <p:cNvPicPr>
            <a:picLocks noChangeAspect="1" noChangeArrowheads="1"/>
          </p:cNvPicPr>
          <p:nvPr/>
        </p:nvPicPr>
        <p:blipFill>
          <a:blip r:embed="rId3" cstate="print"/>
          <a:srcRect/>
          <a:stretch>
            <a:fillRect/>
          </a:stretch>
        </p:blipFill>
        <p:spPr bwMode="auto">
          <a:xfrm>
            <a:off x="0" y="5943600"/>
            <a:ext cx="9144000" cy="931863"/>
          </a:xfrm>
          <a:prstGeom prst="rect">
            <a:avLst/>
          </a:prstGeom>
          <a:noFill/>
        </p:spPr>
      </p:pic>
      <p:sp>
        <p:nvSpPr>
          <p:cNvPr id="1469446" name="Text Box 6"/>
          <p:cNvSpPr txBox="1">
            <a:spLocks noChangeArrowheads="1"/>
          </p:cNvSpPr>
          <p:nvPr/>
        </p:nvSpPr>
        <p:spPr bwMode="auto">
          <a:xfrm>
            <a:off x="3435350" y="3189288"/>
            <a:ext cx="2530475" cy="444500"/>
          </a:xfrm>
          <a:prstGeom prst="rect">
            <a:avLst/>
          </a:prstGeom>
          <a:noFill/>
          <a:ln w="9525">
            <a:noFill/>
            <a:miter lim="800000"/>
            <a:headEnd/>
            <a:tailEnd/>
          </a:ln>
        </p:spPr>
        <p:txBody>
          <a:bodyPr wrap="none" lIns="78345" tIns="39172" rIns="78345" bIns="39172">
            <a:spAutoFit/>
          </a:bodyPr>
          <a:lstStyle/>
          <a:p>
            <a:pPr defTabSz="784225" eaLnBrk="0" fontAlgn="base" hangingPunct="0"/>
            <a:r>
              <a:rPr lang="en-US" altLang="zh-CN" sz="2400">
                <a:solidFill>
                  <a:srgbClr val="666666"/>
                </a:solidFill>
                <a:ea typeface="ＭＳ Ｐゴシック" pitchFamily="34" charset="-128"/>
              </a:rPr>
              <a:t>www.huawei.com</a:t>
            </a:r>
            <a:endParaRPr lang="en-US" altLang="zh-CN" sz="2000">
              <a:solidFill>
                <a:srgbClr val="990000"/>
              </a:solidFill>
              <a:ea typeface="ＭＳ Ｐゴシック" pitchFamily="34" charset="-128"/>
            </a:endParaRPr>
          </a:p>
        </p:txBody>
      </p:sp>
      <p:sp>
        <p:nvSpPr>
          <p:cNvPr id="1469447" name="Text Box 7"/>
          <p:cNvSpPr txBox="1">
            <a:spLocks noChangeArrowheads="1"/>
          </p:cNvSpPr>
          <p:nvPr/>
        </p:nvSpPr>
        <p:spPr bwMode="auto">
          <a:xfrm>
            <a:off x="4089400" y="2506663"/>
            <a:ext cx="1196975" cy="704850"/>
          </a:xfrm>
          <a:prstGeom prst="rect">
            <a:avLst/>
          </a:prstGeom>
          <a:noFill/>
          <a:ln w="9525">
            <a:noFill/>
            <a:miter lim="800000"/>
            <a:headEnd/>
            <a:tailEnd/>
          </a:ln>
        </p:spPr>
        <p:txBody>
          <a:bodyPr wrap="none" lIns="78358" tIns="39179" rIns="78358" bIns="39179">
            <a:spAutoFit/>
          </a:bodyPr>
          <a:lstStyle/>
          <a:p>
            <a:pPr defTabSz="784225" eaLnBrk="0" fontAlgn="base" hangingPunct="0"/>
            <a:r>
              <a:rPr lang="zh-CN" altLang="en-US" sz="4100">
                <a:solidFill>
                  <a:srgbClr val="990000"/>
                </a:solidFill>
              </a:rPr>
              <a:t>谢谢</a:t>
            </a:r>
          </a:p>
        </p:txBody>
      </p:sp>
    </p:spTree>
  </p:cSld>
  <p:clrMap bg1="lt1" tx1="dk1" bg2="lt2" tx2="dk2" accent1="accent1" accent2="accent2" accent3="accent3" accent4="accent4" accent5="accent5" accent6="accent6" hlink="hlink" folHlink="folHlink"/>
  <p:sldLayoutIdLst>
    <p:sldLayoutId id="2147483675" r:id="rId1"/>
  </p:sldLayoutIdLst>
  <p:timing>
    <p:tnLst>
      <p:par>
        <p:cTn id="1" dur="indefinite" restart="never" nodeType="tmRoot"/>
      </p:par>
    </p:tnLst>
  </p:timing>
  <p:txStyles>
    <p:titleStyle>
      <a:lvl1pPr algn="ctr" defTabSz="801688" rtl="0" fontAlgn="base">
        <a:spcBef>
          <a:spcPct val="0"/>
        </a:spcBef>
        <a:spcAft>
          <a:spcPct val="0"/>
        </a:spcAft>
        <a:defRPr sz="3700">
          <a:solidFill>
            <a:schemeClr val="tx2"/>
          </a:solidFill>
          <a:latin typeface="+mj-lt"/>
          <a:ea typeface="+mj-ea"/>
          <a:cs typeface="+mj-cs"/>
        </a:defRPr>
      </a:lvl1pPr>
      <a:lvl2pPr algn="ctr" defTabSz="801688" rtl="0" fontAlgn="base">
        <a:spcBef>
          <a:spcPct val="0"/>
        </a:spcBef>
        <a:spcAft>
          <a:spcPct val="0"/>
        </a:spcAft>
        <a:defRPr sz="3700">
          <a:solidFill>
            <a:schemeClr val="tx2"/>
          </a:solidFill>
          <a:latin typeface="Arial" charset="0"/>
          <a:ea typeface="宋体" charset="-122"/>
        </a:defRPr>
      </a:lvl2pPr>
      <a:lvl3pPr algn="ctr" defTabSz="801688" rtl="0" fontAlgn="base">
        <a:spcBef>
          <a:spcPct val="0"/>
        </a:spcBef>
        <a:spcAft>
          <a:spcPct val="0"/>
        </a:spcAft>
        <a:defRPr sz="3700">
          <a:solidFill>
            <a:schemeClr val="tx2"/>
          </a:solidFill>
          <a:latin typeface="Arial" charset="0"/>
          <a:ea typeface="宋体" charset="-122"/>
        </a:defRPr>
      </a:lvl3pPr>
      <a:lvl4pPr algn="ctr" defTabSz="801688" rtl="0" fontAlgn="base">
        <a:spcBef>
          <a:spcPct val="0"/>
        </a:spcBef>
        <a:spcAft>
          <a:spcPct val="0"/>
        </a:spcAft>
        <a:defRPr sz="3700">
          <a:solidFill>
            <a:schemeClr val="tx2"/>
          </a:solidFill>
          <a:latin typeface="Arial" charset="0"/>
          <a:ea typeface="宋体" charset="-122"/>
        </a:defRPr>
      </a:lvl4pPr>
      <a:lvl5pPr algn="ctr" defTabSz="801688" rtl="0" fontAlgn="base">
        <a:spcBef>
          <a:spcPct val="0"/>
        </a:spcBef>
        <a:spcAft>
          <a:spcPct val="0"/>
        </a:spcAft>
        <a:defRPr sz="3700">
          <a:solidFill>
            <a:schemeClr val="tx2"/>
          </a:solidFill>
          <a:latin typeface="Arial" charset="0"/>
          <a:ea typeface="宋体" charset="-122"/>
        </a:defRPr>
      </a:lvl5pPr>
      <a:lvl6pPr marL="457200" algn="ctr" defTabSz="801688" rtl="0" fontAlgn="base">
        <a:spcBef>
          <a:spcPct val="0"/>
        </a:spcBef>
        <a:spcAft>
          <a:spcPct val="0"/>
        </a:spcAft>
        <a:defRPr sz="3700">
          <a:solidFill>
            <a:schemeClr val="tx2"/>
          </a:solidFill>
          <a:latin typeface="Arial" charset="0"/>
          <a:ea typeface="宋体" charset="-122"/>
        </a:defRPr>
      </a:lvl6pPr>
      <a:lvl7pPr marL="914400" algn="ctr" defTabSz="801688" rtl="0" fontAlgn="base">
        <a:spcBef>
          <a:spcPct val="0"/>
        </a:spcBef>
        <a:spcAft>
          <a:spcPct val="0"/>
        </a:spcAft>
        <a:defRPr sz="3700">
          <a:solidFill>
            <a:schemeClr val="tx2"/>
          </a:solidFill>
          <a:latin typeface="Arial" charset="0"/>
          <a:ea typeface="宋体" charset="-122"/>
        </a:defRPr>
      </a:lvl7pPr>
      <a:lvl8pPr marL="1371600" algn="ctr" defTabSz="801688" rtl="0" fontAlgn="base">
        <a:spcBef>
          <a:spcPct val="0"/>
        </a:spcBef>
        <a:spcAft>
          <a:spcPct val="0"/>
        </a:spcAft>
        <a:defRPr sz="3700">
          <a:solidFill>
            <a:schemeClr val="tx2"/>
          </a:solidFill>
          <a:latin typeface="Arial" charset="0"/>
          <a:ea typeface="宋体" charset="-122"/>
        </a:defRPr>
      </a:lvl8pPr>
      <a:lvl9pPr marL="1828800" algn="ctr" defTabSz="801688" rtl="0" fontAlgn="base">
        <a:spcBef>
          <a:spcPct val="0"/>
        </a:spcBef>
        <a:spcAft>
          <a:spcPct val="0"/>
        </a:spcAft>
        <a:defRPr sz="3700">
          <a:solidFill>
            <a:schemeClr val="tx2"/>
          </a:solidFill>
          <a:latin typeface="Arial" charset="0"/>
          <a:ea typeface="宋体" charset="-122"/>
        </a:defRPr>
      </a:lvl9pPr>
    </p:titleStyle>
    <p:bodyStyle>
      <a:lvl1pPr marL="301625" indent="-301625" algn="l" defTabSz="801688" rtl="0" fontAlgn="base">
        <a:spcBef>
          <a:spcPct val="20000"/>
        </a:spcBef>
        <a:spcAft>
          <a:spcPct val="0"/>
        </a:spcAft>
        <a:buChar char="•"/>
        <a:defRPr sz="2800">
          <a:solidFill>
            <a:schemeClr val="tx1"/>
          </a:solidFill>
          <a:latin typeface="+mn-lt"/>
          <a:ea typeface="+mn-ea"/>
          <a:cs typeface="+mn-cs"/>
        </a:defRPr>
      </a:lvl1pPr>
      <a:lvl2pPr marL="654050" indent="-252413" algn="l" defTabSz="801688" rtl="0" fontAlgn="base">
        <a:spcBef>
          <a:spcPct val="20000"/>
        </a:spcBef>
        <a:spcAft>
          <a:spcPct val="0"/>
        </a:spcAft>
        <a:buChar char="–"/>
        <a:defRPr sz="2500">
          <a:solidFill>
            <a:schemeClr val="tx1"/>
          </a:solidFill>
          <a:latin typeface="+mn-lt"/>
          <a:ea typeface="+mn-ea"/>
        </a:defRPr>
      </a:lvl2pPr>
      <a:lvl3pPr marL="1003300" indent="-201613" algn="l" defTabSz="801688" rtl="0" fontAlgn="base">
        <a:spcBef>
          <a:spcPct val="20000"/>
        </a:spcBef>
        <a:spcAft>
          <a:spcPct val="0"/>
        </a:spcAft>
        <a:buChar char="•"/>
        <a:defRPr sz="2200">
          <a:solidFill>
            <a:schemeClr val="tx1"/>
          </a:solidFill>
          <a:latin typeface="+mn-lt"/>
          <a:ea typeface="+mn-ea"/>
        </a:defRPr>
      </a:lvl3pPr>
      <a:lvl4pPr marL="1400175" indent="-198438" algn="l" defTabSz="801688" rtl="0" fontAlgn="base">
        <a:spcBef>
          <a:spcPct val="20000"/>
        </a:spcBef>
        <a:spcAft>
          <a:spcPct val="0"/>
        </a:spcAft>
        <a:buChar char="–"/>
        <a:defRPr sz="1700">
          <a:solidFill>
            <a:schemeClr val="tx1"/>
          </a:solidFill>
          <a:latin typeface="+mn-lt"/>
          <a:ea typeface="+mn-ea"/>
        </a:defRPr>
      </a:lvl4pPr>
      <a:lvl5pPr marL="1800225" indent="-200025" algn="l" defTabSz="801688" rtl="0" fontAlgn="base">
        <a:spcBef>
          <a:spcPct val="20000"/>
        </a:spcBef>
        <a:spcAft>
          <a:spcPct val="0"/>
        </a:spcAft>
        <a:buChar char="»"/>
        <a:defRPr sz="1700">
          <a:solidFill>
            <a:schemeClr val="tx1"/>
          </a:solidFill>
          <a:latin typeface="+mn-lt"/>
          <a:ea typeface="+mn-ea"/>
        </a:defRPr>
      </a:lvl5pPr>
      <a:lvl6pPr marL="2257425" indent="-200025" algn="l" defTabSz="801688" rtl="0" fontAlgn="base">
        <a:spcBef>
          <a:spcPct val="20000"/>
        </a:spcBef>
        <a:spcAft>
          <a:spcPct val="0"/>
        </a:spcAft>
        <a:buChar char="»"/>
        <a:defRPr sz="1700">
          <a:solidFill>
            <a:schemeClr val="tx1"/>
          </a:solidFill>
          <a:latin typeface="+mn-lt"/>
          <a:ea typeface="+mn-ea"/>
        </a:defRPr>
      </a:lvl6pPr>
      <a:lvl7pPr marL="2714625" indent="-200025" algn="l" defTabSz="801688" rtl="0" fontAlgn="base">
        <a:spcBef>
          <a:spcPct val="20000"/>
        </a:spcBef>
        <a:spcAft>
          <a:spcPct val="0"/>
        </a:spcAft>
        <a:buChar char="»"/>
        <a:defRPr sz="1700">
          <a:solidFill>
            <a:schemeClr val="tx1"/>
          </a:solidFill>
          <a:latin typeface="+mn-lt"/>
          <a:ea typeface="+mn-ea"/>
        </a:defRPr>
      </a:lvl7pPr>
      <a:lvl8pPr marL="3171825" indent="-200025" algn="l" defTabSz="801688" rtl="0" fontAlgn="base">
        <a:spcBef>
          <a:spcPct val="20000"/>
        </a:spcBef>
        <a:spcAft>
          <a:spcPct val="0"/>
        </a:spcAft>
        <a:buChar char="»"/>
        <a:defRPr sz="1700">
          <a:solidFill>
            <a:schemeClr val="tx1"/>
          </a:solidFill>
          <a:latin typeface="+mn-lt"/>
          <a:ea typeface="+mn-ea"/>
        </a:defRPr>
      </a:lvl8pPr>
      <a:lvl9pPr marL="3629025" indent="-200025" algn="l" defTabSz="801688" rtl="0" fontAlgn="base">
        <a:spcBef>
          <a:spcPct val="20000"/>
        </a:spcBef>
        <a:spcAft>
          <a:spcPct val="0"/>
        </a:spcAft>
        <a:buChar char="»"/>
        <a:defRPr sz="17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7.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9.emf"/><Relationship Id="rId4" Type="http://schemas.openxmlformats.org/officeDocument/2006/relationships/oleObject" Target="../embeddings/oleObject2.bin"/></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3.emf"/><Relationship Id="rId4" Type="http://schemas.openxmlformats.org/officeDocument/2006/relationships/oleObject" Target="../embeddings/oleObject3.bin"/></Relationships>
</file>

<file path=ppt/slides/_rels/slide35.xml.rels><?xml version="1.0" encoding="UTF-8" standalone="yes"?>
<Relationships xmlns="http://schemas.openxmlformats.org/package/2006/relationships"><Relationship Id="rId2" Type="http://schemas.openxmlformats.org/officeDocument/2006/relationships/hyperlink" Target="http://support.huawei.co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26.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5.xml"/><Relationship Id="rId4" Type="http://schemas.openxmlformats.org/officeDocument/2006/relationships/image" Target="../media/image43.png"/></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46.png"/></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5.xml"/><Relationship Id="rId4" Type="http://schemas.openxmlformats.org/officeDocument/2006/relationships/image" Target="../media/image48.png"/></Relationships>
</file>

<file path=ppt/slides/_rels/slide5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image" Target="../media/image51.png"/></Relationships>
</file>

<file path=ppt/slides/_rels/slide5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image" Target="../media/image53.png"/></Relationships>
</file>

<file path=ppt/slides/_rels/slide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46.xml"/><Relationship Id="rId1" Type="http://schemas.openxmlformats.org/officeDocument/2006/relationships/slideLayout" Target="../slideLayouts/slideLayout5.xml"/><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63.emf"/><Relationship Id="rId4" Type="http://schemas.openxmlformats.org/officeDocument/2006/relationships/oleObject" Target="../embeddings/oleObject4.bin"/></Relationships>
</file>

<file path=ppt/slides/_rels/slide7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1.xml"/><Relationship Id="rId1" Type="http://schemas.openxmlformats.org/officeDocument/2006/relationships/slideLayout" Target="../slideLayouts/slideLayout5.xml"/><Relationship Id="rId4" Type="http://schemas.openxmlformats.org/officeDocument/2006/relationships/image" Target="../media/image71.png"/></Relationships>
</file>

<file path=ppt/slides/_rels/slide81.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7.xml"/><Relationship Id="rId1" Type="http://schemas.openxmlformats.org/officeDocument/2006/relationships/slideLayout" Target="../slideLayouts/slideLayout5.xml"/></Relationships>
</file>

<file path=ppt/slides/_rels/slide9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0.xml"/><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02.wmf"/><Relationship Id="rId4" Type="http://schemas.openxmlformats.org/officeDocument/2006/relationships/package" Target="../embeddings/Microsoft_Excel____1.xlsx"/></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1428" name="Rectangle 36"/>
          <p:cNvSpPr>
            <a:spLocks noGrp="1" noChangeArrowheads="1"/>
          </p:cNvSpPr>
          <p:nvPr>
            <p:ph type="ctrTitle"/>
          </p:nvPr>
        </p:nvSpPr>
        <p:spPr>
          <a:xfrm>
            <a:off x="647700" y="1392238"/>
            <a:ext cx="5848350" cy="1666875"/>
          </a:xfrm>
        </p:spPr>
        <p:txBody>
          <a:bodyPr/>
          <a:lstStyle/>
          <a:p>
            <a:r>
              <a:rPr lang="en-US" altLang="zh-CN" dirty="0" smtClean="0"/>
              <a:t>LTE</a:t>
            </a:r>
            <a:r>
              <a:rPr lang="zh-CN" altLang="en-US" dirty="0" smtClean="0"/>
              <a:t>单站验证</a:t>
            </a:r>
            <a:endParaRPr lang="zh-CN" altLang="en-US" dirty="0"/>
          </a:p>
        </p:txBody>
      </p:sp>
      <p:sp>
        <p:nvSpPr>
          <p:cNvPr id="1211430" name="DtsShapeName" descr="4D8CC8E7GB965315C55EB3D5@EG@1CEG098AA\9;&gt;@DE71139125!!!BIHO@]e71139125!@5E15C21102E29D086D浇唆尼写蓟黔ⅹ郑颂籽吓泞变W0/1/qnu!!!!!!!!!!!!!!!!!!!!!!!!!!!!!!!!!!!!!!!!!!!!!!!!!!!!!!!!!!!!!!!!!!!!!!!!!!!!!!!!!!!!!!!!!!!!!!!!!!!!!!!!!!!!!!!!!!!!!!!!!!!!!!!!!!!!!!!!!!!!!!!!!!!!!!!!!!!!!!!!!!!!!!!!!!!!!!!!!!!!!!!!!!!!!!!!!!!!!!!!!!!!!!!!!!!!!!!!!!!!!!!!!!!!!!!!!!!!!!!!!!!!!!!!!!!!!!!!!!!!!!!!!!!!!!!!!!!!!!!!!!!!!!!!!!!!!!!!!!!!!!!!!!!!!!!!!!!!!!!!!!!!!!!!!!!!!!!!!!!!!!!!!!!!!!!!!!!!!!!!!!!!!!!!!!!!!!!!!!!!!!!!!!!!!!!!!!!!!!!!!!!!!!!!!!!!!!!!!!!!!!!!!!!!!!!!!!!!!!!!!!!!!!!!!!!!!!!!!!!!!!!!!!!!!!!!!!!!!!!!!!!!!!!!!!!!!!!!!!!!!!!!!!!!!!!!!!!!!!!!!!!!!!!!!!!!!!!!!!!!!!!!!!!!!!!!!!!!!!!!!!!!!!!!!!!!!!!!!!!!!!!!!!!!!!!!!!!!!!!!!!!!!!!!!!!!!!!!!!!!!!!!!!!!!!!!!!!!!!!!!!!!!!!!!!!!!!!!!!!!!!!!!!!!!!!!!!!!!!!!!!!!!!!!!!!!!!!!!!!!!!!!!!!!!!!!!!!!!!!!!!!!!!!!!!!!!!!!!!!!!!!!!!!!!!!!!!!!!!!!!!!!!!!!!!!!!!!!!!!!!!!!!!!!!!!!!!!!!!!!!!!!!!!!!!!!!!!!!!!!!!!!!!!!!!!!!!!!!!!!!!!!!!!!!!!!!!!!!!!!!!!!!!!!!!!!!!!!!!!!!!!!!!!!!!!!!!!!!!!!!!!!!!!!!!!!!!!!!!!!!!!!!!!!!!!!!!!!!!!!!!!!!!!!!!!!!!!!!!!!!!!!!!!!!!!!!!!!!!!!!!!!!!!!!!!!!!!!!!!!!!!!!!!!!!!!!!!!!!!!!!!!!!!!!!!!!!!!!!!!!!!!!!!!!!!!!!!!!!!!!!!!!!!!!!!!!!!!!!!!!!!!!!!!!!!!!!!!!!!!!!!!!!!!!!!!!!!!!!!!!!!!!!!!!!!!!!!!!!!!!!!!!!!!!!!!!!!!!!!!!!!!!!!!!!!!!!!!!!!!!!!!!!!!!!!!!!!!!!!!!!!!!!!!!!!!!!!!!!!!!!!!!!!!!!!!!!!!!!!!!!!!!!!!!!!!!!!!!!!!!!!!!!!!!!!!!!!!!!!!!!!!!!!!!!!!!!!!!!!!!!!!!!!!!!!!!!!!!!!!!!!!!!!!!!!!!!!!!!!!!!!!!!!!!!!!!!!!!!!!!!!!!!!!!!!!!!!!!!!!!!!!!!!!!!!!!!!!!!!!!!!!!!!!!!!!!!!!!!!!!!!!!!!!!!!!!!!!!!!!!!!!!!!!!!!!!!!!!!!!!!!!!!!!!!!!!!!!!!!!!!!!!!!!!!!!!!!!!!!!!!!!!!!!!!!!!!!!!!!!!!!!!!!!!!!!!!!!!!!!!!!!!!!!!!!!!!!!!!!!!!!!!!!!!!!!!!!!!!!!!!!!!!!!!!!!!!!!!!!!!!!!!!!!!!!!!!!!!!!!!!!!!!!!!!!!!!!!!!!!!!!!!!!!!!!!!!!!!!!!!!!!!!!!!!!!!!!!!!!!!!!!!!!!!!!!!!!!!!!!!!!!!!!!!!!!!!!!!!!!!!!!!!!!!!!!!!!!!!!!!!!!!!!!!!!!!!!!!!!!!!!!!!!!!!!!!!!!!!!!!!!!!!!!!!!!!!!!!!!!!!!!!!!!!!!!!!!!!!!!!!!!!!!!!!!!!!!!!!!!!!!!!!!!!!!!!!!!!!!!!!!!!!!!!!!!!!!!!!!!!!!!!!!!!!!!!!!!!!!!!!!!!!!!!!!!!!!!!!!!!!!!!!!!!!!!!!!!!!!!!!!!!!!!!!!!!!!!!!!!!!!!!!!!!!!!!!!!!!!!!!!!!!!!!!!!!!!!!!!!!!!!!!!!!!!!!!!!!!!!!!!!!!!!!!!!!!!!!!!!!!!!!!!!!!!!!!!!!!!!!!!!!!!!!!!!!!!!!!!!!!!!!!!!!!!!!!!!!!!!!!!!!!!!!!!!!!!!!!!!!!!!!!!!!!!!!!!!!!!!!!!!!!!!!!!!!!!!!!!!!!!!!!!!!!!!!!!!!!!!!!!!!!!!!!!!!!!!!!!!!!!!!!!!!!!!!!!!!!!!!!!!!!!!!!!!!!!!!!!!!!!!!!!!!!!!!!!!!!!!!!!!!!!!!!!!!!!!!!!!!!!!!!!!!!!!!!!!!!!!!!!!!!!!!!!!!!!!!!!!!!!!!!!!!1!?" hidden="1"/>
          <p:cNvSpPr>
            <a:spLocks noChangeArrowheads="1"/>
          </p:cNvSpPr>
          <p:nvPr/>
        </p:nvSpPr>
        <p:spPr bwMode="auto">
          <a:xfrm>
            <a:off x="0" y="0"/>
            <a:ext cx="1588" cy="1588"/>
          </a:xfrm>
          <a:custGeom>
            <a:avLst/>
            <a:gdLst>
              <a:gd name="T0" fmla="*/ 10860 w 21600"/>
              <a:gd name="T1" fmla="*/ 2187 h 21600"/>
              <a:gd name="T2" fmla="*/ 2928 w 21600"/>
              <a:gd name="T3" fmla="*/ 10800 h 21600"/>
              <a:gd name="T4" fmla="*/ 10860 w 21600"/>
              <a:gd name="T5" fmla="*/ 21600 h 21600"/>
              <a:gd name="T6" fmla="*/ 18672 w 21600"/>
              <a:gd name="T7" fmla="*/ 10800 h 21600"/>
              <a:gd name="T8" fmla="*/ 17694720 60000 65536"/>
              <a:gd name="T9" fmla="*/ 11796480 60000 65536"/>
              <a:gd name="T10" fmla="*/ 5898240 60000 65536"/>
              <a:gd name="T11" fmla="*/ 0 60000 65536"/>
              <a:gd name="T12" fmla="*/ 5037 w 21600"/>
              <a:gd name="T13" fmla="*/ 2277 h 21600"/>
              <a:gd name="T14" fmla="*/ 16557 w 21600"/>
              <a:gd name="T15" fmla="*/ 13677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chemeClr val="accent1"/>
          </a:solidFill>
          <a:ln w="9525" algn="ctr">
            <a:solidFill>
              <a:schemeClr val="tx1"/>
            </a:solidFill>
            <a:miter lim="800000"/>
            <a:headEnd/>
            <a:tailEnd/>
          </a:ln>
          <a:effectLst/>
        </p:spPr>
        <p:txBody>
          <a:bodyPr wrap="none" anchor="ctr"/>
          <a:lstStyle/>
          <a:p>
            <a:endParaRPr lang="zh-CN" altLang="en-US"/>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19100" indent="-419100">
              <a:buClr>
                <a:schemeClr val="tx1"/>
              </a:buClr>
              <a:buSzTx/>
              <a:buFont typeface="Wingdings" pitchFamily="2" charset="2"/>
              <a:buAutoNum type="arabicPeriod"/>
              <a:defRPr/>
            </a:pPr>
            <a:r>
              <a:rPr lang="zh-CN" altLang="en-US" b="1" dirty="0" smtClean="0"/>
              <a:t>概述</a:t>
            </a:r>
            <a:endParaRPr lang="en-US" altLang="zh-CN" b="1" dirty="0" smtClean="0"/>
          </a:p>
          <a:p>
            <a:pPr marL="419100" indent="-419100">
              <a:buClr>
                <a:schemeClr val="tx1"/>
              </a:buClr>
              <a:buSzTx/>
              <a:buFont typeface="Wingdings" pitchFamily="2" charset="2"/>
              <a:buAutoNum type="arabicPeriod"/>
              <a:defRPr/>
            </a:pPr>
            <a:r>
              <a:rPr lang="zh-CN" altLang="en-US" dirty="0" smtClean="0">
                <a:solidFill>
                  <a:srgbClr val="777777"/>
                </a:solidFill>
              </a:rPr>
              <a:t>单站验证准备</a:t>
            </a:r>
            <a:endParaRPr lang="en-US" altLang="zh-CN" dirty="0" smtClean="0">
              <a:solidFill>
                <a:srgbClr val="777777"/>
              </a:solidFill>
            </a:endParaRPr>
          </a:p>
          <a:p>
            <a:pPr marL="419100" indent="-419100">
              <a:buClr>
                <a:schemeClr val="tx1"/>
              </a:buClr>
              <a:buSzTx/>
              <a:buFont typeface="Wingdings" pitchFamily="2" charset="2"/>
              <a:buAutoNum type="arabicPeriod"/>
              <a:defRPr/>
            </a:pPr>
            <a:r>
              <a:rPr lang="en-US" altLang="zh-CN" dirty="0" smtClean="0">
                <a:solidFill>
                  <a:srgbClr val="777777"/>
                </a:solidFill>
              </a:rPr>
              <a:t>LTE</a:t>
            </a:r>
            <a:r>
              <a:rPr lang="zh-CN" altLang="en-US" dirty="0" smtClean="0">
                <a:solidFill>
                  <a:srgbClr val="777777"/>
                </a:solidFill>
              </a:rPr>
              <a:t>单站验证项目</a:t>
            </a:r>
            <a:endParaRPr lang="en-US" altLang="zh-CN" dirty="0" smtClean="0">
              <a:solidFill>
                <a:srgbClr val="777777"/>
              </a:solidFill>
            </a:endParaRPr>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1</a:t>
            </a:fld>
            <a:endParaRPr lang="en-US" altLang="zh-CN"/>
          </a:p>
        </p:txBody>
      </p:sp>
    </p:spTree>
  </p:cSld>
  <p:clrMapOvr>
    <a:masterClrMapping/>
  </p:clrMapOvr>
  <p:transition advClick="0" advTm="800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概述</a:t>
            </a:r>
            <a:endParaRPr lang="zh-CN" altLang="en-US" dirty="0"/>
          </a:p>
        </p:txBody>
      </p:sp>
      <p:sp>
        <p:nvSpPr>
          <p:cNvPr id="3" name="内容占位符 2"/>
          <p:cNvSpPr>
            <a:spLocks noGrp="1"/>
          </p:cNvSpPr>
          <p:nvPr>
            <p:ph idx="1"/>
          </p:nvPr>
        </p:nvSpPr>
        <p:spPr/>
        <p:txBody>
          <a:bodyPr/>
          <a:lstStyle/>
          <a:p>
            <a:r>
              <a:rPr lang="zh-CN" altLang="zh-CN" dirty="0" smtClean="0"/>
              <a:t>单站验证是指在</a:t>
            </a:r>
            <a:r>
              <a:rPr lang="en-US" altLang="zh-CN" dirty="0" err="1" smtClean="0"/>
              <a:t>eNB</a:t>
            </a:r>
            <a:r>
              <a:rPr lang="zh-CN" altLang="zh-CN" dirty="0" smtClean="0"/>
              <a:t>硬件安装调试完成后，对单站点的设备功能和覆盖能力进行的自检测试和验证。当待优化区域内所有小区通过单站验证，表明站点不存在功能性问题，单站验证阶段结束，进入</a:t>
            </a:r>
            <a:r>
              <a:rPr lang="en-US" altLang="zh-CN" dirty="0" smtClean="0"/>
              <a:t>Cluster</a:t>
            </a:r>
            <a:r>
              <a:rPr lang="zh-CN" altLang="zh-CN" dirty="0" smtClean="0"/>
              <a:t>优化阶段。</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a:t>
            </a:fld>
            <a:endParaRPr lang="en-US" altLang="zh-CN"/>
          </a:p>
        </p:txBody>
      </p:sp>
      <p:sp>
        <p:nvSpPr>
          <p:cNvPr id="7188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18849" name="Object 1"/>
          <p:cNvGraphicFramePr>
            <a:graphicFrameLocks noChangeAspect="1"/>
          </p:cNvGraphicFramePr>
          <p:nvPr/>
        </p:nvGraphicFramePr>
        <p:xfrm>
          <a:off x="1146628" y="3483429"/>
          <a:ext cx="7019756" cy="1669142"/>
        </p:xfrm>
        <a:graphic>
          <a:graphicData uri="http://schemas.openxmlformats.org/presentationml/2006/ole">
            <mc:AlternateContent xmlns:mc="http://schemas.openxmlformats.org/markup-compatibility/2006">
              <mc:Choice xmlns:v="urn:schemas-microsoft-com:vml" Requires="v">
                <p:oleObj spid="_x0000_s718852" r:id="rId4" imgW="4288841" imgH="1015594" progId="">
                  <p:embed/>
                </p:oleObj>
              </mc:Choice>
              <mc:Fallback>
                <p:oleObj r:id="rId4" imgW="4288841" imgH="1015594"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6628" y="3483429"/>
                        <a:ext cx="7019756" cy="16691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单站验证目的</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3</a:t>
            </a:fld>
            <a:endParaRPr lang="en-US" altLang="zh-CN"/>
          </a:p>
        </p:txBody>
      </p:sp>
      <p:graphicFrame>
        <p:nvGraphicFramePr>
          <p:cNvPr id="5" name="图示 4"/>
          <p:cNvGraphicFramePr/>
          <p:nvPr/>
        </p:nvGraphicFramePr>
        <p:xfrm>
          <a:off x="1378858" y="1865086"/>
          <a:ext cx="6487886" cy="30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单站验证流程</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a:t>
            </a:fld>
            <a:endParaRPr lang="en-US" altLang="zh-CN"/>
          </a:p>
        </p:txBody>
      </p:sp>
      <p:sp>
        <p:nvSpPr>
          <p:cNvPr id="7290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729091" name="Picture 3"/>
          <p:cNvPicPr>
            <a:picLocks noChangeAspect="1" noChangeArrowheads="1"/>
          </p:cNvPicPr>
          <p:nvPr/>
        </p:nvPicPr>
        <p:blipFill>
          <a:blip r:embed="rId3" cstate="print"/>
          <a:srcRect/>
          <a:stretch>
            <a:fillRect/>
          </a:stretch>
        </p:blipFill>
        <p:spPr bwMode="auto">
          <a:xfrm>
            <a:off x="2388506" y="1169986"/>
            <a:ext cx="4171951" cy="503948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19100" indent="-419100">
              <a:buClr>
                <a:schemeClr val="tx1"/>
              </a:buClr>
              <a:buSzTx/>
              <a:buFont typeface="Wingdings" pitchFamily="2" charset="2"/>
              <a:buAutoNum type="arabicPeriod"/>
              <a:defRPr/>
            </a:pPr>
            <a:r>
              <a:rPr lang="zh-CN" altLang="en-US" dirty="0" smtClean="0">
                <a:solidFill>
                  <a:srgbClr val="777777"/>
                </a:solidFill>
              </a:rPr>
              <a:t>概述</a:t>
            </a:r>
            <a:endParaRPr lang="en-US" altLang="zh-CN" dirty="0" smtClean="0">
              <a:solidFill>
                <a:srgbClr val="777777"/>
              </a:solidFill>
            </a:endParaRPr>
          </a:p>
          <a:p>
            <a:pPr marL="419100" indent="-419100">
              <a:buClr>
                <a:schemeClr val="tx1"/>
              </a:buClr>
              <a:buSzTx/>
              <a:buFont typeface="Wingdings" pitchFamily="2" charset="2"/>
              <a:buAutoNum type="arabicPeriod"/>
              <a:defRPr/>
            </a:pPr>
            <a:r>
              <a:rPr lang="zh-CN" altLang="en-US" b="1" dirty="0" smtClean="0"/>
              <a:t>单站验证准备</a:t>
            </a:r>
            <a:endParaRPr lang="en-US" altLang="zh-CN" b="1" dirty="0" smtClean="0"/>
          </a:p>
          <a:p>
            <a:pPr marL="419100" indent="-419100">
              <a:buClr>
                <a:schemeClr val="tx1"/>
              </a:buClr>
              <a:buSzTx/>
              <a:buFont typeface="Wingdings" pitchFamily="2" charset="2"/>
              <a:buAutoNum type="arabicPeriod"/>
              <a:defRPr/>
            </a:pPr>
            <a:r>
              <a:rPr lang="en-US" altLang="zh-CN" dirty="0" smtClean="0">
                <a:solidFill>
                  <a:srgbClr val="777777"/>
                </a:solidFill>
              </a:rPr>
              <a:t>LTE</a:t>
            </a:r>
            <a:r>
              <a:rPr lang="zh-CN" altLang="en-US" dirty="0" smtClean="0">
                <a:solidFill>
                  <a:srgbClr val="777777"/>
                </a:solidFill>
              </a:rPr>
              <a:t>单站验证项目</a:t>
            </a:r>
            <a:endParaRPr lang="en-US" altLang="zh-CN" dirty="0" smtClean="0">
              <a:solidFill>
                <a:srgbClr val="777777"/>
              </a:solidFill>
            </a:endParaRPr>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5</a:t>
            </a:fld>
            <a:endParaRPr lang="en-US" altLang="zh-CN"/>
          </a:p>
        </p:txBody>
      </p:sp>
    </p:spTree>
  </p:cSld>
  <p:clrMapOvr>
    <a:masterClrMapping/>
  </p:clrMapOvr>
  <p:transition advClick="0" advTm="8000"/>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2"/>
              <a:defRPr/>
            </a:pPr>
            <a:r>
              <a:rPr lang="zh-CN" altLang="en-US" b="1" dirty="0" smtClean="0"/>
              <a:t>单站验证准备</a:t>
            </a:r>
            <a:endParaRPr lang="en-US" altLang="zh-CN" b="1" dirty="0" smtClean="0"/>
          </a:p>
          <a:p>
            <a:pPr marL="809625" lvl="1" indent="-457200">
              <a:buClr>
                <a:schemeClr val="tx1"/>
              </a:buClr>
              <a:buSzTx/>
              <a:buNone/>
              <a:defRPr/>
            </a:pPr>
            <a:r>
              <a:rPr lang="en-US" altLang="zh-CN" b="1" dirty="0" smtClean="0"/>
              <a:t>2.1   </a:t>
            </a:r>
            <a:r>
              <a:rPr lang="zh-CN" altLang="en-US" b="1" dirty="0" smtClean="0"/>
              <a:t>测试准备</a:t>
            </a:r>
            <a:endParaRPr lang="en-US" altLang="zh-CN" b="1" dirty="0" smtClean="0"/>
          </a:p>
          <a:p>
            <a:pPr marL="809625" lvl="1" indent="-457200">
              <a:buClr>
                <a:schemeClr val="tx1"/>
              </a:buClr>
              <a:buSzTx/>
              <a:buNone/>
              <a:defRPr/>
            </a:pPr>
            <a:r>
              <a:rPr lang="en-US" altLang="zh-CN" dirty="0" smtClean="0">
                <a:solidFill>
                  <a:schemeClr val="bg1">
                    <a:lumMod val="85000"/>
                  </a:schemeClr>
                </a:solidFill>
              </a:rPr>
              <a:t>2.2	  </a:t>
            </a:r>
            <a:r>
              <a:rPr lang="zh-CN" altLang="en-US" dirty="0" smtClean="0">
                <a:solidFill>
                  <a:schemeClr val="bg1">
                    <a:lumMod val="85000"/>
                  </a:schemeClr>
                </a:solidFill>
              </a:rPr>
              <a:t>硬件连接及软件安装</a:t>
            </a:r>
            <a:endParaRPr lang="en-US" altLang="zh-CN" dirty="0" smtClean="0">
              <a:solidFill>
                <a:schemeClr val="bg1">
                  <a:lumMod val="85000"/>
                </a:schemeClr>
              </a:solidFill>
            </a:endParaRPr>
          </a:p>
          <a:p>
            <a:pPr marL="809625" lvl="1" indent="-457200">
              <a:buClr>
                <a:schemeClr val="tx1"/>
              </a:buClr>
              <a:buSzTx/>
              <a:buNone/>
              <a:defRPr/>
            </a:pPr>
            <a:r>
              <a:rPr lang="en-US" altLang="zh-CN" dirty="0" smtClean="0">
                <a:solidFill>
                  <a:schemeClr val="bg1">
                    <a:lumMod val="85000"/>
                  </a:schemeClr>
                </a:solidFill>
              </a:rPr>
              <a:t>2.3    </a:t>
            </a:r>
            <a:r>
              <a:rPr lang="zh-CN" altLang="en-US" dirty="0" smtClean="0">
                <a:solidFill>
                  <a:schemeClr val="bg1">
                    <a:lumMod val="85000"/>
                  </a:schemeClr>
                </a:solidFill>
              </a:rPr>
              <a:t>参数及地图导入</a:t>
            </a:r>
            <a:endParaRPr lang="en-US" altLang="zh-CN" dirty="0" smtClean="0">
              <a:solidFill>
                <a:schemeClr val="bg1">
                  <a:lumMod val="85000"/>
                </a:schemeClr>
              </a:solidFill>
            </a:endParaRPr>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6</a:t>
            </a:fld>
            <a:endParaRPr lang="en-US" altLang="zh-CN"/>
          </a:p>
        </p:txBody>
      </p:sp>
    </p:spTree>
  </p:cSld>
  <p:clrMapOvr>
    <a:masterClrMapping/>
  </p:clrMapOvr>
  <p:transition advClick="0" advTm="8000"/>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常用工具</a:t>
            </a:r>
            <a:endParaRPr lang="zh-CN" altLang="en-US" dirty="0"/>
          </a:p>
        </p:txBody>
      </p:sp>
      <p:sp>
        <p:nvSpPr>
          <p:cNvPr id="3" name="内容占位符 2"/>
          <p:cNvSpPr>
            <a:spLocks noGrp="1"/>
          </p:cNvSpPr>
          <p:nvPr>
            <p:ph idx="1"/>
          </p:nvPr>
        </p:nvSpPr>
        <p:spPr/>
        <p:txBody>
          <a:bodyPr/>
          <a:lstStyle/>
          <a:p>
            <a:r>
              <a:rPr lang="en-US" altLang="zh-CN" dirty="0" smtClean="0"/>
              <a:t>Probe</a:t>
            </a:r>
            <a:r>
              <a:rPr lang="zh-CN" altLang="zh-CN" dirty="0" smtClean="0"/>
              <a:t>是一款空口测试工具，主要用于搜集</a:t>
            </a:r>
            <a:r>
              <a:rPr lang="en-US" altLang="zh-CN" dirty="0" smtClean="0"/>
              <a:t>LTE</a:t>
            </a:r>
            <a:r>
              <a:rPr lang="zh-CN" altLang="zh-CN" dirty="0" smtClean="0"/>
              <a:t>网络空口测试数据。</a:t>
            </a:r>
          </a:p>
          <a:p>
            <a:r>
              <a:rPr lang="en-US" altLang="zh-CN" dirty="0" err="1" smtClean="0"/>
              <a:t>Iperf</a:t>
            </a:r>
            <a:r>
              <a:rPr lang="zh-CN" altLang="zh-CN" dirty="0" smtClean="0"/>
              <a:t>工具是一款用于测试空口能力的</a:t>
            </a:r>
            <a:r>
              <a:rPr lang="en-US" altLang="zh-CN" dirty="0" smtClean="0"/>
              <a:t>UDP</a:t>
            </a:r>
            <a:r>
              <a:rPr lang="zh-CN" altLang="zh-CN" dirty="0" smtClean="0"/>
              <a:t>灌包工具，它可以屏蔽掉应用层参数设置问题，直接用来验证</a:t>
            </a:r>
            <a:r>
              <a:rPr lang="en-US" altLang="zh-CN" dirty="0" smtClean="0"/>
              <a:t>LTE</a:t>
            </a:r>
            <a:r>
              <a:rPr lang="zh-CN" altLang="zh-CN" dirty="0" smtClean="0"/>
              <a:t>空口能力。</a:t>
            </a:r>
          </a:p>
          <a:p>
            <a:r>
              <a:rPr lang="en-US" altLang="zh-CN" dirty="0" smtClean="0"/>
              <a:t>Ethereal</a:t>
            </a:r>
            <a:r>
              <a:rPr lang="zh-CN" altLang="zh-CN" dirty="0" smtClean="0"/>
              <a:t>是一款常用的网络抓包工具，支持多种协议解析，可以用来分析网络行为，对数传问题定位有很大的帮助。</a:t>
            </a:r>
          </a:p>
          <a:p>
            <a:r>
              <a:rPr lang="en-US" altLang="zh-CN" dirty="0" smtClean="0"/>
              <a:t>CHR</a:t>
            </a:r>
            <a:r>
              <a:rPr lang="zh-CN" altLang="zh-CN" dirty="0" smtClean="0"/>
              <a:t>和一键式日志是用来搜集呼叫日志和系统运行日志，通过这些日志可以分析和定位常见的一些问题。</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7</a:t>
            </a:fld>
            <a:endParaRPr lang="en-US" altLang="zh-CN"/>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测试路线规划</a:t>
            </a:r>
            <a:endParaRPr lang="zh-CN" altLang="en-US" dirty="0"/>
          </a:p>
        </p:txBody>
      </p:sp>
      <p:sp>
        <p:nvSpPr>
          <p:cNvPr id="3" name="内容占位符 2"/>
          <p:cNvSpPr>
            <a:spLocks noGrp="1"/>
          </p:cNvSpPr>
          <p:nvPr>
            <p:ph idx="1"/>
          </p:nvPr>
        </p:nvSpPr>
        <p:spPr/>
        <p:txBody>
          <a:bodyPr/>
          <a:lstStyle/>
          <a:p>
            <a:r>
              <a:rPr lang="zh-CN" altLang="zh-CN" dirty="0" smtClean="0"/>
              <a:t>按照待验证站点的场景，基本可以把站点划分为三类：</a:t>
            </a:r>
          </a:p>
          <a:p>
            <a:pPr lvl="1"/>
            <a:r>
              <a:rPr lang="zh-CN" altLang="en-US" dirty="0" smtClean="0"/>
              <a:t>城市</a:t>
            </a:r>
            <a:r>
              <a:rPr lang="zh-CN" altLang="zh-CN" dirty="0" smtClean="0"/>
              <a:t>站点</a:t>
            </a:r>
          </a:p>
          <a:p>
            <a:pPr lvl="1"/>
            <a:r>
              <a:rPr lang="zh-CN" altLang="en-US" dirty="0" smtClean="0"/>
              <a:t>远程</a:t>
            </a:r>
            <a:r>
              <a:rPr lang="zh-CN" altLang="zh-CN" dirty="0" smtClean="0"/>
              <a:t>站点</a:t>
            </a:r>
          </a:p>
          <a:p>
            <a:pPr lvl="1"/>
            <a:r>
              <a:rPr lang="zh-CN" altLang="en-US" dirty="0" smtClean="0"/>
              <a:t>高速公路</a:t>
            </a:r>
            <a:r>
              <a:rPr lang="zh-CN" altLang="zh-CN" dirty="0" smtClean="0"/>
              <a:t>站点</a:t>
            </a:r>
            <a:endParaRPr lang="en-US" altLang="zh-CN" dirty="0" smtClean="0"/>
          </a:p>
          <a:p>
            <a:pPr marL="301625" lvl="1" indent="-301625">
              <a:buClr>
                <a:srgbClr val="808080"/>
              </a:buClr>
              <a:buSzPct val="60000"/>
              <a:buFont typeface="Wingdings" pitchFamily="2" charset="2"/>
              <a:buChar char="l"/>
            </a:pPr>
            <a:r>
              <a:rPr lang="zh-CN" altLang="zh-CN" sz="2200" dirty="0" smtClean="0">
                <a:cs typeface="+mn-cs"/>
              </a:rPr>
              <a:t>针对每种测试站点在设计测试路线时要求各有不同，每个站点应当定义一个以站点为圆心的</a:t>
            </a:r>
            <a:r>
              <a:rPr lang="en-US" altLang="zh-CN" sz="2200" dirty="0" smtClean="0">
                <a:cs typeface="+mn-cs"/>
              </a:rPr>
              <a:t>”Ring”</a:t>
            </a:r>
            <a:r>
              <a:rPr lang="zh-CN" altLang="zh-CN" sz="2200" dirty="0" smtClean="0">
                <a:cs typeface="+mn-cs"/>
              </a:rPr>
              <a:t>。</a:t>
            </a:r>
          </a:p>
          <a:p>
            <a:endParaRPr lang="zh-CN" altLang="en-US"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8</a:t>
            </a:fld>
            <a:endParaRPr lang="en-US" altLang="zh-CN"/>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日期占位符 3"/>
          <p:cNvSpPr>
            <a:spLocks noGrp="1"/>
          </p:cNvSpPr>
          <p:nvPr>
            <p:ph type="dt" sz="quarter" idx="10"/>
          </p:nvPr>
        </p:nvSpPr>
        <p:spPr bwMode="auto">
          <a:noFill/>
          <a:ln>
            <a:miter lim="800000"/>
            <a:headEnd/>
            <a:tailEnd/>
          </a:ln>
        </p:spPr>
        <p:txBody>
          <a:bodyPr vert="horz" wrap="square" lIns="91440" tIns="45720" rIns="91440" bIns="45720" numCol="1" anchor="t" anchorCtr="0" compatLnSpc="1">
            <a:prstTxWarp prst="textNoShape">
              <a:avLst/>
            </a:prstTxWarp>
          </a:bodyPr>
          <a:lstStyle/>
          <a:p>
            <a:r>
              <a:rPr lang="de-DE" altLang="zh-CN"/>
              <a:t>Page </a:t>
            </a:r>
            <a:fld id="{45BF491D-7196-4373-A03B-38E134AED163}" type="slidenum">
              <a:rPr lang="de-DE" altLang="zh-CN"/>
              <a:pPr/>
              <a:t>9</a:t>
            </a:fld>
            <a:endParaRPr lang="en-GB" altLang="zh-CN"/>
          </a:p>
        </p:txBody>
      </p:sp>
      <p:sp>
        <p:nvSpPr>
          <p:cNvPr id="1028" name="Rectangle 2"/>
          <p:cNvSpPr>
            <a:spLocks noGrp="1" noChangeArrowheads="1"/>
          </p:cNvSpPr>
          <p:nvPr>
            <p:ph type="title"/>
          </p:nvPr>
        </p:nvSpPr>
        <p:spPr/>
        <p:txBody>
          <a:bodyPr/>
          <a:lstStyle/>
          <a:p>
            <a:pPr eaLnBrk="1" hangingPunct="1"/>
            <a:r>
              <a:rPr lang="zh-CN" altLang="en-US" smtClean="0"/>
              <a:t>单站点验证－测试路线的选择</a:t>
            </a:r>
          </a:p>
        </p:txBody>
      </p:sp>
      <p:sp>
        <p:nvSpPr>
          <p:cNvPr id="1029" name="Rectangle 3"/>
          <p:cNvSpPr>
            <a:spLocks noGrp="1" noChangeArrowheads="1"/>
          </p:cNvSpPr>
          <p:nvPr>
            <p:ph type="body" idx="1"/>
          </p:nvPr>
        </p:nvSpPr>
        <p:spPr>
          <a:xfrm>
            <a:off x="684213" y="1341438"/>
            <a:ext cx="7929562" cy="1655762"/>
          </a:xfrm>
        </p:spPr>
        <p:txBody>
          <a:bodyPr/>
          <a:lstStyle/>
          <a:p>
            <a:r>
              <a:rPr lang="zh-CN" altLang="en-US" dirty="0" smtClean="0"/>
              <a:t>测试路线选择 </a:t>
            </a:r>
          </a:p>
          <a:p>
            <a:pPr lvl="1" eaLnBrk="1" hangingPunct="1">
              <a:buFont typeface="Wingdings" pitchFamily="2" charset="2"/>
              <a:buNone/>
            </a:pPr>
            <a:r>
              <a:rPr lang="zh-CN" altLang="en-US" dirty="0" smtClean="0"/>
              <a:t>	路测线路需要连接同一站点下各扇区的测试点。要求测试路线上尽量避免建筑物信号阻挡。</a:t>
            </a:r>
          </a:p>
        </p:txBody>
      </p:sp>
      <p:graphicFrame>
        <p:nvGraphicFramePr>
          <p:cNvPr id="1026" name="Object 4"/>
          <p:cNvGraphicFramePr>
            <a:graphicFrameLocks noGrp="1" noChangeAspect="1"/>
          </p:cNvGraphicFramePr>
          <p:nvPr>
            <p:ph sz="half" idx="4294967295"/>
          </p:nvPr>
        </p:nvGraphicFramePr>
        <p:xfrm>
          <a:off x="2555875" y="2924175"/>
          <a:ext cx="3455988" cy="3168650"/>
        </p:xfrm>
        <a:graphic>
          <a:graphicData uri="http://schemas.openxmlformats.org/presentationml/2006/ole">
            <mc:AlternateContent xmlns:mc="http://schemas.openxmlformats.org/markup-compatibility/2006">
              <mc:Choice xmlns:v="urn:schemas-microsoft-com:vml" Requires="v">
                <p:oleObj spid="_x0000_s940037" r:id="rId4" imgW="2579040" imgH="2722680" progId="">
                  <p:embed/>
                </p:oleObj>
              </mc:Choice>
              <mc:Fallback>
                <p:oleObj r:id="rId4" imgW="2579040" imgH="272268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55875" y="2924175"/>
                        <a:ext cx="3455988" cy="316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测试站点实例</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a:t>
            </a:fld>
            <a:endParaRPr lang="en-US" altLang="zh-CN"/>
          </a:p>
        </p:txBody>
      </p:sp>
      <p:pic>
        <p:nvPicPr>
          <p:cNvPr id="5" name="图片 4"/>
          <p:cNvPicPr/>
          <p:nvPr/>
        </p:nvPicPr>
        <p:blipFill>
          <a:blip r:embed="rId3" cstate="print">
            <a:grayscl/>
          </a:blip>
          <a:srcRect/>
          <a:stretch>
            <a:fillRect/>
          </a:stretch>
        </p:blipFill>
        <p:spPr bwMode="auto">
          <a:xfrm>
            <a:off x="1103086" y="1654630"/>
            <a:ext cx="7039427" cy="4223656"/>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站点测试原则</a:t>
            </a:r>
            <a:endParaRPr lang="zh-CN" altLang="en-US" dirty="0"/>
          </a:p>
        </p:txBody>
      </p:sp>
      <p:sp>
        <p:nvSpPr>
          <p:cNvPr id="3" name="内容占位符 2"/>
          <p:cNvSpPr>
            <a:spLocks noGrp="1"/>
          </p:cNvSpPr>
          <p:nvPr>
            <p:ph idx="1"/>
          </p:nvPr>
        </p:nvSpPr>
        <p:spPr/>
        <p:txBody>
          <a:bodyPr/>
          <a:lstStyle/>
          <a:p>
            <a:pPr lvl="0"/>
            <a:r>
              <a:rPr lang="zh-CN" altLang="zh-CN" dirty="0" smtClean="0"/>
              <a:t>测试路线尽可能跑全待测基站各个扇区覆盖方向上的公路；</a:t>
            </a:r>
          </a:p>
          <a:p>
            <a:pPr lvl="0"/>
            <a:r>
              <a:rPr lang="zh-CN" altLang="zh-CN" dirty="0" smtClean="0"/>
              <a:t>测试路线应当超过测试</a:t>
            </a:r>
            <a:r>
              <a:rPr lang="en-US" altLang="zh-CN" dirty="0" smtClean="0"/>
              <a:t>Ring</a:t>
            </a:r>
            <a:r>
              <a:rPr lang="zh-CN" altLang="zh-CN" dirty="0" smtClean="0"/>
              <a:t>的规定范围，且直到测试到邻区站发生切换为止。</a:t>
            </a:r>
          </a:p>
          <a:p>
            <a:r>
              <a:rPr lang="zh-CN" altLang="zh-CN" dirty="0" smtClean="0"/>
              <a:t>另外对于</a:t>
            </a:r>
            <a:r>
              <a:rPr lang="en-US" altLang="zh-CN" dirty="0" smtClean="0"/>
              <a:t>Urban</a:t>
            </a:r>
            <a:r>
              <a:rPr lang="zh-CN" altLang="zh-CN" dirty="0" smtClean="0"/>
              <a:t>站点，如果待验证站点能够基本连续覆盖，推荐选择以</a:t>
            </a:r>
            <a:r>
              <a:rPr lang="en-US" altLang="zh-CN" dirty="0" smtClean="0"/>
              <a:t>Cluster</a:t>
            </a:r>
            <a:r>
              <a:rPr lang="zh-CN" altLang="zh-CN" dirty="0" smtClean="0"/>
              <a:t>的形式组织测试，在测试时应当额外需要把握下面的原则：</a:t>
            </a:r>
          </a:p>
          <a:p>
            <a:pPr lvl="0"/>
            <a:r>
              <a:rPr lang="zh-CN" altLang="zh-CN" dirty="0" smtClean="0"/>
              <a:t>测试路线尽量跑全待测基站周围所有主要街道；</a:t>
            </a:r>
          </a:p>
          <a:p>
            <a:pPr lvl="0"/>
            <a:r>
              <a:rPr lang="zh-CN" altLang="zh-CN" dirty="0" smtClean="0"/>
              <a:t>测试路线尽量考虑当地的行车习惯，减少过红绿灯时的等待时间。</a:t>
            </a:r>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a:t>
            </a:fld>
            <a:endParaRPr lang="en-US" altLang="zh-CN"/>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测试路线示意图</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a:t>
            </a:fld>
            <a:endParaRPr lang="en-US" altLang="zh-CN"/>
          </a:p>
        </p:txBody>
      </p:sp>
      <p:pic>
        <p:nvPicPr>
          <p:cNvPr id="5" name="图片 4"/>
          <p:cNvPicPr/>
          <p:nvPr/>
        </p:nvPicPr>
        <p:blipFill>
          <a:blip r:embed="rId3" cstate="print"/>
          <a:srcRect/>
          <a:stretch>
            <a:fillRect/>
          </a:stretch>
        </p:blipFill>
        <p:spPr bwMode="auto">
          <a:xfrm>
            <a:off x="2042885" y="1700893"/>
            <a:ext cx="5098144" cy="4017736"/>
          </a:xfrm>
          <a:prstGeom prst="rect">
            <a:avLst/>
          </a:prstGeom>
          <a:noFill/>
          <a:ln w="9525">
            <a:solidFill>
              <a:schemeClr val="tx1"/>
            </a:solid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测试方法确认</a:t>
            </a:r>
            <a:endParaRPr lang="zh-CN" altLang="en-US" dirty="0"/>
          </a:p>
        </p:txBody>
      </p:sp>
      <p:sp>
        <p:nvSpPr>
          <p:cNvPr id="3" name="内容占位符 2"/>
          <p:cNvSpPr>
            <a:spLocks noGrp="1"/>
          </p:cNvSpPr>
          <p:nvPr>
            <p:ph idx="1"/>
          </p:nvPr>
        </p:nvSpPr>
        <p:spPr/>
        <p:txBody>
          <a:bodyPr/>
          <a:lstStyle/>
          <a:p>
            <a:r>
              <a:rPr lang="zh-CN" altLang="zh-CN" dirty="0" smtClean="0"/>
              <a:t>单站验证的测试方法对于所有站点的测试都是通用的，通常需要确认好相关内容。</a:t>
            </a:r>
            <a:endParaRPr lang="en-US" altLang="zh-CN" dirty="0" smtClean="0"/>
          </a:p>
          <a:p>
            <a:r>
              <a:rPr lang="zh-CN" altLang="zh-CN" dirty="0" smtClean="0"/>
              <a:t>对</a:t>
            </a:r>
            <a:r>
              <a:rPr lang="en-US" altLang="zh-CN" dirty="0" smtClean="0"/>
              <a:t>LTE</a:t>
            </a:r>
            <a:r>
              <a:rPr lang="zh-CN" altLang="zh-CN" dirty="0" smtClean="0"/>
              <a:t>来说，测试方法包括：</a:t>
            </a:r>
            <a:endParaRPr lang="en-US" altLang="zh-CN" dirty="0" smtClean="0"/>
          </a:p>
          <a:p>
            <a:pPr lvl="1"/>
            <a:r>
              <a:rPr lang="zh-CN" altLang="zh-CN" dirty="0" smtClean="0"/>
              <a:t>测试路线的选择</a:t>
            </a:r>
          </a:p>
          <a:p>
            <a:pPr lvl="1"/>
            <a:r>
              <a:rPr lang="zh-CN" altLang="zh-CN" dirty="0" smtClean="0"/>
              <a:t>测试任务的选择，具体测试时需要对</a:t>
            </a:r>
            <a:r>
              <a:rPr lang="en-US" altLang="zh-CN" dirty="0" smtClean="0"/>
              <a:t>DT</a:t>
            </a:r>
            <a:r>
              <a:rPr lang="zh-CN" altLang="zh-CN" dirty="0" smtClean="0"/>
              <a:t>测试方式</a:t>
            </a:r>
            <a:r>
              <a:rPr lang="en-US" altLang="zh-CN" dirty="0" smtClean="0"/>
              <a:t> </a:t>
            </a:r>
            <a:r>
              <a:rPr lang="zh-CN" altLang="zh-CN" dirty="0" smtClean="0"/>
              <a:t>进行组合，原则是能够完成</a:t>
            </a:r>
            <a:r>
              <a:rPr lang="en-US" altLang="zh-CN" dirty="0" smtClean="0">
                <a:hlinkClick r:id="" action="ppaction://hlinkfile"/>
              </a:rPr>
              <a:t>《</a:t>
            </a:r>
            <a:r>
              <a:rPr lang="en-US" altLang="zh-CN" dirty="0" err="1" smtClean="0">
                <a:hlinkClick r:id="" action="ppaction://hlinkfile"/>
              </a:rPr>
              <a:t>单站点验证报告</a:t>
            </a:r>
            <a:r>
              <a:rPr lang="en-US" altLang="zh-CN" dirty="0" smtClean="0">
                <a:hlinkClick r:id="" action="ppaction://hlinkfile"/>
              </a:rPr>
              <a:t>》</a:t>
            </a:r>
            <a:r>
              <a:rPr lang="zh-CN" altLang="zh-CN" dirty="0" smtClean="0"/>
              <a:t>中的相关测试即可。</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13</a:t>
            </a:fld>
            <a:endParaRPr lang="en-US" altLang="zh-CN"/>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测试方式</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14</a:t>
            </a:fld>
            <a:endParaRPr lang="en-US" altLang="zh-CN"/>
          </a:p>
        </p:txBody>
      </p:sp>
      <p:graphicFrame>
        <p:nvGraphicFramePr>
          <p:cNvPr id="5" name="表格 4"/>
          <p:cNvGraphicFramePr>
            <a:graphicFrameLocks noGrp="1"/>
          </p:cNvGraphicFramePr>
          <p:nvPr/>
        </p:nvGraphicFramePr>
        <p:xfrm>
          <a:off x="1523997" y="1756231"/>
          <a:ext cx="6023431" cy="3815682"/>
        </p:xfrm>
        <a:graphic>
          <a:graphicData uri="http://schemas.openxmlformats.org/drawingml/2006/table">
            <a:tbl>
              <a:tblPr/>
              <a:tblGrid>
                <a:gridCol w="1785260"/>
                <a:gridCol w="4238171"/>
              </a:tblGrid>
              <a:tr h="595083">
                <a:tc>
                  <a:txBody>
                    <a:bodyPr/>
                    <a:lstStyle/>
                    <a:p>
                      <a:pPr algn="ctr">
                        <a:lnSpc>
                          <a:spcPts val="1200"/>
                        </a:lnSpc>
                        <a:spcBef>
                          <a:spcPts val="800"/>
                        </a:spcBef>
                        <a:spcAft>
                          <a:spcPts val="0"/>
                        </a:spcAft>
                      </a:pPr>
                      <a:r>
                        <a:rPr lang="zh-CN" sz="1800" b="1" kern="0" dirty="0">
                          <a:latin typeface="Times New Roman"/>
                          <a:ea typeface="黑体"/>
                          <a:cs typeface="宋体"/>
                        </a:rPr>
                        <a:t>测试项</a:t>
                      </a:r>
                      <a:endParaRPr lang="zh-CN" sz="1800" kern="100" dirty="0">
                        <a:latin typeface="Times New Roman"/>
                        <a:ea typeface="宋体"/>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c>
                  <a:txBody>
                    <a:bodyPr/>
                    <a:lstStyle/>
                    <a:p>
                      <a:pPr algn="ctr">
                        <a:lnSpc>
                          <a:spcPts val="1200"/>
                        </a:lnSpc>
                        <a:spcBef>
                          <a:spcPts val="800"/>
                        </a:spcBef>
                        <a:spcAft>
                          <a:spcPts val="0"/>
                        </a:spcAft>
                      </a:pPr>
                      <a:r>
                        <a:rPr lang="zh-CN" sz="1800" b="1" kern="0" dirty="0">
                          <a:latin typeface="Times New Roman"/>
                          <a:ea typeface="黑体"/>
                          <a:cs typeface="宋体"/>
                        </a:rPr>
                        <a:t>测试方式</a:t>
                      </a:r>
                      <a:endParaRPr lang="zh-CN" sz="1800" kern="100" dirty="0">
                        <a:latin typeface="Times New Roman"/>
                        <a:ea typeface="宋体"/>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C0C0"/>
                    </a:solidFill>
                  </a:tcPr>
                </a:tc>
              </a:tr>
              <a:tr h="585628">
                <a:tc rowSpan="6">
                  <a:txBody>
                    <a:bodyPr/>
                    <a:lstStyle/>
                    <a:p>
                      <a:pPr algn="ctr">
                        <a:lnSpc>
                          <a:spcPts val="1200"/>
                        </a:lnSpc>
                        <a:spcBef>
                          <a:spcPts val="800"/>
                        </a:spcBef>
                        <a:spcAft>
                          <a:spcPts val="0"/>
                        </a:spcAft>
                      </a:pPr>
                      <a:r>
                        <a:rPr lang="zh-CN" altLang="en-US" sz="1800" kern="0" dirty="0" smtClean="0">
                          <a:latin typeface="+mn-ea"/>
                          <a:ea typeface="+mn-ea"/>
                          <a:cs typeface="Times New Roman"/>
                        </a:rPr>
                        <a:t>手机或数据卡</a:t>
                      </a:r>
                      <a:endParaRPr lang="zh-CN" sz="1800" kern="100" dirty="0">
                        <a:latin typeface="+mn-ea"/>
                        <a:ea typeface="+mn-ea"/>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200"/>
                        </a:lnSpc>
                        <a:spcBef>
                          <a:spcPts val="800"/>
                        </a:spcBef>
                        <a:spcAft>
                          <a:spcPts val="0"/>
                        </a:spcAft>
                      </a:pPr>
                      <a:r>
                        <a:rPr lang="en-US" sz="1800" kern="0" dirty="0">
                          <a:latin typeface="+mn-ea"/>
                          <a:ea typeface="+mn-ea"/>
                          <a:cs typeface="宋体"/>
                        </a:rPr>
                        <a:t>LTE Attach </a:t>
                      </a:r>
                      <a:r>
                        <a:rPr lang="zh-CN" sz="1800" kern="0" dirty="0">
                          <a:latin typeface="+mn-ea"/>
                          <a:ea typeface="+mn-ea"/>
                          <a:cs typeface="宋体"/>
                        </a:rPr>
                        <a:t>入网测试</a:t>
                      </a:r>
                      <a:endParaRPr lang="zh-CN" sz="1800" kern="100" dirty="0">
                        <a:latin typeface="+mn-ea"/>
                        <a:ea typeface="+mn-ea"/>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8771">
                <a:tc vMerge="1">
                  <a:txBody>
                    <a:bodyPr/>
                    <a:lstStyle/>
                    <a:p>
                      <a:endParaRPr lang="zh-CN" altLang="en-US"/>
                    </a:p>
                  </a:txBody>
                  <a:tcPr/>
                </a:tc>
                <a:tc>
                  <a:txBody>
                    <a:bodyPr/>
                    <a:lstStyle/>
                    <a:p>
                      <a:pPr algn="ctr">
                        <a:lnSpc>
                          <a:spcPts val="1200"/>
                        </a:lnSpc>
                        <a:spcBef>
                          <a:spcPts val="800"/>
                        </a:spcBef>
                        <a:spcAft>
                          <a:spcPts val="0"/>
                        </a:spcAft>
                      </a:pPr>
                      <a:r>
                        <a:rPr lang="en-US" sz="1800" kern="0" dirty="0">
                          <a:latin typeface="+mn-ea"/>
                          <a:ea typeface="+mn-ea"/>
                          <a:cs typeface="宋体"/>
                        </a:rPr>
                        <a:t>LTE </a:t>
                      </a:r>
                      <a:r>
                        <a:rPr lang="en-US" sz="1800" kern="0" dirty="0" smtClean="0">
                          <a:latin typeface="+mn-ea"/>
                          <a:ea typeface="+mn-ea"/>
                          <a:cs typeface="宋体"/>
                        </a:rPr>
                        <a:t>Detach </a:t>
                      </a:r>
                      <a:r>
                        <a:rPr lang="zh-CN" sz="1800" kern="0" dirty="0">
                          <a:latin typeface="+mn-ea"/>
                          <a:ea typeface="+mn-ea"/>
                          <a:cs typeface="宋体"/>
                        </a:rPr>
                        <a:t>退网测试</a:t>
                      </a:r>
                      <a:endParaRPr lang="zh-CN" sz="1800" kern="100" dirty="0">
                        <a:latin typeface="+mn-ea"/>
                        <a:ea typeface="+mn-ea"/>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58146">
                <a:tc vMerge="1">
                  <a:txBody>
                    <a:bodyPr/>
                    <a:lstStyle/>
                    <a:p>
                      <a:endParaRPr lang="zh-CN" altLang="en-US"/>
                    </a:p>
                  </a:txBody>
                  <a:tcPr/>
                </a:tc>
                <a:tc>
                  <a:txBody>
                    <a:bodyPr/>
                    <a:lstStyle/>
                    <a:p>
                      <a:pPr algn="ctr">
                        <a:lnSpc>
                          <a:spcPts val="1200"/>
                        </a:lnSpc>
                        <a:spcBef>
                          <a:spcPts val="800"/>
                        </a:spcBef>
                        <a:spcAft>
                          <a:spcPts val="0"/>
                        </a:spcAft>
                      </a:pPr>
                      <a:r>
                        <a:rPr lang="en-US" sz="1800" kern="0" dirty="0">
                          <a:latin typeface="+mn-ea"/>
                          <a:ea typeface="+mn-ea"/>
                          <a:cs typeface="宋体"/>
                        </a:rPr>
                        <a:t>LTE PING </a:t>
                      </a:r>
                      <a:r>
                        <a:rPr lang="zh-CN" sz="1800" kern="0" dirty="0">
                          <a:latin typeface="+mn-ea"/>
                          <a:ea typeface="+mn-ea"/>
                          <a:cs typeface="宋体"/>
                        </a:rPr>
                        <a:t>时延测试</a:t>
                      </a:r>
                      <a:endParaRPr lang="zh-CN" sz="1800" kern="100" dirty="0">
                        <a:latin typeface="+mn-ea"/>
                        <a:ea typeface="+mn-ea"/>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88316">
                <a:tc vMerge="1">
                  <a:txBody>
                    <a:bodyPr/>
                    <a:lstStyle/>
                    <a:p>
                      <a:endParaRPr lang="zh-CN" altLang="en-US"/>
                    </a:p>
                  </a:txBody>
                  <a:tcPr/>
                </a:tc>
                <a:tc>
                  <a:txBody>
                    <a:bodyPr/>
                    <a:lstStyle/>
                    <a:p>
                      <a:pPr algn="ctr">
                        <a:lnSpc>
                          <a:spcPts val="1200"/>
                        </a:lnSpc>
                        <a:spcBef>
                          <a:spcPts val="800"/>
                        </a:spcBef>
                        <a:spcAft>
                          <a:spcPts val="0"/>
                        </a:spcAft>
                      </a:pPr>
                      <a:r>
                        <a:rPr lang="en-US" sz="1800" kern="0" dirty="0">
                          <a:latin typeface="+mn-ea"/>
                          <a:ea typeface="+mn-ea"/>
                          <a:cs typeface="宋体"/>
                        </a:rPr>
                        <a:t>LTE FTP</a:t>
                      </a:r>
                      <a:r>
                        <a:rPr lang="zh-CN" sz="1800" kern="0" dirty="0">
                          <a:latin typeface="+mn-ea"/>
                          <a:ea typeface="+mn-ea"/>
                          <a:cs typeface="宋体"/>
                        </a:rPr>
                        <a:t>下载测试</a:t>
                      </a:r>
                      <a:endParaRPr lang="zh-CN" sz="1800" kern="100" dirty="0">
                        <a:latin typeface="+mn-ea"/>
                        <a:ea typeface="+mn-ea"/>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4869">
                <a:tc vMerge="1">
                  <a:txBody>
                    <a:bodyPr/>
                    <a:lstStyle/>
                    <a:p>
                      <a:endParaRPr lang="zh-CN" altLang="en-US"/>
                    </a:p>
                  </a:txBody>
                  <a:tcPr/>
                </a:tc>
                <a:tc>
                  <a:txBody>
                    <a:bodyPr/>
                    <a:lstStyle/>
                    <a:p>
                      <a:pPr algn="ctr">
                        <a:lnSpc>
                          <a:spcPts val="1200"/>
                        </a:lnSpc>
                        <a:spcBef>
                          <a:spcPts val="800"/>
                        </a:spcBef>
                        <a:spcAft>
                          <a:spcPts val="0"/>
                        </a:spcAft>
                      </a:pPr>
                      <a:r>
                        <a:rPr lang="en-US" sz="1800" kern="0" dirty="0">
                          <a:latin typeface="+mn-ea"/>
                          <a:ea typeface="+mn-ea"/>
                          <a:cs typeface="宋体"/>
                        </a:rPr>
                        <a:t>LTE FTP</a:t>
                      </a:r>
                      <a:r>
                        <a:rPr lang="zh-CN" sz="1800" kern="0" dirty="0">
                          <a:latin typeface="+mn-ea"/>
                          <a:ea typeface="+mn-ea"/>
                          <a:cs typeface="宋体"/>
                        </a:rPr>
                        <a:t>上载测试</a:t>
                      </a:r>
                      <a:endParaRPr lang="zh-CN" sz="1800" kern="100" dirty="0">
                        <a:latin typeface="+mn-ea"/>
                        <a:ea typeface="+mn-ea"/>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64869">
                <a:tc vMerge="1">
                  <a:txBody>
                    <a:bodyPr/>
                    <a:lstStyle/>
                    <a:p>
                      <a:endParaRPr lang="zh-CN" altLang="en-US"/>
                    </a:p>
                  </a:txBody>
                  <a:tcPr/>
                </a:tc>
                <a:tc>
                  <a:txBody>
                    <a:bodyPr/>
                    <a:lstStyle/>
                    <a:p>
                      <a:pPr algn="ctr">
                        <a:lnSpc>
                          <a:spcPts val="1200"/>
                        </a:lnSpc>
                        <a:spcBef>
                          <a:spcPts val="800"/>
                        </a:spcBef>
                        <a:spcAft>
                          <a:spcPts val="0"/>
                        </a:spcAft>
                      </a:pPr>
                      <a:r>
                        <a:rPr lang="en-US" sz="1800" kern="0" dirty="0">
                          <a:latin typeface="+mn-ea"/>
                          <a:ea typeface="+mn-ea"/>
                          <a:cs typeface="宋体"/>
                        </a:rPr>
                        <a:t>LTE </a:t>
                      </a:r>
                      <a:r>
                        <a:rPr lang="zh-CN" sz="1800" kern="0" dirty="0">
                          <a:latin typeface="+mn-ea"/>
                          <a:ea typeface="+mn-ea"/>
                          <a:cs typeface="宋体"/>
                        </a:rPr>
                        <a:t>站内切换测试</a:t>
                      </a:r>
                      <a:endParaRPr lang="zh-CN" sz="1800" kern="100" dirty="0">
                        <a:latin typeface="+mn-ea"/>
                        <a:ea typeface="+mn-ea"/>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736257" name="AutoShape 1" descr="SLR^OTMM^GHMD762@DD915G9251E28E508;KF?8;KFAY11028750!!!BIHO@]y110287501111111111012859EG5@衙缉!Lhbsnrngu!Dybdm!弗嘱办!)3(/ymr!!!!!!!!!!!!!!!!!!!!!!!!!!!!!!!!!!!!!!!!!!!!!!!!!!!!!!!!!!!!!!!!!!!!!!!!!!!!!!!!!!!!!!!!!!!!!!!!!!!!!!!!!!!!!!!!!!!!!!!!!!!!!!!!!!!!!!!!!!!!!!!!!!!!!!!!!!!!!!!!!!!!!!!!!!!!!!!!!!!!!!!!!!!!!!!!!!!!!!!!!!!!!!!!!!!!!!!!!!!!!!!!!!!!!!!!!!!!!!!!!!!!!!!!!!!!!!!!!!!!!!!!!!!!!!!!!!!!!!!!!!!!!!!!!!!!!!!!!!!!!!!!!!!!!!!!!!!!!!!!!!!!!!!!!!!!!!!!!!!!!!!!!!!!!!!!!!!!!!!!!!!!!!!!!!!!!!!!!!!!!!!!!!!!!!!!!!!!!!!!!!!!!!!!!!!!!!!!!!!!!!!!!!!!!!!!!!!!!!!!!!!!!!!!!!!!!!!!!!!!!!!!!!!!!!!!!!!!!!!!!!!!!!!!!!!!!!!!!!!!!!!!!!!!!!!!!!!!!!!!!!!!!!!!!!!!!!!!!!!!!!!!!!!!!!!!!!!!!!!!!!!!!!!!!!!!!!!!!!!!!!!!!!!!!!!!!!!!!!!!!!!!!!!!!!!!!!!!!!!!!!!!!!!!!!!!!!!!!!!!!!!!!!!!!!!!!!!!!!!!!!!!!!!!!!!!!!!!!!!!!!!!!!!!!!!!!!!!!!!!!!!!!!!!!!!!!!!!!!!!!!!!!!!!!!!!!!!!!!!!!!!!!!!!!!!!!!!!!!!!!!!!!!!!!!!!!!!!!!!!!!!!!!!!!!!!!!!!!!!!!!!!!!!!!!!!!!!!!!!!!!!!!!!!!!!!!!!!!!!!!!!!!!!!!!!!!!!!!!!!!!!!!!!!!!!!!!!!!!!!!!!!!!!!!!!!!!!!!!!!!!!!!!!!!!!!!!!!!!!!!!!!!!!!!!!!!!!!!!!!!!!!!!!!!!!!!!!!!!!!!!!!!!!!!!!!!!!!!!!!!!!!!!!!!!!!!!!!!!!!!!!!!!!!!!!!!!!!!!!!!!!!!!!!!!!!!!!!!!!!!!!!!!!!!!!!!!!!!!!!!!!!!!!!!!!!!!!!!!!!!!!!!!!!!!!!!!!!!!!!!!!!!!!!!!!!!!!!!!!!!!!!!!!!!!!!!!!!!!!!!!!!!!!!!!!!!!!!!!!!!!!!!!!!!!!!!!!!!!!!!!!!!!!!!!!!!!!!!!!!!!!!!!!!!!!!!!!!!!!!!!!!!!!!!!!!!!!!!!!!!!!!!!!!!!!!!!!!!!!!!!!!!!!!!!!!!!!!!!!!!!!!!!!!!!!!!!!!!!!!!!!!!!!!!!!!!!!!!!!!!!!!!!!!!!!!!!!!!!!!!!!!!!!!!!!!!!!!!!!!!!!!!!!!!!!!!!!!!!!!!!!!!!!!!!!!!!!!!!!!!!!!!!!!!!!!!!!!!!!!!!!!!!!!!!!!!!!!!!!!!!!!!!!!!!!!!!!!!!!!!!!!!!!!!!!!!!!!!!!!!!!!!!!!!!!!!!!!!!!!!!!!!!!!!!!!!!!!!!!!!!!!!!!!!!!!!!!!!!!!!!!!!!!!!!!!!!!!!!!!!!!!!!!!!!!!!!!!!!!!!!!!!!!!!!!!!!!!!!!!!!!!!!!!!!!!!!!!!!!!!!!!!!!!!!!!!!!!!!!!!!!!!!!!!!!!!!!!!!!!!!!!!!!!!!!!!!!!!!!!!!!!!!!!!!!!!!!!!!!!!!!!!!!!!!!!!!!!!!!!!!!!!!!!!!!!!!!!!!!!!!!!!!!!!!!!!!!!!!!!!!!!!!!!!!!!!!!!!!!!!!!!!!!!!!!!!!!!!!!!!!!!!!!!!!!!!!!!!!!!!!!!!!!!!!!!!!!!!!!!!!!!!!!!!!!!!!!!!!!!!!!!!!!!!!!!!!!!!!!!!!!!!!!!!!!!!!!!!!!!!!!!!!!!!!!!!!!!!!!!!!!!!!!!!!!!!!!!!!!!!!!!!!!!!!!!!!!!!!!!!!!!!!!!!!!!!!!!!!!!!!!!!!!!!!!!!!!!!!!!!!!!!!!!!!!!!!!!!!!!!!!!!!!!!!!!!!!!!!!!!!!!!!!!!!!!!!!!!!!!!!!!!!!!!!!!!!!!!!!!!!!!!!!!!!!!!!!!!!!!!!!!!!!!!!!!!!!!!!!!!!!!!!!!!!!!!!!!!!!!!!!!!!!!!!!!!!!!!!!!!!!!!!!!!!!!!!!!!!!!!!!!!!!!!!!!!!!!!!!!!!!!!!!!!!!!!!!!!!!!!!!!!!!!!!!!!!!!!!!!!!!!!!!!!!!!!!!!!!!!!!!!!!!!!!!!!!!!!!!!!!!!!!!!!!!!!!!!!!!!!!!!!!!!!!!!!!!!!!!!!!!!!!!!1!}" hidden="1"/>
          <p:cNvSpPr>
            <a:spLocks noChangeArrowheads="1"/>
          </p:cNvSpPr>
          <p:nvPr/>
        </p:nvSpPr>
        <p:spPr bwMode="auto">
          <a:xfrm>
            <a:off x="0" y="0"/>
            <a:ext cx="9525" cy="9525"/>
          </a:xfrm>
          <a:custGeom>
            <a:avLst/>
            <a:gdLst>
              <a:gd name="T0" fmla="*/ 10860 w 21600"/>
              <a:gd name="T1" fmla="*/ 2187 h 21600"/>
              <a:gd name="T2" fmla="*/ 2928 w 21600"/>
              <a:gd name="T3" fmla="*/ 10800 h 21600"/>
              <a:gd name="T4" fmla="*/ 10860 w 21600"/>
              <a:gd name="T5" fmla="*/ 21600 h 21600"/>
              <a:gd name="T6" fmla="*/ 18672 w 21600"/>
              <a:gd name="T7" fmla="*/ 10800 h 21600"/>
              <a:gd name="T8" fmla="*/ 17694720 60000 65536"/>
              <a:gd name="T9" fmla="*/ 11796480 60000 65536"/>
              <a:gd name="T10" fmla="*/ 5898240 60000 65536"/>
              <a:gd name="T11" fmla="*/ 0 60000 65536"/>
              <a:gd name="T12" fmla="*/ 5037 w 21600"/>
              <a:gd name="T13" fmla="*/ 2277 h 21600"/>
              <a:gd name="T14" fmla="*/ 16557 w 21600"/>
              <a:gd name="T15" fmla="*/ 13677 h 21600"/>
            </a:gdLst>
            <a:ahLst/>
            <a:cxnLst>
              <a:cxn ang="T8">
                <a:pos x="T0" y="T1"/>
              </a:cxn>
              <a:cxn ang="T9">
                <a:pos x="T2" y="T3"/>
              </a:cxn>
              <a:cxn ang="T10">
                <a:pos x="T4" y="T5"/>
              </a:cxn>
              <a:cxn ang="T11">
                <a:pos x="T6" y="T7"/>
              </a:cxn>
            </a:cxnLst>
            <a:rect l="T12" t="T13" r="T14" b="T15"/>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solidFill>
            <a:srgbClr val="FFFFFF"/>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测试内容</a:t>
            </a:r>
          </a:p>
        </p:txBody>
      </p:sp>
      <p:sp>
        <p:nvSpPr>
          <p:cNvPr id="3" name="内容占位符 2"/>
          <p:cNvSpPr>
            <a:spLocks noGrp="1"/>
          </p:cNvSpPr>
          <p:nvPr>
            <p:ph idx="1"/>
          </p:nvPr>
        </p:nvSpPr>
        <p:spPr/>
        <p:txBody>
          <a:bodyPr/>
          <a:lstStyle/>
          <a:p>
            <a:r>
              <a:rPr lang="zh-CN" altLang="zh-CN" dirty="0" smtClean="0"/>
              <a:t>单扇区拨测主要是检查待测</a:t>
            </a:r>
            <a:r>
              <a:rPr lang="en-US" altLang="zh-CN" dirty="0" smtClean="0"/>
              <a:t>LTE</a:t>
            </a:r>
            <a:r>
              <a:rPr lang="zh-CN" altLang="zh-CN" dirty="0" smtClean="0"/>
              <a:t>小区的</a:t>
            </a:r>
            <a:r>
              <a:rPr lang="en-US" altLang="zh-CN" dirty="0" smtClean="0"/>
              <a:t>LTE</a:t>
            </a:r>
            <a:r>
              <a:rPr lang="zh-CN" altLang="zh-CN" dirty="0" smtClean="0"/>
              <a:t>接入功能是否正常。</a:t>
            </a:r>
          </a:p>
          <a:p>
            <a:r>
              <a:rPr lang="zh-CN" altLang="zh-CN" dirty="0" smtClean="0"/>
              <a:t>要求每个小区至少测试</a:t>
            </a:r>
            <a:r>
              <a:rPr lang="en-US" altLang="zh-CN" dirty="0" smtClean="0"/>
              <a:t>10</a:t>
            </a:r>
            <a:r>
              <a:rPr lang="zh-CN" altLang="zh-CN" dirty="0" smtClean="0"/>
              <a:t>次</a:t>
            </a:r>
            <a:r>
              <a:rPr lang="en-US" altLang="zh-CN" dirty="0" smtClean="0"/>
              <a:t>attach</a:t>
            </a:r>
            <a:r>
              <a:rPr lang="zh-CN" altLang="zh-CN" dirty="0" smtClean="0"/>
              <a:t>，</a:t>
            </a:r>
            <a:r>
              <a:rPr lang="en-US" altLang="zh-CN" dirty="0" smtClean="0"/>
              <a:t>attach</a:t>
            </a:r>
            <a:r>
              <a:rPr lang="zh-CN" altLang="zh-CN" dirty="0" smtClean="0"/>
              <a:t>成功率</a:t>
            </a:r>
            <a:r>
              <a:rPr lang="en-US" altLang="zh-CN" dirty="0" smtClean="0"/>
              <a:t>100%</a:t>
            </a:r>
            <a:r>
              <a:rPr lang="zh-CN" altLang="zh-CN" dirty="0" smtClean="0"/>
              <a:t>。</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15</a:t>
            </a:fld>
            <a:endParaRPr lang="en-US" altLang="zh-CN"/>
          </a:p>
        </p:txBody>
      </p:sp>
      <p:graphicFrame>
        <p:nvGraphicFramePr>
          <p:cNvPr id="5" name="表格 4"/>
          <p:cNvGraphicFramePr>
            <a:graphicFrameLocks noGrp="1"/>
          </p:cNvGraphicFramePr>
          <p:nvPr/>
        </p:nvGraphicFramePr>
        <p:xfrm>
          <a:off x="1896109" y="2562686"/>
          <a:ext cx="5351780" cy="3291840"/>
        </p:xfrm>
        <a:graphic>
          <a:graphicData uri="http://schemas.openxmlformats.org/drawingml/2006/table">
            <a:tbl>
              <a:tblPr/>
              <a:tblGrid>
                <a:gridCol w="808991"/>
                <a:gridCol w="4542789"/>
              </a:tblGrid>
              <a:tr h="180975">
                <a:tc>
                  <a:txBody>
                    <a:bodyPr/>
                    <a:lstStyle/>
                    <a:p>
                      <a:pPr algn="ctr">
                        <a:lnSpc>
                          <a:spcPct val="150000"/>
                        </a:lnSpc>
                        <a:spcAft>
                          <a:spcPts val="0"/>
                        </a:spcAft>
                      </a:pPr>
                      <a:r>
                        <a:rPr lang="en-US" sz="1600" dirty="0">
                          <a:latin typeface="+mn-ea"/>
                          <a:ea typeface="+mn-ea"/>
                          <a:cs typeface="宋体"/>
                        </a:rPr>
                        <a:t>1</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a:latin typeface="+mn-ea"/>
                          <a:ea typeface="+mn-ea"/>
                          <a:cs typeface="宋体"/>
                        </a:rPr>
                        <a:t>单扇区拨测</a:t>
                      </a:r>
                      <a:endParaRPr lang="zh-CN" sz="160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sz="1600" dirty="0">
                          <a:latin typeface="+mn-ea"/>
                          <a:ea typeface="+mn-ea"/>
                          <a:cs typeface="宋体"/>
                        </a:rPr>
                        <a:t>2</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dirty="0">
                          <a:latin typeface="+mn-ea"/>
                          <a:ea typeface="+mn-ea"/>
                          <a:cs typeface="宋体"/>
                        </a:rPr>
                        <a:t>基站最小传输带宽</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sz="1600" dirty="0">
                          <a:latin typeface="+mn-ea"/>
                          <a:ea typeface="+mn-ea"/>
                          <a:cs typeface="宋体"/>
                        </a:rPr>
                        <a:t>3</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en-US" sz="1600">
                          <a:latin typeface="+mn-ea"/>
                          <a:ea typeface="+mn-ea"/>
                          <a:cs typeface="宋体"/>
                        </a:rPr>
                        <a:t>Ping</a:t>
                      </a:r>
                      <a:r>
                        <a:rPr lang="zh-CN" sz="1600">
                          <a:latin typeface="+mn-ea"/>
                          <a:ea typeface="+mn-ea"/>
                          <a:cs typeface="宋体"/>
                        </a:rPr>
                        <a:t>时延</a:t>
                      </a:r>
                      <a:endParaRPr lang="zh-CN" sz="160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sz="1600" dirty="0">
                          <a:latin typeface="+mn-ea"/>
                          <a:ea typeface="+mn-ea"/>
                          <a:cs typeface="宋体"/>
                        </a:rPr>
                        <a:t>4</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a:latin typeface="+mn-ea"/>
                          <a:ea typeface="+mn-ea"/>
                          <a:cs typeface="宋体"/>
                        </a:rPr>
                        <a:t>上行定点吞吐率</a:t>
                      </a:r>
                      <a:endParaRPr lang="zh-CN" sz="160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sz="1600" dirty="0">
                          <a:latin typeface="+mn-ea"/>
                          <a:ea typeface="+mn-ea"/>
                          <a:cs typeface="宋体"/>
                        </a:rPr>
                        <a:t>5</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a:latin typeface="+mn-ea"/>
                          <a:ea typeface="+mn-ea"/>
                          <a:cs typeface="宋体"/>
                        </a:rPr>
                        <a:t>下行定点吞吐率</a:t>
                      </a:r>
                      <a:endParaRPr lang="zh-CN" sz="160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sz="1600" dirty="0">
                          <a:latin typeface="+mn-ea"/>
                          <a:ea typeface="+mn-ea"/>
                          <a:cs typeface="宋体"/>
                        </a:rPr>
                        <a:t>6</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a:latin typeface="+mn-ea"/>
                          <a:ea typeface="+mn-ea"/>
                          <a:cs typeface="宋体"/>
                        </a:rPr>
                        <a:t>室外单站覆盖测试</a:t>
                      </a:r>
                      <a:endParaRPr lang="zh-CN" sz="160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sz="1600" dirty="0" smtClean="0">
                          <a:latin typeface="+mn-ea"/>
                          <a:ea typeface="+mn-ea"/>
                          <a:cs typeface="宋体"/>
                        </a:rPr>
                        <a:t>7</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a:latin typeface="+mn-ea"/>
                          <a:ea typeface="+mn-ea"/>
                          <a:cs typeface="宋体"/>
                        </a:rPr>
                        <a:t>下载</a:t>
                      </a:r>
                      <a:r>
                        <a:rPr lang="en-US" sz="1600">
                          <a:latin typeface="+mn-ea"/>
                          <a:ea typeface="+mn-ea"/>
                          <a:cs typeface="宋体"/>
                        </a:rPr>
                        <a:t>100%</a:t>
                      </a:r>
                      <a:r>
                        <a:rPr lang="zh-CN" sz="1600">
                          <a:latin typeface="+mn-ea"/>
                          <a:ea typeface="+mn-ea"/>
                          <a:cs typeface="宋体"/>
                        </a:rPr>
                        <a:t>加载</a:t>
                      </a:r>
                      <a:r>
                        <a:rPr lang="en-US" sz="1600">
                          <a:latin typeface="+mn-ea"/>
                          <a:ea typeface="+mn-ea"/>
                          <a:cs typeface="宋体"/>
                        </a:rPr>
                        <a:t>&amp;</a:t>
                      </a:r>
                      <a:r>
                        <a:rPr lang="zh-CN" sz="1600">
                          <a:latin typeface="+mn-ea"/>
                          <a:ea typeface="+mn-ea"/>
                          <a:cs typeface="宋体"/>
                        </a:rPr>
                        <a:t>空载下，上行</a:t>
                      </a:r>
                      <a:r>
                        <a:rPr lang="en-US" sz="1600">
                          <a:latin typeface="+mn-ea"/>
                          <a:ea typeface="+mn-ea"/>
                          <a:cs typeface="宋体"/>
                        </a:rPr>
                        <a:t>RSSI</a:t>
                      </a:r>
                      <a:r>
                        <a:rPr lang="zh-CN" sz="1600">
                          <a:latin typeface="+mn-ea"/>
                          <a:ea typeface="+mn-ea"/>
                          <a:cs typeface="宋体"/>
                        </a:rPr>
                        <a:t>分析</a:t>
                      </a:r>
                      <a:endParaRPr lang="zh-CN" sz="160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altLang="zh-CN" sz="1600" dirty="0" smtClean="0">
                          <a:latin typeface="+mn-ea"/>
                          <a:ea typeface="+mn-ea"/>
                        </a:rPr>
                        <a:t>8</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dirty="0">
                          <a:latin typeface="+mn-ea"/>
                          <a:ea typeface="+mn-ea"/>
                          <a:cs typeface="宋体"/>
                        </a:rPr>
                        <a:t>下载</a:t>
                      </a:r>
                      <a:r>
                        <a:rPr lang="en-US" sz="1600" dirty="0">
                          <a:latin typeface="+mn-ea"/>
                          <a:ea typeface="+mn-ea"/>
                          <a:cs typeface="宋体"/>
                        </a:rPr>
                        <a:t>100%</a:t>
                      </a:r>
                      <a:r>
                        <a:rPr lang="zh-CN" sz="1600" dirty="0">
                          <a:latin typeface="+mn-ea"/>
                          <a:ea typeface="+mn-ea"/>
                          <a:cs typeface="宋体"/>
                        </a:rPr>
                        <a:t>加载</a:t>
                      </a:r>
                      <a:r>
                        <a:rPr lang="en-US" sz="1600" dirty="0">
                          <a:latin typeface="+mn-ea"/>
                          <a:ea typeface="+mn-ea"/>
                          <a:cs typeface="宋体"/>
                        </a:rPr>
                        <a:t>&amp;</a:t>
                      </a:r>
                      <a:r>
                        <a:rPr lang="zh-CN" sz="1600" dirty="0">
                          <a:latin typeface="+mn-ea"/>
                          <a:ea typeface="+mn-ea"/>
                          <a:cs typeface="宋体"/>
                        </a:rPr>
                        <a:t>空载下，驻波比分析</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80975">
                <a:tc>
                  <a:txBody>
                    <a:bodyPr/>
                    <a:lstStyle/>
                    <a:p>
                      <a:pPr algn="ctr">
                        <a:lnSpc>
                          <a:spcPct val="150000"/>
                        </a:lnSpc>
                        <a:spcAft>
                          <a:spcPts val="0"/>
                        </a:spcAft>
                      </a:pPr>
                      <a:r>
                        <a:rPr lang="en-US" altLang="zh-CN" sz="1600" dirty="0" smtClean="0">
                          <a:latin typeface="+mn-ea"/>
                          <a:ea typeface="+mn-ea"/>
                        </a:rPr>
                        <a:t>9</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50000"/>
                        </a:lnSpc>
                        <a:spcAft>
                          <a:spcPts val="0"/>
                        </a:spcAft>
                      </a:pPr>
                      <a:r>
                        <a:rPr lang="zh-CN" sz="1600" dirty="0">
                          <a:latin typeface="+mn-ea"/>
                          <a:ea typeface="+mn-ea"/>
                          <a:cs typeface="宋体"/>
                        </a:rPr>
                        <a:t>电调天线验证</a:t>
                      </a:r>
                      <a:endParaRPr lang="zh-CN" sz="1600" dirty="0">
                        <a:latin typeface="+mn-ea"/>
                        <a:ea typeface="+mn-ea"/>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配置参数核查</a:t>
            </a:r>
            <a:endParaRPr lang="zh-CN" altLang="en-US" dirty="0"/>
          </a:p>
        </p:txBody>
      </p:sp>
      <p:sp>
        <p:nvSpPr>
          <p:cNvPr id="3" name="内容占位符 2"/>
          <p:cNvSpPr>
            <a:spLocks noGrp="1"/>
          </p:cNvSpPr>
          <p:nvPr>
            <p:ph idx="1"/>
          </p:nvPr>
        </p:nvSpPr>
        <p:spPr/>
        <p:txBody>
          <a:bodyPr/>
          <a:lstStyle/>
          <a:p>
            <a:r>
              <a:rPr lang="zh-CN" altLang="zh-CN" dirty="0" smtClean="0"/>
              <a:t>在站点测试前，网优工程师需要采集网络规划配置的数据，并检查实际配置的数据与规划数据是否一致。</a:t>
            </a:r>
          </a:p>
          <a:p>
            <a:r>
              <a:rPr lang="en-US" altLang="zh-CN" dirty="0" smtClean="0"/>
              <a:t>LTE</a:t>
            </a:r>
            <a:r>
              <a:rPr lang="zh-CN" altLang="zh-CN" dirty="0" smtClean="0"/>
              <a:t>实际配置的数据可以通过</a:t>
            </a:r>
            <a:r>
              <a:rPr lang="en-US" altLang="zh-CN" dirty="0" err="1" smtClean="0"/>
              <a:t>eNodeB</a:t>
            </a:r>
            <a:r>
              <a:rPr lang="zh-CN" altLang="zh-CN" dirty="0" smtClean="0"/>
              <a:t>的</a:t>
            </a:r>
            <a:r>
              <a:rPr lang="en-US" altLang="zh-CN" dirty="0" smtClean="0"/>
              <a:t>LMT</a:t>
            </a:r>
            <a:r>
              <a:rPr lang="zh-CN" altLang="en-US" dirty="0" smtClean="0"/>
              <a:t>中的</a:t>
            </a:r>
            <a:r>
              <a:rPr lang="en-US" altLang="zh-CN" dirty="0" smtClean="0"/>
              <a:t>ULD CFGFILE</a:t>
            </a:r>
            <a:r>
              <a:rPr lang="zh-CN" altLang="zh-CN" dirty="0" smtClean="0"/>
              <a:t>查询，通过该文件可以实时了解</a:t>
            </a:r>
            <a:r>
              <a:rPr lang="en-US" altLang="zh-CN" dirty="0" err="1" smtClean="0"/>
              <a:t>eNodeB</a:t>
            </a:r>
            <a:r>
              <a:rPr lang="zh-CN" altLang="zh-CN" dirty="0" smtClean="0"/>
              <a:t>中配置的相关参数。</a:t>
            </a:r>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16</a:t>
            </a:fld>
            <a:endParaRPr lang="en-US" altLang="zh-CN"/>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站点状态核查</a:t>
            </a:r>
            <a:endParaRPr lang="zh-CN" altLang="en-US" dirty="0"/>
          </a:p>
        </p:txBody>
      </p:sp>
      <p:sp>
        <p:nvSpPr>
          <p:cNvPr id="3" name="内容占位符 2"/>
          <p:cNvSpPr>
            <a:spLocks noGrp="1"/>
          </p:cNvSpPr>
          <p:nvPr>
            <p:ph idx="1"/>
          </p:nvPr>
        </p:nvSpPr>
        <p:spPr/>
        <p:txBody>
          <a:bodyPr/>
          <a:lstStyle/>
          <a:p>
            <a:r>
              <a:rPr lang="zh-CN" altLang="zh-CN" dirty="0" smtClean="0"/>
              <a:t>站点检查前，网优工程师需要向产品支持工程师确认是否存在告警以及问题是否解决，测试小区的小区状态是否正常。其中特别关注间歇性告警问题（比如，传输告警会引起</a:t>
            </a:r>
            <a:r>
              <a:rPr lang="en-US" altLang="zh-CN" dirty="0" smtClean="0"/>
              <a:t>SCTP</a:t>
            </a:r>
            <a:r>
              <a:rPr lang="zh-CN" altLang="zh-CN" dirty="0" smtClean="0"/>
              <a:t>链路闪断，会造成核心网释放资源，引起切换失败）。</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17</a:t>
            </a:fld>
            <a:endParaRPr lang="en-US" altLang="zh-CN"/>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其他准备</a:t>
            </a:r>
            <a:endParaRPr lang="zh-CN" altLang="en-US"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18</a:t>
            </a:fld>
            <a:endParaRPr lang="en-US" altLang="zh-CN"/>
          </a:p>
        </p:txBody>
      </p:sp>
      <p:graphicFrame>
        <p:nvGraphicFramePr>
          <p:cNvPr id="7" name="内容占位符 6"/>
          <p:cNvGraphicFramePr>
            <a:graphicFrameLocks noGrp="1"/>
          </p:cNvGraphicFramePr>
          <p:nvPr>
            <p:ph idx="1"/>
          </p:nvPr>
        </p:nvGraphicFramePr>
        <p:xfrm>
          <a:off x="652463" y="1376363"/>
          <a:ext cx="7929562" cy="41957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测试规范</a:t>
            </a:r>
            <a:endParaRPr lang="zh-CN" altLang="en-US" dirty="0"/>
          </a:p>
        </p:txBody>
      </p:sp>
      <p:sp>
        <p:nvSpPr>
          <p:cNvPr id="3" name="内容占位符 2"/>
          <p:cNvSpPr>
            <a:spLocks noGrp="1"/>
          </p:cNvSpPr>
          <p:nvPr>
            <p:ph idx="1"/>
          </p:nvPr>
        </p:nvSpPr>
        <p:spPr/>
        <p:txBody>
          <a:bodyPr/>
          <a:lstStyle/>
          <a:p>
            <a:r>
              <a:rPr lang="en-US" altLang="zh-CN" dirty="0" smtClean="0"/>
              <a:t>LTE</a:t>
            </a:r>
            <a:r>
              <a:rPr lang="zh-CN" altLang="zh-CN" dirty="0" smtClean="0"/>
              <a:t>上下行理论峰值：</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pPr>
              <a:buNone/>
            </a:pPr>
            <a:endParaRPr lang="en-US" altLang="zh-CN" dirty="0" smtClean="0"/>
          </a:p>
          <a:p>
            <a:r>
              <a:rPr lang="zh-CN" altLang="zh-CN" dirty="0" smtClean="0"/>
              <a:t>验收标准具体值由各个</a:t>
            </a:r>
            <a:r>
              <a:rPr lang="zh-CN" altLang="en-US" dirty="0" smtClean="0"/>
              <a:t>运营商</a:t>
            </a:r>
            <a:r>
              <a:rPr lang="zh-CN" altLang="zh-CN" dirty="0" smtClean="0"/>
              <a:t>确认。</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19</a:t>
            </a:fld>
            <a:endParaRPr lang="en-US" altLang="zh-CN"/>
          </a:p>
        </p:txBody>
      </p:sp>
      <p:graphicFrame>
        <p:nvGraphicFramePr>
          <p:cNvPr id="6" name="Group 6222"/>
          <p:cNvGraphicFramePr>
            <a:graphicFrameLocks noGrp="1"/>
          </p:cNvGraphicFramePr>
          <p:nvPr>
            <p:extLst>
              <p:ext uri="{D42A27DB-BD31-4B8C-83A1-F6EECF244321}">
                <p14:modId xmlns:p14="http://schemas.microsoft.com/office/powerpoint/2010/main" val="1347206197"/>
              </p:ext>
            </p:extLst>
          </p:nvPr>
        </p:nvGraphicFramePr>
        <p:xfrm>
          <a:off x="639124" y="2157501"/>
          <a:ext cx="8083933" cy="2551848"/>
        </p:xfrm>
        <a:graphic>
          <a:graphicData uri="http://schemas.openxmlformats.org/drawingml/2006/table">
            <a:tbl>
              <a:tblPr/>
              <a:tblGrid>
                <a:gridCol w="1011262"/>
                <a:gridCol w="1599625"/>
                <a:gridCol w="1268668"/>
                <a:gridCol w="1728329"/>
                <a:gridCol w="1233373"/>
                <a:gridCol w="1242676"/>
              </a:tblGrid>
              <a:tr h="488605">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sv-SE" altLang="zh-CN" sz="1600" b="1" i="0" u="none" strike="noStrike" cap="none" normalizeH="0" baseline="0" dirty="0" smtClean="0">
                          <a:ln>
                            <a:noFill/>
                          </a:ln>
                          <a:solidFill>
                            <a:schemeClr val="tx1"/>
                          </a:solidFill>
                          <a:effectLst/>
                          <a:latin typeface="Arial" charset="0"/>
                          <a:ea typeface="宋体" charset="-122"/>
                        </a:rPr>
                        <a:t>UE</a:t>
                      </a:r>
                    </a:p>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sv-SE" altLang="zh-CN" sz="1600" b="1" i="0" u="none" strike="noStrike" cap="none" normalizeH="0" baseline="0" dirty="0" smtClean="0">
                          <a:ln>
                            <a:noFill/>
                          </a:ln>
                          <a:solidFill>
                            <a:schemeClr val="tx1"/>
                          </a:solidFill>
                          <a:effectLst/>
                          <a:latin typeface="Arial" charset="0"/>
                          <a:ea typeface="宋体" charset="-122"/>
                        </a:rPr>
                        <a:t>C</a:t>
                      </a:r>
                      <a:r>
                        <a:rPr kumimoji="0" lang="en-US" altLang="zh-CN" sz="1600" b="1" i="0" u="none" strike="noStrike" cap="none" normalizeH="0" baseline="0" dirty="0" smtClean="0">
                          <a:ln>
                            <a:noFill/>
                          </a:ln>
                          <a:solidFill>
                            <a:schemeClr val="tx1"/>
                          </a:solidFill>
                          <a:effectLst/>
                          <a:latin typeface="Arial" charset="0"/>
                          <a:ea typeface="宋体" charset="-122"/>
                        </a:rPr>
                        <a:t>AT</a:t>
                      </a:r>
                      <a:endParaRPr kumimoji="0" lang="en-GB" altLang="zh-CN" sz="1600" b="1" i="0" u="none" strike="noStrike" cap="none" normalizeH="0" baseline="0" dirty="0" smtClean="0">
                        <a:ln>
                          <a:noFill/>
                        </a:ln>
                        <a:solidFill>
                          <a:schemeClr val="tx1"/>
                        </a:solidFill>
                        <a:effectLst/>
                        <a:latin typeface="Arial" charset="0"/>
                        <a:ea typeface="宋体" charset="-122"/>
                      </a:endParaRPr>
                    </a:p>
                  </a:txBody>
                  <a:tcPr marL="33231" marR="33231" marT="38100" marB="381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charset="-122"/>
                        </a:rPr>
                        <a:t>下行每</a:t>
                      </a:r>
                      <a:r>
                        <a:rPr kumimoji="0" lang="en-US" altLang="zh-CN" sz="1600" b="1" i="0" u="none" strike="noStrike" cap="none" normalizeH="0" baseline="0" dirty="0" smtClean="0">
                          <a:ln>
                            <a:noFill/>
                          </a:ln>
                          <a:solidFill>
                            <a:schemeClr val="tx1"/>
                          </a:solidFill>
                          <a:effectLst/>
                          <a:latin typeface="Arial" charset="0"/>
                          <a:ea typeface="宋体" charset="-122"/>
                        </a:rPr>
                        <a:t>TTI</a:t>
                      </a:r>
                      <a:r>
                        <a:rPr kumimoji="0" lang="zh-CN" altLang="en-US" sz="1600" b="1" i="0" u="none" strike="noStrike" cap="none" normalizeH="0" baseline="0" dirty="0" smtClean="0">
                          <a:ln>
                            <a:noFill/>
                          </a:ln>
                          <a:solidFill>
                            <a:schemeClr val="tx1"/>
                          </a:solidFill>
                          <a:effectLst/>
                          <a:latin typeface="Arial" charset="0"/>
                          <a:ea typeface="宋体" charset="-122"/>
                        </a:rPr>
                        <a:t>的最大</a:t>
                      </a:r>
                      <a:r>
                        <a:rPr kumimoji="0" lang="en-US" altLang="zh-CN" sz="1600" b="1" i="0" u="none" strike="noStrike" cap="none" normalizeH="0" baseline="0" dirty="0" smtClean="0">
                          <a:ln>
                            <a:noFill/>
                          </a:ln>
                          <a:solidFill>
                            <a:schemeClr val="tx1"/>
                          </a:solidFill>
                          <a:effectLst/>
                          <a:latin typeface="Arial" charset="0"/>
                          <a:ea typeface="宋体" charset="-122"/>
                        </a:rPr>
                        <a:t>bit</a:t>
                      </a:r>
                      <a:r>
                        <a:rPr kumimoji="0" lang="zh-CN" altLang="en-US" sz="1600" b="1" i="0" u="none" strike="noStrike" cap="none" normalizeH="0" baseline="0" dirty="0" smtClean="0">
                          <a:ln>
                            <a:noFill/>
                          </a:ln>
                          <a:solidFill>
                            <a:schemeClr val="tx1"/>
                          </a:solidFill>
                          <a:effectLst/>
                          <a:latin typeface="Arial" charset="0"/>
                          <a:ea typeface="宋体" charset="-122"/>
                        </a:rPr>
                        <a:t>数</a:t>
                      </a:r>
                      <a:endParaRPr kumimoji="0" lang="en-GB" altLang="zh-CN" sz="1600" b="1" i="0" u="none" strike="noStrike" cap="none" normalizeH="0" baseline="0" dirty="0" smtClean="0">
                        <a:ln>
                          <a:noFill/>
                        </a:ln>
                        <a:solidFill>
                          <a:schemeClr val="tx1"/>
                        </a:solidFill>
                        <a:effectLst/>
                        <a:latin typeface="Arial" charset="0"/>
                        <a:ea typeface="宋体" charset="-122"/>
                      </a:endParaRPr>
                    </a:p>
                  </a:txBody>
                  <a:tcPr marL="33231" marR="33231" marT="38100" marB="381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charset="-122"/>
                        </a:rPr>
                        <a:t>下行最大传输层数</a:t>
                      </a:r>
                      <a:r>
                        <a:rPr kumimoji="0" lang="sv-SE" altLang="zh-CN" sz="1600" b="1" i="0" u="none" strike="noStrike" cap="none" normalizeH="0" baseline="0" dirty="0" smtClean="0">
                          <a:ln>
                            <a:noFill/>
                          </a:ln>
                          <a:solidFill>
                            <a:schemeClr val="tx1"/>
                          </a:solidFill>
                          <a:effectLst/>
                          <a:latin typeface="Arial" charset="0"/>
                          <a:ea typeface="宋体" charset="-122"/>
                        </a:rPr>
                        <a:t>.</a:t>
                      </a:r>
                      <a:endParaRPr kumimoji="0" lang="en-GB" altLang="zh-CN" sz="1600" b="1" i="0" u="none" strike="noStrike" cap="none" normalizeH="0" baseline="0" dirty="0" smtClean="0">
                        <a:ln>
                          <a:noFill/>
                        </a:ln>
                        <a:solidFill>
                          <a:schemeClr val="tx1"/>
                        </a:solidFill>
                        <a:effectLst/>
                        <a:latin typeface="Arial" charset="0"/>
                        <a:ea typeface="宋体" charset="-122"/>
                      </a:endParaRPr>
                    </a:p>
                  </a:txBody>
                  <a:tcPr marL="33231" marR="33231" marT="38100" marB="381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charset="-122"/>
                        </a:rPr>
                        <a:t>上行每</a:t>
                      </a:r>
                      <a:r>
                        <a:rPr kumimoji="0" lang="en-US" altLang="zh-CN" sz="1600" b="1" i="0" u="none" strike="noStrike" cap="none" normalizeH="0" baseline="0" dirty="0" smtClean="0">
                          <a:ln>
                            <a:noFill/>
                          </a:ln>
                          <a:solidFill>
                            <a:schemeClr val="tx1"/>
                          </a:solidFill>
                          <a:effectLst/>
                          <a:latin typeface="Arial" charset="0"/>
                          <a:ea typeface="宋体" charset="-122"/>
                        </a:rPr>
                        <a:t>TTI</a:t>
                      </a:r>
                      <a:r>
                        <a:rPr kumimoji="0" lang="zh-CN" altLang="en-US" sz="1600" b="1" i="0" u="none" strike="noStrike" cap="none" normalizeH="0" baseline="0" dirty="0" smtClean="0">
                          <a:ln>
                            <a:noFill/>
                          </a:ln>
                          <a:solidFill>
                            <a:schemeClr val="tx1"/>
                          </a:solidFill>
                          <a:effectLst/>
                          <a:latin typeface="Arial" charset="0"/>
                          <a:ea typeface="宋体" charset="-122"/>
                        </a:rPr>
                        <a:t>的最大</a:t>
                      </a:r>
                      <a:r>
                        <a:rPr kumimoji="0" lang="en-US" altLang="zh-CN" sz="1600" b="1" i="0" u="none" strike="noStrike" cap="none" normalizeH="0" baseline="0" dirty="0" smtClean="0">
                          <a:ln>
                            <a:noFill/>
                          </a:ln>
                          <a:solidFill>
                            <a:schemeClr val="tx1"/>
                          </a:solidFill>
                          <a:effectLst/>
                          <a:latin typeface="Arial" charset="0"/>
                          <a:ea typeface="宋体" charset="-122"/>
                        </a:rPr>
                        <a:t>bit</a:t>
                      </a:r>
                      <a:r>
                        <a:rPr kumimoji="0" lang="zh-CN" altLang="en-US" sz="1600" b="1" i="0" u="none" strike="noStrike" cap="none" normalizeH="0" baseline="0" dirty="0" smtClean="0">
                          <a:ln>
                            <a:noFill/>
                          </a:ln>
                          <a:solidFill>
                            <a:schemeClr val="tx1"/>
                          </a:solidFill>
                          <a:effectLst/>
                          <a:latin typeface="Arial" charset="0"/>
                          <a:ea typeface="宋体" charset="-122"/>
                        </a:rPr>
                        <a:t>数</a:t>
                      </a:r>
                      <a:endParaRPr kumimoji="0" lang="en-GB" altLang="zh-CN" sz="1600" b="1" i="0" u="none" strike="noStrike" cap="none" normalizeH="0" baseline="0" dirty="0" smtClean="0">
                        <a:ln>
                          <a:noFill/>
                        </a:ln>
                        <a:solidFill>
                          <a:schemeClr val="tx1"/>
                        </a:solidFill>
                        <a:effectLst/>
                        <a:latin typeface="Arial" charset="0"/>
                        <a:ea typeface="宋体" charset="-122"/>
                      </a:endParaRPr>
                    </a:p>
                  </a:txBody>
                  <a:tcPr marL="33231" marR="33231" marT="38100" marB="381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charset="-122"/>
                        </a:rPr>
                        <a:t>上行是否支持</a:t>
                      </a:r>
                      <a:r>
                        <a:rPr kumimoji="0" lang="en-US" altLang="zh-CN" sz="1600" b="1" i="0" u="none" strike="noStrike" cap="none" normalizeH="0" baseline="0" dirty="0" smtClean="0">
                          <a:ln>
                            <a:noFill/>
                          </a:ln>
                          <a:solidFill>
                            <a:schemeClr val="tx1"/>
                          </a:solidFill>
                          <a:effectLst/>
                          <a:latin typeface="Arial" charset="0"/>
                          <a:ea typeface="宋体" charset="-122"/>
                        </a:rPr>
                        <a:t>64QAM</a:t>
                      </a:r>
                      <a:endParaRPr kumimoji="0" lang="en-GB" altLang="zh-CN" sz="1600" b="1" i="0" u="none" strike="noStrike" cap="none" normalizeH="0" baseline="0" dirty="0" smtClean="0">
                        <a:ln>
                          <a:noFill/>
                        </a:ln>
                        <a:solidFill>
                          <a:schemeClr val="tx1"/>
                        </a:solidFill>
                        <a:effectLst/>
                        <a:latin typeface="Arial" charset="0"/>
                        <a:ea typeface="宋体" charset="-122"/>
                      </a:endParaRPr>
                    </a:p>
                  </a:txBody>
                  <a:tcPr marL="33231" marR="33231" marT="38100" marB="381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8F8F8"/>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zh-CN" altLang="en-US" sz="1600" b="1" i="0" u="none" strike="noStrike" cap="none" normalizeH="0" baseline="0" dirty="0" smtClean="0">
                          <a:ln>
                            <a:noFill/>
                          </a:ln>
                          <a:solidFill>
                            <a:schemeClr val="tx1"/>
                          </a:solidFill>
                          <a:effectLst/>
                          <a:latin typeface="Arial" charset="0"/>
                          <a:ea typeface="宋体" charset="-122"/>
                        </a:rPr>
                        <a:t>最大缓存容量（字节）</a:t>
                      </a:r>
                      <a:endParaRPr kumimoji="0" lang="en-GB" altLang="zh-CN" sz="1600" b="1" i="0" u="none" strike="noStrike" cap="none" normalizeH="0" baseline="0" dirty="0" smtClean="0">
                        <a:ln>
                          <a:noFill/>
                        </a:ln>
                        <a:solidFill>
                          <a:schemeClr val="tx1"/>
                        </a:solidFill>
                        <a:effectLst/>
                        <a:latin typeface="Arial" charset="0"/>
                        <a:ea typeface="宋体" charset="-122"/>
                      </a:endParaRPr>
                    </a:p>
                  </a:txBody>
                  <a:tcPr marL="33231" marR="33231" marT="38100" marB="381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8F8F8"/>
                    </a:solidFill>
                  </a:tcPr>
                </a:tc>
              </a:tr>
              <a:tr h="362790">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en-GB" altLang="ja-JP" sz="1600" b="0" i="0" u="none" strike="noStrike" cap="none" normalizeH="0" baseline="0" smtClean="0">
                          <a:ln>
                            <a:noFill/>
                          </a:ln>
                          <a:solidFill>
                            <a:schemeClr val="tx1"/>
                          </a:solidFill>
                          <a:effectLst/>
                          <a:latin typeface="Arial" charset="0"/>
                          <a:ea typeface="ＭＳ Ｐゴシック" pitchFamily="34" charset="-128"/>
                        </a:rPr>
                        <a:t>1</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en-GB" altLang="ja-JP" sz="1600" b="0" i="0" u="none" strike="noStrike" cap="none" normalizeH="0" baseline="0" dirty="0" smtClean="0">
                          <a:ln>
                            <a:noFill/>
                          </a:ln>
                          <a:solidFill>
                            <a:schemeClr val="tx1"/>
                          </a:solidFill>
                          <a:effectLst/>
                          <a:latin typeface="Arial" charset="0"/>
                          <a:ea typeface="ＭＳ Ｐゴシック" pitchFamily="34" charset="-128"/>
                        </a:rPr>
                        <a:t>10296</a:t>
                      </a:r>
                      <a:endParaRPr kumimoji="0" lang="zh-CN" altLang="ja-JP" sz="1600" b="0" i="0" u="none" strike="noStrike" cap="none" normalizeH="0" baseline="0" dirty="0" smtClean="0">
                        <a:ln>
                          <a:noFill/>
                        </a:ln>
                        <a:solidFill>
                          <a:schemeClr val="tx1"/>
                        </a:solidFill>
                        <a:effectLst/>
                        <a:latin typeface="Arial" charset="0"/>
                        <a:ea typeface="ＭＳ Ｐゴシック" pitchFamily="34" charset="-128"/>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en-GB" altLang="ja-JP" sz="1600" b="0" i="0" u="none" strike="noStrike" cap="none" normalizeH="0" baseline="0" smtClean="0">
                          <a:ln>
                            <a:noFill/>
                          </a:ln>
                          <a:solidFill>
                            <a:schemeClr val="tx1"/>
                          </a:solidFill>
                          <a:effectLst/>
                          <a:latin typeface="Arial" charset="0"/>
                          <a:ea typeface="ＭＳ Ｐゴシック" pitchFamily="34" charset="-128"/>
                        </a:rPr>
                        <a:t>1</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smtClean="0">
                          <a:ln>
                            <a:noFill/>
                          </a:ln>
                          <a:solidFill>
                            <a:schemeClr val="tx1"/>
                          </a:solidFill>
                          <a:effectLst/>
                          <a:latin typeface="Arial" charset="0"/>
                          <a:ea typeface="宋体" charset="-122"/>
                          <a:cs typeface="Times New Roman" charset="0"/>
                        </a:rPr>
                        <a:t>5160</a:t>
                      </a:r>
                      <a:endParaRPr kumimoji="0" lang="zh-CN"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sv-SE" altLang="zh-CN" sz="1600" b="0" i="0" u="none" strike="noStrike" cap="none" normalizeH="0" baseline="0" smtClean="0">
                          <a:ln>
                            <a:noFill/>
                          </a:ln>
                          <a:solidFill>
                            <a:schemeClr val="tx1"/>
                          </a:solidFill>
                          <a:effectLst/>
                          <a:latin typeface="Arial" charset="0"/>
                          <a:ea typeface="宋体" charset="-122"/>
                          <a:cs typeface="Times New Roman" charset="0"/>
                        </a:rPr>
                        <a:t>No</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dirty="0" smtClean="0">
                          <a:ln>
                            <a:noFill/>
                          </a:ln>
                          <a:solidFill>
                            <a:schemeClr val="tx1"/>
                          </a:solidFill>
                          <a:effectLst/>
                          <a:latin typeface="Arial" charset="0"/>
                          <a:ea typeface="宋体" charset="-122"/>
                          <a:cs typeface="Times New Roman" charset="0"/>
                        </a:rPr>
                        <a:t>150 000</a:t>
                      </a:r>
                      <a:endParaRPr kumimoji="0" lang="zh-CN" altLang="zh-CN" sz="1600" b="0" i="0" u="none" strike="noStrike" cap="none" normalizeH="0" baseline="0" dirty="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r>
              <a:tr h="362790">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smtClean="0">
                          <a:ln>
                            <a:noFill/>
                          </a:ln>
                          <a:solidFill>
                            <a:schemeClr val="tx1"/>
                          </a:solidFill>
                          <a:effectLst/>
                          <a:latin typeface="Arial" charset="0"/>
                          <a:ea typeface="ＭＳ Ｐゴシック" pitchFamily="34" charset="-128"/>
                        </a:rPr>
                        <a:t>2</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en-GB" altLang="ja-JP" sz="1600" b="0" i="0" u="none" strike="noStrike" cap="none" normalizeH="0" baseline="0" dirty="0" smtClean="0">
                          <a:ln>
                            <a:noFill/>
                          </a:ln>
                          <a:solidFill>
                            <a:schemeClr val="tx1"/>
                          </a:solidFill>
                          <a:effectLst/>
                          <a:latin typeface="Arial" charset="0"/>
                          <a:ea typeface="ＭＳ Ｐゴシック" pitchFamily="34" charset="-128"/>
                        </a:rPr>
                        <a:t>51024</a:t>
                      </a:r>
                      <a:endParaRPr kumimoji="0" lang="zh-CN" altLang="ja-JP" sz="1600" b="0" i="0" u="none" strike="noStrike" cap="none" normalizeH="0" baseline="0" dirty="0" smtClean="0">
                        <a:ln>
                          <a:noFill/>
                        </a:ln>
                        <a:solidFill>
                          <a:schemeClr val="tx1"/>
                        </a:solidFill>
                        <a:effectLst/>
                        <a:latin typeface="Arial" charset="0"/>
                        <a:ea typeface="ＭＳ Ｐゴシック" pitchFamily="34" charset="-128"/>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smtClean="0">
                          <a:ln>
                            <a:noFill/>
                          </a:ln>
                          <a:solidFill>
                            <a:schemeClr val="tx1"/>
                          </a:solidFill>
                          <a:effectLst/>
                          <a:latin typeface="Arial" charset="0"/>
                          <a:ea typeface="ＭＳ Ｐゴシック" pitchFamily="34" charset="-128"/>
                        </a:rPr>
                        <a:t>2</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smtClean="0">
                          <a:ln>
                            <a:noFill/>
                          </a:ln>
                          <a:solidFill>
                            <a:schemeClr val="tx1"/>
                          </a:solidFill>
                          <a:effectLst/>
                          <a:latin typeface="Arial" charset="0"/>
                          <a:ea typeface="宋体" charset="-122"/>
                          <a:cs typeface="Times New Roman" charset="0"/>
                        </a:rPr>
                        <a:t>25456</a:t>
                      </a:r>
                      <a:endParaRPr kumimoji="0" lang="zh-CN"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sv-SE" altLang="zh-CN" sz="1600" b="0" i="0" u="none" strike="noStrike" cap="none" normalizeH="0" baseline="0" smtClean="0">
                          <a:ln>
                            <a:noFill/>
                          </a:ln>
                          <a:solidFill>
                            <a:schemeClr val="tx1"/>
                          </a:solidFill>
                          <a:effectLst/>
                          <a:latin typeface="Arial" charset="0"/>
                          <a:ea typeface="宋体" charset="-122"/>
                          <a:cs typeface="Times New Roman" charset="0"/>
                        </a:rPr>
                        <a:t>No</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dirty="0" smtClean="0">
                          <a:ln>
                            <a:noFill/>
                          </a:ln>
                          <a:solidFill>
                            <a:schemeClr val="tx1"/>
                          </a:solidFill>
                          <a:effectLst/>
                          <a:latin typeface="Arial" charset="0"/>
                          <a:ea typeface="宋体" charset="-122"/>
                          <a:cs typeface="Times New Roman" charset="0"/>
                        </a:rPr>
                        <a:t>700 000</a:t>
                      </a:r>
                      <a:endParaRPr kumimoji="0" lang="zh-CN" altLang="zh-CN" sz="1600" b="0" i="0" u="none" strike="noStrike" cap="none" normalizeH="0" baseline="0" dirty="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r>
              <a:tr h="362790">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smtClean="0">
                          <a:ln>
                            <a:noFill/>
                          </a:ln>
                          <a:solidFill>
                            <a:schemeClr val="tx1"/>
                          </a:solidFill>
                          <a:effectLst/>
                          <a:latin typeface="Arial" charset="0"/>
                          <a:ea typeface="ＭＳ Ｐゴシック" pitchFamily="34" charset="-128"/>
                        </a:rPr>
                        <a:t>3</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en-GB" altLang="ja-JP" sz="1600" b="0" i="0" u="none" strike="noStrike" cap="none" normalizeH="0" baseline="0" dirty="0" smtClean="0">
                          <a:ln>
                            <a:noFill/>
                          </a:ln>
                          <a:solidFill>
                            <a:schemeClr val="tx1"/>
                          </a:solidFill>
                          <a:effectLst/>
                          <a:latin typeface="Arial" charset="0"/>
                          <a:ea typeface="ＭＳ Ｐゴシック" pitchFamily="34" charset="-128"/>
                        </a:rPr>
                        <a:t>102048</a:t>
                      </a:r>
                      <a:endParaRPr kumimoji="0" lang="zh-CN" altLang="ja-JP" sz="1600" b="0" i="0" u="none" strike="noStrike" cap="none" normalizeH="0" baseline="0" dirty="0" smtClean="0">
                        <a:ln>
                          <a:noFill/>
                        </a:ln>
                        <a:solidFill>
                          <a:schemeClr val="tx1"/>
                        </a:solidFill>
                        <a:effectLst/>
                        <a:latin typeface="Arial" charset="0"/>
                        <a:ea typeface="ＭＳ Ｐゴシック" pitchFamily="34" charset="-128"/>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smtClean="0">
                          <a:ln>
                            <a:noFill/>
                          </a:ln>
                          <a:solidFill>
                            <a:schemeClr val="tx1"/>
                          </a:solidFill>
                          <a:effectLst/>
                          <a:latin typeface="Arial" charset="0"/>
                          <a:ea typeface="ＭＳ Ｐゴシック" pitchFamily="34" charset="-128"/>
                        </a:rPr>
                        <a:t>2</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smtClean="0">
                          <a:ln>
                            <a:noFill/>
                          </a:ln>
                          <a:solidFill>
                            <a:schemeClr val="tx1"/>
                          </a:solidFill>
                          <a:effectLst/>
                          <a:latin typeface="Arial" charset="0"/>
                          <a:ea typeface="宋体" charset="-122"/>
                          <a:cs typeface="Times New Roman" charset="0"/>
                        </a:rPr>
                        <a:t>51024</a:t>
                      </a:r>
                      <a:endParaRPr kumimoji="0" lang="zh-CN"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sv-SE" altLang="zh-CN" sz="1600" b="0" i="0" u="none" strike="noStrike" cap="none" normalizeH="0" baseline="0" smtClean="0">
                          <a:ln>
                            <a:noFill/>
                          </a:ln>
                          <a:solidFill>
                            <a:schemeClr val="tx1"/>
                          </a:solidFill>
                          <a:effectLst/>
                          <a:latin typeface="Arial" charset="0"/>
                          <a:ea typeface="宋体" charset="-122"/>
                          <a:cs typeface="Times New Roman" charset="0"/>
                        </a:rPr>
                        <a:t>No</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dirty="0" smtClean="0">
                          <a:ln>
                            <a:noFill/>
                          </a:ln>
                          <a:solidFill>
                            <a:schemeClr val="tx1"/>
                          </a:solidFill>
                          <a:effectLst/>
                          <a:latin typeface="Arial" charset="0"/>
                          <a:ea typeface="宋体" charset="-122"/>
                          <a:cs typeface="Times New Roman" charset="0"/>
                        </a:rPr>
                        <a:t>1 400 000</a:t>
                      </a:r>
                      <a:endParaRPr kumimoji="0" lang="zh-CN" altLang="zh-CN" sz="1600" b="0" i="0" u="none" strike="noStrike" cap="none" normalizeH="0" baseline="0" dirty="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r>
              <a:tr h="362790">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smtClean="0">
                          <a:ln>
                            <a:noFill/>
                          </a:ln>
                          <a:solidFill>
                            <a:schemeClr val="tx1"/>
                          </a:solidFill>
                          <a:effectLst/>
                          <a:latin typeface="Arial" charset="0"/>
                          <a:ea typeface="ＭＳ Ｐゴシック" pitchFamily="34" charset="-128"/>
                        </a:rPr>
                        <a:t>4</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en-GB" altLang="ja-JP" sz="1600" b="0" i="0" u="none" strike="noStrike" cap="none" normalizeH="0" baseline="0" dirty="0" smtClean="0">
                          <a:ln>
                            <a:noFill/>
                          </a:ln>
                          <a:solidFill>
                            <a:schemeClr val="tx1"/>
                          </a:solidFill>
                          <a:effectLst/>
                          <a:latin typeface="Arial" charset="0"/>
                          <a:ea typeface="ＭＳ Ｐゴシック" pitchFamily="34" charset="-128"/>
                        </a:rPr>
                        <a:t>150752</a:t>
                      </a:r>
                      <a:endParaRPr kumimoji="0" lang="zh-CN" altLang="ja-JP" sz="1600" b="0" i="0" u="none" strike="noStrike" cap="none" normalizeH="0" baseline="0" dirty="0" smtClean="0">
                        <a:ln>
                          <a:noFill/>
                        </a:ln>
                        <a:solidFill>
                          <a:schemeClr val="tx1"/>
                        </a:solidFill>
                        <a:effectLst/>
                        <a:latin typeface="Arial" charset="0"/>
                        <a:ea typeface="ＭＳ Ｐゴシック" pitchFamily="34" charset="-128"/>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smtClean="0">
                          <a:ln>
                            <a:noFill/>
                          </a:ln>
                          <a:solidFill>
                            <a:schemeClr val="tx1"/>
                          </a:solidFill>
                          <a:effectLst/>
                          <a:latin typeface="Arial" charset="0"/>
                          <a:ea typeface="ＭＳ Ｐゴシック" pitchFamily="34" charset="-128"/>
                        </a:rPr>
                        <a:t>2</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smtClean="0">
                          <a:ln>
                            <a:noFill/>
                          </a:ln>
                          <a:solidFill>
                            <a:schemeClr val="tx1"/>
                          </a:solidFill>
                          <a:effectLst/>
                          <a:latin typeface="Arial" charset="0"/>
                          <a:ea typeface="宋体" charset="-122"/>
                          <a:cs typeface="Times New Roman" charset="0"/>
                        </a:rPr>
                        <a:t>51024</a:t>
                      </a:r>
                      <a:endParaRPr kumimoji="0" lang="zh-CN"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sv-SE" altLang="zh-CN" sz="1600" b="0" i="0" u="none" strike="noStrike" cap="none" normalizeH="0" baseline="0" smtClean="0">
                          <a:ln>
                            <a:noFill/>
                          </a:ln>
                          <a:solidFill>
                            <a:schemeClr val="tx1"/>
                          </a:solidFill>
                          <a:effectLst/>
                          <a:latin typeface="Arial" charset="0"/>
                          <a:ea typeface="宋体" charset="-122"/>
                          <a:cs typeface="Times New Roman" charset="0"/>
                        </a:rPr>
                        <a:t>No</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dirty="0" smtClean="0">
                          <a:ln>
                            <a:noFill/>
                          </a:ln>
                          <a:solidFill>
                            <a:schemeClr val="tx1"/>
                          </a:solidFill>
                          <a:effectLst/>
                          <a:latin typeface="Arial" charset="0"/>
                          <a:ea typeface="宋体" charset="-122"/>
                          <a:cs typeface="Times New Roman" charset="0"/>
                        </a:rPr>
                        <a:t>1 900 000</a:t>
                      </a:r>
                      <a:endParaRPr kumimoji="0" lang="zh-CN" altLang="zh-CN" sz="1600" b="0" i="0" u="none" strike="noStrike" cap="none" normalizeH="0" baseline="0" dirty="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r>
              <a:tr h="362790">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smtClean="0">
                          <a:ln>
                            <a:noFill/>
                          </a:ln>
                          <a:solidFill>
                            <a:schemeClr val="tx1"/>
                          </a:solidFill>
                          <a:effectLst/>
                          <a:latin typeface="Arial" charset="0"/>
                          <a:ea typeface="ＭＳ Ｐゴシック" pitchFamily="34" charset="-128"/>
                        </a:rPr>
                        <a:t>5</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CC"/>
                    </a:solid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en-GB" altLang="ja-JP" sz="1600" b="0" i="0" u="none" strike="noStrike" cap="none" normalizeH="0" baseline="0" dirty="0" smtClean="0">
                          <a:ln>
                            <a:noFill/>
                          </a:ln>
                          <a:solidFill>
                            <a:schemeClr val="tx1"/>
                          </a:solidFill>
                          <a:effectLst/>
                          <a:latin typeface="Arial" charset="0"/>
                          <a:ea typeface="ＭＳ Ｐゴシック" pitchFamily="34" charset="-128"/>
                        </a:rPr>
                        <a:t>299552</a:t>
                      </a:r>
                      <a:endParaRPr kumimoji="0" lang="zh-CN" altLang="ja-JP" sz="1600" b="0" i="0" u="none" strike="noStrike" cap="none" normalizeH="0" baseline="0" dirty="0" smtClean="0">
                        <a:ln>
                          <a:noFill/>
                        </a:ln>
                        <a:solidFill>
                          <a:schemeClr val="tx1"/>
                        </a:solidFill>
                        <a:effectLst/>
                        <a:latin typeface="Arial" charset="0"/>
                        <a:ea typeface="ＭＳ Ｐゴシック" pitchFamily="34" charset="-128"/>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fr-FR" altLang="ja-JP" sz="1600" b="0" i="0" u="none" strike="noStrike" cap="none" normalizeH="0" baseline="0" dirty="0" smtClean="0">
                          <a:ln>
                            <a:noFill/>
                          </a:ln>
                          <a:solidFill>
                            <a:schemeClr val="tx1"/>
                          </a:solidFill>
                          <a:effectLst/>
                          <a:latin typeface="Arial" charset="0"/>
                          <a:ea typeface="ＭＳ Ｐゴシック" pitchFamily="34" charset="-128"/>
                        </a:rPr>
                        <a:t>4</a:t>
                      </a:r>
                      <a:endParaRPr kumimoji="0" lang="en-GB" altLang="zh-CN" sz="1600" b="0" i="0" u="none" strike="noStrike" cap="none" normalizeH="0" baseline="0" dirty="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smtClean="0">
                          <a:ln>
                            <a:noFill/>
                          </a:ln>
                          <a:solidFill>
                            <a:schemeClr val="tx1"/>
                          </a:solidFill>
                          <a:effectLst/>
                          <a:latin typeface="Arial" charset="0"/>
                          <a:ea typeface="宋体" charset="-122"/>
                          <a:cs typeface="Times New Roman" charset="0"/>
                        </a:rPr>
                        <a:t>75376</a:t>
                      </a:r>
                      <a:endParaRPr kumimoji="0" lang="zh-CN"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Pct val="50000"/>
                        <a:buFont typeface="Monotype Sorts" pitchFamily="2" charset="2"/>
                        <a:buNone/>
                        <a:tabLst/>
                      </a:pPr>
                      <a:r>
                        <a:rPr kumimoji="0" lang="sv-SE" altLang="zh-CN" sz="1600" b="0" i="0" u="none" strike="noStrike" cap="none" normalizeH="0" baseline="0" smtClean="0">
                          <a:ln>
                            <a:noFill/>
                          </a:ln>
                          <a:solidFill>
                            <a:schemeClr val="tx1"/>
                          </a:solidFill>
                          <a:effectLst/>
                          <a:latin typeface="Arial" charset="0"/>
                          <a:ea typeface="宋体" charset="-122"/>
                          <a:cs typeface="Times New Roman" charset="0"/>
                        </a:rPr>
                        <a:t>Yes</a:t>
                      </a:r>
                      <a:endParaRPr kumimoji="0" lang="en-GB" altLang="zh-CN" sz="1600" b="0" i="0" u="none" strike="noStrike" cap="none" normalizeH="0" baseline="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GB" altLang="zh-CN" sz="1600" b="0" i="0" u="none" strike="noStrike" cap="none" normalizeH="0" baseline="0" dirty="0" smtClean="0">
                          <a:ln>
                            <a:noFill/>
                          </a:ln>
                          <a:solidFill>
                            <a:schemeClr val="tx1"/>
                          </a:solidFill>
                          <a:effectLst/>
                          <a:latin typeface="Arial" charset="0"/>
                          <a:ea typeface="宋体" charset="-122"/>
                          <a:cs typeface="Times New Roman" charset="0"/>
                        </a:rPr>
                        <a:t>3 500 000</a:t>
                      </a:r>
                      <a:endParaRPr kumimoji="0" lang="zh-CN" altLang="zh-CN" sz="1600" b="0" i="0" u="none" strike="noStrike" cap="none" normalizeH="0" baseline="0" dirty="0" smtClean="0">
                        <a:ln>
                          <a:noFill/>
                        </a:ln>
                        <a:solidFill>
                          <a:schemeClr val="tx1"/>
                        </a:solidFill>
                        <a:effectLst/>
                        <a:latin typeface="Arial" charset="0"/>
                        <a:ea typeface="宋体" charset="-122"/>
                        <a:cs typeface="Times New Roman" charset="0"/>
                      </a:endParaRPr>
                    </a:p>
                  </a:txBody>
                  <a:tcPr marL="33231" marR="33231" marT="72000" marB="72000" anchorCtr="1"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2"/>
              <a:defRPr/>
            </a:pPr>
            <a:r>
              <a:rPr lang="zh-CN" altLang="en-US" b="1" dirty="0" smtClean="0"/>
              <a:t>单站验证准备</a:t>
            </a:r>
            <a:endParaRPr lang="en-US" altLang="zh-CN" b="1" dirty="0" smtClean="0"/>
          </a:p>
          <a:p>
            <a:pPr marL="809625" lvl="1" indent="-457200">
              <a:buClr>
                <a:schemeClr val="tx1"/>
              </a:buClr>
              <a:buSzTx/>
              <a:buNone/>
              <a:defRPr/>
            </a:pPr>
            <a:r>
              <a:rPr lang="en-US" altLang="zh-CN" dirty="0" smtClean="0">
                <a:solidFill>
                  <a:schemeClr val="bg1">
                    <a:lumMod val="85000"/>
                  </a:schemeClr>
                </a:solidFill>
              </a:rPr>
              <a:t>2.1   </a:t>
            </a:r>
            <a:r>
              <a:rPr lang="zh-CN" altLang="en-US" dirty="0" smtClean="0">
                <a:solidFill>
                  <a:schemeClr val="bg1">
                    <a:lumMod val="85000"/>
                  </a:schemeClr>
                </a:solidFill>
              </a:rPr>
              <a:t>测试准备</a:t>
            </a:r>
            <a:endParaRPr lang="en-US" altLang="zh-CN" dirty="0" smtClean="0">
              <a:solidFill>
                <a:schemeClr val="bg1">
                  <a:lumMod val="85000"/>
                </a:schemeClr>
              </a:solidFill>
            </a:endParaRPr>
          </a:p>
          <a:p>
            <a:pPr marL="809625" lvl="1" indent="-457200">
              <a:buClr>
                <a:schemeClr val="tx1"/>
              </a:buClr>
              <a:buSzTx/>
              <a:buNone/>
              <a:defRPr/>
            </a:pPr>
            <a:r>
              <a:rPr lang="en-US" altLang="zh-CN" b="1" dirty="0" smtClean="0"/>
              <a:t>2.2	  </a:t>
            </a:r>
            <a:r>
              <a:rPr lang="zh-CN" altLang="en-US" b="1" dirty="0" smtClean="0"/>
              <a:t>硬件连接及软件安装</a:t>
            </a:r>
            <a:endParaRPr lang="en-US" altLang="zh-CN" b="1" dirty="0" smtClean="0"/>
          </a:p>
          <a:p>
            <a:pPr marL="809625" lvl="1" indent="-457200">
              <a:buClr>
                <a:schemeClr val="tx1"/>
              </a:buClr>
              <a:buSzTx/>
              <a:buNone/>
              <a:defRPr/>
            </a:pPr>
            <a:r>
              <a:rPr lang="en-US" altLang="zh-CN" dirty="0" smtClean="0">
                <a:solidFill>
                  <a:schemeClr val="bg1">
                    <a:lumMod val="85000"/>
                  </a:schemeClr>
                </a:solidFill>
              </a:rPr>
              <a:t>2.3    </a:t>
            </a:r>
            <a:r>
              <a:rPr lang="zh-CN" altLang="en-US" dirty="0" smtClean="0">
                <a:solidFill>
                  <a:schemeClr val="bg1">
                    <a:lumMod val="85000"/>
                  </a:schemeClr>
                </a:solidFill>
              </a:rPr>
              <a:t>参数及地图导入</a:t>
            </a:r>
            <a:endParaRPr lang="en-US" altLang="zh-CN" dirty="0" smtClean="0">
              <a:solidFill>
                <a:schemeClr val="bg1">
                  <a:lumMod val="85000"/>
                </a:schemeClr>
              </a:solidFill>
            </a:endParaRPr>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20</a:t>
            </a:fld>
            <a:endParaRPr lang="en-US" altLang="zh-CN"/>
          </a:p>
        </p:txBody>
      </p:sp>
    </p:spTree>
  </p:cSld>
  <p:clrMapOvr>
    <a:masterClrMapping/>
  </p:clrMapOvr>
  <p:transition advClick="0" advTm="8000"/>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终端</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en-US" dirty="0" smtClean="0"/>
              <a:t>以</a:t>
            </a:r>
            <a:r>
              <a:rPr lang="zh-CN" altLang="zh-CN" dirty="0" smtClean="0"/>
              <a:t>华为商用终端（</a:t>
            </a:r>
            <a:r>
              <a:rPr lang="en-US" altLang="zh-CN" dirty="0" smtClean="0"/>
              <a:t>E392</a:t>
            </a:r>
            <a:r>
              <a:rPr lang="zh-CN" altLang="zh-CN" dirty="0" smtClean="0"/>
              <a:t>）操作软件</a:t>
            </a:r>
            <a:r>
              <a:rPr lang="zh-CN" altLang="en-US" dirty="0" smtClean="0"/>
              <a:t>为例</a:t>
            </a:r>
            <a:endParaRPr lang="en-US" altLang="zh-CN" dirty="0" smtClean="0"/>
          </a:p>
          <a:p>
            <a:r>
              <a:rPr lang="zh-CN" altLang="zh-CN" dirty="0" smtClean="0"/>
              <a:t>把</a:t>
            </a:r>
            <a:r>
              <a:rPr lang="en-US" altLang="zh-CN" dirty="0" smtClean="0"/>
              <a:t>E392</a:t>
            </a:r>
            <a:r>
              <a:rPr lang="zh-CN" altLang="zh-CN" dirty="0" smtClean="0"/>
              <a:t>插入电脑</a:t>
            </a:r>
            <a:r>
              <a:rPr lang="en-US" altLang="zh-CN" dirty="0" smtClean="0"/>
              <a:t>USE</a:t>
            </a:r>
            <a:r>
              <a:rPr lang="zh-CN" altLang="zh-CN" dirty="0" smtClean="0"/>
              <a:t>口之后，打开“我的电脑”（第一次使用需要安装）</a:t>
            </a:r>
            <a:endParaRPr lang="en-US" altLang="zh-CN" dirty="0" smtClean="0"/>
          </a:p>
          <a:p>
            <a:endParaRPr lang="en-US" altLang="zh-CN" dirty="0" smtClean="0"/>
          </a:p>
          <a:p>
            <a:endParaRPr lang="en-US" altLang="zh-CN" dirty="0" smtClean="0"/>
          </a:p>
          <a:p>
            <a:endParaRPr lang="en-US" altLang="zh-CN" dirty="0" smtClean="0"/>
          </a:p>
          <a:p>
            <a:r>
              <a:rPr lang="zh-CN" altLang="zh-CN" dirty="0" smtClean="0"/>
              <a:t>双击之后，安装该软件</a:t>
            </a:r>
          </a:p>
          <a:p>
            <a:r>
              <a:rPr lang="zh-CN" altLang="zh-CN" dirty="0" smtClean="0"/>
              <a:t>待安装完成后，双击打开该软件，</a:t>
            </a:r>
            <a:r>
              <a:rPr lang="en-US" altLang="zh-CN" dirty="0" smtClean="0"/>
              <a:t>Tools=&gt;Options…</a:t>
            </a:r>
            <a:r>
              <a:rPr lang="zh-CN" altLang="zh-CN" dirty="0" smtClean="0"/>
              <a:t>进行配置：</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21</a:t>
            </a:fld>
            <a:endParaRPr lang="en-US" altLang="zh-CN"/>
          </a:p>
        </p:txBody>
      </p:sp>
      <p:pic>
        <p:nvPicPr>
          <p:cNvPr id="877570" name="Picture 2"/>
          <p:cNvPicPr>
            <a:picLocks noChangeAspect="1" noChangeArrowheads="1"/>
          </p:cNvPicPr>
          <p:nvPr/>
        </p:nvPicPr>
        <p:blipFill>
          <a:blip r:embed="rId2" cstate="print"/>
          <a:srcRect/>
          <a:stretch>
            <a:fillRect/>
          </a:stretch>
        </p:blipFill>
        <p:spPr bwMode="auto">
          <a:xfrm>
            <a:off x="2989943" y="3062514"/>
            <a:ext cx="2931886" cy="14732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终端配置</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22</a:t>
            </a:fld>
            <a:endParaRPr lang="en-US" altLang="zh-CN"/>
          </a:p>
        </p:txBody>
      </p:sp>
      <p:pic>
        <p:nvPicPr>
          <p:cNvPr id="878594" name="Picture 2"/>
          <p:cNvPicPr>
            <a:picLocks noChangeAspect="1" noChangeArrowheads="1"/>
          </p:cNvPicPr>
          <p:nvPr/>
        </p:nvPicPr>
        <p:blipFill>
          <a:blip r:embed="rId3" cstate="print"/>
          <a:srcRect/>
          <a:stretch>
            <a:fillRect/>
          </a:stretch>
        </p:blipFill>
        <p:spPr bwMode="auto">
          <a:xfrm>
            <a:off x="1741713" y="1494970"/>
            <a:ext cx="6307213" cy="46155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终端配置</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23</a:t>
            </a:fld>
            <a:endParaRPr lang="en-US" altLang="zh-CN"/>
          </a:p>
        </p:txBody>
      </p:sp>
      <p:pic>
        <p:nvPicPr>
          <p:cNvPr id="879618" name="Picture 2"/>
          <p:cNvPicPr>
            <a:picLocks noChangeAspect="1" noChangeArrowheads="1"/>
          </p:cNvPicPr>
          <p:nvPr/>
        </p:nvPicPr>
        <p:blipFill>
          <a:blip r:embed="rId3" cstate="print"/>
          <a:srcRect/>
          <a:stretch>
            <a:fillRect/>
          </a:stretch>
        </p:blipFill>
        <p:spPr bwMode="auto">
          <a:xfrm>
            <a:off x="1654628" y="1436914"/>
            <a:ext cx="5849258" cy="4783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终端配置</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24</a:t>
            </a:fld>
            <a:endParaRPr lang="en-US" altLang="zh-CN"/>
          </a:p>
        </p:txBody>
      </p:sp>
      <p:pic>
        <p:nvPicPr>
          <p:cNvPr id="880642" name="Picture 2"/>
          <p:cNvPicPr>
            <a:picLocks noChangeAspect="1" noChangeArrowheads="1"/>
          </p:cNvPicPr>
          <p:nvPr/>
        </p:nvPicPr>
        <p:blipFill>
          <a:blip r:embed="rId3" cstate="print"/>
          <a:srcRect/>
          <a:stretch>
            <a:fillRect/>
          </a:stretch>
        </p:blipFill>
        <p:spPr bwMode="auto">
          <a:xfrm>
            <a:off x="1146629" y="1683655"/>
            <a:ext cx="7060548" cy="39043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终端配置</a:t>
            </a:r>
            <a:endParaRPr lang="zh-CN" altLang="en-US" dirty="0"/>
          </a:p>
        </p:txBody>
      </p:sp>
      <p:sp>
        <p:nvSpPr>
          <p:cNvPr id="3" name="内容占位符 2"/>
          <p:cNvSpPr>
            <a:spLocks noGrp="1"/>
          </p:cNvSpPr>
          <p:nvPr>
            <p:ph idx="1"/>
          </p:nvPr>
        </p:nvSpPr>
        <p:spPr/>
        <p:txBody>
          <a:bodyPr/>
          <a:lstStyle/>
          <a:p>
            <a:r>
              <a:rPr lang="zh-CN" altLang="zh-CN" dirty="0" smtClean="0"/>
              <a:t>当连接成功后，可查询网卡的情况，如下图，说明已连接成功。</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25</a:t>
            </a:fld>
            <a:endParaRPr lang="en-US" altLang="zh-CN"/>
          </a:p>
        </p:txBody>
      </p:sp>
      <p:pic>
        <p:nvPicPr>
          <p:cNvPr id="881666" name="Picture 2"/>
          <p:cNvPicPr>
            <a:picLocks noChangeAspect="1" noChangeArrowheads="1"/>
          </p:cNvPicPr>
          <p:nvPr/>
        </p:nvPicPr>
        <p:blipFill>
          <a:blip r:embed="rId2" cstate="print"/>
          <a:srcRect/>
          <a:stretch>
            <a:fillRect/>
          </a:stretch>
        </p:blipFill>
        <p:spPr bwMode="auto">
          <a:xfrm>
            <a:off x="1030513" y="2714171"/>
            <a:ext cx="7114945" cy="812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Probe</a:t>
            </a:r>
            <a:r>
              <a:rPr lang="zh-CN" altLang="en-US" dirty="0" smtClean="0"/>
              <a:t>简介</a:t>
            </a:r>
            <a:endParaRPr lang="zh-CN" altLang="en-US" dirty="0"/>
          </a:p>
        </p:txBody>
      </p:sp>
      <p:sp>
        <p:nvSpPr>
          <p:cNvPr id="3" name="内容占位符 2"/>
          <p:cNvSpPr>
            <a:spLocks noGrp="1"/>
          </p:cNvSpPr>
          <p:nvPr>
            <p:ph idx="1"/>
          </p:nvPr>
        </p:nvSpPr>
        <p:spPr/>
        <p:txBody>
          <a:bodyPr/>
          <a:lstStyle/>
          <a:p>
            <a:r>
              <a:rPr lang="en-US" altLang="zh-CN" dirty="0" smtClean="0"/>
              <a:t>Probe</a:t>
            </a:r>
            <a:r>
              <a:rPr lang="zh-CN" altLang="en-US" dirty="0" smtClean="0"/>
              <a:t>支持多种网络系统和终端类型，具有强大的业务测试功能和数据管理功能，操作便捷。</a:t>
            </a:r>
            <a:endParaRPr lang="en-US" altLang="zh-CN"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26</a:t>
            </a:fld>
            <a:endParaRPr lang="en-US" altLang="zh-CN"/>
          </a:p>
        </p:txBody>
      </p:sp>
      <p:graphicFrame>
        <p:nvGraphicFramePr>
          <p:cNvPr id="7" name="图示 6"/>
          <p:cNvGraphicFramePr/>
          <p:nvPr/>
        </p:nvGraphicFramePr>
        <p:xfrm>
          <a:off x="1886857" y="2471058"/>
          <a:ext cx="5704114" cy="37700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GENEX Probe</a:t>
            </a:r>
            <a:r>
              <a:rPr lang="zh-CN" altLang="en-US" dirty="0" smtClean="0"/>
              <a:t>配置</a:t>
            </a:r>
            <a:endParaRPr lang="zh-CN" altLang="en-US" dirty="0"/>
          </a:p>
        </p:txBody>
      </p:sp>
      <p:sp>
        <p:nvSpPr>
          <p:cNvPr id="3" name="内容占位符 2"/>
          <p:cNvSpPr>
            <a:spLocks noGrp="1"/>
          </p:cNvSpPr>
          <p:nvPr>
            <p:ph idx="1"/>
          </p:nvPr>
        </p:nvSpPr>
        <p:spPr/>
        <p:txBody>
          <a:bodyPr/>
          <a:lstStyle/>
          <a:p>
            <a:r>
              <a:rPr lang="zh-CN" altLang="zh-CN" dirty="0" smtClean="0"/>
              <a:t>点击文件夹中</a:t>
            </a:r>
            <a:r>
              <a:rPr lang="en-US" altLang="zh-CN" dirty="0" smtClean="0"/>
              <a:t>setup.exe</a:t>
            </a:r>
            <a:r>
              <a:rPr lang="zh-CN" altLang="zh-CN" dirty="0" smtClean="0"/>
              <a:t>文件即可以完成安装，安装完成后会在桌面创建一个如下图标的快捷键：</a:t>
            </a:r>
            <a:endParaRPr lang="en-US" altLang="zh-CN" dirty="0" smtClean="0"/>
          </a:p>
          <a:p>
            <a:endParaRPr lang="en-US" altLang="zh-CN" dirty="0" smtClean="0"/>
          </a:p>
          <a:p>
            <a:r>
              <a:rPr lang="zh-CN" altLang="zh-CN" dirty="0" smtClean="0"/>
              <a:t>插上</a:t>
            </a:r>
            <a:r>
              <a:rPr lang="en-US" altLang="zh-CN" dirty="0" smtClean="0"/>
              <a:t>USB</a:t>
            </a:r>
            <a:r>
              <a:rPr lang="zh-CN" altLang="zh-CN" dirty="0" smtClean="0"/>
              <a:t>硬狗后（硬狗需要安装驱动），双击如上图标即可以启动</a:t>
            </a:r>
            <a:r>
              <a:rPr lang="en-US" altLang="zh-CN" dirty="0" smtClean="0"/>
              <a:t>probe</a:t>
            </a:r>
            <a:r>
              <a:rPr lang="zh-CN" altLang="zh-CN" dirty="0" smtClean="0"/>
              <a:t>，启动后会弹出更新</a:t>
            </a:r>
            <a:r>
              <a:rPr lang="en-US" altLang="zh-CN" dirty="0" smtClean="0"/>
              <a:t>LICENSE</a:t>
            </a:r>
            <a:r>
              <a:rPr lang="zh-CN" altLang="zh-CN" dirty="0" smtClean="0"/>
              <a:t>对话框，拷贝其</a:t>
            </a:r>
            <a:r>
              <a:rPr lang="en-US" altLang="zh-CN" dirty="0" smtClean="0"/>
              <a:t>ESN</a:t>
            </a:r>
            <a:r>
              <a:rPr lang="zh-CN" altLang="zh-CN" dirty="0" smtClean="0"/>
              <a:t>号，向服务部门申请</a:t>
            </a:r>
            <a:r>
              <a:rPr lang="en-US" altLang="zh-CN" dirty="0" smtClean="0"/>
              <a:t>license </a:t>
            </a:r>
            <a:r>
              <a:rPr lang="zh-CN" altLang="zh-CN" dirty="0" smtClean="0"/>
              <a:t>，更新</a:t>
            </a:r>
            <a:r>
              <a:rPr lang="en-US" altLang="zh-CN" dirty="0" smtClean="0"/>
              <a:t>license</a:t>
            </a:r>
            <a:r>
              <a:rPr lang="zh-CN" altLang="zh-CN" dirty="0" smtClean="0"/>
              <a:t>后即完成全部安装。</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27</a:t>
            </a:fld>
            <a:endParaRPr lang="en-US" altLang="zh-CN"/>
          </a:p>
        </p:txBody>
      </p:sp>
      <p:pic>
        <p:nvPicPr>
          <p:cNvPr id="882691" name="Picture 3"/>
          <p:cNvPicPr>
            <a:picLocks noChangeAspect="1" noChangeArrowheads="1"/>
          </p:cNvPicPr>
          <p:nvPr/>
        </p:nvPicPr>
        <p:blipFill>
          <a:blip r:embed="rId3" cstate="print"/>
          <a:srcRect/>
          <a:stretch>
            <a:fillRect/>
          </a:stretch>
        </p:blipFill>
        <p:spPr bwMode="auto">
          <a:xfrm>
            <a:off x="2148116" y="5065484"/>
            <a:ext cx="5454192" cy="1045029"/>
          </a:xfrm>
          <a:prstGeom prst="rect">
            <a:avLst/>
          </a:prstGeom>
          <a:noFill/>
          <a:ln w="9525">
            <a:noFill/>
            <a:miter lim="800000"/>
            <a:headEnd/>
            <a:tailEnd/>
          </a:ln>
        </p:spPr>
      </p:pic>
      <p:pic>
        <p:nvPicPr>
          <p:cNvPr id="797698" name="Picture 2"/>
          <p:cNvPicPr>
            <a:picLocks noChangeAspect="1" noChangeArrowheads="1"/>
          </p:cNvPicPr>
          <p:nvPr/>
        </p:nvPicPr>
        <p:blipFill>
          <a:blip r:embed="rId4" cstate="print"/>
          <a:srcRect/>
          <a:stretch>
            <a:fillRect/>
          </a:stretch>
        </p:blipFill>
        <p:spPr bwMode="auto">
          <a:xfrm>
            <a:off x="5502822" y="1933082"/>
            <a:ext cx="723900" cy="847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16"/>
          <p:cNvPicPr>
            <a:picLocks noChangeAspect="1" noChangeArrowheads="1"/>
          </p:cNvPicPr>
          <p:nvPr/>
        </p:nvPicPr>
        <p:blipFill>
          <a:blip r:embed="rId3" cstate="print"/>
          <a:srcRect/>
          <a:stretch>
            <a:fillRect/>
          </a:stretch>
        </p:blipFill>
        <p:spPr bwMode="auto">
          <a:xfrm>
            <a:off x="4373563" y="1506538"/>
            <a:ext cx="4703762" cy="3303587"/>
          </a:xfrm>
          <a:prstGeom prst="rect">
            <a:avLst/>
          </a:prstGeom>
          <a:noFill/>
          <a:ln w="9525">
            <a:noFill/>
            <a:miter lim="800000"/>
            <a:headEnd/>
            <a:tailEnd/>
          </a:ln>
        </p:spPr>
      </p:pic>
      <p:sp>
        <p:nvSpPr>
          <p:cNvPr id="20483" name="标题 11"/>
          <p:cNvSpPr>
            <a:spLocks noGrp="1"/>
          </p:cNvSpPr>
          <p:nvPr>
            <p:ph type="title"/>
          </p:nvPr>
        </p:nvSpPr>
        <p:spPr/>
        <p:txBody>
          <a:bodyPr/>
          <a:lstStyle/>
          <a:p>
            <a:pPr eaLnBrk="1" hangingPunct="1"/>
            <a:r>
              <a:rPr lang="en-US" altLang="zh-CN" dirty="0" smtClean="0"/>
              <a:t>Probe</a:t>
            </a:r>
            <a:r>
              <a:rPr lang="zh-CN" altLang="en-US" dirty="0" smtClean="0"/>
              <a:t>软件版本确认</a:t>
            </a:r>
          </a:p>
        </p:txBody>
      </p:sp>
      <p:pic>
        <p:nvPicPr>
          <p:cNvPr id="20490" name="Picture 10"/>
          <p:cNvPicPr>
            <a:picLocks noChangeAspect="1" noChangeArrowheads="1"/>
          </p:cNvPicPr>
          <p:nvPr/>
        </p:nvPicPr>
        <p:blipFill>
          <a:blip r:embed="rId4" cstate="print"/>
          <a:srcRect/>
          <a:stretch>
            <a:fillRect/>
          </a:stretch>
        </p:blipFill>
        <p:spPr bwMode="auto">
          <a:xfrm>
            <a:off x="103188" y="1162050"/>
            <a:ext cx="4205287" cy="4244975"/>
          </a:xfrm>
          <a:prstGeom prst="rect">
            <a:avLst/>
          </a:prstGeom>
          <a:noFill/>
          <a:ln w="9525" algn="ctr">
            <a:noFill/>
            <a:miter lim="800000"/>
            <a:headEnd/>
            <a:tailEnd/>
          </a:ln>
        </p:spPr>
      </p:pic>
      <p:sp>
        <p:nvSpPr>
          <p:cNvPr id="20485" name="矩形 9"/>
          <p:cNvSpPr>
            <a:spLocks noChangeArrowheads="1"/>
          </p:cNvSpPr>
          <p:nvPr/>
        </p:nvSpPr>
        <p:spPr bwMode="auto">
          <a:xfrm>
            <a:off x="1885950" y="4662488"/>
            <a:ext cx="1912938" cy="369887"/>
          </a:xfrm>
          <a:prstGeom prst="rect">
            <a:avLst/>
          </a:prstGeom>
          <a:noFill/>
          <a:ln w="9525" algn="ctr">
            <a:noFill/>
            <a:round/>
            <a:headEnd/>
            <a:tailEnd/>
          </a:ln>
        </p:spPr>
        <p:txBody>
          <a:bodyPr lIns="91418" tIns="45709" rIns="91418" bIns="45709">
            <a:spAutoFit/>
          </a:bodyPr>
          <a:lstStyle/>
          <a:p>
            <a:pPr defTabSz="912813" fontAlgn="t"/>
            <a:endParaRPr lang="zh-CN" altLang="en-US">
              <a:ea typeface="华文细黑" pitchFamily="2" charset="-122"/>
            </a:endParaRPr>
          </a:p>
        </p:txBody>
      </p:sp>
      <p:sp>
        <p:nvSpPr>
          <p:cNvPr id="20486" name="线形标注 1 11"/>
          <p:cNvSpPr>
            <a:spLocks/>
          </p:cNvSpPr>
          <p:nvPr/>
        </p:nvSpPr>
        <p:spPr bwMode="auto">
          <a:xfrm>
            <a:off x="6410325" y="3360738"/>
            <a:ext cx="1401763" cy="369887"/>
          </a:xfrm>
          <a:prstGeom prst="borderCallout1">
            <a:avLst>
              <a:gd name="adj1" fmla="val 18750"/>
              <a:gd name="adj2" fmla="val -8333"/>
              <a:gd name="adj3" fmla="val 112500"/>
              <a:gd name="adj4" fmla="val -38333"/>
            </a:avLst>
          </a:prstGeom>
          <a:noFill/>
          <a:ln w="9525" algn="ctr">
            <a:noFill/>
            <a:round/>
            <a:headEnd/>
            <a:tailEnd/>
          </a:ln>
        </p:spPr>
        <p:txBody>
          <a:bodyPr lIns="91418" tIns="45709" rIns="91418" bIns="45709">
            <a:spAutoFit/>
          </a:bodyPr>
          <a:lstStyle/>
          <a:p>
            <a:pPr defTabSz="912813" fontAlgn="t"/>
            <a:endParaRPr lang="zh-CN" altLang="en-US">
              <a:ea typeface="华文细黑" pitchFamily="2" charset="-122"/>
            </a:endParaRPr>
          </a:p>
        </p:txBody>
      </p:sp>
      <p:sp>
        <p:nvSpPr>
          <p:cNvPr id="17" name="圆角矩形 16"/>
          <p:cNvSpPr>
            <a:spLocks noChangeArrowheads="1"/>
          </p:cNvSpPr>
          <p:nvPr/>
        </p:nvSpPr>
        <p:spPr bwMode="auto">
          <a:xfrm>
            <a:off x="3055938" y="3005138"/>
            <a:ext cx="1211262" cy="220662"/>
          </a:xfrm>
          <a:prstGeom prst="roundRect">
            <a:avLst>
              <a:gd name="adj" fmla="val 16667"/>
            </a:avLst>
          </a:prstGeom>
          <a:noFill/>
          <a:ln w="25400" algn="ctr">
            <a:solidFill>
              <a:srgbClr val="FF0000"/>
            </a:solidFill>
            <a:round/>
            <a:headEnd/>
            <a:tailEnd/>
          </a:ln>
        </p:spPr>
        <p:txBody>
          <a:bodyPr lIns="91418" tIns="45709" rIns="91418" bIns="45709">
            <a:spAutoFit/>
          </a:bodyPr>
          <a:lstStyle/>
          <a:p>
            <a:pPr defTabSz="912813" fontAlgn="t"/>
            <a:endParaRPr lang="zh-CN" altLang="en-US" sz="700">
              <a:ea typeface="华文细黑" pitchFamily="2" charset="-122"/>
            </a:endParaRPr>
          </a:p>
        </p:txBody>
      </p:sp>
      <p:sp>
        <p:nvSpPr>
          <p:cNvPr id="19" name="圆角矩形 18"/>
          <p:cNvSpPr>
            <a:spLocks noChangeArrowheads="1"/>
          </p:cNvSpPr>
          <p:nvPr/>
        </p:nvSpPr>
        <p:spPr bwMode="auto">
          <a:xfrm>
            <a:off x="5448300" y="3857625"/>
            <a:ext cx="1995488" cy="696913"/>
          </a:xfrm>
          <a:prstGeom prst="roundRect">
            <a:avLst>
              <a:gd name="adj" fmla="val 16667"/>
            </a:avLst>
          </a:prstGeom>
          <a:noFill/>
          <a:ln w="25400" algn="ctr">
            <a:solidFill>
              <a:srgbClr val="FF0000"/>
            </a:solidFill>
            <a:round/>
            <a:headEnd/>
            <a:tailEnd/>
          </a:ln>
        </p:spPr>
        <p:txBody>
          <a:bodyPr lIns="91418" tIns="45709" rIns="91418" bIns="45709">
            <a:spAutoFit/>
          </a:bodyPr>
          <a:lstStyle/>
          <a:p>
            <a:pPr defTabSz="912813" fontAlgn="t"/>
            <a:endParaRPr lang="en-US" altLang="zh-CN" sz="700">
              <a:ea typeface="华文细黑" pitchFamily="2" charset="-122"/>
            </a:endParaRPr>
          </a:p>
          <a:p>
            <a:pPr defTabSz="912813" fontAlgn="t"/>
            <a:endParaRPr lang="en-US" altLang="zh-CN" sz="700">
              <a:ea typeface="华文细黑" pitchFamily="2" charset="-122"/>
            </a:endParaRPr>
          </a:p>
          <a:p>
            <a:pPr defTabSz="912813" fontAlgn="t"/>
            <a:endParaRPr lang="en-US" altLang="zh-CN" sz="700">
              <a:ea typeface="华文细黑" pitchFamily="2" charset="-122"/>
            </a:endParaRPr>
          </a:p>
          <a:p>
            <a:pPr defTabSz="912813" fontAlgn="t"/>
            <a:endParaRPr lang="en-US" altLang="zh-CN" sz="700">
              <a:ea typeface="华文细黑" pitchFamily="2" charset="-122"/>
            </a:endParaRPr>
          </a:p>
          <a:p>
            <a:pPr defTabSz="912813" fontAlgn="t"/>
            <a:endParaRPr lang="zh-CN" altLang="en-US" sz="700">
              <a:ea typeface="华文细黑" pitchFamily="2" charset="-122"/>
            </a:endParaRPr>
          </a:p>
        </p:txBody>
      </p:sp>
      <p:sp>
        <p:nvSpPr>
          <p:cNvPr id="20489" name="TextBox 9"/>
          <p:cNvSpPr txBox="1">
            <a:spLocks noChangeArrowheads="1"/>
          </p:cNvSpPr>
          <p:nvPr/>
        </p:nvSpPr>
        <p:spPr bwMode="auto">
          <a:xfrm>
            <a:off x="4691063" y="4937125"/>
            <a:ext cx="4078287" cy="361950"/>
          </a:xfrm>
          <a:prstGeom prst="rect">
            <a:avLst/>
          </a:prstGeom>
          <a:noFill/>
          <a:ln w="9525">
            <a:noFill/>
            <a:miter lim="800000"/>
            <a:headEnd/>
            <a:tailEnd/>
          </a:ln>
        </p:spPr>
        <p:txBody>
          <a:bodyPr lIns="83448" tIns="41724" rIns="83448" bIns="41724">
            <a:spAutoFit/>
          </a:bodyPr>
          <a:lstStyle/>
          <a:p>
            <a:pPr fontAlgn="t"/>
            <a:r>
              <a:rPr lang="en-US" altLang="zh-CN">
                <a:ea typeface="华文细黑" pitchFamily="2" charset="-122"/>
              </a:rPr>
              <a:t>http://support.huawei.com/support/</a:t>
            </a:r>
            <a:endParaRPr lang="zh-CN" altLang="en-US">
              <a:ea typeface="华文细黑" pitchFamily="2" charset="-122"/>
            </a:endParaRPr>
          </a:p>
        </p:txBody>
      </p:sp>
      <p:sp>
        <p:nvSpPr>
          <p:cNvPr id="11" name="标题 1"/>
          <p:cNvSpPr txBox="1">
            <a:spLocks/>
          </p:cNvSpPr>
          <p:nvPr/>
        </p:nvSpPr>
        <p:spPr bwMode="auto">
          <a:xfrm>
            <a:off x="641350" y="358775"/>
            <a:ext cx="7731125" cy="868363"/>
          </a:xfrm>
          <a:prstGeom prst="rect">
            <a:avLst/>
          </a:prstGeom>
          <a:noFill/>
          <a:ln w="9525">
            <a:noFill/>
            <a:miter lim="800000"/>
            <a:headEnd/>
            <a:tailEnd/>
          </a:ln>
          <a:effectLst/>
        </p:spPr>
        <p:txBody>
          <a:bodyPr lIns="80114" tIns="40058" rIns="80114" bIns="40058" anchor="ctr"/>
          <a:lstStyle/>
          <a:p>
            <a:pPr defTabSz="801688">
              <a:defRPr/>
            </a:pPr>
            <a:endParaRPr kumimoji="1" lang="en-US" altLang="zh-CN" sz="3500" kern="0" dirty="0">
              <a:solidFill>
                <a:srgbClr val="990000"/>
              </a:solidFill>
              <a:ea typeface="华文细黑" pitchFamily="2" charset="-122"/>
              <a:cs typeface="+mj-cs"/>
            </a:endParaRPr>
          </a:p>
        </p:txBody>
      </p:sp>
      <p:sp>
        <p:nvSpPr>
          <p:cNvPr id="20491" name="灯片编号占位符 12"/>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93F35B8B-2DC0-4947-B4E2-7A6BFF6744E7}" type="slidenum">
              <a:rPr lang="en-US" altLang="zh-CN" smtClean="0">
                <a:latin typeface="FrutigerNext LT Bold" pitchFamily="34" charset="0"/>
                <a:ea typeface="ＭＳ Ｐゴシック" pitchFamily="34" charset="-128"/>
              </a:rPr>
              <a:pPr defTabSz="877888"/>
              <a:t>28</a:t>
            </a:fld>
            <a:endParaRPr lang="en-US" altLang="zh-CN" smtClean="0">
              <a:latin typeface="FrutigerNext LT Bold" pitchFamily="34" charset="0"/>
              <a:ea typeface="ＭＳ Ｐゴシック" pitchFamily="34" charset="-128"/>
            </a:endParaRPr>
          </a:p>
        </p:txBody>
      </p:sp>
      <p:sp>
        <p:nvSpPr>
          <p:cNvPr id="20492" name="Rounded Rectangle 13"/>
          <p:cNvSpPr>
            <a:spLocks noChangeArrowheads="1"/>
          </p:cNvSpPr>
          <p:nvPr/>
        </p:nvSpPr>
        <p:spPr bwMode="auto">
          <a:xfrm>
            <a:off x="6121400" y="2790825"/>
            <a:ext cx="1316038" cy="455613"/>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Probe</a:t>
            </a:r>
            <a:r>
              <a:rPr lang="zh-CN" altLang="en-US">
                <a:ea typeface="华文细黑" pitchFamily="2" charset="-122"/>
              </a:rPr>
              <a:t>版本</a:t>
            </a:r>
          </a:p>
        </p:txBody>
      </p:sp>
      <p:cxnSp>
        <p:nvCxnSpPr>
          <p:cNvPr id="20493" name="Straight Arrow Connector 15"/>
          <p:cNvCxnSpPr>
            <a:cxnSpLocks noChangeShapeType="1"/>
            <a:stCxn id="20492" idx="2"/>
            <a:endCxn id="19" idx="0"/>
          </p:cNvCxnSpPr>
          <p:nvPr/>
        </p:nvCxnSpPr>
        <p:spPr bwMode="auto">
          <a:xfrm flipH="1">
            <a:off x="6445250" y="3246438"/>
            <a:ext cx="333375" cy="611187"/>
          </a:xfrm>
          <a:prstGeom prst="straightConnector1">
            <a:avLst/>
          </a:prstGeom>
          <a:noFill/>
          <a:ln w="9525" algn="ctr">
            <a:solidFill>
              <a:schemeClr val="tx1"/>
            </a:solidFill>
            <a:round/>
            <a:headEnd/>
            <a:tailEnd type="arrow" w="med" len="med"/>
          </a:ln>
        </p:spPr>
      </p:cxnSp>
      <p:sp>
        <p:nvSpPr>
          <p:cNvPr id="20494" name="Rounded Rectangle 22"/>
          <p:cNvSpPr>
            <a:spLocks noChangeArrowheads="1"/>
          </p:cNvSpPr>
          <p:nvPr/>
        </p:nvSpPr>
        <p:spPr bwMode="auto">
          <a:xfrm>
            <a:off x="2349500" y="4022725"/>
            <a:ext cx="2222500" cy="706438"/>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软件安装后点击这里检查</a:t>
            </a:r>
            <a:r>
              <a:rPr lang="en-US" altLang="zh-CN">
                <a:ea typeface="华文细黑" pitchFamily="2" charset="-122"/>
              </a:rPr>
              <a:t>Probe</a:t>
            </a:r>
            <a:r>
              <a:rPr lang="zh-CN" altLang="en-US">
                <a:ea typeface="华文细黑" pitchFamily="2" charset="-122"/>
              </a:rPr>
              <a:t>版本</a:t>
            </a:r>
            <a:endParaRPr lang="en-US" altLang="zh-CN">
              <a:ea typeface="华文细黑" pitchFamily="2" charset="-122"/>
            </a:endParaRPr>
          </a:p>
        </p:txBody>
      </p:sp>
      <p:cxnSp>
        <p:nvCxnSpPr>
          <p:cNvPr id="20495" name="Straight Arrow Connector 24"/>
          <p:cNvCxnSpPr>
            <a:cxnSpLocks noChangeShapeType="1"/>
            <a:stCxn id="20494" idx="0"/>
            <a:endCxn id="17" idx="2"/>
          </p:cNvCxnSpPr>
          <p:nvPr/>
        </p:nvCxnSpPr>
        <p:spPr bwMode="auto">
          <a:xfrm flipV="1">
            <a:off x="3460750" y="3238500"/>
            <a:ext cx="201613" cy="784225"/>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90"/>
                                        </p:tgtEl>
                                        <p:attrNameLst>
                                          <p:attrName>style.visibility</p:attrName>
                                        </p:attrNameLst>
                                      </p:cBhvr>
                                      <p:to>
                                        <p:strVal val="visible"/>
                                      </p:to>
                                    </p:set>
                                    <p:anim calcmode="lin" valueType="num">
                                      <p:cBhvr additive="base">
                                        <p:cTn id="7" dur="500" fill="hold"/>
                                        <p:tgtEl>
                                          <p:spTgt spid="20490"/>
                                        </p:tgtEl>
                                        <p:attrNameLst>
                                          <p:attrName>ppt_x</p:attrName>
                                        </p:attrNameLst>
                                      </p:cBhvr>
                                      <p:tavLst>
                                        <p:tav tm="0">
                                          <p:val>
                                            <p:strVal val="#ppt_x"/>
                                          </p:val>
                                        </p:tav>
                                        <p:tav tm="100000">
                                          <p:val>
                                            <p:strVal val="#ppt_x"/>
                                          </p:val>
                                        </p:tav>
                                      </p:tavLst>
                                    </p:anim>
                                    <p:anim calcmode="lin" valueType="num">
                                      <p:cBhvr additive="base">
                                        <p:cTn id="8" dur="500" fill="hold"/>
                                        <p:tgtEl>
                                          <p:spTgt spid="2049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additive="base">
                                        <p:cTn id="19" dur="500" fill="hold"/>
                                        <p:tgtEl>
                                          <p:spTgt spid="19"/>
                                        </p:tgtEl>
                                        <p:attrNameLst>
                                          <p:attrName>ppt_x</p:attrName>
                                        </p:attrNameLst>
                                      </p:cBhvr>
                                      <p:tavLst>
                                        <p:tav tm="0">
                                          <p:val>
                                            <p:strVal val="#ppt_x"/>
                                          </p:val>
                                        </p:tav>
                                        <p:tav tm="100000">
                                          <p:val>
                                            <p:strVal val="#ppt_x"/>
                                          </p:val>
                                        </p:tav>
                                      </p:tavLst>
                                    </p:anim>
                                    <p:anim calcmode="lin" valueType="num">
                                      <p:cBhvr additive="base">
                                        <p:cTn id="2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Probe</a:t>
            </a:r>
            <a:r>
              <a:rPr lang="zh-CN" altLang="en-US" dirty="0" smtClean="0"/>
              <a:t>系统结构</a:t>
            </a:r>
            <a:endParaRPr lang="zh-CN" altLang="en-US" dirty="0"/>
          </a:p>
        </p:txBody>
      </p:sp>
      <p:sp>
        <p:nvSpPr>
          <p:cNvPr id="3" name="内容占位符 2"/>
          <p:cNvSpPr>
            <a:spLocks noGrp="1"/>
          </p:cNvSpPr>
          <p:nvPr>
            <p:ph idx="1"/>
          </p:nvPr>
        </p:nvSpPr>
        <p:spPr/>
        <p:txBody>
          <a:bodyPr/>
          <a:lstStyle/>
          <a:p>
            <a:r>
              <a:rPr lang="en-US" altLang="zh-CN" dirty="0" smtClean="0"/>
              <a:t>Probe</a:t>
            </a:r>
            <a:r>
              <a:rPr lang="zh-CN" altLang="en-US" dirty="0" smtClean="0"/>
              <a:t>系统由测试终端、</a:t>
            </a:r>
            <a:r>
              <a:rPr lang="en-US" altLang="zh-CN" dirty="0" smtClean="0"/>
              <a:t>Scanner</a:t>
            </a:r>
            <a:r>
              <a:rPr lang="zh-CN" altLang="en-US" dirty="0" smtClean="0"/>
              <a:t>、</a:t>
            </a:r>
            <a:r>
              <a:rPr lang="en-US" altLang="zh-CN" dirty="0" smtClean="0"/>
              <a:t>GPS</a:t>
            </a:r>
            <a:r>
              <a:rPr lang="zh-CN" altLang="en-US" dirty="0" smtClean="0"/>
              <a:t>（</a:t>
            </a:r>
            <a:r>
              <a:rPr lang="en-US" altLang="zh-CN" dirty="0" smtClean="0"/>
              <a:t>Global Positioning System</a:t>
            </a:r>
            <a:r>
              <a:rPr lang="zh-CN" altLang="en-US" dirty="0" smtClean="0"/>
              <a:t>）、装有</a:t>
            </a:r>
            <a:r>
              <a:rPr lang="en-US" altLang="zh-CN" dirty="0" smtClean="0"/>
              <a:t>Probe</a:t>
            </a:r>
            <a:r>
              <a:rPr lang="zh-CN" altLang="en-US" dirty="0" smtClean="0"/>
              <a:t>软件的</a:t>
            </a:r>
            <a:r>
              <a:rPr lang="en-US" altLang="zh-CN" dirty="0" smtClean="0"/>
              <a:t>PC</a:t>
            </a:r>
            <a:r>
              <a:rPr lang="zh-CN" altLang="en-US" dirty="0" smtClean="0"/>
              <a:t>机和硬件狗组成，支持测试终端、</a:t>
            </a:r>
            <a:r>
              <a:rPr lang="en-US" altLang="zh-CN" dirty="0" smtClean="0"/>
              <a:t>Scanner</a:t>
            </a:r>
            <a:r>
              <a:rPr lang="zh-CN" altLang="en-US" dirty="0" smtClean="0"/>
              <a:t>、</a:t>
            </a:r>
            <a:r>
              <a:rPr lang="en-US" altLang="zh-CN" dirty="0" smtClean="0"/>
              <a:t>GPS</a:t>
            </a:r>
            <a:r>
              <a:rPr lang="zh-CN" altLang="en-US" dirty="0" smtClean="0"/>
              <a:t>同时测试。</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29</a:t>
            </a:fld>
            <a:endParaRPr lang="en-US" altLang="zh-CN"/>
          </a:p>
        </p:txBody>
      </p:sp>
      <p:pic>
        <p:nvPicPr>
          <p:cNvPr id="837634" name="Picture 2" descr="http://support.huawei.com/hedex/pages/SC0000727234GZB0718A/Draft%20A/SC0000727234GZB0718A/Draft%20A/resources/dt/pv3r5/images/physics.png"/>
          <p:cNvPicPr>
            <a:picLocks noChangeAspect="1" noChangeArrowheads="1"/>
          </p:cNvPicPr>
          <p:nvPr/>
        </p:nvPicPr>
        <p:blipFill>
          <a:blip r:embed="rId3" cstate="print"/>
          <a:srcRect/>
          <a:stretch>
            <a:fillRect/>
          </a:stretch>
        </p:blipFill>
        <p:spPr bwMode="auto">
          <a:xfrm>
            <a:off x="1971674" y="3107190"/>
            <a:ext cx="5676539" cy="258241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kumimoji="1" lang="zh-CN" altLang="en-US" smtClean="0">
                <a:latin typeface="Arial" charset="0"/>
                <a:ea typeface="华文细黑" pitchFamily="2" charset="-122"/>
              </a:rPr>
              <a:t>连接外部设备</a:t>
            </a:r>
          </a:p>
        </p:txBody>
      </p:sp>
      <p:sp>
        <p:nvSpPr>
          <p:cNvPr id="25603" name="Text Box 3"/>
          <p:cNvSpPr txBox="1">
            <a:spLocks noChangeArrowheads="1"/>
          </p:cNvSpPr>
          <p:nvPr/>
        </p:nvSpPr>
        <p:spPr bwMode="auto">
          <a:xfrm>
            <a:off x="522288" y="1306513"/>
            <a:ext cx="8320087" cy="338137"/>
          </a:xfrm>
          <a:prstGeom prst="rect">
            <a:avLst/>
          </a:prstGeom>
          <a:noFill/>
          <a:ln w="9525" algn="ctr">
            <a:noFill/>
            <a:miter lim="800000"/>
            <a:headEnd/>
            <a:tailEnd/>
          </a:ln>
        </p:spPr>
        <p:txBody>
          <a:bodyPr lIns="91418" tIns="45709" rIns="91418" bIns="45709">
            <a:spAutoFit/>
          </a:bodyPr>
          <a:lstStyle/>
          <a:p>
            <a:pPr marL="242888" indent="-242888" defTabSz="912813" fontAlgn="t">
              <a:spcBef>
                <a:spcPct val="20000"/>
              </a:spcBef>
              <a:buClr>
                <a:schemeClr val="tx1"/>
              </a:buClr>
              <a:buFont typeface="Wingdings" pitchFamily="2" charset="2"/>
              <a:buAutoNum type="arabicPeriod"/>
            </a:pPr>
            <a:endParaRPr lang="en-US" altLang="zh-CN" sz="1600">
              <a:ea typeface="华文细黑" pitchFamily="2" charset="-122"/>
            </a:endParaRPr>
          </a:p>
        </p:txBody>
      </p:sp>
      <p:sp>
        <p:nvSpPr>
          <p:cNvPr id="25604" name="Text Box 4"/>
          <p:cNvSpPr txBox="1">
            <a:spLocks noChangeArrowheads="1"/>
          </p:cNvSpPr>
          <p:nvPr/>
        </p:nvSpPr>
        <p:spPr bwMode="auto">
          <a:xfrm>
            <a:off x="557213" y="4935538"/>
            <a:ext cx="7575550" cy="338137"/>
          </a:xfrm>
          <a:prstGeom prst="rect">
            <a:avLst/>
          </a:prstGeom>
          <a:noFill/>
          <a:ln w="9525" algn="ctr">
            <a:noFill/>
            <a:miter lim="800000"/>
            <a:headEnd/>
            <a:tailEnd/>
          </a:ln>
        </p:spPr>
        <p:txBody>
          <a:bodyPr lIns="91434" tIns="45717" rIns="91434" bIns="45717">
            <a:spAutoFit/>
          </a:bodyPr>
          <a:lstStyle/>
          <a:p>
            <a:pPr defTabSz="912813" fontAlgn="t"/>
            <a:endParaRPr lang="zh-CN" altLang="en-US" sz="1600"/>
          </a:p>
        </p:txBody>
      </p:sp>
      <p:pic>
        <p:nvPicPr>
          <p:cNvPr id="25605" name="图片 7" descr="IMAGE_691.jpg"/>
          <p:cNvPicPr>
            <a:picLocks noChangeAspect="1"/>
          </p:cNvPicPr>
          <p:nvPr/>
        </p:nvPicPr>
        <p:blipFill>
          <a:blip r:embed="rId3" cstate="print"/>
          <a:srcRect/>
          <a:stretch>
            <a:fillRect/>
          </a:stretch>
        </p:blipFill>
        <p:spPr bwMode="auto">
          <a:xfrm>
            <a:off x="919163" y="1112838"/>
            <a:ext cx="7456487" cy="4802187"/>
          </a:xfrm>
          <a:prstGeom prst="rect">
            <a:avLst/>
          </a:prstGeom>
          <a:noFill/>
          <a:ln w="9525">
            <a:noFill/>
            <a:miter lim="800000"/>
            <a:headEnd/>
            <a:tailEnd/>
          </a:ln>
        </p:spPr>
      </p:pic>
      <p:sp>
        <p:nvSpPr>
          <p:cNvPr id="25606" name="灯片编号占位符 6"/>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BF2C5986-065F-4FAE-BA66-F6ED3B985654}" type="slidenum">
              <a:rPr lang="en-US" altLang="zh-CN" smtClean="0">
                <a:latin typeface="FrutigerNext LT Bold" pitchFamily="34" charset="0"/>
                <a:ea typeface="ＭＳ Ｐゴシック" pitchFamily="34" charset="-128"/>
              </a:rPr>
              <a:pPr defTabSz="877888"/>
              <a:t>30</a:t>
            </a:fld>
            <a:endParaRPr lang="en-US" altLang="zh-CN" smtClean="0">
              <a:latin typeface="FrutigerNext LT Bold" pitchFamily="34" charset="0"/>
              <a:ea typeface="ＭＳ Ｐゴシック" pitchFamily="34" charset="-128"/>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92150" y="333375"/>
            <a:ext cx="7731125" cy="868363"/>
          </a:xfrm>
        </p:spPr>
        <p:txBody>
          <a:bodyPr/>
          <a:lstStyle/>
          <a:p>
            <a:pPr eaLnBrk="1" hangingPunct="1"/>
            <a:r>
              <a:rPr lang="en-US" altLang="zh-CN" smtClean="0"/>
              <a:t>Probe</a:t>
            </a:r>
            <a:r>
              <a:rPr lang="zh-CN" altLang="en-US" smtClean="0"/>
              <a:t>的应用场景</a:t>
            </a:r>
          </a:p>
        </p:txBody>
      </p:sp>
      <p:sp>
        <p:nvSpPr>
          <p:cNvPr id="13315" name="Slide Number Placeholder 3"/>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C9EDAC4C-6A39-405D-BD6C-DF9F09F38D45}" type="slidenum">
              <a:rPr lang="en-US" altLang="zh-CN" smtClean="0">
                <a:latin typeface="FrutigerNext LT Bold" pitchFamily="34" charset="0"/>
                <a:ea typeface="ＭＳ Ｐゴシック" pitchFamily="34" charset="-128"/>
              </a:rPr>
              <a:pPr defTabSz="877888"/>
              <a:t>31</a:t>
            </a:fld>
            <a:endParaRPr lang="en-US" altLang="zh-CN" smtClean="0">
              <a:latin typeface="FrutigerNext LT Bold" pitchFamily="34" charset="0"/>
              <a:ea typeface="ＭＳ Ｐゴシック" pitchFamily="34" charset="-128"/>
            </a:endParaRPr>
          </a:p>
        </p:txBody>
      </p:sp>
      <p:sp>
        <p:nvSpPr>
          <p:cNvPr id="13316" name="Rounded Rectangle 4"/>
          <p:cNvSpPr>
            <a:spLocks noChangeArrowheads="1"/>
          </p:cNvSpPr>
          <p:nvPr/>
        </p:nvSpPr>
        <p:spPr bwMode="auto">
          <a:xfrm>
            <a:off x="806450" y="1797050"/>
            <a:ext cx="5718175" cy="962025"/>
          </a:xfrm>
          <a:prstGeom prst="roundRect">
            <a:avLst>
              <a:gd name="adj" fmla="val 16667"/>
            </a:avLst>
          </a:prstGeom>
          <a:solidFill>
            <a:schemeClr val="accent1"/>
          </a:solidFill>
          <a:ln w="9525" algn="ctr">
            <a:solidFill>
              <a:schemeClr val="tx1"/>
            </a:solidFill>
            <a:round/>
            <a:headEnd/>
            <a:tailEnd/>
          </a:ln>
        </p:spPr>
        <p:txBody>
          <a:bodyPr anchor="ctr"/>
          <a:lstStyle/>
          <a:p>
            <a:pPr fontAlgn="t"/>
            <a:r>
              <a:rPr lang="zh-CN" altLang="en-US" sz="2000" b="1">
                <a:ea typeface="华文细黑" pitchFamily="2" charset="-122"/>
              </a:rPr>
              <a:t>扫描传播环境</a:t>
            </a:r>
          </a:p>
        </p:txBody>
      </p:sp>
      <p:sp>
        <p:nvSpPr>
          <p:cNvPr id="13317" name="Rounded Rectangle 5"/>
          <p:cNvSpPr>
            <a:spLocks noChangeArrowheads="1"/>
          </p:cNvSpPr>
          <p:nvPr/>
        </p:nvSpPr>
        <p:spPr bwMode="auto">
          <a:xfrm>
            <a:off x="806450" y="3146425"/>
            <a:ext cx="5718175" cy="960438"/>
          </a:xfrm>
          <a:prstGeom prst="roundRect">
            <a:avLst>
              <a:gd name="adj" fmla="val 16667"/>
            </a:avLst>
          </a:prstGeom>
          <a:solidFill>
            <a:schemeClr val="accent1"/>
          </a:solidFill>
          <a:ln w="9525" algn="ctr">
            <a:solidFill>
              <a:schemeClr val="tx1"/>
            </a:solidFill>
            <a:round/>
            <a:headEnd/>
            <a:tailEnd/>
          </a:ln>
        </p:spPr>
        <p:txBody>
          <a:bodyPr anchor="ctr"/>
          <a:lstStyle/>
          <a:p>
            <a:pPr fontAlgn="t"/>
            <a:r>
              <a:rPr lang="zh-CN" altLang="en-US" sz="2000" b="1">
                <a:ea typeface="华文细黑" pitchFamily="2" charset="-122"/>
              </a:rPr>
              <a:t>执行测试和评估</a:t>
            </a:r>
          </a:p>
        </p:txBody>
      </p:sp>
      <p:sp>
        <p:nvSpPr>
          <p:cNvPr id="13318" name="Rounded Rectangle 6"/>
          <p:cNvSpPr>
            <a:spLocks noChangeArrowheads="1"/>
          </p:cNvSpPr>
          <p:nvPr/>
        </p:nvSpPr>
        <p:spPr bwMode="auto">
          <a:xfrm>
            <a:off x="806450" y="4464050"/>
            <a:ext cx="5718175" cy="960438"/>
          </a:xfrm>
          <a:prstGeom prst="roundRect">
            <a:avLst>
              <a:gd name="adj" fmla="val 16667"/>
            </a:avLst>
          </a:prstGeom>
          <a:solidFill>
            <a:schemeClr val="accent1"/>
          </a:solidFill>
          <a:ln w="9525" algn="ctr">
            <a:solidFill>
              <a:schemeClr val="tx1"/>
            </a:solidFill>
            <a:round/>
            <a:headEnd/>
            <a:tailEnd/>
          </a:ln>
        </p:spPr>
        <p:txBody>
          <a:bodyPr anchor="ctr"/>
          <a:lstStyle/>
          <a:p>
            <a:pPr fontAlgn="t"/>
            <a:r>
              <a:rPr lang="zh-CN" altLang="en-US" sz="2000" b="1">
                <a:ea typeface="华文细黑" pitchFamily="2" charset="-122"/>
              </a:rPr>
              <a:t>网络问题定位</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5"/>
          <p:cNvSpPr>
            <a:spLocks noGrp="1"/>
          </p:cNvSpPr>
          <p:nvPr>
            <p:ph type="title"/>
          </p:nvPr>
        </p:nvSpPr>
        <p:spPr/>
        <p:txBody>
          <a:bodyPr/>
          <a:lstStyle/>
          <a:p>
            <a:r>
              <a:rPr lang="en-US" altLang="zh-CN" sz="3200" smtClean="0"/>
              <a:t>Probe</a:t>
            </a:r>
            <a:r>
              <a:rPr lang="zh-CN" altLang="en-US" sz="3200" smtClean="0"/>
              <a:t>工作模式</a:t>
            </a:r>
          </a:p>
        </p:txBody>
      </p:sp>
      <p:sp>
        <p:nvSpPr>
          <p:cNvPr id="17411" name="内容占位符 6"/>
          <p:cNvSpPr>
            <a:spLocks noGrp="1"/>
          </p:cNvSpPr>
          <p:nvPr>
            <p:ph idx="1"/>
          </p:nvPr>
        </p:nvSpPr>
        <p:spPr/>
        <p:txBody>
          <a:bodyPr/>
          <a:lstStyle/>
          <a:p>
            <a:r>
              <a:rPr lang="en-US" altLang="zh-CN" sz="2000" smtClean="0"/>
              <a:t>Probe</a:t>
            </a:r>
            <a:r>
              <a:rPr lang="zh-CN" altLang="en-US" sz="2000" smtClean="0"/>
              <a:t>可以运行于两种不同的工作模式，一种用于测试和记录数据，一种用于回放和分析数据。</a:t>
            </a:r>
          </a:p>
        </p:txBody>
      </p:sp>
      <p:sp>
        <p:nvSpPr>
          <p:cNvPr id="17412" name="灯片编号占位符 4"/>
          <p:cNvSpPr>
            <a:spLocks noGrp="1"/>
          </p:cNvSpPr>
          <p:nvPr>
            <p:ph type="sldNum" sz="quarter" idx="10"/>
          </p:nvPr>
        </p:nvSpPr>
        <p:spPr>
          <a:noFill/>
        </p:spPr>
        <p:txBody>
          <a:bodyPr/>
          <a:lstStyle/>
          <a:p>
            <a:r>
              <a:rPr lang="en-US" altLang="zh-CN" smtClean="0">
                <a:latin typeface="FrutigerNext LT Bold" pitchFamily="34" charset="0"/>
                <a:ea typeface="ＭＳ Ｐゴシック" pitchFamily="34" charset="-128"/>
              </a:rPr>
              <a:t>Page</a:t>
            </a:r>
            <a:fld id="{EED5C393-CDD9-48A4-A60A-CCE97277016A}" type="slidenum">
              <a:rPr lang="en-US" altLang="zh-CN" smtClean="0">
                <a:latin typeface="FrutigerNext LT Bold" pitchFamily="34" charset="0"/>
                <a:ea typeface="ＭＳ Ｐゴシック" pitchFamily="34" charset="-128"/>
              </a:rPr>
              <a:pPr/>
              <a:t>32</a:t>
            </a:fld>
            <a:endParaRPr lang="en-US" altLang="zh-CN" smtClean="0">
              <a:latin typeface="FrutigerNext LT Bold" pitchFamily="34" charset="0"/>
              <a:ea typeface="ＭＳ Ｐゴシック" pitchFamily="34" charset="-128"/>
            </a:endParaRPr>
          </a:p>
        </p:txBody>
      </p:sp>
      <p:graphicFrame>
        <p:nvGraphicFramePr>
          <p:cNvPr id="8" name="图示 7"/>
          <p:cNvGraphicFramePr/>
          <p:nvPr/>
        </p:nvGraphicFramePr>
        <p:xfrm>
          <a:off x="369108" y="2730908"/>
          <a:ext cx="8390844" cy="27554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标题 1"/>
          <p:cNvSpPr>
            <a:spLocks noGrp="1"/>
          </p:cNvSpPr>
          <p:nvPr>
            <p:ph type="title"/>
          </p:nvPr>
        </p:nvSpPr>
        <p:spPr/>
        <p:txBody>
          <a:bodyPr/>
          <a:lstStyle/>
          <a:p>
            <a:pPr eaLnBrk="1" hangingPunct="1"/>
            <a:r>
              <a:rPr kumimoji="1" lang="en-US" altLang="zh-CN" smtClean="0">
                <a:latin typeface="Arial" charset="0"/>
                <a:ea typeface="华文细黑" pitchFamily="2" charset="-122"/>
              </a:rPr>
              <a:t>GENEX Probe</a:t>
            </a:r>
            <a:r>
              <a:rPr kumimoji="1" lang="zh-CN" altLang="en-US" smtClean="0">
                <a:latin typeface="Arial" charset="0"/>
                <a:ea typeface="华文细黑" pitchFamily="2" charset="-122"/>
              </a:rPr>
              <a:t>基本工作流程</a:t>
            </a:r>
            <a:endParaRPr lang="zh-CN" altLang="en-US" smtClean="0"/>
          </a:p>
        </p:txBody>
      </p:sp>
      <p:sp>
        <p:nvSpPr>
          <p:cNvPr id="1028" name="灯片编号占位符 33"/>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12E1DD00-A451-4926-8495-DCB619ACA96F}" type="slidenum">
              <a:rPr lang="en-US" altLang="zh-CN" smtClean="0">
                <a:latin typeface="FrutigerNext LT Bold" pitchFamily="34" charset="0"/>
                <a:ea typeface="ＭＳ Ｐゴシック" pitchFamily="34" charset="-128"/>
              </a:rPr>
              <a:pPr defTabSz="877888"/>
              <a:t>33</a:t>
            </a:fld>
            <a:endParaRPr lang="en-US" altLang="zh-CN" smtClean="0">
              <a:latin typeface="FrutigerNext LT Bold" pitchFamily="34" charset="0"/>
              <a:ea typeface="ＭＳ Ｐゴシック" pitchFamily="34" charset="-128"/>
            </a:endParaRPr>
          </a:p>
        </p:txBody>
      </p:sp>
      <p:graphicFrame>
        <p:nvGraphicFramePr>
          <p:cNvPr id="1026" name="Object 5"/>
          <p:cNvGraphicFramePr>
            <a:graphicFrameLocks noChangeAspect="1"/>
          </p:cNvGraphicFramePr>
          <p:nvPr/>
        </p:nvGraphicFramePr>
        <p:xfrm>
          <a:off x="2584450" y="1241425"/>
          <a:ext cx="5997575" cy="4849813"/>
        </p:xfrm>
        <a:graphic>
          <a:graphicData uri="http://schemas.openxmlformats.org/presentationml/2006/ole">
            <mc:AlternateContent xmlns:mc="http://schemas.openxmlformats.org/markup-compatibility/2006">
              <mc:Choice xmlns:v="urn:schemas-microsoft-com:vml" Requires="v">
                <p:oleObj spid="_x0000_s843781" name="Visio" r:id="rId4" imgW="5243871" imgH="4235798" progId="">
                  <p:embed/>
                </p:oleObj>
              </mc:Choice>
              <mc:Fallback>
                <p:oleObj name="Visio" r:id="rId4" imgW="5243871" imgH="4235798"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84450" y="1241425"/>
                        <a:ext cx="5997575" cy="4849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9" name="圆角矩形 4"/>
          <p:cNvSpPr>
            <a:spLocks noChangeArrowheads="1"/>
          </p:cNvSpPr>
          <p:nvPr/>
        </p:nvSpPr>
        <p:spPr bwMode="auto">
          <a:xfrm>
            <a:off x="2586038" y="3736975"/>
            <a:ext cx="3152775" cy="2395538"/>
          </a:xfrm>
          <a:prstGeom prst="roundRect">
            <a:avLst>
              <a:gd name="adj" fmla="val 16667"/>
            </a:avLst>
          </a:prstGeom>
          <a:noFill/>
          <a:ln w="25400" algn="ctr">
            <a:solidFill>
              <a:srgbClr val="FF0000"/>
            </a:solidFill>
            <a:prstDash val="dash"/>
            <a:round/>
            <a:headEnd/>
            <a:tailEnd/>
          </a:ln>
        </p:spPr>
        <p:txBody>
          <a:bodyPr/>
          <a:lstStyle/>
          <a:p>
            <a:pPr fontAlgn="t"/>
            <a:endParaRPr lang="zh-CN" altLang="en-US">
              <a:ea typeface="华文细黑" pitchFamily="2" charset="-122"/>
            </a:endParaRPr>
          </a:p>
        </p:txBody>
      </p:sp>
      <p:sp>
        <p:nvSpPr>
          <p:cNvPr id="1030" name="圆角矩形 5"/>
          <p:cNvSpPr>
            <a:spLocks noChangeArrowheads="1"/>
          </p:cNvSpPr>
          <p:nvPr/>
        </p:nvSpPr>
        <p:spPr bwMode="auto">
          <a:xfrm>
            <a:off x="236538" y="4003675"/>
            <a:ext cx="1717675" cy="788988"/>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实测模式，记录测试结果</a:t>
            </a:r>
          </a:p>
        </p:txBody>
      </p:sp>
      <p:cxnSp>
        <p:nvCxnSpPr>
          <p:cNvPr id="1031" name="直接箭头连接符 7"/>
          <p:cNvCxnSpPr>
            <a:cxnSpLocks noChangeShapeType="1"/>
            <a:stCxn id="1030" idx="3"/>
            <a:endCxn id="1029" idx="1"/>
          </p:cNvCxnSpPr>
          <p:nvPr/>
        </p:nvCxnSpPr>
        <p:spPr bwMode="auto">
          <a:xfrm>
            <a:off x="1954213" y="4398963"/>
            <a:ext cx="631825" cy="534987"/>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Probe</a:t>
            </a:r>
            <a:r>
              <a:rPr lang="zh-CN" altLang="en-US" dirty="0" smtClean="0"/>
              <a:t>前准备</a:t>
            </a:r>
            <a:endParaRPr lang="zh-CN" altLang="en-US" dirty="0"/>
          </a:p>
        </p:txBody>
      </p:sp>
      <p:graphicFrame>
        <p:nvGraphicFramePr>
          <p:cNvPr id="5" name="内容占位符 4"/>
          <p:cNvGraphicFramePr>
            <a:graphicFrameLocks noGrp="1"/>
          </p:cNvGraphicFramePr>
          <p:nvPr>
            <p:ph idx="1"/>
          </p:nvPr>
        </p:nvGraphicFramePr>
        <p:xfrm>
          <a:off x="972457" y="1466621"/>
          <a:ext cx="7315201" cy="4368121"/>
        </p:xfrm>
        <a:graphic>
          <a:graphicData uri="http://schemas.openxmlformats.org/drawingml/2006/table">
            <a:tbl>
              <a:tblPr/>
              <a:tblGrid>
                <a:gridCol w="1383543"/>
                <a:gridCol w="2041829"/>
                <a:gridCol w="2452914"/>
                <a:gridCol w="1436915"/>
              </a:tblGrid>
              <a:tr h="666979">
                <a:tc>
                  <a:txBody>
                    <a:bodyPr/>
                    <a:lstStyle/>
                    <a:p>
                      <a:pPr algn="ctr"/>
                      <a:r>
                        <a:rPr lang="zh-CN" altLang="en-US" sz="1800" b="1" dirty="0"/>
                        <a:t>配置项</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EC6E2"/>
                    </a:solidFill>
                  </a:tcPr>
                </a:tc>
                <a:tc>
                  <a:txBody>
                    <a:bodyPr/>
                    <a:lstStyle/>
                    <a:p>
                      <a:pPr algn="ctr"/>
                      <a:r>
                        <a:rPr lang="zh-CN" altLang="en-US" sz="1800" b="1" dirty="0"/>
                        <a:t>获取方式</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EC6E2"/>
                    </a:solidFill>
                  </a:tcPr>
                </a:tc>
                <a:tc>
                  <a:txBody>
                    <a:bodyPr/>
                    <a:lstStyle/>
                    <a:p>
                      <a:pPr algn="ctr"/>
                      <a:r>
                        <a:rPr lang="zh-CN" altLang="en-US" sz="1800" b="1" dirty="0"/>
                        <a:t>配置要求</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EC6E2"/>
                    </a:solidFill>
                  </a:tcPr>
                </a:tc>
                <a:tc>
                  <a:txBody>
                    <a:bodyPr/>
                    <a:lstStyle/>
                    <a:p>
                      <a:pPr algn="ctr"/>
                      <a:r>
                        <a:rPr lang="zh-CN" altLang="en-US" sz="1800" b="1" dirty="0"/>
                        <a:t>备注</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EC6E2"/>
                    </a:solidFill>
                  </a:tcPr>
                </a:tc>
              </a:tr>
              <a:tr h="696685">
                <a:tc>
                  <a:txBody>
                    <a:bodyPr/>
                    <a:lstStyle/>
                    <a:p>
                      <a:pPr algn="ctr"/>
                      <a:r>
                        <a:rPr lang="zh-CN" altLang="en-US" sz="1600" dirty="0"/>
                        <a:t>操作系统</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400"/>
                        <a:t>Microsoft Windows XP</a:t>
                      </a:r>
                      <a:r>
                        <a:rPr lang="zh-CN" altLang="en-US" sz="1400"/>
                        <a:t>或</a:t>
                      </a:r>
                      <a:r>
                        <a:rPr lang="en-US" sz="1400"/>
                        <a:t>Microsoft Windows 7。</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a:t>必选</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016000">
                <a:tc>
                  <a:txBody>
                    <a:bodyPr/>
                    <a:lstStyle/>
                    <a:p>
                      <a:pPr algn="ctr"/>
                      <a:r>
                        <a:rPr lang="zh-CN" altLang="en-US" sz="1600" dirty="0"/>
                        <a:t>操作软件</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400" dirty="0"/>
                        <a:t>-</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nn-NO" sz="1400" dirty="0"/>
                        <a:t>Microsoft Office 2003或Microsoft Office 2007。</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a:t>若未安装</a:t>
                      </a:r>
                      <a:r>
                        <a:rPr lang="en-US" altLang="zh-CN" sz="1400"/>
                        <a:t>Office</a:t>
                      </a:r>
                      <a:r>
                        <a:rPr lang="zh-CN" altLang="en-US" sz="1400"/>
                        <a:t>软件，则无法导入</a:t>
                      </a:r>
                      <a:r>
                        <a:rPr lang="en-US" altLang="zh-CN" sz="1400"/>
                        <a:t>xls</a:t>
                      </a:r>
                      <a:r>
                        <a:rPr lang="zh-CN" altLang="en-US" sz="1400"/>
                        <a:t>或</a:t>
                      </a:r>
                      <a:r>
                        <a:rPr lang="en-US" altLang="zh-CN" sz="1400"/>
                        <a:t>xlsx</a:t>
                      </a:r>
                      <a:r>
                        <a:rPr lang="zh-CN" altLang="en-US" sz="1400"/>
                        <a:t>格式的工程参数文件。</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1175657">
                <a:tc>
                  <a:txBody>
                    <a:bodyPr/>
                    <a:lstStyle/>
                    <a:p>
                      <a:pPr algn="ctr"/>
                      <a:r>
                        <a:rPr lang="en-US" sz="1600" dirty="0"/>
                        <a:t>GENEX Probe V300R005</a:t>
                      </a:r>
                      <a:r>
                        <a:rPr lang="zh-CN" altLang="en-US" sz="1600" dirty="0"/>
                        <a:t>软件安装包</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Font typeface="Arial"/>
                        <a:buChar char="•"/>
                      </a:pPr>
                      <a:r>
                        <a:rPr lang="zh-CN" altLang="en-US" sz="1400"/>
                        <a:t>在华为</a:t>
                      </a:r>
                      <a:r>
                        <a:rPr lang="en-US" sz="1400">
                          <a:hlinkClick r:id="rId2"/>
                        </a:rPr>
                        <a:t>Support</a:t>
                      </a:r>
                      <a:r>
                        <a:rPr lang="zh-CN" altLang="en-US" sz="1400">
                          <a:hlinkClick r:id="rId2"/>
                        </a:rPr>
                        <a:t>网站</a:t>
                      </a:r>
                      <a:r>
                        <a:rPr lang="zh-CN" altLang="en-US" sz="1400"/>
                        <a:t>下载。 </a:t>
                      </a:r>
                    </a:p>
                    <a:p>
                      <a:pPr algn="l">
                        <a:buFont typeface="Arial"/>
                        <a:buChar char="•"/>
                      </a:pPr>
                      <a:r>
                        <a:rPr lang="en-US" sz="1400"/>
                        <a:t>GENEX Probe V300R005</a:t>
                      </a:r>
                      <a:r>
                        <a:rPr lang="zh-CN" altLang="en-US" sz="1400"/>
                        <a:t>软件安装光盘。</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拥有华为</a:t>
                      </a:r>
                      <a:r>
                        <a:rPr lang="en-US" sz="1400" dirty="0"/>
                        <a:t>Support</a:t>
                      </a:r>
                      <a:r>
                        <a:rPr lang="zh-CN" altLang="en-US" sz="1400" dirty="0"/>
                        <a:t>网站的账户，并具有下载</a:t>
                      </a:r>
                      <a:r>
                        <a:rPr lang="en-US" sz="1400" dirty="0"/>
                        <a:t>GENEX Probe V300R005</a:t>
                      </a:r>
                      <a:r>
                        <a:rPr lang="zh-CN" altLang="en-US" sz="1400" dirty="0"/>
                        <a:t>软件安装包的权限或已购买</a:t>
                      </a:r>
                      <a:r>
                        <a:rPr lang="en-US" sz="1400" dirty="0"/>
                        <a:t>GENEX Probe V300R005。</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必选</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12800">
                <a:tc>
                  <a:txBody>
                    <a:bodyPr/>
                    <a:lstStyle/>
                    <a:p>
                      <a:pPr algn="ctr"/>
                      <a:r>
                        <a:rPr lang="en-US" sz="1600" dirty="0"/>
                        <a:t>License</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a:t>集成在硬件狗中。</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a:t>已购买</a:t>
                      </a:r>
                      <a:r>
                        <a:rPr lang="en-US" sz="1400"/>
                        <a:t>GENEX Probe V300R005。</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CN" altLang="en-US" sz="1400" dirty="0"/>
                        <a:t>若未安装硬件狗，则只能使用</a:t>
                      </a:r>
                      <a:r>
                        <a:rPr lang="en-US" altLang="zh-CN" sz="1400" dirty="0"/>
                        <a:t>Probe</a:t>
                      </a:r>
                      <a:r>
                        <a:rPr lang="zh-CN" altLang="en-US" sz="1400" dirty="0"/>
                        <a:t>的回放功能。</a:t>
                      </a:r>
                    </a:p>
                  </a:txBody>
                  <a:tcPr marL="18565" marR="18565" marT="18565" marB="185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34</a:t>
            </a:fld>
            <a:endParaRPr lang="en-US" altLang="zh-CN"/>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Probe</a:t>
            </a:r>
            <a:r>
              <a:rPr lang="zh-CN" altLang="en-US" dirty="0" smtClean="0"/>
              <a:t>主界面</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35</a:t>
            </a:fld>
            <a:endParaRPr lang="en-US" altLang="zh-CN"/>
          </a:p>
        </p:txBody>
      </p:sp>
      <p:pic>
        <p:nvPicPr>
          <p:cNvPr id="3" name="图片 2"/>
          <p:cNvPicPr>
            <a:picLocks noChangeAspect="1"/>
          </p:cNvPicPr>
          <p:nvPr/>
        </p:nvPicPr>
        <p:blipFill>
          <a:blip r:embed="rId3"/>
          <a:stretch>
            <a:fillRect/>
          </a:stretch>
        </p:blipFill>
        <p:spPr>
          <a:xfrm>
            <a:off x="839448" y="1103429"/>
            <a:ext cx="7664950" cy="5027548"/>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安装</a:t>
            </a:r>
            <a:r>
              <a:rPr lang="en-US" altLang="zh-CN" dirty="0" smtClean="0"/>
              <a:t>Probe</a:t>
            </a:r>
            <a:r>
              <a:rPr lang="zh-CN" altLang="en-US" dirty="0" smtClean="0"/>
              <a:t>操作步骤</a:t>
            </a:r>
            <a:endParaRPr lang="zh-CN" altLang="en-US" dirty="0"/>
          </a:p>
        </p:txBody>
      </p:sp>
      <p:graphicFrame>
        <p:nvGraphicFramePr>
          <p:cNvPr id="5" name="内容占位符 4"/>
          <p:cNvGraphicFramePr>
            <a:graphicFrameLocks noGrp="1"/>
          </p:cNvGraphicFramePr>
          <p:nvPr>
            <p:ph idx="1"/>
          </p:nvPr>
        </p:nvGraphicFramePr>
        <p:xfrm>
          <a:off x="652463" y="1376363"/>
          <a:ext cx="7929562" cy="41957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36</a:t>
            </a:fld>
            <a:endParaRPr lang="en-US" altLang="zh-CN"/>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连接硬件狗至</a:t>
            </a:r>
            <a:r>
              <a:rPr lang="en-US" altLang="zh-CN" dirty="0" smtClean="0"/>
              <a:t>PC</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37</a:t>
            </a:fld>
            <a:endParaRPr lang="en-US" altLang="zh-CN"/>
          </a:p>
        </p:txBody>
      </p:sp>
      <p:graphicFrame>
        <p:nvGraphicFramePr>
          <p:cNvPr id="11" name="内容占位符 10"/>
          <p:cNvGraphicFramePr>
            <a:graphicFrameLocks noGrp="1"/>
          </p:cNvGraphicFramePr>
          <p:nvPr>
            <p:ph idx="1"/>
          </p:nvPr>
        </p:nvGraphicFramePr>
        <p:xfrm>
          <a:off x="1071563" y="1871663"/>
          <a:ext cx="7119937" cy="419576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p:cNvPicPr>
            <a:picLocks noChangeAspect="1" noChangeArrowheads="1"/>
          </p:cNvPicPr>
          <p:nvPr/>
        </p:nvPicPr>
        <p:blipFill>
          <a:blip r:embed="rId3" cstate="print"/>
          <a:srcRect/>
          <a:stretch>
            <a:fillRect/>
          </a:stretch>
        </p:blipFill>
        <p:spPr bwMode="auto">
          <a:xfrm>
            <a:off x="612775" y="1243013"/>
            <a:ext cx="8066088" cy="4799012"/>
          </a:xfrm>
          <a:prstGeom prst="rect">
            <a:avLst/>
          </a:prstGeom>
          <a:noFill/>
          <a:ln w="9525" algn="ctr">
            <a:noFill/>
            <a:miter lim="800000"/>
            <a:headEnd/>
            <a:tailEnd/>
          </a:ln>
        </p:spPr>
      </p:pic>
      <p:sp>
        <p:nvSpPr>
          <p:cNvPr id="26627" name="Oval 23"/>
          <p:cNvSpPr>
            <a:spLocks noChangeArrowheads="1"/>
          </p:cNvSpPr>
          <p:nvPr/>
        </p:nvSpPr>
        <p:spPr bwMode="auto">
          <a:xfrm>
            <a:off x="1279525" y="1547813"/>
            <a:ext cx="509588" cy="508000"/>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a:ea typeface="华文细黑" pitchFamily="2" charset="-122"/>
            </a:endParaRPr>
          </a:p>
        </p:txBody>
      </p:sp>
      <p:sp>
        <p:nvSpPr>
          <p:cNvPr id="26628" name="Oval 23"/>
          <p:cNvSpPr>
            <a:spLocks noChangeArrowheads="1"/>
          </p:cNvSpPr>
          <p:nvPr/>
        </p:nvSpPr>
        <p:spPr bwMode="auto">
          <a:xfrm>
            <a:off x="2681288" y="2619375"/>
            <a:ext cx="1466850" cy="508000"/>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a:ea typeface="华文细黑" pitchFamily="2" charset="-122"/>
            </a:endParaRPr>
          </a:p>
        </p:txBody>
      </p:sp>
      <p:sp>
        <p:nvSpPr>
          <p:cNvPr id="164872" name="Rectangle 8"/>
          <p:cNvSpPr>
            <a:spLocks noChangeArrowheads="1"/>
          </p:cNvSpPr>
          <p:nvPr/>
        </p:nvSpPr>
        <p:spPr bwMode="auto">
          <a:xfrm>
            <a:off x="1947863" y="0"/>
            <a:ext cx="7085012" cy="685800"/>
          </a:xfrm>
          <a:prstGeom prst="rect">
            <a:avLst/>
          </a:prstGeom>
          <a:noFill/>
          <a:ln w="9525">
            <a:noFill/>
            <a:miter lim="800000"/>
            <a:headEnd/>
            <a:tailEnd/>
          </a:ln>
          <a:effectLst>
            <a:outerShdw dist="17961" dir="2700000" algn="ctr" rotWithShape="0">
              <a:srgbClr val="DDDDDD"/>
            </a:outerShdw>
          </a:effectLst>
        </p:spPr>
        <p:txBody>
          <a:bodyPr lIns="91434" tIns="45717" rIns="91434" bIns="45717" anchor="ctr"/>
          <a:lstStyle/>
          <a:p>
            <a:pPr algn="r" defTabSz="914163" fontAlgn="t">
              <a:defRPr/>
            </a:pPr>
            <a:endParaRPr lang="en-US" altLang="zh-CN" sz="2900" b="1" dirty="0">
              <a:solidFill>
                <a:srgbClr val="A50021"/>
              </a:solidFill>
            </a:endParaRPr>
          </a:p>
        </p:txBody>
      </p:sp>
      <p:grpSp>
        <p:nvGrpSpPr>
          <p:cNvPr id="2" name="组合 12"/>
          <p:cNvGrpSpPr>
            <a:grpSpLocks/>
          </p:cNvGrpSpPr>
          <p:nvPr/>
        </p:nvGrpSpPr>
        <p:grpSpPr bwMode="auto">
          <a:xfrm>
            <a:off x="5994400" y="3490913"/>
            <a:ext cx="2292350" cy="2141537"/>
            <a:chOff x="5383213" y="3313113"/>
            <a:chExt cx="2589212" cy="2247900"/>
          </a:xfrm>
        </p:grpSpPr>
        <p:pic>
          <p:nvPicPr>
            <p:cNvPr id="26647" name="Picture 11"/>
            <p:cNvPicPr>
              <a:picLocks noChangeAspect="1" noChangeArrowheads="1"/>
            </p:cNvPicPr>
            <p:nvPr/>
          </p:nvPicPr>
          <p:blipFill>
            <a:blip r:embed="rId4" cstate="print"/>
            <a:srcRect/>
            <a:stretch>
              <a:fillRect/>
            </a:stretch>
          </p:blipFill>
          <p:spPr bwMode="auto">
            <a:xfrm>
              <a:off x="5383213" y="3313113"/>
              <a:ext cx="2505075" cy="2247900"/>
            </a:xfrm>
            <a:prstGeom prst="rect">
              <a:avLst/>
            </a:prstGeom>
            <a:noFill/>
            <a:ln w="9525" algn="ctr">
              <a:noFill/>
              <a:miter lim="800000"/>
              <a:headEnd/>
              <a:tailEnd/>
            </a:ln>
          </p:spPr>
        </p:pic>
        <p:sp>
          <p:nvSpPr>
            <p:cNvPr id="26648" name="Oval 23"/>
            <p:cNvSpPr>
              <a:spLocks noChangeArrowheads="1"/>
            </p:cNvSpPr>
            <p:nvPr/>
          </p:nvSpPr>
          <p:spPr bwMode="auto">
            <a:xfrm>
              <a:off x="7038975" y="4746222"/>
              <a:ext cx="933450" cy="545319"/>
            </a:xfrm>
            <a:prstGeom prst="ellipse">
              <a:avLst/>
            </a:prstGeom>
            <a:noFill/>
            <a:ln w="25400" algn="ctr">
              <a:solidFill>
                <a:srgbClr val="FF0000"/>
              </a:solidFill>
              <a:round/>
              <a:headEnd/>
              <a:tailEnd/>
            </a:ln>
          </p:spPr>
          <p:txBody>
            <a:bodyPr lIns="0" rIns="0" anchor="ctr">
              <a:spAutoFit/>
            </a:bodyPr>
            <a:lstStyle/>
            <a:p>
              <a:pPr fontAlgn="t"/>
              <a:endParaRPr lang="zh-CN" altLang="en-US">
                <a:ea typeface="华文细黑" pitchFamily="2" charset="-122"/>
              </a:endParaRPr>
            </a:p>
          </p:txBody>
        </p:sp>
      </p:grpSp>
      <p:grpSp>
        <p:nvGrpSpPr>
          <p:cNvPr id="3" name="组合 11"/>
          <p:cNvGrpSpPr>
            <a:grpSpLocks/>
          </p:cNvGrpSpPr>
          <p:nvPr/>
        </p:nvGrpSpPr>
        <p:grpSpPr bwMode="auto">
          <a:xfrm>
            <a:off x="3573463" y="3490913"/>
            <a:ext cx="2089150" cy="1550987"/>
            <a:chOff x="1709738" y="3384550"/>
            <a:chExt cx="2362200" cy="1628775"/>
          </a:xfrm>
        </p:grpSpPr>
        <p:pic>
          <p:nvPicPr>
            <p:cNvPr id="26645" name="Picture 10"/>
            <p:cNvPicPr>
              <a:picLocks noChangeAspect="1" noChangeArrowheads="1"/>
            </p:cNvPicPr>
            <p:nvPr/>
          </p:nvPicPr>
          <p:blipFill>
            <a:blip r:embed="rId5" cstate="print"/>
            <a:srcRect/>
            <a:stretch>
              <a:fillRect/>
            </a:stretch>
          </p:blipFill>
          <p:spPr bwMode="auto">
            <a:xfrm>
              <a:off x="1709738" y="3384550"/>
              <a:ext cx="2362200" cy="1628775"/>
            </a:xfrm>
            <a:prstGeom prst="rect">
              <a:avLst/>
            </a:prstGeom>
            <a:noFill/>
            <a:ln w="9525" algn="ctr">
              <a:noFill/>
              <a:miter lim="800000"/>
              <a:headEnd/>
              <a:tailEnd/>
            </a:ln>
          </p:spPr>
        </p:pic>
        <p:sp>
          <p:nvSpPr>
            <p:cNvPr id="26646" name="Oval 23"/>
            <p:cNvSpPr>
              <a:spLocks noChangeArrowheads="1"/>
            </p:cNvSpPr>
            <p:nvPr/>
          </p:nvSpPr>
          <p:spPr bwMode="auto">
            <a:xfrm>
              <a:off x="2141538" y="4169960"/>
              <a:ext cx="933449" cy="545319"/>
            </a:xfrm>
            <a:prstGeom prst="ellipse">
              <a:avLst/>
            </a:prstGeom>
            <a:noFill/>
            <a:ln w="25400" algn="ctr">
              <a:solidFill>
                <a:srgbClr val="FF0000"/>
              </a:solidFill>
              <a:round/>
              <a:headEnd/>
              <a:tailEnd/>
            </a:ln>
          </p:spPr>
          <p:txBody>
            <a:bodyPr lIns="0" rIns="0" anchor="ctr">
              <a:spAutoFit/>
            </a:bodyPr>
            <a:lstStyle/>
            <a:p>
              <a:pPr fontAlgn="t"/>
              <a:endParaRPr lang="zh-CN" altLang="en-US">
                <a:ea typeface="华文细黑" pitchFamily="2" charset="-122"/>
              </a:endParaRPr>
            </a:p>
          </p:txBody>
        </p:sp>
      </p:grpSp>
      <p:cxnSp>
        <p:nvCxnSpPr>
          <p:cNvPr id="26632" name="直接箭头连接符 13"/>
          <p:cNvCxnSpPr>
            <a:cxnSpLocks noChangeShapeType="1"/>
            <a:stCxn id="26627" idx="6"/>
            <a:endCxn id="26628" idx="1"/>
          </p:cNvCxnSpPr>
          <p:nvPr/>
        </p:nvCxnSpPr>
        <p:spPr bwMode="auto">
          <a:xfrm>
            <a:off x="1789113" y="1801813"/>
            <a:ext cx="1106487" cy="892175"/>
          </a:xfrm>
          <a:prstGeom prst="straightConnector1">
            <a:avLst/>
          </a:prstGeom>
          <a:noFill/>
          <a:ln w="25400" algn="ctr">
            <a:solidFill>
              <a:srgbClr val="FF0000"/>
            </a:solidFill>
            <a:round/>
            <a:headEnd/>
            <a:tailEnd type="arrow" w="med" len="med"/>
          </a:ln>
        </p:spPr>
      </p:cxnSp>
      <p:cxnSp>
        <p:nvCxnSpPr>
          <p:cNvPr id="26633" name="直接箭头连接符 15"/>
          <p:cNvCxnSpPr>
            <a:cxnSpLocks noChangeShapeType="1"/>
          </p:cNvCxnSpPr>
          <p:nvPr/>
        </p:nvCxnSpPr>
        <p:spPr bwMode="auto">
          <a:xfrm>
            <a:off x="3932238" y="3071813"/>
            <a:ext cx="95250" cy="395287"/>
          </a:xfrm>
          <a:prstGeom prst="straightConnector1">
            <a:avLst/>
          </a:prstGeom>
          <a:noFill/>
          <a:ln w="25400" algn="ctr">
            <a:solidFill>
              <a:srgbClr val="FF0000"/>
            </a:solidFill>
            <a:round/>
            <a:headEnd/>
            <a:tailEnd type="arrow" w="med" len="med"/>
          </a:ln>
        </p:spPr>
      </p:cxnSp>
      <p:cxnSp>
        <p:nvCxnSpPr>
          <p:cNvPr id="26634" name="直接箭头连接符 17"/>
          <p:cNvCxnSpPr>
            <a:cxnSpLocks noChangeShapeType="1"/>
          </p:cNvCxnSpPr>
          <p:nvPr/>
        </p:nvCxnSpPr>
        <p:spPr bwMode="auto">
          <a:xfrm>
            <a:off x="5665788" y="4705350"/>
            <a:ext cx="381000" cy="0"/>
          </a:xfrm>
          <a:prstGeom prst="straightConnector1">
            <a:avLst/>
          </a:prstGeom>
          <a:noFill/>
          <a:ln w="25400" algn="ctr">
            <a:solidFill>
              <a:srgbClr val="FF0000"/>
            </a:solidFill>
            <a:round/>
            <a:headEnd/>
            <a:tailEnd type="arrow" w="med" len="med"/>
          </a:ln>
        </p:spPr>
      </p:cxnSp>
      <p:sp>
        <p:nvSpPr>
          <p:cNvPr id="26635" name="灯片编号占位符 18"/>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28B69A0A-8EF1-44B0-B425-03CA59E64D6E}" type="slidenum">
              <a:rPr lang="en-US" altLang="zh-CN" smtClean="0">
                <a:latin typeface="FrutigerNext LT Bold" pitchFamily="34" charset="0"/>
                <a:ea typeface="ＭＳ Ｐゴシック" pitchFamily="34" charset="-128"/>
              </a:rPr>
              <a:pPr defTabSz="877888"/>
              <a:t>38</a:t>
            </a:fld>
            <a:endParaRPr lang="en-US" altLang="zh-CN" smtClean="0">
              <a:latin typeface="FrutigerNext LT Bold" pitchFamily="34" charset="0"/>
              <a:ea typeface="ＭＳ Ｐゴシック" pitchFamily="34" charset="-128"/>
            </a:endParaRPr>
          </a:p>
        </p:txBody>
      </p:sp>
      <p:sp>
        <p:nvSpPr>
          <p:cNvPr id="26636" name="Rounded Rectangle 25"/>
          <p:cNvSpPr>
            <a:spLocks noChangeArrowheads="1"/>
          </p:cNvSpPr>
          <p:nvPr/>
        </p:nvSpPr>
        <p:spPr bwMode="auto">
          <a:xfrm>
            <a:off x="363538" y="2913063"/>
            <a:ext cx="1851025" cy="682625"/>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1. </a:t>
            </a:r>
            <a:r>
              <a:rPr lang="zh-CN" altLang="en-US">
                <a:ea typeface="华文细黑" pitchFamily="2" charset="-122"/>
              </a:rPr>
              <a:t>点击这里进行设备配置</a:t>
            </a:r>
            <a:endParaRPr lang="zh-CN" altLang="en-US" b="1" i="1">
              <a:ea typeface="华文细黑" pitchFamily="2" charset="-122"/>
            </a:endParaRPr>
          </a:p>
        </p:txBody>
      </p:sp>
      <p:cxnSp>
        <p:nvCxnSpPr>
          <p:cNvPr id="26637" name="Straight Arrow Connector 27"/>
          <p:cNvCxnSpPr>
            <a:cxnSpLocks noChangeShapeType="1"/>
            <a:stCxn id="26636" idx="0"/>
            <a:endCxn id="26627" idx="3"/>
          </p:cNvCxnSpPr>
          <p:nvPr/>
        </p:nvCxnSpPr>
        <p:spPr bwMode="auto">
          <a:xfrm flipV="1">
            <a:off x="1289050" y="1993900"/>
            <a:ext cx="65088" cy="919163"/>
          </a:xfrm>
          <a:prstGeom prst="straightConnector1">
            <a:avLst/>
          </a:prstGeom>
          <a:noFill/>
          <a:ln w="9525" algn="ctr">
            <a:solidFill>
              <a:schemeClr val="tx1"/>
            </a:solidFill>
            <a:round/>
            <a:headEnd/>
            <a:tailEnd type="arrow" w="med" len="med"/>
          </a:ln>
        </p:spPr>
      </p:cxnSp>
      <p:sp>
        <p:nvSpPr>
          <p:cNvPr id="26638" name="Rounded Rectangle 29"/>
          <p:cNvSpPr>
            <a:spLocks noChangeArrowheads="1"/>
          </p:cNvSpPr>
          <p:nvPr/>
        </p:nvSpPr>
        <p:spPr bwMode="auto">
          <a:xfrm>
            <a:off x="4654550" y="2089150"/>
            <a:ext cx="1671638" cy="682625"/>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2. </a:t>
            </a:r>
            <a:r>
              <a:rPr lang="zh-CN" altLang="en-US">
                <a:ea typeface="华文细黑" pitchFamily="2" charset="-122"/>
              </a:rPr>
              <a:t>选择外部设备的类型</a:t>
            </a:r>
            <a:endParaRPr lang="zh-CN" altLang="en-US" b="1" i="1">
              <a:ea typeface="华文细黑" pitchFamily="2" charset="-122"/>
            </a:endParaRPr>
          </a:p>
        </p:txBody>
      </p:sp>
      <p:cxnSp>
        <p:nvCxnSpPr>
          <p:cNvPr id="26639" name="Straight Arrow Connector 31"/>
          <p:cNvCxnSpPr>
            <a:cxnSpLocks noChangeShapeType="1"/>
            <a:stCxn id="26638" idx="1"/>
            <a:endCxn id="26628" idx="7"/>
          </p:cNvCxnSpPr>
          <p:nvPr/>
        </p:nvCxnSpPr>
        <p:spPr bwMode="auto">
          <a:xfrm flipH="1">
            <a:off x="3933825" y="2430463"/>
            <a:ext cx="720725" cy="250825"/>
          </a:xfrm>
          <a:prstGeom prst="straightConnector1">
            <a:avLst/>
          </a:prstGeom>
          <a:noFill/>
          <a:ln w="9525" algn="ctr">
            <a:solidFill>
              <a:schemeClr val="tx1"/>
            </a:solidFill>
            <a:round/>
            <a:headEnd/>
            <a:tailEnd type="arrow" w="med" len="med"/>
          </a:ln>
        </p:spPr>
      </p:cxnSp>
      <p:sp>
        <p:nvSpPr>
          <p:cNvPr id="26640" name="Rounded Rectangle 32"/>
          <p:cNvSpPr>
            <a:spLocks noChangeArrowheads="1"/>
          </p:cNvSpPr>
          <p:nvPr/>
        </p:nvSpPr>
        <p:spPr bwMode="auto">
          <a:xfrm>
            <a:off x="2779713" y="5191125"/>
            <a:ext cx="1851025" cy="479425"/>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3. </a:t>
            </a:r>
            <a:r>
              <a:rPr lang="zh-CN" altLang="en-US">
                <a:ea typeface="华文细黑" pitchFamily="2" charset="-122"/>
              </a:rPr>
              <a:t>选择</a:t>
            </a:r>
            <a:r>
              <a:rPr lang="en-US" altLang="zh-CN">
                <a:ea typeface="华文细黑" pitchFamily="2" charset="-122"/>
              </a:rPr>
              <a:t>UE</a:t>
            </a:r>
            <a:r>
              <a:rPr lang="zh-CN" altLang="en-US">
                <a:ea typeface="华文细黑" pitchFamily="2" charset="-122"/>
              </a:rPr>
              <a:t>类型</a:t>
            </a:r>
            <a:endParaRPr lang="zh-CN" altLang="en-US" b="1" i="1">
              <a:ea typeface="华文细黑" pitchFamily="2" charset="-122"/>
            </a:endParaRPr>
          </a:p>
        </p:txBody>
      </p:sp>
      <p:cxnSp>
        <p:nvCxnSpPr>
          <p:cNvPr id="26641" name="Straight Arrow Connector 34"/>
          <p:cNvCxnSpPr>
            <a:cxnSpLocks noChangeShapeType="1"/>
            <a:stCxn id="26640" idx="0"/>
            <a:endCxn id="26646" idx="3"/>
          </p:cNvCxnSpPr>
          <p:nvPr/>
        </p:nvCxnSpPr>
        <p:spPr bwMode="auto">
          <a:xfrm flipV="1">
            <a:off x="3705225" y="4694238"/>
            <a:ext cx="371475" cy="496887"/>
          </a:xfrm>
          <a:prstGeom prst="straightConnector1">
            <a:avLst/>
          </a:prstGeom>
          <a:noFill/>
          <a:ln w="9525" algn="ctr">
            <a:solidFill>
              <a:schemeClr val="tx1"/>
            </a:solidFill>
            <a:round/>
            <a:headEnd/>
            <a:tailEnd type="arrow" w="med" len="med"/>
          </a:ln>
        </p:spPr>
      </p:cxnSp>
      <p:sp>
        <p:nvSpPr>
          <p:cNvPr id="26642" name="Rounded Rectangle 35"/>
          <p:cNvSpPr>
            <a:spLocks noChangeArrowheads="1"/>
          </p:cNvSpPr>
          <p:nvPr/>
        </p:nvSpPr>
        <p:spPr bwMode="auto">
          <a:xfrm>
            <a:off x="5672138" y="3355975"/>
            <a:ext cx="2927350" cy="681038"/>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3. </a:t>
            </a:r>
            <a:r>
              <a:rPr lang="zh-CN" altLang="en-US">
                <a:ea typeface="华文细黑" pitchFamily="2" charset="-122"/>
              </a:rPr>
              <a:t>根据需要，点击</a:t>
            </a:r>
            <a:r>
              <a:rPr lang="en-US" altLang="zh-CN">
                <a:ea typeface="华文细黑" pitchFamily="2" charset="-122"/>
              </a:rPr>
              <a:t>Filter</a:t>
            </a:r>
            <a:r>
              <a:rPr lang="zh-CN" altLang="en-US">
                <a:ea typeface="华文细黑" pitchFamily="2" charset="-122"/>
              </a:rPr>
              <a:t>选择接收的数据。 </a:t>
            </a:r>
            <a:endParaRPr lang="zh-CN" altLang="en-US" b="1" i="1">
              <a:ea typeface="华文细黑" pitchFamily="2" charset="-122"/>
            </a:endParaRPr>
          </a:p>
        </p:txBody>
      </p:sp>
      <p:cxnSp>
        <p:nvCxnSpPr>
          <p:cNvPr id="26643" name="Straight Arrow Connector 37"/>
          <p:cNvCxnSpPr>
            <a:cxnSpLocks noChangeShapeType="1"/>
            <a:stCxn id="26642" idx="2"/>
            <a:endCxn id="26648" idx="0"/>
          </p:cNvCxnSpPr>
          <p:nvPr/>
        </p:nvCxnSpPr>
        <p:spPr bwMode="auto">
          <a:xfrm>
            <a:off x="7135813" y="4037013"/>
            <a:ext cx="738187" cy="806450"/>
          </a:xfrm>
          <a:prstGeom prst="straightConnector1">
            <a:avLst/>
          </a:prstGeom>
          <a:noFill/>
          <a:ln w="9525" algn="ctr">
            <a:solidFill>
              <a:schemeClr val="tx1"/>
            </a:solidFill>
            <a:round/>
            <a:headEnd/>
            <a:tailEnd type="arrow" w="med" len="med"/>
          </a:ln>
        </p:spPr>
      </p:cxnSp>
      <p:sp>
        <p:nvSpPr>
          <p:cNvPr id="26644" name="Rectangle 2"/>
          <p:cNvSpPr>
            <a:spLocks noChangeArrowheads="1"/>
          </p:cNvSpPr>
          <p:nvPr/>
        </p:nvSpPr>
        <p:spPr bwMode="auto">
          <a:xfrm>
            <a:off x="641350" y="358775"/>
            <a:ext cx="7731125" cy="868363"/>
          </a:xfrm>
          <a:prstGeom prst="rect">
            <a:avLst/>
          </a:prstGeom>
          <a:noFill/>
          <a:ln w="9525">
            <a:noFill/>
            <a:miter lim="800000"/>
            <a:headEnd/>
            <a:tailEnd/>
          </a:ln>
        </p:spPr>
        <p:txBody>
          <a:bodyPr lIns="80114" tIns="40058" rIns="80114" bIns="40058" anchor="ctr"/>
          <a:lstStyle/>
          <a:p>
            <a:pPr defTabSz="801688"/>
            <a:r>
              <a:rPr kumimoji="1" lang="zh-CN" altLang="en-US" sz="3500">
                <a:solidFill>
                  <a:srgbClr val="990000"/>
                </a:solidFill>
                <a:ea typeface="华文细黑" pitchFamily="2" charset="-122"/>
              </a:rPr>
              <a:t>连接外部设备（续）</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zh-CN" dirty="0" smtClean="0"/>
              <a:t>当</a:t>
            </a:r>
            <a:r>
              <a:rPr lang="en-US" altLang="zh-CN" dirty="0" smtClean="0"/>
              <a:t>Mobile Partner</a:t>
            </a:r>
            <a:r>
              <a:rPr lang="zh-CN" altLang="zh-CN" dirty="0" smtClean="0"/>
              <a:t>软件连接网络成功后，打开</a:t>
            </a:r>
            <a:r>
              <a:rPr lang="en-US" altLang="zh-CN" dirty="0" smtClean="0"/>
              <a:t>Probe</a:t>
            </a:r>
            <a:r>
              <a:rPr lang="zh-CN" altLang="zh-CN" dirty="0" smtClean="0"/>
              <a:t>，选择设备配置，如下图：</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39</a:t>
            </a:fld>
            <a:endParaRPr lang="en-US" altLang="zh-CN"/>
          </a:p>
        </p:txBody>
      </p:sp>
      <p:pic>
        <p:nvPicPr>
          <p:cNvPr id="887810" name="Picture 2"/>
          <p:cNvPicPr>
            <a:picLocks noChangeAspect="1" noChangeArrowheads="1"/>
          </p:cNvPicPr>
          <p:nvPr/>
        </p:nvPicPr>
        <p:blipFill>
          <a:blip r:embed="rId3" cstate="print"/>
          <a:srcRect/>
          <a:stretch>
            <a:fillRect/>
          </a:stretch>
        </p:blipFill>
        <p:spPr bwMode="auto">
          <a:xfrm>
            <a:off x="1103086" y="2786743"/>
            <a:ext cx="7182978" cy="184331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a:t>
            </a:r>
            <a:r>
              <a:rPr lang="zh-CN" altLang="en-US" dirty="0" smtClean="0"/>
              <a:t>连接</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40</a:t>
            </a:fld>
            <a:endParaRPr lang="en-US" altLang="zh-CN"/>
          </a:p>
        </p:txBody>
      </p:sp>
      <p:pic>
        <p:nvPicPr>
          <p:cNvPr id="888834" name="Picture 2"/>
          <p:cNvPicPr>
            <a:picLocks noChangeAspect="1" noChangeArrowheads="1"/>
          </p:cNvPicPr>
          <p:nvPr/>
        </p:nvPicPr>
        <p:blipFill>
          <a:blip r:embed="rId2" cstate="print"/>
          <a:srcRect/>
          <a:stretch>
            <a:fillRect/>
          </a:stretch>
        </p:blipFill>
        <p:spPr bwMode="auto">
          <a:xfrm>
            <a:off x="2419804" y="3375024"/>
            <a:ext cx="3777796" cy="2787753"/>
          </a:xfrm>
          <a:prstGeom prst="rect">
            <a:avLst/>
          </a:prstGeom>
          <a:noFill/>
          <a:ln w="9525">
            <a:noFill/>
            <a:miter lim="800000"/>
            <a:headEnd/>
            <a:tailEnd/>
          </a:ln>
        </p:spPr>
      </p:pic>
      <p:pic>
        <p:nvPicPr>
          <p:cNvPr id="6" name="Picture 3"/>
          <p:cNvPicPr>
            <a:picLocks noChangeAspect="1" noChangeArrowheads="1"/>
          </p:cNvPicPr>
          <p:nvPr/>
        </p:nvPicPr>
        <p:blipFill>
          <a:blip r:embed="rId3" cstate="print"/>
          <a:srcRect/>
          <a:stretch>
            <a:fillRect/>
          </a:stretch>
        </p:blipFill>
        <p:spPr bwMode="auto">
          <a:xfrm>
            <a:off x="1698172" y="1451428"/>
            <a:ext cx="5689600" cy="17126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zh-CN" dirty="0" smtClean="0"/>
              <a:t>查看</a:t>
            </a:r>
            <a:r>
              <a:rPr lang="en-US" altLang="zh-CN" dirty="0" smtClean="0"/>
              <a:t>E392</a:t>
            </a:r>
            <a:r>
              <a:rPr lang="zh-CN" altLang="zh-CN" dirty="0" smtClean="0"/>
              <a:t>占用的</a:t>
            </a:r>
            <a:r>
              <a:rPr lang="en-US" altLang="zh-CN" dirty="0" smtClean="0"/>
              <a:t>COM</a:t>
            </a:r>
            <a:r>
              <a:rPr lang="zh-CN" altLang="zh-CN" dirty="0" smtClean="0"/>
              <a:t>口，可查询设备管理器，如下图：</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41</a:t>
            </a:fld>
            <a:endParaRPr lang="en-US" altLang="zh-CN"/>
          </a:p>
        </p:txBody>
      </p:sp>
      <p:pic>
        <p:nvPicPr>
          <p:cNvPr id="889858" name="Picture 2"/>
          <p:cNvPicPr>
            <a:picLocks noChangeAspect="1" noChangeArrowheads="1"/>
          </p:cNvPicPr>
          <p:nvPr/>
        </p:nvPicPr>
        <p:blipFill>
          <a:blip r:embed="rId2" cstate="print"/>
          <a:srcRect/>
          <a:stretch>
            <a:fillRect/>
          </a:stretch>
        </p:blipFill>
        <p:spPr bwMode="auto">
          <a:xfrm>
            <a:off x="1698170" y="2119085"/>
            <a:ext cx="5863773" cy="355419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zh-CN" dirty="0" smtClean="0"/>
              <a:t>选择相应的端口号。</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42</a:t>
            </a:fld>
            <a:endParaRPr lang="en-US" altLang="zh-CN"/>
          </a:p>
        </p:txBody>
      </p:sp>
      <p:pic>
        <p:nvPicPr>
          <p:cNvPr id="890882" name="Picture 2"/>
          <p:cNvPicPr>
            <a:picLocks noChangeAspect="1" noChangeArrowheads="1"/>
          </p:cNvPicPr>
          <p:nvPr/>
        </p:nvPicPr>
        <p:blipFill>
          <a:blip r:embed="rId2" cstate="print"/>
          <a:srcRect/>
          <a:stretch>
            <a:fillRect/>
          </a:stretch>
        </p:blipFill>
        <p:spPr bwMode="auto">
          <a:xfrm>
            <a:off x="3170314" y="2148114"/>
            <a:ext cx="2917372" cy="40445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zh-CN" dirty="0" smtClean="0"/>
              <a:t>点击连接：</a:t>
            </a:r>
            <a:endParaRPr lang="en-US" altLang="zh-CN" dirty="0" smtClean="0"/>
          </a:p>
          <a:p>
            <a:endParaRPr lang="en-US" altLang="zh-CN" dirty="0" smtClean="0"/>
          </a:p>
          <a:p>
            <a:endParaRPr lang="en-US" altLang="zh-CN" dirty="0" smtClean="0"/>
          </a:p>
          <a:p>
            <a:endParaRPr lang="en-US" altLang="zh-CN" dirty="0" smtClean="0"/>
          </a:p>
          <a:p>
            <a:r>
              <a:rPr lang="zh-CN" altLang="zh-CN" dirty="0" smtClean="0"/>
              <a:t>如下图，说明已连接成功：</a:t>
            </a:r>
          </a:p>
          <a:p>
            <a:endParaRPr lang="zh-CN" altLang="zh-CN" dirty="0" smtClean="0"/>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43</a:t>
            </a:fld>
            <a:endParaRPr lang="en-US" altLang="zh-CN"/>
          </a:p>
        </p:txBody>
      </p:sp>
      <p:pic>
        <p:nvPicPr>
          <p:cNvPr id="891906" name="Picture 2"/>
          <p:cNvPicPr>
            <a:picLocks noChangeAspect="1" noChangeArrowheads="1"/>
          </p:cNvPicPr>
          <p:nvPr/>
        </p:nvPicPr>
        <p:blipFill>
          <a:blip r:embed="rId2" cstate="print"/>
          <a:srcRect/>
          <a:stretch>
            <a:fillRect/>
          </a:stretch>
        </p:blipFill>
        <p:spPr bwMode="auto">
          <a:xfrm>
            <a:off x="1378856" y="1988456"/>
            <a:ext cx="5689601" cy="1657350"/>
          </a:xfrm>
          <a:prstGeom prst="rect">
            <a:avLst/>
          </a:prstGeom>
          <a:noFill/>
          <a:ln w="9525">
            <a:noFill/>
            <a:miter lim="800000"/>
            <a:headEnd/>
            <a:tailEnd/>
          </a:ln>
        </p:spPr>
      </p:pic>
      <p:pic>
        <p:nvPicPr>
          <p:cNvPr id="891907" name="Picture 3"/>
          <p:cNvPicPr>
            <a:picLocks noChangeAspect="1" noChangeArrowheads="1"/>
          </p:cNvPicPr>
          <p:nvPr/>
        </p:nvPicPr>
        <p:blipFill>
          <a:blip r:embed="rId3" cstate="print"/>
          <a:srcRect/>
          <a:stretch>
            <a:fillRect/>
          </a:stretch>
        </p:blipFill>
        <p:spPr bwMode="auto">
          <a:xfrm>
            <a:off x="1393371" y="4281714"/>
            <a:ext cx="5733143" cy="171268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en-US" dirty="0" smtClean="0"/>
              <a:t>启动跟踪</a:t>
            </a:r>
            <a:endParaRPr lang="en-US" altLang="zh-CN" dirty="0" smtClean="0"/>
          </a:p>
          <a:p>
            <a:pPr lvl="1"/>
            <a:r>
              <a:rPr lang="zh-CN" altLang="zh-CN" dirty="0" smtClean="0"/>
              <a:t>设置完毕后，点击如下红色圈中按钮，即可以连接上华为终端</a:t>
            </a:r>
            <a:r>
              <a:rPr lang="zh-CN" altLang="en-US" dirty="0" smtClean="0"/>
              <a:t>。</a:t>
            </a:r>
            <a:endParaRPr lang="en-US" altLang="zh-CN" dirty="0" smtClean="0"/>
          </a:p>
          <a:p>
            <a:pPr lvl="1"/>
            <a:endParaRPr lang="en-US" altLang="zh-CN" dirty="0" smtClean="0"/>
          </a:p>
          <a:p>
            <a:pPr lvl="1"/>
            <a:r>
              <a:rPr lang="zh-CN" altLang="zh-CN" dirty="0" smtClean="0"/>
              <a:t>连接上后的状态如下：</a:t>
            </a:r>
          </a:p>
          <a:p>
            <a:pPr lvl="1"/>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44</a:t>
            </a:fld>
            <a:endParaRPr lang="en-US" altLang="zh-CN"/>
          </a:p>
        </p:txBody>
      </p:sp>
      <p:pic>
        <p:nvPicPr>
          <p:cNvPr id="892930" name="Picture 2"/>
          <p:cNvPicPr>
            <a:picLocks noChangeAspect="1" noChangeArrowheads="1"/>
          </p:cNvPicPr>
          <p:nvPr/>
        </p:nvPicPr>
        <p:blipFill>
          <a:blip r:embed="rId2" cstate="print"/>
          <a:srcRect/>
          <a:stretch>
            <a:fillRect/>
          </a:stretch>
        </p:blipFill>
        <p:spPr bwMode="auto">
          <a:xfrm>
            <a:off x="2467428" y="2569028"/>
            <a:ext cx="3294739" cy="377371"/>
          </a:xfrm>
          <a:prstGeom prst="rect">
            <a:avLst/>
          </a:prstGeom>
          <a:noFill/>
          <a:ln w="9525">
            <a:noFill/>
            <a:miter lim="800000"/>
            <a:headEnd/>
            <a:tailEnd/>
          </a:ln>
        </p:spPr>
      </p:pic>
      <p:pic>
        <p:nvPicPr>
          <p:cNvPr id="892931" name="Picture 3"/>
          <p:cNvPicPr>
            <a:picLocks noChangeAspect="1" noChangeArrowheads="1"/>
          </p:cNvPicPr>
          <p:nvPr/>
        </p:nvPicPr>
        <p:blipFill>
          <a:blip r:embed="rId3" cstate="print"/>
          <a:srcRect/>
          <a:stretch>
            <a:fillRect/>
          </a:stretch>
        </p:blipFill>
        <p:spPr bwMode="auto">
          <a:xfrm>
            <a:off x="1378857" y="3643085"/>
            <a:ext cx="6658706" cy="139337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UE</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zh-CN" dirty="0" smtClean="0"/>
              <a:t>当需要启动跟踪时候，点击如下按钮设置相应路径即可以启动跟踪</a:t>
            </a:r>
            <a:r>
              <a:rPr lang="zh-CN" altLang="en-US" dirty="0" smtClean="0"/>
              <a:t>。</a:t>
            </a:r>
            <a:endParaRPr lang="en-US" altLang="zh-CN" dirty="0" smtClean="0"/>
          </a:p>
          <a:p>
            <a:endParaRPr lang="en-US" altLang="zh-CN" dirty="0" smtClean="0"/>
          </a:p>
          <a:p>
            <a:r>
              <a:rPr lang="zh-CN" altLang="zh-CN" dirty="0" smtClean="0"/>
              <a:t>需要停止跟踪时候，点击如下按钮即可以停止跟踪</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45</a:t>
            </a:fld>
            <a:endParaRPr lang="en-US" altLang="zh-CN"/>
          </a:p>
        </p:txBody>
      </p:sp>
      <p:pic>
        <p:nvPicPr>
          <p:cNvPr id="893954" name="Picture 2"/>
          <p:cNvPicPr>
            <a:picLocks noChangeAspect="1" noChangeArrowheads="1"/>
          </p:cNvPicPr>
          <p:nvPr/>
        </p:nvPicPr>
        <p:blipFill>
          <a:blip r:embed="rId3" cstate="print"/>
          <a:srcRect/>
          <a:stretch>
            <a:fillRect/>
          </a:stretch>
        </p:blipFill>
        <p:spPr bwMode="auto">
          <a:xfrm>
            <a:off x="2017485" y="2525486"/>
            <a:ext cx="3207658" cy="486056"/>
          </a:xfrm>
          <a:prstGeom prst="rect">
            <a:avLst/>
          </a:prstGeom>
          <a:noFill/>
          <a:ln w="9525">
            <a:noFill/>
            <a:miter lim="800000"/>
            <a:headEnd/>
            <a:tailEnd/>
          </a:ln>
        </p:spPr>
      </p:pic>
      <p:pic>
        <p:nvPicPr>
          <p:cNvPr id="893955" name="Picture 3"/>
          <p:cNvPicPr>
            <a:picLocks noChangeAspect="1" noChangeArrowheads="1"/>
          </p:cNvPicPr>
          <p:nvPr/>
        </p:nvPicPr>
        <p:blipFill>
          <a:blip r:embed="rId4" cstate="print"/>
          <a:srcRect/>
          <a:stretch>
            <a:fillRect/>
          </a:stretch>
        </p:blipFill>
        <p:spPr bwMode="auto">
          <a:xfrm>
            <a:off x="2046515" y="3657600"/>
            <a:ext cx="3048000" cy="44994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GPS</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en-US" dirty="0" smtClean="0"/>
              <a:t>添加</a:t>
            </a:r>
            <a:r>
              <a:rPr lang="en-US" altLang="zh-CN" dirty="0" smtClean="0"/>
              <a:t>GPS</a:t>
            </a:r>
            <a:r>
              <a:rPr lang="zh-CN" altLang="en-US" dirty="0" smtClean="0"/>
              <a:t>：</a:t>
            </a:r>
            <a:r>
              <a:rPr lang="en-US" altLang="zh-CN" dirty="0" smtClean="0"/>
              <a:t>Model</a:t>
            </a:r>
            <a:r>
              <a:rPr lang="zh-CN" altLang="en-US" dirty="0" smtClean="0"/>
              <a:t>选择默认的“</a:t>
            </a:r>
            <a:r>
              <a:rPr lang="en-US" altLang="zh-CN" dirty="0" smtClean="0"/>
              <a:t>NMEA</a:t>
            </a:r>
            <a:r>
              <a:rPr lang="zh-CN" altLang="en-US" dirty="0" smtClean="0"/>
              <a:t>”，点击“</a:t>
            </a:r>
            <a:r>
              <a:rPr lang="en-US" altLang="zh-CN" dirty="0" smtClean="0"/>
              <a:t>NEXT</a:t>
            </a:r>
            <a:r>
              <a:rPr lang="zh-CN" altLang="en-US" dirty="0" smtClean="0"/>
              <a:t>”，在弹出的对话框中，</a:t>
            </a:r>
            <a:r>
              <a:rPr lang="en-US" altLang="zh-CN" dirty="0" smtClean="0"/>
              <a:t>Model</a:t>
            </a:r>
            <a:r>
              <a:rPr lang="zh-CN" altLang="en-US" dirty="0" smtClean="0"/>
              <a:t>选择默认的“</a:t>
            </a:r>
            <a:r>
              <a:rPr lang="en-US" altLang="zh-CN" dirty="0" smtClean="0"/>
              <a:t>NMEA</a:t>
            </a:r>
            <a:r>
              <a:rPr lang="zh-CN" altLang="en-US" dirty="0" smtClean="0"/>
              <a:t>”，</a:t>
            </a:r>
            <a:r>
              <a:rPr lang="en-US" altLang="zh-CN" dirty="0" smtClean="0"/>
              <a:t>Baud rate</a:t>
            </a:r>
            <a:r>
              <a:rPr lang="zh-CN" altLang="en-US" dirty="0" smtClean="0"/>
              <a:t>选择默认的“</a:t>
            </a:r>
            <a:r>
              <a:rPr lang="en-US" altLang="zh-CN" dirty="0" smtClean="0"/>
              <a:t>4800</a:t>
            </a:r>
            <a:r>
              <a:rPr lang="zh-CN" altLang="en-US" dirty="0" smtClean="0"/>
              <a:t>”，</a:t>
            </a:r>
            <a:r>
              <a:rPr lang="en-US" altLang="zh-CN" dirty="0" smtClean="0"/>
              <a:t>COM port</a:t>
            </a:r>
            <a:r>
              <a:rPr lang="zh-CN" altLang="en-US" dirty="0" smtClean="0"/>
              <a:t>根据实际占用的端口来选择。</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46</a:t>
            </a:fld>
            <a:endParaRPr lang="en-US" altLang="zh-CN"/>
          </a:p>
        </p:txBody>
      </p:sp>
      <p:pic>
        <p:nvPicPr>
          <p:cNvPr id="885762" name="Picture 2"/>
          <p:cNvPicPr>
            <a:picLocks noChangeAspect="1" noChangeArrowheads="1"/>
          </p:cNvPicPr>
          <p:nvPr/>
        </p:nvPicPr>
        <p:blipFill>
          <a:blip r:embed="rId2" cstate="print"/>
          <a:srcRect/>
          <a:stretch>
            <a:fillRect/>
          </a:stretch>
        </p:blipFill>
        <p:spPr bwMode="auto">
          <a:xfrm>
            <a:off x="1818821" y="3354388"/>
            <a:ext cx="5554436" cy="284519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GPS</a:t>
            </a:r>
            <a:r>
              <a:rPr lang="zh-CN" altLang="en-US" dirty="0" smtClean="0"/>
              <a:t>连接</a:t>
            </a:r>
            <a:endParaRPr lang="zh-CN" altLang="en-US" dirty="0"/>
          </a:p>
        </p:txBody>
      </p:sp>
      <p:sp>
        <p:nvSpPr>
          <p:cNvPr id="3" name="内容占位符 2"/>
          <p:cNvSpPr>
            <a:spLocks noGrp="1"/>
          </p:cNvSpPr>
          <p:nvPr>
            <p:ph idx="1"/>
          </p:nvPr>
        </p:nvSpPr>
        <p:spPr/>
        <p:txBody>
          <a:bodyPr/>
          <a:lstStyle/>
          <a:p>
            <a:r>
              <a:rPr lang="zh-CN" altLang="en-US" dirty="0" smtClean="0"/>
              <a:t>配置完成后点击连接，如下图：</a:t>
            </a:r>
            <a:endParaRPr lang="en-US" altLang="zh-CN" dirty="0" smtClean="0"/>
          </a:p>
          <a:p>
            <a:endParaRPr lang="en-US" altLang="zh-CN" dirty="0" smtClean="0"/>
          </a:p>
          <a:p>
            <a:r>
              <a:rPr lang="zh-CN" altLang="en-US" dirty="0" smtClean="0"/>
              <a:t>连接成功后的</a:t>
            </a:r>
            <a:r>
              <a:rPr lang="en-US" altLang="zh-CN" dirty="0" smtClean="0"/>
              <a:t>probe</a:t>
            </a:r>
            <a:r>
              <a:rPr lang="zh-CN" altLang="en-US" dirty="0" smtClean="0"/>
              <a:t>上显示</a:t>
            </a:r>
            <a:r>
              <a:rPr lang="en-US" altLang="zh-CN" dirty="0" smtClean="0"/>
              <a:t>State</a:t>
            </a:r>
            <a:r>
              <a:rPr lang="zh-CN" altLang="en-US" dirty="0" smtClean="0"/>
              <a:t>为“</a:t>
            </a:r>
            <a:r>
              <a:rPr lang="en-US" altLang="zh-CN" dirty="0" smtClean="0"/>
              <a:t>Connected</a:t>
            </a:r>
            <a:r>
              <a:rPr lang="zh-CN" altLang="en-US" dirty="0" smtClean="0"/>
              <a:t>”，如下图：</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47</a:t>
            </a:fld>
            <a:endParaRPr lang="en-US" altLang="zh-CN"/>
          </a:p>
        </p:txBody>
      </p:sp>
      <p:pic>
        <p:nvPicPr>
          <p:cNvPr id="886786" name="Picture 2"/>
          <p:cNvPicPr>
            <a:picLocks noChangeAspect="1" noChangeArrowheads="1"/>
          </p:cNvPicPr>
          <p:nvPr/>
        </p:nvPicPr>
        <p:blipFill>
          <a:blip r:embed="rId2" cstate="print"/>
          <a:srcRect/>
          <a:stretch>
            <a:fillRect/>
          </a:stretch>
        </p:blipFill>
        <p:spPr bwMode="auto">
          <a:xfrm>
            <a:off x="1944008" y="2004559"/>
            <a:ext cx="4799634" cy="477383"/>
          </a:xfrm>
          <a:prstGeom prst="rect">
            <a:avLst/>
          </a:prstGeom>
          <a:noFill/>
          <a:ln w="9525">
            <a:noFill/>
            <a:miter lim="800000"/>
            <a:headEnd/>
            <a:tailEnd/>
          </a:ln>
        </p:spPr>
      </p:pic>
      <p:pic>
        <p:nvPicPr>
          <p:cNvPr id="886787" name="Picture 3"/>
          <p:cNvPicPr>
            <a:picLocks noChangeAspect="1" noChangeArrowheads="1"/>
          </p:cNvPicPr>
          <p:nvPr/>
        </p:nvPicPr>
        <p:blipFill>
          <a:blip r:embed="rId3" cstate="print"/>
          <a:srcRect/>
          <a:stretch>
            <a:fillRect/>
          </a:stretch>
        </p:blipFill>
        <p:spPr bwMode="auto">
          <a:xfrm>
            <a:off x="1777093" y="3375933"/>
            <a:ext cx="5676900" cy="1847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2"/>
              <a:defRPr/>
            </a:pPr>
            <a:r>
              <a:rPr lang="zh-CN" altLang="en-US" b="1" dirty="0" smtClean="0"/>
              <a:t>单站验证准备</a:t>
            </a:r>
            <a:endParaRPr lang="en-US" altLang="zh-CN" b="1" dirty="0" smtClean="0"/>
          </a:p>
          <a:p>
            <a:pPr marL="809625" lvl="1" indent="-457200">
              <a:buClr>
                <a:schemeClr val="tx1"/>
              </a:buClr>
              <a:buSzTx/>
              <a:buNone/>
              <a:defRPr/>
            </a:pPr>
            <a:r>
              <a:rPr lang="en-US" altLang="zh-CN" dirty="0" smtClean="0">
                <a:solidFill>
                  <a:schemeClr val="bg1">
                    <a:lumMod val="85000"/>
                  </a:schemeClr>
                </a:solidFill>
              </a:rPr>
              <a:t>2.1   </a:t>
            </a:r>
            <a:r>
              <a:rPr lang="zh-CN" altLang="en-US" dirty="0" smtClean="0">
                <a:solidFill>
                  <a:schemeClr val="bg1">
                    <a:lumMod val="85000"/>
                  </a:schemeClr>
                </a:solidFill>
              </a:rPr>
              <a:t>测试准备</a:t>
            </a:r>
            <a:endParaRPr lang="en-US" altLang="zh-CN" dirty="0" smtClean="0">
              <a:solidFill>
                <a:schemeClr val="bg1">
                  <a:lumMod val="85000"/>
                </a:schemeClr>
              </a:solidFill>
            </a:endParaRPr>
          </a:p>
          <a:p>
            <a:pPr marL="809625" lvl="1" indent="-457200">
              <a:buClr>
                <a:schemeClr val="tx1"/>
              </a:buClr>
              <a:buSzTx/>
              <a:buNone/>
              <a:defRPr/>
            </a:pPr>
            <a:r>
              <a:rPr lang="en-US" altLang="zh-CN" dirty="0" smtClean="0">
                <a:solidFill>
                  <a:schemeClr val="bg1">
                    <a:lumMod val="85000"/>
                  </a:schemeClr>
                </a:solidFill>
              </a:rPr>
              <a:t>2.2	  </a:t>
            </a:r>
            <a:r>
              <a:rPr lang="zh-CN" altLang="en-US" dirty="0" smtClean="0">
                <a:solidFill>
                  <a:schemeClr val="bg1">
                    <a:lumMod val="85000"/>
                  </a:schemeClr>
                </a:solidFill>
              </a:rPr>
              <a:t>硬件连接及软件安装</a:t>
            </a:r>
            <a:endParaRPr lang="en-US" altLang="zh-CN" dirty="0" smtClean="0">
              <a:solidFill>
                <a:schemeClr val="bg1">
                  <a:lumMod val="85000"/>
                </a:schemeClr>
              </a:solidFill>
            </a:endParaRPr>
          </a:p>
          <a:p>
            <a:pPr marL="809625" lvl="1" indent="-457200">
              <a:buClr>
                <a:schemeClr val="tx1"/>
              </a:buClr>
              <a:buSzTx/>
              <a:buNone/>
              <a:defRPr/>
            </a:pPr>
            <a:r>
              <a:rPr lang="en-US" altLang="zh-CN" b="1" dirty="0" smtClean="0"/>
              <a:t>2.3    </a:t>
            </a:r>
            <a:r>
              <a:rPr lang="zh-CN" altLang="en-US" b="1" dirty="0" smtClean="0"/>
              <a:t>参数及地图导入</a:t>
            </a:r>
            <a:endParaRPr lang="en-US" altLang="zh-CN" b="1"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48</a:t>
            </a:fld>
            <a:endParaRPr lang="en-US" altLang="zh-CN"/>
          </a:p>
        </p:txBody>
      </p:sp>
    </p:spTree>
  </p:cSld>
  <p:clrMapOvr>
    <a:masterClrMapping/>
  </p:clrMapOvr>
  <p:transition advClick="0" advTm="8000"/>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r>
              <a:rPr lang="zh-CN" altLang="en-US" smtClean="0"/>
              <a:t>导入工程参数</a:t>
            </a:r>
            <a:endParaRPr lang="en-US" altLang="zh-CN" smtClean="0"/>
          </a:p>
        </p:txBody>
      </p:sp>
      <p:sp>
        <p:nvSpPr>
          <p:cNvPr id="28675" name="Content Placeholder 3"/>
          <p:cNvSpPr>
            <a:spLocks noGrp="1"/>
          </p:cNvSpPr>
          <p:nvPr>
            <p:ph idx="1"/>
          </p:nvPr>
        </p:nvSpPr>
        <p:spPr>
          <a:xfrm>
            <a:off x="652463" y="1376363"/>
            <a:ext cx="7396162" cy="4221162"/>
          </a:xfrm>
        </p:spPr>
        <p:txBody>
          <a:bodyPr/>
          <a:lstStyle/>
          <a:p>
            <a:pPr eaLnBrk="1" hangingPunct="1"/>
            <a:r>
              <a:rPr lang="en-US" altLang="zh-CN" smtClean="0"/>
              <a:t>Probe</a:t>
            </a:r>
            <a:r>
              <a:rPr lang="zh-CN" altLang="en-US" smtClean="0"/>
              <a:t>提供工程参数缺省模板，可以根据模板生成工程参数，生成好之后就可以导入</a:t>
            </a:r>
            <a:r>
              <a:rPr lang="en-US" altLang="zh-CN" smtClean="0"/>
              <a:t>Probe</a:t>
            </a:r>
            <a:r>
              <a:rPr lang="zh-CN" altLang="en-US" smtClean="0"/>
              <a:t>软件中。</a:t>
            </a:r>
          </a:p>
        </p:txBody>
      </p:sp>
      <p:sp>
        <p:nvSpPr>
          <p:cNvPr id="28676" name="Slide Number Placeholder 2"/>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CCE8BAEE-646F-4B39-9B7B-591CD4F2C56F}" type="slidenum">
              <a:rPr lang="en-US" altLang="zh-CN" smtClean="0">
                <a:latin typeface="FrutigerNext LT Bold" pitchFamily="34" charset="0"/>
                <a:ea typeface="ＭＳ Ｐゴシック" pitchFamily="34" charset="-128"/>
              </a:rPr>
              <a:pPr defTabSz="877888"/>
              <a:t>49</a:t>
            </a:fld>
            <a:endParaRPr lang="en-US" altLang="zh-CN" smtClean="0">
              <a:latin typeface="FrutigerNext LT Bold" pitchFamily="34" charset="0"/>
              <a:ea typeface="ＭＳ Ｐゴシック" pitchFamily="34" charset="-128"/>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6"/>
          <p:cNvPicPr>
            <a:picLocks noChangeAspect="1" noChangeArrowheads="1"/>
          </p:cNvPicPr>
          <p:nvPr/>
        </p:nvPicPr>
        <p:blipFill>
          <a:blip r:embed="rId3" cstate="print"/>
          <a:srcRect/>
          <a:stretch>
            <a:fillRect/>
          </a:stretch>
        </p:blipFill>
        <p:spPr bwMode="auto">
          <a:xfrm>
            <a:off x="430213" y="1379538"/>
            <a:ext cx="8091487" cy="4797425"/>
          </a:xfrm>
          <a:prstGeom prst="rect">
            <a:avLst/>
          </a:prstGeom>
          <a:noFill/>
          <a:ln w="9525" algn="ctr">
            <a:noFill/>
            <a:miter lim="800000"/>
            <a:headEnd/>
            <a:tailEnd/>
          </a:ln>
        </p:spPr>
      </p:pic>
      <p:sp>
        <p:nvSpPr>
          <p:cNvPr id="29699" name="标题 1"/>
          <p:cNvSpPr>
            <a:spLocks noGrp="1"/>
          </p:cNvSpPr>
          <p:nvPr>
            <p:ph type="title"/>
          </p:nvPr>
        </p:nvSpPr>
        <p:spPr/>
        <p:txBody>
          <a:bodyPr/>
          <a:lstStyle/>
          <a:p>
            <a:pPr marL="342900" indent="-342900" eaLnBrk="1" hangingPunct="1"/>
            <a:r>
              <a:rPr lang="zh-CN" altLang="en-US" smtClean="0"/>
              <a:t>导入工程参数</a:t>
            </a:r>
            <a:r>
              <a:rPr lang="en-US" altLang="zh-CN" smtClean="0"/>
              <a:t>: </a:t>
            </a:r>
            <a:r>
              <a:rPr lang="zh-CN" altLang="en-US" smtClean="0"/>
              <a:t>步骤</a:t>
            </a:r>
            <a:r>
              <a:rPr lang="en-US" altLang="zh-CN" smtClean="0"/>
              <a:t>1</a:t>
            </a:r>
          </a:p>
        </p:txBody>
      </p:sp>
      <p:pic>
        <p:nvPicPr>
          <p:cNvPr id="29700" name="Picture 7"/>
          <p:cNvPicPr>
            <a:picLocks noChangeAspect="1" noChangeArrowheads="1"/>
          </p:cNvPicPr>
          <p:nvPr/>
        </p:nvPicPr>
        <p:blipFill>
          <a:blip r:embed="rId4" cstate="print"/>
          <a:srcRect/>
          <a:stretch>
            <a:fillRect/>
          </a:stretch>
        </p:blipFill>
        <p:spPr bwMode="auto">
          <a:xfrm>
            <a:off x="5145088" y="2743200"/>
            <a:ext cx="371475" cy="171450"/>
          </a:xfrm>
          <a:prstGeom prst="rect">
            <a:avLst/>
          </a:prstGeom>
          <a:noFill/>
          <a:ln w="9525" algn="ctr">
            <a:noFill/>
            <a:miter lim="800000"/>
            <a:headEnd/>
            <a:tailEnd/>
          </a:ln>
        </p:spPr>
      </p:pic>
      <p:sp>
        <p:nvSpPr>
          <p:cNvPr id="29701" name="Oval 23"/>
          <p:cNvSpPr>
            <a:spLocks noChangeArrowheads="1"/>
          </p:cNvSpPr>
          <p:nvPr/>
        </p:nvSpPr>
        <p:spPr bwMode="auto">
          <a:xfrm>
            <a:off x="4954588" y="2478088"/>
            <a:ext cx="190500" cy="290512"/>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800">
              <a:ea typeface="华文细黑" pitchFamily="2" charset="-122"/>
            </a:endParaRPr>
          </a:p>
        </p:txBody>
      </p:sp>
      <p:sp>
        <p:nvSpPr>
          <p:cNvPr id="29702" name="灯片编号占位符 6"/>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1C75E96B-98D8-45B8-B684-E383FAFFDB6E}" type="slidenum">
              <a:rPr lang="en-US" altLang="zh-CN" smtClean="0">
                <a:latin typeface="FrutigerNext LT Bold" pitchFamily="34" charset="0"/>
                <a:ea typeface="ＭＳ Ｐゴシック" pitchFamily="34" charset="-128"/>
              </a:rPr>
              <a:pPr defTabSz="877888"/>
              <a:t>50</a:t>
            </a:fld>
            <a:endParaRPr lang="en-US" altLang="zh-CN" smtClean="0">
              <a:latin typeface="FrutigerNext LT Bold" pitchFamily="34" charset="0"/>
              <a:ea typeface="ＭＳ Ｐゴシック" pitchFamily="34" charset="-128"/>
            </a:endParaRPr>
          </a:p>
        </p:txBody>
      </p:sp>
      <p:sp>
        <p:nvSpPr>
          <p:cNvPr id="29703" name="Rounded Rectangle 7"/>
          <p:cNvSpPr>
            <a:spLocks noChangeArrowheads="1"/>
          </p:cNvSpPr>
          <p:nvPr/>
        </p:nvSpPr>
        <p:spPr bwMode="auto">
          <a:xfrm>
            <a:off x="1792288" y="3335338"/>
            <a:ext cx="2384425" cy="906462"/>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dirty="0">
                <a:ea typeface="华文细黑" pitchFamily="2" charset="-122"/>
              </a:rPr>
              <a:t>1.</a:t>
            </a:r>
            <a:r>
              <a:rPr lang="zh-CN" altLang="en-US" dirty="0">
                <a:ea typeface="华文细黑" pitchFamily="2" charset="-122"/>
              </a:rPr>
              <a:t>点击这里打开工程参数管理窗口。 </a:t>
            </a:r>
          </a:p>
        </p:txBody>
      </p:sp>
      <p:cxnSp>
        <p:nvCxnSpPr>
          <p:cNvPr id="29704" name="Straight Arrow Connector 8"/>
          <p:cNvCxnSpPr>
            <a:cxnSpLocks noChangeShapeType="1"/>
          </p:cNvCxnSpPr>
          <p:nvPr/>
        </p:nvCxnSpPr>
        <p:spPr bwMode="auto">
          <a:xfrm flipH="1" flipV="1">
            <a:off x="2273300" y="1994535"/>
            <a:ext cx="939800" cy="1325563"/>
          </a:xfrm>
          <a:prstGeom prst="straightConnector1">
            <a:avLst/>
          </a:prstGeom>
          <a:noFill/>
          <a:ln w="9525" algn="ctr">
            <a:solidFill>
              <a:schemeClr val="tx1"/>
            </a:solidFill>
            <a:round/>
            <a:headEnd/>
            <a:tailEnd type="arrow" w="med" len="med"/>
          </a:ln>
        </p:spPr>
      </p:cxnSp>
      <p:sp>
        <p:nvSpPr>
          <p:cNvPr id="29705" name="Rounded Rectangle 10"/>
          <p:cNvSpPr>
            <a:spLocks noChangeArrowheads="1"/>
          </p:cNvSpPr>
          <p:nvPr/>
        </p:nvSpPr>
        <p:spPr bwMode="auto">
          <a:xfrm>
            <a:off x="5568950" y="4673600"/>
            <a:ext cx="2046288" cy="766763"/>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2. </a:t>
            </a:r>
            <a:r>
              <a:rPr lang="zh-CN" altLang="en-US">
                <a:ea typeface="华文细黑" pitchFamily="2" charset="-122"/>
              </a:rPr>
              <a:t>点击这里打开工程参数文件</a:t>
            </a:r>
            <a:endParaRPr lang="en-US" altLang="zh-CN">
              <a:ea typeface="华文细黑" pitchFamily="2" charset="-122"/>
            </a:endParaRPr>
          </a:p>
        </p:txBody>
      </p:sp>
      <p:cxnSp>
        <p:nvCxnSpPr>
          <p:cNvPr id="29706" name="Straight Arrow Connector 11"/>
          <p:cNvCxnSpPr>
            <a:cxnSpLocks noChangeShapeType="1"/>
            <a:stCxn id="29705" idx="0"/>
          </p:cNvCxnSpPr>
          <p:nvPr/>
        </p:nvCxnSpPr>
        <p:spPr bwMode="auto">
          <a:xfrm flipH="1" flipV="1">
            <a:off x="5067300" y="2759075"/>
            <a:ext cx="1525588" cy="1914525"/>
          </a:xfrm>
          <a:prstGeom prst="straightConnector1">
            <a:avLst/>
          </a:prstGeom>
          <a:noFill/>
          <a:ln w="9525" algn="ctr">
            <a:solidFill>
              <a:schemeClr val="tx1"/>
            </a:solidFill>
            <a:round/>
            <a:headEnd/>
            <a:tailEnd type="arrow" w="med" len="med"/>
          </a:ln>
        </p:spPr>
      </p:cxnSp>
      <p:sp>
        <p:nvSpPr>
          <p:cNvPr id="29707" name="Oval 23"/>
          <p:cNvSpPr>
            <a:spLocks noChangeArrowheads="1"/>
          </p:cNvSpPr>
          <p:nvPr/>
        </p:nvSpPr>
        <p:spPr bwMode="auto">
          <a:xfrm>
            <a:off x="2173605" y="1858963"/>
            <a:ext cx="192088" cy="292100"/>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800">
              <a:ea typeface="华文细黑" pitchFamily="2" charset="-122"/>
            </a:endParaRPr>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3" cstate="print"/>
          <a:srcRect/>
          <a:stretch>
            <a:fillRect/>
          </a:stretch>
        </p:blipFill>
        <p:spPr bwMode="auto">
          <a:xfrm>
            <a:off x="460375" y="1384300"/>
            <a:ext cx="8083550" cy="4806950"/>
          </a:xfrm>
          <a:prstGeom prst="rect">
            <a:avLst/>
          </a:prstGeom>
          <a:noFill/>
          <a:ln w="9525" algn="ctr">
            <a:noFill/>
            <a:miter lim="800000"/>
            <a:headEnd/>
            <a:tailEnd/>
          </a:ln>
        </p:spPr>
      </p:pic>
      <p:sp>
        <p:nvSpPr>
          <p:cNvPr id="30723" name="Oval 23"/>
          <p:cNvSpPr>
            <a:spLocks noChangeArrowheads="1"/>
          </p:cNvSpPr>
          <p:nvPr/>
        </p:nvSpPr>
        <p:spPr bwMode="auto">
          <a:xfrm>
            <a:off x="3170238" y="2414588"/>
            <a:ext cx="2805112" cy="508000"/>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a:ea typeface="华文细黑" pitchFamily="2" charset="-122"/>
            </a:endParaRPr>
          </a:p>
        </p:txBody>
      </p:sp>
      <p:sp>
        <p:nvSpPr>
          <p:cNvPr id="30724" name="Oval 23"/>
          <p:cNvSpPr>
            <a:spLocks noChangeArrowheads="1"/>
          </p:cNvSpPr>
          <p:nvPr/>
        </p:nvSpPr>
        <p:spPr bwMode="auto">
          <a:xfrm>
            <a:off x="5527675" y="5156200"/>
            <a:ext cx="828675" cy="357188"/>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1100">
              <a:ea typeface="华文细黑" pitchFamily="2" charset="-122"/>
            </a:endParaRPr>
          </a:p>
        </p:txBody>
      </p:sp>
      <p:sp>
        <p:nvSpPr>
          <p:cNvPr id="30725" name="灯片编号占位符 6"/>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8759B83C-4897-4877-B4CB-DF3FE62E9684}" type="slidenum">
              <a:rPr lang="en-US" altLang="zh-CN" smtClean="0">
                <a:latin typeface="FrutigerNext LT Bold" pitchFamily="34" charset="0"/>
                <a:ea typeface="ＭＳ Ｐゴシック" pitchFamily="34" charset="-128"/>
              </a:rPr>
              <a:pPr defTabSz="877888"/>
              <a:t>51</a:t>
            </a:fld>
            <a:endParaRPr lang="en-US" altLang="zh-CN" smtClean="0">
              <a:latin typeface="FrutigerNext LT Bold" pitchFamily="34" charset="0"/>
              <a:ea typeface="ＭＳ Ｐゴシック" pitchFamily="34" charset="-128"/>
            </a:endParaRPr>
          </a:p>
        </p:txBody>
      </p:sp>
      <p:sp>
        <p:nvSpPr>
          <p:cNvPr id="30726" name="Rounded Rectangle 15"/>
          <p:cNvSpPr>
            <a:spLocks noChangeArrowheads="1"/>
          </p:cNvSpPr>
          <p:nvPr/>
        </p:nvSpPr>
        <p:spPr bwMode="auto">
          <a:xfrm>
            <a:off x="2755900" y="3319463"/>
            <a:ext cx="2625725" cy="501650"/>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1. </a:t>
            </a:r>
            <a:r>
              <a:rPr lang="zh-CN" altLang="en-US">
                <a:ea typeface="华文细黑" pitchFamily="2" charset="-122"/>
              </a:rPr>
              <a:t>选择制式和工参文件</a:t>
            </a:r>
          </a:p>
        </p:txBody>
      </p:sp>
      <p:cxnSp>
        <p:nvCxnSpPr>
          <p:cNvPr id="30727" name="Straight Arrow Connector 17"/>
          <p:cNvCxnSpPr>
            <a:cxnSpLocks noChangeShapeType="1"/>
            <a:stCxn id="30726" idx="0"/>
            <a:endCxn id="30723" idx="4"/>
          </p:cNvCxnSpPr>
          <p:nvPr/>
        </p:nvCxnSpPr>
        <p:spPr bwMode="auto">
          <a:xfrm flipV="1">
            <a:off x="4068763" y="2935288"/>
            <a:ext cx="504825" cy="384175"/>
          </a:xfrm>
          <a:prstGeom prst="straightConnector1">
            <a:avLst/>
          </a:prstGeom>
          <a:noFill/>
          <a:ln w="9525" algn="ctr">
            <a:solidFill>
              <a:schemeClr val="tx1"/>
            </a:solidFill>
            <a:round/>
            <a:headEnd/>
            <a:tailEnd type="arrow" w="med" len="med"/>
          </a:ln>
        </p:spPr>
      </p:cxnSp>
      <p:sp>
        <p:nvSpPr>
          <p:cNvPr id="30728" name="Rounded Rectangle 21"/>
          <p:cNvSpPr>
            <a:spLocks noChangeArrowheads="1"/>
          </p:cNvSpPr>
          <p:nvPr/>
        </p:nvSpPr>
        <p:spPr bwMode="auto">
          <a:xfrm>
            <a:off x="3155950" y="4513263"/>
            <a:ext cx="1944688" cy="347662"/>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2. </a:t>
            </a:r>
            <a:r>
              <a:rPr lang="zh-CN" altLang="en-US">
                <a:ea typeface="华文细黑" pitchFamily="2" charset="-122"/>
              </a:rPr>
              <a:t>点击</a:t>
            </a:r>
            <a:r>
              <a:rPr lang="en-US" altLang="zh-CN" b="1" i="1">
                <a:ea typeface="华文细黑" pitchFamily="2" charset="-122"/>
              </a:rPr>
              <a:t>Next </a:t>
            </a:r>
            <a:r>
              <a:rPr lang="zh-CN" altLang="en-US">
                <a:ea typeface="华文细黑" pitchFamily="2" charset="-122"/>
              </a:rPr>
              <a:t>继续</a:t>
            </a:r>
            <a:endParaRPr lang="zh-CN" altLang="en-US" b="1" i="1">
              <a:ea typeface="华文细黑" pitchFamily="2" charset="-122"/>
            </a:endParaRPr>
          </a:p>
        </p:txBody>
      </p:sp>
      <p:cxnSp>
        <p:nvCxnSpPr>
          <p:cNvPr id="30729" name="Straight Arrow Connector 23"/>
          <p:cNvCxnSpPr>
            <a:cxnSpLocks noChangeShapeType="1"/>
            <a:stCxn id="30728" idx="3"/>
            <a:endCxn id="30724" idx="0"/>
          </p:cNvCxnSpPr>
          <p:nvPr/>
        </p:nvCxnSpPr>
        <p:spPr bwMode="auto">
          <a:xfrm>
            <a:off x="5100638" y="4687888"/>
            <a:ext cx="841375" cy="455612"/>
          </a:xfrm>
          <a:prstGeom prst="straightConnector1">
            <a:avLst/>
          </a:prstGeom>
          <a:noFill/>
          <a:ln w="9525" algn="ctr">
            <a:solidFill>
              <a:schemeClr val="tx1"/>
            </a:solidFill>
            <a:round/>
            <a:headEnd/>
            <a:tailEnd type="arrow" w="med" len="med"/>
          </a:ln>
        </p:spPr>
      </p:cxnSp>
      <p:sp>
        <p:nvSpPr>
          <p:cNvPr id="30730" name="标题 1"/>
          <p:cNvSpPr>
            <a:spLocks/>
          </p:cNvSpPr>
          <p:nvPr/>
        </p:nvSpPr>
        <p:spPr bwMode="auto">
          <a:xfrm>
            <a:off x="641350" y="358775"/>
            <a:ext cx="7731125" cy="868363"/>
          </a:xfrm>
          <a:prstGeom prst="rect">
            <a:avLst/>
          </a:prstGeom>
          <a:noFill/>
          <a:ln w="9525">
            <a:noFill/>
            <a:miter lim="800000"/>
            <a:headEnd/>
            <a:tailEnd/>
          </a:ln>
        </p:spPr>
        <p:txBody>
          <a:bodyPr lIns="80114" tIns="40058" rIns="80114" bIns="40058" anchor="ctr"/>
          <a:lstStyle/>
          <a:p>
            <a:pPr marL="342900" indent="-342900" defTabSz="801688"/>
            <a:r>
              <a:rPr lang="zh-CN" altLang="en-US" sz="3500">
                <a:solidFill>
                  <a:srgbClr val="990000"/>
                </a:solidFill>
                <a:latin typeface="FrutigerNext LT Medium" pitchFamily="34" charset="0"/>
                <a:ea typeface="黑体" pitchFamily="49" charset="-122"/>
              </a:rPr>
              <a:t>导入工程参数</a:t>
            </a:r>
            <a:r>
              <a:rPr lang="en-US" altLang="zh-CN" sz="3500">
                <a:solidFill>
                  <a:srgbClr val="990000"/>
                </a:solidFill>
                <a:latin typeface="FrutigerNext LT Medium" pitchFamily="34" charset="0"/>
                <a:ea typeface="黑体" pitchFamily="49" charset="-122"/>
              </a:rPr>
              <a:t>: </a:t>
            </a:r>
            <a:r>
              <a:rPr lang="zh-CN" altLang="en-US" sz="3500">
                <a:solidFill>
                  <a:srgbClr val="990000"/>
                </a:solidFill>
                <a:latin typeface="FrutigerNext LT Medium" pitchFamily="34" charset="0"/>
                <a:ea typeface="黑体" pitchFamily="49" charset="-122"/>
              </a:rPr>
              <a:t>步骤</a:t>
            </a:r>
            <a:r>
              <a:rPr lang="en-US" altLang="zh-CN" sz="3500">
                <a:solidFill>
                  <a:srgbClr val="990000"/>
                </a:solidFill>
                <a:latin typeface="FrutigerNext LT Medium" pitchFamily="34" charset="0"/>
                <a:ea typeface="黑体" pitchFamily="49" charset="-122"/>
              </a:rPr>
              <a:t>2</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cstate="print"/>
          <a:srcRect/>
          <a:stretch>
            <a:fillRect/>
          </a:stretch>
        </p:blipFill>
        <p:spPr bwMode="auto">
          <a:xfrm>
            <a:off x="709613" y="1274763"/>
            <a:ext cx="8074025" cy="4781550"/>
          </a:xfrm>
          <a:prstGeom prst="rect">
            <a:avLst/>
          </a:prstGeom>
          <a:noFill/>
          <a:ln w="9525" algn="ctr">
            <a:noFill/>
            <a:miter lim="800000"/>
            <a:headEnd/>
            <a:tailEnd/>
          </a:ln>
        </p:spPr>
      </p:pic>
      <p:sp>
        <p:nvSpPr>
          <p:cNvPr id="31747" name="灯片编号占位符 5"/>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F06300AE-F355-444B-8180-03877C4A9B87}" type="slidenum">
              <a:rPr lang="en-US" altLang="zh-CN" smtClean="0">
                <a:latin typeface="FrutigerNext LT Bold" pitchFamily="34" charset="0"/>
                <a:ea typeface="ＭＳ Ｐゴシック" pitchFamily="34" charset="-128"/>
              </a:rPr>
              <a:pPr defTabSz="877888"/>
              <a:t>52</a:t>
            </a:fld>
            <a:endParaRPr lang="en-US" altLang="zh-CN" smtClean="0">
              <a:latin typeface="FrutigerNext LT Bold" pitchFamily="34" charset="0"/>
              <a:ea typeface="ＭＳ Ｐゴシック" pitchFamily="34" charset="-128"/>
            </a:endParaRPr>
          </a:p>
        </p:txBody>
      </p:sp>
      <p:sp>
        <p:nvSpPr>
          <p:cNvPr id="31748" name="Rounded Rectangle 6"/>
          <p:cNvSpPr>
            <a:spLocks noChangeArrowheads="1"/>
          </p:cNvSpPr>
          <p:nvPr/>
        </p:nvSpPr>
        <p:spPr bwMode="auto">
          <a:xfrm>
            <a:off x="5378450" y="1925638"/>
            <a:ext cx="2674938" cy="527050"/>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1. </a:t>
            </a:r>
            <a:r>
              <a:rPr lang="zh-CN" altLang="en-US">
                <a:ea typeface="华文细黑" pitchFamily="2" charset="-122"/>
              </a:rPr>
              <a:t>选择工参文件的表格</a:t>
            </a:r>
            <a:endParaRPr lang="en-US" altLang="zh-CN" b="1" i="1">
              <a:ea typeface="华文细黑" pitchFamily="2" charset="-122"/>
            </a:endParaRPr>
          </a:p>
        </p:txBody>
      </p:sp>
      <p:sp>
        <p:nvSpPr>
          <p:cNvPr id="31749" name="Oval 23"/>
          <p:cNvSpPr>
            <a:spLocks noChangeArrowheads="1"/>
          </p:cNvSpPr>
          <p:nvPr/>
        </p:nvSpPr>
        <p:spPr bwMode="auto">
          <a:xfrm>
            <a:off x="2930525" y="2178050"/>
            <a:ext cx="1704975" cy="508000"/>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a:ea typeface="华文细黑" pitchFamily="2" charset="-122"/>
            </a:endParaRPr>
          </a:p>
        </p:txBody>
      </p:sp>
      <p:cxnSp>
        <p:nvCxnSpPr>
          <p:cNvPr id="31750" name="Straight Arrow Connector 11"/>
          <p:cNvCxnSpPr>
            <a:cxnSpLocks noChangeShapeType="1"/>
            <a:stCxn id="31748" idx="1"/>
            <a:endCxn id="31749" idx="6"/>
          </p:cNvCxnSpPr>
          <p:nvPr/>
        </p:nvCxnSpPr>
        <p:spPr bwMode="auto">
          <a:xfrm flipH="1">
            <a:off x="4648200" y="2189163"/>
            <a:ext cx="730250" cy="242887"/>
          </a:xfrm>
          <a:prstGeom prst="straightConnector1">
            <a:avLst/>
          </a:prstGeom>
          <a:noFill/>
          <a:ln w="9525" algn="ctr">
            <a:solidFill>
              <a:schemeClr val="tx1"/>
            </a:solidFill>
            <a:round/>
            <a:headEnd/>
            <a:tailEnd type="arrow" w="med" len="med"/>
          </a:ln>
        </p:spPr>
      </p:cxnSp>
      <p:sp>
        <p:nvSpPr>
          <p:cNvPr id="31751" name="Oval 23"/>
          <p:cNvSpPr>
            <a:spLocks noChangeArrowheads="1"/>
          </p:cNvSpPr>
          <p:nvPr/>
        </p:nvSpPr>
        <p:spPr bwMode="auto">
          <a:xfrm>
            <a:off x="5891213" y="5027613"/>
            <a:ext cx="685800" cy="508000"/>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a:ea typeface="华文细黑" pitchFamily="2" charset="-122"/>
            </a:endParaRPr>
          </a:p>
        </p:txBody>
      </p:sp>
      <p:sp>
        <p:nvSpPr>
          <p:cNvPr id="31752" name="Rounded Rectangle 14"/>
          <p:cNvSpPr>
            <a:spLocks noChangeArrowheads="1"/>
          </p:cNvSpPr>
          <p:nvPr/>
        </p:nvSpPr>
        <p:spPr bwMode="auto">
          <a:xfrm>
            <a:off x="1274763" y="4784725"/>
            <a:ext cx="3735387" cy="1022350"/>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2. </a:t>
            </a:r>
            <a:r>
              <a:rPr lang="zh-CN" altLang="en-US">
                <a:ea typeface="华文细黑" pitchFamily="2" charset="-122"/>
              </a:rPr>
              <a:t>点击</a:t>
            </a:r>
            <a:r>
              <a:rPr lang="en-US" altLang="zh-CN" b="1" i="1">
                <a:ea typeface="华文细黑" pitchFamily="2" charset="-122"/>
              </a:rPr>
              <a:t>Finish</a:t>
            </a:r>
            <a:r>
              <a:rPr lang="en-US" altLang="zh-CN">
                <a:ea typeface="华文细黑" pitchFamily="2" charset="-122"/>
              </a:rPr>
              <a:t>, Probe</a:t>
            </a:r>
            <a:r>
              <a:rPr lang="zh-CN" altLang="en-US">
                <a:ea typeface="华文细黑" pitchFamily="2" charset="-122"/>
              </a:rPr>
              <a:t>会自动匹配</a:t>
            </a:r>
            <a:r>
              <a:rPr lang="en-US" altLang="zh-CN">
                <a:ea typeface="华文细黑" pitchFamily="2" charset="-122"/>
              </a:rPr>
              <a:t>Probe Param</a:t>
            </a:r>
            <a:r>
              <a:rPr lang="zh-CN" altLang="en-US">
                <a:ea typeface="华文细黑" pitchFamily="2" charset="-122"/>
              </a:rPr>
              <a:t>和</a:t>
            </a:r>
            <a:r>
              <a:rPr lang="en-US" altLang="zh-CN">
                <a:ea typeface="华文细黑" pitchFamily="2" charset="-122"/>
              </a:rPr>
              <a:t>Excel Param</a:t>
            </a:r>
            <a:r>
              <a:rPr lang="zh-CN" altLang="en-US">
                <a:ea typeface="华文细黑" pitchFamily="2" charset="-122"/>
              </a:rPr>
              <a:t>中的不同点。</a:t>
            </a:r>
            <a:endParaRPr lang="en-US" altLang="zh-CN">
              <a:ea typeface="华文细黑" pitchFamily="2" charset="-122"/>
            </a:endParaRPr>
          </a:p>
        </p:txBody>
      </p:sp>
      <p:cxnSp>
        <p:nvCxnSpPr>
          <p:cNvPr id="31753" name="Straight Arrow Connector 16"/>
          <p:cNvCxnSpPr>
            <a:cxnSpLocks noChangeShapeType="1"/>
            <a:stCxn id="31752" idx="3"/>
            <a:endCxn id="31751" idx="2"/>
          </p:cNvCxnSpPr>
          <p:nvPr/>
        </p:nvCxnSpPr>
        <p:spPr bwMode="auto">
          <a:xfrm flipV="1">
            <a:off x="5010150" y="5281613"/>
            <a:ext cx="868363" cy="14287"/>
          </a:xfrm>
          <a:prstGeom prst="straightConnector1">
            <a:avLst/>
          </a:prstGeom>
          <a:noFill/>
          <a:ln w="9525" algn="ctr">
            <a:solidFill>
              <a:schemeClr val="tx1"/>
            </a:solidFill>
            <a:round/>
            <a:headEnd/>
            <a:tailEnd type="arrow" w="med" len="med"/>
          </a:ln>
        </p:spPr>
      </p:cxnSp>
      <p:sp>
        <p:nvSpPr>
          <p:cNvPr id="31754" name="Rounded Rectangle 21"/>
          <p:cNvSpPr>
            <a:spLocks noChangeArrowheads="1"/>
          </p:cNvSpPr>
          <p:nvPr/>
        </p:nvSpPr>
        <p:spPr bwMode="auto">
          <a:xfrm>
            <a:off x="2470150" y="3544888"/>
            <a:ext cx="4540250" cy="193675"/>
          </a:xfrm>
          <a:prstGeom prst="roundRect">
            <a:avLst>
              <a:gd name="adj" fmla="val 16667"/>
            </a:avLst>
          </a:prstGeom>
          <a:noFill/>
          <a:ln w="34925" algn="ctr">
            <a:solidFill>
              <a:srgbClr val="FF0000"/>
            </a:solidFill>
            <a:prstDash val="dash"/>
            <a:round/>
            <a:headEnd/>
            <a:tailEnd/>
          </a:ln>
        </p:spPr>
        <p:txBody>
          <a:bodyPr/>
          <a:lstStyle/>
          <a:p>
            <a:pPr fontAlgn="t"/>
            <a:endParaRPr lang="en-US" altLang="zh-CN">
              <a:ea typeface="华文细黑" pitchFamily="2" charset="-122"/>
            </a:endParaRPr>
          </a:p>
        </p:txBody>
      </p:sp>
      <p:sp>
        <p:nvSpPr>
          <p:cNvPr id="31755" name="Rounded Rectangle 22"/>
          <p:cNvSpPr>
            <a:spLocks noChangeArrowheads="1"/>
          </p:cNvSpPr>
          <p:nvPr/>
        </p:nvSpPr>
        <p:spPr bwMode="auto">
          <a:xfrm>
            <a:off x="538163" y="2511425"/>
            <a:ext cx="1806575" cy="1141413"/>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sz="1600">
                <a:ea typeface="华文细黑" pitchFamily="2" charset="-122"/>
              </a:rPr>
              <a:t>需要匹配 </a:t>
            </a:r>
            <a:r>
              <a:rPr lang="en-US" altLang="zh-CN" sz="1600" b="1" i="1">
                <a:ea typeface="华文细黑" pitchFamily="2" charset="-122"/>
              </a:rPr>
              <a:t>Probe Param</a:t>
            </a:r>
            <a:r>
              <a:rPr lang="en-US" altLang="zh-CN" sz="1600">
                <a:ea typeface="华文细黑" pitchFamily="2" charset="-122"/>
              </a:rPr>
              <a:t> </a:t>
            </a:r>
            <a:r>
              <a:rPr lang="zh-CN" altLang="en-US" sz="1600">
                <a:ea typeface="华文细黑" pitchFamily="2" charset="-122"/>
              </a:rPr>
              <a:t>和 </a:t>
            </a:r>
            <a:r>
              <a:rPr lang="en-US" altLang="zh-CN" sz="1600" b="1" i="1">
                <a:ea typeface="华文细黑" pitchFamily="2" charset="-122"/>
              </a:rPr>
              <a:t>Excel Param</a:t>
            </a:r>
            <a:r>
              <a:rPr lang="en-US" altLang="zh-CN" sz="1600">
                <a:ea typeface="华文细黑" pitchFamily="2" charset="-122"/>
              </a:rPr>
              <a:t> </a:t>
            </a:r>
            <a:r>
              <a:rPr lang="zh-CN" altLang="en-US" sz="1600">
                <a:ea typeface="华文细黑" pitchFamily="2" charset="-122"/>
              </a:rPr>
              <a:t>的不同项。</a:t>
            </a:r>
          </a:p>
        </p:txBody>
      </p:sp>
      <p:cxnSp>
        <p:nvCxnSpPr>
          <p:cNvPr id="31756" name="Straight Arrow Connector 24"/>
          <p:cNvCxnSpPr>
            <a:cxnSpLocks noChangeShapeType="1"/>
            <a:stCxn id="31755" idx="3"/>
            <a:endCxn id="31754" idx="0"/>
          </p:cNvCxnSpPr>
          <p:nvPr/>
        </p:nvCxnSpPr>
        <p:spPr bwMode="auto">
          <a:xfrm>
            <a:off x="2344738" y="3082925"/>
            <a:ext cx="2395537" cy="444500"/>
          </a:xfrm>
          <a:prstGeom prst="straightConnector1">
            <a:avLst/>
          </a:prstGeom>
          <a:noFill/>
          <a:ln w="9525" algn="ctr">
            <a:solidFill>
              <a:schemeClr val="tx1"/>
            </a:solidFill>
            <a:round/>
            <a:headEnd/>
            <a:tailEnd type="arrow" w="med" len="med"/>
          </a:ln>
        </p:spPr>
      </p:cxnSp>
      <p:sp>
        <p:nvSpPr>
          <p:cNvPr id="31757" name="标题 1"/>
          <p:cNvSpPr>
            <a:spLocks/>
          </p:cNvSpPr>
          <p:nvPr/>
        </p:nvSpPr>
        <p:spPr bwMode="auto">
          <a:xfrm>
            <a:off x="641350" y="358775"/>
            <a:ext cx="7731125" cy="868363"/>
          </a:xfrm>
          <a:prstGeom prst="rect">
            <a:avLst/>
          </a:prstGeom>
          <a:noFill/>
          <a:ln w="9525">
            <a:noFill/>
            <a:miter lim="800000"/>
            <a:headEnd/>
            <a:tailEnd/>
          </a:ln>
        </p:spPr>
        <p:txBody>
          <a:bodyPr lIns="80114" tIns="40058" rIns="80114" bIns="40058" anchor="ctr"/>
          <a:lstStyle/>
          <a:p>
            <a:pPr marL="342900" indent="-342900" defTabSz="801688"/>
            <a:r>
              <a:rPr lang="zh-CN" altLang="en-US" sz="3500">
                <a:solidFill>
                  <a:srgbClr val="990000"/>
                </a:solidFill>
                <a:latin typeface="FrutigerNext LT Medium" pitchFamily="34" charset="0"/>
                <a:ea typeface="黑体" pitchFamily="49" charset="-122"/>
              </a:rPr>
              <a:t>导入工程参数</a:t>
            </a:r>
            <a:r>
              <a:rPr lang="en-US" altLang="zh-CN" sz="3500">
                <a:solidFill>
                  <a:srgbClr val="990000"/>
                </a:solidFill>
                <a:latin typeface="FrutigerNext LT Medium" pitchFamily="34" charset="0"/>
                <a:ea typeface="黑体" pitchFamily="49" charset="-122"/>
              </a:rPr>
              <a:t>: </a:t>
            </a:r>
            <a:r>
              <a:rPr lang="zh-CN" altLang="en-US" sz="3500">
                <a:solidFill>
                  <a:srgbClr val="990000"/>
                </a:solidFill>
                <a:latin typeface="FrutigerNext LT Medium" pitchFamily="34" charset="0"/>
                <a:ea typeface="黑体" pitchFamily="49" charset="-122"/>
              </a:rPr>
              <a:t>步骤</a:t>
            </a:r>
            <a:r>
              <a:rPr lang="en-US" altLang="zh-CN" sz="3500">
                <a:solidFill>
                  <a:srgbClr val="990000"/>
                </a:solidFill>
                <a:latin typeface="FrutigerNext LT Medium" pitchFamily="34" charset="0"/>
                <a:ea typeface="黑体" pitchFamily="49" charset="-122"/>
              </a:rPr>
              <a:t>3</a:t>
            </a: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3" cstate="print"/>
          <a:srcRect/>
          <a:stretch>
            <a:fillRect/>
          </a:stretch>
        </p:blipFill>
        <p:spPr bwMode="auto">
          <a:xfrm>
            <a:off x="542378" y="1834238"/>
            <a:ext cx="8074025" cy="4356100"/>
          </a:xfrm>
          <a:prstGeom prst="rect">
            <a:avLst/>
          </a:prstGeom>
          <a:noFill/>
          <a:ln w="9525" algn="ctr">
            <a:noFill/>
            <a:miter lim="800000"/>
            <a:headEnd/>
            <a:tailEnd/>
          </a:ln>
        </p:spPr>
      </p:pic>
      <p:pic>
        <p:nvPicPr>
          <p:cNvPr id="32771" name="Picture 3"/>
          <p:cNvPicPr>
            <a:picLocks noChangeAspect="1" noChangeArrowheads="1"/>
          </p:cNvPicPr>
          <p:nvPr/>
        </p:nvPicPr>
        <p:blipFill>
          <a:blip r:embed="rId4" cstate="print"/>
          <a:srcRect/>
          <a:stretch>
            <a:fillRect/>
          </a:stretch>
        </p:blipFill>
        <p:spPr bwMode="auto">
          <a:xfrm>
            <a:off x="3460203" y="2127925"/>
            <a:ext cx="2401887" cy="2901950"/>
          </a:xfrm>
          <a:prstGeom prst="rect">
            <a:avLst/>
          </a:prstGeom>
          <a:noFill/>
          <a:ln w="9525" algn="ctr">
            <a:noFill/>
            <a:miter lim="800000"/>
            <a:headEnd/>
            <a:tailEnd/>
          </a:ln>
        </p:spPr>
      </p:pic>
      <p:sp>
        <p:nvSpPr>
          <p:cNvPr id="32772" name="Oval 23"/>
          <p:cNvSpPr>
            <a:spLocks noChangeArrowheads="1"/>
          </p:cNvSpPr>
          <p:nvPr/>
        </p:nvSpPr>
        <p:spPr bwMode="auto">
          <a:xfrm>
            <a:off x="3706265" y="3718600"/>
            <a:ext cx="700088"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sp>
        <p:nvSpPr>
          <p:cNvPr id="10" name="标题 9"/>
          <p:cNvSpPr>
            <a:spLocks noGrp="1"/>
          </p:cNvSpPr>
          <p:nvPr>
            <p:ph type="title"/>
          </p:nvPr>
        </p:nvSpPr>
        <p:spPr/>
        <p:txBody>
          <a:bodyPr/>
          <a:lstStyle/>
          <a:p>
            <a:r>
              <a:rPr lang="zh-CN" altLang="en-US" dirty="0" smtClean="0">
                <a:latin typeface="FrutigerNext LT Medium" pitchFamily="34" charset="0"/>
                <a:ea typeface="黑体" pitchFamily="49" charset="-122"/>
              </a:rPr>
              <a:t>导入工程参数</a:t>
            </a:r>
            <a:r>
              <a:rPr lang="en-US" altLang="zh-CN" dirty="0" smtClean="0">
                <a:latin typeface="FrutigerNext LT Medium" pitchFamily="34" charset="0"/>
                <a:ea typeface="黑体" pitchFamily="49" charset="-122"/>
              </a:rPr>
              <a:t>: </a:t>
            </a:r>
            <a:r>
              <a:rPr lang="zh-CN" altLang="en-US" dirty="0" smtClean="0">
                <a:latin typeface="FrutigerNext LT Medium" pitchFamily="34" charset="0"/>
                <a:ea typeface="黑体" pitchFamily="49" charset="-122"/>
              </a:rPr>
              <a:t>步骤</a:t>
            </a:r>
            <a:r>
              <a:rPr lang="en-US" altLang="zh-CN" dirty="0" smtClean="0">
                <a:latin typeface="FrutigerNext LT Medium" pitchFamily="34" charset="0"/>
                <a:ea typeface="黑体" pitchFamily="49" charset="-122"/>
              </a:rPr>
              <a:t>4</a:t>
            </a:r>
            <a:endParaRPr lang="zh-CN" altLang="en-US" dirty="0"/>
          </a:p>
        </p:txBody>
      </p:sp>
      <p:sp>
        <p:nvSpPr>
          <p:cNvPr id="32774" name="灯片编号占位符 6"/>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03F09399-3D6C-415D-9104-F41AC9F0059B}" type="slidenum">
              <a:rPr lang="en-US" altLang="zh-CN" smtClean="0">
                <a:latin typeface="FrutigerNext LT Bold" pitchFamily="34" charset="0"/>
                <a:ea typeface="ＭＳ Ｐゴシック" pitchFamily="34" charset="-128"/>
              </a:rPr>
              <a:pPr defTabSz="877888"/>
              <a:t>53</a:t>
            </a:fld>
            <a:endParaRPr lang="en-US" altLang="zh-CN" smtClean="0">
              <a:latin typeface="FrutigerNext LT Bold" pitchFamily="34" charset="0"/>
              <a:ea typeface="ＭＳ Ｐゴシック" pitchFamily="34" charset="-128"/>
            </a:endParaRPr>
          </a:p>
        </p:txBody>
      </p:sp>
      <p:sp>
        <p:nvSpPr>
          <p:cNvPr id="32775" name="Rounded Rectangle 9"/>
          <p:cNvSpPr>
            <a:spLocks noChangeArrowheads="1"/>
          </p:cNvSpPr>
          <p:nvPr/>
        </p:nvSpPr>
        <p:spPr bwMode="auto">
          <a:xfrm>
            <a:off x="636040" y="3326488"/>
            <a:ext cx="2260600" cy="67310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sz="1600">
                <a:ea typeface="华文细黑" pitchFamily="2" charset="-122"/>
              </a:rPr>
              <a:t>选择需要匹配的参数 </a:t>
            </a:r>
          </a:p>
        </p:txBody>
      </p:sp>
      <p:cxnSp>
        <p:nvCxnSpPr>
          <p:cNvPr id="32776" name="Straight Arrow Connector 12"/>
          <p:cNvCxnSpPr>
            <a:cxnSpLocks noChangeShapeType="1"/>
            <a:stCxn id="32775" idx="3"/>
            <a:endCxn id="32772" idx="2"/>
          </p:cNvCxnSpPr>
          <p:nvPr/>
        </p:nvCxnSpPr>
        <p:spPr bwMode="auto">
          <a:xfrm>
            <a:off x="2896640" y="3663038"/>
            <a:ext cx="809625" cy="190500"/>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3" cstate="print"/>
          <a:srcRect/>
          <a:stretch>
            <a:fillRect/>
          </a:stretch>
        </p:blipFill>
        <p:spPr bwMode="auto">
          <a:xfrm>
            <a:off x="430213" y="1296988"/>
            <a:ext cx="8074025" cy="4770437"/>
          </a:xfrm>
          <a:prstGeom prst="rect">
            <a:avLst/>
          </a:prstGeom>
          <a:noFill/>
          <a:ln w="9525" algn="ctr">
            <a:noFill/>
            <a:miter lim="800000"/>
            <a:headEnd/>
            <a:tailEnd/>
          </a:ln>
        </p:spPr>
      </p:pic>
      <p:sp>
        <p:nvSpPr>
          <p:cNvPr id="33795" name="Oval 23"/>
          <p:cNvSpPr>
            <a:spLocks noChangeArrowheads="1"/>
          </p:cNvSpPr>
          <p:nvPr/>
        </p:nvSpPr>
        <p:spPr bwMode="auto">
          <a:xfrm>
            <a:off x="2597150" y="2008188"/>
            <a:ext cx="258763"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pic>
        <p:nvPicPr>
          <p:cNvPr id="33796" name="Picture 3"/>
          <p:cNvPicPr>
            <a:picLocks noChangeAspect="1" noChangeArrowheads="1"/>
          </p:cNvPicPr>
          <p:nvPr/>
        </p:nvPicPr>
        <p:blipFill>
          <a:blip r:embed="rId4" cstate="print"/>
          <a:srcRect/>
          <a:stretch>
            <a:fillRect/>
          </a:stretch>
        </p:blipFill>
        <p:spPr bwMode="auto">
          <a:xfrm>
            <a:off x="2787650" y="2400300"/>
            <a:ext cx="303213" cy="146050"/>
          </a:xfrm>
          <a:prstGeom prst="rect">
            <a:avLst/>
          </a:prstGeom>
          <a:noFill/>
          <a:ln w="9525" algn="ctr">
            <a:noFill/>
            <a:miter lim="800000"/>
            <a:headEnd/>
            <a:tailEnd/>
          </a:ln>
        </p:spPr>
      </p:pic>
      <p:sp>
        <p:nvSpPr>
          <p:cNvPr id="33797" name="灯片编号占位符 6"/>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52CD34D8-161A-4BB0-9331-F5E83F6BFF18}" type="slidenum">
              <a:rPr lang="en-US" altLang="zh-CN" smtClean="0">
                <a:latin typeface="FrutigerNext LT Bold" pitchFamily="34" charset="0"/>
                <a:ea typeface="ＭＳ Ｐゴシック" pitchFamily="34" charset="-128"/>
              </a:rPr>
              <a:pPr defTabSz="877888"/>
              <a:t>54</a:t>
            </a:fld>
            <a:endParaRPr lang="en-US" altLang="zh-CN" smtClean="0">
              <a:latin typeface="FrutigerNext LT Bold" pitchFamily="34" charset="0"/>
              <a:ea typeface="ＭＳ Ｐゴシック" pitchFamily="34" charset="-128"/>
            </a:endParaRPr>
          </a:p>
        </p:txBody>
      </p:sp>
      <p:sp>
        <p:nvSpPr>
          <p:cNvPr id="33798" name="Rounded Rectangle 8"/>
          <p:cNvSpPr>
            <a:spLocks noChangeArrowheads="1"/>
          </p:cNvSpPr>
          <p:nvPr/>
        </p:nvSpPr>
        <p:spPr bwMode="auto">
          <a:xfrm>
            <a:off x="4059238" y="1492250"/>
            <a:ext cx="3817937" cy="94615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匹配完成后，如果不需要编辑参数，可以点击这里以应用工程参数。</a:t>
            </a:r>
            <a:endParaRPr lang="en-US" altLang="zh-CN">
              <a:ea typeface="华文细黑" pitchFamily="2" charset="-122"/>
            </a:endParaRPr>
          </a:p>
        </p:txBody>
      </p:sp>
      <p:cxnSp>
        <p:nvCxnSpPr>
          <p:cNvPr id="33799" name="Straight Arrow Connector 10"/>
          <p:cNvCxnSpPr>
            <a:cxnSpLocks noChangeShapeType="1"/>
            <a:stCxn id="33798" idx="1"/>
            <a:endCxn id="33795" idx="6"/>
          </p:cNvCxnSpPr>
          <p:nvPr/>
        </p:nvCxnSpPr>
        <p:spPr bwMode="auto">
          <a:xfrm flipH="1">
            <a:off x="2855913" y="1965325"/>
            <a:ext cx="1203325" cy="177800"/>
          </a:xfrm>
          <a:prstGeom prst="straightConnector1">
            <a:avLst/>
          </a:prstGeom>
          <a:noFill/>
          <a:ln w="9525" algn="ctr">
            <a:solidFill>
              <a:schemeClr val="tx1"/>
            </a:solidFill>
            <a:round/>
            <a:headEnd/>
            <a:tailEnd type="arrow" w="med" len="med"/>
          </a:ln>
        </p:spPr>
      </p:cxnSp>
      <p:sp>
        <p:nvSpPr>
          <p:cNvPr id="33800" name="标题 1"/>
          <p:cNvSpPr>
            <a:spLocks/>
          </p:cNvSpPr>
          <p:nvPr/>
        </p:nvSpPr>
        <p:spPr bwMode="auto">
          <a:xfrm>
            <a:off x="603250" y="215900"/>
            <a:ext cx="7731125" cy="868363"/>
          </a:xfrm>
          <a:prstGeom prst="rect">
            <a:avLst/>
          </a:prstGeom>
          <a:noFill/>
          <a:ln w="9525">
            <a:noFill/>
            <a:miter lim="800000"/>
            <a:headEnd/>
            <a:tailEnd/>
          </a:ln>
        </p:spPr>
        <p:txBody>
          <a:bodyPr lIns="80114" tIns="40058" rIns="80114" bIns="40058" anchor="ctr"/>
          <a:lstStyle/>
          <a:p>
            <a:pPr marL="342900" indent="-342900" defTabSz="801688"/>
            <a:r>
              <a:rPr lang="zh-CN" altLang="en-US" sz="3500">
                <a:solidFill>
                  <a:srgbClr val="990000"/>
                </a:solidFill>
                <a:latin typeface="FrutigerNext LT Medium" pitchFamily="34" charset="0"/>
                <a:ea typeface="黑体" pitchFamily="49" charset="-122"/>
              </a:rPr>
              <a:t>导入工程参数</a:t>
            </a:r>
            <a:r>
              <a:rPr lang="en-US" altLang="zh-CN" sz="3500">
                <a:solidFill>
                  <a:srgbClr val="990000"/>
                </a:solidFill>
                <a:latin typeface="FrutigerNext LT Medium" pitchFamily="34" charset="0"/>
                <a:ea typeface="黑体" pitchFamily="49" charset="-122"/>
              </a:rPr>
              <a:t>: </a:t>
            </a:r>
            <a:r>
              <a:rPr lang="zh-CN" altLang="en-US" sz="3500">
                <a:solidFill>
                  <a:srgbClr val="990000"/>
                </a:solidFill>
                <a:latin typeface="FrutigerNext LT Medium" pitchFamily="34" charset="0"/>
                <a:ea typeface="黑体" pitchFamily="49" charset="-122"/>
              </a:rPr>
              <a:t>步骤</a:t>
            </a:r>
            <a:r>
              <a:rPr lang="en-US" altLang="zh-CN" sz="3500">
                <a:solidFill>
                  <a:srgbClr val="990000"/>
                </a:solidFill>
                <a:latin typeface="FrutigerNext LT Medium" pitchFamily="34" charset="0"/>
                <a:ea typeface="黑体" pitchFamily="49" charset="-122"/>
              </a:rPr>
              <a:t>5</a:t>
            </a:r>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3"/>
          <p:cNvPicPr>
            <a:picLocks noChangeAspect="1" noChangeArrowheads="1"/>
          </p:cNvPicPr>
          <p:nvPr/>
        </p:nvPicPr>
        <p:blipFill>
          <a:blip r:embed="rId3" cstate="print"/>
          <a:srcRect/>
          <a:stretch>
            <a:fillRect/>
          </a:stretch>
        </p:blipFill>
        <p:spPr bwMode="auto">
          <a:xfrm>
            <a:off x="493713" y="1371600"/>
            <a:ext cx="8083550" cy="4789488"/>
          </a:xfrm>
          <a:prstGeom prst="rect">
            <a:avLst/>
          </a:prstGeom>
          <a:noFill/>
          <a:ln w="9525" algn="ctr">
            <a:noFill/>
            <a:miter lim="800000"/>
            <a:headEnd/>
            <a:tailEnd/>
          </a:ln>
        </p:spPr>
      </p:pic>
      <p:sp>
        <p:nvSpPr>
          <p:cNvPr id="34819" name="Oval 23"/>
          <p:cNvSpPr>
            <a:spLocks noChangeArrowheads="1"/>
          </p:cNvSpPr>
          <p:nvPr/>
        </p:nvSpPr>
        <p:spPr bwMode="auto">
          <a:xfrm flipH="1" flipV="1">
            <a:off x="2055813" y="1862138"/>
            <a:ext cx="192087"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sp>
        <p:nvSpPr>
          <p:cNvPr id="34820" name="标题 1"/>
          <p:cNvSpPr>
            <a:spLocks noGrp="1"/>
          </p:cNvSpPr>
          <p:nvPr>
            <p:ph type="title"/>
          </p:nvPr>
        </p:nvSpPr>
        <p:spPr/>
        <p:txBody>
          <a:bodyPr/>
          <a:lstStyle/>
          <a:p>
            <a:pPr marL="342900" indent="-342900" eaLnBrk="1" hangingPunct="1"/>
            <a:r>
              <a:rPr lang="zh-CN" altLang="en-US" smtClean="0"/>
              <a:t>导入地图</a:t>
            </a:r>
            <a:r>
              <a:rPr lang="en-US" altLang="zh-CN" smtClean="0"/>
              <a:t>:</a:t>
            </a:r>
            <a:r>
              <a:rPr lang="zh-CN" altLang="en-US" smtClean="0"/>
              <a:t>步骤</a:t>
            </a:r>
            <a:r>
              <a:rPr lang="en-US" altLang="zh-CN" smtClean="0"/>
              <a:t>1</a:t>
            </a:r>
          </a:p>
        </p:txBody>
      </p:sp>
      <p:sp>
        <p:nvSpPr>
          <p:cNvPr id="34821" name="灯片编号占位符 6"/>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9F59DA89-1B3B-4934-87CB-29B4D7791818}" type="slidenum">
              <a:rPr lang="en-US" altLang="zh-CN" smtClean="0">
                <a:latin typeface="FrutigerNext LT Bold" pitchFamily="34" charset="0"/>
                <a:ea typeface="ＭＳ Ｐゴシック" pitchFamily="34" charset="-128"/>
              </a:rPr>
              <a:pPr defTabSz="877888"/>
              <a:t>55</a:t>
            </a:fld>
            <a:endParaRPr lang="en-US" altLang="zh-CN" smtClean="0">
              <a:latin typeface="FrutigerNext LT Bold" pitchFamily="34" charset="0"/>
              <a:ea typeface="ＭＳ Ｐゴシック" pitchFamily="34" charset="-128"/>
            </a:endParaRPr>
          </a:p>
        </p:txBody>
      </p:sp>
      <p:sp>
        <p:nvSpPr>
          <p:cNvPr id="34822" name="Rounded Rectangle 8"/>
          <p:cNvSpPr>
            <a:spLocks noChangeArrowheads="1"/>
          </p:cNvSpPr>
          <p:nvPr/>
        </p:nvSpPr>
        <p:spPr bwMode="auto">
          <a:xfrm>
            <a:off x="3689350" y="1984375"/>
            <a:ext cx="2617788" cy="434975"/>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点击这里打开地图窗口</a:t>
            </a:r>
          </a:p>
        </p:txBody>
      </p:sp>
      <p:cxnSp>
        <p:nvCxnSpPr>
          <p:cNvPr id="34823" name="Straight Arrow Connector 10"/>
          <p:cNvCxnSpPr>
            <a:cxnSpLocks noChangeShapeType="1"/>
            <a:stCxn id="34822" idx="1"/>
            <a:endCxn id="34819" idx="2"/>
          </p:cNvCxnSpPr>
          <p:nvPr/>
        </p:nvCxnSpPr>
        <p:spPr bwMode="auto">
          <a:xfrm flipH="1" flipV="1">
            <a:off x="2262188" y="1997075"/>
            <a:ext cx="1427162" cy="204788"/>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3" cstate="print"/>
          <a:srcRect/>
          <a:stretch>
            <a:fillRect/>
          </a:stretch>
        </p:blipFill>
        <p:spPr bwMode="auto">
          <a:xfrm>
            <a:off x="493713" y="1371600"/>
            <a:ext cx="8118475" cy="4772025"/>
          </a:xfrm>
          <a:prstGeom prst="rect">
            <a:avLst/>
          </a:prstGeom>
          <a:noFill/>
          <a:ln w="9525" algn="ctr">
            <a:noFill/>
            <a:miter lim="800000"/>
            <a:headEnd/>
            <a:tailEnd/>
          </a:ln>
        </p:spPr>
      </p:pic>
      <p:sp>
        <p:nvSpPr>
          <p:cNvPr id="35843" name="Oval 23"/>
          <p:cNvSpPr>
            <a:spLocks noChangeArrowheads="1"/>
          </p:cNvSpPr>
          <p:nvPr/>
        </p:nvSpPr>
        <p:spPr bwMode="auto">
          <a:xfrm>
            <a:off x="2341563" y="2108200"/>
            <a:ext cx="192087"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pic>
        <p:nvPicPr>
          <p:cNvPr id="35844" name="Picture 7"/>
          <p:cNvPicPr>
            <a:picLocks noChangeAspect="1" noChangeArrowheads="1"/>
          </p:cNvPicPr>
          <p:nvPr/>
        </p:nvPicPr>
        <p:blipFill>
          <a:blip r:embed="rId4" cstate="print"/>
          <a:srcRect/>
          <a:stretch>
            <a:fillRect/>
          </a:stretch>
        </p:blipFill>
        <p:spPr bwMode="auto">
          <a:xfrm>
            <a:off x="3170238" y="2057400"/>
            <a:ext cx="4754562" cy="3736975"/>
          </a:xfrm>
          <a:prstGeom prst="rect">
            <a:avLst/>
          </a:prstGeom>
          <a:noFill/>
          <a:ln w="9525" algn="ctr">
            <a:noFill/>
            <a:miter lim="800000"/>
            <a:headEnd/>
            <a:tailEnd/>
          </a:ln>
        </p:spPr>
      </p:pic>
      <p:cxnSp>
        <p:nvCxnSpPr>
          <p:cNvPr id="35845" name="直接箭头连接符 8"/>
          <p:cNvCxnSpPr>
            <a:cxnSpLocks noChangeShapeType="1"/>
            <a:stCxn id="35843" idx="5"/>
          </p:cNvCxnSpPr>
          <p:nvPr/>
        </p:nvCxnSpPr>
        <p:spPr bwMode="auto">
          <a:xfrm>
            <a:off x="2505075" y="2338388"/>
            <a:ext cx="695325" cy="423862"/>
          </a:xfrm>
          <a:prstGeom prst="straightConnector1">
            <a:avLst/>
          </a:prstGeom>
          <a:noFill/>
          <a:ln w="25400" algn="ctr">
            <a:solidFill>
              <a:srgbClr val="FF0000"/>
            </a:solidFill>
            <a:round/>
            <a:headEnd/>
            <a:tailEnd type="arrow" w="med" len="med"/>
          </a:ln>
        </p:spPr>
      </p:cxnSp>
      <p:sp>
        <p:nvSpPr>
          <p:cNvPr id="35846" name="灯片编号占位符 9"/>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EA49CB17-312A-4957-ADD7-296A715ABEA3}" type="slidenum">
              <a:rPr lang="en-US" altLang="zh-CN" smtClean="0">
                <a:latin typeface="FrutigerNext LT Bold" pitchFamily="34" charset="0"/>
                <a:ea typeface="ＭＳ Ｐゴシック" pitchFamily="34" charset="-128"/>
              </a:rPr>
              <a:pPr defTabSz="877888"/>
              <a:t>56</a:t>
            </a:fld>
            <a:endParaRPr lang="en-US" altLang="zh-CN" smtClean="0">
              <a:latin typeface="FrutigerNext LT Bold" pitchFamily="34" charset="0"/>
              <a:ea typeface="ＭＳ Ｐゴシック" pitchFamily="34" charset="-128"/>
            </a:endParaRPr>
          </a:p>
        </p:txBody>
      </p:sp>
      <p:sp>
        <p:nvSpPr>
          <p:cNvPr id="35847" name="Rounded Rectangle 13"/>
          <p:cNvSpPr>
            <a:spLocks noChangeArrowheads="1"/>
          </p:cNvSpPr>
          <p:nvPr/>
        </p:nvSpPr>
        <p:spPr bwMode="auto">
          <a:xfrm>
            <a:off x="342900" y="3219450"/>
            <a:ext cx="2286000" cy="685800"/>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1. </a:t>
            </a:r>
            <a:r>
              <a:rPr lang="zh-CN" altLang="en-US">
                <a:ea typeface="华文细黑" pitchFamily="2" charset="-122"/>
              </a:rPr>
              <a:t>点击这里打开</a:t>
            </a:r>
            <a:r>
              <a:rPr lang="zh-CN" altLang="en-US" b="1" i="1">
                <a:ea typeface="华文细黑" pitchFamily="2" charset="-122"/>
              </a:rPr>
              <a:t> </a:t>
            </a:r>
            <a:r>
              <a:rPr lang="en-US" altLang="zh-CN" b="1" i="1">
                <a:ea typeface="华文细黑" pitchFamily="2" charset="-122"/>
              </a:rPr>
              <a:t>geoset</a:t>
            </a:r>
            <a:r>
              <a:rPr lang="zh-CN" altLang="en-US" b="1" i="1">
                <a:ea typeface="华文细黑" pitchFamily="2" charset="-122"/>
              </a:rPr>
              <a:t>文件</a:t>
            </a:r>
          </a:p>
        </p:txBody>
      </p:sp>
      <p:cxnSp>
        <p:nvCxnSpPr>
          <p:cNvPr id="35848" name="Straight Arrow Connector 15"/>
          <p:cNvCxnSpPr>
            <a:cxnSpLocks noChangeShapeType="1"/>
            <a:stCxn id="35847" idx="0"/>
            <a:endCxn id="35843" idx="4"/>
          </p:cNvCxnSpPr>
          <p:nvPr/>
        </p:nvCxnSpPr>
        <p:spPr bwMode="auto">
          <a:xfrm flipV="1">
            <a:off x="1485900" y="2378075"/>
            <a:ext cx="950913" cy="841375"/>
          </a:xfrm>
          <a:prstGeom prst="straightConnector1">
            <a:avLst/>
          </a:prstGeom>
          <a:noFill/>
          <a:ln w="9525" algn="ctr">
            <a:solidFill>
              <a:schemeClr val="tx1"/>
            </a:solidFill>
            <a:round/>
            <a:headEnd/>
            <a:tailEnd type="arrow" w="med" len="med"/>
          </a:ln>
        </p:spPr>
      </p:cxnSp>
      <p:sp>
        <p:nvSpPr>
          <p:cNvPr id="35849" name="Rounded Rectangle 20"/>
          <p:cNvSpPr>
            <a:spLocks noChangeArrowheads="1"/>
          </p:cNvSpPr>
          <p:nvPr/>
        </p:nvSpPr>
        <p:spPr bwMode="auto">
          <a:xfrm>
            <a:off x="4038600" y="2667000"/>
            <a:ext cx="1447800" cy="2000250"/>
          </a:xfrm>
          <a:prstGeom prst="roundRect">
            <a:avLst>
              <a:gd name="adj" fmla="val 16667"/>
            </a:avLst>
          </a:prstGeom>
          <a:noFill/>
          <a:ln w="28575" algn="ctr">
            <a:solidFill>
              <a:srgbClr val="FF0000"/>
            </a:solidFill>
            <a:round/>
            <a:headEnd/>
            <a:tailEnd/>
          </a:ln>
        </p:spPr>
        <p:txBody>
          <a:bodyPr/>
          <a:lstStyle/>
          <a:p>
            <a:pPr fontAlgn="t"/>
            <a:endParaRPr lang="en-US" altLang="zh-CN">
              <a:ea typeface="华文细黑" pitchFamily="2" charset="-122"/>
            </a:endParaRPr>
          </a:p>
        </p:txBody>
      </p:sp>
      <p:sp>
        <p:nvSpPr>
          <p:cNvPr id="35850" name="Rounded Rectangle 21"/>
          <p:cNvSpPr>
            <a:spLocks noChangeArrowheads="1"/>
          </p:cNvSpPr>
          <p:nvPr/>
        </p:nvSpPr>
        <p:spPr bwMode="auto">
          <a:xfrm>
            <a:off x="6153150" y="3524250"/>
            <a:ext cx="1847850" cy="723900"/>
          </a:xfrm>
          <a:prstGeom prst="roundRect">
            <a:avLst>
              <a:gd name="adj" fmla="val 16667"/>
            </a:avLst>
          </a:prstGeom>
          <a:solidFill>
            <a:schemeClr val="accent1"/>
          </a:solidFill>
          <a:ln w="9525" algn="ctr">
            <a:solidFill>
              <a:schemeClr val="tx1"/>
            </a:solidFill>
            <a:round/>
            <a:headEnd/>
            <a:tailEnd/>
          </a:ln>
        </p:spPr>
        <p:txBody>
          <a:bodyPr/>
          <a:lstStyle/>
          <a:p>
            <a:pPr fontAlgn="t"/>
            <a:r>
              <a:rPr lang="en-US" altLang="zh-CN">
                <a:ea typeface="华文细黑" pitchFamily="2" charset="-122"/>
              </a:rPr>
              <a:t>2. </a:t>
            </a:r>
            <a:r>
              <a:rPr lang="zh-CN" altLang="en-US">
                <a:ea typeface="华文细黑" pitchFamily="2" charset="-122"/>
              </a:rPr>
              <a:t>选择需要打开的文件</a:t>
            </a:r>
          </a:p>
        </p:txBody>
      </p:sp>
      <p:cxnSp>
        <p:nvCxnSpPr>
          <p:cNvPr id="35851" name="Straight Arrow Connector 23"/>
          <p:cNvCxnSpPr>
            <a:cxnSpLocks noChangeShapeType="1"/>
            <a:stCxn id="35850" idx="1"/>
            <a:endCxn id="35849" idx="3"/>
          </p:cNvCxnSpPr>
          <p:nvPr/>
        </p:nvCxnSpPr>
        <p:spPr bwMode="auto">
          <a:xfrm flipH="1" flipV="1">
            <a:off x="5486400" y="3667125"/>
            <a:ext cx="666750" cy="219075"/>
          </a:xfrm>
          <a:prstGeom prst="straightConnector1">
            <a:avLst/>
          </a:prstGeom>
          <a:noFill/>
          <a:ln w="9525" algn="ctr">
            <a:solidFill>
              <a:schemeClr val="tx1"/>
            </a:solidFill>
            <a:round/>
            <a:headEnd/>
            <a:tailEnd type="arrow" w="med" len="med"/>
          </a:ln>
        </p:spPr>
      </p:cxnSp>
      <p:sp>
        <p:nvSpPr>
          <p:cNvPr id="35852" name="标题 1"/>
          <p:cNvSpPr>
            <a:spLocks/>
          </p:cNvSpPr>
          <p:nvPr/>
        </p:nvSpPr>
        <p:spPr bwMode="auto">
          <a:xfrm>
            <a:off x="641350" y="358775"/>
            <a:ext cx="7731125" cy="868363"/>
          </a:xfrm>
          <a:prstGeom prst="rect">
            <a:avLst/>
          </a:prstGeom>
          <a:noFill/>
          <a:ln w="9525">
            <a:noFill/>
            <a:miter lim="800000"/>
            <a:headEnd/>
            <a:tailEnd/>
          </a:ln>
        </p:spPr>
        <p:txBody>
          <a:bodyPr lIns="80114" tIns="40058" rIns="80114" bIns="40058" anchor="ctr"/>
          <a:lstStyle/>
          <a:p>
            <a:pPr marL="342900" indent="-342900" defTabSz="801688"/>
            <a:r>
              <a:rPr lang="zh-CN" altLang="en-US" sz="3500">
                <a:solidFill>
                  <a:srgbClr val="990000"/>
                </a:solidFill>
                <a:latin typeface="FrutigerNext LT Medium" pitchFamily="34" charset="0"/>
                <a:ea typeface="黑体" pitchFamily="49" charset="-122"/>
              </a:rPr>
              <a:t>导入地图</a:t>
            </a:r>
            <a:r>
              <a:rPr lang="en-US" altLang="zh-CN" sz="3500">
                <a:solidFill>
                  <a:srgbClr val="990000"/>
                </a:solidFill>
                <a:latin typeface="FrutigerNext LT Medium" pitchFamily="34" charset="0"/>
                <a:ea typeface="黑体" pitchFamily="49" charset="-122"/>
              </a:rPr>
              <a:t>:</a:t>
            </a:r>
            <a:r>
              <a:rPr lang="zh-CN" altLang="en-US" sz="3500">
                <a:solidFill>
                  <a:srgbClr val="990000"/>
                </a:solidFill>
                <a:latin typeface="FrutigerNext LT Medium" pitchFamily="34" charset="0"/>
                <a:ea typeface="黑体" pitchFamily="49" charset="-122"/>
              </a:rPr>
              <a:t>步骤</a:t>
            </a:r>
            <a:r>
              <a:rPr lang="en-US" altLang="zh-CN" sz="3500">
                <a:solidFill>
                  <a:srgbClr val="990000"/>
                </a:solidFill>
                <a:latin typeface="FrutigerNext LT Medium" pitchFamily="34" charset="0"/>
                <a:ea typeface="黑体" pitchFamily="49" charset="-122"/>
              </a:rPr>
              <a:t>2</a:t>
            </a:r>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5"/>
          <p:cNvPicPr>
            <a:picLocks noChangeAspect="1" noChangeArrowheads="1"/>
          </p:cNvPicPr>
          <p:nvPr/>
        </p:nvPicPr>
        <p:blipFill>
          <a:blip r:embed="rId3" cstate="print"/>
          <a:srcRect/>
          <a:stretch>
            <a:fillRect/>
          </a:stretch>
        </p:blipFill>
        <p:spPr bwMode="auto">
          <a:xfrm>
            <a:off x="557213" y="1303338"/>
            <a:ext cx="8101012" cy="4808537"/>
          </a:xfrm>
          <a:prstGeom prst="rect">
            <a:avLst/>
          </a:prstGeom>
          <a:noFill/>
          <a:ln w="9525" algn="ctr">
            <a:noFill/>
            <a:miter lim="800000"/>
            <a:headEnd/>
            <a:tailEnd/>
          </a:ln>
        </p:spPr>
      </p:pic>
      <p:sp>
        <p:nvSpPr>
          <p:cNvPr id="36867" name="Oval 23"/>
          <p:cNvSpPr>
            <a:spLocks noChangeArrowheads="1"/>
          </p:cNvSpPr>
          <p:nvPr/>
        </p:nvSpPr>
        <p:spPr bwMode="auto">
          <a:xfrm>
            <a:off x="2914650" y="1997075"/>
            <a:ext cx="192088"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pic>
        <p:nvPicPr>
          <p:cNvPr id="36868" name="Picture 6"/>
          <p:cNvPicPr>
            <a:picLocks noChangeAspect="1" noChangeArrowheads="1"/>
          </p:cNvPicPr>
          <p:nvPr/>
        </p:nvPicPr>
        <p:blipFill>
          <a:blip r:embed="rId4" cstate="print"/>
          <a:srcRect/>
          <a:stretch>
            <a:fillRect/>
          </a:stretch>
        </p:blipFill>
        <p:spPr bwMode="auto">
          <a:xfrm>
            <a:off x="4379913" y="2263775"/>
            <a:ext cx="2470150" cy="3275013"/>
          </a:xfrm>
          <a:prstGeom prst="rect">
            <a:avLst/>
          </a:prstGeom>
          <a:noFill/>
          <a:ln w="9525" algn="ctr">
            <a:noFill/>
            <a:miter lim="800000"/>
            <a:headEnd/>
            <a:tailEnd/>
          </a:ln>
        </p:spPr>
      </p:pic>
      <p:sp>
        <p:nvSpPr>
          <p:cNvPr id="36869" name="Oval 23"/>
          <p:cNvSpPr>
            <a:spLocks noChangeArrowheads="1"/>
          </p:cNvSpPr>
          <p:nvPr/>
        </p:nvSpPr>
        <p:spPr bwMode="auto">
          <a:xfrm>
            <a:off x="7185025" y="2203450"/>
            <a:ext cx="1320800"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sp>
        <p:nvSpPr>
          <p:cNvPr id="36870" name="灯片编号占位符 8"/>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9BBE6964-6D75-408C-868A-3EF91CD0958B}" type="slidenum">
              <a:rPr lang="en-US" altLang="zh-CN" smtClean="0">
                <a:latin typeface="FrutigerNext LT Bold" pitchFamily="34" charset="0"/>
                <a:ea typeface="ＭＳ Ｐゴシック" pitchFamily="34" charset="-128"/>
              </a:rPr>
              <a:pPr defTabSz="877888"/>
              <a:t>57</a:t>
            </a:fld>
            <a:endParaRPr lang="en-US" altLang="zh-CN" smtClean="0">
              <a:latin typeface="FrutigerNext LT Bold" pitchFamily="34" charset="0"/>
              <a:ea typeface="ＭＳ Ｐゴシック" pitchFamily="34" charset="-128"/>
            </a:endParaRPr>
          </a:p>
        </p:txBody>
      </p:sp>
      <p:sp>
        <p:nvSpPr>
          <p:cNvPr id="36871" name="Rounded Rectangle 10"/>
          <p:cNvSpPr>
            <a:spLocks noChangeArrowheads="1"/>
          </p:cNvSpPr>
          <p:nvPr/>
        </p:nvSpPr>
        <p:spPr bwMode="auto">
          <a:xfrm>
            <a:off x="857250" y="3086100"/>
            <a:ext cx="2381250" cy="76200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如果需要，点击这里对图层进行控制。</a:t>
            </a:r>
            <a:endParaRPr lang="en-US" altLang="zh-CN" b="1" i="1">
              <a:ea typeface="华文细黑" pitchFamily="2" charset="-122"/>
            </a:endParaRPr>
          </a:p>
        </p:txBody>
      </p:sp>
      <p:cxnSp>
        <p:nvCxnSpPr>
          <p:cNvPr id="36872" name="Straight Arrow Connector 12"/>
          <p:cNvCxnSpPr>
            <a:cxnSpLocks noChangeShapeType="1"/>
            <a:stCxn id="36871" idx="0"/>
            <a:endCxn id="36867" idx="3"/>
          </p:cNvCxnSpPr>
          <p:nvPr/>
        </p:nvCxnSpPr>
        <p:spPr bwMode="auto">
          <a:xfrm flipV="1">
            <a:off x="2047875" y="2227263"/>
            <a:ext cx="895350" cy="858837"/>
          </a:xfrm>
          <a:prstGeom prst="straightConnector1">
            <a:avLst/>
          </a:prstGeom>
          <a:noFill/>
          <a:ln w="9525" algn="ctr">
            <a:solidFill>
              <a:schemeClr val="tx1"/>
            </a:solidFill>
            <a:round/>
            <a:headEnd/>
            <a:tailEnd type="arrow" w="med" len="med"/>
          </a:ln>
        </p:spPr>
      </p:cxnSp>
      <p:sp>
        <p:nvSpPr>
          <p:cNvPr id="36873" name="标题 1"/>
          <p:cNvSpPr>
            <a:spLocks/>
          </p:cNvSpPr>
          <p:nvPr/>
        </p:nvSpPr>
        <p:spPr bwMode="auto">
          <a:xfrm>
            <a:off x="641350" y="358775"/>
            <a:ext cx="7731125" cy="868363"/>
          </a:xfrm>
          <a:prstGeom prst="rect">
            <a:avLst/>
          </a:prstGeom>
          <a:noFill/>
          <a:ln w="9525">
            <a:noFill/>
            <a:miter lim="800000"/>
            <a:headEnd/>
            <a:tailEnd/>
          </a:ln>
        </p:spPr>
        <p:txBody>
          <a:bodyPr lIns="80114" tIns="40058" rIns="80114" bIns="40058" anchor="ctr"/>
          <a:lstStyle/>
          <a:p>
            <a:pPr marL="342900" indent="-342900" defTabSz="801688"/>
            <a:r>
              <a:rPr lang="zh-CN" altLang="en-US" sz="3500">
                <a:solidFill>
                  <a:srgbClr val="990000"/>
                </a:solidFill>
                <a:latin typeface="FrutigerNext LT Medium" pitchFamily="34" charset="0"/>
                <a:ea typeface="黑体" pitchFamily="49" charset="-122"/>
              </a:rPr>
              <a:t>导入地图</a:t>
            </a:r>
            <a:r>
              <a:rPr lang="en-US" altLang="zh-CN" sz="3500">
                <a:solidFill>
                  <a:srgbClr val="990000"/>
                </a:solidFill>
                <a:latin typeface="FrutigerNext LT Medium" pitchFamily="34" charset="0"/>
                <a:ea typeface="黑体" pitchFamily="49" charset="-122"/>
              </a:rPr>
              <a:t>:</a:t>
            </a:r>
            <a:r>
              <a:rPr lang="zh-CN" altLang="en-US" sz="3500">
                <a:solidFill>
                  <a:srgbClr val="990000"/>
                </a:solidFill>
                <a:latin typeface="FrutigerNext LT Medium" pitchFamily="34" charset="0"/>
                <a:ea typeface="黑体" pitchFamily="49" charset="-122"/>
              </a:rPr>
              <a:t>步骤</a:t>
            </a:r>
            <a:r>
              <a:rPr lang="en-US" altLang="zh-CN" sz="3500">
                <a:solidFill>
                  <a:srgbClr val="990000"/>
                </a:solidFill>
                <a:latin typeface="FrutigerNext LT Medium" pitchFamily="34" charset="0"/>
                <a:ea typeface="黑体" pitchFamily="49" charset="-122"/>
              </a:rPr>
              <a:t>3</a:t>
            </a:r>
          </a:p>
        </p:txBody>
      </p:sp>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19100" indent="-419100">
              <a:buClr>
                <a:schemeClr val="tx1"/>
              </a:buClr>
              <a:buSzTx/>
              <a:buFont typeface="Wingdings" pitchFamily="2" charset="2"/>
              <a:buAutoNum type="arabicPeriod"/>
              <a:defRPr/>
            </a:pPr>
            <a:r>
              <a:rPr lang="zh-CN" altLang="en-US" dirty="0" smtClean="0">
                <a:solidFill>
                  <a:srgbClr val="777777"/>
                </a:solidFill>
              </a:rPr>
              <a:t>概述</a:t>
            </a:r>
            <a:endParaRPr lang="en-US" altLang="zh-CN" dirty="0" smtClean="0">
              <a:solidFill>
                <a:srgbClr val="777777"/>
              </a:solidFill>
            </a:endParaRPr>
          </a:p>
          <a:p>
            <a:pPr marL="419100" indent="-419100">
              <a:buClr>
                <a:schemeClr val="tx1"/>
              </a:buClr>
              <a:buSzTx/>
              <a:buFont typeface="Wingdings" pitchFamily="2" charset="2"/>
              <a:buAutoNum type="arabicPeriod"/>
              <a:defRPr/>
            </a:pPr>
            <a:r>
              <a:rPr lang="zh-CN" altLang="en-US" dirty="0" smtClean="0">
                <a:solidFill>
                  <a:srgbClr val="777777"/>
                </a:solidFill>
              </a:rPr>
              <a:t>单站验证准备</a:t>
            </a:r>
            <a:endParaRPr lang="en-US" altLang="zh-CN" dirty="0" smtClean="0">
              <a:solidFill>
                <a:srgbClr val="777777"/>
              </a:solidFill>
            </a:endParaRPr>
          </a:p>
          <a:p>
            <a:pPr marL="419100" indent="-419100">
              <a:buClr>
                <a:schemeClr val="tx1"/>
              </a:buClr>
              <a:buSzTx/>
              <a:buFont typeface="Wingdings" pitchFamily="2" charset="2"/>
              <a:buAutoNum type="arabicPeriod"/>
              <a:defRPr/>
            </a:pPr>
            <a:r>
              <a:rPr lang="en-US" altLang="zh-CN" b="1" dirty="0" smtClean="0"/>
              <a:t>LTE</a:t>
            </a:r>
            <a:r>
              <a:rPr lang="zh-CN" altLang="en-US" b="1" dirty="0" smtClean="0"/>
              <a:t>单站验证项目</a:t>
            </a:r>
            <a:endParaRPr lang="en-US" altLang="zh-CN" b="1"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58</a:t>
            </a:fld>
            <a:endParaRPr lang="en-US" altLang="zh-CN"/>
          </a:p>
        </p:txBody>
      </p:sp>
    </p:spTree>
  </p:cSld>
  <p:clrMapOvr>
    <a:masterClrMapping/>
  </p:clrMapOvr>
  <p:transition advClick="0" advTm="8000"/>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4"/>
              <a:defRPr/>
            </a:pPr>
            <a:r>
              <a:rPr lang="en-US" altLang="zh-CN" b="1" dirty="0" smtClean="0"/>
              <a:t>LTE</a:t>
            </a:r>
            <a:r>
              <a:rPr lang="zh-CN" altLang="en-US" b="1" dirty="0" smtClean="0"/>
              <a:t>单站验证项目</a:t>
            </a:r>
            <a:endParaRPr lang="en-US" altLang="zh-CN" b="1" dirty="0" smtClean="0"/>
          </a:p>
          <a:p>
            <a:pPr marL="457200" indent="-457200">
              <a:buClr>
                <a:schemeClr val="tx1"/>
              </a:buClr>
              <a:buSzTx/>
              <a:buNone/>
              <a:defRPr/>
            </a:pPr>
            <a:r>
              <a:rPr lang="en-US" altLang="zh-CN" dirty="0" smtClean="0"/>
              <a:t>	4.1  DT</a:t>
            </a:r>
            <a:r>
              <a:rPr lang="zh-CN" altLang="en-US" dirty="0" smtClean="0"/>
              <a:t>覆盖测试</a:t>
            </a:r>
            <a:endParaRPr lang="en-US" altLang="zh-CN" dirty="0" smtClean="0"/>
          </a:p>
          <a:p>
            <a:pPr marL="457200" indent="-457200">
              <a:buClr>
                <a:schemeClr val="tx1"/>
              </a:buClr>
              <a:buSzTx/>
              <a:buNone/>
              <a:defRPr/>
            </a:pPr>
            <a:r>
              <a:rPr lang="en-US" altLang="zh-CN" dirty="0" smtClean="0">
                <a:solidFill>
                  <a:schemeClr val="bg1">
                    <a:lumMod val="75000"/>
                  </a:schemeClr>
                </a:solidFill>
              </a:rPr>
              <a:t>	4.2  LTE</a:t>
            </a:r>
            <a:r>
              <a:rPr lang="zh-CN" altLang="zh-CN" dirty="0" smtClean="0">
                <a:solidFill>
                  <a:schemeClr val="bg1">
                    <a:lumMod val="75000"/>
                  </a:schemeClr>
                </a:solidFill>
              </a:rPr>
              <a:t>接入功能测试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4.3  LTE Ping</a:t>
            </a:r>
            <a:r>
              <a:rPr lang="zh-CN" altLang="zh-CN"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4.4  LTE FTP</a:t>
            </a:r>
            <a:r>
              <a:rPr lang="zh-CN" altLang="en-US"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4.5  LTE </a:t>
            </a:r>
            <a:r>
              <a:rPr lang="zh-CN" altLang="zh-CN" dirty="0" smtClean="0">
                <a:solidFill>
                  <a:schemeClr val="bg1">
                    <a:lumMod val="75000"/>
                  </a:schemeClr>
                </a:solidFill>
              </a:rPr>
              <a:t>站内切换验证测试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85000"/>
                  </a:schemeClr>
                </a:solidFill>
              </a:rPr>
              <a:t>	4.6  LTE</a:t>
            </a:r>
            <a:r>
              <a:rPr lang="zh-CN" altLang="en-US" dirty="0" smtClean="0">
                <a:solidFill>
                  <a:schemeClr val="bg1">
                    <a:lumMod val="85000"/>
                  </a:schemeClr>
                </a:solidFill>
              </a:rPr>
              <a:t>传输测试</a:t>
            </a:r>
            <a:endParaRPr lang="en-US" altLang="zh-CN" dirty="0" smtClean="0">
              <a:solidFill>
                <a:schemeClr val="bg1">
                  <a:lumMod val="85000"/>
                </a:schemeClr>
              </a:solidFill>
            </a:endParaRPr>
          </a:p>
          <a:p>
            <a:pPr marL="457200" indent="-457200">
              <a:buClr>
                <a:schemeClr val="tx1"/>
              </a:buClr>
              <a:buSzTx/>
              <a:buNone/>
              <a:defRPr/>
            </a:pPr>
            <a:r>
              <a:rPr lang="en-US" altLang="zh-CN" dirty="0" smtClean="0">
                <a:solidFill>
                  <a:schemeClr val="bg1">
                    <a:lumMod val="85000"/>
                  </a:schemeClr>
                </a:solidFill>
              </a:rPr>
              <a:t>	4.7  LTE</a:t>
            </a:r>
            <a:r>
              <a:rPr lang="zh-CN" altLang="en-US" dirty="0" smtClean="0">
                <a:solidFill>
                  <a:schemeClr val="bg1">
                    <a:lumMod val="85000"/>
                  </a:schemeClr>
                </a:solidFill>
              </a:rPr>
              <a:t>站点上下行吞吐率测试</a:t>
            </a:r>
            <a:endParaRPr lang="zh-CN" altLang="zh-CN" dirty="0" smtClean="0">
              <a:solidFill>
                <a:schemeClr val="bg1">
                  <a:lumMod val="75000"/>
                </a:schemeClr>
              </a:solidFill>
            </a:endParaRPr>
          </a:p>
          <a:p>
            <a:pPr marL="457200" indent="-457200">
              <a:buClr>
                <a:schemeClr val="tx1"/>
              </a:buClr>
              <a:buSzTx/>
              <a:buNone/>
              <a:defRPr/>
            </a:pPr>
            <a:endParaRPr lang="zh-CN" altLang="zh-CN" dirty="0" smtClean="0">
              <a:solidFill>
                <a:srgbClr val="777777"/>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en-US" altLang="zh-CN"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59</a:t>
            </a:fld>
            <a:endParaRPr lang="en-US" altLang="zh-CN"/>
          </a:p>
        </p:txBody>
      </p:sp>
    </p:spTree>
  </p:cSld>
  <p:clrMapOvr>
    <a:masterClrMapping/>
  </p:clrMapOvr>
  <p:transition advClick="0" advTm="8000"/>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a:xfrm>
            <a:off x="641350" y="138113"/>
            <a:ext cx="7731125" cy="868362"/>
          </a:xfrm>
        </p:spPr>
        <p:txBody>
          <a:bodyPr/>
          <a:lstStyle/>
          <a:p>
            <a:pPr eaLnBrk="1" hangingPunct="1"/>
            <a:r>
              <a:rPr lang="zh-CN" altLang="en-US" smtClean="0"/>
              <a:t>配置测试计划</a:t>
            </a:r>
          </a:p>
        </p:txBody>
      </p:sp>
      <p:pic>
        <p:nvPicPr>
          <p:cNvPr id="39939" name="Picture 2"/>
          <p:cNvPicPr>
            <a:picLocks noChangeAspect="1" noChangeArrowheads="1"/>
          </p:cNvPicPr>
          <p:nvPr/>
        </p:nvPicPr>
        <p:blipFill>
          <a:blip r:embed="rId3" cstate="print"/>
          <a:srcRect/>
          <a:stretch>
            <a:fillRect/>
          </a:stretch>
        </p:blipFill>
        <p:spPr bwMode="auto">
          <a:xfrm>
            <a:off x="620713" y="1116013"/>
            <a:ext cx="8221662" cy="4978400"/>
          </a:xfrm>
          <a:prstGeom prst="rect">
            <a:avLst/>
          </a:prstGeom>
          <a:noFill/>
          <a:ln w="9525" algn="ctr">
            <a:noFill/>
            <a:miter lim="800000"/>
            <a:headEnd/>
            <a:tailEnd/>
          </a:ln>
        </p:spPr>
      </p:pic>
      <p:pic>
        <p:nvPicPr>
          <p:cNvPr id="39940" name="Picture 5"/>
          <p:cNvPicPr>
            <a:picLocks noChangeAspect="1" noChangeArrowheads="1"/>
          </p:cNvPicPr>
          <p:nvPr/>
        </p:nvPicPr>
        <p:blipFill>
          <a:blip r:embed="rId4" cstate="print"/>
          <a:srcRect/>
          <a:stretch>
            <a:fillRect/>
          </a:stretch>
        </p:blipFill>
        <p:spPr bwMode="auto">
          <a:xfrm>
            <a:off x="1768475" y="1663700"/>
            <a:ext cx="1179513" cy="136525"/>
          </a:xfrm>
          <a:prstGeom prst="rect">
            <a:avLst/>
          </a:prstGeom>
          <a:noFill/>
          <a:ln w="9525" algn="ctr">
            <a:noFill/>
            <a:miter lim="800000"/>
            <a:headEnd/>
            <a:tailEnd/>
          </a:ln>
        </p:spPr>
      </p:pic>
      <p:sp>
        <p:nvSpPr>
          <p:cNvPr id="39941" name="Oval 23"/>
          <p:cNvSpPr>
            <a:spLocks noChangeArrowheads="1"/>
          </p:cNvSpPr>
          <p:nvPr/>
        </p:nvSpPr>
        <p:spPr bwMode="auto">
          <a:xfrm>
            <a:off x="1577975" y="1398588"/>
            <a:ext cx="190500"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sp>
        <p:nvSpPr>
          <p:cNvPr id="39942" name="矩形 6"/>
          <p:cNvSpPr>
            <a:spLocks noChangeArrowheads="1"/>
          </p:cNvSpPr>
          <p:nvPr/>
        </p:nvSpPr>
        <p:spPr bwMode="auto">
          <a:xfrm>
            <a:off x="1958975" y="1938338"/>
            <a:ext cx="2357438" cy="369887"/>
          </a:xfrm>
          <a:prstGeom prst="rect">
            <a:avLst/>
          </a:prstGeom>
          <a:noFill/>
          <a:ln w="9525" algn="ctr">
            <a:noFill/>
            <a:round/>
            <a:headEnd/>
            <a:tailEnd/>
          </a:ln>
        </p:spPr>
        <p:txBody>
          <a:bodyPr lIns="91418" tIns="45709" rIns="91418" bIns="45709">
            <a:spAutoFit/>
          </a:bodyPr>
          <a:lstStyle/>
          <a:p>
            <a:pPr defTabSz="912813" fontAlgn="t"/>
            <a:endParaRPr lang="zh-CN" altLang="en-US">
              <a:ea typeface="华文细黑" pitchFamily="2" charset="-122"/>
            </a:endParaRPr>
          </a:p>
        </p:txBody>
      </p:sp>
      <p:sp>
        <p:nvSpPr>
          <p:cNvPr id="39943" name="矩形 7"/>
          <p:cNvSpPr>
            <a:spLocks noChangeArrowheads="1"/>
          </p:cNvSpPr>
          <p:nvPr/>
        </p:nvSpPr>
        <p:spPr bwMode="auto">
          <a:xfrm>
            <a:off x="1958975" y="1801813"/>
            <a:ext cx="2357438" cy="368300"/>
          </a:xfrm>
          <a:prstGeom prst="rect">
            <a:avLst/>
          </a:prstGeom>
          <a:noFill/>
          <a:ln w="9525" algn="ctr">
            <a:noFill/>
            <a:round/>
            <a:headEnd/>
            <a:tailEnd/>
          </a:ln>
        </p:spPr>
        <p:txBody>
          <a:bodyPr lIns="91418" tIns="45709" rIns="91418" bIns="45709">
            <a:spAutoFit/>
          </a:bodyPr>
          <a:lstStyle/>
          <a:p>
            <a:pPr defTabSz="912813" fontAlgn="t"/>
            <a:endParaRPr lang="zh-CN" altLang="en-US">
              <a:ea typeface="华文细黑" pitchFamily="2" charset="-122"/>
            </a:endParaRPr>
          </a:p>
        </p:txBody>
      </p:sp>
      <p:sp>
        <p:nvSpPr>
          <p:cNvPr id="39944" name="矩形 8"/>
          <p:cNvSpPr>
            <a:spLocks noChangeArrowheads="1"/>
          </p:cNvSpPr>
          <p:nvPr/>
        </p:nvSpPr>
        <p:spPr bwMode="auto">
          <a:xfrm>
            <a:off x="1958975" y="1801813"/>
            <a:ext cx="2549525" cy="1200150"/>
          </a:xfrm>
          <a:prstGeom prst="rect">
            <a:avLst/>
          </a:prstGeom>
          <a:noFill/>
          <a:ln w="9525" algn="ctr">
            <a:solidFill>
              <a:srgbClr val="FF0000"/>
            </a:solidFill>
            <a:round/>
            <a:headEnd/>
            <a:tailEnd/>
          </a:ln>
        </p:spPr>
        <p:txBody>
          <a:bodyPr lIns="91418" tIns="45709" rIns="91418" bIns="45709">
            <a:spAutoFit/>
          </a:bodyPr>
          <a:lstStyle/>
          <a:p>
            <a:pPr defTabSz="912813" fontAlgn="t"/>
            <a:endParaRPr lang="en-US" altLang="zh-CN">
              <a:ea typeface="华文细黑" pitchFamily="2" charset="-122"/>
            </a:endParaRPr>
          </a:p>
          <a:p>
            <a:pPr defTabSz="912813" fontAlgn="t"/>
            <a:endParaRPr lang="en-US" altLang="zh-CN">
              <a:ea typeface="华文细黑" pitchFamily="2" charset="-122"/>
            </a:endParaRPr>
          </a:p>
          <a:p>
            <a:pPr defTabSz="912813" fontAlgn="t"/>
            <a:r>
              <a:rPr lang="zh-CN" altLang="en-US">
                <a:ea typeface="华文细黑" pitchFamily="2" charset="-122"/>
              </a:rPr>
              <a:t>   在此建立测试计划</a:t>
            </a:r>
          </a:p>
          <a:p>
            <a:pPr defTabSz="912813" fontAlgn="t"/>
            <a:endParaRPr lang="zh-CN" altLang="en-US">
              <a:ea typeface="华文细黑" pitchFamily="2" charset="-122"/>
            </a:endParaRPr>
          </a:p>
        </p:txBody>
      </p:sp>
      <p:sp>
        <p:nvSpPr>
          <p:cNvPr id="39945" name="矩形 9"/>
          <p:cNvSpPr>
            <a:spLocks noChangeArrowheads="1"/>
          </p:cNvSpPr>
          <p:nvPr/>
        </p:nvSpPr>
        <p:spPr bwMode="auto">
          <a:xfrm>
            <a:off x="4508500" y="1801813"/>
            <a:ext cx="4333875" cy="1200150"/>
          </a:xfrm>
          <a:prstGeom prst="rect">
            <a:avLst/>
          </a:prstGeom>
          <a:noFill/>
          <a:ln w="9525" algn="ctr">
            <a:solidFill>
              <a:srgbClr val="FF0000"/>
            </a:solidFill>
            <a:round/>
            <a:headEnd/>
            <a:tailEnd/>
          </a:ln>
        </p:spPr>
        <p:txBody>
          <a:bodyPr lIns="91418" tIns="45709" rIns="91418" bIns="45709">
            <a:spAutoFit/>
          </a:bodyPr>
          <a:lstStyle/>
          <a:p>
            <a:pPr defTabSz="912813" fontAlgn="t"/>
            <a:endParaRPr lang="en-US" altLang="zh-CN">
              <a:ea typeface="华文细黑" pitchFamily="2" charset="-122"/>
            </a:endParaRPr>
          </a:p>
          <a:p>
            <a:pPr defTabSz="912813" fontAlgn="t"/>
            <a:endParaRPr lang="en-US" altLang="zh-CN">
              <a:ea typeface="华文细黑" pitchFamily="2" charset="-122"/>
            </a:endParaRPr>
          </a:p>
          <a:p>
            <a:pPr defTabSz="912813" fontAlgn="t"/>
            <a:r>
              <a:rPr lang="zh-CN" altLang="en-US">
                <a:ea typeface="华文细黑" pitchFamily="2" charset="-122"/>
              </a:rPr>
              <a:t>         配置测试计划参数</a:t>
            </a:r>
          </a:p>
          <a:p>
            <a:pPr defTabSz="912813" fontAlgn="t"/>
            <a:endParaRPr lang="zh-CN" altLang="en-US">
              <a:ea typeface="华文细黑" pitchFamily="2" charset="-122"/>
            </a:endParaRPr>
          </a:p>
        </p:txBody>
      </p:sp>
      <p:sp>
        <p:nvSpPr>
          <p:cNvPr id="39946" name="矩形 10"/>
          <p:cNvSpPr>
            <a:spLocks noChangeArrowheads="1"/>
          </p:cNvSpPr>
          <p:nvPr/>
        </p:nvSpPr>
        <p:spPr bwMode="auto">
          <a:xfrm>
            <a:off x="1958975" y="3652838"/>
            <a:ext cx="6818313" cy="1474787"/>
          </a:xfrm>
          <a:prstGeom prst="rect">
            <a:avLst/>
          </a:prstGeom>
          <a:noFill/>
          <a:ln w="9525" algn="ctr">
            <a:solidFill>
              <a:srgbClr val="FF0000"/>
            </a:solidFill>
            <a:round/>
            <a:headEnd/>
            <a:tailEnd/>
          </a:ln>
        </p:spPr>
        <p:txBody>
          <a:bodyPr lIns="91418" tIns="45709" rIns="91418" bIns="45709">
            <a:spAutoFit/>
          </a:bodyPr>
          <a:lstStyle/>
          <a:p>
            <a:pPr defTabSz="912813" fontAlgn="t"/>
            <a:endParaRPr lang="en-US" altLang="zh-CN">
              <a:ea typeface="华文细黑" pitchFamily="2" charset="-122"/>
            </a:endParaRPr>
          </a:p>
          <a:p>
            <a:pPr defTabSz="912813" fontAlgn="t"/>
            <a:endParaRPr lang="en-US" altLang="zh-CN">
              <a:ea typeface="华文细黑" pitchFamily="2" charset="-122"/>
            </a:endParaRPr>
          </a:p>
          <a:p>
            <a:pPr defTabSz="912813" fontAlgn="t"/>
            <a:r>
              <a:rPr lang="zh-CN" altLang="en-US">
                <a:ea typeface="华文细黑" pitchFamily="2" charset="-122"/>
              </a:rPr>
              <a:t>    开始测试时，在此处显示测试计划进行状态。</a:t>
            </a:r>
          </a:p>
          <a:p>
            <a:pPr defTabSz="912813" fontAlgn="t"/>
            <a:endParaRPr lang="en-US" altLang="zh-CN">
              <a:ea typeface="华文细黑" pitchFamily="2" charset="-122"/>
            </a:endParaRPr>
          </a:p>
          <a:p>
            <a:pPr defTabSz="912813" fontAlgn="t"/>
            <a:endParaRPr lang="zh-CN" altLang="en-US">
              <a:ea typeface="华文细黑" pitchFamily="2" charset="-122"/>
            </a:endParaRPr>
          </a:p>
        </p:txBody>
      </p:sp>
      <p:sp>
        <p:nvSpPr>
          <p:cNvPr id="39947" name="灯片编号占位符 11"/>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48670AAB-AFEA-45BD-8AB0-BCD3EE9A8C48}" type="slidenum">
              <a:rPr lang="en-US" altLang="zh-CN" smtClean="0">
                <a:latin typeface="FrutigerNext LT Bold" pitchFamily="34" charset="0"/>
                <a:ea typeface="ＭＳ Ｐゴシック" pitchFamily="34" charset="-128"/>
              </a:rPr>
              <a:pPr defTabSz="877888"/>
              <a:t>60</a:t>
            </a:fld>
            <a:endParaRPr lang="en-US" altLang="zh-CN" smtClean="0">
              <a:latin typeface="FrutigerNext LT Bold" pitchFamily="34" charset="0"/>
              <a:ea typeface="ＭＳ Ｐゴシック" pitchFamily="34" charset="-128"/>
            </a:endParaRPr>
          </a:p>
        </p:txBody>
      </p:sp>
      <p:sp>
        <p:nvSpPr>
          <p:cNvPr id="39948" name="Rounded Rectangle 12"/>
          <p:cNvSpPr>
            <a:spLocks noChangeArrowheads="1"/>
          </p:cNvSpPr>
          <p:nvPr/>
        </p:nvSpPr>
        <p:spPr bwMode="auto">
          <a:xfrm>
            <a:off x="3448050" y="1157288"/>
            <a:ext cx="3467100" cy="40005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点击这里对测试计划进行配置</a:t>
            </a:r>
          </a:p>
        </p:txBody>
      </p:sp>
      <p:cxnSp>
        <p:nvCxnSpPr>
          <p:cNvPr id="39949" name="Straight Arrow Connector 18"/>
          <p:cNvCxnSpPr>
            <a:cxnSpLocks noChangeShapeType="1"/>
            <a:stCxn id="39948" idx="1"/>
            <a:endCxn id="39941" idx="6"/>
          </p:cNvCxnSpPr>
          <p:nvPr/>
        </p:nvCxnSpPr>
        <p:spPr bwMode="auto">
          <a:xfrm flipH="1">
            <a:off x="1768475" y="1357313"/>
            <a:ext cx="1679575" cy="176212"/>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覆盖测试</a:t>
            </a:r>
            <a:endParaRPr lang="zh-CN" altLang="en-US" dirty="0"/>
          </a:p>
        </p:txBody>
      </p:sp>
      <p:sp>
        <p:nvSpPr>
          <p:cNvPr id="3" name="内容占位符 2"/>
          <p:cNvSpPr>
            <a:spLocks noGrp="1"/>
          </p:cNvSpPr>
          <p:nvPr>
            <p:ph idx="1"/>
          </p:nvPr>
        </p:nvSpPr>
        <p:spPr/>
        <p:txBody>
          <a:bodyPr/>
          <a:lstStyle/>
          <a:p>
            <a:r>
              <a:rPr lang="zh-CN" altLang="en-US" dirty="0" smtClean="0"/>
              <a:t>验证方法</a:t>
            </a:r>
            <a:endParaRPr lang="en-US" altLang="zh-CN" dirty="0" smtClean="0"/>
          </a:p>
          <a:p>
            <a:pPr lvl="1"/>
            <a:r>
              <a:rPr lang="zh-CN" altLang="zh-CN" dirty="0" smtClean="0"/>
              <a:t>覆盖</a:t>
            </a:r>
            <a:r>
              <a:rPr lang="en-US" altLang="zh-CN" dirty="0" smtClean="0"/>
              <a:t>DT</a:t>
            </a:r>
            <a:r>
              <a:rPr lang="zh-CN" altLang="zh-CN" dirty="0" smtClean="0"/>
              <a:t>测试主要是通过路测，检查</a:t>
            </a:r>
            <a:r>
              <a:rPr lang="en-US" altLang="zh-CN" dirty="0" smtClean="0"/>
              <a:t> UE </a:t>
            </a:r>
            <a:r>
              <a:rPr lang="zh-CN" altLang="zh-CN" dirty="0" smtClean="0"/>
              <a:t>接收的</a:t>
            </a:r>
            <a:r>
              <a:rPr lang="en-US" altLang="zh-CN" dirty="0" smtClean="0"/>
              <a:t> RSRP</a:t>
            </a:r>
            <a:r>
              <a:rPr lang="zh-CN" altLang="zh-CN" dirty="0" smtClean="0"/>
              <a:t>和</a:t>
            </a:r>
            <a:r>
              <a:rPr lang="en-US" altLang="zh-CN" dirty="0" smtClean="0"/>
              <a:t>SINR </a:t>
            </a:r>
            <a:r>
              <a:rPr lang="zh-CN" altLang="zh-CN" dirty="0" smtClean="0"/>
              <a:t>是否异常确认是否存在天馈连接异常、天线安装位置设计不合理、周围环境发生变化导致建筑物阻挡、硬件安装时天线倾角</a:t>
            </a:r>
            <a:r>
              <a:rPr lang="en-US" altLang="zh-CN" dirty="0" smtClean="0"/>
              <a:t>/</a:t>
            </a:r>
            <a:r>
              <a:rPr lang="zh-CN" altLang="zh-CN" dirty="0" smtClean="0"/>
              <a:t>方向角与规划时不一致等问题</a:t>
            </a:r>
          </a:p>
          <a:p>
            <a:pPr lvl="1"/>
            <a:r>
              <a:rPr lang="zh-CN" altLang="zh-CN" dirty="0" smtClean="0"/>
              <a:t>接上</a:t>
            </a:r>
            <a:r>
              <a:rPr lang="en-US" altLang="zh-CN" dirty="0" smtClean="0"/>
              <a:t>UE</a:t>
            </a:r>
            <a:r>
              <a:rPr lang="zh-CN" altLang="zh-CN" dirty="0" smtClean="0"/>
              <a:t>，按照选定的测试路线对待测小区的信号进行测试，尽可能跑全基站周围所有主要街道；</a:t>
            </a:r>
          </a:p>
          <a:p>
            <a:pPr lvl="1"/>
            <a:r>
              <a:rPr lang="zh-CN" altLang="zh-CN" dirty="0" smtClean="0"/>
              <a:t>根据</a:t>
            </a:r>
            <a:r>
              <a:rPr lang="en-US" altLang="zh-CN" dirty="0" smtClean="0"/>
              <a:t>UE</a:t>
            </a:r>
            <a:r>
              <a:rPr lang="zh-CN" altLang="zh-CN" dirty="0" smtClean="0"/>
              <a:t>接收的信号得出区域覆盖图，对比各个小区的</a:t>
            </a:r>
            <a:r>
              <a:rPr lang="en-US" altLang="zh-CN" dirty="0" smtClean="0"/>
              <a:t>RSRP</a:t>
            </a:r>
            <a:r>
              <a:rPr lang="zh-CN" altLang="zh-CN" dirty="0" smtClean="0"/>
              <a:t>覆盖情况和</a:t>
            </a:r>
            <a:r>
              <a:rPr lang="en-US" altLang="zh-CN" dirty="0" smtClean="0"/>
              <a:t>SINR</a:t>
            </a:r>
            <a:r>
              <a:rPr lang="zh-CN" altLang="zh-CN" dirty="0" smtClean="0"/>
              <a:t>分布情况，对其中</a:t>
            </a:r>
            <a:r>
              <a:rPr lang="en-US" altLang="zh-CN" dirty="0" smtClean="0"/>
              <a:t>RSRP</a:t>
            </a:r>
            <a:r>
              <a:rPr lang="zh-CN" altLang="zh-CN" dirty="0" smtClean="0"/>
              <a:t>和</a:t>
            </a:r>
            <a:r>
              <a:rPr lang="en-US" altLang="zh-CN" dirty="0" smtClean="0"/>
              <a:t>SINR</a:t>
            </a:r>
            <a:r>
              <a:rPr lang="zh-CN" altLang="zh-CN" dirty="0" smtClean="0"/>
              <a:t>分布情况较差的小区要重点关注。</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61</a:t>
            </a:fld>
            <a:endParaRPr lang="en-US" altLang="zh-C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覆盖测试（续）</a:t>
            </a:r>
            <a:endParaRPr lang="zh-CN" altLang="en-US" dirty="0"/>
          </a:p>
        </p:txBody>
      </p:sp>
      <p:sp>
        <p:nvSpPr>
          <p:cNvPr id="3" name="内容占位符 2"/>
          <p:cNvSpPr>
            <a:spLocks noGrp="1"/>
          </p:cNvSpPr>
          <p:nvPr>
            <p:ph idx="1"/>
          </p:nvPr>
        </p:nvSpPr>
        <p:spPr/>
        <p:txBody>
          <a:bodyPr/>
          <a:lstStyle/>
          <a:p>
            <a:r>
              <a:rPr lang="zh-CN" altLang="en-US" dirty="0" smtClean="0"/>
              <a:t>验证准则</a:t>
            </a:r>
            <a:endParaRPr lang="en-US" altLang="zh-CN" dirty="0" smtClean="0"/>
          </a:p>
          <a:p>
            <a:pPr lvl="1"/>
            <a:r>
              <a:rPr lang="zh-CN" altLang="zh-CN" dirty="0" smtClean="0"/>
              <a:t>站点视距近点范围</a:t>
            </a:r>
            <a:r>
              <a:rPr lang="en-US" altLang="zh-CN" dirty="0" smtClean="0"/>
              <a:t>RSRP&gt;-90dBm</a:t>
            </a:r>
            <a:r>
              <a:rPr lang="zh-CN" altLang="zh-CN" dirty="0" smtClean="0"/>
              <a:t>，</a:t>
            </a:r>
            <a:r>
              <a:rPr lang="en-US" altLang="zh-CN" dirty="0" smtClean="0"/>
              <a:t>SINR &gt;5 dB</a:t>
            </a:r>
            <a:r>
              <a:rPr lang="zh-CN" altLang="zh-CN" dirty="0" smtClean="0"/>
              <a:t>，如果站点下信号覆盖较弱，则此项验证不通过，具体要求请参考承诺的</a:t>
            </a:r>
            <a:r>
              <a:rPr lang="en-US" altLang="zh-CN" dirty="0" smtClean="0"/>
              <a:t>KPI</a:t>
            </a:r>
            <a:r>
              <a:rPr lang="zh-CN" altLang="zh-CN" dirty="0" smtClean="0"/>
              <a:t>。</a:t>
            </a:r>
          </a:p>
          <a:p>
            <a:pPr lvl="1"/>
            <a:r>
              <a:rPr lang="zh-CN" altLang="zh-CN" dirty="0" smtClean="0"/>
              <a:t>路测路线上</a:t>
            </a:r>
            <a:r>
              <a:rPr lang="en-US" altLang="zh-CN" dirty="0" smtClean="0"/>
              <a:t>PCI</a:t>
            </a:r>
            <a:r>
              <a:rPr lang="zh-CN" altLang="zh-CN" dirty="0" smtClean="0"/>
              <a:t>设置是否与规划一致，若是不一致，则此项验证不通过。</a:t>
            </a:r>
          </a:p>
          <a:p>
            <a:pPr lvl="1"/>
            <a:r>
              <a:rPr lang="zh-CN" altLang="zh-CN" dirty="0" smtClean="0"/>
              <a:t>在对该站点完成相关的验证后，把详细的分析结果填入《单站验证报告》。</a:t>
            </a:r>
            <a:endParaRPr lang="en-US" altLang="zh-CN" dirty="0" smtClean="0"/>
          </a:p>
          <a:p>
            <a:pPr marL="301625" lvl="1" indent="-301625">
              <a:buClr>
                <a:srgbClr val="808080"/>
              </a:buClr>
              <a:buSzPct val="60000"/>
              <a:buFont typeface="Wingdings" pitchFamily="2" charset="2"/>
              <a:buChar char="l"/>
            </a:pPr>
            <a:r>
              <a:rPr lang="zh-CN" altLang="zh-CN" sz="2200" dirty="0" smtClean="0">
                <a:cs typeface="+mn-cs"/>
              </a:rPr>
              <a:t>问题分析与处理</a:t>
            </a:r>
            <a:endParaRPr lang="en-US" altLang="zh-CN" sz="2200" dirty="0" smtClean="0">
              <a:cs typeface="+mn-cs"/>
            </a:endParaRPr>
          </a:p>
          <a:p>
            <a:pPr lvl="1"/>
            <a:r>
              <a:rPr lang="zh-CN" altLang="zh-CN" dirty="0" smtClean="0"/>
              <a:t>分析这类问题的思路是，根据规划参数中</a:t>
            </a:r>
            <a:r>
              <a:rPr lang="en-US" altLang="zh-CN" dirty="0" smtClean="0"/>
              <a:t>PCI</a:t>
            </a:r>
            <a:r>
              <a:rPr lang="zh-CN" altLang="zh-CN" dirty="0" smtClean="0"/>
              <a:t>，依据</a:t>
            </a:r>
            <a:r>
              <a:rPr lang="en-US" altLang="zh-CN" dirty="0" smtClean="0"/>
              <a:t>UE</a:t>
            </a:r>
            <a:r>
              <a:rPr lang="zh-CN" altLang="zh-CN" dirty="0" smtClean="0"/>
              <a:t>测试数据核对覆盖方向是否与规划参数一致。</a:t>
            </a:r>
          </a:p>
          <a:p>
            <a:pPr marL="650875" lvl="2" indent="-301625">
              <a:buClr>
                <a:srgbClr val="808080"/>
              </a:buClr>
              <a:buSzPct val="60000"/>
              <a:buFont typeface="Wingdings" pitchFamily="2" charset="2"/>
              <a:buChar char="l"/>
            </a:pPr>
            <a:endParaRPr lang="zh-CN" altLang="zh-CN" sz="2200" dirty="0" smtClean="0"/>
          </a:p>
          <a:p>
            <a:pPr marL="301625" lvl="1" indent="-301625">
              <a:buClr>
                <a:srgbClr val="808080"/>
              </a:buClr>
              <a:buSzPct val="60000"/>
              <a:buFont typeface="Wingdings" pitchFamily="2" charset="2"/>
              <a:buChar char="l"/>
            </a:pPr>
            <a:endParaRPr lang="zh-CN" altLang="zh-CN" sz="2200" dirty="0" smtClean="0">
              <a:cs typeface="+mn-cs"/>
            </a:endParaRP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62</a:t>
            </a:fld>
            <a:endParaRPr lang="en-US" altLang="zh-CN"/>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现网测试案例</a:t>
            </a:r>
            <a:r>
              <a:rPr lang="en-US" altLang="zh-CN" dirty="0" smtClean="0"/>
              <a:t>-RSRP</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63</a:t>
            </a:fld>
            <a:endParaRPr lang="en-US" altLang="zh-CN"/>
          </a:p>
        </p:txBody>
      </p:sp>
      <p:pic>
        <p:nvPicPr>
          <p:cNvPr id="5" name="图片 4"/>
          <p:cNvPicPr>
            <a:picLocks noChangeAspect="1"/>
          </p:cNvPicPr>
          <p:nvPr/>
        </p:nvPicPr>
        <p:blipFill>
          <a:blip r:embed="rId2" cstate="print"/>
          <a:stretch>
            <a:fillRect/>
          </a:stretch>
        </p:blipFill>
        <p:spPr>
          <a:xfrm>
            <a:off x="789790" y="1538567"/>
            <a:ext cx="7533997" cy="4100233"/>
          </a:xfrm>
          <a:prstGeom prst="rect">
            <a:avLst/>
          </a:prstGeom>
          <a:solidFill>
            <a:schemeClr val="tx1"/>
          </a:solidFill>
          <a:ln w="3175" cmpd="sng">
            <a:solidFill>
              <a:schemeClr val="tx1"/>
            </a:solidFill>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现网测试案例</a:t>
            </a:r>
            <a:r>
              <a:rPr lang="en-US" altLang="zh-CN" dirty="0" smtClean="0"/>
              <a:t>-SINR</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64</a:t>
            </a:fld>
            <a:endParaRPr lang="en-US" altLang="zh-CN"/>
          </a:p>
        </p:txBody>
      </p:sp>
      <p:pic>
        <p:nvPicPr>
          <p:cNvPr id="5" name="图片 4"/>
          <p:cNvPicPr>
            <a:picLocks noChangeAspect="1"/>
          </p:cNvPicPr>
          <p:nvPr/>
        </p:nvPicPr>
        <p:blipFill>
          <a:blip r:embed="rId2" cstate="print"/>
          <a:stretch>
            <a:fillRect/>
          </a:stretch>
        </p:blipFill>
        <p:spPr>
          <a:xfrm>
            <a:off x="856352" y="1751927"/>
            <a:ext cx="7379763" cy="4024033"/>
          </a:xfrm>
          <a:prstGeom prst="rect">
            <a:avLst/>
          </a:prstGeom>
          <a:ln>
            <a:solidFill>
              <a:schemeClr val="tx1"/>
            </a:solidFill>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现网测试案例</a:t>
            </a:r>
            <a:r>
              <a:rPr lang="en-US" altLang="zh-CN" dirty="0" smtClean="0"/>
              <a:t>-PCI</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65</a:t>
            </a:fld>
            <a:endParaRPr lang="en-US" altLang="zh-CN"/>
          </a:p>
        </p:txBody>
      </p:sp>
      <p:pic>
        <p:nvPicPr>
          <p:cNvPr id="5" name="图片 4"/>
          <p:cNvPicPr>
            <a:picLocks noChangeAspect="1"/>
          </p:cNvPicPr>
          <p:nvPr/>
        </p:nvPicPr>
        <p:blipFill>
          <a:blip r:embed="rId2" cstate="print"/>
          <a:stretch>
            <a:fillRect/>
          </a:stretch>
        </p:blipFill>
        <p:spPr>
          <a:xfrm>
            <a:off x="1118824" y="1744040"/>
            <a:ext cx="7204866" cy="3907252"/>
          </a:xfrm>
          <a:prstGeom prst="rect">
            <a:avLst/>
          </a:prstGeom>
          <a:ln w="1270">
            <a:solidFill>
              <a:schemeClr val="tx1"/>
            </a:solidFill>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sz="3600" dirty="0" smtClean="0"/>
              <a:t>开始测试</a:t>
            </a:r>
            <a:r>
              <a:rPr lang="en-US" altLang="zh-CN" sz="3600" dirty="0" smtClean="0"/>
              <a:t>: </a:t>
            </a:r>
            <a:r>
              <a:rPr lang="zh-CN" altLang="en-US" sz="3600" dirty="0" smtClean="0"/>
              <a:t>记录</a:t>
            </a:r>
            <a:r>
              <a:rPr lang="en-US" altLang="zh-CN" sz="3600" dirty="0" err="1" smtClean="0"/>
              <a:t>Logfile</a:t>
            </a:r>
            <a:endParaRPr lang="zh-CN" altLang="en-US" dirty="0"/>
          </a:p>
        </p:txBody>
      </p:sp>
      <p:sp>
        <p:nvSpPr>
          <p:cNvPr id="50179" name="Content Placeholder 5"/>
          <p:cNvSpPr>
            <a:spLocks noGrp="1"/>
          </p:cNvSpPr>
          <p:nvPr>
            <p:ph idx="1"/>
          </p:nvPr>
        </p:nvSpPr>
        <p:spPr/>
        <p:txBody>
          <a:bodyPr/>
          <a:lstStyle/>
          <a:p>
            <a:pPr eaLnBrk="1" hangingPunct="1"/>
            <a:r>
              <a:rPr lang="zh-CN" altLang="en-US" dirty="0" smtClean="0"/>
              <a:t>当测试计划被触发时，可以选择保存</a:t>
            </a:r>
            <a:r>
              <a:rPr lang="en-US" altLang="zh-CN" dirty="0" err="1" smtClean="0"/>
              <a:t>logfile</a:t>
            </a:r>
            <a:r>
              <a:rPr lang="zh-CN" altLang="en-US" dirty="0" smtClean="0"/>
              <a:t>的路径。</a:t>
            </a:r>
            <a:endParaRPr lang="en-US" altLang="zh-CN" dirty="0" smtClean="0"/>
          </a:p>
        </p:txBody>
      </p:sp>
      <p:sp>
        <p:nvSpPr>
          <p:cNvPr id="50180" name="灯片编号占位符 4"/>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A07796BB-E1C4-42EA-8E1A-A0FFABED74B7}" type="slidenum">
              <a:rPr lang="en-US" altLang="zh-CN" smtClean="0">
                <a:latin typeface="FrutigerNext LT Bold" pitchFamily="34" charset="0"/>
                <a:ea typeface="ＭＳ Ｐゴシック" pitchFamily="34" charset="-128"/>
              </a:rPr>
              <a:pPr defTabSz="877888"/>
              <a:t>66</a:t>
            </a:fld>
            <a:endParaRPr lang="en-US" altLang="zh-CN" smtClean="0">
              <a:latin typeface="FrutigerNext LT Bold" pitchFamily="34" charset="0"/>
              <a:ea typeface="ＭＳ Ｐゴシック" pitchFamily="34" charset="-128"/>
            </a:endParaRPr>
          </a:p>
        </p:txBody>
      </p:sp>
      <p:pic>
        <p:nvPicPr>
          <p:cNvPr id="50181" name="Picture 2"/>
          <p:cNvPicPr>
            <a:picLocks noChangeAspect="1" noChangeArrowheads="1"/>
          </p:cNvPicPr>
          <p:nvPr/>
        </p:nvPicPr>
        <p:blipFill>
          <a:blip r:embed="rId3" cstate="print"/>
          <a:srcRect/>
          <a:stretch>
            <a:fillRect/>
          </a:stretch>
        </p:blipFill>
        <p:spPr bwMode="auto">
          <a:xfrm>
            <a:off x="2400300" y="1935480"/>
            <a:ext cx="6454775" cy="4254183"/>
          </a:xfrm>
          <a:prstGeom prst="rect">
            <a:avLst/>
          </a:prstGeom>
          <a:noFill/>
          <a:ln w="9525" algn="ctr">
            <a:noFill/>
            <a:miter lim="800000"/>
            <a:headEnd/>
            <a:tailEnd/>
          </a:ln>
        </p:spPr>
      </p:pic>
      <p:sp>
        <p:nvSpPr>
          <p:cNvPr id="50182" name="Rounded Rectangle 6"/>
          <p:cNvSpPr>
            <a:spLocks noChangeArrowheads="1"/>
          </p:cNvSpPr>
          <p:nvPr/>
        </p:nvSpPr>
        <p:spPr bwMode="auto">
          <a:xfrm>
            <a:off x="4430713" y="2887345"/>
            <a:ext cx="2263775" cy="1658938"/>
          </a:xfrm>
          <a:prstGeom prst="roundRect">
            <a:avLst>
              <a:gd name="adj" fmla="val 16667"/>
            </a:avLst>
          </a:prstGeom>
          <a:noFill/>
          <a:ln w="28575" algn="ctr">
            <a:solidFill>
              <a:srgbClr val="FF0000"/>
            </a:solidFill>
            <a:round/>
            <a:headEnd/>
            <a:tailEnd/>
          </a:ln>
        </p:spPr>
        <p:txBody>
          <a:bodyPr/>
          <a:lstStyle/>
          <a:p>
            <a:pPr fontAlgn="t"/>
            <a:endParaRPr lang="en-US" altLang="zh-CN">
              <a:ea typeface="华文细黑" pitchFamily="2" charset="-122"/>
            </a:endParaRPr>
          </a:p>
        </p:txBody>
      </p:sp>
      <p:sp>
        <p:nvSpPr>
          <p:cNvPr id="50183" name="Rounded Rectangle 7"/>
          <p:cNvSpPr>
            <a:spLocks noChangeArrowheads="1"/>
          </p:cNvSpPr>
          <p:nvPr/>
        </p:nvSpPr>
        <p:spPr bwMode="auto">
          <a:xfrm>
            <a:off x="1116013" y="3209925"/>
            <a:ext cx="1622425" cy="59055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记录</a:t>
            </a:r>
            <a:r>
              <a:rPr lang="en-US" altLang="zh-CN">
                <a:ea typeface="华文细黑" pitchFamily="2" charset="-122"/>
              </a:rPr>
              <a:t>logfiles</a:t>
            </a:r>
          </a:p>
        </p:txBody>
      </p:sp>
      <p:cxnSp>
        <p:nvCxnSpPr>
          <p:cNvPr id="50184" name="Straight Arrow Connector 8"/>
          <p:cNvCxnSpPr>
            <a:cxnSpLocks noChangeShapeType="1"/>
            <a:stCxn id="50183" idx="3"/>
            <a:endCxn id="50182" idx="1"/>
          </p:cNvCxnSpPr>
          <p:nvPr/>
        </p:nvCxnSpPr>
        <p:spPr bwMode="auto">
          <a:xfrm>
            <a:off x="2738438" y="3505200"/>
            <a:ext cx="1692275" cy="211614"/>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smtClean="0"/>
              <a:t>回放</a:t>
            </a:r>
            <a:r>
              <a:rPr lang="en-US" altLang="zh-CN" dirty="0" err="1" smtClean="0"/>
              <a:t>logfile</a:t>
            </a:r>
            <a:r>
              <a:rPr lang="en-US" altLang="zh-CN" dirty="0" smtClean="0"/>
              <a:t>:</a:t>
            </a:r>
            <a:r>
              <a:rPr lang="zh-CN" altLang="en-US" dirty="0" smtClean="0"/>
              <a:t>步骤</a:t>
            </a:r>
            <a:r>
              <a:rPr lang="en-US" altLang="zh-CN" dirty="0" smtClean="0"/>
              <a:t>1</a:t>
            </a:r>
            <a:endParaRPr lang="zh-CN" altLang="en-US" dirty="0"/>
          </a:p>
        </p:txBody>
      </p:sp>
      <p:sp>
        <p:nvSpPr>
          <p:cNvPr id="52227" name="Content Placeholder 9"/>
          <p:cNvSpPr>
            <a:spLocks noGrp="1"/>
          </p:cNvSpPr>
          <p:nvPr>
            <p:ph idx="1"/>
          </p:nvPr>
        </p:nvSpPr>
        <p:spPr/>
        <p:txBody>
          <a:bodyPr/>
          <a:lstStyle/>
          <a:p>
            <a:pPr eaLnBrk="1" hangingPunct="1"/>
            <a:r>
              <a:rPr lang="zh-CN" altLang="en-US" smtClean="0"/>
              <a:t>通过一些操作来回放</a:t>
            </a:r>
            <a:r>
              <a:rPr lang="en-US" altLang="zh-CN" smtClean="0"/>
              <a:t>logfile</a:t>
            </a:r>
            <a:r>
              <a:rPr lang="zh-CN" altLang="en-US" smtClean="0"/>
              <a:t>。</a:t>
            </a:r>
          </a:p>
        </p:txBody>
      </p:sp>
      <p:sp>
        <p:nvSpPr>
          <p:cNvPr id="52228" name="灯片编号占位符 8"/>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B3A14BBB-BAA9-4D7B-9D9B-0D15DE65A22A}" type="slidenum">
              <a:rPr lang="en-US" altLang="zh-CN" smtClean="0">
                <a:latin typeface="FrutigerNext LT Bold" pitchFamily="34" charset="0"/>
                <a:ea typeface="ＭＳ Ｐゴシック" pitchFamily="34" charset="-128"/>
              </a:rPr>
              <a:pPr defTabSz="877888"/>
              <a:t>67</a:t>
            </a:fld>
            <a:endParaRPr lang="en-US" altLang="zh-CN" smtClean="0">
              <a:latin typeface="FrutigerNext LT Bold" pitchFamily="34" charset="0"/>
              <a:ea typeface="ＭＳ Ｐゴシック" pitchFamily="34" charset="-128"/>
            </a:endParaRPr>
          </a:p>
        </p:txBody>
      </p:sp>
      <p:pic>
        <p:nvPicPr>
          <p:cNvPr id="52229" name="Picture 2"/>
          <p:cNvPicPr>
            <a:picLocks noChangeAspect="1" noChangeArrowheads="1"/>
          </p:cNvPicPr>
          <p:nvPr/>
        </p:nvPicPr>
        <p:blipFill>
          <a:blip r:embed="rId3" cstate="print"/>
          <a:srcRect/>
          <a:stretch>
            <a:fillRect/>
          </a:stretch>
        </p:blipFill>
        <p:spPr bwMode="auto">
          <a:xfrm>
            <a:off x="1034321" y="2007984"/>
            <a:ext cx="6910466" cy="4100508"/>
          </a:xfrm>
          <a:prstGeom prst="rect">
            <a:avLst/>
          </a:prstGeom>
          <a:noFill/>
          <a:ln w="9525" algn="ctr">
            <a:noFill/>
            <a:miter lim="800000"/>
            <a:headEnd/>
            <a:tailEnd/>
          </a:ln>
        </p:spPr>
      </p:pic>
      <p:sp>
        <p:nvSpPr>
          <p:cNvPr id="52230" name="Oval 23"/>
          <p:cNvSpPr>
            <a:spLocks noChangeArrowheads="1"/>
          </p:cNvSpPr>
          <p:nvPr/>
        </p:nvSpPr>
        <p:spPr bwMode="auto">
          <a:xfrm>
            <a:off x="4001385" y="2397724"/>
            <a:ext cx="425450"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sp>
        <p:nvSpPr>
          <p:cNvPr id="52231" name="Rounded Rectangle 10"/>
          <p:cNvSpPr>
            <a:spLocks noChangeArrowheads="1"/>
          </p:cNvSpPr>
          <p:nvPr/>
        </p:nvSpPr>
        <p:spPr bwMode="auto">
          <a:xfrm>
            <a:off x="3084513" y="4884738"/>
            <a:ext cx="5019675" cy="522287"/>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sz="2000" b="1" i="1">
                <a:ea typeface="华文细黑" pitchFamily="2" charset="-122"/>
              </a:rPr>
              <a:t>回放 </a:t>
            </a:r>
            <a:r>
              <a:rPr lang="en-US" altLang="zh-CN" sz="2000" b="1" i="1">
                <a:ea typeface="华文细黑" pitchFamily="2" charset="-122"/>
              </a:rPr>
              <a:t>logfile</a:t>
            </a:r>
            <a:r>
              <a:rPr lang="zh-CN" altLang="en-US" sz="2000" b="1" i="1">
                <a:ea typeface="华文细黑" pitchFamily="2" charset="-122"/>
              </a:rPr>
              <a:t>之前， 可以导入工参和地图。</a:t>
            </a:r>
          </a:p>
        </p:txBody>
      </p:sp>
      <p:sp>
        <p:nvSpPr>
          <p:cNvPr id="52232" name="Rounded Rectangle 11"/>
          <p:cNvSpPr>
            <a:spLocks noChangeArrowheads="1"/>
          </p:cNvSpPr>
          <p:nvPr/>
        </p:nvSpPr>
        <p:spPr bwMode="auto">
          <a:xfrm>
            <a:off x="4129088" y="2681288"/>
            <a:ext cx="2360612" cy="392112"/>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点击这里打开 </a:t>
            </a:r>
            <a:r>
              <a:rPr lang="en-US" altLang="zh-CN">
                <a:ea typeface="华文细黑" pitchFamily="2" charset="-122"/>
              </a:rPr>
              <a:t>logfile</a:t>
            </a:r>
          </a:p>
        </p:txBody>
      </p:sp>
      <p:cxnSp>
        <p:nvCxnSpPr>
          <p:cNvPr id="52233" name="Straight Arrow Connector 13"/>
          <p:cNvCxnSpPr>
            <a:cxnSpLocks noChangeShapeType="1"/>
            <a:stCxn id="52232" idx="0"/>
            <a:endCxn id="52230" idx="4"/>
          </p:cNvCxnSpPr>
          <p:nvPr/>
        </p:nvCxnSpPr>
        <p:spPr bwMode="auto">
          <a:xfrm flipH="1" flipV="1">
            <a:off x="4214110" y="2667599"/>
            <a:ext cx="1095284" cy="13689"/>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
          <p:cNvPicPr>
            <a:picLocks noChangeAspect="1" noChangeArrowheads="1"/>
          </p:cNvPicPr>
          <p:nvPr/>
        </p:nvPicPr>
        <p:blipFill>
          <a:blip r:embed="rId3" cstate="print"/>
          <a:srcRect/>
          <a:stretch>
            <a:fillRect/>
          </a:stretch>
        </p:blipFill>
        <p:spPr bwMode="auto">
          <a:xfrm>
            <a:off x="617173" y="1354813"/>
            <a:ext cx="8101012" cy="4808537"/>
          </a:xfrm>
          <a:prstGeom prst="rect">
            <a:avLst/>
          </a:prstGeom>
          <a:noFill/>
          <a:ln w="9525" algn="ctr">
            <a:noFill/>
            <a:miter lim="800000"/>
            <a:headEnd/>
            <a:tailEnd/>
          </a:ln>
        </p:spPr>
      </p:pic>
      <p:sp>
        <p:nvSpPr>
          <p:cNvPr id="8" name="TextBox 7"/>
          <p:cNvSpPr txBox="1"/>
          <p:nvPr/>
        </p:nvSpPr>
        <p:spPr bwMode="auto">
          <a:xfrm>
            <a:off x="2975190" y="4607586"/>
            <a:ext cx="5161564" cy="807538"/>
          </a:xfrm>
          <a:prstGeom prst="rect">
            <a:avLst/>
          </a:prstGeom>
          <a:no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txBody>
          <a:bodyPr lIns="83448" tIns="41724" rIns="83448" bIns="41724">
            <a:spAutoFit/>
          </a:bodyPr>
          <a:lstStyle/>
          <a:p>
            <a:pPr fontAlgn="t">
              <a:defRPr/>
            </a:pPr>
            <a:r>
              <a:rPr lang="en-US" altLang="zh-CN" sz="1500" b="1" dirty="0">
                <a:solidFill>
                  <a:srgbClr val="FF9900"/>
                </a:solidFill>
                <a:ea typeface="华文细黑" pitchFamily="2" charset="-122"/>
              </a:rPr>
              <a:t>Notes</a:t>
            </a:r>
            <a:endParaRPr lang="en-US" altLang="zh-CN" sz="1500" dirty="0">
              <a:solidFill>
                <a:srgbClr val="FF9900"/>
              </a:solidFill>
              <a:ea typeface="华文细黑" pitchFamily="2" charset="-122"/>
            </a:endParaRPr>
          </a:p>
          <a:p>
            <a:pPr fontAlgn="t">
              <a:defRPr/>
            </a:pPr>
            <a:r>
              <a:rPr lang="en-US" altLang="zh-CN" sz="1500" dirty="0">
                <a:solidFill>
                  <a:srgbClr val="FF9900"/>
                </a:solidFill>
                <a:ea typeface="华文细黑" pitchFamily="2" charset="-122"/>
              </a:rPr>
              <a:t>Before Open </a:t>
            </a:r>
            <a:r>
              <a:rPr lang="en-US" altLang="zh-CN" sz="1500" dirty="0" err="1">
                <a:solidFill>
                  <a:srgbClr val="FF9900"/>
                </a:solidFill>
                <a:ea typeface="华文细黑" pitchFamily="2" charset="-122"/>
              </a:rPr>
              <a:t>Logfile</a:t>
            </a:r>
            <a:r>
              <a:rPr lang="en-US" altLang="zh-CN" sz="1500" dirty="0">
                <a:solidFill>
                  <a:srgbClr val="FF9900"/>
                </a:solidFill>
                <a:ea typeface="华文细黑" pitchFamily="2" charset="-122"/>
              </a:rPr>
              <a:t> ,please import Engineer parameter &amp; map.</a:t>
            </a:r>
            <a:r>
              <a:rPr lang="zh-CN" altLang="en-US" sz="1500" dirty="0">
                <a:solidFill>
                  <a:srgbClr val="FF9900"/>
                </a:solidFill>
                <a:ea typeface="华文细黑" pitchFamily="2" charset="-122"/>
              </a:rPr>
              <a:t> </a:t>
            </a:r>
            <a:r>
              <a:rPr lang="en-US" altLang="zh-CN" sz="1500" dirty="0">
                <a:solidFill>
                  <a:srgbClr val="FF9900"/>
                </a:solidFill>
                <a:ea typeface="华文细黑" pitchFamily="2" charset="-122"/>
              </a:rPr>
              <a:t>Unless  you are sure you do not need this.</a:t>
            </a:r>
          </a:p>
        </p:txBody>
      </p:sp>
      <p:pic>
        <p:nvPicPr>
          <p:cNvPr id="53254" name="Picture 9"/>
          <p:cNvPicPr>
            <a:picLocks noChangeAspect="1" noChangeArrowheads="1"/>
          </p:cNvPicPr>
          <p:nvPr/>
        </p:nvPicPr>
        <p:blipFill>
          <a:blip r:embed="rId4" cstate="print"/>
          <a:srcRect/>
          <a:stretch>
            <a:fillRect/>
          </a:stretch>
        </p:blipFill>
        <p:spPr bwMode="auto">
          <a:xfrm>
            <a:off x="3084148" y="1969175"/>
            <a:ext cx="4762500" cy="3783013"/>
          </a:xfrm>
          <a:prstGeom prst="rect">
            <a:avLst/>
          </a:prstGeom>
          <a:noFill/>
          <a:ln w="9525" algn="ctr">
            <a:noFill/>
            <a:miter lim="800000"/>
            <a:headEnd/>
            <a:tailEnd/>
          </a:ln>
        </p:spPr>
      </p:pic>
      <p:sp>
        <p:nvSpPr>
          <p:cNvPr id="10" name="标题 9"/>
          <p:cNvSpPr>
            <a:spLocks noGrp="1"/>
          </p:cNvSpPr>
          <p:nvPr>
            <p:ph type="title"/>
          </p:nvPr>
        </p:nvSpPr>
        <p:spPr/>
        <p:txBody>
          <a:bodyPr/>
          <a:lstStyle/>
          <a:p>
            <a:r>
              <a:rPr lang="zh-CN" altLang="en-US" dirty="0" smtClean="0">
                <a:latin typeface="FrutigerNext LT Medium" pitchFamily="34" charset="0"/>
                <a:ea typeface="黑体" pitchFamily="49" charset="-122"/>
              </a:rPr>
              <a:t>回放</a:t>
            </a:r>
            <a:r>
              <a:rPr lang="en-US" altLang="zh-CN" dirty="0" err="1" smtClean="0">
                <a:latin typeface="FrutigerNext LT Medium" pitchFamily="34" charset="0"/>
                <a:ea typeface="黑体" pitchFamily="49" charset="-122"/>
              </a:rPr>
              <a:t>logfile</a:t>
            </a:r>
            <a:r>
              <a:rPr lang="en-US" altLang="zh-CN" dirty="0" smtClean="0">
                <a:latin typeface="FrutigerNext LT Medium" pitchFamily="34" charset="0"/>
                <a:ea typeface="黑体" pitchFamily="49" charset="-122"/>
              </a:rPr>
              <a:t>:</a:t>
            </a:r>
            <a:r>
              <a:rPr lang="zh-CN" altLang="en-US" dirty="0" smtClean="0">
                <a:latin typeface="FrutigerNext LT Medium" pitchFamily="34" charset="0"/>
                <a:ea typeface="黑体" pitchFamily="49" charset="-122"/>
              </a:rPr>
              <a:t>步骤</a:t>
            </a:r>
            <a:r>
              <a:rPr lang="en-US" altLang="zh-CN" dirty="0" smtClean="0">
                <a:latin typeface="FrutigerNext LT Medium" pitchFamily="34" charset="0"/>
                <a:ea typeface="黑体" pitchFamily="49" charset="-122"/>
              </a:rPr>
              <a:t>2</a:t>
            </a:r>
            <a:endParaRPr lang="zh-CN" altLang="en-US" dirty="0"/>
          </a:p>
        </p:txBody>
      </p:sp>
      <p:sp>
        <p:nvSpPr>
          <p:cNvPr id="53255" name="灯片编号占位符 9"/>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D27E2DAB-A845-4616-9C2B-B069F7298CFB}" type="slidenum">
              <a:rPr lang="en-US" altLang="zh-CN" smtClean="0">
                <a:latin typeface="FrutigerNext LT Bold" pitchFamily="34" charset="0"/>
                <a:ea typeface="ＭＳ Ｐゴシック" pitchFamily="34" charset="-128"/>
              </a:rPr>
              <a:pPr defTabSz="877888"/>
              <a:t>68</a:t>
            </a:fld>
            <a:endParaRPr lang="en-US" altLang="zh-CN" smtClean="0">
              <a:latin typeface="FrutigerNext LT Bold" pitchFamily="34" charset="0"/>
              <a:ea typeface="ＭＳ Ｐゴシック" pitchFamily="34" charset="-128"/>
            </a:endParaRPr>
          </a:p>
        </p:txBody>
      </p:sp>
      <p:sp>
        <p:nvSpPr>
          <p:cNvPr id="53256" name="Rounded Rectangle 10"/>
          <p:cNvSpPr>
            <a:spLocks noChangeArrowheads="1"/>
          </p:cNvSpPr>
          <p:nvPr/>
        </p:nvSpPr>
        <p:spPr bwMode="auto">
          <a:xfrm>
            <a:off x="4114435" y="2604175"/>
            <a:ext cx="2722563" cy="876300"/>
          </a:xfrm>
          <a:prstGeom prst="roundRect">
            <a:avLst>
              <a:gd name="adj" fmla="val 16667"/>
            </a:avLst>
          </a:prstGeom>
          <a:noFill/>
          <a:ln w="28575" algn="ctr">
            <a:solidFill>
              <a:srgbClr val="FF0000"/>
            </a:solidFill>
            <a:round/>
            <a:headEnd/>
            <a:tailEnd/>
          </a:ln>
        </p:spPr>
        <p:txBody>
          <a:bodyPr/>
          <a:lstStyle/>
          <a:p>
            <a:pPr fontAlgn="t"/>
            <a:endParaRPr lang="en-US" altLang="zh-CN">
              <a:ea typeface="华文细黑" pitchFamily="2" charset="-122"/>
            </a:endParaRPr>
          </a:p>
        </p:txBody>
      </p:sp>
      <p:sp>
        <p:nvSpPr>
          <p:cNvPr id="53257" name="Rounded Rectangle 11"/>
          <p:cNvSpPr>
            <a:spLocks noChangeArrowheads="1"/>
          </p:cNvSpPr>
          <p:nvPr/>
        </p:nvSpPr>
        <p:spPr bwMode="auto">
          <a:xfrm>
            <a:off x="4344623" y="4748888"/>
            <a:ext cx="1941512" cy="454025"/>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选择</a:t>
            </a:r>
            <a:r>
              <a:rPr lang="en-US" altLang="zh-CN">
                <a:ea typeface="华文细黑" pitchFamily="2" charset="-122"/>
              </a:rPr>
              <a:t>logfile</a:t>
            </a:r>
            <a:r>
              <a:rPr lang="zh-CN" altLang="en-US">
                <a:ea typeface="华文细黑" pitchFamily="2" charset="-122"/>
              </a:rPr>
              <a:t>打开</a:t>
            </a:r>
          </a:p>
        </p:txBody>
      </p:sp>
      <p:cxnSp>
        <p:nvCxnSpPr>
          <p:cNvPr id="53258" name="Straight Arrow Connector 12"/>
          <p:cNvCxnSpPr>
            <a:cxnSpLocks noChangeShapeType="1"/>
            <a:stCxn id="53257" idx="0"/>
            <a:endCxn id="53256" idx="2"/>
          </p:cNvCxnSpPr>
          <p:nvPr/>
        </p:nvCxnSpPr>
        <p:spPr bwMode="auto">
          <a:xfrm flipV="1">
            <a:off x="5316173" y="3494763"/>
            <a:ext cx="160337" cy="1254125"/>
          </a:xfrm>
          <a:prstGeom prst="straightConnector1">
            <a:avLst/>
          </a:prstGeom>
          <a:noFill/>
          <a:ln w="9525" algn="ctr">
            <a:solidFill>
              <a:schemeClr val="tx1"/>
            </a:solidFill>
            <a:round/>
            <a:headEnd/>
            <a:tailEnd type="arrow" w="med" len="med"/>
          </a:ln>
        </p:spPr>
      </p:cxnSp>
      <p:sp>
        <p:nvSpPr>
          <p:cNvPr id="53259" name="标题 1"/>
          <p:cNvSpPr>
            <a:spLocks/>
          </p:cNvSpPr>
          <p:nvPr/>
        </p:nvSpPr>
        <p:spPr bwMode="auto">
          <a:xfrm>
            <a:off x="628650" y="176213"/>
            <a:ext cx="7731125" cy="868362"/>
          </a:xfrm>
          <a:prstGeom prst="rect">
            <a:avLst/>
          </a:prstGeom>
          <a:noFill/>
          <a:ln w="9525">
            <a:noFill/>
            <a:miter lim="800000"/>
            <a:headEnd/>
            <a:tailEnd/>
          </a:ln>
        </p:spPr>
        <p:txBody>
          <a:bodyPr lIns="80114" tIns="40058" rIns="80114" bIns="40058" anchor="ctr"/>
          <a:lstStyle/>
          <a:p>
            <a:pPr defTabSz="801688"/>
            <a:endParaRPr lang="en-US" altLang="zh-CN" sz="3500" dirty="0">
              <a:solidFill>
                <a:srgbClr val="990000"/>
              </a:solidFill>
              <a:latin typeface="FrutigerNext LT Medium" pitchFamily="34" charset="0"/>
              <a:ea typeface="黑体" pitchFamily="49" charset="-122"/>
            </a:endParaRPr>
          </a:p>
        </p:txBody>
      </p:sp>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err="1" smtClean="0"/>
              <a:t>Logfile</a:t>
            </a:r>
            <a:r>
              <a:rPr lang="zh-CN" altLang="en-US" dirty="0" smtClean="0"/>
              <a:t>回放结果</a:t>
            </a:r>
            <a:endParaRPr lang="zh-CN" altLang="en-US" dirty="0"/>
          </a:p>
        </p:txBody>
      </p:sp>
      <p:sp>
        <p:nvSpPr>
          <p:cNvPr id="54275" name="Content Placeholder 8"/>
          <p:cNvSpPr>
            <a:spLocks noGrp="1"/>
          </p:cNvSpPr>
          <p:nvPr>
            <p:ph idx="1"/>
          </p:nvPr>
        </p:nvSpPr>
        <p:spPr/>
        <p:txBody>
          <a:bodyPr/>
          <a:lstStyle/>
          <a:p>
            <a:pPr eaLnBrk="1" hangingPunct="1"/>
            <a:r>
              <a:rPr lang="zh-CN" altLang="en-US" sz="2000" smtClean="0">
                <a:ea typeface="黑体" pitchFamily="49" charset="-122"/>
              </a:rPr>
              <a:t>在地图窗口中显示测试信息。</a:t>
            </a:r>
            <a:endParaRPr lang="en-US" altLang="zh-CN" sz="2000" smtClean="0"/>
          </a:p>
        </p:txBody>
      </p:sp>
      <p:sp>
        <p:nvSpPr>
          <p:cNvPr id="54276" name="灯片编号占位符 7"/>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ABDE0F71-14AC-4DF4-909B-9AEB473981BB}" type="slidenum">
              <a:rPr lang="en-US" altLang="zh-CN" smtClean="0">
                <a:latin typeface="FrutigerNext LT Bold" pitchFamily="34" charset="0"/>
                <a:ea typeface="ＭＳ Ｐゴシック" pitchFamily="34" charset="-128"/>
              </a:rPr>
              <a:pPr defTabSz="877888"/>
              <a:t>69</a:t>
            </a:fld>
            <a:endParaRPr lang="en-US" altLang="zh-CN" smtClean="0">
              <a:latin typeface="FrutigerNext LT Bold" pitchFamily="34" charset="0"/>
              <a:ea typeface="ＭＳ Ｐゴシック" pitchFamily="34" charset="-128"/>
            </a:endParaRPr>
          </a:p>
        </p:txBody>
      </p:sp>
      <p:pic>
        <p:nvPicPr>
          <p:cNvPr id="54277" name="Picture 6" descr="Snap1"/>
          <p:cNvPicPr>
            <a:picLocks noChangeAspect="1" noChangeArrowheads="1"/>
          </p:cNvPicPr>
          <p:nvPr/>
        </p:nvPicPr>
        <p:blipFill>
          <a:blip r:embed="rId3" cstate="print"/>
          <a:srcRect/>
          <a:stretch>
            <a:fillRect/>
          </a:stretch>
        </p:blipFill>
        <p:spPr bwMode="auto">
          <a:xfrm>
            <a:off x="1469036" y="1857083"/>
            <a:ext cx="6112526" cy="4362718"/>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案例分析</a:t>
            </a:r>
            <a:endParaRPr lang="zh-CN" altLang="en-US" dirty="0"/>
          </a:p>
        </p:txBody>
      </p:sp>
      <p:sp>
        <p:nvSpPr>
          <p:cNvPr id="7" name="内容占位符 6"/>
          <p:cNvSpPr>
            <a:spLocks noGrp="1"/>
          </p:cNvSpPr>
          <p:nvPr>
            <p:ph idx="1"/>
          </p:nvPr>
        </p:nvSpPr>
        <p:spPr/>
        <p:txBody>
          <a:bodyPr/>
          <a:lstStyle/>
          <a:p>
            <a:r>
              <a:rPr lang="zh-CN" altLang="en-US" dirty="0" smtClean="0"/>
              <a:t>路测过程中发现某站点测试</a:t>
            </a:r>
            <a:r>
              <a:rPr lang="en-US" altLang="zh-CN" dirty="0" smtClean="0"/>
              <a:t>PCI</a:t>
            </a:r>
            <a:r>
              <a:rPr lang="zh-CN" altLang="en-US" dirty="0" smtClean="0"/>
              <a:t>标示与规划覆盖方向不一致。</a:t>
            </a:r>
            <a:endParaRPr lang="en-US" altLang="zh-CN" dirty="0" smtClean="0"/>
          </a:p>
          <a:p>
            <a:endParaRPr lang="en-US" altLang="zh-CN" dirty="0" smtClean="0"/>
          </a:p>
          <a:p>
            <a:endParaRPr lang="en-US" altLang="zh-CN" dirty="0" smtClean="0"/>
          </a:p>
          <a:p>
            <a:endParaRPr lang="en-US" altLang="zh-CN" dirty="0" smtClean="0"/>
          </a:p>
          <a:p>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70</a:t>
            </a:fld>
            <a:endParaRPr lang="en-US" altLang="zh-CN"/>
          </a:p>
        </p:txBody>
      </p:sp>
      <p:sp>
        <p:nvSpPr>
          <p:cNvPr id="77517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775169" name="Object 1"/>
          <p:cNvGraphicFramePr>
            <a:graphicFrameLocks noChangeAspect="1"/>
          </p:cNvGraphicFramePr>
          <p:nvPr/>
        </p:nvGraphicFramePr>
        <p:xfrm>
          <a:off x="1509486" y="2452915"/>
          <a:ext cx="6040581" cy="3164114"/>
        </p:xfrm>
        <a:graphic>
          <a:graphicData uri="http://schemas.openxmlformats.org/presentationml/2006/ole">
            <mc:AlternateContent xmlns:mc="http://schemas.openxmlformats.org/markup-compatibility/2006">
              <mc:Choice xmlns:v="urn:schemas-microsoft-com:vml" Requires="v">
                <p:oleObj spid="_x0000_s775172" r:id="rId4" imgW="2892552" imgH="1514856" progId="">
                  <p:embed/>
                </p:oleObj>
              </mc:Choice>
              <mc:Fallback>
                <p:oleObj r:id="rId4" imgW="2892552" imgH="1514856" progId="">
                  <p:embed/>
                  <p:pic>
                    <p:nvPicPr>
                      <p:cNvPr id="0" name="Picture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9486" y="2452915"/>
                        <a:ext cx="6040581" cy="31641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案例分析（续）</a:t>
            </a:r>
            <a:endParaRPr lang="zh-CN" altLang="en-US" dirty="0"/>
          </a:p>
        </p:txBody>
      </p:sp>
      <p:sp>
        <p:nvSpPr>
          <p:cNvPr id="3" name="内容占位符 2"/>
          <p:cNvSpPr>
            <a:spLocks noGrp="1"/>
          </p:cNvSpPr>
          <p:nvPr>
            <p:ph idx="1"/>
          </p:nvPr>
        </p:nvSpPr>
        <p:spPr/>
        <p:txBody>
          <a:bodyPr/>
          <a:lstStyle/>
          <a:p>
            <a:r>
              <a:rPr lang="zh-CN" altLang="en-US" dirty="0" smtClean="0"/>
              <a:t>方位角</a:t>
            </a:r>
            <a:r>
              <a:rPr lang="zh-CN" altLang="zh-CN" dirty="0" smtClean="0"/>
              <a:t>与</a:t>
            </a:r>
            <a:r>
              <a:rPr lang="en-US" altLang="zh-CN" dirty="0" smtClean="0"/>
              <a:t>PCI</a:t>
            </a:r>
            <a:r>
              <a:rPr lang="zh-CN" altLang="zh-CN" dirty="0" smtClean="0"/>
              <a:t>不一致，可能导致这个问题的原因可能是机顶处</a:t>
            </a:r>
            <a:r>
              <a:rPr lang="en-US" altLang="zh-CN" dirty="0" smtClean="0"/>
              <a:t>3</a:t>
            </a:r>
            <a:r>
              <a:rPr lang="zh-CN" altLang="zh-CN" dirty="0" smtClean="0"/>
              <a:t>个扇区的天馈连线与各个小区连接错位，或者是基带单元与各射频单元光纤连接错位导致。</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71</a:t>
            </a:fld>
            <a:endParaRPr lang="en-US" altLang="zh-CN"/>
          </a:p>
        </p:txBody>
      </p:sp>
      <p:pic>
        <p:nvPicPr>
          <p:cNvPr id="5" name="图片 4"/>
          <p:cNvPicPr/>
          <p:nvPr/>
        </p:nvPicPr>
        <p:blipFill>
          <a:blip r:embed="rId3" cstate="print"/>
          <a:srcRect/>
          <a:stretch>
            <a:fillRect/>
          </a:stretch>
        </p:blipFill>
        <p:spPr bwMode="auto">
          <a:xfrm>
            <a:off x="1697944" y="2970665"/>
            <a:ext cx="2409825" cy="2600325"/>
          </a:xfrm>
          <a:prstGeom prst="rect">
            <a:avLst/>
          </a:prstGeom>
          <a:noFill/>
          <a:ln w="9525">
            <a:noFill/>
            <a:miter lim="800000"/>
            <a:headEnd/>
            <a:tailEnd/>
          </a:ln>
        </p:spPr>
      </p:pic>
      <p:pic>
        <p:nvPicPr>
          <p:cNvPr id="6" name="图片 5"/>
          <p:cNvPicPr/>
          <p:nvPr/>
        </p:nvPicPr>
        <p:blipFill>
          <a:blip r:embed="rId4" cstate="print"/>
          <a:srcRect/>
          <a:stretch>
            <a:fillRect/>
          </a:stretch>
        </p:blipFill>
        <p:spPr bwMode="auto">
          <a:xfrm>
            <a:off x="5084536" y="2932339"/>
            <a:ext cx="2400300" cy="2647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4"/>
              <a:defRPr/>
            </a:pPr>
            <a:r>
              <a:rPr lang="en-US" altLang="zh-CN" b="1" dirty="0" smtClean="0"/>
              <a:t>LTE</a:t>
            </a:r>
            <a:r>
              <a:rPr lang="zh-CN" altLang="en-US" b="1" dirty="0" smtClean="0"/>
              <a:t>单站验证项目</a:t>
            </a:r>
            <a:endParaRPr lang="en-US" altLang="zh-CN" b="1" dirty="0" smtClean="0"/>
          </a:p>
          <a:p>
            <a:pPr marL="457200" indent="-457200">
              <a:buClr>
                <a:schemeClr val="tx1"/>
              </a:buClr>
              <a:buSzTx/>
              <a:buNone/>
              <a:defRPr/>
            </a:pPr>
            <a:r>
              <a:rPr lang="en-US" altLang="zh-CN" dirty="0" smtClean="0">
                <a:solidFill>
                  <a:schemeClr val="bg1">
                    <a:lumMod val="75000"/>
                  </a:schemeClr>
                </a:solidFill>
              </a:rPr>
              <a:t>	4.1  DT</a:t>
            </a:r>
            <a:r>
              <a:rPr lang="zh-CN" altLang="en-US" dirty="0" smtClean="0">
                <a:solidFill>
                  <a:schemeClr val="bg1">
                    <a:lumMod val="75000"/>
                  </a:schemeClr>
                </a:solidFill>
              </a:rPr>
              <a:t>覆盖测试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t>	4.2  LTE</a:t>
            </a:r>
            <a:r>
              <a:rPr lang="zh-CN" altLang="zh-CN" dirty="0" smtClean="0"/>
              <a:t>接入功能测试</a:t>
            </a:r>
            <a:endParaRPr lang="en-US" altLang="zh-CN" dirty="0" smtClean="0"/>
          </a:p>
          <a:p>
            <a:pPr marL="457200" indent="-457200">
              <a:buClr>
                <a:schemeClr val="tx1"/>
              </a:buClr>
              <a:buSzTx/>
              <a:buNone/>
              <a:defRPr/>
            </a:pPr>
            <a:r>
              <a:rPr lang="en-US" altLang="zh-CN" dirty="0" smtClean="0">
                <a:solidFill>
                  <a:schemeClr val="bg1">
                    <a:lumMod val="75000"/>
                  </a:schemeClr>
                </a:solidFill>
              </a:rPr>
              <a:t>	4.3  LTE Ping</a:t>
            </a:r>
            <a:r>
              <a:rPr lang="zh-CN" altLang="zh-CN"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4.4  LTE FTP</a:t>
            </a:r>
            <a:r>
              <a:rPr lang="zh-CN" altLang="en-US"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4.5  LTE </a:t>
            </a:r>
            <a:r>
              <a:rPr lang="zh-CN" altLang="zh-CN" dirty="0" smtClean="0">
                <a:solidFill>
                  <a:schemeClr val="bg1">
                    <a:lumMod val="75000"/>
                  </a:schemeClr>
                </a:solidFill>
              </a:rPr>
              <a:t>站内切换验证测试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85000"/>
                  </a:schemeClr>
                </a:solidFill>
              </a:rPr>
              <a:t>	4.6  LTE</a:t>
            </a:r>
            <a:r>
              <a:rPr lang="zh-CN" altLang="en-US" dirty="0" smtClean="0">
                <a:solidFill>
                  <a:schemeClr val="bg1">
                    <a:lumMod val="85000"/>
                  </a:schemeClr>
                </a:solidFill>
              </a:rPr>
              <a:t>传输测试</a:t>
            </a:r>
            <a:endParaRPr lang="en-US" altLang="zh-CN" dirty="0" smtClean="0">
              <a:solidFill>
                <a:schemeClr val="bg1">
                  <a:lumMod val="85000"/>
                </a:schemeClr>
              </a:solidFill>
            </a:endParaRPr>
          </a:p>
          <a:p>
            <a:pPr marL="457200" indent="-457200">
              <a:buClr>
                <a:schemeClr val="tx1"/>
              </a:buClr>
              <a:buSzTx/>
              <a:buNone/>
              <a:defRPr/>
            </a:pPr>
            <a:r>
              <a:rPr lang="en-US" altLang="zh-CN" dirty="0" smtClean="0">
                <a:solidFill>
                  <a:schemeClr val="bg1">
                    <a:lumMod val="85000"/>
                  </a:schemeClr>
                </a:solidFill>
              </a:rPr>
              <a:t>	4.7  LTE</a:t>
            </a:r>
            <a:r>
              <a:rPr lang="zh-CN" altLang="en-US" dirty="0" smtClean="0">
                <a:solidFill>
                  <a:schemeClr val="bg1">
                    <a:lumMod val="85000"/>
                  </a:schemeClr>
                </a:solidFill>
              </a:rPr>
              <a:t>站点上下行吞吐率测试</a:t>
            </a:r>
            <a:endParaRPr lang="zh-CN" altLang="zh-CN" dirty="0" smtClean="0">
              <a:solidFill>
                <a:schemeClr val="bg1">
                  <a:lumMod val="85000"/>
                </a:schemeClr>
              </a:solidFill>
            </a:endParaRPr>
          </a:p>
          <a:p>
            <a:pPr marL="457200" indent="-457200">
              <a:buClr>
                <a:schemeClr val="tx1"/>
              </a:buClr>
              <a:buSzTx/>
              <a:buNone/>
              <a:defRPr/>
            </a:pPr>
            <a:endParaRPr lang="zh-CN" altLang="zh-CN" dirty="0" smtClean="0">
              <a:solidFill>
                <a:schemeClr val="bg1">
                  <a:lumMod val="75000"/>
                </a:schemeClr>
              </a:solidFill>
            </a:endParaRPr>
          </a:p>
          <a:p>
            <a:pPr marL="457200" indent="-457200">
              <a:buClr>
                <a:schemeClr val="tx1"/>
              </a:buClr>
              <a:buSzTx/>
              <a:buNone/>
              <a:defRPr/>
            </a:pPr>
            <a:endParaRPr lang="zh-CN" altLang="zh-CN" dirty="0" smtClean="0">
              <a:solidFill>
                <a:srgbClr val="777777"/>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en-US" altLang="zh-CN"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72</a:t>
            </a:fld>
            <a:endParaRPr lang="en-US" altLang="zh-CN"/>
          </a:p>
        </p:txBody>
      </p:sp>
    </p:spTree>
  </p:cSld>
  <p:clrMapOvr>
    <a:masterClrMapping/>
  </p:clrMapOvr>
  <p:transition advClick="0" advTm="8000"/>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a:t>
            </a:r>
            <a:r>
              <a:rPr lang="zh-CN" altLang="en-US" dirty="0" smtClean="0"/>
              <a:t>接入功能测试</a:t>
            </a:r>
            <a:r>
              <a:rPr lang="en-US" altLang="zh-CN" dirty="0" smtClean="0"/>
              <a:t>-</a:t>
            </a:r>
            <a:r>
              <a:rPr lang="zh-CN" altLang="en-US" dirty="0" smtClean="0"/>
              <a:t>验证方法</a:t>
            </a:r>
            <a:endParaRPr lang="zh-CN" altLang="en-US" dirty="0"/>
          </a:p>
        </p:txBody>
      </p:sp>
      <p:sp>
        <p:nvSpPr>
          <p:cNvPr id="3" name="内容占位符 2"/>
          <p:cNvSpPr>
            <a:spLocks noGrp="1"/>
          </p:cNvSpPr>
          <p:nvPr>
            <p:ph idx="1"/>
          </p:nvPr>
        </p:nvSpPr>
        <p:spPr/>
        <p:txBody>
          <a:bodyPr/>
          <a:lstStyle/>
          <a:p>
            <a:pPr marL="301625" lvl="2" indent="-301625">
              <a:buClr>
                <a:srgbClr val="808080"/>
              </a:buClr>
              <a:buSzPct val="60000"/>
              <a:buFont typeface="Wingdings" pitchFamily="2" charset="2"/>
              <a:buChar char="l"/>
            </a:pPr>
            <a:r>
              <a:rPr lang="zh-CN" altLang="zh-CN" sz="2200" dirty="0" smtClean="0">
                <a:cs typeface="+mn-cs"/>
              </a:rPr>
              <a:t>在</a:t>
            </a:r>
            <a:r>
              <a:rPr lang="en-US" altLang="zh-CN" sz="2200" dirty="0" smtClean="0">
                <a:cs typeface="+mn-cs"/>
              </a:rPr>
              <a:t>Probe</a:t>
            </a:r>
            <a:r>
              <a:rPr lang="zh-CN" altLang="zh-CN" sz="2200" dirty="0" smtClean="0">
                <a:cs typeface="+mn-cs"/>
              </a:rPr>
              <a:t>软件里面，选择“</a:t>
            </a:r>
            <a:r>
              <a:rPr lang="en-US" altLang="zh-CN" sz="2200" dirty="0" smtClean="0">
                <a:cs typeface="+mn-cs"/>
              </a:rPr>
              <a:t>Configuration</a:t>
            </a:r>
            <a:r>
              <a:rPr lang="zh-CN" altLang="zh-CN" sz="2200" dirty="0" smtClean="0">
                <a:cs typeface="+mn-cs"/>
              </a:rPr>
              <a:t>”－“</a:t>
            </a:r>
            <a:r>
              <a:rPr lang="en-US" altLang="zh-CN" sz="2200" dirty="0" smtClean="0">
                <a:cs typeface="+mn-cs"/>
              </a:rPr>
              <a:t>Test Plan Control</a:t>
            </a:r>
            <a:r>
              <a:rPr lang="zh-CN" altLang="zh-CN" sz="2200" dirty="0" smtClean="0">
                <a:cs typeface="+mn-cs"/>
              </a:rPr>
              <a:t>”，接着点击“</a:t>
            </a:r>
            <a:r>
              <a:rPr lang="en-US" altLang="zh-CN" sz="2200" dirty="0" smtClean="0">
                <a:cs typeface="+mn-cs"/>
              </a:rPr>
              <a:t>Click here to </a:t>
            </a:r>
            <a:r>
              <a:rPr lang="en-US" altLang="zh-CN" sz="2200" dirty="0" err="1" smtClean="0">
                <a:cs typeface="+mn-cs"/>
              </a:rPr>
              <a:t>config</a:t>
            </a:r>
            <a:r>
              <a:rPr lang="zh-CN" altLang="zh-CN" sz="2200" dirty="0" smtClean="0">
                <a:cs typeface="+mn-cs"/>
              </a:rPr>
              <a:t>”，进行如下设置：</a:t>
            </a:r>
          </a:p>
          <a:p>
            <a:pPr marL="692150" lvl="2" indent="-342900">
              <a:buClr>
                <a:srgbClr val="808080"/>
              </a:buClr>
              <a:buSzPct val="80000"/>
              <a:buFont typeface="+mj-lt"/>
              <a:buAutoNum type="arabicPeriod" startAt="3"/>
            </a:pPr>
            <a:endParaRPr lang="zh-CN" altLang="en-US"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73</a:t>
            </a:fld>
            <a:endParaRPr lang="en-US" altLang="zh-CN"/>
          </a:p>
        </p:txBody>
      </p:sp>
      <p:pic>
        <p:nvPicPr>
          <p:cNvPr id="5" name="图片 4"/>
          <p:cNvPicPr/>
          <p:nvPr/>
        </p:nvPicPr>
        <p:blipFill>
          <a:blip r:embed="rId3" cstate="print"/>
          <a:srcRect/>
          <a:stretch>
            <a:fillRect/>
          </a:stretch>
        </p:blipFill>
        <p:spPr bwMode="auto">
          <a:xfrm>
            <a:off x="2008909" y="2493817"/>
            <a:ext cx="4914405" cy="373281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a:t>
            </a:r>
            <a:r>
              <a:rPr lang="zh-CN" altLang="en-US" dirty="0" smtClean="0"/>
              <a:t>接入功能测试</a:t>
            </a:r>
            <a:r>
              <a:rPr lang="en-US" altLang="zh-CN" dirty="0" smtClean="0"/>
              <a:t>-</a:t>
            </a:r>
            <a:r>
              <a:rPr lang="zh-CN" altLang="en-US" dirty="0" smtClean="0"/>
              <a:t>验证准则</a:t>
            </a:r>
            <a:endParaRPr lang="zh-CN" altLang="en-US" dirty="0"/>
          </a:p>
        </p:txBody>
      </p:sp>
      <p:sp>
        <p:nvSpPr>
          <p:cNvPr id="3" name="内容占位符 2"/>
          <p:cNvSpPr>
            <a:spLocks noGrp="1"/>
          </p:cNvSpPr>
          <p:nvPr>
            <p:ph idx="1"/>
          </p:nvPr>
        </p:nvSpPr>
        <p:spPr/>
        <p:txBody>
          <a:bodyPr/>
          <a:lstStyle/>
          <a:p>
            <a:r>
              <a:rPr lang="zh-CN" altLang="zh-CN" dirty="0" smtClean="0"/>
              <a:t>对于</a:t>
            </a:r>
            <a:r>
              <a:rPr lang="en-US" altLang="zh-CN" dirty="0" smtClean="0"/>
              <a:t>LTE UE</a:t>
            </a:r>
            <a:r>
              <a:rPr lang="zh-CN" altLang="zh-CN" dirty="0" smtClean="0"/>
              <a:t>接入功能测试，验证准则可以参考下述内容：</a:t>
            </a:r>
          </a:p>
          <a:p>
            <a:pPr lvl="1"/>
            <a:r>
              <a:rPr lang="zh-CN" altLang="zh-CN" dirty="0" smtClean="0"/>
              <a:t>对于</a:t>
            </a:r>
            <a:r>
              <a:rPr lang="en-US" altLang="zh-CN" dirty="0" smtClean="0"/>
              <a:t>LTE UE</a:t>
            </a:r>
            <a:r>
              <a:rPr lang="zh-CN" altLang="zh-CN" dirty="0" smtClean="0"/>
              <a:t>终端，可以通过</a:t>
            </a:r>
            <a:r>
              <a:rPr lang="en-US" altLang="zh-CN" dirty="0" smtClean="0"/>
              <a:t>Probe</a:t>
            </a:r>
            <a:r>
              <a:rPr lang="zh-CN" altLang="zh-CN" dirty="0" smtClean="0"/>
              <a:t>中的</a:t>
            </a:r>
            <a:r>
              <a:rPr lang="en-US" altLang="zh-CN" dirty="0" smtClean="0"/>
              <a:t>Test plan</a:t>
            </a:r>
            <a:r>
              <a:rPr lang="zh-CN" altLang="zh-CN" dirty="0" smtClean="0"/>
              <a:t>的通过执行结果查看</a:t>
            </a:r>
            <a:r>
              <a:rPr lang="en-US" altLang="zh-CN" dirty="0" smtClean="0"/>
              <a:t>Attach</a:t>
            </a:r>
            <a:r>
              <a:rPr lang="zh-CN" altLang="zh-CN" dirty="0" smtClean="0"/>
              <a:t>和</a:t>
            </a:r>
            <a:r>
              <a:rPr lang="en-US" altLang="zh-CN" dirty="0" smtClean="0"/>
              <a:t>Detach</a:t>
            </a:r>
            <a:r>
              <a:rPr lang="zh-CN" altLang="zh-CN" dirty="0" smtClean="0"/>
              <a:t>是否成功，可以通过</a:t>
            </a:r>
            <a:r>
              <a:rPr lang="en-US" altLang="zh-CN" dirty="0" smtClean="0"/>
              <a:t>Probe</a:t>
            </a:r>
            <a:r>
              <a:rPr lang="zh-CN" altLang="zh-CN" dirty="0" smtClean="0"/>
              <a:t>中的</a:t>
            </a:r>
            <a:r>
              <a:rPr lang="en-US" altLang="zh-CN" dirty="0" smtClean="0"/>
              <a:t>L3 Message</a:t>
            </a:r>
            <a:r>
              <a:rPr lang="zh-CN" altLang="zh-CN" dirty="0" smtClean="0"/>
              <a:t>查看核心网是否成功地分配业务</a:t>
            </a:r>
            <a:r>
              <a:rPr lang="en-US" altLang="zh-CN" dirty="0" smtClean="0"/>
              <a:t>IP</a:t>
            </a:r>
            <a:r>
              <a:rPr lang="zh-CN" altLang="zh-CN" dirty="0" smtClean="0"/>
              <a:t>地址。</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74</a:t>
            </a:fld>
            <a:endParaRPr lang="en-US" altLang="zh-CN"/>
          </a:p>
        </p:txBody>
      </p:sp>
      <p:pic>
        <p:nvPicPr>
          <p:cNvPr id="5" name="图片 4"/>
          <p:cNvPicPr/>
          <p:nvPr/>
        </p:nvPicPr>
        <p:blipFill>
          <a:blip r:embed="rId3" cstate="print"/>
          <a:srcRect/>
          <a:stretch>
            <a:fillRect/>
          </a:stretch>
        </p:blipFill>
        <p:spPr bwMode="auto">
          <a:xfrm>
            <a:off x="1350735" y="3236912"/>
            <a:ext cx="3729265" cy="2975201"/>
          </a:xfrm>
          <a:prstGeom prst="rect">
            <a:avLst/>
          </a:prstGeom>
          <a:noFill/>
          <a:ln w="9525">
            <a:noFill/>
            <a:miter lim="800000"/>
            <a:headEnd/>
            <a:tailEnd/>
          </a:ln>
        </p:spPr>
      </p:pic>
      <p:sp>
        <p:nvSpPr>
          <p:cNvPr id="7" name="线形标注 2 6"/>
          <p:cNvSpPr/>
          <p:nvPr/>
        </p:nvSpPr>
        <p:spPr bwMode="auto">
          <a:xfrm>
            <a:off x="5646044" y="4847767"/>
            <a:ext cx="2104586" cy="467183"/>
          </a:xfrm>
          <a:prstGeom prst="borderCallout2">
            <a:avLst>
              <a:gd name="adj1" fmla="val 16750"/>
              <a:gd name="adj2" fmla="val 204"/>
              <a:gd name="adj3" fmla="val 18750"/>
              <a:gd name="adj4" fmla="val -16667"/>
              <a:gd name="adj5" fmla="val 112500"/>
              <a:gd name="adj6" fmla="val -46667"/>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1" fontAlgn="t" latinLnBrk="0" hangingPunct="1">
              <a:lnSpc>
                <a:spcPct val="100000"/>
              </a:lnSpc>
              <a:spcBef>
                <a:spcPct val="0"/>
              </a:spcBef>
              <a:spcAft>
                <a:spcPct val="0"/>
              </a:spcAft>
              <a:buClrTx/>
              <a:buSzTx/>
              <a:buFontTx/>
              <a:buNone/>
              <a:tabLst/>
            </a:pPr>
            <a:r>
              <a:rPr kumimoji="0" lang="en-US" altLang="zh-CN" sz="1800" b="0" i="0" u="none" strike="noStrike" cap="none" normalizeH="0" baseline="0" dirty="0" err="1" smtClean="0">
                <a:ln>
                  <a:noFill/>
                </a:ln>
                <a:solidFill>
                  <a:schemeClr val="tx1"/>
                </a:solidFill>
                <a:effectLst/>
                <a:latin typeface="Arial" charset="0"/>
                <a:ea typeface="华文细黑" pitchFamily="2" charset="-122"/>
              </a:rPr>
              <a:t>AttachAccept</a:t>
            </a:r>
            <a:endParaRPr kumimoji="0" lang="zh-CN" altLang="en-US" sz="1800" b="0" i="0" u="none" strike="noStrike" cap="none" normalizeH="0" baseline="0" dirty="0" smtClean="0">
              <a:ln>
                <a:noFill/>
              </a:ln>
              <a:solidFill>
                <a:schemeClr val="tx1"/>
              </a:solidFill>
              <a:effectLst/>
              <a:latin typeface="Arial" charset="0"/>
              <a:ea typeface="华文细黑" pitchFamily="2" charset="-122"/>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4"/>
              <a:defRPr/>
            </a:pPr>
            <a:r>
              <a:rPr lang="en-US" altLang="zh-CN" b="1" dirty="0" smtClean="0"/>
              <a:t>LTE</a:t>
            </a:r>
            <a:r>
              <a:rPr lang="zh-CN" altLang="en-US" b="1" dirty="0" smtClean="0"/>
              <a:t>单站验证项目</a:t>
            </a:r>
            <a:endParaRPr lang="en-US" altLang="zh-CN" b="1" dirty="0" smtClean="0"/>
          </a:p>
          <a:p>
            <a:pPr marL="457200" indent="-457200">
              <a:buClr>
                <a:schemeClr val="tx1"/>
              </a:buClr>
              <a:buSzTx/>
              <a:buNone/>
              <a:defRPr/>
            </a:pPr>
            <a:r>
              <a:rPr lang="en-US" altLang="zh-CN" dirty="0" smtClean="0">
                <a:solidFill>
                  <a:schemeClr val="bg1">
                    <a:lumMod val="75000"/>
                  </a:schemeClr>
                </a:solidFill>
              </a:rPr>
              <a:t>	4.1  DT</a:t>
            </a:r>
            <a:r>
              <a:rPr lang="zh-CN" altLang="en-US" dirty="0" smtClean="0">
                <a:solidFill>
                  <a:schemeClr val="bg1">
                    <a:lumMod val="75000"/>
                  </a:schemeClr>
                </a:solidFill>
              </a:rPr>
              <a:t>覆盖测试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4.2  LTE</a:t>
            </a:r>
            <a:r>
              <a:rPr lang="zh-CN" altLang="zh-CN" dirty="0" smtClean="0">
                <a:solidFill>
                  <a:schemeClr val="bg1">
                    <a:lumMod val="75000"/>
                  </a:schemeClr>
                </a:solidFill>
              </a:rPr>
              <a:t>接入功能测试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t>	4.3  LTE Ping</a:t>
            </a:r>
            <a:r>
              <a:rPr lang="zh-CN" altLang="zh-CN" dirty="0" smtClean="0"/>
              <a:t>功能测试</a:t>
            </a:r>
            <a:endParaRPr lang="en-US" altLang="zh-CN" dirty="0" smtClean="0"/>
          </a:p>
          <a:p>
            <a:pPr marL="457200" indent="-457200">
              <a:buClr>
                <a:schemeClr val="tx1"/>
              </a:buClr>
              <a:buSzTx/>
              <a:buNone/>
              <a:defRPr/>
            </a:pPr>
            <a:r>
              <a:rPr lang="en-US" altLang="zh-CN" dirty="0" smtClean="0">
                <a:solidFill>
                  <a:schemeClr val="bg1">
                    <a:lumMod val="75000"/>
                  </a:schemeClr>
                </a:solidFill>
              </a:rPr>
              <a:t>	4.4  LTE FTP</a:t>
            </a:r>
            <a:r>
              <a:rPr lang="zh-CN" altLang="en-US"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4.5  LTE </a:t>
            </a:r>
            <a:r>
              <a:rPr lang="zh-CN" altLang="zh-CN" dirty="0" smtClean="0">
                <a:solidFill>
                  <a:schemeClr val="bg1">
                    <a:lumMod val="75000"/>
                  </a:schemeClr>
                </a:solidFill>
              </a:rPr>
              <a:t>站内切换验证测试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85000"/>
                  </a:schemeClr>
                </a:solidFill>
              </a:rPr>
              <a:t>	4.6  LTE</a:t>
            </a:r>
            <a:r>
              <a:rPr lang="zh-CN" altLang="en-US" dirty="0" smtClean="0">
                <a:solidFill>
                  <a:schemeClr val="bg1">
                    <a:lumMod val="85000"/>
                  </a:schemeClr>
                </a:solidFill>
              </a:rPr>
              <a:t>传输测试</a:t>
            </a:r>
            <a:endParaRPr lang="en-US" altLang="zh-CN" dirty="0" smtClean="0">
              <a:solidFill>
                <a:schemeClr val="bg1">
                  <a:lumMod val="85000"/>
                </a:schemeClr>
              </a:solidFill>
            </a:endParaRPr>
          </a:p>
          <a:p>
            <a:pPr marL="457200" indent="-457200">
              <a:buClr>
                <a:schemeClr val="tx1"/>
              </a:buClr>
              <a:buSzTx/>
              <a:buNone/>
              <a:defRPr/>
            </a:pPr>
            <a:r>
              <a:rPr lang="en-US" altLang="zh-CN" dirty="0" smtClean="0">
                <a:solidFill>
                  <a:schemeClr val="bg1">
                    <a:lumMod val="85000"/>
                  </a:schemeClr>
                </a:solidFill>
              </a:rPr>
              <a:t>	4.7  LTE</a:t>
            </a:r>
            <a:r>
              <a:rPr lang="zh-CN" altLang="en-US" dirty="0" smtClean="0">
                <a:solidFill>
                  <a:schemeClr val="bg1">
                    <a:lumMod val="85000"/>
                  </a:schemeClr>
                </a:solidFill>
              </a:rPr>
              <a:t>站点上下行吞吐率测试</a:t>
            </a:r>
            <a:endParaRPr lang="zh-CN" altLang="zh-CN" dirty="0" smtClean="0">
              <a:solidFill>
                <a:schemeClr val="bg1">
                  <a:lumMod val="85000"/>
                </a:schemeClr>
              </a:solidFill>
            </a:endParaRPr>
          </a:p>
          <a:p>
            <a:pPr marL="457200" indent="-457200">
              <a:buClr>
                <a:schemeClr val="tx1"/>
              </a:buClr>
              <a:buSzTx/>
              <a:buNone/>
              <a:defRPr/>
            </a:pPr>
            <a:endParaRPr lang="zh-CN" altLang="zh-CN" dirty="0" smtClean="0">
              <a:solidFill>
                <a:schemeClr val="bg1">
                  <a:lumMod val="75000"/>
                </a:schemeClr>
              </a:solidFill>
            </a:endParaRPr>
          </a:p>
          <a:p>
            <a:pPr marL="457200" indent="-457200">
              <a:buClr>
                <a:schemeClr val="tx1"/>
              </a:buClr>
              <a:buSzTx/>
              <a:buNone/>
              <a:defRPr/>
            </a:pPr>
            <a:endParaRPr lang="zh-CN" altLang="zh-CN" dirty="0" smtClean="0">
              <a:solidFill>
                <a:srgbClr val="777777"/>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en-US" altLang="zh-CN"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75</a:t>
            </a:fld>
            <a:endParaRPr lang="en-US" altLang="zh-CN"/>
          </a:p>
        </p:txBody>
      </p:sp>
    </p:spTree>
  </p:cSld>
  <p:clrMapOvr>
    <a:masterClrMapping/>
  </p:clrMapOvr>
  <p:transition advClick="0" advTm="8000"/>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Ping</a:t>
            </a:r>
            <a:r>
              <a:rPr lang="zh-CN" altLang="zh-CN" dirty="0" smtClean="0"/>
              <a:t>时延</a:t>
            </a:r>
            <a:endParaRPr lang="zh-CN" altLang="en-US" dirty="0" smtClean="0"/>
          </a:p>
        </p:txBody>
      </p:sp>
      <p:sp>
        <p:nvSpPr>
          <p:cNvPr id="3" name="内容占位符 2"/>
          <p:cNvSpPr>
            <a:spLocks noGrp="1"/>
          </p:cNvSpPr>
          <p:nvPr>
            <p:ph idx="1"/>
          </p:nvPr>
        </p:nvSpPr>
        <p:spPr/>
        <p:txBody>
          <a:bodyPr/>
          <a:lstStyle/>
          <a:p>
            <a:r>
              <a:rPr lang="zh-CN" altLang="zh-CN" dirty="0" smtClean="0"/>
              <a:t>测试要求：</a:t>
            </a:r>
          </a:p>
          <a:p>
            <a:pPr lvl="1"/>
            <a:r>
              <a:rPr lang="zh-CN" altLang="zh-CN" dirty="0" smtClean="0"/>
              <a:t>固网传输时延</a:t>
            </a:r>
            <a:r>
              <a:rPr lang="en-US" altLang="zh-CN" dirty="0" smtClean="0"/>
              <a:t>&lt;3ms</a:t>
            </a:r>
            <a:endParaRPr lang="zh-CN" altLang="zh-CN" dirty="0" smtClean="0"/>
          </a:p>
          <a:p>
            <a:pPr lvl="1"/>
            <a:r>
              <a:rPr lang="zh-CN" altLang="zh-CN" dirty="0" smtClean="0"/>
              <a:t>终端放在覆盖良好的地方静止测试，要求</a:t>
            </a:r>
            <a:r>
              <a:rPr lang="en-US" altLang="zh-CN" dirty="0" smtClean="0"/>
              <a:t>RSRP</a:t>
            </a:r>
            <a:r>
              <a:rPr lang="zh-CN" altLang="zh-CN" dirty="0" smtClean="0"/>
              <a:t>≥</a:t>
            </a:r>
            <a:r>
              <a:rPr lang="en-US" altLang="zh-CN" dirty="0" smtClean="0"/>
              <a:t>-80dBm</a:t>
            </a:r>
            <a:r>
              <a:rPr lang="zh-CN" altLang="zh-CN" dirty="0" smtClean="0"/>
              <a:t>，</a:t>
            </a:r>
            <a:r>
              <a:rPr lang="en-US" altLang="zh-CN" dirty="0" smtClean="0"/>
              <a:t>SINR</a:t>
            </a:r>
            <a:r>
              <a:rPr lang="zh-CN" altLang="zh-CN" dirty="0" smtClean="0"/>
              <a:t>≥</a:t>
            </a:r>
            <a:r>
              <a:rPr lang="en-US" altLang="zh-CN" dirty="0" smtClean="0"/>
              <a:t>25dB</a:t>
            </a:r>
            <a:endParaRPr lang="zh-CN" altLang="zh-CN" dirty="0" smtClean="0"/>
          </a:p>
          <a:p>
            <a:pPr lvl="1"/>
            <a:r>
              <a:rPr lang="zh-CN" altLang="zh-CN" dirty="0" smtClean="0"/>
              <a:t>上行预调度打开（算法开关默认是打开的）</a:t>
            </a:r>
          </a:p>
          <a:p>
            <a:pPr lvl="1"/>
            <a:r>
              <a:rPr lang="en-US" altLang="zh-CN" dirty="0" smtClean="0"/>
              <a:t>Ping</a:t>
            </a:r>
            <a:r>
              <a:rPr lang="zh-CN" altLang="zh-CN" dirty="0" smtClean="0"/>
              <a:t>次数为</a:t>
            </a:r>
            <a:r>
              <a:rPr lang="en-US" altLang="zh-CN" dirty="0" smtClean="0"/>
              <a:t>100</a:t>
            </a:r>
            <a:r>
              <a:rPr lang="zh-CN" altLang="zh-CN" dirty="0" smtClean="0"/>
              <a:t>次，</a:t>
            </a:r>
            <a:r>
              <a:rPr lang="en-US" altLang="zh-CN" dirty="0" smtClean="0"/>
              <a:t>Ping</a:t>
            </a:r>
            <a:r>
              <a:rPr lang="zh-CN" altLang="zh-CN" dirty="0" smtClean="0"/>
              <a:t>包大小为</a:t>
            </a:r>
            <a:r>
              <a:rPr lang="en-US" altLang="zh-CN" dirty="0" smtClean="0"/>
              <a:t>32Bytes (</a:t>
            </a:r>
            <a:r>
              <a:rPr lang="zh-CN" altLang="zh-CN" dirty="0" smtClean="0"/>
              <a:t>偶尔出现第一个</a:t>
            </a:r>
            <a:r>
              <a:rPr lang="en-US" altLang="zh-CN" dirty="0" smtClean="0"/>
              <a:t>ping</a:t>
            </a:r>
            <a:r>
              <a:rPr lang="zh-CN" altLang="zh-CN" dirty="0" smtClean="0"/>
              <a:t>包大时延的问题</a:t>
            </a:r>
            <a:r>
              <a:rPr lang="en-US" altLang="zh-CN" dirty="0" smtClean="0"/>
              <a:t>,</a:t>
            </a:r>
            <a:r>
              <a:rPr lang="zh-CN" altLang="zh-CN" dirty="0" smtClean="0"/>
              <a:t>可以扣除第一个</a:t>
            </a:r>
            <a:r>
              <a:rPr lang="en-US" altLang="zh-CN" dirty="0" smtClean="0"/>
              <a:t>ping</a:t>
            </a:r>
            <a:r>
              <a:rPr lang="zh-CN" altLang="zh-CN" dirty="0" smtClean="0"/>
              <a:t>包时延计算</a:t>
            </a:r>
            <a:r>
              <a:rPr lang="en-US" altLang="zh-CN" dirty="0" smtClean="0"/>
              <a:t>)</a:t>
            </a:r>
            <a:endParaRPr lang="zh-CN" altLang="zh-CN" dirty="0" smtClean="0"/>
          </a:p>
          <a:p>
            <a:pPr lvl="1"/>
            <a:r>
              <a:rPr lang="zh-CN" altLang="zh-CN" dirty="0" smtClean="0"/>
              <a:t>测试</a:t>
            </a:r>
            <a:r>
              <a:rPr lang="en-US" altLang="zh-CN" dirty="0" smtClean="0"/>
              <a:t>2</a:t>
            </a:r>
            <a:r>
              <a:rPr lang="zh-CN" altLang="zh-CN" dirty="0" smtClean="0"/>
              <a:t>组数据</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76</a:t>
            </a:fld>
            <a:endParaRPr lang="en-US" altLang="zh-CN"/>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3268" name="Line 4"/>
          <p:cNvSpPr>
            <a:spLocks noChangeShapeType="1"/>
          </p:cNvSpPr>
          <p:nvPr/>
        </p:nvSpPr>
        <p:spPr bwMode="auto">
          <a:xfrm>
            <a:off x="496888" y="2844800"/>
            <a:ext cx="1295400" cy="0"/>
          </a:xfrm>
          <a:prstGeom prst="line">
            <a:avLst/>
          </a:prstGeom>
          <a:noFill/>
          <a:ln w="9525">
            <a:noFill/>
            <a:round/>
            <a:headEnd/>
            <a:tailEnd/>
          </a:ln>
          <a:effectLst>
            <a:outerShdw dist="35921" dir="2700000" algn="ctr" rotWithShape="0">
              <a:schemeClr val="bg2">
                <a:alpha val="50000"/>
              </a:schemeClr>
            </a:outerShdw>
          </a:effectLst>
        </p:spPr>
        <p:txBody>
          <a:bodyPr lIns="83448" tIns="41724" rIns="83448" bIns="41724">
            <a:spAutoFit/>
          </a:bodyPr>
          <a:lstStyle/>
          <a:p>
            <a:pPr fontAlgn="t">
              <a:defRPr/>
            </a:pPr>
            <a:endParaRPr lang="en-US">
              <a:ea typeface="华文细黑" pitchFamily="2" charset="-122"/>
            </a:endParaRPr>
          </a:p>
        </p:txBody>
      </p:sp>
      <p:pic>
        <p:nvPicPr>
          <p:cNvPr id="40963" name="Picture 2"/>
          <p:cNvPicPr>
            <a:picLocks noChangeAspect="1" noChangeArrowheads="1"/>
          </p:cNvPicPr>
          <p:nvPr/>
        </p:nvPicPr>
        <p:blipFill>
          <a:blip r:embed="rId3" cstate="print"/>
          <a:srcRect/>
          <a:stretch>
            <a:fillRect/>
          </a:stretch>
        </p:blipFill>
        <p:spPr bwMode="auto">
          <a:xfrm>
            <a:off x="609600" y="1398588"/>
            <a:ext cx="8164513" cy="4087812"/>
          </a:xfrm>
          <a:prstGeom prst="rect">
            <a:avLst/>
          </a:prstGeom>
          <a:noFill/>
          <a:ln w="9525" algn="ctr">
            <a:noFill/>
            <a:miter lim="800000"/>
            <a:headEnd/>
            <a:tailEnd/>
          </a:ln>
        </p:spPr>
      </p:pic>
      <p:sp>
        <p:nvSpPr>
          <p:cNvPr id="40964" name="标题 1"/>
          <p:cNvSpPr>
            <a:spLocks noGrp="1"/>
          </p:cNvSpPr>
          <p:nvPr>
            <p:ph type="title"/>
          </p:nvPr>
        </p:nvSpPr>
        <p:spPr/>
        <p:txBody>
          <a:bodyPr/>
          <a:lstStyle/>
          <a:p>
            <a:pPr eaLnBrk="1" hangingPunct="1"/>
            <a:r>
              <a:rPr lang="zh-CN" altLang="en-US" dirty="0" smtClean="0"/>
              <a:t>测试计划举例</a:t>
            </a:r>
            <a:r>
              <a:rPr lang="en-US" altLang="zh-CN" dirty="0" smtClean="0"/>
              <a:t>(</a:t>
            </a:r>
            <a:r>
              <a:rPr lang="zh-CN" altLang="en-US" dirty="0" smtClean="0"/>
              <a:t>一</a:t>
            </a:r>
            <a:r>
              <a:rPr lang="en-US" altLang="zh-CN" dirty="0" smtClean="0"/>
              <a:t>): Ping</a:t>
            </a:r>
            <a:r>
              <a:rPr lang="zh-CN" altLang="en-US" dirty="0" smtClean="0"/>
              <a:t>设置</a:t>
            </a:r>
          </a:p>
        </p:txBody>
      </p:sp>
      <p:sp>
        <p:nvSpPr>
          <p:cNvPr id="40965" name="灯片编号占位符 5"/>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B436DCDA-550F-45F7-9A72-945DA335413D}" type="slidenum">
              <a:rPr lang="en-US" altLang="zh-CN" smtClean="0">
                <a:latin typeface="FrutigerNext LT Bold" pitchFamily="34" charset="0"/>
                <a:ea typeface="ＭＳ Ｐゴシック" pitchFamily="34" charset="-128"/>
              </a:rPr>
              <a:pPr defTabSz="877888"/>
              <a:t>77</a:t>
            </a:fld>
            <a:endParaRPr lang="en-US" altLang="zh-CN" smtClean="0">
              <a:latin typeface="FrutigerNext LT Bold" pitchFamily="34" charset="0"/>
              <a:ea typeface="ＭＳ Ｐゴシック" pitchFamily="34" charset="-128"/>
            </a:endParaRP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灯片编号占位符 4"/>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E534A523-73D7-4340-ABAD-5EEFB37C0B82}" type="slidenum">
              <a:rPr lang="en-US" altLang="zh-CN" smtClean="0">
                <a:latin typeface="FrutigerNext LT Bold" pitchFamily="34" charset="0"/>
                <a:ea typeface="ＭＳ Ｐゴシック" pitchFamily="34" charset="-128"/>
              </a:rPr>
              <a:pPr defTabSz="877888"/>
              <a:t>78</a:t>
            </a:fld>
            <a:endParaRPr lang="en-US" altLang="zh-CN" smtClean="0">
              <a:latin typeface="FrutigerNext LT Bold" pitchFamily="34" charset="0"/>
              <a:ea typeface="ＭＳ Ｐゴシック" pitchFamily="34" charset="-128"/>
            </a:endParaRPr>
          </a:p>
        </p:txBody>
      </p:sp>
      <p:pic>
        <p:nvPicPr>
          <p:cNvPr id="47109" name="Picture 2"/>
          <p:cNvPicPr>
            <a:picLocks noChangeAspect="1" noChangeArrowheads="1"/>
          </p:cNvPicPr>
          <p:nvPr/>
        </p:nvPicPr>
        <p:blipFill>
          <a:blip r:embed="rId3" cstate="print"/>
          <a:srcRect/>
          <a:stretch>
            <a:fillRect/>
          </a:stretch>
        </p:blipFill>
        <p:spPr bwMode="auto">
          <a:xfrm>
            <a:off x="755650" y="1406525"/>
            <a:ext cx="7581900" cy="4719638"/>
          </a:xfrm>
          <a:prstGeom prst="rect">
            <a:avLst/>
          </a:prstGeom>
          <a:noFill/>
          <a:ln w="9525" algn="ctr">
            <a:noFill/>
            <a:miter lim="800000"/>
            <a:headEnd/>
            <a:tailEnd/>
          </a:ln>
        </p:spPr>
      </p:pic>
      <p:sp>
        <p:nvSpPr>
          <p:cNvPr id="47110" name="Oval 23"/>
          <p:cNvSpPr>
            <a:spLocks noChangeArrowheads="1"/>
          </p:cNvSpPr>
          <p:nvPr/>
        </p:nvSpPr>
        <p:spPr bwMode="auto">
          <a:xfrm>
            <a:off x="2247900" y="1838325"/>
            <a:ext cx="192088" cy="269875"/>
          </a:xfrm>
          <a:prstGeom prst="ellipse">
            <a:avLst/>
          </a:prstGeom>
          <a:noFill/>
          <a:ln w="25400" algn="ctr">
            <a:solidFill>
              <a:srgbClr val="FF0000"/>
            </a:solidFill>
            <a:round/>
            <a:headEnd/>
            <a:tailEnd/>
          </a:ln>
        </p:spPr>
        <p:txBody>
          <a:bodyPr lIns="0" tIns="41724" rIns="0" bIns="41724" anchor="ctr">
            <a:spAutoFit/>
          </a:bodyPr>
          <a:lstStyle/>
          <a:p>
            <a:pPr fontAlgn="t"/>
            <a:endParaRPr lang="zh-CN" altLang="en-US" sz="700">
              <a:ea typeface="华文细黑" pitchFamily="2" charset="-122"/>
            </a:endParaRPr>
          </a:p>
        </p:txBody>
      </p:sp>
      <p:sp>
        <p:nvSpPr>
          <p:cNvPr id="47111" name="Rounded Rectangle 7"/>
          <p:cNvSpPr>
            <a:spLocks noChangeArrowheads="1"/>
          </p:cNvSpPr>
          <p:nvPr/>
        </p:nvSpPr>
        <p:spPr bwMode="auto">
          <a:xfrm>
            <a:off x="1012825" y="3636963"/>
            <a:ext cx="2051050" cy="366712"/>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点击这里开始测试</a:t>
            </a:r>
          </a:p>
        </p:txBody>
      </p:sp>
      <p:cxnSp>
        <p:nvCxnSpPr>
          <p:cNvPr id="47112" name="Straight Arrow Connector 9"/>
          <p:cNvCxnSpPr>
            <a:cxnSpLocks noChangeShapeType="1"/>
            <a:stCxn id="47111" idx="0"/>
            <a:endCxn id="47110" idx="3"/>
          </p:cNvCxnSpPr>
          <p:nvPr/>
        </p:nvCxnSpPr>
        <p:spPr bwMode="auto">
          <a:xfrm flipV="1">
            <a:off x="2038350" y="2081213"/>
            <a:ext cx="238125" cy="1555750"/>
          </a:xfrm>
          <a:prstGeom prst="straightConnector1">
            <a:avLst/>
          </a:prstGeom>
          <a:noFill/>
          <a:ln w="9525" algn="ctr">
            <a:solidFill>
              <a:schemeClr val="tx1"/>
            </a:solidFill>
            <a:round/>
            <a:headEnd/>
            <a:tailEnd type="arrow" w="med" len="med"/>
          </a:ln>
        </p:spPr>
      </p:cxnSp>
      <p:sp>
        <p:nvSpPr>
          <p:cNvPr id="9" name="标题 8"/>
          <p:cNvSpPr>
            <a:spLocks noGrp="1"/>
          </p:cNvSpPr>
          <p:nvPr>
            <p:ph type="title"/>
          </p:nvPr>
        </p:nvSpPr>
        <p:spPr/>
        <p:txBody>
          <a:bodyPr/>
          <a:lstStyle/>
          <a:p>
            <a:r>
              <a:rPr lang="zh-CN" altLang="en-US" dirty="0" smtClean="0"/>
              <a:t>测试计划举例</a:t>
            </a:r>
            <a:r>
              <a:rPr lang="en-US" altLang="zh-CN" dirty="0" smtClean="0"/>
              <a:t>(</a:t>
            </a:r>
            <a:r>
              <a:rPr lang="zh-CN" altLang="en-US" dirty="0" smtClean="0"/>
              <a:t>一</a:t>
            </a:r>
            <a:r>
              <a:rPr lang="en-US" altLang="zh-CN" dirty="0" smtClean="0"/>
              <a:t>): </a:t>
            </a:r>
            <a:r>
              <a:rPr lang="zh-CN" altLang="en-US" dirty="0" smtClean="0"/>
              <a:t>开始测试</a:t>
            </a:r>
            <a:endParaRPr lang="zh-CN" altLang="en-US" dirty="0"/>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pPr eaLnBrk="1" hangingPunct="1"/>
            <a:r>
              <a:rPr lang="zh-CN" altLang="en-US" dirty="0" smtClean="0"/>
              <a:t>开始测试</a:t>
            </a:r>
            <a:r>
              <a:rPr lang="en-US" altLang="zh-CN" dirty="0" smtClean="0"/>
              <a:t>: </a:t>
            </a:r>
            <a:r>
              <a:rPr lang="zh-CN" altLang="en-US" dirty="0" smtClean="0"/>
              <a:t>在视图窗口选择项目</a:t>
            </a:r>
          </a:p>
        </p:txBody>
      </p:sp>
      <p:pic>
        <p:nvPicPr>
          <p:cNvPr id="48131" name="Picture 2"/>
          <p:cNvPicPr>
            <a:picLocks noChangeAspect="1" noChangeArrowheads="1"/>
          </p:cNvPicPr>
          <p:nvPr/>
        </p:nvPicPr>
        <p:blipFill>
          <a:blip r:embed="rId3" cstate="print"/>
          <a:srcRect/>
          <a:stretch>
            <a:fillRect/>
          </a:stretch>
        </p:blipFill>
        <p:spPr bwMode="auto">
          <a:xfrm>
            <a:off x="638175" y="1273175"/>
            <a:ext cx="3589338" cy="4049713"/>
          </a:xfrm>
          <a:prstGeom prst="rect">
            <a:avLst/>
          </a:prstGeom>
          <a:noFill/>
          <a:ln w="9525" algn="ctr">
            <a:noFill/>
            <a:miter lim="800000"/>
            <a:headEnd/>
            <a:tailEnd/>
          </a:ln>
        </p:spPr>
      </p:pic>
      <p:pic>
        <p:nvPicPr>
          <p:cNvPr id="48132" name="Picture 4"/>
          <p:cNvPicPr>
            <a:picLocks noChangeAspect="1" noChangeArrowheads="1"/>
          </p:cNvPicPr>
          <p:nvPr/>
        </p:nvPicPr>
        <p:blipFill>
          <a:blip r:embed="rId4" cstate="print"/>
          <a:srcRect/>
          <a:stretch>
            <a:fillRect/>
          </a:stretch>
        </p:blipFill>
        <p:spPr bwMode="auto">
          <a:xfrm>
            <a:off x="5849938" y="1284288"/>
            <a:ext cx="2673350" cy="4835525"/>
          </a:xfrm>
          <a:prstGeom prst="rect">
            <a:avLst/>
          </a:prstGeom>
          <a:noFill/>
          <a:ln w="9525" algn="ctr">
            <a:noFill/>
            <a:miter lim="800000"/>
            <a:headEnd/>
            <a:tailEnd/>
          </a:ln>
        </p:spPr>
      </p:pic>
      <p:sp>
        <p:nvSpPr>
          <p:cNvPr id="48133" name="灯片编号占位符 6"/>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6EBD7447-6847-46F9-BAB9-42A819058798}" type="slidenum">
              <a:rPr lang="en-US" altLang="zh-CN" smtClean="0">
                <a:latin typeface="FrutigerNext LT Bold" pitchFamily="34" charset="0"/>
                <a:ea typeface="ＭＳ Ｐゴシック" pitchFamily="34" charset="-128"/>
              </a:rPr>
              <a:pPr defTabSz="877888"/>
              <a:t>79</a:t>
            </a:fld>
            <a:endParaRPr lang="en-US" altLang="zh-CN" smtClean="0">
              <a:latin typeface="FrutigerNext LT Bold" pitchFamily="34" charset="0"/>
              <a:ea typeface="ＭＳ Ｐゴシック" pitchFamily="34" charset="-128"/>
            </a:endParaRPr>
          </a:p>
        </p:txBody>
      </p:sp>
      <p:sp>
        <p:nvSpPr>
          <p:cNvPr id="48134" name="Rounded Rectangle 7"/>
          <p:cNvSpPr>
            <a:spLocks noChangeArrowheads="1"/>
          </p:cNvSpPr>
          <p:nvPr/>
        </p:nvSpPr>
        <p:spPr bwMode="auto">
          <a:xfrm>
            <a:off x="1147763" y="2651125"/>
            <a:ext cx="1971675" cy="2590800"/>
          </a:xfrm>
          <a:prstGeom prst="roundRect">
            <a:avLst>
              <a:gd name="adj" fmla="val 16667"/>
            </a:avLst>
          </a:prstGeom>
          <a:noFill/>
          <a:ln w="28575" algn="ctr">
            <a:solidFill>
              <a:srgbClr val="FF0000"/>
            </a:solidFill>
            <a:round/>
            <a:headEnd/>
            <a:tailEnd/>
          </a:ln>
        </p:spPr>
        <p:txBody>
          <a:bodyPr/>
          <a:lstStyle/>
          <a:p>
            <a:pPr fontAlgn="t"/>
            <a:endParaRPr lang="en-US" altLang="zh-CN">
              <a:ea typeface="华文细黑" pitchFamily="2" charset="-122"/>
            </a:endParaRPr>
          </a:p>
        </p:txBody>
      </p:sp>
      <p:sp>
        <p:nvSpPr>
          <p:cNvPr id="48135" name="Rounded Rectangle 8"/>
          <p:cNvSpPr>
            <a:spLocks noChangeArrowheads="1"/>
          </p:cNvSpPr>
          <p:nvPr/>
        </p:nvSpPr>
        <p:spPr bwMode="auto">
          <a:xfrm>
            <a:off x="960438" y="5467350"/>
            <a:ext cx="2435225" cy="72390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选择项目以查看 </a:t>
            </a:r>
            <a:r>
              <a:rPr lang="en-US" altLang="zh-CN">
                <a:ea typeface="华文细黑" pitchFamily="2" charset="-122"/>
              </a:rPr>
              <a:t>LTE </a:t>
            </a:r>
            <a:r>
              <a:rPr lang="zh-CN" altLang="en-US">
                <a:ea typeface="华文细黑" pitchFamily="2" charset="-122"/>
              </a:rPr>
              <a:t>测试</a:t>
            </a:r>
          </a:p>
        </p:txBody>
      </p:sp>
      <p:cxnSp>
        <p:nvCxnSpPr>
          <p:cNvPr id="48136" name="Straight Arrow Connector 15"/>
          <p:cNvCxnSpPr>
            <a:cxnSpLocks noChangeShapeType="1"/>
            <a:stCxn id="48135" idx="0"/>
            <a:endCxn id="48134" idx="2"/>
          </p:cNvCxnSpPr>
          <p:nvPr/>
        </p:nvCxnSpPr>
        <p:spPr bwMode="auto">
          <a:xfrm flipH="1" flipV="1">
            <a:off x="2133600" y="5241925"/>
            <a:ext cx="44450" cy="225425"/>
          </a:xfrm>
          <a:prstGeom prst="straightConnector1">
            <a:avLst/>
          </a:prstGeom>
          <a:noFill/>
          <a:ln w="9525" algn="ctr">
            <a:solidFill>
              <a:schemeClr val="tx1"/>
            </a:solidFill>
            <a:round/>
            <a:headEnd/>
            <a:tailEnd type="arrow" w="med" len="med"/>
          </a:ln>
        </p:spPr>
      </p:cxnSp>
      <p:sp>
        <p:nvSpPr>
          <p:cNvPr id="48137" name="Rounded Rectangle 16"/>
          <p:cNvSpPr>
            <a:spLocks noChangeArrowheads="1"/>
          </p:cNvSpPr>
          <p:nvPr/>
        </p:nvSpPr>
        <p:spPr bwMode="auto">
          <a:xfrm>
            <a:off x="6264275" y="3455988"/>
            <a:ext cx="1970088" cy="2590800"/>
          </a:xfrm>
          <a:prstGeom prst="roundRect">
            <a:avLst>
              <a:gd name="adj" fmla="val 16667"/>
            </a:avLst>
          </a:prstGeom>
          <a:noFill/>
          <a:ln w="28575" algn="ctr">
            <a:solidFill>
              <a:srgbClr val="FF0000"/>
            </a:solidFill>
            <a:round/>
            <a:headEnd/>
            <a:tailEnd/>
          </a:ln>
        </p:spPr>
        <p:txBody>
          <a:bodyPr/>
          <a:lstStyle/>
          <a:p>
            <a:pPr fontAlgn="t"/>
            <a:endParaRPr lang="en-US" altLang="zh-CN">
              <a:ea typeface="华文细黑" pitchFamily="2" charset="-122"/>
            </a:endParaRPr>
          </a:p>
        </p:txBody>
      </p:sp>
      <p:sp>
        <p:nvSpPr>
          <p:cNvPr id="48138" name="Rounded Rectangle 19"/>
          <p:cNvSpPr>
            <a:spLocks noChangeArrowheads="1"/>
          </p:cNvSpPr>
          <p:nvPr/>
        </p:nvSpPr>
        <p:spPr bwMode="auto">
          <a:xfrm>
            <a:off x="3830638" y="3121025"/>
            <a:ext cx="1736725" cy="44450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选择其他项目</a:t>
            </a:r>
          </a:p>
        </p:txBody>
      </p:sp>
      <p:cxnSp>
        <p:nvCxnSpPr>
          <p:cNvPr id="48139" name="Straight Arrow Connector 21"/>
          <p:cNvCxnSpPr>
            <a:cxnSpLocks noChangeShapeType="1"/>
            <a:stCxn id="48138" idx="3"/>
            <a:endCxn id="48137" idx="1"/>
          </p:cNvCxnSpPr>
          <p:nvPr/>
        </p:nvCxnSpPr>
        <p:spPr bwMode="auto">
          <a:xfrm>
            <a:off x="5567363" y="3343275"/>
            <a:ext cx="682625" cy="1408113"/>
          </a:xfrm>
          <a:prstGeom prst="straightConnector1">
            <a:avLst/>
          </a:prstGeom>
          <a:noFill/>
          <a:ln w="9525" algn="ctr">
            <a:solidFill>
              <a:schemeClr val="tx1"/>
            </a:solidFill>
            <a:round/>
            <a:headEnd/>
            <a:tailEnd type="arrow" w="med" len="med"/>
          </a:ln>
        </p:spPr>
      </p:cxn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sz="3600" dirty="0" smtClean="0"/>
              <a:t>开始测试</a:t>
            </a:r>
            <a:r>
              <a:rPr lang="en-US" altLang="zh-CN" sz="3600" dirty="0" smtClean="0"/>
              <a:t>:</a:t>
            </a:r>
            <a:r>
              <a:rPr lang="zh-CN" altLang="en-US" sz="3600" dirty="0" smtClean="0"/>
              <a:t>核查测试计划的运行状态</a:t>
            </a:r>
            <a:endParaRPr lang="zh-CN" altLang="en-US" dirty="0"/>
          </a:p>
        </p:txBody>
      </p:sp>
      <p:sp>
        <p:nvSpPr>
          <p:cNvPr id="10" name="内容占位符 9"/>
          <p:cNvSpPr>
            <a:spLocks noGrp="1"/>
          </p:cNvSpPr>
          <p:nvPr>
            <p:ph idx="1"/>
          </p:nvPr>
        </p:nvSpPr>
        <p:spPr/>
        <p:txBody>
          <a:bodyPr/>
          <a:lstStyle/>
          <a:p>
            <a:r>
              <a:rPr lang="zh-CN" altLang="en-US" dirty="0" smtClean="0">
                <a:latin typeface="FrutigerNext LT Regular" pitchFamily="34" charset="0"/>
                <a:ea typeface="华文细黑" pitchFamily="2" charset="-122"/>
              </a:rPr>
              <a:t>在测试计划控制窗口中显示运行状态。</a:t>
            </a:r>
            <a:endParaRPr lang="en-US" altLang="zh-CN" dirty="0" smtClean="0">
              <a:latin typeface="FrutigerNext LT Regular" pitchFamily="34" charset="0"/>
              <a:ea typeface="华文细黑" pitchFamily="2" charset="-122"/>
            </a:endParaRPr>
          </a:p>
          <a:p>
            <a:pPr>
              <a:buNone/>
            </a:pPr>
            <a:endParaRPr lang="zh-CN" altLang="en-US" dirty="0"/>
          </a:p>
        </p:txBody>
      </p:sp>
      <p:sp>
        <p:nvSpPr>
          <p:cNvPr id="49154" name="Slide Number Placeholder 2"/>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07EF1AD9-0D9C-4C43-875B-E98AA565BFFB}" type="slidenum">
              <a:rPr lang="en-US" altLang="zh-CN" smtClean="0">
                <a:latin typeface="FrutigerNext LT Bold" pitchFamily="34" charset="0"/>
                <a:ea typeface="ＭＳ Ｐゴシック" pitchFamily="34" charset="-128"/>
              </a:rPr>
              <a:pPr defTabSz="877888"/>
              <a:t>80</a:t>
            </a:fld>
            <a:endParaRPr lang="en-US" altLang="zh-CN" smtClean="0">
              <a:latin typeface="FrutigerNext LT Bold" pitchFamily="34" charset="0"/>
              <a:ea typeface="ＭＳ Ｐゴシック" pitchFamily="34" charset="-128"/>
            </a:endParaRPr>
          </a:p>
        </p:txBody>
      </p:sp>
      <p:pic>
        <p:nvPicPr>
          <p:cNvPr id="49157" name="Picture 2"/>
          <p:cNvPicPr>
            <a:picLocks noChangeAspect="1" noChangeArrowheads="1"/>
          </p:cNvPicPr>
          <p:nvPr/>
        </p:nvPicPr>
        <p:blipFill>
          <a:blip r:embed="rId3" cstate="print"/>
          <a:srcRect/>
          <a:stretch>
            <a:fillRect/>
          </a:stretch>
        </p:blipFill>
        <p:spPr bwMode="auto">
          <a:xfrm>
            <a:off x="2005013" y="1981199"/>
            <a:ext cx="4203700" cy="4214495"/>
          </a:xfrm>
          <a:prstGeom prst="rect">
            <a:avLst/>
          </a:prstGeom>
          <a:noFill/>
          <a:ln w="9525" algn="ctr">
            <a:noFill/>
            <a:miter lim="800000"/>
            <a:headEnd/>
            <a:tailEnd/>
          </a:ln>
        </p:spPr>
      </p:pic>
      <p:sp>
        <p:nvSpPr>
          <p:cNvPr id="49158" name="Rounded Rectangle 7"/>
          <p:cNvSpPr>
            <a:spLocks noChangeArrowheads="1"/>
          </p:cNvSpPr>
          <p:nvPr/>
        </p:nvSpPr>
        <p:spPr bwMode="auto">
          <a:xfrm>
            <a:off x="2259013" y="4236720"/>
            <a:ext cx="2443162" cy="1603693"/>
          </a:xfrm>
          <a:prstGeom prst="roundRect">
            <a:avLst>
              <a:gd name="adj" fmla="val 16667"/>
            </a:avLst>
          </a:prstGeom>
          <a:noFill/>
          <a:ln w="28575" algn="ctr">
            <a:solidFill>
              <a:srgbClr val="FF0000"/>
            </a:solidFill>
            <a:round/>
            <a:headEnd/>
            <a:tailEnd/>
          </a:ln>
        </p:spPr>
        <p:txBody>
          <a:bodyPr/>
          <a:lstStyle/>
          <a:p>
            <a:pPr fontAlgn="t"/>
            <a:endParaRPr lang="en-US" altLang="zh-CN">
              <a:ea typeface="华文细黑" pitchFamily="2" charset="-122"/>
            </a:endParaRPr>
          </a:p>
        </p:txBody>
      </p:sp>
      <p:sp>
        <p:nvSpPr>
          <p:cNvPr id="49159" name="Rounded Rectangle 8"/>
          <p:cNvSpPr>
            <a:spLocks noChangeArrowheads="1"/>
          </p:cNvSpPr>
          <p:nvPr/>
        </p:nvSpPr>
        <p:spPr bwMode="auto">
          <a:xfrm>
            <a:off x="6103938" y="4275138"/>
            <a:ext cx="2435225" cy="495300"/>
          </a:xfrm>
          <a:prstGeom prst="roundRect">
            <a:avLst>
              <a:gd name="adj" fmla="val 16667"/>
            </a:avLst>
          </a:prstGeom>
          <a:solidFill>
            <a:schemeClr val="accent1"/>
          </a:solidFill>
          <a:ln w="9525" algn="ctr">
            <a:solidFill>
              <a:schemeClr val="tx1"/>
            </a:solidFill>
            <a:round/>
            <a:headEnd/>
            <a:tailEnd/>
          </a:ln>
        </p:spPr>
        <p:txBody>
          <a:bodyPr/>
          <a:lstStyle/>
          <a:p>
            <a:pPr fontAlgn="t"/>
            <a:r>
              <a:rPr lang="zh-CN" altLang="en-US">
                <a:ea typeface="华文细黑" pitchFamily="2" charset="-122"/>
              </a:rPr>
              <a:t>测试计划的运行状态</a:t>
            </a:r>
          </a:p>
        </p:txBody>
      </p:sp>
      <p:cxnSp>
        <p:nvCxnSpPr>
          <p:cNvPr id="49160" name="Straight Arrow Connector 9"/>
          <p:cNvCxnSpPr>
            <a:cxnSpLocks noChangeShapeType="1"/>
            <a:stCxn id="49159" idx="1"/>
            <a:endCxn id="49158" idx="3"/>
          </p:cNvCxnSpPr>
          <p:nvPr/>
        </p:nvCxnSpPr>
        <p:spPr bwMode="auto">
          <a:xfrm flipH="1">
            <a:off x="4702175" y="4522788"/>
            <a:ext cx="1401763" cy="515779"/>
          </a:xfrm>
          <a:prstGeom prst="straightConnector1">
            <a:avLst/>
          </a:prstGeom>
          <a:noFill/>
          <a:ln w="9525" algn="ctr">
            <a:solidFill>
              <a:schemeClr val="tx1"/>
            </a:solidFill>
            <a:round/>
            <a:headEnd/>
            <a:tailEnd type="arrow" w="med" len="med"/>
          </a:ln>
        </p:spPr>
      </p:cxn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 Ping</a:t>
            </a:r>
            <a:r>
              <a:rPr lang="zh-CN" altLang="en-US" dirty="0" smtClean="0"/>
              <a:t>业务功能测试</a:t>
            </a:r>
            <a:r>
              <a:rPr lang="en-US" altLang="zh-CN" dirty="0" smtClean="0"/>
              <a:t>-</a:t>
            </a:r>
            <a:r>
              <a:rPr lang="zh-CN" altLang="en-US" dirty="0" smtClean="0"/>
              <a:t>测试准则</a:t>
            </a:r>
            <a:endParaRPr lang="zh-CN" altLang="en-US" dirty="0"/>
          </a:p>
        </p:txBody>
      </p:sp>
      <p:sp>
        <p:nvSpPr>
          <p:cNvPr id="3" name="内容占位符 2"/>
          <p:cNvSpPr>
            <a:spLocks noGrp="1"/>
          </p:cNvSpPr>
          <p:nvPr>
            <p:ph idx="1"/>
          </p:nvPr>
        </p:nvSpPr>
        <p:spPr/>
        <p:txBody>
          <a:bodyPr/>
          <a:lstStyle/>
          <a:p>
            <a:r>
              <a:rPr lang="zh-CN" altLang="zh-CN" dirty="0" smtClean="0"/>
              <a:t>在</a:t>
            </a:r>
            <a:r>
              <a:rPr lang="en-US" altLang="zh-CN" dirty="0" smtClean="0"/>
              <a:t>Probe</a:t>
            </a:r>
            <a:r>
              <a:rPr lang="zh-CN" altLang="zh-CN" dirty="0" smtClean="0"/>
              <a:t>软件里，通过选择“</a:t>
            </a:r>
            <a:r>
              <a:rPr lang="en-US" altLang="zh-CN" dirty="0" smtClean="0"/>
              <a:t>View</a:t>
            </a:r>
            <a:r>
              <a:rPr lang="zh-CN" altLang="zh-CN" dirty="0" smtClean="0"/>
              <a:t>”</a:t>
            </a:r>
            <a:r>
              <a:rPr lang="en-US" altLang="zh-CN" dirty="0" smtClean="0"/>
              <a:t>-“Service Quality”-“Ping Service Quality Evaluation”,</a:t>
            </a:r>
            <a:r>
              <a:rPr lang="zh-CN" altLang="zh-CN" dirty="0" smtClean="0"/>
              <a:t>查看</a:t>
            </a:r>
            <a:r>
              <a:rPr lang="en-US" altLang="zh-CN" dirty="0" smtClean="0"/>
              <a:t>Ping</a:t>
            </a:r>
            <a:r>
              <a:rPr lang="zh-CN" altLang="zh-CN" dirty="0" smtClean="0"/>
              <a:t>时延统计结果，如下图</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81</a:t>
            </a:fld>
            <a:endParaRPr lang="en-US" altLang="zh-CN"/>
          </a:p>
        </p:txBody>
      </p:sp>
      <p:pic>
        <p:nvPicPr>
          <p:cNvPr id="5" name="图片 4"/>
          <p:cNvPicPr/>
          <p:nvPr/>
        </p:nvPicPr>
        <p:blipFill>
          <a:blip r:embed="rId3" cstate="print"/>
          <a:srcRect/>
          <a:stretch>
            <a:fillRect/>
          </a:stretch>
        </p:blipFill>
        <p:spPr bwMode="auto">
          <a:xfrm>
            <a:off x="2172370" y="2332264"/>
            <a:ext cx="5041221" cy="38798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测试计划举例</a:t>
            </a:r>
            <a:r>
              <a:rPr lang="en-US" altLang="zh-CN" dirty="0" smtClean="0"/>
              <a:t>(</a:t>
            </a:r>
            <a:r>
              <a:rPr lang="zh-CN" altLang="en-US" dirty="0" smtClean="0"/>
              <a:t>二</a:t>
            </a:r>
            <a:r>
              <a:rPr lang="en-US" altLang="zh-CN" dirty="0" smtClean="0"/>
              <a:t>):Ping</a:t>
            </a:r>
            <a:endParaRPr lang="zh-CN" altLang="en-US" dirty="0"/>
          </a:p>
        </p:txBody>
      </p:sp>
      <p:sp>
        <p:nvSpPr>
          <p:cNvPr id="3" name="内容占位符 2"/>
          <p:cNvSpPr>
            <a:spLocks noGrp="1"/>
          </p:cNvSpPr>
          <p:nvPr>
            <p:ph idx="1"/>
          </p:nvPr>
        </p:nvSpPr>
        <p:spPr/>
        <p:txBody>
          <a:bodyPr/>
          <a:lstStyle/>
          <a:p>
            <a:r>
              <a:rPr lang="zh-CN" altLang="zh-CN" dirty="0" smtClean="0"/>
              <a:t>服务器</a:t>
            </a:r>
            <a:r>
              <a:rPr lang="en-US" altLang="zh-CN" dirty="0" smtClean="0"/>
              <a:t>IP</a:t>
            </a:r>
            <a:r>
              <a:rPr lang="zh-CN" altLang="zh-CN" dirty="0" smtClean="0"/>
              <a:t>地址为</a:t>
            </a:r>
            <a:r>
              <a:rPr lang="en-US" altLang="zh-CN" dirty="0" smtClean="0"/>
              <a:t>2.2.2.53.</a:t>
            </a:r>
            <a:r>
              <a:rPr lang="zh-CN" altLang="zh-CN" dirty="0" smtClean="0"/>
              <a:t>在命令行窗口中执行（命令如红色框中）：</a:t>
            </a:r>
          </a:p>
          <a:p>
            <a:r>
              <a:rPr lang="en-US" altLang="zh-CN" dirty="0" smtClean="0"/>
              <a:t>Ping 2.2.2.53 –n 100 &gt;Ping_PCI.txt</a:t>
            </a:r>
          </a:p>
          <a:p>
            <a:endParaRPr lang="en-US" altLang="zh-CN" dirty="0" smtClean="0"/>
          </a:p>
          <a:p>
            <a:endParaRPr lang="en-US" altLang="zh-CN" dirty="0" smtClean="0"/>
          </a:p>
          <a:p>
            <a:endParaRPr lang="zh-CN" altLang="zh-CN" dirty="0" smtClean="0"/>
          </a:p>
          <a:p>
            <a:r>
              <a:rPr lang="zh-CN" altLang="zh-CN" dirty="0" smtClean="0"/>
              <a:t>命令行出现如蓝色框中情况时，说明</a:t>
            </a:r>
            <a:r>
              <a:rPr lang="en-US" altLang="zh-CN" dirty="0" smtClean="0"/>
              <a:t>Ping 100</a:t>
            </a:r>
            <a:r>
              <a:rPr lang="zh-CN" altLang="zh-CN" dirty="0" smtClean="0"/>
              <a:t>次已完成。</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82</a:t>
            </a:fld>
            <a:endParaRPr lang="en-US" altLang="zh-CN"/>
          </a:p>
        </p:txBody>
      </p:sp>
      <p:pic>
        <p:nvPicPr>
          <p:cNvPr id="863234" name="Picture 2"/>
          <p:cNvPicPr>
            <a:picLocks noChangeAspect="1" noChangeArrowheads="1"/>
          </p:cNvPicPr>
          <p:nvPr/>
        </p:nvPicPr>
        <p:blipFill>
          <a:blip r:embed="rId3" cstate="print"/>
          <a:srcRect/>
          <a:stretch>
            <a:fillRect/>
          </a:stretch>
        </p:blipFill>
        <p:spPr bwMode="auto">
          <a:xfrm>
            <a:off x="1285189" y="3030085"/>
            <a:ext cx="6486525" cy="1552575"/>
          </a:xfrm>
          <a:prstGeom prst="rect">
            <a:avLst/>
          </a:prstGeom>
          <a:noFill/>
          <a:ln w="9525">
            <a:noFill/>
            <a:miter lim="800000"/>
            <a:headEnd/>
            <a:tailEnd/>
          </a:ln>
        </p:spPr>
      </p:pic>
    </p:spTree>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示例</a:t>
            </a:r>
            <a:endParaRPr lang="zh-CN" altLang="en-US" dirty="0"/>
          </a:p>
        </p:txBody>
      </p:sp>
      <p:sp>
        <p:nvSpPr>
          <p:cNvPr id="3" name="内容占位符 2"/>
          <p:cNvSpPr>
            <a:spLocks noGrp="1"/>
          </p:cNvSpPr>
          <p:nvPr>
            <p:ph idx="1"/>
          </p:nvPr>
        </p:nvSpPr>
        <p:spPr/>
        <p:txBody>
          <a:bodyPr/>
          <a:lstStyle/>
          <a:p>
            <a:r>
              <a:rPr lang="en-US" altLang="zh-CN" dirty="0" smtClean="0"/>
              <a:t>Ping</a:t>
            </a:r>
            <a:r>
              <a:rPr lang="zh-CN" altLang="zh-CN" dirty="0" smtClean="0"/>
              <a:t>的结果会在</a:t>
            </a:r>
            <a:r>
              <a:rPr lang="en-US" altLang="zh-CN" dirty="0" smtClean="0"/>
              <a:t>C:\Documents and Settings\XXXXXX</a:t>
            </a:r>
            <a:r>
              <a:rPr lang="zh-CN" altLang="zh-CN" dirty="0" smtClean="0"/>
              <a:t>目录下的</a:t>
            </a:r>
            <a:r>
              <a:rPr lang="en-US" altLang="zh-CN" dirty="0" smtClean="0"/>
              <a:t>Ping_22.txt</a:t>
            </a:r>
            <a:r>
              <a:rPr lang="zh-CN" altLang="zh-CN" dirty="0" smtClean="0"/>
              <a:t>中</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83</a:t>
            </a:fld>
            <a:endParaRPr lang="en-US" altLang="zh-CN"/>
          </a:p>
        </p:txBody>
      </p:sp>
      <p:pic>
        <p:nvPicPr>
          <p:cNvPr id="862210" name="Picture 2"/>
          <p:cNvPicPr>
            <a:picLocks noChangeAspect="1" noChangeArrowheads="1"/>
          </p:cNvPicPr>
          <p:nvPr/>
        </p:nvPicPr>
        <p:blipFill>
          <a:blip r:embed="rId2" cstate="print"/>
          <a:srcRect/>
          <a:stretch>
            <a:fillRect/>
          </a:stretch>
        </p:blipFill>
        <p:spPr bwMode="auto">
          <a:xfrm>
            <a:off x="1042761" y="2534784"/>
            <a:ext cx="7419068" cy="268413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4"/>
              <a:defRPr/>
            </a:pPr>
            <a:r>
              <a:rPr lang="en-US" altLang="zh-CN" b="1" dirty="0" smtClean="0"/>
              <a:t>LTE</a:t>
            </a:r>
            <a:r>
              <a:rPr lang="zh-CN" altLang="en-US" b="1" dirty="0" smtClean="0"/>
              <a:t>单站验证项目</a:t>
            </a:r>
            <a:endParaRPr lang="en-US" altLang="zh-CN" b="1" dirty="0" smtClean="0"/>
          </a:p>
          <a:p>
            <a:pPr marL="457200" indent="-457200">
              <a:buClr>
                <a:schemeClr val="tx1"/>
              </a:buClr>
              <a:buSzTx/>
              <a:buNone/>
              <a:defRPr/>
            </a:pPr>
            <a:r>
              <a:rPr lang="en-US" altLang="zh-CN" dirty="0" smtClean="0">
                <a:solidFill>
                  <a:schemeClr val="bg1">
                    <a:lumMod val="75000"/>
                  </a:schemeClr>
                </a:solidFill>
              </a:rPr>
              <a:t>	4.1  DT</a:t>
            </a:r>
            <a:r>
              <a:rPr lang="zh-CN" altLang="en-US" dirty="0" smtClean="0">
                <a:solidFill>
                  <a:schemeClr val="bg1">
                    <a:lumMod val="75000"/>
                  </a:schemeClr>
                </a:solidFill>
              </a:rPr>
              <a:t>覆盖测试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4.2  LTE</a:t>
            </a:r>
            <a:r>
              <a:rPr lang="zh-CN" altLang="zh-CN" dirty="0" smtClean="0">
                <a:solidFill>
                  <a:schemeClr val="bg1">
                    <a:lumMod val="75000"/>
                  </a:schemeClr>
                </a:solidFill>
              </a:rPr>
              <a:t>接入功能测试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4.3  LTE Ping</a:t>
            </a:r>
            <a:r>
              <a:rPr lang="zh-CN" altLang="zh-CN"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t>	4.4  LTE FTP</a:t>
            </a:r>
            <a:r>
              <a:rPr lang="zh-CN" altLang="zh-CN" dirty="0" smtClean="0"/>
              <a:t>业务功能测试</a:t>
            </a:r>
            <a:endParaRPr lang="en-US" altLang="zh-CN" dirty="0" smtClean="0"/>
          </a:p>
          <a:p>
            <a:pPr marL="457200" indent="-457200">
              <a:buClr>
                <a:schemeClr val="tx1"/>
              </a:buClr>
              <a:buSzTx/>
              <a:buNone/>
              <a:defRPr/>
            </a:pPr>
            <a:r>
              <a:rPr lang="en-US" altLang="zh-CN" dirty="0" smtClean="0">
                <a:solidFill>
                  <a:schemeClr val="bg1">
                    <a:lumMod val="75000"/>
                  </a:schemeClr>
                </a:solidFill>
              </a:rPr>
              <a:t>	4.5  LTE </a:t>
            </a:r>
            <a:r>
              <a:rPr lang="zh-CN" altLang="zh-CN" dirty="0" smtClean="0">
                <a:solidFill>
                  <a:schemeClr val="bg1">
                    <a:lumMod val="75000"/>
                  </a:schemeClr>
                </a:solidFill>
              </a:rPr>
              <a:t>站内切换验证测试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85000"/>
                  </a:schemeClr>
                </a:solidFill>
              </a:rPr>
              <a:t>	4.6  LTE</a:t>
            </a:r>
            <a:r>
              <a:rPr lang="zh-CN" altLang="en-US" dirty="0" smtClean="0">
                <a:solidFill>
                  <a:schemeClr val="bg1">
                    <a:lumMod val="85000"/>
                  </a:schemeClr>
                </a:solidFill>
              </a:rPr>
              <a:t>传输测试</a:t>
            </a:r>
            <a:endParaRPr lang="en-US" altLang="zh-CN" dirty="0" smtClean="0">
              <a:solidFill>
                <a:schemeClr val="bg1">
                  <a:lumMod val="85000"/>
                </a:schemeClr>
              </a:solidFill>
            </a:endParaRPr>
          </a:p>
          <a:p>
            <a:pPr marL="457200" indent="-457200">
              <a:buClr>
                <a:schemeClr val="tx1"/>
              </a:buClr>
              <a:buSzTx/>
              <a:buNone/>
              <a:defRPr/>
            </a:pPr>
            <a:r>
              <a:rPr lang="en-US" altLang="zh-CN" dirty="0" smtClean="0">
                <a:solidFill>
                  <a:schemeClr val="bg1">
                    <a:lumMod val="85000"/>
                  </a:schemeClr>
                </a:solidFill>
              </a:rPr>
              <a:t>	4.7  LTE</a:t>
            </a:r>
            <a:r>
              <a:rPr lang="zh-CN" altLang="en-US" dirty="0" smtClean="0">
                <a:solidFill>
                  <a:schemeClr val="bg1">
                    <a:lumMod val="85000"/>
                  </a:schemeClr>
                </a:solidFill>
              </a:rPr>
              <a:t>站点上下行吞吐率测试</a:t>
            </a:r>
            <a:endParaRPr lang="zh-CN" altLang="zh-CN" dirty="0" smtClean="0">
              <a:solidFill>
                <a:schemeClr val="bg1">
                  <a:lumMod val="85000"/>
                </a:schemeClr>
              </a:solidFill>
            </a:endParaRPr>
          </a:p>
          <a:p>
            <a:pPr marL="457200" indent="-457200">
              <a:buClr>
                <a:schemeClr val="tx1"/>
              </a:buClr>
              <a:buSzTx/>
              <a:buNone/>
              <a:defRPr/>
            </a:pPr>
            <a:endParaRPr lang="zh-CN" altLang="zh-CN" dirty="0" smtClean="0">
              <a:solidFill>
                <a:schemeClr val="bg1">
                  <a:lumMod val="75000"/>
                </a:schemeClr>
              </a:solidFill>
            </a:endParaRPr>
          </a:p>
          <a:p>
            <a:pPr marL="457200" indent="-457200">
              <a:buClr>
                <a:schemeClr val="tx1"/>
              </a:buClr>
              <a:buSzTx/>
              <a:buNone/>
              <a:defRPr/>
            </a:pPr>
            <a:endParaRPr lang="zh-CN" altLang="zh-CN" dirty="0" smtClean="0">
              <a:solidFill>
                <a:srgbClr val="777777"/>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en-US" altLang="zh-CN"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84</a:t>
            </a:fld>
            <a:endParaRPr lang="en-US" altLang="zh-CN"/>
          </a:p>
        </p:txBody>
      </p:sp>
    </p:spTree>
  </p:cSld>
  <p:clrMapOvr>
    <a:masterClrMapping/>
  </p:clrMapOvr>
  <p:transition advClick="0" advTm="8000"/>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 TCP</a:t>
            </a:r>
            <a:r>
              <a:rPr lang="zh-CN" altLang="zh-CN" dirty="0" smtClean="0"/>
              <a:t>业务功能测试</a:t>
            </a:r>
            <a:r>
              <a:rPr lang="en-US" altLang="zh-CN" dirty="0" smtClean="0"/>
              <a:t>-</a:t>
            </a:r>
            <a:r>
              <a:rPr lang="zh-CN" altLang="en-US" dirty="0" smtClean="0"/>
              <a:t>验证准则</a:t>
            </a:r>
            <a:endParaRPr lang="zh-CN" altLang="en-US" dirty="0"/>
          </a:p>
        </p:txBody>
      </p:sp>
      <p:sp>
        <p:nvSpPr>
          <p:cNvPr id="3" name="内容占位符 2"/>
          <p:cNvSpPr>
            <a:spLocks noGrp="1"/>
          </p:cNvSpPr>
          <p:nvPr>
            <p:ph idx="1"/>
          </p:nvPr>
        </p:nvSpPr>
        <p:spPr/>
        <p:txBody>
          <a:bodyPr/>
          <a:lstStyle/>
          <a:p>
            <a:r>
              <a:rPr lang="zh-CN" altLang="zh-CN" dirty="0" smtClean="0"/>
              <a:t>在</a:t>
            </a:r>
            <a:r>
              <a:rPr lang="en-US" altLang="zh-CN" dirty="0" smtClean="0"/>
              <a:t>Probe</a:t>
            </a:r>
            <a:r>
              <a:rPr lang="zh-CN" altLang="zh-CN" dirty="0" smtClean="0"/>
              <a:t>软件里，通过选择“</a:t>
            </a:r>
            <a:r>
              <a:rPr lang="en-US" altLang="zh-CN" dirty="0" smtClean="0"/>
              <a:t>View</a:t>
            </a:r>
            <a:r>
              <a:rPr lang="zh-CN" altLang="zh-CN" dirty="0" smtClean="0"/>
              <a:t>”</a:t>
            </a:r>
            <a:r>
              <a:rPr lang="en-US" altLang="zh-CN" dirty="0" smtClean="0"/>
              <a:t>-“Service Quality”-“FTP Service Quality Evaluation”,</a:t>
            </a:r>
            <a:r>
              <a:rPr lang="zh-CN" altLang="zh-CN" dirty="0" smtClean="0"/>
              <a:t>查看</a:t>
            </a:r>
            <a:r>
              <a:rPr lang="en-US" altLang="zh-CN" dirty="0" smtClean="0"/>
              <a:t>FTP</a:t>
            </a:r>
            <a:r>
              <a:rPr lang="zh-CN" altLang="zh-CN" dirty="0" smtClean="0"/>
              <a:t>下载和上传统计结果，如下图</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85</a:t>
            </a:fld>
            <a:endParaRPr lang="en-US" altLang="zh-CN"/>
          </a:p>
        </p:txBody>
      </p:sp>
      <p:pic>
        <p:nvPicPr>
          <p:cNvPr id="5" name="图片 4"/>
          <p:cNvPicPr/>
          <p:nvPr/>
        </p:nvPicPr>
        <p:blipFill>
          <a:blip r:embed="rId3" cstate="print"/>
          <a:srcRect/>
          <a:stretch>
            <a:fillRect/>
          </a:stretch>
        </p:blipFill>
        <p:spPr bwMode="auto">
          <a:xfrm>
            <a:off x="2287133" y="2380343"/>
            <a:ext cx="4636181" cy="38814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 TCP</a:t>
            </a:r>
            <a:r>
              <a:rPr lang="zh-CN" altLang="zh-CN" dirty="0" smtClean="0"/>
              <a:t>业务功能测试</a:t>
            </a:r>
            <a:endParaRPr lang="zh-CN" altLang="en-US" dirty="0"/>
          </a:p>
        </p:txBody>
      </p:sp>
      <p:sp>
        <p:nvSpPr>
          <p:cNvPr id="3" name="内容占位符 2"/>
          <p:cNvSpPr>
            <a:spLocks noGrp="1"/>
          </p:cNvSpPr>
          <p:nvPr>
            <p:ph idx="1"/>
          </p:nvPr>
        </p:nvSpPr>
        <p:spPr/>
        <p:txBody>
          <a:bodyPr/>
          <a:lstStyle/>
          <a:p>
            <a:pPr lvl="0"/>
            <a:r>
              <a:rPr lang="zh-CN" altLang="zh-CN" dirty="0" smtClean="0"/>
              <a:t>使用</a:t>
            </a:r>
            <a:r>
              <a:rPr lang="en-US" altLang="zh-CN" dirty="0" smtClean="0"/>
              <a:t>Probe</a:t>
            </a:r>
            <a:r>
              <a:rPr lang="zh-CN" altLang="zh-CN" dirty="0" smtClean="0"/>
              <a:t>的</a:t>
            </a:r>
            <a:r>
              <a:rPr lang="en-US" altLang="zh-CN" dirty="0" err="1" smtClean="0"/>
              <a:t>Testplan</a:t>
            </a:r>
            <a:r>
              <a:rPr lang="zh-CN" altLang="zh-CN" dirty="0" smtClean="0"/>
              <a:t>功能设置</a:t>
            </a:r>
            <a:r>
              <a:rPr lang="en-US" altLang="zh-CN" dirty="0" smtClean="0"/>
              <a:t>FTP</a:t>
            </a:r>
            <a:r>
              <a:rPr lang="zh-CN" altLang="zh-CN" dirty="0" smtClean="0"/>
              <a:t>下载和上传</a:t>
            </a:r>
          </a:p>
          <a:p>
            <a:r>
              <a:rPr lang="zh-CN" altLang="zh-CN" dirty="0" smtClean="0"/>
              <a:t>操作步骤如下：</a:t>
            </a:r>
          </a:p>
          <a:p>
            <a:pPr lvl="1"/>
            <a:r>
              <a:rPr lang="zh-CN" altLang="zh-CN" dirty="0" smtClean="0"/>
              <a:t>确保</a:t>
            </a:r>
            <a:r>
              <a:rPr lang="en-US" altLang="zh-CN" dirty="0" smtClean="0"/>
              <a:t>LTE</a:t>
            </a:r>
            <a:r>
              <a:rPr lang="zh-CN" altLang="zh-CN" dirty="0" smtClean="0"/>
              <a:t>路测系统硬件连接良好，</a:t>
            </a:r>
            <a:r>
              <a:rPr lang="en-US" altLang="zh-CN" dirty="0" smtClean="0"/>
              <a:t>UE</a:t>
            </a:r>
            <a:r>
              <a:rPr lang="zh-CN" altLang="zh-CN" dirty="0" smtClean="0"/>
              <a:t>入网成功，并可以从</a:t>
            </a:r>
            <a:r>
              <a:rPr lang="en-US" altLang="zh-CN" dirty="0" smtClean="0"/>
              <a:t>Probe</a:t>
            </a:r>
            <a:r>
              <a:rPr lang="zh-CN" altLang="zh-CN" dirty="0" smtClean="0"/>
              <a:t>上读出</a:t>
            </a:r>
            <a:r>
              <a:rPr lang="en-US" altLang="zh-CN" dirty="0" smtClean="0"/>
              <a:t>UE</a:t>
            </a:r>
            <a:r>
              <a:rPr lang="zh-CN" altLang="zh-CN" dirty="0" smtClean="0"/>
              <a:t>的</a:t>
            </a:r>
            <a:r>
              <a:rPr lang="en-US" altLang="zh-CN" dirty="0" smtClean="0"/>
              <a:t>Serving Cell</a:t>
            </a:r>
            <a:r>
              <a:rPr lang="zh-CN" altLang="zh-CN" dirty="0" smtClean="0"/>
              <a:t>的</a:t>
            </a:r>
            <a:r>
              <a:rPr lang="en-US" altLang="zh-CN" dirty="0" smtClean="0"/>
              <a:t>PCI</a:t>
            </a:r>
            <a:r>
              <a:rPr lang="zh-CN" altLang="zh-CN" dirty="0" smtClean="0"/>
              <a:t>、</a:t>
            </a:r>
            <a:r>
              <a:rPr lang="en-US" altLang="zh-CN" dirty="0" smtClean="0"/>
              <a:t>RSRP</a:t>
            </a:r>
            <a:r>
              <a:rPr lang="zh-CN" altLang="zh-CN" dirty="0" smtClean="0"/>
              <a:t>、</a:t>
            </a:r>
            <a:r>
              <a:rPr lang="en-US" altLang="zh-CN" dirty="0" smtClean="0"/>
              <a:t>SINR</a:t>
            </a:r>
            <a:r>
              <a:rPr lang="zh-CN" altLang="zh-CN" dirty="0" smtClean="0"/>
              <a:t>等信息</a:t>
            </a:r>
          </a:p>
          <a:p>
            <a:pPr lvl="1"/>
            <a:r>
              <a:rPr lang="zh-CN" altLang="zh-CN" dirty="0" smtClean="0"/>
              <a:t>在</a:t>
            </a:r>
            <a:r>
              <a:rPr lang="en-US" altLang="zh-CN" dirty="0" smtClean="0"/>
              <a:t>Probe</a:t>
            </a:r>
            <a:r>
              <a:rPr lang="zh-CN" altLang="zh-CN" dirty="0" smtClean="0"/>
              <a:t>软件里面，选择“</a:t>
            </a:r>
            <a:r>
              <a:rPr lang="en-US" altLang="zh-CN" dirty="0" smtClean="0"/>
              <a:t>Configuration</a:t>
            </a:r>
            <a:r>
              <a:rPr lang="zh-CN" altLang="zh-CN" dirty="0" smtClean="0"/>
              <a:t>”－“</a:t>
            </a:r>
            <a:r>
              <a:rPr lang="en-US" altLang="zh-CN" dirty="0" smtClean="0"/>
              <a:t>Test Plan Control</a:t>
            </a:r>
            <a:r>
              <a:rPr lang="zh-CN" altLang="zh-CN" dirty="0" smtClean="0"/>
              <a:t>”，接着点击“</a:t>
            </a:r>
            <a:r>
              <a:rPr lang="en-US" altLang="zh-CN" dirty="0" smtClean="0"/>
              <a:t>Click here to </a:t>
            </a:r>
            <a:r>
              <a:rPr lang="en-US" altLang="zh-CN" dirty="0" err="1" smtClean="0"/>
              <a:t>config</a:t>
            </a:r>
            <a:r>
              <a:rPr lang="zh-CN" altLang="zh-CN" dirty="0" smtClean="0"/>
              <a:t>”，进行如下设置：</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86</a:t>
            </a:fld>
            <a:endParaRPr lang="en-US" altLang="zh-CN"/>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下行定点吞吐率</a:t>
            </a:r>
            <a:endParaRPr lang="zh-CN" altLang="en-US" dirty="0"/>
          </a:p>
        </p:txBody>
      </p:sp>
      <p:sp>
        <p:nvSpPr>
          <p:cNvPr id="3" name="内容占位符 2"/>
          <p:cNvSpPr>
            <a:spLocks noGrp="1"/>
          </p:cNvSpPr>
          <p:nvPr>
            <p:ph idx="1"/>
          </p:nvPr>
        </p:nvSpPr>
        <p:spPr/>
        <p:txBody>
          <a:bodyPr/>
          <a:lstStyle/>
          <a:p>
            <a:r>
              <a:rPr lang="zh-CN" altLang="zh-CN" dirty="0" smtClean="0"/>
              <a:t>下行定点吞吐率测试，用于验证</a:t>
            </a:r>
            <a:r>
              <a:rPr lang="en-US" altLang="zh-CN" dirty="0" smtClean="0"/>
              <a:t>LTE</a:t>
            </a:r>
            <a:r>
              <a:rPr lang="zh-CN" altLang="zh-CN" dirty="0" smtClean="0"/>
              <a:t>下行传输带宽是否满足</a:t>
            </a:r>
            <a:r>
              <a:rPr lang="en-US" altLang="zh-CN" dirty="0" smtClean="0"/>
              <a:t>LTE</a:t>
            </a:r>
            <a:r>
              <a:rPr lang="zh-CN" altLang="zh-CN" dirty="0" smtClean="0"/>
              <a:t>峰值要求。</a:t>
            </a:r>
          </a:p>
          <a:p>
            <a:r>
              <a:rPr lang="zh-CN" altLang="zh-CN" dirty="0" smtClean="0"/>
              <a:t>测试要求：</a:t>
            </a:r>
            <a:endParaRPr lang="en-US" altLang="zh-CN" dirty="0" smtClean="0"/>
          </a:p>
          <a:p>
            <a:pPr lvl="1"/>
            <a:r>
              <a:rPr lang="zh-CN" altLang="zh-CN" dirty="0" smtClean="0"/>
              <a:t>测试点建议在天线的主瓣方向上，可直视小区天线</a:t>
            </a:r>
          </a:p>
          <a:p>
            <a:pPr lvl="1"/>
            <a:r>
              <a:rPr lang="en-US" altLang="zh-CN" dirty="0" smtClean="0"/>
              <a:t>SINR</a:t>
            </a:r>
            <a:r>
              <a:rPr lang="zh-CN" altLang="zh-CN" dirty="0" smtClean="0"/>
              <a:t>≥</a:t>
            </a:r>
            <a:r>
              <a:rPr lang="en-US" altLang="zh-CN" dirty="0" smtClean="0"/>
              <a:t>25dB</a:t>
            </a:r>
            <a:r>
              <a:rPr lang="zh-CN" altLang="zh-CN" dirty="0" smtClean="0"/>
              <a:t>，</a:t>
            </a:r>
            <a:r>
              <a:rPr lang="en-US" altLang="zh-CN" dirty="0" smtClean="0"/>
              <a:t>RSRP</a:t>
            </a:r>
            <a:r>
              <a:rPr lang="zh-CN" altLang="zh-CN" dirty="0" smtClean="0"/>
              <a:t>≥</a:t>
            </a:r>
            <a:r>
              <a:rPr lang="en-US" altLang="zh-CN" dirty="0" smtClean="0"/>
              <a:t>-80dBm</a:t>
            </a:r>
            <a:endParaRPr lang="zh-CN" altLang="zh-CN" dirty="0" smtClean="0"/>
          </a:p>
          <a:p>
            <a:pPr lvl="1"/>
            <a:r>
              <a:rPr lang="zh-CN" altLang="zh-CN" dirty="0" smtClean="0"/>
              <a:t>使用</a:t>
            </a:r>
            <a:r>
              <a:rPr lang="en-US" altLang="zh-CN" dirty="0" smtClean="0"/>
              <a:t>FTP</a:t>
            </a:r>
            <a:r>
              <a:rPr lang="zh-CN" altLang="zh-CN" dirty="0" smtClean="0"/>
              <a:t>进行测试</a:t>
            </a:r>
          </a:p>
          <a:p>
            <a:pPr lvl="1"/>
            <a:r>
              <a:rPr lang="zh-CN" altLang="zh-CN" dirty="0" smtClean="0"/>
              <a:t>路测软件记录</a:t>
            </a:r>
            <a:r>
              <a:rPr lang="en-US" altLang="zh-CN" dirty="0" smtClean="0"/>
              <a:t>3min</a:t>
            </a:r>
            <a:r>
              <a:rPr lang="zh-CN" altLang="zh-CN" dirty="0" smtClean="0"/>
              <a:t>，从路测软件中统计平均值</a:t>
            </a:r>
          </a:p>
          <a:p>
            <a:pPr lvl="1"/>
            <a:r>
              <a:rPr lang="zh-CN" altLang="zh-CN" dirty="0" smtClean="0"/>
              <a:t>测试</a:t>
            </a:r>
            <a:r>
              <a:rPr lang="en-US" altLang="zh-CN" dirty="0" smtClean="0"/>
              <a:t>2</a:t>
            </a:r>
            <a:r>
              <a:rPr lang="zh-CN" altLang="zh-CN" dirty="0" smtClean="0"/>
              <a:t>组数据</a:t>
            </a:r>
          </a:p>
          <a:p>
            <a:pPr lvl="1"/>
            <a:r>
              <a:rPr lang="zh-CN" altLang="zh-CN" dirty="0" smtClean="0"/>
              <a:t>吞吐率大于峰值的</a:t>
            </a:r>
            <a:r>
              <a:rPr lang="en-US" altLang="zh-CN" dirty="0" smtClean="0"/>
              <a:t>85%</a:t>
            </a:r>
            <a:r>
              <a:rPr lang="zh-CN" altLang="zh-CN" dirty="0" smtClean="0"/>
              <a:t>以上</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87</a:t>
            </a:fld>
            <a:endParaRPr lang="en-US" altLang="zh-CN"/>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1459" name="Line 3"/>
          <p:cNvSpPr>
            <a:spLocks noChangeShapeType="1"/>
          </p:cNvSpPr>
          <p:nvPr/>
        </p:nvSpPr>
        <p:spPr bwMode="auto">
          <a:xfrm>
            <a:off x="496888" y="2844800"/>
            <a:ext cx="1295400" cy="0"/>
          </a:xfrm>
          <a:prstGeom prst="line">
            <a:avLst/>
          </a:prstGeom>
          <a:noFill/>
          <a:ln w="9525">
            <a:noFill/>
            <a:round/>
            <a:headEnd/>
            <a:tailEnd/>
          </a:ln>
          <a:effectLst>
            <a:outerShdw dist="35921" dir="2700000" algn="ctr" rotWithShape="0">
              <a:schemeClr val="bg2">
                <a:alpha val="50000"/>
              </a:schemeClr>
            </a:outerShdw>
          </a:effectLst>
        </p:spPr>
        <p:txBody>
          <a:bodyPr lIns="83448" tIns="41724" rIns="83448" bIns="41724">
            <a:spAutoFit/>
          </a:bodyPr>
          <a:lstStyle/>
          <a:p>
            <a:pPr fontAlgn="t">
              <a:defRPr/>
            </a:pPr>
            <a:endParaRPr lang="en-US">
              <a:ea typeface="华文细黑" pitchFamily="2" charset="-122"/>
            </a:endParaRPr>
          </a:p>
        </p:txBody>
      </p:sp>
      <p:pic>
        <p:nvPicPr>
          <p:cNvPr id="43011" name="Picture 2"/>
          <p:cNvPicPr>
            <a:picLocks noChangeAspect="1" noChangeArrowheads="1"/>
          </p:cNvPicPr>
          <p:nvPr/>
        </p:nvPicPr>
        <p:blipFill>
          <a:blip r:embed="rId3" cstate="print"/>
          <a:srcRect/>
          <a:stretch>
            <a:fillRect/>
          </a:stretch>
        </p:blipFill>
        <p:spPr bwMode="auto">
          <a:xfrm>
            <a:off x="385763" y="1357313"/>
            <a:ext cx="8564562" cy="4254500"/>
          </a:xfrm>
          <a:prstGeom prst="rect">
            <a:avLst/>
          </a:prstGeom>
          <a:noFill/>
          <a:ln w="9525" algn="ctr">
            <a:noFill/>
            <a:miter lim="800000"/>
            <a:headEnd/>
            <a:tailEnd/>
          </a:ln>
        </p:spPr>
      </p:pic>
      <p:sp>
        <p:nvSpPr>
          <p:cNvPr id="43012" name="标题 1"/>
          <p:cNvSpPr>
            <a:spLocks noGrp="1"/>
          </p:cNvSpPr>
          <p:nvPr>
            <p:ph type="title"/>
          </p:nvPr>
        </p:nvSpPr>
        <p:spPr/>
        <p:txBody>
          <a:bodyPr/>
          <a:lstStyle/>
          <a:p>
            <a:pPr eaLnBrk="1" hangingPunct="1"/>
            <a:r>
              <a:rPr lang="zh-CN" altLang="en-US" smtClean="0"/>
              <a:t>测试计划举例</a:t>
            </a:r>
            <a:r>
              <a:rPr lang="en-US" altLang="zh-CN" smtClean="0"/>
              <a:t>: </a:t>
            </a:r>
            <a:r>
              <a:rPr lang="en-US" altLang="zh-CN" sz="3200" smtClean="0"/>
              <a:t>FTP Download</a:t>
            </a:r>
            <a:endParaRPr lang="zh-CN" altLang="en-US" sz="3200" smtClean="0"/>
          </a:p>
        </p:txBody>
      </p:sp>
      <p:sp>
        <p:nvSpPr>
          <p:cNvPr id="43013" name="灯片编号占位符 5"/>
          <p:cNvSpPr>
            <a:spLocks noGrp="1"/>
          </p:cNvSpPr>
          <p:nvPr>
            <p:ph type="sldNum" sz="quarter" idx="10"/>
          </p:nvPr>
        </p:nvSpPr>
        <p:spPr>
          <a:noFill/>
        </p:spPr>
        <p:txBody>
          <a:bodyPr/>
          <a:lstStyle/>
          <a:p>
            <a:pPr defTabSz="877888"/>
            <a:r>
              <a:rPr lang="en-US" altLang="zh-CN" smtClean="0">
                <a:latin typeface="FrutigerNext LT Bold" pitchFamily="34" charset="0"/>
                <a:ea typeface="ＭＳ Ｐゴシック" pitchFamily="34" charset="-128"/>
              </a:rPr>
              <a:t>Page</a:t>
            </a:r>
            <a:fld id="{B0F49CCF-D0CD-45D1-9A97-2B688E87D11B}" type="slidenum">
              <a:rPr lang="en-US" altLang="zh-CN" smtClean="0">
                <a:latin typeface="FrutigerNext LT Bold" pitchFamily="34" charset="0"/>
                <a:ea typeface="ＭＳ Ｐゴシック" pitchFamily="34" charset="-128"/>
              </a:rPr>
              <a:pPr defTabSz="877888"/>
              <a:t>88</a:t>
            </a:fld>
            <a:endParaRPr lang="en-US" altLang="zh-CN" smtClean="0">
              <a:latin typeface="FrutigerNext LT Bold" pitchFamily="34" charset="0"/>
              <a:ea typeface="ＭＳ Ｐゴシック" pitchFamily="34" charset="-128"/>
            </a:endParaRPr>
          </a:p>
        </p:txBody>
      </p:sp>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31459" name="Line 3"/>
          <p:cNvSpPr>
            <a:spLocks noChangeShapeType="1"/>
          </p:cNvSpPr>
          <p:nvPr/>
        </p:nvSpPr>
        <p:spPr bwMode="auto">
          <a:xfrm>
            <a:off x="496888" y="2844800"/>
            <a:ext cx="1295400" cy="0"/>
          </a:xfrm>
          <a:prstGeom prst="line">
            <a:avLst/>
          </a:prstGeom>
          <a:noFill/>
          <a:ln w="9525">
            <a:noFill/>
            <a:round/>
            <a:headEnd/>
            <a:tailEnd/>
          </a:ln>
          <a:effectLst>
            <a:outerShdw dist="35921" dir="2700000" algn="ctr" rotWithShape="0">
              <a:schemeClr val="bg2">
                <a:alpha val="50000"/>
              </a:schemeClr>
            </a:outerShdw>
          </a:effectLst>
        </p:spPr>
        <p:txBody>
          <a:bodyPr lIns="83448" tIns="41724" rIns="83448" bIns="41724">
            <a:spAutoFit/>
          </a:bodyPr>
          <a:lstStyle/>
          <a:p>
            <a:pPr fontAlgn="t">
              <a:defRPr/>
            </a:pPr>
            <a:endParaRPr lang="en-US">
              <a:ea typeface="华文细黑" pitchFamily="2" charset="-122"/>
            </a:endParaRPr>
          </a:p>
        </p:txBody>
      </p:sp>
      <p:pic>
        <p:nvPicPr>
          <p:cNvPr id="44035" name="Picture 2"/>
          <p:cNvPicPr>
            <a:picLocks noChangeAspect="1" noChangeArrowheads="1"/>
          </p:cNvPicPr>
          <p:nvPr/>
        </p:nvPicPr>
        <p:blipFill>
          <a:blip r:embed="rId3" cstate="print"/>
          <a:srcRect/>
          <a:stretch>
            <a:fillRect/>
          </a:stretch>
        </p:blipFill>
        <p:spPr bwMode="auto">
          <a:xfrm>
            <a:off x="385763" y="1357313"/>
            <a:ext cx="8564562" cy="4254500"/>
          </a:xfrm>
          <a:prstGeom prst="rect">
            <a:avLst/>
          </a:prstGeom>
          <a:noFill/>
          <a:ln w="9525" algn="ctr">
            <a:noFill/>
            <a:miter lim="800000"/>
            <a:headEnd/>
            <a:tailEnd/>
          </a:ln>
        </p:spPr>
      </p:pic>
      <p:sp>
        <p:nvSpPr>
          <p:cNvPr id="44036" name="标题 1"/>
          <p:cNvSpPr>
            <a:spLocks noGrp="1"/>
          </p:cNvSpPr>
          <p:nvPr>
            <p:ph type="title" idx="4294967295"/>
          </p:nvPr>
        </p:nvSpPr>
        <p:spPr/>
        <p:txBody>
          <a:bodyPr/>
          <a:lstStyle/>
          <a:p>
            <a:pPr eaLnBrk="1" hangingPunct="1"/>
            <a:r>
              <a:rPr lang="zh-CN" altLang="en-US" smtClean="0"/>
              <a:t>测试计划举例</a:t>
            </a:r>
            <a:r>
              <a:rPr lang="en-US" altLang="zh-CN" smtClean="0"/>
              <a:t>: </a:t>
            </a:r>
            <a:r>
              <a:rPr lang="en-US" altLang="zh-CN" sz="3200" smtClean="0"/>
              <a:t>FTP Download</a:t>
            </a:r>
            <a:endParaRPr lang="zh-CN" altLang="en-US" sz="3200" smtClean="0"/>
          </a:p>
        </p:txBody>
      </p:sp>
      <p:sp>
        <p:nvSpPr>
          <p:cNvPr id="44037" name="灯片编号占位符 5"/>
          <p:cNvSpPr txBox="1">
            <a:spLocks noGrp="1"/>
          </p:cNvSpPr>
          <p:nvPr/>
        </p:nvSpPr>
        <p:spPr bwMode="auto">
          <a:xfrm>
            <a:off x="6096000" y="6524625"/>
            <a:ext cx="1519238" cy="333375"/>
          </a:xfrm>
          <a:prstGeom prst="rect">
            <a:avLst/>
          </a:prstGeom>
          <a:noFill/>
          <a:ln w="9525" algn="ctr">
            <a:noFill/>
            <a:miter lim="800000"/>
            <a:headEnd/>
            <a:tailEnd/>
          </a:ln>
        </p:spPr>
        <p:txBody>
          <a:bodyPr lIns="0" tIns="0" rIns="0" bIns="0"/>
          <a:lstStyle/>
          <a:p>
            <a:pPr defTabSz="877888" eaLnBrk="0" hangingPunct="0">
              <a:lnSpc>
                <a:spcPct val="85000"/>
              </a:lnSpc>
            </a:pPr>
            <a:r>
              <a:rPr lang="en-US" altLang="zh-CN" sz="1200">
                <a:latin typeface="FrutigerNext LT Bold" pitchFamily="34" charset="0"/>
                <a:ea typeface="ＭＳ Ｐゴシック" pitchFamily="34" charset="-128"/>
              </a:rPr>
              <a:t>Page</a:t>
            </a:r>
            <a:fld id="{B4178C00-61DE-4C88-B0E5-7D0BAD968BF3}" type="slidenum">
              <a:rPr lang="en-US" altLang="zh-CN" sz="1200">
                <a:latin typeface="FrutigerNext LT Bold" pitchFamily="34" charset="0"/>
                <a:ea typeface="ＭＳ Ｐゴシック" pitchFamily="34" charset="-128"/>
              </a:rPr>
              <a:pPr defTabSz="877888" eaLnBrk="0" hangingPunct="0">
                <a:lnSpc>
                  <a:spcPct val="85000"/>
                </a:lnSpc>
              </a:pPr>
              <a:t>89</a:t>
            </a:fld>
            <a:endParaRPr lang="en-US" altLang="zh-CN" sz="1200">
              <a:latin typeface="FrutigerNext LT Bold" pitchFamily="34" charset="0"/>
              <a:ea typeface="ＭＳ Ｐゴシック" pitchFamily="34" charset="-128"/>
            </a:endParaRPr>
          </a:p>
        </p:txBody>
      </p:sp>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smtClean="0"/>
              <a:t>测试验证结果</a:t>
            </a:r>
            <a:endParaRPr lang="zh-CN" altLang="en-US" dirty="0"/>
          </a:p>
        </p:txBody>
      </p:sp>
      <p:sp>
        <p:nvSpPr>
          <p:cNvPr id="2" name="灯片编号占位符 1"/>
          <p:cNvSpPr>
            <a:spLocks noGrp="1"/>
          </p:cNvSpPr>
          <p:nvPr>
            <p:ph type="sldNum" sz="quarter" idx="10"/>
          </p:nvPr>
        </p:nvSpPr>
        <p:spPr/>
        <p:txBody>
          <a:bodyPr/>
          <a:lstStyle/>
          <a:p>
            <a:r>
              <a:rPr lang="en-US" altLang="zh-CN" smtClean="0"/>
              <a:t>Page</a:t>
            </a:r>
            <a:fld id="{DBB3C000-297E-4DA1-B17C-94F96E9CD7D1}" type="slidenum">
              <a:rPr lang="en-US" altLang="zh-CN" smtClean="0"/>
              <a:pPr/>
              <a:t>90</a:t>
            </a:fld>
            <a:endParaRPr lang="en-US" altLang="zh-CN"/>
          </a:p>
        </p:txBody>
      </p:sp>
      <p:pic>
        <p:nvPicPr>
          <p:cNvPr id="3" name="图片 2"/>
          <p:cNvPicPr>
            <a:picLocks noChangeAspect="1"/>
          </p:cNvPicPr>
          <p:nvPr/>
        </p:nvPicPr>
        <p:blipFill>
          <a:blip r:embed="rId2" cstate="print"/>
          <a:stretch>
            <a:fillRect/>
          </a:stretch>
        </p:blipFill>
        <p:spPr>
          <a:xfrm>
            <a:off x="1073747" y="1736686"/>
            <a:ext cx="6959291" cy="3780194"/>
          </a:xfrm>
          <a:prstGeom prst="rect">
            <a:avLst/>
          </a:prstGeom>
          <a:ln w="3175" cmpd="sng">
            <a:solidFill>
              <a:schemeClr val="tx1"/>
            </a:solidFill>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下载速率测试结果</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91</a:t>
            </a:fld>
            <a:endParaRPr lang="en-US" altLang="zh-CN"/>
          </a:p>
        </p:txBody>
      </p:sp>
      <p:pic>
        <p:nvPicPr>
          <p:cNvPr id="5" name="图片 4"/>
          <p:cNvPicPr>
            <a:picLocks noChangeAspect="1"/>
          </p:cNvPicPr>
          <p:nvPr/>
        </p:nvPicPr>
        <p:blipFill>
          <a:blip r:embed="rId2" cstate="print"/>
          <a:stretch>
            <a:fillRect/>
          </a:stretch>
        </p:blipFill>
        <p:spPr>
          <a:xfrm>
            <a:off x="1223234" y="1755290"/>
            <a:ext cx="6259606" cy="4173068"/>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 TCP</a:t>
            </a:r>
            <a:r>
              <a:rPr lang="zh-CN" altLang="zh-CN" dirty="0" smtClean="0"/>
              <a:t>业务功能测试</a:t>
            </a:r>
            <a:endParaRPr lang="zh-CN" altLang="en-US" dirty="0"/>
          </a:p>
        </p:txBody>
      </p:sp>
      <p:sp>
        <p:nvSpPr>
          <p:cNvPr id="3" name="内容占位符 2"/>
          <p:cNvSpPr>
            <a:spLocks noGrp="1"/>
          </p:cNvSpPr>
          <p:nvPr>
            <p:ph idx="1"/>
          </p:nvPr>
        </p:nvSpPr>
        <p:spPr/>
        <p:txBody>
          <a:bodyPr/>
          <a:lstStyle/>
          <a:p>
            <a:pPr lvl="0"/>
            <a:r>
              <a:rPr lang="zh-CN" altLang="zh-CN" dirty="0" smtClean="0"/>
              <a:t>使用</a:t>
            </a:r>
            <a:r>
              <a:rPr lang="en-US" altLang="zh-CN" dirty="0" smtClean="0"/>
              <a:t>Probe</a:t>
            </a:r>
            <a:r>
              <a:rPr lang="zh-CN" altLang="zh-CN" dirty="0" smtClean="0"/>
              <a:t>的</a:t>
            </a:r>
            <a:r>
              <a:rPr lang="en-US" altLang="zh-CN" dirty="0" err="1" smtClean="0"/>
              <a:t>Testplan</a:t>
            </a:r>
            <a:r>
              <a:rPr lang="zh-CN" altLang="zh-CN" dirty="0" smtClean="0"/>
              <a:t>功能设置</a:t>
            </a:r>
            <a:r>
              <a:rPr lang="en-US" altLang="zh-CN" dirty="0" smtClean="0"/>
              <a:t>FTP</a:t>
            </a:r>
            <a:r>
              <a:rPr lang="zh-CN" altLang="zh-CN" dirty="0" smtClean="0"/>
              <a:t>下载和上传</a:t>
            </a:r>
          </a:p>
          <a:p>
            <a:r>
              <a:rPr lang="zh-CN" altLang="zh-CN" dirty="0" smtClean="0"/>
              <a:t>操作步骤如下：</a:t>
            </a:r>
          </a:p>
          <a:p>
            <a:pPr lvl="1"/>
            <a:r>
              <a:rPr lang="zh-CN" altLang="zh-CN" dirty="0" smtClean="0"/>
              <a:t>确保</a:t>
            </a:r>
            <a:r>
              <a:rPr lang="en-US" altLang="zh-CN" dirty="0" smtClean="0"/>
              <a:t>LTE</a:t>
            </a:r>
            <a:r>
              <a:rPr lang="zh-CN" altLang="zh-CN" dirty="0" smtClean="0"/>
              <a:t>路测系统硬件连接良好，</a:t>
            </a:r>
            <a:r>
              <a:rPr lang="en-US" altLang="zh-CN" dirty="0" smtClean="0"/>
              <a:t>UE</a:t>
            </a:r>
            <a:r>
              <a:rPr lang="zh-CN" altLang="zh-CN" dirty="0" smtClean="0"/>
              <a:t>入网成功，并可以从</a:t>
            </a:r>
            <a:r>
              <a:rPr lang="en-US" altLang="zh-CN" dirty="0" smtClean="0"/>
              <a:t>Probe</a:t>
            </a:r>
            <a:r>
              <a:rPr lang="zh-CN" altLang="zh-CN" dirty="0" smtClean="0"/>
              <a:t>上读出</a:t>
            </a:r>
            <a:r>
              <a:rPr lang="en-US" altLang="zh-CN" dirty="0" smtClean="0"/>
              <a:t>UE</a:t>
            </a:r>
            <a:r>
              <a:rPr lang="zh-CN" altLang="zh-CN" dirty="0" smtClean="0"/>
              <a:t>的</a:t>
            </a:r>
            <a:r>
              <a:rPr lang="en-US" altLang="zh-CN" dirty="0" smtClean="0"/>
              <a:t>Serving Cell</a:t>
            </a:r>
            <a:r>
              <a:rPr lang="zh-CN" altLang="zh-CN" dirty="0" smtClean="0"/>
              <a:t>的</a:t>
            </a:r>
            <a:r>
              <a:rPr lang="en-US" altLang="zh-CN" dirty="0" smtClean="0"/>
              <a:t>PCI</a:t>
            </a:r>
            <a:r>
              <a:rPr lang="zh-CN" altLang="zh-CN" dirty="0" smtClean="0"/>
              <a:t>、</a:t>
            </a:r>
            <a:r>
              <a:rPr lang="en-US" altLang="zh-CN" dirty="0" smtClean="0"/>
              <a:t>RSRP</a:t>
            </a:r>
            <a:r>
              <a:rPr lang="zh-CN" altLang="zh-CN" dirty="0" smtClean="0"/>
              <a:t>、</a:t>
            </a:r>
            <a:r>
              <a:rPr lang="en-US" altLang="zh-CN" dirty="0" smtClean="0"/>
              <a:t>SINR</a:t>
            </a:r>
            <a:r>
              <a:rPr lang="zh-CN" altLang="zh-CN" dirty="0" smtClean="0"/>
              <a:t>等信息</a:t>
            </a:r>
          </a:p>
          <a:p>
            <a:pPr lvl="1"/>
            <a:r>
              <a:rPr lang="zh-CN" altLang="zh-CN" dirty="0" smtClean="0"/>
              <a:t>在</a:t>
            </a:r>
            <a:r>
              <a:rPr lang="en-US" altLang="zh-CN" dirty="0" smtClean="0"/>
              <a:t>Probe</a:t>
            </a:r>
            <a:r>
              <a:rPr lang="zh-CN" altLang="zh-CN" dirty="0" smtClean="0"/>
              <a:t>软件里面，选择“</a:t>
            </a:r>
            <a:r>
              <a:rPr lang="en-US" altLang="zh-CN" dirty="0" smtClean="0"/>
              <a:t>Configuration</a:t>
            </a:r>
            <a:r>
              <a:rPr lang="zh-CN" altLang="zh-CN" dirty="0" smtClean="0"/>
              <a:t>”－“</a:t>
            </a:r>
            <a:r>
              <a:rPr lang="en-US" altLang="zh-CN" dirty="0" smtClean="0"/>
              <a:t>Test Plan Control</a:t>
            </a:r>
            <a:r>
              <a:rPr lang="zh-CN" altLang="zh-CN" dirty="0" smtClean="0"/>
              <a:t>”，接着点击“</a:t>
            </a:r>
            <a:r>
              <a:rPr lang="en-US" altLang="zh-CN" dirty="0" smtClean="0"/>
              <a:t>Click here to </a:t>
            </a:r>
            <a:r>
              <a:rPr lang="en-US" altLang="zh-CN" dirty="0" err="1" smtClean="0"/>
              <a:t>config</a:t>
            </a:r>
            <a:r>
              <a:rPr lang="zh-CN" altLang="zh-CN" dirty="0" smtClean="0"/>
              <a:t>”，进行如下设置：</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92</a:t>
            </a:fld>
            <a:endParaRPr lang="en-US" altLang="zh-CN"/>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上行定点吞吐率</a:t>
            </a:r>
            <a:endParaRPr lang="zh-CN" altLang="en-US" dirty="0"/>
          </a:p>
        </p:txBody>
      </p:sp>
      <p:sp>
        <p:nvSpPr>
          <p:cNvPr id="3" name="内容占位符 2"/>
          <p:cNvSpPr>
            <a:spLocks noGrp="1"/>
          </p:cNvSpPr>
          <p:nvPr>
            <p:ph idx="1"/>
          </p:nvPr>
        </p:nvSpPr>
        <p:spPr/>
        <p:txBody>
          <a:bodyPr/>
          <a:lstStyle/>
          <a:p>
            <a:r>
              <a:rPr lang="zh-CN" altLang="zh-CN" dirty="0" smtClean="0"/>
              <a:t>上行定点吞吐率测试，用于验证</a:t>
            </a:r>
            <a:r>
              <a:rPr lang="en-US" altLang="zh-CN" dirty="0" smtClean="0"/>
              <a:t>LTE</a:t>
            </a:r>
            <a:r>
              <a:rPr lang="zh-CN" altLang="zh-CN" dirty="0" smtClean="0"/>
              <a:t>上行传输带宽是否满足</a:t>
            </a:r>
            <a:r>
              <a:rPr lang="en-US" altLang="zh-CN" dirty="0" smtClean="0"/>
              <a:t>LTE</a:t>
            </a:r>
            <a:r>
              <a:rPr lang="zh-CN" altLang="zh-CN" dirty="0" smtClean="0"/>
              <a:t>峰值要求。</a:t>
            </a:r>
            <a:endParaRPr lang="en-US" altLang="zh-CN" dirty="0" smtClean="0"/>
          </a:p>
          <a:p>
            <a:r>
              <a:rPr lang="zh-CN" altLang="en-US" dirty="0" smtClean="0"/>
              <a:t>测试要求：</a:t>
            </a:r>
            <a:endParaRPr lang="en-US" altLang="zh-CN" dirty="0" smtClean="0"/>
          </a:p>
          <a:p>
            <a:pPr lvl="1"/>
            <a:r>
              <a:rPr lang="zh-CN" altLang="zh-CN" dirty="0" smtClean="0"/>
              <a:t>测试点建议在天线的主瓣方向上，可直视小区天线</a:t>
            </a:r>
          </a:p>
          <a:p>
            <a:pPr lvl="1"/>
            <a:r>
              <a:rPr lang="en-US" altLang="zh-CN" dirty="0" smtClean="0"/>
              <a:t>SINR</a:t>
            </a:r>
            <a:r>
              <a:rPr lang="zh-CN" altLang="zh-CN" dirty="0" smtClean="0"/>
              <a:t>≥</a:t>
            </a:r>
            <a:r>
              <a:rPr lang="en-US" altLang="zh-CN" dirty="0" smtClean="0"/>
              <a:t>25dB</a:t>
            </a:r>
            <a:r>
              <a:rPr lang="zh-CN" altLang="zh-CN" dirty="0" smtClean="0"/>
              <a:t>，</a:t>
            </a:r>
            <a:r>
              <a:rPr lang="en-US" altLang="zh-CN" dirty="0" smtClean="0"/>
              <a:t>RSRP</a:t>
            </a:r>
            <a:r>
              <a:rPr lang="zh-CN" altLang="zh-CN" dirty="0" smtClean="0"/>
              <a:t>≥</a:t>
            </a:r>
            <a:r>
              <a:rPr lang="en-US" altLang="zh-CN" dirty="0" smtClean="0"/>
              <a:t>-80dBm</a:t>
            </a:r>
            <a:endParaRPr lang="zh-CN" altLang="zh-CN" dirty="0" smtClean="0"/>
          </a:p>
          <a:p>
            <a:pPr lvl="1"/>
            <a:r>
              <a:rPr lang="zh-CN" altLang="zh-CN" dirty="0" smtClean="0"/>
              <a:t>使用</a:t>
            </a:r>
            <a:r>
              <a:rPr lang="en-US" altLang="zh-CN" dirty="0" smtClean="0"/>
              <a:t>FTP</a:t>
            </a:r>
            <a:r>
              <a:rPr lang="zh-CN" altLang="zh-CN" dirty="0" smtClean="0"/>
              <a:t>进行测试</a:t>
            </a:r>
          </a:p>
          <a:p>
            <a:pPr lvl="1"/>
            <a:r>
              <a:rPr lang="zh-CN" altLang="zh-CN" dirty="0" smtClean="0"/>
              <a:t>路测软件记录</a:t>
            </a:r>
            <a:r>
              <a:rPr lang="en-US" altLang="zh-CN" dirty="0" smtClean="0"/>
              <a:t>3min</a:t>
            </a:r>
            <a:r>
              <a:rPr lang="zh-CN" altLang="zh-CN" dirty="0" smtClean="0"/>
              <a:t>，从路测软件中统计平均值</a:t>
            </a:r>
          </a:p>
          <a:p>
            <a:pPr lvl="1"/>
            <a:r>
              <a:rPr lang="zh-CN" altLang="zh-CN" dirty="0" smtClean="0"/>
              <a:t>测试</a:t>
            </a:r>
            <a:r>
              <a:rPr lang="en-US" altLang="zh-CN" dirty="0" smtClean="0"/>
              <a:t>2</a:t>
            </a:r>
            <a:r>
              <a:rPr lang="zh-CN" altLang="zh-CN" dirty="0" smtClean="0"/>
              <a:t>组数据</a:t>
            </a:r>
          </a:p>
          <a:p>
            <a:pPr lvl="1"/>
            <a:r>
              <a:rPr lang="zh-CN" altLang="zh-CN" dirty="0" smtClean="0"/>
              <a:t>吞吐率大于峰值的</a:t>
            </a:r>
            <a:r>
              <a:rPr lang="en-US" altLang="zh-CN" dirty="0" smtClean="0"/>
              <a:t>85%</a:t>
            </a:r>
            <a:r>
              <a:rPr lang="zh-CN" altLang="zh-CN" dirty="0" smtClean="0"/>
              <a:t>以上</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93</a:t>
            </a:fld>
            <a:endParaRPr lang="en-US" altLang="zh-CN"/>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411" name="Line 3"/>
          <p:cNvSpPr>
            <a:spLocks noChangeShapeType="1"/>
          </p:cNvSpPr>
          <p:nvPr/>
        </p:nvSpPr>
        <p:spPr bwMode="auto">
          <a:xfrm>
            <a:off x="496888" y="2844800"/>
            <a:ext cx="1295400" cy="0"/>
          </a:xfrm>
          <a:prstGeom prst="line">
            <a:avLst/>
          </a:prstGeom>
          <a:noFill/>
          <a:ln w="9525">
            <a:noFill/>
            <a:round/>
            <a:headEnd/>
            <a:tailEnd/>
          </a:ln>
          <a:effectLst>
            <a:outerShdw dist="35921" dir="2700000" algn="ctr" rotWithShape="0">
              <a:schemeClr val="bg2">
                <a:alpha val="50000"/>
              </a:schemeClr>
            </a:outerShdw>
          </a:effectLst>
        </p:spPr>
        <p:txBody>
          <a:bodyPr lIns="83448" tIns="41724" rIns="83448" bIns="41724">
            <a:spAutoFit/>
          </a:bodyPr>
          <a:lstStyle/>
          <a:p>
            <a:pPr fontAlgn="t">
              <a:defRPr/>
            </a:pPr>
            <a:endParaRPr lang="en-US">
              <a:ea typeface="华文细黑" pitchFamily="2" charset="-122"/>
            </a:endParaRPr>
          </a:p>
        </p:txBody>
      </p:sp>
      <p:pic>
        <p:nvPicPr>
          <p:cNvPr id="41987" name="Picture 2"/>
          <p:cNvPicPr>
            <a:picLocks noChangeAspect="1" noChangeArrowheads="1"/>
          </p:cNvPicPr>
          <p:nvPr/>
        </p:nvPicPr>
        <p:blipFill>
          <a:blip r:embed="rId3" cstate="print"/>
          <a:srcRect/>
          <a:stretch>
            <a:fillRect/>
          </a:stretch>
        </p:blipFill>
        <p:spPr bwMode="auto">
          <a:xfrm>
            <a:off x="571500" y="1314450"/>
            <a:ext cx="8310563" cy="4149725"/>
          </a:xfrm>
          <a:prstGeom prst="rect">
            <a:avLst/>
          </a:prstGeom>
          <a:noFill/>
          <a:ln w="9525" algn="ctr">
            <a:noFill/>
            <a:miter lim="800000"/>
            <a:headEnd/>
            <a:tailEnd/>
          </a:ln>
        </p:spPr>
      </p:pic>
      <p:sp>
        <p:nvSpPr>
          <p:cNvPr id="41988" name="标题 1"/>
          <p:cNvSpPr>
            <a:spLocks noGrp="1"/>
          </p:cNvSpPr>
          <p:nvPr>
            <p:ph type="title"/>
          </p:nvPr>
        </p:nvSpPr>
        <p:spPr/>
        <p:txBody>
          <a:bodyPr/>
          <a:lstStyle/>
          <a:p>
            <a:pPr eaLnBrk="1" hangingPunct="1"/>
            <a:r>
              <a:rPr lang="zh-CN" altLang="en-US" smtClean="0"/>
              <a:t>测试计划举例</a:t>
            </a:r>
            <a:r>
              <a:rPr lang="en-US" altLang="zh-CN" smtClean="0"/>
              <a:t>: FTP Upload</a:t>
            </a:r>
            <a:endParaRPr lang="zh-CN" altLang="en-US" smtClean="0"/>
          </a:p>
        </p:txBody>
      </p:sp>
      <p:sp>
        <p:nvSpPr>
          <p:cNvPr id="41989" name="灯片编号占位符 5"/>
          <p:cNvSpPr>
            <a:spLocks noGrp="1"/>
          </p:cNvSpPr>
          <p:nvPr>
            <p:ph type="sldNum" sz="quarter" idx="10"/>
          </p:nvPr>
        </p:nvSpPr>
        <p:spPr>
          <a:noFill/>
        </p:spPr>
        <p:txBody>
          <a:bodyPr/>
          <a:lstStyle/>
          <a:p>
            <a:pPr defTabSz="877888"/>
            <a:r>
              <a:rPr lang="en-US" altLang="zh-CN"/>
              <a:t>Page</a:t>
            </a:r>
            <a:fld id="{BBE8ABC8-CFCC-4CCB-850A-E6C9E6E7BF30}" type="slidenum">
              <a:rPr lang="en-US" altLang="zh-CN"/>
              <a:pPr defTabSz="877888"/>
              <a:t>94</a:t>
            </a:fld>
            <a:endParaRPr lang="en-US" altLang="zh-CN"/>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上传速率测试结果</a:t>
            </a:r>
            <a:endParaRPr lang="zh-CN" altLang="en-US" dirty="0"/>
          </a:p>
        </p:txBody>
      </p:sp>
      <p:sp>
        <p:nvSpPr>
          <p:cNvPr id="3" name="灯片编号占位符 2"/>
          <p:cNvSpPr>
            <a:spLocks noGrp="1"/>
          </p:cNvSpPr>
          <p:nvPr>
            <p:ph type="sldNum" sz="quarter" idx="10"/>
          </p:nvPr>
        </p:nvSpPr>
        <p:spPr/>
        <p:txBody>
          <a:bodyPr/>
          <a:lstStyle/>
          <a:p>
            <a:r>
              <a:rPr lang="en-US" altLang="zh-CN" smtClean="0"/>
              <a:t>Page</a:t>
            </a:r>
            <a:fld id="{09F8CA13-6817-4D26-B6E5-2EECD94D1A30}" type="slidenum">
              <a:rPr lang="en-US" altLang="zh-CN" smtClean="0"/>
              <a:pPr/>
              <a:t>95</a:t>
            </a:fld>
            <a:endParaRPr lang="en-US" altLang="zh-CN"/>
          </a:p>
        </p:txBody>
      </p:sp>
      <p:pic>
        <p:nvPicPr>
          <p:cNvPr id="4" name="图片 3"/>
          <p:cNvPicPr>
            <a:picLocks noChangeAspect="1"/>
          </p:cNvPicPr>
          <p:nvPr/>
        </p:nvPicPr>
        <p:blipFill>
          <a:blip r:embed="rId2" cstate="print"/>
          <a:stretch>
            <a:fillRect/>
          </a:stretch>
        </p:blipFill>
        <p:spPr>
          <a:xfrm>
            <a:off x="1279002" y="1954978"/>
            <a:ext cx="6482315" cy="4186742"/>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4"/>
              <a:defRPr/>
            </a:pPr>
            <a:r>
              <a:rPr lang="en-US" altLang="zh-CN" b="1" dirty="0" smtClean="0"/>
              <a:t>LTE</a:t>
            </a:r>
            <a:r>
              <a:rPr lang="zh-CN" altLang="en-US" b="1" dirty="0" smtClean="0"/>
              <a:t>单站验证项目</a:t>
            </a:r>
            <a:endParaRPr lang="en-US" altLang="zh-CN" b="1" dirty="0" smtClean="0"/>
          </a:p>
          <a:p>
            <a:pPr marL="457200" indent="-457200">
              <a:buClr>
                <a:schemeClr val="tx1"/>
              </a:buClr>
              <a:buSzTx/>
              <a:buNone/>
              <a:defRPr/>
            </a:pPr>
            <a:r>
              <a:rPr lang="en-US" altLang="zh-CN" dirty="0" smtClean="0">
                <a:solidFill>
                  <a:schemeClr val="bg1">
                    <a:lumMod val="75000"/>
                  </a:schemeClr>
                </a:solidFill>
              </a:rPr>
              <a:t>	4.1  DT</a:t>
            </a:r>
            <a:r>
              <a:rPr lang="zh-CN" altLang="en-US" dirty="0" smtClean="0">
                <a:solidFill>
                  <a:schemeClr val="bg1">
                    <a:lumMod val="75000"/>
                  </a:schemeClr>
                </a:solidFill>
              </a:rPr>
              <a:t>覆盖测试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4.2  LTE</a:t>
            </a:r>
            <a:r>
              <a:rPr lang="zh-CN" altLang="zh-CN" dirty="0" smtClean="0">
                <a:solidFill>
                  <a:schemeClr val="bg1">
                    <a:lumMod val="75000"/>
                  </a:schemeClr>
                </a:solidFill>
              </a:rPr>
              <a:t>接入功能测试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4.3  LTE Ping</a:t>
            </a:r>
            <a:r>
              <a:rPr lang="zh-CN" altLang="zh-CN"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4.4  LTE FTP</a:t>
            </a:r>
            <a:r>
              <a:rPr lang="zh-CN" altLang="en-US"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t>	4.5  LTE </a:t>
            </a:r>
            <a:r>
              <a:rPr lang="zh-CN" altLang="zh-CN" dirty="0" smtClean="0"/>
              <a:t>站内切换验证测试</a:t>
            </a:r>
            <a:r>
              <a:rPr lang="en-US" altLang="zh-CN" dirty="0" smtClean="0"/>
              <a:t>	</a:t>
            </a:r>
          </a:p>
          <a:p>
            <a:pPr marL="457200" indent="-457200">
              <a:buClr>
                <a:schemeClr val="tx1"/>
              </a:buClr>
              <a:buSzTx/>
              <a:buNone/>
              <a:defRPr/>
            </a:pPr>
            <a:r>
              <a:rPr lang="en-US" altLang="zh-CN" dirty="0" smtClean="0">
                <a:solidFill>
                  <a:schemeClr val="bg1">
                    <a:lumMod val="85000"/>
                  </a:schemeClr>
                </a:solidFill>
              </a:rPr>
              <a:t>	4.6  LTE</a:t>
            </a:r>
            <a:r>
              <a:rPr lang="zh-CN" altLang="en-US" dirty="0" smtClean="0">
                <a:solidFill>
                  <a:schemeClr val="bg1">
                    <a:lumMod val="85000"/>
                  </a:schemeClr>
                </a:solidFill>
              </a:rPr>
              <a:t>传输测试</a:t>
            </a:r>
            <a:endParaRPr lang="en-US" altLang="zh-CN" dirty="0" smtClean="0">
              <a:solidFill>
                <a:schemeClr val="bg1">
                  <a:lumMod val="85000"/>
                </a:schemeClr>
              </a:solidFill>
            </a:endParaRPr>
          </a:p>
          <a:p>
            <a:pPr marL="457200" indent="-457200">
              <a:buClr>
                <a:schemeClr val="tx1"/>
              </a:buClr>
              <a:buSzTx/>
              <a:buNone/>
              <a:defRPr/>
            </a:pPr>
            <a:r>
              <a:rPr lang="en-US" altLang="zh-CN" dirty="0" smtClean="0">
                <a:solidFill>
                  <a:schemeClr val="bg1">
                    <a:lumMod val="85000"/>
                  </a:schemeClr>
                </a:solidFill>
              </a:rPr>
              <a:t>	4.7  LTE</a:t>
            </a:r>
            <a:r>
              <a:rPr lang="zh-CN" altLang="en-US" dirty="0" smtClean="0">
                <a:solidFill>
                  <a:schemeClr val="bg1">
                    <a:lumMod val="85000"/>
                  </a:schemeClr>
                </a:solidFill>
              </a:rPr>
              <a:t>站点上下行吞吐率测试</a:t>
            </a:r>
            <a:endParaRPr lang="zh-CN" altLang="zh-CN" dirty="0" smtClean="0">
              <a:solidFill>
                <a:schemeClr val="bg1">
                  <a:lumMod val="85000"/>
                </a:schemeClr>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zh-CN" altLang="zh-CN" dirty="0" smtClean="0">
              <a:solidFill>
                <a:srgbClr val="777777"/>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en-US" altLang="zh-CN"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96</a:t>
            </a:fld>
            <a:endParaRPr lang="en-US" altLang="zh-CN"/>
          </a:p>
        </p:txBody>
      </p:sp>
    </p:spTree>
  </p:cSld>
  <p:clrMapOvr>
    <a:masterClrMapping/>
  </p:clrMapOvr>
  <p:transition advClick="0" advTm="8000"/>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a:t>
            </a:r>
            <a:r>
              <a:rPr lang="zh-CN" altLang="en-US" dirty="0" smtClean="0"/>
              <a:t>站内切换验证测试</a:t>
            </a:r>
            <a:endParaRPr lang="zh-CN" altLang="en-US" dirty="0"/>
          </a:p>
        </p:txBody>
      </p:sp>
      <p:sp>
        <p:nvSpPr>
          <p:cNvPr id="3" name="内容占位符 2"/>
          <p:cNvSpPr>
            <a:spLocks noGrp="1"/>
          </p:cNvSpPr>
          <p:nvPr>
            <p:ph idx="1"/>
          </p:nvPr>
        </p:nvSpPr>
        <p:spPr/>
        <p:txBody>
          <a:bodyPr/>
          <a:lstStyle/>
          <a:p>
            <a:r>
              <a:rPr lang="zh-CN" altLang="en-US" dirty="0" smtClean="0"/>
              <a:t>验证方法</a:t>
            </a:r>
            <a:endParaRPr lang="en-US" altLang="zh-CN" dirty="0" smtClean="0"/>
          </a:p>
          <a:p>
            <a:pPr lvl="1"/>
            <a:r>
              <a:rPr lang="zh-CN" altLang="zh-CN" dirty="0" smtClean="0"/>
              <a:t>根据工程参数和地图显示，事先确定好站内切换的路线，为保证站内切换的成功率，尽量在</a:t>
            </a:r>
            <a:r>
              <a:rPr lang="en-US" altLang="zh-CN" dirty="0" smtClean="0"/>
              <a:t>ring</a:t>
            </a:r>
            <a:r>
              <a:rPr lang="zh-CN" altLang="zh-CN" dirty="0" smtClean="0"/>
              <a:t>的范围测试。 </a:t>
            </a:r>
          </a:p>
          <a:p>
            <a:pPr lvl="1"/>
            <a:r>
              <a:rPr lang="zh-CN" altLang="zh-CN" dirty="0" smtClean="0"/>
              <a:t>通常对于</a:t>
            </a:r>
            <a:r>
              <a:rPr lang="en-US" altLang="zh-CN" dirty="0" smtClean="0"/>
              <a:t>urban</a:t>
            </a:r>
            <a:r>
              <a:rPr lang="zh-CN" altLang="zh-CN" dirty="0" smtClean="0"/>
              <a:t>站点，测试</a:t>
            </a:r>
            <a:r>
              <a:rPr lang="en-US" altLang="zh-CN" dirty="0" smtClean="0"/>
              <a:t>Ring</a:t>
            </a:r>
            <a:r>
              <a:rPr lang="zh-CN" altLang="zh-CN" dirty="0" smtClean="0"/>
              <a:t>的半径为</a:t>
            </a:r>
            <a:r>
              <a:rPr lang="en-US" altLang="zh-CN" dirty="0" smtClean="0"/>
              <a:t>350m</a:t>
            </a:r>
            <a:r>
              <a:rPr lang="zh-CN" altLang="zh-CN" dirty="0" smtClean="0"/>
              <a:t>，</a:t>
            </a:r>
            <a:r>
              <a:rPr lang="en-US" altLang="zh-CN" dirty="0" smtClean="0"/>
              <a:t>Remote</a:t>
            </a:r>
            <a:r>
              <a:rPr lang="zh-CN" altLang="zh-CN" dirty="0" smtClean="0"/>
              <a:t>站点的半径为</a:t>
            </a:r>
            <a:r>
              <a:rPr lang="en-US" altLang="zh-CN" dirty="0" smtClean="0"/>
              <a:t>2.5km</a:t>
            </a:r>
            <a:r>
              <a:rPr lang="zh-CN" altLang="zh-CN" dirty="0" smtClean="0"/>
              <a:t>左右，</a:t>
            </a:r>
            <a:r>
              <a:rPr lang="en-US" altLang="zh-CN" dirty="0" smtClean="0"/>
              <a:t>highway</a:t>
            </a:r>
            <a:r>
              <a:rPr lang="zh-CN" altLang="zh-CN" dirty="0" smtClean="0"/>
              <a:t>站点的半径为</a:t>
            </a:r>
            <a:r>
              <a:rPr lang="en-US" altLang="zh-CN" dirty="0" smtClean="0"/>
              <a:t>4km</a:t>
            </a:r>
            <a:r>
              <a:rPr lang="zh-CN" altLang="zh-CN" dirty="0" smtClean="0"/>
              <a:t>左右。</a:t>
            </a:r>
          </a:p>
          <a:p>
            <a:pPr lvl="1"/>
            <a:r>
              <a:rPr lang="zh-CN" altLang="zh-CN" dirty="0" smtClean="0"/>
              <a:t>建议去激活邻基站的小区，避免邻区干扰</a:t>
            </a:r>
          </a:p>
          <a:p>
            <a:pPr lvl="1"/>
            <a:r>
              <a:rPr lang="zh-CN" altLang="zh-CN" dirty="0" smtClean="0"/>
              <a:t>接入待测基站的小区，根据事先制定的路线开始测试，并在</a:t>
            </a:r>
            <a:r>
              <a:rPr lang="en-US" altLang="zh-CN" dirty="0" smtClean="0"/>
              <a:t>Probe</a:t>
            </a:r>
            <a:r>
              <a:rPr lang="zh-CN" altLang="zh-CN" dirty="0" smtClean="0"/>
              <a:t>上记录数据和查看是否能切换</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97</a:t>
            </a:fld>
            <a:endParaRPr lang="en-US" altLang="zh-CN"/>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LTE</a:t>
            </a:r>
            <a:r>
              <a:rPr lang="zh-CN" altLang="en-US" dirty="0" smtClean="0"/>
              <a:t>站内切换验证测试</a:t>
            </a:r>
            <a:endParaRPr lang="zh-CN" altLang="en-US" dirty="0"/>
          </a:p>
        </p:txBody>
      </p:sp>
      <p:sp>
        <p:nvSpPr>
          <p:cNvPr id="3" name="内容占位符 2"/>
          <p:cNvSpPr>
            <a:spLocks noGrp="1"/>
          </p:cNvSpPr>
          <p:nvPr>
            <p:ph idx="1"/>
          </p:nvPr>
        </p:nvSpPr>
        <p:spPr/>
        <p:txBody>
          <a:bodyPr/>
          <a:lstStyle/>
          <a:p>
            <a:r>
              <a:rPr lang="zh-CN" altLang="zh-CN" dirty="0" smtClean="0"/>
              <a:t>对于</a:t>
            </a:r>
            <a:r>
              <a:rPr lang="en-US" altLang="zh-CN" dirty="0" smtClean="0"/>
              <a:t>LTE</a:t>
            </a:r>
            <a:r>
              <a:rPr lang="zh-CN" altLang="zh-CN" dirty="0" smtClean="0"/>
              <a:t>站内切换是否正常，验证准则可以通过</a:t>
            </a:r>
            <a:r>
              <a:rPr lang="en-US" altLang="zh-CN" dirty="0" smtClean="0"/>
              <a:t>Probe</a:t>
            </a:r>
            <a:r>
              <a:rPr lang="zh-CN" altLang="zh-CN" dirty="0" smtClean="0"/>
              <a:t>中的</a:t>
            </a:r>
            <a:r>
              <a:rPr lang="en-US" altLang="zh-CN" dirty="0" smtClean="0"/>
              <a:t>L3 Message</a:t>
            </a:r>
            <a:r>
              <a:rPr lang="zh-CN" altLang="zh-CN" dirty="0" smtClean="0"/>
              <a:t>查看是否切换成功</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98</a:t>
            </a:fld>
            <a:endParaRPr lang="en-US" altLang="zh-CN"/>
          </a:p>
        </p:txBody>
      </p:sp>
      <p:pic>
        <p:nvPicPr>
          <p:cNvPr id="5" name="图片 4"/>
          <p:cNvPicPr/>
          <p:nvPr/>
        </p:nvPicPr>
        <p:blipFill>
          <a:blip r:embed="rId3" cstate="print"/>
          <a:srcRect/>
          <a:stretch>
            <a:fillRect/>
          </a:stretch>
        </p:blipFill>
        <p:spPr bwMode="auto">
          <a:xfrm>
            <a:off x="1829707" y="2421392"/>
            <a:ext cx="5253264" cy="37616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4"/>
              <a:defRPr/>
            </a:pPr>
            <a:r>
              <a:rPr lang="en-US" altLang="zh-CN" b="1" dirty="0" smtClean="0"/>
              <a:t>LTE</a:t>
            </a:r>
            <a:r>
              <a:rPr lang="zh-CN" altLang="en-US" b="1" dirty="0" smtClean="0"/>
              <a:t>单站验证项目</a:t>
            </a:r>
            <a:endParaRPr lang="en-US" altLang="zh-CN" b="1" dirty="0" smtClean="0"/>
          </a:p>
          <a:p>
            <a:pPr marL="457200" indent="-457200">
              <a:buClr>
                <a:schemeClr val="tx1"/>
              </a:buClr>
              <a:buSzTx/>
              <a:buNone/>
              <a:defRPr/>
            </a:pPr>
            <a:r>
              <a:rPr lang="en-US" altLang="zh-CN" dirty="0" smtClean="0">
                <a:solidFill>
                  <a:schemeClr val="bg1">
                    <a:lumMod val="75000"/>
                  </a:schemeClr>
                </a:solidFill>
              </a:rPr>
              <a:t>	4.1  DT</a:t>
            </a:r>
            <a:r>
              <a:rPr lang="zh-CN" altLang="en-US" dirty="0" smtClean="0">
                <a:solidFill>
                  <a:schemeClr val="bg1">
                    <a:lumMod val="75000"/>
                  </a:schemeClr>
                </a:solidFill>
              </a:rPr>
              <a:t>覆盖测试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4.2  LTE</a:t>
            </a:r>
            <a:r>
              <a:rPr lang="zh-CN" altLang="zh-CN" dirty="0" smtClean="0">
                <a:solidFill>
                  <a:schemeClr val="bg1">
                    <a:lumMod val="75000"/>
                  </a:schemeClr>
                </a:solidFill>
              </a:rPr>
              <a:t>接入功能测试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4.3  LTE Ping</a:t>
            </a:r>
            <a:r>
              <a:rPr lang="zh-CN" altLang="zh-CN"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4.4  LTE FTP</a:t>
            </a:r>
            <a:r>
              <a:rPr lang="zh-CN" altLang="en-US"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4.5  LTE </a:t>
            </a:r>
            <a:r>
              <a:rPr lang="zh-CN" altLang="zh-CN" dirty="0" smtClean="0">
                <a:solidFill>
                  <a:schemeClr val="bg1">
                    <a:lumMod val="75000"/>
                  </a:schemeClr>
                </a:solidFill>
              </a:rPr>
              <a:t>站内切换验证测试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t>	4.6  LTE</a:t>
            </a:r>
            <a:r>
              <a:rPr lang="zh-CN" altLang="en-US" dirty="0" smtClean="0"/>
              <a:t>传输测试</a:t>
            </a:r>
            <a:endParaRPr lang="en-US" altLang="zh-CN" dirty="0" smtClean="0"/>
          </a:p>
          <a:p>
            <a:pPr marL="457200" indent="-457200">
              <a:buClr>
                <a:schemeClr val="tx1"/>
              </a:buClr>
              <a:buSzTx/>
              <a:buNone/>
              <a:defRPr/>
            </a:pPr>
            <a:r>
              <a:rPr lang="en-US" altLang="zh-CN" dirty="0" smtClean="0">
                <a:solidFill>
                  <a:schemeClr val="bg1">
                    <a:lumMod val="75000"/>
                  </a:schemeClr>
                </a:solidFill>
              </a:rPr>
              <a:t>	4.7  LTE</a:t>
            </a:r>
            <a:r>
              <a:rPr lang="zh-CN" altLang="en-US" dirty="0" smtClean="0">
                <a:solidFill>
                  <a:schemeClr val="bg1">
                    <a:lumMod val="75000"/>
                  </a:schemeClr>
                </a:solidFill>
              </a:rPr>
              <a:t>站点上下行吞吐率测试</a:t>
            </a:r>
            <a:endParaRPr lang="zh-CN" altLang="zh-CN" dirty="0" smtClean="0">
              <a:solidFill>
                <a:schemeClr val="bg1">
                  <a:lumMod val="75000"/>
                </a:schemeClr>
              </a:solidFill>
            </a:endParaRPr>
          </a:p>
          <a:p>
            <a:pPr marL="457200" indent="-457200">
              <a:buClr>
                <a:schemeClr val="tx1"/>
              </a:buClr>
              <a:buSzTx/>
              <a:buNone/>
              <a:defRPr/>
            </a:pPr>
            <a:endParaRPr lang="zh-CN" altLang="zh-CN" dirty="0" smtClean="0">
              <a:solidFill>
                <a:srgbClr val="777777"/>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en-US" altLang="zh-CN"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99</a:t>
            </a:fld>
            <a:endParaRPr lang="en-US" altLang="zh-CN"/>
          </a:p>
        </p:txBody>
      </p:sp>
    </p:spTree>
  </p:cSld>
  <p:clrMapOvr>
    <a:masterClrMapping/>
  </p:clrMapOvr>
  <p:transition advClick="0" advTm="8000"/>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t>Iperf</a:t>
            </a:r>
            <a:r>
              <a:rPr lang="zh-CN" altLang="en-US" dirty="0" smtClean="0"/>
              <a:t>工具使用</a:t>
            </a:r>
            <a:endParaRPr lang="zh-CN" altLang="en-US" dirty="0"/>
          </a:p>
        </p:txBody>
      </p:sp>
      <p:sp>
        <p:nvSpPr>
          <p:cNvPr id="3" name="内容占位符 2"/>
          <p:cNvSpPr>
            <a:spLocks noGrp="1"/>
          </p:cNvSpPr>
          <p:nvPr>
            <p:ph idx="1"/>
          </p:nvPr>
        </p:nvSpPr>
        <p:spPr/>
        <p:txBody>
          <a:bodyPr/>
          <a:lstStyle/>
          <a:p>
            <a:r>
              <a:rPr lang="zh-CN" altLang="zh-CN" dirty="0" smtClean="0"/>
              <a:t>将</a:t>
            </a:r>
            <a:r>
              <a:rPr lang="en-US" altLang="zh-CN" dirty="0" err="1" smtClean="0"/>
              <a:t>iperf</a:t>
            </a:r>
            <a:r>
              <a:rPr lang="zh-CN" altLang="zh-CN" dirty="0" smtClean="0"/>
              <a:t>软件拷贝到本机</a:t>
            </a:r>
            <a:r>
              <a:rPr lang="en-US" altLang="zh-CN" dirty="0" smtClean="0"/>
              <a:t>C</a:t>
            </a:r>
            <a:r>
              <a:rPr lang="zh-CN" altLang="zh-CN" dirty="0" smtClean="0"/>
              <a:t>盘根目录下，</a:t>
            </a:r>
            <a:r>
              <a:rPr lang="en-US" altLang="zh-CN" dirty="0" smtClean="0"/>
              <a:t>windows dos</a:t>
            </a:r>
            <a:r>
              <a:rPr lang="zh-CN" altLang="zh-CN" dirty="0" smtClean="0"/>
              <a:t>窗口启动的时候，先返回到根目录提示，具体操作如下：</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100</a:t>
            </a:fld>
            <a:endParaRPr lang="en-US" altLang="zh-CN"/>
          </a:p>
        </p:txBody>
      </p:sp>
      <p:pic>
        <p:nvPicPr>
          <p:cNvPr id="5" name="图片 4"/>
          <p:cNvPicPr/>
          <p:nvPr/>
        </p:nvPicPr>
        <p:blipFill>
          <a:blip r:embed="rId2" cstate="print"/>
          <a:srcRect/>
          <a:stretch>
            <a:fillRect/>
          </a:stretch>
        </p:blipFill>
        <p:spPr bwMode="auto">
          <a:xfrm>
            <a:off x="1115785" y="2529794"/>
            <a:ext cx="7375071" cy="289854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下行</a:t>
            </a:r>
            <a:r>
              <a:rPr lang="en-US" altLang="zh-CN" dirty="0" smtClean="0"/>
              <a:t>UDP</a:t>
            </a:r>
            <a:r>
              <a:rPr lang="zh-CN" altLang="zh-CN" dirty="0" smtClean="0"/>
              <a:t>灌包（从服务器向终端灌包）</a:t>
            </a:r>
            <a:endParaRPr lang="zh-CN" altLang="en-US" dirty="0"/>
          </a:p>
        </p:txBody>
      </p:sp>
      <p:sp>
        <p:nvSpPr>
          <p:cNvPr id="3" name="内容占位符 2"/>
          <p:cNvSpPr>
            <a:spLocks noGrp="1"/>
          </p:cNvSpPr>
          <p:nvPr>
            <p:ph idx="1"/>
          </p:nvPr>
        </p:nvSpPr>
        <p:spPr/>
        <p:txBody>
          <a:bodyPr/>
          <a:lstStyle/>
          <a:p>
            <a:r>
              <a:rPr lang="zh-CN" altLang="zh-CN" dirty="0" smtClean="0"/>
              <a:t>服务器侧</a:t>
            </a:r>
            <a:r>
              <a:rPr lang="en-US" altLang="zh-CN" dirty="0" smtClean="0"/>
              <a:t>CMD</a:t>
            </a:r>
            <a:r>
              <a:rPr lang="zh-CN" altLang="zh-CN" dirty="0" smtClean="0"/>
              <a:t>窗口中启动如下命令：</a:t>
            </a:r>
          </a:p>
          <a:p>
            <a:pPr lvl="1"/>
            <a:r>
              <a:rPr lang="en-US" altLang="zh-CN" dirty="0" err="1" smtClean="0"/>
              <a:t>Iperf</a:t>
            </a:r>
            <a:r>
              <a:rPr lang="en-US" altLang="zh-CN" dirty="0" smtClean="0"/>
              <a:t> –c </a:t>
            </a:r>
            <a:r>
              <a:rPr lang="en-US" altLang="zh-CN" dirty="0" err="1" smtClean="0"/>
              <a:t>xx.xx.xx.xx</a:t>
            </a:r>
            <a:r>
              <a:rPr lang="en-US" altLang="zh-CN" dirty="0" smtClean="0"/>
              <a:t> –u –b 100m –p 6001 –t 99999</a:t>
            </a:r>
            <a:endParaRPr lang="zh-CN" altLang="zh-CN" dirty="0" smtClean="0"/>
          </a:p>
          <a:p>
            <a:pPr lvl="1"/>
            <a:r>
              <a:rPr lang="en-US" altLang="zh-CN" dirty="0" smtClean="0"/>
              <a:t>UE</a:t>
            </a:r>
            <a:r>
              <a:rPr lang="zh-CN" altLang="zh-CN" dirty="0" smtClean="0"/>
              <a:t>侧</a:t>
            </a:r>
            <a:r>
              <a:rPr lang="en-US" altLang="zh-CN" dirty="0" smtClean="0"/>
              <a:t>PC CMD</a:t>
            </a:r>
            <a:r>
              <a:rPr lang="zh-CN" altLang="zh-CN" dirty="0" smtClean="0"/>
              <a:t>窗口中启动如下命令：</a:t>
            </a:r>
          </a:p>
          <a:p>
            <a:pPr lvl="1"/>
            <a:r>
              <a:rPr lang="pl-PL" altLang="zh-CN" dirty="0" smtClean="0"/>
              <a:t>Iperf –s –u –p 6001</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101</a:t>
            </a:fld>
            <a:endParaRPr lang="en-US" altLang="zh-CN"/>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上行</a:t>
            </a:r>
            <a:r>
              <a:rPr lang="en-US" altLang="zh-CN" dirty="0" smtClean="0"/>
              <a:t>UDP</a:t>
            </a:r>
            <a:r>
              <a:rPr lang="zh-CN" altLang="zh-CN" dirty="0" smtClean="0"/>
              <a:t>灌包（从</a:t>
            </a:r>
            <a:r>
              <a:rPr lang="en-US" altLang="zh-CN" dirty="0" smtClean="0"/>
              <a:t>UE</a:t>
            </a:r>
            <a:r>
              <a:rPr lang="zh-CN" altLang="zh-CN" dirty="0" smtClean="0"/>
              <a:t>灌向服务器）</a:t>
            </a:r>
            <a:endParaRPr lang="zh-CN" altLang="en-US" dirty="0"/>
          </a:p>
        </p:txBody>
      </p:sp>
      <p:sp>
        <p:nvSpPr>
          <p:cNvPr id="3" name="内容占位符 2"/>
          <p:cNvSpPr>
            <a:spLocks noGrp="1"/>
          </p:cNvSpPr>
          <p:nvPr>
            <p:ph idx="1"/>
          </p:nvPr>
        </p:nvSpPr>
        <p:spPr/>
        <p:txBody>
          <a:bodyPr/>
          <a:lstStyle/>
          <a:p>
            <a:r>
              <a:rPr lang="zh-CN" altLang="zh-CN" dirty="0" smtClean="0"/>
              <a:t>服务器侧</a:t>
            </a:r>
            <a:r>
              <a:rPr lang="en-US" altLang="zh-CN" dirty="0" smtClean="0"/>
              <a:t>CMD</a:t>
            </a:r>
            <a:r>
              <a:rPr lang="zh-CN" altLang="zh-CN" dirty="0" smtClean="0"/>
              <a:t>窗口中启动如下命令：</a:t>
            </a:r>
          </a:p>
          <a:p>
            <a:pPr lvl="1"/>
            <a:r>
              <a:rPr lang="pl-PL" altLang="zh-CN" dirty="0" smtClean="0"/>
              <a:t>Iperf –s –u –p 6002</a:t>
            </a:r>
            <a:endParaRPr lang="zh-CN" altLang="zh-CN" dirty="0" smtClean="0"/>
          </a:p>
          <a:p>
            <a:pPr lvl="1"/>
            <a:r>
              <a:rPr lang="en-US" altLang="zh-CN" dirty="0" smtClean="0"/>
              <a:t>UE</a:t>
            </a:r>
            <a:r>
              <a:rPr lang="zh-CN" altLang="zh-CN" dirty="0" smtClean="0"/>
              <a:t>侧</a:t>
            </a:r>
            <a:r>
              <a:rPr lang="en-US" altLang="zh-CN" dirty="0" smtClean="0"/>
              <a:t>PC CMD</a:t>
            </a:r>
            <a:r>
              <a:rPr lang="zh-CN" altLang="zh-CN" dirty="0" smtClean="0"/>
              <a:t>窗口中启动如下命令：</a:t>
            </a:r>
          </a:p>
          <a:p>
            <a:pPr lvl="1"/>
            <a:r>
              <a:rPr lang="en-US" altLang="zh-CN" dirty="0" err="1" smtClean="0"/>
              <a:t>Iperf</a:t>
            </a:r>
            <a:r>
              <a:rPr lang="en-US" altLang="zh-CN" dirty="0" smtClean="0"/>
              <a:t> –c </a:t>
            </a:r>
            <a:r>
              <a:rPr lang="en-US" altLang="zh-CN" dirty="0" err="1" smtClean="0"/>
              <a:t>xx.xx.xx.xx</a:t>
            </a:r>
            <a:r>
              <a:rPr lang="en-US" altLang="zh-CN" dirty="0" smtClean="0"/>
              <a:t> –u –b 100m –p 6002 –t 99999</a:t>
            </a:r>
            <a:endParaRPr lang="zh-CN" altLang="zh-CN" dirty="0" smtClean="0"/>
          </a:p>
          <a:p>
            <a:pPr lvl="1"/>
            <a:r>
              <a:rPr lang="zh-CN" altLang="zh-CN" dirty="0" smtClean="0"/>
              <a:t>其中</a:t>
            </a:r>
            <a:r>
              <a:rPr lang="en-US" altLang="zh-CN" dirty="0" err="1" smtClean="0"/>
              <a:t>xx.xx.xx.xx</a:t>
            </a:r>
            <a:r>
              <a:rPr lang="zh-CN" altLang="zh-CN" dirty="0" smtClean="0"/>
              <a:t>为服务器地址。</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102</a:t>
            </a:fld>
            <a:endParaRPr lang="en-US" altLang="zh-CN"/>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下行</a:t>
            </a:r>
            <a:r>
              <a:rPr lang="en-US" altLang="zh-CN" dirty="0" smtClean="0"/>
              <a:t>TCP</a:t>
            </a:r>
            <a:r>
              <a:rPr lang="zh-CN" altLang="zh-CN" dirty="0" smtClean="0"/>
              <a:t>灌包</a:t>
            </a:r>
            <a:endParaRPr lang="zh-CN" altLang="en-US" dirty="0"/>
          </a:p>
        </p:txBody>
      </p:sp>
      <p:sp>
        <p:nvSpPr>
          <p:cNvPr id="3" name="内容占位符 2"/>
          <p:cNvSpPr>
            <a:spLocks noGrp="1"/>
          </p:cNvSpPr>
          <p:nvPr>
            <p:ph idx="1"/>
          </p:nvPr>
        </p:nvSpPr>
        <p:spPr/>
        <p:txBody>
          <a:bodyPr/>
          <a:lstStyle/>
          <a:p>
            <a:r>
              <a:rPr lang="zh-CN" altLang="zh-CN" dirty="0" smtClean="0"/>
              <a:t>服务器侧</a:t>
            </a:r>
            <a:r>
              <a:rPr lang="en-US" altLang="zh-CN" dirty="0" smtClean="0"/>
              <a:t>CMD</a:t>
            </a:r>
            <a:r>
              <a:rPr lang="zh-CN" altLang="zh-CN" dirty="0" smtClean="0"/>
              <a:t>窗口中启动如下命令：</a:t>
            </a:r>
          </a:p>
          <a:p>
            <a:pPr lvl="1"/>
            <a:r>
              <a:rPr lang="en-US" altLang="zh-CN" dirty="0" err="1" smtClean="0"/>
              <a:t>Iperf</a:t>
            </a:r>
            <a:r>
              <a:rPr lang="en-US" altLang="zh-CN" dirty="0" smtClean="0"/>
              <a:t> –c </a:t>
            </a:r>
            <a:r>
              <a:rPr lang="en-US" altLang="zh-CN" dirty="0" err="1" smtClean="0"/>
              <a:t>xx.xx.xx.xx</a:t>
            </a:r>
            <a:r>
              <a:rPr lang="en-US" altLang="zh-CN" dirty="0" smtClean="0"/>
              <a:t> –p 6003 –w 512k –t 99999</a:t>
            </a:r>
            <a:endParaRPr lang="zh-CN" altLang="zh-CN" dirty="0" smtClean="0"/>
          </a:p>
          <a:p>
            <a:pPr lvl="1"/>
            <a:r>
              <a:rPr lang="en-US" altLang="zh-CN" dirty="0" smtClean="0"/>
              <a:t>UE</a:t>
            </a:r>
            <a:r>
              <a:rPr lang="zh-CN" altLang="zh-CN" dirty="0" smtClean="0"/>
              <a:t>侧</a:t>
            </a:r>
            <a:r>
              <a:rPr lang="en-US" altLang="zh-CN" dirty="0" smtClean="0"/>
              <a:t>PC CMD</a:t>
            </a:r>
            <a:r>
              <a:rPr lang="zh-CN" altLang="zh-CN" dirty="0" smtClean="0"/>
              <a:t>窗口中启动如下命令：</a:t>
            </a:r>
          </a:p>
          <a:p>
            <a:pPr lvl="1"/>
            <a:r>
              <a:rPr lang="pl-PL" altLang="zh-CN" dirty="0" smtClean="0"/>
              <a:t>Iperf –s –w 512k–p 6003</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103</a:t>
            </a:fld>
            <a:endParaRPr lang="en-US" altLang="zh-CN"/>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上行</a:t>
            </a:r>
            <a:r>
              <a:rPr lang="en-US" altLang="zh-CN" dirty="0" smtClean="0"/>
              <a:t>TCP</a:t>
            </a:r>
            <a:r>
              <a:rPr lang="zh-CN" altLang="zh-CN" dirty="0" smtClean="0"/>
              <a:t>灌包</a:t>
            </a:r>
            <a:endParaRPr lang="zh-CN" altLang="en-US" dirty="0"/>
          </a:p>
        </p:txBody>
      </p:sp>
      <p:sp>
        <p:nvSpPr>
          <p:cNvPr id="3" name="内容占位符 2"/>
          <p:cNvSpPr>
            <a:spLocks noGrp="1"/>
          </p:cNvSpPr>
          <p:nvPr>
            <p:ph idx="1"/>
          </p:nvPr>
        </p:nvSpPr>
        <p:spPr/>
        <p:txBody>
          <a:bodyPr/>
          <a:lstStyle/>
          <a:p>
            <a:r>
              <a:rPr lang="zh-CN" altLang="zh-CN" dirty="0" smtClean="0"/>
              <a:t>服务器侧</a:t>
            </a:r>
            <a:r>
              <a:rPr lang="en-US" altLang="zh-CN" dirty="0" smtClean="0"/>
              <a:t>CMD</a:t>
            </a:r>
            <a:r>
              <a:rPr lang="zh-CN" altLang="zh-CN" dirty="0" smtClean="0"/>
              <a:t>窗口中启动如下命令：</a:t>
            </a:r>
          </a:p>
          <a:p>
            <a:pPr lvl="1"/>
            <a:r>
              <a:rPr lang="pl-PL" altLang="zh-CN" dirty="0" smtClean="0"/>
              <a:t>Iperf –s –w 512k–p 6004</a:t>
            </a:r>
            <a:endParaRPr lang="zh-CN" altLang="zh-CN" dirty="0" smtClean="0"/>
          </a:p>
          <a:p>
            <a:pPr lvl="1"/>
            <a:r>
              <a:rPr lang="en-US" altLang="zh-CN" dirty="0" smtClean="0"/>
              <a:t>UE</a:t>
            </a:r>
            <a:r>
              <a:rPr lang="zh-CN" altLang="zh-CN" dirty="0" smtClean="0"/>
              <a:t>侧</a:t>
            </a:r>
            <a:r>
              <a:rPr lang="en-US" altLang="zh-CN" dirty="0" smtClean="0"/>
              <a:t>PC CMD</a:t>
            </a:r>
            <a:r>
              <a:rPr lang="zh-CN" altLang="zh-CN" dirty="0" smtClean="0"/>
              <a:t>窗口中启动如下命令：</a:t>
            </a:r>
          </a:p>
          <a:p>
            <a:pPr lvl="1"/>
            <a:r>
              <a:rPr lang="en-US" altLang="zh-CN" dirty="0" err="1" smtClean="0"/>
              <a:t>Iperf</a:t>
            </a:r>
            <a:r>
              <a:rPr lang="en-US" altLang="zh-CN" dirty="0" smtClean="0"/>
              <a:t> –c </a:t>
            </a:r>
            <a:r>
              <a:rPr lang="en-US" altLang="zh-CN" dirty="0" err="1" smtClean="0"/>
              <a:t>xx.xx.xx.xx</a:t>
            </a:r>
            <a:r>
              <a:rPr lang="en-US" altLang="zh-CN" dirty="0" smtClean="0"/>
              <a:t> –p 6004 –w 512k –t 99999</a:t>
            </a:r>
            <a:endParaRPr lang="zh-CN" altLang="zh-CN" dirty="0" smtClean="0"/>
          </a:p>
          <a:p>
            <a:r>
              <a:rPr lang="zh-CN" altLang="zh-CN" dirty="0" smtClean="0"/>
              <a:t>说明：其中</a:t>
            </a:r>
            <a:r>
              <a:rPr lang="en-US" altLang="zh-CN" dirty="0" err="1" smtClean="0"/>
              <a:t>xx.xx.xx.xx</a:t>
            </a:r>
            <a:r>
              <a:rPr lang="zh-CN" altLang="zh-CN" dirty="0" smtClean="0"/>
              <a:t>为服务器地址。需要特别注意的是千万不要－</a:t>
            </a:r>
            <a:r>
              <a:rPr lang="en-US" altLang="zh-CN" dirty="0" smtClean="0"/>
              <a:t>b</a:t>
            </a:r>
            <a:r>
              <a:rPr lang="zh-CN" altLang="zh-CN" dirty="0" smtClean="0"/>
              <a:t>，否则就成为</a:t>
            </a:r>
            <a:r>
              <a:rPr lang="en-US" altLang="zh-CN" dirty="0" smtClean="0"/>
              <a:t>UDP</a:t>
            </a:r>
            <a:r>
              <a:rPr lang="zh-CN" altLang="zh-CN" dirty="0" smtClean="0"/>
              <a:t>灌包。</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104</a:t>
            </a:fld>
            <a:endParaRPr lang="en-US" altLang="zh-CN"/>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zh-CN" dirty="0" smtClean="0"/>
              <a:t>环回测试</a:t>
            </a:r>
            <a:endParaRPr lang="zh-CN" altLang="en-US" dirty="0"/>
          </a:p>
        </p:txBody>
      </p:sp>
      <p:sp>
        <p:nvSpPr>
          <p:cNvPr id="3" name="内容占位符 2"/>
          <p:cNvSpPr>
            <a:spLocks noGrp="1"/>
          </p:cNvSpPr>
          <p:nvPr>
            <p:ph idx="1"/>
          </p:nvPr>
        </p:nvSpPr>
        <p:spPr/>
        <p:txBody>
          <a:bodyPr/>
          <a:lstStyle/>
          <a:p>
            <a:r>
              <a:rPr lang="zh-CN" altLang="zh-CN" dirty="0" smtClean="0"/>
              <a:t>基站传输带宽采用</a:t>
            </a:r>
            <a:r>
              <a:rPr lang="en-US" altLang="zh-CN" dirty="0" smtClean="0"/>
              <a:t>UDP</a:t>
            </a:r>
            <a:r>
              <a:rPr lang="zh-CN" altLang="zh-CN" dirty="0" smtClean="0"/>
              <a:t>环回测试，用于验证传输带宽是否满足</a:t>
            </a:r>
            <a:r>
              <a:rPr lang="en-US" altLang="zh-CN" dirty="0" smtClean="0"/>
              <a:t>LTE</a:t>
            </a:r>
            <a:r>
              <a:rPr lang="zh-CN" altLang="zh-CN" dirty="0" smtClean="0"/>
              <a:t>峰值要求。</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105</a:t>
            </a:fld>
            <a:endParaRPr lang="en-US" altLang="zh-CN"/>
          </a:p>
        </p:txBody>
      </p:sp>
      <p:pic>
        <p:nvPicPr>
          <p:cNvPr id="5" name="图片 4"/>
          <p:cNvPicPr/>
          <p:nvPr/>
        </p:nvPicPr>
        <p:blipFill>
          <a:blip r:embed="rId3" cstate="print"/>
          <a:srcRect/>
          <a:stretch>
            <a:fillRect/>
          </a:stretch>
        </p:blipFill>
        <p:spPr bwMode="auto">
          <a:xfrm>
            <a:off x="1574764" y="2795594"/>
            <a:ext cx="5682401" cy="228440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zh-CN" dirty="0" smtClean="0"/>
              <a:t>环回操作方法</a:t>
            </a:r>
            <a:endParaRPr lang="zh-CN" altLang="en-US" dirty="0"/>
          </a:p>
        </p:txBody>
      </p:sp>
      <p:sp>
        <p:nvSpPr>
          <p:cNvPr id="3" name="内容占位符 2"/>
          <p:cNvSpPr>
            <a:spLocks noGrp="1"/>
          </p:cNvSpPr>
          <p:nvPr>
            <p:ph idx="1"/>
          </p:nvPr>
        </p:nvSpPr>
        <p:spPr/>
        <p:txBody>
          <a:bodyPr/>
          <a:lstStyle/>
          <a:p>
            <a:pPr lvl="0"/>
            <a:r>
              <a:rPr lang="zh-CN" altLang="zh-CN" dirty="0" smtClean="0"/>
              <a:t>从</a:t>
            </a:r>
            <a:r>
              <a:rPr lang="en-US" altLang="zh-CN" dirty="0" err="1" smtClean="0"/>
              <a:t>eNodeB</a:t>
            </a:r>
            <a:r>
              <a:rPr lang="zh-CN" altLang="zh-CN" dirty="0" smtClean="0"/>
              <a:t>向</a:t>
            </a:r>
            <a:r>
              <a:rPr lang="en-US" altLang="zh-CN" dirty="0" smtClean="0"/>
              <a:t>UGW</a:t>
            </a:r>
            <a:r>
              <a:rPr lang="zh-CN" altLang="zh-CN" dirty="0" smtClean="0"/>
              <a:t>核心网进行环回测试操作如下：</a:t>
            </a:r>
            <a:endParaRPr lang="en-US" altLang="zh-CN" dirty="0" smtClean="0"/>
          </a:p>
          <a:p>
            <a:pPr lvl="1"/>
            <a:r>
              <a:rPr lang="zh-CN" altLang="zh-CN" dirty="0" smtClean="0"/>
              <a:t>在</a:t>
            </a:r>
            <a:r>
              <a:rPr lang="en-US" altLang="zh-CN" dirty="0" smtClean="0"/>
              <a:t>UGW</a:t>
            </a:r>
            <a:r>
              <a:rPr lang="zh-CN" altLang="zh-CN" dirty="0" smtClean="0"/>
              <a:t>上设置环回：在</a:t>
            </a:r>
            <a:r>
              <a:rPr lang="en-US" altLang="zh-CN" dirty="0" smtClean="0"/>
              <a:t>UGW</a:t>
            </a:r>
            <a:r>
              <a:rPr lang="zh-CN" altLang="zh-CN" dirty="0" smtClean="0"/>
              <a:t>上进入 </a:t>
            </a:r>
            <a:r>
              <a:rPr lang="en-US" altLang="zh-CN" dirty="0" smtClean="0"/>
              <a:t>Service-view </a:t>
            </a:r>
            <a:r>
              <a:rPr lang="zh-CN" altLang="zh-CN" dirty="0" smtClean="0"/>
              <a:t>输入</a:t>
            </a:r>
            <a:r>
              <a:rPr lang="en-US" altLang="zh-CN" dirty="0" smtClean="0"/>
              <a:t>loop </a:t>
            </a:r>
            <a:r>
              <a:rPr lang="en-US" altLang="zh-CN" dirty="0" err="1" smtClean="0"/>
              <a:t>udp</a:t>
            </a:r>
            <a:r>
              <a:rPr lang="en-US" altLang="zh-CN" dirty="0" smtClean="0"/>
              <a:t> enable</a:t>
            </a:r>
            <a:r>
              <a:rPr lang="zh-CN" altLang="zh-CN" dirty="0" smtClean="0"/>
              <a:t>，核心网支持的</a:t>
            </a:r>
            <a:r>
              <a:rPr lang="en-US" altLang="zh-CN" dirty="0" err="1" smtClean="0"/>
              <a:t>udp</a:t>
            </a:r>
            <a:r>
              <a:rPr lang="en-US" altLang="zh-CN" dirty="0" smtClean="0"/>
              <a:t> loop</a:t>
            </a:r>
            <a:r>
              <a:rPr lang="zh-CN" altLang="zh-CN" dirty="0" smtClean="0"/>
              <a:t>端口号范围是</a:t>
            </a:r>
            <a:r>
              <a:rPr lang="en-US" altLang="zh-CN" dirty="0" smtClean="0"/>
              <a:t>14000-14099 </a:t>
            </a:r>
            <a:r>
              <a:rPr lang="zh-CN" altLang="zh-CN" dirty="0" smtClean="0"/>
              <a:t>；每个</a:t>
            </a:r>
            <a:r>
              <a:rPr lang="en-US" altLang="zh-CN" dirty="0" err="1" smtClean="0"/>
              <a:t>eNodeB</a:t>
            </a:r>
            <a:r>
              <a:rPr lang="zh-CN" altLang="zh-CN" dirty="0" smtClean="0"/>
              <a:t>都需要</a:t>
            </a:r>
            <a:r>
              <a:rPr lang="en-US" altLang="zh-CN" dirty="0" smtClean="0"/>
              <a:t>UGW</a:t>
            </a:r>
            <a:r>
              <a:rPr lang="zh-CN" altLang="zh-CN" dirty="0" smtClean="0"/>
              <a:t>的配合测试。</a:t>
            </a:r>
          </a:p>
          <a:p>
            <a:pPr lvl="1"/>
            <a:r>
              <a:rPr lang="zh-CN" altLang="zh-CN" dirty="0" smtClean="0"/>
              <a:t>在</a:t>
            </a:r>
            <a:r>
              <a:rPr lang="en-US" altLang="zh-CN" dirty="0" err="1" smtClean="0"/>
              <a:t>eNodeB</a:t>
            </a:r>
            <a:r>
              <a:rPr lang="zh-CN" altLang="zh-CN" dirty="0" smtClean="0"/>
              <a:t>侧执行命令：</a:t>
            </a:r>
            <a:r>
              <a:rPr lang="en-US" altLang="zh-CN" dirty="0" smtClean="0"/>
              <a:t>SET UDPLOOP</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106</a:t>
            </a:fld>
            <a:endParaRPr lang="en-US" altLang="zh-CN"/>
          </a:p>
        </p:txBody>
      </p:sp>
      <p:pic>
        <p:nvPicPr>
          <p:cNvPr id="5" name="图片 4"/>
          <p:cNvPicPr/>
          <p:nvPr/>
        </p:nvPicPr>
        <p:blipFill>
          <a:blip r:embed="rId3" cstate="print"/>
          <a:srcRect/>
          <a:stretch>
            <a:fillRect/>
          </a:stretch>
        </p:blipFill>
        <p:spPr bwMode="auto">
          <a:xfrm>
            <a:off x="1398451" y="3777161"/>
            <a:ext cx="6598920" cy="2434952"/>
          </a:xfrm>
          <a:prstGeom prst="rect">
            <a:avLst/>
          </a:prstGeom>
          <a:noFill/>
          <a:ln w="1270" cmpd="sng">
            <a:solidFill>
              <a:schemeClr val="tx1">
                <a:lumMod val="95000"/>
                <a:lumOff val="5000"/>
                <a:alpha val="0"/>
              </a:schemeClr>
            </a:solidFill>
            <a:miter lim="800000"/>
            <a:headEnd/>
            <a:tailEnd/>
          </a:ln>
          <a:effectLst/>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zh-CN" dirty="0" smtClean="0"/>
              <a:t>环回操作方法</a:t>
            </a:r>
            <a:endParaRPr lang="zh-CN" altLang="en-US" dirty="0"/>
          </a:p>
        </p:txBody>
      </p:sp>
      <p:sp>
        <p:nvSpPr>
          <p:cNvPr id="3" name="内容占位符 2"/>
          <p:cNvSpPr>
            <a:spLocks noGrp="1"/>
          </p:cNvSpPr>
          <p:nvPr>
            <p:ph idx="1"/>
          </p:nvPr>
        </p:nvSpPr>
        <p:spPr/>
        <p:txBody>
          <a:bodyPr/>
          <a:lstStyle/>
          <a:p>
            <a:pPr lvl="1"/>
            <a:r>
              <a:rPr lang="zh-CN" altLang="zh-CN" dirty="0" smtClean="0"/>
              <a:t>在</a:t>
            </a:r>
            <a:r>
              <a:rPr lang="en-US" altLang="zh-CN" dirty="0" err="1" smtClean="0"/>
              <a:t>eNodeB</a:t>
            </a:r>
            <a:r>
              <a:rPr lang="zh-CN" altLang="zh-CN" dirty="0" smtClean="0"/>
              <a:t>侧建立</a:t>
            </a:r>
            <a:r>
              <a:rPr lang="en-US" altLang="zh-CN" dirty="0" smtClean="0"/>
              <a:t> UDP Test Monitoring</a:t>
            </a:r>
            <a:endParaRPr lang="zh-CN" altLang="zh-CN"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107</a:t>
            </a:fld>
            <a:endParaRPr lang="en-US" altLang="zh-CN"/>
          </a:p>
        </p:txBody>
      </p:sp>
      <p:pic>
        <p:nvPicPr>
          <p:cNvPr id="6" name="图片 5"/>
          <p:cNvPicPr/>
          <p:nvPr/>
        </p:nvPicPr>
        <p:blipFill>
          <a:blip r:embed="rId3" cstate="print"/>
          <a:srcRect/>
          <a:stretch>
            <a:fillRect/>
          </a:stretch>
        </p:blipFill>
        <p:spPr bwMode="auto">
          <a:xfrm>
            <a:off x="1277177" y="2010002"/>
            <a:ext cx="6575052" cy="415856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UDP</a:t>
            </a:r>
            <a:r>
              <a:rPr lang="zh-CN" altLang="en-US" dirty="0" smtClean="0"/>
              <a:t>环回测试结果查看</a:t>
            </a:r>
            <a:endParaRPr lang="zh-CN" altLang="en-US" dirty="0"/>
          </a:p>
        </p:txBody>
      </p:sp>
      <p:sp>
        <p:nvSpPr>
          <p:cNvPr id="3" name="内容占位符 2"/>
          <p:cNvSpPr>
            <a:spLocks noGrp="1"/>
          </p:cNvSpPr>
          <p:nvPr>
            <p:ph idx="1"/>
          </p:nvPr>
        </p:nvSpPr>
        <p:spPr/>
        <p:txBody>
          <a:bodyPr/>
          <a:lstStyle/>
          <a:p>
            <a:pPr lvl="0"/>
            <a:r>
              <a:rPr lang="zh-CN" altLang="zh-CN" dirty="0" smtClean="0"/>
              <a:t>双击新建任务可查看到</a:t>
            </a:r>
            <a:r>
              <a:rPr lang="en-US" altLang="zh-CN" dirty="0" smtClean="0"/>
              <a:t>UDP Test Monitoring</a:t>
            </a:r>
            <a:r>
              <a:rPr lang="zh-CN" altLang="zh-CN" dirty="0" smtClean="0"/>
              <a:t>统计的结果。</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108</a:t>
            </a:fld>
            <a:endParaRPr lang="en-US" altLang="zh-CN"/>
          </a:p>
        </p:txBody>
      </p:sp>
      <p:pic>
        <p:nvPicPr>
          <p:cNvPr id="5" name="图片 4"/>
          <p:cNvPicPr/>
          <p:nvPr/>
        </p:nvPicPr>
        <p:blipFill>
          <a:blip r:embed="rId3" cstate="print"/>
          <a:srcRect/>
          <a:stretch>
            <a:fillRect/>
          </a:stretch>
        </p:blipFill>
        <p:spPr bwMode="auto">
          <a:xfrm>
            <a:off x="1088420" y="2032996"/>
            <a:ext cx="6517066" cy="365660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a:xfrm>
            <a:off x="1277938" y="358775"/>
            <a:ext cx="7094537" cy="868363"/>
          </a:xfrm>
        </p:spPr>
        <p:txBody>
          <a:bodyPr/>
          <a:lstStyle/>
          <a:p>
            <a:r>
              <a:rPr lang="zh-CN" altLang="en-US" smtClean="0">
                <a:ea typeface="黑体" pitchFamily="2" charset="-122"/>
              </a:rPr>
              <a:t>目  录</a:t>
            </a:r>
          </a:p>
        </p:txBody>
      </p:sp>
      <p:sp>
        <p:nvSpPr>
          <p:cNvPr id="3" name="内容占位符 2"/>
          <p:cNvSpPr>
            <a:spLocks noGrp="1"/>
          </p:cNvSpPr>
          <p:nvPr>
            <p:ph idx="1"/>
          </p:nvPr>
        </p:nvSpPr>
        <p:spPr/>
        <p:txBody>
          <a:bodyPr/>
          <a:lstStyle/>
          <a:p>
            <a:pPr marL="457200" indent="-457200">
              <a:buClr>
                <a:schemeClr val="tx1"/>
              </a:buClr>
              <a:buSzTx/>
              <a:buAutoNum type="arabicPeriod" startAt="4"/>
              <a:defRPr/>
            </a:pPr>
            <a:r>
              <a:rPr lang="en-US" altLang="zh-CN" b="1" dirty="0" smtClean="0"/>
              <a:t>LTE</a:t>
            </a:r>
            <a:r>
              <a:rPr lang="zh-CN" altLang="en-US" b="1" dirty="0" smtClean="0"/>
              <a:t>单站验证项目</a:t>
            </a:r>
            <a:endParaRPr lang="en-US" altLang="zh-CN" b="1" dirty="0" smtClean="0"/>
          </a:p>
          <a:p>
            <a:pPr marL="457200" indent="-457200">
              <a:buClr>
                <a:schemeClr val="tx1"/>
              </a:buClr>
              <a:buSzTx/>
              <a:buNone/>
              <a:defRPr/>
            </a:pPr>
            <a:r>
              <a:rPr lang="en-US" altLang="zh-CN" dirty="0" smtClean="0">
                <a:solidFill>
                  <a:schemeClr val="bg1">
                    <a:lumMod val="75000"/>
                  </a:schemeClr>
                </a:solidFill>
              </a:rPr>
              <a:t>	4.1  DT</a:t>
            </a:r>
            <a:r>
              <a:rPr lang="zh-CN" altLang="en-US" dirty="0" smtClean="0">
                <a:solidFill>
                  <a:schemeClr val="bg1">
                    <a:lumMod val="75000"/>
                  </a:schemeClr>
                </a:solidFill>
              </a:rPr>
              <a:t>覆盖测试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4.2  LTE</a:t>
            </a:r>
            <a:r>
              <a:rPr lang="zh-CN" altLang="zh-CN" dirty="0" smtClean="0">
                <a:solidFill>
                  <a:schemeClr val="bg1">
                    <a:lumMod val="75000"/>
                  </a:schemeClr>
                </a:solidFill>
              </a:rPr>
              <a:t>接入功能测试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4.3  LTE Ping</a:t>
            </a:r>
            <a:r>
              <a:rPr lang="zh-CN" altLang="zh-CN"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4.4  LTE FTP</a:t>
            </a:r>
            <a:r>
              <a:rPr lang="zh-CN" altLang="en-US" dirty="0" smtClean="0">
                <a:solidFill>
                  <a:schemeClr val="bg1">
                    <a:lumMod val="75000"/>
                  </a:schemeClr>
                </a:solidFill>
              </a:rPr>
              <a:t>业务功能测试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4.5  LTE </a:t>
            </a:r>
            <a:r>
              <a:rPr lang="zh-CN" altLang="zh-CN" dirty="0" smtClean="0">
                <a:solidFill>
                  <a:schemeClr val="bg1">
                    <a:lumMod val="75000"/>
                  </a:schemeClr>
                </a:solidFill>
              </a:rPr>
              <a:t>站内切换验证测试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solidFill>
                  <a:schemeClr val="bg1">
                    <a:lumMod val="75000"/>
                  </a:schemeClr>
                </a:solidFill>
              </a:rPr>
              <a:t>	4.6  LTE</a:t>
            </a:r>
            <a:r>
              <a:rPr lang="zh-CN" altLang="en-US" dirty="0" smtClean="0">
                <a:solidFill>
                  <a:schemeClr val="bg1">
                    <a:lumMod val="75000"/>
                  </a:schemeClr>
                </a:solidFill>
              </a:rPr>
              <a:t>传输测试</a:t>
            </a:r>
            <a:endParaRPr lang="en-US" altLang="zh-CN" dirty="0" smtClean="0">
              <a:solidFill>
                <a:schemeClr val="bg1">
                  <a:lumMod val="75000"/>
                </a:schemeClr>
              </a:solidFill>
            </a:endParaRPr>
          </a:p>
          <a:p>
            <a:pPr marL="457200" indent="-457200">
              <a:buClr>
                <a:schemeClr val="tx1"/>
              </a:buClr>
              <a:buSzTx/>
              <a:buNone/>
              <a:defRPr/>
            </a:pPr>
            <a:r>
              <a:rPr lang="en-US" altLang="zh-CN" dirty="0" smtClean="0"/>
              <a:t>	4.7  LTE</a:t>
            </a:r>
            <a:r>
              <a:rPr lang="zh-CN" altLang="en-US" dirty="0" smtClean="0"/>
              <a:t>站点上下行吞吐率测试</a:t>
            </a:r>
            <a:endParaRPr lang="zh-CN" altLang="zh-CN" dirty="0" smtClean="0"/>
          </a:p>
          <a:p>
            <a:pPr marL="457200" indent="-457200">
              <a:buClr>
                <a:schemeClr val="tx1"/>
              </a:buClr>
              <a:buSzTx/>
              <a:buNone/>
              <a:defRPr/>
            </a:pPr>
            <a:endParaRPr lang="zh-CN" altLang="zh-CN" dirty="0" smtClean="0">
              <a:solidFill>
                <a:srgbClr val="777777"/>
              </a:solidFill>
            </a:endParaRPr>
          </a:p>
          <a:p>
            <a:pPr marL="457200" indent="-457200">
              <a:buClr>
                <a:schemeClr val="tx1"/>
              </a:buClr>
              <a:buSzTx/>
              <a:buNone/>
              <a:defRPr/>
            </a:pPr>
            <a:endParaRPr lang="zh-CN" altLang="zh-CN" dirty="0" smtClean="0"/>
          </a:p>
          <a:p>
            <a:pPr marL="457200" indent="-457200">
              <a:buClr>
                <a:schemeClr val="tx1"/>
              </a:buClr>
              <a:buSzTx/>
              <a:buNone/>
              <a:defRPr/>
            </a:pPr>
            <a:endParaRPr lang="en-US" altLang="zh-CN" dirty="0" smtClean="0"/>
          </a:p>
        </p:txBody>
      </p:sp>
      <p:pic>
        <p:nvPicPr>
          <p:cNvPr id="28676" name="Picture 19" descr="目录 copy"/>
          <p:cNvPicPr>
            <a:picLocks noChangeAspect="1" noChangeArrowheads="1"/>
          </p:cNvPicPr>
          <p:nvPr/>
        </p:nvPicPr>
        <p:blipFill>
          <a:blip r:embed="rId3" cstate="print"/>
          <a:srcRect/>
          <a:stretch>
            <a:fillRect/>
          </a:stretch>
        </p:blipFill>
        <p:spPr bwMode="auto">
          <a:xfrm>
            <a:off x="704850" y="468313"/>
            <a:ext cx="615950" cy="619125"/>
          </a:xfrm>
          <a:prstGeom prst="rect">
            <a:avLst/>
          </a:prstGeom>
          <a:noFill/>
          <a:ln w="9525">
            <a:noFill/>
            <a:miter lim="800000"/>
            <a:headEnd/>
            <a:tailEnd/>
          </a:ln>
        </p:spPr>
      </p:pic>
      <p:sp>
        <p:nvSpPr>
          <p:cNvPr id="5" name="灯片编号占位符 4"/>
          <p:cNvSpPr>
            <a:spLocks noGrp="1"/>
          </p:cNvSpPr>
          <p:nvPr>
            <p:ph type="sldNum" sz="quarter" idx="10"/>
          </p:nvPr>
        </p:nvSpPr>
        <p:spPr/>
        <p:txBody>
          <a:bodyPr/>
          <a:lstStyle/>
          <a:p>
            <a:r>
              <a:rPr lang="en-US" altLang="zh-CN" smtClean="0"/>
              <a:t>Page</a:t>
            </a:r>
            <a:fld id="{B77D227A-1AE4-4BCD-9973-754D0181BA73}" type="slidenum">
              <a:rPr lang="en-US" altLang="zh-CN" smtClean="0"/>
              <a:pPr/>
              <a:t>109</a:t>
            </a:fld>
            <a:endParaRPr lang="en-US" altLang="zh-CN"/>
          </a:p>
        </p:txBody>
      </p:sp>
    </p:spTree>
  </p:cSld>
  <p:clrMapOvr>
    <a:masterClrMapping/>
  </p:clrMapOvr>
  <p:transition advClick="0" advTm="8000"/>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测试工具介绍</a:t>
            </a:r>
            <a:r>
              <a:rPr lang="en-US" altLang="zh-CN" dirty="0" smtClean="0"/>
              <a:t>-Ethereal</a:t>
            </a:r>
            <a:endParaRPr lang="zh-CN" altLang="en-US" dirty="0"/>
          </a:p>
        </p:txBody>
      </p:sp>
      <p:sp>
        <p:nvSpPr>
          <p:cNvPr id="3" name="内容占位符 2"/>
          <p:cNvSpPr>
            <a:spLocks noGrp="1"/>
          </p:cNvSpPr>
          <p:nvPr>
            <p:ph idx="1"/>
          </p:nvPr>
        </p:nvSpPr>
        <p:spPr/>
        <p:txBody>
          <a:bodyPr/>
          <a:lstStyle/>
          <a:p>
            <a:r>
              <a:rPr lang="zh-CN" altLang="zh-CN" dirty="0" smtClean="0"/>
              <a:t>软件安装</a:t>
            </a:r>
            <a:endParaRPr lang="en-US" altLang="zh-CN" dirty="0" smtClean="0"/>
          </a:p>
          <a:p>
            <a:pPr lvl="1"/>
            <a:r>
              <a:rPr lang="zh-CN" altLang="zh-CN" dirty="0" smtClean="0"/>
              <a:t>安装软件一般有两个部分，一个是</a:t>
            </a:r>
            <a:r>
              <a:rPr lang="en-US" altLang="zh-CN" dirty="0" smtClean="0"/>
              <a:t>ethereal</a:t>
            </a:r>
            <a:r>
              <a:rPr lang="zh-CN" altLang="zh-CN" dirty="0" smtClean="0"/>
              <a:t>的安装软件，另一个是</a:t>
            </a:r>
            <a:r>
              <a:rPr lang="en-US" altLang="zh-CN" dirty="0" err="1" smtClean="0"/>
              <a:t>wincap</a:t>
            </a:r>
            <a:r>
              <a:rPr lang="zh-CN" altLang="zh-CN" dirty="0" smtClean="0"/>
              <a:t>。不过较新版本的</a:t>
            </a:r>
            <a:r>
              <a:rPr lang="en-US" altLang="zh-CN" dirty="0" smtClean="0"/>
              <a:t>ethereal</a:t>
            </a:r>
            <a:r>
              <a:rPr lang="zh-CN" altLang="zh-CN" dirty="0" smtClean="0"/>
              <a:t>和</a:t>
            </a:r>
            <a:r>
              <a:rPr lang="en-US" altLang="zh-CN" dirty="0" err="1" smtClean="0"/>
              <a:t>wireshark</a:t>
            </a:r>
            <a:r>
              <a:rPr lang="zh-CN" altLang="zh-CN" dirty="0" smtClean="0"/>
              <a:t>会将</a:t>
            </a:r>
            <a:r>
              <a:rPr lang="en-US" altLang="zh-CN" dirty="0" err="1" smtClean="0"/>
              <a:t>wincap</a:t>
            </a:r>
            <a:r>
              <a:rPr lang="zh-CN" altLang="zh-CN" dirty="0" smtClean="0"/>
              <a:t>的安装软件合入其安装包中，在安装过程中间提示安装</a:t>
            </a:r>
            <a:r>
              <a:rPr lang="en-US" altLang="zh-CN" dirty="0" err="1" smtClean="0"/>
              <a:t>wincap</a:t>
            </a:r>
            <a:r>
              <a:rPr lang="zh-CN" altLang="zh-CN" dirty="0" smtClean="0"/>
              <a:t>。</a:t>
            </a:r>
          </a:p>
          <a:p>
            <a:pPr lvl="1"/>
            <a:r>
              <a:rPr lang="zh-CN" altLang="zh-CN" dirty="0" smtClean="0"/>
              <a:t>如果在安装过程中，没有提示</a:t>
            </a:r>
            <a:r>
              <a:rPr lang="en-US" altLang="zh-CN" dirty="0" err="1" smtClean="0"/>
              <a:t>wincap</a:t>
            </a:r>
            <a:r>
              <a:rPr lang="zh-CN" altLang="zh-CN" dirty="0" smtClean="0"/>
              <a:t>安装过程，且本机上也未安装</a:t>
            </a:r>
            <a:r>
              <a:rPr lang="en-US" altLang="zh-CN" dirty="0" err="1" smtClean="0"/>
              <a:t>wincap</a:t>
            </a:r>
            <a:r>
              <a:rPr lang="zh-CN" altLang="zh-CN" dirty="0" smtClean="0"/>
              <a:t>，则需要手动安装</a:t>
            </a:r>
            <a:r>
              <a:rPr lang="en-US" altLang="zh-CN" dirty="0" err="1" smtClean="0"/>
              <a:t>wincap</a:t>
            </a:r>
            <a:r>
              <a:rPr lang="zh-CN" altLang="zh-CN" dirty="0" smtClean="0"/>
              <a:t>。</a:t>
            </a:r>
          </a:p>
          <a:p>
            <a:pPr lvl="1"/>
            <a:r>
              <a:rPr lang="zh-CN" altLang="zh-CN" dirty="0" smtClean="0"/>
              <a:t>另外需要注意的是每个</a:t>
            </a:r>
            <a:r>
              <a:rPr lang="en-US" altLang="zh-CN" dirty="0" smtClean="0"/>
              <a:t>ethereal</a:t>
            </a:r>
            <a:r>
              <a:rPr lang="zh-CN" altLang="zh-CN" dirty="0" smtClean="0"/>
              <a:t>或</a:t>
            </a:r>
            <a:r>
              <a:rPr lang="en-US" altLang="zh-CN" dirty="0" err="1" smtClean="0"/>
              <a:t>wireshark</a:t>
            </a:r>
            <a:r>
              <a:rPr lang="zh-CN" altLang="zh-CN" dirty="0" smtClean="0"/>
              <a:t>对</a:t>
            </a:r>
            <a:r>
              <a:rPr lang="en-US" altLang="zh-CN" dirty="0" err="1" smtClean="0"/>
              <a:t>wincap</a:t>
            </a:r>
            <a:r>
              <a:rPr lang="zh-CN" altLang="zh-CN" dirty="0" smtClean="0"/>
              <a:t>的版本有一定的要求，在安装过程中会提示。</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110</a:t>
            </a:fld>
            <a:endParaRPr lang="en-US" altLang="zh-CN"/>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软件启动</a:t>
            </a:r>
            <a:endParaRPr lang="zh-CN" altLang="en-US" dirty="0"/>
          </a:p>
        </p:txBody>
      </p:sp>
      <p:sp>
        <p:nvSpPr>
          <p:cNvPr id="3" name="内容占位符 2"/>
          <p:cNvSpPr>
            <a:spLocks noGrp="1"/>
          </p:cNvSpPr>
          <p:nvPr>
            <p:ph idx="1"/>
          </p:nvPr>
        </p:nvSpPr>
        <p:spPr/>
        <p:txBody>
          <a:bodyPr/>
          <a:lstStyle/>
          <a:p>
            <a:r>
              <a:rPr lang="zh-CN" altLang="zh-CN" dirty="0" smtClean="0">
                <a:latin typeface="+mn-ea"/>
              </a:rPr>
              <a:t>启动抓包</a:t>
            </a:r>
            <a:r>
              <a:rPr lang="zh-CN" altLang="zh-CN" dirty="0" smtClean="0"/>
              <a:t>基本操作</a:t>
            </a:r>
          </a:p>
          <a:p>
            <a:pPr lvl="1"/>
            <a:r>
              <a:rPr lang="zh-CN" altLang="zh-CN" dirty="0" smtClean="0"/>
              <a:t>打开软件后，选择菜单</a:t>
            </a:r>
            <a:r>
              <a:rPr lang="en-US" altLang="zh-CN" dirty="0" smtClean="0"/>
              <a:t>Capture-&gt;Options</a:t>
            </a:r>
            <a:r>
              <a:rPr lang="zh-CN" altLang="zh-CN" dirty="0" smtClean="0"/>
              <a:t>，或者用快捷方式</a:t>
            </a:r>
            <a:r>
              <a:rPr lang="en-US" altLang="zh-CN" dirty="0" err="1" smtClean="0"/>
              <a:t>Ctrl+K</a:t>
            </a:r>
            <a:r>
              <a:rPr lang="zh-CN" altLang="zh-CN" dirty="0" smtClean="0"/>
              <a:t>，打开选项卡。</a:t>
            </a:r>
          </a:p>
          <a:p>
            <a:pPr lvl="1"/>
            <a:r>
              <a:rPr lang="zh-CN" altLang="zh-CN" dirty="0" smtClean="0"/>
              <a:t>在</a:t>
            </a:r>
            <a:r>
              <a:rPr lang="en-US" altLang="zh-CN" dirty="0" smtClean="0"/>
              <a:t>Interface</a:t>
            </a:r>
            <a:r>
              <a:rPr lang="zh-CN" altLang="zh-CN" dirty="0" smtClean="0"/>
              <a:t>框中选择需要跟踪的网卡，选择某个网卡后在</a:t>
            </a:r>
            <a:r>
              <a:rPr lang="en-US" altLang="zh-CN" dirty="0" smtClean="0"/>
              <a:t>IP address</a:t>
            </a:r>
            <a:r>
              <a:rPr lang="zh-CN" altLang="zh-CN" dirty="0" smtClean="0"/>
              <a:t>中会显示该网卡的</a:t>
            </a:r>
            <a:r>
              <a:rPr lang="en-US" altLang="zh-CN" dirty="0" smtClean="0"/>
              <a:t>IP</a:t>
            </a:r>
            <a:r>
              <a:rPr lang="zh-CN" altLang="zh-CN" dirty="0" smtClean="0"/>
              <a:t>地址。如果是无线网卡，则需要建立连接后才会在</a:t>
            </a:r>
            <a:r>
              <a:rPr lang="en-US" altLang="zh-CN" dirty="0" smtClean="0"/>
              <a:t>Interface</a:t>
            </a:r>
            <a:r>
              <a:rPr lang="zh-CN" altLang="zh-CN" dirty="0" smtClean="0"/>
              <a:t>框中出现。</a:t>
            </a:r>
            <a:endParaRPr lang="en-US" altLang="zh-CN" dirty="0" smtClean="0"/>
          </a:p>
          <a:p>
            <a:pPr lvl="1"/>
            <a:endParaRPr lang="en-US" altLang="zh-CN" dirty="0" smtClean="0"/>
          </a:p>
          <a:p>
            <a:pPr lvl="1"/>
            <a:endParaRPr lang="en-US" altLang="zh-CN" dirty="0" smtClean="0"/>
          </a:p>
          <a:p>
            <a:pPr lvl="1"/>
            <a:endParaRPr lang="en-US" altLang="zh-CN" dirty="0" smtClean="0"/>
          </a:p>
          <a:p>
            <a:pPr lvl="1"/>
            <a:r>
              <a:rPr lang="zh-CN" altLang="zh-CN" dirty="0" smtClean="0"/>
              <a:t>选好网卡后，点击右下角的</a:t>
            </a:r>
            <a:r>
              <a:rPr lang="en-US" altLang="zh-CN" dirty="0" smtClean="0"/>
              <a:t>Start</a:t>
            </a:r>
            <a:r>
              <a:rPr lang="zh-CN" altLang="zh-CN" dirty="0" smtClean="0"/>
              <a:t>，即开始跟踪数据。</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111</a:t>
            </a:fld>
            <a:endParaRPr lang="en-US" altLang="zh-CN"/>
          </a:p>
        </p:txBody>
      </p:sp>
      <p:pic>
        <p:nvPicPr>
          <p:cNvPr id="5" name="图片 4"/>
          <p:cNvPicPr/>
          <p:nvPr/>
        </p:nvPicPr>
        <p:blipFill>
          <a:blip r:embed="rId3" cstate="print"/>
          <a:srcRect/>
          <a:stretch>
            <a:fillRect/>
          </a:stretch>
        </p:blipFill>
        <p:spPr bwMode="auto">
          <a:xfrm>
            <a:off x="1487486" y="4413022"/>
            <a:ext cx="6916285" cy="127657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跟踪技巧介绍</a:t>
            </a:r>
            <a:endParaRPr lang="zh-CN" altLang="en-US" dirty="0"/>
          </a:p>
        </p:txBody>
      </p:sp>
      <p:sp>
        <p:nvSpPr>
          <p:cNvPr id="3" name="内容占位符 2"/>
          <p:cNvSpPr>
            <a:spLocks noGrp="1"/>
          </p:cNvSpPr>
          <p:nvPr>
            <p:ph idx="1"/>
          </p:nvPr>
        </p:nvSpPr>
        <p:spPr/>
        <p:txBody>
          <a:bodyPr/>
          <a:lstStyle/>
          <a:p>
            <a:r>
              <a:rPr lang="zh-CN" altLang="zh-CN" dirty="0" smtClean="0"/>
              <a:t>在启动跟踪时，在跟踪选项框中做一些设置可以有针对性的跟包，利于分析。</a:t>
            </a:r>
            <a:endParaRPr lang="en-US" altLang="zh-CN" dirty="0" smtClean="0"/>
          </a:p>
          <a:p>
            <a:pPr lvl="1"/>
            <a:r>
              <a:rPr lang="zh-CN" altLang="zh-CN" b="1" dirty="0" smtClean="0"/>
              <a:t>按指定</a:t>
            </a:r>
            <a:r>
              <a:rPr lang="en-US" altLang="zh-CN" b="1" dirty="0" smtClean="0"/>
              <a:t>IP</a:t>
            </a:r>
            <a:r>
              <a:rPr lang="zh-CN" altLang="zh-CN" b="1" dirty="0" smtClean="0"/>
              <a:t>跟踪</a:t>
            </a:r>
            <a:r>
              <a:rPr lang="zh-CN" altLang="zh-CN" dirty="0" smtClean="0"/>
              <a:t>：在</a:t>
            </a:r>
            <a:r>
              <a:rPr lang="en-US" altLang="zh-CN" dirty="0" smtClean="0"/>
              <a:t>Capture Filer</a:t>
            </a:r>
            <a:r>
              <a:rPr lang="zh-CN" altLang="zh-CN" dirty="0" smtClean="0"/>
              <a:t>一栏输入</a:t>
            </a:r>
            <a:r>
              <a:rPr lang="en-US" altLang="zh-CN" dirty="0" smtClean="0"/>
              <a:t>host IP</a:t>
            </a:r>
            <a:r>
              <a:rPr lang="zh-CN" altLang="en-US" dirty="0" smtClean="0"/>
              <a:t>。</a:t>
            </a:r>
            <a:r>
              <a:rPr lang="zh-CN" altLang="zh-CN" dirty="0" smtClean="0"/>
              <a:t>不论是源</a:t>
            </a:r>
            <a:r>
              <a:rPr lang="en-US" altLang="zh-CN" dirty="0" smtClean="0"/>
              <a:t>IP</a:t>
            </a:r>
            <a:r>
              <a:rPr lang="zh-CN" altLang="zh-CN" dirty="0" smtClean="0"/>
              <a:t>还是目的</a:t>
            </a:r>
            <a:r>
              <a:rPr lang="en-US" altLang="zh-CN" dirty="0" smtClean="0"/>
              <a:t>IP</a:t>
            </a:r>
            <a:r>
              <a:rPr lang="zh-CN" altLang="zh-CN" dirty="0" smtClean="0"/>
              <a:t>，只要有该指定</a:t>
            </a:r>
            <a:r>
              <a:rPr lang="en-US" altLang="zh-CN" dirty="0" smtClean="0"/>
              <a:t>IP</a:t>
            </a:r>
            <a:r>
              <a:rPr lang="zh-CN" altLang="zh-CN" dirty="0" smtClean="0"/>
              <a:t>的数据包都能跟踪得到。</a:t>
            </a:r>
            <a:endParaRPr lang="en-US" altLang="zh-CN" dirty="0" smtClean="0"/>
          </a:p>
          <a:p>
            <a:pPr lvl="1"/>
            <a:endParaRPr lang="en-US" altLang="zh-CN" dirty="0" smtClean="0"/>
          </a:p>
          <a:p>
            <a:pPr lvl="1"/>
            <a:r>
              <a:rPr lang="zh-CN" altLang="zh-CN" b="1" dirty="0" smtClean="0"/>
              <a:t>跟踪指定协议</a:t>
            </a:r>
            <a:r>
              <a:rPr lang="zh-CN" altLang="zh-CN" dirty="0" smtClean="0"/>
              <a:t>：在启动跟踪时，在跟踪选项框的</a:t>
            </a:r>
            <a:r>
              <a:rPr lang="en-US" altLang="zh-CN" dirty="0" smtClean="0"/>
              <a:t>Capture Filer</a:t>
            </a:r>
            <a:r>
              <a:rPr lang="zh-CN" altLang="zh-CN" dirty="0" smtClean="0"/>
              <a:t>一栏输入</a:t>
            </a:r>
            <a:r>
              <a:rPr lang="en-US" altLang="zh-CN" dirty="0" err="1" smtClean="0"/>
              <a:t>tcp</a:t>
            </a:r>
            <a:r>
              <a:rPr lang="zh-CN" altLang="zh-CN" dirty="0" smtClean="0"/>
              <a:t>或</a:t>
            </a:r>
            <a:r>
              <a:rPr lang="en-US" altLang="zh-CN" dirty="0" err="1" smtClean="0"/>
              <a:t>icmp</a:t>
            </a:r>
            <a:r>
              <a:rPr lang="zh-CN" altLang="zh-CN" dirty="0" smtClean="0"/>
              <a:t>等需要跟踪的协议名称：</a:t>
            </a:r>
            <a:r>
              <a:rPr lang="en-US" altLang="zh-CN" dirty="0" smtClean="0"/>
              <a:t>				</a:t>
            </a:r>
            <a:r>
              <a:rPr lang="zh-CN" altLang="zh-CN" dirty="0" smtClean="0"/>
              <a:t>，这样只会跟踪到</a:t>
            </a:r>
            <a:r>
              <a:rPr lang="en-US" altLang="zh-CN" dirty="0" smtClean="0"/>
              <a:t>ping</a:t>
            </a:r>
            <a:r>
              <a:rPr lang="zh-CN" altLang="zh-CN" dirty="0" smtClean="0"/>
              <a:t>包。过滤项可以用</a:t>
            </a:r>
            <a:r>
              <a:rPr lang="en-US" altLang="zh-CN" dirty="0" smtClean="0"/>
              <a:t>or</a:t>
            </a:r>
            <a:r>
              <a:rPr lang="zh-CN" altLang="zh-CN" dirty="0" smtClean="0"/>
              <a:t>、</a:t>
            </a:r>
            <a:r>
              <a:rPr lang="en-US" altLang="zh-CN" dirty="0" smtClean="0"/>
              <a:t>and</a:t>
            </a:r>
            <a:r>
              <a:rPr lang="zh-CN" altLang="zh-CN" dirty="0" smtClean="0"/>
              <a:t>、</a:t>
            </a:r>
            <a:r>
              <a:rPr lang="en-US" altLang="zh-CN" dirty="0" smtClean="0"/>
              <a:t>not</a:t>
            </a:r>
            <a:r>
              <a:rPr lang="zh-CN" altLang="zh-CN" dirty="0" smtClean="0"/>
              <a:t>进行组合，如</a:t>
            </a:r>
            <a:r>
              <a:rPr lang="en-US" altLang="zh-CN" dirty="0" err="1" smtClean="0"/>
              <a:t>tcp</a:t>
            </a:r>
            <a:r>
              <a:rPr lang="en-US" altLang="zh-CN" dirty="0" smtClean="0"/>
              <a:t> or </a:t>
            </a:r>
            <a:r>
              <a:rPr lang="en-US" altLang="zh-CN" dirty="0" err="1" smtClean="0"/>
              <a:t>udp</a:t>
            </a:r>
            <a:r>
              <a:rPr lang="zh-CN" altLang="zh-CN" dirty="0" smtClean="0"/>
              <a:t>，或者</a:t>
            </a:r>
            <a:r>
              <a:rPr lang="en-US" altLang="zh-CN" dirty="0" smtClean="0"/>
              <a:t>not </a:t>
            </a:r>
            <a:r>
              <a:rPr lang="en-US" altLang="zh-CN" dirty="0" err="1" smtClean="0"/>
              <a:t>udp</a:t>
            </a:r>
            <a:r>
              <a:rPr lang="zh-CN" altLang="zh-CN" dirty="0" smtClean="0"/>
              <a:t>，或者</a:t>
            </a:r>
            <a:r>
              <a:rPr lang="en-US" altLang="zh-CN" dirty="0" err="1" smtClean="0"/>
              <a:t>tcp</a:t>
            </a:r>
            <a:r>
              <a:rPr lang="en-US" altLang="zh-CN" dirty="0" smtClean="0"/>
              <a:t> and not port 21</a:t>
            </a:r>
            <a:r>
              <a:rPr lang="zh-CN" altLang="zh-CN" dirty="0" smtClean="0"/>
              <a:t>。</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112</a:t>
            </a:fld>
            <a:endParaRPr lang="en-US" altLang="zh-CN"/>
          </a:p>
        </p:txBody>
      </p:sp>
      <p:pic>
        <p:nvPicPr>
          <p:cNvPr id="5" name="图片 4"/>
          <p:cNvPicPr/>
          <p:nvPr/>
        </p:nvPicPr>
        <p:blipFill>
          <a:blip r:embed="rId2" cstate="print"/>
          <a:srcRect/>
          <a:stretch>
            <a:fillRect/>
          </a:stretch>
        </p:blipFill>
        <p:spPr bwMode="auto">
          <a:xfrm>
            <a:off x="1596343" y="3387272"/>
            <a:ext cx="5805942" cy="270328"/>
          </a:xfrm>
          <a:prstGeom prst="rect">
            <a:avLst/>
          </a:prstGeom>
          <a:noFill/>
          <a:ln w="9525">
            <a:noFill/>
            <a:miter lim="800000"/>
            <a:headEnd/>
            <a:tailEnd/>
          </a:ln>
        </p:spPr>
      </p:pic>
      <p:pic>
        <p:nvPicPr>
          <p:cNvPr id="6" name="图片 5"/>
          <p:cNvPicPr/>
          <p:nvPr/>
        </p:nvPicPr>
        <p:blipFill>
          <a:blip r:embed="rId3" cstate="print"/>
          <a:srcRect/>
          <a:stretch>
            <a:fillRect/>
          </a:stretch>
        </p:blipFill>
        <p:spPr bwMode="auto">
          <a:xfrm>
            <a:off x="6132059" y="4374470"/>
            <a:ext cx="2373313" cy="34267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跟踪技巧介绍</a:t>
            </a:r>
            <a:endParaRPr lang="zh-CN" altLang="en-US" dirty="0"/>
          </a:p>
        </p:txBody>
      </p:sp>
      <p:sp>
        <p:nvSpPr>
          <p:cNvPr id="3" name="内容占位符 2"/>
          <p:cNvSpPr>
            <a:spLocks noGrp="1"/>
          </p:cNvSpPr>
          <p:nvPr>
            <p:ph idx="1"/>
          </p:nvPr>
        </p:nvSpPr>
        <p:spPr/>
        <p:txBody>
          <a:bodyPr/>
          <a:lstStyle/>
          <a:p>
            <a:pPr lvl="1"/>
            <a:r>
              <a:rPr lang="zh-CN" altLang="zh-CN" b="1" dirty="0" smtClean="0"/>
              <a:t>限定跟踪的包长</a:t>
            </a:r>
            <a:r>
              <a:rPr lang="zh-CN" altLang="zh-CN" dirty="0" smtClean="0"/>
              <a:t>：如果每个包都保存下来数据量可能过大，可以通过限定跟踪包长的方式减少数据量。限定包长时，如设置</a:t>
            </a:r>
            <a:r>
              <a:rPr lang="en-US" altLang="zh-CN" dirty="0" smtClean="0"/>
              <a:t>68byte</a:t>
            </a:r>
            <a:r>
              <a:rPr lang="zh-CN" altLang="zh-CN" dirty="0" smtClean="0"/>
              <a:t>，跟踪的数据包个数不会减少，但是每个数据包只会保存其前</a:t>
            </a:r>
            <a:r>
              <a:rPr lang="en-US" altLang="zh-CN" dirty="0" smtClean="0"/>
              <a:t>68</a:t>
            </a:r>
            <a:r>
              <a:rPr lang="zh-CN" altLang="zh-CN" dirty="0" smtClean="0"/>
              <a:t>字节。方法：勾选</a:t>
            </a:r>
            <a:r>
              <a:rPr lang="en-US" altLang="zh-CN" dirty="0" smtClean="0"/>
              <a:t>Limit each packet</a:t>
            </a:r>
            <a:r>
              <a:rPr lang="zh-CN" altLang="zh-CN" dirty="0" smtClean="0"/>
              <a:t>选项，设置跟踪的字节数。</a:t>
            </a:r>
            <a:endParaRPr lang="en-US" altLang="zh-CN"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113</a:t>
            </a:fld>
            <a:endParaRPr lang="en-US" altLang="zh-CN"/>
          </a:p>
        </p:txBody>
      </p:sp>
      <p:pic>
        <p:nvPicPr>
          <p:cNvPr id="5" name="图片 4"/>
          <p:cNvPicPr/>
          <p:nvPr/>
        </p:nvPicPr>
        <p:blipFill>
          <a:blip r:embed="rId2" cstate="print"/>
          <a:srcRect/>
          <a:stretch>
            <a:fillRect/>
          </a:stretch>
        </p:blipFill>
        <p:spPr bwMode="auto">
          <a:xfrm>
            <a:off x="2250395" y="3798207"/>
            <a:ext cx="5297034" cy="39642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跟踪技巧介绍</a:t>
            </a:r>
            <a:endParaRPr lang="zh-CN" altLang="en-US" dirty="0"/>
          </a:p>
        </p:txBody>
      </p:sp>
      <p:sp>
        <p:nvSpPr>
          <p:cNvPr id="3" name="内容占位符 2"/>
          <p:cNvSpPr>
            <a:spLocks noGrp="1"/>
          </p:cNvSpPr>
          <p:nvPr>
            <p:ph idx="1"/>
          </p:nvPr>
        </p:nvSpPr>
        <p:spPr/>
        <p:txBody>
          <a:bodyPr/>
          <a:lstStyle/>
          <a:p>
            <a:pPr lvl="1"/>
            <a:r>
              <a:rPr lang="zh-CN" altLang="zh-CN" b="1" dirty="0" smtClean="0"/>
              <a:t>限制每个跟踪文件的大小：</a:t>
            </a:r>
            <a:r>
              <a:rPr lang="zh-CN" altLang="zh-CN" dirty="0" smtClean="0"/>
              <a:t>在</a:t>
            </a:r>
            <a:r>
              <a:rPr lang="en-US" altLang="zh-CN" dirty="0" smtClean="0"/>
              <a:t>Capture Files</a:t>
            </a:r>
            <a:r>
              <a:rPr lang="zh-CN" altLang="zh-CN" dirty="0" smtClean="0"/>
              <a:t>中，输入保存的文件名，并勾选</a:t>
            </a:r>
            <a:r>
              <a:rPr lang="en-US" altLang="zh-CN" dirty="0" smtClean="0"/>
              <a:t>Use Multiple files</a:t>
            </a:r>
            <a:r>
              <a:rPr lang="zh-CN" altLang="zh-CN" dirty="0" smtClean="0"/>
              <a:t>，利用下面几个选项就可以限制每个文件的大小了。</a:t>
            </a:r>
          </a:p>
          <a:p>
            <a:pPr lvl="2"/>
            <a:r>
              <a:rPr lang="zh-CN" altLang="zh-CN" dirty="0" smtClean="0"/>
              <a:t>需要注意的是有些软件版本中，输入的保存文件名和路径不能含有中文。</a:t>
            </a:r>
            <a:endParaRPr lang="en-US" altLang="zh-CN" dirty="0" smtClean="0"/>
          </a:p>
          <a:p>
            <a:pPr lvl="1"/>
            <a:endParaRPr lang="en-US" altLang="zh-CN" dirty="0" smtClean="0"/>
          </a:p>
          <a:p>
            <a:pPr lvl="1"/>
            <a:endParaRPr lang="en-US" altLang="zh-CN" dirty="0" smtClean="0"/>
          </a:p>
          <a:p>
            <a:pPr lvl="1">
              <a:buNone/>
            </a:pPr>
            <a:endParaRPr lang="en-US" altLang="zh-CN" dirty="0" smtClean="0"/>
          </a:p>
          <a:p>
            <a:pPr lvl="1"/>
            <a:r>
              <a:rPr lang="zh-CN" altLang="zh-CN" b="1" dirty="0" smtClean="0"/>
              <a:t>实时显示跟踪数据包</a:t>
            </a:r>
            <a:r>
              <a:rPr lang="zh-CN" altLang="zh-CN" dirty="0" smtClean="0"/>
              <a:t>：在</a:t>
            </a:r>
            <a:r>
              <a:rPr lang="en-US" altLang="zh-CN" dirty="0" smtClean="0"/>
              <a:t>Display Options</a:t>
            </a:r>
            <a:r>
              <a:rPr lang="zh-CN" altLang="zh-CN" dirty="0" smtClean="0"/>
              <a:t>中勾选</a:t>
            </a:r>
            <a:r>
              <a:rPr lang="en-US" altLang="zh-CN" dirty="0" smtClean="0"/>
              <a:t>Update list of packets in real time</a:t>
            </a:r>
            <a:r>
              <a:rPr lang="zh-CN" altLang="zh-CN" dirty="0" smtClean="0"/>
              <a:t>。</a:t>
            </a:r>
          </a:p>
          <a:p>
            <a:pPr lvl="1"/>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114</a:t>
            </a:fld>
            <a:endParaRPr lang="en-US" altLang="zh-CN"/>
          </a:p>
        </p:txBody>
      </p:sp>
      <p:pic>
        <p:nvPicPr>
          <p:cNvPr id="5" name="图片 4"/>
          <p:cNvPicPr/>
          <p:nvPr/>
        </p:nvPicPr>
        <p:blipFill>
          <a:blip r:embed="rId2" cstate="print"/>
          <a:srcRect/>
          <a:stretch>
            <a:fillRect/>
          </a:stretch>
        </p:blipFill>
        <p:spPr bwMode="auto">
          <a:xfrm>
            <a:off x="2750458" y="3324906"/>
            <a:ext cx="5101772" cy="181315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软件基本使用</a:t>
            </a:r>
            <a:endParaRPr lang="zh-CN" altLang="en-US" dirty="0" smtClean="0"/>
          </a:p>
        </p:txBody>
      </p:sp>
      <p:sp>
        <p:nvSpPr>
          <p:cNvPr id="3" name="内容占位符 2"/>
          <p:cNvSpPr>
            <a:spLocks noGrp="1"/>
          </p:cNvSpPr>
          <p:nvPr>
            <p:ph idx="1"/>
          </p:nvPr>
        </p:nvSpPr>
        <p:spPr/>
        <p:txBody>
          <a:bodyPr/>
          <a:lstStyle/>
          <a:p>
            <a:r>
              <a:rPr lang="zh-CN" altLang="zh-CN" dirty="0" smtClean="0"/>
              <a:t>软件界面</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115</a:t>
            </a:fld>
            <a:endParaRPr lang="en-US" altLang="zh-CN"/>
          </a:p>
        </p:txBody>
      </p:sp>
      <p:pic>
        <p:nvPicPr>
          <p:cNvPr id="5" name="图片 4"/>
          <p:cNvPicPr/>
          <p:nvPr/>
        </p:nvPicPr>
        <p:blipFill>
          <a:blip r:embed="rId3" cstate="print"/>
          <a:srcRect/>
          <a:stretch>
            <a:fillRect/>
          </a:stretch>
        </p:blipFill>
        <p:spPr bwMode="auto">
          <a:xfrm>
            <a:off x="2071007" y="1989817"/>
            <a:ext cx="5186135" cy="416423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使用技巧介绍</a:t>
            </a:r>
            <a:endParaRPr lang="zh-CN" altLang="en-US" dirty="0"/>
          </a:p>
        </p:txBody>
      </p:sp>
      <p:sp>
        <p:nvSpPr>
          <p:cNvPr id="3" name="内容占位符 2"/>
          <p:cNvSpPr>
            <a:spLocks noGrp="1"/>
          </p:cNvSpPr>
          <p:nvPr>
            <p:ph idx="1"/>
          </p:nvPr>
        </p:nvSpPr>
        <p:spPr/>
        <p:txBody>
          <a:bodyPr/>
          <a:lstStyle/>
          <a:p>
            <a:r>
              <a:rPr lang="zh-CN" altLang="zh-CN" dirty="0" smtClean="0"/>
              <a:t>修改时间显示方式</a:t>
            </a:r>
            <a:endParaRPr lang="en-US" altLang="zh-CN" dirty="0" smtClean="0"/>
          </a:p>
          <a:p>
            <a:pPr lvl="1"/>
            <a:r>
              <a:rPr lang="zh-CN" altLang="zh-CN" dirty="0" smtClean="0"/>
              <a:t>显示时间有几种方式，如绝对时间、相对时间等，可以在菜单</a:t>
            </a:r>
            <a:r>
              <a:rPr lang="en-US" altLang="zh-CN" dirty="0" smtClean="0"/>
              <a:t>View-&gt;Time Display Format</a:t>
            </a:r>
            <a:r>
              <a:rPr lang="zh-CN" altLang="zh-CN" dirty="0" smtClean="0"/>
              <a:t>中选择需要显示的方式。</a:t>
            </a:r>
            <a:endParaRPr lang="en-US" altLang="zh-CN" dirty="0" smtClean="0"/>
          </a:p>
          <a:p>
            <a:r>
              <a:rPr lang="zh-CN" altLang="zh-CN" dirty="0" smtClean="0"/>
              <a:t>按源</a:t>
            </a:r>
            <a:r>
              <a:rPr lang="en-US" altLang="zh-CN" dirty="0" smtClean="0"/>
              <a:t>IP</a:t>
            </a:r>
            <a:r>
              <a:rPr lang="zh-CN" altLang="zh-CN" dirty="0" smtClean="0"/>
              <a:t>或目的</a:t>
            </a:r>
            <a:r>
              <a:rPr lang="en-US" altLang="zh-CN" dirty="0" smtClean="0"/>
              <a:t>IP</a:t>
            </a:r>
            <a:r>
              <a:rPr lang="zh-CN" altLang="zh-CN" dirty="0" smtClean="0"/>
              <a:t>排序</a:t>
            </a:r>
          </a:p>
          <a:p>
            <a:pPr lvl="1"/>
            <a:r>
              <a:rPr lang="zh-CN" altLang="zh-CN" dirty="0" smtClean="0"/>
              <a:t>直接点击跟踪显示区上部的</a:t>
            </a:r>
            <a:r>
              <a:rPr lang="en-US" altLang="zh-CN" dirty="0" smtClean="0"/>
              <a:t>Source</a:t>
            </a:r>
            <a:r>
              <a:rPr lang="zh-CN" altLang="zh-CN" dirty="0" smtClean="0"/>
              <a:t>或</a:t>
            </a:r>
            <a:r>
              <a:rPr lang="en-US" altLang="zh-CN" dirty="0" smtClean="0"/>
              <a:t>Destination</a:t>
            </a:r>
            <a:r>
              <a:rPr lang="zh-CN" altLang="zh-CN" dirty="0" smtClean="0"/>
              <a:t>即可。</a:t>
            </a:r>
            <a:endParaRPr lang="en-US" altLang="zh-CN" dirty="0" smtClean="0"/>
          </a:p>
          <a:p>
            <a:pPr lvl="2"/>
            <a:r>
              <a:rPr lang="zh-CN" altLang="zh-CN" dirty="0" smtClean="0"/>
              <a:t>协议解析区</a:t>
            </a:r>
            <a:endParaRPr lang="en-US" altLang="zh-CN" dirty="0" smtClean="0"/>
          </a:p>
          <a:p>
            <a:pPr lvl="2"/>
            <a:r>
              <a:rPr lang="zh-CN" altLang="zh-CN" dirty="0" smtClean="0"/>
              <a:t>码流显示区</a:t>
            </a:r>
          </a:p>
          <a:p>
            <a:pPr lvl="2"/>
            <a:r>
              <a:rPr lang="zh-CN" altLang="zh-CN" dirty="0" smtClean="0"/>
              <a:t>过滤功能</a:t>
            </a:r>
          </a:p>
          <a:p>
            <a:pPr lvl="1"/>
            <a:endParaRPr lang="zh-CN" altLang="en-US"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116</a:t>
            </a:fld>
            <a:endParaRPr lang="en-US" altLang="zh-CN"/>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使用技巧介绍</a:t>
            </a:r>
            <a:endParaRPr lang="zh-CN" altLang="en-US" dirty="0"/>
          </a:p>
        </p:txBody>
      </p:sp>
      <p:sp>
        <p:nvSpPr>
          <p:cNvPr id="3" name="内容占位符 2"/>
          <p:cNvSpPr>
            <a:spLocks noGrp="1"/>
          </p:cNvSpPr>
          <p:nvPr>
            <p:ph idx="1"/>
          </p:nvPr>
        </p:nvSpPr>
        <p:spPr/>
        <p:txBody>
          <a:bodyPr/>
          <a:lstStyle/>
          <a:p>
            <a:r>
              <a:rPr lang="zh-CN" altLang="en-US" dirty="0" smtClean="0"/>
              <a:t>过滤功能</a:t>
            </a:r>
            <a:endParaRPr lang="en-US" altLang="zh-CN" dirty="0" smtClean="0"/>
          </a:p>
          <a:p>
            <a:pPr lvl="1"/>
            <a:r>
              <a:rPr lang="zh-CN" altLang="zh-CN" dirty="0" smtClean="0"/>
              <a:t>按</a:t>
            </a:r>
            <a:r>
              <a:rPr lang="en-US" altLang="zh-CN" dirty="0" smtClean="0"/>
              <a:t>IP</a:t>
            </a:r>
            <a:r>
              <a:rPr lang="zh-CN" altLang="zh-CN" dirty="0" smtClean="0"/>
              <a:t>过滤</a:t>
            </a:r>
            <a:r>
              <a:rPr lang="zh-CN" altLang="en-US" dirty="0" smtClean="0"/>
              <a:t>：</a:t>
            </a:r>
            <a:r>
              <a:rPr lang="zh-CN" altLang="zh-CN" dirty="0" smtClean="0"/>
              <a:t>在过滤框中输入</a:t>
            </a:r>
            <a:r>
              <a:rPr lang="en-US" altLang="zh-CN" dirty="0" err="1" smtClean="0"/>
              <a:t>ip.addr</a:t>
            </a:r>
            <a:r>
              <a:rPr lang="en-US" altLang="zh-CN" dirty="0" smtClean="0"/>
              <a:t> == IP</a:t>
            </a:r>
            <a:r>
              <a:rPr lang="zh-CN" altLang="zh-CN" dirty="0" smtClean="0"/>
              <a:t>，例如</a:t>
            </a:r>
            <a:r>
              <a:rPr lang="en-US" altLang="zh-CN" dirty="0" err="1" smtClean="0"/>
              <a:t>ip.addr</a:t>
            </a:r>
            <a:r>
              <a:rPr lang="en-US" altLang="zh-CN" dirty="0" smtClean="0"/>
              <a:t> == 10.121.144.57</a:t>
            </a:r>
            <a:r>
              <a:rPr lang="zh-CN" altLang="zh-CN" dirty="0" smtClean="0"/>
              <a:t>，点击</a:t>
            </a:r>
            <a:r>
              <a:rPr lang="en-US" altLang="zh-CN" dirty="0" smtClean="0"/>
              <a:t>Apply</a:t>
            </a:r>
            <a:r>
              <a:rPr lang="zh-CN" altLang="zh-CN" dirty="0" smtClean="0"/>
              <a:t>即可按该</a:t>
            </a:r>
            <a:r>
              <a:rPr lang="en-US" altLang="zh-CN" dirty="0" smtClean="0"/>
              <a:t>IP</a:t>
            </a:r>
            <a:r>
              <a:rPr lang="zh-CN" altLang="zh-CN" dirty="0" smtClean="0"/>
              <a:t>过滤。</a:t>
            </a:r>
            <a:endParaRPr lang="en-US" altLang="zh-CN" dirty="0" smtClean="0"/>
          </a:p>
          <a:p>
            <a:pPr lvl="1"/>
            <a:r>
              <a:rPr lang="zh-CN" altLang="zh-CN" dirty="0" smtClean="0"/>
              <a:t>按包长过滤</a:t>
            </a:r>
            <a:r>
              <a:rPr lang="zh-CN" altLang="en-US" dirty="0" smtClean="0"/>
              <a:t>：</a:t>
            </a:r>
            <a:r>
              <a:rPr lang="zh-CN" altLang="zh-CN" dirty="0" smtClean="0"/>
              <a:t>在过滤框中输入</a:t>
            </a:r>
            <a:r>
              <a:rPr lang="en-US" altLang="zh-CN" dirty="0" smtClean="0"/>
              <a:t>ip.len == 40</a:t>
            </a:r>
            <a:r>
              <a:rPr lang="zh-CN" altLang="zh-CN" dirty="0" smtClean="0"/>
              <a:t>，即按</a:t>
            </a:r>
            <a:r>
              <a:rPr lang="en-US" altLang="zh-CN" dirty="0" smtClean="0"/>
              <a:t>IP</a:t>
            </a:r>
            <a:r>
              <a:rPr lang="zh-CN" altLang="zh-CN" dirty="0" smtClean="0"/>
              <a:t>包长等于</a:t>
            </a:r>
            <a:r>
              <a:rPr lang="en-US" altLang="zh-CN" dirty="0" smtClean="0"/>
              <a:t>40byte</a:t>
            </a:r>
            <a:r>
              <a:rPr lang="zh-CN" altLang="zh-CN" dirty="0" smtClean="0"/>
              <a:t>来过滤，这个包长包括了</a:t>
            </a:r>
            <a:r>
              <a:rPr lang="en-US" altLang="zh-CN" dirty="0" smtClean="0"/>
              <a:t>IP</a:t>
            </a:r>
            <a:r>
              <a:rPr lang="zh-CN" altLang="zh-CN" dirty="0" smtClean="0"/>
              <a:t>头。</a:t>
            </a:r>
            <a:endParaRPr lang="en-US" altLang="zh-CN" dirty="0" smtClean="0"/>
          </a:p>
          <a:p>
            <a:pPr lvl="1"/>
            <a:r>
              <a:rPr lang="zh-CN" altLang="zh-CN" dirty="0" smtClean="0"/>
              <a:t>按端口过滤</a:t>
            </a:r>
            <a:r>
              <a:rPr lang="zh-CN" altLang="en-US" dirty="0" smtClean="0"/>
              <a:t>：</a:t>
            </a:r>
            <a:r>
              <a:rPr lang="zh-CN" altLang="zh-CN" dirty="0" smtClean="0"/>
              <a:t>如果是</a:t>
            </a:r>
            <a:r>
              <a:rPr lang="en-US" altLang="zh-CN" dirty="0" smtClean="0"/>
              <a:t>UDP</a:t>
            </a:r>
            <a:r>
              <a:rPr lang="zh-CN" altLang="zh-CN" dirty="0" smtClean="0"/>
              <a:t>包，则在过滤框中输入</a:t>
            </a:r>
            <a:r>
              <a:rPr lang="en-US" altLang="zh-CN" dirty="0" err="1" smtClean="0"/>
              <a:t>udp.port</a:t>
            </a:r>
            <a:r>
              <a:rPr lang="en-US" altLang="zh-CN" dirty="0" smtClean="0"/>
              <a:t> == xx</a:t>
            </a:r>
            <a:r>
              <a:rPr lang="zh-CN" altLang="zh-CN" dirty="0" smtClean="0"/>
              <a:t>，</a:t>
            </a:r>
            <a:r>
              <a:rPr lang="en-US" altLang="zh-CN" dirty="0" smtClean="0"/>
              <a:t>xx</a:t>
            </a:r>
            <a:r>
              <a:rPr lang="zh-CN" altLang="zh-CN" dirty="0" smtClean="0"/>
              <a:t>为过滤端口号。如果只需要过滤源端口，则输入</a:t>
            </a:r>
            <a:r>
              <a:rPr lang="en-US" altLang="zh-CN" dirty="0" err="1" smtClean="0"/>
              <a:t>udp.srcport</a:t>
            </a:r>
            <a:r>
              <a:rPr lang="en-US" altLang="zh-CN" dirty="0" smtClean="0"/>
              <a:t> == xx</a:t>
            </a:r>
            <a:r>
              <a:rPr lang="zh-CN" altLang="zh-CN" dirty="0" smtClean="0"/>
              <a:t>，过滤目的端口则输入</a:t>
            </a:r>
            <a:r>
              <a:rPr lang="en-US" altLang="zh-CN" dirty="0" err="1" smtClean="0"/>
              <a:t>udp.dstport</a:t>
            </a:r>
            <a:r>
              <a:rPr lang="en-US" altLang="zh-CN" dirty="0" smtClean="0"/>
              <a:t> == xx</a:t>
            </a:r>
            <a:r>
              <a:rPr lang="zh-CN" altLang="zh-CN" dirty="0" smtClean="0"/>
              <a:t>。</a:t>
            </a:r>
            <a:endParaRPr lang="en-US" altLang="zh-CN" dirty="0" smtClean="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117</a:t>
            </a:fld>
            <a:endParaRPr lang="en-US" altLang="zh-CN"/>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使用技巧介绍</a:t>
            </a:r>
            <a:endParaRPr lang="zh-CN" altLang="en-US" dirty="0"/>
          </a:p>
        </p:txBody>
      </p:sp>
      <p:sp>
        <p:nvSpPr>
          <p:cNvPr id="3" name="内容占位符 2"/>
          <p:cNvSpPr>
            <a:spLocks noGrp="1"/>
          </p:cNvSpPr>
          <p:nvPr>
            <p:ph idx="1"/>
          </p:nvPr>
        </p:nvSpPr>
        <p:spPr/>
        <p:txBody>
          <a:bodyPr/>
          <a:lstStyle/>
          <a:p>
            <a:pPr lvl="1"/>
            <a:r>
              <a:rPr lang="zh-CN" altLang="zh-CN" dirty="0" smtClean="0"/>
              <a:t>使用</a:t>
            </a:r>
            <a:r>
              <a:rPr lang="en-US" altLang="zh-CN" dirty="0" smtClean="0"/>
              <a:t>Expression</a:t>
            </a:r>
            <a:r>
              <a:rPr lang="zh-CN" altLang="en-US" dirty="0" smtClean="0"/>
              <a:t>：</a:t>
            </a:r>
            <a:r>
              <a:rPr lang="zh-CN" altLang="zh-CN" dirty="0" smtClean="0"/>
              <a:t>点击</a:t>
            </a:r>
            <a:r>
              <a:rPr lang="en-US" altLang="zh-CN" dirty="0" smtClean="0"/>
              <a:t>Expression</a:t>
            </a:r>
            <a:r>
              <a:rPr lang="zh-CN" altLang="zh-CN" dirty="0" smtClean="0"/>
              <a:t>按钮，出现</a:t>
            </a:r>
            <a:r>
              <a:rPr lang="en-US" altLang="zh-CN" dirty="0" smtClean="0"/>
              <a:t>Filter Expression</a:t>
            </a:r>
            <a:r>
              <a:rPr lang="zh-CN" altLang="zh-CN" dirty="0" smtClean="0"/>
              <a:t>对话框。在对话框的左边</a:t>
            </a:r>
            <a:r>
              <a:rPr lang="en-US" altLang="zh-CN" dirty="0" smtClean="0"/>
              <a:t>Field name</a:t>
            </a:r>
            <a:r>
              <a:rPr lang="zh-CN" altLang="zh-CN" dirty="0" smtClean="0"/>
              <a:t>一栏中选择你要过滤的协议名称及过滤项，在右边的</a:t>
            </a:r>
            <a:r>
              <a:rPr lang="en-US" altLang="zh-CN" dirty="0" smtClean="0"/>
              <a:t>Relation</a:t>
            </a:r>
            <a:r>
              <a:rPr lang="zh-CN" altLang="zh-CN" dirty="0" smtClean="0"/>
              <a:t>一栏中显示可以使用的运算符。</a:t>
            </a:r>
            <a:endParaRPr lang="en-US" altLang="zh-CN" dirty="0" smtClean="0"/>
          </a:p>
          <a:p>
            <a:pPr lvl="1"/>
            <a:endParaRPr lang="en-US" altLang="zh-CN" dirty="0" smtClean="0"/>
          </a:p>
          <a:p>
            <a:pPr lvl="1"/>
            <a:endParaRPr lang="en-US" altLang="zh-CN" dirty="0" smtClean="0"/>
          </a:p>
          <a:p>
            <a:pPr lvl="1"/>
            <a:endParaRPr lang="en-US" altLang="zh-CN" dirty="0" smtClean="0"/>
          </a:p>
          <a:p>
            <a:pPr lvl="1"/>
            <a:r>
              <a:rPr lang="zh-CN" altLang="zh-CN" dirty="0" smtClean="0"/>
              <a:t>协议解析区快捷设置过滤项</a:t>
            </a:r>
            <a:r>
              <a:rPr lang="zh-CN" altLang="en-US" dirty="0" smtClean="0"/>
              <a:t>：</a:t>
            </a:r>
            <a:r>
              <a:rPr lang="zh-CN" altLang="zh-CN" dirty="0" smtClean="0"/>
              <a:t>选择某个协议解析项，右键点击，然后在</a:t>
            </a:r>
            <a:r>
              <a:rPr lang="en-US" altLang="zh-CN" dirty="0" smtClean="0"/>
              <a:t>Apply as Filter</a:t>
            </a:r>
            <a:r>
              <a:rPr lang="zh-CN" altLang="zh-CN" dirty="0" smtClean="0"/>
              <a:t>或</a:t>
            </a:r>
            <a:r>
              <a:rPr lang="en-US" altLang="zh-CN" dirty="0" smtClean="0"/>
              <a:t>Prepare a Filter</a:t>
            </a:r>
            <a:r>
              <a:rPr lang="zh-CN" altLang="zh-CN" dirty="0" smtClean="0"/>
              <a:t>中选择运算符即可，选择</a:t>
            </a:r>
            <a:r>
              <a:rPr lang="en-US" altLang="zh-CN" dirty="0" smtClean="0"/>
              <a:t>Apply as Filter</a:t>
            </a:r>
            <a:r>
              <a:rPr lang="zh-CN" altLang="zh-CN" dirty="0" smtClean="0"/>
              <a:t>则立即执行过滤条件，若选择</a:t>
            </a:r>
            <a:r>
              <a:rPr lang="en-US" altLang="zh-CN" dirty="0" smtClean="0"/>
              <a:t>Prepare a Filter</a:t>
            </a:r>
            <a:r>
              <a:rPr lang="zh-CN" altLang="zh-CN" dirty="0" smtClean="0"/>
              <a:t>只是在过滤栏中显示，可以进行修改然后再手动点击</a:t>
            </a:r>
            <a:r>
              <a:rPr lang="en-US" altLang="zh-CN" dirty="0" smtClean="0"/>
              <a:t>Apply</a:t>
            </a:r>
            <a:r>
              <a:rPr lang="zh-CN" altLang="zh-CN" dirty="0" smtClean="0"/>
              <a:t>执行</a:t>
            </a:r>
            <a:r>
              <a:rPr lang="zh-CN" altLang="en-US" dirty="0" smtClean="0"/>
              <a:t>。</a:t>
            </a:r>
          </a:p>
          <a:p>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118</a:t>
            </a:fld>
            <a:endParaRPr lang="en-US" altLang="zh-CN"/>
          </a:p>
        </p:txBody>
      </p:sp>
      <p:pic>
        <p:nvPicPr>
          <p:cNvPr id="5" name="图片 4"/>
          <p:cNvPicPr/>
          <p:nvPr/>
        </p:nvPicPr>
        <p:blipFill>
          <a:blip r:embed="rId3" cstate="print"/>
          <a:srcRect/>
          <a:stretch>
            <a:fillRect/>
          </a:stretch>
        </p:blipFill>
        <p:spPr bwMode="auto">
          <a:xfrm>
            <a:off x="2171699" y="2843212"/>
            <a:ext cx="5491843" cy="145301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TCP</a:t>
            </a:r>
            <a:r>
              <a:rPr lang="zh-CN" altLang="zh-CN" dirty="0" smtClean="0"/>
              <a:t>数据分析</a:t>
            </a:r>
            <a:endParaRPr lang="zh-CN" altLang="en-US" dirty="0"/>
          </a:p>
        </p:txBody>
      </p:sp>
      <p:sp>
        <p:nvSpPr>
          <p:cNvPr id="3" name="内容占位符 2"/>
          <p:cNvSpPr>
            <a:spLocks noGrp="1"/>
          </p:cNvSpPr>
          <p:nvPr>
            <p:ph idx="1"/>
          </p:nvPr>
        </p:nvSpPr>
        <p:spPr/>
        <p:txBody>
          <a:bodyPr/>
          <a:lstStyle/>
          <a:p>
            <a:r>
              <a:rPr lang="zh-CN" altLang="zh-CN" dirty="0" smtClean="0"/>
              <a:t>基本使用，以及如何查看接收窗口、发送窗口、</a:t>
            </a:r>
            <a:r>
              <a:rPr lang="en-US" altLang="zh-CN" dirty="0" smtClean="0"/>
              <a:t>RTT</a:t>
            </a:r>
            <a:r>
              <a:rPr lang="zh-CN" altLang="zh-CN" dirty="0" smtClean="0"/>
              <a:t>，如何判断丢包、重传</a:t>
            </a:r>
            <a:r>
              <a:rPr lang="zh-CN" altLang="en-US" dirty="0" smtClean="0"/>
              <a:t>。</a:t>
            </a:r>
            <a:endParaRPr lang="en-US" altLang="zh-CN" dirty="0" smtClean="0"/>
          </a:p>
          <a:p>
            <a:pPr lvl="1"/>
            <a:r>
              <a:rPr lang="zh-CN" altLang="zh-CN" dirty="0" smtClean="0"/>
              <a:t>接收窗口</a:t>
            </a:r>
            <a:r>
              <a:rPr lang="zh-CN" altLang="en-US" dirty="0" smtClean="0"/>
              <a:t>：</a:t>
            </a:r>
            <a:r>
              <a:rPr lang="zh-CN" altLang="zh-CN" dirty="0" smtClean="0"/>
              <a:t>查看某一方的接收窗口时，在跟踪显示区选择源</a:t>
            </a:r>
            <a:r>
              <a:rPr lang="en-US" altLang="zh-CN" dirty="0" smtClean="0"/>
              <a:t>IP</a:t>
            </a:r>
            <a:r>
              <a:rPr lang="zh-CN" altLang="zh-CN" dirty="0" smtClean="0"/>
              <a:t>为需要查看方</a:t>
            </a:r>
            <a:r>
              <a:rPr lang="en-US" altLang="zh-CN" dirty="0" smtClean="0"/>
              <a:t>IP</a:t>
            </a:r>
            <a:r>
              <a:rPr lang="zh-CN" altLang="zh-CN" dirty="0" smtClean="0"/>
              <a:t>的数据包，然后在协议解析区打开</a:t>
            </a:r>
            <a:r>
              <a:rPr lang="en-US" altLang="zh-CN" dirty="0" smtClean="0"/>
              <a:t>TCP</a:t>
            </a:r>
            <a:r>
              <a:rPr lang="zh-CN" altLang="zh-CN" dirty="0" smtClean="0"/>
              <a:t>协议（</a:t>
            </a:r>
            <a:r>
              <a:rPr lang="en-US" altLang="zh-CN" dirty="0" smtClean="0"/>
              <a:t>Transmission Control Protocol</a:t>
            </a:r>
            <a:r>
              <a:rPr lang="zh-CN" altLang="zh-CN" dirty="0" smtClean="0"/>
              <a:t>），查看</a:t>
            </a:r>
            <a:r>
              <a:rPr lang="en-US" altLang="zh-CN" dirty="0" smtClean="0"/>
              <a:t>Window Size</a:t>
            </a:r>
            <a:r>
              <a:rPr lang="zh-CN" altLang="zh-CN" dirty="0" smtClean="0"/>
              <a:t>。</a:t>
            </a:r>
            <a:endParaRPr lang="en-US" altLang="zh-CN" dirty="0" smtClean="0"/>
          </a:p>
          <a:p>
            <a:pPr lvl="1"/>
            <a:r>
              <a:rPr lang="zh-CN" altLang="zh-CN" dirty="0" smtClean="0"/>
              <a:t>环回时延</a:t>
            </a:r>
            <a:r>
              <a:rPr lang="en-US" altLang="zh-CN" dirty="0" smtClean="0"/>
              <a:t>RTT</a:t>
            </a:r>
            <a:r>
              <a:rPr lang="zh-CN" altLang="en-US" dirty="0" smtClean="0"/>
              <a:t>：</a:t>
            </a:r>
            <a:r>
              <a:rPr lang="zh-CN" altLang="zh-CN" dirty="0" smtClean="0"/>
              <a:t>在跟踪显示区中点击需要查看</a:t>
            </a:r>
            <a:r>
              <a:rPr lang="en-US" altLang="zh-CN" dirty="0" smtClean="0"/>
              <a:t>RTT</a:t>
            </a:r>
            <a:r>
              <a:rPr lang="zh-CN" altLang="zh-CN" dirty="0" smtClean="0"/>
              <a:t>的某个数据包，然后在菜单</a:t>
            </a:r>
            <a:r>
              <a:rPr lang="en-US" altLang="zh-CN" dirty="0" smtClean="0"/>
              <a:t>Statistics -&gt; TCP Stream Graph</a:t>
            </a:r>
            <a:r>
              <a:rPr lang="zh-CN" altLang="zh-CN" dirty="0" smtClean="0"/>
              <a:t>，选择</a:t>
            </a:r>
            <a:r>
              <a:rPr lang="en-US" altLang="zh-CN" dirty="0" smtClean="0"/>
              <a:t>Round Trip Time Graph</a:t>
            </a:r>
            <a:r>
              <a:rPr lang="zh-CN" altLang="zh-CN" dirty="0" smtClean="0"/>
              <a:t>。</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119</a:t>
            </a:fld>
            <a:endParaRPr lang="en-US" altLang="zh-CN"/>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文件处理</a:t>
            </a:r>
            <a:endParaRPr lang="zh-CN" altLang="en-US" dirty="0" smtClean="0"/>
          </a:p>
        </p:txBody>
      </p:sp>
      <p:sp>
        <p:nvSpPr>
          <p:cNvPr id="3" name="内容占位符 2"/>
          <p:cNvSpPr>
            <a:spLocks noGrp="1"/>
          </p:cNvSpPr>
          <p:nvPr>
            <p:ph idx="1"/>
          </p:nvPr>
        </p:nvSpPr>
        <p:spPr/>
        <p:txBody>
          <a:bodyPr/>
          <a:lstStyle/>
          <a:p>
            <a:r>
              <a:rPr lang="zh-CN" altLang="zh-CN" dirty="0" smtClean="0"/>
              <a:t>数据保存可以在抓包之前设置保存路径，也可以在抓包后再保存。</a:t>
            </a:r>
          </a:p>
          <a:p>
            <a:pPr lvl="1"/>
            <a:r>
              <a:rPr lang="zh-CN" altLang="zh-CN" b="1" dirty="0" smtClean="0"/>
              <a:t>抓包之前保存</a:t>
            </a:r>
            <a:r>
              <a:rPr lang="zh-CN" altLang="zh-CN" dirty="0" smtClean="0"/>
              <a:t>：在启动抓包时的跟踪选项框中</a:t>
            </a:r>
            <a:r>
              <a:rPr lang="en-US" altLang="zh-CN" dirty="0" smtClean="0"/>
              <a:t>Capture File</a:t>
            </a:r>
            <a:r>
              <a:rPr lang="zh-CN" altLang="zh-CN" dirty="0" smtClean="0"/>
              <a:t>一栏，选择保存的路径和文件名。需要注意的是路径和文件名中</a:t>
            </a:r>
            <a:r>
              <a:rPr lang="zh-CN" altLang="zh-CN" b="1" dirty="0" smtClean="0"/>
              <a:t>均不能包含中文</a:t>
            </a:r>
            <a:r>
              <a:rPr lang="zh-CN" altLang="zh-CN" dirty="0" smtClean="0"/>
              <a:t>，文件名的后辍为</a:t>
            </a:r>
            <a:r>
              <a:rPr lang="en-US" altLang="zh-CN" dirty="0" smtClean="0"/>
              <a:t>.cap</a:t>
            </a:r>
            <a:r>
              <a:rPr lang="zh-CN" altLang="zh-CN" dirty="0" smtClean="0"/>
              <a:t>，如果是</a:t>
            </a:r>
            <a:r>
              <a:rPr lang="en-US" altLang="zh-CN" dirty="0" err="1" smtClean="0"/>
              <a:t>Wireshark</a:t>
            </a:r>
            <a:r>
              <a:rPr lang="zh-CN" altLang="zh-CN" dirty="0" smtClean="0"/>
              <a:t>，文件名可以是</a:t>
            </a:r>
            <a:r>
              <a:rPr lang="en-US" altLang="zh-CN" dirty="0" smtClean="0"/>
              <a:t>.cap</a:t>
            </a:r>
            <a:r>
              <a:rPr lang="zh-CN" altLang="zh-CN" dirty="0" smtClean="0"/>
              <a:t>或</a:t>
            </a:r>
            <a:r>
              <a:rPr lang="en-US" altLang="zh-CN" dirty="0" smtClean="0"/>
              <a:t>.</a:t>
            </a:r>
            <a:r>
              <a:rPr lang="en-US" altLang="zh-CN" dirty="0" err="1" smtClean="0"/>
              <a:t>pcap</a:t>
            </a:r>
            <a:r>
              <a:rPr lang="zh-CN" altLang="zh-CN" dirty="0" smtClean="0"/>
              <a:t>。</a:t>
            </a:r>
            <a:endParaRPr lang="en-US" altLang="zh-CN" dirty="0" smtClean="0"/>
          </a:p>
          <a:p>
            <a:endParaRPr lang="en-US" altLang="zh-CN" dirty="0" smtClean="0"/>
          </a:p>
          <a:p>
            <a:pPr lvl="1"/>
            <a:r>
              <a:rPr lang="zh-CN" altLang="zh-CN" b="1" dirty="0" smtClean="0"/>
              <a:t>抓包之后保存</a:t>
            </a:r>
            <a:r>
              <a:rPr lang="zh-CN" altLang="zh-CN" dirty="0" smtClean="0"/>
              <a:t>：菜单</a:t>
            </a:r>
            <a:r>
              <a:rPr lang="en-US" altLang="zh-CN" dirty="0" smtClean="0"/>
              <a:t>File-&gt;Save</a:t>
            </a:r>
            <a:r>
              <a:rPr lang="zh-CN" altLang="zh-CN" dirty="0" smtClean="0"/>
              <a:t>，或者用快捷键</a:t>
            </a:r>
            <a:r>
              <a:rPr lang="en-US" altLang="zh-CN" dirty="0" smtClean="0"/>
              <a:t>Ctrl</a:t>
            </a:r>
            <a:r>
              <a:rPr lang="zh-CN" altLang="zh-CN" dirty="0" smtClean="0"/>
              <a:t>＋</a:t>
            </a:r>
            <a:r>
              <a:rPr lang="en-US" altLang="zh-CN" dirty="0" smtClean="0"/>
              <a:t>S</a:t>
            </a:r>
            <a:r>
              <a:rPr lang="zh-CN" altLang="zh-CN" dirty="0" smtClean="0"/>
              <a:t>，选择保存路径并输入保存文件名即可，文件名和路径名</a:t>
            </a:r>
            <a:r>
              <a:rPr lang="zh-CN" altLang="zh-CN" b="1" dirty="0" smtClean="0"/>
              <a:t>均可包含中文</a:t>
            </a:r>
            <a:r>
              <a:rPr lang="zh-CN" altLang="zh-CN" dirty="0" smtClean="0"/>
              <a:t>。</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120</a:t>
            </a:fld>
            <a:endParaRPr lang="en-US" altLang="zh-CN"/>
          </a:p>
        </p:txBody>
      </p:sp>
      <p:pic>
        <p:nvPicPr>
          <p:cNvPr id="5" name="图片 4"/>
          <p:cNvPicPr/>
          <p:nvPr/>
        </p:nvPicPr>
        <p:blipFill>
          <a:blip r:embed="rId2" cstate="print"/>
          <a:srcRect/>
          <a:stretch>
            <a:fillRect/>
          </a:stretch>
        </p:blipFill>
        <p:spPr bwMode="auto">
          <a:xfrm>
            <a:off x="2102757" y="4239985"/>
            <a:ext cx="5851072" cy="6077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0"/>
            <a:r>
              <a:rPr lang="zh-CN" altLang="zh-CN" dirty="0" smtClean="0"/>
              <a:t>文件导出</a:t>
            </a:r>
            <a:endParaRPr lang="zh-CN" altLang="en-US" dirty="0"/>
          </a:p>
        </p:txBody>
      </p:sp>
      <p:sp>
        <p:nvSpPr>
          <p:cNvPr id="3" name="内容占位符 2"/>
          <p:cNvSpPr>
            <a:spLocks noGrp="1"/>
          </p:cNvSpPr>
          <p:nvPr>
            <p:ph idx="1"/>
          </p:nvPr>
        </p:nvSpPr>
        <p:spPr/>
        <p:txBody>
          <a:bodyPr/>
          <a:lstStyle/>
          <a:p>
            <a:r>
              <a:rPr lang="en-US" altLang="zh-CN" dirty="0" smtClean="0"/>
              <a:t>Ethereal</a:t>
            </a:r>
            <a:r>
              <a:rPr lang="zh-CN" altLang="zh-CN" dirty="0" smtClean="0"/>
              <a:t>软件还提供了文件转换功能，即将捕获的</a:t>
            </a:r>
            <a:r>
              <a:rPr lang="en-US" altLang="zh-CN" dirty="0" smtClean="0"/>
              <a:t>ethereal</a:t>
            </a:r>
            <a:r>
              <a:rPr lang="zh-CN" altLang="zh-CN" dirty="0" smtClean="0"/>
              <a:t>文件以文本的形式解析出来。</a:t>
            </a:r>
          </a:p>
          <a:p>
            <a:r>
              <a:rPr lang="zh-CN" altLang="zh-CN" dirty="0" smtClean="0"/>
              <a:t>在跟踪显示区，右键点击需要转换的一个数据包，选择</a:t>
            </a:r>
            <a:r>
              <a:rPr lang="en-US" altLang="zh-CN" dirty="0" smtClean="0"/>
              <a:t>Print</a:t>
            </a:r>
            <a:r>
              <a:rPr lang="zh-CN" altLang="zh-CN" dirty="0" smtClean="0"/>
              <a:t>，出现</a:t>
            </a:r>
            <a:r>
              <a:rPr lang="en-US" altLang="zh-CN" dirty="0" smtClean="0"/>
              <a:t>Print</a:t>
            </a:r>
            <a:r>
              <a:rPr lang="zh-CN" altLang="zh-CN" dirty="0" smtClean="0"/>
              <a:t>对话框。</a:t>
            </a:r>
            <a:endParaRPr lang="en-US" altLang="zh-CN" dirty="0" smtClean="0"/>
          </a:p>
          <a:p>
            <a:pPr lvl="1"/>
            <a:r>
              <a:rPr lang="zh-CN" altLang="zh-CN" dirty="0" smtClean="0"/>
              <a:t>在对话框中，勾选</a:t>
            </a:r>
            <a:r>
              <a:rPr lang="en-US" altLang="zh-CN" dirty="0" smtClean="0"/>
              <a:t>Output to file</a:t>
            </a:r>
            <a:r>
              <a:rPr lang="zh-CN" altLang="zh-CN" dirty="0" smtClean="0"/>
              <a:t>，然后输入导出的路径和文件名，文件名的后缀建议用</a:t>
            </a:r>
            <a:r>
              <a:rPr lang="en-US" altLang="zh-CN" dirty="0" smtClean="0"/>
              <a:t>.txt</a:t>
            </a:r>
            <a:r>
              <a:rPr lang="zh-CN" altLang="zh-CN" dirty="0" smtClean="0"/>
              <a:t>。如下图所示：</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121</a:t>
            </a:fld>
            <a:endParaRPr lang="en-US" altLang="zh-CN"/>
          </a:p>
        </p:txBody>
      </p:sp>
      <p:pic>
        <p:nvPicPr>
          <p:cNvPr id="5" name="图片 4"/>
          <p:cNvPicPr/>
          <p:nvPr/>
        </p:nvPicPr>
        <p:blipFill>
          <a:blip r:embed="rId2" cstate="print"/>
          <a:srcRect/>
          <a:stretch>
            <a:fillRect/>
          </a:stretch>
        </p:blipFill>
        <p:spPr bwMode="auto">
          <a:xfrm>
            <a:off x="1422400" y="4462462"/>
            <a:ext cx="6618514" cy="14303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zh-CN" dirty="0" smtClean="0"/>
              <a:t>文件导出</a:t>
            </a:r>
            <a:endParaRPr lang="zh-CN" altLang="en-US" dirty="0"/>
          </a:p>
        </p:txBody>
      </p:sp>
      <p:sp>
        <p:nvSpPr>
          <p:cNvPr id="3" name="内容占位符 2"/>
          <p:cNvSpPr>
            <a:spLocks noGrp="1"/>
          </p:cNvSpPr>
          <p:nvPr>
            <p:ph idx="1"/>
          </p:nvPr>
        </p:nvSpPr>
        <p:spPr/>
        <p:txBody>
          <a:bodyPr/>
          <a:lstStyle/>
          <a:p>
            <a:pPr lvl="1"/>
            <a:r>
              <a:rPr lang="zh-CN" altLang="zh-CN" dirty="0" smtClean="0"/>
              <a:t>在</a:t>
            </a:r>
            <a:r>
              <a:rPr lang="en-US" altLang="zh-CN" dirty="0" smtClean="0"/>
              <a:t>Packet Range</a:t>
            </a:r>
            <a:r>
              <a:rPr lang="zh-CN" altLang="zh-CN" dirty="0" smtClean="0"/>
              <a:t>中选择需要导出的数据包范围。有横纵两个方面的范围选择，纵向上有</a:t>
            </a:r>
            <a:r>
              <a:rPr lang="en-US" altLang="zh-CN" dirty="0" smtClean="0"/>
              <a:t>Captured</a:t>
            </a:r>
            <a:r>
              <a:rPr lang="zh-CN" altLang="zh-CN" dirty="0" smtClean="0"/>
              <a:t>和</a:t>
            </a:r>
            <a:r>
              <a:rPr lang="en-US" altLang="zh-CN" dirty="0" smtClean="0"/>
              <a:t>Displayed</a:t>
            </a:r>
            <a:r>
              <a:rPr lang="zh-CN" altLang="zh-CN" dirty="0" smtClean="0"/>
              <a:t>两个按钮，分别表示软件捕获到的包和界面中过滤后显示的包。横向上有</a:t>
            </a:r>
            <a:r>
              <a:rPr lang="en-US" altLang="zh-CN" dirty="0" smtClean="0"/>
              <a:t>All packets</a:t>
            </a:r>
            <a:r>
              <a:rPr lang="zh-CN" altLang="zh-CN" dirty="0" smtClean="0"/>
              <a:t>和</a:t>
            </a:r>
            <a:r>
              <a:rPr lang="en-US" altLang="zh-CN" dirty="0" smtClean="0"/>
              <a:t>Selected packet only</a:t>
            </a:r>
            <a:r>
              <a:rPr lang="zh-CN" altLang="zh-CN" dirty="0" smtClean="0"/>
              <a:t>，表示所有的包和选择的单独某个包。横纵两个方向的条件选好后会高亮显示符合条件的数据包个数。</a:t>
            </a:r>
            <a:endParaRPr lang="en-US" altLang="zh-CN" dirty="0" smtClean="0"/>
          </a:p>
          <a:p>
            <a:pPr lvl="1"/>
            <a:r>
              <a:rPr lang="zh-CN" altLang="zh-CN" dirty="0" smtClean="0"/>
              <a:t>选择解析显示的格式</a:t>
            </a:r>
            <a:r>
              <a:rPr lang="en-US" altLang="zh-CN" dirty="0" smtClean="0"/>
              <a:t>Packet Format</a:t>
            </a:r>
            <a:r>
              <a:rPr lang="zh-CN" altLang="en-US" dirty="0" smtClean="0"/>
              <a:t>。</a:t>
            </a:r>
            <a:endParaRPr lang="en-US" altLang="zh-CN" dirty="0" smtClean="0"/>
          </a:p>
          <a:p>
            <a:pPr lvl="1"/>
            <a:r>
              <a:rPr lang="zh-CN" altLang="zh-CN" dirty="0" smtClean="0"/>
              <a:t>以上三个方面都选好后点击右下角的</a:t>
            </a:r>
            <a:r>
              <a:rPr lang="en-US" altLang="zh-CN" dirty="0" smtClean="0"/>
              <a:t>Print</a:t>
            </a:r>
            <a:r>
              <a:rPr lang="zh-CN" altLang="zh-CN" dirty="0" smtClean="0"/>
              <a:t>按钮即可。</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122</a:t>
            </a:fld>
            <a:endParaRPr lang="en-US" altLang="zh-CN"/>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CHR</a:t>
            </a:r>
            <a:r>
              <a:rPr lang="zh-CN" altLang="en-US" dirty="0" smtClean="0"/>
              <a:t>日志查询</a:t>
            </a:r>
            <a:endParaRPr lang="zh-CN" altLang="en-US" dirty="0"/>
          </a:p>
        </p:txBody>
      </p:sp>
      <p:sp>
        <p:nvSpPr>
          <p:cNvPr id="3" name="内容占位符 2"/>
          <p:cNvSpPr>
            <a:spLocks noGrp="1"/>
          </p:cNvSpPr>
          <p:nvPr>
            <p:ph idx="1"/>
          </p:nvPr>
        </p:nvSpPr>
        <p:spPr/>
        <p:txBody>
          <a:bodyPr/>
          <a:lstStyle/>
          <a:p>
            <a:r>
              <a:rPr lang="zh-CN" altLang="zh-CN" dirty="0" smtClean="0"/>
              <a:t>命令查询</a:t>
            </a:r>
            <a:r>
              <a:rPr lang="en-US" altLang="zh-CN" dirty="0" smtClean="0"/>
              <a:t>CHR</a:t>
            </a:r>
            <a:r>
              <a:rPr lang="zh-CN" altLang="zh-CN" dirty="0" smtClean="0"/>
              <a:t>日志文件：</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123</a:t>
            </a:fld>
            <a:endParaRPr lang="en-US" altLang="zh-CN"/>
          </a:p>
        </p:txBody>
      </p:sp>
      <p:pic>
        <p:nvPicPr>
          <p:cNvPr id="837634" name="Picture 2"/>
          <p:cNvPicPr>
            <a:picLocks noChangeAspect="1" noChangeArrowheads="1"/>
          </p:cNvPicPr>
          <p:nvPr/>
        </p:nvPicPr>
        <p:blipFill>
          <a:blip r:embed="rId3" cstate="print"/>
          <a:srcRect/>
          <a:stretch>
            <a:fillRect/>
          </a:stretch>
        </p:blipFill>
        <p:spPr bwMode="auto">
          <a:xfrm>
            <a:off x="1083356" y="2145617"/>
            <a:ext cx="7382307" cy="20344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CHR</a:t>
            </a:r>
            <a:r>
              <a:rPr lang="zh-CN" altLang="en-US" dirty="0" smtClean="0"/>
              <a:t>日志查询</a:t>
            </a:r>
            <a:endParaRPr lang="zh-CN" altLang="en-US" dirty="0"/>
          </a:p>
        </p:txBody>
      </p:sp>
      <p:sp>
        <p:nvSpPr>
          <p:cNvPr id="3" name="内容占位符 2"/>
          <p:cNvSpPr>
            <a:spLocks noGrp="1"/>
          </p:cNvSpPr>
          <p:nvPr>
            <p:ph idx="1"/>
          </p:nvPr>
        </p:nvSpPr>
        <p:spPr/>
        <p:txBody>
          <a:bodyPr/>
          <a:lstStyle/>
          <a:p>
            <a:r>
              <a:rPr lang="zh-CN" altLang="zh-CN" dirty="0" smtClean="0"/>
              <a:t>查到结果如下：</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124</a:t>
            </a:fld>
            <a:endParaRPr lang="en-US" altLang="zh-CN"/>
          </a:p>
        </p:txBody>
      </p:sp>
      <p:pic>
        <p:nvPicPr>
          <p:cNvPr id="5" name="图片 4"/>
          <p:cNvPicPr/>
          <p:nvPr/>
        </p:nvPicPr>
        <p:blipFill>
          <a:blip r:embed="rId2" cstate="print"/>
          <a:srcRect/>
          <a:stretch>
            <a:fillRect/>
          </a:stretch>
        </p:blipFill>
        <p:spPr bwMode="auto">
          <a:xfrm>
            <a:off x="2043551" y="2067377"/>
            <a:ext cx="4995862" cy="35351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CHR</a:t>
            </a:r>
            <a:r>
              <a:rPr lang="zh-CN" altLang="en-US" dirty="0" smtClean="0"/>
              <a:t>日志查询</a:t>
            </a:r>
            <a:endParaRPr lang="zh-CN" altLang="en-US" dirty="0"/>
          </a:p>
        </p:txBody>
      </p:sp>
      <p:sp>
        <p:nvSpPr>
          <p:cNvPr id="3" name="内容占位符 2"/>
          <p:cNvSpPr>
            <a:spLocks noGrp="1"/>
          </p:cNvSpPr>
          <p:nvPr>
            <p:ph idx="1"/>
          </p:nvPr>
        </p:nvSpPr>
        <p:spPr/>
        <p:txBody>
          <a:bodyPr/>
          <a:lstStyle/>
          <a:p>
            <a:r>
              <a:rPr lang="zh-CN" altLang="zh-CN" dirty="0" smtClean="0"/>
              <a:t>使用如下命令，即可以得到</a:t>
            </a:r>
            <a:r>
              <a:rPr lang="en-US" altLang="zh-CN" dirty="0" smtClean="0"/>
              <a:t>CHR</a:t>
            </a:r>
            <a:r>
              <a:rPr lang="zh-CN" altLang="zh-CN" dirty="0" smtClean="0"/>
              <a:t>日志文件：</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125</a:t>
            </a:fld>
            <a:endParaRPr lang="en-US" altLang="zh-CN"/>
          </a:p>
        </p:txBody>
      </p:sp>
      <p:pic>
        <p:nvPicPr>
          <p:cNvPr id="838659" name="Picture 3"/>
          <p:cNvPicPr>
            <a:picLocks noChangeAspect="1" noChangeArrowheads="1"/>
          </p:cNvPicPr>
          <p:nvPr/>
        </p:nvPicPr>
        <p:blipFill>
          <a:blip r:embed="rId3" cstate="print"/>
          <a:srcRect/>
          <a:stretch>
            <a:fillRect/>
          </a:stretch>
        </p:blipFill>
        <p:spPr bwMode="auto">
          <a:xfrm>
            <a:off x="1301295" y="2215696"/>
            <a:ext cx="7042615" cy="298041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单站测试报告模板</a:t>
            </a:r>
            <a:endParaRPr lang="zh-CN" altLang="en-US" dirty="0"/>
          </a:p>
        </p:txBody>
      </p:sp>
      <p:sp>
        <p:nvSpPr>
          <p:cNvPr id="4" name="灯片编号占位符 3"/>
          <p:cNvSpPr>
            <a:spLocks noGrp="1"/>
          </p:cNvSpPr>
          <p:nvPr>
            <p:ph type="sldNum" sz="quarter" idx="10"/>
          </p:nvPr>
        </p:nvSpPr>
        <p:spPr/>
        <p:txBody>
          <a:bodyPr/>
          <a:lstStyle/>
          <a:p>
            <a:r>
              <a:rPr lang="en-US" altLang="zh-CN" smtClean="0"/>
              <a:t>Page</a:t>
            </a:r>
            <a:fld id="{B77D227A-1AE4-4BCD-9973-754D0181BA73}" type="slidenum">
              <a:rPr lang="en-US" altLang="zh-CN" smtClean="0"/>
              <a:pPr/>
              <a:t>126</a:t>
            </a:fld>
            <a:endParaRPr lang="en-US" altLang="zh-CN"/>
          </a:p>
        </p:txBody>
      </p:sp>
      <p:sp>
        <p:nvSpPr>
          <p:cNvPr id="10618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61892"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对象 9"/>
          <p:cNvGraphicFramePr>
            <a:graphicFrameLocks noChangeAspect="1"/>
          </p:cNvGraphicFramePr>
          <p:nvPr/>
        </p:nvGraphicFramePr>
        <p:xfrm>
          <a:off x="3305331" y="2205195"/>
          <a:ext cx="1956216" cy="1772821"/>
        </p:xfrm>
        <a:graphic>
          <a:graphicData uri="http://schemas.openxmlformats.org/presentationml/2006/ole">
            <mc:AlternateContent xmlns:mc="http://schemas.openxmlformats.org/markup-compatibility/2006">
              <mc:Choice xmlns:v="urn:schemas-microsoft-com:vml" Requires="v">
                <p:oleObj spid="_x0000_s1061897" name="工作表" showAsIcon="1" r:id="rId4" imgW="914400" imgH="828720" progId="Excel.Sheet.12">
                  <p:embed/>
                </p:oleObj>
              </mc:Choice>
              <mc:Fallback>
                <p:oleObj name="工作表" showAsIcon="1" r:id="rId4" imgW="914400" imgH="828720" progId="Excel.Sheet.12">
                  <p:embed/>
                  <p:pic>
                    <p:nvPicPr>
                      <p:cNvPr id="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05331" y="2205195"/>
                        <a:ext cx="1956216" cy="17728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技术培训胶片＋注释中文模板V1.4(for office2007 20110106)">
  <a:themeElements>
    <a:clrScheme name="技术培训胶片＋注释中文模板V1.2(20100205)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fontScheme name="技术培训胶片＋注释中文模板V1.2(20100205)">
      <a:majorFont>
        <a:latin typeface="FrutigerNext LT Medium"/>
        <a:ea typeface="黑体"/>
        <a:cs typeface=""/>
      </a:majorFont>
      <a:minorFont>
        <a:latin typeface="FrutigerNext LT Regular"/>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华文细黑" pitchFamily="2" charset="-122"/>
          </a:defRPr>
        </a:defPPr>
      </a:lstStyle>
    </a:lnDef>
  </a:objectDefaults>
  <a:extraClrSchemeLst>
    <a:extraClrScheme>
      <a:clrScheme name="技术培训胶片＋注释中文模板V1.2(20100205)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技术培训胶片＋注释中文模板V1.2(20100205) 2">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技术培训胶片＋注释中文模板V1.2(20100205) 3">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技术培训胶片＋注释中文模板V1.2(20100205) 4">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
      <a:clrScheme name="技术培训胶片＋注释中文模板V1.2(20100205) 5">
        <a:dk1>
          <a:srgbClr val="000000"/>
        </a:dk1>
        <a:lt1>
          <a:srgbClr val="FFFFFF"/>
        </a:lt1>
        <a:dk2>
          <a:srgbClr val="990000"/>
        </a:dk2>
        <a:lt2>
          <a:srgbClr val="CCCCCC"/>
        </a:lt2>
        <a:accent1>
          <a:srgbClr val="CCCCFF"/>
        </a:accent1>
        <a:accent2>
          <a:srgbClr val="990000"/>
        </a:accent2>
        <a:accent3>
          <a:srgbClr val="FFFFFF"/>
        </a:accent3>
        <a:accent4>
          <a:srgbClr val="000000"/>
        </a:accent4>
        <a:accent5>
          <a:srgbClr val="E2E2FF"/>
        </a:accent5>
        <a:accent6>
          <a:srgbClr val="8A0000"/>
        </a:accent6>
        <a:hlink>
          <a:srgbClr val="99660A"/>
        </a:hlink>
        <a:folHlink>
          <a:srgbClr val="00669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t"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华文细黑" pitchFamily="2"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自定义设计方案 13">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clrMap bg1="lt1" tx1="dk1" bg2="lt2" tx2="dk2" accent1="accent1" accent2="accent2" accent3="accent3" accent4="accent4" accent5="accent5" accent6="accent6" hlink="hlink" folHlink="folHlink"/>
    </a:extraClrScheme>
    <a:extraClrScheme>
      <a:clrScheme name="1_自定义设计方案 14">
        <a:dk1>
          <a:srgbClr val="000000"/>
        </a:dk1>
        <a:lt1>
          <a:srgbClr val="FFFFFF"/>
        </a:lt1>
        <a:dk2>
          <a:srgbClr val="990000"/>
        </a:dk2>
        <a:lt2>
          <a:srgbClr val="CCCCCC"/>
        </a:lt2>
        <a:accent1>
          <a:srgbClr val="CCFF99"/>
        </a:accent1>
        <a:accent2>
          <a:srgbClr val="990000"/>
        </a:accent2>
        <a:accent3>
          <a:srgbClr val="FFFFFF"/>
        </a:accent3>
        <a:accent4>
          <a:srgbClr val="000000"/>
        </a:accent4>
        <a:accent5>
          <a:srgbClr val="E2FFCA"/>
        </a:accent5>
        <a:accent6>
          <a:srgbClr val="8A0000"/>
        </a:accent6>
        <a:hlink>
          <a:srgbClr val="669900"/>
        </a:hlink>
        <a:folHlink>
          <a:srgbClr val="999999"/>
        </a:folHlink>
      </a:clrScheme>
      <a:clrMap bg1="lt1" tx1="dk1" bg2="lt2" tx2="dk2" accent1="accent1" accent2="accent2" accent3="accent3" accent4="accent4" accent5="accent5" accent6="accent6" hlink="hlink" folHlink="folHlink"/>
    </a:extraClrScheme>
    <a:extraClrScheme>
      <a:clrScheme name="1_自定义设计方案 15">
        <a:dk1>
          <a:srgbClr val="000000"/>
        </a:dk1>
        <a:lt1>
          <a:srgbClr val="FFFFFF"/>
        </a:lt1>
        <a:dk2>
          <a:srgbClr val="990000"/>
        </a:dk2>
        <a:lt2>
          <a:srgbClr val="CCCCCC"/>
        </a:lt2>
        <a:accent1>
          <a:srgbClr val="FFCC99"/>
        </a:accent1>
        <a:accent2>
          <a:srgbClr val="990000"/>
        </a:accent2>
        <a:accent3>
          <a:srgbClr val="FFFFFF"/>
        </a:accent3>
        <a:accent4>
          <a:srgbClr val="000000"/>
        </a:accent4>
        <a:accent5>
          <a:srgbClr val="FFE2CA"/>
        </a:accent5>
        <a:accent6>
          <a:srgbClr val="8A0000"/>
        </a:accent6>
        <a:hlink>
          <a:srgbClr val="FF9900"/>
        </a:hlink>
        <a:folHlink>
          <a:srgbClr val="999999"/>
        </a:folHlink>
      </a:clrScheme>
      <a:clrMap bg1="lt1" tx1="dk1" bg2="lt2" tx2="dk2" accent1="accent1" accent2="accent2" accent3="accent3" accent4="accent4" accent5="accent5" accent6="accent6" hlink="hlink" folHlink="folHlink"/>
    </a:extraClrScheme>
    <a:extraClrScheme>
      <a:clrScheme name="1_自定义设计方案 16">
        <a:dk1>
          <a:srgbClr val="000000"/>
        </a:dk1>
        <a:lt1>
          <a:srgbClr val="FFFFFF"/>
        </a:lt1>
        <a:dk2>
          <a:srgbClr val="990000"/>
        </a:dk2>
        <a:lt2>
          <a:srgbClr val="CCCCCC"/>
        </a:lt2>
        <a:accent1>
          <a:srgbClr val="FF9900"/>
        </a:accent1>
        <a:accent2>
          <a:srgbClr val="990000"/>
        </a:accent2>
        <a:accent3>
          <a:srgbClr val="FFFFFF"/>
        </a:accent3>
        <a:accent4>
          <a:srgbClr val="000000"/>
        </a:accent4>
        <a:accent5>
          <a:srgbClr val="FFCAAA"/>
        </a:accent5>
        <a:accent6>
          <a:srgbClr val="8A0000"/>
        </a:accent6>
        <a:hlink>
          <a:srgbClr val="99660A"/>
        </a:hlink>
        <a:folHlink>
          <a:srgbClr val="999999"/>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技术培训胶片＋注释中文模板V1.2(20100205) 1">
    <a:dk1>
      <a:srgbClr val="000000"/>
    </a:dk1>
    <a:lt1>
      <a:srgbClr val="FFFFFF"/>
    </a:lt1>
    <a:dk2>
      <a:srgbClr val="990000"/>
    </a:dk2>
    <a:lt2>
      <a:srgbClr val="CCCCCC"/>
    </a:lt2>
    <a:accent1>
      <a:srgbClr val="99CCCC"/>
    </a:accent1>
    <a:accent2>
      <a:srgbClr val="990000"/>
    </a:accent2>
    <a:accent3>
      <a:srgbClr val="FFFFFF"/>
    </a:accent3>
    <a:accent4>
      <a:srgbClr val="000000"/>
    </a:accent4>
    <a:accent5>
      <a:srgbClr val="CAE2E2"/>
    </a:accent5>
    <a:accent6>
      <a:srgbClr val="8A0000"/>
    </a:accent6>
    <a:hlink>
      <a:srgbClr val="009999"/>
    </a:hlink>
    <a:folHlink>
      <a:srgbClr val="999999"/>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F3C50B38AB01D449424B104A248DF69" ma:contentTypeVersion="0" ma:contentTypeDescription="Create a new document." ma:contentTypeScope="" ma:versionID="debba55ac4199b77f0b64cd1d5d9a0f0">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AB4BC324-7FD5-4420-BF0C-C6F63E656118}">
  <ds:schemaRefs>
    <ds:schemaRef ds:uri="http://schemas.microsoft.com/sharepoint/v3/contenttype/forms"/>
  </ds:schemaRefs>
</ds:datastoreItem>
</file>

<file path=customXml/itemProps2.xml><?xml version="1.0" encoding="utf-8"?>
<ds:datastoreItem xmlns:ds="http://schemas.openxmlformats.org/officeDocument/2006/customXml" ds:itemID="{5AA6D748-4C02-4FB7-85F7-8D0E36E0973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7839A78C-B19C-4531-8643-1806AAE3E6D9}">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技术培训胶片＋注释中文模板V1.4(for office2007 20110106)</Template>
  <TotalTime>10072</TotalTime>
  <Words>12082</Words>
  <Application>Microsoft Office PowerPoint</Application>
  <PresentationFormat>全屏显示(4:3)</PresentationFormat>
  <Paragraphs>1323</Paragraphs>
  <Slides>128</Slides>
  <Notes>91</Notes>
  <HiddenSlides>1</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2</vt:i4>
      </vt:variant>
      <vt:variant>
        <vt:lpstr>幻灯片标题</vt:lpstr>
      </vt:variant>
      <vt:variant>
        <vt:i4>128</vt:i4>
      </vt:variant>
    </vt:vector>
  </HeadingPairs>
  <TitlesOfParts>
    <vt:vector size="143" baseType="lpstr">
      <vt:lpstr>Monotype Sorts</vt:lpstr>
      <vt:lpstr>ＭＳ Ｐゴシック</vt:lpstr>
      <vt:lpstr>黑体</vt:lpstr>
      <vt:lpstr>华文细黑</vt:lpstr>
      <vt:lpstr>宋体</vt:lpstr>
      <vt:lpstr>Arial</vt:lpstr>
      <vt:lpstr>FrutigerNext LT Bold</vt:lpstr>
      <vt:lpstr>FrutigerNext LT Medium</vt:lpstr>
      <vt:lpstr>FrutigerNext LT Regular</vt:lpstr>
      <vt:lpstr>Times New Roman</vt:lpstr>
      <vt:lpstr>Wingdings</vt:lpstr>
      <vt:lpstr>技术培训胶片＋注释中文模板V1.4(for office2007 20110106)</vt:lpstr>
      <vt:lpstr>1_自定义设计方案</vt:lpstr>
      <vt:lpstr>Visio</vt:lpstr>
      <vt:lpstr>工作表</vt:lpstr>
      <vt:lpstr>LTE单站验证</vt:lpstr>
      <vt:lpstr>目  录</vt:lpstr>
      <vt:lpstr>概述</vt:lpstr>
      <vt:lpstr>单站验证目的</vt:lpstr>
      <vt:lpstr>单站验证流程</vt:lpstr>
      <vt:lpstr>目  录</vt:lpstr>
      <vt:lpstr>目  录</vt:lpstr>
      <vt:lpstr>常用工具</vt:lpstr>
      <vt:lpstr>测试路线规划</vt:lpstr>
      <vt:lpstr>单站点验证－测试路线的选择</vt:lpstr>
      <vt:lpstr>测试站点实例</vt:lpstr>
      <vt:lpstr>站点测试原则</vt:lpstr>
      <vt:lpstr>测试路线示意图</vt:lpstr>
      <vt:lpstr>测试方法确认</vt:lpstr>
      <vt:lpstr>测试方式</vt:lpstr>
      <vt:lpstr>测试内容</vt:lpstr>
      <vt:lpstr>配置参数核查</vt:lpstr>
      <vt:lpstr>站点状态核查</vt:lpstr>
      <vt:lpstr>其他准备</vt:lpstr>
      <vt:lpstr>测试规范</vt:lpstr>
      <vt:lpstr>目  录</vt:lpstr>
      <vt:lpstr>终端连接</vt:lpstr>
      <vt:lpstr>终端配置</vt:lpstr>
      <vt:lpstr>终端配置</vt:lpstr>
      <vt:lpstr>终端配置</vt:lpstr>
      <vt:lpstr>终端配置</vt:lpstr>
      <vt:lpstr>Probe简介</vt:lpstr>
      <vt:lpstr>GENEX Probe配置</vt:lpstr>
      <vt:lpstr>Probe软件版本确认</vt:lpstr>
      <vt:lpstr>Probe系统结构</vt:lpstr>
      <vt:lpstr>连接外部设备</vt:lpstr>
      <vt:lpstr>Probe的应用场景</vt:lpstr>
      <vt:lpstr>Probe工作模式</vt:lpstr>
      <vt:lpstr>GENEX Probe基本工作流程</vt:lpstr>
      <vt:lpstr>安装Probe前准备</vt:lpstr>
      <vt:lpstr>Probe主界面</vt:lpstr>
      <vt:lpstr>安装Probe操作步骤</vt:lpstr>
      <vt:lpstr>连接硬件狗至PC</vt:lpstr>
      <vt:lpstr>PowerPoint 演示文稿</vt:lpstr>
      <vt:lpstr>UE连接</vt:lpstr>
      <vt:lpstr>UE连接</vt:lpstr>
      <vt:lpstr>UE连接</vt:lpstr>
      <vt:lpstr>UE连接</vt:lpstr>
      <vt:lpstr>UE连接</vt:lpstr>
      <vt:lpstr>UE连接</vt:lpstr>
      <vt:lpstr>UE连接</vt:lpstr>
      <vt:lpstr>GPS连接</vt:lpstr>
      <vt:lpstr>GPS连接</vt:lpstr>
      <vt:lpstr>目  录</vt:lpstr>
      <vt:lpstr>导入工程参数</vt:lpstr>
      <vt:lpstr>导入工程参数: 步骤1</vt:lpstr>
      <vt:lpstr>PowerPoint 演示文稿</vt:lpstr>
      <vt:lpstr>PowerPoint 演示文稿</vt:lpstr>
      <vt:lpstr>导入工程参数: 步骤4</vt:lpstr>
      <vt:lpstr>PowerPoint 演示文稿</vt:lpstr>
      <vt:lpstr>导入地图:步骤1</vt:lpstr>
      <vt:lpstr>PowerPoint 演示文稿</vt:lpstr>
      <vt:lpstr>PowerPoint 演示文稿</vt:lpstr>
      <vt:lpstr>目  录</vt:lpstr>
      <vt:lpstr>目  录</vt:lpstr>
      <vt:lpstr>配置测试计划</vt:lpstr>
      <vt:lpstr>覆盖测试</vt:lpstr>
      <vt:lpstr>覆盖测试（续）</vt:lpstr>
      <vt:lpstr>现网测试案例-RSRP</vt:lpstr>
      <vt:lpstr>现网测试案例-SINR</vt:lpstr>
      <vt:lpstr>现网测试案例-PCI</vt:lpstr>
      <vt:lpstr>开始测试: 记录Logfile</vt:lpstr>
      <vt:lpstr>回放logfile:步骤1</vt:lpstr>
      <vt:lpstr>回放logfile:步骤2</vt:lpstr>
      <vt:lpstr>Logfile回放结果</vt:lpstr>
      <vt:lpstr>案例分析</vt:lpstr>
      <vt:lpstr>案例分析（续）</vt:lpstr>
      <vt:lpstr>目  录</vt:lpstr>
      <vt:lpstr>LTE接入功能测试-验证方法</vt:lpstr>
      <vt:lpstr>LTE接入功能测试-验证准则</vt:lpstr>
      <vt:lpstr>目  录</vt:lpstr>
      <vt:lpstr>Ping时延</vt:lpstr>
      <vt:lpstr>测试计划举例(一): Ping设置</vt:lpstr>
      <vt:lpstr>测试计划举例(一): 开始测试</vt:lpstr>
      <vt:lpstr>开始测试: 在视图窗口选择项目</vt:lpstr>
      <vt:lpstr>开始测试:核查测试计划的运行状态</vt:lpstr>
      <vt:lpstr>LTE Ping业务功能测试-测试准则</vt:lpstr>
      <vt:lpstr>测试计划举例(二):Ping</vt:lpstr>
      <vt:lpstr>示例</vt:lpstr>
      <vt:lpstr>目  录</vt:lpstr>
      <vt:lpstr>LTE TCP业务功能测试-验证准则</vt:lpstr>
      <vt:lpstr>LTE TCP业务功能测试</vt:lpstr>
      <vt:lpstr>下行定点吞吐率</vt:lpstr>
      <vt:lpstr>测试计划举例: FTP Download</vt:lpstr>
      <vt:lpstr>测试计划举例: FTP Download</vt:lpstr>
      <vt:lpstr>测试验证结果</vt:lpstr>
      <vt:lpstr>下载速率测试结果</vt:lpstr>
      <vt:lpstr>LTE TCP业务功能测试</vt:lpstr>
      <vt:lpstr>上行定点吞吐率</vt:lpstr>
      <vt:lpstr>测试计划举例: FTP Upload</vt:lpstr>
      <vt:lpstr>上传速率测试结果</vt:lpstr>
      <vt:lpstr>目  录</vt:lpstr>
      <vt:lpstr>LTE站内切换验证测试</vt:lpstr>
      <vt:lpstr>LTE站内切换验证测试</vt:lpstr>
      <vt:lpstr>目  录</vt:lpstr>
      <vt:lpstr>Iperf工具使用</vt:lpstr>
      <vt:lpstr>下行UDP灌包（从服务器向终端灌包）</vt:lpstr>
      <vt:lpstr>上行UDP灌包（从UE灌向服务器）</vt:lpstr>
      <vt:lpstr>下行TCP灌包</vt:lpstr>
      <vt:lpstr>上行TCP灌包</vt:lpstr>
      <vt:lpstr>UDP环回测试</vt:lpstr>
      <vt:lpstr>UDP环回操作方法</vt:lpstr>
      <vt:lpstr>UDP环回操作方法</vt:lpstr>
      <vt:lpstr>UDP环回测试结果查看</vt:lpstr>
      <vt:lpstr>目  录</vt:lpstr>
      <vt:lpstr>测试工具介绍-Ethereal</vt:lpstr>
      <vt:lpstr>软件启动</vt:lpstr>
      <vt:lpstr>跟踪技巧介绍</vt:lpstr>
      <vt:lpstr>跟踪技巧介绍</vt:lpstr>
      <vt:lpstr>跟踪技巧介绍</vt:lpstr>
      <vt:lpstr>软件基本使用</vt:lpstr>
      <vt:lpstr>使用技巧介绍</vt:lpstr>
      <vt:lpstr>使用技巧介绍</vt:lpstr>
      <vt:lpstr>使用技巧介绍</vt:lpstr>
      <vt:lpstr>TCP数据分析</vt:lpstr>
      <vt:lpstr>文件处理</vt:lpstr>
      <vt:lpstr>文件导出</vt:lpstr>
      <vt:lpstr>文件导出</vt:lpstr>
      <vt:lpstr>CHR日志查询</vt:lpstr>
      <vt:lpstr>CHR日志查询</vt:lpstr>
      <vt:lpstr>CHR日志查询</vt:lpstr>
      <vt:lpstr>单站测试报告模板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0</dc:title>
  <dc:creator>luoying (Catherine)</dc:creator>
  <cp:lastModifiedBy>Yangdexiang</cp:lastModifiedBy>
  <cp:revision>243</cp:revision>
  <dcterms:created xsi:type="dcterms:W3CDTF">2012-02-14T06:06:50Z</dcterms:created>
  <dcterms:modified xsi:type="dcterms:W3CDTF">2018-02-27T02:33:28Z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0x0101008F3C50B38AB01D449424B104A248DF69</vt:lpwstr>
  </property>
  <property fmtid="{D5CDD505-2E9C-101B-9397-08002B2CF9AE}" pid="3" name="_ms_pID_725343">
    <vt:lpwstr>(10)w/NQFL2PTMzrgIKxC3iyW/pvhFVseb6ZN2Cq+bqVU3dxuxXf0FIphU0pqL7Ryaym8oDsy69R_x000d_
ykfZoGiiDPG/4kO4gX5fCSn7m6ARaoimDTH5wC+ufea1YZyEV0poc7WKBqV95D73kvNNiqyj_x000d_
2+jx7Lg3Z0MekQ2NgAj1XaJhCknc29KU8F2is1I+m/LYu+NcarCs8rmGtbvJLCPIxmw1DIJB_x000d_
Rg2hxDO/hY/rLMFpoc</vt:lpwstr>
  </property>
  <property fmtid="{D5CDD505-2E9C-101B-9397-08002B2CF9AE}" pid="4" name="_ms_pID_7253431">
    <vt:lpwstr>S/Ne4fAXsfvjBRNdTAeUBRWNKn02rhmCqVDhQqkSfVXJC6GVLweenl_x000d_
y3ktodMT4n+stIJPuLqkP/WT65Bs5LMbur3zOtMtEgmKvW19d0AkQtPTieACDc80uEp3OsXF_x000d_
fuLXGFB7QkM51lXTpjKSoDMrIBUp7pw6HU5xLxzCRoNefPEoJFNvJA1SvMUlSnFOmzvpoWs0_x000d_
0fJmPXk2F99qQBZsmit2zIZNGqSWdVeAoyM6</vt:lpwstr>
  </property>
  <property fmtid="{D5CDD505-2E9C-101B-9397-08002B2CF9AE}" pid="5" name="_ms_pID_7253432">
    <vt:lpwstr>94uvsHm5lZvfoq8ZhZRH7dBxMlbZfTADjRwi_x000d_
3qlVc9++Z0mCZd6QTRGU4MNGjHLThOeOpHkWbgSAGeNGiq8y+6gV2jS/GF0ZjmO63zEZXRAt_x000d_
Dvp4F7nIbkeepHGeXUO/mvWtdGz+2t4VBDfeYo87jwvbdt1vyxGm4+osUrbhq36Nae6h01Se_x000d_
GyogNFpAMCW8Y0aIPybgrBtlnnPRKFvxVuifTwX/QCX7Uz+5mwdC++</vt:lpwstr>
  </property>
  <property fmtid="{D5CDD505-2E9C-101B-9397-08002B2CF9AE}" pid="6" name="_ms_pID_7253433">
    <vt:lpwstr>yZNP6kyQbCvIEIZDcc_x000d_
WkEqiIO1NJfJvbGlkji79EMLX5T9e/eVdF6yfDuEKm6Xqi0uePA4VbgAqya7SuWKfNGHYtOG_x000d_
ri0awn37+XZAHHlYfykxiN/9XlAqS0cyOxeP2BpoVhBd5wCFfZN4xUQpC7wqQE9Qs/IcQywn_x000d_
L0getq/sxmq2+fOAoVKAHwulhPPqLiX0+mM919S0lW/GnFFb0Bs3D79cKsqmZ2mmUgUi+Ddu</vt:lpwstr>
  </property>
  <property fmtid="{D5CDD505-2E9C-101B-9397-08002B2CF9AE}" pid="7" name="_ms_pID_7253434">
    <vt:lpwstr>_x000d_
TLKQuE1Jyw2tlOQ7p6ybpoLGgCx2OfNqTrJf5gL35cwJ49CTibzt5siY44uNt8PqAQUQQGa5_x000d_
kuMZ1NtfWccMO34uJI+JJ5nM+7s9Gpw7mtM2QAMxm0c1JZ23z+EMeglQkouyYRb+iIXJRgwX_x000d_
yxXWSTUZNOSHtMjXIe3DUqw9BnkcsemQc0DQ3L941iFWNS+x1YRlEBYtN/cEQa1KOAFGa2Z5_x000d_
3BAs/RIVwg90+blo</vt:lpwstr>
  </property>
  <property fmtid="{D5CDD505-2E9C-101B-9397-08002B2CF9AE}" pid="8" name="_ms_pID_7253435">
    <vt:lpwstr>y2FS2Uqz7QGtjvzcHJLRRN3Yd0g+ttUPM/R26VbOjebjfCQQ4THRYO1s_x000d_
fpv65ZyB7yE2LxaUUFgZ8E57qAyhlKMRz9MKLVQXDfZ6H98AnI+ol8aHXWCyhUupX5ZZdYi8_x000d_
NOy3Gh6iFquxoJ6wecezp1XdvzUZmj87E39fVpjUfGNFzpSzTYpj7E8jj5P9Qb7NyBLVdTmd_x000d_
HdT44xXs2bpB2EwliQITSAzSsaGTbex7yK</vt:lpwstr>
  </property>
  <property fmtid="{D5CDD505-2E9C-101B-9397-08002B2CF9AE}" pid="9" name="_ms_pID_7253436">
    <vt:lpwstr>uUFbhc+R+ywlxY+WzaCceNdwnoYSRTIxV72w9B_x000d_
grup0Ati/IJ9hbQmh9eJRsPo7R8QpBdBnzQYkxfl2pWQImhfm9SOWCmhml6MEEQ9G0SgGTBL_x000d_
yJLqyZWl7e1CVbLibEXVC+wHVHk1sdgPYCjc9FrXahWjCEr4R3cq5R2gVe85ZETpJCOlKhWt_x000d_
cVp7YOQmikSSS9m7qc64+k5mF2RfxLMJ8ijmcwxTpgBDso6dLgSJ</vt:lpwstr>
  </property>
  <property fmtid="{D5CDD505-2E9C-101B-9397-08002B2CF9AE}" pid="10" name="_ms_pID_7253437">
    <vt:lpwstr>/iPK43e7cTV3lH/ZxkuB_x000d_
mUKZ2Mg4hnb/vc5+p3yHurWrv3m/w/kY+7z732EvTbX/sXszV82kLan+LOudwg/+cmSE0NmO_x000d_
ZMH0lOSkPbX0SLuA39cIw0rxcBuMbUuYVCnLQ4+KVuz6lRw2LyAmpAA4Ou1B8zvYMOX9gz+x_x000d_
sL7cb4sB9njJNAO55JmisbeqYQc6I5Y5tUC5ePYAaPVR3BXY7zhJrtJC+ZGpZuwCnTL7j6</vt:lpwstr>
  </property>
  <property fmtid="{D5CDD505-2E9C-101B-9397-08002B2CF9AE}" pid="11" name="_ms_pID_7253438">
    <vt:lpwstr>VC_x000d_
8t+FgMufinNSo2Jj6uxLr5dZgoB5e4DaHJLlybTyeQQIPug9UJeN0lbkcX2cwkO8ETcKWyEu_x000d_
2+J/39oYWstrn3Wz/aV5QbdTQjuENTjSlL7k3Kevrc0LXIRwzU9bitbrbpR7D70lpuQATJWY_x000d_
hj48r8Oix0L5Ne62ssIAtwojhgO2Ao9NksBxjp1b2P1IZEmVdWnvEPEeufJ9BsG/KH3FUGsR_x000d_
jia3RjcT5ZMDvP</vt:lpwstr>
  </property>
  <property fmtid="{D5CDD505-2E9C-101B-9397-08002B2CF9AE}" pid="12" name="_ms_pID_7253439">
    <vt:lpwstr>IrGtshes/3jHRROkrKpa49HS8qVNp2oQ==</vt:lpwstr>
  </property>
  <property fmtid="{D5CDD505-2E9C-101B-9397-08002B2CF9AE}" pid="13" name="_2015_ms_pID_725343">
    <vt:lpwstr>(3)t9zBGZhJ5SV1yRYyxAkTxTgsonpyAwNZwEZe17La73dzEPxGEhe5Duw+K5EO+bRiBNtSYYpG
2iL85mpsWV4Z/yY1oO8SPlF0OqvyQeUMJvEA32waYuG8un3UjbLMHlMzUFxUQaAusRR4YXvp
jtv9bOlovbWJshlN7PsfpJCgGzc4vkwUO2zA/DTcTnnJoma1eVLmTEqVhAuu22Wx0FNV3iY3
JWGUFZuSH2d36I+aGC</vt:lpwstr>
  </property>
  <property fmtid="{D5CDD505-2E9C-101B-9397-08002B2CF9AE}" pid="14" name="_2015_ms_pID_7253431">
    <vt:lpwstr>twflvn6WrjDDXHCuYcCGqUx9IYetNWS76B6L/mnFPoajRa5jSpX18f
hzrEWpGqBDF6W+UpaWiyKEarTWrqU2ouzxAnp25/cqSo1n+2RcIr6JUJaxMkD5IsRbvfEPTZ
NtUZ4fmcf9wIYDTVHrR6QHdwi+KhE4VIm53koMFi0adXlhbswrOrjZ9RMY3v8uxlYcPARKaa
cjvwhRzk74Lex2ODTqxs/autI/OfPdwjyc17</vt:lpwstr>
  </property>
  <property fmtid="{D5CDD505-2E9C-101B-9397-08002B2CF9AE}" pid="15" name="_2015_ms_pID_7253432">
    <vt:lpwstr>wXyePzp1nZvkwAoql3bfnu8=</vt:lpwstr>
  </property>
  <property fmtid="{D5CDD505-2E9C-101B-9397-08002B2CF9AE}" pid="16" name="_readonly">
    <vt:lpwstr/>
  </property>
  <property fmtid="{D5CDD505-2E9C-101B-9397-08002B2CF9AE}" pid="17" name="_change">
    <vt:lpwstr/>
  </property>
  <property fmtid="{D5CDD505-2E9C-101B-9397-08002B2CF9AE}" pid="18" name="_full-control">
    <vt:lpwstr/>
  </property>
  <property fmtid="{D5CDD505-2E9C-101B-9397-08002B2CF9AE}" pid="19" name="sflag">
    <vt:lpwstr>1519698712</vt:lpwstr>
  </property>
</Properties>
</file>