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4" r:id="rId2"/>
    <p:sldId id="263" r:id="rId3"/>
    <p:sldId id="267" r:id="rId4"/>
    <p:sldId id="265" r:id="rId5"/>
    <p:sldId id="266" r:id="rId6"/>
    <p:sldId id="298" r:id="rId7"/>
    <p:sldId id="312" r:id="rId8"/>
    <p:sldId id="300" r:id="rId9"/>
    <p:sldId id="299" r:id="rId10"/>
    <p:sldId id="301" r:id="rId11"/>
    <p:sldId id="302" r:id="rId12"/>
    <p:sldId id="303" r:id="rId13"/>
    <p:sldId id="304" r:id="rId14"/>
    <p:sldId id="305" r:id="rId15"/>
    <p:sldId id="306" r:id="rId16"/>
    <p:sldId id="307" r:id="rId17"/>
    <p:sldId id="308" r:id="rId18"/>
    <p:sldId id="309" r:id="rId19"/>
    <p:sldId id="310" r:id="rId20"/>
    <p:sldId id="311" r:id="rId21"/>
    <p:sldId id="279" r:id="rId22"/>
    <p:sldId id="262" r:id="rId23"/>
  </p:sldIdLst>
  <p:sldSz cx="10260013" cy="53959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700">
          <p15:clr>
            <a:srgbClr val="A4A3A4"/>
          </p15:clr>
        </p15:guide>
        <p15:guide id="2" pos="323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倩倩" initials="Wq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5AC4F1"/>
    <a:srgbClr val="F2F2F2"/>
    <a:srgbClr val="7DCDFF"/>
    <a:srgbClr val="9BD9FF"/>
    <a:srgbClr val="8AE1F2"/>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13" autoAdjust="0"/>
    <p:restoredTop sz="94660"/>
  </p:normalViewPr>
  <p:slideViewPr>
    <p:cSldViewPr>
      <p:cViewPr>
        <p:scale>
          <a:sx n="95" d="100"/>
          <a:sy n="95" d="100"/>
        </p:scale>
        <p:origin x="-523" y="-168"/>
      </p:cViewPr>
      <p:guideLst>
        <p:guide orient="horz" pos="1700"/>
        <p:guide pos="3231"/>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0FEC91-376F-4B3F-A168-65C97BFAF660}" type="datetimeFigureOut">
              <a:rPr lang="zh-CN" altLang="en-US" smtClean="0"/>
              <a:pPr/>
              <a:t>2022-3-3</a:t>
            </a:fld>
            <a:endParaRPr lang="zh-CN" altLang="en-US"/>
          </a:p>
        </p:txBody>
      </p:sp>
      <p:sp>
        <p:nvSpPr>
          <p:cNvPr id="4" name="幻灯片图像占位符 3"/>
          <p:cNvSpPr>
            <a:spLocks noGrp="1" noRot="1" noChangeAspect="1"/>
          </p:cNvSpPr>
          <p:nvPr>
            <p:ph type="sldImg" idx="2"/>
          </p:nvPr>
        </p:nvSpPr>
        <p:spPr>
          <a:xfrm>
            <a:off x="169863" y="685800"/>
            <a:ext cx="651827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528F52-921D-4B5E-90E1-89DF6F6F587D}" type="slidenum">
              <a:rPr lang="zh-CN" altLang="en-US" smtClean="0"/>
              <a:pPr/>
              <a:t>‹#›</a:t>
            </a:fld>
            <a:endParaRPr lang="zh-CN" altLang="en-US"/>
          </a:p>
        </p:txBody>
      </p:sp>
    </p:spTree>
    <p:extLst>
      <p:ext uri="{BB962C8B-B14F-4D97-AF65-F5344CB8AC3E}">
        <p14:creationId xmlns="" xmlns:p14="http://schemas.microsoft.com/office/powerpoint/2010/main" val="364321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pic>
        <p:nvPicPr>
          <p:cNvPr id="5" name="图片 4">
            <a:extLst>
              <a:ext uri="{FF2B5EF4-FFF2-40B4-BE49-F238E27FC236}">
                <a16:creationId xmlns="" xmlns:a16="http://schemas.microsoft.com/office/drawing/2014/main" id="{F4FF4D38-1970-48B1-BFB1-C89773A79131}"/>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8442374" y="5090761"/>
            <a:ext cx="1679056" cy="202339"/>
          </a:xfrm>
          <a:prstGeom prst="rect">
            <a:avLst/>
          </a:prstGeom>
        </p:spPr>
      </p:pic>
      <p:sp>
        <p:nvSpPr>
          <p:cNvPr id="6" name="文本框 5">
            <a:extLst>
              <a:ext uri="{FF2B5EF4-FFF2-40B4-BE49-F238E27FC236}">
                <a16:creationId xmlns="" xmlns:a16="http://schemas.microsoft.com/office/drawing/2014/main" id="{4C46F4C3-B2F3-4568-9273-A555114041E8}"/>
              </a:ext>
            </a:extLst>
          </p:cNvPr>
          <p:cNvSpPr txBox="1"/>
          <p:nvPr userDrawn="1"/>
        </p:nvSpPr>
        <p:spPr>
          <a:xfrm>
            <a:off x="89446" y="5090761"/>
            <a:ext cx="1334020" cy="246221"/>
          </a:xfrm>
          <a:prstGeom prst="rect">
            <a:avLst/>
          </a:prstGeom>
          <a:noFill/>
        </p:spPr>
        <p:txBody>
          <a:bodyPr wrap="none" rtlCol="0">
            <a:spAutoFit/>
          </a:bodyPr>
          <a:lstStyle/>
          <a:p>
            <a:r>
              <a:rPr lang="zh-CN" altLang="en-US" sz="1000" dirty="0">
                <a:latin typeface="微软雅黑 Light" panose="020B0502040204020203" pitchFamily="34" charset="-122"/>
                <a:ea typeface="微软雅黑 Light" panose="020B0502040204020203" pitchFamily="34" charset="-122"/>
              </a:rPr>
              <a:t>▲</a:t>
            </a:r>
            <a:r>
              <a:rPr lang="zh-CN" altLang="en-US" sz="900" dirty="0">
                <a:latin typeface="微软雅黑 Light" panose="020B0502040204020203" pitchFamily="34" charset="-122"/>
                <a:ea typeface="微软雅黑 Light" panose="020B0502040204020203" pitchFamily="34" charset="-122"/>
              </a:rPr>
              <a:t>版权归经世教育所有</a:t>
            </a:r>
          </a:p>
        </p:txBody>
      </p:sp>
      <p:pic>
        <p:nvPicPr>
          <p:cNvPr id="4" name="图片 3" descr="水印.png"/>
          <p:cNvPicPr>
            <a:picLocks noChangeAspect="1" noChangeArrowheads="1"/>
          </p:cNvPicPr>
          <p:nvPr userDrawn="1"/>
        </p:nvPicPr>
        <p:blipFill>
          <a:blip r:embed="rId3" cstate="print"/>
          <a:srcRect/>
          <a:stretch>
            <a:fillRect/>
          </a:stretch>
        </p:blipFill>
        <p:spPr bwMode="auto">
          <a:xfrm>
            <a:off x="8154342" y="201515"/>
            <a:ext cx="1814051" cy="452990"/>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5" r:id="rId2"/>
  </p:sldLayoutIdLst>
  <p:txStyles>
    <p:titleStyle>
      <a:lvl1pPr algn="ctr" defTabSz="719455" rtl="0" eaLnBrk="1" latinLnBrk="0" hangingPunct="1">
        <a:spcBef>
          <a:spcPct val="0"/>
        </a:spcBef>
        <a:buNone/>
        <a:defRPr sz="2800" b="0" kern="1200">
          <a:solidFill>
            <a:schemeClr val="tx1"/>
          </a:solidFill>
          <a:latin typeface="新宋体" panose="02010609030101010101" pitchFamily="49" charset="-122"/>
          <a:ea typeface="新宋体" panose="02010609030101010101" pitchFamily="49" charset="-122"/>
          <a:cs typeface="+mj-cs"/>
        </a:defRPr>
      </a:lvl1pPr>
    </p:titleStyle>
    <p:bodyStyle>
      <a:lvl1pPr marL="269875" indent="-269240" algn="l" defTabSz="719455" rtl="0" eaLnBrk="1" latinLnBrk="0" hangingPunct="1">
        <a:spcBef>
          <a:spcPts val="75"/>
        </a:spcBef>
        <a:buFont typeface="Arial" pitchFamily="34" charset="0"/>
        <a:buChar char="•"/>
        <a:defRPr sz="2520" kern="1200">
          <a:solidFill>
            <a:schemeClr val="tx1"/>
          </a:solidFill>
          <a:latin typeface="+mn-lt"/>
          <a:ea typeface="+mn-ea"/>
          <a:cs typeface="+mn-cs"/>
        </a:defRPr>
      </a:lvl1pPr>
      <a:lvl2pPr marL="584835" indent="-224155" algn="l" defTabSz="719455" rtl="0" eaLnBrk="1" latinLnBrk="0" hangingPunct="1">
        <a:spcBef>
          <a:spcPts val="75"/>
        </a:spcBef>
        <a:buFont typeface="Arial" pitchFamily="34" charset="0"/>
        <a:buChar char="–"/>
        <a:defRPr sz="2205" kern="1200">
          <a:solidFill>
            <a:schemeClr val="tx1"/>
          </a:solidFill>
          <a:latin typeface="+mn-lt"/>
          <a:ea typeface="+mn-ea"/>
          <a:cs typeface="+mn-cs"/>
        </a:defRPr>
      </a:lvl2pPr>
      <a:lvl3pPr marL="899160" indent="-179070" algn="l" defTabSz="719455" rtl="0" eaLnBrk="1" latinLnBrk="0" hangingPunct="1">
        <a:spcBef>
          <a:spcPts val="75"/>
        </a:spcBef>
        <a:buFont typeface="Arial" pitchFamily="34" charset="0"/>
        <a:buChar char="•"/>
        <a:defRPr sz="1890" kern="1200">
          <a:solidFill>
            <a:schemeClr val="tx1"/>
          </a:solidFill>
          <a:latin typeface="+mn-lt"/>
          <a:ea typeface="+mn-ea"/>
          <a:cs typeface="+mn-cs"/>
        </a:defRPr>
      </a:lvl3pPr>
      <a:lvl4pPr marL="1259205" indent="-179070" algn="l" defTabSz="719455" rtl="0" eaLnBrk="1" latinLnBrk="0" hangingPunct="1">
        <a:spcBef>
          <a:spcPts val="75"/>
        </a:spcBef>
        <a:buFont typeface="Arial" pitchFamily="34" charset="0"/>
        <a:buChar char="–"/>
        <a:defRPr sz="1575" kern="1200">
          <a:solidFill>
            <a:schemeClr val="tx1"/>
          </a:solidFill>
          <a:latin typeface="+mn-lt"/>
          <a:ea typeface="+mn-ea"/>
          <a:cs typeface="+mn-cs"/>
        </a:defRPr>
      </a:lvl4pPr>
      <a:lvl5pPr marL="1618615" indent="-179070" algn="l" defTabSz="719455" rtl="0" eaLnBrk="1" latinLnBrk="0" hangingPunct="1">
        <a:spcBef>
          <a:spcPts val="75"/>
        </a:spcBef>
        <a:buFont typeface="Arial" pitchFamily="34" charset="0"/>
        <a:buChar char="»"/>
        <a:defRPr sz="1575" kern="1200">
          <a:solidFill>
            <a:schemeClr val="tx1"/>
          </a:solidFill>
          <a:latin typeface="+mn-lt"/>
          <a:ea typeface="+mn-ea"/>
          <a:cs typeface="+mn-cs"/>
        </a:defRPr>
      </a:lvl5pPr>
      <a:lvl6pPr marL="1978660" indent="-179070" algn="l" defTabSz="719455" rtl="0" eaLnBrk="1" latinLnBrk="0" hangingPunct="1">
        <a:spcBef>
          <a:spcPts val="75"/>
        </a:spcBef>
        <a:buFont typeface="Arial" pitchFamily="34" charset="0"/>
        <a:buChar char="•"/>
        <a:defRPr sz="1575" kern="1200">
          <a:solidFill>
            <a:schemeClr val="tx1"/>
          </a:solidFill>
          <a:latin typeface="+mn-lt"/>
          <a:ea typeface="+mn-ea"/>
          <a:cs typeface="+mn-cs"/>
        </a:defRPr>
      </a:lvl6pPr>
      <a:lvl7pPr marL="2338705" indent="-179070" algn="l" defTabSz="719455" rtl="0" eaLnBrk="1" latinLnBrk="0" hangingPunct="1">
        <a:spcBef>
          <a:spcPts val="75"/>
        </a:spcBef>
        <a:buFont typeface="Arial" pitchFamily="34" charset="0"/>
        <a:buChar char="•"/>
        <a:defRPr sz="1575" kern="1200">
          <a:solidFill>
            <a:schemeClr val="tx1"/>
          </a:solidFill>
          <a:latin typeface="+mn-lt"/>
          <a:ea typeface="+mn-ea"/>
          <a:cs typeface="+mn-cs"/>
        </a:defRPr>
      </a:lvl7pPr>
      <a:lvl8pPr marL="2698115" indent="-179070" algn="l" defTabSz="719455" rtl="0" eaLnBrk="1" latinLnBrk="0" hangingPunct="1">
        <a:spcBef>
          <a:spcPts val="75"/>
        </a:spcBef>
        <a:buFont typeface="Arial" pitchFamily="34" charset="0"/>
        <a:buChar char="•"/>
        <a:defRPr sz="1575" kern="1200">
          <a:solidFill>
            <a:schemeClr val="tx1"/>
          </a:solidFill>
          <a:latin typeface="+mn-lt"/>
          <a:ea typeface="+mn-ea"/>
          <a:cs typeface="+mn-cs"/>
        </a:defRPr>
      </a:lvl8pPr>
      <a:lvl9pPr marL="3058160" indent="-179070" algn="l" defTabSz="719455" rtl="0" eaLnBrk="1" latinLnBrk="0" hangingPunct="1">
        <a:spcBef>
          <a:spcPts val="75"/>
        </a:spcBef>
        <a:buFont typeface="Arial" pitchFamily="34" charset="0"/>
        <a:buChar char="•"/>
        <a:defRPr sz="1575" kern="1200">
          <a:solidFill>
            <a:schemeClr val="tx1"/>
          </a:solidFill>
          <a:latin typeface="+mn-lt"/>
          <a:ea typeface="+mn-ea"/>
          <a:cs typeface="+mn-cs"/>
        </a:defRPr>
      </a:lvl9pPr>
    </p:bodyStyle>
    <p:otherStyle>
      <a:defPPr>
        <a:defRPr lang="zh-CN"/>
      </a:defPPr>
      <a:lvl1pPr marL="0" algn="l" defTabSz="719455" rtl="0" eaLnBrk="1" latinLnBrk="0" hangingPunct="1">
        <a:defRPr sz="1415" kern="1200">
          <a:solidFill>
            <a:schemeClr val="tx1"/>
          </a:solidFill>
          <a:latin typeface="+mn-lt"/>
          <a:ea typeface="+mn-ea"/>
          <a:cs typeface="+mn-cs"/>
        </a:defRPr>
      </a:lvl1pPr>
      <a:lvl2pPr marL="360045" algn="l" defTabSz="719455" rtl="0" eaLnBrk="1" latinLnBrk="0" hangingPunct="1">
        <a:defRPr sz="1415" kern="1200">
          <a:solidFill>
            <a:schemeClr val="tx1"/>
          </a:solidFill>
          <a:latin typeface="+mn-lt"/>
          <a:ea typeface="+mn-ea"/>
          <a:cs typeface="+mn-cs"/>
        </a:defRPr>
      </a:lvl2pPr>
      <a:lvl3pPr marL="719455" algn="l" defTabSz="719455" rtl="0" eaLnBrk="1" latinLnBrk="0" hangingPunct="1">
        <a:defRPr sz="1415" kern="1200">
          <a:solidFill>
            <a:schemeClr val="tx1"/>
          </a:solidFill>
          <a:latin typeface="+mn-lt"/>
          <a:ea typeface="+mn-ea"/>
          <a:cs typeface="+mn-cs"/>
        </a:defRPr>
      </a:lvl3pPr>
      <a:lvl4pPr marL="1079500" algn="l" defTabSz="719455" rtl="0" eaLnBrk="1" latinLnBrk="0" hangingPunct="1">
        <a:defRPr sz="1415" kern="1200">
          <a:solidFill>
            <a:schemeClr val="tx1"/>
          </a:solidFill>
          <a:latin typeface="+mn-lt"/>
          <a:ea typeface="+mn-ea"/>
          <a:cs typeface="+mn-cs"/>
        </a:defRPr>
      </a:lvl4pPr>
      <a:lvl5pPr marL="1438910" algn="l" defTabSz="719455" rtl="0" eaLnBrk="1" latinLnBrk="0" hangingPunct="1">
        <a:defRPr sz="1415" kern="1200">
          <a:solidFill>
            <a:schemeClr val="tx1"/>
          </a:solidFill>
          <a:latin typeface="+mn-lt"/>
          <a:ea typeface="+mn-ea"/>
          <a:cs typeface="+mn-cs"/>
        </a:defRPr>
      </a:lvl5pPr>
      <a:lvl6pPr marL="1798955" algn="l" defTabSz="719455" rtl="0" eaLnBrk="1" latinLnBrk="0" hangingPunct="1">
        <a:defRPr sz="1415" kern="1200">
          <a:solidFill>
            <a:schemeClr val="tx1"/>
          </a:solidFill>
          <a:latin typeface="+mn-lt"/>
          <a:ea typeface="+mn-ea"/>
          <a:cs typeface="+mn-cs"/>
        </a:defRPr>
      </a:lvl6pPr>
      <a:lvl7pPr marL="2158365" algn="l" defTabSz="719455" rtl="0" eaLnBrk="1" latinLnBrk="0" hangingPunct="1">
        <a:defRPr sz="1415" kern="1200">
          <a:solidFill>
            <a:schemeClr val="tx1"/>
          </a:solidFill>
          <a:latin typeface="+mn-lt"/>
          <a:ea typeface="+mn-ea"/>
          <a:cs typeface="+mn-cs"/>
        </a:defRPr>
      </a:lvl7pPr>
      <a:lvl8pPr marL="2518410" algn="l" defTabSz="719455" rtl="0" eaLnBrk="1" latinLnBrk="0" hangingPunct="1">
        <a:defRPr sz="1415" kern="1200">
          <a:solidFill>
            <a:schemeClr val="tx1"/>
          </a:solidFill>
          <a:latin typeface="+mn-lt"/>
          <a:ea typeface="+mn-ea"/>
          <a:cs typeface="+mn-cs"/>
        </a:defRPr>
      </a:lvl8pPr>
      <a:lvl9pPr marL="2877820" algn="l" defTabSz="719455" rtl="0" eaLnBrk="1" latinLnBrk="0" hangingPunct="1">
        <a:defRPr sz="14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257041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20">
            <a:extLst>
              <a:ext uri="{FF2B5EF4-FFF2-40B4-BE49-F238E27FC236}">
                <a16:creationId xmlns="" xmlns:a16="http://schemas.microsoft.com/office/drawing/2014/main" id="{FA456F78-6A79-42B0-A38E-74312BC36333}"/>
              </a:ext>
            </a:extLst>
          </p:cNvPr>
          <p:cNvSpPr/>
          <p:nvPr/>
        </p:nvSpPr>
        <p:spPr>
          <a:xfrm>
            <a:off x="2367278" y="1728806"/>
            <a:ext cx="5488305" cy="1372621"/>
          </a:xfrm>
          <a:prstGeom prst="roundRect">
            <a:avLst>
              <a:gd name="adj" fmla="val 6740"/>
            </a:avLst>
          </a:prstGeom>
          <a:noFill/>
          <a:ln w="6350">
            <a:solidFill>
              <a:schemeClr val="bg1">
                <a:lumMod val="65000"/>
              </a:schemeClr>
            </a:solidFill>
          </a:ln>
          <a:extLst>
            <a:ext uri="{909E8E84-426E-40DD-AFC4-6F175D3DCCD1}">
              <a14:hiddenFill xmlns=""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7">
            <a:extLst>
              <a:ext uri="{FF2B5EF4-FFF2-40B4-BE49-F238E27FC236}">
                <a16:creationId xmlns="" xmlns:a16="http://schemas.microsoft.com/office/drawing/2014/main" id="{09F71133-92FC-4C5B-91AA-3072C0D91C61}"/>
              </a:ext>
            </a:extLst>
          </p:cNvPr>
          <p:cNvSpPr/>
          <p:nvPr/>
        </p:nvSpPr>
        <p:spPr>
          <a:xfrm>
            <a:off x="2869699" y="1517375"/>
            <a:ext cx="4392295" cy="432435"/>
          </a:xfrm>
          <a:prstGeom prst="round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 xmlns:a16="http://schemas.microsoft.com/office/drawing/2014/main" id="{6B1C8DC1-8156-42F6-8C16-1F596B0C5E06}"/>
              </a:ext>
            </a:extLst>
          </p:cNvPr>
          <p:cNvSpPr txBox="1"/>
          <p:nvPr/>
        </p:nvSpPr>
        <p:spPr>
          <a:xfrm>
            <a:off x="3019559" y="1565000"/>
            <a:ext cx="3915410" cy="306705"/>
          </a:xfrm>
          <a:prstGeom prst="rect">
            <a:avLst/>
          </a:prstGeom>
          <a:noFill/>
        </p:spPr>
        <p:txBody>
          <a:bodyPr wrap="square" rtlCol="0">
            <a:spAutoFit/>
          </a:bodyPr>
          <a:lstStyle/>
          <a:p>
            <a:pPr algn="dist"/>
            <a:r>
              <a:rPr kumimoji="1" lang="en-US" altLang="zh-CN" sz="1400" dirty="0">
                <a:solidFill>
                  <a:schemeClr val="bg1"/>
                </a:solidFill>
                <a:latin typeface="微软雅黑" panose="020B0503020204020204" charset="-122"/>
                <a:ea typeface="微软雅黑" panose="020B0503020204020204" charset="-122"/>
                <a:cs typeface="微软雅黑" panose="020B0503020204020204" charset="-122"/>
              </a:rPr>
              <a:t>LTE</a:t>
            </a:r>
            <a:r>
              <a:rPr kumimoji="1" lang="en-US" altLang="zh-CN" sz="1400" dirty="0" smtClean="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schemeClr val="bg1"/>
                </a:solidFill>
                <a:latin typeface="微软雅黑" panose="020B0503020204020204" charset="-122"/>
                <a:ea typeface="微软雅黑" panose="020B0503020204020204" charset="-122"/>
                <a:cs typeface="微软雅黑" panose="020B0503020204020204" charset="-122"/>
              </a:rPr>
              <a:t>无</a:t>
            </a:r>
            <a:r>
              <a:rPr kumimoji="1" lang="en-US" altLang="zh-CN" sz="1400" dirty="0" smtClean="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schemeClr val="bg1"/>
                </a:solidFill>
                <a:latin typeface="微软雅黑" panose="020B0503020204020204" charset="-122"/>
                <a:ea typeface="微软雅黑" panose="020B0503020204020204" charset="-122"/>
                <a:cs typeface="微软雅黑" panose="020B0503020204020204" charset="-122"/>
              </a:rPr>
              <a:t>线</a:t>
            </a:r>
            <a:r>
              <a:rPr kumimoji="1" lang="en-US" altLang="zh-CN" sz="1400" dirty="0" smtClean="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schemeClr val="bg1"/>
                </a:solidFill>
                <a:latin typeface="微软雅黑" panose="020B0503020204020204" charset="-122"/>
                <a:ea typeface="微软雅黑" panose="020B0503020204020204" charset="-122"/>
                <a:cs typeface="微软雅黑" panose="020B0503020204020204" charset="-122"/>
              </a:rPr>
              <a:t>网</a:t>
            </a:r>
            <a:r>
              <a:rPr kumimoji="1" lang="en-US" altLang="zh-CN" sz="1400" dirty="0" smtClean="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400" dirty="0">
                <a:solidFill>
                  <a:schemeClr val="bg1"/>
                </a:solidFill>
                <a:latin typeface="微软雅黑" panose="020B0503020204020204" charset="-122"/>
                <a:ea typeface="微软雅黑" panose="020B0503020204020204" charset="-122"/>
                <a:cs typeface="微软雅黑" panose="020B0503020204020204" charset="-122"/>
              </a:rPr>
              <a:t>络</a:t>
            </a:r>
            <a:r>
              <a:rPr kumimoji="1" lang="en-US" altLang="zh-CN" sz="1400" dirty="0" smtClean="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schemeClr val="bg1"/>
                </a:solidFill>
                <a:latin typeface="微软雅黑" panose="020B0503020204020204" charset="-122"/>
                <a:ea typeface="微软雅黑" panose="020B0503020204020204" charset="-122"/>
                <a:cs typeface="微软雅黑" panose="020B0503020204020204" charset="-122"/>
              </a:rPr>
              <a:t>优</a:t>
            </a:r>
            <a:r>
              <a:rPr kumimoji="1" lang="en-US" altLang="zh-CN" sz="1400" dirty="0" smtClean="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1400" dirty="0" smtClean="0">
                <a:solidFill>
                  <a:schemeClr val="bg1"/>
                </a:solidFill>
                <a:latin typeface="微软雅黑" panose="020B0503020204020204" charset="-122"/>
                <a:ea typeface="微软雅黑" panose="020B0503020204020204" charset="-122"/>
                <a:cs typeface="微软雅黑" panose="020B0503020204020204" charset="-122"/>
              </a:rPr>
              <a:t>化</a:t>
            </a:r>
            <a:endParaRPr kumimoji="1"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a:extLst>
              <a:ext uri="{FF2B5EF4-FFF2-40B4-BE49-F238E27FC236}">
                <a16:creationId xmlns="" xmlns:a16="http://schemas.microsoft.com/office/drawing/2014/main" id="{83DFFA35-D1A6-4066-A271-60FE1D868DAD}"/>
              </a:ext>
            </a:extLst>
          </p:cNvPr>
          <p:cNvSpPr txBox="1"/>
          <p:nvPr/>
        </p:nvSpPr>
        <p:spPr>
          <a:xfrm>
            <a:off x="2792547" y="2193900"/>
            <a:ext cx="4546600" cy="609398"/>
          </a:xfrm>
          <a:prstGeom prst="rect">
            <a:avLst/>
          </a:prstGeom>
          <a:noFill/>
        </p:spPr>
        <p:txBody>
          <a:bodyPr wrap="square" rtlCol="0">
            <a:spAutoFit/>
          </a:bodyPr>
          <a:lstStyle/>
          <a:p>
            <a:pPr algn="dist">
              <a:lnSpc>
                <a:spcPct val="120000"/>
              </a:lnSpc>
            </a:pPr>
            <a:r>
              <a:rPr kumimoji="1" lang="zh-CN" altLang="en-US" sz="2800" b="1" dirty="0" smtClean="0">
                <a:latin typeface="微软雅黑" panose="020B0503020204020204" charset="-122"/>
                <a:ea typeface="微软雅黑" panose="020B0503020204020204" charset="-122"/>
                <a:cs typeface="微软雅黑" panose="020B0503020204020204" charset="-122"/>
              </a:rPr>
              <a:t>项目四 </a:t>
            </a:r>
            <a:r>
              <a:rPr kumimoji="1" lang="en-US" altLang="zh-CN" sz="2800" b="1" dirty="0" smtClean="0">
                <a:latin typeface="微软雅黑" panose="020B0503020204020204" charset="-122"/>
                <a:ea typeface="微软雅黑" panose="020B0503020204020204" charset="-122"/>
                <a:cs typeface="微软雅黑" panose="020B0503020204020204" charset="-122"/>
              </a:rPr>
              <a:t>LTE</a:t>
            </a:r>
            <a:r>
              <a:rPr kumimoji="1" lang="zh-CN" altLang="en-US" sz="2800" b="1" dirty="0" smtClean="0">
                <a:latin typeface="微软雅黑" panose="020B0503020204020204" charset="-122"/>
                <a:ea typeface="微软雅黑" panose="020B0503020204020204" charset="-122"/>
                <a:cs typeface="微软雅黑" panose="020B0503020204020204" charset="-122"/>
              </a:rPr>
              <a:t>单站优化</a:t>
            </a:r>
            <a:endParaRPr kumimoji="1" lang="en-US" altLang="zh-CN" b="1" dirty="0">
              <a:latin typeface="微软雅黑" panose="020B0503020204020204" charset="-122"/>
              <a:ea typeface="微软雅黑" panose="020B0503020204020204" charset="-122"/>
              <a:cs typeface="微软雅黑" panose="020B0503020204020204" charset="-122"/>
            </a:endParaRPr>
          </a:p>
        </p:txBody>
      </p:sp>
      <p:sp>
        <p:nvSpPr>
          <p:cNvPr id="8" name="椭圆 7">
            <a:extLst>
              <a:ext uri="{FF2B5EF4-FFF2-40B4-BE49-F238E27FC236}">
                <a16:creationId xmlns="" xmlns:a16="http://schemas.microsoft.com/office/drawing/2014/main" id="{D2071E4C-521B-4D32-A049-73FD216703FB}"/>
              </a:ext>
            </a:extLst>
          </p:cNvPr>
          <p:cNvSpPr/>
          <p:nvPr/>
        </p:nvSpPr>
        <p:spPr>
          <a:xfrm>
            <a:off x="5796414" y="3081834"/>
            <a:ext cx="75565" cy="75565"/>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ym typeface="+mn-ea"/>
            </a:endParaRPr>
          </a:p>
        </p:txBody>
      </p:sp>
      <p:sp>
        <p:nvSpPr>
          <p:cNvPr id="9" name="椭圆 8">
            <a:extLst>
              <a:ext uri="{FF2B5EF4-FFF2-40B4-BE49-F238E27FC236}">
                <a16:creationId xmlns="" xmlns:a16="http://schemas.microsoft.com/office/drawing/2014/main" id="{A4968330-C8B2-42BC-BE3E-E6108EACC18A}"/>
              </a:ext>
            </a:extLst>
          </p:cNvPr>
          <p:cNvSpPr/>
          <p:nvPr/>
        </p:nvSpPr>
        <p:spPr>
          <a:xfrm>
            <a:off x="4272414" y="3081834"/>
            <a:ext cx="75565" cy="75565"/>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a:sym typeface="+mn-ea"/>
            </a:endParaRPr>
          </a:p>
        </p:txBody>
      </p:sp>
    </p:spTree>
    <p:extLst>
      <p:ext uri="{BB962C8B-B14F-4D97-AF65-F5344CB8AC3E}">
        <p14:creationId xmlns="" xmlns:p14="http://schemas.microsoft.com/office/powerpoint/2010/main" val="2365853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txBox="1"/>
          <p:nvPr/>
        </p:nvSpPr>
        <p:spPr>
          <a:xfrm>
            <a:off x="3858127" y="1878965"/>
            <a:ext cx="3288104" cy="336550"/>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00" b="1" dirty="0" smtClean="0">
                <a:solidFill>
                  <a:schemeClr val="tx1">
                    <a:lumMod val="65000"/>
                    <a:lumOff val="35000"/>
                  </a:schemeClr>
                </a:solidFill>
                <a:latin typeface="微软雅黑" panose="020B0503020204020204" charset="-122"/>
                <a:ea typeface="微软雅黑" panose="020B0503020204020204" charset="-122"/>
              </a:rPr>
              <a:t>LTE</a:t>
            </a:r>
            <a:r>
              <a:rPr lang="zh-CN" altLang="en-US" sz="2800" b="1" dirty="0" smtClean="0">
                <a:solidFill>
                  <a:schemeClr val="tx1">
                    <a:lumMod val="65000"/>
                    <a:lumOff val="35000"/>
                  </a:schemeClr>
                </a:solidFill>
                <a:latin typeface="微软雅黑" panose="020B0503020204020204" charset="-122"/>
                <a:ea typeface="微软雅黑" panose="020B0503020204020204" charset="-122"/>
              </a:rPr>
              <a:t>单站优化概述</a:t>
            </a:r>
            <a:endParaRPr lang="zh-CN" altLang="en-US" sz="2800" b="1" dirty="0">
              <a:solidFill>
                <a:schemeClr val="tx1">
                  <a:lumMod val="65000"/>
                  <a:lumOff val="35000"/>
                </a:schemeClr>
              </a:solidFill>
              <a:latin typeface="微软雅黑" panose="020B0503020204020204" charset="-122"/>
              <a:ea typeface="微软雅黑" panose="020B0503020204020204" charset="-122"/>
            </a:endParaRPr>
          </a:p>
        </p:txBody>
      </p:sp>
      <p:sp>
        <p:nvSpPr>
          <p:cNvPr id="4" name="文本框 3"/>
          <p:cNvSpPr txBox="1"/>
          <p:nvPr/>
        </p:nvSpPr>
        <p:spPr>
          <a:xfrm>
            <a:off x="3827780" y="467449"/>
            <a:ext cx="2305050" cy="646331"/>
          </a:xfrm>
          <a:prstGeom prst="rect">
            <a:avLst/>
          </a:prstGeom>
          <a:noFill/>
        </p:spPr>
        <p:txBody>
          <a:bodyPr wrap="square" rtlCol="0">
            <a:spAutoFit/>
          </a:bodyPr>
          <a:lstStyle/>
          <a:p>
            <a:r>
              <a:rPr lang="zh-CN" altLang="en-US" sz="3600" b="1" dirty="0">
                <a:solidFill>
                  <a:schemeClr val="tx1">
                    <a:lumMod val="65000"/>
                    <a:lumOff val="35000"/>
                  </a:schemeClr>
                </a:solidFill>
                <a:latin typeface="微软雅黑" panose="020B0503020204020204" charset="-122"/>
                <a:ea typeface="微软雅黑" panose="020B0503020204020204" charset="-122"/>
              </a:rPr>
              <a:t>学习目标</a:t>
            </a:r>
          </a:p>
        </p:txBody>
      </p:sp>
      <p:sp>
        <p:nvSpPr>
          <p:cNvPr id="7" name="Freeform 12"/>
          <p:cNvSpPr/>
          <p:nvPr/>
        </p:nvSpPr>
        <p:spPr bwMode="auto">
          <a:xfrm>
            <a:off x="957634" y="1348465"/>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a:lstStyle/>
          <a:p>
            <a:endParaRPr lang="zh-CN" altLang="en-US">
              <a:solidFill>
                <a:schemeClr val="tx1">
                  <a:lumMod val="65000"/>
                  <a:lumOff val="35000"/>
                </a:schemeClr>
              </a:solidFill>
            </a:endParaRPr>
          </a:p>
        </p:txBody>
      </p:sp>
      <p:sp>
        <p:nvSpPr>
          <p:cNvPr id="8" name="Freeform 12"/>
          <p:cNvSpPr/>
          <p:nvPr/>
        </p:nvSpPr>
        <p:spPr bwMode="auto">
          <a:xfrm flipH="1" flipV="1">
            <a:off x="8384474" y="3715736"/>
            <a:ext cx="528638" cy="530225"/>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a:lstStyle/>
          <a:p>
            <a:endParaRPr lang="zh-CN" altLang="en-US">
              <a:solidFill>
                <a:schemeClr val="tx1">
                  <a:lumMod val="50000"/>
                  <a:lumOff val="50000"/>
                </a:schemeClr>
              </a:solidFill>
            </a:endParaRPr>
          </a:p>
        </p:txBody>
      </p:sp>
      <p:sp>
        <p:nvSpPr>
          <p:cNvPr id="10" name="矩形 9"/>
          <p:cNvSpPr/>
          <p:nvPr/>
        </p:nvSpPr>
        <p:spPr>
          <a:xfrm>
            <a:off x="3329806" y="1937385"/>
            <a:ext cx="341630" cy="348615"/>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t>1</a:t>
            </a:r>
          </a:p>
        </p:txBody>
      </p:sp>
      <p:sp>
        <p:nvSpPr>
          <p:cNvPr id="11" name="矩形 10"/>
          <p:cNvSpPr/>
          <p:nvPr/>
        </p:nvSpPr>
        <p:spPr>
          <a:xfrm>
            <a:off x="3329806" y="3079750"/>
            <a:ext cx="341630" cy="348615"/>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t>2</a:t>
            </a:r>
          </a:p>
        </p:txBody>
      </p:sp>
      <p:sp>
        <p:nvSpPr>
          <p:cNvPr id="12" name="内容占位符 2"/>
          <p:cNvSpPr txBox="1"/>
          <p:nvPr/>
        </p:nvSpPr>
        <p:spPr>
          <a:xfrm>
            <a:off x="3858127" y="3086100"/>
            <a:ext cx="3288104" cy="336550"/>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sz="2800" b="1" dirty="0" smtClean="0">
                <a:solidFill>
                  <a:schemeClr val="tx1">
                    <a:lumMod val="65000"/>
                    <a:lumOff val="35000"/>
                  </a:schemeClr>
                </a:solidFill>
                <a:latin typeface="微软雅黑" panose="020B0503020204020204" charset="-122"/>
                <a:ea typeface="微软雅黑" panose="020B0503020204020204" charset="-122"/>
              </a:rPr>
              <a:t>LTE</a:t>
            </a:r>
            <a:r>
              <a:rPr lang="zh-CN" altLang="en-US" sz="2800" b="1" dirty="0" smtClean="0">
                <a:solidFill>
                  <a:schemeClr val="tx1">
                    <a:lumMod val="65000"/>
                    <a:lumOff val="35000"/>
                  </a:schemeClr>
                </a:solidFill>
                <a:latin typeface="微软雅黑" panose="020B0503020204020204" charset="-122"/>
                <a:ea typeface="微软雅黑" panose="020B0503020204020204" charset="-122"/>
              </a:rPr>
              <a:t>单站优化流程</a:t>
            </a:r>
            <a:endParaRPr lang="zh-CN" altLang="en-US" sz="2800" b="1" dirty="0">
              <a:solidFill>
                <a:schemeClr val="tx1">
                  <a:lumMod val="65000"/>
                  <a:lumOff val="35000"/>
                </a:schemeClr>
              </a:solidFill>
              <a:latin typeface="微软雅黑" panose="020B0503020204020204" charset="-122"/>
              <a:ea typeface="微软雅黑" panose="020B0503020204020204" charset="-122"/>
            </a:endParaRPr>
          </a:p>
        </p:txBody>
      </p:sp>
    </p:spTree>
    <p:extLst>
      <p:ext uri="{BB962C8B-B14F-4D97-AF65-F5344CB8AC3E}">
        <p14:creationId xmlns="" xmlns:p14="http://schemas.microsoft.com/office/powerpoint/2010/main" val="1871988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609726" y="1113780"/>
            <a:ext cx="4741073" cy="2492990"/>
          </a:xfrm>
          <a:prstGeom prst="rect">
            <a:avLst/>
          </a:prstGeom>
          <a:noFill/>
        </p:spPr>
        <p:txBody>
          <a:bodyPr wrap="square" rtlCol="0">
            <a:spAutoFit/>
          </a:bodyPr>
          <a:lstStyle/>
          <a:p>
            <a:pPr algn="ctr">
              <a:lnSpc>
                <a:spcPct val="120000"/>
              </a:lnSpc>
            </a:pPr>
            <a:r>
              <a:rPr kumimoji="1" lang="zh-CN" altLang="en-US" sz="3600" b="1" dirty="0">
                <a:latin typeface="微软雅黑"/>
                <a:ea typeface="微软雅黑"/>
                <a:cs typeface="微软雅黑"/>
              </a:rPr>
              <a:t>目    录 </a:t>
            </a:r>
            <a:endParaRPr kumimoji="1" lang="en-US" altLang="zh-CN" sz="3600" b="1" dirty="0">
              <a:latin typeface="微软雅黑"/>
              <a:ea typeface="微软雅黑"/>
              <a:cs typeface="微软雅黑"/>
            </a:endParaRPr>
          </a:p>
          <a:p>
            <a:pPr>
              <a:lnSpc>
                <a:spcPct val="120000"/>
              </a:lnSpc>
            </a:pPr>
            <a:endParaRPr kumimoji="1" lang="en-US" altLang="zh-CN" sz="1400" b="1" dirty="0">
              <a:latin typeface="微软雅黑"/>
              <a:ea typeface="微软雅黑"/>
              <a:cs typeface="微软雅黑"/>
            </a:endParaRPr>
          </a:p>
          <a:p>
            <a:pPr>
              <a:lnSpc>
                <a:spcPct val="200000"/>
              </a:lnSpc>
            </a:pPr>
            <a:r>
              <a:rPr kumimoji="1" lang="zh-CN" altLang="en-US" sz="2400" dirty="0" smtClean="0">
                <a:latin typeface="微软雅黑"/>
                <a:ea typeface="微软雅黑"/>
                <a:cs typeface="微软雅黑"/>
              </a:rPr>
              <a:t>一</a:t>
            </a:r>
            <a:r>
              <a:rPr kumimoji="1" lang="zh-CN" altLang="en-US" sz="2400" dirty="0">
                <a:latin typeface="微软雅黑"/>
                <a:ea typeface="微软雅黑"/>
                <a:cs typeface="微软雅黑"/>
              </a:rPr>
              <a:t>、任务</a:t>
            </a:r>
            <a:r>
              <a:rPr kumimoji="1" lang="en-US" altLang="zh-CN" sz="2400" dirty="0">
                <a:latin typeface="微软雅黑"/>
                <a:ea typeface="微软雅黑"/>
                <a:cs typeface="微软雅黑"/>
              </a:rPr>
              <a:t>1 </a:t>
            </a:r>
            <a:r>
              <a:rPr kumimoji="1" lang="en-US" altLang="zh-CN" sz="2400" dirty="0" smtClean="0">
                <a:latin typeface="微软雅黑"/>
                <a:ea typeface="微软雅黑"/>
                <a:cs typeface="微软雅黑"/>
              </a:rPr>
              <a:t>LTE</a:t>
            </a:r>
            <a:r>
              <a:rPr kumimoji="1" lang="zh-CN" altLang="en-US" sz="2400" dirty="0" smtClean="0">
                <a:latin typeface="微软雅黑"/>
                <a:ea typeface="微软雅黑"/>
                <a:cs typeface="微软雅黑"/>
              </a:rPr>
              <a:t>单站优化概述</a:t>
            </a:r>
            <a:endParaRPr kumimoji="1" lang="en-US" altLang="zh-CN" sz="2400" dirty="0" smtClean="0">
              <a:latin typeface="微软雅黑"/>
              <a:ea typeface="微软雅黑"/>
              <a:cs typeface="微软雅黑"/>
            </a:endParaRPr>
          </a:p>
          <a:p>
            <a:pPr>
              <a:lnSpc>
                <a:spcPct val="200000"/>
              </a:lnSpc>
            </a:pPr>
            <a:r>
              <a:rPr kumimoji="1" lang="zh-CN" altLang="en-US" sz="2400" dirty="0" smtClean="0">
                <a:latin typeface="微软雅黑"/>
                <a:ea typeface="微软雅黑"/>
                <a:cs typeface="微软雅黑"/>
              </a:rPr>
              <a:t>二</a:t>
            </a:r>
            <a:r>
              <a:rPr kumimoji="1" lang="zh-CN" altLang="en-US" sz="2400" dirty="0">
                <a:latin typeface="微软雅黑"/>
                <a:ea typeface="微软雅黑"/>
                <a:cs typeface="微软雅黑"/>
              </a:rPr>
              <a:t>、任务</a:t>
            </a:r>
            <a:r>
              <a:rPr kumimoji="1" lang="en-US" altLang="zh-CN" sz="2400" dirty="0">
                <a:latin typeface="微软雅黑"/>
                <a:ea typeface="微软雅黑"/>
                <a:cs typeface="微软雅黑"/>
              </a:rPr>
              <a:t>2 </a:t>
            </a:r>
            <a:r>
              <a:rPr kumimoji="1" lang="zh-CN" altLang="en-US" sz="2400" dirty="0" smtClean="0">
                <a:latin typeface="微软雅黑"/>
                <a:ea typeface="微软雅黑"/>
                <a:cs typeface="微软雅黑"/>
              </a:rPr>
              <a:t>室内外单站优化流程</a:t>
            </a:r>
            <a:endParaRPr kumimoji="1" lang="en-US" altLang="zh-CN" sz="2400" dirty="0">
              <a:latin typeface="微软雅黑"/>
              <a:ea typeface="微软雅黑"/>
              <a:cs typeface="微软雅黑"/>
            </a:endParaRPr>
          </a:p>
        </p:txBody>
      </p:sp>
    </p:spTree>
    <p:extLst>
      <p:ext uri="{BB962C8B-B14F-4D97-AF65-F5344CB8AC3E}">
        <p14:creationId xmlns="" xmlns:p14="http://schemas.microsoft.com/office/powerpoint/2010/main" val="90141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一</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单站优化的概述</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21494" y="825748"/>
            <a:ext cx="9433048" cy="3416320"/>
          </a:xfrm>
          <a:prstGeom prst="rect">
            <a:avLst/>
          </a:prstGeom>
          <a:noFill/>
        </p:spPr>
        <p:txBody>
          <a:bodyPr wrap="square" rtlCol="0">
            <a:spAutoFit/>
          </a:bodyPr>
          <a:lstStyle/>
          <a:p>
            <a:pPr>
              <a:lnSpc>
                <a:spcPct val="150000"/>
              </a:lnSpc>
            </a:pPr>
            <a:r>
              <a:rPr kumimoji="1" lang="zh-CN" altLang="zh-CN" b="1" dirty="0" smtClean="0">
                <a:latin typeface="微软雅黑"/>
                <a:ea typeface="微软雅黑"/>
                <a:cs typeface="微软雅黑"/>
              </a:rPr>
              <a:t>1</a:t>
            </a:r>
            <a:r>
              <a:rPr kumimoji="1" lang="en-US" altLang="zh-CN" b="1" dirty="0" smtClean="0">
                <a:latin typeface="微软雅黑"/>
                <a:ea typeface="微软雅黑"/>
                <a:cs typeface="微软雅黑"/>
              </a:rPr>
              <a:t>.1</a:t>
            </a:r>
            <a:r>
              <a:rPr kumimoji="1" lang="zh-CN" altLang="en-US" b="1" dirty="0" smtClean="0">
                <a:latin typeface="微软雅黑"/>
                <a:ea typeface="微软雅黑"/>
                <a:cs typeface="微软雅黑"/>
              </a:rPr>
              <a:t>  什么是单站优化</a:t>
            </a:r>
            <a:endParaRPr kumimoji="1" lang="en-US" altLang="zh-CN" b="1" dirty="0" smtClean="0">
              <a:latin typeface="微软雅黑"/>
              <a:ea typeface="微软雅黑"/>
              <a:cs typeface="微软雅黑"/>
            </a:endParaRPr>
          </a:p>
          <a:p>
            <a:pPr>
              <a:lnSpc>
                <a:spcPct val="150000"/>
              </a:lnSpc>
            </a:pPr>
            <a:r>
              <a:rPr kumimoji="1" lang="zh-CN" altLang="en-US" dirty="0" smtClean="0">
                <a:latin typeface="微软雅黑"/>
                <a:ea typeface="微软雅黑"/>
                <a:cs typeface="微软雅黑"/>
              </a:rPr>
              <a:t>       单站优化就是单一基站站点的优化简称，也称单验。</a:t>
            </a:r>
            <a:r>
              <a:rPr kumimoji="1" lang="zh-CN" altLang="en-US" dirty="0">
                <a:latin typeface="微软雅黑"/>
                <a:ea typeface="微软雅黑"/>
                <a:cs typeface="微软雅黑"/>
              </a:rPr>
              <a:t>在网优工作开始前，首先针对需要优化区域的站点信息进行重点参数核查，确认小区配置参数与规划结果是否一致，如不一致需要及时提交工程开通人员进行修改。</a:t>
            </a:r>
          </a:p>
          <a:p>
            <a:pPr>
              <a:lnSpc>
                <a:spcPct val="150000"/>
              </a:lnSpc>
            </a:pPr>
            <a:r>
              <a:rPr kumimoji="1" lang="zh-CN" altLang="en-US" dirty="0" smtClean="0">
                <a:latin typeface="微软雅黑"/>
                <a:ea typeface="微软雅黑"/>
                <a:cs typeface="微软雅黑"/>
              </a:rPr>
              <a:t>       站点</a:t>
            </a:r>
            <a:r>
              <a:rPr kumimoji="1" lang="zh-CN" altLang="en-US" dirty="0">
                <a:latin typeface="微软雅黑"/>
                <a:ea typeface="微软雅黑"/>
                <a:cs typeface="微软雅黑"/>
              </a:rPr>
              <a:t>开通时的可以设置统一的开站模板，开站模板中涉及一些参数由规划确定，各个站点设置不一致，需要手动设置，往往出现不一致现象。重点参数包括</a:t>
            </a:r>
            <a:r>
              <a:rPr kumimoji="1" lang="zh-CN" altLang="en-US" dirty="0" smtClean="0">
                <a:latin typeface="微软雅黑"/>
                <a:ea typeface="微软雅黑"/>
                <a:cs typeface="微软雅黑"/>
              </a:rPr>
              <a:t>：经纬度、频率</a:t>
            </a:r>
            <a:r>
              <a:rPr kumimoji="1" lang="zh-CN" altLang="en-US" dirty="0">
                <a:latin typeface="微软雅黑"/>
                <a:ea typeface="微软雅黑"/>
                <a:cs typeface="微软雅黑"/>
              </a:rPr>
              <a:t>、邻区、</a:t>
            </a:r>
            <a:r>
              <a:rPr kumimoji="1" lang="en-US" altLang="zh-CN" dirty="0">
                <a:latin typeface="微软雅黑"/>
                <a:ea typeface="微软雅黑"/>
                <a:cs typeface="微软雅黑"/>
              </a:rPr>
              <a:t>PCI</a:t>
            </a:r>
            <a:r>
              <a:rPr kumimoji="1" lang="zh-CN" altLang="en-US" dirty="0">
                <a:latin typeface="微软雅黑"/>
                <a:ea typeface="微软雅黑"/>
                <a:cs typeface="微软雅黑"/>
              </a:rPr>
              <a:t>、功率、切换</a:t>
            </a:r>
            <a:r>
              <a:rPr kumimoji="1" lang="en-US" altLang="zh-CN" dirty="0">
                <a:latin typeface="微软雅黑"/>
                <a:ea typeface="微软雅黑"/>
                <a:cs typeface="微软雅黑"/>
              </a:rPr>
              <a:t>/</a:t>
            </a:r>
            <a:r>
              <a:rPr kumimoji="1" lang="zh-CN" altLang="en-US" dirty="0">
                <a:latin typeface="微软雅黑"/>
                <a:ea typeface="微软雅黑"/>
                <a:cs typeface="微软雅黑"/>
              </a:rPr>
              <a:t>重选参数、</a:t>
            </a:r>
            <a:r>
              <a:rPr kumimoji="1" lang="en-US" altLang="zh-CN" dirty="0">
                <a:latin typeface="微软雅黑"/>
                <a:ea typeface="微软雅黑"/>
                <a:cs typeface="微软雅黑"/>
              </a:rPr>
              <a:t>PRACH</a:t>
            </a:r>
            <a:r>
              <a:rPr kumimoji="1" lang="zh-CN" altLang="en-US" dirty="0">
                <a:latin typeface="微软雅黑"/>
                <a:ea typeface="微软雅黑"/>
                <a:cs typeface="微软雅黑"/>
              </a:rPr>
              <a:t>相关参数等。参数核查准确无误后，对于单站进行遍历覆盖测试，详细了解每个站点的覆盖情况，以及各扇区系统性能，为后续簇优化准备</a:t>
            </a:r>
            <a:r>
              <a:rPr kumimoji="1" lang="zh-CN" altLang="en-US" dirty="0" smtClean="0">
                <a:latin typeface="微软雅黑"/>
                <a:ea typeface="微软雅黑"/>
                <a:cs typeface="微软雅黑"/>
              </a:rPr>
              <a:t>。</a:t>
            </a:r>
            <a:endParaRPr kumimoji="1" lang="zh-CN" altLang="en-US" dirty="0">
              <a:latin typeface="微软雅黑"/>
              <a:ea typeface="微软雅黑"/>
              <a:cs typeface="微软雅黑"/>
            </a:endParaRPr>
          </a:p>
        </p:txBody>
      </p:sp>
    </p:spTree>
    <p:extLst>
      <p:ext uri="{BB962C8B-B14F-4D97-AF65-F5344CB8AC3E}">
        <p14:creationId xmlns="" xmlns:p14="http://schemas.microsoft.com/office/powerpoint/2010/main" val="1125698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一</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单站优化的概述</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21494" y="825748"/>
            <a:ext cx="9505056" cy="3416320"/>
          </a:xfrm>
          <a:prstGeom prst="rect">
            <a:avLst/>
          </a:prstGeom>
          <a:noFill/>
        </p:spPr>
        <p:txBody>
          <a:bodyPr wrap="square" rtlCol="0">
            <a:spAutoFit/>
          </a:bodyPr>
          <a:lstStyle/>
          <a:p>
            <a:pPr>
              <a:lnSpc>
                <a:spcPct val="150000"/>
              </a:lnSpc>
            </a:pPr>
            <a:r>
              <a:rPr kumimoji="1" lang="zh-CN" altLang="zh-CN" b="1" dirty="0" smtClean="0">
                <a:latin typeface="微软雅黑"/>
                <a:ea typeface="微软雅黑"/>
                <a:cs typeface="微软雅黑"/>
              </a:rPr>
              <a:t>1</a:t>
            </a:r>
            <a:r>
              <a:rPr kumimoji="1" lang="en-US" altLang="zh-CN" b="1" dirty="0" smtClean="0">
                <a:latin typeface="微软雅黑"/>
                <a:ea typeface="微软雅黑"/>
                <a:cs typeface="微软雅黑"/>
              </a:rPr>
              <a:t>.2</a:t>
            </a:r>
            <a:r>
              <a:rPr kumimoji="1" lang="zh-CN" altLang="en-US" b="1" dirty="0" smtClean="0">
                <a:latin typeface="微软雅黑"/>
                <a:ea typeface="微软雅黑"/>
                <a:cs typeface="微软雅黑"/>
              </a:rPr>
              <a:t>  单站优化的重要性</a:t>
            </a:r>
            <a:endParaRPr kumimoji="1" lang="en-US" altLang="zh-CN" b="1" dirty="0" smtClean="0">
              <a:latin typeface="微软雅黑"/>
              <a:ea typeface="微软雅黑"/>
              <a:cs typeface="微软雅黑"/>
            </a:endParaRPr>
          </a:p>
          <a:p>
            <a:pPr>
              <a:lnSpc>
                <a:spcPct val="150000"/>
              </a:lnSpc>
            </a:pPr>
            <a:r>
              <a:rPr kumimoji="1" lang="zh-CN" altLang="en-US" dirty="0" smtClean="0">
                <a:latin typeface="微软雅黑"/>
                <a:ea typeface="微软雅黑"/>
                <a:cs typeface="微软雅黑"/>
              </a:rPr>
              <a:t>       第一、运营商的每个基站建设前期都是由设计院根据当前网络或日后的网络需求，给出合理的建设方案，再由施工单位进行具体施工建设，为了防止在这过程中出现较大误差而导致后续优化工作的延误，例如基站实际位置的经纬度是否与规划时的经纬度误差小于</a:t>
            </a:r>
            <a:r>
              <a:rPr kumimoji="1" lang="en-US" altLang="zh-CN" dirty="0" smtClean="0">
                <a:latin typeface="微软雅黑"/>
                <a:ea typeface="微软雅黑"/>
                <a:cs typeface="微软雅黑"/>
              </a:rPr>
              <a:t>100</a:t>
            </a:r>
            <a:r>
              <a:rPr kumimoji="1" lang="zh-CN" altLang="en-US" dirty="0" smtClean="0">
                <a:latin typeface="微软雅黑"/>
                <a:ea typeface="微软雅黑"/>
                <a:cs typeface="微软雅黑"/>
              </a:rPr>
              <a:t>米，天线实际挂高、基站实地的覆盖环境（避免周围的障碍物阻挡基站覆盖）等。</a:t>
            </a:r>
            <a:endParaRPr kumimoji="1" lang="en-US" altLang="zh-CN" dirty="0" smtClean="0">
              <a:latin typeface="微软雅黑"/>
              <a:ea typeface="微软雅黑"/>
              <a:cs typeface="微软雅黑"/>
            </a:endParaRPr>
          </a:p>
          <a:p>
            <a:pPr>
              <a:lnSpc>
                <a:spcPct val="150000"/>
              </a:lnSpc>
            </a:pPr>
            <a:r>
              <a:rPr kumimoji="1" lang="en-US" altLang="zh-CN" dirty="0">
                <a:latin typeface="微软雅黑"/>
                <a:ea typeface="微软雅黑"/>
                <a:cs typeface="微软雅黑"/>
              </a:rPr>
              <a:t> </a:t>
            </a:r>
            <a:r>
              <a:rPr kumimoji="1" lang="en-US" altLang="zh-CN" dirty="0" smtClean="0">
                <a:latin typeface="微软雅黑"/>
                <a:ea typeface="微软雅黑"/>
                <a:cs typeface="微软雅黑"/>
              </a:rPr>
              <a:t>      </a:t>
            </a:r>
            <a:r>
              <a:rPr kumimoji="1" lang="zh-CN" altLang="en-US" dirty="0" smtClean="0">
                <a:latin typeface="微软雅黑"/>
                <a:ea typeface="微软雅黑"/>
                <a:cs typeface="微软雅黑"/>
              </a:rPr>
              <a:t>第二、基站建设最终的目的是要形成一定规模的网络，提供给用户所需的服务，在入网和使用前必须进行单验，保证基站各项业务正常，入网后对现有网络无影响，可以为用户提供正常服务。</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1541381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7"/>
          <p:cNvPicPr>
            <a:picLocks noChangeAspect="1" noChangeArrowheads="1"/>
          </p:cNvPicPr>
          <p:nvPr/>
        </p:nvPicPr>
        <p:blipFill>
          <a:blip r:embed="rId2" cstate="print"/>
          <a:srcRect/>
          <a:stretch>
            <a:fillRect/>
          </a:stretch>
        </p:blipFill>
        <p:spPr bwMode="auto">
          <a:xfrm>
            <a:off x="3185790" y="897756"/>
            <a:ext cx="4032448" cy="4220630"/>
          </a:xfrm>
          <a:prstGeom prst="rect">
            <a:avLst/>
          </a:prstGeom>
          <a:noFill/>
          <a:ln w="9525">
            <a:noFill/>
            <a:miter lim="800000"/>
            <a:headEnd/>
            <a:tailEnd/>
          </a:ln>
        </p:spPr>
      </p:pic>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一</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单站优化的概述</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5" name="矩形 4"/>
          <p:cNvSpPr/>
          <p:nvPr/>
        </p:nvSpPr>
        <p:spPr>
          <a:xfrm>
            <a:off x="521494" y="825748"/>
            <a:ext cx="2289409" cy="507831"/>
          </a:xfrm>
          <a:prstGeom prst="rect">
            <a:avLst/>
          </a:prstGeom>
        </p:spPr>
        <p:txBody>
          <a:bodyPr wrap="none">
            <a:spAutoFit/>
          </a:bodyPr>
          <a:lstStyle/>
          <a:p>
            <a:pPr>
              <a:lnSpc>
                <a:spcPct val="150000"/>
              </a:lnSpc>
            </a:pPr>
            <a:r>
              <a:rPr kumimoji="1" lang="zh-CN" altLang="zh-CN" b="1" dirty="0" smtClean="0">
                <a:latin typeface="微软雅黑"/>
                <a:ea typeface="微软雅黑"/>
                <a:cs typeface="微软雅黑"/>
              </a:rPr>
              <a:t>1</a:t>
            </a:r>
            <a:r>
              <a:rPr kumimoji="1" lang="en-US" altLang="zh-CN" b="1" dirty="0" smtClean="0">
                <a:latin typeface="微软雅黑"/>
                <a:ea typeface="微软雅黑"/>
                <a:cs typeface="微软雅黑"/>
              </a:rPr>
              <a:t>.3</a:t>
            </a:r>
            <a:r>
              <a:rPr kumimoji="1" lang="zh-CN" altLang="en-US" b="1" dirty="0" smtClean="0">
                <a:latin typeface="微软雅黑"/>
                <a:ea typeface="微软雅黑"/>
                <a:cs typeface="微软雅黑"/>
              </a:rPr>
              <a:t>  </a:t>
            </a:r>
            <a:r>
              <a:rPr kumimoji="1" lang="zh-CN" altLang="en-US" b="1" dirty="0" smtClean="0">
                <a:latin typeface="微软雅黑"/>
                <a:ea typeface="微软雅黑"/>
                <a:cs typeface="微软雅黑"/>
              </a:rPr>
              <a:t>单站优化</a:t>
            </a:r>
            <a:r>
              <a:rPr kumimoji="1" lang="zh-CN" altLang="en-US" b="1" dirty="0" smtClean="0">
                <a:latin typeface="微软雅黑"/>
                <a:ea typeface="微软雅黑"/>
                <a:cs typeface="微软雅黑"/>
              </a:rPr>
              <a:t>的流程</a:t>
            </a:r>
            <a:endParaRPr kumimoji="1" lang="en-US" altLang="zh-CN" b="1" dirty="0" smtClean="0">
              <a:latin typeface="微软雅黑"/>
              <a:ea typeface="微软雅黑"/>
              <a:cs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21494" y="825748"/>
            <a:ext cx="9361040" cy="3831818"/>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2.1</a:t>
            </a:r>
            <a:r>
              <a:rPr kumimoji="1" lang="zh-CN" altLang="en-US" b="1" dirty="0" smtClean="0">
                <a:latin typeface="微软雅黑"/>
                <a:ea typeface="微软雅黑"/>
                <a:cs typeface="微软雅黑"/>
              </a:rPr>
              <a:t>  单站优化的类别</a:t>
            </a:r>
            <a:endParaRPr kumimoji="1" lang="en-US" altLang="zh-CN" b="1" dirty="0" smtClean="0">
              <a:latin typeface="微软雅黑"/>
              <a:ea typeface="微软雅黑"/>
              <a:cs typeface="微软雅黑"/>
            </a:endParaRPr>
          </a:p>
          <a:p>
            <a:pPr>
              <a:lnSpc>
                <a:spcPct val="150000"/>
              </a:lnSpc>
            </a:pPr>
            <a:r>
              <a:rPr kumimoji="1" lang="zh-CN" altLang="en-US" dirty="0" smtClean="0">
                <a:latin typeface="微软雅黑"/>
                <a:ea typeface="微软雅黑"/>
                <a:cs typeface="微软雅黑"/>
              </a:rPr>
              <a:t>       单站优化按照基站覆盖的场景不同分为室外单站优化和室内单站优化两种。</a:t>
            </a:r>
            <a:endParaRPr kumimoji="1" lang="en-US" altLang="zh-CN" dirty="0" smtClean="0">
              <a:latin typeface="微软雅黑"/>
              <a:ea typeface="微软雅黑"/>
              <a:cs typeface="微软雅黑"/>
            </a:endParaRPr>
          </a:p>
          <a:p>
            <a:pPr>
              <a:lnSpc>
                <a:spcPct val="150000"/>
              </a:lnSpc>
            </a:pPr>
            <a:r>
              <a:rPr kumimoji="1" lang="en-US" altLang="zh-CN" dirty="0">
                <a:latin typeface="微软雅黑"/>
                <a:ea typeface="微软雅黑"/>
                <a:cs typeface="微软雅黑"/>
              </a:rPr>
              <a:t> </a:t>
            </a:r>
            <a:r>
              <a:rPr kumimoji="1" lang="en-US" altLang="zh-CN" dirty="0" smtClean="0">
                <a:latin typeface="微软雅黑"/>
                <a:ea typeface="微软雅黑"/>
                <a:cs typeface="微软雅黑"/>
              </a:rPr>
              <a:t>      </a:t>
            </a:r>
            <a:r>
              <a:rPr kumimoji="1" lang="zh-CN" altLang="en-US" dirty="0" smtClean="0">
                <a:latin typeface="微软雅黑"/>
                <a:ea typeface="微软雅黑"/>
                <a:cs typeface="微软雅黑"/>
              </a:rPr>
              <a:t>第一、室外单站优化，基站大多建设在建筑物外部顶端或单独的铁塔，用于室外道路的网络覆盖，俗称宏站，范围较大，吸收用户量较大。</a:t>
            </a:r>
            <a:endParaRPr kumimoji="1" lang="en-US" altLang="zh-CN" dirty="0" smtClean="0">
              <a:latin typeface="微软雅黑"/>
              <a:ea typeface="微软雅黑"/>
              <a:cs typeface="微软雅黑"/>
            </a:endParaRPr>
          </a:p>
          <a:p>
            <a:pPr>
              <a:lnSpc>
                <a:spcPct val="150000"/>
              </a:lnSpc>
            </a:pPr>
            <a:r>
              <a:rPr kumimoji="1" lang="en-US" altLang="zh-CN" dirty="0">
                <a:latin typeface="微软雅黑"/>
                <a:ea typeface="微软雅黑"/>
                <a:cs typeface="微软雅黑"/>
              </a:rPr>
              <a:t> </a:t>
            </a:r>
            <a:r>
              <a:rPr kumimoji="1" lang="en-US" altLang="zh-CN" dirty="0" smtClean="0">
                <a:latin typeface="微软雅黑"/>
                <a:ea typeface="微软雅黑"/>
                <a:cs typeface="微软雅黑"/>
              </a:rPr>
              <a:t>      </a:t>
            </a:r>
            <a:r>
              <a:rPr kumimoji="1" lang="zh-CN" altLang="en-US" dirty="0" smtClean="0">
                <a:latin typeface="微软雅黑"/>
                <a:ea typeface="微软雅黑"/>
                <a:cs typeface="微软雅黑"/>
              </a:rPr>
              <a:t>第二、室内单站优化，基站一般建设在建筑物内部，基站天线布置在规划的楼层的屋顶，用于室内空间的覆盖，多用于室外基站覆盖室内时效果不好的建筑或重点场所，俗称室分，范围有限，吸收用户量有限。</a:t>
            </a:r>
            <a:endParaRPr kumimoji="1" lang="en-US" altLang="zh-CN" dirty="0" smtClean="0">
              <a:latin typeface="微软雅黑"/>
              <a:ea typeface="微软雅黑"/>
              <a:cs typeface="微软雅黑"/>
            </a:endParaRPr>
          </a:p>
          <a:p>
            <a:pPr>
              <a:lnSpc>
                <a:spcPct val="150000"/>
              </a:lnSpc>
            </a:pPr>
            <a:r>
              <a:rPr kumimoji="1" lang="en-US" altLang="zh-CN" dirty="0">
                <a:latin typeface="微软雅黑"/>
                <a:ea typeface="微软雅黑"/>
                <a:cs typeface="微软雅黑"/>
              </a:rPr>
              <a:t> </a:t>
            </a:r>
            <a:r>
              <a:rPr kumimoji="1" lang="en-US" altLang="zh-CN" dirty="0" smtClean="0">
                <a:latin typeface="微软雅黑"/>
                <a:ea typeface="微软雅黑"/>
                <a:cs typeface="微软雅黑"/>
              </a:rPr>
              <a:t>      </a:t>
            </a:r>
            <a:r>
              <a:rPr kumimoji="1" lang="zh-CN" altLang="en-US" dirty="0" smtClean="0">
                <a:latin typeface="微软雅黑"/>
                <a:ea typeface="微软雅黑"/>
                <a:cs typeface="微软雅黑"/>
              </a:rPr>
              <a:t>不同场景的单站优化工作也不相同，例如室外基站优化时需要核查经纬度，而室内基站无经纬度核查。具体的优化工作下面进行讲解。</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153555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21494" y="831987"/>
            <a:ext cx="4752528" cy="1289905"/>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2.2</a:t>
            </a:r>
            <a:r>
              <a:rPr kumimoji="1" lang="zh-CN" altLang="en-US" b="1" dirty="0" smtClean="0">
                <a:latin typeface="微软雅黑"/>
                <a:ea typeface="微软雅黑"/>
                <a:cs typeface="微软雅黑"/>
              </a:rPr>
              <a:t>   室外宏站单站优化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2.2.1 </a:t>
            </a:r>
            <a:r>
              <a:rPr kumimoji="1" lang="zh-CN" altLang="en-US" b="1" dirty="0" smtClean="0">
                <a:latin typeface="微软雅黑"/>
                <a:ea typeface="微软雅黑"/>
                <a:cs typeface="微软雅黑"/>
              </a:rPr>
              <a:t>室外宏站单站优化流程</a:t>
            </a:r>
            <a:endParaRPr kumimoji="1" lang="en-US" altLang="zh-CN" b="1" dirty="0" smtClean="0">
              <a:latin typeface="微软雅黑"/>
              <a:ea typeface="微软雅黑"/>
              <a:cs typeface="微软雅黑"/>
            </a:endParaRPr>
          </a:p>
          <a:p>
            <a:pPr>
              <a:lnSpc>
                <a:spcPct val="150000"/>
              </a:lnSpc>
            </a:pPr>
            <a:r>
              <a:rPr kumimoji="1" lang="zh-CN" altLang="en-US" dirty="0" smtClean="0">
                <a:latin typeface="微软雅黑"/>
                <a:ea typeface="微软雅黑"/>
                <a:cs typeface="微软雅黑"/>
              </a:rPr>
              <a:t>       </a:t>
            </a:r>
            <a:endParaRPr kumimoji="1" lang="en-US" altLang="zh-CN" dirty="0" smtClean="0">
              <a:latin typeface="微软雅黑"/>
              <a:ea typeface="微软雅黑"/>
              <a:cs typeface="微软雅黑"/>
            </a:endParaRPr>
          </a:p>
        </p:txBody>
      </p:sp>
      <p:sp>
        <p:nvSpPr>
          <p:cNvPr id="7" name="TextBox 6"/>
          <p:cNvSpPr txBox="1"/>
          <p:nvPr/>
        </p:nvSpPr>
        <p:spPr>
          <a:xfrm>
            <a:off x="665510" y="2279373"/>
            <a:ext cx="1005403" cy="338554"/>
          </a:xfrm>
          <a:prstGeom prst="rect">
            <a:avLst/>
          </a:prstGeom>
          <a:noFill/>
          <a:ln>
            <a:solidFill>
              <a:schemeClr val="tx1"/>
            </a:solidFill>
          </a:ln>
        </p:spPr>
        <p:txBody>
          <a:bodyPr wrap="none" rtlCol="0">
            <a:spAutoFit/>
          </a:bodyPr>
          <a:lstStyle/>
          <a:p>
            <a:r>
              <a:rPr lang="zh-CN" altLang="en-US" sz="1600" dirty="0" smtClean="0">
                <a:latin typeface="微软雅黑" pitchFamily="34" charset="-122"/>
                <a:ea typeface="微软雅黑" pitchFamily="34" charset="-122"/>
              </a:rPr>
              <a:t>站点规划</a:t>
            </a:r>
            <a:endParaRPr lang="zh-CN" altLang="en-US" sz="1600" dirty="0">
              <a:latin typeface="微软雅黑" pitchFamily="34" charset="-122"/>
              <a:ea typeface="微软雅黑" pitchFamily="34" charset="-122"/>
            </a:endParaRPr>
          </a:p>
        </p:txBody>
      </p:sp>
      <p:sp>
        <p:nvSpPr>
          <p:cNvPr id="8" name="TextBox 7"/>
          <p:cNvSpPr txBox="1"/>
          <p:nvPr/>
        </p:nvSpPr>
        <p:spPr>
          <a:xfrm>
            <a:off x="2305652" y="2279373"/>
            <a:ext cx="1620957" cy="338554"/>
          </a:xfrm>
          <a:prstGeom prst="rect">
            <a:avLst/>
          </a:prstGeom>
          <a:noFill/>
          <a:ln>
            <a:solidFill>
              <a:schemeClr val="tx1"/>
            </a:solidFill>
          </a:ln>
        </p:spPr>
        <p:txBody>
          <a:bodyPr wrap="none" rtlCol="0">
            <a:spAutoFit/>
          </a:bodyPr>
          <a:lstStyle/>
          <a:p>
            <a:r>
              <a:rPr lang="zh-CN" altLang="en-US" sz="1600" dirty="0" smtClean="0">
                <a:latin typeface="微软雅黑" pitchFamily="34" charset="-122"/>
                <a:ea typeface="微软雅黑" pitchFamily="34" charset="-122"/>
              </a:rPr>
              <a:t>新站开通负责人</a:t>
            </a:r>
            <a:endParaRPr lang="zh-CN" altLang="en-US" sz="1600" dirty="0">
              <a:latin typeface="微软雅黑" pitchFamily="34" charset="-122"/>
              <a:ea typeface="微软雅黑" pitchFamily="34" charset="-122"/>
            </a:endParaRPr>
          </a:p>
        </p:txBody>
      </p:sp>
      <p:sp>
        <p:nvSpPr>
          <p:cNvPr id="9" name="TextBox 8"/>
          <p:cNvSpPr txBox="1"/>
          <p:nvPr/>
        </p:nvSpPr>
        <p:spPr>
          <a:xfrm>
            <a:off x="4409926" y="1905868"/>
            <a:ext cx="2664296" cy="1077218"/>
          </a:xfrm>
          <a:prstGeom prst="rect">
            <a:avLst/>
          </a:prstGeom>
          <a:noFill/>
          <a:ln>
            <a:solidFill>
              <a:schemeClr val="tx1"/>
            </a:solidFill>
          </a:ln>
        </p:spPr>
        <p:txBody>
          <a:bodyPr wrap="square" rtlCol="0">
            <a:spAutoFit/>
          </a:bodyPr>
          <a:lstStyle/>
          <a:p>
            <a:r>
              <a:rPr lang="zh-CN" altLang="en-US" sz="1600" dirty="0" smtClean="0">
                <a:latin typeface="微软雅黑" pitchFamily="34" charset="-122"/>
                <a:ea typeface="微软雅黑" pitchFamily="34" charset="-122"/>
              </a:rPr>
              <a:t>工程施工（建议施工队或者督导取基站</a:t>
            </a:r>
            <a:r>
              <a:rPr lang="en-US" altLang="zh-CN" sz="1600" dirty="0" smtClean="0">
                <a:latin typeface="微软雅黑" pitchFamily="34" charset="-122"/>
                <a:ea typeface="微软雅黑" pitchFamily="34" charset="-122"/>
              </a:rPr>
              <a:t>GPS</a:t>
            </a:r>
            <a:r>
              <a:rPr lang="zh-CN" altLang="en-US" sz="1600" dirty="0" smtClean="0">
                <a:latin typeface="微软雅黑" pitchFamily="34" charset="-122"/>
                <a:ea typeface="微软雅黑" pitchFamily="34" charset="-122"/>
              </a:rPr>
              <a:t>点，与设计院提供</a:t>
            </a:r>
            <a:r>
              <a:rPr lang="en-US" altLang="zh-CN" sz="1600" dirty="0" smtClean="0">
                <a:latin typeface="微软雅黑" pitchFamily="34" charset="-122"/>
                <a:ea typeface="微软雅黑" pitchFamily="34" charset="-122"/>
              </a:rPr>
              <a:t>GPS</a:t>
            </a:r>
            <a:r>
              <a:rPr lang="zh-CN" altLang="en-US" sz="1600" dirty="0" smtClean="0">
                <a:latin typeface="微软雅黑" pitchFamily="34" charset="-122"/>
                <a:ea typeface="微软雅黑" pitchFamily="34" charset="-122"/>
              </a:rPr>
              <a:t>点信息进行核对，防止漂站）</a:t>
            </a:r>
            <a:endParaRPr lang="zh-CN" altLang="en-US" sz="1600" dirty="0">
              <a:latin typeface="微软雅黑" pitchFamily="34" charset="-122"/>
              <a:ea typeface="微软雅黑" pitchFamily="34" charset="-122"/>
            </a:endParaRPr>
          </a:p>
        </p:txBody>
      </p:sp>
      <p:sp>
        <p:nvSpPr>
          <p:cNvPr id="10" name="TextBox 9"/>
          <p:cNvSpPr txBox="1"/>
          <p:nvPr/>
        </p:nvSpPr>
        <p:spPr>
          <a:xfrm>
            <a:off x="2609726" y="2841972"/>
            <a:ext cx="1005403" cy="338554"/>
          </a:xfrm>
          <a:prstGeom prst="rect">
            <a:avLst/>
          </a:prstGeom>
          <a:noFill/>
          <a:ln>
            <a:solidFill>
              <a:schemeClr val="tx1"/>
            </a:solidFill>
          </a:ln>
        </p:spPr>
        <p:txBody>
          <a:bodyPr wrap="none" rtlCol="0">
            <a:spAutoFit/>
          </a:bodyPr>
          <a:lstStyle/>
          <a:p>
            <a:r>
              <a:rPr lang="zh-CN" altLang="en-US" sz="1600" dirty="0" smtClean="0">
                <a:latin typeface="微软雅黑" pitchFamily="34" charset="-122"/>
                <a:ea typeface="微软雅黑" pitchFamily="34" charset="-122"/>
              </a:rPr>
              <a:t>报告更新</a:t>
            </a:r>
            <a:endParaRPr lang="zh-CN" altLang="en-US" sz="1600" dirty="0">
              <a:latin typeface="微软雅黑" pitchFamily="34" charset="-122"/>
              <a:ea typeface="微软雅黑" pitchFamily="34" charset="-122"/>
            </a:endParaRPr>
          </a:p>
        </p:txBody>
      </p:sp>
      <p:sp>
        <p:nvSpPr>
          <p:cNvPr id="11" name="TextBox 10"/>
          <p:cNvSpPr txBox="1"/>
          <p:nvPr/>
        </p:nvSpPr>
        <p:spPr>
          <a:xfrm>
            <a:off x="7434262" y="1905868"/>
            <a:ext cx="2520280" cy="1077218"/>
          </a:xfrm>
          <a:prstGeom prst="rect">
            <a:avLst/>
          </a:prstGeom>
          <a:noFill/>
          <a:ln>
            <a:solidFill>
              <a:schemeClr val="tx1"/>
            </a:solidFill>
          </a:ln>
        </p:spPr>
        <p:txBody>
          <a:bodyPr wrap="square" rtlCol="0">
            <a:spAutoFit/>
          </a:bodyPr>
          <a:lstStyle/>
          <a:p>
            <a:r>
              <a:rPr lang="zh-CN" altLang="en-US" sz="1600" dirty="0" smtClean="0">
                <a:latin typeface="微软雅黑" pitchFamily="34" charset="-122"/>
                <a:ea typeface="微软雅黑" pitchFamily="34" charset="-122"/>
              </a:rPr>
              <a:t>基站人员上站进行安装检查，对基站进行试开通，是开通正常取得</a:t>
            </a:r>
            <a:r>
              <a:rPr lang="en-US" altLang="zh-CN" sz="1600" dirty="0" smtClean="0">
                <a:latin typeface="微软雅黑" pitchFamily="34" charset="-122"/>
                <a:ea typeface="微软雅黑" pitchFamily="34" charset="-122"/>
              </a:rPr>
              <a:t>GPS</a:t>
            </a:r>
            <a:r>
              <a:rPr lang="zh-CN" altLang="en-US" sz="1600" dirty="0" smtClean="0">
                <a:latin typeface="微软雅黑" pitchFamily="34" charset="-122"/>
                <a:ea typeface="微软雅黑" pitchFamily="34" charset="-122"/>
              </a:rPr>
              <a:t>点后闭站，通知规划人员。</a:t>
            </a:r>
            <a:endParaRPr lang="zh-CN" altLang="en-US" sz="1600" dirty="0">
              <a:latin typeface="微软雅黑" pitchFamily="34" charset="-122"/>
              <a:ea typeface="微软雅黑" pitchFamily="34" charset="-122"/>
            </a:endParaRPr>
          </a:p>
        </p:txBody>
      </p:sp>
      <p:sp>
        <p:nvSpPr>
          <p:cNvPr id="12" name="TextBox 11"/>
          <p:cNvSpPr txBox="1"/>
          <p:nvPr/>
        </p:nvSpPr>
        <p:spPr>
          <a:xfrm>
            <a:off x="7434262" y="3667159"/>
            <a:ext cx="2520280" cy="830997"/>
          </a:xfrm>
          <a:prstGeom prst="rect">
            <a:avLst/>
          </a:prstGeom>
          <a:noFill/>
          <a:ln>
            <a:solidFill>
              <a:schemeClr val="tx1"/>
            </a:solidFill>
          </a:ln>
        </p:spPr>
        <p:txBody>
          <a:bodyPr wrap="square" rtlCol="0">
            <a:spAutoFit/>
          </a:bodyPr>
          <a:lstStyle/>
          <a:p>
            <a:r>
              <a:rPr lang="zh-CN" altLang="en-US" sz="1600" dirty="0" smtClean="0">
                <a:latin typeface="微软雅黑" pitchFamily="34" charset="-122"/>
                <a:ea typeface="微软雅黑" pitchFamily="34" charset="-122"/>
              </a:rPr>
              <a:t>规划人员规划好小区数据，发给维护人员，并抄送优化人员。</a:t>
            </a:r>
            <a:endParaRPr lang="zh-CN" altLang="en-US" sz="1600" dirty="0">
              <a:latin typeface="微软雅黑" pitchFamily="34" charset="-122"/>
              <a:ea typeface="微软雅黑" pitchFamily="34" charset="-122"/>
            </a:endParaRPr>
          </a:p>
        </p:txBody>
      </p:sp>
      <p:sp>
        <p:nvSpPr>
          <p:cNvPr id="13" name="TextBox 12"/>
          <p:cNvSpPr txBox="1"/>
          <p:nvPr/>
        </p:nvSpPr>
        <p:spPr>
          <a:xfrm>
            <a:off x="4409926" y="3667159"/>
            <a:ext cx="2664296" cy="830997"/>
          </a:xfrm>
          <a:prstGeom prst="rect">
            <a:avLst/>
          </a:prstGeom>
          <a:noFill/>
          <a:ln>
            <a:solidFill>
              <a:schemeClr val="tx1"/>
            </a:solidFill>
          </a:ln>
        </p:spPr>
        <p:txBody>
          <a:bodyPr wrap="square" rtlCol="0">
            <a:spAutoFit/>
          </a:bodyPr>
          <a:lstStyle/>
          <a:p>
            <a:r>
              <a:rPr lang="zh-CN" altLang="en-US" sz="1600" dirty="0" smtClean="0">
                <a:latin typeface="微软雅黑" pitchFamily="34" charset="-122"/>
                <a:ea typeface="微软雅黑" pitchFamily="34" charset="-122"/>
              </a:rPr>
              <a:t>维护人员对各小区加载数据，小区名更改为入网名，完成后通知优化人员开通。</a:t>
            </a:r>
            <a:endParaRPr lang="zh-CN" altLang="en-US" sz="1600" dirty="0">
              <a:latin typeface="微软雅黑" pitchFamily="34" charset="-122"/>
              <a:ea typeface="微软雅黑" pitchFamily="34" charset="-122"/>
            </a:endParaRPr>
          </a:p>
        </p:txBody>
      </p:sp>
      <p:sp>
        <p:nvSpPr>
          <p:cNvPr id="14" name="TextBox 13"/>
          <p:cNvSpPr txBox="1"/>
          <p:nvPr/>
        </p:nvSpPr>
        <p:spPr>
          <a:xfrm>
            <a:off x="593502" y="3667159"/>
            <a:ext cx="3384376" cy="830997"/>
          </a:xfrm>
          <a:prstGeom prst="rect">
            <a:avLst/>
          </a:prstGeom>
          <a:noFill/>
          <a:ln>
            <a:solidFill>
              <a:schemeClr val="tx1"/>
            </a:solidFill>
          </a:ln>
        </p:spPr>
        <p:txBody>
          <a:bodyPr wrap="square" rtlCol="0">
            <a:spAutoFit/>
          </a:bodyPr>
          <a:lstStyle/>
          <a:p>
            <a:r>
              <a:rPr lang="zh-CN" altLang="en-US" sz="1600" dirty="0" smtClean="0">
                <a:latin typeface="微软雅黑" pitchFamily="34" charset="-122"/>
                <a:ea typeface="微软雅黑" pitchFamily="34" charset="-122"/>
              </a:rPr>
              <a:t>优化人员测试前对邻区常规参数进行检查优化，通知维护人员开通基站，对各小区进行功能验证并优化。</a:t>
            </a:r>
            <a:endParaRPr lang="zh-CN" altLang="en-US" sz="1600" dirty="0">
              <a:latin typeface="微软雅黑" pitchFamily="34" charset="-122"/>
              <a:ea typeface="微软雅黑" pitchFamily="34" charset="-122"/>
            </a:endParaRPr>
          </a:p>
        </p:txBody>
      </p:sp>
      <p:cxnSp>
        <p:nvCxnSpPr>
          <p:cNvPr id="16" name="直接箭头连接符 15"/>
          <p:cNvCxnSpPr>
            <a:stCxn id="7" idx="3"/>
            <a:endCxn id="8" idx="1"/>
          </p:cNvCxnSpPr>
          <p:nvPr/>
        </p:nvCxnSpPr>
        <p:spPr>
          <a:xfrm>
            <a:off x="1670913" y="2448650"/>
            <a:ext cx="634739"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9" idx="1"/>
          </p:cNvCxnSpPr>
          <p:nvPr/>
        </p:nvCxnSpPr>
        <p:spPr>
          <a:xfrm flipV="1">
            <a:off x="3926609" y="2444477"/>
            <a:ext cx="483317" cy="4173"/>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9" idx="3"/>
            <a:endCxn id="11" idx="1"/>
          </p:cNvCxnSpPr>
          <p:nvPr/>
        </p:nvCxnSpPr>
        <p:spPr>
          <a:xfrm>
            <a:off x="7074222" y="2444477"/>
            <a:ext cx="36004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8" idx="2"/>
            <a:endCxn id="10" idx="0"/>
          </p:cNvCxnSpPr>
          <p:nvPr/>
        </p:nvCxnSpPr>
        <p:spPr>
          <a:xfrm flipH="1">
            <a:off x="3112428" y="2617927"/>
            <a:ext cx="3703" cy="224045"/>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1" idx="2"/>
            <a:endCxn id="12" idx="0"/>
          </p:cNvCxnSpPr>
          <p:nvPr/>
        </p:nvCxnSpPr>
        <p:spPr>
          <a:xfrm>
            <a:off x="8694402" y="2983086"/>
            <a:ext cx="0" cy="684073"/>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2" idx="1"/>
            <a:endCxn id="13" idx="3"/>
          </p:cNvCxnSpPr>
          <p:nvPr/>
        </p:nvCxnSpPr>
        <p:spPr>
          <a:xfrm flipH="1">
            <a:off x="7074222" y="4082658"/>
            <a:ext cx="36004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3" idx="1"/>
            <a:endCxn id="14" idx="3"/>
          </p:cNvCxnSpPr>
          <p:nvPr/>
        </p:nvCxnSpPr>
        <p:spPr>
          <a:xfrm flipH="1">
            <a:off x="3977878" y="4082658"/>
            <a:ext cx="432048"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570501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10354"/>
            <a:ext cx="9649072" cy="3831818"/>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2.2</a:t>
            </a:r>
            <a:r>
              <a:rPr kumimoji="1" lang="zh-CN" altLang="en-US" b="1" dirty="0" smtClean="0">
                <a:latin typeface="微软雅黑"/>
                <a:ea typeface="微软雅黑"/>
                <a:cs typeface="微软雅黑"/>
              </a:rPr>
              <a:t>   室外宏站单站优化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2.2.2 </a:t>
            </a:r>
            <a:r>
              <a:rPr kumimoji="1" lang="zh-CN" altLang="en-US" b="1" dirty="0" smtClean="0">
                <a:latin typeface="微软雅黑"/>
                <a:ea typeface="微软雅黑"/>
                <a:cs typeface="微软雅黑"/>
              </a:rPr>
              <a:t>测试前准备</a:t>
            </a:r>
            <a:endParaRPr kumimoji="1" lang="en-US" altLang="zh-CN" b="1" dirty="0" smtClean="0">
              <a:latin typeface="微软雅黑"/>
              <a:ea typeface="微软雅黑"/>
              <a:cs typeface="微软雅黑"/>
            </a:endParaRPr>
          </a:p>
          <a:p>
            <a:pPr>
              <a:lnSpc>
                <a:spcPct val="150000"/>
              </a:lnSpc>
              <a:buClr>
                <a:srgbClr val="FF0000"/>
              </a:buClr>
              <a:buFont typeface="Wingdings" panose="05000000000000000000" pitchFamily="2" charset="2"/>
              <a:buChar char="l"/>
            </a:pPr>
            <a:r>
              <a:rPr kumimoji="1" lang="en-US" altLang="zh-CN" b="1" dirty="0">
                <a:latin typeface="微软雅黑"/>
                <a:ea typeface="微软雅黑"/>
                <a:cs typeface="微软雅黑"/>
              </a:rPr>
              <a:t> </a:t>
            </a:r>
            <a:r>
              <a:rPr kumimoji="1" lang="en-US" altLang="zh-CN" b="1" dirty="0" smtClean="0">
                <a:latin typeface="微软雅黑"/>
                <a:ea typeface="微软雅黑"/>
                <a:cs typeface="微软雅黑"/>
              </a:rPr>
              <a:t>  </a:t>
            </a:r>
            <a:r>
              <a:rPr kumimoji="1" lang="zh-CN" altLang="en-US" dirty="0" smtClean="0">
                <a:latin typeface="微软雅黑"/>
                <a:ea typeface="微软雅黑"/>
                <a:cs typeface="微软雅黑"/>
              </a:rPr>
              <a:t>站点</a:t>
            </a:r>
            <a:r>
              <a:rPr kumimoji="1" lang="zh-CN" altLang="en-US" dirty="0">
                <a:latin typeface="微软雅黑"/>
                <a:ea typeface="微软雅黑"/>
                <a:cs typeface="微软雅黑"/>
              </a:rPr>
              <a:t>状态检查：在站点测试前，首先需要准备待测区域多个基站或单个基站的小区清单，并确认这些待测小区状态</a:t>
            </a:r>
            <a:r>
              <a:rPr kumimoji="1" lang="zh-CN" altLang="en-US" dirty="0" smtClean="0">
                <a:latin typeface="微软雅黑"/>
                <a:ea typeface="微软雅黑"/>
                <a:cs typeface="微软雅黑"/>
              </a:rPr>
              <a:t>正常。</a:t>
            </a:r>
            <a:endParaRPr kumimoji="1" lang="zh-CN" altLang="en-US" dirty="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配置数据检查：在站点测试前，需要采集网络规划配置的数据以及基站数据库中配置的其他数据，并检查实际配置的数据与规划数据是否一致。在测试前必须取得待测站点各小区的站点位置、</a:t>
            </a:r>
            <a:r>
              <a:rPr kumimoji="1" lang="en-US" altLang="zh-CN" dirty="0">
                <a:latin typeface="微软雅黑"/>
                <a:ea typeface="微软雅黑"/>
                <a:cs typeface="微软雅黑"/>
              </a:rPr>
              <a:t>TA</a:t>
            </a:r>
            <a:r>
              <a:rPr kumimoji="1" lang="zh-CN" altLang="en-US" dirty="0">
                <a:latin typeface="微软雅黑"/>
                <a:ea typeface="微软雅黑"/>
                <a:cs typeface="微软雅黑"/>
              </a:rPr>
              <a:t>、</a:t>
            </a:r>
            <a:r>
              <a:rPr kumimoji="1" lang="en-US" altLang="zh-CN" dirty="0">
                <a:latin typeface="微软雅黑"/>
                <a:ea typeface="微软雅黑"/>
                <a:cs typeface="微软雅黑"/>
              </a:rPr>
              <a:t>UARFCN</a:t>
            </a:r>
            <a:r>
              <a:rPr kumimoji="1" lang="zh-CN" altLang="en-US" dirty="0">
                <a:latin typeface="微软雅黑"/>
                <a:ea typeface="微软雅黑"/>
                <a:cs typeface="微软雅黑"/>
              </a:rPr>
              <a:t>、</a:t>
            </a:r>
            <a:r>
              <a:rPr kumimoji="1" lang="en-US" altLang="zh-CN" dirty="0">
                <a:latin typeface="微软雅黑"/>
                <a:ea typeface="微软雅黑"/>
                <a:cs typeface="微软雅黑"/>
              </a:rPr>
              <a:t>PCI</a:t>
            </a:r>
            <a:r>
              <a:rPr kumimoji="1" lang="zh-CN" altLang="en-US" dirty="0">
                <a:latin typeface="微软雅黑"/>
                <a:ea typeface="微软雅黑"/>
                <a:cs typeface="微软雅黑"/>
              </a:rPr>
              <a:t>等。</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测试站点选择：为了保证测试的业务由待测小区提供，在选择测试点时，选择目标小区信号强度较强且其他小区信号相对较弱的位置进行小区设备功能测试</a:t>
            </a:r>
            <a:r>
              <a:rPr kumimoji="1" lang="zh-CN" altLang="en-US" dirty="0" smtClean="0">
                <a:latin typeface="微软雅黑"/>
                <a:ea typeface="微软雅黑"/>
                <a:cs typeface="微软雅黑"/>
              </a:rPr>
              <a:t>。      </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1728092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5748"/>
            <a:ext cx="9433048" cy="3416320"/>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2.2</a:t>
            </a:r>
            <a:r>
              <a:rPr kumimoji="1" lang="zh-CN" altLang="en-US" b="1" dirty="0" smtClean="0">
                <a:latin typeface="微软雅黑"/>
                <a:ea typeface="微软雅黑"/>
                <a:cs typeface="微软雅黑"/>
              </a:rPr>
              <a:t>   室外宏站单站优化</a:t>
            </a:r>
            <a:endParaRPr kumimoji="1" lang="en-US" altLang="zh-CN" b="1" dirty="0" smtClean="0">
              <a:latin typeface="微软雅黑"/>
              <a:ea typeface="微软雅黑"/>
              <a:cs typeface="微软雅黑"/>
            </a:endParaRPr>
          </a:p>
          <a:p>
            <a:pPr>
              <a:lnSpc>
                <a:spcPct val="150000"/>
              </a:lnSpc>
            </a:pPr>
            <a:r>
              <a:rPr kumimoji="1" lang="en-US" altLang="zh-CN" b="1" dirty="0">
                <a:latin typeface="微软雅黑"/>
                <a:ea typeface="微软雅黑"/>
                <a:cs typeface="微软雅黑"/>
              </a:rPr>
              <a:t>2.2.3  </a:t>
            </a:r>
            <a:r>
              <a:rPr kumimoji="1" lang="en-US" altLang="zh-CN" b="1" dirty="0" smtClean="0">
                <a:latin typeface="微软雅黑"/>
                <a:ea typeface="微软雅黑"/>
                <a:cs typeface="微软雅黑"/>
              </a:rPr>
              <a:t>IDLE</a:t>
            </a:r>
            <a:r>
              <a:rPr kumimoji="1" lang="zh-CN" altLang="en-US" b="1" dirty="0">
                <a:latin typeface="微软雅黑"/>
                <a:ea typeface="微软雅黑"/>
                <a:cs typeface="微软雅黑"/>
              </a:rPr>
              <a:t>模式下验证工作</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频率</a:t>
            </a:r>
            <a:r>
              <a:rPr kumimoji="1" lang="zh-CN" altLang="en-US" dirty="0">
                <a:latin typeface="微软雅黑"/>
                <a:ea typeface="微软雅黑"/>
                <a:cs typeface="微软雅黑"/>
              </a:rPr>
              <a:t>检查：在路测软件上检查各小区频点是否正确</a:t>
            </a:r>
          </a:p>
          <a:p>
            <a:pPr indent="-285750">
              <a:lnSpc>
                <a:spcPct val="150000"/>
              </a:lnSpc>
              <a:buClr>
                <a:srgbClr val="FF0000"/>
              </a:buClr>
              <a:buFont typeface="Wingdings" panose="05000000000000000000" pitchFamily="2" charset="2"/>
              <a:buChar char="l"/>
            </a:pPr>
            <a:r>
              <a:rPr kumimoji="1" lang="en-US" altLang="zh-CN" dirty="0" smtClean="0">
                <a:latin typeface="微软雅黑"/>
                <a:ea typeface="微软雅黑"/>
                <a:cs typeface="微软雅黑"/>
              </a:rPr>
              <a:t>PCI</a:t>
            </a:r>
            <a:r>
              <a:rPr kumimoji="1" lang="zh-CN" altLang="en-US" dirty="0">
                <a:latin typeface="微软雅黑"/>
                <a:ea typeface="微软雅黑"/>
                <a:cs typeface="微软雅黑"/>
              </a:rPr>
              <a:t>检查：在路测软件上检查各小区</a:t>
            </a:r>
            <a:r>
              <a:rPr kumimoji="1" lang="en-US" altLang="zh-CN" dirty="0">
                <a:latin typeface="微软雅黑"/>
                <a:ea typeface="微软雅黑"/>
                <a:cs typeface="微软雅黑"/>
              </a:rPr>
              <a:t>PCI</a:t>
            </a:r>
            <a:r>
              <a:rPr kumimoji="1" lang="zh-CN" altLang="en-US" dirty="0">
                <a:latin typeface="微软雅黑"/>
                <a:ea typeface="微软雅黑"/>
                <a:cs typeface="微软雅黑"/>
              </a:rPr>
              <a:t>是否正确</a:t>
            </a:r>
          </a:p>
          <a:p>
            <a:pPr indent="-285750">
              <a:lnSpc>
                <a:spcPct val="150000"/>
              </a:lnSpc>
              <a:buClr>
                <a:srgbClr val="FF0000"/>
              </a:buClr>
              <a:buFont typeface="Wingdings" panose="05000000000000000000" pitchFamily="2" charset="2"/>
              <a:buChar char="l"/>
            </a:pPr>
            <a:r>
              <a:rPr kumimoji="1" lang="en-US" altLang="zh-CN" dirty="0" smtClean="0">
                <a:latin typeface="微软雅黑"/>
                <a:ea typeface="微软雅黑"/>
                <a:cs typeface="微软雅黑"/>
              </a:rPr>
              <a:t>TA</a:t>
            </a:r>
            <a:r>
              <a:rPr kumimoji="1" lang="zh-CN" altLang="en-US" dirty="0">
                <a:latin typeface="微软雅黑"/>
                <a:ea typeface="微软雅黑"/>
                <a:cs typeface="微软雅黑"/>
              </a:rPr>
              <a:t>检查：在路测软件上检查各小区</a:t>
            </a:r>
            <a:r>
              <a:rPr kumimoji="1" lang="en-US" altLang="zh-CN" dirty="0">
                <a:latin typeface="微软雅黑"/>
                <a:ea typeface="微软雅黑"/>
                <a:cs typeface="微软雅黑"/>
              </a:rPr>
              <a:t>TA</a:t>
            </a:r>
            <a:r>
              <a:rPr kumimoji="1" lang="zh-CN" altLang="en-US" dirty="0">
                <a:latin typeface="微软雅黑"/>
                <a:ea typeface="微软雅黑"/>
                <a:cs typeface="微软雅黑"/>
              </a:rPr>
              <a:t>是否正确</a:t>
            </a: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小区</a:t>
            </a:r>
            <a:r>
              <a:rPr kumimoji="1" lang="zh-CN" altLang="en-US" dirty="0">
                <a:latin typeface="微软雅黑"/>
                <a:ea typeface="微软雅黑"/>
                <a:cs typeface="微软雅黑"/>
              </a:rPr>
              <a:t>重选：在路测软件上测试检查小区重选参数是否设置正常，并进行站内小区重选</a:t>
            </a:r>
          </a:p>
          <a:p>
            <a:pPr indent="-285750">
              <a:lnSpc>
                <a:spcPct val="150000"/>
              </a:lnSpc>
              <a:buClr>
                <a:srgbClr val="FF0000"/>
              </a:buClr>
              <a:buFont typeface="Wingdings" panose="05000000000000000000" pitchFamily="2" charset="2"/>
              <a:buChar char="l"/>
            </a:pPr>
            <a:endParaRPr kumimoji="1" lang="en-US" altLang="zh-CN" dirty="0">
              <a:latin typeface="微软雅黑"/>
              <a:ea typeface="微软雅黑"/>
              <a:cs typeface="微软雅黑"/>
            </a:endParaRPr>
          </a:p>
          <a:p>
            <a:pPr>
              <a:lnSpc>
                <a:spcPct val="150000"/>
              </a:lnSpc>
            </a:pPr>
            <a:r>
              <a:rPr kumimoji="1" lang="zh-CN" altLang="en-US" dirty="0" smtClean="0">
                <a:latin typeface="微软雅黑"/>
                <a:ea typeface="微软雅黑"/>
                <a:cs typeface="微软雅黑"/>
              </a:rPr>
              <a:t>       </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3987164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21494" y="753740"/>
            <a:ext cx="9361040" cy="3831818"/>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2.2</a:t>
            </a:r>
            <a:r>
              <a:rPr kumimoji="1" lang="zh-CN" altLang="en-US" b="1" dirty="0" smtClean="0">
                <a:latin typeface="微软雅黑"/>
                <a:ea typeface="微软雅黑"/>
                <a:cs typeface="微软雅黑"/>
              </a:rPr>
              <a:t>   室外宏站单站优化</a:t>
            </a:r>
            <a:endParaRPr kumimoji="1" lang="en-US" altLang="zh-CN" b="1" dirty="0" smtClean="0">
              <a:latin typeface="微软雅黑"/>
              <a:ea typeface="微软雅黑"/>
              <a:cs typeface="微软雅黑"/>
            </a:endParaRPr>
          </a:p>
          <a:p>
            <a:pPr>
              <a:lnSpc>
                <a:spcPct val="150000"/>
              </a:lnSpc>
            </a:pPr>
            <a:r>
              <a:rPr kumimoji="1" lang="en-US" altLang="zh-CN" b="1" dirty="0">
                <a:latin typeface="微软雅黑"/>
                <a:ea typeface="微软雅黑"/>
                <a:cs typeface="微软雅黑"/>
              </a:rPr>
              <a:t>2.2.4  </a:t>
            </a:r>
            <a:r>
              <a:rPr kumimoji="1" lang="en-US" altLang="zh-CN" b="1" dirty="0" smtClean="0">
                <a:latin typeface="微软雅黑"/>
                <a:ea typeface="微软雅黑"/>
                <a:cs typeface="微软雅黑"/>
              </a:rPr>
              <a:t>Connect</a:t>
            </a:r>
            <a:r>
              <a:rPr kumimoji="1" lang="zh-CN" altLang="en-US" b="1" dirty="0">
                <a:latin typeface="微软雅黑"/>
                <a:ea typeface="微软雅黑"/>
                <a:cs typeface="微软雅黑"/>
              </a:rPr>
              <a:t>模式下验证</a:t>
            </a:r>
            <a:r>
              <a:rPr kumimoji="1" lang="zh-CN" altLang="en-US" b="1" dirty="0" smtClean="0">
                <a:latin typeface="微软雅黑"/>
                <a:ea typeface="微软雅黑"/>
                <a:cs typeface="微软雅黑"/>
              </a:rPr>
              <a:t>工作</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en-US" altLang="zh-CN" dirty="0" smtClean="0">
                <a:latin typeface="微软雅黑"/>
                <a:ea typeface="微软雅黑"/>
                <a:cs typeface="微软雅黑"/>
              </a:rPr>
              <a:t>Attach</a:t>
            </a:r>
            <a:r>
              <a:rPr kumimoji="1" lang="zh-CN" altLang="en-US" dirty="0">
                <a:latin typeface="微软雅黑"/>
                <a:ea typeface="微软雅黑"/>
                <a:cs typeface="微软雅黑"/>
              </a:rPr>
              <a:t>激活成功率：终端随机接入网络并进行</a:t>
            </a:r>
            <a:r>
              <a:rPr kumimoji="1" lang="en-US" altLang="zh-CN" dirty="0">
                <a:latin typeface="微软雅黑"/>
                <a:ea typeface="微软雅黑"/>
                <a:cs typeface="微软雅黑"/>
              </a:rPr>
              <a:t>attach</a:t>
            </a:r>
            <a:r>
              <a:rPr kumimoji="1" lang="zh-CN" altLang="en-US" dirty="0">
                <a:latin typeface="微软雅黑"/>
                <a:ea typeface="微软雅黑"/>
                <a:cs typeface="微软雅黑"/>
              </a:rPr>
              <a:t>激活，需要统计终端</a:t>
            </a:r>
            <a:r>
              <a:rPr kumimoji="1" lang="en-US" altLang="zh-CN" dirty="0">
                <a:latin typeface="微软雅黑"/>
                <a:ea typeface="微软雅黑"/>
                <a:cs typeface="微软雅黑"/>
              </a:rPr>
              <a:t>attach</a:t>
            </a:r>
            <a:r>
              <a:rPr kumimoji="1" lang="zh-CN" altLang="en-US" dirty="0">
                <a:latin typeface="微软雅黑"/>
                <a:ea typeface="微软雅黑"/>
                <a:cs typeface="微软雅黑"/>
              </a:rPr>
              <a:t>激活成功率，如果存在问题，需要定位解决后重新测试</a:t>
            </a: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随机接入</a:t>
            </a:r>
            <a:r>
              <a:rPr kumimoji="1" lang="zh-CN" altLang="en-US" dirty="0">
                <a:latin typeface="微软雅黑"/>
                <a:ea typeface="微软雅黑"/>
                <a:cs typeface="微软雅黑"/>
              </a:rPr>
              <a:t>成功率：终端随机接入网络，</a:t>
            </a:r>
            <a:r>
              <a:rPr kumimoji="1" lang="en-US" altLang="zh-CN" dirty="0">
                <a:latin typeface="微软雅黑"/>
                <a:ea typeface="微软雅黑"/>
                <a:cs typeface="微软雅黑"/>
              </a:rPr>
              <a:t>msg5</a:t>
            </a:r>
            <a:r>
              <a:rPr kumimoji="1" lang="zh-CN" altLang="en-US" dirty="0">
                <a:latin typeface="微软雅黑"/>
                <a:ea typeface="微软雅黑"/>
                <a:cs typeface="微软雅黑"/>
              </a:rPr>
              <a:t>完成后认为随机接入成功，需要统计随机接入成功率，如果存在问题，需要定位解决并重新测试。</a:t>
            </a: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寻呼</a:t>
            </a:r>
            <a:r>
              <a:rPr kumimoji="1" lang="zh-CN" altLang="en-US" dirty="0">
                <a:latin typeface="微软雅黑"/>
                <a:ea typeface="微软雅黑"/>
                <a:cs typeface="微软雅黑"/>
              </a:rPr>
              <a:t>测试：网络侧下发寻呼指令，检查终端是否可以从</a:t>
            </a:r>
            <a:r>
              <a:rPr kumimoji="1" lang="en-US" altLang="zh-CN" dirty="0">
                <a:latin typeface="微软雅黑"/>
                <a:ea typeface="微软雅黑"/>
                <a:cs typeface="微软雅黑"/>
              </a:rPr>
              <a:t>idle</a:t>
            </a:r>
            <a:r>
              <a:rPr kumimoji="1" lang="zh-CN" altLang="en-US" dirty="0">
                <a:latin typeface="微软雅黑"/>
                <a:ea typeface="微软雅黑"/>
                <a:cs typeface="微软雅黑"/>
              </a:rPr>
              <a:t>状态顺利进入</a:t>
            </a:r>
            <a:r>
              <a:rPr kumimoji="1" lang="en-US" altLang="zh-CN" dirty="0">
                <a:latin typeface="微软雅黑"/>
                <a:ea typeface="微软雅黑"/>
                <a:cs typeface="微软雅黑"/>
              </a:rPr>
              <a:t>active</a:t>
            </a:r>
            <a:r>
              <a:rPr kumimoji="1" lang="zh-CN" altLang="en-US" dirty="0">
                <a:latin typeface="微软雅黑"/>
                <a:ea typeface="微软雅黑"/>
                <a:cs typeface="微软雅黑"/>
              </a:rPr>
              <a:t>状态</a:t>
            </a: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切换</a:t>
            </a:r>
            <a:r>
              <a:rPr kumimoji="1" lang="zh-CN" altLang="en-US" dirty="0">
                <a:latin typeface="微软雅黑"/>
                <a:ea typeface="微软雅黑"/>
                <a:cs typeface="微软雅黑"/>
              </a:rPr>
              <a:t>测试：利用</a:t>
            </a:r>
            <a:r>
              <a:rPr kumimoji="1" lang="en-US" altLang="zh-CN" dirty="0">
                <a:latin typeface="微软雅黑"/>
                <a:ea typeface="微软雅黑"/>
                <a:cs typeface="微软雅黑"/>
              </a:rPr>
              <a:t>UE</a:t>
            </a:r>
            <a:r>
              <a:rPr kumimoji="1" lang="zh-CN" altLang="en-US" dirty="0">
                <a:latin typeface="微软雅黑"/>
                <a:ea typeface="微软雅黑"/>
                <a:cs typeface="微软雅黑"/>
              </a:rPr>
              <a:t>进行不间断测试，切换是否正常</a:t>
            </a: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上</a:t>
            </a:r>
            <a:r>
              <a:rPr kumimoji="1" lang="zh-CN" altLang="en-US" dirty="0">
                <a:latin typeface="微软雅黑"/>
                <a:ea typeface="微软雅黑"/>
                <a:cs typeface="微软雅黑"/>
              </a:rPr>
              <a:t>传下载业务测试：终端进行指定</a:t>
            </a:r>
            <a:r>
              <a:rPr kumimoji="1" lang="en-US" altLang="zh-CN" dirty="0">
                <a:latin typeface="微软雅黑"/>
                <a:ea typeface="微软雅黑"/>
                <a:cs typeface="微软雅黑"/>
              </a:rPr>
              <a:t>ftp</a:t>
            </a:r>
            <a:r>
              <a:rPr kumimoji="1" lang="zh-CN" altLang="en-US" dirty="0">
                <a:latin typeface="微软雅黑"/>
                <a:ea typeface="微软雅黑"/>
                <a:cs typeface="微软雅黑"/>
              </a:rPr>
              <a:t>业务，保持</a:t>
            </a:r>
            <a:r>
              <a:rPr kumimoji="1" lang="en-US" altLang="zh-CN" dirty="0">
                <a:latin typeface="微软雅黑"/>
                <a:ea typeface="微软雅黑"/>
                <a:cs typeface="微软雅黑"/>
              </a:rPr>
              <a:t>3min</a:t>
            </a:r>
            <a:r>
              <a:rPr kumimoji="1" lang="zh-CN" altLang="en-US" dirty="0">
                <a:latin typeface="微软雅黑"/>
                <a:ea typeface="微软雅黑"/>
                <a:cs typeface="微软雅黑"/>
              </a:rPr>
              <a:t>，统计上传下载</a:t>
            </a:r>
            <a:r>
              <a:rPr kumimoji="1" lang="zh-CN" altLang="en-US" dirty="0" smtClean="0">
                <a:latin typeface="微软雅黑"/>
                <a:ea typeface="微软雅黑"/>
                <a:cs typeface="微软雅黑"/>
              </a:rPr>
              <a:t>速率      </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692130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521494" y="825748"/>
            <a:ext cx="9505056" cy="3416320"/>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2.3.1  </a:t>
            </a:r>
            <a:r>
              <a:rPr kumimoji="1" lang="zh-CN" altLang="en-US" b="1" dirty="0" smtClean="0">
                <a:latin typeface="微软雅黑"/>
                <a:ea typeface="微软雅黑"/>
                <a:cs typeface="微软雅黑"/>
              </a:rPr>
              <a:t>测试前准备</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信息准备：测试前需要先期获取测试点的相关信息，包括站点名称、位置、室内分区、室外邻区、楼层平面图、系统设计图、物业联系人和联系方式、测试点承建集成商的信息等。</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测试设备仪表准备：测试终端及数据线</a:t>
            </a:r>
            <a:r>
              <a:rPr kumimoji="1" lang="en-US" altLang="zh-CN" dirty="0">
                <a:latin typeface="微软雅黑"/>
                <a:ea typeface="微软雅黑"/>
                <a:cs typeface="微软雅黑"/>
              </a:rPr>
              <a:t>1</a:t>
            </a:r>
            <a:r>
              <a:rPr kumimoji="1" lang="zh-CN" altLang="en-US" dirty="0">
                <a:latin typeface="微软雅黑"/>
                <a:ea typeface="微软雅黑"/>
                <a:cs typeface="微软雅黑"/>
              </a:rPr>
              <a:t>套、其他终端</a:t>
            </a:r>
            <a:r>
              <a:rPr kumimoji="1" lang="en-US" altLang="zh-CN" dirty="0">
                <a:latin typeface="微软雅黑"/>
                <a:ea typeface="微软雅黑"/>
                <a:cs typeface="微软雅黑"/>
              </a:rPr>
              <a:t>(</a:t>
            </a:r>
            <a:r>
              <a:rPr kumimoji="1" lang="zh-CN" altLang="en-US" dirty="0">
                <a:latin typeface="微软雅黑"/>
                <a:ea typeface="微软雅黑"/>
                <a:cs typeface="微软雅黑"/>
              </a:rPr>
              <a:t>含充电器</a:t>
            </a:r>
            <a:r>
              <a:rPr kumimoji="1" lang="en-US" altLang="zh-CN" dirty="0">
                <a:latin typeface="微软雅黑"/>
                <a:ea typeface="微软雅黑"/>
                <a:cs typeface="微软雅黑"/>
              </a:rPr>
              <a:t>) 8</a:t>
            </a:r>
            <a:r>
              <a:rPr kumimoji="1" lang="zh-CN" altLang="en-US" dirty="0">
                <a:latin typeface="微软雅黑"/>
                <a:ea typeface="微软雅黑"/>
                <a:cs typeface="微软雅黑"/>
              </a:rPr>
              <a:t>部；测试软件和软件狗</a:t>
            </a:r>
            <a:r>
              <a:rPr kumimoji="1" lang="en-US" altLang="zh-CN" dirty="0">
                <a:latin typeface="微软雅黑"/>
                <a:ea typeface="微软雅黑"/>
                <a:cs typeface="微软雅黑"/>
              </a:rPr>
              <a:t>1</a:t>
            </a:r>
            <a:r>
              <a:rPr kumimoji="1" lang="zh-CN" altLang="en-US" dirty="0">
                <a:latin typeface="微软雅黑"/>
                <a:ea typeface="微软雅黑"/>
                <a:cs typeface="微软雅黑"/>
              </a:rPr>
              <a:t>套、笔记本电脑</a:t>
            </a:r>
            <a:r>
              <a:rPr kumimoji="1" lang="en-US" altLang="zh-CN" dirty="0">
                <a:latin typeface="微软雅黑"/>
                <a:ea typeface="微软雅黑"/>
                <a:cs typeface="微软雅黑"/>
              </a:rPr>
              <a:t>1</a:t>
            </a:r>
            <a:r>
              <a:rPr kumimoji="1" lang="zh-CN" altLang="en-US" dirty="0">
                <a:latin typeface="微软雅黑"/>
                <a:ea typeface="微软雅黑"/>
                <a:cs typeface="微软雅黑"/>
              </a:rPr>
              <a:t>部、数据卡</a:t>
            </a:r>
            <a:r>
              <a:rPr kumimoji="1" lang="en-US" altLang="zh-CN" dirty="0">
                <a:latin typeface="微软雅黑"/>
                <a:ea typeface="微软雅黑"/>
                <a:cs typeface="微软雅黑"/>
              </a:rPr>
              <a:t>2</a:t>
            </a:r>
            <a:r>
              <a:rPr kumimoji="1" lang="zh-CN" altLang="en-US" dirty="0">
                <a:latin typeface="微软雅黑"/>
                <a:ea typeface="微软雅黑"/>
                <a:cs typeface="微软雅黑"/>
              </a:rPr>
              <a:t>～</a:t>
            </a:r>
            <a:r>
              <a:rPr kumimoji="1" lang="en-US" altLang="zh-CN" dirty="0">
                <a:latin typeface="微软雅黑"/>
                <a:ea typeface="微软雅黑"/>
                <a:cs typeface="微软雅黑"/>
              </a:rPr>
              <a:t>3</a:t>
            </a:r>
            <a:r>
              <a:rPr kumimoji="1" lang="zh-CN" altLang="en-US" dirty="0">
                <a:latin typeface="微软雅黑"/>
                <a:ea typeface="微软雅黑"/>
                <a:cs typeface="微软雅黑"/>
              </a:rPr>
              <a:t>张、</a:t>
            </a:r>
            <a:r>
              <a:rPr kumimoji="1" lang="en-US" altLang="zh-CN" dirty="0">
                <a:latin typeface="微软雅黑"/>
                <a:ea typeface="微软雅黑"/>
                <a:cs typeface="微软雅黑"/>
              </a:rPr>
              <a:t>SIM</a:t>
            </a:r>
            <a:r>
              <a:rPr kumimoji="1" lang="zh-CN" altLang="en-US" dirty="0">
                <a:latin typeface="微软雅黑"/>
                <a:ea typeface="微软雅黑"/>
                <a:cs typeface="微软雅黑"/>
              </a:rPr>
              <a:t>卡</a:t>
            </a:r>
            <a:r>
              <a:rPr kumimoji="1" lang="en-US" altLang="zh-CN" dirty="0">
                <a:latin typeface="微软雅黑"/>
                <a:ea typeface="微软雅黑"/>
                <a:cs typeface="微软雅黑"/>
              </a:rPr>
              <a:t>(</a:t>
            </a:r>
            <a:r>
              <a:rPr kumimoji="1" lang="zh-CN" altLang="en-US" dirty="0">
                <a:latin typeface="微软雅黑"/>
                <a:ea typeface="微软雅黑"/>
                <a:cs typeface="微软雅黑"/>
              </a:rPr>
              <a:t>对应所有终端和数据卡数量</a:t>
            </a:r>
            <a:r>
              <a:rPr kumimoji="1" lang="en-US" altLang="zh-CN" dirty="0">
                <a:latin typeface="微软雅黑"/>
                <a:ea typeface="微软雅黑"/>
                <a:cs typeface="微软雅黑"/>
              </a:rPr>
              <a:t>)</a:t>
            </a:r>
            <a:r>
              <a:rPr kumimoji="1" lang="zh-CN" altLang="en-US" dirty="0">
                <a:latin typeface="微软雅黑"/>
                <a:ea typeface="微软雅黑"/>
                <a:cs typeface="微软雅黑"/>
              </a:rPr>
              <a:t>、信令跟踪分析仪</a:t>
            </a:r>
            <a:r>
              <a:rPr kumimoji="1" lang="en-US" altLang="zh-CN" dirty="0">
                <a:latin typeface="微软雅黑"/>
                <a:ea typeface="微软雅黑"/>
                <a:cs typeface="微软雅黑"/>
              </a:rPr>
              <a:t>1</a:t>
            </a:r>
            <a:r>
              <a:rPr kumimoji="1" lang="zh-CN" altLang="en-US" dirty="0">
                <a:latin typeface="微软雅黑"/>
                <a:ea typeface="微软雅黑"/>
                <a:cs typeface="微软雅黑"/>
              </a:rPr>
              <a:t>部</a:t>
            </a:r>
            <a:r>
              <a:rPr kumimoji="1" lang="en-US" altLang="zh-CN" dirty="0">
                <a:latin typeface="微软雅黑"/>
                <a:ea typeface="微软雅黑"/>
                <a:cs typeface="微软雅黑"/>
              </a:rPr>
              <a:t>(</a:t>
            </a:r>
            <a:r>
              <a:rPr kumimoji="1" lang="zh-CN" altLang="en-US" dirty="0">
                <a:latin typeface="微软雅黑"/>
                <a:ea typeface="微软雅黑"/>
                <a:cs typeface="微软雅黑"/>
              </a:rPr>
              <a:t>如</a:t>
            </a:r>
            <a:r>
              <a:rPr kumimoji="1" lang="en-US" altLang="zh-CN" dirty="0">
                <a:latin typeface="微软雅黑"/>
                <a:ea typeface="微软雅黑"/>
                <a:cs typeface="微软雅黑"/>
              </a:rPr>
              <a:t>K1297)</a:t>
            </a:r>
            <a:r>
              <a:rPr kumimoji="1" lang="zh-CN" altLang="en-US" dirty="0">
                <a:latin typeface="微软雅黑"/>
                <a:ea typeface="微软雅黑"/>
                <a:cs typeface="微软雅黑"/>
              </a:rPr>
              <a:t>、</a:t>
            </a:r>
            <a:r>
              <a:rPr kumimoji="1" lang="en-US" altLang="zh-CN" dirty="0">
                <a:latin typeface="微软雅黑"/>
                <a:ea typeface="微软雅黑"/>
                <a:cs typeface="微软雅黑"/>
              </a:rPr>
              <a:t>SiteMaster1</a:t>
            </a:r>
            <a:r>
              <a:rPr kumimoji="1" lang="zh-CN" altLang="en-US" dirty="0">
                <a:latin typeface="微软雅黑"/>
                <a:ea typeface="微软雅黑"/>
                <a:cs typeface="微软雅黑"/>
              </a:rPr>
              <a:t>部、蓄电池和逆变器及多用插座</a:t>
            </a:r>
            <a:r>
              <a:rPr kumimoji="1" lang="en-US" altLang="zh-CN" dirty="0">
                <a:latin typeface="微软雅黑"/>
                <a:ea typeface="微软雅黑"/>
                <a:cs typeface="微软雅黑"/>
              </a:rPr>
              <a:t>1</a:t>
            </a:r>
            <a:r>
              <a:rPr kumimoji="1" lang="zh-CN" altLang="en-US" dirty="0">
                <a:latin typeface="微软雅黑"/>
                <a:ea typeface="微软雅黑"/>
                <a:cs typeface="微软雅黑"/>
              </a:rPr>
              <a:t>套。</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测试人员准备：一般参加测试的人数</a:t>
            </a:r>
            <a:r>
              <a:rPr kumimoji="1" lang="en-US" altLang="zh-CN" dirty="0">
                <a:latin typeface="微软雅黑"/>
                <a:ea typeface="微软雅黑"/>
                <a:cs typeface="微软雅黑"/>
              </a:rPr>
              <a:t>2</a:t>
            </a:r>
            <a:r>
              <a:rPr kumimoji="1" lang="zh-CN" altLang="en-US" dirty="0">
                <a:latin typeface="微软雅黑"/>
                <a:ea typeface="微软雅黑"/>
                <a:cs typeface="微软雅黑"/>
              </a:rPr>
              <a:t>～</a:t>
            </a:r>
            <a:r>
              <a:rPr kumimoji="1" lang="en-US" altLang="zh-CN" dirty="0">
                <a:latin typeface="微软雅黑"/>
                <a:ea typeface="微软雅黑"/>
                <a:cs typeface="微软雅黑"/>
              </a:rPr>
              <a:t>3</a:t>
            </a:r>
            <a:r>
              <a:rPr kumimoji="1" lang="zh-CN" altLang="en-US" dirty="0">
                <a:latin typeface="微软雅黑"/>
                <a:ea typeface="微软雅黑"/>
                <a:cs typeface="微软雅黑"/>
              </a:rPr>
              <a:t>人，以及相应的联系方式</a:t>
            </a:r>
            <a:r>
              <a:rPr kumimoji="1" lang="zh-CN" altLang="en-US" dirty="0" smtClean="0">
                <a:latin typeface="微软雅黑"/>
                <a:ea typeface="微软雅黑"/>
                <a:cs typeface="微软雅黑"/>
              </a:rPr>
              <a:t>。      </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275745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5748"/>
            <a:ext cx="9505056" cy="3831818"/>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2.3.2  </a:t>
            </a:r>
            <a:r>
              <a:rPr kumimoji="1" lang="zh-CN" altLang="en-US" b="1" dirty="0" smtClean="0">
                <a:latin typeface="微软雅黑"/>
                <a:ea typeface="微软雅黑"/>
                <a:cs typeface="微软雅黑"/>
              </a:rPr>
              <a:t>覆盖性能测试</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选择室内测试路线，测试路线应遍历室内主要覆盖区；</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根据测试路线，抽样选取典型天线点位，使用频谱仪对该点位天线口信号</a:t>
            </a:r>
            <a:r>
              <a:rPr kumimoji="1" lang="en-US" altLang="zh-CN" dirty="0">
                <a:latin typeface="微软雅黑"/>
                <a:ea typeface="微软雅黑"/>
                <a:cs typeface="微软雅黑"/>
              </a:rPr>
              <a:t>RSRP</a:t>
            </a:r>
            <a:r>
              <a:rPr kumimoji="1" lang="zh-CN" altLang="en-US" dirty="0">
                <a:latin typeface="微软雅黑"/>
                <a:ea typeface="微软雅黑"/>
                <a:cs typeface="微软雅黑"/>
              </a:rPr>
              <a:t>功率进行测试。每层抽样数量不少于该层总数的</a:t>
            </a:r>
            <a:r>
              <a:rPr kumimoji="1" lang="en-US" altLang="zh-CN" dirty="0">
                <a:latin typeface="微软雅黑"/>
                <a:ea typeface="微软雅黑"/>
                <a:cs typeface="微软雅黑"/>
              </a:rPr>
              <a:t>30</a:t>
            </a:r>
            <a:r>
              <a:rPr kumimoji="1" lang="zh-CN" altLang="en-US" dirty="0">
                <a:latin typeface="微软雅黑"/>
                <a:ea typeface="微软雅黑"/>
                <a:cs typeface="微软雅黑"/>
              </a:rPr>
              <a:t>％；</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打开路测软件，在室内以步行速度沿测试路线测试。路测仪记录接收的</a:t>
            </a:r>
            <a:r>
              <a:rPr kumimoji="1" lang="en-US" altLang="zh-CN" dirty="0">
                <a:latin typeface="微软雅黑"/>
                <a:ea typeface="微软雅黑"/>
                <a:cs typeface="微软雅黑"/>
              </a:rPr>
              <a:t>RSRP</a:t>
            </a:r>
            <a:r>
              <a:rPr kumimoji="1" lang="zh-CN" altLang="en-US" dirty="0">
                <a:latin typeface="微软雅黑"/>
                <a:ea typeface="微软雅黑"/>
                <a:cs typeface="微软雅黑"/>
              </a:rPr>
              <a:t>、</a:t>
            </a:r>
            <a:r>
              <a:rPr kumimoji="1" lang="en-US" altLang="zh-CN" dirty="0">
                <a:latin typeface="微软雅黑"/>
                <a:ea typeface="微软雅黑"/>
                <a:cs typeface="微软雅黑"/>
              </a:rPr>
              <a:t>SINR</a:t>
            </a:r>
            <a:r>
              <a:rPr kumimoji="1" lang="zh-CN" altLang="en-US" dirty="0">
                <a:latin typeface="微软雅黑"/>
                <a:ea typeface="微软雅黑"/>
                <a:cs typeface="微软雅黑"/>
              </a:rPr>
              <a:t>、</a:t>
            </a:r>
            <a:r>
              <a:rPr kumimoji="1" lang="en-US" altLang="zh-CN" dirty="0">
                <a:latin typeface="微软雅黑"/>
                <a:ea typeface="微软雅黑"/>
                <a:cs typeface="微软雅黑"/>
              </a:rPr>
              <a:t>PCI</a:t>
            </a:r>
            <a:r>
              <a:rPr kumimoji="1" lang="zh-CN" altLang="en-US" dirty="0">
                <a:latin typeface="微软雅黑"/>
                <a:ea typeface="微软雅黑"/>
                <a:cs typeface="微软雅黑"/>
              </a:rPr>
              <a:t>等数据；</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打开路测软件，在室外</a:t>
            </a:r>
            <a:r>
              <a:rPr kumimoji="1" lang="en-US" altLang="zh-CN" dirty="0">
                <a:latin typeface="微软雅黑"/>
                <a:ea typeface="微软雅黑"/>
                <a:cs typeface="微软雅黑"/>
              </a:rPr>
              <a:t>20</a:t>
            </a:r>
            <a:r>
              <a:rPr kumimoji="1" lang="zh-CN" altLang="en-US" dirty="0">
                <a:latin typeface="微软雅黑"/>
                <a:ea typeface="微软雅黑"/>
                <a:cs typeface="微软雅黑"/>
              </a:rPr>
              <a:t>米周边范围内以步行速度环绕建筑物，测试终端锁定室内目标小区进行测试，路测仪记录接收的</a:t>
            </a:r>
            <a:r>
              <a:rPr kumimoji="1" lang="en-US" altLang="zh-CN" dirty="0">
                <a:latin typeface="微软雅黑"/>
                <a:ea typeface="微软雅黑"/>
                <a:cs typeface="微软雅黑"/>
              </a:rPr>
              <a:t>RSRP</a:t>
            </a:r>
            <a:r>
              <a:rPr kumimoji="1" lang="zh-CN" altLang="en-US" dirty="0">
                <a:latin typeface="微软雅黑"/>
                <a:ea typeface="微软雅黑"/>
                <a:cs typeface="微软雅黑"/>
              </a:rPr>
              <a:t>、</a:t>
            </a:r>
            <a:r>
              <a:rPr kumimoji="1" lang="en-US" altLang="zh-CN" dirty="0">
                <a:latin typeface="微软雅黑"/>
                <a:ea typeface="微软雅黑"/>
                <a:cs typeface="微软雅黑"/>
              </a:rPr>
              <a:t>SINR</a:t>
            </a:r>
            <a:r>
              <a:rPr kumimoji="1" lang="zh-CN" altLang="en-US" dirty="0">
                <a:latin typeface="微软雅黑"/>
                <a:ea typeface="微软雅黑"/>
                <a:cs typeface="微软雅黑"/>
              </a:rPr>
              <a:t>、</a:t>
            </a:r>
            <a:r>
              <a:rPr kumimoji="1" lang="en-US" altLang="zh-CN" dirty="0">
                <a:latin typeface="微软雅黑"/>
                <a:ea typeface="微软雅黑"/>
                <a:cs typeface="微软雅黑"/>
              </a:rPr>
              <a:t>PCI</a:t>
            </a:r>
            <a:r>
              <a:rPr kumimoji="1" lang="zh-CN" altLang="en-US" dirty="0">
                <a:latin typeface="微软雅黑"/>
                <a:ea typeface="微软雅黑"/>
                <a:cs typeface="微软雅黑"/>
              </a:rPr>
              <a:t>等</a:t>
            </a:r>
            <a:r>
              <a:rPr kumimoji="1" lang="zh-CN" altLang="en-US" dirty="0" smtClean="0">
                <a:latin typeface="微软雅黑"/>
                <a:ea typeface="微软雅黑"/>
                <a:cs typeface="微软雅黑"/>
              </a:rPr>
              <a:t>数据       </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3649102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6903"/>
            <a:ext cx="9505056" cy="4247317"/>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2.3.3  </a:t>
            </a:r>
            <a:r>
              <a:rPr kumimoji="1" lang="zh-CN" altLang="en-US" b="1" dirty="0" smtClean="0">
                <a:latin typeface="微软雅黑"/>
                <a:ea typeface="微软雅黑"/>
                <a:cs typeface="微软雅黑"/>
              </a:rPr>
              <a:t>覆盖指标要求</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满足国家有关环保要求，电磁辐射值必须满足国家标准</a:t>
            </a:r>
            <a:r>
              <a:rPr kumimoji="1" lang="en-US" altLang="zh-CN" dirty="0">
                <a:latin typeface="微软雅黑"/>
                <a:ea typeface="微软雅黑"/>
                <a:cs typeface="微软雅黑"/>
              </a:rPr>
              <a:t>《</a:t>
            </a:r>
            <a:r>
              <a:rPr kumimoji="1" lang="zh-CN" altLang="en-US" dirty="0">
                <a:latin typeface="微软雅黑"/>
                <a:ea typeface="微软雅黑"/>
                <a:cs typeface="微软雅黑"/>
              </a:rPr>
              <a:t>电磁辐射防护规范</a:t>
            </a:r>
            <a:r>
              <a:rPr kumimoji="1" lang="en-US" altLang="zh-CN" dirty="0">
                <a:latin typeface="微软雅黑"/>
                <a:ea typeface="微软雅黑"/>
                <a:cs typeface="微软雅黑"/>
              </a:rPr>
              <a:t>》</a:t>
            </a:r>
            <a:r>
              <a:rPr kumimoji="1" lang="zh-CN" altLang="en-US" dirty="0">
                <a:latin typeface="微软雅黑"/>
                <a:ea typeface="微软雅黑"/>
                <a:cs typeface="微软雅黑"/>
              </a:rPr>
              <a:t>要求的室内天线载波最大发射功率小于</a:t>
            </a:r>
            <a:r>
              <a:rPr kumimoji="1" lang="en-US" altLang="zh-CN" dirty="0">
                <a:latin typeface="微软雅黑"/>
                <a:ea typeface="微软雅黑"/>
                <a:cs typeface="微软雅黑"/>
              </a:rPr>
              <a:t>15dBm</a:t>
            </a:r>
            <a:r>
              <a:rPr kumimoji="1" lang="zh-CN" altLang="en-US" dirty="0">
                <a:latin typeface="微软雅黑"/>
                <a:ea typeface="微软雅黑"/>
                <a:cs typeface="微软雅黑"/>
              </a:rPr>
              <a:t>；</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室内</a:t>
            </a:r>
            <a:r>
              <a:rPr kumimoji="1" lang="en-US" altLang="zh-CN" dirty="0">
                <a:latin typeface="微软雅黑"/>
                <a:ea typeface="微软雅黑"/>
                <a:cs typeface="微软雅黑"/>
              </a:rPr>
              <a:t>90</a:t>
            </a:r>
            <a:r>
              <a:rPr kumimoji="1" lang="zh-CN" altLang="en-US" dirty="0">
                <a:latin typeface="微软雅黑"/>
                <a:ea typeface="微软雅黑"/>
                <a:cs typeface="微软雅黑"/>
              </a:rPr>
              <a:t>％区域</a:t>
            </a:r>
            <a:r>
              <a:rPr kumimoji="1" lang="en-US" altLang="zh-CN" dirty="0">
                <a:latin typeface="微软雅黑"/>
                <a:ea typeface="微软雅黑"/>
                <a:cs typeface="微软雅黑"/>
              </a:rPr>
              <a:t>RSRP</a:t>
            </a:r>
            <a:r>
              <a:rPr kumimoji="1" lang="zh-CN" altLang="en-US" dirty="0">
                <a:latin typeface="微软雅黑"/>
                <a:ea typeface="微软雅黑"/>
                <a:cs typeface="微软雅黑"/>
              </a:rPr>
              <a:t>＞</a:t>
            </a:r>
            <a:r>
              <a:rPr kumimoji="1" lang="en-US" altLang="zh-CN" dirty="0">
                <a:latin typeface="微软雅黑"/>
                <a:ea typeface="微软雅黑"/>
                <a:cs typeface="微软雅黑"/>
              </a:rPr>
              <a:t>-85dBm</a:t>
            </a:r>
            <a:r>
              <a:rPr kumimoji="1" lang="zh-CN" altLang="en-US" dirty="0">
                <a:latin typeface="微软雅黑"/>
                <a:ea typeface="微软雅黑"/>
                <a:cs typeface="微软雅黑"/>
              </a:rPr>
              <a:t>，</a:t>
            </a:r>
            <a:r>
              <a:rPr kumimoji="1" lang="en-US" altLang="zh-CN" dirty="0">
                <a:latin typeface="微软雅黑"/>
                <a:ea typeface="微软雅黑"/>
                <a:cs typeface="微软雅黑"/>
              </a:rPr>
              <a:t>SINR</a:t>
            </a:r>
            <a:r>
              <a:rPr kumimoji="1" lang="zh-CN" altLang="en-US" dirty="0">
                <a:latin typeface="微软雅黑"/>
                <a:ea typeface="微软雅黑"/>
                <a:cs typeface="微软雅黑"/>
              </a:rPr>
              <a:t>＞</a:t>
            </a:r>
            <a:r>
              <a:rPr kumimoji="1" lang="en-US" altLang="zh-CN" dirty="0">
                <a:latin typeface="微软雅黑"/>
                <a:ea typeface="微软雅黑"/>
                <a:cs typeface="微软雅黑"/>
              </a:rPr>
              <a:t>15</a:t>
            </a:r>
            <a:r>
              <a:rPr kumimoji="1" lang="zh-CN" altLang="en-US" dirty="0">
                <a:latin typeface="微软雅黑"/>
                <a:ea typeface="微软雅黑"/>
                <a:cs typeface="微软雅黑"/>
              </a:rPr>
              <a:t>；</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室内用户应由室内覆盖系统提供主导频，并比室外最强信号高</a:t>
            </a:r>
            <a:r>
              <a:rPr kumimoji="1" lang="en-US" altLang="zh-CN" dirty="0">
                <a:latin typeface="微软雅黑"/>
                <a:ea typeface="微软雅黑"/>
                <a:cs typeface="微软雅黑"/>
              </a:rPr>
              <a:t>5dB</a:t>
            </a:r>
            <a:r>
              <a:rPr kumimoji="1" lang="zh-CN" altLang="en-US" dirty="0">
                <a:latin typeface="微软雅黑"/>
                <a:ea typeface="微软雅黑"/>
                <a:cs typeface="微软雅黑"/>
              </a:rPr>
              <a:t>以上；</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室内泄露控制，信号泄露楼外</a:t>
            </a:r>
            <a:r>
              <a:rPr kumimoji="1" lang="en-US" altLang="zh-CN" dirty="0">
                <a:latin typeface="微软雅黑"/>
                <a:ea typeface="微软雅黑"/>
                <a:cs typeface="微软雅黑"/>
              </a:rPr>
              <a:t>20</a:t>
            </a:r>
            <a:r>
              <a:rPr kumimoji="1" lang="zh-CN" altLang="en-US" dirty="0">
                <a:latin typeface="微软雅黑"/>
                <a:ea typeface="微软雅黑"/>
                <a:cs typeface="微软雅黑"/>
              </a:rPr>
              <a:t>米处</a:t>
            </a:r>
            <a:r>
              <a:rPr kumimoji="1" lang="en-US" altLang="zh-CN" dirty="0">
                <a:latin typeface="微软雅黑"/>
                <a:ea typeface="微软雅黑"/>
                <a:cs typeface="微软雅黑"/>
              </a:rPr>
              <a:t>RSRP</a:t>
            </a:r>
            <a:r>
              <a:rPr kumimoji="1" lang="zh-CN" altLang="en-US" dirty="0">
                <a:latin typeface="微软雅黑"/>
                <a:ea typeface="微软雅黑"/>
                <a:cs typeface="微软雅黑"/>
              </a:rPr>
              <a:t>＜</a:t>
            </a:r>
            <a:r>
              <a:rPr kumimoji="1" lang="en-US" altLang="zh-CN" dirty="0">
                <a:latin typeface="微软雅黑"/>
                <a:ea typeface="微软雅黑"/>
                <a:cs typeface="微软雅黑"/>
              </a:rPr>
              <a:t>-90dBm</a:t>
            </a:r>
            <a:r>
              <a:rPr kumimoji="1" lang="zh-CN" altLang="en-US" dirty="0">
                <a:latin typeface="微软雅黑"/>
                <a:ea typeface="微软雅黑"/>
                <a:cs typeface="微软雅黑"/>
              </a:rPr>
              <a:t>；</a:t>
            </a:r>
          </a:p>
          <a:p>
            <a:pPr indent="-285750">
              <a:lnSpc>
                <a:spcPct val="150000"/>
              </a:lnSpc>
              <a:buClr>
                <a:srgbClr val="FF0000"/>
              </a:buClr>
              <a:buFont typeface="Wingdings" panose="05000000000000000000" pitchFamily="2" charset="2"/>
              <a:buChar char="l"/>
            </a:pPr>
            <a:r>
              <a:rPr kumimoji="1" lang="zh-CN" altLang="en-US" dirty="0">
                <a:latin typeface="微软雅黑"/>
                <a:ea typeface="微软雅黑"/>
                <a:cs typeface="微软雅黑"/>
              </a:rPr>
              <a:t>各天线出口功率≥</a:t>
            </a:r>
            <a:r>
              <a:rPr kumimoji="1" lang="en-US" altLang="zh-CN" dirty="0">
                <a:latin typeface="微软雅黑"/>
                <a:ea typeface="微软雅黑"/>
                <a:cs typeface="微软雅黑"/>
              </a:rPr>
              <a:t>65dB</a:t>
            </a:r>
            <a:r>
              <a:rPr kumimoji="1" lang="zh-CN" altLang="en-US" dirty="0">
                <a:latin typeface="微软雅黑"/>
                <a:ea typeface="微软雅黑"/>
                <a:cs typeface="微软雅黑"/>
              </a:rPr>
              <a:t>，且天线口</a:t>
            </a:r>
            <a:r>
              <a:rPr kumimoji="1" lang="en-US" altLang="zh-CN" dirty="0">
                <a:latin typeface="微软雅黑"/>
                <a:ea typeface="微软雅黑"/>
                <a:cs typeface="微软雅黑"/>
              </a:rPr>
              <a:t>PCCPCH</a:t>
            </a:r>
            <a:r>
              <a:rPr kumimoji="1" lang="zh-CN" altLang="en-US" dirty="0">
                <a:latin typeface="微软雅黑"/>
                <a:ea typeface="微软雅黑"/>
                <a:cs typeface="微软雅黑"/>
              </a:rPr>
              <a:t>功率在</a:t>
            </a:r>
            <a:r>
              <a:rPr kumimoji="1" lang="en-US" altLang="zh-CN" dirty="0">
                <a:latin typeface="微软雅黑"/>
                <a:ea typeface="微软雅黑"/>
                <a:cs typeface="微软雅黑"/>
              </a:rPr>
              <a:t>0</a:t>
            </a:r>
            <a:r>
              <a:rPr kumimoji="1" lang="zh-CN" altLang="en-US" dirty="0">
                <a:latin typeface="微软雅黑"/>
                <a:ea typeface="微软雅黑"/>
                <a:cs typeface="微软雅黑"/>
              </a:rPr>
              <a:t>～</a:t>
            </a:r>
            <a:r>
              <a:rPr kumimoji="1" lang="en-US" altLang="zh-CN" dirty="0">
                <a:latin typeface="微软雅黑"/>
                <a:ea typeface="微软雅黑"/>
                <a:cs typeface="微软雅黑"/>
              </a:rPr>
              <a:t>5dBm</a:t>
            </a:r>
            <a:r>
              <a:rPr kumimoji="1" lang="zh-CN" altLang="en-US" dirty="0">
                <a:latin typeface="微软雅黑"/>
                <a:ea typeface="微软雅黑"/>
                <a:cs typeface="微软雅黑"/>
              </a:rPr>
              <a:t>，考虑覆盖要求，部分场合可达</a:t>
            </a:r>
            <a:r>
              <a:rPr kumimoji="1" lang="en-US" altLang="zh-CN" dirty="0">
                <a:latin typeface="微软雅黑"/>
                <a:ea typeface="微软雅黑"/>
                <a:cs typeface="微软雅黑"/>
              </a:rPr>
              <a:t>7dBm</a:t>
            </a:r>
            <a:r>
              <a:rPr kumimoji="1" lang="zh-CN" altLang="en-US" dirty="0">
                <a:latin typeface="微软雅黑"/>
                <a:ea typeface="微软雅黑"/>
                <a:cs typeface="微软雅黑"/>
              </a:rPr>
              <a:t>，且与设计值偏差不大于</a:t>
            </a:r>
            <a:r>
              <a:rPr kumimoji="1" lang="en-US" altLang="zh-CN" dirty="0" smtClean="0">
                <a:latin typeface="微软雅黑"/>
                <a:ea typeface="微软雅黑"/>
                <a:cs typeface="微软雅黑"/>
              </a:rPr>
              <a:t>3dB</a:t>
            </a:r>
            <a:endParaRPr kumimoji="1" lang="en-US" altLang="zh-CN" dirty="0">
              <a:latin typeface="微软雅黑"/>
              <a:ea typeface="微软雅黑"/>
              <a:cs typeface="微软雅黑"/>
            </a:endParaRPr>
          </a:p>
          <a:p>
            <a:pPr>
              <a:lnSpc>
                <a:spcPct val="150000"/>
              </a:lnSpc>
            </a:pPr>
            <a:r>
              <a:rPr kumimoji="1" lang="zh-CN" altLang="en-US" dirty="0" smtClean="0">
                <a:latin typeface="微软雅黑"/>
                <a:ea typeface="微软雅黑"/>
                <a:cs typeface="微软雅黑"/>
              </a:rPr>
              <a:t>       </a:t>
            </a:r>
            <a:endParaRPr kumimoji="1" lang="en-US" altLang="zh-CN" dirty="0" smtClean="0">
              <a:latin typeface="微软雅黑"/>
              <a:ea typeface="微软雅黑"/>
              <a:cs typeface="微软雅黑"/>
            </a:endParaRPr>
          </a:p>
        </p:txBody>
      </p:sp>
    </p:spTree>
    <p:extLst>
      <p:ext uri="{BB962C8B-B14F-4D97-AF65-F5344CB8AC3E}">
        <p14:creationId xmlns="" xmlns:p14="http://schemas.microsoft.com/office/powerpoint/2010/main" val="29616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31987"/>
            <a:ext cx="9505056" cy="1338828"/>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2.3.4  </a:t>
            </a:r>
            <a:r>
              <a:rPr kumimoji="1" lang="zh-CN" altLang="en-US" b="1" dirty="0" smtClean="0">
                <a:latin typeface="微软雅黑"/>
                <a:ea typeface="微软雅黑"/>
                <a:cs typeface="微软雅黑"/>
              </a:rPr>
              <a:t>覆盖指标要求</a:t>
            </a:r>
            <a:endParaRPr kumimoji="1" lang="en-US" altLang="zh-CN" b="1" dirty="0" smtClean="0">
              <a:latin typeface="微软雅黑"/>
              <a:ea typeface="微软雅黑"/>
              <a:cs typeface="微软雅黑"/>
            </a:endParaRPr>
          </a:p>
          <a:p>
            <a:pPr>
              <a:lnSpc>
                <a:spcPct val="150000"/>
              </a:lnSpc>
            </a:pPr>
            <a:r>
              <a:rPr kumimoji="1" lang="zh-CN" altLang="en-US" dirty="0">
                <a:latin typeface="微软雅黑"/>
                <a:ea typeface="微软雅黑"/>
                <a:cs typeface="微软雅黑"/>
              </a:rPr>
              <a:t>覆盖性能详细指标列举如下：</a:t>
            </a:r>
            <a:endParaRPr kumimoji="1" lang="en-US" altLang="zh-CN" dirty="0" smtClean="0">
              <a:latin typeface="微软雅黑"/>
              <a:ea typeface="微软雅黑"/>
              <a:cs typeface="微软雅黑"/>
            </a:endParaRPr>
          </a:p>
        </p:txBody>
      </p:sp>
      <p:graphicFrame>
        <p:nvGraphicFramePr>
          <p:cNvPr id="2" name="表格 1"/>
          <p:cNvGraphicFramePr>
            <a:graphicFrameLocks noGrp="1"/>
          </p:cNvGraphicFramePr>
          <p:nvPr>
            <p:extLst>
              <p:ext uri="{D42A27DB-BD31-4B8C-83A1-F6EECF244321}">
                <p14:modId xmlns="" xmlns:p14="http://schemas.microsoft.com/office/powerpoint/2010/main" val="1639362882"/>
              </p:ext>
            </p:extLst>
          </p:nvPr>
        </p:nvGraphicFramePr>
        <p:xfrm>
          <a:off x="665510" y="2265908"/>
          <a:ext cx="9145016" cy="2304256"/>
        </p:xfrm>
        <a:graphic>
          <a:graphicData uri="http://schemas.openxmlformats.org/drawingml/2006/table">
            <a:tbl>
              <a:tblPr/>
              <a:tblGrid>
                <a:gridCol w="1184363"/>
                <a:gridCol w="1197344"/>
                <a:gridCol w="6763309"/>
              </a:tblGrid>
              <a:tr h="384043">
                <a:tc>
                  <a:txBody>
                    <a:bodyPr/>
                    <a:lstStyle/>
                    <a:p>
                      <a:pPr algn="ctr">
                        <a:lnSpc>
                          <a:spcPct val="150000"/>
                        </a:lnSpc>
                        <a:spcAft>
                          <a:spcPts val="0"/>
                        </a:spcAft>
                      </a:pPr>
                      <a:r>
                        <a:rPr lang="zh-CN" sz="1600" b="1" kern="100" dirty="0">
                          <a:effectLst/>
                          <a:latin typeface="Calibri"/>
                          <a:ea typeface="宋体"/>
                          <a:cs typeface="Times New Roman"/>
                        </a:rPr>
                        <a:t>测试指标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1" kern="100">
                          <a:effectLst/>
                          <a:latin typeface="Calibri"/>
                          <a:ea typeface="宋体"/>
                          <a:cs typeface="Times New Roman"/>
                        </a:rPr>
                        <a:t>测试项</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1600" b="1" kern="100">
                          <a:effectLst/>
                          <a:latin typeface="Calibri"/>
                          <a:ea typeface="宋体"/>
                          <a:cs typeface="Times New Roman"/>
                        </a:rPr>
                        <a:t>指标要求</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20213">
                <a:tc>
                  <a:txBody>
                    <a:bodyPr/>
                    <a:lstStyle/>
                    <a:p>
                      <a:pPr algn="ctr">
                        <a:lnSpc>
                          <a:spcPct val="150000"/>
                        </a:lnSpc>
                        <a:spcAft>
                          <a:spcPts val="0"/>
                        </a:spcAft>
                      </a:pPr>
                      <a:r>
                        <a:rPr lang="zh-CN" sz="1600" b="1" kern="100" dirty="0">
                          <a:effectLst/>
                          <a:latin typeface="Calibri"/>
                          <a:ea typeface="宋体"/>
                          <a:cs typeface="Times New Roman"/>
                        </a:rPr>
                        <a:t>覆盖指标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600" b="1" kern="100" dirty="0">
                          <a:effectLst/>
                          <a:latin typeface="宋体"/>
                          <a:ea typeface="宋体"/>
                          <a:cs typeface="Times New Roman"/>
                        </a:rPr>
                        <a:t>RSRP</a:t>
                      </a:r>
                      <a:r>
                        <a:rPr lang="zh-CN" sz="1600" b="1" kern="100" dirty="0">
                          <a:effectLst/>
                          <a:latin typeface="Calibri"/>
                          <a:ea typeface="宋体"/>
                          <a:cs typeface="Times New Roman"/>
                        </a:rPr>
                        <a:t>和</a:t>
                      </a:r>
                      <a:r>
                        <a:rPr lang="en-US" sz="1600" b="1" kern="100" dirty="0">
                          <a:effectLst/>
                          <a:latin typeface="Calibri"/>
                          <a:ea typeface="宋体"/>
                          <a:cs typeface="Times New Roman"/>
                        </a:rPr>
                        <a:t>SINR</a:t>
                      </a:r>
                      <a:endParaRPr lang="zh-CN" sz="1600" b="1" kern="100" dirty="0">
                        <a:effectLst/>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kern="100" dirty="0">
                          <a:effectLst/>
                          <a:latin typeface="宋体"/>
                          <a:ea typeface="宋体"/>
                          <a:cs typeface="Times New Roman"/>
                        </a:rPr>
                        <a:t>RSRP </a:t>
                      </a:r>
                      <a:r>
                        <a:rPr lang="zh-CN" sz="1600" b="1" kern="100" dirty="0">
                          <a:effectLst/>
                          <a:latin typeface="Calibri"/>
                          <a:ea typeface="宋体"/>
                          <a:cs typeface="Times New Roman"/>
                        </a:rPr>
                        <a:t>＞</a:t>
                      </a:r>
                      <a:r>
                        <a:rPr lang="en-US" sz="1600" b="1" kern="100" dirty="0">
                          <a:effectLst/>
                          <a:latin typeface="Calibri"/>
                          <a:ea typeface="宋体"/>
                          <a:cs typeface="Times New Roman"/>
                        </a:rPr>
                        <a:t> -85dBm</a:t>
                      </a:r>
                      <a:r>
                        <a:rPr lang="zh-CN" sz="1600" b="1" kern="100" dirty="0">
                          <a:effectLst/>
                          <a:latin typeface="Calibri"/>
                          <a:ea typeface="宋体"/>
                          <a:cs typeface="Times New Roman"/>
                        </a:rPr>
                        <a:t>，</a:t>
                      </a:r>
                      <a:r>
                        <a:rPr lang="en-US" sz="1600" b="1" kern="100" dirty="0">
                          <a:effectLst/>
                          <a:latin typeface="Calibri"/>
                          <a:ea typeface="宋体"/>
                          <a:cs typeface="Times New Roman"/>
                        </a:rPr>
                        <a:t>90%</a:t>
                      </a:r>
                      <a:r>
                        <a:rPr lang="zh-CN" sz="1600" b="1" kern="100" dirty="0">
                          <a:effectLst/>
                          <a:latin typeface="Calibri"/>
                          <a:ea typeface="宋体"/>
                          <a:cs typeface="Times New Roman"/>
                        </a:rPr>
                        <a:t>区域；</a:t>
                      </a:r>
                      <a:r>
                        <a:rPr lang="en-US" sz="1600" b="1" kern="100" dirty="0">
                          <a:effectLst/>
                          <a:latin typeface="Calibri"/>
                          <a:ea typeface="宋体"/>
                          <a:cs typeface="Times New Roman"/>
                        </a:rPr>
                        <a:t>SINR </a:t>
                      </a:r>
                      <a:r>
                        <a:rPr lang="zh-CN" sz="1600" b="1" kern="100" dirty="0">
                          <a:effectLst/>
                          <a:latin typeface="Calibri"/>
                          <a:ea typeface="宋体"/>
                          <a:cs typeface="Times New Roman"/>
                        </a:rPr>
                        <a:t>＞ </a:t>
                      </a:r>
                      <a:r>
                        <a:rPr lang="en-US" sz="1600" b="1" kern="100" dirty="0">
                          <a:effectLst/>
                          <a:latin typeface="Calibri"/>
                          <a:ea typeface="宋体"/>
                          <a:cs typeface="Times New Roman"/>
                        </a:rPr>
                        <a:t>15</a:t>
                      </a:r>
                      <a:r>
                        <a:rPr lang="zh-CN" sz="1600" b="1" kern="100" dirty="0">
                          <a:effectLst/>
                          <a:latin typeface="Calibri"/>
                          <a:ea typeface="宋体"/>
                          <a:cs typeface="Times New Roman"/>
                        </a:rPr>
                        <a:t>，</a:t>
                      </a:r>
                      <a:r>
                        <a:rPr lang="en-US" sz="1600" b="1" kern="100" dirty="0">
                          <a:effectLst/>
                          <a:latin typeface="Calibri"/>
                          <a:ea typeface="宋体"/>
                          <a:cs typeface="Times New Roman"/>
                        </a:rPr>
                        <a:t>90%</a:t>
                      </a:r>
                      <a:r>
                        <a:rPr lang="zh-CN" sz="1600" b="1" kern="100" dirty="0">
                          <a:effectLst/>
                          <a:latin typeface="Calibri"/>
                          <a:ea typeface="宋体"/>
                          <a:cs typeface="Times New Roman"/>
                        </a:rPr>
                        <a:t>区域；</a:t>
                      </a:r>
                    </a:p>
                    <a:p>
                      <a:pPr algn="just">
                        <a:lnSpc>
                          <a:spcPct val="150000"/>
                        </a:lnSpc>
                        <a:spcAft>
                          <a:spcPts val="0"/>
                        </a:spcAft>
                      </a:pPr>
                      <a:r>
                        <a:rPr lang="zh-CN" sz="1600" b="1" kern="100" dirty="0">
                          <a:effectLst/>
                          <a:latin typeface="Calibri"/>
                          <a:ea typeface="宋体"/>
                          <a:cs typeface="Times New Roman"/>
                        </a:rPr>
                        <a:t>室内信号应作为主导，信号电平大于室外最强信号</a:t>
                      </a:r>
                      <a:r>
                        <a:rPr lang="en-US" sz="1600" b="1" kern="100" dirty="0">
                          <a:effectLst/>
                          <a:latin typeface="Calibri"/>
                          <a:ea typeface="宋体"/>
                          <a:cs typeface="Times New Roman"/>
                        </a:rPr>
                        <a:t>5dB</a:t>
                      </a:r>
                      <a:r>
                        <a:rPr lang="zh-CN" sz="1600" b="1" kern="100" dirty="0">
                          <a:effectLst/>
                          <a:latin typeface="Calibri"/>
                          <a:ea typeface="宋体"/>
                          <a:cs typeface="Times New Roman"/>
                        </a:rPr>
                        <a:t>以上；室外</a:t>
                      </a:r>
                      <a:r>
                        <a:rPr lang="en-US" sz="1600" b="1" kern="100" dirty="0">
                          <a:effectLst/>
                          <a:latin typeface="Calibri"/>
                          <a:ea typeface="宋体"/>
                          <a:cs typeface="Times New Roman"/>
                        </a:rPr>
                        <a:t>20</a:t>
                      </a:r>
                      <a:r>
                        <a:rPr lang="zh-CN" sz="1600" b="1" kern="100" dirty="0">
                          <a:effectLst/>
                          <a:latin typeface="Calibri"/>
                          <a:ea typeface="宋体"/>
                          <a:cs typeface="Times New Roman"/>
                        </a:rPr>
                        <a:t>米处，室内泄露信号的</a:t>
                      </a:r>
                      <a:r>
                        <a:rPr lang="en-US" sz="1600" b="1" kern="100" dirty="0">
                          <a:effectLst/>
                          <a:latin typeface="Calibri"/>
                          <a:ea typeface="宋体"/>
                          <a:cs typeface="Times New Roman"/>
                        </a:rPr>
                        <a:t>RSRP</a:t>
                      </a:r>
                      <a:r>
                        <a:rPr lang="zh-CN" sz="1600" b="1" kern="100" dirty="0">
                          <a:effectLst/>
                          <a:latin typeface="Calibri"/>
                          <a:ea typeface="宋体"/>
                          <a:cs typeface="Times New Roman"/>
                        </a:rPr>
                        <a:t>＜</a:t>
                      </a:r>
                      <a:r>
                        <a:rPr lang="en-US" sz="1600" b="1" kern="100" dirty="0">
                          <a:effectLst/>
                          <a:latin typeface="Calibri"/>
                          <a:ea typeface="宋体"/>
                          <a:cs typeface="Times New Roman"/>
                        </a:rPr>
                        <a:t>-90dBm</a:t>
                      </a:r>
                      <a:r>
                        <a:rPr lang="zh-CN" sz="1600" b="1" kern="100" dirty="0">
                          <a:effectLst/>
                          <a:latin typeface="Calibri"/>
                          <a:ea typeface="宋体"/>
                          <a:cs typeface="Times New Roman"/>
                        </a:rPr>
                        <a:t>；</a:t>
                      </a:r>
                    </a:p>
                    <a:p>
                      <a:pPr algn="just">
                        <a:lnSpc>
                          <a:spcPct val="150000"/>
                        </a:lnSpc>
                        <a:spcAft>
                          <a:spcPts val="0"/>
                        </a:spcAft>
                      </a:pPr>
                      <a:r>
                        <a:rPr lang="zh-CN" sz="1600" b="1" kern="100" dirty="0">
                          <a:effectLst/>
                          <a:latin typeface="Calibri"/>
                          <a:ea typeface="宋体"/>
                          <a:cs typeface="Times New Roman"/>
                        </a:rPr>
                        <a:t>室内天线</a:t>
                      </a:r>
                      <a:r>
                        <a:rPr lang="en-US" sz="1600" b="1" kern="100" dirty="0">
                          <a:effectLst/>
                          <a:latin typeface="Calibri"/>
                          <a:ea typeface="宋体"/>
                          <a:cs typeface="Times New Roman"/>
                        </a:rPr>
                        <a:t>MCL</a:t>
                      </a:r>
                      <a:r>
                        <a:rPr lang="zh-CN" sz="1600" b="1" kern="100" dirty="0">
                          <a:effectLst/>
                          <a:latin typeface="Calibri"/>
                          <a:ea typeface="宋体"/>
                          <a:cs typeface="Times New Roman"/>
                        </a:rPr>
                        <a:t>≥</a:t>
                      </a:r>
                      <a:r>
                        <a:rPr lang="en-US" sz="1600" b="1" kern="100" dirty="0">
                          <a:effectLst/>
                          <a:latin typeface="Calibri"/>
                          <a:ea typeface="宋体"/>
                          <a:cs typeface="Times New Roman"/>
                        </a:rPr>
                        <a:t>65dB,</a:t>
                      </a:r>
                      <a:r>
                        <a:rPr lang="zh-CN" sz="1600" b="1" kern="100" dirty="0">
                          <a:effectLst/>
                          <a:latin typeface="Calibri"/>
                          <a:ea typeface="宋体"/>
                          <a:cs typeface="Times New Roman"/>
                        </a:rPr>
                        <a:t>天线口</a:t>
                      </a:r>
                      <a:r>
                        <a:rPr lang="en-US" sz="1600" b="1" kern="100" dirty="0">
                          <a:effectLst/>
                          <a:latin typeface="Calibri"/>
                          <a:ea typeface="宋体"/>
                          <a:cs typeface="Times New Roman"/>
                        </a:rPr>
                        <a:t>RSRP</a:t>
                      </a:r>
                      <a:r>
                        <a:rPr lang="zh-CN" sz="1600" b="1" kern="100" dirty="0">
                          <a:effectLst/>
                          <a:latin typeface="Calibri"/>
                          <a:ea typeface="宋体"/>
                          <a:cs typeface="Times New Roman"/>
                        </a:rPr>
                        <a:t>功率在</a:t>
                      </a:r>
                      <a:r>
                        <a:rPr lang="en-US" sz="1600" b="1" kern="100" dirty="0">
                          <a:effectLst/>
                          <a:latin typeface="Calibri"/>
                          <a:ea typeface="宋体"/>
                          <a:cs typeface="Times New Roman"/>
                        </a:rPr>
                        <a:t>0</a:t>
                      </a:r>
                      <a:r>
                        <a:rPr lang="zh-CN" sz="1600" b="1" kern="100" dirty="0">
                          <a:effectLst/>
                          <a:latin typeface="Calibri"/>
                          <a:ea typeface="宋体"/>
                          <a:cs typeface="Times New Roman"/>
                        </a:rPr>
                        <a:t>～</a:t>
                      </a:r>
                      <a:r>
                        <a:rPr lang="en-US" sz="1600" b="1" kern="100" dirty="0">
                          <a:effectLst/>
                          <a:latin typeface="Calibri"/>
                          <a:ea typeface="宋体"/>
                          <a:cs typeface="Times New Roman"/>
                        </a:rPr>
                        <a:t>5dBm</a:t>
                      </a:r>
                      <a:r>
                        <a:rPr lang="zh-CN" sz="1600" b="1" kern="100" dirty="0">
                          <a:effectLst/>
                          <a:latin typeface="Calibri"/>
                          <a:ea typeface="宋体"/>
                          <a:cs typeface="Times New Roman"/>
                        </a:rPr>
                        <a:t>，部分场合可达</a:t>
                      </a:r>
                      <a:r>
                        <a:rPr lang="en-US" sz="1600" b="1" kern="100" dirty="0">
                          <a:effectLst/>
                          <a:latin typeface="Calibri"/>
                          <a:ea typeface="宋体"/>
                          <a:cs typeface="Times New Roman"/>
                        </a:rPr>
                        <a:t>7dBm</a:t>
                      </a:r>
                      <a:r>
                        <a:rPr lang="zh-CN" sz="1600" b="1" kern="100" dirty="0">
                          <a:effectLst/>
                          <a:latin typeface="Calibri"/>
                          <a:ea typeface="宋体"/>
                          <a:cs typeface="Times New Roman"/>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1732541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6178"/>
            <a:ext cx="9577064" cy="3000821"/>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2.3.5  </a:t>
            </a:r>
            <a:r>
              <a:rPr kumimoji="1" lang="zh-CN" altLang="en-US" b="1" dirty="0" smtClean="0">
                <a:latin typeface="微软雅黑"/>
                <a:ea typeface="微软雅黑"/>
                <a:cs typeface="微软雅黑"/>
              </a:rPr>
              <a:t>系统性能测试</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en-US" altLang="zh-CN" dirty="0">
                <a:latin typeface="微软雅黑"/>
                <a:ea typeface="微软雅黑"/>
                <a:cs typeface="微软雅黑"/>
              </a:rPr>
              <a:t>Attach</a:t>
            </a:r>
            <a:r>
              <a:rPr kumimoji="1" lang="zh-CN" altLang="en-US" dirty="0">
                <a:latin typeface="微软雅黑"/>
                <a:ea typeface="微软雅黑"/>
                <a:cs typeface="微软雅黑"/>
              </a:rPr>
              <a:t>激活成功率：测试统计</a:t>
            </a:r>
            <a:r>
              <a:rPr kumimoji="1" lang="en-US" altLang="zh-CN" dirty="0">
                <a:latin typeface="微软雅黑"/>
                <a:ea typeface="微软雅黑"/>
                <a:cs typeface="微软雅黑"/>
              </a:rPr>
              <a:t>PS</a:t>
            </a:r>
            <a:r>
              <a:rPr kumimoji="1" lang="zh-CN" altLang="en-US" dirty="0">
                <a:latin typeface="微软雅黑"/>
                <a:ea typeface="微软雅黑"/>
                <a:cs typeface="微软雅黑"/>
              </a:rPr>
              <a:t>附着</a:t>
            </a:r>
            <a:r>
              <a:rPr kumimoji="1" lang="en-US" altLang="zh-CN" dirty="0">
                <a:latin typeface="微软雅黑"/>
                <a:ea typeface="微软雅黑"/>
                <a:cs typeface="微软雅黑"/>
              </a:rPr>
              <a:t>(attach)</a:t>
            </a:r>
            <a:r>
              <a:rPr kumimoji="1" lang="zh-CN" altLang="en-US" dirty="0">
                <a:latin typeface="微软雅黑"/>
                <a:ea typeface="微软雅黑"/>
                <a:cs typeface="微软雅黑"/>
              </a:rPr>
              <a:t>成功率，平均附着</a:t>
            </a:r>
            <a:r>
              <a:rPr kumimoji="1" lang="en-US" altLang="zh-CN" dirty="0">
                <a:latin typeface="微软雅黑"/>
                <a:ea typeface="微软雅黑"/>
                <a:cs typeface="微软雅黑"/>
              </a:rPr>
              <a:t>(attach)</a:t>
            </a:r>
            <a:r>
              <a:rPr kumimoji="1" lang="zh-CN" altLang="en-US" dirty="0">
                <a:latin typeface="微软雅黑"/>
                <a:ea typeface="微软雅黑"/>
                <a:cs typeface="微软雅黑"/>
              </a:rPr>
              <a:t>时间</a:t>
            </a:r>
          </a:p>
          <a:p>
            <a:pPr>
              <a:lnSpc>
                <a:spcPct val="150000"/>
              </a:lnSpc>
            </a:pPr>
            <a:r>
              <a:rPr kumimoji="1" lang="en-US" altLang="zh-CN" dirty="0" smtClean="0">
                <a:latin typeface="微软雅黑"/>
                <a:ea typeface="微软雅黑"/>
                <a:cs typeface="微软雅黑"/>
              </a:rPr>
              <a:t>1</a:t>
            </a:r>
            <a:r>
              <a:rPr kumimoji="1" lang="zh-CN" altLang="en-US" dirty="0" smtClean="0">
                <a:latin typeface="微软雅黑"/>
                <a:ea typeface="微软雅黑"/>
                <a:cs typeface="微软雅黑"/>
              </a:rPr>
              <a:t>）选择</a:t>
            </a:r>
            <a:r>
              <a:rPr kumimoji="1" lang="zh-CN" altLang="en-US" dirty="0">
                <a:latin typeface="微软雅黑"/>
                <a:ea typeface="微软雅黑"/>
                <a:cs typeface="微软雅黑"/>
              </a:rPr>
              <a:t>室内测试路线，测试路线应遍历室内主要覆盖区；</a:t>
            </a:r>
          </a:p>
          <a:p>
            <a:pPr>
              <a:lnSpc>
                <a:spcPct val="150000"/>
              </a:lnSpc>
            </a:pPr>
            <a:r>
              <a:rPr kumimoji="1" lang="en-US" altLang="zh-CN" dirty="0" smtClean="0">
                <a:latin typeface="微软雅黑"/>
                <a:ea typeface="微软雅黑"/>
                <a:cs typeface="微软雅黑"/>
              </a:rPr>
              <a:t>2</a:t>
            </a:r>
            <a:r>
              <a:rPr kumimoji="1" lang="zh-CN" altLang="en-US" dirty="0" smtClean="0">
                <a:latin typeface="微软雅黑"/>
                <a:ea typeface="微软雅黑"/>
                <a:cs typeface="微软雅黑"/>
              </a:rPr>
              <a:t>）使用</a:t>
            </a:r>
            <a:r>
              <a:rPr kumimoji="1" lang="zh-CN" altLang="en-US" dirty="0">
                <a:latin typeface="微软雅黑"/>
                <a:ea typeface="微软雅黑"/>
                <a:cs typeface="微软雅黑"/>
              </a:rPr>
              <a:t>一部</a:t>
            </a:r>
            <a:r>
              <a:rPr kumimoji="1" lang="en-US" altLang="zh-CN" dirty="0">
                <a:latin typeface="微软雅黑"/>
                <a:ea typeface="微软雅黑"/>
                <a:cs typeface="微软雅黑"/>
              </a:rPr>
              <a:t>UE</a:t>
            </a:r>
            <a:r>
              <a:rPr kumimoji="1" lang="zh-CN" altLang="en-US" dirty="0">
                <a:latin typeface="微软雅黑"/>
                <a:ea typeface="微软雅黑"/>
                <a:cs typeface="微软雅黑"/>
              </a:rPr>
              <a:t>发起</a:t>
            </a:r>
            <a:r>
              <a:rPr kumimoji="1" lang="en-US" altLang="zh-CN" dirty="0">
                <a:latin typeface="微软雅黑"/>
                <a:ea typeface="微软雅黑"/>
                <a:cs typeface="微软雅黑"/>
              </a:rPr>
              <a:t>PS</a:t>
            </a:r>
            <a:r>
              <a:rPr kumimoji="1" lang="zh-CN" altLang="en-US" dirty="0">
                <a:latin typeface="微软雅黑"/>
                <a:ea typeface="微软雅黑"/>
                <a:cs typeface="微软雅黑"/>
              </a:rPr>
              <a:t>附着</a:t>
            </a:r>
            <a:r>
              <a:rPr kumimoji="1" lang="en-US" altLang="zh-CN" dirty="0">
                <a:latin typeface="微软雅黑"/>
                <a:ea typeface="微软雅黑"/>
                <a:cs typeface="微软雅黑"/>
              </a:rPr>
              <a:t>(attach)</a:t>
            </a:r>
            <a:r>
              <a:rPr kumimoji="1" lang="zh-CN" altLang="en-US" dirty="0">
                <a:latin typeface="微软雅黑"/>
                <a:ea typeface="微软雅黑"/>
                <a:cs typeface="微软雅黑"/>
              </a:rPr>
              <a:t>，如不能成功，等候</a:t>
            </a:r>
            <a:r>
              <a:rPr kumimoji="1" lang="en-US" altLang="zh-CN" dirty="0">
                <a:latin typeface="微软雅黑"/>
                <a:ea typeface="微软雅黑"/>
                <a:cs typeface="微软雅黑"/>
              </a:rPr>
              <a:t>20</a:t>
            </a:r>
            <a:r>
              <a:rPr kumimoji="1" lang="zh-CN" altLang="en-US" dirty="0">
                <a:latin typeface="微软雅黑"/>
                <a:ea typeface="微软雅黑"/>
                <a:cs typeface="微软雅黑"/>
              </a:rPr>
              <a:t>秒后重新附着；如成功，保持</a:t>
            </a:r>
            <a:r>
              <a:rPr kumimoji="1" lang="en-US" altLang="zh-CN" dirty="0">
                <a:latin typeface="微软雅黑"/>
                <a:ea typeface="微软雅黑"/>
                <a:cs typeface="微软雅黑"/>
              </a:rPr>
              <a:t>30</a:t>
            </a:r>
            <a:r>
              <a:rPr kumimoji="1" lang="zh-CN" altLang="en-US" dirty="0">
                <a:latin typeface="微软雅黑"/>
                <a:ea typeface="微软雅黑"/>
                <a:cs typeface="微软雅黑"/>
              </a:rPr>
              <a:t>秒，去附着，等候</a:t>
            </a:r>
            <a:r>
              <a:rPr kumimoji="1" lang="en-US" altLang="zh-CN" dirty="0">
                <a:latin typeface="微软雅黑"/>
                <a:ea typeface="微软雅黑"/>
                <a:cs typeface="微软雅黑"/>
              </a:rPr>
              <a:t>20</a:t>
            </a:r>
            <a:r>
              <a:rPr kumimoji="1" lang="zh-CN" altLang="en-US" dirty="0">
                <a:latin typeface="微软雅黑"/>
                <a:ea typeface="微软雅黑"/>
                <a:cs typeface="微软雅黑"/>
              </a:rPr>
              <a:t>秒后重新附着；在每个点记录附着尝试次数、成功次数、成功附着时间，总的附着次数不小于</a:t>
            </a:r>
            <a:r>
              <a:rPr kumimoji="1" lang="en-US" altLang="zh-CN" dirty="0">
                <a:latin typeface="微软雅黑"/>
                <a:ea typeface="微软雅黑"/>
                <a:cs typeface="微软雅黑"/>
              </a:rPr>
              <a:t>200</a:t>
            </a:r>
            <a:r>
              <a:rPr kumimoji="1" lang="zh-CN" altLang="en-US" dirty="0">
                <a:latin typeface="微软雅黑"/>
                <a:ea typeface="微软雅黑"/>
                <a:cs typeface="微软雅黑"/>
              </a:rPr>
              <a:t>次。</a:t>
            </a:r>
          </a:p>
        </p:txBody>
      </p:sp>
    </p:spTree>
    <p:extLst>
      <p:ext uri="{BB962C8B-B14F-4D97-AF65-F5344CB8AC3E}">
        <p14:creationId xmlns="" xmlns:p14="http://schemas.microsoft.com/office/powerpoint/2010/main" val="488368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5748"/>
            <a:ext cx="9577064" cy="3416320"/>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2.3.5  </a:t>
            </a:r>
            <a:r>
              <a:rPr kumimoji="1" lang="zh-CN" altLang="en-US" b="1" dirty="0" smtClean="0">
                <a:latin typeface="微软雅黑"/>
                <a:ea typeface="微软雅黑"/>
                <a:cs typeface="微软雅黑"/>
              </a:rPr>
              <a:t>系统性能测试</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系统</a:t>
            </a:r>
            <a:r>
              <a:rPr kumimoji="1" lang="zh-CN" altLang="en-US" dirty="0">
                <a:latin typeface="微软雅黑"/>
                <a:ea typeface="微软雅黑"/>
                <a:cs typeface="微软雅黑"/>
              </a:rPr>
              <a:t>内切换测试：在室内小区内以及室内外交界处选取能发生室内小区间和室内</a:t>
            </a:r>
            <a:r>
              <a:rPr kumimoji="1" lang="en-US" altLang="zh-CN" dirty="0" smtClean="0">
                <a:latin typeface="微软雅黑"/>
                <a:ea typeface="微软雅黑"/>
                <a:cs typeface="微软雅黑"/>
              </a:rPr>
              <a:t>1</a:t>
            </a:r>
            <a:r>
              <a:rPr kumimoji="1" lang="zh-CN" altLang="en-US" dirty="0" smtClean="0">
                <a:latin typeface="微软雅黑"/>
                <a:ea typeface="微软雅黑"/>
                <a:cs typeface="微软雅黑"/>
              </a:rPr>
              <a:t>）选择</a:t>
            </a:r>
            <a:r>
              <a:rPr kumimoji="1" lang="zh-CN" altLang="en-US" dirty="0">
                <a:latin typeface="微软雅黑"/>
                <a:ea typeface="微软雅黑"/>
                <a:cs typeface="微软雅黑"/>
              </a:rPr>
              <a:t>室内测试路线，测试路线应遍历室内主要覆盖区；</a:t>
            </a:r>
          </a:p>
          <a:p>
            <a:pPr>
              <a:lnSpc>
                <a:spcPct val="150000"/>
              </a:lnSpc>
            </a:pPr>
            <a:r>
              <a:rPr kumimoji="1" lang="zh-CN" altLang="en-US" dirty="0">
                <a:latin typeface="微软雅黑"/>
                <a:ea typeface="微软雅黑"/>
                <a:cs typeface="微软雅黑"/>
              </a:rPr>
              <a:t>外小区间切换的测试点</a:t>
            </a:r>
            <a:r>
              <a:rPr kumimoji="1" lang="en-US" altLang="zh-CN" dirty="0">
                <a:latin typeface="微软雅黑"/>
                <a:ea typeface="微软雅黑"/>
                <a:cs typeface="微软雅黑"/>
              </a:rPr>
              <a:t>(</a:t>
            </a:r>
            <a:r>
              <a:rPr kumimoji="1" lang="zh-CN" altLang="en-US" dirty="0">
                <a:latin typeface="微软雅黑"/>
                <a:ea typeface="微软雅黑"/>
                <a:cs typeface="微软雅黑"/>
              </a:rPr>
              <a:t>如建筑物出入口处、地下停车场出入口处、电梯等</a:t>
            </a:r>
            <a:r>
              <a:rPr kumimoji="1" lang="en-US" altLang="zh-CN" dirty="0">
                <a:latin typeface="微软雅黑"/>
                <a:ea typeface="微软雅黑"/>
                <a:cs typeface="微软雅黑"/>
              </a:rPr>
              <a:t>)</a:t>
            </a:r>
          </a:p>
          <a:p>
            <a:pPr>
              <a:lnSpc>
                <a:spcPct val="150000"/>
              </a:lnSpc>
            </a:pPr>
            <a:r>
              <a:rPr kumimoji="1" lang="en-US" altLang="zh-CN" dirty="0" smtClean="0">
                <a:latin typeface="微软雅黑"/>
                <a:ea typeface="微软雅黑"/>
                <a:cs typeface="微软雅黑"/>
              </a:rPr>
              <a:t>1</a:t>
            </a:r>
            <a:r>
              <a:rPr kumimoji="1" lang="zh-CN" altLang="en-US" dirty="0">
                <a:latin typeface="微软雅黑"/>
                <a:ea typeface="微软雅黑"/>
                <a:cs typeface="微软雅黑"/>
              </a:rPr>
              <a:t>）</a:t>
            </a:r>
            <a:r>
              <a:rPr kumimoji="1" lang="zh-CN" altLang="en-US" dirty="0" smtClean="0">
                <a:latin typeface="微软雅黑"/>
                <a:ea typeface="微软雅黑"/>
                <a:cs typeface="微软雅黑"/>
              </a:rPr>
              <a:t>使用</a:t>
            </a:r>
            <a:r>
              <a:rPr kumimoji="1" lang="zh-CN" altLang="en-US" dirty="0">
                <a:latin typeface="微软雅黑"/>
                <a:ea typeface="微软雅黑"/>
                <a:cs typeface="微软雅黑"/>
              </a:rPr>
              <a:t>一部</a:t>
            </a:r>
            <a:r>
              <a:rPr kumimoji="1" lang="en-US" altLang="zh-CN" dirty="0">
                <a:latin typeface="微软雅黑"/>
                <a:ea typeface="微软雅黑"/>
                <a:cs typeface="微软雅黑"/>
              </a:rPr>
              <a:t>UE</a:t>
            </a:r>
            <a:r>
              <a:rPr kumimoji="1" lang="zh-CN" altLang="en-US" dirty="0">
                <a:latin typeface="微软雅黑"/>
                <a:ea typeface="微软雅黑"/>
                <a:cs typeface="微软雅黑"/>
              </a:rPr>
              <a:t>激活，如不能成功，等候</a:t>
            </a:r>
            <a:r>
              <a:rPr kumimoji="1" lang="en-US" altLang="zh-CN" dirty="0">
                <a:latin typeface="微软雅黑"/>
                <a:ea typeface="微软雅黑"/>
                <a:cs typeface="微软雅黑"/>
              </a:rPr>
              <a:t>20</a:t>
            </a:r>
            <a:r>
              <a:rPr kumimoji="1" lang="zh-CN" altLang="en-US" dirty="0">
                <a:latin typeface="微软雅黑"/>
                <a:ea typeface="微软雅黑"/>
                <a:cs typeface="微软雅黑"/>
              </a:rPr>
              <a:t>秒后重新激活，直到成功；</a:t>
            </a:r>
          </a:p>
          <a:p>
            <a:pPr>
              <a:lnSpc>
                <a:spcPct val="150000"/>
              </a:lnSpc>
            </a:pPr>
            <a:r>
              <a:rPr kumimoji="1" lang="en-US" altLang="zh-CN" dirty="0" smtClean="0">
                <a:latin typeface="微软雅黑"/>
                <a:ea typeface="微软雅黑"/>
                <a:cs typeface="微软雅黑"/>
              </a:rPr>
              <a:t>2</a:t>
            </a:r>
            <a:r>
              <a:rPr kumimoji="1" lang="zh-CN" altLang="en-US" dirty="0">
                <a:latin typeface="微软雅黑"/>
                <a:ea typeface="微软雅黑"/>
                <a:cs typeface="微软雅黑"/>
              </a:rPr>
              <a:t>）</a:t>
            </a:r>
            <a:r>
              <a:rPr kumimoji="1" lang="zh-CN" altLang="en-US" dirty="0" smtClean="0">
                <a:latin typeface="微软雅黑"/>
                <a:ea typeface="微软雅黑"/>
                <a:cs typeface="微软雅黑"/>
              </a:rPr>
              <a:t>进行</a:t>
            </a:r>
            <a:r>
              <a:rPr kumimoji="1" lang="en-US" altLang="zh-CN" dirty="0">
                <a:latin typeface="微软雅黑"/>
                <a:ea typeface="微软雅黑"/>
                <a:cs typeface="微软雅黑"/>
              </a:rPr>
              <a:t>FTP</a:t>
            </a:r>
            <a:r>
              <a:rPr kumimoji="1" lang="zh-CN" altLang="en-US" dirty="0">
                <a:latin typeface="微软雅黑"/>
                <a:ea typeface="微软雅黑"/>
                <a:cs typeface="微软雅黑"/>
              </a:rPr>
              <a:t>下载一个大文件；</a:t>
            </a:r>
          </a:p>
          <a:p>
            <a:pPr>
              <a:lnSpc>
                <a:spcPct val="150000"/>
              </a:lnSpc>
            </a:pPr>
            <a:r>
              <a:rPr kumimoji="1" lang="en-US" altLang="zh-CN" dirty="0" smtClean="0">
                <a:latin typeface="微软雅黑"/>
                <a:ea typeface="微软雅黑"/>
                <a:cs typeface="微软雅黑"/>
              </a:rPr>
              <a:t>3</a:t>
            </a:r>
            <a:r>
              <a:rPr kumimoji="1" lang="zh-CN" altLang="en-US" dirty="0">
                <a:latin typeface="微软雅黑"/>
                <a:ea typeface="微软雅黑"/>
                <a:cs typeface="微软雅黑"/>
              </a:rPr>
              <a:t>）</a:t>
            </a:r>
            <a:r>
              <a:rPr kumimoji="1" lang="zh-CN" altLang="en-US" dirty="0" smtClean="0">
                <a:latin typeface="微软雅黑"/>
                <a:ea typeface="微软雅黑"/>
                <a:cs typeface="微软雅黑"/>
              </a:rPr>
              <a:t>网络</a:t>
            </a:r>
            <a:r>
              <a:rPr kumimoji="1" lang="zh-CN" altLang="en-US" dirty="0">
                <a:latin typeface="微软雅黑"/>
                <a:ea typeface="微软雅黑"/>
                <a:cs typeface="微软雅黑"/>
              </a:rPr>
              <a:t>侧</a:t>
            </a:r>
            <a:r>
              <a:rPr kumimoji="1" lang="en-US" altLang="zh-CN" dirty="0">
                <a:latin typeface="微软雅黑"/>
                <a:ea typeface="微软雅黑"/>
                <a:cs typeface="微软雅黑"/>
              </a:rPr>
              <a:t>(OMCR)</a:t>
            </a:r>
            <a:r>
              <a:rPr kumimoji="1" lang="zh-CN" altLang="en-US" dirty="0">
                <a:latin typeface="微软雅黑"/>
                <a:ea typeface="微软雅黑"/>
                <a:cs typeface="微软雅黑"/>
              </a:rPr>
              <a:t>统计切换时延；切换次数不小于</a:t>
            </a:r>
            <a:r>
              <a:rPr kumimoji="1" lang="en-US" altLang="zh-CN" dirty="0">
                <a:latin typeface="微软雅黑"/>
                <a:ea typeface="微软雅黑"/>
                <a:cs typeface="微软雅黑"/>
              </a:rPr>
              <a:t>200</a:t>
            </a:r>
            <a:r>
              <a:rPr kumimoji="1" lang="zh-CN" altLang="en-US" dirty="0">
                <a:latin typeface="微软雅黑"/>
                <a:ea typeface="微软雅黑"/>
                <a:cs typeface="微软雅黑"/>
              </a:rPr>
              <a:t>次。</a:t>
            </a:r>
          </a:p>
        </p:txBody>
      </p:sp>
    </p:spTree>
    <p:extLst>
      <p:ext uri="{BB962C8B-B14F-4D97-AF65-F5344CB8AC3E}">
        <p14:creationId xmlns="" xmlns:p14="http://schemas.microsoft.com/office/powerpoint/2010/main" val="1476842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5748"/>
            <a:ext cx="9505056" cy="2585323"/>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2.3.5  </a:t>
            </a:r>
            <a:r>
              <a:rPr kumimoji="1" lang="zh-CN" altLang="en-US" b="1" dirty="0" smtClean="0">
                <a:latin typeface="微软雅黑"/>
                <a:ea typeface="微软雅黑"/>
                <a:cs typeface="微软雅黑"/>
              </a:rPr>
              <a:t>系统性能测试</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en-US" altLang="zh-CN" dirty="0" smtClean="0">
                <a:latin typeface="微软雅黑"/>
                <a:ea typeface="微软雅黑"/>
                <a:cs typeface="微软雅黑"/>
              </a:rPr>
              <a:t>Ping</a:t>
            </a:r>
            <a:r>
              <a:rPr kumimoji="1" lang="zh-CN" altLang="en-US" dirty="0">
                <a:latin typeface="微软雅黑"/>
                <a:ea typeface="微软雅黑"/>
                <a:cs typeface="微软雅黑"/>
              </a:rPr>
              <a:t>测试：在室内小区内选择几个典型的测试点，在每个点进行以下测试：近点</a:t>
            </a:r>
            <a:r>
              <a:rPr kumimoji="1" lang="en-US" altLang="zh-CN" dirty="0">
                <a:latin typeface="微软雅黑"/>
                <a:ea typeface="微软雅黑"/>
                <a:cs typeface="微软雅黑"/>
              </a:rPr>
              <a:t>(RSRP&gt;-65dBm)</a:t>
            </a:r>
            <a:r>
              <a:rPr kumimoji="1" lang="zh-CN" altLang="en-US" dirty="0">
                <a:latin typeface="微软雅黑"/>
                <a:ea typeface="微软雅黑"/>
                <a:cs typeface="微软雅黑"/>
              </a:rPr>
              <a:t>、中点</a:t>
            </a:r>
            <a:r>
              <a:rPr kumimoji="1" lang="en-US" altLang="zh-CN" dirty="0">
                <a:latin typeface="微软雅黑"/>
                <a:ea typeface="微软雅黑"/>
                <a:cs typeface="微软雅黑"/>
              </a:rPr>
              <a:t>(RSRP&gt;-75dBm)</a:t>
            </a:r>
            <a:r>
              <a:rPr kumimoji="1" lang="zh-CN" altLang="en-US" dirty="0">
                <a:latin typeface="微软雅黑"/>
                <a:ea typeface="微软雅黑"/>
                <a:cs typeface="微软雅黑"/>
              </a:rPr>
              <a:t>、远点</a:t>
            </a:r>
            <a:r>
              <a:rPr kumimoji="1" lang="en-US" altLang="zh-CN" dirty="0">
                <a:latin typeface="微软雅黑"/>
                <a:ea typeface="微软雅黑"/>
                <a:cs typeface="微软雅黑"/>
              </a:rPr>
              <a:t>(RSRP&gt;-85dBm)</a:t>
            </a:r>
            <a:r>
              <a:rPr kumimoji="1" lang="zh-CN" altLang="en-US" dirty="0">
                <a:latin typeface="微软雅黑"/>
                <a:ea typeface="微软雅黑"/>
                <a:cs typeface="微软雅黑"/>
              </a:rPr>
              <a:t>；每个测试点使用一部</a:t>
            </a:r>
            <a:r>
              <a:rPr kumimoji="1" lang="en-US" altLang="zh-CN" dirty="0">
                <a:latin typeface="微软雅黑"/>
                <a:ea typeface="微软雅黑"/>
                <a:cs typeface="微软雅黑"/>
              </a:rPr>
              <a:t>UE</a:t>
            </a:r>
            <a:r>
              <a:rPr kumimoji="1" lang="zh-CN" altLang="en-US" dirty="0">
                <a:latin typeface="微软雅黑"/>
                <a:ea typeface="微软雅黑"/>
                <a:cs typeface="微软雅黑"/>
              </a:rPr>
              <a:t>发起</a:t>
            </a:r>
            <a:r>
              <a:rPr kumimoji="1" lang="en-US" altLang="zh-CN" dirty="0">
                <a:latin typeface="微软雅黑"/>
                <a:ea typeface="微软雅黑"/>
                <a:cs typeface="微软雅黑"/>
              </a:rPr>
              <a:t>PDP</a:t>
            </a:r>
            <a:r>
              <a:rPr kumimoji="1" lang="zh-CN" altLang="en-US" dirty="0">
                <a:latin typeface="微软雅黑"/>
                <a:ea typeface="微软雅黑"/>
                <a:cs typeface="微软雅黑"/>
              </a:rPr>
              <a:t>激活，激活成功后使用网络命令</a:t>
            </a:r>
            <a:r>
              <a:rPr kumimoji="1" lang="en-US" altLang="zh-CN" dirty="0">
                <a:latin typeface="微软雅黑"/>
                <a:ea typeface="微软雅黑"/>
                <a:cs typeface="微软雅黑"/>
              </a:rPr>
              <a:t>ping</a:t>
            </a:r>
            <a:r>
              <a:rPr kumimoji="1" lang="zh-CN" altLang="en-US" dirty="0">
                <a:latin typeface="微软雅黑"/>
                <a:ea typeface="微软雅黑"/>
                <a:cs typeface="微软雅黑"/>
              </a:rPr>
              <a:t>事先指定的服务器，</a:t>
            </a:r>
            <a:r>
              <a:rPr kumimoji="1" lang="en-US" altLang="zh-CN" dirty="0">
                <a:latin typeface="微软雅黑"/>
                <a:ea typeface="微软雅黑"/>
                <a:cs typeface="微软雅黑"/>
              </a:rPr>
              <a:t>ping</a:t>
            </a:r>
            <a:r>
              <a:rPr kumimoji="1" lang="zh-CN" altLang="en-US" dirty="0">
                <a:latin typeface="微软雅黑"/>
                <a:ea typeface="微软雅黑"/>
                <a:cs typeface="微软雅黑"/>
              </a:rPr>
              <a:t>命令包长</a:t>
            </a:r>
            <a:r>
              <a:rPr kumimoji="1" lang="en-US" altLang="zh-CN" dirty="0">
                <a:latin typeface="微软雅黑"/>
                <a:ea typeface="微软雅黑"/>
                <a:cs typeface="微软雅黑"/>
              </a:rPr>
              <a:t>500byte</a:t>
            </a:r>
            <a:r>
              <a:rPr kumimoji="1" lang="zh-CN" altLang="en-US" dirty="0">
                <a:latin typeface="微软雅黑"/>
                <a:ea typeface="微软雅黑"/>
                <a:cs typeface="微软雅黑"/>
              </a:rPr>
              <a:t>，发送</a:t>
            </a:r>
            <a:r>
              <a:rPr kumimoji="1" lang="en-US" altLang="zh-CN" dirty="0">
                <a:latin typeface="微软雅黑"/>
                <a:ea typeface="微软雅黑"/>
                <a:cs typeface="微软雅黑"/>
              </a:rPr>
              <a:t>100</a:t>
            </a:r>
            <a:r>
              <a:rPr kumimoji="1" lang="zh-CN" altLang="en-US" dirty="0">
                <a:latin typeface="微软雅黑"/>
                <a:ea typeface="微软雅黑"/>
                <a:cs typeface="微软雅黑"/>
              </a:rPr>
              <a:t>次；记录发送次数、成功次数、成功情况下的平均时延。</a:t>
            </a:r>
          </a:p>
        </p:txBody>
      </p:sp>
    </p:spTree>
    <p:extLst>
      <p:ext uri="{BB962C8B-B14F-4D97-AF65-F5344CB8AC3E}">
        <p14:creationId xmlns="" xmlns:p14="http://schemas.microsoft.com/office/powerpoint/2010/main" val="1052829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9486" y="146201"/>
            <a:ext cx="6768752" cy="535531"/>
          </a:xfrm>
          <a:prstGeom prst="rect">
            <a:avLst/>
          </a:prstGeom>
          <a:noFill/>
        </p:spPr>
        <p:txBody>
          <a:bodyPr wrap="square" rtlCol="0">
            <a:spAutoFit/>
          </a:bodyPr>
          <a:lstStyle/>
          <a:p>
            <a:pPr>
              <a:lnSpc>
                <a:spcPct val="120000"/>
              </a:lnSpc>
            </a:pPr>
            <a:r>
              <a:rPr kumimoji="1" lang="zh-CN" altLang="en-US" sz="2400" b="1" dirty="0">
                <a:latin typeface="微软雅黑"/>
                <a:ea typeface="微软雅黑"/>
                <a:cs typeface="微软雅黑"/>
              </a:rPr>
              <a:t>二</a:t>
            </a:r>
            <a:r>
              <a:rPr kumimoji="1" lang="zh-CN" altLang="en-US" sz="2400" b="1" dirty="0" smtClean="0">
                <a:latin typeface="微软雅黑"/>
                <a:ea typeface="微软雅黑"/>
                <a:cs typeface="微软雅黑"/>
              </a:rPr>
              <a:t>、</a:t>
            </a:r>
            <a:r>
              <a:rPr kumimoji="1" lang="en-US" altLang="zh-CN" sz="2400" b="1" dirty="0" smtClean="0">
                <a:latin typeface="微软雅黑"/>
                <a:ea typeface="微软雅黑"/>
                <a:cs typeface="微软雅黑"/>
              </a:rPr>
              <a:t>LTE</a:t>
            </a:r>
            <a:r>
              <a:rPr kumimoji="1" lang="zh-CN" altLang="en-US" sz="2400" b="1" dirty="0" smtClean="0">
                <a:latin typeface="微软雅黑"/>
                <a:ea typeface="微软雅黑"/>
                <a:cs typeface="微软雅黑"/>
              </a:rPr>
              <a:t>单站优化的流程</a:t>
            </a:r>
            <a:endParaRPr kumimoji="1" lang="en-US" altLang="zh-CN" sz="1400" dirty="0">
              <a:latin typeface="微软雅黑"/>
              <a:ea typeface="微软雅黑"/>
            </a:endParaRPr>
          </a:p>
        </p:txBody>
      </p:sp>
      <p:cxnSp>
        <p:nvCxnSpPr>
          <p:cNvPr id="4" name="直线连接符 3"/>
          <p:cNvCxnSpPr/>
          <p:nvPr/>
        </p:nvCxnSpPr>
        <p:spPr>
          <a:xfrm>
            <a:off x="449486" y="681732"/>
            <a:ext cx="9145016"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449486" y="825748"/>
            <a:ext cx="9577064" cy="3831818"/>
          </a:xfrm>
          <a:prstGeom prst="rect">
            <a:avLst/>
          </a:prstGeom>
          <a:noFill/>
        </p:spPr>
        <p:txBody>
          <a:bodyPr wrap="square" rtlCol="0">
            <a:spAutoFit/>
          </a:bodyPr>
          <a:lstStyle/>
          <a:p>
            <a:pPr>
              <a:lnSpc>
                <a:spcPct val="150000"/>
              </a:lnSpc>
            </a:pPr>
            <a:r>
              <a:rPr kumimoji="1" lang="en-US" altLang="zh-CN" b="1" dirty="0" smtClean="0">
                <a:latin typeface="微软雅黑"/>
                <a:ea typeface="微软雅黑"/>
                <a:cs typeface="微软雅黑"/>
              </a:rPr>
              <a:t>2.3</a:t>
            </a:r>
            <a:r>
              <a:rPr kumimoji="1" lang="zh-CN" altLang="en-US" b="1" dirty="0" smtClean="0">
                <a:latin typeface="微软雅黑"/>
                <a:ea typeface="微软雅黑"/>
                <a:cs typeface="微软雅黑"/>
              </a:rPr>
              <a:t>   室内分布单站优化</a:t>
            </a:r>
            <a:endParaRPr kumimoji="1" lang="en-US" altLang="zh-CN" b="1" dirty="0" smtClean="0">
              <a:latin typeface="微软雅黑"/>
              <a:ea typeface="微软雅黑"/>
              <a:cs typeface="微软雅黑"/>
            </a:endParaRPr>
          </a:p>
          <a:p>
            <a:pPr>
              <a:lnSpc>
                <a:spcPct val="150000"/>
              </a:lnSpc>
            </a:pPr>
            <a:r>
              <a:rPr kumimoji="1" lang="en-US" altLang="zh-CN" b="1" dirty="0" smtClean="0">
                <a:latin typeface="微软雅黑"/>
                <a:ea typeface="微软雅黑"/>
                <a:cs typeface="微软雅黑"/>
              </a:rPr>
              <a:t>2.3.5  </a:t>
            </a:r>
            <a:r>
              <a:rPr kumimoji="1" lang="zh-CN" altLang="en-US" b="1" dirty="0" smtClean="0">
                <a:latin typeface="微软雅黑"/>
                <a:ea typeface="微软雅黑"/>
                <a:cs typeface="微软雅黑"/>
              </a:rPr>
              <a:t>系统性能测试</a:t>
            </a:r>
            <a:endParaRPr kumimoji="1" lang="en-US" altLang="zh-CN" b="1" dirty="0" smtClean="0">
              <a:latin typeface="微软雅黑"/>
              <a:ea typeface="微软雅黑"/>
              <a:cs typeface="微软雅黑"/>
            </a:endParaRPr>
          </a:p>
          <a:p>
            <a:pPr indent="-285750">
              <a:lnSpc>
                <a:spcPct val="150000"/>
              </a:lnSpc>
              <a:buClr>
                <a:srgbClr val="FF0000"/>
              </a:buClr>
              <a:buFont typeface="Wingdings" panose="05000000000000000000" pitchFamily="2" charset="2"/>
              <a:buChar char="l"/>
            </a:pPr>
            <a:r>
              <a:rPr kumimoji="1" lang="zh-CN" altLang="en-US" dirty="0" smtClean="0">
                <a:latin typeface="微软雅黑"/>
                <a:ea typeface="微软雅黑"/>
                <a:cs typeface="微软雅黑"/>
              </a:rPr>
              <a:t>上</a:t>
            </a:r>
            <a:r>
              <a:rPr kumimoji="1" lang="zh-CN" altLang="en-US" dirty="0">
                <a:latin typeface="微软雅黑"/>
                <a:ea typeface="微软雅黑"/>
                <a:cs typeface="微软雅黑"/>
              </a:rPr>
              <a:t>传下载业务测试：在室内小区内选择几个典型的测试点，在每个点进行以下测试：近点</a:t>
            </a:r>
            <a:r>
              <a:rPr kumimoji="1" lang="en-US" altLang="zh-CN" dirty="0">
                <a:latin typeface="微软雅黑"/>
                <a:ea typeface="微软雅黑"/>
                <a:cs typeface="微软雅黑"/>
              </a:rPr>
              <a:t>(RSRP&gt;-65dBm)</a:t>
            </a:r>
            <a:r>
              <a:rPr kumimoji="1" lang="zh-CN" altLang="en-US" dirty="0">
                <a:latin typeface="微软雅黑"/>
                <a:ea typeface="微软雅黑"/>
                <a:cs typeface="微软雅黑"/>
              </a:rPr>
              <a:t>、中点</a:t>
            </a:r>
            <a:r>
              <a:rPr kumimoji="1" lang="en-US" altLang="zh-CN" dirty="0">
                <a:latin typeface="微软雅黑"/>
                <a:ea typeface="微软雅黑"/>
                <a:cs typeface="微软雅黑"/>
              </a:rPr>
              <a:t>(RSRP&gt;-75dBm)</a:t>
            </a:r>
            <a:r>
              <a:rPr kumimoji="1" lang="zh-CN" altLang="en-US" dirty="0">
                <a:latin typeface="微软雅黑"/>
                <a:ea typeface="微软雅黑"/>
                <a:cs typeface="微软雅黑"/>
              </a:rPr>
              <a:t>、远点</a:t>
            </a:r>
            <a:r>
              <a:rPr kumimoji="1" lang="en-US" altLang="zh-CN" dirty="0">
                <a:latin typeface="微软雅黑"/>
                <a:ea typeface="微软雅黑"/>
                <a:cs typeface="微软雅黑"/>
              </a:rPr>
              <a:t>(RSRP&gt;-85dBm)</a:t>
            </a:r>
            <a:r>
              <a:rPr kumimoji="1" lang="zh-CN" altLang="en-US" dirty="0">
                <a:latin typeface="微软雅黑"/>
                <a:ea typeface="微软雅黑"/>
                <a:cs typeface="微软雅黑"/>
              </a:rPr>
              <a:t>。</a:t>
            </a:r>
          </a:p>
          <a:p>
            <a:pPr>
              <a:lnSpc>
                <a:spcPct val="150000"/>
              </a:lnSpc>
              <a:buClr>
                <a:srgbClr val="FF0000"/>
              </a:buClr>
            </a:pPr>
            <a:r>
              <a:rPr kumimoji="1" lang="en-US" altLang="zh-CN" dirty="0" smtClean="0">
                <a:latin typeface="微软雅黑"/>
                <a:ea typeface="微软雅黑"/>
                <a:cs typeface="微软雅黑"/>
              </a:rPr>
              <a:t>1</a:t>
            </a:r>
            <a:r>
              <a:rPr kumimoji="1" lang="zh-CN" altLang="en-US" dirty="0" smtClean="0">
                <a:latin typeface="微软雅黑"/>
                <a:ea typeface="微软雅黑"/>
                <a:cs typeface="微软雅黑"/>
              </a:rPr>
              <a:t>）路</a:t>
            </a:r>
            <a:r>
              <a:rPr kumimoji="1" lang="zh-CN" altLang="en-US" dirty="0">
                <a:latin typeface="微软雅黑"/>
                <a:ea typeface="微软雅黑"/>
                <a:cs typeface="微软雅黑"/>
              </a:rPr>
              <a:t>测仪记录业务信道下行</a:t>
            </a:r>
            <a:r>
              <a:rPr kumimoji="1" lang="en-US" altLang="zh-CN" dirty="0">
                <a:latin typeface="微软雅黑"/>
                <a:ea typeface="微软雅黑"/>
                <a:cs typeface="微软雅黑"/>
              </a:rPr>
              <a:t>BLER</a:t>
            </a:r>
            <a:r>
              <a:rPr kumimoji="1" lang="zh-CN" altLang="en-US" dirty="0">
                <a:latin typeface="微软雅黑"/>
                <a:ea typeface="微软雅黑"/>
                <a:cs typeface="微软雅黑"/>
              </a:rPr>
              <a:t>；</a:t>
            </a:r>
          </a:p>
          <a:p>
            <a:pPr>
              <a:lnSpc>
                <a:spcPct val="150000"/>
              </a:lnSpc>
              <a:buClr>
                <a:srgbClr val="FF0000"/>
              </a:buClr>
            </a:pPr>
            <a:r>
              <a:rPr kumimoji="1" lang="en-US" altLang="zh-CN" dirty="0" smtClean="0">
                <a:latin typeface="微软雅黑"/>
                <a:ea typeface="微软雅黑"/>
                <a:cs typeface="微软雅黑"/>
              </a:rPr>
              <a:t>2</a:t>
            </a:r>
            <a:r>
              <a:rPr kumimoji="1" lang="zh-CN" altLang="en-US" dirty="0" smtClean="0">
                <a:latin typeface="微软雅黑"/>
                <a:ea typeface="微软雅黑"/>
                <a:cs typeface="微软雅黑"/>
              </a:rPr>
              <a:t>）在</a:t>
            </a:r>
            <a:r>
              <a:rPr kumimoji="1" lang="zh-CN" altLang="en-US" dirty="0">
                <a:latin typeface="微软雅黑"/>
                <a:ea typeface="微软雅黑"/>
                <a:cs typeface="微软雅黑"/>
              </a:rPr>
              <a:t>网络侧记录业务信道上行</a:t>
            </a:r>
            <a:r>
              <a:rPr kumimoji="1" lang="en-US" altLang="zh-CN" dirty="0">
                <a:latin typeface="微软雅黑"/>
                <a:ea typeface="微软雅黑"/>
                <a:cs typeface="微软雅黑"/>
              </a:rPr>
              <a:t>BLER</a:t>
            </a:r>
            <a:r>
              <a:rPr kumimoji="1" lang="zh-CN" altLang="en-US" dirty="0">
                <a:latin typeface="微软雅黑"/>
                <a:ea typeface="微软雅黑"/>
                <a:cs typeface="微软雅黑"/>
              </a:rPr>
              <a:t>；</a:t>
            </a:r>
          </a:p>
          <a:p>
            <a:pPr>
              <a:lnSpc>
                <a:spcPct val="150000"/>
              </a:lnSpc>
              <a:buClr>
                <a:srgbClr val="FF0000"/>
              </a:buClr>
            </a:pPr>
            <a:r>
              <a:rPr kumimoji="1" lang="en-US" altLang="zh-CN" dirty="0" smtClean="0">
                <a:latin typeface="微软雅黑"/>
                <a:ea typeface="微软雅黑"/>
                <a:cs typeface="微软雅黑"/>
              </a:rPr>
              <a:t>3</a:t>
            </a:r>
            <a:r>
              <a:rPr kumimoji="1" lang="zh-CN" altLang="en-US" dirty="0" smtClean="0">
                <a:latin typeface="微软雅黑"/>
                <a:ea typeface="微软雅黑"/>
                <a:cs typeface="微软雅黑"/>
              </a:rPr>
              <a:t>）打开</a:t>
            </a:r>
            <a:r>
              <a:rPr kumimoji="1" lang="en-US" altLang="zh-CN" dirty="0" err="1">
                <a:latin typeface="微软雅黑"/>
                <a:ea typeface="微软雅黑"/>
                <a:cs typeface="微软雅黑"/>
              </a:rPr>
              <a:t>DuMeter</a:t>
            </a:r>
            <a:r>
              <a:rPr kumimoji="1" lang="zh-CN" altLang="en-US" dirty="0">
                <a:latin typeface="微软雅黑"/>
                <a:ea typeface="微软雅黑"/>
                <a:cs typeface="微软雅黑"/>
              </a:rPr>
              <a:t>记录下载速率；每个测试点用</a:t>
            </a:r>
            <a:r>
              <a:rPr kumimoji="1" lang="en-US" altLang="zh-CN" dirty="0">
                <a:latin typeface="微软雅黑"/>
                <a:ea typeface="微软雅黑"/>
                <a:cs typeface="微软雅黑"/>
              </a:rPr>
              <a:t>1</a:t>
            </a:r>
            <a:r>
              <a:rPr kumimoji="1" lang="zh-CN" altLang="en-US" dirty="0">
                <a:latin typeface="微软雅黑"/>
                <a:ea typeface="微软雅黑"/>
                <a:cs typeface="微软雅黑"/>
              </a:rPr>
              <a:t>部测试</a:t>
            </a:r>
            <a:r>
              <a:rPr kumimoji="1" lang="en-US" altLang="zh-CN" dirty="0">
                <a:latin typeface="微软雅黑"/>
                <a:ea typeface="微软雅黑"/>
                <a:cs typeface="微软雅黑"/>
              </a:rPr>
              <a:t>UE</a:t>
            </a:r>
            <a:r>
              <a:rPr kumimoji="1" lang="zh-CN" altLang="en-US" dirty="0">
                <a:latin typeface="微软雅黑"/>
                <a:ea typeface="微软雅黑"/>
                <a:cs typeface="微软雅黑"/>
              </a:rPr>
              <a:t>发起业务，如不能成功，等候</a:t>
            </a:r>
            <a:r>
              <a:rPr kumimoji="1" lang="en-US" altLang="zh-CN" dirty="0">
                <a:latin typeface="微软雅黑"/>
                <a:ea typeface="微软雅黑"/>
                <a:cs typeface="微软雅黑"/>
              </a:rPr>
              <a:t>20</a:t>
            </a:r>
            <a:r>
              <a:rPr kumimoji="1" lang="zh-CN" altLang="en-US" dirty="0">
                <a:latin typeface="微软雅黑"/>
                <a:ea typeface="微软雅黑"/>
                <a:cs typeface="微软雅黑"/>
              </a:rPr>
              <a:t>秒后重新激活，直到成功；下载一个大文件，记录</a:t>
            </a:r>
            <a:r>
              <a:rPr kumimoji="1" lang="en-US" altLang="zh-CN" dirty="0">
                <a:latin typeface="微软雅黑"/>
                <a:ea typeface="微软雅黑"/>
                <a:cs typeface="微软雅黑"/>
              </a:rPr>
              <a:t>FTP</a:t>
            </a:r>
            <a:r>
              <a:rPr kumimoji="1" lang="zh-CN" altLang="en-US" dirty="0">
                <a:latin typeface="微软雅黑"/>
                <a:ea typeface="微软雅黑"/>
                <a:cs typeface="微软雅黑"/>
              </a:rPr>
              <a:t>上传</a:t>
            </a:r>
            <a:r>
              <a:rPr kumimoji="1" lang="en-US" altLang="zh-CN" dirty="0">
                <a:latin typeface="微软雅黑"/>
                <a:ea typeface="微软雅黑"/>
                <a:cs typeface="微软雅黑"/>
              </a:rPr>
              <a:t>/</a:t>
            </a:r>
            <a:r>
              <a:rPr kumimoji="1" lang="zh-CN" altLang="en-US" dirty="0">
                <a:latin typeface="微软雅黑"/>
                <a:ea typeface="微软雅黑"/>
                <a:cs typeface="微软雅黑"/>
              </a:rPr>
              <a:t>下载速率和上下行</a:t>
            </a:r>
            <a:r>
              <a:rPr kumimoji="1" lang="en-US" altLang="zh-CN" dirty="0">
                <a:latin typeface="微软雅黑"/>
                <a:ea typeface="微软雅黑"/>
                <a:cs typeface="微软雅黑"/>
              </a:rPr>
              <a:t>BLER</a:t>
            </a:r>
            <a:r>
              <a:rPr kumimoji="1" lang="zh-CN" altLang="en-US" dirty="0">
                <a:latin typeface="微软雅黑"/>
                <a:ea typeface="微软雅黑"/>
                <a:cs typeface="微软雅黑"/>
              </a:rPr>
              <a:t>、</a:t>
            </a:r>
            <a:r>
              <a:rPr kumimoji="1" lang="en-US" altLang="zh-CN" dirty="0">
                <a:latin typeface="微软雅黑"/>
                <a:ea typeface="微软雅黑"/>
                <a:cs typeface="微软雅黑"/>
              </a:rPr>
              <a:t>MCS</a:t>
            </a:r>
            <a:r>
              <a:rPr kumimoji="1" lang="zh-CN" altLang="en-US" dirty="0">
                <a:latin typeface="微软雅黑"/>
                <a:ea typeface="微软雅黑"/>
                <a:cs typeface="微软雅黑"/>
              </a:rPr>
              <a:t>、调度测试；每个点重复</a:t>
            </a:r>
            <a:r>
              <a:rPr kumimoji="1" lang="en-US" altLang="zh-CN" dirty="0">
                <a:latin typeface="微软雅黑"/>
                <a:ea typeface="微软雅黑"/>
                <a:cs typeface="微软雅黑"/>
              </a:rPr>
              <a:t>3</a:t>
            </a:r>
            <a:r>
              <a:rPr kumimoji="1" lang="zh-CN" altLang="en-US" dirty="0">
                <a:latin typeface="微软雅黑"/>
                <a:ea typeface="微软雅黑"/>
                <a:cs typeface="微软雅黑"/>
              </a:rPr>
              <a:t>次</a:t>
            </a:r>
          </a:p>
        </p:txBody>
      </p:sp>
    </p:spTree>
    <p:extLst>
      <p:ext uri="{BB962C8B-B14F-4D97-AF65-F5344CB8AC3E}">
        <p14:creationId xmlns="" xmlns:p14="http://schemas.microsoft.com/office/powerpoint/2010/main" val="2653435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27780" y="681732"/>
            <a:ext cx="2305050" cy="646331"/>
          </a:xfrm>
          <a:prstGeom prst="rect">
            <a:avLst/>
          </a:prstGeom>
          <a:noFill/>
        </p:spPr>
        <p:txBody>
          <a:bodyPr wrap="square" rtlCol="0">
            <a:spAutoFit/>
          </a:bodyPr>
          <a:lstStyle/>
          <a:p>
            <a:r>
              <a:rPr lang="zh-CN" altLang="en-US" sz="3600" b="1" dirty="0">
                <a:solidFill>
                  <a:schemeClr val="tx1">
                    <a:lumMod val="65000"/>
                    <a:lumOff val="35000"/>
                  </a:schemeClr>
                </a:solidFill>
                <a:latin typeface="微软雅黑" panose="020B0503020204020204" charset="-122"/>
                <a:ea typeface="微软雅黑" panose="020B0503020204020204" charset="-122"/>
              </a:rPr>
              <a:t>项目总结</a:t>
            </a:r>
          </a:p>
        </p:txBody>
      </p:sp>
      <p:sp>
        <p:nvSpPr>
          <p:cNvPr id="5" name="内容占位符 2">
            <a:extLst>
              <a:ext uri="{FF2B5EF4-FFF2-40B4-BE49-F238E27FC236}">
                <a16:creationId xmlns="" xmlns:a16="http://schemas.microsoft.com/office/drawing/2014/main" id="{3E76974C-F819-494B-9017-B35B7A11732D}"/>
              </a:ext>
            </a:extLst>
          </p:cNvPr>
          <p:cNvSpPr txBox="1"/>
          <p:nvPr/>
        </p:nvSpPr>
        <p:spPr>
          <a:xfrm>
            <a:off x="3858127" y="2049884"/>
            <a:ext cx="3216096" cy="580390"/>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1600" dirty="0" smtClean="0">
                <a:solidFill>
                  <a:schemeClr val="tx1">
                    <a:lumMod val="65000"/>
                    <a:lumOff val="35000"/>
                  </a:schemeClr>
                </a:solidFill>
                <a:latin typeface="微软雅黑" panose="020B0503020204020204" charset="-122"/>
                <a:ea typeface="微软雅黑" panose="020B0503020204020204" charset="-122"/>
              </a:rPr>
              <a:t>掌握单站优化的概念及重要性</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6" name="矩形 5">
            <a:extLst>
              <a:ext uri="{FF2B5EF4-FFF2-40B4-BE49-F238E27FC236}">
                <a16:creationId xmlns="" xmlns:a16="http://schemas.microsoft.com/office/drawing/2014/main" id="{F3388219-87BB-482E-B5D7-C807FA5B80F0}"/>
              </a:ext>
            </a:extLst>
          </p:cNvPr>
          <p:cNvSpPr/>
          <p:nvPr/>
        </p:nvSpPr>
        <p:spPr>
          <a:xfrm>
            <a:off x="3329806" y="1996440"/>
            <a:ext cx="341630" cy="348615"/>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t>1</a:t>
            </a:r>
          </a:p>
        </p:txBody>
      </p:sp>
      <p:sp>
        <p:nvSpPr>
          <p:cNvPr id="7" name="矩形 6">
            <a:extLst>
              <a:ext uri="{FF2B5EF4-FFF2-40B4-BE49-F238E27FC236}">
                <a16:creationId xmlns="" xmlns:a16="http://schemas.microsoft.com/office/drawing/2014/main" id="{C46B81AF-C8EF-4F75-AE8E-37CE156B3FC2}"/>
              </a:ext>
            </a:extLst>
          </p:cNvPr>
          <p:cNvSpPr/>
          <p:nvPr/>
        </p:nvSpPr>
        <p:spPr>
          <a:xfrm>
            <a:off x="3329806" y="3130004"/>
            <a:ext cx="341630" cy="348615"/>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t>2</a:t>
            </a:r>
          </a:p>
        </p:txBody>
      </p:sp>
      <p:sp>
        <p:nvSpPr>
          <p:cNvPr id="9" name="内容占位符 2">
            <a:extLst>
              <a:ext uri="{FF2B5EF4-FFF2-40B4-BE49-F238E27FC236}">
                <a16:creationId xmlns="" xmlns:a16="http://schemas.microsoft.com/office/drawing/2014/main" id="{3A4839BB-5D2F-4C0B-93DF-A27423E4C053}"/>
              </a:ext>
            </a:extLst>
          </p:cNvPr>
          <p:cNvSpPr txBox="1"/>
          <p:nvPr/>
        </p:nvSpPr>
        <p:spPr>
          <a:xfrm>
            <a:off x="3858127" y="3135099"/>
            <a:ext cx="3216096" cy="580390"/>
          </a:xfrm>
          <a:prstGeom prst="rect">
            <a:avLst/>
          </a:prstGeom>
        </p:spPr>
        <p:txBody>
          <a:bodyPr/>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1600" dirty="0" smtClean="0">
                <a:solidFill>
                  <a:schemeClr val="tx1">
                    <a:lumMod val="65000"/>
                    <a:lumOff val="35000"/>
                  </a:schemeClr>
                </a:solidFill>
                <a:latin typeface="微软雅黑" panose="020B0503020204020204" charset="-122"/>
                <a:ea typeface="微软雅黑" panose="020B0503020204020204" charset="-122"/>
              </a:rPr>
              <a:t>明确单站优化的具体流程及区别</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Tree>
    <p:extLst>
      <p:ext uri="{BB962C8B-B14F-4D97-AF65-F5344CB8AC3E}">
        <p14:creationId xmlns="" xmlns:p14="http://schemas.microsoft.com/office/powerpoint/2010/main" val="2837750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0982151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971</TotalTime>
  <Words>2118</Words>
  <Application>Microsoft Office PowerPoint</Application>
  <PresentationFormat>自定义</PresentationFormat>
  <Paragraphs>126</Paragraphs>
  <Slides>22</Slides>
  <Notes>0</Notes>
  <HiddenSlides>0</HiddenSlides>
  <MMClips>0</MMClips>
  <ScaleCrop>false</ScaleCrop>
  <HeadingPairs>
    <vt:vector size="4" baseType="variant">
      <vt:variant>
        <vt:lpstr>主题</vt:lpstr>
      </vt:variant>
      <vt:variant>
        <vt:i4>1</vt:i4>
      </vt:variant>
      <vt:variant>
        <vt:lpstr>幻灯片标题</vt:lpstr>
      </vt:variant>
      <vt:variant>
        <vt:i4>22</vt:i4>
      </vt:variant>
    </vt:vector>
  </HeadingPairs>
  <TitlesOfParts>
    <vt:vector size="23"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Windows 用户</dc:creator>
  <cp:lastModifiedBy>ASUS</cp:lastModifiedBy>
  <cp:revision>120</cp:revision>
  <dcterms:created xsi:type="dcterms:W3CDTF">2016-04-25T01:13:00Z</dcterms:created>
  <dcterms:modified xsi:type="dcterms:W3CDTF">2022-03-03T02:43:35Z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