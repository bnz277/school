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27"/>
  </p:handoutMasterIdLst>
  <p:sldIdLst>
    <p:sldId id="269" r:id="rId4"/>
    <p:sldId id="289" r:id="rId6"/>
    <p:sldId id="292" r:id="rId7"/>
    <p:sldId id="266" r:id="rId8"/>
    <p:sldId id="308" r:id="rId9"/>
    <p:sldId id="309" r:id="rId10"/>
    <p:sldId id="310" r:id="rId11"/>
    <p:sldId id="311" r:id="rId12"/>
    <p:sldId id="273" r:id="rId13"/>
    <p:sldId id="293" r:id="rId14"/>
    <p:sldId id="294" r:id="rId15"/>
    <p:sldId id="295" r:id="rId16"/>
    <p:sldId id="296" r:id="rId17"/>
    <p:sldId id="297" r:id="rId18"/>
    <p:sldId id="298" r:id="rId19"/>
    <p:sldId id="276" r:id="rId20"/>
    <p:sldId id="299" r:id="rId21"/>
    <p:sldId id="300" r:id="rId22"/>
    <p:sldId id="301" r:id="rId23"/>
    <p:sldId id="302" r:id="rId24"/>
    <p:sldId id="284" r:id="rId25"/>
    <p:sldId id="285" r:id="rId26"/>
  </p:sldIdLst>
  <p:sldSz cx="9592945" cy="5395595"/>
  <p:notesSz cx="9144000" cy="6858000"/>
  <p:custDataLst>
    <p:tags r:id="rId3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769" userDrawn="1">
          <p15:clr>
            <a:srgbClr val="A4A3A4"/>
          </p15:clr>
        </p15:guide>
        <p15:guide id="2" pos="308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王倩倩" initials="Wqq"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AC4F1"/>
    <a:srgbClr val="F2F2F2"/>
    <a:srgbClr val="7DCDFF"/>
    <a:srgbClr val="9BD9FF"/>
    <a:srgbClr val="8AE1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4" d="100"/>
          <a:sy n="84" d="100"/>
        </p:scale>
        <p:origin x="-846" y="-78"/>
      </p:cViewPr>
      <p:guideLst>
        <p:guide orient="horz" pos="1769"/>
        <p:guide pos="3086"/>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9.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3E0FEC91-376F-4B3F-A168-65C97BFAF66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0" y="514350"/>
            <a:ext cx="4572000" cy="257175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22528F52-921D-4B5E-90E1-89DF6F6F587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今天我们聚焦于通信工程设计，深入认知通信工程这一领域。通信工程作为电子信息学科的重要组成部分，与我们的生活紧密相连。</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学习目标主要有三项。首先是了解通信工程，明确其定义、建设特点和类别划分，为后续学习打基础；接着要了解通信工程企业资质和岗位，掌握企业资质作用、划分标准等；最后需掌握文明施工礼仪，保障工程建设顺利进行。三项内容层层递进。</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本次演讲将围绕四个关键板块展开。首先是通信工程的定义，明确其为满足通信需求进行的建设工程，涵盖设备安装、场地建设等多方面，了解此定义有助于把握工程本质。</a:t>
            </a:r>
            <a:r>
              <a:rPr lang="en-US" altLang="zh-CN"/>
              <a:t>
</a:t>
            </a:r>
            <a:r>
              <a:rPr lang="zh-CN" altLang="en-US"/>
              <a:t>其次是通信工程企业资质，不同资质企业可承接不同工程，资质划分有严格标准，这关系到工程建设的质量与规范。</a:t>
            </a:r>
            <a:r>
              <a:rPr lang="en-US" altLang="zh-CN"/>
              <a:t>
</a:t>
            </a:r>
            <a:r>
              <a:rPr lang="zh-CN" altLang="en-US"/>
              <a:t>再者是通信工程的岗位，不同岗位在工程中发挥着不同作用，明确岗位设置利于合理安排人力资源。</a:t>
            </a:r>
            <a:r>
              <a:rPr lang="en-US" altLang="zh-CN"/>
              <a:t>
</a:t>
            </a:r>
            <a:r>
              <a:rPr lang="zh-CN" altLang="en-US"/>
              <a:t>最后是通信工程文明施工礼仪，文明施工不仅体现行业素养，还能保障工程顺利进行。</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旨在满足人们的通信需求，具体涵盖设备安装、调试与开通，场地建设，线路敷设，以及相关的勘察设计工作。其学习意义显著，不仅能够提升工程建设的质量，确保工程达到较高水准；还能加快建设进度，使通信服务更快落地。同时，降低建设成本，实现资源的高效利用；并且保障建设安全，避免各类事故的发生。</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建设具有鲜明特点。全程全网联合作业意味着各个环节紧密相连，如同精密运转的机器，任何一个部分出现问题都可能影响整体。通信技术发展迅速，新技术、新业务不断涌现，这要求从业者时刻保持学习状态，紧跟行业前沿。</a:t>
            </a:r>
            <a:r>
              <a:rPr lang="en-US" altLang="zh-CN"/>
              <a:t>
</a:t>
            </a:r>
            <a:r>
              <a:rPr lang="zh-CN" altLang="en-US"/>
              <a:t>点多、线长、面广体现了通信工程建设的复杂性和广泛性，涉及众多地点和领域。建设环境复杂，可能面临地理、气候等多种因素挑战，给工程带来了更多不确定性。这些特点决定了通信工程建设需要全面规划、高效协作以及强大的应变能力。</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建设有着明确的类别划分，依据国家规定的标准，分别从建设项目和单项工程两个维度，将其划分为一类、二类、三类和四类工程。这种划分意义重大，它为通信工程建设提供了清晰的规范和指导，有助于确保工程质量、合理分配资源以及有效管理工程进度。不同类别的工程，在规模、难度和要求上可能存在差异，通过明确类别，能让建设方和施工方更精准地把握工程特点，进而制定更科学的建设方案。</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建设按照单项工程划分，首先来看通信线路工程类别划分。在通信工程领域，通信线路工程是重要组成部分。其类别划分有着重要意义，它有助于规范工程建设，明确不同工程的标准和要求。合理的类别划分能让建设方、施工方更清晰地了解工程性质和难度，进而在资源分配、人员安排等方面做出更科学的决策，保障通信工程建设高效、有序地推进。</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通信工程建设里，通信设备安装工程类别划分十分关键。此前我们已了解到通信建设工程按建设项目、单项工程有类别划分。现在聚焦到通信设备安装工程类别划分，它是通信工程建设分类的重要组成部分，不同的类别划分对应着不同的建设标准和要求，对于合理规划通信工程、确保工程质量与效率有着重要意义。</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通信工程企业资质在行业中起着关键作用。通信工程建设专业性强、要求高，所以必须由具备相关资质的企业来承建。不同资质的企业，就像不同级别的</a:t>
            </a:r>
            <a:r>
              <a:rPr lang="en-US" altLang="zh-CN"/>
              <a:t>“</a:t>
            </a:r>
            <a:r>
              <a:rPr lang="zh-CN" altLang="en-US"/>
              <a:t>选手</a:t>
            </a:r>
            <a:r>
              <a:rPr lang="en-US" altLang="zh-CN"/>
              <a:t>”</a:t>
            </a:r>
            <a:r>
              <a:rPr lang="zh-CN" altLang="en-US"/>
              <a:t>，能承接的工程建设也不同。</a:t>
            </a:r>
            <a:r>
              <a:rPr lang="en-US" altLang="zh-CN"/>
              <a:t>
</a:t>
            </a:r>
            <a:r>
              <a:rPr lang="zh-CN" altLang="en-US"/>
              <a:t>通信工程施工总承包企业资质等级标准依据企业资产、人员和工程业绩，将企业分为一级、二级、三级。这种分类有助于规范市场，让合适的企业承担相应难度和规模的工程，保障通信工程建设的质量和效率。</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通信工程施工总承包资质依据住建部标准分为一级、二级、三级。一级资质标准要求严格，体现企业综合实力。首先，企业净资产需达</a:t>
            </a:r>
            <a:r>
              <a:rPr lang="en-US" altLang="zh-CN"/>
              <a:t>8000</a:t>
            </a:r>
            <a:r>
              <a:rPr lang="zh-CN" altLang="en-US"/>
              <a:t>万元以上，雄厚资金是项目顺利开展的基础。其次，人员配备要求高，通信与广电工程专业一级注册建造师不少于</a:t>
            </a:r>
            <a:r>
              <a:rPr lang="en-US" altLang="zh-CN"/>
              <a:t>15</a:t>
            </a:r>
            <a:r>
              <a:rPr lang="zh-CN" altLang="en-US"/>
              <a:t>人，相关专业中级以上职称人员不少于</a:t>
            </a:r>
            <a:r>
              <a:rPr lang="en-US" altLang="zh-CN"/>
              <a:t>60</a:t>
            </a:r>
            <a:r>
              <a:rPr lang="zh-CN" altLang="en-US"/>
              <a:t>人等，这确保了企业有专业人才支撑。最后，近</a:t>
            </a:r>
            <a:r>
              <a:rPr lang="en-US" altLang="zh-CN"/>
              <a:t>5</a:t>
            </a:r>
            <a:r>
              <a:rPr lang="zh-CN" altLang="en-US"/>
              <a:t>年要承担</a:t>
            </a:r>
            <a:r>
              <a:rPr lang="en-US" altLang="zh-CN"/>
              <a:t>7</a:t>
            </a:r>
            <a:r>
              <a:rPr lang="zh-CN" altLang="en-US"/>
              <a:t>类中的</a:t>
            </a:r>
            <a:r>
              <a:rPr lang="en-US" altLang="zh-CN"/>
              <a:t>5</a:t>
            </a:r>
            <a:r>
              <a:rPr lang="zh-CN" altLang="en-US"/>
              <a:t>类工程且质量合格，这是对企业过往业绩和施工能力的检验。</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一级资质通信工程企业需满足多项业绩要求。其一，线路工程方面，年完成</a:t>
            </a:r>
            <a:r>
              <a:rPr lang="en-US" altLang="zh-CN"/>
              <a:t>800</a:t>
            </a:r>
            <a:r>
              <a:rPr lang="zh-CN" altLang="en-US"/>
              <a:t>公里以上长途光缆线路，或</a:t>
            </a:r>
            <a:r>
              <a:rPr lang="en-US" altLang="zh-CN"/>
              <a:t>2000</a:t>
            </a:r>
            <a:r>
              <a:rPr lang="zh-CN" altLang="en-US"/>
              <a:t>条公里以上本地网光缆线路，或</a:t>
            </a:r>
            <a:r>
              <a:rPr lang="en-US" altLang="zh-CN"/>
              <a:t>1000</a:t>
            </a:r>
            <a:r>
              <a:rPr lang="zh-CN" altLang="en-US"/>
              <a:t>孔公里以上通信管道工程，或单个项目</a:t>
            </a:r>
            <a:r>
              <a:rPr lang="en-US" altLang="zh-CN"/>
              <a:t>300</a:t>
            </a:r>
            <a:r>
              <a:rPr lang="zh-CN" altLang="en-US"/>
              <a:t>公里以上长途光缆线路工程。其二，业务层面，年完成</a:t>
            </a:r>
            <a:r>
              <a:rPr lang="en-US" altLang="zh-CN"/>
              <a:t>30</a:t>
            </a:r>
            <a:r>
              <a:rPr lang="zh-CN" altLang="en-US"/>
              <a:t>个以上业务层与控制层网元。其三，基站建设与优化上，年完成</a:t>
            </a:r>
            <a:r>
              <a:rPr lang="en-US" altLang="zh-CN"/>
              <a:t>1000</a:t>
            </a:r>
            <a:r>
              <a:rPr lang="zh-CN" altLang="en-US"/>
              <a:t>个以上基站移动通信工程，或</a:t>
            </a:r>
            <a:r>
              <a:rPr lang="en-US" altLang="zh-CN"/>
              <a:t>1000</a:t>
            </a:r>
            <a:r>
              <a:rPr lang="zh-CN" altLang="en-US"/>
              <a:t>个基站或</a:t>
            </a:r>
            <a:r>
              <a:rPr lang="en-US" altLang="zh-CN"/>
              <a:t>5000</a:t>
            </a:r>
            <a:r>
              <a:rPr lang="zh-CN" altLang="en-US"/>
              <a:t>载频以上网络优化工程。其四，传输设备安装调测，年完成相应速率设备一定数量。其五，数据通信系统，年完成省际或城域相关系统工程。最后，机房电源工程，年完成</a:t>
            </a:r>
            <a:r>
              <a:rPr lang="en-US" altLang="zh-CN"/>
              <a:t>5</a:t>
            </a:r>
            <a:r>
              <a:rPr lang="zh-CN" altLang="en-US"/>
              <a:t>个以上地市级机房电源工程或</a:t>
            </a:r>
            <a:r>
              <a:rPr lang="en-US" altLang="zh-CN"/>
              <a:t>800</a:t>
            </a:r>
            <a:r>
              <a:rPr lang="zh-CN" altLang="en-US"/>
              <a:t>个以上配套电源工程。</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通信工程企业二级资质要求有两方面。其一，企业净资产需</a:t>
            </a:r>
            <a:r>
              <a:rPr lang="en-US" altLang="zh-CN"/>
              <a:t>3200</a:t>
            </a:r>
            <a:r>
              <a:rPr lang="zh-CN" altLang="en-US"/>
              <a:t>万元以上，这是企业实力的基础体现，足够的资金能保障工程顺利开展。其二，企业主要人员方面要求严格。通信与广电工程专业一级注册建造师不少于</a:t>
            </a:r>
            <a:r>
              <a:rPr lang="en-US" altLang="zh-CN"/>
              <a:t>6</a:t>
            </a:r>
            <a:r>
              <a:rPr lang="zh-CN" altLang="en-US"/>
              <a:t>人，他们是工程建设的核心力量。技术负责人需有</a:t>
            </a:r>
            <a:r>
              <a:rPr lang="en-US" altLang="zh-CN"/>
              <a:t>8</a:t>
            </a:r>
            <a:r>
              <a:rPr lang="zh-CN" altLang="en-US"/>
              <a:t>年以上工程施工技术管理经验，且具备通信工程相关专业高级职称或一级注册建造师执业资格，相关中级以上职称人员不少于</a:t>
            </a:r>
            <a:r>
              <a:rPr lang="en-US" altLang="zh-CN"/>
              <a:t>30</a:t>
            </a:r>
            <a:r>
              <a:rPr lang="zh-CN" altLang="en-US"/>
              <a:t>人，能保证技术和管理的专业性。持有岗位证书的施工现场管理人员不少于</a:t>
            </a:r>
            <a:r>
              <a:rPr lang="en-US" altLang="zh-CN"/>
              <a:t>30</a:t>
            </a:r>
            <a:r>
              <a:rPr lang="zh-CN" altLang="en-US"/>
              <a:t>人，且人员齐全，可保障现场施工有序。经考核或培训合格的中级工以上技术工人不少于</a:t>
            </a:r>
            <a:r>
              <a:rPr lang="en-US" altLang="zh-CN"/>
              <a:t>60</a:t>
            </a:r>
            <a:r>
              <a:rPr lang="zh-CN" altLang="en-US"/>
              <a:t>人，为工程建设提供坚实的人力支持。</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通信工程企业若想获得二级资质，近</a:t>
            </a:r>
            <a:r>
              <a:rPr lang="en-US" altLang="zh-CN"/>
              <a:t>5</a:t>
            </a:r>
            <a:r>
              <a:rPr lang="zh-CN" altLang="en-US"/>
              <a:t>年需承担</a:t>
            </a:r>
            <a:r>
              <a:rPr lang="en-US" altLang="zh-CN"/>
              <a:t>9</a:t>
            </a:r>
            <a:r>
              <a:rPr lang="zh-CN" altLang="en-US"/>
              <a:t>类中的</a:t>
            </a:r>
            <a:r>
              <a:rPr lang="en-US" altLang="zh-CN"/>
              <a:t>4</a:t>
            </a:r>
            <a:r>
              <a:rPr lang="zh-CN" altLang="en-US"/>
              <a:t>类工程施工且质量合格。这些工程涵盖范围广，包括线路、设备、网络、电源等多方面。</a:t>
            </a:r>
            <a:r>
              <a:rPr lang="en-US" altLang="zh-CN"/>
              <a:t>
</a:t>
            </a:r>
            <a:r>
              <a:rPr lang="zh-CN" altLang="en-US"/>
              <a:t>线路方面，年完成</a:t>
            </a:r>
            <a:r>
              <a:rPr lang="en-US" altLang="zh-CN"/>
              <a:t>400</a:t>
            </a:r>
            <a:r>
              <a:rPr lang="zh-CN" altLang="en-US"/>
              <a:t>公里以上长途线路，或</a:t>
            </a:r>
            <a:r>
              <a:rPr lang="en-US" altLang="zh-CN"/>
              <a:t>1000</a:t>
            </a:r>
            <a:r>
              <a:rPr lang="zh-CN" altLang="en-US"/>
              <a:t>条公里以上本地网光缆线路，或</a:t>
            </a:r>
            <a:r>
              <a:rPr lang="en-US" altLang="zh-CN"/>
              <a:t>500</a:t>
            </a:r>
            <a:r>
              <a:rPr lang="zh-CN" altLang="en-US"/>
              <a:t>孔公里以上通信管道工程。设备上，要完成</a:t>
            </a:r>
            <a:r>
              <a:rPr lang="en-US" altLang="zh-CN"/>
              <a:t>15</a:t>
            </a:r>
            <a:r>
              <a:rPr lang="zh-CN" altLang="en-US"/>
              <a:t>个以上业务层与控制层网元、</a:t>
            </a:r>
            <a:r>
              <a:rPr lang="en-US" altLang="zh-CN"/>
              <a:t>250</a:t>
            </a:r>
            <a:r>
              <a:rPr lang="zh-CN" altLang="en-US"/>
              <a:t>端</a:t>
            </a:r>
            <a:r>
              <a:rPr lang="en-US" altLang="zh-CN"/>
              <a:t>155Mb/s</a:t>
            </a:r>
            <a:r>
              <a:rPr lang="zh-CN" altLang="en-US"/>
              <a:t>以上系统传输设备的安装调测。网络工程包含宽带接入入户</a:t>
            </a:r>
            <a:r>
              <a:rPr lang="en-US" altLang="zh-CN"/>
              <a:t>1</a:t>
            </a:r>
            <a:r>
              <a:rPr lang="zh-CN" altLang="en-US"/>
              <a:t>万户、</a:t>
            </a:r>
            <a:r>
              <a:rPr lang="en-US" altLang="zh-CN"/>
              <a:t>500</a:t>
            </a:r>
            <a:r>
              <a:rPr lang="zh-CN" altLang="en-US"/>
              <a:t>个以上基站的移动通信工程等。电源工程则要求完成</a:t>
            </a:r>
            <a:r>
              <a:rPr lang="en-US" altLang="zh-CN"/>
              <a:t>2</a:t>
            </a:r>
            <a:r>
              <a:rPr lang="zh-CN" altLang="en-US"/>
              <a:t>个以上地市级机房电源工程或</a:t>
            </a:r>
            <a:r>
              <a:rPr lang="en-US" altLang="zh-CN"/>
              <a:t>400</a:t>
            </a:r>
            <a:r>
              <a:rPr lang="zh-CN" altLang="en-US"/>
              <a:t>个以上配套电源工程。这些要求体现了对企业综合能力的考量。</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现在我们来看看通信工程企业三级资质标准。企业资产方面，要求净资产</a:t>
            </a:r>
            <a:r>
              <a:rPr lang="en-US" altLang="zh-CN"/>
              <a:t> 600 </a:t>
            </a:r>
            <a:r>
              <a:rPr lang="zh-CN" altLang="en-US"/>
              <a:t>万元以上，这是企业具备一定经济实力的体现，能保障工程顺利开展。</a:t>
            </a:r>
            <a:r>
              <a:rPr lang="en-US" altLang="zh-CN"/>
              <a:t>
</a:t>
            </a:r>
            <a:r>
              <a:rPr lang="zh-CN" altLang="en-US"/>
              <a:t>企业主要人员的要求也很关键。通信与广电工程专业一级注册建造师不少于</a:t>
            </a:r>
            <a:r>
              <a:rPr lang="en-US" altLang="zh-CN"/>
              <a:t> 2 </a:t>
            </a:r>
            <a:r>
              <a:rPr lang="zh-CN" altLang="en-US"/>
              <a:t>人，他们是项目建设的专业骨干。技术负责人需有</a:t>
            </a:r>
            <a:r>
              <a:rPr lang="en-US" altLang="zh-CN"/>
              <a:t> 5 </a:t>
            </a:r>
            <a:r>
              <a:rPr lang="zh-CN" altLang="en-US"/>
              <a:t>年以上工程施工技术管理经验，且具备通信工程相关专业中级以上职称或一级注册建造师执业资格，这保证了项目技术层面的把控。通信工程相关专业中级以上职称人员不少于</a:t>
            </a:r>
            <a:r>
              <a:rPr lang="en-US" altLang="zh-CN"/>
              <a:t> 15 </a:t>
            </a:r>
            <a:r>
              <a:rPr lang="zh-CN" altLang="en-US"/>
              <a:t>人，他们能为项目提供坚实的技术支持。</a:t>
            </a:r>
            <a:r>
              <a:rPr lang="en-US" altLang="zh-CN"/>
              <a:t>
</a:t>
            </a:r>
            <a:r>
              <a:rPr lang="zh-CN" altLang="en-US"/>
              <a:t>持有岗位证书的施工现场管理人员不少于</a:t>
            </a:r>
            <a:r>
              <a:rPr lang="en-US" altLang="zh-CN"/>
              <a:t> 15 </a:t>
            </a:r>
            <a:r>
              <a:rPr lang="zh-CN" altLang="en-US"/>
              <a:t>人，且施工员、质量员、安全员等人员齐全，这是保障施工现场有序、安全、高质量施工的基础。企业还需有经考核或培训合格的中级工以上技术工人不少于</a:t>
            </a:r>
            <a:r>
              <a:rPr lang="en-US" altLang="zh-CN"/>
              <a:t> 30 </a:t>
            </a:r>
            <a:r>
              <a:rPr lang="zh-CN" altLang="en-US"/>
              <a:t>人，他们是工程建设的实际操作者。</a:t>
            </a:r>
            <a:r>
              <a:rPr lang="en-US" altLang="zh-CN"/>
              <a:t>
</a:t>
            </a:r>
            <a:r>
              <a:rPr lang="zh-CN" altLang="en-US"/>
              <a:t>技术负责人或注册建造师主持完成过本类别资质二级以上标准要求的工程业绩不少于</a:t>
            </a:r>
            <a:r>
              <a:rPr lang="en-US" altLang="zh-CN"/>
              <a:t> 2 </a:t>
            </a:r>
            <a:r>
              <a:rPr lang="zh-CN" altLang="en-US"/>
              <a:t>项，这体现了企业有实际的工程经验和实力，能够应对各类工程挑战。</a:t>
            </a:r>
            <a:r>
              <a:rPr lang="en-US" altLang="zh-CN"/>
              <a:t>
</a:t>
            </a:r>
            <a:r>
              <a:rPr lang="zh-CN" altLang="en-US"/>
              <a:t>总体而言，这些标准综合考量了企业的资金、人员和经验等方面，确保企业有能力承担相应的通信工程建设任务。</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通信工程企业资质不同，承包工程范围也有所不同。一级资质实力最强，可承担各类通信、信息网络工程施工，就像经验丰富、技术全面的老师傅，能应对各种复杂工程挑战。</a:t>
            </a:r>
            <a:r>
              <a:rPr lang="en-US" altLang="zh-CN"/>
              <a:t>
</a:t>
            </a:r>
            <a:r>
              <a:rPr lang="zh-CN" altLang="en-US"/>
              <a:t>二级资质次之，可承担工程投资额</a:t>
            </a:r>
            <a:r>
              <a:rPr lang="en-US" altLang="zh-CN"/>
              <a:t> 2000 </a:t>
            </a:r>
            <a:r>
              <a:rPr lang="zh-CN" altLang="en-US"/>
              <a:t>万元以下的相关工程，如同有一定能力但还需在规模上逐步提升的工匠。而对于未明确提及资质等级却可承担</a:t>
            </a:r>
            <a:r>
              <a:rPr lang="en-US" altLang="zh-CN"/>
              <a:t> 500 </a:t>
            </a:r>
            <a:r>
              <a:rPr lang="zh-CN" altLang="en-US"/>
              <a:t>万元以下工程的企业，虽规模较小，但也能在小项目中发挥作用。</a:t>
            </a:r>
            <a:r>
              <a:rPr lang="en-US" altLang="zh-CN"/>
              <a:t>
</a:t>
            </a:r>
            <a:r>
              <a:rPr lang="zh-CN" altLang="en-US"/>
              <a:t>用驾照来类比很恰当，不同驾照对应不同车型驾驶范围，不同资质的企业也只能承接相应规模类型的通信建设工程，这保证了工程质量和行业规范。</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通信工程专业的就业方向丰富，第一个就业方向就是网络通信设备制造商，像中兴、华为、大唐、烽火等知名企业都在其中。这些企业犹如通信领域的中流砥柱，推动着行业技术的不断革新。</a:t>
            </a:r>
            <a:r>
              <a:rPr lang="en-US" altLang="zh-CN"/>
              <a:t>
</a:t>
            </a:r>
            <a:r>
              <a:rPr lang="zh-CN" altLang="en-US"/>
              <a:t>在这些制造商企业中，提供了众多就业岗位。助理研发和研发工程师岗位负责新技术和新产品的探索与开发，是企业创新的源动力；项目经理把控项目进度与质量，保障项目顺利推进；硬件测试、质量检验和安全管理岗位确保产品的可靠性与安全性；售前和售后支持岗位则为客户提供专业的服务，增强客户的使用体验。</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通信工程岗位的第二个就业方向是网络通信行业渠道商或代理商。这类企业处于通信产业链的流通环节，连接着制造商和终端用户。</a:t>
            </a:r>
            <a:r>
              <a:rPr lang="en-US" altLang="zh-CN"/>
              <a:t>
</a:t>
            </a:r>
            <a:r>
              <a:rPr lang="zh-CN" altLang="en-US"/>
              <a:t>在这些渠道商或代理商处，有网络通信产品营销、售前工程师和售后工程师等岗位。营销岗位负责推广和销售通信产品，需要对市场和产品有深入了解。售前工程师要为客户提供解决方案和技术支持，帮助客户选择合适的产品。售后工程师则在产品售出后，负责安装、调试、维护和解决客户遇到的问题，保障产品的正常运行。</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通信工程的第三个就业方向是邮电规划设计院，像中讯院、华信设计院等都是行业内颇具代表性的企业。在这些设计院中，主要的就业职位有通信网络规划设计和技术咨询。</a:t>
            </a:r>
            <a:r>
              <a:rPr lang="en-US" altLang="zh-CN"/>
              <a:t>
</a:t>
            </a:r>
            <a:r>
              <a:rPr lang="zh-CN" altLang="en-US"/>
              <a:t>通信网络规划设计，是为通信网络的建设绘制蓝图，需要从业者具备扎实的专业知识和前瞻性的眼光，综合考虑各种因素，确保网络的高效运行。而技术咨询则是凭借专业能力为客户提供技术方面的建议和解决方案，帮助客户解决通信工程中遇到的问题。这两个职位都对专业素养有较高要求，同时也为从业者提供了广阔的发展空间。</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就业方向中的工程外包商包含各省电信实业公司、邮电工程局、通信工程承建商、监理公司等。这些企业提供了丰富多样的就业职位。其中，项目经理统筹项目全局；工程督导把控工程进度；工程监理监督工程质量。安装工程师负责设备安装，调测工程师进行设备调试，维护工程师保障设备正常运行，网络优化工程师提升网络性能。投身这些岗位，能在通信工程领域一展身手。</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工程就业方向的运营维护商包括电信运营商维护部门和第三方代维公司。其涵盖的就业职位有通信网络运营维护、网络优化工程师以及技术支持工程师。通信网络运营维护是保障通信网络稳定运行的基础工作，如同为网络这座大厦筑牢根基。网络优化工程师则是对网络进行精细打磨，提升网络性能，就像给大厦进行装修升级。技术支持工程师为用户提供及时有效的技术帮助，如同大厦的维修人员，随时解决突发问题。这些岗位相互协作，共同推动通信网络的高效运行。</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通信文明施工礼仪具有多方面重要作用。它能塑造良好的职业形象与个人魅力，使人在行业中更具辨识度和吸引力。还可提升人际关系处理能力，营造和谐积极的人际氛围，让团队协作更加顺畅。</a:t>
            </a:r>
            <a:r>
              <a:rPr lang="en-US" altLang="zh-CN"/>
              <a:t>
</a:t>
            </a:r>
            <a:r>
              <a:rPr lang="zh-CN" altLang="en-US"/>
              <a:t>同时，它能快速提升安全指数，杜绝施工过程中安全责任事故的发生，保障人员和项目的安全。此外，它代表企业形象，提高企业可信度，能吸引更多客户，从而增加企业效益。可见，通信文明施工礼仪是通信工程顺利开展的重要保障。</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本次课程围绕通信工程展开了多方面介绍。首先明确通信工程的范畴，其涵盖设备的安装、调试、开通，场地建设，线路敷设以及相关工程的勘察设计。</a:t>
            </a:r>
            <a:r>
              <a:rPr lang="en-US" altLang="zh-CN"/>
              <a:t>
</a:t>
            </a:r>
            <a:r>
              <a:rPr lang="zh-CN" altLang="en-US"/>
              <a:t>其次，了解了通信工程企业的资质情况，资质划分三个等级，各等级有不同的标准，如企业资产、主要人员等方面的要求，并且不同等级企业的承建范围也有差异，像一级可承担各类工程，二级、三级则根据投资额限制承担相应工程。</a:t>
            </a:r>
            <a:r>
              <a:rPr lang="en-US" altLang="zh-CN"/>
              <a:t>
</a:t>
            </a:r>
            <a:r>
              <a:rPr lang="zh-CN" altLang="en-US"/>
              <a:t>最后，介绍了通信工程的岗位，包括售前、售后工程师，工程督导，项目经理，监理，代理维护人员，勘察设计工程师等不同岗位，为大家在通信工程领域的职业发展提供了多样选择。</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19904" y="1676400"/>
            <a:ext cx="8153456" cy="1155700"/>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438322" y="3057525"/>
            <a:ext cx="6716619" cy="1379538"/>
          </a:xfrm>
        </p:spPr>
        <p:txBody>
          <a:bodyPr/>
          <a:lstStyle>
            <a:lvl1pPr marL="0" indent="0" algn="ctr">
              <a:buNone/>
              <a:defRPr>
                <a:solidFill>
                  <a:schemeClr val="tx1">
                    <a:tint val="75000"/>
                  </a:schemeClr>
                </a:solidFill>
              </a:defRPr>
            </a:lvl1pPr>
            <a:lvl2pPr marL="427355" indent="0" algn="ctr">
              <a:buNone/>
              <a:defRPr>
                <a:solidFill>
                  <a:schemeClr val="tx1">
                    <a:tint val="75000"/>
                  </a:schemeClr>
                </a:solidFill>
              </a:defRPr>
            </a:lvl2pPr>
            <a:lvl3pPr marL="854710" indent="0" algn="ctr">
              <a:buNone/>
              <a:defRPr>
                <a:solidFill>
                  <a:schemeClr val="tx1">
                    <a:tint val="75000"/>
                  </a:schemeClr>
                </a:solidFill>
              </a:defRPr>
            </a:lvl3pPr>
            <a:lvl4pPr marL="1282700" indent="0" algn="ctr">
              <a:buNone/>
              <a:defRPr>
                <a:solidFill>
                  <a:schemeClr val="tx1">
                    <a:tint val="75000"/>
                  </a:schemeClr>
                </a:solidFill>
              </a:defRPr>
            </a:lvl4pPr>
            <a:lvl5pPr marL="1710055" indent="0" algn="ctr">
              <a:buNone/>
              <a:defRPr>
                <a:solidFill>
                  <a:schemeClr val="tx1">
                    <a:tint val="75000"/>
                  </a:schemeClr>
                </a:solidFill>
              </a:defRPr>
            </a:lvl5pPr>
            <a:lvl6pPr marL="2137410" indent="0" algn="ctr">
              <a:buNone/>
              <a:defRPr>
                <a:solidFill>
                  <a:schemeClr val="tx1">
                    <a:tint val="75000"/>
                  </a:schemeClr>
                </a:solidFill>
              </a:defRPr>
            </a:lvl6pPr>
            <a:lvl7pPr marL="2564765" indent="0" algn="ctr">
              <a:buNone/>
              <a:defRPr>
                <a:solidFill>
                  <a:schemeClr val="tx1">
                    <a:tint val="75000"/>
                  </a:schemeClr>
                </a:solidFill>
              </a:defRPr>
            </a:lvl7pPr>
            <a:lvl8pPr marL="2992120" indent="0" algn="ctr">
              <a:buNone/>
              <a:defRPr>
                <a:solidFill>
                  <a:schemeClr val="tx1">
                    <a:tint val="75000"/>
                  </a:schemeClr>
                </a:solidFill>
              </a:defRPr>
            </a:lvl8pPr>
            <a:lvl9pPr marL="342011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58497" y="3467101"/>
            <a:ext cx="8153456" cy="1071563"/>
          </a:xfrm>
        </p:spPr>
        <p:txBody>
          <a:bodyPr anchor="t"/>
          <a:lstStyle>
            <a:lvl1pPr algn="l">
              <a:defRPr sz="374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58497" y="2287588"/>
            <a:ext cx="8153456" cy="1179512"/>
          </a:xfrm>
        </p:spPr>
        <p:txBody>
          <a:bodyPr anchor="b"/>
          <a:lstStyle>
            <a:lvl1pPr marL="0" indent="0">
              <a:buNone/>
              <a:defRPr sz="1870">
                <a:solidFill>
                  <a:schemeClr val="tx1">
                    <a:tint val="75000"/>
                  </a:schemeClr>
                </a:solidFill>
              </a:defRPr>
            </a:lvl1pPr>
            <a:lvl2pPr marL="427355" indent="0">
              <a:buNone/>
              <a:defRPr sz="1685">
                <a:solidFill>
                  <a:schemeClr val="tx1">
                    <a:tint val="75000"/>
                  </a:schemeClr>
                </a:solidFill>
              </a:defRPr>
            </a:lvl2pPr>
            <a:lvl3pPr marL="854710" indent="0">
              <a:buNone/>
              <a:defRPr sz="1495">
                <a:solidFill>
                  <a:schemeClr val="tx1">
                    <a:tint val="75000"/>
                  </a:schemeClr>
                </a:solidFill>
              </a:defRPr>
            </a:lvl3pPr>
            <a:lvl4pPr marL="1282700" indent="0">
              <a:buNone/>
              <a:defRPr sz="1310">
                <a:solidFill>
                  <a:schemeClr val="tx1">
                    <a:tint val="75000"/>
                  </a:schemeClr>
                </a:solidFill>
              </a:defRPr>
            </a:lvl4pPr>
            <a:lvl5pPr marL="1710055" indent="0">
              <a:buNone/>
              <a:defRPr sz="1310">
                <a:solidFill>
                  <a:schemeClr val="tx1">
                    <a:tint val="75000"/>
                  </a:schemeClr>
                </a:solidFill>
              </a:defRPr>
            </a:lvl5pPr>
            <a:lvl6pPr marL="2137410" indent="0">
              <a:buNone/>
              <a:defRPr sz="1310">
                <a:solidFill>
                  <a:schemeClr val="tx1">
                    <a:tint val="75000"/>
                  </a:schemeClr>
                </a:solidFill>
              </a:defRPr>
            </a:lvl6pPr>
            <a:lvl7pPr marL="2564765" indent="0">
              <a:buNone/>
              <a:defRPr sz="1310">
                <a:solidFill>
                  <a:schemeClr val="tx1">
                    <a:tint val="75000"/>
                  </a:schemeClr>
                </a:solidFill>
              </a:defRPr>
            </a:lvl7pPr>
            <a:lvl8pPr marL="2992120" indent="0">
              <a:buNone/>
              <a:defRPr sz="1310">
                <a:solidFill>
                  <a:schemeClr val="tx1">
                    <a:tint val="75000"/>
                  </a:schemeClr>
                </a:solidFill>
              </a:defRPr>
            </a:lvl8pPr>
            <a:lvl9pPr marL="3420110" indent="0">
              <a:buNone/>
              <a:defRPr sz="131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79441" y="1258888"/>
            <a:ext cx="4245201" cy="3560762"/>
          </a:xfrm>
        </p:spPr>
        <p:txBody>
          <a:bodyPr/>
          <a:lstStyle>
            <a:lvl1pPr>
              <a:defRPr sz="2620"/>
            </a:lvl1pPr>
            <a:lvl2pPr>
              <a:defRPr sz="2245"/>
            </a:lvl2pPr>
            <a:lvl3pPr>
              <a:defRPr sz="1870"/>
            </a:lvl3pPr>
            <a:lvl4pPr>
              <a:defRPr sz="1685"/>
            </a:lvl4pPr>
            <a:lvl5pPr>
              <a:defRPr sz="1685"/>
            </a:lvl5pPr>
            <a:lvl6pPr>
              <a:defRPr sz="1685"/>
            </a:lvl6pPr>
            <a:lvl7pPr>
              <a:defRPr sz="1685"/>
            </a:lvl7pPr>
            <a:lvl8pPr>
              <a:defRPr sz="1685"/>
            </a:lvl8pPr>
            <a:lvl9pPr>
              <a:defRPr sz="168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67138" y="1258888"/>
            <a:ext cx="4246684" cy="3560762"/>
          </a:xfrm>
        </p:spPr>
        <p:txBody>
          <a:bodyPr/>
          <a:lstStyle>
            <a:lvl1pPr>
              <a:defRPr sz="2620"/>
            </a:lvl1pPr>
            <a:lvl2pPr>
              <a:defRPr sz="2245"/>
            </a:lvl2pPr>
            <a:lvl3pPr>
              <a:defRPr sz="1870"/>
            </a:lvl3pPr>
            <a:lvl4pPr>
              <a:defRPr sz="1685"/>
            </a:lvl4pPr>
            <a:lvl5pPr>
              <a:defRPr sz="1685"/>
            </a:lvl5pPr>
            <a:lvl6pPr>
              <a:defRPr sz="1685"/>
            </a:lvl6pPr>
            <a:lvl7pPr>
              <a:defRPr sz="1685"/>
            </a:lvl7pPr>
            <a:lvl8pPr>
              <a:defRPr sz="1685"/>
            </a:lvl8pPr>
            <a:lvl9pPr>
              <a:defRPr sz="168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79441" y="1208089"/>
            <a:ext cx="4239263" cy="503237"/>
          </a:xfrm>
        </p:spPr>
        <p:txBody>
          <a:bodyPr anchor="b"/>
          <a:lstStyle>
            <a:lvl1pPr marL="0" indent="0">
              <a:buNone/>
              <a:defRPr sz="2245" b="1"/>
            </a:lvl1pPr>
            <a:lvl2pPr marL="427355" indent="0">
              <a:buNone/>
              <a:defRPr sz="1870" b="1"/>
            </a:lvl2pPr>
            <a:lvl3pPr marL="854710" indent="0">
              <a:buNone/>
              <a:defRPr sz="1685" b="1"/>
            </a:lvl3pPr>
            <a:lvl4pPr marL="1282700" indent="0">
              <a:buNone/>
              <a:defRPr sz="1495" b="1"/>
            </a:lvl4pPr>
            <a:lvl5pPr marL="1710055" indent="0">
              <a:buNone/>
              <a:defRPr sz="1495" b="1"/>
            </a:lvl5pPr>
            <a:lvl6pPr marL="2137410" indent="0">
              <a:buNone/>
              <a:defRPr sz="1495" b="1"/>
            </a:lvl6pPr>
            <a:lvl7pPr marL="2564765" indent="0">
              <a:buNone/>
              <a:defRPr sz="1495" b="1"/>
            </a:lvl7pPr>
            <a:lvl8pPr marL="2992120" indent="0">
              <a:buNone/>
              <a:defRPr sz="1495" b="1"/>
            </a:lvl8pPr>
            <a:lvl9pPr marL="3420110" indent="0">
              <a:buNone/>
              <a:defRPr sz="1495"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79441" y="1711326"/>
            <a:ext cx="4239263" cy="3108325"/>
          </a:xfrm>
        </p:spPr>
        <p:txBody>
          <a:bodyPr/>
          <a:lstStyle>
            <a:lvl1pPr>
              <a:defRPr sz="2245"/>
            </a:lvl1pPr>
            <a:lvl2pPr>
              <a:defRPr sz="1870"/>
            </a:lvl2pPr>
            <a:lvl3pPr>
              <a:defRPr sz="1685"/>
            </a:lvl3pPr>
            <a:lvl4pPr>
              <a:defRPr sz="1495"/>
            </a:lvl4pPr>
            <a:lvl5pPr>
              <a:defRPr sz="1495"/>
            </a:lvl5pPr>
            <a:lvl6pPr>
              <a:defRPr sz="1495"/>
            </a:lvl6pPr>
            <a:lvl7pPr>
              <a:defRPr sz="1495"/>
            </a:lvl7pPr>
            <a:lvl8pPr>
              <a:defRPr sz="1495"/>
            </a:lvl8pPr>
            <a:lvl9pPr>
              <a:defRPr sz="149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873076" y="1208089"/>
            <a:ext cx="4240747" cy="503237"/>
          </a:xfrm>
        </p:spPr>
        <p:txBody>
          <a:bodyPr anchor="b"/>
          <a:lstStyle>
            <a:lvl1pPr marL="0" indent="0">
              <a:buNone/>
              <a:defRPr sz="2245" b="1"/>
            </a:lvl1pPr>
            <a:lvl2pPr marL="427355" indent="0">
              <a:buNone/>
              <a:defRPr sz="1870" b="1"/>
            </a:lvl2pPr>
            <a:lvl3pPr marL="854710" indent="0">
              <a:buNone/>
              <a:defRPr sz="1685" b="1"/>
            </a:lvl3pPr>
            <a:lvl4pPr marL="1282700" indent="0">
              <a:buNone/>
              <a:defRPr sz="1495" b="1"/>
            </a:lvl4pPr>
            <a:lvl5pPr marL="1710055" indent="0">
              <a:buNone/>
              <a:defRPr sz="1495" b="1"/>
            </a:lvl5pPr>
            <a:lvl6pPr marL="2137410" indent="0">
              <a:buNone/>
              <a:defRPr sz="1495" b="1"/>
            </a:lvl6pPr>
            <a:lvl7pPr marL="2564765" indent="0">
              <a:buNone/>
              <a:defRPr sz="1495" b="1"/>
            </a:lvl7pPr>
            <a:lvl8pPr marL="2992120" indent="0">
              <a:buNone/>
              <a:defRPr sz="1495" b="1"/>
            </a:lvl8pPr>
            <a:lvl9pPr marL="3420110" indent="0">
              <a:buNone/>
              <a:defRPr sz="1495"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873076" y="1711326"/>
            <a:ext cx="4240747" cy="3108325"/>
          </a:xfrm>
        </p:spPr>
        <p:txBody>
          <a:bodyPr/>
          <a:lstStyle>
            <a:lvl1pPr>
              <a:defRPr sz="2245"/>
            </a:lvl1pPr>
            <a:lvl2pPr>
              <a:defRPr sz="1870"/>
            </a:lvl2pPr>
            <a:lvl3pPr>
              <a:defRPr sz="1685"/>
            </a:lvl3pPr>
            <a:lvl4pPr>
              <a:defRPr sz="1495"/>
            </a:lvl4pPr>
            <a:lvl5pPr>
              <a:defRPr sz="1495"/>
            </a:lvl5pPr>
            <a:lvl6pPr>
              <a:defRPr sz="1495"/>
            </a:lvl6pPr>
            <a:lvl7pPr>
              <a:defRPr sz="1495"/>
            </a:lvl7pPr>
            <a:lvl8pPr>
              <a:defRPr sz="1495"/>
            </a:lvl8pPr>
            <a:lvl9pPr>
              <a:defRPr sz="1495"/>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79441" y="214313"/>
            <a:ext cx="3155698" cy="914400"/>
          </a:xfrm>
        </p:spPr>
        <p:txBody>
          <a:bodyPr anchor="b"/>
          <a:lstStyle>
            <a:lvl1pPr algn="l">
              <a:defRPr sz="1870" b="1"/>
            </a:lvl1pPr>
          </a:lstStyle>
          <a:p>
            <a:r>
              <a:rPr lang="zh-CN" altLang="en-US"/>
              <a:t>单击此处编辑母版标题样式</a:t>
            </a:r>
            <a:endParaRPr lang="zh-CN" altLang="en-US"/>
          </a:p>
        </p:txBody>
      </p:sp>
      <p:sp>
        <p:nvSpPr>
          <p:cNvPr id="3" name="内容占位符 2"/>
          <p:cNvSpPr>
            <a:spLocks noGrp="1"/>
          </p:cNvSpPr>
          <p:nvPr>
            <p:ph idx="1"/>
          </p:nvPr>
        </p:nvSpPr>
        <p:spPr>
          <a:xfrm>
            <a:off x="3750918" y="214314"/>
            <a:ext cx="5362905" cy="4605337"/>
          </a:xfrm>
        </p:spPr>
        <p:txBody>
          <a:bodyPr/>
          <a:lstStyle>
            <a:lvl1pPr>
              <a:defRPr sz="2990"/>
            </a:lvl1pPr>
            <a:lvl2pPr>
              <a:defRPr sz="2620"/>
            </a:lvl2pPr>
            <a:lvl3pPr>
              <a:defRPr sz="2245"/>
            </a:lvl3pPr>
            <a:lvl4pPr>
              <a:defRPr sz="1870"/>
            </a:lvl4pPr>
            <a:lvl5pPr>
              <a:defRPr sz="1870"/>
            </a:lvl5pPr>
            <a:lvl6pPr>
              <a:defRPr sz="1870"/>
            </a:lvl6pPr>
            <a:lvl7pPr>
              <a:defRPr sz="1870"/>
            </a:lvl7pPr>
            <a:lvl8pPr>
              <a:defRPr sz="1870"/>
            </a:lvl8pPr>
            <a:lvl9pPr>
              <a:defRPr sz="187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79441" y="1128714"/>
            <a:ext cx="3155698" cy="3690937"/>
          </a:xfrm>
        </p:spPr>
        <p:txBody>
          <a:bodyPr/>
          <a:lstStyle>
            <a:lvl1pPr marL="0" indent="0">
              <a:buNone/>
              <a:defRPr sz="1310"/>
            </a:lvl1pPr>
            <a:lvl2pPr marL="427355" indent="0">
              <a:buNone/>
              <a:defRPr sz="1120"/>
            </a:lvl2pPr>
            <a:lvl3pPr marL="854710" indent="0">
              <a:buNone/>
              <a:defRPr sz="935"/>
            </a:lvl3pPr>
            <a:lvl4pPr marL="1282700" indent="0">
              <a:buNone/>
              <a:defRPr sz="840"/>
            </a:lvl4pPr>
            <a:lvl5pPr marL="1710055" indent="0">
              <a:buNone/>
              <a:defRPr sz="840"/>
            </a:lvl5pPr>
            <a:lvl6pPr marL="2137410" indent="0">
              <a:buNone/>
              <a:defRPr sz="840"/>
            </a:lvl6pPr>
            <a:lvl7pPr marL="2564765" indent="0">
              <a:buNone/>
              <a:defRPr sz="840"/>
            </a:lvl7pPr>
            <a:lvl8pPr marL="2992120" indent="0">
              <a:buNone/>
              <a:defRPr sz="840"/>
            </a:lvl8pPr>
            <a:lvl9pPr marL="3420110" indent="0">
              <a:buNone/>
              <a:defRPr sz="84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80655" y="3776664"/>
            <a:ext cx="5756254" cy="446087"/>
          </a:xfrm>
        </p:spPr>
        <p:txBody>
          <a:bodyPr anchor="b"/>
          <a:lstStyle>
            <a:lvl1pPr algn="l">
              <a:defRPr sz="187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880655" y="482601"/>
            <a:ext cx="5756254" cy="3236913"/>
          </a:xfrm>
        </p:spPr>
        <p:txBody>
          <a:bodyPr/>
          <a:lstStyle>
            <a:lvl1pPr marL="0" indent="0">
              <a:buNone/>
              <a:defRPr sz="2990"/>
            </a:lvl1pPr>
            <a:lvl2pPr marL="427355" indent="0">
              <a:buNone/>
              <a:defRPr sz="2620"/>
            </a:lvl2pPr>
            <a:lvl3pPr marL="854710" indent="0">
              <a:buNone/>
              <a:defRPr sz="2245"/>
            </a:lvl3pPr>
            <a:lvl4pPr marL="1282700" indent="0">
              <a:buNone/>
              <a:defRPr sz="1870"/>
            </a:lvl4pPr>
            <a:lvl5pPr marL="1710055" indent="0">
              <a:buNone/>
              <a:defRPr sz="1870"/>
            </a:lvl5pPr>
            <a:lvl6pPr marL="2137410" indent="0">
              <a:buNone/>
              <a:defRPr sz="1870"/>
            </a:lvl6pPr>
            <a:lvl7pPr marL="2564765" indent="0">
              <a:buNone/>
              <a:defRPr sz="1870"/>
            </a:lvl7pPr>
            <a:lvl8pPr marL="2992120" indent="0">
              <a:buNone/>
              <a:defRPr sz="1870"/>
            </a:lvl8pPr>
            <a:lvl9pPr marL="3420110" indent="0">
              <a:buNone/>
              <a:defRPr sz="1870"/>
            </a:lvl9pPr>
          </a:lstStyle>
          <a:p>
            <a:endParaRPr lang="zh-CN" altLang="en-US"/>
          </a:p>
        </p:txBody>
      </p:sp>
      <p:sp>
        <p:nvSpPr>
          <p:cNvPr id="4" name="文本占位符 3"/>
          <p:cNvSpPr>
            <a:spLocks noGrp="1"/>
          </p:cNvSpPr>
          <p:nvPr>
            <p:ph type="body" sz="half" idx="2"/>
          </p:nvPr>
        </p:nvSpPr>
        <p:spPr>
          <a:xfrm>
            <a:off x="1880655" y="4222751"/>
            <a:ext cx="5756254" cy="633413"/>
          </a:xfrm>
        </p:spPr>
        <p:txBody>
          <a:bodyPr/>
          <a:lstStyle>
            <a:lvl1pPr marL="0" indent="0">
              <a:buNone/>
              <a:defRPr sz="1310"/>
            </a:lvl1pPr>
            <a:lvl2pPr marL="427355" indent="0">
              <a:buNone/>
              <a:defRPr sz="1120"/>
            </a:lvl2pPr>
            <a:lvl3pPr marL="854710" indent="0">
              <a:buNone/>
              <a:defRPr sz="935"/>
            </a:lvl3pPr>
            <a:lvl4pPr marL="1282700" indent="0">
              <a:buNone/>
              <a:defRPr sz="840"/>
            </a:lvl4pPr>
            <a:lvl5pPr marL="1710055" indent="0">
              <a:buNone/>
              <a:defRPr sz="840"/>
            </a:lvl5pPr>
            <a:lvl6pPr marL="2137410" indent="0">
              <a:buNone/>
              <a:defRPr sz="840"/>
            </a:lvl6pPr>
            <a:lvl7pPr marL="2564765" indent="0">
              <a:buNone/>
              <a:defRPr sz="840"/>
            </a:lvl7pPr>
            <a:lvl8pPr marL="2992120" indent="0">
              <a:buNone/>
              <a:defRPr sz="840"/>
            </a:lvl8pPr>
            <a:lvl9pPr marL="3420110" indent="0">
              <a:buNone/>
              <a:defRPr sz="84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55598" y="215900"/>
            <a:ext cx="2158224" cy="460375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79441" y="215900"/>
            <a:ext cx="6333661" cy="460375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0B1E9A6-3BBE-4152-ABC2-7AF76252B64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0A614B-7A5B-4F2F-9614-821D6EA51160}"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99158" y="883082"/>
            <a:ext cx="7194947" cy="1878577"/>
          </a:xfrm>
        </p:spPr>
        <p:txBody>
          <a:bodyPr anchor="b"/>
          <a:lstStyle>
            <a:lvl1pPr algn="ctr">
              <a:defRPr sz="4720"/>
            </a:lvl1pPr>
          </a:lstStyle>
          <a:p>
            <a:r>
              <a:rPr lang="zh-CN" altLang="en-US"/>
              <a:t>单击此处编辑母版标题样式</a:t>
            </a:r>
            <a:endParaRPr lang="en-US" dirty="0"/>
          </a:p>
        </p:txBody>
      </p:sp>
      <p:sp>
        <p:nvSpPr>
          <p:cNvPr id="3" name="Subtitle 2"/>
          <p:cNvSpPr>
            <a:spLocks noGrp="1"/>
          </p:cNvSpPr>
          <p:nvPr>
            <p:ph type="subTitle" idx="1"/>
          </p:nvPr>
        </p:nvSpPr>
        <p:spPr>
          <a:xfrm>
            <a:off x="1199158" y="2834104"/>
            <a:ext cx="7194947" cy="1302763"/>
          </a:xfrm>
        </p:spPr>
        <p:txBody>
          <a:bodyPr/>
          <a:lstStyle>
            <a:lvl1pPr marL="0" indent="0" algn="ctr">
              <a:buNone/>
              <a:defRPr sz="1890"/>
            </a:lvl1pPr>
            <a:lvl2pPr marL="359410" indent="0" algn="ctr">
              <a:buNone/>
              <a:defRPr sz="1575"/>
            </a:lvl2pPr>
            <a:lvl3pPr marL="719455" indent="0" algn="ctr">
              <a:buNone/>
              <a:defRPr sz="1415"/>
            </a:lvl3pPr>
            <a:lvl4pPr marL="1078865" indent="0" algn="ctr">
              <a:buNone/>
              <a:defRPr sz="1260"/>
            </a:lvl4pPr>
            <a:lvl5pPr marL="1438910" indent="0" algn="ctr">
              <a:buNone/>
              <a:defRPr sz="1260"/>
            </a:lvl5pPr>
            <a:lvl6pPr marL="1798320" indent="0" algn="ctr">
              <a:buNone/>
              <a:defRPr sz="1260"/>
            </a:lvl6pPr>
            <a:lvl7pPr marL="2158365" indent="0" algn="ctr">
              <a:buNone/>
              <a:defRPr sz="1260"/>
            </a:lvl7pPr>
            <a:lvl8pPr marL="2517775" indent="0" algn="ctr">
              <a:buNone/>
              <a:defRPr sz="1260"/>
            </a:lvl8pPr>
            <a:lvl9pPr marL="2877820" indent="0" algn="ctr">
              <a:buNone/>
              <a:defRPr sz="126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54541" y="1345232"/>
            <a:ext cx="8274189" cy="2244550"/>
          </a:xfrm>
        </p:spPr>
        <p:txBody>
          <a:bodyPr anchor="b"/>
          <a:lstStyle>
            <a:lvl1pPr>
              <a:defRPr sz="4720"/>
            </a:lvl1p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54541" y="3611016"/>
            <a:ext cx="8274189" cy="1180356"/>
          </a:xfrm>
        </p:spPr>
        <p:txBody>
          <a:bodyPr/>
          <a:lstStyle>
            <a:lvl1pPr marL="0" indent="0">
              <a:buNone/>
              <a:defRPr sz="1890">
                <a:solidFill>
                  <a:schemeClr val="tx1">
                    <a:tint val="75000"/>
                  </a:schemeClr>
                </a:solidFill>
              </a:defRPr>
            </a:lvl1pPr>
            <a:lvl2pPr marL="359410" indent="0">
              <a:buNone/>
              <a:defRPr sz="1575">
                <a:solidFill>
                  <a:schemeClr val="tx1">
                    <a:tint val="75000"/>
                  </a:schemeClr>
                </a:solidFill>
              </a:defRPr>
            </a:lvl2pPr>
            <a:lvl3pPr marL="719455" indent="0">
              <a:buNone/>
              <a:defRPr sz="1415">
                <a:solidFill>
                  <a:schemeClr val="tx1">
                    <a:tint val="75000"/>
                  </a:schemeClr>
                </a:solidFill>
              </a:defRPr>
            </a:lvl3pPr>
            <a:lvl4pPr marL="1078865" indent="0">
              <a:buNone/>
              <a:defRPr sz="1260">
                <a:solidFill>
                  <a:schemeClr val="tx1">
                    <a:tint val="75000"/>
                  </a:schemeClr>
                </a:solidFill>
              </a:defRPr>
            </a:lvl4pPr>
            <a:lvl5pPr marL="1438910" indent="0">
              <a:buNone/>
              <a:defRPr sz="1260">
                <a:solidFill>
                  <a:schemeClr val="tx1">
                    <a:tint val="75000"/>
                  </a:schemeClr>
                </a:solidFill>
              </a:defRPr>
            </a:lvl5pPr>
            <a:lvl6pPr marL="1798320" indent="0">
              <a:buNone/>
              <a:defRPr sz="1260">
                <a:solidFill>
                  <a:schemeClr val="tx1">
                    <a:tint val="75000"/>
                  </a:schemeClr>
                </a:solidFill>
              </a:defRPr>
            </a:lvl6pPr>
            <a:lvl7pPr marL="2158365" indent="0">
              <a:buNone/>
              <a:defRPr sz="1260">
                <a:solidFill>
                  <a:schemeClr val="tx1">
                    <a:tint val="75000"/>
                  </a:schemeClr>
                </a:solidFill>
              </a:defRPr>
            </a:lvl7pPr>
            <a:lvl8pPr marL="2517775" indent="0">
              <a:buNone/>
              <a:defRPr sz="1260">
                <a:solidFill>
                  <a:schemeClr val="tx1">
                    <a:tint val="75000"/>
                  </a:schemeClr>
                </a:solidFill>
              </a:defRPr>
            </a:lvl8pPr>
            <a:lvl9pPr marL="2877820" indent="0">
              <a:buNone/>
              <a:defRPr sz="1260">
                <a:solidFill>
                  <a:schemeClr val="tx1">
                    <a:tint val="75000"/>
                  </a:schemeClr>
                </a:solidFill>
              </a:defRPr>
            </a:lvl9pPr>
          </a:lstStyle>
          <a:p>
            <a:pPr lvl="0"/>
            <a:r>
              <a:rPr lang="zh-CN" altLang="en-US"/>
              <a:t>编辑母版文本样式</a:t>
            </a:r>
            <a:endParaRPr lang="zh-CN" altLang="en-US"/>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hasCustomPrompt="1"/>
          </p:nvPr>
        </p:nvSpPr>
        <p:spPr>
          <a:xfrm>
            <a:off x="659537" y="1436412"/>
            <a:ext cx="4077137" cy="342365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Content Placeholder 3"/>
          <p:cNvSpPr>
            <a:spLocks noGrp="1"/>
          </p:cNvSpPr>
          <p:nvPr>
            <p:ph sz="half" idx="2" hasCustomPrompt="1"/>
          </p:nvPr>
        </p:nvSpPr>
        <p:spPr>
          <a:xfrm>
            <a:off x="4856589" y="1436412"/>
            <a:ext cx="4077137" cy="3423657"/>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Date Placeholder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60787" y="287283"/>
            <a:ext cx="8274189" cy="1042960"/>
          </a:xfrm>
        </p:spPr>
        <p:txBody>
          <a:bodyPr/>
          <a:lstStyle/>
          <a:p>
            <a:r>
              <a:rPr lang="zh-CN" altLang="en-US"/>
              <a:t>单击此处编辑母版标题样式</a:t>
            </a:r>
            <a:endParaRPr lang="en-US" dirty="0"/>
          </a:p>
        </p:txBody>
      </p:sp>
      <p:sp>
        <p:nvSpPr>
          <p:cNvPr id="3" name="Text Placeholder 2"/>
          <p:cNvSpPr>
            <a:spLocks noGrp="1"/>
          </p:cNvSpPr>
          <p:nvPr>
            <p:ph type="body" idx="1" hasCustomPrompt="1"/>
          </p:nvPr>
        </p:nvSpPr>
        <p:spPr>
          <a:xfrm>
            <a:off x="660787" y="1322748"/>
            <a:ext cx="4058400" cy="648259"/>
          </a:xfrm>
        </p:spPr>
        <p:txBody>
          <a:bodyPr anchor="b"/>
          <a:lstStyle>
            <a:lvl1pPr marL="0" indent="0">
              <a:buNone/>
              <a:defRPr sz="1890" b="1"/>
            </a:lvl1pPr>
            <a:lvl2pPr marL="359410" indent="0">
              <a:buNone/>
              <a:defRPr sz="1575" b="1"/>
            </a:lvl2pPr>
            <a:lvl3pPr marL="719455" indent="0">
              <a:buNone/>
              <a:defRPr sz="1415" b="1"/>
            </a:lvl3pPr>
            <a:lvl4pPr marL="1078865" indent="0">
              <a:buNone/>
              <a:defRPr sz="1260" b="1"/>
            </a:lvl4pPr>
            <a:lvl5pPr marL="1438910" indent="0">
              <a:buNone/>
              <a:defRPr sz="1260" b="1"/>
            </a:lvl5pPr>
            <a:lvl6pPr marL="1798320" indent="0">
              <a:buNone/>
              <a:defRPr sz="1260" b="1"/>
            </a:lvl6pPr>
            <a:lvl7pPr marL="2158365" indent="0">
              <a:buNone/>
              <a:defRPr sz="1260" b="1"/>
            </a:lvl7pPr>
            <a:lvl8pPr marL="2517775" indent="0">
              <a:buNone/>
              <a:defRPr sz="1260" b="1"/>
            </a:lvl8pPr>
            <a:lvl9pPr marL="2877820" indent="0">
              <a:buNone/>
              <a:defRPr sz="126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660787" y="1971007"/>
            <a:ext cx="4058400" cy="289905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856590" y="1322748"/>
            <a:ext cx="4078386" cy="648259"/>
          </a:xfrm>
        </p:spPr>
        <p:txBody>
          <a:bodyPr anchor="b"/>
          <a:lstStyle>
            <a:lvl1pPr marL="0" indent="0">
              <a:buNone/>
              <a:defRPr sz="1890" b="1"/>
            </a:lvl1pPr>
            <a:lvl2pPr marL="359410" indent="0">
              <a:buNone/>
              <a:defRPr sz="1575" b="1"/>
            </a:lvl2pPr>
            <a:lvl3pPr marL="719455" indent="0">
              <a:buNone/>
              <a:defRPr sz="1415" b="1"/>
            </a:lvl3pPr>
            <a:lvl4pPr marL="1078865" indent="0">
              <a:buNone/>
              <a:defRPr sz="1260" b="1"/>
            </a:lvl4pPr>
            <a:lvl5pPr marL="1438910" indent="0">
              <a:buNone/>
              <a:defRPr sz="1260" b="1"/>
            </a:lvl5pPr>
            <a:lvl6pPr marL="1798320" indent="0">
              <a:buNone/>
              <a:defRPr sz="1260" b="1"/>
            </a:lvl6pPr>
            <a:lvl7pPr marL="2158365" indent="0">
              <a:buNone/>
              <a:defRPr sz="1260" b="1"/>
            </a:lvl7pPr>
            <a:lvl8pPr marL="2517775" indent="0">
              <a:buNone/>
              <a:defRPr sz="1260" b="1"/>
            </a:lvl8pPr>
            <a:lvl9pPr marL="2877820" indent="0">
              <a:buNone/>
              <a:defRPr sz="1260" b="1"/>
            </a:lvl9pPr>
          </a:lstStyle>
          <a:p>
            <a:pPr lvl="0"/>
            <a:r>
              <a:rPr lang="zh-CN" altLang="en-US"/>
              <a:t>编辑母版文本样式</a:t>
            </a:r>
            <a:endParaRPr lang="zh-CN" altLang="en-US"/>
          </a:p>
        </p:txBody>
      </p:sp>
      <p:sp>
        <p:nvSpPr>
          <p:cNvPr id="6" name="Content Placeholder 5"/>
          <p:cNvSpPr>
            <a:spLocks noGrp="1"/>
          </p:cNvSpPr>
          <p:nvPr>
            <p:ph sz="quarter" idx="4" hasCustomPrompt="1"/>
          </p:nvPr>
        </p:nvSpPr>
        <p:spPr>
          <a:xfrm>
            <a:off x="4856590" y="1971007"/>
            <a:ext cx="4078386" cy="2899055"/>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60787" y="359728"/>
            <a:ext cx="3094077" cy="1259046"/>
          </a:xfrm>
        </p:spPr>
        <p:txBody>
          <a:bodyPr anchor="b"/>
          <a:lstStyle>
            <a:lvl1pPr>
              <a:defRPr sz="2520"/>
            </a:lvl1pPr>
          </a:lstStyle>
          <a:p>
            <a:r>
              <a:rPr lang="zh-CN" altLang="en-US"/>
              <a:t>单击此处编辑母版标题样式</a:t>
            </a:r>
            <a:endParaRPr lang="en-US" dirty="0"/>
          </a:p>
        </p:txBody>
      </p:sp>
      <p:sp>
        <p:nvSpPr>
          <p:cNvPr id="3" name="Content Placeholder 2"/>
          <p:cNvSpPr>
            <a:spLocks noGrp="1"/>
          </p:cNvSpPr>
          <p:nvPr>
            <p:ph idx="1" hasCustomPrompt="1"/>
          </p:nvPr>
        </p:nvSpPr>
        <p:spPr>
          <a:xfrm>
            <a:off x="4078386" y="776912"/>
            <a:ext cx="4856589" cy="3834596"/>
          </a:xfrm>
        </p:spPr>
        <p:txBody>
          <a:bodyPr/>
          <a:lstStyle>
            <a:lvl1pPr>
              <a:defRPr sz="2520"/>
            </a:lvl1pPr>
            <a:lvl2pPr>
              <a:defRPr sz="2205"/>
            </a:lvl2pPr>
            <a:lvl3pPr>
              <a:defRPr sz="1890"/>
            </a:lvl3pPr>
            <a:lvl4pPr>
              <a:defRPr sz="1575"/>
            </a:lvl4pPr>
            <a:lvl5pPr>
              <a:defRPr sz="1575"/>
            </a:lvl5pPr>
            <a:lvl6pPr>
              <a:defRPr sz="1575"/>
            </a:lvl6pPr>
            <a:lvl7pPr>
              <a:defRPr sz="1575"/>
            </a:lvl7pPr>
            <a:lvl8pPr>
              <a:defRPr sz="1575"/>
            </a:lvl8pPr>
            <a:lvl9pPr>
              <a:defRPr sz="1575"/>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Text Placeholder 3"/>
          <p:cNvSpPr>
            <a:spLocks noGrp="1"/>
          </p:cNvSpPr>
          <p:nvPr>
            <p:ph type="body" sz="half" idx="2" hasCustomPrompt="1"/>
          </p:nvPr>
        </p:nvSpPr>
        <p:spPr>
          <a:xfrm>
            <a:off x="660787" y="1618774"/>
            <a:ext cx="3094077" cy="2998979"/>
          </a:xfrm>
        </p:spPr>
        <p:txBody>
          <a:bodyPr/>
          <a:lstStyle>
            <a:lvl1pPr marL="0" indent="0">
              <a:buNone/>
              <a:defRPr sz="1260"/>
            </a:lvl1pPr>
            <a:lvl2pPr marL="359410" indent="0">
              <a:buNone/>
              <a:defRPr sz="1100"/>
            </a:lvl2pPr>
            <a:lvl3pPr marL="719455" indent="0">
              <a:buNone/>
              <a:defRPr sz="945"/>
            </a:lvl3pPr>
            <a:lvl4pPr marL="1078865" indent="0">
              <a:buNone/>
              <a:defRPr sz="785"/>
            </a:lvl4pPr>
            <a:lvl5pPr marL="1438910" indent="0">
              <a:buNone/>
              <a:defRPr sz="785"/>
            </a:lvl5pPr>
            <a:lvl6pPr marL="1798320" indent="0">
              <a:buNone/>
              <a:defRPr sz="785"/>
            </a:lvl6pPr>
            <a:lvl7pPr marL="2158365" indent="0">
              <a:buNone/>
              <a:defRPr sz="785"/>
            </a:lvl7pPr>
            <a:lvl8pPr marL="2517775" indent="0">
              <a:buNone/>
              <a:defRPr sz="785"/>
            </a:lvl8pPr>
            <a:lvl9pPr marL="2877820" indent="0">
              <a:buNone/>
              <a:defRPr sz="785"/>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60787" y="359728"/>
            <a:ext cx="3094077" cy="1259046"/>
          </a:xfrm>
        </p:spPr>
        <p:txBody>
          <a:bodyPr anchor="b"/>
          <a:lstStyle>
            <a:lvl1pPr>
              <a:defRPr sz="252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4078386" y="776912"/>
            <a:ext cx="4856589" cy="3834596"/>
          </a:xfrm>
        </p:spPr>
        <p:txBody>
          <a:bodyPr anchor="t"/>
          <a:lstStyle>
            <a:lvl1pPr marL="0" indent="0">
              <a:buNone/>
              <a:defRPr sz="2520"/>
            </a:lvl1pPr>
            <a:lvl2pPr marL="359410" indent="0">
              <a:buNone/>
              <a:defRPr sz="2205"/>
            </a:lvl2pPr>
            <a:lvl3pPr marL="719455" indent="0">
              <a:buNone/>
              <a:defRPr sz="1890"/>
            </a:lvl3pPr>
            <a:lvl4pPr marL="1078865" indent="0">
              <a:buNone/>
              <a:defRPr sz="1575"/>
            </a:lvl4pPr>
            <a:lvl5pPr marL="1438910" indent="0">
              <a:buNone/>
              <a:defRPr sz="1575"/>
            </a:lvl5pPr>
            <a:lvl6pPr marL="1798320" indent="0">
              <a:buNone/>
              <a:defRPr sz="1575"/>
            </a:lvl6pPr>
            <a:lvl7pPr marL="2158365" indent="0">
              <a:buNone/>
              <a:defRPr sz="1575"/>
            </a:lvl7pPr>
            <a:lvl8pPr marL="2517775" indent="0">
              <a:buNone/>
              <a:defRPr sz="1575"/>
            </a:lvl8pPr>
            <a:lvl9pPr marL="2877820" indent="0">
              <a:buNone/>
              <a:defRPr sz="1575"/>
            </a:lvl9pPr>
          </a:lstStyle>
          <a:p>
            <a:r>
              <a:rPr lang="zh-CN" altLang="en-US"/>
              <a:t>单击图标添加图片</a:t>
            </a:r>
            <a:endParaRPr lang="en-US" dirty="0"/>
          </a:p>
        </p:txBody>
      </p:sp>
      <p:sp>
        <p:nvSpPr>
          <p:cNvPr id="4" name="Text Placeholder 3"/>
          <p:cNvSpPr>
            <a:spLocks noGrp="1"/>
          </p:cNvSpPr>
          <p:nvPr>
            <p:ph type="body" sz="half" idx="2" hasCustomPrompt="1"/>
          </p:nvPr>
        </p:nvSpPr>
        <p:spPr>
          <a:xfrm>
            <a:off x="660787" y="1618774"/>
            <a:ext cx="3094077" cy="2998979"/>
          </a:xfrm>
        </p:spPr>
        <p:txBody>
          <a:bodyPr/>
          <a:lstStyle>
            <a:lvl1pPr marL="0" indent="0">
              <a:buNone/>
              <a:defRPr sz="1260"/>
            </a:lvl1pPr>
            <a:lvl2pPr marL="359410" indent="0">
              <a:buNone/>
              <a:defRPr sz="1100"/>
            </a:lvl2pPr>
            <a:lvl3pPr marL="719455" indent="0">
              <a:buNone/>
              <a:defRPr sz="945"/>
            </a:lvl3pPr>
            <a:lvl4pPr marL="1078865" indent="0">
              <a:buNone/>
              <a:defRPr sz="785"/>
            </a:lvl4pPr>
            <a:lvl5pPr marL="1438910" indent="0">
              <a:buNone/>
              <a:defRPr sz="785"/>
            </a:lvl5pPr>
            <a:lvl6pPr marL="1798320" indent="0">
              <a:buNone/>
              <a:defRPr sz="785"/>
            </a:lvl6pPr>
            <a:lvl7pPr marL="2158365" indent="0">
              <a:buNone/>
              <a:defRPr sz="785"/>
            </a:lvl7pPr>
            <a:lvl8pPr marL="2517775" indent="0">
              <a:buNone/>
              <a:defRPr sz="785"/>
            </a:lvl8pPr>
            <a:lvl9pPr marL="2877820" indent="0">
              <a:buNone/>
              <a:defRPr sz="785"/>
            </a:lvl9pPr>
          </a:lstStyle>
          <a:p>
            <a:pPr lvl="0"/>
            <a:r>
              <a:rPr lang="zh-CN" altLang="en-US"/>
              <a:t>编辑母版文本样式</a:t>
            </a:r>
            <a:endParaRPr lang="zh-CN" altLang="en-US"/>
          </a:p>
        </p:txBody>
      </p:sp>
      <p:sp>
        <p:nvSpPr>
          <p:cNvPr id="5" name="Date Placeholder 4"/>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fld id="{65D6143D-C007-4F7D-8B9B-81A7FCC12036}"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3CC7CE68-6336-48CD-AE7B-F127D826DA1E}"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65179" y="287282"/>
            <a:ext cx="2068547" cy="457278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hasCustomPrompt="1"/>
          </p:nvPr>
        </p:nvSpPr>
        <p:spPr>
          <a:xfrm>
            <a:off x="659537" y="287282"/>
            <a:ext cx="6085726" cy="457278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48F63A3B-78C7-47BE-AE5E-E10140E04643}" type="slidenum">
              <a:rPr lang="en-US" dirty="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目录A1">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1.pn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79441" y="215901"/>
            <a:ext cx="8634381" cy="90011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79441" y="1258888"/>
            <a:ext cx="8634381" cy="356076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79441" y="5000625"/>
            <a:ext cx="2238378" cy="287338"/>
          </a:xfrm>
          <a:prstGeom prst="rect">
            <a:avLst/>
          </a:prstGeom>
        </p:spPr>
        <p:txBody>
          <a:bodyPr vert="horz" lIns="91440" tIns="45720" rIns="91440" bIns="45720" rtlCol="0" anchor="ctr"/>
          <a:lstStyle>
            <a:lvl1pPr algn="l">
              <a:defRPr sz="1120">
                <a:solidFill>
                  <a:schemeClr val="tx1">
                    <a:tint val="75000"/>
                  </a:schemeClr>
                </a:solidFill>
              </a:defRPr>
            </a:lvl1pPr>
          </a:lstStyle>
          <a:p>
            <a:fld id="{D0B1E9A6-3BBE-4152-ABC2-7AF76252B64C}" type="datetimeFigureOut">
              <a:rPr lang="zh-CN" altLang="en-US" smtClean="0"/>
            </a:fld>
            <a:endParaRPr lang="zh-CN" altLang="en-US"/>
          </a:p>
        </p:txBody>
      </p:sp>
      <p:sp>
        <p:nvSpPr>
          <p:cNvPr id="5" name="页脚占位符 4"/>
          <p:cNvSpPr>
            <a:spLocks noGrp="1"/>
          </p:cNvSpPr>
          <p:nvPr>
            <p:ph type="ftr" sz="quarter" idx="3"/>
          </p:nvPr>
        </p:nvSpPr>
        <p:spPr>
          <a:xfrm>
            <a:off x="3277414" y="5000625"/>
            <a:ext cx="3038436" cy="287338"/>
          </a:xfrm>
          <a:prstGeom prst="rect">
            <a:avLst/>
          </a:prstGeom>
        </p:spPr>
        <p:txBody>
          <a:bodyPr vert="horz" lIns="91440" tIns="45720" rIns="91440" bIns="45720" rtlCol="0" anchor="ctr"/>
          <a:lstStyle>
            <a:lvl1pPr algn="ctr">
              <a:defRPr sz="112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875444" y="5000625"/>
            <a:ext cx="2238378" cy="287338"/>
          </a:xfrm>
          <a:prstGeom prst="rect">
            <a:avLst/>
          </a:prstGeom>
        </p:spPr>
        <p:txBody>
          <a:bodyPr vert="horz" lIns="91440" tIns="45720" rIns="91440" bIns="45720" rtlCol="0" anchor="ctr"/>
          <a:lstStyle>
            <a:lvl1pPr algn="r">
              <a:defRPr sz="1120">
                <a:solidFill>
                  <a:schemeClr val="tx1">
                    <a:tint val="75000"/>
                  </a:schemeClr>
                </a:solidFill>
              </a:defRPr>
            </a:lvl1pPr>
          </a:lstStyle>
          <a:p>
            <a:fld id="{480A614B-7A5B-4F2F-9614-821D6EA51160}"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854710" rtl="0" eaLnBrk="1" latinLnBrk="0" hangingPunct="1">
        <a:spcBef>
          <a:spcPct val="0"/>
        </a:spcBef>
        <a:buNone/>
        <a:defRPr sz="4115" kern="1200">
          <a:solidFill>
            <a:schemeClr val="tx1"/>
          </a:solidFill>
          <a:latin typeface="+mj-lt"/>
          <a:ea typeface="+mj-ea"/>
          <a:cs typeface="+mj-cs"/>
        </a:defRPr>
      </a:lvl1pPr>
    </p:titleStyle>
    <p:bodyStyle>
      <a:lvl1pPr marL="320675" indent="-320675" algn="l" defTabSz="854710" rtl="0" eaLnBrk="1" latinLnBrk="0" hangingPunct="1">
        <a:spcBef>
          <a:spcPct val="20000"/>
        </a:spcBef>
        <a:buFont typeface="Arial" panose="020B0604020202020204" pitchFamily="34" charset="0"/>
        <a:buChar char="•"/>
        <a:defRPr sz="2990" kern="1200">
          <a:solidFill>
            <a:schemeClr val="tx1"/>
          </a:solidFill>
          <a:latin typeface="+mn-lt"/>
          <a:ea typeface="+mn-ea"/>
          <a:cs typeface="+mn-cs"/>
        </a:defRPr>
      </a:lvl1pPr>
      <a:lvl2pPr marL="694690" indent="-267335" algn="l" defTabSz="854710" rtl="0" eaLnBrk="1" latinLnBrk="0" hangingPunct="1">
        <a:spcBef>
          <a:spcPct val="20000"/>
        </a:spcBef>
        <a:buFont typeface="Arial" panose="020B0604020202020204" pitchFamily="34" charset="0"/>
        <a:buChar char="–"/>
        <a:defRPr sz="2620" kern="1200">
          <a:solidFill>
            <a:schemeClr val="tx1"/>
          </a:solidFill>
          <a:latin typeface="+mn-lt"/>
          <a:ea typeface="+mn-ea"/>
          <a:cs typeface="+mn-cs"/>
        </a:defRPr>
      </a:lvl2pPr>
      <a:lvl3pPr marL="1068705" indent="-213995" algn="l" defTabSz="854710" rtl="0" eaLnBrk="1" latinLnBrk="0" hangingPunct="1">
        <a:spcBef>
          <a:spcPct val="20000"/>
        </a:spcBef>
        <a:buFont typeface="Arial" panose="020B0604020202020204" pitchFamily="34" charset="0"/>
        <a:buChar char="•"/>
        <a:defRPr sz="2245" kern="1200">
          <a:solidFill>
            <a:schemeClr val="tx1"/>
          </a:solidFill>
          <a:latin typeface="+mn-lt"/>
          <a:ea typeface="+mn-ea"/>
          <a:cs typeface="+mn-cs"/>
        </a:defRPr>
      </a:lvl3pPr>
      <a:lvl4pPr marL="1496060"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4pPr>
      <a:lvl5pPr marL="1923415"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5pPr>
      <a:lvl6pPr marL="2351405"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6pPr>
      <a:lvl7pPr marL="2778760"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7pPr>
      <a:lvl8pPr marL="3206115"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8pPr>
      <a:lvl9pPr marL="3633470" indent="-213995" algn="l" defTabSz="854710" rtl="0" eaLnBrk="1" latinLnBrk="0" hangingPunct="1">
        <a:spcBef>
          <a:spcPct val="20000"/>
        </a:spcBef>
        <a:buFont typeface="Arial" panose="020B0604020202020204" pitchFamily="34" charset="0"/>
        <a:buChar char="•"/>
        <a:defRPr sz="1870" kern="1200">
          <a:solidFill>
            <a:schemeClr val="tx1"/>
          </a:solidFill>
          <a:latin typeface="+mn-lt"/>
          <a:ea typeface="+mn-ea"/>
          <a:cs typeface="+mn-cs"/>
        </a:defRPr>
      </a:lvl9pPr>
    </p:bodyStyle>
    <p:otherStyle>
      <a:defPPr>
        <a:defRPr lang="zh-CN"/>
      </a:defPPr>
      <a:lvl1pPr marL="0" algn="l" defTabSz="854710" rtl="0" eaLnBrk="1" latinLnBrk="0" hangingPunct="1">
        <a:defRPr sz="1685" kern="1200">
          <a:solidFill>
            <a:schemeClr val="tx1"/>
          </a:solidFill>
          <a:latin typeface="+mn-lt"/>
          <a:ea typeface="+mn-ea"/>
          <a:cs typeface="+mn-cs"/>
        </a:defRPr>
      </a:lvl1pPr>
      <a:lvl2pPr marL="427355" algn="l" defTabSz="854710" rtl="0" eaLnBrk="1" latinLnBrk="0" hangingPunct="1">
        <a:defRPr sz="1685" kern="1200">
          <a:solidFill>
            <a:schemeClr val="tx1"/>
          </a:solidFill>
          <a:latin typeface="+mn-lt"/>
          <a:ea typeface="+mn-ea"/>
          <a:cs typeface="+mn-cs"/>
        </a:defRPr>
      </a:lvl2pPr>
      <a:lvl3pPr marL="854710" algn="l" defTabSz="854710" rtl="0" eaLnBrk="1" latinLnBrk="0" hangingPunct="1">
        <a:defRPr sz="1685" kern="1200">
          <a:solidFill>
            <a:schemeClr val="tx1"/>
          </a:solidFill>
          <a:latin typeface="+mn-lt"/>
          <a:ea typeface="+mn-ea"/>
          <a:cs typeface="+mn-cs"/>
        </a:defRPr>
      </a:lvl3pPr>
      <a:lvl4pPr marL="1282700" algn="l" defTabSz="854710" rtl="0" eaLnBrk="1" latinLnBrk="0" hangingPunct="1">
        <a:defRPr sz="1685" kern="1200">
          <a:solidFill>
            <a:schemeClr val="tx1"/>
          </a:solidFill>
          <a:latin typeface="+mn-lt"/>
          <a:ea typeface="+mn-ea"/>
          <a:cs typeface="+mn-cs"/>
        </a:defRPr>
      </a:lvl4pPr>
      <a:lvl5pPr marL="1710055" algn="l" defTabSz="854710" rtl="0" eaLnBrk="1" latinLnBrk="0" hangingPunct="1">
        <a:defRPr sz="1685" kern="1200">
          <a:solidFill>
            <a:schemeClr val="tx1"/>
          </a:solidFill>
          <a:latin typeface="+mn-lt"/>
          <a:ea typeface="+mn-ea"/>
          <a:cs typeface="+mn-cs"/>
        </a:defRPr>
      </a:lvl5pPr>
      <a:lvl6pPr marL="2137410" algn="l" defTabSz="854710" rtl="0" eaLnBrk="1" latinLnBrk="0" hangingPunct="1">
        <a:defRPr sz="1685" kern="1200">
          <a:solidFill>
            <a:schemeClr val="tx1"/>
          </a:solidFill>
          <a:latin typeface="+mn-lt"/>
          <a:ea typeface="+mn-ea"/>
          <a:cs typeface="+mn-cs"/>
        </a:defRPr>
      </a:lvl6pPr>
      <a:lvl7pPr marL="2564765" algn="l" defTabSz="854710" rtl="0" eaLnBrk="1" latinLnBrk="0" hangingPunct="1">
        <a:defRPr sz="1685" kern="1200">
          <a:solidFill>
            <a:schemeClr val="tx1"/>
          </a:solidFill>
          <a:latin typeface="+mn-lt"/>
          <a:ea typeface="+mn-ea"/>
          <a:cs typeface="+mn-cs"/>
        </a:defRPr>
      </a:lvl7pPr>
      <a:lvl8pPr marL="2992120" algn="l" defTabSz="854710" rtl="0" eaLnBrk="1" latinLnBrk="0" hangingPunct="1">
        <a:defRPr sz="1685" kern="1200">
          <a:solidFill>
            <a:schemeClr val="tx1"/>
          </a:solidFill>
          <a:latin typeface="+mn-lt"/>
          <a:ea typeface="+mn-ea"/>
          <a:cs typeface="+mn-cs"/>
        </a:defRPr>
      </a:lvl8pPr>
      <a:lvl9pPr marL="3420110" algn="l" defTabSz="854710" rtl="0" eaLnBrk="1" latinLnBrk="0" hangingPunct="1">
        <a:defRPr sz="168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9537" y="287283"/>
            <a:ext cx="8274189" cy="104296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59537" y="1436412"/>
            <a:ext cx="8274189" cy="3423657"/>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659537" y="5001213"/>
            <a:ext cx="2158484" cy="287282"/>
          </a:xfrm>
          <a:prstGeom prst="rect">
            <a:avLst/>
          </a:prstGeom>
        </p:spPr>
        <p:txBody>
          <a:bodyPr vert="horz" lIns="91440" tIns="45720" rIns="91440" bIns="45720" rtlCol="0" anchor="ctr"/>
          <a:lstStyle>
            <a:lvl1pPr algn="l">
              <a:defRPr sz="945">
                <a:solidFill>
                  <a:schemeClr val="tx1">
                    <a:tint val="75000"/>
                  </a:schemeClr>
                </a:solidFill>
              </a:defRPr>
            </a:lvl1pPr>
          </a:lstStyle>
          <a:p>
            <a:endParaRPr lang="zh-CN" altLang="en-US" dirty="0"/>
          </a:p>
        </p:txBody>
      </p:sp>
      <p:sp>
        <p:nvSpPr>
          <p:cNvPr id="5" name="Footer Placeholder 4"/>
          <p:cNvSpPr>
            <a:spLocks noGrp="1"/>
          </p:cNvSpPr>
          <p:nvPr>
            <p:ph type="ftr" sz="quarter" idx="3"/>
          </p:nvPr>
        </p:nvSpPr>
        <p:spPr>
          <a:xfrm>
            <a:off x="3177769" y="5001213"/>
            <a:ext cx="3237726" cy="287282"/>
          </a:xfrm>
          <a:prstGeom prst="rect">
            <a:avLst/>
          </a:prstGeom>
        </p:spPr>
        <p:txBody>
          <a:bodyPr vert="horz" lIns="91440" tIns="45720" rIns="91440" bIns="45720" rtlCol="0" anchor="ctr"/>
          <a:lstStyle>
            <a:lvl1pPr algn="ctr">
              <a:defRPr sz="945">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775242" y="5001213"/>
            <a:ext cx="2158484" cy="287282"/>
          </a:xfrm>
          <a:prstGeom prst="rect">
            <a:avLst/>
          </a:prstGeom>
        </p:spPr>
        <p:txBody>
          <a:bodyPr vert="horz" lIns="91440" tIns="45720" rIns="91440" bIns="45720" rtlCol="0" anchor="ctr"/>
          <a:lstStyle>
            <a:lvl1pPr algn="r">
              <a:defRPr sz="945">
                <a:solidFill>
                  <a:schemeClr val="tx1">
                    <a:tint val="75000"/>
                  </a:schemeClr>
                </a:solidFill>
              </a:defRPr>
            </a:lvl1pPr>
          </a:lstStyle>
          <a:p>
            <a:fld id="{48F63A3B-78C7-47BE-AE5E-E10140E04643}" type="slidenum">
              <a:rPr lang="en-US" dirty="0"/>
            </a:fld>
            <a:endParaRPr lang="en-US" dirty="0"/>
          </a:p>
        </p:txBody>
      </p:sp>
      <p:pic>
        <p:nvPicPr>
          <p:cNvPr id="7" name="图片 6"/>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893744" y="5090762"/>
            <a:ext cx="1569942" cy="202339"/>
          </a:xfrm>
          <a:prstGeom prst="rect">
            <a:avLst/>
          </a:prstGeom>
        </p:spPr>
      </p:pic>
      <p:sp>
        <p:nvSpPr>
          <p:cNvPr id="8" name="文本框 7"/>
          <p:cNvSpPr txBox="1"/>
          <p:nvPr userDrawn="1"/>
        </p:nvSpPr>
        <p:spPr>
          <a:xfrm>
            <a:off x="83634" y="5090762"/>
            <a:ext cx="1253869" cy="236219"/>
          </a:xfrm>
          <a:prstGeom prst="rect">
            <a:avLst/>
          </a:prstGeom>
          <a:noFill/>
        </p:spPr>
        <p:txBody>
          <a:bodyPr wrap="none" rtlCol="0">
            <a:spAutoFit/>
          </a:bodyPr>
          <a:lstStyle/>
          <a:p>
            <a:r>
              <a:rPr lang="zh-CN" altLang="en-US" sz="935" dirty="0">
                <a:latin typeface="微软雅黑 Light" panose="020B0502040204020203" pitchFamily="34" charset="-122"/>
                <a:ea typeface="微软雅黑 Light" panose="020B0502040204020203" pitchFamily="34" charset="-122"/>
              </a:rPr>
              <a:t>▲</a:t>
            </a:r>
            <a:r>
              <a:rPr lang="zh-CN" altLang="en-US" sz="840" dirty="0">
                <a:latin typeface="微软雅黑 Light" panose="020B0502040204020203" pitchFamily="34" charset="-122"/>
                <a:ea typeface="微软雅黑 Light" panose="020B0502040204020203" pitchFamily="34" charset="-122"/>
              </a:rPr>
              <a:t>版权归经世教育所有</a:t>
            </a:r>
            <a:endParaRPr lang="zh-CN" altLang="en-US" sz="840" dirty="0">
              <a:latin typeface="微软雅黑 Light" panose="020B0502040204020203" pitchFamily="34" charset="-122"/>
              <a:ea typeface="微软雅黑 Light" panose="020B0502040204020203" pitchFamily="34"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719455" rtl="0" eaLnBrk="1" latinLnBrk="0" hangingPunct="1">
        <a:lnSpc>
          <a:spcPct val="90000"/>
        </a:lnSpc>
        <a:spcBef>
          <a:spcPct val="0"/>
        </a:spcBef>
        <a:buNone/>
        <a:defRPr sz="3460" kern="1200">
          <a:solidFill>
            <a:schemeClr val="tx1"/>
          </a:solidFill>
          <a:latin typeface="+mj-lt"/>
          <a:ea typeface="+mj-ea"/>
          <a:cs typeface="+mj-cs"/>
        </a:defRPr>
      </a:lvl1pPr>
    </p:titleStyle>
    <p:body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p:bodyStyle>
    <p:otherStyle>
      <a:defPPr>
        <a:defRPr lang="en-US"/>
      </a:defPPr>
      <a:lvl1pPr marL="0" algn="l" defTabSz="719455" rtl="0" eaLnBrk="1" latinLnBrk="0" hangingPunct="1">
        <a:defRPr sz="1415" kern="1200">
          <a:solidFill>
            <a:schemeClr val="tx1"/>
          </a:solidFill>
          <a:latin typeface="+mn-lt"/>
          <a:ea typeface="+mn-ea"/>
          <a:cs typeface="+mn-cs"/>
        </a:defRPr>
      </a:lvl1pPr>
      <a:lvl2pPr marL="359410" algn="l" defTabSz="719455" rtl="0" eaLnBrk="1" latinLnBrk="0" hangingPunct="1">
        <a:defRPr sz="1415" kern="1200">
          <a:solidFill>
            <a:schemeClr val="tx1"/>
          </a:solidFill>
          <a:latin typeface="+mn-lt"/>
          <a:ea typeface="+mn-ea"/>
          <a:cs typeface="+mn-cs"/>
        </a:defRPr>
      </a:lvl2pPr>
      <a:lvl3pPr marL="719455" algn="l" defTabSz="719455" rtl="0" eaLnBrk="1" latinLnBrk="0" hangingPunct="1">
        <a:defRPr sz="1415" kern="1200">
          <a:solidFill>
            <a:schemeClr val="tx1"/>
          </a:solidFill>
          <a:latin typeface="+mn-lt"/>
          <a:ea typeface="+mn-ea"/>
          <a:cs typeface="+mn-cs"/>
        </a:defRPr>
      </a:lvl3pPr>
      <a:lvl4pPr marL="1078865" algn="l" defTabSz="719455" rtl="0" eaLnBrk="1" latinLnBrk="0" hangingPunct="1">
        <a:defRPr sz="1415" kern="1200">
          <a:solidFill>
            <a:schemeClr val="tx1"/>
          </a:solidFill>
          <a:latin typeface="+mn-lt"/>
          <a:ea typeface="+mn-ea"/>
          <a:cs typeface="+mn-cs"/>
        </a:defRPr>
      </a:lvl4pPr>
      <a:lvl5pPr marL="1438910" algn="l" defTabSz="719455" rtl="0" eaLnBrk="1" latinLnBrk="0" hangingPunct="1">
        <a:defRPr sz="1415" kern="1200">
          <a:solidFill>
            <a:schemeClr val="tx1"/>
          </a:solidFill>
          <a:latin typeface="+mn-lt"/>
          <a:ea typeface="+mn-ea"/>
          <a:cs typeface="+mn-cs"/>
        </a:defRPr>
      </a:lvl5pPr>
      <a:lvl6pPr marL="1798320" algn="l" defTabSz="719455" rtl="0" eaLnBrk="1" latinLnBrk="0" hangingPunct="1">
        <a:defRPr sz="1415" kern="1200">
          <a:solidFill>
            <a:schemeClr val="tx1"/>
          </a:solidFill>
          <a:latin typeface="+mn-lt"/>
          <a:ea typeface="+mn-ea"/>
          <a:cs typeface="+mn-cs"/>
        </a:defRPr>
      </a:lvl6pPr>
      <a:lvl7pPr marL="2158365" algn="l" defTabSz="719455" rtl="0" eaLnBrk="1" latinLnBrk="0" hangingPunct="1">
        <a:defRPr sz="1415" kern="1200">
          <a:solidFill>
            <a:schemeClr val="tx1"/>
          </a:solidFill>
          <a:latin typeface="+mn-lt"/>
          <a:ea typeface="+mn-ea"/>
          <a:cs typeface="+mn-cs"/>
        </a:defRPr>
      </a:lvl7pPr>
      <a:lvl8pPr marL="2517775" algn="l" defTabSz="719455" rtl="0" eaLnBrk="1" latinLnBrk="0" hangingPunct="1">
        <a:defRPr sz="1415" kern="1200">
          <a:solidFill>
            <a:schemeClr val="tx1"/>
          </a:solidFill>
          <a:latin typeface="+mn-lt"/>
          <a:ea typeface="+mn-ea"/>
          <a:cs typeface="+mn-cs"/>
        </a:defRPr>
      </a:lvl8pPr>
      <a:lvl9pPr marL="2877820" algn="l" defTabSz="719455" rtl="0" eaLnBrk="1" latinLnBrk="0" hangingPunct="1">
        <a:defRPr sz="14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3.xml"/><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2" Type="http://schemas.openxmlformats.org/officeDocument/2006/relationships/notesSlide" Target="../notesSlides/notesSlide3.xml"/><Relationship Id="rId11" Type="http://schemas.openxmlformats.org/officeDocument/2006/relationships/slideLayout" Target="../slideLayouts/slideLayout23.xml"/><Relationship Id="rId10"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6.jpeg"/><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6" Type="http://schemas.openxmlformats.org/officeDocument/2006/relationships/notesSlide" Target="../notesSlides/notesSlide15.xml"/><Relationship Id="rId5" Type="http://schemas.openxmlformats.org/officeDocument/2006/relationships/slideLayout" Target="../slideLayouts/slideLayout18.xml"/><Relationship Id="rId4" Type="http://schemas.openxmlformats.org/officeDocument/2006/relationships/image" Target="../media/image3.png"/><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8.xml"/><Relationship Id="rId2" Type="http://schemas.openxmlformats.org/officeDocument/2006/relationships/image" Target="../media/image3.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7.xml"/><Relationship Id="rId2" Type="http://schemas.openxmlformats.org/officeDocument/2006/relationships/image" Target="../media/image3.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21" name="圆角矩形 20"/>
          <p:cNvSpPr/>
          <p:nvPr/>
        </p:nvSpPr>
        <p:spPr>
          <a:xfrm>
            <a:off x="2132335" y="1822569"/>
            <a:ext cx="5512166" cy="1866659"/>
          </a:xfrm>
          <a:prstGeom prst="roundRect">
            <a:avLst>
              <a:gd name="adj" fmla="val 6740"/>
            </a:avLst>
          </a:prstGeom>
          <a:no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85"/>
          </a:p>
        </p:txBody>
      </p:sp>
      <p:sp>
        <p:nvSpPr>
          <p:cNvPr id="18" name="圆角矩形 17"/>
          <p:cNvSpPr/>
          <p:nvPr/>
        </p:nvSpPr>
        <p:spPr>
          <a:xfrm>
            <a:off x="2803192" y="1620700"/>
            <a:ext cx="4106860" cy="404333"/>
          </a:xfrm>
          <a:prstGeom prst="roundRect">
            <a:avLst/>
          </a:prstGeom>
          <a:solidFill>
            <a:srgbClr val="7DCD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85"/>
          </a:p>
        </p:txBody>
      </p:sp>
      <p:sp>
        <p:nvSpPr>
          <p:cNvPr id="2" name="文本框 1"/>
          <p:cNvSpPr txBox="1"/>
          <p:nvPr/>
        </p:nvSpPr>
        <p:spPr>
          <a:xfrm>
            <a:off x="2943312" y="1665230"/>
            <a:ext cx="3660966" cy="292735"/>
          </a:xfrm>
          <a:prstGeom prst="rect">
            <a:avLst/>
          </a:prstGeom>
          <a:noFill/>
        </p:spPr>
        <p:txBody>
          <a:bodyPr wrap="square" rtlCol="0">
            <a:spAutoFit/>
          </a:bodyPr>
          <a:lstStyle/>
          <a:p>
            <a:pPr algn="dist"/>
            <a:r>
              <a:rPr kumimoji="1" sz="1310" dirty="0">
                <a:solidFill>
                  <a:schemeClr val="bg1"/>
                </a:solidFill>
                <a:latin typeface="微软雅黑" panose="020B0503020204020204" charset="-122"/>
                <a:ea typeface="微软雅黑" panose="020B0503020204020204" charset="-122"/>
                <a:cs typeface="微软雅黑" panose="020B0503020204020204" charset="-122"/>
              </a:rPr>
              <a:t>通信工程设计</a:t>
            </a:r>
            <a:endParaRPr kumimoji="1" sz="131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文本框 4"/>
          <p:cNvSpPr txBox="1"/>
          <p:nvPr/>
        </p:nvSpPr>
        <p:spPr>
          <a:xfrm>
            <a:off x="2636520" y="2337435"/>
            <a:ext cx="4471670" cy="681990"/>
          </a:xfrm>
          <a:prstGeom prst="rect">
            <a:avLst/>
          </a:prstGeom>
          <a:noFill/>
        </p:spPr>
        <p:txBody>
          <a:bodyPr wrap="square" rtlCol="0">
            <a:spAutoFit/>
          </a:bodyPr>
          <a:lstStyle/>
          <a:p>
            <a:pPr algn="dist">
              <a:lnSpc>
                <a:spcPct val="120000"/>
              </a:lnSpc>
            </a:pPr>
            <a:r>
              <a:rPr kumimoji="1" lang="zh-CN" altLang="en-US" sz="3200" dirty="0" smtClean="0">
                <a:latin typeface="微软雅黑" panose="020B0503020204020204" charset="-122"/>
                <a:ea typeface="微软雅黑" panose="020B0503020204020204" charset="-122"/>
                <a:cs typeface="微软雅黑" panose="020B0503020204020204" charset="-122"/>
              </a:rPr>
              <a:t>认知通信工程</a:t>
            </a:r>
            <a:endParaRPr kumimoji="1" lang="zh-CN" altLang="en-US" sz="3200" b="1" dirty="0" smtClean="0">
              <a:latin typeface="微软雅黑" panose="020B0503020204020204" charset="-122"/>
              <a:ea typeface="微软雅黑" panose="020B0503020204020204" charset="-122"/>
              <a:cs typeface="微软雅黑" panose="020B0503020204020204" charset="-122"/>
            </a:endParaRPr>
          </a:p>
        </p:txBody>
      </p:sp>
      <p:sp>
        <p:nvSpPr>
          <p:cNvPr id="22" name="椭圆 21"/>
          <p:cNvSpPr/>
          <p:nvPr/>
        </p:nvSpPr>
        <p:spPr>
          <a:xfrm>
            <a:off x="5539713" y="3659881"/>
            <a:ext cx="70654" cy="7065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685">
              <a:sym typeface="+mn-ea"/>
            </a:endParaRPr>
          </a:p>
        </p:txBody>
      </p:sp>
      <p:sp>
        <p:nvSpPr>
          <p:cNvPr id="23" name="椭圆 22"/>
          <p:cNvSpPr/>
          <p:nvPr/>
        </p:nvSpPr>
        <p:spPr>
          <a:xfrm>
            <a:off x="4114751" y="3659881"/>
            <a:ext cx="70654" cy="70654"/>
          </a:xfrm>
          <a:prstGeom prst="ellipse">
            <a:avLst/>
          </a:prstGeom>
          <a:solidFill>
            <a:schemeClr val="bg1"/>
          </a:solidFill>
          <a:ln w="63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endParaRPr lang="zh-CN" altLang="en-US" sz="1685">
              <a:sym typeface="+mn-ea"/>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文本框 2"/>
          <p:cNvSpPr txBox="1"/>
          <p:nvPr/>
        </p:nvSpPr>
        <p:spPr>
          <a:xfrm>
            <a:off x="3932555" y="3418205"/>
            <a:ext cx="2030730" cy="583565"/>
          </a:xfrm>
          <a:prstGeom prst="rect">
            <a:avLst/>
          </a:prstGeom>
          <a:solidFill>
            <a:schemeClr val="bg1"/>
          </a:solidFill>
        </p:spPr>
        <p:txBody>
          <a:bodyPr wrap="square" rtlCol="0" anchor="t">
            <a:spAutoFit/>
          </a:bodyPr>
          <a:p>
            <a:pPr algn="ctr">
              <a:lnSpc>
                <a:spcPct val="100000"/>
              </a:lnSpc>
            </a:pPr>
            <a:r>
              <a:rPr kumimoji="1" lang="zh-CN" altLang="en-US" sz="1600" b="1" dirty="0">
                <a:latin typeface="微软雅黑" panose="020B0503020204020204" charset="-122"/>
                <a:ea typeface="微软雅黑" panose="020B0503020204020204" charset="-122"/>
                <a:cs typeface="微软雅黑" panose="020B0503020204020204" charset="-122"/>
                <a:sym typeface="+mn-ea"/>
              </a:rPr>
              <a:t>电子信息学科</a:t>
            </a:r>
            <a:r>
              <a:rPr kumimoji="1" lang="zh-CN" altLang="en-US" sz="1600" b="1" dirty="0">
                <a:latin typeface="微软雅黑" panose="020B0503020204020204" charset="-122"/>
                <a:ea typeface="微软雅黑" panose="020B0503020204020204" charset="-122"/>
                <a:cs typeface="微软雅黑" panose="020B0503020204020204" charset="-122"/>
                <a:sym typeface="+mn-ea"/>
              </a:rPr>
              <a:t>研究院</a:t>
            </a:r>
            <a:endParaRPr kumimoji="1" lang="zh-CN" altLang="en-US" sz="1600" b="1" dirty="0">
              <a:latin typeface="微软雅黑" panose="020B0503020204020204" charset="-122"/>
              <a:ea typeface="微软雅黑" panose="020B0503020204020204" charset="-122"/>
              <a:cs typeface="微软雅黑" panose="020B0503020204020204" charset="-122"/>
              <a:sym typeface="+mn-ea"/>
            </a:endParaRPr>
          </a:p>
          <a:p>
            <a:pPr algn="ctr">
              <a:lnSpc>
                <a:spcPct val="100000"/>
              </a:lnSpc>
            </a:pPr>
            <a:r>
              <a:rPr kumimoji="1" lang="zh-CN" altLang="en-US" sz="1600" b="1" dirty="0">
                <a:latin typeface="微软雅黑" panose="020B0503020204020204" charset="-122"/>
                <a:ea typeface="微软雅黑" panose="020B0503020204020204" charset="-122"/>
                <a:cs typeface="微软雅黑" panose="020B0503020204020204" charset="-122"/>
                <a:sym typeface="+mn-ea"/>
              </a:rPr>
              <a:t> 彭泓森</a:t>
            </a:r>
            <a:r>
              <a:rPr kumimoji="1" lang="en-US" altLang="zh-CN" sz="1600" b="1" dirty="0">
                <a:latin typeface="微软雅黑" panose="020B0503020204020204" charset="-122"/>
                <a:ea typeface="微软雅黑" panose="020B0503020204020204" charset="-122"/>
                <a:cs typeface="微软雅黑" panose="020B0503020204020204" charset="-122"/>
                <a:sym typeface="+mn-ea"/>
              </a:rPr>
              <a:t> </a:t>
            </a:r>
            <a:r>
              <a:rPr kumimoji="1" lang="zh-CN" altLang="en-US" sz="1600" b="1" dirty="0">
                <a:latin typeface="微软雅黑" panose="020B0503020204020204" charset="-122"/>
                <a:ea typeface="微软雅黑" panose="020B0503020204020204" charset="-122"/>
                <a:cs typeface="微软雅黑" panose="020B0503020204020204" charset="-122"/>
                <a:sym typeface="+mn-ea"/>
              </a:rPr>
              <a:t>讲师 </a:t>
            </a:r>
            <a:endParaRPr kumimoji="1" lang="en-US" altLang="zh-CN" sz="1600" b="1"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8" name="组合 7"/>
          <p:cNvGrpSpPr/>
          <p:nvPr/>
        </p:nvGrpSpPr>
        <p:grpSpPr>
          <a:xfrm>
            <a:off x="1769923" y="1221488"/>
            <a:ext cx="5759869" cy="573547"/>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学习目标</a:t>
              </a:r>
              <a:endParaRPr lang="zh-CN" altLang="en-US" sz="2990" b="1" dirty="0">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cxnSp>
        <p:nvCxnSpPr>
          <p:cNvPr id="52" name="直接连接符 51"/>
          <p:cNvCxnSpPr/>
          <p:nvPr/>
        </p:nvCxnSpPr>
        <p:spPr>
          <a:xfrm>
            <a:off x="1993166" y="3404649"/>
            <a:ext cx="5363237"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93166" y="2683261"/>
            <a:ext cx="5363237"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1988319" y="2801415"/>
            <a:ext cx="536808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二</a:t>
            </a:r>
            <a:r>
              <a:rPr lang="zh-CN" altLang="en-US" sz="2620" dirty="0" smtClean="0">
                <a:solidFill>
                  <a:schemeClr val="tx1">
                    <a:lumMod val="75000"/>
                    <a:lumOff val="25000"/>
                  </a:schemeClr>
                </a:solidFill>
                <a:latin typeface="微软雅黑" panose="020B0503020204020204" charset="-122"/>
                <a:ea typeface="微软雅黑" panose="020B0503020204020204" charset="-122"/>
              </a:rPr>
              <a:t>、了解通信工程企业资质和岗位</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sp>
        <p:nvSpPr>
          <p:cNvPr id="100" name="TextBox 99"/>
          <p:cNvSpPr txBox="1"/>
          <p:nvPr/>
        </p:nvSpPr>
        <p:spPr>
          <a:xfrm>
            <a:off x="1988319" y="2080621"/>
            <a:ext cx="4550974" cy="495200"/>
          </a:xfrm>
          <a:prstGeom prst="rect">
            <a:avLst/>
          </a:prstGeom>
          <a:noFill/>
        </p:spPr>
        <p:txBody>
          <a:bodyPr wrap="square" rtlCol="0">
            <a:spAutoFit/>
          </a:bodyPr>
          <a:lstStyle/>
          <a:p>
            <a:pPr indent="-320675">
              <a:spcBef>
                <a:spcPct val="20000"/>
              </a:spcBef>
            </a:pPr>
            <a:r>
              <a:rPr lang="en-US" altLang="zh-CN" sz="2620" b="1" dirty="0">
                <a:solidFill>
                  <a:srgbClr val="F25600"/>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一、了解</a:t>
            </a:r>
            <a:r>
              <a:rPr lang="en-US" altLang="zh-CN" sz="2620" dirty="0" err="1" smtClean="0">
                <a:solidFill>
                  <a:schemeClr val="tx1">
                    <a:lumMod val="75000"/>
                    <a:lumOff val="25000"/>
                  </a:schemeClr>
                </a:solidFill>
                <a:latin typeface="微软雅黑" panose="020B0503020204020204" charset="-122"/>
                <a:ea typeface="微软雅黑" panose="020B0503020204020204" charset="-122"/>
                <a:sym typeface="+mn-ea"/>
              </a:rPr>
              <a:t>通信</a:t>
            </a:r>
            <a:r>
              <a:rPr lang="zh-CN" altLang="en-US" sz="2620" dirty="0" smtClean="0">
                <a:solidFill>
                  <a:schemeClr val="tx1">
                    <a:lumMod val="75000"/>
                    <a:lumOff val="25000"/>
                  </a:schemeClr>
                </a:solidFill>
                <a:latin typeface="微软雅黑" panose="020B0503020204020204" charset="-122"/>
                <a:ea typeface="微软雅黑" panose="020B0503020204020204" charset="-122"/>
                <a:sym typeface="+mn-ea"/>
              </a:rPr>
              <a:t>工程</a:t>
            </a:r>
            <a:endParaRPr lang="en-US" altLang="zh-CN" sz="2620" dirty="0">
              <a:solidFill>
                <a:schemeClr val="tx1">
                  <a:lumMod val="75000"/>
                  <a:lumOff val="25000"/>
                </a:schemeClr>
              </a:solidFill>
              <a:latin typeface="微软雅黑" panose="020B0503020204020204" charset="-122"/>
              <a:ea typeface="微软雅黑" panose="020B0503020204020204" charset="-122"/>
            </a:endParaRPr>
          </a:p>
        </p:txBody>
      </p:sp>
      <p:cxnSp>
        <p:nvCxnSpPr>
          <p:cNvPr id="2" name="直接连接符 1"/>
          <p:cNvCxnSpPr/>
          <p:nvPr/>
        </p:nvCxnSpPr>
        <p:spPr>
          <a:xfrm>
            <a:off x="1993166" y="4077350"/>
            <a:ext cx="5363237" cy="715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nvSpPr>
        <p:spPr>
          <a:xfrm>
            <a:off x="1988319" y="3589300"/>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三、</a:t>
            </a:r>
            <a:r>
              <a:rPr lang="zh-CN" altLang="en-US" sz="2620" dirty="0" smtClean="0">
                <a:solidFill>
                  <a:schemeClr val="tx1">
                    <a:lumMod val="75000"/>
                    <a:lumOff val="25000"/>
                  </a:schemeClr>
                </a:solidFill>
                <a:latin typeface="微软雅黑" panose="020B0503020204020204" charset="-122"/>
                <a:ea typeface="微软雅黑" panose="020B0503020204020204" charset="-122"/>
              </a:rPr>
              <a:t>掌握文明施工礼仪</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8" name="组合 7"/>
          <p:cNvGrpSpPr/>
          <p:nvPr/>
        </p:nvGrpSpPr>
        <p:grpSpPr>
          <a:xfrm>
            <a:off x="1769923" y="1221488"/>
            <a:ext cx="5759869" cy="573547"/>
            <a:chOff x="4260" y="638"/>
            <a:chExt cx="8921" cy="966"/>
          </a:xfrm>
        </p:grpSpPr>
        <p:sp>
          <p:nvSpPr>
            <p:cNvPr id="82" name="矩形 81"/>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3"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目    录</a:t>
              </a:r>
              <a:endParaRPr lang="zh-CN" altLang="en-US" sz="2990" b="1" dirty="0">
                <a:latin typeface="微软雅黑" panose="020B0503020204020204" charset="-122"/>
                <a:ea typeface="微软雅黑" panose="020B0503020204020204" charset="-122"/>
              </a:endParaRPr>
            </a:p>
          </p:txBody>
        </p:sp>
        <p:sp>
          <p:nvSpPr>
            <p:cNvPr id="84" name="矩形 83"/>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5" name="矩形 84"/>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6" name="矩形 85"/>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7" name="矩形 86"/>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88" name="矩形 87"/>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cxnSp>
        <p:nvCxnSpPr>
          <p:cNvPr id="52" name="直接连接符 51"/>
          <p:cNvCxnSpPr/>
          <p:nvPr>
            <p:custDataLst>
              <p:tags r:id="rId2"/>
            </p:custDataLst>
          </p:nvPr>
        </p:nvCxnSpPr>
        <p:spPr>
          <a:xfrm>
            <a:off x="1993166" y="3404649"/>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custDataLst>
              <p:tags r:id="rId3"/>
            </p:custDataLst>
          </p:nvPr>
        </p:nvCxnSpPr>
        <p:spPr>
          <a:xfrm>
            <a:off x="1993166" y="2683261"/>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99" name="TextBox 98"/>
          <p:cNvSpPr txBox="1"/>
          <p:nvPr>
            <p:custDataLst>
              <p:tags r:id="rId4"/>
            </p:custDataLst>
          </p:nvPr>
        </p:nvSpPr>
        <p:spPr>
          <a:xfrm>
            <a:off x="2380875" y="2801415"/>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二</a:t>
            </a:r>
            <a:r>
              <a:rPr lang="zh-CN" altLang="en-US" sz="2620" dirty="0" smtClean="0">
                <a:solidFill>
                  <a:schemeClr val="tx1">
                    <a:lumMod val="75000"/>
                    <a:lumOff val="25000"/>
                  </a:schemeClr>
                </a:solidFill>
                <a:latin typeface="微软雅黑" panose="020B0503020204020204" charset="-122"/>
                <a:ea typeface="微软雅黑" panose="020B0503020204020204" charset="-122"/>
              </a:rPr>
              <a:t>、通信工程企业资质</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sp>
        <p:nvSpPr>
          <p:cNvPr id="100" name="TextBox 99"/>
          <p:cNvSpPr txBox="1"/>
          <p:nvPr>
            <p:custDataLst>
              <p:tags r:id="rId5"/>
            </p:custDataLst>
          </p:nvPr>
        </p:nvSpPr>
        <p:spPr>
          <a:xfrm>
            <a:off x="2380875" y="2080621"/>
            <a:ext cx="4550974" cy="495200"/>
          </a:xfrm>
          <a:prstGeom prst="rect">
            <a:avLst/>
          </a:prstGeom>
          <a:noFill/>
        </p:spPr>
        <p:txBody>
          <a:bodyPr wrap="square" rtlCol="0">
            <a:spAutoFit/>
          </a:bodyPr>
          <a:lstStyle/>
          <a:p>
            <a:pPr indent="-320675">
              <a:spcBef>
                <a:spcPct val="20000"/>
              </a:spcBef>
            </a:pPr>
            <a:r>
              <a:rPr lang="en-US" altLang="zh-CN" sz="2620" b="1" dirty="0">
                <a:solidFill>
                  <a:srgbClr val="F25600"/>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一、</a:t>
            </a:r>
            <a:r>
              <a:rPr lang="en-US" altLang="zh-CN" sz="2620" dirty="0" err="1">
                <a:solidFill>
                  <a:schemeClr val="tx1">
                    <a:lumMod val="75000"/>
                    <a:lumOff val="25000"/>
                  </a:schemeClr>
                </a:solidFill>
                <a:latin typeface="微软雅黑" panose="020B0503020204020204" charset="-122"/>
                <a:ea typeface="微软雅黑" panose="020B0503020204020204" charset="-122"/>
                <a:sym typeface="+mn-ea"/>
              </a:rPr>
              <a:t>通信</a:t>
            </a:r>
            <a:r>
              <a:rPr lang="zh-CN" altLang="en-US" sz="2620" dirty="0">
                <a:solidFill>
                  <a:schemeClr val="tx1">
                    <a:lumMod val="75000"/>
                    <a:lumOff val="25000"/>
                  </a:schemeClr>
                </a:solidFill>
                <a:latin typeface="微软雅黑" panose="020B0503020204020204" charset="-122"/>
                <a:ea typeface="微软雅黑" panose="020B0503020204020204" charset="-122"/>
                <a:sym typeface="+mn-ea"/>
              </a:rPr>
              <a:t>工程</a:t>
            </a:r>
            <a:r>
              <a:rPr lang="en-US" altLang="zh-CN" sz="2620" dirty="0" err="1">
                <a:solidFill>
                  <a:schemeClr val="tx1">
                    <a:lumMod val="75000"/>
                    <a:lumOff val="25000"/>
                  </a:schemeClr>
                </a:solidFill>
                <a:latin typeface="微软雅黑" panose="020B0503020204020204" charset="-122"/>
                <a:ea typeface="微软雅黑" panose="020B0503020204020204" charset="-122"/>
                <a:sym typeface="+mn-ea"/>
              </a:rPr>
              <a:t>的定义</a:t>
            </a:r>
            <a:endParaRPr lang="en-US" altLang="zh-CN" sz="2620" dirty="0">
              <a:solidFill>
                <a:schemeClr val="tx1">
                  <a:lumMod val="75000"/>
                  <a:lumOff val="25000"/>
                </a:schemeClr>
              </a:solidFill>
              <a:latin typeface="微软雅黑" panose="020B0503020204020204" charset="-122"/>
              <a:ea typeface="微软雅黑" panose="020B0503020204020204" charset="-122"/>
            </a:endParaRPr>
          </a:p>
        </p:txBody>
      </p:sp>
      <p:cxnSp>
        <p:nvCxnSpPr>
          <p:cNvPr id="2" name="直接连接符 1"/>
          <p:cNvCxnSpPr/>
          <p:nvPr>
            <p:custDataLst>
              <p:tags r:id="rId6"/>
            </p:custDataLst>
          </p:nvPr>
        </p:nvCxnSpPr>
        <p:spPr>
          <a:xfrm>
            <a:off x="1993166" y="4077350"/>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TextBox 98"/>
          <p:cNvSpPr txBox="1"/>
          <p:nvPr>
            <p:custDataLst>
              <p:tags r:id="rId7"/>
            </p:custDataLst>
          </p:nvPr>
        </p:nvSpPr>
        <p:spPr>
          <a:xfrm>
            <a:off x="2380875" y="3589300"/>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三、</a:t>
            </a:r>
            <a:r>
              <a:rPr kumimoji="1" lang="zh-CN" altLang="en-US" sz="2620" dirty="0" smtClean="0">
                <a:latin typeface="微软雅黑" panose="020B0503020204020204" charset="-122"/>
                <a:ea typeface="微软雅黑" panose="020B0503020204020204" charset="-122"/>
                <a:cs typeface="微软雅黑" panose="020B0503020204020204" charset="-122"/>
                <a:sym typeface="+mn-ea"/>
              </a:rPr>
              <a:t>通信工程的岗位</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cxnSp>
        <p:nvCxnSpPr>
          <p:cNvPr id="17" name="直接连接符 16"/>
          <p:cNvCxnSpPr/>
          <p:nvPr>
            <p:custDataLst>
              <p:tags r:id="rId8"/>
            </p:custDataLst>
          </p:nvPr>
        </p:nvCxnSpPr>
        <p:spPr>
          <a:xfrm>
            <a:off x="1993166" y="4714180"/>
            <a:ext cx="4938682"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18" name="TextBox 98"/>
          <p:cNvSpPr txBox="1"/>
          <p:nvPr>
            <p:custDataLst>
              <p:tags r:id="rId9"/>
            </p:custDataLst>
          </p:nvPr>
        </p:nvSpPr>
        <p:spPr>
          <a:xfrm>
            <a:off x="2405897" y="4213742"/>
            <a:ext cx="4550974" cy="495200"/>
          </a:xfrm>
          <a:prstGeom prst="rect">
            <a:avLst/>
          </a:prstGeom>
          <a:noFill/>
        </p:spPr>
        <p:txBody>
          <a:bodyPr wrap="square" rtlCol="0">
            <a:spAutoFit/>
          </a:bodyPr>
          <a:lstStyle/>
          <a:p>
            <a:pPr lvl="0"/>
            <a:r>
              <a:rPr lang="en-US" altLang="zh-CN" sz="2620" dirty="0">
                <a:solidFill>
                  <a:schemeClr val="tx1">
                    <a:lumMod val="75000"/>
                    <a:lumOff val="25000"/>
                  </a:schemeClr>
                </a:solidFill>
                <a:latin typeface="微软雅黑" panose="020B0503020204020204" charset="-122"/>
                <a:ea typeface="微软雅黑" panose="020B0503020204020204" charset="-122"/>
              </a:rPr>
              <a:t> </a:t>
            </a:r>
            <a:r>
              <a:rPr lang="zh-CN" altLang="en-US" sz="2620" dirty="0">
                <a:solidFill>
                  <a:schemeClr val="tx1">
                    <a:lumMod val="75000"/>
                    <a:lumOff val="25000"/>
                  </a:schemeClr>
                </a:solidFill>
                <a:latin typeface="微软雅黑" panose="020B0503020204020204" charset="-122"/>
                <a:ea typeface="微软雅黑" panose="020B0503020204020204" charset="-122"/>
              </a:rPr>
              <a:t>四</a:t>
            </a:r>
            <a:r>
              <a:rPr lang="zh-CN" altLang="en-US" sz="2620" dirty="0" smtClean="0">
                <a:solidFill>
                  <a:schemeClr val="tx1">
                    <a:lumMod val="75000"/>
                    <a:lumOff val="25000"/>
                  </a:schemeClr>
                </a:solidFill>
                <a:latin typeface="微软雅黑" panose="020B0503020204020204" charset="-122"/>
                <a:ea typeface="微软雅黑" panose="020B0503020204020204" charset="-122"/>
              </a:rPr>
              <a:t>、</a:t>
            </a:r>
            <a:r>
              <a:rPr kumimoji="1" lang="zh-CN" altLang="en-US" sz="2620" dirty="0" smtClean="0">
                <a:latin typeface="微软雅黑" panose="020B0503020204020204" charset="-122"/>
                <a:ea typeface="微软雅黑" panose="020B0503020204020204" charset="-122"/>
                <a:cs typeface="微软雅黑" panose="020B0503020204020204" charset="-122"/>
                <a:sym typeface="+mn-ea"/>
              </a:rPr>
              <a:t>通信工程文明施工礼仪</a:t>
            </a:r>
            <a:endParaRPr lang="zh-CN" altLang="en-US" sz="2620" dirty="0">
              <a:solidFill>
                <a:schemeClr val="tx1">
                  <a:lumMod val="75000"/>
                  <a:lumOff val="25000"/>
                </a:schemeClr>
              </a:solidFill>
              <a:latin typeface="微软雅黑" panose="020B0503020204020204" charset="-122"/>
              <a:ea typeface="微软雅黑" panose="020B0503020204020204" charset="-122"/>
            </a:endParaRPr>
          </a:p>
        </p:txBody>
      </p:sp>
      <p:pic>
        <p:nvPicPr>
          <p:cNvPr id="3081" name="图片 5" descr="校徽"/>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一、</a:t>
            </a:r>
            <a:r>
              <a:rPr kumimoji="1" lang="zh-CN" altLang="en-US" sz="2245" dirty="0" smtClean="0">
                <a:latin typeface="微软雅黑" panose="020B0503020204020204" charset="-122"/>
                <a:ea typeface="微软雅黑" panose="020B0503020204020204" charset="-122"/>
                <a:cs typeface="微软雅黑" panose="020B0503020204020204" charset="-122"/>
              </a:rPr>
              <a:t>通信工程的</a:t>
            </a:r>
            <a:r>
              <a:rPr kumimoji="1" lang="zh-CN" altLang="en-US" sz="2245" dirty="0">
                <a:latin typeface="微软雅黑" panose="020B0503020204020204" charset="-122"/>
                <a:ea typeface="微软雅黑" panose="020B0503020204020204" charset="-122"/>
                <a:cs typeface="微软雅黑" panose="020B0503020204020204" charset="-122"/>
              </a:rPr>
              <a:t>定义</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622261" y="840779"/>
            <a:ext cx="6328883" cy="4156075"/>
          </a:xfrm>
          <a:prstGeom prst="rect">
            <a:avLst/>
          </a:prstGeom>
          <a:noFill/>
        </p:spPr>
        <p:txBody>
          <a:bodyPr wrap="square" rtlCol="0">
            <a:spAutoFit/>
          </a:bodyPr>
          <a:lstStyle/>
          <a:p>
            <a:pPr marL="427355" indent="-427355">
              <a:lnSpc>
                <a:spcPct val="150000"/>
              </a:lnSpc>
              <a:buAutoNum type="arabicPeriod"/>
            </a:pPr>
            <a:r>
              <a:rPr kumimoji="1" lang="zh-CN" altLang="en-US" sz="1870" dirty="0">
                <a:latin typeface="微软雅黑" panose="020B0503020204020204" charset="-122"/>
                <a:ea typeface="微软雅黑" panose="020B0503020204020204" charset="-122"/>
                <a:cs typeface="微软雅黑" panose="020B0503020204020204" charset="-122"/>
              </a:rPr>
              <a:t>定义</a:t>
            </a:r>
            <a:endParaRPr kumimoji="1" lang="en-US" altLang="zh-CN" sz="1495" dirty="0">
              <a:latin typeface="微软雅黑" panose="020B0503020204020204" charset="-122"/>
              <a:ea typeface="微软雅黑" panose="020B0503020204020204" charset="-122"/>
              <a:cs typeface="微软雅黑" panose="020B0503020204020204" charset="-122"/>
            </a:endParaRPr>
          </a:p>
          <a:p>
            <a:pPr marL="0" lvl="1" indent="379730">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通信工程，</a:t>
            </a:r>
            <a:r>
              <a:rPr lang="zh-CN" altLang="en-US" sz="1495" dirty="0" smtClean="0">
                <a:latin typeface="微软雅黑" panose="020B0503020204020204" charset="-122"/>
                <a:ea typeface="微软雅黑" panose="020B0503020204020204" charset="-122"/>
                <a:sym typeface="+mn-ea"/>
              </a:rPr>
              <a:t>指为了满足人们通信需求</a:t>
            </a:r>
            <a:r>
              <a:rPr kumimoji="1" lang="zh-CN" altLang="en-US" sz="1495" dirty="0" smtClean="0">
                <a:latin typeface="微软雅黑" panose="020B0503020204020204" charset="-122"/>
                <a:ea typeface="微软雅黑" panose="020B0503020204020204" charset="-122"/>
                <a:cs typeface="微软雅黑" panose="020B0503020204020204" charset="-122"/>
                <a:sym typeface="+mn-ea"/>
              </a:rPr>
              <a:t>而进行建设的工程</a:t>
            </a:r>
            <a:r>
              <a:rPr lang="zh-CN" altLang="en-US" sz="1495" dirty="0" smtClean="0">
                <a:latin typeface="微软雅黑" panose="020B0503020204020204" charset="-122"/>
                <a:ea typeface="微软雅黑" panose="020B0503020204020204" charset="-122"/>
                <a:sym typeface="+mn-ea"/>
              </a:rPr>
              <a:t>。包括设备的安装、调试、开通，场地的建设，线路的敷设以及这些工程的勘察设计都属于通信工程。</a:t>
            </a:r>
            <a:endParaRPr lang="zh-CN" altLang="en-US" sz="1495" dirty="0">
              <a:latin typeface="微软雅黑" panose="020B0503020204020204" charset="-122"/>
              <a:ea typeface="微软雅黑" panose="020B0503020204020204" charset="-122"/>
              <a:sym typeface="+mn-ea"/>
            </a:endParaRPr>
          </a:p>
          <a:p>
            <a:pPr lvl="1" indent="-427355">
              <a:lnSpc>
                <a:spcPct val="150000"/>
              </a:lnSpc>
              <a:buFont typeface="+mj-lt"/>
              <a:buAutoNum type="arabicPeriod" startAt="2"/>
            </a:pPr>
            <a:r>
              <a:rPr kumimoji="1" lang="zh-CN" altLang="en-US" sz="1870" dirty="0">
                <a:latin typeface="微软雅黑" panose="020B0503020204020204" charset="-122"/>
                <a:ea typeface="微软雅黑" panose="020B0503020204020204" charset="-122"/>
                <a:cs typeface="微软雅黑" panose="020B0503020204020204" charset="-122"/>
                <a:sym typeface="+mn-ea"/>
              </a:rPr>
              <a:t>学习目的</a:t>
            </a:r>
            <a:endParaRPr kumimoji="1" lang="zh-CN" altLang="en-US" sz="187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r>
              <a:rPr kumimoji="1" lang="zh-CN" altLang="en-US" sz="1495" dirty="0" smtClean="0">
                <a:solidFill>
                  <a:srgbClr val="FF0000"/>
                </a:solidFill>
                <a:latin typeface="微软雅黑" panose="020B0503020204020204" charset="-122"/>
                <a:ea typeface="微软雅黑" panose="020B0503020204020204" charset="-122"/>
                <a:cs typeface="微软雅黑" panose="020B0503020204020204" charset="-122"/>
                <a:sym typeface="+mn-ea"/>
              </a:rPr>
              <a:t>提高工程建设质量，加快工程建设进度，降低工程建设成本，保障工程建设安全。</a:t>
            </a:r>
            <a:endParaRPr kumimoji="1" lang="zh-CN" altLang="en-US" sz="1495"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marL="0" lvl="1">
              <a:lnSpc>
                <a:spcPct val="150000"/>
              </a:lnSpc>
            </a:pPr>
            <a:endParaRPr kumimoji="1" lang="zh-CN" altLang="en-US" sz="1495" dirty="0">
              <a:latin typeface="微软雅黑" panose="020B0503020204020204" charset="-122"/>
              <a:ea typeface="微软雅黑" panose="020B0503020204020204" charset="-122"/>
              <a:cs typeface="微软雅黑" panose="020B0503020204020204" charset="-122"/>
              <a:sym typeface="+mn-ea"/>
            </a:endParaRPr>
          </a:p>
          <a:p>
            <a:pPr marL="0" lvl="1">
              <a:lnSpc>
                <a:spcPct val="150000"/>
              </a:lnSpc>
            </a:pPr>
            <a:endParaRPr kumimoji="1" lang="zh-CN" altLang="en-US" sz="1870" dirty="0">
              <a:latin typeface="微软雅黑" panose="020B0503020204020204" charset="-122"/>
              <a:ea typeface="微软雅黑" panose="020B0503020204020204" charset="-122"/>
              <a:cs typeface="微软雅黑" panose="020B0503020204020204" charset="-122"/>
              <a:sym typeface="+mn-ea"/>
            </a:endParaRPr>
          </a:p>
          <a:p>
            <a:pPr marL="0" lvl="1" indent="379730">
              <a:lnSpc>
                <a:spcPct val="150000"/>
              </a:lnSpc>
            </a:pPr>
            <a:endParaRPr kumimoji="1" lang="zh-CN" altLang="en-US" sz="1495" dirty="0">
              <a:latin typeface="微软雅黑" panose="020B0503020204020204" charset="-122"/>
              <a:ea typeface="微软雅黑" panose="020B0503020204020204" charset="-122"/>
              <a:cs typeface="微软雅黑" panose="020B0503020204020204" charset="-122"/>
              <a:sym typeface="+mn-ea"/>
            </a:endParaRPr>
          </a:p>
          <a:p>
            <a:pPr indent="379730">
              <a:lnSpc>
                <a:spcPct val="150000"/>
              </a:lnSpc>
            </a:pPr>
            <a:endParaRPr kumimoji="1" lang="zh-CN" altLang="en-US" sz="1495" dirty="0">
              <a:latin typeface="微软雅黑" panose="020B0503020204020204" charset="-122"/>
              <a:ea typeface="微软雅黑" panose="020B0503020204020204" charset="-122"/>
              <a:cs typeface="微软雅黑" panose="020B0503020204020204" charset="-122"/>
              <a:sym typeface="+mn-ea"/>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8195" name="Picture 9" descr="图片08"/>
          <p:cNvPicPr>
            <a:picLocks noChangeAspect="1"/>
          </p:cNvPicPr>
          <p:nvPr/>
        </p:nvPicPr>
        <p:blipFill>
          <a:blip r:embed="rId2"/>
          <a:stretch>
            <a:fillRect/>
          </a:stretch>
        </p:blipFill>
        <p:spPr>
          <a:xfrm>
            <a:off x="7475115" y="3876371"/>
            <a:ext cx="1545194" cy="1009348"/>
          </a:xfrm>
          <a:prstGeom prst="rect">
            <a:avLst/>
          </a:prstGeom>
          <a:noFill/>
          <a:ln w="9525">
            <a:noFill/>
          </a:ln>
        </p:spPr>
      </p:pic>
      <p:pic>
        <p:nvPicPr>
          <p:cNvPr id="8196" name="Picture 10" descr="图片02"/>
          <p:cNvPicPr>
            <a:picLocks noChangeAspect="1"/>
          </p:cNvPicPr>
          <p:nvPr/>
        </p:nvPicPr>
        <p:blipFill>
          <a:blip r:embed="rId3"/>
          <a:stretch>
            <a:fillRect/>
          </a:stretch>
        </p:blipFill>
        <p:spPr>
          <a:xfrm>
            <a:off x="7475115" y="1097694"/>
            <a:ext cx="1496211" cy="1021223"/>
          </a:xfrm>
          <a:prstGeom prst="rect">
            <a:avLst/>
          </a:prstGeom>
          <a:noFill/>
          <a:ln w="9525">
            <a:noFill/>
          </a:ln>
        </p:spPr>
      </p:pic>
      <p:pic>
        <p:nvPicPr>
          <p:cNvPr id="8197" name="Picture 11" descr="图片07"/>
          <p:cNvPicPr>
            <a:picLocks noChangeAspect="1"/>
          </p:cNvPicPr>
          <p:nvPr/>
        </p:nvPicPr>
        <p:blipFill>
          <a:blip r:embed="rId4"/>
          <a:stretch>
            <a:fillRect/>
          </a:stretch>
        </p:blipFill>
        <p:spPr>
          <a:xfrm>
            <a:off x="7475115" y="2451409"/>
            <a:ext cx="1496211" cy="1073174"/>
          </a:xfrm>
          <a:prstGeom prst="rect">
            <a:avLst/>
          </a:prstGeom>
          <a:noFill/>
          <a:ln w="9525">
            <a:noFill/>
          </a:ln>
        </p:spPr>
      </p:pic>
      <p:pic>
        <p:nvPicPr>
          <p:cNvPr id="3081" name="图片 5" descr="校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34035"/>
          </a:xfrm>
          <a:prstGeom prst="rect">
            <a:avLst/>
          </a:prstGeom>
          <a:noFill/>
        </p:spPr>
        <p:txBody>
          <a:bodyPr wrap="square" rtlCol="0">
            <a:spAutoFit/>
          </a:bodyPr>
          <a:lstStyle/>
          <a:p>
            <a:pPr>
              <a:lnSpc>
                <a:spcPct val="120000"/>
              </a:lnSpc>
            </a:pPr>
            <a:r>
              <a:rPr lang="en-US" altLang="zh-CN" sz="2400" dirty="0" err="1">
                <a:solidFill>
                  <a:schemeClr val="tx1">
                    <a:lumMod val="75000"/>
                    <a:lumOff val="25000"/>
                  </a:schemeClr>
                </a:solidFill>
                <a:latin typeface="微软雅黑" panose="020B0503020204020204" charset="-122"/>
                <a:ea typeface="微软雅黑" panose="020B0503020204020204" charset="-122"/>
                <a:sym typeface="+mn-ea"/>
              </a:rPr>
              <a:t>通信</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工程建设</a:t>
            </a:r>
            <a:endParaRPr kumimoji="1" lang="en-US" altLang="zh-CN" sz="2400"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7" name="AutoShape 12"/>
          <p:cNvSpPr>
            <a:spLocks noChangeArrowheads="1"/>
          </p:cNvSpPr>
          <p:nvPr/>
        </p:nvSpPr>
        <p:spPr bwMode="auto">
          <a:xfrm>
            <a:off x="1871620" y="1804441"/>
            <a:ext cx="1249363" cy="28575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EDBF7"/>
          </a:solidFill>
          <a:ln w="6350">
            <a:solidFill>
              <a:srgbClr val="969696"/>
            </a:solidFill>
            <a:miter lim="800000"/>
          </a:ln>
        </p:spPr>
        <p:txBody>
          <a:bodyPr wrap="none" anchor="ctr"/>
          <a:lstStyle/>
          <a:p>
            <a:endParaRPr lang="zh-CN" altLang="en-US"/>
          </a:p>
        </p:txBody>
      </p:sp>
      <p:sp>
        <p:nvSpPr>
          <p:cNvPr id="8" name="Rectangle 13"/>
          <p:cNvSpPr>
            <a:spLocks noChangeArrowheads="1"/>
          </p:cNvSpPr>
          <p:nvPr/>
        </p:nvSpPr>
        <p:spPr bwMode="auto">
          <a:xfrm>
            <a:off x="1643020" y="1861591"/>
            <a:ext cx="206375" cy="1988493"/>
          </a:xfrm>
          <a:prstGeom prst="rect">
            <a:avLst/>
          </a:prstGeom>
          <a:solidFill>
            <a:schemeClr val="accent1"/>
          </a:solidFill>
          <a:ln w="9525">
            <a:solidFill>
              <a:schemeClr val="tx1"/>
            </a:solidFill>
            <a:miter lim="800000"/>
          </a:ln>
        </p:spPr>
        <p:txBody>
          <a:bodyPr wrap="none" anchor="ctr"/>
          <a:lstStyle/>
          <a:p>
            <a:endParaRPr lang="zh-CN" altLang="en-US" sz="2000"/>
          </a:p>
        </p:txBody>
      </p:sp>
      <p:sp>
        <p:nvSpPr>
          <p:cNvPr id="9" name="Rectangle 14"/>
          <p:cNvSpPr>
            <a:spLocks noChangeArrowheads="1"/>
          </p:cNvSpPr>
          <p:nvPr/>
        </p:nvSpPr>
        <p:spPr bwMode="auto">
          <a:xfrm>
            <a:off x="3118866" y="1761852"/>
            <a:ext cx="39100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ea typeface="华文细黑" panose="02010600040101010101" pitchFamily="2" charset="-122"/>
              </a:rPr>
              <a:t>全程全网联合作业</a:t>
            </a:r>
            <a:endParaRPr lang="zh-CN" altLang="en-US" sz="2000" b="1" dirty="0">
              <a:ea typeface="华文细黑" panose="02010600040101010101" pitchFamily="2" charset="-122"/>
            </a:endParaRPr>
          </a:p>
        </p:txBody>
      </p:sp>
      <p:sp>
        <p:nvSpPr>
          <p:cNvPr id="10" name="AutoShape 15"/>
          <p:cNvSpPr>
            <a:spLocks noChangeArrowheads="1"/>
          </p:cNvSpPr>
          <p:nvPr/>
        </p:nvSpPr>
        <p:spPr bwMode="auto">
          <a:xfrm>
            <a:off x="1871620" y="2375941"/>
            <a:ext cx="1249363" cy="28575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EDBF7"/>
          </a:solidFill>
          <a:ln w="6350">
            <a:solidFill>
              <a:srgbClr val="969696"/>
            </a:solidFill>
            <a:miter lim="800000"/>
          </a:ln>
        </p:spPr>
        <p:txBody>
          <a:bodyPr wrap="none" anchor="ctr"/>
          <a:lstStyle/>
          <a:p>
            <a:endParaRPr lang="zh-CN" altLang="en-US"/>
          </a:p>
        </p:txBody>
      </p:sp>
      <p:sp>
        <p:nvSpPr>
          <p:cNvPr id="11" name="Rectangle 16"/>
          <p:cNvSpPr>
            <a:spLocks noChangeArrowheads="1"/>
          </p:cNvSpPr>
          <p:nvPr/>
        </p:nvSpPr>
        <p:spPr bwMode="auto">
          <a:xfrm>
            <a:off x="3140447" y="2337916"/>
            <a:ext cx="55446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000" b="1" dirty="0">
                <a:ea typeface="华文细黑" panose="02010600040101010101" pitchFamily="2" charset="-122"/>
              </a:rPr>
              <a:t>通信技术发展快，新技术、新业务不断</a:t>
            </a:r>
            <a:endParaRPr lang="zh-CN" altLang="en-US" sz="2000" b="1" dirty="0">
              <a:ea typeface="华文细黑" panose="02010600040101010101" pitchFamily="2" charset="-122"/>
            </a:endParaRPr>
          </a:p>
        </p:txBody>
      </p:sp>
      <p:sp>
        <p:nvSpPr>
          <p:cNvPr id="12" name="AutoShape 17"/>
          <p:cNvSpPr>
            <a:spLocks noChangeArrowheads="1"/>
          </p:cNvSpPr>
          <p:nvPr/>
        </p:nvSpPr>
        <p:spPr bwMode="auto">
          <a:xfrm>
            <a:off x="1871620" y="3004591"/>
            <a:ext cx="1249363" cy="28575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EDBF7"/>
          </a:solidFill>
          <a:ln w="6350">
            <a:solidFill>
              <a:srgbClr val="969696"/>
            </a:solidFill>
            <a:miter lim="800000"/>
          </a:ln>
        </p:spPr>
        <p:txBody>
          <a:bodyPr wrap="none" anchor="ctr"/>
          <a:lstStyle/>
          <a:p>
            <a:endParaRPr lang="zh-CN" altLang="en-US"/>
          </a:p>
        </p:txBody>
      </p:sp>
      <p:sp>
        <p:nvSpPr>
          <p:cNvPr id="13" name="Rectangle 18"/>
          <p:cNvSpPr>
            <a:spLocks noChangeArrowheads="1"/>
          </p:cNvSpPr>
          <p:nvPr/>
        </p:nvSpPr>
        <p:spPr bwMode="auto">
          <a:xfrm>
            <a:off x="3143208" y="2945918"/>
            <a:ext cx="52149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20000"/>
              </a:spcBef>
            </a:pPr>
            <a:r>
              <a:rPr lang="zh-CN" altLang="en-US" sz="2000" b="1" dirty="0">
                <a:ea typeface="华文细黑" panose="02010600040101010101" pitchFamily="2" charset="-122"/>
              </a:rPr>
              <a:t>点多、线长、面广</a:t>
            </a:r>
            <a:endParaRPr lang="zh-CN" altLang="en-US" sz="2000" b="1" dirty="0">
              <a:ea typeface="华文细黑" panose="02010600040101010101" pitchFamily="2" charset="-122"/>
            </a:endParaRPr>
          </a:p>
        </p:txBody>
      </p:sp>
      <p:sp>
        <p:nvSpPr>
          <p:cNvPr id="14" name="AutoShape 19"/>
          <p:cNvSpPr>
            <a:spLocks noChangeArrowheads="1"/>
          </p:cNvSpPr>
          <p:nvPr/>
        </p:nvSpPr>
        <p:spPr bwMode="auto">
          <a:xfrm>
            <a:off x="1871620" y="3633241"/>
            <a:ext cx="1249363" cy="28575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rgbClr val="CEDBF7"/>
          </a:solidFill>
          <a:ln w="6350">
            <a:solidFill>
              <a:srgbClr val="969696"/>
            </a:solidFill>
            <a:miter lim="800000"/>
          </a:ln>
        </p:spPr>
        <p:txBody>
          <a:bodyPr wrap="none" anchor="ctr"/>
          <a:lstStyle/>
          <a:p>
            <a:endParaRPr lang="zh-CN" altLang="en-US"/>
          </a:p>
        </p:txBody>
      </p:sp>
      <p:sp>
        <p:nvSpPr>
          <p:cNvPr id="15" name="Rectangle 20"/>
          <p:cNvSpPr>
            <a:spLocks noChangeArrowheads="1"/>
          </p:cNvSpPr>
          <p:nvPr/>
        </p:nvSpPr>
        <p:spPr bwMode="auto">
          <a:xfrm>
            <a:off x="3038623" y="3593990"/>
            <a:ext cx="24780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000" dirty="0"/>
              <a:t>  </a:t>
            </a:r>
            <a:r>
              <a:rPr lang="zh-CN" altLang="en-US" sz="2000" b="1" dirty="0">
                <a:ea typeface="华文细黑" panose="02010600040101010101" pitchFamily="2" charset="-122"/>
              </a:rPr>
              <a:t>建设环境复杂</a:t>
            </a:r>
            <a:endParaRPr lang="zh-CN" altLang="en-US" sz="2000" b="1" dirty="0">
              <a:ea typeface="华文细黑" panose="02010600040101010101" pitchFamily="2" charset="-122"/>
            </a:endParaRPr>
          </a:p>
        </p:txBody>
      </p:sp>
      <p:sp>
        <p:nvSpPr>
          <p:cNvPr id="18" name="文本框 17"/>
          <p:cNvSpPr txBox="1"/>
          <p:nvPr/>
        </p:nvSpPr>
        <p:spPr>
          <a:xfrm>
            <a:off x="539725" y="962116"/>
            <a:ext cx="2557644" cy="430374"/>
          </a:xfrm>
          <a:prstGeom prst="rect">
            <a:avLst/>
          </a:prstGeom>
          <a:noFill/>
        </p:spPr>
        <p:txBody>
          <a:bodyPr wrap="square" rtlCol="0">
            <a:spAutoFit/>
          </a:bodyPr>
          <a:lstStyle/>
          <a:p>
            <a:pPr>
              <a:lnSpc>
                <a:spcPct val="120000"/>
              </a:lnSpc>
            </a:pPr>
            <a:r>
              <a:rPr lang="en-US" altLang="zh-CN" sz="2000" dirty="0" err="1">
                <a:solidFill>
                  <a:srgbClr val="00B050"/>
                </a:solidFill>
                <a:latin typeface="微软雅黑" panose="020B0503020204020204" charset="-122"/>
                <a:ea typeface="微软雅黑" panose="020B0503020204020204" charset="-122"/>
                <a:sym typeface="+mn-ea"/>
              </a:rPr>
              <a:t>通信</a:t>
            </a:r>
            <a:r>
              <a:rPr lang="zh-CN" altLang="en-US" sz="2000" dirty="0">
                <a:solidFill>
                  <a:srgbClr val="00B050"/>
                </a:solidFill>
                <a:latin typeface="微软雅黑" panose="020B0503020204020204" charset="-122"/>
                <a:ea typeface="微软雅黑" panose="020B0503020204020204" charset="-122"/>
                <a:sym typeface="+mn-ea"/>
              </a:rPr>
              <a:t>工程建设的特点</a:t>
            </a:r>
            <a:endParaRPr kumimoji="1" lang="en-US" altLang="zh-CN" sz="2000" dirty="0">
              <a:solidFill>
                <a:srgbClr val="00B050"/>
              </a:solidFill>
              <a:latin typeface="微软雅黑" panose="020B0503020204020204" charset="-122"/>
              <a:ea typeface="微软雅黑" panose="020B0503020204020204" charset="-122"/>
              <a:cs typeface="微软雅黑" panose="020B0503020204020204"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34035"/>
          </a:xfrm>
          <a:prstGeom prst="rect">
            <a:avLst/>
          </a:prstGeom>
          <a:noFill/>
        </p:spPr>
        <p:txBody>
          <a:bodyPr wrap="square" rtlCol="0">
            <a:spAutoFit/>
          </a:bodyPr>
          <a:lstStyle/>
          <a:p>
            <a:pPr>
              <a:lnSpc>
                <a:spcPct val="120000"/>
              </a:lnSpc>
            </a:pPr>
            <a:r>
              <a:rPr lang="en-US" altLang="zh-CN" sz="2400" dirty="0" err="1">
                <a:solidFill>
                  <a:schemeClr val="tx1">
                    <a:lumMod val="75000"/>
                    <a:lumOff val="25000"/>
                  </a:schemeClr>
                </a:solidFill>
                <a:latin typeface="微软雅黑" panose="020B0503020204020204" charset="-122"/>
                <a:ea typeface="微软雅黑" panose="020B0503020204020204" charset="-122"/>
                <a:sym typeface="+mn-ea"/>
              </a:rPr>
              <a:t>通信</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工程建设</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6" name="Rectangle 2"/>
          <p:cNvSpPr txBox="1">
            <a:spLocks noChangeArrowheads="1"/>
          </p:cNvSpPr>
          <p:nvPr/>
        </p:nvSpPr>
        <p:spPr bwMode="auto">
          <a:xfrm>
            <a:off x="188118" y="998618"/>
            <a:ext cx="2761297" cy="31337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71946" tIns="35973" rIns="71946" bIns="35973" numCol="1" rtlCol="0" anchor="t" anchorCtr="0" compatLnSpc="1">
            <a:normAutofit/>
          </a:bodyPr>
          <a:lstStyle>
            <a:lvl1pPr marL="179705" indent="-179705" algn="l" defTabSz="719455" rtl="0" eaLnBrk="1" latinLnBrk="0" hangingPunct="1">
              <a:lnSpc>
                <a:spcPct val="90000"/>
              </a:lnSpc>
              <a:spcBef>
                <a:spcPts val="785"/>
              </a:spcBef>
              <a:buFont typeface="Arial" panose="020B0604020202020204" pitchFamily="34" charset="0"/>
              <a:buChar char="•"/>
              <a:defRPr sz="2205" kern="1200">
                <a:solidFill>
                  <a:schemeClr val="tx1"/>
                </a:solidFill>
                <a:latin typeface="+mn-lt"/>
                <a:ea typeface="+mn-ea"/>
                <a:cs typeface="+mn-cs"/>
              </a:defRPr>
            </a:lvl1pPr>
            <a:lvl2pPr marL="539750" indent="-179705" algn="l" defTabSz="719455" rtl="0" eaLnBrk="1" latinLnBrk="0" hangingPunct="1">
              <a:lnSpc>
                <a:spcPct val="90000"/>
              </a:lnSpc>
              <a:spcBef>
                <a:spcPts val="395"/>
              </a:spcBef>
              <a:buFont typeface="Arial" panose="020B0604020202020204" pitchFamily="34" charset="0"/>
              <a:buChar char="•"/>
              <a:defRPr sz="1890" kern="1200">
                <a:solidFill>
                  <a:schemeClr val="tx1"/>
                </a:solidFill>
                <a:latin typeface="+mn-lt"/>
                <a:ea typeface="+mn-ea"/>
                <a:cs typeface="+mn-cs"/>
              </a:defRPr>
            </a:lvl2pPr>
            <a:lvl3pPr marL="899160" indent="-179705" algn="l" defTabSz="719455" rtl="0" eaLnBrk="1" latinLnBrk="0" hangingPunct="1">
              <a:lnSpc>
                <a:spcPct val="90000"/>
              </a:lnSpc>
              <a:spcBef>
                <a:spcPts val="395"/>
              </a:spcBef>
              <a:buFont typeface="Arial" panose="020B0604020202020204" pitchFamily="34" charset="0"/>
              <a:buChar char="•"/>
              <a:defRPr sz="1575" kern="1200">
                <a:solidFill>
                  <a:schemeClr val="tx1"/>
                </a:solidFill>
                <a:latin typeface="+mn-lt"/>
                <a:ea typeface="+mn-ea"/>
                <a:cs typeface="+mn-cs"/>
              </a:defRPr>
            </a:lvl3pPr>
            <a:lvl4pPr marL="125920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4pPr>
            <a:lvl5pPr marL="16186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5pPr>
            <a:lvl6pPr marL="197866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6pPr>
            <a:lvl7pPr marL="2338070"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7pPr>
            <a:lvl8pPr marL="269811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8pPr>
            <a:lvl9pPr marL="3057525" indent="-179705" algn="l" defTabSz="719455" rtl="0" eaLnBrk="1" latinLnBrk="0" hangingPunct="1">
              <a:lnSpc>
                <a:spcPct val="90000"/>
              </a:lnSpc>
              <a:spcBef>
                <a:spcPts val="395"/>
              </a:spcBef>
              <a:buFont typeface="Arial" panose="020B0604020202020204" pitchFamily="34" charset="0"/>
              <a:buChar char="•"/>
              <a:defRPr sz="1415"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zh-CN" altLang="en-US" sz="2200" dirty="0">
                <a:solidFill>
                  <a:srgbClr val="00B0F0"/>
                </a:solidFill>
                <a:latin typeface="微软雅黑" panose="020B0503020204020204" charset="-122"/>
                <a:ea typeface="微软雅黑" panose="020B0503020204020204" charset="-122"/>
              </a:rPr>
              <a:t>通信建设工程类别划分</a:t>
            </a:r>
            <a:endParaRPr lang="zh-CN" altLang="en-US" sz="2200" dirty="0">
              <a:solidFill>
                <a:srgbClr val="00B0F0"/>
              </a:solidFill>
              <a:latin typeface="微软雅黑" panose="020B0503020204020204" charset="-122"/>
              <a:ea typeface="微软雅黑" panose="020B0503020204020204" charset="-122"/>
            </a:endParaRPr>
          </a:p>
          <a:p>
            <a:pPr marL="0" indent="0" algn="just">
              <a:lnSpc>
                <a:spcPct val="150000"/>
              </a:lnSpc>
              <a:buFont typeface="Arial" panose="020B0604020202020204" pitchFamily="34" charset="0"/>
              <a:buNone/>
            </a:pPr>
            <a:r>
              <a:rPr lang="zh-CN" altLang="en-US" sz="1575" dirty="0">
                <a:latin typeface="微软雅黑" panose="020B0503020204020204" charset="-122"/>
                <a:ea typeface="微软雅黑" panose="020B0503020204020204" charset="-122"/>
              </a:rPr>
              <a:t>        </a:t>
            </a:r>
            <a:r>
              <a:rPr lang="zh-CN" altLang="en-US" sz="1600" dirty="0">
                <a:latin typeface="微软雅黑" panose="020B0503020204020204" charset="-122"/>
                <a:ea typeface="微软雅黑" panose="020B0503020204020204" charset="-122"/>
              </a:rPr>
              <a:t>按照国家规定的标准，通信建设工程分别按照建设项目、单项工程划分为</a:t>
            </a:r>
            <a:r>
              <a:rPr lang="zh-CN" altLang="en-US" sz="1600" dirty="0">
                <a:solidFill>
                  <a:srgbClr val="FF0000"/>
                </a:solidFill>
                <a:latin typeface="微软雅黑" panose="020B0503020204020204" charset="-122"/>
                <a:ea typeface="微软雅黑" panose="020B0503020204020204" charset="-122"/>
              </a:rPr>
              <a:t>一类工程、二类工程、三类工程、四类工程</a:t>
            </a:r>
            <a:r>
              <a:rPr lang="zh-CN" altLang="en-US" sz="1600" dirty="0">
                <a:latin typeface="微软雅黑" panose="020B0503020204020204" charset="-122"/>
                <a:ea typeface="微软雅黑" panose="020B0503020204020204" charset="-122"/>
              </a:rPr>
              <a:t>。</a:t>
            </a:r>
            <a:endParaRPr lang="zh-CN" altLang="en-US" sz="1600" dirty="0">
              <a:latin typeface="微软雅黑" panose="020B0503020204020204" charset="-122"/>
              <a:ea typeface="微软雅黑" panose="020B0503020204020204" charset="-122"/>
            </a:endParaRPr>
          </a:p>
        </p:txBody>
      </p:sp>
      <p:pic>
        <p:nvPicPr>
          <p:cNvPr id="8" name="图片 7"/>
          <p:cNvPicPr>
            <a:picLocks noChangeAspect="1"/>
          </p:cNvPicPr>
          <p:nvPr/>
        </p:nvPicPr>
        <p:blipFill>
          <a:blip r:embed="rId2"/>
          <a:stretch>
            <a:fillRect/>
          </a:stretch>
        </p:blipFill>
        <p:spPr>
          <a:xfrm>
            <a:off x="3428479" y="1045742"/>
            <a:ext cx="4654412" cy="3606899"/>
          </a:xfrm>
          <a:prstGeom prst="rect">
            <a:avLst/>
          </a:prstGeom>
        </p:spPr>
      </p:pic>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34035"/>
          </a:xfrm>
          <a:prstGeom prst="rect">
            <a:avLst/>
          </a:prstGeom>
          <a:noFill/>
        </p:spPr>
        <p:txBody>
          <a:bodyPr wrap="square" rtlCol="0">
            <a:spAutoFit/>
          </a:bodyPr>
          <a:lstStyle/>
          <a:p>
            <a:pPr>
              <a:lnSpc>
                <a:spcPct val="120000"/>
              </a:lnSpc>
            </a:pPr>
            <a:r>
              <a:rPr lang="en-US" altLang="zh-CN" sz="2400" dirty="0" err="1">
                <a:solidFill>
                  <a:schemeClr val="tx1">
                    <a:lumMod val="75000"/>
                    <a:lumOff val="25000"/>
                  </a:schemeClr>
                </a:solidFill>
                <a:latin typeface="微软雅黑" panose="020B0503020204020204" charset="-122"/>
                <a:ea typeface="微软雅黑" panose="020B0503020204020204" charset="-122"/>
                <a:sym typeface="+mn-ea"/>
              </a:rPr>
              <a:t>通信</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工程建设</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8" name="图片 7"/>
          <p:cNvPicPr>
            <a:picLocks noChangeAspect="1"/>
          </p:cNvPicPr>
          <p:nvPr/>
        </p:nvPicPr>
        <p:blipFill>
          <a:blip r:embed="rId2"/>
          <a:stretch>
            <a:fillRect/>
          </a:stretch>
        </p:blipFill>
        <p:spPr>
          <a:xfrm>
            <a:off x="1075199" y="1831743"/>
            <a:ext cx="7895801" cy="2920495"/>
          </a:xfrm>
          <a:prstGeom prst="rect">
            <a:avLst/>
          </a:prstGeom>
        </p:spPr>
      </p:pic>
      <p:sp>
        <p:nvSpPr>
          <p:cNvPr id="9" name="文本框 8"/>
          <p:cNvSpPr txBox="1"/>
          <p:nvPr/>
        </p:nvSpPr>
        <p:spPr>
          <a:xfrm>
            <a:off x="548159" y="1030824"/>
            <a:ext cx="3024336" cy="742254"/>
          </a:xfrm>
          <a:prstGeom prst="rect">
            <a:avLst/>
          </a:prstGeom>
          <a:noFill/>
        </p:spPr>
        <p:txBody>
          <a:bodyPr wrap="square" rtlCol="0">
            <a:spAutoFit/>
          </a:bodyPr>
          <a:lstStyle/>
          <a:p>
            <a:pPr>
              <a:lnSpc>
                <a:spcPct val="150000"/>
              </a:lnSpc>
            </a:pPr>
            <a:r>
              <a:rPr kumimoji="1" lang="zh-CN" altLang="en-US" sz="1495" dirty="0">
                <a:latin typeface="微软雅黑" panose="020B0503020204020204" charset="-122"/>
                <a:ea typeface="微软雅黑" panose="020B0503020204020204" charset="-122"/>
                <a:cs typeface="微软雅黑" panose="020B0503020204020204" charset="-122"/>
                <a:sym typeface="+mn-ea"/>
              </a:rPr>
              <a:t>二、按照单项工程划分</a:t>
            </a:r>
            <a:endParaRPr kumimoji="1" lang="en-US" altLang="zh-CN" sz="1495" dirty="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kumimoji="1" lang="zh-CN" altLang="en-US" sz="1495" dirty="0">
                <a:latin typeface="微软雅黑" panose="020B0503020204020204" charset="-122"/>
                <a:ea typeface="微软雅黑" panose="020B0503020204020204" charset="-122"/>
                <a:cs typeface="微软雅黑" panose="020B0503020204020204" charset="-122"/>
                <a:sym typeface="+mn-ea"/>
              </a:rPr>
              <a:t>（</a:t>
            </a:r>
            <a:r>
              <a:rPr kumimoji="1" lang="en-US" altLang="zh-CN" sz="1495" dirty="0">
                <a:latin typeface="微软雅黑" panose="020B0503020204020204" charset="-122"/>
                <a:ea typeface="微软雅黑" panose="020B0503020204020204" charset="-122"/>
                <a:cs typeface="微软雅黑" panose="020B0503020204020204" charset="-122"/>
                <a:sym typeface="+mn-ea"/>
              </a:rPr>
              <a:t>1</a:t>
            </a:r>
            <a:r>
              <a:rPr kumimoji="1" lang="zh-CN" altLang="en-US" sz="1495" dirty="0">
                <a:latin typeface="微软雅黑" panose="020B0503020204020204" charset="-122"/>
                <a:ea typeface="微软雅黑" panose="020B0503020204020204" charset="-122"/>
                <a:cs typeface="微软雅黑" panose="020B0503020204020204" charset="-122"/>
                <a:sym typeface="+mn-ea"/>
              </a:rPr>
              <a:t>）通信线路工程类别划分</a:t>
            </a:r>
            <a:endParaRPr kumimoji="1" lang="zh-CN" altLang="en-US" sz="1495" dirty="0">
              <a:latin typeface="微软雅黑" panose="020B0503020204020204" charset="-122"/>
              <a:ea typeface="微软雅黑" panose="020B0503020204020204" charset="-122"/>
              <a:cs typeface="微软雅黑" panose="020B0503020204020204" charset="-122"/>
              <a:sym typeface="+mn-ea"/>
            </a:endParaRPr>
          </a:p>
        </p:txBody>
      </p:sp>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34035"/>
          </a:xfrm>
          <a:prstGeom prst="rect">
            <a:avLst/>
          </a:prstGeom>
          <a:noFill/>
        </p:spPr>
        <p:txBody>
          <a:bodyPr wrap="square" rtlCol="0">
            <a:spAutoFit/>
          </a:bodyPr>
          <a:lstStyle/>
          <a:p>
            <a:pPr>
              <a:lnSpc>
                <a:spcPct val="120000"/>
              </a:lnSpc>
            </a:pPr>
            <a:r>
              <a:rPr lang="en-US" altLang="zh-CN" sz="2400" dirty="0" err="1">
                <a:solidFill>
                  <a:schemeClr val="tx1">
                    <a:lumMod val="75000"/>
                    <a:lumOff val="25000"/>
                  </a:schemeClr>
                </a:solidFill>
                <a:latin typeface="微软雅黑" panose="020B0503020204020204" charset="-122"/>
                <a:ea typeface="微软雅黑" panose="020B0503020204020204" charset="-122"/>
                <a:sym typeface="+mn-ea"/>
              </a:rPr>
              <a:t>通信</a:t>
            </a:r>
            <a:r>
              <a:rPr lang="zh-CN" altLang="en-US" sz="2400" dirty="0">
                <a:solidFill>
                  <a:schemeClr val="tx1">
                    <a:lumMod val="75000"/>
                    <a:lumOff val="25000"/>
                  </a:schemeClr>
                </a:solidFill>
                <a:latin typeface="微软雅黑" panose="020B0503020204020204" charset="-122"/>
                <a:ea typeface="微软雅黑" panose="020B0503020204020204" charset="-122"/>
                <a:sym typeface="+mn-ea"/>
              </a:rPr>
              <a:t>工程建设</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6" name="图片 5"/>
          <p:cNvPicPr>
            <a:picLocks noChangeAspect="1"/>
          </p:cNvPicPr>
          <p:nvPr/>
        </p:nvPicPr>
        <p:blipFill>
          <a:blip r:embed="rId2"/>
          <a:stretch>
            <a:fillRect/>
          </a:stretch>
        </p:blipFill>
        <p:spPr>
          <a:xfrm>
            <a:off x="724379" y="1473820"/>
            <a:ext cx="8246621" cy="3580636"/>
          </a:xfrm>
          <a:prstGeom prst="rect">
            <a:avLst/>
          </a:prstGeom>
        </p:spPr>
      </p:pic>
      <p:sp>
        <p:nvSpPr>
          <p:cNvPr id="9" name="文本框 8"/>
          <p:cNvSpPr txBox="1"/>
          <p:nvPr/>
        </p:nvSpPr>
        <p:spPr>
          <a:xfrm>
            <a:off x="548159" y="1030824"/>
            <a:ext cx="3024336" cy="396968"/>
          </a:xfrm>
          <a:prstGeom prst="rect">
            <a:avLst/>
          </a:prstGeom>
          <a:noFill/>
        </p:spPr>
        <p:txBody>
          <a:bodyPr wrap="square" rtlCol="0">
            <a:spAutoFit/>
          </a:bodyPr>
          <a:lstStyle/>
          <a:p>
            <a:pPr>
              <a:lnSpc>
                <a:spcPct val="150000"/>
              </a:lnSpc>
            </a:pPr>
            <a:r>
              <a:rPr kumimoji="1" lang="zh-CN" altLang="en-US" sz="1495" dirty="0">
                <a:latin typeface="微软雅黑" panose="020B0503020204020204" charset="-122"/>
                <a:ea typeface="微软雅黑" panose="020B0503020204020204" charset="-122"/>
                <a:cs typeface="微软雅黑" panose="020B0503020204020204" charset="-122"/>
                <a:sym typeface="+mn-ea"/>
              </a:rPr>
              <a:t>（</a:t>
            </a:r>
            <a:r>
              <a:rPr kumimoji="1" lang="en-US" altLang="zh-CN" sz="1495" dirty="0">
                <a:latin typeface="微软雅黑" panose="020B0503020204020204" charset="-122"/>
                <a:ea typeface="微软雅黑" panose="020B0503020204020204" charset="-122"/>
                <a:cs typeface="微软雅黑" panose="020B0503020204020204" charset="-122"/>
                <a:sym typeface="+mn-ea"/>
              </a:rPr>
              <a:t>2</a:t>
            </a:r>
            <a:r>
              <a:rPr kumimoji="1" lang="zh-CN" altLang="en-US" sz="1495" dirty="0">
                <a:latin typeface="微软雅黑" panose="020B0503020204020204" charset="-122"/>
                <a:ea typeface="微软雅黑" panose="020B0503020204020204" charset="-122"/>
                <a:cs typeface="微软雅黑" panose="020B0503020204020204" charset="-122"/>
                <a:sym typeface="+mn-ea"/>
              </a:rPr>
              <a:t>）通信设备安装工程类别划分</a:t>
            </a:r>
            <a:endParaRPr kumimoji="1" lang="zh-CN" altLang="en-US" sz="1495" dirty="0">
              <a:latin typeface="微软雅黑" panose="020B0503020204020204" charset="-122"/>
              <a:ea typeface="微软雅黑" panose="020B0503020204020204" charset="-122"/>
              <a:cs typeface="微软雅黑" panose="020B0503020204020204" charset="-122"/>
              <a:sym typeface="+mn-ea"/>
            </a:endParaRPr>
          </a:p>
        </p:txBody>
      </p:sp>
      <p:pic>
        <p:nvPicPr>
          <p:cNvPr id="3081" name="图片 5" descr="校徽"/>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622261" y="1383636"/>
            <a:ext cx="6328883" cy="2250424"/>
          </a:xfrm>
          <a:prstGeom prst="rect">
            <a:avLst/>
          </a:prstGeom>
          <a:noFill/>
        </p:spPr>
        <p:txBody>
          <a:bodyPr wrap="square" rtlCol="0">
            <a:spAutoFit/>
          </a:bodyPr>
          <a:lstStyle/>
          <a:p>
            <a:pPr>
              <a:lnSpc>
                <a:spcPct val="150000"/>
              </a:lnSpc>
            </a:pPr>
            <a:r>
              <a:rPr kumimoji="1" lang="en-US" altLang="zh-CN" sz="1870" dirty="0" smtClean="0">
                <a:latin typeface="微软雅黑" panose="020B0503020204020204" charset="-122"/>
                <a:ea typeface="微软雅黑" panose="020B0503020204020204" charset="-122"/>
                <a:cs typeface="微软雅黑" panose="020B0503020204020204" charset="-122"/>
                <a:sym typeface="+mn-ea"/>
              </a:rPr>
              <a:t>1.</a:t>
            </a:r>
            <a:r>
              <a:rPr kumimoji="1" lang="zh-CN" altLang="en-US" sz="1870" dirty="0" smtClean="0">
                <a:latin typeface="微软雅黑" panose="020B0503020204020204" charset="-122"/>
                <a:ea typeface="微软雅黑" panose="020B0503020204020204" charset="-122"/>
                <a:cs typeface="微软雅黑" panose="020B0503020204020204" charset="-122"/>
                <a:sym typeface="+mn-ea"/>
              </a:rPr>
              <a:t>通信工程企业资质的作用</a:t>
            </a:r>
            <a:endParaRPr kumimoji="1" lang="en-US" altLang="zh-CN" sz="1870" dirty="0" smtClean="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kumimoji="1" lang="en-US" altLang="zh-CN" sz="1495" dirty="0">
                <a:latin typeface="微软雅黑" panose="020B0503020204020204" charset="-122"/>
                <a:ea typeface="微软雅黑" panose="020B0503020204020204" charset="-122"/>
                <a:cs typeface="微软雅黑" panose="020B0503020204020204" charset="-122"/>
                <a:sym typeface="+mn-ea"/>
              </a:rPr>
              <a:t> </a:t>
            </a:r>
            <a:r>
              <a:rPr kumimoji="1" lang="en-US" altLang="zh-CN" sz="1495" dirty="0" smtClean="0">
                <a:latin typeface="微软雅黑" panose="020B0503020204020204" charset="-122"/>
                <a:ea typeface="微软雅黑" panose="020B0503020204020204" charset="-122"/>
                <a:cs typeface="微软雅黑" panose="020B0503020204020204" charset="-122"/>
                <a:sym typeface="+mn-ea"/>
              </a:rPr>
              <a:t>      </a:t>
            </a:r>
            <a:r>
              <a:rPr kumimoji="1" lang="zh-CN" altLang="en-US" sz="1495" dirty="0" smtClean="0">
                <a:latin typeface="微软雅黑" panose="020B0503020204020204" charset="-122"/>
                <a:ea typeface="微软雅黑" panose="020B0503020204020204" charset="-122"/>
                <a:cs typeface="微软雅黑" panose="020B0503020204020204" charset="-122"/>
                <a:sym typeface="+mn-ea"/>
              </a:rPr>
              <a:t>通信工程的建设需由相关资质的企业来承建，不同资质的承建单位可以承接不同的工程建设。</a:t>
            </a:r>
            <a:endParaRPr kumimoji="1" lang="en-US" altLang="zh-CN" sz="1495" dirty="0" smtClean="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kumimoji="1" lang="en-US" altLang="zh-CN" sz="1495" dirty="0">
                <a:latin typeface="微软雅黑" panose="020B0503020204020204" charset="-122"/>
                <a:ea typeface="微软雅黑" panose="020B0503020204020204" charset="-122"/>
                <a:cs typeface="微软雅黑" panose="020B0503020204020204" charset="-122"/>
                <a:sym typeface="+mn-ea"/>
              </a:rPr>
              <a:t> </a:t>
            </a:r>
            <a:r>
              <a:rPr kumimoji="1" lang="en-US" altLang="zh-CN" sz="1495" dirty="0" smtClean="0">
                <a:latin typeface="微软雅黑" panose="020B0503020204020204" charset="-122"/>
                <a:ea typeface="微软雅黑" panose="020B0503020204020204" charset="-122"/>
                <a:cs typeface="微软雅黑" panose="020B0503020204020204" charset="-122"/>
                <a:sym typeface="+mn-ea"/>
              </a:rPr>
              <a:t>      </a:t>
            </a:r>
            <a:r>
              <a:rPr kumimoji="1" lang="zh-CN" altLang="zh-CN" sz="1495" dirty="0" smtClean="0">
                <a:latin typeface="微软雅黑" panose="020B0503020204020204" charset="-122"/>
                <a:ea typeface="微软雅黑" panose="020B0503020204020204" charset="-122"/>
                <a:cs typeface="微软雅黑" panose="020B0503020204020204" charset="-122"/>
              </a:rPr>
              <a:t>通信</a:t>
            </a:r>
            <a:r>
              <a:rPr kumimoji="1" lang="zh-CN" altLang="zh-CN" sz="1495" dirty="0">
                <a:latin typeface="微软雅黑" panose="020B0503020204020204" charset="-122"/>
                <a:ea typeface="微软雅黑" panose="020B0503020204020204" charset="-122"/>
                <a:cs typeface="微软雅黑" panose="020B0503020204020204" charset="-122"/>
              </a:rPr>
              <a:t>工程施工总承包企业资质等级标准是对通信工程施工总承包资质的一种等级分类标准，按照企业资产、人员和工程业绩</a:t>
            </a:r>
            <a:r>
              <a:rPr kumimoji="1" lang="zh-CN" altLang="zh-CN" sz="1495" dirty="0">
                <a:solidFill>
                  <a:srgbClr val="FF0000"/>
                </a:solidFill>
                <a:latin typeface="微软雅黑" panose="020B0503020204020204" charset="-122"/>
                <a:ea typeface="微软雅黑" panose="020B0503020204020204" charset="-122"/>
                <a:cs typeface="微软雅黑" panose="020B0503020204020204" charset="-122"/>
              </a:rPr>
              <a:t>将企业</a:t>
            </a:r>
            <a:r>
              <a:rPr kumimoji="1" lang="zh-CN" altLang="zh-CN" sz="1495" dirty="0" smtClean="0">
                <a:solidFill>
                  <a:srgbClr val="FF0000"/>
                </a:solidFill>
                <a:latin typeface="微软雅黑" panose="020B0503020204020204" charset="-122"/>
                <a:ea typeface="微软雅黑" panose="020B0503020204020204" charset="-122"/>
                <a:cs typeface="微软雅黑" panose="020B0503020204020204" charset="-122"/>
              </a:rPr>
              <a:t>分为</a:t>
            </a:r>
            <a:r>
              <a:rPr kumimoji="1" lang="zh-CN" altLang="en-US" sz="1495" dirty="0" smtClean="0">
                <a:solidFill>
                  <a:srgbClr val="FF0000"/>
                </a:solidFill>
                <a:latin typeface="微软雅黑" panose="020B0503020204020204" charset="-122"/>
                <a:ea typeface="微软雅黑" panose="020B0503020204020204" charset="-122"/>
                <a:cs typeface="微软雅黑" panose="020B0503020204020204" charset="-122"/>
              </a:rPr>
              <a:t>一级、二级、</a:t>
            </a:r>
            <a:r>
              <a:rPr kumimoji="1" lang="zh-CN" altLang="zh-CN" sz="1495" dirty="0" smtClean="0">
                <a:solidFill>
                  <a:srgbClr val="FF0000"/>
                </a:solidFill>
                <a:latin typeface="微软雅黑" panose="020B0503020204020204" charset="-122"/>
                <a:ea typeface="微软雅黑" panose="020B0503020204020204" charset="-122"/>
                <a:cs typeface="微软雅黑" panose="020B0503020204020204" charset="-122"/>
              </a:rPr>
              <a:t>三</a:t>
            </a:r>
            <a:r>
              <a:rPr kumimoji="1" lang="zh-CN" altLang="zh-CN" sz="1495" dirty="0">
                <a:solidFill>
                  <a:srgbClr val="FF0000"/>
                </a:solidFill>
                <a:latin typeface="微软雅黑" panose="020B0503020204020204" charset="-122"/>
                <a:ea typeface="微软雅黑" panose="020B0503020204020204" charset="-122"/>
                <a:cs typeface="微软雅黑" panose="020B0503020204020204" charset="-122"/>
              </a:rPr>
              <a:t>级</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2" name="图片 1"/>
          <p:cNvPicPr>
            <a:picLocks noChangeAspect="1"/>
          </p:cNvPicPr>
          <p:nvPr/>
        </p:nvPicPr>
        <p:blipFill>
          <a:blip r:embed="rId2"/>
          <a:stretch>
            <a:fillRect/>
          </a:stretch>
        </p:blipFill>
        <p:spPr>
          <a:xfrm>
            <a:off x="7475115" y="2270022"/>
            <a:ext cx="1494539" cy="1159717"/>
          </a:xfrm>
          <a:prstGeom prst="rect">
            <a:avLst/>
          </a:prstGeom>
          <a:noFill/>
          <a:ln w="9525">
            <a:noFill/>
          </a:ln>
        </p:spPr>
      </p:pic>
      <p:pic>
        <p:nvPicPr>
          <p:cNvPr id="7" name="图片 6"/>
          <p:cNvPicPr/>
          <p:nvPr/>
        </p:nvPicPr>
        <p:blipFill>
          <a:blip r:embed="rId3"/>
          <a:stretch>
            <a:fillRect/>
          </a:stretch>
        </p:blipFill>
        <p:spPr>
          <a:xfrm>
            <a:off x="7475115" y="3697359"/>
            <a:ext cx="1494539" cy="1019922"/>
          </a:xfrm>
          <a:prstGeom prst="rect">
            <a:avLst/>
          </a:prstGeom>
        </p:spPr>
      </p:pic>
      <p:pic>
        <p:nvPicPr>
          <p:cNvPr id="8" name="图片 7"/>
          <p:cNvPicPr/>
          <p:nvPr/>
        </p:nvPicPr>
        <p:blipFill>
          <a:blip r:embed="rId4"/>
          <a:stretch>
            <a:fillRect/>
          </a:stretch>
        </p:blipFill>
        <p:spPr>
          <a:xfrm>
            <a:off x="7396742" y="976869"/>
            <a:ext cx="1494539" cy="1019922"/>
          </a:xfrm>
          <a:prstGeom prst="rect">
            <a:avLst/>
          </a:prstGeom>
        </p:spPr>
      </p:pic>
      <p:pic>
        <p:nvPicPr>
          <p:cNvPr id="3081" name="图片 5" descr="校徽"/>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908199" y="1067856"/>
            <a:ext cx="7930356" cy="3655616"/>
          </a:xfrm>
          <a:prstGeom prst="rect">
            <a:avLst/>
          </a:prstGeom>
          <a:noFill/>
        </p:spPr>
        <p:txBody>
          <a:bodyPr wrap="square" rtlCol="0">
            <a:spAutoFit/>
          </a:bodyPr>
          <a:lstStyle/>
          <a:p>
            <a:pPr>
              <a:lnSpc>
                <a:spcPct val="150000"/>
              </a:lnSpc>
            </a:pPr>
            <a:r>
              <a:rPr kumimoji="1" lang="en-US" altLang="zh-CN" sz="1870" dirty="0" smtClean="0">
                <a:latin typeface="微软雅黑" panose="020B0503020204020204" charset="-122"/>
                <a:ea typeface="微软雅黑" panose="020B0503020204020204" charset="-122"/>
                <a:cs typeface="微软雅黑" panose="020B0503020204020204" charset="-122"/>
                <a:sym typeface="+mn-ea"/>
              </a:rPr>
              <a:t>2.</a:t>
            </a:r>
            <a:r>
              <a:rPr kumimoji="1" lang="zh-CN" altLang="en-US" sz="1870" dirty="0" smtClean="0">
                <a:latin typeface="微软雅黑" panose="020B0503020204020204" charset="-122"/>
                <a:ea typeface="微软雅黑" panose="020B0503020204020204" charset="-122"/>
                <a:cs typeface="微软雅黑" panose="020B0503020204020204" charset="-122"/>
                <a:sym typeface="+mn-ea"/>
              </a:rPr>
              <a:t>通信工程企业资质的划分</a:t>
            </a:r>
            <a:endParaRPr kumimoji="1" lang="en-US" altLang="zh-CN" sz="1870" dirty="0" smtClean="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en-US" sz="1495" dirty="0" smtClean="0">
                <a:latin typeface="微软雅黑" panose="020B0503020204020204" charset="-122"/>
                <a:ea typeface="微软雅黑" panose="020B0503020204020204" charset="-122"/>
                <a:cs typeface="微软雅黑" panose="020B0503020204020204" charset="-122"/>
              </a:rPr>
              <a:t>根据</a:t>
            </a:r>
            <a:r>
              <a:rPr kumimoji="1" lang="zh-CN" altLang="zh-CN" sz="1495" dirty="0" smtClean="0">
                <a:latin typeface="微软雅黑" panose="020B0503020204020204" charset="-122"/>
                <a:ea typeface="微软雅黑" panose="020B0503020204020204" charset="-122"/>
                <a:cs typeface="微软雅黑" panose="020B0503020204020204" charset="-122"/>
              </a:rPr>
              <a:t>中华人民共和国</a:t>
            </a:r>
            <a:r>
              <a:rPr kumimoji="1" lang="zh-CN" altLang="zh-CN" sz="1495" dirty="0">
                <a:latin typeface="微软雅黑" panose="020B0503020204020204" charset="-122"/>
                <a:ea typeface="微软雅黑" panose="020B0503020204020204" charset="-122"/>
                <a:cs typeface="微软雅黑" panose="020B0503020204020204" charset="-122"/>
              </a:rPr>
              <a:t>住房和城乡建设部于</a:t>
            </a:r>
            <a:r>
              <a:rPr kumimoji="1" lang="en-US" altLang="zh-CN" sz="1495" dirty="0">
                <a:latin typeface="微软雅黑" panose="020B0503020204020204" charset="-122"/>
                <a:ea typeface="微软雅黑" panose="020B0503020204020204" charset="-122"/>
                <a:cs typeface="微软雅黑" panose="020B0503020204020204" charset="-122"/>
              </a:rPr>
              <a:t>2014</a:t>
            </a:r>
            <a:r>
              <a:rPr kumimoji="1" lang="zh-CN" altLang="zh-CN" sz="1495" dirty="0">
                <a:latin typeface="微软雅黑" panose="020B0503020204020204" charset="-122"/>
                <a:ea typeface="微软雅黑" panose="020B0503020204020204" charset="-122"/>
                <a:cs typeface="微软雅黑" panose="020B0503020204020204" charset="-122"/>
              </a:rPr>
              <a:t>年</a:t>
            </a:r>
            <a:r>
              <a:rPr kumimoji="1" lang="en-US" altLang="zh-CN" sz="1495" dirty="0">
                <a:latin typeface="微软雅黑" panose="020B0503020204020204" charset="-122"/>
                <a:ea typeface="微软雅黑" panose="020B0503020204020204" charset="-122"/>
                <a:cs typeface="微软雅黑" panose="020B0503020204020204" charset="-122"/>
              </a:rPr>
              <a:t>11</a:t>
            </a:r>
            <a:r>
              <a:rPr kumimoji="1" lang="zh-CN" altLang="zh-CN" sz="1495" dirty="0">
                <a:latin typeface="微软雅黑" panose="020B0503020204020204" charset="-122"/>
                <a:ea typeface="微软雅黑" panose="020B0503020204020204" charset="-122"/>
                <a:cs typeface="微软雅黑" panose="020B0503020204020204" charset="-122"/>
              </a:rPr>
              <a:t>月</a:t>
            </a:r>
            <a:r>
              <a:rPr kumimoji="1" lang="en-US" altLang="zh-CN" sz="1495" dirty="0">
                <a:latin typeface="微软雅黑" panose="020B0503020204020204" charset="-122"/>
                <a:ea typeface="微软雅黑" panose="020B0503020204020204" charset="-122"/>
                <a:cs typeface="微软雅黑" panose="020B0503020204020204" charset="-122"/>
              </a:rPr>
              <a:t>6</a:t>
            </a:r>
            <a:r>
              <a:rPr kumimoji="1" lang="zh-CN" altLang="zh-CN" sz="1495" dirty="0">
                <a:latin typeface="微软雅黑" panose="020B0503020204020204" charset="-122"/>
                <a:ea typeface="微软雅黑" panose="020B0503020204020204" charset="-122"/>
                <a:cs typeface="微软雅黑" panose="020B0503020204020204" charset="-122"/>
              </a:rPr>
              <a:t>日通过的《建筑业企业资质标准》（建市</a:t>
            </a:r>
            <a:r>
              <a:rPr kumimoji="1" lang="en-US" altLang="zh-CN" sz="1495" dirty="0">
                <a:latin typeface="微软雅黑" panose="020B0503020204020204" charset="-122"/>
                <a:ea typeface="微软雅黑" panose="020B0503020204020204" charset="-122"/>
                <a:cs typeface="微软雅黑" panose="020B0503020204020204" charset="-122"/>
              </a:rPr>
              <a:t>[2014]159</a:t>
            </a:r>
            <a:r>
              <a:rPr kumimoji="1" lang="zh-CN" altLang="zh-CN" sz="1495" dirty="0">
                <a:latin typeface="微软雅黑" panose="020B0503020204020204" charset="-122"/>
                <a:ea typeface="微软雅黑" panose="020B0503020204020204" charset="-122"/>
                <a:cs typeface="微软雅黑" panose="020B0503020204020204" charset="-122"/>
              </a:rPr>
              <a:t>号）的第</a:t>
            </a:r>
            <a:r>
              <a:rPr kumimoji="1" lang="en-US" altLang="zh-CN" sz="1495" dirty="0">
                <a:latin typeface="微软雅黑" panose="020B0503020204020204" charset="-122"/>
                <a:ea typeface="微软雅黑" panose="020B0503020204020204" charset="-122"/>
                <a:cs typeface="微软雅黑" panose="020B0503020204020204" charset="-122"/>
              </a:rPr>
              <a:t>11</a:t>
            </a:r>
            <a:r>
              <a:rPr kumimoji="1" lang="zh-CN" altLang="zh-CN" sz="1495" dirty="0" smtClean="0">
                <a:latin typeface="微软雅黑" panose="020B0503020204020204" charset="-122"/>
                <a:ea typeface="微软雅黑" panose="020B0503020204020204" charset="-122"/>
                <a:cs typeface="微软雅黑" panose="020B0503020204020204" charset="-122"/>
              </a:rPr>
              <a:t>章节</a:t>
            </a:r>
            <a:r>
              <a:rPr kumimoji="1" lang="zh-CN" altLang="en-US" sz="1495" dirty="0" smtClean="0">
                <a:latin typeface="微软雅黑" panose="020B0503020204020204" charset="-122"/>
                <a:ea typeface="微软雅黑" panose="020B0503020204020204" charset="-122"/>
                <a:cs typeface="微软雅黑" panose="020B0503020204020204" charset="-122"/>
              </a:rPr>
              <a:t>中的内容，</a:t>
            </a:r>
            <a:r>
              <a:rPr kumimoji="1" lang="zh-CN" altLang="zh-CN" sz="1495" dirty="0">
                <a:latin typeface="微软雅黑" panose="020B0503020204020204" charset="-122"/>
                <a:ea typeface="微软雅黑" panose="020B0503020204020204" charset="-122"/>
                <a:cs typeface="微软雅黑" panose="020B0503020204020204" charset="-122"/>
              </a:rPr>
              <a:t>通信工程施工总承包资质分为一级、二级、三级。</a:t>
            </a:r>
            <a:endParaRPr kumimoji="1" lang="en-US" altLang="zh-CN" sz="1495" dirty="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kumimoji="1" lang="en-US" altLang="zh-CN" sz="1495" dirty="0">
                <a:latin typeface="微软雅黑" panose="020B0503020204020204" charset="-122"/>
                <a:ea typeface="微软雅黑" panose="020B0503020204020204" charset="-122"/>
                <a:cs typeface="微软雅黑" panose="020B0503020204020204" charset="-122"/>
                <a:sym typeface="+mn-ea"/>
              </a:rPr>
              <a:t>       </a:t>
            </a:r>
            <a:r>
              <a:rPr kumimoji="1" lang="zh-CN" altLang="en-US" sz="1495" dirty="0" smtClean="0">
                <a:solidFill>
                  <a:srgbClr val="FF0000"/>
                </a:solidFill>
                <a:latin typeface="微软雅黑" panose="020B0503020204020204" charset="-122"/>
                <a:ea typeface="微软雅黑" panose="020B0503020204020204" charset="-122"/>
                <a:cs typeface="微软雅黑" panose="020B0503020204020204" charset="-122"/>
                <a:sym typeface="+mn-ea"/>
              </a:rPr>
              <a:t>一级资质</a:t>
            </a:r>
            <a:r>
              <a:rPr kumimoji="1" lang="zh-CN" altLang="en-US" sz="1495" dirty="0" smtClean="0">
                <a:latin typeface="微软雅黑" panose="020B0503020204020204" charset="-122"/>
                <a:ea typeface="微软雅黑" panose="020B0503020204020204" charset="-122"/>
                <a:cs typeface="微软雅黑" panose="020B0503020204020204" charset="-122"/>
                <a:sym typeface="+mn-ea"/>
              </a:rPr>
              <a:t>标准要求：</a:t>
            </a:r>
            <a:endParaRPr kumimoji="1" lang="en-US" altLang="zh-CN" sz="1495" dirty="0" smtClean="0">
              <a:latin typeface="微软雅黑" panose="020B0503020204020204" charset="-122"/>
              <a:ea typeface="微软雅黑" panose="020B0503020204020204" charset="-122"/>
              <a:cs typeface="微软雅黑" panose="020B0503020204020204" charset="-122"/>
              <a:sym typeface="+mn-ea"/>
            </a:endParaRPr>
          </a:p>
          <a:p>
            <a:pPr indent="379730">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smtClean="0">
                <a:latin typeface="微软雅黑" panose="020B0503020204020204" charset="-122"/>
                <a:ea typeface="微软雅黑" panose="020B0503020204020204" charset="-122"/>
                <a:cs typeface="微软雅黑" panose="020B0503020204020204" charset="-122"/>
              </a:rPr>
              <a:t>1</a:t>
            </a: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zh-CN" altLang="zh-CN" sz="1495" dirty="0" smtClean="0">
                <a:latin typeface="微软雅黑" panose="020B0503020204020204" charset="-122"/>
                <a:ea typeface="微软雅黑" panose="020B0503020204020204" charset="-122"/>
                <a:cs typeface="微软雅黑" panose="020B0503020204020204" charset="-122"/>
              </a:rPr>
              <a:t>企业</a:t>
            </a:r>
            <a:r>
              <a:rPr kumimoji="1" lang="zh-CN" altLang="zh-CN" sz="1495" dirty="0">
                <a:latin typeface="微软雅黑" panose="020B0503020204020204" charset="-122"/>
                <a:ea typeface="微软雅黑" panose="020B0503020204020204" charset="-122"/>
                <a:cs typeface="微软雅黑" panose="020B0503020204020204" charset="-122"/>
              </a:rPr>
              <a:t>净资产在</a:t>
            </a:r>
            <a:r>
              <a:rPr kumimoji="1" lang="en-US" altLang="zh-CN" sz="1495" dirty="0">
                <a:latin typeface="微软雅黑" panose="020B0503020204020204" charset="-122"/>
                <a:ea typeface="微软雅黑" panose="020B0503020204020204" charset="-122"/>
                <a:cs typeface="微软雅黑" panose="020B0503020204020204" charset="-122"/>
              </a:rPr>
              <a:t>8000</a:t>
            </a:r>
            <a:r>
              <a:rPr kumimoji="1" lang="zh-CN" altLang="zh-CN" sz="1495" dirty="0">
                <a:latin typeface="微软雅黑" panose="020B0503020204020204" charset="-122"/>
                <a:ea typeface="微软雅黑" panose="020B0503020204020204" charset="-122"/>
                <a:cs typeface="微软雅黑" panose="020B0503020204020204" charset="-122"/>
              </a:rPr>
              <a:t>万元以上</a:t>
            </a:r>
            <a:endParaRPr kumimoji="1" lang="en-US" altLang="zh-CN" sz="1495" dirty="0">
              <a:latin typeface="微软雅黑" panose="020B0503020204020204" charset="-122"/>
              <a:ea typeface="微软雅黑" panose="020B0503020204020204" charset="-122"/>
              <a:cs typeface="微软雅黑" panose="020B0503020204020204" charset="-122"/>
            </a:endParaRPr>
          </a:p>
          <a:p>
            <a:pPr indent="379730">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smtClean="0">
                <a:latin typeface="微软雅黑" panose="020B0503020204020204" charset="-122"/>
                <a:ea typeface="微软雅黑" panose="020B0503020204020204" charset="-122"/>
                <a:cs typeface="微软雅黑" panose="020B0503020204020204" charset="-122"/>
              </a:rPr>
              <a:t>2</a:t>
            </a: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zh-CN" altLang="zh-CN" sz="1495" dirty="0" smtClean="0">
                <a:latin typeface="微软雅黑" panose="020B0503020204020204" charset="-122"/>
                <a:ea typeface="微软雅黑" panose="020B0503020204020204" charset="-122"/>
                <a:cs typeface="微软雅黑" panose="020B0503020204020204" charset="-122"/>
              </a:rPr>
              <a:t>通信</a:t>
            </a:r>
            <a:r>
              <a:rPr kumimoji="1" lang="zh-CN" altLang="zh-CN" sz="1495" dirty="0">
                <a:latin typeface="微软雅黑" panose="020B0503020204020204" charset="-122"/>
                <a:ea typeface="微软雅黑" panose="020B0503020204020204" charset="-122"/>
                <a:cs typeface="微软雅黑" panose="020B0503020204020204" charset="-122"/>
              </a:rPr>
              <a:t>与广电工程专业一级注册建造师不少于</a:t>
            </a:r>
            <a:r>
              <a:rPr kumimoji="1" lang="en-US" altLang="zh-CN" sz="1495" dirty="0">
                <a:latin typeface="微软雅黑" panose="020B0503020204020204" charset="-122"/>
                <a:ea typeface="微软雅黑" panose="020B0503020204020204" charset="-122"/>
                <a:cs typeface="微软雅黑" panose="020B0503020204020204" charset="-122"/>
              </a:rPr>
              <a:t>15 </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通信工程相关专业中级以上职称人员不少于</a:t>
            </a:r>
            <a:r>
              <a:rPr kumimoji="1" lang="en-US" altLang="zh-CN" sz="1495" dirty="0">
                <a:latin typeface="微软雅黑" panose="020B0503020204020204" charset="-122"/>
                <a:ea typeface="微软雅黑" panose="020B0503020204020204" charset="-122"/>
                <a:cs typeface="微软雅黑" panose="020B0503020204020204" charset="-122"/>
              </a:rPr>
              <a:t> 60 </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持有岗位证书的施工现场管理人员不少于</a:t>
            </a:r>
            <a:r>
              <a:rPr kumimoji="1" lang="en-US" altLang="zh-CN" sz="1495" dirty="0">
                <a:latin typeface="微软雅黑" panose="020B0503020204020204" charset="-122"/>
                <a:ea typeface="微软雅黑" panose="020B0503020204020204" charset="-122"/>
                <a:cs typeface="微软雅黑" panose="020B0503020204020204" charset="-122"/>
              </a:rPr>
              <a:t> 50</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经考核或培训合格的中级工以上技术工人不少于</a:t>
            </a:r>
            <a:r>
              <a:rPr kumimoji="1" lang="en-US" altLang="zh-CN" sz="1495" dirty="0">
                <a:latin typeface="微软雅黑" panose="020B0503020204020204" charset="-122"/>
                <a:ea typeface="微软雅黑" panose="020B0503020204020204" charset="-122"/>
                <a:cs typeface="微软雅黑" panose="020B0503020204020204" charset="-122"/>
              </a:rPr>
              <a:t> 120 </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indent="379730">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smtClean="0">
                <a:latin typeface="微软雅黑" panose="020B0503020204020204" charset="-122"/>
                <a:ea typeface="微软雅黑" panose="020B0503020204020204" charset="-122"/>
                <a:cs typeface="微软雅黑" panose="020B0503020204020204" charset="-122"/>
              </a:rPr>
              <a:t>3</a:t>
            </a: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zh-CN" altLang="zh-CN" sz="1495" dirty="0" smtClean="0">
                <a:latin typeface="微软雅黑" panose="020B0503020204020204" charset="-122"/>
                <a:ea typeface="微软雅黑" panose="020B0503020204020204" charset="-122"/>
                <a:cs typeface="微软雅黑" panose="020B0503020204020204" charset="-122"/>
              </a:rPr>
              <a:t>近</a:t>
            </a: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en-US" altLang="zh-CN" sz="1495" dirty="0">
                <a:latin typeface="微软雅黑" panose="020B0503020204020204" charset="-122"/>
                <a:ea typeface="微软雅黑" panose="020B0503020204020204" charset="-122"/>
                <a:cs typeface="微软雅黑" panose="020B0503020204020204" charset="-122"/>
              </a:rPr>
              <a:t>5 </a:t>
            </a:r>
            <a:r>
              <a:rPr kumimoji="1" lang="zh-CN" altLang="zh-CN" sz="1495" dirty="0">
                <a:latin typeface="微软雅黑" panose="020B0503020204020204" charset="-122"/>
                <a:ea typeface="微软雅黑" panose="020B0503020204020204" charset="-122"/>
                <a:cs typeface="微软雅黑" panose="020B0503020204020204" charset="-122"/>
              </a:rPr>
              <a:t>年承担过下列</a:t>
            </a:r>
            <a:r>
              <a:rPr kumimoji="1" lang="en-US" altLang="zh-CN" sz="1495" dirty="0">
                <a:latin typeface="微软雅黑" panose="020B0503020204020204" charset="-122"/>
                <a:ea typeface="微软雅黑" panose="020B0503020204020204" charset="-122"/>
                <a:cs typeface="微软雅黑" panose="020B0503020204020204" charset="-122"/>
              </a:rPr>
              <a:t> 7 </a:t>
            </a:r>
            <a:r>
              <a:rPr kumimoji="1" lang="zh-CN" altLang="zh-CN" sz="1495" dirty="0">
                <a:latin typeface="微软雅黑" panose="020B0503020204020204" charset="-122"/>
                <a:ea typeface="微软雅黑" panose="020B0503020204020204" charset="-122"/>
                <a:cs typeface="微软雅黑" panose="020B0503020204020204" charset="-122"/>
              </a:rPr>
              <a:t>类中的</a:t>
            </a:r>
            <a:r>
              <a:rPr kumimoji="1" lang="en-US" altLang="zh-CN" sz="1495" dirty="0">
                <a:latin typeface="微软雅黑" panose="020B0503020204020204" charset="-122"/>
                <a:ea typeface="微软雅黑" panose="020B0503020204020204" charset="-122"/>
                <a:cs typeface="微软雅黑" panose="020B0503020204020204" charset="-122"/>
              </a:rPr>
              <a:t> 5 </a:t>
            </a:r>
            <a:r>
              <a:rPr kumimoji="1" lang="zh-CN" altLang="zh-CN" sz="1495" dirty="0">
                <a:latin typeface="微软雅黑" panose="020B0503020204020204" charset="-122"/>
                <a:ea typeface="微软雅黑" panose="020B0503020204020204" charset="-122"/>
                <a:cs typeface="微软雅黑" panose="020B0503020204020204" charset="-122"/>
              </a:rPr>
              <a:t>类工程的施工，工程质量合格</a:t>
            </a:r>
            <a:r>
              <a:rPr kumimoji="1" lang="zh-CN" altLang="en-US" sz="1495" dirty="0">
                <a:latin typeface="微软雅黑" panose="020B0503020204020204" charset="-122"/>
                <a:ea typeface="微软雅黑" panose="020B0503020204020204" charset="-122"/>
                <a:cs typeface="微软雅黑" panose="020B0503020204020204" charset="-122"/>
              </a:rPr>
              <a:t>：</a:t>
            </a:r>
            <a:endParaRPr kumimoji="1" lang="en-US" altLang="zh-CN" sz="149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908199" y="914046"/>
            <a:ext cx="7930356" cy="4376198"/>
          </a:xfrm>
          <a:prstGeom prst="rect">
            <a:avLst/>
          </a:prstGeom>
          <a:noFill/>
        </p:spPr>
        <p:txBody>
          <a:bodyPr wrap="square" rtlCol="0">
            <a:spAutoFit/>
          </a:bodyPr>
          <a:lstStyle/>
          <a:p>
            <a:pPr>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        ①</a:t>
            </a:r>
            <a:r>
              <a:rPr kumimoji="1" lang="zh-CN" altLang="zh-CN" sz="1495" dirty="0" smtClean="0">
                <a:latin typeface="微软雅黑" panose="020B0503020204020204" charset="-122"/>
                <a:ea typeface="微软雅黑" panose="020B0503020204020204" charset="-122"/>
                <a:cs typeface="微软雅黑" panose="020B0503020204020204" charset="-122"/>
              </a:rPr>
              <a:t>年</a:t>
            </a:r>
            <a:r>
              <a:rPr kumimoji="1" lang="zh-CN" altLang="zh-CN" sz="1495" dirty="0">
                <a:latin typeface="微软雅黑" panose="020B0503020204020204" charset="-122"/>
                <a:ea typeface="微软雅黑" panose="020B0503020204020204" charset="-122"/>
                <a:cs typeface="微软雅黑" panose="020B0503020204020204" charset="-122"/>
              </a:rPr>
              <a:t>完成</a:t>
            </a:r>
            <a:r>
              <a:rPr kumimoji="1" lang="en-US" altLang="zh-CN" sz="1495" dirty="0">
                <a:latin typeface="微软雅黑" panose="020B0503020204020204" charset="-122"/>
                <a:ea typeface="微软雅黑" panose="020B0503020204020204" charset="-122"/>
                <a:cs typeface="微软雅黑" panose="020B0503020204020204" charset="-122"/>
              </a:rPr>
              <a:t> 800 </a:t>
            </a:r>
            <a:r>
              <a:rPr kumimoji="1" lang="zh-CN" altLang="zh-CN" sz="1495" dirty="0">
                <a:latin typeface="微软雅黑" panose="020B0503020204020204" charset="-122"/>
                <a:ea typeface="微软雅黑" panose="020B0503020204020204" charset="-122"/>
                <a:cs typeface="微软雅黑" panose="020B0503020204020204" charset="-122"/>
              </a:rPr>
              <a:t>公里以上的长途光缆线路或</a:t>
            </a:r>
            <a:r>
              <a:rPr kumimoji="1" lang="en-US" altLang="zh-CN" sz="1495" dirty="0">
                <a:latin typeface="微软雅黑" panose="020B0503020204020204" charset="-122"/>
                <a:ea typeface="微软雅黑" panose="020B0503020204020204" charset="-122"/>
                <a:cs typeface="微软雅黑" panose="020B0503020204020204" charset="-122"/>
              </a:rPr>
              <a:t> 2000</a:t>
            </a:r>
            <a:r>
              <a:rPr kumimoji="1" lang="zh-CN" altLang="zh-CN" sz="1495" dirty="0">
                <a:latin typeface="微软雅黑" panose="020B0503020204020204" charset="-122"/>
                <a:ea typeface="微软雅黑" panose="020B0503020204020204" charset="-122"/>
                <a:cs typeface="微软雅黑" panose="020B0503020204020204" charset="-122"/>
              </a:rPr>
              <a:t>条公里以上的本地网光缆线路或</a:t>
            </a:r>
            <a:r>
              <a:rPr kumimoji="1" lang="en-US" altLang="zh-CN" sz="1495" dirty="0">
                <a:latin typeface="微软雅黑" panose="020B0503020204020204" charset="-122"/>
                <a:ea typeface="微软雅黑" panose="020B0503020204020204" charset="-122"/>
                <a:cs typeface="微软雅黑" panose="020B0503020204020204" charset="-122"/>
              </a:rPr>
              <a:t> 1000 </a:t>
            </a:r>
            <a:r>
              <a:rPr kumimoji="1" lang="zh-CN" altLang="zh-CN" sz="1495" dirty="0">
                <a:latin typeface="微软雅黑" panose="020B0503020204020204" charset="-122"/>
                <a:ea typeface="微软雅黑" panose="020B0503020204020204" charset="-122"/>
                <a:cs typeface="微软雅黑" panose="020B0503020204020204" charset="-122"/>
              </a:rPr>
              <a:t>孔公里以上通信管道工程或完成单个项目</a:t>
            </a:r>
            <a:r>
              <a:rPr kumimoji="1" lang="en-US" altLang="zh-CN" sz="1495" dirty="0">
                <a:latin typeface="微软雅黑" panose="020B0503020204020204" charset="-122"/>
                <a:ea typeface="微软雅黑" panose="020B0503020204020204" charset="-122"/>
                <a:cs typeface="微软雅黑" panose="020B0503020204020204" charset="-122"/>
              </a:rPr>
              <a:t> 300 </a:t>
            </a:r>
            <a:r>
              <a:rPr kumimoji="1" lang="zh-CN" altLang="zh-CN" sz="1495" dirty="0">
                <a:latin typeface="微软雅黑" panose="020B0503020204020204" charset="-122"/>
                <a:ea typeface="微软雅黑" panose="020B0503020204020204" charset="-122"/>
                <a:cs typeface="微软雅黑" panose="020B0503020204020204" charset="-122"/>
              </a:rPr>
              <a:t>公里以上的长途光缆线路工程；</a:t>
            </a:r>
            <a:endParaRPr kumimoji="1" lang="en-US" altLang="zh-CN" sz="1495" dirty="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sym typeface="+mn-ea"/>
              </a:rPr>
              <a:t>       </a:t>
            </a:r>
            <a:r>
              <a:rPr kumimoji="1" lang="zh-CN" altLang="zh-CN" sz="1495" dirty="0">
                <a:latin typeface="微软雅黑" panose="020B0503020204020204" charset="-122"/>
                <a:ea typeface="微软雅黑" panose="020B0503020204020204" charset="-122"/>
                <a:cs typeface="微软雅黑" panose="020B0503020204020204" charset="-122"/>
              </a:rPr>
              <a:t>②年完成网管、时钟、软交换、公务计费等业务层与控制层网元</a:t>
            </a:r>
            <a:r>
              <a:rPr kumimoji="1" lang="en-US" altLang="zh-CN" sz="1495" dirty="0">
                <a:latin typeface="微软雅黑" panose="020B0503020204020204" charset="-122"/>
                <a:ea typeface="微软雅黑" panose="020B0503020204020204" charset="-122"/>
                <a:cs typeface="微软雅黑" panose="020B0503020204020204" charset="-122"/>
              </a:rPr>
              <a:t> 30 </a:t>
            </a:r>
            <a:r>
              <a:rPr kumimoji="1" lang="zh-CN" altLang="zh-CN" sz="1495" dirty="0">
                <a:latin typeface="微软雅黑" panose="020B0503020204020204" charset="-122"/>
                <a:ea typeface="微软雅黑" panose="020B0503020204020204" charset="-122"/>
                <a:cs typeface="微软雅黑" panose="020B0503020204020204" charset="-122"/>
              </a:rPr>
              <a:t>个以上；</a:t>
            </a:r>
            <a:r>
              <a:rPr kumimoji="1" lang="zh-CN" altLang="en-US" sz="1495" dirty="0">
                <a:latin typeface="微软雅黑" panose="020B0503020204020204" charset="-122"/>
                <a:ea typeface="微软雅黑" panose="020B0503020204020204" charset="-122"/>
                <a:cs typeface="微软雅黑" panose="020B0503020204020204" charset="-122"/>
                <a:sym typeface="+mn-ea"/>
              </a:rPr>
              <a:t>①</a:t>
            </a:r>
            <a:r>
              <a:rPr kumimoji="1" lang="zh-CN" altLang="zh-CN" sz="1495" dirty="0">
                <a:latin typeface="微软雅黑" panose="020B0503020204020204" charset="-122"/>
                <a:ea typeface="微软雅黑" panose="020B0503020204020204" charset="-122"/>
                <a:cs typeface="微软雅黑" panose="020B0503020204020204" charset="-122"/>
              </a:rPr>
              <a:t>企业净资产在</a:t>
            </a:r>
            <a:r>
              <a:rPr kumimoji="1" lang="en-US" altLang="zh-CN" sz="1495" dirty="0">
                <a:latin typeface="微软雅黑" panose="020B0503020204020204" charset="-122"/>
                <a:ea typeface="微软雅黑" panose="020B0503020204020204" charset="-122"/>
                <a:cs typeface="微软雅黑" panose="020B0503020204020204" charset="-122"/>
              </a:rPr>
              <a:t>8000</a:t>
            </a:r>
            <a:r>
              <a:rPr kumimoji="1" lang="zh-CN" altLang="zh-CN" sz="1495" dirty="0">
                <a:latin typeface="微软雅黑" panose="020B0503020204020204" charset="-122"/>
                <a:ea typeface="微软雅黑" panose="020B0503020204020204" charset="-122"/>
                <a:cs typeface="微软雅黑" panose="020B0503020204020204" charset="-122"/>
              </a:rPr>
              <a:t>万元</a:t>
            </a:r>
            <a:r>
              <a:rPr kumimoji="1" lang="zh-CN" altLang="zh-CN" sz="1495" dirty="0" smtClean="0">
                <a:latin typeface="微软雅黑" panose="020B0503020204020204" charset="-122"/>
                <a:ea typeface="微软雅黑" panose="020B0503020204020204" charset="-122"/>
                <a:cs typeface="微软雅黑" panose="020B0503020204020204" charset="-122"/>
              </a:rPr>
              <a:t>以上</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③</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1000 </a:t>
            </a:r>
            <a:r>
              <a:rPr kumimoji="1" lang="zh-CN" altLang="zh-CN" sz="1495" dirty="0">
                <a:latin typeface="微软雅黑" panose="020B0503020204020204" charset="-122"/>
                <a:ea typeface="微软雅黑" panose="020B0503020204020204" charset="-122"/>
                <a:cs typeface="微软雅黑" panose="020B0503020204020204" charset="-122"/>
              </a:rPr>
              <a:t>个以上基站的移动通信工程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④</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1000 </a:t>
            </a:r>
            <a:r>
              <a:rPr kumimoji="1" lang="zh-CN" altLang="zh-CN" sz="1495" dirty="0">
                <a:latin typeface="微软雅黑" panose="020B0503020204020204" charset="-122"/>
                <a:ea typeface="微软雅黑" panose="020B0503020204020204" charset="-122"/>
                <a:cs typeface="微软雅黑" panose="020B0503020204020204" charset="-122"/>
              </a:rPr>
              <a:t>个基站或</a:t>
            </a:r>
            <a:r>
              <a:rPr kumimoji="1" lang="en-US" altLang="zh-CN" sz="1495" dirty="0">
                <a:latin typeface="微软雅黑" panose="020B0503020204020204" charset="-122"/>
                <a:ea typeface="微软雅黑" panose="020B0503020204020204" charset="-122"/>
                <a:cs typeface="微软雅黑" panose="020B0503020204020204" charset="-122"/>
              </a:rPr>
              <a:t> 5000 </a:t>
            </a:r>
            <a:r>
              <a:rPr kumimoji="1" lang="zh-CN" altLang="zh-CN" sz="1495" dirty="0">
                <a:latin typeface="微软雅黑" panose="020B0503020204020204" charset="-122"/>
                <a:ea typeface="微软雅黑" panose="020B0503020204020204" charset="-122"/>
                <a:cs typeface="微软雅黑" panose="020B0503020204020204" charset="-122"/>
              </a:rPr>
              <a:t>载频以上的移动通信网络优化工程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⑤</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500 </a:t>
            </a:r>
            <a:r>
              <a:rPr kumimoji="1" lang="zh-CN" altLang="zh-CN" sz="1495" dirty="0">
                <a:latin typeface="微软雅黑" panose="020B0503020204020204" charset="-122"/>
                <a:ea typeface="微软雅黑" panose="020B0503020204020204" charset="-122"/>
                <a:cs typeface="微软雅黑" panose="020B0503020204020204" charset="-122"/>
              </a:rPr>
              <a:t>端</a:t>
            </a:r>
            <a:r>
              <a:rPr kumimoji="1" lang="en-US" altLang="zh-CN" sz="1495" dirty="0">
                <a:latin typeface="微软雅黑" panose="020B0503020204020204" charset="-122"/>
                <a:ea typeface="微软雅黑" panose="020B0503020204020204" charset="-122"/>
                <a:cs typeface="微软雅黑" panose="020B0503020204020204" charset="-122"/>
              </a:rPr>
              <a:t> 155Mb/s </a:t>
            </a:r>
            <a:r>
              <a:rPr kumimoji="1" lang="zh-CN" altLang="zh-CN" sz="1495" dirty="0">
                <a:latin typeface="微软雅黑" panose="020B0503020204020204" charset="-122"/>
                <a:ea typeface="微软雅黑" panose="020B0503020204020204" charset="-122"/>
                <a:cs typeface="微软雅黑" panose="020B0503020204020204" charset="-122"/>
              </a:rPr>
              <a:t>以上或</a:t>
            </a:r>
            <a:r>
              <a:rPr kumimoji="1" lang="en-US" altLang="zh-CN" sz="1495" dirty="0">
                <a:latin typeface="微软雅黑" panose="020B0503020204020204" charset="-122"/>
                <a:ea typeface="微软雅黑" panose="020B0503020204020204" charset="-122"/>
                <a:cs typeface="微软雅黑" panose="020B0503020204020204" charset="-122"/>
              </a:rPr>
              <a:t> 50 </a:t>
            </a:r>
            <a:r>
              <a:rPr kumimoji="1" lang="zh-CN" altLang="zh-CN" sz="1495" dirty="0">
                <a:latin typeface="微软雅黑" panose="020B0503020204020204" charset="-122"/>
                <a:ea typeface="微软雅黑" panose="020B0503020204020204" charset="-122"/>
                <a:cs typeface="微软雅黑" panose="020B0503020204020204" charset="-122"/>
              </a:rPr>
              <a:t>端</a:t>
            </a:r>
            <a:r>
              <a:rPr kumimoji="1" lang="en-US" altLang="zh-CN" sz="1495" dirty="0">
                <a:latin typeface="微软雅黑" panose="020B0503020204020204" charset="-122"/>
                <a:ea typeface="微软雅黑" panose="020B0503020204020204" charset="-122"/>
                <a:cs typeface="微软雅黑" panose="020B0503020204020204" charset="-122"/>
              </a:rPr>
              <a:t> 2.5Gb/s</a:t>
            </a:r>
            <a:r>
              <a:rPr kumimoji="1" lang="zh-CN" altLang="zh-CN" sz="1495" dirty="0">
                <a:latin typeface="微软雅黑" panose="020B0503020204020204" charset="-122"/>
                <a:ea typeface="微软雅黑" panose="020B0503020204020204" charset="-122"/>
                <a:cs typeface="微软雅黑" panose="020B0503020204020204" charset="-122"/>
              </a:rPr>
              <a:t>以上或</a:t>
            </a:r>
            <a:r>
              <a:rPr kumimoji="1" lang="en-US" altLang="zh-CN" sz="1495" dirty="0">
                <a:latin typeface="微软雅黑" panose="020B0503020204020204" charset="-122"/>
                <a:ea typeface="微软雅黑" panose="020B0503020204020204" charset="-122"/>
                <a:cs typeface="微软雅黑" panose="020B0503020204020204" charset="-122"/>
              </a:rPr>
              <a:t> 20 </a:t>
            </a:r>
            <a:r>
              <a:rPr kumimoji="1" lang="zh-CN" altLang="zh-CN" sz="1495" dirty="0">
                <a:latin typeface="微软雅黑" panose="020B0503020204020204" charset="-122"/>
                <a:ea typeface="微软雅黑" panose="020B0503020204020204" charset="-122"/>
                <a:cs typeface="微软雅黑" panose="020B0503020204020204" charset="-122"/>
              </a:rPr>
              <a:t>端</a:t>
            </a:r>
            <a:r>
              <a:rPr kumimoji="1" lang="en-US" altLang="zh-CN" sz="1495" dirty="0">
                <a:latin typeface="微软雅黑" panose="020B0503020204020204" charset="-122"/>
                <a:ea typeface="微软雅黑" panose="020B0503020204020204" charset="-122"/>
                <a:cs typeface="微软雅黑" panose="020B0503020204020204" charset="-122"/>
              </a:rPr>
              <a:t> 10Gb/s </a:t>
            </a:r>
            <a:r>
              <a:rPr kumimoji="1" lang="zh-CN" altLang="zh-CN" sz="1495" dirty="0">
                <a:latin typeface="微软雅黑" panose="020B0503020204020204" charset="-122"/>
                <a:ea typeface="微软雅黑" panose="020B0503020204020204" charset="-122"/>
                <a:cs typeface="微软雅黑" panose="020B0503020204020204" charset="-122"/>
              </a:rPr>
              <a:t>以上传输设备的安装、调测工程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⑥</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1 </a:t>
            </a:r>
            <a:r>
              <a:rPr kumimoji="1" lang="zh-CN" altLang="zh-CN" sz="1495" dirty="0">
                <a:latin typeface="微软雅黑" panose="020B0503020204020204" charset="-122"/>
                <a:ea typeface="微软雅黑" panose="020B0503020204020204" charset="-122"/>
                <a:cs typeface="微软雅黑" panose="020B0503020204020204" charset="-122"/>
              </a:rPr>
              <a:t>个以上省际数据通信或业务与支撑系统，或</a:t>
            </a:r>
            <a:r>
              <a:rPr kumimoji="1" lang="en-US" altLang="zh-CN" sz="1495" dirty="0">
                <a:latin typeface="微软雅黑" panose="020B0503020204020204" charset="-122"/>
                <a:ea typeface="微软雅黑" panose="020B0503020204020204" charset="-122"/>
                <a:cs typeface="微软雅黑" panose="020B0503020204020204" charset="-122"/>
              </a:rPr>
              <a:t> 10 </a:t>
            </a:r>
            <a:r>
              <a:rPr kumimoji="1" lang="zh-CN" altLang="zh-CN" sz="1495" dirty="0">
                <a:latin typeface="微软雅黑" panose="020B0503020204020204" charset="-122"/>
                <a:ea typeface="微软雅黑" panose="020B0503020204020204" charset="-122"/>
                <a:cs typeface="微软雅黑" panose="020B0503020204020204" charset="-122"/>
              </a:rPr>
              <a:t>个以上城域数据通信或业务与支撑系统工程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⑦</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5 </a:t>
            </a:r>
            <a:r>
              <a:rPr kumimoji="1" lang="zh-CN" altLang="zh-CN" sz="1495" dirty="0">
                <a:latin typeface="微软雅黑" panose="020B0503020204020204" charset="-122"/>
                <a:ea typeface="微软雅黑" panose="020B0503020204020204" charset="-122"/>
                <a:cs typeface="微软雅黑" panose="020B0503020204020204" charset="-122"/>
              </a:rPr>
              <a:t>个以上地市级以上机房（含中心机房、枢纽楼、核心机房、</a:t>
            </a:r>
            <a:r>
              <a:rPr kumimoji="1" lang="en-US" altLang="zh-CN" sz="1495" dirty="0">
                <a:latin typeface="微软雅黑" panose="020B0503020204020204" charset="-122"/>
                <a:ea typeface="微软雅黑" panose="020B0503020204020204" charset="-122"/>
                <a:cs typeface="微软雅黑" panose="020B0503020204020204" charset="-122"/>
              </a:rPr>
              <a:t>IDC </a:t>
            </a:r>
            <a:r>
              <a:rPr kumimoji="1" lang="zh-CN" altLang="zh-CN" sz="1495" dirty="0">
                <a:latin typeface="微软雅黑" panose="020B0503020204020204" charset="-122"/>
                <a:ea typeface="微软雅黑" panose="020B0503020204020204" charset="-122"/>
                <a:cs typeface="微软雅黑" panose="020B0503020204020204" charset="-122"/>
              </a:rPr>
              <a:t>机房）电源工程或</a:t>
            </a:r>
            <a:r>
              <a:rPr kumimoji="1" lang="en-US" altLang="zh-CN" sz="1495" dirty="0">
                <a:latin typeface="微软雅黑" panose="020B0503020204020204" charset="-122"/>
                <a:ea typeface="微软雅黑" panose="020B0503020204020204" charset="-122"/>
                <a:cs typeface="微软雅黑" panose="020B0503020204020204" charset="-122"/>
              </a:rPr>
              <a:t> 800 </a:t>
            </a:r>
            <a:r>
              <a:rPr kumimoji="1" lang="zh-CN" altLang="zh-CN" sz="1495" dirty="0">
                <a:latin typeface="微软雅黑" panose="020B0503020204020204" charset="-122"/>
                <a:ea typeface="微软雅黑" panose="020B0503020204020204" charset="-122"/>
                <a:cs typeface="微软雅黑" panose="020B0503020204020204" charset="-122"/>
              </a:rPr>
              <a:t>个以上基站、传输等配套电源工程。</a:t>
            </a:r>
            <a:endParaRPr kumimoji="1" lang="en-US" altLang="zh-CN" sz="149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908199" y="1026759"/>
            <a:ext cx="7930356" cy="3615413"/>
          </a:xfrm>
          <a:prstGeom prst="rect">
            <a:avLst/>
          </a:prstGeom>
          <a:noFill/>
        </p:spPr>
        <p:txBody>
          <a:bodyPr wrap="square" rtlCol="0">
            <a:spAutoFit/>
          </a:bodyPr>
          <a:lstStyle/>
          <a:p>
            <a:pPr>
              <a:lnSpc>
                <a:spcPct val="150000"/>
              </a:lnSpc>
            </a:pPr>
            <a:r>
              <a:rPr kumimoji="1" lang="zh-CN" altLang="en-US" sz="1495" dirty="0" smtClean="0">
                <a:solidFill>
                  <a:srgbClr val="FF0000"/>
                </a:solidFill>
                <a:latin typeface="微软雅黑" panose="020B0503020204020204" charset="-122"/>
                <a:ea typeface="微软雅黑" panose="020B0503020204020204" charset="-122"/>
                <a:cs typeface="微软雅黑" panose="020B0503020204020204" charset="-122"/>
              </a:rPr>
              <a:t>二级资质</a:t>
            </a:r>
            <a:r>
              <a:rPr kumimoji="1" lang="zh-CN" altLang="en-US" sz="1495" dirty="0" smtClean="0">
                <a:latin typeface="微软雅黑" panose="020B0503020204020204" charset="-122"/>
                <a:ea typeface="微软雅黑" panose="020B0503020204020204" charset="-122"/>
                <a:cs typeface="微软雅黑" panose="020B0503020204020204" charset="-122"/>
              </a:rPr>
              <a:t>要求：</a:t>
            </a:r>
            <a:endParaRPr kumimoji="1" lang="en-US" altLang="zh-CN" sz="1495"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a:latin typeface="微软雅黑" panose="020B0503020204020204" charset="-122"/>
                <a:ea typeface="微软雅黑" panose="020B0503020204020204" charset="-122"/>
                <a:cs typeface="微软雅黑" panose="020B0503020204020204" charset="-122"/>
              </a:rPr>
              <a:t>1</a:t>
            </a: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二级资质标准要求企业净资产</a:t>
            </a:r>
            <a:r>
              <a:rPr kumimoji="1" lang="en-US" altLang="zh-CN" sz="1495" dirty="0">
                <a:latin typeface="微软雅黑" panose="020B0503020204020204" charset="-122"/>
                <a:ea typeface="微软雅黑" panose="020B0503020204020204" charset="-122"/>
                <a:cs typeface="微软雅黑" panose="020B0503020204020204" charset="-122"/>
              </a:rPr>
              <a:t> 3200 </a:t>
            </a:r>
            <a:r>
              <a:rPr kumimoji="1" lang="zh-CN" altLang="zh-CN" sz="1495" dirty="0">
                <a:latin typeface="微软雅黑" panose="020B0503020204020204" charset="-122"/>
                <a:ea typeface="微软雅黑" panose="020B0503020204020204" charset="-122"/>
                <a:cs typeface="微软雅黑" panose="020B0503020204020204" charset="-122"/>
              </a:rPr>
              <a:t>万元</a:t>
            </a:r>
            <a:r>
              <a:rPr kumimoji="1" lang="zh-CN" altLang="zh-CN" sz="1495" dirty="0" smtClean="0">
                <a:latin typeface="微软雅黑" panose="020B0503020204020204" charset="-122"/>
                <a:ea typeface="微软雅黑" panose="020B0503020204020204" charset="-122"/>
                <a:cs typeface="微软雅黑" panose="020B0503020204020204" charset="-122"/>
              </a:rPr>
              <a:t>以上</a:t>
            </a:r>
            <a:r>
              <a:rPr kumimoji="1" lang="zh-CN" altLang="en-US"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smtClean="0">
                <a:latin typeface="微软雅黑" panose="020B0503020204020204" charset="-122"/>
                <a:ea typeface="微软雅黑" panose="020B0503020204020204" charset="-122"/>
                <a:cs typeface="微软雅黑" panose="020B0503020204020204" charset="-122"/>
              </a:rPr>
              <a:t>2</a:t>
            </a:r>
            <a:r>
              <a:rPr kumimoji="1" lang="zh-CN" altLang="en-US" sz="1495" dirty="0" smtClean="0">
                <a:latin typeface="微软雅黑" panose="020B0503020204020204" charset="-122"/>
                <a:ea typeface="微软雅黑" panose="020B0503020204020204" charset="-122"/>
                <a:cs typeface="微软雅黑" panose="020B0503020204020204" charset="-122"/>
              </a:rPr>
              <a:t>）企业主要人员：</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a:latin typeface="微软雅黑" panose="020B0503020204020204" charset="-122"/>
                <a:ea typeface="微软雅黑" panose="020B0503020204020204" charset="-122"/>
                <a:cs typeface="微软雅黑" panose="020B0503020204020204" charset="-122"/>
              </a:rPr>
              <a:t> </a:t>
            </a: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en-US" sz="1495" dirty="0" smtClean="0">
                <a:latin typeface="微软雅黑" panose="020B0503020204020204" charset="-122"/>
                <a:ea typeface="微软雅黑" panose="020B0503020204020204" charset="-122"/>
                <a:cs typeface="微软雅黑" panose="020B0503020204020204" charset="-122"/>
              </a:rPr>
              <a:t>①</a:t>
            </a:r>
            <a:r>
              <a:rPr kumimoji="1" lang="zh-CN" altLang="zh-CN" sz="1495" dirty="0">
                <a:latin typeface="微软雅黑" panose="020B0503020204020204" charset="-122"/>
                <a:ea typeface="微软雅黑" panose="020B0503020204020204" charset="-122"/>
                <a:cs typeface="微软雅黑" panose="020B0503020204020204" charset="-122"/>
              </a:rPr>
              <a:t>通信与广电工程专业一级注册建造师不少于</a:t>
            </a:r>
            <a:r>
              <a:rPr kumimoji="1" lang="en-US" altLang="zh-CN" sz="1495" dirty="0">
                <a:latin typeface="微软雅黑" panose="020B0503020204020204" charset="-122"/>
                <a:ea typeface="微软雅黑" panose="020B0503020204020204" charset="-122"/>
                <a:cs typeface="微软雅黑" panose="020B0503020204020204" charset="-122"/>
              </a:rPr>
              <a:t> 6</a:t>
            </a:r>
            <a:r>
              <a:rPr kumimoji="1" lang="zh-CN" altLang="zh-CN" sz="1495" dirty="0" smtClean="0">
                <a:latin typeface="微软雅黑" panose="020B0503020204020204" charset="-122"/>
                <a:ea typeface="微软雅黑" panose="020B0503020204020204" charset="-122"/>
                <a:cs typeface="微软雅黑" panose="020B0503020204020204" charset="-122"/>
              </a:rPr>
              <a:t>人</a:t>
            </a:r>
            <a:r>
              <a:rPr kumimoji="1" lang="zh-CN" altLang="en-US"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②</a:t>
            </a:r>
            <a:r>
              <a:rPr kumimoji="1" lang="zh-CN" altLang="zh-CN" sz="1495" dirty="0">
                <a:latin typeface="微软雅黑" panose="020B0503020204020204" charset="-122"/>
                <a:ea typeface="微软雅黑" panose="020B0503020204020204" charset="-122"/>
                <a:cs typeface="微软雅黑" panose="020B0503020204020204" charset="-122"/>
              </a:rPr>
              <a:t>技术负责人具有</a:t>
            </a:r>
            <a:r>
              <a:rPr kumimoji="1" lang="en-US" altLang="zh-CN" sz="1495" dirty="0">
                <a:latin typeface="微软雅黑" panose="020B0503020204020204" charset="-122"/>
                <a:ea typeface="微软雅黑" panose="020B0503020204020204" charset="-122"/>
                <a:cs typeface="微软雅黑" panose="020B0503020204020204" charset="-122"/>
              </a:rPr>
              <a:t> 8 </a:t>
            </a:r>
            <a:r>
              <a:rPr kumimoji="1" lang="zh-CN" altLang="zh-CN" sz="1495" dirty="0">
                <a:latin typeface="微软雅黑" panose="020B0503020204020204" charset="-122"/>
                <a:ea typeface="微软雅黑" panose="020B0503020204020204" charset="-122"/>
                <a:cs typeface="微软雅黑" panose="020B0503020204020204" charset="-122"/>
              </a:rPr>
              <a:t>年以上从事工程施工技术管理工作经历，且具有通信工程相关专业高级职称或通信与广电工程专业一级注册建造师执业资格；通信工程相关专业中级以上职称人员不少于</a:t>
            </a:r>
            <a:r>
              <a:rPr kumimoji="1" lang="en-US" altLang="zh-CN" sz="1495" dirty="0">
                <a:latin typeface="微软雅黑" panose="020B0503020204020204" charset="-122"/>
                <a:ea typeface="微软雅黑" panose="020B0503020204020204" charset="-122"/>
                <a:cs typeface="微软雅黑" panose="020B0503020204020204" charset="-122"/>
              </a:rPr>
              <a:t> 30 </a:t>
            </a:r>
            <a:r>
              <a:rPr kumimoji="1" lang="zh-CN" altLang="zh-CN" sz="1495" dirty="0">
                <a:latin typeface="微软雅黑" panose="020B0503020204020204" charset="-122"/>
                <a:ea typeface="微软雅黑" panose="020B0503020204020204" charset="-122"/>
                <a:cs typeface="微软雅黑" panose="020B0503020204020204" charset="-122"/>
              </a:rPr>
              <a:t>人。</a:t>
            </a:r>
            <a:endParaRPr kumimoji="1" lang="en-US" altLang="zh-CN" sz="1495"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③</a:t>
            </a:r>
            <a:r>
              <a:rPr kumimoji="1" lang="zh-CN" altLang="zh-CN" sz="1495" dirty="0">
                <a:latin typeface="微软雅黑" panose="020B0503020204020204" charset="-122"/>
                <a:ea typeface="微软雅黑" panose="020B0503020204020204" charset="-122"/>
                <a:cs typeface="微软雅黑" panose="020B0503020204020204" charset="-122"/>
              </a:rPr>
              <a:t>持有岗位证书的施工现场管理人员不少于</a:t>
            </a:r>
            <a:r>
              <a:rPr kumimoji="1" lang="en-US" altLang="zh-CN" sz="1495" dirty="0">
                <a:latin typeface="微软雅黑" panose="020B0503020204020204" charset="-122"/>
                <a:ea typeface="微软雅黑" panose="020B0503020204020204" charset="-122"/>
                <a:cs typeface="微软雅黑" panose="020B0503020204020204" charset="-122"/>
              </a:rPr>
              <a:t> 30</a:t>
            </a:r>
            <a:r>
              <a:rPr kumimoji="1" lang="zh-CN" altLang="zh-CN" sz="1495" dirty="0">
                <a:latin typeface="微软雅黑" panose="020B0503020204020204" charset="-122"/>
                <a:ea typeface="微软雅黑" panose="020B0503020204020204" charset="-122"/>
                <a:cs typeface="微软雅黑" panose="020B0503020204020204" charset="-122"/>
              </a:rPr>
              <a:t>人，且施工员、质量员、安全员等人员齐全</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④</a:t>
            </a:r>
            <a:r>
              <a:rPr kumimoji="1" lang="zh-CN" altLang="zh-CN" sz="1495" dirty="0">
                <a:latin typeface="微软雅黑" panose="020B0503020204020204" charset="-122"/>
                <a:ea typeface="微软雅黑" panose="020B0503020204020204" charset="-122"/>
                <a:cs typeface="微软雅黑" panose="020B0503020204020204" charset="-122"/>
              </a:rPr>
              <a:t>经考核或培训合格的中级工以上技术工人不少于</a:t>
            </a:r>
            <a:r>
              <a:rPr kumimoji="1" lang="en-US" altLang="zh-CN" sz="1495" dirty="0">
                <a:latin typeface="微软雅黑" panose="020B0503020204020204" charset="-122"/>
                <a:ea typeface="微软雅黑" panose="020B0503020204020204" charset="-122"/>
                <a:cs typeface="微软雅黑" panose="020B0503020204020204" charset="-122"/>
              </a:rPr>
              <a:t> 60 </a:t>
            </a:r>
            <a:r>
              <a:rPr kumimoji="1" lang="zh-CN" altLang="zh-CN" sz="1495" dirty="0">
                <a:latin typeface="微软雅黑" panose="020B0503020204020204" charset="-122"/>
                <a:ea typeface="微软雅黑" panose="020B0503020204020204" charset="-122"/>
                <a:cs typeface="微软雅黑" panose="020B0503020204020204" charset="-122"/>
              </a:rPr>
              <a:t>人。</a:t>
            </a:r>
            <a:endParaRPr kumimoji="1" lang="en-US" altLang="zh-CN" sz="149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908199" y="825748"/>
            <a:ext cx="7930356" cy="4376198"/>
          </a:xfrm>
          <a:prstGeom prst="rect">
            <a:avLst/>
          </a:prstGeom>
          <a:noFill/>
        </p:spPr>
        <p:txBody>
          <a:bodyPr wrap="square" rtlCol="0">
            <a:spAutoFit/>
          </a:bodyPr>
          <a:lstStyle/>
          <a:p>
            <a:pPr>
              <a:lnSpc>
                <a:spcPct val="150000"/>
              </a:lnSpc>
            </a:pP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en-US" altLang="zh-CN" sz="1495" dirty="0">
                <a:latin typeface="微软雅黑" panose="020B0503020204020204" charset="-122"/>
                <a:ea typeface="微软雅黑" panose="020B0503020204020204" charset="-122"/>
                <a:cs typeface="微软雅黑" panose="020B0503020204020204" charset="-122"/>
              </a:rPr>
              <a:t>3</a:t>
            </a: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企业</a:t>
            </a:r>
            <a:r>
              <a:rPr kumimoji="1" lang="zh-CN" altLang="zh-CN" sz="1495" dirty="0" smtClean="0">
                <a:latin typeface="微软雅黑" panose="020B0503020204020204" charset="-122"/>
                <a:ea typeface="微软雅黑" panose="020B0503020204020204" charset="-122"/>
                <a:cs typeface="微软雅黑" panose="020B0503020204020204" charset="-122"/>
              </a:rPr>
              <a:t>工程</a:t>
            </a:r>
            <a:r>
              <a:rPr kumimoji="1" lang="zh-CN" altLang="en-US" sz="1495" dirty="0">
                <a:latin typeface="微软雅黑" panose="020B0503020204020204" charset="-122"/>
                <a:ea typeface="微软雅黑" panose="020B0503020204020204" charset="-122"/>
                <a:cs typeface="微软雅黑" panose="020B0503020204020204" charset="-122"/>
              </a:rPr>
              <a:t>业绩</a:t>
            </a:r>
            <a:r>
              <a:rPr kumimoji="1" lang="zh-CN" altLang="en-US" sz="1495" dirty="0" smtClean="0">
                <a:latin typeface="微软雅黑" panose="020B0503020204020204" charset="-122"/>
                <a:ea typeface="微软雅黑" panose="020B0503020204020204" charset="-122"/>
                <a:cs typeface="微软雅黑" panose="020B0503020204020204" charset="-122"/>
              </a:rPr>
              <a:t>要求</a:t>
            </a:r>
            <a:r>
              <a:rPr kumimoji="1" lang="zh-CN" altLang="zh-CN" sz="1495" dirty="0" smtClean="0">
                <a:latin typeface="微软雅黑" panose="020B0503020204020204" charset="-122"/>
                <a:ea typeface="微软雅黑" panose="020B0503020204020204" charset="-122"/>
                <a:cs typeface="微软雅黑" panose="020B0503020204020204" charset="-122"/>
              </a:rPr>
              <a:t>近</a:t>
            </a: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en-US" altLang="zh-CN" sz="1495" dirty="0">
                <a:latin typeface="微软雅黑" panose="020B0503020204020204" charset="-122"/>
                <a:ea typeface="微软雅黑" panose="020B0503020204020204" charset="-122"/>
                <a:cs typeface="微软雅黑" panose="020B0503020204020204" charset="-122"/>
              </a:rPr>
              <a:t>5 </a:t>
            </a:r>
            <a:r>
              <a:rPr kumimoji="1" lang="zh-CN" altLang="zh-CN" sz="1495" dirty="0">
                <a:latin typeface="微软雅黑" panose="020B0503020204020204" charset="-122"/>
                <a:ea typeface="微软雅黑" panose="020B0503020204020204" charset="-122"/>
                <a:cs typeface="微软雅黑" panose="020B0503020204020204" charset="-122"/>
              </a:rPr>
              <a:t>年承担过下列</a:t>
            </a:r>
            <a:r>
              <a:rPr kumimoji="1" lang="en-US" altLang="zh-CN" sz="1495" dirty="0">
                <a:latin typeface="微软雅黑" panose="020B0503020204020204" charset="-122"/>
                <a:ea typeface="微软雅黑" panose="020B0503020204020204" charset="-122"/>
                <a:cs typeface="微软雅黑" panose="020B0503020204020204" charset="-122"/>
              </a:rPr>
              <a:t> 9 </a:t>
            </a:r>
            <a:r>
              <a:rPr kumimoji="1" lang="zh-CN" altLang="zh-CN" sz="1495" dirty="0">
                <a:latin typeface="微软雅黑" panose="020B0503020204020204" charset="-122"/>
                <a:ea typeface="微软雅黑" panose="020B0503020204020204" charset="-122"/>
                <a:cs typeface="微软雅黑" panose="020B0503020204020204" charset="-122"/>
              </a:rPr>
              <a:t>类中的</a:t>
            </a:r>
            <a:r>
              <a:rPr kumimoji="1" lang="en-US" altLang="zh-CN" sz="1495" dirty="0">
                <a:latin typeface="微软雅黑" panose="020B0503020204020204" charset="-122"/>
                <a:ea typeface="微软雅黑" panose="020B0503020204020204" charset="-122"/>
                <a:cs typeface="微软雅黑" panose="020B0503020204020204" charset="-122"/>
              </a:rPr>
              <a:t> 4 </a:t>
            </a:r>
            <a:r>
              <a:rPr kumimoji="1" lang="zh-CN" altLang="zh-CN" sz="1495" dirty="0">
                <a:latin typeface="微软雅黑" panose="020B0503020204020204" charset="-122"/>
                <a:ea typeface="微软雅黑" panose="020B0503020204020204" charset="-122"/>
                <a:cs typeface="微软雅黑" panose="020B0503020204020204" charset="-122"/>
              </a:rPr>
              <a:t>类工程的施工，工程质量合格；</a:t>
            </a:r>
            <a:endParaRPr kumimoji="1" lang="en-US" altLang="zh-CN" sz="1495" dirty="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a:latin typeface="微软雅黑" panose="020B0503020204020204" charset="-122"/>
                <a:ea typeface="微软雅黑" panose="020B0503020204020204" charset="-122"/>
                <a:cs typeface="微软雅黑" panose="020B0503020204020204" charset="-122"/>
              </a:rPr>
              <a:t> </a:t>
            </a: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a:latin typeface="微软雅黑" panose="020B0503020204020204" charset="-122"/>
                <a:ea typeface="微软雅黑" panose="020B0503020204020204" charset="-122"/>
                <a:cs typeface="微软雅黑" panose="020B0503020204020204" charset="-122"/>
              </a:rPr>
              <a:t>①年完成</a:t>
            </a:r>
            <a:r>
              <a:rPr kumimoji="1" lang="en-US" altLang="zh-CN" sz="1495" dirty="0">
                <a:latin typeface="微软雅黑" panose="020B0503020204020204" charset="-122"/>
                <a:ea typeface="微软雅黑" panose="020B0503020204020204" charset="-122"/>
                <a:cs typeface="微软雅黑" panose="020B0503020204020204" charset="-122"/>
              </a:rPr>
              <a:t> 400 </a:t>
            </a:r>
            <a:r>
              <a:rPr kumimoji="1" lang="zh-CN" altLang="zh-CN" sz="1495" dirty="0">
                <a:latin typeface="微软雅黑" panose="020B0503020204020204" charset="-122"/>
                <a:ea typeface="微软雅黑" panose="020B0503020204020204" charset="-122"/>
                <a:cs typeface="微软雅黑" panose="020B0503020204020204" charset="-122"/>
              </a:rPr>
              <a:t>公里以上长途线路，或</a:t>
            </a:r>
            <a:r>
              <a:rPr kumimoji="1" lang="en-US" altLang="zh-CN" sz="1495" dirty="0">
                <a:latin typeface="微软雅黑" panose="020B0503020204020204" charset="-122"/>
                <a:ea typeface="微软雅黑" panose="020B0503020204020204" charset="-122"/>
                <a:cs typeface="微软雅黑" panose="020B0503020204020204" charset="-122"/>
              </a:rPr>
              <a:t> 1000 </a:t>
            </a:r>
            <a:r>
              <a:rPr kumimoji="1" lang="zh-CN" altLang="zh-CN" sz="1495" dirty="0">
                <a:latin typeface="微软雅黑" panose="020B0503020204020204" charset="-122"/>
                <a:ea typeface="微软雅黑" panose="020B0503020204020204" charset="-122"/>
                <a:cs typeface="微软雅黑" panose="020B0503020204020204" charset="-122"/>
              </a:rPr>
              <a:t>条公里以上本地网光缆线路，或</a:t>
            </a:r>
            <a:r>
              <a:rPr kumimoji="1" lang="en-US" altLang="zh-CN" sz="1495" dirty="0">
                <a:latin typeface="微软雅黑" panose="020B0503020204020204" charset="-122"/>
                <a:ea typeface="微软雅黑" panose="020B0503020204020204" charset="-122"/>
                <a:cs typeface="微软雅黑" panose="020B0503020204020204" charset="-122"/>
              </a:rPr>
              <a:t> 500 </a:t>
            </a:r>
            <a:r>
              <a:rPr kumimoji="1" lang="zh-CN" altLang="zh-CN" sz="1495" dirty="0">
                <a:latin typeface="微软雅黑" panose="020B0503020204020204" charset="-122"/>
                <a:ea typeface="微软雅黑" panose="020B0503020204020204" charset="-122"/>
                <a:cs typeface="微软雅黑" panose="020B0503020204020204" charset="-122"/>
              </a:rPr>
              <a:t>孔公里以上通信管道工程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②</a:t>
            </a:r>
            <a:r>
              <a:rPr kumimoji="1" lang="zh-CN" altLang="zh-CN" sz="1495" dirty="0">
                <a:latin typeface="微软雅黑" panose="020B0503020204020204" charset="-122"/>
                <a:ea typeface="微软雅黑" panose="020B0503020204020204" charset="-122"/>
                <a:cs typeface="微软雅黑" panose="020B0503020204020204" charset="-122"/>
              </a:rPr>
              <a:t>年完成网管、时钟、软交换、公务计费等业务层与控制层网元</a:t>
            </a:r>
            <a:r>
              <a:rPr kumimoji="1" lang="en-US" altLang="zh-CN" sz="1495" dirty="0">
                <a:latin typeface="微软雅黑" panose="020B0503020204020204" charset="-122"/>
                <a:ea typeface="微软雅黑" panose="020B0503020204020204" charset="-122"/>
                <a:cs typeface="微软雅黑" panose="020B0503020204020204" charset="-122"/>
              </a:rPr>
              <a:t> 15 </a:t>
            </a:r>
            <a:r>
              <a:rPr kumimoji="1" lang="zh-CN" altLang="zh-CN" sz="1495" dirty="0">
                <a:latin typeface="微软雅黑" panose="020B0503020204020204" charset="-122"/>
                <a:ea typeface="微软雅黑" panose="020B0503020204020204" charset="-122"/>
                <a:cs typeface="微软雅黑" panose="020B0503020204020204" charset="-122"/>
              </a:rPr>
              <a:t>个以上</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③</a:t>
            </a:r>
            <a:r>
              <a:rPr kumimoji="1" lang="zh-CN" altLang="zh-CN" sz="1495" dirty="0">
                <a:latin typeface="微软雅黑" panose="020B0503020204020204" charset="-122"/>
                <a:ea typeface="微软雅黑" panose="020B0503020204020204" charset="-122"/>
                <a:cs typeface="微软雅黑" panose="020B0503020204020204" charset="-122"/>
              </a:rPr>
              <a:t>年完成宽带接入入户工程</a:t>
            </a:r>
            <a:r>
              <a:rPr kumimoji="1" lang="en-US" altLang="zh-CN" sz="1495" dirty="0">
                <a:latin typeface="微软雅黑" panose="020B0503020204020204" charset="-122"/>
                <a:ea typeface="微软雅黑" panose="020B0503020204020204" charset="-122"/>
                <a:cs typeface="微软雅黑" panose="020B0503020204020204" charset="-122"/>
              </a:rPr>
              <a:t> 1 </a:t>
            </a:r>
            <a:r>
              <a:rPr kumimoji="1" lang="zh-CN" altLang="zh-CN" sz="1495" dirty="0">
                <a:latin typeface="微软雅黑" panose="020B0503020204020204" charset="-122"/>
                <a:ea typeface="微软雅黑" panose="020B0503020204020204" charset="-122"/>
                <a:cs typeface="微软雅黑" panose="020B0503020204020204" charset="-122"/>
              </a:rPr>
              <a:t>万</a:t>
            </a:r>
            <a:r>
              <a:rPr kumimoji="1" lang="zh-CN" altLang="zh-CN" sz="1495" dirty="0" smtClean="0">
                <a:latin typeface="微软雅黑" panose="020B0503020204020204" charset="-122"/>
                <a:ea typeface="微软雅黑" panose="020B0503020204020204" charset="-122"/>
                <a:cs typeface="微软雅黑" panose="020B0503020204020204" charset="-122"/>
              </a:rPr>
              <a:t>户</a:t>
            </a:r>
            <a:r>
              <a:rPr kumimoji="1" lang="zh-CN" altLang="en-US"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④</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500 </a:t>
            </a:r>
            <a:r>
              <a:rPr kumimoji="1" lang="zh-CN" altLang="zh-CN" sz="1495" dirty="0">
                <a:latin typeface="微软雅黑" panose="020B0503020204020204" charset="-122"/>
                <a:ea typeface="微软雅黑" panose="020B0503020204020204" charset="-122"/>
                <a:cs typeface="微软雅黑" panose="020B0503020204020204" charset="-122"/>
              </a:rPr>
              <a:t>个以上基站的移动通信工程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⑤</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500 </a:t>
            </a:r>
            <a:r>
              <a:rPr kumimoji="1" lang="zh-CN" altLang="zh-CN" sz="1495" dirty="0">
                <a:latin typeface="微软雅黑" panose="020B0503020204020204" charset="-122"/>
                <a:ea typeface="微软雅黑" panose="020B0503020204020204" charset="-122"/>
                <a:cs typeface="微软雅黑" panose="020B0503020204020204" charset="-122"/>
              </a:rPr>
              <a:t>个基站或</a:t>
            </a:r>
            <a:r>
              <a:rPr kumimoji="1" lang="en-US" altLang="zh-CN" sz="1495" dirty="0">
                <a:latin typeface="微软雅黑" panose="020B0503020204020204" charset="-122"/>
                <a:ea typeface="微软雅黑" panose="020B0503020204020204" charset="-122"/>
                <a:cs typeface="微软雅黑" panose="020B0503020204020204" charset="-122"/>
              </a:rPr>
              <a:t> 2500 </a:t>
            </a:r>
            <a:r>
              <a:rPr kumimoji="1" lang="zh-CN" altLang="zh-CN" sz="1495" dirty="0">
                <a:latin typeface="微软雅黑" panose="020B0503020204020204" charset="-122"/>
                <a:ea typeface="微软雅黑" panose="020B0503020204020204" charset="-122"/>
                <a:cs typeface="微软雅黑" panose="020B0503020204020204" charset="-122"/>
              </a:rPr>
              <a:t>载频以上的移动通信网络优化工程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⑥</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250 </a:t>
            </a:r>
            <a:r>
              <a:rPr kumimoji="1" lang="zh-CN" altLang="zh-CN" sz="1495" dirty="0">
                <a:latin typeface="微软雅黑" panose="020B0503020204020204" charset="-122"/>
                <a:ea typeface="微软雅黑" panose="020B0503020204020204" charset="-122"/>
                <a:cs typeface="微软雅黑" panose="020B0503020204020204" charset="-122"/>
              </a:rPr>
              <a:t>端</a:t>
            </a:r>
            <a:r>
              <a:rPr kumimoji="1" lang="en-US" altLang="zh-CN" sz="1495" dirty="0">
                <a:latin typeface="微软雅黑" panose="020B0503020204020204" charset="-122"/>
                <a:ea typeface="微软雅黑" panose="020B0503020204020204" charset="-122"/>
                <a:cs typeface="微软雅黑" panose="020B0503020204020204" charset="-122"/>
              </a:rPr>
              <a:t> 155Mb/s </a:t>
            </a:r>
            <a:r>
              <a:rPr kumimoji="1" lang="zh-CN" altLang="zh-CN" sz="1495" dirty="0">
                <a:latin typeface="微软雅黑" panose="020B0503020204020204" charset="-122"/>
                <a:ea typeface="微软雅黑" panose="020B0503020204020204" charset="-122"/>
                <a:cs typeface="微软雅黑" panose="020B0503020204020204" charset="-122"/>
              </a:rPr>
              <a:t>以上系统传输设备的安装、调测工程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⑦</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5 </a:t>
            </a:r>
            <a:r>
              <a:rPr kumimoji="1" lang="zh-CN" altLang="zh-CN" sz="1495" dirty="0">
                <a:latin typeface="微软雅黑" panose="020B0503020204020204" charset="-122"/>
                <a:ea typeface="微软雅黑" panose="020B0503020204020204" charset="-122"/>
                <a:cs typeface="微软雅黑" panose="020B0503020204020204" charset="-122"/>
              </a:rPr>
              <a:t>个以上城域数据通信或业务与支撑系统工程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⑧</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10000 </a:t>
            </a:r>
            <a:r>
              <a:rPr kumimoji="1" lang="zh-CN" altLang="zh-CN" sz="1495" dirty="0">
                <a:latin typeface="微软雅黑" panose="020B0503020204020204" charset="-122"/>
                <a:ea typeface="微软雅黑" panose="020B0503020204020204" charset="-122"/>
                <a:cs typeface="微软雅黑" panose="020B0503020204020204" charset="-122"/>
              </a:rPr>
              <a:t>个信息点的综合布线（或计算机网络）工程</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⑨</a:t>
            </a:r>
            <a:r>
              <a:rPr kumimoji="1" lang="zh-CN" altLang="zh-CN" sz="1495" dirty="0">
                <a:latin typeface="微软雅黑" panose="020B0503020204020204" charset="-122"/>
                <a:ea typeface="微软雅黑" panose="020B0503020204020204" charset="-122"/>
                <a:cs typeface="微软雅黑" panose="020B0503020204020204" charset="-122"/>
              </a:rPr>
              <a:t>年完成</a:t>
            </a:r>
            <a:r>
              <a:rPr kumimoji="1" lang="en-US" altLang="zh-CN" sz="1495" dirty="0">
                <a:latin typeface="微软雅黑" panose="020B0503020204020204" charset="-122"/>
                <a:ea typeface="微软雅黑" panose="020B0503020204020204" charset="-122"/>
                <a:cs typeface="微软雅黑" panose="020B0503020204020204" charset="-122"/>
              </a:rPr>
              <a:t> 2 </a:t>
            </a:r>
            <a:r>
              <a:rPr kumimoji="1" lang="zh-CN" altLang="zh-CN" sz="1495" dirty="0">
                <a:latin typeface="微软雅黑" panose="020B0503020204020204" charset="-122"/>
                <a:ea typeface="微软雅黑" panose="020B0503020204020204" charset="-122"/>
                <a:cs typeface="微软雅黑" panose="020B0503020204020204" charset="-122"/>
              </a:rPr>
              <a:t>个以上地市级以上机房（含中心机房、枢纽楼、核心机房、</a:t>
            </a:r>
            <a:r>
              <a:rPr kumimoji="1" lang="en-US" altLang="zh-CN" sz="1495" dirty="0">
                <a:latin typeface="微软雅黑" panose="020B0503020204020204" charset="-122"/>
                <a:ea typeface="微软雅黑" panose="020B0503020204020204" charset="-122"/>
                <a:cs typeface="微软雅黑" panose="020B0503020204020204" charset="-122"/>
              </a:rPr>
              <a:t>IDC </a:t>
            </a:r>
            <a:r>
              <a:rPr kumimoji="1" lang="zh-CN" altLang="zh-CN" sz="1495" dirty="0">
                <a:latin typeface="微软雅黑" panose="020B0503020204020204" charset="-122"/>
                <a:ea typeface="微软雅黑" panose="020B0503020204020204" charset="-122"/>
                <a:cs typeface="微软雅黑" panose="020B0503020204020204" charset="-122"/>
              </a:rPr>
              <a:t>机房）电源工程或</a:t>
            </a:r>
            <a:r>
              <a:rPr kumimoji="1" lang="en-US" altLang="zh-CN" sz="1495" dirty="0">
                <a:latin typeface="微软雅黑" panose="020B0503020204020204" charset="-122"/>
                <a:ea typeface="微软雅黑" panose="020B0503020204020204" charset="-122"/>
                <a:cs typeface="微软雅黑" panose="020B0503020204020204" charset="-122"/>
              </a:rPr>
              <a:t> 400 </a:t>
            </a:r>
            <a:r>
              <a:rPr kumimoji="1" lang="zh-CN" altLang="zh-CN" sz="1495" dirty="0">
                <a:latin typeface="微软雅黑" panose="020B0503020204020204" charset="-122"/>
                <a:ea typeface="微软雅黑" panose="020B0503020204020204" charset="-122"/>
                <a:cs typeface="微软雅黑" panose="020B0503020204020204" charset="-122"/>
              </a:rPr>
              <a:t>个以上基站、传输等配套电源工程。</a:t>
            </a:r>
            <a:endParaRPr kumimoji="1" lang="en-US" altLang="zh-CN" sz="149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764183" y="825748"/>
            <a:ext cx="8280921" cy="4235775"/>
          </a:xfrm>
          <a:prstGeom prst="rect">
            <a:avLst/>
          </a:prstGeom>
          <a:noFill/>
        </p:spPr>
        <p:txBody>
          <a:bodyPr wrap="square" rtlCol="0">
            <a:spAutoFit/>
          </a:bodyPr>
          <a:lstStyle/>
          <a:p>
            <a:pPr>
              <a:lnSpc>
                <a:spcPct val="150000"/>
              </a:lnSpc>
            </a:pPr>
            <a:r>
              <a:rPr kumimoji="1" lang="zh-CN" altLang="zh-CN" sz="1495" dirty="0">
                <a:solidFill>
                  <a:srgbClr val="FF0000"/>
                </a:solidFill>
                <a:latin typeface="微软雅黑" panose="020B0503020204020204" charset="-122"/>
                <a:ea typeface="微软雅黑" panose="020B0503020204020204" charset="-122"/>
                <a:cs typeface="微软雅黑" panose="020B0503020204020204" charset="-122"/>
              </a:rPr>
              <a:t>三级资质</a:t>
            </a:r>
            <a:r>
              <a:rPr kumimoji="1" lang="zh-CN" altLang="zh-CN" sz="1495" dirty="0" smtClean="0">
                <a:latin typeface="微软雅黑" panose="020B0503020204020204" charset="-122"/>
                <a:ea typeface="微软雅黑" panose="020B0503020204020204" charset="-122"/>
                <a:cs typeface="微软雅黑" panose="020B0503020204020204" charset="-122"/>
              </a:rPr>
              <a:t>标准</a:t>
            </a:r>
            <a:r>
              <a:rPr kumimoji="1" lang="zh-CN" altLang="en-US"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smtClean="0">
                <a:latin typeface="微软雅黑" panose="020B0503020204020204" charset="-122"/>
                <a:ea typeface="微软雅黑" panose="020B0503020204020204" charset="-122"/>
                <a:cs typeface="微软雅黑" panose="020B0503020204020204" charset="-122"/>
              </a:rPr>
              <a:t>1</a:t>
            </a:r>
            <a:r>
              <a:rPr kumimoji="1" lang="zh-CN" altLang="en-US" sz="1495" dirty="0" smtClean="0">
                <a:latin typeface="微软雅黑" panose="020B0503020204020204" charset="-122"/>
                <a:ea typeface="微软雅黑" panose="020B0503020204020204" charset="-122"/>
                <a:cs typeface="微软雅黑" panose="020B0503020204020204" charset="-122"/>
              </a:rPr>
              <a:t>）企业资产</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三</a:t>
            </a:r>
            <a:r>
              <a:rPr kumimoji="1" lang="zh-CN" altLang="zh-CN" sz="1495" dirty="0">
                <a:latin typeface="微软雅黑" panose="020B0503020204020204" charset="-122"/>
                <a:ea typeface="微软雅黑" panose="020B0503020204020204" charset="-122"/>
                <a:cs typeface="微软雅黑" panose="020B0503020204020204" charset="-122"/>
              </a:rPr>
              <a:t>级资质要求企业净资产</a:t>
            </a:r>
            <a:r>
              <a:rPr kumimoji="1" lang="en-US" altLang="zh-CN" sz="1495" dirty="0">
                <a:latin typeface="微软雅黑" panose="020B0503020204020204" charset="-122"/>
                <a:ea typeface="微软雅黑" panose="020B0503020204020204" charset="-122"/>
                <a:cs typeface="微软雅黑" panose="020B0503020204020204" charset="-122"/>
              </a:rPr>
              <a:t> 600 </a:t>
            </a:r>
            <a:r>
              <a:rPr kumimoji="1" lang="zh-CN" altLang="zh-CN" sz="1495" dirty="0">
                <a:latin typeface="微软雅黑" panose="020B0503020204020204" charset="-122"/>
                <a:ea typeface="微软雅黑" panose="020B0503020204020204" charset="-122"/>
                <a:cs typeface="微软雅黑" panose="020B0503020204020204" charset="-122"/>
              </a:rPr>
              <a:t>万元以上</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en-US" altLang="zh-CN" sz="1495" dirty="0" smtClean="0">
                <a:latin typeface="微软雅黑" panose="020B0503020204020204" charset="-122"/>
                <a:ea typeface="微软雅黑" panose="020B0503020204020204" charset="-122"/>
                <a:cs typeface="微软雅黑" panose="020B0503020204020204" charset="-122"/>
              </a:rPr>
              <a:t>2</a:t>
            </a: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企业主要</a:t>
            </a:r>
            <a:r>
              <a:rPr kumimoji="1" lang="zh-CN" altLang="zh-CN" sz="1495" dirty="0" smtClean="0">
                <a:latin typeface="微软雅黑" panose="020B0503020204020204" charset="-122"/>
                <a:ea typeface="微软雅黑" panose="020B0503020204020204" charset="-122"/>
                <a:cs typeface="微软雅黑" panose="020B0503020204020204" charset="-122"/>
              </a:rPr>
              <a:t>人员</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①</a:t>
            </a:r>
            <a:r>
              <a:rPr kumimoji="1" lang="zh-CN" altLang="zh-CN" sz="1495" dirty="0">
                <a:latin typeface="微软雅黑" panose="020B0503020204020204" charset="-122"/>
                <a:ea typeface="微软雅黑" panose="020B0503020204020204" charset="-122"/>
                <a:cs typeface="微软雅黑" panose="020B0503020204020204" charset="-122"/>
              </a:rPr>
              <a:t>通信与广电工程专业一级注册建造师不少于</a:t>
            </a:r>
            <a:r>
              <a:rPr kumimoji="1" lang="en-US" altLang="zh-CN" sz="1495" dirty="0">
                <a:latin typeface="微软雅黑" panose="020B0503020204020204" charset="-122"/>
                <a:ea typeface="微软雅黑" panose="020B0503020204020204" charset="-122"/>
                <a:cs typeface="微软雅黑" panose="020B0503020204020204" charset="-122"/>
              </a:rPr>
              <a:t> 2</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②</a:t>
            </a:r>
            <a:r>
              <a:rPr kumimoji="1" lang="zh-CN" altLang="zh-CN" sz="1495" dirty="0">
                <a:latin typeface="微软雅黑" panose="020B0503020204020204" charset="-122"/>
                <a:ea typeface="微软雅黑" panose="020B0503020204020204" charset="-122"/>
                <a:cs typeface="微软雅黑" panose="020B0503020204020204" charset="-122"/>
              </a:rPr>
              <a:t>技术负责人具有</a:t>
            </a:r>
            <a:r>
              <a:rPr kumimoji="1" lang="en-US" altLang="zh-CN" sz="1495" dirty="0">
                <a:latin typeface="微软雅黑" panose="020B0503020204020204" charset="-122"/>
                <a:ea typeface="微软雅黑" panose="020B0503020204020204" charset="-122"/>
                <a:cs typeface="微软雅黑" panose="020B0503020204020204" charset="-122"/>
              </a:rPr>
              <a:t> 5 </a:t>
            </a:r>
            <a:r>
              <a:rPr kumimoji="1" lang="zh-CN" altLang="zh-CN" sz="1495" dirty="0">
                <a:latin typeface="微软雅黑" panose="020B0503020204020204" charset="-122"/>
                <a:ea typeface="微软雅黑" panose="020B0503020204020204" charset="-122"/>
                <a:cs typeface="微软雅黑" panose="020B0503020204020204" charset="-122"/>
              </a:rPr>
              <a:t>年以上从事工程施工技术管理工作经历，且具有通信工程相关专业中级以上职称或通信与广电工程专业一级注册建造师执业资格；通信工程相关专业中级以上职称人员不少于</a:t>
            </a:r>
            <a:r>
              <a:rPr kumimoji="1" lang="en-US" altLang="zh-CN" sz="1495" dirty="0">
                <a:latin typeface="微软雅黑" panose="020B0503020204020204" charset="-122"/>
                <a:ea typeface="微软雅黑" panose="020B0503020204020204" charset="-122"/>
                <a:cs typeface="微软雅黑" panose="020B0503020204020204" charset="-122"/>
              </a:rPr>
              <a:t> 15 </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③</a:t>
            </a:r>
            <a:r>
              <a:rPr kumimoji="1" lang="zh-CN" altLang="zh-CN" sz="1495" dirty="0">
                <a:latin typeface="微软雅黑" panose="020B0503020204020204" charset="-122"/>
                <a:ea typeface="微软雅黑" panose="020B0503020204020204" charset="-122"/>
                <a:cs typeface="微软雅黑" panose="020B0503020204020204" charset="-122"/>
              </a:rPr>
              <a:t>持有岗位证书的施工现场管理人员不少于</a:t>
            </a:r>
            <a:r>
              <a:rPr kumimoji="1" lang="en-US" altLang="zh-CN" sz="1495" dirty="0">
                <a:latin typeface="微软雅黑" panose="020B0503020204020204" charset="-122"/>
                <a:ea typeface="微软雅黑" panose="020B0503020204020204" charset="-122"/>
                <a:cs typeface="微软雅黑" panose="020B0503020204020204" charset="-122"/>
              </a:rPr>
              <a:t> 15</a:t>
            </a:r>
            <a:r>
              <a:rPr kumimoji="1" lang="zh-CN" altLang="zh-CN" sz="1495" dirty="0">
                <a:latin typeface="微软雅黑" panose="020B0503020204020204" charset="-122"/>
                <a:ea typeface="微软雅黑" panose="020B0503020204020204" charset="-122"/>
                <a:cs typeface="微软雅黑" panose="020B0503020204020204" charset="-122"/>
              </a:rPr>
              <a:t>人，且施工员、质量员、安全员等人员齐全</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④</a:t>
            </a:r>
            <a:r>
              <a:rPr kumimoji="1" lang="zh-CN" altLang="zh-CN" sz="1495" dirty="0">
                <a:latin typeface="微软雅黑" panose="020B0503020204020204" charset="-122"/>
                <a:ea typeface="微软雅黑" panose="020B0503020204020204" charset="-122"/>
                <a:cs typeface="微软雅黑" panose="020B0503020204020204" charset="-122"/>
              </a:rPr>
              <a:t>企业具有经考核或培训合格的中级工以上技术工人不少于</a:t>
            </a:r>
            <a:r>
              <a:rPr kumimoji="1" lang="en-US" altLang="zh-CN" sz="1495" dirty="0">
                <a:latin typeface="微软雅黑" panose="020B0503020204020204" charset="-122"/>
                <a:ea typeface="微软雅黑" panose="020B0503020204020204" charset="-122"/>
                <a:cs typeface="微软雅黑" panose="020B0503020204020204" charset="-122"/>
              </a:rPr>
              <a:t> 30 </a:t>
            </a:r>
            <a:r>
              <a:rPr kumimoji="1" lang="zh-CN" altLang="zh-CN" sz="1495" dirty="0">
                <a:latin typeface="微软雅黑" panose="020B0503020204020204" charset="-122"/>
                <a:ea typeface="微软雅黑" panose="020B0503020204020204" charset="-122"/>
                <a:cs typeface="微软雅黑" panose="020B0503020204020204" charset="-122"/>
              </a:rPr>
              <a:t>人</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a:t>
            </a:r>
            <a:r>
              <a:rPr kumimoji="1" lang="zh-CN" altLang="zh-CN" sz="1495" dirty="0" smtClean="0">
                <a:latin typeface="微软雅黑" panose="020B0503020204020204" charset="-122"/>
                <a:ea typeface="微软雅黑" panose="020B0503020204020204" charset="-122"/>
                <a:cs typeface="微软雅黑" panose="020B0503020204020204" charset="-122"/>
              </a:rPr>
              <a:t>⑤</a:t>
            </a:r>
            <a:r>
              <a:rPr kumimoji="1" lang="zh-CN" altLang="zh-CN" sz="1495" dirty="0">
                <a:latin typeface="微软雅黑" panose="020B0503020204020204" charset="-122"/>
                <a:ea typeface="微软雅黑" panose="020B0503020204020204" charset="-122"/>
                <a:cs typeface="微软雅黑" panose="020B0503020204020204" charset="-122"/>
              </a:rPr>
              <a:t>技术负责人（或注册建造师）主持完成过本类别资质二级以上标准要求的工程业绩不少于</a:t>
            </a:r>
            <a:r>
              <a:rPr kumimoji="1" lang="en-US" altLang="zh-CN" sz="1495" dirty="0">
                <a:latin typeface="微软雅黑" panose="020B0503020204020204" charset="-122"/>
                <a:ea typeface="微软雅黑" panose="020B0503020204020204" charset="-122"/>
                <a:cs typeface="微软雅黑" panose="020B0503020204020204" charset="-122"/>
              </a:rPr>
              <a:t> 2 </a:t>
            </a:r>
            <a:r>
              <a:rPr kumimoji="1" lang="zh-CN" altLang="zh-CN" sz="1495" dirty="0">
                <a:latin typeface="微软雅黑" panose="020B0503020204020204" charset="-122"/>
                <a:ea typeface="微软雅黑" panose="020B0503020204020204" charset="-122"/>
                <a:cs typeface="微软雅黑" panose="020B0503020204020204" charset="-122"/>
              </a:rPr>
              <a:t>项。</a:t>
            </a:r>
            <a:endParaRPr kumimoji="1" lang="en-US" altLang="zh-CN" sz="149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smtClean="0">
                <a:latin typeface="微软雅黑" panose="020B0503020204020204" charset="-122"/>
                <a:ea typeface="微软雅黑" panose="020B0503020204020204" charset="-122"/>
                <a:cs typeface="微软雅黑" panose="020B0503020204020204" charset="-122"/>
              </a:rPr>
              <a:t>二、通信工程企业的资质</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764184" y="1067464"/>
            <a:ext cx="7704855" cy="3199915"/>
          </a:xfrm>
          <a:prstGeom prst="rect">
            <a:avLst/>
          </a:prstGeom>
          <a:noFill/>
        </p:spPr>
        <p:txBody>
          <a:bodyPr wrap="square" rtlCol="0">
            <a:spAutoFit/>
          </a:bodyPr>
          <a:lstStyle/>
          <a:p>
            <a:pPr>
              <a:lnSpc>
                <a:spcPct val="150000"/>
              </a:lnSpc>
            </a:pPr>
            <a:r>
              <a:rPr kumimoji="1" lang="zh-CN" altLang="en-US" sz="1495" dirty="0" smtClean="0">
                <a:solidFill>
                  <a:srgbClr val="FF0000"/>
                </a:solidFill>
                <a:latin typeface="微软雅黑" panose="020B0503020204020204" charset="-122"/>
                <a:ea typeface="微软雅黑" panose="020B0503020204020204" charset="-122"/>
                <a:cs typeface="微软雅黑" panose="020B0503020204020204" charset="-122"/>
              </a:rPr>
              <a:t>承包工程范围</a:t>
            </a:r>
            <a:r>
              <a:rPr kumimoji="1" lang="zh-CN" altLang="en-US"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1</a:t>
            </a:r>
            <a:r>
              <a:rPr kumimoji="1" lang="zh-CN" altLang="en-US" sz="1495" dirty="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一级资质可承担各类通信、信息网络工程的施工</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2</a:t>
            </a: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zh-CN" altLang="en-US" sz="1495" dirty="0">
                <a:latin typeface="微软雅黑" panose="020B0503020204020204" charset="-122"/>
                <a:ea typeface="微软雅黑" panose="020B0503020204020204" charset="-122"/>
                <a:cs typeface="微软雅黑" panose="020B0503020204020204" charset="-122"/>
              </a:rPr>
              <a:t>二级资质</a:t>
            </a:r>
            <a:r>
              <a:rPr kumimoji="1" lang="zh-CN" altLang="zh-CN" sz="1495" dirty="0">
                <a:latin typeface="微软雅黑" panose="020B0503020204020204" charset="-122"/>
                <a:ea typeface="微软雅黑" panose="020B0503020204020204" charset="-122"/>
                <a:cs typeface="微软雅黑" panose="020B0503020204020204" charset="-122"/>
              </a:rPr>
              <a:t>可承担工程投资额</a:t>
            </a:r>
            <a:r>
              <a:rPr kumimoji="1" lang="en-US" altLang="zh-CN" sz="1495" dirty="0">
                <a:latin typeface="微软雅黑" panose="020B0503020204020204" charset="-122"/>
                <a:ea typeface="微软雅黑" panose="020B0503020204020204" charset="-122"/>
                <a:cs typeface="微软雅黑" panose="020B0503020204020204" charset="-122"/>
              </a:rPr>
              <a:t> 2000 </a:t>
            </a:r>
            <a:r>
              <a:rPr kumimoji="1" lang="zh-CN" altLang="zh-CN" sz="1495" dirty="0">
                <a:latin typeface="微软雅黑" panose="020B0503020204020204" charset="-122"/>
                <a:ea typeface="微软雅黑" panose="020B0503020204020204" charset="-122"/>
                <a:cs typeface="微软雅黑" panose="020B0503020204020204" charset="-122"/>
              </a:rPr>
              <a:t>万元以下的各类通信、信息网络工程的施工</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a:lnSpc>
                <a:spcPct val="150000"/>
              </a:lnSpc>
            </a:pPr>
            <a:r>
              <a:rPr kumimoji="1" lang="en-US" altLang="zh-CN" sz="1495" dirty="0" smtClean="0">
                <a:latin typeface="微软雅黑" panose="020B0503020204020204" charset="-122"/>
                <a:ea typeface="微软雅黑" panose="020B0503020204020204" charset="-122"/>
                <a:cs typeface="微软雅黑" panose="020B0503020204020204" charset="-122"/>
              </a:rPr>
              <a:t>  3</a:t>
            </a:r>
            <a:r>
              <a:rPr kumimoji="1" lang="zh-CN" altLang="en-US" sz="1495" dirty="0" smtClean="0">
                <a:latin typeface="微软雅黑" panose="020B0503020204020204" charset="-122"/>
                <a:ea typeface="微软雅黑" panose="020B0503020204020204" charset="-122"/>
                <a:cs typeface="微软雅黑" panose="020B0503020204020204" charset="-122"/>
              </a:rPr>
              <a:t>、</a:t>
            </a:r>
            <a:r>
              <a:rPr kumimoji="1" lang="zh-CN" altLang="zh-CN" sz="1495" dirty="0">
                <a:latin typeface="微软雅黑" panose="020B0503020204020204" charset="-122"/>
                <a:ea typeface="微软雅黑" panose="020B0503020204020204" charset="-122"/>
                <a:cs typeface="微软雅黑" panose="020B0503020204020204" charset="-122"/>
              </a:rPr>
              <a:t>可承担工程投资额</a:t>
            </a:r>
            <a:r>
              <a:rPr kumimoji="1" lang="en-US" altLang="zh-CN" sz="1495" dirty="0">
                <a:latin typeface="微软雅黑" panose="020B0503020204020204" charset="-122"/>
                <a:ea typeface="微软雅黑" panose="020B0503020204020204" charset="-122"/>
                <a:cs typeface="微软雅黑" panose="020B0503020204020204" charset="-122"/>
              </a:rPr>
              <a:t> 500 </a:t>
            </a:r>
            <a:r>
              <a:rPr kumimoji="1" lang="zh-CN" altLang="zh-CN" sz="1495" dirty="0">
                <a:latin typeface="微软雅黑" panose="020B0503020204020204" charset="-122"/>
                <a:ea typeface="微软雅黑" panose="020B0503020204020204" charset="-122"/>
                <a:cs typeface="微软雅黑" panose="020B0503020204020204" charset="-122"/>
              </a:rPr>
              <a:t>万元以下的各类通信、信息网络工程的施工</a:t>
            </a:r>
            <a:r>
              <a:rPr kumimoji="1" lang="zh-CN" altLang="zh-CN" sz="1495" dirty="0" smtClean="0">
                <a:latin typeface="微软雅黑" panose="020B0503020204020204" charset="-122"/>
                <a:ea typeface="微软雅黑" panose="020B0503020204020204" charset="-122"/>
                <a:cs typeface="微软雅黑" panose="020B0503020204020204" charset="-122"/>
              </a:rPr>
              <a:t>。</a:t>
            </a:r>
            <a:endParaRPr kumimoji="1" lang="en-US" altLang="zh-CN" sz="1495" dirty="0" smtClean="0">
              <a:latin typeface="微软雅黑" panose="020B0503020204020204" charset="-122"/>
              <a:ea typeface="微软雅黑" panose="020B0503020204020204" charset="-122"/>
              <a:cs typeface="微软雅黑" panose="020B0503020204020204" charset="-122"/>
            </a:endParaRPr>
          </a:p>
          <a:p>
            <a:pPr marL="0" lvl="1">
              <a:lnSpc>
                <a:spcPct val="150000"/>
              </a:lnSpc>
            </a:pPr>
            <a:r>
              <a:rPr kumimoji="1" lang="zh-CN" altLang="en-US" sz="1495" dirty="0" smtClean="0">
                <a:latin typeface="微软雅黑" panose="020B0503020204020204" charset="-122"/>
                <a:ea typeface="微软雅黑" panose="020B0503020204020204" charset="-122"/>
                <a:cs typeface="微软雅黑" panose="020B0503020204020204" charset="-122"/>
                <a:sym typeface="+mn-ea"/>
              </a:rPr>
              <a:t>        企业</a:t>
            </a:r>
            <a:r>
              <a:rPr kumimoji="1" lang="zh-CN" altLang="en-US" sz="1495" dirty="0">
                <a:latin typeface="微软雅黑" panose="020B0503020204020204" charset="-122"/>
                <a:ea typeface="微软雅黑" panose="020B0503020204020204" charset="-122"/>
                <a:cs typeface="微软雅黑" panose="020B0503020204020204" charset="-122"/>
                <a:sym typeface="+mn-ea"/>
              </a:rPr>
              <a:t>资质就像驾照一样，拥有</a:t>
            </a:r>
            <a:r>
              <a:rPr kumimoji="1" lang="en-US" altLang="zh-CN" sz="1495" dirty="0">
                <a:latin typeface="微软雅黑" panose="020B0503020204020204" charset="-122"/>
                <a:ea typeface="微软雅黑" panose="020B0503020204020204" charset="-122"/>
                <a:cs typeface="微软雅黑" panose="020B0503020204020204" charset="-122"/>
                <a:sym typeface="+mn-ea"/>
              </a:rPr>
              <a:t>C1</a:t>
            </a:r>
            <a:r>
              <a:rPr kumimoji="1" lang="zh-CN" altLang="en-US" sz="1495" dirty="0">
                <a:latin typeface="微软雅黑" panose="020B0503020204020204" charset="-122"/>
                <a:ea typeface="微软雅黑" panose="020B0503020204020204" charset="-122"/>
                <a:cs typeface="微软雅黑" panose="020B0503020204020204" charset="-122"/>
                <a:sym typeface="+mn-ea"/>
              </a:rPr>
              <a:t>驾照的驾驶员可以驾驶小型汽车，</a:t>
            </a:r>
            <a:r>
              <a:rPr kumimoji="1" lang="en-US" altLang="zh-CN" sz="1495" dirty="0">
                <a:latin typeface="微软雅黑" panose="020B0503020204020204" charset="-122"/>
                <a:ea typeface="微软雅黑" panose="020B0503020204020204" charset="-122"/>
                <a:cs typeface="微软雅黑" panose="020B0503020204020204" charset="-122"/>
                <a:sym typeface="+mn-ea"/>
              </a:rPr>
              <a:t>B</a:t>
            </a:r>
            <a:r>
              <a:rPr kumimoji="1" lang="zh-CN" altLang="en-US" sz="1495" dirty="0">
                <a:latin typeface="微软雅黑" panose="020B0503020204020204" charset="-122"/>
                <a:ea typeface="微软雅黑" panose="020B0503020204020204" charset="-122"/>
                <a:cs typeface="微软雅黑" panose="020B0503020204020204" charset="-122"/>
                <a:sym typeface="+mn-ea"/>
              </a:rPr>
              <a:t>照可以驾驶中型客车，</a:t>
            </a:r>
            <a:r>
              <a:rPr kumimoji="1" lang="en-US" altLang="zh-CN" sz="1495" dirty="0">
                <a:latin typeface="微软雅黑" panose="020B0503020204020204" charset="-122"/>
                <a:ea typeface="微软雅黑" panose="020B0503020204020204" charset="-122"/>
                <a:cs typeface="微软雅黑" panose="020B0503020204020204" charset="-122"/>
                <a:sym typeface="+mn-ea"/>
              </a:rPr>
              <a:t>A</a:t>
            </a:r>
            <a:r>
              <a:rPr kumimoji="1" lang="zh-CN" altLang="en-US" sz="1495" dirty="0">
                <a:latin typeface="微软雅黑" panose="020B0503020204020204" charset="-122"/>
                <a:ea typeface="微软雅黑" panose="020B0503020204020204" charset="-122"/>
                <a:cs typeface="微软雅黑" panose="020B0503020204020204" charset="-122"/>
                <a:sym typeface="+mn-ea"/>
              </a:rPr>
              <a:t>照可以驾驶大型客车。</a:t>
            </a:r>
            <a:r>
              <a:rPr kumimoji="1" lang="zh-CN" altLang="en-US" sz="1495" dirty="0">
                <a:solidFill>
                  <a:srgbClr val="FF0000"/>
                </a:solidFill>
                <a:latin typeface="微软雅黑" panose="020B0503020204020204" charset="-122"/>
                <a:ea typeface="微软雅黑" panose="020B0503020204020204" charset="-122"/>
                <a:cs typeface="微软雅黑" panose="020B0503020204020204" charset="-122"/>
                <a:sym typeface="+mn-ea"/>
              </a:rPr>
              <a:t>不同的企业根据自身的资质承接不同规模类型的通信建设工程。</a:t>
            </a:r>
            <a:endParaRPr kumimoji="1" lang="zh-CN" altLang="en-US" sz="1495" dirty="0">
              <a:solidFill>
                <a:srgbClr val="FF0000"/>
              </a:solidFill>
              <a:latin typeface="微软雅黑" panose="020B0503020204020204" charset="-122"/>
              <a:ea typeface="微软雅黑" panose="020B0503020204020204" charset="-122"/>
              <a:cs typeface="微软雅黑" panose="020B0503020204020204" charset="-122"/>
              <a:sym typeface="+mn-ea"/>
            </a:endParaRPr>
          </a:p>
          <a:p>
            <a:pPr>
              <a:lnSpc>
                <a:spcPct val="150000"/>
              </a:lnSpc>
            </a:pPr>
            <a:endParaRPr kumimoji="1" lang="en-US" altLang="zh-CN" sz="1495" dirty="0">
              <a:latin typeface="微软雅黑" panose="020B0503020204020204" charset="-122"/>
              <a:ea typeface="微软雅黑" panose="020B0503020204020204" charset="-122"/>
              <a:cs typeface="微软雅黑" panose="020B0503020204020204" charset="-122"/>
            </a:endParaRPr>
          </a:p>
          <a:p>
            <a:pPr>
              <a:lnSpc>
                <a:spcPct val="150000"/>
              </a:lnSpc>
            </a:pPr>
            <a:endParaRPr kumimoji="1" lang="en-US" altLang="zh-CN" sz="149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6278" y="3711202"/>
            <a:ext cx="3716337"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8" name="Picture 6" descr="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8376" y="3562548"/>
            <a:ext cx="2016125"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81" name="图片 5" descr="校徽"/>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三</a:t>
            </a:r>
            <a:r>
              <a:rPr kumimoji="1" lang="zh-CN" altLang="en-US" sz="2245" dirty="0" smtClean="0">
                <a:latin typeface="微软雅黑" panose="020B0503020204020204" charset="-122"/>
                <a:ea typeface="微软雅黑" panose="020B0503020204020204" charset="-122"/>
                <a:cs typeface="微软雅黑" panose="020B0503020204020204" charset="-122"/>
              </a:rPr>
              <a:t>、</a:t>
            </a:r>
            <a:r>
              <a:rPr kumimoji="1" lang="zh-CN" altLang="zh-CN" sz="2245" dirty="0">
                <a:latin typeface="微软雅黑" panose="020B0503020204020204" charset="-122"/>
                <a:ea typeface="微软雅黑" panose="020B0503020204020204" charset="-122"/>
                <a:cs typeface="微软雅黑" panose="020B0503020204020204" charset="-122"/>
              </a:rPr>
              <a:t>通信工程岗位</a:t>
            </a:r>
            <a:r>
              <a:rPr kumimoji="1" lang="zh-CN" altLang="zh-CN" sz="2245" dirty="0" smtClean="0">
                <a:latin typeface="微软雅黑" panose="020B0503020204020204" charset="-122"/>
                <a:ea typeface="微软雅黑" panose="020B0503020204020204" charset="-122"/>
                <a:cs typeface="微软雅黑" panose="020B0503020204020204" charset="-122"/>
              </a:rPr>
              <a:t>介绍</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41" name="矩形 14"/>
          <p:cNvSpPr>
            <a:spLocks noChangeArrowheads="1"/>
          </p:cNvSpPr>
          <p:nvPr/>
        </p:nvSpPr>
        <p:spPr bwMode="auto">
          <a:xfrm>
            <a:off x="500063" y="1055688"/>
            <a:ext cx="8185000" cy="3699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l" eaLnBrk="1" hangingPunct="1">
              <a:spcBef>
                <a:spcPct val="20000"/>
              </a:spcBef>
              <a:buClr>
                <a:schemeClr val="tx2"/>
              </a:buClr>
              <a:buSzPct val="80000"/>
            </a:pPr>
            <a:r>
              <a:rPr lang="zh-CN" altLang="en-US" sz="2800" b="0" dirty="0">
                <a:solidFill>
                  <a:srgbClr val="BE2A02"/>
                </a:solidFill>
                <a:latin typeface="华文新魏" panose="02010800040101010101" pitchFamily="2" charset="-122"/>
                <a:ea typeface="华文新魏" panose="02010800040101010101" pitchFamily="2" charset="-122"/>
              </a:rPr>
              <a:t>  </a:t>
            </a:r>
            <a:r>
              <a:rPr lang="zh-CN" altLang="en-US" sz="2400" b="0" dirty="0">
                <a:solidFill>
                  <a:srgbClr val="BE2A02"/>
                </a:solidFill>
                <a:latin typeface="华文新魏" panose="02010800040101010101" pitchFamily="2" charset="-122"/>
                <a:ea typeface="华文新魏" panose="02010800040101010101" pitchFamily="2" charset="-122"/>
              </a:rPr>
              <a:t>就业方向一：</a:t>
            </a:r>
            <a:endParaRPr lang="zh-CN" altLang="en-US" sz="2400" b="0" dirty="0">
              <a:solidFill>
                <a:srgbClr val="BE2A02"/>
              </a:solidFill>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r>
              <a:rPr lang="zh-CN" altLang="en-US" sz="2400" b="0" dirty="0">
                <a:solidFill>
                  <a:srgbClr val="BE2A02"/>
                </a:solidFill>
                <a:latin typeface="华文新魏" panose="02010800040101010101" pitchFamily="2" charset="-122"/>
                <a:ea typeface="华文新魏" panose="02010800040101010101" pitchFamily="2" charset="-122"/>
              </a:rPr>
              <a:t>  </a:t>
            </a:r>
            <a:r>
              <a:rPr lang="zh-CN" altLang="en-US" sz="2400" b="0" dirty="0">
                <a:solidFill>
                  <a:srgbClr val="000000"/>
                </a:solidFill>
                <a:latin typeface="华文新魏" panose="02010800040101010101" pitchFamily="2" charset="-122"/>
                <a:ea typeface="华文新魏" panose="02010800040101010101" pitchFamily="2" charset="-122"/>
              </a:rPr>
              <a:t>网络通信设备制造商</a:t>
            </a:r>
            <a:endParaRPr lang="zh-CN" altLang="en-US" sz="2400" b="0" dirty="0">
              <a:solidFill>
                <a:srgbClr val="000000"/>
              </a:solidFill>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r>
              <a:rPr lang="zh-CN" altLang="en-US" sz="2400" b="0" dirty="0">
                <a:solidFill>
                  <a:srgbClr val="000000"/>
                </a:solidFill>
                <a:latin typeface="华文新魏" panose="02010800040101010101" pitchFamily="2" charset="-122"/>
                <a:ea typeface="华文新魏" panose="02010800040101010101" pitchFamily="2" charset="-122"/>
              </a:rPr>
              <a:t>（中兴，华为，大唐，烽火，普天，阿朗，诺西等</a:t>
            </a:r>
            <a:r>
              <a:rPr lang="en-US" altLang="zh-CN" sz="2400" b="0" dirty="0" smtClean="0">
                <a:solidFill>
                  <a:srgbClr val="000000"/>
                </a:solidFill>
                <a:latin typeface="华文新魏" panose="02010800040101010101" pitchFamily="2" charset="-122"/>
                <a:ea typeface="华文新魏" panose="02010800040101010101" pitchFamily="2" charset="-122"/>
              </a:rPr>
              <a:t>)</a:t>
            </a:r>
            <a:endParaRPr lang="en-US" altLang="zh-CN" sz="2400" b="0" dirty="0">
              <a:solidFill>
                <a:srgbClr val="000000"/>
              </a:solidFill>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r>
              <a:rPr lang="en-US" altLang="zh-CN" sz="2400" b="0" dirty="0">
                <a:solidFill>
                  <a:srgbClr val="BE2A02"/>
                </a:solidFill>
                <a:latin typeface="华文新魏" panose="02010800040101010101" pitchFamily="2" charset="-122"/>
                <a:ea typeface="华文新魏" panose="02010800040101010101" pitchFamily="2" charset="-122"/>
              </a:rPr>
              <a:t>  </a:t>
            </a:r>
            <a:r>
              <a:rPr lang="zh-CN" altLang="en-US" sz="2400" b="0" dirty="0" smtClean="0">
                <a:solidFill>
                  <a:srgbClr val="BE2A02"/>
                </a:solidFill>
                <a:latin typeface="华文新魏" panose="02010800040101010101" pitchFamily="2" charset="-122"/>
                <a:ea typeface="华文新魏" panose="02010800040101010101" pitchFamily="2" charset="-122"/>
              </a:rPr>
              <a:t>就业</a:t>
            </a:r>
            <a:r>
              <a:rPr lang="zh-CN" altLang="en-US" sz="2400" dirty="0">
                <a:solidFill>
                  <a:srgbClr val="BE2A02"/>
                </a:solidFill>
                <a:latin typeface="华文新魏" panose="02010800040101010101" pitchFamily="2" charset="-122"/>
                <a:ea typeface="华文新魏" panose="02010800040101010101" pitchFamily="2" charset="-122"/>
              </a:rPr>
              <a:t>岗位</a:t>
            </a:r>
            <a:r>
              <a:rPr lang="zh-CN" altLang="en-US" sz="2400" b="0" dirty="0" smtClean="0">
                <a:solidFill>
                  <a:srgbClr val="BE2A02"/>
                </a:solidFill>
                <a:latin typeface="华文新魏" panose="02010800040101010101" pitchFamily="2" charset="-122"/>
                <a:ea typeface="华文新魏" panose="02010800040101010101" pitchFamily="2" charset="-122"/>
              </a:rPr>
              <a:t>：</a:t>
            </a:r>
            <a:endParaRPr lang="zh-CN" altLang="en-US" sz="2400" b="0" dirty="0">
              <a:solidFill>
                <a:srgbClr val="BE2A02"/>
              </a:solidFill>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r>
              <a:rPr lang="zh-CN" altLang="en-US" sz="2400" dirty="0">
                <a:solidFill>
                  <a:schemeClr val="accent2"/>
                </a:solidFill>
                <a:latin typeface="华文新魏" panose="02010800040101010101" pitchFamily="2" charset="-122"/>
                <a:ea typeface="华文新魏" panose="02010800040101010101" pitchFamily="2" charset="-122"/>
              </a:rPr>
              <a:t>  </a:t>
            </a:r>
            <a:r>
              <a:rPr lang="zh-CN" altLang="en-US" sz="2400" b="0" dirty="0">
                <a:latin typeface="华文新魏" panose="02010800040101010101" pitchFamily="2" charset="-122"/>
                <a:ea typeface="华文新魏" panose="02010800040101010101" pitchFamily="2" charset="-122"/>
              </a:rPr>
              <a:t>助理研发、研发工程师、项目经理</a:t>
            </a:r>
            <a:endParaRPr lang="zh-CN" altLang="en-US" sz="2400" b="0" dirty="0">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r>
              <a:rPr lang="zh-CN" altLang="en-US" sz="2400" b="0" dirty="0">
                <a:latin typeface="华文新魏" panose="02010800040101010101" pitchFamily="2" charset="-122"/>
                <a:ea typeface="华文新魏" panose="02010800040101010101" pitchFamily="2" charset="-122"/>
              </a:rPr>
              <a:t>  硬件测试、质量检验、安全管理</a:t>
            </a:r>
            <a:endParaRPr lang="zh-CN" altLang="en-US" sz="2400" b="0" dirty="0">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r>
              <a:rPr lang="zh-CN" altLang="en-US" sz="2400" b="0" dirty="0">
                <a:latin typeface="华文新魏" panose="02010800040101010101" pitchFamily="2" charset="-122"/>
                <a:ea typeface="华文新魏" panose="02010800040101010101" pitchFamily="2" charset="-122"/>
              </a:rPr>
              <a:t>  售前</a:t>
            </a:r>
            <a:r>
              <a:rPr lang="en-US" altLang="zh-CN" sz="2400" b="0" dirty="0">
                <a:latin typeface="华文新魏" panose="02010800040101010101" pitchFamily="2" charset="-122"/>
                <a:ea typeface="华文新魏" panose="02010800040101010101" pitchFamily="2" charset="-122"/>
              </a:rPr>
              <a:t>/</a:t>
            </a:r>
            <a:r>
              <a:rPr lang="zh-CN" altLang="en-US" sz="2400" b="0" dirty="0">
                <a:latin typeface="华文新魏" panose="02010800040101010101" pitchFamily="2" charset="-122"/>
                <a:ea typeface="华文新魏" panose="02010800040101010101" pitchFamily="2" charset="-122"/>
              </a:rPr>
              <a:t>售后支持</a:t>
            </a:r>
            <a:endParaRPr lang="zh-CN" altLang="en-US" sz="2400" dirty="0">
              <a:latin typeface="华文新魏" panose="02010800040101010101" pitchFamily="2" charset="-122"/>
              <a:ea typeface="华文新魏" panose="02010800040101010101" pitchFamily="2" charset="-122"/>
            </a:endParaRPr>
          </a:p>
          <a:p>
            <a:pPr marL="342900" indent="-342900" algn="l" eaLnBrk="1" hangingPunct="1">
              <a:spcBef>
                <a:spcPct val="20000"/>
              </a:spcBef>
              <a:buClr>
                <a:schemeClr val="tx2"/>
              </a:buClr>
              <a:buSzPct val="80000"/>
            </a:pPr>
            <a:endParaRPr lang="en-US" altLang="zh-CN" sz="2800" b="0" dirty="0">
              <a:solidFill>
                <a:srgbClr val="000000"/>
              </a:solidFill>
              <a:latin typeface="华文新魏" panose="02010800040101010101" pitchFamily="2" charset="-122"/>
              <a:ea typeface="华文新魏" panose="02010800040101010101" pitchFamily="2" charset="-122"/>
            </a:endParaRPr>
          </a:p>
        </p:txBody>
      </p:sp>
      <p:cxnSp>
        <p:nvCxnSpPr>
          <p:cNvPr id="42"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三</a:t>
            </a:r>
            <a:r>
              <a:rPr kumimoji="1" lang="zh-CN" altLang="en-US" sz="2245" dirty="0" smtClean="0">
                <a:latin typeface="微软雅黑" panose="020B0503020204020204" charset="-122"/>
                <a:ea typeface="微软雅黑" panose="020B0503020204020204" charset="-122"/>
                <a:cs typeface="微软雅黑" panose="020B0503020204020204" charset="-122"/>
              </a:rPr>
              <a:t>、</a:t>
            </a:r>
            <a:r>
              <a:rPr kumimoji="1" lang="zh-CN" altLang="zh-CN" sz="2245" dirty="0">
                <a:latin typeface="微软雅黑" panose="020B0503020204020204" charset="-122"/>
                <a:ea typeface="微软雅黑" panose="020B0503020204020204" charset="-122"/>
                <a:cs typeface="微软雅黑" panose="020B0503020204020204" charset="-122"/>
              </a:rPr>
              <a:t>通信工程岗位</a:t>
            </a:r>
            <a:r>
              <a:rPr kumimoji="1" lang="zh-CN" altLang="zh-CN" sz="2245" dirty="0" smtClean="0">
                <a:latin typeface="微软雅黑" panose="020B0503020204020204" charset="-122"/>
                <a:ea typeface="微软雅黑" panose="020B0503020204020204" charset="-122"/>
                <a:cs typeface="微软雅黑" panose="020B0503020204020204" charset="-122"/>
              </a:rPr>
              <a:t>介绍</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41" name="矩形 14"/>
          <p:cNvSpPr>
            <a:spLocks noChangeArrowheads="1"/>
          </p:cNvSpPr>
          <p:nvPr/>
        </p:nvSpPr>
        <p:spPr bwMode="auto">
          <a:xfrm>
            <a:off x="500063" y="1055688"/>
            <a:ext cx="8185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就业方向二：</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网络通信行业渠道商</a:t>
            </a:r>
            <a:r>
              <a:rPr lang="en-US" altLang="zh-CN" sz="2400" dirty="0">
                <a:latin typeface="华文新魏" panose="02010800040101010101" pitchFamily="2" charset="-122"/>
                <a:ea typeface="华文新魏" panose="02010800040101010101" pitchFamily="2" charset="-122"/>
              </a:rPr>
              <a:t>/</a:t>
            </a:r>
            <a:r>
              <a:rPr lang="zh-CN" altLang="en-US" sz="2400" dirty="0">
                <a:latin typeface="华文新魏" panose="02010800040101010101" pitchFamily="2" charset="-122"/>
                <a:ea typeface="华文新魏" panose="02010800040101010101" pitchFamily="2" charset="-122"/>
              </a:rPr>
              <a:t>代理商</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smtClean="0">
                <a:solidFill>
                  <a:srgbClr val="BE2A02"/>
                </a:solidFill>
                <a:latin typeface="华文新魏" panose="02010800040101010101" pitchFamily="2" charset="-122"/>
                <a:ea typeface="华文新魏" panose="02010800040101010101" pitchFamily="2" charset="-122"/>
              </a:rPr>
              <a:t>就业岗位</a:t>
            </a:r>
            <a:r>
              <a:rPr lang="zh-CN" altLang="en-US" sz="2400" dirty="0">
                <a:solidFill>
                  <a:srgbClr val="BE2A02"/>
                </a:solidFill>
                <a:latin typeface="华文新魏" panose="02010800040101010101" pitchFamily="2" charset="-122"/>
                <a:ea typeface="华文新魏" panose="02010800040101010101" pitchFamily="2" charset="-122"/>
              </a:rPr>
              <a:t>：</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网络通信产品营销</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售前工程师、售后工程师</a:t>
            </a:r>
            <a:endParaRPr lang="en-US" altLang="zh-CN" sz="2400" b="0" dirty="0">
              <a:solidFill>
                <a:srgbClr val="000000"/>
              </a:solidFill>
              <a:latin typeface="华文新魏" panose="02010800040101010101" pitchFamily="2" charset="-122"/>
              <a:ea typeface="华文新魏" panose="02010800040101010101" pitchFamily="2" charset="-122"/>
            </a:endParaRPr>
          </a:p>
        </p:txBody>
      </p:sp>
      <p:cxnSp>
        <p:nvCxnSpPr>
          <p:cNvPr id="42"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三</a:t>
            </a:r>
            <a:r>
              <a:rPr kumimoji="1" lang="zh-CN" altLang="en-US" sz="2245" dirty="0" smtClean="0">
                <a:latin typeface="微软雅黑" panose="020B0503020204020204" charset="-122"/>
                <a:ea typeface="微软雅黑" panose="020B0503020204020204" charset="-122"/>
                <a:cs typeface="微软雅黑" panose="020B0503020204020204" charset="-122"/>
              </a:rPr>
              <a:t>、</a:t>
            </a:r>
            <a:r>
              <a:rPr kumimoji="1" lang="zh-CN" altLang="zh-CN" sz="2245" dirty="0">
                <a:latin typeface="微软雅黑" panose="020B0503020204020204" charset="-122"/>
                <a:ea typeface="微软雅黑" panose="020B0503020204020204" charset="-122"/>
                <a:cs typeface="微软雅黑" panose="020B0503020204020204" charset="-122"/>
              </a:rPr>
              <a:t>通信工程岗位</a:t>
            </a:r>
            <a:r>
              <a:rPr kumimoji="1" lang="zh-CN" altLang="zh-CN" sz="2245" dirty="0" smtClean="0">
                <a:latin typeface="微软雅黑" panose="020B0503020204020204" charset="-122"/>
                <a:ea typeface="微软雅黑" panose="020B0503020204020204" charset="-122"/>
                <a:cs typeface="微软雅黑" panose="020B0503020204020204" charset="-122"/>
              </a:rPr>
              <a:t>介绍</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41" name="矩形 14"/>
          <p:cNvSpPr>
            <a:spLocks noChangeArrowheads="1"/>
          </p:cNvSpPr>
          <p:nvPr/>
        </p:nvSpPr>
        <p:spPr bwMode="auto">
          <a:xfrm>
            <a:off x="788095" y="1055688"/>
            <a:ext cx="7896968"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就业方向三：</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邮电规划设计院</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（中讯院、华信设计院、上海邮电设计院、广东电信规划设计院等）         </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就业职位：</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通信网络规划设计、技术咨询</a:t>
            </a:r>
            <a:endParaRPr lang="zh-CN" altLang="en-US" sz="2400" dirty="0">
              <a:latin typeface="华文新魏" panose="02010800040101010101" pitchFamily="2" charset="-122"/>
              <a:ea typeface="华文新魏" panose="02010800040101010101" pitchFamily="2" charset="-122"/>
            </a:endParaRPr>
          </a:p>
        </p:txBody>
      </p:sp>
      <p:cxnSp>
        <p:nvCxnSpPr>
          <p:cNvPr id="42"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三</a:t>
            </a:r>
            <a:r>
              <a:rPr kumimoji="1" lang="zh-CN" altLang="en-US" sz="2245" dirty="0" smtClean="0">
                <a:latin typeface="微软雅黑" panose="020B0503020204020204" charset="-122"/>
                <a:ea typeface="微软雅黑" panose="020B0503020204020204" charset="-122"/>
                <a:cs typeface="微软雅黑" panose="020B0503020204020204" charset="-122"/>
              </a:rPr>
              <a:t>、</a:t>
            </a:r>
            <a:r>
              <a:rPr kumimoji="1" lang="zh-CN" altLang="zh-CN" sz="2245" dirty="0">
                <a:latin typeface="微软雅黑" panose="020B0503020204020204" charset="-122"/>
                <a:ea typeface="微软雅黑" panose="020B0503020204020204" charset="-122"/>
                <a:cs typeface="微软雅黑" panose="020B0503020204020204" charset="-122"/>
              </a:rPr>
              <a:t>通信工程岗位</a:t>
            </a:r>
            <a:r>
              <a:rPr kumimoji="1" lang="zh-CN" altLang="zh-CN" sz="2245" dirty="0" smtClean="0">
                <a:latin typeface="微软雅黑" panose="020B0503020204020204" charset="-122"/>
                <a:ea typeface="微软雅黑" panose="020B0503020204020204" charset="-122"/>
                <a:cs typeface="微软雅黑" panose="020B0503020204020204" charset="-122"/>
              </a:rPr>
              <a:t>介绍</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41" name="矩形 14"/>
          <p:cNvSpPr>
            <a:spLocks noChangeArrowheads="1"/>
          </p:cNvSpPr>
          <p:nvPr/>
        </p:nvSpPr>
        <p:spPr bwMode="auto">
          <a:xfrm>
            <a:off x="1508175" y="1055688"/>
            <a:ext cx="6960864" cy="3564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就业方向四：工程外包商</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各省电信实业公司         </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邮电工程局</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通信工程承建商、监理</a:t>
            </a:r>
            <a:r>
              <a:rPr lang="zh-CN" altLang="en-US" sz="2400" dirty="0" smtClean="0">
                <a:latin typeface="华文新魏" panose="02010800040101010101" pitchFamily="2" charset="-122"/>
                <a:ea typeface="华文新魏" panose="02010800040101010101" pitchFamily="2" charset="-122"/>
              </a:rPr>
              <a:t>公司</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就业职位：</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项目经理、工程督导、工程监理</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安装工程师、调测工程师、维护工程师</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网络优化工程师</a:t>
            </a:r>
            <a:endParaRPr lang="zh-CN" altLang="en-US" sz="2400" dirty="0">
              <a:latin typeface="华文新魏" panose="02010800040101010101" pitchFamily="2" charset="-122"/>
              <a:ea typeface="华文新魏" panose="02010800040101010101" pitchFamily="2" charset="-122"/>
            </a:endParaRPr>
          </a:p>
        </p:txBody>
      </p:sp>
      <p:cxnSp>
        <p:nvCxnSpPr>
          <p:cNvPr id="42"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三</a:t>
            </a:r>
            <a:r>
              <a:rPr kumimoji="1" lang="zh-CN" altLang="en-US" sz="2245" dirty="0" smtClean="0">
                <a:latin typeface="微软雅黑" panose="020B0503020204020204" charset="-122"/>
                <a:ea typeface="微软雅黑" panose="020B0503020204020204" charset="-122"/>
                <a:cs typeface="微软雅黑" panose="020B0503020204020204" charset="-122"/>
              </a:rPr>
              <a:t>、</a:t>
            </a:r>
            <a:r>
              <a:rPr kumimoji="1" lang="zh-CN" altLang="zh-CN" sz="2245" dirty="0">
                <a:latin typeface="微软雅黑" panose="020B0503020204020204" charset="-122"/>
                <a:ea typeface="微软雅黑" panose="020B0503020204020204" charset="-122"/>
                <a:cs typeface="微软雅黑" panose="020B0503020204020204" charset="-122"/>
              </a:rPr>
              <a:t>通信工程岗位</a:t>
            </a:r>
            <a:r>
              <a:rPr kumimoji="1" lang="zh-CN" altLang="zh-CN" sz="2245" dirty="0" smtClean="0">
                <a:latin typeface="微软雅黑" panose="020B0503020204020204" charset="-122"/>
                <a:ea typeface="微软雅黑" panose="020B0503020204020204" charset="-122"/>
                <a:cs typeface="微软雅黑" panose="020B0503020204020204" charset="-122"/>
              </a:rPr>
              <a:t>介绍</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sp>
        <p:nvSpPr>
          <p:cNvPr id="41" name="矩形 14"/>
          <p:cNvSpPr>
            <a:spLocks noChangeArrowheads="1"/>
          </p:cNvSpPr>
          <p:nvPr/>
        </p:nvSpPr>
        <p:spPr bwMode="auto">
          <a:xfrm>
            <a:off x="1508175" y="1055688"/>
            <a:ext cx="6960864" cy="3120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就业方向五：运营维护商</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电信运营商维护部门</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第三方代维公司  </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solidFill>
                  <a:srgbClr val="BE2A02"/>
                </a:solidFill>
                <a:latin typeface="华文新魏" panose="02010800040101010101" pitchFamily="2" charset="-122"/>
                <a:ea typeface="华文新魏" panose="02010800040101010101" pitchFamily="2" charset="-122"/>
              </a:rPr>
              <a:t>就业职位：</a:t>
            </a:r>
            <a:endParaRPr lang="zh-CN" altLang="en-US" sz="2400" dirty="0">
              <a:solidFill>
                <a:srgbClr val="BE2A02"/>
              </a:solidFill>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通信网络运营维护、</a:t>
            </a:r>
            <a:endParaRPr lang="zh-CN" altLang="en-US" sz="2400" dirty="0">
              <a:latin typeface="华文新魏" panose="02010800040101010101" pitchFamily="2" charset="-122"/>
              <a:ea typeface="华文新魏" panose="02010800040101010101" pitchFamily="2" charset="-122"/>
            </a:endParaRPr>
          </a:p>
          <a:p>
            <a:pPr>
              <a:spcBef>
                <a:spcPct val="20000"/>
              </a:spcBef>
              <a:buClr>
                <a:schemeClr val="tx2"/>
              </a:buClr>
              <a:buSzPct val="80000"/>
            </a:pPr>
            <a:r>
              <a:rPr lang="zh-CN" altLang="en-US" sz="2400" dirty="0">
                <a:latin typeface="华文新魏" panose="02010800040101010101" pitchFamily="2" charset="-122"/>
                <a:ea typeface="华文新魏" panose="02010800040101010101" pitchFamily="2" charset="-122"/>
              </a:rPr>
              <a:t>网络优化工程师、技术支持工程师</a:t>
            </a:r>
            <a:endParaRPr lang="zh-CN" altLang="en-US" sz="2400" dirty="0">
              <a:latin typeface="华文新魏" panose="02010800040101010101" pitchFamily="2" charset="-122"/>
              <a:ea typeface="华文新魏" panose="02010800040101010101" pitchFamily="2" charset="-122"/>
            </a:endParaRPr>
          </a:p>
        </p:txBody>
      </p:sp>
      <p:cxnSp>
        <p:nvCxnSpPr>
          <p:cNvPr id="42"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20276" y="341457"/>
            <a:ext cx="6328883" cy="506742"/>
          </a:xfrm>
          <a:prstGeom prst="rect">
            <a:avLst/>
          </a:prstGeom>
          <a:noFill/>
        </p:spPr>
        <p:txBody>
          <a:bodyPr wrap="square" rtlCol="0">
            <a:spAutoFit/>
          </a:bodyPr>
          <a:lstStyle/>
          <a:p>
            <a:pPr>
              <a:lnSpc>
                <a:spcPct val="120000"/>
              </a:lnSpc>
            </a:pPr>
            <a:r>
              <a:rPr kumimoji="1" lang="zh-CN" altLang="en-US" sz="2245" dirty="0">
                <a:latin typeface="微软雅黑" panose="020B0503020204020204" charset="-122"/>
                <a:ea typeface="微软雅黑" panose="020B0503020204020204" charset="-122"/>
                <a:cs typeface="微软雅黑" panose="020B0503020204020204" charset="-122"/>
              </a:rPr>
              <a:t>四</a:t>
            </a:r>
            <a:r>
              <a:rPr kumimoji="1" lang="zh-CN" altLang="en-US" sz="2245" dirty="0" smtClean="0">
                <a:latin typeface="微软雅黑" panose="020B0503020204020204" charset="-122"/>
                <a:ea typeface="微软雅黑" panose="020B0503020204020204" charset="-122"/>
                <a:cs typeface="微软雅黑" panose="020B0503020204020204" charset="-122"/>
              </a:rPr>
              <a:t>、通信工程文明施工礼仪</a:t>
            </a:r>
            <a:endParaRPr kumimoji="1" lang="en-US" altLang="zh-CN" sz="2245" dirty="0">
              <a:latin typeface="微软雅黑" panose="020B0503020204020204" charset="-122"/>
              <a:ea typeface="微软雅黑" panose="020B0503020204020204" charset="-122"/>
              <a:cs typeface="微软雅黑" panose="020B0503020204020204" charset="-122"/>
            </a:endParaRPr>
          </a:p>
        </p:txBody>
      </p:sp>
      <p:cxnSp>
        <p:nvCxnSpPr>
          <p:cNvPr id="4" name="直线连接符 3"/>
          <p:cNvCxnSpPr/>
          <p:nvPr/>
        </p:nvCxnSpPr>
        <p:spPr>
          <a:xfrm>
            <a:off x="420276" y="812757"/>
            <a:ext cx="8550724" cy="0"/>
          </a:xfrm>
          <a:prstGeom prst="line">
            <a:avLst/>
          </a:prstGeom>
          <a:ln w="3175" cmpd="sng"/>
        </p:spPr>
        <p:style>
          <a:lnRef idx="2">
            <a:schemeClr val="accent1"/>
          </a:lnRef>
          <a:fillRef idx="0">
            <a:schemeClr val="accent1"/>
          </a:fillRef>
          <a:effectRef idx="1">
            <a:schemeClr val="accent1"/>
          </a:effectRef>
          <a:fontRef idx="minor">
            <a:schemeClr val="tx1"/>
          </a:fontRef>
        </p:style>
      </p:cxnSp>
      <p:sp>
        <p:nvSpPr>
          <p:cNvPr id="6" name="文本框 5"/>
          <p:cNvSpPr txBox="1"/>
          <p:nvPr/>
        </p:nvSpPr>
        <p:spPr>
          <a:xfrm>
            <a:off x="1123950" y="1401445"/>
            <a:ext cx="7709535" cy="3166745"/>
          </a:xfrm>
          <a:prstGeom prst="rect">
            <a:avLst/>
          </a:prstGeom>
          <a:noFill/>
        </p:spPr>
        <p:txBody>
          <a:bodyPr wrap="square" rtlCol="0">
            <a:noAutofit/>
          </a:bodyPr>
          <a:lstStyle/>
          <a:p>
            <a:pPr indent="379730">
              <a:lnSpc>
                <a:spcPct val="150000"/>
              </a:lnSpc>
            </a:pPr>
            <a:r>
              <a:rPr kumimoji="1" lang="zh-CN" altLang="en-US" sz="2000" dirty="0" smtClean="0">
                <a:latin typeface="微软雅黑" panose="020B0503020204020204" charset="-122"/>
                <a:ea typeface="微软雅黑" panose="020B0503020204020204" charset="-122"/>
                <a:cs typeface="微软雅黑" panose="020B0503020204020204" charset="-122"/>
                <a:sym typeface="+mn-ea"/>
              </a:rPr>
              <a:t>通信文明施工礼仪的作用：</a:t>
            </a:r>
            <a:endParaRPr kumimoji="1" lang="en-US" altLang="zh-CN" sz="2000" dirty="0" smtClean="0">
              <a:latin typeface="微软雅黑" panose="020B0503020204020204" charset="-122"/>
              <a:ea typeface="微软雅黑" panose="020B0503020204020204" charset="-122"/>
              <a:cs typeface="微软雅黑" panose="020B0503020204020204" charset="-122"/>
              <a:sym typeface="+mn-ea"/>
            </a:endParaRPr>
          </a:p>
          <a:p>
            <a:pPr indent="379730">
              <a:lnSpc>
                <a:spcPct val="150000"/>
              </a:lnSpc>
            </a:pPr>
            <a:r>
              <a:rPr kumimoji="1" lang="en-US" altLang="zh-CN" sz="2000" dirty="0" smtClean="0">
                <a:latin typeface="微软雅黑" panose="020B0503020204020204" charset="-122"/>
                <a:ea typeface="微软雅黑" panose="020B0503020204020204" charset="-122"/>
                <a:cs typeface="微软雅黑" panose="020B0503020204020204" charset="-122"/>
                <a:sym typeface="+mn-ea"/>
              </a:rPr>
              <a:t>1</a:t>
            </a:r>
            <a:r>
              <a:rPr kumimoji="1" lang="zh-CN" altLang="en-US" sz="2000" dirty="0">
                <a:latin typeface="微软雅黑" panose="020B0503020204020204" charset="-122"/>
                <a:ea typeface="微软雅黑" panose="020B0503020204020204" charset="-122"/>
                <a:cs typeface="微软雅黑" panose="020B0503020204020204" charset="-122"/>
                <a:sym typeface="+mn-ea"/>
              </a:rPr>
              <a:t>、塑造良好的职业形象与个人</a:t>
            </a:r>
            <a:r>
              <a:rPr kumimoji="1" lang="zh-CN" altLang="en-US" sz="2000" dirty="0" smtClean="0">
                <a:latin typeface="微软雅黑" panose="020B0503020204020204" charset="-122"/>
                <a:ea typeface="微软雅黑" panose="020B0503020204020204" charset="-122"/>
                <a:cs typeface="微软雅黑" panose="020B0503020204020204" charset="-122"/>
                <a:sym typeface="+mn-ea"/>
              </a:rPr>
              <a:t>魅力；</a:t>
            </a:r>
            <a:endParaRPr kumimoji="1" lang="en-US" altLang="zh-CN" sz="2000" dirty="0" smtClean="0">
              <a:latin typeface="微软雅黑" panose="020B0503020204020204" charset="-122"/>
              <a:ea typeface="微软雅黑" panose="020B0503020204020204" charset="-122"/>
              <a:cs typeface="微软雅黑" panose="020B0503020204020204" charset="-122"/>
              <a:sym typeface="+mn-ea"/>
            </a:endParaRPr>
          </a:p>
          <a:p>
            <a:pPr indent="379730">
              <a:lnSpc>
                <a:spcPct val="150000"/>
              </a:lnSpc>
            </a:pPr>
            <a:r>
              <a:rPr kumimoji="1" lang="en-US" altLang="zh-CN" sz="2000" dirty="0" smtClean="0">
                <a:latin typeface="微软雅黑" panose="020B0503020204020204" charset="-122"/>
                <a:ea typeface="微软雅黑" panose="020B0503020204020204" charset="-122"/>
                <a:cs typeface="微软雅黑" panose="020B0503020204020204" charset="-122"/>
                <a:sym typeface="+mn-ea"/>
              </a:rPr>
              <a:t>2</a:t>
            </a:r>
            <a:r>
              <a:rPr kumimoji="1" lang="zh-CN" altLang="en-US" sz="2000" dirty="0">
                <a:latin typeface="微软雅黑" panose="020B0503020204020204" charset="-122"/>
                <a:ea typeface="微软雅黑" panose="020B0503020204020204" charset="-122"/>
                <a:cs typeface="微软雅黑" panose="020B0503020204020204" charset="-122"/>
                <a:sym typeface="+mn-ea"/>
              </a:rPr>
              <a:t>、提升人际关系处理能力，建立和谐积极的人际氛围；</a:t>
            </a:r>
            <a:endParaRPr kumimoji="1" lang="en-US" altLang="zh-CN" sz="2000" dirty="0" smtClean="0">
              <a:latin typeface="微软雅黑" panose="020B0503020204020204" charset="-122"/>
              <a:ea typeface="微软雅黑" panose="020B0503020204020204" charset="-122"/>
              <a:cs typeface="微软雅黑" panose="020B0503020204020204" charset="-122"/>
              <a:sym typeface="+mn-ea"/>
            </a:endParaRPr>
          </a:p>
          <a:p>
            <a:pPr indent="379730">
              <a:lnSpc>
                <a:spcPct val="150000"/>
              </a:lnSpc>
            </a:pPr>
            <a:r>
              <a:rPr kumimoji="1" lang="en-US" altLang="zh-CN" sz="2000" dirty="0" smtClean="0">
                <a:latin typeface="微软雅黑" panose="020B0503020204020204" charset="-122"/>
                <a:ea typeface="微软雅黑" panose="020B0503020204020204" charset="-122"/>
                <a:cs typeface="微软雅黑" panose="020B0503020204020204" charset="-122"/>
                <a:sym typeface="+mn-ea"/>
              </a:rPr>
              <a:t>3</a:t>
            </a:r>
            <a:r>
              <a:rPr kumimoji="1" lang="zh-CN" altLang="en-US" sz="2000" dirty="0">
                <a:latin typeface="微软雅黑" panose="020B0503020204020204" charset="-122"/>
                <a:ea typeface="微软雅黑" panose="020B0503020204020204" charset="-122"/>
                <a:cs typeface="微软雅黑" panose="020B0503020204020204" charset="-122"/>
                <a:sym typeface="+mn-ea"/>
              </a:rPr>
              <a:t>、快速提升安全指数</a:t>
            </a:r>
            <a:r>
              <a:rPr kumimoji="1" lang="zh-CN" altLang="en-US" sz="2000" dirty="0" smtClean="0">
                <a:latin typeface="微软雅黑" panose="020B0503020204020204" charset="-122"/>
                <a:ea typeface="微软雅黑" panose="020B0503020204020204" charset="-122"/>
                <a:cs typeface="微软雅黑" panose="020B0503020204020204" charset="-122"/>
                <a:sym typeface="+mn-ea"/>
              </a:rPr>
              <a:t>，</a:t>
            </a:r>
            <a:r>
              <a:rPr kumimoji="1" lang="zh-CN" altLang="zh-CN" sz="2000" dirty="0">
                <a:latin typeface="微软雅黑" panose="020B0503020204020204" charset="-122"/>
                <a:ea typeface="微软雅黑" panose="020B0503020204020204" charset="-122"/>
                <a:cs typeface="微软雅黑" panose="020B0503020204020204" charset="-122"/>
              </a:rPr>
              <a:t>保证施工过程中保证不发生任何安全</a:t>
            </a:r>
            <a:r>
              <a:rPr kumimoji="1" lang="zh-CN" altLang="zh-CN" sz="2000" dirty="0" smtClean="0">
                <a:latin typeface="微软雅黑" panose="020B0503020204020204" charset="-122"/>
                <a:ea typeface="微软雅黑" panose="020B0503020204020204" charset="-122"/>
                <a:cs typeface="微软雅黑" panose="020B0503020204020204" charset="-122"/>
              </a:rPr>
              <a:t>责任事故</a:t>
            </a:r>
            <a:r>
              <a:rPr kumimoji="1" lang="zh-CN" altLang="en-US" sz="2000" dirty="0" smtClean="0">
                <a:latin typeface="微软雅黑" panose="020B0503020204020204" charset="-122"/>
                <a:ea typeface="微软雅黑" panose="020B0503020204020204" charset="-122"/>
                <a:cs typeface="微软雅黑" panose="020B0503020204020204" charset="-122"/>
              </a:rPr>
              <a:t>；</a:t>
            </a:r>
            <a:endParaRPr kumimoji="1" lang="en-US" altLang="zh-CN" sz="2000" dirty="0" smtClean="0">
              <a:latin typeface="微软雅黑" panose="020B0503020204020204" charset="-122"/>
              <a:ea typeface="微软雅黑" panose="020B0503020204020204" charset="-122"/>
              <a:cs typeface="微软雅黑" panose="020B0503020204020204" charset="-122"/>
            </a:endParaRPr>
          </a:p>
          <a:p>
            <a:pPr indent="379730">
              <a:lnSpc>
                <a:spcPct val="150000"/>
              </a:lnSpc>
            </a:pPr>
            <a:r>
              <a:rPr kumimoji="1" lang="en-US" altLang="zh-CN" sz="2000" dirty="0" smtClean="0">
                <a:latin typeface="微软雅黑" panose="020B0503020204020204" charset="-122"/>
                <a:ea typeface="微软雅黑" panose="020B0503020204020204" charset="-122"/>
                <a:cs typeface="微软雅黑" panose="020B0503020204020204" charset="-122"/>
                <a:sym typeface="+mn-ea"/>
              </a:rPr>
              <a:t>4</a:t>
            </a:r>
            <a:r>
              <a:rPr kumimoji="1" lang="zh-CN" altLang="en-US" sz="2000" dirty="0" smtClean="0">
                <a:latin typeface="微软雅黑" panose="020B0503020204020204" charset="-122"/>
                <a:ea typeface="微软雅黑" panose="020B0503020204020204" charset="-122"/>
                <a:cs typeface="微软雅黑" panose="020B0503020204020204" charset="-122"/>
                <a:sym typeface="+mn-ea"/>
              </a:rPr>
              <a:t>、代表企业形象，提高企业</a:t>
            </a:r>
            <a:r>
              <a:rPr kumimoji="1" lang="zh-CN" altLang="en-US" sz="2000" dirty="0">
                <a:latin typeface="微软雅黑" panose="020B0503020204020204" charset="-122"/>
                <a:ea typeface="微软雅黑" panose="020B0503020204020204" charset="-122"/>
                <a:cs typeface="微软雅黑" panose="020B0503020204020204" charset="-122"/>
                <a:sym typeface="+mn-ea"/>
              </a:rPr>
              <a:t>可信度，吸引客户，增加企业</a:t>
            </a:r>
            <a:r>
              <a:rPr kumimoji="1" lang="zh-CN" altLang="en-US" sz="2000" dirty="0" smtClean="0">
                <a:latin typeface="微软雅黑" panose="020B0503020204020204" charset="-122"/>
                <a:ea typeface="微软雅黑" panose="020B0503020204020204" charset="-122"/>
                <a:cs typeface="微软雅黑" panose="020B0503020204020204" charset="-122"/>
                <a:sym typeface="+mn-ea"/>
              </a:rPr>
              <a:t>效益</a:t>
            </a:r>
            <a:endParaRPr kumimoji="1" lang="en-US" altLang="zh-CN" sz="2000" dirty="0" smtClean="0">
              <a:latin typeface="微软雅黑" panose="020B0503020204020204" charset="-122"/>
              <a:ea typeface="微软雅黑" panose="020B0503020204020204" charset="-122"/>
              <a:cs typeface="微软雅黑" panose="020B0503020204020204" charset="-122"/>
              <a:sym typeface="+mn-ea"/>
            </a:endParaRPr>
          </a:p>
          <a:p>
            <a:pPr indent="23495">
              <a:lnSpc>
                <a:spcPct val="150000"/>
              </a:lnSpc>
            </a:pPr>
            <a:r>
              <a:rPr lang="en-US" altLang="zh-CN" sz="2000" dirty="0" smtClean="0">
                <a:latin typeface="微软雅黑" panose="020B0503020204020204" charset="-122"/>
                <a:ea typeface="微软雅黑" panose="020B0503020204020204" charset="-122"/>
                <a:sym typeface="+mn-ea"/>
              </a:rPr>
              <a:t>      </a:t>
            </a:r>
            <a:endParaRPr lang="en-US" altLang="zh-CN" sz="2000" dirty="0" smtClean="0">
              <a:latin typeface="微软雅黑" panose="020B0503020204020204" charset="-122"/>
              <a:ea typeface="微软雅黑" panose="020B0503020204020204" charset="-122"/>
              <a:sym typeface="+mn-ea"/>
            </a:endParaRPr>
          </a:p>
          <a:p>
            <a:pPr indent="23495">
              <a:lnSpc>
                <a:spcPct val="150000"/>
              </a:lnSpc>
            </a:pPr>
            <a:endParaRPr lang="en-US" altLang="zh-CN" sz="2000" dirty="0" smtClean="0">
              <a:latin typeface="微软雅黑" panose="020B0503020204020204" charset="-122"/>
              <a:ea typeface="微软雅黑" panose="020B0503020204020204" charset="-122"/>
              <a:sym typeface="+mn-ea"/>
            </a:endParaRPr>
          </a:p>
        </p:txBody>
      </p:sp>
      <p:pic>
        <p:nvPicPr>
          <p:cNvPr id="5" name="图片 4"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水印.png"/>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7644501" y="361640"/>
            <a:ext cx="1816233" cy="424520"/>
          </a:xfrm>
          <a:prstGeom prst="rect">
            <a:avLst/>
          </a:prstGeom>
        </p:spPr>
      </p:pic>
      <p:grpSp>
        <p:nvGrpSpPr>
          <p:cNvPr id="5" name="组合 4"/>
          <p:cNvGrpSpPr/>
          <p:nvPr/>
        </p:nvGrpSpPr>
        <p:grpSpPr>
          <a:xfrm>
            <a:off x="1769923" y="1221488"/>
            <a:ext cx="5759869" cy="573547"/>
            <a:chOff x="4260" y="638"/>
            <a:chExt cx="8921" cy="966"/>
          </a:xfrm>
        </p:grpSpPr>
        <p:sp>
          <p:nvSpPr>
            <p:cNvPr id="6" name="矩形 5"/>
            <p:cNvSpPr/>
            <p:nvPr/>
          </p:nvSpPr>
          <p:spPr>
            <a:xfrm>
              <a:off x="11754" y="1545"/>
              <a:ext cx="1427" cy="59"/>
            </a:xfrm>
            <a:prstGeom prst="rect">
              <a:avLst/>
            </a:prstGeom>
            <a:solidFill>
              <a:srgbClr val="CBCB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7" name="TextBox 82"/>
            <p:cNvSpPr txBox="1"/>
            <p:nvPr/>
          </p:nvSpPr>
          <p:spPr>
            <a:xfrm>
              <a:off x="7277" y="638"/>
              <a:ext cx="2902" cy="785"/>
            </a:xfrm>
            <a:prstGeom prst="round2SameRect">
              <a:avLst>
                <a:gd name="adj1" fmla="val 27581"/>
                <a:gd name="adj2" fmla="val 0"/>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990" b="1" dirty="0">
                  <a:latin typeface="微软雅黑" panose="020B0503020204020204" charset="-122"/>
                  <a:ea typeface="微软雅黑" panose="020B0503020204020204" charset="-122"/>
                </a:rPr>
                <a:t>课堂小结</a:t>
              </a:r>
              <a:endParaRPr lang="zh-CN" altLang="en-US" sz="2990" b="1" dirty="0">
                <a:latin typeface="微软雅黑" panose="020B0503020204020204" charset="-122"/>
                <a:ea typeface="微软雅黑" panose="020B0503020204020204" charset="-122"/>
              </a:endParaRPr>
            </a:p>
          </p:txBody>
        </p:sp>
        <p:sp>
          <p:nvSpPr>
            <p:cNvPr id="8" name="矩形 7"/>
            <p:cNvSpPr/>
            <p:nvPr/>
          </p:nvSpPr>
          <p:spPr>
            <a:xfrm>
              <a:off x="4260" y="1545"/>
              <a:ext cx="1427" cy="59"/>
            </a:xfrm>
            <a:prstGeom prst="rect">
              <a:avLst/>
            </a:prstGeom>
            <a:solidFill>
              <a:srgbClr val="E40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9" name="矩形 8"/>
            <p:cNvSpPr/>
            <p:nvPr/>
          </p:nvSpPr>
          <p:spPr>
            <a:xfrm>
              <a:off x="5759" y="1545"/>
              <a:ext cx="1427" cy="59"/>
            </a:xfrm>
            <a:prstGeom prst="rect">
              <a:avLst/>
            </a:prstGeom>
            <a:solidFill>
              <a:srgbClr val="8EC6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0" name="矩形 9"/>
            <p:cNvSpPr/>
            <p:nvPr/>
          </p:nvSpPr>
          <p:spPr>
            <a:xfrm>
              <a:off x="7258" y="1545"/>
              <a:ext cx="1427" cy="59"/>
            </a:xfrm>
            <a:prstGeom prst="rect">
              <a:avLst/>
            </a:prstGeom>
            <a:solidFill>
              <a:srgbClr val="EF82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1" name="矩形 10"/>
            <p:cNvSpPr/>
            <p:nvPr/>
          </p:nvSpPr>
          <p:spPr>
            <a:xfrm>
              <a:off x="8756" y="1545"/>
              <a:ext cx="1427" cy="59"/>
            </a:xfrm>
            <a:prstGeom prst="rect">
              <a:avLst/>
            </a:prstGeom>
            <a:solidFill>
              <a:srgbClr val="28A6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sp>
          <p:nvSpPr>
            <p:cNvPr id="12" name="矩形 11"/>
            <p:cNvSpPr/>
            <p:nvPr/>
          </p:nvSpPr>
          <p:spPr>
            <a:xfrm>
              <a:off x="10255" y="1545"/>
              <a:ext cx="1427" cy="59"/>
            </a:xfrm>
            <a:prstGeom prst="rect">
              <a:avLst/>
            </a:prstGeom>
            <a:solidFill>
              <a:srgbClr val="CF01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65" dirty="0"/>
            </a:p>
          </p:txBody>
        </p:sp>
      </p:grpSp>
      <p:sp>
        <p:nvSpPr>
          <p:cNvPr id="15" name="TextBox 98"/>
          <p:cNvSpPr txBox="1"/>
          <p:nvPr/>
        </p:nvSpPr>
        <p:spPr>
          <a:xfrm>
            <a:off x="1093562" y="2630233"/>
            <a:ext cx="7540796" cy="955646"/>
          </a:xfrm>
          <a:prstGeom prst="rect">
            <a:avLst/>
          </a:prstGeom>
          <a:noFill/>
        </p:spPr>
        <p:txBody>
          <a:bodyPr wrap="square" rtlCol="0">
            <a:spAutoFit/>
          </a:bodyPr>
          <a:lstStyle/>
          <a:p>
            <a:pPr>
              <a:lnSpc>
                <a:spcPct val="150000"/>
              </a:lnSpc>
            </a:pPr>
            <a:r>
              <a:rPr kumimoji="1" lang="en-US" altLang="zh-CN" sz="1870" dirty="0">
                <a:latin typeface="微软雅黑" panose="020B0503020204020204" charset="-122"/>
                <a:ea typeface="微软雅黑" panose="020B0503020204020204" charset="-122"/>
                <a:cs typeface="微软雅黑" panose="020B0503020204020204" charset="-122"/>
                <a:sym typeface="+mn-ea"/>
              </a:rPr>
              <a:t>2</a:t>
            </a:r>
            <a:r>
              <a:rPr kumimoji="1" lang="zh-CN" altLang="en-US" sz="1870" dirty="0">
                <a:latin typeface="微软雅黑" panose="020B0503020204020204" charset="-122"/>
                <a:ea typeface="微软雅黑" panose="020B0503020204020204" charset="-122"/>
                <a:cs typeface="微软雅黑" panose="020B0503020204020204" charset="-122"/>
                <a:sym typeface="+mn-ea"/>
              </a:rPr>
              <a:t>、</a:t>
            </a:r>
            <a:r>
              <a:rPr kumimoji="1" lang="zh-CN" altLang="en-US" sz="1870" dirty="0" smtClean="0">
                <a:latin typeface="微软雅黑" panose="020B0503020204020204" charset="-122"/>
                <a:ea typeface="微软雅黑" panose="020B0503020204020204" charset="-122"/>
                <a:cs typeface="微软雅黑" panose="020B0503020204020204" charset="-122"/>
                <a:sym typeface="+mn-ea"/>
              </a:rPr>
              <a:t>通信工程企业的资质：了解通信工程企业资质划分三个等级的标准、认识不同通信工程企业的承建范围。</a:t>
            </a:r>
            <a:endParaRPr kumimoji="1" lang="zh-CN" altLang="en-US" sz="1870" dirty="0">
              <a:latin typeface="微软雅黑" panose="020B0503020204020204" charset="-122"/>
              <a:ea typeface="微软雅黑" panose="020B0503020204020204" charset="-122"/>
              <a:cs typeface="微软雅黑" panose="020B0503020204020204" charset="-122"/>
              <a:sym typeface="+mn-ea"/>
            </a:endParaRPr>
          </a:p>
        </p:txBody>
      </p:sp>
      <p:sp>
        <p:nvSpPr>
          <p:cNvPr id="16" name="TextBox 99"/>
          <p:cNvSpPr txBox="1"/>
          <p:nvPr/>
        </p:nvSpPr>
        <p:spPr>
          <a:xfrm>
            <a:off x="1025849" y="1998481"/>
            <a:ext cx="7877439" cy="667875"/>
          </a:xfrm>
          <a:prstGeom prst="rect">
            <a:avLst/>
          </a:prstGeom>
          <a:noFill/>
        </p:spPr>
        <p:txBody>
          <a:bodyPr wrap="square" rtlCol="0">
            <a:spAutoFit/>
          </a:bodyPr>
          <a:lstStyle/>
          <a:p>
            <a:pPr indent="-320675">
              <a:spcBef>
                <a:spcPct val="20000"/>
              </a:spcBef>
            </a:pPr>
            <a:r>
              <a:rPr lang="en-US" altLang="zh-CN" sz="1870" b="1" dirty="0">
                <a:solidFill>
                  <a:srgbClr val="F25600"/>
                </a:solidFill>
                <a:latin typeface="微软雅黑" panose="020B0503020204020204" charset="-122"/>
                <a:ea typeface="微软雅黑" panose="020B0503020204020204" charset="-122"/>
              </a:rPr>
              <a:t> </a:t>
            </a:r>
            <a:r>
              <a:rPr lang="en-US" altLang="zh-CN" sz="1870" dirty="0">
                <a:latin typeface="微软雅黑" panose="020B0503020204020204" charset="-122"/>
                <a:ea typeface="微软雅黑" panose="020B0503020204020204" charset="-122"/>
              </a:rPr>
              <a:t>1</a:t>
            </a:r>
            <a:r>
              <a:rPr lang="zh-CN" altLang="en-US" sz="1870" dirty="0">
                <a:latin typeface="微软雅黑" panose="020B0503020204020204" charset="-122"/>
                <a:ea typeface="微软雅黑" panose="020B0503020204020204" charset="-122"/>
              </a:rPr>
              <a:t>、</a:t>
            </a:r>
            <a:r>
              <a:rPr kumimoji="1" lang="en-US" altLang="zh-CN" sz="1870" dirty="0" err="1">
                <a:latin typeface="微软雅黑" panose="020B0503020204020204" charset="-122"/>
                <a:ea typeface="微软雅黑" panose="020B0503020204020204" charset="-122"/>
                <a:cs typeface="微软雅黑" panose="020B0503020204020204" charset="-122"/>
                <a:sym typeface="+mn-ea"/>
              </a:rPr>
              <a:t>通信</a:t>
            </a:r>
            <a:r>
              <a:rPr kumimoji="1" lang="zh-CN" altLang="en-US" sz="1870" dirty="0">
                <a:latin typeface="微软雅黑" panose="020B0503020204020204" charset="-122"/>
                <a:ea typeface="微软雅黑" panose="020B0503020204020204" charset="-122"/>
                <a:cs typeface="微软雅黑" panose="020B0503020204020204" charset="-122"/>
                <a:sym typeface="+mn-ea"/>
              </a:rPr>
              <a:t>工程：包括设备的安装、调试、开通，场地的建设，线路的敷设以及这些工程的勘察设计都属于通信工程。</a:t>
            </a:r>
            <a:endParaRPr kumimoji="1" lang="en-US" altLang="zh-CN" sz="1870" dirty="0">
              <a:latin typeface="微软雅黑" panose="020B0503020204020204" charset="-122"/>
              <a:ea typeface="微软雅黑" panose="020B0503020204020204" charset="-122"/>
              <a:cs typeface="微软雅黑" panose="020B0503020204020204" charset="-122"/>
              <a:sym typeface="+mn-ea"/>
            </a:endParaRPr>
          </a:p>
        </p:txBody>
      </p:sp>
      <p:sp>
        <p:nvSpPr>
          <p:cNvPr id="18" name="TextBox 98"/>
          <p:cNvSpPr txBox="1"/>
          <p:nvPr/>
        </p:nvSpPr>
        <p:spPr>
          <a:xfrm>
            <a:off x="1093562" y="3602816"/>
            <a:ext cx="7877439" cy="955646"/>
          </a:xfrm>
          <a:prstGeom prst="rect">
            <a:avLst/>
          </a:prstGeom>
          <a:noFill/>
        </p:spPr>
        <p:txBody>
          <a:bodyPr wrap="square" rtlCol="0">
            <a:spAutoFit/>
          </a:bodyPr>
          <a:lstStyle/>
          <a:p>
            <a:pPr indent="-320675">
              <a:lnSpc>
                <a:spcPct val="150000"/>
              </a:lnSpc>
              <a:spcBef>
                <a:spcPct val="20000"/>
              </a:spcBef>
            </a:pPr>
            <a:r>
              <a:rPr kumimoji="1" lang="en-US" altLang="zh-CN" sz="1870" dirty="0">
                <a:latin typeface="微软雅黑" panose="020B0503020204020204" charset="-122"/>
                <a:ea typeface="微软雅黑" panose="020B0503020204020204" charset="-122"/>
                <a:cs typeface="微软雅黑" panose="020B0503020204020204" charset="-122"/>
              </a:rPr>
              <a:t>3、</a:t>
            </a:r>
            <a:r>
              <a:rPr kumimoji="1" lang="en-US" altLang="zh-CN" sz="1870" dirty="0" smtClean="0">
                <a:latin typeface="微软雅黑" panose="020B0503020204020204" charset="-122"/>
                <a:ea typeface="微软雅黑" panose="020B0503020204020204" charset="-122"/>
                <a:cs typeface="微软雅黑" panose="020B0503020204020204" charset="-122"/>
                <a:sym typeface="+mn-ea"/>
              </a:rPr>
              <a:t>通信</a:t>
            </a:r>
            <a:r>
              <a:rPr kumimoji="1" lang="zh-CN" altLang="en-US" sz="1870" dirty="0" smtClean="0">
                <a:latin typeface="微软雅黑" panose="020B0503020204020204" charset="-122"/>
                <a:ea typeface="微软雅黑" panose="020B0503020204020204" charset="-122"/>
                <a:cs typeface="微软雅黑" panose="020B0503020204020204" charset="-122"/>
                <a:sym typeface="+mn-ea"/>
              </a:rPr>
              <a:t>工程岗位：</a:t>
            </a:r>
            <a:r>
              <a:rPr kumimoji="1" lang="zh-CN" altLang="en-US" sz="1870" dirty="0">
                <a:latin typeface="微软雅黑" panose="020B0503020204020204" charset="-122"/>
                <a:ea typeface="微软雅黑" panose="020B0503020204020204" charset="-122"/>
                <a:cs typeface="微软雅黑" panose="020B0503020204020204" charset="-122"/>
                <a:sym typeface="+mn-ea"/>
              </a:rPr>
              <a:t>售前工程师、售后工程师、工程督导、项目经理、监理、代理维护、勘察设计工程师等。</a:t>
            </a:r>
            <a:endParaRPr kumimoji="1" lang="en-US" altLang="zh-CN" sz="1870" dirty="0">
              <a:latin typeface="微软雅黑" panose="020B0503020204020204" charset="-122"/>
              <a:ea typeface="微软雅黑" panose="020B0503020204020204" charset="-122"/>
              <a:cs typeface="微软雅黑" panose="020B0503020204020204" charset="-122"/>
            </a:endParaRPr>
          </a:p>
        </p:txBody>
      </p:sp>
      <p:pic>
        <p:nvPicPr>
          <p:cNvPr id="3081" name="图片 5" descr="校徽"/>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00570" y="177800"/>
            <a:ext cx="2462530" cy="7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2.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3.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4.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5.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6.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7.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8.xml><?xml version="1.0" encoding="utf-8"?>
<p:tagLst xmlns:p="http://schemas.openxmlformats.org/presentationml/2006/main">
  <p:tag name="KSO_WM_DIAGRAM_VIRTUALLY_FRAME" val="{&quot;height&quot;:207.36685039370076,&quot;left&quot;:156.94220472440946,&quot;top&quot;:163.8284251968504,&quot;width&quot;:390.8429133858267}"/>
</p:tagLst>
</file>

<file path=ppt/tags/tag9.xml><?xml version="1.0" encoding="utf-8"?>
<p:tagLst xmlns:p="http://schemas.openxmlformats.org/presentationml/2006/main">
  <p:tag name="commondata" val="eyJoZGlkIjoiYmQ3NjQxYmZmN2ZkODIxYWNiNTEzMzQyMTZmNzQ1MmMifQ=="/>
  <p:tag name="COMMONDATA" val="eyJoZGlkIjoiZGFlNWRkNmVlMTQxOWJjOTRkYjEzOTE3MmJkY2Q1MWI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3260</Words>
  <Application>WPS 演示</Application>
  <PresentationFormat>自定义</PresentationFormat>
  <Paragraphs>200</Paragraphs>
  <Slides>22</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22</vt:i4>
      </vt:variant>
    </vt:vector>
  </HeadingPairs>
  <TitlesOfParts>
    <vt:vector size="36" baseType="lpstr">
      <vt:lpstr>Arial</vt:lpstr>
      <vt:lpstr>宋体</vt:lpstr>
      <vt:lpstr>Wingdings</vt:lpstr>
      <vt:lpstr>微软雅黑 Light</vt:lpstr>
      <vt:lpstr>微软雅黑</vt:lpstr>
      <vt:lpstr>华文细黑</vt:lpstr>
      <vt:lpstr>Calibri</vt:lpstr>
      <vt:lpstr>Arial Unicode MS</vt:lpstr>
      <vt:lpstr>等线 Light</vt:lpstr>
      <vt:lpstr>Calibri Light</vt:lpstr>
      <vt:lpstr>等线</vt:lpstr>
      <vt:lpstr>华文新魏</vt:lpstr>
      <vt:lpstr>自定义设计方案</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Windows 用户</dc:creator>
  <cp:lastModifiedBy>WPS_1756649582</cp:lastModifiedBy>
  <cp:revision>161</cp:revision>
  <dcterms:created xsi:type="dcterms:W3CDTF">2016-04-25T01:13:00Z</dcterms:created>
  <dcterms:modified xsi:type="dcterms:W3CDTF">2025-09-01T06:55:25Z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F03C0C48CAE748B7B85C36B727025BAF_13</vt:lpwstr>
  </property>
</Properties>
</file>