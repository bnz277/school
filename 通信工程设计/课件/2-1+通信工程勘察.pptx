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70"/>
  </p:notesMasterIdLst>
  <p:sldIdLst>
    <p:sldId id="269" r:id="rId4"/>
    <p:sldId id="401" r:id="rId5"/>
    <p:sldId id="292" r:id="rId6"/>
    <p:sldId id="266" r:id="rId7"/>
    <p:sldId id="337" r:id="rId8"/>
    <p:sldId id="338" r:id="rId9"/>
    <p:sldId id="339" r:id="rId10"/>
    <p:sldId id="293" r:id="rId11"/>
    <p:sldId id="350" r:id="rId12"/>
    <p:sldId id="454" r:id="rId13"/>
    <p:sldId id="349" r:id="rId14"/>
    <p:sldId id="465" r:id="rId15"/>
    <p:sldId id="466" r:id="rId16"/>
    <p:sldId id="348" r:id="rId17"/>
    <p:sldId id="347" r:id="rId18"/>
    <p:sldId id="346" r:id="rId19"/>
    <p:sldId id="345" r:id="rId20"/>
    <p:sldId id="344" r:id="rId21"/>
    <p:sldId id="343" r:id="rId22"/>
    <p:sldId id="342" r:id="rId23"/>
    <p:sldId id="355" r:id="rId24"/>
    <p:sldId id="354" r:id="rId25"/>
    <p:sldId id="353" r:id="rId26"/>
    <p:sldId id="352" r:id="rId27"/>
    <p:sldId id="351" r:id="rId28"/>
    <p:sldId id="341" r:id="rId29"/>
    <p:sldId id="360" r:id="rId30"/>
    <p:sldId id="359" r:id="rId31"/>
    <p:sldId id="358" r:id="rId32"/>
    <p:sldId id="357" r:id="rId33"/>
    <p:sldId id="455" r:id="rId34"/>
    <p:sldId id="363" r:id="rId35"/>
    <p:sldId id="362" r:id="rId36"/>
    <p:sldId id="361" r:id="rId37"/>
    <p:sldId id="356" r:id="rId38"/>
    <p:sldId id="456" r:id="rId39"/>
    <p:sldId id="364" r:id="rId40"/>
    <p:sldId id="368" r:id="rId41"/>
    <p:sldId id="367" r:id="rId42"/>
    <p:sldId id="457" r:id="rId43"/>
    <p:sldId id="366" r:id="rId44"/>
    <p:sldId id="365" r:id="rId45"/>
    <p:sldId id="370" r:id="rId46"/>
    <p:sldId id="369" r:id="rId47"/>
    <p:sldId id="371" r:id="rId48"/>
    <p:sldId id="340" r:id="rId49"/>
    <p:sldId id="376" r:id="rId50"/>
    <p:sldId id="388" r:id="rId51"/>
    <p:sldId id="463" r:id="rId52"/>
    <p:sldId id="377" r:id="rId53"/>
    <p:sldId id="387" r:id="rId54"/>
    <p:sldId id="386" r:id="rId55"/>
    <p:sldId id="385" r:id="rId56"/>
    <p:sldId id="464" r:id="rId57"/>
    <p:sldId id="384" r:id="rId58"/>
    <p:sldId id="383" r:id="rId59"/>
    <p:sldId id="462" r:id="rId60"/>
    <p:sldId id="382" r:id="rId61"/>
    <p:sldId id="381" r:id="rId62"/>
    <p:sldId id="380" r:id="rId63"/>
    <p:sldId id="379" r:id="rId64"/>
    <p:sldId id="460" r:id="rId65"/>
    <p:sldId id="378" r:id="rId66"/>
    <p:sldId id="461" r:id="rId67"/>
    <p:sldId id="285" r:id="rId68"/>
    <p:sldId id="459" r:id="rId69"/>
  </p:sldIdLst>
  <p:sldSz cx="9592945" cy="5395595"/>
  <p:notesSz cx="6858000" cy="9144000"/>
  <p:custDataLst>
    <p:tags r:id="rId7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30" userDrawn="1">
          <p15:clr>
            <a:srgbClr val="A4A3A4"/>
          </p15:clr>
        </p15:guide>
        <p15:guide id="2" pos="306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倩倩" initials="Wqq"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2DEF1"/>
    <a:srgbClr val="5AC4F1"/>
    <a:srgbClr val="F2F2F2"/>
    <a:srgbClr val="7DCDFF"/>
    <a:srgbClr val="9BD9FF"/>
    <a:srgbClr val="8AE1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92" d="100"/>
          <a:sy n="92" d="100"/>
        </p:scale>
        <p:origin x="624" y="90"/>
      </p:cViewPr>
      <p:guideLst>
        <p:guide orient="horz" pos="1730"/>
        <p:guide pos="306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tags" Target="tags/tag9.xml"/><Relationship Id="rId74" Type="http://schemas.openxmlformats.org/officeDocument/2006/relationships/commentAuthors" Target="commentAuthors.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notesMaster" Target="notesMasters/notesMaster1.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0FEC91-376F-4B3F-A168-65C97BFAF66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528F52-921D-4B5E-90E1-89DF6F6F587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19904" y="1676400"/>
            <a:ext cx="8153456" cy="1155700"/>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438322" y="3057525"/>
            <a:ext cx="6716619" cy="1379538"/>
          </a:xfrm>
        </p:spPr>
        <p:txBody>
          <a:bodyPr/>
          <a:lstStyle>
            <a:lvl1pPr marL="0" indent="0" algn="ctr">
              <a:buNone/>
              <a:defRPr>
                <a:solidFill>
                  <a:schemeClr val="tx1">
                    <a:tint val="75000"/>
                  </a:schemeClr>
                </a:solidFill>
              </a:defRPr>
            </a:lvl1pPr>
            <a:lvl2pPr marL="427355" indent="0" algn="ctr">
              <a:buNone/>
              <a:defRPr>
                <a:solidFill>
                  <a:schemeClr val="tx1">
                    <a:tint val="75000"/>
                  </a:schemeClr>
                </a:solidFill>
              </a:defRPr>
            </a:lvl2pPr>
            <a:lvl3pPr marL="854710" indent="0" algn="ctr">
              <a:buNone/>
              <a:defRPr>
                <a:solidFill>
                  <a:schemeClr val="tx1">
                    <a:tint val="75000"/>
                  </a:schemeClr>
                </a:solidFill>
              </a:defRPr>
            </a:lvl3pPr>
            <a:lvl4pPr marL="1282700" indent="0" algn="ctr">
              <a:buNone/>
              <a:defRPr>
                <a:solidFill>
                  <a:schemeClr val="tx1">
                    <a:tint val="75000"/>
                  </a:schemeClr>
                </a:solidFill>
              </a:defRPr>
            </a:lvl4pPr>
            <a:lvl5pPr marL="1710055" indent="0" algn="ctr">
              <a:buNone/>
              <a:defRPr>
                <a:solidFill>
                  <a:schemeClr val="tx1">
                    <a:tint val="75000"/>
                  </a:schemeClr>
                </a:solidFill>
              </a:defRPr>
            </a:lvl5pPr>
            <a:lvl6pPr marL="2137410" indent="0" algn="ctr">
              <a:buNone/>
              <a:defRPr>
                <a:solidFill>
                  <a:schemeClr val="tx1">
                    <a:tint val="75000"/>
                  </a:schemeClr>
                </a:solidFill>
              </a:defRPr>
            </a:lvl6pPr>
            <a:lvl7pPr marL="2564765" indent="0" algn="ctr">
              <a:buNone/>
              <a:defRPr>
                <a:solidFill>
                  <a:schemeClr val="tx1">
                    <a:tint val="75000"/>
                  </a:schemeClr>
                </a:solidFill>
              </a:defRPr>
            </a:lvl7pPr>
            <a:lvl8pPr marL="2992120" indent="0" algn="ctr">
              <a:buNone/>
              <a:defRPr>
                <a:solidFill>
                  <a:schemeClr val="tx1">
                    <a:tint val="75000"/>
                  </a:schemeClr>
                </a:solidFill>
              </a:defRPr>
            </a:lvl8pPr>
            <a:lvl9pPr marL="342011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58497" y="3467101"/>
            <a:ext cx="8153456" cy="1071563"/>
          </a:xfrm>
        </p:spPr>
        <p:txBody>
          <a:bodyPr anchor="t"/>
          <a:lstStyle>
            <a:lvl1pPr algn="l">
              <a:defRPr sz="374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58497" y="2287588"/>
            <a:ext cx="8153456" cy="1179512"/>
          </a:xfrm>
        </p:spPr>
        <p:txBody>
          <a:bodyPr anchor="b"/>
          <a:lstStyle>
            <a:lvl1pPr marL="0" indent="0">
              <a:buNone/>
              <a:defRPr sz="1870">
                <a:solidFill>
                  <a:schemeClr val="tx1">
                    <a:tint val="75000"/>
                  </a:schemeClr>
                </a:solidFill>
              </a:defRPr>
            </a:lvl1pPr>
            <a:lvl2pPr marL="427355" indent="0">
              <a:buNone/>
              <a:defRPr sz="1685">
                <a:solidFill>
                  <a:schemeClr val="tx1">
                    <a:tint val="75000"/>
                  </a:schemeClr>
                </a:solidFill>
              </a:defRPr>
            </a:lvl2pPr>
            <a:lvl3pPr marL="854710" indent="0">
              <a:buNone/>
              <a:defRPr sz="1495">
                <a:solidFill>
                  <a:schemeClr val="tx1">
                    <a:tint val="75000"/>
                  </a:schemeClr>
                </a:solidFill>
              </a:defRPr>
            </a:lvl3pPr>
            <a:lvl4pPr marL="1282700" indent="0">
              <a:buNone/>
              <a:defRPr sz="1310">
                <a:solidFill>
                  <a:schemeClr val="tx1">
                    <a:tint val="75000"/>
                  </a:schemeClr>
                </a:solidFill>
              </a:defRPr>
            </a:lvl4pPr>
            <a:lvl5pPr marL="1710055" indent="0">
              <a:buNone/>
              <a:defRPr sz="1310">
                <a:solidFill>
                  <a:schemeClr val="tx1">
                    <a:tint val="75000"/>
                  </a:schemeClr>
                </a:solidFill>
              </a:defRPr>
            </a:lvl5pPr>
            <a:lvl6pPr marL="2137410" indent="0">
              <a:buNone/>
              <a:defRPr sz="1310">
                <a:solidFill>
                  <a:schemeClr val="tx1">
                    <a:tint val="75000"/>
                  </a:schemeClr>
                </a:solidFill>
              </a:defRPr>
            </a:lvl6pPr>
            <a:lvl7pPr marL="2564765" indent="0">
              <a:buNone/>
              <a:defRPr sz="1310">
                <a:solidFill>
                  <a:schemeClr val="tx1">
                    <a:tint val="75000"/>
                  </a:schemeClr>
                </a:solidFill>
              </a:defRPr>
            </a:lvl7pPr>
            <a:lvl8pPr marL="2992120" indent="0">
              <a:buNone/>
              <a:defRPr sz="1310">
                <a:solidFill>
                  <a:schemeClr val="tx1">
                    <a:tint val="75000"/>
                  </a:schemeClr>
                </a:solidFill>
              </a:defRPr>
            </a:lvl8pPr>
            <a:lvl9pPr marL="3420110" indent="0">
              <a:buNone/>
              <a:defRPr sz="131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79441" y="1258888"/>
            <a:ext cx="4245201" cy="3560762"/>
          </a:xfrm>
        </p:spPr>
        <p:txBody>
          <a:bodyPr/>
          <a:lstStyle>
            <a:lvl1pPr>
              <a:defRPr sz="2620"/>
            </a:lvl1pPr>
            <a:lvl2pPr>
              <a:defRPr sz="2245"/>
            </a:lvl2pPr>
            <a:lvl3pPr>
              <a:defRPr sz="1870"/>
            </a:lvl3pPr>
            <a:lvl4pPr>
              <a:defRPr sz="1685"/>
            </a:lvl4pPr>
            <a:lvl5pPr>
              <a:defRPr sz="1685"/>
            </a:lvl5pPr>
            <a:lvl6pPr>
              <a:defRPr sz="1685"/>
            </a:lvl6pPr>
            <a:lvl7pPr>
              <a:defRPr sz="1685"/>
            </a:lvl7pPr>
            <a:lvl8pPr>
              <a:defRPr sz="1685"/>
            </a:lvl8pPr>
            <a:lvl9pPr>
              <a:defRPr sz="168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867138" y="1258888"/>
            <a:ext cx="4246684" cy="3560762"/>
          </a:xfrm>
        </p:spPr>
        <p:txBody>
          <a:bodyPr/>
          <a:lstStyle>
            <a:lvl1pPr>
              <a:defRPr sz="2620"/>
            </a:lvl1pPr>
            <a:lvl2pPr>
              <a:defRPr sz="2245"/>
            </a:lvl2pPr>
            <a:lvl3pPr>
              <a:defRPr sz="1870"/>
            </a:lvl3pPr>
            <a:lvl4pPr>
              <a:defRPr sz="1685"/>
            </a:lvl4pPr>
            <a:lvl5pPr>
              <a:defRPr sz="1685"/>
            </a:lvl5pPr>
            <a:lvl6pPr>
              <a:defRPr sz="1685"/>
            </a:lvl6pPr>
            <a:lvl7pPr>
              <a:defRPr sz="1685"/>
            </a:lvl7pPr>
            <a:lvl8pPr>
              <a:defRPr sz="1685"/>
            </a:lvl8pPr>
            <a:lvl9pPr>
              <a:defRPr sz="168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79441" y="1208089"/>
            <a:ext cx="4239263" cy="503237"/>
          </a:xfrm>
        </p:spPr>
        <p:txBody>
          <a:bodyPr anchor="b"/>
          <a:lstStyle>
            <a:lvl1pPr marL="0" indent="0">
              <a:buNone/>
              <a:defRPr sz="2245" b="1"/>
            </a:lvl1pPr>
            <a:lvl2pPr marL="427355" indent="0">
              <a:buNone/>
              <a:defRPr sz="1870" b="1"/>
            </a:lvl2pPr>
            <a:lvl3pPr marL="854710" indent="0">
              <a:buNone/>
              <a:defRPr sz="1685" b="1"/>
            </a:lvl3pPr>
            <a:lvl4pPr marL="1282700" indent="0">
              <a:buNone/>
              <a:defRPr sz="1495" b="1"/>
            </a:lvl4pPr>
            <a:lvl5pPr marL="1710055" indent="0">
              <a:buNone/>
              <a:defRPr sz="1495" b="1"/>
            </a:lvl5pPr>
            <a:lvl6pPr marL="2137410" indent="0">
              <a:buNone/>
              <a:defRPr sz="1495" b="1"/>
            </a:lvl6pPr>
            <a:lvl7pPr marL="2564765" indent="0">
              <a:buNone/>
              <a:defRPr sz="1495" b="1"/>
            </a:lvl7pPr>
            <a:lvl8pPr marL="2992120" indent="0">
              <a:buNone/>
              <a:defRPr sz="1495" b="1"/>
            </a:lvl8pPr>
            <a:lvl9pPr marL="3420110" indent="0">
              <a:buNone/>
              <a:defRPr sz="149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79441" y="1711326"/>
            <a:ext cx="4239263" cy="3108325"/>
          </a:xfrm>
        </p:spPr>
        <p:txBody>
          <a:bodyPr/>
          <a:lstStyle>
            <a:lvl1pPr>
              <a:defRPr sz="2245"/>
            </a:lvl1pPr>
            <a:lvl2pPr>
              <a:defRPr sz="1870"/>
            </a:lvl2pPr>
            <a:lvl3pPr>
              <a:defRPr sz="1685"/>
            </a:lvl3pPr>
            <a:lvl4pPr>
              <a:defRPr sz="1495"/>
            </a:lvl4pPr>
            <a:lvl5pPr>
              <a:defRPr sz="1495"/>
            </a:lvl5pPr>
            <a:lvl6pPr>
              <a:defRPr sz="1495"/>
            </a:lvl6pPr>
            <a:lvl7pPr>
              <a:defRPr sz="1495"/>
            </a:lvl7pPr>
            <a:lvl8pPr>
              <a:defRPr sz="1495"/>
            </a:lvl8pPr>
            <a:lvl9pPr>
              <a:defRPr sz="149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873076" y="1208089"/>
            <a:ext cx="4240747" cy="503237"/>
          </a:xfrm>
        </p:spPr>
        <p:txBody>
          <a:bodyPr anchor="b"/>
          <a:lstStyle>
            <a:lvl1pPr marL="0" indent="0">
              <a:buNone/>
              <a:defRPr sz="2245" b="1"/>
            </a:lvl1pPr>
            <a:lvl2pPr marL="427355" indent="0">
              <a:buNone/>
              <a:defRPr sz="1870" b="1"/>
            </a:lvl2pPr>
            <a:lvl3pPr marL="854710" indent="0">
              <a:buNone/>
              <a:defRPr sz="1685" b="1"/>
            </a:lvl3pPr>
            <a:lvl4pPr marL="1282700" indent="0">
              <a:buNone/>
              <a:defRPr sz="1495" b="1"/>
            </a:lvl4pPr>
            <a:lvl5pPr marL="1710055" indent="0">
              <a:buNone/>
              <a:defRPr sz="1495" b="1"/>
            </a:lvl5pPr>
            <a:lvl6pPr marL="2137410" indent="0">
              <a:buNone/>
              <a:defRPr sz="1495" b="1"/>
            </a:lvl6pPr>
            <a:lvl7pPr marL="2564765" indent="0">
              <a:buNone/>
              <a:defRPr sz="1495" b="1"/>
            </a:lvl7pPr>
            <a:lvl8pPr marL="2992120" indent="0">
              <a:buNone/>
              <a:defRPr sz="1495" b="1"/>
            </a:lvl8pPr>
            <a:lvl9pPr marL="3420110" indent="0">
              <a:buNone/>
              <a:defRPr sz="149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873076" y="1711326"/>
            <a:ext cx="4240747" cy="3108325"/>
          </a:xfrm>
        </p:spPr>
        <p:txBody>
          <a:bodyPr/>
          <a:lstStyle>
            <a:lvl1pPr>
              <a:defRPr sz="2245"/>
            </a:lvl1pPr>
            <a:lvl2pPr>
              <a:defRPr sz="1870"/>
            </a:lvl2pPr>
            <a:lvl3pPr>
              <a:defRPr sz="1685"/>
            </a:lvl3pPr>
            <a:lvl4pPr>
              <a:defRPr sz="1495"/>
            </a:lvl4pPr>
            <a:lvl5pPr>
              <a:defRPr sz="1495"/>
            </a:lvl5pPr>
            <a:lvl6pPr>
              <a:defRPr sz="1495"/>
            </a:lvl6pPr>
            <a:lvl7pPr>
              <a:defRPr sz="1495"/>
            </a:lvl7pPr>
            <a:lvl8pPr>
              <a:defRPr sz="1495"/>
            </a:lvl8pPr>
            <a:lvl9pPr>
              <a:defRPr sz="149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79441" y="214313"/>
            <a:ext cx="3155698" cy="914400"/>
          </a:xfrm>
        </p:spPr>
        <p:txBody>
          <a:bodyPr anchor="b"/>
          <a:lstStyle>
            <a:lvl1pPr algn="l">
              <a:defRPr sz="1870" b="1"/>
            </a:lvl1pPr>
          </a:lstStyle>
          <a:p>
            <a:r>
              <a:rPr lang="zh-CN" altLang="en-US"/>
              <a:t>单击此处编辑母版标题样式</a:t>
            </a:r>
            <a:endParaRPr lang="zh-CN" altLang="en-US"/>
          </a:p>
        </p:txBody>
      </p:sp>
      <p:sp>
        <p:nvSpPr>
          <p:cNvPr id="3" name="内容占位符 2"/>
          <p:cNvSpPr>
            <a:spLocks noGrp="1"/>
          </p:cNvSpPr>
          <p:nvPr>
            <p:ph idx="1"/>
          </p:nvPr>
        </p:nvSpPr>
        <p:spPr>
          <a:xfrm>
            <a:off x="3750918" y="214314"/>
            <a:ext cx="5362905" cy="4605337"/>
          </a:xfrm>
        </p:spPr>
        <p:txBody>
          <a:bodyPr/>
          <a:lstStyle>
            <a:lvl1pPr>
              <a:defRPr sz="2990"/>
            </a:lvl1pPr>
            <a:lvl2pPr>
              <a:defRPr sz="2620"/>
            </a:lvl2pPr>
            <a:lvl3pPr>
              <a:defRPr sz="2245"/>
            </a:lvl3pPr>
            <a:lvl4pPr>
              <a:defRPr sz="1870"/>
            </a:lvl4pPr>
            <a:lvl5pPr>
              <a:defRPr sz="1870"/>
            </a:lvl5pPr>
            <a:lvl6pPr>
              <a:defRPr sz="1870"/>
            </a:lvl6pPr>
            <a:lvl7pPr>
              <a:defRPr sz="1870"/>
            </a:lvl7pPr>
            <a:lvl8pPr>
              <a:defRPr sz="1870"/>
            </a:lvl8pPr>
            <a:lvl9pPr>
              <a:defRPr sz="187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79441" y="1128714"/>
            <a:ext cx="3155698" cy="3690937"/>
          </a:xfrm>
        </p:spPr>
        <p:txBody>
          <a:bodyPr/>
          <a:lstStyle>
            <a:lvl1pPr marL="0" indent="0">
              <a:buNone/>
              <a:defRPr sz="1310"/>
            </a:lvl1pPr>
            <a:lvl2pPr marL="427355" indent="0">
              <a:buNone/>
              <a:defRPr sz="1120"/>
            </a:lvl2pPr>
            <a:lvl3pPr marL="854710" indent="0">
              <a:buNone/>
              <a:defRPr sz="935"/>
            </a:lvl3pPr>
            <a:lvl4pPr marL="1282700" indent="0">
              <a:buNone/>
              <a:defRPr sz="840"/>
            </a:lvl4pPr>
            <a:lvl5pPr marL="1710055" indent="0">
              <a:buNone/>
              <a:defRPr sz="840"/>
            </a:lvl5pPr>
            <a:lvl6pPr marL="2137410" indent="0">
              <a:buNone/>
              <a:defRPr sz="840"/>
            </a:lvl6pPr>
            <a:lvl7pPr marL="2564765" indent="0">
              <a:buNone/>
              <a:defRPr sz="840"/>
            </a:lvl7pPr>
            <a:lvl8pPr marL="2992120" indent="0">
              <a:buNone/>
              <a:defRPr sz="840"/>
            </a:lvl8pPr>
            <a:lvl9pPr marL="3420110" indent="0">
              <a:buNone/>
              <a:defRPr sz="84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80655" y="3776664"/>
            <a:ext cx="5756254" cy="446087"/>
          </a:xfrm>
        </p:spPr>
        <p:txBody>
          <a:bodyPr anchor="b"/>
          <a:lstStyle>
            <a:lvl1pPr algn="l">
              <a:defRPr sz="187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880655" y="482601"/>
            <a:ext cx="5756254" cy="3236913"/>
          </a:xfrm>
        </p:spPr>
        <p:txBody>
          <a:bodyPr/>
          <a:lstStyle>
            <a:lvl1pPr marL="0" indent="0">
              <a:buNone/>
              <a:defRPr sz="2990"/>
            </a:lvl1pPr>
            <a:lvl2pPr marL="427355" indent="0">
              <a:buNone/>
              <a:defRPr sz="2620"/>
            </a:lvl2pPr>
            <a:lvl3pPr marL="854710" indent="0">
              <a:buNone/>
              <a:defRPr sz="2245"/>
            </a:lvl3pPr>
            <a:lvl4pPr marL="1282700" indent="0">
              <a:buNone/>
              <a:defRPr sz="1870"/>
            </a:lvl4pPr>
            <a:lvl5pPr marL="1710055" indent="0">
              <a:buNone/>
              <a:defRPr sz="1870"/>
            </a:lvl5pPr>
            <a:lvl6pPr marL="2137410" indent="0">
              <a:buNone/>
              <a:defRPr sz="1870"/>
            </a:lvl6pPr>
            <a:lvl7pPr marL="2564765" indent="0">
              <a:buNone/>
              <a:defRPr sz="1870"/>
            </a:lvl7pPr>
            <a:lvl8pPr marL="2992120" indent="0">
              <a:buNone/>
              <a:defRPr sz="1870"/>
            </a:lvl8pPr>
            <a:lvl9pPr marL="3420110" indent="0">
              <a:buNone/>
              <a:defRPr sz="1870"/>
            </a:lvl9pPr>
          </a:lstStyle>
          <a:p>
            <a:endParaRPr lang="zh-CN" altLang="en-US"/>
          </a:p>
        </p:txBody>
      </p:sp>
      <p:sp>
        <p:nvSpPr>
          <p:cNvPr id="4" name="文本占位符 3"/>
          <p:cNvSpPr>
            <a:spLocks noGrp="1"/>
          </p:cNvSpPr>
          <p:nvPr>
            <p:ph type="body" sz="half" idx="2"/>
          </p:nvPr>
        </p:nvSpPr>
        <p:spPr>
          <a:xfrm>
            <a:off x="1880655" y="4222751"/>
            <a:ext cx="5756254" cy="633413"/>
          </a:xfrm>
        </p:spPr>
        <p:txBody>
          <a:bodyPr/>
          <a:lstStyle>
            <a:lvl1pPr marL="0" indent="0">
              <a:buNone/>
              <a:defRPr sz="1310"/>
            </a:lvl1pPr>
            <a:lvl2pPr marL="427355" indent="0">
              <a:buNone/>
              <a:defRPr sz="1120"/>
            </a:lvl2pPr>
            <a:lvl3pPr marL="854710" indent="0">
              <a:buNone/>
              <a:defRPr sz="935"/>
            </a:lvl3pPr>
            <a:lvl4pPr marL="1282700" indent="0">
              <a:buNone/>
              <a:defRPr sz="840"/>
            </a:lvl4pPr>
            <a:lvl5pPr marL="1710055" indent="0">
              <a:buNone/>
              <a:defRPr sz="840"/>
            </a:lvl5pPr>
            <a:lvl6pPr marL="2137410" indent="0">
              <a:buNone/>
              <a:defRPr sz="840"/>
            </a:lvl6pPr>
            <a:lvl7pPr marL="2564765" indent="0">
              <a:buNone/>
              <a:defRPr sz="840"/>
            </a:lvl7pPr>
            <a:lvl8pPr marL="2992120" indent="0">
              <a:buNone/>
              <a:defRPr sz="840"/>
            </a:lvl8pPr>
            <a:lvl9pPr marL="3420110" indent="0">
              <a:buNone/>
              <a:defRPr sz="84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5598" y="215900"/>
            <a:ext cx="2158224" cy="46037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79441" y="215900"/>
            <a:ext cx="6333661" cy="46037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99158" y="883082"/>
            <a:ext cx="7194947" cy="1878577"/>
          </a:xfrm>
        </p:spPr>
        <p:txBody>
          <a:bodyPr anchor="b"/>
          <a:lstStyle>
            <a:lvl1pPr algn="ctr">
              <a:defRPr sz="4720"/>
            </a:lvl1pPr>
          </a:lstStyle>
          <a:p>
            <a:r>
              <a:rPr lang="zh-CN" altLang="en-US"/>
              <a:t>单击此处编辑母版标题样式</a:t>
            </a:r>
            <a:endParaRPr lang="en-US" dirty="0"/>
          </a:p>
        </p:txBody>
      </p:sp>
      <p:sp>
        <p:nvSpPr>
          <p:cNvPr id="3" name="Subtitle 2"/>
          <p:cNvSpPr>
            <a:spLocks noGrp="1"/>
          </p:cNvSpPr>
          <p:nvPr>
            <p:ph type="subTitle" idx="1"/>
          </p:nvPr>
        </p:nvSpPr>
        <p:spPr>
          <a:xfrm>
            <a:off x="1199158" y="2834104"/>
            <a:ext cx="7194947" cy="1302763"/>
          </a:xfrm>
        </p:spPr>
        <p:txBody>
          <a:bodyPr/>
          <a:lstStyle>
            <a:lvl1pPr marL="0" indent="0" algn="ctr">
              <a:buNone/>
              <a:defRPr sz="1890"/>
            </a:lvl1pPr>
            <a:lvl2pPr marL="359410" indent="0" algn="ctr">
              <a:buNone/>
              <a:defRPr sz="1575"/>
            </a:lvl2pPr>
            <a:lvl3pPr marL="719455" indent="0" algn="ctr">
              <a:buNone/>
              <a:defRPr sz="1415"/>
            </a:lvl3pPr>
            <a:lvl4pPr marL="1078865" indent="0" algn="ctr">
              <a:buNone/>
              <a:defRPr sz="1260"/>
            </a:lvl4pPr>
            <a:lvl5pPr marL="1438910" indent="0" algn="ctr">
              <a:buNone/>
              <a:defRPr sz="1260"/>
            </a:lvl5pPr>
            <a:lvl6pPr marL="1798320" indent="0" algn="ctr">
              <a:buNone/>
              <a:defRPr sz="1260"/>
            </a:lvl6pPr>
            <a:lvl7pPr marL="2158365" indent="0" algn="ctr">
              <a:buNone/>
              <a:defRPr sz="1260"/>
            </a:lvl7pPr>
            <a:lvl8pPr marL="2517775" indent="0" algn="ctr">
              <a:buNone/>
              <a:defRPr sz="1260"/>
            </a:lvl8pPr>
            <a:lvl9pPr marL="2877820" indent="0" algn="ctr">
              <a:buNone/>
              <a:defRPr sz="126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54541" y="1345232"/>
            <a:ext cx="8274189" cy="2244550"/>
          </a:xfrm>
        </p:spPr>
        <p:txBody>
          <a:bodyPr anchor="b"/>
          <a:lstStyle>
            <a:lvl1pPr>
              <a:defRPr sz="472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54541" y="3611016"/>
            <a:ext cx="8274189" cy="1180356"/>
          </a:xfrm>
        </p:spPr>
        <p:txBody>
          <a:bodyPr/>
          <a:lstStyle>
            <a:lvl1pPr marL="0" indent="0">
              <a:buNone/>
              <a:defRPr sz="1890">
                <a:solidFill>
                  <a:schemeClr val="tx1">
                    <a:tint val="75000"/>
                  </a:schemeClr>
                </a:solidFill>
              </a:defRPr>
            </a:lvl1pPr>
            <a:lvl2pPr marL="359410" indent="0">
              <a:buNone/>
              <a:defRPr sz="1575">
                <a:solidFill>
                  <a:schemeClr val="tx1">
                    <a:tint val="75000"/>
                  </a:schemeClr>
                </a:solidFill>
              </a:defRPr>
            </a:lvl2pPr>
            <a:lvl3pPr marL="719455" indent="0">
              <a:buNone/>
              <a:defRPr sz="1415">
                <a:solidFill>
                  <a:schemeClr val="tx1">
                    <a:tint val="75000"/>
                  </a:schemeClr>
                </a:solidFill>
              </a:defRPr>
            </a:lvl3pPr>
            <a:lvl4pPr marL="1078865" indent="0">
              <a:buNone/>
              <a:defRPr sz="1260">
                <a:solidFill>
                  <a:schemeClr val="tx1">
                    <a:tint val="75000"/>
                  </a:schemeClr>
                </a:solidFill>
              </a:defRPr>
            </a:lvl4pPr>
            <a:lvl5pPr marL="1438910" indent="0">
              <a:buNone/>
              <a:defRPr sz="1260">
                <a:solidFill>
                  <a:schemeClr val="tx1">
                    <a:tint val="75000"/>
                  </a:schemeClr>
                </a:solidFill>
              </a:defRPr>
            </a:lvl5pPr>
            <a:lvl6pPr marL="1798320" indent="0">
              <a:buNone/>
              <a:defRPr sz="1260">
                <a:solidFill>
                  <a:schemeClr val="tx1">
                    <a:tint val="75000"/>
                  </a:schemeClr>
                </a:solidFill>
              </a:defRPr>
            </a:lvl6pPr>
            <a:lvl7pPr marL="2158365" indent="0">
              <a:buNone/>
              <a:defRPr sz="1260">
                <a:solidFill>
                  <a:schemeClr val="tx1">
                    <a:tint val="75000"/>
                  </a:schemeClr>
                </a:solidFill>
              </a:defRPr>
            </a:lvl7pPr>
            <a:lvl8pPr marL="2517775" indent="0">
              <a:buNone/>
              <a:defRPr sz="1260">
                <a:solidFill>
                  <a:schemeClr val="tx1">
                    <a:tint val="75000"/>
                  </a:schemeClr>
                </a:solidFill>
              </a:defRPr>
            </a:lvl8pPr>
            <a:lvl9pPr marL="2877820" indent="0">
              <a:buNone/>
              <a:defRPr sz="126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59537" y="1436412"/>
            <a:ext cx="4077137" cy="342365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4856589" y="1436412"/>
            <a:ext cx="4077137" cy="342365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60787" y="287283"/>
            <a:ext cx="8274189" cy="1042960"/>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60787" y="1322748"/>
            <a:ext cx="4058400" cy="648259"/>
          </a:xfrm>
        </p:spPr>
        <p:txBody>
          <a:bodyPr anchor="b"/>
          <a:lstStyle>
            <a:lvl1pPr marL="0" indent="0">
              <a:buNone/>
              <a:defRPr sz="1890" b="1"/>
            </a:lvl1pPr>
            <a:lvl2pPr marL="359410" indent="0">
              <a:buNone/>
              <a:defRPr sz="1575" b="1"/>
            </a:lvl2pPr>
            <a:lvl3pPr marL="719455" indent="0">
              <a:buNone/>
              <a:defRPr sz="1415" b="1"/>
            </a:lvl3pPr>
            <a:lvl4pPr marL="1078865" indent="0">
              <a:buNone/>
              <a:defRPr sz="1260" b="1"/>
            </a:lvl4pPr>
            <a:lvl5pPr marL="1438910" indent="0">
              <a:buNone/>
              <a:defRPr sz="1260" b="1"/>
            </a:lvl5pPr>
            <a:lvl6pPr marL="1798320" indent="0">
              <a:buNone/>
              <a:defRPr sz="1260" b="1"/>
            </a:lvl6pPr>
            <a:lvl7pPr marL="2158365" indent="0">
              <a:buNone/>
              <a:defRPr sz="1260" b="1"/>
            </a:lvl7pPr>
            <a:lvl8pPr marL="2517775" indent="0">
              <a:buNone/>
              <a:defRPr sz="1260" b="1"/>
            </a:lvl8pPr>
            <a:lvl9pPr marL="2877820" indent="0">
              <a:buNone/>
              <a:defRPr sz="126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60787" y="1971007"/>
            <a:ext cx="4058400" cy="289905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856590" y="1322748"/>
            <a:ext cx="4078386" cy="648259"/>
          </a:xfrm>
        </p:spPr>
        <p:txBody>
          <a:bodyPr anchor="b"/>
          <a:lstStyle>
            <a:lvl1pPr marL="0" indent="0">
              <a:buNone/>
              <a:defRPr sz="1890" b="1"/>
            </a:lvl1pPr>
            <a:lvl2pPr marL="359410" indent="0">
              <a:buNone/>
              <a:defRPr sz="1575" b="1"/>
            </a:lvl2pPr>
            <a:lvl3pPr marL="719455" indent="0">
              <a:buNone/>
              <a:defRPr sz="1415" b="1"/>
            </a:lvl3pPr>
            <a:lvl4pPr marL="1078865" indent="0">
              <a:buNone/>
              <a:defRPr sz="1260" b="1"/>
            </a:lvl4pPr>
            <a:lvl5pPr marL="1438910" indent="0">
              <a:buNone/>
              <a:defRPr sz="1260" b="1"/>
            </a:lvl5pPr>
            <a:lvl6pPr marL="1798320" indent="0">
              <a:buNone/>
              <a:defRPr sz="1260" b="1"/>
            </a:lvl6pPr>
            <a:lvl7pPr marL="2158365" indent="0">
              <a:buNone/>
              <a:defRPr sz="1260" b="1"/>
            </a:lvl7pPr>
            <a:lvl8pPr marL="2517775" indent="0">
              <a:buNone/>
              <a:defRPr sz="1260" b="1"/>
            </a:lvl8pPr>
            <a:lvl9pPr marL="2877820" indent="0">
              <a:buNone/>
              <a:defRPr sz="126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856590" y="1971007"/>
            <a:ext cx="4078386" cy="289905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60787" y="359728"/>
            <a:ext cx="3094077" cy="1259046"/>
          </a:xfrm>
        </p:spPr>
        <p:txBody>
          <a:bodyPr anchor="b"/>
          <a:lstStyle>
            <a:lvl1pPr>
              <a:defRPr sz="252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078386" y="776912"/>
            <a:ext cx="4856589" cy="3834596"/>
          </a:xfrm>
        </p:spPr>
        <p:txBody>
          <a:bodyPr/>
          <a:lstStyle>
            <a:lvl1pPr>
              <a:defRPr sz="2520"/>
            </a:lvl1pPr>
            <a:lvl2pPr>
              <a:defRPr sz="2205"/>
            </a:lvl2pPr>
            <a:lvl3pPr>
              <a:defRPr sz="1890"/>
            </a:lvl3pPr>
            <a:lvl4pPr>
              <a:defRPr sz="1575"/>
            </a:lvl4pPr>
            <a:lvl5pPr>
              <a:defRPr sz="1575"/>
            </a:lvl5pPr>
            <a:lvl6pPr>
              <a:defRPr sz="1575"/>
            </a:lvl6pPr>
            <a:lvl7pPr>
              <a:defRPr sz="1575"/>
            </a:lvl7pPr>
            <a:lvl8pPr>
              <a:defRPr sz="1575"/>
            </a:lvl8pPr>
            <a:lvl9pPr>
              <a:defRPr sz="1575"/>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60787" y="1618774"/>
            <a:ext cx="3094077" cy="2998979"/>
          </a:xfrm>
        </p:spPr>
        <p:txBody>
          <a:bodyPr/>
          <a:lstStyle>
            <a:lvl1pPr marL="0" indent="0">
              <a:buNone/>
              <a:defRPr sz="1260"/>
            </a:lvl1pPr>
            <a:lvl2pPr marL="359410" indent="0">
              <a:buNone/>
              <a:defRPr sz="1100"/>
            </a:lvl2pPr>
            <a:lvl3pPr marL="719455" indent="0">
              <a:buNone/>
              <a:defRPr sz="945"/>
            </a:lvl3pPr>
            <a:lvl4pPr marL="1078865" indent="0">
              <a:buNone/>
              <a:defRPr sz="785"/>
            </a:lvl4pPr>
            <a:lvl5pPr marL="1438910" indent="0">
              <a:buNone/>
              <a:defRPr sz="785"/>
            </a:lvl5pPr>
            <a:lvl6pPr marL="1798320" indent="0">
              <a:buNone/>
              <a:defRPr sz="785"/>
            </a:lvl6pPr>
            <a:lvl7pPr marL="2158365" indent="0">
              <a:buNone/>
              <a:defRPr sz="785"/>
            </a:lvl7pPr>
            <a:lvl8pPr marL="2517775" indent="0">
              <a:buNone/>
              <a:defRPr sz="785"/>
            </a:lvl8pPr>
            <a:lvl9pPr marL="2877820" indent="0">
              <a:buNone/>
              <a:defRPr sz="785"/>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60787" y="359728"/>
            <a:ext cx="3094077" cy="1259046"/>
          </a:xfrm>
        </p:spPr>
        <p:txBody>
          <a:bodyPr anchor="b"/>
          <a:lstStyle>
            <a:lvl1pPr>
              <a:defRPr sz="252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078386" y="776912"/>
            <a:ext cx="4856589" cy="3834596"/>
          </a:xfrm>
        </p:spPr>
        <p:txBody>
          <a:bodyPr anchor="t"/>
          <a:lstStyle>
            <a:lvl1pPr marL="0" indent="0">
              <a:buNone/>
              <a:defRPr sz="2520"/>
            </a:lvl1pPr>
            <a:lvl2pPr marL="359410" indent="0">
              <a:buNone/>
              <a:defRPr sz="2205"/>
            </a:lvl2pPr>
            <a:lvl3pPr marL="719455" indent="0">
              <a:buNone/>
              <a:defRPr sz="1890"/>
            </a:lvl3pPr>
            <a:lvl4pPr marL="1078865" indent="0">
              <a:buNone/>
              <a:defRPr sz="1575"/>
            </a:lvl4pPr>
            <a:lvl5pPr marL="1438910" indent="0">
              <a:buNone/>
              <a:defRPr sz="1575"/>
            </a:lvl5pPr>
            <a:lvl6pPr marL="1798320" indent="0">
              <a:buNone/>
              <a:defRPr sz="1575"/>
            </a:lvl6pPr>
            <a:lvl7pPr marL="2158365" indent="0">
              <a:buNone/>
              <a:defRPr sz="1575"/>
            </a:lvl7pPr>
            <a:lvl8pPr marL="2517775" indent="0">
              <a:buNone/>
              <a:defRPr sz="1575"/>
            </a:lvl8pPr>
            <a:lvl9pPr marL="2877820" indent="0">
              <a:buNone/>
              <a:defRPr sz="1575"/>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60787" y="1618774"/>
            <a:ext cx="3094077" cy="2998979"/>
          </a:xfrm>
        </p:spPr>
        <p:txBody>
          <a:bodyPr/>
          <a:lstStyle>
            <a:lvl1pPr marL="0" indent="0">
              <a:buNone/>
              <a:defRPr sz="1260"/>
            </a:lvl1pPr>
            <a:lvl2pPr marL="359410" indent="0">
              <a:buNone/>
              <a:defRPr sz="1100"/>
            </a:lvl2pPr>
            <a:lvl3pPr marL="719455" indent="0">
              <a:buNone/>
              <a:defRPr sz="945"/>
            </a:lvl3pPr>
            <a:lvl4pPr marL="1078865" indent="0">
              <a:buNone/>
              <a:defRPr sz="785"/>
            </a:lvl4pPr>
            <a:lvl5pPr marL="1438910" indent="0">
              <a:buNone/>
              <a:defRPr sz="785"/>
            </a:lvl5pPr>
            <a:lvl6pPr marL="1798320" indent="0">
              <a:buNone/>
              <a:defRPr sz="785"/>
            </a:lvl6pPr>
            <a:lvl7pPr marL="2158365" indent="0">
              <a:buNone/>
              <a:defRPr sz="785"/>
            </a:lvl7pPr>
            <a:lvl8pPr marL="2517775" indent="0">
              <a:buNone/>
              <a:defRPr sz="785"/>
            </a:lvl8pPr>
            <a:lvl9pPr marL="2877820" indent="0">
              <a:buNone/>
              <a:defRPr sz="785"/>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65179" y="287282"/>
            <a:ext cx="2068547" cy="457278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59537" y="287282"/>
            <a:ext cx="6085726" cy="4572787"/>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目录A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79441" y="215901"/>
            <a:ext cx="8634381" cy="90011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79441" y="1258888"/>
            <a:ext cx="8634381" cy="356076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79441" y="5000625"/>
            <a:ext cx="2238378" cy="287338"/>
          </a:xfrm>
          <a:prstGeom prst="rect">
            <a:avLst/>
          </a:prstGeom>
        </p:spPr>
        <p:txBody>
          <a:bodyPr vert="horz" lIns="91440" tIns="45720" rIns="91440" bIns="45720" rtlCol="0" anchor="ctr"/>
          <a:lstStyle>
            <a:lvl1pPr algn="l">
              <a:defRPr sz="1120">
                <a:solidFill>
                  <a:schemeClr val="tx1">
                    <a:tint val="75000"/>
                  </a:schemeClr>
                </a:solidFill>
              </a:defRPr>
            </a:lvl1pPr>
          </a:lstStyle>
          <a:p>
            <a:fld id="{D0B1E9A6-3BBE-4152-ABC2-7AF76252B64C}" type="datetimeFigureOut">
              <a:rPr lang="zh-CN" altLang="en-US" smtClean="0"/>
            </a:fld>
            <a:endParaRPr lang="zh-CN" altLang="en-US"/>
          </a:p>
        </p:txBody>
      </p:sp>
      <p:sp>
        <p:nvSpPr>
          <p:cNvPr id="5" name="页脚占位符 4"/>
          <p:cNvSpPr>
            <a:spLocks noGrp="1"/>
          </p:cNvSpPr>
          <p:nvPr>
            <p:ph type="ftr" sz="quarter" idx="3"/>
          </p:nvPr>
        </p:nvSpPr>
        <p:spPr>
          <a:xfrm>
            <a:off x="3277414" y="5000625"/>
            <a:ext cx="3038436" cy="287338"/>
          </a:xfrm>
          <a:prstGeom prst="rect">
            <a:avLst/>
          </a:prstGeom>
        </p:spPr>
        <p:txBody>
          <a:bodyPr vert="horz" lIns="91440" tIns="45720" rIns="91440" bIns="45720" rtlCol="0" anchor="ctr"/>
          <a:lstStyle>
            <a:lvl1pPr algn="ctr">
              <a:defRPr sz="112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875444" y="5000625"/>
            <a:ext cx="2238378" cy="287338"/>
          </a:xfrm>
          <a:prstGeom prst="rect">
            <a:avLst/>
          </a:prstGeom>
        </p:spPr>
        <p:txBody>
          <a:bodyPr vert="horz" lIns="91440" tIns="45720" rIns="91440" bIns="45720" rtlCol="0" anchor="ctr"/>
          <a:lstStyle>
            <a:lvl1pPr algn="r">
              <a:defRPr sz="1120">
                <a:solidFill>
                  <a:schemeClr val="tx1">
                    <a:tint val="75000"/>
                  </a:schemeClr>
                </a:solidFill>
              </a:defRPr>
            </a:lvl1pPr>
          </a:lstStyle>
          <a:p>
            <a:fld id="{480A614B-7A5B-4F2F-9614-821D6EA5116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854710" rtl="0" eaLnBrk="1" latinLnBrk="0" hangingPunct="1">
        <a:spcBef>
          <a:spcPct val="0"/>
        </a:spcBef>
        <a:buNone/>
        <a:defRPr sz="4115" kern="1200">
          <a:solidFill>
            <a:schemeClr val="tx1"/>
          </a:solidFill>
          <a:latin typeface="+mj-lt"/>
          <a:ea typeface="+mj-ea"/>
          <a:cs typeface="+mj-cs"/>
        </a:defRPr>
      </a:lvl1pPr>
    </p:titleStyle>
    <p:bodyStyle>
      <a:lvl1pPr marL="320675" indent="-320675" algn="l" defTabSz="854710" rtl="0" eaLnBrk="1" latinLnBrk="0" hangingPunct="1">
        <a:spcBef>
          <a:spcPct val="20000"/>
        </a:spcBef>
        <a:buFont typeface="Arial" panose="020B0604020202020204" pitchFamily="34" charset="0"/>
        <a:buChar char="•"/>
        <a:defRPr sz="2990" kern="1200">
          <a:solidFill>
            <a:schemeClr val="tx1"/>
          </a:solidFill>
          <a:latin typeface="+mn-lt"/>
          <a:ea typeface="+mn-ea"/>
          <a:cs typeface="+mn-cs"/>
        </a:defRPr>
      </a:lvl1pPr>
      <a:lvl2pPr marL="694690" indent="-267335" algn="l" defTabSz="854710"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2pPr>
      <a:lvl3pPr marL="1068705" indent="-213995" algn="l" defTabSz="854710" rtl="0" eaLnBrk="1" latinLnBrk="0" hangingPunct="1">
        <a:spcBef>
          <a:spcPct val="20000"/>
        </a:spcBef>
        <a:buFont typeface="Arial" panose="020B0604020202020204" pitchFamily="34" charset="0"/>
        <a:buChar char="•"/>
        <a:defRPr sz="2245" kern="1200">
          <a:solidFill>
            <a:schemeClr val="tx1"/>
          </a:solidFill>
          <a:latin typeface="+mn-lt"/>
          <a:ea typeface="+mn-ea"/>
          <a:cs typeface="+mn-cs"/>
        </a:defRPr>
      </a:lvl3pPr>
      <a:lvl4pPr marL="1496060"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4pPr>
      <a:lvl5pPr marL="1923415"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5pPr>
      <a:lvl6pPr marL="2351405"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6pPr>
      <a:lvl7pPr marL="2778760"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7pPr>
      <a:lvl8pPr marL="3206115"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8pPr>
      <a:lvl9pPr marL="3633470"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9pPr>
    </p:bodyStyle>
    <p:otherStyle>
      <a:defPPr>
        <a:defRPr lang="zh-CN"/>
      </a:defPPr>
      <a:lvl1pPr marL="0" algn="l" defTabSz="854710" rtl="0" eaLnBrk="1" latinLnBrk="0" hangingPunct="1">
        <a:defRPr sz="1685" kern="1200">
          <a:solidFill>
            <a:schemeClr val="tx1"/>
          </a:solidFill>
          <a:latin typeface="+mn-lt"/>
          <a:ea typeface="+mn-ea"/>
          <a:cs typeface="+mn-cs"/>
        </a:defRPr>
      </a:lvl1pPr>
      <a:lvl2pPr marL="427355" algn="l" defTabSz="854710" rtl="0" eaLnBrk="1" latinLnBrk="0" hangingPunct="1">
        <a:defRPr sz="1685" kern="1200">
          <a:solidFill>
            <a:schemeClr val="tx1"/>
          </a:solidFill>
          <a:latin typeface="+mn-lt"/>
          <a:ea typeface="+mn-ea"/>
          <a:cs typeface="+mn-cs"/>
        </a:defRPr>
      </a:lvl2pPr>
      <a:lvl3pPr marL="854710" algn="l" defTabSz="854710" rtl="0" eaLnBrk="1" latinLnBrk="0" hangingPunct="1">
        <a:defRPr sz="1685" kern="1200">
          <a:solidFill>
            <a:schemeClr val="tx1"/>
          </a:solidFill>
          <a:latin typeface="+mn-lt"/>
          <a:ea typeface="+mn-ea"/>
          <a:cs typeface="+mn-cs"/>
        </a:defRPr>
      </a:lvl3pPr>
      <a:lvl4pPr marL="1282700" algn="l" defTabSz="854710" rtl="0" eaLnBrk="1" latinLnBrk="0" hangingPunct="1">
        <a:defRPr sz="1685" kern="1200">
          <a:solidFill>
            <a:schemeClr val="tx1"/>
          </a:solidFill>
          <a:latin typeface="+mn-lt"/>
          <a:ea typeface="+mn-ea"/>
          <a:cs typeface="+mn-cs"/>
        </a:defRPr>
      </a:lvl4pPr>
      <a:lvl5pPr marL="1710055" algn="l" defTabSz="854710" rtl="0" eaLnBrk="1" latinLnBrk="0" hangingPunct="1">
        <a:defRPr sz="1685" kern="1200">
          <a:solidFill>
            <a:schemeClr val="tx1"/>
          </a:solidFill>
          <a:latin typeface="+mn-lt"/>
          <a:ea typeface="+mn-ea"/>
          <a:cs typeface="+mn-cs"/>
        </a:defRPr>
      </a:lvl5pPr>
      <a:lvl6pPr marL="2137410" algn="l" defTabSz="854710" rtl="0" eaLnBrk="1" latinLnBrk="0" hangingPunct="1">
        <a:defRPr sz="1685" kern="1200">
          <a:solidFill>
            <a:schemeClr val="tx1"/>
          </a:solidFill>
          <a:latin typeface="+mn-lt"/>
          <a:ea typeface="+mn-ea"/>
          <a:cs typeface="+mn-cs"/>
        </a:defRPr>
      </a:lvl6pPr>
      <a:lvl7pPr marL="2564765" algn="l" defTabSz="854710" rtl="0" eaLnBrk="1" latinLnBrk="0" hangingPunct="1">
        <a:defRPr sz="1685" kern="1200">
          <a:solidFill>
            <a:schemeClr val="tx1"/>
          </a:solidFill>
          <a:latin typeface="+mn-lt"/>
          <a:ea typeface="+mn-ea"/>
          <a:cs typeface="+mn-cs"/>
        </a:defRPr>
      </a:lvl7pPr>
      <a:lvl8pPr marL="2992120" algn="l" defTabSz="854710" rtl="0" eaLnBrk="1" latinLnBrk="0" hangingPunct="1">
        <a:defRPr sz="1685" kern="1200">
          <a:solidFill>
            <a:schemeClr val="tx1"/>
          </a:solidFill>
          <a:latin typeface="+mn-lt"/>
          <a:ea typeface="+mn-ea"/>
          <a:cs typeface="+mn-cs"/>
        </a:defRPr>
      </a:lvl8pPr>
      <a:lvl9pPr marL="3420110" algn="l" defTabSz="854710" rtl="0" eaLnBrk="1" latinLnBrk="0" hangingPunct="1">
        <a:defRPr sz="168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9537" y="287283"/>
            <a:ext cx="8274189" cy="104296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59537" y="1436412"/>
            <a:ext cx="8274189" cy="3423657"/>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59537" y="5001213"/>
            <a:ext cx="2158484" cy="287282"/>
          </a:xfrm>
          <a:prstGeom prst="rect">
            <a:avLst/>
          </a:prstGeom>
        </p:spPr>
        <p:txBody>
          <a:bodyPr vert="horz" lIns="91440" tIns="45720" rIns="91440" bIns="45720" rtlCol="0" anchor="ctr"/>
          <a:lstStyle>
            <a:lvl1pPr algn="l">
              <a:defRPr sz="945">
                <a:solidFill>
                  <a:schemeClr val="tx1">
                    <a:tint val="75000"/>
                  </a:schemeClr>
                </a:solidFill>
              </a:defRPr>
            </a:lvl1pPr>
          </a:lstStyle>
          <a:p>
            <a:endParaRPr lang="zh-CN" altLang="en-US" dirty="0"/>
          </a:p>
        </p:txBody>
      </p:sp>
      <p:sp>
        <p:nvSpPr>
          <p:cNvPr id="5" name="Footer Placeholder 4"/>
          <p:cNvSpPr>
            <a:spLocks noGrp="1"/>
          </p:cNvSpPr>
          <p:nvPr>
            <p:ph type="ftr" sz="quarter" idx="3"/>
          </p:nvPr>
        </p:nvSpPr>
        <p:spPr>
          <a:xfrm>
            <a:off x="3177769" y="5001213"/>
            <a:ext cx="3237726" cy="287282"/>
          </a:xfrm>
          <a:prstGeom prst="rect">
            <a:avLst/>
          </a:prstGeom>
        </p:spPr>
        <p:txBody>
          <a:bodyPr vert="horz" lIns="91440" tIns="45720" rIns="91440" bIns="45720" rtlCol="0" anchor="ctr"/>
          <a:lstStyle>
            <a:lvl1pPr algn="ctr">
              <a:defRPr sz="94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775242" y="5001213"/>
            <a:ext cx="2158484" cy="287282"/>
          </a:xfrm>
          <a:prstGeom prst="rect">
            <a:avLst/>
          </a:prstGeom>
        </p:spPr>
        <p:txBody>
          <a:bodyPr vert="horz" lIns="91440" tIns="45720" rIns="91440" bIns="45720" rtlCol="0" anchor="ctr"/>
          <a:lstStyle>
            <a:lvl1pPr algn="r">
              <a:defRPr sz="945">
                <a:solidFill>
                  <a:schemeClr val="tx1">
                    <a:tint val="75000"/>
                  </a:schemeClr>
                </a:solidFill>
              </a:defRPr>
            </a:lvl1pPr>
          </a:lstStyle>
          <a:p>
            <a:fld id="{48F63A3B-78C7-47BE-AE5E-E10140E04643}" type="slidenum">
              <a:rPr lang="en-US" dirty="0"/>
            </a:fld>
            <a:endParaRPr lang="en-US" dirty="0"/>
          </a:p>
        </p:txBody>
      </p:sp>
      <p:pic>
        <p:nvPicPr>
          <p:cNvPr id="7" name="图片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893744" y="5090762"/>
            <a:ext cx="1569942" cy="202339"/>
          </a:xfrm>
          <a:prstGeom prst="rect">
            <a:avLst/>
          </a:prstGeom>
        </p:spPr>
      </p:pic>
      <p:sp>
        <p:nvSpPr>
          <p:cNvPr id="8" name="文本框 7"/>
          <p:cNvSpPr txBox="1"/>
          <p:nvPr userDrawn="1"/>
        </p:nvSpPr>
        <p:spPr>
          <a:xfrm>
            <a:off x="83634" y="5090762"/>
            <a:ext cx="1253869" cy="236219"/>
          </a:xfrm>
          <a:prstGeom prst="rect">
            <a:avLst/>
          </a:prstGeom>
          <a:noFill/>
        </p:spPr>
        <p:txBody>
          <a:bodyPr wrap="none" rtlCol="0">
            <a:spAutoFit/>
          </a:bodyPr>
          <a:lstStyle/>
          <a:p>
            <a:r>
              <a:rPr lang="zh-CN" altLang="en-US" sz="935" dirty="0">
                <a:latin typeface="微软雅黑 Light" panose="020B0502040204020203" pitchFamily="34" charset="-122"/>
                <a:ea typeface="微软雅黑 Light" panose="020B0502040204020203" pitchFamily="34" charset="-122"/>
              </a:rPr>
              <a:t>▲</a:t>
            </a:r>
            <a:r>
              <a:rPr lang="zh-CN" altLang="en-US" sz="840" dirty="0">
                <a:latin typeface="微软雅黑 Light" panose="020B0502040204020203" pitchFamily="34" charset="-122"/>
                <a:ea typeface="微软雅黑 Light" panose="020B0502040204020203" pitchFamily="34" charset="-122"/>
              </a:rPr>
              <a:t>版权归经世教育所有</a:t>
            </a:r>
            <a:endParaRPr lang="zh-CN" altLang="en-US" sz="840" dirty="0">
              <a:latin typeface="微软雅黑 Light" panose="020B0502040204020203" pitchFamily="34" charset="-122"/>
              <a:ea typeface="微软雅黑 Light" panose="020B0502040204020203" pitchFamily="34"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719455" rtl="0" eaLnBrk="1" latinLnBrk="0" hangingPunct="1">
        <a:lnSpc>
          <a:spcPct val="90000"/>
        </a:lnSpc>
        <a:spcBef>
          <a:spcPct val="0"/>
        </a:spcBef>
        <a:buNone/>
        <a:defRPr sz="3460" kern="1200">
          <a:solidFill>
            <a:schemeClr val="tx1"/>
          </a:solidFill>
          <a:latin typeface="+mj-lt"/>
          <a:ea typeface="+mj-ea"/>
          <a:cs typeface="+mj-cs"/>
        </a:defRPr>
      </a:lvl1pPr>
    </p:titleStyle>
    <p:body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p:bodyStyle>
    <p:otherStyle>
      <a:defPPr>
        <a:defRPr lang="en-US"/>
      </a:defPPr>
      <a:lvl1pPr marL="0" algn="l" defTabSz="719455" rtl="0" eaLnBrk="1" latinLnBrk="0" hangingPunct="1">
        <a:defRPr sz="1415" kern="1200">
          <a:solidFill>
            <a:schemeClr val="tx1"/>
          </a:solidFill>
          <a:latin typeface="+mn-lt"/>
          <a:ea typeface="+mn-ea"/>
          <a:cs typeface="+mn-cs"/>
        </a:defRPr>
      </a:lvl1pPr>
      <a:lvl2pPr marL="359410" algn="l" defTabSz="719455" rtl="0" eaLnBrk="1" latinLnBrk="0" hangingPunct="1">
        <a:defRPr sz="1415" kern="1200">
          <a:solidFill>
            <a:schemeClr val="tx1"/>
          </a:solidFill>
          <a:latin typeface="+mn-lt"/>
          <a:ea typeface="+mn-ea"/>
          <a:cs typeface="+mn-cs"/>
        </a:defRPr>
      </a:lvl2pPr>
      <a:lvl3pPr marL="719455" algn="l" defTabSz="719455" rtl="0" eaLnBrk="1" latinLnBrk="0" hangingPunct="1">
        <a:defRPr sz="1415" kern="1200">
          <a:solidFill>
            <a:schemeClr val="tx1"/>
          </a:solidFill>
          <a:latin typeface="+mn-lt"/>
          <a:ea typeface="+mn-ea"/>
          <a:cs typeface="+mn-cs"/>
        </a:defRPr>
      </a:lvl3pPr>
      <a:lvl4pPr marL="1078865" algn="l" defTabSz="719455" rtl="0" eaLnBrk="1" latinLnBrk="0" hangingPunct="1">
        <a:defRPr sz="1415" kern="1200">
          <a:solidFill>
            <a:schemeClr val="tx1"/>
          </a:solidFill>
          <a:latin typeface="+mn-lt"/>
          <a:ea typeface="+mn-ea"/>
          <a:cs typeface="+mn-cs"/>
        </a:defRPr>
      </a:lvl4pPr>
      <a:lvl5pPr marL="1438910" algn="l" defTabSz="719455" rtl="0" eaLnBrk="1" latinLnBrk="0" hangingPunct="1">
        <a:defRPr sz="1415" kern="1200">
          <a:solidFill>
            <a:schemeClr val="tx1"/>
          </a:solidFill>
          <a:latin typeface="+mn-lt"/>
          <a:ea typeface="+mn-ea"/>
          <a:cs typeface="+mn-cs"/>
        </a:defRPr>
      </a:lvl5pPr>
      <a:lvl6pPr marL="1798320" algn="l" defTabSz="719455" rtl="0" eaLnBrk="1" latinLnBrk="0" hangingPunct="1">
        <a:defRPr sz="1415" kern="1200">
          <a:solidFill>
            <a:schemeClr val="tx1"/>
          </a:solidFill>
          <a:latin typeface="+mn-lt"/>
          <a:ea typeface="+mn-ea"/>
          <a:cs typeface="+mn-cs"/>
        </a:defRPr>
      </a:lvl6pPr>
      <a:lvl7pPr marL="2158365" algn="l" defTabSz="719455" rtl="0" eaLnBrk="1" latinLnBrk="0" hangingPunct="1">
        <a:defRPr sz="1415" kern="1200">
          <a:solidFill>
            <a:schemeClr val="tx1"/>
          </a:solidFill>
          <a:latin typeface="+mn-lt"/>
          <a:ea typeface="+mn-ea"/>
          <a:cs typeface="+mn-cs"/>
        </a:defRPr>
      </a:lvl7pPr>
      <a:lvl8pPr marL="2517775" algn="l" defTabSz="719455" rtl="0" eaLnBrk="1" latinLnBrk="0" hangingPunct="1">
        <a:defRPr sz="1415" kern="1200">
          <a:solidFill>
            <a:schemeClr val="tx1"/>
          </a:solidFill>
          <a:latin typeface="+mn-lt"/>
          <a:ea typeface="+mn-ea"/>
          <a:cs typeface="+mn-cs"/>
        </a:defRPr>
      </a:lvl8pPr>
      <a:lvl9pPr marL="2877820" algn="l" defTabSz="719455" rtl="0" eaLnBrk="1" latinLnBrk="0" hangingPunct="1">
        <a:defRPr sz="14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image" Target="../media/image3.png"/><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tags" Target="../tags/tag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6.emf"/><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image" Target="../media/image3.png"/><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slide" Target="slide65.xml"/><Relationship Id="rId2" Type="http://schemas.openxmlformats.org/officeDocument/2006/relationships/image" Target="../media/image10.jpe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image" Target="../media/image13.png"/><Relationship Id="rId2" Type="http://schemas.openxmlformats.org/officeDocument/2006/relationships/oleObject" Target="../embeddings/oleObject1.bin"/><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tags" Target="../tags/tag8.xml"/><Relationship Id="rId2" Type="http://schemas.openxmlformats.org/officeDocument/2006/relationships/image" Target="../media/image14.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image" Target="../media/image18.wmf"/><Relationship Id="rId2" Type="http://schemas.openxmlformats.org/officeDocument/2006/relationships/oleObject" Target="../embeddings/oleObject2.bin"/><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oleObject" Target="../embeddings/oleObject3.bin"/><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3.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31.jpe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31.jpe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32.jpe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37.png"/><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38.png"/><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8.png"/><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3.png"/><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21" name="圆角矩形 20"/>
          <p:cNvSpPr/>
          <p:nvPr/>
        </p:nvSpPr>
        <p:spPr>
          <a:xfrm>
            <a:off x="1901417" y="1822569"/>
            <a:ext cx="6063566" cy="1866659"/>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85"/>
          </a:p>
        </p:txBody>
      </p:sp>
      <p:sp>
        <p:nvSpPr>
          <p:cNvPr id="18" name="圆角矩形 17"/>
          <p:cNvSpPr/>
          <p:nvPr/>
        </p:nvSpPr>
        <p:spPr>
          <a:xfrm>
            <a:off x="2420367" y="1620700"/>
            <a:ext cx="5089913" cy="404333"/>
          </a:xfrm>
          <a:prstGeom prst="round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85"/>
          </a:p>
        </p:txBody>
      </p:sp>
      <p:sp>
        <p:nvSpPr>
          <p:cNvPr id="2" name="文本框 1"/>
          <p:cNvSpPr txBox="1"/>
          <p:nvPr/>
        </p:nvSpPr>
        <p:spPr>
          <a:xfrm>
            <a:off x="2564383" y="1665230"/>
            <a:ext cx="4824536" cy="292735"/>
          </a:xfrm>
          <a:prstGeom prst="rect">
            <a:avLst/>
          </a:prstGeom>
          <a:noFill/>
        </p:spPr>
        <p:txBody>
          <a:bodyPr wrap="square" rtlCol="0">
            <a:spAutoFit/>
          </a:bodyPr>
          <a:lstStyle/>
          <a:p>
            <a:pPr algn="dist"/>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sym typeface="+mn-ea"/>
              </a:rPr>
              <a:t>通</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sym typeface="+mn-ea"/>
              </a:rPr>
              <a:t>信</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sym typeface="+mn-ea"/>
              </a:rPr>
              <a:t>工</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sym typeface="+mn-ea"/>
              </a:rPr>
              <a:t>程</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sym typeface="+mn-ea"/>
              </a:rPr>
              <a:t>设</a:t>
            </a:r>
            <a:r>
              <a:rPr kumimoji="1" lang="en-US" altLang="zh-CN" sz="131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sym typeface="+mn-ea"/>
              </a:rPr>
              <a:t>计</a:t>
            </a:r>
            <a:endParaRPr kumimoji="1" lang="zh-CN" altLang="en-US" sz="131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1901417" y="2200103"/>
            <a:ext cx="5919550" cy="1093248"/>
          </a:xfrm>
          <a:prstGeom prst="rect">
            <a:avLst/>
          </a:prstGeom>
          <a:noFill/>
        </p:spPr>
        <p:txBody>
          <a:bodyPr wrap="square" rtlCol="0">
            <a:spAutoFit/>
          </a:bodyPr>
          <a:lstStyle/>
          <a:p>
            <a:pPr algn="dist">
              <a:lnSpc>
                <a:spcPct val="120000"/>
              </a:lnSpc>
            </a:pPr>
            <a:r>
              <a:rPr kumimoji="1" lang="zh-CN" altLang="en-US" sz="3365" b="1" dirty="0">
                <a:latin typeface="微软雅黑" panose="020B0503020204020204" charset="-122"/>
                <a:ea typeface="微软雅黑" panose="020B0503020204020204" charset="-122"/>
                <a:cs typeface="微软雅黑" panose="020B0503020204020204" charset="-122"/>
              </a:rPr>
              <a:t>第二章 通信工程勘察</a:t>
            </a:r>
            <a:endParaRPr kumimoji="1" lang="zh-CN" altLang="en-US" sz="3365" b="1" dirty="0">
              <a:latin typeface="微软雅黑" panose="020B0503020204020204" charset="-122"/>
              <a:ea typeface="微软雅黑" panose="020B0503020204020204" charset="-122"/>
              <a:cs typeface="微软雅黑" panose="020B0503020204020204" charset="-122"/>
            </a:endParaRPr>
          </a:p>
          <a:p>
            <a:pPr algn="dist">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第</a:t>
            </a:r>
            <a:r>
              <a:rPr kumimoji="1" lang="en-US" altLang="zh-CN" sz="2245" dirty="0">
                <a:latin typeface="微软雅黑" panose="020B0503020204020204" charset="-122"/>
                <a:ea typeface="微软雅黑" panose="020B0503020204020204" charset="-122"/>
                <a:cs typeface="微软雅黑" panose="020B0503020204020204" charset="-122"/>
              </a:rPr>
              <a:t>1</a:t>
            </a:r>
            <a:r>
              <a:rPr kumimoji="1" lang="zh-CN" altLang="en-US" sz="2245" dirty="0">
                <a:latin typeface="微软雅黑" panose="020B0503020204020204" charset="-122"/>
                <a:ea typeface="微软雅黑" panose="020B0503020204020204" charset="-122"/>
                <a:cs typeface="微软雅黑" panose="020B0503020204020204" charset="-122"/>
              </a:rPr>
              <a:t>节  通信工程勘察</a:t>
            </a:r>
            <a:endParaRPr kumimoji="1" lang="en-US" altLang="zh-CN" sz="2245" b="1" dirty="0">
              <a:latin typeface="微软雅黑" panose="020B0503020204020204" charset="-122"/>
              <a:ea typeface="微软雅黑" panose="020B0503020204020204" charset="-122"/>
              <a:cs typeface="微软雅黑" panose="020B0503020204020204" charset="-122"/>
            </a:endParaRPr>
          </a:p>
        </p:txBody>
      </p:sp>
      <p:sp>
        <p:nvSpPr>
          <p:cNvPr id="22" name="椭圆 21"/>
          <p:cNvSpPr/>
          <p:nvPr/>
        </p:nvSpPr>
        <p:spPr>
          <a:xfrm>
            <a:off x="5539713" y="3659881"/>
            <a:ext cx="70654" cy="7065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685">
              <a:sym typeface="+mn-ea"/>
            </a:endParaRPr>
          </a:p>
        </p:txBody>
      </p:sp>
      <p:sp>
        <p:nvSpPr>
          <p:cNvPr id="23" name="椭圆 22"/>
          <p:cNvSpPr/>
          <p:nvPr/>
        </p:nvSpPr>
        <p:spPr>
          <a:xfrm>
            <a:off x="4114751" y="3659881"/>
            <a:ext cx="70654" cy="7065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685">
              <a:sym typeface="+mn-ea"/>
            </a:endParaRPr>
          </a:p>
        </p:txBody>
      </p:sp>
      <p:sp>
        <p:nvSpPr>
          <p:cNvPr id="26" name="文本框 25"/>
          <p:cNvSpPr txBox="1"/>
          <p:nvPr/>
        </p:nvSpPr>
        <p:spPr>
          <a:xfrm>
            <a:off x="4187990" y="3523024"/>
            <a:ext cx="1346571" cy="321945"/>
          </a:xfrm>
          <a:prstGeom prst="rect">
            <a:avLst/>
          </a:prstGeom>
          <a:solidFill>
            <a:schemeClr val="bg1"/>
          </a:solidFill>
        </p:spPr>
        <p:txBody>
          <a:bodyPr wrap="square" rtlCol="0" anchor="t">
            <a:spAutoFit/>
          </a:bodyPr>
          <a:lstStyle/>
          <a:p>
            <a:pPr algn="ctr">
              <a:lnSpc>
                <a:spcPct val="100000"/>
              </a:lnSpc>
            </a:pPr>
            <a:r>
              <a:rPr kumimoji="1" lang="zh-CN" altLang="en-US" sz="1495" b="1" dirty="0">
                <a:latin typeface="微软雅黑" panose="020B0503020204020204" charset="-122"/>
                <a:ea typeface="微软雅黑" panose="020B0503020204020204" charset="-122"/>
                <a:cs typeface="微软雅黑" panose="020B0503020204020204" charset="-122"/>
                <a:sym typeface="+mn-ea"/>
              </a:rPr>
              <a:t>讲师 </a:t>
            </a:r>
            <a:r>
              <a:rPr kumimoji="1" lang="en-US" altLang="zh-CN" sz="1495" b="1" dirty="0">
                <a:latin typeface="微软雅黑" panose="020B0503020204020204" charset="-122"/>
                <a:ea typeface="微软雅黑" panose="020B0503020204020204" charset="-122"/>
                <a:cs typeface="微软雅黑" panose="020B0503020204020204" charset="-122"/>
                <a:sym typeface="+mn-ea"/>
              </a:rPr>
              <a:t> </a:t>
            </a:r>
            <a:r>
              <a:rPr kumimoji="1" lang="zh-CN" altLang="en-US" sz="1495" b="1" dirty="0">
                <a:latin typeface="微软雅黑" panose="020B0503020204020204" charset="-122"/>
                <a:ea typeface="微软雅黑" panose="020B0503020204020204" charset="-122"/>
                <a:cs typeface="微软雅黑" panose="020B0503020204020204" charset="-122"/>
                <a:sym typeface="+mn-ea"/>
              </a:rPr>
              <a:t>彭泓森</a:t>
            </a:r>
            <a:endParaRPr kumimoji="1" lang="zh-CN" altLang="en-US" sz="1495" b="1" dirty="0">
              <a:latin typeface="微软雅黑" panose="020B0503020204020204" charset="-122"/>
              <a:ea typeface="微软雅黑" panose="020B0503020204020204" charset="-122"/>
              <a:cs typeface="微软雅黑" panose="020B0503020204020204" charset="-122"/>
              <a:sym typeface="+mn-ea"/>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8" name="组合 7"/>
          <p:cNvGrpSpPr/>
          <p:nvPr/>
        </p:nvGrpSpPr>
        <p:grpSpPr>
          <a:xfrm>
            <a:off x="1769923" y="897756"/>
            <a:ext cx="5759869" cy="573547"/>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目    录</a:t>
              </a:r>
              <a:endParaRPr lang="zh-CN" altLang="en-US" sz="2990" b="1" dirty="0">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cxnSp>
        <p:nvCxnSpPr>
          <p:cNvPr id="52" name="直接连接符 51"/>
          <p:cNvCxnSpPr/>
          <p:nvPr/>
        </p:nvCxnSpPr>
        <p:spPr>
          <a:xfrm>
            <a:off x="1993166" y="3080917"/>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93166" y="2359529"/>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380875" y="2477683"/>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二、通信工程查勘</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sp>
        <p:nvSpPr>
          <p:cNvPr id="100" name="TextBox 99"/>
          <p:cNvSpPr txBox="1"/>
          <p:nvPr/>
        </p:nvSpPr>
        <p:spPr>
          <a:xfrm>
            <a:off x="2380875" y="1756889"/>
            <a:ext cx="4550974" cy="495200"/>
          </a:xfrm>
          <a:prstGeom prst="rect">
            <a:avLst/>
          </a:prstGeom>
          <a:noFill/>
        </p:spPr>
        <p:txBody>
          <a:bodyPr wrap="square" rtlCol="0">
            <a:spAutoFit/>
          </a:bodyPr>
          <a:lstStyle/>
          <a:p>
            <a:pPr indent="-320675">
              <a:spcBef>
                <a:spcPct val="20000"/>
              </a:spcBef>
            </a:pPr>
            <a:r>
              <a:rPr lang="en-US" altLang="zh-CN" sz="2620" b="1" dirty="0">
                <a:solidFill>
                  <a:srgbClr val="F25600"/>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一、</a:t>
            </a:r>
            <a:r>
              <a:rPr lang="zh-CN" altLang="en-US" sz="2620" dirty="0">
                <a:solidFill>
                  <a:schemeClr val="tx1">
                    <a:lumMod val="75000"/>
                    <a:lumOff val="25000"/>
                  </a:schemeClr>
                </a:solidFill>
                <a:latin typeface="微软雅黑" panose="020B0503020204020204" charset="-122"/>
                <a:ea typeface="微软雅黑" panose="020B0503020204020204" charset="-122"/>
                <a:sym typeface="+mn-ea"/>
              </a:rPr>
              <a:t>工程勘察的概念</a:t>
            </a:r>
            <a:endParaRPr lang="en-US" altLang="zh-CN" sz="2620" dirty="0">
              <a:solidFill>
                <a:schemeClr val="tx1">
                  <a:lumMod val="75000"/>
                  <a:lumOff val="25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1993166" y="3753618"/>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380875" y="3265568"/>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三、常用测量工具的使用</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8" name="组合 7"/>
          <p:cNvGrpSpPr/>
          <p:nvPr/>
        </p:nvGrpSpPr>
        <p:grpSpPr>
          <a:xfrm>
            <a:off x="1769923" y="897756"/>
            <a:ext cx="5759869" cy="573547"/>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目    录</a:t>
              </a:r>
              <a:endParaRPr lang="zh-CN" altLang="en-US" sz="2990" b="1" dirty="0">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cxnSp>
        <p:nvCxnSpPr>
          <p:cNvPr id="52" name="直接连接符 51"/>
          <p:cNvCxnSpPr/>
          <p:nvPr/>
        </p:nvCxnSpPr>
        <p:spPr>
          <a:xfrm>
            <a:off x="1993166" y="3080917"/>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93166" y="2359529"/>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380875" y="2477683"/>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bg1">
                    <a:lumMod val="75000"/>
                  </a:schemeClr>
                </a:solidFill>
                <a:latin typeface="微软雅黑" panose="020B0503020204020204" charset="-122"/>
                <a:ea typeface="微软雅黑" panose="020B0503020204020204" charset="-122"/>
              </a:rPr>
              <a:t>二、通信工程查勘</a:t>
            </a:r>
            <a:endParaRPr lang="zh-CN" altLang="en-US" sz="2620" dirty="0">
              <a:solidFill>
                <a:schemeClr val="bg1">
                  <a:lumMod val="75000"/>
                </a:schemeClr>
              </a:solidFill>
              <a:latin typeface="微软雅黑" panose="020B0503020204020204" charset="-122"/>
              <a:ea typeface="微软雅黑" panose="020B0503020204020204" charset="-122"/>
            </a:endParaRPr>
          </a:p>
        </p:txBody>
      </p:sp>
      <p:sp>
        <p:nvSpPr>
          <p:cNvPr id="100" name="TextBox 99"/>
          <p:cNvSpPr txBox="1"/>
          <p:nvPr/>
        </p:nvSpPr>
        <p:spPr>
          <a:xfrm>
            <a:off x="2380875" y="1756889"/>
            <a:ext cx="4550974" cy="495200"/>
          </a:xfrm>
          <a:prstGeom prst="rect">
            <a:avLst/>
          </a:prstGeom>
          <a:noFill/>
        </p:spPr>
        <p:txBody>
          <a:bodyPr wrap="square" rtlCol="0">
            <a:spAutoFit/>
          </a:bodyPr>
          <a:lstStyle/>
          <a:p>
            <a:pPr indent="-320675">
              <a:spcBef>
                <a:spcPct val="20000"/>
              </a:spcBef>
            </a:pPr>
            <a:r>
              <a:rPr lang="en-US" altLang="zh-CN" sz="2620" b="1" dirty="0">
                <a:solidFill>
                  <a:srgbClr val="F25600"/>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一、</a:t>
            </a:r>
            <a:r>
              <a:rPr lang="zh-CN" altLang="en-US" sz="2620" dirty="0">
                <a:solidFill>
                  <a:schemeClr val="tx1">
                    <a:lumMod val="75000"/>
                    <a:lumOff val="25000"/>
                  </a:schemeClr>
                </a:solidFill>
                <a:latin typeface="微软雅黑" panose="020B0503020204020204" charset="-122"/>
                <a:ea typeface="微软雅黑" panose="020B0503020204020204" charset="-122"/>
                <a:sym typeface="+mn-ea"/>
              </a:rPr>
              <a:t>工程勘察的概念</a:t>
            </a:r>
            <a:endParaRPr lang="en-US" altLang="zh-CN" sz="2620" dirty="0">
              <a:solidFill>
                <a:schemeClr val="tx1">
                  <a:lumMod val="75000"/>
                  <a:lumOff val="25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1993166" y="3753618"/>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380875" y="3265568"/>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bg1">
                    <a:lumMod val="75000"/>
                  </a:schemeClr>
                </a:solidFill>
                <a:latin typeface="微软雅黑" panose="020B0503020204020204" charset="-122"/>
                <a:ea typeface="微软雅黑" panose="020B0503020204020204" charset="-122"/>
              </a:rPr>
              <a:t>三、常用测量工具的使用</a:t>
            </a:r>
            <a:endParaRPr lang="zh-CN" altLang="en-US" sz="2620" dirty="0">
              <a:solidFill>
                <a:schemeClr val="bg1">
                  <a:lumMod val="75000"/>
                </a:schemeClr>
              </a:solidFill>
              <a:latin typeface="微软雅黑" panose="020B0503020204020204" charset="-122"/>
              <a:ea typeface="微软雅黑" panose="020B0503020204020204"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一、</a:t>
            </a:r>
            <a:r>
              <a:rPr lang="zh-CN" altLang="en-US" sz="2400" dirty="0">
                <a:solidFill>
                  <a:schemeClr val="tx1">
                    <a:lumMod val="75000"/>
                    <a:lumOff val="25000"/>
                  </a:schemeClr>
                </a:solidFill>
                <a:latin typeface="微软雅黑" panose="020B0503020204020204" charset="-122"/>
                <a:ea typeface="微软雅黑" panose="020B0503020204020204" charset="-122"/>
                <a:sym typeface="+mn-ea"/>
              </a:rPr>
              <a:t>工程勘察的概念</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620395" y="970280"/>
            <a:ext cx="8021955" cy="3369310"/>
          </a:xfrm>
          <a:prstGeom prst="rect">
            <a:avLst/>
          </a:prstGeom>
          <a:noFill/>
        </p:spPr>
        <p:txBody>
          <a:bodyPr wrap="square" rtlCol="0">
            <a:spAutoFit/>
          </a:bodyPr>
          <a:lstStyle/>
          <a:p>
            <a:pPr marL="427355" indent="-427355">
              <a:lnSpc>
                <a:spcPct val="150000"/>
              </a:lnSpc>
              <a:buAutoNum type="arabicPeriod"/>
            </a:pPr>
            <a:r>
              <a:rPr kumimoji="1" lang="zh-CN" altLang="en-US" sz="2200" dirty="0">
                <a:latin typeface="微软雅黑" panose="020B0503020204020204" charset="-122"/>
                <a:ea typeface="微软雅黑" panose="020B0503020204020204" charset="-122"/>
                <a:cs typeface="微软雅黑" panose="020B0503020204020204" charset="-122"/>
              </a:rPr>
              <a:t>工程勘察</a:t>
            </a:r>
            <a:endParaRPr kumimoji="1" lang="en-US" altLang="zh-CN" sz="2200" dirty="0">
              <a:latin typeface="微软雅黑" panose="020B0503020204020204" charset="-122"/>
              <a:ea typeface="微软雅黑" panose="020B0503020204020204" charset="-122"/>
              <a:cs typeface="微软雅黑" panose="020B0503020204020204" charset="-122"/>
            </a:endParaRPr>
          </a:p>
          <a:p>
            <a:pPr marL="0" lvl="1" indent="379730">
              <a:lnSpc>
                <a:spcPct val="150000"/>
              </a:lnSpc>
            </a:pPr>
            <a:r>
              <a:rPr kumimoji="1" lang="zh-CN" altLang="en-US" sz="2000" dirty="0">
                <a:latin typeface="微软雅黑" panose="020B0503020204020204" charset="-122"/>
                <a:ea typeface="微软雅黑" panose="020B0503020204020204" charset="-122"/>
                <a:cs typeface="微软雅黑" panose="020B0503020204020204" charset="-122"/>
              </a:rPr>
              <a:t>工程勘察是运用多种科学技术方法，通过现场测量、测试、观察、勘探、试验和鉴定等手段查明</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rPr>
              <a:t>工程建设项目地点</a:t>
            </a:r>
            <a:r>
              <a:rPr kumimoji="1" lang="zh-CN" altLang="en-US" sz="2000" dirty="0">
                <a:latin typeface="微软雅黑" panose="020B0503020204020204" charset="-122"/>
                <a:ea typeface="微软雅黑" panose="020B0503020204020204" charset="-122"/>
                <a:cs typeface="微软雅黑" panose="020B0503020204020204" charset="-122"/>
              </a:rPr>
              <a:t>的地形、地貌、土质、水文等自然条件</a:t>
            </a:r>
            <a:endParaRPr kumimoji="1" lang="zh-CN" altLang="en-US" sz="2000" dirty="0">
              <a:latin typeface="微软雅黑" panose="020B0503020204020204" charset="-122"/>
              <a:ea typeface="微软雅黑" panose="020B0503020204020204" charset="-122"/>
              <a:cs typeface="微软雅黑" panose="020B0503020204020204" charset="-122"/>
            </a:endParaRPr>
          </a:p>
          <a:p>
            <a:pPr marL="0" lvl="1" indent="379730">
              <a:lnSpc>
                <a:spcPct val="150000"/>
              </a:lnSpc>
            </a:pPr>
            <a:r>
              <a:rPr kumimoji="1" lang="zh-CN" altLang="en-US" sz="2000" dirty="0">
                <a:latin typeface="微软雅黑" panose="020B0503020204020204" charset="-122"/>
                <a:ea typeface="微软雅黑" panose="020B0503020204020204" charset="-122"/>
                <a:cs typeface="微软雅黑" panose="020B0503020204020204" charset="-122"/>
              </a:rPr>
              <a:t>搜集工程设计所需要的各种业务、技术、经济以及社会等</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rPr>
              <a:t>有关资料</a:t>
            </a:r>
            <a:r>
              <a:rPr kumimoji="1" lang="zh-CN" altLang="en-US" sz="2000" dirty="0">
                <a:latin typeface="微软雅黑" panose="020B0503020204020204" charset="-122"/>
                <a:ea typeface="微软雅黑" panose="020B0503020204020204" charset="-122"/>
                <a:cs typeface="微软雅黑" panose="020B0503020204020204" charset="-122"/>
              </a:rPr>
              <a:t>，在全面调查研究的基础上，结合初步拟定的工程设计方案，进行认真的</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rPr>
              <a:t>分析、研究和综合评价</a:t>
            </a:r>
            <a:r>
              <a:rPr kumimoji="1" lang="zh-CN" altLang="en-US" sz="2000" dirty="0">
                <a:latin typeface="微软雅黑" panose="020B0503020204020204" charset="-122"/>
                <a:ea typeface="微软雅黑" panose="020B0503020204020204" charset="-122"/>
                <a:cs typeface="微软雅黑" panose="020B0503020204020204" charset="-122"/>
              </a:rPr>
              <a:t>等工作</a:t>
            </a:r>
            <a:endParaRPr kumimoji="1" lang="zh-CN" altLang="en-US" sz="2000"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一、</a:t>
            </a:r>
            <a:r>
              <a:rPr lang="zh-CN" altLang="en-US" sz="2400" dirty="0">
                <a:solidFill>
                  <a:schemeClr val="tx1">
                    <a:lumMod val="75000"/>
                    <a:lumOff val="25000"/>
                  </a:schemeClr>
                </a:solidFill>
                <a:latin typeface="微软雅黑" panose="020B0503020204020204" charset="-122"/>
                <a:ea typeface="微软雅黑" panose="020B0503020204020204" charset="-122"/>
                <a:sym typeface="+mn-ea"/>
              </a:rPr>
              <a:t>工程勘察的概念</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589915" y="946150"/>
            <a:ext cx="8291830" cy="3884295"/>
          </a:xfrm>
          <a:prstGeom prst="rect">
            <a:avLst/>
          </a:prstGeom>
          <a:noFill/>
        </p:spPr>
        <p:txBody>
          <a:bodyPr wrap="square" rtlCol="0">
            <a:noAutofit/>
          </a:bodyPr>
          <a:lstStyle/>
          <a:p>
            <a:pPr lvl="1" indent="-427355">
              <a:lnSpc>
                <a:spcPct val="150000"/>
              </a:lnSpc>
              <a:buFont typeface="+mj-lt"/>
              <a:buAutoNum type="arabicPeriod" startAt="2"/>
            </a:pPr>
            <a:r>
              <a:rPr kumimoji="1" lang="zh-CN" altLang="en-US" sz="2200" dirty="0">
                <a:latin typeface="微软雅黑" panose="020B0503020204020204" charset="-122"/>
                <a:ea typeface="微软雅黑" panose="020B0503020204020204" charset="-122"/>
                <a:cs typeface="微软雅黑" panose="020B0503020204020204" charset="-122"/>
              </a:rPr>
              <a:t>工程勘察的目的</a:t>
            </a:r>
            <a:endParaRPr kumimoji="1" lang="zh-CN" altLang="en-US" sz="2200" dirty="0">
              <a:latin typeface="微软雅黑" panose="020B0503020204020204" charset="-122"/>
              <a:ea typeface="微软雅黑" panose="020B0503020204020204" charset="-122"/>
              <a:cs typeface="微软雅黑" panose="020B0503020204020204" charset="-122"/>
              <a:sym typeface="+mn-ea"/>
            </a:endParaRPr>
          </a:p>
          <a:p>
            <a:pPr marL="0" lvl="1" indent="379730">
              <a:lnSpc>
                <a:spcPct val="150000"/>
              </a:lnSpc>
            </a:pPr>
            <a:r>
              <a:rPr kumimoji="1" lang="zh-CN" altLang="en-US" sz="2000" dirty="0">
                <a:latin typeface="微软雅黑" panose="020B0503020204020204" charset="-122"/>
                <a:ea typeface="微软雅黑" panose="020B0503020204020204" charset="-122"/>
                <a:cs typeface="微软雅黑" panose="020B0503020204020204" charset="-122"/>
                <a:sym typeface="+mn-ea"/>
              </a:rPr>
              <a:t>工程勘察的目的是为设计和施工提供</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可靠的依据</a:t>
            </a:r>
            <a:r>
              <a:rPr kumimoji="1" lang="zh-CN" altLang="en-US" sz="2000" dirty="0">
                <a:latin typeface="微软雅黑" panose="020B0503020204020204" charset="-122"/>
                <a:ea typeface="微软雅黑" panose="020B0503020204020204" charset="-122"/>
                <a:cs typeface="微软雅黑" panose="020B0503020204020204" charset="-122"/>
                <a:sym typeface="+mn-ea"/>
              </a:rPr>
              <a:t>，包括工程可行性研究报告查勘、工程方案查勘、初步设计查勘和施工图测量等内容。</a:t>
            </a:r>
            <a:endParaRPr kumimoji="1" lang="zh-CN" altLang="en-US" sz="2000" dirty="0">
              <a:latin typeface="微软雅黑" panose="020B0503020204020204" charset="-122"/>
              <a:ea typeface="微软雅黑" panose="020B0503020204020204" charset="-122"/>
              <a:cs typeface="微软雅黑" panose="020B0503020204020204" charset="-122"/>
              <a:sym typeface="+mn-ea"/>
            </a:endParaRPr>
          </a:p>
          <a:p>
            <a:pPr marL="0" lvl="1" indent="379730">
              <a:lnSpc>
                <a:spcPct val="150000"/>
              </a:lnSpc>
            </a:pPr>
            <a:r>
              <a:rPr kumimoji="1" lang="zh-CN" altLang="en-US" sz="2000" dirty="0">
                <a:latin typeface="微软雅黑" panose="020B0503020204020204" charset="-122"/>
                <a:ea typeface="微软雅黑" panose="020B0503020204020204" charset="-122"/>
                <a:cs typeface="微软雅黑" panose="020B0503020204020204" charset="-122"/>
                <a:sym typeface="+mn-ea"/>
              </a:rPr>
              <a:t>在现场勘察中，如果发现与设计任务书有较大出入的问题，应上报原下达任务书的单位重新审定，并在设计中特别加以论证说明。</a:t>
            </a:r>
            <a:endParaRPr kumimoji="1" lang="zh-CN" altLang="en-US" sz="2000" dirty="0">
              <a:latin typeface="微软雅黑" panose="020B0503020204020204" charset="-122"/>
              <a:ea typeface="微软雅黑" panose="020B0503020204020204" charset="-122"/>
              <a:cs typeface="微软雅黑" panose="020B0503020204020204" charset="-122"/>
              <a:sym typeface="+mn-ea"/>
            </a:endParaRPr>
          </a:p>
          <a:p>
            <a:pPr marL="0" lvl="1" indent="379730">
              <a:lnSpc>
                <a:spcPct val="150000"/>
              </a:lnSpc>
            </a:pPr>
            <a:r>
              <a:rPr kumimoji="1" lang="zh-CN" altLang="en-US" sz="2000" dirty="0">
                <a:latin typeface="微软雅黑" panose="020B0503020204020204" charset="-122"/>
                <a:ea typeface="微软雅黑" panose="020B0503020204020204" charset="-122"/>
                <a:cs typeface="微软雅黑" panose="020B0503020204020204" charset="-122"/>
                <a:sym typeface="+mn-ea"/>
              </a:rPr>
              <a:t>勘察主要侧重于项目</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可行性</a:t>
            </a:r>
            <a:r>
              <a:rPr kumimoji="1" lang="zh-CN" altLang="en-US" sz="2000" dirty="0">
                <a:latin typeface="微软雅黑" panose="020B0503020204020204" charset="-122"/>
                <a:ea typeface="微软雅黑" panose="020B0503020204020204" charset="-122"/>
                <a:cs typeface="微软雅黑" panose="020B0503020204020204" charset="-122"/>
                <a:sym typeface="+mn-ea"/>
              </a:rPr>
              <a:t>的了解；应</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多方案一起进行</a:t>
            </a:r>
            <a:r>
              <a:rPr kumimoji="1" lang="zh-CN" altLang="en-US" sz="2000" dirty="0">
                <a:latin typeface="微软雅黑" panose="020B0503020204020204" charset="-122"/>
                <a:ea typeface="微软雅黑" panose="020B0503020204020204" charset="-122"/>
                <a:cs typeface="微软雅黑" panose="020B0503020204020204" charset="-122"/>
                <a:sym typeface="+mn-ea"/>
              </a:rPr>
              <a:t>，并积极征询分建设单位、各相关部门的意见，注意近期与远期、局部与整体的发展情况，收集配套工程与设施的相关资料。</a:t>
            </a:r>
            <a:endParaRPr kumimoji="1" lang="zh-CN" altLang="en-US" sz="2000" dirty="0">
              <a:latin typeface="微软雅黑" panose="020B0503020204020204" charset="-122"/>
              <a:ea typeface="微软雅黑" panose="020B0503020204020204" charset="-122"/>
              <a:cs typeface="微软雅黑" panose="020B0503020204020204" charset="-122"/>
              <a:sym typeface="+mn-ea"/>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一、</a:t>
            </a:r>
            <a:r>
              <a:rPr lang="zh-CN" altLang="en-US" sz="2400" dirty="0">
                <a:solidFill>
                  <a:schemeClr val="tx1">
                    <a:lumMod val="75000"/>
                    <a:lumOff val="25000"/>
                  </a:schemeClr>
                </a:solidFill>
                <a:latin typeface="微软雅黑" panose="020B0503020204020204" charset="-122"/>
                <a:ea typeface="微软雅黑" panose="020B0503020204020204" charset="-122"/>
                <a:sym typeface="+mn-ea"/>
              </a:rPr>
              <a:t>工程勘察的概念</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589915" y="946150"/>
            <a:ext cx="8645525" cy="4009390"/>
          </a:xfrm>
          <a:prstGeom prst="rect">
            <a:avLst/>
          </a:prstGeom>
          <a:noFill/>
        </p:spPr>
        <p:txBody>
          <a:bodyPr wrap="square" rtlCol="0">
            <a:noAutofit/>
          </a:bodyPr>
          <a:lstStyle/>
          <a:p>
            <a:pPr marL="29845" lvl="1">
              <a:lnSpc>
                <a:spcPct val="150000"/>
              </a:lnSpc>
            </a:pPr>
            <a:r>
              <a:rPr kumimoji="1" lang="en-US" altLang="zh-CN" sz="2200" dirty="0">
                <a:latin typeface="微软雅黑" panose="020B0503020204020204" charset="-122"/>
                <a:ea typeface="微软雅黑" panose="020B0503020204020204" charset="-122"/>
                <a:cs typeface="微软雅黑" panose="020B0503020204020204" charset="-122"/>
              </a:rPr>
              <a:t>3.   </a:t>
            </a:r>
            <a:r>
              <a:rPr kumimoji="1" lang="zh-CN" altLang="en-US" sz="2200" dirty="0">
                <a:latin typeface="微软雅黑" panose="020B0503020204020204" charset="-122"/>
                <a:ea typeface="微软雅黑" panose="020B0503020204020204" charset="-122"/>
                <a:cs typeface="微软雅黑" panose="020B0503020204020204" charset="-122"/>
              </a:rPr>
              <a:t>工程勘察的内容</a:t>
            </a:r>
            <a:endParaRPr kumimoji="1" lang="zh-CN" altLang="en-US" sz="2200" dirty="0">
              <a:latin typeface="微软雅黑" panose="020B0503020204020204" charset="-122"/>
              <a:ea typeface="微软雅黑" panose="020B0503020204020204" charset="-122"/>
              <a:cs typeface="微软雅黑" panose="020B0503020204020204" charset="-122"/>
              <a:sym typeface="+mn-ea"/>
            </a:endParaRPr>
          </a:p>
          <a:p>
            <a:pPr marL="0" lvl="1" indent="379730">
              <a:lnSpc>
                <a:spcPct val="150000"/>
              </a:lnSpc>
            </a:pPr>
            <a:r>
              <a:rPr kumimoji="1" lang="zh-CN" altLang="en-US" sz="2000" dirty="0">
                <a:latin typeface="微软雅黑" panose="020B0503020204020204" charset="-122"/>
                <a:ea typeface="微软雅黑" panose="020B0503020204020204" charset="-122"/>
                <a:cs typeface="微软雅黑" panose="020B0503020204020204" charset="-122"/>
                <a:sym typeface="+mn-ea"/>
              </a:rPr>
              <a:t> 通信工程勘察包括</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查勘</a:t>
            </a:r>
            <a:r>
              <a:rPr kumimoji="1" lang="zh-CN" altLang="en-US" sz="2000" dirty="0">
                <a:latin typeface="微软雅黑" panose="020B0503020204020204" charset="-122"/>
                <a:ea typeface="微软雅黑" panose="020B0503020204020204" charset="-122"/>
                <a:cs typeface="微软雅黑" panose="020B0503020204020204" charset="-122"/>
                <a:sym typeface="+mn-ea"/>
              </a:rPr>
              <a:t>和</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测量</a:t>
            </a:r>
            <a:r>
              <a:rPr kumimoji="1" lang="zh-CN" altLang="en-US" sz="2000" dirty="0">
                <a:latin typeface="微软雅黑" panose="020B0503020204020204" charset="-122"/>
                <a:ea typeface="微软雅黑" panose="020B0503020204020204" charset="-122"/>
                <a:cs typeface="微软雅黑" panose="020B0503020204020204" charset="-122"/>
                <a:sym typeface="+mn-ea"/>
              </a:rPr>
              <a:t>两个工序，根据工程规模大小可分为</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方案查勘</a:t>
            </a:r>
            <a:r>
              <a:rPr kumimoji="1" lang="zh-CN" altLang="en-US" sz="2000" dirty="0">
                <a:latin typeface="微软雅黑" panose="020B0503020204020204" charset="-122"/>
                <a:ea typeface="微软雅黑" panose="020B0503020204020204" charset="-122"/>
                <a:cs typeface="微软雅黑" panose="020B0503020204020204" charset="-122"/>
                <a:sym typeface="+mn-ea"/>
              </a:rPr>
              <a:t>、</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初步设计查勘</a:t>
            </a:r>
            <a:r>
              <a:rPr kumimoji="1" lang="zh-CN" altLang="en-US" sz="2000" dirty="0">
                <a:latin typeface="微软雅黑" panose="020B0503020204020204" charset="-122"/>
                <a:ea typeface="微软雅黑" panose="020B0503020204020204" charset="-122"/>
                <a:cs typeface="微软雅黑" panose="020B0503020204020204" charset="-122"/>
                <a:sym typeface="+mn-ea"/>
              </a:rPr>
              <a:t>和</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现场测量</a:t>
            </a:r>
            <a:r>
              <a:rPr kumimoji="1" lang="zh-CN" altLang="en-US" sz="2000" dirty="0">
                <a:latin typeface="微软雅黑" panose="020B0503020204020204" charset="-122"/>
                <a:ea typeface="微软雅黑" panose="020B0503020204020204" charset="-122"/>
                <a:cs typeface="微软雅黑" panose="020B0503020204020204" charset="-122"/>
                <a:sym typeface="+mn-ea"/>
              </a:rPr>
              <a:t>三个阶段。</a:t>
            </a:r>
            <a:endParaRPr kumimoji="1" lang="zh-CN" altLang="en-US" sz="2000" dirty="0">
              <a:latin typeface="微软雅黑" panose="020B0503020204020204" charset="-122"/>
              <a:ea typeface="微软雅黑" panose="020B0503020204020204" charset="-122"/>
              <a:cs typeface="微软雅黑" panose="020B0503020204020204" charset="-122"/>
              <a:sym typeface="+mn-ea"/>
            </a:endParaRPr>
          </a:p>
          <a:p>
            <a:pPr marL="0" lvl="1" indent="379730">
              <a:lnSpc>
                <a:spcPct val="150000"/>
              </a:lnSpc>
            </a:pPr>
            <a:r>
              <a:rPr kumimoji="1" lang="zh-CN" altLang="en-US" sz="2000" dirty="0">
                <a:latin typeface="微软雅黑" panose="020B0503020204020204" charset="-122"/>
                <a:ea typeface="微软雅黑" panose="020B0503020204020204" charset="-122"/>
                <a:cs typeface="微软雅黑" panose="020B0503020204020204" charset="-122"/>
                <a:sym typeface="+mn-ea"/>
              </a:rPr>
              <a:t>对建设</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规模较大</a:t>
            </a:r>
            <a:r>
              <a:rPr kumimoji="1" lang="zh-CN" altLang="en-US" sz="2000" dirty="0">
                <a:latin typeface="微软雅黑" panose="020B0503020204020204" charset="-122"/>
                <a:ea typeface="微软雅黑" panose="020B0503020204020204" charset="-122"/>
                <a:cs typeface="微软雅黑" panose="020B0503020204020204" charset="-122"/>
                <a:sym typeface="+mn-ea"/>
              </a:rPr>
              <a:t>、</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技术较复杂</a:t>
            </a:r>
            <a:r>
              <a:rPr kumimoji="1" lang="zh-CN" altLang="en-US" sz="2000" dirty="0">
                <a:latin typeface="微软雅黑" panose="020B0503020204020204" charset="-122"/>
                <a:ea typeface="微软雅黑" panose="020B0503020204020204" charset="-122"/>
                <a:cs typeface="微软雅黑" panose="020B0503020204020204" charset="-122"/>
                <a:sym typeface="+mn-ea"/>
              </a:rPr>
              <a:t>的工程，需要首先进行</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方案查勘</a:t>
            </a:r>
            <a:r>
              <a:rPr kumimoji="1" lang="zh-CN" altLang="en-US" sz="2000" dirty="0">
                <a:latin typeface="微软雅黑" panose="020B0503020204020204" charset="-122"/>
                <a:ea typeface="微软雅黑" panose="020B0503020204020204" charset="-122"/>
                <a:cs typeface="微软雅黑" panose="020B0503020204020204" charset="-122"/>
                <a:sym typeface="+mn-ea"/>
              </a:rPr>
              <a:t>；对于</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二阶段设计</a:t>
            </a:r>
            <a:r>
              <a:rPr kumimoji="1" lang="zh-CN" altLang="en-US" sz="2000" dirty="0">
                <a:latin typeface="微软雅黑" panose="020B0503020204020204" charset="-122"/>
                <a:ea typeface="微软雅黑" panose="020B0503020204020204" charset="-122"/>
                <a:cs typeface="微软雅黑" panose="020B0503020204020204" charset="-122"/>
                <a:sym typeface="+mn-ea"/>
              </a:rPr>
              <a:t>的工程，应根据设计任务书的要求进行</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初步设计查勘</a:t>
            </a:r>
            <a:r>
              <a:rPr kumimoji="1" lang="zh-CN" altLang="en-US" sz="2000" dirty="0">
                <a:latin typeface="微软雅黑" panose="020B0503020204020204" charset="-122"/>
                <a:ea typeface="微软雅黑" panose="020B0503020204020204" charset="-122"/>
                <a:cs typeface="微软雅黑" panose="020B0503020204020204" charset="-122"/>
                <a:sym typeface="+mn-ea"/>
              </a:rPr>
              <a:t>后进行测量；对于</a:t>
            </a:r>
            <a:r>
              <a:rPr kumimoji="1" lang="zh-CN" altLang="en-US" sz="2000" dirty="0">
                <a:solidFill>
                  <a:srgbClr val="FF0000"/>
                </a:solidFill>
                <a:latin typeface="微软雅黑" panose="020B0503020204020204" charset="-122"/>
                <a:ea typeface="微软雅黑" panose="020B0503020204020204" charset="-122"/>
                <a:cs typeface="微软雅黑" panose="020B0503020204020204" charset="-122"/>
                <a:sym typeface="+mn-ea"/>
              </a:rPr>
              <a:t>一阶段设计</a:t>
            </a:r>
            <a:r>
              <a:rPr kumimoji="1" lang="zh-CN" altLang="en-US" sz="2000" dirty="0">
                <a:latin typeface="微软雅黑" panose="020B0503020204020204" charset="-122"/>
                <a:ea typeface="微软雅黑" panose="020B0503020204020204" charset="-122"/>
                <a:cs typeface="微软雅黑" panose="020B0503020204020204" charset="-122"/>
                <a:sym typeface="+mn-ea"/>
              </a:rPr>
              <a:t>，则查勘和测量同时进行。</a:t>
            </a:r>
            <a:endParaRPr kumimoji="1" lang="zh-CN" altLang="en-US" sz="2000" dirty="0">
              <a:latin typeface="微软雅黑" panose="020B0503020204020204" charset="-122"/>
              <a:ea typeface="微软雅黑" panose="020B0503020204020204" charset="-122"/>
              <a:cs typeface="微软雅黑" panose="020B0503020204020204" charset="-122"/>
              <a:sym typeface="+mn-ea"/>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8" name="组合 7"/>
          <p:cNvGrpSpPr/>
          <p:nvPr/>
        </p:nvGrpSpPr>
        <p:grpSpPr>
          <a:xfrm>
            <a:off x="1769923" y="897756"/>
            <a:ext cx="5759869" cy="573547"/>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目    录</a:t>
              </a:r>
              <a:endParaRPr lang="zh-CN" altLang="en-US" sz="2990" b="1" dirty="0">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cxnSp>
        <p:nvCxnSpPr>
          <p:cNvPr id="52" name="直接连接符 51"/>
          <p:cNvCxnSpPr/>
          <p:nvPr>
            <p:custDataLst>
              <p:tags r:id="rId2"/>
            </p:custDataLst>
          </p:nvPr>
        </p:nvCxnSpPr>
        <p:spPr>
          <a:xfrm>
            <a:off x="1993166" y="3080917"/>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custDataLst>
              <p:tags r:id="rId3"/>
            </p:custDataLst>
          </p:nvPr>
        </p:nvCxnSpPr>
        <p:spPr>
          <a:xfrm>
            <a:off x="1993166" y="2359529"/>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custDataLst>
              <p:tags r:id="rId4"/>
            </p:custDataLst>
          </p:nvPr>
        </p:nvSpPr>
        <p:spPr>
          <a:xfrm>
            <a:off x="2380875" y="2477683"/>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二、通信工程查勘</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sp>
        <p:nvSpPr>
          <p:cNvPr id="100" name="TextBox 99"/>
          <p:cNvSpPr txBox="1"/>
          <p:nvPr>
            <p:custDataLst>
              <p:tags r:id="rId5"/>
            </p:custDataLst>
          </p:nvPr>
        </p:nvSpPr>
        <p:spPr>
          <a:xfrm>
            <a:off x="2380875" y="1756889"/>
            <a:ext cx="4550974" cy="495200"/>
          </a:xfrm>
          <a:prstGeom prst="rect">
            <a:avLst/>
          </a:prstGeom>
          <a:noFill/>
        </p:spPr>
        <p:txBody>
          <a:bodyPr wrap="square" rtlCol="0">
            <a:spAutoFit/>
          </a:bodyPr>
          <a:lstStyle/>
          <a:p>
            <a:pPr indent="-320675">
              <a:spcBef>
                <a:spcPct val="20000"/>
              </a:spcBef>
            </a:pPr>
            <a:r>
              <a:rPr lang="en-US" altLang="zh-CN" sz="2620" b="1" dirty="0">
                <a:solidFill>
                  <a:schemeClr val="bg1">
                    <a:lumMod val="75000"/>
                  </a:schemeClr>
                </a:solidFill>
                <a:latin typeface="微软雅黑" panose="020B0503020204020204" charset="-122"/>
                <a:ea typeface="微软雅黑" panose="020B0503020204020204" charset="-122"/>
              </a:rPr>
              <a:t> </a:t>
            </a:r>
            <a:r>
              <a:rPr lang="zh-CN" altLang="en-US" sz="2620" dirty="0">
                <a:solidFill>
                  <a:schemeClr val="bg1">
                    <a:lumMod val="75000"/>
                  </a:schemeClr>
                </a:solidFill>
                <a:latin typeface="微软雅黑" panose="020B0503020204020204" charset="-122"/>
                <a:ea typeface="微软雅黑" panose="020B0503020204020204" charset="-122"/>
              </a:rPr>
              <a:t>一、</a:t>
            </a:r>
            <a:r>
              <a:rPr lang="zh-CN" altLang="en-US" sz="2620" dirty="0">
                <a:solidFill>
                  <a:schemeClr val="bg1">
                    <a:lumMod val="75000"/>
                  </a:schemeClr>
                </a:solidFill>
                <a:latin typeface="微软雅黑" panose="020B0503020204020204" charset="-122"/>
                <a:ea typeface="微软雅黑" panose="020B0503020204020204" charset="-122"/>
                <a:sym typeface="+mn-ea"/>
              </a:rPr>
              <a:t>工程勘察的概念</a:t>
            </a:r>
            <a:endParaRPr lang="zh-CN" altLang="en-US" sz="2620" dirty="0">
              <a:solidFill>
                <a:schemeClr val="bg1">
                  <a:lumMod val="75000"/>
                </a:schemeClr>
              </a:solidFill>
              <a:latin typeface="微软雅黑" panose="020B0503020204020204" charset="-122"/>
              <a:ea typeface="微软雅黑" panose="020B0503020204020204" charset="-122"/>
              <a:sym typeface="+mn-ea"/>
            </a:endParaRPr>
          </a:p>
        </p:txBody>
      </p:sp>
      <p:cxnSp>
        <p:nvCxnSpPr>
          <p:cNvPr id="2" name="直接连接符 1"/>
          <p:cNvCxnSpPr/>
          <p:nvPr>
            <p:custDataLst>
              <p:tags r:id="rId6"/>
            </p:custDataLst>
          </p:nvPr>
        </p:nvCxnSpPr>
        <p:spPr>
          <a:xfrm>
            <a:off x="1993166" y="3753618"/>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custDataLst>
              <p:tags r:id="rId7"/>
            </p:custDataLst>
          </p:nvPr>
        </p:nvSpPr>
        <p:spPr>
          <a:xfrm>
            <a:off x="2380875" y="3265568"/>
            <a:ext cx="4550974" cy="495200"/>
          </a:xfrm>
          <a:prstGeom prst="rect">
            <a:avLst/>
          </a:prstGeom>
          <a:noFill/>
        </p:spPr>
        <p:txBody>
          <a:bodyPr wrap="square" rtlCol="0">
            <a:spAutoFit/>
          </a:bodyPr>
          <a:lstStyle/>
          <a:p>
            <a:pPr lvl="0"/>
            <a:r>
              <a:rPr lang="en-US" altLang="zh-CN" sz="2620" dirty="0">
                <a:solidFill>
                  <a:schemeClr val="bg1">
                    <a:lumMod val="75000"/>
                  </a:schemeClr>
                </a:solidFill>
                <a:latin typeface="微软雅黑" panose="020B0503020204020204" charset="-122"/>
                <a:ea typeface="微软雅黑" panose="020B0503020204020204" charset="-122"/>
              </a:rPr>
              <a:t> </a:t>
            </a:r>
            <a:r>
              <a:rPr lang="zh-CN" altLang="en-US" sz="2620" dirty="0">
                <a:solidFill>
                  <a:schemeClr val="bg1">
                    <a:lumMod val="75000"/>
                  </a:schemeClr>
                </a:solidFill>
                <a:latin typeface="微软雅黑" panose="020B0503020204020204" charset="-122"/>
                <a:ea typeface="微软雅黑" panose="020B0503020204020204" charset="-122"/>
              </a:rPr>
              <a:t>三、常用测量工具的使用</a:t>
            </a:r>
            <a:endParaRPr lang="zh-CN" altLang="en-US" sz="2620" dirty="0">
              <a:solidFill>
                <a:schemeClr val="bg1">
                  <a:lumMod val="75000"/>
                </a:schemeClr>
              </a:solidFill>
              <a:latin typeface="微软雅黑" panose="020B0503020204020204" charset="-122"/>
              <a:ea typeface="微软雅黑" panose="020B0503020204020204" charset="-122"/>
            </a:endParaRPr>
          </a:p>
        </p:txBody>
      </p:sp>
      <p:pic>
        <p:nvPicPr>
          <p:cNvPr id="3081" name="图片 5" descr="校徽"/>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438352" y="1035079"/>
            <a:ext cx="3312368" cy="49795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946" tIns="35973" rIns="71946" bIns="35973" numCol="1" rtlCol="0" anchor="t" anchorCtr="0" compatLnSpc="1">
            <a:normAutofit/>
          </a:bodyPr>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2.1 </a:t>
            </a:r>
            <a:r>
              <a:rPr kumimoji="1" lang="zh-CN" altLang="en-US" sz="2400" b="1" dirty="0">
                <a:solidFill>
                  <a:srgbClr val="000099"/>
                </a:solidFill>
                <a:latin typeface="黑体" panose="02010609060101010101" pitchFamily="49" charset="-122"/>
                <a:ea typeface="黑体" panose="02010609060101010101" pitchFamily="49" charset="-122"/>
              </a:rPr>
              <a:t>查勘前准备工作</a:t>
            </a:r>
            <a:endParaRPr kumimoji="1" lang="en-US" altLang="zh-CN" sz="2400" b="1" dirty="0">
              <a:solidFill>
                <a:srgbClr val="000099"/>
              </a:solidFill>
              <a:latin typeface="黑体" panose="02010609060101010101" pitchFamily="49" charset="-122"/>
              <a:ea typeface="黑体" panose="02010609060101010101" pitchFamily="49" charset="-122"/>
            </a:endParaRPr>
          </a:p>
        </p:txBody>
      </p:sp>
      <p:sp>
        <p:nvSpPr>
          <p:cNvPr id="8" name="Rectangle 3"/>
          <p:cNvSpPr>
            <a:spLocks noGrp="1" noChangeArrowheads="1"/>
          </p:cNvSpPr>
          <p:nvPr/>
        </p:nvSpPr>
        <p:spPr bwMode="auto">
          <a:xfrm>
            <a:off x="420276" y="1533037"/>
            <a:ext cx="8229600" cy="319343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b="1" kern="1200">
                <a:solidFill>
                  <a:srgbClr val="336699"/>
                </a:solidFill>
                <a:latin typeface="+mn-lt"/>
                <a:ea typeface="+mn-ea"/>
                <a:cs typeface="+mn-cs"/>
              </a:defRPr>
            </a:lvl1pPr>
            <a:lvl2pPr marL="742950" indent="-285750" algn="l" rtl="0" eaLnBrk="0" fontAlgn="base" hangingPunct="0">
              <a:spcBef>
                <a:spcPct val="20000"/>
              </a:spcBef>
              <a:spcAft>
                <a:spcPct val="0"/>
              </a:spcAft>
              <a:buChar char="–"/>
              <a:defRPr sz="2000" b="1" kern="1200">
                <a:solidFill>
                  <a:srgbClr val="336699"/>
                </a:solidFill>
                <a:latin typeface="+mn-lt"/>
                <a:ea typeface="+mn-ea"/>
                <a:cs typeface="+mn-cs"/>
              </a:defRPr>
            </a:lvl2pPr>
            <a:lvl3pPr marL="1143000" indent="-228600" algn="l" rtl="0" eaLnBrk="0" fontAlgn="base" hangingPunct="0">
              <a:spcBef>
                <a:spcPct val="20000"/>
              </a:spcBef>
              <a:spcAft>
                <a:spcPct val="0"/>
              </a:spcAft>
              <a:buChar char="•"/>
              <a:defRPr b="1" kern="1200">
                <a:solidFill>
                  <a:srgbClr val="336699"/>
                </a:solidFill>
                <a:latin typeface="+mn-lt"/>
                <a:ea typeface="+mn-ea"/>
                <a:cs typeface="+mn-cs"/>
              </a:defRPr>
            </a:lvl3pPr>
            <a:lvl4pPr marL="1600200" indent="-228600" algn="l" rtl="0" eaLnBrk="0" fontAlgn="base" hangingPunct="0">
              <a:spcBef>
                <a:spcPct val="20000"/>
              </a:spcBef>
              <a:spcAft>
                <a:spcPct val="0"/>
              </a:spcAft>
              <a:buChar char="–"/>
              <a:defRPr sz="1600" b="1" kern="1200">
                <a:solidFill>
                  <a:srgbClr val="336699"/>
                </a:solidFill>
                <a:latin typeface="+mn-lt"/>
                <a:ea typeface="+mn-ea"/>
                <a:cs typeface="+mn-cs"/>
              </a:defRPr>
            </a:lvl4pPr>
            <a:lvl5pPr marL="2057400" indent="-228600" algn="l" rtl="0" eaLnBrk="0" fontAlgn="base" hangingPunct="0">
              <a:spcBef>
                <a:spcPct val="20000"/>
              </a:spcBef>
              <a:spcAft>
                <a:spcPct val="0"/>
              </a:spcAft>
              <a:buChar char="»"/>
              <a:defRPr sz="1600" b="1" kern="1200">
                <a:solidFill>
                  <a:srgbClr val="33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ct val="40000"/>
              </a:spcBef>
              <a:buFontTx/>
              <a:buNone/>
            </a:pPr>
            <a:r>
              <a:rPr lang="en-US" altLang="zh-CN" sz="2000" dirty="0">
                <a:solidFill>
                  <a:schemeClr val="tx1"/>
                </a:solidFill>
                <a:ea typeface="宋体" panose="02010600030101010101" pitchFamily="2" charset="-122"/>
              </a:rPr>
              <a:t>1  </a:t>
            </a:r>
            <a:r>
              <a:rPr lang="zh-CN" altLang="en-US" sz="2000" dirty="0">
                <a:solidFill>
                  <a:schemeClr val="tx1"/>
                </a:solidFill>
                <a:ea typeface="宋体" panose="02010600030101010101" pitchFamily="2" charset="-122"/>
              </a:rPr>
              <a:t>研究设计任务书或可行性报告的内容与要求，了解工程概况和要求，明确工程任务和范围。</a:t>
            </a:r>
            <a:endParaRPr lang="zh-CN" altLang="en-US" sz="2000" dirty="0">
              <a:solidFill>
                <a:schemeClr val="tx1"/>
              </a:solidFill>
              <a:ea typeface="宋体" panose="02010600030101010101" pitchFamily="2" charset="-122"/>
            </a:endParaRPr>
          </a:p>
          <a:p>
            <a:pPr>
              <a:lnSpc>
                <a:spcPct val="130000"/>
              </a:lnSpc>
              <a:spcBef>
                <a:spcPct val="40000"/>
              </a:spcBef>
              <a:buFontTx/>
              <a:buNone/>
            </a:pPr>
            <a:r>
              <a:rPr lang="en-US" altLang="zh-CN" sz="2000" dirty="0">
                <a:solidFill>
                  <a:schemeClr val="tx1"/>
                </a:solidFill>
                <a:ea typeface="宋体" panose="02010600030101010101" pitchFamily="2" charset="-122"/>
              </a:rPr>
              <a:t>2  </a:t>
            </a:r>
            <a:r>
              <a:rPr lang="zh-CN" altLang="en-US" sz="2000" dirty="0">
                <a:solidFill>
                  <a:schemeClr val="tx1"/>
                </a:solidFill>
                <a:ea typeface="宋体" panose="02010600030101010101" pitchFamily="2" charset="-122"/>
              </a:rPr>
              <a:t>收集与工程有关的文件、图纸和资料。</a:t>
            </a:r>
            <a:endParaRPr lang="zh-CN" altLang="en-US" sz="2000" dirty="0">
              <a:solidFill>
                <a:schemeClr val="tx1"/>
              </a:solidFill>
              <a:ea typeface="宋体" panose="02010600030101010101" pitchFamily="2" charset="-122"/>
            </a:endParaRPr>
          </a:p>
          <a:p>
            <a:pPr>
              <a:lnSpc>
                <a:spcPct val="130000"/>
              </a:lnSpc>
              <a:spcBef>
                <a:spcPct val="40000"/>
              </a:spcBef>
              <a:buFontTx/>
              <a:buNone/>
            </a:pPr>
            <a:r>
              <a:rPr lang="en-US" altLang="zh-CN" sz="2000" dirty="0">
                <a:solidFill>
                  <a:schemeClr val="tx1"/>
                </a:solidFill>
                <a:ea typeface="宋体" panose="02010600030101010101" pitchFamily="2" charset="-122"/>
              </a:rPr>
              <a:t>3  </a:t>
            </a:r>
            <a:r>
              <a:rPr lang="zh-CN" altLang="en-US" sz="2000" dirty="0">
                <a:solidFill>
                  <a:schemeClr val="tx1"/>
                </a:solidFill>
                <a:ea typeface="宋体" panose="02010600030101010101" pitchFamily="2" charset="-122"/>
              </a:rPr>
              <a:t>制定查勘计划。</a:t>
            </a:r>
            <a:endParaRPr lang="zh-CN" altLang="en-US" sz="2000" dirty="0">
              <a:solidFill>
                <a:schemeClr val="tx1"/>
              </a:solidFill>
              <a:ea typeface="宋体" panose="02010600030101010101" pitchFamily="2" charset="-122"/>
            </a:endParaRPr>
          </a:p>
          <a:p>
            <a:pPr>
              <a:lnSpc>
                <a:spcPct val="130000"/>
              </a:lnSpc>
              <a:spcBef>
                <a:spcPct val="40000"/>
              </a:spcBef>
              <a:buFontTx/>
              <a:buNone/>
            </a:pPr>
            <a:r>
              <a:rPr lang="en-US" altLang="zh-CN" sz="2000" dirty="0">
                <a:solidFill>
                  <a:schemeClr val="tx1"/>
                </a:solidFill>
                <a:ea typeface="宋体" panose="02010600030101010101" pitchFamily="2" charset="-122"/>
              </a:rPr>
              <a:t>4 </a:t>
            </a:r>
            <a:r>
              <a:rPr lang="zh-CN" altLang="en-US" sz="2000" dirty="0">
                <a:solidFill>
                  <a:schemeClr val="tx1"/>
                </a:solidFill>
                <a:ea typeface="宋体" panose="02010600030101010101" pitchFamily="2" charset="-122"/>
              </a:rPr>
              <a:t>人员组织。</a:t>
            </a:r>
            <a:endParaRPr lang="zh-CN" altLang="en-US" sz="2000" dirty="0">
              <a:solidFill>
                <a:schemeClr val="tx1"/>
              </a:solidFill>
              <a:ea typeface="宋体" panose="02010600030101010101" pitchFamily="2" charset="-122"/>
            </a:endParaRPr>
          </a:p>
          <a:p>
            <a:pPr>
              <a:lnSpc>
                <a:spcPct val="130000"/>
              </a:lnSpc>
              <a:spcBef>
                <a:spcPct val="40000"/>
              </a:spcBef>
              <a:buFontTx/>
              <a:buNone/>
            </a:pPr>
            <a:r>
              <a:rPr lang="en-US" altLang="zh-CN" sz="2000" dirty="0">
                <a:solidFill>
                  <a:schemeClr val="tx1"/>
                </a:solidFill>
                <a:ea typeface="宋体" panose="02010600030101010101" pitchFamily="2" charset="-122"/>
              </a:rPr>
              <a:t>5 </a:t>
            </a:r>
            <a:r>
              <a:rPr lang="zh-CN" altLang="en-US" sz="2000" dirty="0">
                <a:solidFill>
                  <a:schemeClr val="tx1"/>
                </a:solidFill>
                <a:ea typeface="宋体" panose="02010600030101010101" pitchFamily="2" charset="-122"/>
              </a:rPr>
              <a:t>准备查勘工具。 </a:t>
            </a:r>
            <a:endParaRPr lang="zh-CN" altLang="en-US" sz="2000" dirty="0">
              <a:solidFill>
                <a:schemeClr val="tx1"/>
              </a:solidFill>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9" name="Rectangle 2"/>
          <p:cNvSpPr>
            <a:spLocks noGrp="1" noChangeArrowheads="1"/>
          </p:cNvSpPr>
          <p:nvPr/>
        </p:nvSpPr>
        <p:spPr bwMode="auto">
          <a:xfrm>
            <a:off x="405528" y="967352"/>
            <a:ext cx="3178696" cy="497956"/>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rtl="0" eaLnBrk="0" fontAlgn="base" hangingPunct="0">
              <a:spcBef>
                <a:spcPct val="0"/>
              </a:spcBef>
              <a:spcAft>
                <a:spcPct val="0"/>
              </a:spcAft>
              <a:defRPr sz="3600" kern="1200">
                <a:solidFill>
                  <a:srgbClr val="336699"/>
                </a:solidFill>
                <a:latin typeface="+mj-lt"/>
                <a:ea typeface="+mj-ea"/>
                <a:cs typeface="+mj-cs"/>
              </a:defRPr>
            </a:lvl1pPr>
            <a:lvl2pPr algn="ctr" rtl="0" eaLnBrk="0" fontAlgn="base" hangingPunct="0">
              <a:spcBef>
                <a:spcPct val="0"/>
              </a:spcBef>
              <a:spcAft>
                <a:spcPct val="0"/>
              </a:spcAft>
              <a:defRPr sz="3600">
                <a:solidFill>
                  <a:srgbClr val="336699"/>
                </a:solidFill>
                <a:latin typeface="Cooper Black" panose="0208090404030B020404" pitchFamily="18" charset="0"/>
              </a:defRPr>
            </a:lvl2pPr>
            <a:lvl3pPr algn="ctr" rtl="0" eaLnBrk="0" fontAlgn="base" hangingPunct="0">
              <a:spcBef>
                <a:spcPct val="0"/>
              </a:spcBef>
              <a:spcAft>
                <a:spcPct val="0"/>
              </a:spcAft>
              <a:defRPr sz="3600">
                <a:solidFill>
                  <a:srgbClr val="336699"/>
                </a:solidFill>
                <a:latin typeface="Cooper Black" panose="0208090404030B020404" pitchFamily="18" charset="0"/>
              </a:defRPr>
            </a:lvl3pPr>
            <a:lvl4pPr algn="ctr" rtl="0" eaLnBrk="0" fontAlgn="base" hangingPunct="0">
              <a:spcBef>
                <a:spcPct val="0"/>
              </a:spcBef>
              <a:spcAft>
                <a:spcPct val="0"/>
              </a:spcAft>
              <a:defRPr sz="3600">
                <a:solidFill>
                  <a:srgbClr val="336699"/>
                </a:solidFill>
                <a:latin typeface="Cooper Black" panose="0208090404030B020404" pitchFamily="18" charset="0"/>
              </a:defRPr>
            </a:lvl4pPr>
            <a:lvl5pPr algn="ctr" rtl="0" eaLnBrk="0" fontAlgn="base" hangingPunct="0">
              <a:spcBef>
                <a:spcPct val="0"/>
              </a:spcBef>
              <a:spcAft>
                <a:spcPct val="0"/>
              </a:spcAft>
              <a:defRPr sz="3600">
                <a:solidFill>
                  <a:srgbClr val="336699"/>
                </a:solidFill>
                <a:latin typeface="Cooper Black" panose="0208090404030B020404" pitchFamily="18" charset="0"/>
              </a:defRPr>
            </a:lvl5pPr>
            <a:lvl6pPr marL="457200" algn="ctr" rtl="0" eaLnBrk="0" fontAlgn="base" hangingPunct="0">
              <a:spcBef>
                <a:spcPct val="0"/>
              </a:spcBef>
              <a:spcAft>
                <a:spcPct val="0"/>
              </a:spcAft>
              <a:defRPr sz="3600">
                <a:solidFill>
                  <a:srgbClr val="336699"/>
                </a:solidFill>
                <a:latin typeface="Cooper Black" panose="0208090404030B020404" pitchFamily="18" charset="0"/>
              </a:defRPr>
            </a:lvl6pPr>
            <a:lvl7pPr marL="914400" algn="ctr" rtl="0" eaLnBrk="0" fontAlgn="base" hangingPunct="0">
              <a:spcBef>
                <a:spcPct val="0"/>
              </a:spcBef>
              <a:spcAft>
                <a:spcPct val="0"/>
              </a:spcAft>
              <a:defRPr sz="3600">
                <a:solidFill>
                  <a:srgbClr val="336699"/>
                </a:solidFill>
                <a:latin typeface="Cooper Black" panose="0208090404030B020404" pitchFamily="18" charset="0"/>
              </a:defRPr>
            </a:lvl7pPr>
            <a:lvl8pPr marL="1371600" algn="ctr" rtl="0" eaLnBrk="0" fontAlgn="base" hangingPunct="0">
              <a:spcBef>
                <a:spcPct val="0"/>
              </a:spcBef>
              <a:spcAft>
                <a:spcPct val="0"/>
              </a:spcAft>
              <a:defRPr sz="3600">
                <a:solidFill>
                  <a:srgbClr val="336699"/>
                </a:solidFill>
                <a:latin typeface="Cooper Black" panose="0208090404030B020404" pitchFamily="18" charset="0"/>
              </a:defRPr>
            </a:lvl8pPr>
            <a:lvl9pPr marL="1828800" algn="ctr" rtl="0" eaLnBrk="0" fontAlgn="base" hangingPunct="0">
              <a:spcBef>
                <a:spcPct val="0"/>
              </a:spcBef>
              <a:spcAft>
                <a:spcPct val="0"/>
              </a:spcAft>
              <a:defRPr sz="3600">
                <a:solidFill>
                  <a:srgbClr val="336699"/>
                </a:solidFill>
                <a:latin typeface="Cooper Black" panose="0208090404030B020404" pitchFamily="18" charset="0"/>
              </a:defRPr>
            </a:lvl9pPr>
          </a:lstStyle>
          <a:p>
            <a:pPr algn="l"/>
            <a:r>
              <a:rPr kumimoji="1" lang="en-US" altLang="zh-CN" sz="2400" b="1" dirty="0">
                <a:solidFill>
                  <a:srgbClr val="000099"/>
                </a:solidFill>
                <a:latin typeface="黑体" panose="02010609060101010101" pitchFamily="49" charset="-122"/>
                <a:ea typeface="黑体" panose="02010609060101010101" pitchFamily="49" charset="-122"/>
              </a:rPr>
              <a:t>2.2 </a:t>
            </a:r>
            <a:r>
              <a:rPr kumimoji="1" lang="zh-CN" altLang="en-US" sz="2400" b="1" dirty="0">
                <a:solidFill>
                  <a:srgbClr val="000099"/>
                </a:solidFill>
                <a:latin typeface="黑体" panose="02010609060101010101" pitchFamily="49" charset="-122"/>
                <a:ea typeface="黑体" panose="02010609060101010101" pitchFamily="49" charset="-122"/>
              </a:rPr>
              <a:t>查勘任务</a:t>
            </a:r>
            <a:endParaRPr lang="zh-CN" altLang="en-US" dirty="0">
              <a:ea typeface="宋体" panose="02010600030101010101" pitchFamily="2" charset="-122"/>
            </a:endParaRPr>
          </a:p>
        </p:txBody>
      </p:sp>
      <p:sp>
        <p:nvSpPr>
          <p:cNvPr id="10" name="Rectangle 3"/>
          <p:cNvSpPr>
            <a:spLocks noGrp="1" noChangeArrowheads="1"/>
          </p:cNvSpPr>
          <p:nvPr/>
        </p:nvSpPr>
        <p:spPr bwMode="auto">
          <a:xfrm>
            <a:off x="340201" y="1401812"/>
            <a:ext cx="8710873" cy="3888432"/>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b="1" kern="1200">
                <a:solidFill>
                  <a:srgbClr val="336699"/>
                </a:solidFill>
                <a:latin typeface="+mn-lt"/>
                <a:ea typeface="+mn-ea"/>
                <a:cs typeface="+mn-cs"/>
              </a:defRPr>
            </a:lvl1pPr>
            <a:lvl2pPr marL="742950" indent="-285750" algn="l" rtl="0" eaLnBrk="0" fontAlgn="base" hangingPunct="0">
              <a:spcBef>
                <a:spcPct val="20000"/>
              </a:spcBef>
              <a:spcAft>
                <a:spcPct val="0"/>
              </a:spcAft>
              <a:buChar char="–"/>
              <a:defRPr sz="2000" b="1" kern="1200">
                <a:solidFill>
                  <a:srgbClr val="336699"/>
                </a:solidFill>
                <a:latin typeface="+mn-lt"/>
                <a:ea typeface="+mn-ea"/>
                <a:cs typeface="+mn-cs"/>
              </a:defRPr>
            </a:lvl2pPr>
            <a:lvl3pPr marL="1143000" indent="-228600" algn="l" rtl="0" eaLnBrk="0" fontAlgn="base" hangingPunct="0">
              <a:spcBef>
                <a:spcPct val="20000"/>
              </a:spcBef>
              <a:spcAft>
                <a:spcPct val="0"/>
              </a:spcAft>
              <a:buChar char="•"/>
              <a:defRPr b="1" kern="1200">
                <a:solidFill>
                  <a:srgbClr val="336699"/>
                </a:solidFill>
                <a:latin typeface="+mn-lt"/>
                <a:ea typeface="+mn-ea"/>
                <a:cs typeface="+mn-cs"/>
              </a:defRPr>
            </a:lvl3pPr>
            <a:lvl4pPr marL="1600200" indent="-228600" algn="l" rtl="0" eaLnBrk="0" fontAlgn="base" hangingPunct="0">
              <a:spcBef>
                <a:spcPct val="20000"/>
              </a:spcBef>
              <a:spcAft>
                <a:spcPct val="0"/>
              </a:spcAft>
              <a:buChar char="–"/>
              <a:defRPr sz="1600" b="1" kern="1200">
                <a:solidFill>
                  <a:srgbClr val="336699"/>
                </a:solidFill>
                <a:latin typeface="+mn-lt"/>
                <a:ea typeface="+mn-ea"/>
                <a:cs typeface="+mn-cs"/>
              </a:defRPr>
            </a:lvl4pPr>
            <a:lvl5pPr marL="2057400" indent="-228600" algn="l" rtl="0" eaLnBrk="0" fontAlgn="base" hangingPunct="0">
              <a:spcBef>
                <a:spcPct val="20000"/>
              </a:spcBef>
              <a:spcAft>
                <a:spcPct val="0"/>
              </a:spcAft>
              <a:buChar char="»"/>
              <a:defRPr sz="1600" b="1" kern="1200">
                <a:solidFill>
                  <a:srgbClr val="33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40000"/>
              </a:spcBef>
              <a:buFontTx/>
              <a:buNone/>
            </a:pPr>
            <a:r>
              <a:rPr lang="en-US" altLang="zh-CN" sz="2000" b="0" dirty="0">
                <a:solidFill>
                  <a:schemeClr val="tx1"/>
                </a:solidFill>
                <a:latin typeface="宋体" panose="02010600030101010101" pitchFamily="2" charset="-122"/>
                <a:ea typeface="宋体" panose="02010600030101010101" pitchFamily="2" charset="-122"/>
              </a:rPr>
              <a:t>1 </a:t>
            </a:r>
            <a:r>
              <a:rPr lang="zh-CN" altLang="en-US" sz="2000" b="0" dirty="0">
                <a:solidFill>
                  <a:schemeClr val="tx1"/>
                </a:solidFill>
                <a:latin typeface="宋体" panose="02010600030101010101" pitchFamily="2" charset="-122"/>
                <a:ea typeface="宋体" panose="02010600030101010101" pitchFamily="2" charset="-122"/>
              </a:rPr>
              <a:t>选定线路与沿线城镇、公路、铁路、河流、水库桥梁等地形地物的相对位置，选定进入城区内所占用街道的位置，选定在特殊地段的线路敷设具体位置。</a:t>
            </a:r>
            <a:endParaRPr lang="zh-CN" altLang="en-US" sz="2000" b="0" dirty="0">
              <a:solidFill>
                <a:schemeClr val="tx1"/>
              </a:solidFill>
              <a:latin typeface="宋体" panose="02010600030101010101" pitchFamily="2" charset="-122"/>
              <a:ea typeface="宋体" panose="02010600030101010101" pitchFamily="2" charset="-122"/>
            </a:endParaRPr>
          </a:p>
          <a:p>
            <a:pPr>
              <a:spcBef>
                <a:spcPct val="40000"/>
              </a:spcBef>
              <a:buFontTx/>
              <a:buNone/>
            </a:pPr>
            <a:endParaRPr lang="zh-CN" altLang="en-US" sz="800" b="0" dirty="0">
              <a:solidFill>
                <a:schemeClr val="tx1"/>
              </a:solidFill>
              <a:latin typeface="宋体" panose="02010600030101010101" pitchFamily="2" charset="-122"/>
              <a:ea typeface="宋体" panose="02010600030101010101" pitchFamily="2" charset="-122"/>
            </a:endParaRPr>
          </a:p>
          <a:p>
            <a:pPr>
              <a:spcBef>
                <a:spcPct val="40000"/>
              </a:spcBef>
              <a:buFontTx/>
              <a:buNone/>
            </a:pPr>
            <a:r>
              <a:rPr lang="en-US" altLang="zh-CN" sz="1800" b="0" dirty="0">
                <a:solidFill>
                  <a:schemeClr val="tx1"/>
                </a:solidFill>
                <a:latin typeface="宋体" panose="02010600030101010101" pitchFamily="2" charset="-122"/>
                <a:ea typeface="宋体" panose="02010600030101010101" pitchFamily="2" charset="-122"/>
              </a:rPr>
              <a:t>2</a:t>
            </a:r>
            <a:r>
              <a:rPr lang="en-US" altLang="zh-CN" sz="2000" b="0" dirty="0">
                <a:solidFill>
                  <a:schemeClr val="tx1"/>
                </a:solidFill>
                <a:latin typeface="宋体" panose="02010600030101010101" pitchFamily="2" charset="-122"/>
                <a:ea typeface="宋体" panose="02010600030101010101" pitchFamily="2" charset="-122"/>
              </a:rPr>
              <a:t> </a:t>
            </a:r>
            <a:r>
              <a:rPr lang="zh-CN" altLang="en-US" sz="2000" b="0" dirty="0">
                <a:solidFill>
                  <a:schemeClr val="tx1"/>
                </a:solidFill>
                <a:latin typeface="宋体" panose="02010600030101010101" pitchFamily="2" charset="-122"/>
                <a:ea typeface="宋体" panose="02010600030101010101" pitchFamily="2" charset="-122"/>
              </a:rPr>
              <a:t>配合通信、电力土建专业人员，根据设计任务书的要求，选定站址，并商定有关站的总平面布置以及线缆的进线方式和走向位置。</a:t>
            </a:r>
            <a:endParaRPr lang="zh-CN" altLang="en-US" sz="2000" b="0" dirty="0">
              <a:solidFill>
                <a:schemeClr val="tx1"/>
              </a:solidFill>
              <a:latin typeface="宋体" panose="02010600030101010101" pitchFamily="2" charset="-122"/>
              <a:ea typeface="宋体" panose="02010600030101010101" pitchFamily="2" charset="-122"/>
            </a:endParaRPr>
          </a:p>
          <a:p>
            <a:pPr>
              <a:spcBef>
                <a:spcPct val="40000"/>
              </a:spcBef>
              <a:buFontTx/>
              <a:buNone/>
            </a:pPr>
            <a:endParaRPr lang="zh-CN" altLang="en-US" sz="800" b="0" dirty="0">
              <a:solidFill>
                <a:schemeClr val="tx1"/>
              </a:solidFill>
              <a:latin typeface="宋体" panose="02010600030101010101" pitchFamily="2" charset="-122"/>
              <a:ea typeface="宋体" panose="02010600030101010101" pitchFamily="2" charset="-122"/>
            </a:endParaRPr>
          </a:p>
          <a:p>
            <a:pPr>
              <a:spcBef>
                <a:spcPct val="40000"/>
              </a:spcBef>
              <a:buFontTx/>
              <a:buNone/>
            </a:pPr>
            <a:r>
              <a:rPr lang="en-US" altLang="zh-CN" sz="2000" b="0" dirty="0">
                <a:solidFill>
                  <a:schemeClr val="tx1"/>
                </a:solidFill>
                <a:latin typeface="宋体" panose="02010600030101010101" pitchFamily="2" charset="-122"/>
                <a:ea typeface="宋体" panose="02010600030101010101" pitchFamily="2" charset="-122"/>
              </a:rPr>
              <a:t>3 </a:t>
            </a:r>
            <a:r>
              <a:rPr lang="zh-CN" altLang="en-US" sz="2000" b="0" dirty="0">
                <a:solidFill>
                  <a:schemeClr val="tx1"/>
                </a:solidFill>
                <a:latin typeface="宋体" panose="02010600030101010101" pitchFamily="2" charset="-122"/>
                <a:ea typeface="宋体" panose="02010600030101010101" pitchFamily="2" charset="-122"/>
              </a:rPr>
              <a:t>拟定有人段内各项系统的配置方案，拟定无人站的具体位置，无人站的建筑结构和施工工艺要求，确定中继设备的供电方式和业务联络方式。</a:t>
            </a:r>
            <a:endParaRPr lang="zh-CN" altLang="en-US" sz="2000" b="0" dirty="0">
              <a:solidFill>
                <a:schemeClr val="tx1"/>
              </a:solidFill>
              <a:latin typeface="宋体" panose="02010600030101010101" pitchFamily="2" charset="-122"/>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9" name="Rectangle 2"/>
          <p:cNvSpPr>
            <a:spLocks noGrp="1" noChangeArrowheads="1"/>
          </p:cNvSpPr>
          <p:nvPr/>
        </p:nvSpPr>
        <p:spPr bwMode="auto">
          <a:xfrm>
            <a:off x="405528" y="967352"/>
            <a:ext cx="3178696" cy="497956"/>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rtl="0" eaLnBrk="0" fontAlgn="base" hangingPunct="0">
              <a:spcBef>
                <a:spcPct val="0"/>
              </a:spcBef>
              <a:spcAft>
                <a:spcPct val="0"/>
              </a:spcAft>
              <a:defRPr sz="3600" kern="1200">
                <a:solidFill>
                  <a:srgbClr val="336699"/>
                </a:solidFill>
                <a:latin typeface="+mj-lt"/>
                <a:ea typeface="+mj-ea"/>
                <a:cs typeface="+mj-cs"/>
              </a:defRPr>
            </a:lvl1pPr>
            <a:lvl2pPr algn="ctr" rtl="0" eaLnBrk="0" fontAlgn="base" hangingPunct="0">
              <a:spcBef>
                <a:spcPct val="0"/>
              </a:spcBef>
              <a:spcAft>
                <a:spcPct val="0"/>
              </a:spcAft>
              <a:defRPr sz="3600">
                <a:solidFill>
                  <a:srgbClr val="336699"/>
                </a:solidFill>
                <a:latin typeface="Cooper Black" panose="0208090404030B020404" pitchFamily="18" charset="0"/>
              </a:defRPr>
            </a:lvl2pPr>
            <a:lvl3pPr algn="ctr" rtl="0" eaLnBrk="0" fontAlgn="base" hangingPunct="0">
              <a:spcBef>
                <a:spcPct val="0"/>
              </a:spcBef>
              <a:spcAft>
                <a:spcPct val="0"/>
              </a:spcAft>
              <a:defRPr sz="3600">
                <a:solidFill>
                  <a:srgbClr val="336699"/>
                </a:solidFill>
                <a:latin typeface="Cooper Black" panose="0208090404030B020404" pitchFamily="18" charset="0"/>
              </a:defRPr>
            </a:lvl3pPr>
            <a:lvl4pPr algn="ctr" rtl="0" eaLnBrk="0" fontAlgn="base" hangingPunct="0">
              <a:spcBef>
                <a:spcPct val="0"/>
              </a:spcBef>
              <a:spcAft>
                <a:spcPct val="0"/>
              </a:spcAft>
              <a:defRPr sz="3600">
                <a:solidFill>
                  <a:srgbClr val="336699"/>
                </a:solidFill>
                <a:latin typeface="Cooper Black" panose="0208090404030B020404" pitchFamily="18" charset="0"/>
              </a:defRPr>
            </a:lvl4pPr>
            <a:lvl5pPr algn="ctr" rtl="0" eaLnBrk="0" fontAlgn="base" hangingPunct="0">
              <a:spcBef>
                <a:spcPct val="0"/>
              </a:spcBef>
              <a:spcAft>
                <a:spcPct val="0"/>
              </a:spcAft>
              <a:defRPr sz="3600">
                <a:solidFill>
                  <a:srgbClr val="336699"/>
                </a:solidFill>
                <a:latin typeface="Cooper Black" panose="0208090404030B020404" pitchFamily="18" charset="0"/>
              </a:defRPr>
            </a:lvl5pPr>
            <a:lvl6pPr marL="457200" algn="ctr" rtl="0" eaLnBrk="0" fontAlgn="base" hangingPunct="0">
              <a:spcBef>
                <a:spcPct val="0"/>
              </a:spcBef>
              <a:spcAft>
                <a:spcPct val="0"/>
              </a:spcAft>
              <a:defRPr sz="3600">
                <a:solidFill>
                  <a:srgbClr val="336699"/>
                </a:solidFill>
                <a:latin typeface="Cooper Black" panose="0208090404030B020404" pitchFamily="18" charset="0"/>
              </a:defRPr>
            </a:lvl6pPr>
            <a:lvl7pPr marL="914400" algn="ctr" rtl="0" eaLnBrk="0" fontAlgn="base" hangingPunct="0">
              <a:spcBef>
                <a:spcPct val="0"/>
              </a:spcBef>
              <a:spcAft>
                <a:spcPct val="0"/>
              </a:spcAft>
              <a:defRPr sz="3600">
                <a:solidFill>
                  <a:srgbClr val="336699"/>
                </a:solidFill>
                <a:latin typeface="Cooper Black" panose="0208090404030B020404" pitchFamily="18" charset="0"/>
              </a:defRPr>
            </a:lvl7pPr>
            <a:lvl8pPr marL="1371600" algn="ctr" rtl="0" eaLnBrk="0" fontAlgn="base" hangingPunct="0">
              <a:spcBef>
                <a:spcPct val="0"/>
              </a:spcBef>
              <a:spcAft>
                <a:spcPct val="0"/>
              </a:spcAft>
              <a:defRPr sz="3600">
                <a:solidFill>
                  <a:srgbClr val="336699"/>
                </a:solidFill>
                <a:latin typeface="Cooper Black" panose="0208090404030B020404" pitchFamily="18" charset="0"/>
              </a:defRPr>
            </a:lvl8pPr>
            <a:lvl9pPr marL="1828800" algn="ctr" rtl="0" eaLnBrk="0" fontAlgn="base" hangingPunct="0">
              <a:spcBef>
                <a:spcPct val="0"/>
              </a:spcBef>
              <a:spcAft>
                <a:spcPct val="0"/>
              </a:spcAft>
              <a:defRPr sz="3600">
                <a:solidFill>
                  <a:srgbClr val="336699"/>
                </a:solidFill>
                <a:latin typeface="Cooper Black" panose="0208090404030B020404" pitchFamily="18" charset="0"/>
              </a:defRPr>
            </a:lvl9pPr>
          </a:lstStyle>
          <a:p>
            <a:pPr algn="l"/>
            <a:r>
              <a:rPr kumimoji="1" lang="en-US" altLang="zh-CN" sz="2400" b="1" dirty="0">
                <a:solidFill>
                  <a:srgbClr val="000099"/>
                </a:solidFill>
                <a:latin typeface="黑体" panose="02010609060101010101" pitchFamily="49" charset="-122"/>
                <a:ea typeface="黑体" panose="02010609060101010101" pitchFamily="49" charset="-122"/>
              </a:rPr>
              <a:t>2.2 </a:t>
            </a:r>
            <a:r>
              <a:rPr kumimoji="1" lang="zh-CN" altLang="en-US" sz="2400" b="1" dirty="0">
                <a:solidFill>
                  <a:srgbClr val="000099"/>
                </a:solidFill>
                <a:latin typeface="黑体" panose="02010609060101010101" pitchFamily="49" charset="-122"/>
                <a:ea typeface="黑体" panose="02010609060101010101" pitchFamily="49" charset="-122"/>
              </a:rPr>
              <a:t>查勘任务</a:t>
            </a:r>
            <a:endParaRPr lang="zh-CN" altLang="en-US" dirty="0">
              <a:ea typeface="宋体" panose="02010600030101010101" pitchFamily="2" charset="-122"/>
            </a:endParaRPr>
          </a:p>
        </p:txBody>
      </p:sp>
      <p:sp>
        <p:nvSpPr>
          <p:cNvPr id="10" name="Rectangle 3"/>
          <p:cNvSpPr>
            <a:spLocks noGrp="1" noChangeArrowheads="1"/>
          </p:cNvSpPr>
          <p:nvPr/>
        </p:nvSpPr>
        <p:spPr bwMode="auto">
          <a:xfrm>
            <a:off x="340201" y="1401812"/>
            <a:ext cx="8710873" cy="3888432"/>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b="1" kern="1200">
                <a:solidFill>
                  <a:srgbClr val="336699"/>
                </a:solidFill>
                <a:latin typeface="+mn-lt"/>
                <a:ea typeface="+mn-ea"/>
                <a:cs typeface="+mn-cs"/>
              </a:defRPr>
            </a:lvl1pPr>
            <a:lvl2pPr marL="742950" indent="-285750" algn="l" rtl="0" eaLnBrk="0" fontAlgn="base" hangingPunct="0">
              <a:spcBef>
                <a:spcPct val="20000"/>
              </a:spcBef>
              <a:spcAft>
                <a:spcPct val="0"/>
              </a:spcAft>
              <a:buChar char="–"/>
              <a:defRPr sz="2000" b="1" kern="1200">
                <a:solidFill>
                  <a:srgbClr val="336699"/>
                </a:solidFill>
                <a:latin typeface="+mn-lt"/>
                <a:ea typeface="+mn-ea"/>
                <a:cs typeface="+mn-cs"/>
              </a:defRPr>
            </a:lvl2pPr>
            <a:lvl3pPr marL="1143000" indent="-228600" algn="l" rtl="0" eaLnBrk="0" fontAlgn="base" hangingPunct="0">
              <a:spcBef>
                <a:spcPct val="20000"/>
              </a:spcBef>
              <a:spcAft>
                <a:spcPct val="0"/>
              </a:spcAft>
              <a:buChar char="•"/>
              <a:defRPr b="1" kern="1200">
                <a:solidFill>
                  <a:srgbClr val="336699"/>
                </a:solidFill>
                <a:latin typeface="+mn-lt"/>
                <a:ea typeface="+mn-ea"/>
                <a:cs typeface="+mn-cs"/>
              </a:defRPr>
            </a:lvl3pPr>
            <a:lvl4pPr marL="1600200" indent="-228600" algn="l" rtl="0" eaLnBrk="0" fontAlgn="base" hangingPunct="0">
              <a:spcBef>
                <a:spcPct val="20000"/>
              </a:spcBef>
              <a:spcAft>
                <a:spcPct val="0"/>
              </a:spcAft>
              <a:buChar char="–"/>
              <a:defRPr sz="1600" b="1" kern="1200">
                <a:solidFill>
                  <a:srgbClr val="336699"/>
                </a:solidFill>
                <a:latin typeface="+mn-lt"/>
                <a:ea typeface="+mn-ea"/>
                <a:cs typeface="+mn-cs"/>
              </a:defRPr>
            </a:lvl4pPr>
            <a:lvl5pPr marL="2057400" indent="-228600" algn="l" rtl="0" eaLnBrk="0" fontAlgn="base" hangingPunct="0">
              <a:spcBef>
                <a:spcPct val="20000"/>
              </a:spcBef>
              <a:spcAft>
                <a:spcPct val="0"/>
              </a:spcAft>
              <a:buChar char="»"/>
              <a:defRPr sz="1600" b="1" kern="1200">
                <a:solidFill>
                  <a:srgbClr val="33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40000"/>
              </a:spcBef>
              <a:buFontTx/>
              <a:buNone/>
            </a:pPr>
            <a:r>
              <a:rPr lang="en-US" altLang="zh-CN" sz="2000" b="0" dirty="0">
                <a:solidFill>
                  <a:schemeClr val="tx1"/>
                </a:solidFill>
                <a:latin typeface="宋体" panose="02010600030101010101" pitchFamily="2" charset="-122"/>
                <a:ea typeface="宋体" panose="02010600030101010101" pitchFamily="2" charset="-122"/>
              </a:rPr>
              <a:t>4 </a:t>
            </a:r>
            <a:r>
              <a:rPr lang="zh-CN" altLang="en-US" sz="2000" b="0" dirty="0">
                <a:solidFill>
                  <a:schemeClr val="tx1"/>
                </a:solidFill>
                <a:latin typeface="宋体" panose="02010600030101010101" pitchFamily="2" charset="-122"/>
                <a:ea typeface="宋体" panose="02010600030101010101" pitchFamily="2" charset="-122"/>
              </a:rPr>
              <a:t>根据地形自然条件，首先拟定线路的</a:t>
            </a:r>
            <a:r>
              <a:rPr lang="zh-CN" altLang="en-US" sz="2000" b="0" dirty="0">
                <a:solidFill>
                  <a:srgbClr val="FF0000"/>
                </a:solidFill>
                <a:latin typeface="宋体" panose="02010600030101010101" pitchFamily="2" charset="-122"/>
                <a:ea typeface="宋体" panose="02010600030101010101" pitchFamily="2" charset="-122"/>
              </a:rPr>
              <a:t>敷设方式</a:t>
            </a:r>
            <a:r>
              <a:rPr lang="zh-CN" altLang="en-US" sz="2000" b="0" dirty="0">
                <a:solidFill>
                  <a:schemeClr val="tx1"/>
                </a:solidFill>
                <a:latin typeface="宋体" panose="02010600030101010101" pitchFamily="2" charset="-122"/>
                <a:ea typeface="宋体" panose="02010600030101010101" pitchFamily="2" charset="-122"/>
              </a:rPr>
              <a:t>，然后由敷设方式确定各地段所使用的线缆规格和型号。</a:t>
            </a:r>
            <a:endParaRPr lang="zh-CN" altLang="en-US" sz="2000" b="0" dirty="0">
              <a:solidFill>
                <a:schemeClr val="tx1"/>
              </a:solidFill>
              <a:latin typeface="宋体" panose="02010600030101010101" pitchFamily="2" charset="-122"/>
              <a:ea typeface="宋体" panose="02010600030101010101" pitchFamily="2" charset="-122"/>
            </a:endParaRPr>
          </a:p>
          <a:p>
            <a:pPr>
              <a:spcBef>
                <a:spcPct val="40000"/>
              </a:spcBef>
              <a:buFontTx/>
              <a:buNone/>
            </a:pPr>
            <a:endParaRPr lang="zh-CN" altLang="en-US" sz="900" b="0" dirty="0">
              <a:solidFill>
                <a:schemeClr val="tx1"/>
              </a:solidFill>
              <a:latin typeface="宋体" panose="02010600030101010101" pitchFamily="2" charset="-122"/>
              <a:ea typeface="宋体" panose="02010600030101010101" pitchFamily="2" charset="-122"/>
            </a:endParaRPr>
          </a:p>
          <a:p>
            <a:pPr>
              <a:spcBef>
                <a:spcPct val="40000"/>
              </a:spcBef>
              <a:buFontTx/>
              <a:buNone/>
            </a:pPr>
            <a:r>
              <a:rPr lang="en-US" altLang="zh-CN" sz="2000" b="0" dirty="0">
                <a:solidFill>
                  <a:schemeClr val="tx1"/>
                </a:solidFill>
                <a:latin typeface="宋体" panose="02010600030101010101" pitchFamily="2" charset="-122"/>
                <a:ea typeface="宋体" panose="02010600030101010101" pitchFamily="2" charset="-122"/>
              </a:rPr>
              <a:t>5 </a:t>
            </a:r>
            <a:r>
              <a:rPr lang="zh-CN" altLang="en-US" sz="2000" b="0" dirty="0">
                <a:solidFill>
                  <a:schemeClr val="tx1"/>
                </a:solidFill>
                <a:latin typeface="宋体" panose="02010600030101010101" pitchFamily="2" charset="-122"/>
                <a:ea typeface="宋体" panose="02010600030101010101" pitchFamily="2" charset="-122"/>
              </a:rPr>
              <a:t>拟定线路上需要防雷、防蚀、防强电、防洪、防鼠及机械损伤的地段和防护措施。</a:t>
            </a:r>
            <a:endParaRPr lang="zh-CN" altLang="en-US" sz="2000" b="0" dirty="0">
              <a:solidFill>
                <a:schemeClr val="tx1"/>
              </a:solidFill>
              <a:latin typeface="宋体" panose="02010600030101010101" pitchFamily="2" charset="-122"/>
              <a:ea typeface="宋体" panose="02010600030101010101" pitchFamily="2" charset="-122"/>
            </a:endParaRPr>
          </a:p>
          <a:p>
            <a:pPr>
              <a:spcBef>
                <a:spcPct val="40000"/>
              </a:spcBef>
              <a:buFontTx/>
              <a:buNone/>
            </a:pPr>
            <a:endParaRPr lang="zh-CN" altLang="en-US" sz="900" b="0" dirty="0">
              <a:solidFill>
                <a:schemeClr val="tx1"/>
              </a:solidFill>
              <a:latin typeface="宋体" panose="02010600030101010101" pitchFamily="2" charset="-122"/>
              <a:ea typeface="宋体" panose="02010600030101010101" pitchFamily="2" charset="-122"/>
            </a:endParaRPr>
          </a:p>
          <a:p>
            <a:pPr>
              <a:spcBef>
                <a:spcPct val="40000"/>
              </a:spcBef>
              <a:buFontTx/>
              <a:buNone/>
            </a:pPr>
            <a:r>
              <a:rPr lang="en-US" altLang="zh-CN" sz="2000" b="0" dirty="0">
                <a:solidFill>
                  <a:schemeClr val="tx1"/>
                </a:solidFill>
                <a:latin typeface="宋体" panose="02010600030101010101" pitchFamily="2" charset="-122"/>
                <a:ea typeface="宋体" panose="02010600030101010101" pitchFamily="2" charset="-122"/>
              </a:rPr>
              <a:t>6 </a:t>
            </a:r>
            <a:r>
              <a:rPr lang="zh-CN" altLang="en-US" sz="2000" b="0" dirty="0">
                <a:solidFill>
                  <a:schemeClr val="tx1"/>
                </a:solidFill>
                <a:latin typeface="宋体" panose="02010600030101010101" pitchFamily="2" charset="-122"/>
                <a:ea typeface="宋体" panose="02010600030101010101" pitchFamily="2" charset="-122"/>
              </a:rPr>
              <a:t>拟定维护段、巡房、水线房的位置，提出维护工具、仪表及交通工具的配置，结合监控报警系统，提出维护工作的安排意见。</a:t>
            </a:r>
            <a:endParaRPr lang="zh-CN" altLang="en-US" sz="2000" b="0" dirty="0">
              <a:solidFill>
                <a:schemeClr val="tx1"/>
              </a:solidFill>
              <a:latin typeface="宋体" panose="02010600030101010101" pitchFamily="2" charset="-122"/>
              <a:ea typeface="宋体" panose="02010600030101010101" pitchFamily="2" charset="-122"/>
            </a:endParaRPr>
          </a:p>
          <a:p>
            <a:pPr>
              <a:spcBef>
                <a:spcPct val="40000"/>
              </a:spcBef>
              <a:buFontTx/>
              <a:buNone/>
            </a:pPr>
            <a:endParaRPr lang="zh-CN" altLang="en-US" sz="900" b="0" dirty="0">
              <a:solidFill>
                <a:schemeClr val="tx1"/>
              </a:solidFill>
              <a:latin typeface="宋体" panose="02010600030101010101" pitchFamily="2" charset="-122"/>
              <a:ea typeface="宋体" panose="02010600030101010101" pitchFamily="2" charset="-122"/>
            </a:endParaRPr>
          </a:p>
          <a:p>
            <a:pPr>
              <a:spcBef>
                <a:spcPct val="40000"/>
              </a:spcBef>
              <a:buFontTx/>
              <a:buNone/>
            </a:pPr>
            <a:r>
              <a:rPr lang="en-US" altLang="zh-CN" sz="2000" b="0" dirty="0">
                <a:solidFill>
                  <a:schemeClr val="tx1"/>
                </a:solidFill>
                <a:latin typeface="宋体" panose="02010600030101010101" pitchFamily="2" charset="-122"/>
                <a:ea typeface="宋体" panose="02010600030101010101" pitchFamily="2" charset="-122"/>
              </a:rPr>
              <a:t>7 </a:t>
            </a:r>
            <a:r>
              <a:rPr lang="zh-CN" altLang="en-US" sz="2000" b="0" dirty="0">
                <a:solidFill>
                  <a:schemeClr val="tx1"/>
                </a:solidFill>
                <a:latin typeface="宋体" panose="02010600030101010101" pitchFamily="2" charset="-122"/>
                <a:ea typeface="宋体" panose="02010600030101010101" pitchFamily="2" charset="-122"/>
              </a:rPr>
              <a:t>对于穿越铁路、公路、重要河道、大堤、路肩以及进入市区等处的线路，</a:t>
            </a:r>
            <a:r>
              <a:rPr lang="zh-CN" altLang="en-US" sz="2000" b="0" dirty="0">
                <a:solidFill>
                  <a:srgbClr val="0070C0"/>
                </a:solidFill>
                <a:latin typeface="宋体" panose="02010600030101010101" pitchFamily="2" charset="-122"/>
                <a:ea typeface="宋体" panose="02010600030101010101" pitchFamily="2" charset="-122"/>
              </a:rPr>
              <a:t>应协同建设单位与相关主管单位协商</a:t>
            </a:r>
            <a:r>
              <a:rPr lang="zh-CN" altLang="en-US" sz="2000" b="0" dirty="0">
                <a:solidFill>
                  <a:schemeClr val="tx1"/>
                </a:solidFill>
                <a:latin typeface="宋体" panose="02010600030101010101" pitchFamily="2" charset="-122"/>
                <a:ea typeface="宋体" panose="02010600030101010101" pitchFamily="2" charset="-122"/>
              </a:rPr>
              <a:t>线路需要穿越的地点保护措施及进局路由。 </a:t>
            </a:r>
            <a:endParaRPr lang="zh-CN" altLang="en-US" sz="2000" b="0" dirty="0">
              <a:solidFill>
                <a:schemeClr val="tx1"/>
              </a:solidFill>
              <a:latin typeface="宋体" panose="02010600030101010101" pitchFamily="2" charset="-122"/>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7" name="Rectangle 2"/>
          <p:cNvSpPr>
            <a:spLocks noGrp="1" noChangeArrowheads="1"/>
          </p:cNvSpPr>
          <p:nvPr/>
        </p:nvSpPr>
        <p:spPr bwMode="auto">
          <a:xfrm>
            <a:off x="420276" y="897756"/>
            <a:ext cx="2674640" cy="49795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rtl="0" eaLnBrk="0" fontAlgn="base" hangingPunct="0">
              <a:spcBef>
                <a:spcPct val="0"/>
              </a:spcBef>
              <a:spcAft>
                <a:spcPct val="0"/>
              </a:spcAft>
              <a:defRPr sz="3600" kern="1200">
                <a:solidFill>
                  <a:srgbClr val="336699"/>
                </a:solidFill>
                <a:latin typeface="+mj-lt"/>
                <a:ea typeface="+mj-ea"/>
                <a:cs typeface="+mj-cs"/>
              </a:defRPr>
            </a:lvl1pPr>
            <a:lvl2pPr algn="ctr" rtl="0" eaLnBrk="0" fontAlgn="base" hangingPunct="0">
              <a:spcBef>
                <a:spcPct val="0"/>
              </a:spcBef>
              <a:spcAft>
                <a:spcPct val="0"/>
              </a:spcAft>
              <a:defRPr sz="3600">
                <a:solidFill>
                  <a:srgbClr val="336699"/>
                </a:solidFill>
                <a:latin typeface="Cooper Black" panose="0208090404030B020404" pitchFamily="18" charset="0"/>
              </a:defRPr>
            </a:lvl2pPr>
            <a:lvl3pPr algn="ctr" rtl="0" eaLnBrk="0" fontAlgn="base" hangingPunct="0">
              <a:spcBef>
                <a:spcPct val="0"/>
              </a:spcBef>
              <a:spcAft>
                <a:spcPct val="0"/>
              </a:spcAft>
              <a:defRPr sz="3600">
                <a:solidFill>
                  <a:srgbClr val="336699"/>
                </a:solidFill>
                <a:latin typeface="Cooper Black" panose="0208090404030B020404" pitchFamily="18" charset="0"/>
              </a:defRPr>
            </a:lvl3pPr>
            <a:lvl4pPr algn="ctr" rtl="0" eaLnBrk="0" fontAlgn="base" hangingPunct="0">
              <a:spcBef>
                <a:spcPct val="0"/>
              </a:spcBef>
              <a:spcAft>
                <a:spcPct val="0"/>
              </a:spcAft>
              <a:defRPr sz="3600">
                <a:solidFill>
                  <a:srgbClr val="336699"/>
                </a:solidFill>
                <a:latin typeface="Cooper Black" panose="0208090404030B020404" pitchFamily="18" charset="0"/>
              </a:defRPr>
            </a:lvl4pPr>
            <a:lvl5pPr algn="ctr" rtl="0" eaLnBrk="0" fontAlgn="base" hangingPunct="0">
              <a:spcBef>
                <a:spcPct val="0"/>
              </a:spcBef>
              <a:spcAft>
                <a:spcPct val="0"/>
              </a:spcAft>
              <a:defRPr sz="3600">
                <a:solidFill>
                  <a:srgbClr val="336699"/>
                </a:solidFill>
                <a:latin typeface="Cooper Black" panose="0208090404030B020404" pitchFamily="18" charset="0"/>
              </a:defRPr>
            </a:lvl5pPr>
            <a:lvl6pPr marL="457200" algn="ctr" rtl="0" eaLnBrk="0" fontAlgn="base" hangingPunct="0">
              <a:spcBef>
                <a:spcPct val="0"/>
              </a:spcBef>
              <a:spcAft>
                <a:spcPct val="0"/>
              </a:spcAft>
              <a:defRPr sz="3600">
                <a:solidFill>
                  <a:srgbClr val="336699"/>
                </a:solidFill>
                <a:latin typeface="Cooper Black" panose="0208090404030B020404" pitchFamily="18" charset="0"/>
              </a:defRPr>
            </a:lvl6pPr>
            <a:lvl7pPr marL="914400" algn="ctr" rtl="0" eaLnBrk="0" fontAlgn="base" hangingPunct="0">
              <a:spcBef>
                <a:spcPct val="0"/>
              </a:spcBef>
              <a:spcAft>
                <a:spcPct val="0"/>
              </a:spcAft>
              <a:defRPr sz="3600">
                <a:solidFill>
                  <a:srgbClr val="336699"/>
                </a:solidFill>
                <a:latin typeface="Cooper Black" panose="0208090404030B020404" pitchFamily="18" charset="0"/>
              </a:defRPr>
            </a:lvl7pPr>
            <a:lvl8pPr marL="1371600" algn="ctr" rtl="0" eaLnBrk="0" fontAlgn="base" hangingPunct="0">
              <a:spcBef>
                <a:spcPct val="0"/>
              </a:spcBef>
              <a:spcAft>
                <a:spcPct val="0"/>
              </a:spcAft>
              <a:defRPr sz="3600">
                <a:solidFill>
                  <a:srgbClr val="336699"/>
                </a:solidFill>
                <a:latin typeface="Cooper Black" panose="0208090404030B020404" pitchFamily="18" charset="0"/>
              </a:defRPr>
            </a:lvl8pPr>
            <a:lvl9pPr marL="1828800" algn="ctr" rtl="0" eaLnBrk="0" fontAlgn="base" hangingPunct="0">
              <a:spcBef>
                <a:spcPct val="0"/>
              </a:spcBef>
              <a:spcAft>
                <a:spcPct val="0"/>
              </a:spcAft>
              <a:defRPr sz="3600">
                <a:solidFill>
                  <a:srgbClr val="336699"/>
                </a:solidFill>
                <a:latin typeface="Cooper Black" panose="0208090404030B020404" pitchFamily="18" charset="0"/>
              </a:defRPr>
            </a:lvl9pPr>
          </a:lstStyle>
          <a:p>
            <a:pPr algn="l"/>
            <a:r>
              <a:rPr kumimoji="1" lang="en-US" altLang="zh-CN" sz="2400" b="1" dirty="0">
                <a:solidFill>
                  <a:srgbClr val="000099"/>
                </a:solidFill>
                <a:latin typeface="黑体" panose="02010609060101010101" pitchFamily="49" charset="-122"/>
                <a:ea typeface="黑体" panose="02010609060101010101" pitchFamily="49" charset="-122"/>
              </a:rPr>
              <a:t>2.3 </a:t>
            </a:r>
            <a:r>
              <a:rPr kumimoji="1" lang="zh-CN" altLang="en-US" sz="2400" b="1" dirty="0">
                <a:solidFill>
                  <a:srgbClr val="000099"/>
                </a:solidFill>
                <a:latin typeface="黑体" panose="02010609060101010101" pitchFamily="49" charset="-122"/>
                <a:ea typeface="黑体" panose="02010609060101010101" pitchFamily="49" charset="-122"/>
              </a:rPr>
              <a:t>硅芯管道查勘</a:t>
            </a:r>
            <a:endParaRPr kumimoji="1" lang="zh-CN" altLang="en-US" sz="2400" b="1" dirty="0">
              <a:solidFill>
                <a:srgbClr val="000099"/>
              </a:solidFill>
              <a:latin typeface="黑体" panose="02010609060101010101" pitchFamily="49" charset="-122"/>
              <a:ea typeface="黑体" panose="02010609060101010101" pitchFamily="49" charset="-122"/>
            </a:endParaRPr>
          </a:p>
        </p:txBody>
      </p:sp>
      <p:sp>
        <p:nvSpPr>
          <p:cNvPr id="8" name="Rectangle 3"/>
          <p:cNvSpPr>
            <a:spLocks noGrp="1" noChangeArrowheads="1"/>
          </p:cNvSpPr>
          <p:nvPr/>
        </p:nvSpPr>
        <p:spPr bwMode="auto">
          <a:xfrm>
            <a:off x="285750" y="1313180"/>
            <a:ext cx="5145405" cy="368998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b="1" kern="1200">
                <a:solidFill>
                  <a:srgbClr val="336699"/>
                </a:solidFill>
                <a:latin typeface="+mn-lt"/>
                <a:ea typeface="+mn-ea"/>
                <a:cs typeface="+mn-cs"/>
              </a:defRPr>
            </a:lvl1pPr>
            <a:lvl2pPr marL="742950" indent="-285750" algn="l" rtl="0" eaLnBrk="0" fontAlgn="base" hangingPunct="0">
              <a:spcBef>
                <a:spcPct val="20000"/>
              </a:spcBef>
              <a:spcAft>
                <a:spcPct val="0"/>
              </a:spcAft>
              <a:buChar char="–"/>
              <a:defRPr sz="2000" b="1" kern="1200">
                <a:solidFill>
                  <a:srgbClr val="336699"/>
                </a:solidFill>
                <a:latin typeface="+mn-lt"/>
                <a:ea typeface="+mn-ea"/>
                <a:cs typeface="+mn-cs"/>
              </a:defRPr>
            </a:lvl2pPr>
            <a:lvl3pPr marL="1143000" indent="-228600" algn="l" rtl="0" eaLnBrk="0" fontAlgn="base" hangingPunct="0">
              <a:spcBef>
                <a:spcPct val="20000"/>
              </a:spcBef>
              <a:spcAft>
                <a:spcPct val="0"/>
              </a:spcAft>
              <a:buChar char="•"/>
              <a:defRPr b="1" kern="1200">
                <a:solidFill>
                  <a:srgbClr val="336699"/>
                </a:solidFill>
                <a:latin typeface="+mn-lt"/>
                <a:ea typeface="+mn-ea"/>
                <a:cs typeface="+mn-cs"/>
              </a:defRPr>
            </a:lvl3pPr>
            <a:lvl4pPr marL="1600200" indent="-228600" algn="l" rtl="0" eaLnBrk="0" fontAlgn="base" hangingPunct="0">
              <a:spcBef>
                <a:spcPct val="20000"/>
              </a:spcBef>
              <a:spcAft>
                <a:spcPct val="0"/>
              </a:spcAft>
              <a:buChar char="–"/>
              <a:defRPr sz="1600" b="1" kern="1200">
                <a:solidFill>
                  <a:srgbClr val="336699"/>
                </a:solidFill>
                <a:latin typeface="+mn-lt"/>
                <a:ea typeface="+mn-ea"/>
                <a:cs typeface="+mn-cs"/>
              </a:defRPr>
            </a:lvl4pPr>
            <a:lvl5pPr marL="2057400" indent="-228600" algn="l" rtl="0" eaLnBrk="0" fontAlgn="base" hangingPunct="0">
              <a:spcBef>
                <a:spcPct val="20000"/>
              </a:spcBef>
              <a:spcAft>
                <a:spcPct val="0"/>
              </a:spcAft>
              <a:buChar char="»"/>
              <a:defRPr sz="1600" b="1" kern="1200">
                <a:solidFill>
                  <a:srgbClr val="33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Tx/>
              <a:buNone/>
            </a:pPr>
            <a:r>
              <a:rPr lang="zh-CN" altLang="en-US" sz="2200" dirty="0">
                <a:solidFill>
                  <a:srgbClr val="660033"/>
                </a:solidFill>
                <a:latin typeface="黑体" panose="02010609060101010101" pitchFamily="49" charset="-122"/>
                <a:ea typeface="黑体" panose="02010609060101010101" pitchFamily="49" charset="-122"/>
              </a:rPr>
              <a:t>管道系统的组成</a:t>
            </a:r>
            <a:endParaRPr lang="zh-CN" altLang="en-US" sz="2200" dirty="0">
              <a:solidFill>
                <a:srgbClr val="660033"/>
              </a:solidFill>
              <a:latin typeface="黑体" panose="02010609060101010101" pitchFamily="49" charset="-122"/>
              <a:ea typeface="黑体" panose="02010609060101010101" pitchFamily="49" charset="-122"/>
            </a:endParaRPr>
          </a:p>
          <a:p>
            <a:pPr marL="457200" indent="-457200">
              <a:lnSpc>
                <a:spcPct val="130000"/>
              </a:lnSpc>
              <a:buFontTx/>
              <a:buNone/>
            </a:pPr>
            <a:r>
              <a:rPr lang="zh-CN" altLang="en-US" sz="1600" b="0" dirty="0">
                <a:solidFill>
                  <a:schemeClr val="tx1"/>
                </a:solidFill>
                <a:latin typeface="宋体" panose="02010600030101010101" pitchFamily="2" charset="-122"/>
                <a:ea typeface="宋体" panose="02010600030101010101" pitchFamily="2" charset="-122"/>
              </a:rPr>
              <a:t>通信管道由</a:t>
            </a:r>
            <a:r>
              <a:rPr lang="zh-CN" altLang="en-US" sz="1600" b="0" dirty="0">
                <a:solidFill>
                  <a:srgbClr val="FF0000"/>
                </a:solidFill>
                <a:latin typeface="宋体" panose="02010600030101010101" pitchFamily="2" charset="-122"/>
                <a:ea typeface="宋体" panose="02010600030101010101" pitchFamily="2" charset="-122"/>
              </a:rPr>
              <a:t>人孔</a:t>
            </a:r>
            <a:r>
              <a:rPr lang="zh-CN" altLang="en-US" sz="1600" b="0" dirty="0">
                <a:solidFill>
                  <a:schemeClr val="tx1"/>
                </a:solidFill>
                <a:latin typeface="宋体" panose="02010600030101010101" pitchFamily="2" charset="-122"/>
                <a:ea typeface="宋体" panose="02010600030101010101" pitchFamily="2" charset="-122"/>
              </a:rPr>
              <a:t>、</a:t>
            </a:r>
            <a:r>
              <a:rPr lang="zh-CN" altLang="en-US" sz="1600" b="0" dirty="0">
                <a:solidFill>
                  <a:srgbClr val="FF0000"/>
                </a:solidFill>
                <a:latin typeface="宋体" panose="02010600030101010101" pitchFamily="2" charset="-122"/>
                <a:ea typeface="宋体" panose="02010600030101010101" pitchFamily="2" charset="-122"/>
              </a:rPr>
              <a:t>手孔</a:t>
            </a:r>
            <a:r>
              <a:rPr lang="zh-CN" altLang="en-US" sz="1600" b="0" dirty="0">
                <a:solidFill>
                  <a:schemeClr val="tx1"/>
                </a:solidFill>
                <a:latin typeface="宋体" panose="02010600030101010101" pitchFamily="2" charset="-122"/>
                <a:ea typeface="宋体" panose="02010600030101010101" pitchFamily="2" charset="-122"/>
              </a:rPr>
              <a:t>及</a:t>
            </a:r>
            <a:r>
              <a:rPr lang="zh-CN" altLang="en-US" sz="1600" b="0" dirty="0">
                <a:solidFill>
                  <a:srgbClr val="FF0000"/>
                </a:solidFill>
                <a:latin typeface="宋体" panose="02010600030101010101" pitchFamily="2" charset="-122"/>
                <a:ea typeface="宋体" panose="02010600030101010101" pitchFamily="2" charset="-122"/>
              </a:rPr>
              <a:t>管路</a:t>
            </a:r>
            <a:r>
              <a:rPr lang="zh-CN" altLang="en-US" sz="1600" b="0" dirty="0">
                <a:solidFill>
                  <a:schemeClr val="tx1"/>
                </a:solidFill>
                <a:latin typeface="宋体" panose="02010600030101010101" pitchFamily="2" charset="-122"/>
                <a:ea typeface="宋体" panose="02010600030101010101" pitchFamily="2" charset="-122"/>
              </a:rPr>
              <a:t>三部分组成。</a:t>
            </a:r>
            <a:endParaRPr lang="zh-CN" altLang="en-US" sz="1600" b="0" dirty="0">
              <a:solidFill>
                <a:schemeClr val="tx1"/>
              </a:solidFill>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en-US" altLang="zh-CN" sz="1600" b="0" dirty="0">
                <a:ea typeface="宋体" panose="02010600030101010101" pitchFamily="2" charset="-122"/>
              </a:rPr>
              <a:t>1</a:t>
            </a:r>
            <a:r>
              <a:rPr lang="zh-CN" altLang="en-US" sz="1600" b="0" dirty="0">
                <a:ea typeface="宋体" panose="02010600030101010101" pitchFamily="2" charset="-122"/>
              </a:rPr>
              <a:t>）</a:t>
            </a:r>
            <a:r>
              <a:rPr lang="en-US" altLang="zh-CN" sz="1600" b="0" dirty="0">
                <a:ea typeface="宋体" panose="02010600030101010101" pitchFamily="2" charset="-122"/>
              </a:rPr>
              <a:t>    </a:t>
            </a:r>
            <a:r>
              <a:rPr lang="zh-CN" altLang="en-US" sz="1600" b="0" dirty="0">
                <a:latin typeface="宋体" panose="02010600030101010101" pitchFamily="2" charset="-122"/>
                <a:ea typeface="宋体" panose="02010600030101010101" pitchFamily="2" charset="-122"/>
                <a:sym typeface="+mn-ea"/>
              </a:rPr>
              <a:t>设置人孔是为了施工和维护方便。它通常设置于电话站前，做为引入光电缆之用，也可设置在光电缆的分支、接续转换、光电缆的转弯处等特殊场合</a:t>
            </a:r>
            <a:endParaRPr lang="zh-CN" altLang="en-US" sz="1600" b="0" dirty="0">
              <a:latin typeface="宋体" panose="02010600030101010101" pitchFamily="2" charset="-122"/>
              <a:ea typeface="宋体" panose="02010600030101010101" pitchFamily="2" charset="-122"/>
              <a:sym typeface="+mn-ea"/>
            </a:endParaRPr>
          </a:p>
          <a:p>
            <a:pPr marL="457200" indent="-457200">
              <a:lnSpc>
                <a:spcPct val="130000"/>
              </a:lnSpc>
              <a:buFont typeface="Wingdings" panose="05000000000000000000" pitchFamily="2" charset="2"/>
              <a:buNone/>
            </a:pPr>
            <a:endParaRPr lang="zh-CN" altLang="en-US" sz="8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主要由上覆、四壁、基础及有关的附属配件组成。如人孔口圈、铁盖、铁架、托板等，如图</a:t>
            </a:r>
            <a:r>
              <a:rPr lang="zh-CN" altLang="en-US" sz="1600" b="0" dirty="0">
                <a:latin typeface="宋体" panose="02010600030101010101" pitchFamily="2" charset="-122"/>
                <a:ea typeface="宋体" panose="02010600030101010101" pitchFamily="2" charset="-122"/>
              </a:rPr>
              <a:t>所示</a:t>
            </a: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endParaRPr lang="zh-CN" altLang="en-US" sz="8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en-US" altLang="zh-CN" sz="1600" b="0" dirty="0">
                <a:latin typeface="宋体" panose="02010600030101010101" pitchFamily="2" charset="-122"/>
                <a:ea typeface="宋体" panose="02010600030101010101" pitchFamily="2" charset="-122"/>
                <a:sym typeface="+mn-ea"/>
              </a:rPr>
              <a:t>     </a:t>
            </a:r>
            <a:r>
              <a:rPr lang="zh-CN" altLang="en-US" sz="1600" b="0" dirty="0">
                <a:latin typeface="宋体" panose="02010600030101010101" pitchFamily="2" charset="-122"/>
                <a:ea typeface="宋体" panose="02010600030101010101" pitchFamily="2" charset="-122"/>
                <a:sym typeface="+mn-ea"/>
              </a:rPr>
              <a:t>人孔按照规格可分为大、中、小号。大号人孔用于管孔较多的管道上，小号人孔用于管孔较少的管道上，中号人孔介于两者之间。</a:t>
            </a:r>
            <a:endParaRPr lang="zh-CN" altLang="en-US" sz="1600" b="0" dirty="0">
              <a:latin typeface="宋体" panose="02010600030101010101" pitchFamily="2" charset="-122"/>
              <a:ea typeface="宋体" panose="02010600030101010101" pitchFamily="2" charset="-122"/>
              <a:sym typeface="+mn-ea"/>
            </a:endParaRPr>
          </a:p>
          <a:p>
            <a:pPr marL="457200" indent="-457200">
              <a:lnSpc>
                <a:spcPct val="130000"/>
              </a:lnSpc>
              <a:buFont typeface="Wingdings" panose="05000000000000000000" pitchFamily="2" charset="2"/>
              <a:buNone/>
            </a:pP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zh-CN" altLang="en-US" sz="2800" dirty="0">
                <a:latin typeface="宋体" panose="02010600030101010101" pitchFamily="2" charset="-122"/>
                <a:ea typeface="宋体" panose="02010600030101010101" pitchFamily="2" charset="-122"/>
              </a:rPr>
              <a:t>       </a:t>
            </a:r>
            <a:endParaRPr lang="zh-CN" altLang="en-US" sz="2800" dirty="0">
              <a:latin typeface="宋体" panose="02010600030101010101" pitchFamily="2" charset="-122"/>
              <a:ea typeface="宋体" panose="02010600030101010101" pitchFamily="2" charset="-122"/>
            </a:endParaRPr>
          </a:p>
        </p:txBody>
      </p:sp>
      <p:pic>
        <p:nvPicPr>
          <p:cNvPr id="10" name="Picture 10"/>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l="59065" t="39171" r="13606" b="32292"/>
          <a:stretch>
            <a:fillRect/>
          </a:stretch>
        </p:blipFill>
        <p:spPr bwMode="auto">
          <a:xfrm>
            <a:off x="5804535" y="1977390"/>
            <a:ext cx="3617595" cy="254508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7" name="Rectangle 2"/>
          <p:cNvSpPr>
            <a:spLocks noGrp="1" noChangeArrowheads="1"/>
          </p:cNvSpPr>
          <p:nvPr/>
        </p:nvSpPr>
        <p:spPr bwMode="auto">
          <a:xfrm>
            <a:off x="420276" y="897756"/>
            <a:ext cx="2674640" cy="49795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rtl="0" eaLnBrk="0" fontAlgn="base" hangingPunct="0">
              <a:spcBef>
                <a:spcPct val="0"/>
              </a:spcBef>
              <a:spcAft>
                <a:spcPct val="0"/>
              </a:spcAft>
              <a:defRPr sz="3600" kern="1200">
                <a:solidFill>
                  <a:srgbClr val="336699"/>
                </a:solidFill>
                <a:latin typeface="+mj-lt"/>
                <a:ea typeface="+mj-ea"/>
                <a:cs typeface="+mj-cs"/>
              </a:defRPr>
            </a:lvl1pPr>
            <a:lvl2pPr algn="ctr" rtl="0" eaLnBrk="0" fontAlgn="base" hangingPunct="0">
              <a:spcBef>
                <a:spcPct val="0"/>
              </a:spcBef>
              <a:spcAft>
                <a:spcPct val="0"/>
              </a:spcAft>
              <a:defRPr sz="3600">
                <a:solidFill>
                  <a:srgbClr val="336699"/>
                </a:solidFill>
                <a:latin typeface="Cooper Black" panose="0208090404030B020404" pitchFamily="18" charset="0"/>
              </a:defRPr>
            </a:lvl2pPr>
            <a:lvl3pPr algn="ctr" rtl="0" eaLnBrk="0" fontAlgn="base" hangingPunct="0">
              <a:spcBef>
                <a:spcPct val="0"/>
              </a:spcBef>
              <a:spcAft>
                <a:spcPct val="0"/>
              </a:spcAft>
              <a:defRPr sz="3600">
                <a:solidFill>
                  <a:srgbClr val="336699"/>
                </a:solidFill>
                <a:latin typeface="Cooper Black" panose="0208090404030B020404" pitchFamily="18" charset="0"/>
              </a:defRPr>
            </a:lvl3pPr>
            <a:lvl4pPr algn="ctr" rtl="0" eaLnBrk="0" fontAlgn="base" hangingPunct="0">
              <a:spcBef>
                <a:spcPct val="0"/>
              </a:spcBef>
              <a:spcAft>
                <a:spcPct val="0"/>
              </a:spcAft>
              <a:defRPr sz="3600">
                <a:solidFill>
                  <a:srgbClr val="336699"/>
                </a:solidFill>
                <a:latin typeface="Cooper Black" panose="0208090404030B020404" pitchFamily="18" charset="0"/>
              </a:defRPr>
            </a:lvl4pPr>
            <a:lvl5pPr algn="ctr" rtl="0" eaLnBrk="0" fontAlgn="base" hangingPunct="0">
              <a:spcBef>
                <a:spcPct val="0"/>
              </a:spcBef>
              <a:spcAft>
                <a:spcPct val="0"/>
              </a:spcAft>
              <a:defRPr sz="3600">
                <a:solidFill>
                  <a:srgbClr val="336699"/>
                </a:solidFill>
                <a:latin typeface="Cooper Black" panose="0208090404030B020404" pitchFamily="18" charset="0"/>
              </a:defRPr>
            </a:lvl5pPr>
            <a:lvl6pPr marL="457200" algn="ctr" rtl="0" eaLnBrk="0" fontAlgn="base" hangingPunct="0">
              <a:spcBef>
                <a:spcPct val="0"/>
              </a:spcBef>
              <a:spcAft>
                <a:spcPct val="0"/>
              </a:spcAft>
              <a:defRPr sz="3600">
                <a:solidFill>
                  <a:srgbClr val="336699"/>
                </a:solidFill>
                <a:latin typeface="Cooper Black" panose="0208090404030B020404" pitchFamily="18" charset="0"/>
              </a:defRPr>
            </a:lvl6pPr>
            <a:lvl7pPr marL="914400" algn="ctr" rtl="0" eaLnBrk="0" fontAlgn="base" hangingPunct="0">
              <a:spcBef>
                <a:spcPct val="0"/>
              </a:spcBef>
              <a:spcAft>
                <a:spcPct val="0"/>
              </a:spcAft>
              <a:defRPr sz="3600">
                <a:solidFill>
                  <a:srgbClr val="336699"/>
                </a:solidFill>
                <a:latin typeface="Cooper Black" panose="0208090404030B020404" pitchFamily="18" charset="0"/>
              </a:defRPr>
            </a:lvl7pPr>
            <a:lvl8pPr marL="1371600" algn="ctr" rtl="0" eaLnBrk="0" fontAlgn="base" hangingPunct="0">
              <a:spcBef>
                <a:spcPct val="0"/>
              </a:spcBef>
              <a:spcAft>
                <a:spcPct val="0"/>
              </a:spcAft>
              <a:defRPr sz="3600">
                <a:solidFill>
                  <a:srgbClr val="336699"/>
                </a:solidFill>
                <a:latin typeface="Cooper Black" panose="0208090404030B020404" pitchFamily="18" charset="0"/>
              </a:defRPr>
            </a:lvl8pPr>
            <a:lvl9pPr marL="1828800" algn="ctr" rtl="0" eaLnBrk="0" fontAlgn="base" hangingPunct="0">
              <a:spcBef>
                <a:spcPct val="0"/>
              </a:spcBef>
              <a:spcAft>
                <a:spcPct val="0"/>
              </a:spcAft>
              <a:defRPr sz="3600">
                <a:solidFill>
                  <a:srgbClr val="336699"/>
                </a:solidFill>
                <a:latin typeface="Cooper Black" panose="0208090404030B020404" pitchFamily="18" charset="0"/>
              </a:defRPr>
            </a:lvl9pPr>
          </a:lstStyle>
          <a:p>
            <a:pPr algn="l"/>
            <a:r>
              <a:rPr kumimoji="1" lang="en-US" altLang="zh-CN" sz="2400" b="1" dirty="0">
                <a:solidFill>
                  <a:srgbClr val="000099"/>
                </a:solidFill>
                <a:latin typeface="黑体" panose="02010609060101010101" pitchFamily="49" charset="-122"/>
                <a:ea typeface="黑体" panose="02010609060101010101" pitchFamily="49" charset="-122"/>
              </a:rPr>
              <a:t>2.3 </a:t>
            </a:r>
            <a:r>
              <a:rPr kumimoji="1" lang="zh-CN" altLang="en-US" sz="2400" b="1" dirty="0">
                <a:solidFill>
                  <a:srgbClr val="000099"/>
                </a:solidFill>
                <a:latin typeface="黑体" panose="02010609060101010101" pitchFamily="49" charset="-122"/>
                <a:ea typeface="黑体" panose="02010609060101010101" pitchFamily="49" charset="-122"/>
              </a:rPr>
              <a:t>硅芯管道查勘</a:t>
            </a:r>
            <a:endParaRPr kumimoji="1" lang="zh-CN" altLang="en-US" sz="2400" b="1" dirty="0">
              <a:solidFill>
                <a:srgbClr val="000099"/>
              </a:solidFill>
              <a:latin typeface="黑体" panose="02010609060101010101" pitchFamily="49" charset="-122"/>
              <a:ea typeface="黑体" panose="02010609060101010101" pitchFamily="49" charset="-122"/>
            </a:endParaRPr>
          </a:p>
        </p:txBody>
      </p:sp>
      <p:sp>
        <p:nvSpPr>
          <p:cNvPr id="8" name="Rectangle 3"/>
          <p:cNvSpPr>
            <a:spLocks noGrp="1" noChangeArrowheads="1"/>
          </p:cNvSpPr>
          <p:nvPr/>
        </p:nvSpPr>
        <p:spPr bwMode="auto">
          <a:xfrm>
            <a:off x="285750" y="1313180"/>
            <a:ext cx="5145405" cy="368998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b="1" kern="1200">
                <a:solidFill>
                  <a:srgbClr val="336699"/>
                </a:solidFill>
                <a:latin typeface="+mn-lt"/>
                <a:ea typeface="+mn-ea"/>
                <a:cs typeface="+mn-cs"/>
              </a:defRPr>
            </a:lvl1pPr>
            <a:lvl2pPr marL="742950" indent="-285750" algn="l" rtl="0" eaLnBrk="0" fontAlgn="base" hangingPunct="0">
              <a:spcBef>
                <a:spcPct val="20000"/>
              </a:spcBef>
              <a:spcAft>
                <a:spcPct val="0"/>
              </a:spcAft>
              <a:buChar char="–"/>
              <a:defRPr sz="2000" b="1" kern="1200">
                <a:solidFill>
                  <a:srgbClr val="336699"/>
                </a:solidFill>
                <a:latin typeface="+mn-lt"/>
                <a:ea typeface="+mn-ea"/>
                <a:cs typeface="+mn-cs"/>
              </a:defRPr>
            </a:lvl2pPr>
            <a:lvl3pPr marL="1143000" indent="-228600" algn="l" rtl="0" eaLnBrk="0" fontAlgn="base" hangingPunct="0">
              <a:spcBef>
                <a:spcPct val="20000"/>
              </a:spcBef>
              <a:spcAft>
                <a:spcPct val="0"/>
              </a:spcAft>
              <a:buChar char="•"/>
              <a:defRPr b="1" kern="1200">
                <a:solidFill>
                  <a:srgbClr val="336699"/>
                </a:solidFill>
                <a:latin typeface="+mn-lt"/>
                <a:ea typeface="+mn-ea"/>
                <a:cs typeface="+mn-cs"/>
              </a:defRPr>
            </a:lvl3pPr>
            <a:lvl4pPr marL="1600200" indent="-228600" algn="l" rtl="0" eaLnBrk="0" fontAlgn="base" hangingPunct="0">
              <a:spcBef>
                <a:spcPct val="20000"/>
              </a:spcBef>
              <a:spcAft>
                <a:spcPct val="0"/>
              </a:spcAft>
              <a:buChar char="–"/>
              <a:defRPr sz="1600" b="1" kern="1200">
                <a:solidFill>
                  <a:srgbClr val="336699"/>
                </a:solidFill>
                <a:latin typeface="+mn-lt"/>
                <a:ea typeface="+mn-ea"/>
                <a:cs typeface="+mn-cs"/>
              </a:defRPr>
            </a:lvl4pPr>
            <a:lvl5pPr marL="2057400" indent="-228600" algn="l" rtl="0" eaLnBrk="0" fontAlgn="base" hangingPunct="0">
              <a:spcBef>
                <a:spcPct val="20000"/>
              </a:spcBef>
              <a:spcAft>
                <a:spcPct val="0"/>
              </a:spcAft>
              <a:buChar char="»"/>
              <a:defRPr sz="1600" b="1" kern="1200">
                <a:solidFill>
                  <a:srgbClr val="33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Tx/>
              <a:buNone/>
            </a:pPr>
            <a:r>
              <a:rPr lang="zh-CN" altLang="en-US" sz="2200" dirty="0">
                <a:solidFill>
                  <a:srgbClr val="660033"/>
                </a:solidFill>
                <a:latin typeface="黑体" panose="02010609060101010101" pitchFamily="49" charset="-122"/>
                <a:ea typeface="黑体" panose="02010609060101010101" pitchFamily="49" charset="-122"/>
              </a:rPr>
              <a:t>管道系统的组成</a:t>
            </a:r>
            <a:endParaRPr lang="zh-CN" altLang="en-US" sz="2200" dirty="0">
              <a:solidFill>
                <a:srgbClr val="660033"/>
              </a:solidFill>
              <a:latin typeface="黑体" panose="02010609060101010101" pitchFamily="49" charset="-122"/>
              <a:ea typeface="黑体" panose="02010609060101010101" pitchFamily="49" charset="-122"/>
            </a:endParaRPr>
          </a:p>
          <a:p>
            <a:pPr marL="457200" indent="-457200">
              <a:lnSpc>
                <a:spcPct val="130000"/>
              </a:lnSpc>
              <a:buFont typeface="Wingdings" panose="05000000000000000000" pitchFamily="2" charset="2"/>
              <a:buNone/>
            </a:pPr>
            <a:r>
              <a:rPr lang="en-US" altLang="zh-CN" sz="1600" b="0" dirty="0">
                <a:ea typeface="宋体" panose="02010600030101010101" pitchFamily="2" charset="-122"/>
                <a:sym typeface="+mn-ea"/>
              </a:rPr>
              <a:t>2</a:t>
            </a:r>
            <a:r>
              <a:rPr lang="zh-CN" altLang="en-US" sz="1600" b="0" dirty="0">
                <a:ea typeface="宋体" panose="02010600030101010101" pitchFamily="2" charset="-122"/>
                <a:sym typeface="+mn-ea"/>
              </a:rPr>
              <a:t>）手</a:t>
            </a:r>
            <a:r>
              <a:rPr lang="zh-CN" altLang="en-US" sz="1600" b="0" dirty="0">
                <a:latin typeface="宋体" panose="02010600030101010101" pitchFamily="2" charset="-122"/>
                <a:ea typeface="宋体" panose="02010600030101010101" pitchFamily="2" charset="-122"/>
                <a:sym typeface="+mn-ea"/>
              </a:rPr>
              <a:t>孔</a:t>
            </a:r>
            <a:endParaRPr lang="zh-CN" altLang="en-US" sz="1600" b="0" dirty="0">
              <a:latin typeface="宋体" panose="02010600030101010101" pitchFamily="2" charset="-122"/>
              <a:ea typeface="宋体" panose="02010600030101010101" pitchFamily="2" charset="-122"/>
              <a:sym typeface="+mn-ea"/>
            </a:endParaRPr>
          </a:p>
          <a:p>
            <a:pPr marL="457200" indent="-457200">
              <a:lnSpc>
                <a:spcPct val="130000"/>
              </a:lnSpc>
              <a:buFont typeface="Wingdings" panose="05000000000000000000" pitchFamily="2" charset="2"/>
              <a:buNone/>
            </a:pPr>
            <a:r>
              <a:rPr lang="zh-CN" altLang="en-US" sz="1600" b="0" dirty="0">
                <a:latin typeface="宋体" panose="02010600030101010101" pitchFamily="2" charset="-122"/>
                <a:ea typeface="宋体" panose="02010600030101010101" pitchFamily="2" charset="-122"/>
                <a:sym typeface="+mn-ea"/>
              </a:rPr>
              <a:t> </a:t>
            </a:r>
            <a:r>
              <a:rPr lang="en-US" altLang="zh-CN" sz="1600" b="0" dirty="0">
                <a:latin typeface="宋体" panose="02010600030101010101" pitchFamily="2" charset="-122"/>
                <a:ea typeface="宋体" panose="02010600030101010101" pitchFamily="2" charset="-122"/>
                <a:sym typeface="+mn-ea"/>
              </a:rPr>
              <a:t>   </a:t>
            </a:r>
            <a:r>
              <a:rPr lang="zh-CN" altLang="en-US" sz="1600" b="0" dirty="0">
                <a:latin typeface="宋体" panose="02010600030101010101" pitchFamily="2" charset="-122"/>
                <a:ea typeface="宋体" panose="02010600030101010101" pitchFamily="2" charset="-122"/>
              </a:rPr>
              <a:t>手孔与人孔作用相似，但尺寸比人孔小，人不能站在里面作业，只能伸进手操作，主要用于外</a:t>
            </a:r>
            <a:r>
              <a:rPr lang="zh-CN" altLang="en-US" sz="1600" b="0" dirty="0">
                <a:latin typeface="宋体" panose="02010600030101010101" pitchFamily="2" charset="-122"/>
                <a:ea typeface="宋体" panose="02010600030101010101" pitchFamily="2" charset="-122"/>
              </a:rPr>
              <a:t>接光电缆</a:t>
            </a:r>
            <a:r>
              <a:rPr lang="zh-CN" altLang="en-US" sz="1600" b="0" dirty="0">
                <a:latin typeface="宋体" panose="02010600030101010101" pitchFamily="2" charset="-122"/>
                <a:ea typeface="宋体" panose="02010600030101010101" pitchFamily="2" charset="-122"/>
              </a:rPr>
              <a:t>线的接头</a:t>
            </a: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手孔可以用于1孔或2孔的支管管道中，或者用于安装交接箱，也常用于将管道中的光电缆引至电话站和用户 </a:t>
            </a: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在管道线路敷设中，光电缆线路穿放在管道的各个管孔里，如图所示</a:t>
            </a: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zh-CN" altLang="en-US" sz="2800" dirty="0">
                <a:latin typeface="宋体" panose="02010600030101010101" pitchFamily="2" charset="-122"/>
                <a:ea typeface="宋体" panose="02010600030101010101" pitchFamily="2" charset="-122"/>
              </a:rPr>
              <a:t>       </a:t>
            </a:r>
            <a:endParaRPr lang="zh-CN" altLang="en-US" sz="2800" dirty="0">
              <a:latin typeface="宋体" panose="02010600030101010101" pitchFamily="2" charset="-122"/>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3"/>
          <a:stretch>
            <a:fillRect/>
          </a:stretch>
        </p:blipFill>
        <p:spPr>
          <a:xfrm>
            <a:off x="5558790" y="2049780"/>
            <a:ext cx="4034155" cy="244792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7" name="Rectangle 2"/>
          <p:cNvSpPr>
            <a:spLocks noGrp="1" noChangeArrowheads="1"/>
          </p:cNvSpPr>
          <p:nvPr/>
        </p:nvSpPr>
        <p:spPr bwMode="auto">
          <a:xfrm>
            <a:off x="420276" y="897756"/>
            <a:ext cx="2674640" cy="49795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rtl="0" eaLnBrk="0" fontAlgn="base" hangingPunct="0">
              <a:spcBef>
                <a:spcPct val="0"/>
              </a:spcBef>
              <a:spcAft>
                <a:spcPct val="0"/>
              </a:spcAft>
              <a:defRPr sz="3600" kern="1200">
                <a:solidFill>
                  <a:srgbClr val="336699"/>
                </a:solidFill>
                <a:latin typeface="+mj-lt"/>
                <a:ea typeface="+mj-ea"/>
                <a:cs typeface="+mj-cs"/>
              </a:defRPr>
            </a:lvl1pPr>
            <a:lvl2pPr algn="ctr" rtl="0" eaLnBrk="0" fontAlgn="base" hangingPunct="0">
              <a:spcBef>
                <a:spcPct val="0"/>
              </a:spcBef>
              <a:spcAft>
                <a:spcPct val="0"/>
              </a:spcAft>
              <a:defRPr sz="3600">
                <a:solidFill>
                  <a:srgbClr val="336699"/>
                </a:solidFill>
                <a:latin typeface="Cooper Black" panose="0208090404030B020404" pitchFamily="18" charset="0"/>
              </a:defRPr>
            </a:lvl2pPr>
            <a:lvl3pPr algn="ctr" rtl="0" eaLnBrk="0" fontAlgn="base" hangingPunct="0">
              <a:spcBef>
                <a:spcPct val="0"/>
              </a:spcBef>
              <a:spcAft>
                <a:spcPct val="0"/>
              </a:spcAft>
              <a:defRPr sz="3600">
                <a:solidFill>
                  <a:srgbClr val="336699"/>
                </a:solidFill>
                <a:latin typeface="Cooper Black" panose="0208090404030B020404" pitchFamily="18" charset="0"/>
              </a:defRPr>
            </a:lvl3pPr>
            <a:lvl4pPr algn="ctr" rtl="0" eaLnBrk="0" fontAlgn="base" hangingPunct="0">
              <a:spcBef>
                <a:spcPct val="0"/>
              </a:spcBef>
              <a:spcAft>
                <a:spcPct val="0"/>
              </a:spcAft>
              <a:defRPr sz="3600">
                <a:solidFill>
                  <a:srgbClr val="336699"/>
                </a:solidFill>
                <a:latin typeface="Cooper Black" panose="0208090404030B020404" pitchFamily="18" charset="0"/>
              </a:defRPr>
            </a:lvl4pPr>
            <a:lvl5pPr algn="ctr" rtl="0" eaLnBrk="0" fontAlgn="base" hangingPunct="0">
              <a:spcBef>
                <a:spcPct val="0"/>
              </a:spcBef>
              <a:spcAft>
                <a:spcPct val="0"/>
              </a:spcAft>
              <a:defRPr sz="3600">
                <a:solidFill>
                  <a:srgbClr val="336699"/>
                </a:solidFill>
                <a:latin typeface="Cooper Black" panose="0208090404030B020404" pitchFamily="18" charset="0"/>
              </a:defRPr>
            </a:lvl5pPr>
            <a:lvl6pPr marL="457200" algn="ctr" rtl="0" eaLnBrk="0" fontAlgn="base" hangingPunct="0">
              <a:spcBef>
                <a:spcPct val="0"/>
              </a:spcBef>
              <a:spcAft>
                <a:spcPct val="0"/>
              </a:spcAft>
              <a:defRPr sz="3600">
                <a:solidFill>
                  <a:srgbClr val="336699"/>
                </a:solidFill>
                <a:latin typeface="Cooper Black" panose="0208090404030B020404" pitchFamily="18" charset="0"/>
              </a:defRPr>
            </a:lvl6pPr>
            <a:lvl7pPr marL="914400" algn="ctr" rtl="0" eaLnBrk="0" fontAlgn="base" hangingPunct="0">
              <a:spcBef>
                <a:spcPct val="0"/>
              </a:spcBef>
              <a:spcAft>
                <a:spcPct val="0"/>
              </a:spcAft>
              <a:defRPr sz="3600">
                <a:solidFill>
                  <a:srgbClr val="336699"/>
                </a:solidFill>
                <a:latin typeface="Cooper Black" panose="0208090404030B020404" pitchFamily="18" charset="0"/>
              </a:defRPr>
            </a:lvl7pPr>
            <a:lvl8pPr marL="1371600" algn="ctr" rtl="0" eaLnBrk="0" fontAlgn="base" hangingPunct="0">
              <a:spcBef>
                <a:spcPct val="0"/>
              </a:spcBef>
              <a:spcAft>
                <a:spcPct val="0"/>
              </a:spcAft>
              <a:defRPr sz="3600">
                <a:solidFill>
                  <a:srgbClr val="336699"/>
                </a:solidFill>
                <a:latin typeface="Cooper Black" panose="0208090404030B020404" pitchFamily="18" charset="0"/>
              </a:defRPr>
            </a:lvl8pPr>
            <a:lvl9pPr marL="1828800" algn="ctr" rtl="0" eaLnBrk="0" fontAlgn="base" hangingPunct="0">
              <a:spcBef>
                <a:spcPct val="0"/>
              </a:spcBef>
              <a:spcAft>
                <a:spcPct val="0"/>
              </a:spcAft>
              <a:defRPr sz="3600">
                <a:solidFill>
                  <a:srgbClr val="336699"/>
                </a:solidFill>
                <a:latin typeface="Cooper Black" panose="0208090404030B020404" pitchFamily="18" charset="0"/>
              </a:defRPr>
            </a:lvl9pPr>
          </a:lstStyle>
          <a:p>
            <a:pPr algn="l"/>
            <a:r>
              <a:rPr kumimoji="1" lang="en-US" altLang="zh-CN" sz="2400" b="1" dirty="0">
                <a:solidFill>
                  <a:srgbClr val="000099"/>
                </a:solidFill>
                <a:latin typeface="黑体" panose="02010609060101010101" pitchFamily="49" charset="-122"/>
                <a:ea typeface="黑体" panose="02010609060101010101" pitchFamily="49" charset="-122"/>
              </a:rPr>
              <a:t>2.3 </a:t>
            </a:r>
            <a:r>
              <a:rPr kumimoji="1" lang="zh-CN" altLang="en-US" sz="2400" b="1" dirty="0">
                <a:solidFill>
                  <a:srgbClr val="000099"/>
                </a:solidFill>
                <a:latin typeface="黑体" panose="02010609060101010101" pitchFamily="49" charset="-122"/>
                <a:ea typeface="黑体" panose="02010609060101010101" pitchFamily="49" charset="-122"/>
              </a:rPr>
              <a:t>硅芯管道查勘</a:t>
            </a:r>
            <a:endParaRPr kumimoji="1" lang="zh-CN" altLang="en-US" sz="2400" b="1" dirty="0">
              <a:solidFill>
                <a:srgbClr val="000099"/>
              </a:solidFill>
              <a:latin typeface="黑体" panose="02010609060101010101" pitchFamily="49" charset="-122"/>
              <a:ea typeface="黑体" panose="02010609060101010101" pitchFamily="49" charset="-122"/>
            </a:endParaRPr>
          </a:p>
        </p:txBody>
      </p:sp>
      <p:sp>
        <p:nvSpPr>
          <p:cNvPr id="8" name="Rectangle 3"/>
          <p:cNvSpPr>
            <a:spLocks noGrp="1" noChangeArrowheads="1"/>
          </p:cNvSpPr>
          <p:nvPr/>
        </p:nvSpPr>
        <p:spPr bwMode="auto">
          <a:xfrm>
            <a:off x="285750" y="1313180"/>
            <a:ext cx="8743950" cy="368998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400" b="1" kern="1200">
                <a:solidFill>
                  <a:srgbClr val="336699"/>
                </a:solidFill>
                <a:latin typeface="+mn-lt"/>
                <a:ea typeface="+mn-ea"/>
                <a:cs typeface="+mn-cs"/>
              </a:defRPr>
            </a:lvl1pPr>
            <a:lvl2pPr marL="742950" indent="-285750" algn="l" rtl="0" eaLnBrk="0" fontAlgn="base" hangingPunct="0">
              <a:spcBef>
                <a:spcPct val="20000"/>
              </a:spcBef>
              <a:spcAft>
                <a:spcPct val="0"/>
              </a:spcAft>
              <a:buChar char="–"/>
              <a:defRPr sz="2000" b="1" kern="1200">
                <a:solidFill>
                  <a:srgbClr val="336699"/>
                </a:solidFill>
                <a:latin typeface="+mn-lt"/>
                <a:ea typeface="+mn-ea"/>
                <a:cs typeface="+mn-cs"/>
              </a:defRPr>
            </a:lvl2pPr>
            <a:lvl3pPr marL="1143000" indent="-228600" algn="l" rtl="0" eaLnBrk="0" fontAlgn="base" hangingPunct="0">
              <a:spcBef>
                <a:spcPct val="20000"/>
              </a:spcBef>
              <a:spcAft>
                <a:spcPct val="0"/>
              </a:spcAft>
              <a:buChar char="•"/>
              <a:defRPr b="1" kern="1200">
                <a:solidFill>
                  <a:srgbClr val="336699"/>
                </a:solidFill>
                <a:latin typeface="+mn-lt"/>
                <a:ea typeface="+mn-ea"/>
                <a:cs typeface="+mn-cs"/>
              </a:defRPr>
            </a:lvl3pPr>
            <a:lvl4pPr marL="1600200" indent="-228600" algn="l" rtl="0" eaLnBrk="0" fontAlgn="base" hangingPunct="0">
              <a:spcBef>
                <a:spcPct val="20000"/>
              </a:spcBef>
              <a:spcAft>
                <a:spcPct val="0"/>
              </a:spcAft>
              <a:buChar char="–"/>
              <a:defRPr sz="1600" b="1" kern="1200">
                <a:solidFill>
                  <a:srgbClr val="336699"/>
                </a:solidFill>
                <a:latin typeface="+mn-lt"/>
                <a:ea typeface="+mn-ea"/>
                <a:cs typeface="+mn-cs"/>
              </a:defRPr>
            </a:lvl4pPr>
            <a:lvl5pPr marL="2057400" indent="-228600" algn="l" rtl="0" eaLnBrk="0" fontAlgn="base" hangingPunct="0">
              <a:spcBef>
                <a:spcPct val="20000"/>
              </a:spcBef>
              <a:spcAft>
                <a:spcPct val="0"/>
              </a:spcAft>
              <a:buChar char="»"/>
              <a:defRPr sz="1600" b="1" kern="1200">
                <a:solidFill>
                  <a:srgbClr val="33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Tx/>
              <a:buNone/>
            </a:pPr>
            <a:r>
              <a:rPr lang="zh-CN" altLang="en-US" sz="2200" dirty="0">
                <a:solidFill>
                  <a:srgbClr val="660033"/>
                </a:solidFill>
                <a:latin typeface="黑体" panose="02010609060101010101" pitchFamily="49" charset="-122"/>
                <a:ea typeface="黑体" panose="02010609060101010101" pitchFamily="49" charset="-122"/>
              </a:rPr>
              <a:t>管道系统的组成</a:t>
            </a:r>
            <a:endParaRPr lang="zh-CN" altLang="en-US" sz="2200" dirty="0">
              <a:solidFill>
                <a:srgbClr val="660033"/>
              </a:solidFill>
              <a:latin typeface="黑体" panose="02010609060101010101" pitchFamily="49" charset="-122"/>
              <a:ea typeface="黑体" panose="02010609060101010101" pitchFamily="49" charset="-122"/>
            </a:endParaRPr>
          </a:p>
          <a:p>
            <a:pPr marL="457200" indent="-457200">
              <a:lnSpc>
                <a:spcPct val="130000"/>
              </a:lnSpc>
              <a:buFont typeface="Wingdings" panose="05000000000000000000" pitchFamily="2" charset="2"/>
              <a:buNone/>
            </a:pPr>
            <a:r>
              <a:rPr lang="en-US" altLang="zh-CN" sz="1600" b="0" dirty="0">
                <a:ea typeface="宋体" panose="02010600030101010101" pitchFamily="2" charset="-122"/>
              </a:rPr>
              <a:t>3</a:t>
            </a:r>
            <a:r>
              <a:rPr lang="zh-CN" altLang="en-US" sz="1600" b="0" dirty="0">
                <a:ea typeface="宋体" panose="02010600030101010101" pitchFamily="2" charset="-122"/>
              </a:rPr>
              <a:t>）管路</a:t>
            </a: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zh-CN" altLang="en-US" sz="1600" b="0" dirty="0">
                <a:latin typeface="宋体" panose="02010600030101010101" pitchFamily="2" charset="-122"/>
                <a:ea typeface="宋体" panose="02010600030101010101" pitchFamily="2" charset="-122"/>
              </a:rPr>
              <a:t>  </a:t>
            </a: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管筒按材料区分有混凝土管、陶管、石棉水泥管、塑料管等。</a:t>
            </a: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endParaRPr lang="zh-CN" altLang="en-US" sz="8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zh-CN" altLang="en-US" sz="1600" b="0" dirty="0">
                <a:latin typeface="宋体" panose="02010600030101010101" pitchFamily="2" charset="-122"/>
                <a:ea typeface="宋体" panose="02010600030101010101" pitchFamily="2" charset="-122"/>
              </a:rPr>
              <a:t> </a:t>
            </a: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混凝土管有1、23、4、6、9孔等规格，每节长为 60 cm ，它制造简单、价格便宜、耐压力强但易漏水;陶管耐酸性好、不漏水且重量轻，但抗压力较混凝土管差:石棉水泥管缺点是脆弱、管与管之间接续比较复杂，应用较少;钢管的特点是重量重、水密性好、接续方便、抗压、抗冲击，但价格高;塑料管特点是质量轻、接续方法简单、强度高、水密性好、耐腐蚀、绝缘性好、运输方便，不足是耐寒性和热稳定性差，且价格较高</a:t>
            </a:r>
            <a:endParaRPr lang="zh-CN" altLang="en-US" sz="16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endParaRPr lang="zh-CN" altLang="en-US" sz="800" b="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en-US" altLang="zh-CN" sz="1600" b="0" dirty="0">
                <a:latin typeface="宋体" panose="02010600030101010101" pitchFamily="2" charset="-122"/>
                <a:ea typeface="宋体" panose="02010600030101010101" pitchFamily="2" charset="-122"/>
              </a:rPr>
              <a:t>    </a:t>
            </a:r>
            <a:r>
              <a:rPr lang="zh-CN" altLang="en-US" sz="1600" b="0" dirty="0">
                <a:latin typeface="宋体" panose="02010600030101010101" pitchFamily="2" charset="-122"/>
                <a:ea typeface="宋体" panose="02010600030101010101" pitchFamily="2" charset="-122"/>
              </a:rPr>
              <a:t>由于塑料管，特别是</a:t>
            </a:r>
            <a:r>
              <a:rPr lang="zh-CN" altLang="en-US" sz="1600" b="0" dirty="0">
                <a:solidFill>
                  <a:srgbClr val="FF0000"/>
                </a:solidFill>
                <a:latin typeface="宋体" panose="02010600030101010101" pitchFamily="2" charset="-122"/>
                <a:ea typeface="宋体" panose="02010600030101010101" pitchFamily="2" charset="-122"/>
              </a:rPr>
              <a:t>硬质聚氯乙烯(PVC)</a:t>
            </a:r>
            <a:r>
              <a:rPr lang="zh-CN" altLang="en-US" sz="1600" b="0" dirty="0">
                <a:latin typeface="宋体" panose="02010600030101010101" pitchFamily="2" charset="-122"/>
                <a:ea typeface="宋体" panose="02010600030101010101" pitchFamily="2" charset="-122"/>
              </a:rPr>
              <a:t>管的众多优点，其已在通信工程施工中被广泛使</a:t>
            </a:r>
            <a:r>
              <a:rPr lang="zh-CN" altLang="en-US" sz="1600" b="0" dirty="0">
                <a:latin typeface="宋体" panose="02010600030101010101" pitchFamily="2" charset="-122"/>
                <a:ea typeface="宋体" panose="02010600030101010101" pitchFamily="2" charset="-122"/>
              </a:rPr>
              <a:t>用</a:t>
            </a:r>
            <a:endParaRPr lang="zh-CN" altLang="en-US" sz="1600" b="0" dirty="0">
              <a:latin typeface="宋体" panose="02010600030101010101" pitchFamily="2" charset="-122"/>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260127" y="1041772"/>
            <a:ext cx="8229600" cy="3647454"/>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2.3.1</a:t>
            </a:r>
            <a:r>
              <a:rPr lang="zh-CN" altLang="en-US" sz="2200" b="1" dirty="0">
                <a:solidFill>
                  <a:srgbClr val="660033"/>
                </a:solidFill>
                <a:latin typeface="黑体" panose="02010609060101010101" pitchFamily="49" charset="-122"/>
                <a:ea typeface="黑体" panose="02010609060101010101" pitchFamily="49" charset="-122"/>
              </a:rPr>
              <a:t>硅芯管道勘察总体要求</a:t>
            </a:r>
            <a:endParaRPr lang="zh-CN" altLang="en-US" sz="2200" b="1" dirty="0">
              <a:ea typeface="宋体" panose="02010600030101010101" pitchFamily="2" charset="-122"/>
            </a:endParaRPr>
          </a:p>
          <a:p>
            <a:pPr>
              <a:lnSpc>
                <a:spcPct val="120000"/>
              </a:lnSpc>
              <a:spcBef>
                <a:spcPct val="30000"/>
              </a:spcBef>
              <a:buFontTx/>
              <a:buNone/>
            </a:pPr>
            <a:r>
              <a:rPr lang="zh-CN" altLang="en-US" sz="2000" dirty="0">
                <a:ea typeface="宋体" panose="02010600030101010101" pitchFamily="2" charset="-122"/>
              </a:rPr>
              <a:t>（</a:t>
            </a:r>
            <a:r>
              <a:rPr lang="en-US" altLang="zh-CN" sz="2000" dirty="0">
                <a:ea typeface="宋体" panose="02010600030101010101" pitchFamily="2" charset="-122"/>
              </a:rPr>
              <a:t>1</a:t>
            </a:r>
            <a:r>
              <a:rPr lang="zh-CN" altLang="en-US" sz="2000" dirty="0">
                <a:ea typeface="宋体" panose="02010600030101010101" pitchFamily="2" charset="-122"/>
              </a:rPr>
              <a:t>）勘察前先由设计负责人对</a:t>
            </a:r>
            <a:r>
              <a:rPr lang="zh-CN" altLang="en-US" sz="2000" dirty="0">
                <a:solidFill>
                  <a:srgbClr val="FF0000"/>
                </a:solidFill>
                <a:ea typeface="宋体" panose="02010600030101010101" pitchFamily="2" charset="-122"/>
              </a:rPr>
              <a:t>全程路由分段</a:t>
            </a:r>
            <a:r>
              <a:rPr lang="zh-CN" altLang="en-US" sz="2000" dirty="0">
                <a:ea typeface="宋体" panose="02010600030101010101" pitchFamily="2" charset="-122"/>
              </a:rPr>
              <a:t>进行熟悉、确定</a:t>
            </a:r>
            <a:r>
              <a:rPr lang="zh-CN" altLang="en-US" sz="2000" dirty="0">
                <a:solidFill>
                  <a:srgbClr val="FF0000"/>
                </a:solidFill>
                <a:ea typeface="宋体" panose="02010600030101010101" pitchFamily="2" charset="-122"/>
              </a:rPr>
              <a:t>大致路由</a:t>
            </a:r>
            <a:r>
              <a:rPr lang="zh-CN" altLang="en-US" sz="2000" dirty="0">
                <a:ea typeface="宋体" panose="02010600030101010101" pitchFamily="2" charset="-122"/>
              </a:rPr>
              <a:t>和</a:t>
            </a:r>
            <a:r>
              <a:rPr lang="zh-CN" altLang="en-US" sz="2000" dirty="0">
                <a:solidFill>
                  <a:srgbClr val="FF0000"/>
                </a:solidFill>
                <a:ea typeface="宋体" panose="02010600030101010101" pitchFamily="2" charset="-122"/>
              </a:rPr>
              <a:t>测量分界点</a:t>
            </a:r>
            <a:r>
              <a:rPr lang="zh-CN" altLang="en-US" sz="2000" dirty="0">
                <a:ea typeface="宋体" panose="02010600030101010101" pitchFamily="2" charset="-122"/>
              </a:rPr>
              <a:t>，随后按人员安排表</a:t>
            </a:r>
            <a:r>
              <a:rPr lang="zh-CN" altLang="en-US" sz="2000" dirty="0">
                <a:solidFill>
                  <a:srgbClr val="FF0000"/>
                </a:solidFill>
                <a:ea typeface="宋体" panose="02010600030101010101" pitchFamily="2" charset="-122"/>
              </a:rPr>
              <a:t>分组测量</a:t>
            </a:r>
            <a:r>
              <a:rPr lang="zh-CN" altLang="en-US" sz="2000" dirty="0">
                <a:ea typeface="宋体" panose="02010600030101010101" pitchFamily="2" charset="-122"/>
              </a:rPr>
              <a:t>。</a:t>
            </a:r>
            <a:endParaRPr lang="zh-CN" altLang="en-US" sz="2000" dirty="0">
              <a:ea typeface="宋体" panose="02010600030101010101" pitchFamily="2" charset="-122"/>
            </a:endParaRPr>
          </a:p>
          <a:p>
            <a:pPr>
              <a:lnSpc>
                <a:spcPct val="120000"/>
              </a:lnSpc>
              <a:spcBef>
                <a:spcPct val="30000"/>
              </a:spcBef>
              <a:buFontTx/>
              <a:buNone/>
            </a:pPr>
            <a:r>
              <a:rPr lang="zh-CN" altLang="en-US" sz="2000" dirty="0">
                <a:ea typeface="宋体" panose="02010600030101010101" pitchFamily="2" charset="-122"/>
              </a:rPr>
              <a:t>（</a:t>
            </a:r>
            <a:r>
              <a:rPr lang="en-US" altLang="zh-CN" sz="2000" dirty="0">
                <a:ea typeface="宋体" panose="02010600030101010101" pitchFamily="2" charset="-122"/>
              </a:rPr>
              <a:t>2</a:t>
            </a:r>
            <a:r>
              <a:rPr lang="zh-CN" altLang="en-US" sz="2000" dirty="0">
                <a:ea typeface="宋体" panose="02010600030101010101" pitchFamily="2" charset="-122"/>
              </a:rPr>
              <a:t>）对选定的路由进行</a:t>
            </a:r>
            <a:r>
              <a:rPr lang="zh-CN" altLang="en-US" sz="2000" dirty="0">
                <a:solidFill>
                  <a:srgbClr val="FF0000"/>
                </a:solidFill>
                <a:ea typeface="宋体" panose="02010600030101010101" pitchFamily="2" charset="-122"/>
              </a:rPr>
              <a:t>详细测量</a:t>
            </a:r>
            <a:r>
              <a:rPr lang="zh-CN" altLang="en-US" sz="2000" dirty="0">
                <a:ea typeface="宋体" panose="02010600030101010101" pitchFamily="2" charset="-122"/>
              </a:rPr>
              <a:t>，对障碍需要提出具体的处理办法，并在现场使用仪器在指定点</a:t>
            </a:r>
            <a:r>
              <a:rPr lang="zh-CN" altLang="en-US" sz="2000" dirty="0">
                <a:solidFill>
                  <a:srgbClr val="FF0000"/>
                </a:solidFill>
                <a:ea typeface="宋体" panose="02010600030101010101" pitchFamily="2" charset="-122"/>
              </a:rPr>
              <a:t>打桩做标记</a:t>
            </a:r>
            <a:r>
              <a:rPr lang="zh-CN" altLang="en-US" sz="2000" dirty="0">
                <a:ea typeface="宋体" panose="02010600030101010101" pitchFamily="2" charset="-122"/>
              </a:rPr>
              <a:t>。</a:t>
            </a:r>
            <a:endParaRPr lang="zh-CN" altLang="en-US" sz="2000" dirty="0">
              <a:ea typeface="宋体" panose="02010600030101010101" pitchFamily="2" charset="-122"/>
            </a:endParaRPr>
          </a:p>
          <a:p>
            <a:pPr>
              <a:lnSpc>
                <a:spcPct val="120000"/>
              </a:lnSpc>
              <a:spcBef>
                <a:spcPct val="30000"/>
              </a:spcBef>
              <a:buFontTx/>
              <a:buNone/>
            </a:pPr>
            <a:r>
              <a:rPr lang="zh-CN" altLang="en-US" sz="2000" dirty="0">
                <a:ea typeface="宋体" panose="02010600030101010101" pitchFamily="2" charset="-122"/>
              </a:rPr>
              <a:t>（</a:t>
            </a:r>
            <a:r>
              <a:rPr lang="en-US" altLang="zh-CN" sz="2000" dirty="0">
                <a:ea typeface="宋体" panose="02010600030101010101" pitchFamily="2" charset="-122"/>
              </a:rPr>
              <a:t>3</a:t>
            </a:r>
            <a:r>
              <a:rPr lang="zh-CN" altLang="en-US" sz="2000" dirty="0">
                <a:ea typeface="宋体" panose="02010600030101010101" pitchFamily="2" charset="-122"/>
              </a:rPr>
              <a:t>）查勘定标确定的路由位置必须和现场有关各种地下管线，在平面上和立面上相互间不受任何影响，力求达到各自行业规范的技术标准。对路由上的主要障碍，如是否过大桥、大河、涵洞、铁路等进行合理的处理，并就处理这些障碍的赔补等问题征求当地建设方的意见。</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12665" y="1054249"/>
            <a:ext cx="8435975" cy="3287414"/>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30000"/>
              </a:lnSpc>
              <a:buFontTx/>
              <a:buNone/>
            </a:pPr>
            <a:r>
              <a:rPr lang="zh-CN" altLang="en-US" sz="2000" dirty="0">
                <a:ea typeface="宋体" panose="02010600030101010101" pitchFamily="2" charset="-122"/>
              </a:rPr>
              <a:t>（</a:t>
            </a:r>
            <a:r>
              <a:rPr lang="en-US" altLang="zh-CN" sz="2000" dirty="0">
                <a:ea typeface="宋体" panose="02010600030101010101" pitchFamily="2" charset="-122"/>
              </a:rPr>
              <a:t>4</a:t>
            </a:r>
            <a:r>
              <a:rPr lang="zh-CN" altLang="en-US" sz="2000" dirty="0">
                <a:ea typeface="宋体" panose="02010600030101010101" pitchFamily="2" charset="-122"/>
              </a:rPr>
              <a:t>）对在管道中心线两侧，各边</a:t>
            </a:r>
            <a:r>
              <a:rPr lang="en-US" altLang="zh-CN" sz="2000" dirty="0">
                <a:ea typeface="宋体" panose="02010600030101010101" pitchFamily="2" charset="-122"/>
              </a:rPr>
              <a:t>6</a:t>
            </a:r>
            <a:r>
              <a:rPr lang="zh-CN" altLang="en-US" sz="2000" dirty="0">
                <a:ea typeface="宋体" panose="02010600030101010101" pitchFamily="2" charset="-122"/>
              </a:rPr>
              <a:t>至</a:t>
            </a:r>
            <a:r>
              <a:rPr lang="en-US" altLang="zh-CN" sz="2000" dirty="0">
                <a:ea typeface="宋体" panose="02010600030101010101" pitchFamily="2" charset="-122"/>
              </a:rPr>
              <a:t>12m</a:t>
            </a:r>
            <a:r>
              <a:rPr lang="zh-CN" altLang="en-US" sz="2000" dirty="0">
                <a:ea typeface="宋体" panose="02010600030101010101" pitchFamily="2" charset="-122"/>
              </a:rPr>
              <a:t>周边的地面上下一切设施状况进行测量，绘制管道平面图。对地下部分要测量埋深，地下管线规格程式数量，横穿各类管道上下情况及相互距离，了解水源流向，污染程度。询问或测量当地标高，根据土石情况，水位情况，测绘管道纵断面图。</a:t>
            </a:r>
            <a:endParaRPr lang="zh-CN" altLang="en-US" sz="2000" dirty="0">
              <a:ea typeface="宋体" panose="02010600030101010101" pitchFamily="2" charset="-122"/>
            </a:endParaRPr>
          </a:p>
          <a:p>
            <a:pPr>
              <a:lnSpc>
                <a:spcPct val="130000"/>
              </a:lnSpc>
              <a:buFontTx/>
              <a:buNone/>
            </a:pPr>
            <a:r>
              <a:rPr lang="zh-CN" altLang="en-US" sz="2000" dirty="0">
                <a:ea typeface="宋体" panose="02010600030101010101" pitchFamily="2" charset="-122"/>
              </a:rPr>
              <a:t>（</a:t>
            </a:r>
            <a:r>
              <a:rPr lang="en-US" altLang="zh-CN" sz="2000" dirty="0">
                <a:ea typeface="宋体" panose="02010600030101010101" pitchFamily="2" charset="-122"/>
              </a:rPr>
              <a:t>5</a:t>
            </a:r>
            <a:r>
              <a:rPr lang="zh-CN" altLang="en-US" sz="2000" dirty="0">
                <a:ea typeface="宋体" panose="02010600030101010101" pitchFamily="2" charset="-122"/>
              </a:rPr>
              <a:t>）查勘时应认真统计管道占用绿化带面积，砍伐移栽树木，估计各段土石比例，开挖各种路面数据，摆摊设点迁移方案，迁改其他管网地点、数量及措施等。</a:t>
            </a:r>
            <a:endParaRPr lang="zh-CN" altLang="en-US" sz="2000" dirty="0">
              <a:ea typeface="宋体" panose="02010600030101010101" pitchFamily="2" charset="-122"/>
            </a:endParaRPr>
          </a:p>
          <a:p>
            <a:pPr>
              <a:lnSpc>
                <a:spcPct val="130000"/>
              </a:lnSpc>
              <a:buFontTx/>
              <a:buNone/>
            </a:pPr>
            <a:r>
              <a:rPr lang="zh-CN" altLang="en-US" sz="2000" dirty="0">
                <a:ea typeface="宋体" panose="02010600030101010101" pitchFamily="2" charset="-122"/>
              </a:rPr>
              <a:t>（</a:t>
            </a:r>
            <a:r>
              <a:rPr lang="en-US" altLang="zh-CN" sz="2000" dirty="0">
                <a:ea typeface="宋体" panose="02010600030101010101" pitchFamily="2" charset="-122"/>
              </a:rPr>
              <a:t>6</a:t>
            </a:r>
            <a:r>
              <a:rPr lang="zh-CN" altLang="en-US" sz="2000" dirty="0">
                <a:ea typeface="宋体" panose="02010600030101010101" pitchFamily="2" charset="-122"/>
              </a:rPr>
              <a:t>）尽量不要在已建管道中开孔。</a:t>
            </a:r>
            <a:endParaRPr lang="zh-CN" altLang="en-US" sz="2000" dirty="0">
              <a:ea typeface="宋体" panose="02010600030101010101" pitchFamily="2" charset="-122"/>
            </a:endParaRPr>
          </a:p>
          <a:p>
            <a:pPr>
              <a:lnSpc>
                <a:spcPct val="130000"/>
              </a:lnSpc>
              <a:buFontTx/>
              <a:buNone/>
            </a:pPr>
            <a:r>
              <a:rPr lang="zh-CN" altLang="en-US" sz="2000" dirty="0">
                <a:ea typeface="宋体" panose="02010600030101010101" pitchFamily="2" charset="-122"/>
              </a:rPr>
              <a:t>（</a:t>
            </a:r>
            <a:r>
              <a:rPr lang="en-US" altLang="zh-CN" sz="2000" dirty="0">
                <a:ea typeface="宋体" panose="02010600030101010101" pitchFamily="2" charset="-122"/>
              </a:rPr>
              <a:t>7</a:t>
            </a:r>
            <a:r>
              <a:rPr lang="zh-CN" altLang="en-US" sz="2000" dirty="0">
                <a:ea typeface="宋体" panose="02010600030101010101" pitchFamily="2" charset="-122"/>
              </a:rPr>
              <a:t>）查勘完毕向建设方汇报，形成查勘纪要报设计院存档。 </a:t>
            </a:r>
            <a:endParaRPr lang="zh-CN" altLang="en-US" sz="2000" dirty="0">
              <a:ea typeface="宋体" panose="02010600030101010101" pitchFamily="2" charset="-122"/>
            </a:endParaRPr>
          </a:p>
          <a:p>
            <a:pPr>
              <a:buFontTx/>
              <a:buNone/>
            </a:pP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969645"/>
            <a:ext cx="8229600" cy="398907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2.3.2 </a:t>
            </a:r>
            <a:r>
              <a:rPr lang="zh-CN" altLang="en-US" sz="2200" b="1" dirty="0">
                <a:solidFill>
                  <a:srgbClr val="660033"/>
                </a:solidFill>
                <a:latin typeface="黑体" panose="02010609060101010101" pitchFamily="49" charset="-122"/>
                <a:ea typeface="黑体" panose="02010609060101010101" pitchFamily="49" charset="-122"/>
              </a:rPr>
              <a:t>管道查勘前的准备</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30000"/>
              </a:lnSpc>
              <a:spcBef>
                <a:spcPct val="30000"/>
              </a:spcBef>
              <a:buFontTx/>
              <a:buNone/>
            </a:pPr>
            <a:r>
              <a:rPr lang="zh-CN" altLang="en-US" sz="2000" dirty="0">
                <a:ea typeface="宋体" panose="02010600030101010101" pitchFamily="2" charset="-122"/>
              </a:rPr>
              <a:t>⑴ 勘察前应搜集好管道</a:t>
            </a:r>
            <a:r>
              <a:rPr lang="zh-CN" altLang="en-US" sz="2000" dirty="0">
                <a:solidFill>
                  <a:srgbClr val="FF0000"/>
                </a:solidFill>
                <a:ea typeface="宋体" panose="02010600030101010101" pitchFamily="2" charset="-122"/>
              </a:rPr>
              <a:t>路由上的高程图</a:t>
            </a:r>
            <a:r>
              <a:rPr lang="zh-CN" altLang="en-US" sz="2000" dirty="0">
                <a:ea typeface="宋体" panose="02010600030101010101" pitchFamily="2" charset="-122"/>
              </a:rPr>
              <a:t>以及</a:t>
            </a:r>
            <a:r>
              <a:rPr lang="zh-CN" altLang="en-US" sz="2000" dirty="0">
                <a:solidFill>
                  <a:srgbClr val="FF0000"/>
                </a:solidFill>
                <a:ea typeface="宋体" panose="02010600030101010101" pitchFamily="2" charset="-122"/>
              </a:rPr>
              <a:t>道路综合管网图</a:t>
            </a:r>
            <a:r>
              <a:rPr lang="zh-CN" altLang="en-US" sz="2000" dirty="0">
                <a:ea typeface="宋体" panose="02010600030101010101" pitchFamily="2" charset="-122"/>
              </a:rPr>
              <a:t>，也就是道路</a:t>
            </a:r>
            <a:r>
              <a:rPr lang="zh-CN" altLang="en-US" sz="2000" dirty="0">
                <a:solidFill>
                  <a:srgbClr val="FF0000"/>
                </a:solidFill>
                <a:ea typeface="宋体" panose="02010600030101010101" pitchFamily="2" charset="-122"/>
              </a:rPr>
              <a:t>平面带状图</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纵剖图</a:t>
            </a:r>
            <a:r>
              <a:rPr lang="zh-CN" altLang="en-US" sz="2000" dirty="0">
                <a:ea typeface="宋体" panose="02010600030101010101" pitchFamily="2" charset="-122"/>
              </a:rPr>
              <a:t>和</a:t>
            </a:r>
            <a:r>
              <a:rPr lang="zh-CN" altLang="en-US" sz="2000" dirty="0">
                <a:solidFill>
                  <a:srgbClr val="FF0000"/>
                </a:solidFill>
                <a:ea typeface="宋体" panose="02010600030101010101" pitchFamily="2" charset="-122"/>
              </a:rPr>
              <a:t>横断图</a:t>
            </a:r>
            <a:r>
              <a:rPr lang="zh-CN" altLang="en-US" sz="2000" dirty="0">
                <a:ea typeface="宋体" panose="02010600030101010101" pitchFamily="2" charset="-122"/>
              </a:rPr>
              <a:t>。 </a:t>
            </a:r>
            <a:endParaRPr lang="zh-CN" altLang="en-US" sz="2000" dirty="0">
              <a:ea typeface="宋体" panose="02010600030101010101" pitchFamily="2" charset="-122"/>
            </a:endParaRPr>
          </a:p>
          <a:p>
            <a:pPr>
              <a:lnSpc>
                <a:spcPct val="130000"/>
              </a:lnSpc>
              <a:spcBef>
                <a:spcPct val="30000"/>
              </a:spcBef>
              <a:buFontTx/>
              <a:buNone/>
            </a:pPr>
            <a:r>
              <a:rPr lang="zh-CN" altLang="en-US" sz="2000" dirty="0">
                <a:ea typeface="宋体" panose="02010600030101010101" pitchFamily="2" charset="-122"/>
              </a:rPr>
              <a:t>⑵勘察前应到规划、市政部门调查、核实有关情况，还应向政府相关部门和沿途相关厂矿单位调查了解有关情况，作为确定管道建筑位置、保护措施和工程费用的重要依据。 </a:t>
            </a:r>
            <a:endParaRPr lang="zh-CN" altLang="en-US" sz="2000" dirty="0">
              <a:ea typeface="宋体" panose="02010600030101010101" pitchFamily="2" charset="-122"/>
            </a:endParaRPr>
          </a:p>
          <a:p>
            <a:pPr>
              <a:lnSpc>
                <a:spcPct val="130000"/>
              </a:lnSpc>
              <a:spcBef>
                <a:spcPct val="30000"/>
              </a:spcBef>
              <a:buFontTx/>
              <a:buNone/>
            </a:pPr>
            <a:r>
              <a:rPr lang="zh-CN" altLang="en-US" sz="2000" dirty="0">
                <a:ea typeface="宋体" panose="02010600030101010101" pitchFamily="2" charset="-122"/>
              </a:rPr>
              <a:t>⑶充分调查城市建设近远期总体规划、道路、桥梁、涵洞扩建改造计划、地下管网市话的建设和履行计划、电厂电站和化工厂有关情况、地下水位和冰冻层深度、政府赔补费用标准以及其它有关方面的情况。 </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548005" y="975995"/>
            <a:ext cx="2887980" cy="4318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2.3.3 </a:t>
            </a:r>
            <a:r>
              <a:rPr lang="zh-CN" altLang="en-US" sz="2200" b="1" dirty="0">
                <a:solidFill>
                  <a:srgbClr val="660033"/>
                </a:solidFill>
                <a:latin typeface="黑体" panose="02010609060101010101" pitchFamily="49" charset="-122"/>
                <a:ea typeface="黑体" panose="02010609060101010101" pitchFamily="49" charset="-122"/>
              </a:rPr>
              <a:t>勘察流程图</a:t>
            </a:r>
            <a:endParaRPr lang="zh-CN" altLang="en-US" sz="2200" b="1" dirty="0">
              <a:solidFill>
                <a:srgbClr val="660033"/>
              </a:solidFill>
              <a:latin typeface="黑体" panose="02010609060101010101" pitchFamily="49" charset="-122"/>
              <a:ea typeface="黑体" panose="02010609060101010101" pitchFamily="49" charset="-122"/>
            </a:endParaRPr>
          </a:p>
        </p:txBody>
      </p:sp>
      <p:grpSp>
        <p:nvGrpSpPr>
          <p:cNvPr id="8" name="Group 20"/>
          <p:cNvGrpSpPr/>
          <p:nvPr/>
        </p:nvGrpSpPr>
        <p:grpSpPr bwMode="auto">
          <a:xfrm>
            <a:off x="1700287" y="1413446"/>
            <a:ext cx="5760343" cy="3660774"/>
            <a:chOff x="567" y="845"/>
            <a:chExt cx="3810" cy="2358"/>
          </a:xfrm>
        </p:grpSpPr>
        <p:sp>
          <p:nvSpPr>
            <p:cNvPr id="9" name="AutoShape 6"/>
            <p:cNvSpPr>
              <a:spLocks noChangeArrowheads="1"/>
            </p:cNvSpPr>
            <p:nvPr/>
          </p:nvSpPr>
          <p:spPr bwMode="auto">
            <a:xfrm>
              <a:off x="1906" y="935"/>
              <a:ext cx="1289" cy="636"/>
            </a:xfrm>
            <a:prstGeom prst="roundRect">
              <a:avLst>
                <a:gd name="adj" fmla="val 16667"/>
              </a:avLst>
            </a:prstGeom>
            <a:solidFill>
              <a:srgbClr val="FFFFFF"/>
            </a:solidFill>
            <a:ln w="9525">
              <a:solidFill>
                <a:srgbClr val="000000"/>
              </a:solidFill>
              <a:round/>
            </a:ln>
          </p:spPr>
          <p:txBody>
            <a:bodyPr/>
            <a:lstStyle/>
            <a:p>
              <a:pPr algn="just" eaLnBrk="1" hangingPunct="1">
                <a:spcBef>
                  <a:spcPct val="50000"/>
                </a:spcBef>
                <a:defRPr/>
              </a:pPr>
              <a:r>
                <a:rPr lang="zh-CN" altLang="en-US" b="0" dirty="0">
                  <a:solidFill>
                    <a:schemeClr val="tx1"/>
                  </a:solidFill>
                  <a:latin typeface="仿宋_GB2312" pitchFamily="49" charset="-122"/>
                  <a:ea typeface="宋体" panose="02010600030101010101" pitchFamily="2" charset="-122"/>
                </a:rPr>
                <a:t>收集现有管道网路资料、了解局方对设计的要求</a:t>
              </a:r>
              <a:endParaRPr lang="zh-CN" altLang="en-US" dirty="0">
                <a:solidFill>
                  <a:schemeClr val="tx1"/>
                </a:solidFill>
                <a:effectLst>
                  <a:outerShdw blurRad="38100" dist="38100" dir="2700000" algn="tl">
                    <a:srgbClr val="C0C0C0"/>
                  </a:outerShdw>
                </a:effectLst>
                <a:ea typeface="宋体" panose="02010600030101010101" pitchFamily="2" charset="-122"/>
              </a:endParaRPr>
            </a:p>
          </p:txBody>
        </p:sp>
        <p:sp>
          <p:nvSpPr>
            <p:cNvPr id="10" name="AutoShape 7"/>
            <p:cNvSpPr>
              <a:spLocks noChangeArrowheads="1"/>
            </p:cNvSpPr>
            <p:nvPr/>
          </p:nvSpPr>
          <p:spPr bwMode="auto">
            <a:xfrm>
              <a:off x="3371" y="991"/>
              <a:ext cx="1006" cy="601"/>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b="0">
                  <a:solidFill>
                    <a:schemeClr val="tx1"/>
                  </a:solidFill>
                  <a:latin typeface="仿宋_GB2312" pitchFamily="49" charset="-122"/>
                  <a:ea typeface="宋体" panose="02010600030101010101" pitchFamily="2" charset="-122"/>
                </a:rPr>
                <a:t>在局方配合下进行规模及投资估算</a:t>
              </a:r>
              <a:endParaRPr lang="zh-CN" altLang="en-US">
                <a:solidFill>
                  <a:schemeClr val="tx1"/>
                </a:solidFill>
                <a:effectLst>
                  <a:outerShdw blurRad="38100" dist="38100" dir="2700000" algn="tl">
                    <a:srgbClr val="C0C0C0"/>
                  </a:outerShdw>
                </a:effectLst>
                <a:ea typeface="宋体" panose="02010600030101010101" pitchFamily="2" charset="-122"/>
              </a:endParaRPr>
            </a:p>
          </p:txBody>
        </p:sp>
        <p:sp>
          <p:nvSpPr>
            <p:cNvPr id="11" name="Line 8"/>
            <p:cNvSpPr>
              <a:spLocks noChangeShapeType="1"/>
            </p:cNvSpPr>
            <p:nvPr/>
          </p:nvSpPr>
          <p:spPr bwMode="auto">
            <a:xfrm>
              <a:off x="3225" y="1260"/>
              <a:ext cx="16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9"/>
            <p:cNvSpPr>
              <a:spLocks noChangeShapeType="1"/>
            </p:cNvSpPr>
            <p:nvPr/>
          </p:nvSpPr>
          <p:spPr bwMode="auto">
            <a:xfrm flipH="1">
              <a:off x="3865" y="1616"/>
              <a:ext cx="13" cy="53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0"/>
            <p:cNvSpPr>
              <a:spLocks noChangeShapeType="1"/>
            </p:cNvSpPr>
            <p:nvPr/>
          </p:nvSpPr>
          <p:spPr bwMode="auto">
            <a:xfrm flipH="1">
              <a:off x="1016" y="2153"/>
              <a:ext cx="284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1"/>
            <p:cNvSpPr>
              <a:spLocks noChangeShapeType="1"/>
            </p:cNvSpPr>
            <p:nvPr/>
          </p:nvSpPr>
          <p:spPr bwMode="auto">
            <a:xfrm>
              <a:off x="1016" y="2153"/>
              <a:ext cx="0" cy="36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12"/>
            <p:cNvSpPr>
              <a:spLocks noChangeShapeType="1"/>
            </p:cNvSpPr>
            <p:nvPr/>
          </p:nvSpPr>
          <p:spPr bwMode="auto">
            <a:xfrm>
              <a:off x="1619" y="2895"/>
              <a:ext cx="23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3"/>
            <p:cNvSpPr>
              <a:spLocks noChangeShapeType="1"/>
            </p:cNvSpPr>
            <p:nvPr/>
          </p:nvSpPr>
          <p:spPr bwMode="auto">
            <a:xfrm>
              <a:off x="2787" y="2895"/>
              <a:ext cx="33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AutoShape 14"/>
            <p:cNvSpPr>
              <a:spLocks noChangeArrowheads="1"/>
            </p:cNvSpPr>
            <p:nvPr/>
          </p:nvSpPr>
          <p:spPr bwMode="auto">
            <a:xfrm>
              <a:off x="567" y="2602"/>
              <a:ext cx="1089" cy="601"/>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b="0">
                  <a:solidFill>
                    <a:schemeClr val="tx1"/>
                  </a:solidFill>
                  <a:latin typeface="仿宋_GB2312" pitchFamily="49" charset="-122"/>
                  <a:ea typeface="宋体" panose="02010600030101010101" pitchFamily="2" charset="-122"/>
                </a:rPr>
                <a:t>根据讨论情况，得出初步的建设方案</a:t>
              </a:r>
              <a:endParaRPr lang="zh-CN" altLang="en-US">
                <a:solidFill>
                  <a:schemeClr val="tx1"/>
                </a:solidFill>
                <a:effectLst>
                  <a:outerShdw blurRad="38100" dist="38100" dir="2700000" algn="tl">
                    <a:srgbClr val="C0C0C0"/>
                  </a:outerShdw>
                </a:effectLst>
                <a:ea typeface="宋体" panose="02010600030101010101" pitchFamily="2" charset="-122"/>
              </a:endParaRPr>
            </a:p>
          </p:txBody>
        </p:sp>
        <p:sp>
          <p:nvSpPr>
            <p:cNvPr id="18" name="AutoShape 15"/>
            <p:cNvSpPr>
              <a:spLocks noChangeArrowheads="1"/>
            </p:cNvSpPr>
            <p:nvPr/>
          </p:nvSpPr>
          <p:spPr bwMode="auto">
            <a:xfrm>
              <a:off x="1907" y="2602"/>
              <a:ext cx="922" cy="601"/>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b="0">
                  <a:solidFill>
                    <a:schemeClr val="tx1"/>
                  </a:solidFill>
                  <a:latin typeface="仿宋_GB2312" pitchFamily="49" charset="-122"/>
                  <a:ea typeface="宋体" panose="02010600030101010101" pitchFamily="2" charset="-122"/>
                </a:rPr>
                <a:t>就调研结果向局方汇报</a:t>
              </a:r>
              <a:endParaRPr lang="zh-CN" altLang="en-US">
                <a:solidFill>
                  <a:schemeClr val="tx1"/>
                </a:solidFill>
                <a:effectLst>
                  <a:outerShdw blurRad="38100" dist="38100" dir="2700000" algn="tl">
                    <a:srgbClr val="C0C0C0"/>
                  </a:outerShdw>
                </a:effectLst>
                <a:ea typeface="宋体" panose="02010600030101010101" pitchFamily="2" charset="-122"/>
              </a:endParaRPr>
            </a:p>
          </p:txBody>
        </p:sp>
        <p:sp>
          <p:nvSpPr>
            <p:cNvPr id="19" name="AutoShape 16"/>
            <p:cNvSpPr>
              <a:spLocks noChangeArrowheads="1"/>
            </p:cNvSpPr>
            <p:nvPr/>
          </p:nvSpPr>
          <p:spPr bwMode="auto">
            <a:xfrm>
              <a:off x="3164" y="2602"/>
              <a:ext cx="1168" cy="601"/>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b="0">
                  <a:solidFill>
                    <a:schemeClr val="tx1"/>
                  </a:solidFill>
                  <a:latin typeface="仿宋_GB2312" pitchFamily="49" charset="-122"/>
                  <a:ea typeface="宋体" panose="02010600030101010101" pitchFamily="2" charset="-122"/>
                </a:rPr>
                <a:t>局方签字、形成最终纪要、设计院存档</a:t>
              </a:r>
              <a:endParaRPr lang="zh-CN" altLang="en-US">
                <a:solidFill>
                  <a:schemeClr val="tx1"/>
                </a:solidFill>
                <a:effectLst>
                  <a:outerShdw blurRad="38100" dist="38100" dir="2700000" algn="tl">
                    <a:srgbClr val="C0C0C0"/>
                  </a:outerShdw>
                </a:effectLst>
                <a:ea typeface="宋体" panose="02010600030101010101" pitchFamily="2" charset="-122"/>
              </a:endParaRPr>
            </a:p>
          </p:txBody>
        </p:sp>
        <p:sp>
          <p:nvSpPr>
            <p:cNvPr id="20" name="AutoShape 17"/>
            <p:cNvSpPr>
              <a:spLocks noChangeArrowheads="1"/>
            </p:cNvSpPr>
            <p:nvPr/>
          </p:nvSpPr>
          <p:spPr bwMode="auto">
            <a:xfrm>
              <a:off x="567" y="845"/>
              <a:ext cx="1169" cy="875"/>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b="0" dirty="0">
                  <a:solidFill>
                    <a:schemeClr val="tx1"/>
                  </a:solidFill>
                  <a:latin typeface="仿宋_GB2312" pitchFamily="49" charset="-122"/>
                  <a:ea typeface="宋体" panose="02010600030101010101" pitchFamily="2" charset="-122"/>
                </a:rPr>
                <a:t>与局方就管道总体路由及总体建筑方式等进行交流</a:t>
              </a:r>
              <a:endParaRPr lang="zh-CN" altLang="en-US" dirty="0">
                <a:solidFill>
                  <a:schemeClr val="tx1"/>
                </a:solidFill>
                <a:effectLst>
                  <a:outerShdw blurRad="38100" dist="38100" dir="2700000" algn="tl">
                    <a:srgbClr val="C0C0C0"/>
                  </a:outerShdw>
                </a:effectLst>
                <a:ea typeface="宋体" panose="02010600030101010101" pitchFamily="2" charset="-122"/>
              </a:endParaRPr>
            </a:p>
          </p:txBody>
        </p:sp>
        <p:sp>
          <p:nvSpPr>
            <p:cNvPr id="21" name="Line 18"/>
            <p:cNvSpPr>
              <a:spLocks noChangeShapeType="1"/>
            </p:cNvSpPr>
            <p:nvPr/>
          </p:nvSpPr>
          <p:spPr bwMode="auto">
            <a:xfrm>
              <a:off x="1736" y="1284"/>
              <a:ext cx="16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97205" y="1041400"/>
            <a:ext cx="8229600" cy="312610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2.3.4 </a:t>
            </a:r>
            <a:r>
              <a:rPr lang="zh-CN" altLang="en-US" sz="2200" b="1" dirty="0">
                <a:solidFill>
                  <a:srgbClr val="660033"/>
                </a:solidFill>
                <a:latin typeface="黑体" panose="02010609060101010101" pitchFamily="49" charset="-122"/>
                <a:ea typeface="黑体" panose="02010609060101010101" pitchFamily="49" charset="-122"/>
              </a:rPr>
              <a:t>钉桩要求</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30000"/>
              </a:lnSpc>
              <a:spcBef>
                <a:spcPct val="40000"/>
              </a:spcBef>
              <a:buFontTx/>
              <a:buNone/>
            </a:pPr>
            <a:r>
              <a:rPr lang="zh-CN" altLang="en-US" sz="2000" dirty="0">
                <a:ea typeface="宋体" panose="02010600030101010101" pitchFamily="2" charset="-122"/>
              </a:rPr>
              <a:t>（</a:t>
            </a:r>
            <a:r>
              <a:rPr lang="en-US" altLang="zh-CN" sz="2000" dirty="0">
                <a:ea typeface="宋体" panose="02010600030101010101" pitchFamily="2" charset="-122"/>
              </a:rPr>
              <a:t>1</a:t>
            </a:r>
            <a:r>
              <a:rPr lang="zh-CN" altLang="en-US" sz="2000" dirty="0">
                <a:ea typeface="宋体" panose="02010600030101010101" pitchFamily="2" charset="-122"/>
              </a:rPr>
              <a:t>）直线段，每</a:t>
            </a:r>
            <a:r>
              <a:rPr lang="en-US" altLang="zh-CN" sz="2000" dirty="0">
                <a:ea typeface="宋体" panose="02010600030101010101" pitchFamily="2" charset="-122"/>
              </a:rPr>
              <a:t>200</a:t>
            </a:r>
            <a:r>
              <a:rPr lang="zh-CN" altLang="en-US" sz="2000" dirty="0">
                <a:ea typeface="宋体" panose="02010600030101010101" pitchFamily="2" charset="-122"/>
              </a:rPr>
              <a:t>－</a:t>
            </a:r>
            <a:r>
              <a:rPr lang="en-US" altLang="zh-CN" sz="2000" dirty="0">
                <a:ea typeface="宋体" panose="02010600030101010101" pitchFamily="2" charset="-122"/>
              </a:rPr>
              <a:t>300</a:t>
            </a:r>
            <a:r>
              <a:rPr lang="zh-CN" altLang="en-US" sz="2000" dirty="0">
                <a:ea typeface="宋体" panose="02010600030101010101" pitchFamily="2" charset="-122"/>
              </a:rPr>
              <a:t>米钉桩</a:t>
            </a:r>
            <a:endParaRPr lang="zh-CN" altLang="en-US" sz="2000" dirty="0">
              <a:ea typeface="宋体" panose="02010600030101010101" pitchFamily="2" charset="-122"/>
            </a:endParaRPr>
          </a:p>
          <a:p>
            <a:pPr>
              <a:lnSpc>
                <a:spcPct val="130000"/>
              </a:lnSpc>
              <a:spcBef>
                <a:spcPct val="40000"/>
              </a:spcBef>
              <a:buFontTx/>
              <a:buNone/>
            </a:pPr>
            <a:r>
              <a:rPr lang="zh-CN" altLang="en-US" sz="2000" dirty="0">
                <a:ea typeface="宋体" panose="02010600030101010101" pitchFamily="2" charset="-122"/>
              </a:rPr>
              <a:t>（</a:t>
            </a:r>
            <a:r>
              <a:rPr lang="en-US" altLang="zh-CN" sz="2000" dirty="0">
                <a:ea typeface="宋体" panose="02010600030101010101" pitchFamily="2" charset="-122"/>
              </a:rPr>
              <a:t>2</a:t>
            </a:r>
            <a:r>
              <a:rPr lang="zh-CN" altLang="en-US" sz="2000" dirty="0">
                <a:ea typeface="宋体" panose="02010600030101010101" pitchFamily="2" charset="-122"/>
              </a:rPr>
              <a:t>）一些比较大的障碍（过河流、塘）需要增设</a:t>
            </a:r>
            <a:r>
              <a:rPr lang="zh-CN" altLang="en-US" sz="2000" dirty="0">
                <a:solidFill>
                  <a:srgbClr val="FF0000"/>
                </a:solidFill>
                <a:ea typeface="宋体" panose="02010600030101010101" pitchFamily="2" charset="-122"/>
              </a:rPr>
              <a:t>障碍桩</a:t>
            </a:r>
            <a:endParaRPr lang="zh-CN" altLang="en-US" sz="2000" dirty="0">
              <a:ea typeface="宋体" panose="02010600030101010101" pitchFamily="2" charset="-122"/>
            </a:endParaRPr>
          </a:p>
          <a:p>
            <a:pPr>
              <a:lnSpc>
                <a:spcPct val="130000"/>
              </a:lnSpc>
              <a:spcBef>
                <a:spcPct val="40000"/>
              </a:spcBef>
              <a:buFontTx/>
              <a:buNone/>
            </a:pPr>
            <a:r>
              <a:rPr lang="zh-CN" altLang="en-US" sz="2000" dirty="0">
                <a:ea typeface="宋体" panose="02010600030101010101" pitchFamily="2" charset="-122"/>
              </a:rPr>
              <a:t>（</a:t>
            </a:r>
            <a:r>
              <a:rPr lang="en-US" altLang="zh-CN" sz="2000" dirty="0">
                <a:ea typeface="宋体" panose="02010600030101010101" pitchFamily="2" charset="-122"/>
              </a:rPr>
              <a:t>3</a:t>
            </a:r>
            <a:r>
              <a:rPr lang="zh-CN" altLang="en-US" sz="2000" dirty="0">
                <a:ea typeface="宋体" panose="02010600030101010101" pitchFamily="2" charset="-122"/>
              </a:rPr>
              <a:t>）人手孔处、转角处需要</a:t>
            </a:r>
            <a:r>
              <a:rPr lang="zh-CN" altLang="en-US" sz="2000" dirty="0">
                <a:solidFill>
                  <a:srgbClr val="FF0000"/>
                </a:solidFill>
                <a:ea typeface="宋体" panose="02010600030101010101" pitchFamily="2" charset="-122"/>
              </a:rPr>
              <a:t>三点定位</a:t>
            </a:r>
            <a:r>
              <a:rPr lang="zh-CN" altLang="en-US" sz="2000" dirty="0">
                <a:ea typeface="宋体" panose="02010600030101010101" pitchFamily="2" charset="-122"/>
              </a:rPr>
              <a:t>。拐弯处需要测量</a:t>
            </a:r>
            <a:r>
              <a:rPr lang="zh-CN" altLang="en-US" sz="2000" dirty="0">
                <a:solidFill>
                  <a:srgbClr val="FF0000"/>
                </a:solidFill>
                <a:ea typeface="宋体" panose="02010600030101010101" pitchFamily="2" charset="-122"/>
              </a:rPr>
              <a:t>转向角</a:t>
            </a:r>
            <a:r>
              <a:rPr lang="zh-CN" altLang="en-US" sz="2000" dirty="0">
                <a:ea typeface="宋体" panose="02010600030101010101" pitchFamily="2" charset="-122"/>
              </a:rPr>
              <a:t>，转角一般不大于</a:t>
            </a:r>
            <a:r>
              <a:rPr lang="en-US" altLang="zh-CN" sz="2000" dirty="0">
                <a:ea typeface="宋体" panose="02010600030101010101" pitchFamily="2" charset="-122"/>
              </a:rPr>
              <a:t>30°</a:t>
            </a:r>
            <a:r>
              <a:rPr lang="zh-CN" altLang="en-US" sz="2000" dirty="0">
                <a:ea typeface="宋体" panose="02010600030101010101" pitchFamily="2" charset="-122"/>
              </a:rPr>
              <a:t>，当大于</a:t>
            </a:r>
            <a:r>
              <a:rPr lang="en-US" altLang="zh-CN" sz="2000" dirty="0">
                <a:ea typeface="宋体" panose="02010600030101010101" pitchFamily="2" charset="-122"/>
              </a:rPr>
              <a:t>30°</a:t>
            </a:r>
            <a:r>
              <a:rPr lang="zh-CN" altLang="en-US" sz="2000" dirty="0">
                <a:ea typeface="宋体" panose="02010600030101010101" pitchFamily="2" charset="-122"/>
              </a:rPr>
              <a:t>时应当考虑增设人手孔</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276" y="900359"/>
            <a:ext cx="4736396" cy="3957581"/>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2.3.5 </a:t>
            </a:r>
            <a:r>
              <a:rPr lang="zh-CN" altLang="en-US" sz="2200" b="1" dirty="0">
                <a:solidFill>
                  <a:srgbClr val="660033"/>
                </a:solidFill>
                <a:latin typeface="黑体" panose="02010609060101010101" pitchFamily="49" charset="-122"/>
                <a:ea typeface="黑体" panose="02010609060101010101" pitchFamily="49" charset="-122"/>
              </a:rPr>
              <a:t>障碍处理</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30000"/>
              </a:lnSpc>
              <a:spcBef>
                <a:spcPct val="40000"/>
              </a:spcBef>
              <a:buFontTx/>
              <a:buNone/>
            </a:pPr>
            <a:r>
              <a:rPr lang="zh-CN" altLang="en-US" sz="1600" dirty="0">
                <a:ea typeface="宋体" panose="02010600030101010101" pitchFamily="2" charset="-122"/>
              </a:rPr>
              <a:t>（</a:t>
            </a:r>
            <a:r>
              <a:rPr lang="en-US" altLang="zh-CN" sz="1600" dirty="0">
                <a:ea typeface="宋体" panose="02010600030101010101" pitchFamily="2" charset="-122"/>
              </a:rPr>
              <a:t>1</a:t>
            </a:r>
            <a:r>
              <a:rPr lang="zh-CN" altLang="en-US" sz="1600" dirty="0">
                <a:ea typeface="宋体" panose="02010600030101010101" pitchFamily="2" charset="-122"/>
              </a:rPr>
              <a:t>）对于过桥、河、沟、塘等主要障碍，应采用截留挖沟、微控定向钻等与其他方式相结合的处理办法，过村庄采用铺砖。</a:t>
            </a:r>
            <a:endParaRPr lang="zh-CN" altLang="en-US" sz="1600" dirty="0">
              <a:ea typeface="宋体" panose="02010600030101010101" pitchFamily="2" charset="-122"/>
            </a:endParaRPr>
          </a:p>
          <a:p>
            <a:pPr>
              <a:lnSpc>
                <a:spcPct val="130000"/>
              </a:lnSpc>
              <a:spcBef>
                <a:spcPct val="40000"/>
              </a:spcBef>
              <a:buFontTx/>
              <a:buNone/>
            </a:pPr>
            <a:r>
              <a:rPr lang="zh-CN" altLang="en-US" sz="1600" dirty="0">
                <a:ea typeface="宋体" panose="02010600030101010101" pitchFamily="2" charset="-122"/>
              </a:rPr>
              <a:t>（</a:t>
            </a:r>
            <a:r>
              <a:rPr lang="en-US" altLang="zh-CN" sz="1600" dirty="0">
                <a:ea typeface="宋体" panose="02010600030101010101" pitchFamily="2" charset="-122"/>
              </a:rPr>
              <a:t>2</a:t>
            </a:r>
            <a:r>
              <a:rPr lang="zh-CN" altLang="en-US" sz="1600" dirty="0">
                <a:ea typeface="宋体" panose="02010600030101010101" pitchFamily="2" charset="-122"/>
              </a:rPr>
              <a:t>）障碍小于</a:t>
            </a:r>
            <a:r>
              <a:rPr lang="en-US" altLang="zh-CN" sz="1600" dirty="0">
                <a:ea typeface="宋体" panose="02010600030101010101" pitchFamily="2" charset="-122"/>
              </a:rPr>
              <a:t>50m</a:t>
            </a:r>
            <a:r>
              <a:rPr lang="zh-CN" altLang="en-US" sz="1600" dirty="0">
                <a:ea typeface="宋体" panose="02010600030101010101" pitchFamily="2" charset="-122"/>
              </a:rPr>
              <a:t>的情况下，一般不考虑在障碍两端增设人孔，也不改换管材，采用事先敷设</a:t>
            </a:r>
            <a:r>
              <a:rPr lang="en-US" altLang="zh-CN" sz="1600" dirty="0">
                <a:ea typeface="宋体" panose="02010600030101010101" pitchFamily="2" charset="-122"/>
              </a:rPr>
              <a:t>120/136PE</a:t>
            </a:r>
            <a:r>
              <a:rPr lang="zh-CN" altLang="en-US" sz="1600" dirty="0">
                <a:ea typeface="宋体" panose="02010600030101010101" pitchFamily="2" charset="-122"/>
              </a:rPr>
              <a:t>管的方式通过，以减少工程造价，缩短工期。对于较大障碍，可以考虑两端增设人（手）孔。</a:t>
            </a:r>
            <a:endParaRPr lang="zh-CN" altLang="en-US" sz="1600" dirty="0">
              <a:ea typeface="宋体" panose="02010600030101010101" pitchFamily="2" charset="-122"/>
            </a:endParaRPr>
          </a:p>
          <a:p>
            <a:pPr>
              <a:lnSpc>
                <a:spcPct val="130000"/>
              </a:lnSpc>
              <a:spcBef>
                <a:spcPct val="40000"/>
              </a:spcBef>
              <a:buFontTx/>
              <a:buNone/>
            </a:pPr>
            <a:r>
              <a:rPr lang="zh-CN" altLang="en-US" sz="1600" dirty="0">
                <a:ea typeface="宋体" panose="02010600030101010101" pitchFamily="2" charset="-122"/>
              </a:rPr>
              <a:t>（</a:t>
            </a:r>
            <a:r>
              <a:rPr lang="en-US" altLang="zh-CN" sz="1600" dirty="0">
                <a:ea typeface="宋体" panose="02010600030101010101" pitchFamily="2" charset="-122"/>
              </a:rPr>
              <a:t>3</a:t>
            </a:r>
            <a:r>
              <a:rPr lang="zh-CN" altLang="en-US" sz="1600" dirty="0">
                <a:ea typeface="宋体" panose="02010600030101010101" pitchFamily="2" charset="-122"/>
              </a:rPr>
              <a:t>）查勘完成后可采用表格形式，将查勘遇到的障碍及处理方式标注清楚，表格格式可参照表</a:t>
            </a:r>
            <a:r>
              <a:rPr lang="en-US" altLang="zh-CN" sz="1600" dirty="0">
                <a:ea typeface="宋体" panose="02010600030101010101" pitchFamily="2" charset="-122"/>
              </a:rPr>
              <a:t>1-1</a:t>
            </a:r>
            <a:r>
              <a:rPr lang="zh-CN" altLang="en-US" sz="1600" dirty="0">
                <a:ea typeface="宋体" panose="02010600030101010101" pitchFamily="2" charset="-122"/>
              </a:rPr>
              <a:t>。 </a:t>
            </a:r>
            <a:endParaRPr lang="zh-CN" altLang="en-US" sz="1600" dirty="0">
              <a:ea typeface="宋体" panose="02010600030101010101" pitchFamily="2" charset="-122"/>
            </a:endParaRPr>
          </a:p>
        </p:txBody>
      </p:sp>
      <p:pic>
        <p:nvPicPr>
          <p:cNvPr id="8" name="Picture 243" descr="图片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4952" y="1473820"/>
            <a:ext cx="4377894" cy="302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7" name="Rectangle 2"/>
          <p:cNvSpPr txBox="1">
            <a:spLocks noChangeArrowheads="1"/>
          </p:cNvSpPr>
          <p:nvPr/>
        </p:nvSpPr>
        <p:spPr bwMode="auto">
          <a:xfrm>
            <a:off x="188119" y="866011"/>
            <a:ext cx="2936195" cy="497956"/>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2.4 </a:t>
            </a:r>
            <a:r>
              <a:rPr kumimoji="1" lang="zh-CN" altLang="en-US" sz="2400" b="1" dirty="0">
                <a:solidFill>
                  <a:srgbClr val="000099"/>
                </a:solidFill>
                <a:latin typeface="黑体" panose="02010609060101010101" pitchFamily="49" charset="-122"/>
                <a:ea typeface="黑体" panose="02010609060101010101" pitchFamily="49" charset="-122"/>
              </a:rPr>
              <a:t>管道线路查勘</a:t>
            </a:r>
            <a:endParaRPr kumimoji="1" lang="zh-CN" altLang="en-US" sz="2400" b="1" dirty="0">
              <a:solidFill>
                <a:srgbClr val="000099"/>
              </a:solidFill>
              <a:latin typeface="黑体" panose="02010609060101010101" pitchFamily="49" charset="-122"/>
              <a:ea typeface="黑体" panose="02010609060101010101" pitchFamily="49" charset="-122"/>
            </a:endParaRPr>
          </a:p>
        </p:txBody>
      </p:sp>
      <p:sp>
        <p:nvSpPr>
          <p:cNvPr id="8" name="Rectangle 3"/>
          <p:cNvSpPr txBox="1">
            <a:spLocks noChangeArrowheads="1"/>
          </p:cNvSpPr>
          <p:nvPr/>
        </p:nvSpPr>
        <p:spPr bwMode="auto">
          <a:xfrm>
            <a:off x="196850" y="1276985"/>
            <a:ext cx="4437380" cy="41338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2.4.1 </a:t>
            </a:r>
            <a:r>
              <a:rPr lang="zh-CN" altLang="en-US" sz="2200" b="1" dirty="0">
                <a:solidFill>
                  <a:srgbClr val="660033"/>
                </a:solidFill>
                <a:latin typeface="黑体" panose="02010609060101010101" pitchFamily="49" charset="-122"/>
                <a:ea typeface="黑体" panose="02010609060101010101" pitchFamily="49" charset="-122"/>
              </a:rPr>
              <a:t>硅芯管管道线路查勘要求</a:t>
            </a:r>
            <a:endParaRPr lang="zh-CN" altLang="en-US" sz="2200" b="1" dirty="0">
              <a:solidFill>
                <a:srgbClr val="660033"/>
              </a:solidFill>
              <a:latin typeface="黑体" panose="02010609060101010101" pitchFamily="49" charset="-122"/>
              <a:ea typeface="黑体" panose="02010609060101010101" pitchFamily="49" charset="-122"/>
            </a:endParaRPr>
          </a:p>
          <a:p>
            <a:pPr>
              <a:buFontTx/>
              <a:buNone/>
            </a:pPr>
            <a:endParaRPr lang="zh-CN" altLang="en-US" sz="2800" dirty="0">
              <a:ea typeface="宋体" panose="02010600030101010101" pitchFamily="2" charset="-122"/>
            </a:endParaRPr>
          </a:p>
          <a:p>
            <a:pPr>
              <a:buFontTx/>
              <a:buNone/>
            </a:pPr>
            <a:endParaRPr lang="zh-CN" altLang="en-US" sz="2800" dirty="0">
              <a:ea typeface="宋体" panose="02010600030101010101" pitchFamily="2" charset="-122"/>
            </a:endParaRPr>
          </a:p>
        </p:txBody>
      </p:sp>
      <p:sp>
        <p:nvSpPr>
          <p:cNvPr id="9" name="Text Box 5"/>
          <p:cNvSpPr txBox="1">
            <a:spLocks noChangeArrowheads="1"/>
          </p:cNvSpPr>
          <p:nvPr/>
        </p:nvSpPr>
        <p:spPr bwMode="auto">
          <a:xfrm>
            <a:off x="260127" y="1689843"/>
            <a:ext cx="7993063" cy="1484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lnSpc>
                <a:spcPct val="130000"/>
              </a:lnSpc>
              <a:spcBef>
                <a:spcPct val="30000"/>
              </a:spcBef>
            </a:pPr>
            <a:r>
              <a:rPr lang="zh-CN" altLang="en-US" sz="1600" b="0" dirty="0">
                <a:solidFill>
                  <a:srgbClr val="336699"/>
                </a:solidFill>
                <a:ea typeface="宋体" panose="02010600030101010101" pitchFamily="2" charset="-122"/>
              </a:rPr>
              <a:t>⑴ 定位、测量每个标石长度，同时记录每个人手孔至相邻标石的段长。</a:t>
            </a:r>
            <a:endParaRPr lang="zh-CN" altLang="en-US" sz="1600" b="0" dirty="0">
              <a:solidFill>
                <a:srgbClr val="336699"/>
              </a:solidFill>
              <a:ea typeface="宋体" panose="02010600030101010101" pitchFamily="2" charset="-122"/>
            </a:endParaRPr>
          </a:p>
          <a:p>
            <a:pPr eaLnBrk="1" hangingPunct="1">
              <a:lnSpc>
                <a:spcPct val="130000"/>
              </a:lnSpc>
              <a:spcBef>
                <a:spcPct val="30000"/>
              </a:spcBef>
            </a:pPr>
            <a:r>
              <a:rPr lang="zh-CN" altLang="en-US" sz="1600" b="0" dirty="0">
                <a:solidFill>
                  <a:srgbClr val="336699"/>
                </a:solidFill>
                <a:ea typeface="宋体" panose="02010600030101010101" pitchFamily="2" charset="-122"/>
              </a:rPr>
              <a:t>⑵ 在草图上具体区分人手孔是人孔还是手孔，同时要求尽量能够区分人手孔尺寸。</a:t>
            </a:r>
            <a:endParaRPr lang="zh-CN" altLang="en-US" sz="1600" b="0" dirty="0">
              <a:solidFill>
                <a:srgbClr val="336699"/>
              </a:solidFill>
              <a:ea typeface="宋体" panose="02010600030101010101" pitchFamily="2" charset="-122"/>
            </a:endParaRPr>
          </a:p>
          <a:p>
            <a:pPr eaLnBrk="1" hangingPunct="1">
              <a:lnSpc>
                <a:spcPct val="130000"/>
              </a:lnSpc>
              <a:spcBef>
                <a:spcPct val="30000"/>
              </a:spcBef>
            </a:pPr>
            <a:r>
              <a:rPr lang="zh-CN" altLang="en-US" sz="1600" b="0" dirty="0">
                <a:solidFill>
                  <a:srgbClr val="336699"/>
                </a:solidFill>
                <a:ea typeface="宋体" panose="02010600030101010101" pitchFamily="2" charset="-122"/>
              </a:rPr>
              <a:t>⑶目前硅芯管内穿放光缆的具体情况，光缆接头的人手孔内的接头布放情况，包括布放几个接头以及在人手孔哪一侧，预留光缆的盘放情况。</a:t>
            </a:r>
            <a:endParaRPr lang="zh-CN" altLang="en-US" sz="1600" b="0" dirty="0">
              <a:solidFill>
                <a:srgbClr val="336699"/>
              </a:solidFill>
              <a:ea typeface="宋体" panose="02010600030101010101" pitchFamily="2" charset="-122"/>
            </a:endParaRPr>
          </a:p>
        </p:txBody>
      </p:sp>
      <p:sp>
        <p:nvSpPr>
          <p:cNvPr id="10" name="Text Box 6"/>
          <p:cNvSpPr txBox="1">
            <a:spLocks noChangeArrowheads="1"/>
          </p:cNvSpPr>
          <p:nvPr/>
        </p:nvSpPr>
        <p:spPr bwMode="auto">
          <a:xfrm>
            <a:off x="249556" y="3174737"/>
            <a:ext cx="7705725" cy="121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lnSpc>
                <a:spcPct val="130000"/>
              </a:lnSpc>
              <a:spcBef>
                <a:spcPct val="40000"/>
              </a:spcBef>
            </a:pPr>
            <a:r>
              <a:rPr lang="zh-CN" altLang="en-US" sz="1600" b="0" dirty="0">
                <a:solidFill>
                  <a:srgbClr val="336699"/>
                </a:solidFill>
                <a:ea typeface="宋体" panose="02010600030101010101" pitchFamily="2" charset="-122"/>
              </a:rPr>
              <a:t>⑷记录线路需要过特殊障碍点的人手孔位置。</a:t>
            </a:r>
            <a:endParaRPr lang="zh-CN" altLang="en-US" sz="1600" b="0" dirty="0">
              <a:solidFill>
                <a:srgbClr val="336699"/>
              </a:solidFill>
              <a:ea typeface="宋体" panose="02010600030101010101" pitchFamily="2" charset="-122"/>
            </a:endParaRPr>
          </a:p>
          <a:p>
            <a:pPr eaLnBrk="1" hangingPunct="1">
              <a:lnSpc>
                <a:spcPct val="130000"/>
              </a:lnSpc>
              <a:spcBef>
                <a:spcPct val="40000"/>
              </a:spcBef>
            </a:pPr>
            <a:r>
              <a:rPr lang="zh-CN" altLang="en-US" sz="1600" b="0" dirty="0">
                <a:solidFill>
                  <a:srgbClr val="336699"/>
                </a:solidFill>
                <a:ea typeface="宋体" panose="02010600030101010101" pitchFamily="2" charset="-122"/>
              </a:rPr>
              <a:t>⑸打开每个人手孔，记录硅芯管的子管的颜色，并且了解哪一种颜色管为本期使用。</a:t>
            </a:r>
            <a:endParaRPr lang="zh-CN" altLang="en-US" sz="1600" b="0" dirty="0">
              <a:solidFill>
                <a:srgbClr val="336699"/>
              </a:solidFill>
              <a:ea typeface="宋体" panose="02010600030101010101" pitchFamily="2" charset="-122"/>
            </a:endParaRPr>
          </a:p>
          <a:p>
            <a:pPr eaLnBrk="1" hangingPunct="1">
              <a:lnSpc>
                <a:spcPct val="130000"/>
              </a:lnSpc>
              <a:spcBef>
                <a:spcPct val="40000"/>
              </a:spcBef>
            </a:pPr>
            <a:r>
              <a:rPr lang="zh-CN" altLang="en-US" sz="1600" b="0" dirty="0">
                <a:solidFill>
                  <a:srgbClr val="336699"/>
                </a:solidFill>
                <a:ea typeface="宋体" panose="02010600030101010101" pitchFamily="2" charset="-122"/>
              </a:rPr>
              <a:t>⑹ 记录积水情况，确定本工程是否需要抽水。</a:t>
            </a:r>
            <a:endParaRPr lang="zh-CN" altLang="en-US" sz="1600" b="0" dirty="0">
              <a:solidFill>
                <a:srgbClr val="336699"/>
              </a:solidFill>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Text Box 9"/>
          <p:cNvSpPr txBox="1">
            <a:spLocks noChangeArrowheads="1"/>
          </p:cNvSpPr>
          <p:nvPr/>
        </p:nvSpPr>
        <p:spPr bwMode="auto">
          <a:xfrm>
            <a:off x="388582" y="1473820"/>
            <a:ext cx="5128129" cy="353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1600" b="0" dirty="0">
                <a:solidFill>
                  <a:srgbClr val="336699"/>
                </a:solidFill>
                <a:ea typeface="宋体" panose="02010600030101010101" pitchFamily="2" charset="-122"/>
              </a:rPr>
              <a:t>⑴ 记录管道路由及人手孔间段长、人手孔位置</a:t>
            </a:r>
            <a:endParaRPr lang="zh-CN" altLang="en-US" sz="1600" b="0" dirty="0">
              <a:solidFill>
                <a:srgbClr val="336699"/>
              </a:solidFill>
              <a:ea typeface="宋体" panose="02010600030101010101" pitchFamily="2" charset="-122"/>
            </a:endParaRPr>
          </a:p>
          <a:p>
            <a:pPr eaLnBrk="1" hangingPunct="1">
              <a:spcBef>
                <a:spcPct val="50000"/>
              </a:spcBef>
            </a:pPr>
            <a:r>
              <a:rPr lang="zh-CN" altLang="en-US" sz="1600" b="0" dirty="0">
                <a:solidFill>
                  <a:srgbClr val="336699"/>
                </a:solidFill>
                <a:ea typeface="宋体" panose="02010600030101010101" pitchFamily="2" charset="-122"/>
              </a:rPr>
              <a:t>⑵ 打开每个人手孔，记录管孔断面图、管孔占位图。如管道两侧人手孔断面不一致要求绘出</a:t>
            </a:r>
            <a:endParaRPr lang="zh-CN" altLang="en-US" sz="1600" b="0" dirty="0">
              <a:solidFill>
                <a:srgbClr val="336699"/>
              </a:solidFill>
              <a:ea typeface="宋体" panose="02010600030101010101" pitchFamily="2" charset="-122"/>
            </a:endParaRPr>
          </a:p>
          <a:p>
            <a:pPr eaLnBrk="1" hangingPunct="1">
              <a:spcBef>
                <a:spcPct val="50000"/>
              </a:spcBef>
            </a:pPr>
            <a:r>
              <a:rPr lang="zh-CN" altLang="en-US" sz="1600" b="0" dirty="0">
                <a:solidFill>
                  <a:srgbClr val="336699"/>
                </a:solidFill>
                <a:ea typeface="宋体" panose="02010600030101010101" pitchFamily="2" charset="-122"/>
              </a:rPr>
              <a:t>⑶ 本期线路敷设在哪一个管孔</a:t>
            </a:r>
            <a:endParaRPr lang="zh-CN" altLang="en-US" sz="1600" b="0" dirty="0">
              <a:solidFill>
                <a:srgbClr val="336699"/>
              </a:solidFill>
              <a:ea typeface="宋体" panose="02010600030101010101" pitchFamily="2" charset="-122"/>
            </a:endParaRPr>
          </a:p>
          <a:p>
            <a:pPr eaLnBrk="1" hangingPunct="1">
              <a:spcBef>
                <a:spcPct val="50000"/>
              </a:spcBef>
            </a:pPr>
            <a:r>
              <a:rPr lang="zh-CN" altLang="en-US" sz="1600" b="0" dirty="0">
                <a:solidFill>
                  <a:srgbClr val="336699"/>
                </a:solidFill>
                <a:ea typeface="宋体" panose="02010600030101010101" pitchFamily="2" charset="-122"/>
              </a:rPr>
              <a:t>⑷ 对合建管道应着重注意管位情况，一定要弄清建设方的管孔情况</a:t>
            </a:r>
            <a:endParaRPr lang="zh-CN" altLang="en-US" sz="1600" b="0" dirty="0">
              <a:solidFill>
                <a:srgbClr val="336699"/>
              </a:solidFill>
              <a:ea typeface="宋体" panose="02010600030101010101" pitchFamily="2" charset="-122"/>
            </a:endParaRPr>
          </a:p>
          <a:p>
            <a:pPr eaLnBrk="1" hangingPunct="1">
              <a:spcBef>
                <a:spcPct val="50000"/>
              </a:spcBef>
            </a:pPr>
            <a:r>
              <a:rPr lang="zh-CN" altLang="en-US" sz="1600" b="0" dirty="0">
                <a:solidFill>
                  <a:srgbClr val="336699"/>
                </a:solidFill>
                <a:ea typeface="宋体" panose="02010600030101010101" pitchFamily="2" charset="-122"/>
              </a:rPr>
              <a:t>⑸ 本期管道是否新放子管，如果新放确定放在哪个管孔内，如果不新放子管，则标注本期工程需要放的子管</a:t>
            </a:r>
            <a:endParaRPr lang="zh-CN" altLang="en-US" sz="1600" b="0" dirty="0">
              <a:solidFill>
                <a:srgbClr val="336699"/>
              </a:solidFill>
              <a:ea typeface="宋体" panose="02010600030101010101" pitchFamily="2" charset="-122"/>
            </a:endParaRPr>
          </a:p>
          <a:p>
            <a:pPr eaLnBrk="1" hangingPunct="1">
              <a:spcBef>
                <a:spcPct val="50000"/>
              </a:spcBef>
            </a:pPr>
            <a:r>
              <a:rPr lang="zh-CN" altLang="en-US" sz="1600" b="0" dirty="0">
                <a:solidFill>
                  <a:srgbClr val="336699"/>
                </a:solidFill>
                <a:ea typeface="宋体" panose="02010600030101010101" pitchFamily="2" charset="-122"/>
              </a:rPr>
              <a:t>⑹ 记录积水情况，确定本工程是否需要抽水</a:t>
            </a:r>
            <a:endParaRPr lang="zh-CN" altLang="en-US" sz="1600" b="0" dirty="0">
              <a:solidFill>
                <a:srgbClr val="336699"/>
              </a:solidFill>
              <a:ea typeface="宋体" panose="02010600030101010101" pitchFamily="2" charset="-122"/>
            </a:endParaRPr>
          </a:p>
          <a:p>
            <a:pPr eaLnBrk="1" hangingPunct="1">
              <a:spcBef>
                <a:spcPct val="50000"/>
              </a:spcBef>
            </a:pPr>
            <a:r>
              <a:rPr lang="zh-CN" altLang="en-US" sz="1600" b="0" dirty="0">
                <a:solidFill>
                  <a:srgbClr val="336699"/>
                </a:solidFill>
                <a:ea typeface="宋体" panose="02010600030101010101" pitchFamily="2" charset="-122"/>
              </a:rPr>
              <a:t>⑺ 记录人手孔内已有的线路接头情况，以及线路预留盘放情况</a:t>
            </a:r>
            <a:endParaRPr lang="zh-CN" altLang="en-US" sz="1600" b="0" dirty="0">
              <a:solidFill>
                <a:srgbClr val="336699"/>
              </a:solidFill>
              <a:ea typeface="宋体" panose="02010600030101010101" pitchFamily="2" charset="-122"/>
            </a:endParaRPr>
          </a:p>
        </p:txBody>
      </p:sp>
      <p:sp>
        <p:nvSpPr>
          <p:cNvPr id="7" name="Rectangle 4"/>
          <p:cNvSpPr txBox="1">
            <a:spLocks noChangeArrowheads="1"/>
          </p:cNvSpPr>
          <p:nvPr/>
        </p:nvSpPr>
        <p:spPr bwMode="auto">
          <a:xfrm>
            <a:off x="334645" y="937260"/>
            <a:ext cx="3484245" cy="46736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2.4.2 </a:t>
            </a:r>
            <a:r>
              <a:rPr lang="zh-CN" altLang="en-US" sz="2200" b="1" dirty="0">
                <a:solidFill>
                  <a:srgbClr val="660033"/>
                </a:solidFill>
                <a:latin typeface="黑体" panose="02010609060101010101" pitchFamily="49" charset="-122"/>
                <a:ea typeface="黑体" panose="02010609060101010101" pitchFamily="49" charset="-122"/>
              </a:rPr>
              <a:t>城区管道查勘要求</a:t>
            </a:r>
            <a:endParaRPr lang="zh-CN" altLang="en-US" sz="2200" b="1" dirty="0">
              <a:solidFill>
                <a:srgbClr val="660033"/>
              </a:solidFill>
              <a:latin typeface="黑体" panose="02010609060101010101" pitchFamily="49" charset="-122"/>
              <a:ea typeface="黑体" panose="02010609060101010101" pitchFamily="49" charset="-122"/>
            </a:endParaRPr>
          </a:p>
          <a:p>
            <a:pPr marL="457200" indent="-457200">
              <a:lnSpc>
                <a:spcPct val="120000"/>
              </a:lnSpc>
              <a:buFontTx/>
              <a:buNone/>
            </a:pPr>
            <a:endParaRPr lang="zh-CN" altLang="en-US" sz="2200" b="1" dirty="0">
              <a:ea typeface="宋体" panose="02010600030101010101" pitchFamily="2" charset="-122"/>
            </a:endParaRPr>
          </a:p>
        </p:txBody>
      </p:sp>
      <p:grpSp>
        <p:nvGrpSpPr>
          <p:cNvPr id="9" name="Group 6"/>
          <p:cNvGrpSpPr/>
          <p:nvPr/>
        </p:nvGrpSpPr>
        <p:grpSpPr bwMode="auto">
          <a:xfrm>
            <a:off x="6217058" y="937565"/>
            <a:ext cx="2753942" cy="2016260"/>
            <a:chOff x="158" y="-2"/>
            <a:chExt cx="5556" cy="4022"/>
          </a:xfrm>
        </p:grpSpPr>
        <p:pic>
          <p:nvPicPr>
            <p:cNvPr id="10" name="Picture 7" descr="DSC_004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 y="618"/>
              <a:ext cx="5556" cy="34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8"/>
            <p:cNvSpPr txBox="1">
              <a:spLocks noChangeArrowheads="1"/>
            </p:cNvSpPr>
            <p:nvPr/>
          </p:nvSpPr>
          <p:spPr bwMode="auto">
            <a:xfrm>
              <a:off x="920" y="-2"/>
              <a:ext cx="4503" cy="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defRPr/>
              </a:pPr>
              <a:r>
                <a:rPr lang="zh-CN" altLang="en-US" sz="1600" b="1" dirty="0">
                  <a:solidFill>
                    <a:schemeClr val="tx1"/>
                  </a:solidFill>
                  <a:ea typeface="宋体" panose="02010600030101010101" pitchFamily="2" charset="-122"/>
                </a:rPr>
                <a:t>缆线在人孔内布放图</a:t>
              </a:r>
              <a:endParaRPr lang="zh-CN" altLang="en-US" sz="1600" b="1" dirty="0">
                <a:solidFill>
                  <a:schemeClr val="tx1"/>
                </a:solidFill>
                <a:ea typeface="宋体" panose="02010600030101010101" pitchFamily="2" charset="-122"/>
              </a:endParaRPr>
            </a:p>
          </p:txBody>
        </p:sp>
      </p:grpSp>
      <p:grpSp>
        <p:nvGrpSpPr>
          <p:cNvPr id="12" name="Group 17"/>
          <p:cNvGrpSpPr/>
          <p:nvPr/>
        </p:nvGrpSpPr>
        <p:grpSpPr bwMode="auto">
          <a:xfrm>
            <a:off x="5996366" y="2985810"/>
            <a:ext cx="3296269" cy="1963174"/>
            <a:chOff x="-23" y="27"/>
            <a:chExt cx="5783" cy="4220"/>
          </a:xfrm>
        </p:grpSpPr>
        <p:grpSp>
          <p:nvGrpSpPr>
            <p:cNvPr id="13" name="Group 15"/>
            <p:cNvGrpSpPr/>
            <p:nvPr/>
          </p:nvGrpSpPr>
          <p:grpSpPr bwMode="auto">
            <a:xfrm>
              <a:off x="-23" y="709"/>
              <a:ext cx="5783" cy="3538"/>
              <a:chOff x="-23" y="618"/>
              <a:chExt cx="5783" cy="3674"/>
            </a:xfrm>
          </p:grpSpPr>
          <p:pic>
            <p:nvPicPr>
              <p:cNvPr id="15" name="Picture 13" descr="100_1527"/>
              <p:cNvPicPr>
                <a:picLocks noChangeAspect="1" noChangeArrowheads="1"/>
              </p:cNvPicPr>
              <p:nvPr/>
            </p:nvPicPr>
            <p:blipFill>
              <a:blip r:embed="rId3" cstate="print">
                <a:extLst>
                  <a:ext uri="{28A0092B-C50C-407E-A947-70E740481C1C}">
                    <a14:useLocalDpi xmlns:a14="http://schemas.microsoft.com/office/drawing/2010/main" val="0"/>
                  </a:ext>
                </a:extLst>
              </a:blip>
              <a:srcRect l="25775" b="10275"/>
              <a:stretch>
                <a:fillRect/>
              </a:stretch>
            </p:blipFill>
            <p:spPr bwMode="auto">
              <a:xfrm>
                <a:off x="-23" y="635"/>
                <a:ext cx="3266" cy="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4" descr="100_1530"/>
              <p:cNvPicPr>
                <a:picLocks noChangeAspect="1" noChangeArrowheads="1"/>
              </p:cNvPicPr>
              <p:nvPr/>
            </p:nvPicPr>
            <p:blipFill>
              <a:blip r:embed="rId4" cstate="print">
                <a:extLst>
                  <a:ext uri="{28A0092B-C50C-407E-A947-70E740481C1C}">
                    <a14:useLocalDpi xmlns:a14="http://schemas.microsoft.com/office/drawing/2010/main" val="0"/>
                  </a:ext>
                </a:extLst>
              </a:blip>
              <a:srcRect l="21657" b="12390"/>
              <a:stretch>
                <a:fillRect/>
              </a:stretch>
            </p:blipFill>
            <p:spPr bwMode="auto">
              <a:xfrm>
                <a:off x="2971" y="618"/>
                <a:ext cx="2789" cy="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Text Box 16"/>
            <p:cNvSpPr txBox="1">
              <a:spLocks noChangeArrowheads="1"/>
            </p:cNvSpPr>
            <p:nvPr/>
          </p:nvSpPr>
          <p:spPr bwMode="auto">
            <a:xfrm>
              <a:off x="1043" y="27"/>
              <a:ext cx="3266"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spcBef>
                  <a:spcPct val="50000"/>
                </a:spcBef>
              </a:pPr>
              <a:r>
                <a:rPr lang="zh-CN" altLang="en-US" sz="1600" dirty="0">
                  <a:solidFill>
                    <a:schemeClr val="tx1"/>
                  </a:solidFill>
                  <a:ea typeface="宋体" panose="02010600030101010101" pitchFamily="2" charset="-122"/>
                </a:rPr>
                <a:t>管控断面及占位</a:t>
              </a:r>
              <a:endParaRPr lang="zh-CN" altLang="en-US" sz="1600" dirty="0">
                <a:solidFill>
                  <a:schemeClr val="tx1"/>
                </a:solidFill>
                <a:ea typeface="宋体" panose="02010600030101010101" pitchFamily="2" charset="-122"/>
              </a:endParaRPr>
            </a:p>
          </p:txBody>
        </p:sp>
      </p:grpSp>
      <p:pic>
        <p:nvPicPr>
          <p:cNvPr id="3081" name="图片 5" descr="校徽"/>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14" name="Rectangle 2"/>
          <p:cNvSpPr txBox="1">
            <a:spLocks noChangeArrowheads="1"/>
          </p:cNvSpPr>
          <p:nvPr/>
        </p:nvSpPr>
        <p:spPr bwMode="auto">
          <a:xfrm>
            <a:off x="420276" y="825748"/>
            <a:ext cx="2936195" cy="497952"/>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2.5 </a:t>
            </a:r>
            <a:r>
              <a:rPr kumimoji="1" lang="zh-CN" altLang="en-US" sz="2400" b="1" dirty="0">
                <a:solidFill>
                  <a:srgbClr val="000099"/>
                </a:solidFill>
                <a:latin typeface="黑体" panose="02010609060101010101" pitchFamily="49" charset="-122"/>
                <a:ea typeface="黑体" panose="02010609060101010101" pitchFamily="49" charset="-122"/>
              </a:rPr>
              <a:t>架空杆路查勘</a:t>
            </a:r>
            <a:r>
              <a:rPr lang="zh-CN" altLang="en-US" sz="2400" dirty="0">
                <a:ea typeface="宋体" panose="02010600030101010101" pitchFamily="2" charset="-122"/>
              </a:rPr>
              <a:t> </a:t>
            </a:r>
            <a:endParaRPr lang="zh-CN" altLang="en-US" sz="2400" dirty="0">
              <a:ea typeface="宋体" panose="02010600030101010101" pitchFamily="2" charset="-122"/>
            </a:endParaRPr>
          </a:p>
        </p:txBody>
      </p:sp>
      <p:sp>
        <p:nvSpPr>
          <p:cNvPr id="15" name="Rectangle 3"/>
          <p:cNvSpPr txBox="1">
            <a:spLocks noChangeArrowheads="1"/>
          </p:cNvSpPr>
          <p:nvPr/>
        </p:nvSpPr>
        <p:spPr bwMode="auto">
          <a:xfrm>
            <a:off x="439420" y="1270000"/>
            <a:ext cx="2995295" cy="3683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2.5.1</a:t>
            </a:r>
            <a:r>
              <a:rPr lang="zh-CN" altLang="en-US" sz="2200" b="1" dirty="0">
                <a:solidFill>
                  <a:srgbClr val="660033"/>
                </a:solidFill>
                <a:latin typeface="黑体" panose="02010609060101010101" pitchFamily="49" charset="-122"/>
                <a:ea typeface="黑体" panose="02010609060101010101" pitchFamily="49" charset="-122"/>
              </a:rPr>
              <a:t>架空杆路的组成</a:t>
            </a:r>
            <a:endParaRPr lang="zh-CN" altLang="en-US" sz="2200" b="1" dirty="0">
              <a:solidFill>
                <a:srgbClr val="660033"/>
              </a:solidFill>
              <a:latin typeface="黑体" panose="02010609060101010101" pitchFamily="49" charset="-122"/>
              <a:ea typeface="黑体" panose="02010609060101010101" pitchFamily="49" charset="-122"/>
            </a:endParaRPr>
          </a:p>
        </p:txBody>
      </p:sp>
      <p:sp>
        <p:nvSpPr>
          <p:cNvPr id="16" name="Rectangle 5"/>
          <p:cNvSpPr txBox="1">
            <a:spLocks noChangeArrowheads="1"/>
          </p:cNvSpPr>
          <p:nvPr/>
        </p:nvSpPr>
        <p:spPr bwMode="auto">
          <a:xfrm>
            <a:off x="580838" y="1545828"/>
            <a:ext cx="2415593" cy="1609972"/>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lnSpc>
                <a:spcPct val="130000"/>
              </a:lnSpc>
              <a:spcBef>
                <a:spcPct val="40000"/>
              </a:spcBef>
              <a:buFontTx/>
              <a:buNone/>
            </a:pPr>
            <a:r>
              <a:rPr lang="en-US" altLang="zh-CN" sz="1600" dirty="0">
                <a:ea typeface="宋体" panose="02010600030101010101" pitchFamily="2" charset="-122"/>
              </a:rPr>
              <a:t>1</a:t>
            </a:r>
            <a:r>
              <a:rPr lang="zh-CN" altLang="en-US" sz="1600" dirty="0">
                <a:ea typeface="宋体" panose="02010600030101010101" pitchFamily="2" charset="-122"/>
              </a:rPr>
              <a:t>）电杆</a:t>
            </a:r>
            <a:endParaRPr lang="zh-CN" altLang="en-US" sz="1600" dirty="0">
              <a:ea typeface="宋体" panose="02010600030101010101" pitchFamily="2" charset="-122"/>
            </a:endParaRPr>
          </a:p>
          <a:p>
            <a:pPr marL="457200" indent="-457200">
              <a:lnSpc>
                <a:spcPct val="130000"/>
              </a:lnSpc>
              <a:spcBef>
                <a:spcPct val="40000"/>
              </a:spcBef>
              <a:buFontTx/>
              <a:buNone/>
            </a:pPr>
            <a:r>
              <a:rPr lang="zh-CN" altLang="en-US" sz="1600" dirty="0">
                <a:ea typeface="宋体" panose="02010600030101010101" pitchFamily="2" charset="-122"/>
              </a:rPr>
              <a:t>⑴  电杆的材质</a:t>
            </a:r>
            <a:endParaRPr lang="en-US" altLang="zh-CN" sz="1600" dirty="0">
              <a:ea typeface="宋体" panose="02010600030101010101" pitchFamily="2" charset="-122"/>
            </a:endParaRPr>
          </a:p>
          <a:p>
            <a:pPr marL="457200" indent="-457200">
              <a:lnSpc>
                <a:spcPct val="130000"/>
              </a:lnSpc>
              <a:spcBef>
                <a:spcPct val="40000"/>
              </a:spcBef>
              <a:buFontTx/>
              <a:buNone/>
            </a:pPr>
            <a:r>
              <a:rPr lang="zh-CN" altLang="en-US" sz="1600" dirty="0">
                <a:ea typeface="宋体" panose="02010600030101010101" pitchFamily="2" charset="-122"/>
              </a:rPr>
              <a:t>① 钢筋混凝土电杆</a:t>
            </a:r>
            <a:endParaRPr lang="zh-CN" altLang="en-US" sz="1600" dirty="0">
              <a:ea typeface="宋体" panose="02010600030101010101" pitchFamily="2" charset="-122"/>
            </a:endParaRPr>
          </a:p>
          <a:p>
            <a:pPr marL="457200" indent="-457200">
              <a:lnSpc>
                <a:spcPct val="130000"/>
              </a:lnSpc>
              <a:spcBef>
                <a:spcPct val="40000"/>
              </a:spcBef>
              <a:buFontTx/>
              <a:buNone/>
            </a:pPr>
            <a:r>
              <a:rPr lang="zh-CN" altLang="en-US" sz="1600" dirty="0">
                <a:ea typeface="宋体" panose="02010600030101010101" pitchFamily="2" charset="-122"/>
              </a:rPr>
              <a:t>② 木电杆</a:t>
            </a:r>
            <a:endParaRPr lang="zh-CN" altLang="en-US" sz="1600" dirty="0">
              <a:ea typeface="宋体" panose="02010600030101010101" pitchFamily="2" charset="-122"/>
            </a:endParaRPr>
          </a:p>
          <a:p>
            <a:pPr marL="457200" indent="-457200">
              <a:lnSpc>
                <a:spcPct val="130000"/>
              </a:lnSpc>
              <a:spcBef>
                <a:spcPct val="40000"/>
              </a:spcBef>
              <a:buFontTx/>
              <a:buNone/>
            </a:pPr>
            <a:endParaRPr lang="zh-CN" altLang="en-US" sz="1600" dirty="0">
              <a:ea typeface="宋体" panose="02010600030101010101" pitchFamily="2" charset="-122"/>
            </a:endParaRPr>
          </a:p>
          <a:p>
            <a:pPr marL="457200" indent="-457200">
              <a:lnSpc>
                <a:spcPct val="130000"/>
              </a:lnSpc>
              <a:spcBef>
                <a:spcPct val="40000"/>
              </a:spcBef>
              <a:buFontTx/>
              <a:buNone/>
            </a:pPr>
            <a:endParaRPr lang="zh-CN" altLang="en-US" sz="1600" dirty="0">
              <a:ea typeface="宋体" panose="02010600030101010101" pitchFamily="2" charset="-122"/>
            </a:endParaRPr>
          </a:p>
          <a:p>
            <a:pPr marL="457200" indent="-457200">
              <a:lnSpc>
                <a:spcPct val="130000"/>
              </a:lnSpc>
              <a:spcBef>
                <a:spcPct val="40000"/>
              </a:spcBef>
              <a:buFontTx/>
              <a:buNone/>
            </a:pPr>
            <a:endParaRPr lang="zh-CN" altLang="en-US" sz="1600" dirty="0">
              <a:ea typeface="宋体" panose="02010600030101010101" pitchFamily="2" charset="-122"/>
            </a:endParaRPr>
          </a:p>
          <a:p>
            <a:pPr marL="457200" indent="-457200" algn="just">
              <a:buFontTx/>
              <a:buNone/>
            </a:pPr>
            <a:r>
              <a:rPr lang="zh-CN" altLang="en-US" sz="1600" dirty="0">
                <a:ea typeface="宋体" panose="02010600030101010101" pitchFamily="2" charset="-122"/>
              </a:rPr>
              <a:t> </a:t>
            </a:r>
            <a:endParaRPr lang="zh-CN" altLang="en-US" sz="1600" dirty="0">
              <a:ea typeface="宋体" panose="02010600030101010101" pitchFamily="2" charset="-122"/>
            </a:endParaRPr>
          </a:p>
        </p:txBody>
      </p:sp>
      <p:pic>
        <p:nvPicPr>
          <p:cNvPr id="18"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82097" y="1474100"/>
            <a:ext cx="2207746" cy="185311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4"/>
          <p:cNvSpPr txBox="1">
            <a:spLocks noChangeArrowheads="1"/>
          </p:cNvSpPr>
          <p:nvPr/>
        </p:nvSpPr>
        <p:spPr bwMode="auto">
          <a:xfrm>
            <a:off x="548159" y="3156278"/>
            <a:ext cx="8229600" cy="2133966"/>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30000"/>
              </a:lnSpc>
              <a:buFontTx/>
              <a:buNone/>
            </a:pPr>
            <a:r>
              <a:rPr lang="zh-CN" altLang="en-US" sz="1600" dirty="0">
                <a:ea typeface="宋体" panose="02010600030101010101" pitchFamily="2" charset="-122"/>
              </a:rPr>
              <a:t>⑵  电杆的类型及用途</a:t>
            </a:r>
            <a:endParaRPr lang="zh-CN" altLang="en-US" sz="1600" dirty="0">
              <a:ea typeface="宋体" panose="02010600030101010101" pitchFamily="2" charset="-122"/>
            </a:endParaRPr>
          </a:p>
          <a:p>
            <a:pPr>
              <a:lnSpc>
                <a:spcPct val="130000"/>
              </a:lnSpc>
              <a:buFontTx/>
              <a:buNone/>
            </a:pPr>
            <a:r>
              <a:rPr lang="zh-CN" altLang="en-US" sz="1600" dirty="0">
                <a:ea typeface="宋体" panose="02010600030101010101" pitchFamily="2" charset="-122"/>
              </a:rPr>
              <a:t>① 按电杆在架空杆路中的地位来分：</a:t>
            </a:r>
            <a:endParaRPr lang="zh-CN" altLang="en-US" sz="1600" dirty="0">
              <a:ea typeface="宋体" panose="02010600030101010101" pitchFamily="2" charset="-122"/>
            </a:endParaRPr>
          </a:p>
          <a:p>
            <a:pPr>
              <a:lnSpc>
                <a:spcPct val="130000"/>
              </a:lnSpc>
              <a:buFontTx/>
              <a:buNone/>
            </a:pPr>
            <a:r>
              <a:rPr lang="zh-CN" altLang="en-US" sz="1600" dirty="0">
                <a:ea typeface="宋体" panose="02010600030101010101" pitchFamily="2" charset="-122"/>
              </a:rPr>
              <a:t>中间杆、角杆、终端杆、其他受力不平衡的电杆</a:t>
            </a:r>
            <a:endParaRPr lang="zh-CN" altLang="en-US" sz="1600" dirty="0">
              <a:ea typeface="宋体" panose="02010600030101010101" pitchFamily="2" charset="-122"/>
            </a:endParaRPr>
          </a:p>
          <a:p>
            <a:pPr>
              <a:lnSpc>
                <a:spcPct val="130000"/>
              </a:lnSpc>
              <a:buFontTx/>
              <a:buNone/>
            </a:pPr>
            <a:r>
              <a:rPr lang="zh-CN" altLang="en-US" sz="1600" dirty="0">
                <a:ea typeface="宋体" panose="02010600030101010101" pitchFamily="2" charset="-122"/>
              </a:rPr>
              <a:t>② 按电杆的建筑规格分：</a:t>
            </a:r>
            <a:endParaRPr lang="zh-CN" altLang="en-US" sz="1600" dirty="0">
              <a:ea typeface="宋体" panose="02010600030101010101" pitchFamily="2" charset="-122"/>
            </a:endParaRPr>
          </a:p>
          <a:p>
            <a:pPr>
              <a:lnSpc>
                <a:spcPct val="130000"/>
              </a:lnSpc>
              <a:buFontTx/>
              <a:buNone/>
            </a:pPr>
            <a:r>
              <a:rPr lang="zh-CN" altLang="en-US" sz="1600" dirty="0">
                <a:ea typeface="宋体" panose="02010600030101010101" pitchFamily="2" charset="-122"/>
              </a:rPr>
              <a:t>普通杆、单接杆、</a:t>
            </a:r>
            <a:r>
              <a:rPr lang="en-US" altLang="zh-CN" sz="1600" dirty="0">
                <a:ea typeface="宋体" panose="02010600030101010101" pitchFamily="2" charset="-122"/>
              </a:rPr>
              <a:t>A</a:t>
            </a:r>
            <a:r>
              <a:rPr lang="zh-CN" altLang="en-US" sz="1600" dirty="0">
                <a:ea typeface="宋体" panose="02010600030101010101" pitchFamily="2" charset="-122"/>
              </a:rPr>
              <a:t>型杆、</a:t>
            </a:r>
            <a:r>
              <a:rPr lang="en-US" altLang="zh-CN" sz="1600" dirty="0">
                <a:ea typeface="宋体" panose="02010600030101010101" pitchFamily="2" charset="-122"/>
              </a:rPr>
              <a:t>L</a:t>
            </a:r>
            <a:r>
              <a:rPr lang="zh-CN" altLang="en-US" sz="1600" dirty="0">
                <a:ea typeface="宋体" panose="02010600030101010101" pitchFamily="2" charset="-122"/>
              </a:rPr>
              <a:t>型杆、井型杆、双接杆（品接杆）、</a:t>
            </a:r>
            <a:r>
              <a:rPr lang="en-US" altLang="zh-CN" sz="1600" dirty="0">
                <a:ea typeface="宋体" panose="02010600030101010101" pitchFamily="2" charset="-122"/>
              </a:rPr>
              <a:t>H</a:t>
            </a:r>
            <a:r>
              <a:rPr lang="zh-CN" altLang="en-US" sz="1600" dirty="0">
                <a:ea typeface="宋体" panose="02010600030101010101" pitchFamily="2" charset="-122"/>
              </a:rPr>
              <a:t>型杆</a:t>
            </a:r>
            <a:endParaRPr lang="zh-CN" altLang="en-US" sz="1600" dirty="0">
              <a:ea typeface="宋体" panose="02010600030101010101" pitchFamily="2" charset="-122"/>
            </a:endParaRPr>
          </a:p>
          <a:p>
            <a:pPr>
              <a:lnSpc>
                <a:spcPct val="130000"/>
              </a:lnSpc>
              <a:buFontTx/>
              <a:buNone/>
            </a:pPr>
            <a:endParaRPr lang="zh-CN" altLang="en-US" sz="1600" dirty="0">
              <a:ea typeface="宋体" panose="02010600030101010101" pitchFamily="2" charset="-122"/>
            </a:endParaRPr>
          </a:p>
          <a:p>
            <a:pPr>
              <a:lnSpc>
                <a:spcPct val="130000"/>
              </a:lnSpc>
              <a:buFontTx/>
              <a:buNone/>
            </a:pPr>
            <a:endParaRPr lang="zh-CN" altLang="en-US" sz="1600" dirty="0">
              <a:ea typeface="宋体" panose="02010600030101010101" pitchFamily="2" charset="-122"/>
            </a:endParaRPr>
          </a:p>
          <a:p>
            <a:endParaRPr lang="zh-CN" altLang="en-US" sz="1600" dirty="0">
              <a:ea typeface="宋体" panose="02010600030101010101" pitchFamily="2" charset="-122"/>
            </a:endParaRPr>
          </a:p>
        </p:txBody>
      </p:sp>
      <p:grpSp>
        <p:nvGrpSpPr>
          <p:cNvPr id="20" name="Group 10"/>
          <p:cNvGrpSpPr/>
          <p:nvPr/>
        </p:nvGrpSpPr>
        <p:grpSpPr bwMode="auto">
          <a:xfrm>
            <a:off x="6424568" y="1075026"/>
            <a:ext cx="2353192" cy="1853113"/>
            <a:chOff x="249" y="572"/>
            <a:chExt cx="5201" cy="3538"/>
          </a:xfrm>
        </p:grpSpPr>
        <p:pic>
          <p:nvPicPr>
            <p:cNvPr id="21" name="Picture 8">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 y="572"/>
              <a:ext cx="5201" cy="353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ectangle 9"/>
            <p:cNvSpPr>
              <a:spLocks noChangeArrowheads="1"/>
            </p:cNvSpPr>
            <p:nvPr/>
          </p:nvSpPr>
          <p:spPr bwMode="auto">
            <a:xfrm>
              <a:off x="657" y="845"/>
              <a:ext cx="5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spcBef>
                  <a:spcPct val="50000"/>
                </a:spcBef>
              </a:pPr>
              <a:r>
                <a:rPr kumimoji="1" lang="en-US" altLang="zh-CN" sz="2800" b="0" dirty="0">
                  <a:solidFill>
                    <a:srgbClr val="FF3300"/>
                  </a:solidFill>
                  <a:latin typeface="黑体" panose="02010609060101010101" pitchFamily="49" charset="-122"/>
                  <a:ea typeface="黑体" panose="02010609060101010101" pitchFamily="49" charset="-122"/>
                </a:rPr>
                <a:t>H</a:t>
              </a:r>
              <a:r>
                <a:rPr kumimoji="1" lang="zh-CN" altLang="en-US" sz="2800" b="0" dirty="0">
                  <a:solidFill>
                    <a:srgbClr val="FF3300"/>
                  </a:solidFill>
                  <a:latin typeface="黑体" panose="02010609060101010101" pitchFamily="49" charset="-122"/>
                  <a:ea typeface="黑体" panose="02010609060101010101" pitchFamily="49" charset="-122"/>
                </a:rPr>
                <a:t>杆</a:t>
              </a:r>
              <a:endParaRPr kumimoji="1" lang="zh-CN" altLang="en-US" sz="2800" b="0" dirty="0">
                <a:solidFill>
                  <a:srgbClr val="FF3300"/>
                </a:solidFill>
                <a:latin typeface="黑体" panose="02010609060101010101" pitchFamily="49" charset="-122"/>
                <a:ea typeface="黑体" panose="02010609060101010101" pitchFamily="49" charset="-122"/>
              </a:endParaRPr>
            </a:p>
          </p:txBody>
        </p:sp>
      </p:grpSp>
      <p:grpSp>
        <p:nvGrpSpPr>
          <p:cNvPr id="23" name="Group 7"/>
          <p:cNvGrpSpPr/>
          <p:nvPr/>
        </p:nvGrpSpPr>
        <p:grpSpPr bwMode="auto">
          <a:xfrm>
            <a:off x="6575723" y="3129956"/>
            <a:ext cx="2527300" cy="1768475"/>
            <a:chOff x="4731" y="-975"/>
            <a:chExt cx="1592" cy="1114"/>
          </a:xfrm>
        </p:grpSpPr>
        <p:pic>
          <p:nvPicPr>
            <p:cNvPr id="24" name="Picture 5">
              <a:hlinkClick r:id="rId3"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t="9332" b="7663"/>
            <a:stretch>
              <a:fillRect/>
            </a:stretch>
          </p:blipFill>
          <p:spPr bwMode="auto">
            <a:xfrm>
              <a:off x="4731" y="-975"/>
              <a:ext cx="1592" cy="111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Rectangle 6"/>
            <p:cNvSpPr>
              <a:spLocks noChangeArrowheads="1"/>
            </p:cNvSpPr>
            <p:nvPr/>
          </p:nvSpPr>
          <p:spPr bwMode="auto">
            <a:xfrm>
              <a:off x="5162" y="-567"/>
              <a:ext cx="730" cy="8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a:r>
                <a:rPr lang="zh-CN" altLang="en-US" sz="1800" dirty="0">
                  <a:solidFill>
                    <a:srgbClr val="FF0000"/>
                  </a:solidFill>
                  <a:latin typeface="Cooper Black" panose="0208090404030B020404" pitchFamily="18" charset="0"/>
                  <a:ea typeface="宋体" panose="02010600030101010101" pitchFamily="2" charset="-122"/>
                </a:rPr>
                <a:t>品接杆</a:t>
              </a:r>
              <a:endParaRPr lang="zh-CN" altLang="en-US" sz="1800" dirty="0">
                <a:solidFill>
                  <a:srgbClr val="FF0000"/>
                </a:solidFill>
                <a:latin typeface="Cooper Black" panose="0208090404030B020404" pitchFamily="18" charset="0"/>
                <a:ea typeface="宋体" panose="02010600030101010101" pitchFamily="2" charset="-122"/>
              </a:endParaRPr>
            </a:p>
          </p:txBody>
        </p:sp>
      </p:grpSp>
      <p:pic>
        <p:nvPicPr>
          <p:cNvPr id="3081" name="图片 5" descr="校徽"/>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23017" y="1065908"/>
            <a:ext cx="8229600" cy="12000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30000"/>
              </a:lnSpc>
              <a:buFontTx/>
              <a:buNone/>
            </a:pPr>
            <a:r>
              <a:rPr lang="zh-CN" altLang="en-US" sz="1600" dirty="0">
                <a:ea typeface="宋体" panose="02010600030101010101" pitchFamily="2" charset="-122"/>
              </a:rPr>
              <a:t>⑶ 杆间距离</a:t>
            </a:r>
            <a:endParaRPr lang="zh-CN" altLang="en-US" sz="1600" dirty="0">
              <a:ea typeface="宋体" panose="02010600030101010101" pitchFamily="2" charset="-122"/>
            </a:endParaRPr>
          </a:p>
          <a:p>
            <a:pPr>
              <a:lnSpc>
                <a:spcPct val="130000"/>
              </a:lnSpc>
              <a:buFontTx/>
              <a:buNone/>
            </a:pPr>
            <a:r>
              <a:rPr lang="zh-CN" altLang="en-US" dirty="0">
                <a:ea typeface="宋体" panose="02010600030101010101" pitchFamily="2" charset="-122"/>
              </a:rPr>
              <a:t>  </a:t>
            </a:r>
            <a:r>
              <a:rPr lang="zh-CN" altLang="en-US" sz="1600" dirty="0">
                <a:ea typeface="宋体" panose="02010600030101010101" pitchFamily="2" charset="-122"/>
              </a:rPr>
              <a:t>  市话杆路的杆间距离应根据线路负荷，气象条件，用户下线位置及地形、地物和今后改建等因素综合确定。正常情况下市话杆路的基本杆距按表</a:t>
            </a:r>
            <a:r>
              <a:rPr lang="en-US" altLang="zh-CN" sz="1600" dirty="0">
                <a:ea typeface="宋体" panose="02010600030101010101" pitchFamily="2" charset="-122"/>
              </a:rPr>
              <a:t>1-2</a:t>
            </a:r>
            <a:r>
              <a:rPr lang="zh-CN" altLang="en-US" sz="1600" dirty="0">
                <a:ea typeface="宋体" panose="02010600030101010101" pitchFamily="2" charset="-122"/>
              </a:rPr>
              <a:t>取定</a:t>
            </a:r>
            <a:endParaRPr lang="zh-CN" altLang="en-US" sz="1600" dirty="0">
              <a:ea typeface="宋体" panose="02010600030101010101" pitchFamily="2" charset="-122"/>
            </a:endParaRPr>
          </a:p>
        </p:txBody>
      </p:sp>
      <p:graphicFrame>
        <p:nvGraphicFramePr>
          <p:cNvPr id="7" name="Object 6"/>
          <p:cNvGraphicFramePr>
            <a:graphicFrameLocks noChangeAspect="1"/>
          </p:cNvGraphicFramePr>
          <p:nvPr/>
        </p:nvGraphicFramePr>
        <p:xfrm>
          <a:off x="642497" y="2913980"/>
          <a:ext cx="7920037" cy="1995487"/>
        </p:xfrm>
        <a:graphic>
          <a:graphicData uri="http://schemas.openxmlformats.org/presentationml/2006/ole">
            <mc:AlternateContent xmlns:mc="http://schemas.openxmlformats.org/markup-compatibility/2006">
              <mc:Choice xmlns:v="urn:schemas-microsoft-com:vml" Requires="v">
                <p:oleObj spid="_x0000_s3077" name="Photo Editor 照片" r:id="rId2" imgW="11410950" imgH="2876550" progId="MSPhotoEd.3">
                  <p:embed/>
                </p:oleObj>
              </mc:Choice>
              <mc:Fallback>
                <p:oleObj name="Photo Editor 照片" r:id="rId2" imgW="11410950" imgH="2876550" progId="MSPhotoEd.3">
                  <p:embed/>
                  <p:pic>
                    <p:nvPicPr>
                      <p:cNvPr id="0" name="Object 6"/>
                      <p:cNvPicPr>
                        <a:picLocks noGrp="1" noChangeAspect="1" noChangeArrowheads="1"/>
                      </p:cNvPicPr>
                      <p:nvPr/>
                    </p:nvPicPr>
                    <p:blipFill>
                      <a:blip r:embed="rId3">
                        <a:clrChange>
                          <a:clrFrom>
                            <a:srgbClr val="F2F2F2"/>
                          </a:clrFrom>
                          <a:clrTo>
                            <a:srgbClr val="F2F2F2">
                              <a:alpha val="0"/>
                            </a:srgbClr>
                          </a:clrTo>
                        </a:clrChange>
                        <a:extLst>
                          <a:ext uri="{28A0092B-C50C-407E-A947-70E740481C1C}">
                            <a14:useLocalDpi xmlns:a14="http://schemas.microsoft.com/office/drawing/2010/main" val="0"/>
                          </a:ext>
                        </a:extLst>
                      </a:blip>
                      <a:srcRect/>
                      <a:stretch>
                        <a:fillRect/>
                      </a:stretch>
                    </p:blipFill>
                    <p:spPr bwMode="auto">
                      <a:xfrm>
                        <a:off x="642497" y="2913980"/>
                        <a:ext cx="7920037" cy="199548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5"/>
          <p:cNvSpPr>
            <a:spLocks noChangeArrowheads="1"/>
          </p:cNvSpPr>
          <p:nvPr/>
        </p:nvSpPr>
        <p:spPr bwMode="auto">
          <a:xfrm>
            <a:off x="3156857" y="2473738"/>
            <a:ext cx="2561920" cy="33855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1-2 </a:t>
            </a:r>
            <a:r>
              <a:rPr lang="zh-CN" altLang="en-US" sz="1600" b="0" dirty="0">
                <a:solidFill>
                  <a:schemeClr val="tx1"/>
                </a:solidFill>
                <a:latin typeface="Times New Roman" panose="02020603050405020304" pitchFamily="18" charset="0"/>
                <a:ea typeface="宋体" panose="02010600030101010101" pitchFamily="2" charset="-122"/>
              </a:rPr>
              <a:t>市话杆路的基本杆距</a:t>
            </a:r>
            <a:endParaRPr lang="zh-CN" altLang="en-US" sz="1600" b="0" dirty="0">
              <a:solidFill>
                <a:schemeClr val="tx1"/>
              </a:solidFill>
              <a:latin typeface="Times New Roman" panose="02020603050405020304" pitchFamily="18" charset="0"/>
              <a:ea typeface="宋体" panose="02010600030101010101" pitchFamily="2" charset="-122"/>
            </a:endParaRPr>
          </a:p>
        </p:txBody>
      </p:sp>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23017" y="969765"/>
            <a:ext cx="8229600" cy="1584176"/>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30000"/>
              </a:lnSpc>
              <a:spcBef>
                <a:spcPct val="30000"/>
              </a:spcBef>
              <a:buFont typeface="Wingdings" panose="05000000000000000000" pitchFamily="2" charset="2"/>
              <a:buNone/>
            </a:pPr>
            <a:r>
              <a:rPr lang="en-US" altLang="zh-CN" sz="1600" dirty="0">
                <a:ea typeface="宋体" panose="02010600030101010101" pitchFamily="2" charset="-122"/>
              </a:rPr>
              <a:t>2</a:t>
            </a:r>
            <a:r>
              <a:rPr lang="zh-CN" altLang="en-US" sz="1600" dirty="0">
                <a:ea typeface="宋体" panose="02010600030101010101" pitchFamily="2" charset="-122"/>
              </a:rPr>
              <a:t>）线材</a:t>
            </a:r>
            <a:endParaRPr lang="zh-CN" altLang="en-US" sz="1600" dirty="0">
              <a:ea typeface="宋体" panose="02010600030101010101" pitchFamily="2" charset="-122"/>
            </a:endParaRPr>
          </a:p>
          <a:p>
            <a:pPr>
              <a:lnSpc>
                <a:spcPct val="130000"/>
              </a:lnSpc>
              <a:spcBef>
                <a:spcPct val="30000"/>
              </a:spcBef>
              <a:buFontTx/>
              <a:buNone/>
            </a:pPr>
            <a:r>
              <a:rPr lang="zh-CN" altLang="en-US" sz="1600" dirty="0">
                <a:ea typeface="宋体" panose="02010600030101010101" pitchFamily="2" charset="-122"/>
              </a:rPr>
              <a:t>⑴  线材的材质</a:t>
            </a:r>
            <a:endParaRPr lang="zh-CN" altLang="en-US" sz="1600" dirty="0">
              <a:ea typeface="宋体" panose="02010600030101010101" pitchFamily="2" charset="-122"/>
            </a:endParaRPr>
          </a:p>
          <a:p>
            <a:pPr>
              <a:lnSpc>
                <a:spcPct val="130000"/>
              </a:lnSpc>
              <a:spcBef>
                <a:spcPct val="30000"/>
              </a:spcBef>
              <a:buFontTx/>
              <a:buNone/>
            </a:pPr>
            <a:r>
              <a:rPr lang="zh-CN" altLang="en-US" sz="1600" dirty="0">
                <a:solidFill>
                  <a:srgbClr val="FF0000"/>
                </a:solidFill>
                <a:ea typeface="宋体" panose="02010600030101010101" pitchFamily="2" charset="-122"/>
              </a:rPr>
              <a:t>镀锌钢绞线</a:t>
            </a:r>
            <a:endParaRPr lang="zh-CN" altLang="en-US" sz="1600" dirty="0">
              <a:ea typeface="宋体" panose="02010600030101010101" pitchFamily="2" charset="-122"/>
            </a:endParaRPr>
          </a:p>
          <a:p>
            <a:pPr>
              <a:lnSpc>
                <a:spcPct val="130000"/>
              </a:lnSpc>
              <a:spcBef>
                <a:spcPct val="30000"/>
              </a:spcBef>
              <a:buFontTx/>
              <a:buNone/>
            </a:pPr>
            <a:r>
              <a:rPr lang="zh-CN" altLang="en-US" sz="1600" dirty="0">
                <a:ea typeface="宋体" panose="02010600030101010101" pitchFamily="2" charset="-122"/>
              </a:rPr>
              <a:t>镀锌钢绞线的规格、物理及机械性质见表</a:t>
            </a:r>
            <a:r>
              <a:rPr lang="en-US" altLang="zh-CN" sz="1600" dirty="0">
                <a:ea typeface="宋体" panose="02010600030101010101" pitchFamily="2" charset="-122"/>
              </a:rPr>
              <a:t>1-3</a:t>
            </a:r>
            <a:endParaRPr lang="zh-CN" altLang="en-US" sz="1600" dirty="0">
              <a:ea typeface="宋体" panose="02010600030101010101" pitchFamily="2" charset="-122"/>
            </a:endParaRPr>
          </a:p>
          <a:p>
            <a:pPr>
              <a:buFontTx/>
              <a:buNone/>
            </a:pPr>
            <a:endParaRPr lang="zh-CN" altLang="en-US" dirty="0">
              <a:ea typeface="宋体" panose="02010600030101010101" pitchFamily="2" charset="-122"/>
            </a:endParaRP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l="70528" t="47736" r="11761" b="33548"/>
          <a:stretch>
            <a:fillRect/>
          </a:stretch>
        </p:blipFill>
        <p:spPr bwMode="auto">
          <a:xfrm>
            <a:off x="5858735" y="995594"/>
            <a:ext cx="3179443" cy="1799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Group 47"/>
          <p:cNvGraphicFramePr/>
          <p:nvPr>
            <p:custDataLst>
              <p:tags r:id="rId3"/>
            </p:custDataLst>
          </p:nvPr>
        </p:nvGraphicFramePr>
        <p:xfrm>
          <a:off x="815503" y="2939742"/>
          <a:ext cx="7687133" cy="1903931"/>
        </p:xfrm>
        <a:graphic>
          <a:graphicData uri="http://schemas.openxmlformats.org/drawingml/2006/table">
            <a:tbl>
              <a:tblPr/>
              <a:tblGrid>
                <a:gridCol w="1402421"/>
                <a:gridCol w="1159471"/>
                <a:gridCol w="1495528"/>
                <a:gridCol w="1089642"/>
                <a:gridCol w="1258396"/>
                <a:gridCol w="1281675"/>
              </a:tblGrid>
              <a:tr h="89789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钢绞线程式</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股数</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线径</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外径</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单位强度</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2</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截面积</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1600" b="0"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总拉断力（</a:t>
                      </a: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线重</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3577">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7/2.2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6.6</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120</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26.6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29300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218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3577">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7/2.6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7.8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120</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37.2</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41000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318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3577">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7/3.0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9.0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120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49.5</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54500</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424</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 name="Rectangle 46"/>
          <p:cNvSpPr>
            <a:spLocks noChangeArrowheads="1"/>
          </p:cNvSpPr>
          <p:nvPr/>
        </p:nvSpPr>
        <p:spPr bwMode="auto">
          <a:xfrm>
            <a:off x="1772295" y="2553941"/>
            <a:ext cx="4572000" cy="33855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1-3  </a:t>
            </a:r>
            <a:r>
              <a:rPr lang="zh-CN" altLang="en-US" sz="1600" b="0" dirty="0">
                <a:solidFill>
                  <a:schemeClr val="tx1"/>
                </a:solidFill>
                <a:latin typeface="Times New Roman" panose="02020603050405020304" pitchFamily="18" charset="0"/>
                <a:ea typeface="宋体" panose="02010600030101010101" pitchFamily="2" charset="-122"/>
              </a:rPr>
              <a:t>钢绞线性能规格表</a:t>
            </a:r>
            <a:endParaRPr lang="zh-CN" altLang="en-US" sz="1600" b="0" dirty="0">
              <a:solidFill>
                <a:schemeClr val="tx1"/>
              </a:solidFill>
              <a:latin typeface="Times New Roman" panose="02020603050405020304" pitchFamily="18" charset="0"/>
              <a:ea typeface="宋体" panose="02010600030101010101" pitchFamily="2" charset="-122"/>
            </a:endParaRPr>
          </a:p>
        </p:txBody>
      </p:sp>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edg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32105" y="861695"/>
            <a:ext cx="4694555" cy="384556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30000"/>
              </a:lnSpc>
              <a:spcBef>
                <a:spcPct val="30000"/>
              </a:spcBef>
              <a:buFontTx/>
              <a:buNone/>
            </a:pPr>
            <a:r>
              <a:rPr lang="zh-CN" altLang="en-US" sz="2000" dirty="0">
                <a:ea typeface="宋体" panose="02010600030101010101" pitchFamily="2" charset="-122"/>
              </a:rPr>
              <a:t>⑵  拉线</a:t>
            </a:r>
            <a:endParaRPr lang="zh-CN" altLang="en-US" sz="2000" dirty="0">
              <a:ea typeface="宋体" panose="02010600030101010101" pitchFamily="2" charset="-122"/>
            </a:endParaRPr>
          </a:p>
          <a:p>
            <a:pPr>
              <a:lnSpc>
                <a:spcPct val="130000"/>
              </a:lnSpc>
              <a:spcBef>
                <a:spcPct val="30000"/>
              </a:spcBef>
              <a:buFontTx/>
              <a:buNone/>
            </a:pPr>
            <a:r>
              <a:rPr lang="zh-CN" altLang="en-US" sz="1600" dirty="0">
                <a:ea typeface="宋体" panose="02010600030101010101" pitchFamily="2" charset="-122"/>
              </a:rPr>
              <a:t>   </a:t>
            </a:r>
            <a:r>
              <a:rPr lang="zh-CN" altLang="en-US" sz="1800" dirty="0">
                <a:ea typeface="宋体" panose="02010600030101010101" pitchFamily="2" charset="-122"/>
              </a:rPr>
              <a:t>拉线是用于克服杆路上的不平衡张力，保障杆路的稳固性，增强机械强度的重要措施</a:t>
            </a:r>
            <a:endParaRPr lang="zh-CN" altLang="en-US" sz="1800" dirty="0">
              <a:ea typeface="宋体" panose="02010600030101010101" pitchFamily="2" charset="-122"/>
            </a:endParaRPr>
          </a:p>
          <a:p>
            <a:pPr>
              <a:lnSpc>
                <a:spcPct val="130000"/>
              </a:lnSpc>
              <a:spcBef>
                <a:spcPct val="30000"/>
              </a:spcBef>
              <a:buFontTx/>
              <a:buNone/>
            </a:pPr>
            <a:r>
              <a:rPr lang="zh-CN" altLang="en-US" sz="1800" dirty="0">
                <a:ea typeface="宋体" panose="02010600030101010101" pitchFamily="2" charset="-122"/>
              </a:rPr>
              <a:t>① 拉线的结构和种类</a:t>
            </a:r>
            <a:endParaRPr lang="zh-CN" altLang="en-US" sz="1800" dirty="0">
              <a:ea typeface="宋体" panose="02010600030101010101" pitchFamily="2" charset="-122"/>
            </a:endParaRPr>
          </a:p>
          <a:p>
            <a:pPr>
              <a:lnSpc>
                <a:spcPct val="130000"/>
              </a:lnSpc>
              <a:spcBef>
                <a:spcPct val="30000"/>
              </a:spcBef>
              <a:buFont typeface="Wingdings" panose="05000000000000000000" pitchFamily="2" charset="2"/>
              <a:buNone/>
            </a:pPr>
            <a:r>
              <a:rPr lang="en-US" altLang="zh-CN" sz="1800" dirty="0">
                <a:ea typeface="宋体" panose="02010600030101010101" pitchFamily="2" charset="-122"/>
              </a:rPr>
              <a:t>a.</a:t>
            </a:r>
            <a:r>
              <a:rPr lang="zh-CN" altLang="en-US" sz="1800" dirty="0">
                <a:solidFill>
                  <a:srgbClr val="FF0000"/>
                </a:solidFill>
                <a:ea typeface="宋体" panose="02010600030101010101" pitchFamily="2" charset="-122"/>
              </a:rPr>
              <a:t>上部拉线</a:t>
            </a:r>
            <a:r>
              <a:rPr lang="zh-CN" altLang="en-US" sz="1800" dirty="0">
                <a:ea typeface="宋体" panose="02010600030101010101" pitchFamily="2" charset="-122"/>
              </a:rPr>
              <a:t>包括</a:t>
            </a:r>
            <a:r>
              <a:rPr lang="zh-CN" altLang="en-US" sz="1800" dirty="0">
                <a:solidFill>
                  <a:srgbClr val="FF0000"/>
                </a:solidFill>
                <a:ea typeface="宋体" panose="02010600030101010101" pitchFamily="2" charset="-122"/>
              </a:rPr>
              <a:t>拉线上把</a:t>
            </a:r>
            <a:r>
              <a:rPr lang="zh-CN" altLang="en-US" sz="1800" dirty="0">
                <a:ea typeface="宋体" panose="02010600030101010101" pitchFamily="2" charset="-122"/>
              </a:rPr>
              <a:t>和</a:t>
            </a:r>
            <a:r>
              <a:rPr lang="zh-CN" altLang="en-US" sz="1800" dirty="0">
                <a:solidFill>
                  <a:srgbClr val="FF0000"/>
                </a:solidFill>
                <a:ea typeface="宋体" panose="02010600030101010101" pitchFamily="2" charset="-122"/>
              </a:rPr>
              <a:t>拉线中把</a:t>
            </a:r>
            <a:r>
              <a:rPr lang="zh-CN" altLang="en-US" sz="1800" dirty="0">
                <a:ea typeface="宋体" panose="02010600030101010101" pitchFamily="2" charset="-122"/>
              </a:rPr>
              <a:t>。</a:t>
            </a:r>
            <a:r>
              <a:rPr lang="zh-CN" altLang="en-US" sz="1800" dirty="0">
                <a:solidFill>
                  <a:srgbClr val="FF0000"/>
                </a:solidFill>
                <a:ea typeface="宋体" panose="02010600030101010101" pitchFamily="2" charset="-122"/>
              </a:rPr>
              <a:t>地锚拉线</a:t>
            </a:r>
            <a:r>
              <a:rPr lang="zh-CN" altLang="en-US" sz="1800" dirty="0">
                <a:ea typeface="宋体" panose="02010600030101010101" pitchFamily="2" charset="-122"/>
              </a:rPr>
              <a:t>包括拉线下把（地锚把）、地锚底把和地锚横木</a:t>
            </a:r>
            <a:endParaRPr lang="zh-CN" altLang="en-US" sz="1800" dirty="0">
              <a:ea typeface="宋体" panose="02010600030101010101" pitchFamily="2" charset="-122"/>
            </a:endParaRPr>
          </a:p>
          <a:p>
            <a:pPr>
              <a:lnSpc>
                <a:spcPct val="130000"/>
              </a:lnSpc>
              <a:spcBef>
                <a:spcPct val="30000"/>
              </a:spcBef>
              <a:buFont typeface="Wingdings" panose="05000000000000000000" pitchFamily="2" charset="2"/>
              <a:buNone/>
            </a:pPr>
            <a:r>
              <a:rPr lang="en-US" altLang="zh-CN" sz="1800" dirty="0">
                <a:ea typeface="宋体" panose="02010600030101010101" pitchFamily="2" charset="-122"/>
              </a:rPr>
              <a:t>b. </a:t>
            </a:r>
            <a:r>
              <a:rPr lang="zh-CN" altLang="en-US" sz="1800" dirty="0">
                <a:ea typeface="宋体" panose="02010600030101010101" pitchFamily="2" charset="-122"/>
              </a:rPr>
              <a:t>拉线主要采用</a:t>
            </a:r>
            <a:r>
              <a:rPr lang="en-US" altLang="zh-CN" sz="1800" dirty="0">
                <a:ea typeface="宋体" panose="02010600030101010101" pitchFamily="2" charset="-122"/>
              </a:rPr>
              <a:t>7</a:t>
            </a:r>
            <a:r>
              <a:rPr lang="zh-CN" altLang="en-US" sz="1800" dirty="0">
                <a:ea typeface="宋体" panose="02010600030101010101" pitchFamily="2" charset="-122"/>
              </a:rPr>
              <a:t>股镀锌钢绞线制作，通常有</a:t>
            </a:r>
            <a:r>
              <a:rPr lang="en-US" altLang="zh-CN" sz="1800" dirty="0">
                <a:ea typeface="宋体" panose="02010600030101010101" pitchFamily="2" charset="-122"/>
              </a:rPr>
              <a:t>7/2.0</a:t>
            </a:r>
            <a:r>
              <a:rPr lang="zh-CN" altLang="en-US" sz="1800" dirty="0">
                <a:ea typeface="宋体" panose="02010600030101010101" pitchFamily="2" charset="-122"/>
              </a:rPr>
              <a:t>、</a:t>
            </a:r>
            <a:r>
              <a:rPr lang="en-US" altLang="zh-CN" sz="1800" dirty="0">
                <a:ea typeface="宋体" panose="02010600030101010101" pitchFamily="2" charset="-122"/>
              </a:rPr>
              <a:t>7/2.2</a:t>
            </a:r>
            <a:r>
              <a:rPr lang="zh-CN" altLang="en-US" sz="1800" dirty="0">
                <a:ea typeface="宋体" panose="02010600030101010101" pitchFamily="2" charset="-122"/>
              </a:rPr>
              <a:t>、</a:t>
            </a:r>
            <a:r>
              <a:rPr lang="en-US" altLang="zh-CN" sz="1800" dirty="0">
                <a:ea typeface="宋体" panose="02010600030101010101" pitchFamily="2" charset="-122"/>
              </a:rPr>
              <a:t>7/2.6</a:t>
            </a:r>
            <a:r>
              <a:rPr lang="zh-CN" altLang="en-US" sz="1800" dirty="0">
                <a:ea typeface="宋体" panose="02010600030101010101" pitchFamily="2" charset="-122"/>
              </a:rPr>
              <a:t>、</a:t>
            </a:r>
            <a:r>
              <a:rPr lang="en-US" altLang="zh-CN" sz="1800" dirty="0">
                <a:ea typeface="宋体" panose="02010600030101010101" pitchFamily="2" charset="-122"/>
              </a:rPr>
              <a:t>7/3.0</a:t>
            </a:r>
            <a:r>
              <a:rPr lang="zh-CN" altLang="en-US" sz="1800" dirty="0">
                <a:ea typeface="宋体" panose="02010600030101010101" pitchFamily="2" charset="-122"/>
              </a:rPr>
              <a:t>四种规格</a:t>
            </a:r>
            <a:endParaRPr lang="zh-CN" altLang="en-US" sz="1800" dirty="0">
              <a:ea typeface="宋体" panose="02010600030101010101" pitchFamily="2" charset="-122"/>
            </a:endParaRPr>
          </a:p>
        </p:txBody>
      </p:sp>
      <p:pic>
        <p:nvPicPr>
          <p:cNvPr id="7" name="Picture 9" descr="100_149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58209" y="1467051"/>
            <a:ext cx="4205451" cy="294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06705" y="969645"/>
            <a:ext cx="6788785" cy="72009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zh-CN" altLang="en-US" sz="2000" dirty="0">
                <a:ea typeface="宋体" panose="02010600030101010101" pitchFamily="2" charset="-122"/>
              </a:rPr>
              <a:t>② </a:t>
            </a:r>
            <a:r>
              <a:rPr lang="zh-CN" altLang="en-US" sz="2000" dirty="0">
                <a:latin typeface="宋体" panose="02010600030101010101" pitchFamily="2" charset="-122"/>
                <a:ea typeface="宋体" panose="02010600030101010101" pitchFamily="2" charset="-122"/>
              </a:rPr>
              <a:t>拉线保护装置</a:t>
            </a:r>
            <a:endParaRPr lang="zh-CN" altLang="en-US" sz="2000" dirty="0">
              <a:latin typeface="宋体" panose="02010600030101010101" pitchFamily="2" charset="-122"/>
              <a:ea typeface="宋体" panose="02010600030101010101" pitchFamily="2" charset="-122"/>
            </a:endParaRPr>
          </a:p>
          <a:p>
            <a:pPr>
              <a:buFontTx/>
              <a:buNone/>
            </a:pPr>
            <a:r>
              <a:rPr lang="zh-CN" altLang="en-US" sz="2000" dirty="0">
                <a:latin typeface="宋体" panose="02010600030101010101" pitchFamily="2" charset="-122"/>
                <a:ea typeface="宋体" panose="02010600030101010101" pitchFamily="2" charset="-122"/>
              </a:rPr>
              <a:t>一般采用细圆木或竹筒，涂以红白相间的磁漆，使之醒目</a:t>
            </a:r>
            <a:endParaRPr lang="zh-CN" altLang="en-US" sz="2000" dirty="0">
              <a:latin typeface="宋体" panose="02010600030101010101" pitchFamily="2" charset="-122"/>
              <a:ea typeface="宋体" panose="02010600030101010101" pitchFamily="2" charset="-122"/>
            </a:endParaRPr>
          </a:p>
          <a:p>
            <a:pPr>
              <a:buFontTx/>
              <a:buNone/>
            </a:pPr>
            <a:endParaRPr lang="zh-CN" altLang="en-US" sz="2000" dirty="0">
              <a:latin typeface="宋体" panose="02010600030101010101" pitchFamily="2" charset="-122"/>
              <a:ea typeface="宋体" panose="02010600030101010101" pitchFamily="2" charset="-122"/>
            </a:endParaRP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l="30820" t="48691" r="49690" b="23654"/>
          <a:stretch>
            <a:fillRect/>
          </a:stretch>
        </p:blipFill>
        <p:spPr bwMode="auto">
          <a:xfrm>
            <a:off x="420276" y="1905868"/>
            <a:ext cx="4264628" cy="275347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a:hlinkClick r:id="" action="ppaction://noaction"/>
          </p:cNvPr>
          <p:cNvPicPr>
            <a:picLocks noChangeAspect="1" noChangeArrowheads="1"/>
          </p:cNvPicPr>
          <p:nvPr/>
        </p:nvPicPr>
        <p:blipFill>
          <a:blip r:embed="rId3" cstate="print">
            <a:extLst>
              <a:ext uri="{28A0092B-C50C-407E-A947-70E740481C1C}">
                <a14:useLocalDpi xmlns:a14="http://schemas.microsoft.com/office/drawing/2010/main" val="0"/>
              </a:ext>
            </a:extLst>
          </a:blip>
          <a:srcRect b="7256"/>
          <a:stretch>
            <a:fillRect/>
          </a:stretch>
        </p:blipFill>
        <p:spPr bwMode="auto">
          <a:xfrm>
            <a:off x="5184723" y="1901536"/>
            <a:ext cx="3883353" cy="239425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50044" y="999763"/>
            <a:ext cx="6246788" cy="497957"/>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fontScale="25000" lnSpcReduction="20000"/>
          </a:bodyPr>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30000"/>
              </a:lnSpc>
              <a:buFontTx/>
              <a:buNone/>
            </a:pPr>
            <a:r>
              <a:rPr lang="zh-CN" altLang="en-US" sz="8000" dirty="0">
                <a:latin typeface="宋体" panose="02010600030101010101" pitchFamily="2" charset="-122"/>
                <a:ea typeface="宋体" panose="02010600030101010101" pitchFamily="2" charset="-122"/>
              </a:rPr>
              <a:t>③高桩杆拉线</a:t>
            </a:r>
            <a:endParaRPr lang="zh-CN" altLang="en-US" sz="8000" dirty="0">
              <a:latin typeface="宋体" panose="02010600030101010101" pitchFamily="2" charset="-122"/>
              <a:ea typeface="宋体" panose="02010600030101010101" pitchFamily="2" charset="-122"/>
            </a:endParaRPr>
          </a:p>
          <a:p>
            <a:pPr>
              <a:lnSpc>
                <a:spcPct val="130000"/>
              </a:lnSpc>
              <a:spcBef>
                <a:spcPct val="30000"/>
              </a:spcBef>
              <a:buFontTx/>
              <a:buNone/>
            </a:pPr>
            <a:r>
              <a:rPr lang="zh-CN" altLang="en-US" dirty="0">
                <a:latin typeface="宋体" panose="02010600030101010101" pitchFamily="2" charset="-122"/>
                <a:ea typeface="宋体" panose="02010600030101010101" pitchFamily="2" charset="-122"/>
              </a:rPr>
              <a:t>  </a:t>
            </a:r>
            <a:endParaRPr lang="zh-CN" altLang="en-US" dirty="0">
              <a:latin typeface="宋体" panose="02010600030101010101" pitchFamily="2" charset="-122"/>
              <a:ea typeface="宋体" panose="02010600030101010101" pitchFamily="2" charset="-122"/>
            </a:endParaRPr>
          </a:p>
        </p:txBody>
      </p:sp>
      <p:sp>
        <p:nvSpPr>
          <p:cNvPr id="7" name="Text Box 9"/>
          <p:cNvSpPr txBox="1">
            <a:spLocks noChangeArrowheads="1"/>
          </p:cNvSpPr>
          <p:nvPr/>
        </p:nvSpPr>
        <p:spPr bwMode="auto">
          <a:xfrm>
            <a:off x="350004" y="1498039"/>
            <a:ext cx="3732897" cy="329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lnSpc>
                <a:spcPct val="130000"/>
              </a:lnSpc>
              <a:spcBef>
                <a:spcPct val="50000"/>
              </a:spcBef>
            </a:pPr>
            <a:r>
              <a:rPr lang="zh-CN" altLang="en-US" sz="1600" b="0" dirty="0">
                <a:solidFill>
                  <a:schemeClr val="tx1"/>
                </a:solidFill>
                <a:latin typeface="宋体" panose="02010600030101010101" pitchFamily="2" charset="-122"/>
                <a:ea typeface="宋体" panose="02010600030101010101" pitchFamily="2" charset="-122"/>
              </a:rPr>
              <a:t>用在不能直接做普通拉线的地方，如跨越道路等地方。做法是在道路的另一侧或不妨碍人行道旁立一根拉线桩，其倾斜角为</a:t>
            </a:r>
            <a:r>
              <a:rPr lang="en-US" altLang="zh-CN" sz="1600" b="0" dirty="0">
                <a:solidFill>
                  <a:schemeClr val="tx1"/>
                </a:solidFill>
                <a:latin typeface="宋体" panose="02010600030101010101" pitchFamily="2" charset="-122"/>
                <a:ea typeface="宋体" panose="02010600030101010101" pitchFamily="2" charset="-122"/>
              </a:rPr>
              <a:t>10°</a:t>
            </a:r>
            <a:r>
              <a:rPr lang="zh-CN" altLang="en-US" sz="1600" b="0" dirty="0">
                <a:solidFill>
                  <a:schemeClr val="tx1"/>
                </a:solidFill>
                <a:latin typeface="宋体" panose="02010600030101010101" pitchFamily="2" charset="-122"/>
                <a:ea typeface="宋体" panose="02010600030101010101" pitchFamily="2" charset="-122"/>
              </a:rPr>
              <a:t>～</a:t>
            </a:r>
            <a:r>
              <a:rPr lang="en-US" altLang="zh-CN" sz="1600" b="0" dirty="0">
                <a:solidFill>
                  <a:schemeClr val="tx1"/>
                </a:solidFill>
                <a:latin typeface="宋体" panose="02010600030101010101" pitchFamily="2" charset="-122"/>
                <a:ea typeface="宋体" panose="02010600030101010101" pitchFamily="2" charset="-122"/>
              </a:rPr>
              <a:t>20°</a:t>
            </a:r>
            <a:r>
              <a:rPr lang="zh-CN" altLang="en-US" sz="1600" b="0" dirty="0">
                <a:solidFill>
                  <a:schemeClr val="tx1"/>
                </a:solidFill>
                <a:latin typeface="宋体" panose="02010600030101010101" pitchFamily="2" charset="-122"/>
                <a:ea typeface="宋体" panose="02010600030101010101" pitchFamily="2" charset="-122"/>
              </a:rPr>
              <a:t>，在桩上做一条拉线埋入地下，此为副拉线，正拉线在电杆和拉线桩中间跨越道路等处，保证了一定的高度，一般不低于</a:t>
            </a:r>
            <a:r>
              <a:rPr lang="en-US" altLang="zh-CN" sz="1600" b="0" dirty="0">
                <a:solidFill>
                  <a:schemeClr val="tx1"/>
                </a:solidFill>
                <a:latin typeface="宋体" panose="02010600030101010101" pitchFamily="2" charset="-122"/>
                <a:ea typeface="宋体" panose="02010600030101010101" pitchFamily="2" charset="-122"/>
              </a:rPr>
              <a:t>6m</a:t>
            </a:r>
            <a:r>
              <a:rPr lang="zh-CN" altLang="en-US" sz="1600" b="0" dirty="0">
                <a:solidFill>
                  <a:schemeClr val="tx1"/>
                </a:solidFill>
                <a:latin typeface="宋体" panose="02010600030101010101" pitchFamily="2" charset="-122"/>
                <a:ea typeface="宋体" panose="02010600030101010101" pitchFamily="2" charset="-122"/>
              </a:rPr>
              <a:t>，不会妨碍车辆的通信。正拉线在高拉桩杆上的位置，应在副拉线装设位置下面约</a:t>
            </a:r>
            <a:r>
              <a:rPr lang="en-US" altLang="zh-CN" sz="1600" b="0" dirty="0">
                <a:solidFill>
                  <a:schemeClr val="tx1"/>
                </a:solidFill>
                <a:latin typeface="宋体" panose="02010600030101010101" pitchFamily="2" charset="-122"/>
                <a:ea typeface="宋体" panose="02010600030101010101" pitchFamily="2" charset="-122"/>
              </a:rPr>
              <a:t>20~30cm</a:t>
            </a:r>
            <a:r>
              <a:rPr lang="zh-CN" altLang="en-US" sz="1600" b="0" dirty="0">
                <a:solidFill>
                  <a:schemeClr val="tx1"/>
                </a:solidFill>
                <a:latin typeface="宋体" panose="02010600030101010101" pitchFamily="2" charset="-122"/>
                <a:ea typeface="宋体" panose="02010600030101010101" pitchFamily="2" charset="-122"/>
              </a:rPr>
              <a:t>；副拉线的距高比应尽可能等于</a:t>
            </a:r>
            <a:r>
              <a:rPr lang="en-US" altLang="zh-CN" sz="1600" b="0" dirty="0">
                <a:solidFill>
                  <a:schemeClr val="tx1"/>
                </a:solidFill>
                <a:latin typeface="宋体" panose="02010600030101010101" pitchFamily="2" charset="-122"/>
                <a:ea typeface="宋体" panose="02010600030101010101" pitchFamily="2" charset="-122"/>
              </a:rPr>
              <a:t>1</a:t>
            </a:r>
            <a:endParaRPr lang="zh-CN" altLang="en-US" sz="1600" b="0" dirty="0">
              <a:solidFill>
                <a:schemeClr val="tx1"/>
              </a:solidFill>
              <a:latin typeface="宋体" panose="02010600030101010101" pitchFamily="2" charset="-122"/>
              <a:ea typeface="宋体" panose="02010600030101010101" pitchFamily="2" charset="-122"/>
            </a:endParaRPr>
          </a:p>
        </p:txBody>
      </p:sp>
      <p:graphicFrame>
        <p:nvGraphicFramePr>
          <p:cNvPr id="9" name="Object 5"/>
          <p:cNvGraphicFramePr>
            <a:graphicFrameLocks noChangeAspect="1"/>
          </p:cNvGraphicFramePr>
          <p:nvPr/>
        </p:nvGraphicFramePr>
        <p:xfrm>
          <a:off x="4436591" y="1257064"/>
          <a:ext cx="4685187" cy="3536552"/>
        </p:xfrm>
        <a:graphic>
          <a:graphicData uri="http://schemas.openxmlformats.org/presentationml/2006/ole">
            <mc:AlternateContent xmlns:mc="http://schemas.openxmlformats.org/markup-compatibility/2006">
              <mc:Choice xmlns:v="urn:schemas-microsoft-com:vml" Requires="v">
                <p:oleObj spid="_x0000_s4101" name="AutoCAD Drawing" r:id="rId2" imgW="2762250" imgH="2085975" progId="AutoCAD.Drawing.16">
                  <p:embed/>
                </p:oleObj>
              </mc:Choice>
              <mc:Fallback>
                <p:oleObj name="AutoCAD Drawing" r:id="rId2" imgW="2762250" imgH="2085975" progId="AutoCAD.Drawing.16">
                  <p:embed/>
                  <p:pic>
                    <p:nvPicPr>
                      <p:cNvPr id="0"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6591" y="1257064"/>
                        <a:ext cx="4685187" cy="3536552"/>
                      </a:xfrm>
                      <a:prstGeom prst="rect">
                        <a:avLst/>
                      </a:prstGeom>
                      <a:noFill/>
                      <a:ln>
                        <a:noFill/>
                      </a:ln>
                      <a:effectLst/>
                    </p:spPr>
                  </p:pic>
                </p:oleObj>
              </mc:Fallback>
            </mc:AlternateContent>
          </a:graphicData>
        </a:graphic>
      </p:graphicFrame>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276" y="898261"/>
            <a:ext cx="7922777" cy="1263724"/>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30000"/>
              </a:lnSpc>
              <a:spcBef>
                <a:spcPct val="30000"/>
              </a:spcBef>
              <a:buFontTx/>
              <a:buNone/>
            </a:pPr>
            <a:r>
              <a:rPr lang="zh-CN" altLang="en-US" sz="2000" dirty="0">
                <a:ea typeface="宋体" panose="02010600030101010101" pitchFamily="2" charset="-122"/>
              </a:rPr>
              <a:t>⑶  吊线</a:t>
            </a:r>
            <a:endParaRPr lang="zh-CN" altLang="en-US" sz="2000" dirty="0">
              <a:ea typeface="宋体" panose="02010600030101010101" pitchFamily="2" charset="-122"/>
            </a:endParaRPr>
          </a:p>
          <a:p>
            <a:pPr>
              <a:lnSpc>
                <a:spcPct val="130000"/>
              </a:lnSpc>
              <a:spcBef>
                <a:spcPct val="30000"/>
              </a:spcBef>
              <a:buFontTx/>
              <a:buNone/>
            </a:pPr>
            <a:r>
              <a:rPr lang="zh-CN" altLang="en-US" sz="2000" dirty="0">
                <a:ea typeface="宋体" panose="02010600030101010101" pitchFamily="2" charset="-122"/>
              </a:rPr>
              <a:t>    光（电）缆线路有一定重量且机械强度较差，不能直接悬挂在杆路上，须另设吊线，用挂钩把光（电）缆挂在吊线上</a:t>
            </a:r>
            <a:endParaRPr lang="zh-CN" altLang="en-US" sz="2000" dirty="0">
              <a:ea typeface="宋体" panose="02010600030101010101" pitchFamily="2" charset="-122"/>
            </a:endParaRPr>
          </a:p>
          <a:p>
            <a:pPr>
              <a:buFontTx/>
              <a:buNone/>
            </a:pPr>
            <a:endParaRPr lang="zh-CN" altLang="en-US" sz="2000" dirty="0">
              <a:ea typeface="宋体" panose="02010600030101010101" pitchFamily="2" charset="-122"/>
            </a:endParaRPr>
          </a:p>
        </p:txBody>
      </p:sp>
      <p:grpSp>
        <p:nvGrpSpPr>
          <p:cNvPr id="7" name="Group 7"/>
          <p:cNvGrpSpPr/>
          <p:nvPr/>
        </p:nvGrpSpPr>
        <p:grpSpPr bwMode="auto">
          <a:xfrm>
            <a:off x="1700034" y="2409656"/>
            <a:ext cx="5841181" cy="2594018"/>
            <a:chOff x="476" y="1253"/>
            <a:chExt cx="4899" cy="2931"/>
          </a:xfrm>
        </p:grpSpPr>
        <p:pic>
          <p:nvPicPr>
            <p:cNvPr id="8"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t="9613" r="11557"/>
            <a:stretch>
              <a:fillRect/>
            </a:stretch>
          </p:blipFill>
          <p:spPr bwMode="auto">
            <a:xfrm>
              <a:off x="476" y="1253"/>
              <a:ext cx="4899" cy="29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AutoShape 6"/>
            <p:cNvSpPr>
              <a:spLocks noChangeArrowheads="1"/>
            </p:cNvSpPr>
            <p:nvPr/>
          </p:nvSpPr>
          <p:spPr bwMode="auto">
            <a:xfrm>
              <a:off x="3742" y="1797"/>
              <a:ext cx="952" cy="499"/>
            </a:xfrm>
            <a:prstGeom prst="wedgeRoundRectCallout">
              <a:avLst>
                <a:gd name="adj1" fmla="val -43750"/>
                <a:gd name="adj2" fmla="val 70000"/>
                <a:gd name="adj3" fmla="val 16667"/>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spcBef>
                  <a:spcPct val="50000"/>
                </a:spcBef>
              </a:pPr>
              <a:r>
                <a:rPr lang="zh-CN" altLang="en-US" sz="2400">
                  <a:solidFill>
                    <a:srgbClr val="FF3300"/>
                  </a:solidFill>
                  <a:ea typeface="宋体" panose="02010600030101010101" pitchFamily="2" charset="-122"/>
                </a:rPr>
                <a:t>吊线</a:t>
              </a:r>
              <a:endParaRPr lang="zh-CN" altLang="en-US" sz="2400">
                <a:solidFill>
                  <a:srgbClr val="FF3300"/>
                </a:solidFill>
                <a:ea typeface="宋体" panose="02010600030101010101" pitchFamily="2" charset="-122"/>
              </a:endParaRPr>
            </a:p>
          </p:txBody>
        </p:sp>
      </p:grpSp>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10"/>
          <p:cNvSpPr txBox="1">
            <a:spLocks noChangeArrowheads="1"/>
          </p:cNvSpPr>
          <p:nvPr/>
        </p:nvSpPr>
        <p:spPr bwMode="auto">
          <a:xfrm>
            <a:off x="394970" y="1005840"/>
            <a:ext cx="8229600" cy="38735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2.5.2 </a:t>
            </a:r>
            <a:r>
              <a:rPr lang="zh-CN" altLang="en-US" sz="2200" b="1" dirty="0">
                <a:solidFill>
                  <a:srgbClr val="660033"/>
                </a:solidFill>
                <a:latin typeface="黑体" panose="02010609060101010101" pitchFamily="49" charset="-122"/>
                <a:ea typeface="黑体" panose="02010609060101010101" pitchFamily="49" charset="-122"/>
              </a:rPr>
              <a:t>架空杆路查勘内容</a:t>
            </a:r>
            <a:endParaRPr lang="zh-CN" altLang="en-US" sz="2200" b="1" dirty="0">
              <a:ea typeface="宋体" panose="02010600030101010101" pitchFamily="2" charset="-122"/>
            </a:endParaRPr>
          </a:p>
          <a:p>
            <a:pPr marL="457200" indent="-457200">
              <a:lnSpc>
                <a:spcPct val="130000"/>
              </a:lnSpc>
              <a:buFontTx/>
              <a:buNone/>
            </a:pPr>
            <a:r>
              <a:rPr lang="zh-CN" altLang="en-US" sz="2000" dirty="0">
                <a:latin typeface="宋体" panose="02010600030101010101" pitchFamily="2" charset="-122"/>
                <a:ea typeface="宋体" panose="02010600030101010101" pitchFamily="2" charset="-122"/>
              </a:rPr>
              <a:t>⑴ 通信网络结构；</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None/>
            </a:pPr>
            <a:r>
              <a:rPr lang="zh-CN" altLang="en-US" sz="2000" dirty="0">
                <a:latin typeface="宋体" panose="02010600030101010101" pitchFamily="2" charset="-122"/>
                <a:ea typeface="宋体" panose="02010600030101010101" pitchFamily="2" charset="-122"/>
              </a:rPr>
              <a:t>⑵ 建设段落，连接站址数；</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None/>
            </a:pPr>
            <a:r>
              <a:rPr lang="zh-CN" altLang="en-US" sz="2000" dirty="0">
                <a:latin typeface="宋体" panose="02010600030101010101" pitchFamily="2" charset="-122"/>
                <a:ea typeface="宋体" panose="02010600030101010101" pitchFamily="2" charset="-122"/>
              </a:rPr>
              <a:t>⑶ 基本杆高；</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None/>
            </a:pPr>
            <a:r>
              <a:rPr lang="zh-CN" altLang="en-US" sz="2000" dirty="0">
                <a:latin typeface="宋体" panose="02010600030101010101" pitchFamily="2" charset="-122"/>
                <a:ea typeface="宋体" panose="02010600030101010101" pitchFamily="2" charset="-122"/>
              </a:rPr>
              <a:t>⑷ 线路容量的选择；</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None/>
            </a:pPr>
            <a:r>
              <a:rPr lang="zh-CN" altLang="en-US" sz="2000" dirty="0">
                <a:latin typeface="宋体" panose="02010600030101010101" pitchFamily="2" charset="-122"/>
                <a:ea typeface="宋体" panose="02010600030101010101" pitchFamily="2" charset="-122"/>
              </a:rPr>
              <a:t>⑸ 支线线路连接方案；</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None/>
            </a:pPr>
            <a:r>
              <a:rPr lang="zh-CN" altLang="en-US" sz="2000" dirty="0">
                <a:latin typeface="宋体" panose="02010600030101010101" pitchFamily="2" charset="-122"/>
                <a:ea typeface="宋体" panose="02010600030101010101" pitchFamily="2" charset="-122"/>
              </a:rPr>
              <a:t>⑹ 主要障碍的处理方式；</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None/>
            </a:pPr>
            <a:r>
              <a:rPr lang="zh-CN" altLang="en-US" sz="2000" dirty="0">
                <a:latin typeface="宋体" panose="02010600030101010101" pitchFamily="2" charset="-122"/>
                <a:ea typeface="宋体" panose="02010600030101010101" pitchFamily="2" charset="-122"/>
              </a:rPr>
              <a:t>⑺ 明确基本杆距、拉线程式的选择原则、拉线上把中把固定方式等</a:t>
            </a:r>
            <a:endParaRPr lang="zh-CN" altLang="en-US" sz="2000" dirty="0">
              <a:latin typeface="宋体" panose="02010600030101010101" pitchFamily="2" charset="-122"/>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54660" y="895985"/>
            <a:ext cx="8684260" cy="393509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2.5.3 </a:t>
            </a:r>
            <a:r>
              <a:rPr lang="zh-CN" altLang="en-US" sz="2200" b="1" dirty="0">
                <a:solidFill>
                  <a:srgbClr val="660033"/>
                </a:solidFill>
                <a:latin typeface="黑体" panose="02010609060101010101" pitchFamily="49" charset="-122"/>
                <a:ea typeface="黑体" panose="02010609060101010101" pitchFamily="49" charset="-122"/>
              </a:rPr>
              <a:t>查勘要求</a:t>
            </a:r>
            <a:endParaRPr lang="zh-CN" altLang="en-US" sz="2200" b="1" dirty="0">
              <a:solidFill>
                <a:srgbClr val="660033"/>
              </a:solidFill>
              <a:latin typeface="黑体" panose="02010609060101010101" pitchFamily="49" charset="-122"/>
              <a:ea typeface="黑体" panose="02010609060101010101" pitchFamily="49" charset="-122"/>
            </a:endParaRPr>
          </a:p>
          <a:p>
            <a:pPr marL="457200" indent="-457200">
              <a:lnSpc>
                <a:spcPct val="130000"/>
              </a:lnSpc>
              <a:buFontTx/>
              <a:buNone/>
            </a:pPr>
            <a:r>
              <a:rPr lang="zh-CN" altLang="en-US" sz="2000" dirty="0">
                <a:latin typeface="宋体" panose="02010600030101010101" pitchFamily="2" charset="-122"/>
                <a:ea typeface="宋体" panose="02010600030101010101" pitchFamily="2" charset="-122"/>
              </a:rPr>
              <a:t>⑴ 总体要求</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AutoNum type="circleNumDbPlain"/>
            </a:pPr>
            <a:r>
              <a:rPr lang="zh-CN" altLang="en-US" sz="2000" dirty="0">
                <a:latin typeface="宋体" panose="02010600030101010101" pitchFamily="2" charset="-122"/>
                <a:ea typeface="宋体" panose="02010600030101010101" pitchFamily="2" charset="-122"/>
              </a:rPr>
              <a:t>根据已确定的建设方案，会同建设方、公路、规划、城建等部门拟定杆路路由，了解沿线地形、地貌、建筑设施等情况</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AutoNum type="circleNumDbPlain"/>
            </a:pPr>
            <a:r>
              <a:rPr lang="zh-CN" altLang="en-US" sz="2000" dirty="0">
                <a:latin typeface="宋体" panose="02010600030101010101" pitchFamily="2" charset="-122"/>
                <a:ea typeface="宋体" panose="02010600030101010101" pitchFamily="2" charset="-122"/>
              </a:rPr>
              <a:t>平坦及直线段落可用测距仪测量长度，拐角处钉桩，段落内部存在主要障碍时，需要增设障碍桩，并需测量障碍离桩的位置以及障碍宽度，以方便今后排列杆子时能避开障碍</a:t>
            </a:r>
            <a:endParaRPr lang="zh-CN" altLang="en-US" sz="2000" dirty="0">
              <a:latin typeface="宋体" panose="02010600030101010101" pitchFamily="2" charset="-122"/>
              <a:ea typeface="宋体" panose="02010600030101010101" pitchFamily="2" charset="-122"/>
            </a:endParaRPr>
          </a:p>
          <a:p>
            <a:pPr marL="457200" indent="-457200">
              <a:lnSpc>
                <a:spcPct val="130000"/>
              </a:lnSpc>
              <a:buFontTx/>
              <a:buAutoNum type="circleNumDbPlain"/>
            </a:pPr>
            <a:r>
              <a:rPr lang="zh-CN" altLang="en-US" sz="2000" dirty="0">
                <a:latin typeface="宋体" panose="02010600030101010101" pitchFamily="2" charset="-122"/>
                <a:ea typeface="宋体" panose="02010600030101010101" pitchFamily="2" charset="-122"/>
              </a:rPr>
              <a:t>拐弯较多及地形复杂段落采用拖地链方式测量</a:t>
            </a:r>
            <a:endParaRPr lang="zh-CN" altLang="en-US" sz="2000" dirty="0">
              <a:latin typeface="宋体" panose="02010600030101010101" pitchFamily="2" charset="-122"/>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7" name="Rectangle 4"/>
          <p:cNvSpPr txBox="1">
            <a:spLocks noChangeArrowheads="1"/>
          </p:cNvSpPr>
          <p:nvPr/>
        </p:nvSpPr>
        <p:spPr bwMode="auto">
          <a:xfrm>
            <a:off x="538480" y="969645"/>
            <a:ext cx="8515985" cy="371919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lnSpc>
                <a:spcPct val="140000"/>
              </a:lnSpc>
              <a:buFontTx/>
              <a:buAutoNum type="circleNumDbPlain" startAt="4"/>
            </a:pPr>
            <a:r>
              <a:rPr lang="zh-CN" altLang="en-US" sz="2000" dirty="0">
                <a:latin typeface="宋体" panose="02010600030101010101" pitchFamily="2" charset="-122"/>
                <a:ea typeface="宋体" panose="02010600030101010101" pitchFamily="2" charset="-122"/>
              </a:rPr>
              <a:t>在拟定的路由上如遇到穿越公路、铁路、涵洞时，要求绘出涵洞的立面图，标明线路的安装位置</a:t>
            </a:r>
            <a:endParaRPr lang="zh-CN" altLang="en-US" sz="2000" dirty="0">
              <a:latin typeface="宋体" panose="02010600030101010101" pitchFamily="2" charset="-122"/>
              <a:ea typeface="宋体" panose="02010600030101010101" pitchFamily="2" charset="-122"/>
            </a:endParaRPr>
          </a:p>
          <a:p>
            <a:pPr marL="457200" indent="-457200">
              <a:lnSpc>
                <a:spcPct val="140000"/>
              </a:lnSpc>
              <a:buFontTx/>
              <a:buAutoNum type="circleNumDbPlain" startAt="4"/>
            </a:pPr>
            <a:r>
              <a:rPr lang="zh-CN" altLang="en-US" sz="2000" dirty="0">
                <a:ea typeface="宋体" panose="02010600030101010101" pitchFamily="2" charset="-122"/>
              </a:rPr>
              <a:t>测出线路跨越河流、公路等处跨距，并根据跨距、公路路面高度、河流最高水位等确定特殊杆位的杆高，并在勘察草图中注明跨越档、飞线段落正辅吊线程式、拉线设置规格与位置</a:t>
            </a:r>
            <a:endParaRPr lang="zh-CN" altLang="en-US" sz="2000" dirty="0">
              <a:ea typeface="宋体" panose="02010600030101010101" pitchFamily="2" charset="-122"/>
            </a:endParaRPr>
          </a:p>
          <a:p>
            <a:pPr marL="457200" indent="-457200">
              <a:lnSpc>
                <a:spcPct val="140000"/>
              </a:lnSpc>
              <a:buFontTx/>
              <a:buAutoNum type="circleNumDbPlain" startAt="4"/>
            </a:pPr>
            <a:r>
              <a:rPr lang="zh-CN" altLang="en-US" sz="2000" dirty="0">
                <a:ea typeface="宋体" panose="02010600030101010101" pitchFamily="2" charset="-122"/>
              </a:rPr>
              <a:t>对杆路沿线与电力线或其他通信线等发生交越时，应提出本线路与电力线等交越的保护方案</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66725" y="969645"/>
            <a:ext cx="3486785" cy="49784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2.5.4 </a:t>
            </a:r>
            <a:r>
              <a:rPr lang="zh-CN" altLang="en-US" sz="2200" b="1" dirty="0">
                <a:solidFill>
                  <a:srgbClr val="660033"/>
                </a:solidFill>
                <a:latin typeface="黑体" panose="02010609060101010101" pitchFamily="49" charset="-122"/>
                <a:ea typeface="黑体" panose="02010609060101010101" pitchFamily="49" charset="-122"/>
              </a:rPr>
              <a:t>架空杆路勘察流程</a:t>
            </a:r>
            <a:endParaRPr lang="zh-CN" altLang="en-US" sz="2200" b="1" dirty="0">
              <a:solidFill>
                <a:srgbClr val="660033"/>
              </a:solidFill>
              <a:latin typeface="黑体" panose="02010609060101010101" pitchFamily="49" charset="-122"/>
              <a:ea typeface="黑体" panose="02010609060101010101" pitchFamily="49" charset="-122"/>
            </a:endParaRPr>
          </a:p>
        </p:txBody>
      </p:sp>
      <p:grpSp>
        <p:nvGrpSpPr>
          <p:cNvPr id="7" name="Group 27"/>
          <p:cNvGrpSpPr/>
          <p:nvPr/>
        </p:nvGrpSpPr>
        <p:grpSpPr bwMode="auto">
          <a:xfrm>
            <a:off x="1052215" y="1467717"/>
            <a:ext cx="7704856" cy="3373310"/>
            <a:chOff x="295" y="890"/>
            <a:chExt cx="5216" cy="2495"/>
          </a:xfrm>
        </p:grpSpPr>
        <p:sp>
          <p:nvSpPr>
            <p:cNvPr id="8" name="AutoShape 6"/>
            <p:cNvSpPr>
              <a:spLocks noChangeArrowheads="1"/>
            </p:cNvSpPr>
            <p:nvPr/>
          </p:nvSpPr>
          <p:spPr bwMode="auto">
            <a:xfrm>
              <a:off x="2277" y="987"/>
              <a:ext cx="1460" cy="456"/>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a:solidFill>
                    <a:schemeClr val="tx1"/>
                  </a:solidFill>
                  <a:latin typeface="仿宋_GB2312" pitchFamily="49" charset="-122"/>
                  <a:ea typeface="仿宋_GB2312" pitchFamily="49" charset="-122"/>
                </a:rPr>
                <a:t>收集、核对现有网路资料</a:t>
              </a:r>
              <a:endParaRPr lang="zh-CN" altLang="en-US" sz="1600">
                <a:solidFill>
                  <a:schemeClr val="tx1"/>
                </a:solidFill>
                <a:effectLst>
                  <a:outerShdw blurRad="38100" dist="38100" dir="2700000" algn="tl">
                    <a:srgbClr val="C0C0C0"/>
                  </a:outerShdw>
                </a:effectLst>
                <a:ea typeface="宋体" panose="02010600030101010101" pitchFamily="2" charset="-122"/>
              </a:endParaRPr>
            </a:p>
          </p:txBody>
        </p:sp>
        <p:sp>
          <p:nvSpPr>
            <p:cNvPr id="9" name="AutoShape 7"/>
            <p:cNvSpPr>
              <a:spLocks noChangeArrowheads="1"/>
            </p:cNvSpPr>
            <p:nvPr/>
          </p:nvSpPr>
          <p:spPr bwMode="auto">
            <a:xfrm>
              <a:off x="340" y="1855"/>
              <a:ext cx="1652" cy="532"/>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dirty="0">
                  <a:solidFill>
                    <a:schemeClr val="tx1"/>
                  </a:solidFill>
                  <a:latin typeface="仿宋_GB2312" pitchFamily="49" charset="-122"/>
                  <a:ea typeface="仿宋_GB2312" pitchFamily="49" charset="-122"/>
                </a:rPr>
                <a:t>根据传输组网方案确定本工程线路建设方案</a:t>
              </a:r>
              <a:endParaRPr lang="zh-CN" altLang="en-US" sz="1600" dirty="0">
                <a:solidFill>
                  <a:schemeClr val="tx1"/>
                </a:solidFill>
                <a:effectLst>
                  <a:outerShdw blurRad="38100" dist="38100" dir="2700000" algn="tl">
                    <a:srgbClr val="C0C0C0"/>
                  </a:outerShdw>
                </a:effectLst>
                <a:ea typeface="宋体" panose="02010600030101010101" pitchFamily="2" charset="-122"/>
              </a:endParaRPr>
            </a:p>
          </p:txBody>
        </p:sp>
        <p:sp>
          <p:nvSpPr>
            <p:cNvPr id="10" name="AutoShape 8"/>
            <p:cNvSpPr>
              <a:spLocks noChangeArrowheads="1"/>
            </p:cNvSpPr>
            <p:nvPr/>
          </p:nvSpPr>
          <p:spPr bwMode="auto">
            <a:xfrm>
              <a:off x="2405" y="1851"/>
              <a:ext cx="1357" cy="649"/>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a:solidFill>
                    <a:schemeClr val="tx1"/>
                  </a:solidFill>
                  <a:latin typeface="仿宋_GB2312" pitchFamily="49" charset="-122"/>
                  <a:ea typeface="仿宋_GB2312" pitchFamily="49" charset="-122"/>
                </a:rPr>
                <a:t>与局方一起探讨确定线路总体路由及总体建筑方式</a:t>
              </a:r>
              <a:endParaRPr lang="zh-CN" altLang="en-US" sz="1600">
                <a:solidFill>
                  <a:schemeClr val="tx1"/>
                </a:solidFill>
                <a:effectLst>
                  <a:outerShdw blurRad="38100" dist="38100" dir="2700000" algn="tl">
                    <a:srgbClr val="C0C0C0"/>
                  </a:outerShdw>
                </a:effectLst>
                <a:ea typeface="宋体" panose="02010600030101010101" pitchFamily="2" charset="-122"/>
              </a:endParaRPr>
            </a:p>
          </p:txBody>
        </p:sp>
        <p:sp>
          <p:nvSpPr>
            <p:cNvPr id="11" name="AutoShape 9"/>
            <p:cNvSpPr>
              <a:spLocks noChangeArrowheads="1"/>
            </p:cNvSpPr>
            <p:nvPr/>
          </p:nvSpPr>
          <p:spPr bwMode="auto">
            <a:xfrm>
              <a:off x="3971" y="1941"/>
              <a:ext cx="1252" cy="445"/>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a:solidFill>
                    <a:schemeClr val="tx1"/>
                  </a:solidFill>
                  <a:latin typeface="仿宋_GB2312" pitchFamily="49" charset="-122"/>
                  <a:ea typeface="仿宋_GB2312" pitchFamily="49" charset="-122"/>
                </a:rPr>
                <a:t>在局方配合下进行实地查勘</a:t>
              </a:r>
              <a:endParaRPr lang="zh-CN" altLang="en-US" sz="1600">
                <a:solidFill>
                  <a:schemeClr val="tx1"/>
                </a:solidFill>
                <a:effectLst>
                  <a:outerShdw blurRad="38100" dist="38100" dir="2700000" algn="tl">
                    <a:srgbClr val="C0C0C0"/>
                  </a:outerShdw>
                </a:effectLst>
                <a:ea typeface="宋体" panose="02010600030101010101" pitchFamily="2" charset="-122"/>
              </a:endParaRPr>
            </a:p>
          </p:txBody>
        </p:sp>
        <p:sp>
          <p:nvSpPr>
            <p:cNvPr id="12" name="Line 10"/>
            <p:cNvSpPr>
              <a:spLocks noChangeShapeType="1"/>
            </p:cNvSpPr>
            <p:nvPr/>
          </p:nvSpPr>
          <p:spPr bwMode="auto">
            <a:xfrm>
              <a:off x="2029" y="1139"/>
              <a:ext cx="20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13" name="Line 11"/>
            <p:cNvSpPr>
              <a:spLocks noChangeShapeType="1"/>
            </p:cNvSpPr>
            <p:nvPr/>
          </p:nvSpPr>
          <p:spPr bwMode="auto">
            <a:xfrm>
              <a:off x="4638" y="1406"/>
              <a:ext cx="0" cy="17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14" name="Line 12"/>
            <p:cNvSpPr>
              <a:spLocks noChangeShapeType="1"/>
            </p:cNvSpPr>
            <p:nvPr/>
          </p:nvSpPr>
          <p:spPr bwMode="auto">
            <a:xfrm>
              <a:off x="1090" y="1584"/>
              <a:ext cx="0" cy="26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15" name="Line 13"/>
            <p:cNvSpPr>
              <a:spLocks noChangeShapeType="1"/>
            </p:cNvSpPr>
            <p:nvPr/>
          </p:nvSpPr>
          <p:spPr bwMode="auto">
            <a:xfrm>
              <a:off x="1986" y="2072"/>
              <a:ext cx="31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16" name="Line 14"/>
            <p:cNvSpPr>
              <a:spLocks noChangeShapeType="1"/>
            </p:cNvSpPr>
            <p:nvPr/>
          </p:nvSpPr>
          <p:spPr bwMode="auto">
            <a:xfrm>
              <a:off x="3732" y="2072"/>
              <a:ext cx="20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17" name="Line 15"/>
            <p:cNvSpPr>
              <a:spLocks noChangeShapeType="1"/>
            </p:cNvSpPr>
            <p:nvPr/>
          </p:nvSpPr>
          <p:spPr bwMode="auto">
            <a:xfrm>
              <a:off x="4638" y="2386"/>
              <a:ext cx="0" cy="26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18" name="Line 16"/>
            <p:cNvSpPr>
              <a:spLocks noChangeShapeType="1"/>
            </p:cNvSpPr>
            <p:nvPr/>
          </p:nvSpPr>
          <p:spPr bwMode="auto">
            <a:xfrm flipH="1">
              <a:off x="1090" y="2653"/>
              <a:ext cx="354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19" name="Line 17"/>
            <p:cNvSpPr>
              <a:spLocks noChangeShapeType="1"/>
            </p:cNvSpPr>
            <p:nvPr/>
          </p:nvSpPr>
          <p:spPr bwMode="auto">
            <a:xfrm>
              <a:off x="1090" y="2653"/>
              <a:ext cx="0" cy="26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20" name="Line 18"/>
            <p:cNvSpPr>
              <a:spLocks noChangeShapeType="1"/>
            </p:cNvSpPr>
            <p:nvPr/>
          </p:nvSpPr>
          <p:spPr bwMode="auto">
            <a:xfrm>
              <a:off x="1695" y="3157"/>
              <a:ext cx="291"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21" name="Line 19"/>
            <p:cNvSpPr>
              <a:spLocks noChangeShapeType="1"/>
            </p:cNvSpPr>
            <p:nvPr/>
          </p:nvSpPr>
          <p:spPr bwMode="auto">
            <a:xfrm>
              <a:off x="3150" y="3157"/>
              <a:ext cx="41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22" name="Line 20"/>
            <p:cNvSpPr>
              <a:spLocks noChangeShapeType="1"/>
            </p:cNvSpPr>
            <p:nvPr/>
          </p:nvSpPr>
          <p:spPr bwMode="auto">
            <a:xfrm>
              <a:off x="3699" y="1139"/>
              <a:ext cx="31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23" name="Line 21"/>
            <p:cNvSpPr>
              <a:spLocks noChangeShapeType="1"/>
            </p:cNvSpPr>
            <p:nvPr/>
          </p:nvSpPr>
          <p:spPr bwMode="auto">
            <a:xfrm flipH="1">
              <a:off x="1090" y="1584"/>
              <a:ext cx="354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lgn="ctr"/>
              <a:endParaRPr lang="zh-CN" altLang="en-US" sz="1600"/>
            </a:p>
          </p:txBody>
        </p:sp>
        <p:sp>
          <p:nvSpPr>
            <p:cNvPr id="24" name="AutoShape 22"/>
            <p:cNvSpPr>
              <a:spLocks noChangeArrowheads="1"/>
            </p:cNvSpPr>
            <p:nvPr/>
          </p:nvSpPr>
          <p:spPr bwMode="auto">
            <a:xfrm>
              <a:off x="295" y="890"/>
              <a:ext cx="1697" cy="531"/>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a:solidFill>
                    <a:schemeClr val="tx1"/>
                  </a:solidFill>
                  <a:latin typeface="仿宋_GB2312" pitchFamily="49" charset="-122"/>
                  <a:ea typeface="仿宋_GB2312" pitchFamily="49" charset="-122"/>
                </a:rPr>
                <a:t>与局方就工程总体情况及工作安排进行交流</a:t>
              </a:r>
              <a:endParaRPr lang="zh-CN" altLang="en-US" sz="1600">
                <a:solidFill>
                  <a:schemeClr val="tx1"/>
                </a:solidFill>
                <a:effectLst>
                  <a:outerShdw blurRad="38100" dist="38100" dir="2700000" algn="tl">
                    <a:srgbClr val="C0C0C0"/>
                  </a:outerShdw>
                </a:effectLst>
                <a:ea typeface="宋体" panose="02010600030101010101" pitchFamily="2" charset="-122"/>
              </a:endParaRPr>
            </a:p>
          </p:txBody>
        </p:sp>
        <p:sp>
          <p:nvSpPr>
            <p:cNvPr id="25" name="AutoShape 23"/>
            <p:cNvSpPr>
              <a:spLocks noChangeArrowheads="1"/>
            </p:cNvSpPr>
            <p:nvPr/>
          </p:nvSpPr>
          <p:spPr bwMode="auto">
            <a:xfrm>
              <a:off x="4018" y="890"/>
              <a:ext cx="1493" cy="533"/>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a:solidFill>
                    <a:schemeClr val="tx1"/>
                  </a:solidFill>
                  <a:latin typeface="仿宋_GB2312" pitchFamily="49" charset="-122"/>
                  <a:ea typeface="仿宋_GB2312" pitchFamily="49" charset="-122"/>
                </a:rPr>
                <a:t>与传输设备人员一起探讨工程传输方案</a:t>
              </a:r>
              <a:endParaRPr lang="zh-CN" altLang="en-US" sz="1600">
                <a:solidFill>
                  <a:schemeClr val="tx1"/>
                </a:solidFill>
                <a:effectLst>
                  <a:outerShdw blurRad="38100" dist="38100" dir="2700000" algn="tl">
                    <a:srgbClr val="C0C0C0"/>
                  </a:outerShdw>
                </a:effectLst>
                <a:ea typeface="宋体" panose="02010600030101010101" pitchFamily="2" charset="-122"/>
              </a:endParaRPr>
            </a:p>
          </p:txBody>
        </p:sp>
        <p:sp>
          <p:nvSpPr>
            <p:cNvPr id="26" name="AutoShape 24"/>
            <p:cNvSpPr>
              <a:spLocks noChangeArrowheads="1"/>
            </p:cNvSpPr>
            <p:nvPr/>
          </p:nvSpPr>
          <p:spPr bwMode="auto">
            <a:xfrm>
              <a:off x="385" y="2940"/>
              <a:ext cx="1356" cy="445"/>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a:solidFill>
                    <a:schemeClr val="tx1"/>
                  </a:solidFill>
                  <a:latin typeface="仿宋_GB2312" pitchFamily="49" charset="-122"/>
                  <a:ea typeface="仿宋_GB2312" pitchFamily="49" charset="-122"/>
                </a:rPr>
                <a:t>根据勘查情况，得出初步的调研纪要</a:t>
              </a:r>
              <a:endParaRPr lang="zh-CN" altLang="en-US" sz="1600">
                <a:solidFill>
                  <a:schemeClr val="tx1"/>
                </a:solidFill>
                <a:effectLst>
                  <a:outerShdw blurRad="38100" dist="38100" dir="2700000" algn="tl">
                    <a:srgbClr val="C0C0C0"/>
                  </a:outerShdw>
                </a:effectLst>
                <a:ea typeface="宋体" panose="02010600030101010101" pitchFamily="2" charset="-122"/>
              </a:endParaRPr>
            </a:p>
          </p:txBody>
        </p:sp>
        <p:sp>
          <p:nvSpPr>
            <p:cNvPr id="27" name="AutoShape 25"/>
            <p:cNvSpPr>
              <a:spLocks noChangeArrowheads="1"/>
            </p:cNvSpPr>
            <p:nvPr/>
          </p:nvSpPr>
          <p:spPr bwMode="auto">
            <a:xfrm>
              <a:off x="2054" y="2940"/>
              <a:ext cx="1148" cy="445"/>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dirty="0">
                  <a:solidFill>
                    <a:schemeClr val="tx1"/>
                  </a:solidFill>
                  <a:latin typeface="仿宋_GB2312" pitchFamily="49" charset="-122"/>
                  <a:ea typeface="仿宋_GB2312" pitchFamily="49" charset="-122"/>
                </a:rPr>
                <a:t>就调研结果向局方汇报</a:t>
              </a:r>
              <a:endParaRPr lang="zh-CN" altLang="en-US" sz="1600" dirty="0">
                <a:solidFill>
                  <a:schemeClr val="tx1"/>
                </a:solidFill>
                <a:effectLst>
                  <a:outerShdw blurRad="38100" dist="38100" dir="2700000" algn="tl">
                    <a:srgbClr val="C0C0C0"/>
                  </a:outerShdw>
                </a:effectLst>
                <a:ea typeface="宋体" panose="02010600030101010101" pitchFamily="2" charset="-122"/>
              </a:endParaRPr>
            </a:p>
          </p:txBody>
        </p:sp>
        <p:sp>
          <p:nvSpPr>
            <p:cNvPr id="28" name="AutoShape 26"/>
            <p:cNvSpPr>
              <a:spLocks noChangeArrowheads="1"/>
            </p:cNvSpPr>
            <p:nvPr/>
          </p:nvSpPr>
          <p:spPr bwMode="auto">
            <a:xfrm>
              <a:off x="3619" y="2940"/>
              <a:ext cx="1529" cy="445"/>
            </a:xfrm>
            <a:prstGeom prst="roundRect">
              <a:avLst>
                <a:gd name="adj" fmla="val 16667"/>
              </a:avLst>
            </a:prstGeom>
            <a:solidFill>
              <a:srgbClr val="FFFFFF"/>
            </a:solidFill>
            <a:ln w="9525">
              <a:solidFill>
                <a:srgbClr val="000000"/>
              </a:solidFill>
              <a:round/>
            </a:ln>
          </p:spPr>
          <p:txBody>
            <a:bodyPr/>
            <a:lstStyle/>
            <a:p>
              <a:pPr algn="ctr" eaLnBrk="1" hangingPunct="1">
                <a:spcBef>
                  <a:spcPct val="50000"/>
                </a:spcBef>
                <a:defRPr/>
              </a:pPr>
              <a:r>
                <a:rPr lang="zh-CN" altLang="en-US" sz="1600" b="0">
                  <a:solidFill>
                    <a:schemeClr val="tx1"/>
                  </a:solidFill>
                  <a:latin typeface="仿宋_GB2312" pitchFamily="49" charset="-122"/>
                  <a:ea typeface="仿宋_GB2312" pitchFamily="49" charset="-122"/>
                </a:rPr>
                <a:t>局方签字、形成最终纪要、设计院存档</a:t>
              </a:r>
              <a:endParaRPr lang="zh-CN" altLang="en-US" sz="1600">
                <a:solidFill>
                  <a:schemeClr val="tx1"/>
                </a:solidFill>
                <a:effectLst>
                  <a:outerShdw blurRad="38100" dist="38100" dir="2700000" algn="tl">
                    <a:srgbClr val="C0C0C0"/>
                  </a:outerShdw>
                </a:effectLst>
                <a:ea typeface="宋体" panose="02010600030101010101" pitchFamily="2" charset="-122"/>
              </a:endParaRPr>
            </a:p>
          </p:txBody>
        </p:sp>
      </p:gr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548640" y="970280"/>
            <a:ext cx="8229600" cy="37211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2.5.5 </a:t>
            </a:r>
            <a:r>
              <a:rPr lang="zh-CN" altLang="en-US" sz="2200" b="1" dirty="0">
                <a:solidFill>
                  <a:srgbClr val="660033"/>
                </a:solidFill>
                <a:latin typeface="黑体" panose="02010609060101010101" pitchFamily="49" charset="-122"/>
                <a:ea typeface="黑体" panose="02010609060101010101" pitchFamily="49" charset="-122"/>
              </a:rPr>
              <a:t>记录要求</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40000"/>
              </a:lnSpc>
              <a:spcBef>
                <a:spcPct val="40000"/>
              </a:spcBef>
              <a:buFontTx/>
              <a:buNone/>
            </a:pPr>
            <a:r>
              <a:rPr lang="zh-CN" altLang="en-US" dirty="0">
                <a:ea typeface="宋体" panose="02010600030101010101" pitchFamily="2" charset="-122"/>
              </a:rPr>
              <a:t>         </a:t>
            </a:r>
            <a:r>
              <a:rPr lang="zh-CN" altLang="en-US" sz="2800" dirty="0">
                <a:ea typeface="宋体" panose="02010600030101010101" pitchFamily="2" charset="-122"/>
              </a:rPr>
              <a:t>  </a:t>
            </a:r>
            <a:r>
              <a:rPr lang="zh-CN" altLang="en-US" sz="2000" dirty="0">
                <a:ea typeface="宋体" panose="02010600030101010101" pitchFamily="2" charset="-122"/>
              </a:rPr>
              <a:t>勘察过程中要求记录</a:t>
            </a:r>
            <a:r>
              <a:rPr lang="zh-CN" altLang="en-US" sz="2000" dirty="0">
                <a:solidFill>
                  <a:srgbClr val="FF0000"/>
                </a:solidFill>
                <a:ea typeface="宋体" panose="02010600030101010101" pitchFamily="2" charset="-122"/>
              </a:rPr>
              <a:t>路由方向</a:t>
            </a:r>
            <a:r>
              <a:rPr lang="zh-CN" altLang="en-US" sz="2000" dirty="0">
                <a:ea typeface="宋体" panose="02010600030101010101" pitchFamily="2" charset="-122"/>
              </a:rPr>
              <a:t>、拐弯角度、道路路名、离路距离、周围建筑环境以及地理地貌、其他运营商线路、电力线、河流桥梁名称、地名、道路坡度等</a:t>
            </a:r>
            <a:endParaRPr lang="zh-CN" altLang="en-US" sz="2000" dirty="0">
              <a:ea typeface="宋体" panose="02010600030101010101" pitchFamily="2" charset="-122"/>
            </a:endParaRPr>
          </a:p>
          <a:p>
            <a:pPr>
              <a:lnSpc>
                <a:spcPct val="140000"/>
              </a:lnSpc>
              <a:spcBef>
                <a:spcPct val="40000"/>
              </a:spcBef>
              <a:buFontTx/>
              <a:buNone/>
            </a:pPr>
            <a:r>
              <a:rPr lang="en-US" altLang="zh-CN" sz="2000" dirty="0">
                <a:ea typeface="宋体" panose="02010600030101010101" pitchFamily="2" charset="-122"/>
              </a:rPr>
              <a:t>		</a:t>
            </a:r>
            <a:r>
              <a:rPr lang="zh-CN" altLang="en-US" sz="2000" dirty="0">
                <a:ea typeface="宋体" panose="02010600030101010101" pitchFamily="2" charset="-122"/>
              </a:rPr>
              <a:t>此外，对于沿线遇到的主要障碍，如辅助吊线过河、钢管过桥、顶管过路、过铁路、高速公路、涵洞等，要绘出相应的平面图和侧面图，必要时应与建设方沟通，确定保护方式。</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91795" y="963295"/>
            <a:ext cx="8229600" cy="418973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lgn="just">
              <a:buFontTx/>
              <a:buNone/>
            </a:pPr>
            <a:r>
              <a:rPr kumimoji="1" lang="en-US" altLang="zh-CN" sz="2400" dirty="0">
                <a:solidFill>
                  <a:srgbClr val="000099"/>
                </a:solidFill>
                <a:latin typeface="黑体" panose="02010609060101010101" pitchFamily="49" charset="-122"/>
                <a:ea typeface="黑体" panose="02010609060101010101" pitchFamily="49" charset="-122"/>
              </a:rPr>
              <a:t>2.6 </a:t>
            </a:r>
            <a:r>
              <a:rPr kumimoji="1" lang="zh-CN" altLang="en-US" sz="2400" dirty="0">
                <a:solidFill>
                  <a:srgbClr val="000099"/>
                </a:solidFill>
                <a:latin typeface="黑体" panose="02010609060101010101" pitchFamily="49" charset="-122"/>
                <a:ea typeface="黑体" panose="02010609060101010101" pitchFamily="49" charset="-122"/>
              </a:rPr>
              <a:t>基站查勘</a:t>
            </a:r>
            <a:endParaRPr kumimoji="1" lang="zh-CN" altLang="en-US" sz="2400" dirty="0">
              <a:solidFill>
                <a:srgbClr val="000099"/>
              </a:solidFill>
              <a:latin typeface="黑体" panose="02010609060101010101" pitchFamily="49" charset="-122"/>
              <a:ea typeface="黑体" panose="02010609060101010101" pitchFamily="49" charset="-122"/>
            </a:endParaRPr>
          </a:p>
          <a:p>
            <a:pPr marL="457200" indent="-457200">
              <a:lnSpc>
                <a:spcPct val="130000"/>
              </a:lnSpc>
              <a:spcAft>
                <a:spcPct val="20000"/>
              </a:spcAft>
              <a:buFontTx/>
              <a:buNone/>
            </a:pPr>
            <a:r>
              <a:rPr lang="en-US" altLang="zh-CN" sz="2200" b="1" dirty="0">
                <a:solidFill>
                  <a:srgbClr val="660033"/>
                </a:solidFill>
                <a:latin typeface="黑体" panose="02010609060101010101" pitchFamily="49" charset="-122"/>
                <a:ea typeface="黑体" panose="02010609060101010101" pitchFamily="49" charset="-122"/>
              </a:rPr>
              <a:t>2.6.1 </a:t>
            </a:r>
            <a:r>
              <a:rPr lang="zh-CN" altLang="en-US" sz="2200" b="1" dirty="0">
                <a:solidFill>
                  <a:srgbClr val="660033"/>
                </a:solidFill>
                <a:latin typeface="黑体" panose="02010609060101010101" pitchFamily="49" charset="-122"/>
                <a:ea typeface="黑体" panose="02010609060101010101" pitchFamily="49" charset="-122"/>
              </a:rPr>
              <a:t>准备查勘工具</a:t>
            </a:r>
            <a:endParaRPr lang="zh-CN" altLang="en-US" sz="2200" b="1" dirty="0">
              <a:solidFill>
                <a:srgbClr val="660033"/>
              </a:solidFill>
              <a:latin typeface="黑体" panose="02010609060101010101" pitchFamily="49" charset="-122"/>
              <a:ea typeface="黑体" panose="02010609060101010101" pitchFamily="49" charset="-122"/>
            </a:endParaRPr>
          </a:p>
          <a:p>
            <a:pPr marL="457200" indent="-457200">
              <a:lnSpc>
                <a:spcPct val="130000"/>
              </a:lnSpc>
              <a:buFontTx/>
              <a:buNone/>
            </a:pPr>
            <a:r>
              <a:rPr kumimoji="1" lang="zh-CN" altLang="en-US" sz="2000" dirty="0">
                <a:ea typeface="宋体" panose="02010600030101010101" pitchFamily="2" charset="-122"/>
              </a:rPr>
              <a:t>⑴ 站表，用来提供基站名称、地址等基本信息</a:t>
            </a:r>
            <a:endParaRPr kumimoji="1" lang="zh-CN" altLang="en-US" sz="2000" dirty="0">
              <a:ea typeface="宋体" panose="02010600030101010101" pitchFamily="2" charset="-122"/>
            </a:endParaRPr>
          </a:p>
          <a:p>
            <a:pPr marL="457200" indent="-457200">
              <a:lnSpc>
                <a:spcPct val="130000"/>
              </a:lnSpc>
              <a:buFontTx/>
              <a:buNone/>
            </a:pPr>
            <a:r>
              <a:rPr kumimoji="1" lang="zh-CN" altLang="en-US" sz="2000" dirty="0">
                <a:ea typeface="宋体" panose="02010600030101010101" pitchFamily="2" charset="-122"/>
              </a:rPr>
              <a:t>⑵ </a:t>
            </a:r>
            <a:r>
              <a:rPr kumimoji="1" lang="en-US" altLang="zh-CN" sz="2000" dirty="0">
                <a:ea typeface="宋体" panose="02010600030101010101" pitchFamily="2" charset="-122"/>
              </a:rPr>
              <a:t>GPS</a:t>
            </a:r>
            <a:r>
              <a:rPr kumimoji="1" lang="zh-CN" altLang="en-US" sz="2000" dirty="0">
                <a:ea typeface="宋体" panose="02010600030101010101" pitchFamily="2" charset="-122"/>
              </a:rPr>
              <a:t>，用来读取基站经纬度</a:t>
            </a:r>
            <a:endParaRPr kumimoji="1" lang="zh-CN" altLang="en-US" sz="2000" dirty="0">
              <a:ea typeface="宋体" panose="02010600030101010101" pitchFamily="2" charset="-122"/>
            </a:endParaRPr>
          </a:p>
          <a:p>
            <a:pPr marL="457200" indent="-457200">
              <a:lnSpc>
                <a:spcPct val="130000"/>
              </a:lnSpc>
              <a:buFontTx/>
              <a:buNone/>
            </a:pPr>
            <a:r>
              <a:rPr kumimoji="1" lang="zh-CN" altLang="en-US" sz="2000" dirty="0">
                <a:ea typeface="宋体" panose="02010600030101010101" pitchFamily="2" charset="-122"/>
              </a:rPr>
              <a:t>⑶ 指北针，用来提供机房、铁塔的方位</a:t>
            </a:r>
            <a:endParaRPr kumimoji="1" lang="zh-CN" altLang="en-US" sz="2000" dirty="0">
              <a:ea typeface="宋体" panose="02010600030101010101" pitchFamily="2" charset="-122"/>
            </a:endParaRPr>
          </a:p>
          <a:p>
            <a:pPr marL="457200" indent="-457200">
              <a:lnSpc>
                <a:spcPct val="130000"/>
              </a:lnSpc>
              <a:buFontTx/>
              <a:buNone/>
            </a:pPr>
            <a:r>
              <a:rPr kumimoji="1" lang="zh-CN" altLang="en-US" sz="2000" dirty="0">
                <a:ea typeface="宋体" panose="02010600030101010101" pitchFamily="2" charset="-122"/>
              </a:rPr>
              <a:t>⑷ 卷尺，用来测量机房尺寸、铁塔位置等</a:t>
            </a:r>
            <a:endParaRPr kumimoji="1" lang="zh-CN" altLang="en-US" sz="2000" dirty="0">
              <a:ea typeface="宋体" panose="02010600030101010101" pitchFamily="2" charset="-122"/>
            </a:endParaRPr>
          </a:p>
          <a:p>
            <a:pPr marL="457200" indent="-457200">
              <a:lnSpc>
                <a:spcPct val="130000"/>
              </a:lnSpc>
              <a:buFontTx/>
              <a:buNone/>
            </a:pPr>
            <a:r>
              <a:rPr kumimoji="1" lang="zh-CN" altLang="en-US" sz="2000" dirty="0">
                <a:ea typeface="宋体" panose="02010600030101010101" pitchFamily="2" charset="-122"/>
              </a:rPr>
              <a:t>⑸ 相机，用来记录局部难点与周围环境</a:t>
            </a:r>
            <a:endParaRPr kumimoji="1" lang="zh-CN" altLang="en-US" sz="2000" dirty="0">
              <a:ea typeface="宋体" panose="02010600030101010101" pitchFamily="2" charset="-122"/>
            </a:endParaRPr>
          </a:p>
          <a:p>
            <a:pPr marL="457200" indent="-457200">
              <a:lnSpc>
                <a:spcPct val="130000"/>
              </a:lnSpc>
              <a:buFontTx/>
              <a:buNone/>
            </a:pPr>
            <a:r>
              <a:rPr kumimoji="1" lang="zh-CN" altLang="en-US" sz="2000" dirty="0">
                <a:ea typeface="宋体" panose="02010600030101010101" pitchFamily="2" charset="-122"/>
              </a:rPr>
              <a:t>⑹ 地图，用来方便尽快找到基站</a:t>
            </a:r>
            <a:endParaRPr kumimoji="1" lang="zh-CN" altLang="en-US" sz="2000" dirty="0">
              <a:solidFill>
                <a:srgbClr val="000099"/>
              </a:solidFill>
              <a:latin typeface="黑体" panose="02010609060101010101" pitchFamily="49" charset="-122"/>
              <a:ea typeface="黑体" panose="02010609060101010101" pitchFamily="49" charset="-122"/>
            </a:endParaRPr>
          </a:p>
          <a:p>
            <a:pPr marL="457200" indent="-457200">
              <a:buFontTx/>
              <a:buNone/>
            </a:pPr>
            <a:endParaRPr kumimoji="1" lang="zh-CN" altLang="en-US" sz="2000" dirty="0">
              <a:solidFill>
                <a:srgbClr val="000099"/>
              </a:solidFill>
              <a:latin typeface="黑体" panose="02010609060101010101" pitchFamily="49" charset="-122"/>
              <a:ea typeface="黑体" panose="02010609060101010101" pitchFamily="49"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89845" y="899865"/>
            <a:ext cx="8229600" cy="4007494"/>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2.6.2 </a:t>
            </a:r>
            <a:r>
              <a:rPr lang="zh-CN" altLang="en-US" sz="2200" b="1" dirty="0">
                <a:solidFill>
                  <a:srgbClr val="660033"/>
                </a:solidFill>
                <a:latin typeface="黑体" panose="02010609060101010101" pitchFamily="49" charset="-122"/>
                <a:ea typeface="黑体" panose="02010609060101010101" pitchFamily="49" charset="-122"/>
              </a:rPr>
              <a:t>基站机房内查勘要点</a:t>
            </a:r>
            <a:endParaRPr lang="zh-CN" altLang="en-US" sz="2200" b="1" dirty="0">
              <a:solidFill>
                <a:srgbClr val="660033"/>
              </a:solidFill>
              <a:latin typeface="黑体" panose="02010609060101010101" pitchFamily="49" charset="-122"/>
              <a:ea typeface="黑体" panose="02010609060101010101" pitchFamily="49" charset="-122"/>
            </a:endParaRPr>
          </a:p>
          <a:p>
            <a:pPr marL="457200" indent="-457200">
              <a:lnSpc>
                <a:spcPct val="120000"/>
              </a:lnSpc>
              <a:buFontTx/>
              <a:buNone/>
            </a:pPr>
            <a:r>
              <a:rPr lang="zh-CN" altLang="en-US" sz="2000" dirty="0">
                <a:ea typeface="宋体" panose="02010600030101010101" pitchFamily="2" charset="-122"/>
              </a:rPr>
              <a:t>⑴ 机房应具备适当的</a:t>
            </a:r>
            <a:r>
              <a:rPr lang="zh-CN" altLang="en-US" sz="2000" dirty="0">
                <a:solidFill>
                  <a:srgbClr val="FF0000"/>
                </a:solidFill>
                <a:ea typeface="宋体" panose="02010600030101010101" pitchFamily="2" charset="-122"/>
              </a:rPr>
              <a:t>面积</a:t>
            </a:r>
            <a:r>
              <a:rPr lang="zh-CN" altLang="en-US" sz="2000" dirty="0">
                <a:ea typeface="宋体" panose="02010600030101010101" pitchFamily="2" charset="-122"/>
              </a:rPr>
              <a:t>，便于扩容和引入其他系统；</a:t>
            </a:r>
            <a:endParaRPr lang="zh-CN" altLang="en-US" sz="2000" dirty="0">
              <a:ea typeface="宋体" panose="02010600030101010101" pitchFamily="2" charset="-122"/>
            </a:endParaRPr>
          </a:p>
          <a:p>
            <a:pPr marL="457200" indent="-457200">
              <a:lnSpc>
                <a:spcPct val="120000"/>
              </a:lnSpc>
              <a:buFontTx/>
              <a:buNone/>
            </a:pPr>
            <a:r>
              <a:rPr lang="zh-CN" altLang="en-US" sz="2000" dirty="0">
                <a:ea typeface="宋体" panose="02010600030101010101" pitchFamily="2" charset="-122"/>
              </a:rPr>
              <a:t>⑵ 机房净高应保证至少比最高设备高度</a:t>
            </a:r>
            <a:r>
              <a:rPr lang="zh-CN" altLang="en-US" sz="2000" dirty="0">
                <a:solidFill>
                  <a:srgbClr val="FF0000"/>
                </a:solidFill>
                <a:ea typeface="宋体" panose="02010600030101010101" pitchFamily="2" charset="-122"/>
              </a:rPr>
              <a:t>高出</a:t>
            </a:r>
            <a:r>
              <a:rPr lang="en-US" altLang="zh-CN" sz="2000" dirty="0">
                <a:solidFill>
                  <a:srgbClr val="FF0000"/>
                </a:solidFill>
                <a:ea typeface="宋体" panose="02010600030101010101" pitchFamily="2" charset="-122"/>
              </a:rPr>
              <a:t>20cm</a:t>
            </a:r>
            <a:r>
              <a:rPr lang="zh-CN" altLang="en-US" sz="2000" dirty="0">
                <a:ea typeface="宋体" panose="02010600030101010101" pitchFamily="2" charset="-122"/>
              </a:rPr>
              <a:t>，否则难以走线；</a:t>
            </a:r>
            <a:endParaRPr lang="zh-CN" altLang="en-US" sz="2000" dirty="0">
              <a:ea typeface="宋体" panose="02010600030101010101" pitchFamily="2" charset="-122"/>
            </a:endParaRPr>
          </a:p>
          <a:p>
            <a:pPr marL="457200" indent="-457200">
              <a:lnSpc>
                <a:spcPct val="120000"/>
              </a:lnSpc>
              <a:buFontTx/>
              <a:buNone/>
            </a:pPr>
            <a:r>
              <a:rPr lang="zh-CN" altLang="en-US" sz="2000" dirty="0">
                <a:ea typeface="宋体" panose="02010600030101010101" pitchFamily="2" charset="-122"/>
              </a:rPr>
              <a:t>⑶ 有线缆相连的设备间要保证有</a:t>
            </a:r>
            <a:r>
              <a:rPr lang="zh-CN" altLang="en-US" sz="2000" dirty="0">
                <a:solidFill>
                  <a:srgbClr val="FF0000"/>
                </a:solidFill>
                <a:ea typeface="宋体" panose="02010600030101010101" pitchFamily="2" charset="-122"/>
              </a:rPr>
              <a:t>走线架</a:t>
            </a:r>
            <a:r>
              <a:rPr lang="zh-CN" altLang="en-US" sz="2000" dirty="0">
                <a:ea typeface="宋体" panose="02010600030101010101" pitchFamily="2" charset="-122"/>
              </a:rPr>
              <a:t>连通；</a:t>
            </a:r>
            <a:endParaRPr lang="zh-CN" altLang="en-US" sz="2000" dirty="0">
              <a:ea typeface="宋体" panose="02010600030101010101" pitchFamily="2" charset="-122"/>
            </a:endParaRPr>
          </a:p>
          <a:p>
            <a:pPr marL="457200" indent="-457200">
              <a:lnSpc>
                <a:spcPct val="120000"/>
              </a:lnSpc>
              <a:buFontTx/>
              <a:buNone/>
            </a:pPr>
            <a:r>
              <a:rPr lang="zh-CN" altLang="en-US" sz="2000" dirty="0">
                <a:ea typeface="宋体" panose="02010600030101010101" pitchFamily="2" charset="-122"/>
              </a:rPr>
              <a:t>⑷ 信号线与电力线之间尽可能</a:t>
            </a:r>
            <a:r>
              <a:rPr lang="zh-CN" altLang="en-US" sz="2000" dirty="0">
                <a:solidFill>
                  <a:srgbClr val="FF0000"/>
                </a:solidFill>
                <a:ea typeface="宋体" panose="02010600030101010101" pitchFamily="2" charset="-122"/>
              </a:rPr>
              <a:t>减少交叉</a:t>
            </a:r>
            <a:r>
              <a:rPr lang="zh-CN" altLang="en-US" sz="2000" dirty="0">
                <a:ea typeface="宋体" panose="02010600030101010101" pitchFamily="2" charset="-122"/>
              </a:rPr>
              <a:t>，尽可能避免馈线在室内拐大角度弯；</a:t>
            </a:r>
            <a:endParaRPr lang="zh-CN" altLang="en-US" sz="2000" dirty="0">
              <a:ea typeface="宋体" panose="02010600030101010101" pitchFamily="2" charset="-122"/>
            </a:endParaRPr>
          </a:p>
          <a:p>
            <a:pPr marL="457200" indent="-457200">
              <a:lnSpc>
                <a:spcPct val="120000"/>
              </a:lnSpc>
              <a:buFontTx/>
              <a:buNone/>
            </a:pP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89845" y="899865"/>
            <a:ext cx="8229600" cy="4007494"/>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2.6.2 </a:t>
            </a:r>
            <a:r>
              <a:rPr lang="zh-CN" altLang="en-US" sz="2200" b="1" dirty="0">
                <a:solidFill>
                  <a:srgbClr val="660033"/>
                </a:solidFill>
                <a:latin typeface="黑体" panose="02010609060101010101" pitchFamily="49" charset="-122"/>
                <a:ea typeface="黑体" panose="02010609060101010101" pitchFamily="49" charset="-122"/>
              </a:rPr>
              <a:t>基站机房内查勘要点</a:t>
            </a:r>
            <a:endParaRPr lang="zh-CN" altLang="en-US" sz="2200" b="1" dirty="0">
              <a:solidFill>
                <a:srgbClr val="660033"/>
              </a:solidFill>
              <a:latin typeface="黑体" panose="02010609060101010101" pitchFamily="49" charset="-122"/>
              <a:ea typeface="黑体" panose="02010609060101010101" pitchFamily="49" charset="-122"/>
            </a:endParaRPr>
          </a:p>
          <a:p>
            <a:pPr marL="457200" indent="-457200">
              <a:lnSpc>
                <a:spcPct val="120000"/>
              </a:lnSpc>
              <a:buFontTx/>
              <a:buNone/>
            </a:pPr>
            <a:r>
              <a:rPr lang="zh-CN" altLang="en-US" sz="2000" dirty="0">
                <a:ea typeface="宋体" panose="02010600030101010101" pitchFamily="2" charset="-122"/>
              </a:rPr>
              <a:t>⑸ 要预留设备维护、人员走动的空间；</a:t>
            </a:r>
            <a:endParaRPr lang="zh-CN" altLang="en-US" sz="2000" dirty="0">
              <a:ea typeface="宋体" panose="02010600030101010101" pitchFamily="2" charset="-122"/>
            </a:endParaRPr>
          </a:p>
          <a:p>
            <a:pPr marL="457200" indent="-457200">
              <a:lnSpc>
                <a:spcPct val="120000"/>
              </a:lnSpc>
              <a:buFontTx/>
              <a:buNone/>
            </a:pPr>
            <a:r>
              <a:rPr lang="zh-CN" altLang="en-US" sz="2000" dirty="0">
                <a:ea typeface="宋体" panose="02010600030101010101" pitchFamily="2" charset="-122"/>
              </a:rPr>
              <a:t>⑹ 新开馈孔时应注意室外情况，避开梁、柱；</a:t>
            </a:r>
            <a:endParaRPr lang="zh-CN" altLang="en-US" sz="2000" dirty="0">
              <a:ea typeface="宋体" panose="02010600030101010101" pitchFamily="2" charset="-122"/>
            </a:endParaRPr>
          </a:p>
          <a:p>
            <a:pPr marL="457200" indent="-457200">
              <a:lnSpc>
                <a:spcPct val="120000"/>
              </a:lnSpc>
              <a:buFontTx/>
              <a:buNone/>
            </a:pPr>
            <a:r>
              <a:rPr lang="zh-CN" altLang="en-US" sz="2000" dirty="0">
                <a:ea typeface="宋体" panose="02010600030101010101" pitchFamily="2" charset="-122"/>
              </a:rPr>
              <a:t>⑺ 若在机房中有下水管，要做隔板封起来，避免漏水；</a:t>
            </a:r>
            <a:endParaRPr lang="zh-CN" altLang="en-US" sz="2000" dirty="0">
              <a:ea typeface="宋体" panose="02010600030101010101" pitchFamily="2" charset="-122"/>
            </a:endParaRPr>
          </a:p>
          <a:p>
            <a:pPr marL="457200" indent="-457200">
              <a:lnSpc>
                <a:spcPct val="120000"/>
              </a:lnSpc>
              <a:buFontTx/>
              <a:buNone/>
            </a:pPr>
            <a:r>
              <a:rPr lang="zh-CN" altLang="en-US" sz="2000" dirty="0">
                <a:ea typeface="宋体" panose="02010600030101010101" pitchFamily="2" charset="-122"/>
              </a:rPr>
              <a:t>⑻ 自建隔板上不能使用壁挂设备；</a:t>
            </a:r>
            <a:endParaRPr lang="zh-CN" altLang="en-US" sz="2000" dirty="0">
              <a:ea typeface="宋体" panose="02010600030101010101" pitchFamily="2" charset="-122"/>
            </a:endParaRPr>
          </a:p>
          <a:p>
            <a:pPr marL="457200" indent="-457200">
              <a:lnSpc>
                <a:spcPct val="120000"/>
              </a:lnSpc>
              <a:buFontTx/>
              <a:buNone/>
            </a:pPr>
            <a:r>
              <a:rPr lang="zh-CN" altLang="en-US" sz="2000" dirty="0">
                <a:ea typeface="宋体" panose="02010600030101010101" pitchFamily="2" charset="-122"/>
              </a:rPr>
              <a:t>⑼ 要注意空调外机的安装位置，以免发生建设纠纷。</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7" name="Rectangle 4"/>
          <p:cNvSpPr txBox="1">
            <a:spLocks noChangeArrowheads="1"/>
          </p:cNvSpPr>
          <p:nvPr/>
        </p:nvSpPr>
        <p:spPr bwMode="auto">
          <a:xfrm>
            <a:off x="444500" y="969645"/>
            <a:ext cx="8229600" cy="402145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2.6.3 </a:t>
            </a:r>
            <a:r>
              <a:rPr lang="zh-CN" altLang="en-US" sz="2200" b="1" dirty="0">
                <a:solidFill>
                  <a:srgbClr val="660033"/>
                </a:solidFill>
                <a:latin typeface="黑体" panose="02010609060101010101" pitchFamily="49" charset="-122"/>
                <a:ea typeface="黑体" panose="02010609060101010101" pitchFamily="49" charset="-122"/>
              </a:rPr>
              <a:t>基站电源查勘要点</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30000"/>
              </a:lnSpc>
              <a:spcBef>
                <a:spcPct val="40000"/>
              </a:spcBef>
              <a:buFontTx/>
              <a:buNone/>
            </a:pPr>
            <a:r>
              <a:rPr lang="zh-CN" altLang="en-US" sz="2000" dirty="0">
                <a:ea typeface="宋体" panose="02010600030101010101" pitchFamily="2" charset="-122"/>
              </a:rPr>
              <a:t>⑴ </a:t>
            </a:r>
            <a:r>
              <a:rPr lang="zh-CN" altLang="en-US" sz="2000" dirty="0">
                <a:latin typeface="宋体" panose="02010600030101010101" pitchFamily="2" charset="-122"/>
                <a:ea typeface="宋体" panose="02010600030101010101" pitchFamily="2" charset="-122"/>
              </a:rPr>
              <a:t>基站交流电可通过</a:t>
            </a:r>
            <a:r>
              <a:rPr lang="zh-CN" altLang="en-US" sz="2000" dirty="0">
                <a:solidFill>
                  <a:srgbClr val="FF0000"/>
                </a:solidFill>
                <a:latin typeface="宋体" panose="02010600030101010101" pitchFamily="2" charset="-122"/>
                <a:ea typeface="宋体" panose="02010600030101010101" pitchFamily="2" charset="-122"/>
              </a:rPr>
              <a:t>铠装电缆</a:t>
            </a:r>
            <a:r>
              <a:rPr lang="zh-CN" altLang="en-US" sz="2000" dirty="0">
                <a:latin typeface="宋体" panose="02010600030101010101" pitchFamily="2" charset="-122"/>
                <a:ea typeface="宋体" panose="02010600030101010101" pitchFamily="2" charset="-122"/>
              </a:rPr>
              <a:t>，采用</a:t>
            </a:r>
            <a:r>
              <a:rPr lang="zh-CN" altLang="en-US" sz="2000" dirty="0">
                <a:solidFill>
                  <a:srgbClr val="FF0000"/>
                </a:solidFill>
                <a:latin typeface="宋体" panose="02010600030101010101" pitchFamily="2" charset="-122"/>
                <a:ea typeface="宋体" panose="02010600030101010101" pitchFamily="2" charset="-122"/>
              </a:rPr>
              <a:t>地埋</a:t>
            </a:r>
            <a:r>
              <a:rPr lang="zh-CN" altLang="en-US" sz="2000" dirty="0">
                <a:latin typeface="宋体" panose="02010600030101010101" pitchFamily="2" charset="-122"/>
                <a:ea typeface="宋体" panose="02010600030101010101" pitchFamily="2" charset="-122"/>
              </a:rPr>
              <a:t>或</a:t>
            </a:r>
            <a:r>
              <a:rPr lang="zh-CN" altLang="en-US" sz="2000" dirty="0">
                <a:solidFill>
                  <a:srgbClr val="FF0000"/>
                </a:solidFill>
                <a:latin typeface="宋体" panose="02010600030101010101" pitchFamily="2" charset="-122"/>
                <a:ea typeface="宋体" panose="02010600030101010101" pitchFamily="2" charset="-122"/>
              </a:rPr>
              <a:t>架空</a:t>
            </a:r>
            <a:r>
              <a:rPr lang="zh-CN" altLang="en-US" sz="2000" dirty="0">
                <a:latin typeface="宋体" panose="02010600030101010101" pitchFamily="2" charset="-122"/>
                <a:ea typeface="宋体" panose="02010600030101010101" pitchFamily="2" charset="-122"/>
              </a:rPr>
              <a:t>方式引入机房，交流引入容量一般为</a:t>
            </a:r>
            <a:r>
              <a:rPr lang="en-US" altLang="zh-CN" sz="2000" dirty="0">
                <a:latin typeface="宋体" panose="02010600030101010101" pitchFamily="2" charset="-122"/>
                <a:ea typeface="宋体" panose="02010600030101010101" pitchFamily="2" charset="-122"/>
              </a:rPr>
              <a:t>15</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20KW</a:t>
            </a:r>
            <a:endParaRPr lang="zh-CN" altLang="en-US" sz="2000" dirty="0">
              <a:latin typeface="宋体" panose="02010600030101010101" pitchFamily="2" charset="-122"/>
              <a:ea typeface="宋体" panose="02010600030101010101" pitchFamily="2" charset="-122"/>
            </a:endParaRPr>
          </a:p>
          <a:p>
            <a:pPr>
              <a:lnSpc>
                <a:spcPct val="130000"/>
              </a:lnSpc>
              <a:spcBef>
                <a:spcPct val="40000"/>
              </a:spcBef>
              <a:buFontTx/>
              <a:buNone/>
            </a:pPr>
            <a:r>
              <a:rPr lang="zh-CN" altLang="en-US" sz="2000" dirty="0">
                <a:ea typeface="宋体" panose="02010600030101010101" pitchFamily="2" charset="-122"/>
              </a:rPr>
              <a:t>⑵ </a:t>
            </a:r>
            <a:r>
              <a:rPr lang="zh-CN" altLang="en-US" sz="2000" dirty="0">
                <a:latin typeface="宋体" panose="02010600030101010101" pitchFamily="2" charset="-122"/>
                <a:ea typeface="宋体" panose="02010600030101010101" pitchFamily="2" charset="-122"/>
              </a:rPr>
              <a:t>基站机房内应设置</a:t>
            </a:r>
            <a:r>
              <a:rPr lang="zh-CN" altLang="en-US" sz="2000" dirty="0">
                <a:solidFill>
                  <a:srgbClr val="FF0000"/>
                </a:solidFill>
                <a:latin typeface="宋体" panose="02010600030101010101" pitchFamily="2" charset="-122"/>
                <a:ea typeface="宋体" panose="02010600030101010101" pitchFamily="2" charset="-122"/>
              </a:rPr>
              <a:t>交流配电屏</a:t>
            </a:r>
            <a:r>
              <a:rPr lang="zh-CN" altLang="en-US" sz="2000" dirty="0">
                <a:latin typeface="宋体" panose="02010600030101010101" pitchFamily="2" charset="-122"/>
                <a:ea typeface="宋体" panose="02010600030101010101" pitchFamily="2" charset="-122"/>
              </a:rPr>
              <a:t>或</a:t>
            </a:r>
            <a:r>
              <a:rPr lang="zh-CN" altLang="en-US" sz="2000" dirty="0">
                <a:solidFill>
                  <a:srgbClr val="FF0000"/>
                </a:solidFill>
                <a:latin typeface="宋体" panose="02010600030101010101" pitchFamily="2" charset="-122"/>
                <a:ea typeface="宋体" panose="02010600030101010101" pitchFamily="2" charset="-122"/>
              </a:rPr>
              <a:t>交流配电箱</a:t>
            </a:r>
            <a:r>
              <a:rPr lang="zh-CN" altLang="en-US" sz="2000" dirty="0">
                <a:latin typeface="宋体" panose="02010600030101010101" pitchFamily="2" charset="-122"/>
                <a:ea typeface="宋体" panose="02010600030101010101" pitchFamily="2" charset="-122"/>
              </a:rPr>
              <a:t>，内置浪涌保护器</a:t>
            </a:r>
            <a:r>
              <a:rPr lang="en-US" altLang="zh-CN" sz="2000" dirty="0">
                <a:latin typeface="宋体" panose="02010600030101010101" pitchFamily="2" charset="-122"/>
                <a:ea typeface="宋体" panose="02010600030101010101" pitchFamily="2" charset="-122"/>
              </a:rPr>
              <a:t>SPD</a:t>
            </a:r>
            <a:r>
              <a:rPr lang="zh-CN" altLang="en-US" sz="2000" dirty="0">
                <a:latin typeface="宋体" panose="02010600030101010101" pitchFamily="2" charset="-122"/>
                <a:ea typeface="宋体" panose="02010600030101010101" pitchFamily="2" charset="-122"/>
              </a:rPr>
              <a:t>，负责基站内的所有负荷，包括开关电源、空调、照明、墙壁插座等的电源分配</a:t>
            </a:r>
            <a:endParaRPr lang="zh-CN" altLang="en-US" sz="2000" dirty="0">
              <a:latin typeface="宋体" panose="02010600030101010101" pitchFamily="2" charset="-122"/>
              <a:ea typeface="宋体" panose="02010600030101010101" pitchFamily="2" charset="-122"/>
            </a:endParaRPr>
          </a:p>
          <a:p>
            <a:pPr>
              <a:lnSpc>
                <a:spcPct val="130000"/>
              </a:lnSpc>
              <a:spcBef>
                <a:spcPct val="40000"/>
              </a:spcBef>
              <a:buFontTx/>
              <a:buNone/>
            </a:pPr>
            <a:r>
              <a:rPr lang="zh-CN" altLang="en-US" sz="2000" dirty="0">
                <a:ea typeface="宋体" panose="02010600030101010101" pitchFamily="2" charset="-122"/>
              </a:rPr>
              <a:t>⑶ </a:t>
            </a:r>
            <a:r>
              <a:rPr lang="zh-CN" altLang="en-US" sz="2000" dirty="0">
                <a:latin typeface="宋体" panose="02010600030101010101" pitchFamily="2" charset="-122"/>
                <a:ea typeface="宋体" panose="02010600030101010101" pitchFamily="2" charset="-122"/>
              </a:rPr>
              <a:t>交流配电屏或交流配电箱的容量应根据引电方式和基站位置确定，多用</a:t>
            </a:r>
            <a:r>
              <a:rPr lang="en-US" altLang="zh-CN" sz="2000" dirty="0">
                <a:latin typeface="宋体" panose="02010600030101010101" pitchFamily="2" charset="-122"/>
                <a:ea typeface="宋体" panose="02010600030101010101" pitchFamily="2" charset="-122"/>
              </a:rPr>
              <a:t>400A</a:t>
            </a:r>
            <a:r>
              <a:rPr lang="zh-CN" altLang="en-US" sz="2000" dirty="0">
                <a:latin typeface="宋体" panose="02010600030101010101" pitchFamily="2" charset="-122"/>
                <a:ea typeface="宋体" panose="02010600030101010101" pitchFamily="2" charset="-122"/>
              </a:rPr>
              <a:t>或</a:t>
            </a:r>
            <a:r>
              <a:rPr lang="en-US" altLang="zh-CN" sz="2000" dirty="0">
                <a:latin typeface="宋体" panose="02010600030101010101" pitchFamily="2" charset="-122"/>
                <a:ea typeface="宋体" panose="02010600030101010101" pitchFamily="2" charset="-122"/>
              </a:rPr>
              <a:t>630A</a:t>
            </a:r>
            <a:r>
              <a:rPr lang="zh-CN" altLang="en-US" sz="2000" dirty="0">
                <a:latin typeface="宋体" panose="02010600030101010101" pitchFamily="2" charset="-122"/>
                <a:ea typeface="宋体" panose="02010600030101010101" pitchFamily="2" charset="-122"/>
              </a:rPr>
              <a:t>的进线容量</a:t>
            </a:r>
            <a:endParaRPr lang="zh-CN" altLang="en-US" sz="2000" dirty="0">
              <a:latin typeface="宋体" panose="02010600030101010101" pitchFamily="2" charset="-122"/>
              <a:ea typeface="宋体" panose="02010600030101010101" pitchFamily="2" charset="-122"/>
            </a:endParaRPr>
          </a:p>
          <a:p>
            <a:pPr>
              <a:lnSpc>
                <a:spcPct val="130000"/>
              </a:lnSpc>
              <a:spcBef>
                <a:spcPct val="40000"/>
              </a:spcBef>
              <a:buFontTx/>
              <a:buNone/>
            </a:pPr>
            <a:r>
              <a:rPr lang="zh-CN" altLang="en-US" sz="2000" dirty="0">
                <a:ea typeface="宋体" panose="02010600030101010101" pitchFamily="2" charset="-122"/>
              </a:rPr>
              <a:t>⑷ </a:t>
            </a:r>
            <a:r>
              <a:rPr lang="zh-CN" altLang="en-US" sz="2000" dirty="0">
                <a:latin typeface="宋体" panose="02010600030101010101" pitchFamily="2" charset="-122"/>
                <a:ea typeface="宋体" panose="02010600030101010101" pitchFamily="2" charset="-122"/>
              </a:rPr>
              <a:t>市电供应可设置稳压器或采用专用变压器</a:t>
            </a:r>
            <a:endParaRPr lang="zh-CN" altLang="en-US" sz="2000" dirty="0">
              <a:latin typeface="宋体" panose="02010600030101010101" pitchFamily="2" charset="-122"/>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50165" y="969645"/>
            <a:ext cx="4972050" cy="396049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lvl="1">
              <a:lnSpc>
                <a:spcPct val="140000"/>
              </a:lnSpc>
              <a:spcBef>
                <a:spcPct val="40000"/>
              </a:spcBef>
              <a:buFontTx/>
              <a:buNone/>
            </a:pPr>
            <a:r>
              <a:rPr lang="zh-CN" altLang="en-US" sz="2000" dirty="0">
                <a:latin typeface="宋体" panose="02010600030101010101" pitchFamily="2" charset="-122"/>
                <a:ea typeface="宋体" panose="02010600030101010101" pitchFamily="2" charset="-122"/>
              </a:rPr>
              <a:t>⑸ 基站机房的直流供电系统可按图所示进行配置</a:t>
            </a:r>
            <a:endParaRPr lang="en-US" altLang="zh-CN" sz="2000" dirty="0">
              <a:latin typeface="宋体" panose="02010600030101010101" pitchFamily="2" charset="-122"/>
              <a:ea typeface="宋体" panose="02010600030101010101" pitchFamily="2" charset="-122"/>
            </a:endParaRPr>
          </a:p>
          <a:p>
            <a:pPr lvl="1">
              <a:lnSpc>
                <a:spcPct val="140000"/>
              </a:lnSpc>
              <a:spcBef>
                <a:spcPct val="40000"/>
              </a:spcBef>
              <a:buFontTx/>
              <a:buNone/>
            </a:pPr>
            <a:r>
              <a:rPr lang="zh-CN" altLang="en-US" sz="2000" dirty="0">
                <a:latin typeface="宋体" panose="02010600030101010101" pitchFamily="2" charset="-122"/>
                <a:ea typeface="宋体" panose="02010600030101010101" pitchFamily="2" charset="-122"/>
              </a:rPr>
              <a:t>⑹ 基站开关电源应是综合的小容量电源，具有电源</a:t>
            </a:r>
            <a:r>
              <a:rPr lang="en-US" altLang="zh-CN" sz="2000" dirty="0">
                <a:latin typeface="宋体" panose="02010600030101010101" pitchFamily="2" charset="-122"/>
                <a:ea typeface="宋体" panose="02010600030101010101" pitchFamily="2" charset="-122"/>
              </a:rPr>
              <a:t>LVD</a:t>
            </a:r>
            <a:r>
              <a:rPr lang="zh-CN" altLang="en-US" sz="2000" dirty="0">
                <a:latin typeface="宋体" panose="02010600030101010101" pitchFamily="2" charset="-122"/>
                <a:ea typeface="宋体" panose="02010600030101010101" pitchFamily="2" charset="-122"/>
              </a:rPr>
              <a:t>功能，当一次下电时，应脱离非重要设备，如</a:t>
            </a:r>
            <a:r>
              <a:rPr lang="en-US" altLang="zh-CN" sz="2000" dirty="0">
                <a:latin typeface="宋体" panose="02010600030101010101" pitchFamily="2" charset="-122"/>
                <a:ea typeface="宋体" panose="02010600030101010101" pitchFamily="2" charset="-122"/>
              </a:rPr>
              <a:t>BTS</a:t>
            </a:r>
            <a:r>
              <a:rPr lang="zh-CN" altLang="en-US" sz="2000" dirty="0">
                <a:latin typeface="宋体" panose="02010600030101010101" pitchFamily="2" charset="-122"/>
                <a:ea typeface="宋体" panose="02010600030101010101" pitchFamily="2" charset="-122"/>
              </a:rPr>
              <a:t>等，二次下电时，应脱离重要设备，如蓄电池组、传输设备等</a:t>
            </a:r>
            <a:endParaRPr lang="zh-CN" altLang="en-US" sz="2000" dirty="0">
              <a:latin typeface="宋体" panose="02010600030101010101" pitchFamily="2" charset="-122"/>
              <a:ea typeface="宋体" panose="02010600030101010101" pitchFamily="2" charset="-122"/>
            </a:endParaRPr>
          </a:p>
          <a:p>
            <a:pPr lvl="1">
              <a:lnSpc>
                <a:spcPct val="140000"/>
              </a:lnSpc>
              <a:spcBef>
                <a:spcPct val="40000"/>
              </a:spcBef>
              <a:buFontTx/>
              <a:buNone/>
            </a:pPr>
            <a:r>
              <a:rPr lang="zh-CN" altLang="en-US" sz="2000" dirty="0">
                <a:latin typeface="宋体" panose="02010600030101010101" pitchFamily="2" charset="-122"/>
                <a:ea typeface="宋体" panose="02010600030101010101" pitchFamily="2" charset="-122"/>
              </a:rPr>
              <a:t>⑺ 开关电源整流模块数量按</a:t>
            </a:r>
            <a:r>
              <a:rPr lang="en-US" altLang="zh-CN" sz="2000" dirty="0">
                <a:latin typeface="宋体" panose="02010600030101010101" pitchFamily="2" charset="-122"/>
                <a:ea typeface="宋体" panose="02010600030101010101" pitchFamily="2" charset="-122"/>
              </a:rPr>
              <a:t>N+1</a:t>
            </a:r>
            <a:r>
              <a:rPr lang="zh-CN" altLang="en-US" sz="2000" dirty="0">
                <a:latin typeface="宋体" panose="02010600030101010101" pitchFamily="2" charset="-122"/>
                <a:ea typeface="宋体" panose="02010600030101010101" pitchFamily="2" charset="-122"/>
              </a:rPr>
              <a:t>冗余方式配置</a:t>
            </a:r>
            <a:endParaRPr lang="zh-CN" altLang="en-US" sz="2000" dirty="0">
              <a:latin typeface="宋体" panose="02010600030101010101" pitchFamily="2" charset="-122"/>
              <a:ea typeface="宋体" panose="02010600030101010101" pitchFamily="2" charset="-122"/>
            </a:endParaRPr>
          </a:p>
          <a:p>
            <a:pPr lvl="1">
              <a:lnSpc>
                <a:spcPct val="140000"/>
              </a:lnSpc>
              <a:spcBef>
                <a:spcPct val="40000"/>
              </a:spcBef>
              <a:buFontTx/>
              <a:buNone/>
            </a:pPr>
            <a:endParaRPr lang="zh-CN" altLang="en-US" sz="1600" dirty="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grpSp>
        <p:nvGrpSpPr>
          <p:cNvPr id="7" name="Group 5"/>
          <p:cNvGrpSpPr/>
          <p:nvPr/>
        </p:nvGrpSpPr>
        <p:grpSpPr bwMode="auto">
          <a:xfrm>
            <a:off x="4933543" y="1186428"/>
            <a:ext cx="3960440" cy="3230066"/>
            <a:chOff x="1035" y="1525"/>
            <a:chExt cx="3600" cy="2132"/>
          </a:xfrm>
        </p:grpSpPr>
        <p:sp>
          <p:nvSpPr>
            <p:cNvPr id="8" name="Text Box 3"/>
            <p:cNvSpPr txBox="1">
              <a:spLocks noChangeArrowheads="1"/>
            </p:cNvSpPr>
            <p:nvPr/>
          </p:nvSpPr>
          <p:spPr bwMode="auto">
            <a:xfrm>
              <a:off x="1035" y="1927"/>
              <a:ext cx="76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spcBef>
                  <a:spcPct val="50000"/>
                </a:spcBef>
              </a:pPr>
              <a:r>
                <a:rPr lang="en-US" altLang="zh-CN" sz="1800">
                  <a:solidFill>
                    <a:schemeClr val="tx1"/>
                  </a:solidFill>
                  <a:latin typeface="黑体" panose="02010609060101010101" pitchFamily="49" charset="-122"/>
                  <a:ea typeface="黑体" panose="02010609060101010101" pitchFamily="49" charset="-122"/>
                </a:rPr>
                <a:t>380V</a:t>
              </a:r>
              <a:r>
                <a:rPr lang="zh-CN" altLang="en-US" sz="1800" b="0">
                  <a:solidFill>
                    <a:schemeClr val="tx1"/>
                  </a:solidFill>
                  <a:latin typeface="黑体" panose="02010609060101010101" pitchFamily="49" charset="-122"/>
                  <a:ea typeface="黑体" panose="02010609060101010101" pitchFamily="49" charset="-122"/>
                </a:rPr>
                <a:t>市电</a:t>
              </a:r>
              <a:endParaRPr lang="zh-CN" altLang="en-US" sz="1800" b="0">
                <a:solidFill>
                  <a:schemeClr val="tx1"/>
                </a:solidFill>
                <a:latin typeface="黑体" panose="02010609060101010101" pitchFamily="49" charset="-122"/>
                <a:ea typeface="黑体" panose="02010609060101010101" pitchFamily="49" charset="-122"/>
              </a:endParaRPr>
            </a:p>
          </p:txBody>
        </p:sp>
        <p:sp>
          <p:nvSpPr>
            <p:cNvPr id="9" name="Rectangle 4"/>
            <p:cNvSpPr>
              <a:spLocks noChangeArrowheads="1"/>
            </p:cNvSpPr>
            <p:nvPr/>
          </p:nvSpPr>
          <p:spPr bwMode="auto">
            <a:xfrm>
              <a:off x="3837" y="1833"/>
              <a:ext cx="798" cy="336"/>
            </a:xfrm>
            <a:prstGeom prst="rect">
              <a:avLst/>
            </a:prstGeom>
            <a:solidFill>
              <a:srgbClr val="CCFFCC"/>
            </a:solidFill>
            <a:ln w="9525">
              <a:miter lim="800000"/>
            </a:ln>
            <a:scene3d>
              <a:camera prst="legacyObliqueTopRight"/>
              <a:lightRig rig="legacyFlat3" dir="b"/>
            </a:scene3d>
            <a:sp3d extrusionH="430200" prstMaterial="legacyMatte">
              <a:bevelT w="13500" h="13500" prst="angle"/>
              <a:bevelB w="13500" h="13500" prst="angle"/>
              <a:extrusionClr>
                <a:srgbClr val="CCFFCC"/>
              </a:extrusionClr>
              <a:contourClr>
                <a:srgbClr val="CCFFCC"/>
              </a:contourClr>
            </a:sp3d>
          </p:spPr>
          <p:txBody>
            <a:bodyPr wrap="none" anchor="ctr">
              <a:flatTx/>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zh-CN" altLang="en-US" sz="1800" b="0">
                  <a:solidFill>
                    <a:schemeClr val="tx1"/>
                  </a:solidFill>
                  <a:latin typeface="黑体" panose="02010609060101010101" pitchFamily="49" charset="-122"/>
                  <a:ea typeface="黑体" panose="02010609060101010101" pitchFamily="49" charset="-122"/>
                </a:rPr>
                <a:t>开关电源</a:t>
              </a:r>
              <a:endParaRPr lang="zh-CN" altLang="en-US" sz="3800" b="0">
                <a:solidFill>
                  <a:schemeClr val="tx1"/>
                </a:solidFill>
                <a:latin typeface="黑体" panose="02010609060101010101" pitchFamily="49" charset="-122"/>
                <a:ea typeface="黑体" panose="02010609060101010101" pitchFamily="49" charset="-122"/>
              </a:endParaRPr>
            </a:p>
          </p:txBody>
        </p:sp>
        <p:sp>
          <p:nvSpPr>
            <p:cNvPr id="10" name="Rectangle 5"/>
            <p:cNvSpPr>
              <a:spLocks noChangeArrowheads="1"/>
            </p:cNvSpPr>
            <p:nvPr/>
          </p:nvSpPr>
          <p:spPr bwMode="auto">
            <a:xfrm>
              <a:off x="3837" y="2505"/>
              <a:ext cx="798" cy="288"/>
            </a:xfrm>
            <a:prstGeom prst="rect">
              <a:avLst/>
            </a:prstGeom>
            <a:solidFill>
              <a:srgbClr val="CCFFCC"/>
            </a:solidFill>
            <a:ln w="9525">
              <a:miter lim="800000"/>
            </a:ln>
            <a:scene3d>
              <a:camera prst="legacyObliqueTopRight"/>
              <a:lightRig rig="legacyFlat3" dir="b"/>
            </a:scene3d>
            <a:sp3d extrusionH="430200" prstMaterial="legacyMatte">
              <a:bevelT w="13500" h="13500" prst="angle"/>
              <a:bevelB w="13500" h="13500" prst="angle"/>
              <a:extrusionClr>
                <a:srgbClr val="CCFFCC"/>
              </a:extrusionClr>
              <a:contourClr>
                <a:srgbClr val="CCFFCC"/>
              </a:contourClr>
            </a:sp3d>
          </p:spPr>
          <p:txBody>
            <a:bodyPr wrap="none" anchor="ctr">
              <a:flatTx/>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zh-CN" altLang="en-US" sz="1800" b="0">
                  <a:solidFill>
                    <a:schemeClr val="tx1"/>
                  </a:solidFill>
                  <a:latin typeface="黑体" panose="02010609060101010101" pitchFamily="49" charset="-122"/>
                  <a:ea typeface="黑体" panose="02010609060101010101" pitchFamily="49" charset="-122"/>
                </a:rPr>
                <a:t>空调</a:t>
              </a:r>
              <a:endParaRPr lang="zh-CN" altLang="en-US" sz="1800" b="0">
                <a:solidFill>
                  <a:schemeClr val="tx1"/>
                </a:solidFill>
                <a:latin typeface="黑体" panose="02010609060101010101" pitchFamily="49" charset="-122"/>
                <a:ea typeface="黑体" panose="02010609060101010101" pitchFamily="49" charset="-122"/>
              </a:endParaRPr>
            </a:p>
          </p:txBody>
        </p:sp>
        <p:sp>
          <p:nvSpPr>
            <p:cNvPr id="11" name="Rectangle 7"/>
            <p:cNvSpPr>
              <a:spLocks noChangeArrowheads="1"/>
            </p:cNvSpPr>
            <p:nvPr/>
          </p:nvSpPr>
          <p:spPr bwMode="auto">
            <a:xfrm>
              <a:off x="3837" y="3081"/>
              <a:ext cx="798" cy="336"/>
            </a:xfrm>
            <a:prstGeom prst="rect">
              <a:avLst/>
            </a:prstGeom>
            <a:solidFill>
              <a:srgbClr val="CCFFCC"/>
            </a:solidFill>
            <a:ln w="9525">
              <a:miter lim="800000"/>
            </a:ln>
            <a:scene3d>
              <a:camera prst="legacyObliqueTopRight"/>
              <a:lightRig rig="legacyFlat3" dir="b"/>
            </a:scene3d>
            <a:sp3d extrusionH="430200" prstMaterial="legacyMatte">
              <a:bevelT w="13500" h="13500" prst="angle"/>
              <a:bevelB w="13500" h="13500" prst="angle"/>
              <a:extrusionClr>
                <a:srgbClr val="CCFFCC"/>
              </a:extrusionClr>
              <a:contourClr>
                <a:srgbClr val="CCFFCC"/>
              </a:contourClr>
            </a:sp3d>
          </p:spPr>
          <p:txBody>
            <a:bodyPr wrap="none" anchor="ctr">
              <a:flatTx/>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zh-CN" altLang="en-US" sz="1800" b="0">
                  <a:solidFill>
                    <a:schemeClr val="tx1"/>
                  </a:solidFill>
                  <a:latin typeface="黑体" panose="02010609060101010101" pitchFamily="49" charset="-122"/>
                  <a:ea typeface="黑体" panose="02010609060101010101" pitchFamily="49" charset="-122"/>
                </a:rPr>
                <a:t>照明及其它</a:t>
              </a:r>
              <a:endParaRPr lang="zh-CN" altLang="en-US" sz="1800" b="0">
                <a:solidFill>
                  <a:schemeClr val="tx1"/>
                </a:solidFill>
                <a:latin typeface="黑体" panose="02010609060101010101" pitchFamily="49" charset="-122"/>
                <a:ea typeface="黑体" panose="02010609060101010101" pitchFamily="49" charset="-122"/>
              </a:endParaRPr>
            </a:p>
          </p:txBody>
        </p:sp>
        <p:sp>
          <p:nvSpPr>
            <p:cNvPr id="12" name="Line 8"/>
            <p:cNvSpPr>
              <a:spLocks noChangeShapeType="1"/>
            </p:cNvSpPr>
            <p:nvPr/>
          </p:nvSpPr>
          <p:spPr bwMode="auto">
            <a:xfrm>
              <a:off x="1621" y="3177"/>
              <a:ext cx="709"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9"/>
            <p:cNvSpPr txBox="1">
              <a:spLocks noChangeArrowheads="1"/>
            </p:cNvSpPr>
            <p:nvPr/>
          </p:nvSpPr>
          <p:spPr bwMode="auto">
            <a:xfrm>
              <a:off x="1231" y="2933"/>
              <a:ext cx="80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spcBef>
                  <a:spcPct val="50000"/>
                </a:spcBef>
              </a:pPr>
              <a:r>
                <a:rPr lang="zh-CN" altLang="en-US" sz="1800" b="0" dirty="0">
                  <a:solidFill>
                    <a:schemeClr val="tx1"/>
                  </a:solidFill>
                  <a:latin typeface="黑体" panose="02010609060101010101" pitchFamily="49" charset="-122"/>
                  <a:ea typeface="黑体" panose="02010609060101010101" pitchFamily="49" charset="-122"/>
                </a:rPr>
                <a:t>油机电</a:t>
              </a:r>
              <a:endParaRPr lang="zh-CN" altLang="en-US" sz="1800" b="0" dirty="0">
                <a:solidFill>
                  <a:schemeClr val="tx1"/>
                </a:solidFill>
                <a:latin typeface="黑体" panose="02010609060101010101" pitchFamily="49" charset="-122"/>
                <a:ea typeface="黑体" panose="02010609060101010101" pitchFamily="49" charset="-122"/>
              </a:endParaRPr>
            </a:p>
          </p:txBody>
        </p:sp>
        <p:sp>
          <p:nvSpPr>
            <p:cNvPr id="14" name="AutoShape 10"/>
            <p:cNvSpPr>
              <a:spLocks noChangeArrowheads="1"/>
            </p:cNvSpPr>
            <p:nvPr/>
          </p:nvSpPr>
          <p:spPr bwMode="auto">
            <a:xfrm>
              <a:off x="3083" y="1833"/>
              <a:ext cx="443" cy="1632"/>
            </a:xfrm>
            <a:prstGeom prst="cube">
              <a:avLst>
                <a:gd name="adj" fmla="val 25000"/>
              </a:avLst>
            </a:prstGeom>
            <a:solidFill>
              <a:srgbClr val="CCFFCC"/>
            </a:solidFill>
            <a:ln w="9525">
              <a:solidFill>
                <a:srgbClr val="000000"/>
              </a:solidFill>
              <a:miter lim="800000"/>
            </a:ln>
          </p:spPr>
          <p:txBody>
            <a:bodyPr wrap="none" anchor="ct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zh-CN" altLang="en-US" sz="1800" b="0">
                  <a:solidFill>
                    <a:schemeClr val="tx1"/>
                  </a:solidFill>
                  <a:latin typeface="黑体" panose="02010609060101010101" pitchFamily="49" charset="-122"/>
                  <a:ea typeface="黑体" panose="02010609060101010101" pitchFamily="49" charset="-122"/>
                </a:rPr>
                <a:t>交</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流</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配</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电</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箱</a:t>
              </a:r>
              <a:endParaRPr lang="zh-CN" altLang="en-US" sz="1800" b="0">
                <a:solidFill>
                  <a:schemeClr val="tx1"/>
                </a:solidFill>
                <a:latin typeface="黑体" panose="02010609060101010101" pitchFamily="49" charset="-122"/>
                <a:ea typeface="黑体" panose="02010609060101010101" pitchFamily="49" charset="-122"/>
              </a:endParaRPr>
            </a:p>
          </p:txBody>
        </p:sp>
        <p:sp>
          <p:nvSpPr>
            <p:cNvPr id="15" name="AutoShape 11"/>
            <p:cNvSpPr>
              <a:spLocks noChangeArrowheads="1"/>
            </p:cNvSpPr>
            <p:nvPr/>
          </p:nvSpPr>
          <p:spPr bwMode="auto">
            <a:xfrm>
              <a:off x="2330" y="1833"/>
              <a:ext cx="443" cy="1632"/>
            </a:xfrm>
            <a:prstGeom prst="cube">
              <a:avLst>
                <a:gd name="adj" fmla="val 25000"/>
              </a:avLst>
            </a:prstGeom>
            <a:solidFill>
              <a:srgbClr val="CCFFCC"/>
            </a:solidFill>
            <a:ln w="9525">
              <a:solidFill>
                <a:srgbClr val="000000"/>
              </a:solidFill>
              <a:miter lim="800000"/>
            </a:ln>
          </p:spPr>
          <p:txBody>
            <a:bodyPr wrap="none" anchor="ct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zh-CN" altLang="en-US" sz="1800" b="0">
                  <a:solidFill>
                    <a:schemeClr val="tx1"/>
                  </a:solidFill>
                  <a:latin typeface="黑体" panose="02010609060101010101" pitchFamily="49" charset="-122"/>
                  <a:ea typeface="黑体" panose="02010609060101010101" pitchFamily="49" charset="-122"/>
                </a:rPr>
                <a:t>市</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电</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油</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机</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电</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转</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换</a:t>
              </a:r>
              <a:endParaRPr lang="zh-CN" altLang="en-US" sz="1800" b="0">
                <a:solidFill>
                  <a:schemeClr val="tx1"/>
                </a:solidFill>
                <a:latin typeface="黑体" panose="02010609060101010101" pitchFamily="49" charset="-122"/>
                <a:ea typeface="黑体" panose="02010609060101010101" pitchFamily="49" charset="-122"/>
              </a:endParaRPr>
            </a:p>
            <a:p>
              <a:r>
                <a:rPr lang="zh-CN" altLang="en-US" sz="1800" b="0">
                  <a:solidFill>
                    <a:schemeClr val="tx1"/>
                  </a:solidFill>
                  <a:latin typeface="黑体" panose="02010609060101010101" pitchFamily="49" charset="-122"/>
                  <a:ea typeface="黑体" panose="02010609060101010101" pitchFamily="49" charset="-122"/>
                </a:rPr>
                <a:t>屏</a:t>
              </a:r>
              <a:endParaRPr lang="zh-CN" altLang="en-US" sz="1800" b="0">
                <a:solidFill>
                  <a:schemeClr val="tx1"/>
                </a:solidFill>
                <a:latin typeface="黑体" panose="02010609060101010101" pitchFamily="49" charset="-122"/>
                <a:ea typeface="黑体" panose="02010609060101010101" pitchFamily="49" charset="-122"/>
              </a:endParaRPr>
            </a:p>
          </p:txBody>
        </p:sp>
        <p:sp>
          <p:nvSpPr>
            <p:cNvPr id="16" name="AutoShape 12"/>
            <p:cNvSpPr>
              <a:spLocks noChangeArrowheads="1"/>
            </p:cNvSpPr>
            <p:nvPr/>
          </p:nvSpPr>
          <p:spPr bwMode="auto">
            <a:xfrm>
              <a:off x="1754" y="1641"/>
              <a:ext cx="310" cy="1104"/>
            </a:xfrm>
            <a:prstGeom prst="cube">
              <a:avLst>
                <a:gd name="adj" fmla="val 25000"/>
              </a:avLst>
            </a:prstGeom>
            <a:solidFill>
              <a:srgbClr val="CCFFCC"/>
            </a:solidFill>
            <a:ln w="9525">
              <a:solidFill>
                <a:srgbClr val="000000"/>
              </a:solidFill>
              <a:miter lim="800000"/>
            </a:ln>
          </p:spPr>
          <p:txBody>
            <a:bodyPr wrap="none" anchor="ct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en-US" altLang="zh-CN" sz="1800" b="0">
                  <a:solidFill>
                    <a:schemeClr val="tx1"/>
                  </a:solidFill>
                  <a:latin typeface="黑体" panose="02010609060101010101" pitchFamily="49" charset="-122"/>
                  <a:ea typeface="黑体" panose="02010609060101010101" pitchFamily="49" charset="-122"/>
                </a:rPr>
                <a:t>S</a:t>
              </a:r>
              <a:endParaRPr lang="en-US" altLang="zh-CN" sz="1800" b="0">
                <a:solidFill>
                  <a:schemeClr val="tx1"/>
                </a:solidFill>
                <a:latin typeface="黑体" panose="02010609060101010101" pitchFamily="49" charset="-122"/>
                <a:ea typeface="黑体" panose="02010609060101010101" pitchFamily="49" charset="-122"/>
              </a:endParaRPr>
            </a:p>
            <a:p>
              <a:r>
                <a:rPr lang="en-US" altLang="zh-CN" sz="1800" b="0">
                  <a:solidFill>
                    <a:schemeClr val="tx1"/>
                  </a:solidFill>
                  <a:latin typeface="黑体" panose="02010609060101010101" pitchFamily="49" charset="-122"/>
                  <a:ea typeface="黑体" panose="02010609060101010101" pitchFamily="49" charset="-122"/>
                </a:rPr>
                <a:t>P</a:t>
              </a:r>
              <a:endParaRPr lang="en-US" altLang="zh-CN" sz="1800" b="0">
                <a:solidFill>
                  <a:schemeClr val="tx1"/>
                </a:solidFill>
                <a:latin typeface="黑体" panose="02010609060101010101" pitchFamily="49" charset="-122"/>
                <a:ea typeface="黑体" panose="02010609060101010101" pitchFamily="49" charset="-122"/>
              </a:endParaRPr>
            </a:p>
            <a:p>
              <a:r>
                <a:rPr lang="en-US" altLang="zh-CN" sz="1800" b="0">
                  <a:solidFill>
                    <a:schemeClr val="tx1"/>
                  </a:solidFill>
                  <a:latin typeface="黑体" panose="02010609060101010101" pitchFamily="49" charset="-122"/>
                  <a:ea typeface="黑体" panose="02010609060101010101" pitchFamily="49" charset="-122"/>
                </a:rPr>
                <a:t>D</a:t>
              </a:r>
              <a:endParaRPr lang="en-US" altLang="zh-CN" sz="1800" b="0">
                <a:solidFill>
                  <a:schemeClr val="tx1"/>
                </a:solidFill>
                <a:latin typeface="黑体" panose="02010609060101010101" pitchFamily="49" charset="-122"/>
                <a:ea typeface="黑体" panose="02010609060101010101" pitchFamily="49" charset="-122"/>
              </a:endParaRPr>
            </a:p>
          </p:txBody>
        </p:sp>
        <p:sp>
          <p:nvSpPr>
            <p:cNvPr id="17" name="Line 13"/>
            <p:cNvSpPr>
              <a:spLocks noChangeShapeType="1"/>
            </p:cNvSpPr>
            <p:nvPr/>
          </p:nvSpPr>
          <p:spPr bwMode="auto">
            <a:xfrm>
              <a:off x="3482" y="2025"/>
              <a:ext cx="35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4"/>
            <p:cNvSpPr>
              <a:spLocks noChangeShapeType="1"/>
            </p:cNvSpPr>
            <p:nvPr/>
          </p:nvSpPr>
          <p:spPr bwMode="auto">
            <a:xfrm>
              <a:off x="2020" y="2169"/>
              <a:ext cx="31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5"/>
            <p:cNvSpPr>
              <a:spLocks noChangeShapeType="1"/>
            </p:cNvSpPr>
            <p:nvPr/>
          </p:nvSpPr>
          <p:spPr bwMode="auto">
            <a:xfrm>
              <a:off x="2729" y="2649"/>
              <a:ext cx="35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6"/>
            <p:cNvSpPr>
              <a:spLocks noChangeShapeType="1"/>
            </p:cNvSpPr>
            <p:nvPr/>
          </p:nvSpPr>
          <p:spPr bwMode="auto">
            <a:xfrm>
              <a:off x="3482" y="2649"/>
              <a:ext cx="35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7"/>
            <p:cNvSpPr>
              <a:spLocks noChangeShapeType="1"/>
            </p:cNvSpPr>
            <p:nvPr/>
          </p:nvSpPr>
          <p:spPr bwMode="auto">
            <a:xfrm>
              <a:off x="3482" y="3225"/>
              <a:ext cx="35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Text Box 20"/>
            <p:cNvSpPr txBox="1">
              <a:spLocks noChangeArrowheads="1"/>
            </p:cNvSpPr>
            <p:nvPr/>
          </p:nvSpPr>
          <p:spPr bwMode="auto">
            <a:xfrm>
              <a:off x="1195" y="3181"/>
              <a:ext cx="117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spcBef>
                  <a:spcPct val="50000"/>
                </a:spcBef>
              </a:pPr>
              <a:r>
                <a:rPr lang="zh-CN" altLang="en-US" sz="1400" b="0" dirty="0">
                  <a:solidFill>
                    <a:schemeClr val="tx1"/>
                  </a:solidFill>
                  <a:latin typeface="黑体" panose="02010609060101010101" pitchFamily="49" charset="-122"/>
                  <a:ea typeface="黑体" panose="02010609060101010101" pitchFamily="49" charset="-122"/>
                </a:rPr>
                <a:t>（移动油机）</a:t>
              </a:r>
              <a:endParaRPr lang="zh-CN" altLang="en-US" sz="1400" b="0" dirty="0">
                <a:solidFill>
                  <a:schemeClr val="tx1"/>
                </a:solidFill>
                <a:latin typeface="黑体" panose="02010609060101010101" pitchFamily="49" charset="-122"/>
                <a:ea typeface="黑体" panose="02010609060101010101" pitchFamily="49" charset="-122"/>
              </a:endParaRPr>
            </a:p>
          </p:txBody>
        </p:sp>
        <p:sp>
          <p:nvSpPr>
            <p:cNvPr id="23" name="Line 6"/>
            <p:cNvSpPr>
              <a:spLocks noChangeShapeType="1"/>
            </p:cNvSpPr>
            <p:nvPr/>
          </p:nvSpPr>
          <p:spPr bwMode="auto">
            <a:xfrm>
              <a:off x="1444" y="2160"/>
              <a:ext cx="311"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AutoShape 22"/>
            <p:cNvSpPr>
              <a:spLocks noChangeArrowheads="1"/>
            </p:cNvSpPr>
            <p:nvPr/>
          </p:nvSpPr>
          <p:spPr bwMode="auto">
            <a:xfrm>
              <a:off x="2154" y="1525"/>
              <a:ext cx="1497" cy="2132"/>
            </a:xfrm>
            <a:prstGeom prst="flowChartProcess">
              <a:avLst/>
            </a:prstGeom>
            <a:solidFill>
              <a:srgbClr val="00CC99">
                <a:alpha val="10196"/>
              </a:srgbClr>
            </a:solidFill>
            <a:ln w="9525">
              <a:solidFill>
                <a:schemeClr val="tx1"/>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spcBef>
                  <a:spcPct val="50000"/>
                </a:spcBef>
              </a:pPr>
              <a:endParaRPr lang="zh-CN" altLang="en-US"/>
            </a:p>
          </p:txBody>
        </p:sp>
      </p:gr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276" y="969764"/>
            <a:ext cx="8686800" cy="39742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2.6.4 </a:t>
            </a:r>
            <a:r>
              <a:rPr lang="zh-CN" altLang="en-US" sz="2200" b="1" dirty="0">
                <a:solidFill>
                  <a:srgbClr val="660033"/>
                </a:solidFill>
                <a:latin typeface="黑体" panose="02010609060101010101" pitchFamily="49" charset="-122"/>
                <a:ea typeface="黑体" panose="02010609060101010101" pitchFamily="49" charset="-122"/>
              </a:rPr>
              <a:t>基站防雷接地系统查勘要点</a:t>
            </a:r>
            <a:endParaRPr lang="zh-CN" altLang="en-US" sz="2200" b="1" dirty="0">
              <a:solidFill>
                <a:srgbClr val="660033"/>
              </a:solidFill>
              <a:latin typeface="黑体" panose="02010609060101010101" pitchFamily="49" charset="-122"/>
              <a:ea typeface="黑体" panose="02010609060101010101" pitchFamily="49" charset="-122"/>
            </a:endParaRPr>
          </a:p>
          <a:p>
            <a:pPr marL="457200" indent="-457200">
              <a:lnSpc>
                <a:spcPct val="130000"/>
              </a:lnSpc>
              <a:spcBef>
                <a:spcPct val="30000"/>
              </a:spcBef>
              <a:buFontTx/>
              <a:buNone/>
            </a:pPr>
            <a:r>
              <a:rPr lang="zh-CN" altLang="en-US" sz="2000" dirty="0">
                <a:latin typeface="宋体" panose="02010600030101010101" pitchFamily="2" charset="-122"/>
                <a:ea typeface="宋体" panose="02010600030101010101" pitchFamily="2" charset="-122"/>
              </a:rPr>
              <a:t>⑴接地引入方式</a:t>
            </a:r>
            <a:endParaRPr lang="zh-CN" altLang="en-US" sz="2000" dirty="0">
              <a:latin typeface="宋体" panose="02010600030101010101" pitchFamily="2" charset="-122"/>
              <a:ea typeface="宋体" panose="02010600030101010101" pitchFamily="2" charset="-122"/>
            </a:endParaRPr>
          </a:p>
          <a:p>
            <a:pPr marL="457200" indent="-457200">
              <a:lnSpc>
                <a:spcPct val="130000"/>
              </a:lnSpc>
              <a:spcBef>
                <a:spcPct val="30000"/>
              </a:spcBef>
              <a:buFontTx/>
              <a:buNone/>
            </a:pPr>
            <a:r>
              <a:rPr lang="zh-CN" altLang="en-US" sz="2000" dirty="0">
                <a:ea typeface="宋体" panose="02010600030101010101" pitchFamily="2" charset="-122"/>
              </a:rPr>
              <a:t>① </a:t>
            </a:r>
            <a:r>
              <a:rPr lang="zh-CN" altLang="en-US" sz="2000" dirty="0">
                <a:latin typeface="宋体" panose="02010600030101010101" pitchFamily="2" charset="-122"/>
                <a:ea typeface="宋体" panose="02010600030101010101" pitchFamily="2" charset="-122"/>
              </a:rPr>
              <a:t>室外天馈接地</a:t>
            </a:r>
            <a:r>
              <a:rPr lang="zh-CN" altLang="en-US" sz="2000" dirty="0">
                <a:ea typeface="宋体" panose="02010600030101010101" pitchFamily="2" charset="-122"/>
              </a:rPr>
              <a:t>可根据安装位置选用 </a:t>
            </a:r>
            <a:r>
              <a:rPr lang="en-US" altLang="zh-CN" sz="2000" dirty="0">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457200" indent="-457200">
              <a:lnSpc>
                <a:spcPct val="130000"/>
              </a:lnSpc>
              <a:spcBef>
                <a:spcPct val="30000"/>
              </a:spcBef>
              <a:buFontTx/>
              <a:buNone/>
            </a:pP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自建地网</a:t>
            </a:r>
            <a:r>
              <a:rPr lang="en-US" altLang="zh-CN" sz="2000" dirty="0">
                <a:latin typeface="宋体" panose="02010600030101010101" pitchFamily="2" charset="-122"/>
                <a:ea typeface="宋体" panose="02010600030101010101" pitchFamily="2" charset="-122"/>
              </a:rPr>
              <a:t>    b.</a:t>
            </a:r>
            <a:r>
              <a:rPr lang="zh-CN" altLang="en-US" sz="2000" dirty="0">
                <a:latin typeface="宋体" panose="02010600030101010101" pitchFamily="2" charset="-122"/>
                <a:ea typeface="宋体" panose="02010600030101010101" pitchFamily="2" charset="-122"/>
              </a:rPr>
              <a:t>楼顶避雷带</a:t>
            </a:r>
            <a:r>
              <a:rPr lang="en-US" altLang="zh-CN" sz="2000" dirty="0">
                <a:latin typeface="宋体" panose="02010600030101010101" pitchFamily="2" charset="-122"/>
                <a:ea typeface="宋体" panose="02010600030101010101" pitchFamily="2" charset="-122"/>
              </a:rPr>
              <a:t>    c.</a:t>
            </a:r>
            <a:r>
              <a:rPr lang="zh-CN" altLang="en-US" sz="2000" dirty="0">
                <a:latin typeface="宋体" panose="02010600030101010101" pitchFamily="2" charset="-122"/>
                <a:ea typeface="宋体" panose="02010600030101010101" pitchFamily="2" charset="-122"/>
              </a:rPr>
              <a:t>利</a:t>
            </a:r>
            <a:r>
              <a:rPr lang="zh-CN" altLang="en-US" sz="2000" dirty="0">
                <a:latin typeface="宋体" panose="02010600030101010101" pitchFamily="2" charset="-122"/>
                <a:ea typeface="宋体" panose="02010600030101010101" pitchFamily="2" charset="-122"/>
              </a:rPr>
              <a:t>用已有地网</a:t>
            </a:r>
            <a:endParaRPr lang="zh-CN" altLang="en-US" sz="2000" dirty="0">
              <a:latin typeface="宋体" panose="02010600030101010101" pitchFamily="2" charset="-122"/>
              <a:ea typeface="宋体" panose="02010600030101010101" pitchFamily="2" charset="-122"/>
            </a:endParaRPr>
          </a:p>
          <a:p>
            <a:pPr marL="457200" indent="-457200">
              <a:lnSpc>
                <a:spcPct val="130000"/>
              </a:lnSpc>
              <a:spcBef>
                <a:spcPct val="30000"/>
              </a:spcBef>
              <a:buFontTx/>
              <a:buNone/>
            </a:pPr>
            <a:r>
              <a:rPr lang="zh-CN" altLang="en-US" sz="2000" dirty="0">
                <a:ea typeface="宋体" panose="02010600030101010101" pitchFamily="2" charset="-122"/>
              </a:rPr>
              <a:t>② </a:t>
            </a:r>
            <a:r>
              <a:rPr lang="zh-CN" altLang="en-US" sz="2000" dirty="0">
                <a:latin typeface="宋体" panose="02010600030101010101" pitchFamily="2" charset="-122"/>
                <a:ea typeface="宋体" panose="02010600030101010101" pitchFamily="2" charset="-122"/>
              </a:rPr>
              <a:t>室内接地</a:t>
            </a:r>
            <a:r>
              <a:rPr lang="zh-CN" altLang="en-US" sz="2000" dirty="0">
                <a:ea typeface="宋体" panose="02010600030101010101" pitchFamily="2" charset="-122"/>
              </a:rPr>
              <a:t>根据具体情况可选用 </a:t>
            </a:r>
            <a:r>
              <a:rPr lang="en-US" altLang="zh-CN" sz="2000" dirty="0">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457200" indent="-457200">
              <a:lnSpc>
                <a:spcPct val="130000"/>
              </a:lnSpc>
              <a:spcBef>
                <a:spcPct val="30000"/>
              </a:spcBef>
              <a:buFontTx/>
              <a:buNone/>
            </a:pP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自建地网</a:t>
            </a:r>
            <a:r>
              <a:rPr lang="en-US" altLang="zh-CN" sz="2000" dirty="0">
                <a:latin typeface="宋体" panose="02010600030101010101" pitchFamily="2" charset="-122"/>
                <a:ea typeface="宋体" panose="02010600030101010101" pitchFamily="2" charset="-122"/>
              </a:rPr>
              <a:t>   b.</a:t>
            </a:r>
            <a:r>
              <a:rPr lang="zh-CN" altLang="en-US" sz="2000" dirty="0">
                <a:latin typeface="宋体" panose="02010600030101010101" pitchFamily="2" charset="-122"/>
                <a:ea typeface="宋体" panose="02010600030101010101" pitchFamily="2" charset="-122"/>
              </a:rPr>
              <a:t>大楼主钢筋</a:t>
            </a:r>
            <a:r>
              <a:rPr lang="en-US" altLang="zh-CN" sz="2000" dirty="0">
                <a:latin typeface="宋体" panose="02010600030101010101" pitchFamily="2" charset="-122"/>
                <a:ea typeface="宋体" panose="02010600030101010101" pitchFamily="2" charset="-122"/>
              </a:rPr>
              <a:t>   c.</a:t>
            </a:r>
            <a:r>
              <a:rPr lang="zh-CN" altLang="en-US" sz="2000" dirty="0">
                <a:latin typeface="宋体" panose="02010600030101010101" pitchFamily="2" charset="-122"/>
                <a:ea typeface="宋体" panose="02010600030101010101" pitchFamily="2" charset="-122"/>
              </a:rPr>
              <a:t>大楼内总地排</a:t>
            </a:r>
            <a:endParaRPr lang="zh-CN" altLang="en-US" sz="2000" dirty="0">
              <a:latin typeface="宋体" panose="02010600030101010101" pitchFamily="2" charset="-122"/>
              <a:ea typeface="宋体" panose="02010600030101010101" pitchFamily="2" charset="-122"/>
            </a:endParaRPr>
          </a:p>
          <a:p>
            <a:pPr marL="457200" indent="-457200">
              <a:spcBef>
                <a:spcPct val="0"/>
              </a:spcBef>
              <a:buFont typeface="Wingdings" panose="05000000000000000000" pitchFamily="2" charset="2"/>
              <a:buChar char="Ø"/>
            </a:pPr>
            <a:endParaRPr lang="zh-CN" altLang="en-US" sz="2000" dirty="0">
              <a:latin typeface="宋体" panose="02010600030101010101" pitchFamily="2" charset="-122"/>
              <a:ea typeface="宋体" panose="02010600030101010101" pitchFamily="2" charset="-122"/>
            </a:endParaRPr>
          </a:p>
        </p:txBody>
      </p:sp>
      <p:sp>
        <p:nvSpPr>
          <p:cNvPr id="8" name="Text Box 6"/>
          <p:cNvSpPr txBox="1">
            <a:spLocks noChangeArrowheads="1"/>
          </p:cNvSpPr>
          <p:nvPr/>
        </p:nvSpPr>
        <p:spPr bwMode="auto">
          <a:xfrm>
            <a:off x="1844180" y="4066237"/>
            <a:ext cx="60162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defRPr/>
            </a:pPr>
            <a:r>
              <a:rPr lang="zh-CN" altLang="en-US" dirty="0">
                <a:solidFill>
                  <a:srgbClr val="FF0000"/>
                </a:solidFill>
                <a:ea typeface="宋体" panose="02010600030101010101" pitchFamily="2" charset="-122"/>
              </a:rPr>
              <a:t>注意：在做接地体时应调查清楚地下相关管线结构情况。</a:t>
            </a:r>
            <a:endParaRPr lang="zh-CN" altLang="en-US" dirty="0">
              <a:solidFill>
                <a:srgbClr val="FF0000"/>
              </a:solidFill>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iterate type="lt">
                                    <p:tmPct val="0"/>
                                  </p:iterate>
                                  <p:childTnLst>
                                    <p:set>
                                      <p:cBhvr>
                                        <p:cTn id="6" dur="1" fill="hold">
                                          <p:stCondLst>
                                            <p:cond delay="0"/>
                                          </p:stCondLst>
                                        </p:cTn>
                                        <p:tgtEl>
                                          <p:spTgt spid="8"/>
                                        </p:tgtEl>
                                        <p:attrNameLst>
                                          <p:attrName>style.visibility</p:attrName>
                                        </p:attrNameLst>
                                      </p:cBhvr>
                                      <p:to>
                                        <p:strVal val="visible"/>
                                      </p:to>
                                    </p:set>
                                    <p:animEffect transition="in" filter="wipe(down)">
                                      <p:cBhvr>
                                        <p:cTn id="7" dur="290">
                                          <p:stCondLst>
                                            <p:cond delay="0"/>
                                          </p:stCondLst>
                                        </p:cTn>
                                        <p:tgtEl>
                                          <p:spTgt spid="8"/>
                                        </p:tgtEl>
                                      </p:cBhvr>
                                    </p:animEffect>
                                    <p:anim calcmode="lin" valueType="num">
                                      <p:cBhvr>
                                        <p:cTn id="8" dur="911"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8"/>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8"/>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8"/>
                                        </p:tgtEl>
                                        <p:attrNameLst>
                                          <p:attrName>ppt_y</p:attrName>
                                        </p:attrNameLst>
                                      </p:cBhvr>
                                      <p:tavLst>
                                        <p:tav tm="0" fmla="#ppt_y-sin(pi*$)/81">
                                          <p:val>
                                            <p:fltVal val="0"/>
                                          </p:val>
                                        </p:tav>
                                        <p:tav tm="100000">
                                          <p:val>
                                            <p:fltVal val="1"/>
                                          </p:val>
                                        </p:tav>
                                      </p:tavLst>
                                    </p:anim>
                                    <p:animScale>
                                      <p:cBhvr>
                                        <p:cTn id="13" dur="13">
                                          <p:stCondLst>
                                            <p:cond delay="325"/>
                                          </p:stCondLst>
                                        </p:cTn>
                                        <p:tgtEl>
                                          <p:spTgt spid="8"/>
                                        </p:tgtEl>
                                      </p:cBhvr>
                                      <p:to x="100000" y="60000"/>
                                    </p:animScale>
                                    <p:animScale>
                                      <p:cBhvr>
                                        <p:cTn id="14" dur="83" decel="50000">
                                          <p:stCondLst>
                                            <p:cond delay="338"/>
                                          </p:stCondLst>
                                        </p:cTn>
                                        <p:tgtEl>
                                          <p:spTgt spid="8"/>
                                        </p:tgtEl>
                                      </p:cBhvr>
                                      <p:to x="100000" y="100000"/>
                                    </p:animScale>
                                    <p:animScale>
                                      <p:cBhvr>
                                        <p:cTn id="15" dur="13">
                                          <p:stCondLst>
                                            <p:cond delay="656"/>
                                          </p:stCondLst>
                                        </p:cTn>
                                        <p:tgtEl>
                                          <p:spTgt spid="8"/>
                                        </p:tgtEl>
                                      </p:cBhvr>
                                      <p:to x="100000" y="80000"/>
                                    </p:animScale>
                                    <p:animScale>
                                      <p:cBhvr>
                                        <p:cTn id="16" dur="83" decel="50000">
                                          <p:stCondLst>
                                            <p:cond delay="669"/>
                                          </p:stCondLst>
                                        </p:cTn>
                                        <p:tgtEl>
                                          <p:spTgt spid="8"/>
                                        </p:tgtEl>
                                      </p:cBhvr>
                                      <p:to x="100000" y="100000"/>
                                    </p:animScale>
                                    <p:animScale>
                                      <p:cBhvr>
                                        <p:cTn id="17" dur="13">
                                          <p:stCondLst>
                                            <p:cond delay="821"/>
                                          </p:stCondLst>
                                        </p:cTn>
                                        <p:tgtEl>
                                          <p:spTgt spid="8"/>
                                        </p:tgtEl>
                                      </p:cBhvr>
                                      <p:to x="100000" y="90000"/>
                                    </p:animScale>
                                    <p:animScale>
                                      <p:cBhvr>
                                        <p:cTn id="18" dur="83" decel="50000">
                                          <p:stCondLst>
                                            <p:cond delay="834"/>
                                          </p:stCondLst>
                                        </p:cTn>
                                        <p:tgtEl>
                                          <p:spTgt spid="8"/>
                                        </p:tgtEl>
                                      </p:cBhvr>
                                      <p:to x="100000" y="100000"/>
                                    </p:animScale>
                                    <p:animScale>
                                      <p:cBhvr>
                                        <p:cTn id="19" dur="13">
                                          <p:stCondLst>
                                            <p:cond delay="904"/>
                                          </p:stCondLst>
                                        </p:cTn>
                                        <p:tgtEl>
                                          <p:spTgt spid="8"/>
                                        </p:tgtEl>
                                      </p:cBhvr>
                                      <p:to x="100000" y="95000"/>
                                    </p:animScale>
                                    <p:animScale>
                                      <p:cBhvr>
                                        <p:cTn id="20" dur="83" decel="50000">
                                          <p:stCondLst>
                                            <p:cond delay="917"/>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276" y="969764"/>
            <a:ext cx="8686800" cy="39742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2.6.4 </a:t>
            </a:r>
            <a:r>
              <a:rPr lang="zh-CN" altLang="en-US" sz="2200" b="1" dirty="0">
                <a:solidFill>
                  <a:srgbClr val="660033"/>
                </a:solidFill>
                <a:latin typeface="黑体" panose="02010609060101010101" pitchFamily="49" charset="-122"/>
                <a:ea typeface="黑体" panose="02010609060101010101" pitchFamily="49" charset="-122"/>
              </a:rPr>
              <a:t>基站防雷接地系统查勘要点</a:t>
            </a:r>
            <a:endParaRPr lang="zh-CN" altLang="en-US" sz="2200" b="1" dirty="0">
              <a:solidFill>
                <a:srgbClr val="660033"/>
              </a:solidFill>
              <a:latin typeface="黑体" panose="02010609060101010101" pitchFamily="49" charset="-122"/>
              <a:ea typeface="黑体" panose="02010609060101010101" pitchFamily="49" charset="-122"/>
            </a:endParaRPr>
          </a:p>
          <a:p>
            <a:pPr marL="457200" indent="-457200">
              <a:spcBef>
                <a:spcPct val="0"/>
              </a:spcBef>
              <a:buFont typeface="Wingdings" panose="05000000000000000000" pitchFamily="2" charset="2"/>
              <a:buChar char="Ø"/>
            </a:pPr>
            <a:endParaRPr lang="zh-CN" altLang="en-US" sz="2200" b="1" dirty="0">
              <a:ea typeface="宋体" panose="02010600030101010101" pitchFamily="2" charset="-122"/>
            </a:endParaRPr>
          </a:p>
        </p:txBody>
      </p:sp>
      <p:sp>
        <p:nvSpPr>
          <p:cNvPr id="7" name="Rectangle 4"/>
          <p:cNvSpPr txBox="1">
            <a:spLocks noChangeArrowheads="1"/>
          </p:cNvSpPr>
          <p:nvPr/>
        </p:nvSpPr>
        <p:spPr bwMode="auto">
          <a:xfrm>
            <a:off x="403860" y="1402080"/>
            <a:ext cx="7387590" cy="350329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lnSpc>
                <a:spcPct val="140000"/>
              </a:lnSpc>
              <a:spcBef>
                <a:spcPct val="40000"/>
              </a:spcBef>
              <a:buFontTx/>
              <a:buNone/>
            </a:pPr>
            <a:r>
              <a:rPr lang="zh-CN" altLang="en-US" sz="2000" dirty="0">
                <a:ea typeface="宋体" panose="02010600030101010101" pitchFamily="2" charset="-122"/>
              </a:rPr>
              <a:t>⑵ </a:t>
            </a:r>
            <a:r>
              <a:rPr lang="zh-CN" altLang="en-US" sz="2000" dirty="0">
                <a:latin typeface="宋体" panose="02010600030101010101" pitchFamily="2" charset="-122"/>
                <a:ea typeface="宋体" panose="02010600030101010101" pitchFamily="2" charset="-122"/>
              </a:rPr>
              <a:t>自建地网的要求</a:t>
            </a:r>
            <a:endParaRPr lang="zh-CN" altLang="en-US" sz="2000" dirty="0">
              <a:latin typeface="宋体" panose="02010600030101010101" pitchFamily="2" charset="-122"/>
              <a:ea typeface="宋体" panose="02010600030101010101" pitchFamily="2" charset="-122"/>
            </a:endParaRPr>
          </a:p>
          <a:p>
            <a:pPr marL="457200" indent="-457200">
              <a:lnSpc>
                <a:spcPct val="140000"/>
              </a:lnSpc>
              <a:spcBef>
                <a:spcPct val="40000"/>
              </a:spcBef>
              <a:buFontTx/>
              <a:buAutoNum type="circleNumDbPlain"/>
            </a:pPr>
            <a:r>
              <a:rPr lang="zh-CN" altLang="en-US" sz="2000" dirty="0">
                <a:latin typeface="宋体" panose="02010600030101010101" pitchFamily="2" charset="-122"/>
                <a:ea typeface="宋体" panose="02010600030101010101" pitchFamily="2" charset="-122"/>
              </a:rPr>
              <a:t>基站所在地区土壤电阻率</a:t>
            </a:r>
            <a:r>
              <a:rPr lang="zh-CN" altLang="en-US" sz="2000" dirty="0">
                <a:solidFill>
                  <a:srgbClr val="0070C0"/>
                </a:solidFill>
                <a:latin typeface="宋体" panose="02010600030101010101" pitchFamily="2" charset="-122"/>
                <a:ea typeface="宋体" panose="02010600030101010101" pitchFamily="2" charset="-122"/>
              </a:rPr>
              <a:t>低于</a:t>
            </a:r>
            <a:r>
              <a:rPr lang="en-US" altLang="zh-CN" sz="2000" dirty="0">
                <a:solidFill>
                  <a:srgbClr val="0070C0"/>
                </a:solidFill>
                <a:latin typeface="宋体" panose="02010600030101010101" pitchFamily="2" charset="-122"/>
                <a:ea typeface="宋体" panose="02010600030101010101" pitchFamily="2" charset="-122"/>
              </a:rPr>
              <a:t>700Ω·m</a:t>
            </a:r>
            <a:r>
              <a:rPr lang="zh-CN" altLang="en-US" sz="2000" dirty="0">
                <a:latin typeface="宋体" panose="02010600030101010101" pitchFamily="2" charset="-122"/>
                <a:ea typeface="宋体" panose="02010600030101010101" pitchFamily="2" charset="-122"/>
              </a:rPr>
              <a:t>时，基站地网的工频接地电阻值宜控制在</a:t>
            </a:r>
            <a:r>
              <a:rPr lang="en-US" altLang="zh-CN" sz="2000" dirty="0">
                <a:latin typeface="宋体" panose="02010600030101010101" pitchFamily="2" charset="-122"/>
                <a:ea typeface="宋体" panose="02010600030101010101" pitchFamily="2" charset="-122"/>
              </a:rPr>
              <a:t>10Ω</a:t>
            </a:r>
            <a:r>
              <a:rPr lang="zh-CN" altLang="en-US" sz="2000" dirty="0">
                <a:latin typeface="宋体" panose="02010600030101010101" pitchFamily="2" charset="-122"/>
                <a:ea typeface="宋体" panose="02010600030101010101" pitchFamily="2" charset="-122"/>
              </a:rPr>
              <a:t>以内</a:t>
            </a:r>
            <a:endParaRPr lang="zh-CN" altLang="en-US" sz="2000" dirty="0">
              <a:latin typeface="宋体" panose="02010600030101010101" pitchFamily="2" charset="-122"/>
              <a:ea typeface="宋体" panose="02010600030101010101" pitchFamily="2" charset="-122"/>
            </a:endParaRPr>
          </a:p>
          <a:p>
            <a:pPr marL="457200" indent="-457200">
              <a:lnSpc>
                <a:spcPct val="140000"/>
              </a:lnSpc>
              <a:spcBef>
                <a:spcPct val="40000"/>
              </a:spcBef>
              <a:buFontTx/>
              <a:buAutoNum type="circleNumDbPlain"/>
            </a:pPr>
            <a:r>
              <a:rPr lang="zh-CN" altLang="en-US" sz="2000" dirty="0">
                <a:latin typeface="宋体" panose="02010600030101010101" pitchFamily="2" charset="-122"/>
                <a:ea typeface="宋体" panose="02010600030101010101" pitchFamily="2" charset="-122"/>
              </a:rPr>
              <a:t>当基站的土壤土壤电阻率</a:t>
            </a:r>
            <a:r>
              <a:rPr lang="zh-CN" altLang="en-US" sz="2000" dirty="0">
                <a:solidFill>
                  <a:srgbClr val="0070C0"/>
                </a:solidFill>
                <a:latin typeface="宋体" panose="02010600030101010101" pitchFamily="2" charset="-122"/>
                <a:ea typeface="宋体" panose="02010600030101010101" pitchFamily="2" charset="-122"/>
              </a:rPr>
              <a:t>高于</a:t>
            </a:r>
            <a:r>
              <a:rPr lang="en-US" altLang="zh-CN" sz="2000" dirty="0">
                <a:solidFill>
                  <a:srgbClr val="0070C0"/>
                </a:solidFill>
                <a:latin typeface="宋体" panose="02010600030101010101" pitchFamily="2" charset="-122"/>
                <a:ea typeface="宋体" panose="02010600030101010101" pitchFamily="2" charset="-122"/>
              </a:rPr>
              <a:t>700Ω·m</a:t>
            </a:r>
            <a:r>
              <a:rPr lang="zh-CN" altLang="en-US" sz="2000" dirty="0">
                <a:latin typeface="宋体" panose="02010600030101010101" pitchFamily="2" charset="-122"/>
                <a:ea typeface="宋体" panose="02010600030101010101" pitchFamily="2" charset="-122"/>
              </a:rPr>
              <a:t>时，可不对基站的工频接地电阻予以限制，此时地网的等效半径应大于</a:t>
            </a:r>
            <a:r>
              <a:rPr lang="en-US" altLang="zh-CN" sz="2000" dirty="0">
                <a:latin typeface="宋体" panose="02010600030101010101" pitchFamily="2" charset="-122"/>
                <a:ea typeface="宋体" panose="02010600030101010101" pitchFamily="2" charset="-122"/>
              </a:rPr>
              <a:t>20m</a:t>
            </a:r>
            <a:r>
              <a:rPr lang="zh-CN" altLang="en-US" sz="2000" dirty="0">
                <a:latin typeface="宋体" panose="02010600030101010101" pitchFamily="2" charset="-122"/>
                <a:ea typeface="宋体" panose="02010600030101010101" pitchFamily="2" charset="-122"/>
              </a:rPr>
              <a:t>，并在地网四周敷设</a:t>
            </a:r>
            <a:r>
              <a:rPr lang="en-US" altLang="zh-CN" sz="2000" dirty="0">
                <a:latin typeface="宋体" panose="02010600030101010101" pitchFamily="2" charset="-122"/>
                <a:ea typeface="宋体" panose="02010600030101010101" pitchFamily="2" charset="-122"/>
              </a:rPr>
              <a:t>20m</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30m</a:t>
            </a:r>
            <a:r>
              <a:rPr lang="zh-CN" altLang="en-US" sz="2000" dirty="0">
                <a:latin typeface="宋体" panose="02010600030101010101" pitchFamily="2" charset="-122"/>
                <a:ea typeface="宋体" panose="02010600030101010101" pitchFamily="2" charset="-122"/>
              </a:rPr>
              <a:t>的敷设型水平接地体</a:t>
            </a:r>
            <a:endParaRPr lang="zh-CN" altLang="en-US" sz="2000" dirty="0">
              <a:latin typeface="宋体" panose="02010600030101010101" pitchFamily="2" charset="-122"/>
              <a:ea typeface="宋体" panose="02010600030101010101" pitchFamily="2" charset="-122"/>
            </a:endParaRPr>
          </a:p>
          <a:p>
            <a:pPr marL="457200" indent="-457200"/>
            <a:endParaRPr lang="zh-CN" altLang="en-US" sz="2000" dirty="0">
              <a:latin typeface="宋体" panose="02010600030101010101" pitchFamily="2" charset="-122"/>
              <a:ea typeface="宋体" panose="02010600030101010101" pitchFamily="2" charset="-122"/>
            </a:endParaRPr>
          </a:p>
          <a:p>
            <a:pPr marL="457200" indent="-457200"/>
            <a:endParaRPr lang="zh-CN" altLang="en-US" sz="2000" dirty="0">
              <a:solidFill>
                <a:srgbClr val="660033"/>
              </a:solidFill>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259715" y="969645"/>
            <a:ext cx="4138930" cy="408495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40000"/>
              </a:lnSpc>
              <a:spcBef>
                <a:spcPct val="40000"/>
              </a:spcBef>
              <a:buFontTx/>
              <a:buNone/>
            </a:pPr>
            <a:r>
              <a:rPr lang="zh-CN" altLang="en-US" sz="2000" dirty="0">
                <a:ea typeface="宋体" panose="02010600030101010101" pitchFamily="2" charset="-122"/>
              </a:rPr>
              <a:t>⑶ 自建落地塔地网时，应设置为</a:t>
            </a:r>
            <a:r>
              <a:rPr lang="zh-CN" altLang="en-US" sz="2000" dirty="0">
                <a:solidFill>
                  <a:srgbClr val="FF0000"/>
                </a:solidFill>
                <a:ea typeface="宋体" panose="02010600030101010101" pitchFamily="2" charset="-122"/>
              </a:rPr>
              <a:t>封闭环形带</a:t>
            </a:r>
            <a:r>
              <a:rPr lang="zh-CN" altLang="en-US" sz="2000" dirty="0">
                <a:ea typeface="宋体" panose="02010600030101010101" pitchFamily="2" charset="-122"/>
              </a:rPr>
              <a:t>，且利用塔基地桩内两根以上主钢筋作为其垂直接地体</a:t>
            </a:r>
            <a:endParaRPr lang="en-US" altLang="zh-CN" sz="2000" dirty="0">
              <a:ea typeface="宋体" panose="02010600030101010101" pitchFamily="2" charset="-122"/>
            </a:endParaRPr>
          </a:p>
          <a:p>
            <a:pPr>
              <a:lnSpc>
                <a:spcPct val="140000"/>
              </a:lnSpc>
              <a:spcBef>
                <a:spcPct val="40000"/>
              </a:spcBef>
              <a:buFontTx/>
              <a:buNone/>
            </a:pPr>
            <a:r>
              <a:rPr lang="en-US" altLang="zh-CN" sz="2000" dirty="0">
                <a:ea typeface="宋体" panose="02010600030101010101" pitchFamily="2" charset="-122"/>
              </a:rPr>
              <a:t>   </a:t>
            </a:r>
            <a:r>
              <a:rPr lang="zh-CN" altLang="en-US" sz="2000" dirty="0">
                <a:ea typeface="宋体" panose="02010600030101010101" pitchFamily="2" charset="-122"/>
              </a:rPr>
              <a:t>若安装为楼顶塔，应与楼顶避雷带就近不少于</a:t>
            </a:r>
            <a:r>
              <a:rPr lang="en-US" altLang="zh-CN" sz="2000" dirty="0">
                <a:ea typeface="宋体" panose="02010600030101010101" pitchFamily="2" charset="-122"/>
              </a:rPr>
              <a:t>2</a:t>
            </a:r>
            <a:r>
              <a:rPr lang="zh-CN" altLang="en-US" sz="2000" dirty="0">
                <a:ea typeface="宋体" panose="02010600030101010101" pitchFamily="2" charset="-122"/>
              </a:rPr>
              <a:t>处焊接连通，一定要保证连接点的数量和分散性，以利于分散引流雷</a:t>
            </a:r>
            <a:endParaRPr lang="zh-CN" altLang="en-US" sz="2000" dirty="0">
              <a:ea typeface="宋体" panose="02010600030101010101" pitchFamily="2" charset="-122"/>
            </a:endParaRPr>
          </a:p>
          <a:p>
            <a:pPr>
              <a:lnSpc>
                <a:spcPct val="140000"/>
              </a:lnSpc>
              <a:spcBef>
                <a:spcPct val="40000"/>
              </a:spcBef>
              <a:buFontTx/>
              <a:buNone/>
            </a:pPr>
            <a:endParaRPr lang="zh-CN" altLang="en-US" sz="2000" dirty="0">
              <a:ea typeface="宋体" panose="02010600030101010101" pitchFamily="2" charset="-122"/>
            </a:endParaRP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4070" y="839338"/>
            <a:ext cx="3865465" cy="2095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4406" y="2842539"/>
            <a:ext cx="2785346" cy="224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332135" y="1041773"/>
            <a:ext cx="4679950" cy="259228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lnSpc>
                <a:spcPct val="130000"/>
              </a:lnSpc>
              <a:spcBef>
                <a:spcPct val="30000"/>
              </a:spcBef>
              <a:buFontTx/>
              <a:buNone/>
            </a:pPr>
            <a:r>
              <a:rPr lang="zh-CN" altLang="en-US" sz="2000" dirty="0">
                <a:ea typeface="宋体" panose="02010600030101010101" pitchFamily="2" charset="-122"/>
              </a:rPr>
              <a:t>⑷ 利用铁塔安装天馈线时，应采用三点接地方式：</a:t>
            </a:r>
            <a:endParaRPr lang="zh-CN" altLang="en-US" sz="2000" dirty="0">
              <a:ea typeface="宋体" panose="02010600030101010101" pitchFamily="2" charset="-122"/>
            </a:endParaRPr>
          </a:p>
          <a:p>
            <a:pPr marL="457200" indent="-457200">
              <a:lnSpc>
                <a:spcPct val="130000"/>
              </a:lnSpc>
              <a:spcBef>
                <a:spcPct val="30000"/>
              </a:spcBef>
              <a:buFontTx/>
              <a:buAutoNum type="circleNumDbPlain"/>
            </a:pPr>
            <a:r>
              <a:rPr lang="zh-CN" altLang="en-US" sz="2000" dirty="0">
                <a:ea typeface="宋体" panose="02010600030101010101" pitchFamily="2" charset="-122"/>
              </a:rPr>
              <a:t>铁塔顶部平台处（</a:t>
            </a:r>
            <a:r>
              <a:rPr lang="en-US" altLang="zh-CN" sz="2000" dirty="0">
                <a:ea typeface="宋体" panose="02010600030101010101" pitchFamily="2" charset="-122"/>
              </a:rPr>
              <a:t>A</a:t>
            </a:r>
            <a:r>
              <a:rPr lang="zh-CN" altLang="en-US" sz="2000" dirty="0">
                <a:ea typeface="宋体" panose="02010600030101010101" pitchFamily="2" charset="-122"/>
              </a:rPr>
              <a:t>点）</a:t>
            </a:r>
            <a:endParaRPr lang="zh-CN" altLang="en-US" sz="2000" dirty="0">
              <a:ea typeface="宋体" panose="02010600030101010101" pitchFamily="2" charset="-122"/>
            </a:endParaRPr>
          </a:p>
          <a:p>
            <a:pPr marL="457200" indent="-457200">
              <a:lnSpc>
                <a:spcPct val="130000"/>
              </a:lnSpc>
              <a:spcBef>
                <a:spcPct val="30000"/>
              </a:spcBef>
              <a:buFontTx/>
              <a:buAutoNum type="circleNumDbPlain"/>
            </a:pPr>
            <a:r>
              <a:rPr lang="zh-CN" altLang="en-US" sz="2000" dirty="0">
                <a:ea typeface="宋体" panose="02010600030101010101" pitchFamily="2" charset="-122"/>
              </a:rPr>
              <a:t>馈线离开塔身至天桥转弯处上方  </a:t>
            </a:r>
            <a:r>
              <a:rPr lang="en-US" altLang="zh-CN" sz="2000" dirty="0">
                <a:ea typeface="宋体" panose="02010600030101010101" pitchFamily="2" charset="-122"/>
              </a:rPr>
              <a:t>0.5</a:t>
            </a:r>
            <a:r>
              <a:rPr lang="zh-CN" altLang="en-US" sz="2000" dirty="0">
                <a:ea typeface="宋体" panose="02010600030101010101" pitchFamily="2" charset="-122"/>
              </a:rPr>
              <a:t>～</a:t>
            </a:r>
            <a:r>
              <a:rPr lang="en-US" altLang="zh-CN" sz="2000" dirty="0">
                <a:ea typeface="宋体" panose="02010600030101010101" pitchFamily="2" charset="-122"/>
              </a:rPr>
              <a:t>1</a:t>
            </a:r>
            <a:r>
              <a:rPr lang="zh-CN" altLang="en-US" sz="2000" dirty="0">
                <a:ea typeface="宋体" panose="02010600030101010101" pitchFamily="2" charset="-122"/>
              </a:rPr>
              <a:t>米范围内（</a:t>
            </a:r>
            <a:r>
              <a:rPr lang="en-US" altLang="zh-CN" sz="2000" dirty="0">
                <a:ea typeface="宋体" panose="02010600030101010101" pitchFamily="2" charset="-122"/>
              </a:rPr>
              <a:t>B</a:t>
            </a:r>
            <a:r>
              <a:rPr lang="zh-CN" altLang="en-US" sz="2000" dirty="0">
                <a:ea typeface="宋体" panose="02010600030101010101" pitchFamily="2" charset="-122"/>
              </a:rPr>
              <a:t>点）</a:t>
            </a:r>
            <a:endParaRPr lang="zh-CN" altLang="en-US" sz="2000" dirty="0">
              <a:ea typeface="宋体" panose="02010600030101010101" pitchFamily="2" charset="-122"/>
            </a:endParaRPr>
          </a:p>
          <a:p>
            <a:pPr marL="457200" indent="-457200">
              <a:lnSpc>
                <a:spcPct val="130000"/>
              </a:lnSpc>
              <a:spcBef>
                <a:spcPct val="30000"/>
              </a:spcBef>
              <a:buFontTx/>
              <a:buAutoNum type="circleNumDbPlain"/>
            </a:pPr>
            <a:r>
              <a:rPr lang="zh-CN" altLang="en-US" sz="2000" dirty="0">
                <a:ea typeface="宋体" panose="02010600030101010101" pitchFamily="2" charset="-122"/>
              </a:rPr>
              <a:t>进入机房入口处外侧（</a:t>
            </a:r>
            <a:r>
              <a:rPr lang="en-US" altLang="zh-CN" sz="2000" dirty="0">
                <a:ea typeface="宋体" panose="02010600030101010101" pitchFamily="2" charset="-122"/>
              </a:rPr>
              <a:t>C</a:t>
            </a:r>
            <a:r>
              <a:rPr lang="zh-CN" altLang="en-US" sz="2000" dirty="0">
                <a:ea typeface="宋体" panose="02010600030101010101" pitchFamily="2" charset="-122"/>
              </a:rPr>
              <a:t>点）</a:t>
            </a:r>
            <a:endParaRPr lang="zh-CN" altLang="en-US" sz="2000" dirty="0">
              <a:ea typeface="宋体" panose="02010600030101010101" pitchFamily="2" charset="-122"/>
            </a:endParaRPr>
          </a:p>
          <a:p>
            <a:pPr marL="457200" indent="-457200">
              <a:lnSpc>
                <a:spcPct val="130000"/>
              </a:lnSpc>
              <a:spcBef>
                <a:spcPct val="30000"/>
              </a:spcBef>
              <a:buFontTx/>
              <a:buAutoNum type="circleNumDbPlain"/>
            </a:pPr>
            <a:r>
              <a:rPr lang="zh-CN" altLang="en-US" sz="2000" dirty="0">
                <a:ea typeface="宋体" panose="02010600030101010101" pitchFamily="2" charset="-122"/>
              </a:rPr>
              <a:t>当单根馈线长度超过</a:t>
            </a:r>
            <a:r>
              <a:rPr lang="en-US" altLang="zh-CN" sz="2000" dirty="0">
                <a:ea typeface="宋体" panose="02010600030101010101" pitchFamily="2" charset="-122"/>
              </a:rPr>
              <a:t>60</a:t>
            </a:r>
            <a:r>
              <a:rPr lang="zh-CN" altLang="en-US" sz="2000" dirty="0">
                <a:ea typeface="宋体" panose="02010600030101010101" pitchFamily="2" charset="-122"/>
              </a:rPr>
              <a:t>米时，还应在中间增加一处接地（</a:t>
            </a:r>
            <a:r>
              <a:rPr lang="en-US" altLang="zh-CN" sz="2000" dirty="0">
                <a:ea typeface="宋体" panose="02010600030101010101" pitchFamily="2" charset="-122"/>
              </a:rPr>
              <a:t>D</a:t>
            </a:r>
            <a:r>
              <a:rPr lang="zh-CN" altLang="en-US" sz="2000" dirty="0">
                <a:ea typeface="宋体" panose="02010600030101010101" pitchFamily="2" charset="-122"/>
              </a:rPr>
              <a:t>点）</a:t>
            </a:r>
            <a:endParaRPr lang="zh-CN" altLang="en-US" sz="2000" dirty="0">
              <a:ea typeface="宋体" panose="02010600030101010101" pitchFamily="2" charset="-122"/>
            </a:endParaRPr>
          </a:p>
          <a:p>
            <a:pPr marL="457200" indent="-457200">
              <a:buFontTx/>
              <a:buNone/>
            </a:pPr>
            <a:endParaRPr lang="zh-CN" altLang="en-US" sz="2000" dirty="0">
              <a:ea typeface="宋体" panose="02010600030101010101" pitchFamily="2" charset="-122"/>
            </a:endParaRPr>
          </a:p>
        </p:txBody>
      </p:sp>
      <p:grpSp>
        <p:nvGrpSpPr>
          <p:cNvPr id="30" name="Group 17"/>
          <p:cNvGrpSpPr/>
          <p:nvPr/>
        </p:nvGrpSpPr>
        <p:grpSpPr bwMode="auto">
          <a:xfrm>
            <a:off x="5128132" y="786409"/>
            <a:ext cx="4464496" cy="4525963"/>
            <a:chOff x="3152" y="190"/>
            <a:chExt cx="3710" cy="3689"/>
          </a:xfrm>
        </p:grpSpPr>
        <p:grpSp>
          <p:nvGrpSpPr>
            <p:cNvPr id="31" name="Group 3"/>
            <p:cNvGrpSpPr/>
            <p:nvPr/>
          </p:nvGrpSpPr>
          <p:grpSpPr bwMode="auto">
            <a:xfrm>
              <a:off x="3152" y="190"/>
              <a:ext cx="3710" cy="3689"/>
              <a:chOff x="3535" y="657"/>
              <a:chExt cx="4019" cy="3689"/>
            </a:xfrm>
          </p:grpSpPr>
          <p:grpSp>
            <p:nvGrpSpPr>
              <p:cNvPr id="33" name="Group 4"/>
              <p:cNvGrpSpPr/>
              <p:nvPr/>
            </p:nvGrpSpPr>
            <p:grpSpPr bwMode="auto">
              <a:xfrm>
                <a:off x="3535" y="657"/>
                <a:ext cx="4019" cy="3689"/>
                <a:chOff x="1584" y="657"/>
                <a:chExt cx="4031" cy="3689"/>
              </a:xfrm>
            </p:grpSpPr>
            <p:graphicFrame>
              <p:nvGraphicFramePr>
                <p:cNvPr id="37" name="Object 2"/>
                <p:cNvGraphicFramePr>
                  <a:graphicFrameLocks noChangeAspect="1"/>
                </p:cNvGraphicFramePr>
                <p:nvPr/>
              </p:nvGraphicFramePr>
              <p:xfrm>
                <a:off x="1584" y="657"/>
                <a:ext cx="4031" cy="3689"/>
              </p:xfrm>
              <a:graphic>
                <a:graphicData uri="http://schemas.openxmlformats.org/presentationml/2006/ole">
                  <mc:AlternateContent xmlns:mc="http://schemas.openxmlformats.org/markup-compatibility/2006">
                    <mc:Choice xmlns:v="urn:schemas-microsoft-com:vml" Requires="v">
                      <p:oleObj spid="_x0000_s5125" name="Visio" r:id="rId2" imgW="1563370" imgH="1139825" progId="Visio.Drawing.6">
                        <p:embed/>
                      </p:oleObj>
                    </mc:Choice>
                    <mc:Fallback>
                      <p:oleObj name="Visio" r:id="rId2" imgW="1563370" imgH="1139825"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 y="657"/>
                              <a:ext cx="4031" cy="3689"/>
                            </a:xfrm>
                            <a:prstGeom prst="rect">
                              <a:avLst/>
                            </a:prstGeom>
                            <a:noFill/>
                            <a:ln>
                              <a:noFill/>
                            </a:ln>
                            <a:effectLst/>
                          </p:spPr>
                        </p:pic>
                      </p:oleObj>
                    </mc:Fallback>
                  </mc:AlternateContent>
                </a:graphicData>
              </a:graphic>
            </p:graphicFrame>
            <p:pic>
              <p:nvPicPr>
                <p:cNvPr id="38"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2" y="2513"/>
                  <a:ext cx="1081" cy="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9" name="Line 7"/>
                <p:cNvSpPr>
                  <a:spLocks noChangeShapeType="1"/>
                </p:cNvSpPr>
                <p:nvPr/>
              </p:nvSpPr>
              <p:spPr bwMode="auto">
                <a:xfrm flipH="1">
                  <a:off x="3281" y="1415"/>
                  <a:ext cx="213" cy="1415"/>
                </a:xfrm>
                <a:prstGeom prst="line">
                  <a:avLst/>
                </a:prstGeom>
                <a:noFill/>
                <a:ln w="38100">
                  <a:solidFill>
                    <a:srgbClr val="FF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8"/>
                <p:cNvSpPr>
                  <a:spLocks noChangeShapeType="1"/>
                </p:cNvSpPr>
                <p:nvPr/>
              </p:nvSpPr>
              <p:spPr bwMode="auto">
                <a:xfrm flipH="1">
                  <a:off x="2805" y="2830"/>
                  <a:ext cx="463" cy="50"/>
                </a:xfrm>
                <a:prstGeom prst="line">
                  <a:avLst/>
                </a:prstGeom>
                <a:noFill/>
                <a:ln w="38100">
                  <a:solidFill>
                    <a:srgbClr val="FF3399"/>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 name="Text Box 9"/>
              <p:cNvSpPr txBox="1">
                <a:spLocks noChangeArrowheads="1"/>
              </p:cNvSpPr>
              <p:nvPr/>
            </p:nvSpPr>
            <p:spPr bwMode="auto">
              <a:xfrm>
                <a:off x="5227" y="1317"/>
                <a:ext cx="2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en-US" altLang="zh-CN">
                    <a:solidFill>
                      <a:srgbClr val="063DE8"/>
                    </a:solidFill>
                    <a:ea typeface="宋体" panose="02010600030101010101" pitchFamily="2" charset="-122"/>
                  </a:rPr>
                  <a:t>A</a:t>
                </a:r>
                <a:endParaRPr lang="en-US" altLang="zh-CN">
                  <a:solidFill>
                    <a:srgbClr val="063DE8"/>
                  </a:solidFill>
                  <a:ea typeface="宋体" panose="02010600030101010101" pitchFamily="2" charset="-122"/>
                </a:endParaRPr>
              </a:p>
            </p:txBody>
          </p:sp>
          <p:sp>
            <p:nvSpPr>
              <p:cNvPr id="35" name="Text Box 10"/>
              <p:cNvSpPr txBox="1">
                <a:spLocks noChangeArrowheads="1"/>
              </p:cNvSpPr>
              <p:nvPr/>
            </p:nvSpPr>
            <p:spPr bwMode="auto">
              <a:xfrm>
                <a:off x="5064" y="2507"/>
                <a:ext cx="2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en-US" altLang="zh-CN">
                    <a:solidFill>
                      <a:srgbClr val="063DE8"/>
                    </a:solidFill>
                    <a:ea typeface="宋体" panose="02010600030101010101" pitchFamily="2" charset="-122"/>
                  </a:rPr>
                  <a:t>B</a:t>
                </a:r>
                <a:endParaRPr lang="en-US" altLang="zh-CN">
                  <a:solidFill>
                    <a:srgbClr val="063DE8"/>
                  </a:solidFill>
                  <a:ea typeface="宋体" panose="02010600030101010101" pitchFamily="2" charset="-122"/>
                </a:endParaRPr>
              </a:p>
            </p:txBody>
          </p:sp>
          <p:sp>
            <p:nvSpPr>
              <p:cNvPr id="36" name="Text Box 11"/>
              <p:cNvSpPr txBox="1">
                <a:spLocks noChangeArrowheads="1"/>
              </p:cNvSpPr>
              <p:nvPr/>
            </p:nvSpPr>
            <p:spPr bwMode="auto">
              <a:xfrm>
                <a:off x="4726" y="2658"/>
                <a:ext cx="2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en-US" altLang="zh-CN">
                    <a:solidFill>
                      <a:srgbClr val="063DE8"/>
                    </a:solidFill>
                    <a:ea typeface="宋体" panose="02010600030101010101" pitchFamily="2" charset="-122"/>
                  </a:rPr>
                  <a:t>C</a:t>
                </a:r>
                <a:endParaRPr lang="en-US" altLang="zh-CN">
                  <a:solidFill>
                    <a:srgbClr val="063DE8"/>
                  </a:solidFill>
                  <a:ea typeface="宋体" panose="02010600030101010101" pitchFamily="2" charset="-122"/>
                </a:endParaRPr>
              </a:p>
            </p:txBody>
          </p:sp>
        </p:grpSp>
        <p:sp>
          <p:nvSpPr>
            <p:cNvPr id="32" name="AutoShape 16"/>
            <p:cNvSpPr>
              <a:spLocks noChangeArrowheads="1"/>
            </p:cNvSpPr>
            <p:nvPr/>
          </p:nvSpPr>
          <p:spPr bwMode="auto">
            <a:xfrm>
              <a:off x="4150" y="1389"/>
              <a:ext cx="461" cy="282"/>
            </a:xfrm>
            <a:prstGeom prst="wedgeRoundRectCallout">
              <a:avLst>
                <a:gd name="adj1" fmla="val 87528"/>
                <a:gd name="adj2" fmla="val 73403"/>
                <a:gd name="adj3" fmla="val 16667"/>
              </a:avLst>
            </a:prstGeom>
            <a:noFill/>
            <a:ln w="9525">
              <a:solidFill>
                <a:srgbClr val="3333CC"/>
              </a:solidFill>
              <a:miter lim="800000"/>
            </a:ln>
            <a:extLst>
              <a:ext uri="{909E8E84-426E-40DD-AFC4-6F175D3DCCD1}">
                <a14:hiddenFill xmlns:a14="http://schemas.microsoft.com/office/drawing/2010/main">
                  <a:solidFill>
                    <a:srgbClr val="FFFFFF"/>
                  </a:solidFill>
                </a14:hiddenFill>
              </a:ext>
            </a:extLst>
          </p:spPr>
          <p:txBody>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zh-CN" altLang="en-US">
                  <a:solidFill>
                    <a:schemeClr val="hlink"/>
                  </a:solidFill>
                  <a:ea typeface="宋体" panose="02010600030101010101" pitchFamily="2" charset="-122"/>
                </a:rPr>
                <a:t>  </a:t>
              </a:r>
              <a:r>
                <a:rPr lang="en-US" altLang="zh-CN">
                  <a:solidFill>
                    <a:schemeClr val="hlink"/>
                  </a:solidFill>
                  <a:ea typeface="宋体" panose="02010600030101010101" pitchFamily="2" charset="-122"/>
                </a:rPr>
                <a:t>D</a:t>
              </a:r>
              <a:endParaRPr lang="en-US" altLang="zh-CN">
                <a:solidFill>
                  <a:schemeClr val="hlink"/>
                </a:solidFill>
                <a:ea typeface="宋体" panose="02010600030101010101" pitchFamily="2" charset="-122"/>
              </a:endParaRPr>
            </a:p>
          </p:txBody>
        </p:sp>
      </p:grpSp>
      <p:pic>
        <p:nvPicPr>
          <p:cNvPr id="3081" name="图片 5" descr="校徽"/>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276" y="901515"/>
            <a:ext cx="8229600" cy="86033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40000"/>
              </a:lnSpc>
              <a:buFontTx/>
              <a:buNone/>
            </a:pPr>
            <a:r>
              <a:rPr lang="zh-CN" altLang="en-US" sz="2000" dirty="0">
                <a:ea typeface="宋体" panose="02010600030101010101" pitchFamily="2" charset="-122"/>
              </a:rPr>
              <a:t>⑸ 馈线进入机房后与基站收发信机连接前应安装</a:t>
            </a:r>
            <a:r>
              <a:rPr lang="zh-CN" altLang="en-US" sz="2000" dirty="0">
                <a:solidFill>
                  <a:srgbClr val="FF0000"/>
                </a:solidFill>
                <a:ea typeface="宋体" panose="02010600030101010101" pitchFamily="2" charset="-122"/>
              </a:rPr>
              <a:t>馈线避雷器</a:t>
            </a:r>
            <a:r>
              <a:rPr lang="zh-CN" altLang="en-US" sz="2000" dirty="0">
                <a:ea typeface="宋体" panose="02010600030101010101" pitchFamily="2" charset="-122"/>
              </a:rPr>
              <a:t>，以防来自天馈线引入的</a:t>
            </a:r>
            <a:r>
              <a:rPr lang="zh-CN" altLang="en-US" sz="2000" dirty="0">
                <a:solidFill>
                  <a:srgbClr val="FF0000"/>
                </a:solidFill>
                <a:ea typeface="宋体" panose="02010600030101010101" pitchFamily="2" charset="-122"/>
              </a:rPr>
              <a:t>感应雷</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避雷器接地端子应与室外的接地排</a:t>
            </a:r>
            <a:r>
              <a:rPr lang="en-US" altLang="zh-CN" sz="2000" dirty="0">
                <a:solidFill>
                  <a:srgbClr val="FF0000"/>
                </a:solidFill>
                <a:ea typeface="宋体" panose="02010600030101010101" pitchFamily="2" charset="-122"/>
              </a:rPr>
              <a:t>EGB</a:t>
            </a:r>
            <a:r>
              <a:rPr lang="zh-CN" altLang="en-US" sz="2000" dirty="0">
                <a:solidFill>
                  <a:srgbClr val="FF0000"/>
                </a:solidFill>
                <a:ea typeface="宋体" panose="02010600030101010101" pitchFamily="2" charset="-122"/>
              </a:rPr>
              <a:t>相连。</a:t>
            </a:r>
            <a:endParaRPr lang="zh-CN" altLang="en-US" sz="2000" dirty="0">
              <a:solidFill>
                <a:srgbClr val="FF0000"/>
              </a:solidFill>
              <a:ea typeface="宋体" panose="02010600030101010101" pitchFamily="2" charset="-122"/>
            </a:endParaRPr>
          </a:p>
          <a:p>
            <a:pPr>
              <a:spcBef>
                <a:spcPct val="0"/>
              </a:spcBef>
              <a:buFontTx/>
              <a:buNone/>
            </a:pPr>
            <a:endParaRPr lang="zh-CN" altLang="en-US" sz="2000" dirty="0">
              <a:solidFill>
                <a:srgbClr val="FF0000"/>
              </a:solidFill>
              <a:ea typeface="宋体" panose="02010600030101010101" pitchFamily="2" charset="-122"/>
            </a:endParaRPr>
          </a:p>
        </p:txBody>
      </p:sp>
      <p:grpSp>
        <p:nvGrpSpPr>
          <p:cNvPr id="7" name="Group 53"/>
          <p:cNvGrpSpPr/>
          <p:nvPr/>
        </p:nvGrpSpPr>
        <p:grpSpPr bwMode="auto">
          <a:xfrm>
            <a:off x="4763791" y="2049884"/>
            <a:ext cx="3056567" cy="1640512"/>
            <a:chOff x="3189" y="1170"/>
            <a:chExt cx="2436" cy="1548"/>
          </a:xfrm>
        </p:grpSpPr>
        <p:sp>
          <p:nvSpPr>
            <p:cNvPr id="8" name="Line 26"/>
            <p:cNvSpPr>
              <a:spLocks noChangeShapeType="1"/>
            </p:cNvSpPr>
            <p:nvPr/>
          </p:nvSpPr>
          <p:spPr bwMode="auto">
            <a:xfrm>
              <a:off x="3360" y="2027"/>
              <a:ext cx="1103" cy="0"/>
            </a:xfrm>
            <a:prstGeom prst="line">
              <a:avLst/>
            </a:prstGeom>
            <a:noFill/>
            <a:ln w="38100">
              <a:solidFill>
                <a:srgbClr val="FF33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30"/>
            <p:cNvSpPr txBox="1">
              <a:spLocks noChangeArrowheads="1"/>
            </p:cNvSpPr>
            <p:nvPr/>
          </p:nvSpPr>
          <p:spPr bwMode="auto">
            <a:xfrm>
              <a:off x="3189" y="2459"/>
              <a:ext cx="4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en-US" altLang="zh-CN" dirty="0">
                  <a:solidFill>
                    <a:srgbClr val="063DE8"/>
                  </a:solidFill>
                  <a:ea typeface="宋体" panose="02010600030101010101" pitchFamily="2" charset="-122"/>
                </a:rPr>
                <a:t>EGB</a:t>
              </a:r>
              <a:endParaRPr lang="en-US" altLang="zh-CN" dirty="0">
                <a:solidFill>
                  <a:srgbClr val="063DE8"/>
                </a:solidFill>
                <a:ea typeface="宋体" panose="02010600030101010101" pitchFamily="2" charset="-122"/>
              </a:endParaRPr>
            </a:p>
          </p:txBody>
        </p:sp>
        <p:grpSp>
          <p:nvGrpSpPr>
            <p:cNvPr id="10" name="Group 56"/>
            <p:cNvGrpSpPr/>
            <p:nvPr/>
          </p:nvGrpSpPr>
          <p:grpSpPr bwMode="auto">
            <a:xfrm>
              <a:off x="3380" y="1170"/>
              <a:ext cx="2245" cy="1548"/>
              <a:chOff x="3380" y="1170"/>
              <a:chExt cx="2245" cy="1548"/>
            </a:xfrm>
          </p:grpSpPr>
          <p:grpSp>
            <p:nvGrpSpPr>
              <p:cNvPr id="12" name="Group 3"/>
              <p:cNvGrpSpPr/>
              <p:nvPr/>
            </p:nvGrpSpPr>
            <p:grpSpPr bwMode="auto">
              <a:xfrm>
                <a:off x="3664" y="1170"/>
                <a:ext cx="1961" cy="1548"/>
                <a:chOff x="3448" y="724"/>
                <a:chExt cx="2124" cy="1548"/>
              </a:xfrm>
            </p:grpSpPr>
            <p:sp>
              <p:nvSpPr>
                <p:cNvPr id="14" name="Freeform 4"/>
                <p:cNvSpPr/>
                <p:nvPr/>
              </p:nvSpPr>
              <p:spPr bwMode="auto">
                <a:xfrm>
                  <a:off x="3571" y="941"/>
                  <a:ext cx="1532" cy="1331"/>
                </a:xfrm>
                <a:custGeom>
                  <a:avLst/>
                  <a:gdLst>
                    <a:gd name="T0" fmla="*/ 0 w 1532"/>
                    <a:gd name="T1" fmla="*/ 1331 h 1331"/>
                    <a:gd name="T2" fmla="*/ 1532 w 1532"/>
                    <a:gd name="T3" fmla="*/ 1331 h 1331"/>
                    <a:gd name="T4" fmla="*/ 1532 w 1532"/>
                    <a:gd name="T5" fmla="*/ 408 h 1331"/>
                    <a:gd name="T6" fmla="*/ 865 w 1532"/>
                    <a:gd name="T7" fmla="*/ 0 h 1331"/>
                    <a:gd name="T8" fmla="*/ 0 w 1532"/>
                    <a:gd name="T9" fmla="*/ 679 h 1331"/>
                    <a:gd name="T10" fmla="*/ 0 w 1532"/>
                    <a:gd name="T11" fmla="*/ 1331 h 1331"/>
                    <a:gd name="T12" fmla="*/ 0 60000 65536"/>
                    <a:gd name="T13" fmla="*/ 0 60000 65536"/>
                    <a:gd name="T14" fmla="*/ 0 60000 65536"/>
                    <a:gd name="T15" fmla="*/ 0 60000 65536"/>
                    <a:gd name="T16" fmla="*/ 0 60000 65536"/>
                    <a:gd name="T17" fmla="*/ 0 60000 65536"/>
                    <a:gd name="T18" fmla="*/ 0 w 1532"/>
                    <a:gd name="T19" fmla="*/ 0 h 1331"/>
                    <a:gd name="T20" fmla="*/ 1532 w 1532"/>
                    <a:gd name="T21" fmla="*/ 1331 h 1331"/>
                  </a:gdLst>
                  <a:ahLst/>
                  <a:cxnLst>
                    <a:cxn ang="T12">
                      <a:pos x="T0" y="T1"/>
                    </a:cxn>
                    <a:cxn ang="T13">
                      <a:pos x="T2" y="T3"/>
                    </a:cxn>
                    <a:cxn ang="T14">
                      <a:pos x="T4" y="T5"/>
                    </a:cxn>
                    <a:cxn ang="T15">
                      <a:pos x="T6" y="T7"/>
                    </a:cxn>
                    <a:cxn ang="T16">
                      <a:pos x="T8" y="T9"/>
                    </a:cxn>
                    <a:cxn ang="T17">
                      <a:pos x="T10" y="T11"/>
                    </a:cxn>
                  </a:cxnLst>
                  <a:rect l="T18" t="T19" r="T20" b="T21"/>
                  <a:pathLst>
                    <a:path w="1532" h="1331">
                      <a:moveTo>
                        <a:pt x="0" y="1331"/>
                      </a:moveTo>
                      <a:lnTo>
                        <a:pt x="1532" y="1331"/>
                      </a:lnTo>
                      <a:lnTo>
                        <a:pt x="1532" y="408"/>
                      </a:lnTo>
                      <a:lnTo>
                        <a:pt x="865" y="0"/>
                      </a:lnTo>
                      <a:lnTo>
                        <a:pt x="0" y="679"/>
                      </a:lnTo>
                      <a:lnTo>
                        <a:pt x="0" y="1331"/>
                      </a:lnTo>
                      <a:close/>
                    </a:path>
                  </a:pathLst>
                </a:custGeom>
                <a:solidFill>
                  <a:srgbClr val="EBC494"/>
                </a:solidFill>
                <a:ln w="19050">
                  <a:solidFill>
                    <a:srgbClr val="8F5B1A"/>
                  </a:solidFill>
                  <a:round/>
                </a:ln>
              </p:spPr>
              <p:txBody>
                <a:bodyPr/>
                <a:lstStyle/>
                <a:p>
                  <a:endParaRPr lang="zh-CN" altLang="en-US"/>
                </a:p>
              </p:txBody>
            </p:sp>
            <p:sp>
              <p:nvSpPr>
                <p:cNvPr id="15" name="Freeform 5"/>
                <p:cNvSpPr/>
                <p:nvPr/>
              </p:nvSpPr>
              <p:spPr bwMode="auto">
                <a:xfrm>
                  <a:off x="3571" y="941"/>
                  <a:ext cx="1532" cy="1331"/>
                </a:xfrm>
                <a:custGeom>
                  <a:avLst/>
                  <a:gdLst>
                    <a:gd name="T0" fmla="*/ 0 w 1532"/>
                    <a:gd name="T1" fmla="*/ 1331 h 1331"/>
                    <a:gd name="T2" fmla="*/ 1532 w 1532"/>
                    <a:gd name="T3" fmla="*/ 1331 h 1331"/>
                    <a:gd name="T4" fmla="*/ 1532 w 1532"/>
                    <a:gd name="T5" fmla="*/ 408 h 1331"/>
                    <a:gd name="T6" fmla="*/ 865 w 1532"/>
                    <a:gd name="T7" fmla="*/ 0 h 1331"/>
                    <a:gd name="T8" fmla="*/ 0 w 1532"/>
                    <a:gd name="T9" fmla="*/ 679 h 1331"/>
                    <a:gd name="T10" fmla="*/ 0 w 1532"/>
                    <a:gd name="T11" fmla="*/ 1331 h 1331"/>
                    <a:gd name="T12" fmla="*/ 0 60000 65536"/>
                    <a:gd name="T13" fmla="*/ 0 60000 65536"/>
                    <a:gd name="T14" fmla="*/ 0 60000 65536"/>
                    <a:gd name="T15" fmla="*/ 0 60000 65536"/>
                    <a:gd name="T16" fmla="*/ 0 60000 65536"/>
                    <a:gd name="T17" fmla="*/ 0 60000 65536"/>
                    <a:gd name="T18" fmla="*/ 0 w 1532"/>
                    <a:gd name="T19" fmla="*/ 0 h 1331"/>
                    <a:gd name="T20" fmla="*/ 1532 w 1532"/>
                    <a:gd name="T21" fmla="*/ 1331 h 1331"/>
                  </a:gdLst>
                  <a:ahLst/>
                  <a:cxnLst>
                    <a:cxn ang="T12">
                      <a:pos x="T0" y="T1"/>
                    </a:cxn>
                    <a:cxn ang="T13">
                      <a:pos x="T2" y="T3"/>
                    </a:cxn>
                    <a:cxn ang="T14">
                      <a:pos x="T4" y="T5"/>
                    </a:cxn>
                    <a:cxn ang="T15">
                      <a:pos x="T6" y="T7"/>
                    </a:cxn>
                    <a:cxn ang="T16">
                      <a:pos x="T8" y="T9"/>
                    </a:cxn>
                    <a:cxn ang="T17">
                      <a:pos x="T10" y="T11"/>
                    </a:cxn>
                  </a:cxnLst>
                  <a:rect l="T18" t="T19" r="T20" b="T21"/>
                  <a:pathLst>
                    <a:path w="1532" h="1331">
                      <a:moveTo>
                        <a:pt x="0" y="1331"/>
                      </a:moveTo>
                      <a:lnTo>
                        <a:pt x="1532" y="1331"/>
                      </a:lnTo>
                      <a:lnTo>
                        <a:pt x="1532" y="408"/>
                      </a:lnTo>
                      <a:lnTo>
                        <a:pt x="865" y="0"/>
                      </a:lnTo>
                      <a:lnTo>
                        <a:pt x="0" y="679"/>
                      </a:lnTo>
                      <a:lnTo>
                        <a:pt x="0" y="1331"/>
                      </a:lnTo>
                      <a:close/>
                    </a:path>
                  </a:pathLst>
                </a:custGeom>
                <a:solidFill>
                  <a:srgbClr val="EBC494"/>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 name="Freeform 6"/>
                <p:cNvSpPr/>
                <p:nvPr/>
              </p:nvSpPr>
              <p:spPr bwMode="auto">
                <a:xfrm>
                  <a:off x="5103" y="1321"/>
                  <a:ext cx="271" cy="951"/>
                </a:xfrm>
                <a:custGeom>
                  <a:avLst/>
                  <a:gdLst>
                    <a:gd name="T0" fmla="*/ 0 w 271"/>
                    <a:gd name="T1" fmla="*/ 951 h 951"/>
                    <a:gd name="T2" fmla="*/ 271 w 271"/>
                    <a:gd name="T3" fmla="*/ 652 h 951"/>
                    <a:gd name="T4" fmla="*/ 271 w 271"/>
                    <a:gd name="T5" fmla="*/ 0 h 951"/>
                    <a:gd name="T6" fmla="*/ 0 w 271"/>
                    <a:gd name="T7" fmla="*/ 299 h 951"/>
                    <a:gd name="T8" fmla="*/ 0 w 271"/>
                    <a:gd name="T9" fmla="*/ 951 h 951"/>
                    <a:gd name="T10" fmla="*/ 0 60000 65536"/>
                    <a:gd name="T11" fmla="*/ 0 60000 65536"/>
                    <a:gd name="T12" fmla="*/ 0 60000 65536"/>
                    <a:gd name="T13" fmla="*/ 0 60000 65536"/>
                    <a:gd name="T14" fmla="*/ 0 60000 65536"/>
                    <a:gd name="T15" fmla="*/ 0 w 271"/>
                    <a:gd name="T16" fmla="*/ 0 h 951"/>
                    <a:gd name="T17" fmla="*/ 271 w 271"/>
                    <a:gd name="T18" fmla="*/ 951 h 951"/>
                  </a:gdLst>
                  <a:ahLst/>
                  <a:cxnLst>
                    <a:cxn ang="T10">
                      <a:pos x="T0" y="T1"/>
                    </a:cxn>
                    <a:cxn ang="T11">
                      <a:pos x="T2" y="T3"/>
                    </a:cxn>
                    <a:cxn ang="T12">
                      <a:pos x="T4" y="T5"/>
                    </a:cxn>
                    <a:cxn ang="T13">
                      <a:pos x="T6" y="T7"/>
                    </a:cxn>
                    <a:cxn ang="T14">
                      <a:pos x="T8" y="T9"/>
                    </a:cxn>
                  </a:cxnLst>
                  <a:rect l="T15" t="T16" r="T17" b="T18"/>
                  <a:pathLst>
                    <a:path w="271" h="951">
                      <a:moveTo>
                        <a:pt x="0" y="951"/>
                      </a:moveTo>
                      <a:lnTo>
                        <a:pt x="271" y="652"/>
                      </a:lnTo>
                      <a:lnTo>
                        <a:pt x="271" y="0"/>
                      </a:lnTo>
                      <a:lnTo>
                        <a:pt x="0" y="299"/>
                      </a:lnTo>
                      <a:lnTo>
                        <a:pt x="0" y="951"/>
                      </a:lnTo>
                      <a:close/>
                    </a:path>
                  </a:pathLst>
                </a:custGeom>
                <a:solidFill>
                  <a:srgbClr val="DE9C4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 name="Freeform 7"/>
                <p:cNvSpPr/>
                <p:nvPr/>
              </p:nvSpPr>
              <p:spPr bwMode="auto">
                <a:xfrm>
                  <a:off x="5103" y="1321"/>
                  <a:ext cx="271" cy="951"/>
                </a:xfrm>
                <a:custGeom>
                  <a:avLst/>
                  <a:gdLst>
                    <a:gd name="T0" fmla="*/ 0 w 271"/>
                    <a:gd name="T1" fmla="*/ 951 h 951"/>
                    <a:gd name="T2" fmla="*/ 271 w 271"/>
                    <a:gd name="T3" fmla="*/ 652 h 951"/>
                    <a:gd name="T4" fmla="*/ 271 w 271"/>
                    <a:gd name="T5" fmla="*/ 0 h 951"/>
                    <a:gd name="T6" fmla="*/ 0 w 271"/>
                    <a:gd name="T7" fmla="*/ 299 h 951"/>
                    <a:gd name="T8" fmla="*/ 0 w 271"/>
                    <a:gd name="T9" fmla="*/ 951 h 951"/>
                    <a:gd name="T10" fmla="*/ 0 60000 65536"/>
                    <a:gd name="T11" fmla="*/ 0 60000 65536"/>
                    <a:gd name="T12" fmla="*/ 0 60000 65536"/>
                    <a:gd name="T13" fmla="*/ 0 60000 65536"/>
                    <a:gd name="T14" fmla="*/ 0 60000 65536"/>
                    <a:gd name="T15" fmla="*/ 0 w 271"/>
                    <a:gd name="T16" fmla="*/ 0 h 951"/>
                    <a:gd name="T17" fmla="*/ 271 w 271"/>
                    <a:gd name="T18" fmla="*/ 951 h 951"/>
                  </a:gdLst>
                  <a:ahLst/>
                  <a:cxnLst>
                    <a:cxn ang="T10">
                      <a:pos x="T0" y="T1"/>
                    </a:cxn>
                    <a:cxn ang="T11">
                      <a:pos x="T2" y="T3"/>
                    </a:cxn>
                    <a:cxn ang="T12">
                      <a:pos x="T4" y="T5"/>
                    </a:cxn>
                    <a:cxn ang="T13">
                      <a:pos x="T6" y="T7"/>
                    </a:cxn>
                    <a:cxn ang="T14">
                      <a:pos x="T8" y="T9"/>
                    </a:cxn>
                  </a:cxnLst>
                  <a:rect l="T15" t="T16" r="T17" b="T18"/>
                  <a:pathLst>
                    <a:path w="271" h="951">
                      <a:moveTo>
                        <a:pt x="0" y="951"/>
                      </a:moveTo>
                      <a:lnTo>
                        <a:pt x="271" y="652"/>
                      </a:lnTo>
                      <a:lnTo>
                        <a:pt x="271" y="0"/>
                      </a:lnTo>
                      <a:lnTo>
                        <a:pt x="0" y="299"/>
                      </a:lnTo>
                      <a:lnTo>
                        <a:pt x="0" y="951"/>
                      </a:lnTo>
                      <a:close/>
                    </a:path>
                  </a:pathLst>
                </a:custGeom>
                <a:solidFill>
                  <a:srgbClr val="DE9C4C"/>
                </a:solidFill>
                <a:ln w="19050">
                  <a:solidFill>
                    <a:srgbClr val="8F5B1A"/>
                  </a:solidFill>
                  <a:round/>
                </a:ln>
              </p:spPr>
              <p:txBody>
                <a:bodyPr/>
                <a:lstStyle/>
                <a:p>
                  <a:endParaRPr lang="zh-CN" altLang="en-US"/>
                </a:p>
              </p:txBody>
            </p:sp>
            <p:sp>
              <p:nvSpPr>
                <p:cNvPr id="18" name="Freeform 8"/>
                <p:cNvSpPr/>
                <p:nvPr/>
              </p:nvSpPr>
              <p:spPr bwMode="auto">
                <a:xfrm>
                  <a:off x="5239" y="1430"/>
                  <a:ext cx="98" cy="761"/>
                </a:xfrm>
                <a:custGeom>
                  <a:avLst/>
                  <a:gdLst>
                    <a:gd name="T0" fmla="*/ 0 w 98"/>
                    <a:gd name="T1" fmla="*/ 217 h 761"/>
                    <a:gd name="T2" fmla="*/ 98 w 98"/>
                    <a:gd name="T3" fmla="*/ 0 h 761"/>
                    <a:gd name="T4" fmla="*/ 98 w 98"/>
                    <a:gd name="T5" fmla="*/ 652 h 761"/>
                    <a:gd name="T6" fmla="*/ 0 w 98"/>
                    <a:gd name="T7" fmla="*/ 761 h 761"/>
                    <a:gd name="T8" fmla="*/ 0 w 98"/>
                    <a:gd name="T9" fmla="*/ 462 h 761"/>
                    <a:gd name="T10" fmla="*/ 0 w 98"/>
                    <a:gd name="T11" fmla="*/ 217 h 761"/>
                    <a:gd name="T12" fmla="*/ 0 60000 65536"/>
                    <a:gd name="T13" fmla="*/ 0 60000 65536"/>
                    <a:gd name="T14" fmla="*/ 0 60000 65536"/>
                    <a:gd name="T15" fmla="*/ 0 60000 65536"/>
                    <a:gd name="T16" fmla="*/ 0 60000 65536"/>
                    <a:gd name="T17" fmla="*/ 0 60000 65536"/>
                    <a:gd name="T18" fmla="*/ 0 w 98"/>
                    <a:gd name="T19" fmla="*/ 0 h 761"/>
                    <a:gd name="T20" fmla="*/ 98 w 98"/>
                    <a:gd name="T21" fmla="*/ 761 h 761"/>
                  </a:gdLst>
                  <a:ahLst/>
                  <a:cxnLst>
                    <a:cxn ang="T12">
                      <a:pos x="T0" y="T1"/>
                    </a:cxn>
                    <a:cxn ang="T13">
                      <a:pos x="T2" y="T3"/>
                    </a:cxn>
                    <a:cxn ang="T14">
                      <a:pos x="T4" y="T5"/>
                    </a:cxn>
                    <a:cxn ang="T15">
                      <a:pos x="T6" y="T7"/>
                    </a:cxn>
                    <a:cxn ang="T16">
                      <a:pos x="T8" y="T9"/>
                    </a:cxn>
                    <a:cxn ang="T17">
                      <a:pos x="T10" y="T11"/>
                    </a:cxn>
                  </a:cxnLst>
                  <a:rect l="T18" t="T19" r="T20" b="T21"/>
                  <a:pathLst>
                    <a:path w="98" h="761">
                      <a:moveTo>
                        <a:pt x="0" y="217"/>
                      </a:moveTo>
                      <a:lnTo>
                        <a:pt x="98" y="0"/>
                      </a:lnTo>
                      <a:lnTo>
                        <a:pt x="98" y="652"/>
                      </a:lnTo>
                      <a:lnTo>
                        <a:pt x="0" y="761"/>
                      </a:lnTo>
                      <a:lnTo>
                        <a:pt x="0" y="462"/>
                      </a:lnTo>
                      <a:lnTo>
                        <a:pt x="0" y="217"/>
                      </a:lnTo>
                      <a:close/>
                    </a:path>
                  </a:pathLst>
                </a:custGeom>
                <a:solidFill>
                  <a:srgbClr val="D5000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9" name="Freeform 9"/>
                <p:cNvSpPr/>
                <p:nvPr/>
              </p:nvSpPr>
              <p:spPr bwMode="auto">
                <a:xfrm>
                  <a:off x="5239" y="1430"/>
                  <a:ext cx="98" cy="761"/>
                </a:xfrm>
                <a:custGeom>
                  <a:avLst/>
                  <a:gdLst>
                    <a:gd name="T0" fmla="*/ 0 w 98"/>
                    <a:gd name="T1" fmla="*/ 217 h 761"/>
                    <a:gd name="T2" fmla="*/ 98 w 98"/>
                    <a:gd name="T3" fmla="*/ 0 h 761"/>
                    <a:gd name="T4" fmla="*/ 98 w 98"/>
                    <a:gd name="T5" fmla="*/ 652 h 761"/>
                    <a:gd name="T6" fmla="*/ 0 w 98"/>
                    <a:gd name="T7" fmla="*/ 761 h 761"/>
                    <a:gd name="T8" fmla="*/ 0 w 98"/>
                    <a:gd name="T9" fmla="*/ 462 h 761"/>
                    <a:gd name="T10" fmla="*/ 0 w 98"/>
                    <a:gd name="T11" fmla="*/ 217 h 761"/>
                    <a:gd name="T12" fmla="*/ 0 60000 65536"/>
                    <a:gd name="T13" fmla="*/ 0 60000 65536"/>
                    <a:gd name="T14" fmla="*/ 0 60000 65536"/>
                    <a:gd name="T15" fmla="*/ 0 60000 65536"/>
                    <a:gd name="T16" fmla="*/ 0 60000 65536"/>
                    <a:gd name="T17" fmla="*/ 0 60000 65536"/>
                    <a:gd name="T18" fmla="*/ 0 w 98"/>
                    <a:gd name="T19" fmla="*/ 0 h 761"/>
                    <a:gd name="T20" fmla="*/ 98 w 98"/>
                    <a:gd name="T21" fmla="*/ 761 h 761"/>
                  </a:gdLst>
                  <a:ahLst/>
                  <a:cxnLst>
                    <a:cxn ang="T12">
                      <a:pos x="T0" y="T1"/>
                    </a:cxn>
                    <a:cxn ang="T13">
                      <a:pos x="T2" y="T3"/>
                    </a:cxn>
                    <a:cxn ang="T14">
                      <a:pos x="T4" y="T5"/>
                    </a:cxn>
                    <a:cxn ang="T15">
                      <a:pos x="T6" y="T7"/>
                    </a:cxn>
                    <a:cxn ang="T16">
                      <a:pos x="T8" y="T9"/>
                    </a:cxn>
                    <a:cxn ang="T17">
                      <a:pos x="T10" y="T11"/>
                    </a:cxn>
                  </a:cxnLst>
                  <a:rect l="T18" t="T19" r="T20" b="T21"/>
                  <a:pathLst>
                    <a:path w="98" h="761">
                      <a:moveTo>
                        <a:pt x="0" y="217"/>
                      </a:moveTo>
                      <a:lnTo>
                        <a:pt x="98" y="0"/>
                      </a:lnTo>
                      <a:lnTo>
                        <a:pt x="98" y="652"/>
                      </a:lnTo>
                      <a:lnTo>
                        <a:pt x="0" y="761"/>
                      </a:lnTo>
                      <a:lnTo>
                        <a:pt x="0" y="462"/>
                      </a:lnTo>
                      <a:lnTo>
                        <a:pt x="0" y="217"/>
                      </a:lnTo>
                      <a:close/>
                    </a:path>
                  </a:pathLst>
                </a:custGeom>
                <a:solidFill>
                  <a:srgbClr val="D5000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0" name="Freeform 10"/>
                <p:cNvSpPr/>
                <p:nvPr/>
              </p:nvSpPr>
              <p:spPr bwMode="auto">
                <a:xfrm>
                  <a:off x="5239" y="1430"/>
                  <a:ext cx="98" cy="761"/>
                </a:xfrm>
                <a:custGeom>
                  <a:avLst/>
                  <a:gdLst>
                    <a:gd name="T0" fmla="*/ 0 w 98"/>
                    <a:gd name="T1" fmla="*/ 217 h 761"/>
                    <a:gd name="T2" fmla="*/ 98 w 98"/>
                    <a:gd name="T3" fmla="*/ 0 h 761"/>
                    <a:gd name="T4" fmla="*/ 98 w 98"/>
                    <a:gd name="T5" fmla="*/ 652 h 761"/>
                    <a:gd name="T6" fmla="*/ 0 w 98"/>
                    <a:gd name="T7" fmla="*/ 761 h 761"/>
                    <a:gd name="T8" fmla="*/ 0 w 98"/>
                    <a:gd name="T9" fmla="*/ 462 h 761"/>
                    <a:gd name="T10" fmla="*/ 0 60000 65536"/>
                    <a:gd name="T11" fmla="*/ 0 60000 65536"/>
                    <a:gd name="T12" fmla="*/ 0 60000 65536"/>
                    <a:gd name="T13" fmla="*/ 0 60000 65536"/>
                    <a:gd name="T14" fmla="*/ 0 60000 65536"/>
                    <a:gd name="T15" fmla="*/ 0 w 98"/>
                    <a:gd name="T16" fmla="*/ 0 h 761"/>
                    <a:gd name="T17" fmla="*/ 98 w 98"/>
                    <a:gd name="T18" fmla="*/ 761 h 761"/>
                  </a:gdLst>
                  <a:ahLst/>
                  <a:cxnLst>
                    <a:cxn ang="T10">
                      <a:pos x="T0" y="T1"/>
                    </a:cxn>
                    <a:cxn ang="T11">
                      <a:pos x="T2" y="T3"/>
                    </a:cxn>
                    <a:cxn ang="T12">
                      <a:pos x="T4" y="T5"/>
                    </a:cxn>
                    <a:cxn ang="T13">
                      <a:pos x="T6" y="T7"/>
                    </a:cxn>
                    <a:cxn ang="T14">
                      <a:pos x="T8" y="T9"/>
                    </a:cxn>
                  </a:cxnLst>
                  <a:rect l="T15" t="T16" r="T17" b="T18"/>
                  <a:pathLst>
                    <a:path w="98" h="761">
                      <a:moveTo>
                        <a:pt x="0" y="217"/>
                      </a:moveTo>
                      <a:lnTo>
                        <a:pt x="98" y="0"/>
                      </a:lnTo>
                      <a:lnTo>
                        <a:pt x="98" y="652"/>
                      </a:lnTo>
                      <a:lnTo>
                        <a:pt x="0" y="761"/>
                      </a:lnTo>
                      <a:lnTo>
                        <a:pt x="0" y="462"/>
                      </a:lnTo>
                    </a:path>
                  </a:pathLst>
                </a:custGeom>
                <a:noFill/>
                <a:ln w="19050">
                  <a:solidFill>
                    <a:srgbClr val="AA0008"/>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Freeform 11"/>
                <p:cNvSpPr/>
                <p:nvPr/>
              </p:nvSpPr>
              <p:spPr bwMode="auto">
                <a:xfrm>
                  <a:off x="5164" y="1539"/>
                  <a:ext cx="75" cy="652"/>
                </a:xfrm>
                <a:custGeom>
                  <a:avLst/>
                  <a:gdLst>
                    <a:gd name="T0" fmla="*/ 75 w 75"/>
                    <a:gd name="T1" fmla="*/ 54 h 652"/>
                    <a:gd name="T2" fmla="*/ 0 w 75"/>
                    <a:gd name="T3" fmla="*/ 0 h 652"/>
                    <a:gd name="T4" fmla="*/ 0 w 75"/>
                    <a:gd name="T5" fmla="*/ 652 h 652"/>
                    <a:gd name="T6" fmla="*/ 75 w 75"/>
                    <a:gd name="T7" fmla="*/ 652 h 652"/>
                    <a:gd name="T8" fmla="*/ 75 w 75"/>
                    <a:gd name="T9" fmla="*/ 54 h 652"/>
                    <a:gd name="T10" fmla="*/ 0 60000 65536"/>
                    <a:gd name="T11" fmla="*/ 0 60000 65536"/>
                    <a:gd name="T12" fmla="*/ 0 60000 65536"/>
                    <a:gd name="T13" fmla="*/ 0 60000 65536"/>
                    <a:gd name="T14" fmla="*/ 0 60000 65536"/>
                    <a:gd name="T15" fmla="*/ 0 w 75"/>
                    <a:gd name="T16" fmla="*/ 0 h 652"/>
                    <a:gd name="T17" fmla="*/ 75 w 75"/>
                    <a:gd name="T18" fmla="*/ 652 h 652"/>
                  </a:gdLst>
                  <a:ahLst/>
                  <a:cxnLst>
                    <a:cxn ang="T10">
                      <a:pos x="T0" y="T1"/>
                    </a:cxn>
                    <a:cxn ang="T11">
                      <a:pos x="T2" y="T3"/>
                    </a:cxn>
                    <a:cxn ang="T12">
                      <a:pos x="T4" y="T5"/>
                    </a:cxn>
                    <a:cxn ang="T13">
                      <a:pos x="T6" y="T7"/>
                    </a:cxn>
                    <a:cxn ang="T14">
                      <a:pos x="T8" y="T9"/>
                    </a:cxn>
                  </a:cxnLst>
                  <a:rect l="T15" t="T16" r="T17" b="T18"/>
                  <a:pathLst>
                    <a:path w="75" h="652">
                      <a:moveTo>
                        <a:pt x="75" y="54"/>
                      </a:moveTo>
                      <a:lnTo>
                        <a:pt x="0" y="0"/>
                      </a:lnTo>
                      <a:lnTo>
                        <a:pt x="0" y="652"/>
                      </a:lnTo>
                      <a:lnTo>
                        <a:pt x="75" y="652"/>
                      </a:lnTo>
                      <a:lnTo>
                        <a:pt x="75" y="54"/>
                      </a:lnTo>
                      <a:close/>
                    </a:path>
                  </a:pathLst>
                </a:custGeom>
                <a:solidFill>
                  <a:srgbClr val="FF555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2" name="Freeform 12"/>
                <p:cNvSpPr/>
                <p:nvPr/>
              </p:nvSpPr>
              <p:spPr bwMode="auto">
                <a:xfrm>
                  <a:off x="5164" y="1539"/>
                  <a:ext cx="75" cy="652"/>
                </a:xfrm>
                <a:custGeom>
                  <a:avLst/>
                  <a:gdLst>
                    <a:gd name="T0" fmla="*/ 75 w 75"/>
                    <a:gd name="T1" fmla="*/ 54 h 652"/>
                    <a:gd name="T2" fmla="*/ 0 w 75"/>
                    <a:gd name="T3" fmla="*/ 0 h 652"/>
                    <a:gd name="T4" fmla="*/ 0 w 75"/>
                    <a:gd name="T5" fmla="*/ 652 h 652"/>
                    <a:gd name="T6" fmla="*/ 75 w 75"/>
                    <a:gd name="T7" fmla="*/ 652 h 652"/>
                    <a:gd name="T8" fmla="*/ 75 w 75"/>
                    <a:gd name="T9" fmla="*/ 54 h 652"/>
                    <a:gd name="T10" fmla="*/ 0 60000 65536"/>
                    <a:gd name="T11" fmla="*/ 0 60000 65536"/>
                    <a:gd name="T12" fmla="*/ 0 60000 65536"/>
                    <a:gd name="T13" fmla="*/ 0 60000 65536"/>
                    <a:gd name="T14" fmla="*/ 0 60000 65536"/>
                    <a:gd name="T15" fmla="*/ 0 w 75"/>
                    <a:gd name="T16" fmla="*/ 0 h 652"/>
                    <a:gd name="T17" fmla="*/ 75 w 75"/>
                    <a:gd name="T18" fmla="*/ 652 h 652"/>
                  </a:gdLst>
                  <a:ahLst/>
                  <a:cxnLst>
                    <a:cxn ang="T10">
                      <a:pos x="T0" y="T1"/>
                    </a:cxn>
                    <a:cxn ang="T11">
                      <a:pos x="T2" y="T3"/>
                    </a:cxn>
                    <a:cxn ang="T12">
                      <a:pos x="T4" y="T5"/>
                    </a:cxn>
                    <a:cxn ang="T13">
                      <a:pos x="T6" y="T7"/>
                    </a:cxn>
                    <a:cxn ang="T14">
                      <a:pos x="T8" y="T9"/>
                    </a:cxn>
                  </a:cxnLst>
                  <a:rect l="T15" t="T16" r="T17" b="T18"/>
                  <a:pathLst>
                    <a:path w="75" h="652">
                      <a:moveTo>
                        <a:pt x="75" y="54"/>
                      </a:moveTo>
                      <a:lnTo>
                        <a:pt x="0" y="0"/>
                      </a:lnTo>
                      <a:lnTo>
                        <a:pt x="0" y="652"/>
                      </a:lnTo>
                      <a:lnTo>
                        <a:pt x="75" y="652"/>
                      </a:lnTo>
                      <a:lnTo>
                        <a:pt x="75" y="54"/>
                      </a:lnTo>
                      <a:close/>
                    </a:path>
                  </a:pathLst>
                </a:custGeom>
                <a:solidFill>
                  <a:srgbClr val="FF555D"/>
                </a:solidFill>
                <a:ln w="19050">
                  <a:solidFill>
                    <a:srgbClr val="AA0008"/>
                  </a:solidFill>
                  <a:round/>
                </a:ln>
              </p:spPr>
              <p:txBody>
                <a:bodyPr/>
                <a:lstStyle/>
                <a:p>
                  <a:endParaRPr lang="zh-CN" altLang="en-US"/>
                </a:p>
              </p:txBody>
            </p:sp>
            <p:sp>
              <p:nvSpPr>
                <p:cNvPr id="23" name="Freeform 13"/>
                <p:cNvSpPr/>
                <p:nvPr/>
              </p:nvSpPr>
              <p:spPr bwMode="auto">
                <a:xfrm>
                  <a:off x="4300" y="724"/>
                  <a:ext cx="1272" cy="1032"/>
                </a:xfrm>
                <a:custGeom>
                  <a:avLst/>
                  <a:gdLst>
                    <a:gd name="T0" fmla="*/ 0 w 1272"/>
                    <a:gd name="T1" fmla="*/ 326 h 1032"/>
                    <a:gd name="T2" fmla="*/ 976 w 1272"/>
                    <a:gd name="T3" fmla="*/ 1032 h 1032"/>
                    <a:gd name="T4" fmla="*/ 1272 w 1272"/>
                    <a:gd name="T5" fmla="*/ 706 h 1032"/>
                    <a:gd name="T6" fmla="*/ 296 w 1272"/>
                    <a:gd name="T7" fmla="*/ 0 h 1032"/>
                    <a:gd name="T8" fmla="*/ 0 w 1272"/>
                    <a:gd name="T9" fmla="*/ 326 h 1032"/>
                    <a:gd name="T10" fmla="*/ 0 60000 65536"/>
                    <a:gd name="T11" fmla="*/ 0 60000 65536"/>
                    <a:gd name="T12" fmla="*/ 0 60000 65536"/>
                    <a:gd name="T13" fmla="*/ 0 60000 65536"/>
                    <a:gd name="T14" fmla="*/ 0 60000 65536"/>
                    <a:gd name="T15" fmla="*/ 0 w 1272"/>
                    <a:gd name="T16" fmla="*/ 0 h 1032"/>
                    <a:gd name="T17" fmla="*/ 1272 w 1272"/>
                    <a:gd name="T18" fmla="*/ 1032 h 1032"/>
                  </a:gdLst>
                  <a:ahLst/>
                  <a:cxnLst>
                    <a:cxn ang="T10">
                      <a:pos x="T0" y="T1"/>
                    </a:cxn>
                    <a:cxn ang="T11">
                      <a:pos x="T2" y="T3"/>
                    </a:cxn>
                    <a:cxn ang="T12">
                      <a:pos x="T4" y="T5"/>
                    </a:cxn>
                    <a:cxn ang="T13">
                      <a:pos x="T6" y="T7"/>
                    </a:cxn>
                    <a:cxn ang="T14">
                      <a:pos x="T8" y="T9"/>
                    </a:cxn>
                  </a:cxnLst>
                  <a:rect l="T15" t="T16" r="T17" b="T18"/>
                  <a:pathLst>
                    <a:path w="1272" h="1032">
                      <a:moveTo>
                        <a:pt x="0" y="326"/>
                      </a:moveTo>
                      <a:lnTo>
                        <a:pt x="976" y="1032"/>
                      </a:lnTo>
                      <a:lnTo>
                        <a:pt x="1272" y="706"/>
                      </a:lnTo>
                      <a:lnTo>
                        <a:pt x="296" y="0"/>
                      </a:lnTo>
                      <a:lnTo>
                        <a:pt x="0" y="326"/>
                      </a:lnTo>
                      <a:close/>
                    </a:path>
                  </a:pathLst>
                </a:custGeom>
                <a:solidFill>
                  <a:srgbClr val="9DB4B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4" name="Freeform 14"/>
                <p:cNvSpPr/>
                <p:nvPr/>
              </p:nvSpPr>
              <p:spPr bwMode="auto">
                <a:xfrm>
                  <a:off x="4300" y="724"/>
                  <a:ext cx="1272" cy="1032"/>
                </a:xfrm>
                <a:custGeom>
                  <a:avLst/>
                  <a:gdLst>
                    <a:gd name="T0" fmla="*/ 0 w 1272"/>
                    <a:gd name="T1" fmla="*/ 326 h 1032"/>
                    <a:gd name="T2" fmla="*/ 976 w 1272"/>
                    <a:gd name="T3" fmla="*/ 1032 h 1032"/>
                    <a:gd name="T4" fmla="*/ 1272 w 1272"/>
                    <a:gd name="T5" fmla="*/ 706 h 1032"/>
                    <a:gd name="T6" fmla="*/ 296 w 1272"/>
                    <a:gd name="T7" fmla="*/ 0 h 1032"/>
                    <a:gd name="T8" fmla="*/ 0 w 1272"/>
                    <a:gd name="T9" fmla="*/ 326 h 1032"/>
                    <a:gd name="T10" fmla="*/ 0 60000 65536"/>
                    <a:gd name="T11" fmla="*/ 0 60000 65536"/>
                    <a:gd name="T12" fmla="*/ 0 60000 65536"/>
                    <a:gd name="T13" fmla="*/ 0 60000 65536"/>
                    <a:gd name="T14" fmla="*/ 0 60000 65536"/>
                    <a:gd name="T15" fmla="*/ 0 w 1272"/>
                    <a:gd name="T16" fmla="*/ 0 h 1032"/>
                    <a:gd name="T17" fmla="*/ 1272 w 1272"/>
                    <a:gd name="T18" fmla="*/ 1032 h 1032"/>
                  </a:gdLst>
                  <a:ahLst/>
                  <a:cxnLst>
                    <a:cxn ang="T10">
                      <a:pos x="T0" y="T1"/>
                    </a:cxn>
                    <a:cxn ang="T11">
                      <a:pos x="T2" y="T3"/>
                    </a:cxn>
                    <a:cxn ang="T12">
                      <a:pos x="T4" y="T5"/>
                    </a:cxn>
                    <a:cxn ang="T13">
                      <a:pos x="T6" y="T7"/>
                    </a:cxn>
                    <a:cxn ang="T14">
                      <a:pos x="T8" y="T9"/>
                    </a:cxn>
                  </a:cxnLst>
                  <a:rect l="T15" t="T16" r="T17" b="T18"/>
                  <a:pathLst>
                    <a:path w="1272" h="1032">
                      <a:moveTo>
                        <a:pt x="0" y="326"/>
                      </a:moveTo>
                      <a:lnTo>
                        <a:pt x="976" y="1032"/>
                      </a:lnTo>
                      <a:lnTo>
                        <a:pt x="1272" y="706"/>
                      </a:lnTo>
                      <a:lnTo>
                        <a:pt x="296" y="0"/>
                      </a:lnTo>
                      <a:lnTo>
                        <a:pt x="0" y="326"/>
                      </a:lnTo>
                      <a:close/>
                    </a:path>
                  </a:pathLst>
                </a:custGeom>
                <a:solidFill>
                  <a:srgbClr val="9DB4B7"/>
                </a:solidFill>
                <a:ln w="19050">
                  <a:solidFill>
                    <a:srgbClr val="485F62"/>
                  </a:solidFill>
                  <a:round/>
                </a:ln>
              </p:spPr>
              <p:txBody>
                <a:bodyPr/>
                <a:lstStyle/>
                <a:p>
                  <a:endParaRPr lang="zh-CN" altLang="en-US"/>
                </a:p>
              </p:txBody>
            </p:sp>
            <p:sp>
              <p:nvSpPr>
                <p:cNvPr id="25" name="Freeform 15"/>
                <p:cNvSpPr/>
                <p:nvPr/>
              </p:nvSpPr>
              <p:spPr bwMode="auto">
                <a:xfrm>
                  <a:off x="5263" y="1213"/>
                  <a:ext cx="50" cy="353"/>
                </a:xfrm>
                <a:custGeom>
                  <a:avLst/>
                  <a:gdLst>
                    <a:gd name="T0" fmla="*/ 0 w 50"/>
                    <a:gd name="T1" fmla="*/ 54 h 353"/>
                    <a:gd name="T2" fmla="*/ 50 w 50"/>
                    <a:gd name="T3" fmla="*/ 0 h 353"/>
                    <a:gd name="T4" fmla="*/ 50 w 50"/>
                    <a:gd name="T5" fmla="*/ 299 h 353"/>
                    <a:gd name="T6" fmla="*/ 0 w 50"/>
                    <a:gd name="T7" fmla="*/ 353 h 353"/>
                    <a:gd name="T8" fmla="*/ 0 w 50"/>
                    <a:gd name="T9" fmla="*/ 54 h 353"/>
                    <a:gd name="T10" fmla="*/ 0 60000 65536"/>
                    <a:gd name="T11" fmla="*/ 0 60000 65536"/>
                    <a:gd name="T12" fmla="*/ 0 60000 65536"/>
                    <a:gd name="T13" fmla="*/ 0 60000 65536"/>
                    <a:gd name="T14" fmla="*/ 0 60000 65536"/>
                    <a:gd name="T15" fmla="*/ 0 w 50"/>
                    <a:gd name="T16" fmla="*/ 0 h 353"/>
                    <a:gd name="T17" fmla="*/ 50 w 50"/>
                    <a:gd name="T18" fmla="*/ 353 h 353"/>
                  </a:gdLst>
                  <a:ahLst/>
                  <a:cxnLst>
                    <a:cxn ang="T10">
                      <a:pos x="T0" y="T1"/>
                    </a:cxn>
                    <a:cxn ang="T11">
                      <a:pos x="T2" y="T3"/>
                    </a:cxn>
                    <a:cxn ang="T12">
                      <a:pos x="T4" y="T5"/>
                    </a:cxn>
                    <a:cxn ang="T13">
                      <a:pos x="T6" y="T7"/>
                    </a:cxn>
                    <a:cxn ang="T14">
                      <a:pos x="T8" y="T9"/>
                    </a:cxn>
                  </a:cxnLst>
                  <a:rect l="T15" t="T16" r="T17" b="T18"/>
                  <a:pathLst>
                    <a:path w="50" h="353">
                      <a:moveTo>
                        <a:pt x="0" y="54"/>
                      </a:moveTo>
                      <a:lnTo>
                        <a:pt x="50" y="0"/>
                      </a:lnTo>
                      <a:lnTo>
                        <a:pt x="50" y="299"/>
                      </a:lnTo>
                      <a:lnTo>
                        <a:pt x="0" y="353"/>
                      </a:lnTo>
                      <a:lnTo>
                        <a:pt x="0" y="54"/>
                      </a:lnTo>
                      <a:close/>
                    </a:path>
                  </a:pathLst>
                </a:custGeom>
                <a:solidFill>
                  <a:srgbClr val="D5000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 name="Freeform 16"/>
                <p:cNvSpPr/>
                <p:nvPr/>
              </p:nvSpPr>
              <p:spPr bwMode="auto">
                <a:xfrm>
                  <a:off x="5263" y="1213"/>
                  <a:ext cx="50" cy="353"/>
                </a:xfrm>
                <a:custGeom>
                  <a:avLst/>
                  <a:gdLst>
                    <a:gd name="T0" fmla="*/ 0 w 50"/>
                    <a:gd name="T1" fmla="*/ 54 h 353"/>
                    <a:gd name="T2" fmla="*/ 50 w 50"/>
                    <a:gd name="T3" fmla="*/ 0 h 353"/>
                    <a:gd name="T4" fmla="*/ 50 w 50"/>
                    <a:gd name="T5" fmla="*/ 299 h 353"/>
                    <a:gd name="T6" fmla="*/ 0 w 50"/>
                    <a:gd name="T7" fmla="*/ 353 h 353"/>
                    <a:gd name="T8" fmla="*/ 0 w 50"/>
                    <a:gd name="T9" fmla="*/ 54 h 353"/>
                    <a:gd name="T10" fmla="*/ 0 60000 65536"/>
                    <a:gd name="T11" fmla="*/ 0 60000 65536"/>
                    <a:gd name="T12" fmla="*/ 0 60000 65536"/>
                    <a:gd name="T13" fmla="*/ 0 60000 65536"/>
                    <a:gd name="T14" fmla="*/ 0 60000 65536"/>
                    <a:gd name="T15" fmla="*/ 0 w 50"/>
                    <a:gd name="T16" fmla="*/ 0 h 353"/>
                    <a:gd name="T17" fmla="*/ 50 w 50"/>
                    <a:gd name="T18" fmla="*/ 353 h 353"/>
                  </a:gdLst>
                  <a:ahLst/>
                  <a:cxnLst>
                    <a:cxn ang="T10">
                      <a:pos x="T0" y="T1"/>
                    </a:cxn>
                    <a:cxn ang="T11">
                      <a:pos x="T2" y="T3"/>
                    </a:cxn>
                    <a:cxn ang="T12">
                      <a:pos x="T4" y="T5"/>
                    </a:cxn>
                    <a:cxn ang="T13">
                      <a:pos x="T6" y="T7"/>
                    </a:cxn>
                    <a:cxn ang="T14">
                      <a:pos x="T8" y="T9"/>
                    </a:cxn>
                  </a:cxnLst>
                  <a:rect l="T15" t="T16" r="T17" b="T18"/>
                  <a:pathLst>
                    <a:path w="50" h="353">
                      <a:moveTo>
                        <a:pt x="0" y="54"/>
                      </a:moveTo>
                      <a:lnTo>
                        <a:pt x="50" y="0"/>
                      </a:lnTo>
                      <a:lnTo>
                        <a:pt x="50" y="299"/>
                      </a:lnTo>
                      <a:lnTo>
                        <a:pt x="0" y="353"/>
                      </a:lnTo>
                      <a:lnTo>
                        <a:pt x="0" y="54"/>
                      </a:lnTo>
                      <a:close/>
                    </a:path>
                  </a:pathLst>
                </a:custGeom>
                <a:solidFill>
                  <a:srgbClr val="D5000A"/>
                </a:solidFill>
                <a:ln w="19050">
                  <a:solidFill>
                    <a:srgbClr val="AA0008"/>
                  </a:solidFill>
                  <a:round/>
                </a:ln>
              </p:spPr>
              <p:txBody>
                <a:bodyPr/>
                <a:lstStyle/>
                <a:p>
                  <a:endParaRPr lang="zh-CN" altLang="en-US"/>
                </a:p>
              </p:txBody>
            </p:sp>
            <p:sp>
              <p:nvSpPr>
                <p:cNvPr id="27" name="Freeform 17"/>
                <p:cNvSpPr/>
                <p:nvPr/>
              </p:nvSpPr>
              <p:spPr bwMode="auto">
                <a:xfrm>
                  <a:off x="5189" y="1267"/>
                  <a:ext cx="74" cy="299"/>
                </a:xfrm>
                <a:custGeom>
                  <a:avLst/>
                  <a:gdLst>
                    <a:gd name="T0" fmla="*/ 74 w 74"/>
                    <a:gd name="T1" fmla="*/ 0 h 299"/>
                    <a:gd name="T2" fmla="*/ 0 w 74"/>
                    <a:gd name="T3" fmla="*/ 0 h 299"/>
                    <a:gd name="T4" fmla="*/ 0 w 74"/>
                    <a:gd name="T5" fmla="*/ 245 h 299"/>
                    <a:gd name="T6" fmla="*/ 74 w 74"/>
                    <a:gd name="T7" fmla="*/ 299 h 299"/>
                    <a:gd name="T8" fmla="*/ 74 w 74"/>
                    <a:gd name="T9" fmla="*/ 0 h 299"/>
                    <a:gd name="T10" fmla="*/ 0 60000 65536"/>
                    <a:gd name="T11" fmla="*/ 0 60000 65536"/>
                    <a:gd name="T12" fmla="*/ 0 60000 65536"/>
                    <a:gd name="T13" fmla="*/ 0 60000 65536"/>
                    <a:gd name="T14" fmla="*/ 0 60000 65536"/>
                    <a:gd name="T15" fmla="*/ 0 w 74"/>
                    <a:gd name="T16" fmla="*/ 0 h 299"/>
                    <a:gd name="T17" fmla="*/ 74 w 74"/>
                    <a:gd name="T18" fmla="*/ 299 h 299"/>
                  </a:gdLst>
                  <a:ahLst/>
                  <a:cxnLst>
                    <a:cxn ang="T10">
                      <a:pos x="T0" y="T1"/>
                    </a:cxn>
                    <a:cxn ang="T11">
                      <a:pos x="T2" y="T3"/>
                    </a:cxn>
                    <a:cxn ang="T12">
                      <a:pos x="T4" y="T5"/>
                    </a:cxn>
                    <a:cxn ang="T13">
                      <a:pos x="T6" y="T7"/>
                    </a:cxn>
                    <a:cxn ang="T14">
                      <a:pos x="T8" y="T9"/>
                    </a:cxn>
                  </a:cxnLst>
                  <a:rect l="T15" t="T16" r="T17" b="T18"/>
                  <a:pathLst>
                    <a:path w="74" h="299">
                      <a:moveTo>
                        <a:pt x="74" y="0"/>
                      </a:moveTo>
                      <a:lnTo>
                        <a:pt x="0" y="0"/>
                      </a:lnTo>
                      <a:lnTo>
                        <a:pt x="0" y="245"/>
                      </a:lnTo>
                      <a:lnTo>
                        <a:pt x="74" y="299"/>
                      </a:lnTo>
                      <a:lnTo>
                        <a:pt x="74" y="0"/>
                      </a:lnTo>
                      <a:close/>
                    </a:path>
                  </a:pathLst>
                </a:custGeom>
                <a:solidFill>
                  <a:srgbClr val="FF555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8" name="Freeform 18"/>
                <p:cNvSpPr/>
                <p:nvPr/>
              </p:nvSpPr>
              <p:spPr bwMode="auto">
                <a:xfrm>
                  <a:off x="5189" y="1267"/>
                  <a:ext cx="74" cy="299"/>
                </a:xfrm>
                <a:custGeom>
                  <a:avLst/>
                  <a:gdLst>
                    <a:gd name="T0" fmla="*/ 74 w 74"/>
                    <a:gd name="T1" fmla="*/ 0 h 299"/>
                    <a:gd name="T2" fmla="*/ 0 w 74"/>
                    <a:gd name="T3" fmla="*/ 0 h 299"/>
                    <a:gd name="T4" fmla="*/ 0 w 74"/>
                    <a:gd name="T5" fmla="*/ 245 h 299"/>
                    <a:gd name="T6" fmla="*/ 74 w 74"/>
                    <a:gd name="T7" fmla="*/ 299 h 299"/>
                    <a:gd name="T8" fmla="*/ 74 w 74"/>
                    <a:gd name="T9" fmla="*/ 0 h 299"/>
                    <a:gd name="T10" fmla="*/ 0 60000 65536"/>
                    <a:gd name="T11" fmla="*/ 0 60000 65536"/>
                    <a:gd name="T12" fmla="*/ 0 60000 65536"/>
                    <a:gd name="T13" fmla="*/ 0 60000 65536"/>
                    <a:gd name="T14" fmla="*/ 0 60000 65536"/>
                    <a:gd name="T15" fmla="*/ 0 w 74"/>
                    <a:gd name="T16" fmla="*/ 0 h 299"/>
                    <a:gd name="T17" fmla="*/ 74 w 74"/>
                    <a:gd name="T18" fmla="*/ 299 h 299"/>
                  </a:gdLst>
                  <a:ahLst/>
                  <a:cxnLst>
                    <a:cxn ang="T10">
                      <a:pos x="T0" y="T1"/>
                    </a:cxn>
                    <a:cxn ang="T11">
                      <a:pos x="T2" y="T3"/>
                    </a:cxn>
                    <a:cxn ang="T12">
                      <a:pos x="T4" y="T5"/>
                    </a:cxn>
                    <a:cxn ang="T13">
                      <a:pos x="T6" y="T7"/>
                    </a:cxn>
                    <a:cxn ang="T14">
                      <a:pos x="T8" y="T9"/>
                    </a:cxn>
                  </a:cxnLst>
                  <a:rect l="T15" t="T16" r="T17" b="T18"/>
                  <a:pathLst>
                    <a:path w="74" h="299">
                      <a:moveTo>
                        <a:pt x="74" y="0"/>
                      </a:moveTo>
                      <a:lnTo>
                        <a:pt x="0" y="0"/>
                      </a:lnTo>
                      <a:lnTo>
                        <a:pt x="0" y="245"/>
                      </a:lnTo>
                      <a:lnTo>
                        <a:pt x="74" y="299"/>
                      </a:lnTo>
                      <a:lnTo>
                        <a:pt x="74" y="0"/>
                      </a:lnTo>
                      <a:close/>
                    </a:path>
                  </a:pathLst>
                </a:custGeom>
                <a:solidFill>
                  <a:srgbClr val="FF555D"/>
                </a:solidFill>
                <a:ln w="19050">
                  <a:solidFill>
                    <a:srgbClr val="AA0008"/>
                  </a:solidFill>
                  <a:round/>
                </a:ln>
              </p:spPr>
              <p:txBody>
                <a:bodyPr/>
                <a:lstStyle/>
                <a:p>
                  <a:endParaRPr lang="zh-CN" altLang="en-US"/>
                </a:p>
              </p:txBody>
            </p:sp>
            <p:sp>
              <p:nvSpPr>
                <p:cNvPr id="29" name="Freeform 19"/>
                <p:cNvSpPr/>
                <p:nvPr/>
              </p:nvSpPr>
              <p:spPr bwMode="auto">
                <a:xfrm>
                  <a:off x="5189" y="1213"/>
                  <a:ext cx="124" cy="54"/>
                </a:xfrm>
                <a:custGeom>
                  <a:avLst/>
                  <a:gdLst>
                    <a:gd name="T0" fmla="*/ 0 w 124"/>
                    <a:gd name="T1" fmla="*/ 54 h 54"/>
                    <a:gd name="T2" fmla="*/ 74 w 124"/>
                    <a:gd name="T3" fmla="*/ 54 h 54"/>
                    <a:gd name="T4" fmla="*/ 124 w 124"/>
                    <a:gd name="T5" fmla="*/ 0 h 54"/>
                    <a:gd name="T6" fmla="*/ 50 w 124"/>
                    <a:gd name="T7" fmla="*/ 13 h 54"/>
                    <a:gd name="T8" fmla="*/ 0 w 124"/>
                    <a:gd name="T9" fmla="*/ 54 h 54"/>
                    <a:gd name="T10" fmla="*/ 0 60000 65536"/>
                    <a:gd name="T11" fmla="*/ 0 60000 65536"/>
                    <a:gd name="T12" fmla="*/ 0 60000 65536"/>
                    <a:gd name="T13" fmla="*/ 0 60000 65536"/>
                    <a:gd name="T14" fmla="*/ 0 60000 65536"/>
                    <a:gd name="T15" fmla="*/ 0 w 124"/>
                    <a:gd name="T16" fmla="*/ 0 h 54"/>
                    <a:gd name="T17" fmla="*/ 124 w 124"/>
                    <a:gd name="T18" fmla="*/ 54 h 54"/>
                  </a:gdLst>
                  <a:ahLst/>
                  <a:cxnLst>
                    <a:cxn ang="T10">
                      <a:pos x="T0" y="T1"/>
                    </a:cxn>
                    <a:cxn ang="T11">
                      <a:pos x="T2" y="T3"/>
                    </a:cxn>
                    <a:cxn ang="T12">
                      <a:pos x="T4" y="T5"/>
                    </a:cxn>
                    <a:cxn ang="T13">
                      <a:pos x="T6" y="T7"/>
                    </a:cxn>
                    <a:cxn ang="T14">
                      <a:pos x="T8" y="T9"/>
                    </a:cxn>
                  </a:cxnLst>
                  <a:rect l="T15" t="T16" r="T17" b="T18"/>
                  <a:pathLst>
                    <a:path w="124" h="54">
                      <a:moveTo>
                        <a:pt x="0" y="54"/>
                      </a:moveTo>
                      <a:lnTo>
                        <a:pt x="74" y="54"/>
                      </a:lnTo>
                      <a:lnTo>
                        <a:pt x="124" y="0"/>
                      </a:lnTo>
                      <a:lnTo>
                        <a:pt x="50" y="13"/>
                      </a:lnTo>
                      <a:lnTo>
                        <a:pt x="0" y="5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 name="Freeform 20"/>
                <p:cNvSpPr/>
                <p:nvPr/>
              </p:nvSpPr>
              <p:spPr bwMode="auto">
                <a:xfrm>
                  <a:off x="5189" y="1213"/>
                  <a:ext cx="124" cy="54"/>
                </a:xfrm>
                <a:custGeom>
                  <a:avLst/>
                  <a:gdLst>
                    <a:gd name="T0" fmla="*/ 0 w 124"/>
                    <a:gd name="T1" fmla="*/ 54 h 54"/>
                    <a:gd name="T2" fmla="*/ 74 w 124"/>
                    <a:gd name="T3" fmla="*/ 54 h 54"/>
                    <a:gd name="T4" fmla="*/ 124 w 124"/>
                    <a:gd name="T5" fmla="*/ 0 h 54"/>
                    <a:gd name="T6" fmla="*/ 50 w 124"/>
                    <a:gd name="T7" fmla="*/ 13 h 54"/>
                    <a:gd name="T8" fmla="*/ 0 w 124"/>
                    <a:gd name="T9" fmla="*/ 54 h 54"/>
                    <a:gd name="T10" fmla="*/ 0 60000 65536"/>
                    <a:gd name="T11" fmla="*/ 0 60000 65536"/>
                    <a:gd name="T12" fmla="*/ 0 60000 65536"/>
                    <a:gd name="T13" fmla="*/ 0 60000 65536"/>
                    <a:gd name="T14" fmla="*/ 0 60000 65536"/>
                    <a:gd name="T15" fmla="*/ 0 w 124"/>
                    <a:gd name="T16" fmla="*/ 0 h 54"/>
                    <a:gd name="T17" fmla="*/ 124 w 124"/>
                    <a:gd name="T18" fmla="*/ 54 h 54"/>
                  </a:gdLst>
                  <a:ahLst/>
                  <a:cxnLst>
                    <a:cxn ang="T10">
                      <a:pos x="T0" y="T1"/>
                    </a:cxn>
                    <a:cxn ang="T11">
                      <a:pos x="T2" y="T3"/>
                    </a:cxn>
                    <a:cxn ang="T12">
                      <a:pos x="T4" y="T5"/>
                    </a:cxn>
                    <a:cxn ang="T13">
                      <a:pos x="T6" y="T7"/>
                    </a:cxn>
                    <a:cxn ang="T14">
                      <a:pos x="T8" y="T9"/>
                    </a:cxn>
                  </a:cxnLst>
                  <a:rect l="T15" t="T16" r="T17" b="T18"/>
                  <a:pathLst>
                    <a:path w="124" h="54">
                      <a:moveTo>
                        <a:pt x="0" y="54"/>
                      </a:moveTo>
                      <a:lnTo>
                        <a:pt x="74" y="54"/>
                      </a:lnTo>
                      <a:lnTo>
                        <a:pt x="124" y="0"/>
                      </a:lnTo>
                      <a:lnTo>
                        <a:pt x="50" y="13"/>
                      </a:lnTo>
                      <a:lnTo>
                        <a:pt x="0" y="54"/>
                      </a:lnTo>
                      <a:close/>
                    </a:path>
                  </a:pathLst>
                </a:custGeom>
                <a:solidFill>
                  <a:srgbClr val="000000"/>
                </a:solidFill>
                <a:ln w="19050">
                  <a:solidFill>
                    <a:srgbClr val="AA0008"/>
                  </a:solidFill>
                  <a:round/>
                </a:ln>
              </p:spPr>
              <p:txBody>
                <a:bodyPr/>
                <a:lstStyle/>
                <a:p>
                  <a:endParaRPr lang="zh-CN" altLang="en-US"/>
                </a:p>
              </p:txBody>
            </p:sp>
            <p:sp>
              <p:nvSpPr>
                <p:cNvPr id="31" name="Freeform 21"/>
                <p:cNvSpPr/>
                <p:nvPr/>
              </p:nvSpPr>
              <p:spPr bwMode="auto">
                <a:xfrm>
                  <a:off x="3448" y="724"/>
                  <a:ext cx="1136" cy="1032"/>
                </a:xfrm>
                <a:custGeom>
                  <a:avLst/>
                  <a:gdLst>
                    <a:gd name="T0" fmla="*/ 0 w 1136"/>
                    <a:gd name="T1" fmla="*/ 1032 h 1032"/>
                    <a:gd name="T2" fmla="*/ 259 w 1136"/>
                    <a:gd name="T3" fmla="*/ 747 h 1032"/>
                    <a:gd name="T4" fmla="*/ 1136 w 1136"/>
                    <a:gd name="T5" fmla="*/ 0 h 1032"/>
                    <a:gd name="T6" fmla="*/ 852 w 1136"/>
                    <a:gd name="T7" fmla="*/ 326 h 1032"/>
                    <a:gd name="T8" fmla="*/ 0 w 1136"/>
                    <a:gd name="T9" fmla="*/ 1032 h 1032"/>
                    <a:gd name="T10" fmla="*/ 0 60000 65536"/>
                    <a:gd name="T11" fmla="*/ 0 60000 65536"/>
                    <a:gd name="T12" fmla="*/ 0 60000 65536"/>
                    <a:gd name="T13" fmla="*/ 0 60000 65536"/>
                    <a:gd name="T14" fmla="*/ 0 60000 65536"/>
                    <a:gd name="T15" fmla="*/ 0 w 1136"/>
                    <a:gd name="T16" fmla="*/ 0 h 1032"/>
                    <a:gd name="T17" fmla="*/ 1136 w 1136"/>
                    <a:gd name="T18" fmla="*/ 1032 h 1032"/>
                  </a:gdLst>
                  <a:ahLst/>
                  <a:cxnLst>
                    <a:cxn ang="T10">
                      <a:pos x="T0" y="T1"/>
                    </a:cxn>
                    <a:cxn ang="T11">
                      <a:pos x="T2" y="T3"/>
                    </a:cxn>
                    <a:cxn ang="T12">
                      <a:pos x="T4" y="T5"/>
                    </a:cxn>
                    <a:cxn ang="T13">
                      <a:pos x="T6" y="T7"/>
                    </a:cxn>
                    <a:cxn ang="T14">
                      <a:pos x="T8" y="T9"/>
                    </a:cxn>
                  </a:cxnLst>
                  <a:rect l="T15" t="T16" r="T17" b="T18"/>
                  <a:pathLst>
                    <a:path w="1136" h="1032">
                      <a:moveTo>
                        <a:pt x="0" y="1032"/>
                      </a:moveTo>
                      <a:lnTo>
                        <a:pt x="259" y="747"/>
                      </a:lnTo>
                      <a:lnTo>
                        <a:pt x="1136" y="0"/>
                      </a:lnTo>
                      <a:lnTo>
                        <a:pt x="852" y="326"/>
                      </a:lnTo>
                      <a:lnTo>
                        <a:pt x="0" y="1032"/>
                      </a:lnTo>
                      <a:close/>
                    </a:path>
                  </a:pathLst>
                </a:custGeom>
                <a:solidFill>
                  <a:srgbClr val="6C8F9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 name="Freeform 22"/>
                <p:cNvSpPr/>
                <p:nvPr/>
              </p:nvSpPr>
              <p:spPr bwMode="auto">
                <a:xfrm>
                  <a:off x="3448" y="724"/>
                  <a:ext cx="1136" cy="1032"/>
                </a:xfrm>
                <a:custGeom>
                  <a:avLst/>
                  <a:gdLst>
                    <a:gd name="T0" fmla="*/ 0 w 1136"/>
                    <a:gd name="T1" fmla="*/ 1032 h 1032"/>
                    <a:gd name="T2" fmla="*/ 259 w 1136"/>
                    <a:gd name="T3" fmla="*/ 747 h 1032"/>
                    <a:gd name="T4" fmla="*/ 1136 w 1136"/>
                    <a:gd name="T5" fmla="*/ 0 h 1032"/>
                    <a:gd name="T6" fmla="*/ 852 w 1136"/>
                    <a:gd name="T7" fmla="*/ 326 h 1032"/>
                    <a:gd name="T8" fmla="*/ 0 w 1136"/>
                    <a:gd name="T9" fmla="*/ 1032 h 1032"/>
                    <a:gd name="T10" fmla="*/ 0 60000 65536"/>
                    <a:gd name="T11" fmla="*/ 0 60000 65536"/>
                    <a:gd name="T12" fmla="*/ 0 60000 65536"/>
                    <a:gd name="T13" fmla="*/ 0 60000 65536"/>
                    <a:gd name="T14" fmla="*/ 0 60000 65536"/>
                    <a:gd name="T15" fmla="*/ 0 w 1136"/>
                    <a:gd name="T16" fmla="*/ 0 h 1032"/>
                    <a:gd name="T17" fmla="*/ 1136 w 1136"/>
                    <a:gd name="T18" fmla="*/ 1032 h 1032"/>
                  </a:gdLst>
                  <a:ahLst/>
                  <a:cxnLst>
                    <a:cxn ang="T10">
                      <a:pos x="T0" y="T1"/>
                    </a:cxn>
                    <a:cxn ang="T11">
                      <a:pos x="T2" y="T3"/>
                    </a:cxn>
                    <a:cxn ang="T12">
                      <a:pos x="T4" y="T5"/>
                    </a:cxn>
                    <a:cxn ang="T13">
                      <a:pos x="T6" y="T7"/>
                    </a:cxn>
                    <a:cxn ang="T14">
                      <a:pos x="T8" y="T9"/>
                    </a:cxn>
                  </a:cxnLst>
                  <a:rect l="T15" t="T16" r="T17" b="T18"/>
                  <a:pathLst>
                    <a:path w="1136" h="1032">
                      <a:moveTo>
                        <a:pt x="0" y="1032"/>
                      </a:moveTo>
                      <a:lnTo>
                        <a:pt x="259" y="747"/>
                      </a:lnTo>
                      <a:lnTo>
                        <a:pt x="1136" y="0"/>
                      </a:lnTo>
                      <a:lnTo>
                        <a:pt x="852" y="326"/>
                      </a:lnTo>
                      <a:lnTo>
                        <a:pt x="0" y="1032"/>
                      </a:lnTo>
                      <a:close/>
                    </a:path>
                  </a:pathLst>
                </a:custGeom>
                <a:solidFill>
                  <a:srgbClr val="6C8F93"/>
                </a:solidFill>
                <a:ln w="19050">
                  <a:solidFill>
                    <a:srgbClr val="485F62"/>
                  </a:solidFill>
                  <a:round/>
                </a:ln>
              </p:spPr>
              <p:txBody>
                <a:bodyPr/>
                <a:lstStyle/>
                <a:p>
                  <a:endParaRPr lang="zh-CN" altLang="en-US"/>
                </a:p>
              </p:txBody>
            </p:sp>
            <p:sp>
              <p:nvSpPr>
                <p:cNvPr id="33" name="Rectangle 23"/>
                <p:cNvSpPr>
                  <a:spLocks noChangeArrowheads="1"/>
                </p:cNvSpPr>
                <p:nvPr/>
              </p:nvSpPr>
              <p:spPr bwMode="auto">
                <a:xfrm>
                  <a:off x="4510" y="1756"/>
                  <a:ext cx="259" cy="516"/>
                </a:xfrm>
                <a:prstGeom prst="rect">
                  <a:avLst/>
                </a:prstGeom>
                <a:solidFill>
                  <a:srgbClr val="E5B07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endParaRPr lang="zh-CN" altLang="en-US" sz="3800" b="0">
                    <a:solidFill>
                      <a:schemeClr val="tx1"/>
                    </a:solidFill>
                    <a:ea typeface="宋体" panose="02010600030101010101" pitchFamily="2" charset="-122"/>
                  </a:endParaRPr>
                </a:p>
              </p:txBody>
            </p:sp>
            <p:sp>
              <p:nvSpPr>
                <p:cNvPr id="34" name="Rectangle 24"/>
                <p:cNvSpPr>
                  <a:spLocks noChangeArrowheads="1"/>
                </p:cNvSpPr>
                <p:nvPr/>
              </p:nvSpPr>
              <p:spPr bwMode="auto">
                <a:xfrm>
                  <a:off x="4516" y="1762"/>
                  <a:ext cx="247" cy="504"/>
                </a:xfrm>
                <a:prstGeom prst="rect">
                  <a:avLst/>
                </a:prstGeom>
                <a:solidFill>
                  <a:srgbClr val="E5B070"/>
                </a:solidFill>
                <a:ln w="19050">
                  <a:solidFill>
                    <a:srgbClr val="8F5B1A"/>
                  </a:solidFill>
                  <a:miter lim="800000"/>
                </a:ln>
              </p:spPr>
              <p:txBody>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endParaRPr lang="zh-CN" altLang="en-US" sz="3800" b="0">
                    <a:solidFill>
                      <a:schemeClr val="tx1"/>
                    </a:solidFill>
                    <a:ea typeface="宋体" panose="02010600030101010101" pitchFamily="2" charset="-122"/>
                  </a:endParaRPr>
                </a:p>
              </p:txBody>
            </p:sp>
          </p:grpSp>
          <p:sp>
            <p:nvSpPr>
              <p:cNvPr id="13" name="AutoShape 31"/>
              <p:cNvSpPr>
                <a:spLocks noChangeArrowheads="1"/>
              </p:cNvSpPr>
              <p:nvPr/>
            </p:nvSpPr>
            <p:spPr bwMode="auto">
              <a:xfrm>
                <a:off x="3380" y="1414"/>
                <a:ext cx="842" cy="440"/>
              </a:xfrm>
              <a:prstGeom prst="wedgeRoundRectCallout">
                <a:avLst>
                  <a:gd name="adj1" fmla="val 36625"/>
                  <a:gd name="adj2" fmla="val 71819"/>
                  <a:gd name="adj3" fmla="val 16667"/>
                </a:avLst>
              </a:prstGeom>
              <a:solidFill>
                <a:schemeClr val="bg1"/>
              </a:solidFill>
              <a:ln w="12700">
                <a:solidFill>
                  <a:schemeClr val="tx1"/>
                </a:solidFill>
                <a:miter lim="800000"/>
              </a:ln>
            </p:spPr>
            <p:txBody>
              <a:bodyPr anchor="ct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r>
                  <a:rPr lang="zh-CN" altLang="en-US" sz="1800">
                    <a:solidFill>
                      <a:srgbClr val="FF3399"/>
                    </a:solidFill>
                    <a:ea typeface="宋体" panose="02010600030101010101" pitchFamily="2" charset="-122"/>
                  </a:rPr>
                  <a:t>馈线避雷器</a:t>
                </a:r>
                <a:endParaRPr lang="zh-CN" altLang="en-US" sz="1800">
                  <a:solidFill>
                    <a:srgbClr val="FF3399"/>
                  </a:solidFill>
                  <a:ea typeface="宋体" panose="02010600030101010101" pitchFamily="2" charset="-122"/>
                </a:endParaRPr>
              </a:p>
            </p:txBody>
          </p:sp>
        </p:grpSp>
        <p:sp>
          <p:nvSpPr>
            <p:cNvPr id="11" name="Line 32"/>
            <p:cNvSpPr>
              <a:spLocks noChangeShapeType="1"/>
            </p:cNvSpPr>
            <p:nvPr/>
          </p:nvSpPr>
          <p:spPr bwMode="auto">
            <a:xfrm flipH="1">
              <a:off x="3728" y="2065"/>
              <a:ext cx="424" cy="5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35" name="图片 50" descr="IMG_0045.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40246" y="3044999"/>
            <a:ext cx="2749153" cy="206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左箭头 53"/>
          <p:cNvSpPr>
            <a:spLocks noChangeArrowheads="1"/>
          </p:cNvSpPr>
          <p:nvPr/>
        </p:nvSpPr>
        <p:spPr bwMode="auto">
          <a:xfrm rot="20851615">
            <a:off x="3088869" y="3875608"/>
            <a:ext cx="2487612" cy="428625"/>
          </a:xfrm>
          <a:prstGeom prst="leftArrow">
            <a:avLst>
              <a:gd name="adj1" fmla="val 50000"/>
              <a:gd name="adj2" fmla="val 193457"/>
            </a:avLst>
          </a:prstGeom>
          <a:solidFill>
            <a:srgbClr val="00CC99"/>
          </a:solidFill>
          <a:ln w="25400">
            <a:solidFill>
              <a:srgbClr val="89A4A7"/>
            </a:solidFill>
            <a:miter lim="800000"/>
          </a:ln>
        </p:spPr>
        <p:txBody>
          <a:bodyPr anchor="ct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endParaRPr lang="zh-CN" altLang="en-US" sz="3800" b="0">
              <a:solidFill>
                <a:srgbClr val="FFFFFF"/>
              </a:solidFill>
              <a:ea typeface="宋体" panose="02010600030101010101" pitchFamily="2" charset="-122"/>
            </a:endParaRPr>
          </a:p>
        </p:txBody>
      </p:sp>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885190"/>
            <a:ext cx="8229600" cy="139954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40000"/>
              </a:lnSpc>
              <a:buFontTx/>
              <a:buNone/>
            </a:pPr>
            <a:r>
              <a:rPr lang="zh-CN" altLang="en-US" sz="2000" dirty="0">
                <a:ea typeface="宋体" panose="02010600030101010101" pitchFamily="2" charset="-122"/>
              </a:rPr>
              <a:t>⑹基站机房内采用</a:t>
            </a:r>
            <a:r>
              <a:rPr lang="zh-CN" altLang="en-US" sz="2000" dirty="0">
                <a:solidFill>
                  <a:srgbClr val="FF0000"/>
                </a:solidFill>
                <a:ea typeface="宋体" panose="02010600030101010101" pitchFamily="2" charset="-122"/>
              </a:rPr>
              <a:t>汇流排</a:t>
            </a:r>
            <a:r>
              <a:rPr lang="zh-CN" altLang="en-US" sz="2000" dirty="0">
                <a:ea typeface="宋体" panose="02010600030101010101" pitchFamily="2" charset="-122"/>
              </a:rPr>
              <a:t>进行防雷接地。汇流排由</a:t>
            </a:r>
            <a:r>
              <a:rPr lang="zh-CN" altLang="en-US" sz="2000" dirty="0">
                <a:solidFill>
                  <a:srgbClr val="FF0000"/>
                </a:solidFill>
                <a:ea typeface="宋体" panose="02010600030101010101" pitchFamily="2" charset="-122"/>
              </a:rPr>
              <a:t>铜排</a:t>
            </a:r>
            <a:r>
              <a:rPr lang="zh-CN" altLang="en-US" sz="2000" dirty="0">
                <a:ea typeface="宋体" panose="02010600030101010101" pitchFamily="2" charset="-122"/>
              </a:rPr>
              <a:t>组成，安装在设备上方走线架的一侧，室内设备与接地汇流排用</a:t>
            </a:r>
            <a:r>
              <a:rPr lang="en-US" altLang="zh-CN" sz="2000" dirty="0">
                <a:solidFill>
                  <a:srgbClr val="FF0000"/>
                </a:solidFill>
                <a:ea typeface="宋体" panose="02010600030101010101" pitchFamily="2" charset="-122"/>
              </a:rPr>
              <a:t>35mm²</a:t>
            </a:r>
            <a:r>
              <a:rPr lang="zh-CN" altLang="en-US" sz="2000" dirty="0">
                <a:solidFill>
                  <a:srgbClr val="FF0000"/>
                </a:solidFill>
                <a:ea typeface="宋体" panose="02010600030101010101" pitchFamily="2" charset="-122"/>
              </a:rPr>
              <a:t>线</a:t>
            </a:r>
            <a:r>
              <a:rPr lang="zh-CN" altLang="en-US" sz="2000" dirty="0">
                <a:ea typeface="宋体" panose="02010600030101010101" pitchFamily="2" charset="-122"/>
              </a:rPr>
              <a:t>直接连接，主走线架应每隔</a:t>
            </a:r>
            <a:r>
              <a:rPr lang="en-US" altLang="zh-CN" sz="2000" dirty="0">
                <a:solidFill>
                  <a:srgbClr val="FF0000"/>
                </a:solidFill>
                <a:ea typeface="宋体" panose="02010600030101010101" pitchFamily="2" charset="-122"/>
              </a:rPr>
              <a:t>4m</a:t>
            </a:r>
            <a:r>
              <a:rPr lang="zh-CN" altLang="en-US" sz="2000" dirty="0">
                <a:solidFill>
                  <a:srgbClr val="FF0000"/>
                </a:solidFill>
                <a:ea typeface="宋体" panose="02010600030101010101" pitchFamily="2" charset="-122"/>
              </a:rPr>
              <a:t>接一次地</a:t>
            </a:r>
            <a:r>
              <a:rPr lang="zh-CN" altLang="en-US" sz="2000" dirty="0">
                <a:ea typeface="宋体" panose="02010600030101010101" pitchFamily="2" charset="-122"/>
              </a:rPr>
              <a:t> </a:t>
            </a:r>
            <a:endParaRPr lang="zh-CN" altLang="en-US" sz="2000" dirty="0">
              <a:ea typeface="宋体" panose="02010600030101010101" pitchFamily="2" charset="-122"/>
            </a:endParaRP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8708" y="1906459"/>
            <a:ext cx="4168403" cy="3123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293619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二、通信工程查勘</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276" y="885499"/>
            <a:ext cx="8229600" cy="850429"/>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40000"/>
              </a:lnSpc>
              <a:buFontTx/>
              <a:buNone/>
            </a:pPr>
            <a:r>
              <a:rPr lang="zh-CN" altLang="en-US" sz="2000" dirty="0">
                <a:ea typeface="宋体" panose="02010600030101010101" pitchFamily="2" charset="-122"/>
              </a:rPr>
              <a:t>⑺通常自建地网在室内有两个出土点，通过</a:t>
            </a:r>
            <a:r>
              <a:rPr lang="zh-CN" altLang="en-US" sz="2000" dirty="0">
                <a:solidFill>
                  <a:srgbClr val="FF0000"/>
                </a:solidFill>
                <a:ea typeface="宋体" panose="02010600030101010101" pitchFamily="2" charset="-122"/>
              </a:rPr>
              <a:t>铜铁转换排</a:t>
            </a:r>
            <a:r>
              <a:rPr lang="zh-CN" altLang="en-US" sz="2000" dirty="0">
                <a:ea typeface="宋体" panose="02010600030101010101" pitchFamily="2" charset="-122"/>
              </a:rPr>
              <a:t>与</a:t>
            </a:r>
            <a:r>
              <a:rPr lang="en-US" altLang="zh-CN" sz="2000" dirty="0">
                <a:solidFill>
                  <a:srgbClr val="FF0000"/>
                </a:solidFill>
                <a:ea typeface="宋体" panose="02010600030101010101" pitchFamily="2" charset="-122"/>
              </a:rPr>
              <a:t>95mm²</a:t>
            </a:r>
            <a:r>
              <a:rPr lang="zh-CN" altLang="en-US" sz="2000" dirty="0">
                <a:solidFill>
                  <a:srgbClr val="FF0000"/>
                </a:solidFill>
                <a:ea typeface="宋体" panose="02010600030101010101" pitchFamily="2" charset="-122"/>
              </a:rPr>
              <a:t>电源线</a:t>
            </a:r>
            <a:r>
              <a:rPr lang="zh-CN" altLang="en-US" sz="2000" dirty="0">
                <a:ea typeface="宋体" panose="02010600030101010101" pitchFamily="2" charset="-122"/>
              </a:rPr>
              <a:t>将汇流排与出土的接地扁钢连接起来。</a:t>
            </a:r>
            <a:endParaRPr lang="zh-CN" altLang="en-US" sz="2000" dirty="0">
              <a:ea typeface="宋体" panose="02010600030101010101" pitchFamily="2" charset="-122"/>
            </a:endParaRPr>
          </a:p>
        </p:txBody>
      </p:sp>
      <p:pic>
        <p:nvPicPr>
          <p:cNvPr id="8" name="图片 10" descr="IMG_0035.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35296" y="2067883"/>
            <a:ext cx="2260723" cy="3013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11" descr="IMG_003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3864" y="2067883"/>
            <a:ext cx="2260724" cy="30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8" name="组合 7"/>
          <p:cNvGrpSpPr/>
          <p:nvPr/>
        </p:nvGrpSpPr>
        <p:grpSpPr>
          <a:xfrm>
            <a:off x="1769923" y="897756"/>
            <a:ext cx="5759869" cy="573547"/>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目    录</a:t>
              </a:r>
              <a:endParaRPr lang="zh-CN" altLang="en-US" sz="2990" b="1" dirty="0">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cxnSp>
        <p:nvCxnSpPr>
          <p:cNvPr id="52" name="直接连接符 51"/>
          <p:cNvCxnSpPr/>
          <p:nvPr/>
        </p:nvCxnSpPr>
        <p:spPr>
          <a:xfrm>
            <a:off x="1993166" y="3080917"/>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93166" y="2359529"/>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380875" y="2477683"/>
            <a:ext cx="4550974" cy="495200"/>
          </a:xfrm>
          <a:prstGeom prst="rect">
            <a:avLst/>
          </a:prstGeom>
          <a:noFill/>
        </p:spPr>
        <p:txBody>
          <a:bodyPr wrap="square" rtlCol="0">
            <a:spAutoFit/>
          </a:bodyPr>
          <a:lstStyle/>
          <a:p>
            <a:pPr lvl="0"/>
            <a:r>
              <a:rPr lang="en-US" altLang="zh-CN" sz="2620" dirty="0">
                <a:solidFill>
                  <a:schemeClr val="bg1">
                    <a:lumMod val="75000"/>
                  </a:schemeClr>
                </a:solidFill>
                <a:latin typeface="微软雅黑" panose="020B0503020204020204" charset="-122"/>
                <a:ea typeface="微软雅黑" panose="020B0503020204020204" charset="-122"/>
              </a:rPr>
              <a:t> </a:t>
            </a:r>
            <a:r>
              <a:rPr lang="zh-CN" altLang="en-US" sz="2620" dirty="0">
                <a:solidFill>
                  <a:schemeClr val="bg1">
                    <a:lumMod val="75000"/>
                  </a:schemeClr>
                </a:solidFill>
                <a:latin typeface="微软雅黑" panose="020B0503020204020204" charset="-122"/>
                <a:ea typeface="微软雅黑" panose="020B0503020204020204" charset="-122"/>
              </a:rPr>
              <a:t>二、通信工程查勘</a:t>
            </a:r>
            <a:endParaRPr lang="zh-CN" altLang="en-US" sz="2620" dirty="0">
              <a:solidFill>
                <a:schemeClr val="bg1">
                  <a:lumMod val="75000"/>
                </a:schemeClr>
              </a:solidFill>
              <a:latin typeface="微软雅黑" panose="020B0503020204020204" charset="-122"/>
              <a:ea typeface="微软雅黑" panose="020B0503020204020204" charset="-122"/>
            </a:endParaRPr>
          </a:p>
        </p:txBody>
      </p:sp>
      <p:sp>
        <p:nvSpPr>
          <p:cNvPr id="100" name="TextBox 99"/>
          <p:cNvSpPr txBox="1"/>
          <p:nvPr/>
        </p:nvSpPr>
        <p:spPr>
          <a:xfrm>
            <a:off x="2380875" y="1756889"/>
            <a:ext cx="4550974" cy="495200"/>
          </a:xfrm>
          <a:prstGeom prst="rect">
            <a:avLst/>
          </a:prstGeom>
          <a:noFill/>
        </p:spPr>
        <p:txBody>
          <a:bodyPr wrap="square" rtlCol="0">
            <a:spAutoFit/>
          </a:bodyPr>
          <a:lstStyle/>
          <a:p>
            <a:pPr indent="-320675">
              <a:spcBef>
                <a:spcPct val="20000"/>
              </a:spcBef>
            </a:pPr>
            <a:r>
              <a:rPr lang="en-US" altLang="zh-CN" sz="2620" b="1" dirty="0">
                <a:solidFill>
                  <a:schemeClr val="bg1">
                    <a:lumMod val="75000"/>
                  </a:schemeClr>
                </a:solidFill>
                <a:latin typeface="微软雅黑" panose="020B0503020204020204" charset="-122"/>
                <a:ea typeface="微软雅黑" panose="020B0503020204020204" charset="-122"/>
              </a:rPr>
              <a:t> </a:t>
            </a:r>
            <a:r>
              <a:rPr lang="zh-CN" altLang="en-US" sz="2620" dirty="0">
                <a:solidFill>
                  <a:schemeClr val="bg1">
                    <a:lumMod val="75000"/>
                  </a:schemeClr>
                </a:solidFill>
                <a:latin typeface="微软雅黑" panose="020B0503020204020204" charset="-122"/>
                <a:ea typeface="微软雅黑" panose="020B0503020204020204" charset="-122"/>
              </a:rPr>
              <a:t>一、</a:t>
            </a:r>
            <a:r>
              <a:rPr lang="zh-CN" altLang="en-US" sz="2620" dirty="0">
                <a:solidFill>
                  <a:schemeClr val="bg1">
                    <a:lumMod val="75000"/>
                  </a:schemeClr>
                </a:solidFill>
                <a:latin typeface="微软雅黑" panose="020B0503020204020204" charset="-122"/>
                <a:ea typeface="微软雅黑" panose="020B0503020204020204" charset="-122"/>
                <a:sym typeface="+mn-ea"/>
              </a:rPr>
              <a:t>工程勘察的概念</a:t>
            </a:r>
            <a:endParaRPr lang="zh-CN" altLang="en-US" sz="2620" dirty="0">
              <a:solidFill>
                <a:schemeClr val="bg1">
                  <a:lumMod val="75000"/>
                </a:schemeClr>
              </a:solidFill>
              <a:latin typeface="微软雅黑" panose="020B0503020204020204" charset="-122"/>
              <a:ea typeface="微软雅黑" panose="020B0503020204020204" charset="-122"/>
              <a:sym typeface="+mn-ea"/>
            </a:endParaRPr>
          </a:p>
        </p:txBody>
      </p:sp>
      <p:cxnSp>
        <p:nvCxnSpPr>
          <p:cNvPr id="2" name="直接连接符 1"/>
          <p:cNvCxnSpPr/>
          <p:nvPr/>
        </p:nvCxnSpPr>
        <p:spPr>
          <a:xfrm>
            <a:off x="1993166" y="3753618"/>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2380875" y="3265568"/>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三、常用测量工具的使用</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437236" y="896608"/>
            <a:ext cx="1665302" cy="497956"/>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3.1</a:t>
            </a:r>
            <a:r>
              <a:rPr kumimoji="1" lang="zh-CN" altLang="en-US" sz="2400" b="1" dirty="0">
                <a:solidFill>
                  <a:srgbClr val="000099"/>
                </a:solidFill>
                <a:latin typeface="黑体" panose="02010609060101010101" pitchFamily="49" charset="-122"/>
                <a:ea typeface="黑体" panose="02010609060101010101" pitchFamily="49" charset="-122"/>
              </a:rPr>
              <a:t>测距轮</a:t>
            </a:r>
            <a:br>
              <a:rPr lang="zh-CN" altLang="en-US" sz="3200" dirty="0">
                <a:ea typeface="宋体" panose="02010600030101010101" pitchFamily="2" charset="-122"/>
              </a:rPr>
            </a:br>
            <a:endParaRPr lang="zh-CN" altLang="en-US" sz="3200" dirty="0">
              <a:ea typeface="宋体" panose="02010600030101010101" pitchFamily="2" charset="-122"/>
            </a:endParaRPr>
          </a:p>
        </p:txBody>
      </p:sp>
      <p:sp>
        <p:nvSpPr>
          <p:cNvPr id="7" name="Rectangle 3"/>
          <p:cNvSpPr txBox="1">
            <a:spLocks noChangeArrowheads="1"/>
          </p:cNvSpPr>
          <p:nvPr/>
        </p:nvSpPr>
        <p:spPr bwMode="auto">
          <a:xfrm>
            <a:off x="420276" y="1310714"/>
            <a:ext cx="8229600" cy="81117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50000"/>
              </a:lnSpc>
            </a:pPr>
            <a:r>
              <a:rPr lang="zh-CN" altLang="en-US" sz="2000" dirty="0">
                <a:solidFill>
                  <a:srgbClr val="FF0000"/>
                </a:solidFill>
                <a:ea typeface="宋体" panose="02010600030101010101" pitchFamily="2" charset="-122"/>
              </a:rPr>
              <a:t>测距轮</a:t>
            </a:r>
            <a:r>
              <a:rPr lang="zh-CN" altLang="en-US" sz="2000" dirty="0">
                <a:ea typeface="宋体" panose="02010600030101010101" pitchFamily="2" charset="-122"/>
              </a:rPr>
              <a:t>又称手推式测距仪，它分机械测距轮和电子测距轮两种。在通信工程勘察中，尤其是户外长距离勘测中被广泛使用。</a:t>
            </a:r>
            <a:endParaRPr lang="zh-CN" altLang="en-US" sz="2000" dirty="0">
              <a:ea typeface="宋体" panose="02010600030101010101" pitchFamily="2" charset="-122"/>
            </a:endParaRPr>
          </a:p>
        </p:txBody>
      </p:sp>
      <p:pic>
        <p:nvPicPr>
          <p:cNvPr id="8" name="Picture 10" descr="2"/>
          <p:cNvPicPr>
            <a:picLocks noChangeAspect="1" noChangeArrowheads="1"/>
          </p:cNvPicPr>
          <p:nvPr/>
        </p:nvPicPr>
        <p:blipFill>
          <a:blip r:embed="rId2">
            <a:extLst>
              <a:ext uri="{28A0092B-C50C-407E-A947-70E740481C1C}">
                <a14:useLocalDpi xmlns:a14="http://schemas.microsoft.com/office/drawing/2010/main" val="0"/>
              </a:ext>
            </a:extLst>
          </a:blip>
          <a:srcRect l="26508" t="25145" r="46667" b="40993"/>
          <a:stretch>
            <a:fillRect/>
          </a:stretch>
        </p:blipFill>
        <p:spPr bwMode="auto">
          <a:xfrm>
            <a:off x="6533494" y="2481543"/>
            <a:ext cx="2888633" cy="210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8"/>
          <p:cNvGrpSpPr/>
          <p:nvPr/>
        </p:nvGrpSpPr>
        <p:grpSpPr bwMode="auto">
          <a:xfrm>
            <a:off x="451846" y="2471413"/>
            <a:ext cx="2760609" cy="2529787"/>
            <a:chOff x="158" y="1797"/>
            <a:chExt cx="2495" cy="2523"/>
          </a:xfrm>
        </p:grpSpPr>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797"/>
              <a:ext cx="1996" cy="2523"/>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
            <p:cNvSpPr txBox="1">
              <a:spLocks noChangeArrowheads="1"/>
            </p:cNvSpPr>
            <p:nvPr/>
          </p:nvSpPr>
          <p:spPr bwMode="auto">
            <a:xfrm>
              <a:off x="158" y="2115"/>
              <a:ext cx="409" cy="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spcBef>
                  <a:spcPct val="50000"/>
                </a:spcBef>
              </a:pPr>
              <a:r>
                <a:rPr lang="zh-CN" altLang="en-US" sz="2400">
                  <a:solidFill>
                    <a:schemeClr val="tx1"/>
                  </a:solidFill>
                  <a:latin typeface="宋体" panose="02010600030101010101" pitchFamily="2" charset="-122"/>
                  <a:ea typeface="宋体" panose="02010600030101010101" pitchFamily="2" charset="-122"/>
                </a:rPr>
                <a:t>机械测距轮 </a:t>
              </a:r>
              <a:endParaRPr lang="zh-CN" altLang="en-US" sz="2400">
                <a:solidFill>
                  <a:schemeClr val="tx1"/>
                </a:solidFill>
                <a:latin typeface="宋体" panose="02010600030101010101" pitchFamily="2" charset="-122"/>
                <a:ea typeface="宋体" panose="02010600030101010101" pitchFamily="2" charset="-122"/>
              </a:endParaRPr>
            </a:p>
          </p:txBody>
        </p:sp>
      </p:grpSp>
      <p:grpSp>
        <p:nvGrpSpPr>
          <p:cNvPr id="12" name="Group 9"/>
          <p:cNvGrpSpPr/>
          <p:nvPr/>
        </p:nvGrpSpPr>
        <p:grpSpPr bwMode="auto">
          <a:xfrm>
            <a:off x="3749766" y="2408912"/>
            <a:ext cx="2641107" cy="2769321"/>
            <a:chOff x="3036" y="1797"/>
            <a:chExt cx="2521" cy="2523"/>
          </a:xfrm>
        </p:grpSpPr>
        <p:pic>
          <p:nvPicPr>
            <p:cNvPr id="13" name="Picture 5"/>
            <p:cNvPicPr>
              <a:picLocks noChangeAspect="1" noChangeArrowheads="1"/>
            </p:cNvPicPr>
            <p:nvPr/>
          </p:nvPicPr>
          <p:blipFill>
            <a:blip r:embed="rId4">
              <a:extLst>
                <a:ext uri="{28A0092B-C50C-407E-A947-70E740481C1C}">
                  <a14:useLocalDpi xmlns:a14="http://schemas.microsoft.com/office/drawing/2010/main" val="0"/>
                </a:ext>
              </a:extLst>
            </a:blip>
            <a:srcRect r="16008"/>
            <a:stretch>
              <a:fillRect/>
            </a:stretch>
          </p:blipFill>
          <p:spPr bwMode="auto">
            <a:xfrm>
              <a:off x="3036" y="1797"/>
              <a:ext cx="1976" cy="2523"/>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7"/>
            <p:cNvSpPr txBox="1">
              <a:spLocks noChangeArrowheads="1"/>
            </p:cNvSpPr>
            <p:nvPr/>
          </p:nvSpPr>
          <p:spPr bwMode="auto">
            <a:xfrm>
              <a:off x="5148" y="2069"/>
              <a:ext cx="409" cy="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spcBef>
                  <a:spcPct val="50000"/>
                </a:spcBef>
              </a:pPr>
              <a:r>
                <a:rPr lang="zh-CN" altLang="en-US" sz="2400">
                  <a:solidFill>
                    <a:schemeClr val="tx1"/>
                  </a:solidFill>
                  <a:latin typeface="宋体" panose="02010600030101010101" pitchFamily="2" charset="-122"/>
                  <a:ea typeface="宋体" panose="02010600030101010101" pitchFamily="2" charset="-122"/>
                </a:rPr>
                <a:t>电子测距轮 </a:t>
              </a:r>
              <a:endParaRPr lang="zh-CN" altLang="en-US" sz="2400">
                <a:solidFill>
                  <a:schemeClr val="tx1"/>
                </a:solidFill>
                <a:latin typeface="宋体" panose="02010600030101010101" pitchFamily="2" charset="-122"/>
                <a:ea typeface="宋体" panose="02010600030101010101" pitchFamily="2" charset="-122"/>
              </a:endParaRPr>
            </a:p>
          </p:txBody>
        </p:sp>
      </p:grpSp>
      <p:pic>
        <p:nvPicPr>
          <p:cNvPr id="3081" name="图片 5" descr="校徽"/>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447092" y="866011"/>
            <a:ext cx="2889438" cy="49795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3.2 GPS</a:t>
            </a:r>
            <a:r>
              <a:rPr kumimoji="1" lang="zh-CN" altLang="en-US" sz="2400" b="1" dirty="0">
                <a:solidFill>
                  <a:srgbClr val="000099"/>
                </a:solidFill>
                <a:latin typeface="黑体" panose="02010609060101010101" pitchFamily="49" charset="-122"/>
                <a:ea typeface="黑体" panose="02010609060101010101" pitchFamily="49" charset="-122"/>
              </a:rPr>
              <a:t>定位仪测距</a:t>
            </a:r>
            <a:endParaRPr lang="zh-CN" altLang="en-US" sz="2400" dirty="0">
              <a:ea typeface="宋体" panose="02010600030101010101" pitchFamily="2" charset="-122"/>
            </a:endParaRPr>
          </a:p>
        </p:txBody>
      </p:sp>
      <p:sp>
        <p:nvSpPr>
          <p:cNvPr id="7" name="Text Box 5"/>
          <p:cNvSpPr txBox="1">
            <a:spLocks noChangeArrowheads="1"/>
          </p:cNvSpPr>
          <p:nvPr/>
        </p:nvSpPr>
        <p:spPr bwMode="auto">
          <a:xfrm>
            <a:off x="693420" y="1283970"/>
            <a:ext cx="229743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spcBef>
                <a:spcPct val="50000"/>
              </a:spcBef>
            </a:pPr>
            <a:r>
              <a:rPr lang="en-US" altLang="zh-CN" sz="2200" dirty="0">
                <a:solidFill>
                  <a:srgbClr val="660033"/>
                </a:solidFill>
                <a:latin typeface="黑体" panose="02010609060101010101" pitchFamily="49" charset="-122"/>
                <a:ea typeface="黑体" panose="02010609060101010101" pitchFamily="49" charset="-122"/>
              </a:rPr>
              <a:t>1 </a:t>
            </a:r>
            <a:r>
              <a:rPr lang="zh-CN" altLang="en-US" sz="2200" dirty="0">
                <a:solidFill>
                  <a:srgbClr val="660033"/>
                </a:solidFill>
                <a:latin typeface="黑体" panose="02010609060101010101" pitchFamily="49" charset="-122"/>
                <a:ea typeface="黑体" panose="02010609060101010101" pitchFamily="49" charset="-122"/>
              </a:rPr>
              <a:t>什么是</a:t>
            </a:r>
            <a:r>
              <a:rPr lang="en-US" altLang="zh-CN" sz="2200" dirty="0">
                <a:solidFill>
                  <a:srgbClr val="660033"/>
                </a:solidFill>
                <a:latin typeface="黑体" panose="02010609060101010101" pitchFamily="49" charset="-122"/>
                <a:ea typeface="黑体" panose="02010609060101010101" pitchFamily="49" charset="-122"/>
              </a:rPr>
              <a:t>GPS</a:t>
            </a:r>
            <a:endParaRPr lang="en-US" altLang="zh-CN" sz="2200" dirty="0">
              <a:solidFill>
                <a:srgbClr val="660033"/>
              </a:solidFill>
              <a:latin typeface="黑体" panose="02010609060101010101" pitchFamily="49" charset="-122"/>
              <a:ea typeface="黑体" panose="02010609060101010101" pitchFamily="49" charset="-122"/>
            </a:endParaRPr>
          </a:p>
        </p:txBody>
      </p:sp>
      <p:sp>
        <p:nvSpPr>
          <p:cNvPr id="8" name="Rectangle 3"/>
          <p:cNvSpPr txBox="1">
            <a:spLocks noChangeArrowheads="1"/>
          </p:cNvSpPr>
          <p:nvPr/>
        </p:nvSpPr>
        <p:spPr bwMode="auto">
          <a:xfrm>
            <a:off x="447040" y="1684020"/>
            <a:ext cx="4099560" cy="332549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40000"/>
              </a:lnSpc>
              <a:buFontTx/>
              <a:buNone/>
            </a:pPr>
            <a:r>
              <a:rPr lang="zh-CN" altLang="en-US" sz="1600" dirty="0">
                <a:ea typeface="宋体" panose="02010600030101010101" pitchFamily="2" charset="-122"/>
              </a:rPr>
              <a:t>          </a:t>
            </a:r>
            <a:r>
              <a:rPr lang="zh-CN" altLang="en-US" sz="2000" dirty="0">
                <a:ea typeface="宋体" panose="02010600030101010101" pitchFamily="2" charset="-122"/>
              </a:rPr>
              <a:t> </a:t>
            </a:r>
            <a:r>
              <a:rPr lang="en-US" altLang="zh-CN" sz="2000" dirty="0">
                <a:ea typeface="宋体" panose="02010600030101010101" pitchFamily="2" charset="-122"/>
              </a:rPr>
              <a:t>GPS</a:t>
            </a:r>
            <a:r>
              <a:rPr lang="zh-CN" altLang="en-US" sz="2000" dirty="0">
                <a:ea typeface="宋体" panose="02010600030101010101" pitchFamily="2" charset="-122"/>
              </a:rPr>
              <a:t>（</a:t>
            </a:r>
            <a:r>
              <a:rPr lang="en-US" altLang="zh-CN" sz="2000" dirty="0">
                <a:ea typeface="宋体" panose="02010600030101010101" pitchFamily="2" charset="-122"/>
              </a:rPr>
              <a:t>Global Positioning System</a:t>
            </a:r>
            <a:r>
              <a:rPr lang="zh-CN" altLang="en-US" sz="2000" dirty="0">
                <a:ea typeface="宋体" panose="02010600030101010101" pitchFamily="2" charset="-122"/>
              </a:rPr>
              <a:t>）全球定位系统是新一代卫星导航与定位系统。</a:t>
            </a:r>
            <a:r>
              <a:rPr lang="en-US" altLang="zh-CN" sz="2000" dirty="0">
                <a:ea typeface="宋体" panose="02010600030101010101" pitchFamily="2" charset="-122"/>
              </a:rPr>
              <a:t>GPS</a:t>
            </a:r>
            <a:r>
              <a:rPr lang="zh-CN" altLang="en-US" sz="2000" dirty="0">
                <a:ea typeface="宋体" panose="02010600030101010101" pitchFamily="2" charset="-122"/>
              </a:rPr>
              <a:t>主要由</a:t>
            </a:r>
            <a:r>
              <a:rPr lang="zh-CN" altLang="en-US" sz="2000" dirty="0">
                <a:solidFill>
                  <a:srgbClr val="FF0000"/>
                </a:solidFill>
                <a:ea typeface="宋体" panose="02010600030101010101" pitchFamily="2" charset="-122"/>
              </a:rPr>
              <a:t>空间卫星星座</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地面监控站</a:t>
            </a:r>
            <a:r>
              <a:rPr lang="zh-CN" altLang="en-US" sz="2000" dirty="0">
                <a:ea typeface="宋体" panose="02010600030101010101" pitchFamily="2" charset="-122"/>
              </a:rPr>
              <a:t>及</a:t>
            </a:r>
            <a:r>
              <a:rPr lang="zh-CN" altLang="en-US" sz="2000" dirty="0">
                <a:solidFill>
                  <a:srgbClr val="FF0000"/>
                </a:solidFill>
                <a:ea typeface="宋体" panose="02010600030101010101" pitchFamily="2" charset="-122"/>
              </a:rPr>
              <a:t>用户设备</a:t>
            </a:r>
            <a:r>
              <a:rPr lang="zh-CN" altLang="en-US" sz="2000" dirty="0">
                <a:ea typeface="宋体" panose="02010600030101010101" pitchFamily="2" charset="-122"/>
              </a:rPr>
              <a:t>三部分构成</a:t>
            </a:r>
            <a:endParaRPr lang="en-US" altLang="zh-CN" sz="2000" dirty="0">
              <a:ea typeface="宋体" panose="02010600030101010101" pitchFamily="2" charset="-122"/>
            </a:endParaRPr>
          </a:p>
          <a:p>
            <a:pPr>
              <a:lnSpc>
                <a:spcPct val="140000"/>
              </a:lnSpc>
              <a:buFontTx/>
              <a:buNone/>
            </a:pPr>
            <a:r>
              <a:rPr lang="en-US" altLang="zh-CN" sz="2000" dirty="0">
                <a:ea typeface="宋体" panose="02010600030101010101" pitchFamily="2" charset="-122"/>
              </a:rPr>
              <a:t>        </a:t>
            </a:r>
            <a:endParaRPr lang="zh-CN" altLang="en-US" sz="2000" dirty="0">
              <a:ea typeface="宋体" panose="02010600030101010101" pitchFamily="2"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2791" y="1684168"/>
            <a:ext cx="4228209" cy="2818530"/>
          </a:xfrm>
          <a:prstGeom prst="rect">
            <a:avLst/>
          </a:prstGeom>
          <a:noFill/>
          <a:extLst>
            <a:ext uri="{909E8E84-426E-40DD-AFC4-6F175D3DCCD1}">
              <a14:hiddenFill xmlns:a14="http://schemas.microsoft.com/office/drawing/2010/main">
                <a:solidFill>
                  <a:srgbClr val="FFFFFF"/>
                </a:solidFill>
              </a14:hiddenFill>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36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447092" y="866011"/>
            <a:ext cx="2889438" cy="49795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3.2 GPS</a:t>
            </a:r>
            <a:r>
              <a:rPr kumimoji="1" lang="zh-CN" altLang="en-US" sz="2400" b="1" dirty="0">
                <a:solidFill>
                  <a:srgbClr val="000099"/>
                </a:solidFill>
                <a:latin typeface="黑体" panose="02010609060101010101" pitchFamily="49" charset="-122"/>
                <a:ea typeface="黑体" panose="02010609060101010101" pitchFamily="49" charset="-122"/>
              </a:rPr>
              <a:t>定位仪测距</a:t>
            </a:r>
            <a:endParaRPr lang="zh-CN" altLang="en-US" sz="2400" dirty="0">
              <a:ea typeface="宋体" panose="02010600030101010101" pitchFamily="2" charset="-122"/>
            </a:endParaRPr>
          </a:p>
        </p:txBody>
      </p:sp>
      <p:sp>
        <p:nvSpPr>
          <p:cNvPr id="7" name="Text Box 5"/>
          <p:cNvSpPr txBox="1">
            <a:spLocks noChangeArrowheads="1"/>
          </p:cNvSpPr>
          <p:nvPr/>
        </p:nvSpPr>
        <p:spPr bwMode="auto">
          <a:xfrm>
            <a:off x="693420" y="1283970"/>
            <a:ext cx="229743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spcBef>
                <a:spcPct val="50000"/>
              </a:spcBef>
            </a:pPr>
            <a:r>
              <a:rPr lang="en-US" altLang="zh-CN" sz="2200" dirty="0">
                <a:solidFill>
                  <a:srgbClr val="660033"/>
                </a:solidFill>
                <a:latin typeface="黑体" panose="02010609060101010101" pitchFamily="49" charset="-122"/>
                <a:ea typeface="黑体" panose="02010609060101010101" pitchFamily="49" charset="-122"/>
              </a:rPr>
              <a:t>1 </a:t>
            </a:r>
            <a:r>
              <a:rPr lang="zh-CN" altLang="en-US" sz="2200" dirty="0">
                <a:solidFill>
                  <a:srgbClr val="660033"/>
                </a:solidFill>
                <a:latin typeface="黑体" panose="02010609060101010101" pitchFamily="49" charset="-122"/>
                <a:ea typeface="黑体" panose="02010609060101010101" pitchFamily="49" charset="-122"/>
              </a:rPr>
              <a:t>什么是</a:t>
            </a:r>
            <a:r>
              <a:rPr lang="en-US" altLang="zh-CN" sz="2200" dirty="0">
                <a:solidFill>
                  <a:srgbClr val="660033"/>
                </a:solidFill>
                <a:latin typeface="黑体" panose="02010609060101010101" pitchFamily="49" charset="-122"/>
                <a:ea typeface="黑体" panose="02010609060101010101" pitchFamily="49" charset="-122"/>
              </a:rPr>
              <a:t>GPS</a:t>
            </a:r>
            <a:endParaRPr lang="en-US" altLang="zh-CN" sz="2200" dirty="0">
              <a:solidFill>
                <a:srgbClr val="660033"/>
              </a:solidFill>
              <a:latin typeface="黑体" panose="02010609060101010101" pitchFamily="49" charset="-122"/>
              <a:ea typeface="黑体" panose="02010609060101010101" pitchFamily="49" charset="-122"/>
            </a:endParaRPr>
          </a:p>
        </p:txBody>
      </p:sp>
      <p:sp>
        <p:nvSpPr>
          <p:cNvPr id="8" name="Rectangle 3"/>
          <p:cNvSpPr txBox="1">
            <a:spLocks noChangeArrowheads="1"/>
          </p:cNvSpPr>
          <p:nvPr/>
        </p:nvSpPr>
        <p:spPr bwMode="auto">
          <a:xfrm>
            <a:off x="447040" y="1684020"/>
            <a:ext cx="3989705" cy="332549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40000"/>
              </a:lnSpc>
              <a:buFontTx/>
              <a:buNone/>
            </a:pPr>
            <a:r>
              <a:rPr lang="en-US" altLang="zh-CN" sz="2000" dirty="0">
                <a:ea typeface="宋体" panose="02010600030101010101" pitchFamily="2" charset="-122"/>
              </a:rPr>
              <a:t>           </a:t>
            </a:r>
            <a:r>
              <a:rPr lang="zh-CN" altLang="en-US" sz="2000" dirty="0">
                <a:ea typeface="宋体" panose="02010600030101010101" pitchFamily="2" charset="-122"/>
              </a:rPr>
              <a:t>空间卫星星座由</a:t>
            </a:r>
            <a:r>
              <a:rPr lang="en-US" altLang="zh-CN" sz="2000" dirty="0">
                <a:solidFill>
                  <a:srgbClr val="FF0000"/>
                </a:solidFill>
                <a:ea typeface="宋体" panose="02010600030101010101" pitchFamily="2" charset="-122"/>
              </a:rPr>
              <a:t>21</a:t>
            </a:r>
            <a:r>
              <a:rPr lang="zh-CN" altLang="en-US" sz="2000" dirty="0">
                <a:solidFill>
                  <a:srgbClr val="FF0000"/>
                </a:solidFill>
                <a:ea typeface="宋体" panose="02010600030101010101" pitchFamily="2" charset="-122"/>
              </a:rPr>
              <a:t>颗工作卫星</a:t>
            </a:r>
            <a:r>
              <a:rPr lang="zh-CN" altLang="en-US" sz="2000" dirty="0">
                <a:ea typeface="宋体" panose="02010600030101010101" pitchFamily="2" charset="-122"/>
              </a:rPr>
              <a:t>和</a:t>
            </a:r>
            <a:r>
              <a:rPr lang="en-US" altLang="zh-CN" sz="2000" dirty="0">
                <a:solidFill>
                  <a:srgbClr val="FF0000"/>
                </a:solidFill>
                <a:ea typeface="宋体" panose="02010600030101010101" pitchFamily="2" charset="-122"/>
              </a:rPr>
              <a:t>3</a:t>
            </a:r>
            <a:r>
              <a:rPr lang="zh-CN" altLang="en-US" sz="2000" dirty="0">
                <a:solidFill>
                  <a:srgbClr val="FF0000"/>
                </a:solidFill>
                <a:ea typeface="宋体" panose="02010600030101010101" pitchFamily="2" charset="-122"/>
              </a:rPr>
              <a:t>颗</a:t>
            </a:r>
            <a:r>
              <a:rPr lang="zh-CN" altLang="en-US" sz="2000" dirty="0">
                <a:ea typeface="宋体" panose="02010600030101010101" pitchFamily="2" charset="-122"/>
              </a:rPr>
              <a:t>在轨</a:t>
            </a:r>
            <a:r>
              <a:rPr lang="zh-CN" altLang="en-US" sz="2000" dirty="0">
                <a:solidFill>
                  <a:srgbClr val="FF0000"/>
                </a:solidFill>
                <a:ea typeface="宋体" panose="02010600030101010101" pitchFamily="2" charset="-122"/>
              </a:rPr>
              <a:t>备用卫星</a:t>
            </a:r>
            <a:r>
              <a:rPr lang="zh-CN" altLang="en-US" sz="2000" dirty="0">
                <a:ea typeface="宋体" panose="02010600030101010101" pitchFamily="2" charset="-122"/>
              </a:rPr>
              <a:t>组成，</a:t>
            </a:r>
            <a:r>
              <a:rPr lang="en-US" altLang="zh-CN" sz="2000" dirty="0">
                <a:ea typeface="宋体" panose="02010600030101010101" pitchFamily="2" charset="-122"/>
              </a:rPr>
              <a:t>GPS</a:t>
            </a:r>
            <a:r>
              <a:rPr lang="zh-CN" altLang="en-US" sz="2000" dirty="0">
                <a:ea typeface="宋体" panose="02010600030101010101" pitchFamily="2" charset="-122"/>
              </a:rPr>
              <a:t>地面监控站主要由分布在全球的</a:t>
            </a:r>
            <a:r>
              <a:rPr lang="zh-CN" altLang="en-US" sz="2000" dirty="0">
                <a:solidFill>
                  <a:srgbClr val="FF0000"/>
                </a:solidFill>
                <a:ea typeface="宋体" panose="02010600030101010101" pitchFamily="2" charset="-122"/>
              </a:rPr>
              <a:t>一个主控站</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三个注入站</a:t>
            </a:r>
            <a:r>
              <a:rPr lang="zh-CN" altLang="en-US" sz="2000" dirty="0">
                <a:ea typeface="宋体" panose="02010600030101010101" pitchFamily="2" charset="-122"/>
              </a:rPr>
              <a:t>和五</a:t>
            </a:r>
            <a:r>
              <a:rPr lang="zh-CN" altLang="en-US" sz="2000" dirty="0">
                <a:solidFill>
                  <a:srgbClr val="FF0000"/>
                </a:solidFill>
                <a:ea typeface="宋体" panose="02010600030101010101" pitchFamily="2" charset="-122"/>
              </a:rPr>
              <a:t>个监测站</a:t>
            </a:r>
            <a:r>
              <a:rPr lang="zh-CN" altLang="en-US" sz="2000" dirty="0">
                <a:ea typeface="宋体" panose="02010600030101010101" pitchFamily="2" charset="-122"/>
              </a:rPr>
              <a:t>组成，用户设备由</a:t>
            </a:r>
            <a:r>
              <a:rPr lang="en-US" altLang="zh-CN" sz="2000" dirty="0">
                <a:solidFill>
                  <a:srgbClr val="FF0000"/>
                </a:solidFill>
                <a:ea typeface="宋体" panose="02010600030101010101" pitchFamily="2" charset="-122"/>
              </a:rPr>
              <a:t>GPS</a:t>
            </a:r>
            <a:r>
              <a:rPr lang="zh-CN" altLang="en-US" sz="2000" dirty="0">
                <a:solidFill>
                  <a:srgbClr val="FF0000"/>
                </a:solidFill>
                <a:ea typeface="宋体" panose="02010600030101010101" pitchFamily="2" charset="-122"/>
              </a:rPr>
              <a:t>接收机</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数据处理软件</a:t>
            </a:r>
            <a:r>
              <a:rPr lang="zh-CN" altLang="en-US" sz="2000" dirty="0">
                <a:ea typeface="宋体" panose="02010600030101010101" pitchFamily="2" charset="-122"/>
              </a:rPr>
              <a:t>及其</a:t>
            </a:r>
            <a:r>
              <a:rPr lang="zh-CN" altLang="en-US" sz="2000" dirty="0">
                <a:solidFill>
                  <a:srgbClr val="FF0000"/>
                </a:solidFill>
                <a:ea typeface="宋体" panose="02010600030101010101" pitchFamily="2" charset="-122"/>
              </a:rPr>
              <a:t>终端设备</a:t>
            </a:r>
            <a:r>
              <a:rPr lang="zh-CN" altLang="en-US" sz="2000" dirty="0">
                <a:ea typeface="宋体" panose="02010600030101010101" pitchFamily="2" charset="-122"/>
              </a:rPr>
              <a:t>等组成</a:t>
            </a:r>
            <a:endParaRPr lang="zh-CN" altLang="en-US" sz="2000" dirty="0">
              <a:ea typeface="宋体" panose="02010600030101010101" pitchFamily="2"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2791" y="1684168"/>
            <a:ext cx="4228209" cy="2818530"/>
          </a:xfrm>
          <a:prstGeom prst="rect">
            <a:avLst/>
          </a:prstGeom>
          <a:noFill/>
          <a:extLst>
            <a:ext uri="{909E8E84-426E-40DD-AFC4-6F175D3DCCD1}">
              <a14:hiddenFill xmlns:a14="http://schemas.microsoft.com/office/drawing/2010/main">
                <a:solidFill>
                  <a:srgbClr val="FFFFFF"/>
                </a:solidFill>
              </a14:hiddenFill>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55930" y="969645"/>
            <a:ext cx="4196080" cy="36957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 GPS</a:t>
            </a:r>
            <a:r>
              <a:rPr lang="zh-CN" altLang="en-US" sz="2200" b="1" dirty="0">
                <a:solidFill>
                  <a:srgbClr val="660033"/>
                </a:solidFill>
                <a:latin typeface="黑体" panose="02010609060101010101" pitchFamily="49" charset="-122"/>
                <a:ea typeface="黑体" panose="02010609060101010101" pitchFamily="49" charset="-122"/>
              </a:rPr>
              <a:t>的基本定位原理</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40000"/>
              </a:lnSpc>
              <a:spcBef>
                <a:spcPct val="50000"/>
              </a:spcBef>
              <a:buFontTx/>
              <a:buNone/>
            </a:pPr>
            <a:r>
              <a:rPr lang="zh-CN" altLang="en-US" sz="1600" dirty="0">
                <a:ea typeface="宋体" panose="02010600030101010101" pitchFamily="2" charset="-122"/>
              </a:rPr>
              <a:t>         </a:t>
            </a:r>
            <a:r>
              <a:rPr lang="zh-CN" altLang="en-US" sz="2000" dirty="0">
                <a:ea typeface="宋体" panose="02010600030101010101" pitchFamily="2" charset="-122"/>
              </a:rPr>
              <a:t> 卫星不间断地发送自身的星历参数和时间信息，用户接收到这些信息后，经过计算求出接收机的</a:t>
            </a:r>
            <a:r>
              <a:rPr lang="zh-CN" altLang="en-US" sz="2000" dirty="0">
                <a:solidFill>
                  <a:srgbClr val="FF0000"/>
                </a:solidFill>
                <a:ea typeface="宋体" panose="02010600030101010101" pitchFamily="2" charset="-122"/>
              </a:rPr>
              <a:t>三维位置</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三维方向</a:t>
            </a:r>
            <a:r>
              <a:rPr lang="zh-CN" altLang="en-US" sz="2000" dirty="0">
                <a:ea typeface="宋体" panose="02010600030101010101" pitchFamily="2" charset="-122"/>
              </a:rPr>
              <a:t>以及</a:t>
            </a:r>
            <a:r>
              <a:rPr lang="zh-CN" altLang="en-US" sz="2000" dirty="0">
                <a:solidFill>
                  <a:srgbClr val="FF0000"/>
                </a:solidFill>
                <a:ea typeface="宋体" panose="02010600030101010101" pitchFamily="2" charset="-122"/>
              </a:rPr>
              <a:t>运动速度</a:t>
            </a:r>
            <a:r>
              <a:rPr lang="zh-CN" altLang="en-US" sz="2000" dirty="0">
                <a:ea typeface="宋体" panose="02010600030101010101" pitchFamily="2" charset="-122"/>
              </a:rPr>
              <a:t>和</a:t>
            </a:r>
            <a:r>
              <a:rPr lang="zh-CN" altLang="en-US" sz="2000" dirty="0">
                <a:solidFill>
                  <a:srgbClr val="FF0000"/>
                </a:solidFill>
                <a:ea typeface="宋体" panose="02010600030101010101" pitchFamily="2" charset="-122"/>
              </a:rPr>
              <a:t>时间信息</a:t>
            </a:r>
            <a:r>
              <a:rPr lang="zh-CN" altLang="en-US" sz="2000" dirty="0">
                <a:ea typeface="宋体" panose="02010600030101010101" pitchFamily="2" charset="-122"/>
              </a:rPr>
              <a:t>。它具有全天候、高精度、自动化、高效益、功能多、应用广等显著的特点，在通信工程线路及局站点的勘察中被广泛使用 </a:t>
            </a:r>
            <a:endParaRPr lang="zh-CN" altLang="en-US" sz="2000" dirty="0">
              <a:ea typeface="宋体" panose="02010600030101010101" pitchFamily="2" charset="-122"/>
            </a:endParaRP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6254" y="1510033"/>
            <a:ext cx="4332060" cy="2615395"/>
          </a:xfrm>
          <a:prstGeom prst="rect">
            <a:avLst/>
          </a:prstGeom>
          <a:noFill/>
          <a:extLst>
            <a:ext uri="{909E8E84-426E-40DD-AFC4-6F175D3DCCD1}">
              <a14:hiddenFill xmlns:a14="http://schemas.microsoft.com/office/drawing/2010/main">
                <a:solidFill>
                  <a:srgbClr val="FFFFFF"/>
                </a:solidFill>
              </a14:hiddenFill>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292806" y="884605"/>
            <a:ext cx="8678194" cy="267744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3 GPS</a:t>
            </a:r>
            <a:r>
              <a:rPr lang="zh-CN" altLang="en-US" sz="2200" b="1" dirty="0">
                <a:solidFill>
                  <a:srgbClr val="660033"/>
                </a:solidFill>
                <a:latin typeface="黑体" panose="02010609060101010101" pitchFamily="49" charset="-122"/>
                <a:ea typeface="黑体" panose="02010609060101010101" pitchFamily="49" charset="-122"/>
              </a:rPr>
              <a:t>定位仪在通信勘察中的主要应用</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50000"/>
              </a:lnSpc>
              <a:buFontTx/>
              <a:buNone/>
            </a:pPr>
            <a:r>
              <a:rPr lang="zh-CN" altLang="en-US" dirty="0">
                <a:ea typeface="宋体" panose="02010600030101010101" pitchFamily="2" charset="-122"/>
              </a:rPr>
              <a:t>    </a:t>
            </a:r>
            <a:r>
              <a:rPr lang="zh-CN" altLang="en-US" sz="2000" dirty="0">
                <a:ea typeface="宋体" panose="02010600030101010101" pitchFamily="2" charset="-122"/>
              </a:rPr>
              <a:t>       手持式</a:t>
            </a:r>
            <a:r>
              <a:rPr lang="en-US" altLang="zh-CN" sz="2000" dirty="0">
                <a:ea typeface="宋体" panose="02010600030101010101" pitchFamily="2" charset="-122"/>
              </a:rPr>
              <a:t>GPS</a:t>
            </a:r>
            <a:r>
              <a:rPr lang="zh-CN" altLang="en-US" sz="2000" dirty="0">
                <a:ea typeface="宋体" panose="02010600030101010101" pitchFamily="2" charset="-122"/>
              </a:rPr>
              <a:t>定位仪在通信局站点的规划勘察中用作测量所在点的</a:t>
            </a:r>
            <a:r>
              <a:rPr lang="zh-CN" altLang="en-US" sz="2000" dirty="0">
                <a:solidFill>
                  <a:srgbClr val="FF0000"/>
                </a:solidFill>
                <a:ea typeface="宋体" panose="02010600030101010101" pitchFamily="2" charset="-122"/>
              </a:rPr>
              <a:t>经纬度</a:t>
            </a:r>
            <a:r>
              <a:rPr lang="zh-CN" altLang="en-US" sz="2000" dirty="0">
                <a:ea typeface="宋体" panose="02010600030101010101" pitchFamily="2" charset="-122"/>
              </a:rPr>
              <a:t>和</a:t>
            </a:r>
            <a:r>
              <a:rPr lang="zh-CN" altLang="en-US" sz="2000" dirty="0">
                <a:solidFill>
                  <a:srgbClr val="FF0000"/>
                </a:solidFill>
                <a:ea typeface="宋体" panose="02010600030101010101" pitchFamily="2" charset="-122"/>
              </a:rPr>
              <a:t>海拔高度</a:t>
            </a:r>
            <a:r>
              <a:rPr lang="zh-CN" altLang="en-US" sz="2000" dirty="0">
                <a:ea typeface="宋体" panose="02010600030101010101" pitchFamily="2" charset="-122"/>
              </a:rPr>
              <a:t>，计算当前点到导航点的方位角、距离和所走的里程等参数</a:t>
            </a:r>
            <a:endParaRPr lang="zh-CN" altLang="en-US" sz="2000" dirty="0">
              <a:ea typeface="宋体" panose="02010600030101010101" pitchFamily="2" charset="-122"/>
            </a:endParaRPr>
          </a:p>
          <a:p>
            <a:pPr>
              <a:lnSpc>
                <a:spcPct val="150000"/>
              </a:lnSpc>
              <a:buFontTx/>
              <a:buNone/>
            </a:pPr>
            <a:r>
              <a:rPr lang="zh-CN" altLang="en-US" sz="2000" dirty="0">
                <a:ea typeface="宋体" panose="02010600030101010101" pitchFamily="2" charset="-122"/>
              </a:rPr>
              <a:t>          在通信线路勘察中，可以用来记录存储线路</a:t>
            </a:r>
            <a:r>
              <a:rPr lang="zh-CN" altLang="en-US" sz="2000" dirty="0">
                <a:solidFill>
                  <a:srgbClr val="FF0000"/>
                </a:solidFill>
                <a:ea typeface="宋体" panose="02010600030101010101" pitchFamily="2" charset="-122"/>
              </a:rPr>
              <a:t>起点</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拐点</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主要障碍点</a:t>
            </a:r>
            <a:r>
              <a:rPr lang="zh-CN" altLang="en-US" sz="2000" dirty="0">
                <a:ea typeface="宋体" panose="02010600030101010101" pitchFamily="2" charset="-122"/>
              </a:rPr>
              <a:t>以及</a:t>
            </a:r>
            <a:r>
              <a:rPr lang="zh-CN" altLang="en-US" sz="2000" dirty="0">
                <a:solidFill>
                  <a:srgbClr val="FF0000"/>
                </a:solidFill>
                <a:ea typeface="宋体" panose="02010600030101010101" pitchFamily="2" charset="-122"/>
              </a:rPr>
              <a:t>终点</a:t>
            </a:r>
            <a:r>
              <a:rPr lang="zh-CN" altLang="en-US" sz="2000" dirty="0">
                <a:ea typeface="宋体" panose="02010600030101010101" pitchFamily="2" charset="-122"/>
              </a:rPr>
              <a:t>的经纬度，然后利用软件生成航线图，并由航线图推导出线路起点</a:t>
            </a:r>
            <a:r>
              <a:rPr lang="en-US" altLang="zh-CN" sz="2000" dirty="0">
                <a:ea typeface="宋体" panose="02010600030101010101" pitchFamily="2" charset="-122"/>
              </a:rPr>
              <a:t>—</a:t>
            </a:r>
            <a:r>
              <a:rPr lang="zh-CN" altLang="en-US" sz="2000" dirty="0">
                <a:ea typeface="宋体" panose="02010600030101010101" pitchFamily="2" charset="-122"/>
              </a:rPr>
              <a:t>拐点</a:t>
            </a:r>
            <a:r>
              <a:rPr lang="en-US" altLang="zh-CN" sz="2000" dirty="0">
                <a:ea typeface="宋体" panose="02010600030101010101" pitchFamily="2" charset="-122"/>
              </a:rPr>
              <a:t>—</a:t>
            </a:r>
            <a:r>
              <a:rPr lang="zh-CN" altLang="en-US" sz="2000" dirty="0">
                <a:ea typeface="宋体" panose="02010600030101010101" pitchFamily="2" charset="-122"/>
              </a:rPr>
              <a:t>障碍点</a:t>
            </a:r>
            <a:r>
              <a:rPr lang="en-US" altLang="zh-CN" sz="2000" dirty="0">
                <a:ea typeface="宋体" panose="02010600030101010101" pitchFamily="2" charset="-122"/>
              </a:rPr>
              <a:t>—</a:t>
            </a:r>
            <a:r>
              <a:rPr lang="zh-CN" altLang="en-US" sz="2000" dirty="0">
                <a:ea typeface="宋体" panose="02010600030101010101" pitchFamily="2" charset="-122"/>
              </a:rPr>
              <a:t>终点之间各段距离，从而得知</a:t>
            </a:r>
            <a:r>
              <a:rPr lang="zh-CN" altLang="en-US" sz="2000" dirty="0">
                <a:solidFill>
                  <a:srgbClr val="FF0000"/>
                </a:solidFill>
                <a:ea typeface="宋体" panose="02010600030101010101" pitchFamily="2" charset="-122"/>
              </a:rPr>
              <a:t>全程路由总长度</a:t>
            </a:r>
            <a:r>
              <a:rPr lang="zh-CN" altLang="en-US" sz="2000" dirty="0">
                <a:ea typeface="宋体" panose="02010600030101010101" pitchFamily="2" charset="-122"/>
              </a:rPr>
              <a:t> </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5450" y="895985"/>
            <a:ext cx="4667250" cy="49784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3</a:t>
            </a:r>
            <a:r>
              <a:rPr lang="en-US" altLang="zh-CN" sz="2200" b="1" dirty="0">
                <a:solidFill>
                  <a:srgbClr val="660033"/>
                </a:solidFill>
                <a:latin typeface="宋体" panose="02010600030101010101" pitchFamily="2" charset="-122"/>
                <a:ea typeface="黑体" panose="02010609060101010101" pitchFamily="49" charset="-122"/>
              </a:rPr>
              <a:t>“</a:t>
            </a:r>
            <a:r>
              <a:rPr lang="zh-CN" altLang="en-US" sz="2200" b="1" dirty="0">
                <a:solidFill>
                  <a:srgbClr val="660033"/>
                </a:solidFill>
                <a:latin typeface="黑体" panose="02010609060101010101" pitchFamily="49" charset="-122"/>
                <a:ea typeface="黑体" panose="02010609060101010101" pitchFamily="49" charset="-122"/>
              </a:rPr>
              <a:t>小博士</a:t>
            </a:r>
            <a:r>
              <a:rPr lang="zh-CN" altLang="en-US" sz="2200" b="1" dirty="0">
                <a:solidFill>
                  <a:srgbClr val="660033"/>
                </a:solidFill>
                <a:latin typeface="宋体" panose="02010600030101010101" pitchFamily="2" charset="-122"/>
                <a:ea typeface="黑体" panose="02010609060101010101" pitchFamily="49" charset="-122"/>
              </a:rPr>
              <a:t>”</a:t>
            </a:r>
            <a:r>
              <a:rPr lang="zh-CN" altLang="en-US" sz="2200" b="1" dirty="0">
                <a:solidFill>
                  <a:srgbClr val="660033"/>
                </a:solidFill>
                <a:latin typeface="黑体" panose="02010609060101010101" pitchFamily="49" charset="-122"/>
                <a:ea typeface="黑体" panose="02010609060101010101" pitchFamily="49" charset="-122"/>
              </a:rPr>
              <a:t>手持</a:t>
            </a:r>
            <a:r>
              <a:rPr lang="en-US" altLang="zh-CN" sz="2200" b="1" dirty="0">
                <a:solidFill>
                  <a:srgbClr val="660033"/>
                </a:solidFill>
                <a:latin typeface="黑体" panose="02010609060101010101" pitchFamily="49" charset="-122"/>
                <a:ea typeface="黑体" panose="02010609060101010101" pitchFamily="49" charset="-122"/>
              </a:rPr>
              <a:t>GPS</a:t>
            </a:r>
            <a:r>
              <a:rPr lang="zh-CN" altLang="en-US" sz="2200" b="1" dirty="0">
                <a:solidFill>
                  <a:srgbClr val="660033"/>
                </a:solidFill>
                <a:latin typeface="黑体" panose="02010609060101010101" pitchFamily="49" charset="-122"/>
                <a:ea typeface="黑体" panose="02010609060101010101" pitchFamily="49" charset="-122"/>
              </a:rPr>
              <a:t>定位仪介绍</a:t>
            </a:r>
            <a:r>
              <a:rPr lang="zh-CN" altLang="en-US" sz="2400" b="1" dirty="0">
                <a:ea typeface="宋体" panose="02010600030101010101" pitchFamily="2" charset="-122"/>
              </a:rPr>
              <a:t> </a:t>
            </a:r>
            <a:endParaRPr lang="zh-CN" altLang="en-US" sz="2400" b="1" dirty="0">
              <a:ea typeface="宋体" panose="02010600030101010101" pitchFamily="2" charset="-122"/>
            </a:endParaRP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749" y="1546190"/>
            <a:ext cx="6272981" cy="2689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476151" y="969764"/>
            <a:ext cx="2529092" cy="34095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3.3 </a:t>
            </a:r>
            <a:r>
              <a:rPr kumimoji="1" lang="zh-CN" altLang="en-US" sz="2400" b="1" dirty="0">
                <a:solidFill>
                  <a:srgbClr val="000099"/>
                </a:solidFill>
                <a:latin typeface="黑体" panose="02010609060101010101" pitchFamily="49" charset="-122"/>
                <a:ea typeface="黑体" panose="02010609060101010101" pitchFamily="49" charset="-122"/>
              </a:rPr>
              <a:t>激光测距仪</a:t>
            </a:r>
            <a:r>
              <a:rPr lang="zh-CN" altLang="en-US" sz="2400" dirty="0">
                <a:ea typeface="宋体" panose="02010600030101010101" pitchFamily="2" charset="-122"/>
              </a:rPr>
              <a:t> </a:t>
            </a:r>
            <a:endParaRPr lang="zh-CN" altLang="en-US" sz="2400" dirty="0">
              <a:ea typeface="宋体" panose="02010600030101010101" pitchFamily="2" charset="-122"/>
            </a:endParaRPr>
          </a:p>
        </p:txBody>
      </p:sp>
      <p:sp>
        <p:nvSpPr>
          <p:cNvPr id="7" name="Rectangle 3"/>
          <p:cNvSpPr txBox="1">
            <a:spLocks noChangeArrowheads="1"/>
          </p:cNvSpPr>
          <p:nvPr/>
        </p:nvSpPr>
        <p:spPr bwMode="auto">
          <a:xfrm>
            <a:off x="476151" y="1364989"/>
            <a:ext cx="8208912" cy="371170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1 </a:t>
            </a:r>
            <a:r>
              <a:rPr lang="zh-CN" altLang="en-US" sz="2200" b="1" dirty="0">
                <a:solidFill>
                  <a:srgbClr val="660033"/>
                </a:solidFill>
                <a:latin typeface="黑体" panose="02010609060101010101" pitchFamily="49" charset="-122"/>
                <a:ea typeface="黑体" panose="02010609060101010101" pitchFamily="49" charset="-122"/>
              </a:rPr>
              <a:t>工作原理</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40000"/>
              </a:lnSpc>
              <a:buFontTx/>
              <a:buNone/>
            </a:pPr>
            <a:r>
              <a:rPr lang="zh-CN" altLang="en-US" dirty="0">
                <a:ea typeface="宋体" panose="02010600030101010101" pitchFamily="2" charset="-122"/>
              </a:rPr>
              <a:t>        </a:t>
            </a:r>
            <a:r>
              <a:rPr lang="zh-CN" altLang="en-US" sz="2000" dirty="0">
                <a:ea typeface="宋体" panose="02010600030101010101" pitchFamily="2" charset="-122"/>
              </a:rPr>
              <a:t>  </a:t>
            </a:r>
            <a:r>
              <a:rPr lang="zh-CN" altLang="en-US" sz="2000" dirty="0">
                <a:solidFill>
                  <a:srgbClr val="FF0000"/>
                </a:solidFill>
                <a:ea typeface="宋体" panose="02010600030101010101" pitchFamily="2" charset="-122"/>
              </a:rPr>
              <a:t>激光测距仪</a:t>
            </a:r>
            <a:r>
              <a:rPr lang="zh-CN" altLang="en-US" sz="2000" dirty="0">
                <a:ea typeface="宋体" panose="02010600030101010101" pitchFamily="2" charset="-122"/>
              </a:rPr>
              <a:t>是利用激光对目标距离进行准确测定的仪器，它的工作原理是在工作时向目标射出一束很细的激光，由光电元件接收目标反射的激光束，计时器测定激光束从发射到接收的时间，计算出从观测者到目标的距离</a:t>
            </a:r>
            <a:endParaRPr lang="en-US" altLang="zh-CN" sz="2000" dirty="0">
              <a:ea typeface="宋体" panose="02010600030101010101" pitchFamily="2" charset="-122"/>
            </a:endParaRPr>
          </a:p>
          <a:p>
            <a:pPr>
              <a:lnSpc>
                <a:spcPct val="140000"/>
              </a:lnSpc>
              <a:buFontTx/>
              <a:buNone/>
            </a:pPr>
            <a:r>
              <a:rPr lang="zh-CN" altLang="en-US" sz="2000" dirty="0">
                <a:ea typeface="宋体" panose="02010600030101010101" pitchFamily="2" charset="-122"/>
              </a:rPr>
              <a:t>   </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476151" y="969764"/>
            <a:ext cx="2529092" cy="34095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3.3 </a:t>
            </a:r>
            <a:r>
              <a:rPr kumimoji="1" lang="zh-CN" altLang="en-US" sz="2400" b="1" dirty="0">
                <a:solidFill>
                  <a:srgbClr val="000099"/>
                </a:solidFill>
                <a:latin typeface="黑体" panose="02010609060101010101" pitchFamily="49" charset="-122"/>
                <a:ea typeface="黑体" panose="02010609060101010101" pitchFamily="49" charset="-122"/>
              </a:rPr>
              <a:t>激光测距仪</a:t>
            </a:r>
            <a:r>
              <a:rPr lang="zh-CN" altLang="en-US" sz="2400" dirty="0">
                <a:ea typeface="宋体" panose="02010600030101010101" pitchFamily="2" charset="-122"/>
              </a:rPr>
              <a:t> </a:t>
            </a:r>
            <a:endParaRPr lang="zh-CN" altLang="en-US" sz="2400" dirty="0">
              <a:ea typeface="宋体" panose="02010600030101010101" pitchFamily="2" charset="-122"/>
            </a:endParaRPr>
          </a:p>
        </p:txBody>
      </p:sp>
      <p:sp>
        <p:nvSpPr>
          <p:cNvPr id="7" name="Rectangle 3"/>
          <p:cNvSpPr txBox="1">
            <a:spLocks noChangeArrowheads="1"/>
          </p:cNvSpPr>
          <p:nvPr/>
        </p:nvSpPr>
        <p:spPr bwMode="auto">
          <a:xfrm>
            <a:off x="476151" y="1364989"/>
            <a:ext cx="8208912" cy="3711708"/>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1 </a:t>
            </a:r>
            <a:r>
              <a:rPr lang="zh-CN" altLang="en-US" sz="2200" b="1" dirty="0">
                <a:solidFill>
                  <a:srgbClr val="660033"/>
                </a:solidFill>
                <a:latin typeface="黑体" panose="02010609060101010101" pitchFamily="49" charset="-122"/>
                <a:ea typeface="黑体" panose="02010609060101010101" pitchFamily="49" charset="-122"/>
              </a:rPr>
              <a:t>工作原理</a:t>
            </a:r>
            <a:endParaRPr lang="zh-CN" altLang="en-US" sz="2200" b="1" dirty="0">
              <a:solidFill>
                <a:srgbClr val="660033"/>
              </a:solidFill>
              <a:latin typeface="黑体" panose="02010609060101010101" pitchFamily="49" charset="-122"/>
              <a:ea typeface="黑体" panose="02010609060101010101" pitchFamily="49" charset="-122"/>
            </a:endParaRPr>
          </a:p>
          <a:p>
            <a:pPr>
              <a:lnSpc>
                <a:spcPct val="140000"/>
              </a:lnSpc>
              <a:buFontTx/>
              <a:buNone/>
            </a:pPr>
            <a:r>
              <a:rPr lang="zh-CN" altLang="en-US" sz="2000" dirty="0">
                <a:ea typeface="宋体" panose="02010600030101010101" pitchFamily="2" charset="-122"/>
              </a:rPr>
              <a:t>    如果光以速度</a:t>
            </a:r>
            <a:r>
              <a:rPr lang="en-US" altLang="zh-CN" sz="2000" dirty="0">
                <a:ea typeface="宋体" panose="02010600030101010101" pitchFamily="2" charset="-122"/>
              </a:rPr>
              <a:t>c</a:t>
            </a:r>
            <a:r>
              <a:rPr lang="zh-CN" altLang="en-US" sz="2000" dirty="0">
                <a:ea typeface="宋体" panose="02010600030101010101" pitchFamily="2" charset="-122"/>
              </a:rPr>
              <a:t>在空气中传播，在</a:t>
            </a:r>
            <a:r>
              <a:rPr lang="en-US" altLang="zh-CN" sz="2000" dirty="0">
                <a:ea typeface="宋体" panose="02010600030101010101" pitchFamily="2" charset="-122"/>
              </a:rPr>
              <a:t>A</a:t>
            </a:r>
            <a:r>
              <a:rPr lang="zh-CN" altLang="en-US" sz="2000" dirty="0">
                <a:ea typeface="宋体" panose="02010600030101010101" pitchFamily="2" charset="-122"/>
              </a:rPr>
              <a:t>、</a:t>
            </a:r>
            <a:r>
              <a:rPr lang="en-US" altLang="zh-CN" sz="2000" dirty="0">
                <a:ea typeface="宋体" panose="02010600030101010101" pitchFamily="2" charset="-122"/>
              </a:rPr>
              <a:t>B</a:t>
            </a:r>
            <a:r>
              <a:rPr lang="zh-CN" altLang="en-US" sz="2000" dirty="0">
                <a:ea typeface="宋体" panose="02010600030101010101" pitchFamily="2" charset="-122"/>
              </a:rPr>
              <a:t>两点间往返一次所需时间为</a:t>
            </a:r>
            <a:r>
              <a:rPr lang="en-US" altLang="zh-CN" sz="2000" dirty="0">
                <a:ea typeface="宋体" panose="02010600030101010101" pitchFamily="2" charset="-122"/>
              </a:rPr>
              <a:t>t</a:t>
            </a:r>
            <a:r>
              <a:rPr lang="zh-CN" altLang="en-US" sz="2000" dirty="0">
                <a:ea typeface="宋体" panose="02010600030101010101" pitchFamily="2" charset="-122"/>
              </a:rPr>
              <a:t>，则</a:t>
            </a:r>
            <a:r>
              <a:rPr lang="en-US" altLang="zh-CN" sz="2000" dirty="0">
                <a:ea typeface="宋体" panose="02010600030101010101" pitchFamily="2" charset="-122"/>
              </a:rPr>
              <a:t>A</a:t>
            </a:r>
            <a:r>
              <a:rPr lang="zh-CN" altLang="en-US" sz="2000" dirty="0">
                <a:ea typeface="宋体" panose="02010600030101010101" pitchFamily="2" charset="-122"/>
              </a:rPr>
              <a:t>、</a:t>
            </a:r>
            <a:r>
              <a:rPr lang="en-US" altLang="zh-CN" sz="2000" dirty="0">
                <a:ea typeface="宋体" panose="02010600030101010101" pitchFamily="2" charset="-122"/>
              </a:rPr>
              <a:t>B</a:t>
            </a:r>
            <a:r>
              <a:rPr lang="zh-CN" altLang="en-US" sz="2000" dirty="0">
                <a:ea typeface="宋体" panose="02010600030101010101" pitchFamily="2" charset="-122"/>
              </a:rPr>
              <a:t>两点间距离</a:t>
            </a:r>
            <a:r>
              <a:rPr lang="en-US" altLang="zh-CN" sz="2000" dirty="0">
                <a:ea typeface="宋体" panose="02010600030101010101" pitchFamily="2" charset="-122"/>
              </a:rPr>
              <a:t>D</a:t>
            </a:r>
            <a:r>
              <a:rPr lang="zh-CN" altLang="en-US" sz="2000" dirty="0">
                <a:ea typeface="宋体" panose="02010600030101010101" pitchFamily="2" charset="-122"/>
              </a:rPr>
              <a:t>可表示为：</a:t>
            </a:r>
            <a:r>
              <a:rPr lang="en-US" altLang="zh-CN" sz="2000" dirty="0">
                <a:ea typeface="宋体" panose="02010600030101010101" pitchFamily="2" charset="-122"/>
              </a:rPr>
              <a:t>D=</a:t>
            </a:r>
            <a:r>
              <a:rPr lang="en-US" altLang="zh-CN" sz="2000" dirty="0" err="1">
                <a:ea typeface="宋体" panose="02010600030101010101" pitchFamily="2" charset="-122"/>
              </a:rPr>
              <a:t>ct</a:t>
            </a:r>
            <a:r>
              <a:rPr lang="en-US" altLang="zh-CN" sz="2000" dirty="0">
                <a:ea typeface="宋体" panose="02010600030101010101" pitchFamily="2" charset="-122"/>
              </a:rPr>
              <a:t>/2 </a:t>
            </a:r>
            <a:endParaRPr lang="en-US" altLang="zh-CN" sz="2000" dirty="0">
              <a:ea typeface="宋体" panose="02010600030101010101" pitchFamily="2" charset="-122"/>
            </a:endParaRPr>
          </a:p>
          <a:p>
            <a:pPr>
              <a:lnSpc>
                <a:spcPct val="140000"/>
              </a:lnSpc>
              <a:buFontTx/>
              <a:buNone/>
            </a:pPr>
            <a:r>
              <a:rPr lang="zh-CN" altLang="en-US" sz="2000" dirty="0">
                <a:ea typeface="宋体" panose="02010600030101010101" pitchFamily="2" charset="-122"/>
              </a:rPr>
              <a:t>其中：</a:t>
            </a:r>
            <a:r>
              <a:rPr lang="en-US" altLang="zh-CN" sz="2000" dirty="0">
                <a:ea typeface="宋体" panose="02010600030101010101" pitchFamily="2" charset="-122"/>
              </a:rPr>
              <a:t>D——</a:t>
            </a:r>
            <a:r>
              <a:rPr lang="zh-CN" altLang="en-US" sz="2000" dirty="0">
                <a:ea typeface="宋体" panose="02010600030101010101" pitchFamily="2" charset="-122"/>
              </a:rPr>
              <a:t>测站点</a:t>
            </a:r>
            <a:r>
              <a:rPr lang="en-US" altLang="zh-CN" sz="2000" dirty="0">
                <a:ea typeface="宋体" panose="02010600030101010101" pitchFamily="2" charset="-122"/>
              </a:rPr>
              <a:t>A</a:t>
            </a:r>
            <a:r>
              <a:rPr lang="zh-CN" altLang="en-US" sz="2000" dirty="0">
                <a:ea typeface="宋体" panose="02010600030101010101" pitchFamily="2" charset="-122"/>
              </a:rPr>
              <a:t>、</a:t>
            </a:r>
            <a:r>
              <a:rPr lang="en-US" altLang="zh-CN" sz="2000" dirty="0">
                <a:ea typeface="宋体" panose="02010600030101010101" pitchFamily="2" charset="-122"/>
              </a:rPr>
              <a:t>B</a:t>
            </a:r>
            <a:r>
              <a:rPr lang="zh-CN" altLang="en-US" sz="2000" dirty="0">
                <a:ea typeface="宋体" panose="02010600030101010101" pitchFamily="2" charset="-122"/>
              </a:rPr>
              <a:t>两点间距离； </a:t>
            </a:r>
            <a:endParaRPr lang="zh-CN" altLang="en-US" sz="2000" dirty="0">
              <a:ea typeface="宋体" panose="02010600030101010101" pitchFamily="2" charset="-122"/>
            </a:endParaRPr>
          </a:p>
          <a:p>
            <a:pPr>
              <a:lnSpc>
                <a:spcPct val="140000"/>
              </a:lnSpc>
              <a:buFontTx/>
              <a:buNone/>
            </a:pPr>
            <a:r>
              <a:rPr lang="zh-CN" altLang="en-US" sz="2000" dirty="0">
                <a:ea typeface="宋体" panose="02010600030101010101" pitchFamily="2" charset="-122"/>
              </a:rPr>
              <a:t>           </a:t>
            </a:r>
            <a:r>
              <a:rPr lang="en-US" altLang="zh-CN" sz="2000" dirty="0">
                <a:ea typeface="宋体" panose="02010600030101010101" pitchFamily="2" charset="-122"/>
              </a:rPr>
              <a:t>   c——</a:t>
            </a:r>
            <a:r>
              <a:rPr lang="zh-CN" altLang="en-US" sz="2000" dirty="0">
                <a:ea typeface="宋体" panose="02010600030101010101" pitchFamily="2" charset="-122"/>
              </a:rPr>
              <a:t>光在大气中传播的速度； </a:t>
            </a:r>
            <a:endParaRPr lang="zh-CN" altLang="en-US" sz="2000" dirty="0">
              <a:ea typeface="宋体" panose="02010600030101010101" pitchFamily="2" charset="-122"/>
            </a:endParaRPr>
          </a:p>
          <a:p>
            <a:pPr>
              <a:lnSpc>
                <a:spcPct val="140000"/>
              </a:lnSpc>
              <a:buFontTx/>
              <a:buNone/>
            </a:pPr>
            <a:r>
              <a:rPr lang="zh-CN" altLang="en-US" sz="2000" dirty="0">
                <a:ea typeface="宋体" panose="02010600030101010101" pitchFamily="2" charset="-122"/>
              </a:rPr>
              <a:t>　　   </a:t>
            </a:r>
            <a:r>
              <a:rPr lang="en-US" altLang="zh-CN" sz="2000" dirty="0">
                <a:ea typeface="宋体" panose="02010600030101010101" pitchFamily="2" charset="-122"/>
              </a:rPr>
              <a:t> </a:t>
            </a:r>
            <a:r>
              <a:rPr lang="zh-CN" altLang="en-US" sz="2000" dirty="0">
                <a:ea typeface="宋体" panose="02010600030101010101" pitchFamily="2" charset="-122"/>
              </a:rPr>
              <a:t> </a:t>
            </a:r>
            <a:r>
              <a:rPr lang="en-US" altLang="zh-CN" sz="2000" dirty="0">
                <a:ea typeface="宋体" panose="02010600030101010101" pitchFamily="2" charset="-122"/>
              </a:rPr>
              <a:t>t——</a:t>
            </a:r>
            <a:r>
              <a:rPr lang="zh-CN" altLang="en-US" sz="2000" dirty="0">
                <a:ea typeface="宋体" panose="02010600030101010101" pitchFamily="2" charset="-122"/>
              </a:rPr>
              <a:t>光往返</a:t>
            </a:r>
            <a:r>
              <a:rPr lang="en-US" altLang="zh-CN" sz="2000" dirty="0">
                <a:ea typeface="宋体" panose="02010600030101010101" pitchFamily="2" charset="-122"/>
              </a:rPr>
              <a:t>A</a:t>
            </a:r>
            <a:r>
              <a:rPr lang="zh-CN" altLang="en-US" sz="2000" dirty="0">
                <a:ea typeface="宋体" panose="02010600030101010101" pitchFamily="2" charset="-122"/>
              </a:rPr>
              <a:t>、</a:t>
            </a:r>
            <a:r>
              <a:rPr lang="en-US" altLang="zh-CN" sz="2000" dirty="0">
                <a:ea typeface="宋体" panose="02010600030101010101" pitchFamily="2" charset="-122"/>
              </a:rPr>
              <a:t>B</a:t>
            </a:r>
            <a:r>
              <a:rPr lang="zh-CN" altLang="en-US" sz="2000" dirty="0">
                <a:ea typeface="宋体" panose="02010600030101010101" pitchFamily="2" charset="-122"/>
              </a:rPr>
              <a:t>一次所需的时间。 </a:t>
            </a:r>
            <a:endParaRPr lang="zh-CN" altLang="en-US" sz="2000" dirty="0">
              <a:ea typeface="宋体" panose="02010600030101010101" pitchFamily="2" charset="-122"/>
            </a:endParaRPr>
          </a:p>
          <a:p>
            <a:pPr>
              <a:lnSpc>
                <a:spcPct val="140000"/>
              </a:lnSpc>
              <a:buFontTx/>
              <a:buNone/>
            </a:pPr>
            <a:endParaRPr lang="zh-CN" altLang="en-US" sz="2000" dirty="0">
              <a:ea typeface="宋体" panose="02010600030101010101" pitchFamily="2" charset="-122"/>
            </a:endParaRPr>
          </a:p>
        </p:txBody>
      </p:sp>
      <p:cxnSp>
        <p:nvCxnSpPr>
          <p:cNvPr id="2" name="直接连接符 1"/>
          <p:cNvCxnSpPr/>
          <p:nvPr/>
        </p:nvCxnSpPr>
        <p:spPr>
          <a:xfrm>
            <a:off x="6094095" y="3271520"/>
            <a:ext cx="2086610" cy="2540"/>
          </a:xfrm>
          <a:prstGeom prst="line">
            <a:avLst/>
          </a:prstGeom>
          <a:ln w="12700">
            <a:tailEnd type="triangle"/>
          </a:ln>
        </p:spPr>
        <p:style>
          <a:lnRef idx="3">
            <a:schemeClr val="dk1"/>
          </a:lnRef>
          <a:fillRef idx="0">
            <a:schemeClr val="dk1"/>
          </a:fillRef>
          <a:effectRef idx="2">
            <a:schemeClr val="dk1"/>
          </a:effectRef>
          <a:fontRef idx="minor">
            <a:schemeClr val="tx1"/>
          </a:fontRef>
        </p:style>
      </p:cxnSp>
      <p:cxnSp>
        <p:nvCxnSpPr>
          <p:cNvPr id="8" name="直接连接符 7"/>
          <p:cNvCxnSpPr/>
          <p:nvPr/>
        </p:nvCxnSpPr>
        <p:spPr>
          <a:xfrm flipH="1">
            <a:off x="6082030" y="3417570"/>
            <a:ext cx="2087880" cy="0"/>
          </a:xfrm>
          <a:prstGeom prst="line">
            <a:avLst/>
          </a:prstGeom>
          <a:ln w="12700">
            <a:solidFill>
              <a:schemeClr val="tx1"/>
            </a:solidFill>
            <a:prstDash val="sysDash"/>
            <a:tailEnd type="triangle"/>
          </a:ln>
        </p:spPr>
        <p:style>
          <a:lnRef idx="3">
            <a:schemeClr val="dk1"/>
          </a:lnRef>
          <a:fillRef idx="0">
            <a:schemeClr val="dk1"/>
          </a:fillRef>
          <a:effectRef idx="2">
            <a:schemeClr val="dk1"/>
          </a:effectRef>
          <a:fontRef idx="minor">
            <a:schemeClr val="tx1"/>
          </a:fontRef>
        </p:style>
      </p:cxnSp>
      <p:sp>
        <p:nvSpPr>
          <p:cNvPr id="9" name="圆角矩形 8"/>
          <p:cNvSpPr/>
          <p:nvPr/>
        </p:nvSpPr>
        <p:spPr>
          <a:xfrm>
            <a:off x="8180705" y="3201670"/>
            <a:ext cx="432435" cy="288290"/>
          </a:xfrm>
          <a:prstGeom prst="roundRect">
            <a:avLst/>
          </a:prstGeom>
          <a:solidFill>
            <a:srgbClr val="D2DEF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B</a:t>
            </a:r>
            <a:endParaRPr lang="en-US" altLang="zh-CN">
              <a:solidFill>
                <a:schemeClr val="tx1"/>
              </a:solidFill>
            </a:endParaRPr>
          </a:p>
        </p:txBody>
      </p:sp>
      <p:sp>
        <p:nvSpPr>
          <p:cNvPr id="10" name="圆角矩形 9"/>
          <p:cNvSpPr/>
          <p:nvPr/>
        </p:nvSpPr>
        <p:spPr>
          <a:xfrm>
            <a:off x="5661660" y="3201670"/>
            <a:ext cx="432435" cy="288290"/>
          </a:xfrm>
          <a:prstGeom prst="roundRect">
            <a:avLst/>
          </a:prstGeom>
          <a:solidFill>
            <a:srgbClr val="D2DEF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A</a:t>
            </a:r>
            <a:endParaRPr lang="en-US" altLang="zh-CN">
              <a:solidFill>
                <a:schemeClr val="tx1"/>
              </a:solidFill>
            </a:endParaRPr>
          </a:p>
        </p:txBody>
      </p:sp>
      <p:sp>
        <p:nvSpPr>
          <p:cNvPr id="12" name="文本框 11"/>
          <p:cNvSpPr txBox="1"/>
          <p:nvPr/>
        </p:nvSpPr>
        <p:spPr>
          <a:xfrm>
            <a:off x="7028815" y="2903220"/>
            <a:ext cx="300990" cy="368300"/>
          </a:xfrm>
          <a:prstGeom prst="rect">
            <a:avLst/>
          </a:prstGeom>
          <a:noFill/>
        </p:spPr>
        <p:txBody>
          <a:bodyPr wrap="square" rtlCol="0">
            <a:spAutoFit/>
          </a:bodyPr>
          <a:p>
            <a:r>
              <a:rPr lang="en-US" altLang="zh-CN">
                <a:latin typeface="黑体" panose="02010609060101010101" pitchFamily="49" charset="-122"/>
                <a:ea typeface="黑体" panose="02010609060101010101" pitchFamily="49" charset="-122"/>
              </a:rPr>
              <a:t>D</a:t>
            </a:r>
            <a:endParaRPr lang="en-US" altLang="zh-CN">
              <a:latin typeface="黑体" panose="02010609060101010101" pitchFamily="49" charset="-122"/>
              <a:ea typeface="黑体" panose="02010609060101010101" pitchFamily="49"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969645"/>
            <a:ext cx="8229600" cy="172847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dirty="0">
                <a:solidFill>
                  <a:srgbClr val="660033"/>
                </a:solidFill>
                <a:latin typeface="黑体" panose="02010609060101010101" pitchFamily="49" charset="-122"/>
                <a:ea typeface="黑体" panose="02010609060101010101" pitchFamily="49" charset="-122"/>
              </a:rPr>
              <a:t>2 </a:t>
            </a:r>
            <a:r>
              <a:rPr lang="zh-CN" altLang="en-US" sz="2200" dirty="0">
                <a:solidFill>
                  <a:srgbClr val="660033"/>
                </a:solidFill>
                <a:latin typeface="黑体" panose="02010609060101010101" pitchFamily="49" charset="-122"/>
                <a:ea typeface="黑体" panose="02010609060101010101" pitchFamily="49" charset="-122"/>
              </a:rPr>
              <a:t>激光测距在通信勘察中的应用</a:t>
            </a:r>
            <a:endParaRPr lang="zh-CN" altLang="en-US" sz="2200" dirty="0">
              <a:solidFill>
                <a:srgbClr val="660033"/>
              </a:solidFill>
              <a:latin typeface="黑体" panose="02010609060101010101" pitchFamily="49" charset="-122"/>
              <a:ea typeface="黑体" panose="02010609060101010101" pitchFamily="49" charset="-122"/>
            </a:endParaRPr>
          </a:p>
          <a:p>
            <a:pPr>
              <a:lnSpc>
                <a:spcPct val="140000"/>
              </a:lnSpc>
              <a:spcBef>
                <a:spcPct val="50000"/>
              </a:spcBef>
              <a:buFontTx/>
              <a:buNone/>
            </a:pPr>
            <a:r>
              <a:rPr lang="zh-CN" altLang="en-US" sz="2000" dirty="0">
                <a:ea typeface="宋体" panose="02010600030101010101" pitchFamily="2" charset="-122"/>
              </a:rPr>
              <a:t>           在通信工程勘察中，主要利用测距仪进行天线安装位置</a:t>
            </a:r>
            <a:r>
              <a:rPr lang="zh-CN" altLang="en-US" sz="2000" dirty="0">
                <a:solidFill>
                  <a:srgbClr val="FF0000"/>
                </a:solidFill>
                <a:ea typeface="宋体" panose="02010600030101010101" pitchFamily="2" charset="-122"/>
              </a:rPr>
              <a:t>高度的测量</a:t>
            </a:r>
            <a:r>
              <a:rPr lang="zh-CN" altLang="en-US" sz="2000" dirty="0">
                <a:ea typeface="宋体" panose="02010600030101010101" pitchFamily="2" charset="-122"/>
              </a:rPr>
              <a:t>、周围建筑物到局站点之间距离的测量、以及线路勘察中杆距或两人孔间距的测量等。</a:t>
            </a:r>
            <a:endParaRPr lang="zh-CN" altLang="en-US" sz="2000" dirty="0">
              <a:ea typeface="宋体" panose="02010600030101010101" pitchFamily="2" charset="-122"/>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983" y="2913922"/>
            <a:ext cx="2933154" cy="213980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24213" y="2698000"/>
            <a:ext cx="2539454" cy="2539454"/>
          </a:xfrm>
          <a:prstGeom prst="rect">
            <a:avLst/>
          </a:prstGeom>
          <a:noFill/>
          <a:extLst>
            <a:ext uri="{909E8E84-426E-40DD-AFC4-6F175D3DCCD1}">
              <a14:hiddenFill xmlns:a14="http://schemas.microsoft.com/office/drawing/2010/main">
                <a:solidFill>
                  <a:srgbClr val="FFFFFF"/>
                </a:solidFill>
              </a14:hiddenFill>
            </a:ext>
          </a:extLst>
        </p:spPr>
      </p:pic>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620167" y="887291"/>
            <a:ext cx="2000091" cy="423582"/>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3.4 </a:t>
            </a:r>
            <a:r>
              <a:rPr kumimoji="1" lang="zh-CN" altLang="en-US" sz="2400" b="1" dirty="0">
                <a:solidFill>
                  <a:srgbClr val="000099"/>
                </a:solidFill>
                <a:latin typeface="黑体" panose="02010609060101010101" pitchFamily="49" charset="-122"/>
                <a:ea typeface="黑体" panose="02010609060101010101" pitchFamily="49" charset="-122"/>
              </a:rPr>
              <a:t>罗盘仪</a:t>
            </a:r>
            <a:r>
              <a:rPr lang="zh-CN" altLang="en-US" sz="2400" dirty="0">
                <a:ea typeface="宋体" panose="02010600030101010101" pitchFamily="2" charset="-122"/>
              </a:rPr>
              <a:t> </a:t>
            </a:r>
            <a:endParaRPr lang="zh-CN" altLang="en-US" sz="2400" dirty="0">
              <a:ea typeface="宋体" panose="02010600030101010101" pitchFamily="2" charset="-122"/>
            </a:endParaRPr>
          </a:p>
        </p:txBody>
      </p:sp>
      <p:sp>
        <p:nvSpPr>
          <p:cNvPr id="7" name="Text Box 5"/>
          <p:cNvSpPr txBox="1">
            <a:spLocks noChangeArrowheads="1"/>
          </p:cNvSpPr>
          <p:nvPr/>
        </p:nvSpPr>
        <p:spPr bwMode="auto">
          <a:xfrm>
            <a:off x="620395" y="1283970"/>
            <a:ext cx="260477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spcBef>
                <a:spcPct val="50000"/>
              </a:spcBef>
            </a:pPr>
            <a:r>
              <a:rPr lang="en-US" altLang="zh-CN" sz="2200" dirty="0">
                <a:solidFill>
                  <a:srgbClr val="660033"/>
                </a:solidFill>
                <a:latin typeface="黑体" panose="02010609060101010101" pitchFamily="49" charset="-122"/>
                <a:ea typeface="黑体" panose="02010609060101010101" pitchFamily="49" charset="-122"/>
              </a:rPr>
              <a:t>1 </a:t>
            </a:r>
            <a:r>
              <a:rPr lang="zh-CN" altLang="en-US" sz="2200" dirty="0">
                <a:solidFill>
                  <a:srgbClr val="660033"/>
                </a:solidFill>
                <a:latin typeface="黑体" panose="02010609060101010101" pitchFamily="49" charset="-122"/>
                <a:ea typeface="黑体" panose="02010609060101010101" pitchFamily="49" charset="-122"/>
              </a:rPr>
              <a:t>罗盘仪介绍</a:t>
            </a:r>
            <a:endParaRPr lang="zh-CN" altLang="en-US" sz="2200" dirty="0">
              <a:solidFill>
                <a:srgbClr val="660033"/>
              </a:solidFill>
              <a:latin typeface="黑体" panose="02010609060101010101" pitchFamily="49" charset="-122"/>
              <a:ea typeface="黑体" panose="02010609060101010101" pitchFamily="49" charset="-122"/>
            </a:endParaRPr>
          </a:p>
        </p:txBody>
      </p:sp>
      <p:sp>
        <p:nvSpPr>
          <p:cNvPr id="8" name="Rectangle 3"/>
          <p:cNvSpPr txBox="1">
            <a:spLocks noChangeArrowheads="1"/>
          </p:cNvSpPr>
          <p:nvPr/>
        </p:nvSpPr>
        <p:spPr bwMode="auto">
          <a:xfrm>
            <a:off x="259574" y="1800936"/>
            <a:ext cx="8649209" cy="1739783"/>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40000"/>
              </a:lnSpc>
              <a:buFontTx/>
              <a:buNone/>
            </a:pPr>
            <a:r>
              <a:rPr lang="zh-CN" altLang="en-US" sz="2000" dirty="0">
                <a:ea typeface="宋体" panose="02010600030101010101" pitchFamily="2" charset="-122"/>
              </a:rPr>
              <a:t>          罗盘仪，就是通常所说的指南针，是利用磁针来测量直线磁方位角的仪器。在北半球的国家，罗盘仪的南针绕有铜线，以使磁针受力平衡，位于水平状态。罗盘仪的磁针有南北极，度盘刻度上标明东南西北四个方向，指针一头总会指向南方或者北方，由此来确定方位。罗盘仪结构十分简单，携带使用方便，在工程勘察中被经常用来</a:t>
            </a:r>
            <a:r>
              <a:rPr lang="zh-CN" altLang="en-US" sz="2000" dirty="0">
                <a:solidFill>
                  <a:srgbClr val="FF0000"/>
                </a:solidFill>
                <a:ea typeface="宋体" panose="02010600030101010101" pitchFamily="2" charset="-122"/>
              </a:rPr>
              <a:t>确定方位</a:t>
            </a:r>
            <a:r>
              <a:rPr lang="zh-CN" altLang="en-US" sz="2000" dirty="0">
                <a:ea typeface="宋体" panose="02010600030101010101" pitchFamily="2" charset="-122"/>
              </a:rPr>
              <a:t> </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620167" y="887291"/>
            <a:ext cx="2000091" cy="423582"/>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3.4 </a:t>
            </a:r>
            <a:r>
              <a:rPr kumimoji="1" lang="zh-CN" altLang="en-US" sz="2400" b="1" dirty="0">
                <a:solidFill>
                  <a:srgbClr val="000099"/>
                </a:solidFill>
                <a:latin typeface="黑体" panose="02010609060101010101" pitchFamily="49" charset="-122"/>
                <a:ea typeface="黑体" panose="02010609060101010101" pitchFamily="49" charset="-122"/>
              </a:rPr>
              <a:t>罗盘仪</a:t>
            </a:r>
            <a:r>
              <a:rPr lang="zh-CN" altLang="en-US" sz="2400" dirty="0">
                <a:ea typeface="宋体" panose="02010600030101010101" pitchFamily="2" charset="-122"/>
              </a:rPr>
              <a:t> </a:t>
            </a:r>
            <a:endParaRPr lang="zh-CN" altLang="en-US" sz="2400" dirty="0">
              <a:ea typeface="宋体" panose="02010600030101010101" pitchFamily="2" charset="-122"/>
            </a:endParaRPr>
          </a:p>
        </p:txBody>
      </p:sp>
      <p:sp>
        <p:nvSpPr>
          <p:cNvPr id="7" name="Text Box 5"/>
          <p:cNvSpPr txBox="1">
            <a:spLocks noChangeArrowheads="1"/>
          </p:cNvSpPr>
          <p:nvPr/>
        </p:nvSpPr>
        <p:spPr bwMode="auto">
          <a:xfrm>
            <a:off x="691515" y="1473835"/>
            <a:ext cx="273939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spcBef>
                <a:spcPct val="50000"/>
              </a:spcBef>
            </a:pPr>
            <a:r>
              <a:rPr lang="en-US" altLang="zh-CN" sz="2200" dirty="0">
                <a:solidFill>
                  <a:srgbClr val="660033"/>
                </a:solidFill>
                <a:latin typeface="黑体" panose="02010609060101010101" pitchFamily="49" charset="-122"/>
                <a:ea typeface="黑体" panose="02010609060101010101" pitchFamily="49" charset="-122"/>
                <a:sym typeface="+mn-ea"/>
              </a:rPr>
              <a:t>2 </a:t>
            </a:r>
            <a:r>
              <a:rPr lang="zh-CN" altLang="en-US" sz="2200" dirty="0">
                <a:solidFill>
                  <a:srgbClr val="660033"/>
                </a:solidFill>
                <a:latin typeface="黑体" panose="02010609060101010101" pitchFamily="49" charset="-122"/>
                <a:ea typeface="黑体" panose="02010609060101010101" pitchFamily="49" charset="-122"/>
                <a:sym typeface="+mn-ea"/>
              </a:rPr>
              <a:t>罗盘仪构造</a:t>
            </a:r>
            <a:endParaRPr lang="zh-CN" altLang="en-US" sz="2200" dirty="0">
              <a:solidFill>
                <a:srgbClr val="660033"/>
              </a:solidFill>
              <a:latin typeface="黑体" panose="02010609060101010101" pitchFamily="49" charset="-122"/>
              <a:ea typeface="黑体" panose="02010609060101010101" pitchFamily="49" charset="-122"/>
            </a:endParaRPr>
          </a:p>
        </p:txBody>
      </p:sp>
      <p:sp>
        <p:nvSpPr>
          <p:cNvPr id="9" name="Rectangle 4"/>
          <p:cNvSpPr txBox="1">
            <a:spLocks noChangeArrowheads="1"/>
          </p:cNvSpPr>
          <p:nvPr/>
        </p:nvSpPr>
        <p:spPr bwMode="auto">
          <a:xfrm>
            <a:off x="620395" y="1978025"/>
            <a:ext cx="3667760" cy="188531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40000"/>
              </a:lnSpc>
              <a:buFontTx/>
              <a:buNone/>
            </a:pPr>
            <a:r>
              <a:rPr lang="zh-CN" altLang="en-US" sz="2800" dirty="0">
                <a:solidFill>
                  <a:srgbClr val="660033"/>
                </a:solidFill>
                <a:latin typeface="黑体" panose="02010609060101010101" pitchFamily="49" charset="-122"/>
                <a:ea typeface="黑体" panose="02010609060101010101" pitchFamily="49" charset="-122"/>
              </a:rPr>
              <a:t>  </a:t>
            </a:r>
            <a:r>
              <a:rPr lang="zh-CN" altLang="en-US" sz="2000" dirty="0">
                <a:solidFill>
                  <a:srgbClr val="660033"/>
                </a:solidFill>
                <a:latin typeface="黑体" panose="02010609060101010101" pitchFamily="49" charset="-122"/>
                <a:ea typeface="黑体" panose="02010609060101010101" pitchFamily="49" charset="-122"/>
              </a:rPr>
              <a:t> </a:t>
            </a:r>
            <a:r>
              <a:rPr lang="zh-CN" altLang="en-US" sz="2000" dirty="0">
                <a:ea typeface="宋体" panose="02010600030101010101" pitchFamily="2" charset="-122"/>
              </a:rPr>
              <a:t>由</a:t>
            </a:r>
            <a:r>
              <a:rPr lang="zh-CN" altLang="en-US" sz="2000" dirty="0">
                <a:solidFill>
                  <a:srgbClr val="FF0000"/>
                </a:solidFill>
                <a:ea typeface="宋体" panose="02010600030101010101" pitchFamily="2" charset="-122"/>
              </a:rPr>
              <a:t>磁针</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刻度盘</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瞄准砧板</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水准器</a:t>
            </a:r>
            <a:r>
              <a:rPr lang="zh-CN" altLang="en-US" sz="2000" dirty="0">
                <a:ea typeface="宋体" panose="02010600030101010101" pitchFamily="2" charset="-122"/>
              </a:rPr>
              <a:t>等几部分安装在一个铜、铝或木制的圆盆内</a:t>
            </a:r>
            <a:endParaRPr lang="zh-CN" altLang="en-US" sz="2000" dirty="0">
              <a:ea typeface="宋体" panose="02010600030101010101" pitchFamily="2" charset="-122"/>
            </a:endParaRPr>
          </a:p>
        </p:txBody>
      </p:sp>
      <p:pic>
        <p:nvPicPr>
          <p:cNvPr id="10" name="Picture 5" descr="3"/>
          <p:cNvPicPr>
            <a:picLocks noChangeAspect="1" noChangeArrowheads="1"/>
          </p:cNvPicPr>
          <p:nvPr/>
        </p:nvPicPr>
        <p:blipFill>
          <a:blip r:embed="rId2">
            <a:extLst>
              <a:ext uri="{28A0092B-C50C-407E-A947-70E740481C1C}">
                <a14:useLocalDpi xmlns:a14="http://schemas.microsoft.com/office/drawing/2010/main" val="0"/>
              </a:ext>
            </a:extLst>
          </a:blip>
          <a:srcRect l="17273" t="12862" r="51312" b="40173"/>
          <a:stretch>
            <a:fillRect/>
          </a:stretch>
        </p:blipFill>
        <p:spPr bwMode="auto">
          <a:xfrm>
            <a:off x="4868545" y="1689735"/>
            <a:ext cx="3821430" cy="228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445829" y="957495"/>
            <a:ext cx="1974538" cy="353219"/>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defTabSz="719455" rtl="0" eaLnBrk="1" latinLnBrk="0" hangingPunct="1">
              <a:lnSpc>
                <a:spcPct val="90000"/>
              </a:lnSpc>
              <a:spcBef>
                <a:spcPct val="0"/>
              </a:spcBef>
              <a:buNone/>
              <a:defRPr sz="3460" kern="1200">
                <a:solidFill>
                  <a:schemeClr val="tx1"/>
                </a:solidFill>
                <a:latin typeface="+mj-lt"/>
                <a:ea typeface="+mj-ea"/>
                <a:cs typeface="+mj-cs"/>
              </a:defRPr>
            </a:lvl1pPr>
          </a:lstStyle>
          <a:p>
            <a:r>
              <a:rPr kumimoji="1" lang="en-US" altLang="zh-CN" sz="2400" b="1" dirty="0">
                <a:solidFill>
                  <a:srgbClr val="000099"/>
                </a:solidFill>
                <a:latin typeface="黑体" panose="02010609060101010101" pitchFamily="49" charset="-122"/>
                <a:ea typeface="黑体" panose="02010609060101010101" pitchFamily="49" charset="-122"/>
              </a:rPr>
              <a:t>3.5 </a:t>
            </a:r>
            <a:r>
              <a:rPr kumimoji="1" lang="zh-CN" altLang="en-US" sz="2400" b="1" dirty="0">
                <a:solidFill>
                  <a:srgbClr val="000099"/>
                </a:solidFill>
                <a:latin typeface="黑体" panose="02010609060101010101" pitchFamily="49" charset="-122"/>
                <a:ea typeface="黑体" panose="02010609060101010101" pitchFamily="49" charset="-122"/>
              </a:rPr>
              <a:t>地阻仪</a:t>
            </a:r>
            <a:endParaRPr kumimoji="1" lang="zh-CN" altLang="en-US" sz="2400" b="1" dirty="0">
              <a:solidFill>
                <a:srgbClr val="000099"/>
              </a:solidFill>
              <a:latin typeface="黑体" panose="02010609060101010101" pitchFamily="49" charset="-122"/>
              <a:ea typeface="黑体" panose="02010609060101010101" pitchFamily="49" charset="-122"/>
            </a:endParaRPr>
          </a:p>
        </p:txBody>
      </p:sp>
      <p:sp>
        <p:nvSpPr>
          <p:cNvPr id="7" name="Text Box 5"/>
          <p:cNvSpPr txBox="1">
            <a:spLocks noChangeArrowheads="1"/>
          </p:cNvSpPr>
          <p:nvPr/>
        </p:nvSpPr>
        <p:spPr bwMode="auto">
          <a:xfrm>
            <a:off x="468630" y="1428750"/>
            <a:ext cx="278257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spcBef>
                <a:spcPct val="50000"/>
              </a:spcBef>
            </a:pPr>
            <a:r>
              <a:rPr lang="en-US" altLang="zh-CN" sz="2200" dirty="0">
                <a:solidFill>
                  <a:srgbClr val="660033"/>
                </a:solidFill>
                <a:latin typeface="黑体" panose="02010609060101010101" pitchFamily="49" charset="-122"/>
                <a:ea typeface="黑体" panose="02010609060101010101" pitchFamily="49" charset="-122"/>
              </a:rPr>
              <a:t>1 </a:t>
            </a:r>
            <a:r>
              <a:rPr lang="zh-CN" altLang="en-US" sz="2200" dirty="0">
                <a:solidFill>
                  <a:srgbClr val="660033"/>
                </a:solidFill>
                <a:latin typeface="黑体" panose="02010609060101010101" pitchFamily="49" charset="-122"/>
                <a:ea typeface="黑体" panose="02010609060101010101" pitchFamily="49" charset="-122"/>
              </a:rPr>
              <a:t>什么是接地电阻</a:t>
            </a:r>
            <a:endParaRPr lang="zh-CN" altLang="en-US" sz="2200" dirty="0">
              <a:solidFill>
                <a:srgbClr val="660033"/>
              </a:solidFill>
              <a:latin typeface="黑体" panose="02010609060101010101" pitchFamily="49" charset="-122"/>
              <a:ea typeface="黑体" panose="02010609060101010101" pitchFamily="49" charset="-122"/>
            </a:endParaRPr>
          </a:p>
        </p:txBody>
      </p:sp>
      <p:sp>
        <p:nvSpPr>
          <p:cNvPr id="8" name="Rectangle 3"/>
          <p:cNvSpPr txBox="1">
            <a:spLocks noChangeArrowheads="1"/>
          </p:cNvSpPr>
          <p:nvPr/>
        </p:nvSpPr>
        <p:spPr bwMode="auto">
          <a:xfrm>
            <a:off x="468630" y="1772920"/>
            <a:ext cx="8229600" cy="286639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lnSpc>
                <a:spcPct val="130000"/>
              </a:lnSpc>
              <a:buFontTx/>
              <a:buNone/>
            </a:pPr>
            <a:r>
              <a:rPr lang="zh-CN" altLang="en-US" sz="2000" dirty="0">
                <a:ea typeface="宋体" panose="02010600030101010101" pitchFamily="2" charset="-122"/>
              </a:rPr>
              <a:t>          接地电阻就是电流由接地装置流入大地再经大地流向另一接地体或向远处扩散所遇到的电阻，它包括：</a:t>
            </a:r>
            <a:endParaRPr lang="zh-CN" altLang="en-US" sz="2000" dirty="0">
              <a:ea typeface="宋体" panose="02010600030101010101" pitchFamily="2" charset="-122"/>
            </a:endParaRPr>
          </a:p>
          <a:p>
            <a:pPr>
              <a:lnSpc>
                <a:spcPct val="130000"/>
              </a:lnSpc>
              <a:buFontTx/>
              <a:buNone/>
            </a:pPr>
            <a:r>
              <a:rPr lang="zh-CN" altLang="en-US" sz="2000" dirty="0">
                <a:ea typeface="宋体" panose="02010600030101010101" pitchFamily="2" charset="-122"/>
              </a:rPr>
              <a:t>（</a:t>
            </a:r>
            <a:r>
              <a:rPr lang="en-US" altLang="zh-CN" sz="2000" dirty="0">
                <a:ea typeface="宋体" panose="02010600030101010101" pitchFamily="2" charset="-122"/>
              </a:rPr>
              <a:t>1</a:t>
            </a:r>
            <a:r>
              <a:rPr lang="zh-CN" altLang="en-US" sz="2000" dirty="0">
                <a:ea typeface="宋体" panose="02010600030101010101" pitchFamily="2" charset="-122"/>
              </a:rPr>
              <a:t>）</a:t>
            </a:r>
            <a:r>
              <a:rPr lang="zh-CN" altLang="en-US" sz="2000" dirty="0">
                <a:solidFill>
                  <a:srgbClr val="FF0000"/>
                </a:solidFill>
                <a:ea typeface="宋体" panose="02010600030101010101" pitchFamily="2" charset="-122"/>
              </a:rPr>
              <a:t>土壤电阻</a:t>
            </a:r>
            <a:endParaRPr lang="zh-CN" altLang="en-US" sz="2000" dirty="0">
              <a:ea typeface="宋体" panose="02010600030101010101" pitchFamily="2" charset="-122"/>
            </a:endParaRPr>
          </a:p>
          <a:p>
            <a:pPr>
              <a:lnSpc>
                <a:spcPct val="130000"/>
              </a:lnSpc>
              <a:buFontTx/>
              <a:buNone/>
            </a:pPr>
            <a:r>
              <a:rPr lang="zh-CN" altLang="en-US" sz="2000" dirty="0">
                <a:ea typeface="宋体" panose="02010600030101010101" pitchFamily="2" charset="-122"/>
              </a:rPr>
              <a:t>（</a:t>
            </a:r>
            <a:r>
              <a:rPr lang="en-US" altLang="zh-CN" sz="2000" dirty="0">
                <a:ea typeface="宋体" panose="02010600030101010101" pitchFamily="2" charset="-122"/>
              </a:rPr>
              <a:t>2</a:t>
            </a:r>
            <a:r>
              <a:rPr lang="zh-CN" altLang="en-US" sz="2000" dirty="0">
                <a:ea typeface="宋体" panose="02010600030101010101" pitchFamily="2" charset="-122"/>
              </a:rPr>
              <a:t>）土壤电阻和接地体之间的</a:t>
            </a:r>
            <a:r>
              <a:rPr lang="zh-CN" altLang="en-US" sz="2000" dirty="0">
                <a:solidFill>
                  <a:srgbClr val="FF0000"/>
                </a:solidFill>
                <a:ea typeface="宋体" panose="02010600030101010101" pitchFamily="2" charset="-122"/>
              </a:rPr>
              <a:t>接触电阻</a:t>
            </a:r>
            <a:endParaRPr lang="zh-CN" altLang="en-US" sz="2000" dirty="0">
              <a:ea typeface="宋体" panose="02010600030101010101" pitchFamily="2" charset="-122"/>
            </a:endParaRPr>
          </a:p>
          <a:p>
            <a:pPr>
              <a:lnSpc>
                <a:spcPct val="130000"/>
              </a:lnSpc>
              <a:buFontTx/>
              <a:buNone/>
            </a:pPr>
            <a:r>
              <a:rPr lang="zh-CN" altLang="en-US" sz="2000" dirty="0">
                <a:ea typeface="宋体" panose="02010600030101010101" pitchFamily="2" charset="-122"/>
              </a:rPr>
              <a:t>（</a:t>
            </a:r>
            <a:r>
              <a:rPr lang="en-US" altLang="zh-CN" sz="2000" dirty="0">
                <a:ea typeface="宋体" panose="02010600030101010101" pitchFamily="2" charset="-122"/>
              </a:rPr>
              <a:t>3</a:t>
            </a:r>
            <a:r>
              <a:rPr lang="zh-CN" altLang="en-US" sz="2000" dirty="0">
                <a:ea typeface="宋体" panose="02010600030101010101" pitchFamily="2" charset="-122"/>
              </a:rPr>
              <a:t>）接地体</a:t>
            </a:r>
            <a:r>
              <a:rPr lang="zh-CN" altLang="en-US" sz="2000" dirty="0">
                <a:solidFill>
                  <a:srgbClr val="FF0000"/>
                </a:solidFill>
                <a:ea typeface="宋体" panose="02010600030101010101" pitchFamily="2" charset="-122"/>
              </a:rPr>
              <a:t>本身的电阻</a:t>
            </a:r>
            <a:endParaRPr lang="zh-CN" altLang="en-US" sz="2000" dirty="0">
              <a:ea typeface="宋体" panose="02010600030101010101" pitchFamily="2" charset="-122"/>
            </a:endParaRPr>
          </a:p>
          <a:p>
            <a:pPr>
              <a:lnSpc>
                <a:spcPct val="130000"/>
              </a:lnSpc>
              <a:buFontTx/>
              <a:buNone/>
            </a:pPr>
            <a:r>
              <a:rPr lang="zh-CN" altLang="en-US" sz="2000" dirty="0">
                <a:ea typeface="宋体" panose="02010600030101010101" pitchFamily="2" charset="-122"/>
              </a:rPr>
              <a:t>（</a:t>
            </a:r>
            <a:r>
              <a:rPr lang="en-US" altLang="zh-CN" sz="2000" dirty="0">
                <a:ea typeface="宋体" panose="02010600030101010101" pitchFamily="2" charset="-122"/>
              </a:rPr>
              <a:t>4</a:t>
            </a:r>
            <a:r>
              <a:rPr lang="zh-CN" altLang="en-US" sz="2000" dirty="0">
                <a:ea typeface="宋体" panose="02010600030101010101" pitchFamily="2" charset="-122"/>
              </a:rPr>
              <a:t>）接地引入地线、地线盘或接地汇流排、接地汇集线和接地线的电阻</a:t>
            </a:r>
            <a:endParaRPr lang="zh-CN" altLang="en-US" sz="2000" dirty="0">
              <a:ea typeface="宋体" panose="02010600030101010101" pitchFamily="2" charset="-122"/>
            </a:endParaRPr>
          </a:p>
        </p:txBody>
      </p:sp>
      <p:sp>
        <p:nvSpPr>
          <p:cNvPr id="9" name="Text Box 6"/>
          <p:cNvSpPr txBox="1">
            <a:spLocks noChangeArrowheads="1"/>
          </p:cNvSpPr>
          <p:nvPr/>
        </p:nvSpPr>
        <p:spPr bwMode="auto">
          <a:xfrm>
            <a:off x="1916189" y="4642720"/>
            <a:ext cx="5003974"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nSpc>
                <a:spcPct val="130000"/>
              </a:lnSpc>
              <a:spcBef>
                <a:spcPct val="20000"/>
              </a:spcBef>
            </a:pPr>
            <a:r>
              <a:rPr lang="zh-CN" altLang="en-US" dirty="0">
                <a:solidFill>
                  <a:srgbClr val="CC00FF"/>
                </a:solidFill>
                <a:ea typeface="宋体" panose="02010600030101010101" pitchFamily="2" charset="-122"/>
              </a:rPr>
              <a:t>影响接地电阻的主要因素是土壤电阻</a:t>
            </a:r>
            <a:endParaRPr lang="zh-CN" altLang="en-US" dirty="0">
              <a:solidFill>
                <a:srgbClr val="CC00FF"/>
              </a:solidFill>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360"/>
                                          </p:val>
                                        </p:tav>
                                        <p:tav tm="100000">
                                          <p:val>
                                            <p:fltVal val="0"/>
                                          </p:val>
                                        </p:tav>
                                      </p:tavLst>
                                    </p:anim>
                                    <p:animEffect transition="in" filter="fade">
                                      <p:cBhvr>
                                        <p:cTn id="10" dur="1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1000"/>
                                        <p:tgtEl>
                                          <p:spTgt spid="8">
                                            <p:txEl>
                                              <p:pRg st="0" end="0"/>
                                            </p:txEl>
                                          </p:spTgt>
                                        </p:tgtEl>
                                      </p:cBhvr>
                                    </p:animEffect>
                                    <p:anim calcmode="lin" valueType="num">
                                      <p:cBhvr>
                                        <p:cTn id="1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47" presetClass="entr" presetSubtype="0" fill="hold" grpId="0" nodeType="after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1000"/>
                                        <p:tgtEl>
                                          <p:spTgt spid="8">
                                            <p:txEl>
                                              <p:pRg st="1" end="1"/>
                                            </p:txEl>
                                          </p:spTgt>
                                        </p:tgtEl>
                                      </p:cBhvr>
                                    </p:animEffect>
                                    <p:anim calcmode="lin" valueType="num">
                                      <p:cBhvr>
                                        <p:cTn id="22"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47" presetClass="entr" presetSubtype="0" fill="hold" grpId="0" nodeType="after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animEffect transition="in" filter="fade">
                                      <p:cBhvr>
                                        <p:cTn id="27" dur="1000"/>
                                        <p:tgtEl>
                                          <p:spTgt spid="8">
                                            <p:txEl>
                                              <p:pRg st="2" end="2"/>
                                            </p:txEl>
                                          </p:spTgt>
                                        </p:tgtEl>
                                      </p:cBhvr>
                                    </p:animEffect>
                                    <p:anim calcmode="lin" valueType="num">
                                      <p:cBhvr>
                                        <p:cTn id="2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par>
                          <p:cTn id="30" fill="hold">
                            <p:stCondLst>
                              <p:cond delay="3000"/>
                            </p:stCondLst>
                            <p:childTnLst>
                              <p:par>
                                <p:cTn id="31" presetID="47" presetClass="entr" presetSubtype="0" fill="hold" grpId="0" nodeType="after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animEffect transition="in" filter="fade">
                                      <p:cBhvr>
                                        <p:cTn id="33" dur="1000"/>
                                        <p:tgtEl>
                                          <p:spTgt spid="8">
                                            <p:txEl>
                                              <p:pRg st="3" end="3"/>
                                            </p:txEl>
                                          </p:spTgt>
                                        </p:tgtEl>
                                      </p:cBhvr>
                                    </p:animEffect>
                                    <p:anim calcmode="lin" valueType="num">
                                      <p:cBhvr>
                                        <p:cTn id="34"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par>
                          <p:cTn id="36" fill="hold">
                            <p:stCondLst>
                              <p:cond delay="4000"/>
                            </p:stCondLst>
                            <p:childTnLst>
                              <p:par>
                                <p:cTn id="37" presetID="47" presetClass="entr" presetSubtype="0" fill="hold" grpId="0" nodeType="afterEffect">
                                  <p:stCondLst>
                                    <p:cond delay="0"/>
                                  </p:stCondLst>
                                  <p:childTnLst>
                                    <p:set>
                                      <p:cBhvr>
                                        <p:cTn id="38" dur="1" fill="hold">
                                          <p:stCondLst>
                                            <p:cond delay="0"/>
                                          </p:stCondLst>
                                        </p:cTn>
                                        <p:tgtEl>
                                          <p:spTgt spid="8">
                                            <p:txEl>
                                              <p:pRg st="4" end="4"/>
                                            </p:txEl>
                                          </p:spTgt>
                                        </p:tgtEl>
                                        <p:attrNameLst>
                                          <p:attrName>style.visibility</p:attrName>
                                        </p:attrNameLst>
                                      </p:cBhvr>
                                      <p:to>
                                        <p:strVal val="visible"/>
                                      </p:to>
                                    </p:set>
                                    <p:animEffect transition="in" filter="fade">
                                      <p:cBhvr>
                                        <p:cTn id="39" dur="1000"/>
                                        <p:tgtEl>
                                          <p:spTgt spid="8">
                                            <p:txEl>
                                              <p:pRg st="4" end="4"/>
                                            </p:txEl>
                                          </p:spTgt>
                                        </p:tgtEl>
                                      </p:cBhvr>
                                    </p:animEffect>
                                    <p:anim calcmode="lin" valueType="num">
                                      <p:cBhvr>
                                        <p:cTn id="4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982345"/>
            <a:ext cx="8229600" cy="325628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2 </a:t>
            </a:r>
            <a:r>
              <a:rPr lang="zh-CN" altLang="en-US" sz="2200" b="1" dirty="0">
                <a:solidFill>
                  <a:srgbClr val="660033"/>
                </a:solidFill>
                <a:latin typeface="黑体" panose="02010609060101010101" pitchFamily="49" charset="-122"/>
                <a:ea typeface="黑体" panose="02010609060101010101" pitchFamily="49" charset="-122"/>
              </a:rPr>
              <a:t>接地电阻测量的必要性</a:t>
            </a:r>
            <a:r>
              <a:rPr lang="zh-CN" altLang="en-US" sz="2200" b="1" dirty="0">
                <a:ea typeface="宋体" panose="02010600030101010101" pitchFamily="2" charset="-122"/>
              </a:rPr>
              <a:t> </a:t>
            </a:r>
            <a:endParaRPr lang="zh-CN" altLang="en-US" sz="2200" b="1" dirty="0">
              <a:ea typeface="宋体" panose="02010600030101010101" pitchFamily="2" charset="-122"/>
            </a:endParaRPr>
          </a:p>
          <a:p>
            <a:pPr>
              <a:lnSpc>
                <a:spcPct val="140000"/>
              </a:lnSpc>
              <a:spcBef>
                <a:spcPct val="40000"/>
              </a:spcBef>
              <a:buFontTx/>
              <a:buNone/>
            </a:pPr>
            <a:r>
              <a:rPr lang="zh-CN" altLang="en-US" sz="2000" dirty="0">
                <a:ea typeface="宋体" panose="02010600030101010101" pitchFamily="2" charset="-122"/>
              </a:rPr>
              <a:t>⑴ 接地电阻的大小直接体现了</a:t>
            </a:r>
            <a:r>
              <a:rPr lang="zh-CN" altLang="en-US" sz="2000" dirty="0">
                <a:solidFill>
                  <a:srgbClr val="FF0000"/>
                </a:solidFill>
                <a:ea typeface="宋体" panose="02010600030101010101" pitchFamily="2" charset="-122"/>
              </a:rPr>
              <a:t>通信设备与“地”接触的良好程度</a:t>
            </a:r>
            <a:r>
              <a:rPr lang="zh-CN" altLang="en-US" sz="2000" dirty="0">
                <a:ea typeface="宋体" panose="02010600030101010101" pitchFamily="2" charset="-122"/>
              </a:rPr>
              <a:t>，也反映了</a:t>
            </a:r>
            <a:r>
              <a:rPr lang="zh-CN" altLang="en-US" sz="2000" dirty="0">
                <a:solidFill>
                  <a:srgbClr val="FF0000"/>
                </a:solidFill>
                <a:ea typeface="宋体" panose="02010600030101010101" pitchFamily="2" charset="-122"/>
              </a:rPr>
              <a:t>接地网的规模</a:t>
            </a:r>
            <a:endParaRPr lang="zh-CN" altLang="en-US" sz="2000" dirty="0">
              <a:ea typeface="宋体" panose="02010600030101010101" pitchFamily="2" charset="-122"/>
            </a:endParaRPr>
          </a:p>
          <a:p>
            <a:pPr>
              <a:lnSpc>
                <a:spcPct val="140000"/>
              </a:lnSpc>
              <a:spcBef>
                <a:spcPct val="40000"/>
              </a:spcBef>
              <a:buFontTx/>
              <a:buNone/>
            </a:pPr>
            <a:r>
              <a:rPr lang="zh-CN" altLang="en-US" sz="2000" dirty="0">
                <a:ea typeface="宋体" panose="02010600030101010101" pitchFamily="2" charset="-122"/>
              </a:rPr>
              <a:t>⑵ 通过测量通信局（站）、通信线路的接地电阻值，可以用来判断设计的</a:t>
            </a:r>
            <a:r>
              <a:rPr lang="zh-CN" altLang="en-US" sz="2000" dirty="0">
                <a:solidFill>
                  <a:srgbClr val="FF0000"/>
                </a:solidFill>
                <a:ea typeface="宋体" panose="02010600030101010101" pitchFamily="2" charset="-122"/>
              </a:rPr>
              <a:t>接地系统</a:t>
            </a:r>
            <a:r>
              <a:rPr lang="zh-CN" altLang="en-US" sz="2000" dirty="0">
                <a:ea typeface="宋体" panose="02010600030101010101" pitchFamily="2" charset="-122"/>
              </a:rPr>
              <a:t>是否符合标准要求，是否对</a:t>
            </a:r>
            <a:r>
              <a:rPr lang="zh-CN" altLang="en-US" sz="2000" dirty="0">
                <a:solidFill>
                  <a:srgbClr val="FF0000"/>
                </a:solidFill>
                <a:ea typeface="宋体" panose="02010600030101010101" pitchFamily="2" charset="-122"/>
              </a:rPr>
              <a:t>通信设备</a:t>
            </a:r>
            <a:r>
              <a:rPr lang="zh-CN" altLang="en-US" sz="2000" dirty="0">
                <a:ea typeface="宋体" panose="02010600030101010101" pitchFamily="2" charset="-122"/>
              </a:rPr>
              <a:t>和</a:t>
            </a:r>
            <a:r>
              <a:rPr lang="zh-CN" altLang="en-US" sz="2000" dirty="0">
                <a:solidFill>
                  <a:srgbClr val="FF0000"/>
                </a:solidFill>
                <a:ea typeface="宋体" panose="02010600030101010101" pitchFamily="2" charset="-122"/>
              </a:rPr>
              <a:t>电源系统</a:t>
            </a:r>
            <a:r>
              <a:rPr lang="zh-CN" altLang="en-US" sz="2000" dirty="0">
                <a:ea typeface="宋体" panose="02010600030101010101" pitchFamily="2" charset="-122"/>
              </a:rPr>
              <a:t>的正常运行以及工作人员的人身安全和设备安全起到保护作用</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905510"/>
            <a:ext cx="3129280" cy="43180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3 </a:t>
            </a:r>
            <a:r>
              <a:rPr lang="zh-CN" altLang="en-US" sz="2200" b="1" dirty="0">
                <a:solidFill>
                  <a:srgbClr val="660033"/>
                </a:solidFill>
                <a:latin typeface="黑体" panose="02010609060101010101" pitchFamily="49" charset="-122"/>
                <a:ea typeface="黑体" panose="02010609060101010101" pitchFamily="49" charset="-122"/>
              </a:rPr>
              <a:t>接地电阻测量仪介绍</a:t>
            </a:r>
            <a:endParaRPr lang="zh-CN" altLang="en-US" sz="2200" b="1" dirty="0">
              <a:solidFill>
                <a:srgbClr val="660033"/>
              </a:solidFill>
              <a:latin typeface="黑体" panose="02010609060101010101" pitchFamily="49" charset="-122"/>
              <a:ea typeface="黑体" panose="02010609060101010101" pitchFamily="49" charset="-122"/>
            </a:endParaRP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2416" y="1310714"/>
            <a:ext cx="3295083" cy="295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8"/>
          <p:cNvSpPr>
            <a:spLocks noChangeArrowheads="1"/>
          </p:cNvSpPr>
          <p:nvPr/>
        </p:nvSpPr>
        <p:spPr bwMode="auto">
          <a:xfrm>
            <a:off x="5722246" y="1534823"/>
            <a:ext cx="2232025" cy="431800"/>
          </a:xfrm>
          <a:prstGeom prst="wedgeRoundRectCallout">
            <a:avLst>
              <a:gd name="adj1" fmla="val -64866"/>
              <a:gd name="adj2" fmla="val 201838"/>
              <a:gd name="adj3" fmla="val 16667"/>
            </a:avLst>
          </a:prstGeom>
          <a:noFill/>
          <a:ln w="9525">
            <a:solidFill>
              <a:srgbClr val="333333"/>
            </a:solidFill>
            <a:miter lim="800000"/>
          </a:ln>
          <a:extLst>
            <a:ext uri="{909E8E84-426E-40DD-AFC4-6F175D3DCCD1}">
              <a14:hiddenFill xmlns:a14="http://schemas.microsoft.com/office/drawing/2010/main">
                <a:solidFill>
                  <a:srgbClr val="FFFFFF"/>
                </a:solidFill>
              </a14:hiddenFill>
            </a:ext>
          </a:extLst>
        </p:spPr>
        <p:txBody>
          <a:bodyPr/>
          <a:lstStyle>
            <a:lvl1pPr marL="609600" indent="-609600">
              <a:defRPr sz="2000" b="1">
                <a:solidFill>
                  <a:schemeClr val="bg1"/>
                </a:solidFill>
                <a:latin typeface="Arial" panose="020B0604020202020204" pitchFamily="34" charset="0"/>
                <a:ea typeface="华文行楷" panose="02010800040101010101" pitchFamily="2" charset="-122"/>
              </a:defRPr>
            </a:lvl1pPr>
            <a:lvl2pPr marL="1066800" indent="-609600">
              <a:defRPr sz="2000" b="1">
                <a:solidFill>
                  <a:schemeClr val="bg1"/>
                </a:solidFill>
                <a:latin typeface="Arial" panose="020B0604020202020204" pitchFamily="34" charset="0"/>
                <a:ea typeface="华文行楷" panose="02010800040101010101" pitchFamily="2" charset="-122"/>
              </a:defRPr>
            </a:lvl2pPr>
            <a:lvl3pPr marL="1524000" indent="-609600">
              <a:defRPr sz="2000" b="1">
                <a:solidFill>
                  <a:schemeClr val="bg1"/>
                </a:solidFill>
                <a:latin typeface="Arial" panose="020B0604020202020204" pitchFamily="34" charset="0"/>
                <a:ea typeface="华文行楷" panose="02010800040101010101" pitchFamily="2" charset="-122"/>
              </a:defRPr>
            </a:lvl3pPr>
            <a:lvl4pPr marL="1981200" indent="-609600">
              <a:defRPr sz="2000" b="1">
                <a:solidFill>
                  <a:schemeClr val="bg1"/>
                </a:solidFill>
                <a:latin typeface="Arial" panose="020B0604020202020204" pitchFamily="34" charset="0"/>
                <a:ea typeface="华文行楷" panose="02010800040101010101" pitchFamily="2" charset="-122"/>
              </a:defRPr>
            </a:lvl4pPr>
            <a:lvl5pPr marL="2438400" indent="-609600">
              <a:defRPr sz="2000" b="1">
                <a:solidFill>
                  <a:schemeClr val="bg1"/>
                </a:solidFill>
                <a:latin typeface="Arial" panose="020B0604020202020204" pitchFamily="34" charset="0"/>
                <a:ea typeface="华文行楷" panose="02010800040101010101" pitchFamily="2" charset="-122"/>
              </a:defRPr>
            </a:lvl5pPr>
            <a:lvl6pPr marL="2895600" indent="-609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3352800" indent="-609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810000" indent="-609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4267200" indent="-609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spcBef>
                <a:spcPct val="50000"/>
              </a:spcBef>
            </a:pPr>
            <a:r>
              <a:rPr lang="zh-CN" altLang="en-US" sz="2400">
                <a:solidFill>
                  <a:srgbClr val="CC00FF"/>
                </a:solidFill>
              </a:rPr>
              <a:t>手摇发电机</a:t>
            </a:r>
            <a:endParaRPr lang="zh-CN" altLang="en-US" sz="2400">
              <a:solidFill>
                <a:srgbClr val="CC00FF"/>
              </a:solidFill>
            </a:endParaRPr>
          </a:p>
        </p:txBody>
      </p:sp>
      <p:sp>
        <p:nvSpPr>
          <p:cNvPr id="9" name="AutoShape 10"/>
          <p:cNvSpPr>
            <a:spLocks noChangeArrowheads="1"/>
          </p:cNvSpPr>
          <p:nvPr/>
        </p:nvSpPr>
        <p:spPr bwMode="auto">
          <a:xfrm>
            <a:off x="5733305" y="2783525"/>
            <a:ext cx="2303463" cy="503237"/>
          </a:xfrm>
          <a:prstGeom prst="wedgeRoundRectCallout">
            <a:avLst>
              <a:gd name="adj1" fmla="val -81218"/>
              <a:gd name="adj2" fmla="val 127287"/>
              <a:gd name="adj3" fmla="val 16667"/>
            </a:avLst>
          </a:prstGeom>
          <a:noFill/>
          <a:ln w="9525">
            <a:solidFill>
              <a:srgbClr val="333333"/>
            </a:solidFill>
            <a:miter lim="800000"/>
          </a:ln>
          <a:extLst>
            <a:ext uri="{909E8E84-426E-40DD-AFC4-6F175D3DCCD1}">
              <a14:hiddenFill xmlns:a14="http://schemas.microsoft.com/office/drawing/2010/main">
                <a:solidFill>
                  <a:srgbClr val="FFFFFF"/>
                </a:solidFill>
              </a14:hiddenFill>
            </a:ext>
          </a:extLst>
        </p:spPr>
        <p:txBody>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algn="ctr" eaLnBrk="1" hangingPunct="1">
              <a:spcBef>
                <a:spcPct val="50000"/>
              </a:spcBef>
            </a:pPr>
            <a:r>
              <a:rPr lang="zh-CN" altLang="en-US" sz="2400">
                <a:solidFill>
                  <a:srgbClr val="CC00FF"/>
                </a:solidFill>
              </a:rPr>
              <a:t>检流计</a:t>
            </a:r>
            <a:endParaRPr lang="zh-CN" altLang="en-US" sz="2400">
              <a:solidFill>
                <a:srgbClr val="CC00FF"/>
              </a:solidFill>
            </a:endParaRPr>
          </a:p>
        </p:txBody>
      </p:sp>
      <p:sp>
        <p:nvSpPr>
          <p:cNvPr id="10" name="AutoShape 19"/>
          <p:cNvSpPr>
            <a:spLocks noChangeArrowheads="1"/>
          </p:cNvSpPr>
          <p:nvPr/>
        </p:nvSpPr>
        <p:spPr bwMode="auto">
          <a:xfrm>
            <a:off x="4508549" y="4734676"/>
            <a:ext cx="2376487" cy="471298"/>
          </a:xfrm>
          <a:prstGeom prst="wedgeRoundRectCallout">
            <a:avLst>
              <a:gd name="adj1" fmla="val -48104"/>
              <a:gd name="adj2" fmla="val -297375"/>
              <a:gd name="adj3" fmla="val 16667"/>
            </a:avLst>
          </a:prstGeom>
          <a:noFill/>
          <a:ln w="9525">
            <a:solidFill>
              <a:srgbClr val="333333"/>
            </a:solidFill>
            <a:miter lim="800000"/>
          </a:ln>
          <a:extLst>
            <a:ext uri="{909E8E84-426E-40DD-AFC4-6F175D3DCCD1}">
              <a14:hiddenFill xmlns:a14="http://schemas.microsoft.com/office/drawing/2010/main">
                <a:solidFill>
                  <a:srgbClr val="FFFFFF"/>
                </a:solidFill>
              </a14:hiddenFill>
            </a:ext>
          </a:extLst>
        </p:spPr>
        <p:txBody>
          <a:bodyPr/>
          <a:lstStyle/>
          <a:p>
            <a:pPr algn="ctr" eaLnBrk="1" hangingPunct="1">
              <a:spcBef>
                <a:spcPct val="50000"/>
              </a:spcBef>
              <a:defRPr/>
            </a:pPr>
            <a:r>
              <a:rPr lang="zh-CN" altLang="en-US" sz="2400" dirty="0">
                <a:solidFill>
                  <a:srgbClr val="CC00FF"/>
                </a:solidFill>
              </a:rPr>
              <a:t>零位调整器</a:t>
            </a:r>
            <a:r>
              <a:rPr lang="zh-CN" altLang="en-US" dirty="0">
                <a:effectLst>
                  <a:outerShdw blurRad="38100" dist="38100" dir="2700000" algn="tl">
                    <a:srgbClr val="C0C0C0"/>
                  </a:outerShdw>
                </a:effectLst>
                <a:ea typeface="宋体" panose="02010600030101010101" pitchFamily="2" charset="-122"/>
              </a:rPr>
              <a:t> </a:t>
            </a:r>
            <a:endParaRPr lang="zh-CN" altLang="en-US" dirty="0">
              <a:effectLst>
                <a:outerShdw blurRad="38100" dist="38100" dir="2700000" algn="tl">
                  <a:srgbClr val="C0C0C0"/>
                </a:outerShdw>
              </a:effectLst>
              <a:ea typeface="宋体" panose="02010600030101010101" pitchFamily="2" charset="-122"/>
            </a:endParaRPr>
          </a:p>
        </p:txBody>
      </p:sp>
      <p:sp>
        <p:nvSpPr>
          <p:cNvPr id="11" name="AutoShape 22"/>
          <p:cNvSpPr>
            <a:spLocks noChangeArrowheads="1"/>
          </p:cNvSpPr>
          <p:nvPr/>
        </p:nvSpPr>
        <p:spPr bwMode="auto">
          <a:xfrm>
            <a:off x="1700287" y="4648123"/>
            <a:ext cx="2303463" cy="576262"/>
          </a:xfrm>
          <a:prstGeom prst="wedgeRoundRectCallout">
            <a:avLst>
              <a:gd name="adj1" fmla="val 35736"/>
              <a:gd name="adj2" fmla="val -191597"/>
              <a:gd name="adj3" fmla="val 16667"/>
            </a:avLst>
          </a:prstGeom>
          <a:noFill/>
          <a:ln w="9525">
            <a:solidFill>
              <a:srgbClr val="333333"/>
            </a:solidFill>
            <a:miter lim="800000"/>
          </a:ln>
          <a:extLst>
            <a:ext uri="{909E8E84-426E-40DD-AFC4-6F175D3DCCD1}">
              <a14:hiddenFill xmlns:a14="http://schemas.microsoft.com/office/drawing/2010/main">
                <a:solidFill>
                  <a:srgbClr val="FFFFFF"/>
                </a:solidFill>
              </a14:hiddenFill>
            </a:ext>
          </a:extLst>
        </p:spPr>
        <p:txBody>
          <a:bodyPr/>
          <a:lstStyle/>
          <a:p>
            <a:pPr algn="ctr" eaLnBrk="1" hangingPunct="1">
              <a:spcBef>
                <a:spcPct val="50000"/>
              </a:spcBef>
              <a:defRPr/>
            </a:pPr>
            <a:r>
              <a:rPr lang="zh-CN" altLang="en-US" sz="2400">
                <a:solidFill>
                  <a:srgbClr val="CC00FF"/>
                </a:solidFill>
              </a:rPr>
              <a:t>量程转换开关</a:t>
            </a:r>
            <a:r>
              <a:rPr lang="zh-CN" altLang="en-US">
                <a:effectLst>
                  <a:outerShdw blurRad="38100" dist="38100" dir="2700000" algn="tl">
                    <a:srgbClr val="C0C0C0"/>
                  </a:outerShdw>
                </a:effectLst>
                <a:ea typeface="宋体" panose="02010600030101010101" pitchFamily="2" charset="-122"/>
              </a:rPr>
              <a:t> </a:t>
            </a:r>
            <a:endParaRPr lang="zh-CN" altLang="en-US">
              <a:effectLst>
                <a:outerShdw blurRad="38100" dist="38100" dir="2700000" algn="tl">
                  <a:srgbClr val="C0C0C0"/>
                </a:outerShdw>
              </a:effectLst>
              <a:ea typeface="宋体" panose="02010600030101010101" pitchFamily="2" charset="-122"/>
            </a:endParaRPr>
          </a:p>
        </p:txBody>
      </p:sp>
      <p:sp>
        <p:nvSpPr>
          <p:cNvPr id="12" name="AutoShape 25"/>
          <p:cNvSpPr>
            <a:spLocks noChangeArrowheads="1"/>
          </p:cNvSpPr>
          <p:nvPr/>
        </p:nvSpPr>
        <p:spPr bwMode="auto">
          <a:xfrm>
            <a:off x="116111" y="3487404"/>
            <a:ext cx="2195513" cy="504825"/>
          </a:xfrm>
          <a:prstGeom prst="wedgeRoundRectCallout">
            <a:avLst>
              <a:gd name="adj1" fmla="val 64171"/>
              <a:gd name="adj2" fmla="val -157231"/>
              <a:gd name="adj3" fmla="val 16667"/>
            </a:avLst>
          </a:prstGeom>
          <a:noFill/>
          <a:ln w="9525">
            <a:solidFill>
              <a:srgbClr val="333333"/>
            </a:solidFill>
            <a:miter lim="800000"/>
          </a:ln>
          <a:extLst>
            <a:ext uri="{909E8E84-426E-40DD-AFC4-6F175D3DCCD1}">
              <a14:hiddenFill xmlns:a14="http://schemas.microsoft.com/office/drawing/2010/main">
                <a:solidFill>
                  <a:srgbClr val="FFFFFF"/>
                </a:solidFill>
              </a14:hiddenFill>
            </a:ext>
          </a:extLst>
        </p:spPr>
        <p:txBody>
          <a:bodyPr/>
          <a:lstStyle>
            <a:lvl1pPr marL="609600" indent="-609600">
              <a:defRPr sz="2000" b="1">
                <a:solidFill>
                  <a:schemeClr val="bg1"/>
                </a:solidFill>
                <a:latin typeface="Arial" panose="020B0604020202020204" pitchFamily="34" charset="0"/>
                <a:ea typeface="华文行楷" panose="02010800040101010101" pitchFamily="2" charset="-122"/>
              </a:defRPr>
            </a:lvl1pPr>
            <a:lvl2pPr marL="1066800" indent="-609600">
              <a:defRPr sz="2000" b="1">
                <a:solidFill>
                  <a:schemeClr val="bg1"/>
                </a:solidFill>
                <a:latin typeface="Arial" panose="020B0604020202020204" pitchFamily="34" charset="0"/>
                <a:ea typeface="华文行楷" panose="02010800040101010101" pitchFamily="2" charset="-122"/>
              </a:defRPr>
            </a:lvl2pPr>
            <a:lvl3pPr marL="1524000" indent="-609600">
              <a:defRPr sz="2000" b="1">
                <a:solidFill>
                  <a:schemeClr val="bg1"/>
                </a:solidFill>
                <a:latin typeface="Arial" panose="020B0604020202020204" pitchFamily="34" charset="0"/>
                <a:ea typeface="华文行楷" panose="02010800040101010101" pitchFamily="2" charset="-122"/>
              </a:defRPr>
            </a:lvl3pPr>
            <a:lvl4pPr marL="1981200" indent="-609600">
              <a:defRPr sz="2000" b="1">
                <a:solidFill>
                  <a:schemeClr val="bg1"/>
                </a:solidFill>
                <a:latin typeface="Arial" panose="020B0604020202020204" pitchFamily="34" charset="0"/>
                <a:ea typeface="华文行楷" panose="02010800040101010101" pitchFamily="2" charset="-122"/>
              </a:defRPr>
            </a:lvl4pPr>
            <a:lvl5pPr marL="2438400" indent="-609600">
              <a:defRPr sz="2000" b="1">
                <a:solidFill>
                  <a:schemeClr val="bg1"/>
                </a:solidFill>
                <a:latin typeface="Arial" panose="020B0604020202020204" pitchFamily="34" charset="0"/>
                <a:ea typeface="华文行楷" panose="02010800040101010101" pitchFamily="2" charset="-122"/>
              </a:defRPr>
            </a:lvl5pPr>
            <a:lvl6pPr marL="2895600" indent="-609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3352800" indent="-609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810000" indent="-609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4267200" indent="-609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a:solidFill>
                  <a:srgbClr val="CC00FF"/>
                </a:solidFill>
              </a:rPr>
              <a:t>电位器刻度盘</a:t>
            </a:r>
            <a:endParaRPr lang="zh-CN" altLang="en-US" sz="2400">
              <a:solidFill>
                <a:srgbClr val="CC00FF"/>
              </a:solidFill>
            </a:endParaRPr>
          </a:p>
        </p:txBody>
      </p:sp>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1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1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909320"/>
            <a:ext cx="5657215" cy="420560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en-US" altLang="zh-CN" sz="2200" b="1" dirty="0">
                <a:solidFill>
                  <a:srgbClr val="660033"/>
                </a:solidFill>
                <a:latin typeface="黑体" panose="02010609060101010101" pitchFamily="49" charset="-122"/>
                <a:ea typeface="黑体" panose="02010609060101010101" pitchFamily="49" charset="-122"/>
              </a:rPr>
              <a:t>4 </a:t>
            </a:r>
            <a:r>
              <a:rPr lang="zh-CN" altLang="en-US" sz="2200" b="1" dirty="0">
                <a:solidFill>
                  <a:srgbClr val="660033"/>
                </a:solidFill>
                <a:latin typeface="黑体" panose="02010609060101010101" pitchFamily="49" charset="-122"/>
                <a:ea typeface="黑体" panose="02010609060101010101" pitchFamily="49" charset="-122"/>
              </a:rPr>
              <a:t>测量方法</a:t>
            </a:r>
            <a:endParaRPr lang="en-US" altLang="zh-CN" sz="2200" b="1" dirty="0">
              <a:solidFill>
                <a:srgbClr val="660033"/>
              </a:solidFill>
              <a:latin typeface="黑体" panose="02010609060101010101" pitchFamily="49" charset="-122"/>
              <a:ea typeface="黑体" panose="02010609060101010101" pitchFamily="49" charset="-122"/>
            </a:endParaRPr>
          </a:p>
          <a:p>
            <a:pPr>
              <a:buFontTx/>
              <a:buNone/>
            </a:pPr>
            <a:r>
              <a:rPr lang="zh-CN" altLang="en-US" sz="2000" dirty="0">
                <a:latin typeface="宋体" panose="02010600030101010101" pitchFamily="2" charset="-122"/>
                <a:ea typeface="宋体" panose="02010600030101010101" pitchFamily="2" charset="-122"/>
              </a:rPr>
              <a:t>⑴接线端</a:t>
            </a:r>
            <a:r>
              <a:rPr lang="en-US" altLang="zh-CN" sz="2000" dirty="0">
                <a:latin typeface="宋体" panose="02010600030101010101" pitchFamily="2" charset="-122"/>
                <a:ea typeface="宋体" panose="02010600030101010101" pitchFamily="2" charset="-122"/>
              </a:rPr>
              <a:t>E</a:t>
            </a:r>
            <a:r>
              <a:rPr lang="zh-CN" altLang="en-US" sz="2000" dirty="0">
                <a:latin typeface="宋体" panose="02010600030101010101" pitchFamily="2" charset="-122"/>
                <a:ea typeface="宋体" panose="02010600030101010101" pitchFamily="2" charset="-122"/>
              </a:rPr>
              <a:t>联接接地装置</a:t>
            </a:r>
            <a:r>
              <a:rPr lang="en-US" altLang="zh-CN" sz="2000" dirty="0">
                <a:latin typeface="宋体" panose="02010600030101010101" pitchFamily="2" charset="-122"/>
                <a:ea typeface="宋体" panose="02010600030101010101" pitchFamily="2" charset="-122"/>
              </a:rPr>
              <a:t>E′</a:t>
            </a:r>
            <a:r>
              <a:rPr lang="zh-CN" altLang="en-US" sz="2000" dirty="0">
                <a:latin typeface="宋体" panose="02010600030101010101" pitchFamily="2" charset="-122"/>
                <a:ea typeface="宋体" panose="02010600030101010101" pitchFamily="2" charset="-122"/>
              </a:rPr>
              <a:t>，另外两端</a:t>
            </a:r>
            <a:r>
              <a:rPr lang="en-US" altLang="zh-CN" sz="2000" dirty="0">
                <a:latin typeface="宋体" panose="02010600030101010101" pitchFamily="2" charset="-122"/>
                <a:ea typeface="宋体" panose="02010600030101010101" pitchFamily="2" charset="-122"/>
              </a:rPr>
              <a:t>P</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C</a:t>
            </a:r>
            <a:r>
              <a:rPr lang="zh-CN" altLang="en-US" sz="2000" dirty="0">
                <a:latin typeface="宋体" panose="02010600030101010101" pitchFamily="2" charset="-122"/>
                <a:ea typeface="宋体" panose="02010600030101010101" pitchFamily="2" charset="-122"/>
              </a:rPr>
              <a:t>联接相应的电位探测极和电流探测极</a:t>
            </a:r>
            <a:endParaRPr lang="en-US" altLang="zh-CN" sz="2000" dirty="0">
              <a:latin typeface="宋体" panose="02010600030101010101" pitchFamily="2" charset="-122"/>
              <a:ea typeface="宋体" panose="02010600030101010101" pitchFamily="2" charset="-122"/>
            </a:endParaRPr>
          </a:p>
          <a:p>
            <a:pPr>
              <a:buFontTx/>
              <a:buNone/>
            </a:pPr>
            <a:r>
              <a:rPr lang="zh-CN" altLang="en-US" sz="2000" dirty="0">
                <a:latin typeface="宋体" panose="02010600030101010101" pitchFamily="2" charset="-122"/>
                <a:ea typeface="宋体" panose="02010600030101010101" pitchFamily="2" charset="-122"/>
              </a:rPr>
              <a:t>⑵沿被测地极</a:t>
            </a:r>
            <a:r>
              <a:rPr lang="en-US" altLang="zh-CN" sz="2000" dirty="0">
                <a:latin typeface="宋体" panose="02010600030101010101" pitchFamily="2" charset="-122"/>
                <a:ea typeface="宋体" panose="02010600030101010101" pitchFamily="2" charset="-122"/>
              </a:rPr>
              <a:t>E’</a:t>
            </a:r>
            <a:r>
              <a:rPr lang="zh-CN" altLang="en-US" sz="2000" dirty="0">
                <a:latin typeface="宋体" panose="02010600030101010101" pitchFamily="2" charset="-122"/>
                <a:ea typeface="宋体" panose="02010600030101010101" pitchFamily="2" charset="-122"/>
              </a:rPr>
              <a:t>使电位探针</a:t>
            </a:r>
            <a:r>
              <a:rPr lang="en-US" altLang="zh-CN" sz="2000" dirty="0">
                <a:latin typeface="宋体" panose="02010600030101010101" pitchFamily="2" charset="-122"/>
                <a:ea typeface="宋体" panose="02010600030101010101" pitchFamily="2" charset="-122"/>
              </a:rPr>
              <a:t>P‘</a:t>
            </a:r>
            <a:r>
              <a:rPr lang="zh-CN" altLang="en-US" sz="2000" dirty="0">
                <a:latin typeface="宋体" panose="02010600030101010101" pitchFamily="2" charset="-122"/>
                <a:ea typeface="宋体" panose="02010600030101010101" pitchFamily="2" charset="-122"/>
              </a:rPr>
              <a:t>和电流探针</a:t>
            </a:r>
            <a:r>
              <a:rPr lang="en-US" altLang="zh-CN" sz="2000" dirty="0">
                <a:latin typeface="宋体" panose="02010600030101010101" pitchFamily="2" charset="-122"/>
                <a:ea typeface="宋体" panose="02010600030101010101" pitchFamily="2" charset="-122"/>
              </a:rPr>
              <a:t>C’</a:t>
            </a:r>
            <a:r>
              <a:rPr lang="zh-CN" altLang="en-US" sz="2000" dirty="0">
                <a:latin typeface="宋体" panose="02010600030101010101" pitchFamily="2" charset="-122"/>
                <a:ea typeface="宋体" panose="02010600030101010101" pitchFamily="2" charset="-122"/>
              </a:rPr>
              <a:t>依直线彼此相距</a:t>
            </a:r>
            <a:r>
              <a:rPr lang="en-US" altLang="zh-CN" sz="2000" dirty="0">
                <a:latin typeface="宋体" panose="02010600030101010101" pitchFamily="2" charset="-122"/>
                <a:ea typeface="宋体" panose="02010600030101010101" pitchFamily="2" charset="-122"/>
              </a:rPr>
              <a:t>20m</a:t>
            </a:r>
            <a:r>
              <a:rPr lang="zh-CN" altLang="en-US" sz="2000" dirty="0">
                <a:latin typeface="宋体" panose="02010600030101010101" pitchFamily="2" charset="-122"/>
                <a:ea typeface="宋体" panose="02010600030101010101" pitchFamily="2" charset="-122"/>
              </a:rPr>
              <a:t>，且电位探针</a:t>
            </a:r>
            <a:r>
              <a:rPr lang="en-US" altLang="zh-CN" sz="2000" dirty="0">
                <a:latin typeface="宋体" panose="02010600030101010101" pitchFamily="2" charset="-122"/>
                <a:ea typeface="宋体" panose="02010600030101010101" pitchFamily="2" charset="-122"/>
              </a:rPr>
              <a:t>P‘</a:t>
            </a:r>
            <a:r>
              <a:rPr lang="zh-CN" altLang="en-US" sz="2000" dirty="0">
                <a:latin typeface="宋体" panose="02010600030101010101" pitchFamily="2" charset="-122"/>
                <a:ea typeface="宋体" panose="02010600030101010101" pitchFamily="2" charset="-122"/>
              </a:rPr>
              <a:t>在</a:t>
            </a:r>
            <a:r>
              <a:rPr lang="en-US" altLang="zh-CN" sz="2000" dirty="0">
                <a:latin typeface="宋体" panose="02010600030101010101" pitchFamily="2" charset="-122"/>
                <a:ea typeface="宋体" panose="02010600030101010101" pitchFamily="2" charset="-122"/>
              </a:rPr>
              <a:t>E’</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C’</a:t>
            </a:r>
            <a:r>
              <a:rPr lang="zh-CN" altLang="en-US" sz="2000" dirty="0">
                <a:latin typeface="宋体" panose="02010600030101010101" pitchFamily="2" charset="-122"/>
                <a:ea typeface="宋体" panose="02010600030101010101" pitchFamily="2" charset="-122"/>
              </a:rPr>
              <a:t>之间</a:t>
            </a:r>
            <a:endParaRPr lang="zh-CN" altLang="en-US" sz="2000" dirty="0">
              <a:latin typeface="宋体" panose="02010600030101010101" pitchFamily="2" charset="-122"/>
              <a:ea typeface="宋体" panose="02010600030101010101" pitchFamily="2" charset="-122"/>
            </a:endParaRPr>
          </a:p>
          <a:p>
            <a:pPr>
              <a:buFontTx/>
              <a:buNone/>
            </a:pPr>
            <a:r>
              <a:rPr lang="zh-CN" altLang="en-US" sz="2000" dirty="0">
                <a:latin typeface="宋体" panose="02010600030101010101" pitchFamily="2" charset="-122"/>
                <a:ea typeface="宋体" panose="02010600030101010101" pitchFamily="2" charset="-122"/>
              </a:rPr>
              <a:t>⑶</a:t>
            </a:r>
            <a:r>
              <a:rPr lang="en-US" altLang="zh-CN" sz="2000" dirty="0">
                <a:latin typeface="宋体" panose="02010600030101010101" pitchFamily="2" charset="-122"/>
                <a:ea typeface="宋体" panose="02010600030101010101" pitchFamily="2" charset="-122"/>
              </a:rPr>
              <a:t>E</a:t>
            </a:r>
            <a:r>
              <a:rPr lang="zh-CN" altLang="en-US" sz="2000" dirty="0">
                <a:latin typeface="宋体" panose="02010600030101010101" pitchFamily="2" charset="-122"/>
                <a:ea typeface="宋体" panose="02010600030101010101" pitchFamily="2" charset="-122"/>
              </a:rPr>
              <a:t>端钮接</a:t>
            </a:r>
            <a:r>
              <a:rPr lang="en-US" altLang="zh-CN" sz="2000" dirty="0">
                <a:latin typeface="宋体" panose="02010600030101010101" pitchFamily="2" charset="-122"/>
                <a:ea typeface="宋体" panose="02010600030101010101" pitchFamily="2" charset="-122"/>
              </a:rPr>
              <a:t>5m</a:t>
            </a:r>
            <a:r>
              <a:rPr lang="zh-CN" altLang="en-US" sz="2000" dirty="0">
                <a:latin typeface="宋体" panose="02010600030101010101" pitchFamily="2" charset="-122"/>
                <a:ea typeface="宋体" panose="02010600030101010101" pitchFamily="2" charset="-122"/>
              </a:rPr>
              <a:t>导线，</a:t>
            </a:r>
            <a:r>
              <a:rPr lang="en-US" altLang="zh-CN" sz="2000" dirty="0">
                <a:latin typeface="宋体" panose="02010600030101010101" pitchFamily="2" charset="-122"/>
                <a:ea typeface="宋体" panose="02010600030101010101" pitchFamily="2" charset="-122"/>
              </a:rPr>
              <a:t>P</a:t>
            </a:r>
            <a:r>
              <a:rPr lang="zh-CN" altLang="en-US" sz="2000" dirty="0">
                <a:latin typeface="宋体" panose="02010600030101010101" pitchFamily="2" charset="-122"/>
                <a:ea typeface="宋体" panose="02010600030101010101" pitchFamily="2" charset="-122"/>
              </a:rPr>
              <a:t>端接</a:t>
            </a:r>
            <a:r>
              <a:rPr lang="en-US" altLang="zh-CN" sz="2000" dirty="0">
                <a:latin typeface="宋体" panose="02010600030101010101" pitchFamily="2" charset="-122"/>
                <a:ea typeface="宋体" panose="02010600030101010101" pitchFamily="2" charset="-122"/>
              </a:rPr>
              <a:t>20m</a:t>
            </a:r>
            <a:r>
              <a:rPr lang="zh-CN" altLang="en-US" sz="2000" dirty="0">
                <a:latin typeface="宋体" panose="02010600030101010101" pitchFamily="2" charset="-122"/>
                <a:ea typeface="宋体" panose="02010600030101010101" pitchFamily="2" charset="-122"/>
              </a:rPr>
              <a:t>导线，</a:t>
            </a:r>
            <a:r>
              <a:rPr lang="en-US" altLang="zh-CN" sz="2000" dirty="0">
                <a:latin typeface="宋体" panose="02010600030101010101" pitchFamily="2" charset="-122"/>
                <a:ea typeface="宋体" panose="02010600030101010101" pitchFamily="2" charset="-122"/>
              </a:rPr>
              <a:t>C</a:t>
            </a:r>
            <a:r>
              <a:rPr lang="zh-CN" altLang="en-US" sz="2000" dirty="0">
                <a:latin typeface="宋体" panose="02010600030101010101" pitchFamily="2" charset="-122"/>
                <a:ea typeface="宋体" panose="02010600030101010101" pitchFamily="2" charset="-122"/>
              </a:rPr>
              <a:t>端接</a:t>
            </a:r>
            <a:r>
              <a:rPr lang="en-US" altLang="zh-CN" sz="2000" dirty="0">
                <a:latin typeface="宋体" panose="02010600030101010101" pitchFamily="2" charset="-122"/>
                <a:ea typeface="宋体" panose="02010600030101010101" pitchFamily="2" charset="-122"/>
              </a:rPr>
              <a:t>40m</a:t>
            </a:r>
            <a:r>
              <a:rPr lang="zh-CN" altLang="en-US" sz="2000" dirty="0">
                <a:latin typeface="宋体" panose="02010600030101010101" pitchFamily="2" charset="-122"/>
                <a:ea typeface="宋体" panose="02010600030101010101" pitchFamily="2" charset="-122"/>
              </a:rPr>
              <a:t>导线 </a:t>
            </a:r>
            <a:endParaRPr lang="zh-CN" altLang="en-US" sz="2000" dirty="0">
              <a:latin typeface="宋体" panose="02010600030101010101" pitchFamily="2" charset="-122"/>
              <a:ea typeface="宋体" panose="02010600030101010101" pitchFamily="2" charset="-122"/>
            </a:endParaRPr>
          </a:p>
          <a:p>
            <a:pPr>
              <a:buFontTx/>
              <a:buNone/>
            </a:pPr>
            <a:r>
              <a:rPr lang="zh-CN" altLang="en-US" sz="2000" dirty="0">
                <a:latin typeface="宋体" panose="02010600030101010101" pitchFamily="2" charset="-122"/>
                <a:ea typeface="宋体" panose="02010600030101010101" pitchFamily="2" charset="-122"/>
              </a:rPr>
              <a:t>⑷将仪表放置水平后检查检流计是否指</a:t>
            </a:r>
            <a:r>
              <a:rPr lang="en-US" altLang="zh-CN" sz="2000" dirty="0">
                <a:latin typeface="宋体" panose="02010600030101010101" pitchFamily="2" charset="-122"/>
                <a:ea typeface="宋体" panose="02010600030101010101" pitchFamily="2" charset="-122"/>
              </a:rPr>
              <a:t>0</a:t>
            </a:r>
            <a:r>
              <a:rPr lang="zh-CN" altLang="en-US" sz="2000" dirty="0">
                <a:latin typeface="宋体" panose="02010600030101010101" pitchFamily="2" charset="-122"/>
                <a:ea typeface="宋体" panose="02010600030101010101" pitchFamily="2" charset="-122"/>
              </a:rPr>
              <a:t>，否则可用</a:t>
            </a:r>
            <a:r>
              <a:rPr lang="en-US" altLang="zh-CN" sz="2000" dirty="0">
                <a:latin typeface="宋体" panose="02010600030101010101" pitchFamily="2" charset="-122"/>
                <a:ea typeface="宋体" panose="02010600030101010101" pitchFamily="2" charset="-122"/>
              </a:rPr>
              <a:t>0</a:t>
            </a:r>
            <a:r>
              <a:rPr lang="zh-CN" altLang="en-US" sz="2000" dirty="0">
                <a:latin typeface="宋体" panose="02010600030101010101" pitchFamily="2" charset="-122"/>
                <a:ea typeface="宋体" panose="02010600030101010101" pitchFamily="2" charset="-122"/>
              </a:rPr>
              <a:t>位调整器调节</a:t>
            </a:r>
            <a:r>
              <a:rPr lang="en-US" altLang="zh-CN" sz="2000" dirty="0">
                <a:latin typeface="宋体" panose="02010600030101010101" pitchFamily="2" charset="-122"/>
                <a:ea typeface="宋体" panose="02010600030101010101" pitchFamily="2" charset="-122"/>
              </a:rPr>
              <a:t>0</a:t>
            </a:r>
            <a:r>
              <a:rPr lang="zh-CN" altLang="en-US" sz="2000" dirty="0">
                <a:latin typeface="宋体" panose="02010600030101010101" pitchFamily="2" charset="-122"/>
                <a:ea typeface="宋体" panose="02010600030101010101" pitchFamily="2" charset="-122"/>
              </a:rPr>
              <a:t>位</a:t>
            </a:r>
            <a:endParaRPr lang="zh-CN" altLang="en-US" sz="2000" dirty="0">
              <a:latin typeface="宋体" panose="02010600030101010101" pitchFamily="2" charset="-122"/>
              <a:ea typeface="宋体" panose="02010600030101010101" pitchFamily="2" charset="-122"/>
            </a:endParaRPr>
          </a:p>
          <a:p>
            <a:pPr>
              <a:buFontTx/>
              <a:buNone/>
            </a:pPr>
            <a:r>
              <a:rPr lang="zh-CN" altLang="en-US" sz="2000" dirty="0">
                <a:latin typeface="宋体" panose="02010600030101010101" pitchFamily="2" charset="-122"/>
                <a:ea typeface="宋体" panose="02010600030101010101" pitchFamily="2" charset="-122"/>
              </a:rPr>
              <a:t>⑸将量程转换开关置于最大倍率，慢慢转动发电机摇把，同时旋转电位器刻度盘，使检流计指针指</a:t>
            </a:r>
            <a:r>
              <a:rPr lang="en-US" altLang="zh-CN" sz="2000" dirty="0">
                <a:latin typeface="宋体" panose="02010600030101010101" pitchFamily="2" charset="-122"/>
                <a:ea typeface="宋体" panose="02010600030101010101" pitchFamily="2" charset="-122"/>
              </a:rPr>
              <a:t>0</a:t>
            </a:r>
            <a:endParaRPr lang="zh-CN" altLang="en-US" sz="2000" dirty="0">
              <a:latin typeface="宋体" panose="02010600030101010101" pitchFamily="2" charset="-122"/>
              <a:ea typeface="宋体" panose="02010600030101010101" pitchFamily="2" charset="-122"/>
            </a:endParaRPr>
          </a:p>
        </p:txBody>
      </p:sp>
      <p:pic>
        <p:nvPicPr>
          <p:cNvPr id="7" name="Picture 16" descr="未命名"/>
          <p:cNvPicPr>
            <a:picLocks noChangeAspect="1" noChangeArrowheads="1"/>
          </p:cNvPicPr>
          <p:nvPr/>
        </p:nvPicPr>
        <p:blipFill>
          <a:blip r:embed="rId2">
            <a:extLst>
              <a:ext uri="{28A0092B-C50C-407E-A947-70E740481C1C}">
                <a14:useLocalDpi xmlns:a14="http://schemas.microsoft.com/office/drawing/2010/main" val="0"/>
              </a:ext>
            </a:extLst>
          </a:blip>
          <a:srcRect l="8105" r="26013" b="15723"/>
          <a:stretch>
            <a:fillRect/>
          </a:stretch>
        </p:blipFill>
        <p:spPr bwMode="auto">
          <a:xfrm>
            <a:off x="6008830" y="1258094"/>
            <a:ext cx="3583983" cy="2552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909320"/>
            <a:ext cx="5456555" cy="3462655"/>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a:buFontTx/>
              <a:buNone/>
            </a:pPr>
            <a:r>
              <a:rPr lang="zh-CN" altLang="en-US" sz="2000" dirty="0">
                <a:latin typeface="宋体" panose="02010600030101010101" pitchFamily="2" charset="-122"/>
                <a:ea typeface="宋体" panose="02010600030101010101" pitchFamily="2" charset="-122"/>
                <a:sym typeface="+mn-ea"/>
              </a:rPr>
              <a:t>⑹ 当检流计指针接近平衡时，加快发电机摇柄转速，使其达到</a:t>
            </a:r>
            <a:r>
              <a:rPr lang="en-US" altLang="zh-CN" sz="2000" dirty="0">
                <a:latin typeface="宋体" panose="02010600030101010101" pitchFamily="2" charset="-122"/>
                <a:ea typeface="宋体" panose="02010600030101010101" pitchFamily="2" charset="-122"/>
                <a:sym typeface="+mn-ea"/>
              </a:rPr>
              <a:t>150</a:t>
            </a:r>
            <a:r>
              <a:rPr lang="zh-CN" altLang="en-US" sz="2000" dirty="0">
                <a:latin typeface="宋体" panose="02010600030101010101" pitchFamily="2" charset="-122"/>
                <a:ea typeface="宋体" panose="02010600030101010101" pitchFamily="2" charset="-122"/>
                <a:sym typeface="+mn-ea"/>
              </a:rPr>
              <a:t>转</a:t>
            </a:r>
            <a:r>
              <a:rPr lang="en-US" altLang="zh-CN" sz="2000" dirty="0">
                <a:latin typeface="宋体" panose="02010600030101010101" pitchFamily="2" charset="-122"/>
                <a:ea typeface="宋体" panose="02010600030101010101" pitchFamily="2" charset="-122"/>
                <a:sym typeface="+mn-ea"/>
              </a:rPr>
              <a:t>/min</a:t>
            </a:r>
            <a:r>
              <a:rPr lang="zh-CN" altLang="en-US" sz="2000" dirty="0">
                <a:latin typeface="宋体" panose="02010600030101010101" pitchFamily="2" charset="-122"/>
                <a:ea typeface="宋体" panose="02010600030101010101" pitchFamily="2" charset="-122"/>
                <a:sym typeface="+mn-ea"/>
              </a:rPr>
              <a:t>，再转动电位器刻度盘，使检流计平衡，此时，刻度盘的读数乘以倍率档即为被测接地电阻数值</a:t>
            </a:r>
            <a:endParaRPr lang="zh-CN" altLang="en-US" sz="2000" dirty="0">
              <a:latin typeface="宋体" panose="02010600030101010101" pitchFamily="2" charset="-122"/>
              <a:ea typeface="宋体" panose="02010600030101010101" pitchFamily="2" charset="-122"/>
            </a:endParaRPr>
          </a:p>
          <a:p>
            <a:pPr>
              <a:buFontTx/>
              <a:buNone/>
            </a:pPr>
            <a:r>
              <a:rPr lang="zh-CN" altLang="en-US" sz="2000" dirty="0">
                <a:latin typeface="宋体" panose="02010600030101010101" pitchFamily="2" charset="-122"/>
                <a:ea typeface="宋体" panose="02010600030101010101" pitchFamily="2" charset="-122"/>
                <a:sym typeface="+mn-ea"/>
              </a:rPr>
              <a:t>⑺ 当刻度盘计数小于</a:t>
            </a:r>
            <a:r>
              <a:rPr lang="en-US" altLang="zh-CN" sz="2000" dirty="0">
                <a:latin typeface="宋体" panose="02010600030101010101" pitchFamily="2" charset="-122"/>
                <a:ea typeface="宋体" panose="02010600030101010101" pitchFamily="2" charset="-122"/>
                <a:sym typeface="+mn-ea"/>
              </a:rPr>
              <a:t>1</a:t>
            </a:r>
            <a:r>
              <a:rPr lang="zh-CN" altLang="en-US" sz="2000" dirty="0">
                <a:latin typeface="宋体" panose="02010600030101010101" pitchFamily="2" charset="-122"/>
                <a:ea typeface="宋体" panose="02010600030101010101" pitchFamily="2" charset="-122"/>
                <a:sym typeface="+mn-ea"/>
              </a:rPr>
              <a:t>时，应将倍率开关置于较小的倍率，重新调整刻度盘，以得正确读数。</a:t>
            </a:r>
            <a:endParaRPr lang="zh-CN" altLang="en-US" sz="2000" dirty="0">
              <a:latin typeface="宋体" panose="02010600030101010101" pitchFamily="2" charset="-122"/>
              <a:ea typeface="宋体" panose="02010600030101010101" pitchFamily="2" charset="-122"/>
            </a:endParaRPr>
          </a:p>
          <a:p>
            <a:pPr>
              <a:buFontTx/>
              <a:buNone/>
            </a:pPr>
            <a:r>
              <a:rPr lang="zh-CN" altLang="en-US" sz="2000" dirty="0">
                <a:latin typeface="宋体" panose="02010600030101010101" pitchFamily="2" charset="-122"/>
                <a:ea typeface="宋体" panose="02010600030101010101" pitchFamily="2" charset="-122"/>
                <a:sym typeface="+mn-ea"/>
              </a:rPr>
              <a:t>⑻当测量小于</a:t>
            </a:r>
            <a:r>
              <a:rPr lang="en-US" altLang="zh-CN" sz="2000" dirty="0">
                <a:latin typeface="宋体" panose="02010600030101010101" pitchFamily="2" charset="-122"/>
                <a:ea typeface="宋体" panose="02010600030101010101" pitchFamily="2" charset="-122"/>
                <a:sym typeface="+mn-ea"/>
              </a:rPr>
              <a:t>1Ω</a:t>
            </a:r>
            <a:r>
              <a:rPr lang="zh-CN" altLang="en-US" sz="2000" dirty="0">
                <a:latin typeface="宋体" panose="02010600030101010101" pitchFamily="2" charset="-122"/>
                <a:ea typeface="宋体" panose="02010600030101010101" pitchFamily="2" charset="-122"/>
                <a:sym typeface="+mn-ea"/>
              </a:rPr>
              <a:t>接地电阻时，应将两个</a:t>
            </a:r>
            <a:r>
              <a:rPr lang="en-US" altLang="zh-CN" sz="2000" dirty="0">
                <a:latin typeface="宋体" panose="02010600030101010101" pitchFamily="2" charset="-122"/>
                <a:ea typeface="宋体" panose="02010600030101010101" pitchFamily="2" charset="-122"/>
                <a:sym typeface="+mn-ea"/>
              </a:rPr>
              <a:t>E</a:t>
            </a:r>
            <a:r>
              <a:rPr lang="zh-CN" altLang="en-US" sz="2000" dirty="0">
                <a:latin typeface="宋体" panose="02010600030101010101" pitchFamily="2" charset="-122"/>
                <a:ea typeface="宋体" panose="02010600030101010101" pitchFamily="2" charset="-122"/>
                <a:sym typeface="+mn-ea"/>
              </a:rPr>
              <a:t>端连接片打开，分别用导线连接到被测接地体上，此时消除测量时连接导线电阻的附加误差，操作步骤同上</a:t>
            </a:r>
            <a:endParaRPr lang="zh-CN" altLang="en-US" sz="2000" dirty="0">
              <a:latin typeface="宋体" panose="02010600030101010101" pitchFamily="2" charset="-122"/>
              <a:ea typeface="宋体" panose="02010600030101010101" pitchFamily="2" charset="-122"/>
            </a:endParaRPr>
          </a:p>
          <a:p>
            <a:pPr>
              <a:buFontTx/>
              <a:buNone/>
            </a:pPr>
            <a:r>
              <a:rPr lang="zh-CN" altLang="en-US" sz="2000" dirty="0">
                <a:latin typeface="宋体" panose="02010600030101010101" pitchFamily="2" charset="-122"/>
                <a:ea typeface="宋体" panose="02010600030101010101" pitchFamily="2" charset="-122"/>
                <a:sym typeface="+mn-ea"/>
              </a:rPr>
              <a:t> </a:t>
            </a:r>
            <a:endParaRPr lang="zh-CN" altLang="en-US" sz="2000" dirty="0">
              <a:ea typeface="宋体" panose="02010600030101010101" pitchFamily="2" charset="-122"/>
            </a:endParaRPr>
          </a:p>
        </p:txBody>
      </p:sp>
      <p:pic>
        <p:nvPicPr>
          <p:cNvPr id="7" name="Picture 16" descr="未命名"/>
          <p:cNvPicPr>
            <a:picLocks noChangeAspect="1" noChangeArrowheads="1"/>
          </p:cNvPicPr>
          <p:nvPr/>
        </p:nvPicPr>
        <p:blipFill>
          <a:blip r:embed="rId2">
            <a:extLst>
              <a:ext uri="{28A0092B-C50C-407E-A947-70E740481C1C}">
                <a14:useLocalDpi xmlns:a14="http://schemas.microsoft.com/office/drawing/2010/main" val="0"/>
              </a:ext>
            </a:extLst>
          </a:blip>
          <a:srcRect l="8105" r="26013" b="15723"/>
          <a:stretch>
            <a:fillRect/>
          </a:stretch>
        </p:blipFill>
        <p:spPr bwMode="auto">
          <a:xfrm>
            <a:off x="5876750" y="919004"/>
            <a:ext cx="3583983" cy="2552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897890"/>
            <a:ext cx="6968490" cy="41275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5 </a:t>
            </a:r>
            <a:r>
              <a:rPr lang="zh-CN" altLang="el-GR" sz="2200" b="1" dirty="0">
                <a:solidFill>
                  <a:srgbClr val="660033"/>
                </a:solidFill>
                <a:latin typeface="黑体" panose="02010609060101010101" pitchFamily="49" charset="-122"/>
                <a:ea typeface="黑体" panose="02010609060101010101" pitchFamily="49" charset="-122"/>
              </a:rPr>
              <a:t>使用接地电阻测试仪的注意事项及技术要求</a:t>
            </a:r>
            <a:r>
              <a:rPr lang="zh-CN" altLang="el-GR" sz="2200" b="1" dirty="0">
                <a:solidFill>
                  <a:srgbClr val="660033"/>
                </a:solidFill>
                <a:latin typeface="宋体" panose="02010600030101010101" pitchFamily="2" charset="-122"/>
                <a:ea typeface="黑体" panose="02010609060101010101" pitchFamily="49" charset="-122"/>
              </a:rPr>
              <a:t> </a:t>
            </a:r>
            <a:r>
              <a:rPr lang="zh-CN" altLang="el-GR" sz="2400" dirty="0">
                <a:ea typeface="宋体" panose="02010600030101010101" pitchFamily="2" charset="-122"/>
              </a:rPr>
              <a:t> </a:t>
            </a:r>
            <a:endParaRPr lang="zh-CN" altLang="el-GR" sz="2400" dirty="0">
              <a:ea typeface="宋体" panose="02010600030101010101" pitchFamily="2" charset="-122"/>
            </a:endParaRPr>
          </a:p>
        </p:txBody>
      </p:sp>
      <p:sp>
        <p:nvSpPr>
          <p:cNvPr id="7" name="Text Box 6"/>
          <p:cNvSpPr txBox="1">
            <a:spLocks noChangeArrowheads="1"/>
          </p:cNvSpPr>
          <p:nvPr/>
        </p:nvSpPr>
        <p:spPr bwMode="auto">
          <a:xfrm>
            <a:off x="420275" y="1323505"/>
            <a:ext cx="8752711" cy="3507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lnSpc>
                <a:spcPct val="130000"/>
              </a:lnSpc>
              <a:spcBef>
                <a:spcPct val="50000"/>
              </a:spcBef>
            </a:pPr>
            <a:r>
              <a:rPr lang="zh-CN" altLang="el-GR" b="0" dirty="0">
                <a:solidFill>
                  <a:schemeClr val="tx1"/>
                </a:solidFill>
                <a:ea typeface="宋体" panose="02010600030101010101" pitchFamily="2" charset="-122"/>
              </a:rPr>
              <a:t>⑴</a:t>
            </a:r>
            <a:r>
              <a:rPr lang="zh-CN" altLang="en-US" b="0" dirty="0">
                <a:solidFill>
                  <a:schemeClr val="tx1"/>
                </a:solidFill>
                <a:ea typeface="宋体" panose="02010600030101010101" pitchFamily="2" charset="-122"/>
              </a:rPr>
              <a:t> </a:t>
            </a:r>
            <a:r>
              <a:rPr lang="zh-CN" altLang="el-GR" b="0" dirty="0">
                <a:solidFill>
                  <a:schemeClr val="tx1"/>
                </a:solidFill>
                <a:ea typeface="宋体" panose="02010600030101010101" pitchFamily="2" charset="-122"/>
              </a:rPr>
              <a:t>接地电阻测试仪应放置在离测试点</a:t>
            </a:r>
            <a:r>
              <a:rPr lang="el-GR" altLang="zh-CN" b="0" dirty="0">
                <a:solidFill>
                  <a:schemeClr val="tx1"/>
                </a:solidFill>
                <a:ea typeface="宋体" panose="02010600030101010101" pitchFamily="2" charset="-122"/>
              </a:rPr>
              <a:t>1</a:t>
            </a:r>
            <a:r>
              <a:rPr lang="zh-CN" altLang="el-GR" b="0" dirty="0">
                <a:solidFill>
                  <a:schemeClr val="tx1"/>
                </a:solidFill>
                <a:ea typeface="宋体" panose="02010600030101010101" pitchFamily="2" charset="-122"/>
              </a:rPr>
              <a:t>～</a:t>
            </a:r>
            <a:r>
              <a:rPr lang="el-GR" altLang="zh-CN" b="0" dirty="0">
                <a:solidFill>
                  <a:schemeClr val="tx1"/>
                </a:solidFill>
                <a:ea typeface="宋体" panose="02010600030101010101" pitchFamily="2" charset="-122"/>
              </a:rPr>
              <a:t>3m</a:t>
            </a:r>
            <a:r>
              <a:rPr lang="zh-CN" altLang="el-GR" b="0" dirty="0">
                <a:solidFill>
                  <a:schemeClr val="tx1"/>
                </a:solidFill>
                <a:ea typeface="宋体" panose="02010600030101010101" pitchFamily="2" charset="-122"/>
              </a:rPr>
              <a:t>处，放置应平稳，便于操作</a:t>
            </a:r>
            <a:endParaRPr lang="zh-CN" altLang="el-GR" b="0" dirty="0">
              <a:solidFill>
                <a:schemeClr val="tx1"/>
              </a:solidFill>
              <a:ea typeface="宋体" panose="02010600030101010101" pitchFamily="2" charset="-122"/>
            </a:endParaRPr>
          </a:p>
          <a:p>
            <a:pPr eaLnBrk="1" hangingPunct="1">
              <a:lnSpc>
                <a:spcPct val="130000"/>
              </a:lnSpc>
              <a:spcBef>
                <a:spcPct val="50000"/>
              </a:spcBef>
            </a:pPr>
            <a:r>
              <a:rPr lang="zh-CN" altLang="el-GR" b="0" dirty="0">
                <a:solidFill>
                  <a:schemeClr val="tx1"/>
                </a:solidFill>
                <a:ea typeface="宋体" panose="02010600030101010101" pitchFamily="2" charset="-122"/>
              </a:rPr>
              <a:t>⑵</a:t>
            </a:r>
            <a:r>
              <a:rPr lang="zh-CN" altLang="en-US" b="0" dirty="0">
                <a:solidFill>
                  <a:schemeClr val="tx1"/>
                </a:solidFill>
                <a:ea typeface="宋体" panose="02010600030101010101" pitchFamily="2" charset="-122"/>
              </a:rPr>
              <a:t> </a:t>
            </a:r>
            <a:r>
              <a:rPr lang="zh-CN" altLang="el-GR" b="0" dirty="0">
                <a:solidFill>
                  <a:schemeClr val="tx1"/>
                </a:solidFill>
                <a:ea typeface="宋体" panose="02010600030101010101" pitchFamily="2" charset="-122"/>
              </a:rPr>
              <a:t>每个接线头的接线柱都必须接触良好，连接牢固</a:t>
            </a:r>
            <a:endParaRPr lang="zh-CN" altLang="el-GR" b="0" dirty="0">
              <a:solidFill>
                <a:schemeClr val="tx1"/>
              </a:solidFill>
              <a:ea typeface="宋体" panose="02010600030101010101" pitchFamily="2" charset="-122"/>
            </a:endParaRPr>
          </a:p>
          <a:p>
            <a:pPr eaLnBrk="1" hangingPunct="1">
              <a:lnSpc>
                <a:spcPct val="130000"/>
              </a:lnSpc>
              <a:spcBef>
                <a:spcPct val="50000"/>
              </a:spcBef>
            </a:pPr>
            <a:r>
              <a:rPr lang="zh-CN" altLang="el-GR" b="0" dirty="0">
                <a:solidFill>
                  <a:schemeClr val="tx1"/>
                </a:solidFill>
                <a:ea typeface="宋体" panose="02010600030101010101" pitchFamily="2" charset="-122"/>
              </a:rPr>
              <a:t>⑶</a:t>
            </a:r>
            <a:r>
              <a:rPr lang="zh-CN" altLang="en-US" b="0" dirty="0">
                <a:solidFill>
                  <a:schemeClr val="tx1"/>
                </a:solidFill>
                <a:ea typeface="宋体" panose="02010600030101010101" pitchFamily="2" charset="-122"/>
              </a:rPr>
              <a:t> </a:t>
            </a:r>
            <a:r>
              <a:rPr lang="zh-CN" altLang="el-GR" b="0" dirty="0">
                <a:solidFill>
                  <a:schemeClr val="tx1"/>
                </a:solidFill>
                <a:ea typeface="宋体" panose="02010600030101010101" pitchFamily="2" charset="-122"/>
              </a:rPr>
              <a:t>两个接地极插针应设置在离待测接地体左右分别为</a:t>
            </a:r>
            <a:r>
              <a:rPr lang="el-GR" altLang="zh-CN" b="0" dirty="0">
                <a:solidFill>
                  <a:schemeClr val="tx1"/>
                </a:solidFill>
                <a:ea typeface="宋体" panose="02010600030101010101" pitchFamily="2" charset="-122"/>
              </a:rPr>
              <a:t>20m</a:t>
            </a:r>
            <a:r>
              <a:rPr lang="zh-CN" altLang="el-GR" b="0" dirty="0">
                <a:solidFill>
                  <a:schemeClr val="tx1"/>
                </a:solidFill>
                <a:ea typeface="宋体" panose="02010600030101010101" pitchFamily="2" charset="-122"/>
              </a:rPr>
              <a:t>和</a:t>
            </a:r>
            <a:r>
              <a:rPr lang="el-GR" altLang="zh-CN" b="0" dirty="0">
                <a:solidFill>
                  <a:schemeClr val="tx1"/>
                </a:solidFill>
                <a:ea typeface="宋体" panose="02010600030101010101" pitchFamily="2" charset="-122"/>
              </a:rPr>
              <a:t>40m</a:t>
            </a:r>
            <a:r>
              <a:rPr lang="zh-CN" altLang="el-GR" b="0" dirty="0">
                <a:solidFill>
                  <a:schemeClr val="tx1"/>
                </a:solidFill>
                <a:ea typeface="宋体" panose="02010600030101010101" pitchFamily="2" charset="-122"/>
              </a:rPr>
              <a:t>的位置，如果用一直线将两插针连接，待测接地体应基本在这一直线上</a:t>
            </a:r>
            <a:endParaRPr lang="zh-CN" altLang="el-GR" b="0" dirty="0">
              <a:solidFill>
                <a:schemeClr val="tx1"/>
              </a:solidFill>
              <a:ea typeface="宋体" panose="02010600030101010101" pitchFamily="2" charset="-122"/>
            </a:endParaRPr>
          </a:p>
          <a:p>
            <a:pPr eaLnBrk="1" hangingPunct="1">
              <a:lnSpc>
                <a:spcPct val="130000"/>
              </a:lnSpc>
              <a:spcBef>
                <a:spcPct val="50000"/>
              </a:spcBef>
            </a:pPr>
            <a:r>
              <a:rPr lang="zh-CN" altLang="en-US" b="0" dirty="0">
                <a:solidFill>
                  <a:schemeClr val="tx1"/>
                </a:solidFill>
                <a:ea typeface="宋体" panose="02010600030101010101" pitchFamily="2" charset="-122"/>
              </a:rPr>
              <a:t>⑷ </a:t>
            </a:r>
            <a:r>
              <a:rPr lang="zh-CN" altLang="el-GR" b="0" dirty="0">
                <a:solidFill>
                  <a:schemeClr val="tx1"/>
                </a:solidFill>
                <a:ea typeface="宋体" panose="02010600030101010101" pitchFamily="2" charset="-122"/>
              </a:rPr>
              <a:t>不得用其他导线代替随仪表配置来的</a:t>
            </a:r>
            <a:r>
              <a:rPr lang="el-GR" altLang="zh-CN" b="0" dirty="0">
                <a:solidFill>
                  <a:schemeClr val="tx1"/>
                </a:solidFill>
                <a:ea typeface="宋体" panose="02010600030101010101" pitchFamily="2" charset="-122"/>
              </a:rPr>
              <a:t>5m</a:t>
            </a:r>
            <a:r>
              <a:rPr lang="zh-CN" altLang="el-GR" b="0" dirty="0">
                <a:solidFill>
                  <a:schemeClr val="tx1"/>
                </a:solidFill>
                <a:ea typeface="宋体" panose="02010600030101010101" pitchFamily="2" charset="-122"/>
              </a:rPr>
              <a:t>、</a:t>
            </a:r>
            <a:r>
              <a:rPr lang="el-GR" altLang="zh-CN" b="0" dirty="0">
                <a:solidFill>
                  <a:schemeClr val="tx1"/>
                </a:solidFill>
                <a:ea typeface="宋体" panose="02010600030101010101" pitchFamily="2" charset="-122"/>
              </a:rPr>
              <a:t>20m</a:t>
            </a:r>
            <a:r>
              <a:rPr lang="zh-CN" altLang="el-GR" b="0" dirty="0">
                <a:solidFill>
                  <a:schemeClr val="tx1"/>
                </a:solidFill>
                <a:ea typeface="宋体" panose="02010600030101010101" pitchFamily="2" charset="-122"/>
              </a:rPr>
              <a:t>、</a:t>
            </a:r>
            <a:r>
              <a:rPr lang="el-GR" altLang="zh-CN" b="0" dirty="0">
                <a:solidFill>
                  <a:schemeClr val="tx1"/>
                </a:solidFill>
                <a:ea typeface="宋体" panose="02010600030101010101" pitchFamily="2" charset="-122"/>
              </a:rPr>
              <a:t>40m</a:t>
            </a:r>
            <a:r>
              <a:rPr lang="zh-CN" altLang="el-GR" b="0" dirty="0">
                <a:solidFill>
                  <a:schemeClr val="tx1"/>
                </a:solidFill>
                <a:ea typeface="宋体" panose="02010600030101010101" pitchFamily="2" charset="-122"/>
              </a:rPr>
              <a:t>长的纯铜导线</a:t>
            </a:r>
            <a:endParaRPr lang="zh-CN" altLang="el-GR" b="0" dirty="0">
              <a:solidFill>
                <a:schemeClr val="tx1"/>
              </a:solidFill>
              <a:ea typeface="宋体" panose="02010600030101010101" pitchFamily="2" charset="-122"/>
            </a:endParaRPr>
          </a:p>
          <a:p>
            <a:pPr eaLnBrk="1" hangingPunct="1">
              <a:lnSpc>
                <a:spcPct val="130000"/>
              </a:lnSpc>
              <a:spcBef>
                <a:spcPct val="50000"/>
              </a:spcBef>
            </a:pPr>
            <a:r>
              <a:rPr lang="zh-CN" altLang="el-GR" b="0" dirty="0">
                <a:solidFill>
                  <a:schemeClr val="tx1"/>
                </a:solidFill>
                <a:ea typeface="宋体" panose="02010600030101010101" pitchFamily="2" charset="-122"/>
                <a:sym typeface="+mn-ea"/>
              </a:rPr>
              <a:t>⑸</a:t>
            </a:r>
            <a:r>
              <a:rPr lang="zh-CN" altLang="en-US" b="0" dirty="0">
                <a:solidFill>
                  <a:schemeClr val="tx1"/>
                </a:solidFill>
                <a:ea typeface="宋体" panose="02010600030101010101" pitchFamily="2" charset="-122"/>
                <a:sym typeface="+mn-ea"/>
              </a:rPr>
              <a:t> </a:t>
            </a:r>
            <a:r>
              <a:rPr lang="zh-CN" altLang="el-GR" b="0" dirty="0">
                <a:solidFill>
                  <a:schemeClr val="tx1"/>
                </a:solidFill>
                <a:ea typeface="宋体" panose="02010600030101010101" pitchFamily="2" charset="-122"/>
                <a:sym typeface="+mn-ea"/>
              </a:rPr>
              <a:t>如果以接地电阻测试仪为圆心，则两支插针与测试仪之间的夹角最小不得小于</a:t>
            </a:r>
            <a:r>
              <a:rPr lang="el-GR" altLang="zh-CN" b="0" dirty="0">
                <a:solidFill>
                  <a:schemeClr val="tx1"/>
                </a:solidFill>
                <a:ea typeface="宋体" panose="02010600030101010101" pitchFamily="2" charset="-122"/>
                <a:sym typeface="+mn-ea"/>
              </a:rPr>
              <a:t>120°</a:t>
            </a:r>
            <a:r>
              <a:rPr lang="zh-CN" altLang="el-GR" b="0" dirty="0">
                <a:solidFill>
                  <a:schemeClr val="tx1"/>
                </a:solidFill>
                <a:ea typeface="宋体" panose="02010600030101010101" pitchFamily="2" charset="-122"/>
                <a:sym typeface="+mn-ea"/>
              </a:rPr>
              <a:t>，更不可同方向设置</a:t>
            </a:r>
            <a:endParaRPr lang="zh-CN" altLang="el-GR" b="0" dirty="0">
              <a:solidFill>
                <a:schemeClr val="tx1"/>
              </a:solidFill>
              <a:ea typeface="宋体" panose="02010600030101010101" pitchFamily="2" charset="-122"/>
              <a:sym typeface="+mn-ea"/>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4016315" cy="497957"/>
          </a:xfrm>
          <a:prstGeom prst="rect">
            <a:avLst/>
          </a:prstGeom>
          <a:noFill/>
        </p:spPr>
        <p:txBody>
          <a:bodyPr wrap="square" rtlCol="0">
            <a:spAutoFit/>
          </a:bodyPr>
          <a:lstStyle/>
          <a:p>
            <a:pPr>
              <a:lnSpc>
                <a:spcPct val="120000"/>
              </a:lnSpc>
            </a:pPr>
            <a:r>
              <a:rPr kumimoji="1" lang="zh-CN" altLang="en-US" sz="2400" dirty="0">
                <a:latin typeface="微软雅黑" panose="020B0503020204020204" charset="-122"/>
                <a:ea typeface="微软雅黑" panose="020B0503020204020204" charset="-122"/>
                <a:cs typeface="微软雅黑" panose="020B0503020204020204" charset="-122"/>
              </a:rPr>
              <a:t>三、</a:t>
            </a:r>
            <a:r>
              <a:rPr lang="zh-CN" altLang="en-US" sz="2400" dirty="0">
                <a:solidFill>
                  <a:schemeClr val="tx1">
                    <a:lumMod val="75000"/>
                    <a:lumOff val="25000"/>
                  </a:schemeClr>
                </a:solidFill>
                <a:latin typeface="微软雅黑" panose="020B0503020204020204" charset="-122"/>
                <a:ea typeface="微软雅黑" panose="020B0503020204020204" charset="-122"/>
              </a:rPr>
              <a:t>常用测量工具的使用</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4"/>
          <p:cNvSpPr txBox="1">
            <a:spLocks noChangeArrowheads="1"/>
          </p:cNvSpPr>
          <p:nvPr/>
        </p:nvSpPr>
        <p:spPr bwMode="auto">
          <a:xfrm>
            <a:off x="420370" y="897890"/>
            <a:ext cx="6544310" cy="412750"/>
          </a:xfrm>
          <a:prstGeom prst="rect">
            <a:avLst/>
          </a:prstGeom>
          <a:noFill/>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457200" indent="-457200">
              <a:buFontTx/>
              <a:buNone/>
            </a:pPr>
            <a:r>
              <a:rPr lang="en-US" altLang="zh-CN" sz="2200" b="1" dirty="0">
                <a:solidFill>
                  <a:srgbClr val="660033"/>
                </a:solidFill>
                <a:latin typeface="黑体" panose="02010609060101010101" pitchFamily="49" charset="-122"/>
                <a:ea typeface="黑体" panose="02010609060101010101" pitchFamily="49" charset="-122"/>
              </a:rPr>
              <a:t>5 </a:t>
            </a:r>
            <a:r>
              <a:rPr lang="zh-CN" altLang="el-GR" sz="2200" b="1" dirty="0">
                <a:solidFill>
                  <a:srgbClr val="660033"/>
                </a:solidFill>
                <a:latin typeface="黑体" panose="02010609060101010101" pitchFamily="49" charset="-122"/>
                <a:ea typeface="黑体" panose="02010609060101010101" pitchFamily="49" charset="-122"/>
              </a:rPr>
              <a:t>使用接地电阻测试仪的注意事项及技术要求</a:t>
            </a:r>
            <a:endParaRPr lang="zh-CN" altLang="el-GR" sz="2200" b="1" dirty="0">
              <a:ea typeface="宋体" panose="02010600030101010101" pitchFamily="2" charset="-122"/>
            </a:endParaRPr>
          </a:p>
        </p:txBody>
      </p:sp>
      <p:sp>
        <p:nvSpPr>
          <p:cNvPr id="7" name="Text Box 6"/>
          <p:cNvSpPr txBox="1">
            <a:spLocks noChangeArrowheads="1"/>
          </p:cNvSpPr>
          <p:nvPr/>
        </p:nvSpPr>
        <p:spPr bwMode="auto">
          <a:xfrm>
            <a:off x="420275" y="1323505"/>
            <a:ext cx="8752711" cy="313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chemeClr val="bg1"/>
                </a:solidFill>
                <a:latin typeface="Arial" panose="020B0604020202020204" pitchFamily="34" charset="0"/>
                <a:ea typeface="华文行楷" panose="02010800040101010101" pitchFamily="2" charset="-122"/>
              </a:defRPr>
            </a:lvl1pPr>
            <a:lvl2pPr marL="742950" indent="-285750">
              <a:defRPr sz="2000" b="1">
                <a:solidFill>
                  <a:schemeClr val="bg1"/>
                </a:solidFill>
                <a:latin typeface="Arial" panose="020B0604020202020204" pitchFamily="34" charset="0"/>
                <a:ea typeface="华文行楷" panose="02010800040101010101" pitchFamily="2" charset="-122"/>
              </a:defRPr>
            </a:lvl2pPr>
            <a:lvl3pPr marL="1143000" indent="-228600">
              <a:defRPr sz="2000" b="1">
                <a:solidFill>
                  <a:schemeClr val="bg1"/>
                </a:solidFill>
                <a:latin typeface="Arial" panose="020B0604020202020204" pitchFamily="34" charset="0"/>
                <a:ea typeface="华文行楷" panose="02010800040101010101" pitchFamily="2" charset="-122"/>
              </a:defRPr>
            </a:lvl3pPr>
            <a:lvl4pPr marL="1600200" indent="-228600">
              <a:defRPr sz="2000" b="1">
                <a:solidFill>
                  <a:schemeClr val="bg1"/>
                </a:solidFill>
                <a:latin typeface="Arial" panose="020B0604020202020204" pitchFamily="34" charset="0"/>
                <a:ea typeface="华文行楷" panose="02010800040101010101" pitchFamily="2" charset="-122"/>
              </a:defRPr>
            </a:lvl4pPr>
            <a:lvl5pPr marL="2057400" indent="-228600">
              <a:defRPr sz="2000" b="1">
                <a:solidFill>
                  <a:schemeClr val="bg1"/>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sz="2000" b="1">
                <a:solidFill>
                  <a:schemeClr val="bg1"/>
                </a:solidFill>
                <a:latin typeface="Arial" panose="020B0604020202020204" pitchFamily="34" charset="0"/>
                <a:ea typeface="华文行楷" panose="02010800040101010101" pitchFamily="2" charset="-122"/>
              </a:defRPr>
            </a:lvl9pPr>
          </a:lstStyle>
          <a:p>
            <a:pPr eaLnBrk="1" hangingPunct="1">
              <a:lnSpc>
                <a:spcPct val="130000"/>
              </a:lnSpc>
              <a:spcBef>
                <a:spcPct val="20000"/>
              </a:spcBef>
            </a:pPr>
            <a:r>
              <a:rPr lang="zh-CN" altLang="el-GR" b="0" dirty="0">
                <a:solidFill>
                  <a:schemeClr val="tx1"/>
                </a:solidFill>
                <a:ea typeface="宋体" panose="02010600030101010101" pitchFamily="2" charset="-122"/>
                <a:sym typeface="+mn-ea"/>
              </a:rPr>
              <a:t>⑹</a:t>
            </a:r>
            <a:r>
              <a:rPr lang="zh-CN" altLang="en-US" b="0" dirty="0">
                <a:solidFill>
                  <a:schemeClr val="tx1"/>
                </a:solidFill>
                <a:ea typeface="宋体" panose="02010600030101010101" pitchFamily="2" charset="-122"/>
                <a:sym typeface="+mn-ea"/>
              </a:rPr>
              <a:t> </a:t>
            </a:r>
            <a:r>
              <a:rPr lang="zh-CN" altLang="el-GR" b="0" dirty="0">
                <a:solidFill>
                  <a:schemeClr val="tx1"/>
                </a:solidFill>
                <a:ea typeface="宋体" panose="02010600030101010101" pitchFamily="2" charset="-122"/>
                <a:sym typeface="+mn-ea"/>
              </a:rPr>
              <a:t>两插针设置的土质必须坚实，不能设置在泥地、回填土、树根旁、草丛等位置</a:t>
            </a:r>
            <a:endParaRPr lang="zh-CN" altLang="el-GR" b="0" dirty="0">
              <a:solidFill>
                <a:schemeClr val="tx1"/>
              </a:solidFill>
              <a:ea typeface="宋体" panose="02010600030101010101" pitchFamily="2" charset="-122"/>
            </a:endParaRPr>
          </a:p>
          <a:p>
            <a:pPr eaLnBrk="1" hangingPunct="1">
              <a:lnSpc>
                <a:spcPct val="130000"/>
              </a:lnSpc>
              <a:spcBef>
                <a:spcPct val="20000"/>
              </a:spcBef>
            </a:pPr>
            <a:r>
              <a:rPr lang="zh-CN" altLang="el-GR" b="0" dirty="0">
                <a:solidFill>
                  <a:schemeClr val="tx1"/>
                </a:solidFill>
                <a:ea typeface="宋体" panose="02010600030101010101" pitchFamily="2" charset="-122"/>
                <a:sym typeface="+mn-ea"/>
              </a:rPr>
              <a:t>⑺</a:t>
            </a:r>
            <a:r>
              <a:rPr lang="zh-CN" altLang="en-US" b="0" dirty="0">
                <a:solidFill>
                  <a:schemeClr val="tx1"/>
                </a:solidFill>
                <a:ea typeface="宋体" panose="02010600030101010101" pitchFamily="2" charset="-122"/>
                <a:sym typeface="+mn-ea"/>
              </a:rPr>
              <a:t> </a:t>
            </a:r>
            <a:r>
              <a:rPr lang="zh-CN" altLang="el-GR" b="0" dirty="0">
                <a:solidFill>
                  <a:schemeClr val="tx1"/>
                </a:solidFill>
                <a:ea typeface="宋体" panose="02010600030101010101" pitchFamily="2" charset="-122"/>
                <a:sym typeface="+mn-ea"/>
              </a:rPr>
              <a:t>雨后连续</a:t>
            </a:r>
            <a:r>
              <a:rPr lang="el-GR" altLang="zh-CN" b="0" dirty="0">
                <a:solidFill>
                  <a:schemeClr val="tx1"/>
                </a:solidFill>
                <a:ea typeface="宋体" panose="02010600030101010101" pitchFamily="2" charset="-122"/>
                <a:sym typeface="+mn-ea"/>
              </a:rPr>
              <a:t>7</a:t>
            </a:r>
            <a:r>
              <a:rPr lang="zh-CN" altLang="el-GR" b="0" dirty="0">
                <a:solidFill>
                  <a:schemeClr val="tx1"/>
                </a:solidFill>
                <a:ea typeface="宋体" panose="02010600030101010101" pitchFamily="2" charset="-122"/>
                <a:sym typeface="+mn-ea"/>
              </a:rPr>
              <a:t>个晴天后才能进行接地电阻的测试</a:t>
            </a:r>
            <a:endParaRPr lang="zh-CN" altLang="el-GR" b="0" dirty="0">
              <a:solidFill>
                <a:schemeClr val="tx1"/>
              </a:solidFill>
              <a:ea typeface="宋体" panose="02010600030101010101" pitchFamily="2" charset="-122"/>
            </a:endParaRPr>
          </a:p>
          <a:p>
            <a:pPr eaLnBrk="1" hangingPunct="1">
              <a:lnSpc>
                <a:spcPct val="130000"/>
              </a:lnSpc>
              <a:spcBef>
                <a:spcPct val="20000"/>
              </a:spcBef>
            </a:pPr>
            <a:r>
              <a:rPr lang="zh-CN" altLang="el-GR" b="0" dirty="0">
                <a:solidFill>
                  <a:schemeClr val="tx1"/>
                </a:solidFill>
                <a:ea typeface="宋体" panose="02010600030101010101" pitchFamily="2" charset="-122"/>
                <a:sym typeface="+mn-ea"/>
              </a:rPr>
              <a:t>⑻</a:t>
            </a:r>
            <a:r>
              <a:rPr lang="zh-CN" altLang="en-US" b="0" dirty="0">
                <a:solidFill>
                  <a:schemeClr val="tx1"/>
                </a:solidFill>
                <a:ea typeface="宋体" panose="02010600030101010101" pitchFamily="2" charset="-122"/>
                <a:sym typeface="+mn-ea"/>
              </a:rPr>
              <a:t> </a:t>
            </a:r>
            <a:r>
              <a:rPr lang="zh-CN" altLang="el-GR" b="0" dirty="0">
                <a:solidFill>
                  <a:schemeClr val="tx1"/>
                </a:solidFill>
                <a:ea typeface="宋体" panose="02010600030101010101" pitchFamily="2" charset="-122"/>
                <a:sym typeface="+mn-ea"/>
              </a:rPr>
              <a:t>待测接地体应先进行除锈等处理，以保证可靠的电气连接</a:t>
            </a:r>
            <a:endParaRPr lang="zh-CN" altLang="el-GR" b="0" dirty="0">
              <a:solidFill>
                <a:schemeClr val="tx1"/>
              </a:solidFill>
              <a:ea typeface="宋体" panose="02010600030101010101" pitchFamily="2" charset="-122"/>
            </a:endParaRPr>
          </a:p>
          <a:p>
            <a:pPr eaLnBrk="1" hangingPunct="1">
              <a:lnSpc>
                <a:spcPct val="130000"/>
              </a:lnSpc>
              <a:spcBef>
                <a:spcPct val="20000"/>
              </a:spcBef>
            </a:pPr>
            <a:r>
              <a:rPr lang="zh-CN" altLang="el-GR" b="0" dirty="0">
                <a:solidFill>
                  <a:schemeClr val="tx1"/>
                </a:solidFill>
                <a:ea typeface="宋体" panose="02010600030101010101" pitchFamily="2" charset="-122"/>
                <a:sym typeface="+mn-ea"/>
              </a:rPr>
              <a:t>⑼</a:t>
            </a:r>
            <a:r>
              <a:rPr lang="zh-CN" altLang="en-US" b="0" dirty="0">
                <a:solidFill>
                  <a:schemeClr val="tx1"/>
                </a:solidFill>
                <a:ea typeface="宋体" panose="02010600030101010101" pitchFamily="2" charset="-122"/>
                <a:sym typeface="+mn-ea"/>
              </a:rPr>
              <a:t> </a:t>
            </a:r>
            <a:r>
              <a:rPr lang="zh-CN" altLang="el-GR" b="0" dirty="0">
                <a:solidFill>
                  <a:schemeClr val="tx1"/>
                </a:solidFill>
                <a:ea typeface="宋体" panose="02010600030101010101" pitchFamily="2" charset="-122"/>
                <a:sym typeface="+mn-ea"/>
              </a:rPr>
              <a:t>禁止在有雷电或被测物带电时进行测量</a:t>
            </a:r>
            <a:endParaRPr lang="zh-CN" altLang="el-GR" b="0" dirty="0">
              <a:solidFill>
                <a:schemeClr val="tx1"/>
              </a:solidFill>
              <a:ea typeface="宋体" panose="02010600030101010101" pitchFamily="2" charset="-122"/>
            </a:endParaRPr>
          </a:p>
          <a:p>
            <a:pPr eaLnBrk="1" hangingPunct="1">
              <a:lnSpc>
                <a:spcPct val="130000"/>
              </a:lnSpc>
              <a:spcBef>
                <a:spcPct val="20000"/>
              </a:spcBef>
            </a:pPr>
            <a:r>
              <a:rPr lang="zh-CN" altLang="el-GR" b="0" dirty="0">
                <a:solidFill>
                  <a:schemeClr val="tx1"/>
                </a:solidFill>
                <a:ea typeface="宋体" panose="02010600030101010101" pitchFamily="2" charset="-122"/>
                <a:sym typeface="+mn-ea"/>
              </a:rPr>
              <a:t>⑽</a:t>
            </a:r>
            <a:r>
              <a:rPr lang="zh-CN" altLang="en-US" b="0" dirty="0">
                <a:solidFill>
                  <a:schemeClr val="tx1"/>
                </a:solidFill>
                <a:ea typeface="宋体" panose="02010600030101010101" pitchFamily="2" charset="-122"/>
                <a:sym typeface="+mn-ea"/>
              </a:rPr>
              <a:t> </a:t>
            </a:r>
            <a:r>
              <a:rPr lang="zh-CN" altLang="el-GR" b="0" dirty="0">
                <a:solidFill>
                  <a:schemeClr val="tx1"/>
                </a:solidFill>
                <a:ea typeface="宋体" panose="02010600030101010101" pitchFamily="2" charset="-122"/>
                <a:sym typeface="+mn-ea"/>
              </a:rPr>
              <a:t>仪表小心轻放，避免剧烈震动。如果以接地电阻测试仪为圆心，则两支插针与测试仪之间的夹角最小不得小于</a:t>
            </a:r>
            <a:r>
              <a:rPr lang="el-GR" altLang="zh-CN" b="0" dirty="0">
                <a:solidFill>
                  <a:schemeClr val="tx1"/>
                </a:solidFill>
                <a:ea typeface="宋体" panose="02010600030101010101" pitchFamily="2" charset="-122"/>
                <a:sym typeface="+mn-ea"/>
              </a:rPr>
              <a:t>120°</a:t>
            </a:r>
            <a:r>
              <a:rPr lang="zh-CN" altLang="el-GR" b="0" dirty="0">
                <a:solidFill>
                  <a:schemeClr val="tx1"/>
                </a:solidFill>
                <a:ea typeface="宋体" panose="02010600030101010101" pitchFamily="2" charset="-122"/>
                <a:sym typeface="+mn-ea"/>
              </a:rPr>
              <a:t>，更不可同方向设置</a:t>
            </a:r>
            <a:endParaRPr lang="zh-CN" altLang="el-GR" b="0" dirty="0">
              <a:solidFill>
                <a:schemeClr val="tx1"/>
              </a:solidFill>
              <a:ea typeface="宋体" panose="02010600030101010101" pitchFamily="2" charset="-122"/>
              <a:sym typeface="+mn-ea"/>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5" name="组合 4"/>
          <p:cNvGrpSpPr/>
          <p:nvPr/>
        </p:nvGrpSpPr>
        <p:grpSpPr>
          <a:xfrm>
            <a:off x="1769923" y="825748"/>
            <a:ext cx="5759869" cy="573547"/>
            <a:chOff x="4260" y="638"/>
            <a:chExt cx="8921" cy="966"/>
          </a:xfrm>
        </p:grpSpPr>
        <p:sp>
          <p:nvSpPr>
            <p:cNvPr id="6" name="矩形 5"/>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7"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课堂小结</a:t>
              </a:r>
              <a:endParaRPr lang="zh-CN" altLang="en-US" sz="2990" b="1" dirty="0">
                <a:latin typeface="微软雅黑" panose="020B0503020204020204" charset="-122"/>
                <a:ea typeface="微软雅黑" panose="020B0503020204020204" charset="-122"/>
              </a:endParaRPr>
            </a:p>
          </p:txBody>
        </p:sp>
        <p:sp>
          <p:nvSpPr>
            <p:cNvPr id="8" name="矩形 7"/>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9" name="矩形 8"/>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0" name="矩形 9"/>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1" name="矩形 10"/>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2" name="矩形 11"/>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sp>
        <p:nvSpPr>
          <p:cNvPr id="15" name="TextBox 98"/>
          <p:cNvSpPr txBox="1"/>
          <p:nvPr/>
        </p:nvSpPr>
        <p:spPr>
          <a:xfrm>
            <a:off x="1093562" y="2593268"/>
            <a:ext cx="7540796" cy="1476375"/>
          </a:xfrm>
          <a:prstGeom prst="rect">
            <a:avLst/>
          </a:prstGeom>
          <a:noFill/>
        </p:spPr>
        <p:txBody>
          <a:bodyPr wrap="square" rtlCol="0">
            <a:spAutoFit/>
          </a:bodyPr>
          <a:lstStyle/>
          <a:p>
            <a:pPr>
              <a:lnSpc>
                <a:spcPct val="150000"/>
              </a:lnSpc>
            </a:pPr>
            <a:r>
              <a:rPr lang="en-US" altLang="zh-CN" sz="2000" dirty="0">
                <a:ea typeface="宋体" panose="02010600030101010101" pitchFamily="2" charset="-122"/>
              </a:rPr>
              <a:t>2</a:t>
            </a:r>
            <a:r>
              <a:rPr lang="zh-CN" altLang="en-US" sz="2000" dirty="0">
                <a:ea typeface="宋体" panose="02010600030101010101" pitchFamily="2" charset="-122"/>
              </a:rPr>
              <a:t>、工程测量工作很重要，它关系到通信工程建筑及线路的安全、质量、投资、施工维护等。同时设计过程中很大一部分问题需在测量时解决，因此测量工作实际上是与现场设计的结合过程。</a:t>
            </a:r>
            <a:endParaRPr lang="zh-CN" altLang="en-US" sz="2000" dirty="0">
              <a:ea typeface="宋体" panose="02010600030101010101" pitchFamily="2" charset="-122"/>
              <a:sym typeface="+mn-ea"/>
            </a:endParaRPr>
          </a:p>
        </p:txBody>
      </p:sp>
      <p:sp>
        <p:nvSpPr>
          <p:cNvPr id="16" name="TextBox 99"/>
          <p:cNvSpPr txBox="1"/>
          <p:nvPr/>
        </p:nvSpPr>
        <p:spPr>
          <a:xfrm>
            <a:off x="1025849" y="1746251"/>
            <a:ext cx="7877439" cy="706755"/>
          </a:xfrm>
          <a:prstGeom prst="rect">
            <a:avLst/>
          </a:prstGeom>
          <a:noFill/>
        </p:spPr>
        <p:txBody>
          <a:bodyPr wrap="square" rtlCol="0">
            <a:spAutoFit/>
          </a:bodyPr>
          <a:lstStyle/>
          <a:p>
            <a:pPr indent="-320675">
              <a:spcBef>
                <a:spcPct val="20000"/>
              </a:spcBef>
            </a:pPr>
            <a:r>
              <a:rPr lang="en-US" altLang="zh-CN" sz="2000" dirty="0">
                <a:ea typeface="宋体" panose="02010600030101010101" pitchFamily="2" charset="-122"/>
              </a:rPr>
              <a:t> 1</a:t>
            </a:r>
            <a:r>
              <a:rPr lang="zh-CN" altLang="en-US" sz="2000" dirty="0">
                <a:ea typeface="宋体" panose="02010600030101010101" pitchFamily="2" charset="-122"/>
              </a:rPr>
              <a:t>、所谓通信工程勘察包括“查勘”和“测量”两个工序。一般大型工程又可分为方案查勘、初步设计查勘和现场测量三个阶段。</a:t>
            </a: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5" name="组合 4"/>
          <p:cNvGrpSpPr/>
          <p:nvPr/>
        </p:nvGrpSpPr>
        <p:grpSpPr>
          <a:xfrm>
            <a:off x="1769923" y="825748"/>
            <a:ext cx="5759869" cy="573547"/>
            <a:chOff x="4260" y="638"/>
            <a:chExt cx="8921" cy="966"/>
          </a:xfrm>
        </p:grpSpPr>
        <p:sp>
          <p:nvSpPr>
            <p:cNvPr id="6" name="矩形 5"/>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7"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课堂小结</a:t>
              </a:r>
              <a:endParaRPr lang="zh-CN" altLang="en-US" sz="2990" b="1" dirty="0">
                <a:latin typeface="微软雅黑" panose="020B0503020204020204" charset="-122"/>
                <a:ea typeface="微软雅黑" panose="020B0503020204020204" charset="-122"/>
              </a:endParaRPr>
            </a:p>
          </p:txBody>
        </p:sp>
        <p:sp>
          <p:nvSpPr>
            <p:cNvPr id="8" name="矩形 7"/>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9" name="矩形 8"/>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0" name="矩形 9"/>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1" name="矩形 10"/>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2" name="矩形 11"/>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sp>
        <p:nvSpPr>
          <p:cNvPr id="15" name="TextBox 98"/>
          <p:cNvSpPr txBox="1"/>
          <p:nvPr/>
        </p:nvSpPr>
        <p:spPr>
          <a:xfrm>
            <a:off x="1093562" y="2593268"/>
            <a:ext cx="7540796" cy="2399665"/>
          </a:xfrm>
          <a:prstGeom prst="rect">
            <a:avLst/>
          </a:prstGeom>
          <a:noFill/>
        </p:spPr>
        <p:txBody>
          <a:bodyPr wrap="square" rtlCol="0">
            <a:spAutoFit/>
          </a:bodyPr>
          <a:lstStyle/>
          <a:p>
            <a:pPr>
              <a:lnSpc>
                <a:spcPct val="150000"/>
              </a:lnSpc>
            </a:pPr>
            <a:r>
              <a:rPr kumimoji="1" lang="en-US" altLang="zh-CN" sz="2000" dirty="0">
                <a:latin typeface="宋体" panose="02010600030101010101" pitchFamily="2" charset="-122"/>
                <a:ea typeface="宋体" panose="02010600030101010101" pitchFamily="2" charset="-122"/>
                <a:cs typeface="微软雅黑" panose="020B0503020204020204" charset="-122"/>
                <a:sym typeface="+mn-ea"/>
              </a:rPr>
              <a:t>4、</a:t>
            </a:r>
            <a:r>
              <a:rPr kumimoji="1" lang="zh-CN" altLang="en-US" sz="2000" dirty="0">
                <a:latin typeface="宋体" panose="02010600030101010101" pitchFamily="2" charset="-122"/>
                <a:ea typeface="宋体" panose="02010600030101010101" pitchFamily="2" charset="-122"/>
                <a:cs typeface="微软雅黑" panose="020B0503020204020204" charset="-122"/>
                <a:sym typeface="+mn-ea"/>
              </a:rPr>
              <a:t>接地电阻大小是衡量接地系统性能好坏的一个重要指标。凡通信工程设计施工中有防雷接地装置的通信局站、通信传输线路等，当防雷接地部分工程完工后要及时对接地体的接地电阻值使用接地电阻测试仪进行测量。</a:t>
            </a:r>
            <a:endParaRPr kumimoji="1" lang="zh-CN" altLang="en-US" sz="2000" dirty="0">
              <a:latin typeface="宋体" panose="02010600030101010101" pitchFamily="2" charset="-122"/>
              <a:ea typeface="宋体" panose="02010600030101010101" pitchFamily="2" charset="-122"/>
              <a:cs typeface="微软雅黑" panose="020B0503020204020204" charset="-122"/>
              <a:sym typeface="+mn-ea"/>
            </a:endParaRPr>
          </a:p>
          <a:p>
            <a:pPr>
              <a:lnSpc>
                <a:spcPct val="150000"/>
              </a:lnSpc>
            </a:pPr>
            <a:endParaRPr lang="zh-CN" altLang="en-US" sz="2000" dirty="0">
              <a:ea typeface="宋体" panose="02010600030101010101" pitchFamily="2" charset="-122"/>
              <a:sym typeface="+mn-ea"/>
            </a:endParaRPr>
          </a:p>
        </p:txBody>
      </p:sp>
      <p:sp>
        <p:nvSpPr>
          <p:cNvPr id="16" name="TextBox 99"/>
          <p:cNvSpPr txBox="1"/>
          <p:nvPr/>
        </p:nvSpPr>
        <p:spPr>
          <a:xfrm>
            <a:off x="1025849" y="1746251"/>
            <a:ext cx="7877439" cy="1076325"/>
          </a:xfrm>
          <a:prstGeom prst="rect">
            <a:avLst/>
          </a:prstGeom>
          <a:noFill/>
        </p:spPr>
        <p:txBody>
          <a:bodyPr wrap="square" rtlCol="0">
            <a:spAutoFit/>
          </a:bodyPr>
          <a:lstStyle/>
          <a:p>
            <a:pPr indent="-320675">
              <a:spcBef>
                <a:spcPct val="20000"/>
              </a:spcBef>
            </a:pPr>
            <a:r>
              <a:rPr lang="en-US" altLang="zh-CN" sz="2000" dirty="0">
                <a:latin typeface="宋体" panose="02010600030101010101" pitchFamily="2" charset="-122"/>
                <a:ea typeface="宋体" panose="02010600030101010101" pitchFamily="2" charset="-122"/>
                <a:sym typeface="+mn-ea"/>
              </a:rPr>
              <a:t>3、</a:t>
            </a:r>
            <a:r>
              <a:rPr lang="zh-CN" altLang="en-US" sz="2000" dirty="0">
                <a:latin typeface="宋体" panose="02010600030101010101" pitchFamily="2" charset="-122"/>
                <a:ea typeface="宋体" panose="02010600030101010101" pitchFamily="2" charset="-122"/>
                <a:sym typeface="+mn-ea"/>
              </a:rPr>
              <a:t>在通信工程勘察中，经常使用测距小轮车、</a:t>
            </a:r>
            <a:r>
              <a:rPr lang="en-US" altLang="zh-CN" sz="2000" dirty="0">
                <a:latin typeface="宋体" panose="02010600030101010101" pitchFamily="2" charset="-122"/>
                <a:ea typeface="宋体" panose="02010600030101010101" pitchFamily="2" charset="-122"/>
                <a:sym typeface="+mn-ea"/>
              </a:rPr>
              <a:t>GPS</a:t>
            </a:r>
            <a:r>
              <a:rPr lang="zh-CN" altLang="en-US" sz="2000" dirty="0">
                <a:latin typeface="宋体" panose="02010600030101010101" pitchFamily="2" charset="-122"/>
                <a:ea typeface="宋体" panose="02010600030101010101" pitchFamily="2" charset="-122"/>
                <a:sym typeface="+mn-ea"/>
              </a:rPr>
              <a:t>定位仪以及测距望远镜等测距工具进行距离测量。</a:t>
            </a:r>
            <a:endParaRPr lang="zh-CN" altLang="en-US" sz="2000" dirty="0">
              <a:latin typeface="宋体" panose="02010600030101010101" pitchFamily="2" charset="-122"/>
              <a:ea typeface="宋体" panose="02010600030101010101" pitchFamily="2" charset="-122"/>
            </a:endParaRPr>
          </a:p>
          <a:p>
            <a:pPr indent="-320675">
              <a:spcBef>
                <a:spcPct val="20000"/>
              </a:spcBef>
            </a:pPr>
            <a:endParaRPr lang="zh-CN" altLang="en-US" sz="2000" dirty="0">
              <a:ea typeface="宋体" panose="02010600030101010101" pitchFamily="2"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p="http://schemas.openxmlformats.org/presentationml/2006/main">
  <p:tag name="KSO_WM_DIAGRAM_VIRTUALLY_FRAME" val="{&quot;height&quot;:157.78574803149607,&quot;left&quot;:156.94220472440946,&quot;top&quot;:138.33771653543306,&quot;width&quot;:388.87267716535433}"/>
</p:tagLst>
</file>

<file path=ppt/tags/tag2.xml><?xml version="1.0" encoding="utf-8"?>
<p:tagLst xmlns:p="http://schemas.openxmlformats.org/presentationml/2006/main">
  <p:tag name="KSO_WM_DIAGRAM_VIRTUALLY_FRAME" val="{&quot;height&quot;:157.78574803149607,&quot;left&quot;:156.94220472440946,&quot;top&quot;:138.33771653543306,&quot;width&quot;:388.87267716535433}"/>
</p:tagLst>
</file>

<file path=ppt/tags/tag3.xml><?xml version="1.0" encoding="utf-8"?>
<p:tagLst xmlns:p="http://schemas.openxmlformats.org/presentationml/2006/main">
  <p:tag name="KSO_WM_DIAGRAM_VIRTUALLY_FRAME" val="{&quot;height&quot;:157.78574803149607,&quot;left&quot;:156.94220472440946,&quot;top&quot;:138.33771653543306,&quot;width&quot;:388.87267716535433}"/>
</p:tagLst>
</file>

<file path=ppt/tags/tag4.xml><?xml version="1.0" encoding="utf-8"?>
<p:tagLst xmlns:p="http://schemas.openxmlformats.org/presentationml/2006/main">
  <p:tag name="KSO_WM_DIAGRAM_VIRTUALLY_FRAME" val="{&quot;height&quot;:157.78574803149607,&quot;left&quot;:156.94220472440946,&quot;top&quot;:138.33771653543306,&quot;width&quot;:388.87267716535433}"/>
</p:tagLst>
</file>

<file path=ppt/tags/tag5.xml><?xml version="1.0" encoding="utf-8"?>
<p:tagLst xmlns:p="http://schemas.openxmlformats.org/presentationml/2006/main">
  <p:tag name="KSO_WM_DIAGRAM_VIRTUALLY_FRAME" val="{&quot;height&quot;:157.78574803149607,&quot;left&quot;:156.94220472440946,&quot;top&quot;:138.33771653543306,&quot;width&quot;:388.87267716535433}"/>
</p:tagLst>
</file>

<file path=ppt/tags/tag6.xml><?xml version="1.0" encoding="utf-8"?>
<p:tagLst xmlns:p="http://schemas.openxmlformats.org/presentationml/2006/main">
  <p:tag name="KSO_WM_DIAGRAM_VIRTUALLY_FRAME" val="{&quot;height&quot;:157.78574803149607,&quot;left&quot;:156.94220472440946,&quot;top&quot;:138.33771653543306,&quot;width&quot;:388.87267716535433}"/>
</p:tagLst>
</file>

<file path=ppt/tags/tag7.xml><?xml version="1.0" encoding="utf-8"?>
<p:tagLst xmlns:p="http://schemas.openxmlformats.org/presentationml/2006/main">
  <p:tag name="KSO_WM_UNIT_PLACING_PICTURE_USER_VIEWPORT" val="{&quot;height&quot;:2766.8267716535433,&quot;width&quot;:3933.4299212598426}"/>
</p:tagLst>
</file>

<file path=ppt/tags/tag8.xml><?xml version="1.0" encoding="utf-8"?>
<p:tagLst xmlns:p="http://schemas.openxmlformats.org/presentationml/2006/main">
  <p:tag name="KSO_WM_UNIT_TABLE_BEAUTIFY" val="smartTable{4947ae3a-cad8-45f5-ba90-1aa8f8dbdfc5}"/>
</p:tagLst>
</file>

<file path=ppt/tags/tag9.xml><?xml version="1.0" encoding="utf-8"?>
<p:tagLst xmlns:p="http://schemas.openxmlformats.org/presentationml/2006/main">
  <p:tag name="commondata" val="eyJoZGlkIjoiYmQ3NjQxYmZmN2ZkODIxYWNiNTEzMzQyMTZmNzQ1MmMifQ=="/>
  <p:tag name="COMMONDATA" val="eyJoZGlkIjoiZGFlNWRkNmVlMTQxOWJjOTRkYjEzOTE3MmJkY2Q1MWI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9712</Words>
  <Application>WPS 演示</Application>
  <PresentationFormat>自定义</PresentationFormat>
  <Paragraphs>705</Paragraphs>
  <Slides>66</Slides>
  <Notes>0</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3</vt:i4>
      </vt:variant>
      <vt:variant>
        <vt:lpstr>幻灯片标题</vt:lpstr>
      </vt:variant>
      <vt:variant>
        <vt:i4>66</vt:i4>
      </vt:variant>
    </vt:vector>
  </HeadingPairs>
  <TitlesOfParts>
    <vt:vector size="87" baseType="lpstr">
      <vt:lpstr>Arial</vt:lpstr>
      <vt:lpstr>宋体</vt:lpstr>
      <vt:lpstr>Wingdings</vt:lpstr>
      <vt:lpstr>微软雅黑 Light</vt:lpstr>
      <vt:lpstr>微软雅黑</vt:lpstr>
      <vt:lpstr>黑体</vt:lpstr>
      <vt:lpstr>Cooper Black</vt:lpstr>
      <vt:lpstr>Calibri</vt:lpstr>
      <vt:lpstr>Arial Unicode MS</vt:lpstr>
      <vt:lpstr>等线 Light</vt:lpstr>
      <vt:lpstr>Calibri Light</vt:lpstr>
      <vt:lpstr>等线</vt:lpstr>
      <vt:lpstr>仿宋_GB2312</vt:lpstr>
      <vt:lpstr>仿宋</vt:lpstr>
      <vt:lpstr>华文行楷</vt:lpstr>
      <vt:lpstr>Times New Roman</vt:lpstr>
      <vt:lpstr>自定义设计方案</vt:lpstr>
      <vt:lpstr>Office 主题</vt:lpstr>
      <vt:lpstr>MSPhotoEd.3</vt:lpstr>
      <vt:lpstr>AutoCAD.Drawing.16</vt:lpstr>
      <vt:lpstr>Visio.Drawing.6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Windows 用户</dc:creator>
  <cp:lastModifiedBy>WPS_1756649582</cp:lastModifiedBy>
  <cp:revision>182</cp:revision>
  <dcterms:created xsi:type="dcterms:W3CDTF">2016-04-25T01:13:00Z</dcterms:created>
  <dcterms:modified xsi:type="dcterms:W3CDTF">2025-12-05T00:20:10Z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4B2C4FD99B154EBBA320E49B1F0BFA27_12</vt:lpwstr>
  </property>
</Properties>
</file>