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emf" ContentType="image/x-emf"/>
  <Default Extension="gif" ContentType="image/gi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161"/>
  </p:notesMasterIdLst>
  <p:handoutMasterIdLst>
    <p:handoutMasterId r:id="rId162"/>
  </p:handoutMasterIdLst>
  <p:sldIdLst>
    <p:sldId id="619" r:id="rId4"/>
    <p:sldId id="620" r:id="rId5"/>
    <p:sldId id="621" r:id="rId6"/>
    <p:sldId id="905" r:id="rId7"/>
    <p:sldId id="906" r:id="rId8"/>
    <p:sldId id="909" r:id="rId9"/>
    <p:sldId id="910" r:id="rId10"/>
    <p:sldId id="907" r:id="rId11"/>
    <p:sldId id="622" r:id="rId12"/>
    <p:sldId id="623" r:id="rId13"/>
    <p:sldId id="624" r:id="rId14"/>
    <p:sldId id="625" r:id="rId15"/>
    <p:sldId id="626" r:id="rId16"/>
    <p:sldId id="627" r:id="rId17"/>
    <p:sldId id="628" r:id="rId18"/>
    <p:sldId id="629" r:id="rId19"/>
    <p:sldId id="630" r:id="rId20"/>
    <p:sldId id="631" r:id="rId21"/>
    <p:sldId id="632" r:id="rId22"/>
    <p:sldId id="633" r:id="rId23"/>
    <p:sldId id="634" r:id="rId24"/>
    <p:sldId id="635" r:id="rId25"/>
    <p:sldId id="636" r:id="rId26"/>
    <p:sldId id="637" r:id="rId27"/>
    <p:sldId id="638" r:id="rId28"/>
    <p:sldId id="639" r:id="rId29"/>
    <p:sldId id="640" r:id="rId30"/>
    <p:sldId id="641" r:id="rId31"/>
    <p:sldId id="642" r:id="rId32"/>
    <p:sldId id="643" r:id="rId33"/>
    <p:sldId id="644" r:id="rId34"/>
    <p:sldId id="645" r:id="rId35"/>
    <p:sldId id="646" r:id="rId36"/>
    <p:sldId id="647" r:id="rId37"/>
    <p:sldId id="648" r:id="rId38"/>
    <p:sldId id="649" r:id="rId39"/>
    <p:sldId id="650" r:id="rId40"/>
    <p:sldId id="651" r:id="rId41"/>
    <p:sldId id="652" r:id="rId42"/>
    <p:sldId id="653" r:id="rId43"/>
    <p:sldId id="654" r:id="rId44"/>
    <p:sldId id="655" r:id="rId45"/>
    <p:sldId id="656" r:id="rId46"/>
    <p:sldId id="657" r:id="rId47"/>
    <p:sldId id="658" r:id="rId48"/>
    <p:sldId id="659" r:id="rId49"/>
    <p:sldId id="660" r:id="rId50"/>
    <p:sldId id="661" r:id="rId51"/>
    <p:sldId id="662" r:id="rId52"/>
    <p:sldId id="663" r:id="rId53"/>
    <p:sldId id="664" r:id="rId54"/>
    <p:sldId id="665" r:id="rId55"/>
    <p:sldId id="666" r:id="rId56"/>
    <p:sldId id="667" r:id="rId57"/>
    <p:sldId id="668" r:id="rId58"/>
    <p:sldId id="669" r:id="rId59"/>
    <p:sldId id="670" r:id="rId60"/>
    <p:sldId id="671" r:id="rId61"/>
    <p:sldId id="672" r:id="rId62"/>
    <p:sldId id="673" r:id="rId63"/>
    <p:sldId id="674" r:id="rId64"/>
    <p:sldId id="675" r:id="rId65"/>
    <p:sldId id="676" r:id="rId66"/>
    <p:sldId id="677" r:id="rId67"/>
    <p:sldId id="678" r:id="rId68"/>
    <p:sldId id="679" r:id="rId69"/>
    <p:sldId id="680" r:id="rId70"/>
    <p:sldId id="681" r:id="rId71"/>
    <p:sldId id="682" r:id="rId72"/>
    <p:sldId id="683" r:id="rId73"/>
    <p:sldId id="684" r:id="rId74"/>
    <p:sldId id="685" r:id="rId75"/>
    <p:sldId id="686" r:id="rId76"/>
    <p:sldId id="687" r:id="rId77"/>
    <p:sldId id="688" r:id="rId78"/>
    <p:sldId id="689" r:id="rId79"/>
    <p:sldId id="690" r:id="rId80"/>
    <p:sldId id="691" r:id="rId81"/>
    <p:sldId id="692" r:id="rId82"/>
    <p:sldId id="693" r:id="rId83"/>
    <p:sldId id="694" r:id="rId84"/>
    <p:sldId id="695" r:id="rId85"/>
    <p:sldId id="696" r:id="rId86"/>
    <p:sldId id="697" r:id="rId87"/>
    <p:sldId id="698" r:id="rId88"/>
    <p:sldId id="699" r:id="rId89"/>
    <p:sldId id="700" r:id="rId90"/>
    <p:sldId id="701" r:id="rId91"/>
    <p:sldId id="702" r:id="rId92"/>
    <p:sldId id="703" r:id="rId93"/>
    <p:sldId id="704" r:id="rId94"/>
    <p:sldId id="705" r:id="rId95"/>
    <p:sldId id="706" r:id="rId96"/>
    <p:sldId id="707" r:id="rId97"/>
    <p:sldId id="708" r:id="rId98"/>
    <p:sldId id="709" r:id="rId99"/>
    <p:sldId id="710" r:id="rId100"/>
    <p:sldId id="711" r:id="rId101"/>
    <p:sldId id="712" r:id="rId102"/>
    <p:sldId id="713" r:id="rId103"/>
    <p:sldId id="714" r:id="rId104"/>
    <p:sldId id="715" r:id="rId105"/>
    <p:sldId id="716" r:id="rId106"/>
    <p:sldId id="717" r:id="rId107"/>
    <p:sldId id="718" r:id="rId108"/>
    <p:sldId id="719" r:id="rId109"/>
    <p:sldId id="720" r:id="rId110"/>
    <p:sldId id="721" r:id="rId111"/>
    <p:sldId id="722" r:id="rId112"/>
    <p:sldId id="723" r:id="rId113"/>
    <p:sldId id="724" r:id="rId114"/>
    <p:sldId id="725" r:id="rId115"/>
    <p:sldId id="726" r:id="rId116"/>
    <p:sldId id="727" r:id="rId117"/>
    <p:sldId id="728" r:id="rId118"/>
    <p:sldId id="729" r:id="rId119"/>
    <p:sldId id="730" r:id="rId120"/>
    <p:sldId id="731" r:id="rId121"/>
    <p:sldId id="732" r:id="rId122"/>
    <p:sldId id="733" r:id="rId123"/>
    <p:sldId id="734" r:id="rId124"/>
    <p:sldId id="735" r:id="rId125"/>
    <p:sldId id="736" r:id="rId126"/>
    <p:sldId id="737" r:id="rId127"/>
    <p:sldId id="738" r:id="rId128"/>
    <p:sldId id="739" r:id="rId129"/>
    <p:sldId id="740" r:id="rId130"/>
    <p:sldId id="741" r:id="rId131"/>
    <p:sldId id="742" r:id="rId132"/>
    <p:sldId id="743" r:id="rId133"/>
    <p:sldId id="744" r:id="rId134"/>
    <p:sldId id="745" r:id="rId135"/>
    <p:sldId id="746" r:id="rId136"/>
    <p:sldId id="747" r:id="rId137"/>
    <p:sldId id="748" r:id="rId138"/>
    <p:sldId id="749" r:id="rId139"/>
    <p:sldId id="750" r:id="rId140"/>
    <p:sldId id="751" r:id="rId141"/>
    <p:sldId id="752" r:id="rId142"/>
    <p:sldId id="753" r:id="rId143"/>
    <p:sldId id="754" r:id="rId144"/>
    <p:sldId id="755" r:id="rId145"/>
    <p:sldId id="756" r:id="rId146"/>
    <p:sldId id="757" r:id="rId147"/>
    <p:sldId id="758" r:id="rId148"/>
    <p:sldId id="759" r:id="rId149"/>
    <p:sldId id="821" r:id="rId150"/>
    <p:sldId id="822" r:id="rId151"/>
    <p:sldId id="823" r:id="rId152"/>
    <p:sldId id="824" r:id="rId153"/>
    <p:sldId id="825" r:id="rId154"/>
    <p:sldId id="826" r:id="rId155"/>
    <p:sldId id="827" r:id="rId156"/>
    <p:sldId id="828" r:id="rId157"/>
    <p:sldId id="829" r:id="rId158"/>
    <p:sldId id="830" r:id="rId159"/>
    <p:sldId id="831" r:id="rId160"/>
  </p:sldIdLst>
  <p:sldSz cx="9144000" cy="6858000" type="screen4x3"/>
  <p:notesSz cx="6858000" cy="9144000"/>
  <p:custDataLst>
    <p:tags r:id="rId166"/>
  </p:custDataLst>
  <p:defaultTextStyle>
    <a:defPPr>
      <a:defRPr lang="en-US"/>
    </a:defPPr>
    <a:lvl1pPr marL="0" lvl="0" indent="0" algn="l" defTabSz="914400" rtl="0" eaLnBrk="1" fontAlgn="base" latinLnBrk="0" hangingPunct="1">
      <a:lnSpc>
        <a:spcPct val="100000"/>
      </a:lnSpc>
      <a:spcBef>
        <a:spcPct val="0"/>
      </a:spcBef>
      <a:spcAft>
        <a:spcPct val="0"/>
      </a:spcAft>
      <a:buNone/>
      <a:defRPr sz="2000" b="1" i="0" u="none" kern="1200" baseline="0">
        <a:solidFill>
          <a:schemeClr val="bg1"/>
        </a:solidFill>
        <a:latin typeface="Arial" panose="020B0604020202020204" pitchFamily="34" charset="0"/>
        <a:ea typeface="华文行楷" panose="020108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1" i="0" u="none" kern="1200" baseline="0">
        <a:solidFill>
          <a:schemeClr val="bg1"/>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1" i="0" u="none" kern="1200" baseline="0">
        <a:solidFill>
          <a:schemeClr val="bg1"/>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1" i="0" u="none" kern="1200" baseline="0">
        <a:solidFill>
          <a:schemeClr val="bg1"/>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1" i="0" u="none" kern="1200" baseline="0">
        <a:solidFill>
          <a:schemeClr val="bg1"/>
        </a:solidFill>
        <a:latin typeface="Arial" panose="020B0604020202020204" pitchFamily="34" charset="0"/>
        <a:ea typeface="华文行楷" panose="020108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1" i="0" u="none" kern="1200" baseline="0">
        <a:solidFill>
          <a:schemeClr val="bg1"/>
        </a:solidFill>
        <a:latin typeface="Arial" panose="020B0604020202020204" pitchFamily="34" charset="0"/>
        <a:ea typeface="华文行楷" panose="020108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1" i="0" u="none" kern="1200" baseline="0">
        <a:solidFill>
          <a:schemeClr val="bg1"/>
        </a:solidFill>
        <a:latin typeface="Arial" panose="020B0604020202020204" pitchFamily="34" charset="0"/>
        <a:ea typeface="华文行楷" panose="020108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1" i="0" u="none" kern="1200" baseline="0">
        <a:solidFill>
          <a:schemeClr val="bg1"/>
        </a:solidFill>
        <a:latin typeface="Arial" panose="020B0604020202020204" pitchFamily="34" charset="0"/>
        <a:ea typeface="华文行楷" panose="020108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1" i="0" u="none" kern="1200" baseline="0">
        <a:solidFill>
          <a:schemeClr val="bg1"/>
        </a:solidFill>
        <a:latin typeface="Arial" panose="020B0604020202020204" pitchFamily="34" charset="0"/>
        <a:ea typeface="华文行楷" panose="02010800040101010101" pitchFamily="2" charset="-122"/>
        <a:cs typeface="+mn-cs"/>
      </a:defRPr>
    </a:lvl9pPr>
  </p:defaultTextStyle>
  <p:extLst>
    <p:ext uri="{EFAFB233-063F-42B5-8137-9DF3F51BA10A}">
      <p15:sldGuideLst xmlns:p15="http://schemas.microsoft.com/office/powerpoint/2012/main">
        <p15:guide id="1" orient="horz" pos="2182"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660033"/>
    <a:srgbClr val="CC00FF"/>
    <a:srgbClr val="0066FF"/>
    <a:srgbClr val="336699"/>
    <a:srgbClr val="0196B9"/>
    <a:srgbClr val="003366"/>
    <a:srgbClr val="333300"/>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showOutlineIcons="0">
    <p:restoredLeft sz="20500"/>
    <p:restoredTop sz="94600"/>
  </p:normalViewPr>
  <p:slideViewPr>
    <p:cSldViewPr showGuides="1">
      <p:cViewPr varScale="1">
        <p:scale>
          <a:sx n="70" d="100"/>
          <a:sy n="70" d="100"/>
        </p:scale>
        <p:origin x="1182" y="66"/>
      </p:cViewPr>
      <p:guideLst>
        <p:guide orient="horz" pos="2182"/>
        <p:guide pos="2880"/>
      </p:guideLst>
    </p:cSldViewPr>
  </p:slideViewPr>
  <p:notesTextViewPr>
    <p:cViewPr>
      <p:scale>
        <a:sx n="100" d="100"/>
        <a:sy n="100" d="100"/>
      </p:scale>
      <p:origin x="0" y="0"/>
    </p:cViewPr>
  </p:notesTextViewPr>
  <p:sorterViewPr showFormatting="0">
    <p:cViewPr varScale="1">
      <p:scale>
        <a:sx n="1" d="1"/>
        <a:sy n="1" d="1"/>
      </p:scale>
      <p:origin x="0" y="-14706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6" Type="http://schemas.openxmlformats.org/officeDocument/2006/relationships/tags" Target="tags/tag1.xml"/><Relationship Id="rId165" Type="http://schemas.openxmlformats.org/officeDocument/2006/relationships/tableStyles" Target="tableStyles.xml"/><Relationship Id="rId164" Type="http://schemas.openxmlformats.org/officeDocument/2006/relationships/viewProps" Target="viewProps.xml"/><Relationship Id="rId163" Type="http://schemas.openxmlformats.org/officeDocument/2006/relationships/presProps" Target="presProps.xml"/><Relationship Id="rId162" Type="http://schemas.openxmlformats.org/officeDocument/2006/relationships/handoutMaster" Target="handoutMasters/handoutMaster1.xml"/><Relationship Id="rId161" Type="http://schemas.openxmlformats.org/officeDocument/2006/relationships/notesMaster" Target="notesMasters/notesMaster1.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21.wmf"/><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Arial" panose="020B0604020202020204" pitchFamily="34" charset="0"/>
                <a:ea typeface="华文行楷" panose="02010800040101010101"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Arial" panose="020B0604020202020204" pitchFamily="34" charset="0"/>
                <a:ea typeface="华文行楷" panose="0201080004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89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spcBef>
                <a:spcPct val="0"/>
              </a:spcBef>
              <a:defRPr sz="1200" b="0" smtClean="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91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spcBef>
                <a:spcPct val="0"/>
              </a:spcBef>
              <a:defRPr sz="1200" b="0" smtClean="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FD364289-29D5-4264-B94C-B1B146F4DA2C}"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Ro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891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spcBef>
                <a:spcPct val="0"/>
              </a:spcBef>
              <a:defRPr sz="1200" b="0" smtClean="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spcBef>
                <a:spcPct val="0"/>
              </a:spcBef>
              <a:defRPr sz="1200" b="0" smtClean="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549F1C42-7F2F-4AC9-833C-B0DBFA813470}"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628650" y="1825625"/>
            <a:ext cx="78867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6715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825625"/>
            <a:ext cx="386715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1200" cap="none" spc="0" normalizeH="0" baseline="0" noProof="0" smtClean="0">
              <a:ln>
                <a:noFill/>
              </a:ln>
              <a:solidFill>
                <a:srgbClr val="336699"/>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a:xfrm>
            <a:off x="628650" y="1825625"/>
            <a:ext cx="7886700" cy="4351338"/>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1" i="0" u="none" strike="noStrike" kern="1200" cap="none" spc="0" normalizeH="0" baseline="0" noProof="0" smtClean="0">
              <a:ln>
                <a:noFill/>
              </a:ln>
              <a:solidFill>
                <a:srgbClr val="336699"/>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28650" y="1825625"/>
            <a:ext cx="386715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日期占位符 5"/>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628650" y="1825625"/>
            <a:ext cx="386715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825625"/>
            <a:ext cx="386715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28650" y="365125"/>
            <a:ext cx="78867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quarter" idx="1"/>
          </p:nvPr>
        </p:nvSpPr>
        <p:spPr>
          <a:xfrm>
            <a:off x="628650" y="1825625"/>
            <a:ext cx="3867150" cy="2098675"/>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内容占位符 4"/>
          <p:cNvSpPr>
            <a:spLocks noGrp="1"/>
          </p:cNvSpPr>
          <p:nvPr>
            <p:ph sz="quarter" idx="3"/>
          </p:nvPr>
        </p:nvSpPr>
        <p:spPr>
          <a:xfrm>
            <a:off x="628650" y="4076700"/>
            <a:ext cx="3867150" cy="210026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6" name="内容占位符 5"/>
          <p:cNvSpPr>
            <a:spLocks noGrp="1"/>
          </p:cNvSpPr>
          <p:nvPr>
            <p:ph sz="quarter" idx="4"/>
          </p:nvPr>
        </p:nvSpPr>
        <p:spPr>
          <a:xfrm>
            <a:off x="4648200" y="4076700"/>
            <a:ext cx="3867150" cy="2100263"/>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30238" y="2505075"/>
            <a:ext cx="3868737"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788"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9" name="灯片编号占位符 8"/>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灯片编号占位符 4"/>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4" name="灯片编号占位符 3"/>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7" name="灯片编号占位符 6"/>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 name="灯片编号占位符 5"/>
          <p:cNvSpPr>
            <a:spLocks noGrp="1"/>
          </p:cNvSpPr>
          <p:nvPr>
            <p:ph type="sldNum" sz="quarter" idx="12"/>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1.jpeg"/><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2" Type="http://schemas.openxmlformats.org/officeDocument/2006/relationships/theme" Target="../theme/theme2.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7"/>
          <a:stretch>
            <a:fillRect/>
          </a:stretch>
        </a:blipFill>
        <a:effectLst/>
      </p:bgPr>
    </p:bg>
    <p:spTree>
      <p:nvGrpSpPr>
        <p:cNvPr id="1" name=""/>
        <p:cNvGrpSpPr/>
        <p:nvPr/>
      </p:nvGrpSpPr>
      <p:grpSpPr/>
      <p:sp>
        <p:nvSpPr>
          <p:cNvPr id="1037" name="Rectangle 4"/>
          <p:cNvSpPr>
            <a:spLocks noGrp="1" noChangeArrowheads="1"/>
          </p:cNvSpPr>
          <p:nvPr>
            <p:ph type="dt" sz="half" idx="2"/>
          </p:nvPr>
        </p:nvSpPr>
        <p:spPr bwMode="auto">
          <a:xfrm>
            <a:off x="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spcBef>
                <a:spcPct val="0"/>
              </a:spcBef>
              <a:defRPr sz="1400" b="0" smtClean="0">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038" name="Rectangle 5"/>
          <p:cNvSpPr>
            <a:spLocks noGrp="1" noChangeArrowheads="1"/>
          </p:cNvSpPr>
          <p:nvPr>
            <p:ph type="ftr" sz="quarter" idx="3"/>
          </p:nvPr>
        </p:nvSpPr>
        <p:spPr bwMode="auto">
          <a:xfrm>
            <a:off x="3124200" y="6477000"/>
            <a:ext cx="2895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spcBef>
                <a:spcPct val="0"/>
              </a:spcBef>
              <a:defRPr sz="1400" b="0" smtClean="0">
                <a:latin typeface="Times New Roman" panose="02020603050405020304" pitchFamily="18"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
        <p:nvSpPr>
          <p:cNvPr id="1039" name="Rectangle 6"/>
          <p:cNvSpPr>
            <a:spLocks noGrp="1" noChangeArrowheads="1"/>
          </p:cNvSpPr>
          <p:nvPr>
            <p:ph type="sldNum" sz="quarter" idx="4"/>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spcBef>
                <a:spcPct val="0"/>
              </a:spcBef>
              <a:defRPr sz="1400" b="0" smtClean="0">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24FDFCA-DA4D-4F68-8C9C-EB6650685A44}" type="slidenum">
              <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rtl="0" eaLnBrk="0" fontAlgn="base" hangingPunct="0">
        <a:spcBef>
          <a:spcPct val="0"/>
        </a:spcBef>
        <a:spcAft>
          <a:spcPct val="0"/>
        </a:spcAft>
        <a:defRPr sz="3600" kern="1200">
          <a:solidFill>
            <a:srgbClr val="336699"/>
          </a:solidFill>
          <a:latin typeface="+mj-lt"/>
          <a:ea typeface="+mj-ea"/>
          <a:cs typeface="+mj-cs"/>
        </a:defRPr>
      </a:lvl1pPr>
      <a:lvl2pPr algn="ctr" rtl="0" eaLnBrk="0" fontAlgn="base" hangingPunct="0">
        <a:spcBef>
          <a:spcPct val="0"/>
        </a:spcBef>
        <a:spcAft>
          <a:spcPct val="0"/>
        </a:spcAft>
        <a:defRPr sz="3600">
          <a:solidFill>
            <a:srgbClr val="336699"/>
          </a:solidFill>
          <a:latin typeface="Cooper Black" panose="0208090404030B020404" pitchFamily="18" charset="0"/>
        </a:defRPr>
      </a:lvl2pPr>
      <a:lvl3pPr algn="ctr" rtl="0" eaLnBrk="0" fontAlgn="base" hangingPunct="0">
        <a:spcBef>
          <a:spcPct val="0"/>
        </a:spcBef>
        <a:spcAft>
          <a:spcPct val="0"/>
        </a:spcAft>
        <a:defRPr sz="3600">
          <a:solidFill>
            <a:srgbClr val="336699"/>
          </a:solidFill>
          <a:latin typeface="Cooper Black" panose="0208090404030B020404" pitchFamily="18" charset="0"/>
        </a:defRPr>
      </a:lvl3pPr>
      <a:lvl4pPr algn="ctr" rtl="0" eaLnBrk="0" fontAlgn="base" hangingPunct="0">
        <a:spcBef>
          <a:spcPct val="0"/>
        </a:spcBef>
        <a:spcAft>
          <a:spcPct val="0"/>
        </a:spcAft>
        <a:defRPr sz="3600">
          <a:solidFill>
            <a:srgbClr val="336699"/>
          </a:solidFill>
          <a:latin typeface="Cooper Black" panose="0208090404030B020404" pitchFamily="18" charset="0"/>
        </a:defRPr>
      </a:lvl4pPr>
      <a:lvl5pPr algn="ctr" rtl="0" eaLnBrk="0" fontAlgn="base" hangingPunct="0">
        <a:spcBef>
          <a:spcPct val="0"/>
        </a:spcBef>
        <a:spcAft>
          <a:spcPct val="0"/>
        </a:spcAft>
        <a:defRPr sz="3600">
          <a:solidFill>
            <a:srgbClr val="336699"/>
          </a:solidFill>
          <a:latin typeface="Cooper Black" panose="0208090404030B020404" pitchFamily="18" charset="0"/>
        </a:defRPr>
      </a:lvl5pPr>
      <a:lvl6pPr marL="457200" algn="ctr" rtl="0" eaLnBrk="0" fontAlgn="base" hangingPunct="0">
        <a:spcBef>
          <a:spcPct val="0"/>
        </a:spcBef>
        <a:spcAft>
          <a:spcPct val="0"/>
        </a:spcAft>
        <a:defRPr sz="3600">
          <a:solidFill>
            <a:srgbClr val="336699"/>
          </a:solidFill>
          <a:latin typeface="Cooper Black" panose="0208090404030B020404" pitchFamily="18" charset="0"/>
        </a:defRPr>
      </a:lvl6pPr>
      <a:lvl7pPr marL="914400" algn="ctr" rtl="0" eaLnBrk="0" fontAlgn="base" hangingPunct="0">
        <a:spcBef>
          <a:spcPct val="0"/>
        </a:spcBef>
        <a:spcAft>
          <a:spcPct val="0"/>
        </a:spcAft>
        <a:defRPr sz="3600">
          <a:solidFill>
            <a:srgbClr val="336699"/>
          </a:solidFill>
          <a:latin typeface="Cooper Black" panose="0208090404030B020404" pitchFamily="18" charset="0"/>
        </a:defRPr>
      </a:lvl7pPr>
      <a:lvl8pPr marL="1371600" algn="ctr" rtl="0" eaLnBrk="0" fontAlgn="base" hangingPunct="0">
        <a:spcBef>
          <a:spcPct val="0"/>
        </a:spcBef>
        <a:spcAft>
          <a:spcPct val="0"/>
        </a:spcAft>
        <a:defRPr sz="3600">
          <a:solidFill>
            <a:srgbClr val="336699"/>
          </a:solidFill>
          <a:latin typeface="Cooper Black" panose="0208090404030B020404" pitchFamily="18" charset="0"/>
        </a:defRPr>
      </a:lvl8pPr>
      <a:lvl9pPr marL="1828800" algn="ctr" rtl="0" eaLnBrk="0" fontAlgn="base" hangingPunct="0">
        <a:spcBef>
          <a:spcPct val="0"/>
        </a:spcBef>
        <a:spcAft>
          <a:spcPct val="0"/>
        </a:spcAft>
        <a:defRPr sz="3600">
          <a:solidFill>
            <a:srgbClr val="336699"/>
          </a:solidFill>
          <a:latin typeface="Cooper Black" panose="0208090404030B020404" pitchFamily="18" charset="0"/>
        </a:defRPr>
      </a:lvl9pPr>
    </p:titleStyle>
    <p:bodyStyle>
      <a:lvl1pPr marL="342900" indent="-342900" algn="l" rtl="0" eaLnBrk="0" fontAlgn="base" hangingPunct="0">
        <a:spcBef>
          <a:spcPct val="20000"/>
        </a:spcBef>
        <a:spcAft>
          <a:spcPct val="0"/>
        </a:spcAft>
        <a:buChar char="•"/>
        <a:defRPr sz="2400" b="1" kern="1200">
          <a:solidFill>
            <a:srgbClr val="336699"/>
          </a:solidFill>
          <a:latin typeface="+mn-lt"/>
          <a:ea typeface="+mn-ea"/>
          <a:cs typeface="+mn-cs"/>
        </a:defRPr>
      </a:lvl1pPr>
      <a:lvl2pPr marL="742950" indent="-285750" algn="l" rtl="0" eaLnBrk="0" fontAlgn="base" hangingPunct="0">
        <a:spcBef>
          <a:spcPct val="20000"/>
        </a:spcBef>
        <a:spcAft>
          <a:spcPct val="0"/>
        </a:spcAft>
        <a:buChar char="–"/>
        <a:defRPr sz="2000" b="1" kern="1200">
          <a:solidFill>
            <a:srgbClr val="336699"/>
          </a:solidFill>
          <a:latin typeface="+mn-lt"/>
          <a:ea typeface="+mn-ea"/>
          <a:cs typeface="+mn-cs"/>
        </a:defRPr>
      </a:lvl2pPr>
      <a:lvl3pPr marL="1143000" indent="-228600" algn="l" rtl="0" eaLnBrk="0" fontAlgn="base" hangingPunct="0">
        <a:spcBef>
          <a:spcPct val="20000"/>
        </a:spcBef>
        <a:spcAft>
          <a:spcPct val="0"/>
        </a:spcAft>
        <a:buChar char="•"/>
        <a:defRPr b="1" kern="1200">
          <a:solidFill>
            <a:srgbClr val="336699"/>
          </a:solidFill>
          <a:latin typeface="+mn-lt"/>
          <a:ea typeface="+mn-ea"/>
          <a:cs typeface="+mn-cs"/>
        </a:defRPr>
      </a:lvl3pPr>
      <a:lvl4pPr marL="1600200" indent="-228600" algn="l" rtl="0" eaLnBrk="0" fontAlgn="base" hangingPunct="0">
        <a:spcBef>
          <a:spcPct val="20000"/>
        </a:spcBef>
        <a:spcAft>
          <a:spcPct val="0"/>
        </a:spcAft>
        <a:buChar char="–"/>
        <a:defRPr sz="1600" b="1" kern="1200">
          <a:solidFill>
            <a:srgbClr val="336699"/>
          </a:solidFill>
          <a:latin typeface="+mn-lt"/>
          <a:ea typeface="+mn-ea"/>
          <a:cs typeface="+mn-cs"/>
        </a:defRPr>
      </a:lvl4pPr>
      <a:lvl5pPr marL="2057400" indent="-228600" algn="l" rtl="0" eaLnBrk="0" fontAlgn="base" hangingPunct="0">
        <a:spcBef>
          <a:spcPct val="20000"/>
        </a:spcBef>
        <a:spcAft>
          <a:spcPct val="0"/>
        </a:spcAft>
        <a:buChar char="»"/>
        <a:defRPr sz="1600" b="1" kern="1200">
          <a:solidFill>
            <a:srgbClr val="3366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2050"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1" name="Rectangle 3"/>
          <p:cNvSpPr>
            <a:spLocks noGrp="1"/>
          </p:cNvSpPr>
          <p:nvPr>
            <p:ph type="body"/>
          </p:nvPr>
        </p:nvSpPr>
        <p:spPr>
          <a:xfrm>
            <a:off x="457200" y="1600200"/>
            <a:ext cx="8229600" cy="4525963"/>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3796"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spcBef>
                <a:spcPct val="0"/>
              </a:spcBef>
              <a:defRPr sz="1400" b="0" smtClean="0">
                <a:solidFill>
                  <a:schemeClr val="tx1"/>
                </a:solidFill>
                <a:latin typeface="Times New Roman" panose="0202060305040502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AC229825-B5C3-45B0-8B79-F41C262E4CC4}" type="datetimeFigureOut">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3797"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0" hangingPunct="0">
              <a:spcBef>
                <a:spcPct val="0"/>
              </a:spcBef>
              <a:defRPr sz="1400" b="0" smtClean="0">
                <a:solidFill>
                  <a:schemeClr val="tx1"/>
                </a:solidFill>
                <a:latin typeface="Times New Roman" panose="02020603050405020304" pitchFamily="18" charset="0"/>
                <a:ea typeface="+mn-ea"/>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3798"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spcBef>
                <a:spcPct val="0"/>
              </a:spcBef>
              <a:defRPr sz="1400" b="0" smtClean="0">
                <a:solidFill>
                  <a:schemeClr val="tx1"/>
                </a:solidFill>
                <a:latin typeface="Times New Roman" panose="02020603050405020304" pitchFamily="18" charset="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4BBBDB2F-50CA-47A0-8A5A-4919AA4CCBD6}"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slide" Target="slide147.xml"/><Relationship Id="rId4" Type="http://schemas.openxmlformats.org/officeDocument/2006/relationships/slide" Target="slide71.xml"/><Relationship Id="rId3" Type="http://schemas.openxmlformats.org/officeDocument/2006/relationships/audio" Target="../media/audio1.wav"/><Relationship Id="rId2" Type="http://schemas.openxmlformats.org/officeDocument/2006/relationships/slide" Target="slide3.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9" Type="http://schemas.openxmlformats.org/officeDocument/2006/relationships/slide" Target="slide62.xml"/><Relationship Id="rId8" Type="http://schemas.openxmlformats.org/officeDocument/2006/relationships/slide" Target="slide56.xml"/><Relationship Id="rId7" Type="http://schemas.openxmlformats.org/officeDocument/2006/relationships/slide" Target="slide51.xml"/><Relationship Id="rId6" Type="http://schemas.openxmlformats.org/officeDocument/2006/relationships/slide" Target="slide25.xml"/><Relationship Id="rId5" Type="http://schemas.openxmlformats.org/officeDocument/2006/relationships/slide" Target="slide16.xml"/><Relationship Id="rId4" Type="http://schemas.openxmlformats.org/officeDocument/2006/relationships/slide" Target="slide13.xml"/><Relationship Id="rId3" Type="http://schemas.openxmlformats.org/officeDocument/2006/relationships/audio" Target="../media/audio1.wav"/><Relationship Id="rId2" Type="http://schemas.openxmlformats.org/officeDocument/2006/relationships/slide" Target="slide9.xml"/><Relationship Id="rId13" Type="http://schemas.openxmlformats.org/officeDocument/2006/relationships/slideLayout" Target="../slideLayouts/slideLayout2.xml"/><Relationship Id="rId12" Type="http://schemas.openxmlformats.org/officeDocument/2006/relationships/image" Target="../media/image6.emf"/><Relationship Id="rId11" Type="http://schemas.openxmlformats.org/officeDocument/2006/relationships/slide" Target="slide2.xml"/><Relationship Id="rId10" Type="http://schemas.openxmlformats.org/officeDocument/2006/relationships/slide" Target="slide68.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emf"/><Relationship Id="rId6" Type="http://schemas.openxmlformats.org/officeDocument/2006/relationships/slide" Target="slide3.xml"/><Relationship Id="rId5" Type="http://schemas.openxmlformats.org/officeDocument/2006/relationships/image" Target="../media/image9.png"/><Relationship Id="rId4" Type="http://schemas.openxmlformats.org/officeDocument/2006/relationships/slide" Target="slide13.xml"/><Relationship Id="rId3" Type="http://schemas.openxmlformats.org/officeDocument/2006/relationships/slide" Target="slide9.xml"/><Relationship Id="rId2" Type="http://schemas.openxmlformats.org/officeDocument/2006/relationships/image" Target="../media/image8.GIF"/><Relationship Id="rId1" Type="http://schemas.openxmlformats.org/officeDocument/2006/relationships/image" Target="../media/image7.GIF"/></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0.png"/><Relationship Id="rId2" Type="http://schemas.openxmlformats.org/officeDocument/2006/relationships/image" Target="../media/image6.emf"/><Relationship Id="rId1"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5.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emf"/><Relationship Id="rId6" Type="http://schemas.openxmlformats.org/officeDocument/2006/relationships/slide" Target="slide3.xml"/><Relationship Id="rId5" Type="http://schemas.openxmlformats.org/officeDocument/2006/relationships/image" Target="../media/image9.png"/><Relationship Id="rId4" Type="http://schemas.openxmlformats.org/officeDocument/2006/relationships/slide" Target="slide14.xml"/><Relationship Id="rId3" Type="http://schemas.openxmlformats.org/officeDocument/2006/relationships/slide" Target="slide10.xml"/><Relationship Id="rId2" Type="http://schemas.openxmlformats.org/officeDocument/2006/relationships/image" Target="../media/image8.GIF"/><Relationship Id="rId1" Type="http://schemas.openxmlformats.org/officeDocument/2006/relationships/image" Target="../media/image7.GI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9.xml"/></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3.xml"/><Relationship Id="rId4" Type="http://schemas.openxmlformats.org/officeDocument/2006/relationships/image" Target="../media/image11.emf"/><Relationship Id="rId3" Type="http://schemas.openxmlformats.org/officeDocument/2006/relationships/oleObject" Target="../embeddings/oleObject1.bin"/><Relationship Id="rId2" Type="http://schemas.openxmlformats.org/officeDocument/2006/relationships/image" Target="../media/image6.emf"/><Relationship Id="rId1" Type="http://schemas.openxmlformats.org/officeDocument/2006/relationships/slide" Target="slide9.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2.png"/><Relationship Id="rId2" Type="http://schemas.openxmlformats.org/officeDocument/2006/relationships/image" Target="../media/image6.emf"/><Relationship Id="rId1" Type="http://schemas.openxmlformats.org/officeDocument/2006/relationships/slide" Target="slide9.xml"/></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emf"/><Relationship Id="rId6" Type="http://schemas.openxmlformats.org/officeDocument/2006/relationships/slide" Target="slide3.xml"/><Relationship Id="rId5" Type="http://schemas.openxmlformats.org/officeDocument/2006/relationships/image" Target="../media/image9.png"/><Relationship Id="rId4" Type="http://schemas.openxmlformats.org/officeDocument/2006/relationships/slide" Target="slide15.xml"/><Relationship Id="rId3" Type="http://schemas.openxmlformats.org/officeDocument/2006/relationships/slide" Target="slide14.xml"/><Relationship Id="rId2" Type="http://schemas.openxmlformats.org/officeDocument/2006/relationships/image" Target="../media/image8.GIF"/><Relationship Id="rId1" Type="http://schemas.openxmlformats.org/officeDocument/2006/relationships/image" Target="../media/image7.GIF"/></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9.xml"/></Relationships>
</file>

<file path=ppt/slides/_rels/slide16.xml.rels><?xml version="1.0" encoding="UTF-8" standalone="yes"?>
<Relationships xmlns="http://schemas.openxmlformats.org/package/2006/relationships"><Relationship Id="rId9" Type="http://schemas.openxmlformats.org/officeDocument/2006/relationships/slide" Target="slide20.xml"/><Relationship Id="rId8" Type="http://schemas.openxmlformats.org/officeDocument/2006/relationships/slide" Target="slide19.xml"/><Relationship Id="rId7" Type="http://schemas.openxmlformats.org/officeDocument/2006/relationships/slide" Target="slide18.xml"/><Relationship Id="rId6" Type="http://schemas.openxmlformats.org/officeDocument/2006/relationships/slide" Target="slide17.xml"/><Relationship Id="rId5" Type="http://schemas.openxmlformats.org/officeDocument/2006/relationships/image" Target="../media/image14.GIF"/><Relationship Id="rId4" Type="http://schemas.openxmlformats.org/officeDocument/2006/relationships/image" Target="../media/image13.GIF"/><Relationship Id="rId3" Type="http://schemas.openxmlformats.org/officeDocument/2006/relationships/image" Target="../media/image8.GIF"/><Relationship Id="rId2" Type="http://schemas.openxmlformats.org/officeDocument/2006/relationships/image" Target="../media/image7.GIF"/><Relationship Id="rId12" Type="http://schemas.openxmlformats.org/officeDocument/2006/relationships/slideLayout" Target="../slideLayouts/slideLayout2.xml"/><Relationship Id="rId11" Type="http://schemas.openxmlformats.org/officeDocument/2006/relationships/image" Target="../media/image6.emf"/><Relationship Id="rId10" Type="http://schemas.openxmlformats.org/officeDocument/2006/relationships/slide" Target="slide3.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6.emf"/><Relationship Id="rId1" Type="http://schemas.openxmlformats.org/officeDocument/2006/relationships/slide" Target="slide1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slide" Target="slide1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slide" Target="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slide" Target="slide16.xml"/></Relationships>
</file>

<file path=ppt/slides/_rels/slide25.xml.rels><?xml version="1.0" encoding="UTF-8" standalone="yes"?>
<Relationships xmlns="http://schemas.openxmlformats.org/package/2006/relationships"><Relationship Id="rId9" Type="http://schemas.openxmlformats.org/officeDocument/2006/relationships/slide" Target="slide32.xml"/><Relationship Id="rId8" Type="http://schemas.openxmlformats.org/officeDocument/2006/relationships/slide" Target="slide28.xml"/><Relationship Id="rId7" Type="http://schemas.openxmlformats.org/officeDocument/2006/relationships/slide" Target="slide27.xml"/><Relationship Id="rId6" Type="http://schemas.openxmlformats.org/officeDocument/2006/relationships/slide" Target="slide26.xml"/><Relationship Id="rId5" Type="http://schemas.openxmlformats.org/officeDocument/2006/relationships/image" Target="../media/image14.GIF"/><Relationship Id="rId4" Type="http://schemas.openxmlformats.org/officeDocument/2006/relationships/image" Target="../media/image13.GIF"/><Relationship Id="rId3" Type="http://schemas.openxmlformats.org/officeDocument/2006/relationships/image" Target="../media/image8.GIF"/><Relationship Id="rId2" Type="http://schemas.openxmlformats.org/officeDocument/2006/relationships/image" Target="../media/image7.GIF"/><Relationship Id="rId12" Type="http://schemas.openxmlformats.org/officeDocument/2006/relationships/slideLayout" Target="../slideLayouts/slideLayout2.xml"/><Relationship Id="rId11" Type="http://schemas.openxmlformats.org/officeDocument/2006/relationships/image" Target="../media/image6.emf"/><Relationship Id="rId10" Type="http://schemas.openxmlformats.org/officeDocument/2006/relationships/slide" Target="slide3.xml"/><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emf"/><Relationship Id="rId2" Type="http://schemas.openxmlformats.org/officeDocument/2006/relationships/slide" Target="slide25.xml"/><Relationship Id="rId1"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png"/><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21.wmf"/><Relationship Id="rId7" Type="http://schemas.openxmlformats.org/officeDocument/2006/relationships/oleObject" Target="../embeddings/oleObject5.bin"/><Relationship Id="rId6" Type="http://schemas.openxmlformats.org/officeDocument/2006/relationships/image" Target="../media/image20.wmf"/><Relationship Id="rId5" Type="http://schemas.openxmlformats.org/officeDocument/2006/relationships/oleObject" Target="../embeddings/oleObject4.bin"/><Relationship Id="rId4" Type="http://schemas.openxmlformats.org/officeDocument/2006/relationships/image" Target="../media/image19.wmf"/><Relationship Id="rId3" Type="http://schemas.openxmlformats.org/officeDocument/2006/relationships/oleObject" Target="../embeddings/oleObject3.bin"/><Relationship Id="rId2" Type="http://schemas.openxmlformats.org/officeDocument/2006/relationships/image" Target="../media/image18.wmf"/><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25.xml"/></Relationships>
</file>

<file path=ppt/slides/_rels/slide51.xml.rels><?xml version="1.0" encoding="UTF-8" standalone="yes"?>
<Relationships xmlns="http://schemas.openxmlformats.org/package/2006/relationships"><Relationship Id="rId9" Type="http://schemas.openxmlformats.org/officeDocument/2006/relationships/image" Target="../media/image6.emf"/><Relationship Id="rId8" Type="http://schemas.openxmlformats.org/officeDocument/2006/relationships/slide" Target="slide3.xml"/><Relationship Id="rId7" Type="http://schemas.openxmlformats.org/officeDocument/2006/relationships/slide" Target="slide55.xml"/><Relationship Id="rId6" Type="http://schemas.openxmlformats.org/officeDocument/2006/relationships/image" Target="../media/image9.png"/><Relationship Id="rId5" Type="http://schemas.openxmlformats.org/officeDocument/2006/relationships/slide" Target="slide54.xml"/><Relationship Id="rId4" Type="http://schemas.openxmlformats.org/officeDocument/2006/relationships/slide" Target="slide52.xml"/><Relationship Id="rId3" Type="http://schemas.openxmlformats.org/officeDocument/2006/relationships/image" Target="../media/image14.GIF"/><Relationship Id="rId2" Type="http://schemas.openxmlformats.org/officeDocument/2006/relationships/image" Target="../media/image8.GIF"/><Relationship Id="rId10" Type="http://schemas.openxmlformats.org/officeDocument/2006/relationships/slideLayout" Target="../slideLayouts/slideLayout2.xml"/><Relationship Id="rId1" Type="http://schemas.openxmlformats.org/officeDocument/2006/relationships/image" Target="../media/image7.GIF"/></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emf"/><Relationship Id="rId2" Type="http://schemas.openxmlformats.org/officeDocument/2006/relationships/slide" Target="slide51.xml"/><Relationship Id="rId1" Type="http://schemas.openxmlformats.org/officeDocument/2006/relationships/image" Target="../media/image15.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emf"/><Relationship Id="rId2" Type="http://schemas.openxmlformats.org/officeDocument/2006/relationships/slide" Target="slide51.xml"/><Relationship Id="rId1" Type="http://schemas.openxmlformats.org/officeDocument/2006/relationships/image" Target="../media/image15.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emf"/><Relationship Id="rId2" Type="http://schemas.openxmlformats.org/officeDocument/2006/relationships/slide" Target="slide51.xml"/><Relationship Id="rId1" Type="http://schemas.openxmlformats.org/officeDocument/2006/relationships/image" Target="../media/image15.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emf"/><Relationship Id="rId2" Type="http://schemas.openxmlformats.org/officeDocument/2006/relationships/slide" Target="slide3.xml"/><Relationship Id="rId1" Type="http://schemas.openxmlformats.org/officeDocument/2006/relationships/hyperlink" Target="http://baike.baidu.com/view/659981.htm" TargetMode="Externa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emf"/><Relationship Id="rId1" Type="http://schemas.openxmlformats.org/officeDocument/2006/relationships/slide" Target="slide3.xml"/></Relationships>
</file>

<file path=ppt/slides/_rels/slide71.xml.rels><?xml version="1.0" encoding="UTF-8" standalone="yes"?>
<Relationships xmlns="http://schemas.openxmlformats.org/package/2006/relationships"><Relationship Id="rId9" Type="http://schemas.openxmlformats.org/officeDocument/2006/relationships/slide" Target="slide144.xml"/><Relationship Id="rId8" Type="http://schemas.openxmlformats.org/officeDocument/2006/relationships/slide" Target="slide139.xml"/><Relationship Id="rId7" Type="http://schemas.openxmlformats.org/officeDocument/2006/relationships/slide" Target="slide135.xml"/><Relationship Id="rId6" Type="http://schemas.openxmlformats.org/officeDocument/2006/relationships/slide" Target="slide131.xml"/><Relationship Id="rId5" Type="http://schemas.openxmlformats.org/officeDocument/2006/relationships/slide" Target="slide107.xml"/><Relationship Id="rId4" Type="http://schemas.openxmlformats.org/officeDocument/2006/relationships/slide" Target="slide75.xml"/><Relationship Id="rId3" Type="http://schemas.openxmlformats.org/officeDocument/2006/relationships/audio" Target="../media/audio1.wav"/><Relationship Id="rId2" Type="http://schemas.openxmlformats.org/officeDocument/2006/relationships/slide" Target="slide72.xml"/><Relationship Id="rId12" Type="http://schemas.openxmlformats.org/officeDocument/2006/relationships/slideLayout" Target="../slideLayouts/slideLayout2.xml"/><Relationship Id="rId11" Type="http://schemas.openxmlformats.org/officeDocument/2006/relationships/image" Target="../media/image6.emf"/><Relationship Id="rId10" Type="http://schemas.openxmlformats.org/officeDocument/2006/relationships/slide" Target="slide2.xml"/><Relationship Id="rId1" Type="http://schemas.openxmlformats.org/officeDocument/2006/relationships/image" Target="../media/image5.png"/></Relationships>
</file>

<file path=ppt/slides/_rels/slide72.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6.emf"/><Relationship Id="rId6" Type="http://schemas.openxmlformats.org/officeDocument/2006/relationships/slide" Target="slide71.xml"/><Relationship Id="rId5" Type="http://schemas.openxmlformats.org/officeDocument/2006/relationships/image" Target="../media/image9.png"/><Relationship Id="rId4" Type="http://schemas.openxmlformats.org/officeDocument/2006/relationships/slide" Target="slide74.xml"/><Relationship Id="rId3" Type="http://schemas.openxmlformats.org/officeDocument/2006/relationships/slide" Target="slide73.xml"/><Relationship Id="rId2" Type="http://schemas.openxmlformats.org/officeDocument/2006/relationships/image" Target="../media/image8.GIF"/><Relationship Id="rId1" Type="http://schemas.openxmlformats.org/officeDocument/2006/relationships/image" Target="../media/image7.GIF"/></Relationships>
</file>

<file path=ppt/slides/_rels/slide73.xml.rels><?xml version="1.0" encoding="UTF-8" standalone="yes"?>
<Relationships xmlns="http://schemas.openxmlformats.org/package/2006/relationships"><Relationship Id="rId7" Type="http://schemas.openxmlformats.org/officeDocument/2006/relationships/vmlDrawing" Target="../drawings/vmlDrawing3.vml"/><Relationship Id="rId6" Type="http://schemas.openxmlformats.org/officeDocument/2006/relationships/slideLayout" Target="../slideLayouts/slideLayout13.xml"/><Relationship Id="rId5" Type="http://schemas.openxmlformats.org/officeDocument/2006/relationships/image" Target="../media/image6.emf"/><Relationship Id="rId4" Type="http://schemas.openxmlformats.org/officeDocument/2006/relationships/slide" Target="slide72.xml"/><Relationship Id="rId3" Type="http://schemas.openxmlformats.org/officeDocument/2006/relationships/image" Target="../media/image23.emf"/><Relationship Id="rId2" Type="http://schemas.openxmlformats.org/officeDocument/2006/relationships/oleObject" Target="../embeddings/oleObject6.bin"/><Relationship Id="rId1" Type="http://schemas.openxmlformats.org/officeDocument/2006/relationships/image" Target="../media/image15.png"/></Relationships>
</file>

<file path=ppt/slides/_rels/slide74.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6.emf"/><Relationship Id="rId3" Type="http://schemas.openxmlformats.org/officeDocument/2006/relationships/slide" Target="slide72.xml"/><Relationship Id="rId2" Type="http://schemas.openxmlformats.org/officeDocument/2006/relationships/image" Target="../media/image15.png"/><Relationship Id="rId1" Type="http://schemas.openxmlformats.org/officeDocument/2006/relationships/hyperlink" Target="&#36890;&#20449;&#24314;&#35774;&#21333;&#39033;&#24037;&#31243;&#24635;&#36153;&#29992;&#30340;&#26500;&#25104;&#22270;.doc" TargetMode="External"/></Relationships>
</file>

<file path=ppt/slides/_rels/slide7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emf"/><Relationship Id="rId7" Type="http://schemas.openxmlformats.org/officeDocument/2006/relationships/slide" Target="slide71.xml"/><Relationship Id="rId6" Type="http://schemas.openxmlformats.org/officeDocument/2006/relationships/image" Target="../media/image9.png"/><Relationship Id="rId5" Type="http://schemas.openxmlformats.org/officeDocument/2006/relationships/slide" Target="slide14.xml"/><Relationship Id="rId4" Type="http://schemas.openxmlformats.org/officeDocument/2006/relationships/slide" Target="slide10.xml"/><Relationship Id="rId3" Type="http://schemas.openxmlformats.org/officeDocument/2006/relationships/image" Target="../media/image14.GIF"/><Relationship Id="rId2" Type="http://schemas.openxmlformats.org/officeDocument/2006/relationships/image" Target="../media/image8.GIF"/><Relationship Id="rId1" Type="http://schemas.openxmlformats.org/officeDocument/2006/relationships/image" Target="../media/image7.GIF"/></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34920;6-1.doc"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0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emf"/><Relationship Id="rId2" Type="http://schemas.openxmlformats.org/officeDocument/2006/relationships/slide" Target="slide71.xml"/><Relationship Id="rId1" Type="http://schemas.openxmlformats.org/officeDocument/2006/relationships/image" Target="../media/image15.png"/></Relationships>
</file>

<file path=ppt/slides/_rels/slide10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emf"/><Relationship Id="rId7" Type="http://schemas.openxmlformats.org/officeDocument/2006/relationships/slide" Target="slide71.xml"/><Relationship Id="rId6" Type="http://schemas.openxmlformats.org/officeDocument/2006/relationships/image" Target="../media/image9.png"/><Relationship Id="rId5" Type="http://schemas.openxmlformats.org/officeDocument/2006/relationships/slide" Target="slide14.xml"/><Relationship Id="rId4" Type="http://schemas.openxmlformats.org/officeDocument/2006/relationships/slide" Target="slide10.xml"/><Relationship Id="rId3" Type="http://schemas.openxmlformats.org/officeDocument/2006/relationships/image" Target="../media/image14.GIF"/><Relationship Id="rId2" Type="http://schemas.openxmlformats.org/officeDocument/2006/relationships/image" Target="../media/image8.GIF"/><Relationship Id="rId1" Type="http://schemas.openxmlformats.org/officeDocument/2006/relationships/image" Target="../media/image7.GIF"/></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1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hyperlink" Target="&#24494;&#27874;&#12289;&#21355;&#26143;&#21450;&#31227;&#21160;&#36890;&#20449;&#35774;&#22791;&#23433;&#35013;&#24037;&#31243;&#21208;&#23519;&#25910;&#36153;&#22522;&#20215;.doc" TargetMode="External"/><Relationship Id="rId2" Type="http://schemas.openxmlformats.org/officeDocument/2006/relationships/hyperlink" Target="&#36890;&#20449;&#31649;&#36947;&#21450;&#20809;&#30005;&#32518;&#32447;&#36335;&#24037;&#31243;&#21208;&#23519;&#25910;&#36153;&#22522;&#20215;&#34920;.doc" TargetMode="External"/><Relationship Id="rId1" Type="http://schemas.openxmlformats.org/officeDocument/2006/relationships/image" Target="../media/image15.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hyperlink" Target="&#24037;&#31243;&#35774;&#35745;&#25910;&#36153;&#22522;&#20215;&#34920;.doc" TargetMode="External"/><Relationship Id="rId1" Type="http://schemas.openxmlformats.org/officeDocument/2006/relationships/image" Target="../media/image15.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3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emf"/><Relationship Id="rId2" Type="http://schemas.openxmlformats.org/officeDocument/2006/relationships/slide" Target="slide107.xml"/><Relationship Id="rId1" Type="http://schemas.openxmlformats.org/officeDocument/2006/relationships/image" Target="../media/image15.png"/></Relationships>
</file>

<file path=ppt/slides/_rels/slide13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emf"/><Relationship Id="rId7" Type="http://schemas.openxmlformats.org/officeDocument/2006/relationships/slide" Target="slide71.xml"/><Relationship Id="rId6" Type="http://schemas.openxmlformats.org/officeDocument/2006/relationships/image" Target="../media/image9.png"/><Relationship Id="rId5" Type="http://schemas.openxmlformats.org/officeDocument/2006/relationships/slide" Target="slide14.xml"/><Relationship Id="rId4" Type="http://schemas.openxmlformats.org/officeDocument/2006/relationships/slide" Target="slide10.xml"/><Relationship Id="rId3" Type="http://schemas.openxmlformats.org/officeDocument/2006/relationships/image" Target="../media/image14.GIF"/><Relationship Id="rId2" Type="http://schemas.openxmlformats.org/officeDocument/2006/relationships/image" Target="../media/image8.GIF"/><Relationship Id="rId1" Type="http://schemas.openxmlformats.org/officeDocument/2006/relationships/image" Target="../media/image7.GIF"/></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34.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emf"/><Relationship Id="rId2" Type="http://schemas.openxmlformats.org/officeDocument/2006/relationships/slide" Target="slide71.xml"/><Relationship Id="rId1" Type="http://schemas.openxmlformats.org/officeDocument/2006/relationships/image" Target="../media/image15.png"/></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71.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7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emf"/><Relationship Id="rId1" Type="http://schemas.openxmlformats.org/officeDocument/2006/relationships/slide" Target="slide2.xml"/></Relationships>
</file>

<file path=ppt/slides/_rels/slide14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slide" Target="slide2.xml"/><Relationship Id="rId3" Type="http://schemas.openxmlformats.org/officeDocument/2006/relationships/audio" Target="../media/audio1.wav"/><Relationship Id="rId2" Type="http://schemas.openxmlformats.org/officeDocument/2006/relationships/slide" Target="slide148.xml"/><Relationship Id="rId1" Type="http://schemas.openxmlformats.org/officeDocument/2006/relationships/image" Target="../media/image5.png"/></Relationships>
</file>

<file path=ppt/slides/_rels/slide14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6.emf"/><Relationship Id="rId7" Type="http://schemas.openxmlformats.org/officeDocument/2006/relationships/slide" Target="slide147.xml"/><Relationship Id="rId6" Type="http://schemas.openxmlformats.org/officeDocument/2006/relationships/image" Target="../media/image9.png"/><Relationship Id="rId5" Type="http://schemas.openxmlformats.org/officeDocument/2006/relationships/slide" Target="slide157.xml"/><Relationship Id="rId4" Type="http://schemas.openxmlformats.org/officeDocument/2006/relationships/slide" Target="slide149.xml"/><Relationship Id="rId3" Type="http://schemas.openxmlformats.org/officeDocument/2006/relationships/image" Target="../media/image14.GIF"/><Relationship Id="rId2" Type="http://schemas.openxmlformats.org/officeDocument/2006/relationships/image" Target="../media/image8.GIF"/><Relationship Id="rId1" Type="http://schemas.openxmlformats.org/officeDocument/2006/relationships/image" Target="../media/image7.GIF"/></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5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5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5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5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6.emf"/><Relationship Id="rId2" Type="http://schemas.openxmlformats.org/officeDocument/2006/relationships/slide" Target="slide148.xml"/><Relationship Id="rId1" Type="http://schemas.openxmlformats.org/officeDocument/2006/relationships/image" Target="../media/image15.png"/></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2"/>
          <p:cNvSpPr>
            <a:spLocks noGrp="1"/>
          </p:cNvSpPr>
          <p:nvPr>
            <p:ph type="title"/>
          </p:nvPr>
        </p:nvSpPr>
        <p:spPr>
          <a:xfrm>
            <a:off x="468313" y="0"/>
            <a:ext cx="8229600" cy="1143000"/>
          </a:xfrm>
          <a:noFill/>
          <a:ln>
            <a:noFill/>
          </a:ln>
        </p:spPr>
        <p:txBody>
          <a:bodyPr anchor="t" anchorCtr="0"/>
          <a:p>
            <a:r>
              <a:rPr lang="zh-CN" altLang="en-US" dirty="0">
                <a:latin typeface="黑体" panose="02010609060101010101" pitchFamily="49" charset="-122"/>
                <a:ea typeface="黑体" panose="02010609060101010101" pitchFamily="49" charset="-122"/>
              </a:rPr>
              <a:t>第三部分 通信工程概预算</a:t>
            </a: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5122" name="Picture 3" descr="Untitled-6"/>
          <p:cNvPicPr>
            <a:picLocks noChangeAspect="1"/>
          </p:cNvPicPr>
          <p:nvPr/>
        </p:nvPicPr>
        <p:blipFill>
          <a:blip r:embed="rId1"/>
          <a:stretch>
            <a:fillRect/>
          </a:stretch>
        </p:blipFill>
        <p:spPr>
          <a:xfrm>
            <a:off x="0" y="536575"/>
            <a:ext cx="9144000" cy="6276975"/>
          </a:xfrm>
          <a:prstGeom prst="rect">
            <a:avLst/>
          </a:prstGeom>
          <a:noFill/>
          <a:ln w="9525">
            <a:noFill/>
          </a:ln>
        </p:spPr>
      </p:pic>
      <p:sp>
        <p:nvSpPr>
          <p:cNvPr id="627716" name="Text Box 15"/>
          <p:cNvSpPr txBox="1"/>
          <p:nvPr/>
        </p:nvSpPr>
        <p:spPr>
          <a:xfrm>
            <a:off x="6804025" y="908050"/>
            <a:ext cx="1704975" cy="519113"/>
          </a:xfrm>
          <a:prstGeom prst="rect">
            <a:avLst/>
          </a:prstGeom>
          <a:noFill/>
          <a:ln w="9525">
            <a:noFill/>
          </a:ln>
          <a:effectLst>
            <a:prstShdw prst="shdw17" dist="17961" dir="13499999">
              <a:srgbClr val="708688"/>
            </a:prstShdw>
          </a:effectLst>
        </p:spPr>
        <p:txBody>
          <a:bodyPr wrap="none" anchor="t" anchorCtr="0">
            <a:spAutoFit/>
          </a:bodyPr>
          <a:p>
            <a:r>
              <a:rPr lang="zh-CN" altLang="en-US" sz="2800" b="0" dirty="0">
                <a:latin typeface="Arial" panose="020B0604020202020204" pitchFamily="34" charset="0"/>
                <a:ea typeface="黑体" panose="02010609060101010101" pitchFamily="49" charset="-122"/>
              </a:rPr>
              <a:t>教学目标 </a:t>
            </a:r>
            <a:endParaRPr lang="zh-CN" altLang="en-US" sz="2800" b="0" dirty="0">
              <a:latin typeface="Arial" panose="020B0604020202020204" pitchFamily="34" charset="0"/>
              <a:ea typeface="黑体" panose="02010609060101010101" pitchFamily="49" charset="-122"/>
            </a:endParaRPr>
          </a:p>
        </p:txBody>
      </p:sp>
      <p:sp>
        <p:nvSpPr>
          <p:cNvPr id="627717" name="Text Box 5"/>
          <p:cNvSpPr txBox="1"/>
          <p:nvPr/>
        </p:nvSpPr>
        <p:spPr>
          <a:xfrm>
            <a:off x="468313" y="2133600"/>
            <a:ext cx="8280400" cy="1552575"/>
          </a:xfrm>
          <a:prstGeom prst="rect">
            <a:avLst/>
          </a:prstGeom>
          <a:noFill/>
          <a:ln w="9525">
            <a:noFill/>
          </a:ln>
        </p:spPr>
        <p:txBody>
          <a:bodyPr anchor="t" anchorCtr="0">
            <a:spAutoFit/>
          </a:bodyPr>
          <a:p>
            <a:pPr>
              <a:spcBef>
                <a:spcPct val="50000"/>
              </a:spcBef>
            </a:pPr>
            <a:r>
              <a:rPr lang="en-US" altLang="zh-CN" sz="2400" b="0" dirty="0">
                <a:solidFill>
                  <a:schemeClr val="tx1"/>
                </a:solidFill>
                <a:latin typeface="宋体" panose="02010600030101010101" pitchFamily="2" charset="-122"/>
                <a:ea typeface="宋体" panose="02010600030101010101" pitchFamily="2" charset="-122"/>
              </a:rPr>
              <a:t>1 </a:t>
            </a:r>
            <a:r>
              <a:rPr lang="zh-CN" altLang="en-US" sz="2400" b="0" dirty="0">
                <a:solidFill>
                  <a:schemeClr val="tx1"/>
                </a:solidFill>
                <a:latin typeface="宋体" panose="02010600030101010101" pitchFamily="2" charset="-122"/>
                <a:ea typeface="宋体" panose="02010600030101010101" pitchFamily="2" charset="-122"/>
              </a:rPr>
              <a:t>设备安装工程预算文件编制</a:t>
            </a:r>
            <a:endParaRPr lang="zh-CN" altLang="en-US" sz="2400" b="0" dirty="0">
              <a:solidFill>
                <a:schemeClr val="tx1"/>
              </a:solidFill>
              <a:latin typeface="宋体" panose="02010600030101010101" pitchFamily="2" charset="-122"/>
              <a:ea typeface="宋体" panose="02010600030101010101" pitchFamily="2" charset="-122"/>
            </a:endParaRPr>
          </a:p>
          <a:p>
            <a:pPr>
              <a:spcBef>
                <a:spcPct val="50000"/>
              </a:spcBef>
            </a:pPr>
            <a:r>
              <a:rPr lang="en-US" altLang="zh-CN" sz="2400" b="0" dirty="0">
                <a:solidFill>
                  <a:schemeClr val="tx1"/>
                </a:solidFill>
                <a:latin typeface="宋体" panose="02010600030101010101" pitchFamily="2" charset="-122"/>
                <a:ea typeface="宋体" panose="02010600030101010101" pitchFamily="2" charset="-122"/>
              </a:rPr>
              <a:t>2 </a:t>
            </a:r>
            <a:r>
              <a:rPr lang="zh-CN" altLang="en-US" sz="2400" b="0" dirty="0">
                <a:solidFill>
                  <a:schemeClr val="tx1"/>
                </a:solidFill>
                <a:latin typeface="宋体" panose="02010600030101010101" pitchFamily="2" charset="-122"/>
                <a:ea typeface="宋体" panose="02010600030101010101" pitchFamily="2" charset="-122"/>
              </a:rPr>
              <a:t>通信线路工程预算文件编制</a:t>
            </a:r>
            <a:endParaRPr lang="zh-CN" altLang="en-US" sz="2400" b="0" dirty="0">
              <a:solidFill>
                <a:schemeClr val="tx1"/>
              </a:solidFill>
              <a:latin typeface="宋体" panose="02010600030101010101" pitchFamily="2" charset="-122"/>
              <a:ea typeface="宋体" panose="02010600030101010101" pitchFamily="2" charset="-122"/>
            </a:endParaRPr>
          </a:p>
          <a:p>
            <a:pPr>
              <a:spcBef>
                <a:spcPct val="50000"/>
              </a:spcBef>
            </a:pPr>
            <a:r>
              <a:rPr lang="en-US" altLang="zh-CN" sz="2400" b="0" dirty="0">
                <a:solidFill>
                  <a:schemeClr val="tx1"/>
                </a:solidFill>
                <a:latin typeface="宋体" panose="02010600030101010101" pitchFamily="2" charset="-122"/>
                <a:ea typeface="宋体" panose="02010600030101010101" pitchFamily="2" charset="-122"/>
              </a:rPr>
              <a:t>3 </a:t>
            </a:r>
            <a:r>
              <a:rPr lang="zh-CN" altLang="en-US" sz="2400" b="0" dirty="0">
                <a:solidFill>
                  <a:schemeClr val="tx1"/>
                </a:solidFill>
                <a:latin typeface="宋体" panose="02010600030101010101" pitchFamily="2" charset="-122"/>
                <a:ea typeface="宋体" panose="02010600030101010101" pitchFamily="2" charset="-122"/>
              </a:rPr>
              <a:t>应用概预算软件编制通信工程预算文件 </a:t>
            </a:r>
            <a:endParaRPr lang="zh-CN" altLang="en-US" sz="2800" b="0" dirty="0">
              <a:solidFill>
                <a:schemeClr val="tx1"/>
              </a:solidFill>
              <a:latin typeface="宋体" panose="02010600030101010101" pitchFamily="2" charset="-122"/>
              <a:ea typeface="宋体" panose="02010600030101010101" pitchFamily="2" charset="-122"/>
            </a:endParaRPr>
          </a:p>
        </p:txBody>
      </p:sp>
      <p:pic>
        <p:nvPicPr>
          <p:cNvPr id="627718" name="Picture 4" descr="card5"/>
          <p:cNvPicPr>
            <a:picLocks noChangeAspect="1"/>
          </p:cNvPicPr>
          <p:nvPr/>
        </p:nvPicPr>
        <p:blipFill>
          <a:blip r:embed="rId2"/>
          <a:stretch>
            <a:fillRect/>
          </a:stretch>
        </p:blipFill>
        <p:spPr>
          <a:xfrm>
            <a:off x="0" y="581025"/>
            <a:ext cx="9144000" cy="6276975"/>
          </a:xfrm>
          <a:prstGeom prst="rect">
            <a:avLst/>
          </a:prstGeom>
          <a:noFill/>
          <a:ln w="9525">
            <a:noFill/>
          </a:ln>
        </p:spPr>
      </p:pic>
      <p:sp>
        <p:nvSpPr>
          <p:cNvPr id="627719" name="Text Box 7"/>
          <p:cNvSpPr txBox="1"/>
          <p:nvPr/>
        </p:nvSpPr>
        <p:spPr>
          <a:xfrm>
            <a:off x="5940425" y="981075"/>
            <a:ext cx="2376488" cy="519113"/>
          </a:xfrm>
          <a:prstGeom prst="rect">
            <a:avLst/>
          </a:prstGeom>
          <a:noFill/>
          <a:ln w="9525">
            <a:noFill/>
          </a:ln>
        </p:spPr>
        <p:txBody>
          <a:bodyPr anchor="t" anchorCtr="0">
            <a:spAutoFit/>
          </a:bodyPr>
          <a:p>
            <a:pPr algn="ctr">
              <a:spcBef>
                <a:spcPct val="50000"/>
              </a:spcBef>
            </a:pPr>
            <a:r>
              <a:rPr lang="zh-CN" altLang="en-US" sz="2800" dirty="0">
                <a:latin typeface="Arial" panose="020B0604020202020204" pitchFamily="34" charset="0"/>
                <a:ea typeface="黑体" panose="02010609060101010101" pitchFamily="49" charset="-122"/>
              </a:rPr>
              <a:t>教学难点</a:t>
            </a:r>
            <a:endParaRPr lang="zh-CN" altLang="en-US" sz="2800" dirty="0">
              <a:latin typeface="Arial" panose="020B0604020202020204" pitchFamily="34" charset="0"/>
              <a:ea typeface="黑体" panose="02010609060101010101" pitchFamily="49" charset="-122"/>
            </a:endParaRPr>
          </a:p>
        </p:txBody>
      </p:sp>
      <p:sp>
        <p:nvSpPr>
          <p:cNvPr id="627720" name="Text Box 8"/>
          <p:cNvSpPr txBox="1"/>
          <p:nvPr/>
        </p:nvSpPr>
        <p:spPr>
          <a:xfrm>
            <a:off x="323850" y="2060575"/>
            <a:ext cx="7345363" cy="1552575"/>
          </a:xfrm>
          <a:prstGeom prst="rect">
            <a:avLst/>
          </a:prstGeom>
          <a:noFill/>
          <a:ln w="9525">
            <a:noFill/>
          </a:ln>
        </p:spPr>
        <p:txBody>
          <a:bodyPr anchor="t" anchorCtr="0">
            <a:spAutoFit/>
          </a:bodyPr>
          <a:p>
            <a:pPr>
              <a:spcBef>
                <a:spcPct val="50000"/>
              </a:spcBef>
            </a:pPr>
            <a:r>
              <a:rPr lang="en-US" altLang="zh-CN" sz="2400" b="0" dirty="0">
                <a:solidFill>
                  <a:schemeClr val="tx1"/>
                </a:solidFill>
                <a:latin typeface="Arial" panose="020B0604020202020204" pitchFamily="34" charset="0"/>
                <a:ea typeface="宋体" panose="02010600030101010101" pitchFamily="2" charset="-122"/>
              </a:rPr>
              <a:t>1 </a:t>
            </a:r>
            <a:r>
              <a:rPr lang="zh-CN" altLang="en-US" sz="2400" b="0" dirty="0">
                <a:solidFill>
                  <a:schemeClr val="tx1"/>
                </a:solidFill>
                <a:latin typeface="Arial" panose="020B0604020202020204" pitchFamily="34" charset="0"/>
                <a:ea typeface="宋体" panose="02010600030101010101" pitchFamily="2" charset="-122"/>
              </a:rPr>
              <a:t>费用定额取定及计算规则</a:t>
            </a:r>
            <a:endParaRPr lang="zh-CN" altLang="en-US" sz="2400" b="0" dirty="0">
              <a:solidFill>
                <a:schemeClr val="tx1"/>
              </a:solidFill>
              <a:latin typeface="Arial" panose="020B0604020202020204" pitchFamily="34" charset="0"/>
              <a:ea typeface="宋体" panose="02010600030101010101" pitchFamily="2" charset="-122"/>
            </a:endParaRPr>
          </a:p>
          <a:p>
            <a:pPr>
              <a:spcBef>
                <a:spcPct val="50000"/>
              </a:spcBef>
            </a:pPr>
            <a:r>
              <a:rPr lang="en-US" altLang="zh-CN" sz="2400" b="0" dirty="0">
                <a:solidFill>
                  <a:schemeClr val="tx1"/>
                </a:solidFill>
                <a:latin typeface="Arial" panose="020B0604020202020204" pitchFamily="34" charset="0"/>
                <a:ea typeface="宋体" panose="02010600030101010101" pitchFamily="2" charset="-122"/>
              </a:rPr>
              <a:t>2 </a:t>
            </a:r>
            <a:r>
              <a:rPr lang="zh-CN" altLang="en-US" sz="2400" b="0" dirty="0">
                <a:solidFill>
                  <a:schemeClr val="tx1"/>
                </a:solidFill>
                <a:latin typeface="Arial" panose="020B0604020202020204" pitchFamily="34" charset="0"/>
                <a:ea typeface="宋体" panose="02010600030101010101" pitchFamily="2" charset="-122"/>
              </a:rPr>
              <a:t>通信建设工程工程量计算</a:t>
            </a:r>
            <a:endParaRPr lang="zh-CN" altLang="en-US" sz="2400" b="0" dirty="0">
              <a:solidFill>
                <a:schemeClr val="tx1"/>
              </a:solidFill>
              <a:latin typeface="Arial" panose="020B0604020202020204" pitchFamily="34" charset="0"/>
              <a:ea typeface="宋体" panose="02010600030101010101" pitchFamily="2" charset="-122"/>
            </a:endParaRPr>
          </a:p>
          <a:p>
            <a:pPr>
              <a:spcBef>
                <a:spcPct val="50000"/>
              </a:spcBef>
            </a:pPr>
            <a:r>
              <a:rPr lang="en-US" altLang="zh-CN" sz="2400" b="0" dirty="0">
                <a:solidFill>
                  <a:schemeClr val="tx1"/>
                </a:solidFill>
                <a:latin typeface="Arial" panose="020B0604020202020204" pitchFamily="34" charset="0"/>
                <a:ea typeface="宋体" panose="02010600030101010101" pitchFamily="2" charset="-122"/>
              </a:rPr>
              <a:t>3 </a:t>
            </a:r>
            <a:r>
              <a:rPr lang="zh-CN" altLang="en-US" sz="2400" b="0" dirty="0">
                <a:solidFill>
                  <a:schemeClr val="tx1"/>
                </a:solidFill>
                <a:latin typeface="Arial" panose="020B0604020202020204" pitchFamily="34" charset="0"/>
                <a:ea typeface="宋体" panose="02010600030101010101" pitchFamily="2" charset="-122"/>
              </a:rPr>
              <a:t>应用概预算软件编制通信工程预算文件 </a:t>
            </a:r>
            <a:endParaRPr lang="zh-CN" altLang="en-US" sz="2400" b="0" dirty="0">
              <a:solidFill>
                <a:schemeClr val="tx1"/>
              </a:solidFill>
              <a:latin typeface="Arial" panose="020B0604020202020204" pitchFamily="34" charset="0"/>
              <a:ea typeface="宋体" panose="02010600030101010101" pitchFamily="2" charset="-122"/>
            </a:endParaRPr>
          </a:p>
        </p:txBody>
      </p:sp>
      <p:pic>
        <p:nvPicPr>
          <p:cNvPr id="627721" name="Picture 5" descr="card4"/>
          <p:cNvPicPr>
            <a:picLocks noChangeAspect="1"/>
          </p:cNvPicPr>
          <p:nvPr/>
        </p:nvPicPr>
        <p:blipFill>
          <a:blip r:embed="rId3"/>
          <a:stretch>
            <a:fillRect/>
          </a:stretch>
        </p:blipFill>
        <p:spPr>
          <a:xfrm>
            <a:off x="0" y="581025"/>
            <a:ext cx="9144000" cy="6276975"/>
          </a:xfrm>
          <a:prstGeom prst="rect">
            <a:avLst/>
          </a:prstGeom>
          <a:noFill/>
          <a:ln w="9525">
            <a:noFill/>
          </a:ln>
        </p:spPr>
      </p:pic>
      <p:sp>
        <p:nvSpPr>
          <p:cNvPr id="627722" name="Text Box 10"/>
          <p:cNvSpPr txBox="1"/>
          <p:nvPr/>
        </p:nvSpPr>
        <p:spPr>
          <a:xfrm>
            <a:off x="5722938" y="949325"/>
            <a:ext cx="1943100" cy="519113"/>
          </a:xfrm>
          <a:prstGeom prst="rect">
            <a:avLst/>
          </a:prstGeom>
          <a:noFill/>
          <a:ln w="9525">
            <a:noFill/>
          </a:ln>
        </p:spPr>
        <p:txBody>
          <a:bodyPr anchor="t" anchorCtr="0">
            <a:spAutoFit/>
          </a:bodyPr>
          <a:p>
            <a:pPr algn="ctr">
              <a:spcBef>
                <a:spcPct val="50000"/>
              </a:spcBef>
            </a:pPr>
            <a:r>
              <a:rPr lang="zh-CN" altLang="en-US" sz="2800" dirty="0">
                <a:latin typeface="Arial" panose="020B0604020202020204" pitchFamily="34" charset="0"/>
                <a:ea typeface="黑体" panose="02010609060101010101" pitchFamily="49" charset="-122"/>
              </a:rPr>
              <a:t>教学重点</a:t>
            </a:r>
            <a:endParaRPr lang="zh-CN" altLang="en-US" sz="2800" dirty="0">
              <a:latin typeface="Arial" panose="020B0604020202020204" pitchFamily="34" charset="0"/>
              <a:ea typeface="黑体" panose="02010609060101010101" pitchFamily="49" charset="-122"/>
            </a:endParaRPr>
          </a:p>
        </p:txBody>
      </p:sp>
      <p:sp>
        <p:nvSpPr>
          <p:cNvPr id="627723" name="Text Box 11"/>
          <p:cNvSpPr txBox="1"/>
          <p:nvPr/>
        </p:nvSpPr>
        <p:spPr>
          <a:xfrm>
            <a:off x="179388" y="2133600"/>
            <a:ext cx="7561262" cy="2676525"/>
          </a:xfrm>
          <a:prstGeom prst="rect">
            <a:avLst/>
          </a:prstGeom>
          <a:noFill/>
          <a:ln w="9525">
            <a:noFill/>
          </a:ln>
        </p:spPr>
        <p:txBody>
          <a:bodyPr anchor="t" anchorCtr="0">
            <a:spAutoFit/>
          </a:bodyPr>
          <a:p>
            <a:pPr>
              <a:spcBef>
                <a:spcPct val="50000"/>
              </a:spcBef>
            </a:pPr>
            <a:r>
              <a:rPr lang="en-US" altLang="zh-CN" sz="2400" b="0" dirty="0">
                <a:solidFill>
                  <a:schemeClr val="tx1"/>
                </a:solidFill>
                <a:latin typeface="宋体" panose="02010600030101010101" pitchFamily="2" charset="-122"/>
                <a:ea typeface="宋体" panose="02010600030101010101" pitchFamily="2" charset="-122"/>
              </a:rPr>
              <a:t>1 </a:t>
            </a:r>
            <a:r>
              <a:rPr lang="zh-CN" altLang="en-US" sz="2400" b="0" dirty="0">
                <a:solidFill>
                  <a:schemeClr val="tx1"/>
                </a:solidFill>
                <a:latin typeface="宋体" panose="02010600030101010101" pitchFamily="2" charset="-122"/>
                <a:ea typeface="宋体" panose="02010600030101010101" pitchFamily="2" charset="-122"/>
              </a:rPr>
              <a:t>通信建设工程预算定额作用及构成</a:t>
            </a:r>
            <a:endParaRPr lang="zh-CN" altLang="en-US" sz="2400" b="0" dirty="0">
              <a:solidFill>
                <a:schemeClr val="tx1"/>
              </a:solidFill>
              <a:latin typeface="宋体" panose="02010600030101010101" pitchFamily="2" charset="-122"/>
              <a:ea typeface="宋体" panose="02010600030101010101" pitchFamily="2" charset="-122"/>
            </a:endParaRPr>
          </a:p>
          <a:p>
            <a:pPr>
              <a:spcBef>
                <a:spcPct val="50000"/>
              </a:spcBef>
            </a:pPr>
            <a:r>
              <a:rPr lang="en-US" altLang="zh-CN" sz="2400" b="0" dirty="0">
                <a:solidFill>
                  <a:schemeClr val="tx1"/>
                </a:solidFill>
                <a:latin typeface="宋体" panose="02010600030101010101" pitchFamily="2" charset="-122"/>
                <a:ea typeface="宋体" panose="02010600030101010101" pitchFamily="2" charset="-122"/>
              </a:rPr>
              <a:t>2 </a:t>
            </a:r>
            <a:r>
              <a:rPr lang="zh-CN" altLang="en-US" sz="2400" b="0" dirty="0">
                <a:solidFill>
                  <a:schemeClr val="tx1"/>
                </a:solidFill>
                <a:latin typeface="宋体" panose="02010600030101010101" pitchFamily="2" charset="-122"/>
                <a:ea typeface="宋体" panose="02010600030101010101" pitchFamily="2" charset="-122"/>
              </a:rPr>
              <a:t>费用定额取定及计算规则</a:t>
            </a:r>
            <a:endParaRPr lang="zh-CN" altLang="en-US" sz="2400" b="0" dirty="0">
              <a:solidFill>
                <a:schemeClr val="tx1"/>
              </a:solidFill>
              <a:latin typeface="宋体" panose="02010600030101010101" pitchFamily="2" charset="-122"/>
              <a:ea typeface="宋体" panose="02010600030101010101" pitchFamily="2" charset="-122"/>
            </a:endParaRPr>
          </a:p>
          <a:p>
            <a:pPr>
              <a:spcBef>
                <a:spcPct val="50000"/>
              </a:spcBef>
            </a:pPr>
            <a:r>
              <a:rPr lang="en-US" altLang="zh-CN" sz="2400" b="0" dirty="0">
                <a:solidFill>
                  <a:schemeClr val="tx1"/>
                </a:solidFill>
                <a:latin typeface="宋体" panose="02010600030101010101" pitchFamily="2" charset="-122"/>
                <a:ea typeface="宋体" panose="02010600030101010101" pitchFamily="2" charset="-122"/>
              </a:rPr>
              <a:t>4 </a:t>
            </a:r>
            <a:r>
              <a:rPr lang="zh-CN" altLang="en-US" sz="2400" b="0" dirty="0">
                <a:solidFill>
                  <a:schemeClr val="tx1"/>
                </a:solidFill>
                <a:latin typeface="宋体" panose="02010600030101010101" pitchFamily="2" charset="-122"/>
                <a:ea typeface="宋体" panose="02010600030101010101" pitchFamily="2" charset="-122"/>
              </a:rPr>
              <a:t>设备安装工程预算文件编制</a:t>
            </a:r>
            <a:endParaRPr lang="zh-CN" altLang="en-US" sz="2400" b="0" dirty="0">
              <a:solidFill>
                <a:schemeClr val="tx1"/>
              </a:solidFill>
              <a:latin typeface="宋体" panose="02010600030101010101" pitchFamily="2" charset="-122"/>
              <a:ea typeface="宋体" panose="02010600030101010101" pitchFamily="2" charset="-122"/>
            </a:endParaRPr>
          </a:p>
          <a:p>
            <a:pPr>
              <a:spcBef>
                <a:spcPct val="50000"/>
              </a:spcBef>
            </a:pPr>
            <a:r>
              <a:rPr lang="en-US" altLang="zh-CN" sz="2400" b="0" dirty="0">
                <a:solidFill>
                  <a:schemeClr val="tx1"/>
                </a:solidFill>
                <a:latin typeface="宋体" panose="02010600030101010101" pitchFamily="2" charset="-122"/>
                <a:ea typeface="宋体" panose="02010600030101010101" pitchFamily="2" charset="-122"/>
              </a:rPr>
              <a:t>5 </a:t>
            </a:r>
            <a:r>
              <a:rPr lang="zh-CN" altLang="en-US" sz="2400" b="0" dirty="0">
                <a:solidFill>
                  <a:schemeClr val="tx1"/>
                </a:solidFill>
                <a:latin typeface="宋体" panose="02010600030101010101" pitchFamily="2" charset="-122"/>
                <a:ea typeface="宋体" panose="02010600030101010101" pitchFamily="2" charset="-122"/>
              </a:rPr>
              <a:t>通信线路工程预算文件编制</a:t>
            </a:r>
            <a:endParaRPr lang="zh-CN" altLang="en-US" sz="2400" b="0" dirty="0">
              <a:solidFill>
                <a:schemeClr val="tx1"/>
              </a:solidFill>
              <a:latin typeface="宋体" panose="02010600030101010101" pitchFamily="2" charset="-122"/>
              <a:ea typeface="宋体" panose="02010600030101010101" pitchFamily="2" charset="-122"/>
            </a:endParaRPr>
          </a:p>
          <a:p>
            <a:pPr>
              <a:spcBef>
                <a:spcPct val="50000"/>
              </a:spcBef>
            </a:pPr>
            <a:r>
              <a:rPr lang="en-US" altLang="zh-CN" sz="2400" b="0" dirty="0">
                <a:solidFill>
                  <a:schemeClr val="tx1"/>
                </a:solidFill>
                <a:latin typeface="宋体" panose="02010600030101010101" pitchFamily="2" charset="-122"/>
                <a:ea typeface="宋体" panose="02010600030101010101" pitchFamily="2" charset="-122"/>
              </a:rPr>
              <a:t>6 </a:t>
            </a:r>
            <a:r>
              <a:rPr lang="zh-CN" altLang="en-US" sz="2400" b="0" dirty="0">
                <a:solidFill>
                  <a:schemeClr val="tx1"/>
                </a:solidFill>
                <a:latin typeface="宋体" panose="02010600030101010101" pitchFamily="2" charset="-122"/>
                <a:ea typeface="宋体" panose="02010600030101010101" pitchFamily="2" charset="-122"/>
              </a:rPr>
              <a:t>应用概预算软件编制通信工程预算文件 </a:t>
            </a:r>
            <a:endParaRPr lang="zh-CN" altLang="en-US" sz="2400" b="0" dirty="0">
              <a:solidFill>
                <a:schemeClr val="tx1"/>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1000" tmFilter="0, 0; .2, .5; .8, .5; 1, 0"/>
                                        <p:tgtEl>
                                          <p:spTgt spid="627722"/>
                                        </p:tgtEl>
                                      </p:cBhvr>
                                    </p:animEffect>
                                    <p:animScale>
                                      <p:cBhvr>
                                        <p:cTn id="7" dur="500" autoRev="1" fill="hold"/>
                                        <p:tgtEl>
                                          <p:spTgt spid="627722"/>
                                        </p:tgtEl>
                                      </p:cBhvr>
                                      <p:by x="105000" y="105000"/>
                                    </p:animScale>
                                  </p:childTnLst>
                                </p:cTn>
                              </p:par>
                              <p:par>
                                <p:cTn id="8" presetID="5" presetClass="entr" presetSubtype="10" fill="hold" grpId="0" nodeType="withEffect">
                                  <p:stCondLst>
                                    <p:cond delay="0"/>
                                  </p:stCondLst>
                                  <p:childTnLst>
                                    <p:set>
                                      <p:cBhvr>
                                        <p:cTn id="9" dur="1" fill="hold">
                                          <p:stCondLst>
                                            <p:cond delay="0"/>
                                          </p:stCondLst>
                                        </p:cTn>
                                        <p:tgtEl>
                                          <p:spTgt spid="627723"/>
                                        </p:tgtEl>
                                        <p:attrNameLst>
                                          <p:attrName>style.visibility</p:attrName>
                                        </p:attrNameLst>
                                      </p:cBhvr>
                                      <p:to>
                                        <p:strVal val="visible"/>
                                      </p:to>
                                    </p:set>
                                    <p:animEffect transition="in" filter="checkerboard(across)">
                                      <p:cBhvr>
                                        <p:cTn id="10" dur="1000"/>
                                        <p:tgtEl>
                                          <p:spTgt spid="627723"/>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xit" presetSubtype="10" fill="hold" nodeType="clickEffect">
                                  <p:stCondLst>
                                    <p:cond delay="0"/>
                                  </p:stCondLst>
                                  <p:childTnLst>
                                    <p:animEffect transition="out" filter="checkerboard(across)">
                                      <p:cBhvr>
                                        <p:cTn id="14" dur="1000"/>
                                        <p:tgtEl>
                                          <p:spTgt spid="627721"/>
                                        </p:tgtEl>
                                      </p:cBhvr>
                                    </p:animEffect>
                                    <p:set>
                                      <p:cBhvr>
                                        <p:cTn id="15" dur="1" fill="hold">
                                          <p:stCondLst>
                                            <p:cond delay="999"/>
                                          </p:stCondLst>
                                        </p:cTn>
                                        <p:tgtEl>
                                          <p:spTgt spid="627721"/>
                                        </p:tgtEl>
                                        <p:attrNameLst>
                                          <p:attrName>style.visibility</p:attrName>
                                        </p:attrNameLst>
                                      </p:cBhvr>
                                      <p:to>
                                        <p:strVal val="hidden"/>
                                      </p:to>
                                    </p:set>
                                  </p:childTnLst>
                                </p:cTn>
                              </p:par>
                              <p:par>
                                <p:cTn id="16" presetID="5" presetClass="exit" presetSubtype="10" fill="hold" grpId="1" nodeType="withEffect">
                                  <p:stCondLst>
                                    <p:cond delay="0"/>
                                  </p:stCondLst>
                                  <p:childTnLst>
                                    <p:animEffect transition="out" filter="checkerboard(across)">
                                      <p:cBhvr>
                                        <p:cTn id="17" dur="1000"/>
                                        <p:tgtEl>
                                          <p:spTgt spid="627722"/>
                                        </p:tgtEl>
                                      </p:cBhvr>
                                    </p:animEffect>
                                    <p:set>
                                      <p:cBhvr>
                                        <p:cTn id="18" dur="1" fill="hold">
                                          <p:stCondLst>
                                            <p:cond delay="999"/>
                                          </p:stCondLst>
                                        </p:cTn>
                                        <p:tgtEl>
                                          <p:spTgt spid="627722"/>
                                        </p:tgtEl>
                                        <p:attrNameLst>
                                          <p:attrName>style.visibility</p:attrName>
                                        </p:attrNameLst>
                                      </p:cBhvr>
                                      <p:to>
                                        <p:strVal val="hidden"/>
                                      </p:to>
                                    </p:set>
                                  </p:childTnLst>
                                </p:cTn>
                              </p:par>
                              <p:par>
                                <p:cTn id="19" presetID="5" presetClass="exit" presetSubtype="10" fill="hold" grpId="1" nodeType="withEffect">
                                  <p:stCondLst>
                                    <p:cond delay="0"/>
                                  </p:stCondLst>
                                  <p:childTnLst>
                                    <p:animEffect transition="out" filter="checkerboard(across)">
                                      <p:cBhvr>
                                        <p:cTn id="20" dur="1000"/>
                                        <p:tgtEl>
                                          <p:spTgt spid="627723"/>
                                        </p:tgtEl>
                                      </p:cBhvr>
                                    </p:animEffect>
                                    <p:set>
                                      <p:cBhvr>
                                        <p:cTn id="21" dur="1" fill="hold">
                                          <p:stCondLst>
                                            <p:cond delay="999"/>
                                          </p:stCondLst>
                                        </p:cTn>
                                        <p:tgtEl>
                                          <p:spTgt spid="627723"/>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6" presetClass="emph" presetSubtype="0" fill="hold" grpId="0" nodeType="clickEffect">
                                  <p:stCondLst>
                                    <p:cond delay="0"/>
                                  </p:stCondLst>
                                  <p:childTnLst>
                                    <p:animEffect transition="out" filter="fade">
                                      <p:cBhvr>
                                        <p:cTn id="25" dur="1000" tmFilter="0, 0; .2, .5; .8, .5; 1, 0"/>
                                        <p:tgtEl>
                                          <p:spTgt spid="627719"/>
                                        </p:tgtEl>
                                      </p:cBhvr>
                                    </p:animEffect>
                                    <p:animScale>
                                      <p:cBhvr>
                                        <p:cTn id="26" dur="500" autoRev="1" fill="hold"/>
                                        <p:tgtEl>
                                          <p:spTgt spid="627719"/>
                                        </p:tgtEl>
                                      </p:cBhvr>
                                      <p:by x="105000" y="105000"/>
                                    </p:animScale>
                                  </p:childTnLst>
                                </p:cTn>
                              </p:par>
                              <p:par>
                                <p:cTn id="27" presetID="4" presetClass="entr" presetSubtype="16" fill="hold" grpId="0" nodeType="withEffect">
                                  <p:stCondLst>
                                    <p:cond delay="0"/>
                                  </p:stCondLst>
                                  <p:childTnLst>
                                    <p:set>
                                      <p:cBhvr>
                                        <p:cTn id="28" dur="1" fill="hold">
                                          <p:stCondLst>
                                            <p:cond delay="0"/>
                                          </p:stCondLst>
                                        </p:cTn>
                                        <p:tgtEl>
                                          <p:spTgt spid="627720"/>
                                        </p:tgtEl>
                                        <p:attrNameLst>
                                          <p:attrName>style.visibility</p:attrName>
                                        </p:attrNameLst>
                                      </p:cBhvr>
                                      <p:to>
                                        <p:strVal val="visible"/>
                                      </p:to>
                                    </p:set>
                                    <p:animEffect transition="in" filter="box(in)">
                                      <p:cBhvr>
                                        <p:cTn id="29" dur="1000"/>
                                        <p:tgtEl>
                                          <p:spTgt spid="627720"/>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xit" presetSubtype="0" fill="hold" nodeType="clickEffect">
                                  <p:stCondLst>
                                    <p:cond delay="0"/>
                                  </p:stCondLst>
                                  <p:childTnLst>
                                    <p:animEffect transition="out" filter="dissolve">
                                      <p:cBhvr>
                                        <p:cTn id="33" dur="1000"/>
                                        <p:tgtEl>
                                          <p:spTgt spid="627718"/>
                                        </p:tgtEl>
                                      </p:cBhvr>
                                    </p:animEffect>
                                    <p:set>
                                      <p:cBhvr>
                                        <p:cTn id="34" dur="1" fill="hold">
                                          <p:stCondLst>
                                            <p:cond delay="999"/>
                                          </p:stCondLst>
                                        </p:cTn>
                                        <p:tgtEl>
                                          <p:spTgt spid="627718"/>
                                        </p:tgtEl>
                                        <p:attrNameLst>
                                          <p:attrName>style.visibility</p:attrName>
                                        </p:attrNameLst>
                                      </p:cBhvr>
                                      <p:to>
                                        <p:strVal val="hidden"/>
                                      </p:to>
                                    </p:set>
                                  </p:childTnLst>
                                </p:cTn>
                              </p:par>
                              <p:par>
                                <p:cTn id="35" presetID="9" presetClass="exit" presetSubtype="0" fill="hold" grpId="1" nodeType="withEffect">
                                  <p:stCondLst>
                                    <p:cond delay="0"/>
                                  </p:stCondLst>
                                  <p:childTnLst>
                                    <p:animEffect transition="out" filter="dissolve">
                                      <p:cBhvr>
                                        <p:cTn id="36" dur="1000"/>
                                        <p:tgtEl>
                                          <p:spTgt spid="627719"/>
                                        </p:tgtEl>
                                      </p:cBhvr>
                                    </p:animEffect>
                                    <p:set>
                                      <p:cBhvr>
                                        <p:cTn id="37" dur="1" fill="hold">
                                          <p:stCondLst>
                                            <p:cond delay="999"/>
                                          </p:stCondLst>
                                        </p:cTn>
                                        <p:tgtEl>
                                          <p:spTgt spid="627719"/>
                                        </p:tgtEl>
                                        <p:attrNameLst>
                                          <p:attrName>style.visibility</p:attrName>
                                        </p:attrNameLst>
                                      </p:cBhvr>
                                      <p:to>
                                        <p:strVal val="hidden"/>
                                      </p:to>
                                    </p:set>
                                  </p:childTnLst>
                                </p:cTn>
                              </p:par>
                              <p:par>
                                <p:cTn id="38" presetID="9" presetClass="exit" presetSubtype="0" fill="hold" grpId="1" nodeType="withEffect">
                                  <p:stCondLst>
                                    <p:cond delay="0"/>
                                  </p:stCondLst>
                                  <p:childTnLst>
                                    <p:animEffect transition="out" filter="dissolve">
                                      <p:cBhvr>
                                        <p:cTn id="39" dur="1000"/>
                                        <p:tgtEl>
                                          <p:spTgt spid="627720"/>
                                        </p:tgtEl>
                                      </p:cBhvr>
                                    </p:animEffect>
                                    <p:set>
                                      <p:cBhvr>
                                        <p:cTn id="40" dur="1" fill="hold">
                                          <p:stCondLst>
                                            <p:cond delay="999"/>
                                          </p:stCondLst>
                                        </p:cTn>
                                        <p:tgtEl>
                                          <p:spTgt spid="62772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26" presetClass="emph" presetSubtype="0" fill="hold" grpId="0" nodeType="clickEffect">
                                  <p:stCondLst>
                                    <p:cond delay="0"/>
                                  </p:stCondLst>
                                  <p:childTnLst>
                                    <p:animEffect transition="out" filter="fade">
                                      <p:cBhvr>
                                        <p:cTn id="44" dur="1000" tmFilter="0, 0; .2, .5; .8, .5; 1, 0"/>
                                        <p:tgtEl>
                                          <p:spTgt spid="627716"/>
                                        </p:tgtEl>
                                      </p:cBhvr>
                                    </p:animEffect>
                                    <p:animScale>
                                      <p:cBhvr>
                                        <p:cTn id="45" dur="500" autoRev="1" fill="hold"/>
                                        <p:tgtEl>
                                          <p:spTgt spid="627716"/>
                                        </p:tgtEl>
                                      </p:cBhvr>
                                      <p:by x="105000" y="105000"/>
                                    </p:animScale>
                                  </p:childTnLst>
                                </p:cTn>
                              </p:par>
                              <p:par>
                                <p:cTn id="46" presetID="8" presetClass="entr" presetSubtype="16" fill="hold" grpId="0" nodeType="withEffect">
                                  <p:stCondLst>
                                    <p:cond delay="0"/>
                                  </p:stCondLst>
                                  <p:childTnLst>
                                    <p:set>
                                      <p:cBhvr>
                                        <p:cTn id="47" dur="1" fill="hold">
                                          <p:stCondLst>
                                            <p:cond delay="0"/>
                                          </p:stCondLst>
                                        </p:cTn>
                                        <p:tgtEl>
                                          <p:spTgt spid="627717"/>
                                        </p:tgtEl>
                                        <p:attrNameLst>
                                          <p:attrName>style.visibility</p:attrName>
                                        </p:attrNameLst>
                                      </p:cBhvr>
                                      <p:to>
                                        <p:strVal val="visible"/>
                                      </p:to>
                                    </p:set>
                                    <p:animEffect transition="in" filter="diamond(in)">
                                      <p:cBhvr>
                                        <p:cTn id="48" dur="1000"/>
                                        <p:tgtEl>
                                          <p:spTgt spid="627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16" grpId="0"/>
      <p:bldP spid="627717" grpId="0"/>
      <p:bldP spid="627719" grpId="0"/>
      <p:bldP spid="627719" grpId="1"/>
      <p:bldP spid="627720" grpId="0"/>
      <p:bldP spid="627720" grpId="1"/>
      <p:bldP spid="627722" grpId="0"/>
      <p:bldP spid="627722" grpId="1"/>
      <p:bldP spid="627723" grpId="0"/>
      <p:bldP spid="62772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2"/>
          <p:cNvSpPr>
            <a:spLocks noGrp="1"/>
          </p:cNvSpPr>
          <p:nvPr>
            <p:ph type="title"/>
          </p:nvPr>
        </p:nvSpPr>
        <p:spPr>
          <a:xfrm>
            <a:off x="457200" y="274638"/>
            <a:ext cx="8229600" cy="1143000"/>
          </a:xfrm>
          <a:noFill/>
          <a:ln>
            <a:noFill/>
          </a:ln>
        </p:spPr>
        <p:txBody>
          <a:bodyPr anchor="t" anchorCtr="0"/>
          <a:p>
            <a:endParaRPr lang="zh-CN" altLang="en-US" dirty="0">
              <a:ea typeface="宋体" panose="02010600030101010101" pitchFamily="2" charset="-122"/>
            </a:endParaRPr>
          </a:p>
        </p:txBody>
      </p:sp>
      <p:sp>
        <p:nvSpPr>
          <p:cNvPr id="6146" name="Rectangle 3"/>
          <p:cNvSpPr>
            <a:spLocks noGrp="1"/>
          </p:cNvSpPr>
          <p:nvPr>
            <p:ph idx="1"/>
          </p:nvPr>
        </p:nvSpPr>
        <p:spPr>
          <a:xfrm>
            <a:off x="457200" y="1600200"/>
            <a:ext cx="8229600" cy="4525963"/>
          </a:xfrm>
          <a:noFill/>
          <a:ln>
            <a:noFill/>
          </a:ln>
        </p:spPr>
        <p:txBody>
          <a:bodyPr anchor="t" anchorCtr="0"/>
          <a:p>
            <a:endParaRPr lang="zh-CN" altLang="en-US" dirty="0">
              <a:ea typeface="宋体" panose="02010600030101010101" pitchFamily="2" charset="-122"/>
            </a:endParaRPr>
          </a:p>
        </p:txBody>
      </p:sp>
      <p:pic>
        <p:nvPicPr>
          <p:cNvPr id="6147" name="Picture 4"/>
          <p:cNvPicPr>
            <a:picLocks noChangeAspect="1"/>
          </p:cNvPicPr>
          <p:nvPr/>
        </p:nvPicPr>
        <p:blipFill>
          <a:blip r:embed="rId1"/>
          <a:stretch>
            <a:fillRect/>
          </a:stretch>
        </p:blipFill>
        <p:spPr>
          <a:xfrm>
            <a:off x="395288" y="404813"/>
            <a:ext cx="8424862" cy="6118225"/>
          </a:xfrm>
          <a:prstGeom prst="rect">
            <a:avLst/>
          </a:prstGeom>
          <a:noFill/>
          <a:ln w="9525">
            <a:noFill/>
          </a:ln>
        </p:spPr>
      </p:pic>
      <p:sp>
        <p:nvSpPr>
          <p:cNvPr id="6148" name="Text Box 5"/>
          <p:cNvSpPr txBox="1"/>
          <p:nvPr/>
        </p:nvSpPr>
        <p:spPr>
          <a:xfrm>
            <a:off x="1116013" y="1557338"/>
            <a:ext cx="863600" cy="3381375"/>
          </a:xfrm>
          <a:prstGeom prst="rect">
            <a:avLst/>
          </a:prstGeom>
          <a:noFill/>
          <a:ln w="9525">
            <a:noFill/>
          </a:ln>
        </p:spPr>
        <p:txBody>
          <a:bodyPr anchor="t" anchorCtr="0">
            <a:spAutoFit/>
          </a:bodyPr>
          <a:p>
            <a:r>
              <a:rPr lang="zh-CN" altLang="en-US" sz="5400" b="0" dirty="0">
                <a:solidFill>
                  <a:srgbClr val="0196B9"/>
                </a:solidFill>
                <a:latin typeface="华文行楷" panose="02010800040101010101" pitchFamily="2" charset="-122"/>
              </a:rPr>
              <a:t>主要内容</a:t>
            </a:r>
            <a:endParaRPr lang="zh-CN" altLang="en-US" sz="5400" b="0" dirty="0">
              <a:solidFill>
                <a:srgbClr val="0196B9"/>
              </a:solidFill>
              <a:latin typeface="华文行楷" panose="02010800040101010101" pitchFamily="2" charset="-122"/>
            </a:endParaRPr>
          </a:p>
        </p:txBody>
      </p:sp>
      <p:sp>
        <p:nvSpPr>
          <p:cNvPr id="628742" name="圆角矩形 18">
            <a:hlinkClick r:id="rId2" action="ppaction://hlinksldjump" highlightClick="1"/>
            <a:hlinkHover r:id="" action="ppaction://noaction">
              <a:snd r:embed="rId3" name="按钮声音.wav"/>
            </a:hlinkHover>
          </p:cNvPr>
          <p:cNvSpPr>
            <a:spLocks noChangeArrowheads="1"/>
          </p:cNvSpPr>
          <p:nvPr/>
        </p:nvSpPr>
        <p:spPr bwMode="auto">
          <a:xfrm>
            <a:off x="3132138" y="1196975"/>
            <a:ext cx="5400675" cy="863600"/>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3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通信建设工程概预算及工程定额</a:t>
            </a:r>
            <a:r>
              <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28743" name="AutoShape 7">
            <a:hlinkClick r:id="rId4" action="ppaction://hlinksldjump" highlightClick="1"/>
            <a:hlinkHover r:id="" action="ppaction://noaction">
              <a:snd r:embed="rId3" name="按钮声音.wav"/>
            </a:hlinkHover>
          </p:cNvPr>
          <p:cNvSpPr>
            <a:spLocks noChangeArrowheads="1"/>
          </p:cNvSpPr>
          <p:nvPr/>
        </p:nvSpPr>
        <p:spPr bwMode="auto">
          <a:xfrm>
            <a:off x="3132138" y="2565400"/>
            <a:ext cx="5400675" cy="792163"/>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4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通信建设工程费用定额</a:t>
            </a:r>
            <a:r>
              <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28744" name="AutoShape 8">
            <a:hlinkClick r:id="" action="ppaction://noaction" highlightClick="1"/>
            <a:hlinkHover r:id="" action="ppaction://noaction">
              <a:snd r:embed="rId3" name="按钮声音.wav"/>
            </a:hlinkHover>
          </p:cNvPr>
          <p:cNvSpPr>
            <a:spLocks noChangeArrowheads="1"/>
          </p:cNvSpPr>
          <p:nvPr/>
        </p:nvSpPr>
        <p:spPr bwMode="auto">
          <a:xfrm>
            <a:off x="3132138" y="3789363"/>
            <a:ext cx="5400675" cy="720725"/>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 </a:t>
            </a: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5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通信建设工程工程量计算</a:t>
            </a:r>
            <a:r>
              <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28745" name="AutoShape 9">
            <a:hlinkClick r:id="rId5" action="ppaction://hlinksldjump"/>
            <a:hlinkHover r:id="" action="ppaction://noaction">
              <a:snd r:embed="rId3" name="按钮声音.wav"/>
            </a:hlinkHover>
          </p:cNvPr>
          <p:cNvSpPr/>
          <p:nvPr/>
        </p:nvSpPr>
        <p:spPr>
          <a:xfrm>
            <a:off x="3059113" y="5013325"/>
            <a:ext cx="5473700" cy="792163"/>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en-US" altLang="zh-CN" sz="2400" dirty="0">
                <a:solidFill>
                  <a:srgbClr val="000099"/>
                </a:solidFill>
                <a:latin typeface="微软雅黑" panose="020B0503020204020204" pitchFamily="34" charset="-122"/>
                <a:ea typeface="微软雅黑" panose="020B0503020204020204" pitchFamily="34" charset="-122"/>
              </a:rPr>
              <a:t>6 </a:t>
            </a:r>
            <a:r>
              <a:rPr lang="zh-CN" altLang="en-US" sz="2400" dirty="0">
                <a:solidFill>
                  <a:srgbClr val="000099"/>
                </a:solidFill>
                <a:latin typeface="微软雅黑" panose="020B0503020204020204" pitchFamily="34" charset="-122"/>
                <a:ea typeface="微软雅黑" panose="020B0503020204020204" pitchFamily="34" charset="-122"/>
              </a:rPr>
              <a:t>通信建设工程概预算的编制与举例</a:t>
            </a:r>
            <a:endParaRPr lang="zh-CN" altLang="en-US" sz="2400" dirty="0">
              <a:solidFill>
                <a:srgbClr val="000099"/>
              </a:solidFill>
              <a:latin typeface="微软雅黑" panose="020B0503020204020204" pitchFamily="34" charset="-122"/>
              <a:ea typeface="微软雅黑" panose="020B0503020204020204" pitchFamily="34" charset="-122"/>
            </a:endParaRPr>
          </a:p>
        </p:txBody>
      </p:sp>
      <p:pic>
        <p:nvPicPr>
          <p:cNvPr id="6153" name="Picture 13" descr="图片1"/>
          <p:cNvPicPr>
            <a:picLocks noChangeAspect="1"/>
          </p:cNvPicPr>
          <p:nvPr/>
        </p:nvPicPr>
        <p:blipFill>
          <a:blip r:embed="rId6"/>
          <a:stretch>
            <a:fillRect/>
          </a:stretch>
        </p:blipFill>
        <p:spPr>
          <a:xfrm>
            <a:off x="7667625" y="5805488"/>
            <a:ext cx="1476375" cy="9874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628742">
                                            <p:txEl>
                                              <p:charRg st="0" end="18"/>
                                            </p:txEl>
                                          </p:spTgt>
                                        </p:tgtEl>
                                        <p:attrNameLst>
                                          <p:attrName>style.visibility</p:attrName>
                                        </p:attrNameLst>
                                      </p:cBhvr>
                                      <p:to>
                                        <p:strVal val="visible"/>
                                      </p:to>
                                    </p:set>
                                    <p:animEffect transition="in" filter="blinds(horizontal)">
                                      <p:cBhvr>
                                        <p:cTn id="7" dur="1000"/>
                                        <p:tgtEl>
                                          <p:spTgt spid="628742">
                                            <p:txEl>
                                              <p:charRg st="0" end="18"/>
                                            </p:txEl>
                                          </p:spTgt>
                                        </p:tgtEl>
                                      </p:cBhvr>
                                    </p:animEffect>
                                  </p:childTnLst>
                                </p:cTn>
                              </p:par>
                            </p:childTnLst>
                          </p:cTn>
                        </p:par>
                        <p:par>
                          <p:cTn id="8" fill="hold">
                            <p:stCondLst>
                              <p:cond delay="1000"/>
                            </p:stCondLst>
                            <p:childTnLst>
                              <p:par>
                                <p:cTn id="9" presetID="3" presetClass="entr" presetSubtype="10" fill="hold" nodeType="afterEffect">
                                  <p:stCondLst>
                                    <p:cond delay="0"/>
                                  </p:stCondLst>
                                  <p:childTnLst>
                                    <p:set>
                                      <p:cBhvr>
                                        <p:cTn id="10" dur="1" fill="hold">
                                          <p:stCondLst>
                                            <p:cond delay="0"/>
                                          </p:stCondLst>
                                        </p:cTn>
                                        <p:tgtEl>
                                          <p:spTgt spid="628743">
                                            <p:txEl>
                                              <p:charRg st="0" end="14"/>
                                            </p:txEl>
                                          </p:spTgt>
                                        </p:tgtEl>
                                        <p:attrNameLst>
                                          <p:attrName>style.visibility</p:attrName>
                                        </p:attrNameLst>
                                      </p:cBhvr>
                                      <p:to>
                                        <p:strVal val="visible"/>
                                      </p:to>
                                    </p:set>
                                    <p:animEffect transition="in" filter="blinds(horizontal)">
                                      <p:cBhvr>
                                        <p:cTn id="11" dur="1000"/>
                                        <p:tgtEl>
                                          <p:spTgt spid="628743">
                                            <p:txEl>
                                              <p:charRg st="0" end="14"/>
                                            </p:txEl>
                                          </p:spTgt>
                                        </p:tgtEl>
                                      </p:cBhvr>
                                    </p:animEffect>
                                  </p:childTnLst>
                                </p:cTn>
                              </p:par>
                            </p:childTnLst>
                          </p:cTn>
                        </p:par>
                        <p:par>
                          <p:cTn id="12" fill="hold">
                            <p:stCondLst>
                              <p:cond delay="2000"/>
                            </p:stCondLst>
                            <p:childTnLst>
                              <p:par>
                                <p:cTn id="13" presetID="3" presetClass="entr" presetSubtype="10" fill="hold" nodeType="afterEffect">
                                  <p:stCondLst>
                                    <p:cond delay="0"/>
                                  </p:stCondLst>
                                  <p:childTnLst>
                                    <p:set>
                                      <p:cBhvr>
                                        <p:cTn id="14" dur="1" fill="hold">
                                          <p:stCondLst>
                                            <p:cond delay="0"/>
                                          </p:stCondLst>
                                        </p:cTn>
                                        <p:tgtEl>
                                          <p:spTgt spid="628744">
                                            <p:txEl>
                                              <p:charRg st="0" end="16"/>
                                            </p:txEl>
                                          </p:spTgt>
                                        </p:tgtEl>
                                        <p:attrNameLst>
                                          <p:attrName>style.visibility</p:attrName>
                                        </p:attrNameLst>
                                      </p:cBhvr>
                                      <p:to>
                                        <p:strVal val="visible"/>
                                      </p:to>
                                    </p:set>
                                    <p:animEffect transition="in" filter="blinds(horizontal)">
                                      <p:cBhvr>
                                        <p:cTn id="15" dur="1000"/>
                                        <p:tgtEl>
                                          <p:spTgt spid="628744">
                                            <p:txEl>
                                              <p:charRg st="0" end="16"/>
                                            </p:txEl>
                                          </p:spTgt>
                                        </p:tgtEl>
                                      </p:cBhvr>
                                    </p:animEffect>
                                  </p:childTnLst>
                                </p:cTn>
                              </p:par>
                            </p:childTnLst>
                          </p:cTn>
                        </p:par>
                        <p:par>
                          <p:cTn id="16" fill="hold">
                            <p:stCondLst>
                              <p:cond delay="3000"/>
                            </p:stCondLst>
                            <p:childTnLst>
                              <p:par>
                                <p:cTn id="17" presetID="3" presetClass="entr" presetSubtype="10" fill="hold" nodeType="afterEffect">
                                  <p:stCondLst>
                                    <p:cond delay="0"/>
                                  </p:stCondLst>
                                  <p:childTnLst>
                                    <p:set>
                                      <p:cBhvr>
                                        <p:cTn id="18" dur="1" fill="hold">
                                          <p:stCondLst>
                                            <p:cond delay="0"/>
                                          </p:stCondLst>
                                        </p:cTn>
                                        <p:tgtEl>
                                          <p:spTgt spid="628745">
                                            <p:txEl>
                                              <p:charRg st="0" end="18"/>
                                            </p:txEl>
                                          </p:spTgt>
                                        </p:tgtEl>
                                        <p:attrNameLst>
                                          <p:attrName>style.visibility</p:attrName>
                                        </p:attrNameLst>
                                      </p:cBhvr>
                                      <p:to>
                                        <p:strVal val="visible"/>
                                      </p:to>
                                    </p:set>
                                    <p:animEffect transition="in" filter="blinds(horizontal)">
                                      <p:cBhvr>
                                        <p:cTn id="19" dur="1000"/>
                                        <p:tgtEl>
                                          <p:spTgt spid="628745">
                                            <p:txEl>
                                              <p:charRg st="0"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2"/>
          <p:cNvSpPr>
            <a:spLocks noGrp="1"/>
          </p:cNvSpPr>
          <p:nvPr>
            <p:ph type="title"/>
          </p:nvPr>
        </p:nvSpPr>
        <p:spPr>
          <a:xfrm>
            <a:off x="457200" y="274638"/>
            <a:ext cx="8229600" cy="1143000"/>
          </a:xfrm>
          <a:noFill/>
          <a:ln>
            <a:noFill/>
          </a:ln>
        </p:spPr>
        <p:txBody>
          <a:bodyPr anchor="t" anchorCtr="0"/>
          <a:p>
            <a:endParaRPr lang="zh-CN" altLang="en-US" dirty="0">
              <a:ea typeface="宋体" panose="02010600030101010101" pitchFamily="2" charset="-122"/>
            </a:endParaRPr>
          </a:p>
        </p:txBody>
      </p:sp>
      <p:sp>
        <p:nvSpPr>
          <p:cNvPr id="7170" name="Rectangle 3"/>
          <p:cNvSpPr>
            <a:spLocks noGrp="1"/>
          </p:cNvSpPr>
          <p:nvPr>
            <p:ph idx="1"/>
          </p:nvPr>
        </p:nvSpPr>
        <p:spPr>
          <a:xfrm>
            <a:off x="457200" y="1600200"/>
            <a:ext cx="8229600" cy="4525963"/>
          </a:xfrm>
          <a:noFill/>
          <a:ln>
            <a:noFill/>
          </a:ln>
        </p:spPr>
        <p:txBody>
          <a:bodyPr anchor="t" anchorCtr="0"/>
          <a:p>
            <a:endParaRPr lang="zh-CN" altLang="en-US" dirty="0">
              <a:ea typeface="宋体" panose="02010600030101010101" pitchFamily="2" charset="-122"/>
            </a:endParaRPr>
          </a:p>
        </p:txBody>
      </p:sp>
      <p:pic>
        <p:nvPicPr>
          <p:cNvPr id="7171" name="Picture 4"/>
          <p:cNvPicPr>
            <a:picLocks noChangeAspect="1"/>
          </p:cNvPicPr>
          <p:nvPr/>
        </p:nvPicPr>
        <p:blipFill>
          <a:blip r:embed="rId1"/>
          <a:stretch>
            <a:fillRect/>
          </a:stretch>
        </p:blipFill>
        <p:spPr>
          <a:xfrm>
            <a:off x="395288" y="404813"/>
            <a:ext cx="8424862" cy="6118225"/>
          </a:xfrm>
          <a:prstGeom prst="rect">
            <a:avLst/>
          </a:prstGeom>
          <a:noFill/>
          <a:ln w="9525">
            <a:noFill/>
          </a:ln>
        </p:spPr>
      </p:pic>
      <p:sp>
        <p:nvSpPr>
          <p:cNvPr id="7172" name="Text Box 5"/>
          <p:cNvSpPr txBox="1"/>
          <p:nvPr/>
        </p:nvSpPr>
        <p:spPr>
          <a:xfrm>
            <a:off x="1116013" y="1557338"/>
            <a:ext cx="863600" cy="3381375"/>
          </a:xfrm>
          <a:prstGeom prst="rect">
            <a:avLst/>
          </a:prstGeom>
          <a:noFill/>
          <a:ln w="9525">
            <a:noFill/>
          </a:ln>
        </p:spPr>
        <p:txBody>
          <a:bodyPr anchor="t" anchorCtr="0">
            <a:spAutoFit/>
          </a:bodyPr>
          <a:p>
            <a:r>
              <a:rPr lang="zh-CN" altLang="en-US" sz="5400" b="0" dirty="0">
                <a:solidFill>
                  <a:srgbClr val="0196B9"/>
                </a:solidFill>
                <a:latin typeface="华文行楷" panose="02010800040101010101" pitchFamily="2" charset="-122"/>
              </a:rPr>
              <a:t>主要内容</a:t>
            </a:r>
            <a:endParaRPr lang="zh-CN" altLang="en-US" sz="5400" b="0" dirty="0">
              <a:solidFill>
                <a:srgbClr val="0196B9"/>
              </a:solidFill>
              <a:latin typeface="华文行楷" panose="02010800040101010101" pitchFamily="2" charset="-122"/>
            </a:endParaRPr>
          </a:p>
        </p:txBody>
      </p:sp>
      <p:sp>
        <p:nvSpPr>
          <p:cNvPr id="629766" name="圆角矩形 18">
            <a:hlinkClick r:id="rId2" action="ppaction://hlinksldjump" highlightClick="1"/>
            <a:hlinkHover r:id="" action="ppaction://noaction">
              <a:snd r:embed="rId3" name="按钮声音.wav"/>
            </a:hlinkHover>
          </p:cNvPr>
          <p:cNvSpPr>
            <a:spLocks noChangeArrowheads="1"/>
          </p:cNvSpPr>
          <p:nvPr/>
        </p:nvSpPr>
        <p:spPr bwMode="auto">
          <a:xfrm>
            <a:off x="3132138" y="1052513"/>
            <a:ext cx="5400675" cy="431800"/>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3.1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通信建设工程概预算定义</a:t>
            </a:r>
            <a:r>
              <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29767" name="AutoShape 7">
            <a:hlinkClick r:id="rId4" action="ppaction://hlinksldjump"/>
            <a:hlinkHover r:id="" action="ppaction://noaction">
              <a:snd r:embed="rId3" name="按钮声音.wav"/>
            </a:hlinkHover>
          </p:cNvPr>
          <p:cNvSpPr/>
          <p:nvPr/>
        </p:nvSpPr>
        <p:spPr>
          <a:xfrm>
            <a:off x="3132138" y="1701800"/>
            <a:ext cx="5400675"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en-US" altLang="zh-CN" sz="2400" dirty="0">
                <a:solidFill>
                  <a:srgbClr val="000099"/>
                </a:solidFill>
                <a:latin typeface="微软雅黑" panose="020B0503020204020204" pitchFamily="34" charset="-122"/>
                <a:ea typeface="微软雅黑" panose="020B0503020204020204" pitchFamily="34" charset="-122"/>
              </a:rPr>
              <a:t>3.2 </a:t>
            </a:r>
            <a:r>
              <a:rPr lang="zh-CN" altLang="en-US" sz="2400" dirty="0">
                <a:solidFill>
                  <a:srgbClr val="000099"/>
                </a:solidFill>
                <a:latin typeface="微软雅黑" panose="020B0503020204020204" pitchFamily="34" charset="-122"/>
                <a:ea typeface="微软雅黑" panose="020B0503020204020204" pitchFamily="34" charset="-122"/>
              </a:rPr>
              <a:t>通信建设工程概预算作用</a:t>
            </a:r>
            <a:endParaRPr lang="zh-CN" altLang="en-US" sz="2400" dirty="0">
              <a:solidFill>
                <a:srgbClr val="000099"/>
              </a:solidFill>
              <a:latin typeface="微软雅黑" panose="020B0503020204020204" pitchFamily="34" charset="-122"/>
              <a:ea typeface="微软雅黑" panose="020B0503020204020204" pitchFamily="34" charset="-122"/>
            </a:endParaRPr>
          </a:p>
        </p:txBody>
      </p:sp>
      <p:sp>
        <p:nvSpPr>
          <p:cNvPr id="629768" name="AutoShape 8">
            <a:hlinkClick r:id="rId5" action="ppaction://hlinksldjump" highlightClick="1"/>
            <a:hlinkHover r:id="" action="ppaction://noaction">
              <a:snd r:embed="rId3" name="按钮声音.wav"/>
            </a:hlinkHover>
          </p:cNvPr>
          <p:cNvSpPr>
            <a:spLocks noChangeArrowheads="1"/>
          </p:cNvSpPr>
          <p:nvPr/>
        </p:nvSpPr>
        <p:spPr bwMode="auto">
          <a:xfrm>
            <a:off x="3132138" y="2349500"/>
            <a:ext cx="5400675" cy="431800"/>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 </a:t>
            </a: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3.3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定额</a:t>
            </a:r>
            <a:r>
              <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29769" name="AutoShape 9">
            <a:hlinkClick r:id="rId6" action="ppaction://hlinksldjump"/>
            <a:hlinkHover r:id="" action="ppaction://noaction">
              <a:snd r:embed="rId3" name="按钮声音.wav"/>
            </a:hlinkHover>
          </p:cNvPr>
          <p:cNvSpPr/>
          <p:nvPr/>
        </p:nvSpPr>
        <p:spPr>
          <a:xfrm>
            <a:off x="3130550" y="3068638"/>
            <a:ext cx="5473700"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en-US" altLang="zh-CN" sz="2400" dirty="0">
                <a:solidFill>
                  <a:srgbClr val="000099"/>
                </a:solidFill>
                <a:latin typeface="微软雅黑" panose="020B0503020204020204" pitchFamily="34" charset="-122"/>
                <a:ea typeface="微软雅黑" panose="020B0503020204020204" pitchFamily="34" charset="-122"/>
              </a:rPr>
              <a:t>3.4 </a:t>
            </a:r>
            <a:r>
              <a:rPr lang="zh-CN" altLang="en-US" sz="2400" dirty="0">
                <a:solidFill>
                  <a:srgbClr val="000099"/>
                </a:solidFill>
                <a:latin typeface="微软雅黑" panose="020B0503020204020204" pitchFamily="34" charset="-122"/>
                <a:ea typeface="微软雅黑" panose="020B0503020204020204" pitchFamily="34" charset="-122"/>
              </a:rPr>
              <a:t>通信建设工程预算定额</a:t>
            </a:r>
            <a:endParaRPr lang="zh-CN" altLang="en-US" dirty="0">
              <a:solidFill>
                <a:srgbClr val="000099"/>
              </a:solidFill>
              <a:latin typeface="Arial" panose="020B0604020202020204" pitchFamily="34" charset="0"/>
              <a:ea typeface="宋体" panose="02010600030101010101" pitchFamily="2" charset="-122"/>
            </a:endParaRPr>
          </a:p>
        </p:txBody>
      </p:sp>
      <p:sp>
        <p:nvSpPr>
          <p:cNvPr id="629770" name="AutoShape 10">
            <a:hlinkClick r:id="rId7" action="ppaction://hlinksldjump"/>
            <a:hlinkHover r:id="" action="ppaction://noaction">
              <a:snd r:embed="rId3" name="按钮声音.wav"/>
            </a:hlinkHover>
          </p:cNvPr>
          <p:cNvSpPr/>
          <p:nvPr/>
        </p:nvSpPr>
        <p:spPr>
          <a:xfrm>
            <a:off x="3130550" y="3717925"/>
            <a:ext cx="5473700"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en-US" altLang="zh-CN" sz="2400" dirty="0">
                <a:solidFill>
                  <a:srgbClr val="000099"/>
                </a:solidFill>
                <a:latin typeface="微软雅黑" panose="020B0503020204020204" pitchFamily="34" charset="-122"/>
                <a:ea typeface="微软雅黑" panose="020B0503020204020204" pitchFamily="34" charset="-122"/>
              </a:rPr>
              <a:t>3.5 </a:t>
            </a:r>
            <a:r>
              <a:rPr lang="zh-CN" altLang="en-US" sz="2400" dirty="0">
                <a:solidFill>
                  <a:srgbClr val="000099"/>
                </a:solidFill>
                <a:latin typeface="微软雅黑" panose="020B0503020204020204" pitchFamily="34" charset="-122"/>
                <a:ea typeface="微软雅黑" panose="020B0503020204020204" pitchFamily="34" charset="-122"/>
              </a:rPr>
              <a:t>通信建设工程概算定额</a:t>
            </a:r>
            <a:endParaRPr lang="zh-CN" altLang="en-US" sz="2400" dirty="0">
              <a:solidFill>
                <a:srgbClr val="000099"/>
              </a:solidFill>
              <a:latin typeface="微软雅黑" panose="020B0503020204020204" pitchFamily="34" charset="-122"/>
              <a:ea typeface="微软雅黑" panose="020B0503020204020204" pitchFamily="34" charset="-122"/>
            </a:endParaRPr>
          </a:p>
        </p:txBody>
      </p:sp>
      <p:sp>
        <p:nvSpPr>
          <p:cNvPr id="629771" name="AutoShape 11">
            <a:hlinkClick r:id="rId8" action="ppaction://hlinksldjump"/>
            <a:hlinkHover r:id="" action="ppaction://noaction">
              <a:snd r:embed="rId3" name="按钮声音.wav"/>
            </a:hlinkHover>
          </p:cNvPr>
          <p:cNvSpPr/>
          <p:nvPr/>
        </p:nvSpPr>
        <p:spPr>
          <a:xfrm>
            <a:off x="3059113" y="4437063"/>
            <a:ext cx="5545137"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zh-CN" altLang="en-US" sz="2400" dirty="0">
                <a:solidFill>
                  <a:srgbClr val="000099"/>
                </a:solidFill>
                <a:latin typeface="微软雅黑" panose="020B0503020204020204" pitchFamily="34" charset="-122"/>
                <a:ea typeface="微软雅黑" panose="020B0503020204020204" pitchFamily="34" charset="-122"/>
              </a:rPr>
              <a:t>阶段小结</a:t>
            </a:r>
            <a:endParaRPr lang="zh-CN" altLang="en-US" sz="2400" dirty="0">
              <a:solidFill>
                <a:srgbClr val="000099"/>
              </a:solidFill>
              <a:latin typeface="微软雅黑" panose="020B0503020204020204" pitchFamily="34" charset="-122"/>
              <a:ea typeface="微软雅黑" panose="020B0503020204020204" pitchFamily="34" charset="-122"/>
            </a:endParaRPr>
          </a:p>
        </p:txBody>
      </p:sp>
      <p:sp>
        <p:nvSpPr>
          <p:cNvPr id="629772" name="AutoShape 12">
            <a:hlinkClick r:id="rId9" action="ppaction://hlinksldjump"/>
            <a:hlinkHover r:id="" action="ppaction://noaction">
              <a:snd r:embed="rId3" name="按钮声音.wav"/>
            </a:hlinkHover>
          </p:cNvPr>
          <p:cNvSpPr/>
          <p:nvPr/>
        </p:nvSpPr>
        <p:spPr>
          <a:xfrm>
            <a:off x="3059113" y="5157788"/>
            <a:ext cx="5545137"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zh-CN" altLang="en-US" sz="2400" dirty="0">
                <a:solidFill>
                  <a:srgbClr val="000099"/>
                </a:solidFill>
                <a:latin typeface="微软雅黑" panose="020B0503020204020204" pitchFamily="34" charset="-122"/>
                <a:ea typeface="微软雅黑" panose="020B0503020204020204" pitchFamily="34" charset="-122"/>
              </a:rPr>
              <a:t>知识点练习</a:t>
            </a:r>
            <a:endParaRPr lang="zh-CN" altLang="en-US" sz="2400" dirty="0">
              <a:solidFill>
                <a:srgbClr val="000099"/>
              </a:solidFill>
              <a:latin typeface="微软雅黑" panose="020B0503020204020204" pitchFamily="34" charset="-122"/>
              <a:ea typeface="微软雅黑" panose="020B0503020204020204" pitchFamily="34" charset="-122"/>
            </a:endParaRPr>
          </a:p>
        </p:txBody>
      </p:sp>
      <p:sp>
        <p:nvSpPr>
          <p:cNvPr id="629773" name="AutoShape 13">
            <a:hlinkClick r:id="rId10" action="ppaction://hlinksldjump"/>
            <a:hlinkHover r:id="" action="ppaction://noaction">
              <a:snd r:embed="rId3" name="按钮声音.wav"/>
            </a:hlinkHover>
          </p:cNvPr>
          <p:cNvSpPr/>
          <p:nvPr/>
        </p:nvSpPr>
        <p:spPr>
          <a:xfrm>
            <a:off x="3059113" y="5805488"/>
            <a:ext cx="5545137"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zh-CN" altLang="en-US" sz="2400" dirty="0">
                <a:solidFill>
                  <a:srgbClr val="000099"/>
                </a:solidFill>
                <a:latin typeface="微软雅黑" panose="020B0503020204020204" pitchFamily="34" charset="-122"/>
                <a:ea typeface="微软雅黑" panose="020B0503020204020204" pitchFamily="34" charset="-122"/>
              </a:rPr>
              <a:t>技能训练</a:t>
            </a:r>
            <a:endParaRPr lang="zh-CN" altLang="en-US" sz="2400" dirty="0">
              <a:solidFill>
                <a:srgbClr val="000099"/>
              </a:solidFill>
              <a:latin typeface="微软雅黑" panose="020B0503020204020204" pitchFamily="34" charset="-122"/>
              <a:ea typeface="微软雅黑" panose="020B0503020204020204" pitchFamily="34" charset="-122"/>
            </a:endParaRPr>
          </a:p>
        </p:txBody>
      </p:sp>
      <p:pic>
        <p:nvPicPr>
          <p:cNvPr id="7181" name="Picture 14" descr="图片1">
            <a:hlinkClick r:id="rId11" action="ppaction://hlinksldjump"/>
          </p:cNvPr>
          <p:cNvPicPr>
            <a:picLocks noChangeAspect="1"/>
          </p:cNvPicPr>
          <p:nvPr/>
        </p:nvPicPr>
        <p:blipFill>
          <a:blip r:embed="rId12"/>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629766">
                                            <p:txEl>
                                              <p:charRg st="0" end="17"/>
                                            </p:txEl>
                                          </p:spTgt>
                                        </p:tgtEl>
                                        <p:attrNameLst>
                                          <p:attrName>style.visibility</p:attrName>
                                        </p:attrNameLst>
                                      </p:cBhvr>
                                      <p:to>
                                        <p:strVal val="visible"/>
                                      </p:to>
                                    </p:set>
                                    <p:animEffect transition="in" filter="blinds(horizontal)">
                                      <p:cBhvr>
                                        <p:cTn id="7" dur="1000"/>
                                        <p:tgtEl>
                                          <p:spTgt spid="629766">
                                            <p:txEl>
                                              <p:charRg st="0" end="17"/>
                                            </p:txEl>
                                          </p:spTgt>
                                        </p:tgtEl>
                                      </p:cBhvr>
                                    </p:animEffect>
                                  </p:childTnLst>
                                </p:cTn>
                              </p:par>
                            </p:childTnLst>
                          </p:cTn>
                        </p:par>
                        <p:par>
                          <p:cTn id="8" fill="hold">
                            <p:stCondLst>
                              <p:cond delay="1000"/>
                            </p:stCondLst>
                            <p:childTnLst>
                              <p:par>
                                <p:cTn id="9" presetID="3" presetClass="entr" presetSubtype="10" fill="hold" nodeType="afterEffect">
                                  <p:stCondLst>
                                    <p:cond delay="0"/>
                                  </p:stCondLst>
                                  <p:childTnLst>
                                    <p:set>
                                      <p:cBhvr>
                                        <p:cTn id="10" dur="1" fill="hold">
                                          <p:stCondLst>
                                            <p:cond delay="0"/>
                                          </p:stCondLst>
                                        </p:cTn>
                                        <p:tgtEl>
                                          <p:spTgt spid="629767">
                                            <p:txEl>
                                              <p:charRg st="0" end="16"/>
                                            </p:txEl>
                                          </p:spTgt>
                                        </p:tgtEl>
                                        <p:attrNameLst>
                                          <p:attrName>style.visibility</p:attrName>
                                        </p:attrNameLst>
                                      </p:cBhvr>
                                      <p:to>
                                        <p:strVal val="visible"/>
                                      </p:to>
                                    </p:set>
                                    <p:animEffect transition="in" filter="blinds(horizontal)">
                                      <p:cBhvr>
                                        <p:cTn id="11" dur="1000"/>
                                        <p:tgtEl>
                                          <p:spTgt spid="629767">
                                            <p:txEl>
                                              <p:charRg st="0" end="16"/>
                                            </p:txEl>
                                          </p:spTgt>
                                        </p:tgtEl>
                                      </p:cBhvr>
                                    </p:animEffect>
                                  </p:childTnLst>
                                </p:cTn>
                              </p:par>
                            </p:childTnLst>
                          </p:cTn>
                        </p:par>
                        <p:par>
                          <p:cTn id="12" fill="hold">
                            <p:stCondLst>
                              <p:cond delay="2000"/>
                            </p:stCondLst>
                            <p:childTnLst>
                              <p:par>
                                <p:cTn id="13" presetID="3" presetClass="entr" presetSubtype="10" fill="hold" nodeType="afterEffect">
                                  <p:stCondLst>
                                    <p:cond delay="0"/>
                                  </p:stCondLst>
                                  <p:childTnLst>
                                    <p:set>
                                      <p:cBhvr>
                                        <p:cTn id="14" dur="1" fill="hold">
                                          <p:stCondLst>
                                            <p:cond delay="0"/>
                                          </p:stCondLst>
                                        </p:cTn>
                                        <p:tgtEl>
                                          <p:spTgt spid="629768">
                                            <p:txEl>
                                              <p:charRg st="0" end="9"/>
                                            </p:txEl>
                                          </p:spTgt>
                                        </p:tgtEl>
                                        <p:attrNameLst>
                                          <p:attrName>style.visibility</p:attrName>
                                        </p:attrNameLst>
                                      </p:cBhvr>
                                      <p:to>
                                        <p:strVal val="visible"/>
                                      </p:to>
                                    </p:set>
                                    <p:animEffect transition="in" filter="blinds(horizontal)">
                                      <p:cBhvr>
                                        <p:cTn id="15" dur="1000"/>
                                        <p:tgtEl>
                                          <p:spTgt spid="629768">
                                            <p:txEl>
                                              <p:charRg st="0" end="9"/>
                                            </p:txEl>
                                          </p:spTgt>
                                        </p:tgtEl>
                                      </p:cBhvr>
                                    </p:animEffect>
                                  </p:childTnLst>
                                </p:cTn>
                              </p:par>
                            </p:childTnLst>
                          </p:cTn>
                        </p:par>
                        <p:par>
                          <p:cTn id="16" fill="hold">
                            <p:stCondLst>
                              <p:cond delay="3000"/>
                            </p:stCondLst>
                            <p:childTnLst>
                              <p:par>
                                <p:cTn id="17" presetID="3" presetClass="entr" presetSubtype="10" fill="hold" nodeType="afterEffect">
                                  <p:stCondLst>
                                    <p:cond delay="0"/>
                                  </p:stCondLst>
                                  <p:childTnLst>
                                    <p:set>
                                      <p:cBhvr>
                                        <p:cTn id="18" dur="1" fill="hold">
                                          <p:stCondLst>
                                            <p:cond delay="0"/>
                                          </p:stCondLst>
                                        </p:cTn>
                                        <p:tgtEl>
                                          <p:spTgt spid="629769">
                                            <p:txEl>
                                              <p:charRg st="0" end="15"/>
                                            </p:txEl>
                                          </p:spTgt>
                                        </p:tgtEl>
                                        <p:attrNameLst>
                                          <p:attrName>style.visibility</p:attrName>
                                        </p:attrNameLst>
                                      </p:cBhvr>
                                      <p:to>
                                        <p:strVal val="visible"/>
                                      </p:to>
                                    </p:set>
                                    <p:animEffect transition="in" filter="blinds(horizontal)">
                                      <p:cBhvr>
                                        <p:cTn id="19" dur="1000"/>
                                        <p:tgtEl>
                                          <p:spTgt spid="629769">
                                            <p:txEl>
                                              <p:charRg st="0" end="15"/>
                                            </p:txEl>
                                          </p:spTgt>
                                        </p:tgtEl>
                                      </p:cBhvr>
                                    </p:animEffect>
                                  </p:childTnLst>
                                </p:cTn>
                              </p:par>
                            </p:childTnLst>
                          </p:cTn>
                        </p:par>
                        <p:par>
                          <p:cTn id="20" fill="hold">
                            <p:stCondLst>
                              <p:cond delay="4000"/>
                            </p:stCondLst>
                            <p:childTnLst>
                              <p:par>
                                <p:cTn id="21" presetID="3" presetClass="entr" presetSubtype="10" fill="hold" nodeType="afterEffect">
                                  <p:stCondLst>
                                    <p:cond delay="0"/>
                                  </p:stCondLst>
                                  <p:childTnLst>
                                    <p:set>
                                      <p:cBhvr>
                                        <p:cTn id="22" dur="1" fill="hold">
                                          <p:stCondLst>
                                            <p:cond delay="0"/>
                                          </p:stCondLst>
                                        </p:cTn>
                                        <p:tgtEl>
                                          <p:spTgt spid="629770">
                                            <p:txEl>
                                              <p:charRg st="0" end="15"/>
                                            </p:txEl>
                                          </p:spTgt>
                                        </p:tgtEl>
                                        <p:attrNameLst>
                                          <p:attrName>style.visibility</p:attrName>
                                        </p:attrNameLst>
                                      </p:cBhvr>
                                      <p:to>
                                        <p:strVal val="visible"/>
                                      </p:to>
                                    </p:set>
                                    <p:animEffect transition="in" filter="blinds(horizontal)">
                                      <p:cBhvr>
                                        <p:cTn id="23" dur="1000"/>
                                        <p:tgtEl>
                                          <p:spTgt spid="629770">
                                            <p:txEl>
                                              <p:charRg st="0" end="15"/>
                                            </p:txEl>
                                          </p:spTgt>
                                        </p:tgtEl>
                                      </p:cBhvr>
                                    </p:animEffect>
                                  </p:childTnLst>
                                </p:cTn>
                              </p:par>
                            </p:childTnLst>
                          </p:cTn>
                        </p:par>
                        <p:par>
                          <p:cTn id="24" fill="hold">
                            <p:stCondLst>
                              <p:cond delay="5000"/>
                            </p:stCondLst>
                            <p:childTnLst>
                              <p:par>
                                <p:cTn id="25" presetID="3" presetClass="entr" presetSubtype="10" fill="hold" nodeType="afterEffect">
                                  <p:stCondLst>
                                    <p:cond delay="0"/>
                                  </p:stCondLst>
                                  <p:childTnLst>
                                    <p:set>
                                      <p:cBhvr>
                                        <p:cTn id="26" dur="1" fill="hold">
                                          <p:stCondLst>
                                            <p:cond delay="0"/>
                                          </p:stCondLst>
                                        </p:cTn>
                                        <p:tgtEl>
                                          <p:spTgt spid="629771">
                                            <p:txEl>
                                              <p:charRg st="0" end="5"/>
                                            </p:txEl>
                                          </p:spTgt>
                                        </p:tgtEl>
                                        <p:attrNameLst>
                                          <p:attrName>style.visibility</p:attrName>
                                        </p:attrNameLst>
                                      </p:cBhvr>
                                      <p:to>
                                        <p:strVal val="visible"/>
                                      </p:to>
                                    </p:set>
                                    <p:animEffect transition="in" filter="blinds(horizontal)">
                                      <p:cBhvr>
                                        <p:cTn id="27" dur="1000"/>
                                        <p:tgtEl>
                                          <p:spTgt spid="629771">
                                            <p:txEl>
                                              <p:charRg st="0" end="5"/>
                                            </p:txEl>
                                          </p:spTgt>
                                        </p:tgtEl>
                                      </p:cBhvr>
                                    </p:animEffect>
                                  </p:childTnLst>
                                </p:cTn>
                              </p:par>
                            </p:childTnLst>
                          </p:cTn>
                        </p:par>
                        <p:par>
                          <p:cTn id="28" fill="hold">
                            <p:stCondLst>
                              <p:cond delay="6000"/>
                            </p:stCondLst>
                            <p:childTnLst>
                              <p:par>
                                <p:cTn id="29" presetID="3" presetClass="entr" presetSubtype="10" fill="hold" nodeType="afterEffect">
                                  <p:stCondLst>
                                    <p:cond delay="0"/>
                                  </p:stCondLst>
                                  <p:childTnLst>
                                    <p:set>
                                      <p:cBhvr>
                                        <p:cTn id="30" dur="1" fill="hold">
                                          <p:stCondLst>
                                            <p:cond delay="0"/>
                                          </p:stCondLst>
                                        </p:cTn>
                                        <p:tgtEl>
                                          <p:spTgt spid="629772">
                                            <p:txEl>
                                              <p:charRg st="0" end="6"/>
                                            </p:txEl>
                                          </p:spTgt>
                                        </p:tgtEl>
                                        <p:attrNameLst>
                                          <p:attrName>style.visibility</p:attrName>
                                        </p:attrNameLst>
                                      </p:cBhvr>
                                      <p:to>
                                        <p:strVal val="visible"/>
                                      </p:to>
                                    </p:set>
                                    <p:animEffect transition="in" filter="blinds(horizontal)">
                                      <p:cBhvr>
                                        <p:cTn id="31" dur="1000"/>
                                        <p:tgtEl>
                                          <p:spTgt spid="629772">
                                            <p:txEl>
                                              <p:charRg st="0" end="6"/>
                                            </p:txEl>
                                          </p:spTgt>
                                        </p:tgtEl>
                                      </p:cBhvr>
                                    </p:animEffect>
                                  </p:childTnLst>
                                </p:cTn>
                              </p:par>
                            </p:childTnLst>
                          </p:cTn>
                        </p:par>
                        <p:par>
                          <p:cTn id="32" fill="hold">
                            <p:stCondLst>
                              <p:cond delay="7000"/>
                            </p:stCondLst>
                            <p:childTnLst>
                              <p:par>
                                <p:cTn id="33" presetID="3" presetClass="entr" presetSubtype="10" fill="hold" nodeType="afterEffect">
                                  <p:stCondLst>
                                    <p:cond delay="0"/>
                                  </p:stCondLst>
                                  <p:childTnLst>
                                    <p:set>
                                      <p:cBhvr>
                                        <p:cTn id="34" dur="1" fill="hold">
                                          <p:stCondLst>
                                            <p:cond delay="0"/>
                                          </p:stCondLst>
                                        </p:cTn>
                                        <p:tgtEl>
                                          <p:spTgt spid="629773">
                                            <p:txEl>
                                              <p:charRg st="0" end="5"/>
                                            </p:txEl>
                                          </p:spTgt>
                                        </p:tgtEl>
                                        <p:attrNameLst>
                                          <p:attrName>style.visibility</p:attrName>
                                        </p:attrNameLst>
                                      </p:cBhvr>
                                      <p:to>
                                        <p:strVal val="visible"/>
                                      </p:to>
                                    </p:set>
                                    <p:animEffect transition="in" filter="blinds(horizontal)">
                                      <p:cBhvr>
                                        <p:cTn id="35" dur="1000"/>
                                        <p:tgtEl>
                                          <p:spTgt spid="629773">
                                            <p:txEl>
                                              <p:charRg st="0"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Rectangle 2"/>
          <p:cNvSpPr>
            <a:spLocks noGrp="1"/>
          </p:cNvSpPr>
          <p:nvPr>
            <p:ph type="title"/>
          </p:nvPr>
        </p:nvSpPr>
        <p:spPr>
          <a:xfrm>
            <a:off x="914400" y="333375"/>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3.0</a:t>
            </a:r>
            <a:r>
              <a:rPr lang="zh-CN" altLang="en-US" b="1" dirty="0">
                <a:solidFill>
                  <a:srgbClr val="000099"/>
                </a:solidFill>
                <a:latin typeface="黑体" panose="02010609060101010101" pitchFamily="49" charset="-122"/>
                <a:ea typeface="黑体" panose="02010609060101010101" pitchFamily="49" charset="-122"/>
              </a:rPr>
              <a:t>工程造价</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8194"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sp>
        <p:nvSpPr>
          <p:cNvPr id="8195" name="Line 18"/>
          <p:cNvSpPr/>
          <p:nvPr/>
        </p:nvSpPr>
        <p:spPr>
          <a:xfrm>
            <a:off x="1682750" y="2546350"/>
            <a:ext cx="5656263" cy="0"/>
          </a:xfrm>
          <a:prstGeom prst="line">
            <a:avLst/>
          </a:prstGeom>
          <a:ln w="38100" cap="rnd" cmpd="sng">
            <a:solidFill>
              <a:srgbClr val="008000"/>
            </a:solidFill>
            <a:prstDash val="sysDot"/>
            <a:round/>
            <a:headEnd type="none" w="med" len="med"/>
            <a:tailEnd type="oval" w="med" len="med"/>
          </a:ln>
        </p:spPr>
      </p:sp>
      <p:sp>
        <p:nvSpPr>
          <p:cNvPr id="8196" name="Line 5"/>
          <p:cNvSpPr/>
          <p:nvPr/>
        </p:nvSpPr>
        <p:spPr>
          <a:xfrm>
            <a:off x="1697038" y="3505200"/>
            <a:ext cx="5654675" cy="0"/>
          </a:xfrm>
          <a:prstGeom prst="line">
            <a:avLst/>
          </a:prstGeom>
          <a:ln w="38100" cap="rnd" cmpd="sng">
            <a:solidFill>
              <a:srgbClr val="008000"/>
            </a:solidFill>
            <a:prstDash val="sysDot"/>
            <a:round/>
            <a:headEnd type="none" w="med" len="med"/>
            <a:tailEnd type="oval" w="med" len="med"/>
          </a:ln>
        </p:spPr>
      </p:sp>
      <p:pic>
        <p:nvPicPr>
          <p:cNvPr id="8197" name="Picture 12" descr="003c"/>
          <p:cNvPicPr>
            <a:picLocks noChangeAspect="1"/>
          </p:cNvPicPr>
          <p:nvPr/>
        </p:nvPicPr>
        <p:blipFill>
          <a:blip r:embed="rId1"/>
          <a:stretch>
            <a:fillRect/>
          </a:stretch>
        </p:blipFill>
        <p:spPr>
          <a:xfrm>
            <a:off x="1701800" y="3014663"/>
            <a:ext cx="504825" cy="504825"/>
          </a:xfrm>
          <a:prstGeom prst="rect">
            <a:avLst/>
          </a:prstGeom>
          <a:noFill/>
          <a:ln w="9525">
            <a:noFill/>
          </a:ln>
        </p:spPr>
      </p:pic>
      <p:pic>
        <p:nvPicPr>
          <p:cNvPr id="8198" name="Picture 14" descr="002b"/>
          <p:cNvPicPr>
            <a:picLocks noChangeAspect="1"/>
          </p:cNvPicPr>
          <p:nvPr/>
        </p:nvPicPr>
        <p:blipFill>
          <a:blip r:embed="rId2"/>
          <a:stretch>
            <a:fillRect/>
          </a:stretch>
        </p:blipFill>
        <p:spPr>
          <a:xfrm>
            <a:off x="1701800" y="2046288"/>
            <a:ext cx="504825" cy="504825"/>
          </a:xfrm>
          <a:prstGeom prst="rect">
            <a:avLst/>
          </a:prstGeom>
          <a:noFill/>
          <a:ln w="9525">
            <a:noFill/>
          </a:ln>
        </p:spPr>
      </p:pic>
      <p:sp>
        <p:nvSpPr>
          <p:cNvPr id="630792" name="Text Box 8">
            <a:hlinkClick r:id="rId3" action="ppaction://hlinksldjump"/>
          </p:cNvPr>
          <p:cNvSpPr txBox="1">
            <a:spLocks noChangeArrowheads="1"/>
          </p:cNvSpPr>
          <p:nvPr/>
        </p:nvSpPr>
        <p:spPr bwMode="auto">
          <a:xfrm>
            <a:off x="2268538" y="2133600"/>
            <a:ext cx="53990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工程造价与</a:t>
            </a: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sym typeface="+mn-ea"/>
              </a:rPr>
              <a:t>费用组成</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30793" name="Text Box 9">
            <a:hlinkClick r:id="rId4" action="ppaction://hlinksldjump"/>
          </p:cNvPr>
          <p:cNvSpPr txBox="1">
            <a:spLocks noChangeArrowheads="1"/>
          </p:cNvSpPr>
          <p:nvPr/>
        </p:nvSpPr>
        <p:spPr bwMode="auto">
          <a:xfrm>
            <a:off x="2266950" y="3068638"/>
            <a:ext cx="42481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工程造价的作用</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8201" name="Picture 27" descr="生物10"/>
          <p:cNvPicPr>
            <a:picLocks noChangeAspect="1"/>
          </p:cNvPicPr>
          <p:nvPr/>
        </p:nvPicPr>
        <p:blipFill>
          <a:blip r:embed="rId5"/>
          <a:srcRect r="68536" b="6113"/>
          <a:stretch>
            <a:fillRect/>
          </a:stretch>
        </p:blipFill>
        <p:spPr>
          <a:xfrm>
            <a:off x="563563" y="765175"/>
            <a:ext cx="830262" cy="706438"/>
          </a:xfrm>
          <a:prstGeom prst="rect">
            <a:avLst/>
          </a:prstGeom>
          <a:noFill/>
          <a:ln w="9525">
            <a:noFill/>
          </a:ln>
        </p:spPr>
      </p:pic>
      <p:grpSp>
        <p:nvGrpSpPr>
          <p:cNvPr id="8202" name="Group 43"/>
          <p:cNvGrpSpPr/>
          <p:nvPr/>
        </p:nvGrpSpPr>
        <p:grpSpPr>
          <a:xfrm>
            <a:off x="563563" y="1603375"/>
            <a:ext cx="1704975" cy="381000"/>
            <a:chOff x="-1324" y="576"/>
            <a:chExt cx="912" cy="240"/>
          </a:xfrm>
        </p:grpSpPr>
        <p:sp>
          <p:nvSpPr>
            <p:cNvPr id="8203"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8204"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205"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pic>
        <p:nvPicPr>
          <p:cNvPr id="8206" name="Picture 15" descr="图片1">
            <a:hlinkClick r:id="rId6" action="ppaction://hlinksldjump"/>
          </p:cNvPr>
          <p:cNvPicPr>
            <a:picLocks noChangeAspect="1"/>
          </p:cNvPicPr>
          <p:nvPr/>
        </p:nvPicPr>
        <p:blipFill>
          <a:blip r:embed="rId7"/>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0792"/>
                                        </p:tgtEl>
                                        <p:attrNameLst>
                                          <p:attrName>style.visibility</p:attrName>
                                        </p:attrNameLst>
                                      </p:cBhvr>
                                      <p:to>
                                        <p:strVal val="visible"/>
                                      </p:to>
                                    </p:set>
                                    <p:animEffect transition="in" filter="wipe(left)">
                                      <p:cBhvr>
                                        <p:cTn id="7" dur="1000"/>
                                        <p:tgtEl>
                                          <p:spTgt spid="630792"/>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30793"/>
                                        </p:tgtEl>
                                        <p:attrNameLst>
                                          <p:attrName>style.visibility</p:attrName>
                                        </p:attrNameLst>
                                      </p:cBhvr>
                                      <p:to>
                                        <p:strVal val="visible"/>
                                      </p:to>
                                    </p:set>
                                    <p:animEffect transition="in" filter="wipe(left)">
                                      <p:cBhvr>
                                        <p:cTn id="11" dur="1000"/>
                                        <p:tgtEl>
                                          <p:spTgt spid="630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92" grpId="0"/>
      <p:bldP spid="63079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p:nvPr>
        </p:nvSpPr>
        <p:spPr>
          <a:xfrm>
            <a:off x="468313" y="260350"/>
            <a:ext cx="8507412" cy="647700"/>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工程造价的概念</a:t>
            </a:r>
            <a:endParaRPr lang="zh-CN" altLang="en-US" sz="3200" dirty="0">
              <a:solidFill>
                <a:srgbClr val="000099"/>
              </a:solidFill>
              <a:latin typeface="黑体" panose="02010609060101010101" pitchFamily="49" charset="-122"/>
              <a:ea typeface="黑体" panose="02010609060101010101" pitchFamily="49" charset="-122"/>
            </a:endParaRPr>
          </a:p>
          <a:p>
            <a:pPr>
              <a:lnSpc>
                <a:spcPct val="130000"/>
              </a:lnSpc>
              <a:spcBef>
                <a:spcPct val="40000"/>
              </a:spcBef>
              <a:buNone/>
            </a:pP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9218"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
        <p:nvSpPr>
          <p:cNvPr id="635908" name="Rectangle 4"/>
          <p:cNvSpPr>
            <a:spLocks noChangeArrowheads="1"/>
          </p:cNvSpPr>
          <p:nvPr/>
        </p:nvSpPr>
        <p:spPr bwMode="auto">
          <a:xfrm>
            <a:off x="468313" y="1020763"/>
            <a:ext cx="8351838" cy="551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工程造价简单的来说指的就是工程的建造价格，是指为完成一个工程的建设，预计或实际在土地、设备、技术劳务以及承包等市场上，通过招投标等交易方式所形成的 建筑安装工程 的价格和建设工程总价格。</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从业主（投资者）的角度来定义，工程造价是指工程的建设成本，即为建设一项工程预期支付或实际支付的全部固定资产投资费用。</a:t>
            </a:r>
            <a:endParaRPr kumimoji="0"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从广义上来讲，工程造价则涵盖建设工程造价（土建专业和安装专业），公路工程造价，水运工程造价、铁路工程造价，水利工程造价，电力工程造价，通信工程造价，航空航天工程造价等</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a:t>
            </a:r>
            <a:r>
              <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endPar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35908">
                                            <p:txEl>
                                              <p:charRg st="0" end="48"/>
                                            </p:txEl>
                                          </p:spTgt>
                                        </p:tgtEl>
                                        <p:attrNameLst>
                                          <p:attrName>style.visibility</p:attrName>
                                        </p:attrNameLst>
                                      </p:cBhvr>
                                      <p:to>
                                        <p:strVal val="visible"/>
                                      </p:to>
                                    </p:set>
                                    <p:anim to="" calcmode="lin" valueType="num">
                                      <p:cBhvr>
                                        <p:cTn id="7" dur="1" fill="hold"/>
                                        <p:tgtEl>
                                          <p:spTgt spid="635908">
                                            <p:txEl>
                                              <p:charRg st="0" end="48"/>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35908">
                                            <p:txEl>
                                              <p:charRg st="48" end="90"/>
                                            </p:txEl>
                                          </p:spTgt>
                                        </p:tgtEl>
                                        <p:attrNameLst>
                                          <p:attrName>style.visibility</p:attrName>
                                        </p:attrNameLst>
                                      </p:cBhvr>
                                      <p:to>
                                        <p:strVal val="visible"/>
                                      </p:to>
                                    </p:set>
                                    <p:anim to="" calcmode="lin" valueType="num">
                                      <p:cBhvr>
                                        <p:cTn id="10" dur="1" fill="hold"/>
                                        <p:tgtEl>
                                          <p:spTgt spid="635908">
                                            <p:txEl>
                                              <p:charRg st="48" end="90"/>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35908">
                                            <p:txEl>
                                              <p:charRg st="90" end="109"/>
                                            </p:txEl>
                                          </p:spTgt>
                                        </p:tgtEl>
                                        <p:attrNameLst>
                                          <p:attrName>style.visibility</p:attrName>
                                        </p:attrNameLst>
                                      </p:cBhvr>
                                      <p:to>
                                        <p:strVal val="visible"/>
                                      </p:to>
                                    </p:set>
                                    <p:anim to="" calcmode="lin" valueType="num">
                                      <p:cBhvr>
                                        <p:cTn id="13" dur="1" fill="hold"/>
                                        <p:tgtEl>
                                          <p:spTgt spid="635908">
                                            <p:txEl>
                                              <p:charRg st="90" end="109"/>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p:nvPr>
        </p:nvSpPr>
        <p:spPr>
          <a:xfrm>
            <a:off x="468313" y="260350"/>
            <a:ext cx="8507412" cy="647700"/>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工程造价的概念</a:t>
            </a:r>
            <a:endParaRPr lang="zh-CN" altLang="en-US" sz="3200" dirty="0">
              <a:solidFill>
                <a:srgbClr val="000099"/>
              </a:solidFill>
              <a:latin typeface="黑体" panose="02010609060101010101" pitchFamily="49" charset="-122"/>
              <a:ea typeface="黑体" panose="02010609060101010101" pitchFamily="49" charset="-122"/>
            </a:endParaRPr>
          </a:p>
          <a:p>
            <a:pPr>
              <a:lnSpc>
                <a:spcPct val="130000"/>
              </a:lnSpc>
              <a:spcBef>
                <a:spcPct val="40000"/>
              </a:spcBef>
              <a:buNone/>
            </a:pP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10242"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
        <p:nvSpPr>
          <p:cNvPr id="635908" name="Rectangle 4"/>
          <p:cNvSpPr>
            <a:spLocks noChangeArrowheads="1"/>
          </p:cNvSpPr>
          <p:nvPr/>
        </p:nvSpPr>
        <p:spPr bwMode="auto">
          <a:xfrm>
            <a:off x="468313" y="3859213"/>
            <a:ext cx="8351838" cy="236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18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工程造价所承担的主要任务：是根据图纸、定额以及清单规范，计算出工程中所包含的直接费（人工、材料及设备、施工机具使用）、企业管理费、措施费、规费、利润及税金等。</a:t>
            </a:r>
            <a:endParaRPr kumimoji="0" lang="zh-CN" altLang="en-US" sz="18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18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工程造价的核心内容是投资估算、设计概算、修正概算、施工图预算、工程结算、竣工决算等等。</a:t>
            </a:r>
            <a:endParaRPr kumimoji="0" lang="zh-CN" altLang="en-US" sz="18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18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工程造价的三要素分别是：量、价、费。</a:t>
            </a:r>
            <a:endParaRPr kumimoji="0" lang="zh-CN" altLang="en-US" sz="18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p:txBody>
      </p:sp>
      <p:pic>
        <p:nvPicPr>
          <p:cNvPr id="10244" name="图片 2"/>
          <p:cNvPicPr>
            <a:picLocks noChangeAspect="1"/>
          </p:cNvPicPr>
          <p:nvPr/>
        </p:nvPicPr>
        <p:blipFill>
          <a:blip r:embed="rId3"/>
          <a:stretch>
            <a:fillRect/>
          </a:stretch>
        </p:blipFill>
        <p:spPr>
          <a:xfrm>
            <a:off x="2085975" y="865188"/>
            <a:ext cx="5273675" cy="292258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35908">
                                            <p:txEl>
                                              <p:charRg st="0" end="48"/>
                                            </p:txEl>
                                          </p:spTgt>
                                        </p:tgtEl>
                                        <p:attrNameLst>
                                          <p:attrName>style.visibility</p:attrName>
                                        </p:attrNameLst>
                                      </p:cBhvr>
                                      <p:to>
                                        <p:strVal val="visible"/>
                                      </p:to>
                                    </p:set>
                                    <p:anim to="" calcmode="lin" valueType="num">
                                      <p:cBhvr>
                                        <p:cTn id="7" dur="1" fill="hold"/>
                                        <p:tgtEl>
                                          <p:spTgt spid="635908">
                                            <p:txEl>
                                              <p:charRg st="0" end="48"/>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35908">
                                            <p:txEl>
                                              <p:charRg st="80" end="124"/>
                                            </p:txEl>
                                          </p:spTgt>
                                        </p:tgtEl>
                                        <p:attrNameLst>
                                          <p:attrName>style.visibility</p:attrName>
                                        </p:attrNameLst>
                                      </p:cBhvr>
                                      <p:to>
                                        <p:strVal val="visible"/>
                                      </p:to>
                                    </p:set>
                                    <p:anim to="" calcmode="lin" valueType="num">
                                      <p:cBhvr>
                                        <p:cTn id="12" dur="1" fill="hold"/>
                                        <p:tgtEl>
                                          <p:spTgt spid="635908">
                                            <p:txEl>
                                              <p:charRg st="80" end="124"/>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35908">
                                            <p:txEl>
                                              <p:charRg st="80" end="124"/>
                                            </p:txEl>
                                          </p:spTgt>
                                        </p:tgtEl>
                                        <p:attrNameLst>
                                          <p:attrName>style.visibility</p:attrName>
                                        </p:attrNameLst>
                                      </p:cBhvr>
                                      <p:to>
                                        <p:strVal val="visible"/>
                                      </p:to>
                                    </p:set>
                                    <p:anim to="" calcmode="lin" valueType="num">
                                      <p:cBhvr>
                                        <p:cTn id="17" dur="1" fill="hold"/>
                                        <p:tgtEl>
                                          <p:spTgt spid="635908">
                                            <p:txEl>
                                              <p:charRg st="80" end="124"/>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2"/>
          <p:cNvSpPr>
            <a:spLocks noGrp="1"/>
          </p:cNvSpPr>
          <p:nvPr>
            <p:ph/>
          </p:nvPr>
        </p:nvSpPr>
        <p:spPr>
          <a:xfrm>
            <a:off x="468313" y="260350"/>
            <a:ext cx="8507412" cy="647700"/>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工程造价的费用组成</a:t>
            </a:r>
            <a:endParaRPr lang="zh-CN" altLang="en-US" sz="3200" dirty="0">
              <a:solidFill>
                <a:srgbClr val="000099"/>
              </a:solidFill>
              <a:latin typeface="黑体" panose="02010609060101010101" pitchFamily="49" charset="-122"/>
              <a:ea typeface="黑体" panose="02010609060101010101" pitchFamily="49" charset="-122"/>
            </a:endParaRPr>
          </a:p>
          <a:p>
            <a:pPr>
              <a:lnSpc>
                <a:spcPct val="130000"/>
              </a:lnSpc>
              <a:spcBef>
                <a:spcPct val="40000"/>
              </a:spcBef>
              <a:buNone/>
            </a:pP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11266"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
        <p:nvSpPr>
          <p:cNvPr id="635908" name="Rectangle 4"/>
          <p:cNvSpPr>
            <a:spLocks noChangeArrowheads="1"/>
          </p:cNvSpPr>
          <p:nvPr/>
        </p:nvSpPr>
        <p:spPr bwMode="auto">
          <a:xfrm>
            <a:off x="468313" y="1020763"/>
            <a:ext cx="8351838" cy="400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按照工程造价形成事由划分：工程费、措施项目费、其他项目费、规费、税金组成，分部分项工程费、措施项目费、其他项目费均包含人工费、材料费、施工机具使用费、企业管理费和利润。</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按照费用构成要素划分：由人工费、材料（包含工程设备）施工机具使用费、企业管理费、利润、规费和税金组成。其中人工费、材料费、施工机具使用费、企业管理费和利润包含在分部分项工程费、措施项目费、其他项目费中。</a:t>
            </a:r>
            <a:r>
              <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endPar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35908">
                                            <p:txEl>
                                              <p:charRg st="0" end="48"/>
                                            </p:txEl>
                                          </p:spTgt>
                                        </p:tgtEl>
                                        <p:attrNameLst>
                                          <p:attrName>style.visibility</p:attrName>
                                        </p:attrNameLst>
                                      </p:cBhvr>
                                      <p:to>
                                        <p:strVal val="visible"/>
                                      </p:to>
                                    </p:set>
                                    <p:anim to="" calcmode="lin" valueType="num">
                                      <p:cBhvr>
                                        <p:cTn id="7" dur="1" fill="hold"/>
                                        <p:tgtEl>
                                          <p:spTgt spid="635908">
                                            <p:txEl>
                                              <p:charRg st="0" end="48"/>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35908">
                                            <p:txEl>
                                              <p:charRg st="48" end="90"/>
                                            </p:txEl>
                                          </p:spTgt>
                                        </p:tgtEl>
                                        <p:attrNameLst>
                                          <p:attrName>style.visibility</p:attrName>
                                        </p:attrNameLst>
                                      </p:cBhvr>
                                      <p:to>
                                        <p:strVal val="visible"/>
                                      </p:to>
                                    </p:set>
                                    <p:anim to="" calcmode="lin" valueType="num">
                                      <p:cBhvr>
                                        <p:cTn id="10" dur="1" fill="hold"/>
                                        <p:tgtEl>
                                          <p:spTgt spid="635908">
                                            <p:txEl>
                                              <p:charRg st="48" end="90"/>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Rectangle 2"/>
          <p:cNvSpPr>
            <a:spLocks noGrp="1"/>
          </p:cNvSpPr>
          <p:nvPr>
            <p:ph/>
          </p:nvPr>
        </p:nvSpPr>
        <p:spPr>
          <a:xfrm>
            <a:off x="468313" y="260350"/>
            <a:ext cx="8507412" cy="647700"/>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工程造价的作用</a:t>
            </a:r>
            <a:endParaRPr lang="zh-CN" altLang="en-US" sz="3200" dirty="0">
              <a:solidFill>
                <a:srgbClr val="000099"/>
              </a:solidFill>
              <a:latin typeface="黑体" panose="02010609060101010101" pitchFamily="49" charset="-122"/>
              <a:ea typeface="黑体" panose="02010609060101010101" pitchFamily="49" charset="-122"/>
            </a:endParaRPr>
          </a:p>
          <a:p>
            <a:pPr>
              <a:lnSpc>
                <a:spcPct val="130000"/>
              </a:lnSpc>
              <a:spcBef>
                <a:spcPct val="40000"/>
              </a:spcBef>
              <a:buNone/>
            </a:pP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12290"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
        <p:nvSpPr>
          <p:cNvPr id="635908" name="Rectangle 4"/>
          <p:cNvSpPr>
            <a:spLocks noChangeArrowheads="1"/>
          </p:cNvSpPr>
          <p:nvPr/>
        </p:nvSpPr>
        <p:spPr bwMode="auto">
          <a:xfrm>
            <a:off x="468313" y="1020763"/>
            <a:ext cx="8351838" cy="422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1. 工程造价是项目决策的工具。在项目决策阶段，建设工程造价是项目财务分析和经济评价的重要依据。</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2. 工程造价是制定投资计划和控制投资的有效工具。</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3. 工程造价是筹集建设资金的依据。当建设资金来源于金融机构的贷款时，金融机构在对项目的偿贷能力进行评估的基础上，也需要依据工程造价来确定给予投资者的贷款数额。</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4. 工程造价是合理利益分配和调节产业结构的手段。</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5. 工程造价是评价投资效果的重要指标。</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35908">
                                            <p:txEl>
                                              <p:charRg st="0" end="48"/>
                                            </p:txEl>
                                          </p:spTgt>
                                        </p:tgtEl>
                                        <p:attrNameLst>
                                          <p:attrName>style.visibility</p:attrName>
                                        </p:attrNameLst>
                                      </p:cBhvr>
                                      <p:to>
                                        <p:strVal val="visible"/>
                                      </p:to>
                                    </p:set>
                                    <p:anim to="" calcmode="lin" valueType="num">
                                      <p:cBhvr>
                                        <p:cTn id="7" dur="1" fill="hold"/>
                                        <p:tgtEl>
                                          <p:spTgt spid="635908">
                                            <p:txEl>
                                              <p:charRg st="0" end="48"/>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35908">
                                            <p:txEl>
                                              <p:charRg st="49" end="75"/>
                                            </p:txEl>
                                          </p:spTgt>
                                        </p:tgtEl>
                                        <p:attrNameLst>
                                          <p:attrName>style.visibility</p:attrName>
                                        </p:attrNameLst>
                                      </p:cBhvr>
                                      <p:to>
                                        <p:strVal val="visible"/>
                                      </p:to>
                                    </p:set>
                                    <p:anim to="" calcmode="lin" valueType="num">
                                      <p:cBhvr>
                                        <p:cTn id="12" dur="1" fill="hold"/>
                                        <p:tgtEl>
                                          <p:spTgt spid="635908">
                                            <p:txEl>
                                              <p:charRg st="49" end="75"/>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35908">
                                            <p:txEl>
                                              <p:charRg st="75" end="156"/>
                                            </p:txEl>
                                          </p:spTgt>
                                        </p:tgtEl>
                                        <p:attrNameLst>
                                          <p:attrName>style.visibility</p:attrName>
                                        </p:attrNameLst>
                                      </p:cBhvr>
                                      <p:to>
                                        <p:strVal val="visible"/>
                                      </p:to>
                                    </p:set>
                                    <p:anim to="" calcmode="lin" valueType="num">
                                      <p:cBhvr>
                                        <p:cTn id="17" dur="1" fill="hold"/>
                                        <p:tgtEl>
                                          <p:spTgt spid="635908">
                                            <p:txEl>
                                              <p:charRg st="75" end="156"/>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635908">
                                            <p:txEl>
                                              <p:charRg st="156" end="182"/>
                                            </p:txEl>
                                          </p:spTgt>
                                        </p:tgtEl>
                                        <p:attrNameLst>
                                          <p:attrName>style.visibility</p:attrName>
                                        </p:attrNameLst>
                                      </p:cBhvr>
                                      <p:to>
                                        <p:strVal val="visible"/>
                                      </p:to>
                                    </p:set>
                                    <p:anim to="" calcmode="lin" valueType="num">
                                      <p:cBhvr>
                                        <p:cTn id="22" dur="1" fill="hold"/>
                                        <p:tgtEl>
                                          <p:spTgt spid="635908">
                                            <p:txEl>
                                              <p:charRg st="156" end="182"/>
                                            </p:txEl>
                                          </p:spTgt>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635908">
                                            <p:txEl>
                                              <p:charRg st="182" end="203"/>
                                            </p:txEl>
                                          </p:spTgt>
                                        </p:tgtEl>
                                        <p:attrNameLst>
                                          <p:attrName>style.visibility</p:attrName>
                                        </p:attrNameLst>
                                      </p:cBhvr>
                                      <p:to>
                                        <p:strVal val="visible"/>
                                      </p:to>
                                    </p:set>
                                    <p:anim to="" calcmode="lin" valueType="num">
                                      <p:cBhvr>
                                        <p:cTn id="27" dur="1" fill="hold"/>
                                        <p:tgtEl>
                                          <p:spTgt spid="635908">
                                            <p:txEl>
                                              <p:charRg st="182" end="203"/>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a:spLocks noGrp="1"/>
          </p:cNvSpPr>
          <p:nvPr>
            <p:ph type="title"/>
          </p:nvPr>
        </p:nvSpPr>
        <p:spPr>
          <a:xfrm>
            <a:off x="914400" y="333375"/>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3.1</a:t>
            </a:r>
            <a:r>
              <a:rPr lang="zh-CN" altLang="en-US" b="1" dirty="0">
                <a:solidFill>
                  <a:srgbClr val="000099"/>
                </a:solidFill>
                <a:latin typeface="黑体" panose="02010609060101010101" pitchFamily="49" charset="-122"/>
                <a:ea typeface="黑体" panose="02010609060101010101" pitchFamily="49" charset="-122"/>
              </a:rPr>
              <a:t>通信建设工程概预算定义</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13314"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sp>
        <p:nvSpPr>
          <p:cNvPr id="13315" name="Line 18"/>
          <p:cNvSpPr/>
          <p:nvPr/>
        </p:nvSpPr>
        <p:spPr>
          <a:xfrm>
            <a:off x="1682750" y="2546350"/>
            <a:ext cx="5656263" cy="0"/>
          </a:xfrm>
          <a:prstGeom prst="line">
            <a:avLst/>
          </a:prstGeom>
          <a:ln w="38100" cap="rnd" cmpd="sng">
            <a:solidFill>
              <a:srgbClr val="008000"/>
            </a:solidFill>
            <a:prstDash val="sysDot"/>
            <a:round/>
            <a:headEnd type="none" w="med" len="med"/>
            <a:tailEnd type="oval" w="med" len="med"/>
          </a:ln>
        </p:spPr>
      </p:sp>
      <p:sp>
        <p:nvSpPr>
          <p:cNvPr id="13316" name="Line 5"/>
          <p:cNvSpPr/>
          <p:nvPr/>
        </p:nvSpPr>
        <p:spPr>
          <a:xfrm>
            <a:off x="1697038" y="3505200"/>
            <a:ext cx="5654675" cy="0"/>
          </a:xfrm>
          <a:prstGeom prst="line">
            <a:avLst/>
          </a:prstGeom>
          <a:ln w="38100" cap="rnd" cmpd="sng">
            <a:solidFill>
              <a:srgbClr val="008000"/>
            </a:solidFill>
            <a:prstDash val="sysDot"/>
            <a:round/>
            <a:headEnd type="none" w="med" len="med"/>
            <a:tailEnd type="oval" w="med" len="med"/>
          </a:ln>
        </p:spPr>
      </p:sp>
      <p:pic>
        <p:nvPicPr>
          <p:cNvPr id="13317" name="Picture 12" descr="003c"/>
          <p:cNvPicPr>
            <a:picLocks noChangeAspect="1"/>
          </p:cNvPicPr>
          <p:nvPr/>
        </p:nvPicPr>
        <p:blipFill>
          <a:blip r:embed="rId1"/>
          <a:stretch>
            <a:fillRect/>
          </a:stretch>
        </p:blipFill>
        <p:spPr>
          <a:xfrm>
            <a:off x="1701800" y="3014663"/>
            <a:ext cx="504825" cy="504825"/>
          </a:xfrm>
          <a:prstGeom prst="rect">
            <a:avLst/>
          </a:prstGeom>
          <a:noFill/>
          <a:ln w="9525">
            <a:noFill/>
          </a:ln>
        </p:spPr>
      </p:pic>
      <p:pic>
        <p:nvPicPr>
          <p:cNvPr id="13318" name="Picture 14" descr="002b"/>
          <p:cNvPicPr>
            <a:picLocks noChangeAspect="1"/>
          </p:cNvPicPr>
          <p:nvPr/>
        </p:nvPicPr>
        <p:blipFill>
          <a:blip r:embed="rId2"/>
          <a:stretch>
            <a:fillRect/>
          </a:stretch>
        </p:blipFill>
        <p:spPr>
          <a:xfrm>
            <a:off x="1701800" y="2046288"/>
            <a:ext cx="504825" cy="504825"/>
          </a:xfrm>
          <a:prstGeom prst="rect">
            <a:avLst/>
          </a:prstGeom>
          <a:noFill/>
          <a:ln w="9525">
            <a:noFill/>
          </a:ln>
        </p:spPr>
      </p:pic>
      <p:sp>
        <p:nvSpPr>
          <p:cNvPr id="630792" name="Text Box 8">
            <a:hlinkClick r:id="rId3" action="ppaction://hlinksldjump"/>
          </p:cNvPr>
          <p:cNvSpPr txBox="1">
            <a:spLocks noChangeArrowheads="1"/>
          </p:cNvSpPr>
          <p:nvPr/>
        </p:nvSpPr>
        <p:spPr bwMode="auto">
          <a:xfrm>
            <a:off x="2268538" y="2133600"/>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什么是通信建设工程概算？</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30793" name="Text Box 9">
            <a:hlinkClick r:id="rId4" action="ppaction://hlinksldjump"/>
          </p:cNvPr>
          <p:cNvSpPr txBox="1">
            <a:spLocks noChangeArrowheads="1"/>
          </p:cNvSpPr>
          <p:nvPr/>
        </p:nvSpPr>
        <p:spPr bwMode="auto">
          <a:xfrm>
            <a:off x="2268538" y="3068638"/>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什么是通信建设工程预算？</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13321" name="Picture 27" descr="生物10"/>
          <p:cNvPicPr>
            <a:picLocks noChangeAspect="1"/>
          </p:cNvPicPr>
          <p:nvPr/>
        </p:nvPicPr>
        <p:blipFill>
          <a:blip r:embed="rId5"/>
          <a:srcRect r="68536" b="6113"/>
          <a:stretch>
            <a:fillRect/>
          </a:stretch>
        </p:blipFill>
        <p:spPr>
          <a:xfrm>
            <a:off x="563563" y="765175"/>
            <a:ext cx="830262" cy="706438"/>
          </a:xfrm>
          <a:prstGeom prst="rect">
            <a:avLst/>
          </a:prstGeom>
          <a:noFill/>
          <a:ln w="9525">
            <a:noFill/>
          </a:ln>
        </p:spPr>
      </p:pic>
      <p:grpSp>
        <p:nvGrpSpPr>
          <p:cNvPr id="13322" name="Group 43"/>
          <p:cNvGrpSpPr/>
          <p:nvPr/>
        </p:nvGrpSpPr>
        <p:grpSpPr>
          <a:xfrm>
            <a:off x="563563" y="1603375"/>
            <a:ext cx="1704975" cy="381000"/>
            <a:chOff x="-1324" y="576"/>
            <a:chExt cx="912" cy="240"/>
          </a:xfrm>
        </p:grpSpPr>
        <p:sp>
          <p:nvSpPr>
            <p:cNvPr id="13323"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324"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325"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pic>
        <p:nvPicPr>
          <p:cNvPr id="13326" name="Picture 15" descr="图片1">
            <a:hlinkClick r:id="rId6" action="ppaction://hlinksldjump"/>
          </p:cNvPr>
          <p:cNvPicPr>
            <a:picLocks noChangeAspect="1"/>
          </p:cNvPicPr>
          <p:nvPr/>
        </p:nvPicPr>
        <p:blipFill>
          <a:blip r:embed="rId7"/>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0792"/>
                                        </p:tgtEl>
                                        <p:attrNameLst>
                                          <p:attrName>style.visibility</p:attrName>
                                        </p:attrNameLst>
                                      </p:cBhvr>
                                      <p:to>
                                        <p:strVal val="visible"/>
                                      </p:to>
                                    </p:set>
                                    <p:animEffect transition="in" filter="wipe(left)">
                                      <p:cBhvr>
                                        <p:cTn id="7" dur="1000"/>
                                        <p:tgtEl>
                                          <p:spTgt spid="630792"/>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30793"/>
                                        </p:tgtEl>
                                        <p:attrNameLst>
                                          <p:attrName>style.visibility</p:attrName>
                                        </p:attrNameLst>
                                      </p:cBhvr>
                                      <p:to>
                                        <p:strVal val="visible"/>
                                      </p:to>
                                    </p:set>
                                    <p:animEffect transition="in" filter="wipe(left)">
                                      <p:cBhvr>
                                        <p:cTn id="11" dur="1000"/>
                                        <p:tgtEl>
                                          <p:spTgt spid="630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92" grpId="0"/>
      <p:bldP spid="63079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a:spLocks noGrp="1"/>
          </p:cNvSpPr>
          <p:nvPr>
            <p:ph/>
          </p:nvPr>
        </p:nvSpPr>
        <p:spPr>
          <a:xfrm>
            <a:off x="457200" y="274638"/>
            <a:ext cx="7354888" cy="777875"/>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通信建设工程概预算概念</a:t>
            </a:r>
            <a:endParaRPr lang="zh-CN" altLang="en-US" sz="3200" dirty="0">
              <a:solidFill>
                <a:srgbClr val="000099"/>
              </a:solidFill>
              <a:latin typeface="黑体" panose="02010609060101010101" pitchFamily="49" charset="-122"/>
              <a:ea typeface="黑体" panose="02010609060101010101" pitchFamily="49" charset="-122"/>
            </a:endParaRPr>
          </a:p>
          <a:p>
            <a:pPr algn="dist" eaLnBrk="1">
              <a:lnSpc>
                <a:spcPct val="110000"/>
              </a:lnSpc>
              <a:buNone/>
            </a:pPr>
            <a:r>
              <a:rPr lang="zh-CN" altLang="en-US" dirty="0">
                <a:ea typeface="宋体" panose="02010600030101010101" pitchFamily="2" charset="-122"/>
              </a:rPr>
              <a:t>          </a:t>
            </a:r>
            <a:endParaRPr lang="zh-CN" altLang="en-US" dirty="0">
              <a:ea typeface="宋体" panose="02010600030101010101" pitchFamily="2" charset="-122"/>
            </a:endParaRPr>
          </a:p>
          <a:p>
            <a:pPr eaLnBrk="1">
              <a:lnSpc>
                <a:spcPct val="130000"/>
              </a:lnSpc>
              <a:spcBef>
                <a:spcPct val="40000"/>
              </a:spcBef>
              <a:buNone/>
            </a:pP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14338"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
        <p:nvSpPr>
          <p:cNvPr id="631812" name="Line 4"/>
          <p:cNvSpPr/>
          <p:nvPr/>
        </p:nvSpPr>
        <p:spPr>
          <a:xfrm>
            <a:off x="2081213" y="2489200"/>
            <a:ext cx="0" cy="865188"/>
          </a:xfrm>
          <a:prstGeom prst="line">
            <a:avLst/>
          </a:prstGeom>
          <a:ln w="38100" cap="flat" cmpd="sng">
            <a:solidFill>
              <a:srgbClr val="FF0000"/>
            </a:solidFill>
            <a:prstDash val="solid"/>
            <a:round/>
            <a:headEnd type="none" w="med" len="med"/>
            <a:tailEnd type="none" w="med" len="med"/>
          </a:ln>
        </p:spPr>
      </p:sp>
      <p:sp>
        <p:nvSpPr>
          <p:cNvPr id="631813" name="Line 5"/>
          <p:cNvSpPr/>
          <p:nvPr/>
        </p:nvSpPr>
        <p:spPr>
          <a:xfrm flipV="1">
            <a:off x="2081213" y="2489200"/>
            <a:ext cx="4464050" cy="0"/>
          </a:xfrm>
          <a:prstGeom prst="line">
            <a:avLst/>
          </a:prstGeom>
          <a:ln w="38100" cap="flat" cmpd="sng">
            <a:solidFill>
              <a:srgbClr val="FF0000"/>
            </a:solidFill>
            <a:prstDash val="solid"/>
            <a:round/>
            <a:headEnd type="none" w="med" len="med"/>
            <a:tailEnd type="none" w="med" len="med"/>
          </a:ln>
        </p:spPr>
      </p:sp>
      <p:sp>
        <p:nvSpPr>
          <p:cNvPr id="631814" name="Line 6"/>
          <p:cNvSpPr/>
          <p:nvPr/>
        </p:nvSpPr>
        <p:spPr>
          <a:xfrm>
            <a:off x="6545263" y="2489200"/>
            <a:ext cx="0" cy="865188"/>
          </a:xfrm>
          <a:prstGeom prst="line">
            <a:avLst/>
          </a:prstGeom>
          <a:ln w="38100" cap="flat" cmpd="sng">
            <a:solidFill>
              <a:srgbClr val="FF0000"/>
            </a:solidFill>
            <a:prstDash val="solid"/>
            <a:round/>
            <a:headEnd type="none" w="med" len="med"/>
            <a:tailEnd type="none" w="med" len="med"/>
          </a:ln>
        </p:spPr>
      </p:sp>
      <p:sp>
        <p:nvSpPr>
          <p:cNvPr id="631815" name="Rectangle 7"/>
          <p:cNvSpPr/>
          <p:nvPr/>
        </p:nvSpPr>
        <p:spPr>
          <a:xfrm>
            <a:off x="1296988" y="3352800"/>
            <a:ext cx="1546225" cy="457200"/>
          </a:xfrm>
          <a:prstGeom prst="rect">
            <a:avLst/>
          </a:prstGeom>
          <a:gradFill rotWithShape="1">
            <a:gsLst>
              <a:gs pos="0">
                <a:srgbClr val="FFFF99"/>
              </a:gs>
              <a:gs pos="100000">
                <a:srgbClr val="D1D17D"/>
              </a:gs>
            </a:gsLst>
            <a:lin ang="5400000" scaled="1"/>
            <a:tileRect/>
          </a:gradFill>
          <a:ln w="9525">
            <a:noFill/>
          </a:ln>
        </p:spPr>
        <p:txBody>
          <a:bodyPr anchor="t" anchorCtr="0">
            <a:spAutoFit/>
          </a:bodyPr>
          <a:p>
            <a:pPr algn="ctr">
              <a:spcBef>
                <a:spcPct val="50000"/>
              </a:spcBef>
            </a:pPr>
            <a:r>
              <a:rPr lang="zh-CN" altLang="en-US" sz="2400" dirty="0">
                <a:solidFill>
                  <a:srgbClr val="336699"/>
                </a:solidFill>
                <a:latin typeface="宋体" panose="02010600030101010101" pitchFamily="2" charset="-122"/>
                <a:ea typeface="宋体" panose="02010600030101010101" pitchFamily="2" charset="-122"/>
              </a:rPr>
              <a:t>设计概算</a:t>
            </a:r>
            <a:endParaRPr lang="zh-CN" altLang="en-US" sz="2400" dirty="0">
              <a:solidFill>
                <a:srgbClr val="336699"/>
              </a:solidFill>
              <a:latin typeface="宋体" panose="02010600030101010101" pitchFamily="2" charset="-122"/>
              <a:ea typeface="宋体" panose="02010600030101010101" pitchFamily="2" charset="-122"/>
            </a:endParaRPr>
          </a:p>
        </p:txBody>
      </p:sp>
      <p:sp>
        <p:nvSpPr>
          <p:cNvPr id="631816" name="Rectangle 8"/>
          <p:cNvSpPr/>
          <p:nvPr/>
        </p:nvSpPr>
        <p:spPr>
          <a:xfrm>
            <a:off x="5689600" y="3352800"/>
            <a:ext cx="1906588" cy="457200"/>
          </a:xfrm>
          <a:prstGeom prst="rect">
            <a:avLst/>
          </a:prstGeom>
          <a:gradFill rotWithShape="1">
            <a:gsLst>
              <a:gs pos="0">
                <a:srgbClr val="FFFF99"/>
              </a:gs>
              <a:gs pos="100000">
                <a:srgbClr val="D1D17D"/>
              </a:gs>
            </a:gsLst>
            <a:lin ang="5400000" scaled="1"/>
            <a:tileRect/>
          </a:gradFill>
          <a:ln w="9525">
            <a:noFill/>
          </a:ln>
        </p:spPr>
        <p:txBody>
          <a:bodyPr anchor="t" anchorCtr="0">
            <a:spAutoFit/>
          </a:bodyPr>
          <a:p>
            <a:pPr algn="ctr">
              <a:spcBef>
                <a:spcPct val="50000"/>
              </a:spcBef>
            </a:pPr>
            <a:r>
              <a:rPr lang="zh-CN" altLang="en-US" sz="2400" dirty="0">
                <a:solidFill>
                  <a:srgbClr val="336699"/>
                </a:solidFill>
                <a:latin typeface="宋体" panose="02010600030101010101" pitchFamily="2" charset="-122"/>
                <a:ea typeface="宋体" panose="02010600030101010101" pitchFamily="2" charset="-122"/>
              </a:rPr>
              <a:t>施工图预算</a:t>
            </a:r>
            <a:endParaRPr lang="zh-CN" altLang="en-US" sz="2400" dirty="0">
              <a:solidFill>
                <a:srgbClr val="336699"/>
              </a:solidFill>
              <a:latin typeface="宋体" panose="02010600030101010101" pitchFamily="2" charset="-122"/>
              <a:ea typeface="宋体" panose="02010600030101010101" pitchFamily="2" charset="-122"/>
            </a:endParaRPr>
          </a:p>
        </p:txBody>
      </p:sp>
      <p:sp>
        <p:nvSpPr>
          <p:cNvPr id="631817" name="Rectangle 9"/>
          <p:cNvSpPr/>
          <p:nvPr/>
        </p:nvSpPr>
        <p:spPr>
          <a:xfrm>
            <a:off x="2843213" y="1296988"/>
            <a:ext cx="2673350" cy="647700"/>
          </a:xfrm>
          <a:prstGeom prst="rect">
            <a:avLst/>
          </a:prstGeom>
          <a:noFill/>
          <a:ln w="9525">
            <a:noFill/>
          </a:ln>
        </p:spPr>
        <p:txBody>
          <a:bodyPr wrap="none" anchor="t" anchorCtr="0">
            <a:spAutoFit/>
          </a:bodyPr>
          <a:p>
            <a:pPr algn="ctr" hangingPunct="0">
              <a:lnSpc>
                <a:spcPct val="130000"/>
              </a:lnSpc>
              <a:spcBef>
                <a:spcPct val="40000"/>
              </a:spcBef>
            </a:pPr>
            <a:r>
              <a:rPr lang="zh-CN" altLang="en-US" sz="2800" dirty="0">
                <a:solidFill>
                  <a:srgbClr val="336699"/>
                </a:solidFill>
                <a:latin typeface="华文细黑" panose="02010600040101010101" pitchFamily="2" charset="-122"/>
                <a:ea typeface="华文细黑" panose="02010600040101010101" pitchFamily="2" charset="-122"/>
              </a:rPr>
              <a:t>通信工程概预算</a:t>
            </a:r>
            <a:endParaRPr lang="zh-CN" altLang="en-US" sz="2800" dirty="0">
              <a:solidFill>
                <a:srgbClr val="336699"/>
              </a:solidFill>
              <a:latin typeface="华文细黑" panose="02010600040101010101" pitchFamily="2" charset="-122"/>
              <a:ea typeface="华文细黑" panose="02010600040101010101" pitchFamily="2" charset="-122"/>
            </a:endParaRPr>
          </a:p>
        </p:txBody>
      </p:sp>
      <p:sp>
        <p:nvSpPr>
          <p:cNvPr id="631818" name="Line 10"/>
          <p:cNvSpPr/>
          <p:nvPr/>
        </p:nvSpPr>
        <p:spPr>
          <a:xfrm>
            <a:off x="4202113" y="1979613"/>
            <a:ext cx="0" cy="504825"/>
          </a:xfrm>
          <a:prstGeom prst="line">
            <a:avLst/>
          </a:prstGeom>
          <a:ln w="38100" cap="flat" cmpd="sng">
            <a:solidFill>
              <a:srgbClr val="FF0000"/>
            </a:solidFill>
            <a:prstDash val="solid"/>
            <a:round/>
            <a:headEnd type="none" w="med" len="med"/>
            <a:tailEnd type="none" w="med" len="med"/>
          </a:ln>
        </p:spPr>
      </p:sp>
      <p:sp>
        <p:nvSpPr>
          <p:cNvPr id="631819" name="Line 11"/>
          <p:cNvSpPr/>
          <p:nvPr/>
        </p:nvSpPr>
        <p:spPr>
          <a:xfrm>
            <a:off x="4202113" y="2484438"/>
            <a:ext cx="0" cy="1150937"/>
          </a:xfrm>
          <a:prstGeom prst="line">
            <a:avLst/>
          </a:prstGeom>
          <a:ln w="38100" cap="flat" cmpd="sng">
            <a:solidFill>
              <a:srgbClr val="FF0000"/>
            </a:solidFill>
            <a:prstDash val="lgDash"/>
            <a:round/>
            <a:headEnd type="none" w="med" len="med"/>
            <a:tailEnd type="none" w="med" len="med"/>
          </a:ln>
        </p:spPr>
      </p:sp>
      <p:sp>
        <p:nvSpPr>
          <p:cNvPr id="631820" name="Rectangle 12"/>
          <p:cNvSpPr/>
          <p:nvPr/>
        </p:nvSpPr>
        <p:spPr>
          <a:xfrm>
            <a:off x="3557588" y="3708400"/>
            <a:ext cx="1662112" cy="466725"/>
          </a:xfrm>
          <a:prstGeom prst="rect">
            <a:avLst/>
          </a:prstGeom>
          <a:gradFill rotWithShape="1">
            <a:gsLst>
              <a:gs pos="0">
                <a:srgbClr val="003399"/>
              </a:gs>
              <a:gs pos="100000">
                <a:srgbClr val="000000"/>
              </a:gs>
            </a:gsLst>
            <a:lin ang="5400000" scaled="1"/>
            <a:tileRect/>
          </a:gradFill>
          <a:ln w="9525" cap="flat" cmpd="sng">
            <a:solidFill>
              <a:schemeClr val="tx1"/>
            </a:solidFill>
            <a:prstDash val="solid"/>
            <a:miter/>
            <a:headEnd type="none" w="med" len="med"/>
            <a:tailEnd type="none" w="med" len="med"/>
          </a:ln>
        </p:spPr>
        <p:txBody>
          <a:bodyPr anchor="t" anchorCtr="0">
            <a:spAutoFit/>
          </a:bodyPr>
          <a:p>
            <a:pPr algn="ctr">
              <a:spcBef>
                <a:spcPct val="50000"/>
              </a:spcBef>
            </a:pPr>
            <a:r>
              <a:rPr lang="zh-CN" altLang="en-US" sz="2400" dirty="0">
                <a:latin typeface="宋体" panose="02010600030101010101" pitchFamily="2" charset="-122"/>
                <a:ea typeface="宋体" panose="02010600030101010101" pitchFamily="2" charset="-122"/>
              </a:rPr>
              <a:t>修正概算</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1817"/>
                                        </p:tgtEl>
                                        <p:attrNameLst>
                                          <p:attrName>style.visibility</p:attrName>
                                        </p:attrNameLst>
                                      </p:cBhvr>
                                      <p:to>
                                        <p:strVal val="visible"/>
                                      </p:to>
                                    </p:set>
                                    <p:animEffect transition="in" filter="blinds(horizontal)">
                                      <p:cBhvr>
                                        <p:cTn id="7" dur="500"/>
                                        <p:tgtEl>
                                          <p:spTgt spid="631817"/>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631813"/>
                                        </p:tgtEl>
                                        <p:attrNameLst>
                                          <p:attrName>style.visibility</p:attrName>
                                        </p:attrNameLst>
                                      </p:cBhvr>
                                      <p:to>
                                        <p:strVal val="visible"/>
                                      </p:to>
                                    </p:set>
                                    <p:anim calcmode="lin" valueType="num">
                                      <p:cBhvr>
                                        <p:cTn id="12" dur="500" fill="hold"/>
                                        <p:tgtEl>
                                          <p:spTgt spid="631813"/>
                                        </p:tgtEl>
                                        <p:attrNameLst>
                                          <p:attrName>ppt_w</p:attrName>
                                        </p:attrNameLst>
                                      </p:cBhvr>
                                      <p:tavLst>
                                        <p:tav tm="0">
                                          <p:val>
                                            <p:fltVal val="0.000000"/>
                                          </p:val>
                                        </p:tav>
                                        <p:tav tm="100000">
                                          <p:val>
                                            <p:strVal val="#ppt_w"/>
                                          </p:val>
                                        </p:tav>
                                      </p:tavLst>
                                    </p:anim>
                                    <p:anim calcmode="lin" valueType="num">
                                      <p:cBhvr>
                                        <p:cTn id="13" dur="500" fill="hold"/>
                                        <p:tgtEl>
                                          <p:spTgt spid="631813"/>
                                        </p:tgtEl>
                                        <p:attrNameLst>
                                          <p:attrName>ppt_h</p:attrName>
                                        </p:attrNameLst>
                                      </p:cBhvr>
                                      <p:tavLst>
                                        <p:tav tm="0">
                                          <p:val>
                                            <p:strVal val="#ppt_h"/>
                                          </p:val>
                                        </p:tav>
                                        <p:tav tm="100000">
                                          <p:val>
                                            <p:strVal val="#ppt_h"/>
                                          </p:val>
                                        </p:tav>
                                      </p:tavLst>
                                    </p:anim>
                                  </p:childTnLst>
                                </p:cTn>
                              </p:par>
                              <p:par>
                                <p:cTn id="14" presetID="17" presetClass="entr" presetSubtype="10" fill="hold" nodeType="withEffect">
                                  <p:stCondLst>
                                    <p:cond delay="0"/>
                                  </p:stCondLst>
                                  <p:childTnLst>
                                    <p:set>
                                      <p:cBhvr>
                                        <p:cTn id="15" dur="1" fill="hold">
                                          <p:stCondLst>
                                            <p:cond delay="0"/>
                                          </p:stCondLst>
                                        </p:cTn>
                                        <p:tgtEl>
                                          <p:spTgt spid="631812"/>
                                        </p:tgtEl>
                                        <p:attrNameLst>
                                          <p:attrName>style.visibility</p:attrName>
                                        </p:attrNameLst>
                                      </p:cBhvr>
                                      <p:to>
                                        <p:strVal val="visible"/>
                                      </p:to>
                                    </p:set>
                                    <p:anim calcmode="lin" valueType="num">
                                      <p:cBhvr>
                                        <p:cTn id="16" dur="500" fill="hold"/>
                                        <p:tgtEl>
                                          <p:spTgt spid="631812"/>
                                        </p:tgtEl>
                                        <p:attrNameLst>
                                          <p:attrName>ppt_w</p:attrName>
                                        </p:attrNameLst>
                                      </p:cBhvr>
                                      <p:tavLst>
                                        <p:tav tm="0">
                                          <p:val>
                                            <p:fltVal val="0.000000"/>
                                          </p:val>
                                        </p:tav>
                                        <p:tav tm="100000">
                                          <p:val>
                                            <p:strVal val="#ppt_w"/>
                                          </p:val>
                                        </p:tav>
                                      </p:tavLst>
                                    </p:anim>
                                    <p:anim calcmode="lin" valueType="num">
                                      <p:cBhvr>
                                        <p:cTn id="17" dur="500" fill="hold"/>
                                        <p:tgtEl>
                                          <p:spTgt spid="631812"/>
                                        </p:tgtEl>
                                        <p:attrNameLst>
                                          <p:attrName>ppt_h</p:attrName>
                                        </p:attrNameLst>
                                      </p:cBhvr>
                                      <p:tavLst>
                                        <p:tav tm="0">
                                          <p:val>
                                            <p:strVal val="#ppt_h"/>
                                          </p:val>
                                        </p:tav>
                                        <p:tav tm="100000">
                                          <p:val>
                                            <p:strVal val="#ppt_h"/>
                                          </p:val>
                                        </p:tav>
                                      </p:tavLst>
                                    </p:anim>
                                  </p:childTnLst>
                                </p:cTn>
                              </p:par>
                              <p:par>
                                <p:cTn id="18" presetID="17" presetClass="entr" presetSubtype="10" fill="hold" nodeType="withEffect">
                                  <p:stCondLst>
                                    <p:cond delay="0"/>
                                  </p:stCondLst>
                                  <p:childTnLst>
                                    <p:set>
                                      <p:cBhvr>
                                        <p:cTn id="19" dur="1" fill="hold">
                                          <p:stCondLst>
                                            <p:cond delay="0"/>
                                          </p:stCondLst>
                                        </p:cTn>
                                        <p:tgtEl>
                                          <p:spTgt spid="631814"/>
                                        </p:tgtEl>
                                        <p:attrNameLst>
                                          <p:attrName>style.visibility</p:attrName>
                                        </p:attrNameLst>
                                      </p:cBhvr>
                                      <p:to>
                                        <p:strVal val="visible"/>
                                      </p:to>
                                    </p:set>
                                    <p:anim calcmode="lin" valueType="num">
                                      <p:cBhvr>
                                        <p:cTn id="20" dur="500" fill="hold"/>
                                        <p:tgtEl>
                                          <p:spTgt spid="631814"/>
                                        </p:tgtEl>
                                        <p:attrNameLst>
                                          <p:attrName>ppt_w</p:attrName>
                                        </p:attrNameLst>
                                      </p:cBhvr>
                                      <p:tavLst>
                                        <p:tav tm="0">
                                          <p:val>
                                            <p:fltVal val="0.000000"/>
                                          </p:val>
                                        </p:tav>
                                        <p:tav tm="100000">
                                          <p:val>
                                            <p:strVal val="#ppt_w"/>
                                          </p:val>
                                        </p:tav>
                                      </p:tavLst>
                                    </p:anim>
                                    <p:anim calcmode="lin" valueType="num">
                                      <p:cBhvr>
                                        <p:cTn id="21" dur="500" fill="hold"/>
                                        <p:tgtEl>
                                          <p:spTgt spid="631814"/>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31815"/>
                                        </p:tgtEl>
                                        <p:attrNameLst>
                                          <p:attrName>style.visibility</p:attrName>
                                        </p:attrNameLst>
                                      </p:cBhvr>
                                      <p:to>
                                        <p:strVal val="visible"/>
                                      </p:to>
                                    </p:set>
                                    <p:animEffect transition="in" filter="blinds(horizontal)">
                                      <p:cBhvr>
                                        <p:cTn id="26" dur="500"/>
                                        <p:tgtEl>
                                          <p:spTgt spid="63181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631816"/>
                                        </p:tgtEl>
                                        <p:attrNameLst>
                                          <p:attrName>style.visibility</p:attrName>
                                        </p:attrNameLst>
                                      </p:cBhvr>
                                      <p:to>
                                        <p:strVal val="visible"/>
                                      </p:to>
                                    </p:set>
                                    <p:animEffect transition="in" filter="blinds(horizontal)">
                                      <p:cBhvr>
                                        <p:cTn id="29" dur="500"/>
                                        <p:tgtEl>
                                          <p:spTgt spid="631816"/>
                                        </p:tgtEl>
                                      </p:cBhvr>
                                    </p:animEffect>
                                  </p:childTnLst>
                                </p:cTn>
                              </p:par>
                            </p:childTnLst>
                          </p:cTn>
                        </p:par>
                      </p:childTnLst>
                    </p:cTn>
                  </p:par>
                  <p:par>
                    <p:cTn id="30" fill="hold">
                      <p:stCondLst>
                        <p:cond delay="indefinite"/>
                      </p:stCondLst>
                      <p:childTnLst>
                        <p:par>
                          <p:cTn id="31" fill="hold">
                            <p:stCondLst>
                              <p:cond delay="0"/>
                            </p:stCondLst>
                            <p:childTnLst>
                              <p:par>
                                <p:cTn id="32" presetID="17" presetClass="entr" presetSubtype="10" fill="hold" nodeType="clickEffect">
                                  <p:stCondLst>
                                    <p:cond delay="0"/>
                                  </p:stCondLst>
                                  <p:childTnLst>
                                    <p:set>
                                      <p:cBhvr>
                                        <p:cTn id="33" dur="1" fill="hold">
                                          <p:stCondLst>
                                            <p:cond delay="0"/>
                                          </p:stCondLst>
                                        </p:cTn>
                                        <p:tgtEl>
                                          <p:spTgt spid="631818"/>
                                        </p:tgtEl>
                                        <p:attrNameLst>
                                          <p:attrName>style.visibility</p:attrName>
                                        </p:attrNameLst>
                                      </p:cBhvr>
                                      <p:to>
                                        <p:strVal val="visible"/>
                                      </p:to>
                                    </p:set>
                                    <p:anim calcmode="lin" valueType="num">
                                      <p:cBhvr>
                                        <p:cTn id="34" dur="500" fill="hold"/>
                                        <p:tgtEl>
                                          <p:spTgt spid="631818"/>
                                        </p:tgtEl>
                                        <p:attrNameLst>
                                          <p:attrName>ppt_w</p:attrName>
                                        </p:attrNameLst>
                                      </p:cBhvr>
                                      <p:tavLst>
                                        <p:tav tm="0">
                                          <p:val>
                                            <p:fltVal val="0.000000"/>
                                          </p:val>
                                        </p:tav>
                                        <p:tav tm="100000">
                                          <p:val>
                                            <p:strVal val="#ppt_w"/>
                                          </p:val>
                                        </p:tav>
                                      </p:tavLst>
                                    </p:anim>
                                    <p:anim calcmode="lin" valueType="num">
                                      <p:cBhvr>
                                        <p:cTn id="35" dur="500" fill="hold"/>
                                        <p:tgtEl>
                                          <p:spTgt spid="631818"/>
                                        </p:tgtEl>
                                        <p:attrNameLst>
                                          <p:attrName>ppt_h</p:attrName>
                                        </p:attrNameLst>
                                      </p:cBhvr>
                                      <p:tavLst>
                                        <p:tav tm="0">
                                          <p:val>
                                            <p:strVal val="#ppt_h"/>
                                          </p:val>
                                        </p:tav>
                                        <p:tav tm="100000">
                                          <p:val>
                                            <p:strVal val="#ppt_h"/>
                                          </p:val>
                                        </p:tav>
                                      </p:tavLst>
                                    </p:anim>
                                  </p:childTnLst>
                                </p:cTn>
                              </p:par>
                              <p:par>
                                <p:cTn id="36" presetID="17" presetClass="entr" presetSubtype="10" fill="hold" nodeType="withEffect">
                                  <p:stCondLst>
                                    <p:cond delay="0"/>
                                  </p:stCondLst>
                                  <p:childTnLst>
                                    <p:set>
                                      <p:cBhvr>
                                        <p:cTn id="37" dur="1" fill="hold">
                                          <p:stCondLst>
                                            <p:cond delay="0"/>
                                          </p:stCondLst>
                                        </p:cTn>
                                        <p:tgtEl>
                                          <p:spTgt spid="631819"/>
                                        </p:tgtEl>
                                        <p:attrNameLst>
                                          <p:attrName>style.visibility</p:attrName>
                                        </p:attrNameLst>
                                      </p:cBhvr>
                                      <p:to>
                                        <p:strVal val="visible"/>
                                      </p:to>
                                    </p:set>
                                    <p:anim calcmode="lin" valueType="num">
                                      <p:cBhvr>
                                        <p:cTn id="38" dur="500" fill="hold"/>
                                        <p:tgtEl>
                                          <p:spTgt spid="631819"/>
                                        </p:tgtEl>
                                        <p:attrNameLst>
                                          <p:attrName>ppt_w</p:attrName>
                                        </p:attrNameLst>
                                      </p:cBhvr>
                                      <p:tavLst>
                                        <p:tav tm="0">
                                          <p:val>
                                            <p:fltVal val="0.000000"/>
                                          </p:val>
                                        </p:tav>
                                        <p:tav tm="100000">
                                          <p:val>
                                            <p:strVal val="#ppt_w"/>
                                          </p:val>
                                        </p:tav>
                                      </p:tavLst>
                                    </p:anim>
                                    <p:anim calcmode="lin" valueType="num">
                                      <p:cBhvr>
                                        <p:cTn id="39" dur="500" fill="hold"/>
                                        <p:tgtEl>
                                          <p:spTgt spid="631819"/>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631820"/>
                                        </p:tgtEl>
                                        <p:attrNameLst>
                                          <p:attrName>style.visibility</p:attrName>
                                        </p:attrNameLst>
                                      </p:cBhvr>
                                      <p:to>
                                        <p:strVal val="visible"/>
                                      </p:to>
                                    </p:set>
                                    <p:animEffect transition="in" filter="blinds(horizontal)">
                                      <p:cBhvr>
                                        <p:cTn id="44" dur="500"/>
                                        <p:tgtEl>
                                          <p:spTgt spid="631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1815" grpId="0" animBg="1"/>
      <p:bldP spid="631816" grpId="0" animBg="1"/>
      <p:bldP spid="631817" grpId="0"/>
      <p:bldP spid="6318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a:spLocks noGrp="1"/>
          </p:cNvSpPr>
          <p:nvPr>
            <p:ph/>
          </p:nvPr>
        </p:nvSpPr>
        <p:spPr>
          <a:xfrm>
            <a:off x="457200" y="692150"/>
            <a:ext cx="8229600" cy="4321175"/>
          </a:xfrm>
          <a:noFill/>
          <a:ln>
            <a:noFill/>
          </a:ln>
        </p:spPr>
        <p:txBody>
          <a:bodyPr anchor="t" anchorCtr="0"/>
          <a:p>
            <a:pPr marL="457200" indent="-457200" algn="ctr">
              <a:buNone/>
            </a:pPr>
            <a:endParaRPr lang="zh-CN" altLang="en-US" dirty="0">
              <a:ea typeface="宋体" panose="02010600030101010101" pitchFamily="2" charset="-122"/>
            </a:endParaRPr>
          </a:p>
          <a:p>
            <a:pPr marL="457200" indent="-457200" algn="ctr">
              <a:buNone/>
            </a:pPr>
            <a:endParaRPr lang="zh-CN" altLang="en-US" dirty="0">
              <a:ea typeface="宋体" panose="02010600030101010101" pitchFamily="2" charset="-122"/>
            </a:endParaRPr>
          </a:p>
          <a:p>
            <a:pPr marL="457200" indent="-457200" algn="ctr">
              <a:buNone/>
            </a:pPr>
            <a:endParaRPr lang="zh-CN" altLang="en-US" dirty="0">
              <a:ea typeface="宋体" panose="02010600030101010101" pitchFamily="2" charset="-122"/>
            </a:endParaRPr>
          </a:p>
          <a:p>
            <a:pPr marL="457200" indent="-457200" algn="ctr">
              <a:buNone/>
            </a:pPr>
            <a:endParaRPr lang="zh-CN" altLang="en-US" dirty="0">
              <a:ea typeface="宋体" panose="02010600030101010101" pitchFamily="2" charset="-122"/>
            </a:endParaRPr>
          </a:p>
          <a:p>
            <a:pPr marL="457200" indent="-457200" algn="ctr">
              <a:buNone/>
            </a:pPr>
            <a:endParaRPr lang="zh-CN" altLang="en-US" dirty="0">
              <a:ea typeface="宋体" panose="02010600030101010101" pitchFamily="2" charset="-122"/>
            </a:endParaRPr>
          </a:p>
          <a:p>
            <a:pPr marL="457200" indent="-457200" algn="ctr">
              <a:buNone/>
            </a:pPr>
            <a:endParaRPr lang="zh-CN" altLang="en-US" dirty="0">
              <a:ea typeface="宋体" panose="02010600030101010101" pitchFamily="2" charset="-122"/>
            </a:endParaRPr>
          </a:p>
          <a:p>
            <a:pPr marL="457200" indent="-457200" algn="ctr">
              <a:buNone/>
            </a:pPr>
            <a:endParaRPr lang="zh-CN" altLang="en-US" dirty="0">
              <a:ea typeface="宋体" panose="02010600030101010101" pitchFamily="2" charset="-122"/>
            </a:endParaRPr>
          </a:p>
          <a:p>
            <a:pPr marL="457200" indent="-457200" algn="ctr">
              <a:buNone/>
            </a:pPr>
            <a:endParaRPr lang="zh-CN" altLang="en-US" dirty="0">
              <a:ea typeface="宋体" panose="02010600030101010101" pitchFamily="2" charset="-122"/>
            </a:endParaRPr>
          </a:p>
          <a:p>
            <a:pPr marL="457200" indent="-457200" algn="ctr">
              <a:buNone/>
            </a:pPr>
            <a:endParaRPr lang="zh-CN" altLang="en-US" dirty="0">
              <a:ea typeface="宋体" panose="02010600030101010101" pitchFamily="2" charset="-122"/>
            </a:endParaRPr>
          </a:p>
          <a:p>
            <a:pPr marL="457200" indent="-457200" algn="ctr">
              <a:buNone/>
            </a:pPr>
            <a:endParaRPr lang="zh-CN" altLang="en-US" sz="2000" dirty="0">
              <a:ea typeface="宋体" panose="02010600030101010101" pitchFamily="2" charset="-122"/>
            </a:endParaRPr>
          </a:p>
        </p:txBody>
      </p:sp>
      <p:pic>
        <p:nvPicPr>
          <p:cNvPr id="15362"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
        <p:nvSpPr>
          <p:cNvPr id="15363" name="Rectangle 4"/>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graphicFrame>
        <p:nvGraphicFramePr>
          <p:cNvPr id="632837" name="Object 5"/>
          <p:cNvGraphicFramePr>
            <a:graphicFrameLocks noChangeAspect="1"/>
          </p:cNvGraphicFramePr>
          <p:nvPr/>
        </p:nvGraphicFramePr>
        <p:xfrm>
          <a:off x="900113" y="981075"/>
          <a:ext cx="7416800" cy="3868738"/>
        </p:xfrm>
        <a:graphic>
          <a:graphicData uri="http://schemas.openxmlformats.org/presentationml/2006/ole">
            <mc:AlternateContent xmlns:mc="http://schemas.openxmlformats.org/markup-compatibility/2006">
              <mc:Choice xmlns:v="urn:schemas-microsoft-com:vml" Requires="v">
                <p:oleObj spid="_x0000_s3076" name="" r:id="rId3" imgW="4043045" imgH="2357755" progId="Visio.Drawing.11">
                  <p:embed/>
                </p:oleObj>
              </mc:Choice>
              <mc:Fallback>
                <p:oleObj name="" r:id="rId3" imgW="4043045" imgH="2357755" progId="Visio.Drawing.11">
                  <p:embed/>
                  <p:pic>
                    <p:nvPicPr>
                      <p:cNvPr id="0" name="图片 3075"/>
                      <p:cNvPicPr/>
                      <p:nvPr/>
                    </p:nvPicPr>
                    <p:blipFill>
                      <a:blip r:embed="rId4"/>
                      <a:stretch>
                        <a:fillRect/>
                      </a:stretch>
                    </p:blipFill>
                    <p:spPr>
                      <a:xfrm>
                        <a:off x="900113" y="981075"/>
                        <a:ext cx="7416800" cy="3868738"/>
                      </a:xfrm>
                      <a:prstGeom prst="rect">
                        <a:avLst/>
                      </a:prstGeom>
                      <a:noFill/>
                      <a:ln w="38100">
                        <a:noFill/>
                        <a:miter/>
                      </a:ln>
                    </p:spPr>
                  </p:pic>
                </p:oleObj>
              </mc:Fallback>
            </mc:AlternateContent>
          </a:graphicData>
        </a:graphic>
      </p:graphicFrame>
      <p:sp>
        <p:nvSpPr>
          <p:cNvPr id="632838" name="Rectangle 6"/>
          <p:cNvSpPr/>
          <p:nvPr/>
        </p:nvSpPr>
        <p:spPr>
          <a:xfrm>
            <a:off x="2843213" y="5157788"/>
            <a:ext cx="3189287" cy="396875"/>
          </a:xfrm>
          <a:prstGeom prst="rect">
            <a:avLst/>
          </a:prstGeom>
          <a:noFill/>
          <a:ln w="9525">
            <a:noFill/>
          </a:ln>
        </p:spPr>
        <p:txBody>
          <a:bodyPr wrap="none" anchor="t" anchorCtr="0">
            <a:spAutoFit/>
          </a:bodyPr>
          <a:p>
            <a:pPr algn="ctr">
              <a:spcBef>
                <a:spcPct val="50000"/>
              </a:spcBef>
            </a:pPr>
            <a:r>
              <a:rPr lang="zh-CN" altLang="en-US" dirty="0">
                <a:solidFill>
                  <a:srgbClr val="336699"/>
                </a:solidFill>
                <a:latin typeface="Arial" panose="020B0604020202020204" pitchFamily="34" charset="0"/>
                <a:ea typeface="宋体" panose="02010600030101010101" pitchFamily="2" charset="-122"/>
              </a:rPr>
              <a:t>图</a:t>
            </a:r>
            <a:r>
              <a:rPr lang="en-US" altLang="zh-CN" dirty="0">
                <a:solidFill>
                  <a:srgbClr val="336699"/>
                </a:solidFill>
                <a:latin typeface="Arial" panose="020B0604020202020204" pitchFamily="34" charset="0"/>
                <a:ea typeface="宋体" panose="02010600030101010101" pitchFamily="2" charset="-122"/>
              </a:rPr>
              <a:t>1 </a:t>
            </a:r>
            <a:r>
              <a:rPr lang="zh-CN" altLang="en-US" dirty="0">
                <a:solidFill>
                  <a:srgbClr val="336699"/>
                </a:solidFill>
                <a:latin typeface="Arial" panose="020B0604020202020204" pitchFamily="34" charset="0"/>
                <a:ea typeface="宋体" panose="02010600030101010101" pitchFamily="2" charset="-122"/>
              </a:rPr>
              <a:t>概预算文件编制示意图</a:t>
            </a:r>
            <a:endParaRPr lang="zh-CN" altLang="en-US"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2838"/>
                                        </p:tgtEl>
                                        <p:attrNameLst>
                                          <p:attrName>style.visibility</p:attrName>
                                        </p:attrNameLst>
                                      </p:cBhvr>
                                      <p:to>
                                        <p:strVal val="visible"/>
                                      </p:to>
                                    </p:set>
                                    <p:animEffect transition="in" filter="blinds(horizontal)">
                                      <p:cBhvr>
                                        <p:cTn id="7" dur="500"/>
                                        <p:tgtEl>
                                          <p:spTgt spid="63283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32837"/>
                                        </p:tgtEl>
                                        <p:attrNameLst>
                                          <p:attrName>style.visibility</p:attrName>
                                        </p:attrNameLst>
                                      </p:cBhvr>
                                      <p:to>
                                        <p:strVal val="visible"/>
                                      </p:to>
                                    </p:set>
                                    <p:animEffect transition="in" filter="checkerboard(across)">
                                      <p:cBhvr>
                                        <p:cTn id="12" dur="500"/>
                                        <p:tgtEl>
                                          <p:spTgt spid="632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28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3858" name="Rectangle 2"/>
          <p:cNvSpPr>
            <a:spLocks noGrp="1"/>
          </p:cNvSpPr>
          <p:nvPr>
            <p:ph sz="half" idx="1"/>
          </p:nvPr>
        </p:nvSpPr>
        <p:spPr>
          <a:xfrm>
            <a:off x="1979613" y="5589588"/>
            <a:ext cx="4475162" cy="460375"/>
          </a:xfrm>
          <a:noFill/>
          <a:ln>
            <a:noFill/>
          </a:ln>
        </p:spPr>
        <p:txBody>
          <a:bodyPr anchor="t" anchorCtr="0"/>
          <a:p>
            <a:pPr marL="457200" indent="-457200" algn="ctr">
              <a:buClrTx/>
              <a:buSzTx/>
              <a:buFontTx/>
              <a:buNone/>
            </a:pPr>
            <a:r>
              <a:rPr lang="zh-CN" altLang="en-US" sz="2000" dirty="0">
                <a:ea typeface="宋体" panose="02010600030101010101" pitchFamily="2" charset="-122"/>
              </a:rPr>
              <a:t>图</a:t>
            </a:r>
            <a:r>
              <a:rPr lang="en-US" altLang="zh-CN" sz="2000" dirty="0">
                <a:ea typeface="宋体" panose="02010600030101010101" pitchFamily="2" charset="-122"/>
              </a:rPr>
              <a:t>2 </a:t>
            </a:r>
            <a:r>
              <a:rPr lang="zh-CN" altLang="en-US" sz="2000" dirty="0">
                <a:ea typeface="宋体" panose="02010600030101010101" pitchFamily="2" charset="-122"/>
              </a:rPr>
              <a:t>概预算基本建设程序中的位置</a:t>
            </a:r>
            <a:endParaRPr lang="zh-CN" altLang="en-US" sz="2000" dirty="0">
              <a:ea typeface="宋体" panose="02010600030101010101" pitchFamily="2" charset="-122"/>
            </a:endParaRPr>
          </a:p>
        </p:txBody>
      </p:sp>
      <p:pic>
        <p:nvPicPr>
          <p:cNvPr id="16386"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pic>
        <p:nvPicPr>
          <p:cNvPr id="633860" name="Picture 4"/>
          <p:cNvPicPr>
            <a:picLocks noChangeAspect="1"/>
          </p:cNvPicPr>
          <p:nvPr/>
        </p:nvPicPr>
        <p:blipFill>
          <a:blip r:embed="rId3"/>
          <a:stretch>
            <a:fillRect/>
          </a:stretch>
        </p:blipFill>
        <p:spPr>
          <a:xfrm>
            <a:off x="395288" y="1268413"/>
            <a:ext cx="7705725" cy="3690937"/>
          </a:xfrm>
          <a:prstGeom prst="rect">
            <a:avLst/>
          </a:prstGeom>
          <a:noFill/>
          <a:ln w="9525">
            <a:noFill/>
          </a:ln>
        </p:spPr>
      </p:pic>
      <p:sp>
        <p:nvSpPr>
          <p:cNvPr id="16388" name="Rectangle 5"/>
          <p:cNvSpPr/>
          <p:nvPr/>
        </p:nvSpPr>
        <p:spPr>
          <a:xfrm>
            <a:off x="250825" y="303213"/>
            <a:ext cx="8642350" cy="579437"/>
          </a:xfrm>
          <a:prstGeom prst="rect">
            <a:avLst/>
          </a:prstGeom>
          <a:noFill/>
          <a:ln w="9525">
            <a:noFill/>
          </a:ln>
        </p:spPr>
        <p:txBody>
          <a:bodyPr anchor="ctr" anchorCtr="0">
            <a:spAutoFit/>
          </a:bodyPr>
          <a:p>
            <a:pPr eaLnBrk="0" hangingPunct="0"/>
            <a:r>
              <a:rPr lang="zh-CN" altLang="en-US" sz="3200" dirty="0">
                <a:solidFill>
                  <a:srgbClr val="000099"/>
                </a:solidFill>
                <a:latin typeface="黑体" panose="02010609060101010101" pitchFamily="49" charset="-122"/>
                <a:ea typeface="黑体" panose="02010609060101010101" pitchFamily="49" charset="-122"/>
              </a:rPr>
              <a:t>   </a:t>
            </a: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基本建设程序中的位置</a:t>
            </a:r>
            <a:endParaRPr lang="zh-CN" altLang="en-US" sz="3200" dirty="0">
              <a:solidFill>
                <a:srgbClr val="000099"/>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33858"/>
                                        </p:tgtEl>
                                        <p:attrNameLst>
                                          <p:attrName>style.visibility</p:attrName>
                                        </p:attrNameLst>
                                      </p:cBhvr>
                                      <p:to>
                                        <p:strVal val="visible"/>
                                      </p:to>
                                    </p:set>
                                    <p:animEffect transition="in" filter="blinds(horizontal)">
                                      <p:cBhvr>
                                        <p:cTn id="7" dur="500"/>
                                        <p:tgtEl>
                                          <p:spTgt spid="633858"/>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633860"/>
                                        </p:tgtEl>
                                        <p:attrNameLst>
                                          <p:attrName>style.visibility</p:attrName>
                                        </p:attrNameLst>
                                      </p:cBhvr>
                                      <p:to>
                                        <p:strVal val="visible"/>
                                      </p:to>
                                    </p:set>
                                    <p:animEffect transition="in" filter="wedge">
                                      <p:cBhvr>
                                        <p:cTn id="12" dur="2000"/>
                                        <p:tgtEl>
                                          <p:spTgt spid="633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Rectangle 2"/>
          <p:cNvSpPr>
            <a:spLocks noGrp="1"/>
          </p:cNvSpPr>
          <p:nvPr>
            <p:ph type="title"/>
          </p:nvPr>
        </p:nvSpPr>
        <p:spPr>
          <a:xfrm>
            <a:off x="914400" y="333375"/>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3.2 </a:t>
            </a:r>
            <a:r>
              <a:rPr lang="zh-CN" altLang="en-US" b="1" dirty="0">
                <a:solidFill>
                  <a:srgbClr val="000099"/>
                </a:solidFill>
                <a:latin typeface="黑体" panose="02010609060101010101" pitchFamily="49" charset="-122"/>
                <a:ea typeface="黑体" panose="02010609060101010101" pitchFamily="49" charset="-122"/>
              </a:rPr>
              <a:t>通信工程概预算的作用</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17410"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sp>
        <p:nvSpPr>
          <p:cNvPr id="17411" name="Line 18"/>
          <p:cNvSpPr/>
          <p:nvPr/>
        </p:nvSpPr>
        <p:spPr>
          <a:xfrm>
            <a:off x="1692275" y="2565400"/>
            <a:ext cx="5656263" cy="0"/>
          </a:xfrm>
          <a:prstGeom prst="line">
            <a:avLst/>
          </a:prstGeom>
          <a:ln w="38100" cap="rnd" cmpd="sng">
            <a:solidFill>
              <a:srgbClr val="008000"/>
            </a:solidFill>
            <a:prstDash val="sysDot"/>
            <a:round/>
            <a:headEnd type="none" w="med" len="med"/>
            <a:tailEnd type="oval" w="med" len="med"/>
          </a:ln>
        </p:spPr>
      </p:sp>
      <p:sp>
        <p:nvSpPr>
          <p:cNvPr id="17412" name="Line 5"/>
          <p:cNvSpPr/>
          <p:nvPr/>
        </p:nvSpPr>
        <p:spPr>
          <a:xfrm>
            <a:off x="1706563" y="3524250"/>
            <a:ext cx="5654675" cy="0"/>
          </a:xfrm>
          <a:prstGeom prst="line">
            <a:avLst/>
          </a:prstGeom>
          <a:ln w="38100" cap="rnd" cmpd="sng">
            <a:solidFill>
              <a:srgbClr val="008000"/>
            </a:solidFill>
            <a:prstDash val="sysDot"/>
            <a:round/>
            <a:headEnd type="none" w="med" len="med"/>
            <a:tailEnd type="oval" w="med" len="med"/>
          </a:ln>
        </p:spPr>
      </p:sp>
      <p:pic>
        <p:nvPicPr>
          <p:cNvPr id="17413" name="Picture 12" descr="003c"/>
          <p:cNvPicPr>
            <a:picLocks noChangeAspect="1"/>
          </p:cNvPicPr>
          <p:nvPr/>
        </p:nvPicPr>
        <p:blipFill>
          <a:blip r:embed="rId1"/>
          <a:stretch>
            <a:fillRect/>
          </a:stretch>
        </p:blipFill>
        <p:spPr>
          <a:xfrm>
            <a:off x="1701800" y="3014663"/>
            <a:ext cx="504825" cy="504825"/>
          </a:xfrm>
          <a:prstGeom prst="rect">
            <a:avLst/>
          </a:prstGeom>
          <a:noFill/>
          <a:ln w="9525">
            <a:noFill/>
          </a:ln>
        </p:spPr>
      </p:pic>
      <p:pic>
        <p:nvPicPr>
          <p:cNvPr id="17414" name="Picture 14" descr="002b"/>
          <p:cNvPicPr>
            <a:picLocks noChangeAspect="1"/>
          </p:cNvPicPr>
          <p:nvPr/>
        </p:nvPicPr>
        <p:blipFill>
          <a:blip r:embed="rId2"/>
          <a:stretch>
            <a:fillRect/>
          </a:stretch>
        </p:blipFill>
        <p:spPr>
          <a:xfrm>
            <a:off x="1701800" y="2046288"/>
            <a:ext cx="504825" cy="504825"/>
          </a:xfrm>
          <a:prstGeom prst="rect">
            <a:avLst/>
          </a:prstGeom>
          <a:noFill/>
          <a:ln w="9525">
            <a:noFill/>
          </a:ln>
        </p:spPr>
      </p:pic>
      <p:sp>
        <p:nvSpPr>
          <p:cNvPr id="634888" name="Text Box 8">
            <a:hlinkClick r:id="rId3" action="ppaction://hlinksldjump"/>
          </p:cNvPr>
          <p:cNvSpPr txBox="1">
            <a:spLocks noChangeArrowheads="1"/>
          </p:cNvSpPr>
          <p:nvPr/>
        </p:nvSpPr>
        <p:spPr bwMode="auto">
          <a:xfrm>
            <a:off x="2268538" y="2133600"/>
            <a:ext cx="4967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通信工程概算的作用是什么？</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34889" name="Text Box 9">
            <a:hlinkClick r:id="rId4" action="ppaction://hlinksldjump"/>
          </p:cNvPr>
          <p:cNvSpPr txBox="1">
            <a:spLocks noChangeArrowheads="1"/>
          </p:cNvSpPr>
          <p:nvPr/>
        </p:nvSpPr>
        <p:spPr bwMode="auto">
          <a:xfrm>
            <a:off x="2268538" y="3068638"/>
            <a:ext cx="482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通信工程预算的作用是什么？</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17417" name="Picture 27" descr="生物10"/>
          <p:cNvPicPr>
            <a:picLocks noChangeAspect="1"/>
          </p:cNvPicPr>
          <p:nvPr/>
        </p:nvPicPr>
        <p:blipFill>
          <a:blip r:embed="rId5"/>
          <a:srcRect r="68536" b="6113"/>
          <a:stretch>
            <a:fillRect/>
          </a:stretch>
        </p:blipFill>
        <p:spPr>
          <a:xfrm>
            <a:off x="563563" y="765175"/>
            <a:ext cx="830262" cy="706438"/>
          </a:xfrm>
          <a:prstGeom prst="rect">
            <a:avLst/>
          </a:prstGeom>
          <a:noFill/>
          <a:ln w="9525">
            <a:noFill/>
          </a:ln>
        </p:spPr>
      </p:pic>
      <p:grpSp>
        <p:nvGrpSpPr>
          <p:cNvPr id="17418" name="Group 43"/>
          <p:cNvGrpSpPr/>
          <p:nvPr/>
        </p:nvGrpSpPr>
        <p:grpSpPr>
          <a:xfrm>
            <a:off x="563563" y="1603375"/>
            <a:ext cx="1704975" cy="381000"/>
            <a:chOff x="-1324" y="576"/>
            <a:chExt cx="912" cy="240"/>
          </a:xfrm>
        </p:grpSpPr>
        <p:sp>
          <p:nvSpPr>
            <p:cNvPr id="17419"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7420"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7421"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pic>
        <p:nvPicPr>
          <p:cNvPr id="17422" name="Picture 15" descr="图片1">
            <a:hlinkClick r:id="rId6" action="ppaction://hlinksldjump"/>
          </p:cNvPr>
          <p:cNvPicPr>
            <a:picLocks noChangeAspect="1"/>
          </p:cNvPicPr>
          <p:nvPr/>
        </p:nvPicPr>
        <p:blipFill>
          <a:blip r:embed="rId7"/>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4888"/>
                                        </p:tgtEl>
                                        <p:attrNameLst>
                                          <p:attrName>style.visibility</p:attrName>
                                        </p:attrNameLst>
                                      </p:cBhvr>
                                      <p:to>
                                        <p:strVal val="visible"/>
                                      </p:to>
                                    </p:set>
                                    <p:animEffect transition="in" filter="wipe(left)">
                                      <p:cBhvr>
                                        <p:cTn id="7" dur="1000"/>
                                        <p:tgtEl>
                                          <p:spTgt spid="634888"/>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34889"/>
                                        </p:tgtEl>
                                        <p:attrNameLst>
                                          <p:attrName>style.visibility</p:attrName>
                                        </p:attrNameLst>
                                      </p:cBhvr>
                                      <p:to>
                                        <p:strVal val="visible"/>
                                      </p:to>
                                    </p:set>
                                    <p:animEffect transition="in" filter="wipe(left)">
                                      <p:cBhvr>
                                        <p:cTn id="11" dur="1000"/>
                                        <p:tgtEl>
                                          <p:spTgt spid="634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888" grpId="0"/>
      <p:bldP spid="63488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a:spLocks noGrp="1"/>
          </p:cNvSpPr>
          <p:nvPr>
            <p:ph/>
          </p:nvPr>
        </p:nvSpPr>
        <p:spPr>
          <a:xfrm>
            <a:off x="468313" y="260350"/>
            <a:ext cx="8507412" cy="647700"/>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设计概算的作用</a:t>
            </a:r>
            <a:endParaRPr lang="zh-CN" altLang="en-US" sz="3200" dirty="0">
              <a:solidFill>
                <a:srgbClr val="000099"/>
              </a:solidFill>
              <a:latin typeface="黑体" panose="02010609060101010101" pitchFamily="49" charset="-122"/>
              <a:ea typeface="黑体" panose="02010609060101010101" pitchFamily="49" charset="-122"/>
            </a:endParaRPr>
          </a:p>
          <a:p>
            <a:pPr>
              <a:lnSpc>
                <a:spcPct val="130000"/>
              </a:lnSpc>
              <a:spcBef>
                <a:spcPct val="40000"/>
              </a:spcBef>
              <a:buNone/>
            </a:pP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18434"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
        <p:nvSpPr>
          <p:cNvPr id="635908" name="Rectangle 4"/>
          <p:cNvSpPr>
            <a:spLocks noChangeArrowheads="1"/>
          </p:cNvSpPr>
          <p:nvPr/>
        </p:nvSpPr>
        <p:spPr bwMode="auto">
          <a:xfrm>
            <a:off x="468313" y="1020763"/>
            <a:ext cx="8351838"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设计概算是用货币形式综合反映和确定建设项目从筹建至竣工验收的全部建设费用。其主要作用：</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）确定和控制固定资产投资、编制和安排投资计划、控制施工图预算的主要依据。 </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）审核贷款额度的主要依据。 </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3</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）考核工程设计技术经济合理性和工程造价的主要依据。 </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4</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）筹备设备、材料和签订订货合同的主要依据。</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5</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）在工程招标承包制中是确定标底的主要依据。</a:t>
            </a:r>
            <a:r>
              <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endPar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35908">
                                            <p:txEl>
                                              <p:charRg st="0" end="48"/>
                                            </p:txEl>
                                          </p:spTgt>
                                        </p:tgtEl>
                                        <p:attrNameLst>
                                          <p:attrName>style.visibility</p:attrName>
                                        </p:attrNameLst>
                                      </p:cBhvr>
                                      <p:to>
                                        <p:strVal val="visible"/>
                                      </p:to>
                                    </p:set>
                                    <p:anim to="" calcmode="lin" valueType="num">
                                      <p:cBhvr>
                                        <p:cTn id="7" dur="1" fill="hold"/>
                                        <p:tgtEl>
                                          <p:spTgt spid="635908">
                                            <p:txEl>
                                              <p:charRg st="0" end="48"/>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35908">
                                            <p:txEl>
                                              <p:charRg st="48" end="90"/>
                                            </p:txEl>
                                          </p:spTgt>
                                        </p:tgtEl>
                                        <p:attrNameLst>
                                          <p:attrName>style.visibility</p:attrName>
                                        </p:attrNameLst>
                                      </p:cBhvr>
                                      <p:to>
                                        <p:strVal val="visible"/>
                                      </p:to>
                                    </p:set>
                                    <p:anim to="" calcmode="lin" valueType="num">
                                      <p:cBhvr>
                                        <p:cTn id="10" dur="1" fill="hold"/>
                                        <p:tgtEl>
                                          <p:spTgt spid="635908">
                                            <p:txEl>
                                              <p:charRg st="48" end="90"/>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35908">
                                            <p:txEl>
                                              <p:charRg st="90" end="109"/>
                                            </p:txEl>
                                          </p:spTgt>
                                        </p:tgtEl>
                                        <p:attrNameLst>
                                          <p:attrName>style.visibility</p:attrName>
                                        </p:attrNameLst>
                                      </p:cBhvr>
                                      <p:to>
                                        <p:strVal val="visible"/>
                                      </p:to>
                                    </p:set>
                                    <p:anim to="" calcmode="lin" valueType="num">
                                      <p:cBhvr>
                                        <p:cTn id="13" dur="1" fill="hold"/>
                                        <p:tgtEl>
                                          <p:spTgt spid="635908">
                                            <p:txEl>
                                              <p:charRg st="90" end="109"/>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635908">
                                            <p:txEl>
                                              <p:charRg st="109" end="140"/>
                                            </p:txEl>
                                          </p:spTgt>
                                        </p:tgtEl>
                                        <p:attrNameLst>
                                          <p:attrName>style.visibility</p:attrName>
                                        </p:attrNameLst>
                                      </p:cBhvr>
                                      <p:to>
                                        <p:strVal val="visible"/>
                                      </p:to>
                                    </p:set>
                                    <p:anim to="" calcmode="lin" valueType="num">
                                      <p:cBhvr>
                                        <p:cTn id="16" dur="1" fill="hold"/>
                                        <p:tgtEl>
                                          <p:spTgt spid="635908">
                                            <p:txEl>
                                              <p:charRg st="109" end="140"/>
                                            </p:txEl>
                                          </p:spTgt>
                                        </p:tgtEl>
                                        <p:attrNameLst>
                                          <p:attrName>style.visibility</p:attrName>
                                        </p:attrNameLst>
                                      </p:cBhvr>
                                    </p:anim>
                                  </p:childTnLst>
                                </p:cTn>
                              </p:par>
                              <p:par>
                                <p:cTn id="17" presetID="24" presetClass="entr" presetSubtype="0" fill="hold" nodeType="withEffect">
                                  <p:stCondLst>
                                    <p:cond delay="0"/>
                                  </p:stCondLst>
                                  <p:childTnLst>
                                    <p:set>
                                      <p:cBhvr>
                                        <p:cTn id="18" dur="1" fill="hold">
                                          <p:stCondLst>
                                            <p:cond delay="0"/>
                                          </p:stCondLst>
                                        </p:cTn>
                                        <p:tgtEl>
                                          <p:spTgt spid="635908">
                                            <p:txEl>
                                              <p:charRg st="140" end="166"/>
                                            </p:txEl>
                                          </p:spTgt>
                                        </p:tgtEl>
                                        <p:attrNameLst>
                                          <p:attrName>style.visibility</p:attrName>
                                        </p:attrNameLst>
                                      </p:cBhvr>
                                      <p:to>
                                        <p:strVal val="visible"/>
                                      </p:to>
                                    </p:set>
                                    <p:anim to="" calcmode="lin" valueType="num">
                                      <p:cBhvr>
                                        <p:cTn id="19" dur="1" fill="hold"/>
                                        <p:tgtEl>
                                          <p:spTgt spid="635908">
                                            <p:txEl>
                                              <p:charRg st="140" end="166"/>
                                            </p:txEl>
                                          </p:spTgt>
                                        </p:tgtEl>
                                        <p:attrNameLst>
                                          <p:attrName>style.visibility</p:attrName>
                                        </p:attrNameLst>
                                      </p:cBhvr>
                                    </p:anim>
                                  </p:childTnLst>
                                </p:cTn>
                              </p:par>
                              <p:par>
                                <p:cTn id="20" presetID="24" presetClass="entr" presetSubtype="0" fill="hold" nodeType="withEffect">
                                  <p:stCondLst>
                                    <p:cond delay="0"/>
                                  </p:stCondLst>
                                  <p:childTnLst>
                                    <p:set>
                                      <p:cBhvr>
                                        <p:cTn id="21" dur="1" fill="hold">
                                          <p:stCondLst>
                                            <p:cond delay="0"/>
                                          </p:stCondLst>
                                        </p:cTn>
                                        <p:tgtEl>
                                          <p:spTgt spid="635908">
                                            <p:txEl>
                                              <p:charRg st="166" end="194"/>
                                            </p:txEl>
                                          </p:spTgt>
                                        </p:tgtEl>
                                        <p:attrNameLst>
                                          <p:attrName>style.visibility</p:attrName>
                                        </p:attrNameLst>
                                      </p:cBhvr>
                                      <p:to>
                                        <p:strVal val="visible"/>
                                      </p:to>
                                    </p:set>
                                    <p:anim to="" calcmode="lin" valueType="num">
                                      <p:cBhvr>
                                        <p:cTn id="22" dur="1" fill="hold"/>
                                        <p:tgtEl>
                                          <p:spTgt spid="635908">
                                            <p:txEl>
                                              <p:charRg st="166" end="194"/>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a:spLocks noGrp="1"/>
          </p:cNvSpPr>
          <p:nvPr>
            <p:ph/>
          </p:nvPr>
        </p:nvSpPr>
        <p:spPr>
          <a:xfrm>
            <a:off x="457200" y="274638"/>
            <a:ext cx="8507413" cy="706437"/>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施工图预算的作用</a:t>
            </a:r>
            <a:endParaRPr lang="zh-CN" altLang="en-US" sz="3200" dirty="0">
              <a:solidFill>
                <a:srgbClr val="000099"/>
              </a:solidFill>
              <a:latin typeface="黑体" panose="02010609060101010101" pitchFamily="49" charset="-122"/>
              <a:ea typeface="黑体" panose="02010609060101010101" pitchFamily="49" charset="-122"/>
            </a:endParaRPr>
          </a:p>
          <a:p>
            <a:pPr>
              <a:lnSpc>
                <a:spcPct val="130000"/>
              </a:lnSpc>
              <a:spcBef>
                <a:spcPct val="40000"/>
              </a:spcBef>
              <a:buNone/>
            </a:pP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19458"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
        <p:nvSpPr>
          <p:cNvPr id="636932" name="Rectangle 4"/>
          <p:cNvSpPr>
            <a:spLocks noChangeArrowheads="1"/>
          </p:cNvSpPr>
          <p:nvPr/>
        </p:nvSpPr>
        <p:spPr bwMode="auto">
          <a:xfrm>
            <a:off x="684213" y="1196975"/>
            <a:ext cx="8243888"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施工图预算是用货币形式综合反映和确定建设项目从筹建至竣工验收的全部建设费用。其主要作用：</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1</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）考核工程成本和确定工程造价的主要依据。 </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）签订工程承、发包合同的依据。 </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3</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）价款结算的主要依据。 </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4</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）考核施工图设计技术经济合理性的主要依据。</a:t>
            </a:r>
            <a:r>
              <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rPr>
              <a:t>  </a:t>
            </a:r>
            <a:endParaRPr kumimoji="0" lang="zh-CN" altLang="en-US" sz="2400" b="1" i="0" u="none" strike="noStrike" kern="1200" cap="none" spc="0" normalizeH="0" baseline="0" noProof="0">
              <a:ln>
                <a:noFill/>
              </a:ln>
              <a:solidFill>
                <a:schemeClr val="bg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36932">
                                            <p:txEl>
                                              <p:charRg st="0" end="49"/>
                                            </p:txEl>
                                          </p:spTgt>
                                        </p:tgtEl>
                                        <p:attrNameLst>
                                          <p:attrName>style.visibility</p:attrName>
                                        </p:attrNameLst>
                                      </p:cBhvr>
                                      <p:to>
                                        <p:strVal val="visible"/>
                                      </p:to>
                                    </p:set>
                                    <p:animEffect transition="in" filter="blinds(horizontal)">
                                      <p:cBhvr>
                                        <p:cTn id="7" dur="500"/>
                                        <p:tgtEl>
                                          <p:spTgt spid="636932">
                                            <p:txEl>
                                              <p:charRg st="0" end="4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36932">
                                            <p:txEl>
                                              <p:charRg st="0" end="49"/>
                                            </p:txEl>
                                          </p:spTgt>
                                        </p:tgtEl>
                                        <p:attrNameLst>
                                          <p:attrName>style.visibility</p:attrName>
                                        </p:attrNameLst>
                                      </p:cBhvr>
                                      <p:to>
                                        <p:strVal val="visible"/>
                                      </p:to>
                                    </p:set>
                                    <p:anim to="" calcmode="lin" valueType="num">
                                      <p:cBhvr>
                                        <p:cTn id="12" dur="1" fill="hold"/>
                                        <p:tgtEl>
                                          <p:spTgt spid="636932">
                                            <p:txEl>
                                              <p:charRg st="0" end="49"/>
                                            </p:txEl>
                                          </p:spTgt>
                                        </p:tgtEl>
                                        <p:attrNameLst>
                                          <p:attrName>style.visibility</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636932">
                                            <p:txEl>
                                              <p:charRg st="49" end="75"/>
                                            </p:txEl>
                                          </p:spTgt>
                                        </p:tgtEl>
                                        <p:attrNameLst>
                                          <p:attrName>style.visibility</p:attrName>
                                        </p:attrNameLst>
                                      </p:cBhvr>
                                      <p:to>
                                        <p:strVal val="visible"/>
                                      </p:to>
                                    </p:set>
                                    <p:anim to="" calcmode="lin" valueType="num">
                                      <p:cBhvr>
                                        <p:cTn id="15" dur="1" fill="hold"/>
                                        <p:tgtEl>
                                          <p:spTgt spid="636932">
                                            <p:txEl>
                                              <p:charRg st="49" end="75"/>
                                            </p:txEl>
                                          </p:spTgt>
                                        </p:tgtEl>
                                        <p:attrNameLst>
                                          <p:attrName>style.visibility</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636932">
                                            <p:txEl>
                                              <p:charRg st="75" end="96"/>
                                            </p:txEl>
                                          </p:spTgt>
                                        </p:tgtEl>
                                        <p:attrNameLst>
                                          <p:attrName>style.visibility</p:attrName>
                                        </p:attrNameLst>
                                      </p:cBhvr>
                                      <p:to>
                                        <p:strVal val="visible"/>
                                      </p:to>
                                    </p:set>
                                    <p:anim to="" calcmode="lin" valueType="num">
                                      <p:cBhvr>
                                        <p:cTn id="18" dur="1" fill="hold"/>
                                        <p:tgtEl>
                                          <p:spTgt spid="636932">
                                            <p:txEl>
                                              <p:charRg st="75" end="96"/>
                                            </p:txEl>
                                          </p:spTgt>
                                        </p:tgtEl>
                                        <p:attrNameLst>
                                          <p:attrName>style.visibility</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636932">
                                            <p:txEl>
                                              <p:charRg st="96" end="113"/>
                                            </p:txEl>
                                          </p:spTgt>
                                        </p:tgtEl>
                                        <p:attrNameLst>
                                          <p:attrName>style.visibility</p:attrName>
                                        </p:attrNameLst>
                                      </p:cBhvr>
                                      <p:to>
                                        <p:strVal val="visible"/>
                                      </p:to>
                                    </p:set>
                                    <p:anim to="" calcmode="lin" valueType="num">
                                      <p:cBhvr>
                                        <p:cTn id="21" dur="1" fill="hold"/>
                                        <p:tgtEl>
                                          <p:spTgt spid="636932">
                                            <p:txEl>
                                              <p:charRg st="96" end="113"/>
                                            </p:txEl>
                                          </p:spTgt>
                                        </p:tgtEl>
                                        <p:attrNameLst>
                                          <p:attrName>style.visibility</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636932">
                                            <p:txEl>
                                              <p:charRg st="113" end="141"/>
                                            </p:txEl>
                                          </p:spTgt>
                                        </p:tgtEl>
                                        <p:attrNameLst>
                                          <p:attrName>style.visibility</p:attrName>
                                        </p:attrNameLst>
                                      </p:cBhvr>
                                      <p:to>
                                        <p:strVal val="visible"/>
                                      </p:to>
                                    </p:set>
                                    <p:anim to="" calcmode="lin" valueType="num">
                                      <p:cBhvr>
                                        <p:cTn id="24" dur="1" fill="hold"/>
                                        <p:tgtEl>
                                          <p:spTgt spid="636932">
                                            <p:txEl>
                                              <p:charRg st="113" end="141"/>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Rectangle 2"/>
          <p:cNvSpPr>
            <a:spLocks noGrp="1"/>
          </p:cNvSpPr>
          <p:nvPr>
            <p:ph type="title"/>
          </p:nvPr>
        </p:nvSpPr>
        <p:spPr>
          <a:xfrm>
            <a:off x="457200" y="274638"/>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3.3 </a:t>
            </a:r>
            <a:r>
              <a:rPr lang="zh-CN" altLang="en-US" b="1" dirty="0">
                <a:solidFill>
                  <a:srgbClr val="000099"/>
                </a:solidFill>
                <a:latin typeface="黑体" panose="02010609060101010101" pitchFamily="49" charset="-122"/>
                <a:ea typeface="黑体" panose="02010609060101010101" pitchFamily="49" charset="-122"/>
              </a:rPr>
              <a:t>定额</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20482"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pic>
        <p:nvPicPr>
          <p:cNvPr id="20483" name="Picture 27" descr="生物10"/>
          <p:cNvPicPr>
            <a:picLocks noChangeAspect="1"/>
          </p:cNvPicPr>
          <p:nvPr/>
        </p:nvPicPr>
        <p:blipFill>
          <a:blip r:embed="rId1"/>
          <a:srcRect r="68536" b="6113"/>
          <a:stretch>
            <a:fillRect/>
          </a:stretch>
        </p:blipFill>
        <p:spPr>
          <a:xfrm>
            <a:off x="563563" y="765175"/>
            <a:ext cx="830262" cy="706438"/>
          </a:xfrm>
          <a:prstGeom prst="rect">
            <a:avLst/>
          </a:prstGeom>
          <a:noFill/>
          <a:ln w="9525">
            <a:noFill/>
          </a:ln>
        </p:spPr>
      </p:pic>
      <p:grpSp>
        <p:nvGrpSpPr>
          <p:cNvPr id="20484" name="Group 43"/>
          <p:cNvGrpSpPr/>
          <p:nvPr/>
        </p:nvGrpSpPr>
        <p:grpSpPr>
          <a:xfrm>
            <a:off x="563563" y="1603375"/>
            <a:ext cx="1704975" cy="381000"/>
            <a:chOff x="-1324" y="576"/>
            <a:chExt cx="912" cy="240"/>
          </a:xfrm>
        </p:grpSpPr>
        <p:sp>
          <p:nvSpPr>
            <p:cNvPr id="20485"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20486"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20487"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nvGrpSpPr>
          <p:cNvPr id="20488" name="Group 17"/>
          <p:cNvGrpSpPr/>
          <p:nvPr/>
        </p:nvGrpSpPr>
        <p:grpSpPr>
          <a:xfrm>
            <a:off x="1066800" y="1295400"/>
            <a:ext cx="6357938" cy="4037013"/>
            <a:chOff x="984" y="819"/>
            <a:chExt cx="4005" cy="2543"/>
          </a:xfrm>
        </p:grpSpPr>
        <p:grpSp>
          <p:nvGrpSpPr>
            <p:cNvPr id="20489" name="Group 11"/>
            <p:cNvGrpSpPr/>
            <p:nvPr/>
          </p:nvGrpSpPr>
          <p:grpSpPr>
            <a:xfrm>
              <a:off x="984" y="819"/>
              <a:ext cx="4005" cy="2543"/>
              <a:chOff x="984" y="819"/>
              <a:chExt cx="4005" cy="2543"/>
            </a:xfrm>
          </p:grpSpPr>
          <p:sp>
            <p:nvSpPr>
              <p:cNvPr id="20490" name="Text Box 11"/>
              <p:cNvSpPr txBox="1"/>
              <p:nvPr/>
            </p:nvSpPr>
            <p:spPr>
              <a:xfrm>
                <a:off x="984" y="819"/>
                <a:ext cx="1761" cy="327"/>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sp>
            <p:nvSpPr>
              <p:cNvPr id="20491" name="Line 18"/>
              <p:cNvSpPr/>
              <p:nvPr/>
            </p:nvSpPr>
            <p:spPr>
              <a:xfrm>
                <a:off x="1621" y="1725"/>
                <a:ext cx="3360" cy="0"/>
              </a:xfrm>
              <a:prstGeom prst="line">
                <a:avLst/>
              </a:prstGeom>
              <a:ln w="38100" cap="rnd" cmpd="sng">
                <a:solidFill>
                  <a:srgbClr val="008000"/>
                </a:solidFill>
                <a:prstDash val="sysDot"/>
                <a:round/>
                <a:headEnd type="none" w="med" len="med"/>
                <a:tailEnd type="oval" w="med" len="med"/>
              </a:ln>
            </p:spPr>
          </p:sp>
          <p:sp>
            <p:nvSpPr>
              <p:cNvPr id="20492" name="Line 18"/>
              <p:cNvSpPr/>
              <p:nvPr/>
            </p:nvSpPr>
            <p:spPr>
              <a:xfrm>
                <a:off x="1629" y="2295"/>
                <a:ext cx="3360" cy="0"/>
              </a:xfrm>
              <a:prstGeom prst="line">
                <a:avLst/>
              </a:prstGeom>
              <a:ln w="38100" cap="rnd" cmpd="sng">
                <a:solidFill>
                  <a:srgbClr val="008000"/>
                </a:solidFill>
                <a:prstDash val="sysDot"/>
                <a:round/>
                <a:headEnd type="none" w="med" len="med"/>
                <a:tailEnd type="oval" w="med" len="med"/>
              </a:ln>
            </p:spPr>
          </p:sp>
          <p:sp>
            <p:nvSpPr>
              <p:cNvPr id="20493" name="Line 18"/>
              <p:cNvSpPr/>
              <p:nvPr/>
            </p:nvSpPr>
            <p:spPr>
              <a:xfrm>
                <a:off x="1627" y="2854"/>
                <a:ext cx="3360" cy="0"/>
              </a:xfrm>
              <a:prstGeom prst="line">
                <a:avLst/>
              </a:prstGeom>
              <a:ln w="38100" cap="rnd" cmpd="sng">
                <a:solidFill>
                  <a:srgbClr val="008000"/>
                </a:solidFill>
                <a:prstDash val="sysDot"/>
                <a:round/>
                <a:headEnd type="none" w="med" len="med"/>
                <a:tailEnd type="oval" w="med" len="med"/>
              </a:ln>
            </p:spPr>
          </p:sp>
          <p:sp>
            <p:nvSpPr>
              <p:cNvPr id="20494" name="Line 18"/>
              <p:cNvSpPr/>
              <p:nvPr/>
            </p:nvSpPr>
            <p:spPr>
              <a:xfrm>
                <a:off x="1628" y="3362"/>
                <a:ext cx="3360" cy="0"/>
              </a:xfrm>
              <a:prstGeom prst="line">
                <a:avLst/>
              </a:prstGeom>
              <a:ln w="38100" cap="rnd" cmpd="sng">
                <a:solidFill>
                  <a:srgbClr val="008000"/>
                </a:solidFill>
                <a:prstDash val="sysDot"/>
                <a:round/>
                <a:headEnd type="none" w="med" len="med"/>
                <a:tailEnd type="oval" w="med" len="med"/>
              </a:ln>
            </p:spPr>
          </p:sp>
        </p:grpSp>
        <p:pic>
          <p:nvPicPr>
            <p:cNvPr id="20495" name="Picture 12" descr="003c"/>
            <p:cNvPicPr>
              <a:picLocks noChangeAspect="1"/>
            </p:cNvPicPr>
            <p:nvPr/>
          </p:nvPicPr>
          <p:blipFill>
            <a:blip r:embed="rId2"/>
            <a:stretch>
              <a:fillRect/>
            </a:stretch>
          </p:blipFill>
          <p:spPr>
            <a:xfrm>
              <a:off x="1632" y="2004"/>
              <a:ext cx="300" cy="300"/>
            </a:xfrm>
            <a:prstGeom prst="rect">
              <a:avLst/>
            </a:prstGeom>
            <a:noFill/>
            <a:ln w="9525">
              <a:noFill/>
            </a:ln>
          </p:spPr>
        </p:pic>
        <p:pic>
          <p:nvPicPr>
            <p:cNvPr id="20496" name="Picture 14" descr="002b"/>
            <p:cNvPicPr>
              <a:picLocks noChangeAspect="1"/>
            </p:cNvPicPr>
            <p:nvPr/>
          </p:nvPicPr>
          <p:blipFill>
            <a:blip r:embed="rId3"/>
            <a:stretch>
              <a:fillRect/>
            </a:stretch>
          </p:blipFill>
          <p:spPr>
            <a:xfrm>
              <a:off x="1632" y="1428"/>
              <a:ext cx="300" cy="300"/>
            </a:xfrm>
            <a:prstGeom prst="rect">
              <a:avLst/>
            </a:prstGeom>
            <a:noFill/>
            <a:ln w="9525">
              <a:noFill/>
            </a:ln>
          </p:spPr>
        </p:pic>
        <p:pic>
          <p:nvPicPr>
            <p:cNvPr id="20497" name="Picture 15" descr="005e (2)"/>
            <p:cNvPicPr>
              <a:picLocks noChangeAspect="1"/>
            </p:cNvPicPr>
            <p:nvPr/>
          </p:nvPicPr>
          <p:blipFill>
            <a:blip r:embed="rId4"/>
            <a:stretch>
              <a:fillRect/>
            </a:stretch>
          </p:blipFill>
          <p:spPr>
            <a:xfrm>
              <a:off x="1632" y="3060"/>
              <a:ext cx="300" cy="300"/>
            </a:xfrm>
            <a:prstGeom prst="rect">
              <a:avLst/>
            </a:prstGeom>
            <a:noFill/>
            <a:ln w="9525">
              <a:noFill/>
            </a:ln>
          </p:spPr>
        </p:pic>
        <p:pic>
          <p:nvPicPr>
            <p:cNvPr id="20498" name="Picture 16" descr="004d (2)"/>
            <p:cNvPicPr>
              <a:picLocks noChangeAspect="1"/>
            </p:cNvPicPr>
            <p:nvPr/>
          </p:nvPicPr>
          <p:blipFill>
            <a:blip r:embed="rId5"/>
            <a:stretch>
              <a:fillRect/>
            </a:stretch>
          </p:blipFill>
          <p:spPr>
            <a:xfrm>
              <a:off x="1632" y="2580"/>
              <a:ext cx="300" cy="300"/>
            </a:xfrm>
            <a:prstGeom prst="rect">
              <a:avLst/>
            </a:prstGeom>
            <a:noFill/>
            <a:ln w="9525">
              <a:noFill/>
            </a:ln>
          </p:spPr>
        </p:pic>
      </p:grpSp>
      <p:sp>
        <p:nvSpPr>
          <p:cNvPr id="637972" name="Text Box 20">
            <a:hlinkClick r:id="rId6" action="ppaction://hlinksldjump"/>
          </p:cNvPr>
          <p:cNvSpPr txBox="1">
            <a:spLocks noChangeArrowheads="1"/>
          </p:cNvSpPr>
          <p:nvPr/>
        </p:nvSpPr>
        <p:spPr bwMode="auto">
          <a:xfrm>
            <a:off x="2555875" y="2205038"/>
            <a:ext cx="4752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定额是什么？</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37973" name="Text Box 21">
            <a:hlinkClick r:id="rId7" action="ppaction://hlinksldjump"/>
          </p:cNvPr>
          <p:cNvSpPr txBox="1">
            <a:spLocks noChangeArrowheads="1"/>
          </p:cNvSpPr>
          <p:nvPr/>
        </p:nvSpPr>
        <p:spPr bwMode="auto">
          <a:xfrm>
            <a:off x="2627313" y="3140075"/>
            <a:ext cx="3889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定额在现代管理中的地位 </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37974" name="Text Box 22">
            <a:hlinkClick r:id="rId8" action="ppaction://hlinksldjump"/>
          </p:cNvPr>
          <p:cNvSpPr txBox="1">
            <a:spLocks noChangeArrowheads="1"/>
          </p:cNvSpPr>
          <p:nvPr/>
        </p:nvSpPr>
        <p:spPr bwMode="auto">
          <a:xfrm>
            <a:off x="2627313" y="4005263"/>
            <a:ext cx="4465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建设工程定额的特点</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37975" name="Text Box 23">
            <a:hlinkClick r:id="rId9" action="ppaction://hlinksldjump"/>
          </p:cNvPr>
          <p:cNvSpPr txBox="1">
            <a:spLocks noChangeArrowheads="1"/>
          </p:cNvSpPr>
          <p:nvPr/>
        </p:nvSpPr>
        <p:spPr bwMode="auto">
          <a:xfrm>
            <a:off x="2700338" y="4868863"/>
            <a:ext cx="4032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定额的种类有哪些？</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20503" name="Picture 24" descr="图片1">
            <a:hlinkClick r:id="rId10" action="ppaction://hlinksldjump"/>
          </p:cNvPr>
          <p:cNvPicPr>
            <a:picLocks noChangeAspect="1"/>
          </p:cNvPicPr>
          <p:nvPr/>
        </p:nvPicPr>
        <p:blipFill>
          <a:blip r:embed="rId11"/>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37972"/>
                                        </p:tgtEl>
                                        <p:attrNameLst>
                                          <p:attrName>style.visibility</p:attrName>
                                        </p:attrNameLst>
                                      </p:cBhvr>
                                      <p:to>
                                        <p:strVal val="visible"/>
                                      </p:to>
                                    </p:set>
                                    <p:animEffect transition="in" filter="wipe(left)">
                                      <p:cBhvr>
                                        <p:cTn id="7" dur="1000"/>
                                        <p:tgtEl>
                                          <p:spTgt spid="637972"/>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37973"/>
                                        </p:tgtEl>
                                        <p:attrNameLst>
                                          <p:attrName>style.visibility</p:attrName>
                                        </p:attrNameLst>
                                      </p:cBhvr>
                                      <p:to>
                                        <p:strVal val="visible"/>
                                      </p:to>
                                    </p:set>
                                    <p:animEffect transition="in" filter="wipe(left)">
                                      <p:cBhvr>
                                        <p:cTn id="11" dur="1000"/>
                                        <p:tgtEl>
                                          <p:spTgt spid="637973"/>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37974"/>
                                        </p:tgtEl>
                                        <p:attrNameLst>
                                          <p:attrName>style.visibility</p:attrName>
                                        </p:attrNameLst>
                                      </p:cBhvr>
                                      <p:to>
                                        <p:strVal val="visible"/>
                                      </p:to>
                                    </p:set>
                                    <p:animEffect transition="in" filter="wipe(left)">
                                      <p:cBhvr>
                                        <p:cTn id="15" dur="1000"/>
                                        <p:tgtEl>
                                          <p:spTgt spid="637974"/>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637975"/>
                                        </p:tgtEl>
                                        <p:attrNameLst>
                                          <p:attrName>style.visibility</p:attrName>
                                        </p:attrNameLst>
                                      </p:cBhvr>
                                      <p:to>
                                        <p:strVal val="visible"/>
                                      </p:to>
                                    </p:set>
                                    <p:animEffect transition="in" filter="wipe(left)">
                                      <p:cBhvr>
                                        <p:cTn id="19" dur="1000"/>
                                        <p:tgtEl>
                                          <p:spTgt spid="6379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7972" grpId="0"/>
      <p:bldP spid="637973" grpId="0"/>
      <p:bldP spid="637974" grpId="0"/>
      <p:bldP spid="63797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8978" name="AutoShape 2"/>
          <p:cNvSpPr>
            <a:spLocks noChangeArrowheads="1"/>
          </p:cNvSpPr>
          <p:nvPr/>
        </p:nvSpPr>
        <p:spPr bwMode="auto">
          <a:xfrm>
            <a:off x="2484438" y="4724400"/>
            <a:ext cx="3600450" cy="1873250"/>
          </a:xfrm>
          <a:prstGeom prst="cloudCallout">
            <a:avLst>
              <a:gd name="adj1" fmla="val -58773"/>
              <a:gd name="adj2" fmla="val -75509"/>
            </a:avLst>
          </a:prstGeom>
          <a:solidFill>
            <a:srgbClr val="FFFF99"/>
          </a:solidFill>
          <a:ln w="9525">
            <a:solidFill>
              <a:srgbClr val="993366"/>
            </a:solidFill>
            <a:round/>
          </a:ln>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2000" b="1"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1506" name="Rectangle 3"/>
          <p:cNvSpPr>
            <a:spLocks noGrp="1"/>
          </p:cNvSpPr>
          <p:nvPr>
            <p:ph type="title"/>
          </p:nvPr>
        </p:nvSpPr>
        <p:spPr>
          <a:xfrm>
            <a:off x="457200" y="274638"/>
            <a:ext cx="8229600" cy="1143000"/>
          </a:xfrm>
          <a:noFill/>
          <a:ln>
            <a:noFill/>
          </a:ln>
        </p:spPr>
        <p:txBody>
          <a:bodyPr anchor="t" anchorCtr="0"/>
          <a:p>
            <a:pPr algn="l"/>
            <a:r>
              <a:rPr lang="en-US" altLang="zh-CN" sz="3200" b="1" dirty="0">
                <a:solidFill>
                  <a:srgbClr val="000099"/>
                </a:solidFill>
                <a:latin typeface="黑体" panose="02010609060101010101" pitchFamily="49" charset="-122"/>
                <a:ea typeface="黑体" panose="02010609060101010101" pitchFamily="49" charset="-122"/>
              </a:rPr>
              <a:t>1 </a:t>
            </a:r>
            <a:r>
              <a:rPr lang="zh-CN" altLang="en-US" sz="3200" b="1" dirty="0">
                <a:solidFill>
                  <a:srgbClr val="000099"/>
                </a:solidFill>
                <a:latin typeface="黑体" panose="02010609060101010101" pitchFamily="49" charset="-122"/>
                <a:ea typeface="黑体" panose="02010609060101010101" pitchFamily="49" charset="-122"/>
              </a:rPr>
              <a:t>定额</a:t>
            </a:r>
            <a:endParaRPr lang="zh-CN" altLang="en-US" sz="3200" b="1" dirty="0">
              <a:solidFill>
                <a:srgbClr val="000099"/>
              </a:solidFill>
              <a:latin typeface="黑体" panose="02010609060101010101" pitchFamily="49" charset="-122"/>
              <a:ea typeface="黑体" panose="02010609060101010101" pitchFamily="49" charset="-122"/>
            </a:endParaRPr>
          </a:p>
        </p:txBody>
      </p:sp>
      <p:sp>
        <p:nvSpPr>
          <p:cNvPr id="638980" name="Rectangle 4"/>
          <p:cNvSpPr>
            <a:spLocks noGrp="1"/>
          </p:cNvSpPr>
          <p:nvPr>
            <p:ph idx="1"/>
          </p:nvPr>
        </p:nvSpPr>
        <p:spPr>
          <a:xfrm>
            <a:off x="250825" y="1196975"/>
            <a:ext cx="8229600" cy="3095625"/>
          </a:xfrm>
          <a:noFill/>
          <a:ln>
            <a:noFill/>
          </a:ln>
        </p:spPr>
        <p:txBody>
          <a:bodyPr anchor="t" anchorCtr="0"/>
          <a:p>
            <a:pPr>
              <a:lnSpc>
                <a:spcPct val="130000"/>
              </a:lnSpc>
              <a:spcBef>
                <a:spcPct val="40000"/>
              </a:spcBef>
              <a:buNone/>
            </a:pPr>
            <a:r>
              <a:rPr lang="zh-CN" altLang="en-US" dirty="0">
                <a:ea typeface="宋体" panose="02010600030101010101" pitchFamily="2" charset="-122"/>
              </a:rPr>
              <a:t>           在一定的生产技术和劳动组织条件下，完成单位合格产品在人力、物力、财力的利用和消耗方面应当遵守的标准。 </a:t>
            </a:r>
            <a:endParaRPr lang="zh-CN" altLang="en-US" dirty="0">
              <a:ea typeface="宋体" panose="02010600030101010101" pitchFamily="2" charset="-122"/>
            </a:endParaRPr>
          </a:p>
          <a:p>
            <a:pPr>
              <a:lnSpc>
                <a:spcPct val="130000"/>
              </a:lnSpc>
              <a:spcBef>
                <a:spcPct val="40000"/>
              </a:spcBef>
              <a:buNone/>
            </a:pPr>
            <a:r>
              <a:rPr lang="zh-CN" altLang="en-US" dirty="0">
                <a:ea typeface="宋体" panose="02010600030101010101" pitchFamily="2" charset="-122"/>
              </a:rPr>
              <a:t>          “科学管理之父”的美国工程师弗</a:t>
            </a:r>
            <a:r>
              <a:rPr lang="en-US" altLang="zh-CN" dirty="0">
                <a:ea typeface="宋体" panose="02010600030101010101" pitchFamily="2" charset="-122"/>
              </a:rPr>
              <a:t>·</a:t>
            </a:r>
            <a:r>
              <a:rPr lang="zh-CN" altLang="en-US" dirty="0">
                <a:ea typeface="宋体" panose="02010600030101010101" pitchFamily="2" charset="-122"/>
              </a:rPr>
              <a:t>温</a:t>
            </a:r>
            <a:r>
              <a:rPr lang="en-US" altLang="zh-CN" dirty="0">
                <a:ea typeface="宋体" panose="02010600030101010101" pitchFamily="2" charset="-122"/>
              </a:rPr>
              <a:t>·</a:t>
            </a:r>
            <a:r>
              <a:rPr lang="zh-CN" altLang="en-US" dirty="0">
                <a:ea typeface="宋体" panose="02010600030101010101" pitchFamily="2" charset="-122"/>
              </a:rPr>
              <a:t>泰勒，制定出科学的工时定额，并提出一整套科学管理的方法，这就是著名的“</a:t>
            </a:r>
            <a:r>
              <a:rPr lang="zh-CN" altLang="en-US" dirty="0">
                <a:solidFill>
                  <a:srgbClr val="CC00FF"/>
                </a:solidFill>
                <a:ea typeface="华文行楷" panose="02010800040101010101" pitchFamily="2" charset="-122"/>
              </a:rPr>
              <a:t>泰勒制</a:t>
            </a:r>
            <a:r>
              <a:rPr lang="zh-CN" altLang="en-US" dirty="0">
                <a:ea typeface="宋体" panose="02010600030101010101" pitchFamily="2" charset="-122"/>
              </a:rPr>
              <a:t>”。 </a:t>
            </a:r>
            <a:endParaRPr lang="zh-CN" altLang="en-US" dirty="0">
              <a:ea typeface="宋体" panose="02010600030101010101" pitchFamily="2" charset="-122"/>
            </a:endParaRPr>
          </a:p>
        </p:txBody>
      </p:sp>
      <p:pic>
        <p:nvPicPr>
          <p:cNvPr id="21508" name="Picture 5"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grpSp>
        <p:nvGrpSpPr>
          <p:cNvPr id="21509" name="Group 40"/>
          <p:cNvGrpSpPr/>
          <p:nvPr/>
        </p:nvGrpSpPr>
        <p:grpSpPr>
          <a:xfrm>
            <a:off x="7164388" y="-265112"/>
            <a:ext cx="1758950" cy="1606550"/>
            <a:chOff x="672" y="334"/>
            <a:chExt cx="1108" cy="1012"/>
          </a:xfrm>
        </p:grpSpPr>
        <p:pic>
          <p:nvPicPr>
            <p:cNvPr id="21510" name="Picture 39" descr="bb"/>
            <p:cNvPicPr>
              <a:picLocks noChangeAspect="1"/>
            </p:cNvPicPr>
            <p:nvPr/>
          </p:nvPicPr>
          <p:blipFill>
            <a:blip r:embed="rId3"/>
            <a:stretch>
              <a:fillRect/>
            </a:stretch>
          </p:blipFill>
          <p:spPr>
            <a:xfrm rot="-464626">
              <a:off x="768" y="334"/>
              <a:ext cx="1012" cy="964"/>
            </a:xfrm>
            <a:prstGeom prst="rect">
              <a:avLst/>
            </a:prstGeom>
            <a:noFill/>
            <a:ln w="9525">
              <a:noFill/>
            </a:ln>
          </p:spPr>
        </p:pic>
        <p:grpSp>
          <p:nvGrpSpPr>
            <p:cNvPr id="21511" name="Group 28"/>
            <p:cNvGrpSpPr/>
            <p:nvPr/>
          </p:nvGrpSpPr>
          <p:grpSpPr>
            <a:xfrm>
              <a:off x="864" y="1104"/>
              <a:ext cx="768" cy="242"/>
              <a:chOff x="-768" y="1440"/>
              <a:chExt cx="768" cy="242"/>
            </a:xfrm>
          </p:grpSpPr>
          <p:sp>
            <p:nvSpPr>
              <p:cNvPr id="21512"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21513"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21514"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638988" name="Rectangle 12"/>
          <p:cNvSpPr>
            <a:spLocks noChangeArrowheads="1"/>
          </p:cNvSpPr>
          <p:nvPr/>
        </p:nvSpPr>
        <p:spPr bwMode="auto">
          <a:xfrm>
            <a:off x="3059113" y="4941888"/>
            <a:ext cx="309721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0" fontAlgn="base" latinLnBrk="0" hangingPunct="0">
              <a:lnSpc>
                <a:spcPct val="100000"/>
              </a:lnSpc>
              <a:spcBef>
                <a:spcPct val="500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制定科学的工时定额</a:t>
            </a:r>
            <a:endPar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a:p>
            <a:pPr marL="0" marR="0" lvl="0" indent="0" algn="l" defTabSz="914400" rtl="0" eaLnBrk="0" fontAlgn="base" latinLnBrk="0" hangingPunct="0">
              <a:lnSpc>
                <a:spcPct val="100000"/>
              </a:lnSpc>
              <a:spcBef>
                <a:spcPct val="500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采取有差别的计件工资</a:t>
            </a:r>
            <a:endPar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a:p>
            <a:pPr marL="0" marR="0" lvl="0" indent="0" algn="l" defTabSz="914400" rtl="0" eaLnBrk="0" fontAlgn="base" latinLnBrk="0" hangingPunct="0">
              <a:lnSpc>
                <a:spcPct val="100000"/>
              </a:lnSpc>
              <a:spcBef>
                <a:spcPct val="500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实行标准的操作方法</a:t>
            </a:r>
            <a:endPar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a:p>
            <a:pPr marL="0" marR="0" lvl="0" indent="0" algn="l" defTabSz="914400" rtl="0" eaLnBrk="0" fontAlgn="base" latinLnBrk="0" hangingPunct="0">
              <a:lnSpc>
                <a:spcPct val="100000"/>
              </a:lnSpc>
              <a:spcBef>
                <a:spcPct val="5000"/>
              </a:spcBef>
              <a:spcAft>
                <a:spcPct val="0"/>
              </a:spcAft>
              <a:buClrTx/>
              <a:buSzTx/>
              <a:buFontTx/>
              <a:buNone/>
              <a:defRPr/>
            </a:pPr>
            <a:r>
              <a:rPr kumimoji="0" lang="zh-CN" altLang="en-US" sz="2000" b="0"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强化和协调职能管理</a:t>
            </a:r>
            <a:r>
              <a:rPr kumimoji="0" lang="zh-CN" altLang="en-US" sz="1800" b="0" i="0" u="none" strike="noStrike" kern="1200" cap="none" spc="0" normalizeH="0" baseline="0" noProof="0">
                <a:ln>
                  <a:noFill/>
                </a:ln>
                <a:solidFill>
                  <a:srgbClr val="00FF00"/>
                </a:solidFill>
                <a:effectLst>
                  <a:outerShdw blurRad="38100" dist="38100" dir="2700000" algn="tl">
                    <a:srgbClr val="C0C0C0"/>
                  </a:outerShdw>
                </a:effectLst>
                <a:uLnTx/>
                <a:uFillTx/>
                <a:latin typeface="楷体_GB2312" pitchFamily="49" charset="-122"/>
                <a:ea typeface="楷体_GB2312" pitchFamily="49" charset="-122"/>
                <a:cs typeface="+mn-cs"/>
              </a:rPr>
              <a:t> </a:t>
            </a:r>
            <a:endParaRPr kumimoji="0" lang="zh-CN" altLang="en-US" sz="1800" b="0" i="0" u="none" strike="noStrike" kern="1200" cap="none" spc="0" normalizeH="0" baseline="0" noProof="0">
              <a:ln>
                <a:noFill/>
              </a:ln>
              <a:solidFill>
                <a:srgbClr val="00FF00"/>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38980">
                                            <p:txEl>
                                              <p:charRg st="0" end="63"/>
                                            </p:txEl>
                                          </p:spTgt>
                                        </p:tgtEl>
                                        <p:attrNameLst>
                                          <p:attrName>style.visibility</p:attrName>
                                        </p:attrNameLst>
                                      </p:cBhvr>
                                      <p:to>
                                        <p:strVal val="visible"/>
                                      </p:to>
                                    </p:set>
                                    <p:anim to="" calcmode="lin" valueType="num">
                                      <p:cBhvr>
                                        <p:cTn id="7" dur="1" fill="hold"/>
                                        <p:tgtEl>
                                          <p:spTgt spid="638980">
                                            <p:txEl>
                                              <p:charRg st="0" end="63"/>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38980">
                                            <p:txEl>
                                              <p:charRg st="63" end="133"/>
                                            </p:txEl>
                                          </p:spTgt>
                                        </p:tgtEl>
                                        <p:attrNameLst>
                                          <p:attrName>style.visibility</p:attrName>
                                        </p:attrNameLst>
                                      </p:cBhvr>
                                      <p:to>
                                        <p:strVal val="visible"/>
                                      </p:to>
                                    </p:set>
                                    <p:anim to="" calcmode="lin" valueType="num">
                                      <p:cBhvr>
                                        <p:cTn id="12" dur="1" fill="hold"/>
                                        <p:tgtEl>
                                          <p:spTgt spid="638980">
                                            <p:txEl>
                                              <p:charRg st="63" end="133"/>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38978"/>
                                        </p:tgtEl>
                                        <p:attrNameLst>
                                          <p:attrName>style.visibility</p:attrName>
                                        </p:attrNameLst>
                                      </p:cBhvr>
                                      <p:to>
                                        <p:strVal val="visible"/>
                                      </p:to>
                                    </p:set>
                                    <p:animEffect transition="in" filter="slide(fromBottom)">
                                      <p:cBhvr>
                                        <p:cTn id="17" dur="500"/>
                                        <p:tgtEl>
                                          <p:spTgt spid="638978"/>
                                        </p:tgtEl>
                                      </p:cBhvr>
                                    </p:animEffect>
                                  </p:childTnLst>
                                </p:cTn>
                              </p:par>
                              <p:par>
                                <p:cTn id="18" presetID="12" presetClass="entr" presetSubtype="4" fill="hold" grpId="0" nodeType="withEffect">
                                  <p:stCondLst>
                                    <p:cond delay="0"/>
                                  </p:stCondLst>
                                  <p:childTnLst>
                                    <p:set>
                                      <p:cBhvr>
                                        <p:cTn id="19" dur="1" fill="hold">
                                          <p:stCondLst>
                                            <p:cond delay="0"/>
                                          </p:stCondLst>
                                        </p:cTn>
                                        <p:tgtEl>
                                          <p:spTgt spid="638988"/>
                                        </p:tgtEl>
                                        <p:attrNameLst>
                                          <p:attrName>style.visibility</p:attrName>
                                        </p:attrNameLst>
                                      </p:cBhvr>
                                      <p:to>
                                        <p:strVal val="visible"/>
                                      </p:to>
                                    </p:set>
                                    <p:animEffect transition="in" filter="slide(fromBottom)">
                                      <p:cBhvr>
                                        <p:cTn id="20" dur="500"/>
                                        <p:tgtEl>
                                          <p:spTgt spid="638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8978" grpId="0" animBg="1"/>
      <p:bldP spid="638980" grpId="0" build="p"/>
      <p:bldP spid="63898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a:spLocks noGrp="1"/>
          </p:cNvSpPr>
          <p:nvPr>
            <p:ph type="title"/>
          </p:nvPr>
        </p:nvSpPr>
        <p:spPr>
          <a:xfrm>
            <a:off x="457200" y="274638"/>
            <a:ext cx="8229600" cy="633412"/>
          </a:xfrm>
          <a:noFill/>
          <a:ln>
            <a:noFill/>
          </a:ln>
        </p:spPr>
        <p:txBody>
          <a:bodyPr anchor="t" anchorCtr="0"/>
          <a:p>
            <a:pPr algn="l"/>
            <a:r>
              <a:rPr lang="en-US" altLang="zh-CN" sz="3200" b="1" dirty="0">
                <a:solidFill>
                  <a:srgbClr val="000099"/>
                </a:solidFill>
                <a:latin typeface="黑体" panose="02010609060101010101" pitchFamily="49" charset="-122"/>
                <a:ea typeface="黑体" panose="02010609060101010101" pitchFamily="49" charset="-122"/>
              </a:rPr>
              <a:t>2 </a:t>
            </a:r>
            <a:r>
              <a:rPr lang="zh-CN" altLang="en-US" sz="3200" b="1" dirty="0">
                <a:solidFill>
                  <a:srgbClr val="000099"/>
                </a:solidFill>
                <a:latin typeface="黑体" panose="02010609060101010101" pitchFamily="49" charset="-122"/>
                <a:ea typeface="黑体" panose="02010609060101010101" pitchFamily="49" charset="-122"/>
              </a:rPr>
              <a:t>在现代管理中的地位</a:t>
            </a:r>
            <a:r>
              <a:rPr lang="zh-CN" altLang="en-US" sz="3200" dirty="0">
                <a:ea typeface="宋体" panose="02010600030101010101" pitchFamily="2" charset="-122"/>
              </a:rPr>
              <a:t> </a:t>
            </a:r>
            <a:br>
              <a:rPr lang="zh-CN" altLang="en-US" sz="3200" dirty="0">
                <a:ea typeface="宋体" panose="02010600030101010101" pitchFamily="2" charset="-122"/>
              </a:rPr>
            </a:br>
            <a:endParaRPr lang="zh-CN" altLang="en-US" sz="3200" dirty="0">
              <a:ea typeface="宋体" panose="02010600030101010101" pitchFamily="2" charset="-122"/>
            </a:endParaRPr>
          </a:p>
        </p:txBody>
      </p:sp>
      <p:sp>
        <p:nvSpPr>
          <p:cNvPr id="640003" name="Rectangle 3"/>
          <p:cNvSpPr>
            <a:spLocks noGrp="1"/>
          </p:cNvSpPr>
          <p:nvPr>
            <p:ph idx="1"/>
          </p:nvPr>
        </p:nvSpPr>
        <p:spPr>
          <a:xfrm>
            <a:off x="457200" y="981075"/>
            <a:ext cx="8229600" cy="5145088"/>
          </a:xfrm>
          <a:noFill/>
          <a:ln>
            <a:noFill/>
          </a:ln>
        </p:spPr>
        <p:txBody>
          <a:bodyPr anchor="t" anchorCtr="0"/>
          <a:p>
            <a:pPr>
              <a:buNone/>
            </a:pP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）定额是节约社会劳动、提高劳动生产率的重要手段。</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）定额是组织和协调社会化大生产的工具。</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）定额是宏观调控的依据。</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）定额在实现分配、兼顾效率与社会公平方面有巨大的作用。</a:t>
            </a:r>
            <a:endParaRPr lang="zh-CN" altLang="en-US" dirty="0">
              <a:ea typeface="宋体" panose="02010600030101010101" pitchFamily="2" charset="-122"/>
            </a:endParaRPr>
          </a:p>
        </p:txBody>
      </p:sp>
      <p:pic>
        <p:nvPicPr>
          <p:cNvPr id="22531" name="Picture 4"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40003">
                                            <p:txEl>
                                              <p:charRg st="1" end="28"/>
                                            </p:txEl>
                                          </p:spTgt>
                                        </p:tgtEl>
                                        <p:attrNameLst>
                                          <p:attrName>style.visibility</p:attrName>
                                        </p:attrNameLst>
                                      </p:cBhvr>
                                      <p:to>
                                        <p:strVal val="visible"/>
                                      </p:to>
                                    </p:set>
                                    <p:anim to="" calcmode="lin" valueType="num">
                                      <p:cBhvr>
                                        <p:cTn id="7" dur="1" fill="hold"/>
                                        <p:tgtEl>
                                          <p:spTgt spid="640003">
                                            <p:txEl>
                                              <p:charRg st="1" end="28"/>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40003">
                                            <p:txEl>
                                              <p:charRg st="28" end="50"/>
                                            </p:txEl>
                                          </p:spTgt>
                                        </p:tgtEl>
                                        <p:attrNameLst>
                                          <p:attrName>style.visibility</p:attrName>
                                        </p:attrNameLst>
                                      </p:cBhvr>
                                      <p:to>
                                        <p:strVal val="visible"/>
                                      </p:to>
                                    </p:set>
                                    <p:anim to="" calcmode="lin" valueType="num">
                                      <p:cBhvr>
                                        <p:cTn id="12" dur="1" fill="hold"/>
                                        <p:tgtEl>
                                          <p:spTgt spid="640003">
                                            <p:txEl>
                                              <p:charRg st="28" end="50"/>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40003">
                                            <p:txEl>
                                              <p:charRg st="50" end="65"/>
                                            </p:txEl>
                                          </p:spTgt>
                                        </p:tgtEl>
                                        <p:attrNameLst>
                                          <p:attrName>style.visibility</p:attrName>
                                        </p:attrNameLst>
                                      </p:cBhvr>
                                      <p:to>
                                        <p:strVal val="visible"/>
                                      </p:to>
                                    </p:set>
                                    <p:anim to="" calcmode="lin" valueType="num">
                                      <p:cBhvr>
                                        <p:cTn id="17" dur="1" fill="hold"/>
                                        <p:tgtEl>
                                          <p:spTgt spid="640003">
                                            <p:txEl>
                                              <p:charRg st="50" end="65"/>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40003">
                                            <p:txEl>
                                              <p:charRg st="65" end="95"/>
                                            </p:txEl>
                                          </p:spTgt>
                                        </p:tgtEl>
                                        <p:attrNameLst>
                                          <p:attrName>style.visibility</p:attrName>
                                        </p:attrNameLst>
                                      </p:cBhvr>
                                      <p:to>
                                        <p:strVal val="visible"/>
                                      </p:to>
                                    </p:set>
                                    <p:anim to="" calcmode="lin" valueType="num">
                                      <p:cBhvr>
                                        <p:cTn id="22" dur="1" fill="hold"/>
                                        <p:tgtEl>
                                          <p:spTgt spid="640003">
                                            <p:txEl>
                                              <p:charRg st="65" end="95"/>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000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Rectangle 2"/>
          <p:cNvSpPr>
            <a:spLocks noGrp="1"/>
          </p:cNvSpPr>
          <p:nvPr>
            <p:ph type="title"/>
          </p:nvPr>
        </p:nvSpPr>
        <p:spPr>
          <a:xfrm>
            <a:off x="457200" y="274638"/>
            <a:ext cx="8229600" cy="633412"/>
          </a:xfrm>
          <a:noFill/>
          <a:ln>
            <a:noFill/>
          </a:ln>
        </p:spPr>
        <p:txBody>
          <a:bodyPr anchor="t" anchorCtr="0"/>
          <a:p>
            <a:pPr algn="l"/>
            <a:r>
              <a:rPr lang="en-US" altLang="zh-CN" sz="3200" b="1" dirty="0">
                <a:solidFill>
                  <a:srgbClr val="000099"/>
                </a:solidFill>
                <a:latin typeface="黑体" panose="02010609060101010101" pitchFamily="49" charset="-122"/>
                <a:ea typeface="黑体" panose="02010609060101010101" pitchFamily="49" charset="-122"/>
              </a:rPr>
              <a:t>3 </a:t>
            </a:r>
            <a:r>
              <a:rPr lang="zh-CN" altLang="en-US" sz="3200" b="1" dirty="0">
                <a:solidFill>
                  <a:srgbClr val="000099"/>
                </a:solidFill>
                <a:latin typeface="黑体" panose="02010609060101010101" pitchFamily="49" charset="-122"/>
                <a:ea typeface="黑体" panose="02010609060101010101" pitchFamily="49" charset="-122"/>
              </a:rPr>
              <a:t>建设工程定额的特点</a:t>
            </a:r>
            <a:br>
              <a:rPr lang="zh-CN" altLang="en-US" dirty="0">
                <a:ea typeface="宋体" panose="02010600030101010101" pitchFamily="2" charset="-122"/>
              </a:rPr>
            </a:br>
            <a:endParaRPr lang="zh-CN" altLang="en-US" dirty="0">
              <a:ea typeface="宋体" panose="02010600030101010101" pitchFamily="2" charset="-122"/>
            </a:endParaRPr>
          </a:p>
        </p:txBody>
      </p:sp>
      <p:sp>
        <p:nvSpPr>
          <p:cNvPr id="641027" name="Rectangle 3"/>
          <p:cNvSpPr>
            <a:spLocks noGrp="1"/>
          </p:cNvSpPr>
          <p:nvPr>
            <p:ph idx="1"/>
          </p:nvPr>
        </p:nvSpPr>
        <p:spPr>
          <a:xfrm>
            <a:off x="457200" y="981075"/>
            <a:ext cx="7643813" cy="4319588"/>
          </a:xfrm>
          <a:noFill/>
          <a:ln>
            <a:noFill/>
          </a:ln>
        </p:spPr>
        <p:txBody>
          <a:bodyPr anchor="t" anchorCtr="0"/>
          <a:p>
            <a:pPr>
              <a:buNone/>
            </a:pPr>
            <a:endParaRPr lang="zh-CN" altLang="en-US" dirty="0">
              <a:ea typeface="宋体" panose="02010600030101010101" pitchFamily="2" charset="-122"/>
            </a:endParaRPr>
          </a:p>
          <a:p>
            <a:pPr>
              <a:lnSpc>
                <a:spcPct val="14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）科学性 </a:t>
            </a:r>
            <a:endParaRPr lang="zh-CN" altLang="en-US" dirty="0">
              <a:ea typeface="宋体" panose="02010600030101010101" pitchFamily="2" charset="-122"/>
            </a:endParaRPr>
          </a:p>
          <a:p>
            <a:pPr>
              <a:lnSpc>
                <a:spcPct val="14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）系统性 </a:t>
            </a:r>
            <a:endParaRPr lang="zh-CN" altLang="en-US" dirty="0">
              <a:ea typeface="宋体" panose="02010600030101010101" pitchFamily="2" charset="-122"/>
            </a:endParaRPr>
          </a:p>
          <a:p>
            <a:pPr>
              <a:lnSpc>
                <a:spcPct val="14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）统一性 </a:t>
            </a:r>
            <a:endParaRPr lang="zh-CN" altLang="en-US" dirty="0">
              <a:ea typeface="宋体" panose="02010600030101010101" pitchFamily="2" charset="-122"/>
            </a:endParaRPr>
          </a:p>
          <a:p>
            <a:pPr>
              <a:lnSpc>
                <a:spcPct val="14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）权威性和强制性</a:t>
            </a:r>
            <a:endParaRPr lang="zh-CN" altLang="en-US" dirty="0">
              <a:ea typeface="宋体" panose="02010600030101010101" pitchFamily="2" charset="-122"/>
            </a:endParaRPr>
          </a:p>
          <a:p>
            <a:pPr>
              <a:lnSpc>
                <a:spcPct val="140000"/>
              </a:lnSpc>
              <a:buNone/>
            </a:pPr>
            <a:r>
              <a:rPr lang="zh-CN" altLang="en-US" dirty="0">
                <a:ea typeface="宋体" panose="02010600030101010101" pitchFamily="2" charset="-122"/>
              </a:rPr>
              <a:t>（</a:t>
            </a:r>
            <a:r>
              <a:rPr lang="en-US" altLang="zh-CN" dirty="0">
                <a:ea typeface="宋体" panose="02010600030101010101" pitchFamily="2" charset="-122"/>
              </a:rPr>
              <a:t>5</a:t>
            </a:r>
            <a:r>
              <a:rPr lang="zh-CN" altLang="en-US" dirty="0">
                <a:ea typeface="宋体" panose="02010600030101010101" pitchFamily="2" charset="-122"/>
              </a:rPr>
              <a:t>）稳定性和时效性  </a:t>
            </a:r>
            <a:endParaRPr lang="zh-CN" altLang="en-US" dirty="0">
              <a:ea typeface="宋体" panose="02010600030101010101" pitchFamily="2" charset="-122"/>
            </a:endParaRPr>
          </a:p>
        </p:txBody>
      </p:sp>
      <p:pic>
        <p:nvPicPr>
          <p:cNvPr id="23555" name="Picture 4"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41027">
                                            <p:txEl>
                                              <p:charRg st="1" end="9"/>
                                            </p:txEl>
                                          </p:spTgt>
                                        </p:tgtEl>
                                        <p:attrNameLst>
                                          <p:attrName>style.visibility</p:attrName>
                                        </p:attrNameLst>
                                      </p:cBhvr>
                                      <p:to>
                                        <p:strVal val="visible"/>
                                      </p:to>
                                    </p:set>
                                    <p:anim to="" calcmode="lin" valueType="num">
                                      <p:cBhvr>
                                        <p:cTn id="7" dur="1" fill="hold"/>
                                        <p:tgtEl>
                                          <p:spTgt spid="641027">
                                            <p:txEl>
                                              <p:charRg st="1" end="9"/>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41027">
                                            <p:txEl>
                                              <p:charRg st="9" end="17"/>
                                            </p:txEl>
                                          </p:spTgt>
                                        </p:tgtEl>
                                        <p:attrNameLst>
                                          <p:attrName>style.visibility</p:attrName>
                                        </p:attrNameLst>
                                      </p:cBhvr>
                                      <p:to>
                                        <p:strVal val="visible"/>
                                      </p:to>
                                    </p:set>
                                    <p:anim to="" calcmode="lin" valueType="num">
                                      <p:cBhvr>
                                        <p:cTn id="12" dur="1" fill="hold"/>
                                        <p:tgtEl>
                                          <p:spTgt spid="641027">
                                            <p:txEl>
                                              <p:charRg st="9" end="17"/>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41027">
                                            <p:txEl>
                                              <p:charRg st="17" end="25"/>
                                            </p:txEl>
                                          </p:spTgt>
                                        </p:tgtEl>
                                        <p:attrNameLst>
                                          <p:attrName>style.visibility</p:attrName>
                                        </p:attrNameLst>
                                      </p:cBhvr>
                                      <p:to>
                                        <p:strVal val="visible"/>
                                      </p:to>
                                    </p:set>
                                    <p:anim to="" calcmode="lin" valueType="num">
                                      <p:cBhvr>
                                        <p:cTn id="17" dur="1" fill="hold"/>
                                        <p:tgtEl>
                                          <p:spTgt spid="641027">
                                            <p:txEl>
                                              <p:charRg st="17" end="25"/>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41027">
                                            <p:txEl>
                                              <p:charRg st="25" end="36"/>
                                            </p:txEl>
                                          </p:spTgt>
                                        </p:tgtEl>
                                        <p:attrNameLst>
                                          <p:attrName>style.visibility</p:attrName>
                                        </p:attrNameLst>
                                      </p:cBhvr>
                                      <p:to>
                                        <p:strVal val="visible"/>
                                      </p:to>
                                    </p:set>
                                    <p:anim to="" calcmode="lin" valueType="num">
                                      <p:cBhvr>
                                        <p:cTn id="22" dur="1" fill="hold"/>
                                        <p:tgtEl>
                                          <p:spTgt spid="641027">
                                            <p:txEl>
                                              <p:charRg st="25" end="36"/>
                                            </p:txEl>
                                          </p:spTgt>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641027">
                                            <p:txEl>
                                              <p:charRg st="36" end="49"/>
                                            </p:txEl>
                                          </p:spTgt>
                                        </p:tgtEl>
                                        <p:attrNameLst>
                                          <p:attrName>style.visibility</p:attrName>
                                        </p:attrNameLst>
                                      </p:cBhvr>
                                      <p:to>
                                        <p:strVal val="visible"/>
                                      </p:to>
                                    </p:set>
                                    <p:anim to="" calcmode="lin" valueType="num">
                                      <p:cBhvr>
                                        <p:cTn id="27" dur="1" fill="hold"/>
                                        <p:tgtEl>
                                          <p:spTgt spid="641027">
                                            <p:txEl>
                                              <p:charRg st="36" end="49"/>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2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Rectangle 2"/>
          <p:cNvSpPr>
            <a:spLocks noGrp="1"/>
          </p:cNvSpPr>
          <p:nvPr>
            <p:ph type="title"/>
          </p:nvPr>
        </p:nvSpPr>
        <p:spPr>
          <a:xfrm>
            <a:off x="0" y="188913"/>
            <a:ext cx="8229600" cy="706437"/>
          </a:xfrm>
          <a:noFill/>
          <a:ln>
            <a:noFill/>
          </a:ln>
        </p:spPr>
        <p:txBody>
          <a:bodyPr anchor="t" anchorCtr="0"/>
          <a:p>
            <a:pPr algn="l"/>
            <a:r>
              <a:rPr lang="zh-CN" altLang="en-US" sz="3200" b="1" dirty="0">
                <a:solidFill>
                  <a:srgbClr val="000099"/>
                </a:solidFill>
                <a:latin typeface="黑体" panose="02010609060101010101" pitchFamily="49" charset="-122"/>
                <a:ea typeface="黑体" panose="02010609060101010101" pitchFamily="49" charset="-122"/>
              </a:rPr>
              <a:t> </a:t>
            </a:r>
            <a:r>
              <a:rPr lang="en-US" altLang="zh-CN" sz="3200" b="1" dirty="0">
                <a:solidFill>
                  <a:srgbClr val="000099"/>
                </a:solidFill>
                <a:latin typeface="黑体" panose="02010609060101010101" pitchFamily="49" charset="-122"/>
                <a:ea typeface="黑体" panose="02010609060101010101" pitchFamily="49" charset="-122"/>
              </a:rPr>
              <a:t>4 </a:t>
            </a:r>
            <a:r>
              <a:rPr lang="zh-CN" altLang="en-US" sz="3200" b="1" dirty="0">
                <a:solidFill>
                  <a:srgbClr val="000099"/>
                </a:solidFill>
                <a:latin typeface="黑体" panose="02010609060101010101" pitchFamily="49" charset="-122"/>
                <a:ea typeface="黑体" panose="02010609060101010101" pitchFamily="49" charset="-122"/>
              </a:rPr>
              <a:t>定额的分类</a:t>
            </a:r>
            <a:endParaRPr lang="zh-CN" altLang="en-US" sz="3200" b="1" dirty="0">
              <a:solidFill>
                <a:srgbClr val="000099"/>
              </a:solidFill>
              <a:latin typeface="黑体" panose="02010609060101010101" pitchFamily="49" charset="-122"/>
              <a:ea typeface="黑体" panose="02010609060101010101" pitchFamily="49" charset="-122"/>
            </a:endParaRPr>
          </a:p>
        </p:txBody>
      </p:sp>
      <p:sp>
        <p:nvSpPr>
          <p:cNvPr id="642051" name="Rectangle 3"/>
          <p:cNvSpPr>
            <a:spLocks noGrp="1"/>
          </p:cNvSpPr>
          <p:nvPr>
            <p:ph idx="1"/>
          </p:nvPr>
        </p:nvSpPr>
        <p:spPr>
          <a:xfrm>
            <a:off x="323850" y="1052513"/>
            <a:ext cx="8569325" cy="4321175"/>
          </a:xfrm>
          <a:noFill/>
          <a:ln>
            <a:noFill/>
          </a:ln>
        </p:spPr>
        <p:txBody>
          <a:bodyPr anchor="t" anchorCtr="0"/>
          <a:p>
            <a:pPr marL="457200" indent="-457200">
              <a:buNone/>
            </a:pPr>
            <a:r>
              <a:rPr lang="zh-CN" altLang="en-US" sz="2800" dirty="0">
                <a:solidFill>
                  <a:srgbClr val="660033"/>
                </a:solidFill>
                <a:latin typeface="黑体" panose="02010609060101010101" pitchFamily="49" charset="-122"/>
                <a:ea typeface="黑体" panose="02010609060101010101" pitchFamily="49" charset="-122"/>
              </a:rPr>
              <a:t>按定额反映的生产要素消耗内容分类</a:t>
            </a:r>
            <a:endParaRPr lang="zh-CN" altLang="en-US"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(1)</a:t>
            </a:r>
            <a:r>
              <a:rPr lang="zh-CN" altLang="en-US" dirty="0">
                <a:ea typeface="宋体" panose="02010600030101010101" pitchFamily="2" charset="-122"/>
              </a:rPr>
              <a:t>劳动消耗定额</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主要表现形式是时间定额，同时也表现为产量定额</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(2)</a:t>
            </a:r>
            <a:r>
              <a:rPr lang="zh-CN" altLang="en-US" dirty="0">
                <a:ea typeface="宋体" panose="02010600030101010101" pitchFamily="2" charset="-122"/>
              </a:rPr>
              <a:t>机械消耗定额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主要表现形式是机械时间定额，同时也表现为产量定额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(3)</a:t>
            </a:r>
            <a:r>
              <a:rPr lang="zh-CN" altLang="en-US" dirty="0">
                <a:ea typeface="宋体" panose="02010600030101010101" pitchFamily="2" charset="-122"/>
              </a:rPr>
              <a:t>材料消耗定额 </a:t>
            </a:r>
            <a:endParaRPr lang="zh-CN" altLang="en-US" sz="280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主要表现形式是实体物资的消耗量 </a:t>
            </a:r>
            <a:r>
              <a:rPr lang="zh-CN" altLang="en-US" sz="2800" dirty="0">
                <a:latin typeface="宋体" panose="02010600030101010101" pitchFamily="2" charset="-122"/>
                <a:ea typeface="宋体" panose="02010600030101010101" pitchFamily="2" charset="-122"/>
              </a:rPr>
              <a:t>      </a:t>
            </a:r>
            <a:endParaRPr lang="zh-CN" altLang="en-US" sz="28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42051">
                                            <p:txEl>
                                              <p:charRg st="0" end="17"/>
                                            </p:txEl>
                                          </p:spTgt>
                                        </p:tgtEl>
                                        <p:attrNameLst>
                                          <p:attrName>style.visibility</p:attrName>
                                        </p:attrNameLst>
                                      </p:cBhvr>
                                      <p:to>
                                        <p:strVal val="visible"/>
                                      </p:to>
                                    </p:set>
                                    <p:anim to="" calcmode="lin" valueType="num">
                                      <p:cBhvr>
                                        <p:cTn id="7" dur="1" fill="hold"/>
                                        <p:tgtEl>
                                          <p:spTgt spid="642051">
                                            <p:txEl>
                                              <p:charRg st="0" end="17"/>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42051">
                                            <p:txEl>
                                              <p:charRg st="17" end="28"/>
                                            </p:txEl>
                                          </p:spTgt>
                                        </p:tgtEl>
                                        <p:attrNameLst>
                                          <p:attrName>style.visibility</p:attrName>
                                        </p:attrNameLst>
                                      </p:cBhvr>
                                      <p:to>
                                        <p:strVal val="visible"/>
                                      </p:to>
                                    </p:set>
                                    <p:anim to="" calcmode="lin" valueType="num">
                                      <p:cBhvr>
                                        <p:cTn id="12" dur="1" fill="hold"/>
                                        <p:tgtEl>
                                          <p:spTgt spid="642051">
                                            <p:txEl>
                                              <p:charRg st="17" end="28"/>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42051">
                                            <p:txEl>
                                              <p:charRg st="28" end="51"/>
                                            </p:txEl>
                                          </p:spTgt>
                                        </p:tgtEl>
                                        <p:attrNameLst>
                                          <p:attrName>style.visibility</p:attrName>
                                        </p:attrNameLst>
                                      </p:cBhvr>
                                      <p:to>
                                        <p:strVal val="visible"/>
                                      </p:to>
                                    </p:set>
                                    <p:anim to="" calcmode="lin" valueType="num">
                                      <p:cBhvr>
                                        <p:cTn id="17" dur="1" fill="hold"/>
                                        <p:tgtEl>
                                          <p:spTgt spid="642051">
                                            <p:txEl>
                                              <p:charRg st="28" end="51"/>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42051">
                                            <p:txEl>
                                              <p:charRg st="51" end="63"/>
                                            </p:txEl>
                                          </p:spTgt>
                                        </p:tgtEl>
                                        <p:attrNameLst>
                                          <p:attrName>style.visibility</p:attrName>
                                        </p:attrNameLst>
                                      </p:cBhvr>
                                      <p:to>
                                        <p:strVal val="visible"/>
                                      </p:to>
                                    </p:set>
                                    <p:anim to="" calcmode="lin" valueType="num">
                                      <p:cBhvr>
                                        <p:cTn id="22" dur="1" fill="hold"/>
                                        <p:tgtEl>
                                          <p:spTgt spid="642051">
                                            <p:txEl>
                                              <p:charRg st="51" end="63"/>
                                            </p:txEl>
                                          </p:spTgt>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642051">
                                            <p:txEl>
                                              <p:charRg st="63" end="89"/>
                                            </p:txEl>
                                          </p:spTgt>
                                        </p:tgtEl>
                                        <p:attrNameLst>
                                          <p:attrName>style.visibility</p:attrName>
                                        </p:attrNameLst>
                                      </p:cBhvr>
                                      <p:to>
                                        <p:strVal val="visible"/>
                                      </p:to>
                                    </p:set>
                                    <p:anim to="" calcmode="lin" valueType="num">
                                      <p:cBhvr>
                                        <p:cTn id="27" dur="1" fill="hold"/>
                                        <p:tgtEl>
                                          <p:spTgt spid="642051">
                                            <p:txEl>
                                              <p:charRg st="63" end="89"/>
                                            </p:txEl>
                                          </p:spTgt>
                                        </p:tgtEl>
                                        <p:attrNameLst>
                                          <p:attrName>style.visibility</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642051">
                                            <p:txEl>
                                              <p:charRg st="89" end="101"/>
                                            </p:txEl>
                                          </p:spTgt>
                                        </p:tgtEl>
                                        <p:attrNameLst>
                                          <p:attrName>style.visibility</p:attrName>
                                        </p:attrNameLst>
                                      </p:cBhvr>
                                      <p:to>
                                        <p:strVal val="visible"/>
                                      </p:to>
                                    </p:set>
                                    <p:anim to="" calcmode="lin" valueType="num">
                                      <p:cBhvr>
                                        <p:cTn id="32" dur="1" fill="hold"/>
                                        <p:tgtEl>
                                          <p:spTgt spid="642051">
                                            <p:txEl>
                                              <p:charRg st="89" end="101"/>
                                            </p:txEl>
                                          </p:spTgt>
                                        </p:tgtEl>
                                        <p:attrNameLst>
                                          <p:attrName>style.visibility</p:attrName>
                                        </p:attrNameLst>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642051">
                                            <p:txEl>
                                              <p:charRg st="101" end="124"/>
                                            </p:txEl>
                                          </p:spTgt>
                                        </p:tgtEl>
                                        <p:attrNameLst>
                                          <p:attrName>style.visibility</p:attrName>
                                        </p:attrNameLst>
                                      </p:cBhvr>
                                      <p:to>
                                        <p:strVal val="visible"/>
                                      </p:to>
                                    </p:set>
                                    <p:anim to="" calcmode="lin" valueType="num">
                                      <p:cBhvr>
                                        <p:cTn id="37" dur="1" fill="hold"/>
                                        <p:tgtEl>
                                          <p:spTgt spid="642051">
                                            <p:txEl>
                                              <p:charRg st="101" end="124"/>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1"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3074" name="Rectangle 2"/>
          <p:cNvSpPr>
            <a:spLocks noGrp="1"/>
          </p:cNvSpPr>
          <p:nvPr>
            <p:ph idx="1"/>
          </p:nvPr>
        </p:nvSpPr>
        <p:spPr>
          <a:xfrm>
            <a:off x="323850" y="1052513"/>
            <a:ext cx="8569325" cy="5145087"/>
          </a:xfrm>
          <a:noFill/>
          <a:ln>
            <a:noFill/>
          </a:ln>
        </p:spPr>
        <p:txBody>
          <a:bodyPr anchor="t" anchorCtr="0"/>
          <a:p>
            <a:pPr marL="457200" indent="-457200">
              <a:buNone/>
            </a:pPr>
            <a:r>
              <a:rPr lang="zh-CN" altLang="en-US" sz="2800" dirty="0">
                <a:solidFill>
                  <a:srgbClr val="660033"/>
                </a:solidFill>
                <a:latin typeface="黑体" panose="02010609060101010101" pitchFamily="49" charset="-122"/>
                <a:ea typeface="黑体" panose="02010609060101010101" pitchFamily="49" charset="-122"/>
              </a:rPr>
              <a:t>按定额的编制程序和用途分类</a:t>
            </a:r>
            <a:endParaRPr lang="zh-CN" altLang="en-US" sz="2800" dirty="0">
              <a:solidFill>
                <a:srgbClr val="660033"/>
              </a:solidFill>
              <a:latin typeface="黑体" panose="02010609060101010101" pitchFamily="49" charset="-122"/>
              <a:ea typeface="黑体" panose="02010609060101010101" pitchFamily="49" charset="-122"/>
            </a:endParaRPr>
          </a:p>
          <a:p>
            <a:pPr marL="457200" indent="-457200">
              <a:lnSpc>
                <a:spcPct val="130000"/>
              </a:lnSpc>
              <a:buNone/>
            </a:pPr>
            <a:r>
              <a:rPr lang="zh-CN" altLang="en-US" dirty="0">
                <a:ea typeface="宋体" panose="02010600030101010101" pitchFamily="2" charset="-122"/>
              </a:rPr>
              <a:t> </a:t>
            </a:r>
            <a:r>
              <a:rPr lang="en-US" altLang="zh-CN" dirty="0">
                <a:ea typeface="宋体" panose="02010600030101010101" pitchFamily="2" charset="-122"/>
              </a:rPr>
              <a:t>(1)</a:t>
            </a:r>
            <a:r>
              <a:rPr lang="zh-CN" altLang="en-US" dirty="0">
                <a:ea typeface="宋体" panose="02010600030101010101" pitchFamily="2" charset="-122"/>
              </a:rPr>
              <a:t>施工定额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(2)</a:t>
            </a:r>
            <a:r>
              <a:rPr lang="zh-CN" altLang="en-US" dirty="0">
                <a:ea typeface="宋体" panose="02010600030101010101" pitchFamily="2" charset="-122"/>
              </a:rPr>
              <a:t>预算定额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(3)</a:t>
            </a:r>
            <a:r>
              <a:rPr lang="zh-CN" altLang="en-US" dirty="0">
                <a:ea typeface="宋体" panose="02010600030101010101" pitchFamily="2" charset="-122"/>
              </a:rPr>
              <a:t>概算定额 </a:t>
            </a:r>
            <a:endParaRPr lang="zh-CN" altLang="en-US" sz="2800"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(4)</a:t>
            </a:r>
            <a:r>
              <a:rPr lang="zh-CN" altLang="en-US" dirty="0">
                <a:ea typeface="宋体" panose="02010600030101010101" pitchFamily="2" charset="-122"/>
              </a:rPr>
              <a:t>概算指标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(5)</a:t>
            </a:r>
            <a:r>
              <a:rPr lang="zh-CN" altLang="en-US" dirty="0">
                <a:ea typeface="宋体" panose="02010600030101010101" pitchFamily="2" charset="-122"/>
              </a:rPr>
              <a:t>投资估算指标 </a:t>
            </a:r>
            <a:r>
              <a:rPr lang="zh-CN" altLang="en-US" sz="2800" dirty="0">
                <a:latin typeface="宋体" panose="02010600030101010101" pitchFamily="2" charset="-122"/>
                <a:ea typeface="宋体" panose="02010600030101010101" pitchFamily="2" charset="-122"/>
              </a:rPr>
              <a:t>    </a:t>
            </a:r>
            <a:endParaRPr lang="zh-CN" altLang="en-US" sz="28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43074">
                                            <p:txEl>
                                              <p:charRg st="0" end="14"/>
                                            </p:txEl>
                                          </p:spTgt>
                                        </p:tgtEl>
                                        <p:attrNameLst>
                                          <p:attrName>style.visibility</p:attrName>
                                        </p:attrNameLst>
                                      </p:cBhvr>
                                      <p:to>
                                        <p:strVal val="visible"/>
                                      </p:to>
                                    </p:set>
                                    <p:anim to="" calcmode="lin" valueType="num">
                                      <p:cBhvr>
                                        <p:cTn id="7" dur="1" fill="hold"/>
                                        <p:tgtEl>
                                          <p:spTgt spid="643074">
                                            <p:txEl>
                                              <p:charRg st="0" end="14"/>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43074">
                                            <p:txEl>
                                              <p:charRg st="14" end="24"/>
                                            </p:txEl>
                                          </p:spTgt>
                                        </p:tgtEl>
                                        <p:attrNameLst>
                                          <p:attrName>style.visibility</p:attrName>
                                        </p:attrNameLst>
                                      </p:cBhvr>
                                      <p:to>
                                        <p:strVal val="visible"/>
                                      </p:to>
                                    </p:set>
                                    <p:anim to="" calcmode="lin" valueType="num">
                                      <p:cBhvr>
                                        <p:cTn id="12" dur="1" fill="hold"/>
                                        <p:tgtEl>
                                          <p:spTgt spid="643074">
                                            <p:txEl>
                                              <p:charRg st="14" end="24"/>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43074">
                                            <p:txEl>
                                              <p:charRg st="24" end="34"/>
                                            </p:txEl>
                                          </p:spTgt>
                                        </p:tgtEl>
                                        <p:attrNameLst>
                                          <p:attrName>style.visibility</p:attrName>
                                        </p:attrNameLst>
                                      </p:cBhvr>
                                      <p:to>
                                        <p:strVal val="visible"/>
                                      </p:to>
                                    </p:set>
                                    <p:anim to="" calcmode="lin" valueType="num">
                                      <p:cBhvr>
                                        <p:cTn id="17" dur="1" fill="hold"/>
                                        <p:tgtEl>
                                          <p:spTgt spid="643074">
                                            <p:txEl>
                                              <p:charRg st="24" end="34"/>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43074">
                                            <p:txEl>
                                              <p:charRg st="34" end="44"/>
                                            </p:txEl>
                                          </p:spTgt>
                                        </p:tgtEl>
                                        <p:attrNameLst>
                                          <p:attrName>style.visibility</p:attrName>
                                        </p:attrNameLst>
                                      </p:cBhvr>
                                      <p:to>
                                        <p:strVal val="visible"/>
                                      </p:to>
                                    </p:set>
                                    <p:anim to="" calcmode="lin" valueType="num">
                                      <p:cBhvr>
                                        <p:cTn id="22" dur="1" fill="hold"/>
                                        <p:tgtEl>
                                          <p:spTgt spid="643074">
                                            <p:txEl>
                                              <p:charRg st="34" end="44"/>
                                            </p:txEl>
                                          </p:spTgt>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643074">
                                            <p:txEl>
                                              <p:charRg st="44" end="54"/>
                                            </p:txEl>
                                          </p:spTgt>
                                        </p:tgtEl>
                                        <p:attrNameLst>
                                          <p:attrName>style.visibility</p:attrName>
                                        </p:attrNameLst>
                                      </p:cBhvr>
                                      <p:to>
                                        <p:strVal val="visible"/>
                                      </p:to>
                                    </p:set>
                                    <p:anim to="" calcmode="lin" valueType="num">
                                      <p:cBhvr>
                                        <p:cTn id="27" dur="1" fill="hold"/>
                                        <p:tgtEl>
                                          <p:spTgt spid="643074">
                                            <p:txEl>
                                              <p:charRg st="44" end="54"/>
                                            </p:txEl>
                                          </p:spTgt>
                                        </p:tgtEl>
                                        <p:attrNameLst>
                                          <p:attrName>style.visibility</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643074">
                                            <p:txEl>
                                              <p:charRg st="54" end="70"/>
                                            </p:txEl>
                                          </p:spTgt>
                                        </p:tgtEl>
                                        <p:attrNameLst>
                                          <p:attrName>style.visibility</p:attrName>
                                        </p:attrNameLst>
                                      </p:cBhvr>
                                      <p:to>
                                        <p:strVal val="visible"/>
                                      </p:to>
                                    </p:set>
                                    <p:anim to="" calcmode="lin" valueType="num">
                                      <p:cBhvr>
                                        <p:cTn id="32" dur="1" fill="hold"/>
                                        <p:tgtEl>
                                          <p:spTgt spid="643074">
                                            <p:txEl>
                                              <p:charRg st="54" end="70"/>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4098" name="Rectangle 2"/>
          <p:cNvSpPr>
            <a:spLocks noGrp="1"/>
          </p:cNvSpPr>
          <p:nvPr>
            <p:ph idx="1"/>
          </p:nvPr>
        </p:nvSpPr>
        <p:spPr>
          <a:xfrm>
            <a:off x="323850" y="1052513"/>
            <a:ext cx="8569325" cy="5145087"/>
          </a:xfrm>
          <a:noFill/>
          <a:ln>
            <a:noFill/>
          </a:ln>
        </p:spPr>
        <p:txBody>
          <a:bodyPr anchor="t" anchorCtr="0"/>
          <a:p>
            <a:pPr marL="457200" indent="-457200">
              <a:buNone/>
            </a:pPr>
            <a:r>
              <a:rPr lang="zh-CN" altLang="en-US" sz="2800" dirty="0">
                <a:solidFill>
                  <a:srgbClr val="660033"/>
                </a:solidFill>
                <a:latin typeface="黑体" panose="02010609060101010101" pitchFamily="49" charset="-122"/>
                <a:ea typeface="黑体" panose="02010609060101010101" pitchFamily="49" charset="-122"/>
              </a:rPr>
              <a:t>按投资的费用性质分类</a:t>
            </a:r>
            <a:endParaRPr lang="zh-CN" altLang="en-US" sz="2800" dirty="0">
              <a:solidFill>
                <a:srgbClr val="660033"/>
              </a:solidFill>
              <a:latin typeface="黑体" panose="02010609060101010101" pitchFamily="49" charset="-122"/>
              <a:ea typeface="黑体" panose="02010609060101010101" pitchFamily="49"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(1)</a:t>
            </a:r>
            <a:r>
              <a:rPr lang="zh-CN" altLang="en-US" dirty="0">
                <a:ea typeface="宋体" panose="02010600030101010101" pitchFamily="2" charset="-122"/>
              </a:rPr>
              <a:t>建筑工程定额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(2)</a:t>
            </a:r>
            <a:r>
              <a:rPr lang="zh-CN" altLang="en-US" dirty="0">
                <a:ea typeface="宋体" panose="02010600030101010101" pitchFamily="2" charset="-122"/>
              </a:rPr>
              <a:t>设备安装工程定额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(3)</a:t>
            </a:r>
            <a:r>
              <a:rPr lang="zh-CN" altLang="en-US" dirty="0">
                <a:ea typeface="宋体" panose="02010600030101010101" pitchFamily="2" charset="-122"/>
              </a:rPr>
              <a:t>建筑安装工程费用定额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(4)</a:t>
            </a:r>
            <a:r>
              <a:rPr lang="zh-CN" altLang="en-US" dirty="0">
                <a:ea typeface="宋体" panose="02010600030101010101" pitchFamily="2" charset="-122"/>
              </a:rPr>
              <a:t>工、器具定额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(5)</a:t>
            </a:r>
            <a:r>
              <a:rPr lang="zh-CN" altLang="en-US" dirty="0">
                <a:ea typeface="宋体" panose="02010600030101010101" pitchFamily="2" charset="-122"/>
              </a:rPr>
              <a:t>工程建设其他费用定额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44098">
                                            <p:txEl>
                                              <p:charRg st="0" end="11"/>
                                            </p:txEl>
                                          </p:spTgt>
                                        </p:tgtEl>
                                        <p:attrNameLst>
                                          <p:attrName>style.visibility</p:attrName>
                                        </p:attrNameLst>
                                      </p:cBhvr>
                                      <p:to>
                                        <p:strVal val="visible"/>
                                      </p:to>
                                    </p:set>
                                    <p:anim to="" calcmode="lin" valueType="num">
                                      <p:cBhvr>
                                        <p:cTn id="7" dur="1" fill="hold"/>
                                        <p:tgtEl>
                                          <p:spTgt spid="644098">
                                            <p:txEl>
                                              <p:charRg st="0" end="11"/>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44098">
                                            <p:txEl>
                                              <p:charRg st="11" end="23"/>
                                            </p:txEl>
                                          </p:spTgt>
                                        </p:tgtEl>
                                        <p:attrNameLst>
                                          <p:attrName>style.visibility</p:attrName>
                                        </p:attrNameLst>
                                      </p:cBhvr>
                                      <p:to>
                                        <p:strVal val="visible"/>
                                      </p:to>
                                    </p:set>
                                    <p:anim to="" calcmode="lin" valueType="num">
                                      <p:cBhvr>
                                        <p:cTn id="12" dur="1" fill="hold"/>
                                        <p:tgtEl>
                                          <p:spTgt spid="644098">
                                            <p:txEl>
                                              <p:charRg st="11" end="23"/>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44098">
                                            <p:txEl>
                                              <p:charRg st="23" end="37"/>
                                            </p:txEl>
                                          </p:spTgt>
                                        </p:tgtEl>
                                        <p:attrNameLst>
                                          <p:attrName>style.visibility</p:attrName>
                                        </p:attrNameLst>
                                      </p:cBhvr>
                                      <p:to>
                                        <p:strVal val="visible"/>
                                      </p:to>
                                    </p:set>
                                    <p:anim to="" calcmode="lin" valueType="num">
                                      <p:cBhvr>
                                        <p:cTn id="17" dur="1" fill="hold"/>
                                        <p:tgtEl>
                                          <p:spTgt spid="644098">
                                            <p:txEl>
                                              <p:charRg st="23" end="37"/>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44098">
                                            <p:txEl>
                                              <p:charRg st="37" end="53"/>
                                            </p:txEl>
                                          </p:spTgt>
                                        </p:tgtEl>
                                        <p:attrNameLst>
                                          <p:attrName>style.visibility</p:attrName>
                                        </p:attrNameLst>
                                      </p:cBhvr>
                                      <p:to>
                                        <p:strVal val="visible"/>
                                      </p:to>
                                    </p:set>
                                    <p:anim to="" calcmode="lin" valueType="num">
                                      <p:cBhvr>
                                        <p:cTn id="22" dur="1" fill="hold"/>
                                        <p:tgtEl>
                                          <p:spTgt spid="644098">
                                            <p:txEl>
                                              <p:charRg st="37" end="53"/>
                                            </p:txEl>
                                          </p:spTgt>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644098">
                                            <p:txEl>
                                              <p:charRg st="53" end="65"/>
                                            </p:txEl>
                                          </p:spTgt>
                                        </p:tgtEl>
                                        <p:attrNameLst>
                                          <p:attrName>style.visibility</p:attrName>
                                        </p:attrNameLst>
                                      </p:cBhvr>
                                      <p:to>
                                        <p:strVal val="visible"/>
                                      </p:to>
                                    </p:set>
                                    <p:anim to="" calcmode="lin" valueType="num">
                                      <p:cBhvr>
                                        <p:cTn id="27" dur="1" fill="hold"/>
                                        <p:tgtEl>
                                          <p:spTgt spid="644098">
                                            <p:txEl>
                                              <p:charRg st="53" end="65"/>
                                            </p:txEl>
                                          </p:spTgt>
                                        </p:tgtEl>
                                        <p:attrNameLst>
                                          <p:attrName>style.visibility</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644098">
                                            <p:txEl>
                                              <p:charRg st="65" end="81"/>
                                            </p:txEl>
                                          </p:spTgt>
                                        </p:tgtEl>
                                        <p:attrNameLst>
                                          <p:attrName>style.visibility</p:attrName>
                                        </p:attrNameLst>
                                      </p:cBhvr>
                                      <p:to>
                                        <p:strVal val="visible"/>
                                      </p:to>
                                    </p:set>
                                    <p:anim to="" calcmode="lin" valueType="num">
                                      <p:cBhvr>
                                        <p:cTn id="32" dur="1" fill="hold"/>
                                        <p:tgtEl>
                                          <p:spTgt spid="644098">
                                            <p:txEl>
                                              <p:charRg st="65" end="81"/>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098"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22" name="Rectangle 2"/>
          <p:cNvSpPr>
            <a:spLocks noGrp="1"/>
          </p:cNvSpPr>
          <p:nvPr>
            <p:ph idx="1"/>
          </p:nvPr>
        </p:nvSpPr>
        <p:spPr>
          <a:xfrm>
            <a:off x="250825" y="1268413"/>
            <a:ext cx="8569325" cy="5040312"/>
          </a:xfrm>
          <a:noFill/>
          <a:ln>
            <a:noFill/>
          </a:ln>
        </p:spPr>
        <p:txBody>
          <a:bodyPr anchor="t" anchorCtr="0"/>
          <a:p>
            <a:pPr marL="457200" indent="-457200">
              <a:buNone/>
            </a:pPr>
            <a:r>
              <a:rPr lang="zh-CN" altLang="en-US" sz="2800" dirty="0">
                <a:solidFill>
                  <a:srgbClr val="660033"/>
                </a:solidFill>
                <a:latin typeface="黑体" panose="02010609060101010101" pitchFamily="49" charset="-122"/>
                <a:ea typeface="黑体" panose="02010609060101010101" pitchFamily="49" charset="-122"/>
              </a:rPr>
              <a:t>按照专业性质划分</a:t>
            </a:r>
            <a:r>
              <a:rPr lang="zh-CN" altLang="en-US" dirty="0">
                <a:ea typeface="宋体" panose="02010600030101010101" pitchFamily="2" charset="-122"/>
              </a:rPr>
              <a:t> </a:t>
            </a:r>
            <a:endParaRPr lang="zh-CN" altLang="en-US" dirty="0">
              <a:ea typeface="宋体" panose="02010600030101010101" pitchFamily="2" charset="-122"/>
            </a:endParaRPr>
          </a:p>
          <a:p>
            <a:pPr marL="457200" indent="-457200">
              <a:lnSpc>
                <a:spcPct val="130000"/>
              </a:lnSpc>
              <a:buNone/>
            </a:pPr>
            <a:r>
              <a:rPr lang="zh-CN" altLang="en-US" dirty="0">
                <a:ea typeface="宋体" panose="02010600030101010101" pitchFamily="2" charset="-122"/>
              </a:rPr>
              <a:t> </a:t>
            </a:r>
            <a:r>
              <a:rPr lang="en-US" altLang="zh-CN" dirty="0">
                <a:ea typeface="宋体" panose="02010600030101010101" pitchFamily="2" charset="-122"/>
              </a:rPr>
              <a:t>(1)</a:t>
            </a:r>
            <a:r>
              <a:rPr lang="zh-CN" altLang="en-US" dirty="0">
                <a:ea typeface="宋体" panose="02010600030101010101" pitchFamily="2" charset="-122"/>
              </a:rPr>
              <a:t>全国通用定额</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(2)</a:t>
            </a:r>
            <a:r>
              <a:rPr lang="zh-CN" altLang="en-US" dirty="0">
                <a:ea typeface="宋体" panose="02010600030101010101" pitchFamily="2" charset="-122"/>
              </a:rPr>
              <a:t>行业通用定额</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(3)</a:t>
            </a:r>
            <a:r>
              <a:rPr lang="zh-CN" altLang="en-US" dirty="0">
                <a:ea typeface="宋体" panose="02010600030101010101" pitchFamily="2" charset="-122"/>
              </a:rPr>
              <a:t>专业专用定额 </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45122">
                                            <p:txEl>
                                              <p:charRg st="0" end="10"/>
                                            </p:txEl>
                                          </p:spTgt>
                                        </p:tgtEl>
                                        <p:attrNameLst>
                                          <p:attrName>style.visibility</p:attrName>
                                        </p:attrNameLst>
                                      </p:cBhvr>
                                      <p:to>
                                        <p:strVal val="visible"/>
                                      </p:to>
                                    </p:set>
                                    <p:anim to="" calcmode="lin" valueType="num">
                                      <p:cBhvr>
                                        <p:cTn id="7" dur="1" fill="hold"/>
                                        <p:tgtEl>
                                          <p:spTgt spid="645122">
                                            <p:txEl>
                                              <p:charRg st="0" end="10"/>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45122">
                                            <p:txEl>
                                              <p:charRg st="10" end="21"/>
                                            </p:txEl>
                                          </p:spTgt>
                                        </p:tgtEl>
                                        <p:attrNameLst>
                                          <p:attrName>style.visibility</p:attrName>
                                        </p:attrNameLst>
                                      </p:cBhvr>
                                      <p:to>
                                        <p:strVal val="visible"/>
                                      </p:to>
                                    </p:set>
                                    <p:anim to="" calcmode="lin" valueType="num">
                                      <p:cBhvr>
                                        <p:cTn id="12" dur="1" fill="hold"/>
                                        <p:tgtEl>
                                          <p:spTgt spid="645122">
                                            <p:txEl>
                                              <p:charRg st="10" end="21"/>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45122">
                                            <p:txEl>
                                              <p:charRg st="21" end="32"/>
                                            </p:txEl>
                                          </p:spTgt>
                                        </p:tgtEl>
                                        <p:attrNameLst>
                                          <p:attrName>style.visibility</p:attrName>
                                        </p:attrNameLst>
                                      </p:cBhvr>
                                      <p:to>
                                        <p:strVal val="visible"/>
                                      </p:to>
                                    </p:set>
                                    <p:anim to="" calcmode="lin" valueType="num">
                                      <p:cBhvr>
                                        <p:cTn id="17" dur="1" fill="hold"/>
                                        <p:tgtEl>
                                          <p:spTgt spid="645122">
                                            <p:txEl>
                                              <p:charRg st="21" end="32"/>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45122">
                                            <p:txEl>
                                              <p:charRg st="32" end="44"/>
                                            </p:txEl>
                                          </p:spTgt>
                                        </p:tgtEl>
                                        <p:attrNameLst>
                                          <p:attrName>style.visibility</p:attrName>
                                        </p:attrNameLst>
                                      </p:cBhvr>
                                      <p:to>
                                        <p:strVal val="visible"/>
                                      </p:to>
                                    </p:set>
                                    <p:anim to="" calcmode="lin" valueType="num">
                                      <p:cBhvr>
                                        <p:cTn id="22" dur="1" fill="hold"/>
                                        <p:tgtEl>
                                          <p:spTgt spid="645122">
                                            <p:txEl>
                                              <p:charRg st="32" end="44"/>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22"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6146" name="Rectangle 2"/>
          <p:cNvSpPr>
            <a:spLocks noGrp="1"/>
          </p:cNvSpPr>
          <p:nvPr>
            <p:ph idx="1"/>
          </p:nvPr>
        </p:nvSpPr>
        <p:spPr>
          <a:xfrm>
            <a:off x="323850" y="1052513"/>
            <a:ext cx="8569325" cy="5145087"/>
          </a:xfrm>
          <a:noFill/>
          <a:ln>
            <a:noFill/>
          </a:ln>
        </p:spPr>
        <p:txBody>
          <a:bodyPr anchor="t" anchorCtr="0"/>
          <a:p>
            <a:pPr marL="457200" indent="-457200">
              <a:lnSpc>
                <a:spcPct val="130000"/>
              </a:lnSpc>
              <a:buNone/>
            </a:pPr>
            <a:r>
              <a:rPr lang="zh-CN" altLang="en-US" sz="2800" dirty="0">
                <a:solidFill>
                  <a:srgbClr val="660033"/>
                </a:solidFill>
                <a:latin typeface="黑体" panose="02010609060101010101" pitchFamily="49" charset="-122"/>
                <a:ea typeface="黑体" panose="02010609060101010101" pitchFamily="49" charset="-122"/>
              </a:rPr>
              <a:t>按主编单位和管理权限分类</a:t>
            </a:r>
            <a:endParaRPr lang="zh-CN" altLang="en-US" sz="2800" dirty="0">
              <a:solidFill>
                <a:srgbClr val="660033"/>
              </a:solidFill>
              <a:latin typeface="黑体" panose="02010609060101010101" pitchFamily="49" charset="-122"/>
              <a:ea typeface="黑体" panose="02010609060101010101" pitchFamily="49" charset="-122"/>
            </a:endParaRPr>
          </a:p>
          <a:p>
            <a:pPr marL="457200" indent="-457200">
              <a:lnSpc>
                <a:spcPct val="130000"/>
              </a:lnSpc>
              <a:buNone/>
            </a:pPr>
            <a:r>
              <a:rPr lang="zh-CN" altLang="en-US" dirty="0">
                <a:ea typeface="宋体" panose="02010600030101010101" pitchFamily="2" charset="-122"/>
              </a:rPr>
              <a:t> </a:t>
            </a:r>
            <a:r>
              <a:rPr lang="en-US" altLang="zh-CN" dirty="0">
                <a:ea typeface="宋体" panose="02010600030101010101" pitchFamily="2" charset="-122"/>
              </a:rPr>
              <a:t>(1)</a:t>
            </a:r>
            <a:r>
              <a:rPr lang="zh-CN" altLang="en-US" dirty="0">
                <a:ea typeface="宋体" panose="02010600030101010101" pitchFamily="2" charset="-122"/>
              </a:rPr>
              <a:t>全国统一定额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(2)</a:t>
            </a:r>
            <a:r>
              <a:rPr lang="zh-CN" altLang="en-US" dirty="0">
                <a:ea typeface="宋体" panose="02010600030101010101" pitchFamily="2" charset="-122"/>
              </a:rPr>
              <a:t>行业统一定额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(3)</a:t>
            </a:r>
            <a:r>
              <a:rPr lang="zh-CN" altLang="en-US" dirty="0">
                <a:ea typeface="宋体" panose="02010600030101010101" pitchFamily="2" charset="-122"/>
              </a:rPr>
              <a:t>地区统一定额  </a:t>
            </a:r>
            <a:endParaRPr lang="zh-CN" altLang="en-US" dirty="0">
              <a:latin typeface="宋体" panose="02010600030101010101" pitchFamily="2" charset="-122"/>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(4)</a:t>
            </a:r>
            <a:r>
              <a:rPr lang="zh-CN" altLang="en-US" dirty="0">
                <a:ea typeface="宋体" panose="02010600030101010101" pitchFamily="2" charset="-122"/>
              </a:rPr>
              <a:t>企业定额 </a:t>
            </a:r>
            <a:endParaRPr lang="zh-CN" altLang="en-US" dirty="0">
              <a:ea typeface="宋体" panose="02010600030101010101" pitchFamily="2" charset="-122"/>
            </a:endParaRPr>
          </a:p>
          <a:p>
            <a:pPr marL="457200" indent="-457200">
              <a:lnSpc>
                <a:spcPct val="130000"/>
              </a:lnSpc>
              <a:buFont typeface="Wingdings" panose="05000000000000000000" pitchFamily="2" charset="2"/>
              <a:buNone/>
            </a:pPr>
            <a:r>
              <a:rPr lang="zh-CN" altLang="en-US" dirty="0">
                <a:ea typeface="宋体" panose="02010600030101010101" pitchFamily="2" charset="-122"/>
              </a:rPr>
              <a:t> </a:t>
            </a:r>
            <a:r>
              <a:rPr lang="en-US" altLang="zh-CN" dirty="0">
                <a:ea typeface="宋体" panose="02010600030101010101" pitchFamily="2" charset="-122"/>
              </a:rPr>
              <a:t>(5)</a:t>
            </a:r>
            <a:r>
              <a:rPr lang="zh-CN" altLang="en-US" dirty="0">
                <a:ea typeface="宋体" panose="02010600030101010101" pitchFamily="2" charset="-122"/>
              </a:rPr>
              <a:t>补充定额 </a:t>
            </a:r>
            <a:endParaRPr lang="zh-CN" altLang="en-US" dirty="0">
              <a:ea typeface="宋体" panose="02010600030101010101" pitchFamily="2" charset="-122"/>
            </a:endParaRPr>
          </a:p>
        </p:txBody>
      </p:sp>
      <p:pic>
        <p:nvPicPr>
          <p:cNvPr id="28674"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646146">
                                            <p:txEl>
                                              <p:charRg st="0" end="13"/>
                                            </p:txEl>
                                          </p:spTgt>
                                        </p:tgtEl>
                                        <p:attrNameLst>
                                          <p:attrName>style.visibility</p:attrName>
                                        </p:attrNameLst>
                                      </p:cBhvr>
                                      <p:to>
                                        <p:strVal val="visible"/>
                                      </p:to>
                                    </p:set>
                                    <p:anim to="" calcmode="lin" valueType="num">
                                      <p:cBhvr>
                                        <p:cTn id="7" dur="1" fill="hold"/>
                                        <p:tgtEl>
                                          <p:spTgt spid="646146">
                                            <p:txEl>
                                              <p:charRg st="0" end="13"/>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646146">
                                            <p:txEl>
                                              <p:charRg st="13" end="25"/>
                                            </p:txEl>
                                          </p:spTgt>
                                        </p:tgtEl>
                                        <p:attrNameLst>
                                          <p:attrName>style.visibility</p:attrName>
                                        </p:attrNameLst>
                                      </p:cBhvr>
                                      <p:to>
                                        <p:strVal val="visible"/>
                                      </p:to>
                                    </p:set>
                                    <p:anim to="" calcmode="lin" valueType="num">
                                      <p:cBhvr>
                                        <p:cTn id="12" dur="1" fill="hold"/>
                                        <p:tgtEl>
                                          <p:spTgt spid="646146">
                                            <p:txEl>
                                              <p:charRg st="13" end="25"/>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646146">
                                            <p:txEl>
                                              <p:charRg st="25" end="37"/>
                                            </p:txEl>
                                          </p:spTgt>
                                        </p:tgtEl>
                                        <p:attrNameLst>
                                          <p:attrName>style.visibility</p:attrName>
                                        </p:attrNameLst>
                                      </p:cBhvr>
                                      <p:to>
                                        <p:strVal val="visible"/>
                                      </p:to>
                                    </p:set>
                                    <p:anim to="" calcmode="lin" valueType="num">
                                      <p:cBhvr>
                                        <p:cTn id="17" dur="1" fill="hold"/>
                                        <p:tgtEl>
                                          <p:spTgt spid="646146">
                                            <p:txEl>
                                              <p:charRg st="25" end="37"/>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46146">
                                            <p:txEl>
                                              <p:charRg st="37" end="50"/>
                                            </p:txEl>
                                          </p:spTgt>
                                        </p:tgtEl>
                                        <p:attrNameLst>
                                          <p:attrName>style.visibility</p:attrName>
                                        </p:attrNameLst>
                                      </p:cBhvr>
                                      <p:to>
                                        <p:strVal val="visible"/>
                                      </p:to>
                                    </p:set>
                                    <p:anim to="" calcmode="lin" valueType="num">
                                      <p:cBhvr>
                                        <p:cTn id="22" dur="1" fill="hold"/>
                                        <p:tgtEl>
                                          <p:spTgt spid="646146">
                                            <p:txEl>
                                              <p:charRg st="37" end="50"/>
                                            </p:txEl>
                                          </p:spTgt>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646146">
                                            <p:txEl>
                                              <p:charRg st="50" end="60"/>
                                            </p:txEl>
                                          </p:spTgt>
                                        </p:tgtEl>
                                        <p:attrNameLst>
                                          <p:attrName>style.visibility</p:attrName>
                                        </p:attrNameLst>
                                      </p:cBhvr>
                                      <p:to>
                                        <p:strVal val="visible"/>
                                      </p:to>
                                    </p:set>
                                    <p:anim to="" calcmode="lin" valueType="num">
                                      <p:cBhvr>
                                        <p:cTn id="27" dur="1" fill="hold"/>
                                        <p:tgtEl>
                                          <p:spTgt spid="646146">
                                            <p:txEl>
                                              <p:charRg st="50" end="60"/>
                                            </p:txEl>
                                          </p:spTgt>
                                        </p:tgtEl>
                                        <p:attrNameLst>
                                          <p:attrName>style.visibility</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646146">
                                            <p:txEl>
                                              <p:charRg st="60" end="70"/>
                                            </p:txEl>
                                          </p:spTgt>
                                        </p:tgtEl>
                                        <p:attrNameLst>
                                          <p:attrName>style.visibility</p:attrName>
                                        </p:attrNameLst>
                                      </p:cBhvr>
                                      <p:to>
                                        <p:strVal val="visible"/>
                                      </p:to>
                                    </p:set>
                                    <p:anim to="" calcmode="lin" valueType="num">
                                      <p:cBhvr>
                                        <p:cTn id="32" dur="1" fill="hold"/>
                                        <p:tgtEl>
                                          <p:spTgt spid="646146">
                                            <p:txEl>
                                              <p:charRg st="60" end="70"/>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4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Rectangle 2"/>
          <p:cNvSpPr>
            <a:spLocks noGrp="1"/>
          </p:cNvSpPr>
          <p:nvPr>
            <p:ph type="title"/>
          </p:nvPr>
        </p:nvSpPr>
        <p:spPr>
          <a:xfrm>
            <a:off x="457200" y="274638"/>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3.4 </a:t>
            </a:r>
            <a:r>
              <a:rPr lang="zh-CN" altLang="en-US" b="1" dirty="0">
                <a:solidFill>
                  <a:srgbClr val="000099"/>
                </a:solidFill>
                <a:latin typeface="黑体" panose="02010609060101010101" pitchFamily="49" charset="-122"/>
                <a:ea typeface="黑体" panose="02010609060101010101" pitchFamily="49" charset="-122"/>
              </a:rPr>
              <a:t>通信建设工程预算定额</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29698"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pic>
        <p:nvPicPr>
          <p:cNvPr id="29699" name="Picture 27" descr="生物10"/>
          <p:cNvPicPr>
            <a:picLocks noChangeAspect="1"/>
          </p:cNvPicPr>
          <p:nvPr/>
        </p:nvPicPr>
        <p:blipFill>
          <a:blip r:embed="rId1"/>
          <a:srcRect r="68536" b="6113"/>
          <a:stretch>
            <a:fillRect/>
          </a:stretch>
        </p:blipFill>
        <p:spPr>
          <a:xfrm>
            <a:off x="563563" y="765175"/>
            <a:ext cx="830262" cy="706438"/>
          </a:xfrm>
          <a:prstGeom prst="rect">
            <a:avLst/>
          </a:prstGeom>
          <a:noFill/>
          <a:ln w="9525">
            <a:noFill/>
          </a:ln>
        </p:spPr>
      </p:pic>
      <p:grpSp>
        <p:nvGrpSpPr>
          <p:cNvPr id="29700" name="Group 43"/>
          <p:cNvGrpSpPr/>
          <p:nvPr/>
        </p:nvGrpSpPr>
        <p:grpSpPr>
          <a:xfrm>
            <a:off x="563563" y="1603375"/>
            <a:ext cx="1704975" cy="381000"/>
            <a:chOff x="-1324" y="576"/>
            <a:chExt cx="912" cy="240"/>
          </a:xfrm>
        </p:grpSpPr>
        <p:sp>
          <p:nvSpPr>
            <p:cNvPr id="29701"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29702"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29703"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nvGrpSpPr>
          <p:cNvPr id="29704" name="Group 17"/>
          <p:cNvGrpSpPr/>
          <p:nvPr/>
        </p:nvGrpSpPr>
        <p:grpSpPr>
          <a:xfrm>
            <a:off x="1066800" y="1295400"/>
            <a:ext cx="6357938" cy="4037013"/>
            <a:chOff x="984" y="819"/>
            <a:chExt cx="4005" cy="2543"/>
          </a:xfrm>
        </p:grpSpPr>
        <p:grpSp>
          <p:nvGrpSpPr>
            <p:cNvPr id="29705" name="Group 11"/>
            <p:cNvGrpSpPr/>
            <p:nvPr/>
          </p:nvGrpSpPr>
          <p:grpSpPr>
            <a:xfrm>
              <a:off x="984" y="819"/>
              <a:ext cx="4005" cy="2543"/>
              <a:chOff x="984" y="819"/>
              <a:chExt cx="4005" cy="2543"/>
            </a:xfrm>
          </p:grpSpPr>
          <p:sp>
            <p:nvSpPr>
              <p:cNvPr id="29706" name="Text Box 11"/>
              <p:cNvSpPr txBox="1"/>
              <p:nvPr/>
            </p:nvSpPr>
            <p:spPr>
              <a:xfrm>
                <a:off x="984" y="819"/>
                <a:ext cx="1761" cy="327"/>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sp>
            <p:nvSpPr>
              <p:cNvPr id="29707" name="Line 18"/>
              <p:cNvSpPr/>
              <p:nvPr/>
            </p:nvSpPr>
            <p:spPr>
              <a:xfrm>
                <a:off x="1621" y="1725"/>
                <a:ext cx="3360" cy="0"/>
              </a:xfrm>
              <a:prstGeom prst="line">
                <a:avLst/>
              </a:prstGeom>
              <a:ln w="38100" cap="rnd" cmpd="sng">
                <a:solidFill>
                  <a:srgbClr val="008000"/>
                </a:solidFill>
                <a:prstDash val="sysDot"/>
                <a:round/>
                <a:headEnd type="none" w="med" len="med"/>
                <a:tailEnd type="oval" w="med" len="med"/>
              </a:ln>
            </p:spPr>
          </p:sp>
          <p:sp>
            <p:nvSpPr>
              <p:cNvPr id="29708" name="Line 18"/>
              <p:cNvSpPr/>
              <p:nvPr/>
            </p:nvSpPr>
            <p:spPr>
              <a:xfrm>
                <a:off x="1629" y="2295"/>
                <a:ext cx="3360" cy="0"/>
              </a:xfrm>
              <a:prstGeom prst="line">
                <a:avLst/>
              </a:prstGeom>
              <a:ln w="38100" cap="rnd" cmpd="sng">
                <a:solidFill>
                  <a:srgbClr val="008000"/>
                </a:solidFill>
                <a:prstDash val="sysDot"/>
                <a:round/>
                <a:headEnd type="none" w="med" len="med"/>
                <a:tailEnd type="oval" w="med" len="med"/>
              </a:ln>
            </p:spPr>
          </p:sp>
          <p:sp>
            <p:nvSpPr>
              <p:cNvPr id="29709" name="Line 18"/>
              <p:cNvSpPr/>
              <p:nvPr/>
            </p:nvSpPr>
            <p:spPr>
              <a:xfrm>
                <a:off x="1627" y="2854"/>
                <a:ext cx="3360" cy="0"/>
              </a:xfrm>
              <a:prstGeom prst="line">
                <a:avLst/>
              </a:prstGeom>
              <a:ln w="38100" cap="rnd" cmpd="sng">
                <a:solidFill>
                  <a:srgbClr val="008000"/>
                </a:solidFill>
                <a:prstDash val="sysDot"/>
                <a:round/>
                <a:headEnd type="none" w="med" len="med"/>
                <a:tailEnd type="oval" w="med" len="med"/>
              </a:ln>
            </p:spPr>
          </p:sp>
          <p:sp>
            <p:nvSpPr>
              <p:cNvPr id="29710" name="Line 18"/>
              <p:cNvSpPr/>
              <p:nvPr/>
            </p:nvSpPr>
            <p:spPr>
              <a:xfrm>
                <a:off x="1628" y="3362"/>
                <a:ext cx="3360" cy="0"/>
              </a:xfrm>
              <a:prstGeom prst="line">
                <a:avLst/>
              </a:prstGeom>
              <a:ln w="38100" cap="rnd" cmpd="sng">
                <a:solidFill>
                  <a:srgbClr val="008000"/>
                </a:solidFill>
                <a:prstDash val="sysDot"/>
                <a:round/>
                <a:headEnd type="none" w="med" len="med"/>
                <a:tailEnd type="oval" w="med" len="med"/>
              </a:ln>
            </p:spPr>
          </p:sp>
        </p:grpSp>
        <p:pic>
          <p:nvPicPr>
            <p:cNvPr id="29711" name="Picture 12" descr="003c"/>
            <p:cNvPicPr>
              <a:picLocks noChangeAspect="1"/>
            </p:cNvPicPr>
            <p:nvPr/>
          </p:nvPicPr>
          <p:blipFill>
            <a:blip r:embed="rId2"/>
            <a:stretch>
              <a:fillRect/>
            </a:stretch>
          </p:blipFill>
          <p:spPr>
            <a:xfrm>
              <a:off x="1632" y="2004"/>
              <a:ext cx="300" cy="300"/>
            </a:xfrm>
            <a:prstGeom prst="rect">
              <a:avLst/>
            </a:prstGeom>
            <a:noFill/>
            <a:ln w="9525">
              <a:noFill/>
            </a:ln>
          </p:spPr>
        </p:pic>
        <p:pic>
          <p:nvPicPr>
            <p:cNvPr id="29712" name="Picture 14" descr="002b"/>
            <p:cNvPicPr>
              <a:picLocks noChangeAspect="1"/>
            </p:cNvPicPr>
            <p:nvPr/>
          </p:nvPicPr>
          <p:blipFill>
            <a:blip r:embed="rId3"/>
            <a:stretch>
              <a:fillRect/>
            </a:stretch>
          </p:blipFill>
          <p:spPr>
            <a:xfrm>
              <a:off x="1632" y="1428"/>
              <a:ext cx="300" cy="300"/>
            </a:xfrm>
            <a:prstGeom prst="rect">
              <a:avLst/>
            </a:prstGeom>
            <a:noFill/>
            <a:ln w="9525">
              <a:noFill/>
            </a:ln>
          </p:spPr>
        </p:pic>
        <p:pic>
          <p:nvPicPr>
            <p:cNvPr id="29713" name="Picture 15" descr="005e (2)"/>
            <p:cNvPicPr>
              <a:picLocks noChangeAspect="1"/>
            </p:cNvPicPr>
            <p:nvPr/>
          </p:nvPicPr>
          <p:blipFill>
            <a:blip r:embed="rId4"/>
            <a:stretch>
              <a:fillRect/>
            </a:stretch>
          </p:blipFill>
          <p:spPr>
            <a:xfrm>
              <a:off x="1632" y="3060"/>
              <a:ext cx="300" cy="300"/>
            </a:xfrm>
            <a:prstGeom prst="rect">
              <a:avLst/>
            </a:prstGeom>
            <a:noFill/>
            <a:ln w="9525">
              <a:noFill/>
            </a:ln>
          </p:spPr>
        </p:pic>
        <p:pic>
          <p:nvPicPr>
            <p:cNvPr id="29714" name="Picture 16" descr="004d (2)"/>
            <p:cNvPicPr>
              <a:picLocks noChangeAspect="1"/>
            </p:cNvPicPr>
            <p:nvPr/>
          </p:nvPicPr>
          <p:blipFill>
            <a:blip r:embed="rId5"/>
            <a:stretch>
              <a:fillRect/>
            </a:stretch>
          </p:blipFill>
          <p:spPr>
            <a:xfrm>
              <a:off x="1632" y="2580"/>
              <a:ext cx="300" cy="300"/>
            </a:xfrm>
            <a:prstGeom prst="rect">
              <a:avLst/>
            </a:prstGeom>
            <a:noFill/>
            <a:ln w="9525">
              <a:noFill/>
            </a:ln>
          </p:spPr>
        </p:pic>
      </p:grpSp>
      <p:sp>
        <p:nvSpPr>
          <p:cNvPr id="647188" name="Text Box 20">
            <a:hlinkClick r:id="rId6" action="ppaction://hlinksldjump"/>
          </p:cNvPr>
          <p:cNvSpPr txBox="1">
            <a:spLocks noChangeArrowheads="1"/>
          </p:cNvSpPr>
          <p:nvPr/>
        </p:nvSpPr>
        <p:spPr bwMode="auto">
          <a:xfrm>
            <a:off x="2555875" y="2205038"/>
            <a:ext cx="5256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通信工程预算定额的作用是什么？</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47189" name="Text Box 21">
            <a:hlinkClick r:id="rId7" action="ppaction://hlinksldjump"/>
          </p:cNvPr>
          <p:cNvSpPr txBox="1">
            <a:spLocks noChangeArrowheads="1"/>
          </p:cNvSpPr>
          <p:nvPr/>
        </p:nvSpPr>
        <p:spPr bwMode="auto">
          <a:xfrm>
            <a:off x="2627313" y="3140075"/>
            <a:ext cx="5473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通信工程预算定额的组成有哪些？</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47190" name="Text Box 22">
            <a:hlinkClick r:id="rId8" action="ppaction://hlinksldjump"/>
          </p:cNvPr>
          <p:cNvSpPr txBox="1">
            <a:spLocks noChangeArrowheads="1"/>
          </p:cNvSpPr>
          <p:nvPr/>
        </p:nvSpPr>
        <p:spPr bwMode="auto">
          <a:xfrm>
            <a:off x="2627313" y="4005263"/>
            <a:ext cx="482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现行通信工程预算定额的编制原则</a:t>
            </a:r>
            <a:r>
              <a:rPr kumimoji="0" lang="zh-CN" altLang="en-US"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 </a:t>
            </a:r>
            <a:endParaRPr kumimoji="0" lang="zh-CN" altLang="en-US"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47191" name="Text Box 23">
            <a:hlinkClick r:id="rId9" action="ppaction://hlinksldjump"/>
          </p:cNvPr>
          <p:cNvSpPr txBox="1">
            <a:spLocks noChangeArrowheads="1"/>
          </p:cNvSpPr>
          <p:nvPr/>
        </p:nvSpPr>
        <p:spPr bwMode="auto">
          <a:xfrm>
            <a:off x="2627313" y="4868863"/>
            <a:ext cx="6048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现行通信工程预算定额的构成</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29719" name="Picture 24" descr="图片1">
            <a:hlinkClick r:id="rId10" action="ppaction://hlinksldjump"/>
          </p:cNvPr>
          <p:cNvPicPr>
            <a:picLocks noChangeAspect="1"/>
          </p:cNvPicPr>
          <p:nvPr/>
        </p:nvPicPr>
        <p:blipFill>
          <a:blip r:embed="rId11"/>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47188"/>
                                        </p:tgtEl>
                                        <p:attrNameLst>
                                          <p:attrName>style.visibility</p:attrName>
                                        </p:attrNameLst>
                                      </p:cBhvr>
                                      <p:to>
                                        <p:strVal val="visible"/>
                                      </p:to>
                                    </p:set>
                                    <p:animEffect transition="in" filter="wipe(left)">
                                      <p:cBhvr>
                                        <p:cTn id="7" dur="1000"/>
                                        <p:tgtEl>
                                          <p:spTgt spid="647188"/>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47189"/>
                                        </p:tgtEl>
                                        <p:attrNameLst>
                                          <p:attrName>style.visibility</p:attrName>
                                        </p:attrNameLst>
                                      </p:cBhvr>
                                      <p:to>
                                        <p:strVal val="visible"/>
                                      </p:to>
                                    </p:set>
                                    <p:animEffect transition="in" filter="wipe(left)">
                                      <p:cBhvr>
                                        <p:cTn id="11" dur="1000"/>
                                        <p:tgtEl>
                                          <p:spTgt spid="647189"/>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47190"/>
                                        </p:tgtEl>
                                        <p:attrNameLst>
                                          <p:attrName>style.visibility</p:attrName>
                                        </p:attrNameLst>
                                      </p:cBhvr>
                                      <p:to>
                                        <p:strVal val="visible"/>
                                      </p:to>
                                    </p:set>
                                    <p:animEffect transition="in" filter="wipe(left)">
                                      <p:cBhvr>
                                        <p:cTn id="15" dur="1000"/>
                                        <p:tgtEl>
                                          <p:spTgt spid="647190"/>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647191"/>
                                        </p:tgtEl>
                                        <p:attrNameLst>
                                          <p:attrName>style.visibility</p:attrName>
                                        </p:attrNameLst>
                                      </p:cBhvr>
                                      <p:to>
                                        <p:strVal val="visible"/>
                                      </p:to>
                                    </p:set>
                                    <p:animEffect transition="in" filter="wipe(left)">
                                      <p:cBhvr>
                                        <p:cTn id="19" dur="1000"/>
                                        <p:tgtEl>
                                          <p:spTgt spid="647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88" grpId="0"/>
      <p:bldP spid="647189" grpId="0"/>
      <p:bldP spid="647190" grpId="0"/>
      <p:bldP spid="64719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8194"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预算定额的作用</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sz="3200" dirty="0">
              <a:solidFill>
                <a:srgbClr val="000099"/>
              </a:solidFill>
              <a:latin typeface="黑体" panose="02010609060101010101" pitchFamily="49" charset="-122"/>
              <a:ea typeface="黑体" panose="02010609060101010101" pitchFamily="49" charset="-122"/>
            </a:endParaRPr>
          </a:p>
          <a:p>
            <a:pPr>
              <a:lnSpc>
                <a:spcPct val="120000"/>
              </a:lnSpc>
              <a:spcBef>
                <a:spcPct val="30000"/>
              </a:spcBef>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）预算定额是编制施工图预算、确定和控制建筑安装工程造价的基础 </a:t>
            </a:r>
            <a:endParaRPr lang="zh-CN" altLang="en-US" dirty="0">
              <a:ea typeface="宋体" panose="02010600030101010101" pitchFamily="2" charset="-122"/>
            </a:endParaRPr>
          </a:p>
          <a:p>
            <a:pPr>
              <a:lnSpc>
                <a:spcPct val="120000"/>
              </a:lnSpc>
              <a:spcBef>
                <a:spcPct val="30000"/>
              </a:spcBef>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）预算定额是对设计方案进行技术经济比较、技术经济分析的依据 </a:t>
            </a:r>
            <a:endParaRPr lang="zh-CN" altLang="en-US" dirty="0">
              <a:ea typeface="宋体" panose="02010600030101010101" pitchFamily="2" charset="-122"/>
            </a:endParaRPr>
          </a:p>
          <a:p>
            <a:pPr>
              <a:lnSpc>
                <a:spcPct val="120000"/>
              </a:lnSpc>
              <a:spcBef>
                <a:spcPct val="30000"/>
              </a:spcBef>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）预算定额是施工企业进行经济活动分项的参考依据</a:t>
            </a:r>
            <a:endParaRPr lang="zh-CN" altLang="en-US" dirty="0">
              <a:ea typeface="宋体" panose="02010600030101010101" pitchFamily="2" charset="-122"/>
            </a:endParaRPr>
          </a:p>
          <a:p>
            <a:pPr>
              <a:lnSpc>
                <a:spcPct val="120000"/>
              </a:lnSpc>
              <a:spcBef>
                <a:spcPct val="30000"/>
              </a:spcBef>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）预算定额是编制标底、投标报价的基础 </a:t>
            </a:r>
            <a:endParaRPr lang="zh-CN" altLang="en-US" dirty="0">
              <a:ea typeface="宋体" panose="02010600030101010101" pitchFamily="2" charset="-122"/>
            </a:endParaRPr>
          </a:p>
          <a:p>
            <a:pPr>
              <a:lnSpc>
                <a:spcPct val="120000"/>
              </a:lnSpc>
              <a:spcBef>
                <a:spcPct val="30000"/>
              </a:spcBef>
              <a:buNone/>
            </a:pPr>
            <a:r>
              <a:rPr lang="zh-CN" altLang="en-US" dirty="0">
                <a:ea typeface="宋体" panose="02010600030101010101" pitchFamily="2" charset="-122"/>
              </a:rPr>
              <a:t>（</a:t>
            </a:r>
            <a:r>
              <a:rPr lang="en-US" altLang="zh-CN" dirty="0">
                <a:ea typeface="宋体" panose="02010600030101010101" pitchFamily="2" charset="-122"/>
              </a:rPr>
              <a:t>5</a:t>
            </a:r>
            <a:r>
              <a:rPr lang="zh-CN" altLang="en-US" dirty="0">
                <a:ea typeface="宋体" panose="02010600030101010101" pitchFamily="2" charset="-122"/>
              </a:rPr>
              <a:t>）预算定额是编制概算定额和估算指标的基础 </a:t>
            </a:r>
            <a:endParaRPr lang="zh-CN" altLang="en-US" dirty="0">
              <a:ea typeface="宋体" panose="02010600030101010101" pitchFamily="2" charset="-122"/>
            </a:endParaRPr>
          </a:p>
        </p:txBody>
      </p:sp>
      <p:grpSp>
        <p:nvGrpSpPr>
          <p:cNvPr id="30722" name="Group 40"/>
          <p:cNvGrpSpPr/>
          <p:nvPr/>
        </p:nvGrpSpPr>
        <p:grpSpPr>
          <a:xfrm>
            <a:off x="7164388" y="-265112"/>
            <a:ext cx="1758950" cy="1606550"/>
            <a:chOff x="672" y="334"/>
            <a:chExt cx="1108" cy="1012"/>
          </a:xfrm>
        </p:grpSpPr>
        <p:pic>
          <p:nvPicPr>
            <p:cNvPr id="30723"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30724" name="Group 28"/>
            <p:cNvGrpSpPr/>
            <p:nvPr/>
          </p:nvGrpSpPr>
          <p:grpSpPr>
            <a:xfrm>
              <a:off x="864" y="1104"/>
              <a:ext cx="768" cy="242"/>
              <a:chOff x="-768" y="1440"/>
              <a:chExt cx="768" cy="242"/>
            </a:xfrm>
          </p:grpSpPr>
          <p:sp>
            <p:nvSpPr>
              <p:cNvPr id="3072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3072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30727"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pic>
        <p:nvPicPr>
          <p:cNvPr id="30728" name="Picture 9" descr="图片1">
            <a:hlinkClick r:id="rId2" action="ppaction://hlinksldjump"/>
          </p:cNvPr>
          <p:cNvPicPr>
            <a:picLocks noChangeAspect="1"/>
          </p:cNvPicPr>
          <p:nvPr/>
        </p:nvPicPr>
        <p:blipFill>
          <a:blip r:embed="rId3"/>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8194">
                                            <p:txEl>
                                              <p:charRg st="11" end="4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48194">
                                            <p:txEl>
                                              <p:charRg st="45" end="78"/>
                                            </p:txEl>
                                          </p:spTgt>
                                        </p:tgtEl>
                                        <p:attrNameLst>
                                          <p:attrName>style.visibility</p:attrName>
                                        </p:attrNameLst>
                                      </p:cBhvr>
                                      <p:to>
                                        <p:strVal val="visible"/>
                                      </p:to>
                                    </p:set>
                                    <p:anim calcmode="lin" valueType="num">
                                      <p:cBhvr additive="base">
                                        <p:cTn id="11" dur="500" fill="hold"/>
                                        <p:tgtEl>
                                          <p:spTgt spid="648194">
                                            <p:txEl>
                                              <p:charRg st="45" end="7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8194">
                                            <p:txEl>
                                              <p:charRg st="45" end="78"/>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48194">
                                            <p:txEl>
                                              <p:charRg st="78" end="104"/>
                                            </p:txEl>
                                          </p:spTgt>
                                        </p:tgtEl>
                                        <p:attrNameLst>
                                          <p:attrName>style.visibility</p:attrName>
                                        </p:attrNameLst>
                                      </p:cBhvr>
                                      <p:to>
                                        <p:strVal val="visible"/>
                                      </p:to>
                                    </p:set>
                                    <p:animEffect transition="in" filter="fade">
                                      <p:cBhvr>
                                        <p:cTn id="17" dur="1000"/>
                                        <p:tgtEl>
                                          <p:spTgt spid="648194">
                                            <p:txEl>
                                              <p:charRg st="78" end="104"/>
                                            </p:txEl>
                                          </p:spTgt>
                                        </p:tgtEl>
                                      </p:cBhvr>
                                    </p:animEffect>
                                    <p:anim calcmode="lin" valueType="num">
                                      <p:cBhvr>
                                        <p:cTn id="18" dur="1000" fill="hold"/>
                                        <p:tgtEl>
                                          <p:spTgt spid="648194">
                                            <p:txEl>
                                              <p:charRg st="78" end="104"/>
                                            </p:txEl>
                                          </p:spTgt>
                                        </p:tgtEl>
                                        <p:attrNameLst>
                                          <p:attrName>ppt_x</p:attrName>
                                        </p:attrNameLst>
                                      </p:cBhvr>
                                      <p:tavLst>
                                        <p:tav tm="0">
                                          <p:val>
                                            <p:strVal val="#ppt_x"/>
                                          </p:val>
                                        </p:tav>
                                        <p:tav tm="100000">
                                          <p:val>
                                            <p:strVal val="#ppt_x"/>
                                          </p:val>
                                        </p:tav>
                                      </p:tavLst>
                                    </p:anim>
                                    <p:anim calcmode="lin" valueType="num">
                                      <p:cBhvr>
                                        <p:cTn id="19" dur="1000" fill="hold"/>
                                        <p:tgtEl>
                                          <p:spTgt spid="648194">
                                            <p:txEl>
                                              <p:charRg st="78" end="10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nodeType="clickEffect">
                                  <p:stCondLst>
                                    <p:cond delay="0"/>
                                  </p:stCondLst>
                                  <p:childTnLst>
                                    <p:set>
                                      <p:cBhvr>
                                        <p:cTn id="23" dur="1" fill="hold">
                                          <p:stCondLst>
                                            <p:cond delay="0"/>
                                          </p:stCondLst>
                                        </p:cTn>
                                        <p:tgtEl>
                                          <p:spTgt spid="648194">
                                            <p:txEl>
                                              <p:charRg st="104" end="126"/>
                                            </p:txEl>
                                          </p:spTgt>
                                        </p:tgtEl>
                                        <p:attrNameLst>
                                          <p:attrName>style.visibility</p:attrName>
                                        </p:attrNameLst>
                                      </p:cBhvr>
                                      <p:to>
                                        <p:strVal val="visible"/>
                                      </p:to>
                                    </p:set>
                                    <p:animEffect transition="in" filter="diamond(in)">
                                      <p:cBhvr>
                                        <p:cTn id="24" dur="2000"/>
                                        <p:tgtEl>
                                          <p:spTgt spid="648194">
                                            <p:txEl>
                                              <p:charRg st="104" end="12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48194">
                                            <p:txEl>
                                              <p:charRg st="126" end="150"/>
                                            </p:txEl>
                                          </p:spTgt>
                                        </p:tgtEl>
                                        <p:attrNameLst>
                                          <p:attrName>style.visibility</p:attrName>
                                        </p:attrNameLst>
                                      </p:cBhvr>
                                      <p:to>
                                        <p:strVal val="visible"/>
                                      </p:to>
                                    </p:set>
                                    <p:animEffect transition="in" filter="blinds(horizontal)">
                                      <p:cBhvr>
                                        <p:cTn id="29" dur="500"/>
                                        <p:tgtEl>
                                          <p:spTgt spid="648194">
                                            <p:txEl>
                                              <p:charRg st="126" end="1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9218" name="Rectangle 2"/>
          <p:cNvSpPr>
            <a:spLocks noGrp="1"/>
          </p:cNvSpPr>
          <p:nvPr>
            <p:ph/>
          </p:nvPr>
        </p:nvSpPr>
        <p:spPr>
          <a:xfrm>
            <a:off x="457200" y="274638"/>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预算定额的构成</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a:p>
            <a:pPr>
              <a:buNone/>
            </a:pPr>
            <a:r>
              <a:rPr lang="zh-CN" altLang="en-US" dirty="0">
                <a:ea typeface="宋体" panose="02010600030101010101" pitchFamily="2" charset="-122"/>
              </a:rPr>
              <a:t>新修订的通信建设工程概算、预算定额配套文件包括：</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①</a:t>
            </a:r>
            <a:r>
              <a:rPr lang="en-US" altLang="zh-CN" dirty="0">
                <a:ea typeface="宋体" panose="02010600030101010101" pitchFamily="2" charset="-122"/>
              </a:rPr>
              <a:t>《</a:t>
            </a:r>
            <a:r>
              <a:rPr lang="zh-CN" altLang="en-US" dirty="0">
                <a:ea typeface="宋体" panose="02010600030101010101" pitchFamily="2" charset="-122"/>
              </a:rPr>
              <a:t>通信建设工程概算、预算编制办法</a:t>
            </a:r>
            <a:r>
              <a:rPr lang="en-US" altLang="zh-CN" dirty="0">
                <a:ea typeface="宋体" panose="02010600030101010101" pitchFamily="2" charset="-122"/>
              </a:rPr>
              <a:t>》</a:t>
            </a:r>
            <a:endParaRPr lang="en-US" altLang="zh-CN" dirty="0">
              <a:ea typeface="宋体" panose="02010600030101010101" pitchFamily="2" charset="-122"/>
            </a:endParaRPr>
          </a:p>
          <a:p>
            <a:pPr>
              <a:lnSpc>
                <a:spcPct val="130000"/>
              </a:lnSpc>
              <a:buNone/>
            </a:pPr>
            <a:r>
              <a:rPr lang="en-US" altLang="zh-CN" dirty="0">
                <a:ea typeface="宋体" panose="02010600030101010101" pitchFamily="2" charset="-122"/>
              </a:rPr>
              <a:t>②《</a:t>
            </a:r>
            <a:r>
              <a:rPr lang="zh-CN" altLang="en-US" dirty="0">
                <a:ea typeface="宋体" panose="02010600030101010101" pitchFamily="2" charset="-122"/>
              </a:rPr>
              <a:t>通信建设工程费用定额</a:t>
            </a:r>
            <a:r>
              <a:rPr lang="en-US" altLang="zh-CN" dirty="0">
                <a:ea typeface="宋体" panose="02010600030101010101" pitchFamily="2" charset="-122"/>
              </a:rPr>
              <a:t>》</a:t>
            </a:r>
            <a:endParaRPr lang="en-US" altLang="zh-CN" dirty="0">
              <a:ea typeface="宋体" panose="02010600030101010101" pitchFamily="2" charset="-122"/>
            </a:endParaRPr>
          </a:p>
          <a:p>
            <a:pPr>
              <a:lnSpc>
                <a:spcPct val="130000"/>
              </a:lnSpc>
              <a:buNone/>
            </a:pPr>
            <a:r>
              <a:rPr lang="en-US" altLang="zh-CN" dirty="0">
                <a:ea typeface="宋体" panose="02010600030101010101" pitchFamily="2" charset="-122"/>
              </a:rPr>
              <a:t>③《</a:t>
            </a:r>
            <a:r>
              <a:rPr lang="zh-CN" altLang="en-US" dirty="0">
                <a:ea typeface="宋体" panose="02010600030101010101" pitchFamily="2" charset="-122"/>
              </a:rPr>
              <a:t>通信建设工程施工机械、仪器仪表台班定额</a:t>
            </a:r>
            <a:r>
              <a:rPr lang="en-US" altLang="zh-CN" dirty="0">
                <a:ea typeface="宋体" panose="02010600030101010101" pitchFamily="2" charset="-122"/>
              </a:rPr>
              <a:t>》</a:t>
            </a:r>
            <a:endParaRPr lang="en-US" altLang="zh-CN" dirty="0">
              <a:ea typeface="宋体" panose="02010600030101010101" pitchFamily="2" charset="-122"/>
            </a:endParaRPr>
          </a:p>
          <a:p>
            <a:pPr>
              <a:lnSpc>
                <a:spcPct val="130000"/>
              </a:lnSpc>
              <a:buNone/>
            </a:pPr>
            <a:r>
              <a:rPr lang="en-US" altLang="zh-CN" dirty="0">
                <a:ea typeface="宋体" panose="02010600030101010101" pitchFamily="2" charset="-122"/>
              </a:rPr>
              <a:t>④《</a:t>
            </a:r>
            <a:r>
              <a:rPr lang="zh-CN" altLang="en-US" dirty="0">
                <a:ea typeface="宋体" panose="02010600030101010101" pitchFamily="2" charset="-122"/>
              </a:rPr>
              <a:t>通信建设工程预算定额</a:t>
            </a:r>
            <a:r>
              <a:rPr lang="en-US" altLang="zh-CN" dirty="0">
                <a:ea typeface="宋体" panose="02010600030101010101" pitchFamily="2" charset="-122"/>
              </a:rPr>
              <a:t>》</a:t>
            </a:r>
            <a:r>
              <a:rPr lang="zh-CN" altLang="en-US" dirty="0">
                <a:ea typeface="宋体" panose="02010600030101010101" pitchFamily="2" charset="-122"/>
              </a:rPr>
              <a:t>（共五册：第一册通信电源设备安装工程、第二册有线通信设备安装工程、第三册无线通信设备安装工程、第四册通信线路工程、第五册通信管道工程）。 </a:t>
            </a:r>
            <a:endParaRPr lang="zh-CN" altLang="en-US" dirty="0">
              <a:ea typeface="宋体" panose="02010600030101010101" pitchFamily="2" charset="-122"/>
            </a:endParaRPr>
          </a:p>
        </p:txBody>
      </p:sp>
      <p:pic>
        <p:nvPicPr>
          <p:cNvPr id="31746"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49218">
                                            <p:txEl>
                                              <p:charRg st="11" end="36"/>
                                            </p:txEl>
                                          </p:spTgt>
                                        </p:tgtEl>
                                        <p:attrNameLst>
                                          <p:attrName>style.visibility</p:attrName>
                                        </p:attrNameLst>
                                      </p:cBhvr>
                                      <p:to>
                                        <p:strVal val="visible"/>
                                      </p:to>
                                    </p:set>
                                    <p:anim to="" calcmode="lin" valueType="num">
                                      <p:cBhvr>
                                        <p:cTn id="7" dur="1" fill="hold"/>
                                        <p:tgtEl>
                                          <p:spTgt spid="649218">
                                            <p:txEl>
                                              <p:charRg st="11" end="36"/>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49218">
                                            <p:txEl>
                                              <p:charRg st="36" end="55"/>
                                            </p:txEl>
                                          </p:spTgt>
                                        </p:tgtEl>
                                        <p:attrNameLst>
                                          <p:attrName>style.visibility</p:attrName>
                                        </p:attrNameLst>
                                      </p:cBhvr>
                                      <p:to>
                                        <p:strVal val="visible"/>
                                      </p:to>
                                    </p:set>
                                    <p:anim to="" calcmode="lin" valueType="num">
                                      <p:cBhvr>
                                        <p:cTn id="10" dur="1" fill="hold"/>
                                        <p:tgtEl>
                                          <p:spTgt spid="649218">
                                            <p:txEl>
                                              <p:charRg st="36" end="55"/>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49218">
                                            <p:txEl>
                                              <p:charRg st="55" end="69"/>
                                            </p:txEl>
                                          </p:spTgt>
                                        </p:tgtEl>
                                        <p:attrNameLst>
                                          <p:attrName>style.visibility</p:attrName>
                                        </p:attrNameLst>
                                      </p:cBhvr>
                                      <p:to>
                                        <p:strVal val="visible"/>
                                      </p:to>
                                    </p:set>
                                    <p:anim to="" calcmode="lin" valueType="num">
                                      <p:cBhvr>
                                        <p:cTn id="13" dur="1" fill="hold"/>
                                        <p:tgtEl>
                                          <p:spTgt spid="649218">
                                            <p:txEl>
                                              <p:charRg st="55" end="69"/>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649218">
                                            <p:txEl>
                                              <p:charRg st="69" end="92"/>
                                            </p:txEl>
                                          </p:spTgt>
                                        </p:tgtEl>
                                        <p:attrNameLst>
                                          <p:attrName>style.visibility</p:attrName>
                                        </p:attrNameLst>
                                      </p:cBhvr>
                                      <p:to>
                                        <p:strVal val="visible"/>
                                      </p:to>
                                    </p:set>
                                    <p:anim to="" calcmode="lin" valueType="num">
                                      <p:cBhvr>
                                        <p:cTn id="16" dur="1" fill="hold"/>
                                        <p:tgtEl>
                                          <p:spTgt spid="649218">
                                            <p:txEl>
                                              <p:charRg st="69" end="92"/>
                                            </p:txEl>
                                          </p:spTgt>
                                        </p:tgtEl>
                                        <p:attrNameLst>
                                          <p:attrName>style.visibility</p:attrName>
                                        </p:attrNameLst>
                                      </p:cBhvr>
                                    </p:anim>
                                  </p:childTnLst>
                                </p:cTn>
                              </p:par>
                              <p:par>
                                <p:cTn id="17" presetID="24" presetClass="entr" presetSubtype="0" fill="hold" nodeType="withEffect">
                                  <p:stCondLst>
                                    <p:cond delay="0"/>
                                  </p:stCondLst>
                                  <p:childTnLst>
                                    <p:set>
                                      <p:cBhvr>
                                        <p:cTn id="18" dur="1" fill="hold">
                                          <p:stCondLst>
                                            <p:cond delay="0"/>
                                          </p:stCondLst>
                                        </p:cTn>
                                        <p:tgtEl>
                                          <p:spTgt spid="649218">
                                            <p:txEl>
                                              <p:charRg st="92" end="175"/>
                                            </p:txEl>
                                          </p:spTgt>
                                        </p:tgtEl>
                                        <p:attrNameLst>
                                          <p:attrName>style.visibility</p:attrName>
                                        </p:attrNameLst>
                                      </p:cBhvr>
                                      <p:to>
                                        <p:strVal val="visible"/>
                                      </p:to>
                                    </p:set>
                                    <p:anim to="" calcmode="lin" valueType="num">
                                      <p:cBhvr>
                                        <p:cTn id="19" dur="1" fill="hold"/>
                                        <p:tgtEl>
                                          <p:spTgt spid="649218">
                                            <p:txEl>
                                              <p:charRg st="92" end="175"/>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0242" name="AutoShape 2"/>
          <p:cNvSpPr>
            <a:spLocks noChangeArrowheads="1"/>
          </p:cNvSpPr>
          <p:nvPr/>
        </p:nvSpPr>
        <p:spPr bwMode="auto">
          <a:xfrm>
            <a:off x="5651500" y="3068638"/>
            <a:ext cx="3168650" cy="1152525"/>
          </a:xfrm>
          <a:prstGeom prst="cloudCallout">
            <a:avLst>
              <a:gd name="adj1" fmla="val -13625"/>
              <a:gd name="adj2" fmla="val -109778"/>
            </a:avLst>
          </a:prstGeom>
          <a:noFill/>
          <a:ln w="9525">
            <a:solidFill>
              <a:srgbClr val="CC3300"/>
            </a:solidFill>
            <a:round/>
          </a:ln>
          <a:extLst>
            <a:ext uri="{909E8E84-426E-40DD-AFC4-6F175D3DCCD1}">
              <a14:hiddenFill xmlns:a14="http://schemas.microsoft.com/office/drawing/2010/main">
                <a:solidFill>
                  <a:srgbClr val="FFCC99"/>
                </a:solidFill>
              </a14:hiddenFill>
            </a:ext>
          </a:extLst>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50243" name="AutoShape 3"/>
          <p:cNvSpPr>
            <a:spLocks noChangeArrowheads="1"/>
          </p:cNvSpPr>
          <p:nvPr/>
        </p:nvSpPr>
        <p:spPr bwMode="auto">
          <a:xfrm>
            <a:off x="2268538" y="3789363"/>
            <a:ext cx="2592388" cy="1079500"/>
          </a:xfrm>
          <a:prstGeom prst="cloudCallout">
            <a:avLst>
              <a:gd name="adj1" fmla="val 37569"/>
              <a:gd name="adj2" fmla="val -183972"/>
            </a:avLst>
          </a:prstGeom>
          <a:noFill/>
          <a:ln w="9525">
            <a:solidFill>
              <a:srgbClr val="008000"/>
            </a:solidFill>
            <a:round/>
          </a:ln>
          <a:extLst>
            <a:ext uri="{909E8E84-426E-40DD-AFC4-6F175D3DCCD1}">
              <a14:hiddenFill xmlns:a14="http://schemas.microsoft.com/office/drawing/2010/main">
                <a:solidFill>
                  <a:srgbClr val="008000"/>
                </a:solidFill>
              </a14:hiddenFill>
            </a:ext>
          </a:extLst>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50244" name="AutoShape 4"/>
          <p:cNvSpPr>
            <a:spLocks noChangeArrowheads="1"/>
          </p:cNvSpPr>
          <p:nvPr/>
        </p:nvSpPr>
        <p:spPr bwMode="auto">
          <a:xfrm>
            <a:off x="539750" y="2997200"/>
            <a:ext cx="2447925" cy="863600"/>
          </a:xfrm>
          <a:prstGeom prst="cloudCallout">
            <a:avLst>
              <a:gd name="adj1" fmla="val 52204"/>
              <a:gd name="adj2" fmla="val -121324"/>
            </a:avLst>
          </a:prstGeom>
          <a:noFill/>
          <a:ln w="9525">
            <a:solidFill>
              <a:srgbClr val="9933FF"/>
            </a:solidFill>
            <a:round/>
          </a:ln>
          <a:extLst>
            <a:ext uri="{909E8E84-426E-40DD-AFC4-6F175D3DCCD1}">
              <a14:hiddenFill xmlns:a14="http://schemas.microsoft.com/office/drawing/2010/main">
                <a:solidFill>
                  <a:srgbClr val="00CC99"/>
                </a:solidFill>
              </a14:hiddenFill>
            </a:ext>
          </a:extLst>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50245" name="Rectangle 5"/>
          <p:cNvSpPr>
            <a:spLocks noGrp="1"/>
          </p:cNvSpPr>
          <p:nvPr>
            <p:ph/>
          </p:nvPr>
        </p:nvSpPr>
        <p:spPr>
          <a:xfrm>
            <a:off x="395288" y="333375"/>
            <a:ext cx="8362950" cy="2159000"/>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3 </a:t>
            </a:r>
            <a:r>
              <a:rPr lang="zh-CN" altLang="en-US" sz="3200" dirty="0">
                <a:solidFill>
                  <a:srgbClr val="000099"/>
                </a:solidFill>
                <a:latin typeface="黑体" panose="02010609060101010101" pitchFamily="49" charset="-122"/>
                <a:ea typeface="黑体" panose="02010609060101010101" pitchFamily="49" charset="-122"/>
              </a:rPr>
              <a:t>现行通信建设工程预算定额编制原则</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a:p>
            <a:pPr>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）贯彻关于修编通信建设工程预算定额的相关政策精神</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）贯彻执行“</a:t>
            </a:r>
            <a:r>
              <a:rPr lang="zh-CN" altLang="en-US" dirty="0">
                <a:solidFill>
                  <a:srgbClr val="9933FF"/>
                </a:solidFill>
                <a:ea typeface="华文隶书" panose="02010800040101010101" pitchFamily="2" charset="-122"/>
              </a:rPr>
              <a:t>控制量</a:t>
            </a:r>
            <a:r>
              <a:rPr lang="zh-CN" altLang="en-US" dirty="0">
                <a:ea typeface="宋体" panose="02010600030101010101" pitchFamily="2" charset="-122"/>
              </a:rPr>
              <a:t>”、“</a:t>
            </a:r>
            <a:r>
              <a:rPr lang="zh-CN" altLang="en-US" dirty="0">
                <a:solidFill>
                  <a:srgbClr val="008000"/>
                </a:solidFill>
                <a:ea typeface="华文隶书" panose="02010800040101010101" pitchFamily="2" charset="-122"/>
              </a:rPr>
              <a:t>量价分离</a:t>
            </a:r>
            <a:r>
              <a:rPr lang="zh-CN" altLang="en-US" dirty="0">
                <a:ea typeface="宋体" panose="02010600030101010101" pitchFamily="2" charset="-122"/>
              </a:rPr>
              <a:t>”、“</a:t>
            </a:r>
            <a:r>
              <a:rPr lang="zh-CN" altLang="en-US" dirty="0">
                <a:solidFill>
                  <a:srgbClr val="CC3300"/>
                </a:solidFill>
                <a:ea typeface="华文隶书" panose="02010800040101010101" pitchFamily="2" charset="-122"/>
              </a:rPr>
              <a:t>技普分开</a:t>
            </a:r>
            <a:r>
              <a:rPr lang="zh-CN" altLang="en-US" dirty="0">
                <a:ea typeface="宋体" panose="02010600030101010101" pitchFamily="2" charset="-122"/>
              </a:rPr>
              <a:t>”的原则</a:t>
            </a:r>
            <a:endParaRPr lang="zh-CN" altLang="en-US" sz="2000" dirty="0">
              <a:solidFill>
                <a:schemeClr val="tx1"/>
              </a:solidFill>
              <a:latin typeface="华文细黑" panose="02010600040101010101" pitchFamily="2" charset="-122"/>
              <a:ea typeface="华文细黑" panose="02010600040101010101" pitchFamily="2" charset="-122"/>
            </a:endParaRPr>
          </a:p>
        </p:txBody>
      </p:sp>
      <p:sp>
        <p:nvSpPr>
          <p:cNvPr id="650246" name="Rectangle 6"/>
          <p:cNvSpPr/>
          <p:nvPr/>
        </p:nvSpPr>
        <p:spPr>
          <a:xfrm>
            <a:off x="1187450" y="5229225"/>
            <a:ext cx="6264275" cy="604838"/>
          </a:xfrm>
          <a:prstGeom prst="rect">
            <a:avLst/>
          </a:prstGeom>
          <a:noFill/>
          <a:ln w="9525">
            <a:noFill/>
          </a:ln>
        </p:spPr>
        <p:txBody>
          <a:bodyPr anchor="t" anchorCtr="0">
            <a:spAutoFit/>
          </a:bodyPr>
          <a:p>
            <a:pPr>
              <a:spcBef>
                <a:spcPct val="10000"/>
              </a:spcBef>
            </a:pPr>
            <a:r>
              <a:rPr lang="zh-CN" altLang="en-US" sz="1600" dirty="0">
                <a:solidFill>
                  <a:schemeClr val="tx1"/>
                </a:solidFill>
                <a:latin typeface="Arial" panose="020B0604020202020204" pitchFamily="34" charset="0"/>
                <a:ea typeface="宋体" panose="02010600030101010101" pitchFamily="2" charset="-122"/>
              </a:rPr>
              <a:t>       </a:t>
            </a:r>
            <a:r>
              <a:rPr lang="zh-CN" altLang="en-US" sz="1600" dirty="0">
                <a:solidFill>
                  <a:schemeClr val="tx1"/>
                </a:solidFill>
                <a:latin typeface="华文细黑" panose="02010600040101010101" pitchFamily="2" charset="-122"/>
                <a:ea typeface="华文细黑" panose="02010600040101010101" pitchFamily="2" charset="-122"/>
              </a:rPr>
              <a:t>通信设备安装工程：只有技工工日。</a:t>
            </a:r>
            <a:endParaRPr lang="zh-CN" altLang="en-US" sz="1600" dirty="0">
              <a:solidFill>
                <a:schemeClr val="tx1"/>
              </a:solidFill>
              <a:latin typeface="华文细黑" panose="02010600040101010101" pitchFamily="2" charset="-122"/>
              <a:ea typeface="华文细黑" panose="02010600040101010101" pitchFamily="2" charset="-122"/>
            </a:endParaRPr>
          </a:p>
          <a:p>
            <a:pPr>
              <a:spcBef>
                <a:spcPct val="10000"/>
              </a:spcBef>
            </a:pPr>
            <a:r>
              <a:rPr lang="zh-CN" altLang="en-US" sz="1600" dirty="0">
                <a:solidFill>
                  <a:schemeClr val="tx1"/>
                </a:solidFill>
                <a:latin typeface="华文细黑" panose="02010600040101010101" pitchFamily="2" charset="-122"/>
                <a:ea typeface="华文细黑" panose="02010600040101010101" pitchFamily="2" charset="-122"/>
              </a:rPr>
              <a:t>        通信线路和通信管道工程：按技工工日和普工工日计取。</a:t>
            </a:r>
            <a:endParaRPr lang="zh-CN" altLang="en-US" sz="1600" dirty="0">
              <a:solidFill>
                <a:schemeClr val="tx1"/>
              </a:solidFill>
              <a:latin typeface="华文细黑" panose="02010600040101010101" pitchFamily="2" charset="-122"/>
              <a:ea typeface="华文细黑" panose="02010600040101010101" pitchFamily="2" charset="-122"/>
            </a:endParaRPr>
          </a:p>
        </p:txBody>
      </p:sp>
      <p:sp>
        <p:nvSpPr>
          <p:cNvPr id="650247" name="Rectangle 7"/>
          <p:cNvSpPr/>
          <p:nvPr/>
        </p:nvSpPr>
        <p:spPr>
          <a:xfrm>
            <a:off x="904875" y="3068638"/>
            <a:ext cx="1784350" cy="668337"/>
          </a:xfrm>
          <a:prstGeom prst="rect">
            <a:avLst/>
          </a:prstGeom>
          <a:noFill/>
          <a:ln w="9525">
            <a:noFill/>
          </a:ln>
        </p:spPr>
        <p:txBody>
          <a:bodyPr wrap="none" anchor="t" anchorCtr="0">
            <a:spAutoFit/>
          </a:bodyPr>
          <a:p>
            <a:pPr algn="ctr">
              <a:spcBef>
                <a:spcPct val="10000"/>
              </a:spcBef>
            </a:pPr>
            <a:r>
              <a:rPr lang="zh-CN" altLang="en-US" sz="1800" b="0" dirty="0">
                <a:solidFill>
                  <a:schemeClr val="tx1"/>
                </a:solidFill>
                <a:latin typeface="Arial" panose="020B0604020202020204" pitchFamily="34" charset="0"/>
                <a:ea typeface="楷体_GB2312" pitchFamily="49" charset="-122"/>
              </a:rPr>
              <a:t>预算定额中的</a:t>
            </a:r>
            <a:endParaRPr lang="zh-CN" altLang="en-US" sz="1800" b="0" dirty="0">
              <a:solidFill>
                <a:schemeClr val="tx1"/>
              </a:solidFill>
              <a:latin typeface="Arial" panose="020B0604020202020204" pitchFamily="34" charset="0"/>
              <a:ea typeface="楷体_GB2312" pitchFamily="49" charset="-122"/>
            </a:endParaRPr>
          </a:p>
          <a:p>
            <a:pPr algn="ctr">
              <a:spcBef>
                <a:spcPct val="10000"/>
              </a:spcBef>
            </a:pPr>
            <a:r>
              <a:rPr lang="zh-CN" altLang="en-US" sz="1800" b="0" dirty="0">
                <a:solidFill>
                  <a:schemeClr val="tx1"/>
                </a:solidFill>
                <a:latin typeface="Arial" panose="020B0604020202020204" pitchFamily="34" charset="0"/>
                <a:ea typeface="楷体_GB2312" pitchFamily="49" charset="-122"/>
              </a:rPr>
              <a:t>消耗量是法定的</a:t>
            </a:r>
            <a:endParaRPr lang="zh-CN" altLang="en-US" sz="1800" b="0" dirty="0">
              <a:solidFill>
                <a:schemeClr val="tx1"/>
              </a:solidFill>
              <a:latin typeface="Arial" panose="020B0604020202020204" pitchFamily="34" charset="0"/>
              <a:ea typeface="楷体_GB2312" pitchFamily="49" charset="-122"/>
            </a:endParaRPr>
          </a:p>
        </p:txBody>
      </p:sp>
      <p:sp>
        <p:nvSpPr>
          <p:cNvPr id="650248" name="Rectangle 8"/>
          <p:cNvSpPr/>
          <p:nvPr/>
        </p:nvSpPr>
        <p:spPr>
          <a:xfrm>
            <a:off x="2473325" y="3933825"/>
            <a:ext cx="2241550" cy="668338"/>
          </a:xfrm>
          <a:prstGeom prst="rect">
            <a:avLst/>
          </a:prstGeom>
          <a:noFill/>
          <a:ln w="9525">
            <a:noFill/>
          </a:ln>
        </p:spPr>
        <p:txBody>
          <a:bodyPr wrap="none" anchor="t" anchorCtr="0">
            <a:spAutoFit/>
          </a:bodyPr>
          <a:p>
            <a:pPr algn="ctr">
              <a:spcBef>
                <a:spcPct val="10000"/>
              </a:spcBef>
            </a:pPr>
            <a:r>
              <a:rPr lang="zh-CN" altLang="en-US" sz="1800" b="0" dirty="0">
                <a:solidFill>
                  <a:schemeClr val="tx1"/>
                </a:solidFill>
                <a:latin typeface="Arial" panose="020B0604020202020204" pitchFamily="34" charset="0"/>
                <a:ea typeface="楷体_GB2312" pitchFamily="49" charset="-122"/>
              </a:rPr>
              <a:t>预算定额只反映</a:t>
            </a:r>
            <a:endParaRPr lang="zh-CN" altLang="en-US" sz="1800" b="0" dirty="0">
              <a:solidFill>
                <a:schemeClr val="tx1"/>
              </a:solidFill>
              <a:latin typeface="Arial" panose="020B0604020202020204" pitchFamily="34" charset="0"/>
              <a:ea typeface="楷体_GB2312" pitchFamily="49" charset="-122"/>
            </a:endParaRPr>
          </a:p>
          <a:p>
            <a:pPr algn="ctr">
              <a:spcBef>
                <a:spcPct val="10000"/>
              </a:spcBef>
            </a:pPr>
            <a:r>
              <a:rPr lang="zh-CN" altLang="en-US" sz="1800" b="0" dirty="0">
                <a:solidFill>
                  <a:schemeClr val="tx1"/>
                </a:solidFill>
                <a:latin typeface="Arial" panose="020B0604020202020204" pitchFamily="34" charset="0"/>
                <a:ea typeface="楷体_GB2312" pitchFamily="49" charset="-122"/>
              </a:rPr>
              <a:t>消耗量，不反映单价</a:t>
            </a:r>
            <a:endParaRPr lang="zh-CN" altLang="en-US" b="0" dirty="0">
              <a:solidFill>
                <a:srgbClr val="660033"/>
              </a:solidFill>
              <a:latin typeface="Arial" panose="020B0604020202020204" pitchFamily="34" charset="0"/>
              <a:ea typeface="宋体" panose="02010600030101010101" pitchFamily="2" charset="-122"/>
            </a:endParaRPr>
          </a:p>
        </p:txBody>
      </p:sp>
      <p:sp>
        <p:nvSpPr>
          <p:cNvPr id="650249" name="Rectangle 9"/>
          <p:cNvSpPr/>
          <p:nvPr/>
        </p:nvSpPr>
        <p:spPr>
          <a:xfrm>
            <a:off x="5818188" y="3214688"/>
            <a:ext cx="2927350" cy="668337"/>
          </a:xfrm>
          <a:prstGeom prst="rect">
            <a:avLst/>
          </a:prstGeom>
          <a:noFill/>
          <a:ln w="9525">
            <a:noFill/>
          </a:ln>
        </p:spPr>
        <p:txBody>
          <a:bodyPr wrap="none" anchor="t" anchorCtr="0">
            <a:spAutoFit/>
          </a:bodyPr>
          <a:p>
            <a:pPr algn="ctr">
              <a:spcBef>
                <a:spcPct val="10000"/>
              </a:spcBef>
            </a:pPr>
            <a:r>
              <a:rPr lang="zh-CN" altLang="en-US" sz="1800" b="0" dirty="0">
                <a:solidFill>
                  <a:schemeClr val="tx1"/>
                </a:solidFill>
                <a:latin typeface="Arial" panose="020B0604020202020204" pitchFamily="34" charset="0"/>
                <a:ea typeface="楷体_GB2312" pitchFamily="49" charset="-122"/>
              </a:rPr>
              <a:t>技工操作的工序计取技工</a:t>
            </a:r>
            <a:endParaRPr lang="zh-CN" altLang="en-US" sz="1800" b="0" dirty="0">
              <a:solidFill>
                <a:schemeClr val="tx1"/>
              </a:solidFill>
              <a:latin typeface="Arial" panose="020B0604020202020204" pitchFamily="34" charset="0"/>
              <a:ea typeface="楷体_GB2312" pitchFamily="49" charset="-122"/>
            </a:endParaRPr>
          </a:p>
          <a:p>
            <a:pPr algn="ctr">
              <a:spcBef>
                <a:spcPct val="10000"/>
              </a:spcBef>
            </a:pPr>
            <a:r>
              <a:rPr lang="zh-CN" altLang="en-US" sz="1800" b="0" dirty="0">
                <a:solidFill>
                  <a:schemeClr val="tx1"/>
                </a:solidFill>
                <a:latin typeface="Arial" panose="020B0604020202020204" pitchFamily="34" charset="0"/>
                <a:ea typeface="楷体_GB2312" pitchFamily="49" charset="-122"/>
              </a:rPr>
              <a:t>非技工操作工序按普工计取</a:t>
            </a:r>
            <a:endParaRPr lang="zh-CN" altLang="en-US" sz="1800" b="0" dirty="0">
              <a:solidFill>
                <a:schemeClr val="tx1"/>
              </a:solidFill>
              <a:latin typeface="Arial" panose="020B0604020202020204" pitchFamily="34" charset="0"/>
              <a:ea typeface="楷体_GB2312" pitchFamily="49" charset="-122"/>
            </a:endParaRPr>
          </a:p>
        </p:txBody>
      </p:sp>
      <p:sp>
        <p:nvSpPr>
          <p:cNvPr id="650250" name="AutoShape 10"/>
          <p:cNvSpPr/>
          <p:nvPr/>
        </p:nvSpPr>
        <p:spPr>
          <a:xfrm>
            <a:off x="1258888" y="5229225"/>
            <a:ext cx="323850" cy="433388"/>
          </a:xfrm>
          <a:prstGeom prst="star4">
            <a:avLst>
              <a:gd name="adj" fmla="val 12500"/>
            </a:avLst>
          </a:prstGeom>
          <a:solidFill>
            <a:srgbClr val="FF6600"/>
          </a:solidFill>
          <a:ln w="9525">
            <a:noFill/>
          </a:ln>
        </p:spPr>
        <p:txBody>
          <a:bodyPr anchor="ctr" anchorCtr="0">
            <a:spAutoFit/>
          </a:bodyPr>
          <a:p>
            <a:pPr>
              <a:spcBef>
                <a:spcPct val="50000"/>
              </a:spcBef>
            </a:pP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0245">
                                            <p:txEl>
                                              <p:charRg st="20" end="47"/>
                                            </p:txEl>
                                          </p:spTgt>
                                        </p:tgtEl>
                                        <p:attrNameLst>
                                          <p:attrName>style.visibility</p:attrName>
                                        </p:attrNameLst>
                                      </p:cBhvr>
                                      <p:to>
                                        <p:strVal val="visible"/>
                                      </p:to>
                                    </p:set>
                                    <p:animEffect transition="in" filter="blinds(horizontal)">
                                      <p:cBhvr>
                                        <p:cTn id="7" dur="500"/>
                                        <p:tgtEl>
                                          <p:spTgt spid="650245">
                                            <p:txEl>
                                              <p:charRg st="20" end="4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9" presetClass="entr" presetSubtype="0" accel="100000" fill="hold" nodeType="clickEffect">
                                  <p:stCondLst>
                                    <p:cond delay="0"/>
                                  </p:stCondLst>
                                  <p:childTnLst>
                                    <p:set>
                                      <p:cBhvr>
                                        <p:cTn id="11" dur="1" fill="hold">
                                          <p:stCondLst>
                                            <p:cond delay="0"/>
                                          </p:stCondLst>
                                        </p:cTn>
                                        <p:tgtEl>
                                          <p:spTgt spid="650245">
                                            <p:txEl>
                                              <p:charRg st="47" end="77"/>
                                            </p:txEl>
                                          </p:spTgt>
                                        </p:tgtEl>
                                        <p:attrNameLst>
                                          <p:attrName>style.visibility</p:attrName>
                                        </p:attrNameLst>
                                      </p:cBhvr>
                                      <p:to>
                                        <p:strVal val="visible"/>
                                      </p:to>
                                    </p:set>
                                    <p:anim calcmode="lin" valueType="num">
                                      <p:cBhvr>
                                        <p:cTn id="12" dur="500" fill="hold"/>
                                        <p:tgtEl>
                                          <p:spTgt spid="650245">
                                            <p:txEl>
                                              <p:charRg st="47" end="77"/>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3" dur="500" fill="hold"/>
                                        <p:tgtEl>
                                          <p:spTgt spid="650245">
                                            <p:txEl>
                                              <p:charRg st="47" end="77"/>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4" dur="500" fill="hold"/>
                                        <p:tgtEl>
                                          <p:spTgt spid="650245">
                                            <p:txEl>
                                              <p:charRg st="47" end="77"/>
                                            </p:txEl>
                                          </p:spTgt>
                                        </p:tgtEl>
                                        <p:attrNameLst>
                                          <p:attrName>ppt_x</p:attrName>
                                        </p:attrNameLst>
                                      </p:cBhvr>
                                      <p:tavLst>
                                        <p:tav tm="0">
                                          <p:val>
                                            <p:strVal val="#ppt_x-.3"/>
                                          </p:val>
                                        </p:tav>
                                        <p:tav tm="50000">
                                          <p:val>
                                            <p:strVal val="#ppt_x"/>
                                          </p:val>
                                        </p:tav>
                                        <p:tav tm="100000">
                                          <p:val>
                                            <p:strVal val="#ppt_x"/>
                                          </p:val>
                                        </p:tav>
                                      </p:tavLst>
                                    </p:anim>
                                    <p:anim calcmode="lin" valueType="num">
                                      <p:cBhvr>
                                        <p:cTn id="15" dur="500" fill="hold"/>
                                        <p:tgtEl>
                                          <p:spTgt spid="650245">
                                            <p:txEl>
                                              <p:charRg st="47" end="77"/>
                                            </p:txEl>
                                          </p:spTgt>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650244"/>
                                        </p:tgtEl>
                                        <p:attrNameLst>
                                          <p:attrName>style.visibility</p:attrName>
                                        </p:attrNameLst>
                                      </p:cBhvr>
                                      <p:to>
                                        <p:strVal val="visible"/>
                                      </p:to>
                                    </p:set>
                                    <p:animEffect transition="in" filter="slide(fromBottom)">
                                      <p:cBhvr>
                                        <p:cTn id="20" dur="500"/>
                                        <p:tgtEl>
                                          <p:spTgt spid="650244"/>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650247"/>
                                        </p:tgtEl>
                                        <p:attrNameLst>
                                          <p:attrName>style.visibility</p:attrName>
                                        </p:attrNameLst>
                                      </p:cBhvr>
                                      <p:to>
                                        <p:strVal val="visible"/>
                                      </p:to>
                                    </p:set>
                                    <p:animEffect transition="in" filter="slide(fromBottom)">
                                      <p:cBhvr>
                                        <p:cTn id="23" dur="500"/>
                                        <p:tgtEl>
                                          <p:spTgt spid="650247"/>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650243"/>
                                        </p:tgtEl>
                                        <p:attrNameLst>
                                          <p:attrName>style.visibility</p:attrName>
                                        </p:attrNameLst>
                                      </p:cBhvr>
                                      <p:to>
                                        <p:strVal val="visible"/>
                                      </p:to>
                                    </p:set>
                                    <p:animEffect transition="in" filter="slide(fromBottom)">
                                      <p:cBhvr>
                                        <p:cTn id="28" dur="500"/>
                                        <p:tgtEl>
                                          <p:spTgt spid="650243"/>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650248"/>
                                        </p:tgtEl>
                                        <p:attrNameLst>
                                          <p:attrName>style.visibility</p:attrName>
                                        </p:attrNameLst>
                                      </p:cBhvr>
                                      <p:to>
                                        <p:strVal val="visible"/>
                                      </p:to>
                                    </p:set>
                                    <p:animEffect transition="in" filter="slide(fromBottom)">
                                      <p:cBhvr>
                                        <p:cTn id="31" dur="500"/>
                                        <p:tgtEl>
                                          <p:spTgt spid="650248"/>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650242"/>
                                        </p:tgtEl>
                                        <p:attrNameLst>
                                          <p:attrName>style.visibility</p:attrName>
                                        </p:attrNameLst>
                                      </p:cBhvr>
                                      <p:to>
                                        <p:strVal val="visible"/>
                                      </p:to>
                                    </p:set>
                                    <p:animEffect transition="in" filter="slide(fromBottom)">
                                      <p:cBhvr>
                                        <p:cTn id="36" dur="500"/>
                                        <p:tgtEl>
                                          <p:spTgt spid="650242"/>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650249"/>
                                        </p:tgtEl>
                                        <p:attrNameLst>
                                          <p:attrName>style.visibility</p:attrName>
                                        </p:attrNameLst>
                                      </p:cBhvr>
                                      <p:to>
                                        <p:strVal val="visible"/>
                                      </p:to>
                                    </p:set>
                                    <p:animEffect transition="in" filter="slide(fromBottom)">
                                      <p:cBhvr>
                                        <p:cTn id="39" dur="500"/>
                                        <p:tgtEl>
                                          <p:spTgt spid="650249"/>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650246"/>
                                        </p:tgtEl>
                                        <p:attrNameLst>
                                          <p:attrName>style.visibility</p:attrName>
                                        </p:attrNameLst>
                                      </p:cBhvr>
                                      <p:to>
                                        <p:strVal val="visible"/>
                                      </p:to>
                                    </p:set>
                                    <p:anim calcmode="lin" valueType="num">
                                      <p:cBhvr additive="base">
                                        <p:cTn id="44" dur="500" fill="hold"/>
                                        <p:tgtEl>
                                          <p:spTgt spid="650246"/>
                                        </p:tgtEl>
                                        <p:attrNameLst>
                                          <p:attrName>ppt_x</p:attrName>
                                        </p:attrNameLst>
                                      </p:cBhvr>
                                      <p:tavLst>
                                        <p:tav tm="0">
                                          <p:val>
                                            <p:strVal val="#ppt_x"/>
                                          </p:val>
                                        </p:tav>
                                        <p:tav tm="100000">
                                          <p:val>
                                            <p:strVal val="#ppt_x"/>
                                          </p:val>
                                        </p:tav>
                                      </p:tavLst>
                                    </p:anim>
                                    <p:anim calcmode="lin" valueType="num">
                                      <p:cBhvr additive="base">
                                        <p:cTn id="45" dur="500" fill="hold"/>
                                        <p:tgtEl>
                                          <p:spTgt spid="650246"/>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650250"/>
                                        </p:tgtEl>
                                        <p:attrNameLst>
                                          <p:attrName>style.visibility</p:attrName>
                                        </p:attrNameLst>
                                      </p:cBhvr>
                                      <p:to>
                                        <p:strVal val="visible"/>
                                      </p:to>
                                    </p:set>
                                    <p:anim calcmode="lin" valueType="num">
                                      <p:cBhvr additive="base">
                                        <p:cTn id="48" dur="500" fill="hold"/>
                                        <p:tgtEl>
                                          <p:spTgt spid="650250"/>
                                        </p:tgtEl>
                                        <p:attrNameLst>
                                          <p:attrName>ppt_x</p:attrName>
                                        </p:attrNameLst>
                                      </p:cBhvr>
                                      <p:tavLst>
                                        <p:tav tm="0">
                                          <p:val>
                                            <p:strVal val="#ppt_x"/>
                                          </p:val>
                                        </p:tav>
                                        <p:tav tm="100000">
                                          <p:val>
                                            <p:strVal val="#ppt_x"/>
                                          </p:val>
                                        </p:tav>
                                      </p:tavLst>
                                    </p:anim>
                                    <p:anim calcmode="lin" valueType="num">
                                      <p:cBhvr additive="base">
                                        <p:cTn id="49" dur="500" fill="hold"/>
                                        <p:tgtEl>
                                          <p:spTgt spid="6502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0242" grpId="0" animBg="1"/>
      <p:bldP spid="650243" grpId="0" animBg="1"/>
      <p:bldP spid="650244" grpId="0" animBg="1"/>
      <p:bldP spid="650246" grpId="0"/>
      <p:bldP spid="650247" grpId="0"/>
      <p:bldP spid="650248" grpId="0"/>
      <p:bldP spid="650249" grpId="0"/>
      <p:bldP spid="65025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Rectangle 2"/>
          <p:cNvSpPr>
            <a:spLocks noGrp="1"/>
          </p:cNvSpPr>
          <p:nvPr>
            <p:ph/>
          </p:nvPr>
        </p:nvSpPr>
        <p:spPr>
          <a:xfrm>
            <a:off x="468313" y="260350"/>
            <a:ext cx="8229600" cy="633413"/>
          </a:xfrm>
          <a:noFill/>
          <a:ln>
            <a:noFill/>
          </a:ln>
        </p:spPr>
        <p:txBody>
          <a:bodyPr anchor="t" anchorCtr="0"/>
          <a:p>
            <a:pPr>
              <a:lnSpc>
                <a:spcPct val="130000"/>
              </a:lnSpc>
              <a:buNone/>
            </a:pPr>
            <a:endParaRPr lang="zh-CN" altLang="en-US" dirty="0">
              <a:ea typeface="宋体" panose="02010600030101010101" pitchFamily="2" charset="-122"/>
            </a:endParaRPr>
          </a:p>
          <a:p>
            <a:pPr>
              <a:lnSpc>
                <a:spcPct val="130000"/>
              </a:lnSpc>
              <a:buNone/>
            </a:pPr>
            <a:endParaRPr lang="zh-CN" altLang="en-US" dirty="0">
              <a:ea typeface="宋体" panose="02010600030101010101" pitchFamily="2" charset="-122"/>
            </a:endParaRPr>
          </a:p>
          <a:p>
            <a:pPr>
              <a:lnSpc>
                <a:spcPct val="130000"/>
              </a:lnSpc>
              <a:buNone/>
            </a:pPr>
            <a:endParaRPr lang="zh-CN" altLang="en-US" dirty="0">
              <a:ea typeface="宋体" panose="02010600030101010101" pitchFamily="2" charset="-122"/>
            </a:endParaRPr>
          </a:p>
          <a:p>
            <a:pPr>
              <a:lnSpc>
                <a:spcPct val="130000"/>
              </a:lnSpc>
              <a:buNone/>
            </a:pPr>
            <a:endParaRPr lang="zh-CN" altLang="en-US" dirty="0">
              <a:ea typeface="宋体" panose="02010600030101010101" pitchFamily="2" charset="-122"/>
            </a:endParaRPr>
          </a:p>
          <a:p>
            <a:pPr>
              <a:lnSpc>
                <a:spcPct val="130000"/>
              </a:lnSpc>
              <a:buNone/>
            </a:pPr>
            <a:endParaRPr lang="zh-CN" altLang="en-US" dirty="0">
              <a:ea typeface="宋体" panose="02010600030101010101" pitchFamily="2" charset="-122"/>
            </a:endParaRPr>
          </a:p>
        </p:txBody>
      </p:sp>
      <p:sp>
        <p:nvSpPr>
          <p:cNvPr id="651267" name="Rectangle 3"/>
          <p:cNvSpPr/>
          <p:nvPr/>
        </p:nvSpPr>
        <p:spPr>
          <a:xfrm>
            <a:off x="611188" y="476250"/>
            <a:ext cx="8064500" cy="2647950"/>
          </a:xfrm>
          <a:prstGeom prst="rect">
            <a:avLst/>
          </a:prstGeom>
          <a:noFill/>
          <a:ln w="9525">
            <a:noFill/>
          </a:ln>
        </p:spPr>
        <p:txBody>
          <a:bodyPr anchor="t" anchorCtr="0">
            <a:spAutoFit/>
          </a:bodyPr>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）预算定额子目编号规则 </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预算定额子目编号由三部分组成：</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第一部分为汉语拼音缩写，表示预算定额的名称；</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第二部分为一位阿拉伯数字，表示所在章内的章号；</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第三部分为三位阿拉伯数字，表示在章内的序号。</a:t>
            </a:r>
            <a:endParaRPr lang="zh-CN" altLang="en-US" sz="2400" dirty="0">
              <a:solidFill>
                <a:srgbClr val="336699"/>
              </a:solidFill>
              <a:latin typeface="Arial" panose="020B0604020202020204" pitchFamily="34" charset="0"/>
              <a:ea typeface="宋体" panose="02010600030101010101" pitchFamily="2" charset="-122"/>
            </a:endParaRPr>
          </a:p>
        </p:txBody>
      </p:sp>
      <p:pic>
        <p:nvPicPr>
          <p:cNvPr id="651268" name="Picture 4"/>
          <p:cNvPicPr>
            <a:picLocks noChangeAspect="1"/>
          </p:cNvPicPr>
          <p:nvPr/>
        </p:nvPicPr>
        <p:blipFill>
          <a:blip r:embed="rId1"/>
          <a:stretch>
            <a:fillRect/>
          </a:stretch>
        </p:blipFill>
        <p:spPr>
          <a:xfrm>
            <a:off x="395288" y="3500438"/>
            <a:ext cx="3889375" cy="1763712"/>
          </a:xfrm>
          <a:prstGeom prst="rect">
            <a:avLst/>
          </a:prstGeom>
          <a:noFill/>
          <a:ln w="9525">
            <a:noFill/>
          </a:ln>
        </p:spPr>
      </p:pic>
      <p:pic>
        <p:nvPicPr>
          <p:cNvPr id="651269" name="Picture 5"/>
          <p:cNvPicPr>
            <a:picLocks noChangeAspect="1"/>
          </p:cNvPicPr>
          <p:nvPr/>
        </p:nvPicPr>
        <p:blipFill>
          <a:blip r:embed="rId2"/>
          <a:stretch>
            <a:fillRect/>
          </a:stretch>
        </p:blipFill>
        <p:spPr>
          <a:xfrm>
            <a:off x="4427538" y="3500438"/>
            <a:ext cx="4105275" cy="17748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1267"/>
                                        </p:tgtEl>
                                        <p:attrNameLst>
                                          <p:attrName>style.visibility</p:attrName>
                                        </p:attrNameLst>
                                      </p:cBhvr>
                                      <p:to>
                                        <p:strVal val="visible"/>
                                      </p:to>
                                    </p:set>
                                    <p:animEffect transition="in" filter="blinds(horizontal)">
                                      <p:cBhvr>
                                        <p:cTn id="7" dur="500"/>
                                        <p:tgtEl>
                                          <p:spTgt spid="651267"/>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51268"/>
                                        </p:tgtEl>
                                        <p:attrNameLst>
                                          <p:attrName>style.visibility</p:attrName>
                                        </p:attrNameLst>
                                      </p:cBhvr>
                                      <p:to>
                                        <p:strVal val="visible"/>
                                      </p:to>
                                    </p:set>
                                    <p:animEffect transition="in" filter="circle(in)">
                                      <p:cBhvr>
                                        <p:cTn id="12" dur="2000"/>
                                        <p:tgtEl>
                                          <p:spTgt spid="651268"/>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651269"/>
                                        </p:tgtEl>
                                        <p:attrNameLst>
                                          <p:attrName>style.visibility</p:attrName>
                                        </p:attrNameLst>
                                      </p:cBhvr>
                                      <p:to>
                                        <p:strVal val="visible"/>
                                      </p:to>
                                    </p:set>
                                    <p:animEffect transition="in" filter="circle(in)">
                                      <p:cBhvr>
                                        <p:cTn id="17" dur="2000"/>
                                        <p:tgtEl>
                                          <p:spTgt spid="65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126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2290" name="Rectangle 2"/>
          <p:cNvSpPr/>
          <p:nvPr/>
        </p:nvSpPr>
        <p:spPr>
          <a:xfrm>
            <a:off x="323850" y="404813"/>
            <a:ext cx="8066088" cy="1771650"/>
          </a:xfrm>
          <a:prstGeom prst="rect">
            <a:avLst/>
          </a:prstGeom>
          <a:noFill/>
          <a:ln w="9525">
            <a:noFill/>
          </a:ln>
        </p:spPr>
        <p:txBody>
          <a:bodyPr anchor="t" anchorCtr="0">
            <a:spAutoFit/>
          </a:bodyPr>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4</a:t>
            </a:r>
            <a:r>
              <a:rPr lang="zh-CN" altLang="en-US" sz="2400" dirty="0">
                <a:solidFill>
                  <a:srgbClr val="336699"/>
                </a:solidFill>
                <a:latin typeface="Arial" panose="020B0604020202020204" pitchFamily="34" charset="0"/>
                <a:ea typeface="宋体" panose="02010600030101010101" pitchFamily="2" charset="-122"/>
              </a:rPr>
              <a:t>）关于预算定额子目的人工工日及消耗的确定 </a:t>
            </a:r>
            <a:endParaRPr lang="zh-CN" altLang="en-US" sz="2400" dirty="0">
              <a:solidFill>
                <a:srgbClr val="336699"/>
              </a:solidFill>
              <a:latin typeface="Arial" panose="020B0604020202020204" pitchFamily="34" charset="0"/>
              <a:ea typeface="宋体" panose="02010600030101010101" pitchFamily="2" charset="-122"/>
            </a:endParaRPr>
          </a:p>
          <a:p>
            <a:pPr>
              <a:lnSpc>
                <a:spcPct val="130000"/>
              </a:lnSpc>
              <a:spcBef>
                <a:spcPct val="50000"/>
              </a:spcBef>
            </a:pPr>
            <a:r>
              <a:rPr lang="zh-CN" altLang="en-US" sz="2400" dirty="0">
                <a:solidFill>
                  <a:srgbClr val="336699"/>
                </a:solidFill>
                <a:latin typeface="Arial" panose="020B0604020202020204" pitchFamily="34" charset="0"/>
                <a:ea typeface="宋体" panose="02010600030101010101" pitchFamily="2" charset="-122"/>
              </a:rPr>
              <a:t>          基本用工 ＋辅助用工 ＋ 其他用工 </a:t>
            </a:r>
            <a:endParaRPr lang="zh-CN" altLang="en-US" sz="2400" dirty="0">
              <a:solidFill>
                <a:srgbClr val="336699"/>
              </a:solidFill>
              <a:latin typeface="Arial" panose="020B0604020202020204" pitchFamily="34" charset="0"/>
              <a:ea typeface="宋体" panose="02010600030101010101" pitchFamily="2" charset="-122"/>
            </a:endParaRPr>
          </a:p>
          <a:p>
            <a:pPr>
              <a:lnSpc>
                <a:spcPct val="130000"/>
              </a:lnSpc>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5</a:t>
            </a:r>
            <a:r>
              <a:rPr lang="zh-CN" altLang="en-US" sz="2400" dirty="0">
                <a:solidFill>
                  <a:srgbClr val="336699"/>
                </a:solidFill>
                <a:latin typeface="Arial" panose="020B0604020202020204" pitchFamily="34" charset="0"/>
                <a:ea typeface="宋体" panose="02010600030101010101" pitchFamily="2" charset="-122"/>
              </a:rPr>
              <a:t>）关于预算定额子目中的主要材料及消耗量的确定</a:t>
            </a:r>
            <a:endParaRPr lang="zh-CN" altLang="en-US" sz="2400" dirty="0">
              <a:solidFill>
                <a:srgbClr val="336699"/>
              </a:solidFill>
              <a:latin typeface="Arial" panose="020B0604020202020204" pitchFamily="34" charset="0"/>
              <a:ea typeface="宋体" panose="02010600030101010101" pitchFamily="2" charset="-122"/>
            </a:endParaRPr>
          </a:p>
        </p:txBody>
      </p:sp>
      <p:graphicFrame>
        <p:nvGraphicFramePr>
          <p:cNvPr id="652291" name="Object 3"/>
          <p:cNvGraphicFramePr>
            <a:graphicFrameLocks noChangeAspect="1"/>
          </p:cNvGraphicFramePr>
          <p:nvPr/>
        </p:nvGraphicFramePr>
        <p:xfrm>
          <a:off x="2916238" y="2924175"/>
          <a:ext cx="1655762" cy="508000"/>
        </p:xfrm>
        <a:graphic>
          <a:graphicData uri="http://schemas.openxmlformats.org/presentationml/2006/ole">
            <mc:AlternateContent xmlns:mc="http://schemas.openxmlformats.org/markup-compatibility/2006">
              <mc:Choice xmlns:v="urn:schemas-microsoft-com:vml" Requires="v">
                <p:oleObj spid="_x0000_s3078" name="" r:id="rId1" imgW="711200" imgH="215900" progId="Equation.DSMT4">
                  <p:embed/>
                </p:oleObj>
              </mc:Choice>
              <mc:Fallback>
                <p:oleObj name="" r:id="rId1" imgW="711200" imgH="215900" progId="Equation.DSMT4">
                  <p:embed/>
                  <p:pic>
                    <p:nvPicPr>
                      <p:cNvPr id="0" name="图片 3077"/>
                      <p:cNvPicPr/>
                      <p:nvPr/>
                    </p:nvPicPr>
                    <p:blipFill>
                      <a:blip r:embed="rId2"/>
                      <a:stretch>
                        <a:fillRect/>
                      </a:stretch>
                    </p:blipFill>
                    <p:spPr>
                      <a:xfrm>
                        <a:off x="2916238" y="2924175"/>
                        <a:ext cx="1655762" cy="508000"/>
                      </a:xfrm>
                      <a:prstGeom prst="rect">
                        <a:avLst/>
                      </a:prstGeom>
                      <a:noFill/>
                      <a:ln w="38100">
                        <a:noFill/>
                        <a:miter/>
                      </a:ln>
                    </p:spPr>
                  </p:pic>
                </p:oleObj>
              </mc:Fallback>
            </mc:AlternateContent>
          </a:graphicData>
        </a:graphic>
      </p:graphicFrame>
      <p:graphicFrame>
        <p:nvGraphicFramePr>
          <p:cNvPr id="652292" name="Object 4"/>
          <p:cNvGraphicFramePr>
            <a:graphicFrameLocks noChangeAspect="1"/>
          </p:cNvGraphicFramePr>
          <p:nvPr/>
        </p:nvGraphicFramePr>
        <p:xfrm>
          <a:off x="1474788" y="3678238"/>
          <a:ext cx="284162" cy="358775"/>
        </p:xfrm>
        <a:graphic>
          <a:graphicData uri="http://schemas.openxmlformats.org/presentationml/2006/ole">
            <mc:AlternateContent xmlns:mc="http://schemas.openxmlformats.org/markup-compatibility/2006">
              <mc:Choice xmlns:v="urn:schemas-microsoft-com:vml" Requires="v">
                <p:oleObj spid="_x0000_s3079" name="" r:id="rId3" imgW="139700" imgH="177800" progId="Equation.DSMT4">
                  <p:embed/>
                </p:oleObj>
              </mc:Choice>
              <mc:Fallback>
                <p:oleObj name="" r:id="rId3" imgW="139700" imgH="177800" progId="Equation.DSMT4">
                  <p:embed/>
                  <p:pic>
                    <p:nvPicPr>
                      <p:cNvPr id="0" name="图片 3078"/>
                      <p:cNvPicPr/>
                      <p:nvPr/>
                    </p:nvPicPr>
                    <p:blipFill>
                      <a:blip r:embed="rId4"/>
                      <a:stretch>
                        <a:fillRect/>
                      </a:stretch>
                    </p:blipFill>
                    <p:spPr>
                      <a:xfrm>
                        <a:off x="1474788" y="3678238"/>
                        <a:ext cx="284162" cy="358775"/>
                      </a:xfrm>
                      <a:prstGeom prst="rect">
                        <a:avLst/>
                      </a:prstGeom>
                      <a:noFill/>
                      <a:ln w="38100">
                        <a:noFill/>
                        <a:miter/>
                      </a:ln>
                    </p:spPr>
                  </p:pic>
                </p:oleObj>
              </mc:Fallback>
            </mc:AlternateContent>
          </a:graphicData>
        </a:graphic>
      </p:graphicFrame>
      <p:graphicFrame>
        <p:nvGraphicFramePr>
          <p:cNvPr id="652293" name="Object 5"/>
          <p:cNvGraphicFramePr>
            <a:graphicFrameLocks noChangeAspect="1"/>
          </p:cNvGraphicFramePr>
          <p:nvPr/>
        </p:nvGraphicFramePr>
        <p:xfrm>
          <a:off x="1474788" y="4183063"/>
          <a:ext cx="358775" cy="338137"/>
        </p:xfrm>
        <a:graphic>
          <a:graphicData uri="http://schemas.openxmlformats.org/presentationml/2006/ole">
            <mc:AlternateContent xmlns:mc="http://schemas.openxmlformats.org/markup-compatibility/2006">
              <mc:Choice xmlns:v="urn:schemas-microsoft-com:vml" Requires="v">
                <p:oleObj spid="_x0000_s3080" name="" r:id="rId5" imgW="165100" imgH="152400" progId="Equation.DSMT4">
                  <p:embed/>
                </p:oleObj>
              </mc:Choice>
              <mc:Fallback>
                <p:oleObj name="" r:id="rId5" imgW="165100" imgH="152400" progId="Equation.DSMT4">
                  <p:embed/>
                  <p:pic>
                    <p:nvPicPr>
                      <p:cNvPr id="0" name="图片 3079"/>
                      <p:cNvPicPr/>
                      <p:nvPr/>
                    </p:nvPicPr>
                    <p:blipFill>
                      <a:blip r:embed="rId6"/>
                      <a:stretch>
                        <a:fillRect/>
                      </a:stretch>
                    </p:blipFill>
                    <p:spPr>
                      <a:xfrm>
                        <a:off x="1474788" y="4183063"/>
                        <a:ext cx="358775" cy="338137"/>
                      </a:xfrm>
                      <a:prstGeom prst="rect">
                        <a:avLst/>
                      </a:prstGeom>
                      <a:noFill/>
                      <a:ln w="38100">
                        <a:noFill/>
                        <a:miter/>
                      </a:ln>
                    </p:spPr>
                  </p:pic>
                </p:oleObj>
              </mc:Fallback>
            </mc:AlternateContent>
          </a:graphicData>
        </a:graphic>
      </p:graphicFrame>
      <p:graphicFrame>
        <p:nvGraphicFramePr>
          <p:cNvPr id="652294" name="Object 6"/>
          <p:cNvGraphicFramePr>
            <a:graphicFrameLocks noChangeAspect="1"/>
          </p:cNvGraphicFramePr>
          <p:nvPr/>
        </p:nvGraphicFramePr>
        <p:xfrm>
          <a:off x="1401763" y="4686300"/>
          <a:ext cx="565150" cy="479425"/>
        </p:xfrm>
        <a:graphic>
          <a:graphicData uri="http://schemas.openxmlformats.org/presentationml/2006/ole">
            <mc:AlternateContent xmlns:mc="http://schemas.openxmlformats.org/markup-compatibility/2006">
              <mc:Choice xmlns:v="urn:schemas-microsoft-com:vml" Requires="v">
                <p:oleObj spid="_x0000_s3077" name="" r:id="rId7" imgW="254000" imgH="215900" progId="Equation.DSMT4">
                  <p:embed/>
                </p:oleObj>
              </mc:Choice>
              <mc:Fallback>
                <p:oleObj name="" r:id="rId7" imgW="254000" imgH="215900" progId="Equation.DSMT4">
                  <p:embed/>
                  <p:pic>
                    <p:nvPicPr>
                      <p:cNvPr id="0" name="图片 3076"/>
                      <p:cNvPicPr/>
                      <p:nvPr/>
                    </p:nvPicPr>
                    <p:blipFill>
                      <a:blip r:embed="rId8"/>
                      <a:stretch>
                        <a:fillRect/>
                      </a:stretch>
                    </p:blipFill>
                    <p:spPr>
                      <a:xfrm>
                        <a:off x="1401763" y="4686300"/>
                        <a:ext cx="565150" cy="479425"/>
                      </a:xfrm>
                      <a:prstGeom prst="rect">
                        <a:avLst/>
                      </a:prstGeom>
                      <a:noFill/>
                      <a:ln w="38100">
                        <a:noFill/>
                        <a:miter/>
                      </a:ln>
                    </p:spPr>
                  </p:pic>
                </p:oleObj>
              </mc:Fallback>
            </mc:AlternateContent>
          </a:graphicData>
        </a:graphic>
      </p:graphicFrame>
      <p:sp>
        <p:nvSpPr>
          <p:cNvPr id="652295" name="Rectangle 7"/>
          <p:cNvSpPr/>
          <p:nvPr/>
        </p:nvSpPr>
        <p:spPr>
          <a:xfrm>
            <a:off x="395288" y="2349500"/>
            <a:ext cx="3509962" cy="457200"/>
          </a:xfrm>
          <a:prstGeom prst="rect">
            <a:avLst/>
          </a:prstGeom>
          <a:noFill/>
          <a:ln w="9525">
            <a:noFill/>
          </a:ln>
        </p:spPr>
        <p:txBody>
          <a:bodyPr wrap="none" anchor="ctr" anchorCtr="0">
            <a:spAutoFit/>
          </a:bodyPr>
          <a:p>
            <a:pPr indent="278130" eaLnBrk="0" hangingPunct="0"/>
            <a:r>
              <a:rPr lang="zh-CN" altLang="en-US" sz="2400" dirty="0">
                <a:solidFill>
                  <a:srgbClr val="336699"/>
                </a:solidFill>
                <a:latin typeface="Arial" panose="020B0604020202020204" pitchFamily="34" charset="0"/>
                <a:ea typeface="宋体" panose="02010600030101010101" pitchFamily="2" charset="-122"/>
              </a:rPr>
              <a:t>主要材料计算公式为：</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52296" name="Rectangle 8"/>
          <p:cNvSpPr/>
          <p:nvPr/>
        </p:nvSpPr>
        <p:spPr>
          <a:xfrm>
            <a:off x="322263" y="3606800"/>
            <a:ext cx="1381125" cy="457200"/>
          </a:xfrm>
          <a:prstGeom prst="rect">
            <a:avLst/>
          </a:prstGeom>
          <a:noFill/>
          <a:ln w="9525">
            <a:noFill/>
          </a:ln>
        </p:spPr>
        <p:txBody>
          <a:bodyPr wrap="none" anchor="ctr" anchorCtr="0">
            <a:spAutoFit/>
          </a:bodyPr>
          <a:p>
            <a:pPr eaLnBrk="0" hangingPunct="0"/>
            <a:r>
              <a:rPr lang="zh-CN" altLang="en-US" sz="2400" dirty="0">
                <a:solidFill>
                  <a:srgbClr val="336699"/>
                </a:solidFill>
                <a:latin typeface="Arial" panose="020B0604020202020204" pitchFamily="34" charset="0"/>
                <a:ea typeface="宋体" panose="02010600030101010101" pitchFamily="2" charset="-122"/>
              </a:rPr>
              <a:t>式中，</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52297" name="Rectangle 9"/>
          <p:cNvSpPr/>
          <p:nvPr/>
        </p:nvSpPr>
        <p:spPr>
          <a:xfrm>
            <a:off x="1258888" y="3573463"/>
            <a:ext cx="7262812" cy="457200"/>
          </a:xfrm>
          <a:prstGeom prst="rect">
            <a:avLst/>
          </a:prstGeom>
          <a:noFill/>
          <a:ln w="9525">
            <a:noFill/>
          </a:ln>
        </p:spPr>
        <p:txBody>
          <a:bodyPr wrap="none" anchor="ctr" anchorCtr="0">
            <a:spAutoFit/>
          </a:bodyPr>
          <a:p>
            <a:pPr indent="678180" eaLnBrk="0" hangingPunct="0"/>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完成某工程量的主要材料消耗定额（实用量</a:t>
            </a:r>
            <a:r>
              <a:rPr lang="zh-CN" altLang="en-US" sz="2400" b="0" dirty="0">
                <a:solidFill>
                  <a:schemeClr val="tx1"/>
                </a:solidFill>
                <a:latin typeface="Times New Roman" panose="02020603050405020304" pitchFamily="18" charset="0"/>
                <a:ea typeface="宋体" panose="02010600030101010101" pitchFamily="2" charset="-122"/>
              </a:rPr>
              <a:t>）</a:t>
            </a:r>
            <a:endParaRPr lang="zh-CN" altLang="en-US" sz="2400" b="0" dirty="0">
              <a:solidFill>
                <a:schemeClr val="tx1"/>
              </a:solidFill>
              <a:latin typeface="Times New Roman" panose="02020603050405020304" pitchFamily="18" charset="0"/>
              <a:ea typeface="宋体" panose="02010600030101010101" pitchFamily="2" charset="-122"/>
            </a:endParaRPr>
          </a:p>
        </p:txBody>
      </p:sp>
      <p:sp>
        <p:nvSpPr>
          <p:cNvPr id="652298" name="Rectangle 10"/>
          <p:cNvSpPr/>
          <p:nvPr/>
        </p:nvSpPr>
        <p:spPr>
          <a:xfrm>
            <a:off x="1906588" y="4149725"/>
            <a:ext cx="5670550" cy="457200"/>
          </a:xfrm>
          <a:prstGeom prst="rect">
            <a:avLst/>
          </a:prstGeom>
          <a:noFill/>
          <a:ln w="9525">
            <a:noFill/>
          </a:ln>
        </p:spPr>
        <p:txBody>
          <a:bodyPr wrap="none" anchor="ctr" anchorCtr="0">
            <a:spAutoFit/>
          </a:bodyPr>
          <a:p>
            <a:pPr eaLnBrk="0" hangingPunct="0"/>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完成某工程量实体所需主要材料净用量</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52299" name="Rectangle 11"/>
          <p:cNvSpPr/>
          <p:nvPr/>
        </p:nvSpPr>
        <p:spPr>
          <a:xfrm>
            <a:off x="1908175" y="4652963"/>
            <a:ext cx="6364288" cy="457200"/>
          </a:xfrm>
          <a:prstGeom prst="rect">
            <a:avLst/>
          </a:prstGeom>
          <a:noFill/>
          <a:ln w="9525">
            <a:noFill/>
          </a:ln>
        </p:spPr>
        <p:txBody>
          <a:bodyPr wrap="none" anchor="ctr" anchorCtr="0">
            <a:spAutoFit/>
          </a:bodyPr>
          <a:p>
            <a:pPr eaLnBrk="0" hangingPunct="0"/>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完成某工程量最低损耗情况下各种损耗之和</a:t>
            </a:r>
            <a:r>
              <a:rPr lang="zh-CN" altLang="en-US" sz="2400" b="0" dirty="0">
                <a:solidFill>
                  <a:schemeClr val="tx1"/>
                </a:solidFill>
                <a:latin typeface="Arial" panose="020B0604020202020204" pitchFamily="34" charset="0"/>
                <a:ea typeface="宋体" panose="02010600030101010101" pitchFamily="2" charset="-122"/>
              </a:rPr>
              <a:t> </a:t>
            </a:r>
            <a:endParaRPr lang="zh-CN" altLang="en-US" sz="2400" b="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2290">
                                            <p:txEl>
                                              <p:charRg st="0" end="24"/>
                                            </p:txEl>
                                          </p:spTgt>
                                        </p:tgtEl>
                                        <p:attrNameLst>
                                          <p:attrName>style.visibility</p:attrName>
                                        </p:attrNameLst>
                                      </p:cBhvr>
                                      <p:to>
                                        <p:strVal val="visible"/>
                                      </p:to>
                                    </p:set>
                                    <p:animEffect transition="in" filter="blinds(horizontal)">
                                      <p:cBhvr>
                                        <p:cTn id="7" dur="500"/>
                                        <p:tgtEl>
                                          <p:spTgt spid="652290">
                                            <p:txEl>
                                              <p:charRg st="0" end="2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52290">
                                            <p:txEl>
                                              <p:charRg st="24" end="53"/>
                                            </p:txEl>
                                          </p:spTgt>
                                        </p:tgtEl>
                                        <p:attrNameLst>
                                          <p:attrName>style.visibility</p:attrName>
                                        </p:attrNameLst>
                                      </p:cBhvr>
                                      <p:to>
                                        <p:strVal val="visible"/>
                                      </p:to>
                                    </p:set>
                                    <p:animEffect transition="in" filter="blinds(horizontal)">
                                      <p:cBhvr>
                                        <p:cTn id="10" dur="500"/>
                                        <p:tgtEl>
                                          <p:spTgt spid="652290">
                                            <p:txEl>
                                              <p:charRg st="24" end="5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52290">
                                            <p:txEl>
                                              <p:charRg st="53" end="78"/>
                                            </p:txEl>
                                          </p:spTgt>
                                        </p:tgtEl>
                                        <p:attrNameLst>
                                          <p:attrName>style.visibility</p:attrName>
                                        </p:attrNameLst>
                                      </p:cBhvr>
                                      <p:to>
                                        <p:strVal val="visible"/>
                                      </p:to>
                                    </p:set>
                                    <p:animEffect transition="in" filter="blinds(horizontal)">
                                      <p:cBhvr>
                                        <p:cTn id="15" dur="500"/>
                                        <p:tgtEl>
                                          <p:spTgt spid="652290">
                                            <p:txEl>
                                              <p:charRg st="53" end="7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4" presetClass="entr" presetSubtype="0" fill="hold" grpId="0" nodeType="clickEffect">
                                  <p:stCondLst>
                                    <p:cond delay="0"/>
                                  </p:stCondLst>
                                  <p:childTnLst>
                                    <p:set>
                                      <p:cBhvr>
                                        <p:cTn id="19" dur="1" fill="hold">
                                          <p:stCondLst>
                                            <p:cond delay="0"/>
                                          </p:stCondLst>
                                        </p:cTn>
                                        <p:tgtEl>
                                          <p:spTgt spid="652295"/>
                                        </p:tgtEl>
                                        <p:attrNameLst>
                                          <p:attrName>style.visibility</p:attrName>
                                        </p:attrNameLst>
                                      </p:cBhvr>
                                      <p:to>
                                        <p:strVal val="visible"/>
                                      </p:to>
                                    </p:set>
                                    <p:anim to="" calcmode="lin" valueType="num">
                                      <p:cBhvr>
                                        <p:cTn id="20" dur="1" fill="hold"/>
                                        <p:tgtEl>
                                          <p:spTgt spid="652295"/>
                                        </p:tgtEl>
                                        <p:attrNameLst>
                                          <p:attrName>style.visibility</p:attrName>
                                        </p:attrNameLst>
                                      </p:cBhvr>
                                    </p:anim>
                                  </p:childTnLst>
                                </p:cTn>
                              </p:par>
                            </p:childTnLst>
                          </p:cTn>
                        </p:par>
                      </p:childTnLst>
                    </p:cTn>
                  </p:par>
                  <p:par>
                    <p:cTn id="21" fill="hold">
                      <p:stCondLst>
                        <p:cond delay="indefinite"/>
                      </p:stCondLst>
                      <p:childTnLst>
                        <p:par>
                          <p:cTn id="22" fill="hold">
                            <p:stCondLst>
                              <p:cond delay="0"/>
                            </p:stCondLst>
                            <p:childTnLst>
                              <p:par>
                                <p:cTn id="23" presetID="8" presetClass="entr" presetSubtype="16" fill="hold" nodeType="clickEffect">
                                  <p:stCondLst>
                                    <p:cond delay="0"/>
                                  </p:stCondLst>
                                  <p:childTnLst>
                                    <p:set>
                                      <p:cBhvr>
                                        <p:cTn id="24" dur="1" fill="hold">
                                          <p:stCondLst>
                                            <p:cond delay="0"/>
                                          </p:stCondLst>
                                        </p:cTn>
                                        <p:tgtEl>
                                          <p:spTgt spid="652291"/>
                                        </p:tgtEl>
                                        <p:attrNameLst>
                                          <p:attrName>style.visibility</p:attrName>
                                        </p:attrNameLst>
                                      </p:cBhvr>
                                      <p:to>
                                        <p:strVal val="visible"/>
                                      </p:to>
                                    </p:set>
                                    <p:animEffect transition="in" filter="diamond(in)">
                                      <p:cBhvr>
                                        <p:cTn id="25" dur="2000"/>
                                        <p:tgtEl>
                                          <p:spTgt spid="65229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652292"/>
                                        </p:tgtEl>
                                        <p:attrNameLst>
                                          <p:attrName>style.visibility</p:attrName>
                                        </p:attrNameLst>
                                      </p:cBhvr>
                                      <p:to>
                                        <p:strVal val="visible"/>
                                      </p:to>
                                    </p:set>
                                    <p:animEffect transition="in" filter="blinds(horizontal)">
                                      <p:cBhvr>
                                        <p:cTn id="30" dur="500"/>
                                        <p:tgtEl>
                                          <p:spTgt spid="652292"/>
                                        </p:tgtEl>
                                      </p:cBhvr>
                                    </p:animEffect>
                                  </p:childTnLst>
                                </p:cTn>
                              </p:par>
                              <p:par>
                                <p:cTn id="31" presetID="3" presetClass="entr" presetSubtype="10" fill="hold" nodeType="withEffect">
                                  <p:stCondLst>
                                    <p:cond delay="0"/>
                                  </p:stCondLst>
                                  <p:childTnLst>
                                    <p:set>
                                      <p:cBhvr>
                                        <p:cTn id="32" dur="1" fill="hold">
                                          <p:stCondLst>
                                            <p:cond delay="0"/>
                                          </p:stCondLst>
                                        </p:cTn>
                                        <p:tgtEl>
                                          <p:spTgt spid="652293"/>
                                        </p:tgtEl>
                                        <p:attrNameLst>
                                          <p:attrName>style.visibility</p:attrName>
                                        </p:attrNameLst>
                                      </p:cBhvr>
                                      <p:to>
                                        <p:strVal val="visible"/>
                                      </p:to>
                                    </p:set>
                                    <p:animEffect transition="in" filter="blinds(horizontal)">
                                      <p:cBhvr>
                                        <p:cTn id="33" dur="500"/>
                                        <p:tgtEl>
                                          <p:spTgt spid="652293"/>
                                        </p:tgtEl>
                                      </p:cBhvr>
                                    </p:animEffect>
                                  </p:childTnLst>
                                </p:cTn>
                              </p:par>
                              <p:par>
                                <p:cTn id="34" presetID="3" presetClass="entr" presetSubtype="10" fill="hold" nodeType="withEffect">
                                  <p:stCondLst>
                                    <p:cond delay="0"/>
                                  </p:stCondLst>
                                  <p:childTnLst>
                                    <p:set>
                                      <p:cBhvr>
                                        <p:cTn id="35" dur="1" fill="hold">
                                          <p:stCondLst>
                                            <p:cond delay="0"/>
                                          </p:stCondLst>
                                        </p:cTn>
                                        <p:tgtEl>
                                          <p:spTgt spid="652294"/>
                                        </p:tgtEl>
                                        <p:attrNameLst>
                                          <p:attrName>style.visibility</p:attrName>
                                        </p:attrNameLst>
                                      </p:cBhvr>
                                      <p:to>
                                        <p:strVal val="visible"/>
                                      </p:to>
                                    </p:set>
                                    <p:animEffect transition="in" filter="blinds(horizontal)">
                                      <p:cBhvr>
                                        <p:cTn id="36" dur="500"/>
                                        <p:tgtEl>
                                          <p:spTgt spid="652294"/>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652296"/>
                                        </p:tgtEl>
                                        <p:attrNameLst>
                                          <p:attrName>style.visibility</p:attrName>
                                        </p:attrNameLst>
                                      </p:cBhvr>
                                      <p:to>
                                        <p:strVal val="visible"/>
                                      </p:to>
                                    </p:set>
                                    <p:animEffect transition="in" filter="blinds(horizontal)">
                                      <p:cBhvr>
                                        <p:cTn id="39" dur="500"/>
                                        <p:tgtEl>
                                          <p:spTgt spid="652296"/>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652297"/>
                                        </p:tgtEl>
                                        <p:attrNameLst>
                                          <p:attrName>style.visibility</p:attrName>
                                        </p:attrNameLst>
                                      </p:cBhvr>
                                      <p:to>
                                        <p:strVal val="visible"/>
                                      </p:to>
                                    </p:set>
                                    <p:animEffect transition="in" filter="blinds(horizontal)">
                                      <p:cBhvr>
                                        <p:cTn id="42" dur="500"/>
                                        <p:tgtEl>
                                          <p:spTgt spid="652297"/>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652298"/>
                                        </p:tgtEl>
                                        <p:attrNameLst>
                                          <p:attrName>style.visibility</p:attrName>
                                        </p:attrNameLst>
                                      </p:cBhvr>
                                      <p:to>
                                        <p:strVal val="visible"/>
                                      </p:to>
                                    </p:set>
                                    <p:animEffect transition="in" filter="blinds(horizontal)">
                                      <p:cBhvr>
                                        <p:cTn id="45" dur="500"/>
                                        <p:tgtEl>
                                          <p:spTgt spid="652298"/>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652299"/>
                                        </p:tgtEl>
                                        <p:attrNameLst>
                                          <p:attrName>style.visibility</p:attrName>
                                        </p:attrNameLst>
                                      </p:cBhvr>
                                      <p:to>
                                        <p:strVal val="visible"/>
                                      </p:to>
                                    </p:set>
                                    <p:animEffect transition="in" filter="blinds(horizontal)">
                                      <p:cBhvr>
                                        <p:cTn id="48" dur="500"/>
                                        <p:tgtEl>
                                          <p:spTgt spid="652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295" grpId="0"/>
      <p:bldP spid="652296" grpId="0"/>
      <p:bldP spid="652297" grpId="0"/>
      <p:bldP spid="652298" grpId="0"/>
      <p:bldP spid="65229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3314" name="Rectangle 2"/>
          <p:cNvSpPr/>
          <p:nvPr/>
        </p:nvSpPr>
        <p:spPr>
          <a:xfrm>
            <a:off x="323850" y="404813"/>
            <a:ext cx="8066088" cy="3451225"/>
          </a:xfrm>
          <a:prstGeom prst="rect">
            <a:avLst/>
          </a:prstGeom>
          <a:noFill/>
          <a:ln w="9525">
            <a:noFill/>
          </a:ln>
        </p:spPr>
        <p:txBody>
          <a:bodyPr anchor="t" anchorCtr="0">
            <a:spAutoFit/>
          </a:bodyPr>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6</a:t>
            </a:r>
            <a:r>
              <a:rPr lang="zh-CN" altLang="en-US" sz="2400" dirty="0">
                <a:solidFill>
                  <a:srgbClr val="336699"/>
                </a:solidFill>
                <a:latin typeface="Arial" panose="020B0604020202020204" pitchFamily="34" charset="0"/>
                <a:ea typeface="宋体" panose="02010600030101010101" pitchFamily="2" charset="-122"/>
              </a:rPr>
              <a:t>）关于预算定额子目中施工机械、仪表及消耗量的确定</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CC3300"/>
                </a:solidFill>
                <a:latin typeface="华文细黑" panose="02010600040101010101" pitchFamily="2" charset="-122"/>
                <a:ea typeface="华文细黑" panose="02010600040101010101" pitchFamily="2" charset="-122"/>
              </a:rPr>
              <a:t>        台班消耗量标准：</a:t>
            </a:r>
            <a:endParaRPr lang="zh-CN" altLang="en-US" sz="2400" dirty="0">
              <a:solidFill>
                <a:srgbClr val="CC3300"/>
              </a:solidFill>
              <a:latin typeface="华文细黑" panose="02010600040101010101" pitchFamily="2" charset="-122"/>
              <a:ea typeface="华文细黑" panose="02010600040101010101" pitchFamily="2" charset="-122"/>
            </a:endParaRPr>
          </a:p>
          <a:p>
            <a:pPr>
              <a:lnSpc>
                <a:spcPct val="130000"/>
              </a:lnSpc>
              <a:spcBef>
                <a:spcPct val="50000"/>
              </a:spcBef>
            </a:pPr>
            <a:r>
              <a:rPr lang="zh-CN" altLang="en-US" sz="2400" dirty="0">
                <a:solidFill>
                  <a:srgbClr val="336699"/>
                </a:solidFill>
                <a:latin typeface="Arial" panose="020B0604020202020204" pitchFamily="34" charset="0"/>
                <a:ea typeface="宋体" panose="02010600030101010101" pitchFamily="2" charset="-122"/>
              </a:rPr>
              <a:t>        机械（仪表）一天（八小时）所完成量，以一定的机械幅度差来确定单位产品所需的机械台班量。</a:t>
            </a:r>
            <a:endParaRPr lang="zh-CN" altLang="en-US" sz="2400" dirty="0">
              <a:solidFill>
                <a:srgbClr val="336699"/>
              </a:solidFill>
              <a:latin typeface="Arial" panose="020B0604020202020204" pitchFamily="34" charset="0"/>
              <a:ea typeface="宋体" panose="02010600030101010101" pitchFamily="2" charset="-122"/>
            </a:endParaRPr>
          </a:p>
          <a:p>
            <a:pPr>
              <a:lnSpc>
                <a:spcPct val="130000"/>
              </a:lnSpc>
              <a:spcBef>
                <a:spcPct val="50000"/>
              </a:spcBef>
            </a:pPr>
            <a:r>
              <a:rPr lang="zh-CN" altLang="en-US" sz="2400" dirty="0">
                <a:solidFill>
                  <a:srgbClr val="008000"/>
                </a:solidFill>
                <a:latin typeface="华文细黑" panose="02010600040101010101" pitchFamily="2" charset="-122"/>
                <a:ea typeface="华文细黑" panose="02010600040101010101" pitchFamily="2" charset="-122"/>
              </a:rPr>
              <a:t>        </a:t>
            </a:r>
            <a:r>
              <a:rPr lang="zh-CN" altLang="en-US" sz="2400" dirty="0">
                <a:solidFill>
                  <a:srgbClr val="CC3300"/>
                </a:solidFill>
                <a:latin typeface="华文细黑" panose="02010600040101010101" pitchFamily="2" charset="-122"/>
                <a:ea typeface="华文细黑" panose="02010600040101010101" pitchFamily="2" charset="-122"/>
              </a:rPr>
              <a:t>计算公式：</a:t>
            </a:r>
            <a:endParaRPr lang="zh-CN" altLang="en-US" sz="2400" dirty="0">
              <a:solidFill>
                <a:srgbClr val="CC3300"/>
              </a:solidFill>
              <a:latin typeface="华文细黑" panose="02010600040101010101" pitchFamily="2" charset="-122"/>
              <a:ea typeface="华文细黑" panose="02010600040101010101" pitchFamily="2" charset="-122"/>
            </a:endParaRPr>
          </a:p>
          <a:p>
            <a:pPr>
              <a:lnSpc>
                <a:spcPct val="130000"/>
              </a:lnSpc>
              <a:spcBef>
                <a:spcPct val="50000"/>
              </a:spcBef>
            </a:pPr>
            <a:r>
              <a:rPr lang="zh-CN" altLang="en-US" sz="2400" dirty="0">
                <a:solidFill>
                  <a:srgbClr val="996633"/>
                </a:solidFill>
                <a:latin typeface="华文细黑" panose="02010600040101010101" pitchFamily="2" charset="-122"/>
                <a:ea typeface="华文细黑" panose="0201060004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预算定额中施工机械台班消耗量</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每台班产量  </a:t>
            </a:r>
            <a:endParaRPr lang="zh-CN" altLang="en-US" sz="2400" dirty="0">
              <a:solidFill>
                <a:srgbClr val="336699"/>
              </a:solidFill>
              <a:latin typeface="Arial" panose="020B0604020202020204" pitchFamily="34" charset="0"/>
              <a:ea typeface="宋体" panose="02010600030101010101" pitchFamily="2" charset="-122"/>
            </a:endParaRPr>
          </a:p>
        </p:txBody>
      </p:sp>
      <p:pic>
        <p:nvPicPr>
          <p:cNvPr id="35842"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3314">
                                            <p:txEl>
                                              <p:charRg st="0" end="27"/>
                                            </p:txEl>
                                          </p:spTgt>
                                        </p:tgtEl>
                                        <p:attrNameLst>
                                          <p:attrName>style.visibility</p:attrName>
                                        </p:attrNameLst>
                                      </p:cBhvr>
                                      <p:to>
                                        <p:strVal val="visible"/>
                                      </p:to>
                                    </p:set>
                                    <p:animEffect transition="in" filter="blinds(horizontal)">
                                      <p:cBhvr>
                                        <p:cTn id="7" dur="500"/>
                                        <p:tgtEl>
                                          <p:spTgt spid="653314">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653314">
                                            <p:txEl>
                                              <p:charRg st="27" end="44"/>
                                            </p:txEl>
                                          </p:spTgt>
                                        </p:tgtEl>
                                        <p:attrNameLst>
                                          <p:attrName>style.visibility</p:attrName>
                                        </p:attrNameLst>
                                      </p:cBhvr>
                                      <p:to>
                                        <p:strVal val="visible"/>
                                      </p:to>
                                    </p:set>
                                    <p:animEffect transition="in" filter="diamond(in)">
                                      <p:cBhvr>
                                        <p:cTn id="12" dur="2000"/>
                                        <p:tgtEl>
                                          <p:spTgt spid="653314">
                                            <p:txEl>
                                              <p:charRg st="27" end="4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653314">
                                            <p:txEl>
                                              <p:charRg st="44" end="96"/>
                                            </p:txEl>
                                          </p:spTgt>
                                        </p:tgtEl>
                                        <p:attrNameLst>
                                          <p:attrName>style.visibility</p:attrName>
                                        </p:attrNameLst>
                                      </p:cBhvr>
                                      <p:to>
                                        <p:strVal val="visible"/>
                                      </p:to>
                                    </p:set>
                                    <p:animEffect transition="in" filter="diamond(in)">
                                      <p:cBhvr>
                                        <p:cTn id="17" dur="2000"/>
                                        <p:tgtEl>
                                          <p:spTgt spid="653314">
                                            <p:txEl>
                                              <p:charRg st="44" end="9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653314">
                                            <p:txEl>
                                              <p:charRg st="96" end="110"/>
                                            </p:txEl>
                                          </p:spTgt>
                                        </p:tgtEl>
                                        <p:attrNameLst>
                                          <p:attrName>style.visibility</p:attrName>
                                        </p:attrNameLst>
                                      </p:cBhvr>
                                      <p:to>
                                        <p:strVal val="visible"/>
                                      </p:to>
                                    </p:set>
                                    <p:animEffect transition="in" filter="diamond(in)">
                                      <p:cBhvr>
                                        <p:cTn id="22" dur="2000"/>
                                        <p:tgtEl>
                                          <p:spTgt spid="653314">
                                            <p:txEl>
                                              <p:charRg st="96" end="1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653314">
                                            <p:txEl>
                                              <p:charRg st="110" end="143"/>
                                            </p:txEl>
                                          </p:spTgt>
                                        </p:tgtEl>
                                        <p:attrNameLst>
                                          <p:attrName>style.visibility</p:attrName>
                                        </p:attrNameLst>
                                      </p:cBhvr>
                                      <p:to>
                                        <p:strVal val="visible"/>
                                      </p:to>
                                    </p:set>
                                    <p:animEffect transition="in" filter="diamond(in)">
                                      <p:cBhvr>
                                        <p:cTn id="27" dur="2000"/>
                                        <p:tgtEl>
                                          <p:spTgt spid="653314">
                                            <p:txEl>
                                              <p:charRg st="110"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Rectangle 2"/>
          <p:cNvSpPr>
            <a:spLocks noGrp="1"/>
          </p:cNvSpPr>
          <p:nvPr>
            <p:ph/>
          </p:nvPr>
        </p:nvSpPr>
        <p:spPr>
          <a:xfrm>
            <a:off x="457200" y="274638"/>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4 </a:t>
            </a:r>
            <a:r>
              <a:rPr lang="zh-CN" altLang="en-US" sz="3200" dirty="0">
                <a:solidFill>
                  <a:srgbClr val="000099"/>
                </a:solidFill>
                <a:latin typeface="黑体" panose="02010609060101010101" pitchFamily="49" charset="-122"/>
                <a:ea typeface="黑体" panose="02010609060101010101" pitchFamily="49" charset="-122"/>
              </a:rPr>
              <a:t>现行通信建设工程预算构成 </a:t>
            </a:r>
            <a:endParaRPr lang="zh-CN" altLang="en-US" dirty="0">
              <a:ea typeface="宋体" panose="02010600030101010101" pitchFamily="2" charset="-122"/>
            </a:endParaRPr>
          </a:p>
        </p:txBody>
      </p:sp>
      <p:sp>
        <p:nvSpPr>
          <p:cNvPr id="654339" name="Rectangle 3"/>
          <p:cNvSpPr>
            <a:spLocks noChangeArrowheads="1"/>
          </p:cNvSpPr>
          <p:nvPr/>
        </p:nvSpPr>
        <p:spPr bwMode="auto">
          <a:xfrm>
            <a:off x="250825" y="1196975"/>
            <a:ext cx="8497888"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       由</a:t>
            </a:r>
            <a:r>
              <a:rPr kumimoji="0" lang="zh-CN" altLang="en-US" sz="2400" b="1" i="0" u="none" strike="noStrike" kern="1200" cap="none" spc="0" normalizeH="0" baseline="0" noProof="0">
                <a:ln>
                  <a:noFill/>
                </a:ln>
                <a:solidFill>
                  <a:srgbClr val="D60093"/>
                </a:solidFill>
                <a:effectLst/>
                <a:uLnTx/>
                <a:uFillTx/>
                <a:latin typeface="Arial" panose="020B0604020202020204" pitchFamily="34" charset="0"/>
                <a:ea typeface="华文隶书" panose="02010800040101010101" pitchFamily="2" charset="-122"/>
                <a:cs typeface="+mn-cs"/>
              </a:rPr>
              <a:t>总说明</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D60093"/>
                </a:solidFill>
                <a:effectLst/>
                <a:uLnTx/>
                <a:uFillTx/>
                <a:latin typeface="Arial" panose="020B0604020202020204" pitchFamily="34" charset="0"/>
                <a:ea typeface="华文隶书" panose="02010800040101010101" pitchFamily="2" charset="-122"/>
                <a:cs typeface="+mn-cs"/>
              </a:rPr>
              <a:t>册说明</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D60093"/>
                </a:solidFill>
                <a:effectLst/>
                <a:uLnTx/>
                <a:uFillTx/>
                <a:latin typeface="Arial" panose="020B0604020202020204" pitchFamily="34" charset="0"/>
                <a:ea typeface="华文隶书" panose="02010800040101010101" pitchFamily="2" charset="-122"/>
                <a:cs typeface="+mn-cs"/>
              </a:rPr>
              <a:t>章节说明</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D60093"/>
                </a:solidFill>
                <a:effectLst/>
                <a:uLnTx/>
                <a:uFillTx/>
                <a:latin typeface="Arial" panose="020B0604020202020204" pitchFamily="34" charset="0"/>
                <a:ea typeface="华文隶书" panose="02010800040101010101" pitchFamily="2" charset="-122"/>
                <a:cs typeface="+mn-cs"/>
              </a:rPr>
              <a:t>定额项目表</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和</a:t>
            </a:r>
            <a:r>
              <a:rPr kumimoji="0" lang="zh-CN" altLang="en-US" sz="2400" b="1" i="0" u="none" strike="noStrike" kern="1200" cap="none" spc="0" normalizeH="0" baseline="0" noProof="0">
                <a:ln>
                  <a:noFill/>
                </a:ln>
                <a:solidFill>
                  <a:srgbClr val="D60093"/>
                </a:solidFill>
                <a:effectLst/>
                <a:uLnTx/>
                <a:uFillTx/>
                <a:latin typeface="Arial" panose="020B0604020202020204" pitchFamily="34" charset="0"/>
                <a:ea typeface="华文隶书" panose="02010800040101010101" pitchFamily="2" charset="-122"/>
                <a:cs typeface="+mn-cs"/>
              </a:rPr>
              <a:t>附录</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构成。</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54340" name="Rectangle 4"/>
          <p:cNvSpPr>
            <a:spLocks noChangeArrowheads="1"/>
          </p:cNvSpPr>
          <p:nvPr/>
        </p:nvSpPr>
        <p:spPr bwMode="auto">
          <a:xfrm>
            <a:off x="909638" y="2216150"/>
            <a:ext cx="4776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D60093"/>
                </a:solidFill>
                <a:effectLst/>
                <a:uLnTx/>
                <a:uFillTx/>
                <a:latin typeface="Arial" panose="020B0604020202020204" pitchFamily="34" charset="0"/>
                <a:ea typeface="华文隶书" panose="02010800040101010101" pitchFamily="2" charset="-122"/>
                <a:cs typeface="+mn-cs"/>
              </a:rPr>
              <a:t> </a:t>
            </a:r>
            <a:r>
              <a:rPr kumimoji="0" lang="en-US" altLang="zh-CN" sz="2400" b="1" i="0" u="none" strike="noStrike" kern="1200" cap="none" spc="0" normalizeH="0" baseline="0" noProof="0">
                <a:ln>
                  <a:noFill/>
                </a:ln>
                <a:solidFill>
                  <a:srgbClr val="D60093"/>
                </a:solidFill>
                <a:effectLst/>
                <a:uLnTx/>
                <a:uFillTx/>
                <a:latin typeface="Arial" panose="020B0604020202020204" pitchFamily="34" charset="0"/>
                <a:ea typeface="华文隶书" panose="02010800040101010101" pitchFamily="2" charset="-122"/>
                <a:cs typeface="+mn-cs"/>
              </a:rPr>
              <a:t>1</a:t>
            </a:r>
            <a:r>
              <a:rPr kumimoji="0" lang="zh-CN" altLang="en-US" sz="2400" b="1" i="0" u="none" strike="noStrike" kern="1200" cap="none" spc="0" normalizeH="0" baseline="0" noProof="0">
                <a:ln>
                  <a:noFill/>
                </a:ln>
                <a:solidFill>
                  <a:srgbClr val="D60093"/>
                </a:solidFill>
                <a:effectLst/>
                <a:uLnTx/>
                <a:uFillTx/>
                <a:latin typeface="Arial" panose="020B0604020202020204" pitchFamily="34" charset="0"/>
                <a:ea typeface="华文隶书" panose="02010800040101010101" pitchFamily="2" charset="-122"/>
                <a:cs typeface="+mn-cs"/>
              </a:rPr>
              <a:t>）通信建设工程预算定额总说明</a:t>
            </a: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54341" name="Rectangle 5"/>
          <p:cNvSpPr>
            <a:spLocks noChangeArrowheads="1"/>
          </p:cNvSpPr>
          <p:nvPr/>
        </p:nvSpPr>
        <p:spPr bwMode="auto">
          <a:xfrm>
            <a:off x="935038" y="2754313"/>
            <a:ext cx="8208963" cy="231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78130" eaLnBrk="0" hangingPunct="0">
              <a:spcBef>
                <a:spcPct val="0"/>
              </a:spcBef>
              <a:defRPr sz="2400">
                <a:solidFill>
                  <a:schemeClr val="tx1"/>
                </a:solidFill>
                <a:latin typeface="Times New Roman" panose="02020603050405020304" pitchFamily="18" charset="0"/>
              </a:defRPr>
            </a:lvl1pPr>
            <a:lvl2pPr eaLnBrk="0" hangingPunct="0">
              <a:spcBef>
                <a:spcPct val="0"/>
              </a:spcBef>
              <a:defRPr sz="2400">
                <a:solidFill>
                  <a:schemeClr val="tx1"/>
                </a:solidFill>
                <a:latin typeface="Times New Roman" panose="02020603050405020304" pitchFamily="18" charset="0"/>
              </a:defRPr>
            </a:lvl2pPr>
            <a:lvl3pPr eaLnBrk="0" hangingPunct="0">
              <a:spcBef>
                <a:spcPct val="0"/>
              </a:spcBef>
              <a:defRPr sz="2400">
                <a:solidFill>
                  <a:schemeClr val="tx1"/>
                </a:solidFill>
                <a:latin typeface="Times New Roman" panose="02020603050405020304" pitchFamily="18" charset="0"/>
              </a:defRPr>
            </a:lvl3pPr>
            <a:lvl4pPr eaLnBrk="0" hangingPunct="0">
              <a:spcBef>
                <a:spcPct val="0"/>
              </a:spcBef>
              <a:defRPr sz="2400">
                <a:solidFill>
                  <a:schemeClr val="tx1"/>
                </a:solidFill>
                <a:latin typeface="Times New Roman" panose="02020603050405020304" pitchFamily="18" charset="0"/>
              </a:defRPr>
            </a:lvl4pPr>
            <a:lvl5pPr eaLnBrk="0" hangingPunct="0">
              <a:spcBef>
                <a:spcPct val="0"/>
              </a:spcBef>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278130" algn="l" defTabSz="914400" rtl="0" eaLnBrk="1" fontAlgn="base" latinLnBrk="0" hangingPunct="1">
              <a:lnSpc>
                <a:spcPct val="110000"/>
              </a:lnSpc>
              <a:spcBef>
                <a:spcPct val="2000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通信建设工程预算定额（以下简称本定额）系通信行业标准。</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278130" algn="l" defTabSz="914400" rtl="0" eaLnBrk="1" fontAlgn="base" latinLnBrk="0" hangingPunct="1">
              <a:lnSpc>
                <a:spcPct val="110000"/>
              </a:lnSpc>
              <a:spcBef>
                <a:spcPct val="2000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本定额按通信专业工程分册，包括：</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278130" algn="l" defTabSz="914400" rtl="0" eaLnBrk="1" fontAlgn="base" latinLnBrk="0" hangingPunct="1">
              <a:lnSpc>
                <a:spcPct val="11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第一册  通信电源设备安装工程 （册名代号</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TSD</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278130" algn="l" defTabSz="914400" rtl="0" eaLnBrk="1" fontAlgn="base" latinLnBrk="0" hangingPunct="1">
              <a:lnSpc>
                <a:spcPct val="11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第二册  有线通信设备安装工程 （册名代号</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TSY</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654339"/>
                                        </p:tgtEl>
                                        <p:attrNameLst>
                                          <p:attrName>style.visibility</p:attrName>
                                        </p:attrNameLst>
                                      </p:cBhvr>
                                      <p:to>
                                        <p:strVal val="visible"/>
                                      </p:to>
                                    </p:set>
                                    <p:animEffect transition="in" filter="wedge">
                                      <p:cBhvr>
                                        <p:cTn id="7" dur="2000"/>
                                        <p:tgtEl>
                                          <p:spTgt spid="6543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4340"/>
                                        </p:tgtEl>
                                        <p:attrNameLst>
                                          <p:attrName>style.visibility</p:attrName>
                                        </p:attrNameLst>
                                      </p:cBhvr>
                                      <p:to>
                                        <p:strVal val="visible"/>
                                      </p:to>
                                    </p:set>
                                    <p:animEffect transition="in" filter="blinds(horizontal)">
                                      <p:cBhvr>
                                        <p:cTn id="12" dur="500"/>
                                        <p:tgtEl>
                                          <p:spTgt spid="654340"/>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54341">
                                            <p:txEl>
                                              <p:charRg st="0" end="30"/>
                                            </p:txEl>
                                          </p:spTgt>
                                        </p:tgtEl>
                                        <p:attrNameLst>
                                          <p:attrName>style.visibility</p:attrName>
                                        </p:attrNameLst>
                                      </p:cBhvr>
                                      <p:to>
                                        <p:strVal val="visible"/>
                                      </p:to>
                                    </p:set>
                                    <p:anim to="" calcmode="lin" valueType="num">
                                      <p:cBhvr>
                                        <p:cTn id="17" dur="1" fill="hold"/>
                                        <p:tgtEl>
                                          <p:spTgt spid="654341">
                                            <p:txEl>
                                              <p:charRg st="0" end="30"/>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654341">
                                            <p:txEl>
                                              <p:charRg st="30" end="49"/>
                                            </p:txEl>
                                          </p:spTgt>
                                        </p:tgtEl>
                                        <p:attrNameLst>
                                          <p:attrName>style.visibility</p:attrName>
                                        </p:attrNameLst>
                                      </p:cBhvr>
                                      <p:to>
                                        <p:strVal val="visible"/>
                                      </p:to>
                                    </p:set>
                                    <p:anim to="" calcmode="lin" valueType="num">
                                      <p:cBhvr>
                                        <p:cTn id="22" dur="1" fill="hold"/>
                                        <p:tgtEl>
                                          <p:spTgt spid="654341">
                                            <p:txEl>
                                              <p:charRg st="30" end="49"/>
                                            </p:txEl>
                                          </p:spTgt>
                                        </p:tgtEl>
                                        <p:attrNameLst>
                                          <p:attrName>style.visibility</p:attrName>
                                        </p:attrNameLst>
                                      </p:cBhvr>
                                    </p:anim>
                                  </p:childTnLst>
                                </p:cTn>
                              </p:par>
                              <p:par>
                                <p:cTn id="23" presetID="24" presetClass="entr" presetSubtype="0" fill="hold" nodeType="withEffect">
                                  <p:stCondLst>
                                    <p:cond delay="0"/>
                                  </p:stCondLst>
                                  <p:childTnLst>
                                    <p:set>
                                      <p:cBhvr>
                                        <p:cTn id="24" dur="1" fill="hold">
                                          <p:stCondLst>
                                            <p:cond delay="0"/>
                                          </p:stCondLst>
                                        </p:cTn>
                                        <p:tgtEl>
                                          <p:spTgt spid="654341">
                                            <p:txEl>
                                              <p:charRg st="49" end="75"/>
                                            </p:txEl>
                                          </p:spTgt>
                                        </p:tgtEl>
                                        <p:attrNameLst>
                                          <p:attrName>style.visibility</p:attrName>
                                        </p:attrNameLst>
                                      </p:cBhvr>
                                      <p:to>
                                        <p:strVal val="visible"/>
                                      </p:to>
                                    </p:set>
                                    <p:anim to="" calcmode="lin" valueType="num">
                                      <p:cBhvr>
                                        <p:cTn id="25" dur="1" fill="hold"/>
                                        <p:tgtEl>
                                          <p:spTgt spid="654341">
                                            <p:txEl>
                                              <p:charRg st="49" end="75"/>
                                            </p:txEl>
                                          </p:spTgt>
                                        </p:tgtEl>
                                        <p:attrNameLst>
                                          <p:attrName>style.visibility</p:attrName>
                                        </p:attrNameLst>
                                      </p:cBhvr>
                                    </p:anim>
                                  </p:childTnLst>
                                </p:cTn>
                              </p:par>
                              <p:par>
                                <p:cTn id="26" presetID="24" presetClass="entr" presetSubtype="0" fill="hold" nodeType="withEffect">
                                  <p:stCondLst>
                                    <p:cond delay="0"/>
                                  </p:stCondLst>
                                  <p:childTnLst>
                                    <p:set>
                                      <p:cBhvr>
                                        <p:cTn id="27" dur="1" fill="hold">
                                          <p:stCondLst>
                                            <p:cond delay="0"/>
                                          </p:stCondLst>
                                        </p:cTn>
                                        <p:tgtEl>
                                          <p:spTgt spid="654341">
                                            <p:txEl>
                                              <p:charRg st="75" end="102"/>
                                            </p:txEl>
                                          </p:spTgt>
                                        </p:tgtEl>
                                        <p:attrNameLst>
                                          <p:attrName>style.visibility</p:attrName>
                                        </p:attrNameLst>
                                      </p:cBhvr>
                                      <p:to>
                                        <p:strVal val="visible"/>
                                      </p:to>
                                    </p:set>
                                    <p:anim to="" calcmode="lin" valueType="num">
                                      <p:cBhvr>
                                        <p:cTn id="28" dur="1" fill="hold"/>
                                        <p:tgtEl>
                                          <p:spTgt spid="654341">
                                            <p:txEl>
                                              <p:charRg st="75" end="102"/>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4339" grpId="0"/>
      <p:bldP spid="65434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62" name="Rectangle 2"/>
          <p:cNvSpPr>
            <a:spLocks noChangeArrowheads="1"/>
          </p:cNvSpPr>
          <p:nvPr/>
        </p:nvSpPr>
        <p:spPr bwMode="auto">
          <a:xfrm>
            <a:off x="539750" y="692150"/>
            <a:ext cx="8066088"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第三册  无线通信设备安装工程 （册名代号</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TSW</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第四册  通信线路工程 （册名代号</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TXL</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第五册  通信管道工程 （册名代号</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TGD</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3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本定额是编制通信建设项目投资估算指标、概算、预算和工程量清单的基础；也可作为通信建设项目招标、投标报价的基础。</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4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本定额适用于新建、扩建工程，改建工程可参照使用。本定额用于扩建工程时，其扩建施工降效部分的人工工日按乘以系数</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1.1</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计取，拆除工程的人工工日计取办法见各册的相关内容。</a:t>
            </a: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55362">
                                            <p:txEl>
                                              <p:charRg st="0" end="26"/>
                                            </p:txEl>
                                          </p:spTgt>
                                        </p:tgtEl>
                                        <p:attrNameLst>
                                          <p:attrName>style.visibility</p:attrName>
                                        </p:attrNameLst>
                                      </p:cBhvr>
                                      <p:to>
                                        <p:strVal val="visible"/>
                                      </p:to>
                                    </p:set>
                                    <p:anim to="" calcmode="lin" valueType="num">
                                      <p:cBhvr>
                                        <p:cTn id="7" dur="1" fill="hold"/>
                                        <p:tgtEl>
                                          <p:spTgt spid="655362">
                                            <p:txEl>
                                              <p:charRg st="0" end="26"/>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55362">
                                            <p:txEl>
                                              <p:charRg st="26" end="48"/>
                                            </p:txEl>
                                          </p:spTgt>
                                        </p:tgtEl>
                                        <p:attrNameLst>
                                          <p:attrName>style.visibility</p:attrName>
                                        </p:attrNameLst>
                                      </p:cBhvr>
                                      <p:to>
                                        <p:strVal val="visible"/>
                                      </p:to>
                                    </p:set>
                                    <p:anim to="" calcmode="lin" valueType="num">
                                      <p:cBhvr>
                                        <p:cTn id="10" dur="1" fill="hold"/>
                                        <p:tgtEl>
                                          <p:spTgt spid="655362">
                                            <p:txEl>
                                              <p:charRg st="26" end="48"/>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55362">
                                            <p:txEl>
                                              <p:charRg st="48" end="70"/>
                                            </p:txEl>
                                          </p:spTgt>
                                        </p:tgtEl>
                                        <p:attrNameLst>
                                          <p:attrName>style.visibility</p:attrName>
                                        </p:attrNameLst>
                                      </p:cBhvr>
                                      <p:to>
                                        <p:strVal val="visible"/>
                                      </p:to>
                                    </p:set>
                                    <p:anim to="" calcmode="lin" valueType="num">
                                      <p:cBhvr>
                                        <p:cTn id="13" dur="1" fill="hold"/>
                                        <p:tgtEl>
                                          <p:spTgt spid="655362">
                                            <p:txEl>
                                              <p:charRg st="48" end="70"/>
                                            </p:txEl>
                                          </p:spTgt>
                                        </p:tgtEl>
                                        <p:attrNameLst>
                                          <p:attrName>style.visibility</p:attrName>
                                        </p:attrNameLst>
                                      </p:cBhvr>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nodeType="clickEffect">
                                  <p:stCondLst>
                                    <p:cond delay="0"/>
                                  </p:stCondLst>
                                  <p:childTnLst>
                                    <p:set>
                                      <p:cBhvr>
                                        <p:cTn id="17" dur="1" fill="hold">
                                          <p:stCondLst>
                                            <p:cond delay="0"/>
                                          </p:stCondLst>
                                        </p:cTn>
                                        <p:tgtEl>
                                          <p:spTgt spid="655362">
                                            <p:txEl>
                                              <p:charRg st="70" end="128"/>
                                            </p:txEl>
                                          </p:spTgt>
                                        </p:tgtEl>
                                        <p:attrNameLst>
                                          <p:attrName>style.visibility</p:attrName>
                                        </p:attrNameLst>
                                      </p:cBhvr>
                                      <p:to>
                                        <p:strVal val="visible"/>
                                      </p:to>
                                    </p:set>
                                    <p:anim to="" calcmode="lin" valueType="num">
                                      <p:cBhvr>
                                        <p:cTn id="18" dur="1" fill="hold"/>
                                        <p:tgtEl>
                                          <p:spTgt spid="655362">
                                            <p:txEl>
                                              <p:charRg st="70" end="128"/>
                                            </p:txEl>
                                          </p:spTgt>
                                        </p:tgtEl>
                                        <p:attrNameLst>
                                          <p:attrName>style.visibility</p:attrName>
                                        </p:attrNameLst>
                                      </p:cBhvr>
                                    </p:anim>
                                  </p:childTnLst>
                                </p:cTn>
                              </p:par>
                            </p:childTnLst>
                          </p:cTn>
                        </p:par>
                      </p:childTnLst>
                    </p:cTn>
                  </p:par>
                  <p:par>
                    <p:cTn id="19" fill="hold">
                      <p:stCondLst>
                        <p:cond delay="indefinite"/>
                      </p:stCondLst>
                      <p:childTnLst>
                        <p:par>
                          <p:cTn id="20" fill="hold">
                            <p:stCondLst>
                              <p:cond delay="0"/>
                            </p:stCondLst>
                            <p:childTnLst>
                              <p:par>
                                <p:cTn id="21" presetID="24" presetClass="entr" presetSubtype="0" fill="hold" nodeType="clickEffect">
                                  <p:stCondLst>
                                    <p:cond delay="0"/>
                                  </p:stCondLst>
                                  <p:childTnLst>
                                    <p:set>
                                      <p:cBhvr>
                                        <p:cTn id="22" dur="1" fill="hold">
                                          <p:stCondLst>
                                            <p:cond delay="0"/>
                                          </p:stCondLst>
                                        </p:cTn>
                                        <p:tgtEl>
                                          <p:spTgt spid="655362">
                                            <p:txEl>
                                              <p:charRg st="128" end="214"/>
                                            </p:txEl>
                                          </p:spTgt>
                                        </p:tgtEl>
                                        <p:attrNameLst>
                                          <p:attrName>style.visibility</p:attrName>
                                        </p:attrNameLst>
                                      </p:cBhvr>
                                      <p:to>
                                        <p:strVal val="visible"/>
                                      </p:to>
                                    </p:set>
                                    <p:anim to="" calcmode="lin" valueType="num">
                                      <p:cBhvr>
                                        <p:cTn id="23" dur="1" fill="hold"/>
                                        <p:tgtEl>
                                          <p:spTgt spid="655362">
                                            <p:txEl>
                                              <p:charRg st="128" end="214"/>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6386" name="Rectangle 2"/>
          <p:cNvSpPr/>
          <p:nvPr/>
        </p:nvSpPr>
        <p:spPr>
          <a:xfrm>
            <a:off x="468313" y="549275"/>
            <a:ext cx="8066087" cy="3487738"/>
          </a:xfrm>
          <a:prstGeom prst="rect">
            <a:avLst/>
          </a:prstGeom>
          <a:noFill/>
          <a:ln w="9525">
            <a:noFill/>
          </a:ln>
        </p:spPr>
        <p:txBody>
          <a:bodyPr anchor="t" anchorCtr="0">
            <a:spAutoFit/>
          </a:bodyPr>
          <a:p>
            <a:pPr>
              <a:lnSpc>
                <a:spcPct val="110000"/>
              </a:lnSpc>
              <a:spcBef>
                <a:spcPct val="50000"/>
              </a:spcBef>
            </a:pPr>
            <a:r>
              <a:rPr lang="en-US" altLang="zh-CN" sz="2400" dirty="0">
                <a:solidFill>
                  <a:srgbClr val="336699"/>
                </a:solidFill>
                <a:latin typeface="Arial" panose="020B0604020202020204" pitchFamily="34" charset="0"/>
                <a:ea typeface="宋体" panose="02010600030101010101" pitchFamily="2" charset="-122"/>
              </a:rPr>
              <a:t>5 </a:t>
            </a:r>
            <a:r>
              <a:rPr lang="zh-CN" altLang="en-US" sz="2400" dirty="0">
                <a:solidFill>
                  <a:srgbClr val="336699"/>
                </a:solidFill>
                <a:latin typeface="Arial" panose="020B0604020202020204" pitchFamily="34" charset="0"/>
                <a:ea typeface="宋体" panose="02010600030101010101" pitchFamily="2" charset="-122"/>
              </a:rPr>
              <a:t>本定额以现行通信工程建设标准、质量评定标准、安全操作规程为编制依据；在</a:t>
            </a:r>
            <a:r>
              <a:rPr lang="en-US" altLang="zh-CN" sz="2400" dirty="0">
                <a:solidFill>
                  <a:srgbClr val="336699"/>
                </a:solidFill>
                <a:latin typeface="Arial" panose="020B0604020202020204" pitchFamily="34" charset="0"/>
                <a:ea typeface="宋体" panose="02010600030101010101" pitchFamily="2" charset="-122"/>
              </a:rPr>
              <a:t>1995</a:t>
            </a:r>
            <a:r>
              <a:rPr lang="zh-CN" altLang="en-US" sz="2400" dirty="0">
                <a:solidFill>
                  <a:srgbClr val="336699"/>
                </a:solidFill>
                <a:latin typeface="Arial" panose="020B0604020202020204" pitchFamily="34" charset="0"/>
                <a:ea typeface="宋体" panose="02010600030101010101" pitchFamily="2" charset="-122"/>
              </a:rPr>
              <a:t>年</a:t>
            </a:r>
            <a:r>
              <a:rPr lang="en-US" altLang="zh-CN" sz="2400" dirty="0">
                <a:solidFill>
                  <a:srgbClr val="336699"/>
                </a:solidFill>
                <a:latin typeface="Arial" panose="020B0604020202020204" pitchFamily="34" charset="0"/>
                <a:ea typeface="宋体" panose="02010600030101010101" pitchFamily="2" charset="-122"/>
              </a:rPr>
              <a:t>9</a:t>
            </a:r>
            <a:r>
              <a:rPr lang="zh-CN" altLang="en-US" sz="2400" dirty="0">
                <a:solidFill>
                  <a:srgbClr val="336699"/>
                </a:solidFill>
                <a:latin typeface="Arial" panose="020B0604020202020204" pitchFamily="34" charset="0"/>
                <a:ea typeface="宋体" panose="02010600030101010101" pitchFamily="2" charset="-122"/>
              </a:rPr>
              <a:t>月</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日原邮电部发布的</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通信建设工程预算定额</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及补充定额的基础上（不含邮政设备安装工程），经过对分项工程计价消耗量再次分析、核定后编制；并增补了部分与新业务、新技术有关的工程项目的定额内容。</a:t>
            </a:r>
            <a:endParaRPr lang="zh-CN" altLang="en-US" sz="2400" dirty="0">
              <a:solidFill>
                <a:srgbClr val="336699"/>
              </a:solidFill>
              <a:latin typeface="Arial" panose="020B0604020202020204" pitchFamily="34" charset="0"/>
              <a:ea typeface="宋体" panose="02010600030101010101" pitchFamily="2" charset="-122"/>
            </a:endParaRPr>
          </a:p>
          <a:p>
            <a:pPr>
              <a:lnSpc>
                <a:spcPct val="110000"/>
              </a:lnSpc>
              <a:spcBef>
                <a:spcPct val="50000"/>
              </a:spcBef>
            </a:pPr>
            <a:r>
              <a:rPr lang="en-US" altLang="zh-CN" sz="2400" dirty="0">
                <a:solidFill>
                  <a:srgbClr val="336699"/>
                </a:solidFill>
                <a:latin typeface="Arial" panose="020B0604020202020204" pitchFamily="34" charset="0"/>
                <a:ea typeface="宋体" panose="02010600030101010101" pitchFamily="2" charset="-122"/>
              </a:rPr>
              <a:t>6 </a:t>
            </a:r>
            <a:r>
              <a:rPr lang="zh-CN" altLang="en-US" sz="2400" dirty="0">
                <a:solidFill>
                  <a:srgbClr val="336699"/>
                </a:solidFill>
                <a:latin typeface="Arial" panose="020B0604020202020204" pitchFamily="34" charset="0"/>
                <a:ea typeface="宋体" panose="02010600030101010101" pitchFamily="2" charset="-122"/>
              </a:rPr>
              <a:t>本定额是按符合质量标准的施工工艺、机械（仪表）装备、合理工期及劳动组织的条件制订。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56386">
                                            <p:txEl>
                                              <p:charRg st="0" end="138"/>
                                            </p:txEl>
                                          </p:spTgt>
                                        </p:tgtEl>
                                        <p:attrNameLst>
                                          <p:attrName>style.visibility</p:attrName>
                                        </p:attrNameLst>
                                      </p:cBhvr>
                                      <p:to>
                                        <p:strVal val="visible"/>
                                      </p:to>
                                    </p:set>
                                    <p:anim to="" calcmode="lin" valueType="num">
                                      <p:cBhvr>
                                        <p:cTn id="7" dur="1" fill="hold"/>
                                        <p:tgtEl>
                                          <p:spTgt spid="656386">
                                            <p:txEl>
                                              <p:charRg st="0" end="138"/>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56386">
                                            <p:txEl>
                                              <p:charRg st="138" end="183"/>
                                            </p:txEl>
                                          </p:spTgt>
                                        </p:tgtEl>
                                        <p:attrNameLst>
                                          <p:attrName>style.visibility</p:attrName>
                                        </p:attrNameLst>
                                      </p:cBhvr>
                                      <p:to>
                                        <p:strVal val="visible"/>
                                      </p:to>
                                    </p:set>
                                    <p:anim to="" calcmode="lin" valueType="num">
                                      <p:cBhvr>
                                        <p:cTn id="12" dur="1" fill="hold"/>
                                        <p:tgtEl>
                                          <p:spTgt spid="656386">
                                            <p:txEl>
                                              <p:charRg st="138" end="183"/>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7410" name="Rectangle 2"/>
          <p:cNvSpPr>
            <a:spLocks noChangeArrowheads="1"/>
          </p:cNvSpPr>
          <p:nvPr/>
        </p:nvSpPr>
        <p:spPr bwMode="auto">
          <a:xfrm>
            <a:off x="539750" y="404813"/>
            <a:ext cx="8353425" cy="547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1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7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本定额的编制条件：</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）设备、材料、成品、半成品、构件符合质量标准和设计要求。</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2</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）通信各专业工程之间、与土建工程之间的交叉作业正常。</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3</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）施工安装地点、建筑物、设备基础、预留孔洞均符合安装要求。</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4</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）正常气候、水电供应等应满足正常施工要求。</a:t>
            </a: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8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本定额根据量价分离的原则，只反映人工工日、主要材料、机械（仪表）台班的消耗量。</a:t>
            </a: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57410">
                                            <p:txEl>
                                              <p:charRg st="0" end="12"/>
                                            </p:txEl>
                                          </p:spTgt>
                                        </p:tgtEl>
                                        <p:attrNameLst>
                                          <p:attrName>style.visibility</p:attrName>
                                        </p:attrNameLst>
                                      </p:cBhvr>
                                      <p:to>
                                        <p:strVal val="visible"/>
                                      </p:to>
                                    </p:set>
                                    <p:anim to="" calcmode="lin" valueType="num">
                                      <p:cBhvr>
                                        <p:cTn id="7" dur="1" fill="hold"/>
                                        <p:tgtEl>
                                          <p:spTgt spid="657410">
                                            <p:txEl>
                                              <p:charRg st="0" end="12"/>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57410">
                                            <p:txEl>
                                              <p:charRg st="12" end="47"/>
                                            </p:txEl>
                                          </p:spTgt>
                                        </p:tgtEl>
                                        <p:attrNameLst>
                                          <p:attrName>style.visibility</p:attrName>
                                        </p:attrNameLst>
                                      </p:cBhvr>
                                      <p:to>
                                        <p:strVal val="visible"/>
                                      </p:to>
                                    </p:set>
                                    <p:anim to="" calcmode="lin" valueType="num">
                                      <p:cBhvr>
                                        <p:cTn id="10" dur="1" fill="hold"/>
                                        <p:tgtEl>
                                          <p:spTgt spid="657410">
                                            <p:txEl>
                                              <p:charRg st="12" end="47"/>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57410">
                                            <p:txEl>
                                              <p:charRg st="47" end="80"/>
                                            </p:txEl>
                                          </p:spTgt>
                                        </p:tgtEl>
                                        <p:attrNameLst>
                                          <p:attrName>style.visibility</p:attrName>
                                        </p:attrNameLst>
                                      </p:cBhvr>
                                      <p:to>
                                        <p:strVal val="visible"/>
                                      </p:to>
                                    </p:set>
                                    <p:anim to="" calcmode="lin" valueType="num">
                                      <p:cBhvr>
                                        <p:cTn id="13" dur="1" fill="hold"/>
                                        <p:tgtEl>
                                          <p:spTgt spid="657410">
                                            <p:txEl>
                                              <p:charRg st="47" end="80"/>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657410">
                                            <p:txEl>
                                              <p:charRg st="80" end="116"/>
                                            </p:txEl>
                                          </p:spTgt>
                                        </p:tgtEl>
                                        <p:attrNameLst>
                                          <p:attrName>style.visibility</p:attrName>
                                        </p:attrNameLst>
                                      </p:cBhvr>
                                      <p:to>
                                        <p:strVal val="visible"/>
                                      </p:to>
                                    </p:set>
                                    <p:anim to="" calcmode="lin" valueType="num">
                                      <p:cBhvr>
                                        <p:cTn id="16" dur="1" fill="hold"/>
                                        <p:tgtEl>
                                          <p:spTgt spid="657410">
                                            <p:txEl>
                                              <p:charRg st="80" end="116"/>
                                            </p:txEl>
                                          </p:spTgt>
                                        </p:tgtEl>
                                        <p:attrNameLst>
                                          <p:attrName>style.visibility</p:attrName>
                                        </p:attrNameLst>
                                      </p:cBhvr>
                                    </p:anim>
                                  </p:childTnLst>
                                </p:cTn>
                              </p:par>
                              <p:par>
                                <p:cTn id="17" presetID="24" presetClass="entr" presetSubtype="0" fill="hold" nodeType="withEffect">
                                  <p:stCondLst>
                                    <p:cond delay="0"/>
                                  </p:stCondLst>
                                  <p:childTnLst>
                                    <p:set>
                                      <p:cBhvr>
                                        <p:cTn id="18" dur="1" fill="hold">
                                          <p:stCondLst>
                                            <p:cond delay="0"/>
                                          </p:stCondLst>
                                        </p:cTn>
                                        <p:tgtEl>
                                          <p:spTgt spid="657410">
                                            <p:txEl>
                                              <p:charRg st="116" end="146"/>
                                            </p:txEl>
                                          </p:spTgt>
                                        </p:tgtEl>
                                        <p:attrNameLst>
                                          <p:attrName>style.visibility</p:attrName>
                                        </p:attrNameLst>
                                      </p:cBhvr>
                                      <p:to>
                                        <p:strVal val="visible"/>
                                      </p:to>
                                    </p:set>
                                    <p:anim to="" calcmode="lin" valueType="num">
                                      <p:cBhvr>
                                        <p:cTn id="19" dur="1" fill="hold"/>
                                        <p:tgtEl>
                                          <p:spTgt spid="657410">
                                            <p:txEl>
                                              <p:charRg st="116" end="146"/>
                                            </p:txEl>
                                          </p:spTgt>
                                        </p:tgtEl>
                                        <p:attrNameLst>
                                          <p:attrName>style.visibility</p:attrName>
                                        </p:attrNameLst>
                                      </p:cBhvr>
                                    </p:anim>
                                  </p:childTnLst>
                                </p:cTn>
                              </p:par>
                            </p:childTnLst>
                          </p:cTn>
                        </p:par>
                      </p:childTnLst>
                    </p:cTn>
                  </p:par>
                  <p:par>
                    <p:cTn id="20" fill="hold">
                      <p:stCondLst>
                        <p:cond delay="indefinite"/>
                      </p:stCondLst>
                      <p:childTnLst>
                        <p:par>
                          <p:cTn id="21" fill="hold">
                            <p:stCondLst>
                              <p:cond delay="0"/>
                            </p:stCondLst>
                            <p:childTnLst>
                              <p:par>
                                <p:cTn id="22" presetID="24" presetClass="entr" presetSubtype="0" fill="hold" nodeType="clickEffect">
                                  <p:stCondLst>
                                    <p:cond delay="0"/>
                                  </p:stCondLst>
                                  <p:childTnLst>
                                    <p:set>
                                      <p:cBhvr>
                                        <p:cTn id="23" dur="1" fill="hold">
                                          <p:stCondLst>
                                            <p:cond delay="0"/>
                                          </p:stCondLst>
                                        </p:cTn>
                                        <p:tgtEl>
                                          <p:spTgt spid="657410">
                                            <p:txEl>
                                              <p:charRg st="146" end="189"/>
                                            </p:txEl>
                                          </p:spTgt>
                                        </p:tgtEl>
                                        <p:attrNameLst>
                                          <p:attrName>style.visibility</p:attrName>
                                        </p:attrNameLst>
                                      </p:cBhvr>
                                      <p:to>
                                        <p:strVal val="visible"/>
                                      </p:to>
                                    </p:set>
                                    <p:anim to="" calcmode="lin" valueType="num">
                                      <p:cBhvr>
                                        <p:cTn id="24" dur="1" fill="hold"/>
                                        <p:tgtEl>
                                          <p:spTgt spid="657410">
                                            <p:txEl>
                                              <p:charRg st="146" end="189"/>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8434" name="Rectangle 2"/>
          <p:cNvSpPr/>
          <p:nvPr/>
        </p:nvSpPr>
        <p:spPr>
          <a:xfrm>
            <a:off x="468313" y="476250"/>
            <a:ext cx="8353425" cy="1004888"/>
          </a:xfrm>
          <a:prstGeom prst="rect">
            <a:avLst/>
          </a:prstGeom>
          <a:noFill/>
          <a:ln w="9525">
            <a:noFill/>
          </a:ln>
        </p:spPr>
        <p:txBody>
          <a:bodyPr anchor="t" anchorCtr="0">
            <a:spAutoFit/>
          </a:bodyPr>
          <a:p>
            <a:pPr>
              <a:spcBef>
                <a:spcPct val="50000"/>
              </a:spcBef>
            </a:pPr>
            <a:r>
              <a:rPr lang="en-US" altLang="zh-CN" sz="2400" dirty="0">
                <a:solidFill>
                  <a:srgbClr val="336699"/>
                </a:solidFill>
                <a:latin typeface="Arial" panose="020B0604020202020204" pitchFamily="34" charset="0"/>
                <a:ea typeface="宋体" panose="02010600030101010101" pitchFamily="2" charset="-122"/>
              </a:rPr>
              <a:t>9 </a:t>
            </a:r>
            <a:r>
              <a:rPr lang="zh-CN" altLang="en-US" sz="2400" dirty="0">
                <a:solidFill>
                  <a:srgbClr val="336699"/>
                </a:solidFill>
                <a:latin typeface="Arial" panose="020B0604020202020204" pitchFamily="34" charset="0"/>
                <a:ea typeface="宋体" panose="02010600030101010101" pitchFamily="2" charset="-122"/>
              </a:rPr>
              <a:t>关于人工：</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）本定额人工的分类为技术工和普通工。</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58435" name="Rectangle 3"/>
          <p:cNvSpPr/>
          <p:nvPr/>
        </p:nvSpPr>
        <p:spPr>
          <a:xfrm>
            <a:off x="1763713" y="1557338"/>
            <a:ext cx="2376487" cy="1006475"/>
          </a:xfrm>
          <a:prstGeom prst="rect">
            <a:avLst/>
          </a:prstGeom>
          <a:noFill/>
          <a:ln w="9525">
            <a:noFill/>
          </a:ln>
        </p:spPr>
        <p:txBody>
          <a:bodyPr anchor="t" anchorCtr="0">
            <a:spAutoFit/>
          </a:bodyPr>
          <a:p>
            <a:pPr algn="ctr">
              <a:spcBef>
                <a:spcPct val="50000"/>
              </a:spcBef>
            </a:pPr>
            <a:r>
              <a:rPr lang="zh-CN" altLang="en-US" dirty="0">
                <a:solidFill>
                  <a:srgbClr val="FF9900"/>
                </a:solidFill>
                <a:latin typeface="Arial" panose="020B0604020202020204" pitchFamily="34" charset="0"/>
                <a:ea typeface="楷体_GB2312" pitchFamily="49" charset="-122"/>
              </a:rPr>
              <a:t>完成分项工程和附属工程定额实体单位产品的加工量</a:t>
            </a:r>
            <a:endParaRPr lang="zh-CN" altLang="en-US" dirty="0">
              <a:solidFill>
                <a:srgbClr val="FF9900"/>
              </a:solidFill>
              <a:latin typeface="Arial" panose="020B0604020202020204" pitchFamily="34" charset="0"/>
              <a:ea typeface="楷体_GB2312" pitchFamily="49" charset="-122"/>
            </a:endParaRPr>
          </a:p>
        </p:txBody>
      </p:sp>
      <p:sp>
        <p:nvSpPr>
          <p:cNvPr id="658436" name="Rectangle 4"/>
          <p:cNvSpPr/>
          <p:nvPr/>
        </p:nvSpPr>
        <p:spPr>
          <a:xfrm>
            <a:off x="6300788" y="1557338"/>
            <a:ext cx="1871662" cy="701675"/>
          </a:xfrm>
          <a:prstGeom prst="rect">
            <a:avLst/>
          </a:prstGeom>
          <a:noFill/>
          <a:ln w="9525">
            <a:noFill/>
          </a:ln>
        </p:spPr>
        <p:txBody>
          <a:bodyPr anchor="t" anchorCtr="0">
            <a:spAutoFit/>
          </a:bodyPr>
          <a:p>
            <a:pPr algn="ctr">
              <a:spcBef>
                <a:spcPct val="50000"/>
              </a:spcBef>
            </a:pPr>
            <a:r>
              <a:rPr lang="zh-CN" altLang="en-US" dirty="0">
                <a:solidFill>
                  <a:srgbClr val="660066"/>
                </a:solidFill>
                <a:latin typeface="Arial" panose="020B0604020202020204" pitchFamily="34" charset="0"/>
                <a:ea typeface="楷体_GB2312" pitchFamily="49" charset="-122"/>
              </a:rPr>
              <a:t>定额中未说明的工序用工量</a:t>
            </a:r>
            <a:endParaRPr lang="zh-CN" altLang="en-US" dirty="0">
              <a:solidFill>
                <a:srgbClr val="660066"/>
              </a:solidFill>
              <a:latin typeface="Arial" panose="020B0604020202020204" pitchFamily="34" charset="0"/>
              <a:ea typeface="楷体_GB2312" pitchFamily="49" charset="-122"/>
            </a:endParaRPr>
          </a:p>
        </p:txBody>
      </p:sp>
      <p:sp>
        <p:nvSpPr>
          <p:cNvPr id="658437" name="Rectangle 5"/>
          <p:cNvSpPr/>
          <p:nvPr/>
        </p:nvSpPr>
        <p:spPr>
          <a:xfrm>
            <a:off x="3563938" y="4868863"/>
            <a:ext cx="2808287" cy="1311275"/>
          </a:xfrm>
          <a:prstGeom prst="rect">
            <a:avLst/>
          </a:prstGeom>
          <a:noFill/>
          <a:ln w="9525">
            <a:noFill/>
          </a:ln>
        </p:spPr>
        <p:txBody>
          <a:bodyPr anchor="t" anchorCtr="0">
            <a:spAutoFit/>
          </a:bodyPr>
          <a:p>
            <a:pPr algn="ctr">
              <a:spcBef>
                <a:spcPct val="50000"/>
              </a:spcBef>
            </a:pPr>
            <a:r>
              <a:rPr lang="zh-CN" altLang="en-US" dirty="0">
                <a:solidFill>
                  <a:srgbClr val="336600"/>
                </a:solidFill>
                <a:latin typeface="Arial" panose="020B0604020202020204" pitchFamily="34" charset="0"/>
                <a:ea typeface="楷体_GB2312" pitchFamily="49" charset="-122"/>
              </a:rPr>
              <a:t>定额中未说明的而在正常施工条件下必然发生的零星用工量的零星用工量</a:t>
            </a:r>
            <a:endParaRPr lang="zh-CN" altLang="en-US" dirty="0">
              <a:solidFill>
                <a:srgbClr val="336600"/>
              </a:solidFill>
              <a:latin typeface="Arial" panose="020B0604020202020204" pitchFamily="34" charset="0"/>
              <a:ea typeface="楷体_GB2312" pitchFamily="49" charset="-122"/>
            </a:endParaRPr>
          </a:p>
        </p:txBody>
      </p:sp>
      <p:sp>
        <p:nvSpPr>
          <p:cNvPr id="658438" name="AutoShape 6"/>
          <p:cNvSpPr>
            <a:spLocks noChangeArrowheads="1"/>
          </p:cNvSpPr>
          <p:nvPr/>
        </p:nvSpPr>
        <p:spPr bwMode="auto">
          <a:xfrm>
            <a:off x="1476375" y="1484313"/>
            <a:ext cx="3024188" cy="1223963"/>
          </a:xfrm>
          <a:prstGeom prst="cloudCallout">
            <a:avLst>
              <a:gd name="adj1" fmla="val 68269"/>
              <a:gd name="adj2" fmla="val 86444"/>
            </a:avLst>
          </a:prstGeom>
          <a:noFill/>
          <a:ln w="9525">
            <a:solidFill>
              <a:srgbClr val="FF6600"/>
            </a:solidFill>
            <a:roun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58439" name="AutoShape 7"/>
          <p:cNvSpPr>
            <a:spLocks noChangeArrowheads="1"/>
          </p:cNvSpPr>
          <p:nvPr/>
        </p:nvSpPr>
        <p:spPr bwMode="auto">
          <a:xfrm>
            <a:off x="3203575" y="4724400"/>
            <a:ext cx="3384550" cy="1512888"/>
          </a:xfrm>
          <a:prstGeom prst="cloudCallout">
            <a:avLst>
              <a:gd name="adj1" fmla="val 48171"/>
              <a:gd name="adj2" fmla="val -115162"/>
            </a:avLst>
          </a:prstGeom>
          <a:noFill/>
          <a:ln w="9525">
            <a:solidFill>
              <a:srgbClr val="008000"/>
            </a:solidFill>
            <a:roun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58440" name="AutoShape 8"/>
          <p:cNvSpPr>
            <a:spLocks noChangeArrowheads="1"/>
          </p:cNvSpPr>
          <p:nvPr/>
        </p:nvSpPr>
        <p:spPr bwMode="auto">
          <a:xfrm>
            <a:off x="6156325" y="1412875"/>
            <a:ext cx="2159000" cy="1079500"/>
          </a:xfrm>
          <a:prstGeom prst="cloudCallout">
            <a:avLst>
              <a:gd name="adj1" fmla="val 59926"/>
              <a:gd name="adj2" fmla="val 111324"/>
            </a:avLst>
          </a:prstGeom>
          <a:noFill/>
          <a:ln w="9525">
            <a:solidFill>
              <a:srgbClr val="800080"/>
            </a:solidFill>
            <a:round/>
          </a:ln>
          <a:extLst>
            <a:ext uri="{909E8E84-426E-40DD-AFC4-6F175D3DCCD1}">
              <a14:hiddenFill xmlns:a14="http://schemas.microsoft.com/office/drawing/2010/main">
                <a:solidFill>
                  <a:srgbClr val="FFFFFF"/>
                </a:solidFill>
              </a14:hiddenFill>
            </a:ext>
          </a:extLst>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658441" name="Rectangle 9"/>
          <p:cNvSpPr/>
          <p:nvPr/>
        </p:nvSpPr>
        <p:spPr>
          <a:xfrm>
            <a:off x="333375" y="3224213"/>
            <a:ext cx="8607425" cy="457200"/>
          </a:xfrm>
          <a:prstGeom prst="rect">
            <a:avLst/>
          </a:prstGeom>
          <a:noFill/>
          <a:ln w="9525">
            <a:noFill/>
          </a:ln>
        </p:spPr>
        <p:txBody>
          <a:bodyPr wrap="none" anchor="t" anchorCtr="0">
            <a:spAutoFit/>
          </a:bodyPr>
          <a:p>
            <a:pPr algn="ct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）本定额的人工消耗量包括</a:t>
            </a:r>
            <a:r>
              <a:rPr lang="zh-CN" altLang="en-US" sz="2400" dirty="0">
                <a:solidFill>
                  <a:srgbClr val="FF9900"/>
                </a:solidFill>
                <a:latin typeface="Arial" panose="020B0604020202020204" pitchFamily="34" charset="0"/>
                <a:ea typeface="华文隶书" panose="02010800040101010101" pitchFamily="2" charset="-122"/>
              </a:rPr>
              <a:t>基本用工</a:t>
            </a:r>
            <a:r>
              <a:rPr lang="zh-CN" altLang="en-US"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00"/>
                </a:solidFill>
                <a:latin typeface="Arial" panose="020B0604020202020204" pitchFamily="34" charset="0"/>
                <a:ea typeface="华文隶书" panose="02010800040101010101" pitchFamily="2" charset="-122"/>
              </a:rPr>
              <a:t>辅助用工</a:t>
            </a:r>
            <a:r>
              <a:rPr lang="zh-CN" altLang="en-US" sz="2400" dirty="0">
                <a:solidFill>
                  <a:srgbClr val="336699"/>
                </a:solidFill>
                <a:latin typeface="Arial" panose="020B0604020202020204" pitchFamily="34" charset="0"/>
                <a:ea typeface="宋体" panose="02010600030101010101" pitchFamily="2" charset="-122"/>
              </a:rPr>
              <a:t>和</a:t>
            </a:r>
            <a:r>
              <a:rPr lang="zh-CN" altLang="en-US" sz="2400" dirty="0">
                <a:solidFill>
                  <a:srgbClr val="660066"/>
                </a:solidFill>
                <a:latin typeface="Arial" panose="020B0604020202020204" pitchFamily="34" charset="0"/>
                <a:ea typeface="华文隶书" panose="02010800040101010101" pitchFamily="2" charset="-122"/>
              </a:rPr>
              <a:t>其他用工</a:t>
            </a:r>
            <a:endParaRPr lang="zh-CN" altLang="en-US" sz="2400" dirty="0">
              <a:solidFill>
                <a:srgbClr val="336699"/>
              </a:solidFill>
              <a:latin typeface="Arial" panose="020B0604020202020204" pitchFamily="34" charset="0"/>
              <a:ea typeface="华文隶书"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8434">
                                            <p:txEl>
                                              <p:charRg st="0" end="8"/>
                                            </p:txEl>
                                          </p:spTgt>
                                        </p:tgtEl>
                                        <p:attrNameLst>
                                          <p:attrName>style.visibility</p:attrName>
                                        </p:attrNameLst>
                                      </p:cBhvr>
                                      <p:to>
                                        <p:strVal val="visible"/>
                                      </p:to>
                                    </p:set>
                                    <p:animEffect transition="in" filter="blinds(horizontal)">
                                      <p:cBhvr>
                                        <p:cTn id="7" dur="500"/>
                                        <p:tgtEl>
                                          <p:spTgt spid="658434">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58434">
                                            <p:txEl>
                                              <p:charRg st="8" end="29"/>
                                            </p:txEl>
                                          </p:spTgt>
                                        </p:tgtEl>
                                        <p:attrNameLst>
                                          <p:attrName>style.visibility</p:attrName>
                                        </p:attrNameLst>
                                      </p:cBhvr>
                                      <p:to>
                                        <p:strVal val="visible"/>
                                      </p:to>
                                    </p:set>
                                    <p:animEffect transition="in" filter="checkerboard(across)">
                                      <p:cBhvr>
                                        <p:cTn id="12" dur="500"/>
                                        <p:tgtEl>
                                          <p:spTgt spid="658434">
                                            <p:txEl>
                                              <p:charRg st="8" end="2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58441">
                                            <p:txEl>
                                              <p:charRg st="0" end="29"/>
                                            </p:txEl>
                                          </p:spTgt>
                                        </p:tgtEl>
                                        <p:attrNameLst>
                                          <p:attrName>style.visibility</p:attrName>
                                        </p:attrNameLst>
                                      </p:cBhvr>
                                      <p:to>
                                        <p:strVal val="visible"/>
                                      </p:to>
                                    </p:set>
                                    <p:anim to="" calcmode="lin" valueType="num">
                                      <p:cBhvr>
                                        <p:cTn id="17" dur="1" fill="hold"/>
                                        <p:tgtEl>
                                          <p:spTgt spid="658441">
                                            <p:txEl>
                                              <p:charRg st="0" end="29"/>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658435"/>
                                        </p:tgtEl>
                                        <p:attrNameLst>
                                          <p:attrName>style.visibility</p:attrName>
                                        </p:attrNameLst>
                                      </p:cBhvr>
                                      <p:to>
                                        <p:strVal val="visible"/>
                                      </p:to>
                                    </p:set>
                                    <p:animEffect transition="in" filter="circle(in)">
                                      <p:cBhvr>
                                        <p:cTn id="22" dur="2000"/>
                                        <p:tgtEl>
                                          <p:spTgt spid="658435"/>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658438"/>
                                        </p:tgtEl>
                                        <p:attrNameLst>
                                          <p:attrName>style.visibility</p:attrName>
                                        </p:attrNameLst>
                                      </p:cBhvr>
                                      <p:to>
                                        <p:strVal val="visible"/>
                                      </p:to>
                                    </p:set>
                                    <p:animEffect transition="in" filter="circle(in)">
                                      <p:cBhvr>
                                        <p:cTn id="25" dur="2000"/>
                                        <p:tgtEl>
                                          <p:spTgt spid="658438"/>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grpId="0" nodeType="clickEffect">
                                  <p:stCondLst>
                                    <p:cond delay="0"/>
                                  </p:stCondLst>
                                  <p:childTnLst>
                                    <p:set>
                                      <p:cBhvr>
                                        <p:cTn id="29" dur="1" fill="hold">
                                          <p:stCondLst>
                                            <p:cond delay="0"/>
                                          </p:stCondLst>
                                        </p:cTn>
                                        <p:tgtEl>
                                          <p:spTgt spid="658437"/>
                                        </p:tgtEl>
                                        <p:attrNameLst>
                                          <p:attrName>style.visibility</p:attrName>
                                        </p:attrNameLst>
                                      </p:cBhvr>
                                      <p:to>
                                        <p:strVal val="visible"/>
                                      </p:to>
                                    </p:set>
                                    <p:animEffect transition="in" filter="diamond(in)">
                                      <p:cBhvr>
                                        <p:cTn id="30" dur="2000"/>
                                        <p:tgtEl>
                                          <p:spTgt spid="658437"/>
                                        </p:tgtEl>
                                      </p:cBhvr>
                                    </p:animEffect>
                                  </p:childTnLst>
                                </p:cTn>
                              </p:par>
                              <p:par>
                                <p:cTn id="31" presetID="8" presetClass="entr" presetSubtype="16" fill="hold" grpId="0" nodeType="withEffect">
                                  <p:stCondLst>
                                    <p:cond delay="0"/>
                                  </p:stCondLst>
                                  <p:childTnLst>
                                    <p:set>
                                      <p:cBhvr>
                                        <p:cTn id="32" dur="1" fill="hold">
                                          <p:stCondLst>
                                            <p:cond delay="0"/>
                                          </p:stCondLst>
                                        </p:cTn>
                                        <p:tgtEl>
                                          <p:spTgt spid="658439"/>
                                        </p:tgtEl>
                                        <p:attrNameLst>
                                          <p:attrName>style.visibility</p:attrName>
                                        </p:attrNameLst>
                                      </p:cBhvr>
                                      <p:to>
                                        <p:strVal val="visible"/>
                                      </p:to>
                                    </p:set>
                                    <p:animEffect transition="in" filter="diamond(in)">
                                      <p:cBhvr>
                                        <p:cTn id="33" dur="2000"/>
                                        <p:tgtEl>
                                          <p:spTgt spid="658439"/>
                                        </p:tgtEl>
                                      </p:cBhvr>
                                    </p:animEffect>
                                  </p:childTnLst>
                                </p:cTn>
                              </p:par>
                            </p:childTnLst>
                          </p:cTn>
                        </p:par>
                      </p:childTnLst>
                    </p:cTn>
                  </p:par>
                  <p:par>
                    <p:cTn id="34" fill="hold">
                      <p:stCondLst>
                        <p:cond delay="indefinite"/>
                      </p:stCondLst>
                      <p:childTnLst>
                        <p:par>
                          <p:cTn id="35" fill="hold">
                            <p:stCondLst>
                              <p:cond delay="0"/>
                            </p:stCondLst>
                            <p:childTnLst>
                              <p:par>
                                <p:cTn id="36" presetID="8" presetClass="entr" presetSubtype="16" fill="hold" grpId="0" nodeType="clickEffect">
                                  <p:stCondLst>
                                    <p:cond delay="0"/>
                                  </p:stCondLst>
                                  <p:childTnLst>
                                    <p:set>
                                      <p:cBhvr>
                                        <p:cTn id="37" dur="1" fill="hold">
                                          <p:stCondLst>
                                            <p:cond delay="0"/>
                                          </p:stCondLst>
                                        </p:cTn>
                                        <p:tgtEl>
                                          <p:spTgt spid="658436"/>
                                        </p:tgtEl>
                                        <p:attrNameLst>
                                          <p:attrName>style.visibility</p:attrName>
                                        </p:attrNameLst>
                                      </p:cBhvr>
                                      <p:to>
                                        <p:strVal val="visible"/>
                                      </p:to>
                                    </p:set>
                                    <p:animEffect transition="in" filter="diamond(in)">
                                      <p:cBhvr>
                                        <p:cTn id="38" dur="2000"/>
                                        <p:tgtEl>
                                          <p:spTgt spid="658436"/>
                                        </p:tgtEl>
                                      </p:cBhvr>
                                    </p:animEffect>
                                  </p:childTnLst>
                                </p:cTn>
                              </p:par>
                              <p:par>
                                <p:cTn id="39" presetID="8" presetClass="entr" presetSubtype="16" fill="hold" grpId="0" nodeType="withEffect">
                                  <p:stCondLst>
                                    <p:cond delay="0"/>
                                  </p:stCondLst>
                                  <p:childTnLst>
                                    <p:set>
                                      <p:cBhvr>
                                        <p:cTn id="40" dur="1" fill="hold">
                                          <p:stCondLst>
                                            <p:cond delay="0"/>
                                          </p:stCondLst>
                                        </p:cTn>
                                        <p:tgtEl>
                                          <p:spTgt spid="658440"/>
                                        </p:tgtEl>
                                        <p:attrNameLst>
                                          <p:attrName>style.visibility</p:attrName>
                                        </p:attrNameLst>
                                      </p:cBhvr>
                                      <p:to>
                                        <p:strVal val="visible"/>
                                      </p:to>
                                    </p:set>
                                    <p:animEffect transition="in" filter="diamond(in)">
                                      <p:cBhvr>
                                        <p:cTn id="41" dur="2000"/>
                                        <p:tgtEl>
                                          <p:spTgt spid="6584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435" grpId="0"/>
      <p:bldP spid="658436" grpId="0"/>
      <p:bldP spid="658437" grpId="0"/>
      <p:bldP spid="658438" grpId="0" animBg="1"/>
      <p:bldP spid="658439" grpId="0" animBg="1"/>
      <p:bldP spid="65844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9458" name="Rectangle 2"/>
          <p:cNvSpPr>
            <a:spLocks noChangeArrowheads="1"/>
          </p:cNvSpPr>
          <p:nvPr/>
        </p:nvSpPr>
        <p:spPr bwMode="auto">
          <a:xfrm>
            <a:off x="468313" y="476250"/>
            <a:ext cx="8351838"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1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10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关于材料：</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）本定额中的材料长度，凡未注明计量单位者均为毫米。</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2</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）本定额中的材料消耗量包括直接用于安装工程中的主要材料使用量和规定的损耗量；规定的损耗量指施工运输、现场堆放和生产过程中不可避免的合理损耗量。</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3</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）施工措施性消耗部分和周转性材料按不同施工方法、不同材质分别列出一次使用量和一次摊销量。</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1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4</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）本定额仅计列直接构成工程实体的主要材料，辅助材料的计算方法按的相关规定计列。定额子目中注明由设计计列的材料，设计时应按实计列。</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59458">
                                            <p:txEl>
                                              <p:charRg st="0" end="9"/>
                                            </p:txEl>
                                          </p:spTgt>
                                        </p:tgtEl>
                                        <p:attrNameLst>
                                          <p:attrName>style.visibility</p:attrName>
                                        </p:attrNameLst>
                                      </p:cBhvr>
                                      <p:to>
                                        <p:strVal val="visible"/>
                                      </p:to>
                                    </p:set>
                                    <p:anim to="" calcmode="lin" valueType="num">
                                      <p:cBhvr>
                                        <p:cTn id="7" dur="1" fill="hold"/>
                                        <p:tgtEl>
                                          <p:spTgt spid="659458">
                                            <p:txEl>
                                              <p:charRg st="0" end="9"/>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59458">
                                            <p:txEl>
                                              <p:charRg st="9" end="37"/>
                                            </p:txEl>
                                          </p:spTgt>
                                        </p:tgtEl>
                                        <p:attrNameLst>
                                          <p:attrName>style.visibility</p:attrName>
                                        </p:attrNameLst>
                                      </p:cBhvr>
                                      <p:to>
                                        <p:strVal val="visible"/>
                                      </p:to>
                                    </p:set>
                                    <p:anim to="" calcmode="lin" valueType="num">
                                      <p:cBhvr>
                                        <p:cTn id="10" dur="1" fill="hold"/>
                                        <p:tgtEl>
                                          <p:spTgt spid="659458">
                                            <p:txEl>
                                              <p:charRg st="9" end="37"/>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59458">
                                            <p:txEl>
                                              <p:charRg st="37" end="111"/>
                                            </p:txEl>
                                          </p:spTgt>
                                        </p:tgtEl>
                                        <p:attrNameLst>
                                          <p:attrName>style.visibility</p:attrName>
                                        </p:attrNameLst>
                                      </p:cBhvr>
                                      <p:to>
                                        <p:strVal val="visible"/>
                                      </p:to>
                                    </p:set>
                                    <p:anim to="" calcmode="lin" valueType="num">
                                      <p:cBhvr>
                                        <p:cTn id="13" dur="1" fill="hold"/>
                                        <p:tgtEl>
                                          <p:spTgt spid="659458">
                                            <p:txEl>
                                              <p:charRg st="37" end="111"/>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659458">
                                            <p:txEl>
                                              <p:charRg st="111" end="158"/>
                                            </p:txEl>
                                          </p:spTgt>
                                        </p:tgtEl>
                                        <p:attrNameLst>
                                          <p:attrName>style.visibility</p:attrName>
                                        </p:attrNameLst>
                                      </p:cBhvr>
                                      <p:to>
                                        <p:strVal val="visible"/>
                                      </p:to>
                                    </p:set>
                                    <p:anim to="" calcmode="lin" valueType="num">
                                      <p:cBhvr>
                                        <p:cTn id="16" dur="1" fill="hold"/>
                                        <p:tgtEl>
                                          <p:spTgt spid="659458">
                                            <p:txEl>
                                              <p:charRg st="111" end="158"/>
                                            </p:txEl>
                                          </p:spTgt>
                                        </p:tgtEl>
                                        <p:attrNameLst>
                                          <p:attrName>style.visibility</p:attrName>
                                        </p:attrNameLst>
                                      </p:cBhvr>
                                    </p:anim>
                                  </p:childTnLst>
                                </p:cTn>
                              </p:par>
                              <p:par>
                                <p:cTn id="17" presetID="24" presetClass="entr" presetSubtype="0" fill="hold" nodeType="withEffect">
                                  <p:stCondLst>
                                    <p:cond delay="0"/>
                                  </p:stCondLst>
                                  <p:childTnLst>
                                    <p:set>
                                      <p:cBhvr>
                                        <p:cTn id="18" dur="1" fill="hold">
                                          <p:stCondLst>
                                            <p:cond delay="0"/>
                                          </p:stCondLst>
                                        </p:cTn>
                                        <p:tgtEl>
                                          <p:spTgt spid="659458">
                                            <p:txEl>
                                              <p:charRg st="158" end="225"/>
                                            </p:txEl>
                                          </p:spTgt>
                                        </p:tgtEl>
                                        <p:attrNameLst>
                                          <p:attrName>style.visibility</p:attrName>
                                        </p:attrNameLst>
                                      </p:cBhvr>
                                      <p:to>
                                        <p:strVal val="visible"/>
                                      </p:to>
                                    </p:set>
                                    <p:anim to="" calcmode="lin" valueType="num">
                                      <p:cBhvr>
                                        <p:cTn id="19" dur="1" fill="hold"/>
                                        <p:tgtEl>
                                          <p:spTgt spid="659458">
                                            <p:txEl>
                                              <p:charRg st="158" end="225"/>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0482" name="Rectangle 2"/>
          <p:cNvSpPr>
            <a:spLocks noChangeArrowheads="1"/>
          </p:cNvSpPr>
          <p:nvPr/>
        </p:nvSpPr>
        <p:spPr bwMode="auto">
          <a:xfrm>
            <a:off x="468313" y="692150"/>
            <a:ext cx="8207375"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5</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）本定额不含施工用水、电、蒸汽等费用；此类费用在设计概、预算中根据工程实际情况在建筑安装工程费中按实计列。</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关于施工机械：</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）本定额的机械台班消耗量是按正常合理的机械配备综合取定的。</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2</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）施工机械单位价值在</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2000</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元以上，构成固定资产的列入本定额的机械台班。</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3</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）施工机械台班单价参照有关部门动态发布的</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通信建设工程施工机械、仪表台班定额</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60482">
                                            <p:txEl>
                                              <p:charRg st="0" end="56"/>
                                            </p:txEl>
                                          </p:spTgt>
                                        </p:tgtEl>
                                        <p:attrNameLst>
                                          <p:attrName>style.visibility</p:attrName>
                                        </p:attrNameLst>
                                      </p:cBhvr>
                                      <p:to>
                                        <p:strVal val="visible"/>
                                      </p:to>
                                    </p:set>
                                    <p:animEffect transition="in" filter="checkerboard(across)">
                                      <p:cBhvr>
                                        <p:cTn id="7" dur="500"/>
                                        <p:tgtEl>
                                          <p:spTgt spid="660482">
                                            <p:txEl>
                                              <p:charRg st="0" end="5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60482">
                                            <p:txEl>
                                              <p:charRg st="56" end="67"/>
                                            </p:txEl>
                                          </p:spTgt>
                                        </p:tgtEl>
                                        <p:attrNameLst>
                                          <p:attrName>style.visibility</p:attrName>
                                        </p:attrNameLst>
                                      </p:cBhvr>
                                      <p:to>
                                        <p:strVal val="visible"/>
                                      </p:to>
                                    </p:set>
                                    <p:anim to="" calcmode="lin" valueType="num">
                                      <p:cBhvr>
                                        <p:cTn id="12" dur="1" fill="hold"/>
                                        <p:tgtEl>
                                          <p:spTgt spid="660482">
                                            <p:txEl>
                                              <p:charRg st="56" end="67"/>
                                            </p:txEl>
                                          </p:spTgt>
                                        </p:tgtEl>
                                        <p:attrNameLst>
                                          <p:attrName>style.visibility</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660482">
                                            <p:txEl>
                                              <p:charRg st="67" end="99"/>
                                            </p:txEl>
                                          </p:spTgt>
                                        </p:tgtEl>
                                        <p:attrNameLst>
                                          <p:attrName>style.visibility</p:attrName>
                                        </p:attrNameLst>
                                      </p:cBhvr>
                                      <p:to>
                                        <p:strVal val="visible"/>
                                      </p:to>
                                    </p:set>
                                    <p:anim to="" calcmode="lin" valueType="num">
                                      <p:cBhvr>
                                        <p:cTn id="15" dur="1" fill="hold"/>
                                        <p:tgtEl>
                                          <p:spTgt spid="660482">
                                            <p:txEl>
                                              <p:charRg st="67" end="99"/>
                                            </p:txEl>
                                          </p:spTgt>
                                        </p:tgtEl>
                                        <p:attrNameLst>
                                          <p:attrName>style.visibility</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660482">
                                            <p:txEl>
                                              <p:charRg st="99" end="138"/>
                                            </p:txEl>
                                          </p:spTgt>
                                        </p:tgtEl>
                                        <p:attrNameLst>
                                          <p:attrName>style.visibility</p:attrName>
                                        </p:attrNameLst>
                                      </p:cBhvr>
                                      <p:to>
                                        <p:strVal val="visible"/>
                                      </p:to>
                                    </p:set>
                                    <p:anim to="" calcmode="lin" valueType="num">
                                      <p:cBhvr>
                                        <p:cTn id="18" dur="1" fill="hold"/>
                                        <p:tgtEl>
                                          <p:spTgt spid="660482">
                                            <p:txEl>
                                              <p:charRg st="99" end="138"/>
                                            </p:txEl>
                                          </p:spTgt>
                                        </p:tgtEl>
                                        <p:attrNameLst>
                                          <p:attrName>style.visibility</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660482">
                                            <p:txEl>
                                              <p:charRg st="138" end="182"/>
                                            </p:txEl>
                                          </p:spTgt>
                                        </p:tgtEl>
                                        <p:attrNameLst>
                                          <p:attrName>style.visibility</p:attrName>
                                        </p:attrNameLst>
                                      </p:cBhvr>
                                      <p:to>
                                        <p:strVal val="visible"/>
                                      </p:to>
                                    </p:set>
                                    <p:anim to="" calcmode="lin" valueType="num">
                                      <p:cBhvr>
                                        <p:cTn id="21" dur="1" fill="hold"/>
                                        <p:tgtEl>
                                          <p:spTgt spid="660482">
                                            <p:txEl>
                                              <p:charRg st="138" end="182"/>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1506" name="Rectangle 2"/>
          <p:cNvSpPr/>
          <p:nvPr/>
        </p:nvSpPr>
        <p:spPr>
          <a:xfrm>
            <a:off x="468313" y="476250"/>
            <a:ext cx="8351837" cy="3195638"/>
          </a:xfrm>
          <a:prstGeom prst="rect">
            <a:avLst/>
          </a:prstGeom>
          <a:noFill/>
          <a:ln w="9525">
            <a:noFill/>
          </a:ln>
        </p:spPr>
        <p:txBody>
          <a:bodyPr anchor="t" anchorCtr="0">
            <a:spAutoFit/>
          </a:bodyPr>
          <a:p>
            <a:pPr>
              <a:spcBef>
                <a:spcPct val="50000"/>
              </a:spcBef>
            </a:pPr>
            <a:r>
              <a:rPr lang="en-US" altLang="zh-CN" sz="2400" dirty="0">
                <a:solidFill>
                  <a:srgbClr val="336699"/>
                </a:solidFill>
                <a:latin typeface="Arial" panose="020B0604020202020204" pitchFamily="34" charset="0"/>
                <a:ea typeface="宋体" panose="02010600030101010101" pitchFamily="2" charset="-122"/>
              </a:rPr>
              <a:t>12 </a:t>
            </a:r>
            <a:r>
              <a:rPr lang="zh-CN" altLang="en-US" sz="2400" dirty="0">
                <a:solidFill>
                  <a:srgbClr val="336699"/>
                </a:solidFill>
                <a:latin typeface="Arial" panose="020B0604020202020204" pitchFamily="34" charset="0"/>
                <a:ea typeface="宋体" panose="02010600030101010101" pitchFamily="2" charset="-122"/>
              </a:rPr>
              <a:t>关于施工仪表：</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）本定额的施工机械（仪表）台班消耗量是按通信建设标准规定的测试项目及指标要求综合取定的。</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）施工仪器仪表单位价值在</a:t>
            </a:r>
            <a:r>
              <a:rPr lang="en-US" altLang="zh-CN" sz="2400" dirty="0">
                <a:solidFill>
                  <a:srgbClr val="336699"/>
                </a:solidFill>
                <a:latin typeface="Arial" panose="020B0604020202020204" pitchFamily="34" charset="0"/>
                <a:ea typeface="宋体" panose="02010600030101010101" pitchFamily="2" charset="-122"/>
              </a:rPr>
              <a:t>2000</a:t>
            </a:r>
            <a:r>
              <a:rPr lang="zh-CN" altLang="en-US" sz="2400" dirty="0">
                <a:solidFill>
                  <a:srgbClr val="336699"/>
                </a:solidFill>
                <a:latin typeface="Arial" panose="020B0604020202020204" pitchFamily="34" charset="0"/>
                <a:ea typeface="宋体" panose="02010600030101010101" pitchFamily="2" charset="-122"/>
              </a:rPr>
              <a:t>元以上，构成固定资产的列入本定额的仪表台班。</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）施工仪器仪表台班单价参照有关部门动态发布的</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通信建设工程施工机械、仪表台班定额</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61506">
                                            <p:txEl>
                                              <p:charRg st="0" end="11"/>
                                            </p:txEl>
                                          </p:spTgt>
                                        </p:tgtEl>
                                        <p:attrNameLst>
                                          <p:attrName>style.visibility</p:attrName>
                                        </p:attrNameLst>
                                      </p:cBhvr>
                                      <p:to>
                                        <p:strVal val="visible"/>
                                      </p:to>
                                    </p:set>
                                    <p:anim to="" calcmode="lin" valueType="num">
                                      <p:cBhvr>
                                        <p:cTn id="7" dur="1" fill="hold"/>
                                        <p:tgtEl>
                                          <p:spTgt spid="661506">
                                            <p:txEl>
                                              <p:charRg st="0" end="11"/>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61506">
                                            <p:txEl>
                                              <p:charRg st="11" end="58"/>
                                            </p:txEl>
                                          </p:spTgt>
                                        </p:tgtEl>
                                        <p:attrNameLst>
                                          <p:attrName>style.visibility</p:attrName>
                                        </p:attrNameLst>
                                      </p:cBhvr>
                                      <p:to>
                                        <p:strVal val="visible"/>
                                      </p:to>
                                    </p:set>
                                    <p:anim to="" calcmode="lin" valueType="num">
                                      <p:cBhvr>
                                        <p:cTn id="10" dur="1" fill="hold"/>
                                        <p:tgtEl>
                                          <p:spTgt spid="661506">
                                            <p:txEl>
                                              <p:charRg st="11" end="58"/>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61506">
                                            <p:txEl>
                                              <p:charRg st="58" end="99"/>
                                            </p:txEl>
                                          </p:spTgt>
                                        </p:tgtEl>
                                        <p:attrNameLst>
                                          <p:attrName>style.visibility</p:attrName>
                                        </p:attrNameLst>
                                      </p:cBhvr>
                                      <p:to>
                                        <p:strVal val="visible"/>
                                      </p:to>
                                    </p:set>
                                    <p:anim to="" calcmode="lin" valueType="num">
                                      <p:cBhvr>
                                        <p:cTn id="13" dur="1" fill="hold"/>
                                        <p:tgtEl>
                                          <p:spTgt spid="661506">
                                            <p:txEl>
                                              <p:charRg st="58" end="99"/>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661506">
                                            <p:txEl>
                                              <p:charRg st="99" end="145"/>
                                            </p:txEl>
                                          </p:spTgt>
                                        </p:tgtEl>
                                        <p:attrNameLst>
                                          <p:attrName>style.visibility</p:attrName>
                                        </p:attrNameLst>
                                      </p:cBhvr>
                                      <p:to>
                                        <p:strVal val="visible"/>
                                      </p:to>
                                    </p:set>
                                    <p:anim to="" calcmode="lin" valueType="num">
                                      <p:cBhvr>
                                        <p:cTn id="16" dur="1" fill="hold"/>
                                        <p:tgtEl>
                                          <p:spTgt spid="661506">
                                            <p:txEl>
                                              <p:charRg st="99" end="145"/>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2530" name="Rectangle 2"/>
          <p:cNvSpPr>
            <a:spLocks noChangeArrowheads="1"/>
          </p:cNvSpPr>
          <p:nvPr/>
        </p:nvSpPr>
        <p:spPr bwMode="auto">
          <a:xfrm>
            <a:off x="468313" y="692150"/>
            <a:ext cx="8207375"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13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定额子目编号原则：</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定额子目编号由三个部分组成：</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第一部分为册名代号，表示通信行业的各个专业，由汉语拼音（字母）缩写组成；</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第二部分为定额子目所在的章号，由一位阿拉伯数字表示；第三部分为定额子目所在章内的序号，由三位阿拉伯数字表示。</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14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本定额适用于海拔高程</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2000</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米以下，地震烈度为七度以下地区，超过上述情况时，按有关规定处理。</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62530">
                                            <p:txEl>
                                              <p:charRg st="0" end="13"/>
                                            </p:txEl>
                                          </p:spTgt>
                                        </p:tgtEl>
                                        <p:attrNameLst>
                                          <p:attrName>style.visibility</p:attrName>
                                        </p:attrNameLst>
                                      </p:cBhvr>
                                      <p:to>
                                        <p:strVal val="visible"/>
                                      </p:to>
                                    </p:set>
                                    <p:anim to="" calcmode="lin" valueType="num">
                                      <p:cBhvr>
                                        <p:cTn id="7" dur="1" fill="hold"/>
                                        <p:tgtEl>
                                          <p:spTgt spid="662530">
                                            <p:txEl>
                                              <p:charRg st="0" end="13"/>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62530">
                                            <p:txEl>
                                              <p:charRg st="13" end="28"/>
                                            </p:txEl>
                                          </p:spTgt>
                                        </p:tgtEl>
                                        <p:attrNameLst>
                                          <p:attrName>style.visibility</p:attrName>
                                        </p:attrNameLst>
                                      </p:cBhvr>
                                      <p:to>
                                        <p:strVal val="visible"/>
                                      </p:to>
                                    </p:set>
                                    <p:anim to="" calcmode="lin" valueType="num">
                                      <p:cBhvr>
                                        <p:cTn id="10" dur="1" fill="hold"/>
                                        <p:tgtEl>
                                          <p:spTgt spid="662530">
                                            <p:txEl>
                                              <p:charRg st="13" end="28"/>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62530">
                                            <p:txEl>
                                              <p:charRg st="28" end="65"/>
                                            </p:txEl>
                                          </p:spTgt>
                                        </p:tgtEl>
                                        <p:attrNameLst>
                                          <p:attrName>style.visibility</p:attrName>
                                        </p:attrNameLst>
                                      </p:cBhvr>
                                      <p:to>
                                        <p:strVal val="visible"/>
                                      </p:to>
                                    </p:set>
                                    <p:anim to="" calcmode="lin" valueType="num">
                                      <p:cBhvr>
                                        <p:cTn id="13" dur="1" fill="hold"/>
                                        <p:tgtEl>
                                          <p:spTgt spid="662530">
                                            <p:txEl>
                                              <p:charRg st="28" end="65"/>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662530">
                                            <p:txEl>
                                              <p:charRg st="65" end="120"/>
                                            </p:txEl>
                                          </p:spTgt>
                                        </p:tgtEl>
                                        <p:attrNameLst>
                                          <p:attrName>style.visibility</p:attrName>
                                        </p:attrNameLst>
                                      </p:cBhvr>
                                      <p:to>
                                        <p:strVal val="visible"/>
                                      </p:to>
                                    </p:set>
                                    <p:anim to="" calcmode="lin" valueType="num">
                                      <p:cBhvr>
                                        <p:cTn id="16" dur="1" fill="hold"/>
                                        <p:tgtEl>
                                          <p:spTgt spid="662530">
                                            <p:txEl>
                                              <p:charRg st="65" end="120"/>
                                            </p:txEl>
                                          </p:spTgt>
                                        </p:tgtEl>
                                        <p:attrNameLst>
                                          <p:attrName>style.visibility</p:attrName>
                                        </p:attrNameLst>
                                      </p:cBhvr>
                                    </p:anim>
                                  </p:childTnLst>
                                </p:cTn>
                              </p:par>
                            </p:childTnLst>
                          </p:cTn>
                        </p:par>
                      </p:childTnLst>
                    </p:cTn>
                  </p:par>
                  <p:par>
                    <p:cTn id="17" fill="hold">
                      <p:stCondLst>
                        <p:cond delay="indefinite"/>
                      </p:stCondLst>
                      <p:childTnLst>
                        <p:par>
                          <p:cTn id="18" fill="hold">
                            <p:stCondLst>
                              <p:cond delay="0"/>
                            </p:stCondLst>
                            <p:childTnLst>
                              <p:par>
                                <p:cTn id="19" presetID="24" presetClass="entr" presetSubtype="0" fill="hold" nodeType="clickEffect">
                                  <p:stCondLst>
                                    <p:cond delay="0"/>
                                  </p:stCondLst>
                                  <p:childTnLst>
                                    <p:set>
                                      <p:cBhvr>
                                        <p:cTn id="20" dur="1" fill="hold">
                                          <p:stCondLst>
                                            <p:cond delay="0"/>
                                          </p:stCondLst>
                                        </p:cTn>
                                        <p:tgtEl>
                                          <p:spTgt spid="662530">
                                            <p:txEl>
                                              <p:charRg st="120" end="171"/>
                                            </p:txEl>
                                          </p:spTgt>
                                        </p:tgtEl>
                                        <p:attrNameLst>
                                          <p:attrName>style.visibility</p:attrName>
                                        </p:attrNameLst>
                                      </p:cBhvr>
                                      <p:to>
                                        <p:strVal val="visible"/>
                                      </p:to>
                                    </p:set>
                                    <p:anim to="" calcmode="lin" valueType="num">
                                      <p:cBhvr>
                                        <p:cTn id="21" dur="1" fill="hold"/>
                                        <p:tgtEl>
                                          <p:spTgt spid="662530">
                                            <p:txEl>
                                              <p:charRg st="120" end="171"/>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3554" name="Rectangle 2"/>
          <p:cNvSpPr/>
          <p:nvPr/>
        </p:nvSpPr>
        <p:spPr>
          <a:xfrm>
            <a:off x="468313" y="692150"/>
            <a:ext cx="8207375" cy="1479550"/>
          </a:xfrm>
          <a:prstGeom prst="rect">
            <a:avLst/>
          </a:prstGeom>
          <a:noFill/>
          <a:ln w="9525">
            <a:noFill/>
          </a:ln>
        </p:spPr>
        <p:txBody>
          <a:bodyPr anchor="t" anchorCtr="0">
            <a:spAutoFit/>
          </a:bodyPr>
          <a:p>
            <a:pPr>
              <a:lnSpc>
                <a:spcPct val="110000"/>
              </a:lnSpc>
              <a:spcBef>
                <a:spcPct val="50000"/>
              </a:spcBef>
            </a:pPr>
            <a:r>
              <a:rPr lang="en-US" altLang="zh-CN" sz="2400" dirty="0">
                <a:solidFill>
                  <a:srgbClr val="336699"/>
                </a:solidFill>
                <a:latin typeface="Arial" panose="020B0604020202020204" pitchFamily="34" charset="0"/>
                <a:ea typeface="宋体" panose="02010600030101010101" pitchFamily="2" charset="-122"/>
              </a:rPr>
              <a:t>15 </a:t>
            </a:r>
            <a:r>
              <a:rPr lang="zh-CN" altLang="en-US" sz="2400" dirty="0">
                <a:solidFill>
                  <a:srgbClr val="336699"/>
                </a:solidFill>
                <a:latin typeface="Arial" panose="020B0604020202020204" pitchFamily="34" charset="0"/>
                <a:ea typeface="宋体" panose="02010600030101010101" pitchFamily="2" charset="-122"/>
              </a:rPr>
              <a:t>在以下的地区施工时，定额按下列规则调整： </a:t>
            </a:r>
            <a:endParaRPr lang="zh-CN" altLang="en-US" sz="2400" dirty="0">
              <a:solidFill>
                <a:srgbClr val="336699"/>
              </a:solidFill>
              <a:latin typeface="Arial" panose="020B0604020202020204" pitchFamily="34" charset="0"/>
              <a:ea typeface="宋体" panose="02010600030101010101" pitchFamily="2" charset="-122"/>
            </a:endParaRPr>
          </a:p>
          <a:p>
            <a:pPr>
              <a:lnSpc>
                <a:spcPct val="110000"/>
              </a:lnSpc>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）高原地区施工时，本定额人工工日、机械台班量乘以表</a:t>
            </a:r>
            <a:r>
              <a:rPr lang="en-US" altLang="zh-CN" sz="2400" dirty="0">
                <a:solidFill>
                  <a:srgbClr val="336699"/>
                </a:solidFill>
                <a:latin typeface="Arial" panose="020B0604020202020204" pitchFamily="34" charset="0"/>
                <a:ea typeface="宋体" panose="02010600030101010101" pitchFamily="2" charset="-122"/>
              </a:rPr>
              <a:t>5-1</a:t>
            </a:r>
            <a:r>
              <a:rPr lang="zh-CN" altLang="en-US" sz="2400" dirty="0">
                <a:solidFill>
                  <a:srgbClr val="336699"/>
                </a:solidFill>
                <a:latin typeface="Arial" panose="020B0604020202020204" pitchFamily="34" charset="0"/>
                <a:ea typeface="宋体" panose="02010600030101010101" pitchFamily="2" charset="-122"/>
              </a:rPr>
              <a:t>列出的系数。</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63555" name="Rectangle 3"/>
          <p:cNvSpPr/>
          <p:nvPr/>
        </p:nvSpPr>
        <p:spPr>
          <a:xfrm>
            <a:off x="3132138" y="2205038"/>
            <a:ext cx="2978150" cy="396875"/>
          </a:xfrm>
          <a:prstGeom prst="rect">
            <a:avLst/>
          </a:prstGeom>
          <a:noFill/>
          <a:ln w="9525">
            <a:noFill/>
          </a:ln>
        </p:spPr>
        <p:txBody>
          <a:bodyPr wrap="none" anchor="t" anchorCtr="0">
            <a:spAutoFit/>
          </a:bodyPr>
          <a:p>
            <a:pPr algn="ctr">
              <a:spcBef>
                <a:spcPct val="50000"/>
              </a:spcBef>
            </a:pPr>
            <a:r>
              <a:rPr lang="en-US" altLang="zh-CN" b="0" dirty="0">
                <a:solidFill>
                  <a:schemeClr val="tx1"/>
                </a:solidFill>
                <a:latin typeface="仿宋_GB2312" pitchFamily="49" charset="-122"/>
                <a:ea typeface="仿宋_GB2312" pitchFamily="49" charset="-122"/>
              </a:rPr>
              <a:t>5-1 </a:t>
            </a:r>
            <a:r>
              <a:rPr lang="zh-CN" altLang="en-US" b="0" dirty="0">
                <a:solidFill>
                  <a:schemeClr val="tx1"/>
                </a:solidFill>
                <a:latin typeface="仿宋_GB2312" pitchFamily="49" charset="-122"/>
                <a:ea typeface="仿宋_GB2312" pitchFamily="49" charset="-122"/>
              </a:rPr>
              <a:t>高原地区调整系数表</a:t>
            </a:r>
            <a:endParaRPr lang="zh-CN" altLang="en-US" b="0" dirty="0">
              <a:solidFill>
                <a:schemeClr val="tx1"/>
              </a:solidFill>
              <a:latin typeface="仿宋_GB2312" pitchFamily="49" charset="-122"/>
              <a:ea typeface="仿宋_GB2312" pitchFamily="49" charset="-122"/>
            </a:endParaRPr>
          </a:p>
        </p:txBody>
      </p:sp>
      <p:graphicFrame>
        <p:nvGraphicFramePr>
          <p:cNvPr id="663556" name="Group 4"/>
          <p:cNvGraphicFramePr>
            <a:graphicFrameLocks noGrp="1"/>
          </p:cNvGraphicFramePr>
          <p:nvPr>
            <p:ph type="tbl" idx="4294967295"/>
          </p:nvPr>
        </p:nvGraphicFramePr>
        <p:xfrm>
          <a:off x="1042988" y="2708275"/>
          <a:ext cx="7127875" cy="1152525"/>
        </p:xfrm>
        <a:graphic>
          <a:graphicData uri="http://schemas.openxmlformats.org/drawingml/2006/table">
            <a:tbl>
              <a:tblPr/>
              <a:tblGrid>
                <a:gridCol w="1584325"/>
                <a:gridCol w="1266825"/>
                <a:gridCol w="1425575"/>
                <a:gridCol w="1425575"/>
                <a:gridCol w="1425575"/>
              </a:tblGrid>
              <a:tr h="385763">
                <a:tc grid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海拔高程（米）</a:t>
                      </a:r>
                      <a:endPar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h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2000</a:t>
                      </a:r>
                      <a:r>
                        <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以上</a:t>
                      </a:r>
                      <a:endPar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3000</a:t>
                      </a:r>
                      <a:r>
                        <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以上</a:t>
                      </a:r>
                      <a:endPar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4000</a:t>
                      </a:r>
                      <a:r>
                        <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以上</a:t>
                      </a:r>
                      <a:endPar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r h="384175">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 整 系 数</a:t>
                      </a:r>
                      <a:endPar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a:t>
                      </a:r>
                      <a:endPar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1.13</a:t>
                      </a:r>
                      <a:endPar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1.30</a:t>
                      </a:r>
                      <a:endPar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1.37</a:t>
                      </a:r>
                      <a:endPar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r h="382588">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机械</a:t>
                      </a:r>
                      <a:endParaRPr kumimoji="0" lang="zh-CN" altLang="en-US"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1.29</a:t>
                      </a:r>
                      <a:endPar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1.54</a:t>
                      </a:r>
                      <a:endPar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1.84</a:t>
                      </a:r>
                      <a:endParaRPr kumimoji="0" lang="en-US" altLang="zh-CN" sz="18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bl>
          </a:graphicData>
        </a:graphic>
      </p:graphicFrame>
      <p:sp>
        <p:nvSpPr>
          <p:cNvPr id="663580" name="Rectangle 28"/>
          <p:cNvSpPr/>
          <p:nvPr/>
        </p:nvSpPr>
        <p:spPr>
          <a:xfrm>
            <a:off x="179388" y="4256088"/>
            <a:ext cx="8280400" cy="895350"/>
          </a:xfrm>
          <a:prstGeom prst="rect">
            <a:avLst/>
          </a:prstGeom>
          <a:noFill/>
          <a:ln w="9525">
            <a:noFill/>
          </a:ln>
        </p:spPr>
        <p:txBody>
          <a:bodyPr anchor="ctr" anchorCtr="0">
            <a:spAutoFit/>
          </a:bodyPr>
          <a:p>
            <a:pPr indent="278130">
              <a:lnSpc>
                <a:spcPct val="110000"/>
              </a:lnSpc>
              <a:spcBef>
                <a:spcPct val="50000"/>
              </a:spcBef>
            </a:pPr>
            <a:r>
              <a:rPr lang="zh-CN" altLang="en-US" sz="2400" dirty="0">
                <a:solidFill>
                  <a:srgbClr val="336699"/>
                </a:solidFill>
                <a:latin typeface="Arial" panose="020B0604020202020204" pitchFamily="34" charset="0"/>
                <a:ea typeface="宋体" panose="02010600030101010101" pitchFamily="2" charset="-122"/>
              </a:rPr>
              <a:t>    原始森林地区（室外）机沼泽地区施工时人工工日、机械台班消耗量乘以系数</a:t>
            </a:r>
            <a:r>
              <a:rPr lang="en-US" altLang="zh-CN" sz="2400" dirty="0">
                <a:solidFill>
                  <a:srgbClr val="CC3300"/>
                </a:solidFill>
                <a:latin typeface="华文隶书" panose="02010800040101010101" pitchFamily="2" charset="-122"/>
                <a:ea typeface="华文隶书" panose="02010800040101010101" pitchFamily="2" charset="-122"/>
              </a:rPr>
              <a:t>1.30</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63554">
                                            <p:txEl>
                                              <p:charRg st="0" end="25"/>
                                            </p:txEl>
                                          </p:spTgt>
                                        </p:tgtEl>
                                        <p:attrNameLst>
                                          <p:attrName>style.visibility</p:attrName>
                                        </p:attrNameLst>
                                      </p:cBhvr>
                                      <p:to>
                                        <p:strVal val="visible"/>
                                      </p:to>
                                    </p:set>
                                    <p:animEffect transition="in" filter="blinds(horizontal)">
                                      <p:cBhvr>
                                        <p:cTn id="7" dur="500"/>
                                        <p:tgtEl>
                                          <p:spTgt spid="663554">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9" presetClass="entr" presetSubtype="0" accel="100000" fill="hold" nodeType="clickEffect">
                                  <p:stCondLst>
                                    <p:cond delay="0"/>
                                  </p:stCondLst>
                                  <p:childTnLst>
                                    <p:set>
                                      <p:cBhvr>
                                        <p:cTn id="11" dur="1" fill="hold">
                                          <p:stCondLst>
                                            <p:cond delay="0"/>
                                          </p:stCondLst>
                                        </p:cTn>
                                        <p:tgtEl>
                                          <p:spTgt spid="663554">
                                            <p:txEl>
                                              <p:charRg st="25" end="62"/>
                                            </p:txEl>
                                          </p:spTgt>
                                        </p:tgtEl>
                                        <p:attrNameLst>
                                          <p:attrName>style.visibility</p:attrName>
                                        </p:attrNameLst>
                                      </p:cBhvr>
                                      <p:to>
                                        <p:strVal val="visible"/>
                                      </p:to>
                                    </p:set>
                                    <p:anim calcmode="lin" valueType="num">
                                      <p:cBhvr>
                                        <p:cTn id="12" dur="500" fill="hold"/>
                                        <p:tgtEl>
                                          <p:spTgt spid="663554">
                                            <p:txEl>
                                              <p:charRg st="25" end="6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3" dur="500" fill="hold"/>
                                        <p:tgtEl>
                                          <p:spTgt spid="663554">
                                            <p:txEl>
                                              <p:charRg st="25" end="62"/>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4" dur="500" fill="hold"/>
                                        <p:tgtEl>
                                          <p:spTgt spid="663554">
                                            <p:txEl>
                                              <p:charRg st="25" end="62"/>
                                            </p:txEl>
                                          </p:spTgt>
                                        </p:tgtEl>
                                        <p:attrNameLst>
                                          <p:attrName>ppt_x</p:attrName>
                                        </p:attrNameLst>
                                      </p:cBhvr>
                                      <p:tavLst>
                                        <p:tav tm="0">
                                          <p:val>
                                            <p:strVal val="#ppt_x-.3"/>
                                          </p:val>
                                        </p:tav>
                                        <p:tav tm="50000">
                                          <p:val>
                                            <p:strVal val="#ppt_x"/>
                                          </p:val>
                                        </p:tav>
                                        <p:tav tm="100000">
                                          <p:val>
                                            <p:strVal val="#ppt_x"/>
                                          </p:val>
                                        </p:tav>
                                      </p:tavLst>
                                    </p:anim>
                                    <p:anim calcmode="lin" valueType="num">
                                      <p:cBhvr>
                                        <p:cTn id="15" dur="500" fill="hold"/>
                                        <p:tgtEl>
                                          <p:spTgt spid="663554">
                                            <p:txEl>
                                              <p:charRg st="25" end="62"/>
                                            </p:txEl>
                                          </p:spTgt>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63555"/>
                                        </p:tgtEl>
                                        <p:attrNameLst>
                                          <p:attrName>style.visibility</p:attrName>
                                        </p:attrNameLst>
                                      </p:cBhvr>
                                      <p:to>
                                        <p:strVal val="visible"/>
                                      </p:to>
                                    </p:set>
                                    <p:animEffect transition="in" filter="blinds(horizontal)">
                                      <p:cBhvr>
                                        <p:cTn id="20" dur="500"/>
                                        <p:tgtEl>
                                          <p:spTgt spid="663555"/>
                                        </p:tgtEl>
                                      </p:cBhvr>
                                    </p:animEffect>
                                  </p:childTnLst>
                                </p:cTn>
                              </p:par>
                              <p:par>
                                <p:cTn id="21" presetID="3" presetClass="entr" presetSubtype="10" fill="hold" nodeType="withEffect">
                                  <p:stCondLst>
                                    <p:cond delay="0"/>
                                  </p:stCondLst>
                                  <p:childTnLst>
                                    <p:set>
                                      <p:cBhvr>
                                        <p:cTn id="22" dur="1" fill="hold">
                                          <p:stCondLst>
                                            <p:cond delay="0"/>
                                          </p:stCondLst>
                                        </p:cTn>
                                        <p:tgtEl>
                                          <p:spTgt spid="663556"/>
                                        </p:tgtEl>
                                        <p:attrNameLst>
                                          <p:attrName>style.visibility</p:attrName>
                                        </p:attrNameLst>
                                      </p:cBhvr>
                                      <p:to>
                                        <p:strVal val="visible"/>
                                      </p:to>
                                    </p:set>
                                    <p:animEffect transition="in" filter="blinds(horizontal)">
                                      <p:cBhvr>
                                        <p:cTn id="23" dur="500"/>
                                        <p:tgtEl>
                                          <p:spTgt spid="663556"/>
                                        </p:tgtEl>
                                      </p:cBhvr>
                                    </p:animEffect>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grpId="0" nodeType="clickEffect">
                                  <p:stCondLst>
                                    <p:cond delay="0"/>
                                  </p:stCondLst>
                                  <p:childTnLst>
                                    <p:set>
                                      <p:cBhvr>
                                        <p:cTn id="27" dur="1" fill="hold">
                                          <p:stCondLst>
                                            <p:cond delay="0"/>
                                          </p:stCondLst>
                                        </p:cTn>
                                        <p:tgtEl>
                                          <p:spTgt spid="663580"/>
                                        </p:tgtEl>
                                        <p:attrNameLst>
                                          <p:attrName>style.visibility</p:attrName>
                                        </p:attrNameLst>
                                      </p:cBhvr>
                                      <p:to>
                                        <p:strVal val="visible"/>
                                      </p:to>
                                    </p:set>
                                    <p:animEffect transition="in" filter="diamond(in)">
                                      <p:cBhvr>
                                        <p:cTn id="28" dur="2000"/>
                                        <p:tgtEl>
                                          <p:spTgt spid="663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555" grpId="0"/>
      <p:bldP spid="66358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4578" name="Rectangle 2"/>
          <p:cNvSpPr/>
          <p:nvPr/>
        </p:nvSpPr>
        <p:spPr>
          <a:xfrm>
            <a:off x="468313" y="692150"/>
            <a:ext cx="8207375" cy="4656138"/>
          </a:xfrm>
          <a:prstGeom prst="rect">
            <a:avLst/>
          </a:prstGeom>
          <a:noFill/>
          <a:ln w="9525">
            <a:noFill/>
          </a:ln>
        </p:spPr>
        <p:txBody>
          <a:bodyPr anchor="t" anchorCtr="0">
            <a:spAutoFit/>
          </a:bodyPr>
          <a:p>
            <a:pPr>
              <a:lnSpc>
                <a:spcPct val="110000"/>
              </a:lnSpc>
              <a:spcBef>
                <a:spcPct val="50000"/>
              </a:spcBef>
            </a:pPr>
            <a:r>
              <a:rPr lang="en-US" altLang="zh-CN" sz="2400" dirty="0">
                <a:solidFill>
                  <a:srgbClr val="D60093"/>
                </a:solidFill>
                <a:latin typeface="Arial" panose="020B0604020202020204" pitchFamily="34" charset="0"/>
                <a:ea typeface="华文隶书" panose="02010800040101010101" pitchFamily="2" charset="-122"/>
              </a:rPr>
              <a:t>2</a:t>
            </a:r>
            <a:r>
              <a:rPr lang="zh-CN" altLang="en-US" sz="2400" dirty="0">
                <a:solidFill>
                  <a:srgbClr val="D60093"/>
                </a:solidFill>
                <a:latin typeface="Arial" panose="020B0604020202020204" pitchFamily="34" charset="0"/>
                <a:ea typeface="华文隶书" panose="02010800040101010101" pitchFamily="2" charset="-122"/>
              </a:rPr>
              <a:t>）册说明</a:t>
            </a:r>
            <a:endParaRPr lang="zh-CN" altLang="en-US" sz="2400" dirty="0">
              <a:solidFill>
                <a:srgbClr val="D60093"/>
              </a:solidFill>
              <a:latin typeface="Arial" panose="020B0604020202020204" pitchFamily="34" charset="0"/>
              <a:ea typeface="华文隶书" panose="02010800040101010101" pitchFamily="2" charset="-122"/>
            </a:endParaRPr>
          </a:p>
          <a:p>
            <a:pPr>
              <a:lnSpc>
                <a:spcPct val="110000"/>
              </a:lnSpc>
              <a:spcBef>
                <a:spcPct val="50000"/>
              </a:spcBef>
            </a:pPr>
            <a:r>
              <a:rPr lang="zh-CN" altLang="en-US" sz="2400" dirty="0">
                <a:solidFill>
                  <a:srgbClr val="336699"/>
                </a:solidFill>
                <a:latin typeface="Arial" panose="020B0604020202020204" pitchFamily="34" charset="0"/>
                <a:ea typeface="宋体" panose="02010600030101010101" pitchFamily="2" charset="-122"/>
              </a:rPr>
              <a:t>         通信建设工程预算定额包括</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通信设备电源安装工程</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有线通信设备安装工程</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无线通信设备安装工程</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通信线路工程</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和</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通信管道工程</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共五册。册说明阐述该册的内容、编制基础和使用注意事项等有关规定。以第四册</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通信线路工程</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为例，具体内容如下：</a:t>
            </a:r>
            <a:endParaRPr lang="zh-CN" altLang="en-US" sz="2400" dirty="0">
              <a:solidFill>
                <a:srgbClr val="336699"/>
              </a:solidFill>
              <a:latin typeface="Arial" panose="020B0604020202020204" pitchFamily="34" charset="0"/>
              <a:ea typeface="宋体" panose="02010600030101010101" pitchFamily="2" charset="-122"/>
            </a:endParaRPr>
          </a:p>
          <a:p>
            <a:pPr>
              <a:lnSpc>
                <a:spcPct val="110000"/>
              </a:lnSpc>
              <a:spcBef>
                <a:spcPct val="50000"/>
              </a:spcBef>
            </a:pP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通信线路工程</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预算定额适用于通信光（电）缆的直埋、架空、管道、海底等线路的新建工程。</a:t>
            </a:r>
            <a:endParaRPr lang="zh-CN" altLang="en-US" sz="2400" dirty="0">
              <a:solidFill>
                <a:srgbClr val="336699"/>
              </a:solidFill>
              <a:latin typeface="Arial" panose="020B0604020202020204" pitchFamily="34" charset="0"/>
              <a:ea typeface="宋体" panose="02010600030101010101" pitchFamily="2" charset="-122"/>
            </a:endParaRPr>
          </a:p>
          <a:p>
            <a:pPr>
              <a:lnSpc>
                <a:spcPct val="110000"/>
              </a:lnSpc>
              <a:spcBef>
                <a:spcPct val="50000"/>
              </a:spcBef>
            </a:pPr>
            <a:r>
              <a:rPr lang="en-US" altLang="zh-CN" sz="2400" dirty="0">
                <a:solidFill>
                  <a:srgbClr val="336699"/>
                </a:solidFill>
                <a:latin typeface="Arial" panose="020B0604020202020204" pitchFamily="34" charset="0"/>
                <a:ea typeface="宋体" panose="02010600030101010101" pitchFamily="2" charset="-122"/>
              </a:rPr>
              <a:t>2 </a:t>
            </a:r>
            <a:r>
              <a:rPr lang="zh-CN" altLang="en-US" sz="2400" dirty="0">
                <a:solidFill>
                  <a:srgbClr val="336699"/>
                </a:solidFill>
                <a:latin typeface="Arial" panose="020B0604020202020204" pitchFamily="34" charset="0"/>
                <a:ea typeface="宋体" panose="02010600030101010101" pitchFamily="2" charset="-122"/>
              </a:rPr>
              <a:t>通信线路工程，当工程规模较小时，人工工日以总工日为基数按下列规定系数进行调整。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64578">
                                            <p:txEl>
                                              <p:charRg st="0" end="6"/>
                                            </p:txEl>
                                          </p:spTgt>
                                        </p:tgtEl>
                                        <p:attrNameLst>
                                          <p:attrName>style.visibility</p:attrName>
                                        </p:attrNameLst>
                                      </p:cBhvr>
                                      <p:to>
                                        <p:strVal val="visible"/>
                                      </p:to>
                                    </p:set>
                                    <p:animEffect transition="in" filter="slide(fromBottom)">
                                      <p:cBhvr>
                                        <p:cTn id="7" dur="500"/>
                                        <p:tgtEl>
                                          <p:spTgt spid="664578">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9" presetClass="entr" presetSubtype="0" accel="100000" fill="hold" nodeType="clickEffect">
                                  <p:stCondLst>
                                    <p:cond delay="0"/>
                                  </p:stCondLst>
                                  <p:childTnLst>
                                    <p:set>
                                      <p:cBhvr>
                                        <p:cTn id="11" dur="1" fill="hold">
                                          <p:stCondLst>
                                            <p:cond delay="0"/>
                                          </p:stCondLst>
                                        </p:cTn>
                                        <p:tgtEl>
                                          <p:spTgt spid="664578">
                                            <p:txEl>
                                              <p:charRg st="6" end="135"/>
                                            </p:txEl>
                                          </p:spTgt>
                                        </p:tgtEl>
                                        <p:attrNameLst>
                                          <p:attrName>style.visibility</p:attrName>
                                        </p:attrNameLst>
                                      </p:cBhvr>
                                      <p:to>
                                        <p:strVal val="visible"/>
                                      </p:to>
                                    </p:set>
                                    <p:anim calcmode="lin" valueType="num">
                                      <p:cBhvr>
                                        <p:cTn id="12" dur="500" fill="hold"/>
                                        <p:tgtEl>
                                          <p:spTgt spid="664578">
                                            <p:txEl>
                                              <p:charRg st="6" end="135"/>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3" dur="500" fill="hold"/>
                                        <p:tgtEl>
                                          <p:spTgt spid="664578">
                                            <p:txEl>
                                              <p:charRg st="6" end="135"/>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4" dur="500" fill="hold"/>
                                        <p:tgtEl>
                                          <p:spTgt spid="664578">
                                            <p:txEl>
                                              <p:charRg st="6" end="135"/>
                                            </p:txEl>
                                          </p:spTgt>
                                        </p:tgtEl>
                                        <p:attrNameLst>
                                          <p:attrName>ppt_x</p:attrName>
                                        </p:attrNameLst>
                                      </p:cBhvr>
                                      <p:tavLst>
                                        <p:tav tm="0">
                                          <p:val>
                                            <p:strVal val="#ppt_x-.3"/>
                                          </p:val>
                                        </p:tav>
                                        <p:tav tm="50000">
                                          <p:val>
                                            <p:strVal val="#ppt_x"/>
                                          </p:val>
                                        </p:tav>
                                        <p:tav tm="100000">
                                          <p:val>
                                            <p:strVal val="#ppt_x"/>
                                          </p:val>
                                        </p:tav>
                                      </p:tavLst>
                                    </p:anim>
                                    <p:anim calcmode="lin" valueType="num">
                                      <p:cBhvr>
                                        <p:cTn id="15" dur="500" fill="hold"/>
                                        <p:tgtEl>
                                          <p:spTgt spid="664578">
                                            <p:txEl>
                                              <p:charRg st="6" end="135"/>
                                            </p:txEl>
                                          </p:spTgt>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664578">
                                            <p:txEl>
                                              <p:charRg st="135" end="180"/>
                                            </p:txEl>
                                          </p:spTgt>
                                        </p:tgtEl>
                                        <p:attrNameLst>
                                          <p:attrName>style.visibility</p:attrName>
                                        </p:attrNameLst>
                                      </p:cBhvr>
                                      <p:to>
                                        <p:strVal val="visible"/>
                                      </p:to>
                                    </p:set>
                                    <p:animEffect transition="in" filter="circle(in)">
                                      <p:cBhvr>
                                        <p:cTn id="20" dur="2000"/>
                                        <p:tgtEl>
                                          <p:spTgt spid="664578">
                                            <p:txEl>
                                              <p:charRg st="135" end="18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664578">
                                            <p:txEl>
                                              <p:charRg st="180" end="223"/>
                                            </p:txEl>
                                          </p:spTgt>
                                        </p:tgtEl>
                                        <p:attrNameLst>
                                          <p:attrName>style.visibility</p:attrName>
                                        </p:attrNameLst>
                                      </p:cBhvr>
                                      <p:to>
                                        <p:strVal val="visible"/>
                                      </p:to>
                                    </p:set>
                                    <p:animEffect transition="in" filter="checkerboard(across)">
                                      <p:cBhvr>
                                        <p:cTn id="25" dur="500"/>
                                        <p:tgtEl>
                                          <p:spTgt spid="664578">
                                            <p:txEl>
                                              <p:charRg st="180" end="22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02" name="Rectangle 2"/>
          <p:cNvSpPr>
            <a:spLocks noChangeArrowheads="1"/>
          </p:cNvSpPr>
          <p:nvPr/>
        </p:nvSpPr>
        <p:spPr bwMode="auto">
          <a:xfrm>
            <a:off x="468313" y="692150"/>
            <a:ext cx="8207375" cy="252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    工程总工日在</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100</a:t>
            </a:r>
            <a:r>
              <a:rPr kumimoji="0" lang="zh-CN" altLang="en-US"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工日以下</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时，增加</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15%</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    工程总工日在</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100-250</a:t>
            </a:r>
            <a:r>
              <a:rPr kumimoji="0" lang="zh-CN" altLang="en-US"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工日</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时，增加</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10%</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3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本定额带有括号和以分数表示的的消耗量，系供设计选用，“</a:t>
            </a:r>
            <a:r>
              <a:rPr kumimoji="0" lang="zh-CN" altLang="en-US" sz="28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”表示由设计确定其用量。</a:t>
            </a:r>
            <a:r>
              <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4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本定额拆除工程，不单立子目，发生时按表</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5-2</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规定执行：</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65602">
                                            <p:txEl>
                                              <p:charRg st="0" end="26"/>
                                            </p:txEl>
                                          </p:spTgt>
                                        </p:tgtEl>
                                        <p:attrNameLst>
                                          <p:attrName>style.visibility</p:attrName>
                                        </p:attrNameLst>
                                      </p:cBhvr>
                                      <p:to>
                                        <p:strVal val="visible"/>
                                      </p:to>
                                    </p:set>
                                    <p:animEffect transition="in" filter="slide(fromBottom)">
                                      <p:cBhvr>
                                        <p:cTn id="7" dur="500"/>
                                        <p:tgtEl>
                                          <p:spTgt spid="665602">
                                            <p:txEl>
                                              <p:charRg st="0" end="26"/>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665602">
                                            <p:txEl>
                                              <p:charRg st="26" end="54"/>
                                            </p:txEl>
                                          </p:spTgt>
                                        </p:tgtEl>
                                        <p:attrNameLst>
                                          <p:attrName>style.visibility</p:attrName>
                                        </p:attrNameLst>
                                      </p:cBhvr>
                                      <p:to>
                                        <p:strVal val="visible"/>
                                      </p:to>
                                    </p:set>
                                    <p:animEffect transition="in" filter="slide(fromBottom)">
                                      <p:cBhvr>
                                        <p:cTn id="10" dur="500"/>
                                        <p:tgtEl>
                                          <p:spTgt spid="665602">
                                            <p:txEl>
                                              <p:charRg st="26" end="5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nodeType="clickEffect">
                                  <p:stCondLst>
                                    <p:cond delay="0"/>
                                  </p:stCondLst>
                                  <p:childTnLst>
                                    <p:set>
                                      <p:cBhvr>
                                        <p:cTn id="14" dur="1" fill="hold">
                                          <p:stCondLst>
                                            <p:cond delay="0"/>
                                          </p:stCondLst>
                                        </p:cTn>
                                        <p:tgtEl>
                                          <p:spTgt spid="665602">
                                            <p:txEl>
                                              <p:charRg st="54" end="99"/>
                                            </p:txEl>
                                          </p:spTgt>
                                        </p:tgtEl>
                                        <p:attrNameLst>
                                          <p:attrName>style.visibility</p:attrName>
                                        </p:attrNameLst>
                                      </p:cBhvr>
                                      <p:to>
                                        <p:strVal val="visible"/>
                                      </p:to>
                                    </p:set>
                                    <p:anim calcmode="lin" valueType="num">
                                      <p:cBhvr>
                                        <p:cTn id="15" dur="500" fill="hold"/>
                                        <p:tgtEl>
                                          <p:spTgt spid="665602">
                                            <p:txEl>
                                              <p:charRg st="54" end="99"/>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665602">
                                            <p:txEl>
                                              <p:charRg st="54" end="99"/>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665602">
                                            <p:txEl>
                                              <p:charRg st="54" end="99"/>
                                            </p:txEl>
                                          </p:spTgt>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665602">
                                            <p:txEl>
                                              <p:charRg st="54" end="99"/>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665602">
                                            <p:txEl>
                                              <p:charRg st="99" end="129"/>
                                            </p:txEl>
                                          </p:spTgt>
                                        </p:tgtEl>
                                        <p:attrNameLst>
                                          <p:attrName>style.visibility</p:attrName>
                                        </p:attrNameLst>
                                      </p:cBhvr>
                                      <p:to>
                                        <p:strVal val="visible"/>
                                      </p:to>
                                    </p:set>
                                    <p:animEffect transition="in" filter="circle(in)">
                                      <p:cBhvr>
                                        <p:cTn id="23" dur="2000"/>
                                        <p:tgtEl>
                                          <p:spTgt spid="665602">
                                            <p:txEl>
                                              <p:charRg st="99" end="1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6626" name="Rectangle 2"/>
          <p:cNvSpPr/>
          <p:nvPr/>
        </p:nvSpPr>
        <p:spPr>
          <a:xfrm>
            <a:off x="3419475" y="620713"/>
            <a:ext cx="21320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5-2 </a:t>
            </a:r>
            <a:r>
              <a:rPr lang="zh-CN" altLang="en-US" sz="1600" b="0" dirty="0">
                <a:solidFill>
                  <a:schemeClr val="tx1"/>
                </a:solidFill>
                <a:latin typeface="Times New Roman" panose="02020603050405020304" pitchFamily="18" charset="0"/>
                <a:ea typeface="宋体" panose="02010600030101010101" pitchFamily="2" charset="-122"/>
              </a:rPr>
              <a:t>拆除工程系数表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666627" name="Group 3"/>
          <p:cNvGraphicFramePr>
            <a:graphicFrameLocks noGrp="1"/>
          </p:cNvGraphicFramePr>
          <p:nvPr/>
        </p:nvGraphicFramePr>
        <p:xfrm>
          <a:off x="395288" y="1052513"/>
          <a:ext cx="8208963" cy="3724275"/>
        </p:xfrm>
        <a:graphic>
          <a:graphicData uri="http://schemas.openxmlformats.org/drawingml/2006/table">
            <a:tbl>
              <a:tblPr/>
              <a:tblGrid>
                <a:gridCol w="596900"/>
                <a:gridCol w="4827587"/>
                <a:gridCol w="1246188"/>
                <a:gridCol w="1538287"/>
              </a:tblGrid>
              <a:tr h="335309">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序号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拆除工程内容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grid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占新建工程定额的百分比</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hMerge="1">
                  <a:tcPr/>
                </a:tc>
              </a:tr>
              <a:tr h="335309">
                <a:tc vMerge="1">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人工工日</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机械台班</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r h="335309">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光（电）缆（不需清理入库）</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r h="335309">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埋式光（电）缆（清理入库）</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r h="335309">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管道光（电）缆（清理入库）</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90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90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r h="335309">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成端电缆（清理入库）</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r h="55408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架空、墙壁、室内、通道、槽道、引上光（电）缆</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r h="579169">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线路工程各种设备以及除光（电）缆外的其他材料（清理入库）</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r h="579169">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线路工程各种设备以及除光（电）缆外的其他材料（不清理入库）</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AFEAC"/>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666626"/>
                                        </p:tgtEl>
                                        <p:attrNameLst>
                                          <p:attrName>style.visibility</p:attrName>
                                        </p:attrNameLst>
                                      </p:cBhvr>
                                      <p:to>
                                        <p:strVal val="visible"/>
                                      </p:to>
                                    </p:set>
                                    <p:animEffect transition="in" filter="wedge">
                                      <p:cBhvr>
                                        <p:cTn id="7" dur="2000"/>
                                        <p:tgtEl>
                                          <p:spTgt spid="666626"/>
                                        </p:tgtEl>
                                      </p:cBhvr>
                                    </p:animEffect>
                                  </p:childTnLst>
                                </p:cTn>
                              </p:par>
                              <p:par>
                                <p:cTn id="8" presetID="20" presetClass="entr" presetSubtype="0" fill="hold" nodeType="withEffect">
                                  <p:stCondLst>
                                    <p:cond delay="0"/>
                                  </p:stCondLst>
                                  <p:childTnLst>
                                    <p:set>
                                      <p:cBhvr>
                                        <p:cTn id="9" dur="1" fill="hold">
                                          <p:stCondLst>
                                            <p:cond delay="0"/>
                                          </p:stCondLst>
                                        </p:cTn>
                                        <p:tgtEl>
                                          <p:spTgt spid="666627"/>
                                        </p:tgtEl>
                                        <p:attrNameLst>
                                          <p:attrName>style.visibility</p:attrName>
                                        </p:attrNameLst>
                                      </p:cBhvr>
                                      <p:to>
                                        <p:strVal val="visible"/>
                                      </p:to>
                                    </p:set>
                                    <p:animEffect transition="in" filter="wedge">
                                      <p:cBhvr>
                                        <p:cTn id="10" dur="2000"/>
                                        <p:tgtEl>
                                          <p:spTgt spid="66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7650" name="Rectangle 2"/>
          <p:cNvSpPr>
            <a:spLocks noChangeArrowheads="1"/>
          </p:cNvSpPr>
          <p:nvPr/>
        </p:nvSpPr>
        <p:spPr bwMode="auto">
          <a:xfrm>
            <a:off x="395288" y="765175"/>
            <a:ext cx="8207375"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5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各种光（电）缆工程量计算时，应考虑敷设的长度和设计中规定的各种预留长度。</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6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敷设光缆定额中，光时域反射仪（</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OTDR</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）台班量是按单窗口测试取定的，如需双窗口测试时，其人工和仪表定额分别乘以</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1.8</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的系数。</a:t>
            </a: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67650">
                                            <p:txEl>
                                              <p:charRg st="0" end="39"/>
                                            </p:txEl>
                                          </p:spTgt>
                                        </p:tgtEl>
                                        <p:attrNameLst>
                                          <p:attrName>style.visibility</p:attrName>
                                        </p:attrNameLst>
                                      </p:cBhvr>
                                      <p:to>
                                        <p:strVal val="visible"/>
                                      </p:to>
                                    </p:set>
                                    <p:animEffect transition="in" filter="slide(fromBottom)">
                                      <p:cBhvr>
                                        <p:cTn id="7" dur="500"/>
                                        <p:tgtEl>
                                          <p:spTgt spid="667650">
                                            <p:txEl>
                                              <p:charRg st="0" end="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9" presetClass="entr" presetSubtype="0" accel="100000" fill="hold" nodeType="clickEffect">
                                  <p:stCondLst>
                                    <p:cond delay="0"/>
                                  </p:stCondLst>
                                  <p:childTnLst>
                                    <p:set>
                                      <p:cBhvr>
                                        <p:cTn id="11" dur="1" fill="hold">
                                          <p:stCondLst>
                                            <p:cond delay="0"/>
                                          </p:stCondLst>
                                        </p:cTn>
                                        <p:tgtEl>
                                          <p:spTgt spid="667650">
                                            <p:txEl>
                                              <p:charRg st="39" end="105"/>
                                            </p:txEl>
                                          </p:spTgt>
                                        </p:tgtEl>
                                        <p:attrNameLst>
                                          <p:attrName>style.visibility</p:attrName>
                                        </p:attrNameLst>
                                      </p:cBhvr>
                                      <p:to>
                                        <p:strVal val="visible"/>
                                      </p:to>
                                    </p:set>
                                    <p:anim calcmode="lin" valueType="num">
                                      <p:cBhvr>
                                        <p:cTn id="12" dur="500" fill="hold"/>
                                        <p:tgtEl>
                                          <p:spTgt spid="667650">
                                            <p:txEl>
                                              <p:charRg st="39" end="105"/>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3" dur="500" fill="hold"/>
                                        <p:tgtEl>
                                          <p:spTgt spid="667650">
                                            <p:txEl>
                                              <p:charRg st="39" end="105"/>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4" dur="500" fill="hold"/>
                                        <p:tgtEl>
                                          <p:spTgt spid="667650">
                                            <p:txEl>
                                              <p:charRg st="39" end="105"/>
                                            </p:txEl>
                                          </p:spTgt>
                                        </p:tgtEl>
                                        <p:attrNameLst>
                                          <p:attrName>ppt_x</p:attrName>
                                        </p:attrNameLst>
                                      </p:cBhvr>
                                      <p:tavLst>
                                        <p:tav tm="0">
                                          <p:val>
                                            <p:strVal val="#ppt_x-.3"/>
                                          </p:val>
                                        </p:tav>
                                        <p:tav tm="50000">
                                          <p:val>
                                            <p:strVal val="#ppt_x"/>
                                          </p:val>
                                        </p:tav>
                                        <p:tav tm="100000">
                                          <p:val>
                                            <p:strVal val="#ppt_x"/>
                                          </p:val>
                                        </p:tav>
                                      </p:tavLst>
                                    </p:anim>
                                    <p:anim calcmode="lin" valueType="num">
                                      <p:cBhvr>
                                        <p:cTn id="15" dur="500" fill="hold"/>
                                        <p:tgtEl>
                                          <p:spTgt spid="667650">
                                            <p:txEl>
                                              <p:charRg st="39" end="10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8674" name="Rectangle 2"/>
          <p:cNvSpPr/>
          <p:nvPr/>
        </p:nvSpPr>
        <p:spPr>
          <a:xfrm>
            <a:off x="468313" y="692150"/>
            <a:ext cx="8675687" cy="5057775"/>
          </a:xfrm>
          <a:prstGeom prst="rect">
            <a:avLst/>
          </a:prstGeom>
          <a:noFill/>
          <a:ln w="9525">
            <a:noFill/>
          </a:ln>
        </p:spPr>
        <p:txBody>
          <a:bodyPr anchor="t" anchorCtr="0">
            <a:spAutoFit/>
          </a:bodyPr>
          <a:p>
            <a:pPr>
              <a:lnSpc>
                <a:spcPct val="110000"/>
              </a:lnSpc>
              <a:spcBef>
                <a:spcPct val="50000"/>
              </a:spcBef>
            </a:pPr>
            <a:r>
              <a:rPr lang="en-US" altLang="zh-CN" sz="2400" dirty="0">
                <a:solidFill>
                  <a:srgbClr val="D60093"/>
                </a:solidFill>
                <a:latin typeface="Arial" panose="020B0604020202020204" pitchFamily="34" charset="0"/>
                <a:ea typeface="华文隶书" panose="02010800040101010101" pitchFamily="2" charset="-122"/>
              </a:rPr>
              <a:t>3</a:t>
            </a:r>
            <a:r>
              <a:rPr lang="zh-CN" altLang="en-US" sz="2400" dirty="0">
                <a:solidFill>
                  <a:srgbClr val="D60093"/>
                </a:solidFill>
                <a:latin typeface="Arial" panose="020B0604020202020204" pitchFamily="34" charset="0"/>
                <a:ea typeface="华文隶书" panose="02010800040101010101" pitchFamily="2" charset="-122"/>
              </a:rPr>
              <a:t>）章节说明</a:t>
            </a:r>
            <a:endParaRPr lang="zh-CN" altLang="en-US" sz="2400" dirty="0">
              <a:solidFill>
                <a:srgbClr val="D60093"/>
              </a:solidFill>
              <a:latin typeface="Arial" panose="020B0604020202020204" pitchFamily="34" charset="0"/>
              <a:ea typeface="华文隶书" panose="02010800040101010101" pitchFamily="2" charset="-122"/>
            </a:endParaRPr>
          </a:p>
          <a:p>
            <a:pPr>
              <a:lnSpc>
                <a:spcPct val="110000"/>
              </a:lnSpc>
              <a:spcBef>
                <a:spcPct val="50000"/>
              </a:spcBef>
            </a:pPr>
            <a:r>
              <a:rPr lang="zh-CN" altLang="en-US" sz="2400" dirty="0">
                <a:solidFill>
                  <a:srgbClr val="336699"/>
                </a:solidFill>
                <a:latin typeface="Arial" panose="020B0604020202020204" pitchFamily="34" charset="0"/>
                <a:ea typeface="宋体" panose="02010600030101010101" pitchFamily="2" charset="-122"/>
              </a:rPr>
              <a:t>       每册中包含若干章节，每章都有相应说明。其主要说明分部分项工程的工作内容、工程量计算方法、有关规定、计量单位、适用范围等。以第四册</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通信线路工程</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第三章敷设架空光（电）缆为例，具体内容如下：</a:t>
            </a:r>
            <a:endParaRPr lang="zh-CN" altLang="en-US" sz="2400" dirty="0">
              <a:solidFill>
                <a:srgbClr val="336699"/>
              </a:solidFill>
              <a:latin typeface="Arial" panose="020B0604020202020204" pitchFamily="34" charset="0"/>
              <a:ea typeface="宋体" panose="02010600030101010101" pitchFamily="2" charset="-122"/>
            </a:endParaRPr>
          </a:p>
          <a:p>
            <a:pPr>
              <a:lnSpc>
                <a:spcPct val="110000"/>
              </a:lnSpc>
              <a:spcBef>
                <a:spcPct val="50000"/>
              </a:spcBef>
            </a:pPr>
            <a:r>
              <a:rPr lang="en-US" altLang="zh-CN" sz="2400" dirty="0">
                <a:solidFill>
                  <a:srgbClr val="336699"/>
                </a:solidFill>
                <a:latin typeface="Arial" panose="020B0604020202020204" pitchFamily="34" charset="0"/>
                <a:ea typeface="宋体" panose="02010600030101010101" pitchFamily="2" charset="-122"/>
              </a:rPr>
              <a:t>1 </a:t>
            </a:r>
            <a:r>
              <a:rPr lang="zh-CN" altLang="en-US" sz="2400" dirty="0">
                <a:solidFill>
                  <a:srgbClr val="336699"/>
                </a:solidFill>
                <a:latin typeface="Arial" panose="020B0604020202020204" pitchFamily="34" charset="0"/>
                <a:ea typeface="宋体" panose="02010600030101010101" pitchFamily="2" charset="-122"/>
              </a:rPr>
              <a:t>挖电杆、拉线、撑杆坑等的土质系按</a:t>
            </a:r>
            <a:r>
              <a:rPr lang="zh-CN" altLang="en-US" sz="2400" dirty="0">
                <a:solidFill>
                  <a:srgbClr val="CC3300"/>
                </a:solidFill>
                <a:latin typeface="华文隶书" panose="02010800040101010101" pitchFamily="2" charset="-122"/>
                <a:ea typeface="华文隶书" panose="02010800040101010101" pitchFamily="2" charset="-122"/>
              </a:rPr>
              <a:t>综合土</a:t>
            </a:r>
            <a:r>
              <a:rPr lang="zh-CN" altLang="en-US" sz="2400" dirty="0">
                <a:solidFill>
                  <a:srgbClr val="336699"/>
                </a:solidFill>
                <a:latin typeface="Arial" panose="020B0604020202020204" pitchFamily="34" charset="0"/>
                <a:ea typeface="宋体" panose="02010600030101010101" pitchFamily="2" charset="-122"/>
              </a:rPr>
              <a:t>、</a:t>
            </a:r>
            <a:r>
              <a:rPr lang="zh-CN" altLang="en-US" sz="2400" dirty="0">
                <a:solidFill>
                  <a:srgbClr val="CC3300"/>
                </a:solidFill>
                <a:latin typeface="华文隶书" panose="02010800040101010101" pitchFamily="2" charset="-122"/>
                <a:ea typeface="华文隶书" panose="02010800040101010101" pitchFamily="2" charset="-122"/>
              </a:rPr>
              <a:t>软石</a:t>
            </a:r>
            <a:r>
              <a:rPr lang="zh-CN" altLang="en-US" sz="2400" dirty="0">
                <a:solidFill>
                  <a:srgbClr val="336699"/>
                </a:solidFill>
                <a:latin typeface="Arial" panose="020B0604020202020204" pitchFamily="34" charset="0"/>
                <a:ea typeface="宋体" panose="02010600030101010101" pitchFamily="2" charset="-122"/>
              </a:rPr>
              <a:t>、</a:t>
            </a:r>
            <a:r>
              <a:rPr lang="zh-CN" altLang="en-US" sz="2400" dirty="0">
                <a:solidFill>
                  <a:srgbClr val="CC3300"/>
                </a:solidFill>
                <a:latin typeface="华文隶书" panose="02010800040101010101" pitchFamily="2" charset="-122"/>
                <a:ea typeface="华文隶书" panose="02010800040101010101" pitchFamily="2" charset="-122"/>
              </a:rPr>
              <a:t>坚石</a:t>
            </a:r>
            <a:r>
              <a:rPr lang="zh-CN" altLang="en-US" sz="2400" dirty="0">
                <a:solidFill>
                  <a:srgbClr val="336699"/>
                </a:solidFill>
                <a:latin typeface="Arial" panose="020B0604020202020204" pitchFamily="34" charset="0"/>
                <a:ea typeface="宋体" panose="02010600030101010101" pitchFamily="2" charset="-122"/>
              </a:rPr>
              <a:t>三类划分。其中综合土的构成按普通土</a:t>
            </a:r>
            <a:r>
              <a:rPr lang="en-US" altLang="zh-CN" sz="2400" dirty="0">
                <a:solidFill>
                  <a:srgbClr val="336699"/>
                </a:solidFill>
                <a:latin typeface="Arial" panose="020B0604020202020204" pitchFamily="34" charset="0"/>
                <a:ea typeface="宋体" panose="02010600030101010101" pitchFamily="2" charset="-122"/>
              </a:rPr>
              <a:t>20%</a:t>
            </a:r>
            <a:r>
              <a:rPr lang="zh-CN" altLang="en-US" sz="2400" dirty="0">
                <a:solidFill>
                  <a:srgbClr val="336699"/>
                </a:solidFill>
                <a:latin typeface="Arial" panose="020B0604020202020204" pitchFamily="34" charset="0"/>
                <a:ea typeface="宋体" panose="02010600030101010101" pitchFamily="2" charset="-122"/>
              </a:rPr>
              <a:t>、硬土</a:t>
            </a:r>
            <a:r>
              <a:rPr lang="en-US" altLang="zh-CN" sz="2400" dirty="0">
                <a:solidFill>
                  <a:srgbClr val="336699"/>
                </a:solidFill>
                <a:latin typeface="Arial" panose="020B0604020202020204" pitchFamily="34" charset="0"/>
                <a:ea typeface="宋体" panose="02010600030101010101" pitchFamily="2" charset="-122"/>
              </a:rPr>
              <a:t>50%</a:t>
            </a:r>
            <a:r>
              <a:rPr lang="zh-CN" altLang="en-US" sz="2400" dirty="0">
                <a:solidFill>
                  <a:srgbClr val="336699"/>
                </a:solidFill>
                <a:latin typeface="Arial" panose="020B0604020202020204" pitchFamily="34" charset="0"/>
                <a:ea typeface="宋体" panose="02010600030101010101" pitchFamily="2" charset="-122"/>
              </a:rPr>
              <a:t>、砂砾土</a:t>
            </a:r>
            <a:r>
              <a:rPr lang="en-US" altLang="zh-CN" sz="2400" dirty="0">
                <a:solidFill>
                  <a:srgbClr val="336699"/>
                </a:solidFill>
                <a:latin typeface="Arial" panose="020B0604020202020204" pitchFamily="34" charset="0"/>
                <a:ea typeface="宋体" panose="02010600030101010101" pitchFamily="2" charset="-122"/>
              </a:rPr>
              <a:t>30%</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a:p>
            <a:pPr>
              <a:lnSpc>
                <a:spcPct val="110000"/>
              </a:lnSpc>
              <a:spcBef>
                <a:spcPct val="50000"/>
              </a:spcBef>
            </a:pPr>
            <a:r>
              <a:rPr lang="en-US" altLang="zh-CN" sz="2400" dirty="0">
                <a:solidFill>
                  <a:srgbClr val="336699"/>
                </a:solidFill>
                <a:latin typeface="Arial" panose="020B0604020202020204" pitchFamily="34" charset="0"/>
                <a:ea typeface="宋体" panose="02010600030101010101" pitchFamily="2" charset="-122"/>
              </a:rPr>
              <a:t>2 </a:t>
            </a:r>
            <a:r>
              <a:rPr lang="zh-CN" altLang="en-US" sz="2400" dirty="0">
                <a:solidFill>
                  <a:srgbClr val="336699"/>
                </a:solidFill>
                <a:latin typeface="Arial" panose="020B0604020202020204" pitchFamily="34" charset="0"/>
                <a:ea typeface="宋体" panose="02010600030101010101" pitchFamily="2" charset="-122"/>
              </a:rPr>
              <a:t>本定额中立电杆与撑杆、安装拉线部分为平原地区的定额，用于丘陵、水田、城区时应乘以</a:t>
            </a:r>
            <a:r>
              <a:rPr lang="en-US" altLang="zh-CN" sz="2400" dirty="0">
                <a:solidFill>
                  <a:srgbClr val="CC3300"/>
                </a:solidFill>
                <a:latin typeface="华文隶书" panose="02010800040101010101" pitchFamily="2" charset="-122"/>
                <a:ea typeface="华文隶书" panose="02010800040101010101" pitchFamily="2" charset="-122"/>
              </a:rPr>
              <a:t>1.30</a:t>
            </a:r>
            <a:r>
              <a:rPr lang="zh-CN" altLang="en-US" sz="2400" dirty="0">
                <a:solidFill>
                  <a:srgbClr val="336699"/>
                </a:solidFill>
                <a:latin typeface="Arial" panose="020B0604020202020204" pitchFamily="34" charset="0"/>
                <a:ea typeface="宋体" panose="02010600030101010101" pitchFamily="2" charset="-122"/>
              </a:rPr>
              <a:t>系数；用于山区时应乘以</a:t>
            </a:r>
            <a:r>
              <a:rPr lang="en-US" altLang="zh-CN" sz="2400" dirty="0">
                <a:solidFill>
                  <a:srgbClr val="CC3300"/>
                </a:solidFill>
                <a:latin typeface="华文隶书" panose="02010800040101010101" pitchFamily="2" charset="-122"/>
                <a:ea typeface="华文隶书" panose="02010800040101010101" pitchFamily="2" charset="-122"/>
              </a:rPr>
              <a:t>1.60</a:t>
            </a:r>
            <a:r>
              <a:rPr lang="zh-CN" altLang="en-US" sz="2400" dirty="0">
                <a:solidFill>
                  <a:srgbClr val="336699"/>
                </a:solidFill>
                <a:latin typeface="Arial" panose="020B0604020202020204" pitchFamily="34" charset="0"/>
                <a:ea typeface="宋体" panose="02010600030101010101" pitchFamily="2" charset="-122"/>
              </a:rPr>
              <a:t>系数。</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68674">
                                            <p:txEl>
                                              <p:charRg st="0" end="7"/>
                                            </p:txEl>
                                          </p:spTgt>
                                        </p:tgtEl>
                                        <p:attrNameLst>
                                          <p:attrName>style.visibility</p:attrName>
                                        </p:attrNameLst>
                                      </p:cBhvr>
                                      <p:to>
                                        <p:strVal val="visible"/>
                                      </p:to>
                                    </p:set>
                                    <p:animEffect transition="in" filter="slide(fromBottom)">
                                      <p:cBhvr>
                                        <p:cTn id="7" dur="500"/>
                                        <p:tgtEl>
                                          <p:spTgt spid="668674">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668674">
                                            <p:txEl>
                                              <p:charRg st="7" end="109"/>
                                            </p:txEl>
                                          </p:spTgt>
                                        </p:tgtEl>
                                        <p:attrNameLst>
                                          <p:attrName>style.visibility</p:attrName>
                                        </p:attrNameLst>
                                      </p:cBhvr>
                                      <p:to>
                                        <p:strVal val="visible"/>
                                      </p:to>
                                    </p:set>
                                    <p:animEffect transition="in" filter="wheel(4)">
                                      <p:cBhvr>
                                        <p:cTn id="12" dur="2000"/>
                                        <p:tgtEl>
                                          <p:spTgt spid="668674">
                                            <p:txEl>
                                              <p:charRg st="7" end="10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68674">
                                            <p:txEl>
                                              <p:charRg st="109" end="171"/>
                                            </p:txEl>
                                          </p:spTgt>
                                        </p:tgtEl>
                                        <p:attrNameLst>
                                          <p:attrName>style.visibility</p:attrName>
                                        </p:attrNameLst>
                                      </p:cBhvr>
                                      <p:to>
                                        <p:strVal val="visible"/>
                                      </p:to>
                                    </p:set>
                                    <p:animEffect transition="in" filter="slide(fromBottom)">
                                      <p:cBhvr>
                                        <p:cTn id="17" dur="500"/>
                                        <p:tgtEl>
                                          <p:spTgt spid="668674">
                                            <p:txEl>
                                              <p:charRg st="109" end="1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668674">
                                            <p:txEl>
                                              <p:charRg st="171" end="236"/>
                                            </p:txEl>
                                          </p:spTgt>
                                        </p:tgtEl>
                                        <p:attrNameLst>
                                          <p:attrName>style.visibility</p:attrName>
                                        </p:attrNameLst>
                                      </p:cBhvr>
                                      <p:to>
                                        <p:strVal val="visible"/>
                                      </p:to>
                                    </p:set>
                                    <p:animEffect transition="in" filter="slide(fromBottom)">
                                      <p:cBhvr>
                                        <p:cTn id="22" dur="500"/>
                                        <p:tgtEl>
                                          <p:spTgt spid="668674">
                                            <p:txEl>
                                              <p:charRg st="171" end="2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9698" name="Rectangle 2"/>
          <p:cNvSpPr>
            <a:spLocks noChangeArrowheads="1"/>
          </p:cNvSpPr>
          <p:nvPr/>
        </p:nvSpPr>
        <p:spPr bwMode="auto">
          <a:xfrm>
            <a:off x="468313" y="692150"/>
            <a:ext cx="8675688" cy="403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1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3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更换电杆及拉线按本定额相关子目的</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2</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倍计取；拆除工程按本定额相关子目人工与机械的</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0.7</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倍计取（拆除拉线未拆除地锚的，按相应定额人工与机械的</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30</a:t>
            </a:r>
            <a:r>
              <a:rPr kumimoji="0" lang="zh-CN" altLang="en-US"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计取）。 </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4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组立安装</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L</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杆，取</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H</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杆同等杆高定额的</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1.5</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倍；组立安装井字杆，取</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H</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杆同等杆高定额的</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2</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倍。</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5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高桩拉线中电杆至拉桩间正拉线的架设套用相应安装吊线的人工定额，主要材料由设计根据具体情况另行计算。</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6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安装拉线如采用横木地锚时，相应定额应取消地锚铁柄和水泥拉线盘两种材料，需另增加制作横木地锚的相应子目。</a:t>
            </a: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69698">
                                            <p:txEl>
                                              <p:charRg st="0" end="79"/>
                                            </p:txEl>
                                          </p:spTgt>
                                        </p:tgtEl>
                                        <p:attrNameLst>
                                          <p:attrName>style.visibility</p:attrName>
                                        </p:attrNameLst>
                                      </p:cBhvr>
                                      <p:to>
                                        <p:strVal val="visible"/>
                                      </p:to>
                                    </p:set>
                                    <p:animEffect transition="in" filter="slide(fromBottom)">
                                      <p:cBhvr>
                                        <p:cTn id="7" dur="500"/>
                                        <p:tgtEl>
                                          <p:spTgt spid="669698">
                                            <p:txEl>
                                              <p:charRg st="0" end="7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69698">
                                            <p:txEl>
                                              <p:charRg st="79" end="125"/>
                                            </p:txEl>
                                          </p:spTgt>
                                        </p:tgtEl>
                                        <p:attrNameLst>
                                          <p:attrName>style.visibility</p:attrName>
                                        </p:attrNameLst>
                                      </p:cBhvr>
                                      <p:to>
                                        <p:strVal val="visible"/>
                                      </p:to>
                                    </p:set>
                                    <p:anim to="" calcmode="lin" valueType="num">
                                      <p:cBhvr>
                                        <p:cTn id="12" dur="1" fill="hold"/>
                                        <p:tgtEl>
                                          <p:spTgt spid="669698">
                                            <p:txEl>
                                              <p:charRg st="79" end="125"/>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69698">
                                            <p:txEl>
                                              <p:charRg st="125" end="177"/>
                                            </p:txEl>
                                          </p:spTgt>
                                        </p:tgtEl>
                                        <p:attrNameLst>
                                          <p:attrName>style.visibility</p:attrName>
                                        </p:attrNameLst>
                                      </p:cBhvr>
                                      <p:to>
                                        <p:strVal val="visible"/>
                                      </p:to>
                                    </p:set>
                                    <p:anim to="" calcmode="lin" valueType="num">
                                      <p:cBhvr>
                                        <p:cTn id="17" dur="1" fill="hold"/>
                                        <p:tgtEl>
                                          <p:spTgt spid="669698">
                                            <p:txEl>
                                              <p:charRg st="125" end="177"/>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669698">
                                            <p:txEl>
                                              <p:charRg st="177" end="232"/>
                                            </p:txEl>
                                          </p:spTgt>
                                        </p:tgtEl>
                                        <p:attrNameLst>
                                          <p:attrName>style.visibility</p:attrName>
                                        </p:attrNameLst>
                                      </p:cBhvr>
                                      <p:to>
                                        <p:strVal val="visible"/>
                                      </p:to>
                                    </p:set>
                                    <p:anim to="" calcmode="lin" valueType="num">
                                      <p:cBhvr>
                                        <p:cTn id="22" dur="1" fill="hold"/>
                                        <p:tgtEl>
                                          <p:spTgt spid="669698">
                                            <p:txEl>
                                              <p:charRg st="177" end="232"/>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0722" name="Rectangle 2"/>
          <p:cNvSpPr>
            <a:spLocks noChangeArrowheads="1"/>
          </p:cNvSpPr>
          <p:nvPr/>
        </p:nvSpPr>
        <p:spPr bwMode="auto">
          <a:xfrm>
            <a:off x="468313" y="692150"/>
            <a:ext cx="8675688" cy="365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7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本定额相关子目所列横木的长度，由设计根据地质地形选取。</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8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架空明线的线位间如需架设安装架空吊线时，按相应子目的定额乘以</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1.3</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系数。</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9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敷设档距在</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100</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米及以上的吊线、光电缆时，其人工按相应定额的</a:t>
            </a:r>
            <a:r>
              <a:rPr kumimoji="0" lang="en-US" altLang="zh-CN" sz="2400" b="1" i="0" u="none" strike="noStrike" kern="1200" cap="none" spc="0" normalizeH="0" baseline="0" noProof="0">
                <a:ln>
                  <a:noFill/>
                </a:ln>
                <a:solidFill>
                  <a:srgbClr val="CC3300"/>
                </a:solidFill>
                <a:effectLst/>
                <a:uLnTx/>
                <a:uFillTx/>
                <a:latin typeface="华文隶书" panose="02010800040101010101" pitchFamily="2" charset="-122"/>
                <a:ea typeface="华文隶书" panose="02010800040101010101" pitchFamily="2" charset="-122"/>
                <a:cs typeface="+mn-cs"/>
              </a:rPr>
              <a:t>2</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倍计取。</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10 </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拉线坑所在地表有水或严重渗水，应由设计另计取排水等措施费用。</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70722">
                                            <p:txEl>
                                              <p:charRg st="0" end="30"/>
                                            </p:txEl>
                                          </p:spTgt>
                                        </p:tgtEl>
                                        <p:attrNameLst>
                                          <p:attrName>style.visibility</p:attrName>
                                        </p:attrNameLst>
                                      </p:cBhvr>
                                      <p:to>
                                        <p:strVal val="visible"/>
                                      </p:to>
                                    </p:set>
                                    <p:anim to="" calcmode="lin" valueType="num">
                                      <p:cBhvr>
                                        <p:cTn id="7" dur="1" fill="hold"/>
                                        <p:tgtEl>
                                          <p:spTgt spid="670722">
                                            <p:txEl>
                                              <p:charRg st="0" end="30"/>
                                            </p:txEl>
                                          </p:spTgt>
                                        </p:tgtEl>
                                        <p:attrNameLst>
                                          <p:attrName>style.visibility</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70722">
                                            <p:txEl>
                                              <p:charRg st="30" end="69"/>
                                            </p:txEl>
                                          </p:spTgt>
                                        </p:tgtEl>
                                        <p:attrNameLst>
                                          <p:attrName>style.visibility</p:attrName>
                                        </p:attrNameLst>
                                      </p:cBhvr>
                                      <p:to>
                                        <p:strVal val="visible"/>
                                      </p:to>
                                    </p:set>
                                    <p:anim to="" calcmode="lin" valueType="num">
                                      <p:cBhvr>
                                        <p:cTn id="12" dur="1" fill="hold"/>
                                        <p:tgtEl>
                                          <p:spTgt spid="670722">
                                            <p:txEl>
                                              <p:charRg st="30" end="69"/>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70722">
                                            <p:txEl>
                                              <p:charRg st="69" end="107"/>
                                            </p:txEl>
                                          </p:spTgt>
                                        </p:tgtEl>
                                        <p:attrNameLst>
                                          <p:attrName>style.visibility</p:attrName>
                                        </p:attrNameLst>
                                      </p:cBhvr>
                                      <p:to>
                                        <p:strVal val="visible"/>
                                      </p:to>
                                    </p:set>
                                    <p:anim to="" calcmode="lin" valueType="num">
                                      <p:cBhvr>
                                        <p:cTn id="17" dur="1" fill="hold"/>
                                        <p:tgtEl>
                                          <p:spTgt spid="670722">
                                            <p:txEl>
                                              <p:charRg st="69" end="107"/>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670722">
                                            <p:txEl>
                                              <p:charRg st="107" end="141"/>
                                            </p:txEl>
                                          </p:spTgt>
                                        </p:tgtEl>
                                        <p:attrNameLst>
                                          <p:attrName>style.visibility</p:attrName>
                                        </p:attrNameLst>
                                      </p:cBhvr>
                                      <p:to>
                                        <p:strVal val="visible"/>
                                      </p:to>
                                    </p:set>
                                    <p:anim to="" calcmode="lin" valueType="num">
                                      <p:cBhvr>
                                        <p:cTn id="22" dur="1" fill="hold"/>
                                        <p:tgtEl>
                                          <p:spTgt spid="670722">
                                            <p:txEl>
                                              <p:charRg st="107" end="141"/>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1746" name="Rectangle 2"/>
          <p:cNvSpPr/>
          <p:nvPr/>
        </p:nvSpPr>
        <p:spPr>
          <a:xfrm>
            <a:off x="468313" y="692150"/>
            <a:ext cx="8675687" cy="2647950"/>
          </a:xfrm>
          <a:prstGeom prst="rect">
            <a:avLst/>
          </a:prstGeom>
          <a:noFill/>
          <a:ln w="9525">
            <a:noFill/>
          </a:ln>
        </p:spPr>
        <p:txBody>
          <a:bodyPr anchor="t" anchorCtr="0">
            <a:spAutoFit/>
          </a:bodyPr>
          <a:p>
            <a:pPr>
              <a:spcBef>
                <a:spcPct val="50000"/>
              </a:spcBef>
            </a:pPr>
            <a:r>
              <a:rPr lang="en-US" altLang="zh-CN" sz="2400" dirty="0">
                <a:solidFill>
                  <a:srgbClr val="336699"/>
                </a:solidFill>
                <a:latin typeface="Arial" panose="020B0604020202020204" pitchFamily="34" charset="0"/>
                <a:ea typeface="宋体" panose="02010600030101010101" pitchFamily="2" charset="-122"/>
              </a:rPr>
              <a:t>11 </a:t>
            </a:r>
            <a:r>
              <a:rPr lang="zh-CN" altLang="en-US" sz="2400" dirty="0">
                <a:solidFill>
                  <a:srgbClr val="336699"/>
                </a:solidFill>
                <a:latin typeface="Arial" panose="020B0604020202020204" pitchFamily="34" charset="0"/>
                <a:ea typeface="宋体" panose="02010600030101010101" pitchFamily="2" charset="-122"/>
              </a:rPr>
              <a:t>有关材料部分的说明：</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）本定额中立普通品接杆限高</a:t>
            </a:r>
            <a:r>
              <a:rPr lang="en-US" altLang="zh-CN" sz="2400" dirty="0">
                <a:solidFill>
                  <a:srgbClr val="336699"/>
                </a:solidFill>
                <a:latin typeface="Arial" panose="020B0604020202020204" pitchFamily="34" charset="0"/>
                <a:ea typeface="宋体" panose="02010600030101010101" pitchFamily="2" charset="-122"/>
              </a:rPr>
              <a:t>15</a:t>
            </a:r>
            <a:r>
              <a:rPr lang="zh-CN" altLang="en-US" sz="2400" dirty="0">
                <a:solidFill>
                  <a:srgbClr val="336699"/>
                </a:solidFill>
                <a:latin typeface="Arial" panose="020B0604020202020204" pitchFamily="34" charset="0"/>
                <a:ea typeface="宋体" panose="02010600030101010101" pitchFamily="2" charset="-122"/>
              </a:rPr>
              <a:t>米以内，特种品接杆限高</a:t>
            </a:r>
            <a:r>
              <a:rPr lang="en-US" altLang="zh-CN" sz="2400" dirty="0">
                <a:solidFill>
                  <a:srgbClr val="336699"/>
                </a:solidFill>
                <a:latin typeface="Arial" panose="020B0604020202020204" pitchFamily="34" charset="0"/>
                <a:ea typeface="宋体" panose="02010600030101010101" pitchFamily="2" charset="-122"/>
              </a:rPr>
              <a:t>24</a:t>
            </a:r>
            <a:r>
              <a:rPr lang="zh-CN" altLang="en-US" sz="2400" dirty="0">
                <a:solidFill>
                  <a:srgbClr val="336699"/>
                </a:solidFill>
                <a:latin typeface="Arial" panose="020B0604020202020204" pitchFamily="34" charset="0"/>
                <a:ea typeface="宋体" panose="02010600030101010101" pitchFamily="2" charset="-122"/>
              </a:rPr>
              <a:t>米以内，工程中电杆长度由设计确定。</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）各种拉线的钢绞线定额消耗量按</a:t>
            </a:r>
            <a:r>
              <a:rPr lang="en-US" altLang="zh-CN" sz="2400" dirty="0">
                <a:solidFill>
                  <a:srgbClr val="336699"/>
                </a:solidFill>
                <a:latin typeface="Arial" panose="020B0604020202020204" pitchFamily="34" charset="0"/>
                <a:ea typeface="宋体" panose="02010600030101010101" pitchFamily="2" charset="-122"/>
              </a:rPr>
              <a:t>9</a:t>
            </a:r>
            <a:r>
              <a:rPr lang="zh-CN" altLang="en-US" sz="2400" dirty="0">
                <a:solidFill>
                  <a:srgbClr val="336699"/>
                </a:solidFill>
                <a:latin typeface="Arial" panose="020B0604020202020204" pitchFamily="34" charset="0"/>
                <a:ea typeface="宋体" panose="02010600030101010101" pitchFamily="2" charset="-122"/>
              </a:rPr>
              <a:t>米以内杆高、距高比</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测定，如杆高与距高比根据地形地貌有变化，可据实调整换算其用量，杆高相差</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米单条钢绞线的调整数如表</a:t>
            </a:r>
            <a:r>
              <a:rPr lang="en-US" altLang="zh-CN" sz="2400" dirty="0">
                <a:solidFill>
                  <a:srgbClr val="336699"/>
                </a:solidFill>
                <a:latin typeface="Arial" panose="020B0604020202020204" pitchFamily="34" charset="0"/>
                <a:ea typeface="宋体" panose="02010600030101010101" pitchFamily="2" charset="-122"/>
              </a:rPr>
              <a:t>5-3</a:t>
            </a:r>
            <a:r>
              <a:rPr lang="zh-CN" altLang="en-US" sz="2400" dirty="0">
                <a:solidFill>
                  <a:srgbClr val="336699"/>
                </a:solidFill>
                <a:latin typeface="Arial" panose="020B0604020202020204" pitchFamily="34" charset="0"/>
                <a:ea typeface="宋体" panose="02010600030101010101" pitchFamily="2" charset="-122"/>
              </a:rPr>
              <a:t>所示：</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71747" name="Rectangle 3"/>
          <p:cNvSpPr/>
          <p:nvPr/>
        </p:nvSpPr>
        <p:spPr>
          <a:xfrm>
            <a:off x="2268538" y="3500438"/>
            <a:ext cx="3859212" cy="336550"/>
          </a:xfrm>
          <a:prstGeom prst="rect">
            <a:avLst/>
          </a:prstGeom>
          <a:noFill/>
          <a:ln w="9525">
            <a:noFill/>
          </a:ln>
        </p:spPr>
        <p:txBody>
          <a:bodyPr wrap="none" anchor="ctr" anchorCtr="0">
            <a:spAutoFit/>
          </a:bodyPr>
          <a:p>
            <a:pP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5-3 </a:t>
            </a:r>
            <a:r>
              <a:rPr lang="zh-CN" altLang="en-US" sz="1600" b="0" dirty="0">
                <a:solidFill>
                  <a:schemeClr val="tx1"/>
                </a:solidFill>
                <a:latin typeface="Times New Roman" panose="02020603050405020304" pitchFamily="18" charset="0"/>
                <a:ea typeface="宋体" panose="02010600030101010101" pitchFamily="2" charset="-122"/>
              </a:rPr>
              <a:t>杆高相差</a:t>
            </a:r>
            <a:r>
              <a:rPr lang="en-US" altLang="zh-CN" sz="1600" b="0" dirty="0">
                <a:solidFill>
                  <a:schemeClr val="tx1"/>
                </a:solidFill>
                <a:latin typeface="Times New Roman" panose="02020603050405020304" pitchFamily="18" charset="0"/>
                <a:ea typeface="宋体" panose="02010600030101010101" pitchFamily="2" charset="-122"/>
              </a:rPr>
              <a:t>1</a:t>
            </a:r>
            <a:r>
              <a:rPr lang="zh-CN" altLang="en-US" sz="1600" b="0" dirty="0">
                <a:solidFill>
                  <a:schemeClr val="tx1"/>
                </a:solidFill>
                <a:latin typeface="Times New Roman" panose="02020603050405020304" pitchFamily="18" charset="0"/>
                <a:ea typeface="宋体" panose="02010600030101010101" pitchFamily="2" charset="-122"/>
              </a:rPr>
              <a:t>米单条钢绞线的调整数表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671748" name="Group 4"/>
          <p:cNvGraphicFramePr>
            <a:graphicFrameLocks noGrp="1"/>
          </p:cNvGraphicFramePr>
          <p:nvPr/>
        </p:nvGraphicFramePr>
        <p:xfrm>
          <a:off x="1042988" y="3933825"/>
          <a:ext cx="6192838" cy="669925"/>
        </p:xfrm>
        <a:graphic>
          <a:graphicData uri="http://schemas.openxmlformats.org/drawingml/2006/table">
            <a:tbl>
              <a:tblPr/>
              <a:tblGrid>
                <a:gridCol w="1525587"/>
                <a:gridCol w="1593850"/>
                <a:gridCol w="1547813"/>
                <a:gridCol w="1525587"/>
              </a:tblGrid>
              <a:tr h="334963">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制    式</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7/2.2</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7/2.6</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7/3.0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4963">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 整 量</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±0.31 kg</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±0.45 kg</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±0.60 kg</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77" marB="4567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
        <p:nvSpPr>
          <p:cNvPr id="671765" name="Rectangle 21"/>
          <p:cNvSpPr/>
          <p:nvPr/>
        </p:nvSpPr>
        <p:spPr>
          <a:xfrm>
            <a:off x="250825" y="4941888"/>
            <a:ext cx="5534025" cy="457200"/>
          </a:xfrm>
          <a:prstGeom prst="rect">
            <a:avLst/>
          </a:prstGeom>
          <a:noFill/>
          <a:ln w="9525">
            <a:noFill/>
          </a:ln>
        </p:spPr>
        <p:txBody>
          <a:bodyPr wrap="none" anchor="ctr" anchorCtr="0">
            <a:spAutoFit/>
          </a:bodyPr>
          <a:p>
            <a:pPr eaLnBrk="0" hangingPunct="0"/>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）架设消弧线定额套用吊线定额。</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71746">
                                            <p:txEl>
                                              <p:charRg st="0" end="14"/>
                                            </p:txEl>
                                          </p:spTgt>
                                        </p:tgtEl>
                                        <p:attrNameLst>
                                          <p:attrName>style.visibility</p:attrName>
                                        </p:attrNameLst>
                                      </p:cBhvr>
                                      <p:to>
                                        <p:strVal val="visible"/>
                                      </p:to>
                                    </p:set>
                                    <p:animEffect transition="in" filter="slide(fromBottom)">
                                      <p:cBhvr>
                                        <p:cTn id="7" dur="500"/>
                                        <p:tgtEl>
                                          <p:spTgt spid="671746">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71746">
                                            <p:txEl>
                                              <p:charRg st="14" end="62"/>
                                            </p:txEl>
                                          </p:spTgt>
                                        </p:tgtEl>
                                        <p:attrNameLst>
                                          <p:attrName>style.visibility</p:attrName>
                                        </p:attrNameLst>
                                      </p:cBhvr>
                                      <p:to>
                                        <p:strVal val="visible"/>
                                      </p:to>
                                    </p:set>
                                    <p:anim to="" calcmode="lin" valueType="num">
                                      <p:cBhvr>
                                        <p:cTn id="12" dur="1" fill="hold"/>
                                        <p:tgtEl>
                                          <p:spTgt spid="671746">
                                            <p:txEl>
                                              <p:charRg st="14" end="62"/>
                                            </p:txEl>
                                          </p:spTgt>
                                        </p:tgtEl>
                                        <p:attrNameLst>
                                          <p:attrName>style.visibility</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71746">
                                            <p:txEl>
                                              <p:charRg st="62" end="147"/>
                                            </p:txEl>
                                          </p:spTgt>
                                        </p:tgtEl>
                                        <p:attrNameLst>
                                          <p:attrName>style.visibility</p:attrName>
                                        </p:attrNameLst>
                                      </p:cBhvr>
                                      <p:to>
                                        <p:strVal val="visible"/>
                                      </p:to>
                                    </p:set>
                                    <p:anim to="" calcmode="lin" valueType="num">
                                      <p:cBhvr>
                                        <p:cTn id="17" dur="1" fill="hold"/>
                                        <p:tgtEl>
                                          <p:spTgt spid="671746">
                                            <p:txEl>
                                              <p:charRg st="62" end="147"/>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671747"/>
                                        </p:tgtEl>
                                        <p:attrNameLst>
                                          <p:attrName>style.visibility</p:attrName>
                                        </p:attrNameLst>
                                      </p:cBhvr>
                                      <p:to>
                                        <p:strVal val="visible"/>
                                      </p:to>
                                    </p:set>
                                    <p:anim to="" calcmode="lin" valueType="num">
                                      <p:cBhvr>
                                        <p:cTn id="22" dur="1" fill="hold"/>
                                        <p:tgtEl>
                                          <p:spTgt spid="671747"/>
                                        </p:tgtEl>
                                        <p:attrNameLst>
                                          <p:attrName>style.visibility</p:attrName>
                                        </p:attrNameLst>
                                      </p:cBhvr>
                                    </p:anim>
                                  </p:childTnLst>
                                </p:cTn>
                              </p:par>
                              <p:par>
                                <p:cTn id="23" presetID="24" presetClass="entr" presetSubtype="0" fill="hold" nodeType="withEffect">
                                  <p:stCondLst>
                                    <p:cond delay="0"/>
                                  </p:stCondLst>
                                  <p:childTnLst>
                                    <p:set>
                                      <p:cBhvr>
                                        <p:cTn id="24" dur="1" fill="hold">
                                          <p:stCondLst>
                                            <p:cond delay="0"/>
                                          </p:stCondLst>
                                        </p:cTn>
                                        <p:tgtEl>
                                          <p:spTgt spid="671748"/>
                                        </p:tgtEl>
                                        <p:attrNameLst>
                                          <p:attrName>style.visibility</p:attrName>
                                        </p:attrNameLst>
                                      </p:cBhvr>
                                      <p:to>
                                        <p:strVal val="visible"/>
                                      </p:to>
                                    </p:set>
                                    <p:anim to="" calcmode="lin" valueType="num">
                                      <p:cBhvr>
                                        <p:cTn id="25" dur="1" fill="hold"/>
                                        <p:tgtEl>
                                          <p:spTgt spid="671748"/>
                                        </p:tgtEl>
                                        <p:attrNameLst>
                                          <p:attrName>style.visibility</p:attrName>
                                        </p:attrNameLst>
                                      </p:cBhvr>
                                    </p:anim>
                                  </p:childTnLst>
                                </p:cTn>
                              </p:par>
                            </p:childTnLst>
                          </p:cTn>
                        </p:par>
                      </p:childTnLst>
                    </p:cTn>
                  </p:par>
                  <p:par>
                    <p:cTn id="26" fill="hold">
                      <p:stCondLst>
                        <p:cond delay="indefinite"/>
                      </p:stCondLst>
                      <p:childTnLst>
                        <p:par>
                          <p:cTn id="27" fill="hold">
                            <p:stCondLst>
                              <p:cond delay="0"/>
                            </p:stCondLst>
                            <p:childTnLst>
                              <p:par>
                                <p:cTn id="28" presetID="24" presetClass="entr" presetSubtype="0" fill="hold" nodeType="clickEffect">
                                  <p:stCondLst>
                                    <p:cond delay="0"/>
                                  </p:stCondLst>
                                  <p:childTnLst>
                                    <p:set>
                                      <p:cBhvr>
                                        <p:cTn id="29" dur="1" fill="hold">
                                          <p:stCondLst>
                                            <p:cond delay="0"/>
                                          </p:stCondLst>
                                        </p:cTn>
                                        <p:tgtEl>
                                          <p:spTgt spid="671765">
                                            <p:txEl>
                                              <p:charRg st="0" end="18"/>
                                            </p:txEl>
                                          </p:spTgt>
                                        </p:tgtEl>
                                        <p:attrNameLst>
                                          <p:attrName>style.visibility</p:attrName>
                                        </p:attrNameLst>
                                      </p:cBhvr>
                                      <p:to>
                                        <p:strVal val="visible"/>
                                      </p:to>
                                    </p:set>
                                    <p:anim to="" calcmode="lin" valueType="num">
                                      <p:cBhvr>
                                        <p:cTn id="30" dur="1" fill="hold"/>
                                        <p:tgtEl>
                                          <p:spTgt spid="671765">
                                            <p:txEl>
                                              <p:charRg st="0" end="18"/>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74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2770" name="Rectangle 2"/>
          <p:cNvSpPr/>
          <p:nvPr/>
        </p:nvSpPr>
        <p:spPr>
          <a:xfrm>
            <a:off x="468313" y="692150"/>
            <a:ext cx="8675687" cy="2465388"/>
          </a:xfrm>
          <a:prstGeom prst="rect">
            <a:avLst/>
          </a:prstGeom>
          <a:noFill/>
          <a:ln w="9525">
            <a:noFill/>
          </a:ln>
        </p:spPr>
        <p:txBody>
          <a:bodyPr anchor="t" anchorCtr="0">
            <a:spAutoFit/>
          </a:bodyPr>
          <a:p>
            <a:pPr>
              <a:spcBef>
                <a:spcPct val="50000"/>
              </a:spcBef>
            </a:pPr>
            <a:r>
              <a:rPr lang="en-US" altLang="zh-CN" sz="2400" dirty="0">
                <a:solidFill>
                  <a:srgbClr val="D60093"/>
                </a:solidFill>
                <a:latin typeface="Arial" panose="020B0604020202020204" pitchFamily="34" charset="0"/>
                <a:ea typeface="华文隶书" panose="02010800040101010101" pitchFamily="2" charset="-122"/>
              </a:rPr>
              <a:t>4</a:t>
            </a:r>
            <a:r>
              <a:rPr lang="zh-CN" altLang="en-US" sz="2400" dirty="0">
                <a:solidFill>
                  <a:srgbClr val="D60093"/>
                </a:solidFill>
                <a:latin typeface="Arial" panose="020B0604020202020204" pitchFamily="34" charset="0"/>
                <a:ea typeface="华文隶书" panose="02010800040101010101" pitchFamily="2" charset="-122"/>
              </a:rPr>
              <a:t>）定额项目表</a:t>
            </a:r>
            <a:endParaRPr lang="zh-CN" altLang="en-US" sz="2400" dirty="0">
              <a:solidFill>
                <a:srgbClr val="D60093"/>
              </a:solidFill>
              <a:latin typeface="Arial" panose="020B0604020202020204" pitchFamily="34" charset="0"/>
              <a:ea typeface="华文隶书" panose="0201080004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定额项目表是预算定额的主要内容，表中列出了分部分项工程所需的人工、主要材料、机械台班及仪表的消耗量。</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D60093"/>
                </a:solidFill>
                <a:latin typeface="Arial" panose="020B0604020202020204" pitchFamily="34" charset="0"/>
                <a:ea typeface="华文隶书" panose="02010800040101010101" pitchFamily="2" charset="-122"/>
              </a:rPr>
              <a:t>5</a:t>
            </a:r>
            <a:r>
              <a:rPr lang="zh-CN" altLang="en-US" sz="2400" dirty="0">
                <a:solidFill>
                  <a:srgbClr val="D60093"/>
                </a:solidFill>
                <a:latin typeface="Arial" panose="020B0604020202020204" pitchFamily="34" charset="0"/>
                <a:ea typeface="华文隶书" panose="02010800040101010101" pitchFamily="2" charset="-122"/>
              </a:rPr>
              <a:t>）附录</a:t>
            </a:r>
            <a:endParaRPr lang="zh-CN" altLang="en-US" sz="2400" dirty="0">
              <a:solidFill>
                <a:srgbClr val="D60093"/>
              </a:solidFill>
              <a:latin typeface="Arial" panose="020B0604020202020204" pitchFamily="34" charset="0"/>
              <a:ea typeface="华文隶书" panose="0201080004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预算定额的最后列有附录，供使用预算定额时参考。 </a:t>
            </a:r>
            <a:endParaRPr lang="zh-CN" altLang="en-US" sz="2400" dirty="0">
              <a:solidFill>
                <a:srgbClr val="336699"/>
              </a:solidFill>
              <a:latin typeface="Arial" panose="020B0604020202020204" pitchFamily="34" charset="0"/>
              <a:ea typeface="宋体" panose="02010600030101010101" pitchFamily="2" charset="-122"/>
            </a:endParaRPr>
          </a:p>
        </p:txBody>
      </p:sp>
      <p:pic>
        <p:nvPicPr>
          <p:cNvPr id="55298"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72770">
                                            <p:txEl>
                                              <p:charRg st="0" end="8"/>
                                            </p:txEl>
                                          </p:spTgt>
                                        </p:tgtEl>
                                        <p:attrNameLst>
                                          <p:attrName>style.visibility</p:attrName>
                                        </p:attrNameLst>
                                      </p:cBhvr>
                                      <p:to>
                                        <p:strVal val="visible"/>
                                      </p:to>
                                    </p:set>
                                    <p:anim to="" calcmode="lin" valueType="num">
                                      <p:cBhvr>
                                        <p:cTn id="7" dur="1" fill="hold"/>
                                        <p:tgtEl>
                                          <p:spTgt spid="672770">
                                            <p:txEl>
                                              <p:charRg st="0" end="8"/>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72770">
                                            <p:txEl>
                                              <p:charRg st="8" end="67"/>
                                            </p:txEl>
                                          </p:spTgt>
                                        </p:tgtEl>
                                        <p:attrNameLst>
                                          <p:attrName>style.visibility</p:attrName>
                                        </p:attrNameLst>
                                      </p:cBhvr>
                                      <p:to>
                                        <p:strVal val="visible"/>
                                      </p:to>
                                    </p:set>
                                    <p:anim to="" calcmode="lin" valueType="num">
                                      <p:cBhvr>
                                        <p:cTn id="10" dur="1" fill="hold"/>
                                        <p:tgtEl>
                                          <p:spTgt spid="672770">
                                            <p:txEl>
                                              <p:charRg st="8" end="67"/>
                                            </p:txEl>
                                          </p:spTgt>
                                        </p:tgtEl>
                                        <p:attrNameLst>
                                          <p:attrName>style.visibility</p:attrName>
                                        </p:attrNameLst>
                                      </p:cBhvr>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672770">
                                            <p:txEl>
                                              <p:charRg st="67" end="72"/>
                                            </p:txEl>
                                          </p:spTgt>
                                        </p:tgtEl>
                                        <p:attrNameLst>
                                          <p:attrName>style.visibility</p:attrName>
                                        </p:attrNameLst>
                                      </p:cBhvr>
                                      <p:to>
                                        <p:strVal val="visible"/>
                                      </p:to>
                                    </p:set>
                                    <p:animEffect transition="in" filter="slide(fromBottom)">
                                      <p:cBhvr>
                                        <p:cTn id="15" dur="500"/>
                                        <p:tgtEl>
                                          <p:spTgt spid="672770">
                                            <p:txEl>
                                              <p:charRg st="67" end="72"/>
                                            </p:txEl>
                                          </p:spTgt>
                                        </p:tgtEl>
                                      </p:cBhvr>
                                    </p:animEffect>
                                  </p:childTnLst>
                                </p:cTn>
                              </p:par>
                              <p:par>
                                <p:cTn id="16" presetID="12" presetClass="entr" presetSubtype="4" fill="hold" nodeType="withEffect">
                                  <p:stCondLst>
                                    <p:cond delay="0"/>
                                  </p:stCondLst>
                                  <p:childTnLst>
                                    <p:set>
                                      <p:cBhvr>
                                        <p:cTn id="17" dur="1" fill="hold">
                                          <p:stCondLst>
                                            <p:cond delay="0"/>
                                          </p:stCondLst>
                                        </p:cTn>
                                        <p:tgtEl>
                                          <p:spTgt spid="672770">
                                            <p:txEl>
                                              <p:charRg st="72" end="103"/>
                                            </p:txEl>
                                          </p:spTgt>
                                        </p:tgtEl>
                                        <p:attrNameLst>
                                          <p:attrName>style.visibility</p:attrName>
                                        </p:attrNameLst>
                                      </p:cBhvr>
                                      <p:to>
                                        <p:strVal val="visible"/>
                                      </p:to>
                                    </p:set>
                                    <p:animEffect transition="in" filter="slide(fromBottom)">
                                      <p:cBhvr>
                                        <p:cTn id="18" dur="500"/>
                                        <p:tgtEl>
                                          <p:spTgt spid="672770">
                                            <p:txEl>
                                              <p:charRg st="72" end="10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Grp="1"/>
          </p:cNvSpPr>
          <p:nvPr>
            <p:ph type="title"/>
          </p:nvPr>
        </p:nvSpPr>
        <p:spPr>
          <a:xfrm>
            <a:off x="914400" y="333375"/>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3.5 </a:t>
            </a:r>
            <a:r>
              <a:rPr lang="zh-CN" altLang="en-US" b="1" dirty="0">
                <a:solidFill>
                  <a:srgbClr val="000099"/>
                </a:solidFill>
                <a:latin typeface="黑体" panose="02010609060101010101" pitchFamily="49" charset="-122"/>
                <a:ea typeface="黑体" panose="02010609060101010101" pitchFamily="49" charset="-122"/>
              </a:rPr>
              <a:t>通信建设工程概算定额</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56322"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grpSp>
        <p:nvGrpSpPr>
          <p:cNvPr id="56323" name="Group 4"/>
          <p:cNvGrpSpPr/>
          <p:nvPr/>
        </p:nvGrpSpPr>
        <p:grpSpPr>
          <a:xfrm>
            <a:off x="1692275" y="2565400"/>
            <a:ext cx="5668963" cy="1898650"/>
            <a:chOff x="1060" y="1604"/>
            <a:chExt cx="3571" cy="1196"/>
          </a:xfrm>
        </p:grpSpPr>
        <p:sp>
          <p:nvSpPr>
            <p:cNvPr id="56324" name="Line 18"/>
            <p:cNvSpPr/>
            <p:nvPr/>
          </p:nvSpPr>
          <p:spPr>
            <a:xfrm>
              <a:off x="1060" y="1604"/>
              <a:ext cx="3563" cy="0"/>
            </a:xfrm>
            <a:prstGeom prst="line">
              <a:avLst/>
            </a:prstGeom>
            <a:ln w="38100" cap="rnd" cmpd="sng">
              <a:solidFill>
                <a:srgbClr val="008000"/>
              </a:solidFill>
              <a:prstDash val="sysDot"/>
              <a:round/>
              <a:headEnd type="none" w="med" len="med"/>
              <a:tailEnd type="oval" w="med" len="med"/>
            </a:ln>
          </p:spPr>
        </p:sp>
        <p:sp>
          <p:nvSpPr>
            <p:cNvPr id="56325" name="Line 18"/>
            <p:cNvSpPr/>
            <p:nvPr/>
          </p:nvSpPr>
          <p:spPr>
            <a:xfrm>
              <a:off x="1069" y="2208"/>
              <a:ext cx="3562" cy="0"/>
            </a:xfrm>
            <a:prstGeom prst="line">
              <a:avLst/>
            </a:prstGeom>
            <a:ln w="38100" cap="rnd" cmpd="sng">
              <a:solidFill>
                <a:srgbClr val="008000"/>
              </a:solidFill>
              <a:prstDash val="sysDot"/>
              <a:round/>
              <a:headEnd type="none" w="med" len="med"/>
              <a:tailEnd type="oval" w="med" len="med"/>
            </a:ln>
          </p:spPr>
        </p:sp>
        <p:sp>
          <p:nvSpPr>
            <p:cNvPr id="56326" name="Line 18"/>
            <p:cNvSpPr/>
            <p:nvPr/>
          </p:nvSpPr>
          <p:spPr>
            <a:xfrm>
              <a:off x="1067" y="2800"/>
              <a:ext cx="3562" cy="0"/>
            </a:xfrm>
            <a:prstGeom prst="line">
              <a:avLst/>
            </a:prstGeom>
            <a:ln w="38100" cap="rnd" cmpd="sng">
              <a:solidFill>
                <a:srgbClr val="008000"/>
              </a:solidFill>
              <a:prstDash val="sysDot"/>
              <a:round/>
              <a:headEnd type="none" w="med" len="med"/>
              <a:tailEnd type="oval" w="med" len="med"/>
            </a:ln>
          </p:spPr>
        </p:sp>
      </p:grpSp>
      <p:grpSp>
        <p:nvGrpSpPr>
          <p:cNvPr id="56327" name="Group 8"/>
          <p:cNvGrpSpPr/>
          <p:nvPr/>
        </p:nvGrpSpPr>
        <p:grpSpPr>
          <a:xfrm>
            <a:off x="1701800" y="2046288"/>
            <a:ext cx="504825" cy="2443162"/>
            <a:chOff x="1072" y="1289"/>
            <a:chExt cx="318" cy="1539"/>
          </a:xfrm>
        </p:grpSpPr>
        <p:pic>
          <p:nvPicPr>
            <p:cNvPr id="56328" name="Picture 12" descr="003c"/>
            <p:cNvPicPr>
              <a:picLocks noChangeAspect="1"/>
            </p:cNvPicPr>
            <p:nvPr/>
          </p:nvPicPr>
          <p:blipFill>
            <a:blip r:embed="rId1"/>
            <a:stretch>
              <a:fillRect/>
            </a:stretch>
          </p:blipFill>
          <p:spPr>
            <a:xfrm>
              <a:off x="1072" y="1899"/>
              <a:ext cx="318" cy="318"/>
            </a:xfrm>
            <a:prstGeom prst="rect">
              <a:avLst/>
            </a:prstGeom>
            <a:noFill/>
            <a:ln w="9525">
              <a:noFill/>
            </a:ln>
          </p:spPr>
        </p:pic>
        <p:pic>
          <p:nvPicPr>
            <p:cNvPr id="56329" name="Picture 14" descr="002b"/>
            <p:cNvPicPr>
              <a:picLocks noChangeAspect="1"/>
            </p:cNvPicPr>
            <p:nvPr/>
          </p:nvPicPr>
          <p:blipFill>
            <a:blip r:embed="rId2"/>
            <a:stretch>
              <a:fillRect/>
            </a:stretch>
          </p:blipFill>
          <p:spPr>
            <a:xfrm>
              <a:off x="1072" y="1289"/>
              <a:ext cx="318" cy="318"/>
            </a:xfrm>
            <a:prstGeom prst="rect">
              <a:avLst/>
            </a:prstGeom>
            <a:noFill/>
            <a:ln w="9525">
              <a:noFill/>
            </a:ln>
          </p:spPr>
        </p:pic>
        <p:pic>
          <p:nvPicPr>
            <p:cNvPr id="56330" name="Picture 16" descr="004d (2)"/>
            <p:cNvPicPr>
              <a:picLocks noChangeAspect="1"/>
            </p:cNvPicPr>
            <p:nvPr/>
          </p:nvPicPr>
          <p:blipFill>
            <a:blip r:embed="rId3"/>
            <a:stretch>
              <a:fillRect/>
            </a:stretch>
          </p:blipFill>
          <p:spPr>
            <a:xfrm>
              <a:off x="1072" y="2510"/>
              <a:ext cx="318" cy="318"/>
            </a:xfrm>
            <a:prstGeom prst="rect">
              <a:avLst/>
            </a:prstGeom>
            <a:noFill/>
            <a:ln w="9525">
              <a:noFill/>
            </a:ln>
          </p:spPr>
        </p:pic>
      </p:grpSp>
      <p:sp>
        <p:nvSpPr>
          <p:cNvPr id="673804" name="Text Box 12">
            <a:hlinkClick r:id="rId4" action="ppaction://hlinksldjump"/>
          </p:cNvPr>
          <p:cNvSpPr txBox="1">
            <a:spLocks noChangeArrowheads="1"/>
          </p:cNvSpPr>
          <p:nvPr/>
        </p:nvSpPr>
        <p:spPr bwMode="auto">
          <a:xfrm>
            <a:off x="2268538" y="2133600"/>
            <a:ext cx="4967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概算定额的概念和作用是什么？</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73805" name="Text Box 13">
            <a:hlinkClick r:id="rId5" action="ppaction://hlinksldjump"/>
          </p:cNvPr>
          <p:cNvSpPr txBox="1">
            <a:spLocks noChangeArrowheads="1"/>
          </p:cNvSpPr>
          <p:nvPr/>
        </p:nvSpPr>
        <p:spPr bwMode="auto">
          <a:xfrm>
            <a:off x="2268538" y="3068638"/>
            <a:ext cx="482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概算定额的编制依据是什么？</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56333" name="Picture 27" descr="生物10"/>
          <p:cNvPicPr>
            <a:picLocks noChangeAspect="1"/>
          </p:cNvPicPr>
          <p:nvPr/>
        </p:nvPicPr>
        <p:blipFill>
          <a:blip r:embed="rId6"/>
          <a:srcRect r="68536" b="6113"/>
          <a:stretch>
            <a:fillRect/>
          </a:stretch>
        </p:blipFill>
        <p:spPr>
          <a:xfrm>
            <a:off x="563563" y="765175"/>
            <a:ext cx="830262" cy="706438"/>
          </a:xfrm>
          <a:prstGeom prst="rect">
            <a:avLst/>
          </a:prstGeom>
          <a:noFill/>
          <a:ln w="9525">
            <a:noFill/>
          </a:ln>
        </p:spPr>
      </p:pic>
      <p:grpSp>
        <p:nvGrpSpPr>
          <p:cNvPr id="56334" name="Group 43"/>
          <p:cNvGrpSpPr/>
          <p:nvPr/>
        </p:nvGrpSpPr>
        <p:grpSpPr>
          <a:xfrm>
            <a:off x="563563" y="1603375"/>
            <a:ext cx="1704975" cy="381000"/>
            <a:chOff x="-1324" y="576"/>
            <a:chExt cx="912" cy="240"/>
          </a:xfrm>
        </p:grpSpPr>
        <p:sp>
          <p:nvSpPr>
            <p:cNvPr id="56335"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56336"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56337"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sp>
        <p:nvSpPr>
          <p:cNvPr id="673811" name="Text Box 19">
            <a:hlinkClick r:id="rId7" action="ppaction://hlinksldjump"/>
          </p:cNvPr>
          <p:cNvSpPr txBox="1">
            <a:spLocks noChangeArrowheads="1"/>
          </p:cNvSpPr>
          <p:nvPr/>
        </p:nvSpPr>
        <p:spPr bwMode="auto">
          <a:xfrm>
            <a:off x="2268538" y="4005263"/>
            <a:ext cx="561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概算定额编制原则</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56339" name="Picture 20" descr="图片1">
            <a:hlinkClick r:id="rId8" action="ppaction://hlinksldjump"/>
          </p:cNvPr>
          <p:cNvPicPr>
            <a:picLocks noChangeAspect="1"/>
          </p:cNvPicPr>
          <p:nvPr/>
        </p:nvPicPr>
        <p:blipFill>
          <a:blip r:embed="rId9"/>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3804"/>
                                        </p:tgtEl>
                                        <p:attrNameLst>
                                          <p:attrName>style.visibility</p:attrName>
                                        </p:attrNameLst>
                                      </p:cBhvr>
                                      <p:to>
                                        <p:strVal val="visible"/>
                                      </p:to>
                                    </p:set>
                                    <p:animEffect transition="in" filter="wipe(left)">
                                      <p:cBhvr>
                                        <p:cTn id="7" dur="1000"/>
                                        <p:tgtEl>
                                          <p:spTgt spid="673804"/>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73805"/>
                                        </p:tgtEl>
                                        <p:attrNameLst>
                                          <p:attrName>style.visibility</p:attrName>
                                        </p:attrNameLst>
                                      </p:cBhvr>
                                      <p:to>
                                        <p:strVal val="visible"/>
                                      </p:to>
                                    </p:set>
                                    <p:animEffect transition="in" filter="wipe(left)">
                                      <p:cBhvr>
                                        <p:cTn id="11" dur="1000"/>
                                        <p:tgtEl>
                                          <p:spTgt spid="673805"/>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73811"/>
                                        </p:tgtEl>
                                        <p:attrNameLst>
                                          <p:attrName>style.visibility</p:attrName>
                                        </p:attrNameLst>
                                      </p:cBhvr>
                                      <p:to>
                                        <p:strVal val="visible"/>
                                      </p:to>
                                    </p:set>
                                    <p:animEffect transition="in" filter="wipe(left)">
                                      <p:cBhvr>
                                        <p:cTn id="15" dur="1000"/>
                                        <p:tgtEl>
                                          <p:spTgt spid="673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804" grpId="0"/>
      <p:bldP spid="673805" grpId="0"/>
      <p:bldP spid="67381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4818"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概算定额的概念</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            概算定额又称扩大结构定额，规定了完成单位扩大分项工程或单位扩大结构构件所必须消耗的人工、材料和机械台班的数量标准。 </a:t>
            </a:r>
            <a:endParaRPr lang="zh-CN" altLang="en-US" dirty="0">
              <a:ea typeface="宋体" panose="02010600030101010101" pitchFamily="2" charset="-122"/>
            </a:endParaRPr>
          </a:p>
          <a:p>
            <a:pPr>
              <a:lnSpc>
                <a:spcPct val="110000"/>
              </a:lnSpc>
              <a:buNone/>
            </a:pPr>
            <a:endParaRPr lang="zh-CN" altLang="en-US" sz="2800" dirty="0">
              <a:solidFill>
                <a:srgbClr val="FF0000"/>
              </a:solidFill>
              <a:ea typeface="宋体" panose="02010600030101010101" pitchFamily="2" charset="-122"/>
            </a:endParaRPr>
          </a:p>
          <a:p>
            <a:pPr>
              <a:lnSpc>
                <a:spcPct val="120000"/>
              </a:lnSpc>
              <a:buNone/>
            </a:pPr>
            <a:r>
              <a:rPr lang="zh-CN" altLang="en-US" dirty="0">
                <a:ea typeface="宋体" panose="02010600030101010101" pitchFamily="2" charset="-122"/>
              </a:rPr>
              <a:t>            </a:t>
            </a:r>
            <a:endParaRPr lang="zh-CN" altLang="en-US" dirty="0">
              <a:ea typeface="宋体" panose="02010600030101010101" pitchFamily="2" charset="-122"/>
            </a:endParaRPr>
          </a:p>
        </p:txBody>
      </p:sp>
      <p:grpSp>
        <p:nvGrpSpPr>
          <p:cNvPr id="57346" name="Group 40"/>
          <p:cNvGrpSpPr/>
          <p:nvPr/>
        </p:nvGrpSpPr>
        <p:grpSpPr>
          <a:xfrm>
            <a:off x="7164388" y="-265112"/>
            <a:ext cx="1758950" cy="1606550"/>
            <a:chOff x="672" y="334"/>
            <a:chExt cx="1108" cy="1012"/>
          </a:xfrm>
        </p:grpSpPr>
        <p:pic>
          <p:nvPicPr>
            <p:cNvPr id="57347"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57348" name="Group 28"/>
            <p:cNvGrpSpPr/>
            <p:nvPr/>
          </p:nvGrpSpPr>
          <p:grpSpPr>
            <a:xfrm>
              <a:off x="864" y="1104"/>
              <a:ext cx="768" cy="242"/>
              <a:chOff x="-768" y="1440"/>
              <a:chExt cx="768" cy="242"/>
            </a:xfrm>
          </p:grpSpPr>
          <p:sp>
            <p:nvSpPr>
              <p:cNvPr id="57349"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57350"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57351"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674825" name="Cloud"/>
          <p:cNvSpPr>
            <a:spLocks noChangeAspect="1" noEditPoints="1" noChangeArrowheads="1"/>
          </p:cNvSpPr>
          <p:nvPr/>
        </p:nvSpPr>
        <p:spPr bwMode="auto">
          <a:xfrm>
            <a:off x="1403350" y="2852738"/>
            <a:ext cx="2743200" cy="1838325"/>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0" y="11192"/>
                  <a:pt x="409" y="12169"/>
                  <a:pt x="1074" y="12702"/>
                </a:cubicBezTo>
                <a:lnTo>
                  <a:pt x="1063" y="12668"/>
                </a:lnTo>
                <a:cubicBezTo>
                  <a:pt x="685" y="13217"/>
                  <a:pt x="475" y="13940"/>
                  <a:pt x="475" y="14691"/>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300"/>
                  <a:pt x="7635" y="20039"/>
                  <a:pt x="8235" y="19546"/>
                </a:cubicBezTo>
                <a:lnTo>
                  <a:pt x="8229" y="19550"/>
                </a:lnTo>
                <a:cubicBezTo>
                  <a:pt x="8855" y="20829"/>
                  <a:pt x="9908" y="21597"/>
                  <a:pt x="11036" y="21597"/>
                </a:cubicBezTo>
                <a:cubicBezTo>
                  <a:pt x="12523" y="21597"/>
                  <a:pt x="13836" y="20267"/>
                  <a:pt x="14267" y="18324"/>
                </a:cubicBezTo>
                <a:lnTo>
                  <a:pt x="14270" y="18350"/>
                </a:lnTo>
                <a:cubicBezTo>
                  <a:pt x="14730" y="18740"/>
                  <a:pt x="15260" y="18947"/>
                  <a:pt x="15802" y="18947"/>
                </a:cubicBezTo>
                <a:cubicBezTo>
                  <a:pt x="17390" y="18947"/>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0"/>
                  <a:pt x="15367" y="426"/>
                  <a:pt x="14905" y="1165"/>
                </a:cubicBezTo>
                <a:lnTo>
                  <a:pt x="14909" y="1170"/>
                </a:lnTo>
                <a:cubicBezTo>
                  <a:pt x="14497" y="432"/>
                  <a:pt x="13855" y="0"/>
                  <a:pt x="13174" y="0"/>
                </a:cubicBezTo>
                <a:cubicBezTo>
                  <a:pt x="12347" y="0"/>
                  <a:pt x="11590" y="637"/>
                  <a:pt x="11221" y="1645"/>
                </a:cubicBezTo>
                <a:lnTo>
                  <a:pt x="11229" y="1694"/>
                </a:lnTo>
                <a:cubicBezTo>
                  <a:pt x="10730" y="1024"/>
                  <a:pt x="10058" y="650"/>
                  <a:pt x="9358" y="650"/>
                </a:cubicBezTo>
                <a:cubicBezTo>
                  <a:pt x="8372" y="650"/>
                  <a:pt x="7466" y="1391"/>
                  <a:pt x="7003" y="2578"/>
                </a:cubicBezTo>
                <a:lnTo>
                  <a:pt x="6995" y="2602"/>
                </a:lnTo>
                <a:cubicBezTo>
                  <a:pt x="6477" y="2189"/>
                  <a:pt x="5888" y="1972"/>
                  <a:pt x="5288" y="1972"/>
                </a:cubicBezTo>
                <a:cubicBezTo>
                  <a:pt x="3423" y="1972"/>
                  <a:pt x="1912" y="4029"/>
                  <a:pt x="1912" y="6567"/>
                </a:cubicBezTo>
                <a:cubicBezTo>
                  <a:pt x="1912" y="6774"/>
                  <a:pt x="1922" y="6981"/>
                  <a:pt x="1942" y="7186"/>
                </a:cubicBezTo>
                <a:close/>
              </a:path>
              <a:path w="21600" h="21600" fill="none" extrusionOk="0">
                <a:moveTo>
                  <a:pt x="1074" y="12702"/>
                </a:moveTo>
                <a:cubicBezTo>
                  <a:pt x="1407" y="12969"/>
                  <a:pt x="1786" y="13110"/>
                  <a:pt x="2172" y="13110"/>
                </a:cubicBezTo>
                <a:cubicBezTo>
                  <a:pt x="2228" y="13110"/>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ln>
          <a:effectLst>
            <a:outerShdw dist="107763" dir="2700000" algn="ctr" rotWithShape="0">
              <a:srgbClr val="808080"/>
            </a:outerShdw>
          </a:effectLst>
        </p:spPr>
        <p:txBody>
          <a:bodyPr/>
          <a:lstStyle/>
          <a:p>
            <a:pPr marL="0" marR="0" lvl="0" indent="0" algn="l" defTabSz="914400" rtl="0" eaLnBrk="0" fontAlgn="base" latinLnBrk="0" hangingPunct="0">
              <a:lnSpc>
                <a:spcPct val="110000"/>
              </a:lnSpc>
              <a:spcBef>
                <a:spcPct val="2000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endParaRPr>
          </a:p>
        </p:txBody>
      </p:sp>
      <p:sp>
        <p:nvSpPr>
          <p:cNvPr id="674826" name="Rectangle 10"/>
          <p:cNvSpPr/>
          <p:nvPr/>
        </p:nvSpPr>
        <p:spPr>
          <a:xfrm>
            <a:off x="1835150" y="3429000"/>
            <a:ext cx="1970088" cy="561975"/>
          </a:xfrm>
          <a:prstGeom prst="rect">
            <a:avLst/>
          </a:prstGeom>
          <a:noFill/>
          <a:ln w="9525">
            <a:noFill/>
          </a:ln>
        </p:spPr>
        <p:txBody>
          <a:bodyPr wrap="none" anchor="t" anchorCtr="0">
            <a:spAutoFit/>
          </a:bodyPr>
          <a:p>
            <a:pPr algn="ctr" eaLnBrk="0" hangingPunct="0">
              <a:lnSpc>
                <a:spcPct val="110000"/>
              </a:lnSpc>
              <a:spcBef>
                <a:spcPct val="20000"/>
              </a:spcBef>
            </a:pPr>
            <a:r>
              <a:rPr lang="zh-CN" altLang="en-US" sz="2800" dirty="0">
                <a:solidFill>
                  <a:schemeClr val="tx1"/>
                </a:solidFill>
                <a:latin typeface="Arial" panose="020B0604020202020204" pitchFamily="34" charset="0"/>
                <a:ea typeface="楷体_GB2312" pitchFamily="49" charset="-122"/>
              </a:rPr>
              <a:t>预算定额？</a:t>
            </a:r>
            <a:endParaRPr lang="zh-CN" altLang="en-US" sz="2800" dirty="0">
              <a:solidFill>
                <a:schemeClr val="tx1"/>
              </a:solidFill>
              <a:latin typeface="Arial" panose="020B0604020202020204" pitchFamily="34"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74818">
                                            <p:txEl>
                                              <p:charRg st="11" end="82"/>
                                            </p:txEl>
                                          </p:spTgt>
                                        </p:tgtEl>
                                        <p:attrNameLst>
                                          <p:attrName>style.visibility</p:attrName>
                                        </p:attrNameLst>
                                      </p:cBhvr>
                                      <p:to>
                                        <p:strVal val="visible"/>
                                      </p:to>
                                    </p:set>
                                    <p:animEffect transition="in" filter="slide(fromBottom)">
                                      <p:cBhvr>
                                        <p:cTn id="7" dur="500"/>
                                        <p:tgtEl>
                                          <p:spTgt spid="674818">
                                            <p:txEl>
                                              <p:charRg st="11" end="8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74825"/>
                                        </p:tgtEl>
                                        <p:attrNameLst>
                                          <p:attrName>style.visibility</p:attrName>
                                        </p:attrNameLst>
                                      </p:cBhvr>
                                      <p:to>
                                        <p:strVal val="visible"/>
                                      </p:to>
                                    </p:set>
                                    <p:anim to="" calcmode="lin" valueType="num">
                                      <p:cBhvr>
                                        <p:cTn id="12" dur="1" fill="hold"/>
                                        <p:tgtEl>
                                          <p:spTgt spid="674825"/>
                                        </p:tgtEl>
                                        <p:attrNameLst>
                                          <p:attrName>style.visibility</p:attrName>
                                        </p:attrNameLst>
                                      </p:cBhvr>
                                    </p:anim>
                                  </p:childTnLst>
                                </p:cTn>
                              </p:par>
                              <p:par>
                                <p:cTn id="13" presetID="24" presetClass="entr" presetSubtype="0" fill="hold" grpId="0" nodeType="withEffect">
                                  <p:stCondLst>
                                    <p:cond delay="0"/>
                                  </p:stCondLst>
                                  <p:childTnLst>
                                    <p:set>
                                      <p:cBhvr>
                                        <p:cTn id="14" dur="1" fill="hold">
                                          <p:stCondLst>
                                            <p:cond delay="0"/>
                                          </p:stCondLst>
                                        </p:cTn>
                                        <p:tgtEl>
                                          <p:spTgt spid="674826"/>
                                        </p:tgtEl>
                                        <p:attrNameLst>
                                          <p:attrName>style.visibility</p:attrName>
                                        </p:attrNameLst>
                                      </p:cBhvr>
                                      <p:to>
                                        <p:strVal val="visible"/>
                                      </p:to>
                                    </p:set>
                                    <p:anim to="" calcmode="lin" valueType="num">
                                      <p:cBhvr>
                                        <p:cTn id="15" dur="1" fill="hold"/>
                                        <p:tgtEl>
                                          <p:spTgt spid="674826"/>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42"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概算定额的主要作用</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）概算定额是扩大初步设计阶段编制设计概算和技术设计阶段编制修正概算的依据； </a:t>
            </a: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）概算定额是对涉及项目进行技术经济分析和比较的基础资料之一； </a:t>
            </a: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）概算定额是编制建设项目主要材料计划的参考依据； </a:t>
            </a: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）概算定额是编制概算指标的依据； </a:t>
            </a: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5</a:t>
            </a:r>
            <a:r>
              <a:rPr lang="zh-CN" altLang="en-US" dirty="0">
                <a:ea typeface="宋体" panose="02010600030101010101" pitchFamily="2" charset="-122"/>
              </a:rPr>
              <a:t>）概算定额是编制招标控制价和投标报价的依据。 </a:t>
            </a:r>
            <a:endParaRPr lang="zh-CN" altLang="en-US" dirty="0">
              <a:ea typeface="宋体" panose="02010600030101010101" pitchFamily="2" charset="-122"/>
            </a:endParaRPr>
          </a:p>
          <a:p>
            <a:pPr>
              <a:lnSpc>
                <a:spcPct val="110000"/>
              </a:lnSpc>
              <a:buNone/>
            </a:pPr>
            <a:endParaRPr lang="zh-CN" altLang="en-US" sz="2800" dirty="0">
              <a:solidFill>
                <a:srgbClr val="FF0000"/>
              </a:solidFill>
              <a:ea typeface="宋体" panose="02010600030101010101" pitchFamily="2" charset="-122"/>
            </a:endParaRPr>
          </a:p>
          <a:p>
            <a:pPr>
              <a:lnSpc>
                <a:spcPct val="120000"/>
              </a:lnSpc>
              <a:buNone/>
            </a:pPr>
            <a:r>
              <a:rPr lang="zh-CN" altLang="en-US" dirty="0">
                <a:ea typeface="宋体" panose="02010600030101010101" pitchFamily="2" charset="-122"/>
              </a:rPr>
              <a:t>            </a:t>
            </a:r>
            <a:endParaRPr lang="zh-CN" altLang="en-US" dirty="0">
              <a:ea typeface="宋体" panose="02010600030101010101" pitchFamily="2" charset="-122"/>
            </a:endParaRPr>
          </a:p>
        </p:txBody>
      </p:sp>
      <p:grpSp>
        <p:nvGrpSpPr>
          <p:cNvPr id="58370" name="Group 40"/>
          <p:cNvGrpSpPr/>
          <p:nvPr/>
        </p:nvGrpSpPr>
        <p:grpSpPr>
          <a:xfrm>
            <a:off x="7164388" y="-265112"/>
            <a:ext cx="1758950" cy="1606550"/>
            <a:chOff x="672" y="334"/>
            <a:chExt cx="1108" cy="1012"/>
          </a:xfrm>
        </p:grpSpPr>
        <p:pic>
          <p:nvPicPr>
            <p:cNvPr id="58371"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58372" name="Group 28"/>
            <p:cNvGrpSpPr/>
            <p:nvPr/>
          </p:nvGrpSpPr>
          <p:grpSpPr>
            <a:xfrm>
              <a:off x="864" y="1104"/>
              <a:ext cx="768" cy="242"/>
              <a:chOff x="-768" y="1440"/>
              <a:chExt cx="768" cy="242"/>
            </a:xfrm>
          </p:grpSpPr>
          <p:sp>
            <p:nvSpPr>
              <p:cNvPr id="58373"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58374"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58375"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pic>
        <p:nvPicPr>
          <p:cNvPr id="58376" name="Picture 9" descr="图片1">
            <a:hlinkClick r:id="rId2" action="ppaction://hlinksldjump"/>
          </p:cNvPr>
          <p:cNvPicPr>
            <a:picLocks noChangeAspect="1"/>
          </p:cNvPicPr>
          <p:nvPr/>
        </p:nvPicPr>
        <p:blipFill>
          <a:blip r:embed="rId3"/>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75842">
                                            <p:txEl>
                                              <p:charRg st="13" end="54"/>
                                            </p:txEl>
                                          </p:spTgt>
                                        </p:tgtEl>
                                        <p:attrNameLst>
                                          <p:attrName>style.visibility</p:attrName>
                                        </p:attrNameLst>
                                      </p:cBhvr>
                                      <p:to>
                                        <p:strVal val="visible"/>
                                      </p:to>
                                    </p:set>
                                    <p:animEffect transition="in" filter="slide(fromBottom)">
                                      <p:cBhvr>
                                        <p:cTn id="7" dur="500"/>
                                        <p:tgtEl>
                                          <p:spTgt spid="675842">
                                            <p:txEl>
                                              <p:charRg st="13" end="5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75842">
                                            <p:txEl>
                                              <p:charRg st="54" end="88"/>
                                            </p:txEl>
                                          </p:spTgt>
                                        </p:tgtEl>
                                        <p:attrNameLst>
                                          <p:attrName>style.visibility</p:attrName>
                                        </p:attrNameLst>
                                      </p:cBhvr>
                                      <p:to>
                                        <p:strVal val="visible"/>
                                      </p:to>
                                    </p:set>
                                    <p:animEffect transition="in" filter="slide(fromBottom)">
                                      <p:cBhvr>
                                        <p:cTn id="12" dur="500"/>
                                        <p:tgtEl>
                                          <p:spTgt spid="675842">
                                            <p:txEl>
                                              <p:charRg st="54" end="8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675842">
                                            <p:txEl>
                                              <p:charRg st="88" end="116"/>
                                            </p:txEl>
                                          </p:spTgt>
                                        </p:tgtEl>
                                        <p:attrNameLst>
                                          <p:attrName>style.visibility</p:attrName>
                                        </p:attrNameLst>
                                      </p:cBhvr>
                                      <p:to>
                                        <p:strVal val="visible"/>
                                      </p:to>
                                    </p:set>
                                    <p:anim to="" calcmode="lin" valueType="num">
                                      <p:cBhvr>
                                        <p:cTn id="17" dur="1" fill="hold"/>
                                        <p:tgtEl>
                                          <p:spTgt spid="675842">
                                            <p:txEl>
                                              <p:charRg st="88" end="116"/>
                                            </p:txEl>
                                          </p:spTgt>
                                        </p:tgtEl>
                                        <p:attrNameLst>
                                          <p:attrName>style.visibility</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nodeType="clickEffect">
                                  <p:stCondLst>
                                    <p:cond delay="0"/>
                                  </p:stCondLst>
                                  <p:childTnLst>
                                    <p:set>
                                      <p:cBhvr>
                                        <p:cTn id="21" dur="1" fill="hold">
                                          <p:stCondLst>
                                            <p:cond delay="0"/>
                                          </p:stCondLst>
                                        </p:cTn>
                                        <p:tgtEl>
                                          <p:spTgt spid="675842">
                                            <p:txEl>
                                              <p:charRg st="116" end="136"/>
                                            </p:txEl>
                                          </p:spTgt>
                                        </p:tgtEl>
                                        <p:attrNameLst>
                                          <p:attrName>style.visibility</p:attrName>
                                        </p:attrNameLst>
                                      </p:cBhvr>
                                      <p:to>
                                        <p:strVal val="visible"/>
                                      </p:to>
                                    </p:set>
                                    <p:anim to="" calcmode="lin" valueType="num">
                                      <p:cBhvr>
                                        <p:cTn id="22" dur="1" fill="hold"/>
                                        <p:tgtEl>
                                          <p:spTgt spid="675842">
                                            <p:txEl>
                                              <p:charRg st="116" end="136"/>
                                            </p:txEl>
                                          </p:spTgt>
                                        </p:tgtEl>
                                        <p:attrNameLst>
                                          <p:attrName>style.visibility</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nodeType="clickEffect">
                                  <p:stCondLst>
                                    <p:cond delay="0"/>
                                  </p:stCondLst>
                                  <p:childTnLst>
                                    <p:set>
                                      <p:cBhvr>
                                        <p:cTn id="26" dur="1" fill="hold">
                                          <p:stCondLst>
                                            <p:cond delay="0"/>
                                          </p:stCondLst>
                                        </p:cTn>
                                        <p:tgtEl>
                                          <p:spTgt spid="675842">
                                            <p:txEl>
                                              <p:charRg st="136" end="162"/>
                                            </p:txEl>
                                          </p:spTgt>
                                        </p:tgtEl>
                                        <p:attrNameLst>
                                          <p:attrName>style.visibility</p:attrName>
                                        </p:attrNameLst>
                                      </p:cBhvr>
                                      <p:to>
                                        <p:strVal val="visible"/>
                                      </p:to>
                                    </p:set>
                                    <p:anim to="" calcmode="lin" valueType="num">
                                      <p:cBhvr>
                                        <p:cTn id="27" dur="1" fill="hold"/>
                                        <p:tgtEl>
                                          <p:spTgt spid="675842">
                                            <p:txEl>
                                              <p:charRg st="136" end="162"/>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6866"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3 </a:t>
            </a:r>
            <a:r>
              <a:rPr lang="zh-CN" altLang="en-US" sz="3200" dirty="0">
                <a:solidFill>
                  <a:srgbClr val="000099"/>
                </a:solidFill>
                <a:latin typeface="黑体" panose="02010609060101010101" pitchFamily="49" charset="-122"/>
                <a:ea typeface="黑体" panose="02010609060101010101" pitchFamily="49" charset="-122"/>
              </a:rPr>
              <a:t>概算定额的编制依据</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）现行的工程设计规范、标准和施工验收规范；</a:t>
            </a: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）现行的建筑和安装工程预算定额；</a:t>
            </a: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）选择的典型工程施工图和其他有关资料； </a:t>
            </a: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）现行的人工工资标准、材料预算价格和机械台班预算价格。</a:t>
            </a:r>
            <a:endParaRPr lang="zh-CN" altLang="en-US" dirty="0">
              <a:ea typeface="宋体" panose="02010600030101010101" pitchFamily="2" charset="-122"/>
            </a:endParaRPr>
          </a:p>
          <a:p>
            <a:pPr>
              <a:lnSpc>
                <a:spcPct val="110000"/>
              </a:lnSpc>
              <a:buNone/>
            </a:pPr>
            <a:endParaRPr lang="zh-CN" altLang="en-US" sz="2800" dirty="0">
              <a:solidFill>
                <a:srgbClr val="FF0000"/>
              </a:solidFill>
              <a:ea typeface="宋体" panose="02010600030101010101" pitchFamily="2" charset="-122"/>
            </a:endParaRPr>
          </a:p>
          <a:p>
            <a:pPr>
              <a:lnSpc>
                <a:spcPct val="120000"/>
              </a:lnSpc>
              <a:buNone/>
            </a:pPr>
            <a:r>
              <a:rPr lang="zh-CN" altLang="en-US" dirty="0">
                <a:ea typeface="宋体" panose="02010600030101010101" pitchFamily="2" charset="-122"/>
              </a:rPr>
              <a:t>            </a:t>
            </a:r>
            <a:endParaRPr lang="zh-CN" altLang="en-US" dirty="0">
              <a:ea typeface="宋体" panose="02010600030101010101" pitchFamily="2" charset="-122"/>
            </a:endParaRPr>
          </a:p>
        </p:txBody>
      </p:sp>
      <p:grpSp>
        <p:nvGrpSpPr>
          <p:cNvPr id="59394" name="Group 40"/>
          <p:cNvGrpSpPr/>
          <p:nvPr/>
        </p:nvGrpSpPr>
        <p:grpSpPr>
          <a:xfrm>
            <a:off x="7164388" y="-265112"/>
            <a:ext cx="1758950" cy="1606550"/>
            <a:chOff x="672" y="334"/>
            <a:chExt cx="1108" cy="1012"/>
          </a:xfrm>
        </p:grpSpPr>
        <p:pic>
          <p:nvPicPr>
            <p:cNvPr id="59395"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59396" name="Group 28"/>
            <p:cNvGrpSpPr/>
            <p:nvPr/>
          </p:nvGrpSpPr>
          <p:grpSpPr>
            <a:xfrm>
              <a:off x="864" y="1104"/>
              <a:ext cx="768" cy="242"/>
              <a:chOff x="-768" y="1440"/>
              <a:chExt cx="768" cy="242"/>
            </a:xfrm>
          </p:grpSpPr>
          <p:sp>
            <p:nvSpPr>
              <p:cNvPr id="59397"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59398"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59399"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pic>
        <p:nvPicPr>
          <p:cNvPr id="59400" name="Picture 9" descr="图片1">
            <a:hlinkClick r:id="rId2" action="ppaction://hlinksldjump"/>
          </p:cNvPr>
          <p:cNvPicPr>
            <a:picLocks noChangeAspect="1"/>
          </p:cNvPicPr>
          <p:nvPr/>
        </p:nvPicPr>
        <p:blipFill>
          <a:blip r:embed="rId3"/>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76866">
                                            <p:txEl>
                                              <p:charRg st="13" end="37"/>
                                            </p:txEl>
                                          </p:spTgt>
                                        </p:tgtEl>
                                        <p:attrNameLst>
                                          <p:attrName>style.visibility</p:attrName>
                                        </p:attrNameLst>
                                      </p:cBhvr>
                                      <p:to>
                                        <p:strVal val="visible"/>
                                      </p:to>
                                    </p:set>
                                    <p:animEffect transition="in" filter="slide(fromBottom)">
                                      <p:cBhvr>
                                        <p:cTn id="7" dur="500"/>
                                        <p:tgtEl>
                                          <p:spTgt spid="676866">
                                            <p:txEl>
                                              <p:charRg st="13" end="3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76866">
                                            <p:txEl>
                                              <p:charRg st="37" end="56"/>
                                            </p:txEl>
                                          </p:spTgt>
                                        </p:tgtEl>
                                        <p:attrNameLst>
                                          <p:attrName>style.visibility</p:attrName>
                                        </p:attrNameLst>
                                      </p:cBhvr>
                                      <p:to>
                                        <p:strVal val="visible"/>
                                      </p:to>
                                    </p:set>
                                    <p:animEffect transition="in" filter="slide(fromBottom)">
                                      <p:cBhvr>
                                        <p:cTn id="12" dur="500"/>
                                        <p:tgtEl>
                                          <p:spTgt spid="676866">
                                            <p:txEl>
                                              <p:charRg st="37" end="5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76866">
                                            <p:txEl>
                                              <p:charRg st="56" end="79"/>
                                            </p:txEl>
                                          </p:spTgt>
                                        </p:tgtEl>
                                        <p:attrNameLst>
                                          <p:attrName>style.visibility</p:attrName>
                                        </p:attrNameLst>
                                      </p:cBhvr>
                                      <p:to>
                                        <p:strVal val="visible"/>
                                      </p:to>
                                    </p:set>
                                    <p:animEffect transition="in" filter="slide(fromBottom)">
                                      <p:cBhvr>
                                        <p:cTn id="17" dur="500"/>
                                        <p:tgtEl>
                                          <p:spTgt spid="676866">
                                            <p:txEl>
                                              <p:charRg st="56" end="7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676866">
                                            <p:txEl>
                                              <p:charRg st="79" end="109"/>
                                            </p:txEl>
                                          </p:spTgt>
                                        </p:tgtEl>
                                        <p:attrNameLst>
                                          <p:attrName>style.visibility</p:attrName>
                                        </p:attrNameLst>
                                      </p:cBhvr>
                                      <p:to>
                                        <p:strVal val="visible"/>
                                      </p:to>
                                    </p:set>
                                    <p:animEffect transition="in" filter="slide(fromBottom)">
                                      <p:cBhvr>
                                        <p:cTn id="22" dur="500"/>
                                        <p:tgtEl>
                                          <p:spTgt spid="676866">
                                            <p:txEl>
                                              <p:charRg st="79" end="1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7890"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4 </a:t>
            </a:r>
            <a:r>
              <a:rPr lang="zh-CN" altLang="en-US" sz="3200" dirty="0">
                <a:solidFill>
                  <a:srgbClr val="000099"/>
                </a:solidFill>
                <a:latin typeface="黑体" panose="02010609060101010101" pitchFamily="49" charset="-122"/>
                <a:ea typeface="黑体" panose="02010609060101010101" pitchFamily="49" charset="-122"/>
              </a:rPr>
              <a:t>概算定额的编制原则</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）必须满足设计、计划和统计的要求；</a:t>
            </a: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）内容和形式必须简明、适用；</a:t>
            </a: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）概算定额的水平应与预算定额的水平基本一致。</a:t>
            </a:r>
            <a:endParaRPr lang="zh-CN" altLang="en-US" dirty="0">
              <a:ea typeface="宋体" panose="02010600030101010101" pitchFamily="2" charset="-122"/>
            </a:endParaRPr>
          </a:p>
          <a:p>
            <a:pPr>
              <a:lnSpc>
                <a:spcPct val="110000"/>
              </a:lnSpc>
              <a:buNone/>
            </a:pPr>
            <a:endParaRPr lang="zh-CN" altLang="en-US" sz="2800" dirty="0">
              <a:solidFill>
                <a:srgbClr val="FF0000"/>
              </a:solidFill>
              <a:ea typeface="宋体" panose="02010600030101010101" pitchFamily="2" charset="-122"/>
            </a:endParaRPr>
          </a:p>
          <a:p>
            <a:pPr>
              <a:lnSpc>
                <a:spcPct val="120000"/>
              </a:lnSpc>
              <a:buNone/>
            </a:pPr>
            <a:r>
              <a:rPr lang="zh-CN" altLang="en-US" dirty="0">
                <a:ea typeface="宋体" panose="02010600030101010101" pitchFamily="2" charset="-122"/>
              </a:rPr>
              <a:t>            </a:t>
            </a:r>
            <a:endParaRPr lang="zh-CN" altLang="en-US" dirty="0">
              <a:ea typeface="宋体" panose="02010600030101010101" pitchFamily="2" charset="-122"/>
            </a:endParaRPr>
          </a:p>
        </p:txBody>
      </p:sp>
      <p:grpSp>
        <p:nvGrpSpPr>
          <p:cNvPr id="60418" name="Group 40"/>
          <p:cNvGrpSpPr/>
          <p:nvPr/>
        </p:nvGrpSpPr>
        <p:grpSpPr>
          <a:xfrm>
            <a:off x="7164388" y="-265112"/>
            <a:ext cx="1758950" cy="1606550"/>
            <a:chOff x="672" y="334"/>
            <a:chExt cx="1108" cy="1012"/>
          </a:xfrm>
        </p:grpSpPr>
        <p:pic>
          <p:nvPicPr>
            <p:cNvPr id="60419"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60420" name="Group 28"/>
            <p:cNvGrpSpPr/>
            <p:nvPr/>
          </p:nvGrpSpPr>
          <p:grpSpPr>
            <a:xfrm>
              <a:off x="864" y="1104"/>
              <a:ext cx="768" cy="242"/>
              <a:chOff x="-768" y="1440"/>
              <a:chExt cx="768" cy="242"/>
            </a:xfrm>
          </p:grpSpPr>
          <p:sp>
            <p:nvSpPr>
              <p:cNvPr id="60421"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60422"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60423"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pic>
        <p:nvPicPr>
          <p:cNvPr id="60424" name="Picture 9" descr="图片1">
            <a:hlinkClick r:id="rId2" action="ppaction://hlinksldjump"/>
          </p:cNvPr>
          <p:cNvPicPr>
            <a:picLocks noChangeAspect="1"/>
          </p:cNvPicPr>
          <p:nvPr/>
        </p:nvPicPr>
        <p:blipFill>
          <a:blip r:embed="rId3"/>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77890">
                                            <p:txEl>
                                              <p:charRg st="13" end="33"/>
                                            </p:txEl>
                                          </p:spTgt>
                                        </p:tgtEl>
                                        <p:attrNameLst>
                                          <p:attrName>style.visibility</p:attrName>
                                        </p:attrNameLst>
                                      </p:cBhvr>
                                      <p:to>
                                        <p:strVal val="visible"/>
                                      </p:to>
                                    </p:set>
                                    <p:animEffect transition="in" filter="slide(fromBottom)">
                                      <p:cBhvr>
                                        <p:cTn id="7" dur="500"/>
                                        <p:tgtEl>
                                          <p:spTgt spid="677890">
                                            <p:txEl>
                                              <p:charRg st="13" end="3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77890">
                                            <p:txEl>
                                              <p:charRg st="33" end="50"/>
                                            </p:txEl>
                                          </p:spTgt>
                                        </p:tgtEl>
                                        <p:attrNameLst>
                                          <p:attrName>style.visibility</p:attrName>
                                        </p:attrNameLst>
                                      </p:cBhvr>
                                      <p:to>
                                        <p:strVal val="visible"/>
                                      </p:to>
                                    </p:set>
                                    <p:animEffect transition="in" filter="slide(fromBottom)">
                                      <p:cBhvr>
                                        <p:cTn id="12" dur="500"/>
                                        <p:tgtEl>
                                          <p:spTgt spid="677890">
                                            <p:txEl>
                                              <p:charRg st="33" end="5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77890">
                                            <p:txEl>
                                              <p:charRg st="50" end="75"/>
                                            </p:txEl>
                                          </p:spTgt>
                                        </p:tgtEl>
                                        <p:attrNameLst>
                                          <p:attrName>style.visibility</p:attrName>
                                        </p:attrNameLst>
                                      </p:cBhvr>
                                      <p:to>
                                        <p:strVal val="visible"/>
                                      </p:to>
                                    </p:set>
                                    <p:animEffect transition="in" filter="slide(fromBottom)">
                                      <p:cBhvr>
                                        <p:cTn id="17" dur="500"/>
                                        <p:tgtEl>
                                          <p:spTgt spid="677890">
                                            <p:txEl>
                                              <p:charRg st="50" end="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Rectangle 2"/>
          <p:cNvSpPr>
            <a:spLocks noGrp="1"/>
          </p:cNvSpPr>
          <p:nvPr>
            <p:ph type="title"/>
          </p:nvPr>
        </p:nvSpPr>
        <p:spPr>
          <a:xfrm>
            <a:off x="457200" y="274638"/>
            <a:ext cx="8229600" cy="1143000"/>
          </a:xfrm>
          <a:noFill/>
          <a:ln>
            <a:noFill/>
          </a:ln>
        </p:spPr>
        <p:txBody>
          <a:bodyPr anchor="t" anchorCtr="0"/>
          <a:p>
            <a:r>
              <a:rPr lang="zh-CN" altLang="en-US" sz="4000" b="1" dirty="0">
                <a:solidFill>
                  <a:srgbClr val="000099"/>
                </a:solidFill>
                <a:latin typeface="黑体" panose="02010609060101010101" pitchFamily="49" charset="-122"/>
                <a:ea typeface="黑体" panose="02010609060101010101" pitchFamily="49" charset="-122"/>
              </a:rPr>
              <a:t>阶段小结</a:t>
            </a:r>
            <a:endParaRPr lang="zh-CN" altLang="en-US" sz="4000" b="1" dirty="0">
              <a:solidFill>
                <a:srgbClr val="000099"/>
              </a:solidFill>
              <a:latin typeface="黑体" panose="02010609060101010101" pitchFamily="49" charset="-122"/>
              <a:ea typeface="黑体" panose="02010609060101010101" pitchFamily="49" charset="-122"/>
            </a:endParaRPr>
          </a:p>
        </p:txBody>
      </p:sp>
      <p:sp>
        <p:nvSpPr>
          <p:cNvPr id="678915" name="Rectangle 3"/>
          <p:cNvSpPr>
            <a:spLocks noGrp="1"/>
          </p:cNvSpPr>
          <p:nvPr>
            <p:ph idx="1"/>
          </p:nvPr>
        </p:nvSpPr>
        <p:spPr>
          <a:xfrm>
            <a:off x="395288" y="1916113"/>
            <a:ext cx="8229600" cy="3700462"/>
          </a:xfrm>
          <a:noFill/>
          <a:ln>
            <a:noFill/>
          </a:ln>
        </p:spPr>
        <p:txBody>
          <a:bodyPr anchor="t" anchorCtr="0"/>
          <a:p>
            <a:pPr>
              <a:lnSpc>
                <a:spcPct val="130000"/>
              </a:lnSpc>
              <a:buNone/>
            </a:pPr>
            <a:r>
              <a:rPr lang="en-US" altLang="zh-CN" dirty="0">
                <a:ea typeface="宋体" panose="02010600030101010101" pitchFamily="2" charset="-122"/>
              </a:rPr>
              <a:t>1 </a:t>
            </a:r>
            <a:r>
              <a:rPr lang="zh-CN" altLang="en-US" dirty="0">
                <a:ea typeface="宋体" panose="02010600030101010101" pitchFamily="2" charset="-122"/>
              </a:rPr>
              <a:t>通信工程概预算是</a:t>
            </a:r>
            <a:r>
              <a:rPr lang="zh-CN" altLang="en-US" dirty="0">
                <a:solidFill>
                  <a:srgbClr val="CC00FF"/>
                </a:solidFill>
                <a:ea typeface="华文行楷" panose="02010800040101010101" pitchFamily="2" charset="-122"/>
              </a:rPr>
              <a:t>设计概算</a:t>
            </a:r>
            <a:r>
              <a:rPr lang="zh-CN" altLang="en-US" dirty="0">
                <a:ea typeface="宋体" panose="02010600030101010101" pitchFamily="2" charset="-122"/>
              </a:rPr>
              <a:t>和</a:t>
            </a:r>
            <a:r>
              <a:rPr lang="zh-CN" altLang="en-US" dirty="0">
                <a:solidFill>
                  <a:srgbClr val="CC00FF"/>
                </a:solidFill>
                <a:ea typeface="华文行楷" panose="02010800040101010101" pitchFamily="2" charset="-122"/>
              </a:rPr>
              <a:t>施工图预算</a:t>
            </a:r>
            <a:r>
              <a:rPr lang="zh-CN" altLang="en-US" dirty="0">
                <a:ea typeface="宋体" panose="02010600030101010101" pitchFamily="2" charset="-122"/>
              </a:rPr>
              <a:t>的统称。</a:t>
            </a:r>
            <a:endParaRPr lang="zh-CN" altLang="en-US" dirty="0">
              <a:ea typeface="宋体" panose="02010600030101010101" pitchFamily="2" charset="-122"/>
            </a:endParaRPr>
          </a:p>
          <a:p>
            <a:pPr>
              <a:lnSpc>
                <a:spcPct val="130000"/>
              </a:lnSpc>
              <a:buNone/>
            </a:pPr>
            <a:r>
              <a:rPr lang="en-US" altLang="zh-CN" dirty="0">
                <a:ea typeface="宋体" panose="02010600030101010101" pitchFamily="2" charset="-122"/>
              </a:rPr>
              <a:t>2 </a:t>
            </a:r>
            <a:r>
              <a:rPr lang="zh-CN" altLang="en-US" dirty="0">
                <a:ea typeface="宋体" panose="02010600030101010101" pitchFamily="2" charset="-122"/>
              </a:rPr>
              <a:t>设计概算指在</a:t>
            </a:r>
            <a:r>
              <a:rPr lang="zh-CN" altLang="en-US" dirty="0">
                <a:solidFill>
                  <a:srgbClr val="C00000"/>
                </a:solidFill>
                <a:ea typeface="宋体" panose="02010600030101010101" pitchFamily="2" charset="-122"/>
              </a:rPr>
              <a:t>初步设计阶段</a:t>
            </a:r>
            <a:r>
              <a:rPr lang="zh-CN" altLang="en-US" dirty="0">
                <a:ea typeface="宋体" panose="02010600030101010101" pitchFamily="2" charset="-122"/>
              </a:rPr>
              <a:t>，根据设计深度和建设内容，按照国家主管部门颁布办法的概算定额、费用定额、编制方法、设备和材料概算价格、工资标准等有关规定，预先计算和确定的每项工程全部投资额的经济技术文件。</a:t>
            </a:r>
            <a:endParaRPr lang="zh-CN" altLang="en-US" dirty="0">
              <a:ea typeface="宋体" panose="02010600030101010101" pitchFamily="2" charset="-122"/>
            </a:endParaRPr>
          </a:p>
        </p:txBody>
      </p:sp>
      <p:pic>
        <p:nvPicPr>
          <p:cNvPr id="61443" name="Picture 39" descr="bb"/>
          <p:cNvPicPr>
            <a:picLocks noChangeAspect="1"/>
          </p:cNvPicPr>
          <p:nvPr/>
        </p:nvPicPr>
        <p:blipFill>
          <a:blip r:embed="rId1"/>
          <a:stretch>
            <a:fillRect/>
          </a:stretch>
        </p:blipFill>
        <p:spPr>
          <a:xfrm rot="-464626">
            <a:off x="403225" y="0"/>
            <a:ext cx="1606550" cy="1530350"/>
          </a:xfrm>
          <a:prstGeom prst="rect">
            <a:avLst/>
          </a:prstGeom>
          <a:noFill/>
          <a:ln w="9525">
            <a:noFill/>
          </a:ln>
        </p:spPr>
      </p:pic>
      <p:grpSp>
        <p:nvGrpSpPr>
          <p:cNvPr id="61444" name="Group 28"/>
          <p:cNvGrpSpPr/>
          <p:nvPr/>
        </p:nvGrpSpPr>
        <p:grpSpPr>
          <a:xfrm>
            <a:off x="555625" y="1222375"/>
            <a:ext cx="1219200" cy="384175"/>
            <a:chOff x="-768" y="1440"/>
            <a:chExt cx="768" cy="242"/>
          </a:xfrm>
        </p:grpSpPr>
        <p:sp>
          <p:nvSpPr>
            <p:cNvPr id="6144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知识总结</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6144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61447" name="AutoShape 27"/>
          <p:cNvSpPr/>
          <p:nvPr/>
        </p:nvSpPr>
        <p:spPr>
          <a:xfrm>
            <a:off x="250825" y="923925"/>
            <a:ext cx="304800" cy="457200"/>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78915">
                                            <p:txEl>
                                              <p:charRg st="0" end="25"/>
                                            </p:txEl>
                                          </p:spTgt>
                                        </p:tgtEl>
                                        <p:attrNameLst>
                                          <p:attrName>style.visibility</p:attrName>
                                        </p:attrNameLst>
                                      </p:cBhvr>
                                      <p:to>
                                        <p:strVal val="visible"/>
                                      </p:to>
                                    </p:set>
                                    <p:animEffect transition="in" filter="slide(fromBottom)">
                                      <p:cBhvr>
                                        <p:cTn id="7" dur="500"/>
                                        <p:tgtEl>
                                          <p:spTgt spid="678915">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78915">
                                            <p:txEl>
                                              <p:charRg st="25" end="126"/>
                                            </p:txEl>
                                          </p:spTgt>
                                        </p:tgtEl>
                                        <p:attrNameLst>
                                          <p:attrName>style.visibility</p:attrName>
                                        </p:attrNameLst>
                                      </p:cBhvr>
                                      <p:to>
                                        <p:strVal val="visible"/>
                                      </p:to>
                                    </p:set>
                                    <p:anim to="" calcmode="lin" valueType="num">
                                      <p:cBhvr>
                                        <p:cTn id="12" dur="1" fill="hold"/>
                                        <p:tgtEl>
                                          <p:spTgt spid="678915">
                                            <p:txEl>
                                              <p:charRg st="25" end="126"/>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9938" name="Rectangle 2"/>
          <p:cNvSpPr>
            <a:spLocks noGrp="1"/>
          </p:cNvSpPr>
          <p:nvPr>
            <p:ph/>
          </p:nvPr>
        </p:nvSpPr>
        <p:spPr>
          <a:xfrm>
            <a:off x="468313" y="692150"/>
            <a:ext cx="8675687" cy="4968875"/>
          </a:xfrm>
          <a:noFill/>
          <a:ln>
            <a:noFill/>
          </a:ln>
        </p:spPr>
        <p:txBody>
          <a:bodyPr anchor="t" anchorCtr="0"/>
          <a:p>
            <a:pPr>
              <a:lnSpc>
                <a:spcPct val="130000"/>
              </a:lnSpc>
              <a:buNone/>
            </a:pPr>
            <a:r>
              <a:rPr lang="en-US" altLang="zh-CN" dirty="0">
                <a:latin typeface="宋体" panose="02010600030101010101" pitchFamily="2" charset="-122"/>
                <a:ea typeface="宋体" panose="02010600030101010101" pitchFamily="2" charset="-122"/>
              </a:rPr>
              <a:t>3 </a:t>
            </a:r>
            <a:r>
              <a:rPr lang="zh-CN" altLang="en-US" dirty="0">
                <a:latin typeface="宋体" panose="02010600030101010101" pitchFamily="2" charset="-122"/>
                <a:ea typeface="宋体" panose="02010600030101010101" pitchFamily="2" charset="-122"/>
              </a:rPr>
              <a:t>施工图预算是指在</a:t>
            </a:r>
            <a:r>
              <a:rPr lang="zh-CN" altLang="en-US" dirty="0">
                <a:solidFill>
                  <a:srgbClr val="C00000"/>
                </a:solidFill>
                <a:latin typeface="宋体" panose="02010600030101010101" pitchFamily="2" charset="-122"/>
                <a:ea typeface="宋体" panose="02010600030101010101" pitchFamily="2" charset="-122"/>
              </a:rPr>
              <a:t>施工图设计阶段</a:t>
            </a:r>
            <a:r>
              <a:rPr lang="zh-CN" altLang="en-US" dirty="0">
                <a:latin typeface="宋体" panose="02010600030101010101" pitchFamily="2" charset="-122"/>
                <a:ea typeface="宋体" panose="02010600030101010101" pitchFamily="2" charset="-122"/>
              </a:rPr>
              <a:t>，根据设计深度和建设内容，按照国家主管部门颁布办法的预概算定额、费用定额、编制方法、设备和材料预概算价格、工资标准等有关规定，预先计算和确定的每项工程全部投资额的经济技术文件。</a:t>
            </a:r>
            <a:endParaRPr lang="zh-CN" altLang="en-US" dirty="0">
              <a:latin typeface="宋体" panose="02010600030101010101" pitchFamily="2" charset="-122"/>
              <a:ea typeface="宋体" panose="02010600030101010101" pitchFamily="2" charset="-122"/>
            </a:endParaRPr>
          </a:p>
          <a:p>
            <a:pPr>
              <a:lnSpc>
                <a:spcPct val="130000"/>
              </a:lnSpc>
              <a:buNone/>
            </a:pPr>
            <a:r>
              <a:rPr lang="en-US" altLang="zh-CN" dirty="0">
                <a:latin typeface="宋体" panose="02010600030101010101" pitchFamily="2" charset="-122"/>
                <a:ea typeface="宋体" panose="02010600030101010101" pitchFamily="2" charset="-122"/>
              </a:rPr>
              <a:t>4 </a:t>
            </a:r>
            <a:r>
              <a:rPr lang="zh-CN" altLang="en-US" dirty="0">
                <a:latin typeface="宋体" panose="02010600030101010101" pitchFamily="2" charset="-122"/>
                <a:ea typeface="宋体" panose="02010600030101010101" pitchFamily="2" charset="-122"/>
              </a:rPr>
              <a:t>建设项目在初步设计阶段编制设计概算，一般由建设项目总概算、单项工程总概算构成；建设项目在施工图设计阶段编制施工图预算，一般由单位工程预算、单项工程预算、建设项目总预算构成。</a:t>
            </a:r>
            <a:r>
              <a:rPr lang="zh-CN" altLang="en-US"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79938">
                                            <p:txEl>
                                              <p:charRg st="0" end="106"/>
                                            </p:txEl>
                                          </p:spTgt>
                                        </p:tgtEl>
                                        <p:attrNameLst>
                                          <p:attrName>style.visibility</p:attrName>
                                        </p:attrNameLst>
                                      </p:cBhvr>
                                      <p:to>
                                        <p:strVal val="visible"/>
                                      </p:to>
                                    </p:set>
                                    <p:animEffect transition="in" filter="slide(fromBottom)">
                                      <p:cBhvr>
                                        <p:cTn id="7" dur="500"/>
                                        <p:tgtEl>
                                          <p:spTgt spid="679938">
                                            <p:txEl>
                                              <p:charRg st="0" end="10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79938">
                                            <p:txEl>
                                              <p:charRg st="106" end="196"/>
                                            </p:txEl>
                                          </p:spTgt>
                                        </p:tgtEl>
                                        <p:attrNameLst>
                                          <p:attrName>style.visibility</p:attrName>
                                        </p:attrNameLst>
                                      </p:cBhvr>
                                      <p:to>
                                        <p:strVal val="visible"/>
                                      </p:to>
                                    </p:set>
                                    <p:animEffect transition="in" filter="slide(fromBottom)">
                                      <p:cBhvr>
                                        <p:cTn id="12" dur="500"/>
                                        <p:tgtEl>
                                          <p:spTgt spid="679938">
                                            <p:txEl>
                                              <p:charRg st="106" end="1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0962" name="Rectangle 2"/>
          <p:cNvSpPr>
            <a:spLocks noGrp="1"/>
          </p:cNvSpPr>
          <p:nvPr>
            <p:ph/>
          </p:nvPr>
        </p:nvSpPr>
        <p:spPr>
          <a:xfrm>
            <a:off x="468313" y="692150"/>
            <a:ext cx="8675687" cy="4968875"/>
          </a:xfrm>
          <a:noFill/>
          <a:ln>
            <a:noFill/>
          </a:ln>
        </p:spPr>
        <p:txBody>
          <a:bodyPr anchor="t" anchorCtr="0"/>
          <a:p>
            <a:pPr>
              <a:lnSpc>
                <a:spcPct val="130000"/>
              </a:lnSpc>
              <a:buNone/>
            </a:pPr>
            <a:r>
              <a:rPr lang="en-US" altLang="zh-CN" dirty="0">
                <a:latin typeface="宋体" panose="02010600030101010101" pitchFamily="2" charset="-122"/>
                <a:ea typeface="宋体" panose="02010600030101010101" pitchFamily="2" charset="-122"/>
              </a:rPr>
              <a:t>5 </a:t>
            </a:r>
            <a:r>
              <a:rPr lang="zh-CN" altLang="en-US" dirty="0">
                <a:latin typeface="宋体" panose="02010600030101010101" pitchFamily="2" charset="-122"/>
                <a:ea typeface="宋体" panose="02010600030101010101" pitchFamily="2" charset="-122"/>
              </a:rPr>
              <a:t>定额，就是在一定的生产技术和劳动组织条件下，完成单位合格产品在人力、物力、财力的利用和消耗方面应当遵守的标准。</a:t>
            </a:r>
            <a:endParaRPr lang="zh-CN" altLang="en-US" dirty="0">
              <a:latin typeface="宋体" panose="02010600030101010101" pitchFamily="2" charset="-122"/>
              <a:ea typeface="宋体" panose="02010600030101010101" pitchFamily="2" charset="-122"/>
            </a:endParaRPr>
          </a:p>
          <a:p>
            <a:pPr>
              <a:lnSpc>
                <a:spcPct val="130000"/>
              </a:lnSpc>
              <a:buNone/>
            </a:pPr>
            <a:r>
              <a:rPr lang="en-US" altLang="zh-CN" dirty="0">
                <a:latin typeface="宋体" panose="02010600030101010101" pitchFamily="2" charset="-122"/>
                <a:ea typeface="宋体" panose="02010600030101010101" pitchFamily="2" charset="-122"/>
              </a:rPr>
              <a:t>6 </a:t>
            </a:r>
            <a:r>
              <a:rPr lang="zh-CN" altLang="en-US" dirty="0">
                <a:latin typeface="宋体" panose="02010600030101010101" pitchFamily="2" charset="-122"/>
                <a:ea typeface="宋体" panose="02010600030101010101" pitchFamily="2" charset="-122"/>
              </a:rPr>
              <a:t>工程建设定额是指在工程建设中单位产品所需人工、材料、机械、资金消耗的规定额度，属于生产消费定额的性质。</a:t>
            </a:r>
            <a:r>
              <a:rPr lang="zh-CN" altLang="en-US" dirty="0">
                <a:ea typeface="宋体" panose="02010600030101010101" pitchFamily="2" charset="-122"/>
              </a:rPr>
              <a:t> </a:t>
            </a:r>
            <a:endParaRPr lang="zh-CN" altLang="en-US"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80962">
                                            <p:txEl>
                                              <p:charRg st="0" end="58"/>
                                            </p:txEl>
                                          </p:spTgt>
                                        </p:tgtEl>
                                        <p:attrNameLst>
                                          <p:attrName>style.visibility</p:attrName>
                                        </p:attrNameLst>
                                      </p:cBhvr>
                                      <p:to>
                                        <p:strVal val="visible"/>
                                      </p:to>
                                    </p:set>
                                    <p:animEffect transition="in" filter="slide(fromBottom)">
                                      <p:cBhvr>
                                        <p:cTn id="7" dur="500"/>
                                        <p:tgtEl>
                                          <p:spTgt spid="680962">
                                            <p:txEl>
                                              <p:charRg st="0" end="5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80962">
                                            <p:txEl>
                                              <p:charRg st="58" end="113"/>
                                            </p:txEl>
                                          </p:spTgt>
                                        </p:tgtEl>
                                        <p:attrNameLst>
                                          <p:attrName>style.visibility</p:attrName>
                                        </p:attrNameLst>
                                      </p:cBhvr>
                                      <p:to>
                                        <p:strVal val="visible"/>
                                      </p:to>
                                    </p:set>
                                    <p:anim to="" calcmode="lin" valueType="num">
                                      <p:cBhvr>
                                        <p:cTn id="12" dur="1" fill="hold"/>
                                        <p:tgtEl>
                                          <p:spTgt spid="680962">
                                            <p:txEl>
                                              <p:charRg st="58" end="113"/>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1986" name="Rectangle 2"/>
          <p:cNvSpPr>
            <a:spLocks noGrp="1"/>
          </p:cNvSpPr>
          <p:nvPr>
            <p:ph/>
          </p:nvPr>
        </p:nvSpPr>
        <p:spPr>
          <a:xfrm>
            <a:off x="468313" y="692150"/>
            <a:ext cx="8424862" cy="4968875"/>
          </a:xfrm>
          <a:noFill/>
          <a:ln>
            <a:noFill/>
          </a:ln>
        </p:spPr>
        <p:txBody>
          <a:bodyPr anchor="t" anchorCtr="0"/>
          <a:p>
            <a:pPr>
              <a:lnSpc>
                <a:spcPct val="130000"/>
              </a:lnSpc>
              <a:buNone/>
            </a:pPr>
            <a:r>
              <a:rPr lang="en-US" altLang="zh-CN" dirty="0">
                <a:ea typeface="宋体" panose="02010600030101010101" pitchFamily="2" charset="-122"/>
              </a:rPr>
              <a:t>7 </a:t>
            </a:r>
            <a:r>
              <a:rPr lang="zh-CN" altLang="en-US" dirty="0">
                <a:ea typeface="宋体" panose="02010600030101010101" pitchFamily="2" charset="-122"/>
              </a:rPr>
              <a:t>新修订的通信建设工程概算、预算定额配套文件包括：</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a:t>
            </a:r>
            <a:r>
              <a:rPr lang="en-US" altLang="zh-CN" dirty="0">
                <a:ea typeface="宋体" panose="02010600030101010101" pitchFamily="2" charset="-122"/>
              </a:rPr>
              <a:t>《</a:t>
            </a:r>
            <a:r>
              <a:rPr lang="zh-CN" altLang="en-US" dirty="0">
                <a:ea typeface="宋体" panose="02010600030101010101" pitchFamily="2" charset="-122"/>
              </a:rPr>
              <a:t>通信建设工程概算、预算编制办法</a:t>
            </a:r>
            <a:r>
              <a:rPr lang="en-US" altLang="zh-CN" dirty="0">
                <a:ea typeface="宋体" panose="02010600030101010101" pitchFamily="2" charset="-122"/>
              </a:rPr>
              <a:t>》</a:t>
            </a:r>
            <a:endParaRPr lang="en-US" altLang="zh-CN"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a:t>
            </a:r>
            <a:r>
              <a:rPr lang="en-US" altLang="zh-CN" dirty="0">
                <a:ea typeface="宋体" panose="02010600030101010101" pitchFamily="2" charset="-122"/>
              </a:rPr>
              <a:t>《</a:t>
            </a:r>
            <a:r>
              <a:rPr lang="zh-CN" altLang="en-US" dirty="0">
                <a:ea typeface="宋体" panose="02010600030101010101" pitchFamily="2" charset="-122"/>
              </a:rPr>
              <a:t>通信建设工程费用定额</a:t>
            </a:r>
            <a:r>
              <a:rPr lang="en-US" altLang="zh-CN" dirty="0">
                <a:ea typeface="宋体" panose="02010600030101010101" pitchFamily="2" charset="-122"/>
              </a:rPr>
              <a:t>》</a:t>
            </a:r>
            <a:endParaRPr lang="en-US" altLang="zh-CN"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a:t>
            </a:r>
            <a:r>
              <a:rPr lang="en-US" altLang="zh-CN" dirty="0">
                <a:ea typeface="宋体" panose="02010600030101010101" pitchFamily="2" charset="-122"/>
              </a:rPr>
              <a:t>《</a:t>
            </a:r>
            <a:r>
              <a:rPr lang="zh-CN" altLang="en-US" dirty="0">
                <a:ea typeface="宋体" panose="02010600030101010101" pitchFamily="2" charset="-122"/>
              </a:rPr>
              <a:t>通信建设工程施工机械、仪器仪表台班定额</a:t>
            </a:r>
            <a:r>
              <a:rPr lang="en-US" altLang="zh-CN" dirty="0">
                <a:ea typeface="宋体" panose="02010600030101010101" pitchFamily="2" charset="-122"/>
              </a:rPr>
              <a:t>》</a:t>
            </a:r>
            <a:endParaRPr lang="en-US" altLang="zh-CN"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a:t>
            </a:r>
            <a:r>
              <a:rPr lang="en-US" altLang="zh-CN" dirty="0">
                <a:ea typeface="宋体" panose="02010600030101010101" pitchFamily="2" charset="-122"/>
              </a:rPr>
              <a:t>《</a:t>
            </a:r>
            <a:r>
              <a:rPr lang="zh-CN" altLang="en-US" dirty="0">
                <a:ea typeface="宋体" panose="02010600030101010101" pitchFamily="2" charset="-122"/>
              </a:rPr>
              <a:t>通信建设工程预算定额</a:t>
            </a:r>
            <a:r>
              <a:rPr lang="en-US" altLang="zh-CN" dirty="0">
                <a:ea typeface="宋体" panose="02010600030101010101" pitchFamily="2" charset="-122"/>
              </a:rPr>
              <a:t>》</a:t>
            </a:r>
            <a:r>
              <a:rPr lang="zh-CN" altLang="en-US" dirty="0">
                <a:ea typeface="宋体" panose="02010600030101010101" pitchFamily="2" charset="-122"/>
              </a:rPr>
              <a:t>（共五册：第一册通信电源设备安装工程、第二册有线通信设备安装工程、第三册无线通信设备安装工程、第四册通信线路工程、第五册通信管道工程）。</a:t>
            </a:r>
            <a:endParaRPr lang="zh-CN" altLang="en-US" dirty="0">
              <a:ea typeface="宋体" panose="02010600030101010101" pitchFamily="2" charset="-122"/>
            </a:endParaRPr>
          </a:p>
          <a:p>
            <a:pPr>
              <a:lnSpc>
                <a:spcPct val="130000"/>
              </a:lnSpc>
              <a:buNone/>
            </a:pPr>
            <a:endParaRPr lang="zh-CN" altLang="en-US"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1986"/>
                                        </p:tgtEl>
                                        <p:attrNameLst>
                                          <p:attrName>style.visibility</p:attrName>
                                        </p:attrNameLst>
                                      </p:cBhvr>
                                      <p:to>
                                        <p:strVal val="visible"/>
                                      </p:to>
                                    </p:set>
                                    <p:animEffect transition="in" filter="blinds(horizontal)">
                                      <p:cBhvr>
                                        <p:cTn id="7" dur="1000"/>
                                        <p:tgtEl>
                                          <p:spTgt spid="681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98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3010" name="Rectangle 2"/>
          <p:cNvSpPr>
            <a:spLocks noGrp="1"/>
          </p:cNvSpPr>
          <p:nvPr>
            <p:ph/>
          </p:nvPr>
        </p:nvSpPr>
        <p:spPr>
          <a:xfrm>
            <a:off x="468313" y="620713"/>
            <a:ext cx="8424862" cy="4968875"/>
          </a:xfrm>
          <a:noFill/>
          <a:ln>
            <a:noFill/>
          </a:ln>
        </p:spPr>
        <p:txBody>
          <a:bodyPr anchor="t" anchorCtr="0"/>
          <a:p>
            <a:pPr>
              <a:lnSpc>
                <a:spcPct val="130000"/>
              </a:lnSpc>
              <a:buNone/>
            </a:pPr>
            <a:r>
              <a:rPr lang="en-US" altLang="zh-CN" dirty="0">
                <a:ea typeface="宋体" panose="02010600030101010101" pitchFamily="2" charset="-122"/>
              </a:rPr>
              <a:t>8 </a:t>
            </a:r>
            <a:r>
              <a:rPr lang="zh-CN" altLang="en-US" dirty="0">
                <a:ea typeface="宋体" panose="02010600030101010101" pitchFamily="2" charset="-122"/>
              </a:rPr>
              <a:t>现行通信建设工程预算定额由总说明、册说明、章节说明、定额项目表和附录构成。 </a:t>
            </a:r>
            <a:endParaRPr lang="zh-CN" altLang="en-US" dirty="0">
              <a:ea typeface="宋体" panose="02010600030101010101" pitchFamily="2" charset="-122"/>
            </a:endParaRPr>
          </a:p>
          <a:p>
            <a:pPr>
              <a:lnSpc>
                <a:spcPct val="130000"/>
              </a:lnSpc>
              <a:buNone/>
            </a:pPr>
            <a:r>
              <a:rPr lang="en-US" altLang="zh-CN" dirty="0">
                <a:ea typeface="宋体" panose="02010600030101010101" pitchFamily="2" charset="-122"/>
              </a:rPr>
              <a:t>9 </a:t>
            </a:r>
            <a:r>
              <a:rPr lang="zh-CN" altLang="en-US" dirty="0">
                <a:ea typeface="宋体" panose="02010600030101010101" pitchFamily="2" charset="-122"/>
              </a:rPr>
              <a:t>选用预算定额项目时注意：</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）定额项目名称的确定。应与定额规定的项目名称相对应才能直接套用。</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）定额的计量单位。注意计量单位的规定，避免出现小数点定位错误。</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）定额项目的划分。套用时注意工艺、规格的一致性。</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）定额项目表下的注释。其中说明了消耗量的使用条件和增减规定。</a:t>
            </a:r>
            <a:endParaRPr lang="zh-CN" altLang="en-US"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83010">
                                            <p:txEl>
                                              <p:charRg st="0" end="41"/>
                                            </p:txEl>
                                          </p:spTgt>
                                        </p:tgtEl>
                                        <p:attrNameLst>
                                          <p:attrName>style.visibility</p:attrName>
                                        </p:attrNameLst>
                                      </p:cBhvr>
                                      <p:to>
                                        <p:strVal val="visible"/>
                                      </p:to>
                                    </p:set>
                                    <p:animEffect transition="in" filter="slide(fromBottom)">
                                      <p:cBhvr>
                                        <p:cTn id="7" dur="500"/>
                                        <p:tgtEl>
                                          <p:spTgt spid="683010">
                                            <p:txEl>
                                              <p:charRg st="0" end="4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83010">
                                            <p:txEl>
                                              <p:charRg st="41" end="56"/>
                                            </p:txEl>
                                          </p:spTgt>
                                        </p:tgtEl>
                                        <p:attrNameLst>
                                          <p:attrName>style.visibility</p:attrName>
                                        </p:attrNameLst>
                                      </p:cBhvr>
                                      <p:to>
                                        <p:strVal val="visible"/>
                                      </p:to>
                                    </p:set>
                                    <p:anim to="" calcmode="lin" valueType="num">
                                      <p:cBhvr>
                                        <p:cTn id="12" dur="1" fill="hold"/>
                                        <p:tgtEl>
                                          <p:spTgt spid="683010">
                                            <p:txEl>
                                              <p:charRg st="41" end="56"/>
                                            </p:txEl>
                                          </p:spTgt>
                                        </p:tgtEl>
                                        <p:attrNameLst>
                                          <p:attrName>style.visibility</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683010">
                                            <p:txEl>
                                              <p:charRg st="56" end="91"/>
                                            </p:txEl>
                                          </p:spTgt>
                                        </p:tgtEl>
                                        <p:attrNameLst>
                                          <p:attrName>style.visibility</p:attrName>
                                        </p:attrNameLst>
                                      </p:cBhvr>
                                      <p:to>
                                        <p:strVal val="visible"/>
                                      </p:to>
                                    </p:set>
                                    <p:anim to="" calcmode="lin" valueType="num">
                                      <p:cBhvr>
                                        <p:cTn id="15" dur="1" fill="hold"/>
                                        <p:tgtEl>
                                          <p:spTgt spid="683010">
                                            <p:txEl>
                                              <p:charRg st="56" end="91"/>
                                            </p:txEl>
                                          </p:spTgt>
                                        </p:tgtEl>
                                        <p:attrNameLst>
                                          <p:attrName>style.visibility</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683010">
                                            <p:txEl>
                                              <p:charRg st="91" end="125"/>
                                            </p:txEl>
                                          </p:spTgt>
                                        </p:tgtEl>
                                        <p:attrNameLst>
                                          <p:attrName>style.visibility</p:attrName>
                                        </p:attrNameLst>
                                      </p:cBhvr>
                                      <p:to>
                                        <p:strVal val="visible"/>
                                      </p:to>
                                    </p:set>
                                    <p:anim to="" calcmode="lin" valueType="num">
                                      <p:cBhvr>
                                        <p:cTn id="18" dur="1" fill="hold"/>
                                        <p:tgtEl>
                                          <p:spTgt spid="683010">
                                            <p:txEl>
                                              <p:charRg st="91" end="125"/>
                                            </p:txEl>
                                          </p:spTgt>
                                        </p:tgtEl>
                                        <p:attrNameLst>
                                          <p:attrName>style.visibility</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683010">
                                            <p:txEl>
                                              <p:charRg st="125" end="152"/>
                                            </p:txEl>
                                          </p:spTgt>
                                        </p:tgtEl>
                                        <p:attrNameLst>
                                          <p:attrName>style.visibility</p:attrName>
                                        </p:attrNameLst>
                                      </p:cBhvr>
                                      <p:to>
                                        <p:strVal val="visible"/>
                                      </p:to>
                                    </p:set>
                                    <p:anim to="" calcmode="lin" valueType="num">
                                      <p:cBhvr>
                                        <p:cTn id="21" dur="1" fill="hold"/>
                                        <p:tgtEl>
                                          <p:spTgt spid="683010">
                                            <p:txEl>
                                              <p:charRg st="125" end="152"/>
                                            </p:txEl>
                                          </p:spTgt>
                                        </p:tgtEl>
                                        <p:attrNameLst>
                                          <p:attrName>style.visibility</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683010">
                                            <p:txEl>
                                              <p:charRg st="152" end="185"/>
                                            </p:txEl>
                                          </p:spTgt>
                                        </p:tgtEl>
                                        <p:attrNameLst>
                                          <p:attrName>style.visibility</p:attrName>
                                        </p:attrNameLst>
                                      </p:cBhvr>
                                      <p:to>
                                        <p:strVal val="visible"/>
                                      </p:to>
                                    </p:set>
                                    <p:anim to="" calcmode="lin" valueType="num">
                                      <p:cBhvr>
                                        <p:cTn id="24" dur="1" fill="hold"/>
                                        <p:tgtEl>
                                          <p:spTgt spid="683010">
                                            <p:txEl>
                                              <p:charRg st="152" end="185"/>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4034" name="Rectangle 2"/>
          <p:cNvSpPr>
            <a:spLocks noGrp="1"/>
          </p:cNvSpPr>
          <p:nvPr>
            <p:ph/>
          </p:nvPr>
        </p:nvSpPr>
        <p:spPr>
          <a:xfrm>
            <a:off x="468313" y="692150"/>
            <a:ext cx="8424862" cy="1657350"/>
          </a:xfrm>
          <a:noFill/>
          <a:ln>
            <a:noFill/>
          </a:ln>
        </p:spPr>
        <p:txBody>
          <a:bodyPr anchor="t" anchorCtr="0"/>
          <a:p>
            <a:pPr>
              <a:lnSpc>
                <a:spcPct val="130000"/>
              </a:lnSpc>
              <a:buNone/>
            </a:pPr>
            <a:r>
              <a:rPr lang="en-US" altLang="zh-CN" dirty="0">
                <a:ea typeface="宋体" panose="02010600030101010101" pitchFamily="2" charset="-122"/>
              </a:rPr>
              <a:t>10 </a:t>
            </a:r>
            <a:r>
              <a:rPr lang="zh-CN" altLang="en-US" dirty="0">
                <a:ea typeface="宋体" panose="02010600030101010101" pitchFamily="2" charset="-122"/>
              </a:rPr>
              <a:t>概算定额是在</a:t>
            </a:r>
            <a:r>
              <a:rPr lang="zh-CN" altLang="en-US" dirty="0">
                <a:solidFill>
                  <a:srgbClr val="FF9900"/>
                </a:solidFill>
                <a:ea typeface="宋体" panose="02010600030101010101" pitchFamily="2" charset="-122"/>
                <a:hlinkClick r:id="rId1"/>
              </a:rPr>
              <a:t>预算定额</a:t>
            </a:r>
            <a:r>
              <a:rPr lang="zh-CN" altLang="en-US" dirty="0">
                <a:ea typeface="宋体" panose="02010600030101010101" pitchFamily="2" charset="-122"/>
              </a:rPr>
              <a:t>基础上根据有代表性的通用设计图和标准图等资料，以主要工序日准，综合相关工序，进行综合、扩大和合并而成的定额。 </a:t>
            </a:r>
            <a:endParaRPr lang="zh-CN" altLang="en-US" dirty="0">
              <a:ea typeface="宋体" panose="02010600030101010101" pitchFamily="2" charset="-122"/>
            </a:endParaRPr>
          </a:p>
        </p:txBody>
      </p:sp>
      <p:pic>
        <p:nvPicPr>
          <p:cNvPr id="66562" name="Picture 3" descr="图片1">
            <a:hlinkClick r:id="rId2" action="ppaction://hlinksldjump"/>
          </p:cNvPr>
          <p:cNvPicPr>
            <a:picLocks noChangeAspect="1"/>
          </p:cNvPicPr>
          <p:nvPr/>
        </p:nvPicPr>
        <p:blipFill>
          <a:blip r:embed="rId3"/>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4034"/>
                                        </p:tgtEl>
                                        <p:attrNameLst>
                                          <p:attrName>style.visibility</p:attrName>
                                        </p:attrNameLst>
                                      </p:cBhvr>
                                      <p:to>
                                        <p:strVal val="visible"/>
                                      </p:to>
                                    </p:set>
                                    <p:animEffect transition="in" filter="blinds(horizontal)">
                                      <p:cBhvr>
                                        <p:cTn id="7" dur="1000"/>
                                        <p:tgtEl>
                                          <p:spTgt spid="684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7585" name="Picture 5" descr="课后练习"/>
          <p:cNvPicPr>
            <a:picLocks noChangeAspect="1"/>
          </p:cNvPicPr>
          <p:nvPr/>
        </p:nvPicPr>
        <p:blipFill>
          <a:blip r:embed="rId1"/>
          <a:stretch>
            <a:fillRect/>
          </a:stretch>
        </p:blipFill>
        <p:spPr>
          <a:xfrm>
            <a:off x="250825" y="260350"/>
            <a:ext cx="1225550" cy="936625"/>
          </a:xfrm>
          <a:prstGeom prst="rect">
            <a:avLst/>
          </a:prstGeom>
          <a:noFill/>
          <a:ln w="9525">
            <a:noFill/>
          </a:ln>
        </p:spPr>
      </p:pic>
      <p:sp>
        <p:nvSpPr>
          <p:cNvPr id="67586" name="Text Box 6"/>
          <p:cNvSpPr txBox="1"/>
          <p:nvPr/>
        </p:nvSpPr>
        <p:spPr>
          <a:xfrm>
            <a:off x="1331913" y="549275"/>
            <a:ext cx="1625600" cy="396875"/>
          </a:xfrm>
          <a:prstGeom prst="rect">
            <a:avLst/>
          </a:prstGeom>
          <a:noFill/>
          <a:ln w="9525">
            <a:noFill/>
          </a:ln>
        </p:spPr>
        <p:txBody>
          <a:bodyPr anchor="t" anchorCtr="0">
            <a:spAutoFit/>
          </a:bodyPr>
          <a:p>
            <a:r>
              <a:rPr lang="zh-CN" altLang="en-US" dirty="0">
                <a:solidFill>
                  <a:srgbClr val="339966"/>
                </a:solidFill>
                <a:latin typeface="Arial" panose="020B0604020202020204" pitchFamily="34" charset="0"/>
                <a:ea typeface="微软雅黑" panose="020B0503020204020204" pitchFamily="34" charset="-122"/>
              </a:rPr>
              <a:t>阶段练习   </a:t>
            </a:r>
            <a:endParaRPr lang="zh-CN" altLang="en-US" dirty="0">
              <a:solidFill>
                <a:srgbClr val="339966"/>
              </a:solidFill>
              <a:latin typeface="Arial" panose="020B0604020202020204" pitchFamily="34" charset="0"/>
              <a:ea typeface="微软雅黑" panose="020B0503020204020204" pitchFamily="34" charset="-122"/>
            </a:endParaRPr>
          </a:p>
        </p:txBody>
      </p:sp>
      <p:sp>
        <p:nvSpPr>
          <p:cNvPr id="685060" name="Text Box 4"/>
          <p:cNvSpPr txBox="1"/>
          <p:nvPr/>
        </p:nvSpPr>
        <p:spPr>
          <a:xfrm>
            <a:off x="395288" y="1268413"/>
            <a:ext cx="8497887" cy="4170362"/>
          </a:xfrm>
          <a:prstGeom prst="rect">
            <a:avLst/>
          </a:prstGeom>
          <a:noFill/>
          <a:ln w="9525">
            <a:noFill/>
          </a:ln>
        </p:spPr>
        <p:txBody>
          <a:bodyPr anchor="t" anchorCtr="0">
            <a:spAutoFit/>
          </a:bodyPr>
          <a:p>
            <a:pPr>
              <a:spcBef>
                <a:spcPct val="50000"/>
              </a:spcBef>
            </a:pPr>
            <a:r>
              <a:rPr lang="en-US" altLang="zh-CN" sz="2800" dirty="0">
                <a:solidFill>
                  <a:srgbClr val="CC00FF"/>
                </a:solidFill>
                <a:latin typeface="华文行楷" panose="02010800040101010101" pitchFamily="2" charset="-122"/>
              </a:rPr>
              <a:t>1 </a:t>
            </a:r>
            <a:r>
              <a:rPr lang="zh-CN" altLang="en-US" sz="2800" dirty="0">
                <a:solidFill>
                  <a:srgbClr val="CC00FF"/>
                </a:solidFill>
                <a:latin typeface="华文行楷" panose="02010800040101010101" pitchFamily="2" charset="-122"/>
              </a:rPr>
              <a:t>问答题</a:t>
            </a:r>
            <a:endParaRPr lang="zh-CN" altLang="en-US" sz="2800" dirty="0">
              <a:solidFill>
                <a:srgbClr val="CC00FF"/>
              </a:solidFill>
              <a:latin typeface="华文行楷" panose="0201080004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）什么是通信工程概预算？</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）设计概算的作用是什么？</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）施工图预算的作用是什么？</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4</a:t>
            </a:r>
            <a:r>
              <a:rPr lang="zh-CN" altLang="en-US" sz="2400" dirty="0">
                <a:solidFill>
                  <a:srgbClr val="336699"/>
                </a:solidFill>
                <a:latin typeface="Arial" panose="020B0604020202020204" pitchFamily="34" charset="0"/>
                <a:ea typeface="宋体" panose="02010600030101010101" pitchFamily="2" charset="-122"/>
              </a:rPr>
              <a:t>）通信建设工程预算定额的作用是什么？现行定额由哪些文件构成？</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5</a:t>
            </a:r>
            <a:r>
              <a:rPr lang="zh-CN" altLang="en-US" sz="2400" dirty="0">
                <a:solidFill>
                  <a:srgbClr val="336699"/>
                </a:solidFill>
                <a:latin typeface="Arial" panose="020B0604020202020204" pitchFamily="34" charset="0"/>
                <a:ea typeface="宋体" panose="02010600030101010101" pitchFamily="2" charset="-122"/>
              </a:rPr>
              <a:t>）现行通信建设工程预算定额构成是什么？</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6</a:t>
            </a:r>
            <a:r>
              <a:rPr lang="zh-CN" altLang="en-US" sz="2400" dirty="0">
                <a:solidFill>
                  <a:srgbClr val="336699"/>
                </a:solidFill>
                <a:latin typeface="Arial" panose="020B0604020202020204" pitchFamily="34" charset="0"/>
                <a:ea typeface="宋体" panose="02010600030101010101" pitchFamily="2" charset="-122"/>
              </a:rPr>
              <a:t>）概算定额的作用是什么？</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7588" name="Rectangle 5"/>
          <p:cNvSpPr/>
          <p:nvPr/>
        </p:nvSpPr>
        <p:spPr>
          <a:xfrm>
            <a:off x="457200" y="274638"/>
            <a:ext cx="8229600" cy="1143000"/>
          </a:xfrm>
          <a:prstGeom prst="rect">
            <a:avLst/>
          </a:prstGeom>
          <a:noFill/>
          <a:ln w="9525">
            <a:noFill/>
          </a:ln>
        </p:spPr>
        <p:txBody>
          <a:bodyPr anchor="t" anchorCtr="0"/>
          <a:p>
            <a:pPr algn="ctr" eaLnBrk="0" hangingPunct="0"/>
            <a:r>
              <a:rPr lang="zh-CN" altLang="en-US" sz="4000" dirty="0">
                <a:solidFill>
                  <a:srgbClr val="000099"/>
                </a:solidFill>
                <a:latin typeface="黑体" panose="02010609060101010101" pitchFamily="49" charset="-122"/>
                <a:ea typeface="黑体" panose="02010609060101010101" pitchFamily="49" charset="-122"/>
              </a:rPr>
              <a:t>习题与思考题</a:t>
            </a:r>
            <a:endParaRPr lang="zh-CN" altLang="en-US" sz="4000" dirty="0">
              <a:solidFill>
                <a:srgbClr val="000099"/>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85060">
                                            <p:txEl>
                                              <p:charRg st="0" end="6"/>
                                            </p:txEl>
                                          </p:spTgt>
                                        </p:tgtEl>
                                        <p:attrNameLst>
                                          <p:attrName>style.visibility</p:attrName>
                                        </p:attrNameLst>
                                      </p:cBhvr>
                                      <p:to>
                                        <p:strVal val="visible"/>
                                      </p:to>
                                    </p:set>
                                    <p:animEffect transition="in" filter="slide(fromBottom)">
                                      <p:cBhvr>
                                        <p:cTn id="7" dur="500"/>
                                        <p:tgtEl>
                                          <p:spTgt spid="685060">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685060">
                                            <p:txEl>
                                              <p:charRg st="6" end="20"/>
                                            </p:txEl>
                                          </p:spTgt>
                                        </p:tgtEl>
                                        <p:attrNameLst>
                                          <p:attrName>style.visibility</p:attrName>
                                        </p:attrNameLst>
                                      </p:cBhvr>
                                      <p:to>
                                        <p:strVal val="visible"/>
                                      </p:to>
                                    </p:set>
                                    <p:anim to="" calcmode="lin" valueType="num">
                                      <p:cBhvr>
                                        <p:cTn id="12" dur="1" fill="hold"/>
                                        <p:tgtEl>
                                          <p:spTgt spid="685060">
                                            <p:txEl>
                                              <p:charRg st="6" end="20"/>
                                            </p:txEl>
                                          </p:spTgt>
                                        </p:tgtEl>
                                        <p:attrNameLst>
                                          <p:attrName>style.visibility</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685060">
                                            <p:txEl>
                                              <p:charRg st="20" end="34"/>
                                            </p:txEl>
                                          </p:spTgt>
                                        </p:tgtEl>
                                        <p:attrNameLst>
                                          <p:attrName>style.visibility</p:attrName>
                                        </p:attrNameLst>
                                      </p:cBhvr>
                                      <p:to>
                                        <p:strVal val="visible"/>
                                      </p:to>
                                    </p:set>
                                    <p:anim to="" calcmode="lin" valueType="num">
                                      <p:cBhvr>
                                        <p:cTn id="15" dur="1" fill="hold"/>
                                        <p:tgtEl>
                                          <p:spTgt spid="685060">
                                            <p:txEl>
                                              <p:charRg st="20" end="34"/>
                                            </p:txEl>
                                          </p:spTgt>
                                        </p:tgtEl>
                                        <p:attrNameLst>
                                          <p:attrName>style.visibility</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685060">
                                            <p:txEl>
                                              <p:charRg st="34" end="49"/>
                                            </p:txEl>
                                          </p:spTgt>
                                        </p:tgtEl>
                                        <p:attrNameLst>
                                          <p:attrName>style.visibility</p:attrName>
                                        </p:attrNameLst>
                                      </p:cBhvr>
                                      <p:to>
                                        <p:strVal val="visible"/>
                                      </p:to>
                                    </p:set>
                                    <p:anim to="" calcmode="lin" valueType="num">
                                      <p:cBhvr>
                                        <p:cTn id="18" dur="1" fill="hold"/>
                                        <p:tgtEl>
                                          <p:spTgt spid="685060">
                                            <p:txEl>
                                              <p:charRg st="34" end="49"/>
                                            </p:txEl>
                                          </p:spTgt>
                                        </p:tgtEl>
                                        <p:attrNameLst>
                                          <p:attrName>style.visibility</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685060">
                                            <p:txEl>
                                              <p:charRg st="49" end="81"/>
                                            </p:txEl>
                                          </p:spTgt>
                                        </p:tgtEl>
                                        <p:attrNameLst>
                                          <p:attrName>style.visibility</p:attrName>
                                        </p:attrNameLst>
                                      </p:cBhvr>
                                      <p:to>
                                        <p:strVal val="visible"/>
                                      </p:to>
                                    </p:set>
                                    <p:anim to="" calcmode="lin" valueType="num">
                                      <p:cBhvr>
                                        <p:cTn id="21" dur="1" fill="hold"/>
                                        <p:tgtEl>
                                          <p:spTgt spid="685060">
                                            <p:txEl>
                                              <p:charRg st="49" end="81"/>
                                            </p:txEl>
                                          </p:spTgt>
                                        </p:tgtEl>
                                        <p:attrNameLst>
                                          <p:attrName>style.visibility</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685060">
                                            <p:txEl>
                                              <p:charRg st="81" end="102"/>
                                            </p:txEl>
                                          </p:spTgt>
                                        </p:tgtEl>
                                        <p:attrNameLst>
                                          <p:attrName>style.visibility</p:attrName>
                                        </p:attrNameLst>
                                      </p:cBhvr>
                                      <p:to>
                                        <p:strVal val="visible"/>
                                      </p:to>
                                    </p:set>
                                    <p:anim to="" calcmode="lin" valueType="num">
                                      <p:cBhvr>
                                        <p:cTn id="24" dur="1" fill="hold"/>
                                        <p:tgtEl>
                                          <p:spTgt spid="685060">
                                            <p:txEl>
                                              <p:charRg st="81" end="102"/>
                                            </p:txEl>
                                          </p:spTgt>
                                        </p:tgtEl>
                                        <p:attrNameLst>
                                          <p:attrName>style.visibility</p:attrName>
                                        </p:attrNameLst>
                                      </p:cBhvr>
                                    </p:anim>
                                  </p:childTnLst>
                                </p:cTn>
                              </p:par>
                              <p:par>
                                <p:cTn id="25" presetID="24" presetClass="entr" presetSubtype="0" fill="hold" nodeType="withEffect">
                                  <p:stCondLst>
                                    <p:cond delay="0"/>
                                  </p:stCondLst>
                                  <p:childTnLst>
                                    <p:set>
                                      <p:cBhvr>
                                        <p:cTn id="26" dur="1" fill="hold">
                                          <p:stCondLst>
                                            <p:cond delay="0"/>
                                          </p:stCondLst>
                                        </p:cTn>
                                        <p:tgtEl>
                                          <p:spTgt spid="685060">
                                            <p:txEl>
                                              <p:charRg st="102" end="116"/>
                                            </p:txEl>
                                          </p:spTgt>
                                        </p:tgtEl>
                                        <p:attrNameLst>
                                          <p:attrName>style.visibility</p:attrName>
                                        </p:attrNameLst>
                                      </p:cBhvr>
                                      <p:to>
                                        <p:strVal val="visible"/>
                                      </p:to>
                                    </p:set>
                                    <p:anim to="" calcmode="lin" valueType="num">
                                      <p:cBhvr>
                                        <p:cTn id="27" dur="1" fill="hold"/>
                                        <p:tgtEl>
                                          <p:spTgt spid="685060">
                                            <p:txEl>
                                              <p:charRg st="102" end="116"/>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82" name="Text Box 2"/>
          <p:cNvSpPr txBox="1"/>
          <p:nvPr/>
        </p:nvSpPr>
        <p:spPr>
          <a:xfrm>
            <a:off x="323850" y="404813"/>
            <a:ext cx="8497888" cy="5448300"/>
          </a:xfrm>
          <a:prstGeom prst="rect">
            <a:avLst/>
          </a:prstGeom>
          <a:noFill/>
          <a:ln w="9525">
            <a:noFill/>
          </a:ln>
        </p:spPr>
        <p:txBody>
          <a:bodyPr anchor="t" anchorCtr="0">
            <a:spAutoFit/>
          </a:bodyPr>
          <a:p>
            <a:pPr>
              <a:spcBef>
                <a:spcPct val="50000"/>
              </a:spcBef>
            </a:pPr>
            <a:r>
              <a:rPr lang="en-US" altLang="zh-CN" sz="2800" dirty="0">
                <a:solidFill>
                  <a:srgbClr val="CC00FF"/>
                </a:solidFill>
                <a:latin typeface="华文行楷" panose="02010800040101010101" pitchFamily="2" charset="-122"/>
              </a:rPr>
              <a:t>2 </a:t>
            </a:r>
            <a:r>
              <a:rPr lang="zh-CN" altLang="en-US" sz="2800" dirty="0">
                <a:solidFill>
                  <a:srgbClr val="CC00FF"/>
                </a:solidFill>
                <a:latin typeface="华文行楷" panose="02010800040101010101" pitchFamily="2" charset="-122"/>
              </a:rPr>
              <a:t>选择题</a:t>
            </a:r>
            <a:endParaRPr lang="zh-CN" altLang="en-US" sz="2800" dirty="0">
              <a:solidFill>
                <a:srgbClr val="CC00FF"/>
              </a:solidFill>
              <a:latin typeface="华文行楷" panose="0201080004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）美国工程师弗</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温</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泰罗提出的标准系统的科学管理方法，形成著名的（      ）管理体系，下面哪个不属于该体系的核心内容（      ）。</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A  </a:t>
            </a:r>
            <a:r>
              <a:rPr lang="zh-CN" altLang="en-US" sz="2400" dirty="0">
                <a:solidFill>
                  <a:srgbClr val="336699"/>
                </a:solidFill>
                <a:latin typeface="Arial" panose="020B0604020202020204" pitchFamily="34" charset="0"/>
                <a:ea typeface="宋体" panose="02010600030101010101" pitchFamily="2" charset="-122"/>
              </a:rPr>
              <a:t>泰罗制，制定科学的工时定额</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B  </a:t>
            </a:r>
            <a:r>
              <a:rPr lang="zh-CN" altLang="en-US" sz="2400" dirty="0">
                <a:solidFill>
                  <a:srgbClr val="336699"/>
                </a:solidFill>
                <a:latin typeface="Arial" panose="020B0604020202020204" pitchFamily="34" charset="0"/>
                <a:ea typeface="宋体" panose="02010600030101010101" pitchFamily="2" charset="-122"/>
              </a:rPr>
              <a:t>技术经济，实行标准的操作方法</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C  </a:t>
            </a:r>
            <a:r>
              <a:rPr lang="zh-CN" altLang="en-US" sz="2400" dirty="0">
                <a:solidFill>
                  <a:srgbClr val="336699"/>
                </a:solidFill>
                <a:latin typeface="Arial" panose="020B0604020202020204" pitchFamily="34" charset="0"/>
                <a:ea typeface="宋体" panose="02010600030101010101" pitchFamily="2" charset="-122"/>
              </a:rPr>
              <a:t>泰罗制，量价分离的原则</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D </a:t>
            </a:r>
            <a:r>
              <a:rPr lang="zh-CN" altLang="en-US" sz="2400" dirty="0">
                <a:solidFill>
                  <a:srgbClr val="336699"/>
                </a:solidFill>
                <a:latin typeface="Arial" panose="020B0604020202020204" pitchFamily="34" charset="0"/>
                <a:ea typeface="宋体" panose="02010600030101010101" pitchFamily="2" charset="-122"/>
              </a:rPr>
              <a:t>技术经济，有差别的计件工资</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）以包装粉笔为例，规定一个工人一天需要包装</a:t>
            </a:r>
            <a:r>
              <a:rPr lang="en-US" altLang="zh-CN" sz="2400" dirty="0">
                <a:solidFill>
                  <a:srgbClr val="336699"/>
                </a:solidFill>
                <a:latin typeface="Arial" panose="020B0604020202020204" pitchFamily="34" charset="0"/>
                <a:ea typeface="宋体" panose="02010600030101010101" pitchFamily="2" charset="-122"/>
              </a:rPr>
              <a:t>100</a:t>
            </a:r>
            <a:r>
              <a:rPr lang="zh-CN" altLang="en-US" sz="2400" dirty="0">
                <a:solidFill>
                  <a:srgbClr val="336699"/>
                </a:solidFill>
                <a:latin typeface="Arial" panose="020B0604020202020204" pitchFamily="34" charset="0"/>
                <a:ea typeface="宋体" panose="02010600030101010101" pitchFamily="2" charset="-122"/>
              </a:rPr>
              <a:t>盒粉笔，这是规定了下面哪一方面的定额（     ）。</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A  </a:t>
            </a:r>
            <a:r>
              <a:rPr lang="zh-CN" altLang="en-US" sz="2400" dirty="0">
                <a:solidFill>
                  <a:srgbClr val="336699"/>
                </a:solidFill>
                <a:latin typeface="Arial" panose="020B0604020202020204" pitchFamily="34" charset="0"/>
                <a:ea typeface="宋体" panose="02010600030101010101" pitchFamily="2" charset="-122"/>
              </a:rPr>
              <a:t>材料定额   </a:t>
            </a:r>
            <a:r>
              <a:rPr lang="en-US" altLang="zh-CN" sz="2400" dirty="0">
                <a:solidFill>
                  <a:srgbClr val="336699"/>
                </a:solidFill>
                <a:latin typeface="Arial" panose="020B0604020202020204" pitchFamily="34" charset="0"/>
                <a:ea typeface="宋体" panose="02010600030101010101" pitchFamily="2" charset="-122"/>
              </a:rPr>
              <a:t>B </a:t>
            </a:r>
            <a:r>
              <a:rPr lang="zh-CN" altLang="en-US" sz="2400" dirty="0">
                <a:solidFill>
                  <a:srgbClr val="336699"/>
                </a:solidFill>
                <a:latin typeface="Arial" panose="020B0604020202020204" pitchFamily="34" charset="0"/>
                <a:ea typeface="宋体" panose="02010600030101010101" pitchFamily="2" charset="-122"/>
              </a:rPr>
              <a:t>劳动定额  </a:t>
            </a:r>
            <a:r>
              <a:rPr lang="en-US" altLang="zh-CN" sz="2400" dirty="0">
                <a:solidFill>
                  <a:srgbClr val="336699"/>
                </a:solidFill>
                <a:latin typeface="Arial" panose="020B0604020202020204" pitchFamily="34" charset="0"/>
                <a:ea typeface="宋体" panose="02010600030101010101" pitchFamily="2" charset="-122"/>
              </a:rPr>
              <a:t>C  </a:t>
            </a:r>
            <a:r>
              <a:rPr lang="zh-CN" altLang="en-US" sz="2400" dirty="0">
                <a:solidFill>
                  <a:srgbClr val="336699"/>
                </a:solidFill>
                <a:latin typeface="Arial" panose="020B0604020202020204" pitchFamily="34" charset="0"/>
                <a:ea typeface="宋体" panose="02010600030101010101" pitchFamily="2" charset="-122"/>
              </a:rPr>
              <a:t>施工定额  </a:t>
            </a:r>
            <a:r>
              <a:rPr lang="en-US" altLang="zh-CN" sz="2400" dirty="0">
                <a:solidFill>
                  <a:srgbClr val="336699"/>
                </a:solidFill>
                <a:latin typeface="Arial" panose="020B0604020202020204" pitchFamily="34" charset="0"/>
                <a:ea typeface="宋体" panose="02010600030101010101" pitchFamily="2" charset="-122"/>
              </a:rPr>
              <a:t>D  </a:t>
            </a:r>
            <a:r>
              <a:rPr lang="zh-CN" altLang="en-US" sz="2400" dirty="0">
                <a:solidFill>
                  <a:srgbClr val="336699"/>
                </a:solidFill>
                <a:latin typeface="Arial" panose="020B0604020202020204" pitchFamily="34" charset="0"/>
                <a:ea typeface="宋体" panose="02010600030101010101" pitchFamily="2" charset="-122"/>
              </a:rPr>
              <a:t>行业定额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86083" name="Text Box 3"/>
          <p:cNvSpPr txBox="1">
            <a:spLocks noChangeArrowheads="1"/>
          </p:cNvSpPr>
          <p:nvPr/>
        </p:nvSpPr>
        <p:spPr bwMode="auto">
          <a:xfrm>
            <a:off x="2339975" y="14128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C</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6084" name="Text Box 4"/>
          <p:cNvSpPr txBox="1">
            <a:spLocks noChangeArrowheads="1"/>
          </p:cNvSpPr>
          <p:nvPr/>
        </p:nvSpPr>
        <p:spPr bwMode="auto">
          <a:xfrm>
            <a:off x="5651500" y="486886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B</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6085" name="Text Box 5"/>
          <p:cNvSpPr txBox="1">
            <a:spLocks noChangeArrowheads="1"/>
          </p:cNvSpPr>
          <p:nvPr/>
        </p:nvSpPr>
        <p:spPr bwMode="auto">
          <a:xfrm>
            <a:off x="1403350" y="1773238"/>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C</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86082">
                                            <p:txEl>
                                              <p:charRg st="0" end="6"/>
                                            </p:txEl>
                                          </p:spTgt>
                                        </p:tgtEl>
                                        <p:attrNameLst>
                                          <p:attrName>style.visibility</p:attrName>
                                        </p:attrNameLst>
                                      </p:cBhvr>
                                      <p:to>
                                        <p:strVal val="visible"/>
                                      </p:to>
                                    </p:set>
                                    <p:animEffect transition="in" filter="slide(fromBottom)">
                                      <p:cBhvr>
                                        <p:cTn id="7" dur="500"/>
                                        <p:tgtEl>
                                          <p:spTgt spid="686082">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86082">
                                            <p:txEl>
                                              <p:charRg st="6" end="78"/>
                                            </p:txEl>
                                          </p:spTgt>
                                        </p:tgtEl>
                                        <p:attrNameLst>
                                          <p:attrName>style.visibility</p:attrName>
                                        </p:attrNameLst>
                                      </p:cBhvr>
                                      <p:to>
                                        <p:strVal val="visible"/>
                                      </p:to>
                                    </p:set>
                                    <p:animEffect transition="in" filter="slide(fromBottom)">
                                      <p:cBhvr>
                                        <p:cTn id="12" dur="500"/>
                                        <p:tgtEl>
                                          <p:spTgt spid="686082">
                                            <p:txEl>
                                              <p:charRg st="6" end="78"/>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686082">
                                            <p:txEl>
                                              <p:charRg st="78" end="95"/>
                                            </p:txEl>
                                          </p:spTgt>
                                        </p:tgtEl>
                                        <p:attrNameLst>
                                          <p:attrName>style.visibility</p:attrName>
                                        </p:attrNameLst>
                                      </p:cBhvr>
                                      <p:to>
                                        <p:strVal val="visible"/>
                                      </p:to>
                                    </p:set>
                                    <p:animEffect transition="in" filter="slide(fromBottom)">
                                      <p:cBhvr>
                                        <p:cTn id="15" dur="500"/>
                                        <p:tgtEl>
                                          <p:spTgt spid="686082">
                                            <p:txEl>
                                              <p:charRg st="78" end="95"/>
                                            </p:txEl>
                                          </p:spTgt>
                                        </p:tgtEl>
                                      </p:cBhvr>
                                    </p:animEffect>
                                  </p:childTnLst>
                                </p:cTn>
                              </p:par>
                              <p:par>
                                <p:cTn id="16" presetID="12" presetClass="entr" presetSubtype="4" fill="hold" nodeType="withEffect">
                                  <p:stCondLst>
                                    <p:cond delay="0"/>
                                  </p:stCondLst>
                                  <p:childTnLst>
                                    <p:set>
                                      <p:cBhvr>
                                        <p:cTn id="17" dur="1" fill="hold">
                                          <p:stCondLst>
                                            <p:cond delay="0"/>
                                          </p:stCondLst>
                                        </p:cTn>
                                        <p:tgtEl>
                                          <p:spTgt spid="686082">
                                            <p:txEl>
                                              <p:charRg st="95" end="113"/>
                                            </p:txEl>
                                          </p:spTgt>
                                        </p:tgtEl>
                                        <p:attrNameLst>
                                          <p:attrName>style.visibility</p:attrName>
                                        </p:attrNameLst>
                                      </p:cBhvr>
                                      <p:to>
                                        <p:strVal val="visible"/>
                                      </p:to>
                                    </p:set>
                                    <p:animEffect transition="in" filter="slide(fromBottom)">
                                      <p:cBhvr>
                                        <p:cTn id="18" dur="500"/>
                                        <p:tgtEl>
                                          <p:spTgt spid="686082">
                                            <p:txEl>
                                              <p:charRg st="95" end="113"/>
                                            </p:txEl>
                                          </p:spTgt>
                                        </p:tgtEl>
                                      </p:cBhvr>
                                    </p:animEffect>
                                  </p:childTnLst>
                                </p:cTn>
                              </p:par>
                              <p:par>
                                <p:cTn id="19" presetID="12" presetClass="entr" presetSubtype="4" fill="hold" nodeType="withEffect">
                                  <p:stCondLst>
                                    <p:cond delay="0"/>
                                  </p:stCondLst>
                                  <p:childTnLst>
                                    <p:set>
                                      <p:cBhvr>
                                        <p:cTn id="20" dur="1" fill="hold">
                                          <p:stCondLst>
                                            <p:cond delay="0"/>
                                          </p:stCondLst>
                                        </p:cTn>
                                        <p:tgtEl>
                                          <p:spTgt spid="686082">
                                            <p:txEl>
                                              <p:charRg st="113" end="128"/>
                                            </p:txEl>
                                          </p:spTgt>
                                        </p:tgtEl>
                                        <p:attrNameLst>
                                          <p:attrName>style.visibility</p:attrName>
                                        </p:attrNameLst>
                                      </p:cBhvr>
                                      <p:to>
                                        <p:strVal val="visible"/>
                                      </p:to>
                                    </p:set>
                                    <p:animEffect transition="in" filter="slide(fromBottom)">
                                      <p:cBhvr>
                                        <p:cTn id="21" dur="500"/>
                                        <p:tgtEl>
                                          <p:spTgt spid="686082">
                                            <p:txEl>
                                              <p:charRg st="113" end="128"/>
                                            </p:txEl>
                                          </p:spTgt>
                                        </p:tgtEl>
                                      </p:cBhvr>
                                    </p:animEffect>
                                  </p:childTnLst>
                                </p:cTn>
                              </p:par>
                              <p:par>
                                <p:cTn id="22" presetID="12" presetClass="entr" presetSubtype="4" fill="hold" nodeType="withEffect">
                                  <p:stCondLst>
                                    <p:cond delay="0"/>
                                  </p:stCondLst>
                                  <p:childTnLst>
                                    <p:set>
                                      <p:cBhvr>
                                        <p:cTn id="23" dur="1" fill="hold">
                                          <p:stCondLst>
                                            <p:cond delay="0"/>
                                          </p:stCondLst>
                                        </p:cTn>
                                        <p:tgtEl>
                                          <p:spTgt spid="686082">
                                            <p:txEl>
                                              <p:charRg st="128" end="144"/>
                                            </p:txEl>
                                          </p:spTgt>
                                        </p:tgtEl>
                                        <p:attrNameLst>
                                          <p:attrName>style.visibility</p:attrName>
                                        </p:attrNameLst>
                                      </p:cBhvr>
                                      <p:to>
                                        <p:strVal val="visible"/>
                                      </p:to>
                                    </p:set>
                                    <p:animEffect transition="in" filter="slide(fromBottom)">
                                      <p:cBhvr>
                                        <p:cTn id="24" dur="500"/>
                                        <p:tgtEl>
                                          <p:spTgt spid="686082">
                                            <p:txEl>
                                              <p:charRg st="128" end="14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686082">
                                            <p:txEl>
                                              <p:charRg st="144" end="197"/>
                                            </p:txEl>
                                          </p:spTgt>
                                        </p:tgtEl>
                                        <p:attrNameLst>
                                          <p:attrName>style.visibility</p:attrName>
                                        </p:attrNameLst>
                                      </p:cBhvr>
                                      <p:to>
                                        <p:strVal val="visible"/>
                                      </p:to>
                                    </p:set>
                                    <p:animEffect transition="in" filter="slide(fromBottom)">
                                      <p:cBhvr>
                                        <p:cTn id="29" dur="500"/>
                                        <p:tgtEl>
                                          <p:spTgt spid="686082">
                                            <p:txEl>
                                              <p:charRg st="144" end="197"/>
                                            </p:txEl>
                                          </p:spTgt>
                                        </p:tgtEl>
                                      </p:cBhvr>
                                    </p:animEffect>
                                  </p:childTnLst>
                                </p:cTn>
                              </p:par>
                              <p:par>
                                <p:cTn id="30" presetID="12" presetClass="entr" presetSubtype="4" fill="hold" nodeType="withEffect">
                                  <p:stCondLst>
                                    <p:cond delay="0"/>
                                  </p:stCondLst>
                                  <p:childTnLst>
                                    <p:set>
                                      <p:cBhvr>
                                        <p:cTn id="31" dur="1" fill="hold">
                                          <p:stCondLst>
                                            <p:cond delay="0"/>
                                          </p:stCondLst>
                                        </p:cTn>
                                        <p:tgtEl>
                                          <p:spTgt spid="686082">
                                            <p:txEl>
                                              <p:charRg st="197" end="233"/>
                                            </p:txEl>
                                          </p:spTgt>
                                        </p:tgtEl>
                                        <p:attrNameLst>
                                          <p:attrName>style.visibility</p:attrName>
                                        </p:attrNameLst>
                                      </p:cBhvr>
                                      <p:to>
                                        <p:strVal val="visible"/>
                                      </p:to>
                                    </p:set>
                                    <p:animEffect transition="in" filter="slide(fromBottom)">
                                      <p:cBhvr>
                                        <p:cTn id="32" dur="500"/>
                                        <p:tgtEl>
                                          <p:spTgt spid="686082">
                                            <p:txEl>
                                              <p:charRg st="197" end="23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86083"/>
                                        </p:tgtEl>
                                        <p:attrNameLst>
                                          <p:attrName>style.visibility</p:attrName>
                                        </p:attrNameLst>
                                      </p:cBhvr>
                                      <p:to>
                                        <p:strVal val="visible"/>
                                      </p:to>
                                    </p:set>
                                    <p:anim calcmode="lin" valueType="num">
                                      <p:cBhvr additive="base">
                                        <p:cTn id="37" dur="500" fill="hold"/>
                                        <p:tgtEl>
                                          <p:spTgt spid="686083"/>
                                        </p:tgtEl>
                                        <p:attrNameLst>
                                          <p:attrName>ppt_x</p:attrName>
                                        </p:attrNameLst>
                                      </p:cBhvr>
                                      <p:tavLst>
                                        <p:tav tm="0">
                                          <p:val>
                                            <p:strVal val="1+#ppt_w/2"/>
                                          </p:val>
                                        </p:tav>
                                        <p:tav tm="100000">
                                          <p:val>
                                            <p:strVal val="#ppt_x"/>
                                          </p:val>
                                        </p:tav>
                                      </p:tavLst>
                                    </p:anim>
                                    <p:anim calcmode="lin" valueType="num">
                                      <p:cBhvr additive="base">
                                        <p:cTn id="38" dur="500" fill="hold"/>
                                        <p:tgtEl>
                                          <p:spTgt spid="686083"/>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686085"/>
                                        </p:tgtEl>
                                        <p:attrNameLst>
                                          <p:attrName>style.visibility</p:attrName>
                                        </p:attrNameLst>
                                      </p:cBhvr>
                                      <p:to>
                                        <p:strVal val="visible"/>
                                      </p:to>
                                    </p:set>
                                    <p:anim calcmode="lin" valueType="num">
                                      <p:cBhvr additive="base">
                                        <p:cTn id="43" dur="500" fill="hold"/>
                                        <p:tgtEl>
                                          <p:spTgt spid="686085"/>
                                        </p:tgtEl>
                                        <p:attrNameLst>
                                          <p:attrName>ppt_x</p:attrName>
                                        </p:attrNameLst>
                                      </p:cBhvr>
                                      <p:tavLst>
                                        <p:tav tm="0">
                                          <p:val>
                                            <p:strVal val="1+#ppt_w/2"/>
                                          </p:val>
                                        </p:tav>
                                        <p:tav tm="100000">
                                          <p:val>
                                            <p:strVal val="#ppt_x"/>
                                          </p:val>
                                        </p:tav>
                                      </p:tavLst>
                                    </p:anim>
                                    <p:anim calcmode="lin" valueType="num">
                                      <p:cBhvr additive="base">
                                        <p:cTn id="44" dur="500" fill="hold"/>
                                        <p:tgtEl>
                                          <p:spTgt spid="68608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686084"/>
                                        </p:tgtEl>
                                        <p:attrNameLst>
                                          <p:attrName>style.visibility</p:attrName>
                                        </p:attrNameLst>
                                      </p:cBhvr>
                                      <p:to>
                                        <p:strVal val="visible"/>
                                      </p:to>
                                    </p:set>
                                    <p:anim calcmode="lin" valueType="num">
                                      <p:cBhvr additive="base">
                                        <p:cTn id="49" dur="500" fill="hold"/>
                                        <p:tgtEl>
                                          <p:spTgt spid="686084"/>
                                        </p:tgtEl>
                                        <p:attrNameLst>
                                          <p:attrName>ppt_x</p:attrName>
                                        </p:attrNameLst>
                                      </p:cBhvr>
                                      <p:tavLst>
                                        <p:tav tm="0">
                                          <p:val>
                                            <p:strVal val="1+#ppt_w/2"/>
                                          </p:val>
                                        </p:tav>
                                        <p:tav tm="100000">
                                          <p:val>
                                            <p:strVal val="#ppt_x"/>
                                          </p:val>
                                        </p:tav>
                                      </p:tavLst>
                                    </p:anim>
                                    <p:anim calcmode="lin" valueType="num">
                                      <p:cBhvr additive="base">
                                        <p:cTn id="50" dur="500" fill="hold"/>
                                        <p:tgtEl>
                                          <p:spTgt spid="6860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083" grpId="0"/>
      <p:bldP spid="686084" grpId="0"/>
      <p:bldP spid="68608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7106" name="Text Box 2"/>
          <p:cNvSpPr txBox="1"/>
          <p:nvPr/>
        </p:nvSpPr>
        <p:spPr>
          <a:xfrm>
            <a:off x="323850" y="404813"/>
            <a:ext cx="8497888" cy="5386387"/>
          </a:xfrm>
          <a:prstGeom prst="rect">
            <a:avLst/>
          </a:prstGeom>
          <a:noFill/>
          <a:ln w="9525">
            <a:noFill/>
          </a:ln>
        </p:spPr>
        <p:txBody>
          <a:bodyPr anchor="t" anchorCtr="0">
            <a:spAutoFit/>
          </a:bodyPr>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）我国机械消耗定额主要以一台机械工作一个工作班，即（   ）小时为计量单位，又称为（    ）定额。</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A  7</a:t>
            </a:r>
            <a:r>
              <a:rPr lang="zh-CN" altLang="en-US" sz="2400" dirty="0">
                <a:solidFill>
                  <a:srgbClr val="336699"/>
                </a:solidFill>
                <a:latin typeface="Arial" panose="020B0604020202020204" pitchFamily="34" charset="0"/>
                <a:ea typeface="宋体" panose="02010600030101010101" pitchFamily="2" charset="-122"/>
              </a:rPr>
              <a:t>，机械定额   </a:t>
            </a:r>
            <a:r>
              <a:rPr lang="en-US" altLang="zh-CN" sz="2400" dirty="0">
                <a:solidFill>
                  <a:srgbClr val="336699"/>
                </a:solidFill>
                <a:latin typeface="Arial" panose="020B0604020202020204" pitchFamily="34" charset="0"/>
                <a:ea typeface="宋体" panose="02010600030101010101" pitchFamily="2" charset="-122"/>
              </a:rPr>
              <a:t>B   6</a:t>
            </a:r>
            <a:r>
              <a:rPr lang="zh-CN" altLang="en-US" sz="2400" dirty="0">
                <a:solidFill>
                  <a:srgbClr val="336699"/>
                </a:solidFill>
                <a:latin typeface="Arial" panose="020B0604020202020204" pitchFamily="34" charset="0"/>
                <a:ea typeface="宋体" panose="02010600030101010101" pitchFamily="2" charset="-122"/>
              </a:rPr>
              <a:t>，台班 </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C  8</a:t>
            </a:r>
            <a:r>
              <a:rPr lang="zh-CN" altLang="en-US" sz="2400" dirty="0">
                <a:solidFill>
                  <a:srgbClr val="336699"/>
                </a:solidFill>
                <a:latin typeface="Arial" panose="020B0604020202020204" pitchFamily="34" charset="0"/>
                <a:ea typeface="宋体" panose="02010600030101010101" pitchFamily="2" charset="-122"/>
              </a:rPr>
              <a:t>，机械台班   </a:t>
            </a:r>
            <a:r>
              <a:rPr lang="en-US" altLang="zh-CN" sz="2400" dirty="0">
                <a:solidFill>
                  <a:srgbClr val="336699"/>
                </a:solidFill>
                <a:latin typeface="Arial" panose="020B0604020202020204" pitchFamily="34" charset="0"/>
                <a:ea typeface="宋体" panose="02010600030101010101" pitchFamily="2" charset="-122"/>
              </a:rPr>
              <a:t>D   8</a:t>
            </a:r>
            <a:r>
              <a:rPr lang="zh-CN" altLang="en-US" sz="2400" dirty="0">
                <a:solidFill>
                  <a:srgbClr val="336699"/>
                </a:solidFill>
                <a:latin typeface="Arial" panose="020B0604020202020204" pitchFamily="34" charset="0"/>
                <a:ea typeface="宋体" panose="02010600030101010101" pitchFamily="2" charset="-122"/>
              </a:rPr>
              <a:t>，工作班</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4</a:t>
            </a:r>
            <a:r>
              <a:rPr lang="zh-CN" altLang="en-US" sz="2400" dirty="0">
                <a:solidFill>
                  <a:srgbClr val="336699"/>
                </a:solidFill>
                <a:latin typeface="Arial" panose="020B0604020202020204" pitchFamily="34" charset="0"/>
                <a:ea typeface="宋体" panose="02010600030101010101" pitchFamily="2" charset="-122"/>
              </a:rPr>
              <a:t>）哪种定额是用在项目建议书和可行性研究阶段的（   ）</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A  </a:t>
            </a:r>
            <a:r>
              <a:rPr lang="zh-CN" altLang="en-US" sz="2400" dirty="0">
                <a:solidFill>
                  <a:srgbClr val="336699"/>
                </a:solidFill>
                <a:latin typeface="Arial" panose="020B0604020202020204" pitchFamily="34" charset="0"/>
                <a:ea typeface="宋体" panose="02010600030101010101" pitchFamily="2" charset="-122"/>
              </a:rPr>
              <a:t>企业定额   </a:t>
            </a:r>
            <a:r>
              <a:rPr lang="en-US" altLang="zh-CN" sz="2400" dirty="0">
                <a:solidFill>
                  <a:srgbClr val="336699"/>
                </a:solidFill>
                <a:latin typeface="Arial" panose="020B0604020202020204" pitchFamily="34" charset="0"/>
                <a:ea typeface="宋体" panose="02010600030101010101" pitchFamily="2" charset="-122"/>
              </a:rPr>
              <a:t>B </a:t>
            </a:r>
            <a:r>
              <a:rPr lang="zh-CN" altLang="en-US" sz="2400" dirty="0">
                <a:solidFill>
                  <a:srgbClr val="336699"/>
                </a:solidFill>
                <a:latin typeface="Arial" panose="020B0604020202020204" pitchFamily="34" charset="0"/>
                <a:ea typeface="宋体" panose="02010600030101010101" pitchFamily="2" charset="-122"/>
              </a:rPr>
              <a:t>概算定额  </a:t>
            </a:r>
            <a:r>
              <a:rPr lang="en-US" altLang="zh-CN" sz="2400" dirty="0">
                <a:solidFill>
                  <a:srgbClr val="336699"/>
                </a:solidFill>
                <a:latin typeface="Arial" panose="020B0604020202020204" pitchFamily="34" charset="0"/>
                <a:ea typeface="宋体" panose="02010600030101010101" pitchFamily="2" charset="-122"/>
              </a:rPr>
              <a:t>C  </a:t>
            </a:r>
            <a:r>
              <a:rPr lang="zh-CN" altLang="en-US" sz="2400" dirty="0">
                <a:solidFill>
                  <a:srgbClr val="336699"/>
                </a:solidFill>
                <a:latin typeface="Arial" panose="020B0604020202020204" pitchFamily="34" charset="0"/>
                <a:ea typeface="宋体" panose="02010600030101010101" pitchFamily="2" charset="-122"/>
              </a:rPr>
              <a:t>施工定额  </a:t>
            </a:r>
            <a:r>
              <a:rPr lang="en-US" altLang="zh-CN" sz="2400" dirty="0">
                <a:solidFill>
                  <a:srgbClr val="336699"/>
                </a:solidFill>
                <a:latin typeface="Arial" panose="020B0604020202020204" pitchFamily="34" charset="0"/>
                <a:ea typeface="宋体" panose="02010600030101010101" pitchFamily="2" charset="-122"/>
              </a:rPr>
              <a:t>D  </a:t>
            </a:r>
            <a:r>
              <a:rPr lang="zh-CN" altLang="en-US" sz="2400" dirty="0">
                <a:solidFill>
                  <a:srgbClr val="336699"/>
                </a:solidFill>
                <a:latin typeface="Arial" panose="020B0604020202020204" pitchFamily="34" charset="0"/>
                <a:ea typeface="宋体" panose="02010600030101010101" pitchFamily="2" charset="-122"/>
              </a:rPr>
              <a:t>投资估算指标</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5</a:t>
            </a:r>
            <a:r>
              <a:rPr lang="zh-CN" altLang="en-US" sz="2400" dirty="0">
                <a:solidFill>
                  <a:srgbClr val="336699"/>
                </a:solidFill>
                <a:latin typeface="Arial" panose="020B0604020202020204" pitchFamily="34" charset="0"/>
                <a:ea typeface="宋体" panose="02010600030101010101" pitchFamily="2" charset="-122"/>
              </a:rPr>
              <a:t>）建设工程定额一旦制定出以后，在一段时期内不能随便改动，并且所以工程建设部门必须严格按照定额标准执行。以上这句话体现了建设工程定额的哪个特点（    ）。</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A  </a:t>
            </a:r>
            <a:r>
              <a:rPr lang="zh-CN" altLang="en-US" sz="2400" dirty="0">
                <a:solidFill>
                  <a:srgbClr val="336699"/>
                </a:solidFill>
                <a:latin typeface="Arial" panose="020B0604020202020204" pitchFamily="34" charset="0"/>
                <a:ea typeface="宋体" panose="02010600030101010101" pitchFamily="2" charset="-122"/>
              </a:rPr>
              <a:t>科学性，系统性   </a:t>
            </a:r>
            <a:r>
              <a:rPr lang="en-US" altLang="zh-CN" sz="2400" dirty="0">
                <a:solidFill>
                  <a:srgbClr val="336699"/>
                </a:solidFill>
                <a:latin typeface="Arial" panose="020B0604020202020204" pitchFamily="34" charset="0"/>
                <a:ea typeface="宋体" panose="02010600030101010101" pitchFamily="2" charset="-122"/>
              </a:rPr>
              <a:t>B </a:t>
            </a:r>
            <a:r>
              <a:rPr lang="zh-CN" altLang="en-US" sz="2400" dirty="0">
                <a:solidFill>
                  <a:srgbClr val="336699"/>
                </a:solidFill>
                <a:latin typeface="Arial" panose="020B0604020202020204" pitchFamily="34" charset="0"/>
                <a:ea typeface="宋体" panose="02010600030101010101" pitchFamily="2" charset="-122"/>
              </a:rPr>
              <a:t>稳定性，强制性  </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C  </a:t>
            </a:r>
            <a:r>
              <a:rPr lang="zh-CN" altLang="en-US" sz="2400" dirty="0">
                <a:solidFill>
                  <a:srgbClr val="336699"/>
                </a:solidFill>
                <a:latin typeface="Arial" panose="020B0604020202020204" pitchFamily="34" charset="0"/>
                <a:ea typeface="宋体" panose="02010600030101010101" pitchFamily="2" charset="-122"/>
              </a:rPr>
              <a:t>系统性，权威性   </a:t>
            </a:r>
            <a:r>
              <a:rPr lang="en-US" altLang="zh-CN" sz="2400" dirty="0">
                <a:solidFill>
                  <a:srgbClr val="336699"/>
                </a:solidFill>
                <a:latin typeface="Arial" panose="020B0604020202020204" pitchFamily="34" charset="0"/>
                <a:ea typeface="宋体" panose="02010600030101010101" pitchFamily="2" charset="-122"/>
              </a:rPr>
              <a:t>D  </a:t>
            </a:r>
            <a:r>
              <a:rPr lang="zh-CN" altLang="en-US" sz="2400" dirty="0">
                <a:solidFill>
                  <a:srgbClr val="336699"/>
                </a:solidFill>
                <a:latin typeface="Arial" panose="020B0604020202020204" pitchFamily="34" charset="0"/>
                <a:ea typeface="宋体" panose="02010600030101010101" pitchFamily="2" charset="-122"/>
              </a:rPr>
              <a:t>时效性，科学性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87107" name="Text Box 3"/>
          <p:cNvSpPr txBox="1">
            <a:spLocks noChangeArrowheads="1"/>
          </p:cNvSpPr>
          <p:nvPr/>
        </p:nvSpPr>
        <p:spPr bwMode="auto">
          <a:xfrm>
            <a:off x="611188" y="7651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C</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7108" name="Text Box 4"/>
          <p:cNvSpPr txBox="1">
            <a:spLocks noChangeArrowheads="1"/>
          </p:cNvSpPr>
          <p:nvPr/>
        </p:nvSpPr>
        <p:spPr bwMode="auto">
          <a:xfrm>
            <a:off x="7885113" y="2420938"/>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D</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7109" name="Text Box 5"/>
          <p:cNvSpPr txBox="1">
            <a:spLocks noChangeArrowheads="1"/>
          </p:cNvSpPr>
          <p:nvPr/>
        </p:nvSpPr>
        <p:spPr bwMode="auto">
          <a:xfrm>
            <a:off x="4932363" y="7651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C</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7110" name="Text Box 6"/>
          <p:cNvSpPr txBox="1">
            <a:spLocks noChangeArrowheads="1"/>
          </p:cNvSpPr>
          <p:nvPr/>
        </p:nvSpPr>
        <p:spPr bwMode="auto">
          <a:xfrm>
            <a:off x="6227763" y="4292600"/>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B</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87106">
                                            <p:txEl>
                                              <p:charRg st="0" end="53"/>
                                            </p:txEl>
                                          </p:spTgt>
                                        </p:tgtEl>
                                        <p:attrNameLst>
                                          <p:attrName>style.visibility</p:attrName>
                                        </p:attrNameLst>
                                      </p:cBhvr>
                                      <p:to>
                                        <p:strVal val="visible"/>
                                      </p:to>
                                    </p:set>
                                    <p:animEffect transition="in" filter="slide(fromBottom)">
                                      <p:cBhvr>
                                        <p:cTn id="7" dur="500"/>
                                        <p:tgtEl>
                                          <p:spTgt spid="687106">
                                            <p:txEl>
                                              <p:charRg st="0" end="53"/>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687106">
                                            <p:txEl>
                                              <p:charRg st="53" end="75"/>
                                            </p:txEl>
                                          </p:spTgt>
                                        </p:tgtEl>
                                        <p:attrNameLst>
                                          <p:attrName>style.visibility</p:attrName>
                                        </p:attrNameLst>
                                      </p:cBhvr>
                                      <p:to>
                                        <p:strVal val="visible"/>
                                      </p:to>
                                    </p:set>
                                    <p:animEffect transition="in" filter="slide(fromBottom)">
                                      <p:cBhvr>
                                        <p:cTn id="10" dur="500"/>
                                        <p:tgtEl>
                                          <p:spTgt spid="687106">
                                            <p:txEl>
                                              <p:charRg st="53" end="75"/>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687106">
                                            <p:txEl>
                                              <p:charRg st="75" end="97"/>
                                            </p:txEl>
                                          </p:spTgt>
                                        </p:tgtEl>
                                        <p:attrNameLst>
                                          <p:attrName>style.visibility</p:attrName>
                                        </p:attrNameLst>
                                      </p:cBhvr>
                                      <p:to>
                                        <p:strVal val="visible"/>
                                      </p:to>
                                    </p:set>
                                    <p:animEffect transition="in" filter="slide(fromBottom)">
                                      <p:cBhvr>
                                        <p:cTn id="13" dur="500"/>
                                        <p:tgtEl>
                                          <p:spTgt spid="687106">
                                            <p:txEl>
                                              <p:charRg st="75" end="97"/>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687106">
                                            <p:txEl>
                                              <p:charRg st="97" end="127"/>
                                            </p:txEl>
                                          </p:spTgt>
                                        </p:tgtEl>
                                        <p:attrNameLst>
                                          <p:attrName>style.visibility</p:attrName>
                                        </p:attrNameLst>
                                      </p:cBhvr>
                                      <p:to>
                                        <p:strVal val="visible"/>
                                      </p:to>
                                    </p:set>
                                    <p:animEffect transition="in" filter="slide(fromBottom)">
                                      <p:cBhvr>
                                        <p:cTn id="16" dur="500"/>
                                        <p:tgtEl>
                                          <p:spTgt spid="687106">
                                            <p:txEl>
                                              <p:charRg st="97" end="127"/>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687106">
                                            <p:txEl>
                                              <p:charRg st="127" end="164"/>
                                            </p:txEl>
                                          </p:spTgt>
                                        </p:tgtEl>
                                        <p:attrNameLst>
                                          <p:attrName>style.visibility</p:attrName>
                                        </p:attrNameLst>
                                      </p:cBhvr>
                                      <p:to>
                                        <p:strVal val="visible"/>
                                      </p:to>
                                    </p:set>
                                    <p:animEffect transition="in" filter="slide(fromBottom)">
                                      <p:cBhvr>
                                        <p:cTn id="19" dur="500"/>
                                        <p:tgtEl>
                                          <p:spTgt spid="687106">
                                            <p:txEl>
                                              <p:charRg st="127" end="164"/>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687106">
                                            <p:txEl>
                                              <p:charRg st="164" end="244"/>
                                            </p:txEl>
                                          </p:spTgt>
                                        </p:tgtEl>
                                        <p:attrNameLst>
                                          <p:attrName>style.visibility</p:attrName>
                                        </p:attrNameLst>
                                      </p:cBhvr>
                                      <p:to>
                                        <p:strVal val="visible"/>
                                      </p:to>
                                    </p:set>
                                    <p:animEffect transition="in" filter="slide(fromBottom)">
                                      <p:cBhvr>
                                        <p:cTn id="22" dur="500"/>
                                        <p:tgtEl>
                                          <p:spTgt spid="687106">
                                            <p:txEl>
                                              <p:charRg st="164" end="244"/>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687106">
                                            <p:txEl>
                                              <p:charRg st="244" end="269"/>
                                            </p:txEl>
                                          </p:spTgt>
                                        </p:tgtEl>
                                        <p:attrNameLst>
                                          <p:attrName>style.visibility</p:attrName>
                                        </p:attrNameLst>
                                      </p:cBhvr>
                                      <p:to>
                                        <p:strVal val="visible"/>
                                      </p:to>
                                    </p:set>
                                    <p:animEffect transition="in" filter="slide(fromBottom)">
                                      <p:cBhvr>
                                        <p:cTn id="25" dur="500"/>
                                        <p:tgtEl>
                                          <p:spTgt spid="687106">
                                            <p:txEl>
                                              <p:charRg st="244" end="269"/>
                                            </p:txEl>
                                          </p:spTgt>
                                        </p:tgtEl>
                                      </p:cBhvr>
                                    </p:animEffect>
                                  </p:childTnLst>
                                </p:cTn>
                              </p:par>
                              <p:par>
                                <p:cTn id="26" presetID="12" presetClass="entr" presetSubtype="4" fill="hold" nodeType="withEffect">
                                  <p:stCondLst>
                                    <p:cond delay="0"/>
                                  </p:stCondLst>
                                  <p:childTnLst>
                                    <p:set>
                                      <p:cBhvr>
                                        <p:cTn id="27" dur="1" fill="hold">
                                          <p:stCondLst>
                                            <p:cond delay="0"/>
                                          </p:stCondLst>
                                        </p:cTn>
                                        <p:tgtEl>
                                          <p:spTgt spid="687106">
                                            <p:txEl>
                                              <p:charRg st="269" end="294"/>
                                            </p:txEl>
                                          </p:spTgt>
                                        </p:tgtEl>
                                        <p:attrNameLst>
                                          <p:attrName>style.visibility</p:attrName>
                                        </p:attrNameLst>
                                      </p:cBhvr>
                                      <p:to>
                                        <p:strVal val="visible"/>
                                      </p:to>
                                    </p:set>
                                    <p:animEffect transition="in" filter="slide(fromBottom)">
                                      <p:cBhvr>
                                        <p:cTn id="28" dur="500"/>
                                        <p:tgtEl>
                                          <p:spTgt spid="687106">
                                            <p:txEl>
                                              <p:charRg st="269" end="29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4" fill="hold" grpId="0" nodeType="clickEffect">
                                  <p:stCondLst>
                                    <p:cond delay="0"/>
                                  </p:stCondLst>
                                  <p:childTnLst>
                                    <p:set>
                                      <p:cBhvr>
                                        <p:cTn id="32" dur="1" fill="hold">
                                          <p:stCondLst>
                                            <p:cond delay="0"/>
                                          </p:stCondLst>
                                        </p:cTn>
                                        <p:tgtEl>
                                          <p:spTgt spid="687107"/>
                                        </p:tgtEl>
                                        <p:attrNameLst>
                                          <p:attrName>style.visibility</p:attrName>
                                        </p:attrNameLst>
                                      </p:cBhvr>
                                      <p:to>
                                        <p:strVal val="visible"/>
                                      </p:to>
                                    </p:set>
                                    <p:animEffect transition="in" filter="wheel(4)">
                                      <p:cBhvr>
                                        <p:cTn id="33" dur="2000"/>
                                        <p:tgtEl>
                                          <p:spTgt spid="687107"/>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4" fill="hold" grpId="0" nodeType="clickEffect">
                                  <p:stCondLst>
                                    <p:cond delay="0"/>
                                  </p:stCondLst>
                                  <p:childTnLst>
                                    <p:set>
                                      <p:cBhvr>
                                        <p:cTn id="37" dur="1" fill="hold">
                                          <p:stCondLst>
                                            <p:cond delay="0"/>
                                          </p:stCondLst>
                                        </p:cTn>
                                        <p:tgtEl>
                                          <p:spTgt spid="687109"/>
                                        </p:tgtEl>
                                        <p:attrNameLst>
                                          <p:attrName>style.visibility</p:attrName>
                                        </p:attrNameLst>
                                      </p:cBhvr>
                                      <p:to>
                                        <p:strVal val="visible"/>
                                      </p:to>
                                    </p:set>
                                    <p:animEffect transition="in" filter="wheel(4)">
                                      <p:cBhvr>
                                        <p:cTn id="38" dur="2000"/>
                                        <p:tgtEl>
                                          <p:spTgt spid="687109"/>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4" fill="hold" grpId="0" nodeType="clickEffect">
                                  <p:stCondLst>
                                    <p:cond delay="0"/>
                                  </p:stCondLst>
                                  <p:childTnLst>
                                    <p:set>
                                      <p:cBhvr>
                                        <p:cTn id="42" dur="1" fill="hold">
                                          <p:stCondLst>
                                            <p:cond delay="0"/>
                                          </p:stCondLst>
                                        </p:cTn>
                                        <p:tgtEl>
                                          <p:spTgt spid="687108"/>
                                        </p:tgtEl>
                                        <p:attrNameLst>
                                          <p:attrName>style.visibility</p:attrName>
                                        </p:attrNameLst>
                                      </p:cBhvr>
                                      <p:to>
                                        <p:strVal val="visible"/>
                                      </p:to>
                                    </p:set>
                                    <p:animEffect transition="in" filter="wheel(4)">
                                      <p:cBhvr>
                                        <p:cTn id="43" dur="2000"/>
                                        <p:tgtEl>
                                          <p:spTgt spid="687108"/>
                                        </p:tgtEl>
                                      </p:cBhvr>
                                    </p:animEffect>
                                  </p:childTnLst>
                                </p:cTn>
                              </p:par>
                            </p:childTnLst>
                          </p:cTn>
                        </p:par>
                      </p:childTnLst>
                    </p:cTn>
                  </p:par>
                  <p:par>
                    <p:cTn id="44" fill="hold">
                      <p:stCondLst>
                        <p:cond delay="indefinite"/>
                      </p:stCondLst>
                      <p:childTnLst>
                        <p:par>
                          <p:cTn id="45" fill="hold">
                            <p:stCondLst>
                              <p:cond delay="0"/>
                            </p:stCondLst>
                            <p:childTnLst>
                              <p:par>
                                <p:cTn id="46" presetID="21" presetClass="entr" presetSubtype="4" fill="hold" grpId="0" nodeType="clickEffect">
                                  <p:stCondLst>
                                    <p:cond delay="0"/>
                                  </p:stCondLst>
                                  <p:childTnLst>
                                    <p:set>
                                      <p:cBhvr>
                                        <p:cTn id="47" dur="1" fill="hold">
                                          <p:stCondLst>
                                            <p:cond delay="0"/>
                                          </p:stCondLst>
                                        </p:cTn>
                                        <p:tgtEl>
                                          <p:spTgt spid="687110"/>
                                        </p:tgtEl>
                                        <p:attrNameLst>
                                          <p:attrName>style.visibility</p:attrName>
                                        </p:attrNameLst>
                                      </p:cBhvr>
                                      <p:to>
                                        <p:strVal val="visible"/>
                                      </p:to>
                                    </p:set>
                                    <p:animEffect transition="in" filter="wheel(4)">
                                      <p:cBhvr>
                                        <p:cTn id="48" dur="2000"/>
                                        <p:tgtEl>
                                          <p:spTgt spid="687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07" grpId="0"/>
      <p:bldP spid="687108" grpId="0"/>
      <p:bldP spid="687109" grpId="0"/>
      <p:bldP spid="6871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8130" name="Text Box 2"/>
          <p:cNvSpPr txBox="1">
            <a:spLocks noChangeArrowheads="1"/>
          </p:cNvSpPr>
          <p:nvPr/>
        </p:nvSpPr>
        <p:spPr bwMode="auto">
          <a:xfrm>
            <a:off x="323850" y="404813"/>
            <a:ext cx="8497888"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kern="1200" cap="none" spc="0" normalizeH="0" baseline="0" noProof="0">
                <a:solidFill>
                  <a:srgbClr val="336699"/>
                </a:solidFill>
                <a:latin typeface="Arial" panose="020B0604020202020204" pitchFamily="34" charset="0"/>
                <a:ea typeface="宋体" panose="02010600030101010101" pitchFamily="2" charset="-122"/>
                <a:cs typeface="+mn-cs"/>
              </a:rPr>
              <a:t>（</a:t>
            </a:r>
            <a:r>
              <a:rPr kumimoji="0" lang="zh-CN" altLang="en-US"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6</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）通信建设工程预算定额适用于通信工程的新建、扩建工程，（  ）可参照使用。</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A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恢复工程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B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大修工程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C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维修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D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改建工程</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7</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）在预算定额中，主要材料包括（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A</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、直接使用量、运输损耗量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B</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、直接使用量和预留量</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C</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、直接使用量和规定的损耗量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D</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、预留量和运输损耗量</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8</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）现行通信建设工程预算定额编制原则</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贯彻执行（  ）、（  ）、（  ）的原则</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A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控制量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B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量价分离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C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简明适用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D</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技普分开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p:txBody>
      </p:sp>
      <p:sp>
        <p:nvSpPr>
          <p:cNvPr id="688131" name="Text Box 3"/>
          <p:cNvSpPr txBox="1">
            <a:spLocks noChangeArrowheads="1"/>
          </p:cNvSpPr>
          <p:nvPr/>
        </p:nvSpPr>
        <p:spPr bwMode="auto">
          <a:xfrm>
            <a:off x="1187450" y="7651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D</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8132" name="Text Box 4"/>
          <p:cNvSpPr txBox="1">
            <a:spLocks noChangeArrowheads="1"/>
          </p:cNvSpPr>
          <p:nvPr/>
        </p:nvSpPr>
        <p:spPr bwMode="auto">
          <a:xfrm>
            <a:off x="7524750" y="3500438"/>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8133" name="Text Box 5"/>
          <p:cNvSpPr txBox="1">
            <a:spLocks noChangeArrowheads="1"/>
          </p:cNvSpPr>
          <p:nvPr/>
        </p:nvSpPr>
        <p:spPr bwMode="auto">
          <a:xfrm>
            <a:off x="5292725" y="18446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C</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8134" name="Text Box 6"/>
          <p:cNvSpPr txBox="1">
            <a:spLocks noChangeArrowheads="1"/>
          </p:cNvSpPr>
          <p:nvPr/>
        </p:nvSpPr>
        <p:spPr bwMode="auto">
          <a:xfrm>
            <a:off x="611188" y="3860800"/>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B</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8135" name="Text Box 7"/>
          <p:cNvSpPr txBox="1">
            <a:spLocks noChangeArrowheads="1"/>
          </p:cNvSpPr>
          <p:nvPr/>
        </p:nvSpPr>
        <p:spPr bwMode="auto">
          <a:xfrm>
            <a:off x="1692275" y="3860800"/>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D</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88130">
                                            <p:txEl>
                                              <p:charRg st="0" end="41"/>
                                            </p:txEl>
                                          </p:spTgt>
                                        </p:tgtEl>
                                        <p:attrNameLst>
                                          <p:attrName>style.visibility</p:attrName>
                                        </p:attrNameLst>
                                      </p:cBhvr>
                                      <p:to>
                                        <p:strVal val="visible"/>
                                      </p:to>
                                    </p:set>
                                    <p:animEffect transition="in" filter="slide(fromBottom)">
                                      <p:cBhvr>
                                        <p:cTn id="7" dur="500"/>
                                        <p:tgtEl>
                                          <p:spTgt spid="688130">
                                            <p:txEl>
                                              <p:charRg st="0" end="4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688130">
                                            <p:txEl>
                                              <p:charRg st="41" end="80"/>
                                            </p:txEl>
                                          </p:spTgt>
                                        </p:tgtEl>
                                        <p:attrNameLst>
                                          <p:attrName>style.visibility</p:attrName>
                                        </p:attrNameLst>
                                      </p:cBhvr>
                                      <p:to>
                                        <p:strVal val="visible"/>
                                      </p:to>
                                    </p:set>
                                    <p:animEffect transition="in" filter="slide(fromBottom)">
                                      <p:cBhvr>
                                        <p:cTn id="10" dur="500"/>
                                        <p:tgtEl>
                                          <p:spTgt spid="688130">
                                            <p:txEl>
                                              <p:charRg st="41" end="80"/>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688130">
                                            <p:txEl>
                                              <p:charRg st="80" end="102"/>
                                            </p:txEl>
                                          </p:spTgt>
                                        </p:tgtEl>
                                        <p:attrNameLst>
                                          <p:attrName>style.visibility</p:attrName>
                                        </p:attrNameLst>
                                      </p:cBhvr>
                                      <p:to>
                                        <p:strVal val="visible"/>
                                      </p:to>
                                    </p:set>
                                    <p:animEffect transition="in" filter="slide(fromBottom)">
                                      <p:cBhvr>
                                        <p:cTn id="13" dur="500"/>
                                        <p:tgtEl>
                                          <p:spTgt spid="688130">
                                            <p:txEl>
                                              <p:charRg st="80" end="102"/>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688130">
                                            <p:txEl>
                                              <p:charRg st="102" end="131"/>
                                            </p:txEl>
                                          </p:spTgt>
                                        </p:tgtEl>
                                        <p:attrNameLst>
                                          <p:attrName>style.visibility</p:attrName>
                                        </p:attrNameLst>
                                      </p:cBhvr>
                                      <p:to>
                                        <p:strVal val="visible"/>
                                      </p:to>
                                    </p:set>
                                    <p:animEffect transition="in" filter="slide(fromBottom)">
                                      <p:cBhvr>
                                        <p:cTn id="16" dur="500"/>
                                        <p:tgtEl>
                                          <p:spTgt spid="688130">
                                            <p:txEl>
                                              <p:charRg st="102" end="131"/>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688130">
                                            <p:txEl>
                                              <p:charRg st="131" end="159"/>
                                            </p:txEl>
                                          </p:spTgt>
                                        </p:tgtEl>
                                        <p:attrNameLst>
                                          <p:attrName>style.visibility</p:attrName>
                                        </p:attrNameLst>
                                      </p:cBhvr>
                                      <p:to>
                                        <p:strVal val="visible"/>
                                      </p:to>
                                    </p:set>
                                    <p:animEffect transition="in" filter="slide(fromBottom)">
                                      <p:cBhvr>
                                        <p:cTn id="19" dur="500"/>
                                        <p:tgtEl>
                                          <p:spTgt spid="688130">
                                            <p:txEl>
                                              <p:charRg st="131" end="159"/>
                                            </p:txEl>
                                          </p:spTgt>
                                        </p:tgtEl>
                                      </p:cBhvr>
                                    </p:animEffect>
                                  </p:childTnLst>
                                </p:cTn>
                              </p:par>
                              <p:par>
                                <p:cTn id="20" presetID="12" presetClass="entr" presetSubtype="4" fill="hold" nodeType="withEffect">
                                  <p:stCondLst>
                                    <p:cond delay="0"/>
                                  </p:stCondLst>
                                  <p:childTnLst>
                                    <p:set>
                                      <p:cBhvr>
                                        <p:cTn id="21" dur="1" fill="hold">
                                          <p:stCondLst>
                                            <p:cond delay="0"/>
                                          </p:stCondLst>
                                        </p:cTn>
                                        <p:tgtEl>
                                          <p:spTgt spid="688130">
                                            <p:txEl>
                                              <p:charRg st="159" end="201"/>
                                            </p:txEl>
                                          </p:spTgt>
                                        </p:tgtEl>
                                        <p:attrNameLst>
                                          <p:attrName>style.visibility</p:attrName>
                                        </p:attrNameLst>
                                      </p:cBhvr>
                                      <p:to>
                                        <p:strVal val="visible"/>
                                      </p:to>
                                    </p:set>
                                    <p:animEffect transition="in" filter="slide(fromBottom)">
                                      <p:cBhvr>
                                        <p:cTn id="22" dur="500"/>
                                        <p:tgtEl>
                                          <p:spTgt spid="688130">
                                            <p:txEl>
                                              <p:charRg st="159" end="201"/>
                                            </p:txEl>
                                          </p:spTgt>
                                        </p:tgtEl>
                                      </p:cBhvr>
                                    </p:animEffect>
                                  </p:childTnLst>
                                </p:cTn>
                              </p:par>
                              <p:par>
                                <p:cTn id="23" presetID="12" presetClass="entr" presetSubtype="4" fill="hold" nodeType="withEffect">
                                  <p:stCondLst>
                                    <p:cond delay="0"/>
                                  </p:stCondLst>
                                  <p:childTnLst>
                                    <p:set>
                                      <p:cBhvr>
                                        <p:cTn id="24" dur="1" fill="hold">
                                          <p:stCondLst>
                                            <p:cond delay="0"/>
                                          </p:stCondLst>
                                        </p:cTn>
                                        <p:tgtEl>
                                          <p:spTgt spid="688130">
                                            <p:txEl>
                                              <p:charRg st="201" end="239"/>
                                            </p:txEl>
                                          </p:spTgt>
                                        </p:tgtEl>
                                        <p:attrNameLst>
                                          <p:attrName>style.visibility</p:attrName>
                                        </p:attrNameLst>
                                      </p:cBhvr>
                                      <p:to>
                                        <p:strVal val="visible"/>
                                      </p:to>
                                    </p:set>
                                    <p:animEffect transition="in" filter="slide(fromBottom)">
                                      <p:cBhvr>
                                        <p:cTn id="25" dur="500"/>
                                        <p:tgtEl>
                                          <p:spTgt spid="688130">
                                            <p:txEl>
                                              <p:charRg st="201" end="239"/>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4" fill="hold" grpId="0" nodeType="clickEffect">
                                  <p:stCondLst>
                                    <p:cond delay="0"/>
                                  </p:stCondLst>
                                  <p:childTnLst>
                                    <p:set>
                                      <p:cBhvr>
                                        <p:cTn id="29" dur="1" fill="hold">
                                          <p:stCondLst>
                                            <p:cond delay="0"/>
                                          </p:stCondLst>
                                        </p:cTn>
                                        <p:tgtEl>
                                          <p:spTgt spid="688131"/>
                                        </p:tgtEl>
                                        <p:attrNameLst>
                                          <p:attrName>style.visibility</p:attrName>
                                        </p:attrNameLst>
                                      </p:cBhvr>
                                      <p:to>
                                        <p:strVal val="visible"/>
                                      </p:to>
                                    </p:set>
                                    <p:animEffect transition="in" filter="wheel(4)">
                                      <p:cBhvr>
                                        <p:cTn id="30" dur="2000"/>
                                        <p:tgtEl>
                                          <p:spTgt spid="688131"/>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4" fill="hold" grpId="0" nodeType="clickEffect">
                                  <p:stCondLst>
                                    <p:cond delay="0"/>
                                  </p:stCondLst>
                                  <p:childTnLst>
                                    <p:set>
                                      <p:cBhvr>
                                        <p:cTn id="34" dur="1" fill="hold">
                                          <p:stCondLst>
                                            <p:cond delay="0"/>
                                          </p:stCondLst>
                                        </p:cTn>
                                        <p:tgtEl>
                                          <p:spTgt spid="688133"/>
                                        </p:tgtEl>
                                        <p:attrNameLst>
                                          <p:attrName>style.visibility</p:attrName>
                                        </p:attrNameLst>
                                      </p:cBhvr>
                                      <p:to>
                                        <p:strVal val="visible"/>
                                      </p:to>
                                    </p:set>
                                    <p:animEffect transition="in" filter="wheel(4)">
                                      <p:cBhvr>
                                        <p:cTn id="35" dur="2000"/>
                                        <p:tgtEl>
                                          <p:spTgt spid="688133"/>
                                        </p:tgtEl>
                                      </p:cBhvr>
                                    </p:animEffect>
                                  </p:childTnLst>
                                </p:cTn>
                              </p:par>
                            </p:childTnLst>
                          </p:cTn>
                        </p:par>
                      </p:childTnLst>
                    </p:cTn>
                  </p:par>
                  <p:par>
                    <p:cTn id="36" fill="hold">
                      <p:stCondLst>
                        <p:cond delay="indefinite"/>
                      </p:stCondLst>
                      <p:childTnLst>
                        <p:par>
                          <p:cTn id="37" fill="hold">
                            <p:stCondLst>
                              <p:cond delay="0"/>
                            </p:stCondLst>
                            <p:childTnLst>
                              <p:par>
                                <p:cTn id="38" presetID="21" presetClass="entr" presetSubtype="4" fill="hold" grpId="0" nodeType="clickEffect">
                                  <p:stCondLst>
                                    <p:cond delay="0"/>
                                  </p:stCondLst>
                                  <p:childTnLst>
                                    <p:set>
                                      <p:cBhvr>
                                        <p:cTn id="39" dur="1" fill="hold">
                                          <p:stCondLst>
                                            <p:cond delay="0"/>
                                          </p:stCondLst>
                                        </p:cTn>
                                        <p:tgtEl>
                                          <p:spTgt spid="688132"/>
                                        </p:tgtEl>
                                        <p:attrNameLst>
                                          <p:attrName>style.visibility</p:attrName>
                                        </p:attrNameLst>
                                      </p:cBhvr>
                                      <p:to>
                                        <p:strVal val="visible"/>
                                      </p:to>
                                    </p:set>
                                    <p:animEffect transition="in" filter="wheel(4)">
                                      <p:cBhvr>
                                        <p:cTn id="40" dur="2000"/>
                                        <p:tgtEl>
                                          <p:spTgt spid="688132"/>
                                        </p:tgtEl>
                                      </p:cBhvr>
                                    </p:animEffect>
                                  </p:childTnLst>
                                </p:cTn>
                              </p:par>
                            </p:childTnLst>
                          </p:cTn>
                        </p:par>
                      </p:childTnLst>
                    </p:cTn>
                  </p:par>
                  <p:par>
                    <p:cTn id="41" fill="hold">
                      <p:stCondLst>
                        <p:cond delay="indefinite"/>
                      </p:stCondLst>
                      <p:childTnLst>
                        <p:par>
                          <p:cTn id="42" fill="hold">
                            <p:stCondLst>
                              <p:cond delay="0"/>
                            </p:stCondLst>
                            <p:childTnLst>
                              <p:par>
                                <p:cTn id="43" presetID="21" presetClass="entr" presetSubtype="4" fill="hold" grpId="0" nodeType="clickEffect">
                                  <p:stCondLst>
                                    <p:cond delay="0"/>
                                  </p:stCondLst>
                                  <p:childTnLst>
                                    <p:set>
                                      <p:cBhvr>
                                        <p:cTn id="44" dur="1" fill="hold">
                                          <p:stCondLst>
                                            <p:cond delay="0"/>
                                          </p:stCondLst>
                                        </p:cTn>
                                        <p:tgtEl>
                                          <p:spTgt spid="688134"/>
                                        </p:tgtEl>
                                        <p:attrNameLst>
                                          <p:attrName>style.visibility</p:attrName>
                                        </p:attrNameLst>
                                      </p:cBhvr>
                                      <p:to>
                                        <p:strVal val="visible"/>
                                      </p:to>
                                    </p:set>
                                    <p:animEffect transition="in" filter="wheel(4)">
                                      <p:cBhvr>
                                        <p:cTn id="45" dur="2000"/>
                                        <p:tgtEl>
                                          <p:spTgt spid="688134"/>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4" fill="hold" grpId="0" nodeType="clickEffect">
                                  <p:stCondLst>
                                    <p:cond delay="0"/>
                                  </p:stCondLst>
                                  <p:childTnLst>
                                    <p:set>
                                      <p:cBhvr>
                                        <p:cTn id="49" dur="1" fill="hold">
                                          <p:stCondLst>
                                            <p:cond delay="0"/>
                                          </p:stCondLst>
                                        </p:cTn>
                                        <p:tgtEl>
                                          <p:spTgt spid="688135"/>
                                        </p:tgtEl>
                                        <p:attrNameLst>
                                          <p:attrName>style.visibility</p:attrName>
                                        </p:attrNameLst>
                                      </p:cBhvr>
                                      <p:to>
                                        <p:strVal val="visible"/>
                                      </p:to>
                                    </p:set>
                                    <p:animEffect transition="in" filter="wheel(4)">
                                      <p:cBhvr>
                                        <p:cTn id="50" dur="2000"/>
                                        <p:tgtEl>
                                          <p:spTgt spid="688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131" grpId="0"/>
      <p:bldP spid="688132" grpId="0"/>
      <p:bldP spid="688133" grpId="0"/>
      <p:bldP spid="688134" grpId="0"/>
      <p:bldP spid="68813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9154" name="Text Box 2"/>
          <p:cNvSpPr txBox="1"/>
          <p:nvPr/>
        </p:nvSpPr>
        <p:spPr>
          <a:xfrm>
            <a:off x="323850" y="404813"/>
            <a:ext cx="8497888" cy="3378200"/>
          </a:xfrm>
          <a:prstGeom prst="rect">
            <a:avLst/>
          </a:prstGeom>
          <a:noFill/>
          <a:ln w="9525">
            <a:noFill/>
          </a:ln>
        </p:spPr>
        <p:txBody>
          <a:bodyPr anchor="t" anchorCtr="0">
            <a:spAutoFit/>
          </a:bodyPr>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9</a:t>
            </a:r>
            <a:r>
              <a:rPr lang="zh-CN" altLang="en-US" sz="2400" dirty="0">
                <a:solidFill>
                  <a:srgbClr val="336699"/>
                </a:solidFill>
                <a:latin typeface="Arial" panose="020B0604020202020204" pitchFamily="34" charset="0"/>
                <a:ea typeface="宋体" panose="02010600030101010101" pitchFamily="2" charset="-122"/>
              </a:rPr>
              <a:t>）在通信建设工程预算定额中土石质划分为普通土、硬土、软石和</a:t>
            </a:r>
            <a:r>
              <a:rPr lang="en-US" altLang="zh-CN" sz="2400"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A </a:t>
            </a:r>
            <a:r>
              <a:rPr lang="zh-CN" altLang="en-US" sz="2400" dirty="0">
                <a:solidFill>
                  <a:srgbClr val="336699"/>
                </a:solidFill>
                <a:latin typeface="Arial" panose="020B0604020202020204" pitchFamily="34" charset="0"/>
                <a:ea typeface="宋体" panose="02010600030101010101" pitchFamily="2" charset="-122"/>
              </a:rPr>
              <a:t>粘土        </a:t>
            </a:r>
            <a:r>
              <a:rPr lang="en-US" altLang="zh-CN" sz="2400" dirty="0">
                <a:solidFill>
                  <a:srgbClr val="336699"/>
                </a:solidFill>
                <a:latin typeface="Arial" panose="020B0604020202020204" pitchFamily="34" charset="0"/>
                <a:ea typeface="宋体" panose="02010600030101010101" pitchFamily="2" charset="-122"/>
              </a:rPr>
              <a:t>B </a:t>
            </a:r>
            <a:r>
              <a:rPr lang="zh-CN" altLang="en-US" sz="2400" dirty="0">
                <a:solidFill>
                  <a:srgbClr val="336699"/>
                </a:solidFill>
                <a:latin typeface="Arial" panose="020B0604020202020204" pitchFamily="34" charset="0"/>
                <a:ea typeface="宋体" panose="02010600030101010101" pitchFamily="2" charset="-122"/>
              </a:rPr>
              <a:t>坚石      </a:t>
            </a:r>
            <a:r>
              <a:rPr lang="en-US" altLang="zh-CN" sz="2400" dirty="0">
                <a:solidFill>
                  <a:srgbClr val="336699"/>
                </a:solidFill>
                <a:latin typeface="Arial" panose="020B0604020202020204" pitchFamily="34" charset="0"/>
                <a:ea typeface="宋体" panose="02010600030101010101" pitchFamily="2" charset="-122"/>
              </a:rPr>
              <a:t>C </a:t>
            </a:r>
            <a:r>
              <a:rPr lang="zh-CN" altLang="en-US" sz="2400" dirty="0">
                <a:solidFill>
                  <a:srgbClr val="336699"/>
                </a:solidFill>
                <a:latin typeface="Arial" panose="020B0604020202020204" pitchFamily="34" charset="0"/>
                <a:ea typeface="宋体" panose="02010600030101010101" pitchFamily="2" charset="-122"/>
              </a:rPr>
              <a:t>沙土      </a:t>
            </a:r>
            <a:r>
              <a:rPr lang="en-US" altLang="zh-CN" sz="2400" dirty="0">
                <a:solidFill>
                  <a:srgbClr val="336699"/>
                </a:solidFill>
                <a:latin typeface="Arial" panose="020B0604020202020204" pitchFamily="34" charset="0"/>
                <a:ea typeface="宋体" panose="02010600030101010101" pitchFamily="2" charset="-122"/>
              </a:rPr>
              <a:t>D </a:t>
            </a:r>
            <a:r>
              <a:rPr lang="zh-CN" altLang="en-US" sz="2400" dirty="0">
                <a:solidFill>
                  <a:srgbClr val="336699"/>
                </a:solidFill>
                <a:latin typeface="Arial" panose="020B0604020202020204" pitchFamily="34" charset="0"/>
                <a:ea typeface="宋体" panose="02010600030101010101" pitchFamily="2" charset="-122"/>
              </a:rPr>
              <a:t>砂砾土</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10</a:t>
            </a:r>
            <a:r>
              <a:rPr lang="zh-CN" altLang="en-US" sz="2400" dirty="0">
                <a:solidFill>
                  <a:srgbClr val="336699"/>
                </a:solidFill>
                <a:latin typeface="Arial" panose="020B0604020202020204" pitchFamily="34" charset="0"/>
                <a:ea typeface="宋体" panose="02010600030101010101" pitchFamily="2" charset="-122"/>
              </a:rPr>
              <a:t>）通信线路工程的总工日为（   ），需要按预算定额规定的</a:t>
            </a:r>
            <a:r>
              <a:rPr lang="en-US" altLang="zh-CN" sz="2400" dirty="0">
                <a:solidFill>
                  <a:srgbClr val="336699"/>
                </a:solidFill>
                <a:latin typeface="Arial" panose="020B0604020202020204" pitchFamily="34" charset="0"/>
                <a:ea typeface="宋体" panose="02010600030101010101" pitchFamily="2" charset="-122"/>
              </a:rPr>
              <a:t>15%</a:t>
            </a:r>
            <a:r>
              <a:rPr lang="zh-CN" altLang="en-US" sz="2400" dirty="0">
                <a:solidFill>
                  <a:srgbClr val="336699"/>
                </a:solidFill>
                <a:latin typeface="Arial" panose="020B0604020202020204" pitchFamily="34" charset="0"/>
                <a:ea typeface="宋体" panose="02010600030101010101" pitchFamily="2" charset="-122"/>
              </a:rPr>
              <a:t>调增系数进行调整。</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A </a:t>
            </a:r>
            <a:r>
              <a:rPr lang="zh-CN" altLang="en-US" sz="2400" dirty="0">
                <a:solidFill>
                  <a:srgbClr val="336699"/>
                </a:solidFill>
                <a:latin typeface="Arial" panose="020B0604020202020204" pitchFamily="34" charset="0"/>
                <a:ea typeface="宋体" panose="02010600030101010101" pitchFamily="2" charset="-122"/>
              </a:rPr>
              <a:t>不足</a:t>
            </a:r>
            <a:r>
              <a:rPr lang="en-US" altLang="zh-CN" sz="2400" dirty="0">
                <a:solidFill>
                  <a:srgbClr val="336699"/>
                </a:solidFill>
                <a:latin typeface="Arial" panose="020B0604020202020204" pitchFamily="34" charset="0"/>
                <a:ea typeface="宋体" panose="02010600030101010101" pitchFamily="2" charset="-122"/>
              </a:rPr>
              <a:t>100</a:t>
            </a:r>
            <a:r>
              <a:rPr lang="zh-CN" altLang="en-US" sz="2400" dirty="0">
                <a:solidFill>
                  <a:srgbClr val="336699"/>
                </a:solidFill>
                <a:latin typeface="Arial" panose="020B0604020202020204" pitchFamily="34" charset="0"/>
                <a:ea typeface="宋体" panose="02010600030101010101" pitchFamily="2" charset="-122"/>
              </a:rPr>
              <a:t>工日        </a:t>
            </a:r>
            <a:r>
              <a:rPr lang="en-US" altLang="zh-CN" sz="2400" dirty="0">
                <a:solidFill>
                  <a:srgbClr val="336699"/>
                </a:solidFill>
                <a:latin typeface="Arial" panose="020B0604020202020204" pitchFamily="34" charset="0"/>
                <a:ea typeface="宋体" panose="02010600030101010101" pitchFamily="2" charset="-122"/>
              </a:rPr>
              <a:t>B </a:t>
            </a:r>
            <a:r>
              <a:rPr lang="zh-CN" altLang="en-US" sz="2400" dirty="0">
                <a:solidFill>
                  <a:srgbClr val="336699"/>
                </a:solidFill>
                <a:latin typeface="Arial" panose="020B0604020202020204" pitchFamily="34" charset="0"/>
                <a:ea typeface="宋体" panose="02010600030101010101" pitchFamily="2" charset="-122"/>
              </a:rPr>
              <a:t>不足</a:t>
            </a:r>
            <a:r>
              <a:rPr lang="en-US" altLang="zh-CN" sz="2400" dirty="0">
                <a:solidFill>
                  <a:srgbClr val="336699"/>
                </a:solidFill>
                <a:latin typeface="Arial" panose="020B0604020202020204" pitchFamily="34" charset="0"/>
                <a:ea typeface="宋体" panose="02010600030101010101" pitchFamily="2" charset="-122"/>
              </a:rPr>
              <a:t>250</a:t>
            </a:r>
            <a:r>
              <a:rPr lang="zh-CN" altLang="en-US" sz="2400" dirty="0">
                <a:solidFill>
                  <a:srgbClr val="336699"/>
                </a:solidFill>
                <a:latin typeface="Arial" panose="020B0604020202020204" pitchFamily="34" charset="0"/>
                <a:ea typeface="宋体" panose="02010600030101010101" pitchFamily="2" charset="-122"/>
              </a:rPr>
              <a:t>工日  </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en-US" altLang="zh-CN" sz="2400" dirty="0">
                <a:solidFill>
                  <a:srgbClr val="336699"/>
                </a:solidFill>
                <a:latin typeface="Arial" panose="020B0604020202020204" pitchFamily="34" charset="0"/>
                <a:ea typeface="宋体" panose="02010600030101010101" pitchFamily="2" charset="-122"/>
              </a:rPr>
              <a:t>C </a:t>
            </a:r>
            <a:r>
              <a:rPr lang="zh-CN" altLang="en-US" sz="2400" dirty="0">
                <a:solidFill>
                  <a:srgbClr val="336699"/>
                </a:solidFill>
                <a:latin typeface="Arial" panose="020B0604020202020204" pitchFamily="34" charset="0"/>
                <a:ea typeface="宋体" panose="02010600030101010101" pitchFamily="2" charset="-122"/>
              </a:rPr>
              <a:t>等于</a:t>
            </a:r>
            <a:r>
              <a:rPr lang="en-US" altLang="zh-CN" sz="2400" dirty="0">
                <a:solidFill>
                  <a:srgbClr val="336699"/>
                </a:solidFill>
                <a:latin typeface="Arial" panose="020B0604020202020204" pitchFamily="34" charset="0"/>
                <a:ea typeface="宋体" panose="02010600030101010101" pitchFamily="2" charset="-122"/>
              </a:rPr>
              <a:t>100</a:t>
            </a:r>
            <a:r>
              <a:rPr lang="zh-CN" altLang="en-US" sz="2400" dirty="0">
                <a:solidFill>
                  <a:srgbClr val="336699"/>
                </a:solidFill>
                <a:latin typeface="Arial" panose="020B0604020202020204" pitchFamily="34" charset="0"/>
                <a:ea typeface="宋体" panose="02010600030101010101" pitchFamily="2" charset="-122"/>
              </a:rPr>
              <a:t>工日        </a:t>
            </a:r>
            <a:r>
              <a:rPr lang="en-US" altLang="zh-CN" sz="2400" dirty="0">
                <a:solidFill>
                  <a:srgbClr val="336699"/>
                </a:solidFill>
                <a:latin typeface="Arial" panose="020B0604020202020204" pitchFamily="34" charset="0"/>
                <a:ea typeface="宋体" panose="02010600030101010101" pitchFamily="2" charset="-122"/>
              </a:rPr>
              <a:t>D </a:t>
            </a:r>
            <a:r>
              <a:rPr lang="zh-CN" altLang="en-US" sz="2400" dirty="0">
                <a:solidFill>
                  <a:srgbClr val="336699"/>
                </a:solidFill>
                <a:latin typeface="Arial" panose="020B0604020202020204" pitchFamily="34" charset="0"/>
                <a:ea typeface="宋体" panose="02010600030101010101" pitchFamily="2" charset="-122"/>
              </a:rPr>
              <a:t>等于</a:t>
            </a:r>
            <a:r>
              <a:rPr lang="en-US" altLang="zh-CN" sz="2400" dirty="0">
                <a:solidFill>
                  <a:srgbClr val="336699"/>
                </a:solidFill>
                <a:latin typeface="Arial" panose="020B0604020202020204" pitchFamily="34" charset="0"/>
                <a:ea typeface="宋体" panose="02010600030101010101" pitchFamily="2" charset="-122"/>
              </a:rPr>
              <a:t>250</a:t>
            </a:r>
            <a:r>
              <a:rPr lang="zh-CN" altLang="en-US" sz="2400" dirty="0">
                <a:solidFill>
                  <a:srgbClr val="336699"/>
                </a:solidFill>
                <a:latin typeface="Arial" panose="020B0604020202020204" pitchFamily="34" charset="0"/>
                <a:ea typeface="宋体" panose="02010600030101010101" pitchFamily="2" charset="-122"/>
              </a:rPr>
              <a:t>工日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689155" name="Text Box 3"/>
          <p:cNvSpPr txBox="1">
            <a:spLocks noChangeArrowheads="1"/>
          </p:cNvSpPr>
          <p:nvPr/>
        </p:nvSpPr>
        <p:spPr bwMode="auto">
          <a:xfrm>
            <a:off x="1403350" y="7651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D</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89156" name="Text Box 4"/>
          <p:cNvSpPr txBox="1">
            <a:spLocks noChangeArrowheads="1"/>
          </p:cNvSpPr>
          <p:nvPr/>
        </p:nvSpPr>
        <p:spPr bwMode="auto">
          <a:xfrm>
            <a:off x="4932363" y="18446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C</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89154">
                                            <p:txEl>
                                              <p:charRg st="0" end="39"/>
                                            </p:txEl>
                                          </p:spTgt>
                                        </p:tgtEl>
                                        <p:attrNameLst>
                                          <p:attrName>style.visibility</p:attrName>
                                        </p:attrNameLst>
                                      </p:cBhvr>
                                      <p:to>
                                        <p:strVal val="visible"/>
                                      </p:to>
                                    </p:set>
                                    <p:animEffect transition="in" filter="slide(fromBottom)">
                                      <p:cBhvr>
                                        <p:cTn id="7" dur="500"/>
                                        <p:tgtEl>
                                          <p:spTgt spid="689154">
                                            <p:txEl>
                                              <p:charRg st="0" end="39"/>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689154">
                                            <p:txEl>
                                              <p:charRg st="39" end="77"/>
                                            </p:txEl>
                                          </p:spTgt>
                                        </p:tgtEl>
                                        <p:attrNameLst>
                                          <p:attrName>style.visibility</p:attrName>
                                        </p:attrNameLst>
                                      </p:cBhvr>
                                      <p:to>
                                        <p:strVal val="visible"/>
                                      </p:to>
                                    </p:set>
                                    <p:animEffect transition="in" filter="slide(fromBottom)">
                                      <p:cBhvr>
                                        <p:cTn id="10" dur="500"/>
                                        <p:tgtEl>
                                          <p:spTgt spid="689154">
                                            <p:txEl>
                                              <p:charRg st="39" end="77"/>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689154">
                                            <p:txEl>
                                              <p:charRg st="77" end="121"/>
                                            </p:txEl>
                                          </p:spTgt>
                                        </p:tgtEl>
                                        <p:attrNameLst>
                                          <p:attrName>style.visibility</p:attrName>
                                        </p:attrNameLst>
                                      </p:cBhvr>
                                      <p:to>
                                        <p:strVal val="visible"/>
                                      </p:to>
                                    </p:set>
                                    <p:animEffect transition="in" filter="slide(fromBottom)">
                                      <p:cBhvr>
                                        <p:cTn id="13" dur="500"/>
                                        <p:tgtEl>
                                          <p:spTgt spid="689154">
                                            <p:txEl>
                                              <p:charRg st="77" end="121"/>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689154">
                                            <p:txEl>
                                              <p:charRg st="121" end="150"/>
                                            </p:txEl>
                                          </p:spTgt>
                                        </p:tgtEl>
                                        <p:attrNameLst>
                                          <p:attrName>style.visibility</p:attrName>
                                        </p:attrNameLst>
                                      </p:cBhvr>
                                      <p:to>
                                        <p:strVal val="visible"/>
                                      </p:to>
                                    </p:set>
                                    <p:animEffect transition="in" filter="slide(fromBottom)">
                                      <p:cBhvr>
                                        <p:cTn id="16" dur="500"/>
                                        <p:tgtEl>
                                          <p:spTgt spid="689154">
                                            <p:txEl>
                                              <p:charRg st="121" end="150"/>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689154">
                                            <p:txEl>
                                              <p:charRg st="150" end="178"/>
                                            </p:txEl>
                                          </p:spTgt>
                                        </p:tgtEl>
                                        <p:attrNameLst>
                                          <p:attrName>style.visibility</p:attrName>
                                        </p:attrNameLst>
                                      </p:cBhvr>
                                      <p:to>
                                        <p:strVal val="visible"/>
                                      </p:to>
                                    </p:set>
                                    <p:animEffect transition="in" filter="slide(fromBottom)">
                                      <p:cBhvr>
                                        <p:cTn id="19" dur="500"/>
                                        <p:tgtEl>
                                          <p:spTgt spid="689154">
                                            <p:txEl>
                                              <p:charRg st="150" end="17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4" fill="hold" grpId="0" nodeType="clickEffect">
                                  <p:stCondLst>
                                    <p:cond delay="0"/>
                                  </p:stCondLst>
                                  <p:childTnLst>
                                    <p:set>
                                      <p:cBhvr>
                                        <p:cTn id="23" dur="1" fill="hold">
                                          <p:stCondLst>
                                            <p:cond delay="0"/>
                                          </p:stCondLst>
                                        </p:cTn>
                                        <p:tgtEl>
                                          <p:spTgt spid="689155"/>
                                        </p:tgtEl>
                                        <p:attrNameLst>
                                          <p:attrName>style.visibility</p:attrName>
                                        </p:attrNameLst>
                                      </p:cBhvr>
                                      <p:to>
                                        <p:strVal val="visible"/>
                                      </p:to>
                                    </p:set>
                                    <p:animEffect transition="in" filter="wheel(4)">
                                      <p:cBhvr>
                                        <p:cTn id="24" dur="2000"/>
                                        <p:tgtEl>
                                          <p:spTgt spid="689155"/>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4" fill="hold" grpId="0" nodeType="clickEffect">
                                  <p:stCondLst>
                                    <p:cond delay="0"/>
                                  </p:stCondLst>
                                  <p:childTnLst>
                                    <p:set>
                                      <p:cBhvr>
                                        <p:cTn id="28" dur="1" fill="hold">
                                          <p:stCondLst>
                                            <p:cond delay="0"/>
                                          </p:stCondLst>
                                        </p:cTn>
                                        <p:tgtEl>
                                          <p:spTgt spid="689156"/>
                                        </p:tgtEl>
                                        <p:attrNameLst>
                                          <p:attrName>style.visibility</p:attrName>
                                        </p:attrNameLst>
                                      </p:cBhvr>
                                      <p:to>
                                        <p:strVal val="visible"/>
                                      </p:to>
                                    </p:set>
                                    <p:animEffect transition="in" filter="wheel(4)">
                                      <p:cBhvr>
                                        <p:cTn id="29" dur="2000"/>
                                        <p:tgtEl>
                                          <p:spTgt spid="689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9155" grpId="0"/>
      <p:bldP spid="68915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0178" name="Rectangle 2"/>
          <p:cNvSpPr>
            <a:spLocks noGrp="1"/>
          </p:cNvSpPr>
          <p:nvPr>
            <p:ph/>
          </p:nvPr>
        </p:nvSpPr>
        <p:spPr>
          <a:xfrm>
            <a:off x="457200" y="274638"/>
            <a:ext cx="8686800" cy="4810125"/>
          </a:xfrm>
          <a:noFill/>
          <a:ln>
            <a:noFill/>
          </a:ln>
        </p:spPr>
        <p:txBody>
          <a:bodyPr anchor="t" anchorCtr="0"/>
          <a:p>
            <a:pPr>
              <a:buNone/>
            </a:pPr>
            <a:r>
              <a:rPr lang="en-US" altLang="zh-CN" sz="2800" dirty="0">
                <a:solidFill>
                  <a:srgbClr val="CC00FF"/>
                </a:solidFill>
                <a:latin typeface="华文行楷" panose="02010800040101010101" pitchFamily="2" charset="-122"/>
                <a:ea typeface="华文行楷" panose="02010800040101010101" pitchFamily="2" charset="-122"/>
              </a:rPr>
              <a:t>3 </a:t>
            </a:r>
            <a:r>
              <a:rPr lang="zh-CN" altLang="en-US" sz="2800" dirty="0">
                <a:solidFill>
                  <a:srgbClr val="CC00FF"/>
                </a:solidFill>
                <a:latin typeface="华文行楷" panose="02010800040101010101" pitchFamily="2" charset="-122"/>
                <a:ea typeface="华文行楷" panose="02010800040101010101" pitchFamily="2" charset="-122"/>
              </a:rPr>
              <a:t>判断题</a:t>
            </a:r>
            <a:endParaRPr lang="zh-CN" altLang="en-US" sz="2800" dirty="0">
              <a:solidFill>
                <a:srgbClr val="CC00FF"/>
              </a:solidFill>
              <a:latin typeface="华文行楷" panose="02010800040101010101" pitchFamily="2" charset="-122"/>
              <a:ea typeface="华文行楷" panose="02010800040101010101" pitchFamily="2" charset="-122"/>
            </a:endParaRPr>
          </a:p>
          <a:p>
            <a:pPr>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）通信建设工程初步设计阶段应编制概算。（  ）</a:t>
            </a:r>
            <a:endParaRPr lang="zh-CN" altLang="en-US" dirty="0">
              <a:ea typeface="宋体" panose="02010600030101010101" pitchFamily="2" charset="-122"/>
            </a:endParaRPr>
          </a:p>
          <a:p>
            <a:pPr>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）概算是筹备设备材料和签订订货合同的主要依据。（  ）</a:t>
            </a:r>
            <a:endParaRPr lang="zh-CN" altLang="en-US" dirty="0">
              <a:ea typeface="宋体" panose="02010600030101010101" pitchFamily="2" charset="-122"/>
            </a:endParaRPr>
          </a:p>
          <a:p>
            <a:pPr>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）定额是指一定的生产技术和劳动组织条件下，完成单位合格产品在人力、物力、财力的利用和消耗方面应当遵守的标准。（  ）</a:t>
            </a:r>
            <a:endParaRPr lang="zh-CN" altLang="en-US" dirty="0">
              <a:ea typeface="宋体" panose="02010600030101010101" pitchFamily="2" charset="-122"/>
            </a:endParaRPr>
          </a:p>
          <a:p>
            <a:pPr>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）定额子目中的人工量只包括基本用工，不包括其他各种辅助用工。（  ）</a:t>
            </a:r>
            <a:endParaRPr lang="zh-CN" altLang="en-US" dirty="0">
              <a:ea typeface="宋体" panose="02010600030101010101" pitchFamily="2" charset="-122"/>
            </a:endParaRPr>
          </a:p>
          <a:p>
            <a:pPr>
              <a:buNone/>
            </a:pPr>
            <a:r>
              <a:rPr lang="zh-CN" altLang="en-US" dirty="0">
                <a:ea typeface="宋体" panose="02010600030101010101" pitchFamily="2" charset="-122"/>
              </a:rPr>
              <a:t>（</a:t>
            </a:r>
            <a:r>
              <a:rPr lang="en-US" altLang="zh-CN" dirty="0">
                <a:ea typeface="宋体" panose="02010600030101010101" pitchFamily="2" charset="-122"/>
              </a:rPr>
              <a:t>5</a:t>
            </a:r>
            <a:r>
              <a:rPr lang="zh-CN" altLang="en-US" dirty="0">
                <a:ea typeface="宋体" panose="02010600030101010101" pitchFamily="2" charset="-122"/>
              </a:rPr>
              <a:t>）通信建设工程定额中凡采用“</a:t>
            </a:r>
            <a:r>
              <a:rPr lang="en-US" altLang="zh-CN" dirty="0">
                <a:ea typeface="宋体" panose="02010600030101010101" pitchFamily="2" charset="-122"/>
              </a:rPr>
              <a:t>XX</a:t>
            </a:r>
            <a:r>
              <a:rPr lang="zh-CN" altLang="en-US" dirty="0">
                <a:ea typeface="宋体" panose="02010600030101010101" pitchFamily="2" charset="-122"/>
              </a:rPr>
              <a:t>以内”或“</a:t>
            </a:r>
            <a:r>
              <a:rPr lang="en-US" altLang="zh-CN" dirty="0">
                <a:ea typeface="宋体" panose="02010600030101010101" pitchFamily="2" charset="-122"/>
              </a:rPr>
              <a:t>XX</a:t>
            </a:r>
            <a:r>
              <a:rPr lang="zh-CN" altLang="en-US" dirty="0">
                <a:ea typeface="宋体" panose="02010600030101010101" pitchFamily="2" charset="-122"/>
              </a:rPr>
              <a:t>以下”字样者均不含“</a:t>
            </a:r>
            <a:r>
              <a:rPr lang="en-US" altLang="zh-CN" dirty="0">
                <a:ea typeface="宋体" panose="02010600030101010101" pitchFamily="2" charset="-122"/>
              </a:rPr>
              <a:t>XX”</a:t>
            </a:r>
            <a:r>
              <a:rPr lang="zh-CN" altLang="en-US" dirty="0">
                <a:ea typeface="宋体" panose="02010600030101010101" pitchFamily="2" charset="-122"/>
              </a:rPr>
              <a:t>本身。（  ）</a:t>
            </a:r>
            <a:endParaRPr lang="zh-CN" altLang="en-US" dirty="0">
              <a:ea typeface="宋体" panose="02010600030101010101" pitchFamily="2" charset="-122"/>
            </a:endParaRPr>
          </a:p>
        </p:txBody>
      </p:sp>
      <p:sp>
        <p:nvSpPr>
          <p:cNvPr id="690179" name="Text Box 3"/>
          <p:cNvSpPr txBox="1">
            <a:spLocks noChangeArrowheads="1"/>
          </p:cNvSpPr>
          <p:nvPr/>
        </p:nvSpPr>
        <p:spPr bwMode="auto">
          <a:xfrm>
            <a:off x="6948488" y="765175"/>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t>
            </a:r>
            <a:endParaRPr kumimoji="0" lang="zh-CN" altLang="en-US"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90180" name="Text Box 4"/>
          <p:cNvSpPr txBox="1">
            <a:spLocks noChangeArrowheads="1"/>
          </p:cNvSpPr>
          <p:nvPr/>
        </p:nvSpPr>
        <p:spPr bwMode="auto">
          <a:xfrm>
            <a:off x="8172450" y="1196975"/>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t>
            </a:r>
            <a:r>
              <a:rPr kumimoji="0" lang="en-US" altLang="zh-CN"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 </a:t>
            </a:r>
            <a:endParaRPr kumimoji="0" lang="en-US" altLang="zh-CN"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90181" name="Text Box 5"/>
          <p:cNvSpPr txBox="1">
            <a:spLocks noChangeArrowheads="1"/>
          </p:cNvSpPr>
          <p:nvPr/>
        </p:nvSpPr>
        <p:spPr bwMode="auto">
          <a:xfrm>
            <a:off x="1619250" y="2420938"/>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 </a:t>
            </a:r>
            <a:endPar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690182" name="Text Box 6"/>
          <p:cNvSpPr txBox="1">
            <a:spLocks noChangeArrowheads="1"/>
          </p:cNvSpPr>
          <p:nvPr/>
        </p:nvSpPr>
        <p:spPr bwMode="auto">
          <a:xfrm>
            <a:off x="2268538" y="3213100"/>
            <a:ext cx="43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p>
            <a:pPr>
              <a:spcBef>
                <a:spcPct val="50000"/>
              </a:spcBef>
              <a:buClrTx/>
              <a:buFontTx/>
            </a:pPr>
            <a:r>
              <a:rPr lang="en-US" altLang="zh-CN" sz="2400">
                <a:solidFill>
                  <a:srgbClr val="660033"/>
                </a:solidFill>
                <a:effectLst>
                  <a:outerShdw blurRad="38100" dist="38100" dir="2700000">
                    <a:srgbClr val="000000"/>
                  </a:outerShdw>
                </a:effectLst>
                <a:latin typeface="华文行楷" panose="02010800040101010101" pitchFamily="2" charset="-122"/>
              </a:rPr>
              <a:t>×</a:t>
            </a:r>
            <a:endParaRPr lang="en-US" altLang="zh-CN" sz="2400">
              <a:solidFill>
                <a:srgbClr val="660033"/>
              </a:solidFill>
              <a:effectLst>
                <a:outerShdw blurRad="38100" dist="38100" dir="2700000">
                  <a:srgbClr val="000000"/>
                </a:outerShdw>
              </a:effectLst>
              <a:latin typeface="华文行楷" panose="02010800040101010101" pitchFamily="2" charset="-122"/>
            </a:endParaRPr>
          </a:p>
        </p:txBody>
      </p:sp>
      <p:sp>
        <p:nvSpPr>
          <p:cNvPr id="690183" name="Text Box 7"/>
          <p:cNvSpPr txBox="1">
            <a:spLocks noChangeArrowheads="1"/>
          </p:cNvSpPr>
          <p:nvPr/>
        </p:nvSpPr>
        <p:spPr bwMode="auto">
          <a:xfrm>
            <a:off x="3563938" y="4005263"/>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 </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pic>
        <p:nvPicPr>
          <p:cNvPr id="72711" name="Picture 8"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90178">
                                            <p:txEl>
                                              <p:charRg st="0" end="6"/>
                                            </p:txEl>
                                          </p:spTgt>
                                        </p:tgtEl>
                                        <p:attrNameLst>
                                          <p:attrName>style.visibility</p:attrName>
                                        </p:attrNameLst>
                                      </p:cBhvr>
                                      <p:to>
                                        <p:strVal val="visible"/>
                                      </p:to>
                                    </p:set>
                                    <p:animEffect transition="in" filter="slide(fromBottom)">
                                      <p:cBhvr>
                                        <p:cTn id="7" dur="500"/>
                                        <p:tgtEl>
                                          <p:spTgt spid="690178">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90178">
                                            <p:txEl>
                                              <p:charRg st="6" end="32"/>
                                            </p:txEl>
                                          </p:spTgt>
                                        </p:tgtEl>
                                        <p:attrNameLst>
                                          <p:attrName>style.visibility</p:attrName>
                                        </p:attrNameLst>
                                      </p:cBhvr>
                                      <p:to>
                                        <p:strVal val="visible"/>
                                      </p:to>
                                    </p:set>
                                    <p:animEffect transition="in" filter="slide(fromBottom)">
                                      <p:cBhvr>
                                        <p:cTn id="12" dur="500"/>
                                        <p:tgtEl>
                                          <p:spTgt spid="690178">
                                            <p:txEl>
                                              <p:charRg st="6" end="32"/>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690178">
                                            <p:txEl>
                                              <p:charRg st="32" end="62"/>
                                            </p:txEl>
                                          </p:spTgt>
                                        </p:tgtEl>
                                        <p:attrNameLst>
                                          <p:attrName>style.visibility</p:attrName>
                                        </p:attrNameLst>
                                      </p:cBhvr>
                                      <p:to>
                                        <p:strVal val="visible"/>
                                      </p:to>
                                    </p:set>
                                    <p:animEffect transition="in" filter="slide(fromBottom)">
                                      <p:cBhvr>
                                        <p:cTn id="15" dur="500"/>
                                        <p:tgtEl>
                                          <p:spTgt spid="690178">
                                            <p:txEl>
                                              <p:charRg st="32" end="62"/>
                                            </p:txEl>
                                          </p:spTgt>
                                        </p:tgtEl>
                                      </p:cBhvr>
                                    </p:animEffect>
                                  </p:childTnLst>
                                </p:cTn>
                              </p:par>
                              <p:par>
                                <p:cTn id="16" presetID="12" presetClass="entr" presetSubtype="4" fill="hold" nodeType="withEffect">
                                  <p:stCondLst>
                                    <p:cond delay="0"/>
                                  </p:stCondLst>
                                  <p:childTnLst>
                                    <p:set>
                                      <p:cBhvr>
                                        <p:cTn id="17" dur="1" fill="hold">
                                          <p:stCondLst>
                                            <p:cond delay="0"/>
                                          </p:stCondLst>
                                        </p:cTn>
                                        <p:tgtEl>
                                          <p:spTgt spid="690178">
                                            <p:txEl>
                                              <p:charRg st="62" end="123"/>
                                            </p:txEl>
                                          </p:spTgt>
                                        </p:tgtEl>
                                        <p:attrNameLst>
                                          <p:attrName>style.visibility</p:attrName>
                                        </p:attrNameLst>
                                      </p:cBhvr>
                                      <p:to>
                                        <p:strVal val="visible"/>
                                      </p:to>
                                    </p:set>
                                    <p:animEffect transition="in" filter="slide(fromBottom)">
                                      <p:cBhvr>
                                        <p:cTn id="18" dur="500"/>
                                        <p:tgtEl>
                                          <p:spTgt spid="690178">
                                            <p:txEl>
                                              <p:charRg st="62" end="123"/>
                                            </p:txEl>
                                          </p:spTgt>
                                        </p:tgtEl>
                                      </p:cBhvr>
                                    </p:animEffect>
                                  </p:childTnLst>
                                </p:cTn>
                              </p:par>
                              <p:par>
                                <p:cTn id="19" presetID="12" presetClass="entr" presetSubtype="4" fill="hold" nodeType="withEffect">
                                  <p:stCondLst>
                                    <p:cond delay="0"/>
                                  </p:stCondLst>
                                  <p:childTnLst>
                                    <p:set>
                                      <p:cBhvr>
                                        <p:cTn id="20" dur="1" fill="hold">
                                          <p:stCondLst>
                                            <p:cond delay="0"/>
                                          </p:stCondLst>
                                        </p:cTn>
                                        <p:tgtEl>
                                          <p:spTgt spid="690178">
                                            <p:txEl>
                                              <p:charRg st="123" end="160"/>
                                            </p:txEl>
                                          </p:spTgt>
                                        </p:tgtEl>
                                        <p:attrNameLst>
                                          <p:attrName>style.visibility</p:attrName>
                                        </p:attrNameLst>
                                      </p:cBhvr>
                                      <p:to>
                                        <p:strVal val="visible"/>
                                      </p:to>
                                    </p:set>
                                    <p:animEffect transition="in" filter="slide(fromBottom)">
                                      <p:cBhvr>
                                        <p:cTn id="21" dur="500"/>
                                        <p:tgtEl>
                                          <p:spTgt spid="690178">
                                            <p:txEl>
                                              <p:charRg st="123" end="160"/>
                                            </p:txEl>
                                          </p:spTgt>
                                        </p:tgtEl>
                                      </p:cBhvr>
                                    </p:animEffect>
                                  </p:childTnLst>
                                </p:cTn>
                              </p:par>
                              <p:par>
                                <p:cTn id="22" presetID="12" presetClass="entr" presetSubtype="4" fill="hold" nodeType="withEffect">
                                  <p:stCondLst>
                                    <p:cond delay="0"/>
                                  </p:stCondLst>
                                  <p:childTnLst>
                                    <p:set>
                                      <p:cBhvr>
                                        <p:cTn id="23" dur="1" fill="hold">
                                          <p:stCondLst>
                                            <p:cond delay="0"/>
                                          </p:stCondLst>
                                        </p:cTn>
                                        <p:tgtEl>
                                          <p:spTgt spid="690178">
                                            <p:txEl>
                                              <p:charRg st="160" end="206"/>
                                            </p:txEl>
                                          </p:spTgt>
                                        </p:tgtEl>
                                        <p:attrNameLst>
                                          <p:attrName>style.visibility</p:attrName>
                                        </p:attrNameLst>
                                      </p:cBhvr>
                                      <p:to>
                                        <p:strVal val="visible"/>
                                      </p:to>
                                    </p:set>
                                    <p:animEffect transition="in" filter="slide(fromBottom)">
                                      <p:cBhvr>
                                        <p:cTn id="24" dur="500"/>
                                        <p:tgtEl>
                                          <p:spTgt spid="690178">
                                            <p:txEl>
                                              <p:charRg st="160" end="20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690179"/>
                                        </p:tgtEl>
                                        <p:attrNameLst>
                                          <p:attrName>style.visibility</p:attrName>
                                        </p:attrNameLst>
                                      </p:cBhvr>
                                      <p:to>
                                        <p:strVal val="visible"/>
                                      </p:to>
                                    </p:set>
                                    <p:animEffect transition="in" filter="slide(fromBottom)">
                                      <p:cBhvr>
                                        <p:cTn id="29" dur="500"/>
                                        <p:tgtEl>
                                          <p:spTgt spid="690179"/>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690180"/>
                                        </p:tgtEl>
                                        <p:attrNameLst>
                                          <p:attrName>style.visibility</p:attrName>
                                        </p:attrNameLst>
                                      </p:cBhvr>
                                      <p:to>
                                        <p:strVal val="visible"/>
                                      </p:to>
                                    </p:set>
                                    <p:animEffect transition="in" filter="slide(fromBottom)">
                                      <p:cBhvr>
                                        <p:cTn id="34" dur="500"/>
                                        <p:tgtEl>
                                          <p:spTgt spid="690180"/>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690181"/>
                                        </p:tgtEl>
                                        <p:attrNameLst>
                                          <p:attrName>style.visibility</p:attrName>
                                        </p:attrNameLst>
                                      </p:cBhvr>
                                      <p:to>
                                        <p:strVal val="visible"/>
                                      </p:to>
                                    </p:set>
                                    <p:animEffect transition="in" filter="slide(fromBottom)">
                                      <p:cBhvr>
                                        <p:cTn id="39" dur="500"/>
                                        <p:tgtEl>
                                          <p:spTgt spid="690181"/>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690182"/>
                                        </p:tgtEl>
                                        <p:attrNameLst>
                                          <p:attrName>style.visibility</p:attrName>
                                        </p:attrNameLst>
                                      </p:cBhvr>
                                      <p:to>
                                        <p:strVal val="visible"/>
                                      </p:to>
                                    </p:set>
                                    <p:animEffect transition="in" filter="slide(fromBottom)">
                                      <p:cBhvr>
                                        <p:cTn id="44" dur="500"/>
                                        <p:tgtEl>
                                          <p:spTgt spid="690182"/>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690183"/>
                                        </p:tgtEl>
                                        <p:attrNameLst>
                                          <p:attrName>style.visibility</p:attrName>
                                        </p:attrNameLst>
                                      </p:cBhvr>
                                      <p:to>
                                        <p:strVal val="visible"/>
                                      </p:to>
                                    </p:set>
                                    <p:animEffect transition="in" filter="slide(fromBottom)">
                                      <p:cBhvr>
                                        <p:cTn id="49" dur="500"/>
                                        <p:tgtEl>
                                          <p:spTgt spid="69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79" grpId="0"/>
      <p:bldP spid="690180" grpId="0"/>
      <p:bldP spid="690181" grpId="0"/>
      <p:bldP spid="690182" grpId="0"/>
      <p:bldP spid="69018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Rectangle 2"/>
          <p:cNvSpPr>
            <a:spLocks noGrp="1"/>
          </p:cNvSpPr>
          <p:nvPr>
            <p:ph type="title"/>
          </p:nvPr>
        </p:nvSpPr>
        <p:spPr>
          <a:xfrm>
            <a:off x="457200" y="274638"/>
            <a:ext cx="8229600" cy="1143000"/>
          </a:xfrm>
          <a:noFill/>
          <a:ln>
            <a:noFill/>
          </a:ln>
        </p:spPr>
        <p:txBody>
          <a:bodyPr anchor="t" anchorCtr="0"/>
          <a:p>
            <a:r>
              <a:rPr lang="zh-CN" altLang="en-US" sz="4000" b="1" dirty="0">
                <a:solidFill>
                  <a:srgbClr val="000099"/>
                </a:solidFill>
                <a:latin typeface="黑体" panose="02010609060101010101" pitchFamily="49" charset="-122"/>
                <a:ea typeface="黑体" panose="02010609060101010101" pitchFamily="49" charset="-122"/>
              </a:rPr>
              <a:t>技能训练</a:t>
            </a:r>
            <a:endParaRPr lang="zh-CN" altLang="en-US" sz="4000" b="1" dirty="0">
              <a:solidFill>
                <a:srgbClr val="000099"/>
              </a:solidFill>
              <a:latin typeface="黑体" panose="02010609060101010101" pitchFamily="49" charset="-122"/>
              <a:ea typeface="黑体" panose="02010609060101010101" pitchFamily="49" charset="-122"/>
            </a:endParaRPr>
          </a:p>
        </p:txBody>
      </p:sp>
      <p:sp>
        <p:nvSpPr>
          <p:cNvPr id="691203" name="Rectangle 3"/>
          <p:cNvSpPr>
            <a:spLocks noGrp="1"/>
          </p:cNvSpPr>
          <p:nvPr>
            <p:ph idx="1"/>
          </p:nvPr>
        </p:nvSpPr>
        <p:spPr>
          <a:xfrm>
            <a:off x="468313" y="1052513"/>
            <a:ext cx="8351837" cy="5472112"/>
          </a:xfrm>
          <a:noFill/>
          <a:ln>
            <a:noFill/>
          </a:ln>
        </p:spPr>
        <p:txBody>
          <a:bodyPr anchor="t" anchorCtr="0"/>
          <a:p>
            <a:pPr>
              <a:lnSpc>
                <a:spcPct val="130000"/>
              </a:lnSpc>
              <a:buNone/>
            </a:pPr>
            <a:r>
              <a:rPr lang="en-US" altLang="zh-CN" sz="2800" dirty="0">
                <a:solidFill>
                  <a:srgbClr val="660033"/>
                </a:solidFill>
                <a:latin typeface="黑体" panose="02010609060101010101" pitchFamily="49" charset="-122"/>
                <a:ea typeface="黑体" panose="02010609060101010101" pitchFamily="49" charset="-122"/>
              </a:rPr>
              <a:t>1 </a:t>
            </a:r>
            <a:r>
              <a:rPr lang="zh-CN" altLang="en-US" sz="2800" dirty="0">
                <a:solidFill>
                  <a:srgbClr val="660033"/>
                </a:solidFill>
                <a:latin typeface="黑体" panose="02010609060101010101" pitchFamily="49" charset="-122"/>
                <a:ea typeface="黑体" panose="02010609060101010101" pitchFamily="49" charset="-122"/>
              </a:rPr>
              <a:t>实训内容</a:t>
            </a:r>
            <a:br>
              <a:rPr lang="zh-CN" altLang="en-US" dirty="0">
                <a:ea typeface="宋体" panose="02010600030101010101" pitchFamily="2" charset="-122"/>
              </a:rPr>
            </a:br>
            <a:r>
              <a:rPr lang="zh-CN" altLang="en-US" dirty="0">
                <a:ea typeface="宋体" panose="02010600030101010101" pitchFamily="2" charset="-122"/>
              </a:rPr>
              <a:t>利用通信建设工程定额第一册和第二册分别查找下列工程项目的定额，并将查找结果按表形式进行统计。</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）管道光</a:t>
            </a:r>
            <a:r>
              <a:rPr lang="en-US" altLang="zh-CN" dirty="0">
                <a:ea typeface="宋体" panose="02010600030101010101" pitchFamily="2" charset="-122"/>
              </a:rPr>
              <a:t>(</a:t>
            </a:r>
            <a:r>
              <a:rPr lang="zh-CN" altLang="en-US" dirty="0">
                <a:ea typeface="宋体" panose="02010600030101010101" pitchFamily="2" charset="-122"/>
              </a:rPr>
              <a:t>电</a:t>
            </a:r>
            <a:r>
              <a:rPr lang="en-US" altLang="zh-CN" dirty="0">
                <a:ea typeface="宋体" panose="02010600030101010101" pitchFamily="2" charset="-122"/>
              </a:rPr>
              <a:t>)</a:t>
            </a:r>
            <a:r>
              <a:rPr lang="zh-CN" altLang="en-US" dirty="0">
                <a:ea typeface="宋体" panose="02010600030101010101" pitchFamily="2" charset="-122"/>
              </a:rPr>
              <a:t>缆工程施工测量（</a:t>
            </a:r>
            <a:r>
              <a:rPr lang="en-US" altLang="zh-CN" dirty="0">
                <a:ea typeface="宋体" panose="02010600030101010101" pitchFamily="2" charset="-122"/>
              </a:rPr>
              <a:t>100m</a:t>
            </a:r>
            <a:r>
              <a:rPr lang="zh-CN" altLang="en-US" dirty="0">
                <a:ea typeface="宋体" panose="02010600030101010101" pitchFamily="2" charset="-122"/>
              </a:rPr>
              <a:t>）；</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）丘陵、水田、城区敷设埋式光缆</a:t>
            </a:r>
            <a:r>
              <a:rPr lang="en-US" altLang="zh-CN" dirty="0">
                <a:ea typeface="宋体" panose="02010600030101010101" pitchFamily="2" charset="-122"/>
              </a:rPr>
              <a:t>(</a:t>
            </a:r>
            <a:r>
              <a:rPr lang="zh-CN" altLang="en-US" dirty="0">
                <a:ea typeface="宋体" panose="02010600030101010101" pitchFamily="2" charset="-122"/>
              </a:rPr>
              <a:t>千米条）</a:t>
            </a:r>
            <a:r>
              <a:rPr lang="en-US" altLang="zh-CN" dirty="0">
                <a:ea typeface="宋体" panose="02010600030101010101" pitchFamily="2" charset="-122"/>
              </a:rPr>
              <a:t>(12</a:t>
            </a:r>
            <a:r>
              <a:rPr lang="zh-CN" altLang="en-US" dirty="0">
                <a:ea typeface="宋体" panose="02010600030101010101" pitchFamily="2" charset="-122"/>
              </a:rPr>
              <a:t>芯以下）</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）平原地区人工敷设小口径塑料管（</a:t>
            </a:r>
            <a:r>
              <a:rPr lang="en-US" altLang="zh-CN" dirty="0">
                <a:ea typeface="宋体" panose="02010600030101010101" pitchFamily="2" charset="-122"/>
              </a:rPr>
              <a:t>km</a:t>
            </a: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管）</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）夹板法装</a:t>
            </a:r>
            <a:r>
              <a:rPr lang="en-US" altLang="zh-CN" dirty="0">
                <a:ea typeface="宋体" panose="02010600030101010101" pitchFamily="2" charset="-122"/>
              </a:rPr>
              <a:t>7/2.6</a:t>
            </a:r>
            <a:r>
              <a:rPr lang="zh-CN" altLang="en-US" dirty="0">
                <a:ea typeface="宋体" panose="02010600030101010101" pitchFamily="2" charset="-122"/>
              </a:rPr>
              <a:t>单股拉线（条）</a:t>
            </a:r>
            <a:r>
              <a:rPr lang="en-US" altLang="zh-CN" dirty="0">
                <a:ea typeface="宋体" panose="02010600030101010101" pitchFamily="2" charset="-122"/>
              </a:rPr>
              <a:t>(</a:t>
            </a:r>
            <a:r>
              <a:rPr lang="zh-CN" altLang="en-US" dirty="0">
                <a:ea typeface="宋体" panose="02010600030101010101" pitchFamily="2" charset="-122"/>
              </a:rPr>
              <a:t>综合土）</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5</a:t>
            </a:r>
            <a:r>
              <a:rPr lang="zh-CN" altLang="en-US" dirty="0">
                <a:ea typeface="宋体" panose="02010600030101010101" pitchFamily="2" charset="-122"/>
              </a:rPr>
              <a:t>）封焊热可缩套（包）管（个）</a:t>
            </a:r>
            <a:r>
              <a:rPr lang="en-US" altLang="zh-CN" dirty="0">
                <a:ea typeface="宋体" panose="02010600030101010101" pitchFamily="2" charset="-122"/>
              </a:rPr>
              <a:t>(Ø50×900</a:t>
            </a:r>
            <a:r>
              <a:rPr lang="zh-CN" altLang="en-US" dirty="0">
                <a:ea typeface="宋体" panose="02010600030101010101" pitchFamily="2" charset="-122"/>
              </a:rPr>
              <a:t>以下）</a:t>
            </a:r>
            <a:endParaRPr lang="zh-CN" altLang="en-US"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91203">
                                            <p:txEl>
                                              <p:charRg st="0" end="54"/>
                                            </p:txEl>
                                          </p:spTgt>
                                        </p:tgtEl>
                                        <p:attrNameLst>
                                          <p:attrName>style.visibility</p:attrName>
                                        </p:attrNameLst>
                                      </p:cBhvr>
                                      <p:to>
                                        <p:strVal val="visible"/>
                                      </p:to>
                                    </p:set>
                                    <p:animEffect transition="in" filter="slide(fromBottom)">
                                      <p:cBhvr>
                                        <p:cTn id="7" dur="500"/>
                                        <p:tgtEl>
                                          <p:spTgt spid="691203">
                                            <p:txEl>
                                              <p:charRg st="0" end="5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91203">
                                            <p:txEl>
                                              <p:charRg st="54" end="78"/>
                                            </p:txEl>
                                          </p:spTgt>
                                        </p:tgtEl>
                                        <p:attrNameLst>
                                          <p:attrName>style.visibility</p:attrName>
                                        </p:attrNameLst>
                                      </p:cBhvr>
                                      <p:to>
                                        <p:strVal val="visible"/>
                                      </p:to>
                                    </p:set>
                                    <p:animEffect transition="in" filter="slide(fromBottom)">
                                      <p:cBhvr>
                                        <p:cTn id="12" dur="500"/>
                                        <p:tgtEl>
                                          <p:spTgt spid="691203">
                                            <p:txEl>
                                              <p:charRg st="54" end="7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691203">
                                            <p:txEl>
                                              <p:charRg st="78" end="108"/>
                                            </p:txEl>
                                          </p:spTgt>
                                        </p:tgtEl>
                                        <p:attrNameLst>
                                          <p:attrName>style.visibility</p:attrName>
                                        </p:attrNameLst>
                                      </p:cBhvr>
                                      <p:to>
                                        <p:strVal val="visible"/>
                                      </p:to>
                                    </p:set>
                                    <p:animEffect transition="in" filter="slide(fromBottom)">
                                      <p:cBhvr>
                                        <p:cTn id="17" dur="500"/>
                                        <p:tgtEl>
                                          <p:spTgt spid="691203">
                                            <p:txEl>
                                              <p:charRg st="78" end="10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691203">
                                            <p:txEl>
                                              <p:charRg st="108" end="134"/>
                                            </p:txEl>
                                          </p:spTgt>
                                        </p:tgtEl>
                                        <p:attrNameLst>
                                          <p:attrName>style.visibility</p:attrName>
                                        </p:attrNameLst>
                                      </p:cBhvr>
                                      <p:to>
                                        <p:strVal val="visible"/>
                                      </p:to>
                                    </p:set>
                                    <p:animEffect transition="in" filter="slide(fromBottom)">
                                      <p:cBhvr>
                                        <p:cTn id="22" dur="500"/>
                                        <p:tgtEl>
                                          <p:spTgt spid="691203">
                                            <p:txEl>
                                              <p:charRg st="108" end="13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691203">
                                            <p:txEl>
                                              <p:charRg st="134" end="159"/>
                                            </p:txEl>
                                          </p:spTgt>
                                        </p:tgtEl>
                                        <p:attrNameLst>
                                          <p:attrName>style.visibility</p:attrName>
                                        </p:attrNameLst>
                                      </p:cBhvr>
                                      <p:to>
                                        <p:strVal val="visible"/>
                                      </p:to>
                                    </p:set>
                                    <p:animEffect transition="in" filter="slide(fromBottom)">
                                      <p:cBhvr>
                                        <p:cTn id="27" dur="500"/>
                                        <p:tgtEl>
                                          <p:spTgt spid="691203">
                                            <p:txEl>
                                              <p:charRg st="134" end="15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691203">
                                            <p:txEl>
                                              <p:charRg st="159" end="187"/>
                                            </p:txEl>
                                          </p:spTgt>
                                        </p:tgtEl>
                                        <p:attrNameLst>
                                          <p:attrName>style.visibility</p:attrName>
                                        </p:attrNameLst>
                                      </p:cBhvr>
                                      <p:to>
                                        <p:strVal val="visible"/>
                                      </p:to>
                                    </p:set>
                                    <p:animEffect transition="in" filter="slide(fromBottom)">
                                      <p:cBhvr>
                                        <p:cTn id="32" dur="500"/>
                                        <p:tgtEl>
                                          <p:spTgt spid="691203">
                                            <p:txEl>
                                              <p:charRg st="159" end="1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120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2226" name="Rectangle 2"/>
          <p:cNvSpPr>
            <a:spLocks noGrp="1"/>
          </p:cNvSpPr>
          <p:nvPr>
            <p:ph idx="1"/>
          </p:nvPr>
        </p:nvSpPr>
        <p:spPr>
          <a:xfrm>
            <a:off x="539750" y="404813"/>
            <a:ext cx="8351838" cy="5472112"/>
          </a:xfrm>
          <a:noFill/>
          <a:ln>
            <a:noFill/>
          </a:ln>
        </p:spPr>
        <p:txBody>
          <a:bodyPr anchor="t" anchorCtr="0"/>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6</a:t>
            </a:r>
            <a:r>
              <a:rPr lang="zh-CN" altLang="en-US" dirty="0">
                <a:ea typeface="宋体" panose="02010600030101010101" pitchFamily="2" charset="-122"/>
              </a:rPr>
              <a:t>）室外通道中布放光缆</a:t>
            </a:r>
            <a:r>
              <a:rPr lang="en-US" altLang="zh-CN" dirty="0">
                <a:ea typeface="宋体" panose="02010600030101010101" pitchFamily="2" charset="-122"/>
              </a:rPr>
              <a:t>(</a:t>
            </a:r>
            <a:r>
              <a:rPr lang="zh-CN" altLang="en-US" dirty="0">
                <a:ea typeface="宋体" panose="02010600030101010101" pitchFamily="2" charset="-122"/>
              </a:rPr>
              <a:t>千米条</a:t>
            </a:r>
            <a:r>
              <a:rPr lang="en-US" altLang="zh-CN" dirty="0">
                <a:ea typeface="宋体" panose="02010600030101010101" pitchFamily="2" charset="-122"/>
              </a:rPr>
              <a:t>) (36</a:t>
            </a:r>
            <a:r>
              <a:rPr lang="zh-CN" altLang="en-US" dirty="0">
                <a:ea typeface="宋体" panose="02010600030101010101" pitchFamily="2" charset="-122"/>
              </a:rPr>
              <a:t>芯）</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7</a:t>
            </a:r>
            <a:r>
              <a:rPr lang="zh-CN" altLang="en-US" dirty="0">
                <a:ea typeface="宋体" panose="02010600030101010101" pitchFamily="2" charset="-122"/>
              </a:rPr>
              <a:t>）立</a:t>
            </a:r>
            <a:r>
              <a:rPr lang="en-US" altLang="zh-CN" dirty="0">
                <a:ea typeface="宋体" panose="02010600030101010101" pitchFamily="2" charset="-122"/>
              </a:rPr>
              <a:t>13</a:t>
            </a:r>
            <a:r>
              <a:rPr lang="zh-CN" altLang="en-US" dirty="0">
                <a:ea typeface="宋体" panose="02010600030101010101" pitchFamily="2" charset="-122"/>
              </a:rPr>
              <a:t>米以下水泥</a:t>
            </a:r>
            <a:r>
              <a:rPr lang="en-US" altLang="zh-CN" dirty="0">
                <a:ea typeface="宋体" panose="02010600030101010101" pitchFamily="2" charset="-122"/>
              </a:rPr>
              <a:t>H</a:t>
            </a:r>
            <a:r>
              <a:rPr lang="zh-CN" altLang="en-US" dirty="0">
                <a:ea typeface="宋体" panose="02010600030101010101" pitchFamily="2" charset="-122"/>
              </a:rPr>
              <a:t>杆（座）（软石）</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8</a:t>
            </a:r>
            <a:r>
              <a:rPr lang="zh-CN" altLang="en-US" dirty="0">
                <a:ea typeface="宋体" panose="02010600030101010101" pitchFamily="2" charset="-122"/>
              </a:rPr>
              <a:t>）水泥杆架设</a:t>
            </a:r>
            <a:r>
              <a:rPr lang="en-US" altLang="zh-CN" dirty="0">
                <a:ea typeface="宋体" panose="02010600030101010101" pitchFamily="2" charset="-122"/>
              </a:rPr>
              <a:t>7/2.2</a:t>
            </a:r>
            <a:r>
              <a:rPr lang="zh-CN" altLang="en-US" dirty="0">
                <a:ea typeface="宋体" panose="02010600030101010101" pitchFamily="2" charset="-122"/>
              </a:rPr>
              <a:t>吊线</a:t>
            </a:r>
            <a:r>
              <a:rPr lang="en-US" altLang="zh-CN" dirty="0">
                <a:ea typeface="宋体" panose="02010600030101010101" pitchFamily="2" charset="-122"/>
              </a:rPr>
              <a:t>(</a:t>
            </a:r>
            <a:r>
              <a:rPr lang="zh-CN" altLang="en-US" dirty="0">
                <a:ea typeface="宋体" panose="02010600030101010101" pitchFamily="2" charset="-122"/>
              </a:rPr>
              <a:t>千米条</a:t>
            </a:r>
            <a:r>
              <a:rPr lang="en-US" altLang="zh-CN" dirty="0">
                <a:ea typeface="宋体" panose="02010600030101010101" pitchFamily="2" charset="-122"/>
              </a:rPr>
              <a:t>) </a:t>
            </a:r>
            <a:r>
              <a:rPr lang="zh-CN" altLang="en-US" dirty="0">
                <a:ea typeface="宋体" panose="02010600030101010101" pitchFamily="2" charset="-122"/>
              </a:rPr>
              <a:t>（山区）</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9</a:t>
            </a:r>
            <a:r>
              <a:rPr lang="zh-CN" altLang="en-US" dirty="0">
                <a:ea typeface="宋体" panose="02010600030101010101" pitchFamily="2" charset="-122"/>
              </a:rPr>
              <a:t>）安装架空交接箱</a:t>
            </a:r>
            <a:r>
              <a:rPr lang="en-US" altLang="zh-CN" dirty="0">
                <a:ea typeface="宋体" panose="02010600030101010101" pitchFamily="2" charset="-122"/>
              </a:rPr>
              <a:t>(</a:t>
            </a:r>
            <a:r>
              <a:rPr lang="zh-CN" altLang="en-US" dirty="0">
                <a:ea typeface="宋体" panose="02010600030101010101" pitchFamily="2" charset="-122"/>
              </a:rPr>
              <a:t>个</a:t>
            </a:r>
            <a:r>
              <a:rPr lang="en-US" altLang="zh-CN" dirty="0">
                <a:ea typeface="宋体" panose="02010600030101010101" pitchFamily="2" charset="-122"/>
              </a:rPr>
              <a:t>) </a:t>
            </a:r>
            <a:r>
              <a:rPr lang="zh-CN" altLang="en-US" dirty="0">
                <a:ea typeface="宋体" panose="02010600030101010101" pitchFamily="2" charset="-122"/>
              </a:rPr>
              <a:t>（</a:t>
            </a:r>
            <a:r>
              <a:rPr lang="en-US" altLang="zh-CN" dirty="0">
                <a:ea typeface="宋体" panose="02010600030101010101" pitchFamily="2" charset="-122"/>
              </a:rPr>
              <a:t>2400</a:t>
            </a:r>
            <a:r>
              <a:rPr lang="zh-CN" altLang="en-US" dirty="0">
                <a:ea typeface="宋体" panose="02010600030101010101" pitchFamily="2" charset="-122"/>
              </a:rPr>
              <a:t>对）</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10</a:t>
            </a:r>
            <a:r>
              <a:rPr lang="zh-CN" altLang="en-US" dirty="0">
                <a:ea typeface="宋体" panose="02010600030101010101" pitchFamily="2" charset="-122"/>
              </a:rPr>
              <a:t>）光纤链路测试（双光纤） </a:t>
            </a:r>
            <a:endParaRPr lang="zh-CN" altLang="en-US" dirty="0">
              <a:ea typeface="宋体" panose="02010600030101010101" pitchFamily="2" charset="-122"/>
            </a:endParaRPr>
          </a:p>
          <a:p>
            <a:pPr>
              <a:lnSpc>
                <a:spcPct val="130000"/>
              </a:lnSpc>
              <a:buNone/>
            </a:pPr>
            <a:r>
              <a:rPr lang="en-US" altLang="zh-CN" sz="2800" dirty="0">
                <a:solidFill>
                  <a:srgbClr val="660033"/>
                </a:solidFill>
                <a:latin typeface="黑体" panose="02010609060101010101" pitchFamily="49" charset="-122"/>
                <a:ea typeface="黑体" panose="02010609060101010101" pitchFamily="49" charset="-122"/>
              </a:rPr>
              <a:t>2 </a:t>
            </a:r>
            <a:r>
              <a:rPr lang="zh-CN" altLang="en-US" sz="2800" dirty="0">
                <a:solidFill>
                  <a:srgbClr val="660033"/>
                </a:solidFill>
                <a:latin typeface="黑体" panose="02010609060101010101" pitchFamily="49" charset="-122"/>
                <a:ea typeface="黑体" panose="02010609060101010101" pitchFamily="49" charset="-122"/>
              </a:rPr>
              <a:t>实训目的</a:t>
            </a:r>
            <a:endParaRPr lang="zh-CN" altLang="en-US" sz="2800" dirty="0">
              <a:solidFill>
                <a:srgbClr val="660033"/>
              </a:solidFill>
              <a:latin typeface="黑体" panose="02010609060101010101" pitchFamily="49" charset="-122"/>
              <a:ea typeface="黑体" panose="02010609060101010101" pitchFamily="49"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）掌握通信建设工程预算定额的套用方式；</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）熟悉单项工程所需主材的名称、型号、单位及用量</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）掌握单项工程人工工日的确定方法；</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）掌握机械、仪表台班量的确定</a:t>
            </a:r>
            <a:endParaRPr lang="zh-CN" altLang="en-US"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92226">
                                            <p:txEl>
                                              <p:charRg st="0" end="24"/>
                                            </p:txEl>
                                          </p:spTgt>
                                        </p:tgtEl>
                                        <p:attrNameLst>
                                          <p:attrName>style.visibility</p:attrName>
                                        </p:attrNameLst>
                                      </p:cBhvr>
                                      <p:to>
                                        <p:strVal val="visible"/>
                                      </p:to>
                                    </p:set>
                                    <p:anim to="" calcmode="lin" valueType="num">
                                      <p:cBhvr>
                                        <p:cTn id="7" dur="1" fill="hold"/>
                                        <p:tgtEl>
                                          <p:spTgt spid="692226">
                                            <p:txEl>
                                              <p:charRg st="0" end="24"/>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92226">
                                            <p:txEl>
                                              <p:charRg st="24" end="45"/>
                                            </p:txEl>
                                          </p:spTgt>
                                        </p:tgtEl>
                                        <p:attrNameLst>
                                          <p:attrName>style.visibility</p:attrName>
                                        </p:attrNameLst>
                                      </p:cBhvr>
                                      <p:to>
                                        <p:strVal val="visible"/>
                                      </p:to>
                                    </p:set>
                                    <p:anim to="" calcmode="lin" valueType="num">
                                      <p:cBhvr>
                                        <p:cTn id="10" dur="1" fill="hold"/>
                                        <p:tgtEl>
                                          <p:spTgt spid="692226">
                                            <p:txEl>
                                              <p:charRg st="24" end="45"/>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92226">
                                            <p:txEl>
                                              <p:charRg st="45" end="71"/>
                                            </p:txEl>
                                          </p:spTgt>
                                        </p:tgtEl>
                                        <p:attrNameLst>
                                          <p:attrName>style.visibility</p:attrName>
                                        </p:attrNameLst>
                                      </p:cBhvr>
                                      <p:to>
                                        <p:strVal val="visible"/>
                                      </p:to>
                                    </p:set>
                                    <p:anim to="" calcmode="lin" valueType="num">
                                      <p:cBhvr>
                                        <p:cTn id="13" dur="1" fill="hold"/>
                                        <p:tgtEl>
                                          <p:spTgt spid="692226">
                                            <p:txEl>
                                              <p:charRg st="45" end="71"/>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692226">
                                            <p:txEl>
                                              <p:charRg st="71" end="93"/>
                                            </p:txEl>
                                          </p:spTgt>
                                        </p:tgtEl>
                                        <p:attrNameLst>
                                          <p:attrName>style.visibility</p:attrName>
                                        </p:attrNameLst>
                                      </p:cBhvr>
                                      <p:to>
                                        <p:strVal val="visible"/>
                                      </p:to>
                                    </p:set>
                                    <p:anim to="" calcmode="lin" valueType="num">
                                      <p:cBhvr>
                                        <p:cTn id="16" dur="1" fill="hold"/>
                                        <p:tgtEl>
                                          <p:spTgt spid="692226">
                                            <p:txEl>
                                              <p:charRg st="71" end="93"/>
                                            </p:txEl>
                                          </p:spTgt>
                                        </p:tgtEl>
                                        <p:attrNameLst>
                                          <p:attrName>style.visibility</p:attrName>
                                        </p:attrNameLst>
                                      </p:cBhvr>
                                    </p:anim>
                                  </p:childTnLst>
                                </p:cTn>
                              </p:par>
                              <p:par>
                                <p:cTn id="17" presetID="24" presetClass="entr" presetSubtype="0" fill="hold" nodeType="withEffect">
                                  <p:stCondLst>
                                    <p:cond delay="0"/>
                                  </p:stCondLst>
                                  <p:childTnLst>
                                    <p:set>
                                      <p:cBhvr>
                                        <p:cTn id="18" dur="1" fill="hold">
                                          <p:stCondLst>
                                            <p:cond delay="0"/>
                                          </p:stCondLst>
                                        </p:cTn>
                                        <p:tgtEl>
                                          <p:spTgt spid="692226">
                                            <p:txEl>
                                              <p:charRg st="93" end="110"/>
                                            </p:txEl>
                                          </p:spTgt>
                                        </p:tgtEl>
                                        <p:attrNameLst>
                                          <p:attrName>style.visibility</p:attrName>
                                        </p:attrNameLst>
                                      </p:cBhvr>
                                      <p:to>
                                        <p:strVal val="visible"/>
                                      </p:to>
                                    </p:set>
                                    <p:anim to="" calcmode="lin" valueType="num">
                                      <p:cBhvr>
                                        <p:cTn id="19" dur="1" fill="hold"/>
                                        <p:tgtEl>
                                          <p:spTgt spid="692226">
                                            <p:txEl>
                                              <p:charRg st="93" end="110"/>
                                            </p:txEl>
                                          </p:spTgt>
                                        </p:tgtEl>
                                        <p:attrNameLst>
                                          <p:attrName>style.visibility</p:attrName>
                                        </p:attrNameLst>
                                      </p:cBhvr>
                                    </p:anim>
                                  </p:childTnLst>
                                </p:cTn>
                              </p:par>
                              <p:par>
                                <p:cTn id="20" presetID="24" presetClass="entr" presetSubtype="0" fill="hold" nodeType="withEffect">
                                  <p:stCondLst>
                                    <p:cond delay="0"/>
                                  </p:stCondLst>
                                  <p:childTnLst>
                                    <p:set>
                                      <p:cBhvr>
                                        <p:cTn id="21" dur="1" fill="hold">
                                          <p:stCondLst>
                                            <p:cond delay="0"/>
                                          </p:stCondLst>
                                        </p:cTn>
                                        <p:tgtEl>
                                          <p:spTgt spid="692226">
                                            <p:txEl>
                                              <p:charRg st="110" end="117"/>
                                            </p:txEl>
                                          </p:spTgt>
                                        </p:tgtEl>
                                        <p:attrNameLst>
                                          <p:attrName>style.visibility</p:attrName>
                                        </p:attrNameLst>
                                      </p:cBhvr>
                                      <p:to>
                                        <p:strVal val="visible"/>
                                      </p:to>
                                    </p:set>
                                    <p:anim to="" calcmode="lin" valueType="num">
                                      <p:cBhvr>
                                        <p:cTn id="22" dur="1" fill="hold"/>
                                        <p:tgtEl>
                                          <p:spTgt spid="692226">
                                            <p:txEl>
                                              <p:charRg st="110" end="117"/>
                                            </p:txEl>
                                          </p:spTgt>
                                        </p:tgtEl>
                                        <p:attrNameLst>
                                          <p:attrName>style.visibility</p:attrName>
                                        </p:attrNameLst>
                                      </p:cBhvr>
                                    </p:anim>
                                  </p:childTnLst>
                                </p:cTn>
                              </p:par>
                              <p:par>
                                <p:cTn id="23" presetID="24" presetClass="entr" presetSubtype="0" fill="hold" nodeType="withEffect">
                                  <p:stCondLst>
                                    <p:cond delay="0"/>
                                  </p:stCondLst>
                                  <p:childTnLst>
                                    <p:set>
                                      <p:cBhvr>
                                        <p:cTn id="24" dur="1" fill="hold">
                                          <p:stCondLst>
                                            <p:cond delay="0"/>
                                          </p:stCondLst>
                                        </p:cTn>
                                        <p:tgtEl>
                                          <p:spTgt spid="692226">
                                            <p:txEl>
                                              <p:charRg st="117" end="139"/>
                                            </p:txEl>
                                          </p:spTgt>
                                        </p:tgtEl>
                                        <p:attrNameLst>
                                          <p:attrName>style.visibility</p:attrName>
                                        </p:attrNameLst>
                                      </p:cBhvr>
                                      <p:to>
                                        <p:strVal val="visible"/>
                                      </p:to>
                                    </p:set>
                                    <p:anim to="" calcmode="lin" valueType="num">
                                      <p:cBhvr>
                                        <p:cTn id="25" dur="1" fill="hold"/>
                                        <p:tgtEl>
                                          <p:spTgt spid="692226">
                                            <p:txEl>
                                              <p:charRg st="117" end="139"/>
                                            </p:txEl>
                                          </p:spTgt>
                                        </p:tgtEl>
                                        <p:attrNameLst>
                                          <p:attrName>style.visibility</p:attrName>
                                        </p:attrNameLst>
                                      </p:cBhvr>
                                    </p:anim>
                                  </p:childTnLst>
                                </p:cTn>
                              </p:par>
                              <p:par>
                                <p:cTn id="26" presetID="24" presetClass="entr" presetSubtype="0" fill="hold" nodeType="withEffect">
                                  <p:stCondLst>
                                    <p:cond delay="0"/>
                                  </p:stCondLst>
                                  <p:childTnLst>
                                    <p:set>
                                      <p:cBhvr>
                                        <p:cTn id="27" dur="1" fill="hold">
                                          <p:stCondLst>
                                            <p:cond delay="0"/>
                                          </p:stCondLst>
                                        </p:cTn>
                                        <p:tgtEl>
                                          <p:spTgt spid="692226">
                                            <p:txEl>
                                              <p:charRg st="139" end="165"/>
                                            </p:txEl>
                                          </p:spTgt>
                                        </p:tgtEl>
                                        <p:attrNameLst>
                                          <p:attrName>style.visibility</p:attrName>
                                        </p:attrNameLst>
                                      </p:cBhvr>
                                      <p:to>
                                        <p:strVal val="visible"/>
                                      </p:to>
                                    </p:set>
                                    <p:anim to="" calcmode="lin" valueType="num">
                                      <p:cBhvr>
                                        <p:cTn id="28" dur="1" fill="hold"/>
                                        <p:tgtEl>
                                          <p:spTgt spid="692226">
                                            <p:txEl>
                                              <p:charRg st="139" end="165"/>
                                            </p:txEl>
                                          </p:spTgt>
                                        </p:tgtEl>
                                        <p:attrNameLst>
                                          <p:attrName>style.visibility</p:attrName>
                                        </p:attrNameLst>
                                      </p:cBhvr>
                                    </p:anim>
                                  </p:childTnLst>
                                </p:cTn>
                              </p:par>
                              <p:par>
                                <p:cTn id="29" presetID="24" presetClass="entr" presetSubtype="0" fill="hold" nodeType="withEffect">
                                  <p:stCondLst>
                                    <p:cond delay="0"/>
                                  </p:stCondLst>
                                  <p:childTnLst>
                                    <p:set>
                                      <p:cBhvr>
                                        <p:cTn id="30" dur="1" fill="hold">
                                          <p:stCondLst>
                                            <p:cond delay="0"/>
                                          </p:stCondLst>
                                        </p:cTn>
                                        <p:tgtEl>
                                          <p:spTgt spid="692226">
                                            <p:txEl>
                                              <p:charRg st="165" end="185"/>
                                            </p:txEl>
                                          </p:spTgt>
                                        </p:tgtEl>
                                        <p:attrNameLst>
                                          <p:attrName>style.visibility</p:attrName>
                                        </p:attrNameLst>
                                      </p:cBhvr>
                                      <p:to>
                                        <p:strVal val="visible"/>
                                      </p:to>
                                    </p:set>
                                    <p:anim to="" calcmode="lin" valueType="num">
                                      <p:cBhvr>
                                        <p:cTn id="31" dur="1" fill="hold"/>
                                        <p:tgtEl>
                                          <p:spTgt spid="692226">
                                            <p:txEl>
                                              <p:charRg st="165" end="185"/>
                                            </p:txEl>
                                          </p:spTgt>
                                        </p:tgtEl>
                                        <p:attrNameLst>
                                          <p:attrName>style.visibility</p:attrName>
                                        </p:attrNameLst>
                                      </p:cBhvr>
                                    </p:anim>
                                  </p:childTnLst>
                                </p:cTn>
                              </p:par>
                              <p:par>
                                <p:cTn id="32" presetID="24" presetClass="entr" presetSubtype="0" fill="hold" nodeType="withEffect">
                                  <p:stCondLst>
                                    <p:cond delay="0"/>
                                  </p:stCondLst>
                                  <p:childTnLst>
                                    <p:set>
                                      <p:cBhvr>
                                        <p:cTn id="33" dur="1" fill="hold">
                                          <p:stCondLst>
                                            <p:cond delay="0"/>
                                          </p:stCondLst>
                                        </p:cTn>
                                        <p:tgtEl>
                                          <p:spTgt spid="692226">
                                            <p:txEl>
                                              <p:charRg st="185" end="202"/>
                                            </p:txEl>
                                          </p:spTgt>
                                        </p:tgtEl>
                                        <p:attrNameLst>
                                          <p:attrName>style.visibility</p:attrName>
                                        </p:attrNameLst>
                                      </p:cBhvr>
                                      <p:to>
                                        <p:strVal val="visible"/>
                                      </p:to>
                                    </p:set>
                                    <p:anim to="" calcmode="lin" valueType="num">
                                      <p:cBhvr>
                                        <p:cTn id="34" dur="1" fill="hold"/>
                                        <p:tgtEl>
                                          <p:spTgt spid="692226">
                                            <p:txEl>
                                              <p:charRg st="185" end="202"/>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3250" name="Rectangle 2"/>
          <p:cNvSpPr>
            <a:spLocks noGrp="1"/>
          </p:cNvSpPr>
          <p:nvPr>
            <p:ph idx="1"/>
          </p:nvPr>
        </p:nvSpPr>
        <p:spPr>
          <a:xfrm>
            <a:off x="539750" y="404813"/>
            <a:ext cx="8351838" cy="3887787"/>
          </a:xfrm>
          <a:noFill/>
          <a:ln>
            <a:noFill/>
          </a:ln>
        </p:spPr>
        <p:txBody>
          <a:bodyPr anchor="t" anchorCtr="0"/>
          <a:p>
            <a:pPr>
              <a:lnSpc>
                <a:spcPct val="130000"/>
              </a:lnSpc>
              <a:buNone/>
            </a:pPr>
            <a:r>
              <a:rPr lang="en-US" altLang="zh-CN" sz="2800" dirty="0">
                <a:solidFill>
                  <a:srgbClr val="660033"/>
                </a:solidFill>
                <a:latin typeface="黑体" panose="02010609060101010101" pitchFamily="49" charset="-122"/>
                <a:ea typeface="黑体" panose="02010609060101010101" pitchFamily="49" charset="-122"/>
              </a:rPr>
              <a:t>3 </a:t>
            </a:r>
            <a:r>
              <a:rPr lang="zh-CN" altLang="en-US" sz="2800" dirty="0">
                <a:solidFill>
                  <a:srgbClr val="660033"/>
                </a:solidFill>
                <a:latin typeface="黑体" panose="02010609060101010101" pitchFamily="49" charset="-122"/>
                <a:ea typeface="黑体" panose="02010609060101010101" pitchFamily="49" charset="-122"/>
              </a:rPr>
              <a:t>实训要求</a:t>
            </a:r>
            <a:endParaRPr lang="zh-CN" altLang="en-US" sz="2800" dirty="0">
              <a:solidFill>
                <a:srgbClr val="660033"/>
              </a:solidFill>
              <a:latin typeface="黑体" panose="02010609060101010101" pitchFamily="49" charset="-122"/>
              <a:ea typeface="黑体" panose="02010609060101010101" pitchFamily="49"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）熟悉通信建设工程预算定额第一册、第二册的构成；</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）熟悉分部、分项工程中定额项目表的组成内容；</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）熟悉工程项目定额的查找过程；</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）注意定额项目表下的注释对人工、材料、机械台班消耗量的使用条件和增减规定。</a:t>
            </a:r>
            <a:endParaRPr lang="zh-CN" altLang="en-US" dirty="0">
              <a:ea typeface="宋体" panose="02010600030101010101" pitchFamily="2" charset="-122"/>
            </a:endParaRPr>
          </a:p>
        </p:txBody>
      </p:sp>
      <p:pic>
        <p:nvPicPr>
          <p:cNvPr id="75778"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93250">
                                            <p:txEl>
                                              <p:charRg st="0" end="7"/>
                                            </p:txEl>
                                          </p:spTgt>
                                        </p:tgtEl>
                                        <p:attrNameLst>
                                          <p:attrName>style.visibility</p:attrName>
                                        </p:attrNameLst>
                                      </p:cBhvr>
                                      <p:to>
                                        <p:strVal val="visible"/>
                                      </p:to>
                                    </p:set>
                                    <p:anim to="" calcmode="lin" valueType="num">
                                      <p:cBhvr>
                                        <p:cTn id="7" dur="1" fill="hold"/>
                                        <p:tgtEl>
                                          <p:spTgt spid="693250">
                                            <p:txEl>
                                              <p:charRg st="0" end="7"/>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693250">
                                            <p:txEl>
                                              <p:charRg st="7" end="34"/>
                                            </p:txEl>
                                          </p:spTgt>
                                        </p:tgtEl>
                                        <p:attrNameLst>
                                          <p:attrName>style.visibility</p:attrName>
                                        </p:attrNameLst>
                                      </p:cBhvr>
                                      <p:to>
                                        <p:strVal val="visible"/>
                                      </p:to>
                                    </p:set>
                                    <p:anim to="" calcmode="lin" valueType="num">
                                      <p:cBhvr>
                                        <p:cTn id="10" dur="1" fill="hold"/>
                                        <p:tgtEl>
                                          <p:spTgt spid="693250">
                                            <p:txEl>
                                              <p:charRg st="7" end="34"/>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693250">
                                            <p:txEl>
                                              <p:charRg st="34" end="59"/>
                                            </p:txEl>
                                          </p:spTgt>
                                        </p:tgtEl>
                                        <p:attrNameLst>
                                          <p:attrName>style.visibility</p:attrName>
                                        </p:attrNameLst>
                                      </p:cBhvr>
                                      <p:to>
                                        <p:strVal val="visible"/>
                                      </p:to>
                                    </p:set>
                                    <p:anim to="" calcmode="lin" valueType="num">
                                      <p:cBhvr>
                                        <p:cTn id="13" dur="1" fill="hold"/>
                                        <p:tgtEl>
                                          <p:spTgt spid="693250">
                                            <p:txEl>
                                              <p:charRg st="34" end="59"/>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693250">
                                            <p:txEl>
                                              <p:charRg st="59" end="77"/>
                                            </p:txEl>
                                          </p:spTgt>
                                        </p:tgtEl>
                                        <p:attrNameLst>
                                          <p:attrName>style.visibility</p:attrName>
                                        </p:attrNameLst>
                                      </p:cBhvr>
                                      <p:to>
                                        <p:strVal val="visible"/>
                                      </p:to>
                                    </p:set>
                                    <p:anim to="" calcmode="lin" valueType="num">
                                      <p:cBhvr>
                                        <p:cTn id="16" dur="1" fill="hold"/>
                                        <p:tgtEl>
                                          <p:spTgt spid="693250">
                                            <p:txEl>
                                              <p:charRg st="59" end="77"/>
                                            </p:txEl>
                                          </p:spTgt>
                                        </p:tgtEl>
                                        <p:attrNameLst>
                                          <p:attrName>style.visibility</p:attrName>
                                        </p:attrNameLst>
                                      </p:cBhvr>
                                    </p:anim>
                                  </p:childTnLst>
                                </p:cTn>
                              </p:par>
                              <p:par>
                                <p:cTn id="17" presetID="24" presetClass="entr" presetSubtype="0" fill="hold" nodeType="withEffect">
                                  <p:stCondLst>
                                    <p:cond delay="0"/>
                                  </p:stCondLst>
                                  <p:childTnLst>
                                    <p:set>
                                      <p:cBhvr>
                                        <p:cTn id="18" dur="1" fill="hold">
                                          <p:stCondLst>
                                            <p:cond delay="0"/>
                                          </p:stCondLst>
                                        </p:cTn>
                                        <p:tgtEl>
                                          <p:spTgt spid="693250">
                                            <p:txEl>
                                              <p:charRg st="77" end="117"/>
                                            </p:txEl>
                                          </p:spTgt>
                                        </p:tgtEl>
                                        <p:attrNameLst>
                                          <p:attrName>style.visibility</p:attrName>
                                        </p:attrNameLst>
                                      </p:cBhvr>
                                      <p:to>
                                        <p:strVal val="visible"/>
                                      </p:to>
                                    </p:set>
                                    <p:anim to="" calcmode="lin" valueType="num">
                                      <p:cBhvr>
                                        <p:cTn id="19" dur="1" fill="hold"/>
                                        <p:tgtEl>
                                          <p:spTgt spid="693250">
                                            <p:txEl>
                                              <p:charRg st="77" end="117"/>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2"/>
          <p:cNvSpPr>
            <a:spLocks noGrp="1"/>
          </p:cNvSpPr>
          <p:nvPr>
            <p:ph type="title"/>
          </p:nvPr>
        </p:nvSpPr>
        <p:spPr>
          <a:xfrm>
            <a:off x="457200" y="274638"/>
            <a:ext cx="8229600" cy="1143000"/>
          </a:xfrm>
          <a:noFill/>
          <a:ln>
            <a:noFill/>
          </a:ln>
        </p:spPr>
        <p:txBody>
          <a:bodyPr anchor="t" anchorCtr="0"/>
          <a:p>
            <a:endParaRPr lang="zh-CN" altLang="en-US" dirty="0">
              <a:ea typeface="宋体" panose="02010600030101010101" pitchFamily="2" charset="-122"/>
            </a:endParaRPr>
          </a:p>
        </p:txBody>
      </p:sp>
      <p:sp>
        <p:nvSpPr>
          <p:cNvPr id="76802" name="Rectangle 3"/>
          <p:cNvSpPr>
            <a:spLocks noGrp="1"/>
          </p:cNvSpPr>
          <p:nvPr>
            <p:ph idx="1"/>
          </p:nvPr>
        </p:nvSpPr>
        <p:spPr>
          <a:xfrm>
            <a:off x="457200" y="1600200"/>
            <a:ext cx="8229600" cy="4525963"/>
          </a:xfrm>
          <a:noFill/>
          <a:ln>
            <a:noFill/>
          </a:ln>
        </p:spPr>
        <p:txBody>
          <a:bodyPr anchor="t" anchorCtr="0"/>
          <a:p>
            <a:endParaRPr lang="zh-CN" altLang="en-US" dirty="0">
              <a:ea typeface="宋体" panose="02010600030101010101" pitchFamily="2" charset="-122"/>
            </a:endParaRPr>
          </a:p>
        </p:txBody>
      </p:sp>
      <p:pic>
        <p:nvPicPr>
          <p:cNvPr id="76803" name="Picture 4"/>
          <p:cNvPicPr>
            <a:picLocks noChangeAspect="1"/>
          </p:cNvPicPr>
          <p:nvPr/>
        </p:nvPicPr>
        <p:blipFill>
          <a:blip r:embed="rId1"/>
          <a:stretch>
            <a:fillRect/>
          </a:stretch>
        </p:blipFill>
        <p:spPr>
          <a:xfrm>
            <a:off x="395288" y="404813"/>
            <a:ext cx="8424862" cy="6118225"/>
          </a:xfrm>
          <a:prstGeom prst="rect">
            <a:avLst/>
          </a:prstGeom>
          <a:noFill/>
          <a:ln w="9525">
            <a:noFill/>
          </a:ln>
        </p:spPr>
      </p:pic>
      <p:sp>
        <p:nvSpPr>
          <p:cNvPr id="76804" name="Text Box 5"/>
          <p:cNvSpPr txBox="1"/>
          <p:nvPr/>
        </p:nvSpPr>
        <p:spPr>
          <a:xfrm>
            <a:off x="1116013" y="1557338"/>
            <a:ext cx="863600" cy="3381375"/>
          </a:xfrm>
          <a:prstGeom prst="rect">
            <a:avLst/>
          </a:prstGeom>
          <a:noFill/>
          <a:ln w="9525">
            <a:noFill/>
          </a:ln>
        </p:spPr>
        <p:txBody>
          <a:bodyPr anchor="t" anchorCtr="0">
            <a:spAutoFit/>
          </a:bodyPr>
          <a:p>
            <a:r>
              <a:rPr lang="zh-CN" altLang="en-US" sz="5400" b="0" dirty="0">
                <a:solidFill>
                  <a:srgbClr val="0196B9"/>
                </a:solidFill>
                <a:latin typeface="华文行楷" panose="02010800040101010101" pitchFamily="2" charset="-122"/>
              </a:rPr>
              <a:t>主要内容</a:t>
            </a:r>
            <a:endParaRPr lang="zh-CN" altLang="en-US" sz="5400" b="0" dirty="0">
              <a:solidFill>
                <a:srgbClr val="0196B9"/>
              </a:solidFill>
              <a:latin typeface="华文行楷" panose="02010800040101010101" pitchFamily="2" charset="-122"/>
            </a:endParaRPr>
          </a:p>
        </p:txBody>
      </p:sp>
      <p:sp>
        <p:nvSpPr>
          <p:cNvPr id="694278" name="圆角矩形 18">
            <a:hlinkClick r:id="rId2" action="ppaction://hlinksldjump" highlightClick="1"/>
            <a:hlinkHover r:id="" action="ppaction://noaction">
              <a:snd r:embed="rId3" name="按钮声音.wav"/>
            </a:hlinkHover>
          </p:cNvPr>
          <p:cNvSpPr>
            <a:spLocks noChangeArrowheads="1"/>
          </p:cNvSpPr>
          <p:nvPr/>
        </p:nvSpPr>
        <p:spPr bwMode="auto">
          <a:xfrm>
            <a:off x="3132138" y="1052513"/>
            <a:ext cx="5400675" cy="431800"/>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4.1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通信建设工程费用定额的构成</a:t>
            </a:r>
            <a:r>
              <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94279" name="AutoShape 7">
            <a:hlinkClick r:id="rId4" action="ppaction://hlinksldjump"/>
            <a:hlinkHover r:id="" action="ppaction://noaction">
              <a:snd r:embed="rId3" name="按钮声音.wav"/>
            </a:hlinkHover>
          </p:cNvPr>
          <p:cNvSpPr/>
          <p:nvPr/>
        </p:nvSpPr>
        <p:spPr>
          <a:xfrm>
            <a:off x="3132138" y="1701800"/>
            <a:ext cx="5400675"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en-US" altLang="zh-CN" sz="2400" dirty="0">
                <a:solidFill>
                  <a:srgbClr val="000099"/>
                </a:solidFill>
                <a:latin typeface="微软雅黑" panose="020B0503020204020204" pitchFamily="34" charset="-122"/>
                <a:ea typeface="微软雅黑" panose="020B0503020204020204" pitchFamily="34" charset="-122"/>
              </a:rPr>
              <a:t>4.2 </a:t>
            </a:r>
            <a:r>
              <a:rPr lang="zh-CN" altLang="en-US" sz="2400" dirty="0">
                <a:solidFill>
                  <a:srgbClr val="000099"/>
                </a:solidFill>
                <a:latin typeface="微软雅黑" panose="020B0503020204020204" pitchFamily="34" charset="-122"/>
                <a:ea typeface="微软雅黑" panose="020B0503020204020204" pitchFamily="34" charset="-122"/>
              </a:rPr>
              <a:t>工程费</a:t>
            </a:r>
            <a:endParaRPr lang="zh-CN" altLang="en-US" sz="2400" dirty="0">
              <a:solidFill>
                <a:srgbClr val="000099"/>
              </a:solidFill>
              <a:latin typeface="微软雅黑" panose="020B0503020204020204" pitchFamily="34" charset="-122"/>
              <a:ea typeface="微软雅黑" panose="020B0503020204020204" pitchFamily="34" charset="-122"/>
            </a:endParaRPr>
          </a:p>
        </p:txBody>
      </p:sp>
      <p:sp>
        <p:nvSpPr>
          <p:cNvPr id="694280" name="AutoShape 8">
            <a:hlinkClick r:id="rId5" action="ppaction://hlinksldjump" highlightClick="1"/>
            <a:hlinkHover r:id="" action="ppaction://noaction">
              <a:snd r:embed="rId3" name="按钮声音.wav"/>
            </a:hlinkHover>
          </p:cNvPr>
          <p:cNvSpPr>
            <a:spLocks noChangeArrowheads="1"/>
          </p:cNvSpPr>
          <p:nvPr/>
        </p:nvSpPr>
        <p:spPr bwMode="auto">
          <a:xfrm>
            <a:off x="3132138" y="2349500"/>
            <a:ext cx="5400675" cy="431800"/>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 </a:t>
            </a: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4.3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工程建设其他费</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694281" name="AutoShape 9">
            <a:hlinkClick r:id="rId6" action="ppaction://hlinksldjump"/>
            <a:hlinkHover r:id="" action="ppaction://noaction">
              <a:snd r:embed="rId3" name="按钮声音.wav"/>
            </a:hlinkHover>
          </p:cNvPr>
          <p:cNvSpPr/>
          <p:nvPr/>
        </p:nvSpPr>
        <p:spPr>
          <a:xfrm>
            <a:off x="3130550" y="3068638"/>
            <a:ext cx="5473700"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en-US" altLang="zh-CN" sz="2400" dirty="0">
                <a:solidFill>
                  <a:srgbClr val="000099"/>
                </a:solidFill>
                <a:latin typeface="微软雅黑" panose="020B0503020204020204" pitchFamily="34" charset="-122"/>
                <a:ea typeface="微软雅黑" panose="020B0503020204020204" pitchFamily="34" charset="-122"/>
              </a:rPr>
              <a:t>4.4 </a:t>
            </a:r>
            <a:r>
              <a:rPr lang="zh-CN" altLang="en-US" sz="2400" dirty="0">
                <a:solidFill>
                  <a:srgbClr val="000099"/>
                </a:solidFill>
                <a:latin typeface="微软雅黑" panose="020B0503020204020204" pitchFamily="34" charset="-122"/>
                <a:ea typeface="微软雅黑" panose="020B0503020204020204" pitchFamily="34" charset="-122"/>
              </a:rPr>
              <a:t>预备期和建设期利息</a:t>
            </a:r>
            <a:endParaRPr lang="zh-CN" altLang="en-US" dirty="0">
              <a:solidFill>
                <a:srgbClr val="000099"/>
              </a:solidFill>
              <a:latin typeface="Arial" panose="020B0604020202020204" pitchFamily="34" charset="0"/>
              <a:ea typeface="宋体" panose="02010600030101010101" pitchFamily="2" charset="-122"/>
            </a:endParaRPr>
          </a:p>
        </p:txBody>
      </p:sp>
      <p:sp>
        <p:nvSpPr>
          <p:cNvPr id="694282" name="AutoShape 10">
            <a:hlinkClick r:id="rId7" action="ppaction://hlinksldjump"/>
            <a:hlinkHover r:id="" action="ppaction://noaction">
              <a:snd r:embed="rId3" name="按钮声音.wav"/>
            </a:hlinkHover>
          </p:cNvPr>
          <p:cNvSpPr/>
          <p:nvPr/>
        </p:nvSpPr>
        <p:spPr>
          <a:xfrm>
            <a:off x="3059113" y="3860800"/>
            <a:ext cx="5545137"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zh-CN" altLang="en-US" sz="2400" dirty="0">
                <a:solidFill>
                  <a:srgbClr val="000099"/>
                </a:solidFill>
                <a:latin typeface="微软雅黑" panose="020B0503020204020204" pitchFamily="34" charset="-122"/>
                <a:ea typeface="微软雅黑" panose="020B0503020204020204" pitchFamily="34" charset="-122"/>
              </a:rPr>
              <a:t>阶段小结</a:t>
            </a:r>
            <a:endParaRPr lang="zh-CN" altLang="en-US" sz="2400" dirty="0">
              <a:solidFill>
                <a:srgbClr val="000099"/>
              </a:solidFill>
              <a:latin typeface="微软雅黑" panose="020B0503020204020204" pitchFamily="34" charset="-122"/>
              <a:ea typeface="微软雅黑" panose="020B0503020204020204" pitchFamily="34" charset="-122"/>
            </a:endParaRPr>
          </a:p>
        </p:txBody>
      </p:sp>
      <p:sp>
        <p:nvSpPr>
          <p:cNvPr id="694283" name="AutoShape 11">
            <a:hlinkClick r:id="rId8" action="ppaction://hlinksldjump"/>
            <a:hlinkHover r:id="" action="ppaction://noaction">
              <a:snd r:embed="rId3" name="按钮声音.wav"/>
            </a:hlinkHover>
          </p:cNvPr>
          <p:cNvSpPr/>
          <p:nvPr/>
        </p:nvSpPr>
        <p:spPr>
          <a:xfrm>
            <a:off x="3059113" y="4581525"/>
            <a:ext cx="5545137"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zh-CN" altLang="en-US" sz="2400" dirty="0">
                <a:solidFill>
                  <a:srgbClr val="000099"/>
                </a:solidFill>
                <a:latin typeface="微软雅黑" panose="020B0503020204020204" pitchFamily="34" charset="-122"/>
                <a:ea typeface="微软雅黑" panose="020B0503020204020204" pitchFamily="34" charset="-122"/>
              </a:rPr>
              <a:t>知识点练习</a:t>
            </a:r>
            <a:endParaRPr lang="zh-CN" altLang="en-US" sz="2400" dirty="0">
              <a:solidFill>
                <a:srgbClr val="000099"/>
              </a:solidFill>
              <a:latin typeface="微软雅黑" panose="020B0503020204020204" pitchFamily="34" charset="-122"/>
              <a:ea typeface="微软雅黑" panose="020B0503020204020204" pitchFamily="34" charset="-122"/>
            </a:endParaRPr>
          </a:p>
        </p:txBody>
      </p:sp>
      <p:sp>
        <p:nvSpPr>
          <p:cNvPr id="694284" name="AutoShape 12">
            <a:hlinkClick r:id="rId9" action="ppaction://hlinksldjump"/>
            <a:hlinkHover r:id="" action="ppaction://noaction">
              <a:snd r:embed="rId3" name="按钮声音.wav"/>
            </a:hlinkHover>
          </p:cNvPr>
          <p:cNvSpPr/>
          <p:nvPr/>
        </p:nvSpPr>
        <p:spPr>
          <a:xfrm>
            <a:off x="3059113" y="5229225"/>
            <a:ext cx="5545137"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zh-CN" altLang="en-US" sz="2400" dirty="0">
                <a:solidFill>
                  <a:srgbClr val="000099"/>
                </a:solidFill>
                <a:latin typeface="微软雅黑" panose="020B0503020204020204" pitchFamily="34" charset="-122"/>
                <a:ea typeface="微软雅黑" panose="020B0503020204020204" pitchFamily="34" charset="-122"/>
              </a:rPr>
              <a:t>技能训练</a:t>
            </a:r>
            <a:endParaRPr lang="zh-CN" altLang="en-US" sz="2400" dirty="0">
              <a:solidFill>
                <a:srgbClr val="000099"/>
              </a:solidFill>
              <a:latin typeface="微软雅黑" panose="020B0503020204020204" pitchFamily="34" charset="-122"/>
              <a:ea typeface="微软雅黑" panose="020B0503020204020204" pitchFamily="34" charset="-122"/>
            </a:endParaRPr>
          </a:p>
        </p:txBody>
      </p:sp>
      <p:pic>
        <p:nvPicPr>
          <p:cNvPr id="76812" name="Picture 13" descr="图片1">
            <a:hlinkClick r:id="rId10" action="ppaction://hlinksldjump"/>
          </p:cNvPr>
          <p:cNvPicPr>
            <a:picLocks noChangeAspect="1"/>
          </p:cNvPicPr>
          <p:nvPr/>
        </p:nvPicPr>
        <p:blipFill>
          <a:blip r:embed="rId11"/>
          <a:stretch>
            <a:fillRect/>
          </a:stretch>
        </p:blipFill>
        <p:spPr>
          <a:xfrm>
            <a:off x="7877175" y="6010275"/>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694278">
                                            <p:txEl>
                                              <p:charRg st="0" end="19"/>
                                            </p:txEl>
                                          </p:spTgt>
                                        </p:tgtEl>
                                        <p:attrNameLst>
                                          <p:attrName>style.visibility</p:attrName>
                                        </p:attrNameLst>
                                      </p:cBhvr>
                                      <p:to>
                                        <p:strVal val="visible"/>
                                      </p:to>
                                    </p:set>
                                    <p:animEffect transition="in" filter="blinds(horizontal)">
                                      <p:cBhvr>
                                        <p:cTn id="7" dur="1000"/>
                                        <p:tgtEl>
                                          <p:spTgt spid="694278">
                                            <p:txEl>
                                              <p:charRg st="0" end="19"/>
                                            </p:txEl>
                                          </p:spTgt>
                                        </p:tgtEl>
                                      </p:cBhvr>
                                    </p:animEffect>
                                  </p:childTnLst>
                                </p:cTn>
                              </p:par>
                            </p:childTnLst>
                          </p:cTn>
                        </p:par>
                        <p:par>
                          <p:cTn id="8" fill="hold">
                            <p:stCondLst>
                              <p:cond delay="1000"/>
                            </p:stCondLst>
                            <p:childTnLst>
                              <p:par>
                                <p:cTn id="9" presetID="3" presetClass="entr" presetSubtype="10" fill="hold" nodeType="afterEffect">
                                  <p:stCondLst>
                                    <p:cond delay="0"/>
                                  </p:stCondLst>
                                  <p:childTnLst>
                                    <p:set>
                                      <p:cBhvr>
                                        <p:cTn id="10" dur="1" fill="hold">
                                          <p:stCondLst>
                                            <p:cond delay="0"/>
                                          </p:stCondLst>
                                        </p:cTn>
                                        <p:tgtEl>
                                          <p:spTgt spid="694279">
                                            <p:txEl>
                                              <p:charRg st="0" end="8"/>
                                            </p:txEl>
                                          </p:spTgt>
                                        </p:tgtEl>
                                        <p:attrNameLst>
                                          <p:attrName>style.visibility</p:attrName>
                                        </p:attrNameLst>
                                      </p:cBhvr>
                                      <p:to>
                                        <p:strVal val="visible"/>
                                      </p:to>
                                    </p:set>
                                    <p:animEffect transition="in" filter="blinds(horizontal)">
                                      <p:cBhvr>
                                        <p:cTn id="11" dur="1000"/>
                                        <p:tgtEl>
                                          <p:spTgt spid="694279">
                                            <p:txEl>
                                              <p:charRg st="0" end="8"/>
                                            </p:txEl>
                                          </p:spTgt>
                                        </p:tgtEl>
                                      </p:cBhvr>
                                    </p:animEffect>
                                  </p:childTnLst>
                                </p:cTn>
                              </p:par>
                            </p:childTnLst>
                          </p:cTn>
                        </p:par>
                        <p:par>
                          <p:cTn id="12" fill="hold">
                            <p:stCondLst>
                              <p:cond delay="2000"/>
                            </p:stCondLst>
                            <p:childTnLst>
                              <p:par>
                                <p:cTn id="13" presetID="3" presetClass="entr" presetSubtype="10" fill="hold" nodeType="afterEffect">
                                  <p:stCondLst>
                                    <p:cond delay="0"/>
                                  </p:stCondLst>
                                  <p:childTnLst>
                                    <p:set>
                                      <p:cBhvr>
                                        <p:cTn id="14" dur="1" fill="hold">
                                          <p:stCondLst>
                                            <p:cond delay="0"/>
                                          </p:stCondLst>
                                        </p:cTn>
                                        <p:tgtEl>
                                          <p:spTgt spid="694280">
                                            <p:txEl>
                                              <p:charRg st="0" end="13"/>
                                            </p:txEl>
                                          </p:spTgt>
                                        </p:tgtEl>
                                        <p:attrNameLst>
                                          <p:attrName>style.visibility</p:attrName>
                                        </p:attrNameLst>
                                      </p:cBhvr>
                                      <p:to>
                                        <p:strVal val="visible"/>
                                      </p:to>
                                    </p:set>
                                    <p:animEffect transition="in" filter="blinds(horizontal)">
                                      <p:cBhvr>
                                        <p:cTn id="15" dur="1000"/>
                                        <p:tgtEl>
                                          <p:spTgt spid="694280">
                                            <p:txEl>
                                              <p:charRg st="0" end="13"/>
                                            </p:txEl>
                                          </p:spTgt>
                                        </p:tgtEl>
                                      </p:cBhvr>
                                    </p:animEffect>
                                  </p:childTnLst>
                                </p:cTn>
                              </p:par>
                            </p:childTnLst>
                          </p:cTn>
                        </p:par>
                        <p:par>
                          <p:cTn id="16" fill="hold">
                            <p:stCondLst>
                              <p:cond delay="3000"/>
                            </p:stCondLst>
                            <p:childTnLst>
                              <p:par>
                                <p:cTn id="17" presetID="3" presetClass="entr" presetSubtype="10" fill="hold" nodeType="afterEffect">
                                  <p:stCondLst>
                                    <p:cond delay="0"/>
                                  </p:stCondLst>
                                  <p:childTnLst>
                                    <p:set>
                                      <p:cBhvr>
                                        <p:cTn id="18" dur="1" fill="hold">
                                          <p:stCondLst>
                                            <p:cond delay="0"/>
                                          </p:stCondLst>
                                        </p:cTn>
                                        <p:tgtEl>
                                          <p:spTgt spid="694281">
                                            <p:txEl>
                                              <p:charRg st="0" end="14"/>
                                            </p:txEl>
                                          </p:spTgt>
                                        </p:tgtEl>
                                        <p:attrNameLst>
                                          <p:attrName>style.visibility</p:attrName>
                                        </p:attrNameLst>
                                      </p:cBhvr>
                                      <p:to>
                                        <p:strVal val="visible"/>
                                      </p:to>
                                    </p:set>
                                    <p:animEffect transition="in" filter="blinds(horizontal)">
                                      <p:cBhvr>
                                        <p:cTn id="19" dur="1000"/>
                                        <p:tgtEl>
                                          <p:spTgt spid="694281">
                                            <p:txEl>
                                              <p:charRg st="0" end="14"/>
                                            </p:txEl>
                                          </p:spTgt>
                                        </p:tgtEl>
                                      </p:cBhvr>
                                    </p:animEffect>
                                  </p:childTnLst>
                                </p:cTn>
                              </p:par>
                            </p:childTnLst>
                          </p:cTn>
                        </p:par>
                        <p:par>
                          <p:cTn id="20" fill="hold">
                            <p:stCondLst>
                              <p:cond delay="4000"/>
                            </p:stCondLst>
                            <p:childTnLst>
                              <p:par>
                                <p:cTn id="21" presetID="3" presetClass="entr" presetSubtype="10" fill="hold" nodeType="afterEffect">
                                  <p:stCondLst>
                                    <p:cond delay="0"/>
                                  </p:stCondLst>
                                  <p:childTnLst>
                                    <p:set>
                                      <p:cBhvr>
                                        <p:cTn id="22" dur="1" fill="hold">
                                          <p:stCondLst>
                                            <p:cond delay="0"/>
                                          </p:stCondLst>
                                        </p:cTn>
                                        <p:tgtEl>
                                          <p:spTgt spid="694282">
                                            <p:txEl>
                                              <p:charRg st="0" end="5"/>
                                            </p:txEl>
                                          </p:spTgt>
                                        </p:tgtEl>
                                        <p:attrNameLst>
                                          <p:attrName>style.visibility</p:attrName>
                                        </p:attrNameLst>
                                      </p:cBhvr>
                                      <p:to>
                                        <p:strVal val="visible"/>
                                      </p:to>
                                    </p:set>
                                    <p:animEffect transition="in" filter="blinds(horizontal)">
                                      <p:cBhvr>
                                        <p:cTn id="23" dur="1000"/>
                                        <p:tgtEl>
                                          <p:spTgt spid="694282">
                                            <p:txEl>
                                              <p:charRg st="0" end="5"/>
                                            </p:txEl>
                                          </p:spTgt>
                                        </p:tgtEl>
                                      </p:cBhvr>
                                    </p:animEffect>
                                  </p:childTnLst>
                                </p:cTn>
                              </p:par>
                            </p:childTnLst>
                          </p:cTn>
                        </p:par>
                        <p:par>
                          <p:cTn id="24" fill="hold">
                            <p:stCondLst>
                              <p:cond delay="5000"/>
                            </p:stCondLst>
                            <p:childTnLst>
                              <p:par>
                                <p:cTn id="25" presetID="3" presetClass="entr" presetSubtype="10" fill="hold" nodeType="afterEffect">
                                  <p:stCondLst>
                                    <p:cond delay="0"/>
                                  </p:stCondLst>
                                  <p:childTnLst>
                                    <p:set>
                                      <p:cBhvr>
                                        <p:cTn id="26" dur="1" fill="hold">
                                          <p:stCondLst>
                                            <p:cond delay="0"/>
                                          </p:stCondLst>
                                        </p:cTn>
                                        <p:tgtEl>
                                          <p:spTgt spid="694283">
                                            <p:txEl>
                                              <p:charRg st="0" end="6"/>
                                            </p:txEl>
                                          </p:spTgt>
                                        </p:tgtEl>
                                        <p:attrNameLst>
                                          <p:attrName>style.visibility</p:attrName>
                                        </p:attrNameLst>
                                      </p:cBhvr>
                                      <p:to>
                                        <p:strVal val="visible"/>
                                      </p:to>
                                    </p:set>
                                    <p:animEffect transition="in" filter="blinds(horizontal)">
                                      <p:cBhvr>
                                        <p:cTn id="27" dur="1000"/>
                                        <p:tgtEl>
                                          <p:spTgt spid="694283">
                                            <p:txEl>
                                              <p:charRg st="0" end="6"/>
                                            </p:txEl>
                                          </p:spTgt>
                                        </p:tgtEl>
                                      </p:cBhvr>
                                    </p:animEffect>
                                  </p:childTnLst>
                                </p:cTn>
                              </p:par>
                            </p:childTnLst>
                          </p:cTn>
                        </p:par>
                        <p:par>
                          <p:cTn id="28" fill="hold">
                            <p:stCondLst>
                              <p:cond delay="6000"/>
                            </p:stCondLst>
                            <p:childTnLst>
                              <p:par>
                                <p:cTn id="29" presetID="3" presetClass="entr" presetSubtype="10" fill="hold" nodeType="afterEffect">
                                  <p:stCondLst>
                                    <p:cond delay="0"/>
                                  </p:stCondLst>
                                  <p:childTnLst>
                                    <p:set>
                                      <p:cBhvr>
                                        <p:cTn id="30" dur="1" fill="hold">
                                          <p:stCondLst>
                                            <p:cond delay="0"/>
                                          </p:stCondLst>
                                        </p:cTn>
                                        <p:tgtEl>
                                          <p:spTgt spid="694284">
                                            <p:txEl>
                                              <p:charRg st="0" end="5"/>
                                            </p:txEl>
                                          </p:spTgt>
                                        </p:tgtEl>
                                        <p:attrNameLst>
                                          <p:attrName>style.visibility</p:attrName>
                                        </p:attrNameLst>
                                      </p:cBhvr>
                                      <p:to>
                                        <p:strVal val="visible"/>
                                      </p:to>
                                    </p:set>
                                    <p:animEffect transition="in" filter="blinds(horizontal)">
                                      <p:cBhvr>
                                        <p:cTn id="31" dur="1000"/>
                                        <p:tgtEl>
                                          <p:spTgt spid="694284">
                                            <p:txEl>
                                              <p:charRg st="0"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2"/>
          <p:cNvSpPr>
            <a:spLocks noGrp="1"/>
          </p:cNvSpPr>
          <p:nvPr>
            <p:ph type="title"/>
          </p:nvPr>
        </p:nvSpPr>
        <p:spPr>
          <a:xfrm>
            <a:off x="914400" y="333375"/>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4.1</a:t>
            </a:r>
            <a:r>
              <a:rPr lang="zh-CN" altLang="en-US" b="1" dirty="0">
                <a:solidFill>
                  <a:srgbClr val="000099"/>
                </a:solidFill>
                <a:latin typeface="黑体" panose="02010609060101010101" pitchFamily="49" charset="-122"/>
                <a:ea typeface="黑体" panose="02010609060101010101" pitchFamily="49" charset="-122"/>
              </a:rPr>
              <a:t>通信建设工程费用定额的构成</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77826"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sp>
        <p:nvSpPr>
          <p:cNvPr id="77827" name="Line 18"/>
          <p:cNvSpPr/>
          <p:nvPr/>
        </p:nvSpPr>
        <p:spPr>
          <a:xfrm>
            <a:off x="1682750" y="2546350"/>
            <a:ext cx="5656263" cy="0"/>
          </a:xfrm>
          <a:prstGeom prst="line">
            <a:avLst/>
          </a:prstGeom>
          <a:ln w="38100" cap="rnd" cmpd="sng">
            <a:solidFill>
              <a:srgbClr val="008000"/>
            </a:solidFill>
            <a:prstDash val="sysDot"/>
            <a:round/>
            <a:headEnd type="none" w="med" len="med"/>
            <a:tailEnd type="oval" w="med" len="med"/>
          </a:ln>
        </p:spPr>
      </p:sp>
      <p:sp>
        <p:nvSpPr>
          <p:cNvPr id="77828" name="Line 6"/>
          <p:cNvSpPr/>
          <p:nvPr/>
        </p:nvSpPr>
        <p:spPr>
          <a:xfrm>
            <a:off x="1697038" y="3505200"/>
            <a:ext cx="5654675" cy="0"/>
          </a:xfrm>
          <a:prstGeom prst="line">
            <a:avLst/>
          </a:prstGeom>
          <a:ln w="38100" cap="rnd" cmpd="sng">
            <a:solidFill>
              <a:srgbClr val="008000"/>
            </a:solidFill>
            <a:prstDash val="sysDot"/>
            <a:round/>
            <a:headEnd type="none" w="med" len="med"/>
            <a:tailEnd type="oval" w="med" len="med"/>
          </a:ln>
        </p:spPr>
      </p:sp>
      <p:pic>
        <p:nvPicPr>
          <p:cNvPr id="77829" name="Picture 12" descr="003c"/>
          <p:cNvPicPr>
            <a:picLocks noChangeAspect="1"/>
          </p:cNvPicPr>
          <p:nvPr/>
        </p:nvPicPr>
        <p:blipFill>
          <a:blip r:embed="rId1"/>
          <a:stretch>
            <a:fillRect/>
          </a:stretch>
        </p:blipFill>
        <p:spPr>
          <a:xfrm>
            <a:off x="1701800" y="3014663"/>
            <a:ext cx="504825" cy="504825"/>
          </a:xfrm>
          <a:prstGeom prst="rect">
            <a:avLst/>
          </a:prstGeom>
          <a:noFill/>
          <a:ln w="9525">
            <a:noFill/>
          </a:ln>
        </p:spPr>
      </p:pic>
      <p:pic>
        <p:nvPicPr>
          <p:cNvPr id="77830" name="Picture 14" descr="002b"/>
          <p:cNvPicPr>
            <a:picLocks noChangeAspect="1"/>
          </p:cNvPicPr>
          <p:nvPr/>
        </p:nvPicPr>
        <p:blipFill>
          <a:blip r:embed="rId2"/>
          <a:stretch>
            <a:fillRect/>
          </a:stretch>
        </p:blipFill>
        <p:spPr>
          <a:xfrm>
            <a:off x="1701800" y="2046288"/>
            <a:ext cx="504825" cy="504825"/>
          </a:xfrm>
          <a:prstGeom prst="rect">
            <a:avLst/>
          </a:prstGeom>
          <a:noFill/>
          <a:ln w="9525">
            <a:noFill/>
          </a:ln>
        </p:spPr>
      </p:pic>
      <p:sp>
        <p:nvSpPr>
          <p:cNvPr id="695308" name="Text Box 12">
            <a:hlinkClick r:id="rId3" action="ppaction://hlinksldjump"/>
          </p:cNvPr>
          <p:cNvSpPr txBox="1">
            <a:spLocks noChangeArrowheads="1"/>
          </p:cNvSpPr>
          <p:nvPr/>
        </p:nvSpPr>
        <p:spPr bwMode="auto">
          <a:xfrm>
            <a:off x="2268538" y="2133600"/>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通信建设工程费用定额构成？</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95309" name="Text Box 13">
            <a:hlinkClick r:id="rId4" action="ppaction://hlinksldjump"/>
          </p:cNvPr>
          <p:cNvSpPr txBox="1">
            <a:spLocks noChangeArrowheads="1"/>
          </p:cNvSpPr>
          <p:nvPr/>
        </p:nvSpPr>
        <p:spPr bwMode="auto">
          <a:xfrm>
            <a:off x="2268538" y="3068638"/>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单项工程总费用构成？</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77833" name="Picture 27" descr="生物10"/>
          <p:cNvPicPr>
            <a:picLocks noChangeAspect="1"/>
          </p:cNvPicPr>
          <p:nvPr/>
        </p:nvPicPr>
        <p:blipFill>
          <a:blip r:embed="rId5"/>
          <a:srcRect r="68536" b="6113"/>
          <a:stretch>
            <a:fillRect/>
          </a:stretch>
        </p:blipFill>
        <p:spPr>
          <a:xfrm>
            <a:off x="563563" y="765175"/>
            <a:ext cx="830262" cy="706438"/>
          </a:xfrm>
          <a:prstGeom prst="rect">
            <a:avLst/>
          </a:prstGeom>
          <a:noFill/>
          <a:ln w="9525">
            <a:noFill/>
          </a:ln>
        </p:spPr>
      </p:pic>
      <p:grpSp>
        <p:nvGrpSpPr>
          <p:cNvPr id="77834" name="Group 43"/>
          <p:cNvGrpSpPr/>
          <p:nvPr/>
        </p:nvGrpSpPr>
        <p:grpSpPr>
          <a:xfrm>
            <a:off x="563563" y="1603375"/>
            <a:ext cx="1704975" cy="381000"/>
            <a:chOff x="-1324" y="576"/>
            <a:chExt cx="912" cy="240"/>
          </a:xfrm>
        </p:grpSpPr>
        <p:sp>
          <p:nvSpPr>
            <p:cNvPr id="77835"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77836"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77837"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pic>
        <p:nvPicPr>
          <p:cNvPr id="77838" name="Picture 20" descr="图片1">
            <a:hlinkClick r:id="rId6" action="ppaction://hlinksldjump"/>
          </p:cNvPr>
          <p:cNvPicPr>
            <a:picLocks noChangeAspect="1"/>
          </p:cNvPicPr>
          <p:nvPr/>
        </p:nvPicPr>
        <p:blipFill>
          <a:blip r:embed="rId7"/>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95308"/>
                                        </p:tgtEl>
                                        <p:attrNameLst>
                                          <p:attrName>style.visibility</p:attrName>
                                        </p:attrNameLst>
                                      </p:cBhvr>
                                      <p:to>
                                        <p:strVal val="visible"/>
                                      </p:to>
                                    </p:set>
                                    <p:animEffect transition="in" filter="wipe(left)">
                                      <p:cBhvr>
                                        <p:cTn id="7" dur="1000"/>
                                        <p:tgtEl>
                                          <p:spTgt spid="695308"/>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95309"/>
                                        </p:tgtEl>
                                        <p:attrNameLst>
                                          <p:attrName>style.visibility</p:attrName>
                                        </p:attrNameLst>
                                      </p:cBhvr>
                                      <p:to>
                                        <p:strVal val="visible"/>
                                      </p:to>
                                    </p:set>
                                    <p:animEffect transition="in" filter="wipe(left)">
                                      <p:cBhvr>
                                        <p:cTn id="11" dur="1000"/>
                                        <p:tgtEl>
                                          <p:spTgt spid="695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308" grpId="0"/>
      <p:bldP spid="695309"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22"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通信建设工程项目总费用构成</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a:p>
            <a:pPr>
              <a:lnSpc>
                <a:spcPct val="110000"/>
              </a:lnSpc>
              <a:buNone/>
            </a:pPr>
            <a:r>
              <a:rPr lang="zh-CN" altLang="en-US" dirty="0">
                <a:ea typeface="宋体" panose="02010600030101010101" pitchFamily="2" charset="-122"/>
              </a:rPr>
              <a:t>通信建设工程项目总费用由各单项工程项目总费用构成。             </a:t>
            </a:r>
            <a:endParaRPr lang="zh-CN" altLang="en-US" dirty="0">
              <a:ea typeface="宋体" panose="02010600030101010101" pitchFamily="2" charset="-122"/>
            </a:endParaRPr>
          </a:p>
        </p:txBody>
      </p:sp>
      <p:grpSp>
        <p:nvGrpSpPr>
          <p:cNvPr id="78850" name="Group 40"/>
          <p:cNvGrpSpPr/>
          <p:nvPr/>
        </p:nvGrpSpPr>
        <p:grpSpPr>
          <a:xfrm>
            <a:off x="7164388" y="-265112"/>
            <a:ext cx="1758950" cy="1606550"/>
            <a:chOff x="672" y="334"/>
            <a:chExt cx="1108" cy="1012"/>
          </a:xfrm>
        </p:grpSpPr>
        <p:pic>
          <p:nvPicPr>
            <p:cNvPr id="78851"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78852" name="Group 28"/>
            <p:cNvGrpSpPr/>
            <p:nvPr/>
          </p:nvGrpSpPr>
          <p:grpSpPr>
            <a:xfrm>
              <a:off x="864" y="1104"/>
              <a:ext cx="768" cy="242"/>
              <a:chOff x="-768" y="1440"/>
              <a:chExt cx="768" cy="242"/>
            </a:xfrm>
          </p:grpSpPr>
          <p:sp>
            <p:nvSpPr>
              <p:cNvPr id="78853"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78854"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78855"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78856"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graphicFrame>
        <p:nvGraphicFramePr>
          <p:cNvPr id="696330" name="Object 10"/>
          <p:cNvGraphicFramePr>
            <a:graphicFrameLocks noChangeAspect="1"/>
          </p:cNvGraphicFramePr>
          <p:nvPr/>
        </p:nvGraphicFramePr>
        <p:xfrm>
          <a:off x="2484438" y="2133600"/>
          <a:ext cx="3600450" cy="3490913"/>
        </p:xfrm>
        <a:graphic>
          <a:graphicData uri="http://schemas.openxmlformats.org/presentationml/2006/ole">
            <mc:AlternateContent xmlns:mc="http://schemas.openxmlformats.org/markup-compatibility/2006">
              <mc:Choice xmlns:v="urn:schemas-microsoft-com:vml" Requires="v">
                <p:oleObj spid="_x0000_s3081" name="" r:id="rId2" imgW="2653665" imgH="2312670" progId="Visio.Drawing.11">
                  <p:embed/>
                </p:oleObj>
              </mc:Choice>
              <mc:Fallback>
                <p:oleObj name="" r:id="rId2" imgW="2653665" imgH="2312670" progId="Visio.Drawing.11">
                  <p:embed/>
                  <p:pic>
                    <p:nvPicPr>
                      <p:cNvPr id="0" name="图片 3080"/>
                      <p:cNvPicPr/>
                      <p:nvPr/>
                    </p:nvPicPr>
                    <p:blipFill>
                      <a:blip r:embed="rId3"/>
                      <a:stretch>
                        <a:fillRect/>
                      </a:stretch>
                    </p:blipFill>
                    <p:spPr>
                      <a:xfrm>
                        <a:off x="2484438" y="2133600"/>
                        <a:ext cx="3600450" cy="3490913"/>
                      </a:xfrm>
                      <a:prstGeom prst="rect">
                        <a:avLst/>
                      </a:prstGeom>
                      <a:noFill/>
                      <a:ln w="38100">
                        <a:noFill/>
                        <a:miter/>
                      </a:ln>
                    </p:spPr>
                  </p:pic>
                </p:oleObj>
              </mc:Fallback>
            </mc:AlternateContent>
          </a:graphicData>
        </a:graphic>
      </p:graphicFrame>
      <p:pic>
        <p:nvPicPr>
          <p:cNvPr id="78858" name="Picture 11" descr="图片1">
            <a:hlinkClick r:id="rId4" action="ppaction://hlinksldjump"/>
          </p:cNvPr>
          <p:cNvPicPr>
            <a:picLocks noChangeAspect="1"/>
          </p:cNvPicPr>
          <p:nvPr/>
        </p:nvPicPr>
        <p:blipFill>
          <a:blip r:embed="rId5"/>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96322">
                                            <p:txEl>
                                              <p:charRg st="17" end="56"/>
                                            </p:txEl>
                                          </p:spTgt>
                                        </p:tgtEl>
                                        <p:attrNameLst>
                                          <p:attrName>style.visibility</p:attrName>
                                        </p:attrNameLst>
                                      </p:cBhvr>
                                      <p:to>
                                        <p:strVal val="visible"/>
                                      </p:to>
                                    </p:set>
                                    <p:animEffect transition="in" filter="slide(fromBottom)">
                                      <p:cBhvr>
                                        <p:cTn id="7" dur="500"/>
                                        <p:tgtEl>
                                          <p:spTgt spid="696322">
                                            <p:txEl>
                                              <p:charRg st="17" end="56"/>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96330"/>
                                        </p:tgtEl>
                                        <p:attrNameLst>
                                          <p:attrName>style.visibility</p:attrName>
                                        </p:attrNameLst>
                                      </p:cBhvr>
                                      <p:to>
                                        <p:strVal val="visible"/>
                                      </p:to>
                                    </p:set>
                                    <p:animEffect transition="in" filter="checkerboard(across)">
                                      <p:cBhvr>
                                        <p:cTn id="12" dur="500"/>
                                        <p:tgtEl>
                                          <p:spTgt spid="6963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7346"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单项工程总费用构成</a:t>
            </a:r>
            <a:r>
              <a:rPr lang="zh-CN" altLang="en-US" dirty="0">
                <a:ea typeface="宋体" panose="02010600030101010101" pitchFamily="2" charset="-122"/>
              </a:rPr>
              <a:t> </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a:p>
            <a:pPr>
              <a:buNone/>
            </a:pPr>
            <a:r>
              <a:rPr lang="zh-CN" altLang="en-US" dirty="0">
                <a:ea typeface="宋体" panose="02010600030101010101" pitchFamily="2" charset="-122"/>
              </a:rPr>
              <a:t>由工程费、工程建设其他费、预备费、建设期利息构成。</a:t>
            </a:r>
            <a:endParaRPr lang="zh-CN" altLang="en-US" dirty="0">
              <a:ea typeface="宋体" panose="02010600030101010101" pitchFamily="2" charset="-122"/>
            </a:endParaRPr>
          </a:p>
          <a:p>
            <a:pPr>
              <a:buNone/>
            </a:pPr>
            <a:endParaRPr lang="zh-CN" altLang="en-US" dirty="0">
              <a:ea typeface="宋体" panose="02010600030101010101" pitchFamily="2" charset="-122"/>
            </a:endParaRPr>
          </a:p>
          <a:p>
            <a:pPr>
              <a:buNone/>
            </a:pPr>
            <a:r>
              <a:rPr lang="zh-CN" altLang="en-US" dirty="0">
                <a:solidFill>
                  <a:srgbClr val="660033"/>
                </a:solidFill>
                <a:latin typeface="楷体_GB2312" pitchFamily="49" charset="-122"/>
                <a:ea typeface="楷体_GB2312" pitchFamily="49" charset="-122"/>
                <a:hlinkClick r:id="rId1" action="ppaction://hlinkfile"/>
              </a:rPr>
              <a:t>通信建设单项工程总费用的构成图</a:t>
            </a:r>
            <a:r>
              <a:rPr lang="en-US" altLang="zh-CN" dirty="0">
                <a:solidFill>
                  <a:srgbClr val="660033"/>
                </a:solidFill>
                <a:latin typeface="楷体_GB2312" pitchFamily="49" charset="-122"/>
                <a:ea typeface="楷体_GB2312" pitchFamily="49" charset="-122"/>
                <a:hlinkClick r:id="rId1" action="ppaction://hlinkfile"/>
              </a:rPr>
              <a:t>.doc</a:t>
            </a:r>
            <a:r>
              <a:rPr lang="en-US" altLang="zh-CN" dirty="0">
                <a:solidFill>
                  <a:srgbClr val="660033"/>
                </a:solidFill>
                <a:ea typeface="宋体" panose="02010600030101010101" pitchFamily="2" charset="-122"/>
              </a:rPr>
              <a:t> </a:t>
            </a:r>
            <a:endParaRPr lang="en-US" altLang="zh-CN" dirty="0">
              <a:solidFill>
                <a:srgbClr val="660033"/>
              </a:solidFill>
              <a:ea typeface="宋体" panose="02010600030101010101" pitchFamily="2" charset="-122"/>
            </a:endParaRPr>
          </a:p>
          <a:p>
            <a:pPr>
              <a:lnSpc>
                <a:spcPct val="110000"/>
              </a:lnSpc>
              <a:buNone/>
            </a:pPr>
            <a:endParaRPr lang="en-US" altLang="zh-CN" dirty="0">
              <a:solidFill>
                <a:srgbClr val="660033"/>
              </a:solidFill>
              <a:ea typeface="宋体" panose="02010600030101010101" pitchFamily="2" charset="-122"/>
            </a:endParaRPr>
          </a:p>
          <a:p>
            <a:pPr>
              <a:lnSpc>
                <a:spcPct val="120000"/>
              </a:lnSpc>
              <a:buNone/>
            </a:pPr>
            <a:r>
              <a:rPr lang="en-US" altLang="zh-CN" dirty="0">
                <a:ea typeface="宋体" panose="02010600030101010101" pitchFamily="2" charset="-122"/>
              </a:rPr>
              <a:t>            </a:t>
            </a:r>
            <a:endParaRPr lang="en-US" altLang="zh-CN" dirty="0">
              <a:ea typeface="宋体" panose="02010600030101010101" pitchFamily="2" charset="-122"/>
            </a:endParaRPr>
          </a:p>
        </p:txBody>
      </p:sp>
      <p:grpSp>
        <p:nvGrpSpPr>
          <p:cNvPr id="79874" name="Group 40"/>
          <p:cNvGrpSpPr/>
          <p:nvPr/>
        </p:nvGrpSpPr>
        <p:grpSpPr>
          <a:xfrm>
            <a:off x="7164388" y="-265112"/>
            <a:ext cx="1758950" cy="1606550"/>
            <a:chOff x="672" y="334"/>
            <a:chExt cx="1108" cy="1012"/>
          </a:xfrm>
        </p:grpSpPr>
        <p:pic>
          <p:nvPicPr>
            <p:cNvPr id="79875" name="Picture 39" descr="bb"/>
            <p:cNvPicPr>
              <a:picLocks noChangeAspect="1"/>
            </p:cNvPicPr>
            <p:nvPr/>
          </p:nvPicPr>
          <p:blipFill>
            <a:blip r:embed="rId2"/>
            <a:stretch>
              <a:fillRect/>
            </a:stretch>
          </p:blipFill>
          <p:spPr>
            <a:xfrm rot="-464626">
              <a:off x="768" y="334"/>
              <a:ext cx="1012" cy="964"/>
            </a:xfrm>
            <a:prstGeom prst="rect">
              <a:avLst/>
            </a:prstGeom>
            <a:noFill/>
            <a:ln w="9525">
              <a:noFill/>
            </a:ln>
          </p:spPr>
        </p:pic>
        <p:grpSp>
          <p:nvGrpSpPr>
            <p:cNvPr id="79876" name="Group 28"/>
            <p:cNvGrpSpPr/>
            <p:nvPr/>
          </p:nvGrpSpPr>
          <p:grpSpPr>
            <a:xfrm>
              <a:off x="864" y="1104"/>
              <a:ext cx="768" cy="242"/>
              <a:chOff x="-768" y="1440"/>
              <a:chExt cx="768" cy="242"/>
            </a:xfrm>
          </p:grpSpPr>
          <p:sp>
            <p:nvSpPr>
              <p:cNvPr id="79877"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79878"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79879"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79880"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pic>
        <p:nvPicPr>
          <p:cNvPr id="79881" name="Picture 10" descr="图片1">
            <a:hlinkClick r:id="rId3" action="ppaction://hlinksldjump"/>
          </p:cNvPr>
          <p:cNvPicPr>
            <a:picLocks noChangeAspect="1"/>
          </p:cNvPicPr>
          <p:nvPr/>
        </p:nvPicPr>
        <p:blipFill>
          <a:blip r:embed="rId4"/>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97346">
                                            <p:txEl>
                                              <p:charRg st="14" end="40"/>
                                            </p:txEl>
                                          </p:spTgt>
                                        </p:tgtEl>
                                        <p:attrNameLst>
                                          <p:attrName>style.visibility</p:attrName>
                                        </p:attrNameLst>
                                      </p:cBhvr>
                                      <p:to>
                                        <p:strVal val="visible"/>
                                      </p:to>
                                    </p:set>
                                    <p:animEffect transition="in" filter="slide(fromBottom)">
                                      <p:cBhvr>
                                        <p:cTn id="7" dur="500"/>
                                        <p:tgtEl>
                                          <p:spTgt spid="697346">
                                            <p:txEl>
                                              <p:charRg st="14" end="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nodeType="clickEffect">
                                  <p:stCondLst>
                                    <p:cond delay="0"/>
                                  </p:stCondLst>
                                  <p:childTnLst>
                                    <p:set>
                                      <p:cBhvr>
                                        <p:cTn id="11" dur="1" fill="hold">
                                          <p:stCondLst>
                                            <p:cond delay="0"/>
                                          </p:stCondLst>
                                        </p:cTn>
                                        <p:tgtEl>
                                          <p:spTgt spid="697346">
                                            <p:txEl>
                                              <p:charRg st="41" end="62"/>
                                            </p:txEl>
                                          </p:spTgt>
                                        </p:tgtEl>
                                        <p:attrNameLst>
                                          <p:attrName>style.visibility</p:attrName>
                                        </p:attrNameLst>
                                      </p:cBhvr>
                                      <p:to>
                                        <p:strVal val="visible"/>
                                      </p:to>
                                    </p:set>
                                    <p:anim calcmode="lin" valueType="num">
                                      <p:cBhvr>
                                        <p:cTn id="12" dur="1000" fill="hold"/>
                                        <p:tgtEl>
                                          <p:spTgt spid="697346">
                                            <p:txEl>
                                              <p:charRg st="41" end="62"/>
                                            </p:txEl>
                                          </p:spTgt>
                                        </p:tgtEl>
                                        <p:attrNameLst>
                                          <p:attrName>ppt_x</p:attrName>
                                        </p:attrNameLst>
                                      </p:cBhvr>
                                      <p:tavLst>
                                        <p:tav tm="0">
                                          <p:val>
                                            <p:strVal val="#ppt_x-.2"/>
                                          </p:val>
                                        </p:tav>
                                        <p:tav tm="100000">
                                          <p:val>
                                            <p:strVal val="#ppt_x"/>
                                          </p:val>
                                        </p:tav>
                                      </p:tavLst>
                                    </p:anim>
                                    <p:anim calcmode="lin" valueType="num">
                                      <p:cBhvr>
                                        <p:cTn id="13" dur="1000" fill="hold"/>
                                        <p:tgtEl>
                                          <p:spTgt spid="697346">
                                            <p:txEl>
                                              <p:charRg st="41" end="62"/>
                                            </p:txEl>
                                          </p:spTgt>
                                        </p:tgtEl>
                                        <p:attrNameLst>
                                          <p:attrName>ppt_y</p:attrName>
                                        </p:attrNameLst>
                                      </p:cBhvr>
                                      <p:tavLst>
                                        <p:tav tm="0">
                                          <p:val>
                                            <p:strVal val="#ppt_y"/>
                                          </p:val>
                                        </p:tav>
                                        <p:tav tm="100000">
                                          <p:val>
                                            <p:strVal val="#ppt_y"/>
                                          </p:val>
                                        </p:tav>
                                      </p:tavLst>
                                    </p:anim>
                                    <p:animEffect transition="in" filter="wipe(right)" prLst="gradientSize: 0.1">
                                      <p:cBhvr>
                                        <p:cTn id="14" dur="1000"/>
                                        <p:tgtEl>
                                          <p:spTgt spid="697346">
                                            <p:txEl>
                                              <p:charRg st="41" end="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Rectangle 2"/>
          <p:cNvSpPr>
            <a:spLocks noGrp="1"/>
          </p:cNvSpPr>
          <p:nvPr>
            <p:ph type="title"/>
          </p:nvPr>
        </p:nvSpPr>
        <p:spPr>
          <a:xfrm>
            <a:off x="914400" y="333375"/>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4.2 </a:t>
            </a:r>
            <a:r>
              <a:rPr lang="zh-CN" altLang="en-US" b="1" dirty="0">
                <a:solidFill>
                  <a:srgbClr val="000099"/>
                </a:solidFill>
                <a:latin typeface="黑体" panose="02010609060101010101" pitchFamily="49" charset="-122"/>
                <a:ea typeface="黑体" panose="02010609060101010101" pitchFamily="49" charset="-122"/>
              </a:rPr>
              <a:t>工程费</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80898"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grpSp>
        <p:nvGrpSpPr>
          <p:cNvPr id="80899" name="Group 4"/>
          <p:cNvGrpSpPr/>
          <p:nvPr/>
        </p:nvGrpSpPr>
        <p:grpSpPr>
          <a:xfrm>
            <a:off x="1682750" y="2546350"/>
            <a:ext cx="5668963" cy="1898650"/>
            <a:chOff x="1060" y="1604"/>
            <a:chExt cx="3571" cy="1196"/>
          </a:xfrm>
        </p:grpSpPr>
        <p:sp>
          <p:nvSpPr>
            <p:cNvPr id="80900" name="Line 18"/>
            <p:cNvSpPr/>
            <p:nvPr/>
          </p:nvSpPr>
          <p:spPr>
            <a:xfrm>
              <a:off x="1060" y="1604"/>
              <a:ext cx="3563" cy="0"/>
            </a:xfrm>
            <a:prstGeom prst="line">
              <a:avLst/>
            </a:prstGeom>
            <a:ln w="38100" cap="rnd" cmpd="sng">
              <a:solidFill>
                <a:srgbClr val="008000"/>
              </a:solidFill>
              <a:prstDash val="sysDot"/>
              <a:round/>
              <a:headEnd type="none" w="med" len="med"/>
              <a:tailEnd type="oval" w="med" len="med"/>
            </a:ln>
          </p:spPr>
        </p:sp>
        <p:sp>
          <p:nvSpPr>
            <p:cNvPr id="80901" name="Line 18"/>
            <p:cNvSpPr/>
            <p:nvPr/>
          </p:nvSpPr>
          <p:spPr>
            <a:xfrm>
              <a:off x="1069" y="2208"/>
              <a:ext cx="3562" cy="0"/>
            </a:xfrm>
            <a:prstGeom prst="line">
              <a:avLst/>
            </a:prstGeom>
            <a:ln w="38100" cap="rnd" cmpd="sng">
              <a:solidFill>
                <a:srgbClr val="008000"/>
              </a:solidFill>
              <a:prstDash val="sysDot"/>
              <a:round/>
              <a:headEnd type="none" w="med" len="med"/>
              <a:tailEnd type="oval" w="med" len="med"/>
            </a:ln>
          </p:spPr>
        </p:sp>
        <p:sp>
          <p:nvSpPr>
            <p:cNvPr id="80902" name="Line 18"/>
            <p:cNvSpPr/>
            <p:nvPr/>
          </p:nvSpPr>
          <p:spPr>
            <a:xfrm>
              <a:off x="1067" y="2800"/>
              <a:ext cx="3562" cy="0"/>
            </a:xfrm>
            <a:prstGeom prst="line">
              <a:avLst/>
            </a:prstGeom>
            <a:ln w="38100" cap="rnd" cmpd="sng">
              <a:solidFill>
                <a:srgbClr val="008000"/>
              </a:solidFill>
              <a:prstDash val="sysDot"/>
              <a:round/>
              <a:headEnd type="none" w="med" len="med"/>
              <a:tailEnd type="oval" w="med" len="med"/>
            </a:ln>
          </p:spPr>
        </p:sp>
      </p:grpSp>
      <p:grpSp>
        <p:nvGrpSpPr>
          <p:cNvPr id="80903" name="Group 8"/>
          <p:cNvGrpSpPr/>
          <p:nvPr/>
        </p:nvGrpSpPr>
        <p:grpSpPr>
          <a:xfrm>
            <a:off x="1701800" y="2046288"/>
            <a:ext cx="504825" cy="2443162"/>
            <a:chOff x="1072" y="1289"/>
            <a:chExt cx="318" cy="1539"/>
          </a:xfrm>
        </p:grpSpPr>
        <p:pic>
          <p:nvPicPr>
            <p:cNvPr id="80904" name="Picture 12" descr="003c"/>
            <p:cNvPicPr>
              <a:picLocks noChangeAspect="1"/>
            </p:cNvPicPr>
            <p:nvPr/>
          </p:nvPicPr>
          <p:blipFill>
            <a:blip r:embed="rId1"/>
            <a:stretch>
              <a:fillRect/>
            </a:stretch>
          </p:blipFill>
          <p:spPr>
            <a:xfrm>
              <a:off x="1072" y="1899"/>
              <a:ext cx="318" cy="318"/>
            </a:xfrm>
            <a:prstGeom prst="rect">
              <a:avLst/>
            </a:prstGeom>
            <a:noFill/>
            <a:ln w="9525">
              <a:noFill/>
            </a:ln>
          </p:spPr>
        </p:pic>
        <p:pic>
          <p:nvPicPr>
            <p:cNvPr id="80905" name="Picture 14" descr="002b"/>
            <p:cNvPicPr>
              <a:picLocks noChangeAspect="1"/>
            </p:cNvPicPr>
            <p:nvPr/>
          </p:nvPicPr>
          <p:blipFill>
            <a:blip r:embed="rId2"/>
            <a:stretch>
              <a:fillRect/>
            </a:stretch>
          </p:blipFill>
          <p:spPr>
            <a:xfrm>
              <a:off x="1072" y="1289"/>
              <a:ext cx="318" cy="318"/>
            </a:xfrm>
            <a:prstGeom prst="rect">
              <a:avLst/>
            </a:prstGeom>
            <a:noFill/>
            <a:ln w="9525">
              <a:noFill/>
            </a:ln>
          </p:spPr>
        </p:pic>
        <p:pic>
          <p:nvPicPr>
            <p:cNvPr id="80906" name="Picture 16" descr="004d (2)"/>
            <p:cNvPicPr>
              <a:picLocks noChangeAspect="1"/>
            </p:cNvPicPr>
            <p:nvPr/>
          </p:nvPicPr>
          <p:blipFill>
            <a:blip r:embed="rId3"/>
            <a:stretch>
              <a:fillRect/>
            </a:stretch>
          </p:blipFill>
          <p:spPr>
            <a:xfrm>
              <a:off x="1072" y="2510"/>
              <a:ext cx="318" cy="318"/>
            </a:xfrm>
            <a:prstGeom prst="rect">
              <a:avLst/>
            </a:prstGeom>
            <a:noFill/>
            <a:ln w="9525">
              <a:noFill/>
            </a:ln>
          </p:spPr>
        </p:pic>
      </p:grpSp>
      <p:sp>
        <p:nvSpPr>
          <p:cNvPr id="698380" name="Text Box 12">
            <a:hlinkClick r:id="rId4" action="ppaction://hlinksldjump"/>
          </p:cNvPr>
          <p:cNvSpPr txBox="1">
            <a:spLocks noChangeArrowheads="1"/>
          </p:cNvSpPr>
          <p:nvPr/>
        </p:nvSpPr>
        <p:spPr bwMode="auto">
          <a:xfrm>
            <a:off x="2268538" y="2133600"/>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通信建设工程费用定额构成？</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98381" name="Text Box 13">
            <a:hlinkClick r:id="rId5" action="ppaction://hlinksldjump"/>
          </p:cNvPr>
          <p:cNvSpPr txBox="1">
            <a:spLocks noChangeArrowheads="1"/>
          </p:cNvSpPr>
          <p:nvPr/>
        </p:nvSpPr>
        <p:spPr bwMode="auto">
          <a:xfrm>
            <a:off x="2268538" y="3068638"/>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单项工程总费用构成？</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98382" name="Text Box 14">
            <a:hlinkClick r:id="" action="ppaction://noaction"/>
          </p:cNvPr>
          <p:cNvSpPr txBox="1">
            <a:spLocks noChangeArrowheads="1"/>
          </p:cNvSpPr>
          <p:nvPr/>
        </p:nvSpPr>
        <p:spPr bwMode="auto">
          <a:xfrm>
            <a:off x="2268538" y="4005263"/>
            <a:ext cx="6119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各分项费用的费用定额与计算规则？</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80910" name="Picture 27" descr="生物10"/>
          <p:cNvPicPr>
            <a:picLocks noChangeAspect="1"/>
          </p:cNvPicPr>
          <p:nvPr/>
        </p:nvPicPr>
        <p:blipFill>
          <a:blip r:embed="rId6"/>
          <a:srcRect r="68536" b="6113"/>
          <a:stretch>
            <a:fillRect/>
          </a:stretch>
        </p:blipFill>
        <p:spPr>
          <a:xfrm>
            <a:off x="563563" y="765175"/>
            <a:ext cx="830262" cy="706438"/>
          </a:xfrm>
          <a:prstGeom prst="rect">
            <a:avLst/>
          </a:prstGeom>
          <a:noFill/>
          <a:ln w="9525">
            <a:noFill/>
          </a:ln>
        </p:spPr>
      </p:pic>
      <p:grpSp>
        <p:nvGrpSpPr>
          <p:cNvPr id="80911" name="Group 43"/>
          <p:cNvGrpSpPr/>
          <p:nvPr/>
        </p:nvGrpSpPr>
        <p:grpSpPr>
          <a:xfrm>
            <a:off x="563563" y="1603375"/>
            <a:ext cx="1704975" cy="381000"/>
            <a:chOff x="-1324" y="576"/>
            <a:chExt cx="912" cy="240"/>
          </a:xfrm>
        </p:grpSpPr>
        <p:sp>
          <p:nvSpPr>
            <p:cNvPr id="80912"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80913"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0914"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pic>
        <p:nvPicPr>
          <p:cNvPr id="80915" name="Picture 20" descr="图片1">
            <a:hlinkClick r:id="rId7" action="ppaction://hlinksldjump"/>
          </p:cNvPr>
          <p:cNvPicPr>
            <a:picLocks noChangeAspect="1"/>
          </p:cNvPicPr>
          <p:nvPr/>
        </p:nvPicPr>
        <p:blipFill>
          <a:blip r:embed="rId8"/>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98380"/>
                                        </p:tgtEl>
                                        <p:attrNameLst>
                                          <p:attrName>style.visibility</p:attrName>
                                        </p:attrNameLst>
                                      </p:cBhvr>
                                      <p:to>
                                        <p:strVal val="visible"/>
                                      </p:to>
                                    </p:set>
                                    <p:animEffect transition="in" filter="wipe(left)">
                                      <p:cBhvr>
                                        <p:cTn id="7" dur="1000"/>
                                        <p:tgtEl>
                                          <p:spTgt spid="698380"/>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698381"/>
                                        </p:tgtEl>
                                        <p:attrNameLst>
                                          <p:attrName>style.visibility</p:attrName>
                                        </p:attrNameLst>
                                      </p:cBhvr>
                                      <p:to>
                                        <p:strVal val="visible"/>
                                      </p:to>
                                    </p:set>
                                    <p:animEffect transition="in" filter="wipe(left)">
                                      <p:cBhvr>
                                        <p:cTn id="11" dur="1000"/>
                                        <p:tgtEl>
                                          <p:spTgt spid="698381"/>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698382"/>
                                        </p:tgtEl>
                                        <p:attrNameLst>
                                          <p:attrName>style.visibility</p:attrName>
                                        </p:attrNameLst>
                                      </p:cBhvr>
                                      <p:to>
                                        <p:strVal val="visible"/>
                                      </p:to>
                                    </p:set>
                                    <p:animEffect transition="in" filter="wipe(left)">
                                      <p:cBhvr>
                                        <p:cTn id="15" dur="1000"/>
                                        <p:tgtEl>
                                          <p:spTgt spid="698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8380" grpId="0"/>
      <p:bldP spid="698381" grpId="0"/>
      <p:bldP spid="69838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81922" name="Group 40"/>
          <p:cNvGrpSpPr/>
          <p:nvPr/>
        </p:nvGrpSpPr>
        <p:grpSpPr>
          <a:xfrm>
            <a:off x="7164388" y="-265112"/>
            <a:ext cx="1758950" cy="1606550"/>
            <a:chOff x="672" y="334"/>
            <a:chExt cx="1108" cy="1012"/>
          </a:xfrm>
        </p:grpSpPr>
        <p:pic>
          <p:nvPicPr>
            <p:cNvPr id="81923"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81924" name="Group 28"/>
            <p:cNvGrpSpPr/>
            <p:nvPr/>
          </p:nvGrpSpPr>
          <p:grpSpPr>
            <a:xfrm>
              <a:off x="864" y="1104"/>
              <a:ext cx="768" cy="242"/>
              <a:chOff x="-768" y="1440"/>
              <a:chExt cx="768" cy="242"/>
            </a:xfrm>
          </p:grpSpPr>
          <p:sp>
            <p:nvSpPr>
              <p:cNvPr id="8192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8192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1927"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1928"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699402" name="Text Box 10"/>
          <p:cNvSpPr txBox="1">
            <a:spLocks noChangeArrowheads="1"/>
          </p:cNvSpPr>
          <p:nvPr/>
        </p:nvSpPr>
        <p:spPr bwMode="auto">
          <a:xfrm>
            <a:off x="539750" y="1125538"/>
            <a:ext cx="8604250"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lnSpc>
                <a:spcPct val="120000"/>
              </a:lnSpc>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1.1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直接费</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lnSpc>
                <a:spcPct val="120000"/>
              </a:lnSpc>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1.1.1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直接工程费</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lnSpc>
                <a:spcPct val="120000"/>
              </a:lnSpc>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1</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）人工费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lnSpc>
                <a:spcPct val="120000"/>
              </a:lnSpc>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        指直接从事建筑安装工程施工的生产人员开支的各项费用。</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lnSpc>
                <a:spcPct val="120000"/>
              </a:lnSpc>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        </a:t>
            </a:r>
            <a:r>
              <a:rPr kumimoji="0" lang="zh-CN" altLang="en-US" sz="2400" kern="1200" cap="none" spc="0" normalizeH="0" baseline="0" noProof="0">
                <a:solidFill>
                  <a:schemeClr val="hlink"/>
                </a:solidFill>
                <a:latin typeface="Arial" panose="020B0604020202020204" pitchFamily="34" charset="0"/>
                <a:ea typeface="华文细黑" panose="02010600040101010101" pitchFamily="2" charset="-122"/>
                <a:cs typeface="+mn-cs"/>
              </a:rPr>
              <a:t>其费用定额及计算规则如下：</a:t>
            </a:r>
            <a:endParaRPr kumimoji="0" lang="zh-CN" altLang="en-US" sz="2400" kern="1200" cap="none" spc="0" normalizeH="0" baseline="0" noProof="0">
              <a:solidFill>
                <a:schemeClr val="hlink"/>
              </a:solidFill>
              <a:latin typeface="Arial" panose="020B0604020202020204" pitchFamily="34" charset="0"/>
              <a:ea typeface="华文细黑" panose="02010600040101010101" pitchFamily="2" charset="-122"/>
              <a:cs typeface="+mn-cs"/>
            </a:endParaRPr>
          </a:p>
          <a:p>
            <a:pPr marR="0" defTabSz="914400">
              <a:lnSpc>
                <a:spcPct val="120000"/>
              </a:lnSpc>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        通信建设工程不分专业和地区工资类别，综合取定人工费。人工费单价为：技工为</a:t>
            </a:r>
            <a:r>
              <a:rPr kumimoji="0" lang="en-US" altLang="zh-CN" sz="2800" kern="1200" cap="none" spc="0" normalizeH="0" baseline="0" noProof="0">
                <a:solidFill>
                  <a:srgbClr val="CC3300"/>
                </a:solidFill>
                <a:latin typeface="华文隶书" panose="02010800040101010101" pitchFamily="2" charset="-122"/>
                <a:ea typeface="华文隶书" panose="02010800040101010101" pitchFamily="2" charset="-122"/>
                <a:cs typeface="+mn-cs"/>
              </a:rPr>
              <a:t>48</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元</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工日；普工为</a:t>
            </a:r>
            <a:r>
              <a:rPr kumimoji="0" lang="en-US" altLang="zh-CN" sz="2800" kern="1200" cap="none" spc="0" normalizeH="0" baseline="0" noProof="0">
                <a:solidFill>
                  <a:srgbClr val="CC3300"/>
                </a:solidFill>
                <a:latin typeface="华文隶书" panose="02010800040101010101" pitchFamily="2" charset="-122"/>
                <a:ea typeface="华文隶书" panose="02010800040101010101" pitchFamily="2" charset="-122"/>
                <a:cs typeface="+mn-cs"/>
              </a:rPr>
              <a:t>19</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元</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工日。</a:t>
            </a:r>
            <a:endParaRPr kumimoji="0" lang="zh-CN" altLang="en-US"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699403" name="Rectangle 11"/>
          <p:cNvSpPr>
            <a:spLocks noChangeArrowheads="1"/>
          </p:cNvSpPr>
          <p:nvPr/>
        </p:nvSpPr>
        <p:spPr bwMode="auto">
          <a:xfrm>
            <a:off x="900113" y="4365625"/>
            <a:ext cx="7489825" cy="1593850"/>
          </a:xfrm>
          <a:prstGeom prst="rect">
            <a:avLst/>
          </a:prstGeom>
          <a:noFill/>
          <a:ln w="41275">
            <a:solidFill>
              <a:srgbClr val="99CC00"/>
            </a:solidFill>
            <a:miter lim="800000"/>
          </a:ln>
          <a:extLst>
            <a:ext uri="{909E8E84-426E-40DD-AFC4-6F175D3DCCD1}">
              <a14:hiddenFill xmlns:a14="http://schemas.microsoft.com/office/drawing/2010/main">
                <a:solidFill>
                  <a:srgbClr val="00FF00"/>
                </a:solidFill>
              </a14:hiddenFill>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概（预）算人工费</a:t>
            </a:r>
            <a:r>
              <a:rPr kumimoji="0"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技工费十普工费</a:t>
            </a:r>
            <a:endPar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概（预）算技工费</a:t>
            </a:r>
            <a:r>
              <a:rPr kumimoji="0"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技工单价</a:t>
            </a:r>
            <a:r>
              <a:rPr kumimoji="0"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概（预）算技工总工日</a:t>
            </a:r>
            <a:endPar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概（预）算普工费</a:t>
            </a:r>
            <a:r>
              <a:rPr kumimoji="0"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普工单价</a:t>
            </a:r>
            <a:r>
              <a:rPr kumimoji="0" lang="en-US" altLang="zh-CN"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a:t>
            </a: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概（预）算普工总工日</a:t>
            </a:r>
            <a:r>
              <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rPr>
              <a:t> </a:t>
            </a:r>
            <a:endPar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楷体_GB2312" pitchFamily="49" charset="-122"/>
              <a:ea typeface="楷体_GB2312" pitchFamily="49"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99402">
                                            <p:txEl>
                                              <p:charRg st="20" end="28"/>
                                            </p:txEl>
                                          </p:spTgt>
                                        </p:tgtEl>
                                        <p:attrNameLst>
                                          <p:attrName>style.visibility</p:attrName>
                                        </p:attrNameLst>
                                      </p:cBhvr>
                                      <p:to>
                                        <p:strVal val="visible"/>
                                      </p:to>
                                    </p:set>
                                    <p:animEffect transition="in" filter="slide(fromBottom)">
                                      <p:cBhvr>
                                        <p:cTn id="7" dur="500"/>
                                        <p:tgtEl>
                                          <p:spTgt spid="699402">
                                            <p:txEl>
                                              <p:charRg st="2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699402">
                                            <p:txEl>
                                              <p:charRg st="28" end="63"/>
                                            </p:txEl>
                                          </p:spTgt>
                                        </p:tgtEl>
                                        <p:attrNameLst>
                                          <p:attrName>style.visibility</p:attrName>
                                        </p:attrNameLst>
                                      </p:cBhvr>
                                      <p:to>
                                        <p:strVal val="visible"/>
                                      </p:to>
                                    </p:set>
                                    <p:animEffect transition="in" filter="wheel(4)">
                                      <p:cBhvr>
                                        <p:cTn id="12" dur="2000"/>
                                        <p:tgtEl>
                                          <p:spTgt spid="699402">
                                            <p:txEl>
                                              <p:charRg st="28" end="6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99402">
                                            <p:txEl>
                                              <p:charRg st="63" end="85"/>
                                            </p:txEl>
                                          </p:spTgt>
                                        </p:tgtEl>
                                        <p:attrNameLst>
                                          <p:attrName>style.visibility</p:attrName>
                                        </p:attrNameLst>
                                      </p:cBhvr>
                                      <p:to>
                                        <p:strVal val="visible"/>
                                      </p:to>
                                    </p:set>
                                    <p:animEffect transition="in" filter="slide(fromBottom)">
                                      <p:cBhvr>
                                        <p:cTn id="17" dur="500"/>
                                        <p:tgtEl>
                                          <p:spTgt spid="699402">
                                            <p:txEl>
                                              <p:charRg st="63" end="85"/>
                                            </p:txEl>
                                          </p:spTgt>
                                        </p:tgtEl>
                                      </p:cBhvr>
                                    </p:animEffect>
                                  </p:childTnLst>
                                </p:cTn>
                              </p:par>
                              <p:par>
                                <p:cTn id="18" presetID="12" presetClass="entr" presetSubtype="4" fill="hold" nodeType="withEffect">
                                  <p:stCondLst>
                                    <p:cond delay="0"/>
                                  </p:stCondLst>
                                  <p:childTnLst>
                                    <p:set>
                                      <p:cBhvr>
                                        <p:cTn id="19" dur="1" fill="hold">
                                          <p:stCondLst>
                                            <p:cond delay="0"/>
                                          </p:stCondLst>
                                        </p:cTn>
                                        <p:tgtEl>
                                          <p:spTgt spid="699402">
                                            <p:txEl>
                                              <p:charRg st="85" end="147"/>
                                            </p:txEl>
                                          </p:spTgt>
                                        </p:tgtEl>
                                        <p:attrNameLst>
                                          <p:attrName>style.visibility</p:attrName>
                                        </p:attrNameLst>
                                      </p:cBhvr>
                                      <p:to>
                                        <p:strVal val="visible"/>
                                      </p:to>
                                    </p:set>
                                    <p:animEffect transition="in" filter="slide(fromBottom)">
                                      <p:cBhvr>
                                        <p:cTn id="20" dur="500"/>
                                        <p:tgtEl>
                                          <p:spTgt spid="699402">
                                            <p:txEl>
                                              <p:charRg st="85" end="14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699403"/>
                                        </p:tgtEl>
                                        <p:attrNameLst>
                                          <p:attrName>style.visibility</p:attrName>
                                        </p:attrNameLst>
                                      </p:cBhvr>
                                      <p:to>
                                        <p:strVal val="visible"/>
                                      </p:to>
                                    </p:set>
                                    <p:animEffect transition="in" filter="circle(in)">
                                      <p:cBhvr>
                                        <p:cTn id="25" dur="2000"/>
                                        <p:tgtEl>
                                          <p:spTgt spid="699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40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82946" name="Group 40"/>
          <p:cNvGrpSpPr/>
          <p:nvPr/>
        </p:nvGrpSpPr>
        <p:grpSpPr>
          <a:xfrm>
            <a:off x="7164388" y="-265112"/>
            <a:ext cx="1758950" cy="1606550"/>
            <a:chOff x="672" y="334"/>
            <a:chExt cx="1108" cy="1012"/>
          </a:xfrm>
        </p:grpSpPr>
        <p:pic>
          <p:nvPicPr>
            <p:cNvPr id="82947"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82948" name="Group 28"/>
            <p:cNvGrpSpPr/>
            <p:nvPr/>
          </p:nvGrpSpPr>
          <p:grpSpPr>
            <a:xfrm>
              <a:off x="864" y="1104"/>
              <a:ext cx="768" cy="242"/>
              <a:chOff x="-768" y="1440"/>
              <a:chExt cx="768" cy="242"/>
            </a:xfrm>
          </p:grpSpPr>
          <p:sp>
            <p:nvSpPr>
              <p:cNvPr id="82949"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82950"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2951"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2952"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00426" name="Text Box 10"/>
          <p:cNvSpPr txBox="1"/>
          <p:nvPr/>
        </p:nvSpPr>
        <p:spPr>
          <a:xfrm>
            <a:off x="539750" y="1125538"/>
            <a:ext cx="8604250" cy="2720975"/>
          </a:xfrm>
          <a:prstGeom prst="rect">
            <a:avLst/>
          </a:prstGeom>
          <a:noFill/>
          <a:ln w="9525">
            <a:noFill/>
          </a:ln>
        </p:spPr>
        <p:txBody>
          <a:bodyPr anchor="t" anchorCtr="0">
            <a:spAutoFit/>
          </a:bodyPr>
          <a:p>
            <a:pPr>
              <a:lnSpc>
                <a:spcPct val="120000"/>
              </a:lnSpc>
            </a:pPr>
            <a:r>
              <a:rPr lang="en-US" altLang="zh-CN" sz="2400" dirty="0">
                <a:solidFill>
                  <a:srgbClr val="336699"/>
                </a:solidFill>
                <a:latin typeface="Arial" panose="020B0604020202020204" pitchFamily="34" charset="0"/>
                <a:ea typeface="宋体" panose="02010600030101010101" pitchFamily="2" charset="-122"/>
              </a:rPr>
              <a:t>1.1 </a:t>
            </a:r>
            <a:r>
              <a:rPr lang="zh-CN" altLang="en-US" sz="2400" dirty="0">
                <a:solidFill>
                  <a:srgbClr val="336699"/>
                </a:solidFill>
                <a:latin typeface="Arial" panose="020B0604020202020204" pitchFamily="34" charset="0"/>
                <a:ea typeface="宋体" panose="02010600030101010101" pitchFamily="2" charset="-122"/>
              </a:rPr>
              <a:t>直接费</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en-US" altLang="zh-CN" sz="2400" dirty="0">
                <a:solidFill>
                  <a:srgbClr val="336699"/>
                </a:solidFill>
                <a:latin typeface="Arial" panose="020B0604020202020204" pitchFamily="34" charset="0"/>
                <a:ea typeface="宋体" panose="02010600030101010101" pitchFamily="2" charset="-122"/>
              </a:rPr>
              <a:t>1.1.1 </a:t>
            </a:r>
            <a:r>
              <a:rPr lang="zh-CN" altLang="en-US" sz="2400" dirty="0">
                <a:solidFill>
                  <a:srgbClr val="336699"/>
                </a:solidFill>
                <a:latin typeface="Arial" panose="020B0604020202020204" pitchFamily="34" charset="0"/>
                <a:ea typeface="宋体" panose="02010600030101010101" pitchFamily="2" charset="-122"/>
              </a:rPr>
              <a:t>直接工程费</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）材料费</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zh-CN" altLang="en-US" sz="2400" dirty="0">
                <a:solidFill>
                  <a:srgbClr val="336699"/>
                </a:solidFill>
                <a:latin typeface="Arial" panose="020B0604020202020204" pitchFamily="34" charset="0"/>
                <a:ea typeface="宋体" panose="02010600030101010101" pitchFamily="2" charset="-122"/>
              </a:rPr>
              <a:t>        指施工过程中实体消耗的直接材料费用与采备材料所发生的费用总和。</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华文细黑" panose="02010600040101010101" pitchFamily="2" charset="-122"/>
              </a:rPr>
              <a:t>其费用定额及计算规则如下：</a:t>
            </a:r>
            <a:endParaRPr lang="zh-CN" altLang="en-US" sz="2400" dirty="0">
              <a:solidFill>
                <a:schemeClr val="hlink"/>
              </a:solidFill>
              <a:latin typeface="Arial" panose="020B0604020202020204" pitchFamily="34" charset="0"/>
              <a:ea typeface="华文细黑" panose="02010600040101010101" pitchFamily="2" charset="-122"/>
            </a:endParaRPr>
          </a:p>
        </p:txBody>
      </p:sp>
      <p:sp>
        <p:nvSpPr>
          <p:cNvPr id="700427" name="Rectangle 11"/>
          <p:cNvSpPr/>
          <p:nvPr/>
        </p:nvSpPr>
        <p:spPr>
          <a:xfrm>
            <a:off x="827088" y="3860800"/>
            <a:ext cx="7921625" cy="2032000"/>
          </a:xfrm>
          <a:prstGeom prst="rect">
            <a:avLst/>
          </a:prstGeom>
          <a:noFill/>
          <a:ln w="41275" cap="flat" cmpd="sng">
            <a:solidFill>
              <a:srgbClr val="99CC00"/>
            </a:solidFill>
            <a:prstDash val="solid"/>
            <a:miter/>
            <a:headEnd type="none" w="med" len="med"/>
            <a:tailEnd type="none" w="med" len="med"/>
          </a:ln>
        </p:spPr>
        <p:txBody>
          <a:bodyPr anchor="t" anchorCtr="0">
            <a:spAutoFit/>
          </a:bodyPr>
          <a:p>
            <a:pPr>
              <a:lnSpc>
                <a:spcPct val="130000"/>
              </a:lnSpc>
            </a:pPr>
            <a:r>
              <a:rPr lang="zh-CN" altLang="en-US" sz="2400" dirty="0">
                <a:solidFill>
                  <a:schemeClr val="tx1"/>
                </a:solidFill>
                <a:latin typeface="楷体_GB2312" pitchFamily="49" charset="-122"/>
                <a:ea typeface="楷体_GB2312" pitchFamily="49" charset="-122"/>
              </a:rPr>
              <a:t>材料费</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主要材料费</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辅助材料费</a:t>
            </a:r>
            <a:endParaRPr lang="zh-CN" altLang="en-US" sz="2400" dirty="0">
              <a:solidFill>
                <a:schemeClr val="tx1"/>
              </a:solidFill>
              <a:latin typeface="楷体_GB2312" pitchFamily="49" charset="-122"/>
              <a:ea typeface="楷体_GB2312" pitchFamily="49" charset="-122"/>
            </a:endParaRPr>
          </a:p>
          <a:p>
            <a:pPr>
              <a:lnSpc>
                <a:spcPct val="130000"/>
              </a:lnSpc>
            </a:pPr>
            <a:r>
              <a:rPr lang="zh-CN" altLang="en-US" sz="2400" dirty="0">
                <a:solidFill>
                  <a:schemeClr val="tx1"/>
                </a:solidFill>
                <a:latin typeface="楷体_GB2312" pitchFamily="49" charset="-122"/>
                <a:ea typeface="楷体_GB2312" pitchFamily="49" charset="-122"/>
              </a:rPr>
              <a:t>主要材料费</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材料原价十运杂费十运输保险费十采购及保管费</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采购代理服务费。</a:t>
            </a:r>
            <a:endParaRPr lang="zh-CN" altLang="en-US" sz="2400" dirty="0">
              <a:solidFill>
                <a:schemeClr val="tx1"/>
              </a:solidFill>
              <a:latin typeface="楷体_GB2312" pitchFamily="49" charset="-122"/>
              <a:ea typeface="楷体_GB2312" pitchFamily="49" charset="-122"/>
            </a:endParaRPr>
          </a:p>
          <a:p>
            <a:pPr>
              <a:lnSpc>
                <a:spcPct val="130000"/>
              </a:lnSpc>
            </a:pPr>
            <a:r>
              <a:rPr lang="zh-CN" altLang="en-US" sz="2400" dirty="0">
                <a:solidFill>
                  <a:schemeClr val="tx1"/>
                </a:solidFill>
                <a:latin typeface="楷体_GB2312" pitchFamily="49" charset="-122"/>
                <a:ea typeface="楷体_GB2312" pitchFamily="49" charset="-122"/>
              </a:rPr>
              <a:t>辅助材料费</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主要材料费</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辅助材料费系数 </a:t>
            </a:r>
            <a:endParaRPr lang="zh-CN" altLang="en-US" sz="2400" dirty="0">
              <a:solidFill>
                <a:schemeClr val="tx1"/>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00426">
                                            <p:txEl>
                                              <p:charRg st="20" end="27"/>
                                            </p:txEl>
                                          </p:spTgt>
                                        </p:tgtEl>
                                        <p:attrNameLst>
                                          <p:attrName>style.visibility</p:attrName>
                                        </p:attrNameLst>
                                      </p:cBhvr>
                                      <p:to>
                                        <p:strVal val="visible"/>
                                      </p:to>
                                    </p:set>
                                    <p:animEffect transition="in" filter="slide(fromBottom)">
                                      <p:cBhvr>
                                        <p:cTn id="7" dur="500"/>
                                        <p:tgtEl>
                                          <p:spTgt spid="700426">
                                            <p:txEl>
                                              <p:charRg st="2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00426">
                                            <p:txEl>
                                              <p:charRg st="27" end="67"/>
                                            </p:txEl>
                                          </p:spTgt>
                                        </p:tgtEl>
                                        <p:attrNameLst>
                                          <p:attrName>style.visibility</p:attrName>
                                        </p:attrNameLst>
                                      </p:cBhvr>
                                      <p:to>
                                        <p:strVal val="visible"/>
                                      </p:to>
                                    </p:set>
                                    <p:animEffect transition="in" filter="checkerboard(across)">
                                      <p:cBhvr>
                                        <p:cTn id="12" dur="500"/>
                                        <p:tgtEl>
                                          <p:spTgt spid="700426">
                                            <p:txEl>
                                              <p:charRg st="27"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00426">
                                            <p:txEl>
                                              <p:charRg st="67" end="89"/>
                                            </p:txEl>
                                          </p:spTgt>
                                        </p:tgtEl>
                                        <p:attrNameLst>
                                          <p:attrName>style.visibility</p:attrName>
                                        </p:attrNameLst>
                                      </p:cBhvr>
                                      <p:to>
                                        <p:strVal val="visible"/>
                                      </p:to>
                                    </p:set>
                                    <p:animEffect transition="in" filter="slide(fromBottom)">
                                      <p:cBhvr>
                                        <p:cTn id="17" dur="500"/>
                                        <p:tgtEl>
                                          <p:spTgt spid="700426">
                                            <p:txEl>
                                              <p:charRg st="67" end="8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700427"/>
                                        </p:tgtEl>
                                        <p:attrNameLst>
                                          <p:attrName>style.visibility</p:attrName>
                                        </p:attrNameLst>
                                      </p:cBhvr>
                                      <p:to>
                                        <p:strVal val="visible"/>
                                      </p:to>
                                    </p:set>
                                    <p:animEffect transition="in" filter="circle(in)">
                                      <p:cBhvr>
                                        <p:cTn id="22" dur="2000"/>
                                        <p:tgtEl>
                                          <p:spTgt spid="700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042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1442" name="Rectangle 2"/>
          <p:cNvSpPr/>
          <p:nvPr/>
        </p:nvSpPr>
        <p:spPr>
          <a:xfrm>
            <a:off x="250825" y="765175"/>
            <a:ext cx="7781925" cy="822325"/>
          </a:xfrm>
          <a:prstGeom prst="rect">
            <a:avLst/>
          </a:prstGeom>
          <a:noFill/>
          <a:ln w="9525">
            <a:noFill/>
          </a:ln>
        </p:spPr>
        <p:txBody>
          <a:bodyPr wrap="none" anchor="ctr" anchorCtr="0">
            <a:spAutoFit/>
          </a:bodyPr>
          <a:p>
            <a:pPr indent="171450" eaLnBrk="0" hangingPunct="0"/>
            <a:r>
              <a:rPr lang="zh-CN" altLang="en-US" sz="2400" dirty="0">
                <a:solidFill>
                  <a:srgbClr val="336699"/>
                </a:solidFill>
                <a:latin typeface="Arial" panose="020B0604020202020204" pitchFamily="34" charset="0"/>
                <a:ea typeface="宋体" panose="02010600030101010101" pitchFamily="2" charset="-122"/>
              </a:rPr>
              <a:t>式中： </a:t>
            </a:r>
            <a:endParaRPr lang="zh-CN" altLang="en-US" sz="2400" dirty="0">
              <a:solidFill>
                <a:srgbClr val="336699"/>
              </a:solidFill>
              <a:latin typeface="Arial" panose="020B0604020202020204" pitchFamily="34" charset="0"/>
              <a:ea typeface="宋体" panose="02010600030101010101" pitchFamily="2" charset="-122"/>
            </a:endParaRPr>
          </a:p>
          <a:p>
            <a:pPr indent="171450" eaLnBrk="0" hangingPunct="0"/>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运杂费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材料原价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器材运杂费费率（费率见</a:t>
            </a:r>
            <a:r>
              <a:rPr lang="zh-CN" altLang="en-US" sz="2400" dirty="0">
                <a:solidFill>
                  <a:srgbClr val="336699"/>
                </a:solidFill>
                <a:latin typeface="Arial" panose="020B0604020202020204" pitchFamily="34" charset="0"/>
                <a:ea typeface="宋体" panose="02010600030101010101" pitchFamily="2" charset="-122"/>
                <a:hlinkClick r:id="rId1" action="ppaction://hlinkfile"/>
              </a:rPr>
              <a:t>表</a:t>
            </a:r>
            <a:r>
              <a:rPr lang="en-US" altLang="zh-CN" sz="2400" dirty="0">
                <a:solidFill>
                  <a:srgbClr val="336699"/>
                </a:solidFill>
                <a:latin typeface="Arial" panose="020B0604020202020204" pitchFamily="34" charset="0"/>
                <a:ea typeface="宋体" panose="02010600030101010101" pitchFamily="2" charset="-122"/>
                <a:hlinkClick r:id="rId1" action="ppaction://hlinkfile"/>
              </a:rPr>
              <a:t>6-1</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701443" name="Rectangle 3"/>
          <p:cNvSpPr/>
          <p:nvPr/>
        </p:nvSpPr>
        <p:spPr>
          <a:xfrm>
            <a:off x="177800" y="1557338"/>
            <a:ext cx="9113838" cy="1212850"/>
          </a:xfrm>
          <a:prstGeom prst="rect">
            <a:avLst/>
          </a:prstGeom>
          <a:noFill/>
          <a:ln w="9525">
            <a:noFill/>
          </a:ln>
        </p:spPr>
        <p:txBody>
          <a:bodyPr wrap="none" anchor="ctr" anchorCtr="0">
            <a:spAutoFit/>
          </a:bodyPr>
          <a:p>
            <a:pPr indent="278130" eaLnBrk="0" hangingPunct="0">
              <a:lnSpc>
                <a:spcPct val="120000"/>
              </a:lnSpc>
            </a:pP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运输保险费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材料原价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保险费率</a:t>
            </a:r>
            <a:r>
              <a:rPr lang="en-US" altLang="zh-CN" sz="2400" dirty="0">
                <a:solidFill>
                  <a:srgbClr val="336699"/>
                </a:solidFill>
                <a:latin typeface="Arial" panose="020B0604020202020204" pitchFamily="34" charset="0"/>
                <a:ea typeface="宋体" panose="02010600030101010101" pitchFamily="2" charset="-122"/>
              </a:rPr>
              <a:t>0.1%</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a:p>
            <a:pPr indent="278130" eaLnBrk="0" hangingPunct="0">
              <a:lnSpc>
                <a:spcPct val="120000"/>
              </a:lnSpc>
            </a:pP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采购及保管费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材料原价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采购及保管费费率（费率见表</a:t>
            </a:r>
            <a:r>
              <a:rPr lang="en-US" altLang="zh-CN" sz="2400" dirty="0">
                <a:solidFill>
                  <a:srgbClr val="336699"/>
                </a:solidFill>
                <a:latin typeface="Arial" panose="020B0604020202020204" pitchFamily="34" charset="0"/>
                <a:ea typeface="宋体" panose="02010600030101010101" pitchFamily="2" charset="-122"/>
              </a:rPr>
              <a:t>6-2</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a:p>
            <a:pPr indent="278130" eaLnBrk="0" hangingPunct="0"/>
            <a:endParaRPr lang="zh-CN" altLang="en-US" sz="1600" dirty="0">
              <a:solidFill>
                <a:schemeClr val="tx1"/>
              </a:solidFill>
              <a:latin typeface="Arial" panose="020B0604020202020204" pitchFamily="34" charset="0"/>
              <a:ea typeface="宋体" panose="02010600030101010101" pitchFamily="2" charset="-122"/>
            </a:endParaRPr>
          </a:p>
        </p:txBody>
      </p:sp>
      <p:graphicFrame>
        <p:nvGraphicFramePr>
          <p:cNvPr id="701444" name="Group 4"/>
          <p:cNvGraphicFramePr>
            <a:graphicFrameLocks noGrp="1"/>
          </p:cNvGraphicFramePr>
          <p:nvPr/>
        </p:nvGraphicFramePr>
        <p:xfrm>
          <a:off x="1403350" y="3284538"/>
          <a:ext cx="4537075" cy="1366838"/>
        </p:xfrm>
        <a:graphic>
          <a:graphicData uri="http://schemas.openxmlformats.org/drawingml/2006/table">
            <a:tbl>
              <a:tblPr/>
              <a:tblGrid>
                <a:gridCol w="1831975"/>
                <a:gridCol w="1254125"/>
                <a:gridCol w="1450975"/>
              </a:tblGrid>
              <a:tr h="36053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36">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3">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材料原价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36">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36">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
        <p:nvSpPr>
          <p:cNvPr id="701466" name="Rectangle 26"/>
          <p:cNvSpPr/>
          <p:nvPr/>
        </p:nvSpPr>
        <p:spPr>
          <a:xfrm>
            <a:off x="2354263" y="2854325"/>
            <a:ext cx="2944812" cy="336550"/>
          </a:xfrm>
          <a:prstGeom prst="rect">
            <a:avLst/>
          </a:prstGeom>
          <a:noFill/>
          <a:ln w="9525">
            <a:noFill/>
          </a:ln>
        </p:spPr>
        <p:txBody>
          <a:bodyPr wrap="none" anchor="t" anchorCtr="0">
            <a:spAutoFit/>
          </a:bodyPr>
          <a:p>
            <a:pPr algn="ctr">
              <a:spcBef>
                <a:spcPct val="50000"/>
              </a:spcBef>
            </a:pPr>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6-2 </a:t>
            </a:r>
            <a:r>
              <a:rPr lang="zh-CN" altLang="en-US" sz="1600" b="0" dirty="0">
                <a:solidFill>
                  <a:schemeClr val="tx1"/>
                </a:solidFill>
                <a:latin typeface="Times New Roman" panose="02020603050405020304" pitchFamily="18" charset="0"/>
                <a:ea typeface="宋体" panose="02010600030101010101" pitchFamily="2" charset="-122"/>
              </a:rPr>
              <a:t>材料采购及保管费费率表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701442">
                                            <p:txEl>
                                              <p:charRg st="0" end="5"/>
                                            </p:txEl>
                                          </p:spTgt>
                                        </p:tgtEl>
                                        <p:attrNameLst>
                                          <p:attrName>style.visibility</p:attrName>
                                        </p:attrNameLst>
                                      </p:cBhvr>
                                      <p:to>
                                        <p:strVal val="visible"/>
                                      </p:to>
                                    </p:set>
                                    <p:animEffect transition="in" filter="wheel(4)">
                                      <p:cBhvr>
                                        <p:cTn id="7" dur="2000"/>
                                        <p:tgtEl>
                                          <p:spTgt spid="701442">
                                            <p:txEl>
                                              <p:charRg st="0" end="5"/>
                                            </p:txEl>
                                          </p:spTgt>
                                        </p:tgtEl>
                                      </p:cBhvr>
                                    </p:animEffect>
                                  </p:childTnLst>
                                </p:cTn>
                              </p:par>
                              <p:par>
                                <p:cTn id="8" presetID="21" presetClass="entr" presetSubtype="4" fill="hold" nodeType="withEffect">
                                  <p:stCondLst>
                                    <p:cond delay="0"/>
                                  </p:stCondLst>
                                  <p:childTnLst>
                                    <p:set>
                                      <p:cBhvr>
                                        <p:cTn id="9" dur="1" fill="hold">
                                          <p:stCondLst>
                                            <p:cond delay="0"/>
                                          </p:stCondLst>
                                        </p:cTn>
                                        <p:tgtEl>
                                          <p:spTgt spid="701442">
                                            <p:txEl>
                                              <p:charRg st="5" end="34"/>
                                            </p:txEl>
                                          </p:spTgt>
                                        </p:tgtEl>
                                        <p:attrNameLst>
                                          <p:attrName>style.visibility</p:attrName>
                                        </p:attrNameLst>
                                      </p:cBhvr>
                                      <p:to>
                                        <p:strVal val="visible"/>
                                      </p:to>
                                    </p:set>
                                    <p:animEffect transition="in" filter="wheel(4)">
                                      <p:cBhvr>
                                        <p:cTn id="10" dur="2000"/>
                                        <p:tgtEl>
                                          <p:spTgt spid="701442">
                                            <p:txEl>
                                              <p:charRg st="5" end="3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701443">
                                            <p:txEl>
                                              <p:charRg st="0" end="24"/>
                                            </p:txEl>
                                          </p:spTgt>
                                        </p:tgtEl>
                                        <p:attrNameLst>
                                          <p:attrName>style.visibility</p:attrName>
                                        </p:attrNameLst>
                                      </p:cBhvr>
                                      <p:to>
                                        <p:strVal val="visible"/>
                                      </p:to>
                                    </p:set>
                                    <p:animEffect transition="in" filter="slide(fromBottom)">
                                      <p:cBhvr>
                                        <p:cTn id="15" dur="500"/>
                                        <p:tgtEl>
                                          <p:spTgt spid="701443">
                                            <p:txEl>
                                              <p:charRg st="0" end="24"/>
                                            </p:txEl>
                                          </p:spTgt>
                                        </p:tgtEl>
                                      </p:cBhvr>
                                    </p:animEffect>
                                  </p:childTnLst>
                                </p:cTn>
                              </p:par>
                              <p:par>
                                <p:cTn id="16" presetID="12" presetClass="entr" presetSubtype="4" fill="hold" nodeType="withEffect">
                                  <p:stCondLst>
                                    <p:cond delay="0"/>
                                  </p:stCondLst>
                                  <p:childTnLst>
                                    <p:set>
                                      <p:cBhvr>
                                        <p:cTn id="17" dur="1" fill="hold">
                                          <p:stCondLst>
                                            <p:cond delay="0"/>
                                          </p:stCondLst>
                                        </p:cTn>
                                        <p:tgtEl>
                                          <p:spTgt spid="701443">
                                            <p:txEl>
                                              <p:charRg st="24" end="57"/>
                                            </p:txEl>
                                          </p:spTgt>
                                        </p:tgtEl>
                                        <p:attrNameLst>
                                          <p:attrName>style.visibility</p:attrName>
                                        </p:attrNameLst>
                                      </p:cBhvr>
                                      <p:to>
                                        <p:strVal val="visible"/>
                                      </p:to>
                                    </p:set>
                                    <p:animEffect transition="in" filter="slide(fromBottom)">
                                      <p:cBhvr>
                                        <p:cTn id="18" dur="500"/>
                                        <p:tgtEl>
                                          <p:spTgt spid="701443">
                                            <p:txEl>
                                              <p:charRg st="24" end="57"/>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701444"/>
                                        </p:tgtEl>
                                        <p:attrNameLst>
                                          <p:attrName>style.visibility</p:attrName>
                                        </p:attrNameLst>
                                      </p:cBhvr>
                                      <p:to>
                                        <p:strVal val="visible"/>
                                      </p:to>
                                    </p:set>
                                    <p:animEffect transition="in" filter="slide(fromBottom)">
                                      <p:cBhvr>
                                        <p:cTn id="23" dur="500"/>
                                        <p:tgtEl>
                                          <p:spTgt spid="701444"/>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701466"/>
                                        </p:tgtEl>
                                        <p:attrNameLst>
                                          <p:attrName>style.visibility</p:attrName>
                                        </p:attrNameLst>
                                      </p:cBhvr>
                                      <p:to>
                                        <p:strVal val="visible"/>
                                      </p:to>
                                    </p:set>
                                    <p:animEffect transition="in" filter="slide(fromBottom)">
                                      <p:cBhvr>
                                        <p:cTn id="26" dur="500"/>
                                        <p:tgtEl>
                                          <p:spTgt spid="701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66"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2466" name="Rectangle 2"/>
          <p:cNvSpPr/>
          <p:nvPr/>
        </p:nvSpPr>
        <p:spPr>
          <a:xfrm>
            <a:off x="250825" y="476250"/>
            <a:ext cx="8396288" cy="1844675"/>
          </a:xfrm>
          <a:prstGeom prst="rect">
            <a:avLst/>
          </a:prstGeom>
          <a:noFill/>
          <a:ln w="9525">
            <a:noFill/>
          </a:ln>
        </p:spPr>
        <p:txBody>
          <a:bodyPr wrap="none" anchor="ctr" anchorCtr="0">
            <a:spAutoFit/>
          </a:bodyPr>
          <a:p>
            <a:pPr indent="278130" eaLnBrk="0" hangingPunct="0">
              <a:lnSpc>
                <a:spcPct val="120000"/>
              </a:lnSpc>
            </a:pPr>
            <a:endParaRPr lang="zh-CN" altLang="en-US" sz="2400" dirty="0">
              <a:solidFill>
                <a:srgbClr val="336699"/>
              </a:solidFill>
              <a:latin typeface="Arial" panose="020B0604020202020204" pitchFamily="34" charset="0"/>
              <a:ea typeface="宋体" panose="02010600030101010101" pitchFamily="2" charset="-122"/>
            </a:endParaRPr>
          </a:p>
          <a:p>
            <a:pPr indent="278130" eaLnBrk="0" hangingPunct="0">
              <a:lnSpc>
                <a:spcPct val="120000"/>
              </a:lnSpc>
            </a:pPr>
            <a:r>
              <a:rPr lang="en-US" altLang="zh-CN" sz="2400" dirty="0">
                <a:solidFill>
                  <a:srgbClr val="336699"/>
                </a:solidFill>
                <a:latin typeface="Arial" panose="020B0604020202020204" pitchFamily="34" charset="0"/>
                <a:ea typeface="宋体" panose="02010600030101010101" pitchFamily="2" charset="-122"/>
              </a:rPr>
              <a:t>(4)</a:t>
            </a:r>
            <a:r>
              <a:rPr lang="zh-CN" altLang="en-US" sz="2400" dirty="0">
                <a:solidFill>
                  <a:srgbClr val="336699"/>
                </a:solidFill>
                <a:latin typeface="Arial" panose="020B0604020202020204" pitchFamily="34" charset="0"/>
                <a:ea typeface="宋体" panose="02010600030101010101" pitchFamily="2" charset="-122"/>
              </a:rPr>
              <a:t>采购代理服务费按实计列。</a:t>
            </a:r>
            <a:endParaRPr lang="zh-CN" altLang="en-US" sz="2400" dirty="0">
              <a:solidFill>
                <a:srgbClr val="336699"/>
              </a:solidFill>
              <a:latin typeface="Arial" panose="020B0604020202020204" pitchFamily="34" charset="0"/>
              <a:ea typeface="宋体" panose="02010600030101010101" pitchFamily="2" charset="-122"/>
            </a:endParaRPr>
          </a:p>
          <a:p>
            <a:pPr indent="278130" eaLnBrk="0" hangingPunct="0">
              <a:lnSpc>
                <a:spcPct val="120000"/>
              </a:lnSpc>
            </a:pPr>
            <a:r>
              <a:rPr lang="en-US" altLang="zh-CN" sz="2400" dirty="0">
                <a:solidFill>
                  <a:srgbClr val="336699"/>
                </a:solidFill>
                <a:latin typeface="Arial" panose="020B0604020202020204" pitchFamily="34" charset="0"/>
                <a:ea typeface="宋体" panose="02010600030101010101" pitchFamily="2" charset="-122"/>
              </a:rPr>
              <a:t>(5)</a:t>
            </a:r>
            <a:r>
              <a:rPr lang="zh-CN" altLang="en-US" sz="2400" dirty="0">
                <a:solidFill>
                  <a:srgbClr val="336699"/>
                </a:solidFill>
                <a:latin typeface="Arial" panose="020B0604020202020204" pitchFamily="34" charset="0"/>
                <a:ea typeface="宋体" panose="02010600030101010101" pitchFamily="2" charset="-122"/>
              </a:rPr>
              <a:t>辅助材料费</a:t>
            </a:r>
            <a:endParaRPr lang="zh-CN" altLang="en-US" sz="2400" dirty="0">
              <a:solidFill>
                <a:srgbClr val="336699"/>
              </a:solidFill>
              <a:latin typeface="Arial" panose="020B0604020202020204" pitchFamily="34" charset="0"/>
              <a:ea typeface="宋体" panose="02010600030101010101" pitchFamily="2" charset="-122"/>
            </a:endParaRPr>
          </a:p>
          <a:p>
            <a:pPr indent="278130" eaLnBrk="0" hangingPunct="0">
              <a:lnSpc>
                <a:spcPct val="120000"/>
              </a:lnSpc>
            </a:pPr>
            <a:r>
              <a:rPr lang="zh-CN" altLang="en-US" sz="2400" dirty="0">
                <a:solidFill>
                  <a:srgbClr val="336699"/>
                </a:solidFill>
                <a:latin typeface="Arial" panose="020B0604020202020204" pitchFamily="34" charset="0"/>
                <a:ea typeface="宋体" panose="02010600030101010101" pitchFamily="2" charset="-122"/>
              </a:rPr>
              <a:t>辅助材料费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主要材料费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辅助材料费费率（费率见表</a:t>
            </a:r>
            <a:r>
              <a:rPr lang="en-US" altLang="zh-CN" sz="2400" dirty="0">
                <a:solidFill>
                  <a:srgbClr val="336699"/>
                </a:solidFill>
                <a:latin typeface="Arial" panose="020B0604020202020204" pitchFamily="34" charset="0"/>
                <a:ea typeface="宋体" panose="02010600030101010101" pitchFamily="2" charset="-122"/>
              </a:rPr>
              <a:t>6-3</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702467" name="Rectangle 3"/>
          <p:cNvSpPr/>
          <p:nvPr/>
        </p:nvSpPr>
        <p:spPr>
          <a:xfrm>
            <a:off x="2771775" y="2708275"/>
            <a:ext cx="23352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6-3 </a:t>
            </a:r>
            <a:r>
              <a:rPr lang="zh-CN" altLang="en-US" sz="1600" b="0" dirty="0">
                <a:solidFill>
                  <a:schemeClr val="tx1"/>
                </a:solidFill>
                <a:latin typeface="Times New Roman" panose="02020603050405020304" pitchFamily="18" charset="0"/>
                <a:ea typeface="宋体" panose="02010600030101010101" pitchFamily="2" charset="-122"/>
              </a:rPr>
              <a:t>辅助材料费费率表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02468" name="Group 4"/>
          <p:cNvGraphicFramePr>
            <a:graphicFrameLocks noGrp="1"/>
          </p:cNvGraphicFramePr>
          <p:nvPr/>
        </p:nvGraphicFramePr>
        <p:xfrm>
          <a:off x="1476375" y="3140075"/>
          <a:ext cx="4679950" cy="1706563"/>
        </p:xfrm>
        <a:graphic>
          <a:graphicData uri="http://schemas.openxmlformats.org/drawingml/2006/table">
            <a:tbl>
              <a:tblPr/>
              <a:tblGrid>
                <a:gridCol w="1871663"/>
                <a:gridCol w="1431925"/>
                <a:gridCol w="1376362"/>
              </a:tblGrid>
              <a:tr h="365193">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4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4">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主要材料费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4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电源设备安装工程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4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0.3</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4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9" marB="4572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
        <p:nvSpPr>
          <p:cNvPr id="702494" name="Rectangle 30"/>
          <p:cNvSpPr/>
          <p:nvPr/>
        </p:nvSpPr>
        <p:spPr>
          <a:xfrm>
            <a:off x="971550" y="5084763"/>
            <a:ext cx="5930900" cy="336550"/>
          </a:xfrm>
          <a:prstGeom prst="rect">
            <a:avLst/>
          </a:prstGeom>
          <a:noFill/>
          <a:ln w="9525">
            <a:noFill/>
          </a:ln>
        </p:spPr>
        <p:txBody>
          <a:bodyPr wrap="none" anchor="ctr" anchorCtr="0">
            <a:spAutoFit/>
          </a:bodyPr>
          <a:p>
            <a:pPr eaLnBrk="0" hangingPunct="0"/>
            <a:r>
              <a:rPr lang="zh-CN" altLang="en-US" sz="1600" b="0" dirty="0">
                <a:solidFill>
                  <a:schemeClr val="tx1"/>
                </a:solidFill>
                <a:latin typeface="Times New Roman" panose="02020603050405020304" pitchFamily="18" charset="0"/>
                <a:ea typeface="华文细黑" panose="02010600040101010101" pitchFamily="2" charset="-122"/>
              </a:rPr>
              <a:t>注：凡由建设单位提供的利旧材料，其材料费不计入工程成本。</a:t>
            </a:r>
            <a:r>
              <a:rPr lang="zh-CN" altLang="en-US" sz="1600" b="0" dirty="0">
                <a:solidFill>
                  <a:schemeClr val="tx1"/>
                </a:solidFill>
                <a:latin typeface="Arial" panose="020B0604020202020204" pitchFamily="34" charset="0"/>
                <a:ea typeface="宋体" panose="02010600030101010101" pitchFamily="2" charset="-122"/>
              </a:rPr>
              <a:t> </a:t>
            </a:r>
            <a:endParaRPr lang="zh-CN" altLang="en-US" sz="1600" b="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02466">
                                            <p:txEl>
                                              <p:charRg st="1" end="17"/>
                                            </p:txEl>
                                          </p:spTgt>
                                        </p:tgtEl>
                                        <p:attrNameLst>
                                          <p:attrName>style.visibility</p:attrName>
                                        </p:attrNameLst>
                                      </p:cBhvr>
                                      <p:to>
                                        <p:strVal val="visible"/>
                                      </p:to>
                                    </p:set>
                                    <p:animEffect transition="in" filter="checkerboard(across)">
                                      <p:cBhvr>
                                        <p:cTn id="7" dur="500"/>
                                        <p:tgtEl>
                                          <p:spTgt spid="702466">
                                            <p:txEl>
                                              <p:charRg st="1"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02466">
                                            <p:txEl>
                                              <p:charRg st="17" end="26"/>
                                            </p:txEl>
                                          </p:spTgt>
                                        </p:tgtEl>
                                        <p:attrNameLst>
                                          <p:attrName>style.visibility</p:attrName>
                                        </p:attrNameLst>
                                      </p:cBhvr>
                                      <p:to>
                                        <p:strVal val="visible"/>
                                      </p:to>
                                    </p:set>
                                    <p:animEffect transition="in" filter="slide(fromBottom)">
                                      <p:cBhvr>
                                        <p:cTn id="12" dur="500"/>
                                        <p:tgtEl>
                                          <p:spTgt spid="702466">
                                            <p:txEl>
                                              <p:charRg st="17" end="26"/>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702466">
                                            <p:txEl>
                                              <p:charRg st="26" end="55"/>
                                            </p:txEl>
                                          </p:spTgt>
                                        </p:tgtEl>
                                        <p:attrNameLst>
                                          <p:attrName>style.visibility</p:attrName>
                                        </p:attrNameLst>
                                      </p:cBhvr>
                                      <p:to>
                                        <p:strVal val="visible"/>
                                      </p:to>
                                    </p:set>
                                    <p:animEffect transition="in" filter="slide(fromBottom)">
                                      <p:cBhvr>
                                        <p:cTn id="15" dur="500"/>
                                        <p:tgtEl>
                                          <p:spTgt spid="702466">
                                            <p:txEl>
                                              <p:charRg st="26" end="5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702467"/>
                                        </p:tgtEl>
                                        <p:attrNameLst>
                                          <p:attrName>style.visibility</p:attrName>
                                        </p:attrNameLst>
                                      </p:cBhvr>
                                      <p:to>
                                        <p:strVal val="visible"/>
                                      </p:to>
                                    </p:set>
                                    <p:animEffect transition="in" filter="slide(fromBottom)">
                                      <p:cBhvr>
                                        <p:cTn id="20" dur="500"/>
                                        <p:tgtEl>
                                          <p:spTgt spid="702467"/>
                                        </p:tgtEl>
                                      </p:cBhvr>
                                    </p:animEffect>
                                  </p:childTnLst>
                                </p:cTn>
                              </p:par>
                              <p:par>
                                <p:cTn id="21" presetID="12" presetClass="entr" presetSubtype="4" fill="hold" nodeType="withEffect">
                                  <p:stCondLst>
                                    <p:cond delay="0"/>
                                  </p:stCondLst>
                                  <p:childTnLst>
                                    <p:set>
                                      <p:cBhvr>
                                        <p:cTn id="22" dur="1" fill="hold">
                                          <p:stCondLst>
                                            <p:cond delay="0"/>
                                          </p:stCondLst>
                                        </p:cTn>
                                        <p:tgtEl>
                                          <p:spTgt spid="702468"/>
                                        </p:tgtEl>
                                        <p:attrNameLst>
                                          <p:attrName>style.visibility</p:attrName>
                                        </p:attrNameLst>
                                      </p:cBhvr>
                                      <p:to>
                                        <p:strVal val="visible"/>
                                      </p:to>
                                    </p:set>
                                    <p:animEffect transition="in" filter="slide(fromBottom)">
                                      <p:cBhvr>
                                        <p:cTn id="23" dur="500"/>
                                        <p:tgtEl>
                                          <p:spTgt spid="702468"/>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702494"/>
                                        </p:tgtEl>
                                        <p:attrNameLst>
                                          <p:attrName>style.visibility</p:attrName>
                                        </p:attrNameLst>
                                      </p:cBhvr>
                                      <p:to>
                                        <p:strVal val="visible"/>
                                      </p:to>
                                    </p:set>
                                    <p:animEffect transition="in" filter="slide(fromBottom)">
                                      <p:cBhvr>
                                        <p:cTn id="26" dur="500"/>
                                        <p:tgtEl>
                                          <p:spTgt spid="702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2467" grpId="0"/>
      <p:bldP spid="70249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86018" name="Group 40"/>
          <p:cNvGrpSpPr/>
          <p:nvPr/>
        </p:nvGrpSpPr>
        <p:grpSpPr>
          <a:xfrm>
            <a:off x="7164388" y="-265112"/>
            <a:ext cx="1758950" cy="1606550"/>
            <a:chOff x="672" y="334"/>
            <a:chExt cx="1108" cy="1012"/>
          </a:xfrm>
        </p:grpSpPr>
        <p:pic>
          <p:nvPicPr>
            <p:cNvPr id="86019"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86020" name="Group 28"/>
            <p:cNvGrpSpPr/>
            <p:nvPr/>
          </p:nvGrpSpPr>
          <p:grpSpPr>
            <a:xfrm>
              <a:off x="864" y="1104"/>
              <a:ext cx="768" cy="242"/>
              <a:chOff x="-768" y="1440"/>
              <a:chExt cx="768" cy="242"/>
            </a:xfrm>
          </p:grpSpPr>
          <p:sp>
            <p:nvSpPr>
              <p:cNvPr id="86021"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86022"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6023"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6024"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03498" name="Text Box 10"/>
          <p:cNvSpPr txBox="1"/>
          <p:nvPr/>
        </p:nvSpPr>
        <p:spPr>
          <a:xfrm>
            <a:off x="539750" y="1125538"/>
            <a:ext cx="8604250" cy="2940050"/>
          </a:xfrm>
          <a:prstGeom prst="rect">
            <a:avLst/>
          </a:prstGeom>
          <a:noFill/>
          <a:ln w="9525">
            <a:noFill/>
          </a:ln>
        </p:spPr>
        <p:txBody>
          <a:bodyPr anchor="t" anchorCtr="0">
            <a:spAutoFit/>
          </a:bodyPr>
          <a:p>
            <a:pPr>
              <a:lnSpc>
                <a:spcPct val="120000"/>
              </a:lnSpc>
            </a:pPr>
            <a:r>
              <a:rPr lang="en-US" altLang="zh-CN" sz="2400" dirty="0">
                <a:solidFill>
                  <a:srgbClr val="336699"/>
                </a:solidFill>
                <a:latin typeface="Arial" panose="020B0604020202020204" pitchFamily="34" charset="0"/>
                <a:ea typeface="宋体" panose="02010600030101010101" pitchFamily="2" charset="-122"/>
              </a:rPr>
              <a:t>1.1 </a:t>
            </a:r>
            <a:r>
              <a:rPr lang="zh-CN" altLang="en-US" sz="2400" dirty="0">
                <a:solidFill>
                  <a:srgbClr val="336699"/>
                </a:solidFill>
                <a:latin typeface="Arial" panose="020B0604020202020204" pitchFamily="34" charset="0"/>
                <a:ea typeface="宋体" panose="02010600030101010101" pitchFamily="2" charset="-122"/>
              </a:rPr>
              <a:t>直接费</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en-US" altLang="zh-CN" sz="2400" dirty="0">
                <a:solidFill>
                  <a:srgbClr val="336699"/>
                </a:solidFill>
                <a:latin typeface="Arial" panose="020B0604020202020204" pitchFamily="34" charset="0"/>
                <a:ea typeface="宋体" panose="02010600030101010101" pitchFamily="2" charset="-122"/>
              </a:rPr>
              <a:t>1.1.1 </a:t>
            </a:r>
            <a:r>
              <a:rPr lang="zh-CN" altLang="en-US" sz="2400" dirty="0">
                <a:solidFill>
                  <a:srgbClr val="336699"/>
                </a:solidFill>
                <a:latin typeface="Arial" panose="020B0604020202020204" pitchFamily="34" charset="0"/>
                <a:ea typeface="宋体" panose="02010600030101010101" pitchFamily="2" charset="-122"/>
              </a:rPr>
              <a:t>直接工程费</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）机械使用费</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zh-CN" altLang="en-US" sz="2400" dirty="0">
                <a:solidFill>
                  <a:srgbClr val="336699"/>
                </a:solidFill>
                <a:latin typeface="Arial" panose="020B0604020202020204" pitchFamily="34" charset="0"/>
                <a:ea typeface="宋体" panose="02010600030101010101" pitchFamily="2" charset="-122"/>
              </a:rPr>
              <a:t>         是指施工机械作业所发生的机械使用费以及机械安拆费。 </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华文细黑" panose="02010600040101010101" pitchFamily="2" charset="-122"/>
              </a:rPr>
              <a:t>其费用定额及计算规则如下：</a:t>
            </a:r>
            <a:endParaRPr lang="zh-CN" altLang="en-US" sz="2400" dirty="0">
              <a:solidFill>
                <a:schemeClr val="hlink"/>
              </a:solidFill>
              <a:latin typeface="Arial" panose="020B0604020202020204" pitchFamily="34" charset="0"/>
              <a:ea typeface="华文细黑" panose="02010600040101010101" pitchFamily="2" charset="-122"/>
            </a:endParaRPr>
          </a:p>
          <a:p>
            <a:pPr algn="ctr">
              <a:spcBef>
                <a:spcPct val="50000"/>
              </a:spcBef>
            </a:pPr>
            <a:r>
              <a:rPr lang="zh-CN" altLang="en-US" sz="2400" dirty="0">
                <a:solidFill>
                  <a:srgbClr val="336699"/>
                </a:solidFill>
                <a:latin typeface="Arial" panose="020B0604020202020204" pitchFamily="34" charset="0"/>
                <a:ea typeface="宋体" panose="02010600030101010101" pitchFamily="2" charset="-122"/>
              </a:rPr>
              <a:t>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703499" name="Rectangle 11"/>
          <p:cNvSpPr/>
          <p:nvPr/>
        </p:nvSpPr>
        <p:spPr>
          <a:xfrm>
            <a:off x="1187450" y="3789363"/>
            <a:ext cx="7510463" cy="498475"/>
          </a:xfrm>
          <a:prstGeom prst="rect">
            <a:avLst/>
          </a:prstGeom>
          <a:noFill/>
          <a:ln w="41275" cap="flat" cmpd="sng">
            <a:solidFill>
              <a:srgbClr val="99CC00"/>
            </a:solidFill>
            <a:prstDash val="solid"/>
            <a:miter/>
            <a:headEnd type="none" w="med" len="med"/>
            <a:tailEnd type="none" w="med" len="med"/>
          </a:ln>
        </p:spPr>
        <p:txBody>
          <a:bodyPr wrap="none" anchor="t" anchorCtr="0">
            <a:spAutoFit/>
          </a:bodyPr>
          <a:p>
            <a:pPr algn="ctr">
              <a:spcBef>
                <a:spcPct val="50000"/>
              </a:spcBef>
            </a:pPr>
            <a:r>
              <a:rPr lang="zh-CN" altLang="en-US" sz="2400" dirty="0">
                <a:solidFill>
                  <a:schemeClr val="tx1"/>
                </a:solidFill>
                <a:latin typeface="楷体_GB2312" pitchFamily="49" charset="-122"/>
                <a:ea typeface="楷体_GB2312" pitchFamily="49" charset="-122"/>
              </a:rPr>
              <a:t>机械使用费</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机械台班单价</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概算、预算的机械台班量</a:t>
            </a:r>
            <a:r>
              <a:rPr lang="zh-CN" altLang="en-US" sz="2400" dirty="0">
                <a:solidFill>
                  <a:srgbClr val="336699"/>
                </a:solidFill>
                <a:latin typeface="Arial" panose="020B0604020202020204" pitchFamily="34" charset="0"/>
                <a:ea typeface="宋体" panose="02010600030101010101" pitchFamily="2" charset="-122"/>
              </a:rPr>
              <a:t>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03498">
                                            <p:txEl>
                                              <p:charRg st="20" end="29"/>
                                            </p:txEl>
                                          </p:spTgt>
                                        </p:tgtEl>
                                        <p:attrNameLst>
                                          <p:attrName>style.visibility</p:attrName>
                                        </p:attrNameLst>
                                      </p:cBhvr>
                                      <p:to>
                                        <p:strVal val="visible"/>
                                      </p:to>
                                    </p:set>
                                    <p:animEffect transition="in" filter="slide(fromBottom)">
                                      <p:cBhvr>
                                        <p:cTn id="7" dur="500"/>
                                        <p:tgtEl>
                                          <p:spTgt spid="703498">
                                            <p:txEl>
                                              <p:charRg st="20"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03498">
                                            <p:txEl>
                                              <p:charRg st="29" end="65"/>
                                            </p:txEl>
                                          </p:spTgt>
                                        </p:tgtEl>
                                        <p:attrNameLst>
                                          <p:attrName>style.visibility</p:attrName>
                                        </p:attrNameLst>
                                      </p:cBhvr>
                                      <p:to>
                                        <p:strVal val="visible"/>
                                      </p:to>
                                    </p:set>
                                    <p:animEffect transition="in" filter="slide(fromBottom)">
                                      <p:cBhvr>
                                        <p:cTn id="12" dur="500"/>
                                        <p:tgtEl>
                                          <p:spTgt spid="703498">
                                            <p:txEl>
                                              <p:charRg st="29" end="65"/>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703498">
                                            <p:txEl>
                                              <p:charRg st="65" end="88"/>
                                            </p:txEl>
                                          </p:spTgt>
                                        </p:tgtEl>
                                        <p:attrNameLst>
                                          <p:attrName>style.visibility</p:attrName>
                                        </p:attrNameLst>
                                      </p:cBhvr>
                                      <p:to>
                                        <p:strVal val="visible"/>
                                      </p:to>
                                    </p:set>
                                    <p:animEffect transition="in" filter="slide(fromBottom)">
                                      <p:cBhvr>
                                        <p:cTn id="15" dur="500"/>
                                        <p:tgtEl>
                                          <p:spTgt spid="703498">
                                            <p:txEl>
                                              <p:charRg st="65" end="8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grpId="0" nodeType="clickEffect">
                                  <p:stCondLst>
                                    <p:cond delay="0"/>
                                  </p:stCondLst>
                                  <p:childTnLst>
                                    <p:set>
                                      <p:cBhvr>
                                        <p:cTn id="19" dur="1" fill="hold">
                                          <p:stCondLst>
                                            <p:cond delay="0"/>
                                          </p:stCondLst>
                                        </p:cTn>
                                        <p:tgtEl>
                                          <p:spTgt spid="703499"/>
                                        </p:tgtEl>
                                        <p:attrNameLst>
                                          <p:attrName>style.visibility</p:attrName>
                                        </p:attrNameLst>
                                      </p:cBhvr>
                                      <p:to>
                                        <p:strVal val="visible"/>
                                      </p:to>
                                    </p:set>
                                    <p:animEffect transition="in" filter="circle(in)">
                                      <p:cBhvr>
                                        <p:cTn id="20" dur="2000"/>
                                        <p:tgtEl>
                                          <p:spTgt spid="703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349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87042" name="Group 40"/>
          <p:cNvGrpSpPr/>
          <p:nvPr/>
        </p:nvGrpSpPr>
        <p:grpSpPr>
          <a:xfrm>
            <a:off x="7164388" y="-265112"/>
            <a:ext cx="1758950" cy="1606550"/>
            <a:chOff x="672" y="334"/>
            <a:chExt cx="1108" cy="1012"/>
          </a:xfrm>
        </p:grpSpPr>
        <p:pic>
          <p:nvPicPr>
            <p:cNvPr id="87043"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87044" name="Group 28"/>
            <p:cNvGrpSpPr/>
            <p:nvPr/>
          </p:nvGrpSpPr>
          <p:grpSpPr>
            <a:xfrm>
              <a:off x="864" y="1104"/>
              <a:ext cx="768" cy="242"/>
              <a:chOff x="-768" y="1440"/>
              <a:chExt cx="768" cy="242"/>
            </a:xfrm>
          </p:grpSpPr>
          <p:sp>
            <p:nvSpPr>
              <p:cNvPr id="8704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8704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7047"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7048"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04522" name="Text Box 10"/>
          <p:cNvSpPr txBox="1">
            <a:spLocks noChangeArrowheads="1"/>
          </p:cNvSpPr>
          <p:nvPr/>
        </p:nvSpPr>
        <p:spPr bwMode="auto">
          <a:xfrm>
            <a:off x="539750" y="1125538"/>
            <a:ext cx="8604250"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lnSpc>
                <a:spcPct val="120000"/>
              </a:lnSpc>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1.1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直接费</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lnSpc>
                <a:spcPct val="120000"/>
              </a:lnSpc>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1.1.1 </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直接工程费</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lnSpc>
                <a:spcPct val="120000"/>
              </a:lnSpc>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4</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）仪表使用费</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lnSpc>
                <a:spcPct val="120000"/>
              </a:lnSpc>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         是指施工作业所发生的属于固定资产的仪表使用费。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lnSpc>
                <a:spcPct val="120000"/>
              </a:lnSpc>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         </a:t>
            </a:r>
            <a:r>
              <a:rPr kumimoji="0" lang="zh-CN" altLang="en-US" sz="2400" kern="1200" cap="none" spc="0" normalizeH="0" baseline="0" noProof="0">
                <a:solidFill>
                  <a:schemeClr val="hlink"/>
                </a:solidFill>
                <a:latin typeface="Arial" panose="020B0604020202020204" pitchFamily="34" charset="0"/>
                <a:ea typeface="华文细黑" panose="02010600040101010101" pitchFamily="2" charset="-122"/>
                <a:cs typeface="+mn-cs"/>
              </a:rPr>
              <a:t>其费用定额及计算规则如下：</a:t>
            </a:r>
            <a:endParaRPr kumimoji="0" lang="zh-CN" altLang="en-US" sz="2400" kern="1200" cap="none" spc="0" normalizeH="0" baseline="0" noProof="0">
              <a:solidFill>
                <a:schemeClr val="hlink"/>
              </a:solidFill>
              <a:latin typeface="Arial" panose="020B0604020202020204" pitchFamily="34" charset="0"/>
              <a:ea typeface="华文细黑" panose="02010600040101010101" pitchFamily="2" charset="-122"/>
              <a:cs typeface="+mn-cs"/>
            </a:endParaRPr>
          </a:p>
          <a:p>
            <a:pPr marR="0" defTabSz="914400">
              <a:lnSpc>
                <a:spcPct val="120000"/>
              </a:lnSpc>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         </a:t>
            </a:r>
            <a:endParaRPr kumimoji="0" lang="zh-CN" altLang="en-US"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704523" name="Rectangle 11"/>
          <p:cNvSpPr/>
          <p:nvPr/>
        </p:nvSpPr>
        <p:spPr>
          <a:xfrm>
            <a:off x="1042988" y="3644900"/>
            <a:ext cx="7580312" cy="571500"/>
          </a:xfrm>
          <a:prstGeom prst="rect">
            <a:avLst/>
          </a:prstGeom>
          <a:noFill/>
          <a:ln w="41275" cap="flat" cmpd="sng">
            <a:solidFill>
              <a:srgbClr val="99CC00"/>
            </a:solidFill>
            <a:prstDash val="solid"/>
            <a:miter/>
            <a:headEnd type="none" w="med" len="med"/>
            <a:tailEnd type="none" w="med" len="med"/>
          </a:ln>
        </p:spPr>
        <p:txBody>
          <a:bodyPr wrap="none" anchor="t" anchorCtr="0">
            <a:spAutoFit/>
          </a:bodyPr>
          <a:p>
            <a:pPr algn="ctr">
              <a:lnSpc>
                <a:spcPct val="120000"/>
              </a:lnSpc>
            </a:pPr>
            <a:r>
              <a:rPr lang="zh-CN" altLang="en-US" sz="2400" dirty="0">
                <a:solidFill>
                  <a:schemeClr val="tx1"/>
                </a:solidFill>
                <a:latin typeface="楷体_GB2312" pitchFamily="49" charset="-122"/>
                <a:ea typeface="楷体_GB2312" pitchFamily="49" charset="-122"/>
              </a:rPr>
              <a:t>仪表使用费</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仪表台班单价</a:t>
            </a:r>
            <a:r>
              <a:rPr lang="en-US" altLang="zh-CN" sz="2400" dirty="0">
                <a:solidFill>
                  <a:schemeClr val="tx1"/>
                </a:solidFill>
                <a:latin typeface="楷体_GB2312" pitchFamily="49" charset="-122"/>
                <a:ea typeface="楷体_GB2312" pitchFamily="49" charset="-122"/>
              </a:rPr>
              <a:t>×</a:t>
            </a:r>
            <a:r>
              <a:rPr lang="zh-CN" altLang="en-US" sz="2400" dirty="0">
                <a:solidFill>
                  <a:schemeClr val="tx1"/>
                </a:solidFill>
                <a:latin typeface="楷体_GB2312" pitchFamily="49" charset="-122"/>
                <a:ea typeface="楷体_GB2312" pitchFamily="49" charset="-122"/>
              </a:rPr>
              <a:t>概算、预算的仪表台班量 </a:t>
            </a:r>
            <a:endParaRPr lang="zh-CN" altLang="en-US" sz="2400" dirty="0">
              <a:solidFill>
                <a:schemeClr val="tx1"/>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04522">
                                            <p:txEl>
                                              <p:charRg st="20" end="29"/>
                                            </p:txEl>
                                          </p:spTgt>
                                        </p:tgtEl>
                                        <p:attrNameLst>
                                          <p:attrName>style.visibility</p:attrName>
                                        </p:attrNameLst>
                                      </p:cBhvr>
                                      <p:to>
                                        <p:strVal val="visible"/>
                                      </p:to>
                                    </p:set>
                                    <p:animEffect transition="in" filter="slide(fromBottom)">
                                      <p:cBhvr>
                                        <p:cTn id="7" dur="500"/>
                                        <p:tgtEl>
                                          <p:spTgt spid="704522">
                                            <p:txEl>
                                              <p:charRg st="20"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704522">
                                            <p:txEl>
                                              <p:charRg st="29" end="63"/>
                                            </p:txEl>
                                          </p:spTgt>
                                        </p:tgtEl>
                                        <p:attrNameLst>
                                          <p:attrName>style.visibility</p:attrName>
                                        </p:attrNameLst>
                                      </p:cBhvr>
                                      <p:to>
                                        <p:strVal val="visible"/>
                                      </p:to>
                                    </p:set>
                                    <p:animEffect transition="in" filter="wedge">
                                      <p:cBhvr>
                                        <p:cTn id="12" dur="2000"/>
                                        <p:tgtEl>
                                          <p:spTgt spid="704522">
                                            <p:txEl>
                                              <p:charRg st="29" end="6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04522">
                                            <p:txEl>
                                              <p:charRg st="63" end="86"/>
                                            </p:txEl>
                                          </p:spTgt>
                                        </p:tgtEl>
                                        <p:attrNameLst>
                                          <p:attrName>style.visibility</p:attrName>
                                        </p:attrNameLst>
                                      </p:cBhvr>
                                      <p:to>
                                        <p:strVal val="visible"/>
                                      </p:to>
                                    </p:set>
                                    <p:animEffect transition="in" filter="slide(fromBottom)">
                                      <p:cBhvr>
                                        <p:cTn id="17" dur="500"/>
                                        <p:tgtEl>
                                          <p:spTgt spid="704522">
                                            <p:txEl>
                                              <p:charRg st="63" end="8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704523"/>
                                        </p:tgtEl>
                                        <p:attrNameLst>
                                          <p:attrName>style.visibility</p:attrName>
                                        </p:attrNameLst>
                                      </p:cBhvr>
                                      <p:to>
                                        <p:strVal val="visible"/>
                                      </p:to>
                                    </p:set>
                                    <p:animEffect transition="in" filter="circle(in)">
                                      <p:cBhvr>
                                        <p:cTn id="22" dur="2000"/>
                                        <p:tgtEl>
                                          <p:spTgt spid="704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23"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88066" name="Group 40"/>
          <p:cNvGrpSpPr/>
          <p:nvPr/>
        </p:nvGrpSpPr>
        <p:grpSpPr>
          <a:xfrm>
            <a:off x="7164388" y="-265112"/>
            <a:ext cx="1758950" cy="1606550"/>
            <a:chOff x="672" y="334"/>
            <a:chExt cx="1108" cy="1012"/>
          </a:xfrm>
        </p:grpSpPr>
        <p:pic>
          <p:nvPicPr>
            <p:cNvPr id="88067"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88068" name="Group 28"/>
            <p:cNvGrpSpPr/>
            <p:nvPr/>
          </p:nvGrpSpPr>
          <p:grpSpPr>
            <a:xfrm>
              <a:off x="864" y="1104"/>
              <a:ext cx="768" cy="242"/>
              <a:chOff x="-768" y="1440"/>
              <a:chExt cx="768" cy="242"/>
            </a:xfrm>
          </p:grpSpPr>
          <p:sp>
            <p:nvSpPr>
              <p:cNvPr id="88069"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88070"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8071"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8072"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05546" name="Text Box 10"/>
          <p:cNvSpPr txBox="1">
            <a:spLocks noChangeArrowheads="1"/>
          </p:cNvSpPr>
          <p:nvPr/>
        </p:nvSpPr>
        <p:spPr bwMode="auto">
          <a:xfrm>
            <a:off x="539750" y="1052513"/>
            <a:ext cx="860425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）环境保护费</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ctr" defTabSz="914400" rtl="0" eaLnBrk="1" fontAlgn="base" latinLnBrk="0" hangingPunct="1">
              <a:lnSpc>
                <a:spcPct val="120000"/>
              </a:lnSpc>
              <a:spcBef>
                <a:spcPct val="5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指施工现场为达到环保部门要求所需要的各项费用。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5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环境保护费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6-4</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05547" name="Rectangle 11"/>
          <p:cNvSpPr/>
          <p:nvPr/>
        </p:nvSpPr>
        <p:spPr>
          <a:xfrm>
            <a:off x="3276600" y="4149725"/>
            <a:ext cx="23352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6-4 </a:t>
            </a:r>
            <a:r>
              <a:rPr lang="zh-CN" altLang="en-US" sz="1600" b="0" dirty="0">
                <a:solidFill>
                  <a:schemeClr val="tx1"/>
                </a:solidFill>
                <a:latin typeface="Times New Roman" panose="02020603050405020304" pitchFamily="18" charset="0"/>
                <a:ea typeface="宋体" panose="02010600030101010101" pitchFamily="2" charset="-122"/>
              </a:rPr>
              <a:t>环境保护费费率表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05548" name="Group 12"/>
          <p:cNvGraphicFramePr>
            <a:graphicFrameLocks noGrp="1"/>
          </p:cNvGraphicFramePr>
          <p:nvPr/>
        </p:nvGraphicFramePr>
        <p:xfrm>
          <a:off x="1403350" y="4581525"/>
          <a:ext cx="5976938" cy="1035050"/>
        </p:xfrm>
        <a:graphic>
          <a:graphicData uri="http://schemas.openxmlformats.org/drawingml/2006/table">
            <a:tbl>
              <a:tblPr/>
              <a:tblGrid>
                <a:gridCol w="3055938"/>
                <a:gridCol w="1120775"/>
                <a:gridCol w="1800225"/>
              </a:tblGrid>
              <a:tr h="36490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    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07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无线通信设备安装工程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1.20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07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05546">
                                            <p:txEl>
                                              <p:charRg st="18" end="28"/>
                                            </p:txEl>
                                          </p:spTgt>
                                        </p:tgtEl>
                                        <p:attrNameLst>
                                          <p:attrName>style.visibility</p:attrName>
                                        </p:attrNameLst>
                                      </p:cBhvr>
                                      <p:to>
                                        <p:strVal val="visible"/>
                                      </p:to>
                                    </p:set>
                                    <p:animEffect transition="in" filter="slide(fromBottom)">
                                      <p:cBhvr>
                                        <p:cTn id="7" dur="500"/>
                                        <p:tgtEl>
                                          <p:spTgt spid="705546">
                                            <p:txEl>
                                              <p:charRg st="18"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05546">
                                            <p:txEl>
                                              <p:charRg st="28" end="53"/>
                                            </p:txEl>
                                          </p:spTgt>
                                        </p:tgtEl>
                                        <p:attrNameLst>
                                          <p:attrName>style.visibility</p:attrName>
                                        </p:attrNameLst>
                                      </p:cBhvr>
                                      <p:to>
                                        <p:strVal val="visible"/>
                                      </p:to>
                                    </p:set>
                                    <p:animEffect transition="in" filter="slide(fromBottom)">
                                      <p:cBhvr>
                                        <p:cTn id="12" dur="500"/>
                                        <p:tgtEl>
                                          <p:spTgt spid="705546">
                                            <p:txEl>
                                              <p:charRg st="28" end="5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05546">
                                            <p:txEl>
                                              <p:charRg st="53" end="76"/>
                                            </p:txEl>
                                          </p:spTgt>
                                        </p:tgtEl>
                                        <p:attrNameLst>
                                          <p:attrName>style.visibility</p:attrName>
                                        </p:attrNameLst>
                                      </p:cBhvr>
                                      <p:to>
                                        <p:strVal val="visible"/>
                                      </p:to>
                                    </p:set>
                                    <p:animEffect transition="in" filter="slide(fromBottom)">
                                      <p:cBhvr>
                                        <p:cTn id="17" dur="500"/>
                                        <p:tgtEl>
                                          <p:spTgt spid="705546">
                                            <p:txEl>
                                              <p:charRg st="53" end="76"/>
                                            </p:txEl>
                                          </p:spTgt>
                                        </p:tgtEl>
                                      </p:cBhvr>
                                    </p:animEffect>
                                  </p:childTnLst>
                                </p:cTn>
                              </p:par>
                              <p:par>
                                <p:cTn id="18" presetID="12" presetClass="entr" presetSubtype="4" fill="hold" nodeType="withEffect">
                                  <p:stCondLst>
                                    <p:cond delay="0"/>
                                  </p:stCondLst>
                                  <p:childTnLst>
                                    <p:set>
                                      <p:cBhvr>
                                        <p:cTn id="19" dur="1" fill="hold">
                                          <p:stCondLst>
                                            <p:cond delay="0"/>
                                          </p:stCondLst>
                                        </p:cTn>
                                        <p:tgtEl>
                                          <p:spTgt spid="705546">
                                            <p:txEl>
                                              <p:charRg st="76" end="110"/>
                                            </p:txEl>
                                          </p:spTgt>
                                        </p:tgtEl>
                                        <p:attrNameLst>
                                          <p:attrName>style.visibility</p:attrName>
                                        </p:attrNameLst>
                                      </p:cBhvr>
                                      <p:to>
                                        <p:strVal val="visible"/>
                                      </p:to>
                                    </p:set>
                                    <p:animEffect transition="in" filter="slide(fromBottom)">
                                      <p:cBhvr>
                                        <p:cTn id="20" dur="500"/>
                                        <p:tgtEl>
                                          <p:spTgt spid="705546">
                                            <p:txEl>
                                              <p:charRg st="76" end="11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grpId="0" nodeType="clickEffect">
                                  <p:stCondLst>
                                    <p:cond delay="0"/>
                                  </p:stCondLst>
                                  <p:childTnLst>
                                    <p:set>
                                      <p:cBhvr>
                                        <p:cTn id="24" dur="1" fill="hold">
                                          <p:stCondLst>
                                            <p:cond delay="0"/>
                                          </p:stCondLst>
                                        </p:cTn>
                                        <p:tgtEl>
                                          <p:spTgt spid="705547"/>
                                        </p:tgtEl>
                                        <p:attrNameLst>
                                          <p:attrName>style.visibility</p:attrName>
                                        </p:attrNameLst>
                                      </p:cBhvr>
                                      <p:to>
                                        <p:strVal val="visible"/>
                                      </p:to>
                                    </p:set>
                                    <p:animEffect transition="in" filter="wedge">
                                      <p:cBhvr>
                                        <p:cTn id="25" dur="2000"/>
                                        <p:tgtEl>
                                          <p:spTgt spid="705547"/>
                                        </p:tgtEl>
                                      </p:cBhvr>
                                    </p:animEffect>
                                  </p:childTnLst>
                                </p:cTn>
                              </p:par>
                              <p:par>
                                <p:cTn id="26" presetID="20" presetClass="entr" presetSubtype="0" fill="hold" nodeType="withEffect">
                                  <p:stCondLst>
                                    <p:cond delay="0"/>
                                  </p:stCondLst>
                                  <p:childTnLst>
                                    <p:set>
                                      <p:cBhvr>
                                        <p:cTn id="27" dur="1" fill="hold">
                                          <p:stCondLst>
                                            <p:cond delay="0"/>
                                          </p:stCondLst>
                                        </p:cTn>
                                        <p:tgtEl>
                                          <p:spTgt spid="705548"/>
                                        </p:tgtEl>
                                        <p:attrNameLst>
                                          <p:attrName>style.visibility</p:attrName>
                                        </p:attrNameLst>
                                      </p:cBhvr>
                                      <p:to>
                                        <p:strVal val="visible"/>
                                      </p:to>
                                    </p:set>
                                    <p:animEffect transition="in" filter="wedge">
                                      <p:cBhvr>
                                        <p:cTn id="28" dur="2000"/>
                                        <p:tgtEl>
                                          <p:spTgt spid="705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4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89090" name="Group 40"/>
          <p:cNvGrpSpPr/>
          <p:nvPr/>
        </p:nvGrpSpPr>
        <p:grpSpPr>
          <a:xfrm>
            <a:off x="7164388" y="-265112"/>
            <a:ext cx="1758950" cy="1606550"/>
            <a:chOff x="672" y="334"/>
            <a:chExt cx="1108" cy="1012"/>
          </a:xfrm>
        </p:grpSpPr>
        <p:pic>
          <p:nvPicPr>
            <p:cNvPr id="89091"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89092" name="Group 28"/>
            <p:cNvGrpSpPr/>
            <p:nvPr/>
          </p:nvGrpSpPr>
          <p:grpSpPr>
            <a:xfrm>
              <a:off x="864" y="1104"/>
              <a:ext cx="768" cy="242"/>
              <a:chOff x="-768" y="1440"/>
              <a:chExt cx="768" cy="242"/>
            </a:xfrm>
          </p:grpSpPr>
          <p:sp>
            <p:nvSpPr>
              <p:cNvPr id="89093"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89094"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9095"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89096"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06570" name="Text Box 10"/>
          <p:cNvSpPr txBox="1">
            <a:spLocks noChangeArrowheads="1"/>
          </p:cNvSpPr>
          <p:nvPr/>
        </p:nvSpPr>
        <p:spPr bwMode="auto">
          <a:xfrm>
            <a:off x="539750" y="1125538"/>
            <a:ext cx="7488238"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2</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）文明施工费</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指施工现场文明施工所需要的各项费用。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文明施工费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费率</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1.0% </a:t>
            </a:r>
            <a:endPar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06570">
                                            <p:txEl>
                                              <p:charRg st="18" end="28"/>
                                            </p:txEl>
                                          </p:spTgt>
                                        </p:tgtEl>
                                        <p:attrNameLst>
                                          <p:attrName>style.visibility</p:attrName>
                                        </p:attrNameLst>
                                      </p:cBhvr>
                                      <p:to>
                                        <p:strVal val="visible"/>
                                      </p:to>
                                    </p:set>
                                    <p:animEffect transition="in" filter="slide(fromBottom)">
                                      <p:cBhvr>
                                        <p:cTn id="7" dur="500"/>
                                        <p:tgtEl>
                                          <p:spTgt spid="706570">
                                            <p:txEl>
                                              <p:charRg st="18"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06570">
                                            <p:txEl>
                                              <p:charRg st="28" end="58"/>
                                            </p:txEl>
                                          </p:spTgt>
                                        </p:tgtEl>
                                        <p:attrNameLst>
                                          <p:attrName>style.visibility</p:attrName>
                                        </p:attrNameLst>
                                      </p:cBhvr>
                                      <p:to>
                                        <p:strVal val="visible"/>
                                      </p:to>
                                    </p:set>
                                    <p:animEffect transition="in" filter="slide(fromBottom)">
                                      <p:cBhvr>
                                        <p:cTn id="12" dur="500"/>
                                        <p:tgtEl>
                                          <p:spTgt spid="706570">
                                            <p:txEl>
                                              <p:charRg st="28" end="5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06570">
                                            <p:txEl>
                                              <p:charRg st="58" end="81"/>
                                            </p:txEl>
                                          </p:spTgt>
                                        </p:tgtEl>
                                        <p:attrNameLst>
                                          <p:attrName>style.visibility</p:attrName>
                                        </p:attrNameLst>
                                      </p:cBhvr>
                                      <p:to>
                                        <p:strVal val="visible"/>
                                      </p:to>
                                    </p:set>
                                    <p:animEffect transition="in" filter="wedge">
                                      <p:cBhvr>
                                        <p:cTn id="17" dur="2000"/>
                                        <p:tgtEl>
                                          <p:spTgt spid="706570">
                                            <p:txEl>
                                              <p:charRg st="58" end="81"/>
                                            </p:txEl>
                                          </p:spTgt>
                                        </p:tgtEl>
                                      </p:cBhvr>
                                    </p:animEffect>
                                  </p:childTnLst>
                                </p:cTn>
                              </p:par>
                              <p:par>
                                <p:cTn id="18" presetID="20" presetClass="entr" presetSubtype="0" fill="hold" nodeType="withEffect">
                                  <p:stCondLst>
                                    <p:cond delay="0"/>
                                  </p:stCondLst>
                                  <p:childTnLst>
                                    <p:set>
                                      <p:cBhvr>
                                        <p:cTn id="19" dur="1" fill="hold">
                                          <p:stCondLst>
                                            <p:cond delay="0"/>
                                          </p:stCondLst>
                                        </p:cTn>
                                        <p:tgtEl>
                                          <p:spTgt spid="706570">
                                            <p:txEl>
                                              <p:charRg st="81" end="108"/>
                                            </p:txEl>
                                          </p:spTgt>
                                        </p:tgtEl>
                                        <p:attrNameLst>
                                          <p:attrName>style.visibility</p:attrName>
                                        </p:attrNameLst>
                                      </p:cBhvr>
                                      <p:to>
                                        <p:strVal val="visible"/>
                                      </p:to>
                                    </p:set>
                                    <p:animEffect transition="in" filter="wedge">
                                      <p:cBhvr>
                                        <p:cTn id="20" dur="2000"/>
                                        <p:tgtEl>
                                          <p:spTgt spid="706570">
                                            <p:txEl>
                                              <p:charRg st="81" end="10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0114" name="Group 40"/>
          <p:cNvGrpSpPr/>
          <p:nvPr/>
        </p:nvGrpSpPr>
        <p:grpSpPr>
          <a:xfrm>
            <a:off x="7164388" y="-265112"/>
            <a:ext cx="1758950" cy="1606550"/>
            <a:chOff x="672" y="334"/>
            <a:chExt cx="1108" cy="1012"/>
          </a:xfrm>
        </p:grpSpPr>
        <p:pic>
          <p:nvPicPr>
            <p:cNvPr id="90115"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0116" name="Group 28"/>
            <p:cNvGrpSpPr/>
            <p:nvPr/>
          </p:nvGrpSpPr>
          <p:grpSpPr>
            <a:xfrm>
              <a:off x="864" y="1104"/>
              <a:ext cx="768" cy="242"/>
              <a:chOff x="-768" y="1440"/>
              <a:chExt cx="768" cy="242"/>
            </a:xfrm>
          </p:grpSpPr>
          <p:sp>
            <p:nvSpPr>
              <p:cNvPr id="90117"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0118"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0119"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0120"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07594" name="Text Box 10"/>
          <p:cNvSpPr txBox="1">
            <a:spLocks noChangeArrowheads="1"/>
          </p:cNvSpPr>
          <p:nvPr/>
        </p:nvSpPr>
        <p:spPr bwMode="auto">
          <a:xfrm>
            <a:off x="539750" y="1125538"/>
            <a:ext cx="860425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3</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）工地器材搬运费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指由工地仓库（或指定地点）至施工现场转运器材而发生的费用。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0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工地器材搬运费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6-5</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p:txBody>
      </p:sp>
      <p:sp>
        <p:nvSpPr>
          <p:cNvPr id="707595" name="Rectangle 11"/>
          <p:cNvSpPr/>
          <p:nvPr/>
        </p:nvSpPr>
        <p:spPr>
          <a:xfrm>
            <a:off x="2987675" y="4292600"/>
            <a:ext cx="27416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6-5 </a:t>
            </a:r>
            <a:r>
              <a:rPr lang="zh-CN" altLang="en-US" sz="1600" b="0" dirty="0">
                <a:solidFill>
                  <a:schemeClr val="tx1"/>
                </a:solidFill>
                <a:latin typeface="Times New Roman" panose="02020603050405020304" pitchFamily="18" charset="0"/>
                <a:ea typeface="宋体" panose="02010600030101010101" pitchFamily="2" charset="-122"/>
              </a:rPr>
              <a:t>工地器材搬运费费率表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07596" name="Group 12"/>
          <p:cNvGraphicFramePr>
            <a:graphicFrameLocks noGrp="1"/>
          </p:cNvGraphicFramePr>
          <p:nvPr/>
        </p:nvGraphicFramePr>
        <p:xfrm>
          <a:off x="1549400" y="4706938"/>
          <a:ext cx="5903913" cy="1371600"/>
        </p:xfrm>
        <a:graphic>
          <a:graphicData uri="http://schemas.openxmlformats.org/drawingml/2006/table">
            <a:tbl>
              <a:tblPr/>
              <a:tblGrid>
                <a:gridCol w="3187700"/>
                <a:gridCol w="1420813"/>
                <a:gridCol w="1295400"/>
              </a:tblGrid>
              <a:tr h="36529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3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3">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1.3</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3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3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1.6</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07594">
                                            <p:txEl>
                                              <p:charRg st="18" end="29"/>
                                            </p:txEl>
                                          </p:spTgt>
                                        </p:tgtEl>
                                        <p:attrNameLst>
                                          <p:attrName>style.visibility</p:attrName>
                                        </p:attrNameLst>
                                      </p:cBhvr>
                                      <p:to>
                                        <p:strVal val="visible"/>
                                      </p:to>
                                    </p:set>
                                    <p:animEffect transition="in" filter="slide(fromBottom)">
                                      <p:cBhvr>
                                        <p:cTn id="7" dur="500"/>
                                        <p:tgtEl>
                                          <p:spTgt spid="707594">
                                            <p:txEl>
                                              <p:charRg st="18"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07594">
                                            <p:txEl>
                                              <p:charRg st="29" end="67"/>
                                            </p:txEl>
                                          </p:spTgt>
                                        </p:tgtEl>
                                        <p:attrNameLst>
                                          <p:attrName>style.visibility</p:attrName>
                                        </p:attrNameLst>
                                      </p:cBhvr>
                                      <p:to>
                                        <p:strVal val="visible"/>
                                      </p:to>
                                    </p:set>
                                    <p:animEffect transition="in" filter="slide(fromBottom)">
                                      <p:cBhvr>
                                        <p:cTn id="12" dur="500"/>
                                        <p:tgtEl>
                                          <p:spTgt spid="707594">
                                            <p:txEl>
                                              <p:charRg st="29"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07594">
                                            <p:txEl>
                                              <p:charRg st="67" end="90"/>
                                            </p:txEl>
                                          </p:spTgt>
                                        </p:tgtEl>
                                        <p:attrNameLst>
                                          <p:attrName>style.visibility</p:attrName>
                                        </p:attrNameLst>
                                      </p:cBhvr>
                                      <p:to>
                                        <p:strVal val="visible"/>
                                      </p:to>
                                    </p:set>
                                    <p:animEffect transition="in" filter="slide(fromBottom)">
                                      <p:cBhvr>
                                        <p:cTn id="17" dur="500"/>
                                        <p:tgtEl>
                                          <p:spTgt spid="707594">
                                            <p:txEl>
                                              <p:charRg st="67" end="9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07594">
                                            <p:txEl>
                                              <p:charRg st="90" end="124"/>
                                            </p:txEl>
                                          </p:spTgt>
                                        </p:tgtEl>
                                        <p:attrNameLst>
                                          <p:attrName>style.visibility</p:attrName>
                                        </p:attrNameLst>
                                      </p:cBhvr>
                                      <p:to>
                                        <p:strVal val="visible"/>
                                      </p:to>
                                    </p:set>
                                    <p:animEffect transition="in" filter="slide(fromBottom)">
                                      <p:cBhvr>
                                        <p:cTn id="22" dur="500"/>
                                        <p:tgtEl>
                                          <p:spTgt spid="707594">
                                            <p:txEl>
                                              <p:charRg st="90" end="12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707595"/>
                                        </p:tgtEl>
                                        <p:attrNameLst>
                                          <p:attrName>style.visibility</p:attrName>
                                        </p:attrNameLst>
                                      </p:cBhvr>
                                      <p:to>
                                        <p:strVal val="visible"/>
                                      </p:to>
                                    </p:set>
                                    <p:anim to="" calcmode="lin" valueType="num">
                                      <p:cBhvr>
                                        <p:cTn id="27" dur="1" fill="hold"/>
                                        <p:tgtEl>
                                          <p:spTgt spid="707595"/>
                                        </p:tgtEl>
                                        <p:attrNameLst>
                                          <p:attrName>style.visibility</p:attrName>
                                        </p:attrNameLst>
                                      </p:cBhvr>
                                    </p:anim>
                                  </p:childTnLst>
                                </p:cTn>
                              </p:par>
                              <p:par>
                                <p:cTn id="28" presetID="24" presetClass="entr" presetSubtype="0" fill="hold" nodeType="withEffect">
                                  <p:stCondLst>
                                    <p:cond delay="0"/>
                                  </p:stCondLst>
                                  <p:childTnLst>
                                    <p:set>
                                      <p:cBhvr>
                                        <p:cTn id="29" dur="1" fill="hold">
                                          <p:stCondLst>
                                            <p:cond delay="0"/>
                                          </p:stCondLst>
                                        </p:cTn>
                                        <p:tgtEl>
                                          <p:spTgt spid="707596"/>
                                        </p:tgtEl>
                                        <p:attrNameLst>
                                          <p:attrName>style.visibility</p:attrName>
                                        </p:attrNameLst>
                                      </p:cBhvr>
                                      <p:to>
                                        <p:strVal val="visible"/>
                                      </p:to>
                                    </p:set>
                                    <p:anim to="" calcmode="lin" valueType="num">
                                      <p:cBhvr>
                                        <p:cTn id="30" dur="1" fill="hold"/>
                                        <p:tgtEl>
                                          <p:spTgt spid="707596"/>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9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1138" name="Group 40"/>
          <p:cNvGrpSpPr/>
          <p:nvPr/>
        </p:nvGrpSpPr>
        <p:grpSpPr>
          <a:xfrm>
            <a:off x="7164388" y="-265112"/>
            <a:ext cx="1758950" cy="1606550"/>
            <a:chOff x="672" y="334"/>
            <a:chExt cx="1108" cy="1012"/>
          </a:xfrm>
        </p:grpSpPr>
        <p:pic>
          <p:nvPicPr>
            <p:cNvPr id="91139"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1140" name="Group 28"/>
            <p:cNvGrpSpPr/>
            <p:nvPr/>
          </p:nvGrpSpPr>
          <p:grpSpPr>
            <a:xfrm>
              <a:off x="864" y="1104"/>
              <a:ext cx="768" cy="242"/>
              <a:chOff x="-768" y="1440"/>
              <a:chExt cx="768" cy="242"/>
            </a:xfrm>
          </p:grpSpPr>
          <p:sp>
            <p:nvSpPr>
              <p:cNvPr id="91141"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1142"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1143"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1144"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08618" name="Text Box 10"/>
          <p:cNvSpPr txBox="1">
            <a:spLocks noChangeArrowheads="1"/>
          </p:cNvSpPr>
          <p:nvPr/>
        </p:nvSpPr>
        <p:spPr bwMode="auto">
          <a:xfrm>
            <a:off x="539750" y="1125538"/>
            <a:ext cx="860425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4</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）工程干扰费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通信线路工程、通信管道工程由于受市政管理、交通管制、人流密集、输配电设施等影响工效的补偿费用。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工程干扰费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6-6</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p:txBody>
      </p:sp>
      <p:sp>
        <p:nvSpPr>
          <p:cNvPr id="708619" name="Rectangle 11"/>
          <p:cNvSpPr/>
          <p:nvPr/>
        </p:nvSpPr>
        <p:spPr>
          <a:xfrm>
            <a:off x="3132138" y="4221163"/>
            <a:ext cx="2335212"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6-6 </a:t>
            </a:r>
            <a:r>
              <a:rPr lang="zh-CN" altLang="en-US" sz="1600" b="0" dirty="0">
                <a:solidFill>
                  <a:schemeClr val="tx1"/>
                </a:solidFill>
                <a:latin typeface="Times New Roman" panose="02020603050405020304" pitchFamily="18" charset="0"/>
                <a:ea typeface="宋体" panose="02010600030101010101" pitchFamily="2" charset="-122"/>
              </a:rPr>
              <a:t>工程干扰费费率表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08620" name="Group 12"/>
          <p:cNvGraphicFramePr>
            <a:graphicFrameLocks noGrp="1"/>
          </p:cNvGraphicFramePr>
          <p:nvPr/>
        </p:nvGraphicFramePr>
        <p:xfrm>
          <a:off x="1042988" y="4652963"/>
          <a:ext cx="6481763" cy="1047750"/>
        </p:xfrm>
        <a:graphic>
          <a:graphicData uri="http://schemas.openxmlformats.org/drawingml/2006/table">
            <a:tbl>
              <a:tblPr/>
              <a:tblGrid>
                <a:gridCol w="4087812"/>
                <a:gridCol w="1168400"/>
                <a:gridCol w="1225550"/>
              </a:tblGrid>
              <a:tr h="36025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17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通信线路工程、通信管道工程（干扰地区）</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5231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移动通信基站设备安装工程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
        <p:nvSpPr>
          <p:cNvPr id="708638" name="Rectangle 30"/>
          <p:cNvSpPr/>
          <p:nvPr/>
        </p:nvSpPr>
        <p:spPr>
          <a:xfrm>
            <a:off x="971550" y="5778500"/>
            <a:ext cx="5962650" cy="660400"/>
          </a:xfrm>
          <a:prstGeom prst="rect">
            <a:avLst/>
          </a:prstGeom>
          <a:noFill/>
          <a:ln w="9525">
            <a:noFill/>
          </a:ln>
        </p:spPr>
        <p:txBody>
          <a:bodyPr wrap="none" anchor="ctr" anchorCtr="0">
            <a:spAutoFit/>
          </a:bodyPr>
          <a:p>
            <a:pPr indent="266700">
              <a:lnSpc>
                <a:spcPct val="110000"/>
              </a:lnSpc>
            </a:pPr>
            <a:r>
              <a:rPr lang="zh-CN" altLang="en-US" sz="1400" b="0" dirty="0">
                <a:solidFill>
                  <a:schemeClr val="tx1"/>
                </a:solidFill>
                <a:latin typeface="Arial" panose="020B0604020202020204" pitchFamily="34" charset="0"/>
                <a:ea typeface="宋体" panose="02010600030101010101" pitchFamily="2" charset="-122"/>
              </a:rPr>
              <a:t>注：①干扰地区指城区、高速公路隔离带、铁路路基边缘等施工地带。</a:t>
            </a:r>
            <a:endParaRPr lang="zh-CN" altLang="en-US" sz="1400" b="0" dirty="0">
              <a:solidFill>
                <a:schemeClr val="tx1"/>
              </a:solidFill>
              <a:latin typeface="Arial" panose="020B0604020202020204" pitchFamily="34" charset="0"/>
              <a:ea typeface="宋体" panose="02010600030101010101" pitchFamily="2" charset="-122"/>
            </a:endParaRPr>
          </a:p>
          <a:p>
            <a:pPr indent="266700">
              <a:lnSpc>
                <a:spcPct val="110000"/>
              </a:lnSpc>
            </a:pPr>
            <a:r>
              <a:rPr lang="zh-CN" altLang="en-US" sz="1400" b="0" dirty="0">
                <a:solidFill>
                  <a:schemeClr val="tx1"/>
                </a:solidFill>
                <a:latin typeface="Arial" panose="020B0604020202020204" pitchFamily="34" charset="0"/>
                <a:ea typeface="宋体" panose="02010600030101010101" pitchFamily="2" charset="-122"/>
              </a:rPr>
              <a:t>       ②综合布线工程不计取</a:t>
            </a:r>
            <a:r>
              <a:rPr lang="zh-CN" altLang="en-US" b="0" dirty="0">
                <a:solidFill>
                  <a:schemeClr val="tx1"/>
                </a:solidFill>
                <a:latin typeface="Arial" panose="020B0604020202020204" pitchFamily="34" charset="0"/>
                <a:ea typeface="宋体" panose="02010600030101010101" pitchFamily="2" charset="-122"/>
              </a:rPr>
              <a:t>。</a:t>
            </a:r>
            <a:endParaRPr lang="zh-CN" altLang="en-US" b="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08618">
                                            <p:txEl>
                                              <p:charRg st="18" end="27"/>
                                            </p:txEl>
                                          </p:spTgt>
                                        </p:tgtEl>
                                        <p:attrNameLst>
                                          <p:attrName>style.visibility</p:attrName>
                                        </p:attrNameLst>
                                      </p:cBhvr>
                                      <p:to>
                                        <p:strVal val="visible"/>
                                      </p:to>
                                    </p:set>
                                    <p:animEffect transition="in" filter="slide(fromBottom)">
                                      <p:cBhvr>
                                        <p:cTn id="7" dur="500"/>
                                        <p:tgtEl>
                                          <p:spTgt spid="708618">
                                            <p:txEl>
                                              <p:charRg st="18"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08618">
                                            <p:txEl>
                                              <p:charRg st="105" end="137"/>
                                            </p:txEl>
                                          </p:spTgt>
                                        </p:tgtEl>
                                        <p:attrNameLst>
                                          <p:attrName>style.visibility</p:attrName>
                                        </p:attrNameLst>
                                      </p:cBhvr>
                                      <p:to>
                                        <p:strVal val="visible"/>
                                      </p:to>
                                    </p:set>
                                    <p:animEffect transition="in" filter="slide(fromBottom)">
                                      <p:cBhvr>
                                        <p:cTn id="12" dur="500"/>
                                        <p:tgtEl>
                                          <p:spTgt spid="708618">
                                            <p:txEl>
                                              <p:charRg st="105" end="1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08618">
                                            <p:txEl>
                                              <p:charRg st="27" end="84"/>
                                            </p:txEl>
                                          </p:spTgt>
                                        </p:tgtEl>
                                        <p:attrNameLst>
                                          <p:attrName>style.visibility</p:attrName>
                                        </p:attrNameLst>
                                      </p:cBhvr>
                                      <p:to>
                                        <p:strVal val="visible"/>
                                      </p:to>
                                    </p:set>
                                    <p:animEffect transition="in" filter="slide(fromBottom)">
                                      <p:cBhvr>
                                        <p:cTn id="17" dur="500"/>
                                        <p:tgtEl>
                                          <p:spTgt spid="708618">
                                            <p:txEl>
                                              <p:charRg st="27" end="8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08618">
                                            <p:txEl>
                                              <p:charRg st="84" end="105"/>
                                            </p:txEl>
                                          </p:spTgt>
                                        </p:tgtEl>
                                        <p:attrNameLst>
                                          <p:attrName>style.visibility</p:attrName>
                                        </p:attrNameLst>
                                      </p:cBhvr>
                                      <p:to>
                                        <p:strVal val="visible"/>
                                      </p:to>
                                    </p:set>
                                    <p:animEffect transition="in" filter="slide(fromBottom)">
                                      <p:cBhvr>
                                        <p:cTn id="22" dur="500"/>
                                        <p:tgtEl>
                                          <p:spTgt spid="708618">
                                            <p:txEl>
                                              <p:charRg st="84" end="10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708619"/>
                                        </p:tgtEl>
                                        <p:attrNameLst>
                                          <p:attrName>style.visibility</p:attrName>
                                        </p:attrNameLst>
                                      </p:cBhvr>
                                      <p:to>
                                        <p:strVal val="visible"/>
                                      </p:to>
                                    </p:set>
                                    <p:anim to="" calcmode="lin" valueType="num">
                                      <p:cBhvr>
                                        <p:cTn id="27" dur="1" fill="hold"/>
                                        <p:tgtEl>
                                          <p:spTgt spid="708619"/>
                                        </p:tgtEl>
                                        <p:attrNameLst>
                                          <p:attrName>style.visibility</p:attrName>
                                        </p:attrNameLst>
                                      </p:cBhvr>
                                    </p:anim>
                                  </p:childTnLst>
                                </p:cTn>
                              </p:par>
                              <p:par>
                                <p:cTn id="28" presetID="24" presetClass="entr" presetSubtype="0" fill="hold" nodeType="withEffect">
                                  <p:stCondLst>
                                    <p:cond delay="0"/>
                                  </p:stCondLst>
                                  <p:childTnLst>
                                    <p:set>
                                      <p:cBhvr>
                                        <p:cTn id="29" dur="1" fill="hold">
                                          <p:stCondLst>
                                            <p:cond delay="0"/>
                                          </p:stCondLst>
                                        </p:cTn>
                                        <p:tgtEl>
                                          <p:spTgt spid="708620"/>
                                        </p:tgtEl>
                                        <p:attrNameLst>
                                          <p:attrName>style.visibility</p:attrName>
                                        </p:attrNameLst>
                                      </p:cBhvr>
                                      <p:to>
                                        <p:strVal val="visible"/>
                                      </p:to>
                                    </p:set>
                                    <p:anim to="" calcmode="lin" valueType="num">
                                      <p:cBhvr>
                                        <p:cTn id="30" dur="1" fill="hold"/>
                                        <p:tgtEl>
                                          <p:spTgt spid="708620"/>
                                        </p:tgtEl>
                                        <p:attrNameLst>
                                          <p:attrName>style.visibility</p:attrName>
                                        </p:attrNameLst>
                                      </p:cBhvr>
                                    </p:anim>
                                  </p:childTnLst>
                                </p:cTn>
                              </p:par>
                              <p:par>
                                <p:cTn id="31" presetID="24" presetClass="entr" presetSubtype="0" fill="hold" grpId="0" nodeType="withEffect">
                                  <p:stCondLst>
                                    <p:cond delay="0"/>
                                  </p:stCondLst>
                                  <p:childTnLst>
                                    <p:set>
                                      <p:cBhvr>
                                        <p:cTn id="32" dur="1" fill="hold">
                                          <p:stCondLst>
                                            <p:cond delay="0"/>
                                          </p:stCondLst>
                                        </p:cTn>
                                        <p:tgtEl>
                                          <p:spTgt spid="708638"/>
                                        </p:tgtEl>
                                        <p:attrNameLst>
                                          <p:attrName>style.visibility</p:attrName>
                                        </p:attrNameLst>
                                      </p:cBhvr>
                                      <p:to>
                                        <p:strVal val="visible"/>
                                      </p:to>
                                    </p:set>
                                    <p:anim to="" calcmode="lin" valueType="num">
                                      <p:cBhvr>
                                        <p:cTn id="33" dur="1" fill="hold"/>
                                        <p:tgtEl>
                                          <p:spTgt spid="708638"/>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619" grpId="0"/>
      <p:bldP spid="70863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2162" name="Group 40"/>
          <p:cNvGrpSpPr/>
          <p:nvPr/>
        </p:nvGrpSpPr>
        <p:grpSpPr>
          <a:xfrm>
            <a:off x="7164388" y="-265112"/>
            <a:ext cx="1758950" cy="1606550"/>
            <a:chOff x="672" y="334"/>
            <a:chExt cx="1108" cy="1012"/>
          </a:xfrm>
        </p:grpSpPr>
        <p:pic>
          <p:nvPicPr>
            <p:cNvPr id="92163"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2164" name="Group 28"/>
            <p:cNvGrpSpPr/>
            <p:nvPr/>
          </p:nvGrpSpPr>
          <p:grpSpPr>
            <a:xfrm>
              <a:off x="864" y="1104"/>
              <a:ext cx="768" cy="242"/>
              <a:chOff x="-768" y="1440"/>
              <a:chExt cx="768" cy="242"/>
            </a:xfrm>
          </p:grpSpPr>
          <p:sp>
            <p:nvSpPr>
              <p:cNvPr id="9216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216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2167"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2168"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09642" name="Text Box 10"/>
          <p:cNvSpPr txBox="1">
            <a:spLocks noChangeArrowheads="1"/>
          </p:cNvSpPr>
          <p:nvPr/>
        </p:nvSpPr>
        <p:spPr bwMode="auto">
          <a:xfrm>
            <a:off x="539750" y="1125538"/>
            <a:ext cx="860425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5</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）工程点交、场地清理费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0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指按规定编制竣工图及资料、工程点交、施工场地清理等发生的费用。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工程点交、场地清理费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6-7</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4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09643" name="Rectangle 11"/>
          <p:cNvSpPr/>
          <p:nvPr/>
        </p:nvSpPr>
        <p:spPr>
          <a:xfrm>
            <a:off x="2843213" y="4292600"/>
            <a:ext cx="3351212"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6-7 </a:t>
            </a:r>
            <a:r>
              <a:rPr lang="zh-CN" altLang="en-US" sz="1600" b="0" dirty="0">
                <a:solidFill>
                  <a:schemeClr val="tx1"/>
                </a:solidFill>
                <a:latin typeface="Times New Roman" panose="02020603050405020304" pitchFamily="18" charset="0"/>
                <a:ea typeface="宋体" panose="02010600030101010101" pitchFamily="2" charset="-122"/>
              </a:rPr>
              <a:t>工程点交、场地清理费费率表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09644" name="Group 12"/>
          <p:cNvGraphicFramePr>
            <a:graphicFrameLocks noGrp="1"/>
          </p:cNvGraphicFramePr>
          <p:nvPr/>
        </p:nvGraphicFramePr>
        <p:xfrm>
          <a:off x="1476375" y="4724400"/>
          <a:ext cx="5618163" cy="1438275"/>
        </p:xfrm>
        <a:graphic>
          <a:graphicData uri="http://schemas.openxmlformats.org/drawingml/2006/table">
            <a:tbl>
              <a:tblPr/>
              <a:tblGrid>
                <a:gridCol w="2770188"/>
                <a:gridCol w="1335087"/>
                <a:gridCol w="1512888"/>
              </a:tblGrid>
              <a:tr h="43199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2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3">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2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2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0" marB="457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09642">
                                            <p:txEl>
                                              <p:charRg st="18" end="32"/>
                                            </p:txEl>
                                          </p:spTgt>
                                        </p:tgtEl>
                                        <p:attrNameLst>
                                          <p:attrName>style.visibility</p:attrName>
                                        </p:attrNameLst>
                                      </p:cBhvr>
                                      <p:to>
                                        <p:strVal val="visible"/>
                                      </p:to>
                                    </p:set>
                                    <p:animEffect transition="in" filter="slide(fromBottom)">
                                      <p:cBhvr>
                                        <p:cTn id="7" dur="500"/>
                                        <p:tgtEl>
                                          <p:spTgt spid="709642">
                                            <p:txEl>
                                              <p:charRg st="18"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09642">
                                            <p:txEl>
                                              <p:charRg st="32" end="72"/>
                                            </p:txEl>
                                          </p:spTgt>
                                        </p:tgtEl>
                                        <p:attrNameLst>
                                          <p:attrName>style.visibility</p:attrName>
                                        </p:attrNameLst>
                                      </p:cBhvr>
                                      <p:to>
                                        <p:strVal val="visible"/>
                                      </p:to>
                                    </p:set>
                                    <p:animEffect transition="in" filter="slide(fromBottom)">
                                      <p:cBhvr>
                                        <p:cTn id="12" dur="500"/>
                                        <p:tgtEl>
                                          <p:spTgt spid="709642">
                                            <p:txEl>
                                              <p:charRg st="32" end="7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09642">
                                            <p:txEl>
                                              <p:charRg st="72" end="94"/>
                                            </p:txEl>
                                          </p:spTgt>
                                        </p:tgtEl>
                                        <p:attrNameLst>
                                          <p:attrName>style.visibility</p:attrName>
                                        </p:attrNameLst>
                                      </p:cBhvr>
                                      <p:to>
                                        <p:strVal val="visible"/>
                                      </p:to>
                                    </p:set>
                                    <p:animEffect transition="in" filter="slide(fromBottom)">
                                      <p:cBhvr>
                                        <p:cTn id="17" dur="500"/>
                                        <p:tgtEl>
                                          <p:spTgt spid="709642">
                                            <p:txEl>
                                              <p:charRg st="72" end="9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09642">
                                            <p:txEl>
                                              <p:charRg st="94" end="130"/>
                                            </p:txEl>
                                          </p:spTgt>
                                        </p:tgtEl>
                                        <p:attrNameLst>
                                          <p:attrName>style.visibility</p:attrName>
                                        </p:attrNameLst>
                                      </p:cBhvr>
                                      <p:to>
                                        <p:strVal val="visible"/>
                                      </p:to>
                                    </p:set>
                                    <p:animEffect transition="in" filter="slide(fromBottom)">
                                      <p:cBhvr>
                                        <p:cTn id="22" dur="500"/>
                                        <p:tgtEl>
                                          <p:spTgt spid="709642">
                                            <p:txEl>
                                              <p:charRg st="94" end="13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709643"/>
                                        </p:tgtEl>
                                        <p:attrNameLst>
                                          <p:attrName>style.visibility</p:attrName>
                                        </p:attrNameLst>
                                      </p:cBhvr>
                                      <p:to>
                                        <p:strVal val="visible"/>
                                      </p:to>
                                    </p:set>
                                    <p:animEffect transition="in" filter="circle(in)">
                                      <p:cBhvr>
                                        <p:cTn id="27" dur="2000"/>
                                        <p:tgtEl>
                                          <p:spTgt spid="709643"/>
                                        </p:tgtEl>
                                      </p:cBhvr>
                                    </p:animEffect>
                                  </p:childTnLst>
                                </p:cTn>
                              </p:par>
                              <p:par>
                                <p:cTn id="28" presetID="6" presetClass="entr" presetSubtype="16" fill="hold" nodeType="withEffect">
                                  <p:stCondLst>
                                    <p:cond delay="0"/>
                                  </p:stCondLst>
                                  <p:childTnLst>
                                    <p:set>
                                      <p:cBhvr>
                                        <p:cTn id="29" dur="1" fill="hold">
                                          <p:stCondLst>
                                            <p:cond delay="0"/>
                                          </p:stCondLst>
                                        </p:cTn>
                                        <p:tgtEl>
                                          <p:spTgt spid="709644"/>
                                        </p:tgtEl>
                                        <p:attrNameLst>
                                          <p:attrName>style.visibility</p:attrName>
                                        </p:attrNameLst>
                                      </p:cBhvr>
                                      <p:to>
                                        <p:strVal val="visible"/>
                                      </p:to>
                                    </p:set>
                                    <p:animEffect transition="in" filter="circle(in)">
                                      <p:cBhvr>
                                        <p:cTn id="30" dur="2000"/>
                                        <p:tgtEl>
                                          <p:spTgt spid="709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4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3186" name="Group 40"/>
          <p:cNvGrpSpPr/>
          <p:nvPr/>
        </p:nvGrpSpPr>
        <p:grpSpPr>
          <a:xfrm>
            <a:off x="7164388" y="-265112"/>
            <a:ext cx="1758950" cy="1606550"/>
            <a:chOff x="672" y="334"/>
            <a:chExt cx="1108" cy="1012"/>
          </a:xfrm>
        </p:grpSpPr>
        <p:pic>
          <p:nvPicPr>
            <p:cNvPr id="93187"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3188" name="Group 28"/>
            <p:cNvGrpSpPr/>
            <p:nvPr/>
          </p:nvGrpSpPr>
          <p:grpSpPr>
            <a:xfrm>
              <a:off x="864" y="1104"/>
              <a:ext cx="768" cy="242"/>
              <a:chOff x="-768" y="1440"/>
              <a:chExt cx="768" cy="242"/>
            </a:xfrm>
          </p:grpSpPr>
          <p:sp>
            <p:nvSpPr>
              <p:cNvPr id="93189"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3190"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3191"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3192"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10666" name="Text Box 10"/>
          <p:cNvSpPr txBox="1">
            <a:spLocks noChangeArrowheads="1"/>
          </p:cNvSpPr>
          <p:nvPr/>
        </p:nvSpPr>
        <p:spPr bwMode="auto">
          <a:xfrm>
            <a:off x="539750" y="1125538"/>
            <a:ext cx="860425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）临时设施费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指施工企业为进行工程施工所必须设置的生活和生产用的临时建筑物、构筑物和其他临时设施费用等。</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临时设施费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6-8</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10667" name="Rectangle 11"/>
          <p:cNvSpPr/>
          <p:nvPr/>
        </p:nvSpPr>
        <p:spPr>
          <a:xfrm>
            <a:off x="3408363" y="4221163"/>
            <a:ext cx="2386012"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6-8  </a:t>
            </a:r>
            <a:r>
              <a:rPr lang="zh-CN" altLang="en-US" sz="1600" b="0" dirty="0">
                <a:solidFill>
                  <a:schemeClr val="tx1"/>
                </a:solidFill>
                <a:latin typeface="Times New Roman" panose="02020603050405020304" pitchFamily="18" charset="0"/>
                <a:ea typeface="宋体" panose="02010600030101010101" pitchFamily="2" charset="-122"/>
              </a:rPr>
              <a:t>临时设施费费率表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10668" name="Group 12"/>
          <p:cNvGraphicFramePr>
            <a:graphicFrameLocks noGrp="1"/>
          </p:cNvGraphicFramePr>
          <p:nvPr/>
        </p:nvGraphicFramePr>
        <p:xfrm>
          <a:off x="1547813" y="4581525"/>
          <a:ext cx="5726113" cy="1676400"/>
        </p:xfrm>
        <a:graphic>
          <a:graphicData uri="http://schemas.openxmlformats.org/drawingml/2006/table">
            <a:tbl>
              <a:tblPr/>
              <a:tblGrid>
                <a:gridCol w="1981200"/>
                <a:gridCol w="1008062"/>
                <a:gridCol w="1368425"/>
                <a:gridCol w="1368425"/>
              </a:tblGrid>
              <a:tr h="200025">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grid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r>
              <a:tr h="0">
                <a:tc vMerge="1">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距离≤</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35km</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距离＞</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35km</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540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12.0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162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12.0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0666">
                                            <p:txEl>
                                              <p:charRg st="18" end="27"/>
                                            </p:txEl>
                                          </p:spTgt>
                                        </p:tgtEl>
                                        <p:attrNameLst>
                                          <p:attrName>style.visibility</p:attrName>
                                        </p:attrNameLst>
                                      </p:cBhvr>
                                      <p:to>
                                        <p:strVal val="visible"/>
                                      </p:to>
                                    </p:set>
                                    <p:animEffect transition="in" filter="slide(fromBottom)">
                                      <p:cBhvr>
                                        <p:cTn id="7" dur="500"/>
                                        <p:tgtEl>
                                          <p:spTgt spid="710666">
                                            <p:txEl>
                                              <p:charRg st="18"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10666">
                                            <p:txEl>
                                              <p:charRg st="27" end="80"/>
                                            </p:txEl>
                                          </p:spTgt>
                                        </p:tgtEl>
                                        <p:attrNameLst>
                                          <p:attrName>style.visibility</p:attrName>
                                        </p:attrNameLst>
                                      </p:cBhvr>
                                      <p:to>
                                        <p:strVal val="visible"/>
                                      </p:to>
                                    </p:set>
                                    <p:animEffect transition="in" filter="slide(fromBottom)">
                                      <p:cBhvr>
                                        <p:cTn id="12" dur="500"/>
                                        <p:tgtEl>
                                          <p:spTgt spid="710666">
                                            <p:txEl>
                                              <p:charRg st="27" end="8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10666">
                                            <p:txEl>
                                              <p:charRg st="80" end="101"/>
                                            </p:txEl>
                                          </p:spTgt>
                                        </p:tgtEl>
                                        <p:attrNameLst>
                                          <p:attrName>style.visibility</p:attrName>
                                        </p:attrNameLst>
                                      </p:cBhvr>
                                      <p:to>
                                        <p:strVal val="visible"/>
                                      </p:to>
                                    </p:set>
                                    <p:animEffect transition="in" filter="slide(fromBottom)">
                                      <p:cBhvr>
                                        <p:cTn id="17" dur="500"/>
                                        <p:tgtEl>
                                          <p:spTgt spid="710666">
                                            <p:txEl>
                                              <p:charRg st="80" end="10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10666">
                                            <p:txEl>
                                              <p:charRg st="101" end="133"/>
                                            </p:txEl>
                                          </p:spTgt>
                                        </p:tgtEl>
                                        <p:attrNameLst>
                                          <p:attrName>style.visibility</p:attrName>
                                        </p:attrNameLst>
                                      </p:cBhvr>
                                      <p:to>
                                        <p:strVal val="visible"/>
                                      </p:to>
                                    </p:set>
                                    <p:animEffect transition="in" filter="slide(fromBottom)">
                                      <p:cBhvr>
                                        <p:cTn id="22" dur="500"/>
                                        <p:tgtEl>
                                          <p:spTgt spid="710666">
                                            <p:txEl>
                                              <p:charRg st="101" end="13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grpId="0" nodeType="clickEffect">
                                  <p:stCondLst>
                                    <p:cond delay="0"/>
                                  </p:stCondLst>
                                  <p:childTnLst>
                                    <p:set>
                                      <p:cBhvr>
                                        <p:cTn id="26" dur="1" fill="hold">
                                          <p:stCondLst>
                                            <p:cond delay="0"/>
                                          </p:stCondLst>
                                        </p:cTn>
                                        <p:tgtEl>
                                          <p:spTgt spid="710667"/>
                                        </p:tgtEl>
                                        <p:attrNameLst>
                                          <p:attrName>style.visibility</p:attrName>
                                        </p:attrNameLst>
                                      </p:cBhvr>
                                      <p:to>
                                        <p:strVal val="visible"/>
                                      </p:to>
                                    </p:set>
                                    <p:animEffect transition="in" filter="wedge">
                                      <p:cBhvr>
                                        <p:cTn id="27" dur="2000"/>
                                        <p:tgtEl>
                                          <p:spTgt spid="710667"/>
                                        </p:tgtEl>
                                      </p:cBhvr>
                                    </p:animEffect>
                                  </p:childTnLst>
                                </p:cTn>
                              </p:par>
                              <p:par>
                                <p:cTn id="28" presetID="20" presetClass="entr" presetSubtype="0" fill="hold" nodeType="withEffect">
                                  <p:stCondLst>
                                    <p:cond delay="0"/>
                                  </p:stCondLst>
                                  <p:childTnLst>
                                    <p:set>
                                      <p:cBhvr>
                                        <p:cTn id="29" dur="1" fill="hold">
                                          <p:stCondLst>
                                            <p:cond delay="0"/>
                                          </p:stCondLst>
                                        </p:cTn>
                                        <p:tgtEl>
                                          <p:spTgt spid="710668"/>
                                        </p:tgtEl>
                                        <p:attrNameLst>
                                          <p:attrName>style.visibility</p:attrName>
                                        </p:attrNameLst>
                                      </p:cBhvr>
                                      <p:to>
                                        <p:strVal val="visible"/>
                                      </p:to>
                                    </p:set>
                                    <p:animEffect transition="in" filter="wedge">
                                      <p:cBhvr>
                                        <p:cTn id="30" dur="2000"/>
                                        <p:tgtEl>
                                          <p:spTgt spid="710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6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4210" name="Group 40"/>
          <p:cNvGrpSpPr/>
          <p:nvPr/>
        </p:nvGrpSpPr>
        <p:grpSpPr>
          <a:xfrm>
            <a:off x="7164388" y="-265112"/>
            <a:ext cx="1758950" cy="1606550"/>
            <a:chOff x="672" y="334"/>
            <a:chExt cx="1108" cy="1012"/>
          </a:xfrm>
        </p:grpSpPr>
        <p:pic>
          <p:nvPicPr>
            <p:cNvPr id="94211"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4212" name="Group 28"/>
            <p:cNvGrpSpPr/>
            <p:nvPr/>
          </p:nvGrpSpPr>
          <p:grpSpPr>
            <a:xfrm>
              <a:off x="864" y="1104"/>
              <a:ext cx="768" cy="242"/>
              <a:chOff x="-768" y="1440"/>
              <a:chExt cx="768" cy="242"/>
            </a:xfrm>
          </p:grpSpPr>
          <p:sp>
            <p:nvSpPr>
              <p:cNvPr id="94213"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4214"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4215"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4216"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11690" name="Text Box 10"/>
          <p:cNvSpPr txBox="1">
            <a:spLocks noChangeArrowheads="1"/>
          </p:cNvSpPr>
          <p:nvPr/>
        </p:nvSpPr>
        <p:spPr bwMode="auto">
          <a:xfrm>
            <a:off x="539750" y="1125538"/>
            <a:ext cx="860425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7</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）工程车辆使用费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指工程施工中接送施工人员、生活用车等（含过路、过桥）费用。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工程车辆使用费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6-9</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11691" name="Rectangle 11"/>
          <p:cNvSpPr/>
          <p:nvPr/>
        </p:nvSpPr>
        <p:spPr>
          <a:xfrm>
            <a:off x="3019425" y="4238625"/>
            <a:ext cx="27416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6-9 </a:t>
            </a:r>
            <a:r>
              <a:rPr lang="zh-CN" altLang="en-US" sz="1600" b="0" dirty="0">
                <a:solidFill>
                  <a:schemeClr val="tx1"/>
                </a:solidFill>
                <a:latin typeface="Times New Roman" panose="02020603050405020304" pitchFamily="18" charset="0"/>
                <a:ea typeface="宋体" panose="02010600030101010101" pitchFamily="2" charset="-122"/>
              </a:rPr>
              <a:t>工程车辆使用费费率表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11692" name="Group 12"/>
          <p:cNvGraphicFramePr>
            <a:graphicFrameLocks noGrp="1"/>
          </p:cNvGraphicFramePr>
          <p:nvPr/>
        </p:nvGraphicFramePr>
        <p:xfrm>
          <a:off x="1116013" y="4652963"/>
          <a:ext cx="6049963" cy="1279525"/>
        </p:xfrm>
        <a:graphic>
          <a:graphicData uri="http://schemas.openxmlformats.org/drawingml/2006/table">
            <a:tbl>
              <a:tblPr/>
              <a:tblGrid>
                <a:gridCol w="3671887"/>
                <a:gridCol w="1152525"/>
                <a:gridCol w="1225550"/>
              </a:tblGrid>
              <a:tr h="36512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540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无线通信设备安装工程、通信线路工程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48577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有线通信设备安装工程、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通信电源设备安装工程、通信管道工程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2.6</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1690">
                                            <p:txEl>
                                              <p:charRg st="18" end="29"/>
                                            </p:txEl>
                                          </p:spTgt>
                                        </p:tgtEl>
                                        <p:attrNameLst>
                                          <p:attrName>style.visibility</p:attrName>
                                        </p:attrNameLst>
                                      </p:cBhvr>
                                      <p:to>
                                        <p:strVal val="visible"/>
                                      </p:to>
                                    </p:set>
                                    <p:animEffect transition="in" filter="slide(fromBottom)">
                                      <p:cBhvr>
                                        <p:cTn id="7" dur="500"/>
                                        <p:tgtEl>
                                          <p:spTgt spid="711690">
                                            <p:txEl>
                                              <p:charRg st="18"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1690">
                                            <p:txEl>
                                              <p:charRg st="29" end="67"/>
                                            </p:txEl>
                                          </p:spTgt>
                                        </p:tgtEl>
                                        <p:attrNameLst>
                                          <p:attrName>style.visibility</p:attrName>
                                        </p:attrNameLst>
                                      </p:cBhvr>
                                      <p:to>
                                        <p:strVal val="visible"/>
                                      </p:to>
                                    </p:set>
                                    <p:animEffect transition="in" filter="blinds(horizontal)">
                                      <p:cBhvr>
                                        <p:cTn id="12" dur="500"/>
                                        <p:tgtEl>
                                          <p:spTgt spid="711690">
                                            <p:txEl>
                                              <p:charRg st="29"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711690">
                                            <p:txEl>
                                              <p:charRg st="67" end="89"/>
                                            </p:txEl>
                                          </p:spTgt>
                                        </p:tgtEl>
                                        <p:attrNameLst>
                                          <p:attrName>style.visibility</p:attrName>
                                        </p:attrNameLst>
                                      </p:cBhvr>
                                      <p:to>
                                        <p:strVal val="visible"/>
                                      </p:to>
                                    </p:set>
                                    <p:anim to="" calcmode="lin" valueType="num">
                                      <p:cBhvr>
                                        <p:cTn id="17" dur="1" fill="hold"/>
                                        <p:tgtEl>
                                          <p:spTgt spid="711690">
                                            <p:txEl>
                                              <p:charRg st="67" end="89"/>
                                            </p:txEl>
                                          </p:spTgt>
                                        </p:tgtEl>
                                        <p:attrNameLst>
                                          <p:attrName>style.visibility</p:attrName>
                                        </p:attrNameLst>
                                      </p:cBhvr>
                                    </p:anim>
                                  </p:childTnLst>
                                </p:cTn>
                              </p:par>
                              <p:par>
                                <p:cTn id="18" presetID="24" presetClass="entr" presetSubtype="0" fill="hold" nodeType="withEffect">
                                  <p:stCondLst>
                                    <p:cond delay="0"/>
                                  </p:stCondLst>
                                  <p:childTnLst>
                                    <p:set>
                                      <p:cBhvr>
                                        <p:cTn id="19" dur="1" fill="hold">
                                          <p:stCondLst>
                                            <p:cond delay="0"/>
                                          </p:stCondLst>
                                        </p:cTn>
                                        <p:tgtEl>
                                          <p:spTgt spid="711690">
                                            <p:txEl>
                                              <p:charRg st="89" end="123"/>
                                            </p:txEl>
                                          </p:spTgt>
                                        </p:tgtEl>
                                        <p:attrNameLst>
                                          <p:attrName>style.visibility</p:attrName>
                                        </p:attrNameLst>
                                      </p:cBhvr>
                                      <p:to>
                                        <p:strVal val="visible"/>
                                      </p:to>
                                    </p:set>
                                    <p:anim to="" calcmode="lin" valueType="num">
                                      <p:cBhvr>
                                        <p:cTn id="20" dur="1" fill="hold"/>
                                        <p:tgtEl>
                                          <p:spTgt spid="711690">
                                            <p:txEl>
                                              <p:charRg st="89" end="123"/>
                                            </p:txEl>
                                          </p:spTgt>
                                        </p:tgtEl>
                                        <p:attrNameLst>
                                          <p:attrName>style.visibility</p:attrName>
                                        </p:attrNameLst>
                                      </p:cBhvr>
                                    </p:anim>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grpId="0" nodeType="clickEffect">
                                  <p:stCondLst>
                                    <p:cond delay="0"/>
                                  </p:stCondLst>
                                  <p:childTnLst>
                                    <p:set>
                                      <p:cBhvr>
                                        <p:cTn id="24" dur="1" fill="hold">
                                          <p:stCondLst>
                                            <p:cond delay="0"/>
                                          </p:stCondLst>
                                        </p:cTn>
                                        <p:tgtEl>
                                          <p:spTgt spid="711691"/>
                                        </p:tgtEl>
                                        <p:attrNameLst>
                                          <p:attrName>style.visibility</p:attrName>
                                        </p:attrNameLst>
                                      </p:cBhvr>
                                      <p:to>
                                        <p:strVal val="visible"/>
                                      </p:to>
                                    </p:set>
                                    <p:animEffect transition="in" filter="wedge">
                                      <p:cBhvr>
                                        <p:cTn id="25" dur="2000"/>
                                        <p:tgtEl>
                                          <p:spTgt spid="711691"/>
                                        </p:tgtEl>
                                      </p:cBhvr>
                                    </p:animEffect>
                                  </p:childTnLst>
                                </p:cTn>
                              </p:par>
                              <p:par>
                                <p:cTn id="26" presetID="20" presetClass="entr" presetSubtype="0" fill="hold" nodeType="withEffect">
                                  <p:stCondLst>
                                    <p:cond delay="0"/>
                                  </p:stCondLst>
                                  <p:childTnLst>
                                    <p:set>
                                      <p:cBhvr>
                                        <p:cTn id="27" dur="1" fill="hold">
                                          <p:stCondLst>
                                            <p:cond delay="0"/>
                                          </p:stCondLst>
                                        </p:cTn>
                                        <p:tgtEl>
                                          <p:spTgt spid="711692"/>
                                        </p:tgtEl>
                                        <p:attrNameLst>
                                          <p:attrName>style.visibility</p:attrName>
                                        </p:attrNameLst>
                                      </p:cBhvr>
                                      <p:to>
                                        <p:strVal val="visible"/>
                                      </p:to>
                                    </p:set>
                                    <p:animEffect transition="in" filter="wedge">
                                      <p:cBhvr>
                                        <p:cTn id="28" dur="2000"/>
                                        <p:tgtEl>
                                          <p:spTgt spid="711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91"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5234" name="Group 40"/>
          <p:cNvGrpSpPr/>
          <p:nvPr/>
        </p:nvGrpSpPr>
        <p:grpSpPr>
          <a:xfrm>
            <a:off x="7164388" y="-265112"/>
            <a:ext cx="1758950" cy="1606550"/>
            <a:chOff x="672" y="334"/>
            <a:chExt cx="1108" cy="1012"/>
          </a:xfrm>
        </p:grpSpPr>
        <p:pic>
          <p:nvPicPr>
            <p:cNvPr id="95235"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5236" name="Group 28"/>
            <p:cNvGrpSpPr/>
            <p:nvPr/>
          </p:nvGrpSpPr>
          <p:grpSpPr>
            <a:xfrm>
              <a:off x="864" y="1104"/>
              <a:ext cx="768" cy="242"/>
              <a:chOff x="-768" y="1440"/>
              <a:chExt cx="768" cy="242"/>
            </a:xfrm>
          </p:grpSpPr>
          <p:sp>
            <p:nvSpPr>
              <p:cNvPr id="95237"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5238"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5239"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5240"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12714" name="Text Box 10"/>
          <p:cNvSpPr txBox="1">
            <a:spLocks noChangeArrowheads="1"/>
          </p:cNvSpPr>
          <p:nvPr/>
        </p:nvSpPr>
        <p:spPr bwMode="auto">
          <a:xfrm>
            <a:off x="539750" y="1125538"/>
            <a:ext cx="860425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8</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）夜间施工增加费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指因夜间施工所发生的夜间补助费、夜间施工降效、夜间施工照明设备摊销及照明用电等费用。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夜间施工增加费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6-10</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12715" name="Rectangle 11"/>
          <p:cNvSpPr/>
          <p:nvPr/>
        </p:nvSpPr>
        <p:spPr>
          <a:xfrm>
            <a:off x="3289300" y="4292600"/>
            <a:ext cx="28432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6-10 </a:t>
            </a:r>
            <a:r>
              <a:rPr lang="zh-CN" altLang="en-US" sz="1600" b="0" dirty="0">
                <a:solidFill>
                  <a:schemeClr val="tx1"/>
                </a:solidFill>
                <a:latin typeface="Times New Roman" panose="02020603050405020304" pitchFamily="18" charset="0"/>
                <a:ea typeface="宋体" panose="02010600030101010101" pitchFamily="2" charset="-122"/>
              </a:rPr>
              <a:t>夜间施工增加费费率表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12716" name="Group 12"/>
          <p:cNvGraphicFramePr>
            <a:graphicFrameLocks noGrp="1"/>
          </p:cNvGraphicFramePr>
          <p:nvPr/>
        </p:nvGraphicFramePr>
        <p:xfrm>
          <a:off x="971550" y="4724400"/>
          <a:ext cx="6696075" cy="1035050"/>
        </p:xfrm>
        <a:graphic>
          <a:graphicData uri="http://schemas.openxmlformats.org/drawingml/2006/table">
            <a:tbl>
              <a:tblPr/>
              <a:tblGrid>
                <a:gridCol w="4249738"/>
                <a:gridCol w="1150937"/>
                <a:gridCol w="1295400"/>
              </a:tblGrid>
              <a:tr h="36490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07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07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通信线路工程（城区部分）、通信管道工程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
        <p:nvSpPr>
          <p:cNvPr id="712734" name="Rectangle 30"/>
          <p:cNvSpPr/>
          <p:nvPr/>
        </p:nvSpPr>
        <p:spPr>
          <a:xfrm>
            <a:off x="971550" y="5876925"/>
            <a:ext cx="4095750" cy="304800"/>
          </a:xfrm>
          <a:prstGeom prst="rect">
            <a:avLst/>
          </a:prstGeom>
          <a:noFill/>
          <a:ln w="9525">
            <a:noFill/>
          </a:ln>
        </p:spPr>
        <p:txBody>
          <a:bodyPr wrap="none" anchor="ctr" anchorCtr="0">
            <a:spAutoFit/>
          </a:bodyPr>
          <a:p>
            <a:pPr eaLnBrk="0" hangingPunct="0"/>
            <a:r>
              <a:rPr lang="zh-CN" altLang="en-US" sz="1400" b="0" dirty="0">
                <a:solidFill>
                  <a:schemeClr val="tx1"/>
                </a:solidFill>
                <a:latin typeface="Arial" panose="020B0604020202020204" pitchFamily="34" charset="0"/>
                <a:ea typeface="宋体" panose="02010600030101010101" pitchFamily="2" charset="-122"/>
              </a:rPr>
              <a:t>注：此项费用不考虑施工时段均按相应费率计取。</a:t>
            </a:r>
            <a:endParaRPr lang="zh-CN" altLang="en-US" sz="1400" b="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2714">
                                            <p:txEl>
                                              <p:charRg st="18" end="29"/>
                                            </p:txEl>
                                          </p:spTgt>
                                        </p:tgtEl>
                                        <p:attrNameLst>
                                          <p:attrName>style.visibility</p:attrName>
                                        </p:attrNameLst>
                                      </p:cBhvr>
                                      <p:to>
                                        <p:strVal val="visible"/>
                                      </p:to>
                                    </p:set>
                                    <p:animEffect transition="in" filter="slide(fromBottom)">
                                      <p:cBhvr>
                                        <p:cTn id="7" dur="500"/>
                                        <p:tgtEl>
                                          <p:spTgt spid="712714">
                                            <p:txEl>
                                              <p:charRg st="18"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2714">
                                            <p:txEl>
                                              <p:charRg st="29" end="79"/>
                                            </p:txEl>
                                          </p:spTgt>
                                        </p:tgtEl>
                                        <p:attrNameLst>
                                          <p:attrName>style.visibility</p:attrName>
                                        </p:attrNameLst>
                                      </p:cBhvr>
                                      <p:to>
                                        <p:strVal val="visible"/>
                                      </p:to>
                                    </p:set>
                                    <p:animEffect transition="in" filter="blinds(horizontal)">
                                      <p:cBhvr>
                                        <p:cTn id="12" dur="500"/>
                                        <p:tgtEl>
                                          <p:spTgt spid="712714">
                                            <p:txEl>
                                              <p:charRg st="29" end="7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712714">
                                            <p:txEl>
                                              <p:charRg st="79" end="101"/>
                                            </p:txEl>
                                          </p:spTgt>
                                        </p:tgtEl>
                                        <p:attrNameLst>
                                          <p:attrName>style.visibility</p:attrName>
                                        </p:attrNameLst>
                                      </p:cBhvr>
                                      <p:to>
                                        <p:strVal val="visible"/>
                                      </p:to>
                                    </p:set>
                                    <p:anim to="" calcmode="lin" valueType="num">
                                      <p:cBhvr>
                                        <p:cTn id="17" dur="1" fill="hold"/>
                                        <p:tgtEl>
                                          <p:spTgt spid="712714">
                                            <p:txEl>
                                              <p:charRg st="79" end="101"/>
                                            </p:txEl>
                                          </p:spTgt>
                                        </p:tgtEl>
                                        <p:attrNameLst>
                                          <p:attrName>style.visibility</p:attrName>
                                        </p:attrNameLst>
                                      </p:cBhvr>
                                    </p:anim>
                                  </p:childTnLst>
                                </p:cTn>
                              </p:par>
                              <p:par>
                                <p:cTn id="18" presetID="24" presetClass="entr" presetSubtype="0" fill="hold" nodeType="withEffect">
                                  <p:stCondLst>
                                    <p:cond delay="0"/>
                                  </p:stCondLst>
                                  <p:childTnLst>
                                    <p:set>
                                      <p:cBhvr>
                                        <p:cTn id="19" dur="1" fill="hold">
                                          <p:stCondLst>
                                            <p:cond delay="0"/>
                                          </p:stCondLst>
                                        </p:cTn>
                                        <p:tgtEl>
                                          <p:spTgt spid="712714">
                                            <p:txEl>
                                              <p:charRg st="101" end="136"/>
                                            </p:txEl>
                                          </p:spTgt>
                                        </p:tgtEl>
                                        <p:attrNameLst>
                                          <p:attrName>style.visibility</p:attrName>
                                        </p:attrNameLst>
                                      </p:cBhvr>
                                      <p:to>
                                        <p:strVal val="visible"/>
                                      </p:to>
                                    </p:set>
                                    <p:anim to="" calcmode="lin" valueType="num">
                                      <p:cBhvr>
                                        <p:cTn id="20" dur="1" fill="hold"/>
                                        <p:tgtEl>
                                          <p:spTgt spid="712714">
                                            <p:txEl>
                                              <p:charRg st="101" end="136"/>
                                            </p:txEl>
                                          </p:spTgt>
                                        </p:tgtEl>
                                        <p:attrNameLst>
                                          <p:attrName>style.visibility</p:attrName>
                                        </p:attrNameLst>
                                      </p:cBhvr>
                                    </p:anim>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grpId="0" nodeType="clickEffect">
                                  <p:stCondLst>
                                    <p:cond delay="0"/>
                                  </p:stCondLst>
                                  <p:childTnLst>
                                    <p:set>
                                      <p:cBhvr>
                                        <p:cTn id="24" dur="1" fill="hold">
                                          <p:stCondLst>
                                            <p:cond delay="0"/>
                                          </p:stCondLst>
                                        </p:cTn>
                                        <p:tgtEl>
                                          <p:spTgt spid="712715"/>
                                        </p:tgtEl>
                                        <p:attrNameLst>
                                          <p:attrName>style.visibility</p:attrName>
                                        </p:attrNameLst>
                                      </p:cBhvr>
                                      <p:to>
                                        <p:strVal val="visible"/>
                                      </p:to>
                                    </p:set>
                                    <p:animEffect transition="in" filter="wedge">
                                      <p:cBhvr>
                                        <p:cTn id="25" dur="2000"/>
                                        <p:tgtEl>
                                          <p:spTgt spid="712715"/>
                                        </p:tgtEl>
                                      </p:cBhvr>
                                    </p:animEffect>
                                  </p:childTnLst>
                                </p:cTn>
                              </p:par>
                              <p:par>
                                <p:cTn id="26" presetID="20" presetClass="entr" presetSubtype="0" fill="hold" nodeType="withEffect">
                                  <p:stCondLst>
                                    <p:cond delay="0"/>
                                  </p:stCondLst>
                                  <p:childTnLst>
                                    <p:set>
                                      <p:cBhvr>
                                        <p:cTn id="27" dur="1" fill="hold">
                                          <p:stCondLst>
                                            <p:cond delay="0"/>
                                          </p:stCondLst>
                                        </p:cTn>
                                        <p:tgtEl>
                                          <p:spTgt spid="712716"/>
                                        </p:tgtEl>
                                        <p:attrNameLst>
                                          <p:attrName>style.visibility</p:attrName>
                                        </p:attrNameLst>
                                      </p:cBhvr>
                                      <p:to>
                                        <p:strVal val="visible"/>
                                      </p:to>
                                    </p:set>
                                    <p:animEffect transition="in" filter="wedge">
                                      <p:cBhvr>
                                        <p:cTn id="28" dur="2000"/>
                                        <p:tgtEl>
                                          <p:spTgt spid="712716"/>
                                        </p:tgtEl>
                                      </p:cBhvr>
                                    </p:animEffect>
                                  </p:childTnLst>
                                </p:cTn>
                              </p:par>
                              <p:par>
                                <p:cTn id="29" presetID="20" presetClass="entr" presetSubtype="0" fill="hold" grpId="0" nodeType="withEffect">
                                  <p:stCondLst>
                                    <p:cond delay="0"/>
                                  </p:stCondLst>
                                  <p:childTnLst>
                                    <p:set>
                                      <p:cBhvr>
                                        <p:cTn id="30" dur="1" fill="hold">
                                          <p:stCondLst>
                                            <p:cond delay="0"/>
                                          </p:stCondLst>
                                        </p:cTn>
                                        <p:tgtEl>
                                          <p:spTgt spid="712734"/>
                                        </p:tgtEl>
                                        <p:attrNameLst>
                                          <p:attrName>style.visibility</p:attrName>
                                        </p:attrNameLst>
                                      </p:cBhvr>
                                      <p:to>
                                        <p:strVal val="visible"/>
                                      </p:to>
                                    </p:set>
                                    <p:animEffect transition="in" filter="wedge">
                                      <p:cBhvr>
                                        <p:cTn id="31" dur="2000"/>
                                        <p:tgtEl>
                                          <p:spTgt spid="712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15" grpId="0"/>
      <p:bldP spid="71273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6258" name="Group 40"/>
          <p:cNvGrpSpPr/>
          <p:nvPr/>
        </p:nvGrpSpPr>
        <p:grpSpPr>
          <a:xfrm>
            <a:off x="7164388" y="-265112"/>
            <a:ext cx="1758950" cy="1606550"/>
            <a:chOff x="672" y="334"/>
            <a:chExt cx="1108" cy="1012"/>
          </a:xfrm>
        </p:grpSpPr>
        <p:pic>
          <p:nvPicPr>
            <p:cNvPr id="96259"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6260" name="Group 28"/>
            <p:cNvGrpSpPr/>
            <p:nvPr/>
          </p:nvGrpSpPr>
          <p:grpSpPr>
            <a:xfrm>
              <a:off x="864" y="1104"/>
              <a:ext cx="768" cy="242"/>
              <a:chOff x="-768" y="1440"/>
              <a:chExt cx="768" cy="242"/>
            </a:xfrm>
          </p:grpSpPr>
          <p:sp>
            <p:nvSpPr>
              <p:cNvPr id="96261"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6262"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6263"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6264"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13738" name="Text Box 10"/>
          <p:cNvSpPr txBox="1">
            <a:spLocks noChangeArrowheads="1"/>
          </p:cNvSpPr>
          <p:nvPr/>
        </p:nvSpPr>
        <p:spPr bwMode="auto">
          <a:xfrm>
            <a:off x="539750" y="1125538"/>
            <a:ext cx="8604250"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9</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）冬雨季施工增加费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指在冬雨季施工时所采取的防冻、保温、防雨等安全措施及工效降低所增加的费用。</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冬雨季施工增加费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6-11</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13739" name="Rectangle 11"/>
          <p:cNvSpPr/>
          <p:nvPr/>
        </p:nvSpPr>
        <p:spPr>
          <a:xfrm>
            <a:off x="3073400" y="3860800"/>
            <a:ext cx="30464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6-11 </a:t>
            </a:r>
            <a:r>
              <a:rPr lang="zh-CN" altLang="en-US" sz="1600" b="0" dirty="0">
                <a:solidFill>
                  <a:schemeClr val="tx1"/>
                </a:solidFill>
                <a:latin typeface="Times New Roman" panose="02020603050405020304" pitchFamily="18" charset="0"/>
                <a:ea typeface="宋体" panose="02010600030101010101" pitchFamily="2" charset="-122"/>
              </a:rPr>
              <a:t>冬雨季施工增加费费率表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13740" name="Group 12"/>
          <p:cNvGraphicFramePr>
            <a:graphicFrameLocks noGrp="1"/>
          </p:cNvGraphicFramePr>
          <p:nvPr/>
        </p:nvGraphicFramePr>
        <p:xfrm>
          <a:off x="1331913" y="4221163"/>
          <a:ext cx="6588125" cy="1042988"/>
        </p:xfrm>
        <a:graphic>
          <a:graphicData uri="http://schemas.openxmlformats.org/drawingml/2006/table">
            <a:tbl>
              <a:tblPr/>
              <a:tblGrid>
                <a:gridCol w="4140200"/>
                <a:gridCol w="1152525"/>
                <a:gridCol w="1295400"/>
              </a:tblGrid>
              <a:tr h="36501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17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通信设备安装工程（室外天线、馈线部分）</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4279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vMerge="1">
                  <a:tcPr/>
                </a:tc>
              </a:tr>
            </a:tbl>
          </a:graphicData>
        </a:graphic>
      </p:graphicFrame>
      <p:sp>
        <p:nvSpPr>
          <p:cNvPr id="713756" name="Rectangle 28"/>
          <p:cNvSpPr/>
          <p:nvPr/>
        </p:nvSpPr>
        <p:spPr>
          <a:xfrm>
            <a:off x="1331913" y="5465763"/>
            <a:ext cx="4651375" cy="581025"/>
          </a:xfrm>
          <a:prstGeom prst="rect">
            <a:avLst/>
          </a:prstGeom>
          <a:noFill/>
          <a:ln w="9525">
            <a:noFill/>
          </a:ln>
        </p:spPr>
        <p:txBody>
          <a:bodyPr wrap="none" anchor="ctr" anchorCtr="0">
            <a:spAutoFit/>
          </a:bodyPr>
          <a:p>
            <a:pPr indent="200025">
              <a:spcBef>
                <a:spcPct val="30000"/>
              </a:spcBef>
            </a:pPr>
            <a:r>
              <a:rPr lang="zh-CN" altLang="en-US" sz="1400" b="0" dirty="0">
                <a:solidFill>
                  <a:schemeClr val="tx1"/>
                </a:solidFill>
                <a:latin typeface="Arial" panose="020B0604020202020204" pitchFamily="34" charset="0"/>
                <a:ea typeface="宋体" panose="02010600030101010101" pitchFamily="2" charset="-122"/>
              </a:rPr>
              <a:t>注：①此项费用不分施工所处季节均按相应费率计取。</a:t>
            </a:r>
            <a:endParaRPr lang="zh-CN" altLang="en-US" sz="1400" b="0" dirty="0">
              <a:solidFill>
                <a:schemeClr val="tx1"/>
              </a:solidFill>
              <a:latin typeface="Arial" panose="020B0604020202020204" pitchFamily="34" charset="0"/>
              <a:ea typeface="宋体" panose="02010600030101010101" pitchFamily="2" charset="-122"/>
            </a:endParaRPr>
          </a:p>
          <a:p>
            <a:pPr indent="200025">
              <a:spcBef>
                <a:spcPct val="30000"/>
              </a:spcBef>
            </a:pPr>
            <a:r>
              <a:rPr lang="zh-CN" altLang="en-US" sz="1400" b="0" dirty="0">
                <a:solidFill>
                  <a:schemeClr val="tx1"/>
                </a:solidFill>
                <a:latin typeface="Arial" panose="020B0604020202020204" pitchFamily="34" charset="0"/>
                <a:ea typeface="宋体" panose="02010600030101010101" pitchFamily="2" charset="-122"/>
              </a:rPr>
              <a:t>       ②综合布线工程不计取。</a:t>
            </a:r>
            <a:endParaRPr lang="zh-CN" altLang="en-US" sz="1400" b="0"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3738">
                                            <p:txEl>
                                              <p:charRg st="18" end="30"/>
                                            </p:txEl>
                                          </p:spTgt>
                                        </p:tgtEl>
                                        <p:attrNameLst>
                                          <p:attrName>style.visibility</p:attrName>
                                        </p:attrNameLst>
                                      </p:cBhvr>
                                      <p:to>
                                        <p:strVal val="visible"/>
                                      </p:to>
                                    </p:set>
                                    <p:animEffect transition="in" filter="slide(fromBottom)">
                                      <p:cBhvr>
                                        <p:cTn id="7" dur="500"/>
                                        <p:tgtEl>
                                          <p:spTgt spid="713738">
                                            <p:txEl>
                                              <p:charRg st="18" end="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3738">
                                            <p:txEl>
                                              <p:charRg st="30" end="89"/>
                                            </p:txEl>
                                          </p:spTgt>
                                        </p:tgtEl>
                                        <p:attrNameLst>
                                          <p:attrName>style.visibility</p:attrName>
                                        </p:attrNameLst>
                                      </p:cBhvr>
                                      <p:to>
                                        <p:strVal val="visible"/>
                                      </p:to>
                                    </p:set>
                                    <p:animEffect transition="in" filter="blinds(horizontal)">
                                      <p:cBhvr>
                                        <p:cTn id="12" dur="500"/>
                                        <p:tgtEl>
                                          <p:spTgt spid="713738">
                                            <p:txEl>
                                              <p:charRg st="30" end="8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713738">
                                            <p:txEl>
                                              <p:charRg st="30" end="89"/>
                                            </p:txEl>
                                          </p:spTgt>
                                        </p:tgtEl>
                                        <p:attrNameLst>
                                          <p:attrName>style.visibility</p:attrName>
                                        </p:attrNameLst>
                                      </p:cBhvr>
                                      <p:to>
                                        <p:strVal val="visible"/>
                                      </p:to>
                                    </p:set>
                                    <p:anim to="" calcmode="lin" valueType="num">
                                      <p:cBhvr>
                                        <p:cTn id="17" dur="1" fill="hold"/>
                                        <p:tgtEl>
                                          <p:spTgt spid="713738">
                                            <p:txEl>
                                              <p:charRg st="30" end="89"/>
                                            </p:txEl>
                                          </p:spTgt>
                                        </p:tgtEl>
                                        <p:attrNameLst>
                                          <p:attrName>style.visibility</p:attrName>
                                        </p:attrNameLst>
                                      </p:cBhvr>
                                    </p:anim>
                                  </p:childTnLst>
                                </p:cTn>
                              </p:par>
                              <p:par>
                                <p:cTn id="18" presetID="24" presetClass="entr" presetSubtype="0" fill="hold" nodeType="withEffect">
                                  <p:stCondLst>
                                    <p:cond delay="0"/>
                                  </p:stCondLst>
                                  <p:childTnLst>
                                    <p:set>
                                      <p:cBhvr>
                                        <p:cTn id="19" dur="1" fill="hold">
                                          <p:stCondLst>
                                            <p:cond delay="0"/>
                                          </p:stCondLst>
                                        </p:cTn>
                                        <p:tgtEl>
                                          <p:spTgt spid="713738">
                                            <p:txEl>
                                              <p:charRg st="89" end="125"/>
                                            </p:txEl>
                                          </p:spTgt>
                                        </p:tgtEl>
                                        <p:attrNameLst>
                                          <p:attrName>style.visibility</p:attrName>
                                        </p:attrNameLst>
                                      </p:cBhvr>
                                      <p:to>
                                        <p:strVal val="visible"/>
                                      </p:to>
                                    </p:set>
                                    <p:anim to="" calcmode="lin" valueType="num">
                                      <p:cBhvr>
                                        <p:cTn id="20" dur="1" fill="hold"/>
                                        <p:tgtEl>
                                          <p:spTgt spid="713738">
                                            <p:txEl>
                                              <p:charRg st="89" end="125"/>
                                            </p:txEl>
                                          </p:spTgt>
                                        </p:tgtEl>
                                        <p:attrNameLst>
                                          <p:attrName>style.visibility</p:attrName>
                                        </p:attrNameLst>
                                      </p:cBhvr>
                                    </p:anim>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grpId="0" nodeType="clickEffect">
                                  <p:stCondLst>
                                    <p:cond delay="0"/>
                                  </p:stCondLst>
                                  <p:childTnLst>
                                    <p:set>
                                      <p:cBhvr>
                                        <p:cTn id="24" dur="1" fill="hold">
                                          <p:stCondLst>
                                            <p:cond delay="0"/>
                                          </p:stCondLst>
                                        </p:cTn>
                                        <p:tgtEl>
                                          <p:spTgt spid="713739"/>
                                        </p:tgtEl>
                                        <p:attrNameLst>
                                          <p:attrName>style.visibility</p:attrName>
                                        </p:attrNameLst>
                                      </p:cBhvr>
                                      <p:to>
                                        <p:strVal val="visible"/>
                                      </p:to>
                                    </p:set>
                                    <p:animEffect transition="in" filter="wedge">
                                      <p:cBhvr>
                                        <p:cTn id="25" dur="2000"/>
                                        <p:tgtEl>
                                          <p:spTgt spid="713739"/>
                                        </p:tgtEl>
                                      </p:cBhvr>
                                    </p:animEffect>
                                  </p:childTnLst>
                                </p:cTn>
                              </p:par>
                              <p:par>
                                <p:cTn id="26" presetID="20" presetClass="entr" presetSubtype="0" fill="hold" nodeType="withEffect">
                                  <p:stCondLst>
                                    <p:cond delay="0"/>
                                  </p:stCondLst>
                                  <p:childTnLst>
                                    <p:set>
                                      <p:cBhvr>
                                        <p:cTn id="27" dur="1" fill="hold">
                                          <p:stCondLst>
                                            <p:cond delay="0"/>
                                          </p:stCondLst>
                                        </p:cTn>
                                        <p:tgtEl>
                                          <p:spTgt spid="713740"/>
                                        </p:tgtEl>
                                        <p:attrNameLst>
                                          <p:attrName>style.visibility</p:attrName>
                                        </p:attrNameLst>
                                      </p:cBhvr>
                                      <p:to>
                                        <p:strVal val="visible"/>
                                      </p:to>
                                    </p:set>
                                    <p:animEffect transition="in" filter="wedge">
                                      <p:cBhvr>
                                        <p:cTn id="28" dur="2000"/>
                                        <p:tgtEl>
                                          <p:spTgt spid="713740"/>
                                        </p:tgtEl>
                                      </p:cBhvr>
                                    </p:animEffect>
                                  </p:childTnLst>
                                </p:cTn>
                              </p:par>
                              <p:par>
                                <p:cTn id="29" presetID="20" presetClass="entr" presetSubtype="0" fill="hold" grpId="0" nodeType="withEffect">
                                  <p:stCondLst>
                                    <p:cond delay="0"/>
                                  </p:stCondLst>
                                  <p:childTnLst>
                                    <p:set>
                                      <p:cBhvr>
                                        <p:cTn id="30" dur="1" fill="hold">
                                          <p:stCondLst>
                                            <p:cond delay="0"/>
                                          </p:stCondLst>
                                        </p:cTn>
                                        <p:tgtEl>
                                          <p:spTgt spid="713756"/>
                                        </p:tgtEl>
                                        <p:attrNameLst>
                                          <p:attrName>style.visibility</p:attrName>
                                        </p:attrNameLst>
                                      </p:cBhvr>
                                      <p:to>
                                        <p:strVal val="visible"/>
                                      </p:to>
                                    </p:set>
                                    <p:animEffect transition="in" filter="wedge">
                                      <p:cBhvr>
                                        <p:cTn id="31" dur="2000"/>
                                        <p:tgtEl>
                                          <p:spTgt spid="713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739" grpId="0"/>
      <p:bldP spid="713756"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7282" name="Group 40"/>
          <p:cNvGrpSpPr/>
          <p:nvPr/>
        </p:nvGrpSpPr>
        <p:grpSpPr>
          <a:xfrm>
            <a:off x="7164388" y="-265112"/>
            <a:ext cx="1758950" cy="1606550"/>
            <a:chOff x="672" y="334"/>
            <a:chExt cx="1108" cy="1012"/>
          </a:xfrm>
        </p:grpSpPr>
        <p:pic>
          <p:nvPicPr>
            <p:cNvPr id="97283"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7284" name="Group 28"/>
            <p:cNvGrpSpPr/>
            <p:nvPr/>
          </p:nvGrpSpPr>
          <p:grpSpPr>
            <a:xfrm>
              <a:off x="864" y="1104"/>
              <a:ext cx="768" cy="242"/>
              <a:chOff x="-768" y="1440"/>
              <a:chExt cx="768" cy="242"/>
            </a:xfrm>
          </p:grpSpPr>
          <p:sp>
            <p:nvSpPr>
              <p:cNvPr id="9728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728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7287"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7288"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14762" name="Text Box 10"/>
          <p:cNvSpPr txBox="1">
            <a:spLocks noChangeArrowheads="1"/>
          </p:cNvSpPr>
          <p:nvPr/>
        </p:nvSpPr>
        <p:spPr bwMode="auto">
          <a:xfrm>
            <a:off x="539750" y="1125538"/>
            <a:ext cx="860425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10</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）生产工具用具使用费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指施工所需的不属于固定资产的工具用具等的购置、摊销、维修费。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生产工具用具使用费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6-12</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714763" name="Rectangle 11"/>
          <p:cNvSpPr/>
          <p:nvPr/>
        </p:nvSpPr>
        <p:spPr>
          <a:xfrm>
            <a:off x="2771775" y="4292600"/>
            <a:ext cx="33512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6-12   </a:t>
            </a:r>
            <a:r>
              <a:rPr lang="zh-CN" altLang="en-US" sz="1600" b="0" dirty="0">
                <a:solidFill>
                  <a:schemeClr val="tx1"/>
                </a:solidFill>
                <a:latin typeface="Times New Roman" panose="02020603050405020304" pitchFamily="18" charset="0"/>
                <a:ea typeface="宋体" panose="02010600030101010101" pitchFamily="2" charset="-122"/>
              </a:rPr>
              <a:t>生产工具用具使用费费率表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14764" name="Group 12"/>
          <p:cNvGraphicFramePr>
            <a:graphicFrameLocks noGrp="1"/>
          </p:cNvGraphicFramePr>
          <p:nvPr/>
        </p:nvGraphicFramePr>
        <p:xfrm>
          <a:off x="1422400" y="4708525"/>
          <a:ext cx="5508625" cy="1042988"/>
        </p:xfrm>
        <a:graphic>
          <a:graphicData uri="http://schemas.openxmlformats.org/drawingml/2006/table">
            <a:tbl>
              <a:tblPr/>
              <a:tblGrid>
                <a:gridCol w="3187700"/>
                <a:gridCol w="1096963"/>
                <a:gridCol w="1223962"/>
              </a:tblGrid>
              <a:tr h="36501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17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42796">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6" marB="4570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4762">
                                            <p:txEl>
                                              <p:charRg st="18" end="32"/>
                                            </p:txEl>
                                          </p:spTgt>
                                        </p:tgtEl>
                                        <p:attrNameLst>
                                          <p:attrName>style.visibility</p:attrName>
                                        </p:attrNameLst>
                                      </p:cBhvr>
                                      <p:to>
                                        <p:strVal val="visible"/>
                                      </p:to>
                                    </p:set>
                                    <p:animEffect transition="in" filter="slide(fromBottom)">
                                      <p:cBhvr>
                                        <p:cTn id="7" dur="500"/>
                                        <p:tgtEl>
                                          <p:spTgt spid="714762">
                                            <p:txEl>
                                              <p:charRg st="18"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4762">
                                            <p:txEl>
                                              <p:charRg st="32" end="74"/>
                                            </p:txEl>
                                          </p:spTgt>
                                        </p:tgtEl>
                                        <p:attrNameLst>
                                          <p:attrName>style.visibility</p:attrName>
                                        </p:attrNameLst>
                                      </p:cBhvr>
                                      <p:to>
                                        <p:strVal val="visible"/>
                                      </p:to>
                                    </p:set>
                                    <p:animEffect transition="in" filter="blinds(horizontal)">
                                      <p:cBhvr>
                                        <p:cTn id="12" dur="500"/>
                                        <p:tgtEl>
                                          <p:spTgt spid="714762">
                                            <p:txEl>
                                              <p:charRg st="32" end="7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714762">
                                            <p:txEl>
                                              <p:charRg st="74" end="99"/>
                                            </p:txEl>
                                          </p:spTgt>
                                        </p:tgtEl>
                                        <p:attrNameLst>
                                          <p:attrName>style.visibility</p:attrName>
                                        </p:attrNameLst>
                                      </p:cBhvr>
                                      <p:to>
                                        <p:strVal val="visible"/>
                                      </p:to>
                                    </p:set>
                                    <p:anim to="" calcmode="lin" valueType="num">
                                      <p:cBhvr>
                                        <p:cTn id="17" dur="1" fill="hold"/>
                                        <p:tgtEl>
                                          <p:spTgt spid="714762">
                                            <p:txEl>
                                              <p:charRg st="74" end="99"/>
                                            </p:txEl>
                                          </p:spTgt>
                                        </p:tgtEl>
                                        <p:attrNameLst>
                                          <p:attrName>style.visibility</p:attrName>
                                        </p:attrNameLst>
                                      </p:cBhvr>
                                    </p:anim>
                                  </p:childTnLst>
                                </p:cTn>
                              </p:par>
                              <p:par>
                                <p:cTn id="18" presetID="24" presetClass="entr" presetSubtype="0" fill="hold" nodeType="withEffect">
                                  <p:stCondLst>
                                    <p:cond delay="0"/>
                                  </p:stCondLst>
                                  <p:childTnLst>
                                    <p:set>
                                      <p:cBhvr>
                                        <p:cTn id="19" dur="1" fill="hold">
                                          <p:stCondLst>
                                            <p:cond delay="0"/>
                                          </p:stCondLst>
                                        </p:cTn>
                                        <p:tgtEl>
                                          <p:spTgt spid="714762">
                                            <p:txEl>
                                              <p:charRg st="99" end="136"/>
                                            </p:txEl>
                                          </p:spTgt>
                                        </p:tgtEl>
                                        <p:attrNameLst>
                                          <p:attrName>style.visibility</p:attrName>
                                        </p:attrNameLst>
                                      </p:cBhvr>
                                      <p:to>
                                        <p:strVal val="visible"/>
                                      </p:to>
                                    </p:set>
                                    <p:anim to="" calcmode="lin" valueType="num">
                                      <p:cBhvr>
                                        <p:cTn id="20" dur="1" fill="hold"/>
                                        <p:tgtEl>
                                          <p:spTgt spid="714762">
                                            <p:txEl>
                                              <p:charRg st="99" end="136"/>
                                            </p:txEl>
                                          </p:spTgt>
                                        </p:tgtEl>
                                        <p:attrNameLst>
                                          <p:attrName>style.visibility</p:attrName>
                                        </p:attrNameLst>
                                      </p:cBhvr>
                                    </p:anim>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grpId="0" nodeType="clickEffect">
                                  <p:stCondLst>
                                    <p:cond delay="0"/>
                                  </p:stCondLst>
                                  <p:childTnLst>
                                    <p:set>
                                      <p:cBhvr>
                                        <p:cTn id="24" dur="1" fill="hold">
                                          <p:stCondLst>
                                            <p:cond delay="0"/>
                                          </p:stCondLst>
                                        </p:cTn>
                                        <p:tgtEl>
                                          <p:spTgt spid="714763"/>
                                        </p:tgtEl>
                                        <p:attrNameLst>
                                          <p:attrName>style.visibility</p:attrName>
                                        </p:attrNameLst>
                                      </p:cBhvr>
                                      <p:to>
                                        <p:strVal val="visible"/>
                                      </p:to>
                                    </p:set>
                                    <p:animEffect transition="in" filter="wedge">
                                      <p:cBhvr>
                                        <p:cTn id="25" dur="2000"/>
                                        <p:tgtEl>
                                          <p:spTgt spid="714763"/>
                                        </p:tgtEl>
                                      </p:cBhvr>
                                    </p:animEffect>
                                  </p:childTnLst>
                                </p:cTn>
                              </p:par>
                              <p:par>
                                <p:cTn id="26" presetID="20" presetClass="entr" presetSubtype="0" fill="hold" nodeType="withEffect">
                                  <p:stCondLst>
                                    <p:cond delay="0"/>
                                  </p:stCondLst>
                                  <p:childTnLst>
                                    <p:set>
                                      <p:cBhvr>
                                        <p:cTn id="27" dur="1" fill="hold">
                                          <p:stCondLst>
                                            <p:cond delay="0"/>
                                          </p:stCondLst>
                                        </p:cTn>
                                        <p:tgtEl>
                                          <p:spTgt spid="714764"/>
                                        </p:tgtEl>
                                        <p:attrNameLst>
                                          <p:attrName>style.visibility</p:attrName>
                                        </p:attrNameLst>
                                      </p:cBhvr>
                                      <p:to>
                                        <p:strVal val="visible"/>
                                      </p:to>
                                    </p:set>
                                    <p:animEffect transition="in" filter="wedge">
                                      <p:cBhvr>
                                        <p:cTn id="28" dur="2000"/>
                                        <p:tgtEl>
                                          <p:spTgt spid="714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6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8306" name="Group 40"/>
          <p:cNvGrpSpPr/>
          <p:nvPr/>
        </p:nvGrpSpPr>
        <p:grpSpPr>
          <a:xfrm>
            <a:off x="7164388" y="-265112"/>
            <a:ext cx="1758950" cy="1606550"/>
            <a:chOff x="672" y="334"/>
            <a:chExt cx="1108" cy="1012"/>
          </a:xfrm>
        </p:grpSpPr>
        <p:pic>
          <p:nvPicPr>
            <p:cNvPr id="98307"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8308" name="Group 28"/>
            <p:cNvGrpSpPr/>
            <p:nvPr/>
          </p:nvGrpSpPr>
          <p:grpSpPr>
            <a:xfrm>
              <a:off x="864" y="1104"/>
              <a:ext cx="768" cy="242"/>
              <a:chOff x="-768" y="1440"/>
              <a:chExt cx="768" cy="242"/>
            </a:xfrm>
          </p:grpSpPr>
          <p:sp>
            <p:nvSpPr>
              <p:cNvPr id="98309"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8310"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8311"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8312"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15786" name="Text Box 10"/>
          <p:cNvSpPr txBox="1"/>
          <p:nvPr/>
        </p:nvSpPr>
        <p:spPr>
          <a:xfrm>
            <a:off x="539750" y="1125538"/>
            <a:ext cx="8604250" cy="2720975"/>
          </a:xfrm>
          <a:prstGeom prst="rect">
            <a:avLst/>
          </a:prstGeom>
          <a:noFill/>
          <a:ln w="9525">
            <a:noFill/>
          </a:ln>
        </p:spPr>
        <p:txBody>
          <a:bodyPr anchor="t" anchorCtr="0">
            <a:spAutoFit/>
          </a:bodyPr>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1.1 </a:t>
            </a:r>
            <a:r>
              <a:rPr lang="zh-CN" altLang="en-US" sz="2400" dirty="0">
                <a:solidFill>
                  <a:srgbClr val="336699"/>
                </a:solidFill>
                <a:latin typeface="Arial" panose="020B0604020202020204" pitchFamily="34" charset="0"/>
                <a:ea typeface="宋体" panose="02010600030101010101" pitchFamily="2" charset="-122"/>
              </a:rPr>
              <a:t>直接费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1.1.2 </a:t>
            </a:r>
            <a:r>
              <a:rPr lang="zh-CN" altLang="en-US" sz="2400" dirty="0">
                <a:solidFill>
                  <a:srgbClr val="336699"/>
                </a:solidFill>
                <a:latin typeface="Arial" panose="020B0604020202020204" pitchFamily="34" charset="0"/>
                <a:ea typeface="宋体" panose="02010600030101010101" pitchFamily="2" charset="-122"/>
              </a:rPr>
              <a:t>措施费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11</a:t>
            </a:r>
            <a:r>
              <a:rPr lang="zh-CN" altLang="en-US" sz="2400" dirty="0">
                <a:solidFill>
                  <a:srgbClr val="336699"/>
                </a:solidFill>
                <a:latin typeface="Arial" panose="020B0604020202020204" pitchFamily="34" charset="0"/>
                <a:ea typeface="宋体" panose="02010600030101010101" pitchFamily="2" charset="-122"/>
              </a:rPr>
              <a:t>）施工用水电蒸汽费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指施工生产过程中使用水、电、蒸气所发生的费用。通信线路、通信管道工程依照施工工艺要求按实计列施工用水电蒸汽费。</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5786">
                                            <p:txEl>
                                              <p:charRg st="18" end="31"/>
                                            </p:txEl>
                                          </p:spTgt>
                                        </p:tgtEl>
                                        <p:attrNameLst>
                                          <p:attrName>style.visibility</p:attrName>
                                        </p:attrNameLst>
                                      </p:cBhvr>
                                      <p:to>
                                        <p:strVal val="visible"/>
                                      </p:to>
                                    </p:set>
                                    <p:animEffect transition="in" filter="slide(fromBottom)">
                                      <p:cBhvr>
                                        <p:cTn id="7" dur="500"/>
                                        <p:tgtEl>
                                          <p:spTgt spid="715786">
                                            <p:txEl>
                                              <p:charRg st="18" end="3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15786">
                                            <p:txEl>
                                              <p:charRg st="31" end="101"/>
                                            </p:txEl>
                                          </p:spTgt>
                                        </p:tgtEl>
                                        <p:attrNameLst>
                                          <p:attrName>style.visibility</p:attrName>
                                        </p:attrNameLst>
                                      </p:cBhvr>
                                      <p:to>
                                        <p:strVal val="visible"/>
                                      </p:to>
                                    </p:set>
                                    <p:animEffect transition="in" filter="slide(fromBottom)">
                                      <p:cBhvr>
                                        <p:cTn id="12" dur="500"/>
                                        <p:tgtEl>
                                          <p:spTgt spid="715786">
                                            <p:txEl>
                                              <p:charRg st="31" end="1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99330" name="Group 40"/>
          <p:cNvGrpSpPr/>
          <p:nvPr/>
        </p:nvGrpSpPr>
        <p:grpSpPr>
          <a:xfrm>
            <a:off x="7164388" y="-265112"/>
            <a:ext cx="1758950" cy="1606550"/>
            <a:chOff x="672" y="334"/>
            <a:chExt cx="1108" cy="1012"/>
          </a:xfrm>
        </p:grpSpPr>
        <p:pic>
          <p:nvPicPr>
            <p:cNvPr id="99331"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99332" name="Group 28"/>
            <p:cNvGrpSpPr/>
            <p:nvPr/>
          </p:nvGrpSpPr>
          <p:grpSpPr>
            <a:xfrm>
              <a:off x="864" y="1104"/>
              <a:ext cx="768" cy="242"/>
              <a:chOff x="-768" y="1440"/>
              <a:chExt cx="768" cy="242"/>
            </a:xfrm>
          </p:grpSpPr>
          <p:sp>
            <p:nvSpPr>
              <p:cNvPr id="99333"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99334"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9335"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99336"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16810" name="Text Box 10"/>
          <p:cNvSpPr txBox="1"/>
          <p:nvPr/>
        </p:nvSpPr>
        <p:spPr>
          <a:xfrm>
            <a:off x="539750" y="1125538"/>
            <a:ext cx="8604250" cy="4035425"/>
          </a:xfrm>
          <a:prstGeom prst="rect">
            <a:avLst/>
          </a:prstGeom>
          <a:noFill/>
          <a:ln w="9525">
            <a:noFill/>
          </a:ln>
        </p:spPr>
        <p:txBody>
          <a:bodyPr anchor="t" anchorCtr="0">
            <a:spAutoFit/>
          </a:bodyPr>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1.1 </a:t>
            </a:r>
            <a:r>
              <a:rPr lang="zh-CN" altLang="en-US" sz="2400" dirty="0">
                <a:solidFill>
                  <a:srgbClr val="336699"/>
                </a:solidFill>
                <a:latin typeface="Arial" panose="020B0604020202020204" pitchFamily="34" charset="0"/>
                <a:ea typeface="宋体" panose="02010600030101010101" pitchFamily="2" charset="-122"/>
              </a:rPr>
              <a:t>直接费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1.1.2 </a:t>
            </a:r>
            <a:r>
              <a:rPr lang="zh-CN" altLang="en-US" sz="2400" dirty="0">
                <a:solidFill>
                  <a:srgbClr val="336699"/>
                </a:solidFill>
                <a:latin typeface="Arial" panose="020B0604020202020204" pitchFamily="34" charset="0"/>
                <a:ea typeface="宋体" panose="02010600030101010101" pitchFamily="2" charset="-122"/>
              </a:rPr>
              <a:t>措施费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12</a:t>
            </a:r>
            <a:r>
              <a:rPr lang="zh-CN" altLang="en-US" sz="2400" dirty="0">
                <a:solidFill>
                  <a:srgbClr val="336699"/>
                </a:solidFill>
                <a:latin typeface="Arial" panose="020B0604020202020204" pitchFamily="34" charset="0"/>
                <a:ea typeface="宋体" panose="02010600030101010101" pitchFamily="2" charset="-122"/>
              </a:rPr>
              <a:t>）特殊地区施工增加费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30000"/>
              </a:spcBef>
            </a:pPr>
            <a:r>
              <a:rPr lang="zh-CN" altLang="en-US" sz="2400" dirty="0">
                <a:solidFill>
                  <a:srgbClr val="336699"/>
                </a:solidFill>
                <a:latin typeface="Arial" panose="020B0604020202020204" pitchFamily="34" charset="0"/>
                <a:ea typeface="宋体" panose="02010600030101010101" pitchFamily="2" charset="-122"/>
              </a:rPr>
              <a:t>            指在原始森林地区、海拔</a:t>
            </a:r>
            <a:r>
              <a:rPr lang="en-US" altLang="zh-CN" sz="2400" dirty="0">
                <a:solidFill>
                  <a:srgbClr val="336699"/>
                </a:solidFill>
                <a:latin typeface="Arial" panose="020B0604020202020204" pitchFamily="34" charset="0"/>
                <a:ea typeface="宋体" panose="02010600030101010101" pitchFamily="2" charset="-122"/>
              </a:rPr>
              <a:t>2000</a:t>
            </a:r>
            <a:r>
              <a:rPr lang="zh-CN" altLang="en-US" sz="2400" dirty="0">
                <a:solidFill>
                  <a:srgbClr val="336699"/>
                </a:solidFill>
                <a:latin typeface="Arial" panose="020B0604020202020204" pitchFamily="34" charset="0"/>
                <a:ea typeface="宋体" panose="02010600030101010101" pitchFamily="2" charset="-122"/>
              </a:rPr>
              <a:t>米以上高原地区、化工区、核污染区、沙漠地区、山区无人值守站等特殊地区施工所需增加的费用。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3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华文细黑" panose="02010600040101010101" pitchFamily="2" charset="-122"/>
              </a:rPr>
              <a:t>其费用定额及计算规则如下：</a:t>
            </a:r>
            <a:endParaRPr lang="zh-CN" altLang="en-US" sz="2400" dirty="0">
              <a:solidFill>
                <a:schemeClr val="hlink"/>
              </a:solidFill>
              <a:latin typeface="Arial" panose="020B0604020202020204" pitchFamily="34" charset="0"/>
              <a:ea typeface="华文细黑" panose="02010600040101010101" pitchFamily="2" charset="-122"/>
            </a:endParaRPr>
          </a:p>
          <a:p>
            <a:pPr marL="457200" indent="-457200">
              <a:spcBef>
                <a:spcPct val="30000"/>
              </a:spcBef>
            </a:pPr>
            <a:r>
              <a:rPr lang="zh-CN" altLang="en-US" sz="2400" dirty="0">
                <a:solidFill>
                  <a:srgbClr val="336699"/>
                </a:solidFill>
                <a:latin typeface="Arial" panose="020B0604020202020204" pitchFamily="34" charset="0"/>
                <a:ea typeface="宋体" panose="02010600030101010101" pitchFamily="2" charset="-122"/>
              </a:rPr>
              <a:t>            各类通信工程按</a:t>
            </a:r>
            <a:r>
              <a:rPr lang="en-US" altLang="zh-CN" sz="2400" dirty="0">
                <a:solidFill>
                  <a:srgbClr val="336699"/>
                </a:solidFill>
                <a:latin typeface="Arial" panose="020B0604020202020204" pitchFamily="34" charset="0"/>
                <a:ea typeface="宋体" panose="02010600030101010101" pitchFamily="2" charset="-122"/>
              </a:rPr>
              <a:t>3.20</a:t>
            </a:r>
            <a:r>
              <a:rPr lang="zh-CN" altLang="en-US" sz="2400" dirty="0">
                <a:solidFill>
                  <a:srgbClr val="336699"/>
                </a:solidFill>
                <a:latin typeface="Arial" panose="020B0604020202020204" pitchFamily="34" charset="0"/>
                <a:ea typeface="宋体" panose="02010600030101010101" pitchFamily="2" charset="-122"/>
              </a:rPr>
              <a:t>元</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工日标准计取</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30000"/>
              </a:spcBef>
            </a:pPr>
            <a:r>
              <a:rPr lang="zh-CN" altLang="en-US" sz="2400" dirty="0">
                <a:solidFill>
                  <a:srgbClr val="336699"/>
                </a:solidFill>
                <a:latin typeface="Arial" panose="020B0604020202020204" pitchFamily="34" charset="0"/>
                <a:ea typeface="宋体" panose="02010600030101010101" pitchFamily="2" charset="-122"/>
              </a:rPr>
              <a:t>            特殊地区施工增加费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概（预）算总共日</a:t>
            </a:r>
            <a:r>
              <a:rPr lang="en-US" altLang="zh-CN" sz="2400" dirty="0">
                <a:solidFill>
                  <a:srgbClr val="336699"/>
                </a:solidFill>
                <a:latin typeface="Arial" panose="020B0604020202020204" pitchFamily="34" charset="0"/>
                <a:ea typeface="宋体" panose="02010600030101010101" pitchFamily="2" charset="-122"/>
              </a:rPr>
              <a:t>×3.20</a:t>
            </a:r>
            <a:r>
              <a:rPr lang="zh-CN" altLang="en-US" sz="2400" dirty="0">
                <a:solidFill>
                  <a:srgbClr val="336699"/>
                </a:solidFill>
                <a:latin typeface="Arial" panose="020B0604020202020204" pitchFamily="34" charset="0"/>
                <a:ea typeface="宋体" panose="02010600030101010101" pitchFamily="2" charset="-122"/>
              </a:rPr>
              <a:t>元</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工日</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6810">
                                            <p:txEl>
                                              <p:charRg st="18" end="32"/>
                                            </p:txEl>
                                          </p:spTgt>
                                        </p:tgtEl>
                                        <p:attrNameLst>
                                          <p:attrName>style.visibility</p:attrName>
                                        </p:attrNameLst>
                                      </p:cBhvr>
                                      <p:to>
                                        <p:strVal val="visible"/>
                                      </p:to>
                                    </p:set>
                                    <p:animEffect transition="in" filter="slide(fromBottom)">
                                      <p:cBhvr>
                                        <p:cTn id="7" dur="500"/>
                                        <p:tgtEl>
                                          <p:spTgt spid="716810">
                                            <p:txEl>
                                              <p:charRg st="18"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16810">
                                            <p:txEl>
                                              <p:charRg st="32" end="104"/>
                                            </p:txEl>
                                          </p:spTgt>
                                        </p:tgtEl>
                                        <p:attrNameLst>
                                          <p:attrName>style.visibility</p:attrName>
                                        </p:attrNameLst>
                                      </p:cBhvr>
                                      <p:to>
                                        <p:strVal val="visible"/>
                                      </p:to>
                                    </p:set>
                                    <p:animEffect transition="in" filter="diamond(in)">
                                      <p:cBhvr>
                                        <p:cTn id="12" dur="2000"/>
                                        <p:tgtEl>
                                          <p:spTgt spid="716810">
                                            <p:txEl>
                                              <p:charRg st="32" end="10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716810">
                                            <p:txEl>
                                              <p:charRg st="104" end="130"/>
                                            </p:txEl>
                                          </p:spTgt>
                                        </p:tgtEl>
                                        <p:attrNameLst>
                                          <p:attrName>style.visibility</p:attrName>
                                        </p:attrNameLst>
                                      </p:cBhvr>
                                      <p:to>
                                        <p:strVal val="visible"/>
                                      </p:to>
                                    </p:set>
                                    <p:anim to="" calcmode="lin" valueType="num">
                                      <p:cBhvr>
                                        <p:cTn id="17" dur="1" fill="hold"/>
                                        <p:tgtEl>
                                          <p:spTgt spid="716810">
                                            <p:txEl>
                                              <p:charRg st="104" end="130"/>
                                            </p:txEl>
                                          </p:spTgt>
                                        </p:tgtEl>
                                        <p:attrNameLst>
                                          <p:attrName>style.visibility</p:attrName>
                                        </p:attrNameLst>
                                      </p:cBhvr>
                                    </p:anim>
                                  </p:childTnLst>
                                </p:cTn>
                              </p:par>
                              <p:par>
                                <p:cTn id="18" presetID="24" presetClass="entr" presetSubtype="0" fill="hold" nodeType="withEffect">
                                  <p:stCondLst>
                                    <p:cond delay="0"/>
                                  </p:stCondLst>
                                  <p:childTnLst>
                                    <p:set>
                                      <p:cBhvr>
                                        <p:cTn id="19" dur="1" fill="hold">
                                          <p:stCondLst>
                                            <p:cond delay="0"/>
                                          </p:stCondLst>
                                        </p:cTn>
                                        <p:tgtEl>
                                          <p:spTgt spid="716810">
                                            <p:txEl>
                                              <p:charRg st="130" end="162"/>
                                            </p:txEl>
                                          </p:spTgt>
                                        </p:tgtEl>
                                        <p:attrNameLst>
                                          <p:attrName>style.visibility</p:attrName>
                                        </p:attrNameLst>
                                      </p:cBhvr>
                                      <p:to>
                                        <p:strVal val="visible"/>
                                      </p:to>
                                    </p:set>
                                    <p:anim to="" calcmode="lin" valueType="num">
                                      <p:cBhvr>
                                        <p:cTn id="20" dur="1" fill="hold"/>
                                        <p:tgtEl>
                                          <p:spTgt spid="716810">
                                            <p:txEl>
                                              <p:charRg st="130" end="162"/>
                                            </p:txEl>
                                          </p:spTgt>
                                        </p:tgtEl>
                                        <p:attrNameLst>
                                          <p:attrName>style.visibility</p:attrName>
                                        </p:attrNameLst>
                                      </p:cBhvr>
                                    </p:anim>
                                  </p:childTnLst>
                                </p:cTn>
                              </p:par>
                              <p:par>
                                <p:cTn id="21" presetID="24" presetClass="entr" presetSubtype="0" fill="hold" nodeType="withEffect">
                                  <p:stCondLst>
                                    <p:cond delay="0"/>
                                  </p:stCondLst>
                                  <p:childTnLst>
                                    <p:set>
                                      <p:cBhvr>
                                        <p:cTn id="22" dur="1" fill="hold">
                                          <p:stCondLst>
                                            <p:cond delay="0"/>
                                          </p:stCondLst>
                                        </p:cTn>
                                        <p:tgtEl>
                                          <p:spTgt spid="716810">
                                            <p:txEl>
                                              <p:charRg st="162" end="202"/>
                                            </p:txEl>
                                          </p:spTgt>
                                        </p:tgtEl>
                                        <p:attrNameLst>
                                          <p:attrName>style.visibility</p:attrName>
                                        </p:attrNameLst>
                                      </p:cBhvr>
                                      <p:to>
                                        <p:strVal val="visible"/>
                                      </p:to>
                                    </p:set>
                                    <p:anim to="" calcmode="lin" valueType="num">
                                      <p:cBhvr>
                                        <p:cTn id="23" dur="1" fill="hold"/>
                                        <p:tgtEl>
                                          <p:spTgt spid="716810">
                                            <p:txEl>
                                              <p:charRg st="162" end="202"/>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00354" name="Group 40"/>
          <p:cNvGrpSpPr/>
          <p:nvPr/>
        </p:nvGrpSpPr>
        <p:grpSpPr>
          <a:xfrm>
            <a:off x="7164388" y="-265112"/>
            <a:ext cx="1758950" cy="1606550"/>
            <a:chOff x="672" y="334"/>
            <a:chExt cx="1108" cy="1012"/>
          </a:xfrm>
        </p:grpSpPr>
        <p:pic>
          <p:nvPicPr>
            <p:cNvPr id="100355"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00356" name="Group 28"/>
            <p:cNvGrpSpPr/>
            <p:nvPr/>
          </p:nvGrpSpPr>
          <p:grpSpPr>
            <a:xfrm>
              <a:off x="864" y="1104"/>
              <a:ext cx="768" cy="242"/>
              <a:chOff x="-768" y="1440"/>
              <a:chExt cx="768" cy="242"/>
            </a:xfrm>
          </p:grpSpPr>
          <p:sp>
            <p:nvSpPr>
              <p:cNvPr id="100357"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00358"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0359"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0360"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17834" name="Text Box 10"/>
          <p:cNvSpPr txBox="1"/>
          <p:nvPr/>
        </p:nvSpPr>
        <p:spPr>
          <a:xfrm>
            <a:off x="539750" y="1125538"/>
            <a:ext cx="8604250" cy="4510087"/>
          </a:xfrm>
          <a:prstGeom prst="rect">
            <a:avLst/>
          </a:prstGeom>
          <a:noFill/>
          <a:ln w="9525">
            <a:noFill/>
          </a:ln>
        </p:spPr>
        <p:txBody>
          <a:bodyPr anchor="t" anchorCtr="0">
            <a:spAutoFit/>
          </a:bodyPr>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1.1 </a:t>
            </a:r>
            <a:r>
              <a:rPr lang="zh-CN" altLang="en-US" sz="2400" dirty="0">
                <a:solidFill>
                  <a:srgbClr val="336699"/>
                </a:solidFill>
                <a:latin typeface="Arial" panose="020B0604020202020204" pitchFamily="34" charset="0"/>
                <a:ea typeface="宋体" panose="02010600030101010101" pitchFamily="2" charset="-122"/>
              </a:rPr>
              <a:t>直接费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1.1.2 </a:t>
            </a:r>
            <a:r>
              <a:rPr lang="zh-CN" altLang="en-US" sz="2400" dirty="0">
                <a:solidFill>
                  <a:srgbClr val="336699"/>
                </a:solidFill>
                <a:latin typeface="Arial" panose="020B0604020202020204" pitchFamily="34" charset="0"/>
                <a:ea typeface="宋体" panose="02010600030101010101" pitchFamily="2" charset="-122"/>
              </a:rPr>
              <a:t>措施费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13</a:t>
            </a:r>
            <a:r>
              <a:rPr lang="zh-CN" altLang="en-US" sz="2400" dirty="0">
                <a:solidFill>
                  <a:srgbClr val="336699"/>
                </a:solidFill>
                <a:latin typeface="Arial" panose="020B0604020202020204" pitchFamily="34" charset="0"/>
                <a:ea typeface="宋体" panose="02010600030101010101" pitchFamily="2" charset="-122"/>
              </a:rPr>
              <a:t>）已完工程及设备保护费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10000"/>
              </a:spcBef>
            </a:pPr>
            <a:r>
              <a:rPr lang="zh-CN" altLang="en-US"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指竣工验收前，对已完工程及设备进行保护所需的费用。承包人依据工程发包的内容范围报价，经业主确认计取已完工程及设备保护费。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14</a:t>
            </a:r>
            <a:r>
              <a:rPr lang="zh-CN" altLang="en-US"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运土费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10000"/>
              </a:spcBef>
            </a:pPr>
            <a:r>
              <a:rPr lang="zh-CN" altLang="en-US"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指直埋光（电）缆、管道工程施工，需从远离施工地点取土及必须向外倒运出土方所发生的费用。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10000"/>
              </a:spcBef>
            </a:pPr>
            <a:r>
              <a:rPr lang="zh-CN" altLang="en-US" sz="2400" dirty="0">
                <a:solidFill>
                  <a:srgbClr val="336699"/>
                </a:solidFill>
                <a:latin typeface="Arial" panose="020B0604020202020204" pitchFamily="34" charset="0"/>
                <a:ea typeface="宋体" panose="02010600030101010101" pitchFamily="2" charset="-122"/>
              </a:rPr>
              <a:t>        通信线路（城区部分）、通信管道工程根据市政管理要求，按实计取运土费，计算依据参照地方标准。</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7834">
                                            <p:txEl>
                                              <p:charRg st="18" end="33"/>
                                            </p:txEl>
                                          </p:spTgt>
                                        </p:tgtEl>
                                        <p:attrNameLst>
                                          <p:attrName>style.visibility</p:attrName>
                                        </p:attrNameLst>
                                      </p:cBhvr>
                                      <p:to>
                                        <p:strVal val="visible"/>
                                      </p:to>
                                    </p:set>
                                    <p:animEffect transition="in" filter="slide(fromBottom)">
                                      <p:cBhvr>
                                        <p:cTn id="7" dur="500"/>
                                        <p:tgtEl>
                                          <p:spTgt spid="717834">
                                            <p:txEl>
                                              <p:charRg st="18" end="3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17834">
                                            <p:txEl>
                                              <p:charRg st="33" end="109"/>
                                            </p:txEl>
                                          </p:spTgt>
                                        </p:tgtEl>
                                        <p:attrNameLst>
                                          <p:attrName>style.visibility</p:attrName>
                                        </p:attrNameLst>
                                      </p:cBhvr>
                                      <p:to>
                                        <p:strVal val="visible"/>
                                      </p:to>
                                    </p:set>
                                    <p:animEffect transition="in" filter="slide(fromBottom)">
                                      <p:cBhvr>
                                        <p:cTn id="12" dur="500"/>
                                        <p:tgtEl>
                                          <p:spTgt spid="717834">
                                            <p:txEl>
                                              <p:charRg st="33" end="10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17834">
                                            <p:txEl>
                                              <p:charRg st="109" end="117"/>
                                            </p:txEl>
                                          </p:spTgt>
                                        </p:tgtEl>
                                        <p:attrNameLst>
                                          <p:attrName>style.visibility</p:attrName>
                                        </p:attrNameLst>
                                      </p:cBhvr>
                                      <p:to>
                                        <p:strVal val="visible"/>
                                      </p:to>
                                    </p:set>
                                    <p:animEffect transition="in" filter="slide(fromBottom)">
                                      <p:cBhvr>
                                        <p:cTn id="17" dur="500"/>
                                        <p:tgtEl>
                                          <p:spTgt spid="717834">
                                            <p:txEl>
                                              <p:charRg st="109" end="11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17834">
                                            <p:txEl>
                                              <p:charRg st="117" end="170"/>
                                            </p:txEl>
                                          </p:spTgt>
                                        </p:tgtEl>
                                        <p:attrNameLst>
                                          <p:attrName>style.visibility</p:attrName>
                                        </p:attrNameLst>
                                      </p:cBhvr>
                                      <p:to>
                                        <p:strVal val="visible"/>
                                      </p:to>
                                    </p:set>
                                    <p:animEffect transition="in" filter="slide(fromBottom)">
                                      <p:cBhvr>
                                        <p:cTn id="22" dur="500"/>
                                        <p:tgtEl>
                                          <p:spTgt spid="717834">
                                            <p:txEl>
                                              <p:charRg st="117" end="17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717834">
                                            <p:txEl>
                                              <p:charRg st="170" end="224"/>
                                            </p:txEl>
                                          </p:spTgt>
                                        </p:tgtEl>
                                        <p:attrNameLst>
                                          <p:attrName>style.visibility</p:attrName>
                                        </p:attrNameLst>
                                      </p:cBhvr>
                                      <p:to>
                                        <p:strVal val="visible"/>
                                      </p:to>
                                    </p:set>
                                    <p:animEffect transition="in" filter="slide(fromBottom)">
                                      <p:cBhvr>
                                        <p:cTn id="27" dur="500"/>
                                        <p:tgtEl>
                                          <p:spTgt spid="717834">
                                            <p:txEl>
                                              <p:charRg st="170" end="2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01378" name="Group 40"/>
          <p:cNvGrpSpPr/>
          <p:nvPr/>
        </p:nvGrpSpPr>
        <p:grpSpPr>
          <a:xfrm>
            <a:off x="7164388" y="-265112"/>
            <a:ext cx="1758950" cy="1606550"/>
            <a:chOff x="672" y="334"/>
            <a:chExt cx="1108" cy="1012"/>
          </a:xfrm>
        </p:grpSpPr>
        <p:pic>
          <p:nvPicPr>
            <p:cNvPr id="101379"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01380" name="Group 28"/>
            <p:cNvGrpSpPr/>
            <p:nvPr/>
          </p:nvGrpSpPr>
          <p:grpSpPr>
            <a:xfrm>
              <a:off x="864" y="1104"/>
              <a:ext cx="768" cy="242"/>
              <a:chOff x="-768" y="1440"/>
              <a:chExt cx="768" cy="242"/>
            </a:xfrm>
          </p:grpSpPr>
          <p:sp>
            <p:nvSpPr>
              <p:cNvPr id="101381"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01382"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1383"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1384"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18858" name="Text Box 10"/>
          <p:cNvSpPr txBox="1"/>
          <p:nvPr/>
        </p:nvSpPr>
        <p:spPr>
          <a:xfrm>
            <a:off x="539750" y="1125538"/>
            <a:ext cx="8604250" cy="4229100"/>
          </a:xfrm>
          <a:prstGeom prst="rect">
            <a:avLst/>
          </a:prstGeom>
          <a:noFill/>
          <a:ln w="9525">
            <a:noFill/>
          </a:ln>
        </p:spPr>
        <p:txBody>
          <a:bodyPr anchor="t" anchorCtr="0">
            <a:spAutoFit/>
          </a:bodyPr>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1.1 </a:t>
            </a:r>
            <a:r>
              <a:rPr lang="zh-CN" altLang="en-US" sz="2400" dirty="0">
                <a:solidFill>
                  <a:srgbClr val="336699"/>
                </a:solidFill>
                <a:latin typeface="Arial" panose="020B0604020202020204" pitchFamily="34" charset="0"/>
                <a:ea typeface="宋体" panose="02010600030101010101" pitchFamily="2" charset="-122"/>
              </a:rPr>
              <a:t>直接费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1.1.2 </a:t>
            </a:r>
            <a:r>
              <a:rPr lang="zh-CN" altLang="en-US" sz="2400" dirty="0">
                <a:solidFill>
                  <a:srgbClr val="336699"/>
                </a:solidFill>
                <a:latin typeface="Arial" panose="020B0604020202020204" pitchFamily="34" charset="0"/>
                <a:ea typeface="宋体" panose="02010600030101010101" pitchFamily="2" charset="-122"/>
              </a:rPr>
              <a:t>措施费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15</a:t>
            </a:r>
            <a:r>
              <a:rPr lang="zh-CN" altLang="en-US" sz="2400" dirty="0">
                <a:solidFill>
                  <a:srgbClr val="336699"/>
                </a:solidFill>
                <a:latin typeface="Arial" panose="020B0604020202020204" pitchFamily="34" charset="0"/>
                <a:ea typeface="宋体" panose="02010600030101010101" pitchFamily="2" charset="-122"/>
              </a:rPr>
              <a:t>）施工队伍调遣费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05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指因建设工程的需要，应支付施工队伍的调遣费用。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05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内容包括：调遣人员的差旅费、调遣期间的工资、施工工具与用具等的运费。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05000"/>
              </a:lnSpc>
              <a:spcBef>
                <a:spcPct val="20000"/>
              </a:spcBef>
            </a:pPr>
            <a:r>
              <a:rPr lang="zh-CN" altLang="en-US" dirty="0">
                <a:solidFill>
                  <a:srgbClr val="336699"/>
                </a:solidFill>
                <a:latin typeface="Arial" panose="020B0604020202020204" pitchFamily="34" charset="0"/>
                <a:ea typeface="宋体" panose="02010600030101010101" pitchFamily="2" charset="-122"/>
              </a:rPr>
              <a:t>         </a:t>
            </a:r>
            <a:endParaRPr lang="zh-CN" altLang="en-US" dirty="0">
              <a:solidFill>
                <a:srgbClr val="336699"/>
              </a:solidFill>
              <a:latin typeface="Arial" panose="020B0604020202020204" pitchFamily="34" charset="0"/>
              <a:ea typeface="宋体" panose="02010600030101010101" pitchFamily="2" charset="-122"/>
            </a:endParaRPr>
          </a:p>
          <a:p>
            <a:pPr marL="457200" indent="-457200">
              <a:lnSpc>
                <a:spcPct val="105000"/>
              </a:lnSpc>
              <a:spcBef>
                <a:spcPct val="20000"/>
              </a:spcBef>
            </a:pPr>
            <a:r>
              <a:rPr lang="zh-CN" altLang="en-US" dirty="0">
                <a:solidFill>
                  <a:srgbClr val="336699"/>
                </a:solidFill>
                <a:latin typeface="Arial" panose="020B0604020202020204" pitchFamily="34" charset="0"/>
                <a:ea typeface="宋体" panose="02010600030101010101" pitchFamily="2" charset="-122"/>
              </a:rPr>
              <a:t>       </a:t>
            </a:r>
            <a:r>
              <a:rPr lang="zh-CN" altLang="en-US" dirty="0">
                <a:solidFill>
                  <a:schemeClr val="hlink"/>
                </a:solidFill>
                <a:latin typeface="华文细黑" panose="02010600040101010101" pitchFamily="2" charset="-122"/>
                <a:ea typeface="华文细黑" panose="02010600040101010101" pitchFamily="2" charset="-122"/>
              </a:rPr>
              <a:t>编制概预算时</a:t>
            </a:r>
            <a:endParaRPr lang="zh-CN" altLang="en-US" dirty="0">
              <a:solidFill>
                <a:schemeClr val="hlink"/>
              </a:solidFill>
              <a:latin typeface="华文细黑" panose="02010600040101010101" pitchFamily="2" charset="-122"/>
              <a:ea typeface="华文细黑" panose="02010600040101010101" pitchFamily="2" charset="-122"/>
            </a:endParaRPr>
          </a:p>
          <a:p>
            <a:pPr marL="457200" indent="-457200">
              <a:lnSpc>
                <a:spcPct val="105000"/>
              </a:lnSpc>
              <a:spcBef>
                <a:spcPct val="20000"/>
              </a:spcBef>
            </a:pPr>
            <a:r>
              <a:rPr lang="zh-CN" altLang="en-US" dirty="0">
                <a:solidFill>
                  <a:schemeClr val="hlink"/>
                </a:solidFill>
                <a:latin typeface="Arial" panose="020B0604020202020204" pitchFamily="34" charset="0"/>
                <a:ea typeface="宋体" panose="02010600030101010101" pitchFamily="2" charset="-122"/>
              </a:rPr>
              <a:t>       </a:t>
            </a:r>
            <a:r>
              <a:rPr lang="zh-CN" altLang="en-US" dirty="0">
                <a:solidFill>
                  <a:schemeClr val="hlink"/>
                </a:solidFill>
                <a:latin typeface="华文细黑" panose="02010600040101010101" pitchFamily="2" charset="-122"/>
                <a:ea typeface="华文细黑" panose="02010600040101010101" pitchFamily="2" charset="-122"/>
              </a:rPr>
              <a:t>按技工总工日确定调遣人数，具体规定见表</a:t>
            </a:r>
            <a:r>
              <a:rPr lang="en-US" altLang="zh-CN" dirty="0">
                <a:solidFill>
                  <a:schemeClr val="hlink"/>
                </a:solidFill>
                <a:latin typeface="华文细黑" panose="02010600040101010101" pitchFamily="2" charset="-122"/>
                <a:ea typeface="华文细黑" panose="02010600040101010101" pitchFamily="2" charset="-122"/>
              </a:rPr>
              <a:t>6-13</a:t>
            </a:r>
            <a:r>
              <a:rPr lang="zh-CN" altLang="en-US" dirty="0">
                <a:solidFill>
                  <a:schemeClr val="hlink"/>
                </a:solidFill>
                <a:latin typeface="华文细黑" panose="02010600040101010101" pitchFamily="2" charset="-122"/>
                <a:ea typeface="华文细黑" panose="02010600040101010101" pitchFamily="2" charset="-122"/>
              </a:rPr>
              <a:t>；</a:t>
            </a:r>
            <a:endParaRPr lang="zh-CN" altLang="en-US" dirty="0">
              <a:solidFill>
                <a:schemeClr val="hlink"/>
              </a:solidFill>
              <a:latin typeface="华文细黑" panose="02010600040101010101" pitchFamily="2" charset="-122"/>
              <a:ea typeface="华文细黑" panose="02010600040101010101" pitchFamily="2" charset="-122"/>
            </a:endParaRPr>
          </a:p>
          <a:p>
            <a:pPr marL="457200" indent="-457200">
              <a:lnSpc>
                <a:spcPct val="105000"/>
              </a:lnSpc>
              <a:spcBef>
                <a:spcPct val="20000"/>
              </a:spcBef>
            </a:pPr>
            <a:r>
              <a:rPr lang="zh-CN" altLang="en-US" dirty="0">
                <a:solidFill>
                  <a:schemeClr val="hlink"/>
                </a:solidFill>
                <a:latin typeface="华文细黑" panose="02010600040101010101" pitchFamily="2" charset="-122"/>
                <a:ea typeface="华文细黑" panose="02010600040101010101" pitchFamily="2" charset="-122"/>
              </a:rPr>
              <a:t>        按调遣里程确定单程调遣费定额，具体规定见表</a:t>
            </a:r>
            <a:r>
              <a:rPr lang="en-US" altLang="zh-CN" dirty="0">
                <a:solidFill>
                  <a:schemeClr val="hlink"/>
                </a:solidFill>
                <a:latin typeface="华文细黑" panose="02010600040101010101" pitchFamily="2" charset="-122"/>
                <a:ea typeface="华文细黑" panose="02010600040101010101" pitchFamily="2" charset="-122"/>
              </a:rPr>
              <a:t>6-14</a:t>
            </a:r>
            <a:r>
              <a:rPr lang="zh-CN" altLang="en-US" dirty="0">
                <a:solidFill>
                  <a:schemeClr val="hlink"/>
                </a:solidFill>
                <a:latin typeface="华文细黑" panose="02010600040101010101" pitchFamily="2" charset="-122"/>
                <a:ea typeface="华文细黑" panose="02010600040101010101" pitchFamily="2" charset="-122"/>
              </a:rPr>
              <a:t>。</a:t>
            </a:r>
            <a:endParaRPr lang="zh-CN" altLang="en-US" dirty="0">
              <a:solidFill>
                <a:schemeClr val="hlink"/>
              </a:solidFill>
              <a:latin typeface="华文细黑" panose="02010600040101010101" pitchFamily="2" charset="-122"/>
              <a:ea typeface="华文细黑"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18858">
                                            <p:txEl>
                                              <p:charRg st="18" end="30"/>
                                            </p:txEl>
                                          </p:spTgt>
                                        </p:tgtEl>
                                        <p:attrNameLst>
                                          <p:attrName>style.visibility</p:attrName>
                                        </p:attrNameLst>
                                      </p:cBhvr>
                                      <p:to>
                                        <p:strVal val="visible"/>
                                      </p:to>
                                    </p:set>
                                    <p:animEffect transition="in" filter="slide(fromBottom)">
                                      <p:cBhvr>
                                        <p:cTn id="7" dur="500"/>
                                        <p:tgtEl>
                                          <p:spTgt spid="718858">
                                            <p:txEl>
                                              <p:charRg st="18" end="3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18858">
                                            <p:txEl>
                                              <p:charRg st="30" end="62"/>
                                            </p:txEl>
                                          </p:spTgt>
                                        </p:tgtEl>
                                        <p:attrNameLst>
                                          <p:attrName>style.visibility</p:attrName>
                                        </p:attrNameLst>
                                      </p:cBhvr>
                                      <p:to>
                                        <p:strVal val="visible"/>
                                      </p:to>
                                    </p:set>
                                    <p:animEffect transition="in" filter="slide(fromBottom)">
                                      <p:cBhvr>
                                        <p:cTn id="12" dur="500"/>
                                        <p:tgtEl>
                                          <p:spTgt spid="718858">
                                            <p:txEl>
                                              <p:charRg st="30" end="6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18858">
                                            <p:txEl>
                                              <p:charRg st="62" end="105"/>
                                            </p:txEl>
                                          </p:spTgt>
                                        </p:tgtEl>
                                        <p:attrNameLst>
                                          <p:attrName>style.visibility</p:attrName>
                                        </p:attrNameLst>
                                      </p:cBhvr>
                                      <p:to>
                                        <p:strVal val="visible"/>
                                      </p:to>
                                    </p:set>
                                    <p:animEffect transition="in" filter="slide(fromBottom)">
                                      <p:cBhvr>
                                        <p:cTn id="17" dur="500"/>
                                        <p:tgtEl>
                                          <p:spTgt spid="718858">
                                            <p:txEl>
                                              <p:charRg st="62" end="10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18858">
                                            <p:txEl>
                                              <p:charRg st="105" end="115"/>
                                            </p:txEl>
                                          </p:spTgt>
                                        </p:tgtEl>
                                        <p:attrNameLst>
                                          <p:attrName>style.visibility</p:attrName>
                                        </p:attrNameLst>
                                      </p:cBhvr>
                                      <p:to>
                                        <p:strVal val="visible"/>
                                      </p:to>
                                    </p:set>
                                    <p:animEffect transition="in" filter="slide(fromBottom)">
                                      <p:cBhvr>
                                        <p:cTn id="22" dur="500"/>
                                        <p:tgtEl>
                                          <p:spTgt spid="718858">
                                            <p:txEl>
                                              <p:charRg st="105" end="11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718858">
                                            <p:txEl>
                                              <p:charRg st="115" end="129"/>
                                            </p:txEl>
                                          </p:spTgt>
                                        </p:tgtEl>
                                        <p:attrNameLst>
                                          <p:attrName>style.visibility</p:attrName>
                                        </p:attrNameLst>
                                      </p:cBhvr>
                                      <p:to>
                                        <p:strVal val="visible"/>
                                      </p:to>
                                    </p:set>
                                    <p:animEffect transition="in" filter="slide(fromBottom)">
                                      <p:cBhvr>
                                        <p:cTn id="27" dur="500"/>
                                        <p:tgtEl>
                                          <p:spTgt spid="718858">
                                            <p:txEl>
                                              <p:charRg st="115" end="12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718858">
                                            <p:txEl>
                                              <p:charRg st="129" end="161"/>
                                            </p:txEl>
                                          </p:spTgt>
                                        </p:tgtEl>
                                        <p:attrNameLst>
                                          <p:attrName>style.visibility</p:attrName>
                                        </p:attrNameLst>
                                      </p:cBhvr>
                                      <p:to>
                                        <p:strVal val="visible"/>
                                      </p:to>
                                    </p:set>
                                    <p:animEffect transition="in" filter="slide(fromBottom)">
                                      <p:cBhvr>
                                        <p:cTn id="32" dur="500"/>
                                        <p:tgtEl>
                                          <p:spTgt spid="718858">
                                            <p:txEl>
                                              <p:charRg st="129" end="16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718858">
                                            <p:txEl>
                                              <p:charRg st="161" end="196"/>
                                            </p:txEl>
                                          </p:spTgt>
                                        </p:tgtEl>
                                        <p:attrNameLst>
                                          <p:attrName>style.visibility</p:attrName>
                                        </p:attrNameLst>
                                      </p:cBhvr>
                                      <p:to>
                                        <p:strVal val="visible"/>
                                      </p:to>
                                    </p:set>
                                    <p:animEffect transition="in" filter="slide(fromBottom)">
                                      <p:cBhvr>
                                        <p:cTn id="37" dur="500"/>
                                        <p:tgtEl>
                                          <p:spTgt spid="718858">
                                            <p:txEl>
                                              <p:charRg st="161" end="1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2"/>
          <p:cNvSpPr/>
          <p:nvPr/>
        </p:nvSpPr>
        <p:spPr>
          <a:xfrm>
            <a:off x="2713038" y="549275"/>
            <a:ext cx="3046412"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6-13 </a:t>
            </a:r>
            <a:r>
              <a:rPr lang="zh-CN" altLang="en-US" sz="1600" b="0" dirty="0">
                <a:solidFill>
                  <a:schemeClr val="tx1"/>
                </a:solidFill>
                <a:latin typeface="Times New Roman" panose="02020603050405020304" pitchFamily="18" charset="0"/>
                <a:ea typeface="宋体" panose="02010600030101010101" pitchFamily="2" charset="-122"/>
              </a:rPr>
              <a:t>施工队伍调遣人数定额表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19875" name="Group 3"/>
          <p:cNvGraphicFramePr>
            <a:graphicFrameLocks noGrp="1"/>
          </p:cNvGraphicFramePr>
          <p:nvPr/>
        </p:nvGraphicFramePr>
        <p:xfrm>
          <a:off x="539750" y="981075"/>
          <a:ext cx="8208963" cy="5241925"/>
        </p:xfrm>
        <a:graphic>
          <a:graphicData uri="http://schemas.openxmlformats.org/drawingml/2006/table">
            <a:tbl>
              <a:tblPr/>
              <a:tblGrid>
                <a:gridCol w="2355850"/>
                <a:gridCol w="1749425"/>
                <a:gridCol w="2236788"/>
                <a:gridCol w="1866900"/>
              </a:tblGrid>
              <a:tr h="365125">
                <a:tc gridSpan="4">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c hMerge="1">
                  <a:tcPr/>
                </a:tc>
                <a:tc hMerge="1">
                  <a:tcPr/>
                </a:tc>
              </a:tr>
              <a:tr h="2794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概（预）算技工总工日</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调遣人数（人）</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概（预）算技工总工日</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调遣人数（人）</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17</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工日以上，每增加</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工日增加调遣人数</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24</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vMerge="1">
                  <a:tcPr/>
                </a:tc>
              </a:tr>
              <a:tr h="228600">
                <a:tc gridSpan="4">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通信线路、通信管道工程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c hMerge="1">
                  <a:tcPr/>
                </a:tc>
                <a:tc hMerge="1">
                  <a:tcPr/>
                </a:tc>
              </a:tr>
              <a:tr h="2540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概（预）算技工总工日</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调遣人数（人）</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概（预）算技工总工日</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调遣人数（人）</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9000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17</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80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24</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95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25000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120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2286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3">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工日以上，每增加</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工日增加调遣人数</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3">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vMerge="1">
                  <a:tcPr/>
                </a:tc>
              </a:tr>
              <a:tr h="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8000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工日以下</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vMerge="1">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2"/>
          <p:cNvSpPr/>
          <p:nvPr/>
        </p:nvSpPr>
        <p:spPr>
          <a:xfrm>
            <a:off x="3073400" y="765175"/>
            <a:ext cx="32496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6-14 </a:t>
            </a:r>
            <a:r>
              <a:rPr lang="zh-CN" altLang="en-US" sz="1600" b="0" dirty="0">
                <a:solidFill>
                  <a:schemeClr val="tx1"/>
                </a:solidFill>
                <a:latin typeface="Times New Roman" panose="02020603050405020304" pitchFamily="18" charset="0"/>
                <a:ea typeface="宋体" panose="02010600030101010101" pitchFamily="2" charset="-122"/>
              </a:rPr>
              <a:t>施工队伍单程调遣费定额表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20899" name="Group 3"/>
          <p:cNvGraphicFramePr>
            <a:graphicFrameLocks noGrp="1"/>
          </p:cNvGraphicFramePr>
          <p:nvPr/>
        </p:nvGraphicFramePr>
        <p:xfrm>
          <a:off x="1042988" y="1268413"/>
          <a:ext cx="6911975" cy="4017963"/>
        </p:xfrm>
        <a:graphic>
          <a:graphicData uri="http://schemas.openxmlformats.org/drawingml/2006/table">
            <a:tbl>
              <a:tblPr/>
              <a:tblGrid>
                <a:gridCol w="1944687"/>
                <a:gridCol w="1489075"/>
                <a:gridCol w="1982788"/>
                <a:gridCol w="1495425"/>
              </a:tblGrid>
              <a:tr h="360363">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调遣里程（</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km</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调遣费（元）</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调遣里程（</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km</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调遣费（元）</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35</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L≤200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106</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2400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L≤2600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724</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L≤400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151</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2600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L≤2800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757</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L≤600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227</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2800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L≤3000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784</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L≤800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275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L≤3200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868</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800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L≤1000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376</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3200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L≤3400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903</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L≤1200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416</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3400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L≤3600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928</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1200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L≤1400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455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3600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L≤3800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964</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1400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L≤1600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496</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3800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L≤4000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1042</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1600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L≤1800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534</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L≤4200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1071</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1800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L≤2000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568</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4200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L≤4400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1095</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L≤2200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601</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4400km</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时，每增加</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200km</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增加</a:t>
                      </a:r>
                      <a:endPar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73</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0480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2200</a:t>
                      </a:r>
                      <a:r>
                        <a:rPr kumimoji="0" lang="zh-CN" altLang="en-US"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L≤2400</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688</a:t>
                      </a:r>
                      <a:endParaRPr kumimoji="0" lang="en-US" altLang="zh-CN" sz="14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vMerge="1">
                  <a:tcPr/>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04450" name="Group 40"/>
          <p:cNvGrpSpPr/>
          <p:nvPr/>
        </p:nvGrpSpPr>
        <p:grpSpPr>
          <a:xfrm>
            <a:off x="7164388" y="-265112"/>
            <a:ext cx="1758950" cy="1606550"/>
            <a:chOff x="672" y="334"/>
            <a:chExt cx="1108" cy="1012"/>
          </a:xfrm>
        </p:grpSpPr>
        <p:pic>
          <p:nvPicPr>
            <p:cNvPr id="104451"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04452" name="Group 28"/>
            <p:cNvGrpSpPr/>
            <p:nvPr/>
          </p:nvGrpSpPr>
          <p:grpSpPr>
            <a:xfrm>
              <a:off x="864" y="1104"/>
              <a:ext cx="768" cy="242"/>
              <a:chOff x="-768" y="1440"/>
              <a:chExt cx="768" cy="242"/>
            </a:xfrm>
          </p:grpSpPr>
          <p:sp>
            <p:nvSpPr>
              <p:cNvPr id="104453"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04454"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4455"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4456"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21930" name="Text Box 10"/>
          <p:cNvSpPr txBox="1">
            <a:spLocks noChangeArrowheads="1"/>
          </p:cNvSpPr>
          <p:nvPr/>
        </p:nvSpPr>
        <p:spPr bwMode="auto">
          <a:xfrm>
            <a:off x="539750" y="1125538"/>
            <a:ext cx="860425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直接费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1.1.2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措施费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0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16</a:t>
            </a:r>
            <a:r>
              <a:rPr kumimoji="0" lang="zh-CN" altLang="en-US" sz="20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大型施工机械调遣费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1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指大型施工机械调遣所发生的运输费用。在编制概预算时，应按工程实际需要的机械计算大型机械总吨位，大型施工机械调遣吨位见表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6-15.</a:t>
            </a:r>
            <a:endPar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1000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endParaRPr>
          </a:p>
          <a:p>
            <a:pPr marL="457200" marR="0" lvl="0" indent="-457200" algn="l" defTabSz="914400" rtl="0" eaLnBrk="1" fontAlgn="base" latinLnBrk="0" hangingPunct="1">
              <a:lnSpc>
                <a:spcPct val="120000"/>
              </a:lnSpc>
              <a:spcBef>
                <a:spcPct val="1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大型施工机械调遣费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=2×[</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单程运价</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调遣运距</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总吨位</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endPar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1000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大型施工机械调遣费单程运价为：</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0.62</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元</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单程公里</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21930">
                                            <p:txEl>
                                              <p:charRg st="18" end="34"/>
                                            </p:txEl>
                                          </p:spTgt>
                                        </p:tgtEl>
                                        <p:attrNameLst>
                                          <p:attrName>style.visibility</p:attrName>
                                        </p:attrNameLst>
                                      </p:cBhvr>
                                      <p:to>
                                        <p:strVal val="visible"/>
                                      </p:to>
                                    </p:set>
                                    <p:animEffect transition="in" filter="slide(fromBottom)">
                                      <p:cBhvr>
                                        <p:cTn id="7" dur="500"/>
                                        <p:tgtEl>
                                          <p:spTgt spid="721930">
                                            <p:txEl>
                                              <p:charRg st="18" end="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21930">
                                            <p:txEl>
                                              <p:charRg st="34" end="111"/>
                                            </p:txEl>
                                          </p:spTgt>
                                        </p:tgtEl>
                                        <p:attrNameLst>
                                          <p:attrName>style.visibility</p:attrName>
                                        </p:attrNameLst>
                                      </p:cBhvr>
                                      <p:to>
                                        <p:strVal val="visible"/>
                                      </p:to>
                                    </p:set>
                                    <p:animEffect transition="in" filter="diamond(in)">
                                      <p:cBhvr>
                                        <p:cTn id="12" dur="2000"/>
                                        <p:tgtEl>
                                          <p:spTgt spid="721930">
                                            <p:txEl>
                                              <p:charRg st="34" end="1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21930">
                                            <p:txEl>
                                              <p:charRg st="111" end="138"/>
                                            </p:txEl>
                                          </p:spTgt>
                                        </p:tgtEl>
                                        <p:attrNameLst>
                                          <p:attrName>style.visibility</p:attrName>
                                        </p:attrNameLst>
                                      </p:cBhvr>
                                      <p:to>
                                        <p:strVal val="visible"/>
                                      </p:to>
                                    </p:set>
                                    <p:animEffect transition="in" filter="wedge">
                                      <p:cBhvr>
                                        <p:cTn id="17" dur="2000"/>
                                        <p:tgtEl>
                                          <p:spTgt spid="721930">
                                            <p:txEl>
                                              <p:charRg st="111" end="138"/>
                                            </p:txEl>
                                          </p:spTgt>
                                        </p:tgtEl>
                                      </p:cBhvr>
                                    </p:animEffect>
                                  </p:childTnLst>
                                </p:cTn>
                              </p:par>
                              <p:par>
                                <p:cTn id="18" presetID="20" presetClass="entr" presetSubtype="0" fill="hold" nodeType="withEffect">
                                  <p:stCondLst>
                                    <p:cond delay="0"/>
                                  </p:stCondLst>
                                  <p:childTnLst>
                                    <p:set>
                                      <p:cBhvr>
                                        <p:cTn id="19" dur="1" fill="hold">
                                          <p:stCondLst>
                                            <p:cond delay="0"/>
                                          </p:stCondLst>
                                        </p:cTn>
                                        <p:tgtEl>
                                          <p:spTgt spid="721930">
                                            <p:txEl>
                                              <p:charRg st="138" end="174"/>
                                            </p:txEl>
                                          </p:spTgt>
                                        </p:tgtEl>
                                        <p:attrNameLst>
                                          <p:attrName>style.visibility</p:attrName>
                                        </p:attrNameLst>
                                      </p:cBhvr>
                                      <p:to>
                                        <p:strVal val="visible"/>
                                      </p:to>
                                    </p:set>
                                    <p:animEffect transition="in" filter="wedge">
                                      <p:cBhvr>
                                        <p:cTn id="20" dur="2000"/>
                                        <p:tgtEl>
                                          <p:spTgt spid="721930">
                                            <p:txEl>
                                              <p:charRg st="138" end="174"/>
                                            </p:txEl>
                                          </p:spTgt>
                                        </p:tgtEl>
                                      </p:cBhvr>
                                    </p:animEffect>
                                  </p:childTnLst>
                                </p:cTn>
                              </p:par>
                              <p:par>
                                <p:cTn id="21" presetID="20" presetClass="entr" presetSubtype="0" fill="hold" nodeType="withEffect">
                                  <p:stCondLst>
                                    <p:cond delay="0"/>
                                  </p:stCondLst>
                                  <p:childTnLst>
                                    <p:set>
                                      <p:cBhvr>
                                        <p:cTn id="22" dur="1" fill="hold">
                                          <p:stCondLst>
                                            <p:cond delay="0"/>
                                          </p:stCondLst>
                                        </p:cTn>
                                        <p:tgtEl>
                                          <p:spTgt spid="721930">
                                            <p:txEl>
                                              <p:charRg st="174" end="210"/>
                                            </p:txEl>
                                          </p:spTgt>
                                        </p:tgtEl>
                                        <p:attrNameLst>
                                          <p:attrName>style.visibility</p:attrName>
                                        </p:attrNameLst>
                                      </p:cBhvr>
                                      <p:to>
                                        <p:strVal val="visible"/>
                                      </p:to>
                                    </p:set>
                                    <p:animEffect transition="in" filter="wedge">
                                      <p:cBhvr>
                                        <p:cTn id="23" dur="2000"/>
                                        <p:tgtEl>
                                          <p:spTgt spid="721930">
                                            <p:txEl>
                                              <p:charRg st="174" end="2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2"/>
          <p:cNvSpPr/>
          <p:nvPr/>
        </p:nvSpPr>
        <p:spPr>
          <a:xfrm>
            <a:off x="2786063" y="1557338"/>
            <a:ext cx="3046412"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6-15 </a:t>
            </a:r>
            <a:r>
              <a:rPr lang="zh-CN" altLang="en-US" sz="1600" b="0" dirty="0">
                <a:solidFill>
                  <a:schemeClr val="tx1"/>
                </a:solidFill>
                <a:latin typeface="Times New Roman" panose="02020603050405020304" pitchFamily="18" charset="0"/>
                <a:ea typeface="宋体" panose="02010600030101010101" pitchFamily="2" charset="-122"/>
              </a:rPr>
              <a:t>大型施工机械调遣吨位表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22947" name="Group 3"/>
          <p:cNvGraphicFramePr>
            <a:graphicFrameLocks noGrp="1"/>
          </p:cNvGraphicFramePr>
          <p:nvPr/>
        </p:nvGraphicFramePr>
        <p:xfrm>
          <a:off x="971550" y="2062163"/>
          <a:ext cx="6913563" cy="1706563"/>
        </p:xfrm>
        <a:graphic>
          <a:graphicData uri="http://schemas.openxmlformats.org/drawingml/2006/table">
            <a:tbl>
              <a:tblPr/>
              <a:tblGrid>
                <a:gridCol w="2089150"/>
                <a:gridCol w="792163"/>
                <a:gridCol w="2663825"/>
                <a:gridCol w="1368425"/>
              </a:tblGrid>
              <a:tr h="365193">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机械名称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吨位</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机械名称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吨位</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4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光缆接续车</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水下光（电）缆沟挖冲机</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4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光（电）缆拖车</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液压顶管机</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4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微管微缆气吹设备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微控钻孔敷管设备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25</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吨以下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4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气流敷设吹缆设备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8</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微控钻孔敷管设备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25</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吨以上</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06498" name="Group 40"/>
          <p:cNvGrpSpPr/>
          <p:nvPr/>
        </p:nvGrpSpPr>
        <p:grpSpPr>
          <a:xfrm>
            <a:off x="7164388" y="-265112"/>
            <a:ext cx="1758950" cy="1606550"/>
            <a:chOff x="672" y="334"/>
            <a:chExt cx="1108" cy="1012"/>
          </a:xfrm>
        </p:grpSpPr>
        <p:pic>
          <p:nvPicPr>
            <p:cNvPr id="106499"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06500" name="Group 28"/>
            <p:cNvGrpSpPr/>
            <p:nvPr/>
          </p:nvGrpSpPr>
          <p:grpSpPr>
            <a:xfrm>
              <a:off x="864" y="1104"/>
              <a:ext cx="768" cy="242"/>
              <a:chOff x="-768" y="1440"/>
              <a:chExt cx="768" cy="242"/>
            </a:xfrm>
          </p:grpSpPr>
          <p:sp>
            <p:nvSpPr>
              <p:cNvPr id="106501"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06502"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6503"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6504"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23978" name="Text Box 10"/>
          <p:cNvSpPr txBox="1"/>
          <p:nvPr/>
        </p:nvSpPr>
        <p:spPr>
          <a:xfrm>
            <a:off x="539750" y="1125538"/>
            <a:ext cx="8604250" cy="1881187"/>
          </a:xfrm>
          <a:prstGeom prst="rect">
            <a:avLst/>
          </a:prstGeom>
          <a:noFill/>
          <a:ln w="9525">
            <a:noFill/>
          </a:ln>
        </p:spPr>
        <p:txBody>
          <a:bodyPr anchor="t" anchorCtr="0">
            <a:spAutoFit/>
          </a:bodyPr>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1.2 </a:t>
            </a:r>
            <a:r>
              <a:rPr lang="zh-CN" altLang="en-US" sz="2400" dirty="0">
                <a:solidFill>
                  <a:srgbClr val="336699"/>
                </a:solidFill>
                <a:latin typeface="Arial" panose="020B0604020202020204" pitchFamily="34" charset="0"/>
                <a:ea typeface="宋体" panose="02010600030101010101" pitchFamily="2" charset="-122"/>
              </a:rPr>
              <a:t>间接费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1.2.1 </a:t>
            </a:r>
            <a:r>
              <a:rPr lang="zh-CN" altLang="en-US" sz="2400" dirty="0">
                <a:solidFill>
                  <a:srgbClr val="336699"/>
                </a:solidFill>
                <a:latin typeface="Arial" panose="020B0604020202020204" pitchFamily="34" charset="0"/>
                <a:ea typeface="宋体" panose="02010600030101010101" pitchFamily="2" charset="-122"/>
              </a:rPr>
              <a:t>规费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包括工程排污费、社会保障费、住房公积金和危险作业意外伤害保险费。</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723979" name="Rectangle 11"/>
          <p:cNvSpPr/>
          <p:nvPr/>
        </p:nvSpPr>
        <p:spPr>
          <a:xfrm>
            <a:off x="3649663" y="3213100"/>
            <a:ext cx="1827212"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6-16 </a:t>
            </a:r>
            <a:r>
              <a:rPr lang="zh-CN" altLang="en-US" sz="1600" b="0" dirty="0">
                <a:solidFill>
                  <a:schemeClr val="tx1"/>
                </a:solidFill>
                <a:latin typeface="Times New Roman" panose="02020603050405020304" pitchFamily="18" charset="0"/>
                <a:ea typeface="宋体" panose="02010600030101010101" pitchFamily="2" charset="-122"/>
              </a:rPr>
              <a:t>规费费率表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23980" name="Group 12"/>
          <p:cNvGraphicFramePr>
            <a:graphicFrameLocks noGrp="1"/>
          </p:cNvGraphicFramePr>
          <p:nvPr/>
        </p:nvGraphicFramePr>
        <p:xfrm>
          <a:off x="755650" y="3644900"/>
          <a:ext cx="7272338" cy="1371600"/>
        </p:xfrm>
        <a:graphic>
          <a:graphicData uri="http://schemas.openxmlformats.org/drawingml/2006/table">
            <a:tbl>
              <a:tblPr/>
              <a:tblGrid>
                <a:gridCol w="2627313"/>
                <a:gridCol w="2160587"/>
                <a:gridCol w="1079500"/>
                <a:gridCol w="1404938"/>
              </a:tblGrid>
              <a:tr h="36529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费用名称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3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社会保障费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3">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各类通信工程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3">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26.81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3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住房公积金</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4.19</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3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危险作业意外伤害保险费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23978">
                                            <p:txEl>
                                              <p:charRg st="17" end="63"/>
                                            </p:txEl>
                                          </p:spTgt>
                                        </p:tgtEl>
                                        <p:attrNameLst>
                                          <p:attrName>style.visibility</p:attrName>
                                        </p:attrNameLst>
                                      </p:cBhvr>
                                      <p:to>
                                        <p:strVal val="visible"/>
                                      </p:to>
                                    </p:set>
                                    <p:animEffect transition="in" filter="slide(fromBottom)">
                                      <p:cBhvr>
                                        <p:cTn id="7" dur="500"/>
                                        <p:tgtEl>
                                          <p:spTgt spid="723978">
                                            <p:txEl>
                                              <p:charRg st="17" end="6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723979"/>
                                        </p:tgtEl>
                                        <p:attrNameLst>
                                          <p:attrName>style.visibility</p:attrName>
                                        </p:attrNameLst>
                                      </p:cBhvr>
                                      <p:to>
                                        <p:strVal val="visible"/>
                                      </p:to>
                                    </p:set>
                                    <p:animEffect transition="in" filter="wedge">
                                      <p:cBhvr>
                                        <p:cTn id="12" dur="2000"/>
                                        <p:tgtEl>
                                          <p:spTgt spid="723979"/>
                                        </p:tgtEl>
                                      </p:cBhvr>
                                    </p:animEffect>
                                  </p:childTnLst>
                                </p:cTn>
                              </p:par>
                              <p:par>
                                <p:cTn id="13" presetID="20" presetClass="entr" presetSubtype="0" fill="hold" nodeType="withEffect">
                                  <p:stCondLst>
                                    <p:cond delay="0"/>
                                  </p:stCondLst>
                                  <p:childTnLst>
                                    <p:set>
                                      <p:cBhvr>
                                        <p:cTn id="14" dur="1" fill="hold">
                                          <p:stCondLst>
                                            <p:cond delay="0"/>
                                          </p:stCondLst>
                                        </p:cTn>
                                        <p:tgtEl>
                                          <p:spTgt spid="723980"/>
                                        </p:tgtEl>
                                        <p:attrNameLst>
                                          <p:attrName>style.visibility</p:attrName>
                                        </p:attrNameLst>
                                      </p:cBhvr>
                                      <p:to>
                                        <p:strVal val="visible"/>
                                      </p:to>
                                    </p:set>
                                    <p:animEffect transition="in" filter="wedge">
                                      <p:cBhvr>
                                        <p:cTn id="15" dur="2000"/>
                                        <p:tgtEl>
                                          <p:spTgt spid="723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979"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07522" name="Group 40"/>
          <p:cNvGrpSpPr/>
          <p:nvPr/>
        </p:nvGrpSpPr>
        <p:grpSpPr>
          <a:xfrm>
            <a:off x="7164388" y="-265112"/>
            <a:ext cx="1758950" cy="1606550"/>
            <a:chOff x="672" y="334"/>
            <a:chExt cx="1108" cy="1012"/>
          </a:xfrm>
        </p:grpSpPr>
        <p:pic>
          <p:nvPicPr>
            <p:cNvPr id="107523"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07524" name="Group 28"/>
            <p:cNvGrpSpPr/>
            <p:nvPr/>
          </p:nvGrpSpPr>
          <p:grpSpPr>
            <a:xfrm>
              <a:off x="864" y="1104"/>
              <a:ext cx="768" cy="242"/>
              <a:chOff x="-768" y="1440"/>
              <a:chExt cx="768" cy="242"/>
            </a:xfrm>
          </p:grpSpPr>
          <p:sp>
            <p:nvSpPr>
              <p:cNvPr id="10752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0752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7527"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7528"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25002" name="Text Box 10"/>
          <p:cNvSpPr txBox="1"/>
          <p:nvPr/>
        </p:nvSpPr>
        <p:spPr>
          <a:xfrm>
            <a:off x="539750" y="1125538"/>
            <a:ext cx="8604250" cy="2392362"/>
          </a:xfrm>
          <a:prstGeom prst="rect">
            <a:avLst/>
          </a:prstGeom>
          <a:noFill/>
          <a:ln w="9525">
            <a:noFill/>
          </a:ln>
        </p:spPr>
        <p:txBody>
          <a:bodyPr anchor="t" anchorCtr="0">
            <a:spAutoFit/>
          </a:bodyPr>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1.2 </a:t>
            </a:r>
            <a:r>
              <a:rPr lang="zh-CN" altLang="en-US" sz="2400" dirty="0">
                <a:solidFill>
                  <a:srgbClr val="336699"/>
                </a:solidFill>
                <a:latin typeface="Arial" panose="020B0604020202020204" pitchFamily="34" charset="0"/>
                <a:ea typeface="宋体" panose="02010600030101010101" pitchFamily="2" charset="-122"/>
              </a:rPr>
              <a:t>间接费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1.2.2 </a:t>
            </a:r>
            <a:r>
              <a:rPr lang="zh-CN" altLang="en-US" sz="2400" dirty="0">
                <a:solidFill>
                  <a:srgbClr val="336699"/>
                </a:solidFill>
                <a:latin typeface="Arial" panose="020B0604020202020204" pitchFamily="34" charset="0"/>
                <a:ea typeface="宋体" panose="02010600030101010101" pitchFamily="2" charset="-122"/>
              </a:rPr>
              <a:t>企业管理费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spcBef>
                <a:spcPct val="10000"/>
              </a:spcBef>
            </a:pPr>
            <a:r>
              <a:rPr lang="zh-CN" altLang="en-US" sz="2400" dirty="0">
                <a:solidFill>
                  <a:srgbClr val="336699"/>
                </a:solidFill>
                <a:latin typeface="Arial" panose="020B0604020202020204" pitchFamily="34" charset="0"/>
                <a:ea typeface="宋体" panose="02010600030101010101" pitchFamily="2" charset="-122"/>
              </a:rPr>
              <a:t>        指施工企业组织施工生产和经营管理所需费用。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spcBef>
                <a:spcPct val="1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华文细黑" panose="02010600040101010101" pitchFamily="2" charset="-122"/>
              </a:rPr>
              <a:t>其费用定额及计算规则如下：</a:t>
            </a:r>
            <a:endParaRPr lang="zh-CN" altLang="en-US" sz="2400" dirty="0">
              <a:solidFill>
                <a:schemeClr val="hlink"/>
              </a:solidFill>
              <a:latin typeface="Arial" panose="020B0604020202020204" pitchFamily="34" charset="0"/>
              <a:ea typeface="华文细黑" panose="02010600040101010101" pitchFamily="2" charset="-122"/>
            </a:endParaRPr>
          </a:p>
          <a:p>
            <a:pPr marL="457200" indent="-457200">
              <a:lnSpc>
                <a:spcPct val="120000"/>
              </a:lnSpc>
              <a:spcBef>
                <a:spcPct val="10000"/>
              </a:spcBef>
            </a:pPr>
            <a:r>
              <a:rPr lang="zh-CN" altLang="en-US" sz="2400" dirty="0">
                <a:solidFill>
                  <a:srgbClr val="336699"/>
                </a:solidFill>
                <a:latin typeface="Arial" panose="020B0604020202020204" pitchFamily="34" charset="0"/>
                <a:ea typeface="宋体" panose="02010600030101010101" pitchFamily="2" charset="-122"/>
              </a:rPr>
              <a:t>        企业管理费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人工费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相关费率（费率见表</a:t>
            </a:r>
            <a:r>
              <a:rPr lang="en-US" altLang="zh-CN" sz="2400" dirty="0">
                <a:solidFill>
                  <a:srgbClr val="336699"/>
                </a:solidFill>
                <a:latin typeface="Arial" panose="020B0604020202020204" pitchFamily="34" charset="0"/>
                <a:ea typeface="宋体" panose="02010600030101010101" pitchFamily="2" charset="-122"/>
              </a:rPr>
              <a:t>6-17</a:t>
            </a:r>
            <a:r>
              <a:rPr lang="zh-CN" altLang="en-US" sz="2400" dirty="0">
                <a:solidFill>
                  <a:srgbClr val="336699"/>
                </a:solidFill>
                <a:latin typeface="Arial" panose="020B0604020202020204" pitchFamily="34" charset="0"/>
                <a:ea typeface="宋体" panose="02010600030101010101" pitchFamily="2" charset="-122"/>
              </a:rPr>
              <a:t>）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725003" name="Rectangle 11"/>
          <p:cNvSpPr/>
          <p:nvPr/>
        </p:nvSpPr>
        <p:spPr>
          <a:xfrm>
            <a:off x="2843213" y="3644900"/>
            <a:ext cx="2436812"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6-17 </a:t>
            </a:r>
            <a:r>
              <a:rPr lang="zh-CN" altLang="en-US" sz="1600" b="0" dirty="0">
                <a:solidFill>
                  <a:schemeClr val="tx1"/>
                </a:solidFill>
                <a:latin typeface="Times New Roman" panose="02020603050405020304" pitchFamily="18" charset="0"/>
                <a:ea typeface="宋体" panose="02010600030101010101" pitchFamily="2" charset="-122"/>
              </a:rPr>
              <a:t>企业管理费费率表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25004" name="Group 12"/>
          <p:cNvGraphicFramePr>
            <a:graphicFrameLocks noGrp="1"/>
          </p:cNvGraphicFramePr>
          <p:nvPr/>
        </p:nvGraphicFramePr>
        <p:xfrm>
          <a:off x="1317625" y="4078288"/>
          <a:ext cx="6065838" cy="1028700"/>
        </p:xfrm>
        <a:graphic>
          <a:graphicData uri="http://schemas.openxmlformats.org/drawingml/2006/table">
            <a:tbl>
              <a:tblPr/>
              <a:tblGrid>
                <a:gridCol w="3257550"/>
                <a:gridCol w="1511300"/>
                <a:gridCol w="1296988"/>
              </a:tblGrid>
              <a:tr h="35855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073">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073">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2" marB="4569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25002">
                                            <p:txEl>
                                              <p:charRg st="20" end="50"/>
                                            </p:txEl>
                                          </p:spTgt>
                                        </p:tgtEl>
                                        <p:attrNameLst>
                                          <p:attrName>style.visibility</p:attrName>
                                        </p:attrNameLst>
                                      </p:cBhvr>
                                      <p:to>
                                        <p:strVal val="visible"/>
                                      </p:to>
                                    </p:set>
                                    <p:animEffect transition="in" filter="slide(fromBottom)">
                                      <p:cBhvr>
                                        <p:cTn id="7" dur="500"/>
                                        <p:tgtEl>
                                          <p:spTgt spid="725002">
                                            <p:txEl>
                                              <p:charRg st="20" end="5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25002">
                                            <p:txEl>
                                              <p:charRg st="50" end="72"/>
                                            </p:txEl>
                                          </p:spTgt>
                                        </p:tgtEl>
                                        <p:attrNameLst>
                                          <p:attrName>style.visibility</p:attrName>
                                        </p:attrNameLst>
                                      </p:cBhvr>
                                      <p:to>
                                        <p:strVal val="visible"/>
                                      </p:to>
                                    </p:set>
                                    <p:animEffect transition="in" filter="diamond(in)">
                                      <p:cBhvr>
                                        <p:cTn id="12" dur="2000"/>
                                        <p:tgtEl>
                                          <p:spTgt spid="725002">
                                            <p:txEl>
                                              <p:charRg st="50" end="72"/>
                                            </p:txEl>
                                          </p:spTgt>
                                        </p:tgtEl>
                                      </p:cBhvr>
                                    </p:animEffect>
                                  </p:childTnLst>
                                </p:cTn>
                              </p:par>
                              <p:par>
                                <p:cTn id="13" presetID="8" presetClass="entr" presetSubtype="16" fill="hold" nodeType="withEffect">
                                  <p:stCondLst>
                                    <p:cond delay="0"/>
                                  </p:stCondLst>
                                  <p:childTnLst>
                                    <p:set>
                                      <p:cBhvr>
                                        <p:cTn id="14" dur="1" fill="hold">
                                          <p:stCondLst>
                                            <p:cond delay="0"/>
                                          </p:stCondLst>
                                        </p:cTn>
                                        <p:tgtEl>
                                          <p:spTgt spid="725002">
                                            <p:txEl>
                                              <p:charRg st="72" end="107"/>
                                            </p:txEl>
                                          </p:spTgt>
                                        </p:tgtEl>
                                        <p:attrNameLst>
                                          <p:attrName>style.visibility</p:attrName>
                                        </p:attrNameLst>
                                      </p:cBhvr>
                                      <p:to>
                                        <p:strVal val="visible"/>
                                      </p:to>
                                    </p:set>
                                    <p:animEffect transition="in" filter="diamond(in)">
                                      <p:cBhvr>
                                        <p:cTn id="15" dur="2000"/>
                                        <p:tgtEl>
                                          <p:spTgt spid="725002">
                                            <p:txEl>
                                              <p:charRg st="72" end="107"/>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0" presetClass="entr" presetSubtype="0" fill="hold" grpId="0" nodeType="clickEffect">
                                  <p:stCondLst>
                                    <p:cond delay="0"/>
                                  </p:stCondLst>
                                  <p:childTnLst>
                                    <p:set>
                                      <p:cBhvr>
                                        <p:cTn id="19" dur="1" fill="hold">
                                          <p:stCondLst>
                                            <p:cond delay="0"/>
                                          </p:stCondLst>
                                        </p:cTn>
                                        <p:tgtEl>
                                          <p:spTgt spid="725003"/>
                                        </p:tgtEl>
                                        <p:attrNameLst>
                                          <p:attrName>style.visibility</p:attrName>
                                        </p:attrNameLst>
                                      </p:cBhvr>
                                      <p:to>
                                        <p:strVal val="visible"/>
                                      </p:to>
                                    </p:set>
                                    <p:animEffect transition="in" filter="wedge">
                                      <p:cBhvr>
                                        <p:cTn id="20" dur="2000"/>
                                        <p:tgtEl>
                                          <p:spTgt spid="725003"/>
                                        </p:tgtEl>
                                      </p:cBhvr>
                                    </p:animEffect>
                                  </p:childTnLst>
                                </p:cTn>
                              </p:par>
                              <p:par>
                                <p:cTn id="21" presetID="20" presetClass="entr" presetSubtype="0" fill="hold" nodeType="withEffect">
                                  <p:stCondLst>
                                    <p:cond delay="0"/>
                                  </p:stCondLst>
                                  <p:childTnLst>
                                    <p:set>
                                      <p:cBhvr>
                                        <p:cTn id="22" dur="1" fill="hold">
                                          <p:stCondLst>
                                            <p:cond delay="0"/>
                                          </p:stCondLst>
                                        </p:cTn>
                                        <p:tgtEl>
                                          <p:spTgt spid="725004"/>
                                        </p:tgtEl>
                                        <p:attrNameLst>
                                          <p:attrName>style.visibility</p:attrName>
                                        </p:attrNameLst>
                                      </p:cBhvr>
                                      <p:to>
                                        <p:strVal val="visible"/>
                                      </p:to>
                                    </p:set>
                                    <p:animEffect transition="in" filter="wedge">
                                      <p:cBhvr>
                                        <p:cTn id="23" dur="2000"/>
                                        <p:tgtEl>
                                          <p:spTgt spid="725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500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建筑安装工程费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08546" name="Group 40"/>
          <p:cNvGrpSpPr/>
          <p:nvPr/>
        </p:nvGrpSpPr>
        <p:grpSpPr>
          <a:xfrm>
            <a:off x="7164388" y="-265112"/>
            <a:ext cx="1758950" cy="1606550"/>
            <a:chOff x="672" y="334"/>
            <a:chExt cx="1108" cy="1012"/>
          </a:xfrm>
        </p:grpSpPr>
        <p:pic>
          <p:nvPicPr>
            <p:cNvPr id="108547"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08548" name="Group 28"/>
            <p:cNvGrpSpPr/>
            <p:nvPr/>
          </p:nvGrpSpPr>
          <p:grpSpPr>
            <a:xfrm>
              <a:off x="864" y="1104"/>
              <a:ext cx="768" cy="242"/>
              <a:chOff x="-768" y="1440"/>
              <a:chExt cx="768" cy="242"/>
            </a:xfrm>
          </p:grpSpPr>
          <p:sp>
            <p:nvSpPr>
              <p:cNvPr id="108549"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08550"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8551"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8552"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26026" name="Text Box 10"/>
          <p:cNvSpPr txBox="1">
            <a:spLocks noChangeArrowheads="1"/>
          </p:cNvSpPr>
          <p:nvPr/>
        </p:nvSpPr>
        <p:spPr bwMode="auto">
          <a:xfrm>
            <a:off x="539750" y="1125538"/>
            <a:ext cx="8604250" cy="19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1.3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利润</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1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指施工企业完成所承包工程获得的盈利。</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1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华文细黑" panose="02010600040101010101" pitchFamily="2" charset="-122"/>
              <a:cs typeface="+mn-cs"/>
            </a:endParaRPr>
          </a:p>
          <a:p>
            <a:pPr marL="457200" marR="0" lvl="0" indent="-457200" algn="l" defTabSz="914400" rtl="0" eaLnBrk="1" fontAlgn="base" latinLnBrk="0" hangingPunct="1">
              <a:lnSpc>
                <a:spcPct val="120000"/>
              </a:lnSpc>
              <a:spcBef>
                <a:spcPct val="1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利润</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人工费</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相关费率（费率见表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6-18</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p:txBody>
      </p:sp>
      <p:sp>
        <p:nvSpPr>
          <p:cNvPr id="726027" name="Rectangle 11"/>
          <p:cNvSpPr/>
          <p:nvPr/>
        </p:nvSpPr>
        <p:spPr>
          <a:xfrm>
            <a:off x="3289300" y="3284538"/>
            <a:ext cx="18272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6-18 </a:t>
            </a:r>
            <a:r>
              <a:rPr lang="zh-CN" altLang="en-US" sz="1600" b="0" dirty="0">
                <a:solidFill>
                  <a:schemeClr val="tx1"/>
                </a:solidFill>
                <a:latin typeface="Times New Roman" panose="02020603050405020304" pitchFamily="18" charset="0"/>
                <a:ea typeface="宋体" panose="02010600030101010101" pitchFamily="2" charset="-122"/>
              </a:rPr>
              <a:t>利润计算表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26028" name="Group 12"/>
          <p:cNvGraphicFramePr>
            <a:graphicFrameLocks noGrp="1"/>
          </p:cNvGraphicFramePr>
          <p:nvPr/>
        </p:nvGraphicFramePr>
        <p:xfrm>
          <a:off x="1573213" y="3711575"/>
          <a:ext cx="5326063" cy="1106488"/>
        </p:xfrm>
        <a:graphic>
          <a:graphicData uri="http://schemas.openxmlformats.org/drawingml/2006/table">
            <a:tbl>
              <a:tblPr/>
              <a:tblGrid>
                <a:gridCol w="2925762"/>
                <a:gridCol w="1223963"/>
                <a:gridCol w="1176337"/>
              </a:tblGrid>
              <a:tr h="436313">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4" marB="4569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08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4" marB="4569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人工费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4" marB="4569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4" marB="4569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08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4" marB="4569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694" marB="4569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26026">
                                            <p:txEl>
                                              <p:charRg st="0" end="7"/>
                                            </p:txEl>
                                          </p:spTgt>
                                        </p:tgtEl>
                                        <p:attrNameLst>
                                          <p:attrName>style.visibility</p:attrName>
                                        </p:attrNameLst>
                                      </p:cBhvr>
                                      <p:to>
                                        <p:strVal val="visible"/>
                                      </p:to>
                                    </p:set>
                                    <p:animEffect transition="in" filter="slide(fromBottom)">
                                      <p:cBhvr>
                                        <p:cTn id="7" dur="500"/>
                                        <p:tgtEl>
                                          <p:spTgt spid="726026">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26026">
                                            <p:txEl>
                                              <p:charRg st="7" end="34"/>
                                            </p:txEl>
                                          </p:spTgt>
                                        </p:tgtEl>
                                        <p:attrNameLst>
                                          <p:attrName>style.visibility</p:attrName>
                                        </p:attrNameLst>
                                      </p:cBhvr>
                                      <p:to>
                                        <p:strVal val="visible"/>
                                      </p:to>
                                    </p:set>
                                    <p:animEffect transition="in" filter="diamond(in)">
                                      <p:cBhvr>
                                        <p:cTn id="12" dur="2000"/>
                                        <p:tgtEl>
                                          <p:spTgt spid="726026">
                                            <p:txEl>
                                              <p:charRg st="7" end="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726026">
                                            <p:txEl>
                                              <p:charRg st="34" end="56"/>
                                            </p:txEl>
                                          </p:spTgt>
                                        </p:tgtEl>
                                        <p:attrNameLst>
                                          <p:attrName>style.visibility</p:attrName>
                                        </p:attrNameLst>
                                      </p:cBhvr>
                                      <p:to>
                                        <p:strVal val="visible"/>
                                      </p:to>
                                    </p:set>
                                    <p:anim to="" calcmode="lin" valueType="num">
                                      <p:cBhvr>
                                        <p:cTn id="17" dur="1" fill="hold"/>
                                        <p:tgtEl>
                                          <p:spTgt spid="726026">
                                            <p:txEl>
                                              <p:charRg st="34" end="56"/>
                                            </p:txEl>
                                          </p:spTgt>
                                        </p:tgtEl>
                                        <p:attrNameLst>
                                          <p:attrName>style.visibility</p:attrName>
                                        </p:attrNameLst>
                                      </p:cBhvr>
                                    </p:anim>
                                  </p:childTnLst>
                                </p:cTn>
                              </p:par>
                              <p:par>
                                <p:cTn id="18" presetID="24" presetClass="entr" presetSubtype="0" fill="hold" nodeType="withEffect">
                                  <p:stCondLst>
                                    <p:cond delay="0"/>
                                  </p:stCondLst>
                                  <p:childTnLst>
                                    <p:set>
                                      <p:cBhvr>
                                        <p:cTn id="19" dur="1" fill="hold">
                                          <p:stCondLst>
                                            <p:cond delay="0"/>
                                          </p:stCondLst>
                                        </p:cTn>
                                        <p:tgtEl>
                                          <p:spTgt spid="726026">
                                            <p:txEl>
                                              <p:charRg st="56" end="91"/>
                                            </p:txEl>
                                          </p:spTgt>
                                        </p:tgtEl>
                                        <p:attrNameLst>
                                          <p:attrName>style.visibility</p:attrName>
                                        </p:attrNameLst>
                                      </p:cBhvr>
                                      <p:to>
                                        <p:strVal val="visible"/>
                                      </p:to>
                                    </p:set>
                                    <p:anim to="" calcmode="lin" valueType="num">
                                      <p:cBhvr>
                                        <p:cTn id="20" dur="1" fill="hold"/>
                                        <p:tgtEl>
                                          <p:spTgt spid="726026">
                                            <p:txEl>
                                              <p:charRg st="56" end="91"/>
                                            </p:txEl>
                                          </p:spTgt>
                                        </p:tgtEl>
                                        <p:attrNameLst>
                                          <p:attrName>style.visibility</p:attrName>
                                        </p:attrNameLst>
                                      </p:cBhvr>
                                    </p:anim>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grpId="0" nodeType="clickEffect">
                                  <p:stCondLst>
                                    <p:cond delay="0"/>
                                  </p:stCondLst>
                                  <p:childTnLst>
                                    <p:set>
                                      <p:cBhvr>
                                        <p:cTn id="24" dur="1" fill="hold">
                                          <p:stCondLst>
                                            <p:cond delay="0"/>
                                          </p:stCondLst>
                                        </p:cTn>
                                        <p:tgtEl>
                                          <p:spTgt spid="726027"/>
                                        </p:tgtEl>
                                        <p:attrNameLst>
                                          <p:attrName>style.visibility</p:attrName>
                                        </p:attrNameLst>
                                      </p:cBhvr>
                                      <p:to>
                                        <p:strVal val="visible"/>
                                      </p:to>
                                    </p:set>
                                    <p:animEffect transition="in" filter="wedge">
                                      <p:cBhvr>
                                        <p:cTn id="25" dur="2000"/>
                                        <p:tgtEl>
                                          <p:spTgt spid="726027"/>
                                        </p:tgtEl>
                                      </p:cBhvr>
                                    </p:animEffect>
                                  </p:childTnLst>
                                </p:cTn>
                              </p:par>
                              <p:par>
                                <p:cTn id="26" presetID="20" presetClass="entr" presetSubtype="0" fill="hold" nodeType="withEffect">
                                  <p:stCondLst>
                                    <p:cond delay="0"/>
                                  </p:stCondLst>
                                  <p:childTnLst>
                                    <p:set>
                                      <p:cBhvr>
                                        <p:cTn id="27" dur="1" fill="hold">
                                          <p:stCondLst>
                                            <p:cond delay="0"/>
                                          </p:stCondLst>
                                        </p:cTn>
                                        <p:tgtEl>
                                          <p:spTgt spid="726028"/>
                                        </p:tgtEl>
                                        <p:attrNameLst>
                                          <p:attrName>style.visibility</p:attrName>
                                        </p:attrNameLst>
                                      </p:cBhvr>
                                      <p:to>
                                        <p:strVal val="visible"/>
                                      </p:to>
                                    </p:set>
                                    <p:animEffect transition="in" filter="wedge">
                                      <p:cBhvr>
                                        <p:cTn id="28" dur="2000"/>
                                        <p:tgtEl>
                                          <p:spTgt spid="726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27"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设备、工器具购置费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09570" name="Group 40"/>
          <p:cNvGrpSpPr/>
          <p:nvPr/>
        </p:nvGrpSpPr>
        <p:grpSpPr>
          <a:xfrm>
            <a:off x="7164388" y="-265112"/>
            <a:ext cx="1758950" cy="1606550"/>
            <a:chOff x="672" y="334"/>
            <a:chExt cx="1108" cy="1012"/>
          </a:xfrm>
        </p:grpSpPr>
        <p:pic>
          <p:nvPicPr>
            <p:cNvPr id="109571"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09572" name="Group 28"/>
            <p:cNvGrpSpPr/>
            <p:nvPr/>
          </p:nvGrpSpPr>
          <p:grpSpPr>
            <a:xfrm>
              <a:off x="864" y="1104"/>
              <a:ext cx="768" cy="242"/>
              <a:chOff x="-768" y="1440"/>
              <a:chExt cx="768" cy="242"/>
            </a:xfrm>
          </p:grpSpPr>
          <p:sp>
            <p:nvSpPr>
              <p:cNvPr id="109573"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09574"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9575"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09576"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27050" name="Text Box 10"/>
          <p:cNvSpPr txBox="1"/>
          <p:nvPr/>
        </p:nvSpPr>
        <p:spPr>
          <a:xfrm>
            <a:off x="323850" y="1412875"/>
            <a:ext cx="8280400" cy="4108450"/>
          </a:xfrm>
          <a:prstGeom prst="rect">
            <a:avLst/>
          </a:prstGeom>
          <a:noFill/>
          <a:ln w="9525">
            <a:noFill/>
          </a:ln>
        </p:spPr>
        <p:txBody>
          <a:bodyPr anchor="t" anchorCtr="0">
            <a:spAutoFit/>
          </a:bodyPr>
          <a:p>
            <a:pPr marL="457200" indent="-457200">
              <a:spcBef>
                <a:spcPct val="50000"/>
              </a:spcBef>
            </a:pPr>
            <a:r>
              <a:rPr lang="zh-CN" altLang="en-US"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指根据设计提出的设备（包括必须的备品备件）、仪表、工器具清单，按设备原价、运杂费、采购及保管费、运输保险费和采购代理服务费计算的费用。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其费用定额及计算规则如下：</a:t>
            </a:r>
            <a:endParaRPr lang="zh-CN" altLang="en-US" sz="2400" dirty="0">
              <a:solidFill>
                <a:schemeClr val="hlink"/>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设备、工器具购置费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设备原价十运杂费十运输保险费十采购及保管费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采购代理服务费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式中：</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设备原价：供应价或供货地点价；</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运杂费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设备原价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设备运杂费费率（费率见表</a:t>
            </a:r>
            <a:r>
              <a:rPr lang="en-US" altLang="zh-CN" sz="2400" dirty="0">
                <a:solidFill>
                  <a:srgbClr val="336699"/>
                </a:solidFill>
                <a:latin typeface="Arial" panose="020B0604020202020204" pitchFamily="34" charset="0"/>
                <a:ea typeface="宋体" panose="02010600030101010101" pitchFamily="2" charset="-122"/>
              </a:rPr>
              <a:t>6-20</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727050">
                                            <p:txEl>
                                              <p:charRg st="0" end="77"/>
                                            </p:txEl>
                                          </p:spTgt>
                                        </p:tgtEl>
                                        <p:attrNameLst>
                                          <p:attrName>style.visibility</p:attrName>
                                        </p:attrNameLst>
                                      </p:cBhvr>
                                      <p:to>
                                        <p:strVal val="visible"/>
                                      </p:to>
                                    </p:set>
                                    <p:animEffect transition="in" filter="diamond(in)">
                                      <p:cBhvr>
                                        <p:cTn id="7" dur="2000"/>
                                        <p:tgtEl>
                                          <p:spTgt spid="727050">
                                            <p:txEl>
                                              <p:charRg st="0" end="77"/>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27050">
                                            <p:txEl>
                                              <p:charRg st="77" end="99"/>
                                            </p:txEl>
                                          </p:spTgt>
                                        </p:tgtEl>
                                        <p:attrNameLst>
                                          <p:attrName>style.visibility</p:attrName>
                                        </p:attrNameLst>
                                      </p:cBhvr>
                                      <p:to>
                                        <p:strVal val="visible"/>
                                      </p:to>
                                    </p:set>
                                    <p:animEffect transition="in" filter="diamond(in)">
                                      <p:cBhvr>
                                        <p:cTn id="12" dur="2000"/>
                                        <p:tgtEl>
                                          <p:spTgt spid="727050">
                                            <p:txEl>
                                              <p:charRg st="77" end="9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727050">
                                            <p:txEl>
                                              <p:charRg st="99" end="147"/>
                                            </p:txEl>
                                          </p:spTgt>
                                        </p:tgtEl>
                                        <p:attrNameLst>
                                          <p:attrName>style.visibility</p:attrName>
                                        </p:attrNameLst>
                                      </p:cBhvr>
                                      <p:to>
                                        <p:strVal val="visible"/>
                                      </p:to>
                                    </p:set>
                                    <p:animEffect transition="in" filter="diamond(in)">
                                      <p:cBhvr>
                                        <p:cTn id="17" dur="2000"/>
                                        <p:tgtEl>
                                          <p:spTgt spid="727050">
                                            <p:txEl>
                                              <p:charRg st="99" end="14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727050">
                                            <p:txEl>
                                              <p:charRg st="147" end="170"/>
                                            </p:txEl>
                                          </p:spTgt>
                                        </p:tgtEl>
                                        <p:attrNameLst>
                                          <p:attrName>style.visibility</p:attrName>
                                        </p:attrNameLst>
                                      </p:cBhvr>
                                      <p:to>
                                        <p:strVal val="visible"/>
                                      </p:to>
                                    </p:set>
                                    <p:animEffect transition="in" filter="diamond(in)">
                                      <p:cBhvr>
                                        <p:cTn id="22" dur="2000"/>
                                        <p:tgtEl>
                                          <p:spTgt spid="727050">
                                            <p:txEl>
                                              <p:charRg st="147" end="17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727050">
                                            <p:txEl>
                                              <p:charRg st="170" end="212"/>
                                            </p:txEl>
                                          </p:spTgt>
                                        </p:tgtEl>
                                        <p:attrNameLst>
                                          <p:attrName>style.visibility</p:attrName>
                                        </p:attrNameLst>
                                      </p:cBhvr>
                                      <p:to>
                                        <p:strVal val="visible"/>
                                      </p:to>
                                    </p:set>
                                    <p:animEffect transition="in" filter="diamond(in)">
                                      <p:cBhvr>
                                        <p:cTn id="27" dur="2000"/>
                                        <p:tgtEl>
                                          <p:spTgt spid="727050">
                                            <p:txEl>
                                              <p:charRg st="170" end="2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Rectangle 2"/>
          <p:cNvSpPr/>
          <p:nvPr/>
        </p:nvSpPr>
        <p:spPr>
          <a:xfrm>
            <a:off x="3578225" y="1268413"/>
            <a:ext cx="2436813"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6-20 </a:t>
            </a:r>
            <a:r>
              <a:rPr lang="zh-CN" altLang="en-US" sz="1600" b="0" dirty="0">
                <a:solidFill>
                  <a:schemeClr val="tx1"/>
                </a:solidFill>
                <a:latin typeface="Times New Roman" panose="02020603050405020304" pitchFamily="18" charset="0"/>
                <a:ea typeface="宋体" panose="02010600030101010101" pitchFamily="2" charset="-122"/>
              </a:rPr>
              <a:t>设备运杂费费率表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28067" name="Group 3"/>
          <p:cNvGraphicFramePr>
            <a:graphicFrameLocks noGrp="1"/>
          </p:cNvGraphicFramePr>
          <p:nvPr/>
        </p:nvGraphicFramePr>
        <p:xfrm>
          <a:off x="539750" y="1700213"/>
          <a:ext cx="8137525" cy="2711450"/>
        </p:xfrm>
        <a:graphic>
          <a:graphicData uri="http://schemas.openxmlformats.org/drawingml/2006/table">
            <a:tbl>
              <a:tblPr/>
              <a:tblGrid>
                <a:gridCol w="1620838"/>
                <a:gridCol w="1054100"/>
                <a:gridCol w="1106487"/>
                <a:gridCol w="1800225"/>
                <a:gridCol w="1260475"/>
                <a:gridCol w="1295400"/>
              </a:tblGrid>
              <a:tr h="365040">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运输里程</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L(km)</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取费基础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运输里程</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 (km)</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取费基础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0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0.8</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L≤1250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0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L≤200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0.9</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1250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L≤1500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2.2</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0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L≤300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L≤1750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2.4</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0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L≤400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1750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L≤2000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2.6</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0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L≤500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1.2</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 </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2000km</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时，每增</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250km</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增加</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0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L≤750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vMerge="1">
                  <a:tcPr/>
                </a:tc>
                <a:tc vMerge="1">
                  <a:tcPr/>
                </a:tc>
              </a:tr>
              <a:tr h="33520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750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L≤1000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1.7</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09" marB="457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设备、工器具购置费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11618" name="Group 40"/>
          <p:cNvGrpSpPr/>
          <p:nvPr/>
        </p:nvGrpSpPr>
        <p:grpSpPr>
          <a:xfrm>
            <a:off x="7164388" y="-265112"/>
            <a:ext cx="1758950" cy="1606550"/>
            <a:chOff x="672" y="334"/>
            <a:chExt cx="1108" cy="1012"/>
          </a:xfrm>
        </p:grpSpPr>
        <p:pic>
          <p:nvPicPr>
            <p:cNvPr id="111619"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11620" name="Group 28"/>
            <p:cNvGrpSpPr/>
            <p:nvPr/>
          </p:nvGrpSpPr>
          <p:grpSpPr>
            <a:xfrm>
              <a:off x="864" y="1104"/>
              <a:ext cx="768" cy="242"/>
              <a:chOff x="-768" y="1440"/>
              <a:chExt cx="768" cy="242"/>
            </a:xfrm>
          </p:grpSpPr>
          <p:sp>
            <p:nvSpPr>
              <p:cNvPr id="111621"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11622"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1623"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1624"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111625" name="Text Box 10"/>
          <p:cNvSpPr txBox="1"/>
          <p:nvPr/>
        </p:nvSpPr>
        <p:spPr>
          <a:xfrm>
            <a:off x="539750" y="1341438"/>
            <a:ext cx="8604250" cy="1333500"/>
          </a:xfrm>
          <a:prstGeom prst="rect">
            <a:avLst/>
          </a:prstGeom>
          <a:noFill/>
          <a:ln w="9525">
            <a:noFill/>
          </a:ln>
        </p:spPr>
        <p:txBody>
          <a:bodyPr anchor="t" anchorCtr="0">
            <a:spAutoFit/>
          </a:bodyPr>
          <a:p>
            <a:pPr marL="457200" indent="-457200">
              <a:spcBef>
                <a:spcPct val="4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运输保险费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设备原价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保险费费率</a:t>
            </a:r>
            <a:r>
              <a:rPr lang="en-US" altLang="zh-CN" sz="2400" dirty="0">
                <a:solidFill>
                  <a:srgbClr val="336699"/>
                </a:solidFill>
                <a:latin typeface="Arial" panose="020B0604020202020204" pitchFamily="34" charset="0"/>
                <a:ea typeface="宋体" panose="02010600030101010101" pitchFamily="2" charset="-122"/>
              </a:rPr>
              <a:t>0.4%</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4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(4)</a:t>
            </a:r>
            <a:r>
              <a:rPr lang="zh-CN" altLang="en-US" sz="2400" dirty="0">
                <a:solidFill>
                  <a:srgbClr val="336699"/>
                </a:solidFill>
                <a:latin typeface="Arial" panose="020B0604020202020204" pitchFamily="34" charset="0"/>
                <a:ea typeface="宋体" panose="02010600030101010101" pitchFamily="2" charset="-122"/>
              </a:rPr>
              <a:t>采购及保管费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设备原价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采购及保管费费率（费率见表</a:t>
            </a:r>
            <a:r>
              <a:rPr lang="en-US" altLang="zh-CN" sz="2400" dirty="0">
                <a:solidFill>
                  <a:srgbClr val="336699"/>
                </a:solidFill>
                <a:latin typeface="Arial" panose="020B0604020202020204" pitchFamily="34" charset="0"/>
                <a:ea typeface="宋体" panose="02010600030101010101" pitchFamily="2" charset="-122"/>
              </a:rPr>
              <a:t>6-21</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111626" name="Rectangle 11"/>
          <p:cNvSpPr/>
          <p:nvPr/>
        </p:nvSpPr>
        <p:spPr>
          <a:xfrm>
            <a:off x="3144838" y="2924175"/>
            <a:ext cx="2640012"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6-21 </a:t>
            </a:r>
            <a:r>
              <a:rPr lang="zh-CN" altLang="en-US" sz="1600" b="0" dirty="0">
                <a:solidFill>
                  <a:schemeClr val="tx1"/>
                </a:solidFill>
                <a:latin typeface="Times New Roman" panose="02020603050405020304" pitchFamily="18" charset="0"/>
                <a:ea typeface="宋体" panose="02010600030101010101" pitchFamily="2" charset="-122"/>
              </a:rPr>
              <a:t>采购及保管费费率表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29100" name="Group 12"/>
          <p:cNvGraphicFramePr>
            <a:graphicFrameLocks noGrp="1"/>
          </p:cNvGraphicFramePr>
          <p:nvPr/>
        </p:nvGraphicFramePr>
        <p:xfrm>
          <a:off x="1258888" y="3357563"/>
          <a:ext cx="6913563" cy="1006475"/>
        </p:xfrm>
        <a:graphic>
          <a:graphicData uri="http://schemas.openxmlformats.org/drawingml/2006/table">
            <a:tbl>
              <a:tblPr/>
              <a:tblGrid>
                <a:gridCol w="3457575"/>
                <a:gridCol w="1803400"/>
                <a:gridCol w="1652587"/>
              </a:tblGrid>
              <a:tr h="33549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项目名称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9" marB="457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9" marB="457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9" marB="457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9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需要安装的设备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9" marB="457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设备原价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9" marB="4574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0.82</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9" marB="457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92">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不需要安装的设备（仪表、工器具）</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9" marB="457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0.41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49" marB="4574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设备、工器具购置费</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12642" name="Group 40"/>
          <p:cNvGrpSpPr/>
          <p:nvPr/>
        </p:nvGrpSpPr>
        <p:grpSpPr>
          <a:xfrm>
            <a:off x="7164388" y="-265112"/>
            <a:ext cx="1758950" cy="1606550"/>
            <a:chOff x="672" y="334"/>
            <a:chExt cx="1108" cy="1012"/>
          </a:xfrm>
        </p:grpSpPr>
        <p:pic>
          <p:nvPicPr>
            <p:cNvPr id="112643"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12644" name="Group 28"/>
            <p:cNvGrpSpPr/>
            <p:nvPr/>
          </p:nvGrpSpPr>
          <p:grpSpPr>
            <a:xfrm>
              <a:off x="864" y="1104"/>
              <a:ext cx="768" cy="242"/>
              <a:chOff x="-768" y="1440"/>
              <a:chExt cx="768" cy="242"/>
            </a:xfrm>
          </p:grpSpPr>
          <p:sp>
            <p:nvSpPr>
              <p:cNvPr id="11264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1264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2647"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2648"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30122" name="Text Box 10"/>
          <p:cNvSpPr txBox="1"/>
          <p:nvPr/>
        </p:nvSpPr>
        <p:spPr>
          <a:xfrm>
            <a:off x="323850" y="1557338"/>
            <a:ext cx="8604250" cy="2501900"/>
          </a:xfrm>
          <a:prstGeom prst="rect">
            <a:avLst/>
          </a:prstGeom>
          <a:noFill/>
          <a:ln w="9525">
            <a:noFill/>
          </a:ln>
        </p:spPr>
        <p:txBody>
          <a:bodyPr anchor="t" anchorCtr="0">
            <a:spAutoFit/>
          </a:bodyPr>
          <a:p>
            <a:pPr marL="457200" indent="-457200">
              <a:spcBef>
                <a:spcPct val="50000"/>
              </a:spcBef>
            </a:pPr>
            <a:r>
              <a:rPr lang="zh-CN" altLang="en-US" dirty="0">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(5)</a:t>
            </a:r>
            <a:r>
              <a:rPr lang="zh-CN" altLang="en-US" sz="2400" dirty="0">
                <a:solidFill>
                  <a:srgbClr val="336699"/>
                </a:solidFill>
                <a:latin typeface="Arial" panose="020B0604020202020204" pitchFamily="34" charset="0"/>
                <a:ea typeface="宋体" panose="02010600030101010101" pitchFamily="2" charset="-122"/>
              </a:rPr>
              <a:t>采购代理服务费按实计列。</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(6)</a:t>
            </a:r>
            <a:r>
              <a:rPr lang="zh-CN" altLang="en-US" sz="2400" dirty="0">
                <a:solidFill>
                  <a:srgbClr val="336699"/>
                </a:solidFill>
                <a:latin typeface="Arial" panose="020B0604020202020204" pitchFamily="34" charset="0"/>
                <a:ea typeface="宋体" panose="02010600030101010101" pitchFamily="2" charset="-122"/>
              </a:rPr>
              <a:t>引进设备（材料）的国外运输费、国外运输保险费、关税、增值税、外贸手续费、银行财务费、国内运杂费、国内运输保险费、引进设备（材料）国内检验费、海关监管手续费等按引进货价计算后进入相应的设备材料费中。</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1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单独引进软件不计关税只计增值税。 </a:t>
            </a:r>
            <a:endParaRPr lang="zh-CN" altLang="en-US" sz="2400" dirty="0">
              <a:solidFill>
                <a:schemeClr val="hlink"/>
              </a:solidFill>
              <a:latin typeface="Arial" panose="020B0604020202020204" pitchFamily="34" charset="0"/>
              <a:ea typeface="宋体" panose="02010600030101010101" pitchFamily="2" charset="-122"/>
            </a:endParaRPr>
          </a:p>
        </p:txBody>
      </p:sp>
      <p:pic>
        <p:nvPicPr>
          <p:cNvPr id="112650" name="Picture 11" descr="图片1">
            <a:hlinkClick r:id="rId2" action="ppaction://hlinksldjump"/>
          </p:cNvPr>
          <p:cNvPicPr>
            <a:picLocks noChangeAspect="1"/>
          </p:cNvPicPr>
          <p:nvPr/>
        </p:nvPicPr>
        <p:blipFill>
          <a:blip r:embed="rId3"/>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30122">
                                            <p:txEl>
                                              <p:charRg st="0" end="25"/>
                                            </p:txEl>
                                          </p:spTgt>
                                        </p:tgtEl>
                                        <p:attrNameLst>
                                          <p:attrName>style.visibility</p:attrName>
                                        </p:attrNameLst>
                                      </p:cBhvr>
                                      <p:to>
                                        <p:strVal val="visible"/>
                                      </p:to>
                                    </p:set>
                                    <p:animEffect transition="in" filter="slide(fromBottom)">
                                      <p:cBhvr>
                                        <p:cTn id="7" dur="500"/>
                                        <p:tgtEl>
                                          <p:spTgt spid="730122">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30122">
                                            <p:txEl>
                                              <p:charRg st="25" end="135"/>
                                            </p:txEl>
                                          </p:spTgt>
                                        </p:tgtEl>
                                        <p:attrNameLst>
                                          <p:attrName>style.visibility</p:attrName>
                                        </p:attrNameLst>
                                      </p:cBhvr>
                                      <p:to>
                                        <p:strVal val="visible"/>
                                      </p:to>
                                    </p:set>
                                    <p:animEffect transition="in" filter="slide(fromBottom)">
                                      <p:cBhvr>
                                        <p:cTn id="12" dur="500"/>
                                        <p:tgtEl>
                                          <p:spTgt spid="730122">
                                            <p:txEl>
                                              <p:charRg st="25" end="1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30122">
                                            <p:txEl>
                                              <p:charRg st="135" end="160"/>
                                            </p:txEl>
                                          </p:spTgt>
                                        </p:tgtEl>
                                        <p:attrNameLst>
                                          <p:attrName>style.visibility</p:attrName>
                                        </p:attrNameLst>
                                      </p:cBhvr>
                                      <p:to>
                                        <p:strVal val="visible"/>
                                      </p:to>
                                    </p:set>
                                    <p:animEffect transition="in" filter="slide(fromBottom)">
                                      <p:cBhvr>
                                        <p:cTn id="17" dur="500"/>
                                        <p:tgtEl>
                                          <p:spTgt spid="730122">
                                            <p:txEl>
                                              <p:charRg st="135" end="1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Rectangle 2"/>
          <p:cNvSpPr>
            <a:spLocks noGrp="1"/>
          </p:cNvSpPr>
          <p:nvPr>
            <p:ph type="title"/>
          </p:nvPr>
        </p:nvSpPr>
        <p:spPr>
          <a:xfrm>
            <a:off x="914400" y="333375"/>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4.3</a:t>
            </a:r>
            <a:r>
              <a:rPr lang="zh-CN" altLang="en-US" b="1" dirty="0">
                <a:solidFill>
                  <a:srgbClr val="000099"/>
                </a:solidFill>
                <a:latin typeface="黑体" panose="02010609060101010101" pitchFamily="49" charset="-122"/>
                <a:ea typeface="黑体" panose="02010609060101010101" pitchFamily="49" charset="-122"/>
              </a:rPr>
              <a:t>工程建设其他费</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113666"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grpSp>
        <p:nvGrpSpPr>
          <p:cNvPr id="113667" name="Group 4"/>
          <p:cNvGrpSpPr/>
          <p:nvPr/>
        </p:nvGrpSpPr>
        <p:grpSpPr>
          <a:xfrm>
            <a:off x="1682750" y="2546350"/>
            <a:ext cx="5668963" cy="1898650"/>
            <a:chOff x="1060" y="1604"/>
            <a:chExt cx="3571" cy="1196"/>
          </a:xfrm>
        </p:grpSpPr>
        <p:sp>
          <p:nvSpPr>
            <p:cNvPr id="113668" name="Line 18"/>
            <p:cNvSpPr/>
            <p:nvPr/>
          </p:nvSpPr>
          <p:spPr>
            <a:xfrm>
              <a:off x="1060" y="1604"/>
              <a:ext cx="3563" cy="0"/>
            </a:xfrm>
            <a:prstGeom prst="line">
              <a:avLst/>
            </a:prstGeom>
            <a:ln w="38100" cap="rnd" cmpd="sng">
              <a:solidFill>
                <a:srgbClr val="008000"/>
              </a:solidFill>
              <a:prstDash val="sysDot"/>
              <a:round/>
              <a:headEnd type="none" w="med" len="med"/>
              <a:tailEnd type="oval" w="med" len="med"/>
            </a:ln>
          </p:spPr>
        </p:sp>
        <p:sp>
          <p:nvSpPr>
            <p:cNvPr id="113669" name="Line 18"/>
            <p:cNvSpPr/>
            <p:nvPr/>
          </p:nvSpPr>
          <p:spPr>
            <a:xfrm>
              <a:off x="1069" y="2208"/>
              <a:ext cx="3562" cy="0"/>
            </a:xfrm>
            <a:prstGeom prst="line">
              <a:avLst/>
            </a:prstGeom>
            <a:ln w="38100" cap="rnd" cmpd="sng">
              <a:solidFill>
                <a:srgbClr val="008000"/>
              </a:solidFill>
              <a:prstDash val="sysDot"/>
              <a:round/>
              <a:headEnd type="none" w="med" len="med"/>
              <a:tailEnd type="oval" w="med" len="med"/>
            </a:ln>
          </p:spPr>
        </p:sp>
        <p:sp>
          <p:nvSpPr>
            <p:cNvPr id="113670" name="Line 18"/>
            <p:cNvSpPr/>
            <p:nvPr/>
          </p:nvSpPr>
          <p:spPr>
            <a:xfrm>
              <a:off x="1067" y="2800"/>
              <a:ext cx="3562" cy="0"/>
            </a:xfrm>
            <a:prstGeom prst="line">
              <a:avLst/>
            </a:prstGeom>
            <a:ln w="38100" cap="rnd" cmpd="sng">
              <a:solidFill>
                <a:srgbClr val="008000"/>
              </a:solidFill>
              <a:prstDash val="sysDot"/>
              <a:round/>
              <a:headEnd type="none" w="med" len="med"/>
              <a:tailEnd type="oval" w="med" len="med"/>
            </a:ln>
          </p:spPr>
        </p:sp>
      </p:grpSp>
      <p:grpSp>
        <p:nvGrpSpPr>
          <p:cNvPr id="113671" name="Group 8"/>
          <p:cNvGrpSpPr/>
          <p:nvPr/>
        </p:nvGrpSpPr>
        <p:grpSpPr>
          <a:xfrm>
            <a:off x="1701800" y="2046288"/>
            <a:ext cx="504825" cy="2443162"/>
            <a:chOff x="1072" y="1289"/>
            <a:chExt cx="318" cy="1539"/>
          </a:xfrm>
        </p:grpSpPr>
        <p:pic>
          <p:nvPicPr>
            <p:cNvPr id="113672" name="Picture 12" descr="003c"/>
            <p:cNvPicPr>
              <a:picLocks noChangeAspect="1"/>
            </p:cNvPicPr>
            <p:nvPr/>
          </p:nvPicPr>
          <p:blipFill>
            <a:blip r:embed="rId1"/>
            <a:stretch>
              <a:fillRect/>
            </a:stretch>
          </p:blipFill>
          <p:spPr>
            <a:xfrm>
              <a:off x="1072" y="1899"/>
              <a:ext cx="318" cy="318"/>
            </a:xfrm>
            <a:prstGeom prst="rect">
              <a:avLst/>
            </a:prstGeom>
            <a:noFill/>
            <a:ln w="9525">
              <a:noFill/>
            </a:ln>
          </p:spPr>
        </p:pic>
        <p:pic>
          <p:nvPicPr>
            <p:cNvPr id="113673" name="Picture 14" descr="002b"/>
            <p:cNvPicPr>
              <a:picLocks noChangeAspect="1"/>
            </p:cNvPicPr>
            <p:nvPr/>
          </p:nvPicPr>
          <p:blipFill>
            <a:blip r:embed="rId2"/>
            <a:stretch>
              <a:fillRect/>
            </a:stretch>
          </p:blipFill>
          <p:spPr>
            <a:xfrm>
              <a:off x="1072" y="1289"/>
              <a:ext cx="318" cy="318"/>
            </a:xfrm>
            <a:prstGeom prst="rect">
              <a:avLst/>
            </a:prstGeom>
            <a:noFill/>
            <a:ln w="9525">
              <a:noFill/>
            </a:ln>
          </p:spPr>
        </p:pic>
        <p:pic>
          <p:nvPicPr>
            <p:cNvPr id="113674" name="Picture 16" descr="004d (2)"/>
            <p:cNvPicPr>
              <a:picLocks noChangeAspect="1"/>
            </p:cNvPicPr>
            <p:nvPr/>
          </p:nvPicPr>
          <p:blipFill>
            <a:blip r:embed="rId3"/>
            <a:stretch>
              <a:fillRect/>
            </a:stretch>
          </p:blipFill>
          <p:spPr>
            <a:xfrm>
              <a:off x="1072" y="2510"/>
              <a:ext cx="318" cy="318"/>
            </a:xfrm>
            <a:prstGeom prst="rect">
              <a:avLst/>
            </a:prstGeom>
            <a:noFill/>
            <a:ln w="9525">
              <a:noFill/>
            </a:ln>
          </p:spPr>
        </p:pic>
      </p:grpSp>
      <p:sp>
        <p:nvSpPr>
          <p:cNvPr id="731148" name="Text Box 12">
            <a:hlinkClick r:id="rId4" action="ppaction://hlinksldjump"/>
          </p:cNvPr>
          <p:cNvSpPr txBox="1">
            <a:spLocks noChangeArrowheads="1"/>
          </p:cNvSpPr>
          <p:nvPr/>
        </p:nvSpPr>
        <p:spPr bwMode="auto">
          <a:xfrm>
            <a:off x="2268538" y="2133600"/>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什么是工程建设其他费？</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731149" name="Text Box 13">
            <a:hlinkClick r:id="rId5" action="ppaction://hlinksldjump"/>
          </p:cNvPr>
          <p:cNvSpPr txBox="1">
            <a:spLocks noChangeArrowheads="1"/>
          </p:cNvSpPr>
          <p:nvPr/>
        </p:nvSpPr>
        <p:spPr bwMode="auto">
          <a:xfrm>
            <a:off x="2268538" y="3068638"/>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工程建设其他费的具体构成？</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731150" name="Text Box 14">
            <a:hlinkClick r:id="" action="ppaction://noaction"/>
          </p:cNvPr>
          <p:cNvSpPr txBox="1">
            <a:spLocks noChangeArrowheads="1"/>
          </p:cNvSpPr>
          <p:nvPr/>
        </p:nvSpPr>
        <p:spPr bwMode="auto">
          <a:xfrm>
            <a:off x="2268538" y="4005263"/>
            <a:ext cx="467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各项费用的费用定额与计算规则</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113678" name="Picture 27" descr="生物10"/>
          <p:cNvPicPr>
            <a:picLocks noChangeAspect="1"/>
          </p:cNvPicPr>
          <p:nvPr/>
        </p:nvPicPr>
        <p:blipFill>
          <a:blip r:embed="rId6"/>
          <a:srcRect r="68536" b="6113"/>
          <a:stretch>
            <a:fillRect/>
          </a:stretch>
        </p:blipFill>
        <p:spPr>
          <a:xfrm>
            <a:off x="563563" y="765175"/>
            <a:ext cx="830262" cy="706438"/>
          </a:xfrm>
          <a:prstGeom prst="rect">
            <a:avLst/>
          </a:prstGeom>
          <a:noFill/>
          <a:ln w="9525">
            <a:noFill/>
          </a:ln>
        </p:spPr>
      </p:pic>
      <p:grpSp>
        <p:nvGrpSpPr>
          <p:cNvPr id="113679" name="Group 43"/>
          <p:cNvGrpSpPr/>
          <p:nvPr/>
        </p:nvGrpSpPr>
        <p:grpSpPr>
          <a:xfrm>
            <a:off x="563563" y="1603375"/>
            <a:ext cx="1704975" cy="381000"/>
            <a:chOff x="-1324" y="576"/>
            <a:chExt cx="912" cy="240"/>
          </a:xfrm>
        </p:grpSpPr>
        <p:sp>
          <p:nvSpPr>
            <p:cNvPr id="113680"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13681"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3682"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pic>
        <p:nvPicPr>
          <p:cNvPr id="113683" name="Picture 20" descr="图片1">
            <a:hlinkClick r:id="rId7" action="ppaction://hlinksldjump"/>
          </p:cNvPr>
          <p:cNvPicPr>
            <a:picLocks noChangeAspect="1"/>
          </p:cNvPicPr>
          <p:nvPr/>
        </p:nvPicPr>
        <p:blipFill>
          <a:blip r:embed="rId8"/>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1148"/>
                                        </p:tgtEl>
                                        <p:attrNameLst>
                                          <p:attrName>style.visibility</p:attrName>
                                        </p:attrNameLst>
                                      </p:cBhvr>
                                      <p:to>
                                        <p:strVal val="visible"/>
                                      </p:to>
                                    </p:set>
                                    <p:animEffect transition="in" filter="wipe(left)">
                                      <p:cBhvr>
                                        <p:cTn id="7" dur="1000"/>
                                        <p:tgtEl>
                                          <p:spTgt spid="731148"/>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31149"/>
                                        </p:tgtEl>
                                        <p:attrNameLst>
                                          <p:attrName>style.visibility</p:attrName>
                                        </p:attrNameLst>
                                      </p:cBhvr>
                                      <p:to>
                                        <p:strVal val="visible"/>
                                      </p:to>
                                    </p:set>
                                    <p:animEffect transition="in" filter="wipe(left)">
                                      <p:cBhvr>
                                        <p:cTn id="11" dur="1000"/>
                                        <p:tgtEl>
                                          <p:spTgt spid="731149"/>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731150"/>
                                        </p:tgtEl>
                                        <p:attrNameLst>
                                          <p:attrName>style.visibility</p:attrName>
                                        </p:attrNameLst>
                                      </p:cBhvr>
                                      <p:to>
                                        <p:strVal val="visible"/>
                                      </p:to>
                                    </p:set>
                                    <p:animEffect transition="in" filter="wipe(left)">
                                      <p:cBhvr>
                                        <p:cTn id="15" dur="1000"/>
                                        <p:tgtEl>
                                          <p:spTgt spid="731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1148" grpId="0"/>
      <p:bldP spid="731149" grpId="0"/>
      <p:bldP spid="731150"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4689" name="Group 40"/>
          <p:cNvGrpSpPr/>
          <p:nvPr/>
        </p:nvGrpSpPr>
        <p:grpSpPr>
          <a:xfrm>
            <a:off x="7164388" y="-265112"/>
            <a:ext cx="1758950" cy="1606550"/>
            <a:chOff x="672" y="334"/>
            <a:chExt cx="1108" cy="1012"/>
          </a:xfrm>
        </p:grpSpPr>
        <p:pic>
          <p:nvPicPr>
            <p:cNvPr id="114690"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14691" name="Group 28"/>
            <p:cNvGrpSpPr/>
            <p:nvPr/>
          </p:nvGrpSpPr>
          <p:grpSpPr>
            <a:xfrm>
              <a:off x="864" y="1104"/>
              <a:ext cx="768" cy="242"/>
              <a:chOff x="-768" y="1440"/>
              <a:chExt cx="768" cy="242"/>
            </a:xfrm>
          </p:grpSpPr>
          <p:sp>
            <p:nvSpPr>
              <p:cNvPr id="114692"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14693"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4694"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4695"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32169" name="Text Box 9"/>
          <p:cNvSpPr txBox="1">
            <a:spLocks noChangeArrowheads="1"/>
          </p:cNvSpPr>
          <p:nvPr/>
        </p:nvSpPr>
        <p:spPr bwMode="auto">
          <a:xfrm>
            <a:off x="179388" y="981075"/>
            <a:ext cx="856932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8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工程建设其他费</a:t>
            </a:r>
            <a:endParaRPr kumimoji="0" lang="zh-CN" altLang="en-US" sz="28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endParaRPr kumimoji="0" lang="zh-CN" altLang="en-US" sz="28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指应在建设项目的建设投资中开支的固定资产其他费用、无形资产费用和其他资产费用。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包括以下费用：</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114697" name="AutoShape 10"/>
          <p:cNvSpPr/>
          <p:nvPr/>
        </p:nvSpPr>
        <p:spPr>
          <a:xfrm>
            <a:off x="971550" y="1196975"/>
            <a:ext cx="217488" cy="287338"/>
          </a:xfrm>
          <a:prstGeom prst="diamond">
            <a:avLst/>
          </a:prstGeom>
          <a:solidFill>
            <a:srgbClr val="993366"/>
          </a:solidFill>
          <a:ln w="9525" cap="flat" cmpd="sng">
            <a:solidFill>
              <a:srgbClr val="993366"/>
            </a:solidFill>
            <a:prstDash val="solid"/>
            <a:miter/>
            <a:headEnd type="none" w="med" len="med"/>
            <a:tailEnd type="none" w="med" len="med"/>
          </a:ln>
        </p:spPr>
        <p:txBody>
          <a:bodyPr wrap="none" anchor="ctr" anchorCtr="0">
            <a:spAutoFit/>
          </a:bodyPr>
          <a:p>
            <a:pPr>
              <a:spcBef>
                <a:spcPct val="50000"/>
              </a:spcBef>
            </a:pP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32169">
                                            <p:txEl>
                                              <p:charRg st="0" end="20"/>
                                            </p:txEl>
                                          </p:spTgt>
                                        </p:tgtEl>
                                        <p:attrNameLst>
                                          <p:attrName>style.visibility</p:attrName>
                                        </p:attrNameLst>
                                      </p:cBhvr>
                                      <p:to>
                                        <p:strVal val="visible"/>
                                      </p:to>
                                    </p:set>
                                    <p:animEffect transition="in" filter="slide(fromBottom)">
                                      <p:cBhvr>
                                        <p:cTn id="7" dur="500"/>
                                        <p:tgtEl>
                                          <p:spTgt spid="732169">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32169">
                                            <p:txEl>
                                              <p:charRg st="21" end="74"/>
                                            </p:txEl>
                                          </p:spTgt>
                                        </p:tgtEl>
                                        <p:attrNameLst>
                                          <p:attrName>style.visibility</p:attrName>
                                        </p:attrNameLst>
                                      </p:cBhvr>
                                      <p:to>
                                        <p:strVal val="visible"/>
                                      </p:to>
                                    </p:set>
                                    <p:animEffect transition="in" filter="checkerboard(across)">
                                      <p:cBhvr>
                                        <p:cTn id="12" dur="500"/>
                                        <p:tgtEl>
                                          <p:spTgt spid="732169">
                                            <p:txEl>
                                              <p:charRg st="21" end="74"/>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732169">
                                            <p:txEl>
                                              <p:charRg st="74" end="96"/>
                                            </p:txEl>
                                          </p:spTgt>
                                        </p:tgtEl>
                                        <p:attrNameLst>
                                          <p:attrName>style.visibility</p:attrName>
                                        </p:attrNameLst>
                                      </p:cBhvr>
                                      <p:to>
                                        <p:strVal val="visible"/>
                                      </p:to>
                                    </p:set>
                                    <p:animEffect transition="in" filter="checkerboard(across)">
                                      <p:cBhvr>
                                        <p:cTn id="15" dur="500"/>
                                        <p:tgtEl>
                                          <p:spTgt spid="732169">
                                            <p:txEl>
                                              <p:charRg st="74" end="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5713" name="Group 40"/>
          <p:cNvGrpSpPr/>
          <p:nvPr/>
        </p:nvGrpSpPr>
        <p:grpSpPr>
          <a:xfrm>
            <a:off x="7164388" y="-265112"/>
            <a:ext cx="1758950" cy="1606550"/>
            <a:chOff x="672" y="334"/>
            <a:chExt cx="1108" cy="1012"/>
          </a:xfrm>
        </p:grpSpPr>
        <p:pic>
          <p:nvPicPr>
            <p:cNvPr id="115714"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15715" name="Group 28"/>
            <p:cNvGrpSpPr/>
            <p:nvPr/>
          </p:nvGrpSpPr>
          <p:grpSpPr>
            <a:xfrm>
              <a:off x="864" y="1104"/>
              <a:ext cx="768" cy="242"/>
              <a:chOff x="-768" y="1440"/>
              <a:chExt cx="768" cy="242"/>
            </a:xfrm>
          </p:grpSpPr>
          <p:sp>
            <p:nvSpPr>
              <p:cNvPr id="115716"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15717"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5718"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5719"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33193" name="Text Box 9"/>
          <p:cNvSpPr txBox="1"/>
          <p:nvPr/>
        </p:nvSpPr>
        <p:spPr>
          <a:xfrm>
            <a:off x="323850" y="908050"/>
            <a:ext cx="8640763" cy="4108450"/>
          </a:xfrm>
          <a:prstGeom prst="rect">
            <a:avLst/>
          </a:prstGeom>
          <a:noFill/>
          <a:ln w="9525">
            <a:noFill/>
          </a:ln>
        </p:spPr>
        <p:txBody>
          <a:bodyPr anchor="t" anchorCtr="0">
            <a:spAutoFit/>
          </a:bodyPr>
          <a:p>
            <a:pPr marL="457200" indent="-457200">
              <a:spcBef>
                <a:spcPct val="50000"/>
              </a:spcBef>
            </a:pPr>
            <a:r>
              <a:rPr lang="zh-CN" altLang="en-US"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 </a:t>
            </a:r>
            <a:r>
              <a:rPr lang="zh-CN" altLang="en-US" sz="2400" dirty="0">
                <a:solidFill>
                  <a:srgbClr val="336699"/>
                </a:solidFill>
                <a:latin typeface="Arial" panose="020B0604020202020204" pitchFamily="34" charset="0"/>
                <a:ea typeface="宋体" panose="02010600030101010101" pitchFamily="2" charset="-122"/>
              </a:rPr>
              <a:t>建设用地及综合赔补费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指按照</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中华人民共和国土地管理法</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等规定，建设项目征用土地或租用土地应支付的费用。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其费用定额及计算规则如下</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①根据应征建设用地面积、临时用地面积，按建设项目所在省、市、自治区人民政府制定颁发的土地征用补偿费、安置补助费标准和耕地占用税、城镇土地使用税标准计算。</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②建设用地上的建</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构</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筑物如需迁建，其迁建补偿费应按迁建补偿协议计列或按新建同类工程造价计算。</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33193">
                                            <p:txEl>
                                              <p:charRg st="0" end="20"/>
                                            </p:txEl>
                                          </p:spTgt>
                                        </p:tgtEl>
                                        <p:attrNameLst>
                                          <p:attrName>style.visibility</p:attrName>
                                        </p:attrNameLst>
                                      </p:cBhvr>
                                      <p:to>
                                        <p:strVal val="visible"/>
                                      </p:to>
                                    </p:set>
                                    <p:animEffect transition="in" filter="slide(fromBottom)">
                                      <p:cBhvr>
                                        <p:cTn id="7" dur="500"/>
                                        <p:tgtEl>
                                          <p:spTgt spid="733193">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33193">
                                            <p:txEl>
                                              <p:charRg st="20" end="70"/>
                                            </p:txEl>
                                          </p:spTgt>
                                        </p:tgtEl>
                                        <p:attrNameLst>
                                          <p:attrName>style.visibility</p:attrName>
                                        </p:attrNameLst>
                                      </p:cBhvr>
                                      <p:to>
                                        <p:strVal val="visible"/>
                                      </p:to>
                                    </p:set>
                                    <p:animEffect transition="in" filter="slide(fromBottom)">
                                      <p:cBhvr>
                                        <p:cTn id="12" dur="500"/>
                                        <p:tgtEl>
                                          <p:spTgt spid="733193">
                                            <p:txEl>
                                              <p:charRg st="20" end="7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33193">
                                            <p:txEl>
                                              <p:charRg st="70" end="92"/>
                                            </p:txEl>
                                          </p:spTgt>
                                        </p:tgtEl>
                                        <p:attrNameLst>
                                          <p:attrName>style.visibility</p:attrName>
                                        </p:attrNameLst>
                                      </p:cBhvr>
                                      <p:to>
                                        <p:strVal val="visible"/>
                                      </p:to>
                                    </p:set>
                                    <p:animEffect transition="in" filter="slide(fromBottom)">
                                      <p:cBhvr>
                                        <p:cTn id="17" dur="500"/>
                                        <p:tgtEl>
                                          <p:spTgt spid="733193">
                                            <p:txEl>
                                              <p:charRg st="70" end="9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33193">
                                            <p:txEl>
                                              <p:charRg st="92" end="177"/>
                                            </p:txEl>
                                          </p:spTgt>
                                        </p:tgtEl>
                                        <p:attrNameLst>
                                          <p:attrName>style.visibility</p:attrName>
                                        </p:attrNameLst>
                                      </p:cBhvr>
                                      <p:to>
                                        <p:strVal val="visible"/>
                                      </p:to>
                                    </p:set>
                                    <p:animEffect transition="in" filter="slide(fromBottom)">
                                      <p:cBhvr>
                                        <p:cTn id="22" dur="500"/>
                                        <p:tgtEl>
                                          <p:spTgt spid="733193">
                                            <p:txEl>
                                              <p:charRg st="92" end="17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733193">
                                            <p:txEl>
                                              <p:charRg st="177" end="233"/>
                                            </p:txEl>
                                          </p:spTgt>
                                        </p:tgtEl>
                                        <p:attrNameLst>
                                          <p:attrName>style.visibility</p:attrName>
                                        </p:attrNameLst>
                                      </p:cBhvr>
                                      <p:to>
                                        <p:strVal val="visible"/>
                                      </p:to>
                                    </p:set>
                                    <p:animEffect transition="in" filter="slide(fromBottom)">
                                      <p:cBhvr>
                                        <p:cTn id="27" dur="500"/>
                                        <p:tgtEl>
                                          <p:spTgt spid="733193">
                                            <p:txEl>
                                              <p:charRg st="177" end="23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6737" name="Group 40"/>
          <p:cNvGrpSpPr/>
          <p:nvPr/>
        </p:nvGrpSpPr>
        <p:grpSpPr>
          <a:xfrm>
            <a:off x="7164388" y="-265112"/>
            <a:ext cx="1758950" cy="1606550"/>
            <a:chOff x="672" y="334"/>
            <a:chExt cx="1108" cy="1012"/>
          </a:xfrm>
        </p:grpSpPr>
        <p:pic>
          <p:nvPicPr>
            <p:cNvPr id="116738"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16739" name="Group 28"/>
            <p:cNvGrpSpPr/>
            <p:nvPr/>
          </p:nvGrpSpPr>
          <p:grpSpPr>
            <a:xfrm>
              <a:off x="864" y="1104"/>
              <a:ext cx="768" cy="242"/>
              <a:chOff x="-768" y="1440"/>
              <a:chExt cx="768" cy="242"/>
            </a:xfrm>
          </p:grpSpPr>
          <p:sp>
            <p:nvSpPr>
              <p:cNvPr id="116740"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16741"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6742"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6743"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34217" name="Text Box 9"/>
          <p:cNvSpPr txBox="1">
            <a:spLocks noChangeArrowheads="1"/>
          </p:cNvSpPr>
          <p:nvPr/>
        </p:nvSpPr>
        <p:spPr bwMode="auto">
          <a:xfrm>
            <a:off x="323850" y="908050"/>
            <a:ext cx="8640763"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00000"/>
              </a:lnSpc>
              <a:spcBef>
                <a:spcPct val="50000"/>
              </a:spcBef>
              <a:spcAft>
                <a:spcPct val="0"/>
              </a:spcAft>
              <a:buClrTx/>
              <a:buSzTx/>
              <a:buFontTx/>
              <a:buNone/>
              <a:defRPr/>
            </a:pPr>
            <a:r>
              <a:rPr kumimoji="0" lang="zh-CN" altLang="en-US" sz="2000" b="1"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2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建设单位管理费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指建设单位发生的管理性质的开支。</a:t>
            </a:r>
            <a:r>
              <a:rPr kumimoji="0" lang="zh-CN" altLang="en-US" sz="24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其费用定额及计算规则如下：</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0000"/>
              </a:lnSpc>
              <a:spcBef>
                <a:spcPct val="5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参照财政部财建</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[2002]394</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号</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基建财务管理规定</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执行。如表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6-22</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所示。</a:t>
            </a:r>
            <a:r>
              <a:rPr kumimoji="0" lang="zh-CN" altLang="en-US" sz="24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34217">
                                            <p:txEl>
                                              <p:charRg st="0" end="20"/>
                                            </p:txEl>
                                          </p:spTgt>
                                        </p:tgtEl>
                                        <p:attrNameLst>
                                          <p:attrName>style.visibility</p:attrName>
                                        </p:attrNameLst>
                                      </p:cBhvr>
                                      <p:to>
                                        <p:strVal val="visible"/>
                                      </p:to>
                                    </p:set>
                                    <p:animEffect transition="in" filter="slide(fromBottom)">
                                      <p:cBhvr>
                                        <p:cTn id="7" dur="500"/>
                                        <p:tgtEl>
                                          <p:spTgt spid="734217">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34217">
                                            <p:txEl>
                                              <p:charRg st="20" end="46"/>
                                            </p:txEl>
                                          </p:spTgt>
                                        </p:tgtEl>
                                        <p:attrNameLst>
                                          <p:attrName>style.visibility</p:attrName>
                                        </p:attrNameLst>
                                      </p:cBhvr>
                                      <p:to>
                                        <p:strVal val="visible"/>
                                      </p:to>
                                    </p:set>
                                    <p:animEffect transition="in" filter="slide(fromBottom)">
                                      <p:cBhvr>
                                        <p:cTn id="12" dur="500"/>
                                        <p:tgtEl>
                                          <p:spTgt spid="734217">
                                            <p:txEl>
                                              <p:charRg st="20" end="4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34217">
                                            <p:txEl>
                                              <p:charRg st="46" end="68"/>
                                            </p:txEl>
                                          </p:spTgt>
                                        </p:tgtEl>
                                        <p:attrNameLst>
                                          <p:attrName>style.visibility</p:attrName>
                                        </p:attrNameLst>
                                      </p:cBhvr>
                                      <p:to>
                                        <p:strVal val="visible"/>
                                      </p:to>
                                    </p:set>
                                    <p:animEffect transition="in" filter="slide(fromBottom)">
                                      <p:cBhvr>
                                        <p:cTn id="17" dur="500"/>
                                        <p:tgtEl>
                                          <p:spTgt spid="734217">
                                            <p:txEl>
                                              <p:charRg st="46" end="6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34217">
                                            <p:txEl>
                                              <p:charRg st="68" end="117"/>
                                            </p:txEl>
                                          </p:spTgt>
                                        </p:tgtEl>
                                        <p:attrNameLst>
                                          <p:attrName>style.visibility</p:attrName>
                                        </p:attrNameLst>
                                      </p:cBhvr>
                                      <p:to>
                                        <p:strVal val="visible"/>
                                      </p:to>
                                    </p:set>
                                    <p:animEffect transition="in" filter="slide(fromBottom)">
                                      <p:cBhvr>
                                        <p:cTn id="22" dur="500"/>
                                        <p:tgtEl>
                                          <p:spTgt spid="734217">
                                            <p:txEl>
                                              <p:charRg st="68" end="1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Rectangle 2"/>
          <p:cNvSpPr/>
          <p:nvPr/>
        </p:nvSpPr>
        <p:spPr>
          <a:xfrm>
            <a:off x="2498725" y="620713"/>
            <a:ext cx="4087813" cy="581025"/>
          </a:xfrm>
          <a:prstGeom prst="rect">
            <a:avLst/>
          </a:prstGeom>
          <a:noFill/>
          <a:ln w="9525">
            <a:noFill/>
          </a:ln>
        </p:spPr>
        <p:txBody>
          <a:bodyPr wrap="none" anchor="ctr" anchorCtr="0">
            <a:spAutoFit/>
          </a:bodyPr>
          <a:p>
            <a:pPr indent="228600" algn="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6-22 </a:t>
            </a:r>
            <a:r>
              <a:rPr lang="zh-CN" altLang="en-US" sz="1600" b="0" dirty="0">
                <a:solidFill>
                  <a:schemeClr val="tx1"/>
                </a:solidFill>
                <a:latin typeface="Times New Roman" panose="02020603050405020304" pitchFamily="18" charset="0"/>
                <a:ea typeface="宋体" panose="02010600030101010101" pitchFamily="2" charset="-122"/>
              </a:rPr>
              <a:t>建设单位管理费总额控制数费率表</a:t>
            </a:r>
            <a:endParaRPr lang="zh-CN" altLang="en-US" sz="1600" b="0" dirty="0">
              <a:solidFill>
                <a:schemeClr val="tx1"/>
              </a:solidFill>
              <a:latin typeface="Times New Roman" panose="02020603050405020304" pitchFamily="18" charset="0"/>
              <a:ea typeface="宋体" panose="02010600030101010101" pitchFamily="2" charset="-122"/>
            </a:endParaRPr>
          </a:p>
          <a:p>
            <a:pPr indent="228600" algn="r" eaLnBrk="0" hangingPunct="0"/>
            <a:r>
              <a:rPr lang="zh-CN" altLang="en-US" sz="1600" b="0" dirty="0">
                <a:solidFill>
                  <a:schemeClr val="tx1"/>
                </a:solidFill>
                <a:latin typeface="Times New Roman" panose="02020603050405020304" pitchFamily="18" charset="0"/>
                <a:ea typeface="宋体" panose="02010600030101010101" pitchFamily="2" charset="-122"/>
              </a:rPr>
              <a:t>                                             单位：万元</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35235" name="Group 3"/>
          <p:cNvGraphicFramePr>
            <a:graphicFrameLocks noGrp="1"/>
          </p:cNvGraphicFramePr>
          <p:nvPr/>
        </p:nvGraphicFramePr>
        <p:xfrm>
          <a:off x="395288" y="1341438"/>
          <a:ext cx="8137525" cy="3687763"/>
        </p:xfrm>
        <a:graphic>
          <a:graphicData uri="http://schemas.openxmlformats.org/drawingml/2006/table">
            <a:tbl>
              <a:tblPr/>
              <a:tblGrid>
                <a:gridCol w="1820862"/>
                <a:gridCol w="1131888"/>
                <a:gridCol w="1274762"/>
                <a:gridCol w="3910013"/>
              </a:tblGrid>
              <a:tr h="335251">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工程总概算</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grid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算             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r>
              <a:tr h="335251">
                <a:tc vMerge="1">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工程总概算</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建设单位管理费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5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以下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1000×1.5%=15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5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1001</a:t>
                      </a:r>
                      <a:r>
                        <a:rPr kumimoji="0" lang="en-US" altLang="zh-CN" sz="1600" b="0" i="0" u="none" strike="noStrike" cap="none" normalizeH="0" baseline="0" smtClean="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1.2</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15+(5000-1000) ×1.2%=63</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5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5001</a:t>
                      </a:r>
                      <a:r>
                        <a:rPr kumimoji="0" lang="en-US" altLang="zh-CN" sz="1600" b="0" i="0" u="none" strike="noStrike" cap="none" normalizeH="0" baseline="0" smtClean="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63+(10000-5000) ×1.0%=113</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51">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工程总概算</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gridSpan="2">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算             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hMerge="1">
                  <a:tcPr/>
                </a:tc>
              </a:tr>
              <a:tr h="335251">
                <a:tc vMerge="1">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工程总概算</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建设单位管理费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5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10001</a:t>
                      </a:r>
                      <a:r>
                        <a:rPr kumimoji="0" lang="en-US" altLang="zh-CN" sz="1600" b="0" i="0" u="none" strike="noStrike" cap="none" normalizeH="0" baseline="0" smtClean="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0.8</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113+(50000-10000) ×0.8%=433</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5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50001</a:t>
                      </a:r>
                      <a:r>
                        <a:rPr kumimoji="0" lang="en-US" altLang="zh-CN" sz="1600" b="0" i="0" u="none" strike="noStrike" cap="none" normalizeH="0" baseline="0" smtClean="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433+(100000-50000) ×0.5%=683</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5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100001</a:t>
                      </a:r>
                      <a:r>
                        <a:rPr kumimoji="0" lang="en-US" altLang="zh-CN" sz="1600" b="0" i="0" u="none" strike="noStrike" cap="none" normalizeH="0" baseline="0" smtClean="0">
                          <a:ln>
                            <a:noFill/>
                          </a:ln>
                          <a:solidFill>
                            <a:schemeClr val="tx1"/>
                          </a:solidFill>
                          <a:effectLst/>
                          <a:latin typeface="Times New Roman" panose="02020603050405020304" pitchFamily="18" charset="0"/>
                          <a:ea typeface="仿宋_GB2312" pitchFamily="49" charset="-122"/>
                          <a:cs typeface="Times New Roman" panose="02020603050405020304" pitchFamily="18" charset="0"/>
                        </a:rPr>
                        <a:t>—</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0.2</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683+(200000-100000) ×0.2%=883</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251">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200000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以上</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280000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883+(280000-200000) ×0.1%=963</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16" marB="4571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
        <p:nvSpPr>
          <p:cNvPr id="117819" name="Rectangle 60"/>
          <p:cNvSpPr/>
          <p:nvPr/>
        </p:nvSpPr>
        <p:spPr>
          <a:xfrm>
            <a:off x="539750" y="5229225"/>
            <a:ext cx="8208963" cy="641350"/>
          </a:xfrm>
          <a:prstGeom prst="rect">
            <a:avLst/>
          </a:prstGeom>
          <a:noFill/>
          <a:ln w="9525">
            <a:noFill/>
          </a:ln>
        </p:spPr>
        <p:txBody>
          <a:bodyPr anchor="ctr" anchorCtr="0">
            <a:spAutoFit/>
          </a:bodyPr>
          <a:p>
            <a:pPr eaLnBrk="0" hangingPunct="0"/>
            <a:r>
              <a:rPr lang="zh-CN" altLang="en-US" sz="1800" dirty="0">
                <a:solidFill>
                  <a:schemeClr val="tx1"/>
                </a:solidFill>
                <a:latin typeface="华文细黑" panose="02010600040101010101" pitchFamily="2" charset="-122"/>
                <a:ea typeface="华文细黑" panose="02010600040101010101" pitchFamily="2" charset="-122"/>
              </a:rPr>
              <a:t>注：</a:t>
            </a:r>
            <a:r>
              <a:rPr lang="zh-CN" altLang="en-US" sz="1800" b="0" dirty="0">
                <a:solidFill>
                  <a:schemeClr val="tx1"/>
                </a:solidFill>
                <a:latin typeface="华文细黑" panose="02010600040101010101" pitchFamily="2" charset="-122"/>
                <a:ea typeface="华文细黑" panose="02010600040101010101" pitchFamily="2" charset="-122"/>
              </a:rPr>
              <a:t>如建设项目采用工程总承包方式，其总包管理费由建设单位与总包单位根据总包工作范围在合同中商定、从建设单位管理费中列支。 </a:t>
            </a:r>
            <a:endParaRPr lang="zh-CN" altLang="en-US" sz="1800" b="0" dirty="0">
              <a:solidFill>
                <a:schemeClr val="tx1"/>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8785" name="Group 40"/>
          <p:cNvGrpSpPr/>
          <p:nvPr/>
        </p:nvGrpSpPr>
        <p:grpSpPr>
          <a:xfrm>
            <a:off x="7164388" y="-265112"/>
            <a:ext cx="1758950" cy="1606550"/>
            <a:chOff x="672" y="334"/>
            <a:chExt cx="1108" cy="1012"/>
          </a:xfrm>
        </p:grpSpPr>
        <p:pic>
          <p:nvPicPr>
            <p:cNvPr id="118786"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18787" name="Group 28"/>
            <p:cNvGrpSpPr/>
            <p:nvPr/>
          </p:nvGrpSpPr>
          <p:grpSpPr>
            <a:xfrm>
              <a:off x="864" y="1104"/>
              <a:ext cx="768" cy="242"/>
              <a:chOff x="-768" y="1440"/>
              <a:chExt cx="768" cy="242"/>
            </a:xfrm>
          </p:grpSpPr>
          <p:sp>
            <p:nvSpPr>
              <p:cNvPr id="118788"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18789"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8790"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8791"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36265" name="Text Box 9"/>
          <p:cNvSpPr txBox="1"/>
          <p:nvPr/>
        </p:nvSpPr>
        <p:spPr>
          <a:xfrm>
            <a:off x="323850" y="908050"/>
            <a:ext cx="8640763" cy="2282825"/>
          </a:xfrm>
          <a:prstGeom prst="rect">
            <a:avLst/>
          </a:prstGeom>
          <a:noFill/>
          <a:ln w="9525">
            <a:noFill/>
          </a:ln>
        </p:spPr>
        <p:txBody>
          <a:bodyPr anchor="t" anchorCtr="0">
            <a:spAutoFit/>
          </a:bodyPr>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3 </a:t>
            </a:r>
            <a:r>
              <a:rPr lang="zh-CN" altLang="en-US" sz="2400" dirty="0">
                <a:solidFill>
                  <a:srgbClr val="336699"/>
                </a:solidFill>
                <a:latin typeface="Arial" panose="020B0604020202020204" pitchFamily="34" charset="0"/>
                <a:ea typeface="宋体" panose="02010600030101010101" pitchFamily="2" charset="-122"/>
              </a:rPr>
              <a:t>可行性研究费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指在建设项目前期工作中，编制和评估项目建议书</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或预可行性研究报告</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、可行性研究报告所需的费用。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参照</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国家计委关于印发</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建设项目前期工作咨询收费暂行规定</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的通知</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计投资</a:t>
            </a:r>
            <a:r>
              <a:rPr lang="en-US" altLang="zh-CN" sz="2400" dirty="0">
                <a:solidFill>
                  <a:schemeClr val="hlink"/>
                </a:solidFill>
                <a:latin typeface="Arial" panose="020B0604020202020204" pitchFamily="34" charset="0"/>
                <a:ea typeface="宋体" panose="02010600030101010101" pitchFamily="2" charset="-122"/>
              </a:rPr>
              <a:t>[1999]1283</a:t>
            </a:r>
            <a:r>
              <a:rPr lang="zh-CN" altLang="en-US" sz="2400" dirty="0">
                <a:solidFill>
                  <a:schemeClr val="hlink"/>
                </a:solidFill>
                <a:latin typeface="Arial" panose="020B0604020202020204" pitchFamily="34" charset="0"/>
                <a:ea typeface="宋体" panose="02010600030101010101" pitchFamily="2" charset="-122"/>
              </a:rPr>
              <a:t>号</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的规定。 </a:t>
            </a:r>
            <a:endParaRPr lang="zh-CN" altLang="en-US" sz="2400" dirty="0">
              <a:solidFill>
                <a:schemeClr val="hlink"/>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36265">
                                            <p:txEl>
                                              <p:charRg st="0" end="17"/>
                                            </p:txEl>
                                          </p:spTgt>
                                        </p:tgtEl>
                                        <p:attrNameLst>
                                          <p:attrName>style.visibility</p:attrName>
                                        </p:attrNameLst>
                                      </p:cBhvr>
                                      <p:to>
                                        <p:strVal val="visible"/>
                                      </p:to>
                                    </p:set>
                                    <p:animEffect transition="in" filter="slide(fromBottom)">
                                      <p:cBhvr>
                                        <p:cTn id="7" dur="500"/>
                                        <p:tgtEl>
                                          <p:spTgt spid="736265">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36265">
                                            <p:txEl>
                                              <p:charRg st="17" end="73"/>
                                            </p:txEl>
                                          </p:spTgt>
                                        </p:tgtEl>
                                        <p:attrNameLst>
                                          <p:attrName>style.visibility</p:attrName>
                                        </p:attrNameLst>
                                      </p:cBhvr>
                                      <p:to>
                                        <p:strVal val="visible"/>
                                      </p:to>
                                    </p:set>
                                    <p:animEffect transition="in" filter="slide(fromBottom)">
                                      <p:cBhvr>
                                        <p:cTn id="12" dur="500"/>
                                        <p:tgtEl>
                                          <p:spTgt spid="736265">
                                            <p:txEl>
                                              <p:charRg st="17" end="7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36265">
                                            <p:txEl>
                                              <p:charRg st="73" end="136"/>
                                            </p:txEl>
                                          </p:spTgt>
                                        </p:tgtEl>
                                        <p:attrNameLst>
                                          <p:attrName>style.visibility</p:attrName>
                                        </p:attrNameLst>
                                      </p:cBhvr>
                                      <p:to>
                                        <p:strVal val="visible"/>
                                      </p:to>
                                    </p:set>
                                    <p:animEffect transition="in" filter="slide(fromBottom)">
                                      <p:cBhvr>
                                        <p:cTn id="17" dur="500"/>
                                        <p:tgtEl>
                                          <p:spTgt spid="736265">
                                            <p:txEl>
                                              <p:charRg st="73" end="13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9809" name="Group 40"/>
          <p:cNvGrpSpPr/>
          <p:nvPr/>
        </p:nvGrpSpPr>
        <p:grpSpPr>
          <a:xfrm>
            <a:off x="7164388" y="-265112"/>
            <a:ext cx="1758950" cy="1606550"/>
            <a:chOff x="672" y="334"/>
            <a:chExt cx="1108" cy="1012"/>
          </a:xfrm>
        </p:grpSpPr>
        <p:pic>
          <p:nvPicPr>
            <p:cNvPr id="119810"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19811" name="Group 28"/>
            <p:cNvGrpSpPr/>
            <p:nvPr/>
          </p:nvGrpSpPr>
          <p:grpSpPr>
            <a:xfrm>
              <a:off x="864" y="1104"/>
              <a:ext cx="768" cy="242"/>
              <a:chOff x="-768" y="1440"/>
              <a:chExt cx="768" cy="242"/>
            </a:xfrm>
          </p:grpSpPr>
          <p:sp>
            <p:nvSpPr>
              <p:cNvPr id="119812"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19813"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9814"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19815"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37289" name="Text Box 9"/>
          <p:cNvSpPr txBox="1"/>
          <p:nvPr/>
        </p:nvSpPr>
        <p:spPr>
          <a:xfrm>
            <a:off x="323850" y="908050"/>
            <a:ext cx="8640763" cy="4656138"/>
          </a:xfrm>
          <a:prstGeom prst="rect">
            <a:avLst/>
          </a:prstGeom>
          <a:noFill/>
          <a:ln w="9525">
            <a:noFill/>
          </a:ln>
        </p:spPr>
        <p:txBody>
          <a:bodyPr anchor="t" anchorCtr="0">
            <a:spAutoFit/>
          </a:bodyPr>
          <a:p>
            <a:pPr marL="457200" indent="-457200">
              <a:spcBef>
                <a:spcPct val="40000"/>
              </a:spcBef>
            </a:pPr>
            <a:r>
              <a:rPr lang="zh-CN" altLang="en-US" dirty="0">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4 </a:t>
            </a:r>
            <a:r>
              <a:rPr lang="zh-CN" altLang="en-US" sz="2400" dirty="0">
                <a:solidFill>
                  <a:srgbClr val="336699"/>
                </a:solidFill>
                <a:latin typeface="Arial" panose="020B0604020202020204" pitchFamily="34" charset="0"/>
                <a:ea typeface="宋体" panose="02010600030101010101" pitchFamily="2" charset="-122"/>
              </a:rPr>
              <a:t>研究试验费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40000"/>
              </a:spcBef>
            </a:pPr>
            <a:r>
              <a:rPr lang="zh-CN" altLang="en-US" sz="2400" dirty="0">
                <a:solidFill>
                  <a:srgbClr val="336699"/>
                </a:solidFill>
                <a:latin typeface="Arial" panose="020B0604020202020204" pitchFamily="34" charset="0"/>
                <a:ea typeface="宋体" panose="02010600030101010101" pitchFamily="2" charset="-122"/>
              </a:rPr>
              <a:t>        指为本建设项目提供或验证设计数据、资料等进行必要的研究试验及按照设计规定在建设过程中必须进行试验、验证所需的费用。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40000"/>
              </a:spcBef>
            </a:pPr>
            <a:r>
              <a:rPr lang="zh-CN" altLang="en-US" sz="2400" dirty="0">
                <a:solidFill>
                  <a:srgbClr val="336699"/>
                </a:solidFill>
                <a:latin typeface="Arial" panose="020B0604020202020204" pitchFamily="34" charset="0"/>
                <a:ea typeface="宋体" panose="02010600030101010101" pitchFamily="2" charset="-122"/>
              </a:rPr>
              <a:t>       根据建设项目研究试验内容和要求进行编制。</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40000"/>
              </a:spcBef>
            </a:pPr>
            <a:r>
              <a:rPr lang="zh-CN" altLang="en-US" sz="2400" dirty="0">
                <a:solidFill>
                  <a:srgbClr val="336699"/>
                </a:solidFill>
                <a:latin typeface="Arial" panose="020B0604020202020204" pitchFamily="34" charset="0"/>
                <a:ea typeface="宋体" panose="02010600030101010101" pitchFamily="2" charset="-122"/>
              </a:rPr>
              <a:t>       研究试验费不包括以下项目：</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1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应由科技三项费用（即新产品试制费、中间试验费和重要科学研究补助费）开支的项目；</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1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应在建筑安装费用中列支的施工企业对材料、构件进行一般鉴定、检查所发生的费用及技术革新的研究试验费；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1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应由勘察设计费或工程费中开支的项目。</a:t>
            </a:r>
            <a:r>
              <a:rPr lang="zh-CN" altLang="en-US" sz="2400" dirty="0">
                <a:latin typeface="Arial" panose="020B0604020202020204" pitchFamily="34" charset="0"/>
                <a:ea typeface="宋体" panose="02010600030101010101" pitchFamily="2" charset="-122"/>
              </a:rPr>
              <a:t> </a:t>
            </a:r>
            <a:endParaRPr lang="zh-CN" altLang="en-US" sz="2400" dirty="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37289">
                                            <p:txEl>
                                              <p:charRg st="0" end="17"/>
                                            </p:txEl>
                                          </p:spTgt>
                                        </p:tgtEl>
                                        <p:attrNameLst>
                                          <p:attrName>style.visibility</p:attrName>
                                        </p:attrNameLst>
                                      </p:cBhvr>
                                      <p:to>
                                        <p:strVal val="visible"/>
                                      </p:to>
                                    </p:set>
                                    <p:animEffect transition="in" filter="slide(fromBottom)">
                                      <p:cBhvr>
                                        <p:cTn id="7" dur="500"/>
                                        <p:tgtEl>
                                          <p:spTgt spid="737289">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37289">
                                            <p:txEl>
                                              <p:charRg st="17" end="83"/>
                                            </p:txEl>
                                          </p:spTgt>
                                        </p:tgtEl>
                                        <p:attrNameLst>
                                          <p:attrName>style.visibility</p:attrName>
                                        </p:attrNameLst>
                                      </p:cBhvr>
                                      <p:to>
                                        <p:strVal val="visible"/>
                                      </p:to>
                                    </p:set>
                                    <p:animEffect transition="in" filter="slide(fromBottom)">
                                      <p:cBhvr>
                                        <p:cTn id="12" dur="500"/>
                                        <p:tgtEl>
                                          <p:spTgt spid="737289">
                                            <p:txEl>
                                              <p:charRg st="17" end="8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37289">
                                            <p:txEl>
                                              <p:charRg st="83" end="111"/>
                                            </p:txEl>
                                          </p:spTgt>
                                        </p:tgtEl>
                                        <p:attrNameLst>
                                          <p:attrName>style.visibility</p:attrName>
                                        </p:attrNameLst>
                                      </p:cBhvr>
                                      <p:to>
                                        <p:strVal val="visible"/>
                                      </p:to>
                                    </p:set>
                                    <p:animEffect transition="in" filter="slide(fromBottom)">
                                      <p:cBhvr>
                                        <p:cTn id="17" dur="500"/>
                                        <p:tgtEl>
                                          <p:spTgt spid="737289">
                                            <p:txEl>
                                              <p:charRg st="83" end="11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37289">
                                            <p:txEl>
                                              <p:charRg st="111" end="132"/>
                                            </p:txEl>
                                          </p:spTgt>
                                        </p:tgtEl>
                                        <p:attrNameLst>
                                          <p:attrName>style.visibility</p:attrName>
                                        </p:attrNameLst>
                                      </p:cBhvr>
                                      <p:to>
                                        <p:strVal val="visible"/>
                                      </p:to>
                                    </p:set>
                                    <p:animEffect transition="in" filter="slide(fromBottom)">
                                      <p:cBhvr>
                                        <p:cTn id="22" dur="500"/>
                                        <p:tgtEl>
                                          <p:spTgt spid="737289">
                                            <p:txEl>
                                              <p:charRg st="111" end="13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737289">
                                            <p:txEl>
                                              <p:charRg st="132" end="182"/>
                                            </p:txEl>
                                          </p:spTgt>
                                        </p:tgtEl>
                                        <p:attrNameLst>
                                          <p:attrName>style.visibility</p:attrName>
                                        </p:attrNameLst>
                                      </p:cBhvr>
                                      <p:to>
                                        <p:strVal val="visible"/>
                                      </p:to>
                                    </p:set>
                                    <p:animEffect transition="in" filter="slide(fromBottom)">
                                      <p:cBhvr>
                                        <p:cTn id="27" dur="500"/>
                                        <p:tgtEl>
                                          <p:spTgt spid="737289">
                                            <p:txEl>
                                              <p:charRg st="132" end="18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737289">
                                            <p:txEl>
                                              <p:charRg st="182" end="243"/>
                                            </p:txEl>
                                          </p:spTgt>
                                        </p:tgtEl>
                                        <p:attrNameLst>
                                          <p:attrName>style.visibility</p:attrName>
                                        </p:attrNameLst>
                                      </p:cBhvr>
                                      <p:to>
                                        <p:strVal val="visible"/>
                                      </p:to>
                                    </p:set>
                                    <p:animEffect transition="in" filter="slide(fromBottom)">
                                      <p:cBhvr>
                                        <p:cTn id="32" dur="500"/>
                                        <p:tgtEl>
                                          <p:spTgt spid="737289">
                                            <p:txEl>
                                              <p:charRg st="182" end="24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737289">
                                            <p:txEl>
                                              <p:charRg st="243" end="274"/>
                                            </p:txEl>
                                          </p:spTgt>
                                        </p:tgtEl>
                                        <p:attrNameLst>
                                          <p:attrName>style.visibility</p:attrName>
                                        </p:attrNameLst>
                                      </p:cBhvr>
                                      <p:to>
                                        <p:strVal val="visible"/>
                                      </p:to>
                                    </p:set>
                                    <p:animEffect transition="in" filter="slide(fromBottom)">
                                      <p:cBhvr>
                                        <p:cTn id="37" dur="500"/>
                                        <p:tgtEl>
                                          <p:spTgt spid="737289">
                                            <p:txEl>
                                              <p:charRg st="243" end="2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0833" name="Group 40"/>
          <p:cNvGrpSpPr/>
          <p:nvPr/>
        </p:nvGrpSpPr>
        <p:grpSpPr>
          <a:xfrm>
            <a:off x="7164388" y="-265112"/>
            <a:ext cx="1758950" cy="1606550"/>
            <a:chOff x="672" y="334"/>
            <a:chExt cx="1108" cy="1012"/>
          </a:xfrm>
        </p:grpSpPr>
        <p:pic>
          <p:nvPicPr>
            <p:cNvPr id="120834"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20835" name="Group 28"/>
            <p:cNvGrpSpPr/>
            <p:nvPr/>
          </p:nvGrpSpPr>
          <p:grpSpPr>
            <a:xfrm>
              <a:off x="864" y="1104"/>
              <a:ext cx="768" cy="242"/>
              <a:chOff x="-768" y="1440"/>
              <a:chExt cx="768" cy="242"/>
            </a:xfrm>
          </p:grpSpPr>
          <p:sp>
            <p:nvSpPr>
              <p:cNvPr id="120836"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20837"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0838"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0839"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38313" name="Text Box 9"/>
          <p:cNvSpPr txBox="1">
            <a:spLocks noChangeArrowheads="1"/>
          </p:cNvSpPr>
          <p:nvPr/>
        </p:nvSpPr>
        <p:spPr bwMode="auto">
          <a:xfrm>
            <a:off x="0" y="908050"/>
            <a:ext cx="8893175"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05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5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勘察设计费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5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指委托勘察设计单位进行工程水文地质勘察、工程设计所发生的各项费用。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5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包括：工程勘察费、初步设计费、施工图设计费。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5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该费用的取定参照国家计委、建设部</a:t>
            </a:r>
            <a:r>
              <a:rPr kumimoji="0" lang="en-US" altLang="zh-CN"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关于发布</a:t>
            </a:r>
            <a:r>
              <a:rPr kumimoji="0" lang="en-US" altLang="zh-CN"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工程勘察设计收费管理规定</a:t>
            </a:r>
            <a:r>
              <a:rPr kumimoji="0" lang="en-US" altLang="zh-CN"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的通知</a:t>
            </a:r>
            <a:r>
              <a:rPr kumimoji="0" lang="en-US" altLang="zh-CN"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计价格</a:t>
            </a:r>
            <a:r>
              <a:rPr kumimoji="0" lang="en-US" altLang="zh-CN"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[2002]10</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号</a:t>
            </a:r>
            <a:r>
              <a:rPr kumimoji="0" lang="en-US" altLang="zh-CN"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规定。</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5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①工程勘察费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5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→通信管道及光电缆线路工程勘察收费基价见表</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6-23</a:t>
            </a:r>
            <a:endPar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5000"/>
              </a:lnSpc>
              <a:spcBef>
                <a:spcPct val="20000"/>
              </a:spcBef>
              <a:spcAft>
                <a:spcPct val="0"/>
              </a:spcAft>
              <a:buClrTx/>
              <a:buSzTx/>
              <a:buFontTx/>
              <a:buNone/>
              <a:defRPr/>
            </a:pPr>
            <a:r>
              <a:rPr kumimoji="0" lang="en-US" altLang="zh-CN" sz="2400" b="1" i="0" u="none" strike="noStrike" kern="1200" cap="none" spc="0" normalizeH="0" baseline="0" noProof="0" smtClean="0">
                <a:ln>
                  <a:noFill/>
                </a:ln>
                <a:solidFill>
                  <a:srgbClr val="660033"/>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660033"/>
                </a:solidFill>
                <a:effectLst/>
                <a:uLnTx/>
                <a:uFillTx/>
                <a:latin typeface="Arial" panose="020B0604020202020204" pitchFamily="34" charset="0"/>
                <a:ea typeface="宋体" panose="02010600030101010101" pitchFamily="2" charset="-122"/>
                <a:cs typeface="+mn-cs"/>
                <a:hlinkClick r:id="rId2" action="ppaction://hlinkfile"/>
              </a:rPr>
              <a:t>通信管道及光电缆线路工程勘察收费基价表</a:t>
            </a:r>
            <a:r>
              <a:rPr kumimoji="0" lang="en-US" altLang="zh-CN" sz="2400" b="1" i="0" u="none" strike="noStrike" kern="1200" cap="none" spc="0" normalizeH="0" baseline="0" noProof="0" smtClean="0">
                <a:ln>
                  <a:noFill/>
                </a:ln>
                <a:solidFill>
                  <a:srgbClr val="660033"/>
                </a:solidFill>
                <a:effectLst/>
                <a:uLnTx/>
                <a:uFillTx/>
                <a:latin typeface="Arial" panose="020B0604020202020204" pitchFamily="34" charset="0"/>
                <a:ea typeface="宋体" panose="02010600030101010101" pitchFamily="2" charset="-122"/>
                <a:cs typeface="+mn-cs"/>
                <a:hlinkClick r:id="rId2" action="ppaction://hlinkfile"/>
              </a:rPr>
              <a:t>.doc</a:t>
            </a:r>
            <a:endParaRPr kumimoji="0" lang="en-US" altLang="zh-CN" sz="2400" b="1" i="0" u="none" strike="noStrike" kern="1200" cap="none" spc="0" normalizeH="0" baseline="0" noProof="0" smtClean="0">
              <a:ln>
                <a:noFill/>
              </a:ln>
              <a:solidFill>
                <a:srgbClr val="660033"/>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5000"/>
              </a:lnSpc>
              <a:spcBef>
                <a:spcPct val="20000"/>
              </a:spcBef>
              <a:spcAft>
                <a:spcPct val="0"/>
              </a:spcAft>
              <a:buClrTx/>
              <a:buSzTx/>
              <a:buFontTx/>
              <a:buNone/>
              <a:defRPr/>
            </a:pP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微波、卫星及移动通信设备安装工程勘察收费基价</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rgbClr val="660033"/>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05000"/>
              </a:lnSpc>
              <a:spcBef>
                <a:spcPct val="20000"/>
              </a:spcBef>
              <a:spcAft>
                <a:spcPct val="0"/>
              </a:spcAft>
              <a:buClrTx/>
              <a:buSzTx/>
              <a:buFontTx/>
              <a:buNone/>
              <a:defRPr/>
            </a:pPr>
            <a:r>
              <a:rPr kumimoji="0" lang="zh-CN" altLang="en-US" sz="2400" b="1" i="0" u="none" strike="noStrike" kern="1200" cap="none" spc="0" normalizeH="0" baseline="0" noProof="0" smtClean="0">
                <a:ln>
                  <a:noFill/>
                </a:ln>
                <a:solidFill>
                  <a:srgbClr val="660033"/>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660033"/>
                </a:solidFill>
                <a:effectLst/>
                <a:uLnTx/>
                <a:uFillTx/>
                <a:latin typeface="Arial" panose="020B0604020202020204" pitchFamily="34" charset="0"/>
                <a:ea typeface="宋体" panose="02010600030101010101" pitchFamily="2" charset="-122"/>
                <a:cs typeface="+mn-cs"/>
                <a:hlinkClick r:id="rId3" action="ppaction://hlinkfile"/>
              </a:rPr>
              <a:t>微波、卫星及移动通信设备安装工程勘察收费基价</a:t>
            </a:r>
            <a:r>
              <a:rPr kumimoji="0" lang="en-US" altLang="zh-CN" sz="2400" b="1" i="0" u="none" strike="noStrike" kern="1200" cap="none" spc="0" normalizeH="0" baseline="0" noProof="0" smtClean="0">
                <a:ln>
                  <a:noFill/>
                </a:ln>
                <a:solidFill>
                  <a:srgbClr val="660033"/>
                </a:solidFill>
                <a:effectLst/>
                <a:uLnTx/>
                <a:uFillTx/>
                <a:latin typeface="Arial" panose="020B0604020202020204" pitchFamily="34" charset="0"/>
                <a:ea typeface="宋体" panose="02010600030101010101" pitchFamily="2" charset="-122"/>
                <a:cs typeface="+mn-cs"/>
                <a:hlinkClick r:id="rId3" action="ppaction://hlinkfile"/>
              </a:rPr>
              <a:t>.doc</a:t>
            </a:r>
            <a:endParaRPr kumimoji="0" lang="en-US" altLang="zh-CN" sz="2400" b="1" i="0" u="none" strike="noStrike" kern="1200" cap="none" spc="0" normalizeH="0" baseline="0" noProof="0" smtClean="0">
              <a:ln>
                <a:noFill/>
              </a:ln>
              <a:solidFill>
                <a:srgbClr val="660033"/>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38313">
                                            <p:txEl>
                                              <p:charRg st="0" end="20"/>
                                            </p:txEl>
                                          </p:spTgt>
                                        </p:tgtEl>
                                        <p:attrNameLst>
                                          <p:attrName>style.visibility</p:attrName>
                                        </p:attrNameLst>
                                      </p:cBhvr>
                                      <p:to>
                                        <p:strVal val="visible"/>
                                      </p:to>
                                    </p:set>
                                    <p:animEffect transition="in" filter="slide(fromBottom)">
                                      <p:cBhvr>
                                        <p:cTn id="7" dur="500"/>
                                        <p:tgtEl>
                                          <p:spTgt spid="738313">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38313">
                                            <p:txEl>
                                              <p:charRg st="20" end="66"/>
                                            </p:txEl>
                                          </p:spTgt>
                                        </p:tgtEl>
                                        <p:attrNameLst>
                                          <p:attrName>style.visibility</p:attrName>
                                        </p:attrNameLst>
                                      </p:cBhvr>
                                      <p:to>
                                        <p:strVal val="visible"/>
                                      </p:to>
                                    </p:set>
                                    <p:animEffect transition="in" filter="diamond(in)">
                                      <p:cBhvr>
                                        <p:cTn id="12" dur="2000"/>
                                        <p:tgtEl>
                                          <p:spTgt spid="738313">
                                            <p:txEl>
                                              <p:charRg st="20" end="6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38313">
                                            <p:txEl>
                                              <p:charRg st="66" end="102"/>
                                            </p:txEl>
                                          </p:spTgt>
                                        </p:tgtEl>
                                        <p:attrNameLst>
                                          <p:attrName>style.visibility</p:attrName>
                                        </p:attrNameLst>
                                      </p:cBhvr>
                                      <p:to>
                                        <p:strVal val="visible"/>
                                      </p:to>
                                    </p:set>
                                    <p:animEffect transition="in" filter="checkerboard(across)">
                                      <p:cBhvr>
                                        <p:cTn id="17" dur="500"/>
                                        <p:tgtEl>
                                          <p:spTgt spid="738313">
                                            <p:txEl>
                                              <p:charRg st="66" end="10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38313">
                                            <p:txEl>
                                              <p:charRg st="102" end="172"/>
                                            </p:txEl>
                                          </p:spTgt>
                                        </p:tgtEl>
                                        <p:attrNameLst>
                                          <p:attrName>style.visibility</p:attrName>
                                        </p:attrNameLst>
                                      </p:cBhvr>
                                      <p:to>
                                        <p:strVal val="visible"/>
                                      </p:to>
                                    </p:set>
                                    <p:animEffect transition="in" filter="checkerboard(across)">
                                      <p:cBhvr>
                                        <p:cTn id="22" dur="500"/>
                                        <p:tgtEl>
                                          <p:spTgt spid="738313">
                                            <p:txEl>
                                              <p:charRg st="102" end="17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1" fill="hold">
                                          <p:stCondLst>
                                            <p:cond delay="0"/>
                                          </p:stCondLst>
                                        </p:cTn>
                                        <p:tgtEl>
                                          <p:spTgt spid="738313">
                                            <p:txEl>
                                              <p:charRg st="172" end="193"/>
                                            </p:txEl>
                                          </p:spTgt>
                                        </p:tgtEl>
                                        <p:attrNameLst>
                                          <p:attrName>style.visibility</p:attrName>
                                        </p:attrNameLst>
                                      </p:cBhvr>
                                      <p:to>
                                        <p:strVal val="visible"/>
                                      </p:to>
                                    </p:set>
                                    <p:animEffect transition="in" filter="wedge">
                                      <p:cBhvr>
                                        <p:cTn id="27" dur="2000"/>
                                        <p:tgtEl>
                                          <p:spTgt spid="738313">
                                            <p:txEl>
                                              <p:charRg st="172" end="193"/>
                                            </p:txEl>
                                          </p:spTgt>
                                        </p:tgtEl>
                                      </p:cBhvr>
                                    </p:animEffect>
                                  </p:childTnLst>
                                </p:cTn>
                              </p:par>
                              <p:par>
                                <p:cTn id="28" presetID="20" presetClass="entr" presetSubtype="0" fill="hold" nodeType="withEffect">
                                  <p:stCondLst>
                                    <p:cond delay="0"/>
                                  </p:stCondLst>
                                  <p:childTnLst>
                                    <p:set>
                                      <p:cBhvr>
                                        <p:cTn id="29" dur="1" fill="hold">
                                          <p:stCondLst>
                                            <p:cond delay="0"/>
                                          </p:stCondLst>
                                        </p:cTn>
                                        <p:tgtEl>
                                          <p:spTgt spid="738313">
                                            <p:txEl>
                                              <p:charRg st="193" end="231"/>
                                            </p:txEl>
                                          </p:spTgt>
                                        </p:tgtEl>
                                        <p:attrNameLst>
                                          <p:attrName>style.visibility</p:attrName>
                                        </p:attrNameLst>
                                      </p:cBhvr>
                                      <p:to>
                                        <p:strVal val="visible"/>
                                      </p:to>
                                    </p:set>
                                    <p:animEffect transition="in" filter="wedge">
                                      <p:cBhvr>
                                        <p:cTn id="30" dur="2000"/>
                                        <p:tgtEl>
                                          <p:spTgt spid="738313">
                                            <p:txEl>
                                              <p:charRg st="193" end="231"/>
                                            </p:txEl>
                                          </p:spTgt>
                                        </p:tgtEl>
                                      </p:cBhvr>
                                    </p:animEffect>
                                  </p:childTnLst>
                                </p:cTn>
                              </p:par>
                              <p:par>
                                <p:cTn id="31" presetID="20" presetClass="entr" presetSubtype="0" fill="hold" nodeType="withEffect">
                                  <p:stCondLst>
                                    <p:cond delay="0"/>
                                  </p:stCondLst>
                                  <p:childTnLst>
                                    <p:set>
                                      <p:cBhvr>
                                        <p:cTn id="32" dur="1" fill="hold">
                                          <p:stCondLst>
                                            <p:cond delay="0"/>
                                          </p:stCondLst>
                                        </p:cTn>
                                        <p:tgtEl>
                                          <p:spTgt spid="738313">
                                            <p:txEl>
                                              <p:charRg st="231" end="271"/>
                                            </p:txEl>
                                          </p:spTgt>
                                        </p:tgtEl>
                                        <p:attrNameLst>
                                          <p:attrName>style.visibility</p:attrName>
                                        </p:attrNameLst>
                                      </p:cBhvr>
                                      <p:to>
                                        <p:strVal val="visible"/>
                                      </p:to>
                                    </p:set>
                                    <p:animEffect transition="in" filter="wedge">
                                      <p:cBhvr>
                                        <p:cTn id="33" dur="2000"/>
                                        <p:tgtEl>
                                          <p:spTgt spid="738313">
                                            <p:txEl>
                                              <p:charRg st="231" end="27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 presetClass="entr" presetSubtype="10" fill="hold" nodeType="clickEffect">
                                  <p:stCondLst>
                                    <p:cond delay="0"/>
                                  </p:stCondLst>
                                  <p:childTnLst>
                                    <p:set>
                                      <p:cBhvr>
                                        <p:cTn id="37" dur="1" fill="hold">
                                          <p:stCondLst>
                                            <p:cond delay="0"/>
                                          </p:stCondLst>
                                        </p:cTn>
                                        <p:tgtEl>
                                          <p:spTgt spid="738313">
                                            <p:txEl>
                                              <p:charRg st="271" end="308"/>
                                            </p:txEl>
                                          </p:spTgt>
                                        </p:tgtEl>
                                        <p:attrNameLst>
                                          <p:attrName>style.visibility</p:attrName>
                                        </p:attrNameLst>
                                      </p:cBhvr>
                                      <p:to>
                                        <p:strVal val="visible"/>
                                      </p:to>
                                    </p:set>
                                    <p:animEffect transition="in" filter="checkerboard(across)">
                                      <p:cBhvr>
                                        <p:cTn id="38" dur="500"/>
                                        <p:tgtEl>
                                          <p:spTgt spid="738313">
                                            <p:txEl>
                                              <p:charRg st="271" end="308"/>
                                            </p:txEl>
                                          </p:spTgt>
                                        </p:tgtEl>
                                      </p:cBhvr>
                                    </p:animEffect>
                                  </p:childTnLst>
                                </p:cTn>
                              </p:par>
                              <p:par>
                                <p:cTn id="39" presetID="5" presetClass="entr" presetSubtype="10" fill="hold" nodeType="withEffect">
                                  <p:stCondLst>
                                    <p:cond delay="0"/>
                                  </p:stCondLst>
                                  <p:childTnLst>
                                    <p:set>
                                      <p:cBhvr>
                                        <p:cTn id="40" dur="1" fill="hold">
                                          <p:stCondLst>
                                            <p:cond delay="0"/>
                                          </p:stCondLst>
                                        </p:cTn>
                                        <p:tgtEl>
                                          <p:spTgt spid="738313">
                                            <p:txEl>
                                              <p:charRg st="308" end="350"/>
                                            </p:txEl>
                                          </p:spTgt>
                                        </p:tgtEl>
                                        <p:attrNameLst>
                                          <p:attrName>style.visibility</p:attrName>
                                        </p:attrNameLst>
                                      </p:cBhvr>
                                      <p:to>
                                        <p:strVal val="visible"/>
                                      </p:to>
                                    </p:set>
                                    <p:animEffect transition="in" filter="checkerboard(across)">
                                      <p:cBhvr>
                                        <p:cTn id="41" dur="500"/>
                                        <p:tgtEl>
                                          <p:spTgt spid="738313">
                                            <p:txEl>
                                              <p:charRg st="308" end="3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1857" name="Group 40"/>
          <p:cNvGrpSpPr/>
          <p:nvPr/>
        </p:nvGrpSpPr>
        <p:grpSpPr>
          <a:xfrm>
            <a:off x="7164388" y="-265112"/>
            <a:ext cx="1758950" cy="1606550"/>
            <a:chOff x="672" y="334"/>
            <a:chExt cx="1108" cy="1012"/>
          </a:xfrm>
        </p:grpSpPr>
        <p:pic>
          <p:nvPicPr>
            <p:cNvPr id="121858"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21859" name="Group 28"/>
            <p:cNvGrpSpPr/>
            <p:nvPr/>
          </p:nvGrpSpPr>
          <p:grpSpPr>
            <a:xfrm>
              <a:off x="864" y="1104"/>
              <a:ext cx="768" cy="242"/>
              <a:chOff x="-768" y="1440"/>
              <a:chExt cx="768" cy="242"/>
            </a:xfrm>
          </p:grpSpPr>
          <p:sp>
            <p:nvSpPr>
              <p:cNvPr id="121860"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21861"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1862"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1863"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39337" name="Text Box 9"/>
          <p:cNvSpPr txBox="1"/>
          <p:nvPr/>
        </p:nvSpPr>
        <p:spPr>
          <a:xfrm>
            <a:off x="250825" y="476250"/>
            <a:ext cx="8640763" cy="49117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②工程设计费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→基价  </a:t>
            </a:r>
            <a:r>
              <a:rPr lang="zh-CN" altLang="en-US" sz="2400" dirty="0">
                <a:solidFill>
                  <a:srgbClr val="336699"/>
                </a:solidFill>
                <a:latin typeface="Arial" panose="020B0604020202020204" pitchFamily="34" charset="0"/>
                <a:ea typeface="宋体" panose="02010600030101010101" pitchFamily="2" charset="-122"/>
                <a:hlinkClick r:id="rId2" action="ppaction://hlinkfile"/>
              </a:rPr>
              <a:t>工程设计收费基价表</a:t>
            </a:r>
            <a:r>
              <a:rPr lang="en-US" altLang="zh-CN" sz="2400" dirty="0">
                <a:solidFill>
                  <a:srgbClr val="336699"/>
                </a:solidFill>
                <a:latin typeface="Arial" panose="020B0604020202020204" pitchFamily="34" charset="0"/>
                <a:ea typeface="宋体" panose="02010600030101010101" pitchFamily="2" charset="-122"/>
                <a:hlinkClick r:id="rId2" action="ppaction://hlinkfile"/>
              </a:rPr>
              <a:t>.doc</a:t>
            </a:r>
            <a:endParaRPr lang="en-US" altLang="zh-CN"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en-US" altLang="zh-CN"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计算方法</a:t>
            </a:r>
            <a:endParaRPr lang="zh-CN" altLang="en-US" sz="2400" dirty="0">
              <a:solidFill>
                <a:schemeClr val="hlink"/>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→计费额</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①计费额</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建安费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设备工器具购置费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联合试运转费。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②利旧设备工程的计费额</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以签订工程设计合同时同类设备的当期价格作为工程设计收费的计费额。</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③引进设备工程的计费额</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按照购进设备的离岸价折换成人民币作为工程设计收费的计费额。</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121865" name="AutoShape 10"/>
          <p:cNvSpPr/>
          <p:nvPr/>
        </p:nvSpPr>
        <p:spPr>
          <a:xfrm>
            <a:off x="684213" y="1484313"/>
            <a:ext cx="217487" cy="287337"/>
          </a:xfrm>
          <a:prstGeom prst="diamond">
            <a:avLst/>
          </a:prstGeom>
          <a:solidFill>
            <a:srgbClr val="008000"/>
          </a:solid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39337">
                                            <p:txEl>
                                              <p:charRg st="0" end="13"/>
                                            </p:txEl>
                                          </p:spTgt>
                                        </p:tgtEl>
                                        <p:attrNameLst>
                                          <p:attrName>style.visibility</p:attrName>
                                        </p:attrNameLst>
                                      </p:cBhvr>
                                      <p:to>
                                        <p:strVal val="visible"/>
                                      </p:to>
                                    </p:set>
                                    <p:animEffect transition="in" filter="checkerboard(across)">
                                      <p:cBhvr>
                                        <p:cTn id="7" dur="500"/>
                                        <p:tgtEl>
                                          <p:spTgt spid="739337">
                                            <p:txEl>
                                              <p:charRg st="0" end="13"/>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739337">
                                            <p:txEl>
                                              <p:charRg st="13" end="39"/>
                                            </p:txEl>
                                          </p:spTgt>
                                        </p:tgtEl>
                                        <p:attrNameLst>
                                          <p:attrName>style.visibility</p:attrName>
                                        </p:attrNameLst>
                                      </p:cBhvr>
                                      <p:to>
                                        <p:strVal val="visible"/>
                                      </p:to>
                                    </p:set>
                                    <p:animEffect transition="in" filter="checkerboard(across)">
                                      <p:cBhvr>
                                        <p:cTn id="10" dur="500"/>
                                        <p:tgtEl>
                                          <p:spTgt spid="739337">
                                            <p:txEl>
                                              <p:charRg st="13" end="39"/>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4" presetClass="entr" presetSubtype="0" fill="hold" nodeType="clickEffect">
                                  <p:stCondLst>
                                    <p:cond delay="0"/>
                                  </p:stCondLst>
                                  <p:childTnLst>
                                    <p:set>
                                      <p:cBhvr>
                                        <p:cTn id="14" dur="1" fill="hold">
                                          <p:stCondLst>
                                            <p:cond delay="0"/>
                                          </p:stCondLst>
                                        </p:cTn>
                                        <p:tgtEl>
                                          <p:spTgt spid="739337">
                                            <p:txEl>
                                              <p:charRg st="39" end="52"/>
                                            </p:txEl>
                                          </p:spTgt>
                                        </p:tgtEl>
                                        <p:attrNameLst>
                                          <p:attrName>style.visibility</p:attrName>
                                        </p:attrNameLst>
                                      </p:cBhvr>
                                      <p:to>
                                        <p:strVal val="visible"/>
                                      </p:to>
                                    </p:set>
                                    <p:anim to="" calcmode="lin" valueType="num">
                                      <p:cBhvr>
                                        <p:cTn id="15" dur="1" fill="hold"/>
                                        <p:tgtEl>
                                          <p:spTgt spid="739337">
                                            <p:txEl>
                                              <p:charRg st="39" end="52"/>
                                            </p:txEl>
                                          </p:spTgt>
                                        </p:tgtEl>
                                        <p:attrNameLst>
                                          <p:attrName>style.visibility</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739337">
                                            <p:txEl>
                                              <p:charRg st="52" end="65"/>
                                            </p:txEl>
                                          </p:spTgt>
                                        </p:tgtEl>
                                        <p:attrNameLst>
                                          <p:attrName>style.visibility</p:attrName>
                                        </p:attrNameLst>
                                      </p:cBhvr>
                                      <p:to>
                                        <p:strVal val="visible"/>
                                      </p:to>
                                    </p:set>
                                    <p:anim to="" calcmode="lin" valueType="num">
                                      <p:cBhvr>
                                        <p:cTn id="18" dur="1" fill="hold"/>
                                        <p:tgtEl>
                                          <p:spTgt spid="739337">
                                            <p:txEl>
                                              <p:charRg st="52" end="65"/>
                                            </p:txEl>
                                          </p:spTgt>
                                        </p:tgtEl>
                                        <p:attrNameLst>
                                          <p:attrName>style.visibility</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739337">
                                            <p:txEl>
                                              <p:charRg st="65" end="103"/>
                                            </p:txEl>
                                          </p:spTgt>
                                        </p:tgtEl>
                                        <p:attrNameLst>
                                          <p:attrName>style.visibility</p:attrName>
                                        </p:attrNameLst>
                                      </p:cBhvr>
                                      <p:to>
                                        <p:strVal val="visible"/>
                                      </p:to>
                                    </p:set>
                                    <p:anim to="" calcmode="lin" valueType="num">
                                      <p:cBhvr>
                                        <p:cTn id="21" dur="1" fill="hold"/>
                                        <p:tgtEl>
                                          <p:spTgt spid="739337">
                                            <p:txEl>
                                              <p:charRg st="65" end="103"/>
                                            </p:txEl>
                                          </p:spTgt>
                                        </p:tgtEl>
                                        <p:attrNameLst>
                                          <p:attrName>style.visibility</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739337">
                                            <p:txEl>
                                              <p:charRg st="103" end="127"/>
                                            </p:txEl>
                                          </p:spTgt>
                                        </p:tgtEl>
                                        <p:attrNameLst>
                                          <p:attrName>style.visibility</p:attrName>
                                        </p:attrNameLst>
                                      </p:cBhvr>
                                      <p:to>
                                        <p:strVal val="visible"/>
                                      </p:to>
                                    </p:set>
                                    <p:anim to="" calcmode="lin" valueType="num">
                                      <p:cBhvr>
                                        <p:cTn id="24" dur="1" fill="hold"/>
                                        <p:tgtEl>
                                          <p:spTgt spid="739337">
                                            <p:txEl>
                                              <p:charRg st="103" end="127"/>
                                            </p:txEl>
                                          </p:spTgt>
                                        </p:tgtEl>
                                        <p:attrNameLst>
                                          <p:attrName>style.visibility</p:attrName>
                                        </p:attrNameLst>
                                      </p:cBhvr>
                                    </p:anim>
                                  </p:childTnLst>
                                </p:cTn>
                              </p:par>
                              <p:par>
                                <p:cTn id="25" presetID="24" presetClass="entr" presetSubtype="0" fill="hold" nodeType="withEffect">
                                  <p:stCondLst>
                                    <p:cond delay="0"/>
                                  </p:stCondLst>
                                  <p:childTnLst>
                                    <p:set>
                                      <p:cBhvr>
                                        <p:cTn id="26" dur="1" fill="hold">
                                          <p:stCondLst>
                                            <p:cond delay="0"/>
                                          </p:stCondLst>
                                        </p:cTn>
                                        <p:tgtEl>
                                          <p:spTgt spid="739337">
                                            <p:txEl>
                                              <p:charRg st="127" end="172"/>
                                            </p:txEl>
                                          </p:spTgt>
                                        </p:tgtEl>
                                        <p:attrNameLst>
                                          <p:attrName>style.visibility</p:attrName>
                                        </p:attrNameLst>
                                      </p:cBhvr>
                                      <p:to>
                                        <p:strVal val="visible"/>
                                      </p:to>
                                    </p:set>
                                    <p:anim to="" calcmode="lin" valueType="num">
                                      <p:cBhvr>
                                        <p:cTn id="27" dur="1" fill="hold"/>
                                        <p:tgtEl>
                                          <p:spTgt spid="739337">
                                            <p:txEl>
                                              <p:charRg st="127" end="172"/>
                                            </p:txEl>
                                          </p:spTgt>
                                        </p:tgtEl>
                                        <p:attrNameLst>
                                          <p:attrName>style.visibility</p:attrName>
                                        </p:attrNameLst>
                                      </p:cBhvr>
                                    </p:anim>
                                  </p:childTnLst>
                                </p:cTn>
                              </p:par>
                              <p:par>
                                <p:cTn id="28" presetID="24" presetClass="entr" presetSubtype="0" fill="hold" nodeType="withEffect">
                                  <p:stCondLst>
                                    <p:cond delay="0"/>
                                  </p:stCondLst>
                                  <p:childTnLst>
                                    <p:set>
                                      <p:cBhvr>
                                        <p:cTn id="29" dur="1" fill="hold">
                                          <p:stCondLst>
                                            <p:cond delay="0"/>
                                          </p:stCondLst>
                                        </p:cTn>
                                        <p:tgtEl>
                                          <p:spTgt spid="739337">
                                            <p:txEl>
                                              <p:charRg st="172" end="196"/>
                                            </p:txEl>
                                          </p:spTgt>
                                        </p:tgtEl>
                                        <p:attrNameLst>
                                          <p:attrName>style.visibility</p:attrName>
                                        </p:attrNameLst>
                                      </p:cBhvr>
                                      <p:to>
                                        <p:strVal val="visible"/>
                                      </p:to>
                                    </p:set>
                                    <p:anim to="" calcmode="lin" valueType="num">
                                      <p:cBhvr>
                                        <p:cTn id="30" dur="1" fill="hold"/>
                                        <p:tgtEl>
                                          <p:spTgt spid="739337">
                                            <p:txEl>
                                              <p:charRg st="172" end="196"/>
                                            </p:txEl>
                                          </p:spTgt>
                                        </p:tgtEl>
                                        <p:attrNameLst>
                                          <p:attrName>style.visibility</p:attrName>
                                        </p:attrNameLst>
                                      </p:cBhvr>
                                    </p:anim>
                                  </p:childTnLst>
                                </p:cTn>
                              </p:par>
                              <p:par>
                                <p:cTn id="31" presetID="24" presetClass="entr" presetSubtype="0" fill="hold" nodeType="withEffect">
                                  <p:stCondLst>
                                    <p:cond delay="0"/>
                                  </p:stCondLst>
                                  <p:childTnLst>
                                    <p:set>
                                      <p:cBhvr>
                                        <p:cTn id="32" dur="1" fill="hold">
                                          <p:stCondLst>
                                            <p:cond delay="0"/>
                                          </p:stCondLst>
                                        </p:cTn>
                                        <p:tgtEl>
                                          <p:spTgt spid="739337">
                                            <p:txEl>
                                              <p:charRg st="196" end="239"/>
                                            </p:txEl>
                                          </p:spTgt>
                                        </p:tgtEl>
                                        <p:attrNameLst>
                                          <p:attrName>style.visibility</p:attrName>
                                        </p:attrNameLst>
                                      </p:cBhvr>
                                      <p:to>
                                        <p:strVal val="visible"/>
                                      </p:to>
                                    </p:set>
                                    <p:anim to="" calcmode="lin" valueType="num">
                                      <p:cBhvr>
                                        <p:cTn id="33" dur="1" fill="hold"/>
                                        <p:tgtEl>
                                          <p:spTgt spid="739337">
                                            <p:txEl>
                                              <p:charRg st="196" end="239"/>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2881" name="Group 40"/>
          <p:cNvGrpSpPr/>
          <p:nvPr/>
        </p:nvGrpSpPr>
        <p:grpSpPr>
          <a:xfrm>
            <a:off x="7164388" y="-265112"/>
            <a:ext cx="1758950" cy="1606550"/>
            <a:chOff x="672" y="334"/>
            <a:chExt cx="1108" cy="1012"/>
          </a:xfrm>
        </p:grpSpPr>
        <p:pic>
          <p:nvPicPr>
            <p:cNvPr id="122882"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22883" name="Group 28"/>
            <p:cNvGrpSpPr/>
            <p:nvPr/>
          </p:nvGrpSpPr>
          <p:grpSpPr>
            <a:xfrm>
              <a:off x="864" y="1104"/>
              <a:ext cx="768" cy="242"/>
              <a:chOff x="-768" y="1440"/>
              <a:chExt cx="768" cy="242"/>
            </a:xfrm>
          </p:grpSpPr>
          <p:sp>
            <p:nvSpPr>
              <p:cNvPr id="122884"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22885"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2886"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2887"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0361" name="Text Box 9"/>
          <p:cNvSpPr txBox="1"/>
          <p:nvPr/>
        </p:nvSpPr>
        <p:spPr>
          <a:xfrm>
            <a:off x="179388" y="620713"/>
            <a:ext cx="8640762" cy="5021262"/>
          </a:xfrm>
          <a:prstGeom prst="rect">
            <a:avLst/>
          </a:prstGeom>
          <a:noFill/>
          <a:ln w="9525">
            <a:noFill/>
          </a:ln>
        </p:spPr>
        <p:txBody>
          <a:bodyPr anchor="t" anchorCtr="0">
            <a:spAutoFit/>
          </a:bodyPr>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按设计阶段计算设计费（直线内插法）</a:t>
            </a:r>
            <a:endParaRPr lang="zh-CN" altLang="en-US" sz="2400" dirty="0">
              <a:solidFill>
                <a:schemeClr val="hlink"/>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①一阶段设计</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计费额低于</a:t>
            </a:r>
            <a:r>
              <a:rPr lang="en-US" altLang="zh-CN" sz="2400" dirty="0">
                <a:solidFill>
                  <a:srgbClr val="336699"/>
                </a:solidFill>
                <a:latin typeface="Arial" panose="020B0604020202020204" pitchFamily="34" charset="0"/>
                <a:ea typeface="宋体" panose="02010600030101010101" pitchFamily="2" charset="-122"/>
              </a:rPr>
              <a:t>200</a:t>
            </a:r>
            <a:r>
              <a:rPr lang="zh-CN" altLang="en-US" sz="2400" dirty="0">
                <a:solidFill>
                  <a:srgbClr val="336699"/>
                </a:solidFill>
                <a:latin typeface="Arial" panose="020B0604020202020204" pitchFamily="34" charset="0"/>
                <a:ea typeface="宋体" panose="02010600030101010101" pitchFamily="2" charset="-122"/>
              </a:rPr>
              <a:t>万元的设计：设计费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计费额</a:t>
            </a:r>
            <a:r>
              <a:rPr lang="en-US" altLang="zh-CN" sz="2400" dirty="0">
                <a:solidFill>
                  <a:srgbClr val="336699"/>
                </a:solidFill>
                <a:latin typeface="Arial" panose="020B0604020202020204" pitchFamily="34" charset="0"/>
                <a:ea typeface="宋体" panose="02010600030101010101" pitchFamily="2" charset="-122"/>
              </a:rPr>
              <a:t>×0.045</a:t>
            </a:r>
            <a:r>
              <a:rPr lang="zh-CN" altLang="en-US" sz="2400" dirty="0">
                <a:solidFill>
                  <a:srgbClr val="336699"/>
                </a:solidFill>
                <a:latin typeface="Arial" panose="020B0604020202020204" pitchFamily="34" charset="0"/>
                <a:ea typeface="宋体" panose="02010600030101010101" pitchFamily="2" charset="-122"/>
              </a:rPr>
              <a:t>；计费额大于</a:t>
            </a:r>
            <a:r>
              <a:rPr lang="en-US" altLang="zh-CN" sz="2400" dirty="0">
                <a:solidFill>
                  <a:srgbClr val="336699"/>
                </a:solidFill>
                <a:latin typeface="Arial" panose="020B0604020202020204" pitchFamily="34" charset="0"/>
                <a:ea typeface="宋体" panose="02010600030101010101" pitchFamily="2" charset="-122"/>
              </a:rPr>
              <a:t>200</a:t>
            </a:r>
            <a:r>
              <a:rPr lang="zh-CN" altLang="en-US" sz="2400" dirty="0">
                <a:solidFill>
                  <a:srgbClr val="336699"/>
                </a:solidFill>
                <a:latin typeface="Arial" panose="020B0604020202020204" pitchFamily="34" charset="0"/>
                <a:ea typeface="宋体" panose="02010600030101010101" pitchFamily="2" charset="-122"/>
              </a:rPr>
              <a:t>万元的设计费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基价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内插值</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相应差值</a:t>
            </a:r>
            <a:r>
              <a:rPr lang="en-US" altLang="zh-CN" sz="2400" dirty="0">
                <a:solidFill>
                  <a:srgbClr val="336699"/>
                </a:solidFill>
                <a:latin typeface="Arial" panose="020B0604020202020204" pitchFamily="34" charset="0"/>
                <a:ea typeface="宋体" panose="02010600030101010101" pitchFamily="2" charset="-122"/>
              </a:rPr>
              <a:t>] ×100%</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②二阶段设计</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设计费总和需计列在初步设计概算内：设计费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基价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内插值</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相应差值</a:t>
            </a:r>
            <a:r>
              <a:rPr lang="en-US" altLang="zh-CN" sz="2400" dirty="0">
                <a:solidFill>
                  <a:srgbClr val="336699"/>
                </a:solidFill>
                <a:latin typeface="Arial" panose="020B0604020202020204" pitchFamily="34" charset="0"/>
                <a:ea typeface="宋体" panose="02010600030101010101" pitchFamily="2" charset="-122"/>
              </a:rPr>
              <a:t>] ×100%</a:t>
            </a:r>
            <a:r>
              <a:rPr lang="zh-CN" altLang="en-US" sz="2400" dirty="0">
                <a:solidFill>
                  <a:srgbClr val="336699"/>
                </a:solidFill>
                <a:latin typeface="Arial" panose="020B0604020202020204" pitchFamily="34" charset="0"/>
                <a:ea typeface="宋体" panose="02010600030101010101" pitchFamily="2" charset="-122"/>
              </a:rPr>
              <a:t>；分配如下：初步设计的设计费</a:t>
            </a:r>
            <a:r>
              <a:rPr lang="en-US" altLang="zh-CN" sz="2400"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基价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内插值</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相应差值</a:t>
            </a:r>
            <a:r>
              <a:rPr lang="en-US" altLang="zh-CN" sz="2400" dirty="0">
                <a:solidFill>
                  <a:srgbClr val="336699"/>
                </a:solidFill>
                <a:latin typeface="Arial" panose="020B0604020202020204" pitchFamily="34" charset="0"/>
                <a:ea typeface="宋体" panose="02010600030101010101" pitchFamily="2" charset="-122"/>
              </a:rPr>
              <a:t>] ×60%</a:t>
            </a:r>
            <a:r>
              <a:rPr lang="zh-CN" altLang="en-US" sz="2400" dirty="0">
                <a:solidFill>
                  <a:srgbClr val="336699"/>
                </a:solidFill>
                <a:latin typeface="Arial" panose="020B0604020202020204" pitchFamily="34" charset="0"/>
                <a:ea typeface="宋体" panose="02010600030101010101" pitchFamily="2" charset="-122"/>
              </a:rPr>
              <a:t>；施工图设计的设计费</a:t>
            </a:r>
            <a:r>
              <a:rPr lang="en-US" altLang="zh-CN" sz="2400"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基价</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内插值</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相应差值</a:t>
            </a:r>
            <a:r>
              <a:rPr lang="en-US" altLang="zh-CN" sz="2400" dirty="0">
                <a:solidFill>
                  <a:srgbClr val="336699"/>
                </a:solidFill>
                <a:latin typeface="Arial" panose="020B0604020202020204" pitchFamily="34" charset="0"/>
                <a:ea typeface="宋体" panose="02010600030101010101" pitchFamily="2" charset="-122"/>
              </a:rPr>
              <a:t>] ×40%</a:t>
            </a:r>
            <a:r>
              <a:rPr lang="zh-CN" altLang="en-US" sz="2400" dirty="0">
                <a:solidFill>
                  <a:srgbClr val="336699"/>
                </a:solidFill>
                <a:latin typeface="Arial" panose="020B0604020202020204" pitchFamily="34" charset="0"/>
                <a:ea typeface="宋体" panose="02010600030101010101" pitchFamily="2" charset="-122"/>
              </a:rPr>
              <a:t>。 </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施工图设计的勘察费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基价</a:t>
            </a:r>
            <a:r>
              <a:rPr lang="en-US" altLang="zh-CN" sz="2400" dirty="0">
                <a:solidFill>
                  <a:srgbClr val="336699"/>
                </a:solidFill>
                <a:latin typeface="Arial" panose="020B0604020202020204" pitchFamily="34" charset="0"/>
                <a:ea typeface="宋体" panose="02010600030101010101" pitchFamily="2" charset="-122"/>
              </a:rPr>
              <a:t>×40%</a:t>
            </a:r>
            <a:r>
              <a:rPr lang="zh-CN" altLang="en-US" sz="2400" dirty="0">
                <a:solidFill>
                  <a:srgbClr val="336699"/>
                </a:solidFill>
                <a:latin typeface="Arial" panose="020B0604020202020204" pitchFamily="34" charset="0"/>
                <a:ea typeface="宋体" panose="02010600030101010101" pitchFamily="2" charset="-122"/>
              </a:rPr>
              <a:t>，且勘察费综合计列在初步设计概算内。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40361">
                                            <p:txEl>
                                              <p:charRg st="0" end="27"/>
                                            </p:txEl>
                                          </p:spTgt>
                                        </p:tgtEl>
                                        <p:attrNameLst>
                                          <p:attrName>style.visibility</p:attrName>
                                        </p:attrNameLst>
                                      </p:cBhvr>
                                      <p:to>
                                        <p:strVal val="visible"/>
                                      </p:to>
                                    </p:set>
                                    <p:animEffect transition="in" filter="slide(fromBottom)">
                                      <p:cBhvr>
                                        <p:cTn id="7" dur="500"/>
                                        <p:tgtEl>
                                          <p:spTgt spid="740361">
                                            <p:txEl>
                                              <p:charRg st="0" end="2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40361">
                                            <p:txEl>
                                              <p:charRg st="27" end="42"/>
                                            </p:txEl>
                                          </p:spTgt>
                                        </p:tgtEl>
                                        <p:attrNameLst>
                                          <p:attrName>style.visibility</p:attrName>
                                        </p:attrNameLst>
                                      </p:cBhvr>
                                      <p:to>
                                        <p:strVal val="visible"/>
                                      </p:to>
                                    </p:set>
                                    <p:animEffect transition="in" filter="slide(fromBottom)">
                                      <p:cBhvr>
                                        <p:cTn id="12" dur="500"/>
                                        <p:tgtEl>
                                          <p:spTgt spid="740361">
                                            <p:txEl>
                                              <p:charRg st="27"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40361">
                                            <p:txEl>
                                              <p:charRg st="42" end="112"/>
                                            </p:txEl>
                                          </p:spTgt>
                                        </p:tgtEl>
                                        <p:attrNameLst>
                                          <p:attrName>style.visibility</p:attrName>
                                        </p:attrNameLst>
                                      </p:cBhvr>
                                      <p:to>
                                        <p:strVal val="visible"/>
                                      </p:to>
                                    </p:set>
                                    <p:animEffect transition="in" filter="slide(fromBottom)">
                                      <p:cBhvr>
                                        <p:cTn id="17" dur="500"/>
                                        <p:tgtEl>
                                          <p:spTgt spid="740361">
                                            <p:txEl>
                                              <p:charRg st="42" end="11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740361">
                                            <p:txEl>
                                              <p:charRg st="112" end="127"/>
                                            </p:txEl>
                                          </p:spTgt>
                                        </p:tgtEl>
                                        <p:attrNameLst>
                                          <p:attrName>style.visibility</p:attrName>
                                        </p:attrNameLst>
                                      </p:cBhvr>
                                      <p:to>
                                        <p:strVal val="visible"/>
                                      </p:to>
                                    </p:set>
                                    <p:animEffect transition="in" filter="slide(fromBottom)">
                                      <p:cBhvr>
                                        <p:cTn id="22" dur="500"/>
                                        <p:tgtEl>
                                          <p:spTgt spid="740361">
                                            <p:txEl>
                                              <p:charRg st="112" end="12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740361">
                                            <p:txEl>
                                              <p:charRg st="127" end="241"/>
                                            </p:txEl>
                                          </p:spTgt>
                                        </p:tgtEl>
                                        <p:attrNameLst>
                                          <p:attrName>style.visibility</p:attrName>
                                        </p:attrNameLst>
                                      </p:cBhvr>
                                      <p:to>
                                        <p:strVal val="visible"/>
                                      </p:to>
                                    </p:set>
                                    <p:animEffect transition="in" filter="slide(fromBottom)">
                                      <p:cBhvr>
                                        <p:cTn id="27" dur="500"/>
                                        <p:tgtEl>
                                          <p:spTgt spid="740361">
                                            <p:txEl>
                                              <p:charRg st="127" end="24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740361">
                                            <p:txEl>
                                              <p:charRg st="241" end="285"/>
                                            </p:txEl>
                                          </p:spTgt>
                                        </p:tgtEl>
                                        <p:attrNameLst>
                                          <p:attrName>style.visibility</p:attrName>
                                        </p:attrNameLst>
                                      </p:cBhvr>
                                      <p:to>
                                        <p:strVal val="visible"/>
                                      </p:to>
                                    </p:set>
                                    <p:animEffect transition="in" filter="slide(fromBottom)">
                                      <p:cBhvr>
                                        <p:cTn id="32" dur="500"/>
                                        <p:tgtEl>
                                          <p:spTgt spid="740361">
                                            <p:txEl>
                                              <p:charRg st="241" end="28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3905" name="Group 40"/>
          <p:cNvGrpSpPr/>
          <p:nvPr/>
        </p:nvGrpSpPr>
        <p:grpSpPr>
          <a:xfrm>
            <a:off x="7164388" y="-265112"/>
            <a:ext cx="1758950" cy="1606550"/>
            <a:chOff x="672" y="334"/>
            <a:chExt cx="1108" cy="1012"/>
          </a:xfrm>
        </p:grpSpPr>
        <p:pic>
          <p:nvPicPr>
            <p:cNvPr id="123906"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23907" name="Group 28"/>
            <p:cNvGrpSpPr/>
            <p:nvPr/>
          </p:nvGrpSpPr>
          <p:grpSpPr>
            <a:xfrm>
              <a:off x="864" y="1104"/>
              <a:ext cx="768" cy="242"/>
              <a:chOff x="-768" y="1440"/>
              <a:chExt cx="768" cy="242"/>
            </a:xfrm>
          </p:grpSpPr>
          <p:sp>
            <p:nvSpPr>
              <p:cNvPr id="123908"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23909"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3910"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3911"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1385" name="Text Box 9"/>
          <p:cNvSpPr txBox="1"/>
          <p:nvPr/>
        </p:nvSpPr>
        <p:spPr>
          <a:xfrm>
            <a:off x="0" y="908050"/>
            <a:ext cx="9144000" cy="31591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6  </a:t>
            </a:r>
            <a:r>
              <a:rPr lang="zh-CN" altLang="en-US" sz="2400" dirty="0">
                <a:solidFill>
                  <a:srgbClr val="336699"/>
                </a:solidFill>
                <a:latin typeface="Arial" panose="020B0604020202020204" pitchFamily="34" charset="0"/>
                <a:ea typeface="宋体" panose="02010600030101010101" pitchFamily="2" charset="-122"/>
              </a:rPr>
              <a:t>环境影响评价费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指按照</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中华人民共和国环境保护法</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中华人民共和国环境影响评价法</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等规定，为全面、详细评价本建设项目对环境可能产生的污染或造成的重大影响所需的费用。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该费用的取定参照国家计委、国家环境保护总局</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关于规范环境影响咨询收费有关问题的通知</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计价格</a:t>
            </a:r>
            <a:r>
              <a:rPr lang="en-US" altLang="zh-CN" sz="2400" dirty="0">
                <a:solidFill>
                  <a:schemeClr val="hlink"/>
                </a:solidFill>
                <a:latin typeface="Arial" panose="020B0604020202020204" pitchFamily="34" charset="0"/>
                <a:ea typeface="宋体" panose="02010600030101010101" pitchFamily="2" charset="-122"/>
              </a:rPr>
              <a:t>[2002]125</a:t>
            </a:r>
            <a:r>
              <a:rPr lang="zh-CN" altLang="en-US" sz="2400" dirty="0">
                <a:solidFill>
                  <a:schemeClr val="hlink"/>
                </a:solidFill>
                <a:latin typeface="Arial" panose="020B0604020202020204" pitchFamily="34" charset="0"/>
                <a:ea typeface="宋体" panose="02010600030101010101" pitchFamily="2" charset="-122"/>
              </a:rPr>
              <a:t>号</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规定。 </a:t>
            </a:r>
            <a:endParaRPr lang="zh-CN" altLang="en-US" sz="2400" dirty="0">
              <a:solidFill>
                <a:schemeClr val="hlink"/>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41385">
                                            <p:txEl>
                                              <p:charRg st="0" end="23"/>
                                            </p:txEl>
                                          </p:spTgt>
                                        </p:tgtEl>
                                        <p:attrNameLst>
                                          <p:attrName>style.visibility</p:attrName>
                                        </p:attrNameLst>
                                      </p:cBhvr>
                                      <p:to>
                                        <p:strVal val="visible"/>
                                      </p:to>
                                    </p:set>
                                    <p:animEffect transition="in" filter="slide(fromBottom)">
                                      <p:cBhvr>
                                        <p:cTn id="7" dur="500"/>
                                        <p:tgtEl>
                                          <p:spTgt spid="741385">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41385">
                                            <p:txEl>
                                              <p:charRg st="23" end="111"/>
                                            </p:txEl>
                                          </p:spTgt>
                                        </p:tgtEl>
                                        <p:attrNameLst>
                                          <p:attrName>style.visibility</p:attrName>
                                        </p:attrNameLst>
                                      </p:cBhvr>
                                      <p:to>
                                        <p:strVal val="visible"/>
                                      </p:to>
                                    </p:set>
                                    <p:animEffect transition="in" filter="diamond(in)">
                                      <p:cBhvr>
                                        <p:cTn id="12" dur="2000"/>
                                        <p:tgtEl>
                                          <p:spTgt spid="741385">
                                            <p:txEl>
                                              <p:charRg st="23" end="1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41385">
                                            <p:txEl>
                                              <p:charRg st="111" end="185"/>
                                            </p:txEl>
                                          </p:spTgt>
                                        </p:tgtEl>
                                        <p:attrNameLst>
                                          <p:attrName>style.visibility</p:attrName>
                                        </p:attrNameLst>
                                      </p:cBhvr>
                                      <p:to>
                                        <p:strVal val="visible"/>
                                      </p:to>
                                    </p:set>
                                    <p:animEffect transition="in" filter="wedge">
                                      <p:cBhvr>
                                        <p:cTn id="17" dur="2000"/>
                                        <p:tgtEl>
                                          <p:spTgt spid="741385">
                                            <p:txEl>
                                              <p:charRg st="111" end="18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4929" name="Group 40"/>
          <p:cNvGrpSpPr/>
          <p:nvPr/>
        </p:nvGrpSpPr>
        <p:grpSpPr>
          <a:xfrm>
            <a:off x="7164388" y="-265112"/>
            <a:ext cx="1758950" cy="1606550"/>
            <a:chOff x="672" y="334"/>
            <a:chExt cx="1108" cy="1012"/>
          </a:xfrm>
        </p:grpSpPr>
        <p:pic>
          <p:nvPicPr>
            <p:cNvPr id="124930"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24931" name="Group 28"/>
            <p:cNvGrpSpPr/>
            <p:nvPr/>
          </p:nvGrpSpPr>
          <p:grpSpPr>
            <a:xfrm>
              <a:off x="864" y="1104"/>
              <a:ext cx="768" cy="242"/>
              <a:chOff x="-768" y="1440"/>
              <a:chExt cx="768" cy="242"/>
            </a:xfrm>
          </p:grpSpPr>
          <p:sp>
            <p:nvSpPr>
              <p:cNvPr id="124932"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24933"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4934"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4935"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2409" name="Text Box 9"/>
          <p:cNvSpPr txBox="1"/>
          <p:nvPr/>
        </p:nvSpPr>
        <p:spPr>
          <a:xfrm>
            <a:off x="0" y="908050"/>
            <a:ext cx="9144000" cy="359727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7 </a:t>
            </a:r>
            <a:r>
              <a:rPr lang="zh-CN" altLang="en-US" sz="2400" dirty="0">
                <a:solidFill>
                  <a:srgbClr val="336699"/>
                </a:solidFill>
                <a:latin typeface="Arial" panose="020B0604020202020204" pitchFamily="34" charset="0"/>
                <a:ea typeface="宋体" panose="02010600030101010101" pitchFamily="2" charset="-122"/>
              </a:rPr>
              <a:t>劳动安全卫生评价费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指按照劳动部</a:t>
            </a:r>
            <a:r>
              <a:rPr lang="en-US" altLang="zh-CN" sz="2400" dirty="0">
                <a:solidFill>
                  <a:srgbClr val="336699"/>
                </a:solidFill>
                <a:latin typeface="Arial" panose="020B0604020202020204" pitchFamily="34" charset="0"/>
                <a:ea typeface="宋体" panose="02010600030101010101" pitchFamily="2" charset="-122"/>
              </a:rPr>
              <a:t>10</a:t>
            </a:r>
            <a:r>
              <a:rPr lang="zh-CN" altLang="en-US" sz="2400" dirty="0">
                <a:solidFill>
                  <a:srgbClr val="336699"/>
                </a:solidFill>
                <a:latin typeface="Arial" panose="020B0604020202020204" pitchFamily="34" charset="0"/>
                <a:ea typeface="宋体" panose="02010600030101010101" pitchFamily="2" charset="-122"/>
              </a:rPr>
              <a:t>号令（</a:t>
            </a:r>
            <a:r>
              <a:rPr lang="en-US" altLang="zh-CN" sz="2400" dirty="0">
                <a:solidFill>
                  <a:srgbClr val="336699"/>
                </a:solidFill>
                <a:latin typeface="Arial" panose="020B0604020202020204" pitchFamily="34" charset="0"/>
                <a:ea typeface="宋体" panose="02010600030101010101" pitchFamily="2" charset="-122"/>
              </a:rPr>
              <a:t>1998</a:t>
            </a:r>
            <a:r>
              <a:rPr lang="zh-CN" altLang="en-US" sz="2400" dirty="0">
                <a:solidFill>
                  <a:srgbClr val="336699"/>
                </a:solidFill>
                <a:latin typeface="Arial" panose="020B0604020202020204" pitchFamily="34" charset="0"/>
                <a:ea typeface="宋体" panose="02010600030101010101" pitchFamily="2" charset="-122"/>
              </a:rPr>
              <a:t>年</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月</a:t>
            </a:r>
            <a:r>
              <a:rPr lang="en-US" altLang="zh-CN" sz="2400" dirty="0">
                <a:solidFill>
                  <a:srgbClr val="336699"/>
                </a:solidFill>
                <a:latin typeface="Arial" panose="020B0604020202020204" pitchFamily="34" charset="0"/>
                <a:ea typeface="宋体" panose="02010600030101010101" pitchFamily="2" charset="-122"/>
              </a:rPr>
              <a:t>5</a:t>
            </a:r>
            <a:r>
              <a:rPr lang="zh-CN" altLang="en-US" sz="2400" dirty="0">
                <a:solidFill>
                  <a:srgbClr val="336699"/>
                </a:solidFill>
                <a:latin typeface="Arial" panose="020B0604020202020204" pitchFamily="34" charset="0"/>
                <a:ea typeface="宋体" panose="02010600030101010101" pitchFamily="2" charset="-122"/>
              </a:rPr>
              <a:t>日）</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建设项目</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工程</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劳动安全卫生预评价管理办法</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的规定，为预测和分析建设项目存在的职业危险、危害因素的种类和危险危害程度，并提出先进、科学、合理可行的劳动安全卫生技术和管理对策所需的费用。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该费用参照建设项目所在省</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市、自治区</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劳动行政部门规定的标准计算。 </a:t>
            </a:r>
            <a:endParaRPr lang="zh-CN" altLang="en-US" sz="2400" dirty="0">
              <a:solidFill>
                <a:schemeClr val="hlink"/>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42409">
                                            <p:txEl>
                                              <p:charRg st="0" end="25"/>
                                            </p:txEl>
                                          </p:spTgt>
                                        </p:tgtEl>
                                        <p:attrNameLst>
                                          <p:attrName>style.visibility</p:attrName>
                                        </p:attrNameLst>
                                      </p:cBhvr>
                                      <p:to>
                                        <p:strVal val="visible"/>
                                      </p:to>
                                    </p:set>
                                    <p:animEffect transition="in" filter="slide(fromBottom)">
                                      <p:cBhvr>
                                        <p:cTn id="7" dur="500"/>
                                        <p:tgtEl>
                                          <p:spTgt spid="742409">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42409">
                                            <p:txEl>
                                              <p:charRg st="25" end="153"/>
                                            </p:txEl>
                                          </p:spTgt>
                                        </p:tgtEl>
                                        <p:attrNameLst>
                                          <p:attrName>style.visibility</p:attrName>
                                        </p:attrNameLst>
                                      </p:cBhvr>
                                      <p:to>
                                        <p:strVal val="visible"/>
                                      </p:to>
                                    </p:set>
                                    <p:animEffect transition="in" filter="checkerboard(across)">
                                      <p:cBhvr>
                                        <p:cTn id="12" dur="500"/>
                                        <p:tgtEl>
                                          <p:spTgt spid="742409">
                                            <p:txEl>
                                              <p:charRg st="25" end="15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42409">
                                            <p:txEl>
                                              <p:charRg st="153" end="201"/>
                                            </p:txEl>
                                          </p:spTgt>
                                        </p:tgtEl>
                                        <p:attrNameLst>
                                          <p:attrName>style.visibility</p:attrName>
                                        </p:attrNameLst>
                                      </p:cBhvr>
                                      <p:to>
                                        <p:strVal val="visible"/>
                                      </p:to>
                                    </p:set>
                                    <p:animEffect transition="in" filter="wedge">
                                      <p:cBhvr>
                                        <p:cTn id="17" dur="2000"/>
                                        <p:tgtEl>
                                          <p:spTgt spid="742409">
                                            <p:txEl>
                                              <p:charRg st="153" end="2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5953" name="Group 40"/>
          <p:cNvGrpSpPr/>
          <p:nvPr/>
        </p:nvGrpSpPr>
        <p:grpSpPr>
          <a:xfrm>
            <a:off x="7164388" y="-265112"/>
            <a:ext cx="1758950" cy="1606550"/>
            <a:chOff x="672" y="334"/>
            <a:chExt cx="1108" cy="1012"/>
          </a:xfrm>
        </p:grpSpPr>
        <p:pic>
          <p:nvPicPr>
            <p:cNvPr id="125954"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25955" name="Group 28"/>
            <p:cNvGrpSpPr/>
            <p:nvPr/>
          </p:nvGrpSpPr>
          <p:grpSpPr>
            <a:xfrm>
              <a:off x="864" y="1104"/>
              <a:ext cx="768" cy="242"/>
              <a:chOff x="-768" y="1440"/>
              <a:chExt cx="768" cy="242"/>
            </a:xfrm>
          </p:grpSpPr>
          <p:sp>
            <p:nvSpPr>
              <p:cNvPr id="125956"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25957"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5958"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5959"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3433" name="Text Box 9"/>
          <p:cNvSpPr txBox="1"/>
          <p:nvPr/>
        </p:nvSpPr>
        <p:spPr>
          <a:xfrm>
            <a:off x="0" y="908050"/>
            <a:ext cx="9144000" cy="1990725"/>
          </a:xfrm>
          <a:prstGeom prst="rect">
            <a:avLst/>
          </a:prstGeom>
          <a:noFill/>
          <a:ln w="9525">
            <a:noFill/>
          </a:ln>
        </p:spPr>
        <p:txBody>
          <a:bodyPr anchor="t" anchorCtr="0">
            <a:spAutoFit/>
          </a:bodyPr>
          <a:p>
            <a:pPr marL="457200" indent="-457200">
              <a:lnSpc>
                <a:spcPct val="12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8 </a:t>
            </a:r>
            <a:r>
              <a:rPr lang="zh-CN" altLang="en-US" sz="2400" dirty="0">
                <a:solidFill>
                  <a:srgbClr val="336699"/>
                </a:solidFill>
                <a:latin typeface="Arial" panose="020B0604020202020204" pitchFamily="34" charset="0"/>
                <a:ea typeface="宋体" panose="02010600030101010101" pitchFamily="2" charset="-122"/>
              </a:rPr>
              <a:t>建设工程监理费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指建设单位委托工程监理单位实施工程监理的费用。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该费用参照国家发改委、建设部</a:t>
            </a:r>
            <a:r>
              <a:rPr lang="en-US" altLang="zh-CN" sz="2400" dirty="0">
                <a:solidFill>
                  <a:schemeClr val="hlink"/>
                </a:solidFill>
                <a:latin typeface="Arial" panose="020B0604020202020204" pitchFamily="34" charset="0"/>
                <a:ea typeface="宋体" panose="02010600030101010101" pitchFamily="2" charset="-122"/>
              </a:rPr>
              <a:t>[2007]670</a:t>
            </a:r>
            <a:r>
              <a:rPr lang="zh-CN" altLang="en-US" sz="2400" dirty="0">
                <a:solidFill>
                  <a:schemeClr val="hlink"/>
                </a:solidFill>
                <a:latin typeface="Arial" panose="020B0604020202020204" pitchFamily="34" charset="0"/>
                <a:ea typeface="宋体" panose="02010600030101010101" pitchFamily="2" charset="-122"/>
              </a:rPr>
              <a:t>号文，关于</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建设工程监理与相关服务收费管理规定</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的通知进行计算。</a:t>
            </a:r>
            <a:endParaRPr lang="zh-CN" altLang="en-US" sz="2400" dirty="0">
              <a:solidFill>
                <a:schemeClr val="hlink"/>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43433">
                                            <p:txEl>
                                              <p:charRg st="0" end="23"/>
                                            </p:txEl>
                                          </p:spTgt>
                                        </p:tgtEl>
                                        <p:attrNameLst>
                                          <p:attrName>style.visibility</p:attrName>
                                        </p:attrNameLst>
                                      </p:cBhvr>
                                      <p:to>
                                        <p:strVal val="visible"/>
                                      </p:to>
                                    </p:set>
                                    <p:animEffect transition="in" filter="slide(fromBottom)">
                                      <p:cBhvr>
                                        <p:cTn id="7" dur="500"/>
                                        <p:tgtEl>
                                          <p:spTgt spid="743433">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43433">
                                            <p:txEl>
                                              <p:charRg st="23" end="60"/>
                                            </p:txEl>
                                          </p:spTgt>
                                        </p:tgtEl>
                                        <p:attrNameLst>
                                          <p:attrName>style.visibility</p:attrName>
                                        </p:attrNameLst>
                                      </p:cBhvr>
                                      <p:to>
                                        <p:strVal val="visible"/>
                                      </p:to>
                                    </p:set>
                                    <p:animEffect transition="in" filter="diamond(in)">
                                      <p:cBhvr>
                                        <p:cTn id="12" dur="2000"/>
                                        <p:tgtEl>
                                          <p:spTgt spid="743433">
                                            <p:txEl>
                                              <p:charRg st="23" end="6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43433">
                                            <p:txEl>
                                              <p:charRg st="60" end="129"/>
                                            </p:txEl>
                                          </p:spTgt>
                                        </p:tgtEl>
                                        <p:attrNameLst>
                                          <p:attrName>style.visibility</p:attrName>
                                        </p:attrNameLst>
                                      </p:cBhvr>
                                      <p:to>
                                        <p:strVal val="visible"/>
                                      </p:to>
                                    </p:set>
                                    <p:animEffect transition="in" filter="wedge">
                                      <p:cBhvr>
                                        <p:cTn id="17" dur="2000"/>
                                        <p:tgtEl>
                                          <p:spTgt spid="743433">
                                            <p:txEl>
                                              <p:charRg st="60" end="12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6977" name="Group 40"/>
          <p:cNvGrpSpPr/>
          <p:nvPr/>
        </p:nvGrpSpPr>
        <p:grpSpPr>
          <a:xfrm>
            <a:off x="7164388" y="-265112"/>
            <a:ext cx="1758950" cy="1606550"/>
            <a:chOff x="672" y="334"/>
            <a:chExt cx="1108" cy="1012"/>
          </a:xfrm>
        </p:grpSpPr>
        <p:pic>
          <p:nvPicPr>
            <p:cNvPr id="126978"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26979" name="Group 28"/>
            <p:cNvGrpSpPr/>
            <p:nvPr/>
          </p:nvGrpSpPr>
          <p:grpSpPr>
            <a:xfrm>
              <a:off x="864" y="1104"/>
              <a:ext cx="768" cy="242"/>
              <a:chOff x="-768" y="1440"/>
              <a:chExt cx="768" cy="242"/>
            </a:xfrm>
          </p:grpSpPr>
          <p:sp>
            <p:nvSpPr>
              <p:cNvPr id="126980"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26981"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6982"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6983"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4457" name="Text Box 9"/>
          <p:cNvSpPr txBox="1">
            <a:spLocks noChangeArrowheads="1"/>
          </p:cNvSpPr>
          <p:nvPr/>
        </p:nvSpPr>
        <p:spPr bwMode="auto">
          <a:xfrm>
            <a:off x="0" y="908050"/>
            <a:ext cx="9144000" cy="359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9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安全生产费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指施工企业按照国家有关规定和建筑施工安全标准，购置施工防护用具、落实安全施工措施以及改善安全生产条件所需要的各项费用。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该费用参照财政部、国家安全生产监督管理总局</a:t>
            </a:r>
            <a:r>
              <a:rPr kumimoji="0" lang="en-US" altLang="zh-CN"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高危行业企业安全生产费用财务管理暂行办法</a:t>
            </a:r>
            <a:r>
              <a:rPr kumimoji="0" lang="en-US" altLang="zh-CN"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财企</a:t>
            </a:r>
            <a:r>
              <a:rPr kumimoji="0" lang="en-US" altLang="zh-CN"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[2006]478</a:t>
            </a:r>
            <a:r>
              <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rPr>
              <a:t>号文的通知。</a:t>
            </a:r>
            <a:endParaRPr kumimoji="0" lang="zh-CN" altLang="en-US" sz="2400" b="1"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安全生产费按建筑安装工程费的</a:t>
            </a:r>
            <a:r>
              <a:rPr kumimoji="0" lang="en-US" altLang="zh-CN" sz="2400" b="1" i="0" u="none" strike="noStrike" kern="1200" cap="none" spc="0" normalizeH="0" baseline="0" noProof="0" smtClean="0">
                <a:ln>
                  <a:noFill/>
                </a:ln>
                <a:solidFill>
                  <a:srgbClr val="CC0000"/>
                </a:solidFill>
                <a:effectLst/>
                <a:uLnTx/>
                <a:uFillTx/>
                <a:latin typeface="华文隶书" panose="02010800040101010101" pitchFamily="2" charset="-122"/>
                <a:ea typeface="华文隶书" panose="02010800040101010101" pitchFamily="2" charset="-122"/>
                <a:cs typeface="+mn-cs"/>
              </a:rPr>
              <a:t>1.0%</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计取。</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44457">
                                            <p:txEl>
                                              <p:charRg st="0" end="20"/>
                                            </p:txEl>
                                          </p:spTgt>
                                        </p:tgtEl>
                                        <p:attrNameLst>
                                          <p:attrName>style.visibility</p:attrName>
                                        </p:attrNameLst>
                                      </p:cBhvr>
                                      <p:to>
                                        <p:strVal val="visible"/>
                                      </p:to>
                                    </p:set>
                                    <p:animEffect transition="in" filter="slide(fromBottom)">
                                      <p:cBhvr>
                                        <p:cTn id="7" dur="500"/>
                                        <p:tgtEl>
                                          <p:spTgt spid="744457">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44457">
                                            <p:txEl>
                                              <p:charRg st="20" end="91"/>
                                            </p:txEl>
                                          </p:spTgt>
                                        </p:tgtEl>
                                        <p:attrNameLst>
                                          <p:attrName>style.visibility</p:attrName>
                                        </p:attrNameLst>
                                      </p:cBhvr>
                                      <p:to>
                                        <p:strVal val="visible"/>
                                      </p:to>
                                    </p:set>
                                    <p:animEffect transition="in" filter="diamond(in)">
                                      <p:cBhvr>
                                        <p:cTn id="12" dur="2000"/>
                                        <p:tgtEl>
                                          <p:spTgt spid="744457">
                                            <p:txEl>
                                              <p:charRg st="20" end="9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44457">
                                            <p:txEl>
                                              <p:charRg st="91" end="163"/>
                                            </p:txEl>
                                          </p:spTgt>
                                        </p:tgtEl>
                                        <p:attrNameLst>
                                          <p:attrName>style.visibility</p:attrName>
                                        </p:attrNameLst>
                                      </p:cBhvr>
                                      <p:to>
                                        <p:strVal val="visible"/>
                                      </p:to>
                                    </p:set>
                                    <p:animEffect transition="in" filter="wedge">
                                      <p:cBhvr>
                                        <p:cTn id="17" dur="2000"/>
                                        <p:tgtEl>
                                          <p:spTgt spid="744457">
                                            <p:txEl>
                                              <p:charRg st="91" end="163"/>
                                            </p:txEl>
                                          </p:spTgt>
                                        </p:tgtEl>
                                      </p:cBhvr>
                                    </p:animEffect>
                                  </p:childTnLst>
                                </p:cTn>
                              </p:par>
                              <p:par>
                                <p:cTn id="18" presetID="20" presetClass="entr" presetSubtype="0" fill="hold" nodeType="withEffect">
                                  <p:stCondLst>
                                    <p:cond delay="0"/>
                                  </p:stCondLst>
                                  <p:childTnLst>
                                    <p:set>
                                      <p:cBhvr>
                                        <p:cTn id="19" dur="1" fill="hold">
                                          <p:stCondLst>
                                            <p:cond delay="0"/>
                                          </p:stCondLst>
                                        </p:cTn>
                                        <p:tgtEl>
                                          <p:spTgt spid="744457">
                                            <p:txEl>
                                              <p:charRg st="163" end="197"/>
                                            </p:txEl>
                                          </p:spTgt>
                                        </p:tgtEl>
                                        <p:attrNameLst>
                                          <p:attrName>style.visibility</p:attrName>
                                        </p:attrNameLst>
                                      </p:cBhvr>
                                      <p:to>
                                        <p:strVal val="visible"/>
                                      </p:to>
                                    </p:set>
                                    <p:animEffect transition="in" filter="wedge">
                                      <p:cBhvr>
                                        <p:cTn id="20" dur="2000"/>
                                        <p:tgtEl>
                                          <p:spTgt spid="744457">
                                            <p:txEl>
                                              <p:charRg st="163" end="1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8001" name="Group 40"/>
          <p:cNvGrpSpPr/>
          <p:nvPr/>
        </p:nvGrpSpPr>
        <p:grpSpPr>
          <a:xfrm>
            <a:off x="7164388" y="-265112"/>
            <a:ext cx="1758950" cy="1606550"/>
            <a:chOff x="672" y="334"/>
            <a:chExt cx="1108" cy="1012"/>
          </a:xfrm>
        </p:grpSpPr>
        <p:pic>
          <p:nvPicPr>
            <p:cNvPr id="128002"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28003" name="Group 28"/>
            <p:cNvGrpSpPr/>
            <p:nvPr/>
          </p:nvGrpSpPr>
          <p:grpSpPr>
            <a:xfrm>
              <a:off x="864" y="1104"/>
              <a:ext cx="768" cy="242"/>
              <a:chOff x="-768" y="1440"/>
              <a:chExt cx="768" cy="242"/>
            </a:xfrm>
          </p:grpSpPr>
          <p:sp>
            <p:nvSpPr>
              <p:cNvPr id="128004"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28005"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8006"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8007"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5481" name="Text Box 9"/>
          <p:cNvSpPr txBox="1"/>
          <p:nvPr/>
        </p:nvSpPr>
        <p:spPr>
          <a:xfrm>
            <a:off x="0" y="908050"/>
            <a:ext cx="9144000" cy="272097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10 </a:t>
            </a:r>
            <a:r>
              <a:rPr lang="zh-CN" altLang="en-US" sz="2400" dirty="0">
                <a:solidFill>
                  <a:srgbClr val="336699"/>
                </a:solidFill>
                <a:latin typeface="Arial" panose="020B0604020202020204" pitchFamily="34" charset="0"/>
                <a:ea typeface="宋体" panose="02010600030101010101" pitchFamily="2" charset="-122"/>
              </a:rPr>
              <a:t>工程质量监督费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指工程质量监督机构对通信工程进行质量监督所发生的费用。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该费用的取定参照国家发改委、财政部</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关于全面整顿住房建设收费取消部分收费项目的通知</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计价格</a:t>
            </a:r>
            <a:r>
              <a:rPr lang="en-US" altLang="zh-CN" sz="2400" dirty="0">
                <a:solidFill>
                  <a:schemeClr val="hlink"/>
                </a:solidFill>
                <a:latin typeface="Arial" panose="020B0604020202020204" pitchFamily="34" charset="0"/>
                <a:ea typeface="宋体" panose="02010600030101010101" pitchFamily="2" charset="-122"/>
              </a:rPr>
              <a:t>[2001]585</a:t>
            </a:r>
            <a:r>
              <a:rPr lang="zh-CN" altLang="en-US" sz="2400" dirty="0">
                <a:solidFill>
                  <a:schemeClr val="hlink"/>
                </a:solidFill>
                <a:latin typeface="Arial" panose="020B0604020202020204" pitchFamily="34" charset="0"/>
                <a:ea typeface="宋体" panose="02010600030101010101" pitchFamily="2" charset="-122"/>
              </a:rPr>
              <a:t>号文的相关规定。 </a:t>
            </a:r>
            <a:endParaRPr lang="zh-CN" altLang="en-US" sz="2400" dirty="0">
              <a:solidFill>
                <a:schemeClr val="hlink"/>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45481">
                                            <p:txEl>
                                              <p:charRg st="0" end="23"/>
                                            </p:txEl>
                                          </p:spTgt>
                                        </p:tgtEl>
                                        <p:attrNameLst>
                                          <p:attrName>style.visibility</p:attrName>
                                        </p:attrNameLst>
                                      </p:cBhvr>
                                      <p:to>
                                        <p:strVal val="visible"/>
                                      </p:to>
                                    </p:set>
                                    <p:animEffect transition="in" filter="slide(fromBottom)">
                                      <p:cBhvr>
                                        <p:cTn id="7" dur="500"/>
                                        <p:tgtEl>
                                          <p:spTgt spid="745481">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45481">
                                            <p:txEl>
                                              <p:charRg st="23" end="64"/>
                                            </p:txEl>
                                          </p:spTgt>
                                        </p:tgtEl>
                                        <p:attrNameLst>
                                          <p:attrName>style.visibility</p:attrName>
                                        </p:attrNameLst>
                                      </p:cBhvr>
                                      <p:to>
                                        <p:strVal val="visible"/>
                                      </p:to>
                                    </p:set>
                                    <p:animEffect transition="in" filter="diamond(in)">
                                      <p:cBhvr>
                                        <p:cTn id="12" dur="2000"/>
                                        <p:tgtEl>
                                          <p:spTgt spid="745481">
                                            <p:txEl>
                                              <p:charRg st="23" end="6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45481">
                                            <p:txEl>
                                              <p:charRg st="64" end="141"/>
                                            </p:txEl>
                                          </p:spTgt>
                                        </p:tgtEl>
                                        <p:attrNameLst>
                                          <p:attrName>style.visibility</p:attrName>
                                        </p:attrNameLst>
                                      </p:cBhvr>
                                      <p:to>
                                        <p:strVal val="visible"/>
                                      </p:to>
                                    </p:set>
                                    <p:animEffect transition="in" filter="wedge">
                                      <p:cBhvr>
                                        <p:cTn id="17" dur="2000"/>
                                        <p:tgtEl>
                                          <p:spTgt spid="745481">
                                            <p:txEl>
                                              <p:charRg st="64" end="14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9025" name="Group 40"/>
          <p:cNvGrpSpPr/>
          <p:nvPr/>
        </p:nvGrpSpPr>
        <p:grpSpPr>
          <a:xfrm>
            <a:off x="7164388" y="-265112"/>
            <a:ext cx="1758950" cy="1606550"/>
            <a:chOff x="672" y="334"/>
            <a:chExt cx="1108" cy="1012"/>
          </a:xfrm>
        </p:grpSpPr>
        <p:pic>
          <p:nvPicPr>
            <p:cNvPr id="129026"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29027" name="Group 28"/>
            <p:cNvGrpSpPr/>
            <p:nvPr/>
          </p:nvGrpSpPr>
          <p:grpSpPr>
            <a:xfrm>
              <a:off x="864" y="1104"/>
              <a:ext cx="768" cy="242"/>
              <a:chOff x="-768" y="1440"/>
              <a:chExt cx="768" cy="242"/>
            </a:xfrm>
          </p:grpSpPr>
          <p:sp>
            <p:nvSpPr>
              <p:cNvPr id="129028"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29029"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9030"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29031"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6505" name="Text Box 9"/>
          <p:cNvSpPr txBox="1"/>
          <p:nvPr/>
        </p:nvSpPr>
        <p:spPr>
          <a:xfrm>
            <a:off x="0" y="908050"/>
            <a:ext cx="9144000" cy="31591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11 </a:t>
            </a:r>
            <a:r>
              <a:rPr lang="zh-CN" altLang="en-US" sz="2400" dirty="0">
                <a:solidFill>
                  <a:srgbClr val="336699"/>
                </a:solidFill>
                <a:latin typeface="Arial" panose="020B0604020202020204" pitchFamily="34" charset="0"/>
                <a:ea typeface="宋体" panose="02010600030101010101" pitchFamily="2" charset="-122"/>
              </a:rPr>
              <a:t>工程定额测定费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指建设单位发包工程按规定上缴工程造价（定额）管理部门的费用。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该费用的取定参照国家发改委、财政部</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关于全面整顿住房建设收费取消部分收费项目的通知</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计价格</a:t>
            </a:r>
            <a:r>
              <a:rPr lang="en-US" altLang="zh-CN" sz="2400" dirty="0">
                <a:solidFill>
                  <a:schemeClr val="hlink"/>
                </a:solidFill>
                <a:latin typeface="Arial" panose="020B0604020202020204" pitchFamily="34" charset="0"/>
                <a:ea typeface="宋体" panose="02010600030101010101" pitchFamily="2" charset="-122"/>
              </a:rPr>
              <a:t>[2001]585</a:t>
            </a:r>
            <a:r>
              <a:rPr lang="zh-CN" altLang="en-US" sz="2400" dirty="0">
                <a:solidFill>
                  <a:schemeClr val="hlink"/>
                </a:solidFill>
                <a:latin typeface="Arial" panose="020B0604020202020204" pitchFamily="34" charset="0"/>
                <a:ea typeface="宋体" panose="02010600030101010101" pitchFamily="2" charset="-122"/>
              </a:rPr>
              <a:t>号文的相关规定。</a:t>
            </a:r>
            <a:endParaRPr lang="zh-CN" altLang="en-US" sz="2400" dirty="0">
              <a:solidFill>
                <a:schemeClr val="hlink"/>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收费标准按建安费的</a:t>
            </a:r>
            <a:r>
              <a:rPr lang="en-US" altLang="zh-CN" sz="2400" dirty="0">
                <a:solidFill>
                  <a:srgbClr val="CC0000"/>
                </a:solidFill>
                <a:latin typeface="华文隶书" panose="02010800040101010101" pitchFamily="2" charset="-122"/>
                <a:ea typeface="华文隶书" panose="02010800040101010101" pitchFamily="2" charset="-122"/>
              </a:rPr>
              <a:t>0.14%</a:t>
            </a:r>
            <a:r>
              <a:rPr lang="zh-CN" altLang="en-US" sz="2400" dirty="0">
                <a:solidFill>
                  <a:srgbClr val="336699"/>
                </a:solidFill>
                <a:latin typeface="Arial" panose="020B0604020202020204" pitchFamily="34" charset="0"/>
                <a:ea typeface="宋体" panose="02010600030101010101" pitchFamily="2" charset="-122"/>
              </a:rPr>
              <a:t>计取。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46505">
                                            <p:txEl>
                                              <p:charRg st="0" end="23"/>
                                            </p:txEl>
                                          </p:spTgt>
                                        </p:tgtEl>
                                        <p:attrNameLst>
                                          <p:attrName>style.visibility</p:attrName>
                                        </p:attrNameLst>
                                      </p:cBhvr>
                                      <p:to>
                                        <p:strVal val="visible"/>
                                      </p:to>
                                    </p:set>
                                    <p:animEffect transition="in" filter="slide(fromBottom)">
                                      <p:cBhvr>
                                        <p:cTn id="7" dur="500"/>
                                        <p:tgtEl>
                                          <p:spTgt spid="746505">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46505">
                                            <p:txEl>
                                              <p:charRg st="23" end="67"/>
                                            </p:txEl>
                                          </p:spTgt>
                                        </p:tgtEl>
                                        <p:attrNameLst>
                                          <p:attrName>style.visibility</p:attrName>
                                        </p:attrNameLst>
                                      </p:cBhvr>
                                      <p:to>
                                        <p:strVal val="visible"/>
                                      </p:to>
                                    </p:set>
                                    <p:animEffect transition="in" filter="diamond(in)">
                                      <p:cBhvr>
                                        <p:cTn id="12" dur="2000"/>
                                        <p:tgtEl>
                                          <p:spTgt spid="746505">
                                            <p:txEl>
                                              <p:charRg st="23"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46505">
                                            <p:txEl>
                                              <p:charRg st="67" end="143"/>
                                            </p:txEl>
                                          </p:spTgt>
                                        </p:tgtEl>
                                        <p:attrNameLst>
                                          <p:attrName>style.visibility</p:attrName>
                                        </p:attrNameLst>
                                      </p:cBhvr>
                                      <p:to>
                                        <p:strVal val="visible"/>
                                      </p:to>
                                    </p:set>
                                    <p:animEffect transition="in" filter="wedge">
                                      <p:cBhvr>
                                        <p:cTn id="17" dur="2000"/>
                                        <p:tgtEl>
                                          <p:spTgt spid="746505">
                                            <p:txEl>
                                              <p:charRg st="67" end="143"/>
                                            </p:txEl>
                                          </p:spTgt>
                                        </p:tgtEl>
                                      </p:cBhvr>
                                    </p:animEffect>
                                  </p:childTnLst>
                                </p:cTn>
                              </p:par>
                              <p:par>
                                <p:cTn id="18" presetID="20" presetClass="entr" presetSubtype="0" fill="hold" nodeType="withEffect">
                                  <p:stCondLst>
                                    <p:cond delay="0"/>
                                  </p:stCondLst>
                                  <p:childTnLst>
                                    <p:set>
                                      <p:cBhvr>
                                        <p:cTn id="19" dur="1" fill="hold">
                                          <p:stCondLst>
                                            <p:cond delay="0"/>
                                          </p:stCondLst>
                                        </p:cTn>
                                        <p:tgtEl>
                                          <p:spTgt spid="746505">
                                            <p:txEl>
                                              <p:charRg st="143" end="175"/>
                                            </p:txEl>
                                          </p:spTgt>
                                        </p:tgtEl>
                                        <p:attrNameLst>
                                          <p:attrName>style.visibility</p:attrName>
                                        </p:attrNameLst>
                                      </p:cBhvr>
                                      <p:to>
                                        <p:strVal val="visible"/>
                                      </p:to>
                                    </p:set>
                                    <p:animEffect transition="in" filter="wedge">
                                      <p:cBhvr>
                                        <p:cTn id="20" dur="2000"/>
                                        <p:tgtEl>
                                          <p:spTgt spid="746505">
                                            <p:txEl>
                                              <p:charRg st="143" end="17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0049" name="Group 40"/>
          <p:cNvGrpSpPr/>
          <p:nvPr/>
        </p:nvGrpSpPr>
        <p:grpSpPr>
          <a:xfrm>
            <a:off x="7164388" y="-265112"/>
            <a:ext cx="1758950" cy="1606550"/>
            <a:chOff x="672" y="334"/>
            <a:chExt cx="1108" cy="1012"/>
          </a:xfrm>
        </p:grpSpPr>
        <p:pic>
          <p:nvPicPr>
            <p:cNvPr id="130050"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30051" name="Group 28"/>
            <p:cNvGrpSpPr/>
            <p:nvPr/>
          </p:nvGrpSpPr>
          <p:grpSpPr>
            <a:xfrm>
              <a:off x="864" y="1104"/>
              <a:ext cx="768" cy="242"/>
              <a:chOff x="-768" y="1440"/>
              <a:chExt cx="768" cy="242"/>
            </a:xfrm>
          </p:grpSpPr>
          <p:sp>
            <p:nvSpPr>
              <p:cNvPr id="130052"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0053"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0054"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0055"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7529" name="Text Box 9"/>
          <p:cNvSpPr txBox="1"/>
          <p:nvPr/>
        </p:nvSpPr>
        <p:spPr>
          <a:xfrm>
            <a:off x="0" y="908050"/>
            <a:ext cx="9144000" cy="46196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12 </a:t>
            </a:r>
            <a:r>
              <a:rPr lang="zh-CN" altLang="en-US" sz="2400" dirty="0">
                <a:solidFill>
                  <a:srgbClr val="336699"/>
                </a:solidFill>
                <a:latin typeface="Arial" panose="020B0604020202020204" pitchFamily="34" charset="0"/>
                <a:ea typeface="宋体" panose="02010600030101010101" pitchFamily="2" charset="-122"/>
              </a:rPr>
              <a:t>引进技术和引进设备其他费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费用内容：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30000"/>
              </a:spcBef>
            </a:pPr>
            <a:r>
              <a:rPr lang="zh-CN" altLang="en-US" sz="2400" dirty="0">
                <a:solidFill>
                  <a:srgbClr val="336699"/>
                </a:solidFill>
                <a:latin typeface="Arial" panose="020B0604020202020204" pitchFamily="34" charset="0"/>
                <a:ea typeface="宋体" panose="02010600030101010101" pitchFamily="2" charset="-122"/>
              </a:rPr>
              <a:t>             ①引进项目图纸资料翻译复制费、备品备件测绘费；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30000"/>
              </a:spcBef>
            </a:pPr>
            <a:r>
              <a:rPr lang="zh-CN" altLang="en-US" sz="2400" dirty="0">
                <a:solidFill>
                  <a:srgbClr val="336699"/>
                </a:solidFill>
                <a:latin typeface="Arial" panose="020B0604020202020204" pitchFamily="34" charset="0"/>
                <a:ea typeface="宋体" panose="02010600030101010101" pitchFamily="2" charset="-122"/>
              </a:rPr>
              <a:t>             ②出国人员费用：包括买方人员出国设计联络、出国考察、联合设计、监造、培训等所发生的差旅费、生活费、制装费等。</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30000"/>
              </a:spcBef>
            </a:pPr>
            <a:r>
              <a:rPr lang="zh-CN" altLang="en-US" sz="2400" dirty="0">
                <a:solidFill>
                  <a:srgbClr val="336699"/>
                </a:solidFill>
                <a:latin typeface="Arial" panose="020B0604020202020204" pitchFamily="34" charset="0"/>
                <a:ea typeface="宋体" panose="02010600030101010101" pitchFamily="2" charset="-122"/>
              </a:rPr>
              <a:t>             ③来华人员费用：包括卖方来华工程技术人员的现场办公费用、往返现场交通费用、工资、食宿费用、接待费用等；</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30000"/>
              </a:spcBef>
            </a:pPr>
            <a:r>
              <a:rPr lang="zh-CN" altLang="en-US" sz="2400" dirty="0">
                <a:solidFill>
                  <a:srgbClr val="336699"/>
                </a:solidFill>
                <a:latin typeface="Arial" panose="020B0604020202020204" pitchFamily="34" charset="0"/>
                <a:ea typeface="宋体" panose="02010600030101010101" pitchFamily="2" charset="-122"/>
              </a:rPr>
              <a:t>             ④银行担保及承诺费：指引进项目由国内外金融机构出面承担风险和责任担保所发生的费用，以及支付贷款机构的承诺费用。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47529">
                                            <p:txEl>
                                              <p:charRg st="0" end="28"/>
                                            </p:txEl>
                                          </p:spTgt>
                                        </p:tgtEl>
                                        <p:attrNameLst>
                                          <p:attrName>style.visibility</p:attrName>
                                        </p:attrNameLst>
                                      </p:cBhvr>
                                      <p:to>
                                        <p:strVal val="visible"/>
                                      </p:to>
                                    </p:set>
                                    <p:animEffect transition="in" filter="slide(fromBottom)">
                                      <p:cBhvr>
                                        <p:cTn id="7" dur="500"/>
                                        <p:tgtEl>
                                          <p:spTgt spid="747529">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747529">
                                            <p:txEl>
                                              <p:charRg st="28" end="47"/>
                                            </p:txEl>
                                          </p:spTgt>
                                        </p:tgtEl>
                                        <p:attrNameLst>
                                          <p:attrName>style.visibility</p:attrName>
                                        </p:attrNameLst>
                                      </p:cBhvr>
                                      <p:to>
                                        <p:strVal val="visible"/>
                                      </p:to>
                                    </p:set>
                                    <p:anim to="" calcmode="lin" valueType="num">
                                      <p:cBhvr>
                                        <p:cTn id="12" dur="1" fill="hold"/>
                                        <p:tgtEl>
                                          <p:spTgt spid="747529">
                                            <p:txEl>
                                              <p:charRg st="28" end="47"/>
                                            </p:txEl>
                                          </p:spTgt>
                                        </p:tgtEl>
                                        <p:attrNameLst>
                                          <p:attrName>style.visibility</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747529">
                                            <p:txEl>
                                              <p:charRg st="47" end="84"/>
                                            </p:txEl>
                                          </p:spTgt>
                                        </p:tgtEl>
                                        <p:attrNameLst>
                                          <p:attrName>style.visibility</p:attrName>
                                        </p:attrNameLst>
                                      </p:cBhvr>
                                      <p:to>
                                        <p:strVal val="visible"/>
                                      </p:to>
                                    </p:set>
                                    <p:anim to="" calcmode="lin" valueType="num">
                                      <p:cBhvr>
                                        <p:cTn id="15" dur="1" fill="hold"/>
                                        <p:tgtEl>
                                          <p:spTgt spid="747529">
                                            <p:txEl>
                                              <p:charRg st="47" end="84"/>
                                            </p:txEl>
                                          </p:spTgt>
                                        </p:tgtEl>
                                        <p:attrNameLst>
                                          <p:attrName>style.visibility</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747529">
                                            <p:txEl>
                                              <p:charRg st="84" end="152"/>
                                            </p:txEl>
                                          </p:spTgt>
                                        </p:tgtEl>
                                        <p:attrNameLst>
                                          <p:attrName>style.visibility</p:attrName>
                                        </p:attrNameLst>
                                      </p:cBhvr>
                                      <p:to>
                                        <p:strVal val="visible"/>
                                      </p:to>
                                    </p:set>
                                    <p:anim to="" calcmode="lin" valueType="num">
                                      <p:cBhvr>
                                        <p:cTn id="18" dur="1" fill="hold"/>
                                        <p:tgtEl>
                                          <p:spTgt spid="747529">
                                            <p:txEl>
                                              <p:charRg st="84" end="152"/>
                                            </p:txEl>
                                          </p:spTgt>
                                        </p:tgtEl>
                                        <p:attrNameLst>
                                          <p:attrName>style.visibility</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747529">
                                            <p:txEl>
                                              <p:charRg st="152" end="217"/>
                                            </p:txEl>
                                          </p:spTgt>
                                        </p:tgtEl>
                                        <p:attrNameLst>
                                          <p:attrName>style.visibility</p:attrName>
                                        </p:attrNameLst>
                                      </p:cBhvr>
                                      <p:to>
                                        <p:strVal val="visible"/>
                                      </p:to>
                                    </p:set>
                                    <p:anim to="" calcmode="lin" valueType="num">
                                      <p:cBhvr>
                                        <p:cTn id="21" dur="1" fill="hold"/>
                                        <p:tgtEl>
                                          <p:spTgt spid="747529">
                                            <p:txEl>
                                              <p:charRg st="152" end="217"/>
                                            </p:txEl>
                                          </p:spTgt>
                                        </p:tgtEl>
                                        <p:attrNameLst>
                                          <p:attrName>style.visibility</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747529">
                                            <p:txEl>
                                              <p:charRg st="217" end="287"/>
                                            </p:txEl>
                                          </p:spTgt>
                                        </p:tgtEl>
                                        <p:attrNameLst>
                                          <p:attrName>style.visibility</p:attrName>
                                        </p:attrNameLst>
                                      </p:cBhvr>
                                      <p:to>
                                        <p:strVal val="visible"/>
                                      </p:to>
                                    </p:set>
                                    <p:anim to="" calcmode="lin" valueType="num">
                                      <p:cBhvr>
                                        <p:cTn id="24" dur="1" fill="hold"/>
                                        <p:tgtEl>
                                          <p:spTgt spid="747529">
                                            <p:txEl>
                                              <p:charRg st="217" end="287"/>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1073" name="Group 40"/>
          <p:cNvGrpSpPr/>
          <p:nvPr/>
        </p:nvGrpSpPr>
        <p:grpSpPr>
          <a:xfrm>
            <a:off x="7164388" y="-265112"/>
            <a:ext cx="1758950" cy="1606550"/>
            <a:chOff x="672" y="334"/>
            <a:chExt cx="1108" cy="1012"/>
          </a:xfrm>
        </p:grpSpPr>
        <p:pic>
          <p:nvPicPr>
            <p:cNvPr id="131074"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31075" name="Group 28"/>
            <p:cNvGrpSpPr/>
            <p:nvPr/>
          </p:nvGrpSpPr>
          <p:grpSpPr>
            <a:xfrm>
              <a:off x="864" y="1104"/>
              <a:ext cx="768" cy="242"/>
              <a:chOff x="-768" y="1440"/>
              <a:chExt cx="768" cy="242"/>
            </a:xfrm>
          </p:grpSpPr>
          <p:sp>
            <p:nvSpPr>
              <p:cNvPr id="131076"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1077"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1078"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1079"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8553" name="Text Box 9"/>
          <p:cNvSpPr txBox="1"/>
          <p:nvPr/>
        </p:nvSpPr>
        <p:spPr>
          <a:xfrm>
            <a:off x="0" y="908050"/>
            <a:ext cx="9144000" cy="4371975"/>
          </a:xfrm>
          <a:prstGeom prst="rect">
            <a:avLst/>
          </a:prstGeom>
          <a:noFill/>
          <a:ln w="9525">
            <a:noFill/>
          </a:ln>
        </p:spPr>
        <p:txBody>
          <a:bodyPr anchor="t" anchorCtr="0">
            <a:spAutoFit/>
          </a:bodyPr>
          <a:p>
            <a:pPr marL="457200" indent="-457200">
              <a:lnSpc>
                <a:spcPct val="105000"/>
              </a:lnSpc>
              <a:spcBef>
                <a:spcPct val="30000"/>
              </a:spcBef>
            </a:pPr>
            <a:r>
              <a:rPr lang="zh-CN" altLang="en-US" sz="2400" dirty="0">
                <a:solidFill>
                  <a:schemeClr val="hlink"/>
                </a:solidFill>
                <a:latin typeface="Arial" panose="020B0604020202020204" pitchFamily="34" charset="0"/>
                <a:ea typeface="宋体" panose="02010600030101010101" pitchFamily="2" charset="-122"/>
              </a:rPr>
              <a:t>             该费用的取定按照以下规则：</a:t>
            </a:r>
            <a:endParaRPr lang="zh-CN" altLang="en-US" sz="2400" dirty="0">
              <a:solidFill>
                <a:schemeClr val="hlink"/>
              </a:solidFill>
              <a:latin typeface="Arial" panose="020B0604020202020204" pitchFamily="34" charset="0"/>
              <a:ea typeface="宋体" panose="02010600030101010101" pitchFamily="2" charset="-122"/>
            </a:endParaRPr>
          </a:p>
          <a:p>
            <a:pPr marL="457200" indent="-457200">
              <a:lnSpc>
                <a:spcPct val="105000"/>
              </a:lnSpc>
              <a:spcBef>
                <a:spcPct val="30000"/>
              </a:spcBef>
            </a:pPr>
            <a:r>
              <a:rPr lang="zh-CN" altLang="en-US" sz="2400" dirty="0">
                <a:solidFill>
                  <a:srgbClr val="336699"/>
                </a:solidFill>
                <a:latin typeface="Arial" panose="020B0604020202020204" pitchFamily="34" charset="0"/>
                <a:ea typeface="宋体" panose="02010600030101010101" pitchFamily="2" charset="-122"/>
              </a:rPr>
              <a:t>             ①引进项目图纸资料翻译复制费：根据引进项目的具体情况计列或按引进设备到岸价的比例估列。</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05000"/>
              </a:lnSpc>
              <a:spcBef>
                <a:spcPct val="30000"/>
              </a:spcBef>
            </a:pPr>
            <a:r>
              <a:rPr lang="zh-CN" altLang="en-US" sz="2400" dirty="0">
                <a:solidFill>
                  <a:srgbClr val="336699"/>
                </a:solidFill>
                <a:latin typeface="Arial" panose="020B0604020202020204" pitchFamily="34" charset="0"/>
                <a:ea typeface="宋体" panose="02010600030101010101" pitchFamily="2" charset="-122"/>
              </a:rPr>
              <a:t>             ②出国人员费用：依据合同规定的出国人次、期限和费用标准计算。生活费及制装费按照财政部、外交部规定的现行标准计算，旅费按中国民航公布的国际航线票价计算。</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05000"/>
              </a:lnSpc>
              <a:spcBef>
                <a:spcPct val="30000"/>
              </a:spcBef>
            </a:pPr>
            <a:r>
              <a:rPr lang="zh-CN" altLang="en-US" sz="2400" dirty="0">
                <a:solidFill>
                  <a:srgbClr val="336699"/>
                </a:solidFill>
                <a:latin typeface="Arial" panose="020B0604020202020204" pitchFamily="34" charset="0"/>
                <a:ea typeface="宋体" panose="02010600030101010101" pitchFamily="2" charset="-122"/>
              </a:rPr>
              <a:t>             ③来华人员费用：应依据引进合同有关条款规定计算。引进合同价款中已包括的费用内容不得重复计算。来华人员接待费用可按每人次费用指标计算。</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05000"/>
              </a:lnSpc>
              <a:spcBef>
                <a:spcPct val="30000"/>
              </a:spcBef>
            </a:pPr>
            <a:r>
              <a:rPr lang="zh-CN" altLang="en-US" sz="2400" dirty="0">
                <a:solidFill>
                  <a:srgbClr val="336699"/>
                </a:solidFill>
                <a:latin typeface="Arial" panose="020B0604020202020204" pitchFamily="34" charset="0"/>
                <a:ea typeface="宋体" panose="02010600030101010101" pitchFamily="2" charset="-122"/>
              </a:rPr>
              <a:t>             ④银行担保及承诺费：应按担保或承诺协议计取。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748553">
                                            <p:txEl>
                                              <p:charRg st="0" end="27"/>
                                            </p:txEl>
                                          </p:spTgt>
                                        </p:tgtEl>
                                        <p:attrNameLst>
                                          <p:attrName>style.visibility</p:attrName>
                                        </p:attrNameLst>
                                      </p:cBhvr>
                                      <p:to>
                                        <p:strVal val="visible"/>
                                      </p:to>
                                    </p:set>
                                    <p:anim to="" calcmode="lin" valueType="num">
                                      <p:cBhvr>
                                        <p:cTn id="7" dur="1" fill="hold"/>
                                        <p:tgtEl>
                                          <p:spTgt spid="748553">
                                            <p:txEl>
                                              <p:charRg st="0" end="27"/>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748553">
                                            <p:txEl>
                                              <p:charRg st="27" end="84"/>
                                            </p:txEl>
                                          </p:spTgt>
                                        </p:tgtEl>
                                        <p:attrNameLst>
                                          <p:attrName>style.visibility</p:attrName>
                                        </p:attrNameLst>
                                      </p:cBhvr>
                                      <p:to>
                                        <p:strVal val="visible"/>
                                      </p:to>
                                    </p:set>
                                    <p:anim to="" calcmode="lin" valueType="num">
                                      <p:cBhvr>
                                        <p:cTn id="10" dur="1" fill="hold"/>
                                        <p:tgtEl>
                                          <p:spTgt spid="748553">
                                            <p:txEl>
                                              <p:charRg st="27" end="84"/>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748553">
                                            <p:txEl>
                                              <p:charRg st="84" end="173"/>
                                            </p:txEl>
                                          </p:spTgt>
                                        </p:tgtEl>
                                        <p:attrNameLst>
                                          <p:attrName>style.visibility</p:attrName>
                                        </p:attrNameLst>
                                      </p:cBhvr>
                                      <p:to>
                                        <p:strVal val="visible"/>
                                      </p:to>
                                    </p:set>
                                    <p:anim to="" calcmode="lin" valueType="num">
                                      <p:cBhvr>
                                        <p:cTn id="13" dur="1" fill="hold"/>
                                        <p:tgtEl>
                                          <p:spTgt spid="748553">
                                            <p:txEl>
                                              <p:charRg st="84" end="173"/>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748553">
                                            <p:txEl>
                                              <p:charRg st="173" end="253"/>
                                            </p:txEl>
                                          </p:spTgt>
                                        </p:tgtEl>
                                        <p:attrNameLst>
                                          <p:attrName>style.visibility</p:attrName>
                                        </p:attrNameLst>
                                      </p:cBhvr>
                                      <p:to>
                                        <p:strVal val="visible"/>
                                      </p:to>
                                    </p:set>
                                    <p:anim to="" calcmode="lin" valueType="num">
                                      <p:cBhvr>
                                        <p:cTn id="16" dur="1" fill="hold"/>
                                        <p:tgtEl>
                                          <p:spTgt spid="748553">
                                            <p:txEl>
                                              <p:charRg st="173" end="253"/>
                                            </p:txEl>
                                          </p:spTgt>
                                        </p:tgtEl>
                                        <p:attrNameLst>
                                          <p:attrName>style.visibility</p:attrName>
                                        </p:attrNameLst>
                                      </p:cBhvr>
                                    </p:anim>
                                  </p:childTnLst>
                                </p:cTn>
                              </p:par>
                              <p:par>
                                <p:cTn id="17" presetID="24" presetClass="entr" presetSubtype="0" fill="hold" nodeType="withEffect">
                                  <p:stCondLst>
                                    <p:cond delay="0"/>
                                  </p:stCondLst>
                                  <p:childTnLst>
                                    <p:set>
                                      <p:cBhvr>
                                        <p:cTn id="18" dur="1" fill="hold">
                                          <p:stCondLst>
                                            <p:cond delay="0"/>
                                          </p:stCondLst>
                                        </p:cTn>
                                        <p:tgtEl>
                                          <p:spTgt spid="748553">
                                            <p:txEl>
                                              <p:charRg st="253" end="290"/>
                                            </p:txEl>
                                          </p:spTgt>
                                        </p:tgtEl>
                                        <p:attrNameLst>
                                          <p:attrName>style.visibility</p:attrName>
                                        </p:attrNameLst>
                                      </p:cBhvr>
                                      <p:to>
                                        <p:strVal val="visible"/>
                                      </p:to>
                                    </p:set>
                                    <p:anim to="" calcmode="lin" valueType="num">
                                      <p:cBhvr>
                                        <p:cTn id="19" dur="1" fill="hold"/>
                                        <p:tgtEl>
                                          <p:spTgt spid="748553">
                                            <p:txEl>
                                              <p:charRg st="253" end="290"/>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2097" name="Group 40"/>
          <p:cNvGrpSpPr/>
          <p:nvPr/>
        </p:nvGrpSpPr>
        <p:grpSpPr>
          <a:xfrm>
            <a:off x="7164388" y="-265112"/>
            <a:ext cx="1758950" cy="1606550"/>
            <a:chOff x="672" y="334"/>
            <a:chExt cx="1108" cy="1012"/>
          </a:xfrm>
        </p:grpSpPr>
        <p:pic>
          <p:nvPicPr>
            <p:cNvPr id="132098"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32099" name="Group 28"/>
            <p:cNvGrpSpPr/>
            <p:nvPr/>
          </p:nvGrpSpPr>
          <p:grpSpPr>
            <a:xfrm>
              <a:off x="864" y="1104"/>
              <a:ext cx="768" cy="242"/>
              <a:chOff x="-768" y="1440"/>
              <a:chExt cx="768" cy="242"/>
            </a:xfrm>
          </p:grpSpPr>
          <p:sp>
            <p:nvSpPr>
              <p:cNvPr id="132100"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2101"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2102"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2103"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49577" name="Text Box 9"/>
          <p:cNvSpPr txBox="1"/>
          <p:nvPr/>
        </p:nvSpPr>
        <p:spPr>
          <a:xfrm>
            <a:off x="0" y="908050"/>
            <a:ext cx="9144000" cy="388937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13 </a:t>
            </a:r>
            <a:r>
              <a:rPr lang="zh-CN" altLang="en-US" sz="2400" dirty="0">
                <a:solidFill>
                  <a:srgbClr val="336699"/>
                </a:solidFill>
                <a:latin typeface="Arial" panose="020B0604020202020204" pitchFamily="34" charset="0"/>
                <a:ea typeface="宋体" panose="02010600030101010101" pitchFamily="2" charset="-122"/>
              </a:rPr>
              <a:t>工程保险费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指建设项目在建设期间根据需要对建筑工程、安装工程及机器设备进行投保而发生的保险费用。包括建筑安装工程一切险、引进设备财产和人身意外伤害险等。</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该费用的取定按照以下规则：</a:t>
            </a:r>
            <a:endParaRPr lang="zh-CN" altLang="en-US" sz="2400" dirty="0">
              <a:solidFill>
                <a:schemeClr val="hlink"/>
              </a:solidFill>
              <a:latin typeface="Arial" panose="020B0604020202020204" pitchFamily="34" charset="0"/>
              <a:ea typeface="宋体" panose="02010600030101010101" pitchFamily="2" charset="-122"/>
            </a:endParaRPr>
          </a:p>
          <a:p>
            <a:pPr marL="457200" indent="-457200">
              <a:lnSpc>
                <a:spcPct val="12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①不投保的工程不计取此项费用。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②不同的建设项目可根据工程特点选择投保险种，根据投保合同计列保险费用。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49577">
                                            <p:txEl>
                                              <p:charRg st="0" end="22"/>
                                            </p:txEl>
                                          </p:spTgt>
                                        </p:tgtEl>
                                        <p:attrNameLst>
                                          <p:attrName>style.visibility</p:attrName>
                                        </p:attrNameLst>
                                      </p:cBhvr>
                                      <p:to>
                                        <p:strVal val="visible"/>
                                      </p:to>
                                    </p:set>
                                    <p:animEffect transition="in" filter="slide(fromBottom)">
                                      <p:cBhvr>
                                        <p:cTn id="7" dur="500"/>
                                        <p:tgtEl>
                                          <p:spTgt spid="749577">
                                            <p:txEl>
                                              <p:charRg st="0" end="22"/>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49577">
                                            <p:txEl>
                                              <p:charRg st="22" end="106"/>
                                            </p:txEl>
                                          </p:spTgt>
                                        </p:tgtEl>
                                        <p:attrNameLst>
                                          <p:attrName>style.visibility</p:attrName>
                                        </p:attrNameLst>
                                      </p:cBhvr>
                                      <p:to>
                                        <p:strVal val="visible"/>
                                      </p:to>
                                    </p:set>
                                    <p:animEffect transition="in" filter="diamond(in)">
                                      <p:cBhvr>
                                        <p:cTn id="12" dur="2000"/>
                                        <p:tgtEl>
                                          <p:spTgt spid="749577">
                                            <p:txEl>
                                              <p:charRg st="22" end="10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49577">
                                            <p:txEl>
                                              <p:charRg st="106" end="133"/>
                                            </p:txEl>
                                          </p:spTgt>
                                        </p:tgtEl>
                                        <p:attrNameLst>
                                          <p:attrName>style.visibility</p:attrName>
                                        </p:attrNameLst>
                                      </p:cBhvr>
                                      <p:to>
                                        <p:strVal val="visible"/>
                                      </p:to>
                                    </p:set>
                                    <p:animEffect transition="in" filter="wedge">
                                      <p:cBhvr>
                                        <p:cTn id="17" dur="2000"/>
                                        <p:tgtEl>
                                          <p:spTgt spid="749577">
                                            <p:txEl>
                                              <p:charRg st="106" end="133"/>
                                            </p:txEl>
                                          </p:spTgt>
                                        </p:tgtEl>
                                      </p:cBhvr>
                                    </p:animEffect>
                                  </p:childTnLst>
                                </p:cTn>
                              </p:par>
                              <p:par>
                                <p:cTn id="18" presetID="20" presetClass="entr" presetSubtype="0" fill="hold" nodeType="withEffect">
                                  <p:stCondLst>
                                    <p:cond delay="0"/>
                                  </p:stCondLst>
                                  <p:childTnLst>
                                    <p:set>
                                      <p:cBhvr>
                                        <p:cTn id="19" dur="1" fill="hold">
                                          <p:stCondLst>
                                            <p:cond delay="0"/>
                                          </p:stCondLst>
                                        </p:cTn>
                                        <p:tgtEl>
                                          <p:spTgt spid="749577">
                                            <p:txEl>
                                              <p:charRg st="133" end="162"/>
                                            </p:txEl>
                                          </p:spTgt>
                                        </p:tgtEl>
                                        <p:attrNameLst>
                                          <p:attrName>style.visibility</p:attrName>
                                        </p:attrNameLst>
                                      </p:cBhvr>
                                      <p:to>
                                        <p:strVal val="visible"/>
                                      </p:to>
                                    </p:set>
                                    <p:animEffect transition="in" filter="wedge">
                                      <p:cBhvr>
                                        <p:cTn id="20" dur="2000"/>
                                        <p:tgtEl>
                                          <p:spTgt spid="749577">
                                            <p:txEl>
                                              <p:charRg st="133" end="162"/>
                                            </p:txEl>
                                          </p:spTgt>
                                        </p:tgtEl>
                                      </p:cBhvr>
                                    </p:animEffect>
                                  </p:childTnLst>
                                </p:cTn>
                              </p:par>
                              <p:par>
                                <p:cTn id="21" presetID="20" presetClass="entr" presetSubtype="0" fill="hold" nodeType="withEffect">
                                  <p:stCondLst>
                                    <p:cond delay="0"/>
                                  </p:stCondLst>
                                  <p:childTnLst>
                                    <p:set>
                                      <p:cBhvr>
                                        <p:cTn id="22" dur="1" fill="hold">
                                          <p:stCondLst>
                                            <p:cond delay="0"/>
                                          </p:stCondLst>
                                        </p:cTn>
                                        <p:tgtEl>
                                          <p:spTgt spid="749577">
                                            <p:txEl>
                                              <p:charRg st="162" end="212"/>
                                            </p:txEl>
                                          </p:spTgt>
                                        </p:tgtEl>
                                        <p:attrNameLst>
                                          <p:attrName>style.visibility</p:attrName>
                                        </p:attrNameLst>
                                      </p:cBhvr>
                                      <p:to>
                                        <p:strVal val="visible"/>
                                      </p:to>
                                    </p:set>
                                    <p:animEffect transition="in" filter="wedge">
                                      <p:cBhvr>
                                        <p:cTn id="23" dur="2000"/>
                                        <p:tgtEl>
                                          <p:spTgt spid="749577">
                                            <p:txEl>
                                              <p:charRg st="162" end="2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3121" name="Group 40"/>
          <p:cNvGrpSpPr/>
          <p:nvPr/>
        </p:nvGrpSpPr>
        <p:grpSpPr>
          <a:xfrm>
            <a:off x="7164388" y="-265112"/>
            <a:ext cx="1758950" cy="1606550"/>
            <a:chOff x="672" y="334"/>
            <a:chExt cx="1108" cy="1012"/>
          </a:xfrm>
        </p:grpSpPr>
        <p:pic>
          <p:nvPicPr>
            <p:cNvPr id="133122"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33123" name="Group 28"/>
            <p:cNvGrpSpPr/>
            <p:nvPr/>
          </p:nvGrpSpPr>
          <p:grpSpPr>
            <a:xfrm>
              <a:off x="864" y="1104"/>
              <a:ext cx="768" cy="242"/>
              <a:chOff x="-768" y="1440"/>
              <a:chExt cx="768" cy="242"/>
            </a:xfrm>
          </p:grpSpPr>
          <p:sp>
            <p:nvSpPr>
              <p:cNvPr id="133124"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3125"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3126"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3127"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50601" name="Text Box 9"/>
          <p:cNvSpPr txBox="1"/>
          <p:nvPr/>
        </p:nvSpPr>
        <p:spPr>
          <a:xfrm>
            <a:off x="0" y="908050"/>
            <a:ext cx="9144000" cy="31591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14 </a:t>
            </a:r>
            <a:r>
              <a:rPr lang="zh-CN" altLang="en-US" sz="2400" dirty="0">
                <a:solidFill>
                  <a:srgbClr val="336699"/>
                </a:solidFill>
                <a:latin typeface="Arial" panose="020B0604020202020204" pitchFamily="34" charset="0"/>
                <a:ea typeface="宋体" panose="02010600030101010101" pitchFamily="2" charset="-122"/>
              </a:rPr>
              <a:t>工程招标代理费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指招标人委托代理机构编制招标文件、编制标底、审查投标人资格、组织投标人踏勘现场并答疑，组织开标、评标、定标，以及提供招标前期咨询、协调合同的签订等业务所收取的费用。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该费用取定参照国家计委</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招标代理服务费管理暂行办法</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计价格</a:t>
            </a:r>
            <a:r>
              <a:rPr lang="en-US" altLang="zh-CN" sz="2400" dirty="0">
                <a:solidFill>
                  <a:schemeClr val="hlink"/>
                </a:solidFill>
                <a:latin typeface="Arial" panose="020B0604020202020204" pitchFamily="34" charset="0"/>
                <a:ea typeface="宋体" panose="02010600030101010101" pitchFamily="2" charset="-122"/>
              </a:rPr>
              <a:t>[2002]1980</a:t>
            </a:r>
            <a:r>
              <a:rPr lang="zh-CN" altLang="en-US" sz="2400" dirty="0">
                <a:solidFill>
                  <a:schemeClr val="hlink"/>
                </a:solidFill>
                <a:latin typeface="Arial" panose="020B0604020202020204" pitchFamily="34" charset="0"/>
                <a:ea typeface="宋体" panose="02010600030101010101" pitchFamily="2" charset="-122"/>
              </a:rPr>
              <a:t>号规定。</a:t>
            </a:r>
            <a:endParaRPr lang="zh-CN" altLang="en-US" sz="2400" dirty="0">
              <a:solidFill>
                <a:schemeClr val="hlink"/>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50601">
                                            <p:txEl>
                                              <p:charRg st="0" end="23"/>
                                            </p:txEl>
                                          </p:spTgt>
                                        </p:tgtEl>
                                        <p:attrNameLst>
                                          <p:attrName>style.visibility</p:attrName>
                                        </p:attrNameLst>
                                      </p:cBhvr>
                                      <p:to>
                                        <p:strVal val="visible"/>
                                      </p:to>
                                    </p:set>
                                    <p:animEffect transition="in" filter="slide(fromBottom)">
                                      <p:cBhvr>
                                        <p:cTn id="7" dur="500"/>
                                        <p:tgtEl>
                                          <p:spTgt spid="750601">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50601">
                                            <p:txEl>
                                              <p:charRg st="23" end="119"/>
                                            </p:txEl>
                                          </p:spTgt>
                                        </p:tgtEl>
                                        <p:attrNameLst>
                                          <p:attrName>style.visibility</p:attrName>
                                        </p:attrNameLst>
                                      </p:cBhvr>
                                      <p:to>
                                        <p:strVal val="visible"/>
                                      </p:to>
                                    </p:set>
                                    <p:animEffect transition="in" filter="diamond(in)">
                                      <p:cBhvr>
                                        <p:cTn id="12" dur="2000"/>
                                        <p:tgtEl>
                                          <p:spTgt spid="750601">
                                            <p:txEl>
                                              <p:charRg st="23" end="11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50601">
                                            <p:txEl>
                                              <p:charRg st="119" end="176"/>
                                            </p:txEl>
                                          </p:spTgt>
                                        </p:tgtEl>
                                        <p:attrNameLst>
                                          <p:attrName>style.visibility</p:attrName>
                                        </p:attrNameLst>
                                      </p:cBhvr>
                                      <p:to>
                                        <p:strVal val="visible"/>
                                      </p:to>
                                    </p:set>
                                    <p:animEffect transition="in" filter="wedge">
                                      <p:cBhvr>
                                        <p:cTn id="17" dur="2000"/>
                                        <p:tgtEl>
                                          <p:spTgt spid="750601">
                                            <p:txEl>
                                              <p:charRg st="119" end="1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4145" name="Group 40"/>
          <p:cNvGrpSpPr/>
          <p:nvPr/>
        </p:nvGrpSpPr>
        <p:grpSpPr>
          <a:xfrm>
            <a:off x="7164388" y="-265112"/>
            <a:ext cx="1758950" cy="1606550"/>
            <a:chOff x="672" y="334"/>
            <a:chExt cx="1108" cy="1012"/>
          </a:xfrm>
        </p:grpSpPr>
        <p:pic>
          <p:nvPicPr>
            <p:cNvPr id="134146"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34147" name="Group 28"/>
            <p:cNvGrpSpPr/>
            <p:nvPr/>
          </p:nvGrpSpPr>
          <p:grpSpPr>
            <a:xfrm>
              <a:off x="864" y="1104"/>
              <a:ext cx="768" cy="242"/>
              <a:chOff x="-768" y="1440"/>
              <a:chExt cx="768" cy="242"/>
            </a:xfrm>
          </p:grpSpPr>
          <p:sp>
            <p:nvSpPr>
              <p:cNvPr id="134148"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4149"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4150"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4151"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134152" name="Rectangle 9"/>
          <p:cNvSpPr/>
          <p:nvPr/>
        </p:nvSpPr>
        <p:spPr>
          <a:xfrm>
            <a:off x="1547813" y="1341438"/>
            <a:ext cx="5214937" cy="336550"/>
          </a:xfrm>
          <a:prstGeom prst="rect">
            <a:avLst/>
          </a:prstGeom>
          <a:noFill/>
          <a:ln w="9525">
            <a:noFill/>
          </a:ln>
        </p:spPr>
        <p:txBody>
          <a:bodyPr wrap="none" anchor="ctr" anchorCtr="0">
            <a:spAutoFit/>
          </a:bodyPr>
          <a:p>
            <a:pP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6-26 </a:t>
            </a:r>
            <a:r>
              <a:rPr lang="zh-CN" altLang="en-US" sz="1600" b="0" dirty="0">
                <a:solidFill>
                  <a:schemeClr val="tx1"/>
                </a:solidFill>
                <a:latin typeface="Times New Roman" panose="02020603050405020304" pitchFamily="18" charset="0"/>
                <a:ea typeface="宋体" panose="02010600030101010101" pitchFamily="2" charset="-122"/>
              </a:rPr>
              <a:t>招标代理服务收费标准（计价格</a:t>
            </a:r>
            <a:r>
              <a:rPr lang="en-US" altLang="zh-CN" sz="1600" b="0" dirty="0">
                <a:solidFill>
                  <a:schemeClr val="tx1"/>
                </a:solidFill>
                <a:latin typeface="Times New Roman" panose="02020603050405020304" pitchFamily="18" charset="0"/>
                <a:ea typeface="宋体" panose="02010600030101010101" pitchFamily="2" charset="-122"/>
              </a:rPr>
              <a:t>[2002]1980</a:t>
            </a:r>
            <a:r>
              <a:rPr lang="zh-CN" altLang="en-US" sz="1600" b="0" dirty="0">
                <a:solidFill>
                  <a:schemeClr val="tx1"/>
                </a:solidFill>
                <a:latin typeface="Times New Roman" panose="02020603050405020304" pitchFamily="18" charset="0"/>
                <a:ea typeface="宋体" panose="02010600030101010101" pitchFamily="2" charset="-122"/>
              </a:rPr>
              <a:t>号）表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51626" name="Group 10"/>
          <p:cNvGraphicFramePr>
            <a:graphicFrameLocks noGrp="1"/>
          </p:cNvGraphicFramePr>
          <p:nvPr/>
        </p:nvGraphicFramePr>
        <p:xfrm>
          <a:off x="755650" y="1773238"/>
          <a:ext cx="6710363" cy="3017838"/>
        </p:xfrm>
        <a:graphic>
          <a:graphicData uri="http://schemas.openxmlformats.org/drawingml/2006/table">
            <a:tbl>
              <a:tblPr/>
              <a:tblGrid>
                <a:gridCol w="1843088"/>
                <a:gridCol w="1563687"/>
                <a:gridCol w="1739900"/>
                <a:gridCol w="1563688"/>
              </a:tblGrid>
              <a:tr h="33531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中标金额（万元）</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货物招标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服务招标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工程招标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1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以下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1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100-500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0.8%</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0.7%</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1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500-1000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0.8%</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0.45%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0.55%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1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中标金额（万元）</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货物招标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服务招标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工程招标</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1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1000-5000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0.25%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0.35%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1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5000-10000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0.25%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0.2%</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1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10000-100000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0.05%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0.05%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0.05%</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315">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1000000</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以上</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0.01%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0.01%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0.01%</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5169" name="Group 40"/>
          <p:cNvGrpSpPr/>
          <p:nvPr/>
        </p:nvGrpSpPr>
        <p:grpSpPr>
          <a:xfrm>
            <a:off x="7164388" y="-265112"/>
            <a:ext cx="1758950" cy="1606550"/>
            <a:chOff x="672" y="334"/>
            <a:chExt cx="1108" cy="1012"/>
          </a:xfrm>
        </p:grpSpPr>
        <p:pic>
          <p:nvPicPr>
            <p:cNvPr id="135170"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35171" name="Group 28"/>
            <p:cNvGrpSpPr/>
            <p:nvPr/>
          </p:nvGrpSpPr>
          <p:grpSpPr>
            <a:xfrm>
              <a:off x="864" y="1104"/>
              <a:ext cx="768" cy="242"/>
              <a:chOff x="-768" y="1440"/>
              <a:chExt cx="768" cy="242"/>
            </a:xfrm>
          </p:grpSpPr>
          <p:sp>
            <p:nvSpPr>
              <p:cNvPr id="135172"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5173"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5174"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5175"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52649" name="Text Box 9"/>
          <p:cNvSpPr txBox="1"/>
          <p:nvPr/>
        </p:nvSpPr>
        <p:spPr>
          <a:xfrm>
            <a:off x="0" y="1268413"/>
            <a:ext cx="9144000" cy="4619625"/>
          </a:xfrm>
          <a:prstGeom prst="rect">
            <a:avLst/>
          </a:prstGeom>
          <a:noFill/>
          <a:ln w="9525">
            <a:noFill/>
          </a:ln>
        </p:spPr>
        <p:txBody>
          <a:bodyPr anchor="t" anchorCtr="0">
            <a:spAutoFit/>
          </a:bodyPr>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 </a:t>
            </a:r>
            <a:r>
              <a:rPr lang="zh-CN" altLang="en-US" sz="2400" dirty="0">
                <a:solidFill>
                  <a:srgbClr val="336699"/>
                </a:solidFill>
                <a:latin typeface="Arial" panose="020B0604020202020204" pitchFamily="34" charset="0"/>
                <a:ea typeface="宋体" panose="02010600030101010101" pitchFamily="2" charset="-122"/>
              </a:rPr>
              <a:t>招标代理服务全过程的收费基准价格，单独提供编制招标文件（有标底的含标底）服务的，可按规定标准的</a:t>
            </a:r>
            <a:r>
              <a:rPr lang="en-US" altLang="zh-CN" sz="2400" dirty="0">
                <a:solidFill>
                  <a:srgbClr val="336699"/>
                </a:solidFill>
                <a:latin typeface="Arial" panose="020B0604020202020204" pitchFamily="34" charset="0"/>
                <a:ea typeface="宋体" panose="02010600030101010101" pitchFamily="2" charset="-122"/>
              </a:rPr>
              <a:t>30%</a:t>
            </a:r>
            <a:r>
              <a:rPr lang="zh-CN" altLang="en-US" sz="2400" dirty="0">
                <a:solidFill>
                  <a:srgbClr val="336699"/>
                </a:solidFill>
                <a:latin typeface="Arial" panose="020B0604020202020204" pitchFamily="34" charset="0"/>
                <a:ea typeface="宋体" panose="02010600030101010101" pitchFamily="2" charset="-122"/>
              </a:rPr>
              <a:t>计收。 </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2 </a:t>
            </a:r>
            <a:r>
              <a:rPr lang="zh-CN" altLang="en-US" sz="2400" dirty="0">
                <a:solidFill>
                  <a:srgbClr val="336699"/>
                </a:solidFill>
                <a:latin typeface="Arial" panose="020B0604020202020204" pitchFamily="34" charset="0"/>
                <a:ea typeface="宋体" panose="02010600030101010101" pitchFamily="2" charset="-122"/>
              </a:rPr>
              <a:t>招标代理服务收费按差额定率累进法计算。</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例如：某工程招标代理业务中标金额为</a:t>
            </a:r>
            <a:r>
              <a:rPr lang="en-US" altLang="zh-CN" sz="2400" dirty="0">
                <a:solidFill>
                  <a:srgbClr val="336699"/>
                </a:solidFill>
                <a:latin typeface="Arial" panose="020B0604020202020204" pitchFamily="34" charset="0"/>
                <a:ea typeface="宋体" panose="02010600030101010101" pitchFamily="2" charset="-122"/>
              </a:rPr>
              <a:t>6000</a:t>
            </a:r>
            <a:r>
              <a:rPr lang="zh-CN" altLang="en-US" sz="2400" dirty="0">
                <a:solidFill>
                  <a:srgbClr val="336699"/>
                </a:solidFill>
                <a:latin typeface="Arial" panose="020B0604020202020204" pitchFamily="34" charset="0"/>
                <a:ea typeface="宋体" panose="02010600030101010101" pitchFamily="2" charset="-122"/>
              </a:rPr>
              <a:t>万元，计算招标代理服务收费额如下：</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100</a:t>
            </a:r>
            <a:r>
              <a:rPr lang="zh-CN" altLang="en-US" sz="2400" dirty="0">
                <a:solidFill>
                  <a:srgbClr val="336699"/>
                </a:solidFill>
                <a:latin typeface="Arial" panose="020B0604020202020204" pitchFamily="34" charset="0"/>
                <a:ea typeface="宋体" panose="02010600030101010101" pitchFamily="2" charset="-122"/>
              </a:rPr>
              <a:t>万元</a:t>
            </a:r>
            <a:r>
              <a:rPr lang="en-US" altLang="zh-CN" sz="2400" dirty="0">
                <a:solidFill>
                  <a:srgbClr val="336699"/>
                </a:solidFill>
                <a:latin typeface="Arial" panose="020B0604020202020204" pitchFamily="34" charset="0"/>
                <a:ea typeface="宋体" panose="02010600030101010101" pitchFamily="2" charset="-122"/>
              </a:rPr>
              <a:t>×1.0%=1</a:t>
            </a:r>
            <a:r>
              <a:rPr lang="zh-CN" altLang="en-US" sz="2400" dirty="0">
                <a:solidFill>
                  <a:srgbClr val="336699"/>
                </a:solidFill>
                <a:latin typeface="Arial" panose="020B0604020202020204" pitchFamily="34" charset="0"/>
                <a:ea typeface="宋体" panose="02010600030101010101" pitchFamily="2" charset="-122"/>
              </a:rPr>
              <a:t>万元 （</a:t>
            </a:r>
            <a:r>
              <a:rPr lang="en-US" altLang="zh-CN" sz="2400" dirty="0">
                <a:solidFill>
                  <a:srgbClr val="336699"/>
                </a:solidFill>
                <a:latin typeface="Arial" panose="020B0604020202020204" pitchFamily="34" charset="0"/>
                <a:ea typeface="宋体" panose="02010600030101010101" pitchFamily="2" charset="-122"/>
              </a:rPr>
              <a:t>500-100</a:t>
            </a:r>
            <a:r>
              <a:rPr lang="zh-CN" altLang="en-US" sz="2400" dirty="0">
                <a:solidFill>
                  <a:srgbClr val="336699"/>
                </a:solidFill>
                <a:latin typeface="Arial" panose="020B0604020202020204" pitchFamily="34" charset="0"/>
                <a:ea typeface="宋体" panose="02010600030101010101" pitchFamily="2" charset="-122"/>
              </a:rPr>
              <a:t>）万元</a:t>
            </a:r>
            <a:r>
              <a:rPr lang="en-US" altLang="zh-CN" sz="2400" dirty="0">
                <a:solidFill>
                  <a:srgbClr val="336699"/>
                </a:solidFill>
                <a:latin typeface="Arial" panose="020B0604020202020204" pitchFamily="34" charset="0"/>
                <a:ea typeface="宋体" panose="02010600030101010101" pitchFamily="2" charset="-122"/>
              </a:rPr>
              <a:t>×0.7%=2.8</a:t>
            </a:r>
            <a:r>
              <a:rPr lang="zh-CN" altLang="en-US" sz="2400" dirty="0">
                <a:solidFill>
                  <a:srgbClr val="336699"/>
                </a:solidFill>
                <a:latin typeface="Arial" panose="020B0604020202020204" pitchFamily="34" charset="0"/>
                <a:ea typeface="宋体" panose="02010600030101010101" pitchFamily="2" charset="-122"/>
              </a:rPr>
              <a:t>万</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1000-500</a:t>
            </a: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×0.55%=2.75</a:t>
            </a:r>
            <a:r>
              <a:rPr lang="zh-CN" altLang="en-US" sz="2400" dirty="0">
                <a:solidFill>
                  <a:srgbClr val="336699"/>
                </a:solidFill>
                <a:latin typeface="Arial" panose="020B0604020202020204" pitchFamily="34" charset="0"/>
                <a:ea typeface="宋体" panose="02010600030101010101" pitchFamily="2" charset="-122"/>
              </a:rPr>
              <a:t>万元</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5000-1000</a:t>
            </a: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×0.35%=14</a:t>
            </a:r>
            <a:r>
              <a:rPr lang="zh-CN" altLang="en-US" sz="2400" dirty="0">
                <a:solidFill>
                  <a:srgbClr val="336699"/>
                </a:solidFill>
                <a:latin typeface="Arial" panose="020B0604020202020204" pitchFamily="34" charset="0"/>
                <a:ea typeface="宋体" panose="02010600030101010101" pitchFamily="2" charset="-122"/>
              </a:rPr>
              <a:t>万元</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6000-5000</a:t>
            </a: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×0.2%=2</a:t>
            </a:r>
            <a:r>
              <a:rPr lang="zh-CN" altLang="en-US" sz="2400" dirty="0">
                <a:solidFill>
                  <a:srgbClr val="336699"/>
                </a:solidFill>
                <a:latin typeface="Arial" panose="020B0604020202020204" pitchFamily="34" charset="0"/>
                <a:ea typeface="宋体" panose="02010600030101010101" pitchFamily="2" charset="-122"/>
              </a:rPr>
              <a:t>万元 </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合计收费</a:t>
            </a:r>
            <a:r>
              <a:rPr lang="en-US" altLang="zh-CN" sz="2400" dirty="0">
                <a:solidFill>
                  <a:srgbClr val="336699"/>
                </a:solidFill>
                <a:latin typeface="Arial" panose="020B0604020202020204" pitchFamily="34" charset="0"/>
                <a:ea typeface="宋体" panose="02010600030101010101" pitchFamily="2" charset="-122"/>
              </a:rPr>
              <a:t>=1+2.8+2.75+14+2=22.55</a:t>
            </a:r>
            <a:r>
              <a:rPr lang="zh-CN" altLang="en-US" sz="2400" dirty="0">
                <a:solidFill>
                  <a:srgbClr val="336699"/>
                </a:solidFill>
                <a:latin typeface="Arial" panose="020B0604020202020204" pitchFamily="34" charset="0"/>
                <a:ea typeface="宋体" panose="02010600030101010101" pitchFamily="2" charset="-122"/>
              </a:rPr>
              <a:t>（万元）</a:t>
            </a:r>
            <a:r>
              <a:rPr lang="zh-CN" altLang="en-US" dirty="0">
                <a:solidFill>
                  <a:srgbClr val="336699"/>
                </a:solidFill>
                <a:latin typeface="Arial" panose="020B0604020202020204" pitchFamily="34" charset="0"/>
                <a:ea typeface="宋体" panose="02010600030101010101" pitchFamily="2" charset="-122"/>
              </a:rPr>
              <a:t>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752649">
                                            <p:txEl>
                                              <p:charRg st="0" end="70"/>
                                            </p:txEl>
                                          </p:spTgt>
                                        </p:tgtEl>
                                        <p:attrNameLst>
                                          <p:attrName>style.visibility</p:attrName>
                                        </p:attrNameLst>
                                      </p:cBhvr>
                                      <p:to>
                                        <p:strVal val="visible"/>
                                      </p:to>
                                    </p:set>
                                    <p:anim to="" calcmode="lin" valueType="num">
                                      <p:cBhvr>
                                        <p:cTn id="7" dur="1" fill="hold"/>
                                        <p:tgtEl>
                                          <p:spTgt spid="752649">
                                            <p:txEl>
                                              <p:charRg st="0" end="70"/>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752649">
                                            <p:txEl>
                                              <p:charRg st="70" end="105"/>
                                            </p:txEl>
                                          </p:spTgt>
                                        </p:tgtEl>
                                        <p:attrNameLst>
                                          <p:attrName>style.visibility</p:attrName>
                                        </p:attrNameLst>
                                      </p:cBhvr>
                                      <p:to>
                                        <p:strVal val="visible"/>
                                      </p:to>
                                    </p:set>
                                    <p:anim to="" calcmode="lin" valueType="num">
                                      <p:cBhvr>
                                        <p:cTn id="10" dur="1" fill="hold"/>
                                        <p:tgtEl>
                                          <p:spTgt spid="752649">
                                            <p:txEl>
                                              <p:charRg st="70" end="105"/>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752649">
                                            <p:txEl>
                                              <p:charRg st="105" end="157"/>
                                            </p:txEl>
                                          </p:spTgt>
                                        </p:tgtEl>
                                        <p:attrNameLst>
                                          <p:attrName>style.visibility</p:attrName>
                                        </p:attrNameLst>
                                      </p:cBhvr>
                                      <p:to>
                                        <p:strVal val="visible"/>
                                      </p:to>
                                    </p:set>
                                    <p:anim to="" calcmode="lin" valueType="num">
                                      <p:cBhvr>
                                        <p:cTn id="13" dur="1" fill="hold"/>
                                        <p:tgtEl>
                                          <p:spTgt spid="752649">
                                            <p:txEl>
                                              <p:charRg st="105" end="157"/>
                                            </p:txEl>
                                          </p:spTgt>
                                        </p:tgtEl>
                                        <p:attrNameLst>
                                          <p:attrName>style.visibility</p:attrName>
                                        </p:attrNameLst>
                                      </p:cBhvr>
                                    </p:anim>
                                  </p:childTnLst>
                                </p:cTn>
                              </p:par>
                              <p:par>
                                <p:cTn id="14" presetID="24" presetClass="entr" presetSubtype="0" fill="hold" nodeType="withEffect">
                                  <p:stCondLst>
                                    <p:cond delay="0"/>
                                  </p:stCondLst>
                                  <p:childTnLst>
                                    <p:set>
                                      <p:cBhvr>
                                        <p:cTn id="15" dur="1" fill="hold">
                                          <p:stCondLst>
                                            <p:cond delay="0"/>
                                          </p:stCondLst>
                                        </p:cTn>
                                        <p:tgtEl>
                                          <p:spTgt spid="752649">
                                            <p:txEl>
                                              <p:charRg st="157" end="205"/>
                                            </p:txEl>
                                          </p:spTgt>
                                        </p:tgtEl>
                                        <p:attrNameLst>
                                          <p:attrName>style.visibility</p:attrName>
                                        </p:attrNameLst>
                                      </p:cBhvr>
                                      <p:to>
                                        <p:strVal val="visible"/>
                                      </p:to>
                                    </p:set>
                                    <p:anim to="" calcmode="lin" valueType="num">
                                      <p:cBhvr>
                                        <p:cTn id="16" dur="1" fill="hold"/>
                                        <p:tgtEl>
                                          <p:spTgt spid="752649">
                                            <p:txEl>
                                              <p:charRg st="157" end="205"/>
                                            </p:txEl>
                                          </p:spTgt>
                                        </p:tgtEl>
                                        <p:attrNameLst>
                                          <p:attrName>style.visibility</p:attrName>
                                        </p:attrNameLst>
                                      </p:cBhvr>
                                    </p:anim>
                                  </p:childTnLst>
                                </p:cTn>
                              </p:par>
                              <p:par>
                                <p:cTn id="17" presetID="24" presetClass="entr" presetSubtype="0" fill="hold" nodeType="withEffect">
                                  <p:stCondLst>
                                    <p:cond delay="0"/>
                                  </p:stCondLst>
                                  <p:childTnLst>
                                    <p:set>
                                      <p:cBhvr>
                                        <p:cTn id="18" dur="1" fill="hold">
                                          <p:stCondLst>
                                            <p:cond delay="0"/>
                                          </p:stCondLst>
                                        </p:cTn>
                                        <p:tgtEl>
                                          <p:spTgt spid="752649">
                                            <p:txEl>
                                              <p:charRg st="205" end="238"/>
                                            </p:txEl>
                                          </p:spTgt>
                                        </p:tgtEl>
                                        <p:attrNameLst>
                                          <p:attrName>style.visibility</p:attrName>
                                        </p:attrNameLst>
                                      </p:cBhvr>
                                      <p:to>
                                        <p:strVal val="visible"/>
                                      </p:to>
                                    </p:set>
                                    <p:anim to="" calcmode="lin" valueType="num">
                                      <p:cBhvr>
                                        <p:cTn id="19" dur="1" fill="hold"/>
                                        <p:tgtEl>
                                          <p:spTgt spid="752649">
                                            <p:txEl>
                                              <p:charRg st="205" end="238"/>
                                            </p:txEl>
                                          </p:spTgt>
                                        </p:tgtEl>
                                        <p:attrNameLst>
                                          <p:attrName>style.visibility</p:attrName>
                                        </p:attrNameLst>
                                      </p:cBhvr>
                                    </p:anim>
                                  </p:childTnLst>
                                </p:cTn>
                              </p:par>
                              <p:par>
                                <p:cTn id="20" presetID="24" presetClass="entr" presetSubtype="0" fill="hold" nodeType="withEffect">
                                  <p:stCondLst>
                                    <p:cond delay="0"/>
                                  </p:stCondLst>
                                  <p:childTnLst>
                                    <p:set>
                                      <p:cBhvr>
                                        <p:cTn id="21" dur="1" fill="hold">
                                          <p:stCondLst>
                                            <p:cond delay="0"/>
                                          </p:stCondLst>
                                        </p:cTn>
                                        <p:tgtEl>
                                          <p:spTgt spid="752649">
                                            <p:txEl>
                                              <p:charRg st="238" end="270"/>
                                            </p:txEl>
                                          </p:spTgt>
                                        </p:tgtEl>
                                        <p:attrNameLst>
                                          <p:attrName>style.visibility</p:attrName>
                                        </p:attrNameLst>
                                      </p:cBhvr>
                                      <p:to>
                                        <p:strVal val="visible"/>
                                      </p:to>
                                    </p:set>
                                    <p:anim to="" calcmode="lin" valueType="num">
                                      <p:cBhvr>
                                        <p:cTn id="22" dur="1" fill="hold"/>
                                        <p:tgtEl>
                                          <p:spTgt spid="752649">
                                            <p:txEl>
                                              <p:charRg st="238" end="270"/>
                                            </p:txEl>
                                          </p:spTgt>
                                        </p:tgtEl>
                                        <p:attrNameLst>
                                          <p:attrName>style.visibility</p:attrName>
                                        </p:attrNameLst>
                                      </p:cBhvr>
                                    </p:anim>
                                  </p:childTnLst>
                                </p:cTn>
                              </p:par>
                              <p:par>
                                <p:cTn id="23" presetID="24" presetClass="entr" presetSubtype="0" fill="hold" nodeType="withEffect">
                                  <p:stCondLst>
                                    <p:cond delay="0"/>
                                  </p:stCondLst>
                                  <p:childTnLst>
                                    <p:set>
                                      <p:cBhvr>
                                        <p:cTn id="24" dur="1" fill="hold">
                                          <p:stCondLst>
                                            <p:cond delay="0"/>
                                          </p:stCondLst>
                                        </p:cTn>
                                        <p:tgtEl>
                                          <p:spTgt spid="752649">
                                            <p:txEl>
                                              <p:charRg st="270" end="301"/>
                                            </p:txEl>
                                          </p:spTgt>
                                        </p:tgtEl>
                                        <p:attrNameLst>
                                          <p:attrName>style.visibility</p:attrName>
                                        </p:attrNameLst>
                                      </p:cBhvr>
                                      <p:to>
                                        <p:strVal val="visible"/>
                                      </p:to>
                                    </p:set>
                                    <p:anim to="" calcmode="lin" valueType="num">
                                      <p:cBhvr>
                                        <p:cTn id="25" dur="1" fill="hold"/>
                                        <p:tgtEl>
                                          <p:spTgt spid="752649">
                                            <p:txEl>
                                              <p:charRg st="270" end="301"/>
                                            </p:txEl>
                                          </p:spTgt>
                                        </p:tgtEl>
                                        <p:attrNameLst>
                                          <p:attrName>style.visibility</p:attrName>
                                        </p:attrNameLst>
                                      </p:cBhvr>
                                    </p:anim>
                                  </p:childTnLst>
                                </p:cTn>
                              </p:par>
                              <p:par>
                                <p:cTn id="26" presetID="24" presetClass="entr" presetSubtype="0" fill="hold" nodeType="withEffect">
                                  <p:stCondLst>
                                    <p:cond delay="0"/>
                                  </p:stCondLst>
                                  <p:childTnLst>
                                    <p:set>
                                      <p:cBhvr>
                                        <p:cTn id="27" dur="1" fill="hold">
                                          <p:stCondLst>
                                            <p:cond delay="0"/>
                                          </p:stCondLst>
                                        </p:cTn>
                                        <p:tgtEl>
                                          <p:spTgt spid="752649">
                                            <p:txEl>
                                              <p:charRg st="301" end="344"/>
                                            </p:txEl>
                                          </p:spTgt>
                                        </p:tgtEl>
                                        <p:attrNameLst>
                                          <p:attrName>style.visibility</p:attrName>
                                        </p:attrNameLst>
                                      </p:cBhvr>
                                      <p:to>
                                        <p:strVal val="visible"/>
                                      </p:to>
                                    </p:set>
                                    <p:anim to="" calcmode="lin" valueType="num">
                                      <p:cBhvr>
                                        <p:cTn id="28" dur="1" fill="hold"/>
                                        <p:tgtEl>
                                          <p:spTgt spid="752649">
                                            <p:txEl>
                                              <p:charRg st="301" end="344"/>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6193" name="Group 40"/>
          <p:cNvGrpSpPr/>
          <p:nvPr/>
        </p:nvGrpSpPr>
        <p:grpSpPr>
          <a:xfrm>
            <a:off x="7164388" y="-265112"/>
            <a:ext cx="1758950" cy="1606550"/>
            <a:chOff x="672" y="334"/>
            <a:chExt cx="1108" cy="1012"/>
          </a:xfrm>
        </p:grpSpPr>
        <p:pic>
          <p:nvPicPr>
            <p:cNvPr id="136194"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36195" name="Group 28"/>
            <p:cNvGrpSpPr/>
            <p:nvPr/>
          </p:nvGrpSpPr>
          <p:grpSpPr>
            <a:xfrm>
              <a:off x="864" y="1104"/>
              <a:ext cx="768" cy="242"/>
              <a:chOff x="-768" y="1440"/>
              <a:chExt cx="768" cy="242"/>
            </a:xfrm>
          </p:grpSpPr>
          <p:sp>
            <p:nvSpPr>
              <p:cNvPr id="136196"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6197"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6198"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6199"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53673" name="Text Box 9"/>
          <p:cNvSpPr txBox="1"/>
          <p:nvPr/>
        </p:nvSpPr>
        <p:spPr>
          <a:xfrm>
            <a:off x="0" y="549275"/>
            <a:ext cx="9144000" cy="5532438"/>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15 </a:t>
            </a:r>
            <a:r>
              <a:rPr lang="zh-CN" altLang="en-US" sz="2400" dirty="0">
                <a:solidFill>
                  <a:srgbClr val="336699"/>
                </a:solidFill>
                <a:latin typeface="Arial" panose="020B0604020202020204" pitchFamily="34" charset="0"/>
                <a:ea typeface="宋体" panose="02010600030101010101" pitchFamily="2" charset="-122"/>
              </a:rPr>
              <a:t>专利及专用技术使用费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费用内容包括：</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①国外设计及技术资料费、引进有效专利、专有技术使用费和技术保密费；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②国内有效专利、专有技术使用费用；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③商标使用费、特许经营权费等。</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该费用的取定按照以下规则：</a:t>
            </a:r>
            <a:endParaRPr lang="zh-CN" altLang="en-US" sz="2400" dirty="0">
              <a:solidFill>
                <a:schemeClr val="hlink"/>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①按专利使用许可协议和专有技术使用合同的规定计列；</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②专有技术的界定应以省、部级鉴定机构的批准为依据；</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1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③项目投资中只计取需要在建设期支付的专利及专有技术使用费。协议或合同规定在生产期支付的使用费应在成本中核算。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53673">
                                            <p:txEl>
                                              <p:charRg st="0" end="26"/>
                                            </p:txEl>
                                          </p:spTgt>
                                        </p:tgtEl>
                                        <p:attrNameLst>
                                          <p:attrName>style.visibility</p:attrName>
                                        </p:attrNameLst>
                                      </p:cBhvr>
                                      <p:to>
                                        <p:strVal val="visible"/>
                                      </p:to>
                                    </p:set>
                                    <p:animEffect transition="in" filter="slide(fromBottom)">
                                      <p:cBhvr>
                                        <p:cTn id="7" dur="500"/>
                                        <p:tgtEl>
                                          <p:spTgt spid="753673">
                                            <p:txEl>
                                              <p:charRg st="0"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753673">
                                            <p:txEl>
                                              <p:charRg st="26" end="47"/>
                                            </p:txEl>
                                          </p:spTgt>
                                        </p:tgtEl>
                                        <p:attrNameLst>
                                          <p:attrName>style.visibility</p:attrName>
                                        </p:attrNameLst>
                                      </p:cBhvr>
                                      <p:to>
                                        <p:strVal val="visible"/>
                                      </p:to>
                                    </p:set>
                                    <p:anim to="" calcmode="lin" valueType="num">
                                      <p:cBhvr>
                                        <p:cTn id="12" dur="1" fill="hold"/>
                                        <p:tgtEl>
                                          <p:spTgt spid="753673">
                                            <p:txEl>
                                              <p:charRg st="26" end="47"/>
                                            </p:txEl>
                                          </p:spTgt>
                                        </p:tgtEl>
                                        <p:attrNameLst>
                                          <p:attrName>style.visibility</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753673">
                                            <p:txEl>
                                              <p:charRg st="47" end="94"/>
                                            </p:txEl>
                                          </p:spTgt>
                                        </p:tgtEl>
                                        <p:attrNameLst>
                                          <p:attrName>style.visibility</p:attrName>
                                        </p:attrNameLst>
                                      </p:cBhvr>
                                      <p:to>
                                        <p:strVal val="visible"/>
                                      </p:to>
                                    </p:set>
                                    <p:anim to="" calcmode="lin" valueType="num">
                                      <p:cBhvr>
                                        <p:cTn id="15" dur="1" fill="hold"/>
                                        <p:tgtEl>
                                          <p:spTgt spid="753673">
                                            <p:txEl>
                                              <p:charRg st="47" end="94"/>
                                            </p:txEl>
                                          </p:spTgt>
                                        </p:tgtEl>
                                        <p:attrNameLst>
                                          <p:attrName>style.visibility</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753673">
                                            <p:txEl>
                                              <p:charRg st="94" end="125"/>
                                            </p:txEl>
                                          </p:spTgt>
                                        </p:tgtEl>
                                        <p:attrNameLst>
                                          <p:attrName>style.visibility</p:attrName>
                                        </p:attrNameLst>
                                      </p:cBhvr>
                                      <p:to>
                                        <p:strVal val="visible"/>
                                      </p:to>
                                    </p:set>
                                    <p:anim to="" calcmode="lin" valueType="num">
                                      <p:cBhvr>
                                        <p:cTn id="18" dur="1" fill="hold"/>
                                        <p:tgtEl>
                                          <p:spTgt spid="753673">
                                            <p:txEl>
                                              <p:charRg st="94" end="125"/>
                                            </p:txEl>
                                          </p:spTgt>
                                        </p:tgtEl>
                                        <p:attrNameLst>
                                          <p:attrName>style.visibility</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753673">
                                            <p:txEl>
                                              <p:charRg st="125" end="154"/>
                                            </p:txEl>
                                          </p:spTgt>
                                        </p:tgtEl>
                                        <p:attrNameLst>
                                          <p:attrName>style.visibility</p:attrName>
                                        </p:attrNameLst>
                                      </p:cBhvr>
                                      <p:to>
                                        <p:strVal val="visible"/>
                                      </p:to>
                                    </p:set>
                                    <p:anim to="" calcmode="lin" valueType="num">
                                      <p:cBhvr>
                                        <p:cTn id="21" dur="1" fill="hold"/>
                                        <p:tgtEl>
                                          <p:spTgt spid="753673">
                                            <p:txEl>
                                              <p:charRg st="125" end="154"/>
                                            </p:txEl>
                                          </p:spTgt>
                                        </p:tgtEl>
                                        <p:attrNameLst>
                                          <p:attrName>style.visibility</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753673">
                                            <p:txEl>
                                              <p:charRg st="154" end="181"/>
                                            </p:txEl>
                                          </p:spTgt>
                                        </p:tgtEl>
                                        <p:attrNameLst>
                                          <p:attrName>style.visibility</p:attrName>
                                        </p:attrNameLst>
                                      </p:cBhvr>
                                      <p:to>
                                        <p:strVal val="visible"/>
                                      </p:to>
                                    </p:set>
                                    <p:anim to="" calcmode="lin" valueType="num">
                                      <p:cBhvr>
                                        <p:cTn id="24" dur="1" fill="hold"/>
                                        <p:tgtEl>
                                          <p:spTgt spid="753673">
                                            <p:txEl>
                                              <p:charRg st="154" end="181"/>
                                            </p:txEl>
                                          </p:spTgt>
                                        </p:tgtEl>
                                        <p:attrNameLst>
                                          <p:attrName>style.visibility</p:attrName>
                                        </p:attrNameLst>
                                      </p:cBhvr>
                                    </p:anim>
                                  </p:childTnLst>
                                </p:cTn>
                              </p:par>
                              <p:par>
                                <p:cTn id="25" presetID="24" presetClass="entr" presetSubtype="0" fill="hold" nodeType="withEffect">
                                  <p:stCondLst>
                                    <p:cond delay="0"/>
                                  </p:stCondLst>
                                  <p:childTnLst>
                                    <p:set>
                                      <p:cBhvr>
                                        <p:cTn id="26" dur="1" fill="hold">
                                          <p:stCondLst>
                                            <p:cond delay="0"/>
                                          </p:stCondLst>
                                        </p:cTn>
                                        <p:tgtEl>
                                          <p:spTgt spid="753673">
                                            <p:txEl>
                                              <p:charRg st="181" end="220"/>
                                            </p:txEl>
                                          </p:spTgt>
                                        </p:tgtEl>
                                        <p:attrNameLst>
                                          <p:attrName>style.visibility</p:attrName>
                                        </p:attrNameLst>
                                      </p:cBhvr>
                                      <p:to>
                                        <p:strVal val="visible"/>
                                      </p:to>
                                    </p:set>
                                    <p:anim to="" calcmode="lin" valueType="num">
                                      <p:cBhvr>
                                        <p:cTn id="27" dur="1" fill="hold"/>
                                        <p:tgtEl>
                                          <p:spTgt spid="753673">
                                            <p:txEl>
                                              <p:charRg st="181" end="220"/>
                                            </p:txEl>
                                          </p:spTgt>
                                        </p:tgtEl>
                                        <p:attrNameLst>
                                          <p:attrName>style.visibility</p:attrName>
                                        </p:attrNameLst>
                                      </p:cBhvr>
                                    </p:anim>
                                  </p:childTnLst>
                                </p:cTn>
                              </p:par>
                              <p:par>
                                <p:cTn id="28" presetID="24" presetClass="entr" presetSubtype="0" fill="hold" nodeType="withEffect">
                                  <p:stCondLst>
                                    <p:cond delay="0"/>
                                  </p:stCondLst>
                                  <p:childTnLst>
                                    <p:set>
                                      <p:cBhvr>
                                        <p:cTn id="29" dur="1" fill="hold">
                                          <p:stCondLst>
                                            <p:cond delay="0"/>
                                          </p:stCondLst>
                                        </p:cTn>
                                        <p:tgtEl>
                                          <p:spTgt spid="753673">
                                            <p:txEl>
                                              <p:charRg st="220" end="259"/>
                                            </p:txEl>
                                          </p:spTgt>
                                        </p:tgtEl>
                                        <p:attrNameLst>
                                          <p:attrName>style.visibility</p:attrName>
                                        </p:attrNameLst>
                                      </p:cBhvr>
                                      <p:to>
                                        <p:strVal val="visible"/>
                                      </p:to>
                                    </p:set>
                                    <p:anim to="" calcmode="lin" valueType="num">
                                      <p:cBhvr>
                                        <p:cTn id="30" dur="1" fill="hold"/>
                                        <p:tgtEl>
                                          <p:spTgt spid="753673">
                                            <p:txEl>
                                              <p:charRg st="220" end="259"/>
                                            </p:txEl>
                                          </p:spTgt>
                                        </p:tgtEl>
                                        <p:attrNameLst>
                                          <p:attrName>style.visibility</p:attrName>
                                        </p:attrNameLst>
                                      </p:cBhvr>
                                    </p:anim>
                                  </p:childTnLst>
                                </p:cTn>
                              </p:par>
                              <p:par>
                                <p:cTn id="31" presetID="24" presetClass="entr" presetSubtype="0" fill="hold" nodeType="withEffect">
                                  <p:stCondLst>
                                    <p:cond delay="0"/>
                                  </p:stCondLst>
                                  <p:childTnLst>
                                    <p:set>
                                      <p:cBhvr>
                                        <p:cTn id="32" dur="1" fill="hold">
                                          <p:stCondLst>
                                            <p:cond delay="0"/>
                                          </p:stCondLst>
                                        </p:cTn>
                                        <p:tgtEl>
                                          <p:spTgt spid="753673">
                                            <p:txEl>
                                              <p:charRg st="259" end="328"/>
                                            </p:txEl>
                                          </p:spTgt>
                                        </p:tgtEl>
                                        <p:attrNameLst>
                                          <p:attrName>style.visibility</p:attrName>
                                        </p:attrNameLst>
                                      </p:cBhvr>
                                      <p:to>
                                        <p:strVal val="visible"/>
                                      </p:to>
                                    </p:set>
                                    <p:anim to="" calcmode="lin" valueType="num">
                                      <p:cBhvr>
                                        <p:cTn id="33" dur="1" fill="hold"/>
                                        <p:tgtEl>
                                          <p:spTgt spid="753673">
                                            <p:txEl>
                                              <p:charRg st="259" end="328"/>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7217" name="Group 40"/>
          <p:cNvGrpSpPr/>
          <p:nvPr/>
        </p:nvGrpSpPr>
        <p:grpSpPr>
          <a:xfrm>
            <a:off x="7164388" y="-265112"/>
            <a:ext cx="1758950" cy="1606550"/>
            <a:chOff x="672" y="334"/>
            <a:chExt cx="1108" cy="1012"/>
          </a:xfrm>
        </p:grpSpPr>
        <p:pic>
          <p:nvPicPr>
            <p:cNvPr id="137218"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37219" name="Group 28"/>
            <p:cNvGrpSpPr/>
            <p:nvPr/>
          </p:nvGrpSpPr>
          <p:grpSpPr>
            <a:xfrm>
              <a:off x="864" y="1104"/>
              <a:ext cx="768" cy="242"/>
              <a:chOff x="-768" y="1440"/>
              <a:chExt cx="768" cy="242"/>
            </a:xfrm>
          </p:grpSpPr>
          <p:sp>
            <p:nvSpPr>
              <p:cNvPr id="137220"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7221"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7222"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7223"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54697" name="Text Box 9"/>
          <p:cNvSpPr txBox="1"/>
          <p:nvPr/>
        </p:nvSpPr>
        <p:spPr>
          <a:xfrm>
            <a:off x="0" y="908050"/>
            <a:ext cx="8640763" cy="359727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16 </a:t>
            </a:r>
            <a:r>
              <a:rPr lang="zh-CN" altLang="en-US" sz="2400" dirty="0">
                <a:solidFill>
                  <a:srgbClr val="336699"/>
                </a:solidFill>
                <a:latin typeface="Arial" panose="020B0604020202020204" pitchFamily="34" charset="0"/>
                <a:ea typeface="宋体" panose="02010600030101010101" pitchFamily="2" charset="-122"/>
              </a:rPr>
              <a:t>生产准备及开办费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指建设项目为保证正常生产</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或营业、使用</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而发生的人员培训费、提前进场费以及投产使用初期必备的生产生活用具、工器具等购置费用。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新建项目按设计定员为基数计算，改扩建项目按新增设计定员为基数计算：</a:t>
            </a:r>
            <a:endParaRPr lang="zh-CN" altLang="en-US" sz="2400" dirty="0">
              <a:solidFill>
                <a:schemeClr val="hlink"/>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chemeClr val="hlink"/>
                </a:solidFill>
                <a:latin typeface="Arial" panose="020B0604020202020204" pitchFamily="34" charset="0"/>
                <a:ea typeface="宋体" panose="02010600030101010101" pitchFamily="2" charset="-122"/>
              </a:rPr>
              <a:t>             生产准备费 </a:t>
            </a:r>
            <a:r>
              <a:rPr lang="en-US" altLang="zh-CN" sz="2400" dirty="0">
                <a:solidFill>
                  <a:schemeClr val="hlink"/>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设计定员 </a:t>
            </a:r>
            <a:r>
              <a:rPr lang="en-US" altLang="zh-CN" sz="2400" dirty="0">
                <a:solidFill>
                  <a:schemeClr val="hlink"/>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生产准备费指标</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元</a:t>
            </a:r>
            <a:r>
              <a:rPr lang="en-US" altLang="zh-CN" sz="2400" dirty="0">
                <a:solidFill>
                  <a:schemeClr val="hlink"/>
                </a:solidFill>
                <a:latin typeface="Arial" panose="020B0604020202020204" pitchFamily="34" charset="0"/>
                <a:ea typeface="宋体" panose="02010600030101010101" pitchFamily="2" charset="-122"/>
              </a:rPr>
              <a:t>/</a:t>
            </a:r>
            <a:r>
              <a:rPr lang="zh-CN" altLang="en-US" sz="2400" dirty="0">
                <a:solidFill>
                  <a:schemeClr val="hlink"/>
                </a:solidFill>
                <a:latin typeface="Arial" panose="020B0604020202020204" pitchFamily="34" charset="0"/>
                <a:ea typeface="宋体" panose="02010600030101010101" pitchFamily="2" charset="-122"/>
              </a:rPr>
              <a:t>人</a:t>
            </a:r>
            <a:r>
              <a:rPr lang="en-US" altLang="zh-CN" sz="2400" dirty="0">
                <a:solidFill>
                  <a:schemeClr val="hlink"/>
                </a:solidFill>
                <a:latin typeface="Arial" panose="020B0604020202020204" pitchFamily="34" charset="0"/>
                <a:ea typeface="宋体" panose="02010600030101010101" pitchFamily="2" charset="-122"/>
              </a:rPr>
              <a:t>)</a:t>
            </a:r>
            <a:endParaRPr lang="en-US" altLang="zh-CN" sz="2400" dirty="0">
              <a:solidFill>
                <a:schemeClr val="hlink"/>
              </a:solidFill>
              <a:latin typeface="Arial" panose="020B0604020202020204" pitchFamily="34" charset="0"/>
              <a:ea typeface="宋体" panose="02010600030101010101" pitchFamily="2" charset="-122"/>
            </a:endParaRPr>
          </a:p>
          <a:p>
            <a:pPr marL="457200" indent="-457200">
              <a:lnSpc>
                <a:spcPct val="120000"/>
              </a:lnSpc>
            </a:pPr>
            <a:r>
              <a:rPr lang="en-US" altLang="zh-CN" sz="2400" dirty="0">
                <a:solidFill>
                  <a:schemeClr val="hlink"/>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生产准备费指标由投资企业自行测算。 </a:t>
            </a:r>
            <a:endParaRPr lang="zh-CN" altLang="en-US" sz="2400" dirty="0">
              <a:solidFill>
                <a:schemeClr val="hlink"/>
              </a:solidFill>
              <a:latin typeface="Arial" panose="020B0604020202020204" pitchFamily="34" charset="0"/>
              <a:ea typeface="宋体" panose="02010600030101010101" pitchFamily="2" charset="-122"/>
            </a:endParaRPr>
          </a:p>
        </p:txBody>
      </p:sp>
      <p:pic>
        <p:nvPicPr>
          <p:cNvPr id="137225" name="Picture 10" descr="图片1">
            <a:hlinkClick r:id="rId2" action="ppaction://hlinksldjump"/>
          </p:cNvPr>
          <p:cNvPicPr>
            <a:picLocks noChangeAspect="1"/>
          </p:cNvPicPr>
          <p:nvPr/>
        </p:nvPicPr>
        <p:blipFill>
          <a:blip r:embed="rId3"/>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54697">
                                            <p:txEl>
                                              <p:charRg st="0" end="20"/>
                                            </p:txEl>
                                          </p:spTgt>
                                        </p:tgtEl>
                                        <p:attrNameLst>
                                          <p:attrName>style.visibility</p:attrName>
                                        </p:attrNameLst>
                                      </p:cBhvr>
                                      <p:to>
                                        <p:strVal val="visible"/>
                                      </p:to>
                                    </p:set>
                                    <p:animEffect transition="in" filter="slide(fromBottom)">
                                      <p:cBhvr>
                                        <p:cTn id="7" dur="500"/>
                                        <p:tgtEl>
                                          <p:spTgt spid="754697">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54697">
                                            <p:txEl>
                                              <p:charRg st="20" end="96"/>
                                            </p:txEl>
                                          </p:spTgt>
                                        </p:tgtEl>
                                        <p:attrNameLst>
                                          <p:attrName>style.visibility</p:attrName>
                                        </p:attrNameLst>
                                      </p:cBhvr>
                                      <p:to>
                                        <p:strVal val="visible"/>
                                      </p:to>
                                    </p:set>
                                    <p:animEffect transition="in" filter="diamond(in)">
                                      <p:cBhvr>
                                        <p:cTn id="12" dur="2000"/>
                                        <p:tgtEl>
                                          <p:spTgt spid="754697">
                                            <p:txEl>
                                              <p:charRg st="20" end="9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754697">
                                            <p:txEl>
                                              <p:charRg st="96" end="143"/>
                                            </p:txEl>
                                          </p:spTgt>
                                        </p:tgtEl>
                                        <p:attrNameLst>
                                          <p:attrName>style.visibility</p:attrName>
                                        </p:attrNameLst>
                                      </p:cBhvr>
                                      <p:to>
                                        <p:strVal val="visible"/>
                                      </p:to>
                                    </p:set>
                                    <p:animEffect transition="in" filter="wedge">
                                      <p:cBhvr>
                                        <p:cTn id="17" dur="2000"/>
                                        <p:tgtEl>
                                          <p:spTgt spid="754697">
                                            <p:txEl>
                                              <p:charRg st="96" end="143"/>
                                            </p:txEl>
                                          </p:spTgt>
                                        </p:tgtEl>
                                      </p:cBhvr>
                                    </p:animEffect>
                                  </p:childTnLst>
                                </p:cTn>
                              </p:par>
                              <p:par>
                                <p:cTn id="18" presetID="20" presetClass="entr" presetSubtype="0" fill="hold" nodeType="withEffect">
                                  <p:stCondLst>
                                    <p:cond delay="0"/>
                                  </p:stCondLst>
                                  <p:childTnLst>
                                    <p:set>
                                      <p:cBhvr>
                                        <p:cTn id="19" dur="1" fill="hold">
                                          <p:stCondLst>
                                            <p:cond delay="0"/>
                                          </p:stCondLst>
                                        </p:cTn>
                                        <p:tgtEl>
                                          <p:spTgt spid="754697">
                                            <p:txEl>
                                              <p:charRg st="143" end="184"/>
                                            </p:txEl>
                                          </p:spTgt>
                                        </p:tgtEl>
                                        <p:attrNameLst>
                                          <p:attrName>style.visibility</p:attrName>
                                        </p:attrNameLst>
                                      </p:cBhvr>
                                      <p:to>
                                        <p:strVal val="visible"/>
                                      </p:to>
                                    </p:set>
                                    <p:animEffect transition="in" filter="wedge">
                                      <p:cBhvr>
                                        <p:cTn id="20" dur="2000"/>
                                        <p:tgtEl>
                                          <p:spTgt spid="754697">
                                            <p:txEl>
                                              <p:charRg st="143" end="184"/>
                                            </p:txEl>
                                          </p:spTgt>
                                        </p:tgtEl>
                                      </p:cBhvr>
                                    </p:animEffect>
                                  </p:childTnLst>
                                </p:cTn>
                              </p:par>
                              <p:par>
                                <p:cTn id="21" presetID="20" presetClass="entr" presetSubtype="0" fill="hold" nodeType="withEffect">
                                  <p:stCondLst>
                                    <p:cond delay="0"/>
                                  </p:stCondLst>
                                  <p:childTnLst>
                                    <p:set>
                                      <p:cBhvr>
                                        <p:cTn id="22" dur="1" fill="hold">
                                          <p:stCondLst>
                                            <p:cond delay="0"/>
                                          </p:stCondLst>
                                        </p:cTn>
                                        <p:tgtEl>
                                          <p:spTgt spid="754697">
                                            <p:txEl>
                                              <p:charRg st="184" end="216"/>
                                            </p:txEl>
                                          </p:spTgt>
                                        </p:tgtEl>
                                        <p:attrNameLst>
                                          <p:attrName>style.visibility</p:attrName>
                                        </p:attrNameLst>
                                      </p:cBhvr>
                                      <p:to>
                                        <p:strVal val="visible"/>
                                      </p:to>
                                    </p:set>
                                    <p:animEffect transition="in" filter="wedge">
                                      <p:cBhvr>
                                        <p:cTn id="23" dur="2000"/>
                                        <p:tgtEl>
                                          <p:spTgt spid="754697">
                                            <p:txEl>
                                              <p:charRg st="184" end="2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Rectangle 2"/>
          <p:cNvSpPr>
            <a:spLocks noGrp="1"/>
          </p:cNvSpPr>
          <p:nvPr>
            <p:ph type="title"/>
          </p:nvPr>
        </p:nvSpPr>
        <p:spPr>
          <a:xfrm>
            <a:off x="914400" y="333375"/>
            <a:ext cx="8229600" cy="1143000"/>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4.4 </a:t>
            </a:r>
            <a:r>
              <a:rPr lang="zh-CN" altLang="en-US" b="1" dirty="0">
                <a:solidFill>
                  <a:srgbClr val="000099"/>
                </a:solidFill>
                <a:latin typeface="黑体" panose="02010609060101010101" pitchFamily="49" charset="-122"/>
                <a:ea typeface="黑体" panose="02010609060101010101" pitchFamily="49" charset="-122"/>
              </a:rPr>
              <a:t>预备费和建设期利息</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138242"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grpSp>
        <p:nvGrpSpPr>
          <p:cNvPr id="138243" name="Group 4"/>
          <p:cNvGrpSpPr/>
          <p:nvPr/>
        </p:nvGrpSpPr>
        <p:grpSpPr>
          <a:xfrm>
            <a:off x="1682750" y="2546350"/>
            <a:ext cx="5668963" cy="1898650"/>
            <a:chOff x="1060" y="1604"/>
            <a:chExt cx="3571" cy="1196"/>
          </a:xfrm>
        </p:grpSpPr>
        <p:sp>
          <p:nvSpPr>
            <p:cNvPr id="138244" name="Line 18"/>
            <p:cNvSpPr/>
            <p:nvPr/>
          </p:nvSpPr>
          <p:spPr>
            <a:xfrm>
              <a:off x="1060" y="1604"/>
              <a:ext cx="3563" cy="0"/>
            </a:xfrm>
            <a:prstGeom prst="line">
              <a:avLst/>
            </a:prstGeom>
            <a:ln w="38100" cap="rnd" cmpd="sng">
              <a:solidFill>
                <a:srgbClr val="008000"/>
              </a:solidFill>
              <a:prstDash val="sysDot"/>
              <a:round/>
              <a:headEnd type="none" w="med" len="med"/>
              <a:tailEnd type="oval" w="med" len="med"/>
            </a:ln>
          </p:spPr>
        </p:sp>
        <p:sp>
          <p:nvSpPr>
            <p:cNvPr id="138245" name="Line 18"/>
            <p:cNvSpPr/>
            <p:nvPr/>
          </p:nvSpPr>
          <p:spPr>
            <a:xfrm>
              <a:off x="1069" y="2208"/>
              <a:ext cx="3562" cy="0"/>
            </a:xfrm>
            <a:prstGeom prst="line">
              <a:avLst/>
            </a:prstGeom>
            <a:ln w="38100" cap="rnd" cmpd="sng">
              <a:solidFill>
                <a:srgbClr val="008000"/>
              </a:solidFill>
              <a:prstDash val="sysDot"/>
              <a:round/>
              <a:headEnd type="none" w="med" len="med"/>
              <a:tailEnd type="oval" w="med" len="med"/>
            </a:ln>
          </p:spPr>
        </p:sp>
        <p:sp>
          <p:nvSpPr>
            <p:cNvPr id="138246" name="Line 18"/>
            <p:cNvSpPr/>
            <p:nvPr/>
          </p:nvSpPr>
          <p:spPr>
            <a:xfrm>
              <a:off x="1067" y="2800"/>
              <a:ext cx="3562" cy="0"/>
            </a:xfrm>
            <a:prstGeom prst="line">
              <a:avLst/>
            </a:prstGeom>
            <a:ln w="38100" cap="rnd" cmpd="sng">
              <a:solidFill>
                <a:srgbClr val="008000"/>
              </a:solidFill>
              <a:prstDash val="sysDot"/>
              <a:round/>
              <a:headEnd type="none" w="med" len="med"/>
              <a:tailEnd type="oval" w="med" len="med"/>
            </a:ln>
          </p:spPr>
        </p:sp>
      </p:grpSp>
      <p:grpSp>
        <p:nvGrpSpPr>
          <p:cNvPr id="138247" name="Group 8"/>
          <p:cNvGrpSpPr/>
          <p:nvPr/>
        </p:nvGrpSpPr>
        <p:grpSpPr>
          <a:xfrm>
            <a:off x="1701800" y="2046288"/>
            <a:ext cx="504825" cy="2443162"/>
            <a:chOff x="1072" y="1289"/>
            <a:chExt cx="318" cy="1539"/>
          </a:xfrm>
        </p:grpSpPr>
        <p:pic>
          <p:nvPicPr>
            <p:cNvPr id="138248" name="Picture 12" descr="003c"/>
            <p:cNvPicPr>
              <a:picLocks noChangeAspect="1"/>
            </p:cNvPicPr>
            <p:nvPr/>
          </p:nvPicPr>
          <p:blipFill>
            <a:blip r:embed="rId1"/>
            <a:stretch>
              <a:fillRect/>
            </a:stretch>
          </p:blipFill>
          <p:spPr>
            <a:xfrm>
              <a:off x="1072" y="1899"/>
              <a:ext cx="318" cy="318"/>
            </a:xfrm>
            <a:prstGeom prst="rect">
              <a:avLst/>
            </a:prstGeom>
            <a:noFill/>
            <a:ln w="9525">
              <a:noFill/>
            </a:ln>
          </p:spPr>
        </p:pic>
        <p:pic>
          <p:nvPicPr>
            <p:cNvPr id="138249" name="Picture 14" descr="002b"/>
            <p:cNvPicPr>
              <a:picLocks noChangeAspect="1"/>
            </p:cNvPicPr>
            <p:nvPr/>
          </p:nvPicPr>
          <p:blipFill>
            <a:blip r:embed="rId2"/>
            <a:stretch>
              <a:fillRect/>
            </a:stretch>
          </p:blipFill>
          <p:spPr>
            <a:xfrm>
              <a:off x="1072" y="1289"/>
              <a:ext cx="318" cy="318"/>
            </a:xfrm>
            <a:prstGeom prst="rect">
              <a:avLst/>
            </a:prstGeom>
            <a:noFill/>
            <a:ln w="9525">
              <a:noFill/>
            </a:ln>
          </p:spPr>
        </p:pic>
        <p:pic>
          <p:nvPicPr>
            <p:cNvPr id="138250" name="Picture 16" descr="004d (2)"/>
            <p:cNvPicPr>
              <a:picLocks noChangeAspect="1"/>
            </p:cNvPicPr>
            <p:nvPr/>
          </p:nvPicPr>
          <p:blipFill>
            <a:blip r:embed="rId3"/>
            <a:stretch>
              <a:fillRect/>
            </a:stretch>
          </p:blipFill>
          <p:spPr>
            <a:xfrm>
              <a:off x="1072" y="2510"/>
              <a:ext cx="318" cy="318"/>
            </a:xfrm>
            <a:prstGeom prst="rect">
              <a:avLst/>
            </a:prstGeom>
            <a:noFill/>
            <a:ln w="9525">
              <a:noFill/>
            </a:ln>
          </p:spPr>
        </p:pic>
      </p:grpSp>
      <p:sp>
        <p:nvSpPr>
          <p:cNvPr id="755724" name="Text Box 12">
            <a:hlinkClick r:id="rId4" action="ppaction://hlinksldjump"/>
          </p:cNvPr>
          <p:cNvSpPr txBox="1">
            <a:spLocks noChangeArrowheads="1"/>
          </p:cNvSpPr>
          <p:nvPr/>
        </p:nvSpPr>
        <p:spPr bwMode="auto">
          <a:xfrm>
            <a:off x="2268538" y="2133600"/>
            <a:ext cx="4464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什么是预备费？</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755725" name="Text Box 13">
            <a:hlinkClick r:id="rId5" action="ppaction://hlinksldjump"/>
          </p:cNvPr>
          <p:cNvSpPr txBox="1">
            <a:spLocks noChangeArrowheads="1"/>
          </p:cNvSpPr>
          <p:nvPr/>
        </p:nvSpPr>
        <p:spPr bwMode="auto">
          <a:xfrm>
            <a:off x="2268538" y="3068638"/>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预备费的具体构成？</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755726" name="Text Box 14">
            <a:hlinkClick r:id="" action="ppaction://noaction"/>
          </p:cNvPr>
          <p:cNvSpPr txBox="1">
            <a:spLocks noChangeArrowheads="1"/>
          </p:cNvSpPr>
          <p:nvPr/>
        </p:nvSpPr>
        <p:spPr bwMode="auto">
          <a:xfrm>
            <a:off x="2268538" y="4005263"/>
            <a:ext cx="4679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建设期利息计算</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138254" name="Picture 27" descr="生物10"/>
          <p:cNvPicPr>
            <a:picLocks noChangeAspect="1"/>
          </p:cNvPicPr>
          <p:nvPr/>
        </p:nvPicPr>
        <p:blipFill>
          <a:blip r:embed="rId6"/>
          <a:srcRect r="68536" b="6113"/>
          <a:stretch>
            <a:fillRect/>
          </a:stretch>
        </p:blipFill>
        <p:spPr>
          <a:xfrm>
            <a:off x="563563" y="765175"/>
            <a:ext cx="830262" cy="706438"/>
          </a:xfrm>
          <a:prstGeom prst="rect">
            <a:avLst/>
          </a:prstGeom>
          <a:noFill/>
          <a:ln w="9525">
            <a:noFill/>
          </a:ln>
        </p:spPr>
      </p:pic>
      <p:grpSp>
        <p:nvGrpSpPr>
          <p:cNvPr id="138255" name="Group 43"/>
          <p:cNvGrpSpPr/>
          <p:nvPr/>
        </p:nvGrpSpPr>
        <p:grpSpPr>
          <a:xfrm>
            <a:off x="563563" y="1603375"/>
            <a:ext cx="1704975" cy="381000"/>
            <a:chOff x="-1324" y="576"/>
            <a:chExt cx="912" cy="240"/>
          </a:xfrm>
        </p:grpSpPr>
        <p:sp>
          <p:nvSpPr>
            <p:cNvPr id="138256"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8257"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8258"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pic>
        <p:nvPicPr>
          <p:cNvPr id="138259" name="Picture 20" descr="图片1">
            <a:hlinkClick r:id="rId7" action="ppaction://hlinksldjump"/>
          </p:cNvPr>
          <p:cNvPicPr>
            <a:picLocks noChangeAspect="1"/>
          </p:cNvPicPr>
          <p:nvPr/>
        </p:nvPicPr>
        <p:blipFill>
          <a:blip r:embed="rId8"/>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55724"/>
                                        </p:tgtEl>
                                        <p:attrNameLst>
                                          <p:attrName>style.visibility</p:attrName>
                                        </p:attrNameLst>
                                      </p:cBhvr>
                                      <p:to>
                                        <p:strVal val="visible"/>
                                      </p:to>
                                    </p:set>
                                    <p:animEffect transition="in" filter="wipe(left)">
                                      <p:cBhvr>
                                        <p:cTn id="7" dur="1000"/>
                                        <p:tgtEl>
                                          <p:spTgt spid="755724"/>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55725"/>
                                        </p:tgtEl>
                                        <p:attrNameLst>
                                          <p:attrName>style.visibility</p:attrName>
                                        </p:attrNameLst>
                                      </p:cBhvr>
                                      <p:to>
                                        <p:strVal val="visible"/>
                                      </p:to>
                                    </p:set>
                                    <p:animEffect transition="in" filter="wipe(left)">
                                      <p:cBhvr>
                                        <p:cTn id="11" dur="1000"/>
                                        <p:tgtEl>
                                          <p:spTgt spid="755725"/>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755726"/>
                                        </p:tgtEl>
                                        <p:attrNameLst>
                                          <p:attrName>style.visibility</p:attrName>
                                        </p:attrNameLst>
                                      </p:cBhvr>
                                      <p:to>
                                        <p:strVal val="visible"/>
                                      </p:to>
                                    </p:set>
                                    <p:animEffect transition="in" filter="wipe(left)">
                                      <p:cBhvr>
                                        <p:cTn id="15" dur="1000"/>
                                        <p:tgtEl>
                                          <p:spTgt spid="755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5724" grpId="0"/>
      <p:bldP spid="755725" grpId="0"/>
      <p:bldP spid="755726"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39265" name="Group 40"/>
          <p:cNvGrpSpPr/>
          <p:nvPr/>
        </p:nvGrpSpPr>
        <p:grpSpPr>
          <a:xfrm>
            <a:off x="7164388" y="-265112"/>
            <a:ext cx="1758950" cy="1606550"/>
            <a:chOff x="672" y="334"/>
            <a:chExt cx="1108" cy="1012"/>
          </a:xfrm>
        </p:grpSpPr>
        <p:pic>
          <p:nvPicPr>
            <p:cNvPr id="139266"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39267" name="Group 28"/>
            <p:cNvGrpSpPr/>
            <p:nvPr/>
          </p:nvGrpSpPr>
          <p:grpSpPr>
            <a:xfrm>
              <a:off x="864" y="1104"/>
              <a:ext cx="768" cy="242"/>
              <a:chOff x="-768" y="1440"/>
              <a:chExt cx="768" cy="242"/>
            </a:xfrm>
          </p:grpSpPr>
          <p:sp>
            <p:nvSpPr>
              <p:cNvPr id="139268"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39269"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9270"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39271"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56745" name="Text Box 9"/>
          <p:cNvSpPr txBox="1">
            <a:spLocks noChangeArrowheads="1"/>
          </p:cNvSpPr>
          <p:nvPr/>
        </p:nvSpPr>
        <p:spPr bwMode="auto">
          <a:xfrm>
            <a:off x="0" y="908050"/>
            <a:ext cx="8640763"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预备费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是指在初步设计及概算内难以预料的工程费用。预备费包括基本预备费和价差预备费。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①基本预备费：</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(1)</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进行技术设计、施工图设计和施工过程中，在批准的初步设计和概算范围内所增加的工程费用。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(2)</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由一般自然灾害所造成的损失和预防自然灾害所采取的措施费用。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(3)</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竣工验收为鉴定工程质量，必须开挖和修复隐蔽工程的费用。</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56745">
                                            <p:txEl>
                                              <p:charRg st="0" end="21"/>
                                            </p:txEl>
                                          </p:spTgt>
                                        </p:tgtEl>
                                        <p:attrNameLst>
                                          <p:attrName>style.visibility</p:attrName>
                                        </p:attrNameLst>
                                      </p:cBhvr>
                                      <p:to>
                                        <p:strVal val="visible"/>
                                      </p:to>
                                    </p:set>
                                    <p:animEffect transition="in" filter="slide(fromBottom)">
                                      <p:cBhvr>
                                        <p:cTn id="7" dur="500"/>
                                        <p:tgtEl>
                                          <p:spTgt spid="756745">
                                            <p:txEl>
                                              <p:charRg st="0"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756745">
                                            <p:txEl>
                                              <p:charRg st="21" end="73"/>
                                            </p:txEl>
                                          </p:spTgt>
                                        </p:tgtEl>
                                        <p:attrNameLst>
                                          <p:attrName>style.visibility</p:attrName>
                                        </p:attrNameLst>
                                      </p:cBhvr>
                                      <p:to>
                                        <p:strVal val="visible"/>
                                      </p:to>
                                    </p:set>
                                    <p:animEffect transition="in" filter="diamond(in)">
                                      <p:cBhvr>
                                        <p:cTn id="12" dur="2000"/>
                                        <p:tgtEl>
                                          <p:spTgt spid="756745">
                                            <p:txEl>
                                              <p:charRg st="21" end="7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756745">
                                            <p:txEl>
                                              <p:charRg st="73" end="94"/>
                                            </p:txEl>
                                          </p:spTgt>
                                        </p:tgtEl>
                                        <p:attrNameLst>
                                          <p:attrName>style.visibility</p:attrName>
                                        </p:attrNameLst>
                                      </p:cBhvr>
                                      <p:to>
                                        <p:strVal val="visible"/>
                                      </p:to>
                                    </p:set>
                                    <p:anim to="" calcmode="lin" valueType="num">
                                      <p:cBhvr>
                                        <p:cTn id="17" dur="1" fill="hold"/>
                                        <p:tgtEl>
                                          <p:spTgt spid="756745">
                                            <p:txEl>
                                              <p:charRg st="73" end="94"/>
                                            </p:txEl>
                                          </p:spTgt>
                                        </p:tgtEl>
                                        <p:attrNameLst>
                                          <p:attrName>style.visibility</p:attrName>
                                        </p:attrNameLst>
                                      </p:cBhvr>
                                    </p:anim>
                                  </p:childTnLst>
                                </p:cTn>
                              </p:par>
                              <p:par>
                                <p:cTn id="18" presetID="24" presetClass="entr" presetSubtype="0" fill="hold" nodeType="withEffect">
                                  <p:stCondLst>
                                    <p:cond delay="0"/>
                                  </p:stCondLst>
                                  <p:childTnLst>
                                    <p:set>
                                      <p:cBhvr>
                                        <p:cTn id="19" dur="1" fill="hold">
                                          <p:stCondLst>
                                            <p:cond delay="0"/>
                                          </p:stCondLst>
                                        </p:cTn>
                                        <p:tgtEl>
                                          <p:spTgt spid="756745">
                                            <p:txEl>
                                              <p:charRg st="94" end="153"/>
                                            </p:txEl>
                                          </p:spTgt>
                                        </p:tgtEl>
                                        <p:attrNameLst>
                                          <p:attrName>style.visibility</p:attrName>
                                        </p:attrNameLst>
                                      </p:cBhvr>
                                      <p:to>
                                        <p:strVal val="visible"/>
                                      </p:to>
                                    </p:set>
                                    <p:anim to="" calcmode="lin" valueType="num">
                                      <p:cBhvr>
                                        <p:cTn id="20" dur="1" fill="hold"/>
                                        <p:tgtEl>
                                          <p:spTgt spid="756745">
                                            <p:txEl>
                                              <p:charRg st="94" end="153"/>
                                            </p:txEl>
                                          </p:spTgt>
                                        </p:tgtEl>
                                        <p:attrNameLst>
                                          <p:attrName>style.visibility</p:attrName>
                                        </p:attrNameLst>
                                      </p:cBhvr>
                                    </p:anim>
                                  </p:childTnLst>
                                </p:cTn>
                              </p:par>
                              <p:par>
                                <p:cTn id="21" presetID="24" presetClass="entr" presetSubtype="0" fill="hold" nodeType="withEffect">
                                  <p:stCondLst>
                                    <p:cond delay="0"/>
                                  </p:stCondLst>
                                  <p:childTnLst>
                                    <p:set>
                                      <p:cBhvr>
                                        <p:cTn id="22" dur="1" fill="hold">
                                          <p:stCondLst>
                                            <p:cond delay="0"/>
                                          </p:stCondLst>
                                        </p:cTn>
                                        <p:tgtEl>
                                          <p:spTgt spid="756745">
                                            <p:txEl>
                                              <p:charRg st="153" end="199"/>
                                            </p:txEl>
                                          </p:spTgt>
                                        </p:tgtEl>
                                        <p:attrNameLst>
                                          <p:attrName>style.visibility</p:attrName>
                                        </p:attrNameLst>
                                      </p:cBhvr>
                                      <p:to>
                                        <p:strVal val="visible"/>
                                      </p:to>
                                    </p:set>
                                    <p:anim to="" calcmode="lin" valueType="num">
                                      <p:cBhvr>
                                        <p:cTn id="23" dur="1" fill="hold"/>
                                        <p:tgtEl>
                                          <p:spTgt spid="756745">
                                            <p:txEl>
                                              <p:charRg st="153" end="199"/>
                                            </p:txEl>
                                          </p:spTgt>
                                        </p:tgtEl>
                                        <p:attrNameLst>
                                          <p:attrName>style.visibility</p:attrName>
                                        </p:attrNameLst>
                                      </p:cBhvr>
                                    </p:anim>
                                  </p:childTnLst>
                                </p:cTn>
                              </p:par>
                              <p:par>
                                <p:cTn id="24" presetID="24" presetClass="entr" presetSubtype="0" fill="hold" nodeType="withEffect">
                                  <p:stCondLst>
                                    <p:cond delay="0"/>
                                  </p:stCondLst>
                                  <p:childTnLst>
                                    <p:set>
                                      <p:cBhvr>
                                        <p:cTn id="25" dur="1" fill="hold">
                                          <p:stCondLst>
                                            <p:cond delay="0"/>
                                          </p:stCondLst>
                                        </p:cTn>
                                        <p:tgtEl>
                                          <p:spTgt spid="756745">
                                            <p:txEl>
                                              <p:charRg st="199" end="243"/>
                                            </p:txEl>
                                          </p:spTgt>
                                        </p:tgtEl>
                                        <p:attrNameLst>
                                          <p:attrName>style.visibility</p:attrName>
                                        </p:attrNameLst>
                                      </p:cBhvr>
                                      <p:to>
                                        <p:strVal val="visible"/>
                                      </p:to>
                                    </p:set>
                                    <p:anim to="" calcmode="lin" valueType="num">
                                      <p:cBhvr>
                                        <p:cTn id="26" dur="1" fill="hold"/>
                                        <p:tgtEl>
                                          <p:spTgt spid="756745">
                                            <p:txEl>
                                              <p:charRg st="199" end="243"/>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0289" name="Group 40"/>
          <p:cNvGrpSpPr/>
          <p:nvPr/>
        </p:nvGrpSpPr>
        <p:grpSpPr>
          <a:xfrm>
            <a:off x="7164388" y="-265112"/>
            <a:ext cx="1758950" cy="1606550"/>
            <a:chOff x="672" y="334"/>
            <a:chExt cx="1108" cy="1012"/>
          </a:xfrm>
        </p:grpSpPr>
        <p:pic>
          <p:nvPicPr>
            <p:cNvPr id="140290"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40291" name="Group 28"/>
            <p:cNvGrpSpPr/>
            <p:nvPr/>
          </p:nvGrpSpPr>
          <p:grpSpPr>
            <a:xfrm>
              <a:off x="864" y="1104"/>
              <a:ext cx="768" cy="242"/>
              <a:chOff x="-768" y="1440"/>
              <a:chExt cx="768" cy="242"/>
            </a:xfrm>
          </p:grpSpPr>
          <p:sp>
            <p:nvSpPr>
              <p:cNvPr id="140292"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40293"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40294"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40295"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57769" name="Text Box 9"/>
          <p:cNvSpPr txBox="1"/>
          <p:nvPr/>
        </p:nvSpPr>
        <p:spPr>
          <a:xfrm>
            <a:off x="503238" y="836613"/>
            <a:ext cx="8640762" cy="184467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②价差预备费：设备、材料的价差。</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其费用定额及计算规则如下：</a:t>
            </a:r>
            <a:endParaRPr lang="zh-CN" altLang="en-US" sz="2400" dirty="0">
              <a:solidFill>
                <a:schemeClr val="hlink"/>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预备费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（工程费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工程建设其他费）</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相关费率（费率见表</a:t>
            </a:r>
            <a:r>
              <a:rPr lang="en-US" altLang="zh-CN" sz="2400" dirty="0">
                <a:solidFill>
                  <a:srgbClr val="336699"/>
                </a:solidFill>
                <a:latin typeface="Arial" panose="020B0604020202020204" pitchFamily="34" charset="0"/>
                <a:ea typeface="宋体" panose="02010600030101010101" pitchFamily="2" charset="-122"/>
              </a:rPr>
              <a:t>6-27</a:t>
            </a:r>
            <a:r>
              <a:rPr lang="zh-CN" altLang="en-US" sz="2400" dirty="0">
                <a:solidFill>
                  <a:srgbClr val="336699"/>
                </a:solidFill>
                <a:latin typeface="Arial" panose="020B0604020202020204" pitchFamily="34" charset="0"/>
                <a:ea typeface="宋体" panose="02010600030101010101" pitchFamily="2" charset="-122"/>
              </a:rPr>
              <a:t>）</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757770" name="Rectangle 10"/>
          <p:cNvSpPr/>
          <p:nvPr/>
        </p:nvSpPr>
        <p:spPr>
          <a:xfrm>
            <a:off x="3348038" y="2636838"/>
            <a:ext cx="2201862" cy="336550"/>
          </a:xfrm>
          <a:prstGeom prst="rect">
            <a:avLst/>
          </a:prstGeom>
          <a:noFill/>
          <a:ln w="9525">
            <a:noFill/>
          </a:ln>
        </p:spPr>
        <p:txBody>
          <a:bodyPr wrap="none" anchor="ctr" anchorCtr="0">
            <a:spAutoFit/>
          </a:bodyPr>
          <a:p>
            <a:pPr algn="ctr" eaLnBrk="0" hangingPunct="0"/>
            <a:r>
              <a:rPr lang="zh-CN" altLang="en-US" sz="1600" b="0" dirty="0">
                <a:solidFill>
                  <a:schemeClr val="tx1"/>
                </a:solidFill>
                <a:latin typeface="Times New Roman" panose="02020603050405020304" pitchFamily="18" charset="0"/>
                <a:ea typeface="宋体" panose="02010600030101010101" pitchFamily="2" charset="-122"/>
              </a:rPr>
              <a:t>表</a:t>
            </a:r>
            <a:r>
              <a:rPr lang="en-US" altLang="zh-CN" sz="1600" b="0" dirty="0">
                <a:solidFill>
                  <a:schemeClr val="tx1"/>
                </a:solidFill>
                <a:latin typeface="Times New Roman" panose="02020603050405020304" pitchFamily="18" charset="0"/>
                <a:ea typeface="宋体" panose="02010600030101010101" pitchFamily="2" charset="-122"/>
              </a:rPr>
              <a:t>6-27 </a:t>
            </a:r>
            <a:r>
              <a:rPr lang="zh-CN" altLang="en-US" sz="1600" b="0" dirty="0">
                <a:solidFill>
                  <a:schemeClr val="tx1"/>
                </a:solidFill>
                <a:latin typeface="Times New Roman" panose="02020603050405020304" pitchFamily="18" charset="0"/>
                <a:ea typeface="宋体" panose="02010600030101010101" pitchFamily="2" charset="-122"/>
              </a:rPr>
              <a:t>预备费费率表</a:t>
            </a:r>
            <a:endParaRPr lang="zh-CN" altLang="en-US" sz="1600" b="0" dirty="0">
              <a:solidFill>
                <a:schemeClr val="tx1"/>
              </a:solidFill>
              <a:latin typeface="Times New Roman" panose="02020603050405020304" pitchFamily="18" charset="0"/>
              <a:ea typeface="宋体" panose="02010600030101010101" pitchFamily="2" charset="-122"/>
            </a:endParaRPr>
          </a:p>
        </p:txBody>
      </p:sp>
      <p:graphicFrame>
        <p:nvGraphicFramePr>
          <p:cNvPr id="757771" name="Group 11"/>
          <p:cNvGraphicFramePr>
            <a:graphicFrameLocks noGrp="1"/>
          </p:cNvGraphicFramePr>
          <p:nvPr/>
        </p:nvGraphicFramePr>
        <p:xfrm>
          <a:off x="755650" y="3068638"/>
          <a:ext cx="7056438" cy="1587500"/>
        </p:xfrm>
        <a:graphic>
          <a:graphicData uri="http://schemas.openxmlformats.org/drawingml/2006/table">
            <a:tbl>
              <a:tblPr/>
              <a:tblGrid>
                <a:gridCol w="3009900"/>
                <a:gridCol w="2751138"/>
                <a:gridCol w="1295400"/>
              </a:tblGrid>
              <a:tr h="581258">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工程名称</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计算基础</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费率（</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1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通信设备安装工程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rowSpan="3">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工程费</a:t>
                      </a: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a:t>
                      </a: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工程建设其他费</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3.0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1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通信线路工程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4.0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r h="335414">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通信管道工程</a:t>
                      </a:r>
                      <a:endParaRPr kumimoji="0" lang="zh-CN" altLang="en-US"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vMerge="1">
                  <a:tcPr/>
                </a:tc>
                <a:tc>
                  <a:txBody>
                    <a:bodyPr/>
                    <a:lstStyle>
                      <a:lvl1pPr eaLnBrk="0" hangingPunct="0">
                        <a:spcBef>
                          <a:spcPct val="20000"/>
                        </a:spcBef>
                        <a:defRPr sz="2000" b="1">
                          <a:solidFill>
                            <a:srgbClr val="336699"/>
                          </a:solidFill>
                          <a:latin typeface="Arial" panose="020B0604020202020204" pitchFamily="34" charset="0"/>
                        </a:defRPr>
                      </a:lvl1pPr>
                      <a:lvl2pPr eaLnBrk="0" hangingPunct="0">
                        <a:spcBef>
                          <a:spcPct val="20000"/>
                        </a:spcBef>
                        <a:defRPr b="1">
                          <a:solidFill>
                            <a:srgbClr val="336699"/>
                          </a:solidFill>
                          <a:latin typeface="Arial" panose="020B0604020202020204" pitchFamily="34" charset="0"/>
                        </a:defRPr>
                      </a:lvl2pPr>
                      <a:lvl3pPr eaLnBrk="0" hangingPunct="0">
                        <a:spcBef>
                          <a:spcPct val="20000"/>
                        </a:spcBef>
                        <a:defRPr sz="1600" b="1">
                          <a:solidFill>
                            <a:srgbClr val="336699"/>
                          </a:solidFill>
                          <a:latin typeface="Arial" panose="020B0604020202020204" pitchFamily="34" charset="0"/>
                        </a:defRPr>
                      </a:lvl3pPr>
                      <a:lvl4pPr eaLnBrk="0" hangingPunct="0">
                        <a:spcBef>
                          <a:spcPct val="20000"/>
                        </a:spcBef>
                        <a:defRPr sz="1400" b="1">
                          <a:solidFill>
                            <a:srgbClr val="336699"/>
                          </a:solidFill>
                          <a:latin typeface="Arial" panose="020B0604020202020204" pitchFamily="34" charset="0"/>
                        </a:defRPr>
                      </a:lvl4pPr>
                      <a:lvl5pPr eaLnBrk="0" hangingPunct="0">
                        <a:spcBef>
                          <a:spcPct val="20000"/>
                        </a:spcBef>
                        <a:defRPr sz="1400" b="1">
                          <a:solidFill>
                            <a:srgbClr val="336699"/>
                          </a:solidFill>
                          <a:latin typeface="Arial" panose="020B0604020202020204" pitchFamily="34" charset="0"/>
                        </a:defRPr>
                      </a:lvl5pPr>
                      <a:lvl6pPr eaLnBrk="0" fontAlgn="base" hangingPunct="0">
                        <a:spcBef>
                          <a:spcPct val="20000"/>
                        </a:spcBef>
                        <a:spcAft>
                          <a:spcPct val="0"/>
                        </a:spcAft>
                        <a:defRPr sz="1400" b="1">
                          <a:solidFill>
                            <a:srgbClr val="336699"/>
                          </a:solidFill>
                          <a:latin typeface="Arial" panose="020B0604020202020204" pitchFamily="34" charset="0"/>
                        </a:defRPr>
                      </a:lvl6pPr>
                      <a:lvl7pPr eaLnBrk="0" fontAlgn="base" hangingPunct="0">
                        <a:spcBef>
                          <a:spcPct val="20000"/>
                        </a:spcBef>
                        <a:spcAft>
                          <a:spcPct val="0"/>
                        </a:spcAft>
                        <a:defRPr sz="1400" b="1">
                          <a:solidFill>
                            <a:srgbClr val="336699"/>
                          </a:solidFill>
                          <a:latin typeface="Arial" panose="020B0604020202020204" pitchFamily="34" charset="0"/>
                        </a:defRPr>
                      </a:lvl7pPr>
                      <a:lvl8pPr eaLnBrk="0" fontAlgn="base" hangingPunct="0">
                        <a:spcBef>
                          <a:spcPct val="20000"/>
                        </a:spcBef>
                        <a:spcAft>
                          <a:spcPct val="0"/>
                        </a:spcAft>
                        <a:defRPr sz="1400" b="1">
                          <a:solidFill>
                            <a:srgbClr val="336699"/>
                          </a:solidFill>
                          <a:latin typeface="Arial" panose="020B0604020202020204" pitchFamily="34" charset="0"/>
                        </a:defRPr>
                      </a:lvl8pPr>
                      <a:lvl9pPr eaLnBrk="0" fontAlgn="base" hangingPunct="0">
                        <a:spcBef>
                          <a:spcPct val="20000"/>
                        </a:spcBef>
                        <a:spcAft>
                          <a:spcPct val="0"/>
                        </a:spcAft>
                        <a:defRPr sz="1400" b="1">
                          <a:solidFill>
                            <a:srgbClr val="336699"/>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rPr>
                        <a:t>5.0</a:t>
                      </a:r>
                      <a:endParaRPr kumimoji="0" lang="en-US" altLang="zh-CN" sz="1600" b="0" i="0" u="none" strike="noStrike" cap="none" normalizeH="0" baseline="0" smtClean="0">
                        <a:ln>
                          <a:noFill/>
                        </a:ln>
                        <a:solidFill>
                          <a:schemeClr val="tx1"/>
                        </a:solidFill>
                        <a:effectLst/>
                        <a:latin typeface="仿宋_GB2312" pitchFamily="49" charset="-122"/>
                        <a:ea typeface="仿宋_GB2312" pitchFamily="49" charset="-122"/>
                        <a:cs typeface="Times New Roman" panose="02020603050405020304" pitchFamily="18" charset="0"/>
                      </a:endParaRPr>
                    </a:p>
                  </a:txBody>
                  <a:tcPr marT="45738" marB="4573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757769">
                                            <p:txEl>
                                              <p:charRg st="0" end="25"/>
                                            </p:txEl>
                                          </p:spTgt>
                                        </p:tgtEl>
                                        <p:attrNameLst>
                                          <p:attrName>style.visibility</p:attrName>
                                        </p:attrNameLst>
                                      </p:cBhvr>
                                      <p:to>
                                        <p:strVal val="visible"/>
                                      </p:to>
                                    </p:set>
                                    <p:anim to="" calcmode="lin" valueType="num">
                                      <p:cBhvr>
                                        <p:cTn id="7" dur="1" fill="hold"/>
                                        <p:tgtEl>
                                          <p:spTgt spid="757769">
                                            <p:txEl>
                                              <p:charRg st="0" end="25"/>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757769">
                                            <p:txEl>
                                              <p:charRg st="25" end="47"/>
                                            </p:txEl>
                                          </p:spTgt>
                                        </p:tgtEl>
                                        <p:attrNameLst>
                                          <p:attrName>style.visibility</p:attrName>
                                        </p:attrNameLst>
                                      </p:cBhvr>
                                      <p:to>
                                        <p:strVal val="visible"/>
                                      </p:to>
                                    </p:set>
                                    <p:anim to="" calcmode="lin" valueType="num">
                                      <p:cBhvr>
                                        <p:cTn id="10" dur="1" fill="hold"/>
                                        <p:tgtEl>
                                          <p:spTgt spid="757769">
                                            <p:txEl>
                                              <p:charRg st="25" end="47"/>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757769">
                                            <p:txEl>
                                              <p:charRg st="47" end="88"/>
                                            </p:txEl>
                                          </p:spTgt>
                                        </p:tgtEl>
                                        <p:attrNameLst>
                                          <p:attrName>style.visibility</p:attrName>
                                        </p:attrNameLst>
                                      </p:cBhvr>
                                      <p:to>
                                        <p:strVal val="visible"/>
                                      </p:to>
                                    </p:set>
                                    <p:anim to="" calcmode="lin" valueType="num">
                                      <p:cBhvr>
                                        <p:cTn id="13" dur="1" fill="hold"/>
                                        <p:tgtEl>
                                          <p:spTgt spid="757769">
                                            <p:txEl>
                                              <p:charRg st="47" end="88"/>
                                            </p:txEl>
                                          </p:spTgt>
                                        </p:tgtEl>
                                        <p:attrNameLst>
                                          <p:attrName>style.visibility</p:attrName>
                                        </p:attrNameLst>
                                      </p:cBhvr>
                                    </p:anim>
                                  </p:childTnLst>
                                </p:cTn>
                              </p:par>
                            </p:childTnLst>
                          </p:cTn>
                        </p:par>
                      </p:childTnLst>
                    </p:cTn>
                  </p:par>
                  <p:par>
                    <p:cTn id="14" fill="hold">
                      <p:stCondLst>
                        <p:cond delay="indefinite"/>
                      </p:stCondLst>
                      <p:childTnLst>
                        <p:par>
                          <p:cTn id="15" fill="hold">
                            <p:stCondLst>
                              <p:cond delay="0"/>
                            </p:stCondLst>
                            <p:childTnLst>
                              <p:par>
                                <p:cTn id="16" presetID="20" presetClass="entr" presetSubtype="0" fill="hold" grpId="0" nodeType="clickEffect">
                                  <p:stCondLst>
                                    <p:cond delay="0"/>
                                  </p:stCondLst>
                                  <p:childTnLst>
                                    <p:set>
                                      <p:cBhvr>
                                        <p:cTn id="17" dur="1" fill="hold">
                                          <p:stCondLst>
                                            <p:cond delay="0"/>
                                          </p:stCondLst>
                                        </p:cTn>
                                        <p:tgtEl>
                                          <p:spTgt spid="757770"/>
                                        </p:tgtEl>
                                        <p:attrNameLst>
                                          <p:attrName>style.visibility</p:attrName>
                                        </p:attrNameLst>
                                      </p:cBhvr>
                                      <p:to>
                                        <p:strVal val="visible"/>
                                      </p:to>
                                    </p:set>
                                    <p:animEffect transition="in" filter="wedge">
                                      <p:cBhvr>
                                        <p:cTn id="18" dur="2000"/>
                                        <p:tgtEl>
                                          <p:spTgt spid="757770"/>
                                        </p:tgtEl>
                                      </p:cBhvr>
                                    </p:animEffect>
                                  </p:childTnLst>
                                </p:cTn>
                              </p:par>
                              <p:par>
                                <p:cTn id="19" presetID="20" presetClass="entr" presetSubtype="0" fill="hold" nodeType="withEffect">
                                  <p:stCondLst>
                                    <p:cond delay="0"/>
                                  </p:stCondLst>
                                  <p:childTnLst>
                                    <p:set>
                                      <p:cBhvr>
                                        <p:cTn id="20" dur="1" fill="hold">
                                          <p:stCondLst>
                                            <p:cond delay="0"/>
                                          </p:stCondLst>
                                        </p:cTn>
                                        <p:tgtEl>
                                          <p:spTgt spid="757771"/>
                                        </p:tgtEl>
                                        <p:attrNameLst>
                                          <p:attrName>style.visibility</p:attrName>
                                        </p:attrNameLst>
                                      </p:cBhvr>
                                      <p:to>
                                        <p:strVal val="visible"/>
                                      </p:to>
                                    </p:set>
                                    <p:animEffect transition="in" filter="wedge">
                                      <p:cBhvr>
                                        <p:cTn id="21" dur="2000"/>
                                        <p:tgtEl>
                                          <p:spTgt spid="757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70"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1313" name="Group 40"/>
          <p:cNvGrpSpPr/>
          <p:nvPr/>
        </p:nvGrpSpPr>
        <p:grpSpPr>
          <a:xfrm>
            <a:off x="7164388" y="-265112"/>
            <a:ext cx="1758950" cy="1606550"/>
            <a:chOff x="672" y="334"/>
            <a:chExt cx="1108" cy="1012"/>
          </a:xfrm>
        </p:grpSpPr>
        <p:pic>
          <p:nvPicPr>
            <p:cNvPr id="141314"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41315" name="Group 28"/>
            <p:cNvGrpSpPr/>
            <p:nvPr/>
          </p:nvGrpSpPr>
          <p:grpSpPr>
            <a:xfrm>
              <a:off x="864" y="1104"/>
              <a:ext cx="768" cy="242"/>
              <a:chOff x="-768" y="1440"/>
              <a:chExt cx="768" cy="242"/>
            </a:xfrm>
          </p:grpSpPr>
          <p:sp>
            <p:nvSpPr>
              <p:cNvPr id="141316"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41317"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41318"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41319" name="Rectangle 8"/>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758793" name="Text Box 9"/>
          <p:cNvSpPr txBox="1"/>
          <p:nvPr/>
        </p:nvSpPr>
        <p:spPr>
          <a:xfrm>
            <a:off x="503238" y="1196975"/>
            <a:ext cx="8640762" cy="1917700"/>
          </a:xfrm>
          <a:prstGeom prst="rect">
            <a:avLst/>
          </a:prstGeom>
          <a:noFill/>
          <a:ln w="9525">
            <a:noFill/>
          </a:ln>
        </p:spPr>
        <p:txBody>
          <a:bodyPr anchor="t" anchorCtr="0">
            <a:spAutoFit/>
          </a:bodyPr>
          <a:p>
            <a:pPr marL="457200" indent="-457200">
              <a:spcBef>
                <a:spcPct val="50000"/>
              </a:spcBef>
            </a:pPr>
            <a:r>
              <a:rPr lang="zh-CN" altLang="en-US"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2 </a:t>
            </a:r>
            <a:r>
              <a:rPr lang="zh-CN" altLang="en-US" sz="2400" dirty="0">
                <a:solidFill>
                  <a:srgbClr val="336699"/>
                </a:solidFill>
                <a:latin typeface="Arial" panose="020B0604020202020204" pitchFamily="34" charset="0"/>
                <a:ea typeface="宋体" panose="02010600030101010101" pitchFamily="2" charset="-122"/>
              </a:rPr>
              <a:t>建设期利息</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指建设项目贷款在建设期内发生并应计入固定资产的贷款利息等财务费用。</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spcBef>
                <a:spcPct val="50000"/>
              </a:spcBef>
            </a:pPr>
            <a:r>
              <a:rPr lang="zh-CN" altLang="en-US" sz="2400" dirty="0">
                <a:solidFill>
                  <a:srgbClr val="336699"/>
                </a:solidFill>
                <a:latin typeface="Arial" panose="020B0604020202020204" pitchFamily="34" charset="0"/>
                <a:ea typeface="宋体" panose="02010600030101010101" pitchFamily="2" charset="-122"/>
              </a:rPr>
              <a:t>        </a:t>
            </a:r>
            <a:r>
              <a:rPr lang="zh-CN" altLang="en-US" sz="2400" dirty="0">
                <a:solidFill>
                  <a:schemeClr val="hlink"/>
                </a:solidFill>
                <a:latin typeface="Arial" panose="020B0604020202020204" pitchFamily="34" charset="0"/>
                <a:ea typeface="宋体" panose="02010600030101010101" pitchFamily="2" charset="-122"/>
              </a:rPr>
              <a:t>该费用的取定按银行当期利率计算。</a:t>
            </a:r>
            <a:endParaRPr lang="zh-CN" altLang="en-US" sz="2400" dirty="0">
              <a:solidFill>
                <a:schemeClr val="hlink"/>
              </a:solidFill>
              <a:latin typeface="Arial" panose="020B0604020202020204" pitchFamily="34" charset="0"/>
              <a:ea typeface="宋体" panose="02010600030101010101" pitchFamily="2" charset="-122"/>
            </a:endParaRPr>
          </a:p>
        </p:txBody>
      </p:sp>
      <p:pic>
        <p:nvPicPr>
          <p:cNvPr id="141321" name="Picture 10" descr="图片1">
            <a:hlinkClick r:id="rId2" action="ppaction://hlinksldjump"/>
          </p:cNvPr>
          <p:cNvPicPr>
            <a:picLocks noChangeAspect="1"/>
          </p:cNvPicPr>
          <p:nvPr/>
        </p:nvPicPr>
        <p:blipFill>
          <a:blip r:embed="rId3"/>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58793">
                                            <p:txEl>
                                              <p:charRg st="0" end="17"/>
                                            </p:txEl>
                                          </p:spTgt>
                                        </p:tgtEl>
                                        <p:attrNameLst>
                                          <p:attrName>style.visibility</p:attrName>
                                        </p:attrNameLst>
                                      </p:cBhvr>
                                      <p:to>
                                        <p:strVal val="visible"/>
                                      </p:to>
                                    </p:set>
                                    <p:animEffect transition="in" filter="slide(fromBottom)">
                                      <p:cBhvr>
                                        <p:cTn id="7" dur="500"/>
                                        <p:tgtEl>
                                          <p:spTgt spid="758793">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758793">
                                            <p:txEl>
                                              <p:charRg st="17" end="58"/>
                                            </p:txEl>
                                          </p:spTgt>
                                        </p:tgtEl>
                                        <p:attrNameLst>
                                          <p:attrName>style.visibility</p:attrName>
                                        </p:attrNameLst>
                                      </p:cBhvr>
                                      <p:to>
                                        <p:strVal val="visible"/>
                                      </p:to>
                                    </p:set>
                                    <p:animEffect transition="in" filter="slide(fromBottom)">
                                      <p:cBhvr>
                                        <p:cTn id="12" dur="500"/>
                                        <p:tgtEl>
                                          <p:spTgt spid="758793">
                                            <p:txEl>
                                              <p:charRg st="17" end="5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758793">
                                            <p:txEl>
                                              <p:charRg st="58" end="83"/>
                                            </p:txEl>
                                          </p:spTgt>
                                        </p:tgtEl>
                                        <p:attrNameLst>
                                          <p:attrName>style.visibility</p:attrName>
                                        </p:attrNameLst>
                                      </p:cBhvr>
                                      <p:to>
                                        <p:strVal val="visible"/>
                                      </p:to>
                                    </p:set>
                                    <p:animEffect transition="in" filter="slide(fromBottom)">
                                      <p:cBhvr>
                                        <p:cTn id="17" dur="500"/>
                                        <p:tgtEl>
                                          <p:spTgt spid="758793">
                                            <p:txEl>
                                              <p:charRg st="58" end="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Rectangle 2"/>
          <p:cNvSpPr>
            <a:spLocks noGrp="1"/>
          </p:cNvSpPr>
          <p:nvPr>
            <p:ph type="title"/>
          </p:nvPr>
        </p:nvSpPr>
        <p:spPr>
          <a:xfrm>
            <a:off x="457200" y="274638"/>
            <a:ext cx="8229600" cy="1143000"/>
          </a:xfrm>
          <a:noFill/>
          <a:ln>
            <a:noFill/>
          </a:ln>
        </p:spPr>
        <p:txBody>
          <a:bodyPr anchor="t" anchorCtr="0"/>
          <a:p>
            <a:r>
              <a:rPr lang="zh-CN" altLang="en-US" sz="4000" b="1" dirty="0">
                <a:solidFill>
                  <a:srgbClr val="000099"/>
                </a:solidFill>
                <a:latin typeface="黑体" panose="02010609060101010101" pitchFamily="49" charset="-122"/>
                <a:ea typeface="黑体" panose="02010609060101010101" pitchFamily="49" charset="-122"/>
              </a:rPr>
              <a:t>阶段小结</a:t>
            </a:r>
            <a:endParaRPr lang="zh-CN" altLang="en-US" sz="4000" b="1" dirty="0">
              <a:solidFill>
                <a:srgbClr val="000099"/>
              </a:solidFill>
              <a:latin typeface="黑体" panose="02010609060101010101" pitchFamily="49" charset="-122"/>
              <a:ea typeface="黑体" panose="02010609060101010101" pitchFamily="49" charset="-122"/>
            </a:endParaRPr>
          </a:p>
        </p:txBody>
      </p:sp>
      <p:pic>
        <p:nvPicPr>
          <p:cNvPr id="142338" name="Picture 39" descr="bb"/>
          <p:cNvPicPr>
            <a:picLocks noChangeAspect="1"/>
          </p:cNvPicPr>
          <p:nvPr/>
        </p:nvPicPr>
        <p:blipFill>
          <a:blip r:embed="rId1"/>
          <a:stretch>
            <a:fillRect/>
          </a:stretch>
        </p:blipFill>
        <p:spPr>
          <a:xfrm rot="-464626">
            <a:off x="403225" y="0"/>
            <a:ext cx="1606550" cy="1530350"/>
          </a:xfrm>
          <a:prstGeom prst="rect">
            <a:avLst/>
          </a:prstGeom>
          <a:noFill/>
          <a:ln w="9525">
            <a:noFill/>
          </a:ln>
        </p:spPr>
      </p:pic>
      <p:grpSp>
        <p:nvGrpSpPr>
          <p:cNvPr id="142339" name="Group 28"/>
          <p:cNvGrpSpPr/>
          <p:nvPr/>
        </p:nvGrpSpPr>
        <p:grpSpPr>
          <a:xfrm>
            <a:off x="555625" y="1222375"/>
            <a:ext cx="1219200" cy="384175"/>
            <a:chOff x="-768" y="1440"/>
            <a:chExt cx="768" cy="242"/>
          </a:xfrm>
        </p:grpSpPr>
        <p:sp>
          <p:nvSpPr>
            <p:cNvPr id="142340"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知识总结</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42341"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42342" name="AutoShape 27"/>
          <p:cNvSpPr/>
          <p:nvPr/>
        </p:nvSpPr>
        <p:spPr>
          <a:xfrm>
            <a:off x="250825" y="923925"/>
            <a:ext cx="304800" cy="457200"/>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sp>
        <p:nvSpPr>
          <p:cNvPr id="759816" name="Rectangle 8"/>
          <p:cNvSpPr/>
          <p:nvPr/>
        </p:nvSpPr>
        <p:spPr>
          <a:xfrm>
            <a:off x="468313" y="2239963"/>
            <a:ext cx="8280400" cy="2063750"/>
          </a:xfrm>
          <a:prstGeom prst="rect">
            <a:avLst/>
          </a:prstGeom>
          <a:noFill/>
          <a:ln w="9525">
            <a:noFill/>
          </a:ln>
        </p:spPr>
        <p:txBody>
          <a:bodyPr anchor="ctr" anchorCtr="0">
            <a:spAutoFit/>
          </a:bodyPr>
          <a:p>
            <a:pPr indent="266700">
              <a:lnSpc>
                <a:spcPct val="13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 </a:t>
            </a:r>
            <a:r>
              <a:rPr lang="zh-CN" altLang="en-US" sz="2400" dirty="0">
                <a:solidFill>
                  <a:srgbClr val="336699"/>
                </a:solidFill>
                <a:latin typeface="Arial" panose="020B0604020202020204" pitchFamily="34" charset="0"/>
                <a:ea typeface="宋体" panose="02010600030101010101" pitchFamily="2" charset="-122"/>
              </a:rPr>
              <a:t>通信建设工程项目总费用由各单项工程项目总费用构成；各单项工程总费用由</a:t>
            </a:r>
            <a:r>
              <a:rPr lang="zh-CN" altLang="en-US" sz="2400" dirty="0">
                <a:solidFill>
                  <a:srgbClr val="CC00FF"/>
                </a:solidFill>
                <a:latin typeface="Arial" panose="020B0604020202020204" pitchFamily="34" charset="0"/>
              </a:rPr>
              <a:t>工程费</a:t>
            </a:r>
            <a:r>
              <a:rPr lang="zh-CN" altLang="en-US" sz="2400" dirty="0">
                <a:solidFill>
                  <a:srgbClr val="336699"/>
                </a:solidFill>
                <a:latin typeface="Arial" panose="020B0604020202020204" pitchFamily="34" charset="0"/>
                <a:ea typeface="宋体" panose="02010600030101010101" pitchFamily="2" charset="-122"/>
              </a:rPr>
              <a:t>、</a:t>
            </a:r>
            <a:r>
              <a:rPr lang="zh-CN" altLang="en-US" sz="2400" dirty="0">
                <a:solidFill>
                  <a:srgbClr val="CC00FF"/>
                </a:solidFill>
                <a:latin typeface="Arial" panose="020B0604020202020204" pitchFamily="34" charset="0"/>
              </a:rPr>
              <a:t>工程建设其他费</a:t>
            </a:r>
            <a:r>
              <a:rPr lang="zh-CN" altLang="en-US" sz="2400" dirty="0">
                <a:solidFill>
                  <a:srgbClr val="336699"/>
                </a:solidFill>
                <a:latin typeface="Arial" panose="020B0604020202020204" pitchFamily="34" charset="0"/>
                <a:ea typeface="宋体" panose="02010600030101010101" pitchFamily="2" charset="-122"/>
              </a:rPr>
              <a:t>、</a:t>
            </a:r>
            <a:r>
              <a:rPr lang="zh-CN" altLang="en-US" sz="2400" dirty="0">
                <a:solidFill>
                  <a:srgbClr val="CC00FF"/>
                </a:solidFill>
                <a:latin typeface="Arial" panose="020B0604020202020204" pitchFamily="34" charset="0"/>
              </a:rPr>
              <a:t>预备费</a:t>
            </a:r>
            <a:r>
              <a:rPr lang="zh-CN" altLang="en-US" sz="2400" dirty="0">
                <a:solidFill>
                  <a:srgbClr val="336699"/>
                </a:solidFill>
                <a:latin typeface="Arial" panose="020B0604020202020204" pitchFamily="34" charset="0"/>
                <a:ea typeface="宋体" panose="02010600030101010101" pitchFamily="2" charset="-122"/>
              </a:rPr>
              <a:t>、</a:t>
            </a:r>
            <a:r>
              <a:rPr lang="zh-CN" altLang="en-US" sz="2400" dirty="0">
                <a:solidFill>
                  <a:srgbClr val="CC00FF"/>
                </a:solidFill>
                <a:latin typeface="Arial" panose="020B0604020202020204" pitchFamily="34" charset="0"/>
              </a:rPr>
              <a:t>建设期利息</a:t>
            </a:r>
            <a:r>
              <a:rPr lang="zh-CN" altLang="en-US" sz="2400" dirty="0">
                <a:solidFill>
                  <a:srgbClr val="336699"/>
                </a:solidFill>
                <a:latin typeface="Arial" panose="020B0604020202020204" pitchFamily="34" charset="0"/>
                <a:ea typeface="宋体" panose="02010600030101010101" pitchFamily="2" charset="-122"/>
              </a:rPr>
              <a:t>四部分构成。</a:t>
            </a:r>
            <a:endParaRPr lang="zh-CN" altLang="en-US" sz="2400" dirty="0">
              <a:solidFill>
                <a:srgbClr val="336699"/>
              </a:solidFill>
              <a:latin typeface="Arial" panose="020B0604020202020204" pitchFamily="34" charset="0"/>
              <a:ea typeface="宋体" panose="02010600030101010101" pitchFamily="2" charset="-122"/>
            </a:endParaRPr>
          </a:p>
          <a:p>
            <a:pPr indent="266700">
              <a:lnSpc>
                <a:spcPct val="130000"/>
              </a:lnSpc>
              <a:spcBef>
                <a:spcPct val="20000"/>
              </a:spcBef>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2 </a:t>
            </a:r>
            <a:r>
              <a:rPr lang="zh-CN" altLang="en-US" sz="2400" dirty="0">
                <a:solidFill>
                  <a:srgbClr val="336699"/>
                </a:solidFill>
                <a:latin typeface="Arial" panose="020B0604020202020204" pitchFamily="34" charset="0"/>
                <a:ea typeface="宋体" panose="02010600030101010101" pitchFamily="2" charset="-122"/>
              </a:rPr>
              <a:t>建筑安装工程费由</a:t>
            </a:r>
            <a:r>
              <a:rPr lang="zh-CN" altLang="en-US" sz="2400" dirty="0">
                <a:solidFill>
                  <a:srgbClr val="CC00FF"/>
                </a:solidFill>
                <a:latin typeface="Arial" panose="020B0604020202020204" pitchFamily="34" charset="0"/>
              </a:rPr>
              <a:t>直接费</a:t>
            </a:r>
            <a:r>
              <a:rPr lang="zh-CN" altLang="en-US" sz="2400" dirty="0">
                <a:solidFill>
                  <a:srgbClr val="336699"/>
                </a:solidFill>
                <a:latin typeface="Arial" panose="020B0604020202020204" pitchFamily="34" charset="0"/>
                <a:ea typeface="宋体" panose="02010600030101010101" pitchFamily="2" charset="-122"/>
              </a:rPr>
              <a:t>、</a:t>
            </a:r>
            <a:r>
              <a:rPr lang="zh-CN" altLang="en-US" sz="2400" dirty="0">
                <a:solidFill>
                  <a:srgbClr val="CC00FF"/>
                </a:solidFill>
                <a:latin typeface="Arial" panose="020B0604020202020204" pitchFamily="34" charset="0"/>
              </a:rPr>
              <a:t>间接费</a:t>
            </a:r>
            <a:r>
              <a:rPr lang="zh-CN" altLang="en-US" sz="2400" dirty="0">
                <a:solidFill>
                  <a:srgbClr val="336699"/>
                </a:solidFill>
                <a:latin typeface="Arial" panose="020B0604020202020204" pitchFamily="34" charset="0"/>
                <a:ea typeface="宋体" panose="02010600030101010101" pitchFamily="2" charset="-122"/>
              </a:rPr>
              <a:t>、</a:t>
            </a:r>
            <a:r>
              <a:rPr lang="zh-CN" altLang="en-US" sz="2400" dirty="0">
                <a:solidFill>
                  <a:srgbClr val="CC00FF"/>
                </a:solidFill>
                <a:latin typeface="Arial" panose="020B0604020202020204" pitchFamily="34" charset="0"/>
              </a:rPr>
              <a:t>利润</a:t>
            </a:r>
            <a:r>
              <a:rPr lang="zh-CN" altLang="en-US" sz="2400" dirty="0">
                <a:solidFill>
                  <a:srgbClr val="336699"/>
                </a:solidFill>
                <a:latin typeface="Arial" panose="020B0604020202020204" pitchFamily="34" charset="0"/>
                <a:ea typeface="宋体" panose="02010600030101010101" pitchFamily="2" charset="-122"/>
              </a:rPr>
              <a:t>及</a:t>
            </a:r>
            <a:r>
              <a:rPr lang="zh-CN" altLang="en-US" sz="2400" dirty="0">
                <a:solidFill>
                  <a:srgbClr val="CC00FF"/>
                </a:solidFill>
                <a:latin typeface="Arial" panose="020B0604020202020204" pitchFamily="34" charset="0"/>
              </a:rPr>
              <a:t>税金</a:t>
            </a:r>
            <a:r>
              <a:rPr lang="zh-CN" altLang="en-US" sz="2400" dirty="0">
                <a:solidFill>
                  <a:srgbClr val="336699"/>
                </a:solidFill>
                <a:latin typeface="Arial" panose="020B0604020202020204" pitchFamily="34" charset="0"/>
                <a:ea typeface="宋体" panose="02010600030101010101" pitchFamily="2" charset="-122"/>
              </a:rPr>
              <a:t>构成。</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759816">
                                            <p:txEl>
                                              <p:charRg st="0" end="71"/>
                                            </p:txEl>
                                          </p:spTgt>
                                        </p:tgtEl>
                                        <p:attrNameLst>
                                          <p:attrName>style.visibility</p:attrName>
                                        </p:attrNameLst>
                                      </p:cBhvr>
                                      <p:to>
                                        <p:strVal val="visible"/>
                                      </p:to>
                                    </p:set>
                                    <p:anim to="" calcmode="lin" valueType="num">
                                      <p:cBhvr>
                                        <p:cTn id="7" dur="1" fill="hold"/>
                                        <p:tgtEl>
                                          <p:spTgt spid="759816">
                                            <p:txEl>
                                              <p:charRg st="0" end="71"/>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759816">
                                            <p:txEl>
                                              <p:charRg st="71" end="105"/>
                                            </p:txEl>
                                          </p:spTgt>
                                        </p:tgtEl>
                                        <p:attrNameLst>
                                          <p:attrName>style.visibility</p:attrName>
                                        </p:attrNameLst>
                                      </p:cBhvr>
                                      <p:to>
                                        <p:strVal val="visible"/>
                                      </p:to>
                                    </p:set>
                                    <p:anim to="" calcmode="lin" valueType="num">
                                      <p:cBhvr>
                                        <p:cTn id="10" dur="1" fill="hold"/>
                                        <p:tgtEl>
                                          <p:spTgt spid="759816">
                                            <p:txEl>
                                              <p:charRg st="71" end="105"/>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0834" name="Rectangle 2"/>
          <p:cNvSpPr/>
          <p:nvPr/>
        </p:nvSpPr>
        <p:spPr>
          <a:xfrm>
            <a:off x="323850" y="620713"/>
            <a:ext cx="7921625" cy="4911725"/>
          </a:xfrm>
          <a:prstGeom prst="rect">
            <a:avLst/>
          </a:prstGeom>
          <a:noFill/>
          <a:ln w="9525">
            <a:noFill/>
          </a:ln>
        </p:spPr>
        <p:txBody>
          <a:bodyPr anchor="ctr" anchorCtr="0">
            <a:spAutoFit/>
          </a:bodyPr>
          <a:p>
            <a:pPr>
              <a:lnSpc>
                <a:spcPct val="130000"/>
              </a:lnSpc>
              <a:spcBef>
                <a:spcPct val="20000"/>
              </a:spcBef>
            </a:pPr>
            <a:r>
              <a:rPr lang="zh-CN" altLang="en-US" sz="2400" dirty="0">
                <a:solidFill>
                  <a:srgbClr val="336699"/>
                </a:solidFill>
                <a:latin typeface="宋体" panose="02010600030101010101" pitchFamily="2" charset="-122"/>
                <a:ea typeface="宋体" panose="02010600030101010101" pitchFamily="2" charset="-122"/>
              </a:rPr>
              <a:t>    </a:t>
            </a:r>
            <a:r>
              <a:rPr lang="en-US" altLang="zh-CN" sz="2400" dirty="0">
                <a:solidFill>
                  <a:srgbClr val="336699"/>
                </a:solidFill>
                <a:latin typeface="宋体" panose="02010600030101010101" pitchFamily="2" charset="-122"/>
                <a:ea typeface="宋体" panose="02010600030101010101" pitchFamily="2" charset="-122"/>
              </a:rPr>
              <a:t>3 </a:t>
            </a:r>
            <a:r>
              <a:rPr lang="zh-CN" altLang="en-US" sz="2400" dirty="0">
                <a:solidFill>
                  <a:srgbClr val="336699"/>
                </a:solidFill>
                <a:latin typeface="宋体" panose="02010600030101010101" pitchFamily="2" charset="-122"/>
                <a:ea typeface="宋体" panose="02010600030101010101" pitchFamily="2" charset="-122"/>
              </a:rPr>
              <a:t>直接费是指直接消耗在建筑与安装上的各种费用之和，由</a:t>
            </a:r>
            <a:r>
              <a:rPr lang="zh-CN" altLang="en-US" sz="2400" dirty="0">
                <a:solidFill>
                  <a:srgbClr val="CC00FF"/>
                </a:solidFill>
                <a:latin typeface="Arial" panose="020B0604020202020204" pitchFamily="34" charset="0"/>
              </a:rPr>
              <a:t>直接工程费</a:t>
            </a:r>
            <a:r>
              <a:rPr lang="zh-CN" altLang="en-US" sz="2400" dirty="0">
                <a:solidFill>
                  <a:srgbClr val="336699"/>
                </a:solidFill>
                <a:latin typeface="宋体" panose="02010600030101010101" pitchFamily="2" charset="-122"/>
                <a:ea typeface="宋体" panose="02010600030101010101" pitchFamily="2" charset="-122"/>
              </a:rPr>
              <a:t>、</a:t>
            </a:r>
            <a:r>
              <a:rPr lang="zh-CN" altLang="en-US" sz="2400" dirty="0">
                <a:solidFill>
                  <a:srgbClr val="CC00FF"/>
                </a:solidFill>
                <a:latin typeface="Arial" panose="020B0604020202020204" pitchFamily="34" charset="0"/>
              </a:rPr>
              <a:t>措施费</a:t>
            </a:r>
            <a:r>
              <a:rPr lang="zh-CN" altLang="en-US" sz="2400" dirty="0">
                <a:solidFill>
                  <a:srgbClr val="336699"/>
                </a:solidFill>
                <a:latin typeface="宋体" panose="02010600030101010101" pitchFamily="2" charset="-122"/>
                <a:ea typeface="宋体" panose="02010600030101010101" pitchFamily="2" charset="-122"/>
              </a:rPr>
              <a:t>构成。直接工程费指施工过程中耗用的构成工程实体和有助于工程实体形成的各项费用，包括人工费、材料费、机械使用费、仪表使用费。措施费指为完成工程项目施工，发生于该工程前和施工过程中非工程实体项目的费用。</a:t>
            </a:r>
            <a:endParaRPr lang="zh-CN" altLang="en-US" sz="2400" dirty="0">
              <a:solidFill>
                <a:srgbClr val="336699"/>
              </a:solidFill>
              <a:latin typeface="宋体" panose="02010600030101010101" pitchFamily="2" charset="-122"/>
              <a:ea typeface="宋体" panose="02010600030101010101" pitchFamily="2" charset="-122"/>
            </a:endParaRPr>
          </a:p>
          <a:p>
            <a:pPr>
              <a:lnSpc>
                <a:spcPct val="130000"/>
              </a:lnSpc>
              <a:spcBef>
                <a:spcPct val="20000"/>
              </a:spcBef>
            </a:pPr>
            <a:r>
              <a:rPr lang="zh-CN" altLang="en-US" sz="2400" dirty="0">
                <a:solidFill>
                  <a:srgbClr val="336699"/>
                </a:solidFill>
                <a:latin typeface="宋体" panose="02010600030101010101" pitchFamily="2" charset="-122"/>
                <a:ea typeface="宋体" panose="02010600030101010101" pitchFamily="2" charset="-122"/>
              </a:rPr>
              <a:t>    </a:t>
            </a:r>
            <a:r>
              <a:rPr lang="en-US" altLang="zh-CN" sz="2400" dirty="0">
                <a:solidFill>
                  <a:srgbClr val="336699"/>
                </a:solidFill>
                <a:latin typeface="宋体" panose="02010600030101010101" pitchFamily="2" charset="-122"/>
                <a:ea typeface="宋体" panose="02010600030101010101" pitchFamily="2" charset="-122"/>
              </a:rPr>
              <a:t>4 </a:t>
            </a:r>
            <a:r>
              <a:rPr lang="zh-CN" altLang="en-US" sz="2400" dirty="0">
                <a:solidFill>
                  <a:srgbClr val="336699"/>
                </a:solidFill>
                <a:latin typeface="宋体" panose="02010600030101010101" pitchFamily="2" charset="-122"/>
                <a:ea typeface="宋体" panose="02010600030101010101" pitchFamily="2" charset="-122"/>
              </a:rPr>
              <a:t>间接费包括</a:t>
            </a:r>
            <a:r>
              <a:rPr lang="zh-CN" altLang="en-US" sz="2400" dirty="0">
                <a:solidFill>
                  <a:srgbClr val="CC00FF"/>
                </a:solidFill>
                <a:latin typeface="Arial" panose="020B0604020202020204" pitchFamily="34" charset="0"/>
              </a:rPr>
              <a:t>规费</a:t>
            </a:r>
            <a:r>
              <a:rPr lang="zh-CN" altLang="en-US" sz="2400" dirty="0">
                <a:solidFill>
                  <a:srgbClr val="336699"/>
                </a:solidFill>
                <a:latin typeface="宋体" panose="02010600030101010101" pitchFamily="2" charset="-122"/>
                <a:ea typeface="宋体" panose="02010600030101010101" pitchFamily="2" charset="-122"/>
              </a:rPr>
              <a:t>与</a:t>
            </a:r>
            <a:r>
              <a:rPr lang="zh-CN" altLang="en-US" sz="2400" dirty="0">
                <a:solidFill>
                  <a:srgbClr val="CC00FF"/>
                </a:solidFill>
                <a:latin typeface="Arial" panose="020B0604020202020204" pitchFamily="34" charset="0"/>
              </a:rPr>
              <a:t>企业管理费</a:t>
            </a:r>
            <a:r>
              <a:rPr lang="zh-CN" altLang="en-US" sz="2400" dirty="0">
                <a:solidFill>
                  <a:srgbClr val="336699"/>
                </a:solidFill>
                <a:latin typeface="宋体" panose="02010600030101010101" pitchFamily="2" charset="-122"/>
                <a:ea typeface="宋体" panose="02010600030101010101" pitchFamily="2" charset="-122"/>
              </a:rPr>
              <a:t>两项内容。规费包括工程排污费、社会保障费、住房公积金和危险作业意外伤害保险费；企业管理费指施工企业组织施工生产和经营管理所需费用。 </a:t>
            </a:r>
            <a:endParaRPr lang="zh-CN" altLang="en-US" sz="2400" dirty="0">
              <a:solidFill>
                <a:srgbClr val="336699"/>
              </a:solidFill>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60834">
                                            <p:txEl>
                                              <p:charRg st="0" end="140"/>
                                            </p:txEl>
                                          </p:spTgt>
                                        </p:tgtEl>
                                        <p:attrNameLst>
                                          <p:attrName>style.visibility</p:attrName>
                                        </p:attrNameLst>
                                      </p:cBhvr>
                                      <p:to>
                                        <p:strVal val="visible"/>
                                      </p:to>
                                    </p:set>
                                    <p:animEffect transition="in" filter="slide(fromBottom)">
                                      <p:cBhvr>
                                        <p:cTn id="7" dur="500"/>
                                        <p:tgtEl>
                                          <p:spTgt spid="760834">
                                            <p:txEl>
                                              <p:charRg st="0" end="14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760834">
                                            <p:txEl>
                                              <p:charRg st="140" end="226"/>
                                            </p:txEl>
                                          </p:spTgt>
                                        </p:tgtEl>
                                        <p:attrNameLst>
                                          <p:attrName>style.visibility</p:attrName>
                                        </p:attrNameLst>
                                      </p:cBhvr>
                                      <p:to>
                                        <p:strVal val="visible"/>
                                      </p:to>
                                    </p:set>
                                    <p:animEffect transition="in" filter="wedge">
                                      <p:cBhvr>
                                        <p:cTn id="12" dur="2000"/>
                                        <p:tgtEl>
                                          <p:spTgt spid="760834">
                                            <p:txEl>
                                              <p:charRg st="140" end="2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1858" name="Rectangle 2"/>
          <p:cNvSpPr>
            <a:spLocks noChangeArrowheads="1"/>
          </p:cNvSpPr>
          <p:nvPr/>
        </p:nvSpPr>
        <p:spPr bwMode="auto">
          <a:xfrm>
            <a:off x="395288" y="692150"/>
            <a:ext cx="7921625" cy="35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5 </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利润指施工企业完成所承包工程获得的盈利。</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6 </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税金指按国家税法规定应计入建筑安装工程造价内的营业税、城市维护建设税及教育费附加。</a:t>
            </a:r>
            <a:endPar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3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7 </a:t>
            </a:r>
            <a:r>
              <a:rPr kumimoji="0" lang="zh-CN" altLang="en-US" sz="2400" b="1" i="0" u="none" strike="noStrike" kern="1200" cap="none" spc="0" normalizeH="0" baseline="0" noProof="0">
                <a:ln>
                  <a:noFill/>
                </a:ln>
                <a:solidFill>
                  <a:srgbClr val="336699"/>
                </a:solidFill>
                <a:effectLst/>
                <a:uLnTx/>
                <a:uFillTx/>
                <a:latin typeface="宋体" panose="02010600030101010101" pitchFamily="2" charset="-122"/>
                <a:ea typeface="宋体" panose="02010600030101010101" pitchFamily="2" charset="-122"/>
                <a:cs typeface="+mn-cs"/>
              </a:rPr>
              <a:t>设备、工器具购置费指根据设计提出的设备（包括必须的备品备件）、仪表、工器具清单，按设备原价、运杂费、采购及保管费、运输保险费和采购代理服务费计算的费用。</a:t>
            </a: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761858">
                                            <p:txEl>
                                              <p:charRg st="0" end="27"/>
                                            </p:txEl>
                                          </p:spTgt>
                                        </p:tgtEl>
                                        <p:attrNameLst>
                                          <p:attrName>style.visibility</p:attrName>
                                        </p:attrNameLst>
                                      </p:cBhvr>
                                      <p:to>
                                        <p:strVal val="visible"/>
                                      </p:to>
                                    </p:set>
                                    <p:anim to="" calcmode="lin" valueType="num">
                                      <p:cBhvr>
                                        <p:cTn id="7" dur="1" fill="hold"/>
                                        <p:tgtEl>
                                          <p:spTgt spid="761858">
                                            <p:txEl>
                                              <p:charRg st="0" end="27"/>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761858">
                                            <p:txEl>
                                              <p:charRg st="27" end="75"/>
                                            </p:txEl>
                                          </p:spTgt>
                                        </p:tgtEl>
                                        <p:attrNameLst>
                                          <p:attrName>style.visibility</p:attrName>
                                        </p:attrNameLst>
                                      </p:cBhvr>
                                      <p:to>
                                        <p:strVal val="visible"/>
                                      </p:to>
                                    </p:set>
                                    <p:anim to="" calcmode="lin" valueType="num">
                                      <p:cBhvr>
                                        <p:cTn id="10" dur="1" fill="hold"/>
                                        <p:tgtEl>
                                          <p:spTgt spid="761858">
                                            <p:txEl>
                                              <p:charRg st="27" end="75"/>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761858">
                                            <p:txEl>
                                              <p:charRg st="75" end="159"/>
                                            </p:txEl>
                                          </p:spTgt>
                                        </p:tgtEl>
                                        <p:attrNameLst>
                                          <p:attrName>style.visibility</p:attrName>
                                        </p:attrNameLst>
                                      </p:cBhvr>
                                      <p:to>
                                        <p:strVal val="visible"/>
                                      </p:to>
                                    </p:set>
                                    <p:anim to="" calcmode="lin" valueType="num">
                                      <p:cBhvr>
                                        <p:cTn id="13" dur="1" fill="hold"/>
                                        <p:tgtEl>
                                          <p:spTgt spid="761858">
                                            <p:txEl>
                                              <p:charRg st="75" end="159"/>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2882" name="Rectangle 2"/>
          <p:cNvSpPr/>
          <p:nvPr/>
        </p:nvSpPr>
        <p:spPr>
          <a:xfrm>
            <a:off x="395288" y="692150"/>
            <a:ext cx="7921625" cy="3560763"/>
          </a:xfrm>
          <a:prstGeom prst="rect">
            <a:avLst/>
          </a:prstGeom>
          <a:noFill/>
          <a:ln w="9525">
            <a:noFill/>
          </a:ln>
        </p:spPr>
        <p:txBody>
          <a:bodyPr anchor="ctr" anchorCtr="0">
            <a:spAutoFit/>
          </a:bodyPr>
          <a:p>
            <a:pPr>
              <a:lnSpc>
                <a:spcPct val="130000"/>
              </a:lnSpc>
              <a:spcBef>
                <a:spcPct val="20000"/>
              </a:spcBef>
            </a:pPr>
            <a:r>
              <a:rPr lang="zh-CN" altLang="en-US" sz="2400" dirty="0">
                <a:solidFill>
                  <a:srgbClr val="336699"/>
                </a:solidFill>
                <a:latin typeface="宋体" panose="02010600030101010101" pitchFamily="2" charset="-122"/>
                <a:ea typeface="宋体" panose="02010600030101010101" pitchFamily="2" charset="-122"/>
              </a:rPr>
              <a:t>    </a:t>
            </a:r>
            <a:r>
              <a:rPr lang="en-US" altLang="zh-CN" sz="2400" dirty="0">
                <a:solidFill>
                  <a:srgbClr val="336699"/>
                </a:solidFill>
                <a:latin typeface="宋体" panose="02010600030101010101" pitchFamily="2" charset="-122"/>
                <a:ea typeface="宋体" panose="02010600030101010101" pitchFamily="2" charset="-122"/>
              </a:rPr>
              <a:t>8 </a:t>
            </a:r>
            <a:r>
              <a:rPr lang="zh-CN" altLang="en-US" sz="2400" dirty="0">
                <a:solidFill>
                  <a:srgbClr val="336699"/>
                </a:solidFill>
                <a:latin typeface="宋体" panose="02010600030101010101" pitchFamily="2" charset="-122"/>
                <a:ea typeface="宋体" panose="02010600030101010101" pitchFamily="2" charset="-122"/>
              </a:rPr>
              <a:t>工程建设其他费指应在建设项目的建设投资中开支的固定资产其他费用、无形资产费用和其他资产费用。</a:t>
            </a:r>
            <a:endParaRPr lang="zh-CN" altLang="en-US" sz="2400" dirty="0">
              <a:solidFill>
                <a:srgbClr val="336699"/>
              </a:solidFill>
              <a:latin typeface="宋体" panose="02010600030101010101" pitchFamily="2" charset="-122"/>
              <a:ea typeface="宋体" panose="02010600030101010101" pitchFamily="2" charset="-122"/>
            </a:endParaRPr>
          </a:p>
          <a:p>
            <a:pPr>
              <a:lnSpc>
                <a:spcPct val="130000"/>
              </a:lnSpc>
              <a:spcBef>
                <a:spcPct val="20000"/>
              </a:spcBef>
            </a:pPr>
            <a:r>
              <a:rPr lang="zh-CN" altLang="en-US" sz="2400" dirty="0">
                <a:solidFill>
                  <a:srgbClr val="336699"/>
                </a:solidFill>
                <a:latin typeface="宋体" panose="02010600030101010101" pitchFamily="2" charset="-122"/>
                <a:ea typeface="宋体" panose="02010600030101010101" pitchFamily="2" charset="-122"/>
              </a:rPr>
              <a:t>    </a:t>
            </a:r>
            <a:r>
              <a:rPr lang="en-US" altLang="zh-CN" sz="2400" dirty="0">
                <a:solidFill>
                  <a:srgbClr val="336699"/>
                </a:solidFill>
                <a:latin typeface="宋体" panose="02010600030101010101" pitchFamily="2" charset="-122"/>
                <a:ea typeface="宋体" panose="02010600030101010101" pitchFamily="2" charset="-122"/>
              </a:rPr>
              <a:t>9 </a:t>
            </a:r>
            <a:r>
              <a:rPr lang="zh-CN" altLang="en-US" sz="2400" dirty="0">
                <a:solidFill>
                  <a:srgbClr val="336699"/>
                </a:solidFill>
                <a:latin typeface="宋体" panose="02010600030101010101" pitchFamily="2" charset="-122"/>
                <a:ea typeface="宋体" panose="02010600030101010101" pitchFamily="2" charset="-122"/>
              </a:rPr>
              <a:t>预备费是指在初步设计及概算内难以预料的工程费用。预备费包括基本预备费和价差预备费。</a:t>
            </a:r>
            <a:endParaRPr lang="zh-CN" altLang="en-US" sz="2400" dirty="0">
              <a:solidFill>
                <a:srgbClr val="336699"/>
              </a:solidFill>
              <a:latin typeface="宋体" panose="02010600030101010101" pitchFamily="2" charset="-122"/>
              <a:ea typeface="宋体" panose="02010600030101010101" pitchFamily="2" charset="-122"/>
            </a:endParaRPr>
          </a:p>
          <a:p>
            <a:pPr>
              <a:lnSpc>
                <a:spcPct val="130000"/>
              </a:lnSpc>
              <a:spcBef>
                <a:spcPct val="20000"/>
              </a:spcBef>
            </a:pPr>
            <a:r>
              <a:rPr lang="zh-CN" altLang="en-US" sz="2400" dirty="0">
                <a:solidFill>
                  <a:srgbClr val="336699"/>
                </a:solidFill>
                <a:latin typeface="宋体" panose="02010600030101010101" pitchFamily="2" charset="-122"/>
                <a:ea typeface="宋体" panose="02010600030101010101" pitchFamily="2" charset="-122"/>
              </a:rPr>
              <a:t>    </a:t>
            </a:r>
            <a:r>
              <a:rPr lang="en-US" altLang="zh-CN" sz="2400" dirty="0">
                <a:solidFill>
                  <a:srgbClr val="336699"/>
                </a:solidFill>
                <a:latin typeface="宋体" panose="02010600030101010101" pitchFamily="2" charset="-122"/>
                <a:ea typeface="宋体" panose="02010600030101010101" pitchFamily="2" charset="-122"/>
              </a:rPr>
              <a:t>10 </a:t>
            </a:r>
            <a:r>
              <a:rPr lang="zh-CN" altLang="en-US" sz="2400" dirty="0">
                <a:solidFill>
                  <a:srgbClr val="336699"/>
                </a:solidFill>
                <a:latin typeface="宋体" panose="02010600030101010101" pitchFamily="2" charset="-122"/>
                <a:ea typeface="宋体" panose="02010600030101010101" pitchFamily="2" charset="-122"/>
              </a:rPr>
              <a:t>指建设项目贷款在建设期内发生并应计入固定资产的贷款利息等财务费用。该费用的取定按银行当期利率计算。</a:t>
            </a:r>
            <a:endParaRPr lang="zh-CN" altLang="en-US" sz="2400" dirty="0">
              <a:solidFill>
                <a:srgbClr val="336699"/>
              </a:solidFill>
              <a:latin typeface="宋体" panose="02010600030101010101" pitchFamily="2" charset="-122"/>
              <a:ea typeface="宋体" panose="02010600030101010101" pitchFamily="2" charset="-122"/>
            </a:endParaRPr>
          </a:p>
        </p:txBody>
      </p:sp>
      <p:pic>
        <p:nvPicPr>
          <p:cNvPr id="145410"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762882">
                                            <p:txEl>
                                              <p:charRg st="0" end="53"/>
                                            </p:txEl>
                                          </p:spTgt>
                                        </p:tgtEl>
                                        <p:attrNameLst>
                                          <p:attrName>style.visibility</p:attrName>
                                        </p:attrNameLst>
                                      </p:cBhvr>
                                      <p:to>
                                        <p:strVal val="visible"/>
                                      </p:to>
                                    </p:set>
                                    <p:anim to="" calcmode="lin" valueType="num">
                                      <p:cBhvr>
                                        <p:cTn id="7" dur="1" fill="hold"/>
                                        <p:tgtEl>
                                          <p:spTgt spid="762882">
                                            <p:txEl>
                                              <p:charRg st="0" end="53"/>
                                            </p:txEl>
                                          </p:spTgt>
                                        </p:tgtEl>
                                        <p:attrNameLst>
                                          <p:attrName>style.visibility</p:attrName>
                                        </p:attrNameLst>
                                      </p:cBhvr>
                                    </p:anim>
                                  </p:childTnLst>
                                </p:cTn>
                              </p:par>
                              <p:par>
                                <p:cTn id="8" presetID="24" presetClass="entr" presetSubtype="0" fill="hold" nodeType="withEffect">
                                  <p:stCondLst>
                                    <p:cond delay="0"/>
                                  </p:stCondLst>
                                  <p:childTnLst>
                                    <p:set>
                                      <p:cBhvr>
                                        <p:cTn id="9" dur="1" fill="hold">
                                          <p:stCondLst>
                                            <p:cond delay="0"/>
                                          </p:stCondLst>
                                        </p:cTn>
                                        <p:tgtEl>
                                          <p:spTgt spid="762882">
                                            <p:txEl>
                                              <p:charRg st="53" end="101"/>
                                            </p:txEl>
                                          </p:spTgt>
                                        </p:tgtEl>
                                        <p:attrNameLst>
                                          <p:attrName>style.visibility</p:attrName>
                                        </p:attrNameLst>
                                      </p:cBhvr>
                                      <p:to>
                                        <p:strVal val="visible"/>
                                      </p:to>
                                    </p:set>
                                    <p:anim to="" calcmode="lin" valueType="num">
                                      <p:cBhvr>
                                        <p:cTn id="10" dur="1" fill="hold"/>
                                        <p:tgtEl>
                                          <p:spTgt spid="762882">
                                            <p:txEl>
                                              <p:charRg st="53" end="101"/>
                                            </p:txEl>
                                          </p:spTgt>
                                        </p:tgtEl>
                                        <p:attrNameLst>
                                          <p:attrName>style.visibility</p:attrName>
                                        </p:attrNameLst>
                                      </p:cBhvr>
                                    </p:anim>
                                  </p:childTnLst>
                                </p:cTn>
                              </p:par>
                              <p:par>
                                <p:cTn id="11" presetID="24" presetClass="entr" presetSubtype="0" fill="hold" nodeType="withEffect">
                                  <p:stCondLst>
                                    <p:cond delay="0"/>
                                  </p:stCondLst>
                                  <p:childTnLst>
                                    <p:set>
                                      <p:cBhvr>
                                        <p:cTn id="12" dur="1" fill="hold">
                                          <p:stCondLst>
                                            <p:cond delay="0"/>
                                          </p:stCondLst>
                                        </p:cTn>
                                        <p:tgtEl>
                                          <p:spTgt spid="762882">
                                            <p:txEl>
                                              <p:charRg st="101" end="158"/>
                                            </p:txEl>
                                          </p:spTgt>
                                        </p:tgtEl>
                                        <p:attrNameLst>
                                          <p:attrName>style.visibility</p:attrName>
                                        </p:attrNameLst>
                                      </p:cBhvr>
                                      <p:to>
                                        <p:strVal val="visible"/>
                                      </p:to>
                                    </p:set>
                                    <p:anim to="" calcmode="lin" valueType="num">
                                      <p:cBhvr>
                                        <p:cTn id="13" dur="1" fill="hold"/>
                                        <p:tgtEl>
                                          <p:spTgt spid="762882">
                                            <p:txEl>
                                              <p:charRg st="101" end="158"/>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63906" name="Picture 5" descr="课后练习"/>
          <p:cNvPicPr>
            <a:picLocks noChangeAspect="1"/>
          </p:cNvPicPr>
          <p:nvPr/>
        </p:nvPicPr>
        <p:blipFill>
          <a:blip r:embed="rId1"/>
          <a:stretch>
            <a:fillRect/>
          </a:stretch>
        </p:blipFill>
        <p:spPr>
          <a:xfrm>
            <a:off x="250825" y="260350"/>
            <a:ext cx="1225550" cy="936625"/>
          </a:xfrm>
          <a:prstGeom prst="rect">
            <a:avLst/>
          </a:prstGeom>
          <a:noFill/>
          <a:ln w="9525">
            <a:noFill/>
          </a:ln>
        </p:spPr>
      </p:pic>
      <p:sp>
        <p:nvSpPr>
          <p:cNvPr id="146434" name="Text Box 6"/>
          <p:cNvSpPr txBox="1"/>
          <p:nvPr/>
        </p:nvSpPr>
        <p:spPr>
          <a:xfrm>
            <a:off x="1331913" y="549275"/>
            <a:ext cx="1625600" cy="396875"/>
          </a:xfrm>
          <a:prstGeom prst="rect">
            <a:avLst/>
          </a:prstGeom>
          <a:noFill/>
          <a:ln w="9525">
            <a:noFill/>
          </a:ln>
        </p:spPr>
        <p:txBody>
          <a:bodyPr anchor="t" anchorCtr="0">
            <a:spAutoFit/>
          </a:bodyPr>
          <a:p>
            <a:r>
              <a:rPr lang="zh-CN" altLang="en-US" dirty="0">
                <a:solidFill>
                  <a:srgbClr val="339966"/>
                </a:solidFill>
                <a:latin typeface="Arial" panose="020B0604020202020204" pitchFamily="34" charset="0"/>
                <a:ea typeface="微软雅黑" panose="020B0503020204020204" pitchFamily="34" charset="-122"/>
              </a:rPr>
              <a:t>阶段练习   </a:t>
            </a:r>
            <a:endParaRPr lang="zh-CN" altLang="en-US" dirty="0">
              <a:solidFill>
                <a:srgbClr val="339966"/>
              </a:solidFill>
              <a:latin typeface="Arial" panose="020B0604020202020204" pitchFamily="34" charset="0"/>
              <a:ea typeface="微软雅黑" panose="020B0503020204020204" pitchFamily="34" charset="-122"/>
            </a:endParaRPr>
          </a:p>
        </p:txBody>
      </p:sp>
      <p:sp>
        <p:nvSpPr>
          <p:cNvPr id="763908" name="Text Box 4"/>
          <p:cNvSpPr txBox="1">
            <a:spLocks noChangeArrowheads="1"/>
          </p:cNvSpPr>
          <p:nvPr/>
        </p:nvSpPr>
        <p:spPr bwMode="auto">
          <a:xfrm>
            <a:off x="395288" y="1484313"/>
            <a:ext cx="8497888" cy="471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en-US" altLang="zh-CN" sz="2800" kern="1200" cap="none" spc="0" normalizeH="0" baseline="0" noProof="0">
                <a:solidFill>
                  <a:srgbClr val="CC00FF"/>
                </a:solidFill>
                <a:latin typeface="华文行楷" panose="02010800040101010101" pitchFamily="2" charset="-122"/>
                <a:ea typeface="华文行楷" panose="02010800040101010101" pitchFamily="2" charset="-122"/>
                <a:cs typeface="+mn-cs"/>
              </a:rPr>
              <a:t>1 </a:t>
            </a:r>
            <a:r>
              <a:rPr kumimoji="0" lang="zh-CN" altLang="en-US" sz="2800" kern="1200" cap="none" spc="0" normalizeH="0" baseline="0" noProof="0">
                <a:solidFill>
                  <a:srgbClr val="CC00FF"/>
                </a:solidFill>
                <a:latin typeface="华文行楷" panose="02010800040101010101" pitchFamily="2" charset="-122"/>
                <a:ea typeface="华文行楷" panose="02010800040101010101" pitchFamily="2" charset="-122"/>
                <a:cs typeface="+mn-cs"/>
              </a:rPr>
              <a:t>选择题</a:t>
            </a:r>
            <a:endParaRPr kumimoji="0" lang="zh-CN" altLang="en-US" sz="2800" kern="1200" cap="none" spc="0" normalizeH="0" baseline="0" noProof="0">
              <a:solidFill>
                <a:srgbClr val="CC00FF"/>
              </a:solidFill>
              <a:latin typeface="华文行楷" panose="02010800040101010101" pitchFamily="2" charset="-122"/>
              <a:ea typeface="华文行楷" panose="02010800040101010101" pitchFamily="2" charset="-122"/>
              <a:cs typeface="+mn-cs"/>
            </a:endParaRPr>
          </a:p>
          <a:p>
            <a:pPr marR="0" defTabSz="914400">
              <a:spcBef>
                <a:spcPct val="50000"/>
              </a:spcBef>
              <a:buClrTx/>
              <a:buSzTx/>
              <a:buFontTx/>
              <a:buNone/>
              <a:defRPr/>
            </a:pPr>
            <a:r>
              <a:rPr kumimoji="0" lang="zh-CN" altLang="en-US" kern="1200" cap="none" spc="0" normalizeH="0" baseline="0" noProof="0">
                <a:solidFill>
                  <a:srgbClr val="336699"/>
                </a:solidFill>
                <a:latin typeface="Arial" panose="020B0604020202020204" pitchFamily="34" charset="0"/>
                <a:ea typeface="宋体" panose="02010600030101010101" pitchFamily="2" charset="-122"/>
                <a:cs typeface="+mn-cs"/>
              </a:rPr>
              <a:t>⑴</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下列费用项目中属于直接工程费的是（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A</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、人工费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B</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、材料费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C</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、机械使用费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D</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、仪表使用费</a:t>
            </a:r>
            <a:r>
              <a:rPr kumimoji="0" lang="zh-CN" altLang="en-US"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 </a:t>
            </a:r>
            <a:endParaRPr kumimoji="0" lang="zh-CN" altLang="en-US"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⑵下列费用项目不属于工程建设其他费的是（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A</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、研究试验费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B</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、勘察设计费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C</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、临时设施费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D</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、环境影响评价费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⑶通信建设工程的材料采购及保管费费率为</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1%</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的是（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A</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、通信线路工程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B</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、通信管道工程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a:p>
            <a:pPr marR="0" defTabSz="914400">
              <a:spcBef>
                <a:spcPct val="50000"/>
              </a:spcBef>
              <a:buClrTx/>
              <a:buSzTx/>
              <a:buFontTx/>
              <a:buNone/>
              <a:defRPr/>
            </a:pP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C</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、通信设备安装工程   </a:t>
            </a:r>
            <a:r>
              <a:rPr kumimoji="0" lang="en-US" altLang="zh-CN" sz="2400" kern="1200" cap="none" spc="0" normalizeH="0" baseline="0" noProof="0">
                <a:solidFill>
                  <a:srgbClr val="336699"/>
                </a:solidFill>
                <a:latin typeface="Arial" panose="020B0604020202020204" pitchFamily="34" charset="0"/>
                <a:ea typeface="宋体" panose="02010600030101010101" pitchFamily="2" charset="-122"/>
                <a:cs typeface="+mn-cs"/>
              </a:rPr>
              <a:t>D</a:t>
            </a:r>
            <a:r>
              <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rPr>
              <a:t>、土建工程 </a:t>
            </a:r>
            <a:endParaRPr kumimoji="0" lang="zh-CN" altLang="en-US" sz="2400" kern="1200" cap="none" spc="0" normalizeH="0" baseline="0" noProof="0">
              <a:solidFill>
                <a:srgbClr val="336699"/>
              </a:solidFill>
              <a:latin typeface="Arial" panose="020B0604020202020204" pitchFamily="34" charset="0"/>
              <a:ea typeface="宋体" panose="02010600030101010101" pitchFamily="2" charset="-122"/>
              <a:cs typeface="+mn-cs"/>
            </a:endParaRPr>
          </a:p>
        </p:txBody>
      </p:sp>
      <p:sp>
        <p:nvSpPr>
          <p:cNvPr id="763909" name="Text Box 5"/>
          <p:cNvSpPr txBox="1">
            <a:spLocks noChangeArrowheads="1"/>
          </p:cNvSpPr>
          <p:nvPr/>
        </p:nvSpPr>
        <p:spPr bwMode="auto">
          <a:xfrm>
            <a:off x="5651500" y="2133600"/>
            <a:ext cx="1223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ABCD</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763910" name="Text Box 6"/>
          <p:cNvSpPr txBox="1">
            <a:spLocks noChangeArrowheads="1"/>
          </p:cNvSpPr>
          <p:nvPr/>
        </p:nvSpPr>
        <p:spPr bwMode="auto">
          <a:xfrm>
            <a:off x="6659563" y="3213100"/>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D</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763911" name="Text Box 7"/>
          <p:cNvSpPr txBox="1">
            <a:spLocks noChangeArrowheads="1"/>
          </p:cNvSpPr>
          <p:nvPr/>
        </p:nvSpPr>
        <p:spPr bwMode="auto">
          <a:xfrm>
            <a:off x="7667625" y="465296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C</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146439" name="Rectangle 8"/>
          <p:cNvSpPr/>
          <p:nvPr/>
        </p:nvSpPr>
        <p:spPr>
          <a:xfrm>
            <a:off x="457200" y="274638"/>
            <a:ext cx="8229600" cy="1143000"/>
          </a:xfrm>
          <a:prstGeom prst="rect">
            <a:avLst/>
          </a:prstGeom>
          <a:noFill/>
          <a:ln w="9525">
            <a:noFill/>
          </a:ln>
        </p:spPr>
        <p:txBody>
          <a:bodyPr anchor="t" anchorCtr="0"/>
          <a:p>
            <a:pPr algn="ctr" eaLnBrk="0" hangingPunct="0"/>
            <a:r>
              <a:rPr lang="zh-CN" altLang="en-US" sz="4000" dirty="0">
                <a:solidFill>
                  <a:srgbClr val="000099"/>
                </a:solidFill>
                <a:latin typeface="黑体" panose="02010609060101010101" pitchFamily="49" charset="-122"/>
                <a:ea typeface="黑体" panose="02010609060101010101" pitchFamily="49" charset="-122"/>
              </a:rPr>
              <a:t>习题与思考题</a:t>
            </a:r>
            <a:endParaRPr lang="zh-CN" altLang="en-US" sz="4000" dirty="0">
              <a:solidFill>
                <a:srgbClr val="000099"/>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autoRev="1" fill="hold" nodeType="withEffect">
                                  <p:stCondLst>
                                    <p:cond delay="0"/>
                                  </p:stCondLst>
                                  <p:childTnLst>
                                    <p:animMotion origin="layout" path="M 0.00625 -0.03681 C -0.00416 -0.02639 -0.01441 -0.01574 -0.01388 -0.00833 C -0.01319 -0.00069 0.00938 0.00231 0.01059 0.00787 C 0.01181 0.01366 -0.00451 0.02338 -0.00763 0.02616 " pathEditMode="relative" rAng="0" ptsTypes="aaaA">
                                      <p:cBhvr>
                                        <p:cTn id="6" dur="2000" fill="hold"/>
                                        <p:tgtEl>
                                          <p:spTgt spid="763906"/>
                                        </p:tgtEl>
                                        <p:attrNameLst>
                                          <p:attrName>ppt_x</p:attrName>
                                          <p:attrName>ppt_y</p:attrName>
                                        </p:attrNameLst>
                                      </p:cBhvr>
                                      <p:rCtr x="-800" y="3100"/>
                                    </p:animMotion>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763909"/>
                                        </p:tgtEl>
                                        <p:attrNameLst>
                                          <p:attrName>style.visibility</p:attrName>
                                        </p:attrNameLst>
                                      </p:cBhvr>
                                      <p:to>
                                        <p:strVal val="visible"/>
                                      </p:to>
                                    </p:set>
                                    <p:anim calcmode="lin" valueType="num">
                                      <p:cBhvr additive="base">
                                        <p:cTn id="11" dur="500" fill="hold"/>
                                        <p:tgtEl>
                                          <p:spTgt spid="763909"/>
                                        </p:tgtEl>
                                        <p:attrNameLst>
                                          <p:attrName>ppt_x</p:attrName>
                                        </p:attrNameLst>
                                      </p:cBhvr>
                                      <p:tavLst>
                                        <p:tav tm="0">
                                          <p:val>
                                            <p:strVal val="1+#ppt_w/2"/>
                                          </p:val>
                                        </p:tav>
                                        <p:tav tm="100000">
                                          <p:val>
                                            <p:strVal val="#ppt_x"/>
                                          </p:val>
                                        </p:tav>
                                      </p:tavLst>
                                    </p:anim>
                                    <p:anim calcmode="lin" valueType="num">
                                      <p:cBhvr additive="base">
                                        <p:cTn id="12" dur="500" fill="hold"/>
                                        <p:tgtEl>
                                          <p:spTgt spid="763909"/>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763910"/>
                                        </p:tgtEl>
                                        <p:attrNameLst>
                                          <p:attrName>style.visibility</p:attrName>
                                        </p:attrNameLst>
                                      </p:cBhvr>
                                      <p:to>
                                        <p:strVal val="visible"/>
                                      </p:to>
                                    </p:set>
                                    <p:anim calcmode="lin" valueType="num">
                                      <p:cBhvr additive="base">
                                        <p:cTn id="17" dur="500" fill="hold"/>
                                        <p:tgtEl>
                                          <p:spTgt spid="763910"/>
                                        </p:tgtEl>
                                        <p:attrNameLst>
                                          <p:attrName>ppt_x</p:attrName>
                                        </p:attrNameLst>
                                      </p:cBhvr>
                                      <p:tavLst>
                                        <p:tav tm="0">
                                          <p:val>
                                            <p:strVal val="1+#ppt_w/2"/>
                                          </p:val>
                                        </p:tav>
                                        <p:tav tm="100000">
                                          <p:val>
                                            <p:strVal val="#ppt_x"/>
                                          </p:val>
                                        </p:tav>
                                      </p:tavLst>
                                    </p:anim>
                                    <p:anim calcmode="lin" valueType="num">
                                      <p:cBhvr additive="base">
                                        <p:cTn id="18" dur="500" fill="hold"/>
                                        <p:tgtEl>
                                          <p:spTgt spid="763910"/>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763911"/>
                                        </p:tgtEl>
                                        <p:attrNameLst>
                                          <p:attrName>style.visibility</p:attrName>
                                        </p:attrNameLst>
                                      </p:cBhvr>
                                      <p:to>
                                        <p:strVal val="visible"/>
                                      </p:to>
                                    </p:set>
                                    <p:anim calcmode="lin" valueType="num">
                                      <p:cBhvr additive="base">
                                        <p:cTn id="23" dur="500" fill="hold"/>
                                        <p:tgtEl>
                                          <p:spTgt spid="763911"/>
                                        </p:tgtEl>
                                        <p:attrNameLst>
                                          <p:attrName>ppt_x</p:attrName>
                                        </p:attrNameLst>
                                      </p:cBhvr>
                                      <p:tavLst>
                                        <p:tav tm="0">
                                          <p:val>
                                            <p:strVal val="1+#ppt_w/2"/>
                                          </p:val>
                                        </p:tav>
                                        <p:tav tm="100000">
                                          <p:val>
                                            <p:strVal val="#ppt_x"/>
                                          </p:val>
                                        </p:tav>
                                      </p:tavLst>
                                    </p:anim>
                                    <p:anim calcmode="lin" valueType="num">
                                      <p:cBhvr additive="base">
                                        <p:cTn id="24" dur="500" fill="hold"/>
                                        <p:tgtEl>
                                          <p:spTgt spid="7639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909" grpId="0"/>
      <p:bldP spid="763910" grpId="0"/>
      <p:bldP spid="763911"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Rectangle 2"/>
          <p:cNvSpPr>
            <a:spLocks noGrp="1"/>
          </p:cNvSpPr>
          <p:nvPr>
            <p:ph/>
          </p:nvPr>
        </p:nvSpPr>
        <p:spPr>
          <a:xfrm>
            <a:off x="457200" y="274638"/>
            <a:ext cx="8229600" cy="5851525"/>
          </a:xfrm>
          <a:noFill/>
          <a:ln>
            <a:noFill/>
          </a:ln>
        </p:spPr>
        <p:txBody>
          <a:bodyPr anchor="t" anchorCtr="0"/>
          <a:p>
            <a:pPr>
              <a:lnSpc>
                <a:spcPct val="130000"/>
              </a:lnSpc>
              <a:buNone/>
            </a:pPr>
            <a:r>
              <a:rPr lang="zh-CN" altLang="en-US" dirty="0">
                <a:ea typeface="宋体" panose="02010600030101010101" pitchFamily="2" charset="-122"/>
              </a:rPr>
              <a:t>⑷措施费指为完成工程项目施工，发生该工程前和施工过程中非工程实体项目的费用。下列不属于措施费的是</a:t>
            </a:r>
            <a:r>
              <a:rPr lang="en-US" altLang="zh-CN" dirty="0">
                <a:ea typeface="宋体" panose="02010600030101010101" pitchFamily="2" charset="-122"/>
              </a:rPr>
              <a:t>(     )</a:t>
            </a:r>
            <a:endParaRPr lang="en-US" altLang="zh-CN" dirty="0">
              <a:ea typeface="宋体" panose="02010600030101010101" pitchFamily="2" charset="-122"/>
            </a:endParaRPr>
          </a:p>
          <a:p>
            <a:pPr>
              <a:lnSpc>
                <a:spcPct val="130000"/>
              </a:lnSpc>
              <a:buNone/>
            </a:pPr>
            <a:r>
              <a:rPr lang="en-US" altLang="zh-CN" dirty="0">
                <a:ea typeface="宋体" panose="02010600030101010101" pitchFamily="2" charset="-122"/>
              </a:rPr>
              <a:t>A</a:t>
            </a:r>
            <a:r>
              <a:rPr lang="zh-CN" altLang="en-US" dirty="0">
                <a:ea typeface="宋体" panose="02010600030101010101" pitchFamily="2" charset="-122"/>
              </a:rPr>
              <a:t>、工程保险费                 </a:t>
            </a:r>
            <a:r>
              <a:rPr lang="en-US" altLang="zh-CN" dirty="0">
                <a:ea typeface="宋体" panose="02010600030101010101" pitchFamily="2" charset="-122"/>
              </a:rPr>
              <a:t>B</a:t>
            </a:r>
            <a:r>
              <a:rPr lang="zh-CN" altLang="en-US" dirty="0">
                <a:ea typeface="宋体" panose="02010600030101010101" pitchFamily="2" charset="-122"/>
              </a:rPr>
              <a:t>、临时设施费  </a:t>
            </a:r>
            <a:endParaRPr lang="zh-CN" altLang="en-US" dirty="0">
              <a:ea typeface="宋体" panose="02010600030101010101" pitchFamily="2" charset="-122"/>
            </a:endParaRPr>
          </a:p>
          <a:p>
            <a:pPr>
              <a:lnSpc>
                <a:spcPct val="130000"/>
              </a:lnSpc>
              <a:buNone/>
            </a:pPr>
            <a:r>
              <a:rPr lang="en-US" altLang="zh-CN" dirty="0">
                <a:ea typeface="宋体" panose="02010600030101010101" pitchFamily="2" charset="-122"/>
              </a:rPr>
              <a:t>C</a:t>
            </a:r>
            <a:r>
              <a:rPr lang="zh-CN" altLang="en-US" dirty="0">
                <a:ea typeface="宋体" panose="02010600030101010101" pitchFamily="2" charset="-122"/>
              </a:rPr>
              <a:t>、施工用水电蒸汽费      </a:t>
            </a:r>
            <a:r>
              <a:rPr lang="en-US" altLang="zh-CN" dirty="0">
                <a:ea typeface="宋体" panose="02010600030101010101" pitchFamily="2" charset="-122"/>
              </a:rPr>
              <a:t>D</a:t>
            </a:r>
            <a:r>
              <a:rPr lang="zh-CN" altLang="en-US" dirty="0">
                <a:ea typeface="宋体" panose="02010600030101010101" pitchFamily="2" charset="-122"/>
              </a:rPr>
              <a:t>、工地器材搬运费 </a:t>
            </a:r>
            <a:endParaRPr lang="zh-CN" altLang="en-US" dirty="0">
              <a:ea typeface="宋体" panose="02010600030101010101" pitchFamily="2" charset="-122"/>
            </a:endParaRPr>
          </a:p>
          <a:p>
            <a:pPr>
              <a:lnSpc>
                <a:spcPct val="130000"/>
              </a:lnSpc>
              <a:buNone/>
            </a:pPr>
            <a:r>
              <a:rPr lang="zh-CN" altLang="en-US" dirty="0">
                <a:latin typeface="宋体" panose="02010600030101010101" pitchFamily="2" charset="-122"/>
                <a:ea typeface="宋体" panose="02010600030101010101" pitchFamily="2" charset="-122"/>
              </a:rPr>
              <a:t>⑸</a:t>
            </a:r>
            <a:r>
              <a:rPr lang="zh-CN" altLang="en-US" dirty="0">
                <a:ea typeface="宋体" panose="02010600030101010101" pitchFamily="2" charset="-122"/>
              </a:rPr>
              <a:t>编制竣工图纸和资料所发生的费用包含在 </a:t>
            </a:r>
            <a:r>
              <a:rPr lang="en-US" altLang="zh-CN" dirty="0">
                <a:ea typeface="宋体" panose="02010600030101010101" pitchFamily="2" charset="-122"/>
              </a:rPr>
              <a:t>(     ) </a:t>
            </a:r>
            <a:r>
              <a:rPr lang="zh-CN" altLang="en-US" dirty="0">
                <a:ea typeface="宋体" panose="02010600030101010101" pitchFamily="2" charset="-122"/>
              </a:rPr>
              <a:t>中。</a:t>
            </a:r>
            <a:endParaRPr lang="zh-CN" altLang="en-US" dirty="0">
              <a:ea typeface="宋体" panose="02010600030101010101" pitchFamily="2" charset="-122"/>
            </a:endParaRPr>
          </a:p>
          <a:p>
            <a:pPr>
              <a:lnSpc>
                <a:spcPct val="130000"/>
              </a:lnSpc>
              <a:buNone/>
            </a:pPr>
            <a:r>
              <a:rPr lang="en-US" altLang="zh-CN" dirty="0">
                <a:ea typeface="宋体" panose="02010600030101010101" pitchFamily="2" charset="-122"/>
              </a:rPr>
              <a:t>A</a:t>
            </a:r>
            <a:r>
              <a:rPr lang="zh-CN" altLang="en-US" dirty="0">
                <a:ea typeface="宋体" panose="02010600030101010101" pitchFamily="2" charset="-122"/>
              </a:rPr>
              <a:t>、工程点交、场地清理费   </a:t>
            </a:r>
            <a:r>
              <a:rPr lang="en-US" altLang="zh-CN" dirty="0">
                <a:ea typeface="宋体" panose="02010600030101010101" pitchFamily="2" charset="-122"/>
              </a:rPr>
              <a:t>B</a:t>
            </a:r>
            <a:r>
              <a:rPr lang="zh-CN" altLang="en-US" dirty="0">
                <a:ea typeface="宋体" panose="02010600030101010101" pitchFamily="2" charset="-122"/>
              </a:rPr>
              <a:t>、企业管理费  </a:t>
            </a:r>
            <a:endParaRPr lang="zh-CN" altLang="en-US" dirty="0">
              <a:ea typeface="宋体" panose="02010600030101010101" pitchFamily="2" charset="-122"/>
            </a:endParaRPr>
          </a:p>
          <a:p>
            <a:pPr>
              <a:lnSpc>
                <a:spcPct val="130000"/>
              </a:lnSpc>
              <a:buNone/>
            </a:pPr>
            <a:r>
              <a:rPr lang="en-US" altLang="zh-CN" dirty="0">
                <a:ea typeface="宋体" panose="02010600030101010101" pitchFamily="2" charset="-122"/>
              </a:rPr>
              <a:t>C</a:t>
            </a:r>
            <a:r>
              <a:rPr lang="zh-CN" altLang="en-US" dirty="0">
                <a:ea typeface="宋体" panose="02010600030101010101" pitchFamily="2" charset="-122"/>
              </a:rPr>
              <a:t>、直接工程费                     </a:t>
            </a:r>
            <a:r>
              <a:rPr lang="en-US" altLang="zh-CN" dirty="0">
                <a:ea typeface="宋体" panose="02010600030101010101" pitchFamily="2" charset="-122"/>
              </a:rPr>
              <a:t>D</a:t>
            </a:r>
            <a:r>
              <a:rPr lang="zh-CN" altLang="en-US" dirty="0">
                <a:ea typeface="宋体" panose="02010600030101010101" pitchFamily="2" charset="-122"/>
              </a:rPr>
              <a:t>、工程建设其他费 </a:t>
            </a:r>
            <a:endParaRPr lang="zh-CN" altLang="en-US" dirty="0">
              <a:latin typeface="宋体" panose="02010600030101010101" pitchFamily="2" charset="-122"/>
              <a:ea typeface="宋体" panose="02010600030101010101" pitchFamily="2" charset="-122"/>
            </a:endParaRPr>
          </a:p>
          <a:p>
            <a:pPr>
              <a:buNone/>
            </a:pPr>
            <a:r>
              <a:rPr lang="zh-CN" altLang="en-US" dirty="0">
                <a:latin typeface="宋体" panose="02010600030101010101" pitchFamily="2" charset="-122"/>
                <a:ea typeface="宋体" panose="02010600030101010101" pitchFamily="2" charset="-122"/>
              </a:rPr>
              <a:t>⑹</a:t>
            </a:r>
            <a:r>
              <a:rPr lang="zh-CN" altLang="en-US" dirty="0">
                <a:ea typeface="宋体" panose="02010600030101010101" pitchFamily="2" charset="-122"/>
              </a:rPr>
              <a:t>人工费指直接从事建筑安装工程施工的生产人员开支的各项费用。 内容包括（           ）</a:t>
            </a:r>
            <a:endParaRPr lang="zh-CN" altLang="en-US" dirty="0">
              <a:ea typeface="宋体" panose="02010600030101010101" pitchFamily="2" charset="-122"/>
            </a:endParaRPr>
          </a:p>
          <a:p>
            <a:pPr>
              <a:buNone/>
            </a:pPr>
            <a:r>
              <a:rPr lang="en-US" altLang="zh-CN" dirty="0">
                <a:ea typeface="宋体" panose="02010600030101010101" pitchFamily="2" charset="-122"/>
              </a:rPr>
              <a:t>A</a:t>
            </a:r>
            <a:r>
              <a:rPr lang="zh-CN" altLang="en-US" dirty="0">
                <a:ea typeface="宋体" panose="02010600030101010101" pitchFamily="2" charset="-122"/>
              </a:rPr>
              <a:t>、基本工资           </a:t>
            </a:r>
            <a:r>
              <a:rPr lang="en-US" altLang="zh-CN" dirty="0">
                <a:ea typeface="宋体" panose="02010600030101010101" pitchFamily="2" charset="-122"/>
              </a:rPr>
              <a:t>B</a:t>
            </a:r>
            <a:r>
              <a:rPr lang="zh-CN" altLang="en-US" dirty="0">
                <a:ea typeface="宋体" panose="02010600030101010101" pitchFamily="2" charset="-122"/>
              </a:rPr>
              <a:t>、工资性补贴            </a:t>
            </a:r>
            <a:r>
              <a:rPr lang="en-US" altLang="zh-CN" dirty="0">
                <a:ea typeface="宋体" panose="02010600030101010101" pitchFamily="2" charset="-122"/>
              </a:rPr>
              <a:t>C</a:t>
            </a:r>
            <a:r>
              <a:rPr lang="zh-CN" altLang="en-US" dirty="0">
                <a:ea typeface="宋体" panose="02010600030101010101" pitchFamily="2" charset="-122"/>
              </a:rPr>
              <a:t>、辅助工资 </a:t>
            </a:r>
            <a:endParaRPr lang="zh-CN" altLang="en-US" dirty="0">
              <a:ea typeface="宋体" panose="02010600030101010101" pitchFamily="2" charset="-122"/>
            </a:endParaRPr>
          </a:p>
          <a:p>
            <a:pPr>
              <a:buNone/>
            </a:pPr>
            <a:r>
              <a:rPr lang="en-US" altLang="zh-CN" dirty="0">
                <a:ea typeface="宋体" panose="02010600030101010101" pitchFamily="2" charset="-122"/>
              </a:rPr>
              <a:t>D</a:t>
            </a:r>
            <a:r>
              <a:rPr lang="zh-CN" altLang="en-US" dirty="0">
                <a:ea typeface="宋体" panose="02010600030101010101" pitchFamily="2" charset="-122"/>
              </a:rPr>
              <a:t>、职工福利费       </a:t>
            </a:r>
            <a:r>
              <a:rPr lang="en-US" altLang="zh-CN" dirty="0">
                <a:ea typeface="宋体" panose="02010600030101010101" pitchFamily="2" charset="-122"/>
              </a:rPr>
              <a:t>E</a:t>
            </a:r>
            <a:r>
              <a:rPr lang="zh-CN" altLang="en-US" dirty="0">
                <a:ea typeface="宋体" panose="02010600030101010101" pitchFamily="2" charset="-122"/>
              </a:rPr>
              <a:t>、劳动保护费</a:t>
            </a:r>
            <a:endParaRPr lang="zh-CN" altLang="en-US" dirty="0">
              <a:latin typeface="宋体" panose="02010600030101010101" pitchFamily="2" charset="-122"/>
              <a:ea typeface="宋体" panose="02010600030101010101" pitchFamily="2" charset="-122"/>
            </a:endParaRPr>
          </a:p>
        </p:txBody>
      </p:sp>
      <p:sp>
        <p:nvSpPr>
          <p:cNvPr id="764931" name="Text Box 3"/>
          <p:cNvSpPr txBox="1">
            <a:spLocks noChangeArrowheads="1"/>
          </p:cNvSpPr>
          <p:nvPr/>
        </p:nvSpPr>
        <p:spPr bwMode="auto">
          <a:xfrm>
            <a:off x="7740650" y="83661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764932" name="Text Box 4"/>
          <p:cNvSpPr txBox="1">
            <a:spLocks noChangeArrowheads="1"/>
          </p:cNvSpPr>
          <p:nvPr/>
        </p:nvSpPr>
        <p:spPr bwMode="auto">
          <a:xfrm>
            <a:off x="6588125" y="2492375"/>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764933" name="Text Box 5"/>
          <p:cNvSpPr txBox="1">
            <a:spLocks noChangeArrowheads="1"/>
          </p:cNvSpPr>
          <p:nvPr/>
        </p:nvSpPr>
        <p:spPr bwMode="auto">
          <a:xfrm>
            <a:off x="3203575" y="4437063"/>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ABCDE</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64931"/>
                                        </p:tgtEl>
                                        <p:attrNameLst>
                                          <p:attrName>style.visibility</p:attrName>
                                        </p:attrNameLst>
                                      </p:cBhvr>
                                      <p:to>
                                        <p:strVal val="visible"/>
                                      </p:to>
                                    </p:set>
                                    <p:anim calcmode="lin" valueType="num">
                                      <p:cBhvr additive="base">
                                        <p:cTn id="7" dur="500" fill="hold"/>
                                        <p:tgtEl>
                                          <p:spTgt spid="764931"/>
                                        </p:tgtEl>
                                        <p:attrNameLst>
                                          <p:attrName>ppt_x</p:attrName>
                                        </p:attrNameLst>
                                      </p:cBhvr>
                                      <p:tavLst>
                                        <p:tav tm="0">
                                          <p:val>
                                            <p:strVal val="1+#ppt_w/2"/>
                                          </p:val>
                                        </p:tav>
                                        <p:tav tm="100000">
                                          <p:val>
                                            <p:strVal val="#ppt_x"/>
                                          </p:val>
                                        </p:tav>
                                      </p:tavLst>
                                    </p:anim>
                                    <p:anim calcmode="lin" valueType="num">
                                      <p:cBhvr additive="base">
                                        <p:cTn id="8" dur="500" fill="hold"/>
                                        <p:tgtEl>
                                          <p:spTgt spid="76493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64932"/>
                                        </p:tgtEl>
                                        <p:attrNameLst>
                                          <p:attrName>style.visibility</p:attrName>
                                        </p:attrNameLst>
                                      </p:cBhvr>
                                      <p:to>
                                        <p:strVal val="visible"/>
                                      </p:to>
                                    </p:set>
                                    <p:anim calcmode="lin" valueType="num">
                                      <p:cBhvr additive="base">
                                        <p:cTn id="13" dur="500" fill="hold"/>
                                        <p:tgtEl>
                                          <p:spTgt spid="764932"/>
                                        </p:tgtEl>
                                        <p:attrNameLst>
                                          <p:attrName>ppt_x</p:attrName>
                                        </p:attrNameLst>
                                      </p:cBhvr>
                                      <p:tavLst>
                                        <p:tav tm="0">
                                          <p:val>
                                            <p:strVal val="1+#ppt_w/2"/>
                                          </p:val>
                                        </p:tav>
                                        <p:tav tm="100000">
                                          <p:val>
                                            <p:strVal val="#ppt_x"/>
                                          </p:val>
                                        </p:tav>
                                      </p:tavLst>
                                    </p:anim>
                                    <p:anim calcmode="lin" valueType="num">
                                      <p:cBhvr additive="base">
                                        <p:cTn id="14" dur="500" fill="hold"/>
                                        <p:tgtEl>
                                          <p:spTgt spid="76493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64933"/>
                                        </p:tgtEl>
                                        <p:attrNameLst>
                                          <p:attrName>style.visibility</p:attrName>
                                        </p:attrNameLst>
                                      </p:cBhvr>
                                      <p:to>
                                        <p:strVal val="visible"/>
                                      </p:to>
                                    </p:set>
                                    <p:anim calcmode="lin" valueType="num">
                                      <p:cBhvr additive="base">
                                        <p:cTn id="19" dur="500" fill="hold"/>
                                        <p:tgtEl>
                                          <p:spTgt spid="764933"/>
                                        </p:tgtEl>
                                        <p:attrNameLst>
                                          <p:attrName>ppt_x</p:attrName>
                                        </p:attrNameLst>
                                      </p:cBhvr>
                                      <p:tavLst>
                                        <p:tav tm="0">
                                          <p:val>
                                            <p:strVal val="1+#ppt_w/2"/>
                                          </p:val>
                                        </p:tav>
                                        <p:tav tm="100000">
                                          <p:val>
                                            <p:strVal val="#ppt_x"/>
                                          </p:val>
                                        </p:tav>
                                      </p:tavLst>
                                    </p:anim>
                                    <p:anim calcmode="lin" valueType="num">
                                      <p:cBhvr additive="base">
                                        <p:cTn id="20" dur="500" fill="hold"/>
                                        <p:tgtEl>
                                          <p:spTgt spid="7649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1" grpId="0"/>
      <p:bldP spid="764932" grpId="0"/>
      <p:bldP spid="764933"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Rectangle 2"/>
          <p:cNvSpPr>
            <a:spLocks noGrp="1"/>
          </p:cNvSpPr>
          <p:nvPr>
            <p:ph/>
          </p:nvPr>
        </p:nvSpPr>
        <p:spPr>
          <a:xfrm>
            <a:off x="468313" y="476250"/>
            <a:ext cx="8229600" cy="5851525"/>
          </a:xfrm>
          <a:noFill/>
          <a:ln>
            <a:noFill/>
          </a:ln>
        </p:spPr>
        <p:txBody>
          <a:bodyPr anchor="t" anchorCtr="0"/>
          <a:p>
            <a:pPr>
              <a:lnSpc>
                <a:spcPct val="130000"/>
              </a:lnSpc>
              <a:buNone/>
            </a:pPr>
            <a:r>
              <a:rPr lang="zh-CN" altLang="en-US" dirty="0">
                <a:latin typeface="宋体" panose="02010600030101010101" pitchFamily="2" charset="-122"/>
                <a:ea typeface="宋体" panose="02010600030101010101" pitchFamily="2" charset="-122"/>
              </a:rPr>
              <a:t>⑺</a:t>
            </a:r>
            <a:r>
              <a:rPr lang="zh-CN" altLang="en-US" dirty="0">
                <a:ea typeface="宋体" panose="02010600030101010101" pitchFamily="2" charset="-122"/>
              </a:rPr>
              <a:t>施工队伍调遣费的内容包括调遣人员的（      ）、调遣期间的工资、施工工具、用具等的运费。</a:t>
            </a:r>
            <a:endParaRPr lang="zh-CN" altLang="en-US" dirty="0">
              <a:ea typeface="宋体" panose="02010600030101010101" pitchFamily="2" charset="-122"/>
            </a:endParaRPr>
          </a:p>
          <a:p>
            <a:pPr>
              <a:lnSpc>
                <a:spcPct val="130000"/>
              </a:lnSpc>
              <a:buNone/>
            </a:pPr>
            <a:r>
              <a:rPr lang="en-US" altLang="zh-CN" dirty="0">
                <a:ea typeface="宋体" panose="02010600030101010101" pitchFamily="2" charset="-122"/>
              </a:rPr>
              <a:t>A</a:t>
            </a:r>
            <a:r>
              <a:rPr lang="zh-CN" altLang="en-US" dirty="0">
                <a:ea typeface="宋体" panose="02010600030101010101" pitchFamily="2" charset="-122"/>
              </a:rPr>
              <a:t>、差旅费  </a:t>
            </a:r>
            <a:r>
              <a:rPr lang="en-US" altLang="zh-CN" dirty="0">
                <a:ea typeface="宋体" panose="02010600030101010101" pitchFamily="2" charset="-122"/>
              </a:rPr>
              <a:t>B</a:t>
            </a:r>
            <a:r>
              <a:rPr lang="zh-CN" altLang="en-US" dirty="0">
                <a:ea typeface="宋体" panose="02010600030101010101" pitchFamily="2" charset="-122"/>
              </a:rPr>
              <a:t>、劳动保护费  </a:t>
            </a:r>
            <a:r>
              <a:rPr lang="en-US" altLang="zh-CN" dirty="0">
                <a:ea typeface="宋体" panose="02010600030101010101" pitchFamily="2" charset="-122"/>
              </a:rPr>
              <a:t>C</a:t>
            </a:r>
            <a:r>
              <a:rPr lang="zh-CN" altLang="en-US" dirty="0">
                <a:ea typeface="宋体" panose="02010600030101010101" pitchFamily="2" charset="-122"/>
              </a:rPr>
              <a:t>、伙食补贴费  </a:t>
            </a:r>
            <a:r>
              <a:rPr lang="en-US" altLang="zh-CN" dirty="0">
                <a:ea typeface="宋体" panose="02010600030101010101" pitchFamily="2" charset="-122"/>
              </a:rPr>
              <a:t>D</a:t>
            </a:r>
            <a:r>
              <a:rPr lang="zh-CN" altLang="en-US" dirty="0">
                <a:ea typeface="宋体" panose="02010600030101010101" pitchFamily="2" charset="-122"/>
              </a:rPr>
              <a:t>、保险费</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⑻住房公积金的计算基数是（      ）</a:t>
            </a:r>
            <a:endParaRPr lang="zh-CN" altLang="en-US" dirty="0">
              <a:ea typeface="宋体" panose="02010600030101010101" pitchFamily="2" charset="-122"/>
            </a:endParaRPr>
          </a:p>
          <a:p>
            <a:pPr>
              <a:lnSpc>
                <a:spcPct val="130000"/>
              </a:lnSpc>
              <a:buNone/>
            </a:pPr>
            <a:r>
              <a:rPr lang="en-US" altLang="zh-CN" dirty="0">
                <a:ea typeface="宋体" panose="02010600030101010101" pitchFamily="2" charset="-122"/>
              </a:rPr>
              <a:t>A</a:t>
            </a:r>
            <a:r>
              <a:rPr lang="zh-CN" altLang="en-US" dirty="0">
                <a:ea typeface="宋体" panose="02010600030101010101" pitchFamily="2" charset="-122"/>
              </a:rPr>
              <a:t>、技工费  </a:t>
            </a:r>
            <a:r>
              <a:rPr lang="en-US" altLang="zh-CN" dirty="0">
                <a:ea typeface="宋体" panose="02010600030101010101" pitchFamily="2" charset="-122"/>
              </a:rPr>
              <a:t>B</a:t>
            </a:r>
            <a:r>
              <a:rPr lang="zh-CN" altLang="en-US" dirty="0">
                <a:ea typeface="宋体" panose="02010600030101010101" pitchFamily="2" charset="-122"/>
              </a:rPr>
              <a:t>、人工费  </a:t>
            </a:r>
            <a:r>
              <a:rPr lang="en-US" altLang="zh-CN" dirty="0">
                <a:ea typeface="宋体" panose="02010600030101010101" pitchFamily="2" charset="-122"/>
              </a:rPr>
              <a:t>C</a:t>
            </a:r>
            <a:r>
              <a:rPr lang="zh-CN" altLang="en-US" dirty="0">
                <a:ea typeface="宋体" panose="02010600030101010101" pitchFamily="2" charset="-122"/>
              </a:rPr>
              <a:t>、直接工程费费   </a:t>
            </a:r>
            <a:r>
              <a:rPr lang="en-US" altLang="zh-CN" dirty="0">
                <a:ea typeface="宋体" panose="02010600030101010101" pitchFamily="2" charset="-122"/>
              </a:rPr>
              <a:t>D</a:t>
            </a:r>
            <a:r>
              <a:rPr lang="zh-CN" altLang="en-US" dirty="0">
                <a:ea typeface="宋体" panose="02010600030101010101" pitchFamily="2" charset="-122"/>
              </a:rPr>
              <a:t>、直接费 </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⑼通信建设工程企业管理费的取费基础是（      ）</a:t>
            </a:r>
            <a:endParaRPr lang="zh-CN" altLang="en-US" dirty="0">
              <a:ea typeface="宋体" panose="02010600030101010101" pitchFamily="2" charset="-122"/>
            </a:endParaRPr>
          </a:p>
          <a:p>
            <a:pPr>
              <a:lnSpc>
                <a:spcPct val="130000"/>
              </a:lnSpc>
              <a:buNone/>
            </a:pPr>
            <a:r>
              <a:rPr lang="en-US" altLang="zh-CN" dirty="0">
                <a:ea typeface="宋体" panose="02010600030101010101" pitchFamily="2" charset="-122"/>
              </a:rPr>
              <a:t>A</a:t>
            </a:r>
            <a:r>
              <a:rPr lang="zh-CN" altLang="en-US" dirty="0">
                <a:ea typeface="宋体" panose="02010600030101010101" pitchFamily="2" charset="-122"/>
              </a:rPr>
              <a:t>、技工费  </a:t>
            </a:r>
            <a:r>
              <a:rPr lang="en-US" altLang="zh-CN" dirty="0">
                <a:ea typeface="宋体" panose="02010600030101010101" pitchFamily="2" charset="-122"/>
              </a:rPr>
              <a:t>B</a:t>
            </a:r>
            <a:r>
              <a:rPr lang="zh-CN" altLang="en-US" dirty="0">
                <a:ea typeface="宋体" panose="02010600030101010101" pitchFamily="2" charset="-122"/>
              </a:rPr>
              <a:t>、直接工程费  </a:t>
            </a:r>
            <a:r>
              <a:rPr lang="en-US" altLang="zh-CN" dirty="0">
                <a:ea typeface="宋体" panose="02010600030101010101" pitchFamily="2" charset="-122"/>
              </a:rPr>
              <a:t>C</a:t>
            </a:r>
            <a:r>
              <a:rPr lang="zh-CN" altLang="en-US" dirty="0">
                <a:ea typeface="宋体" panose="02010600030101010101" pitchFamily="2" charset="-122"/>
              </a:rPr>
              <a:t>、人工费   </a:t>
            </a:r>
            <a:r>
              <a:rPr lang="en-US" altLang="zh-CN" dirty="0">
                <a:ea typeface="宋体" panose="02010600030101010101" pitchFamily="2" charset="-122"/>
              </a:rPr>
              <a:t>D</a:t>
            </a:r>
            <a:r>
              <a:rPr lang="zh-CN" altLang="en-US" dirty="0">
                <a:ea typeface="宋体" panose="02010600030101010101" pitchFamily="2" charset="-122"/>
              </a:rPr>
              <a:t>、直接费</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⑽利润指施工企业所承包工程获得的盈利。利润依据（    ）计算。</a:t>
            </a:r>
            <a:endParaRPr lang="zh-CN" altLang="en-US" dirty="0">
              <a:ea typeface="宋体" panose="02010600030101010101" pitchFamily="2" charset="-122"/>
            </a:endParaRPr>
          </a:p>
          <a:p>
            <a:pPr>
              <a:lnSpc>
                <a:spcPct val="130000"/>
              </a:lnSpc>
              <a:buNone/>
            </a:pPr>
            <a:r>
              <a:rPr lang="en-US" altLang="zh-CN" dirty="0">
                <a:ea typeface="宋体" panose="02010600030101010101" pitchFamily="2" charset="-122"/>
              </a:rPr>
              <a:t>A </a:t>
            </a:r>
            <a:r>
              <a:rPr lang="zh-CN" altLang="en-US" dirty="0">
                <a:ea typeface="宋体" panose="02010600030101010101" pitchFamily="2" charset="-122"/>
              </a:rPr>
              <a:t>、不同投资来源            </a:t>
            </a:r>
            <a:r>
              <a:rPr lang="en-US" altLang="zh-CN" dirty="0">
                <a:ea typeface="宋体" panose="02010600030101010101" pitchFamily="2" charset="-122"/>
              </a:rPr>
              <a:t>B </a:t>
            </a:r>
            <a:r>
              <a:rPr lang="zh-CN" altLang="en-US" dirty="0">
                <a:ea typeface="宋体" panose="02010600030101010101" pitchFamily="2" charset="-122"/>
              </a:rPr>
              <a:t>、不同专业类别 </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 </a:t>
            </a:r>
            <a:r>
              <a:rPr lang="en-US" altLang="zh-CN" dirty="0">
                <a:ea typeface="宋体" panose="02010600030101010101" pitchFamily="2" charset="-122"/>
              </a:rPr>
              <a:t>C </a:t>
            </a:r>
            <a:r>
              <a:rPr lang="zh-CN" altLang="en-US" dirty="0">
                <a:ea typeface="宋体" panose="02010600030101010101" pitchFamily="2" charset="-122"/>
              </a:rPr>
              <a:t>、施工企业等级           </a:t>
            </a:r>
            <a:r>
              <a:rPr lang="en-US" altLang="zh-CN" dirty="0">
                <a:ea typeface="宋体" panose="02010600030101010101" pitchFamily="2" charset="-122"/>
              </a:rPr>
              <a:t>D </a:t>
            </a:r>
            <a:r>
              <a:rPr lang="zh-CN" altLang="en-US" dirty="0">
                <a:ea typeface="宋体" panose="02010600030101010101" pitchFamily="2" charset="-122"/>
              </a:rPr>
              <a:t>、工程投资规模</a:t>
            </a:r>
            <a:endParaRPr lang="zh-CN" altLang="en-US" dirty="0">
              <a:ea typeface="宋体" panose="02010600030101010101" pitchFamily="2" charset="-122"/>
            </a:endParaRPr>
          </a:p>
        </p:txBody>
      </p:sp>
      <p:sp>
        <p:nvSpPr>
          <p:cNvPr id="765955" name="Text Box 3"/>
          <p:cNvSpPr txBox="1">
            <a:spLocks noChangeArrowheads="1"/>
          </p:cNvSpPr>
          <p:nvPr/>
        </p:nvSpPr>
        <p:spPr bwMode="auto">
          <a:xfrm>
            <a:off x="6443663" y="620713"/>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765956" name="Text Box 4"/>
          <p:cNvSpPr txBox="1">
            <a:spLocks noChangeArrowheads="1"/>
          </p:cNvSpPr>
          <p:nvPr/>
        </p:nvSpPr>
        <p:spPr bwMode="auto">
          <a:xfrm>
            <a:off x="4572000" y="2133600"/>
            <a:ext cx="43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B</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765957" name="Text Box 5"/>
          <p:cNvSpPr txBox="1">
            <a:spLocks noChangeArrowheads="1"/>
          </p:cNvSpPr>
          <p:nvPr/>
        </p:nvSpPr>
        <p:spPr bwMode="auto">
          <a:xfrm>
            <a:off x="7524750" y="4365625"/>
            <a:ext cx="93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B</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765958" name="Text Box 6"/>
          <p:cNvSpPr txBox="1">
            <a:spLocks noChangeArrowheads="1"/>
          </p:cNvSpPr>
          <p:nvPr/>
        </p:nvSpPr>
        <p:spPr bwMode="auto">
          <a:xfrm>
            <a:off x="6300788" y="3213100"/>
            <a:ext cx="792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C</a:t>
            </a:r>
            <a:endPar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65955"/>
                                        </p:tgtEl>
                                        <p:attrNameLst>
                                          <p:attrName>style.visibility</p:attrName>
                                        </p:attrNameLst>
                                      </p:cBhvr>
                                      <p:to>
                                        <p:strVal val="visible"/>
                                      </p:to>
                                    </p:set>
                                    <p:anim calcmode="lin" valueType="num">
                                      <p:cBhvr additive="base">
                                        <p:cTn id="7" dur="500" fill="hold"/>
                                        <p:tgtEl>
                                          <p:spTgt spid="765955"/>
                                        </p:tgtEl>
                                        <p:attrNameLst>
                                          <p:attrName>ppt_x</p:attrName>
                                        </p:attrNameLst>
                                      </p:cBhvr>
                                      <p:tavLst>
                                        <p:tav tm="0">
                                          <p:val>
                                            <p:strVal val="1+#ppt_w/2"/>
                                          </p:val>
                                        </p:tav>
                                        <p:tav tm="100000">
                                          <p:val>
                                            <p:strVal val="#ppt_x"/>
                                          </p:val>
                                        </p:tav>
                                      </p:tavLst>
                                    </p:anim>
                                    <p:anim calcmode="lin" valueType="num">
                                      <p:cBhvr additive="base">
                                        <p:cTn id="8" dur="500" fill="hold"/>
                                        <p:tgtEl>
                                          <p:spTgt spid="76595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65956"/>
                                        </p:tgtEl>
                                        <p:attrNameLst>
                                          <p:attrName>style.visibility</p:attrName>
                                        </p:attrNameLst>
                                      </p:cBhvr>
                                      <p:to>
                                        <p:strVal val="visible"/>
                                      </p:to>
                                    </p:set>
                                    <p:anim calcmode="lin" valueType="num">
                                      <p:cBhvr additive="base">
                                        <p:cTn id="13" dur="500" fill="hold"/>
                                        <p:tgtEl>
                                          <p:spTgt spid="765956"/>
                                        </p:tgtEl>
                                        <p:attrNameLst>
                                          <p:attrName>ppt_x</p:attrName>
                                        </p:attrNameLst>
                                      </p:cBhvr>
                                      <p:tavLst>
                                        <p:tav tm="0">
                                          <p:val>
                                            <p:strVal val="1+#ppt_w/2"/>
                                          </p:val>
                                        </p:tav>
                                        <p:tav tm="100000">
                                          <p:val>
                                            <p:strVal val="#ppt_x"/>
                                          </p:val>
                                        </p:tav>
                                      </p:tavLst>
                                    </p:anim>
                                    <p:anim calcmode="lin" valueType="num">
                                      <p:cBhvr additive="base">
                                        <p:cTn id="14" dur="500" fill="hold"/>
                                        <p:tgtEl>
                                          <p:spTgt spid="76595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65958"/>
                                        </p:tgtEl>
                                        <p:attrNameLst>
                                          <p:attrName>style.visibility</p:attrName>
                                        </p:attrNameLst>
                                      </p:cBhvr>
                                      <p:to>
                                        <p:strVal val="visible"/>
                                      </p:to>
                                    </p:set>
                                    <p:anim calcmode="lin" valueType="num">
                                      <p:cBhvr additive="base">
                                        <p:cTn id="19" dur="500" fill="hold"/>
                                        <p:tgtEl>
                                          <p:spTgt spid="765958"/>
                                        </p:tgtEl>
                                        <p:attrNameLst>
                                          <p:attrName>ppt_x</p:attrName>
                                        </p:attrNameLst>
                                      </p:cBhvr>
                                      <p:tavLst>
                                        <p:tav tm="0">
                                          <p:val>
                                            <p:strVal val="1+#ppt_w/2"/>
                                          </p:val>
                                        </p:tav>
                                        <p:tav tm="100000">
                                          <p:val>
                                            <p:strVal val="#ppt_x"/>
                                          </p:val>
                                        </p:tav>
                                      </p:tavLst>
                                    </p:anim>
                                    <p:anim calcmode="lin" valueType="num">
                                      <p:cBhvr additive="base">
                                        <p:cTn id="20" dur="500" fill="hold"/>
                                        <p:tgtEl>
                                          <p:spTgt spid="76595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65957"/>
                                        </p:tgtEl>
                                        <p:attrNameLst>
                                          <p:attrName>style.visibility</p:attrName>
                                        </p:attrNameLst>
                                      </p:cBhvr>
                                      <p:to>
                                        <p:strVal val="visible"/>
                                      </p:to>
                                    </p:set>
                                    <p:anim calcmode="lin" valueType="num">
                                      <p:cBhvr additive="base">
                                        <p:cTn id="25" dur="500" fill="hold"/>
                                        <p:tgtEl>
                                          <p:spTgt spid="765957"/>
                                        </p:tgtEl>
                                        <p:attrNameLst>
                                          <p:attrName>ppt_x</p:attrName>
                                        </p:attrNameLst>
                                      </p:cBhvr>
                                      <p:tavLst>
                                        <p:tav tm="0">
                                          <p:val>
                                            <p:strVal val="1+#ppt_w/2"/>
                                          </p:val>
                                        </p:tav>
                                        <p:tav tm="100000">
                                          <p:val>
                                            <p:strVal val="#ppt_x"/>
                                          </p:val>
                                        </p:tav>
                                      </p:tavLst>
                                    </p:anim>
                                    <p:anim calcmode="lin" valueType="num">
                                      <p:cBhvr additive="base">
                                        <p:cTn id="26" dur="500" fill="hold"/>
                                        <p:tgtEl>
                                          <p:spTgt spid="7659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5955" grpId="0"/>
      <p:bldP spid="765956" grpId="0"/>
      <p:bldP spid="765957" grpId="0"/>
      <p:bldP spid="765958"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Rectangle 2"/>
          <p:cNvSpPr>
            <a:spLocks noGrp="1"/>
          </p:cNvSpPr>
          <p:nvPr>
            <p:ph/>
          </p:nvPr>
        </p:nvSpPr>
        <p:spPr>
          <a:xfrm>
            <a:off x="457200" y="274638"/>
            <a:ext cx="8362950" cy="5851525"/>
          </a:xfrm>
          <a:noFill/>
          <a:ln>
            <a:noFill/>
          </a:ln>
        </p:spPr>
        <p:txBody>
          <a:bodyPr anchor="t" anchorCtr="0"/>
          <a:p>
            <a:pPr>
              <a:buNone/>
            </a:pPr>
            <a:r>
              <a:rPr lang="en-US" altLang="zh-CN" sz="2800" dirty="0">
                <a:solidFill>
                  <a:srgbClr val="CC00FF"/>
                </a:solidFill>
                <a:latin typeface="华文行楷" panose="02010800040101010101" pitchFamily="2" charset="-122"/>
                <a:ea typeface="华文行楷" panose="02010800040101010101" pitchFamily="2" charset="-122"/>
              </a:rPr>
              <a:t>2 </a:t>
            </a:r>
            <a:r>
              <a:rPr lang="zh-CN" altLang="en-US" sz="2800" dirty="0">
                <a:solidFill>
                  <a:srgbClr val="CC00FF"/>
                </a:solidFill>
                <a:latin typeface="华文行楷" panose="02010800040101010101" pitchFamily="2" charset="-122"/>
                <a:ea typeface="华文行楷" panose="02010800040101010101" pitchFamily="2" charset="-122"/>
              </a:rPr>
              <a:t>判断题</a:t>
            </a:r>
            <a:endParaRPr lang="zh-CN" altLang="en-US" sz="2800" dirty="0">
              <a:solidFill>
                <a:srgbClr val="CC00FF"/>
              </a:solidFill>
              <a:latin typeface="华文行楷" panose="02010800040101010101" pitchFamily="2" charset="-122"/>
              <a:ea typeface="华文行楷" panose="0201080004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）编制概算时，除水泥及水泥制品的运输距离按</a:t>
            </a:r>
            <a:r>
              <a:rPr lang="en-US" altLang="zh-CN" dirty="0">
                <a:ea typeface="宋体" panose="02010600030101010101" pitchFamily="2" charset="-122"/>
              </a:rPr>
              <a:t>500km</a:t>
            </a:r>
            <a:r>
              <a:rPr lang="zh-CN" altLang="en-US" dirty="0">
                <a:ea typeface="宋体" panose="02010600030101010101" pitchFamily="2" charset="-122"/>
              </a:rPr>
              <a:t>计算，其他类型的材料运输距离按</a:t>
            </a:r>
            <a:r>
              <a:rPr lang="en-US" altLang="zh-CN" dirty="0">
                <a:ea typeface="宋体" panose="02010600030101010101" pitchFamily="2" charset="-122"/>
              </a:rPr>
              <a:t>1500km</a:t>
            </a:r>
            <a:r>
              <a:rPr lang="zh-CN" altLang="en-US" dirty="0">
                <a:ea typeface="宋体" panose="02010600030101010101" pitchFamily="2" charset="-122"/>
              </a:rPr>
              <a:t>计算。（  ）</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）凡由建设单位提供的利旧材料，其材料费也应计入工程成本。    </a:t>
            </a:r>
            <a:r>
              <a:rPr lang="en-US" altLang="zh-CN" dirty="0">
                <a:ea typeface="宋体" panose="02010600030101010101" pitchFamily="2" charset="-122"/>
              </a:rPr>
              <a:t>(   )</a:t>
            </a:r>
            <a:endParaRPr lang="en-US" altLang="zh-CN"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3</a:t>
            </a:r>
            <a:r>
              <a:rPr lang="zh-CN" altLang="en-US" dirty="0">
                <a:ea typeface="宋体" panose="02010600030101010101" pitchFamily="2" charset="-122"/>
              </a:rPr>
              <a:t>）包装费一般已含在材料原价中，如需再包装应根据具体情况按实计算。（  ）</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4</a:t>
            </a:r>
            <a:r>
              <a:rPr lang="zh-CN" altLang="en-US" dirty="0">
                <a:ea typeface="宋体" panose="02010600030101010101" pitchFamily="2" charset="-122"/>
              </a:rPr>
              <a:t>）冬雨季施工增加费费用标准是按常年摊销综合取定的，因此不分地区，不分季节均按规定计列。（  ）</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a:t>
            </a:r>
            <a:r>
              <a:rPr lang="en-US" altLang="zh-CN" dirty="0">
                <a:ea typeface="宋体" panose="02010600030101010101" pitchFamily="2" charset="-122"/>
              </a:rPr>
              <a:t>5</a:t>
            </a:r>
            <a:r>
              <a:rPr lang="zh-CN" altLang="en-US" dirty="0">
                <a:ea typeface="宋体" panose="02010600030101010101" pitchFamily="2" charset="-122"/>
              </a:rPr>
              <a:t>）工程点交、场地清理费指按规定编制竣工图及资料、工程点交、施工场地清理等发生的费用。（  ）</a:t>
            </a:r>
            <a:endParaRPr lang="zh-CN" altLang="en-US" dirty="0">
              <a:ea typeface="宋体" panose="02010600030101010101" pitchFamily="2" charset="-122"/>
            </a:endParaRPr>
          </a:p>
          <a:p>
            <a:pPr>
              <a:lnSpc>
                <a:spcPct val="130000"/>
              </a:lnSpc>
              <a:buNone/>
            </a:pPr>
            <a:endParaRPr lang="zh-CN" altLang="en-US" dirty="0">
              <a:ea typeface="宋体" panose="02010600030101010101" pitchFamily="2" charset="-122"/>
            </a:endParaRPr>
          </a:p>
        </p:txBody>
      </p:sp>
      <p:sp>
        <p:nvSpPr>
          <p:cNvPr id="766979" name="Text Box 3"/>
          <p:cNvSpPr txBox="1">
            <a:spLocks noChangeArrowheads="1"/>
          </p:cNvSpPr>
          <p:nvPr/>
        </p:nvSpPr>
        <p:spPr bwMode="auto">
          <a:xfrm>
            <a:off x="7308850" y="1341438"/>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algn="ctr" defTabSz="914400">
              <a:spcBef>
                <a:spcPct val="50000"/>
              </a:spcBef>
              <a:buClrTx/>
              <a:buSzTx/>
              <a:buFontTx/>
              <a:buNone/>
              <a:defRPr/>
            </a:pPr>
            <a:r>
              <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t>
            </a:r>
            <a:endParaRPr kumimoji="0" lang="zh-CN" altLang="en-US"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766980" name="Text Box 4"/>
          <p:cNvSpPr txBox="1">
            <a:spLocks noChangeArrowheads="1"/>
          </p:cNvSpPr>
          <p:nvPr/>
        </p:nvSpPr>
        <p:spPr bwMode="auto">
          <a:xfrm>
            <a:off x="2124075" y="2420938"/>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en-US" altLang="zh-CN"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t>
            </a:r>
            <a:r>
              <a:rPr kumimoji="0" lang="en-US" altLang="zh-CN"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rPr>
              <a:t> </a:t>
            </a:r>
            <a:endParaRPr kumimoji="0" lang="en-US" altLang="zh-CN" kern="1200" cap="none" spc="0" normalizeH="0" baseline="0" noProof="0">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766981" name="Text Box 5"/>
          <p:cNvSpPr txBox="1">
            <a:spLocks noChangeArrowheads="1"/>
          </p:cNvSpPr>
          <p:nvPr/>
        </p:nvSpPr>
        <p:spPr bwMode="auto">
          <a:xfrm>
            <a:off x="3203575" y="3357563"/>
            <a:ext cx="43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t>
            </a:r>
            <a:endPar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766982" name="Text Box 6"/>
          <p:cNvSpPr txBox="1">
            <a:spLocks noChangeArrowheads="1"/>
          </p:cNvSpPr>
          <p:nvPr/>
        </p:nvSpPr>
        <p:spPr bwMode="auto">
          <a:xfrm>
            <a:off x="6588125" y="4365625"/>
            <a:ext cx="43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t>
            </a:r>
            <a:endPar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
        <p:nvSpPr>
          <p:cNvPr id="766983" name="Text Box 7"/>
          <p:cNvSpPr txBox="1">
            <a:spLocks noChangeArrowheads="1"/>
          </p:cNvSpPr>
          <p:nvPr/>
        </p:nvSpPr>
        <p:spPr bwMode="auto">
          <a:xfrm>
            <a:off x="6300788" y="5445125"/>
            <a:ext cx="43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rPr>
              <a:t>√</a:t>
            </a:r>
            <a:endParaRPr kumimoji="0" lang="zh-CN" altLang="en-US" sz="2400" kern="1200" cap="none" spc="0" normalizeH="0" baseline="0" noProof="0">
              <a:solidFill>
                <a:srgbClr val="660033"/>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66979"/>
                                        </p:tgtEl>
                                        <p:attrNameLst>
                                          <p:attrName>style.visibility</p:attrName>
                                        </p:attrNameLst>
                                      </p:cBhvr>
                                      <p:to>
                                        <p:strVal val="visible"/>
                                      </p:to>
                                    </p:set>
                                    <p:anim calcmode="lin" valueType="num">
                                      <p:cBhvr additive="base">
                                        <p:cTn id="7" dur="500" fill="hold"/>
                                        <p:tgtEl>
                                          <p:spTgt spid="766979"/>
                                        </p:tgtEl>
                                        <p:attrNameLst>
                                          <p:attrName>ppt_x</p:attrName>
                                        </p:attrNameLst>
                                      </p:cBhvr>
                                      <p:tavLst>
                                        <p:tav tm="0">
                                          <p:val>
                                            <p:strVal val="1+#ppt_w/2"/>
                                          </p:val>
                                        </p:tav>
                                        <p:tav tm="100000">
                                          <p:val>
                                            <p:strVal val="#ppt_x"/>
                                          </p:val>
                                        </p:tav>
                                      </p:tavLst>
                                    </p:anim>
                                    <p:anim calcmode="lin" valueType="num">
                                      <p:cBhvr additive="base">
                                        <p:cTn id="8" dur="500" fill="hold"/>
                                        <p:tgtEl>
                                          <p:spTgt spid="7669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66980"/>
                                        </p:tgtEl>
                                        <p:attrNameLst>
                                          <p:attrName>style.visibility</p:attrName>
                                        </p:attrNameLst>
                                      </p:cBhvr>
                                      <p:to>
                                        <p:strVal val="visible"/>
                                      </p:to>
                                    </p:set>
                                    <p:anim calcmode="lin" valueType="num">
                                      <p:cBhvr additive="base">
                                        <p:cTn id="13" dur="500" fill="hold"/>
                                        <p:tgtEl>
                                          <p:spTgt spid="766980"/>
                                        </p:tgtEl>
                                        <p:attrNameLst>
                                          <p:attrName>ppt_x</p:attrName>
                                        </p:attrNameLst>
                                      </p:cBhvr>
                                      <p:tavLst>
                                        <p:tav tm="0">
                                          <p:val>
                                            <p:strVal val="1+#ppt_w/2"/>
                                          </p:val>
                                        </p:tav>
                                        <p:tav tm="100000">
                                          <p:val>
                                            <p:strVal val="#ppt_x"/>
                                          </p:val>
                                        </p:tav>
                                      </p:tavLst>
                                    </p:anim>
                                    <p:anim calcmode="lin" valueType="num">
                                      <p:cBhvr additive="base">
                                        <p:cTn id="14" dur="500" fill="hold"/>
                                        <p:tgtEl>
                                          <p:spTgt spid="76698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66981"/>
                                        </p:tgtEl>
                                        <p:attrNameLst>
                                          <p:attrName>style.visibility</p:attrName>
                                        </p:attrNameLst>
                                      </p:cBhvr>
                                      <p:to>
                                        <p:strVal val="visible"/>
                                      </p:to>
                                    </p:set>
                                    <p:anim calcmode="lin" valueType="num">
                                      <p:cBhvr additive="base">
                                        <p:cTn id="19" dur="500" fill="hold"/>
                                        <p:tgtEl>
                                          <p:spTgt spid="766981"/>
                                        </p:tgtEl>
                                        <p:attrNameLst>
                                          <p:attrName>ppt_x</p:attrName>
                                        </p:attrNameLst>
                                      </p:cBhvr>
                                      <p:tavLst>
                                        <p:tav tm="0">
                                          <p:val>
                                            <p:strVal val="1+#ppt_w/2"/>
                                          </p:val>
                                        </p:tav>
                                        <p:tav tm="100000">
                                          <p:val>
                                            <p:strVal val="#ppt_x"/>
                                          </p:val>
                                        </p:tav>
                                      </p:tavLst>
                                    </p:anim>
                                    <p:anim calcmode="lin" valueType="num">
                                      <p:cBhvr additive="base">
                                        <p:cTn id="20" dur="500" fill="hold"/>
                                        <p:tgtEl>
                                          <p:spTgt spid="76698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66982"/>
                                        </p:tgtEl>
                                        <p:attrNameLst>
                                          <p:attrName>style.visibility</p:attrName>
                                        </p:attrNameLst>
                                      </p:cBhvr>
                                      <p:to>
                                        <p:strVal val="visible"/>
                                      </p:to>
                                    </p:set>
                                    <p:anim calcmode="lin" valueType="num">
                                      <p:cBhvr additive="base">
                                        <p:cTn id="25" dur="500" fill="hold"/>
                                        <p:tgtEl>
                                          <p:spTgt spid="766982"/>
                                        </p:tgtEl>
                                        <p:attrNameLst>
                                          <p:attrName>ppt_x</p:attrName>
                                        </p:attrNameLst>
                                      </p:cBhvr>
                                      <p:tavLst>
                                        <p:tav tm="0">
                                          <p:val>
                                            <p:strVal val="1+#ppt_w/2"/>
                                          </p:val>
                                        </p:tav>
                                        <p:tav tm="100000">
                                          <p:val>
                                            <p:strVal val="#ppt_x"/>
                                          </p:val>
                                        </p:tav>
                                      </p:tavLst>
                                    </p:anim>
                                    <p:anim calcmode="lin" valueType="num">
                                      <p:cBhvr additive="base">
                                        <p:cTn id="26" dur="500" fill="hold"/>
                                        <p:tgtEl>
                                          <p:spTgt spid="76698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66983"/>
                                        </p:tgtEl>
                                        <p:attrNameLst>
                                          <p:attrName>style.visibility</p:attrName>
                                        </p:attrNameLst>
                                      </p:cBhvr>
                                      <p:to>
                                        <p:strVal val="visible"/>
                                      </p:to>
                                    </p:set>
                                    <p:anim calcmode="lin" valueType="num">
                                      <p:cBhvr additive="base">
                                        <p:cTn id="31" dur="500" fill="hold"/>
                                        <p:tgtEl>
                                          <p:spTgt spid="766983"/>
                                        </p:tgtEl>
                                        <p:attrNameLst>
                                          <p:attrName>ppt_x</p:attrName>
                                        </p:attrNameLst>
                                      </p:cBhvr>
                                      <p:tavLst>
                                        <p:tav tm="0">
                                          <p:val>
                                            <p:strVal val="1+#ppt_w/2"/>
                                          </p:val>
                                        </p:tav>
                                        <p:tav tm="100000">
                                          <p:val>
                                            <p:strVal val="#ppt_x"/>
                                          </p:val>
                                        </p:tav>
                                      </p:tavLst>
                                    </p:anim>
                                    <p:anim calcmode="lin" valueType="num">
                                      <p:cBhvr additive="base">
                                        <p:cTn id="32" dur="500" fill="hold"/>
                                        <p:tgtEl>
                                          <p:spTgt spid="7669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979" grpId="0"/>
      <p:bldP spid="766980" grpId="0"/>
      <p:bldP spid="766981" grpId="0"/>
      <p:bldP spid="766982" grpId="0"/>
      <p:bldP spid="766983"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Rectangle 2"/>
          <p:cNvSpPr>
            <a:spLocks noGrp="1"/>
          </p:cNvSpPr>
          <p:nvPr>
            <p:ph/>
          </p:nvPr>
        </p:nvSpPr>
        <p:spPr>
          <a:xfrm>
            <a:off x="468313" y="476250"/>
            <a:ext cx="8362950" cy="5851525"/>
          </a:xfrm>
          <a:noFill/>
          <a:ln>
            <a:noFill/>
          </a:ln>
        </p:spPr>
        <p:txBody>
          <a:bodyPr anchor="t" anchorCtr="0"/>
          <a:p>
            <a:pPr>
              <a:buNone/>
            </a:pPr>
            <a:r>
              <a:rPr lang="en-US" altLang="zh-CN" sz="2800" dirty="0">
                <a:solidFill>
                  <a:srgbClr val="CC00FF"/>
                </a:solidFill>
                <a:latin typeface="华文行楷" panose="02010800040101010101" pitchFamily="2" charset="-122"/>
                <a:ea typeface="华文行楷" panose="02010800040101010101" pitchFamily="2" charset="-122"/>
              </a:rPr>
              <a:t>3 </a:t>
            </a:r>
            <a:r>
              <a:rPr lang="zh-CN" altLang="en-US" sz="2800" dirty="0">
                <a:solidFill>
                  <a:srgbClr val="CC00FF"/>
                </a:solidFill>
                <a:latin typeface="华文行楷" panose="02010800040101010101" pitchFamily="2" charset="-122"/>
                <a:ea typeface="华文行楷" panose="02010800040101010101" pitchFamily="2" charset="-122"/>
              </a:rPr>
              <a:t>问答题</a:t>
            </a:r>
            <a:endParaRPr lang="zh-CN" altLang="en-US" sz="2800" dirty="0">
              <a:solidFill>
                <a:srgbClr val="CC00FF"/>
              </a:solidFill>
              <a:latin typeface="华文行楷" panose="02010800040101010101" pitchFamily="2" charset="-122"/>
              <a:ea typeface="华文行楷" panose="02010800040101010101" pitchFamily="2" charset="-122"/>
            </a:endParaRPr>
          </a:p>
          <a:p>
            <a:pPr>
              <a:lnSpc>
                <a:spcPct val="130000"/>
              </a:lnSpc>
              <a:buNone/>
            </a:pPr>
            <a:r>
              <a:rPr lang="zh-CN" altLang="en-US" dirty="0">
                <a:ea typeface="宋体" panose="02010600030101010101" pitchFamily="2" charset="-122"/>
              </a:rPr>
              <a:t>    </a:t>
            </a:r>
            <a:r>
              <a:rPr lang="en-US" altLang="zh-CN" dirty="0">
                <a:ea typeface="宋体" panose="02010600030101010101" pitchFamily="2" charset="-122"/>
              </a:rPr>
              <a:t>(1)</a:t>
            </a:r>
            <a:r>
              <a:rPr lang="zh-CN" altLang="en-US" dirty="0">
                <a:ea typeface="宋体" panose="02010600030101010101" pitchFamily="2" charset="-122"/>
              </a:rPr>
              <a:t>简述通信建设工程项目总费用构成。</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    </a:t>
            </a:r>
            <a:r>
              <a:rPr lang="en-US" altLang="zh-CN" dirty="0">
                <a:ea typeface="宋体" panose="02010600030101010101" pitchFamily="2" charset="-122"/>
              </a:rPr>
              <a:t>(2)</a:t>
            </a:r>
            <a:r>
              <a:rPr lang="zh-CN" altLang="en-US" dirty="0">
                <a:ea typeface="宋体" panose="02010600030101010101" pitchFamily="2" charset="-122"/>
              </a:rPr>
              <a:t>简述建筑安装工程费的构成。</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    </a:t>
            </a:r>
            <a:r>
              <a:rPr lang="en-US" altLang="zh-CN" dirty="0">
                <a:ea typeface="宋体" panose="02010600030101010101" pitchFamily="2" charset="-122"/>
              </a:rPr>
              <a:t>(3)</a:t>
            </a:r>
            <a:r>
              <a:rPr lang="zh-CN" altLang="en-US" dirty="0">
                <a:ea typeface="宋体" panose="02010600030101010101" pitchFamily="2" charset="-122"/>
              </a:rPr>
              <a:t>简述预备费用包括的内容。 </a:t>
            </a:r>
            <a:endParaRPr lang="zh-CN" altLang="en-US" dirty="0">
              <a:ea typeface="宋体" panose="02010600030101010101" pitchFamily="2" charset="-122"/>
            </a:endParaRPr>
          </a:p>
        </p:txBody>
      </p:sp>
      <p:pic>
        <p:nvPicPr>
          <p:cNvPr id="150530" name="Picture 3" descr="图片1">
            <a:hlinkClick r:id="rId1" action="ppaction://hlinksldjump"/>
          </p:cNvPr>
          <p:cNvPicPr>
            <a:picLocks noChangeAspect="1"/>
          </p:cNvPicPr>
          <p:nvPr/>
        </p:nvPicPr>
        <p:blipFill>
          <a:blip r:embed="rId2"/>
          <a:stretch>
            <a:fillRect/>
          </a:stretch>
        </p:blipFill>
        <p:spPr>
          <a:xfrm>
            <a:off x="7667625" y="5805488"/>
            <a:ext cx="1266825" cy="847725"/>
          </a:xfrm>
          <a:prstGeom prst="rect">
            <a:avLst/>
          </a:prstGeom>
          <a:noFill/>
          <a:ln w="9525">
            <a:noFill/>
          </a:ln>
        </p:spPr>
      </p:pic>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Rectangle 2"/>
          <p:cNvSpPr>
            <a:spLocks noGrp="1"/>
          </p:cNvSpPr>
          <p:nvPr>
            <p:ph type="title"/>
          </p:nvPr>
        </p:nvSpPr>
        <p:spPr>
          <a:xfrm>
            <a:off x="457200" y="274638"/>
            <a:ext cx="8229600" cy="1143000"/>
          </a:xfrm>
          <a:noFill/>
          <a:ln>
            <a:noFill/>
          </a:ln>
        </p:spPr>
        <p:txBody>
          <a:bodyPr anchor="t" anchorCtr="0"/>
          <a:p>
            <a:r>
              <a:rPr lang="zh-CN" altLang="en-US" sz="4000" b="1" dirty="0">
                <a:solidFill>
                  <a:srgbClr val="000099"/>
                </a:solidFill>
                <a:latin typeface="黑体" panose="02010609060101010101" pitchFamily="49" charset="-122"/>
                <a:ea typeface="黑体" panose="02010609060101010101" pitchFamily="49" charset="-122"/>
              </a:rPr>
              <a:t>技能训练</a:t>
            </a:r>
            <a:endParaRPr lang="zh-CN" altLang="en-US" sz="4000" b="1" dirty="0">
              <a:solidFill>
                <a:srgbClr val="000099"/>
              </a:solidFill>
              <a:latin typeface="黑体" panose="02010609060101010101" pitchFamily="49" charset="-122"/>
              <a:ea typeface="黑体" panose="02010609060101010101" pitchFamily="49" charset="-122"/>
            </a:endParaRPr>
          </a:p>
        </p:txBody>
      </p:sp>
      <p:sp>
        <p:nvSpPr>
          <p:cNvPr id="769027" name="Rectangle 3"/>
          <p:cNvSpPr>
            <a:spLocks noGrp="1"/>
          </p:cNvSpPr>
          <p:nvPr>
            <p:ph idx="1"/>
          </p:nvPr>
        </p:nvSpPr>
        <p:spPr>
          <a:xfrm>
            <a:off x="468313" y="1196975"/>
            <a:ext cx="8280400" cy="4537075"/>
          </a:xfrm>
          <a:noFill/>
          <a:ln>
            <a:noFill/>
          </a:ln>
        </p:spPr>
        <p:txBody>
          <a:bodyPr anchor="t" anchorCtr="0"/>
          <a:p>
            <a:pPr>
              <a:spcBef>
                <a:spcPct val="40000"/>
              </a:spcBef>
              <a:buNone/>
            </a:pPr>
            <a:r>
              <a:rPr lang="zh-CN" altLang="en-US" sz="2800" dirty="0">
                <a:solidFill>
                  <a:srgbClr val="660033"/>
                </a:solidFill>
                <a:latin typeface="黑体" panose="02010609060101010101" pitchFamily="49" charset="-122"/>
                <a:ea typeface="黑体" panose="02010609060101010101" pitchFamily="49" charset="-122"/>
              </a:rPr>
              <a:t>  </a:t>
            </a:r>
            <a:r>
              <a:rPr lang="en-US" altLang="zh-CN" sz="2800" dirty="0">
                <a:solidFill>
                  <a:srgbClr val="660033"/>
                </a:solidFill>
                <a:latin typeface="黑体" panose="02010609060101010101" pitchFamily="49" charset="-122"/>
                <a:ea typeface="黑体" panose="02010609060101010101" pitchFamily="49" charset="-122"/>
              </a:rPr>
              <a:t>1 </a:t>
            </a:r>
            <a:r>
              <a:rPr lang="zh-CN" altLang="en-US" sz="2800" dirty="0">
                <a:solidFill>
                  <a:srgbClr val="660033"/>
                </a:solidFill>
                <a:latin typeface="黑体" panose="02010609060101010101" pitchFamily="49" charset="-122"/>
                <a:ea typeface="黑体" panose="02010609060101010101" pitchFamily="49" charset="-122"/>
              </a:rPr>
              <a:t>实训内容</a:t>
            </a:r>
            <a:endParaRPr lang="zh-CN" altLang="en-US" dirty="0">
              <a:ea typeface="宋体" panose="02010600030101010101" pitchFamily="2" charset="-122"/>
            </a:endParaRPr>
          </a:p>
          <a:p>
            <a:pPr>
              <a:spcBef>
                <a:spcPct val="40000"/>
              </a:spcBef>
              <a:buNone/>
            </a:pPr>
            <a:r>
              <a:rPr lang="zh-CN" altLang="en-US" dirty="0">
                <a:ea typeface="宋体" panose="02010600030101010101" pitchFamily="2" charset="-122"/>
              </a:rPr>
              <a:t>    根据所给条件，计算该项单项工程的工程总费用。</a:t>
            </a:r>
            <a:endParaRPr lang="zh-CN" altLang="en-US" dirty="0">
              <a:ea typeface="宋体" panose="02010600030101010101" pitchFamily="2" charset="-122"/>
            </a:endParaRPr>
          </a:p>
          <a:p>
            <a:pPr>
              <a:spcBef>
                <a:spcPct val="40000"/>
              </a:spcBef>
              <a:buNone/>
            </a:pPr>
            <a:r>
              <a:rPr lang="zh-CN" altLang="en-US" dirty="0">
                <a:ea typeface="宋体" panose="02010600030101010101" pitchFamily="2" charset="-122"/>
              </a:rPr>
              <a:t>  （</a:t>
            </a:r>
            <a:r>
              <a:rPr lang="en-US" altLang="zh-CN" dirty="0">
                <a:ea typeface="宋体" panose="02010600030101010101" pitchFamily="2" charset="-122"/>
              </a:rPr>
              <a:t>1</a:t>
            </a:r>
            <a:r>
              <a:rPr lang="zh-CN" altLang="en-US" dirty="0">
                <a:ea typeface="宋体" panose="02010600030101010101" pitchFamily="2" charset="-122"/>
              </a:rPr>
              <a:t>）该工程为“ＸＸ市ＸＸ局通信线路工程”，施工地点在城区；</a:t>
            </a:r>
            <a:endParaRPr lang="zh-CN" altLang="en-US" dirty="0">
              <a:ea typeface="宋体" panose="02010600030101010101" pitchFamily="2" charset="-122"/>
            </a:endParaRPr>
          </a:p>
          <a:p>
            <a:pPr>
              <a:spcBef>
                <a:spcPct val="40000"/>
              </a:spcBef>
              <a:buNone/>
            </a:pPr>
            <a:r>
              <a:rPr lang="zh-CN" altLang="en-US" dirty="0">
                <a:ea typeface="宋体" panose="02010600030101010101" pitchFamily="2" charset="-122"/>
              </a:rPr>
              <a:t>  （</a:t>
            </a:r>
            <a:r>
              <a:rPr lang="en-US" altLang="zh-CN" dirty="0">
                <a:ea typeface="宋体" panose="02010600030101010101" pitchFamily="2" charset="-122"/>
              </a:rPr>
              <a:t>2</a:t>
            </a:r>
            <a:r>
              <a:rPr lang="zh-CN" altLang="en-US" dirty="0">
                <a:ea typeface="宋体" panose="02010600030101010101" pitchFamily="2" charset="-122"/>
              </a:rPr>
              <a:t>）施工企业距施工现场</a:t>
            </a:r>
            <a:r>
              <a:rPr lang="en-US" altLang="zh-CN" dirty="0">
                <a:ea typeface="宋体" panose="02010600030101010101" pitchFamily="2" charset="-122"/>
              </a:rPr>
              <a:t>40km</a:t>
            </a:r>
            <a:r>
              <a:rPr lang="zh-CN" altLang="en-US" dirty="0">
                <a:ea typeface="宋体" panose="02010600030101010101" pitchFamily="2" charset="-122"/>
              </a:rPr>
              <a:t>；</a:t>
            </a:r>
            <a:endParaRPr lang="zh-CN" altLang="en-US" dirty="0">
              <a:ea typeface="宋体" panose="02010600030101010101" pitchFamily="2" charset="-122"/>
            </a:endParaRPr>
          </a:p>
          <a:p>
            <a:pPr>
              <a:spcBef>
                <a:spcPct val="40000"/>
              </a:spcBef>
              <a:buNone/>
            </a:pPr>
            <a:r>
              <a:rPr lang="zh-CN" altLang="en-US" dirty="0">
                <a:ea typeface="宋体" panose="02010600030101010101" pitchFamily="2" charset="-122"/>
              </a:rPr>
              <a:t>  （</a:t>
            </a:r>
            <a:r>
              <a:rPr lang="en-US" altLang="zh-CN" dirty="0">
                <a:ea typeface="宋体" panose="02010600030101010101" pitchFamily="2" charset="-122"/>
              </a:rPr>
              <a:t>3</a:t>
            </a:r>
            <a:r>
              <a:rPr lang="zh-CN" altLang="en-US" dirty="0">
                <a:ea typeface="宋体" panose="02010600030101010101" pitchFamily="2" charset="-122"/>
              </a:rPr>
              <a:t>）工程技工总工日</a:t>
            </a:r>
            <a:r>
              <a:rPr lang="en-US" altLang="zh-CN" dirty="0">
                <a:ea typeface="宋体" panose="02010600030101010101" pitchFamily="2" charset="-122"/>
              </a:rPr>
              <a:t>150</a:t>
            </a:r>
            <a:r>
              <a:rPr lang="zh-CN" altLang="en-US" dirty="0">
                <a:ea typeface="宋体" panose="02010600030101010101" pitchFamily="2" charset="-122"/>
              </a:rPr>
              <a:t>工日，普工总工日</a:t>
            </a:r>
            <a:r>
              <a:rPr lang="en-US" altLang="zh-CN" dirty="0">
                <a:ea typeface="宋体" panose="02010600030101010101" pitchFamily="2" charset="-122"/>
              </a:rPr>
              <a:t>200</a:t>
            </a:r>
            <a:r>
              <a:rPr lang="zh-CN" altLang="en-US" dirty="0">
                <a:ea typeface="宋体" panose="02010600030101010101" pitchFamily="2" charset="-122"/>
              </a:rPr>
              <a:t>工日；</a:t>
            </a:r>
            <a:endParaRPr lang="zh-CN" altLang="en-US" dirty="0">
              <a:ea typeface="宋体" panose="02010600030101010101" pitchFamily="2" charset="-122"/>
            </a:endParaRPr>
          </a:p>
          <a:p>
            <a:pPr>
              <a:spcBef>
                <a:spcPct val="40000"/>
              </a:spcBef>
              <a:buNone/>
            </a:pPr>
            <a:r>
              <a:rPr lang="zh-CN" altLang="en-US" dirty="0">
                <a:ea typeface="宋体" panose="02010600030101010101" pitchFamily="2" charset="-122"/>
              </a:rPr>
              <a:t>  （</a:t>
            </a:r>
            <a:r>
              <a:rPr lang="en-US" altLang="zh-CN" dirty="0">
                <a:ea typeface="宋体" panose="02010600030101010101" pitchFamily="2" charset="-122"/>
              </a:rPr>
              <a:t>4</a:t>
            </a:r>
            <a:r>
              <a:rPr lang="zh-CN" altLang="en-US" dirty="0">
                <a:ea typeface="宋体" panose="02010600030101010101" pitchFamily="2" charset="-122"/>
              </a:rPr>
              <a:t>）主要材料费为</a:t>
            </a:r>
            <a:r>
              <a:rPr lang="en-US" altLang="zh-CN" dirty="0">
                <a:ea typeface="宋体" panose="02010600030101010101" pitchFamily="2" charset="-122"/>
              </a:rPr>
              <a:t>45000</a:t>
            </a:r>
            <a:r>
              <a:rPr lang="zh-CN" altLang="en-US" dirty="0">
                <a:ea typeface="宋体" panose="02010600030101010101" pitchFamily="2" charset="-122"/>
              </a:rPr>
              <a:t>元；</a:t>
            </a:r>
            <a:endParaRPr lang="zh-CN" altLang="en-US" dirty="0">
              <a:ea typeface="宋体" panose="02010600030101010101" pitchFamily="2" charset="-122"/>
            </a:endParaRPr>
          </a:p>
          <a:p>
            <a:pPr>
              <a:spcBef>
                <a:spcPct val="40000"/>
              </a:spcBef>
              <a:buNone/>
            </a:pPr>
            <a:r>
              <a:rPr lang="zh-CN" altLang="en-US" dirty="0">
                <a:ea typeface="宋体" panose="02010600030101010101" pitchFamily="2" charset="-122"/>
              </a:rPr>
              <a:t>  （</a:t>
            </a:r>
            <a:r>
              <a:rPr lang="en-US" altLang="zh-CN" dirty="0">
                <a:ea typeface="宋体" panose="02010600030101010101" pitchFamily="2" charset="-122"/>
              </a:rPr>
              <a:t>5</a:t>
            </a:r>
            <a:r>
              <a:rPr lang="zh-CN" altLang="en-US" dirty="0">
                <a:ea typeface="宋体" panose="02010600030101010101" pitchFamily="2" charset="-122"/>
              </a:rPr>
              <a:t>）机械使用费合计为</a:t>
            </a:r>
            <a:r>
              <a:rPr lang="en-US" altLang="zh-CN" dirty="0">
                <a:ea typeface="宋体" panose="02010600030101010101" pitchFamily="2" charset="-122"/>
              </a:rPr>
              <a:t>1200</a:t>
            </a:r>
            <a:r>
              <a:rPr lang="zh-CN" altLang="en-US" dirty="0">
                <a:ea typeface="宋体" panose="02010600030101010101" pitchFamily="2" charset="-122"/>
              </a:rPr>
              <a:t>元；</a:t>
            </a:r>
            <a:endParaRPr lang="zh-CN" altLang="en-US" dirty="0">
              <a:ea typeface="宋体" panose="02010600030101010101" pitchFamily="2" charset="-122"/>
            </a:endParaRPr>
          </a:p>
          <a:p>
            <a:pPr>
              <a:spcBef>
                <a:spcPct val="40000"/>
              </a:spcBef>
              <a:buNone/>
            </a:pPr>
            <a:r>
              <a:rPr lang="zh-CN" altLang="en-US" dirty="0">
                <a:ea typeface="宋体" panose="02010600030101010101" pitchFamily="2" charset="-122"/>
              </a:rPr>
              <a:t>  （</a:t>
            </a:r>
            <a:r>
              <a:rPr lang="en-US" altLang="zh-CN" dirty="0">
                <a:ea typeface="宋体" panose="02010600030101010101" pitchFamily="2" charset="-122"/>
              </a:rPr>
              <a:t>6</a:t>
            </a:r>
            <a:r>
              <a:rPr lang="zh-CN" altLang="en-US" dirty="0">
                <a:ea typeface="宋体" panose="02010600030101010101" pitchFamily="2" charset="-122"/>
              </a:rPr>
              <a:t>）仪表使用费合计为</a:t>
            </a:r>
            <a:r>
              <a:rPr lang="en-US" altLang="zh-CN" dirty="0">
                <a:ea typeface="宋体" panose="02010600030101010101" pitchFamily="2" charset="-122"/>
              </a:rPr>
              <a:t>1500</a:t>
            </a:r>
            <a:r>
              <a:rPr lang="zh-CN" altLang="en-US" dirty="0">
                <a:ea typeface="宋体" panose="02010600030101010101" pitchFamily="2" charset="-122"/>
              </a:rPr>
              <a:t>元；</a:t>
            </a:r>
            <a:endParaRPr lang="zh-CN" altLang="en-US"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69027">
                                            <p:txEl>
                                              <p:charRg st="0" end="9"/>
                                            </p:txEl>
                                          </p:spTgt>
                                        </p:tgtEl>
                                        <p:attrNameLst>
                                          <p:attrName>style.visibility</p:attrName>
                                        </p:attrNameLst>
                                      </p:cBhvr>
                                      <p:to>
                                        <p:strVal val="visible"/>
                                      </p:to>
                                    </p:set>
                                    <p:animEffect transition="in" filter="slide(fromBottom)">
                                      <p:cBhvr>
                                        <p:cTn id="7" dur="500"/>
                                        <p:tgtEl>
                                          <p:spTgt spid="769027">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769027">
                                            <p:txEl>
                                              <p:charRg st="9" end="36"/>
                                            </p:txEl>
                                          </p:spTgt>
                                        </p:tgtEl>
                                        <p:attrNameLst>
                                          <p:attrName>style.visibility</p:attrName>
                                        </p:attrNameLst>
                                      </p:cBhvr>
                                      <p:to>
                                        <p:strVal val="visible"/>
                                      </p:to>
                                    </p:set>
                                    <p:animEffect transition="in" filter="wedge">
                                      <p:cBhvr>
                                        <p:cTn id="12" dur="2000"/>
                                        <p:tgtEl>
                                          <p:spTgt spid="769027">
                                            <p:txEl>
                                              <p:charRg st="9" end="36"/>
                                            </p:txEl>
                                          </p:spTgt>
                                        </p:tgtEl>
                                      </p:cBhvr>
                                    </p:animEffect>
                                  </p:childTnLst>
                                </p:cTn>
                              </p:par>
                              <p:par>
                                <p:cTn id="13" presetID="20" presetClass="entr" presetSubtype="0" fill="hold" nodeType="withEffect">
                                  <p:stCondLst>
                                    <p:cond delay="0"/>
                                  </p:stCondLst>
                                  <p:childTnLst>
                                    <p:set>
                                      <p:cBhvr>
                                        <p:cTn id="14" dur="1" fill="hold">
                                          <p:stCondLst>
                                            <p:cond delay="0"/>
                                          </p:stCondLst>
                                        </p:cTn>
                                        <p:tgtEl>
                                          <p:spTgt spid="769027">
                                            <p:txEl>
                                              <p:charRg st="36" end="69"/>
                                            </p:txEl>
                                          </p:spTgt>
                                        </p:tgtEl>
                                        <p:attrNameLst>
                                          <p:attrName>style.visibility</p:attrName>
                                        </p:attrNameLst>
                                      </p:cBhvr>
                                      <p:to>
                                        <p:strVal val="visible"/>
                                      </p:to>
                                    </p:set>
                                    <p:animEffect transition="in" filter="wedge">
                                      <p:cBhvr>
                                        <p:cTn id="15" dur="2000"/>
                                        <p:tgtEl>
                                          <p:spTgt spid="769027">
                                            <p:txEl>
                                              <p:charRg st="36" end="69"/>
                                            </p:txEl>
                                          </p:spTgt>
                                        </p:tgtEl>
                                      </p:cBhvr>
                                    </p:animEffect>
                                  </p:childTnLst>
                                </p:cTn>
                              </p:par>
                              <p:par>
                                <p:cTn id="16" presetID="20" presetClass="entr" presetSubtype="0" fill="hold" nodeType="withEffect">
                                  <p:stCondLst>
                                    <p:cond delay="0"/>
                                  </p:stCondLst>
                                  <p:childTnLst>
                                    <p:set>
                                      <p:cBhvr>
                                        <p:cTn id="17" dur="1" fill="hold">
                                          <p:stCondLst>
                                            <p:cond delay="0"/>
                                          </p:stCondLst>
                                        </p:cTn>
                                        <p:tgtEl>
                                          <p:spTgt spid="769027">
                                            <p:txEl>
                                              <p:charRg st="69" end="89"/>
                                            </p:txEl>
                                          </p:spTgt>
                                        </p:tgtEl>
                                        <p:attrNameLst>
                                          <p:attrName>style.visibility</p:attrName>
                                        </p:attrNameLst>
                                      </p:cBhvr>
                                      <p:to>
                                        <p:strVal val="visible"/>
                                      </p:to>
                                    </p:set>
                                    <p:animEffect transition="in" filter="wedge">
                                      <p:cBhvr>
                                        <p:cTn id="18" dur="2000"/>
                                        <p:tgtEl>
                                          <p:spTgt spid="769027">
                                            <p:txEl>
                                              <p:charRg st="69" end="89"/>
                                            </p:txEl>
                                          </p:spTgt>
                                        </p:tgtEl>
                                      </p:cBhvr>
                                    </p:animEffect>
                                  </p:childTnLst>
                                </p:cTn>
                              </p:par>
                              <p:par>
                                <p:cTn id="19" presetID="20" presetClass="entr" presetSubtype="0" fill="hold" nodeType="withEffect">
                                  <p:stCondLst>
                                    <p:cond delay="0"/>
                                  </p:stCondLst>
                                  <p:childTnLst>
                                    <p:set>
                                      <p:cBhvr>
                                        <p:cTn id="20" dur="1" fill="hold">
                                          <p:stCondLst>
                                            <p:cond delay="0"/>
                                          </p:stCondLst>
                                        </p:cTn>
                                        <p:tgtEl>
                                          <p:spTgt spid="769027">
                                            <p:txEl>
                                              <p:charRg st="89" end="119"/>
                                            </p:txEl>
                                          </p:spTgt>
                                        </p:tgtEl>
                                        <p:attrNameLst>
                                          <p:attrName>style.visibility</p:attrName>
                                        </p:attrNameLst>
                                      </p:cBhvr>
                                      <p:to>
                                        <p:strVal val="visible"/>
                                      </p:to>
                                    </p:set>
                                    <p:animEffect transition="in" filter="wedge">
                                      <p:cBhvr>
                                        <p:cTn id="21" dur="2000"/>
                                        <p:tgtEl>
                                          <p:spTgt spid="769027">
                                            <p:txEl>
                                              <p:charRg st="89" end="119"/>
                                            </p:txEl>
                                          </p:spTgt>
                                        </p:tgtEl>
                                      </p:cBhvr>
                                    </p:animEffect>
                                  </p:childTnLst>
                                </p:cTn>
                              </p:par>
                              <p:par>
                                <p:cTn id="22" presetID="20" presetClass="entr" presetSubtype="0" fill="hold" nodeType="withEffect">
                                  <p:stCondLst>
                                    <p:cond delay="0"/>
                                  </p:stCondLst>
                                  <p:childTnLst>
                                    <p:set>
                                      <p:cBhvr>
                                        <p:cTn id="23" dur="1" fill="hold">
                                          <p:stCondLst>
                                            <p:cond delay="0"/>
                                          </p:stCondLst>
                                        </p:cTn>
                                        <p:tgtEl>
                                          <p:spTgt spid="769027">
                                            <p:txEl>
                                              <p:charRg st="119" end="138"/>
                                            </p:txEl>
                                          </p:spTgt>
                                        </p:tgtEl>
                                        <p:attrNameLst>
                                          <p:attrName>style.visibility</p:attrName>
                                        </p:attrNameLst>
                                      </p:cBhvr>
                                      <p:to>
                                        <p:strVal val="visible"/>
                                      </p:to>
                                    </p:set>
                                    <p:animEffect transition="in" filter="wedge">
                                      <p:cBhvr>
                                        <p:cTn id="24" dur="2000"/>
                                        <p:tgtEl>
                                          <p:spTgt spid="769027">
                                            <p:txEl>
                                              <p:charRg st="119" end="138"/>
                                            </p:txEl>
                                          </p:spTgt>
                                        </p:tgtEl>
                                      </p:cBhvr>
                                    </p:animEffect>
                                  </p:childTnLst>
                                </p:cTn>
                              </p:par>
                              <p:par>
                                <p:cTn id="25" presetID="20" presetClass="entr" presetSubtype="0" fill="hold" nodeType="withEffect">
                                  <p:stCondLst>
                                    <p:cond delay="0"/>
                                  </p:stCondLst>
                                  <p:childTnLst>
                                    <p:set>
                                      <p:cBhvr>
                                        <p:cTn id="26" dur="1" fill="hold">
                                          <p:stCondLst>
                                            <p:cond delay="0"/>
                                          </p:stCondLst>
                                        </p:cTn>
                                        <p:tgtEl>
                                          <p:spTgt spid="769027">
                                            <p:txEl>
                                              <p:charRg st="138" end="158"/>
                                            </p:txEl>
                                          </p:spTgt>
                                        </p:tgtEl>
                                        <p:attrNameLst>
                                          <p:attrName>style.visibility</p:attrName>
                                        </p:attrNameLst>
                                      </p:cBhvr>
                                      <p:to>
                                        <p:strVal val="visible"/>
                                      </p:to>
                                    </p:set>
                                    <p:animEffect transition="in" filter="wedge">
                                      <p:cBhvr>
                                        <p:cTn id="27" dur="2000"/>
                                        <p:tgtEl>
                                          <p:spTgt spid="769027">
                                            <p:txEl>
                                              <p:charRg st="138" end="158"/>
                                            </p:txEl>
                                          </p:spTgt>
                                        </p:tgtEl>
                                      </p:cBhvr>
                                    </p:animEffect>
                                  </p:childTnLst>
                                </p:cTn>
                              </p:par>
                              <p:par>
                                <p:cTn id="28" presetID="20" presetClass="entr" presetSubtype="0" fill="hold" nodeType="withEffect">
                                  <p:stCondLst>
                                    <p:cond delay="0"/>
                                  </p:stCondLst>
                                  <p:childTnLst>
                                    <p:set>
                                      <p:cBhvr>
                                        <p:cTn id="29" dur="1" fill="hold">
                                          <p:stCondLst>
                                            <p:cond delay="0"/>
                                          </p:stCondLst>
                                        </p:cTn>
                                        <p:tgtEl>
                                          <p:spTgt spid="769027">
                                            <p:txEl>
                                              <p:charRg st="158" end="178"/>
                                            </p:txEl>
                                          </p:spTgt>
                                        </p:tgtEl>
                                        <p:attrNameLst>
                                          <p:attrName>style.visibility</p:attrName>
                                        </p:attrNameLst>
                                      </p:cBhvr>
                                      <p:to>
                                        <p:strVal val="visible"/>
                                      </p:to>
                                    </p:set>
                                    <p:animEffect transition="in" filter="wedge">
                                      <p:cBhvr>
                                        <p:cTn id="30" dur="2000"/>
                                        <p:tgtEl>
                                          <p:spTgt spid="769027">
                                            <p:txEl>
                                              <p:charRg st="158" end="17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0050" name="Rectangle 2"/>
          <p:cNvSpPr>
            <a:spLocks noGrp="1"/>
          </p:cNvSpPr>
          <p:nvPr>
            <p:ph idx="1"/>
          </p:nvPr>
        </p:nvSpPr>
        <p:spPr>
          <a:xfrm>
            <a:off x="468313" y="1125538"/>
            <a:ext cx="8280400" cy="5040312"/>
          </a:xfrm>
          <a:noFill/>
          <a:ln>
            <a:noFill/>
          </a:ln>
        </p:spPr>
        <p:txBody>
          <a:bodyPr anchor="t" anchorCtr="0"/>
          <a:p>
            <a:pPr>
              <a:lnSpc>
                <a:spcPct val="130000"/>
              </a:lnSpc>
              <a:buNone/>
            </a:pPr>
            <a:r>
              <a:rPr lang="zh-CN" altLang="en-US" dirty="0">
                <a:ea typeface="宋体" panose="02010600030101010101" pitchFamily="2" charset="-122"/>
              </a:rPr>
              <a:t>  （</a:t>
            </a:r>
            <a:r>
              <a:rPr lang="en-US" altLang="zh-CN" dirty="0">
                <a:ea typeface="宋体" panose="02010600030101010101" pitchFamily="2" charset="-122"/>
              </a:rPr>
              <a:t>7</a:t>
            </a:r>
            <a:r>
              <a:rPr lang="zh-CN" altLang="en-US" dirty="0">
                <a:ea typeface="宋体" panose="02010600030101010101" pitchFamily="2" charset="-122"/>
              </a:rPr>
              <a:t>）建设用地及综合赔补费总计</a:t>
            </a:r>
            <a:r>
              <a:rPr lang="en-US" altLang="zh-CN" dirty="0">
                <a:ea typeface="宋体" panose="02010600030101010101" pitchFamily="2" charset="-122"/>
              </a:rPr>
              <a:t>10000</a:t>
            </a:r>
            <a:r>
              <a:rPr lang="zh-CN" altLang="en-US" dirty="0">
                <a:ea typeface="宋体" panose="02010600030101010101" pitchFamily="2" charset="-122"/>
              </a:rPr>
              <a:t>元；</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  （</a:t>
            </a:r>
            <a:r>
              <a:rPr lang="en-US" altLang="zh-CN" dirty="0">
                <a:ea typeface="宋体" panose="02010600030101010101" pitchFamily="2" charset="-122"/>
              </a:rPr>
              <a:t>8</a:t>
            </a:r>
            <a:r>
              <a:rPr lang="zh-CN" altLang="en-US" dirty="0">
                <a:ea typeface="宋体" panose="02010600030101010101" pitchFamily="2" charset="-122"/>
              </a:rPr>
              <a:t>）勘察设计费总计</a:t>
            </a:r>
            <a:r>
              <a:rPr lang="en-US" altLang="zh-CN" dirty="0">
                <a:ea typeface="宋体" panose="02010600030101010101" pitchFamily="2" charset="-122"/>
              </a:rPr>
              <a:t>3000</a:t>
            </a:r>
            <a:r>
              <a:rPr lang="zh-CN" altLang="en-US" dirty="0">
                <a:ea typeface="宋体" panose="02010600030101010101" pitchFamily="2" charset="-122"/>
              </a:rPr>
              <a:t>元；</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  （</a:t>
            </a:r>
            <a:r>
              <a:rPr lang="en-US" altLang="zh-CN" dirty="0">
                <a:ea typeface="宋体" panose="02010600030101010101" pitchFamily="2" charset="-122"/>
              </a:rPr>
              <a:t>9</a:t>
            </a:r>
            <a:r>
              <a:rPr lang="zh-CN" altLang="en-US" dirty="0">
                <a:ea typeface="宋体" panose="02010600030101010101" pitchFamily="2" charset="-122"/>
              </a:rPr>
              <a:t>）施工用水电蒸汽费总计</a:t>
            </a:r>
            <a:r>
              <a:rPr lang="en-US" altLang="zh-CN" dirty="0">
                <a:ea typeface="宋体" panose="02010600030101010101" pitchFamily="2" charset="-122"/>
              </a:rPr>
              <a:t>450</a:t>
            </a:r>
            <a:r>
              <a:rPr lang="zh-CN" altLang="en-US" dirty="0">
                <a:ea typeface="宋体" panose="02010600030101010101" pitchFamily="2" charset="-122"/>
              </a:rPr>
              <a:t>元；</a:t>
            </a:r>
            <a:endParaRPr lang="zh-CN" altLang="en-US" dirty="0">
              <a:ea typeface="宋体" panose="02010600030101010101" pitchFamily="2" charset="-122"/>
            </a:endParaRPr>
          </a:p>
          <a:p>
            <a:pPr>
              <a:lnSpc>
                <a:spcPct val="130000"/>
              </a:lnSpc>
              <a:buNone/>
            </a:pPr>
            <a:r>
              <a:rPr lang="zh-CN" altLang="en-US" dirty="0">
                <a:ea typeface="宋体" panose="02010600030101010101" pitchFamily="2" charset="-122"/>
              </a:rPr>
              <a:t>  （</a:t>
            </a:r>
            <a:r>
              <a:rPr lang="en-US" altLang="zh-CN" dirty="0">
                <a:ea typeface="宋体" panose="02010600030101010101" pitchFamily="2" charset="-122"/>
              </a:rPr>
              <a:t>10</a:t>
            </a:r>
            <a:r>
              <a:rPr lang="zh-CN" altLang="en-US" dirty="0">
                <a:ea typeface="宋体" panose="02010600030101010101" pitchFamily="2" charset="-122"/>
              </a:rPr>
              <a:t>）本工程不计列建设单位管理费、可行性研究费、研究试验费、、环境影响评价费、劳动安全卫生评价费、建设工程监理费、工程质量监督费、工程保险费、工程招标代理费、专利及专用技术使用费、生产准备及开办费。 </a:t>
            </a:r>
            <a:br>
              <a:rPr lang="zh-CN" altLang="en-US" dirty="0">
                <a:ea typeface="宋体" panose="02010600030101010101" pitchFamily="2" charset="-122"/>
              </a:rPr>
            </a:br>
            <a:endParaRPr lang="zh-CN" altLang="en-US"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770050">
                                            <p:txEl>
                                              <p:charRg st="0" end="25"/>
                                            </p:txEl>
                                          </p:spTgt>
                                        </p:tgtEl>
                                        <p:attrNameLst>
                                          <p:attrName>style.visibility</p:attrName>
                                        </p:attrNameLst>
                                      </p:cBhvr>
                                      <p:to>
                                        <p:strVal val="visible"/>
                                      </p:to>
                                    </p:set>
                                    <p:animEffect transition="in" filter="wedge">
                                      <p:cBhvr>
                                        <p:cTn id="7" dur="2000"/>
                                        <p:tgtEl>
                                          <p:spTgt spid="770050">
                                            <p:txEl>
                                              <p:charRg st="0" end="25"/>
                                            </p:txEl>
                                          </p:spTgt>
                                        </p:tgtEl>
                                      </p:cBhvr>
                                    </p:animEffect>
                                  </p:childTnLst>
                                </p:cTn>
                              </p:par>
                              <p:par>
                                <p:cTn id="8" presetID="20" presetClass="entr" presetSubtype="0" fill="hold" nodeType="withEffect">
                                  <p:stCondLst>
                                    <p:cond delay="0"/>
                                  </p:stCondLst>
                                  <p:childTnLst>
                                    <p:set>
                                      <p:cBhvr>
                                        <p:cTn id="9" dur="1" fill="hold">
                                          <p:stCondLst>
                                            <p:cond delay="0"/>
                                          </p:stCondLst>
                                        </p:cTn>
                                        <p:tgtEl>
                                          <p:spTgt spid="770050">
                                            <p:txEl>
                                              <p:charRg st="25" end="44"/>
                                            </p:txEl>
                                          </p:spTgt>
                                        </p:tgtEl>
                                        <p:attrNameLst>
                                          <p:attrName>style.visibility</p:attrName>
                                        </p:attrNameLst>
                                      </p:cBhvr>
                                      <p:to>
                                        <p:strVal val="visible"/>
                                      </p:to>
                                    </p:set>
                                    <p:animEffect transition="in" filter="wedge">
                                      <p:cBhvr>
                                        <p:cTn id="10" dur="2000"/>
                                        <p:tgtEl>
                                          <p:spTgt spid="770050">
                                            <p:txEl>
                                              <p:charRg st="25" end="44"/>
                                            </p:txEl>
                                          </p:spTgt>
                                        </p:tgtEl>
                                      </p:cBhvr>
                                    </p:animEffect>
                                  </p:childTnLst>
                                </p:cTn>
                              </p:par>
                              <p:par>
                                <p:cTn id="11" presetID="20" presetClass="entr" presetSubtype="0" fill="hold" nodeType="withEffect">
                                  <p:stCondLst>
                                    <p:cond delay="0"/>
                                  </p:stCondLst>
                                  <p:childTnLst>
                                    <p:set>
                                      <p:cBhvr>
                                        <p:cTn id="12" dur="1" fill="hold">
                                          <p:stCondLst>
                                            <p:cond delay="0"/>
                                          </p:stCondLst>
                                        </p:cTn>
                                        <p:tgtEl>
                                          <p:spTgt spid="770050">
                                            <p:txEl>
                                              <p:charRg st="44" end="65"/>
                                            </p:txEl>
                                          </p:spTgt>
                                        </p:tgtEl>
                                        <p:attrNameLst>
                                          <p:attrName>style.visibility</p:attrName>
                                        </p:attrNameLst>
                                      </p:cBhvr>
                                      <p:to>
                                        <p:strVal val="visible"/>
                                      </p:to>
                                    </p:set>
                                    <p:animEffect transition="in" filter="wedge">
                                      <p:cBhvr>
                                        <p:cTn id="13" dur="2000"/>
                                        <p:tgtEl>
                                          <p:spTgt spid="770050">
                                            <p:txEl>
                                              <p:charRg st="44" end="65"/>
                                            </p:txEl>
                                          </p:spTgt>
                                        </p:tgtEl>
                                      </p:cBhvr>
                                    </p:animEffect>
                                  </p:childTnLst>
                                </p:cTn>
                              </p:par>
                              <p:par>
                                <p:cTn id="14" presetID="20" presetClass="entr" presetSubtype="0" fill="hold" nodeType="withEffect">
                                  <p:stCondLst>
                                    <p:cond delay="0"/>
                                  </p:stCondLst>
                                  <p:childTnLst>
                                    <p:set>
                                      <p:cBhvr>
                                        <p:cTn id="15" dur="1" fill="hold">
                                          <p:stCondLst>
                                            <p:cond delay="0"/>
                                          </p:stCondLst>
                                        </p:cTn>
                                        <p:tgtEl>
                                          <p:spTgt spid="770050">
                                            <p:txEl>
                                              <p:charRg st="65" end="170"/>
                                            </p:txEl>
                                          </p:spTgt>
                                        </p:tgtEl>
                                        <p:attrNameLst>
                                          <p:attrName>style.visibility</p:attrName>
                                        </p:attrNameLst>
                                      </p:cBhvr>
                                      <p:to>
                                        <p:strVal val="visible"/>
                                      </p:to>
                                    </p:set>
                                    <p:animEffect transition="in" filter="wedge">
                                      <p:cBhvr>
                                        <p:cTn id="16" dur="2000"/>
                                        <p:tgtEl>
                                          <p:spTgt spid="770050">
                                            <p:txEl>
                                              <p:charRg st="65" end="17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1074" name="Rectangle 2"/>
          <p:cNvSpPr>
            <a:spLocks noGrp="1"/>
          </p:cNvSpPr>
          <p:nvPr>
            <p:ph/>
          </p:nvPr>
        </p:nvSpPr>
        <p:spPr>
          <a:xfrm>
            <a:off x="395288" y="765175"/>
            <a:ext cx="8229600" cy="3946525"/>
          </a:xfrm>
          <a:noFill/>
          <a:ln>
            <a:noFill/>
          </a:ln>
        </p:spPr>
        <p:txBody>
          <a:bodyPr anchor="t" anchorCtr="0"/>
          <a:p>
            <a:pPr marL="457200" indent="-457200">
              <a:lnSpc>
                <a:spcPct val="110000"/>
              </a:lnSpc>
              <a:buNone/>
            </a:pPr>
            <a:r>
              <a:rPr lang="en-US" altLang="zh-CN" sz="2800" dirty="0">
                <a:solidFill>
                  <a:srgbClr val="660033"/>
                </a:solidFill>
                <a:latin typeface="黑体" panose="02010609060101010101" pitchFamily="49" charset="-122"/>
                <a:ea typeface="黑体" panose="02010609060101010101" pitchFamily="49" charset="-122"/>
              </a:rPr>
              <a:t>2 </a:t>
            </a:r>
            <a:r>
              <a:rPr lang="zh-CN" altLang="en-US" sz="2800" dirty="0">
                <a:solidFill>
                  <a:srgbClr val="660033"/>
                </a:solidFill>
                <a:latin typeface="黑体" panose="02010609060101010101" pitchFamily="49" charset="-122"/>
                <a:ea typeface="黑体" panose="02010609060101010101" pitchFamily="49" charset="-122"/>
              </a:rPr>
              <a:t>实训目的</a:t>
            </a:r>
            <a:endParaRPr lang="zh-CN" altLang="en-US" sz="2800" dirty="0">
              <a:solidFill>
                <a:srgbClr val="660033"/>
              </a:solidFill>
              <a:latin typeface="黑体" panose="02010609060101010101" pitchFamily="49" charset="-122"/>
              <a:ea typeface="黑体" panose="02010609060101010101" pitchFamily="49" charset="-122"/>
            </a:endParaRPr>
          </a:p>
          <a:p>
            <a:pPr marL="457200" indent="-457200">
              <a:lnSpc>
                <a:spcPct val="11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）掌握通信工程费用的定额和计算规则；</a:t>
            </a:r>
            <a:endParaRPr lang="zh-CN" altLang="en-US" dirty="0">
              <a:ea typeface="宋体" panose="02010600030101010101" pitchFamily="2" charset="-122"/>
            </a:endParaRPr>
          </a:p>
          <a:p>
            <a:pPr marL="457200" indent="-457200">
              <a:lnSpc>
                <a:spcPct val="11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）能够结合具体工程，计算出建筑安装工程费等费用。</a:t>
            </a:r>
            <a:endParaRPr lang="zh-CN" altLang="en-US" dirty="0">
              <a:ea typeface="宋体" panose="02010600030101010101" pitchFamily="2" charset="-122"/>
            </a:endParaRPr>
          </a:p>
          <a:p>
            <a:pPr marL="457200" indent="-457200">
              <a:lnSpc>
                <a:spcPct val="110000"/>
              </a:lnSpc>
              <a:buNone/>
            </a:pPr>
            <a:r>
              <a:rPr lang="en-US" altLang="zh-CN" sz="2800" dirty="0">
                <a:solidFill>
                  <a:srgbClr val="660033"/>
                </a:solidFill>
                <a:latin typeface="黑体" panose="02010609060101010101" pitchFamily="49" charset="-122"/>
                <a:ea typeface="黑体" panose="02010609060101010101" pitchFamily="49" charset="-122"/>
              </a:rPr>
              <a:t>3 </a:t>
            </a:r>
            <a:r>
              <a:rPr lang="zh-CN" altLang="en-US" sz="2800" dirty="0">
                <a:solidFill>
                  <a:srgbClr val="660033"/>
                </a:solidFill>
                <a:latin typeface="黑体" panose="02010609060101010101" pitchFamily="49" charset="-122"/>
                <a:ea typeface="黑体" panose="02010609060101010101" pitchFamily="49" charset="-122"/>
              </a:rPr>
              <a:t>实训要求</a:t>
            </a:r>
            <a:endParaRPr lang="zh-CN" altLang="en-US" sz="2800" dirty="0">
              <a:solidFill>
                <a:srgbClr val="660033"/>
              </a:solidFill>
              <a:latin typeface="黑体" panose="02010609060101010101" pitchFamily="49" charset="-122"/>
              <a:ea typeface="黑体" panose="02010609060101010101" pitchFamily="49" charset="-122"/>
            </a:endParaRPr>
          </a:p>
          <a:p>
            <a:pPr marL="457200" indent="-457200">
              <a:lnSpc>
                <a:spcPct val="110000"/>
              </a:lnSpc>
              <a:buNone/>
            </a:pPr>
            <a:r>
              <a:rPr lang="zh-CN" altLang="en-US" dirty="0">
                <a:ea typeface="宋体" panose="02010600030101010101" pitchFamily="2" charset="-122"/>
              </a:rPr>
              <a:t>（</a:t>
            </a:r>
            <a:r>
              <a:rPr lang="en-US" altLang="zh-CN" dirty="0">
                <a:ea typeface="宋体" panose="02010600030101010101" pitchFamily="2" charset="-122"/>
              </a:rPr>
              <a:t>1</a:t>
            </a:r>
            <a:r>
              <a:rPr lang="zh-CN" altLang="en-US" dirty="0">
                <a:ea typeface="宋体" panose="02010600030101010101" pitchFamily="2" charset="-122"/>
              </a:rPr>
              <a:t>）能够正确套用费率，写出每一项费用的计算依据；</a:t>
            </a:r>
            <a:endParaRPr lang="zh-CN" altLang="en-US" dirty="0">
              <a:ea typeface="宋体" panose="02010600030101010101" pitchFamily="2" charset="-122"/>
            </a:endParaRPr>
          </a:p>
          <a:p>
            <a:pPr marL="457200" indent="-457200">
              <a:lnSpc>
                <a:spcPct val="110000"/>
              </a:lnSpc>
              <a:buNone/>
            </a:pPr>
            <a:r>
              <a:rPr lang="zh-CN" altLang="en-US" dirty="0">
                <a:ea typeface="宋体" panose="02010600030101010101" pitchFamily="2" charset="-122"/>
              </a:rPr>
              <a:t>（</a:t>
            </a:r>
            <a:r>
              <a:rPr lang="en-US" altLang="zh-CN" dirty="0">
                <a:ea typeface="宋体" panose="02010600030101010101" pitchFamily="2" charset="-122"/>
              </a:rPr>
              <a:t>2</a:t>
            </a:r>
            <a:r>
              <a:rPr lang="zh-CN" altLang="en-US" dirty="0">
                <a:ea typeface="宋体" panose="02010600030101010101" pitchFamily="2" charset="-122"/>
              </a:rPr>
              <a:t>）说明计算过程和内容。 </a:t>
            </a:r>
            <a:endParaRPr lang="zh-CN" altLang="en-US" dirty="0">
              <a:ea typeface="宋体" panose="02010600030101010101" pitchFamily="2" charset="-122"/>
            </a:endParaRPr>
          </a:p>
        </p:txBody>
      </p:sp>
      <p:pic>
        <p:nvPicPr>
          <p:cNvPr id="153602" name="Picture 3" descr="图片1">
            <a:hlinkClick r:id="rId1" action="ppaction://hlinksldjump"/>
          </p:cNvPr>
          <p:cNvPicPr>
            <a:picLocks noChangeAspect="1"/>
          </p:cNvPicPr>
          <p:nvPr/>
        </p:nvPicPr>
        <p:blipFill>
          <a:blip r:embed="rId2"/>
          <a:stretch>
            <a:fillRect/>
          </a:stretch>
        </p:blipFill>
        <p:spPr>
          <a:xfrm>
            <a:off x="7885113" y="5949950"/>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71074">
                                            <p:txEl>
                                              <p:charRg st="0" end="7"/>
                                            </p:txEl>
                                          </p:spTgt>
                                        </p:tgtEl>
                                        <p:attrNameLst>
                                          <p:attrName>style.visibility</p:attrName>
                                        </p:attrNameLst>
                                      </p:cBhvr>
                                      <p:to>
                                        <p:strVal val="visible"/>
                                      </p:to>
                                    </p:set>
                                    <p:animEffect transition="in" filter="slide(fromBottom)">
                                      <p:cBhvr>
                                        <p:cTn id="7" dur="500"/>
                                        <p:tgtEl>
                                          <p:spTgt spid="771074">
                                            <p:txEl>
                                              <p:charRg st="0"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771074">
                                            <p:txEl>
                                              <p:charRg st="7" end="28"/>
                                            </p:txEl>
                                          </p:spTgt>
                                        </p:tgtEl>
                                        <p:attrNameLst>
                                          <p:attrName>style.visibility</p:attrName>
                                        </p:attrNameLst>
                                      </p:cBhvr>
                                      <p:to>
                                        <p:strVal val="visible"/>
                                      </p:to>
                                    </p:set>
                                    <p:animEffect transition="in" filter="wedge">
                                      <p:cBhvr>
                                        <p:cTn id="12" dur="2000"/>
                                        <p:tgtEl>
                                          <p:spTgt spid="771074">
                                            <p:txEl>
                                              <p:charRg st="7" end="28"/>
                                            </p:txEl>
                                          </p:spTgt>
                                        </p:tgtEl>
                                      </p:cBhvr>
                                    </p:animEffect>
                                  </p:childTnLst>
                                </p:cTn>
                              </p:par>
                              <p:par>
                                <p:cTn id="13" presetID="20" presetClass="entr" presetSubtype="0" fill="hold" nodeType="withEffect">
                                  <p:stCondLst>
                                    <p:cond delay="0"/>
                                  </p:stCondLst>
                                  <p:childTnLst>
                                    <p:set>
                                      <p:cBhvr>
                                        <p:cTn id="14" dur="1" fill="hold">
                                          <p:stCondLst>
                                            <p:cond delay="0"/>
                                          </p:stCondLst>
                                        </p:cTn>
                                        <p:tgtEl>
                                          <p:spTgt spid="771074">
                                            <p:txEl>
                                              <p:charRg st="28" end="55"/>
                                            </p:txEl>
                                          </p:spTgt>
                                        </p:tgtEl>
                                        <p:attrNameLst>
                                          <p:attrName>style.visibility</p:attrName>
                                        </p:attrNameLst>
                                      </p:cBhvr>
                                      <p:to>
                                        <p:strVal val="visible"/>
                                      </p:to>
                                    </p:set>
                                    <p:animEffect transition="in" filter="wedge">
                                      <p:cBhvr>
                                        <p:cTn id="15" dur="2000"/>
                                        <p:tgtEl>
                                          <p:spTgt spid="771074">
                                            <p:txEl>
                                              <p:charRg st="28" end="5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771074">
                                            <p:txEl>
                                              <p:charRg st="55" end="62"/>
                                            </p:txEl>
                                          </p:spTgt>
                                        </p:tgtEl>
                                        <p:attrNameLst>
                                          <p:attrName>style.visibility</p:attrName>
                                        </p:attrNameLst>
                                      </p:cBhvr>
                                      <p:to>
                                        <p:strVal val="visible"/>
                                      </p:to>
                                    </p:set>
                                    <p:animEffect transition="in" filter="slide(fromBottom)">
                                      <p:cBhvr>
                                        <p:cTn id="20" dur="500"/>
                                        <p:tgtEl>
                                          <p:spTgt spid="771074">
                                            <p:txEl>
                                              <p:charRg st="55" end="6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nodeType="clickEffect">
                                  <p:stCondLst>
                                    <p:cond delay="0"/>
                                  </p:stCondLst>
                                  <p:childTnLst>
                                    <p:set>
                                      <p:cBhvr>
                                        <p:cTn id="24" dur="1" fill="hold">
                                          <p:stCondLst>
                                            <p:cond delay="0"/>
                                          </p:stCondLst>
                                        </p:cTn>
                                        <p:tgtEl>
                                          <p:spTgt spid="771074">
                                            <p:txEl>
                                              <p:charRg st="62" end="88"/>
                                            </p:txEl>
                                          </p:spTgt>
                                        </p:tgtEl>
                                        <p:attrNameLst>
                                          <p:attrName>style.visibility</p:attrName>
                                        </p:attrNameLst>
                                      </p:cBhvr>
                                      <p:to>
                                        <p:strVal val="visible"/>
                                      </p:to>
                                    </p:set>
                                    <p:animEffect transition="in" filter="wedge">
                                      <p:cBhvr>
                                        <p:cTn id="25" dur="2000"/>
                                        <p:tgtEl>
                                          <p:spTgt spid="771074">
                                            <p:txEl>
                                              <p:charRg st="62" end="88"/>
                                            </p:txEl>
                                          </p:spTgt>
                                        </p:tgtEl>
                                      </p:cBhvr>
                                    </p:animEffect>
                                  </p:childTnLst>
                                </p:cTn>
                              </p:par>
                              <p:par>
                                <p:cTn id="26" presetID="20" presetClass="entr" presetSubtype="0" fill="hold" nodeType="withEffect">
                                  <p:stCondLst>
                                    <p:cond delay="0"/>
                                  </p:stCondLst>
                                  <p:childTnLst>
                                    <p:set>
                                      <p:cBhvr>
                                        <p:cTn id="27" dur="1" fill="hold">
                                          <p:stCondLst>
                                            <p:cond delay="0"/>
                                          </p:stCondLst>
                                        </p:cTn>
                                        <p:tgtEl>
                                          <p:spTgt spid="771074">
                                            <p:txEl>
                                              <p:charRg st="88" end="103"/>
                                            </p:txEl>
                                          </p:spTgt>
                                        </p:tgtEl>
                                        <p:attrNameLst>
                                          <p:attrName>style.visibility</p:attrName>
                                        </p:attrNameLst>
                                      </p:cBhvr>
                                      <p:to>
                                        <p:strVal val="visible"/>
                                      </p:to>
                                    </p:set>
                                    <p:animEffect transition="in" filter="wedge">
                                      <p:cBhvr>
                                        <p:cTn id="28" dur="2000"/>
                                        <p:tgtEl>
                                          <p:spTgt spid="771074">
                                            <p:txEl>
                                              <p:charRg st="88" end="10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5" name="Rectangle 2"/>
          <p:cNvSpPr>
            <a:spLocks noGrp="1"/>
          </p:cNvSpPr>
          <p:nvPr>
            <p:ph type="title"/>
          </p:nvPr>
        </p:nvSpPr>
        <p:spPr>
          <a:xfrm>
            <a:off x="457200" y="274638"/>
            <a:ext cx="8229600" cy="1143000"/>
          </a:xfrm>
          <a:noFill/>
          <a:ln>
            <a:noFill/>
          </a:ln>
        </p:spPr>
        <p:txBody>
          <a:bodyPr anchor="t" anchorCtr="0"/>
          <a:p>
            <a:endParaRPr lang="zh-CN" altLang="en-US" dirty="0">
              <a:ea typeface="宋体" panose="02010600030101010101" pitchFamily="2" charset="-122"/>
            </a:endParaRPr>
          </a:p>
        </p:txBody>
      </p:sp>
      <p:sp>
        <p:nvSpPr>
          <p:cNvPr id="154626" name="Rectangle 3"/>
          <p:cNvSpPr>
            <a:spLocks noGrp="1"/>
          </p:cNvSpPr>
          <p:nvPr>
            <p:ph idx="1"/>
          </p:nvPr>
        </p:nvSpPr>
        <p:spPr>
          <a:xfrm>
            <a:off x="457200" y="1600200"/>
            <a:ext cx="8229600" cy="4525963"/>
          </a:xfrm>
          <a:noFill/>
          <a:ln>
            <a:noFill/>
          </a:ln>
        </p:spPr>
        <p:txBody>
          <a:bodyPr anchor="t" anchorCtr="0"/>
          <a:p>
            <a:endParaRPr lang="zh-CN" altLang="en-US" dirty="0">
              <a:ea typeface="宋体" panose="02010600030101010101" pitchFamily="2" charset="-122"/>
            </a:endParaRPr>
          </a:p>
        </p:txBody>
      </p:sp>
      <p:pic>
        <p:nvPicPr>
          <p:cNvPr id="154627" name="Picture 4"/>
          <p:cNvPicPr>
            <a:picLocks noChangeAspect="1"/>
          </p:cNvPicPr>
          <p:nvPr/>
        </p:nvPicPr>
        <p:blipFill>
          <a:blip r:embed="rId1"/>
          <a:stretch>
            <a:fillRect/>
          </a:stretch>
        </p:blipFill>
        <p:spPr>
          <a:xfrm>
            <a:off x="395288" y="404813"/>
            <a:ext cx="8424862" cy="6118225"/>
          </a:xfrm>
          <a:prstGeom prst="rect">
            <a:avLst/>
          </a:prstGeom>
          <a:noFill/>
          <a:ln w="9525">
            <a:noFill/>
          </a:ln>
        </p:spPr>
      </p:pic>
      <p:sp>
        <p:nvSpPr>
          <p:cNvPr id="154628" name="Text Box 5"/>
          <p:cNvSpPr txBox="1"/>
          <p:nvPr/>
        </p:nvSpPr>
        <p:spPr>
          <a:xfrm>
            <a:off x="1116013" y="1557338"/>
            <a:ext cx="863600" cy="3381375"/>
          </a:xfrm>
          <a:prstGeom prst="rect">
            <a:avLst/>
          </a:prstGeom>
          <a:noFill/>
          <a:ln w="9525">
            <a:noFill/>
          </a:ln>
        </p:spPr>
        <p:txBody>
          <a:bodyPr anchor="t" anchorCtr="0">
            <a:spAutoFit/>
          </a:bodyPr>
          <a:p>
            <a:r>
              <a:rPr lang="zh-CN" altLang="en-US" sz="5400" b="0" dirty="0">
                <a:solidFill>
                  <a:srgbClr val="0196B9"/>
                </a:solidFill>
                <a:latin typeface="华文行楷" panose="02010800040101010101" pitchFamily="2" charset="-122"/>
              </a:rPr>
              <a:t>主要内容</a:t>
            </a:r>
            <a:endParaRPr lang="zh-CN" altLang="en-US" sz="5400" b="0" dirty="0">
              <a:solidFill>
                <a:srgbClr val="0196B9"/>
              </a:solidFill>
              <a:latin typeface="华文行楷" panose="02010800040101010101" pitchFamily="2" charset="-122"/>
            </a:endParaRPr>
          </a:p>
        </p:txBody>
      </p:sp>
      <p:sp>
        <p:nvSpPr>
          <p:cNvPr id="834566" name="圆角矩形 18">
            <a:hlinkClick r:id="rId2" action="ppaction://hlinksldjump" highlightClick="1"/>
            <a:hlinkHover r:id="" action="ppaction://noaction">
              <a:snd r:embed="rId3" name="按钮声音.wav"/>
            </a:hlinkHover>
          </p:cNvPr>
          <p:cNvSpPr>
            <a:spLocks noChangeArrowheads="1"/>
          </p:cNvSpPr>
          <p:nvPr/>
        </p:nvSpPr>
        <p:spPr bwMode="auto">
          <a:xfrm>
            <a:off x="3059113" y="1700213"/>
            <a:ext cx="5400675" cy="431800"/>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6.1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通信建设工程概、预算文件编制</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834567" name="AutoShape 7">
            <a:hlinkClick r:id="" action="ppaction://noaction" highlightClick="1"/>
            <a:hlinkHover r:id="" action="ppaction://noaction">
              <a:snd r:embed="rId3" name="按钮声音.wav"/>
            </a:hlinkHover>
          </p:cNvPr>
          <p:cNvSpPr>
            <a:spLocks noChangeArrowheads="1"/>
          </p:cNvSpPr>
          <p:nvPr/>
        </p:nvSpPr>
        <p:spPr bwMode="auto">
          <a:xfrm>
            <a:off x="3059113" y="2349500"/>
            <a:ext cx="5400675" cy="431800"/>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6.2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通信建设工程预算文件编制举例</a:t>
            </a:r>
            <a:r>
              <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834568" name="AutoShape 8">
            <a:hlinkClick r:id="" action="ppaction://noaction" highlightClick="1"/>
            <a:hlinkHover r:id="" action="ppaction://noaction">
              <a:snd r:embed="rId3" name="按钮声音.wav"/>
            </a:hlinkHover>
          </p:cNvPr>
          <p:cNvSpPr>
            <a:spLocks noChangeArrowheads="1"/>
          </p:cNvSpPr>
          <p:nvPr/>
        </p:nvSpPr>
        <p:spPr bwMode="auto">
          <a:xfrm>
            <a:off x="3059113" y="2997200"/>
            <a:ext cx="5400675" cy="431800"/>
          </a:xfrm>
          <a:prstGeom prst="roundRect">
            <a:avLst>
              <a:gd name="adj" fmla="val 16667"/>
            </a:avLst>
          </a:prstGeom>
          <a:gradFill rotWithShape="1">
            <a:gsLst>
              <a:gs pos="0">
                <a:srgbClr val="9EEAFF"/>
              </a:gs>
              <a:gs pos="35001">
                <a:srgbClr val="BBEFFF"/>
              </a:gs>
              <a:gs pos="100000">
                <a:srgbClr val="E4F9FF"/>
              </a:gs>
            </a:gsLst>
            <a:lin ang="16200000" scaled="1"/>
          </a:gradFill>
          <a:ln w="9525">
            <a:solidFill>
              <a:srgbClr val="46AAC5"/>
            </a:solidFill>
            <a:round/>
          </a:ln>
          <a:effectLst>
            <a:outerShdw dist="20000" dir="5400000" rotWithShape="0">
              <a:srgbClr val="000000">
                <a:alpha val="37999"/>
              </a:srgbClr>
            </a:outerShdw>
          </a:effectLst>
        </p:spPr>
        <p:txBody>
          <a:bodyPr anchor="ctr"/>
          <a:lstStyle>
            <a:lvl1pPr eaLnBrk="0" hangingPunct="0">
              <a:spcBef>
                <a:spcPct val="0"/>
              </a:spcBef>
              <a:defRPr sz="2400">
                <a:solidFill>
                  <a:schemeClr val="tx1"/>
                </a:solidFill>
                <a:latin typeface="Times New Roman" panose="02020603050405020304" pitchFamily="18" charset="0"/>
              </a:defRPr>
            </a:lvl1pPr>
            <a:lvl2pPr marL="742950" indent="-285750" eaLnBrk="0" hangingPunct="0">
              <a:spcBef>
                <a:spcPct val="0"/>
              </a:spcBef>
              <a:defRPr sz="2400">
                <a:solidFill>
                  <a:schemeClr val="tx1"/>
                </a:solidFill>
                <a:latin typeface="Times New Roman" panose="02020603050405020304" pitchFamily="18" charset="0"/>
              </a:defRPr>
            </a:lvl2pPr>
            <a:lvl3pPr marL="1143000" indent="-228600" eaLnBrk="0" hangingPunct="0">
              <a:spcBef>
                <a:spcPct val="0"/>
              </a:spcBef>
              <a:defRPr sz="2400">
                <a:solidFill>
                  <a:schemeClr val="tx1"/>
                </a:solidFill>
                <a:latin typeface="Times New Roman" panose="02020603050405020304" pitchFamily="18" charset="0"/>
              </a:defRPr>
            </a:lvl3pPr>
            <a:lvl4pPr marL="1600200" indent="-228600" eaLnBrk="0" hangingPunct="0">
              <a:spcBef>
                <a:spcPct val="0"/>
              </a:spcBef>
              <a:defRPr sz="2400">
                <a:solidFill>
                  <a:schemeClr val="tx1"/>
                </a:solidFill>
                <a:latin typeface="Times New Roman" panose="02020603050405020304" pitchFamily="18" charset="0"/>
              </a:defRPr>
            </a:lvl4pPr>
            <a:lvl5pPr marL="2057400" indent="-228600" eaLnBrk="0" hangingPunct="0">
              <a:spcBef>
                <a:spcPct val="0"/>
              </a:spcBef>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 </a:t>
            </a:r>
            <a:r>
              <a:rPr kumimoji="1" lang="en-US" altLang="zh-CN"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6.3 </a:t>
            </a:r>
            <a:r>
              <a:rPr kumimoji="1" lang="zh-CN" altLang="en-US" sz="2400" b="1" i="0" u="none" strike="noStrike" kern="1200" cap="none" spc="0" normalizeH="0" baseline="0" noProof="0" smtClean="0">
                <a:ln>
                  <a:noFill/>
                </a:ln>
                <a:solidFill>
                  <a:srgbClr val="000099"/>
                </a:solidFill>
                <a:effectLst/>
                <a:uLnTx/>
                <a:uFillTx/>
                <a:latin typeface="微软雅黑" panose="020B0503020204020204" pitchFamily="34" charset="-122"/>
                <a:ea typeface="微软雅黑" panose="020B0503020204020204" pitchFamily="34" charset="-122"/>
                <a:cs typeface="+mn-cs"/>
              </a:rPr>
              <a:t>应用计算机辅助编制概预算</a:t>
            </a:r>
            <a:r>
              <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  </a:t>
            </a:r>
            <a:endParaRPr kumimoji="1" lang="zh-CN" altLang="en-US" sz="2000" b="1" i="0" u="none" strike="noStrike" kern="1200" cap="none" spc="0" normalizeH="0" baseline="0" noProof="0" smtClean="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834569" name="AutoShape 9">
            <a:hlinkHover r:id="" action="ppaction://noaction">
              <a:snd r:embed="rId3" name="按钮声音.wav"/>
            </a:hlinkHover>
          </p:cNvPr>
          <p:cNvSpPr/>
          <p:nvPr/>
        </p:nvSpPr>
        <p:spPr>
          <a:xfrm>
            <a:off x="3059113" y="3716338"/>
            <a:ext cx="5400675"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zh-CN" altLang="en-US" sz="2400" dirty="0">
                <a:solidFill>
                  <a:srgbClr val="000099"/>
                </a:solidFill>
                <a:latin typeface="微软雅黑" panose="020B0503020204020204" pitchFamily="34" charset="-122"/>
                <a:ea typeface="微软雅黑" panose="020B0503020204020204" pitchFamily="34" charset="-122"/>
              </a:rPr>
              <a:t>阶段小结</a:t>
            </a:r>
            <a:endParaRPr lang="zh-CN" altLang="en-US" sz="2400" dirty="0">
              <a:solidFill>
                <a:srgbClr val="000099"/>
              </a:solidFill>
              <a:latin typeface="微软雅黑" panose="020B0503020204020204" pitchFamily="34" charset="-122"/>
              <a:ea typeface="微软雅黑" panose="020B0503020204020204" pitchFamily="34" charset="-122"/>
            </a:endParaRPr>
          </a:p>
        </p:txBody>
      </p:sp>
      <p:sp>
        <p:nvSpPr>
          <p:cNvPr id="834570" name="AutoShape 10">
            <a:hlinkHover r:id="" action="ppaction://noaction">
              <a:snd r:embed="rId3" name="按钮声音.wav"/>
            </a:hlinkHover>
          </p:cNvPr>
          <p:cNvSpPr/>
          <p:nvPr/>
        </p:nvSpPr>
        <p:spPr>
          <a:xfrm>
            <a:off x="3059113" y="4437063"/>
            <a:ext cx="5473700"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zh-CN" altLang="en-US" sz="2400" dirty="0">
                <a:solidFill>
                  <a:srgbClr val="000099"/>
                </a:solidFill>
                <a:latin typeface="微软雅黑" panose="020B0503020204020204" pitchFamily="34" charset="-122"/>
                <a:ea typeface="微软雅黑" panose="020B0503020204020204" pitchFamily="34" charset="-122"/>
              </a:rPr>
              <a:t>知识点练习</a:t>
            </a:r>
            <a:endParaRPr lang="zh-CN" altLang="en-US" sz="2400" dirty="0">
              <a:solidFill>
                <a:srgbClr val="000099"/>
              </a:solidFill>
              <a:latin typeface="微软雅黑" panose="020B0503020204020204" pitchFamily="34" charset="-122"/>
              <a:ea typeface="微软雅黑" panose="020B0503020204020204" pitchFamily="34" charset="-122"/>
            </a:endParaRPr>
          </a:p>
        </p:txBody>
      </p:sp>
      <p:sp>
        <p:nvSpPr>
          <p:cNvPr id="834571" name="AutoShape 11">
            <a:hlinkHover r:id="" action="ppaction://noaction">
              <a:snd r:embed="rId3" name="按钮声音.wav"/>
            </a:hlinkHover>
          </p:cNvPr>
          <p:cNvSpPr/>
          <p:nvPr/>
        </p:nvSpPr>
        <p:spPr>
          <a:xfrm>
            <a:off x="3059113" y="5084763"/>
            <a:ext cx="5473700" cy="431800"/>
          </a:xfrm>
          <a:prstGeom prst="roundRect">
            <a:avLst>
              <a:gd name="adj" fmla="val 16667"/>
            </a:avLst>
          </a:prstGeom>
          <a:gradFill rotWithShape="1">
            <a:gsLst>
              <a:gs pos="0">
                <a:srgbClr val="9EEAFF">
                  <a:alpha val="100000"/>
                </a:srgbClr>
              </a:gs>
              <a:gs pos="35001">
                <a:srgbClr val="BBEFFF">
                  <a:alpha val="100000"/>
                </a:srgbClr>
              </a:gs>
              <a:gs pos="100000">
                <a:srgbClr val="E4F9FF">
                  <a:alpha val="100000"/>
                </a:srgbClr>
              </a:gs>
            </a:gsLst>
            <a:lin ang="16200000" scaled="1"/>
            <a:tileRect/>
          </a:gradFill>
          <a:ln w="9525" cap="flat" cmpd="sng">
            <a:solidFill>
              <a:srgbClr val="46AAC5"/>
            </a:solidFill>
            <a:prstDash val="solid"/>
            <a:round/>
            <a:headEnd type="none" w="med" len="med"/>
            <a:tailEnd type="none" w="med" len="med"/>
          </a:ln>
          <a:effectLst>
            <a:outerShdw dist="20000" dir="5400000" rotWithShape="0">
              <a:srgbClr val="000000">
                <a:alpha val="37999"/>
              </a:srgbClr>
            </a:outerShdw>
          </a:effectLst>
        </p:spPr>
        <p:txBody>
          <a:bodyPr anchor="ctr" anchorCtr="0"/>
          <a:p>
            <a:pPr algn="ctr"/>
            <a:r>
              <a:rPr lang="zh-CN" altLang="en-US" sz="2400" dirty="0">
                <a:solidFill>
                  <a:srgbClr val="000099"/>
                </a:solidFill>
                <a:latin typeface="微软雅黑" panose="020B0503020204020204" pitchFamily="34" charset="-122"/>
                <a:ea typeface="微软雅黑" panose="020B0503020204020204" pitchFamily="34" charset="-122"/>
              </a:rPr>
              <a:t>技能训练</a:t>
            </a:r>
            <a:endParaRPr lang="zh-CN" altLang="en-US" sz="2400" dirty="0">
              <a:solidFill>
                <a:srgbClr val="000099"/>
              </a:solidFill>
              <a:latin typeface="微软雅黑" panose="020B0503020204020204" pitchFamily="34" charset="-122"/>
              <a:ea typeface="微软雅黑" panose="020B0503020204020204" pitchFamily="34" charset="-122"/>
            </a:endParaRPr>
          </a:p>
        </p:txBody>
      </p:sp>
      <p:pic>
        <p:nvPicPr>
          <p:cNvPr id="154635" name="Picture 12" descr="图片1">
            <a:hlinkClick r:id="rId4" action="ppaction://hlinksldjump"/>
          </p:cNvPr>
          <p:cNvPicPr>
            <a:picLocks noChangeAspect="1"/>
          </p:cNvPicPr>
          <p:nvPr/>
        </p:nvPicPr>
        <p:blipFill>
          <a:blip r:embed="rId5"/>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834566">
                                            <p:txEl>
                                              <p:charRg st="0" end="19"/>
                                            </p:txEl>
                                          </p:spTgt>
                                        </p:tgtEl>
                                        <p:attrNameLst>
                                          <p:attrName>style.visibility</p:attrName>
                                        </p:attrNameLst>
                                      </p:cBhvr>
                                      <p:to>
                                        <p:strVal val="visible"/>
                                      </p:to>
                                    </p:set>
                                    <p:animEffect transition="in" filter="blinds(horizontal)">
                                      <p:cBhvr>
                                        <p:cTn id="7" dur="1000"/>
                                        <p:tgtEl>
                                          <p:spTgt spid="834566">
                                            <p:txEl>
                                              <p:charRg st="0" end="19"/>
                                            </p:txEl>
                                          </p:spTgt>
                                        </p:tgtEl>
                                      </p:cBhvr>
                                    </p:animEffect>
                                  </p:childTnLst>
                                </p:cTn>
                              </p:par>
                            </p:childTnLst>
                          </p:cTn>
                        </p:par>
                        <p:par>
                          <p:cTn id="8" fill="hold">
                            <p:stCondLst>
                              <p:cond delay="1000"/>
                            </p:stCondLst>
                            <p:childTnLst>
                              <p:par>
                                <p:cTn id="9" presetID="3" presetClass="entr" presetSubtype="10" fill="hold" nodeType="afterEffect">
                                  <p:stCondLst>
                                    <p:cond delay="0"/>
                                  </p:stCondLst>
                                  <p:childTnLst>
                                    <p:set>
                                      <p:cBhvr>
                                        <p:cTn id="10" dur="1" fill="hold">
                                          <p:stCondLst>
                                            <p:cond delay="0"/>
                                          </p:stCondLst>
                                        </p:cTn>
                                        <p:tgtEl>
                                          <p:spTgt spid="834567">
                                            <p:txEl>
                                              <p:charRg st="0" end="20"/>
                                            </p:txEl>
                                          </p:spTgt>
                                        </p:tgtEl>
                                        <p:attrNameLst>
                                          <p:attrName>style.visibility</p:attrName>
                                        </p:attrNameLst>
                                      </p:cBhvr>
                                      <p:to>
                                        <p:strVal val="visible"/>
                                      </p:to>
                                    </p:set>
                                    <p:animEffect transition="in" filter="blinds(horizontal)">
                                      <p:cBhvr>
                                        <p:cTn id="11" dur="1000"/>
                                        <p:tgtEl>
                                          <p:spTgt spid="834567">
                                            <p:txEl>
                                              <p:charRg st="0" end="20"/>
                                            </p:txEl>
                                          </p:spTgt>
                                        </p:tgtEl>
                                      </p:cBhvr>
                                    </p:animEffect>
                                  </p:childTnLst>
                                </p:cTn>
                              </p:par>
                            </p:childTnLst>
                          </p:cTn>
                        </p:par>
                        <p:par>
                          <p:cTn id="12" fill="hold">
                            <p:stCondLst>
                              <p:cond delay="2000"/>
                            </p:stCondLst>
                            <p:childTnLst>
                              <p:par>
                                <p:cTn id="13" presetID="3" presetClass="entr" presetSubtype="10" fill="hold" nodeType="afterEffect">
                                  <p:stCondLst>
                                    <p:cond delay="0"/>
                                  </p:stCondLst>
                                  <p:childTnLst>
                                    <p:set>
                                      <p:cBhvr>
                                        <p:cTn id="14" dur="1" fill="hold">
                                          <p:stCondLst>
                                            <p:cond delay="0"/>
                                          </p:stCondLst>
                                        </p:cTn>
                                        <p:tgtEl>
                                          <p:spTgt spid="834568">
                                            <p:txEl>
                                              <p:charRg st="0" end="20"/>
                                            </p:txEl>
                                          </p:spTgt>
                                        </p:tgtEl>
                                        <p:attrNameLst>
                                          <p:attrName>style.visibility</p:attrName>
                                        </p:attrNameLst>
                                      </p:cBhvr>
                                      <p:to>
                                        <p:strVal val="visible"/>
                                      </p:to>
                                    </p:set>
                                    <p:animEffect transition="in" filter="blinds(horizontal)">
                                      <p:cBhvr>
                                        <p:cTn id="15" dur="1000"/>
                                        <p:tgtEl>
                                          <p:spTgt spid="834568">
                                            <p:txEl>
                                              <p:charRg st="0" end="20"/>
                                            </p:txEl>
                                          </p:spTgt>
                                        </p:tgtEl>
                                      </p:cBhvr>
                                    </p:animEffect>
                                  </p:childTnLst>
                                </p:cTn>
                              </p:par>
                            </p:childTnLst>
                          </p:cTn>
                        </p:par>
                        <p:par>
                          <p:cTn id="16" fill="hold">
                            <p:stCondLst>
                              <p:cond delay="3000"/>
                            </p:stCondLst>
                            <p:childTnLst>
                              <p:par>
                                <p:cTn id="17" presetID="3" presetClass="entr" presetSubtype="10" fill="hold" nodeType="afterEffect">
                                  <p:stCondLst>
                                    <p:cond delay="0"/>
                                  </p:stCondLst>
                                  <p:childTnLst>
                                    <p:set>
                                      <p:cBhvr>
                                        <p:cTn id="18" dur="1" fill="hold">
                                          <p:stCondLst>
                                            <p:cond delay="0"/>
                                          </p:stCondLst>
                                        </p:cTn>
                                        <p:tgtEl>
                                          <p:spTgt spid="834569">
                                            <p:txEl>
                                              <p:charRg st="0" end="5"/>
                                            </p:txEl>
                                          </p:spTgt>
                                        </p:tgtEl>
                                        <p:attrNameLst>
                                          <p:attrName>style.visibility</p:attrName>
                                        </p:attrNameLst>
                                      </p:cBhvr>
                                      <p:to>
                                        <p:strVal val="visible"/>
                                      </p:to>
                                    </p:set>
                                    <p:animEffect transition="in" filter="blinds(horizontal)">
                                      <p:cBhvr>
                                        <p:cTn id="19" dur="1000"/>
                                        <p:tgtEl>
                                          <p:spTgt spid="834569">
                                            <p:txEl>
                                              <p:charRg st="0" end="5"/>
                                            </p:txEl>
                                          </p:spTgt>
                                        </p:tgtEl>
                                      </p:cBhvr>
                                    </p:animEffect>
                                  </p:childTnLst>
                                </p:cTn>
                              </p:par>
                            </p:childTnLst>
                          </p:cTn>
                        </p:par>
                        <p:par>
                          <p:cTn id="20" fill="hold">
                            <p:stCondLst>
                              <p:cond delay="4000"/>
                            </p:stCondLst>
                            <p:childTnLst>
                              <p:par>
                                <p:cTn id="21" presetID="3" presetClass="entr" presetSubtype="10" fill="hold" nodeType="afterEffect">
                                  <p:stCondLst>
                                    <p:cond delay="0"/>
                                  </p:stCondLst>
                                  <p:childTnLst>
                                    <p:set>
                                      <p:cBhvr>
                                        <p:cTn id="22" dur="1" fill="hold">
                                          <p:stCondLst>
                                            <p:cond delay="0"/>
                                          </p:stCondLst>
                                        </p:cTn>
                                        <p:tgtEl>
                                          <p:spTgt spid="834570">
                                            <p:txEl>
                                              <p:charRg st="0" end="6"/>
                                            </p:txEl>
                                          </p:spTgt>
                                        </p:tgtEl>
                                        <p:attrNameLst>
                                          <p:attrName>style.visibility</p:attrName>
                                        </p:attrNameLst>
                                      </p:cBhvr>
                                      <p:to>
                                        <p:strVal val="visible"/>
                                      </p:to>
                                    </p:set>
                                    <p:animEffect transition="in" filter="blinds(horizontal)">
                                      <p:cBhvr>
                                        <p:cTn id="23" dur="1000"/>
                                        <p:tgtEl>
                                          <p:spTgt spid="834570">
                                            <p:txEl>
                                              <p:charRg st="0" end="6"/>
                                            </p:txEl>
                                          </p:spTgt>
                                        </p:tgtEl>
                                      </p:cBhvr>
                                    </p:animEffect>
                                  </p:childTnLst>
                                </p:cTn>
                              </p:par>
                            </p:childTnLst>
                          </p:cTn>
                        </p:par>
                        <p:par>
                          <p:cTn id="24" fill="hold">
                            <p:stCondLst>
                              <p:cond delay="5000"/>
                            </p:stCondLst>
                            <p:childTnLst>
                              <p:par>
                                <p:cTn id="25" presetID="3" presetClass="entr" presetSubtype="10" fill="hold" nodeType="afterEffect">
                                  <p:stCondLst>
                                    <p:cond delay="0"/>
                                  </p:stCondLst>
                                  <p:childTnLst>
                                    <p:set>
                                      <p:cBhvr>
                                        <p:cTn id="26" dur="1" fill="hold">
                                          <p:stCondLst>
                                            <p:cond delay="0"/>
                                          </p:stCondLst>
                                        </p:cTn>
                                        <p:tgtEl>
                                          <p:spTgt spid="834571">
                                            <p:txEl>
                                              <p:charRg st="0" end="5"/>
                                            </p:txEl>
                                          </p:spTgt>
                                        </p:tgtEl>
                                        <p:attrNameLst>
                                          <p:attrName>style.visibility</p:attrName>
                                        </p:attrNameLst>
                                      </p:cBhvr>
                                      <p:to>
                                        <p:strVal val="visible"/>
                                      </p:to>
                                    </p:set>
                                    <p:animEffect transition="in" filter="blinds(horizontal)">
                                      <p:cBhvr>
                                        <p:cTn id="27" dur="1000"/>
                                        <p:tgtEl>
                                          <p:spTgt spid="834571">
                                            <p:txEl>
                                              <p:charRg st="0"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Rectangle 2"/>
          <p:cNvSpPr>
            <a:spLocks noGrp="1"/>
          </p:cNvSpPr>
          <p:nvPr>
            <p:ph type="title"/>
          </p:nvPr>
        </p:nvSpPr>
        <p:spPr>
          <a:xfrm>
            <a:off x="914400" y="333375"/>
            <a:ext cx="8229600" cy="719138"/>
          </a:xfrm>
          <a:noFill/>
          <a:ln>
            <a:noFill/>
          </a:ln>
        </p:spPr>
        <p:txBody>
          <a:bodyPr anchor="t" anchorCtr="0"/>
          <a:p>
            <a:r>
              <a:rPr lang="en-US" altLang="zh-CN" b="1" dirty="0">
                <a:solidFill>
                  <a:srgbClr val="000099"/>
                </a:solidFill>
                <a:latin typeface="黑体" panose="02010609060101010101" pitchFamily="49" charset="-122"/>
                <a:ea typeface="黑体" panose="02010609060101010101" pitchFamily="49" charset="-122"/>
              </a:rPr>
              <a:t>6.1 </a:t>
            </a:r>
            <a:r>
              <a:rPr lang="zh-CN" altLang="en-US" b="1" dirty="0">
                <a:solidFill>
                  <a:srgbClr val="000099"/>
                </a:solidFill>
                <a:latin typeface="黑体" panose="02010609060101010101" pitchFamily="49" charset="-122"/>
                <a:ea typeface="黑体" panose="02010609060101010101" pitchFamily="49" charset="-122"/>
              </a:rPr>
              <a:t>通信建设工程概、预算文件编制</a:t>
            </a:r>
            <a:endParaRPr lang="zh-CN" altLang="en-US" b="1" dirty="0">
              <a:solidFill>
                <a:srgbClr val="000099"/>
              </a:solidFill>
              <a:latin typeface="黑体" panose="02010609060101010101" pitchFamily="49" charset="-122"/>
              <a:ea typeface="黑体" panose="02010609060101010101" pitchFamily="49" charset="-122"/>
            </a:endParaRPr>
          </a:p>
        </p:txBody>
      </p:sp>
      <p:sp>
        <p:nvSpPr>
          <p:cNvPr id="155650" name="Text Box 2"/>
          <p:cNvSpPr txBox="1"/>
          <p:nvPr/>
        </p:nvSpPr>
        <p:spPr>
          <a:xfrm>
            <a:off x="611188" y="1020763"/>
            <a:ext cx="2963862" cy="519112"/>
          </a:xfrm>
          <a:prstGeom prst="rect">
            <a:avLst/>
          </a:prstGeom>
          <a:noFill/>
          <a:ln w="9525">
            <a:noFill/>
          </a:ln>
          <a:effectLst>
            <a:prstShdw prst="shdw17" dist="17961" dir="13499999">
              <a:srgbClr val="708688"/>
            </a:prstShdw>
          </a:effectLst>
        </p:spPr>
        <p:txBody>
          <a:bodyPr anchor="t" anchorCtr="0">
            <a:spAutoFit/>
          </a:bodyPr>
          <a:p>
            <a:endParaRPr lang="zh-CN" altLang="en-US" sz="2800" dirty="0">
              <a:solidFill>
                <a:srgbClr val="006600"/>
              </a:solidFill>
              <a:latin typeface="Arial" panose="020B0604020202020204" pitchFamily="34" charset="0"/>
              <a:ea typeface="楷体" panose="02010609060101010101" pitchFamily="49" charset="-122"/>
            </a:endParaRPr>
          </a:p>
        </p:txBody>
      </p:sp>
      <p:grpSp>
        <p:nvGrpSpPr>
          <p:cNvPr id="155651" name="Group 4"/>
          <p:cNvGrpSpPr/>
          <p:nvPr/>
        </p:nvGrpSpPr>
        <p:grpSpPr>
          <a:xfrm>
            <a:off x="1682750" y="2546350"/>
            <a:ext cx="5668963" cy="1898650"/>
            <a:chOff x="1060" y="1604"/>
            <a:chExt cx="3571" cy="1196"/>
          </a:xfrm>
        </p:grpSpPr>
        <p:sp>
          <p:nvSpPr>
            <p:cNvPr id="155652" name="Line 18"/>
            <p:cNvSpPr/>
            <p:nvPr/>
          </p:nvSpPr>
          <p:spPr>
            <a:xfrm>
              <a:off x="1060" y="1604"/>
              <a:ext cx="3563" cy="0"/>
            </a:xfrm>
            <a:prstGeom prst="line">
              <a:avLst/>
            </a:prstGeom>
            <a:ln w="38100" cap="rnd" cmpd="sng">
              <a:solidFill>
                <a:srgbClr val="008000"/>
              </a:solidFill>
              <a:prstDash val="sysDot"/>
              <a:round/>
              <a:headEnd type="none" w="med" len="med"/>
              <a:tailEnd type="oval" w="med" len="med"/>
            </a:ln>
          </p:spPr>
        </p:sp>
        <p:sp>
          <p:nvSpPr>
            <p:cNvPr id="155653" name="Line 18"/>
            <p:cNvSpPr/>
            <p:nvPr/>
          </p:nvSpPr>
          <p:spPr>
            <a:xfrm>
              <a:off x="1069" y="2208"/>
              <a:ext cx="3562" cy="0"/>
            </a:xfrm>
            <a:prstGeom prst="line">
              <a:avLst/>
            </a:prstGeom>
            <a:ln w="38100" cap="rnd" cmpd="sng">
              <a:solidFill>
                <a:srgbClr val="008000"/>
              </a:solidFill>
              <a:prstDash val="sysDot"/>
              <a:round/>
              <a:headEnd type="none" w="med" len="med"/>
              <a:tailEnd type="oval" w="med" len="med"/>
            </a:ln>
          </p:spPr>
        </p:sp>
        <p:sp>
          <p:nvSpPr>
            <p:cNvPr id="155654" name="Line 18"/>
            <p:cNvSpPr/>
            <p:nvPr/>
          </p:nvSpPr>
          <p:spPr>
            <a:xfrm>
              <a:off x="1067" y="2800"/>
              <a:ext cx="3562" cy="0"/>
            </a:xfrm>
            <a:prstGeom prst="line">
              <a:avLst/>
            </a:prstGeom>
            <a:ln w="38100" cap="rnd" cmpd="sng">
              <a:solidFill>
                <a:srgbClr val="008000"/>
              </a:solidFill>
              <a:prstDash val="sysDot"/>
              <a:round/>
              <a:headEnd type="none" w="med" len="med"/>
              <a:tailEnd type="oval" w="med" len="med"/>
            </a:ln>
          </p:spPr>
        </p:sp>
      </p:grpSp>
      <p:grpSp>
        <p:nvGrpSpPr>
          <p:cNvPr id="155655" name="Group 8"/>
          <p:cNvGrpSpPr/>
          <p:nvPr/>
        </p:nvGrpSpPr>
        <p:grpSpPr>
          <a:xfrm>
            <a:off x="1701800" y="2046288"/>
            <a:ext cx="504825" cy="2443162"/>
            <a:chOff x="1072" y="1289"/>
            <a:chExt cx="318" cy="1539"/>
          </a:xfrm>
        </p:grpSpPr>
        <p:pic>
          <p:nvPicPr>
            <p:cNvPr id="155656" name="Picture 12" descr="003c"/>
            <p:cNvPicPr>
              <a:picLocks noChangeAspect="1"/>
            </p:cNvPicPr>
            <p:nvPr/>
          </p:nvPicPr>
          <p:blipFill>
            <a:blip r:embed="rId1"/>
            <a:stretch>
              <a:fillRect/>
            </a:stretch>
          </p:blipFill>
          <p:spPr>
            <a:xfrm>
              <a:off x="1072" y="1899"/>
              <a:ext cx="318" cy="318"/>
            </a:xfrm>
            <a:prstGeom prst="rect">
              <a:avLst/>
            </a:prstGeom>
            <a:noFill/>
            <a:ln w="9525">
              <a:noFill/>
            </a:ln>
          </p:spPr>
        </p:pic>
        <p:pic>
          <p:nvPicPr>
            <p:cNvPr id="155657" name="Picture 14" descr="002b"/>
            <p:cNvPicPr>
              <a:picLocks noChangeAspect="1"/>
            </p:cNvPicPr>
            <p:nvPr/>
          </p:nvPicPr>
          <p:blipFill>
            <a:blip r:embed="rId2"/>
            <a:stretch>
              <a:fillRect/>
            </a:stretch>
          </p:blipFill>
          <p:spPr>
            <a:xfrm>
              <a:off x="1072" y="1289"/>
              <a:ext cx="318" cy="318"/>
            </a:xfrm>
            <a:prstGeom prst="rect">
              <a:avLst/>
            </a:prstGeom>
            <a:noFill/>
            <a:ln w="9525">
              <a:noFill/>
            </a:ln>
          </p:spPr>
        </p:pic>
        <p:pic>
          <p:nvPicPr>
            <p:cNvPr id="155658" name="Picture 16" descr="004d (2)"/>
            <p:cNvPicPr>
              <a:picLocks noChangeAspect="1"/>
            </p:cNvPicPr>
            <p:nvPr/>
          </p:nvPicPr>
          <p:blipFill>
            <a:blip r:embed="rId3"/>
            <a:stretch>
              <a:fillRect/>
            </a:stretch>
          </p:blipFill>
          <p:spPr>
            <a:xfrm>
              <a:off x="1072" y="2510"/>
              <a:ext cx="318" cy="318"/>
            </a:xfrm>
            <a:prstGeom prst="rect">
              <a:avLst/>
            </a:prstGeom>
            <a:noFill/>
            <a:ln w="9525">
              <a:noFill/>
            </a:ln>
          </p:spPr>
        </p:pic>
      </p:grpSp>
      <p:sp>
        <p:nvSpPr>
          <p:cNvPr id="835596" name="Text Box 12">
            <a:hlinkClick r:id="rId4" action="ppaction://hlinksldjump"/>
          </p:cNvPr>
          <p:cNvSpPr txBox="1">
            <a:spLocks noChangeArrowheads="1"/>
          </p:cNvSpPr>
          <p:nvPr/>
        </p:nvSpPr>
        <p:spPr bwMode="auto">
          <a:xfrm>
            <a:off x="2268538" y="2133600"/>
            <a:ext cx="511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通信建设工程概算、预算编制办法</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835597" name="Text Box 13">
            <a:hlinkClick r:id="rId5" action="ppaction://hlinksldjump"/>
          </p:cNvPr>
          <p:cNvSpPr txBox="1">
            <a:spLocks noChangeArrowheads="1"/>
          </p:cNvSpPr>
          <p:nvPr/>
        </p:nvSpPr>
        <p:spPr bwMode="auto">
          <a:xfrm>
            <a:off x="2268538" y="3068638"/>
            <a:ext cx="5543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通信建设工程概预算文件包括哪些？</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sp>
        <p:nvSpPr>
          <p:cNvPr id="835598" name="Text Box 14">
            <a:hlinkClick r:id="" action="ppaction://noaction"/>
          </p:cNvPr>
          <p:cNvSpPr txBox="1">
            <a:spLocks noChangeArrowheads="1"/>
          </p:cNvSpPr>
          <p:nvPr/>
        </p:nvSpPr>
        <p:spPr bwMode="auto">
          <a:xfrm>
            <a:off x="2268538" y="4005263"/>
            <a:ext cx="6119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通信建设工程概预算文件的编制流程？</a:t>
            </a:r>
            <a:endParaRPr kumimoji="0" lang="zh-CN" altLang="en-US" sz="2400" kern="1200" cap="none" spc="0" normalizeH="0" baseline="0" noProof="0">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cs typeface="+mn-cs"/>
            </a:endParaRPr>
          </a:p>
        </p:txBody>
      </p:sp>
      <p:pic>
        <p:nvPicPr>
          <p:cNvPr id="155662" name="Picture 27" descr="生物10"/>
          <p:cNvPicPr>
            <a:picLocks noChangeAspect="1"/>
          </p:cNvPicPr>
          <p:nvPr/>
        </p:nvPicPr>
        <p:blipFill>
          <a:blip r:embed="rId6"/>
          <a:srcRect r="68536" b="6113"/>
          <a:stretch>
            <a:fillRect/>
          </a:stretch>
        </p:blipFill>
        <p:spPr>
          <a:xfrm>
            <a:off x="563563" y="765175"/>
            <a:ext cx="830262" cy="706438"/>
          </a:xfrm>
          <a:prstGeom prst="rect">
            <a:avLst/>
          </a:prstGeom>
          <a:noFill/>
          <a:ln w="9525">
            <a:noFill/>
          </a:ln>
        </p:spPr>
      </p:pic>
      <p:grpSp>
        <p:nvGrpSpPr>
          <p:cNvPr id="155663" name="Group 43"/>
          <p:cNvGrpSpPr/>
          <p:nvPr/>
        </p:nvGrpSpPr>
        <p:grpSpPr>
          <a:xfrm>
            <a:off x="563563" y="1603375"/>
            <a:ext cx="1704975" cy="381000"/>
            <a:chOff x="-1324" y="576"/>
            <a:chExt cx="912" cy="240"/>
          </a:xfrm>
        </p:grpSpPr>
        <p:sp>
          <p:nvSpPr>
            <p:cNvPr id="155664" name="Text Box 40"/>
            <p:cNvSpPr txBox="1"/>
            <p:nvPr/>
          </p:nvSpPr>
          <p:spPr>
            <a:xfrm>
              <a:off x="-1296" y="576"/>
              <a:ext cx="884"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本节解决问题</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55665" name="AutoShape 41"/>
            <p:cNvSpPr/>
            <p:nvPr/>
          </p:nvSpPr>
          <p:spPr>
            <a:xfrm>
              <a:off x="-1324" y="576"/>
              <a:ext cx="912"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55666" name="AutoShape 42"/>
          <p:cNvSpPr/>
          <p:nvPr/>
        </p:nvSpPr>
        <p:spPr>
          <a:xfrm>
            <a:off x="250825" y="1298575"/>
            <a:ext cx="312738" cy="457200"/>
          </a:xfrm>
          <a:prstGeom prst="curvedRightArrow">
            <a:avLst>
              <a:gd name="adj1" fmla="val 27756"/>
              <a:gd name="adj2" fmla="val 56994"/>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pic>
        <p:nvPicPr>
          <p:cNvPr id="155667" name="Picture 20" descr="图片1">
            <a:hlinkClick r:id="rId7" action="ppaction://hlinksldjump"/>
          </p:cNvPr>
          <p:cNvPicPr>
            <a:picLocks noChangeAspect="1"/>
          </p:cNvPicPr>
          <p:nvPr/>
        </p:nvPicPr>
        <p:blipFill>
          <a:blip r:embed="rId8"/>
          <a:stretch>
            <a:fillRect/>
          </a:stretch>
        </p:blipFill>
        <p:spPr>
          <a:xfrm>
            <a:off x="7667625" y="5805488"/>
            <a:ext cx="1266825" cy="847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35596"/>
                                        </p:tgtEl>
                                        <p:attrNameLst>
                                          <p:attrName>style.visibility</p:attrName>
                                        </p:attrNameLst>
                                      </p:cBhvr>
                                      <p:to>
                                        <p:strVal val="visible"/>
                                      </p:to>
                                    </p:set>
                                    <p:animEffect transition="in" filter="wipe(left)">
                                      <p:cBhvr>
                                        <p:cTn id="7" dur="1000"/>
                                        <p:tgtEl>
                                          <p:spTgt spid="835596"/>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835597"/>
                                        </p:tgtEl>
                                        <p:attrNameLst>
                                          <p:attrName>style.visibility</p:attrName>
                                        </p:attrNameLst>
                                      </p:cBhvr>
                                      <p:to>
                                        <p:strVal val="visible"/>
                                      </p:to>
                                    </p:set>
                                    <p:animEffect transition="in" filter="wipe(left)">
                                      <p:cBhvr>
                                        <p:cTn id="11" dur="1000"/>
                                        <p:tgtEl>
                                          <p:spTgt spid="835597"/>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835598"/>
                                        </p:tgtEl>
                                        <p:attrNameLst>
                                          <p:attrName>style.visibility</p:attrName>
                                        </p:attrNameLst>
                                      </p:cBhvr>
                                      <p:to>
                                        <p:strVal val="visible"/>
                                      </p:to>
                                    </p:set>
                                    <p:animEffect transition="in" filter="wipe(left)">
                                      <p:cBhvr>
                                        <p:cTn id="15" dur="1000"/>
                                        <p:tgtEl>
                                          <p:spTgt spid="835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5596" grpId="0"/>
      <p:bldP spid="835597" grpId="0"/>
      <p:bldP spid="835598"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3"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通信建设工程概算、预算编制办法</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56674" name="Group 40"/>
          <p:cNvGrpSpPr/>
          <p:nvPr/>
        </p:nvGrpSpPr>
        <p:grpSpPr>
          <a:xfrm>
            <a:off x="7164388" y="-265112"/>
            <a:ext cx="1758950" cy="1606550"/>
            <a:chOff x="672" y="334"/>
            <a:chExt cx="1108" cy="1012"/>
          </a:xfrm>
        </p:grpSpPr>
        <p:pic>
          <p:nvPicPr>
            <p:cNvPr id="156675"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56676" name="Group 28"/>
            <p:cNvGrpSpPr/>
            <p:nvPr/>
          </p:nvGrpSpPr>
          <p:grpSpPr>
            <a:xfrm>
              <a:off x="864" y="1104"/>
              <a:ext cx="768" cy="242"/>
              <a:chOff x="-768" y="1440"/>
              <a:chExt cx="768" cy="242"/>
            </a:xfrm>
          </p:grpSpPr>
          <p:sp>
            <p:nvSpPr>
              <p:cNvPr id="156677"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56678"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56679"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56680"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836618" name="Text Box 10"/>
          <p:cNvSpPr txBox="1"/>
          <p:nvPr/>
        </p:nvSpPr>
        <p:spPr>
          <a:xfrm>
            <a:off x="539750" y="1125538"/>
            <a:ext cx="8353425" cy="5302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）编制总则</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836619" name="Rectangle 11"/>
          <p:cNvSpPr>
            <a:spLocks noChangeArrowheads="1"/>
          </p:cNvSpPr>
          <p:nvPr/>
        </p:nvSpPr>
        <p:spPr bwMode="auto">
          <a:xfrm>
            <a:off x="684213" y="1700213"/>
            <a:ext cx="8064500" cy="377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2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       ①为适应通信建设工程发展需要，根据</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建筑安装工程费用项目组成</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（建标</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[2003]206</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号）等有关文件，对原邮电部</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通信建设工程概算、预算编制办法及费用定额</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（邮部</a:t>
            </a:r>
            <a:r>
              <a:rPr kumimoji="0" lang="en-US" altLang="zh-CN"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[1995]626</a:t>
            </a: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号）中的概算、预算编制办法进行修订。</a:t>
            </a:r>
            <a:endPar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20000"/>
              </a:lnSpc>
              <a:spcBef>
                <a:spcPct val="50000"/>
              </a:spcBef>
              <a:spcAft>
                <a:spcPct val="0"/>
              </a:spcAft>
              <a:buClrTx/>
              <a:buSzTx/>
              <a:buFontTx/>
              <a:buNone/>
              <a:defRPr/>
            </a:pPr>
            <a:r>
              <a:rPr kumimoji="0" lang="zh-CN" altLang="en-US" sz="2400" b="1" i="0" u="none" strike="noStrike" kern="1200" cap="none" spc="0" normalizeH="0" baseline="0" noProof="0">
                <a:ln>
                  <a:noFill/>
                </a:ln>
                <a:solidFill>
                  <a:srgbClr val="336699"/>
                </a:solidFill>
                <a:effectLst/>
                <a:uLnTx/>
                <a:uFillTx/>
                <a:latin typeface="Arial" panose="020B0604020202020204" pitchFamily="34" charset="0"/>
                <a:ea typeface="宋体" panose="02010600030101010101" pitchFamily="2" charset="-122"/>
                <a:cs typeface="+mn-cs"/>
              </a:rPr>
              <a:t>        ②本办法适用于通信建设项目新建和扩建工程的概算、预算的编制；改建工程可参照使用。通信建设项目涉及土建工程、通信铁塔安装工程时，应按各地区有关部门编制的土建、铁塔安装工程的相关标准编制工程概算、预算。</a:t>
            </a:r>
            <a:r>
              <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36618">
                                            <p:txEl>
                                              <p:charRg st="0" end="8"/>
                                            </p:txEl>
                                          </p:spTgt>
                                        </p:tgtEl>
                                        <p:attrNameLst>
                                          <p:attrName>style.visibility</p:attrName>
                                        </p:attrNameLst>
                                      </p:cBhvr>
                                      <p:to>
                                        <p:strVal val="visible"/>
                                      </p:to>
                                    </p:set>
                                    <p:animEffect transition="in" filter="slide(fromBottom)">
                                      <p:cBhvr>
                                        <p:cTn id="7" dur="500"/>
                                        <p:tgtEl>
                                          <p:spTgt spid="836618">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9" presetClass="entr" presetSubtype="0" accel="100000" fill="hold" nodeType="clickEffect">
                                  <p:stCondLst>
                                    <p:cond delay="0"/>
                                  </p:stCondLst>
                                  <p:childTnLst>
                                    <p:set>
                                      <p:cBhvr>
                                        <p:cTn id="11" dur="1" fill="hold">
                                          <p:stCondLst>
                                            <p:cond delay="0"/>
                                          </p:stCondLst>
                                        </p:cTn>
                                        <p:tgtEl>
                                          <p:spTgt spid="836619">
                                            <p:txEl>
                                              <p:charRg st="0" end="116"/>
                                            </p:txEl>
                                          </p:spTgt>
                                        </p:tgtEl>
                                        <p:attrNameLst>
                                          <p:attrName>style.visibility</p:attrName>
                                        </p:attrNameLst>
                                      </p:cBhvr>
                                      <p:to>
                                        <p:strVal val="visible"/>
                                      </p:to>
                                    </p:set>
                                    <p:anim calcmode="lin" valueType="num">
                                      <p:cBhvr>
                                        <p:cTn id="12" dur="500" fill="hold"/>
                                        <p:tgtEl>
                                          <p:spTgt spid="836619">
                                            <p:txEl>
                                              <p:charRg st="0" end="116"/>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3" dur="500" fill="hold"/>
                                        <p:tgtEl>
                                          <p:spTgt spid="836619">
                                            <p:txEl>
                                              <p:charRg st="0" end="116"/>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4" dur="500" fill="hold"/>
                                        <p:tgtEl>
                                          <p:spTgt spid="836619">
                                            <p:txEl>
                                              <p:charRg st="0" end="116"/>
                                            </p:txEl>
                                          </p:spTgt>
                                        </p:tgtEl>
                                        <p:attrNameLst>
                                          <p:attrName>ppt_x</p:attrName>
                                        </p:attrNameLst>
                                      </p:cBhvr>
                                      <p:tavLst>
                                        <p:tav tm="0">
                                          <p:val>
                                            <p:strVal val="#ppt_x-.3"/>
                                          </p:val>
                                        </p:tav>
                                        <p:tav tm="50000">
                                          <p:val>
                                            <p:strVal val="#ppt_x"/>
                                          </p:val>
                                        </p:tav>
                                        <p:tav tm="100000">
                                          <p:val>
                                            <p:strVal val="#ppt_x"/>
                                          </p:val>
                                        </p:tav>
                                      </p:tavLst>
                                    </p:anim>
                                    <p:anim calcmode="lin" valueType="num">
                                      <p:cBhvr>
                                        <p:cTn id="15" dur="500" fill="hold"/>
                                        <p:tgtEl>
                                          <p:spTgt spid="836619">
                                            <p:txEl>
                                              <p:charRg st="0" end="116"/>
                                            </p:txEl>
                                          </p:spTgt>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836619">
                                            <p:txEl>
                                              <p:charRg st="116" end="225"/>
                                            </p:txEl>
                                          </p:spTgt>
                                        </p:tgtEl>
                                        <p:attrNameLst>
                                          <p:attrName>style.visibility</p:attrName>
                                        </p:attrNameLst>
                                      </p:cBhvr>
                                      <p:to>
                                        <p:strVal val="visible"/>
                                      </p:to>
                                    </p:set>
                                    <p:animEffect transition="in" filter="blinds(horizontal)">
                                      <p:cBhvr>
                                        <p:cTn id="20" dur="500"/>
                                        <p:tgtEl>
                                          <p:spTgt spid="836619">
                                            <p:txEl>
                                              <p:charRg st="116" end="2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7"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通信建设工程概算、预算编制办法</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57698" name="Group 40"/>
          <p:cNvGrpSpPr/>
          <p:nvPr/>
        </p:nvGrpSpPr>
        <p:grpSpPr>
          <a:xfrm>
            <a:off x="7164388" y="-265112"/>
            <a:ext cx="1758950" cy="1606550"/>
            <a:chOff x="672" y="334"/>
            <a:chExt cx="1108" cy="1012"/>
          </a:xfrm>
        </p:grpSpPr>
        <p:pic>
          <p:nvPicPr>
            <p:cNvPr id="157699"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57700" name="Group 28"/>
            <p:cNvGrpSpPr/>
            <p:nvPr/>
          </p:nvGrpSpPr>
          <p:grpSpPr>
            <a:xfrm>
              <a:off x="864" y="1104"/>
              <a:ext cx="768" cy="242"/>
              <a:chOff x="-768" y="1440"/>
              <a:chExt cx="768" cy="242"/>
            </a:xfrm>
          </p:grpSpPr>
          <p:sp>
            <p:nvSpPr>
              <p:cNvPr id="157701"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57702"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57703"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57704"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157705" name="Text Box 10"/>
          <p:cNvSpPr txBox="1"/>
          <p:nvPr/>
        </p:nvSpPr>
        <p:spPr>
          <a:xfrm>
            <a:off x="539750" y="1125538"/>
            <a:ext cx="8353425" cy="5302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）编制总则</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837643" name="Rectangle 11"/>
          <p:cNvSpPr/>
          <p:nvPr/>
        </p:nvSpPr>
        <p:spPr>
          <a:xfrm>
            <a:off x="611188" y="1700213"/>
            <a:ext cx="7848600" cy="3779837"/>
          </a:xfrm>
          <a:prstGeom prst="rect">
            <a:avLst/>
          </a:prstGeom>
          <a:noFill/>
          <a:ln w="9525">
            <a:noFill/>
          </a:ln>
        </p:spPr>
        <p:txBody>
          <a:bodyPr anchor="t" anchorCtr="0">
            <a:spAutoFit/>
          </a:bodyPr>
          <a:p>
            <a:pPr>
              <a:lnSpc>
                <a:spcPct val="120000"/>
              </a:lnSpc>
              <a:spcBef>
                <a:spcPct val="50000"/>
              </a:spcBef>
            </a:pPr>
            <a:r>
              <a:rPr lang="zh-CN" altLang="en-US" sz="2400" dirty="0">
                <a:solidFill>
                  <a:srgbClr val="336699"/>
                </a:solidFill>
                <a:latin typeface="Arial" panose="020B0604020202020204" pitchFamily="34" charset="0"/>
                <a:ea typeface="宋体" panose="02010600030101010101" pitchFamily="2" charset="-122"/>
              </a:rPr>
              <a:t>        ③通信建设工程概算、预算应包括从筹建到竣工验收所需的全部费用，其具体内容、计算方法、计算规则应依据信息产业部发布的现行通信建设工程定额及其他有关计价依据进行编制。</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spcBef>
                <a:spcPct val="50000"/>
              </a:spcBef>
            </a:pPr>
            <a:r>
              <a:rPr lang="zh-CN" altLang="en-US" sz="2400" dirty="0">
                <a:solidFill>
                  <a:srgbClr val="336699"/>
                </a:solidFill>
                <a:latin typeface="Arial" panose="020B0604020202020204" pitchFamily="34" charset="0"/>
                <a:ea typeface="宋体" panose="02010600030101010101" pitchFamily="2" charset="-122"/>
              </a:rPr>
              <a:t>        ④通信建设工程概算、预算的编制应由具有通信建设相关资质的单位编制；概预算编制、审核以及从事通信工程造价的相关人员必须持有信息产业部颁发的</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通信建设工程概预算人员资格证书</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 </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37643">
                                            <p:txEl>
                                              <p:charRg st="0" end="90"/>
                                            </p:txEl>
                                          </p:spTgt>
                                        </p:tgtEl>
                                        <p:attrNameLst>
                                          <p:attrName>style.visibility</p:attrName>
                                        </p:attrNameLst>
                                      </p:cBhvr>
                                      <p:to>
                                        <p:strVal val="visible"/>
                                      </p:to>
                                    </p:set>
                                    <p:animEffect transition="in" filter="slide(fromBottom)">
                                      <p:cBhvr>
                                        <p:cTn id="7" dur="500"/>
                                        <p:tgtEl>
                                          <p:spTgt spid="837643">
                                            <p:txEl>
                                              <p:charRg st="0" end="9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37643">
                                            <p:txEl>
                                              <p:charRg st="90" end="186"/>
                                            </p:txEl>
                                          </p:spTgt>
                                        </p:tgtEl>
                                        <p:attrNameLst>
                                          <p:attrName>style.visibility</p:attrName>
                                        </p:attrNameLst>
                                      </p:cBhvr>
                                      <p:to>
                                        <p:strVal val="visible"/>
                                      </p:to>
                                    </p:set>
                                    <p:animEffect transition="in" filter="blinds(horizontal)">
                                      <p:cBhvr>
                                        <p:cTn id="12" dur="500"/>
                                        <p:tgtEl>
                                          <p:spTgt spid="837643">
                                            <p:txEl>
                                              <p:charRg st="90" end="1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1"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通信建设工程概算、预算编制办法</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58722" name="Group 40"/>
          <p:cNvGrpSpPr/>
          <p:nvPr/>
        </p:nvGrpSpPr>
        <p:grpSpPr>
          <a:xfrm>
            <a:off x="7164388" y="-265112"/>
            <a:ext cx="1758950" cy="1606550"/>
            <a:chOff x="672" y="334"/>
            <a:chExt cx="1108" cy="1012"/>
          </a:xfrm>
        </p:grpSpPr>
        <p:pic>
          <p:nvPicPr>
            <p:cNvPr id="158723"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58724" name="Group 28"/>
            <p:cNvGrpSpPr/>
            <p:nvPr/>
          </p:nvGrpSpPr>
          <p:grpSpPr>
            <a:xfrm>
              <a:off x="864" y="1104"/>
              <a:ext cx="768" cy="242"/>
              <a:chOff x="-768" y="1440"/>
              <a:chExt cx="768" cy="242"/>
            </a:xfrm>
          </p:grpSpPr>
          <p:sp>
            <p:nvSpPr>
              <p:cNvPr id="15872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5872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58727"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58728"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838666" name="Text Box 10"/>
          <p:cNvSpPr txBox="1"/>
          <p:nvPr/>
        </p:nvSpPr>
        <p:spPr>
          <a:xfrm>
            <a:off x="539750" y="1125538"/>
            <a:ext cx="8353425" cy="5302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）设计概算与施工图预算的编制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838667" name="Rectangle 11"/>
          <p:cNvSpPr/>
          <p:nvPr/>
        </p:nvSpPr>
        <p:spPr>
          <a:xfrm>
            <a:off x="684213" y="1700213"/>
            <a:ext cx="7956550" cy="3925887"/>
          </a:xfrm>
          <a:prstGeom prst="rect">
            <a:avLst/>
          </a:prstGeom>
          <a:noFill/>
          <a:ln w="9525">
            <a:noFill/>
          </a:ln>
        </p:spPr>
        <p:txBody>
          <a:bodyPr anchor="t" anchorCtr="0">
            <a:spAutoFit/>
          </a:bodyPr>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①通信建设工程概算、预算的编制，应按相应的设计阶段进行。当建设项目采用两阶段设计时，初步设计阶段编制设计概算，施工图设计阶段编制施工图预算。采用一阶段设计时，应编制施工图预算，并列预备费、投资贷款利息等费用。建设项目按三阶段设计时，在技术设计阶段编制修正概算。</a:t>
            </a:r>
            <a:endParaRPr lang="zh-CN" altLang="en-US" sz="2400" dirty="0">
              <a:solidFill>
                <a:srgbClr val="336699"/>
              </a:solidFill>
              <a:latin typeface="Arial" panose="020B0604020202020204" pitchFamily="34" charset="0"/>
              <a:ea typeface="宋体" panose="02010600030101010101" pitchFamily="2" charset="-122"/>
            </a:endParaRPr>
          </a:p>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②设计概算是初步设计文件的重要组成部分。编制设计概算应在投资估算的范围内进行。施工图预算是施工图设计文件的重要组成部分。编制施工图预算应在批准的设计概算范围内进行。</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38666">
                                            <p:txEl>
                                              <p:charRg st="0" end="24"/>
                                            </p:txEl>
                                          </p:spTgt>
                                        </p:tgtEl>
                                        <p:attrNameLst>
                                          <p:attrName>style.visibility</p:attrName>
                                        </p:attrNameLst>
                                      </p:cBhvr>
                                      <p:to>
                                        <p:strVal val="visible"/>
                                      </p:to>
                                    </p:set>
                                    <p:animEffect transition="in" filter="slide(fromBottom)">
                                      <p:cBhvr>
                                        <p:cTn id="7" dur="500"/>
                                        <p:tgtEl>
                                          <p:spTgt spid="838666">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38667">
                                            <p:txEl>
                                              <p:charRg st="0" end="138"/>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5" presetClass="entr" presetSubtype="0" fill="hold" nodeType="clickEffect">
                                  <p:stCondLst>
                                    <p:cond delay="0"/>
                                  </p:stCondLst>
                                  <p:childTnLst>
                                    <p:set>
                                      <p:cBhvr>
                                        <p:cTn id="15" dur="1" fill="hold">
                                          <p:stCondLst>
                                            <p:cond delay="0"/>
                                          </p:stCondLst>
                                        </p:cTn>
                                        <p:tgtEl>
                                          <p:spTgt spid="838667">
                                            <p:txEl>
                                              <p:charRg st="138" end="228"/>
                                            </p:txEl>
                                          </p:spTgt>
                                        </p:tgtEl>
                                        <p:attrNameLst>
                                          <p:attrName>style.visibility</p:attrName>
                                        </p:attrNameLst>
                                      </p:cBhvr>
                                      <p:to>
                                        <p:strVal val="visible"/>
                                      </p:to>
                                    </p:set>
                                    <p:anim calcmode="lin" valueType="num">
                                      <p:cBhvr>
                                        <p:cTn id="16" dur="1000" fill="hold"/>
                                        <p:tgtEl>
                                          <p:spTgt spid="838667">
                                            <p:txEl>
                                              <p:charRg st="138" end="228"/>
                                            </p:txEl>
                                          </p:spTgt>
                                        </p:tgtEl>
                                        <p:attrNameLst>
                                          <p:attrName>ppt_w</p:attrName>
                                        </p:attrNameLst>
                                      </p:cBhvr>
                                      <p:tavLst>
                                        <p:tav tm="0">
                                          <p:val>
                                            <p:strVal val="#ppt_w*0.70"/>
                                          </p:val>
                                        </p:tav>
                                        <p:tav tm="100000">
                                          <p:val>
                                            <p:strVal val="#ppt_w"/>
                                          </p:val>
                                        </p:tav>
                                      </p:tavLst>
                                    </p:anim>
                                    <p:anim calcmode="lin" valueType="num">
                                      <p:cBhvr>
                                        <p:cTn id="17" dur="1000" fill="hold"/>
                                        <p:tgtEl>
                                          <p:spTgt spid="838667">
                                            <p:txEl>
                                              <p:charRg st="138" end="228"/>
                                            </p:txEl>
                                          </p:spTgt>
                                        </p:tgtEl>
                                        <p:attrNameLst>
                                          <p:attrName>ppt_h</p:attrName>
                                        </p:attrNameLst>
                                      </p:cBhvr>
                                      <p:tavLst>
                                        <p:tav tm="0">
                                          <p:val>
                                            <p:strVal val="#ppt_h"/>
                                          </p:val>
                                        </p:tav>
                                        <p:tav tm="100000">
                                          <p:val>
                                            <p:strVal val="#ppt_h"/>
                                          </p:val>
                                        </p:tav>
                                      </p:tavLst>
                                    </p:anim>
                                    <p:animEffect transition="in" filter="fade">
                                      <p:cBhvr>
                                        <p:cTn id="18" dur="1000"/>
                                        <p:tgtEl>
                                          <p:spTgt spid="838667">
                                            <p:txEl>
                                              <p:charRg st="138" end="22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5"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通信建设工程概算、预算编制办法</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59746" name="Group 40"/>
          <p:cNvGrpSpPr/>
          <p:nvPr/>
        </p:nvGrpSpPr>
        <p:grpSpPr>
          <a:xfrm>
            <a:off x="7164388" y="-265112"/>
            <a:ext cx="1758950" cy="1606550"/>
            <a:chOff x="672" y="334"/>
            <a:chExt cx="1108" cy="1012"/>
          </a:xfrm>
        </p:grpSpPr>
        <p:pic>
          <p:nvPicPr>
            <p:cNvPr id="159747"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59748" name="Group 28"/>
            <p:cNvGrpSpPr/>
            <p:nvPr/>
          </p:nvGrpSpPr>
          <p:grpSpPr>
            <a:xfrm>
              <a:off x="864" y="1104"/>
              <a:ext cx="768" cy="242"/>
              <a:chOff x="-768" y="1440"/>
              <a:chExt cx="768" cy="242"/>
            </a:xfrm>
          </p:grpSpPr>
          <p:sp>
            <p:nvSpPr>
              <p:cNvPr id="159749"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59750"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59751"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59752"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159753" name="Text Box 10"/>
          <p:cNvSpPr txBox="1"/>
          <p:nvPr/>
        </p:nvSpPr>
        <p:spPr>
          <a:xfrm>
            <a:off x="539750" y="1125538"/>
            <a:ext cx="8353425" cy="5302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）设计概算与施工图预算的编制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839691" name="Rectangle 11"/>
          <p:cNvSpPr/>
          <p:nvPr/>
        </p:nvSpPr>
        <p:spPr>
          <a:xfrm>
            <a:off x="684213" y="1700213"/>
            <a:ext cx="8459787" cy="2100262"/>
          </a:xfrm>
          <a:prstGeom prst="rect">
            <a:avLst/>
          </a:prstGeom>
          <a:noFill/>
          <a:ln w="9525">
            <a:noFill/>
          </a:ln>
        </p:spPr>
        <p:txBody>
          <a:bodyPr anchor="t" anchorCtr="0">
            <a:spAutoFit/>
          </a:bodyPr>
          <a:p>
            <a:pPr>
              <a:spcBef>
                <a:spcPct val="50000"/>
              </a:spcBef>
            </a:pPr>
            <a:r>
              <a:rPr lang="zh-CN" altLang="en-US" sz="2400" dirty="0">
                <a:solidFill>
                  <a:srgbClr val="336699"/>
                </a:solidFill>
                <a:latin typeface="Arial" panose="020B0604020202020204" pitchFamily="34" charset="0"/>
                <a:ea typeface="宋体" panose="02010600030101010101" pitchFamily="2" charset="-122"/>
              </a:rPr>
              <a:t>       ③一个通信建设项目如果有几个设计单位共同设计时，总体设计单位应负责统一概算、预算的编制原则，并汇总建设项目的总概算。分设计单位负责本设计单位所承担的单项工程概算、预算的编制。</a:t>
            </a:r>
            <a:endParaRPr lang="zh-CN" altLang="en-US" sz="2400" dirty="0">
              <a:solidFill>
                <a:srgbClr val="336699"/>
              </a:solidFill>
              <a:latin typeface="Arial" panose="020B0604020202020204" pitchFamily="34" charset="0"/>
              <a:ea typeface="宋体" panose="02010600030101010101" pitchFamily="2" charset="-122"/>
            </a:endParaRPr>
          </a:p>
          <a:p>
            <a:pPr lvl="1" indent="0" eaLnBrk="1" hangingPunct="1">
              <a:spcBef>
                <a:spcPct val="50000"/>
              </a:spcBef>
            </a:pPr>
            <a:r>
              <a:rPr lang="zh-CN" altLang="en-US" sz="2400" dirty="0">
                <a:solidFill>
                  <a:srgbClr val="336699"/>
                </a:solidFill>
                <a:latin typeface="Arial" panose="020B0604020202020204" pitchFamily="34" charset="0"/>
                <a:ea typeface="宋体" panose="02010600030101010101" pitchFamily="2" charset="-122"/>
              </a:rPr>
              <a:t>  ④通信建设工程概算、预算应按单项工程编制。</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39691">
                                            <p:txEl>
                                              <p:charRg st="0" end="95"/>
                                            </p:txEl>
                                          </p:spTgt>
                                        </p:tgtEl>
                                        <p:attrNameLst>
                                          <p:attrName>style.visibility</p:attrName>
                                        </p:attrNameLst>
                                      </p:cBhvr>
                                      <p:to>
                                        <p:strVal val="visible"/>
                                      </p:to>
                                    </p:set>
                                    <p:animEffect transition="in" filter="blinds(horizontal)">
                                      <p:cBhvr>
                                        <p:cTn id="7" dur="500"/>
                                        <p:tgtEl>
                                          <p:spTgt spid="839691">
                                            <p:txEl>
                                              <p:charRg st="0" end="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839691">
                                            <p:txEl>
                                              <p:charRg st="95" end="119"/>
                                            </p:txEl>
                                          </p:spTgt>
                                        </p:tgtEl>
                                        <p:attrNameLst>
                                          <p:attrName>style.visibility</p:attrName>
                                        </p:attrNameLst>
                                      </p:cBhvr>
                                      <p:to>
                                        <p:strVal val="visible"/>
                                      </p:to>
                                    </p:set>
                                    <p:animEffect transition="in" filter="diamond(in)">
                                      <p:cBhvr>
                                        <p:cTn id="12" dur="2000"/>
                                        <p:tgtEl>
                                          <p:spTgt spid="839691">
                                            <p:txEl>
                                              <p:charRg st="95" end="1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69"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通信建设工程概算、预算编制办法</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60770" name="Group 40"/>
          <p:cNvGrpSpPr/>
          <p:nvPr/>
        </p:nvGrpSpPr>
        <p:grpSpPr>
          <a:xfrm>
            <a:off x="7164388" y="-265112"/>
            <a:ext cx="1758950" cy="1606550"/>
            <a:chOff x="672" y="334"/>
            <a:chExt cx="1108" cy="1012"/>
          </a:xfrm>
        </p:grpSpPr>
        <p:pic>
          <p:nvPicPr>
            <p:cNvPr id="160771"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60772" name="Group 28"/>
            <p:cNvGrpSpPr/>
            <p:nvPr/>
          </p:nvGrpSpPr>
          <p:grpSpPr>
            <a:xfrm>
              <a:off x="864" y="1104"/>
              <a:ext cx="768" cy="242"/>
              <a:chOff x="-768" y="1440"/>
              <a:chExt cx="768" cy="242"/>
            </a:xfrm>
          </p:grpSpPr>
          <p:sp>
            <p:nvSpPr>
              <p:cNvPr id="160773"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60774"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0775"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0776"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160777" name="Text Box 10"/>
          <p:cNvSpPr txBox="1"/>
          <p:nvPr/>
        </p:nvSpPr>
        <p:spPr>
          <a:xfrm>
            <a:off x="539750" y="1125538"/>
            <a:ext cx="8353425" cy="5302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）设计概算与施工图预算的编制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840715" name="Rectangle 11"/>
          <p:cNvSpPr/>
          <p:nvPr/>
        </p:nvSpPr>
        <p:spPr>
          <a:xfrm>
            <a:off x="395288" y="1557338"/>
            <a:ext cx="8748712" cy="4035425"/>
          </a:xfrm>
          <a:prstGeom prst="rect">
            <a:avLst/>
          </a:prstGeom>
          <a:noFill/>
          <a:ln w="9525">
            <a:noFill/>
          </a:ln>
        </p:spPr>
        <p:txBody>
          <a:bodyPr anchor="t" anchorCtr="0">
            <a:spAutoFit/>
          </a:bodyPr>
          <a:p>
            <a:pPr>
              <a:lnSpc>
                <a:spcPct val="120000"/>
              </a:lnSpc>
            </a:pPr>
            <a:r>
              <a:rPr lang="zh-CN" altLang="en-US" sz="2400" dirty="0">
                <a:solidFill>
                  <a:srgbClr val="336699"/>
                </a:solidFill>
                <a:latin typeface="Arial" panose="020B0604020202020204" pitchFamily="34" charset="0"/>
                <a:ea typeface="宋体" panose="02010600030101010101" pitchFamily="2" charset="-122"/>
              </a:rPr>
              <a:t>       ⑤设计概算的编制依据</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zh-CN" altLang="en-US" sz="2400" dirty="0">
                <a:solidFill>
                  <a:srgbClr val="336699"/>
                </a:solidFill>
                <a:latin typeface="Arial" panose="020B0604020202020204" pitchFamily="34" charset="0"/>
                <a:ea typeface="宋体" panose="02010600030101010101" pitchFamily="2" charset="-122"/>
              </a:rPr>
              <a:t>         →批准的可行性研究报告；</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zh-CN" altLang="en-US" sz="2400" dirty="0">
                <a:solidFill>
                  <a:srgbClr val="336699"/>
                </a:solidFill>
                <a:latin typeface="Arial" panose="020B0604020202020204" pitchFamily="34" charset="0"/>
                <a:ea typeface="宋体" panose="02010600030101010101" pitchFamily="2" charset="-122"/>
              </a:rPr>
              <a:t>         →初步设计图纸及有关资料</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zh-CN" altLang="en-US" sz="2400" dirty="0">
                <a:solidFill>
                  <a:srgbClr val="336699"/>
                </a:solidFill>
                <a:latin typeface="Arial" panose="020B0604020202020204" pitchFamily="34" charset="0"/>
                <a:ea typeface="宋体" panose="02010600030101010101" pitchFamily="2" charset="-122"/>
              </a:rPr>
              <a:t>         →国家相关管理部门发布的有关法律、法规、标准规范；</a:t>
            </a:r>
            <a:endParaRPr lang="zh-CN" altLang="en-US" sz="2400" dirty="0">
              <a:solidFill>
                <a:srgbClr val="336699"/>
              </a:solidFill>
              <a:latin typeface="Arial" panose="020B0604020202020204" pitchFamily="34" charset="0"/>
              <a:ea typeface="宋体" panose="02010600030101010101" pitchFamily="2" charset="-122"/>
            </a:endParaRPr>
          </a:p>
          <a:p>
            <a:pPr>
              <a:lnSpc>
                <a:spcPct val="120000"/>
              </a:lnSpc>
            </a:pPr>
            <a:r>
              <a:rPr lang="zh-CN" altLang="en-US"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通信建设工程预算定额</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（目前通信工程用预算定额代替概算定额编制概算）、</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通信建设工程费用定额</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通信建设工程施工机械、仪表台班费用定额</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及其有关文件</a:t>
            </a:r>
            <a:r>
              <a:rPr lang="en-US" altLang="zh-CN" sz="2400" dirty="0">
                <a:solidFill>
                  <a:srgbClr val="336699"/>
                </a:solidFill>
                <a:latin typeface="Arial" panose="020B0604020202020204" pitchFamily="34" charset="0"/>
                <a:ea typeface="宋体" panose="02010600030101010101" pitchFamily="2" charset="-122"/>
              </a:rPr>
              <a:t>;</a:t>
            </a:r>
            <a:endParaRPr lang="en-US" altLang="zh-CN" sz="2400" dirty="0">
              <a:solidFill>
                <a:srgbClr val="336699"/>
              </a:solidFill>
              <a:latin typeface="Arial" panose="020B0604020202020204" pitchFamily="34" charset="0"/>
              <a:ea typeface="宋体" panose="02010600030101010101" pitchFamily="2" charset="-122"/>
            </a:endParaRPr>
          </a:p>
          <a:p>
            <a:pPr>
              <a:lnSpc>
                <a:spcPct val="120000"/>
              </a:lnSpc>
            </a:pPr>
            <a:r>
              <a:rPr lang="en-US" altLang="zh-CN" sz="2400"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建设项目所在地政府发布的土地征用和赔补等有关规定</a:t>
            </a:r>
            <a:r>
              <a:rPr lang="en-US" altLang="zh-CN" sz="2400" dirty="0">
                <a:solidFill>
                  <a:srgbClr val="336699"/>
                </a:solidFill>
                <a:latin typeface="Arial" panose="020B0604020202020204" pitchFamily="34" charset="0"/>
                <a:ea typeface="宋体" panose="02010600030101010101" pitchFamily="2" charset="-122"/>
              </a:rPr>
              <a:t>;</a:t>
            </a:r>
            <a:endParaRPr lang="en-US" altLang="zh-CN" sz="2400" dirty="0">
              <a:solidFill>
                <a:srgbClr val="336699"/>
              </a:solidFill>
              <a:latin typeface="Arial" panose="020B0604020202020204" pitchFamily="34" charset="0"/>
              <a:ea typeface="宋体" panose="02010600030101010101" pitchFamily="2" charset="-122"/>
            </a:endParaRPr>
          </a:p>
          <a:p>
            <a:pPr>
              <a:lnSpc>
                <a:spcPct val="120000"/>
              </a:lnSpc>
            </a:pPr>
            <a:r>
              <a:rPr lang="en-US" altLang="zh-CN" sz="2400" dirty="0">
                <a:solidFill>
                  <a:srgbClr val="336699"/>
                </a:solidFill>
                <a:latin typeface="Arial" panose="020B0604020202020204" pitchFamily="34" charset="0"/>
                <a:ea typeface="宋体" panose="02010600030101010101" pitchFamily="2" charset="-122"/>
              </a:rPr>
              <a:t>         →</a:t>
            </a:r>
            <a:r>
              <a:rPr lang="zh-CN" altLang="en-US" sz="2400" dirty="0">
                <a:solidFill>
                  <a:srgbClr val="336699"/>
                </a:solidFill>
                <a:latin typeface="Arial" panose="020B0604020202020204" pitchFamily="34" charset="0"/>
                <a:ea typeface="宋体" panose="02010600030101010101" pitchFamily="2" charset="-122"/>
              </a:rPr>
              <a:t>有关合同、协议等。</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40715">
                                            <p:txEl>
                                              <p:charRg st="0" end="18"/>
                                            </p:txEl>
                                          </p:spTgt>
                                        </p:tgtEl>
                                        <p:attrNameLst>
                                          <p:attrName>style.visibility</p:attrName>
                                        </p:attrNameLst>
                                      </p:cBhvr>
                                      <p:to>
                                        <p:strVal val="visible"/>
                                      </p:to>
                                    </p:set>
                                    <p:animEffect transition="in" filter="slide(fromBottom)">
                                      <p:cBhvr>
                                        <p:cTn id="7" dur="500"/>
                                        <p:tgtEl>
                                          <p:spTgt spid="840715">
                                            <p:txEl>
                                              <p:char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840715">
                                            <p:txEl>
                                              <p:charRg st="18" end="40"/>
                                            </p:txEl>
                                          </p:spTgt>
                                        </p:tgtEl>
                                        <p:attrNameLst>
                                          <p:attrName>style.visibility</p:attrName>
                                        </p:attrNameLst>
                                      </p:cBhvr>
                                      <p:to>
                                        <p:strVal val="visible"/>
                                      </p:to>
                                    </p:set>
                                    <p:anim to="" calcmode="lin" valueType="num">
                                      <p:cBhvr>
                                        <p:cTn id="12" dur="1" fill="hold"/>
                                        <p:tgtEl>
                                          <p:spTgt spid="840715">
                                            <p:txEl>
                                              <p:charRg st="18" end="40"/>
                                            </p:txEl>
                                          </p:spTgt>
                                        </p:tgtEl>
                                        <p:attrNameLst>
                                          <p:attrName>style.visibility</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840715">
                                            <p:txEl>
                                              <p:charRg st="40" end="62"/>
                                            </p:txEl>
                                          </p:spTgt>
                                        </p:tgtEl>
                                        <p:attrNameLst>
                                          <p:attrName>style.visibility</p:attrName>
                                        </p:attrNameLst>
                                      </p:cBhvr>
                                      <p:to>
                                        <p:strVal val="visible"/>
                                      </p:to>
                                    </p:set>
                                    <p:anim to="" calcmode="lin" valueType="num">
                                      <p:cBhvr>
                                        <p:cTn id="15" dur="1" fill="hold"/>
                                        <p:tgtEl>
                                          <p:spTgt spid="840715">
                                            <p:txEl>
                                              <p:charRg st="40" end="62"/>
                                            </p:txEl>
                                          </p:spTgt>
                                        </p:tgtEl>
                                        <p:attrNameLst>
                                          <p:attrName>style.visibility</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840715">
                                            <p:txEl>
                                              <p:charRg st="62" end="97"/>
                                            </p:txEl>
                                          </p:spTgt>
                                        </p:tgtEl>
                                        <p:attrNameLst>
                                          <p:attrName>style.visibility</p:attrName>
                                        </p:attrNameLst>
                                      </p:cBhvr>
                                      <p:to>
                                        <p:strVal val="visible"/>
                                      </p:to>
                                    </p:set>
                                    <p:anim to="" calcmode="lin" valueType="num">
                                      <p:cBhvr>
                                        <p:cTn id="18" dur="1" fill="hold"/>
                                        <p:tgtEl>
                                          <p:spTgt spid="840715">
                                            <p:txEl>
                                              <p:charRg st="62" end="97"/>
                                            </p:txEl>
                                          </p:spTgt>
                                        </p:tgtEl>
                                        <p:attrNameLst>
                                          <p:attrName>style.visibility</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840715">
                                            <p:txEl>
                                              <p:charRg st="97" end="188"/>
                                            </p:txEl>
                                          </p:spTgt>
                                        </p:tgtEl>
                                        <p:attrNameLst>
                                          <p:attrName>style.visibility</p:attrName>
                                        </p:attrNameLst>
                                      </p:cBhvr>
                                      <p:to>
                                        <p:strVal val="visible"/>
                                      </p:to>
                                    </p:set>
                                    <p:anim to="" calcmode="lin" valueType="num">
                                      <p:cBhvr>
                                        <p:cTn id="21" dur="1" fill="hold"/>
                                        <p:tgtEl>
                                          <p:spTgt spid="840715">
                                            <p:txEl>
                                              <p:charRg st="97" end="188"/>
                                            </p:txEl>
                                          </p:spTgt>
                                        </p:tgtEl>
                                        <p:attrNameLst>
                                          <p:attrName>style.visibility</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840715">
                                            <p:txEl>
                                              <p:charRg st="188" end="224"/>
                                            </p:txEl>
                                          </p:spTgt>
                                        </p:tgtEl>
                                        <p:attrNameLst>
                                          <p:attrName>style.visibility</p:attrName>
                                        </p:attrNameLst>
                                      </p:cBhvr>
                                      <p:to>
                                        <p:strVal val="visible"/>
                                      </p:to>
                                    </p:set>
                                    <p:anim to="" calcmode="lin" valueType="num">
                                      <p:cBhvr>
                                        <p:cTn id="24" dur="1" fill="hold"/>
                                        <p:tgtEl>
                                          <p:spTgt spid="840715">
                                            <p:txEl>
                                              <p:charRg st="188" end="224"/>
                                            </p:txEl>
                                          </p:spTgt>
                                        </p:tgtEl>
                                        <p:attrNameLst>
                                          <p:attrName>style.visibility</p:attrName>
                                        </p:attrNameLst>
                                      </p:cBhvr>
                                    </p:anim>
                                  </p:childTnLst>
                                </p:cTn>
                              </p:par>
                              <p:par>
                                <p:cTn id="25" presetID="24" presetClass="entr" presetSubtype="0" fill="hold" nodeType="withEffect">
                                  <p:stCondLst>
                                    <p:cond delay="0"/>
                                  </p:stCondLst>
                                  <p:childTnLst>
                                    <p:set>
                                      <p:cBhvr>
                                        <p:cTn id="26" dur="1" fill="hold">
                                          <p:stCondLst>
                                            <p:cond delay="0"/>
                                          </p:stCondLst>
                                        </p:cTn>
                                        <p:tgtEl>
                                          <p:spTgt spid="840715">
                                            <p:txEl>
                                              <p:charRg st="224" end="243"/>
                                            </p:txEl>
                                          </p:spTgt>
                                        </p:tgtEl>
                                        <p:attrNameLst>
                                          <p:attrName>style.visibility</p:attrName>
                                        </p:attrNameLst>
                                      </p:cBhvr>
                                      <p:to>
                                        <p:strVal val="visible"/>
                                      </p:to>
                                    </p:set>
                                    <p:anim to="" calcmode="lin" valueType="num">
                                      <p:cBhvr>
                                        <p:cTn id="27" dur="1" fill="hold"/>
                                        <p:tgtEl>
                                          <p:spTgt spid="840715">
                                            <p:txEl>
                                              <p:charRg st="224" end="243"/>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3"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通信建设工程概算、预算编制办法</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61794" name="Group 40"/>
          <p:cNvGrpSpPr/>
          <p:nvPr/>
        </p:nvGrpSpPr>
        <p:grpSpPr>
          <a:xfrm>
            <a:off x="7164388" y="-265112"/>
            <a:ext cx="1758950" cy="1606550"/>
            <a:chOff x="672" y="334"/>
            <a:chExt cx="1108" cy="1012"/>
          </a:xfrm>
        </p:grpSpPr>
        <p:pic>
          <p:nvPicPr>
            <p:cNvPr id="161795"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61796" name="Group 28"/>
            <p:cNvGrpSpPr/>
            <p:nvPr/>
          </p:nvGrpSpPr>
          <p:grpSpPr>
            <a:xfrm>
              <a:off x="864" y="1104"/>
              <a:ext cx="768" cy="242"/>
              <a:chOff x="-768" y="1440"/>
              <a:chExt cx="768" cy="242"/>
            </a:xfrm>
          </p:grpSpPr>
          <p:sp>
            <p:nvSpPr>
              <p:cNvPr id="161797"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61798"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1799"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1800"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161801" name="Text Box 10"/>
          <p:cNvSpPr txBox="1"/>
          <p:nvPr/>
        </p:nvSpPr>
        <p:spPr>
          <a:xfrm>
            <a:off x="539750" y="1125538"/>
            <a:ext cx="8353425" cy="5302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）设计概算与施工图预算的编制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841739" name="Rectangle 11"/>
          <p:cNvSpPr/>
          <p:nvPr/>
        </p:nvSpPr>
        <p:spPr>
          <a:xfrm>
            <a:off x="395288" y="1557338"/>
            <a:ext cx="8748712" cy="530225"/>
          </a:xfrm>
          <a:prstGeom prst="rect">
            <a:avLst/>
          </a:prstGeom>
          <a:noFill/>
          <a:ln w="9525">
            <a:noFill/>
          </a:ln>
        </p:spPr>
        <p:txBody>
          <a:bodyPr anchor="t" anchorCtr="0">
            <a:spAutoFit/>
          </a:bodyPr>
          <a:p>
            <a:pPr>
              <a:lnSpc>
                <a:spcPct val="120000"/>
              </a:lnSpc>
            </a:pPr>
            <a:r>
              <a:rPr lang="zh-CN" altLang="en-US" sz="2400" dirty="0">
                <a:solidFill>
                  <a:srgbClr val="336699"/>
                </a:solidFill>
                <a:latin typeface="Arial" panose="020B0604020202020204" pitchFamily="34" charset="0"/>
                <a:ea typeface="宋体" panose="02010600030101010101" pitchFamily="2" charset="-122"/>
              </a:rPr>
              <a:t>       ⑤设计概算的编制依据</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841740" name="Rectangle 12"/>
          <p:cNvSpPr/>
          <p:nvPr/>
        </p:nvSpPr>
        <p:spPr>
          <a:xfrm>
            <a:off x="-1189037" y="2138363"/>
            <a:ext cx="10333037" cy="3457575"/>
          </a:xfrm>
          <a:prstGeom prst="rect">
            <a:avLst/>
          </a:prstGeom>
          <a:noFill/>
          <a:ln w="9525">
            <a:noFill/>
          </a:ln>
        </p:spPr>
        <p:txBody>
          <a:bodyPr anchor="t" anchorCtr="0">
            <a:spAutoFit/>
          </a:bodyPr>
          <a:p>
            <a:pPr lvl="4" indent="0" eaLnBrk="1" hangingPunct="1">
              <a:lnSpc>
                <a:spcPct val="115000"/>
              </a:lnSpc>
            </a:pPr>
            <a:r>
              <a:rPr lang="zh-CN" altLang="en-US" sz="2400" dirty="0">
                <a:solidFill>
                  <a:srgbClr val="336699"/>
                </a:solidFill>
                <a:latin typeface="Arial" panose="020B0604020202020204" pitchFamily="34" charset="0"/>
                <a:ea typeface="宋体" panose="02010600030101010101" pitchFamily="2" charset="-122"/>
              </a:rPr>
              <a:t>        →批准的初步设计概算及有关文件 ；</a:t>
            </a:r>
            <a:endParaRPr lang="zh-CN" altLang="en-US" sz="2400" dirty="0">
              <a:solidFill>
                <a:srgbClr val="336699"/>
              </a:solidFill>
              <a:latin typeface="Arial" panose="020B0604020202020204" pitchFamily="34" charset="0"/>
              <a:ea typeface="宋体" panose="02010600030101010101" pitchFamily="2" charset="-122"/>
            </a:endParaRPr>
          </a:p>
          <a:p>
            <a:pPr lvl="4" indent="0" eaLnBrk="1" hangingPunct="1">
              <a:lnSpc>
                <a:spcPct val="115000"/>
              </a:lnSpc>
            </a:pPr>
            <a:r>
              <a:rPr lang="zh-CN" altLang="en-US" sz="2400" dirty="0">
                <a:solidFill>
                  <a:srgbClr val="336699"/>
                </a:solidFill>
                <a:latin typeface="Arial" panose="020B0604020202020204" pitchFamily="34" charset="0"/>
                <a:ea typeface="宋体" panose="02010600030101010101" pitchFamily="2" charset="-122"/>
              </a:rPr>
              <a:t>        →施工图、标准图、通用图及其编制说明；</a:t>
            </a:r>
            <a:endParaRPr lang="zh-CN" altLang="en-US" sz="2400" dirty="0">
              <a:solidFill>
                <a:srgbClr val="336699"/>
              </a:solidFill>
              <a:latin typeface="Arial" panose="020B0604020202020204" pitchFamily="34" charset="0"/>
              <a:ea typeface="宋体" panose="02010600030101010101" pitchFamily="2" charset="-122"/>
            </a:endParaRPr>
          </a:p>
          <a:p>
            <a:pPr lvl="4" indent="0" eaLnBrk="1" hangingPunct="1">
              <a:lnSpc>
                <a:spcPct val="115000"/>
              </a:lnSpc>
            </a:pPr>
            <a:r>
              <a:rPr lang="zh-CN" altLang="en-US" sz="2400" dirty="0">
                <a:solidFill>
                  <a:srgbClr val="336699"/>
                </a:solidFill>
                <a:latin typeface="Arial" panose="020B0604020202020204" pitchFamily="34" charset="0"/>
                <a:ea typeface="宋体" panose="02010600030101010101" pitchFamily="2" charset="-122"/>
              </a:rPr>
              <a:t>        →国家相关管理部门发布的有关法律、法规、标准规范；</a:t>
            </a:r>
            <a:endParaRPr lang="zh-CN" altLang="en-US" sz="2400" dirty="0">
              <a:solidFill>
                <a:srgbClr val="336699"/>
              </a:solidFill>
              <a:latin typeface="Arial" panose="020B0604020202020204" pitchFamily="34" charset="0"/>
              <a:ea typeface="宋体" panose="02010600030101010101" pitchFamily="2" charset="-122"/>
            </a:endParaRPr>
          </a:p>
          <a:p>
            <a:pPr lvl="4" indent="0" eaLnBrk="1" hangingPunct="1">
              <a:lnSpc>
                <a:spcPct val="115000"/>
              </a:lnSpc>
            </a:pPr>
            <a:r>
              <a:rPr lang="zh-CN" altLang="en-US" sz="2400" dirty="0">
                <a:solidFill>
                  <a:srgbClr val="336699"/>
                </a:solidFill>
                <a:latin typeface="Arial" panose="020B0604020202020204" pitchFamily="34" charset="0"/>
                <a:ea typeface="宋体" panose="02010600030101010101" pitchFamily="2" charset="-122"/>
              </a:rPr>
              <a:t>        → </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通信建设工程预算定额</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（目前通信工程用预算定额代替概算定额编制概算）、</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通信建设工程费用定额</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通信建设工程施工机械、仪表台班费用定额</a:t>
            </a:r>
            <a:r>
              <a:rPr lang="en-US" altLang="zh-CN" sz="2400" dirty="0">
                <a:solidFill>
                  <a:srgbClr val="336699"/>
                </a:solidFill>
                <a:latin typeface="Arial" panose="020B0604020202020204" pitchFamily="34" charset="0"/>
                <a:ea typeface="宋体" panose="02010600030101010101" pitchFamily="2" charset="-122"/>
              </a:rPr>
              <a:t>》</a:t>
            </a:r>
            <a:r>
              <a:rPr lang="zh-CN" altLang="en-US" sz="2400" dirty="0">
                <a:solidFill>
                  <a:srgbClr val="336699"/>
                </a:solidFill>
                <a:latin typeface="Arial" panose="020B0604020202020204" pitchFamily="34" charset="0"/>
                <a:ea typeface="宋体" panose="02010600030101010101" pitchFamily="2" charset="-122"/>
              </a:rPr>
              <a:t>及其文件； </a:t>
            </a:r>
            <a:endParaRPr lang="zh-CN" altLang="en-US" sz="2400" dirty="0">
              <a:solidFill>
                <a:srgbClr val="336699"/>
              </a:solidFill>
              <a:latin typeface="Arial" panose="020B0604020202020204" pitchFamily="34" charset="0"/>
              <a:ea typeface="宋体" panose="02010600030101010101" pitchFamily="2" charset="-122"/>
            </a:endParaRPr>
          </a:p>
          <a:p>
            <a:pPr lvl="4" indent="0" eaLnBrk="1" hangingPunct="1">
              <a:lnSpc>
                <a:spcPct val="115000"/>
              </a:lnSpc>
            </a:pPr>
            <a:r>
              <a:rPr lang="zh-CN" altLang="en-US" sz="2400" dirty="0">
                <a:solidFill>
                  <a:srgbClr val="336699"/>
                </a:solidFill>
                <a:latin typeface="Arial" panose="020B0604020202020204" pitchFamily="34" charset="0"/>
                <a:ea typeface="宋体" panose="02010600030101010101" pitchFamily="2" charset="-122"/>
              </a:rPr>
              <a:t>        →建设项目所在地政府发布土地征用和赔补等有关规定；</a:t>
            </a:r>
            <a:endParaRPr lang="zh-CN" altLang="en-US" sz="2400" dirty="0">
              <a:solidFill>
                <a:srgbClr val="336699"/>
              </a:solidFill>
              <a:latin typeface="Arial" panose="020B0604020202020204" pitchFamily="34" charset="0"/>
              <a:ea typeface="宋体" panose="02010600030101010101" pitchFamily="2" charset="-122"/>
            </a:endParaRPr>
          </a:p>
          <a:p>
            <a:pPr lvl="4" indent="0" eaLnBrk="1" hangingPunct="1">
              <a:lnSpc>
                <a:spcPct val="115000"/>
              </a:lnSpc>
            </a:pPr>
            <a:r>
              <a:rPr lang="zh-CN" altLang="en-US" sz="2400" dirty="0">
                <a:solidFill>
                  <a:srgbClr val="336699"/>
                </a:solidFill>
                <a:latin typeface="Arial" panose="020B0604020202020204" pitchFamily="34" charset="0"/>
                <a:ea typeface="宋体" panose="02010600030101010101" pitchFamily="2" charset="-122"/>
              </a:rPr>
              <a:t>        →有关合同、协议等。</a:t>
            </a:r>
            <a:endParaRPr lang="zh-CN" altLang="en-US" sz="2400" dirty="0">
              <a:solidFill>
                <a:srgbClr val="336699"/>
              </a:solidFill>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841739"/>
                                        </p:tgtEl>
                                        <p:attrNameLst>
                                          <p:attrName>style.visibility</p:attrName>
                                        </p:attrNameLst>
                                      </p:cBhvr>
                                      <p:to>
                                        <p:strVal val="visible"/>
                                      </p:to>
                                    </p:set>
                                    <p:animEffect transition="in" filter="slide(fromBottom)">
                                      <p:cBhvr>
                                        <p:cTn id="7" dur="500"/>
                                        <p:tgtEl>
                                          <p:spTgt spid="841739"/>
                                        </p:tgtEl>
                                      </p:cBhvr>
                                    </p:animEffect>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841740">
                                            <p:txEl>
                                              <p:charRg st="0" end="26"/>
                                            </p:txEl>
                                          </p:spTgt>
                                        </p:tgtEl>
                                        <p:attrNameLst>
                                          <p:attrName>style.visibility</p:attrName>
                                        </p:attrNameLst>
                                      </p:cBhvr>
                                      <p:to>
                                        <p:strVal val="visible"/>
                                      </p:to>
                                    </p:set>
                                    <p:anim to="" calcmode="lin" valueType="num">
                                      <p:cBhvr>
                                        <p:cTn id="12" dur="1" fill="hold"/>
                                        <p:tgtEl>
                                          <p:spTgt spid="841740">
                                            <p:txEl>
                                              <p:charRg st="0" end="26"/>
                                            </p:txEl>
                                          </p:spTgt>
                                        </p:tgtEl>
                                        <p:attrNameLst>
                                          <p:attrName>style.visibility</p:attrName>
                                        </p:attrNameLst>
                                      </p:cBhvr>
                                    </p:anim>
                                  </p:childTnLst>
                                </p:cTn>
                              </p:par>
                              <p:par>
                                <p:cTn id="13" presetID="24" presetClass="entr" presetSubtype="0" fill="hold" nodeType="withEffect">
                                  <p:stCondLst>
                                    <p:cond delay="0"/>
                                  </p:stCondLst>
                                  <p:childTnLst>
                                    <p:set>
                                      <p:cBhvr>
                                        <p:cTn id="14" dur="1" fill="hold">
                                          <p:stCondLst>
                                            <p:cond delay="0"/>
                                          </p:stCondLst>
                                        </p:cTn>
                                        <p:tgtEl>
                                          <p:spTgt spid="841740">
                                            <p:txEl>
                                              <p:charRg st="26" end="54"/>
                                            </p:txEl>
                                          </p:spTgt>
                                        </p:tgtEl>
                                        <p:attrNameLst>
                                          <p:attrName>style.visibility</p:attrName>
                                        </p:attrNameLst>
                                      </p:cBhvr>
                                      <p:to>
                                        <p:strVal val="visible"/>
                                      </p:to>
                                    </p:set>
                                    <p:anim to="" calcmode="lin" valueType="num">
                                      <p:cBhvr>
                                        <p:cTn id="15" dur="1" fill="hold"/>
                                        <p:tgtEl>
                                          <p:spTgt spid="841740">
                                            <p:txEl>
                                              <p:charRg st="26" end="54"/>
                                            </p:txEl>
                                          </p:spTgt>
                                        </p:tgtEl>
                                        <p:attrNameLst>
                                          <p:attrName>style.visibility</p:attrName>
                                        </p:attrNameLst>
                                      </p:cBhvr>
                                    </p:anim>
                                  </p:childTnLst>
                                </p:cTn>
                              </p:par>
                              <p:par>
                                <p:cTn id="16" presetID="24" presetClass="entr" presetSubtype="0" fill="hold" nodeType="withEffect">
                                  <p:stCondLst>
                                    <p:cond delay="0"/>
                                  </p:stCondLst>
                                  <p:childTnLst>
                                    <p:set>
                                      <p:cBhvr>
                                        <p:cTn id="17" dur="1" fill="hold">
                                          <p:stCondLst>
                                            <p:cond delay="0"/>
                                          </p:stCondLst>
                                        </p:cTn>
                                        <p:tgtEl>
                                          <p:spTgt spid="841740">
                                            <p:txEl>
                                              <p:charRg st="54" end="88"/>
                                            </p:txEl>
                                          </p:spTgt>
                                        </p:tgtEl>
                                        <p:attrNameLst>
                                          <p:attrName>style.visibility</p:attrName>
                                        </p:attrNameLst>
                                      </p:cBhvr>
                                      <p:to>
                                        <p:strVal val="visible"/>
                                      </p:to>
                                    </p:set>
                                    <p:anim to="" calcmode="lin" valueType="num">
                                      <p:cBhvr>
                                        <p:cTn id="18" dur="1" fill="hold"/>
                                        <p:tgtEl>
                                          <p:spTgt spid="841740">
                                            <p:txEl>
                                              <p:charRg st="54" end="88"/>
                                            </p:txEl>
                                          </p:spTgt>
                                        </p:tgtEl>
                                        <p:attrNameLst>
                                          <p:attrName>style.visibility</p:attrName>
                                        </p:attrNameLst>
                                      </p:cBhvr>
                                    </p:anim>
                                  </p:childTnLst>
                                </p:cTn>
                              </p:par>
                              <p:par>
                                <p:cTn id="19" presetID="24" presetClass="entr" presetSubtype="0" fill="hold" nodeType="withEffect">
                                  <p:stCondLst>
                                    <p:cond delay="0"/>
                                  </p:stCondLst>
                                  <p:childTnLst>
                                    <p:set>
                                      <p:cBhvr>
                                        <p:cTn id="20" dur="1" fill="hold">
                                          <p:stCondLst>
                                            <p:cond delay="0"/>
                                          </p:stCondLst>
                                        </p:cTn>
                                        <p:tgtEl>
                                          <p:spTgt spid="841740">
                                            <p:txEl>
                                              <p:charRg st="88" end="175"/>
                                            </p:txEl>
                                          </p:spTgt>
                                        </p:tgtEl>
                                        <p:attrNameLst>
                                          <p:attrName>style.visibility</p:attrName>
                                        </p:attrNameLst>
                                      </p:cBhvr>
                                      <p:to>
                                        <p:strVal val="visible"/>
                                      </p:to>
                                    </p:set>
                                    <p:anim to="" calcmode="lin" valueType="num">
                                      <p:cBhvr>
                                        <p:cTn id="21" dur="1" fill="hold"/>
                                        <p:tgtEl>
                                          <p:spTgt spid="841740">
                                            <p:txEl>
                                              <p:charRg st="88" end="175"/>
                                            </p:txEl>
                                          </p:spTgt>
                                        </p:tgtEl>
                                        <p:attrNameLst>
                                          <p:attrName>style.visibility</p:attrName>
                                        </p:attrNameLst>
                                      </p:cBhvr>
                                    </p:anim>
                                  </p:childTnLst>
                                </p:cTn>
                              </p:par>
                              <p:par>
                                <p:cTn id="22" presetID="24" presetClass="entr" presetSubtype="0" fill="hold" nodeType="withEffect">
                                  <p:stCondLst>
                                    <p:cond delay="0"/>
                                  </p:stCondLst>
                                  <p:childTnLst>
                                    <p:set>
                                      <p:cBhvr>
                                        <p:cTn id="23" dur="1" fill="hold">
                                          <p:stCondLst>
                                            <p:cond delay="0"/>
                                          </p:stCondLst>
                                        </p:cTn>
                                        <p:tgtEl>
                                          <p:spTgt spid="841740">
                                            <p:txEl>
                                              <p:charRg st="175" end="209"/>
                                            </p:txEl>
                                          </p:spTgt>
                                        </p:tgtEl>
                                        <p:attrNameLst>
                                          <p:attrName>style.visibility</p:attrName>
                                        </p:attrNameLst>
                                      </p:cBhvr>
                                      <p:to>
                                        <p:strVal val="visible"/>
                                      </p:to>
                                    </p:set>
                                    <p:anim to="" calcmode="lin" valueType="num">
                                      <p:cBhvr>
                                        <p:cTn id="24" dur="1" fill="hold"/>
                                        <p:tgtEl>
                                          <p:spTgt spid="841740">
                                            <p:txEl>
                                              <p:charRg st="175" end="209"/>
                                            </p:txEl>
                                          </p:spTgt>
                                        </p:tgtEl>
                                        <p:attrNameLst>
                                          <p:attrName>style.visibility</p:attrName>
                                        </p:attrNameLst>
                                      </p:cBhvr>
                                    </p:anim>
                                  </p:childTnLst>
                                </p:cTn>
                              </p:par>
                              <p:par>
                                <p:cTn id="25" presetID="24" presetClass="entr" presetSubtype="0" fill="hold" nodeType="withEffect">
                                  <p:stCondLst>
                                    <p:cond delay="0"/>
                                  </p:stCondLst>
                                  <p:childTnLst>
                                    <p:set>
                                      <p:cBhvr>
                                        <p:cTn id="26" dur="1" fill="hold">
                                          <p:stCondLst>
                                            <p:cond delay="0"/>
                                          </p:stCondLst>
                                        </p:cTn>
                                        <p:tgtEl>
                                          <p:spTgt spid="841740">
                                            <p:txEl>
                                              <p:charRg st="209" end="228"/>
                                            </p:txEl>
                                          </p:spTgt>
                                        </p:tgtEl>
                                        <p:attrNameLst>
                                          <p:attrName>style.visibility</p:attrName>
                                        </p:attrNameLst>
                                      </p:cBhvr>
                                      <p:to>
                                        <p:strVal val="visible"/>
                                      </p:to>
                                    </p:set>
                                    <p:anim to="" calcmode="lin" valueType="num">
                                      <p:cBhvr>
                                        <p:cTn id="27" dur="1" fill="hold"/>
                                        <p:tgtEl>
                                          <p:spTgt spid="841740">
                                            <p:txEl>
                                              <p:charRg st="209" end="228"/>
                                            </p:txEl>
                                          </p:spTgt>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1739"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7"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通信建设工程概算、预算编制办法</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62818" name="Group 40"/>
          <p:cNvGrpSpPr/>
          <p:nvPr/>
        </p:nvGrpSpPr>
        <p:grpSpPr>
          <a:xfrm>
            <a:off x="7164388" y="-265112"/>
            <a:ext cx="1758950" cy="1606550"/>
            <a:chOff x="672" y="334"/>
            <a:chExt cx="1108" cy="1012"/>
          </a:xfrm>
        </p:grpSpPr>
        <p:pic>
          <p:nvPicPr>
            <p:cNvPr id="162819"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62820" name="Group 28"/>
            <p:cNvGrpSpPr/>
            <p:nvPr/>
          </p:nvGrpSpPr>
          <p:grpSpPr>
            <a:xfrm>
              <a:off x="864" y="1104"/>
              <a:ext cx="768" cy="242"/>
              <a:chOff x="-768" y="1440"/>
              <a:chExt cx="768" cy="242"/>
            </a:xfrm>
          </p:grpSpPr>
          <p:sp>
            <p:nvSpPr>
              <p:cNvPr id="162821"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62822"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2823"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2824"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842762" name="Text Box 10"/>
          <p:cNvSpPr txBox="1">
            <a:spLocks noChangeArrowheads="1"/>
          </p:cNvSpPr>
          <p:nvPr/>
        </p:nvSpPr>
        <p:spPr bwMode="auto">
          <a:xfrm>
            <a:off x="250825" y="1125538"/>
            <a:ext cx="8604250"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3</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）引进设备安装工程概算、预算的编制</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15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①引进设备安装工程概算、预算的编制依据</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除参照第九条、第十条所列条件外，还应依据国家和相关部门批准的引进设备工程项目订货合同、细目及价格，以及国外有关技术经济资料和相关文件等。</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1500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②引进设备安装工程的概算、预算（引进器材的费用），除必须编制引进国的设备价款外，还应按引进设备的到岸价的外币折算成人民币的价格，依据本办法有关条款进行编制。</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zh-CN" altLang="en-US" sz="1800" b="0" i="0" u="none" strike="noStrike" kern="1200" cap="none" spc="0" normalizeH="0" baseline="0" noProof="0" smtClean="0">
                <a:ln>
                  <a:noFill/>
                </a:ln>
                <a:solidFill>
                  <a:schemeClr val="tx1"/>
                </a:solidFill>
                <a:effectLst/>
                <a:uLnTx/>
                <a:uFillTx/>
                <a:latin typeface="华文细黑" panose="02010600040101010101" pitchFamily="2" charset="-122"/>
                <a:ea typeface="华文细黑" panose="02010600040101010101" pitchFamily="2" charset="-122"/>
                <a:cs typeface="+mn-cs"/>
              </a:rPr>
              <a:t>注：引进设备安装工程的概算、预算应用两种货币表现形式，其外币表现形式可用美元或引进国货币。</a:t>
            </a:r>
            <a:r>
              <a:rPr kumimoji="0" lang="zh-CN" altLang="en-US" sz="1800" b="1" i="0" u="none" strike="noStrike" kern="1200" cap="none" spc="0" normalizeH="0" baseline="0" noProof="0" smtClean="0">
                <a:ln>
                  <a:noFill/>
                </a:ln>
                <a:solidFill>
                  <a:schemeClr val="tx1"/>
                </a:solidFill>
                <a:effectLst/>
                <a:uLnTx/>
                <a:uFillTx/>
                <a:latin typeface="华文细黑" panose="02010600040101010101" pitchFamily="2" charset="-122"/>
                <a:ea typeface="华文细黑" panose="02010600040101010101" pitchFamily="2" charset="-122"/>
                <a:cs typeface="+mn-cs"/>
              </a:rPr>
              <a:t> </a:t>
            </a:r>
            <a:endParaRPr kumimoji="0" lang="zh-CN" altLang="en-US" sz="1800" b="1" i="0" u="none" strike="noStrike" kern="1200" cap="none" spc="0" normalizeH="0" baseline="0" noProof="0" smtClean="0">
              <a:ln>
                <a:noFill/>
              </a:ln>
              <a:solidFill>
                <a:schemeClr val="tx1"/>
              </a:solidFill>
              <a:effectLst/>
              <a:uLnTx/>
              <a:uFillTx/>
              <a:latin typeface="华文细黑" panose="02010600040101010101" pitchFamily="2" charset="-122"/>
              <a:ea typeface="华文细黑" panose="02010600040101010101" pitchFamily="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42762">
                                            <p:txEl>
                                              <p:charRg st="0" end="36"/>
                                            </p:txEl>
                                          </p:spTgt>
                                        </p:tgtEl>
                                        <p:attrNameLst>
                                          <p:attrName>style.visibility</p:attrName>
                                        </p:attrNameLst>
                                      </p:cBhvr>
                                      <p:to>
                                        <p:strVal val="visible"/>
                                      </p:to>
                                    </p:set>
                                    <p:animEffect transition="in" filter="slide(fromBottom)">
                                      <p:cBhvr>
                                        <p:cTn id="7" dur="500"/>
                                        <p:tgtEl>
                                          <p:spTgt spid="842762">
                                            <p:txEl>
                                              <p:charRg st="0" end="36"/>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842762">
                                            <p:txEl>
                                              <p:charRg st="36" end="134"/>
                                            </p:txEl>
                                          </p:spTgt>
                                        </p:tgtEl>
                                        <p:attrNameLst>
                                          <p:attrName>style.visibility</p:attrName>
                                        </p:attrNameLst>
                                      </p:cBhvr>
                                      <p:to>
                                        <p:strVal val="visible"/>
                                      </p:to>
                                    </p:set>
                                    <p:animEffect transition="in" filter="diamond(in)">
                                      <p:cBhvr>
                                        <p:cTn id="12" dur="2000"/>
                                        <p:tgtEl>
                                          <p:spTgt spid="842762">
                                            <p:txEl>
                                              <p:charRg st="36" end="1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42762">
                                            <p:txEl>
                                              <p:charRg st="134" end="224"/>
                                            </p:txEl>
                                          </p:spTgt>
                                        </p:tgtEl>
                                        <p:attrNameLst>
                                          <p:attrName>style.visibility</p:attrName>
                                        </p:attrNameLst>
                                      </p:cBhvr>
                                      <p:to>
                                        <p:strVal val="visible"/>
                                      </p:to>
                                    </p:set>
                                    <p:animEffect transition="in" filter="blinds(horizontal)">
                                      <p:cBhvr>
                                        <p:cTn id="17" dur="500"/>
                                        <p:tgtEl>
                                          <p:spTgt spid="842762">
                                            <p:txEl>
                                              <p:charRg st="134" end="22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842762">
                                            <p:txEl>
                                              <p:charRg st="224" end="284"/>
                                            </p:txEl>
                                          </p:spTgt>
                                        </p:tgtEl>
                                        <p:attrNameLst>
                                          <p:attrName>style.visibility</p:attrName>
                                        </p:attrNameLst>
                                      </p:cBhvr>
                                      <p:to>
                                        <p:strVal val="visible"/>
                                      </p:to>
                                    </p:set>
                                    <p:anim calcmode="lin" valueType="num">
                                      <p:cBhvr>
                                        <p:cTn id="22" dur="1000" fill="hold"/>
                                        <p:tgtEl>
                                          <p:spTgt spid="842762">
                                            <p:txEl>
                                              <p:charRg st="224" end="284"/>
                                            </p:txEl>
                                          </p:spTgt>
                                        </p:tgtEl>
                                        <p:attrNameLst>
                                          <p:attrName>ppt_w</p:attrName>
                                        </p:attrNameLst>
                                      </p:cBhvr>
                                      <p:tavLst>
                                        <p:tav tm="0">
                                          <p:val>
                                            <p:strVal val="#ppt_w*0.70"/>
                                          </p:val>
                                        </p:tav>
                                        <p:tav tm="100000">
                                          <p:val>
                                            <p:strVal val="#ppt_w"/>
                                          </p:val>
                                        </p:tav>
                                      </p:tavLst>
                                    </p:anim>
                                    <p:anim calcmode="lin" valueType="num">
                                      <p:cBhvr>
                                        <p:cTn id="23" dur="1000" fill="hold"/>
                                        <p:tgtEl>
                                          <p:spTgt spid="842762">
                                            <p:txEl>
                                              <p:charRg st="224" end="284"/>
                                            </p:txEl>
                                          </p:spTgt>
                                        </p:tgtEl>
                                        <p:attrNameLst>
                                          <p:attrName>ppt_h</p:attrName>
                                        </p:attrNameLst>
                                      </p:cBhvr>
                                      <p:tavLst>
                                        <p:tav tm="0">
                                          <p:val>
                                            <p:strVal val="#ppt_h"/>
                                          </p:val>
                                        </p:tav>
                                        <p:tav tm="100000">
                                          <p:val>
                                            <p:strVal val="#ppt_h"/>
                                          </p:val>
                                        </p:tav>
                                      </p:tavLst>
                                    </p:anim>
                                    <p:animEffect transition="in" filter="fade">
                                      <p:cBhvr>
                                        <p:cTn id="24" dur="1000"/>
                                        <p:tgtEl>
                                          <p:spTgt spid="842762">
                                            <p:txEl>
                                              <p:charRg st="224" end="28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1 </a:t>
            </a:r>
            <a:r>
              <a:rPr lang="zh-CN" altLang="en-US" sz="3200" dirty="0">
                <a:solidFill>
                  <a:srgbClr val="000099"/>
                </a:solidFill>
                <a:latin typeface="黑体" panose="02010609060101010101" pitchFamily="49" charset="-122"/>
                <a:ea typeface="黑体" panose="02010609060101010101" pitchFamily="49" charset="-122"/>
              </a:rPr>
              <a:t>通信建设工程概算、预算编制办法</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63842" name="Group 40"/>
          <p:cNvGrpSpPr/>
          <p:nvPr/>
        </p:nvGrpSpPr>
        <p:grpSpPr>
          <a:xfrm>
            <a:off x="7164388" y="-265112"/>
            <a:ext cx="1758950" cy="1606550"/>
            <a:chOff x="672" y="334"/>
            <a:chExt cx="1108" cy="1012"/>
          </a:xfrm>
        </p:grpSpPr>
        <p:pic>
          <p:nvPicPr>
            <p:cNvPr id="163843"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63844" name="Group 28"/>
            <p:cNvGrpSpPr/>
            <p:nvPr/>
          </p:nvGrpSpPr>
          <p:grpSpPr>
            <a:xfrm>
              <a:off x="864" y="1104"/>
              <a:ext cx="768" cy="242"/>
              <a:chOff x="-768" y="1440"/>
              <a:chExt cx="768" cy="242"/>
            </a:xfrm>
          </p:grpSpPr>
          <p:sp>
            <p:nvSpPr>
              <p:cNvPr id="163845"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63846"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3847"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3848"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843786" name="Text Box 10"/>
          <p:cNvSpPr txBox="1">
            <a:spLocks noChangeArrowheads="1"/>
          </p:cNvSpPr>
          <p:nvPr/>
        </p:nvSpPr>
        <p:spPr bwMode="auto">
          <a:xfrm>
            <a:off x="539750" y="1125538"/>
            <a:ext cx="8604250"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spcBef>
                <a:spcPct val="0"/>
              </a:spcBef>
              <a:defRPr sz="2400">
                <a:solidFill>
                  <a:schemeClr val="tx1"/>
                </a:solidFill>
                <a:latin typeface="Times New Roman" panose="02020603050405020304" pitchFamily="18" charset="0"/>
              </a:defRPr>
            </a:lvl1pPr>
            <a:lvl2pPr marL="914400" indent="-457200" eaLnBrk="0" hangingPunct="0">
              <a:spcBef>
                <a:spcPct val="0"/>
              </a:spcBef>
              <a:defRPr sz="2400">
                <a:solidFill>
                  <a:schemeClr val="tx1"/>
                </a:solidFill>
                <a:latin typeface="Times New Roman" panose="02020603050405020304" pitchFamily="18" charset="0"/>
              </a:defRPr>
            </a:lvl2pPr>
            <a:lvl3pPr marL="1371600" indent="-457200" eaLnBrk="0" hangingPunct="0">
              <a:spcBef>
                <a:spcPct val="0"/>
              </a:spcBef>
              <a:defRPr sz="2400">
                <a:solidFill>
                  <a:schemeClr val="tx1"/>
                </a:solidFill>
                <a:latin typeface="Times New Roman" panose="02020603050405020304" pitchFamily="18" charset="0"/>
              </a:defRPr>
            </a:lvl3pPr>
            <a:lvl4pPr marL="1828800" indent="-457200" eaLnBrk="0" hangingPunct="0">
              <a:spcBef>
                <a:spcPct val="0"/>
              </a:spcBef>
              <a:defRPr sz="2400">
                <a:solidFill>
                  <a:schemeClr val="tx1"/>
                </a:solidFill>
                <a:latin typeface="Times New Roman" panose="02020603050405020304" pitchFamily="18" charset="0"/>
              </a:defRPr>
            </a:lvl4pPr>
            <a:lvl5pPr marL="2286000" indent="-457200" eaLnBrk="0" hangingPunct="0">
              <a:spcBef>
                <a:spcPct val="0"/>
              </a:spcBef>
              <a:defRPr sz="2400">
                <a:solidFill>
                  <a:schemeClr val="tx1"/>
                </a:solidFill>
                <a:latin typeface="Times New Roman" panose="02020603050405020304" pitchFamily="18" charset="0"/>
              </a:defRPr>
            </a:lvl5pPr>
            <a:lvl6pPr marL="2743200" indent="-457200" eaLnBrk="0" fontAlgn="base" hangingPunct="0">
              <a:spcBef>
                <a:spcPct val="0"/>
              </a:spcBef>
              <a:spcAft>
                <a:spcPct val="0"/>
              </a:spcAft>
              <a:defRPr sz="2400">
                <a:solidFill>
                  <a:schemeClr val="tx1"/>
                </a:solidFill>
                <a:latin typeface="Times New Roman" panose="02020603050405020304" pitchFamily="18" charset="0"/>
              </a:defRPr>
            </a:lvl6pPr>
            <a:lvl7pPr marL="3200400" indent="-457200" eaLnBrk="0" fontAlgn="base" hangingPunct="0">
              <a:spcBef>
                <a:spcPct val="0"/>
              </a:spcBef>
              <a:spcAft>
                <a:spcPct val="0"/>
              </a:spcAft>
              <a:defRPr sz="2400">
                <a:solidFill>
                  <a:schemeClr val="tx1"/>
                </a:solidFill>
                <a:latin typeface="Times New Roman" panose="02020603050405020304" pitchFamily="18" charset="0"/>
              </a:defRPr>
            </a:lvl7pPr>
            <a:lvl8pPr marL="3657600" indent="-457200" eaLnBrk="0" fontAlgn="base" hangingPunct="0">
              <a:spcBef>
                <a:spcPct val="0"/>
              </a:spcBef>
              <a:spcAft>
                <a:spcPct val="0"/>
              </a:spcAft>
              <a:defRPr sz="2400">
                <a:solidFill>
                  <a:schemeClr val="tx1"/>
                </a:solidFill>
                <a:latin typeface="Times New Roman" panose="02020603050405020304" pitchFamily="18" charset="0"/>
              </a:defRPr>
            </a:lvl8pPr>
            <a:lvl9pPr marL="4114800" indent="-457200" eaLnBrk="0" fontAlgn="base" hangingPunct="0">
              <a:spcBef>
                <a:spcPct val="0"/>
              </a:spcBef>
              <a:spcAft>
                <a:spcPct val="0"/>
              </a:spcAft>
              <a:defRPr sz="2400">
                <a:solidFill>
                  <a:schemeClr val="tx1"/>
                </a:solidFill>
                <a:latin typeface="Times New Roman" panose="02020603050405020304" pitchFamily="18" charset="0"/>
              </a:defRPr>
            </a:lvl9pPr>
          </a:lstStyle>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r>
              <a:rPr kumimoji="0" lang="en-US" altLang="zh-CN"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3</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）引进设备安装工程概算、预算的编制</a:t>
            </a:r>
            <a:r>
              <a:rPr kumimoji="0" lang="zh-CN" altLang="en-US" sz="2000" b="1" i="0" u="none" strike="noStrike" kern="1200" cap="none" spc="0" normalizeH="0" baseline="0" noProof="0" smtClean="0">
                <a:ln>
                  <a:noFill/>
                </a:ln>
                <a:solidFill>
                  <a:schemeClr val="bg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a:p>
            <a:pPr marL="457200" marR="0" lvl="0" indent="-457200" algn="l" defTabSz="914400" rtl="0" eaLnBrk="1" fontAlgn="base" latinLnBrk="0" hangingPunct="1">
              <a:lnSpc>
                <a:spcPct val="120000"/>
              </a:lnSpc>
              <a:spcBef>
                <a:spcPct val="0"/>
              </a:spcBef>
              <a:spcAft>
                <a:spcPct val="0"/>
              </a:spcAft>
              <a:buClrTx/>
              <a:buSzTx/>
              <a:buFontTx/>
              <a:buNone/>
              <a:defRPr/>
            </a:pPr>
            <a:r>
              <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rPr>
              <a:t>         ③引进设备安装工程的概算、预算除应包括本办法和费用定额规定的费用外，还应包括关税、增值税、工商统一税、海关监管费、外贸手续费、银行财务费和国家规定应计取的其他费用，其计取标准和办法应参照国家或相关部门的有关规定。 </a:t>
            </a:r>
            <a:endParaRPr kumimoji="0" lang="zh-CN" altLang="en-US" sz="2400" b="1" i="0" u="none" strike="noStrike" kern="1200" cap="none" spc="0" normalizeH="0" baseline="0" noProof="0" smtClean="0">
              <a:ln>
                <a:noFill/>
              </a:ln>
              <a:solidFill>
                <a:srgbClr val="336699"/>
              </a:solidFill>
              <a:effectLst/>
              <a:uLnTx/>
              <a:uFillTx/>
              <a:latin typeface="Arial" panose="020B0604020202020204" pitchFamily="34" charset="0"/>
              <a:ea typeface="宋体" panose="02010600030101010101" pitchFamily="2" charset="-122"/>
              <a:cs typeface="+mn-cs"/>
            </a:endParaRPr>
          </a:p>
        </p:txBody>
      </p:sp>
      <p:pic>
        <p:nvPicPr>
          <p:cNvPr id="163850" name="Picture 11" descr="图片1">
            <a:hlinkClick r:id="rId2" action="ppaction://hlinksldjump"/>
          </p:cNvPr>
          <p:cNvPicPr>
            <a:picLocks noChangeAspect="1"/>
          </p:cNvPicPr>
          <p:nvPr/>
        </p:nvPicPr>
        <p:blipFill>
          <a:blip r:embed="rId3"/>
          <a:stretch>
            <a:fillRect/>
          </a:stretch>
        </p:blipFill>
        <p:spPr>
          <a:xfrm>
            <a:off x="7667625" y="5805488"/>
            <a:ext cx="1266825" cy="8477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843786">
                                            <p:txEl>
                                              <p:charRg st="36" end="153"/>
                                            </p:txEl>
                                          </p:spTgt>
                                        </p:tgtEl>
                                        <p:attrNameLst>
                                          <p:attrName>style.visibility</p:attrName>
                                        </p:attrNameLst>
                                      </p:cBhvr>
                                      <p:to>
                                        <p:strVal val="visible"/>
                                      </p:to>
                                    </p:set>
                                    <p:animEffect transition="in" filter="diamond(in)">
                                      <p:cBhvr>
                                        <p:cTn id="7" dur="2000"/>
                                        <p:tgtEl>
                                          <p:spTgt spid="843786">
                                            <p:txEl>
                                              <p:charRg st="36" end="1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Rectangle 2"/>
          <p:cNvSpPr>
            <a:spLocks noGrp="1"/>
          </p:cNvSpPr>
          <p:nvPr>
            <p:ph/>
          </p:nvPr>
        </p:nvSpPr>
        <p:spPr>
          <a:xfrm>
            <a:off x="468313" y="404813"/>
            <a:ext cx="8229600" cy="633412"/>
          </a:xfrm>
          <a:noFill/>
          <a:ln>
            <a:noFill/>
          </a:ln>
        </p:spPr>
        <p:txBody>
          <a:bodyPr anchor="t" anchorCtr="0"/>
          <a:p>
            <a:pPr>
              <a:buNone/>
            </a:pPr>
            <a:r>
              <a:rPr lang="en-US" altLang="zh-CN" sz="3200" dirty="0">
                <a:solidFill>
                  <a:srgbClr val="000099"/>
                </a:solidFill>
                <a:latin typeface="黑体" panose="02010609060101010101" pitchFamily="49" charset="-122"/>
                <a:ea typeface="黑体" panose="02010609060101010101" pitchFamily="49" charset="-122"/>
              </a:rPr>
              <a:t>2 </a:t>
            </a:r>
            <a:r>
              <a:rPr lang="zh-CN" altLang="en-US" sz="3200" dirty="0">
                <a:solidFill>
                  <a:srgbClr val="000099"/>
                </a:solidFill>
                <a:latin typeface="黑体" panose="02010609060101010101" pitchFamily="49" charset="-122"/>
                <a:ea typeface="黑体" panose="02010609060101010101" pitchFamily="49" charset="-122"/>
              </a:rPr>
              <a:t>通信建设工程概预算文件组成</a:t>
            </a:r>
            <a:endParaRPr lang="zh-CN" altLang="en-US" sz="3200" dirty="0">
              <a:solidFill>
                <a:srgbClr val="000099"/>
              </a:solidFill>
              <a:latin typeface="黑体" panose="02010609060101010101" pitchFamily="49" charset="-122"/>
              <a:ea typeface="黑体" panose="02010609060101010101" pitchFamily="49" charset="-122"/>
            </a:endParaRPr>
          </a:p>
          <a:p>
            <a:pPr>
              <a:buNone/>
            </a:pPr>
            <a:endParaRPr lang="zh-CN" altLang="en-US" dirty="0">
              <a:ea typeface="宋体" panose="02010600030101010101" pitchFamily="2" charset="-122"/>
            </a:endParaRPr>
          </a:p>
        </p:txBody>
      </p:sp>
      <p:grpSp>
        <p:nvGrpSpPr>
          <p:cNvPr id="164866" name="Group 40"/>
          <p:cNvGrpSpPr/>
          <p:nvPr/>
        </p:nvGrpSpPr>
        <p:grpSpPr>
          <a:xfrm>
            <a:off x="7164388" y="-265112"/>
            <a:ext cx="1758950" cy="1606550"/>
            <a:chOff x="672" y="334"/>
            <a:chExt cx="1108" cy="1012"/>
          </a:xfrm>
        </p:grpSpPr>
        <p:pic>
          <p:nvPicPr>
            <p:cNvPr id="164867" name="Picture 39" descr="bb"/>
            <p:cNvPicPr>
              <a:picLocks noChangeAspect="1"/>
            </p:cNvPicPr>
            <p:nvPr/>
          </p:nvPicPr>
          <p:blipFill>
            <a:blip r:embed="rId1"/>
            <a:stretch>
              <a:fillRect/>
            </a:stretch>
          </p:blipFill>
          <p:spPr>
            <a:xfrm rot="-464626">
              <a:off x="768" y="334"/>
              <a:ext cx="1012" cy="964"/>
            </a:xfrm>
            <a:prstGeom prst="rect">
              <a:avLst/>
            </a:prstGeom>
            <a:noFill/>
            <a:ln w="9525">
              <a:noFill/>
            </a:ln>
          </p:spPr>
        </p:pic>
        <p:grpSp>
          <p:nvGrpSpPr>
            <p:cNvPr id="164868" name="Group 28"/>
            <p:cNvGrpSpPr/>
            <p:nvPr/>
          </p:nvGrpSpPr>
          <p:grpSpPr>
            <a:xfrm>
              <a:off x="864" y="1104"/>
              <a:ext cx="768" cy="242"/>
              <a:chOff x="-768" y="1440"/>
              <a:chExt cx="768" cy="242"/>
            </a:xfrm>
          </p:grpSpPr>
          <p:sp>
            <p:nvSpPr>
              <p:cNvPr id="164869" name="Text Box 25"/>
              <p:cNvSpPr txBox="1"/>
              <p:nvPr/>
            </p:nvSpPr>
            <p:spPr>
              <a:xfrm>
                <a:off x="-740" y="1451"/>
                <a:ext cx="692" cy="231"/>
              </a:xfrm>
              <a:prstGeom prst="rect">
                <a:avLst/>
              </a:prstGeom>
              <a:noFill/>
              <a:ln w="9525">
                <a:noFill/>
              </a:ln>
              <a:effectLst>
                <a:prstShdw prst="shdw17" dist="17961" dir="13499999">
                  <a:srgbClr val="708688"/>
                </a:prstShdw>
              </a:effectLst>
            </p:spPr>
            <p:txBody>
              <a:bodyPr anchor="t" anchorCtr="0">
                <a:spAutoFit/>
              </a:bodyPr>
              <a:p>
                <a:r>
                  <a:rPr lang="zh-CN" altLang="en-US" sz="1800" dirty="0">
                    <a:solidFill>
                      <a:srgbClr val="0066FF"/>
                    </a:solidFill>
                    <a:latin typeface="Arial" panose="020B0604020202020204" pitchFamily="34" charset="0"/>
                    <a:ea typeface="微软雅黑" panose="020B0503020204020204" pitchFamily="34" charset="-122"/>
                  </a:rPr>
                  <a:t>新课学习</a:t>
                </a:r>
                <a:endParaRPr lang="zh-CN" altLang="en-US" sz="1800" dirty="0">
                  <a:solidFill>
                    <a:srgbClr val="0066FF"/>
                  </a:solidFill>
                  <a:latin typeface="Arial" panose="020B0604020202020204" pitchFamily="34" charset="0"/>
                  <a:ea typeface="微软雅黑" panose="020B0503020204020204" pitchFamily="34" charset="-122"/>
                </a:endParaRPr>
              </a:p>
            </p:txBody>
          </p:sp>
          <p:sp>
            <p:nvSpPr>
              <p:cNvPr id="164870" name="AutoShape 26"/>
              <p:cNvSpPr/>
              <p:nvPr/>
            </p:nvSpPr>
            <p:spPr>
              <a:xfrm>
                <a:off x="-768" y="1440"/>
                <a:ext cx="768" cy="240"/>
              </a:xfrm>
              <a:prstGeom prst="roundRect">
                <a:avLst>
                  <a:gd name="adj" fmla="val 50000"/>
                </a:avLst>
              </a:prstGeom>
              <a:noFill/>
              <a:ln w="19050" cap="flat" cmpd="sng">
                <a:solidFill>
                  <a:srgbClr val="0099FF"/>
                </a:solidFill>
                <a:prstDash val="solid"/>
                <a:round/>
                <a:headEnd type="none" w="med" len="med"/>
                <a:tailEnd type="none" w="med" len="med"/>
              </a:ln>
            </p:spPr>
            <p:txBody>
              <a:bodyPr wrap="none" anchor="ctr" anchorCtr="0"/>
              <a:p>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4871" name="AutoShape 27"/>
            <p:cNvSpPr/>
            <p:nvPr/>
          </p:nvSpPr>
          <p:spPr>
            <a:xfrm>
              <a:off x="672" y="916"/>
              <a:ext cx="192" cy="288"/>
            </a:xfrm>
            <a:prstGeom prst="curvedRightArrow">
              <a:avLst>
                <a:gd name="adj1" fmla="val 28479"/>
                <a:gd name="adj2" fmla="val 58479"/>
                <a:gd name="adj3" fmla="val 21513"/>
              </a:avLst>
            </a:prstGeom>
            <a:solidFill>
              <a:srgbClr val="0099FF"/>
            </a:solidFill>
            <a:ln w="9525" cap="flat" cmpd="sng">
              <a:solidFill>
                <a:schemeClr val="tx1"/>
              </a:solidFill>
              <a:prstDash val="solid"/>
              <a:miter/>
              <a:headEnd type="none" w="med" len="med"/>
              <a:tailEnd type="none" w="med" len="med"/>
            </a:ln>
          </p:spPr>
          <p:txBody>
            <a:bodyPr wrap="none" anchor="ctr" anchorCtr="0"/>
            <a:p>
              <a:pPr algn="ctr"/>
              <a:endParaRPr lang="zh-CN" altLang="en-US" sz="1800" b="0" dirty="0">
                <a:solidFill>
                  <a:schemeClr val="tx1"/>
                </a:solidFill>
                <a:latin typeface="Arial" panose="020B0604020202020204" pitchFamily="34" charset="0"/>
                <a:ea typeface="宋体" panose="02010600030101010101" pitchFamily="2" charset="-122"/>
              </a:endParaRPr>
            </a:p>
          </p:txBody>
        </p:sp>
      </p:grpSp>
      <p:sp>
        <p:nvSpPr>
          <p:cNvPr id="164872" name="Rectangle 9"/>
          <p:cNvSpPr/>
          <p:nvPr/>
        </p:nvSpPr>
        <p:spPr>
          <a:xfrm>
            <a:off x="0" y="0"/>
            <a:ext cx="9144000" cy="0"/>
          </a:xfrm>
          <a:prstGeom prst="rect">
            <a:avLst/>
          </a:prstGeom>
          <a:noFill/>
          <a:ln w="9525">
            <a:noFill/>
          </a:ln>
        </p:spPr>
        <p:txBody>
          <a:bodyPr wrap="none" anchor="ctr" anchorCtr="0">
            <a:spAutoFit/>
          </a:bodyPr>
          <a:p>
            <a:pPr>
              <a:spcBef>
                <a:spcPct val="50000"/>
              </a:spcBef>
            </a:pPr>
            <a:endParaRPr lang="zh-CN" altLang="en-US" dirty="0">
              <a:latin typeface="Arial" panose="020B0604020202020204" pitchFamily="34" charset="0"/>
            </a:endParaRPr>
          </a:p>
        </p:txBody>
      </p:sp>
      <p:sp>
        <p:nvSpPr>
          <p:cNvPr id="844810" name="Text Box 10"/>
          <p:cNvSpPr txBox="1"/>
          <p:nvPr/>
        </p:nvSpPr>
        <p:spPr>
          <a:xfrm>
            <a:off x="790575" y="1196975"/>
            <a:ext cx="8353425" cy="4911725"/>
          </a:xfrm>
          <a:prstGeom prst="rect">
            <a:avLst/>
          </a:prstGeom>
          <a:noFill/>
          <a:ln w="9525">
            <a:noFill/>
          </a:ln>
        </p:spPr>
        <p:txBody>
          <a:bodyPr anchor="t" anchorCtr="0">
            <a:spAutoFit/>
          </a:bodyPr>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通信建设工程概预算文件由编制说明和概预算表组成。</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    编制说明</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编制说明的内容：</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1</a:t>
            </a:r>
            <a:r>
              <a:rPr lang="zh-CN" altLang="en-US" sz="2400" dirty="0">
                <a:solidFill>
                  <a:srgbClr val="336699"/>
                </a:solidFill>
                <a:latin typeface="Arial" panose="020B0604020202020204" pitchFamily="34" charset="0"/>
                <a:ea typeface="宋体" panose="02010600030101010101" pitchFamily="2" charset="-122"/>
              </a:rPr>
              <a:t>）工程概况、概算总价值；</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2</a:t>
            </a:r>
            <a:r>
              <a:rPr lang="zh-CN" altLang="en-US" sz="2400" dirty="0">
                <a:solidFill>
                  <a:srgbClr val="336699"/>
                </a:solidFill>
                <a:latin typeface="Arial" panose="020B0604020202020204" pitchFamily="34" charset="0"/>
                <a:ea typeface="宋体" panose="02010600030101010101" pitchFamily="2" charset="-122"/>
              </a:rPr>
              <a:t>）编制依据及采用的取费标准和计算方法的说明：依据的设计、定额及地方政府的有关规定和信产部未作统一规定的费用计算依据和说明；</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3</a:t>
            </a:r>
            <a:r>
              <a:rPr lang="zh-CN" altLang="en-US" sz="2400" dirty="0">
                <a:solidFill>
                  <a:srgbClr val="336699"/>
                </a:solidFill>
                <a:latin typeface="Arial" panose="020B0604020202020204" pitchFamily="34" charset="0"/>
                <a:ea typeface="宋体" panose="02010600030101010101" pitchFamily="2" charset="-122"/>
              </a:rPr>
              <a:t>）工程技术经济指标分析：主要分析各项投资的比例和费用构成，分析投资情况，说明设计的经济合理性及编制中存在的问题；</a:t>
            </a:r>
            <a:endParaRPr lang="zh-CN" altLang="en-US" sz="2400" dirty="0">
              <a:solidFill>
                <a:srgbClr val="336699"/>
              </a:solidFill>
              <a:latin typeface="Arial" panose="020B0604020202020204" pitchFamily="34" charset="0"/>
              <a:ea typeface="宋体" panose="02010600030101010101" pitchFamily="2" charset="-122"/>
            </a:endParaRPr>
          </a:p>
          <a:p>
            <a:pPr marL="457200" indent="-457200">
              <a:lnSpc>
                <a:spcPct val="120000"/>
              </a:lnSpc>
            </a:pPr>
            <a:r>
              <a:rPr lang="zh-CN" altLang="en-US" sz="2400" dirty="0">
                <a:solidFill>
                  <a:srgbClr val="336699"/>
                </a:solidFill>
                <a:latin typeface="Arial" panose="020B0604020202020204" pitchFamily="34" charset="0"/>
                <a:ea typeface="宋体" panose="02010600030101010101" pitchFamily="2" charset="-122"/>
              </a:rPr>
              <a:t>（</a:t>
            </a:r>
            <a:r>
              <a:rPr lang="en-US" altLang="zh-CN" sz="2400" dirty="0">
                <a:solidFill>
                  <a:srgbClr val="336699"/>
                </a:solidFill>
                <a:latin typeface="Arial" panose="020B0604020202020204" pitchFamily="34" charset="0"/>
                <a:ea typeface="宋体" panose="02010600030101010101" pitchFamily="2" charset="-122"/>
              </a:rPr>
              <a:t>4</a:t>
            </a:r>
            <a:r>
              <a:rPr lang="zh-CN" altLang="en-US" sz="2400" dirty="0">
                <a:solidFill>
                  <a:srgbClr val="336699"/>
                </a:solidFill>
                <a:latin typeface="Arial" panose="020B0604020202020204" pitchFamily="34" charset="0"/>
                <a:ea typeface="宋体" panose="02010600030101010101" pitchFamily="2" charset="-122"/>
              </a:rPr>
              <a:t>）其他需要说明的问题。  </a:t>
            </a:r>
            <a:endParaRPr lang="zh-CN" altLang="en-US" sz="2400" dirty="0">
              <a:solidFill>
                <a:srgbClr val="336699"/>
              </a:solidFill>
              <a:latin typeface="Arial" panose="020B0604020202020204" pitchFamily="34" charset="0"/>
              <a:ea typeface="宋体" panose="02010600030101010101" pitchFamily="2" charset="-122"/>
            </a:endParaRPr>
          </a:p>
        </p:txBody>
      </p:sp>
      <p:sp>
        <p:nvSpPr>
          <p:cNvPr id="844811" name="AutoShape 11"/>
          <p:cNvSpPr/>
          <p:nvPr/>
        </p:nvSpPr>
        <p:spPr>
          <a:xfrm>
            <a:off x="900113" y="1773238"/>
            <a:ext cx="217487" cy="288925"/>
          </a:xfrm>
          <a:prstGeom prst="diamond">
            <a:avLst/>
          </a:prstGeom>
          <a:solidFill>
            <a:srgbClr val="FF6600"/>
          </a:solidFill>
          <a:ln w="9525" cap="flat" cmpd="sng">
            <a:solidFill>
              <a:srgbClr val="FF6600"/>
            </a:solidFill>
            <a:prstDash val="solid"/>
            <a:miter/>
            <a:headEnd type="none" w="med" len="med"/>
            <a:tailEnd type="none" w="med" len="med"/>
          </a:ln>
        </p:spPr>
        <p:txBody>
          <a:bodyPr wrap="none" anchor="ctr" anchorCtr="0">
            <a:spAutoFit/>
          </a:bodyPr>
          <a:p>
            <a:pPr>
              <a:spcBef>
                <a:spcPct val="50000"/>
              </a:spcBef>
            </a:pPr>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44810">
                                            <p:txEl>
                                              <p:charRg st="0" end="25"/>
                                            </p:txEl>
                                          </p:spTgt>
                                        </p:tgtEl>
                                        <p:attrNameLst>
                                          <p:attrName>style.visibility</p:attrName>
                                        </p:attrNameLst>
                                      </p:cBhvr>
                                      <p:to>
                                        <p:strVal val="visible"/>
                                      </p:to>
                                    </p:set>
                                    <p:animEffect transition="in" filter="slide(fromBottom)">
                                      <p:cBhvr>
                                        <p:cTn id="7" dur="500"/>
                                        <p:tgtEl>
                                          <p:spTgt spid="844810">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44811"/>
                                        </p:tgtEl>
                                        <p:attrNameLst>
                                          <p:attrName>style.visibility</p:attrName>
                                        </p:attrNameLst>
                                      </p:cBhvr>
                                      <p:to>
                                        <p:strVal val="visible"/>
                                      </p:to>
                                    </p:set>
                                    <p:anim calcmode="lin" valueType="num">
                                      <p:cBhvr additive="base">
                                        <p:cTn id="12" dur="500" fill="hold"/>
                                        <p:tgtEl>
                                          <p:spTgt spid="844811"/>
                                        </p:tgtEl>
                                        <p:attrNameLst>
                                          <p:attrName>ppt_x</p:attrName>
                                        </p:attrNameLst>
                                      </p:cBhvr>
                                      <p:tavLst>
                                        <p:tav tm="0">
                                          <p:val>
                                            <p:strVal val="#ppt_x"/>
                                          </p:val>
                                        </p:tav>
                                        <p:tav tm="100000">
                                          <p:val>
                                            <p:strVal val="#ppt_x"/>
                                          </p:val>
                                        </p:tav>
                                      </p:tavLst>
                                    </p:anim>
                                    <p:anim calcmode="lin" valueType="num">
                                      <p:cBhvr additive="base">
                                        <p:cTn id="13" dur="500" fill="hold"/>
                                        <p:tgtEl>
                                          <p:spTgt spid="8448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44810">
                                            <p:txEl>
                                              <p:charRg st="25" end="34"/>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844810">
                                            <p:txEl>
                                              <p:charRg st="34" end="43"/>
                                            </p:txEl>
                                          </p:spTgt>
                                        </p:tgtEl>
                                        <p:attrNameLst>
                                          <p:attrName>style.visibility</p:attrName>
                                        </p:attrNameLst>
                                      </p:cBhvr>
                                      <p:to>
                                        <p:strVal val="visible"/>
                                      </p:to>
                                    </p:set>
                                    <p:anim calcmode="lin" valueType="num">
                                      <p:cBhvr>
                                        <p:cTn id="22" dur="1000" fill="hold"/>
                                        <p:tgtEl>
                                          <p:spTgt spid="844810">
                                            <p:txEl>
                                              <p:charRg st="34" end="43"/>
                                            </p:txEl>
                                          </p:spTgt>
                                        </p:tgtEl>
                                        <p:attrNameLst>
                                          <p:attrName>ppt_w</p:attrName>
                                        </p:attrNameLst>
                                      </p:cBhvr>
                                      <p:tavLst>
                                        <p:tav tm="0">
                                          <p:val>
                                            <p:strVal val="#ppt_w*0.70"/>
                                          </p:val>
                                        </p:tav>
                                        <p:tav tm="100000">
                                          <p:val>
                                            <p:strVal val="#ppt_w"/>
                                          </p:val>
                                        </p:tav>
                                      </p:tavLst>
                                    </p:anim>
                                    <p:anim calcmode="lin" valueType="num">
                                      <p:cBhvr>
                                        <p:cTn id="23" dur="1000" fill="hold"/>
                                        <p:tgtEl>
                                          <p:spTgt spid="844810">
                                            <p:txEl>
                                              <p:charRg st="34" end="43"/>
                                            </p:txEl>
                                          </p:spTgt>
                                        </p:tgtEl>
                                        <p:attrNameLst>
                                          <p:attrName>ppt_h</p:attrName>
                                        </p:attrNameLst>
                                      </p:cBhvr>
                                      <p:tavLst>
                                        <p:tav tm="0">
                                          <p:val>
                                            <p:strVal val="#ppt_h"/>
                                          </p:val>
                                        </p:tav>
                                        <p:tav tm="100000">
                                          <p:val>
                                            <p:strVal val="#ppt_h"/>
                                          </p:val>
                                        </p:tav>
                                      </p:tavLst>
                                    </p:anim>
                                    <p:animEffect transition="in" filter="fade">
                                      <p:cBhvr>
                                        <p:cTn id="24" dur="1000"/>
                                        <p:tgtEl>
                                          <p:spTgt spid="844810">
                                            <p:txEl>
                                              <p:charRg st="34" end="4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44810">
                                            <p:txEl>
                                              <p:charRg st="43" end="58"/>
                                            </p:txEl>
                                          </p:spTgt>
                                        </p:tgtEl>
                                        <p:attrNameLst>
                                          <p:attrName>style.visibility</p:attrName>
                                        </p:attrNameLst>
                                      </p:cBhvr>
                                      <p:to>
                                        <p:strVal val="visible"/>
                                      </p:to>
                                    </p:set>
                                    <p:animEffect transition="in" filter="blinds(horizontal)">
                                      <p:cBhvr>
                                        <p:cTn id="29" dur="500"/>
                                        <p:tgtEl>
                                          <p:spTgt spid="844810">
                                            <p:txEl>
                                              <p:charRg st="43" end="58"/>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844810">
                                            <p:txEl>
                                              <p:charRg st="58" end="122"/>
                                            </p:txEl>
                                          </p:spTgt>
                                        </p:tgtEl>
                                        <p:attrNameLst>
                                          <p:attrName>style.visibility</p:attrName>
                                        </p:attrNameLst>
                                      </p:cBhvr>
                                      <p:to>
                                        <p:strVal val="visible"/>
                                      </p:to>
                                    </p:set>
                                    <p:animEffect transition="in" filter="blinds(horizontal)">
                                      <p:cBhvr>
                                        <p:cTn id="32" dur="500"/>
                                        <p:tgtEl>
                                          <p:spTgt spid="844810">
                                            <p:txEl>
                                              <p:charRg st="58" end="122"/>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844810">
                                            <p:txEl>
                                              <p:charRg st="122" end="181"/>
                                            </p:txEl>
                                          </p:spTgt>
                                        </p:tgtEl>
                                        <p:attrNameLst>
                                          <p:attrName>style.visibility</p:attrName>
                                        </p:attrNameLst>
                                      </p:cBhvr>
                                      <p:to>
                                        <p:strVal val="visible"/>
                                      </p:to>
                                    </p:set>
                                    <p:animEffect transition="in" filter="blinds(horizontal)">
                                      <p:cBhvr>
                                        <p:cTn id="35" dur="500"/>
                                        <p:tgtEl>
                                          <p:spTgt spid="844810">
                                            <p:txEl>
                                              <p:charRg st="122" end="18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844810">
                                            <p:txEl>
                                              <p:charRg st="181" end="197"/>
                                            </p:txEl>
                                          </p:spTgt>
                                        </p:tgtEl>
                                        <p:attrNameLst>
                                          <p:attrName>style.visibility</p:attrName>
                                        </p:attrNameLst>
                                      </p:cBhvr>
                                      <p:to>
                                        <p:strVal val="visible"/>
                                      </p:to>
                                    </p:set>
                                    <p:animEffect transition="in" filter="blinds(horizontal)">
                                      <p:cBhvr>
                                        <p:cTn id="38" dur="500"/>
                                        <p:tgtEl>
                                          <p:spTgt spid="844810">
                                            <p:txEl>
                                              <p:charRg st="181" end="19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4811" grpId="0" animBg="1"/>
    </p:bldLst>
  </p:timing>
</p:sld>
</file>

<file path=ppt/tags/tag1.xml><?xml version="1.0" encoding="utf-8"?>
<p:tagLst xmlns:p="http://schemas.openxmlformats.org/presentationml/2006/main">
  <p:tag name="COMMONDATA" val="eyJoZGlkIjoiZGFlNWRkNmVlMTQxOWJjOTRkYjEzOTE3MmJkY2Q1MWIifQ=="/>
</p:tagLst>
</file>

<file path=ppt/theme/theme1.xml><?xml version="1.0" encoding="utf-8"?>
<a:theme xmlns:a="http://schemas.openxmlformats.org/drawingml/2006/main" name="wippt_cn_4">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wippt_cn_4">
      <a:majorFont>
        <a:latin typeface="Cooper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en-US" sz="2000" b="1" i="0" u="none" strike="noStrike" cap="none" normalizeH="0" baseline="0" smtClean="0">
            <a:ln>
              <a:noFill/>
            </a:ln>
            <a:solidFill>
              <a:schemeClr val="bg1"/>
            </a:solidFill>
            <a:effectLst/>
            <a:latin typeface="Arial" panose="020B0604020202020204" pitchFamily="34" charset="0"/>
            <a:ea typeface="华文行楷" panose="020108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en-US" sz="2000" b="1" i="0" u="none" strike="noStrike" cap="none" normalizeH="0" baseline="0" smtClean="0">
            <a:ln>
              <a:noFill/>
            </a:ln>
            <a:solidFill>
              <a:schemeClr val="bg1"/>
            </a:solidFill>
            <a:effectLst/>
            <a:latin typeface="Arial" panose="020B0604020202020204" pitchFamily="34" charset="0"/>
            <a:ea typeface="华文行楷" panose="02010800040101010101" pitchFamily="2" charset="-122"/>
          </a:defRPr>
        </a:defPPr>
      </a:lstStyle>
    </a:lnDef>
  </a:objectDefaults>
  <a:extraClrSchemeLst>
    <a:extraClrScheme>
      <a:clrScheme name="wippt_cn_4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wippt_cn_4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wippt_cn_4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wippt_cn_4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wippt_cn_4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wippt_cn_4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wippt_cn_4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en-US" sz="2000" b="1" i="0" u="none" strike="noStrike" cap="none" normalizeH="0" baseline="0" smtClean="0">
            <a:ln>
              <a:noFill/>
            </a:ln>
            <a:solidFill>
              <a:schemeClr val="bg1"/>
            </a:solidFill>
            <a:effectLst/>
            <a:latin typeface="Arial" panose="020B0604020202020204" pitchFamily="34" charset="0"/>
            <a:ea typeface="华文行楷" panose="02010800040101010101" pitchFamily="2"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en-US" sz="2000" b="1" i="0" u="none" strike="noStrike" cap="none" normalizeH="0" baseline="0" smtClean="0">
            <a:ln>
              <a:noFill/>
            </a:ln>
            <a:solidFill>
              <a:schemeClr val="bg1"/>
            </a:solidFill>
            <a:effectLst/>
            <a:latin typeface="Arial" panose="020B0604020202020204" pitchFamily="34" charset="0"/>
            <a:ea typeface="华文行楷" panose="02010800040101010101"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wippt_cn_4</Template>
  <TotalTime>0</TotalTime>
  <Words>27186</Words>
  <Application>WPS 演示</Application>
  <PresentationFormat>全屏显示(4:3)</PresentationFormat>
  <Paragraphs>2504</Paragraphs>
  <Slides>157</Slides>
  <Notes>0</Notes>
  <HiddenSlides>0</HiddenSlides>
  <MMClips>11</MMClips>
  <ScaleCrop>false</ScaleCrop>
  <HeadingPairs>
    <vt:vector size="8" baseType="variant">
      <vt:variant>
        <vt:lpstr>已用的字体</vt:lpstr>
      </vt:variant>
      <vt:variant>
        <vt:i4>26</vt:i4>
      </vt:variant>
      <vt:variant>
        <vt:lpstr>主题</vt:lpstr>
      </vt:variant>
      <vt:variant>
        <vt:i4>2</vt:i4>
      </vt:variant>
      <vt:variant>
        <vt:lpstr>嵌入 OLE 服务器</vt:lpstr>
      </vt:variant>
      <vt:variant>
        <vt:i4>6</vt:i4>
      </vt:variant>
      <vt:variant>
        <vt:lpstr>幻灯片标题</vt:lpstr>
      </vt:variant>
      <vt:variant>
        <vt:i4>157</vt:i4>
      </vt:variant>
    </vt:vector>
  </HeadingPairs>
  <TitlesOfParts>
    <vt:vector size="191" baseType="lpstr">
      <vt:lpstr>Arial</vt:lpstr>
      <vt:lpstr>宋体</vt:lpstr>
      <vt:lpstr>Wingdings</vt:lpstr>
      <vt:lpstr>华文行楷</vt:lpstr>
      <vt:lpstr>Cooper Black</vt:lpstr>
      <vt:lpstr>Calibri</vt:lpstr>
      <vt:lpstr>Times New Roman</vt:lpstr>
      <vt:lpstr>黑体</vt:lpstr>
      <vt:lpstr>楷体_GB2312</vt:lpstr>
      <vt:lpstr>新宋体</vt:lpstr>
      <vt:lpstr>Verdana</vt:lpstr>
      <vt:lpstr>Trebuchet MS</vt:lpstr>
      <vt:lpstr>华文中宋</vt:lpstr>
      <vt:lpstr>微软雅黑</vt:lpstr>
      <vt:lpstr>楷体</vt:lpstr>
      <vt:lpstr>方正舒体</vt:lpstr>
      <vt:lpstr>隶书</vt:lpstr>
      <vt:lpstr>仿宋_GB2312</vt:lpstr>
      <vt:lpstr>仿宋</vt:lpstr>
      <vt:lpstr>Symbol</vt:lpstr>
      <vt:lpstr>华文细黑</vt:lpstr>
      <vt:lpstr>华文隶书</vt:lpstr>
      <vt:lpstr>Arial Unicode MS</vt:lpstr>
      <vt:lpstr>仿宋_GB2312</vt:lpstr>
      <vt:lpstr>华文新魏</vt:lpstr>
      <vt:lpstr>Arial Unicode MS</vt:lpstr>
      <vt:lpstr>wippt_cn_4</vt:lpstr>
      <vt:lpstr>自定义设计方案</vt:lpstr>
      <vt:lpstr>Visio.Drawing.11</vt:lpstr>
      <vt:lpstr>Equation.DSMT4</vt:lpstr>
      <vt:lpstr>Equation.DSMT4</vt:lpstr>
      <vt:lpstr>Equation.DSMT4</vt:lpstr>
      <vt:lpstr>Equation.DSMT4</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www.pptbz.com</dc:title>
  <dc:creator>微软用户</dc:creator>
  <cp:lastModifiedBy>WPS_1756649582</cp:lastModifiedBy>
  <cp:revision>202</cp:revision>
  <dcterms:created xsi:type="dcterms:W3CDTF">2009-08-14T13:38:01Z</dcterms:created>
  <dcterms:modified xsi:type="dcterms:W3CDTF">2025-12-05T01:13:31Z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DF02C33B1AD546C589A1B2FD4B5F3070_13</vt:lpwstr>
  </property>
  <property fmtid="{D5CDD505-2E9C-101B-9397-08002B2CF9AE}" pid="3" name="KSOProductBuildVer">
    <vt:lpwstr>2052-12.1.0.23542</vt:lpwstr>
  </property>
</Properties>
</file>