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69" r:id="rId4"/>
    <p:sldId id="292" r:id="rId6"/>
    <p:sldId id="266" r:id="rId7"/>
    <p:sldId id="298" r:id="rId8"/>
    <p:sldId id="273" r:id="rId9"/>
    <p:sldId id="299" r:id="rId10"/>
    <p:sldId id="300" r:id="rId11"/>
    <p:sldId id="293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285" r:id="rId21"/>
  </p:sldIdLst>
  <p:sldSz cx="9592945" cy="5395595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85" userDrawn="1">
          <p15:clr>
            <a:srgbClr val="A4A3A4"/>
          </p15:clr>
        </p15:guide>
        <p15:guide id="2" pos="314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倩倩" initials="Wqq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C4F1"/>
    <a:srgbClr val="F2F2F2"/>
    <a:srgbClr val="7DCDFF"/>
    <a:srgbClr val="9BD9FF"/>
    <a:srgbClr val="8AE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84" d="100"/>
          <a:sy n="84" d="100"/>
        </p:scale>
        <p:origin x="-846" y="-78"/>
      </p:cViewPr>
      <p:guideLst>
        <p:guide orient="horz" pos="1785"/>
        <p:guide pos="314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gs" Target="tags/tag1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FEC91-376F-4B3F-A168-65C97BFAF6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28F52-921D-4B5E-90E1-89DF6F6F587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本次要探讨的是通信工程设计，聚焦于通信工程类别简介。通信工程作为电子信息领域的重要分支，与我们的生活和社会发展紧密相连。了解通信工程类别，能让我们清晰把握不同工程的特点和应用场景。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本次演讲将围绕通信工程设计展开，主要涵盖三大类别工程。</a:t>
            </a:r>
            <a:r>
              <a:rPr lang="en-US" altLang="zh-CN"/>
              <a:t>
</a:t>
            </a:r>
            <a:r>
              <a:rPr lang="zh-CN" altLang="en-US"/>
              <a:t>首当其冲的是有线通信工程，其作为通信网络的基础支撑，包括光缆、电缆、管道、杆路以及</a:t>
            </a:r>
            <a:r>
              <a:rPr lang="en-US" altLang="zh-CN"/>
              <a:t>PON</a:t>
            </a:r>
            <a:r>
              <a:rPr lang="zh-CN" altLang="en-US"/>
              <a:t>接入等工程。全光网是未来趋势，光缆工程至关重要；电缆工程则因</a:t>
            </a:r>
            <a:r>
              <a:rPr lang="en-US" altLang="zh-CN"/>
              <a:t>“</a:t>
            </a:r>
            <a:r>
              <a:rPr lang="zh-CN" altLang="en-US"/>
              <a:t>光进铜退</a:t>
            </a:r>
            <a:r>
              <a:rPr lang="en-US" altLang="zh-CN"/>
              <a:t>”</a:t>
            </a:r>
            <a:r>
              <a:rPr lang="zh-CN" altLang="en-US"/>
              <a:t>逐渐式微。</a:t>
            </a:r>
            <a:r>
              <a:rPr lang="en-US" altLang="zh-CN"/>
              <a:t>
</a:t>
            </a:r>
            <a:r>
              <a:rPr lang="zh-CN" altLang="en-US"/>
              <a:t>其次是无线通信工程，也叫基站工程，直接承担与用户的数据传输任务。移动通信基站工程是重点，包括基站主设备、配套设备和附属设备。主设备又分为早期的</a:t>
            </a:r>
            <a:r>
              <a:rPr lang="en-US" altLang="zh-CN"/>
              <a:t>BTS</a:t>
            </a:r>
            <a:r>
              <a:rPr lang="zh-CN" altLang="en-US"/>
              <a:t>设备和如今广泛使用的分布式设备</a:t>
            </a:r>
            <a:r>
              <a:rPr lang="en-US" altLang="zh-CN"/>
              <a:t>BBU+RRU</a:t>
            </a:r>
            <a:r>
              <a:rPr lang="zh-CN" altLang="en-US"/>
              <a:t>。</a:t>
            </a:r>
            <a:r>
              <a:rPr lang="en-US" altLang="zh-CN"/>
              <a:t>
</a:t>
            </a:r>
            <a:r>
              <a:rPr lang="zh-CN" altLang="en-US"/>
              <a:t>最后是其他类别工程介绍，虽未详细展示，但想必也是通信工程设计中不可或缺的组成部分。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有线通信工程包含光缆工程和电缆工程。光缆工程设计涵盖选型、确定芯数、成端、配盘、敷设，以及交接箱、分线箱和终端盒设立等。全光网是通信网络的未来方向，这意味着光缆工程在通信领域愈发重要，所以是我们学习的重点。</a:t>
            </a:r>
            <a:r>
              <a:rPr lang="en-US" altLang="zh-CN"/>
              <a:t>
</a:t>
            </a:r>
            <a:r>
              <a:rPr lang="zh-CN" altLang="en-US"/>
              <a:t>电缆工程设计包括选型、确定容量、配线、成端、配盘、敷设、分配，以及交接箱和分线箱（盒）设立等。当下全国大力推进光进铜退工程，随着光缆普及到楼和入户，电缆会逐渐被淘汰。因此在本课程中，大家了解电缆基本知识，满足退铜工程需求即可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有线通信工程除了之前提到的光缆和电缆工程外，还包括管道工程、杆路工程和</a:t>
            </a:r>
            <a:r>
              <a:rPr lang="en-US" altLang="zh-CN"/>
              <a:t>PON</a:t>
            </a:r>
            <a:r>
              <a:rPr lang="zh-CN" altLang="en-US"/>
              <a:t>接入工程。管道工程需确定管道路由、容量、人手孔位置及规格，还要掌握特殊施工工艺，这就像搭建城市的地下脉络，每一处规划都影响着通信的流畅。</a:t>
            </a:r>
            <a:r>
              <a:rPr lang="en-US" altLang="zh-CN"/>
              <a:t>
</a:t>
            </a:r>
            <a:r>
              <a:rPr lang="zh-CN" altLang="en-US"/>
              <a:t>杆路工程涉及杆路路由、电杆位置等多项内容，好比通信的</a:t>
            </a:r>
            <a:r>
              <a:rPr lang="en-US" altLang="zh-CN"/>
              <a:t>“</a:t>
            </a:r>
            <a:r>
              <a:rPr lang="zh-CN" altLang="en-US"/>
              <a:t>骨架</a:t>
            </a:r>
            <a:r>
              <a:rPr lang="en-US" altLang="zh-CN"/>
              <a:t>”</a:t>
            </a:r>
            <a:r>
              <a:rPr lang="zh-CN" altLang="en-US"/>
              <a:t>，稳固的杆路是通信稳定的保障。</a:t>
            </a:r>
            <a:r>
              <a:rPr lang="en-US" altLang="zh-CN"/>
              <a:t>
PON</a:t>
            </a:r>
            <a:r>
              <a:rPr lang="zh-CN" altLang="en-US"/>
              <a:t>接入工程则是为用户提供全套的</a:t>
            </a:r>
            <a:r>
              <a:rPr lang="en-US" altLang="zh-CN"/>
              <a:t>PON</a:t>
            </a:r>
            <a:r>
              <a:rPr lang="zh-CN" altLang="en-US"/>
              <a:t>技术接入设计，涵盖光缆工程、设备安装和综合布线等，是将通信网络延伸到用户端的关键环节，为用户带来高效便捷的通信体验。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无线通信工程也被称作基站工程，它在通信网络里扮演着和用户直接进行数据传送的关键角色。本节课聚焦于移动通信基站工程。其主要工作是安装基站设备，这些设备大致可分为主设备、配套设备和附属设备三部分。</a:t>
            </a:r>
            <a:r>
              <a:rPr lang="en-US" altLang="zh-CN"/>
              <a:t>
</a:t>
            </a:r>
            <a:r>
              <a:rPr lang="zh-CN" altLang="en-US"/>
              <a:t>基站主设备即基站收发信机，可把它想象成无线调制解调器，负责移动信号的接收与发送处理。常见的主设备有早期的</a:t>
            </a:r>
            <a:r>
              <a:rPr lang="en-US" altLang="zh-CN"/>
              <a:t>BTS</a:t>
            </a:r>
            <a:r>
              <a:rPr lang="zh-CN" altLang="en-US"/>
              <a:t>设备和分布式设备</a:t>
            </a:r>
            <a:r>
              <a:rPr lang="en-US" altLang="zh-CN"/>
              <a:t>BBU + RRU</a:t>
            </a:r>
            <a:r>
              <a:rPr lang="zh-CN" altLang="en-US"/>
              <a:t>。鉴于近年来分布式设备的应用愈发广泛，接下来我们着重探讨分布式设备。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在无线通信工程里，</a:t>
            </a:r>
            <a:r>
              <a:rPr lang="en-US" altLang="zh-CN"/>
              <a:t>BBU</a:t>
            </a:r>
            <a:r>
              <a:rPr lang="zh-CN" altLang="en-US"/>
              <a:t>作为基站主设备，起着关键作用。它由网络交换模块</a:t>
            </a:r>
            <a:r>
              <a:rPr lang="en-US" altLang="zh-CN"/>
              <a:t>FS</a:t>
            </a:r>
            <a:r>
              <a:rPr lang="zh-CN" altLang="en-US"/>
              <a:t>、电源模块</a:t>
            </a:r>
            <a:r>
              <a:rPr lang="en-US" altLang="zh-CN"/>
              <a:t>PM</a:t>
            </a:r>
            <a:r>
              <a:rPr lang="zh-CN" altLang="en-US"/>
              <a:t>、基带处理板</a:t>
            </a:r>
            <a:r>
              <a:rPr lang="en-US" altLang="zh-CN"/>
              <a:t>BPC</a:t>
            </a:r>
            <a:r>
              <a:rPr lang="zh-CN" altLang="en-US"/>
              <a:t>等多个模块构成，如</a:t>
            </a:r>
            <a:r>
              <a:rPr lang="en-US" altLang="zh-CN"/>
              <a:t>ZXWR B8200</a:t>
            </a:r>
            <a:r>
              <a:rPr lang="zh-CN" altLang="en-US"/>
              <a:t>的硬件结构就体现了这些模块的组合。</a:t>
            </a:r>
            <a:r>
              <a:rPr lang="en-US" altLang="zh-CN"/>
              <a:t>
BBU</a:t>
            </a:r>
            <a:r>
              <a:rPr lang="zh-CN" altLang="en-US"/>
              <a:t>的核心功能是完成基带信号处理，像编码、调制、资源调度等工作都由它负责，并且通常集中部署于机房。这就好比是整个基站的</a:t>
            </a:r>
            <a:r>
              <a:rPr lang="en-US" altLang="zh-CN"/>
              <a:t>“</a:t>
            </a:r>
            <a:r>
              <a:rPr lang="zh-CN" altLang="en-US"/>
              <a:t>智慧大脑</a:t>
            </a:r>
            <a:r>
              <a:rPr lang="en-US" altLang="zh-CN"/>
              <a:t>”</a:t>
            </a:r>
            <a:r>
              <a:rPr lang="zh-CN" altLang="en-US"/>
              <a:t>，有条不紊地处理着各种信号信息。</a:t>
            </a:r>
            <a:r>
              <a:rPr lang="en-US" altLang="zh-CN"/>
              <a:t>
</a:t>
            </a:r>
            <a:r>
              <a:rPr lang="zh-CN" altLang="en-US"/>
              <a:t>从发展来看，</a:t>
            </a:r>
            <a:r>
              <a:rPr lang="en-US" altLang="zh-CN"/>
              <a:t>BBU</a:t>
            </a:r>
            <a:r>
              <a:rPr lang="zh-CN" altLang="en-US"/>
              <a:t>正从专用硬件向通用服务器平台过渡，逐步支持虚拟化功能。这种演进方向能够提升其灵活性和适应性，就如同为</a:t>
            </a:r>
            <a:r>
              <a:rPr lang="en-US" altLang="zh-CN"/>
              <a:t>“</a:t>
            </a:r>
            <a:r>
              <a:rPr lang="zh-CN" altLang="en-US"/>
              <a:t>大脑</a:t>
            </a:r>
            <a:r>
              <a:rPr lang="en-US" altLang="zh-CN"/>
              <a:t>”</a:t>
            </a:r>
            <a:r>
              <a:rPr lang="zh-CN" altLang="en-US"/>
              <a:t>升级了操作系统，让它能更好地应对未来复杂多变的通信需求。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在无线通信工程里，</a:t>
            </a:r>
            <a:r>
              <a:rPr lang="en-US" altLang="zh-CN"/>
              <a:t>RRU</a:t>
            </a:r>
            <a:r>
              <a:rPr lang="zh-CN" altLang="en-US"/>
              <a:t>是关键组成部分。中兴通讯的</a:t>
            </a:r>
            <a:r>
              <a:rPr lang="en-US" altLang="zh-CN"/>
              <a:t>R8840</a:t>
            </a:r>
            <a:r>
              <a:rPr lang="zh-CN" altLang="en-US"/>
              <a:t>和</a:t>
            </a:r>
            <a:r>
              <a:rPr lang="en-US" altLang="zh-CN"/>
              <a:t>RSU40</a:t>
            </a:r>
            <a:r>
              <a:rPr lang="zh-CN" altLang="en-US"/>
              <a:t>两款设备颇具代表性，前者为大功率室外射频拉远单元，后者是大功率室内射频模块。尽管二者内部的收发信单元、功放、双工滤波器及电源模块完全相同，工作原理和软件结构也一致，但外部物理结构存在差异。</a:t>
            </a:r>
            <a:r>
              <a:rPr lang="en-US" altLang="zh-CN"/>
              <a:t>
RRU</a:t>
            </a:r>
            <a:r>
              <a:rPr lang="zh-CN" altLang="en-US"/>
              <a:t>主要负责射频信号处理，像数模转换、功率放大、滤波等。靠近天线部署能减少馈线损耗，提升信号传输效率。其演进方向是从单一频段支持迈向多频段、多制式，如</a:t>
            </a:r>
            <a:r>
              <a:rPr lang="en-US" altLang="zh-CN"/>
              <a:t>4G</a:t>
            </a:r>
            <a:r>
              <a:rPr lang="zh-CN" altLang="en-US"/>
              <a:t>多模</a:t>
            </a:r>
            <a:r>
              <a:rPr lang="en-US" altLang="zh-CN"/>
              <a:t>RRU</a:t>
            </a:r>
            <a:r>
              <a:rPr lang="zh-CN" altLang="en-US"/>
              <a:t>，还会支持更高带宽和</a:t>
            </a:r>
            <a:r>
              <a:rPr lang="en-US" altLang="zh-CN"/>
              <a:t>MIMO</a:t>
            </a:r>
            <a:r>
              <a:rPr lang="zh-CN" altLang="en-US"/>
              <a:t>技术，以适应不断发展的通信需求。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前面我们了解了</a:t>
            </a:r>
            <a:r>
              <a:rPr lang="en-US" altLang="zh-CN"/>
              <a:t>RRU</a:t>
            </a:r>
            <a:r>
              <a:rPr lang="zh-CN" altLang="en-US"/>
              <a:t>的相关设备及功能等内容，现在聚焦</a:t>
            </a:r>
            <a:r>
              <a:rPr lang="en-US" altLang="zh-CN"/>
              <a:t>RRU</a:t>
            </a:r>
            <a:r>
              <a:rPr lang="zh-CN" altLang="en-US"/>
              <a:t>功能架构。</a:t>
            </a:r>
            <a:r>
              <a:rPr lang="en-US" altLang="zh-CN"/>
              <a:t>RRU</a:t>
            </a:r>
            <a:r>
              <a:rPr lang="zh-CN" altLang="en-US"/>
              <a:t>在无线通信工程里负责射频信号处理，靠近天线部署以减少馈线损耗。其功能架构就如同它的</a:t>
            </a:r>
            <a:r>
              <a:rPr lang="en-US" altLang="zh-CN"/>
              <a:t>“</a:t>
            </a:r>
            <a:r>
              <a:rPr lang="zh-CN" altLang="en-US"/>
              <a:t>骨骼</a:t>
            </a:r>
            <a:r>
              <a:rPr lang="en-US" altLang="zh-CN"/>
              <a:t>”</a:t>
            </a:r>
            <a:r>
              <a:rPr lang="zh-CN" altLang="en-US"/>
              <a:t>，支撑着整个设备的运行。</a:t>
            </a:r>
            <a:r>
              <a:rPr lang="en-US" altLang="zh-CN"/>
              <a:t>
</a:t>
            </a:r>
            <a:r>
              <a:rPr lang="zh-CN" altLang="en-US"/>
              <a:t>深入探究</a:t>
            </a:r>
            <a:r>
              <a:rPr lang="en-US" altLang="zh-CN"/>
              <a:t>RRU</a:t>
            </a:r>
            <a:r>
              <a:rPr lang="zh-CN" altLang="en-US"/>
              <a:t>功能架构，能让我们更清晰地理解其如何实现如数模转换、功率放大、滤波等功能。而且，随着技术演进，</a:t>
            </a:r>
            <a:r>
              <a:rPr lang="en-US" altLang="zh-CN"/>
              <a:t>RRU</a:t>
            </a:r>
            <a:r>
              <a:rPr lang="zh-CN" altLang="en-US"/>
              <a:t>从单一频段支持发展到多频段、多制式，其功能架构也必然会不断优化升级，以适应更高带宽和</a:t>
            </a:r>
            <a:r>
              <a:rPr lang="en-US" altLang="zh-CN"/>
              <a:t>MIMO</a:t>
            </a:r>
            <a:r>
              <a:rPr lang="zh-CN" altLang="en-US"/>
              <a:t>技术等新需求。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无线通信工程中，基站配套设备起着不可或缺的支撑作用，主要涵盖传输设备、电源系统和天馈系统。传输设备承担着数据传输的重任，是信息流通的关键通道，保障着基站与外界的数据交互。</a:t>
            </a:r>
            <a:r>
              <a:rPr lang="en-US" altLang="zh-CN"/>
              <a:t>
</a:t>
            </a:r>
            <a:r>
              <a:rPr lang="zh-CN" altLang="en-US"/>
              <a:t>电源系统则是基站的动力源泉，就如同人体的心脏，为整个基站设备提供稳定的电力供应，确保其正常运转。</a:t>
            </a:r>
            <a:r>
              <a:rPr lang="en-US" altLang="zh-CN"/>
              <a:t>
</a:t>
            </a:r>
            <a:r>
              <a:rPr lang="zh-CN" altLang="en-US"/>
              <a:t>天馈系统作为实现电信号与电磁波双向转换的核心，如同基站的</a:t>
            </a:r>
            <a:r>
              <a:rPr lang="en-US" altLang="zh-CN"/>
              <a:t>“</a:t>
            </a:r>
            <a:r>
              <a:rPr lang="zh-CN" altLang="en-US"/>
              <a:t>耳目</a:t>
            </a:r>
            <a:r>
              <a:rPr lang="en-US" altLang="zh-CN"/>
              <a:t>”</a:t>
            </a:r>
            <a:r>
              <a:rPr lang="zh-CN" altLang="en-US"/>
              <a:t>，承担着无线通信信号的收发任务，让基站与外界实现高效的无线连接。这三大配套设备相互协作，共同保障了无线通信基站的稳定运行。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基站配套设备中的电源系统至关重要，它主要由</a:t>
            </a:r>
            <a:r>
              <a:rPr lang="en-US" altLang="zh-CN"/>
              <a:t>AC</a:t>
            </a:r>
            <a:r>
              <a:rPr lang="zh-CN" altLang="en-US"/>
              <a:t>交流配电箱、开关电源柜、蓄电池以及输电线缆构成。</a:t>
            </a:r>
            <a:r>
              <a:rPr lang="en-US" altLang="zh-CN"/>
              <a:t>AC</a:t>
            </a:r>
            <a:r>
              <a:rPr lang="zh-CN" altLang="en-US"/>
              <a:t>交流配电箱起到分配和控制交流电源的作用，是电源系统的重要入口。而</a:t>
            </a:r>
            <a:r>
              <a:rPr lang="en-US" altLang="zh-CN"/>
              <a:t>DC</a:t>
            </a:r>
            <a:r>
              <a:rPr lang="zh-CN" altLang="en-US"/>
              <a:t>中兴</a:t>
            </a:r>
            <a:r>
              <a:rPr lang="en-US" altLang="zh-CN"/>
              <a:t>ZXDU58</a:t>
            </a:r>
            <a:r>
              <a:rPr lang="zh-CN" altLang="en-US"/>
              <a:t>开关电源柜，作为关键设备，能将交流电转换为直流电，为基站设备稳定供电。这些设备相互配合，为基站的正常运行提供了稳定的电力保障，是无线通信工程稳定运行的基石。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无线通信工程的配套设备中，电源系统至关重要。它主要包含配电单元、整流模块和光宇蓄电池。配电单元如同交通枢纽，精准分配电能，保证各设备按需获取电力，维持稳定运行。整流模块则像一个转换器，把交流电转换为直流电，为设备提供适配的电源。而光宇蓄电池作为备用能源，在市电中断时迅速</a:t>
            </a:r>
            <a:r>
              <a:rPr lang="en-US" altLang="zh-CN"/>
              <a:t>“</a:t>
            </a:r>
            <a:r>
              <a:rPr lang="zh-CN" altLang="en-US"/>
              <a:t>挺身而出</a:t>
            </a:r>
            <a:r>
              <a:rPr lang="en-US" altLang="zh-CN"/>
              <a:t>”</a:t>
            </a:r>
            <a:r>
              <a:rPr lang="zh-CN" altLang="en-US"/>
              <a:t>，保障基站不中断运行，维持通信的畅通。这三者相互协作，共同保障无线通信工程的稳定供电。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在无线通信工程的配套设备中，传输设备起着至关重要的作用，它保障了信息的高效传输。主要的传输设备有</a:t>
            </a:r>
            <a:r>
              <a:rPr lang="en-US" altLang="zh-CN"/>
              <a:t>ODF</a:t>
            </a:r>
            <a:r>
              <a:rPr lang="zh-CN" altLang="en-US"/>
              <a:t>架、</a:t>
            </a:r>
            <a:r>
              <a:rPr lang="en-US" altLang="zh-CN"/>
              <a:t>SDH</a:t>
            </a:r>
            <a:r>
              <a:rPr lang="zh-CN" altLang="en-US"/>
              <a:t>同步数字体系和</a:t>
            </a:r>
            <a:r>
              <a:rPr lang="en-US" altLang="zh-CN"/>
              <a:t>DDF</a:t>
            </a:r>
            <a:r>
              <a:rPr lang="zh-CN" altLang="en-US"/>
              <a:t>架。</a:t>
            </a:r>
            <a:r>
              <a:rPr lang="en-US" altLang="zh-CN"/>
              <a:t>
ODF</a:t>
            </a:r>
            <a:r>
              <a:rPr lang="zh-CN" altLang="en-US"/>
              <a:t>架，也就是</a:t>
            </a:r>
            <a:r>
              <a:rPr lang="en-US" altLang="zh-CN"/>
              <a:t>Optical Distribution Frame</a:t>
            </a:r>
            <a:r>
              <a:rPr lang="zh-CN" altLang="en-US"/>
              <a:t>，用于光纤的分配和管理，能让光纤的连接更加有序，就像交通枢纽一样，合理规划着光纤的走向。</a:t>
            </a:r>
            <a:r>
              <a:rPr lang="en-US" altLang="zh-CN"/>
              <a:t>
SDH</a:t>
            </a:r>
            <a:r>
              <a:rPr lang="zh-CN" altLang="en-US"/>
              <a:t>，即</a:t>
            </a:r>
            <a:r>
              <a:rPr lang="en-US" altLang="zh-CN"/>
              <a:t>Synchronous Digital Hierarchy</a:t>
            </a:r>
            <a:r>
              <a:rPr lang="zh-CN" altLang="en-US"/>
              <a:t>同步数字体系，它为数据传输提供了一个标准化的同步框架，大大提高了通信的可靠性和效率，就像一套精确的交通规则，让数据传输有条不紊。</a:t>
            </a:r>
            <a:r>
              <a:rPr lang="en-US" altLang="zh-CN"/>
              <a:t>
DDF</a:t>
            </a:r>
            <a:r>
              <a:rPr lang="zh-CN" altLang="en-US"/>
              <a:t>架，也就是</a:t>
            </a:r>
            <a:r>
              <a:rPr lang="en-US" altLang="zh-CN"/>
              <a:t>Digital Distribution Frame</a:t>
            </a:r>
            <a:r>
              <a:rPr lang="zh-CN" altLang="en-US"/>
              <a:t>，主要负责数字信号的分配和转接，使数字信号能够准确地到达目的地，如同快递中转站，确保信号准确送达。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在无线通信工程的配套设备里，天馈系统是极为关键的一环。它作为电磁波辐射系统，由天线与馈线组成，核心使命是实现电信号与电磁波的双向转换，肩负着无线通信信号的收发重任。</a:t>
            </a:r>
            <a:r>
              <a:rPr lang="en-US" altLang="zh-CN"/>
              <a:t>
</a:t>
            </a:r>
            <a:r>
              <a:rPr lang="zh-CN" altLang="en-US"/>
              <a:t>天线如同信息的</a:t>
            </a:r>
            <a:r>
              <a:rPr lang="en-US" altLang="zh-CN"/>
              <a:t>“</a:t>
            </a:r>
            <a:r>
              <a:rPr lang="zh-CN" altLang="en-US"/>
              <a:t>使者</a:t>
            </a:r>
            <a:r>
              <a:rPr lang="en-US" altLang="zh-CN"/>
              <a:t>”</a:t>
            </a:r>
            <a:r>
              <a:rPr lang="zh-CN" altLang="en-US"/>
              <a:t>，在空间中辐射或者接收电磁波，是无线信号与外界沟通的桥梁。而馈线则像一条</a:t>
            </a:r>
            <a:r>
              <a:rPr lang="en-US" altLang="zh-CN"/>
              <a:t>“</a:t>
            </a:r>
            <a:r>
              <a:rPr lang="zh-CN" altLang="en-US"/>
              <a:t>信息高速路</a:t>
            </a:r>
            <a:r>
              <a:rPr lang="en-US" altLang="zh-CN"/>
              <a:t>”</a:t>
            </a:r>
            <a:r>
              <a:rPr lang="zh-CN" altLang="en-US"/>
              <a:t>，是连接基站主设备与天线的重要纽带，保障着信号在两者之间高效、稳定地传输。可以说，天馈系统的正常运行，是无线通信顺畅进行的重要保障。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在无线通信工程里，除了主设备和配套设备，还有附属设备发挥着重要作用，这里主要提到了动环监控和空调。动环监控系统犹如基站的</a:t>
            </a:r>
            <a:r>
              <a:rPr lang="en-US" altLang="zh-CN"/>
              <a:t>“</a:t>
            </a:r>
            <a:r>
              <a:rPr lang="zh-CN" altLang="en-US"/>
              <a:t>智慧守护者</a:t>
            </a:r>
            <a:r>
              <a:rPr lang="en-US" altLang="zh-CN"/>
              <a:t>”</a:t>
            </a:r>
            <a:r>
              <a:rPr lang="zh-CN" altLang="en-US"/>
              <a:t>，它能实时监测基站内的动力设备、环境参数和安全状况等，一旦出现异常，可及时发出警报，保障设备稳定运行，提高通信可靠性。而空调则是基站的</a:t>
            </a:r>
            <a:r>
              <a:rPr lang="en-US" altLang="zh-CN"/>
              <a:t>“</a:t>
            </a:r>
            <a:r>
              <a:rPr lang="zh-CN" altLang="en-US"/>
              <a:t>清凉使者</a:t>
            </a:r>
            <a:r>
              <a:rPr lang="en-US" altLang="zh-CN"/>
              <a:t>”</a:t>
            </a:r>
            <a:r>
              <a:rPr lang="zh-CN" altLang="en-US"/>
              <a:t>，基站内的设备在运行过程中会产生大量热量，空调能精准控制室内温度和湿度，为设备营造适宜的工作环境，延长设备使用寿命。这两个附属设备虽不直接参与通信信号的传输，但对保障无线通信工程的稳定运行至关重要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近十年国内信息网络发展，对通信基础设施要求提高，</a:t>
            </a:r>
            <a:r>
              <a:rPr lang="en-US" altLang="zh-CN"/>
              <a:t>DDN</a:t>
            </a:r>
            <a:r>
              <a:rPr lang="zh-CN" altLang="en-US"/>
              <a:t>、</a:t>
            </a:r>
            <a:r>
              <a:rPr lang="en-US" altLang="zh-CN"/>
              <a:t>xDSL</a:t>
            </a:r>
            <a:r>
              <a:rPr lang="zh-CN" altLang="en-US"/>
              <a:t>、微波等技术受关注。其中，微波通信使用波长</a:t>
            </a:r>
            <a:r>
              <a:rPr lang="en-US" altLang="zh-CN"/>
              <a:t>1</a:t>
            </a:r>
            <a:r>
              <a:rPr lang="zh-CN" altLang="en-US"/>
              <a:t>毫米至</a:t>
            </a:r>
            <a:r>
              <a:rPr lang="en-US" altLang="zh-CN"/>
              <a:t>1</a:t>
            </a:r>
            <a:r>
              <a:rPr lang="zh-CN" altLang="en-US"/>
              <a:t>米的微波，对应频率范围</a:t>
            </a:r>
            <a:r>
              <a:rPr lang="en-US" altLang="zh-CN"/>
              <a:t>300 MHz</a:t>
            </a:r>
            <a:r>
              <a:rPr lang="zh-CN" altLang="en-US"/>
              <a:t>至</a:t>
            </a:r>
            <a:r>
              <a:rPr lang="en-US" altLang="zh-CN"/>
              <a:t>300 GHz</a:t>
            </a:r>
            <a:r>
              <a:rPr lang="zh-CN" altLang="en-US"/>
              <a:t>。</a:t>
            </a:r>
            <a:r>
              <a:rPr lang="en-US" altLang="zh-CN"/>
              <a:t>
</a:t>
            </a:r>
            <a:r>
              <a:rPr lang="zh-CN" altLang="en-US"/>
              <a:t>与同轴电缆、光纤和卫星通信不同，微波通信直接以微波为介质，无需固体介质，两点间直线无障碍即可使用。这种通信方式容量大、质量好且传输距离远，是国家通信网重要手段，也适用于专用通信网。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卫星通信是地球上无线电通信站间借助卫星作为中继的通信方式。它优势显著，通信范围极为广泛，只要处于卫星发射电波覆盖区域，任意两点间都能通信，打破了地域限制。而且，它不受陆地灾害影响，可靠性极高，即便地面遭遇灾难，通信依然能稳定进行。</a:t>
            </a:r>
            <a:r>
              <a:rPr lang="en-US" altLang="zh-CN"/>
              <a:t>
</a:t>
            </a:r>
            <a:r>
              <a:rPr lang="zh-CN" altLang="en-US"/>
              <a:t>其开通电路迅速，只需设置地球站电路即可，能快速满足通信需求。还具备多址特点，可在多处接收，能经济地实现广播、多址通信，同一信道可用于不同方向或区间。此外，电路设置灵活，可随时分散过于集中的话务量。</a:t>
            </a:r>
            <a:r>
              <a:rPr lang="en-US" altLang="zh-CN"/>
              <a:t>
</a:t>
            </a:r>
            <a:r>
              <a:rPr lang="zh-CN" altLang="en-US"/>
              <a:t>卫星通信系统由卫星端、地面端、用户端三部分构成，这三部分协同工作，保障了卫星通信的高效运行，使其成为重要的通信手段。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通信工程领域丰富多元，从宏观层面来看，可大致划分为无线通信工程、有线通信工程和其他类别的通信工程。这种分类方式有助于我们从整体上把握通信工程的架构，了解不同类型工程的特点和应用场景。</a:t>
            </a:r>
            <a:r>
              <a:rPr lang="en-US" altLang="zh-CN"/>
              <a:t>
</a:t>
            </a:r>
            <a:r>
              <a:rPr lang="zh-CN" altLang="en-US"/>
              <a:t>其中，无线通信工程又主要涵盖了主设备、配套设备和附属设备三部分。主设备是实现无线通信功能的核心，配套设备如传输设备、电源系统和天馈系统等，为无线通信的稳定运行提供保障，而附属设备像动环监控、空调等，则起到辅助和支持的作用。这三部分相互协作，共同构建起一个完整的无线通信工程体系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19904" y="1676400"/>
            <a:ext cx="8153456" cy="11557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38322" y="3057525"/>
            <a:ext cx="6716619" cy="137953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273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54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82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100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37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64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92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420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8497" y="3467101"/>
            <a:ext cx="8153456" cy="1071563"/>
          </a:xfrm>
        </p:spPr>
        <p:txBody>
          <a:bodyPr anchor="t"/>
          <a:lstStyle>
            <a:lvl1pPr algn="l">
              <a:defRPr sz="374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58497" y="2287588"/>
            <a:ext cx="8153456" cy="1179512"/>
          </a:xfrm>
        </p:spPr>
        <p:txBody>
          <a:bodyPr anchor="b"/>
          <a:lstStyle>
            <a:lvl1pPr marL="0" indent="0">
              <a:buNone/>
              <a:defRPr sz="1870">
                <a:solidFill>
                  <a:schemeClr val="tx1">
                    <a:tint val="75000"/>
                  </a:schemeClr>
                </a:solidFill>
              </a:defRPr>
            </a:lvl1pPr>
            <a:lvl2pPr marL="427355" indent="0">
              <a:buNone/>
              <a:defRPr sz="1685">
                <a:solidFill>
                  <a:schemeClr val="tx1">
                    <a:tint val="75000"/>
                  </a:schemeClr>
                </a:solidFill>
              </a:defRPr>
            </a:lvl2pPr>
            <a:lvl3pPr marL="854710" indent="0">
              <a:buNone/>
              <a:defRPr sz="1495">
                <a:solidFill>
                  <a:schemeClr val="tx1">
                    <a:tint val="75000"/>
                  </a:schemeClr>
                </a:solidFill>
              </a:defRPr>
            </a:lvl3pPr>
            <a:lvl4pPr marL="1282700" indent="0">
              <a:buNone/>
              <a:defRPr sz="1310">
                <a:solidFill>
                  <a:schemeClr val="tx1">
                    <a:tint val="75000"/>
                  </a:schemeClr>
                </a:solidFill>
              </a:defRPr>
            </a:lvl4pPr>
            <a:lvl5pPr marL="1710055" indent="0">
              <a:buNone/>
              <a:defRPr sz="1310">
                <a:solidFill>
                  <a:schemeClr val="tx1">
                    <a:tint val="75000"/>
                  </a:schemeClr>
                </a:solidFill>
              </a:defRPr>
            </a:lvl5pPr>
            <a:lvl6pPr marL="2137410" indent="0">
              <a:buNone/>
              <a:defRPr sz="1310">
                <a:solidFill>
                  <a:schemeClr val="tx1">
                    <a:tint val="75000"/>
                  </a:schemeClr>
                </a:solidFill>
              </a:defRPr>
            </a:lvl6pPr>
            <a:lvl7pPr marL="2564765" indent="0">
              <a:buNone/>
              <a:defRPr sz="1310">
                <a:solidFill>
                  <a:schemeClr val="tx1">
                    <a:tint val="75000"/>
                  </a:schemeClr>
                </a:solidFill>
              </a:defRPr>
            </a:lvl7pPr>
            <a:lvl8pPr marL="2992120" indent="0">
              <a:buNone/>
              <a:defRPr sz="1310">
                <a:solidFill>
                  <a:schemeClr val="tx1">
                    <a:tint val="75000"/>
                  </a:schemeClr>
                </a:solidFill>
              </a:defRPr>
            </a:lvl8pPr>
            <a:lvl9pPr marL="3420110" indent="0">
              <a:buNone/>
              <a:defRPr sz="131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79441" y="1258888"/>
            <a:ext cx="4245201" cy="3560762"/>
          </a:xfrm>
        </p:spPr>
        <p:txBody>
          <a:bodyPr/>
          <a:lstStyle>
            <a:lvl1pPr>
              <a:defRPr sz="2620"/>
            </a:lvl1pPr>
            <a:lvl2pPr>
              <a:defRPr sz="2245"/>
            </a:lvl2pPr>
            <a:lvl3pPr>
              <a:defRPr sz="1870"/>
            </a:lvl3pPr>
            <a:lvl4pPr>
              <a:defRPr sz="1685"/>
            </a:lvl4pPr>
            <a:lvl5pPr>
              <a:defRPr sz="1685"/>
            </a:lvl5pPr>
            <a:lvl6pPr>
              <a:defRPr sz="1685"/>
            </a:lvl6pPr>
            <a:lvl7pPr>
              <a:defRPr sz="1685"/>
            </a:lvl7pPr>
            <a:lvl8pPr>
              <a:defRPr sz="1685"/>
            </a:lvl8pPr>
            <a:lvl9pPr>
              <a:defRPr sz="168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67138" y="1258888"/>
            <a:ext cx="4246684" cy="3560762"/>
          </a:xfrm>
        </p:spPr>
        <p:txBody>
          <a:bodyPr/>
          <a:lstStyle>
            <a:lvl1pPr>
              <a:defRPr sz="2620"/>
            </a:lvl1pPr>
            <a:lvl2pPr>
              <a:defRPr sz="2245"/>
            </a:lvl2pPr>
            <a:lvl3pPr>
              <a:defRPr sz="1870"/>
            </a:lvl3pPr>
            <a:lvl4pPr>
              <a:defRPr sz="1685"/>
            </a:lvl4pPr>
            <a:lvl5pPr>
              <a:defRPr sz="1685"/>
            </a:lvl5pPr>
            <a:lvl6pPr>
              <a:defRPr sz="1685"/>
            </a:lvl6pPr>
            <a:lvl7pPr>
              <a:defRPr sz="1685"/>
            </a:lvl7pPr>
            <a:lvl8pPr>
              <a:defRPr sz="1685"/>
            </a:lvl8pPr>
            <a:lvl9pPr>
              <a:defRPr sz="168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9441" y="1208089"/>
            <a:ext cx="4239263" cy="503237"/>
          </a:xfrm>
        </p:spPr>
        <p:txBody>
          <a:bodyPr anchor="b"/>
          <a:lstStyle>
            <a:lvl1pPr marL="0" indent="0">
              <a:buNone/>
              <a:defRPr sz="2245" b="1"/>
            </a:lvl1pPr>
            <a:lvl2pPr marL="427355" indent="0">
              <a:buNone/>
              <a:defRPr sz="1870" b="1"/>
            </a:lvl2pPr>
            <a:lvl3pPr marL="854710" indent="0">
              <a:buNone/>
              <a:defRPr sz="1685" b="1"/>
            </a:lvl3pPr>
            <a:lvl4pPr marL="1282700" indent="0">
              <a:buNone/>
              <a:defRPr sz="1495" b="1"/>
            </a:lvl4pPr>
            <a:lvl5pPr marL="1710055" indent="0">
              <a:buNone/>
              <a:defRPr sz="1495" b="1"/>
            </a:lvl5pPr>
            <a:lvl6pPr marL="2137410" indent="0">
              <a:buNone/>
              <a:defRPr sz="1495" b="1"/>
            </a:lvl6pPr>
            <a:lvl7pPr marL="2564765" indent="0">
              <a:buNone/>
              <a:defRPr sz="1495" b="1"/>
            </a:lvl7pPr>
            <a:lvl8pPr marL="2992120" indent="0">
              <a:buNone/>
              <a:defRPr sz="1495" b="1"/>
            </a:lvl8pPr>
            <a:lvl9pPr marL="3420110" indent="0">
              <a:buNone/>
              <a:defRPr sz="149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9441" y="1711326"/>
            <a:ext cx="4239263" cy="3108325"/>
          </a:xfrm>
        </p:spPr>
        <p:txBody>
          <a:bodyPr/>
          <a:lstStyle>
            <a:lvl1pPr>
              <a:defRPr sz="2245"/>
            </a:lvl1pPr>
            <a:lvl2pPr>
              <a:defRPr sz="1870"/>
            </a:lvl2pPr>
            <a:lvl3pPr>
              <a:defRPr sz="1685"/>
            </a:lvl3pPr>
            <a:lvl4pPr>
              <a:defRPr sz="1495"/>
            </a:lvl4pPr>
            <a:lvl5pPr>
              <a:defRPr sz="1495"/>
            </a:lvl5pPr>
            <a:lvl6pPr>
              <a:defRPr sz="1495"/>
            </a:lvl6pPr>
            <a:lvl7pPr>
              <a:defRPr sz="1495"/>
            </a:lvl7pPr>
            <a:lvl8pPr>
              <a:defRPr sz="1495"/>
            </a:lvl8pPr>
            <a:lvl9pPr>
              <a:defRPr sz="149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873076" y="1208089"/>
            <a:ext cx="4240747" cy="503237"/>
          </a:xfrm>
        </p:spPr>
        <p:txBody>
          <a:bodyPr anchor="b"/>
          <a:lstStyle>
            <a:lvl1pPr marL="0" indent="0">
              <a:buNone/>
              <a:defRPr sz="2245" b="1"/>
            </a:lvl1pPr>
            <a:lvl2pPr marL="427355" indent="0">
              <a:buNone/>
              <a:defRPr sz="1870" b="1"/>
            </a:lvl2pPr>
            <a:lvl3pPr marL="854710" indent="0">
              <a:buNone/>
              <a:defRPr sz="1685" b="1"/>
            </a:lvl3pPr>
            <a:lvl4pPr marL="1282700" indent="0">
              <a:buNone/>
              <a:defRPr sz="1495" b="1"/>
            </a:lvl4pPr>
            <a:lvl5pPr marL="1710055" indent="0">
              <a:buNone/>
              <a:defRPr sz="1495" b="1"/>
            </a:lvl5pPr>
            <a:lvl6pPr marL="2137410" indent="0">
              <a:buNone/>
              <a:defRPr sz="1495" b="1"/>
            </a:lvl6pPr>
            <a:lvl7pPr marL="2564765" indent="0">
              <a:buNone/>
              <a:defRPr sz="1495" b="1"/>
            </a:lvl7pPr>
            <a:lvl8pPr marL="2992120" indent="0">
              <a:buNone/>
              <a:defRPr sz="1495" b="1"/>
            </a:lvl8pPr>
            <a:lvl9pPr marL="3420110" indent="0">
              <a:buNone/>
              <a:defRPr sz="149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873076" y="1711326"/>
            <a:ext cx="4240747" cy="3108325"/>
          </a:xfrm>
        </p:spPr>
        <p:txBody>
          <a:bodyPr/>
          <a:lstStyle>
            <a:lvl1pPr>
              <a:defRPr sz="2245"/>
            </a:lvl1pPr>
            <a:lvl2pPr>
              <a:defRPr sz="1870"/>
            </a:lvl2pPr>
            <a:lvl3pPr>
              <a:defRPr sz="1685"/>
            </a:lvl3pPr>
            <a:lvl4pPr>
              <a:defRPr sz="1495"/>
            </a:lvl4pPr>
            <a:lvl5pPr>
              <a:defRPr sz="1495"/>
            </a:lvl5pPr>
            <a:lvl6pPr>
              <a:defRPr sz="1495"/>
            </a:lvl6pPr>
            <a:lvl7pPr>
              <a:defRPr sz="1495"/>
            </a:lvl7pPr>
            <a:lvl8pPr>
              <a:defRPr sz="1495"/>
            </a:lvl8pPr>
            <a:lvl9pPr>
              <a:defRPr sz="149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9441" y="214313"/>
            <a:ext cx="3155698" cy="914400"/>
          </a:xfrm>
        </p:spPr>
        <p:txBody>
          <a:bodyPr anchor="b"/>
          <a:lstStyle>
            <a:lvl1pPr algn="l">
              <a:defRPr sz="187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50918" y="214314"/>
            <a:ext cx="5362905" cy="4605337"/>
          </a:xfrm>
        </p:spPr>
        <p:txBody>
          <a:bodyPr/>
          <a:lstStyle>
            <a:lvl1pPr>
              <a:defRPr sz="2990"/>
            </a:lvl1pPr>
            <a:lvl2pPr>
              <a:defRPr sz="2620"/>
            </a:lvl2pPr>
            <a:lvl3pPr>
              <a:defRPr sz="2245"/>
            </a:lvl3pPr>
            <a:lvl4pPr>
              <a:defRPr sz="1870"/>
            </a:lvl4pPr>
            <a:lvl5pPr>
              <a:defRPr sz="1870"/>
            </a:lvl5pPr>
            <a:lvl6pPr>
              <a:defRPr sz="1870"/>
            </a:lvl6pPr>
            <a:lvl7pPr>
              <a:defRPr sz="1870"/>
            </a:lvl7pPr>
            <a:lvl8pPr>
              <a:defRPr sz="1870"/>
            </a:lvl8pPr>
            <a:lvl9pPr>
              <a:defRPr sz="187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9441" y="1128714"/>
            <a:ext cx="3155698" cy="3690937"/>
          </a:xfrm>
        </p:spPr>
        <p:txBody>
          <a:bodyPr/>
          <a:lstStyle>
            <a:lvl1pPr marL="0" indent="0">
              <a:buNone/>
              <a:defRPr sz="1310"/>
            </a:lvl1pPr>
            <a:lvl2pPr marL="427355" indent="0">
              <a:buNone/>
              <a:defRPr sz="1120"/>
            </a:lvl2pPr>
            <a:lvl3pPr marL="854710" indent="0">
              <a:buNone/>
              <a:defRPr sz="935"/>
            </a:lvl3pPr>
            <a:lvl4pPr marL="1282700" indent="0">
              <a:buNone/>
              <a:defRPr sz="840"/>
            </a:lvl4pPr>
            <a:lvl5pPr marL="1710055" indent="0">
              <a:buNone/>
              <a:defRPr sz="840"/>
            </a:lvl5pPr>
            <a:lvl6pPr marL="2137410" indent="0">
              <a:buNone/>
              <a:defRPr sz="840"/>
            </a:lvl6pPr>
            <a:lvl7pPr marL="2564765" indent="0">
              <a:buNone/>
              <a:defRPr sz="840"/>
            </a:lvl7pPr>
            <a:lvl8pPr marL="2992120" indent="0">
              <a:buNone/>
              <a:defRPr sz="840"/>
            </a:lvl8pPr>
            <a:lvl9pPr marL="3420110" indent="0">
              <a:buNone/>
              <a:defRPr sz="84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80655" y="3776664"/>
            <a:ext cx="5756254" cy="446087"/>
          </a:xfrm>
        </p:spPr>
        <p:txBody>
          <a:bodyPr anchor="b"/>
          <a:lstStyle>
            <a:lvl1pPr algn="l">
              <a:defRPr sz="187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880655" y="482601"/>
            <a:ext cx="5756254" cy="3236913"/>
          </a:xfrm>
        </p:spPr>
        <p:txBody>
          <a:bodyPr/>
          <a:lstStyle>
            <a:lvl1pPr marL="0" indent="0">
              <a:buNone/>
              <a:defRPr sz="2990"/>
            </a:lvl1pPr>
            <a:lvl2pPr marL="427355" indent="0">
              <a:buNone/>
              <a:defRPr sz="2620"/>
            </a:lvl2pPr>
            <a:lvl3pPr marL="854710" indent="0">
              <a:buNone/>
              <a:defRPr sz="2245"/>
            </a:lvl3pPr>
            <a:lvl4pPr marL="1282700" indent="0">
              <a:buNone/>
              <a:defRPr sz="1870"/>
            </a:lvl4pPr>
            <a:lvl5pPr marL="1710055" indent="0">
              <a:buNone/>
              <a:defRPr sz="1870"/>
            </a:lvl5pPr>
            <a:lvl6pPr marL="2137410" indent="0">
              <a:buNone/>
              <a:defRPr sz="1870"/>
            </a:lvl6pPr>
            <a:lvl7pPr marL="2564765" indent="0">
              <a:buNone/>
              <a:defRPr sz="1870"/>
            </a:lvl7pPr>
            <a:lvl8pPr marL="2992120" indent="0">
              <a:buNone/>
              <a:defRPr sz="1870"/>
            </a:lvl8pPr>
            <a:lvl9pPr marL="3420110" indent="0">
              <a:buNone/>
              <a:defRPr sz="187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880655" y="4222751"/>
            <a:ext cx="5756254" cy="633413"/>
          </a:xfrm>
        </p:spPr>
        <p:txBody>
          <a:bodyPr/>
          <a:lstStyle>
            <a:lvl1pPr marL="0" indent="0">
              <a:buNone/>
              <a:defRPr sz="1310"/>
            </a:lvl1pPr>
            <a:lvl2pPr marL="427355" indent="0">
              <a:buNone/>
              <a:defRPr sz="1120"/>
            </a:lvl2pPr>
            <a:lvl3pPr marL="854710" indent="0">
              <a:buNone/>
              <a:defRPr sz="935"/>
            </a:lvl3pPr>
            <a:lvl4pPr marL="1282700" indent="0">
              <a:buNone/>
              <a:defRPr sz="840"/>
            </a:lvl4pPr>
            <a:lvl5pPr marL="1710055" indent="0">
              <a:buNone/>
              <a:defRPr sz="840"/>
            </a:lvl5pPr>
            <a:lvl6pPr marL="2137410" indent="0">
              <a:buNone/>
              <a:defRPr sz="840"/>
            </a:lvl6pPr>
            <a:lvl7pPr marL="2564765" indent="0">
              <a:buNone/>
              <a:defRPr sz="840"/>
            </a:lvl7pPr>
            <a:lvl8pPr marL="2992120" indent="0">
              <a:buNone/>
              <a:defRPr sz="840"/>
            </a:lvl8pPr>
            <a:lvl9pPr marL="3420110" indent="0">
              <a:buNone/>
              <a:defRPr sz="84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55598" y="215900"/>
            <a:ext cx="2158224" cy="4603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79441" y="215900"/>
            <a:ext cx="6333661" cy="4603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9158" y="883082"/>
            <a:ext cx="7194947" cy="1878577"/>
          </a:xfrm>
        </p:spPr>
        <p:txBody>
          <a:bodyPr anchor="b"/>
          <a:lstStyle>
            <a:lvl1pPr algn="ctr">
              <a:defRPr sz="47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9158" y="2834104"/>
            <a:ext cx="7194947" cy="1302763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410" indent="0" algn="ctr">
              <a:buNone/>
              <a:defRPr sz="1575"/>
            </a:lvl2pPr>
            <a:lvl3pPr marL="719455" indent="0" algn="ctr">
              <a:buNone/>
              <a:defRPr sz="1415"/>
            </a:lvl3pPr>
            <a:lvl4pPr marL="1078865" indent="0" algn="ctr">
              <a:buNone/>
              <a:defRPr sz="1260"/>
            </a:lvl4pPr>
            <a:lvl5pPr marL="1438910" indent="0" algn="ctr">
              <a:buNone/>
              <a:defRPr sz="1260"/>
            </a:lvl5pPr>
            <a:lvl6pPr marL="1798320" indent="0" algn="ctr">
              <a:buNone/>
              <a:defRPr sz="1260"/>
            </a:lvl6pPr>
            <a:lvl7pPr marL="2158365" indent="0" algn="ctr">
              <a:buNone/>
              <a:defRPr sz="1260"/>
            </a:lvl7pPr>
            <a:lvl8pPr marL="2517775" indent="0" algn="ctr">
              <a:buNone/>
              <a:defRPr sz="1260"/>
            </a:lvl8pPr>
            <a:lvl9pPr marL="2877820" indent="0" algn="ctr">
              <a:buNone/>
              <a:defRPr sz="12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4541" y="1345232"/>
            <a:ext cx="8274189" cy="2244550"/>
          </a:xfrm>
        </p:spPr>
        <p:txBody>
          <a:bodyPr anchor="b"/>
          <a:lstStyle>
            <a:lvl1pPr>
              <a:defRPr sz="47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54541" y="3611016"/>
            <a:ext cx="8274189" cy="1180356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1pPr>
            <a:lvl2pPr marL="35941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455" indent="0">
              <a:buNone/>
              <a:defRPr sz="1415">
                <a:solidFill>
                  <a:schemeClr val="tx1">
                    <a:tint val="75000"/>
                  </a:schemeClr>
                </a:solidFill>
              </a:defRPr>
            </a:lvl3pPr>
            <a:lvl4pPr marL="107886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891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83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836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77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78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59537" y="1436412"/>
            <a:ext cx="4077137" cy="342365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856589" y="1436412"/>
            <a:ext cx="4077137" cy="342365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787" y="287283"/>
            <a:ext cx="8274189" cy="104296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60787" y="1322748"/>
            <a:ext cx="4058400" cy="648259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410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8865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320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7775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60787" y="1971007"/>
            <a:ext cx="4058400" cy="289905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856590" y="1322748"/>
            <a:ext cx="4078386" cy="648259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410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8865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320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7775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856590" y="1971007"/>
            <a:ext cx="4078386" cy="289905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787" y="359728"/>
            <a:ext cx="3094077" cy="1259046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78386" y="776912"/>
            <a:ext cx="4856589" cy="3834596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60787" y="1618774"/>
            <a:ext cx="3094077" cy="2998979"/>
          </a:xfrm>
        </p:spPr>
        <p:txBody>
          <a:bodyPr/>
          <a:lstStyle>
            <a:lvl1pPr marL="0" indent="0">
              <a:buNone/>
              <a:defRPr sz="1260"/>
            </a:lvl1pPr>
            <a:lvl2pPr marL="359410" indent="0">
              <a:buNone/>
              <a:defRPr sz="1100"/>
            </a:lvl2pPr>
            <a:lvl3pPr marL="719455" indent="0">
              <a:buNone/>
              <a:defRPr sz="945"/>
            </a:lvl3pPr>
            <a:lvl4pPr marL="1078865" indent="0">
              <a:buNone/>
              <a:defRPr sz="785"/>
            </a:lvl4pPr>
            <a:lvl5pPr marL="1438910" indent="0">
              <a:buNone/>
              <a:defRPr sz="785"/>
            </a:lvl5pPr>
            <a:lvl6pPr marL="1798320" indent="0">
              <a:buNone/>
              <a:defRPr sz="785"/>
            </a:lvl6pPr>
            <a:lvl7pPr marL="2158365" indent="0">
              <a:buNone/>
              <a:defRPr sz="785"/>
            </a:lvl7pPr>
            <a:lvl8pPr marL="2517775" indent="0">
              <a:buNone/>
              <a:defRPr sz="785"/>
            </a:lvl8pPr>
            <a:lvl9pPr marL="2877820" indent="0">
              <a:buNone/>
              <a:defRPr sz="785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787" y="359728"/>
            <a:ext cx="3094077" cy="1259046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78386" y="776912"/>
            <a:ext cx="4856589" cy="3834596"/>
          </a:xfrm>
        </p:spPr>
        <p:txBody>
          <a:bodyPr anchor="t"/>
          <a:lstStyle>
            <a:lvl1pPr marL="0" indent="0">
              <a:buNone/>
              <a:defRPr sz="2520"/>
            </a:lvl1pPr>
            <a:lvl2pPr marL="359410" indent="0">
              <a:buNone/>
              <a:defRPr sz="2205"/>
            </a:lvl2pPr>
            <a:lvl3pPr marL="719455" indent="0">
              <a:buNone/>
              <a:defRPr sz="1890"/>
            </a:lvl3pPr>
            <a:lvl4pPr marL="1078865" indent="0">
              <a:buNone/>
              <a:defRPr sz="1575"/>
            </a:lvl4pPr>
            <a:lvl5pPr marL="1438910" indent="0">
              <a:buNone/>
              <a:defRPr sz="1575"/>
            </a:lvl5pPr>
            <a:lvl6pPr marL="1798320" indent="0">
              <a:buNone/>
              <a:defRPr sz="1575"/>
            </a:lvl6pPr>
            <a:lvl7pPr marL="2158365" indent="0">
              <a:buNone/>
              <a:defRPr sz="1575"/>
            </a:lvl7pPr>
            <a:lvl8pPr marL="2517775" indent="0">
              <a:buNone/>
              <a:defRPr sz="1575"/>
            </a:lvl8pPr>
            <a:lvl9pPr marL="2877820" indent="0">
              <a:buNone/>
              <a:defRPr sz="157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60787" y="1618774"/>
            <a:ext cx="3094077" cy="2998979"/>
          </a:xfrm>
        </p:spPr>
        <p:txBody>
          <a:bodyPr/>
          <a:lstStyle>
            <a:lvl1pPr marL="0" indent="0">
              <a:buNone/>
              <a:defRPr sz="1260"/>
            </a:lvl1pPr>
            <a:lvl2pPr marL="359410" indent="0">
              <a:buNone/>
              <a:defRPr sz="1100"/>
            </a:lvl2pPr>
            <a:lvl3pPr marL="719455" indent="0">
              <a:buNone/>
              <a:defRPr sz="945"/>
            </a:lvl3pPr>
            <a:lvl4pPr marL="1078865" indent="0">
              <a:buNone/>
              <a:defRPr sz="785"/>
            </a:lvl4pPr>
            <a:lvl5pPr marL="1438910" indent="0">
              <a:buNone/>
              <a:defRPr sz="785"/>
            </a:lvl5pPr>
            <a:lvl6pPr marL="1798320" indent="0">
              <a:buNone/>
              <a:defRPr sz="785"/>
            </a:lvl6pPr>
            <a:lvl7pPr marL="2158365" indent="0">
              <a:buNone/>
              <a:defRPr sz="785"/>
            </a:lvl7pPr>
            <a:lvl8pPr marL="2517775" indent="0">
              <a:buNone/>
              <a:defRPr sz="785"/>
            </a:lvl8pPr>
            <a:lvl9pPr marL="2877820" indent="0">
              <a:buNone/>
              <a:defRPr sz="785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65179" y="287282"/>
            <a:ext cx="2068547" cy="45727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59537" y="287282"/>
            <a:ext cx="6085726" cy="457278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A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79441" y="215901"/>
            <a:ext cx="8634381" cy="900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9441" y="1258888"/>
            <a:ext cx="8634381" cy="3560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9441" y="5000625"/>
            <a:ext cx="2238378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1E9A6-3BBE-4152-ABC2-7AF76252B6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77414" y="5000625"/>
            <a:ext cx="3038436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875444" y="5000625"/>
            <a:ext cx="2238378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A614B-7A5B-4F2F-9614-821D6EA5116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54710" rtl="0" eaLnBrk="1" latinLnBrk="0" hangingPunct="1">
        <a:spcBef>
          <a:spcPct val="0"/>
        </a:spcBef>
        <a:buNone/>
        <a:defRPr sz="41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675" indent="-320675" algn="l" defTabSz="854710" rtl="0" eaLnBrk="1" latinLnBrk="0" hangingPunct="1">
        <a:spcBef>
          <a:spcPct val="20000"/>
        </a:spcBef>
        <a:buFont typeface="Arial" panose="020B0604020202020204" pitchFamily="34" charset="0"/>
        <a:buChar char="•"/>
        <a:defRPr sz="2990" kern="1200">
          <a:solidFill>
            <a:schemeClr val="tx1"/>
          </a:solidFill>
          <a:latin typeface="+mn-lt"/>
          <a:ea typeface="+mn-ea"/>
          <a:cs typeface="+mn-cs"/>
        </a:defRPr>
      </a:lvl1pPr>
      <a:lvl2pPr marL="694690" indent="-267335" algn="l" defTabSz="85471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20" kern="1200">
          <a:solidFill>
            <a:schemeClr val="tx1"/>
          </a:solidFill>
          <a:latin typeface="+mn-lt"/>
          <a:ea typeface="+mn-ea"/>
          <a:cs typeface="+mn-cs"/>
        </a:defRPr>
      </a:lvl2pPr>
      <a:lvl3pPr marL="1068705" indent="-213995" algn="l" defTabSz="854710" rtl="0" eaLnBrk="1" latinLnBrk="0" hangingPunct="1">
        <a:spcBef>
          <a:spcPct val="20000"/>
        </a:spcBef>
        <a:buFont typeface="Arial" panose="020B0604020202020204" pitchFamily="34" charset="0"/>
        <a:buChar char="•"/>
        <a:defRPr sz="2245" kern="1200">
          <a:solidFill>
            <a:schemeClr val="tx1"/>
          </a:solidFill>
          <a:latin typeface="+mn-lt"/>
          <a:ea typeface="+mn-ea"/>
          <a:cs typeface="+mn-cs"/>
        </a:defRPr>
      </a:lvl3pPr>
      <a:lvl4pPr marL="1496060" indent="-213995" algn="l" defTabSz="854710" rtl="0" eaLnBrk="1" latinLnBrk="0" hangingPunct="1">
        <a:spcBef>
          <a:spcPct val="20000"/>
        </a:spcBef>
        <a:buFont typeface="Arial" panose="020B0604020202020204" pitchFamily="34" charset="0"/>
        <a:buChar char="–"/>
        <a:defRPr sz="1870" kern="1200">
          <a:solidFill>
            <a:schemeClr val="tx1"/>
          </a:solidFill>
          <a:latin typeface="+mn-lt"/>
          <a:ea typeface="+mn-ea"/>
          <a:cs typeface="+mn-cs"/>
        </a:defRPr>
      </a:lvl4pPr>
      <a:lvl5pPr marL="1923415" indent="-213995" algn="l" defTabSz="854710" rtl="0" eaLnBrk="1" latinLnBrk="0" hangingPunct="1">
        <a:spcBef>
          <a:spcPct val="20000"/>
        </a:spcBef>
        <a:buFont typeface="Arial" panose="020B0604020202020204" pitchFamily="34" charset="0"/>
        <a:buChar char="»"/>
        <a:defRPr sz="1870" kern="1200">
          <a:solidFill>
            <a:schemeClr val="tx1"/>
          </a:solidFill>
          <a:latin typeface="+mn-lt"/>
          <a:ea typeface="+mn-ea"/>
          <a:cs typeface="+mn-cs"/>
        </a:defRPr>
      </a:lvl5pPr>
      <a:lvl6pPr marL="2351405" indent="-213995" algn="l" defTabSz="85471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70" kern="1200">
          <a:solidFill>
            <a:schemeClr val="tx1"/>
          </a:solidFill>
          <a:latin typeface="+mn-lt"/>
          <a:ea typeface="+mn-ea"/>
          <a:cs typeface="+mn-cs"/>
        </a:defRPr>
      </a:lvl6pPr>
      <a:lvl7pPr marL="2778760" indent="-213995" algn="l" defTabSz="85471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70" kern="1200">
          <a:solidFill>
            <a:schemeClr val="tx1"/>
          </a:solidFill>
          <a:latin typeface="+mn-lt"/>
          <a:ea typeface="+mn-ea"/>
          <a:cs typeface="+mn-cs"/>
        </a:defRPr>
      </a:lvl7pPr>
      <a:lvl8pPr marL="3206115" indent="-213995" algn="l" defTabSz="85471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70" kern="1200">
          <a:solidFill>
            <a:schemeClr val="tx1"/>
          </a:solidFill>
          <a:latin typeface="+mn-lt"/>
          <a:ea typeface="+mn-ea"/>
          <a:cs typeface="+mn-cs"/>
        </a:defRPr>
      </a:lvl8pPr>
      <a:lvl9pPr marL="3633470" indent="-213995" algn="l" defTabSz="85471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54710" rtl="0" eaLnBrk="1" latinLnBrk="0" hangingPunct="1">
        <a:defRPr sz="1685" kern="1200">
          <a:solidFill>
            <a:schemeClr val="tx1"/>
          </a:solidFill>
          <a:latin typeface="+mn-lt"/>
          <a:ea typeface="+mn-ea"/>
          <a:cs typeface="+mn-cs"/>
        </a:defRPr>
      </a:lvl1pPr>
      <a:lvl2pPr marL="427355" algn="l" defTabSz="854710" rtl="0" eaLnBrk="1" latinLnBrk="0" hangingPunct="1">
        <a:defRPr sz="1685" kern="1200">
          <a:solidFill>
            <a:schemeClr val="tx1"/>
          </a:solidFill>
          <a:latin typeface="+mn-lt"/>
          <a:ea typeface="+mn-ea"/>
          <a:cs typeface="+mn-cs"/>
        </a:defRPr>
      </a:lvl2pPr>
      <a:lvl3pPr marL="854710" algn="l" defTabSz="854710" rtl="0" eaLnBrk="1" latinLnBrk="0" hangingPunct="1">
        <a:defRPr sz="1685" kern="1200">
          <a:solidFill>
            <a:schemeClr val="tx1"/>
          </a:solidFill>
          <a:latin typeface="+mn-lt"/>
          <a:ea typeface="+mn-ea"/>
          <a:cs typeface="+mn-cs"/>
        </a:defRPr>
      </a:lvl3pPr>
      <a:lvl4pPr marL="1282700" algn="l" defTabSz="854710" rtl="0" eaLnBrk="1" latinLnBrk="0" hangingPunct="1">
        <a:defRPr sz="1685" kern="1200">
          <a:solidFill>
            <a:schemeClr val="tx1"/>
          </a:solidFill>
          <a:latin typeface="+mn-lt"/>
          <a:ea typeface="+mn-ea"/>
          <a:cs typeface="+mn-cs"/>
        </a:defRPr>
      </a:lvl4pPr>
      <a:lvl5pPr marL="1710055" algn="l" defTabSz="854710" rtl="0" eaLnBrk="1" latinLnBrk="0" hangingPunct="1">
        <a:defRPr sz="1685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algn="l" defTabSz="854710" rtl="0" eaLnBrk="1" latinLnBrk="0" hangingPunct="1">
        <a:defRPr sz="1685" kern="1200">
          <a:solidFill>
            <a:schemeClr val="tx1"/>
          </a:solidFill>
          <a:latin typeface="+mn-lt"/>
          <a:ea typeface="+mn-ea"/>
          <a:cs typeface="+mn-cs"/>
        </a:defRPr>
      </a:lvl6pPr>
      <a:lvl7pPr marL="2564765" algn="l" defTabSz="854710" rtl="0" eaLnBrk="1" latinLnBrk="0" hangingPunct="1">
        <a:defRPr sz="1685" kern="1200">
          <a:solidFill>
            <a:schemeClr val="tx1"/>
          </a:solidFill>
          <a:latin typeface="+mn-lt"/>
          <a:ea typeface="+mn-ea"/>
          <a:cs typeface="+mn-cs"/>
        </a:defRPr>
      </a:lvl7pPr>
      <a:lvl8pPr marL="2992120" algn="l" defTabSz="854710" rtl="0" eaLnBrk="1" latinLnBrk="0" hangingPunct="1">
        <a:defRPr sz="1685" kern="1200">
          <a:solidFill>
            <a:schemeClr val="tx1"/>
          </a:solidFill>
          <a:latin typeface="+mn-lt"/>
          <a:ea typeface="+mn-ea"/>
          <a:cs typeface="+mn-cs"/>
        </a:defRPr>
      </a:lvl8pPr>
      <a:lvl9pPr marL="3420110" algn="l" defTabSz="854710" rtl="0" eaLnBrk="1" latinLnBrk="0" hangingPunct="1">
        <a:defRPr sz="16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9537" y="287283"/>
            <a:ext cx="8274189" cy="104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9537" y="1436412"/>
            <a:ext cx="8274189" cy="3423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9537" y="5001213"/>
            <a:ext cx="2158484" cy="2872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77769" y="5001213"/>
            <a:ext cx="3237726" cy="2872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75242" y="5001213"/>
            <a:ext cx="2158484" cy="2872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</a:fld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3744" y="5090762"/>
            <a:ext cx="1569942" cy="202339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83634" y="5090762"/>
            <a:ext cx="1253869" cy="236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35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▲</a:t>
            </a:r>
            <a:r>
              <a:rPr lang="zh-CN" altLang="en-US" sz="84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版权归经世教育所有</a:t>
            </a:r>
            <a:endParaRPr lang="zh-CN" altLang="en-US" sz="84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719455" rtl="0" eaLnBrk="1" latinLnBrk="0" hangingPunct="1">
        <a:lnSpc>
          <a:spcPct val="90000"/>
        </a:lnSpc>
        <a:spcBef>
          <a:spcPct val="0"/>
        </a:spcBef>
        <a:buNone/>
        <a:defRPr sz="34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705" indent="-179705" algn="l" defTabSz="719455" rtl="0" eaLnBrk="1" latinLnBrk="0" hangingPunct="1">
        <a:lnSpc>
          <a:spcPct val="90000"/>
        </a:lnSpc>
        <a:spcBef>
          <a:spcPts val="785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39750" indent="-179705" algn="l" defTabSz="719455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160" indent="-179705" algn="l" defTabSz="719455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205" indent="-179705" algn="l" defTabSz="719455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618615" indent="-179705" algn="l" defTabSz="719455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978660" indent="-179705" algn="l" defTabSz="719455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338070" indent="-179705" algn="l" defTabSz="719455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698115" indent="-179705" algn="l" defTabSz="719455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3057525" indent="-179705" algn="l" defTabSz="719455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1pPr>
      <a:lvl2pPr marL="3594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2pPr>
      <a:lvl3pPr marL="7194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3pPr>
      <a:lvl4pPr marL="107886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4389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79832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15836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51777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287782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3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3.png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3.png"/><Relationship Id="rId4" Type="http://schemas.openxmlformats.org/officeDocument/2006/relationships/image" Target="../media/image13.jpeg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3.png"/><Relationship Id="rId4" Type="http://schemas.openxmlformats.org/officeDocument/2006/relationships/image" Target="../media/image16.jpeg"/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3.png"/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3.png"/><Relationship Id="rId2" Type="http://schemas.openxmlformats.org/officeDocument/2006/relationships/hyperlink" Target="http://baike.baidu.com/view/154369.htm" TargetMode="Externa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水印.png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501" y="361640"/>
            <a:ext cx="1816233" cy="424520"/>
          </a:xfrm>
          <a:prstGeom prst="rect">
            <a:avLst/>
          </a:prstGeom>
        </p:spPr>
      </p:pic>
      <p:sp>
        <p:nvSpPr>
          <p:cNvPr id="21" name="圆角矩形 20"/>
          <p:cNvSpPr/>
          <p:nvPr/>
        </p:nvSpPr>
        <p:spPr>
          <a:xfrm>
            <a:off x="1340247" y="1822569"/>
            <a:ext cx="6984776" cy="1866659"/>
          </a:xfrm>
          <a:prstGeom prst="roundRect">
            <a:avLst>
              <a:gd name="adj" fmla="val 6740"/>
            </a:avLst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5"/>
          </a:p>
        </p:txBody>
      </p:sp>
      <p:sp>
        <p:nvSpPr>
          <p:cNvPr id="18" name="圆角矩形 17"/>
          <p:cNvSpPr/>
          <p:nvPr/>
        </p:nvSpPr>
        <p:spPr>
          <a:xfrm>
            <a:off x="2803192" y="1620700"/>
            <a:ext cx="4106860" cy="404333"/>
          </a:xfrm>
          <a:prstGeom prst="round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5"/>
          </a:p>
        </p:txBody>
      </p:sp>
      <p:sp>
        <p:nvSpPr>
          <p:cNvPr id="2" name="文本框 1"/>
          <p:cNvSpPr txBox="1"/>
          <p:nvPr/>
        </p:nvSpPr>
        <p:spPr>
          <a:xfrm>
            <a:off x="2943312" y="1665230"/>
            <a:ext cx="3660966" cy="292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131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通信</a:t>
            </a:r>
            <a:r>
              <a:rPr kumimoji="1" lang="zh-CN" altLang="en-US" sz="131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工程设计</a:t>
            </a:r>
            <a:endParaRPr kumimoji="1" lang="zh-CN" altLang="en-US" sz="131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348230" y="2362835"/>
            <a:ext cx="5212080" cy="756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>
              <a:lnSpc>
                <a:spcPct val="120000"/>
              </a:lnSpc>
            </a:pPr>
            <a:r>
              <a:rPr kumimoji="1" lang="zh-CN" altLang="en-US" sz="3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通信工程类别简介</a:t>
            </a:r>
            <a:endParaRPr kumimoji="1" lang="zh-CN" altLang="en-US" sz="32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5539713" y="3659881"/>
            <a:ext cx="70654" cy="7065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sz="1685">
              <a:sym typeface="+mn-ea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4114751" y="3659881"/>
            <a:ext cx="70654" cy="7065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sz="1685">
              <a:sym typeface="+mn-ea"/>
            </a:endParaRPr>
          </a:p>
        </p:txBody>
      </p:sp>
      <p:pic>
        <p:nvPicPr>
          <p:cNvPr id="3081" name="图片 5" descr="校徽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570" y="177800"/>
            <a:ext cx="2462530" cy="743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3932555" y="3418205"/>
            <a:ext cx="2030730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电子信息学科</a:t>
            </a:r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研究院</a:t>
            </a:r>
            <a:endParaRPr kumimoji="1" lang="zh-CN" altLang="en-US"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>
              <a:lnSpc>
                <a:spcPct val="100000"/>
              </a:lnSpc>
            </a:pPr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彭泓森</a:t>
            </a:r>
            <a:r>
              <a:rPr kumimoji="1" lang="en-US" altLang="zh-CN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讲师 </a:t>
            </a:r>
            <a:endParaRPr kumimoji="1" lang="en-US" altLang="zh-CN"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水印.png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501" y="361640"/>
            <a:ext cx="1816233" cy="424520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1769923" y="1221488"/>
            <a:ext cx="5759869" cy="573547"/>
            <a:chOff x="4260" y="638"/>
            <a:chExt cx="8921" cy="966"/>
          </a:xfrm>
        </p:grpSpPr>
        <p:sp>
          <p:nvSpPr>
            <p:cNvPr id="82" name="矩形 81"/>
            <p:cNvSpPr/>
            <p:nvPr/>
          </p:nvSpPr>
          <p:spPr>
            <a:xfrm>
              <a:off x="11754" y="1545"/>
              <a:ext cx="1427" cy="59"/>
            </a:xfrm>
            <a:prstGeom prst="rect">
              <a:avLst/>
            </a:prstGeom>
            <a:solidFill>
              <a:srgbClr val="CBCB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5" dirty="0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7277" y="638"/>
              <a:ext cx="2902" cy="785"/>
            </a:xfrm>
            <a:prstGeom prst="round2SameRect">
              <a:avLst>
                <a:gd name="adj1" fmla="val 27581"/>
                <a:gd name="adj2" fmla="val 0"/>
              </a:avLst>
            </a:prstGeom>
            <a:solidFill>
              <a:srgbClr val="28A6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990" b="1" dirty="0">
                  <a:latin typeface="微软雅黑" panose="020B0503020204020204" charset="-122"/>
                  <a:ea typeface="微软雅黑" panose="020B0503020204020204" charset="-122"/>
                </a:rPr>
                <a:t>目    录</a:t>
              </a:r>
              <a:endParaRPr lang="zh-CN" altLang="en-US" sz="299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4" name="矩形 83"/>
            <p:cNvSpPr/>
            <p:nvPr/>
          </p:nvSpPr>
          <p:spPr>
            <a:xfrm>
              <a:off x="4260" y="1545"/>
              <a:ext cx="1427" cy="59"/>
            </a:xfrm>
            <a:prstGeom prst="rect">
              <a:avLst/>
            </a:prstGeom>
            <a:solidFill>
              <a:srgbClr val="E400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5" dirty="0"/>
            </a:p>
          </p:txBody>
        </p:sp>
        <p:sp>
          <p:nvSpPr>
            <p:cNvPr id="85" name="矩形 84"/>
            <p:cNvSpPr/>
            <p:nvPr/>
          </p:nvSpPr>
          <p:spPr>
            <a:xfrm>
              <a:off x="5759" y="1545"/>
              <a:ext cx="1427" cy="59"/>
            </a:xfrm>
            <a:prstGeom prst="rect">
              <a:avLst/>
            </a:prstGeom>
            <a:solidFill>
              <a:srgbClr val="8EC6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5" dirty="0"/>
            </a:p>
          </p:txBody>
        </p:sp>
        <p:sp>
          <p:nvSpPr>
            <p:cNvPr id="86" name="矩形 85"/>
            <p:cNvSpPr/>
            <p:nvPr/>
          </p:nvSpPr>
          <p:spPr>
            <a:xfrm>
              <a:off x="7258" y="1545"/>
              <a:ext cx="1427" cy="59"/>
            </a:xfrm>
            <a:prstGeom prst="rect">
              <a:avLst/>
            </a:prstGeom>
            <a:solidFill>
              <a:srgbClr val="EF82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5" dirty="0"/>
            </a:p>
          </p:txBody>
        </p:sp>
        <p:sp>
          <p:nvSpPr>
            <p:cNvPr id="87" name="矩形 86"/>
            <p:cNvSpPr/>
            <p:nvPr/>
          </p:nvSpPr>
          <p:spPr>
            <a:xfrm>
              <a:off x="8756" y="1545"/>
              <a:ext cx="1427" cy="59"/>
            </a:xfrm>
            <a:prstGeom prst="rect">
              <a:avLst/>
            </a:prstGeom>
            <a:solidFill>
              <a:srgbClr val="28A6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5" dirty="0"/>
            </a:p>
          </p:txBody>
        </p:sp>
        <p:sp>
          <p:nvSpPr>
            <p:cNvPr id="88" name="矩形 87"/>
            <p:cNvSpPr/>
            <p:nvPr/>
          </p:nvSpPr>
          <p:spPr>
            <a:xfrm>
              <a:off x="10255" y="1545"/>
              <a:ext cx="1427" cy="59"/>
            </a:xfrm>
            <a:prstGeom prst="rect">
              <a:avLst/>
            </a:prstGeom>
            <a:solidFill>
              <a:srgbClr val="CF01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5" dirty="0"/>
            </a:p>
          </p:txBody>
        </p:sp>
      </p:grpSp>
      <p:cxnSp>
        <p:nvCxnSpPr>
          <p:cNvPr id="52" name="直接连接符 51"/>
          <p:cNvCxnSpPr/>
          <p:nvPr/>
        </p:nvCxnSpPr>
        <p:spPr>
          <a:xfrm>
            <a:off x="1993166" y="3404649"/>
            <a:ext cx="4938682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1993166" y="2683261"/>
            <a:ext cx="4938682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2380875" y="3498900"/>
            <a:ext cx="4550974" cy="495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62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62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三、其他类别工程介绍</a:t>
            </a:r>
            <a:endParaRPr lang="zh-CN" altLang="en-US" sz="262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2380875" y="2080621"/>
            <a:ext cx="4550974" cy="495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20675">
              <a:spcBef>
                <a:spcPct val="20000"/>
              </a:spcBef>
            </a:pPr>
            <a:r>
              <a:rPr lang="en-US" altLang="zh-CN" sz="2620" b="1" dirty="0">
                <a:solidFill>
                  <a:srgbClr val="F256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62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一、有线通信工程</a:t>
            </a:r>
            <a:endParaRPr lang="en-US" altLang="zh-CN" sz="262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1993166" y="4077350"/>
            <a:ext cx="4938682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348359" y="2769964"/>
            <a:ext cx="4550974" cy="495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62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62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二、无线通信工程</a:t>
            </a:r>
            <a:endParaRPr lang="zh-CN" altLang="en-US" sz="262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081" name="图片 5" descr="校徽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570" y="177800"/>
            <a:ext cx="2462530" cy="743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20276" y="341457"/>
            <a:ext cx="6328883" cy="471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一、有线通信工程</a:t>
            </a:r>
            <a:endParaRPr kumimoji="1" lang="en-US" altLang="zh-CN" sz="224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20276" y="812757"/>
            <a:ext cx="8550724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80207" y="1313386"/>
            <a:ext cx="7488831" cy="3976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79730">
              <a:lnSpc>
                <a:spcPct val="150000"/>
              </a:lnSpc>
            </a:pPr>
            <a:r>
              <a:rPr kumimoji="1" lang="zh-CN" altLang="zh-CN" sz="1495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光缆工程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：设计内容包括光缆的选型、光缆芯数的确定、光缆成端、光缆配盘、光缆敷设、光缆交接箱和分线箱、终端盒的设立等。全光网是通网络发展的必然趋势，所以</a:t>
            </a:r>
            <a:r>
              <a:rPr kumimoji="1" lang="zh-CN" altLang="zh-CN" sz="1495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光缆工程是学习的重点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kumimoji="1" lang="en-US" altLang="zh-CN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379730">
              <a:lnSpc>
                <a:spcPct val="150000"/>
              </a:lnSpc>
            </a:pPr>
            <a:endParaRPr kumimoji="1" lang="en-US" altLang="zh-CN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>
              <a:lnSpc>
                <a:spcPct val="150000"/>
              </a:lnSpc>
            </a:pPr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kumimoji="1" lang="zh-CN" altLang="zh-CN" sz="1495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电缆工程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：设计内容包括电缆的选型、电缆容量、配线方式、电缆成端、电缆配盘、电缆敷设、电缆分配、电缆交接箱和分线箱（盒）的设立等。目前，全国范围内都在大力推进</a:t>
            </a:r>
            <a:r>
              <a:rPr kumimoji="1" lang="zh-CN" altLang="zh-CN" sz="1495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光进铜退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工程，随着光缆的到楼和入户，电缆将逐渐退出历史舞台。所以本课程中，我们不要求对电缆方面花大气力学习，了解基本知识，能够满足退铜工程需要即可。</a:t>
            </a:r>
            <a:endParaRPr kumimoji="1" lang="zh-CN" altLang="en-US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1">
              <a:lnSpc>
                <a:spcPct val="150000"/>
              </a:lnSpc>
            </a:pPr>
            <a:endParaRPr kumimoji="1" lang="zh-CN" altLang="en-US" sz="187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1" indent="379730">
              <a:lnSpc>
                <a:spcPct val="150000"/>
              </a:lnSpc>
            </a:pPr>
            <a:endParaRPr kumimoji="1" lang="zh-CN" altLang="en-US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379730">
              <a:lnSpc>
                <a:spcPct val="150000"/>
              </a:lnSpc>
            </a:pPr>
            <a:endParaRPr kumimoji="1" lang="zh-CN" altLang="en-US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5" name="图片 4" descr="水印.png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501" y="361640"/>
            <a:ext cx="1816233" cy="424520"/>
          </a:xfrm>
          <a:prstGeom prst="rect">
            <a:avLst/>
          </a:prstGeom>
        </p:spPr>
      </p:pic>
      <p:pic>
        <p:nvPicPr>
          <p:cNvPr id="3081" name="图片 5" descr="校徽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570" y="177800"/>
            <a:ext cx="2462530" cy="743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20276" y="341457"/>
            <a:ext cx="6328883" cy="471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一、有线通信工程</a:t>
            </a:r>
            <a:endParaRPr kumimoji="1" lang="en-US" altLang="zh-CN" sz="224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20276" y="812757"/>
            <a:ext cx="8550724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80207" y="1313386"/>
            <a:ext cx="7488831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79730">
              <a:lnSpc>
                <a:spcPct val="150000"/>
              </a:lnSpc>
            </a:pPr>
            <a:r>
              <a:rPr kumimoji="1" lang="zh-CN" altLang="zh-CN" sz="1495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管道工程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：包括管道路由、管道容量、人手孔位置及规格的确定和一些有特殊要求的施工工艺等。</a:t>
            </a:r>
            <a:endParaRPr kumimoji="1" lang="en-US" altLang="zh-CN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379730">
              <a:lnSpc>
                <a:spcPct val="150000"/>
              </a:lnSpc>
            </a:pPr>
            <a:endParaRPr kumimoji="1" lang="en-US" altLang="zh-CN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379730">
              <a:lnSpc>
                <a:spcPct val="150000"/>
              </a:lnSpc>
            </a:pPr>
            <a:r>
              <a:rPr kumimoji="1" lang="zh-CN" altLang="zh-CN" sz="1495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杆路工程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 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包括杆路路由、电杆位置、吊线程式、电杆的加固及接地、拉线、撑杆等。</a:t>
            </a:r>
            <a:endParaRPr kumimoji="1" lang="en-US" altLang="zh-CN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lvl="1" indent="379730">
              <a:lnSpc>
                <a:spcPct val="150000"/>
              </a:lnSpc>
            </a:pPr>
            <a:endParaRPr kumimoji="1" lang="zh-CN" altLang="en-US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379730">
              <a:lnSpc>
                <a:spcPct val="150000"/>
              </a:lnSpc>
            </a:pPr>
            <a:r>
              <a:rPr kumimoji="1" lang="en-US" altLang="zh-CN" sz="1495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PON(Passive Optical Network，无源光网络)</a:t>
            </a:r>
            <a:r>
              <a:rPr kumimoji="1" lang="zh-CN" altLang="zh-CN" sz="1495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接入工程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：用户采用</a:t>
            </a:r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PON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技术接入的全套设计，包括光缆工程、用户端设备安装、综合布线等。</a:t>
            </a:r>
            <a:endParaRPr kumimoji="1" lang="zh-CN" altLang="en-US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5" name="图片 4" descr="水印.png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501" y="361640"/>
            <a:ext cx="1816233" cy="424520"/>
          </a:xfrm>
          <a:prstGeom prst="rect">
            <a:avLst/>
          </a:prstGeom>
        </p:spPr>
      </p:pic>
      <p:pic>
        <p:nvPicPr>
          <p:cNvPr id="3081" name="图片 5" descr="校徽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570" y="177800"/>
            <a:ext cx="2462530" cy="743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20276" y="341457"/>
            <a:ext cx="6328883" cy="471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二、无线通信工程</a:t>
            </a:r>
            <a:endParaRPr kumimoji="1" lang="en-US" altLang="zh-CN" sz="224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20276" y="812757"/>
            <a:ext cx="8550724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水印.png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501" y="361640"/>
            <a:ext cx="1816233" cy="4245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10565" y="1185545"/>
            <a:ext cx="8400415" cy="355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无线通信工程又叫基站工程，在通信网络中直接负责和用户进行数据的传送。本节课我们重点学习其中的移动通信基站</a:t>
            </a:r>
            <a:r>
              <a:rPr kumimoji="1" lang="zh-CN" altLang="en-US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部分。</a:t>
            </a:r>
            <a:r>
              <a:rPr kumimoji="1" lang="zh-CN" altLang="en-US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移动通信基站工程的主要内容是安装基站设备，基站设备一般分为三部分：</a:t>
            </a:r>
            <a:endParaRPr kumimoji="1" lang="en-US" altLang="zh-CN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基站</a:t>
            </a:r>
            <a:r>
              <a:rPr kumimoji="1" lang="zh-CN" altLang="en-US" sz="1495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主设备</a:t>
            </a:r>
            <a:r>
              <a:rPr kumimoji="1" lang="zh-CN" altLang="en-US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kumimoji="1" lang="zh-CN" altLang="en-US" sz="1495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配套设备</a:t>
            </a:r>
            <a:r>
              <a:rPr kumimoji="1" lang="zh-CN" altLang="en-US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kumimoji="1" lang="zh-CN" altLang="en-US" sz="1495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附属设备</a:t>
            </a:r>
            <a:r>
              <a:rPr kumimoji="1" lang="zh-CN" altLang="en-US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kumimoji="1" lang="en-US" altLang="zh-CN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kumimoji="1" lang="zh-CN" altLang="zh-CN" sz="1495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基站主设备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是指基站收发信机。可看作一个</a:t>
            </a:r>
            <a:r>
              <a:rPr kumimoji="1" lang="zh-CN" altLang="zh-CN" sz="1495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无线调制解调器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，负责移动信号的接收、发送处理。</a:t>
            </a:r>
            <a:endParaRPr kumimoji="1" lang="en-US" altLang="zh-CN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kumimoji="1" lang="zh-CN" altLang="en-US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常见的基站主设备有两种，一种是早期的</a:t>
            </a:r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BTS(</a:t>
            </a:r>
            <a:r>
              <a:rPr kumimoji="1" lang="zh-CN" altLang="en-US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基站收发信台，</a:t>
            </a:r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 Transiver Station)</a:t>
            </a:r>
            <a:r>
              <a:rPr kumimoji="1" lang="zh-CN" altLang="en-US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设备，一种是分布式设备</a:t>
            </a:r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BBU(室内基带处理单元，Building Baseband Unit)+RRU(射频拉远单元，Remote Radio Unit)</a:t>
            </a:r>
            <a:r>
              <a:rPr kumimoji="1" lang="zh-CN" altLang="en-US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kumimoji="1" lang="en-US" altLang="zh-CN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kumimoji="1" lang="zh-CN" altLang="en-US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由于近年来分布式设备使用更广泛，下面我们重点介绍</a:t>
            </a:r>
            <a:r>
              <a:rPr kumimoji="1" lang="zh-CN" altLang="en-US" sz="1495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分布式设备</a:t>
            </a:r>
            <a:r>
              <a:rPr kumimoji="1" lang="zh-CN" altLang="en-US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kumimoji="1" lang="zh-CN" altLang="en-US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81" name="图片 5" descr="校徽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570" y="177800"/>
            <a:ext cx="2462530" cy="743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20276" y="341457"/>
            <a:ext cx="6328883" cy="506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二、无线通信工程</a:t>
            </a:r>
            <a:r>
              <a:rPr kumimoji="1" lang="en-US" altLang="zh-CN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----</a:t>
            </a:r>
            <a:r>
              <a:rPr kumimoji="1" lang="zh-CN" altLang="en-US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主设备之</a:t>
            </a:r>
            <a:r>
              <a:rPr kumimoji="1" lang="en-US" altLang="zh-CN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BBU</a:t>
            </a:r>
            <a:endParaRPr kumimoji="1" lang="en-US" altLang="zh-CN" sz="224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20276" y="812757"/>
            <a:ext cx="8550724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水印.png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501" y="361640"/>
            <a:ext cx="1816233" cy="424520"/>
          </a:xfrm>
          <a:prstGeom prst="rect">
            <a:avLst/>
          </a:prstGeom>
        </p:spPr>
      </p:pic>
      <p:grpSp>
        <p:nvGrpSpPr>
          <p:cNvPr id="7" name="Group 34"/>
          <p:cNvGrpSpPr/>
          <p:nvPr/>
        </p:nvGrpSpPr>
        <p:grpSpPr bwMode="auto">
          <a:xfrm>
            <a:off x="2564130" y="2103120"/>
            <a:ext cx="6537325" cy="2787015"/>
            <a:chOff x="300" y="1026"/>
            <a:chExt cx="5216" cy="2223"/>
          </a:xfrm>
        </p:grpSpPr>
        <p:pic>
          <p:nvPicPr>
            <p:cNvPr id="8" name="Picture 20" descr="820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0" y="1328"/>
              <a:ext cx="5216" cy="1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AutoShape 21"/>
            <p:cNvSpPr>
              <a:spLocks noChangeArrowheads="1"/>
            </p:cNvSpPr>
            <p:nvPr/>
          </p:nvSpPr>
          <p:spPr bwMode="auto">
            <a:xfrm>
              <a:off x="2290" y="1026"/>
              <a:ext cx="1270" cy="227"/>
            </a:xfrm>
            <a:prstGeom prst="wedgeRoundRectCallout">
              <a:avLst>
                <a:gd name="adj1" fmla="val -49764"/>
                <a:gd name="adj2" fmla="val 226213"/>
                <a:gd name="adj3" fmla="val 16667"/>
              </a:avLst>
            </a:prstGeom>
            <a:solidFill>
              <a:schemeClr val="accent1"/>
            </a:solidFill>
            <a:ln w="9525" algn="ctr">
              <a:solidFill>
                <a:schemeClr val="bg2"/>
              </a:solidFill>
              <a:miter lim="800000"/>
            </a:ln>
          </p:spPr>
          <p:txBody>
            <a:bodyPr/>
            <a:lstStyle/>
            <a:p>
              <a:r>
                <a:rPr lang="zh-CN" altLang="en-US" sz="1200" dirty="0">
                  <a:solidFill>
                    <a:schemeClr val="bg1"/>
                  </a:solidFill>
                </a:rPr>
                <a:t>网络交换模块</a:t>
              </a:r>
              <a:r>
                <a:rPr lang="en-US" altLang="zh-CN" sz="1200" dirty="0">
                  <a:solidFill>
                    <a:schemeClr val="bg1"/>
                  </a:solidFill>
                </a:rPr>
                <a:t>FS</a:t>
              </a:r>
              <a:endParaRPr lang="en-US" altLang="zh-CN" sz="1200" dirty="0">
                <a:solidFill>
                  <a:schemeClr val="bg1"/>
                </a:solidFill>
              </a:endParaRPr>
            </a:p>
          </p:txBody>
        </p:sp>
        <p:sp>
          <p:nvSpPr>
            <p:cNvPr id="10" name="AutoShape 26"/>
            <p:cNvSpPr>
              <a:spLocks noChangeArrowheads="1"/>
            </p:cNvSpPr>
            <p:nvPr/>
          </p:nvSpPr>
          <p:spPr bwMode="auto">
            <a:xfrm>
              <a:off x="748" y="1026"/>
              <a:ext cx="1270" cy="227"/>
            </a:xfrm>
            <a:prstGeom prst="wedgeRoundRectCallout">
              <a:avLst>
                <a:gd name="adj1" fmla="val -49764"/>
                <a:gd name="adj2" fmla="val 226213"/>
                <a:gd name="adj3" fmla="val 16667"/>
              </a:avLst>
            </a:prstGeom>
            <a:solidFill>
              <a:schemeClr val="accent1"/>
            </a:solidFill>
            <a:ln w="9525" algn="ctr">
              <a:solidFill>
                <a:schemeClr val="bg2"/>
              </a:solidFill>
              <a:miter lim="800000"/>
            </a:ln>
          </p:spPr>
          <p:txBody>
            <a:bodyPr/>
            <a:lstStyle/>
            <a:p>
              <a:r>
                <a:rPr lang="zh-CN" altLang="en-US" sz="1200" dirty="0">
                  <a:solidFill>
                    <a:schemeClr val="bg1"/>
                  </a:solidFill>
                </a:rPr>
                <a:t>电源模块</a:t>
              </a:r>
              <a:r>
                <a:rPr lang="en-US" altLang="zh-CN" sz="1200" dirty="0">
                  <a:solidFill>
                    <a:schemeClr val="bg1"/>
                  </a:solidFill>
                </a:rPr>
                <a:t>PM</a:t>
              </a:r>
              <a:endParaRPr lang="en-US" altLang="zh-CN" sz="1200" dirty="0">
                <a:solidFill>
                  <a:schemeClr val="bg1"/>
                </a:solidFill>
              </a:endParaRPr>
            </a:p>
          </p:txBody>
        </p:sp>
        <p:sp>
          <p:nvSpPr>
            <p:cNvPr id="11" name="AutoShape 27"/>
            <p:cNvSpPr>
              <a:spLocks noChangeArrowheads="1"/>
            </p:cNvSpPr>
            <p:nvPr/>
          </p:nvSpPr>
          <p:spPr bwMode="auto">
            <a:xfrm>
              <a:off x="3833" y="1026"/>
              <a:ext cx="1270" cy="227"/>
            </a:xfrm>
            <a:prstGeom prst="wedgeRoundRectCallout">
              <a:avLst>
                <a:gd name="adj1" fmla="val -49764"/>
                <a:gd name="adj2" fmla="val 226213"/>
                <a:gd name="adj3" fmla="val 16667"/>
              </a:avLst>
            </a:prstGeom>
            <a:solidFill>
              <a:schemeClr val="accent1"/>
            </a:solidFill>
            <a:ln w="9525" algn="ctr">
              <a:solidFill>
                <a:schemeClr val="bg2"/>
              </a:solidFill>
              <a:miter lim="800000"/>
            </a:ln>
          </p:spPr>
          <p:txBody>
            <a:bodyPr/>
            <a:lstStyle/>
            <a:p>
              <a:r>
                <a:rPr lang="zh-CN" altLang="en-US" sz="1200" dirty="0">
                  <a:solidFill>
                    <a:schemeClr val="bg1"/>
                  </a:solidFill>
                </a:rPr>
                <a:t>基带处理板</a:t>
              </a:r>
              <a:r>
                <a:rPr lang="en-US" altLang="zh-CN" sz="1200" dirty="0">
                  <a:solidFill>
                    <a:schemeClr val="bg1"/>
                  </a:solidFill>
                </a:rPr>
                <a:t>BPC</a:t>
              </a:r>
              <a:endParaRPr lang="en-US" altLang="zh-CN" sz="1200" dirty="0">
                <a:solidFill>
                  <a:schemeClr val="bg1"/>
                </a:solidFill>
              </a:endParaRPr>
            </a:p>
          </p:txBody>
        </p:sp>
        <p:sp>
          <p:nvSpPr>
            <p:cNvPr id="12" name="AutoShape 29"/>
            <p:cNvSpPr>
              <a:spLocks noChangeArrowheads="1"/>
            </p:cNvSpPr>
            <p:nvPr/>
          </p:nvSpPr>
          <p:spPr bwMode="auto">
            <a:xfrm>
              <a:off x="3515" y="3022"/>
              <a:ext cx="1270" cy="227"/>
            </a:xfrm>
            <a:prstGeom prst="wedgeRoundRectCallout">
              <a:avLst>
                <a:gd name="adj1" fmla="val 62597"/>
                <a:gd name="adj2" fmla="val -387884"/>
                <a:gd name="adj3" fmla="val 16667"/>
              </a:avLst>
            </a:prstGeom>
            <a:solidFill>
              <a:schemeClr val="accent1"/>
            </a:solidFill>
            <a:ln w="9525" algn="ctr">
              <a:solidFill>
                <a:schemeClr val="bg2"/>
              </a:solidFill>
              <a:miter lim="800000"/>
            </a:ln>
          </p:spPr>
          <p:txBody>
            <a:bodyPr/>
            <a:lstStyle/>
            <a:p>
              <a:r>
                <a:rPr lang="zh-CN" altLang="en-US" sz="1200" dirty="0">
                  <a:solidFill>
                    <a:schemeClr val="bg1"/>
                  </a:solidFill>
                </a:rPr>
                <a:t>风扇模块</a:t>
              </a:r>
              <a:r>
                <a:rPr lang="en-US" altLang="zh-CN" sz="1200" dirty="0">
                  <a:solidFill>
                    <a:schemeClr val="bg1"/>
                  </a:solidFill>
                </a:rPr>
                <a:t>FA</a:t>
              </a:r>
              <a:endParaRPr lang="en-US" altLang="zh-CN" sz="1200" dirty="0">
                <a:solidFill>
                  <a:schemeClr val="bg1"/>
                </a:solidFill>
              </a:endParaRPr>
            </a:p>
          </p:txBody>
        </p:sp>
        <p:sp>
          <p:nvSpPr>
            <p:cNvPr id="13" name="AutoShape 30"/>
            <p:cNvSpPr>
              <a:spLocks noChangeArrowheads="1"/>
            </p:cNvSpPr>
            <p:nvPr/>
          </p:nvSpPr>
          <p:spPr bwMode="auto">
            <a:xfrm>
              <a:off x="2064" y="3022"/>
              <a:ext cx="1270" cy="227"/>
            </a:xfrm>
            <a:prstGeom prst="wedgeRoundRectCallout">
              <a:avLst>
                <a:gd name="adj1" fmla="val -47796"/>
                <a:gd name="adj2" fmla="val -336782"/>
                <a:gd name="adj3" fmla="val 16667"/>
              </a:avLst>
            </a:prstGeom>
            <a:solidFill>
              <a:schemeClr val="accent1"/>
            </a:solidFill>
            <a:ln w="9525" algn="ctr">
              <a:solidFill>
                <a:schemeClr val="bg2"/>
              </a:solidFill>
              <a:miter lim="800000"/>
            </a:ln>
          </p:spPr>
          <p:txBody>
            <a:bodyPr/>
            <a:lstStyle/>
            <a:p>
              <a:r>
                <a:rPr lang="zh-CN" altLang="en-US" sz="1200" dirty="0">
                  <a:solidFill>
                    <a:schemeClr val="bg1"/>
                  </a:solidFill>
                </a:rPr>
                <a:t>控制与时钟模块</a:t>
              </a:r>
              <a:r>
                <a:rPr lang="en-US" altLang="zh-CN" sz="1200" dirty="0">
                  <a:solidFill>
                    <a:schemeClr val="bg1"/>
                  </a:solidFill>
                </a:rPr>
                <a:t>CC</a:t>
              </a:r>
              <a:endParaRPr lang="en-US" altLang="zh-CN" sz="1200" dirty="0">
                <a:solidFill>
                  <a:schemeClr val="bg1"/>
                </a:solidFill>
              </a:endParaRPr>
            </a:p>
          </p:txBody>
        </p:sp>
        <p:sp>
          <p:nvSpPr>
            <p:cNvPr id="14" name="AutoShape 31"/>
            <p:cNvSpPr>
              <a:spLocks noChangeArrowheads="1"/>
            </p:cNvSpPr>
            <p:nvPr/>
          </p:nvSpPr>
          <p:spPr bwMode="auto">
            <a:xfrm>
              <a:off x="567" y="3022"/>
              <a:ext cx="1270" cy="227"/>
            </a:xfrm>
            <a:prstGeom prst="wedgeRoundRectCallout">
              <a:avLst>
                <a:gd name="adj1" fmla="val -24171"/>
                <a:gd name="adj2" fmla="val -388324"/>
                <a:gd name="adj3" fmla="val 16667"/>
              </a:avLst>
            </a:prstGeom>
            <a:solidFill>
              <a:schemeClr val="accent1"/>
            </a:solidFill>
            <a:ln w="9525" algn="ctr">
              <a:solidFill>
                <a:schemeClr val="bg2"/>
              </a:solidFill>
              <a:miter lim="800000"/>
            </a:ln>
          </p:spPr>
          <p:txBody>
            <a:bodyPr/>
            <a:lstStyle/>
            <a:p>
              <a:r>
                <a:rPr lang="zh-CN" altLang="en-US" sz="1200" dirty="0">
                  <a:solidFill>
                    <a:schemeClr val="bg1"/>
                  </a:solidFill>
                </a:rPr>
                <a:t>现场告警模块</a:t>
              </a:r>
              <a:r>
                <a:rPr lang="en-US" altLang="zh-CN" sz="1200" dirty="0">
                  <a:solidFill>
                    <a:schemeClr val="bg1"/>
                  </a:solidFill>
                </a:rPr>
                <a:t>SA</a:t>
              </a:r>
              <a:endParaRPr lang="en-US" altLang="zh-CN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Rectangle 6"/>
          <p:cNvSpPr txBox="1">
            <a:spLocks noChangeArrowheads="1"/>
          </p:cNvSpPr>
          <p:nvPr/>
        </p:nvSpPr>
        <p:spPr>
          <a:xfrm>
            <a:off x="260350" y="3129915"/>
            <a:ext cx="2227580" cy="713105"/>
          </a:xfrm>
          <a:prstGeom prst="rect">
            <a:avLst/>
          </a:prstGeom>
        </p:spPr>
        <p:txBody>
          <a:bodyPr/>
          <a:lstStyle>
            <a:lvl1pPr algn="ctr" defTabSz="719455" rtl="0" eaLnBrk="1" latinLnBrk="0" hangingPunct="1">
              <a:spcBef>
                <a:spcPct val="0"/>
              </a:spcBef>
              <a:buNone/>
              <a:defRPr sz="2800" b="0" kern="1200">
                <a:solidFill>
                  <a:schemeClr val="tx1"/>
                </a:solidFill>
                <a:latin typeface="新宋体" panose="02010609030101010101" pitchFamily="49" charset="-122"/>
                <a:ea typeface="新宋体" panose="02010609030101010101" pitchFamily="49" charset="-122"/>
                <a:cs typeface="+mj-cs"/>
              </a:defRPr>
            </a:lvl1pPr>
          </a:lstStyle>
          <a:p>
            <a:r>
              <a:rPr kumimoji="1"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ZXWR B8200</a:t>
            </a:r>
            <a:endParaRPr kumimoji="1" lang="en-US" alt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kumimoji="1"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硬件结构</a:t>
            </a:r>
            <a:endParaRPr kumimoji="1"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81" name="图片 5" descr="校徽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570" y="177800"/>
            <a:ext cx="2462530" cy="743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655955" y="1113155"/>
            <a:ext cx="84455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6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BBU功能:完成</a:t>
            </a:r>
            <a:r>
              <a:rPr lang="en-US" altLang="zh-CN" sz="16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基带信号处理</a:t>
            </a:r>
            <a:r>
              <a:rPr lang="en-US" altLang="zh-CN" sz="16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(如编码、调制、资源调度等)，集中部署于机房</a:t>
            </a:r>
            <a:endParaRPr lang="en-US" altLang="zh-CN" sz="16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r>
              <a:rPr lang="en-US" altLang="zh-CN" sz="16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演进</a:t>
            </a: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方向</a:t>
            </a:r>
            <a:r>
              <a:rPr lang="en-US" altLang="zh-CN" sz="16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:从专用便件向通用服务器平台过渡，逐步支持</a:t>
            </a:r>
            <a:r>
              <a:rPr lang="en-US" altLang="zh-CN" sz="16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虚拟化功能</a:t>
            </a:r>
            <a:r>
              <a:rPr lang="en-US" altLang="zh-CN" sz="16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</a:t>
            </a:r>
            <a:endParaRPr lang="en-US" altLang="zh-CN" sz="16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20276" y="341457"/>
            <a:ext cx="6328883" cy="506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二、无线通信工程</a:t>
            </a:r>
            <a:r>
              <a:rPr kumimoji="1" lang="en-US" altLang="zh-CN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----</a:t>
            </a:r>
            <a:r>
              <a:rPr kumimoji="1" lang="zh-CN" altLang="en-US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主设备之</a:t>
            </a:r>
            <a:r>
              <a:rPr kumimoji="1" lang="en-US" altLang="zh-CN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RRU</a:t>
            </a:r>
            <a:endParaRPr kumimoji="1" lang="en-US" altLang="zh-CN" sz="224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20276" y="812757"/>
            <a:ext cx="8550724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水印.png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501" y="361640"/>
            <a:ext cx="1816233" cy="424520"/>
          </a:xfrm>
          <a:prstGeom prst="rect">
            <a:avLst/>
          </a:prstGeom>
        </p:spPr>
      </p:pic>
      <p:pic>
        <p:nvPicPr>
          <p:cNvPr id="17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20" t="13174" r="11777" b="12785"/>
          <a:stretch>
            <a:fillRect/>
          </a:stretch>
        </p:blipFill>
        <p:spPr bwMode="auto">
          <a:xfrm>
            <a:off x="4075528" y="3849485"/>
            <a:ext cx="56832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Group 14"/>
          <p:cNvGrpSpPr/>
          <p:nvPr/>
        </p:nvGrpSpPr>
        <p:grpSpPr bwMode="auto">
          <a:xfrm>
            <a:off x="1279525" y="3932902"/>
            <a:ext cx="1073150" cy="320675"/>
            <a:chOff x="476" y="1923"/>
            <a:chExt cx="676" cy="202"/>
          </a:xfrm>
        </p:grpSpPr>
        <p:sp>
          <p:nvSpPr>
            <p:cNvPr id="19" name="AutoShape 15"/>
            <p:cNvSpPr>
              <a:spLocks noChangeArrowheads="1"/>
            </p:cNvSpPr>
            <p:nvPr/>
          </p:nvSpPr>
          <p:spPr bwMode="auto">
            <a:xfrm>
              <a:off x="476" y="1923"/>
              <a:ext cx="676" cy="202"/>
            </a:xfrm>
            <a:prstGeom prst="roundRect">
              <a:avLst>
                <a:gd name="adj" fmla="val 7694"/>
              </a:avLst>
            </a:prstGeom>
            <a:noFill/>
            <a:ln w="28575" algn="ctr">
              <a:solidFill>
                <a:srgbClr val="EAEAEA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Rectangle 16"/>
            <p:cNvSpPr>
              <a:spLocks noChangeArrowheads="1"/>
            </p:cNvSpPr>
            <p:nvPr/>
          </p:nvSpPr>
          <p:spPr bwMode="auto">
            <a:xfrm>
              <a:off x="485" y="1930"/>
              <a:ext cx="185" cy="18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r>
                <a:rPr lang="en-US" altLang="zh-CN" sz="1400" b="1" i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R</a:t>
              </a:r>
              <a:endParaRPr lang="en-US" altLang="zh-CN" sz="1400" b="1" i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1" name="Rectangle 17"/>
            <p:cNvSpPr>
              <a:spLocks noChangeArrowheads="1"/>
            </p:cNvSpPr>
            <p:nvPr/>
          </p:nvSpPr>
          <p:spPr bwMode="auto">
            <a:xfrm>
              <a:off x="666" y="1932"/>
              <a:ext cx="479" cy="182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r>
                <a:rPr lang="en-US" altLang="zh-CN" sz="1400" b="1" i="1" dirty="0">
                  <a:latin typeface="Arial" panose="020B0604020202020204" pitchFamily="34" charset="0"/>
                  <a:ea typeface="黑体" panose="02010609060101010101" pitchFamily="49" charset="-122"/>
                </a:rPr>
                <a:t>RRU</a:t>
              </a:r>
              <a:endParaRPr lang="en-US" altLang="zh-CN" sz="1400" b="1" i="1" dirty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22" name="Group 18"/>
          <p:cNvGrpSpPr/>
          <p:nvPr/>
        </p:nvGrpSpPr>
        <p:grpSpPr bwMode="auto">
          <a:xfrm>
            <a:off x="2449129" y="3905177"/>
            <a:ext cx="1141413" cy="336550"/>
            <a:chOff x="1398" y="1547"/>
            <a:chExt cx="719" cy="212"/>
          </a:xfrm>
        </p:grpSpPr>
        <p:sp>
          <p:nvSpPr>
            <p:cNvPr id="23" name="AutoShape 19"/>
            <p:cNvSpPr>
              <a:spLocks noChangeArrowheads="1"/>
            </p:cNvSpPr>
            <p:nvPr/>
          </p:nvSpPr>
          <p:spPr bwMode="auto">
            <a:xfrm>
              <a:off x="1441" y="1547"/>
              <a:ext cx="676" cy="202"/>
            </a:xfrm>
            <a:prstGeom prst="roundRect">
              <a:avLst>
                <a:gd name="adj" fmla="val 7694"/>
              </a:avLst>
            </a:prstGeom>
            <a:noFill/>
            <a:ln w="28575" algn="ctr">
              <a:solidFill>
                <a:srgbClr val="EAEAEA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Rectangle 20"/>
            <p:cNvSpPr>
              <a:spLocks noChangeArrowheads="1"/>
            </p:cNvSpPr>
            <p:nvPr/>
          </p:nvSpPr>
          <p:spPr bwMode="auto">
            <a:xfrm>
              <a:off x="1398" y="1562"/>
              <a:ext cx="185" cy="18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r>
                <a:rPr lang="en-US" altLang="zh-CN" sz="1400" b="1" i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8</a:t>
              </a:r>
              <a:endParaRPr lang="en-US" altLang="zh-CN" sz="1400" b="1" i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5" name="Rectangle 21"/>
            <p:cNvSpPr>
              <a:spLocks noChangeArrowheads="1"/>
            </p:cNvSpPr>
            <p:nvPr/>
          </p:nvSpPr>
          <p:spPr bwMode="auto">
            <a:xfrm>
              <a:off x="1583" y="1573"/>
              <a:ext cx="525" cy="186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r>
                <a:rPr lang="en-US" altLang="zh-CN" sz="1400" b="1" i="1" dirty="0">
                  <a:latin typeface="Arial" panose="020B0604020202020204" pitchFamily="34" charset="0"/>
                  <a:ea typeface="黑体" panose="02010609060101010101" pitchFamily="49" charset="-122"/>
                </a:rPr>
                <a:t>WCDMA</a:t>
              </a:r>
              <a:endParaRPr lang="en-US" altLang="zh-CN" sz="1400" b="1" i="1" dirty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26" name="Group 22"/>
          <p:cNvGrpSpPr/>
          <p:nvPr/>
        </p:nvGrpSpPr>
        <p:grpSpPr bwMode="auto">
          <a:xfrm>
            <a:off x="1275941" y="4368336"/>
            <a:ext cx="1073150" cy="320675"/>
            <a:chOff x="1919" y="1924"/>
            <a:chExt cx="676" cy="202"/>
          </a:xfrm>
        </p:grpSpPr>
        <p:sp>
          <p:nvSpPr>
            <p:cNvPr id="27" name="AutoShape 23"/>
            <p:cNvSpPr>
              <a:spLocks noChangeArrowheads="1"/>
            </p:cNvSpPr>
            <p:nvPr/>
          </p:nvSpPr>
          <p:spPr bwMode="auto">
            <a:xfrm>
              <a:off x="1919" y="1924"/>
              <a:ext cx="676" cy="202"/>
            </a:xfrm>
            <a:prstGeom prst="roundRect">
              <a:avLst>
                <a:gd name="adj" fmla="val 7694"/>
              </a:avLst>
            </a:prstGeom>
            <a:noFill/>
            <a:ln w="28575" algn="ctr">
              <a:solidFill>
                <a:srgbClr val="EAEAEA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Rectangle 24"/>
            <p:cNvSpPr>
              <a:spLocks noChangeArrowheads="1"/>
            </p:cNvSpPr>
            <p:nvPr/>
          </p:nvSpPr>
          <p:spPr bwMode="auto">
            <a:xfrm>
              <a:off x="1928" y="1931"/>
              <a:ext cx="185" cy="18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r>
                <a:rPr lang="en-US" altLang="zh-CN" sz="1400" b="1" i="1" dirty="0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8</a:t>
              </a:r>
              <a:endParaRPr lang="en-US" altLang="zh-CN" sz="1400" b="1" i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29" name="Rectangle 25"/>
            <p:cNvSpPr>
              <a:spLocks noChangeArrowheads="1"/>
            </p:cNvSpPr>
            <p:nvPr/>
          </p:nvSpPr>
          <p:spPr bwMode="auto">
            <a:xfrm>
              <a:off x="2109" y="1933"/>
              <a:ext cx="479" cy="186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r>
                <a:rPr lang="zh-CN" altLang="en-US" sz="1400" b="1" i="1" dirty="0">
                  <a:latin typeface="Arial" panose="020B0604020202020204" pitchFamily="34" charset="0"/>
                  <a:ea typeface="黑体" panose="02010609060101010101" pitchFamily="49" charset="-122"/>
                </a:rPr>
                <a:t>室外</a:t>
              </a:r>
              <a:endParaRPr lang="zh-CN" altLang="en-US" sz="1400" b="1" i="1" dirty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grpSp>
        <p:nvGrpSpPr>
          <p:cNvPr id="30" name="Group 26"/>
          <p:cNvGrpSpPr/>
          <p:nvPr/>
        </p:nvGrpSpPr>
        <p:grpSpPr bwMode="auto">
          <a:xfrm>
            <a:off x="2449129" y="4364439"/>
            <a:ext cx="1073150" cy="320675"/>
            <a:chOff x="2644" y="1926"/>
            <a:chExt cx="676" cy="202"/>
          </a:xfrm>
        </p:grpSpPr>
        <p:sp>
          <p:nvSpPr>
            <p:cNvPr id="31" name="AutoShape 27"/>
            <p:cNvSpPr>
              <a:spLocks noChangeArrowheads="1"/>
            </p:cNvSpPr>
            <p:nvPr/>
          </p:nvSpPr>
          <p:spPr bwMode="auto">
            <a:xfrm>
              <a:off x="2644" y="1926"/>
              <a:ext cx="676" cy="202"/>
            </a:xfrm>
            <a:prstGeom prst="roundRect">
              <a:avLst>
                <a:gd name="adj" fmla="val 7694"/>
              </a:avLst>
            </a:prstGeom>
            <a:noFill/>
            <a:ln w="28575" algn="ctr">
              <a:solidFill>
                <a:srgbClr val="EAEAEA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Rectangle 28"/>
            <p:cNvSpPr>
              <a:spLocks noChangeArrowheads="1"/>
            </p:cNvSpPr>
            <p:nvPr/>
          </p:nvSpPr>
          <p:spPr bwMode="auto">
            <a:xfrm>
              <a:off x="2653" y="1933"/>
              <a:ext cx="185" cy="18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r>
                <a:rPr lang="en-US" altLang="zh-CN" sz="1400" b="1" i="1">
                  <a:solidFill>
                    <a:schemeClr val="bg1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40</a:t>
              </a:r>
              <a:endParaRPr lang="en-US" altLang="zh-CN" sz="1400" b="1" i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33" name="Rectangle 29"/>
            <p:cNvSpPr>
              <a:spLocks noChangeArrowheads="1"/>
            </p:cNvSpPr>
            <p:nvPr/>
          </p:nvSpPr>
          <p:spPr bwMode="auto">
            <a:xfrm>
              <a:off x="2834" y="1931"/>
              <a:ext cx="479" cy="190"/>
            </a:xfrm>
            <a:prstGeom prst="rect">
              <a:avLst/>
            </a:prstGeom>
            <a:solidFill>
              <a:srgbClr val="FF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1" hangingPunct="1"/>
              <a:r>
                <a:rPr lang="en-US" altLang="zh-CN" sz="1400" b="1" i="1" dirty="0">
                  <a:latin typeface="Arial" panose="020B0604020202020204" pitchFamily="34" charset="0"/>
                  <a:ea typeface="黑体" panose="02010609060101010101" pitchFamily="49" charset="-122"/>
                </a:rPr>
                <a:t>40</a:t>
              </a:r>
              <a:r>
                <a:rPr lang="zh-CN" altLang="en-US" sz="1400" b="1" i="1" dirty="0">
                  <a:latin typeface="Arial" panose="020B0604020202020204" pitchFamily="34" charset="0"/>
                  <a:ea typeface="黑体" panose="02010609060101010101" pitchFamily="49" charset="-122"/>
                </a:rPr>
                <a:t>瓦特    </a:t>
              </a:r>
              <a:endParaRPr lang="zh-CN" altLang="en-US" sz="1400" b="1" i="1" dirty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pic>
        <p:nvPicPr>
          <p:cNvPr id="34" name="Picture 3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1443" y="1776809"/>
            <a:ext cx="2270125" cy="279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Rectangle 32"/>
          <p:cNvSpPr txBox="1">
            <a:spLocks noChangeArrowheads="1"/>
          </p:cNvSpPr>
          <p:nvPr/>
        </p:nvSpPr>
        <p:spPr>
          <a:xfrm>
            <a:off x="979805" y="1761490"/>
            <a:ext cx="3763645" cy="2072640"/>
          </a:xfrm>
          <a:prstGeom prst="rect">
            <a:avLst/>
          </a:prstGeom>
          <a:noFill/>
        </p:spPr>
        <p:txBody>
          <a:bodyPr/>
          <a:lstStyle>
            <a:lvl1pPr marL="269875" indent="-269240" algn="l" defTabSz="719455" rtl="0" eaLnBrk="1" latinLnBrk="0" hangingPunct="1">
              <a:spcBef>
                <a:spcPts val="75"/>
              </a:spcBef>
              <a:buFont typeface="Arial" panose="020B0604020202020204" pitchFamily="34" charset="0"/>
              <a:buChar char="•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4835" indent="-224155" algn="l" defTabSz="719455" rtl="0" eaLnBrk="1" latinLnBrk="0" hangingPunct="1">
              <a:spcBef>
                <a:spcPts val="75"/>
              </a:spcBef>
              <a:buFont typeface="Arial" panose="020B0604020202020204" pitchFamily="34" charset="0"/>
              <a:buChar char="–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99160" indent="-179070" algn="l" defTabSz="719455" rtl="0" eaLnBrk="1" latinLnBrk="0" hangingPunct="1">
              <a:spcBef>
                <a:spcPts val="75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9205" indent="-179070" algn="l" defTabSz="719455" rtl="0" eaLnBrk="1" latinLnBrk="0" hangingPunct="1">
              <a:spcBef>
                <a:spcPts val="75"/>
              </a:spcBef>
              <a:buFont typeface="Arial" panose="020B0604020202020204" pitchFamily="34" charset="0"/>
              <a:buChar char="–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18615" indent="-179070" algn="l" defTabSz="719455" rtl="0" eaLnBrk="1" latinLnBrk="0" hangingPunct="1">
              <a:spcBef>
                <a:spcPts val="75"/>
              </a:spcBef>
              <a:buFont typeface="Arial" panose="020B0604020202020204" pitchFamily="34" charset="0"/>
              <a:buChar char="»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78660" indent="-179070" algn="l" defTabSz="719455" rtl="0" eaLnBrk="1" latinLnBrk="0" hangingPunct="1">
              <a:spcBef>
                <a:spcPts val="75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38705" indent="-179070" algn="l" defTabSz="719455" rtl="0" eaLnBrk="1" latinLnBrk="0" hangingPunct="1">
              <a:spcBef>
                <a:spcPts val="75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98115" indent="-179070" algn="l" defTabSz="719455" rtl="0" eaLnBrk="1" latinLnBrk="0" hangingPunct="1">
              <a:spcBef>
                <a:spcPts val="75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58160" indent="-179070" algn="l" defTabSz="719455" rtl="0" eaLnBrk="1" latinLnBrk="0" hangingPunct="1">
              <a:spcBef>
                <a:spcPts val="75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R8840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是中兴通讯一款大功率室外射频拉远单元，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RSU40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为中兴通讯一款大功率室内射频模块</a:t>
            </a:r>
            <a:endParaRPr lang="zh-CN" altLang="en-US" sz="16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just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R8840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和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RSU40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其内部收发信单元、功放、双工滤波器、以及电源模块完全相同，工作原理和软件结构完全相同，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R8840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与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RSU40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的差异主要为外部物理结构的差异</a:t>
            </a:r>
            <a:endParaRPr lang="zh-CN" altLang="en-US" sz="1600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36" name="Picture 3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2180" y="1864444"/>
            <a:ext cx="1512887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Rectangle 34"/>
          <p:cNvSpPr>
            <a:spLocks noChangeArrowheads="1"/>
          </p:cNvSpPr>
          <p:nvPr/>
        </p:nvSpPr>
        <p:spPr bwMode="auto">
          <a:xfrm>
            <a:off x="5804743" y="4711650"/>
            <a:ext cx="1223963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74955" indent="-274955" algn="l" eaLnBrk="1" hangingPunct="1">
              <a:lnSpc>
                <a:spcPct val="145000"/>
              </a:lnSpc>
              <a:spcBef>
                <a:spcPct val="3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b="1" dirty="0">
                <a:ea typeface="楷体_GB2312" panose="02010609030101010101" pitchFamily="49" charset="-122"/>
              </a:rPr>
              <a:t>R8840</a:t>
            </a:r>
            <a:endParaRPr lang="en-US" altLang="zh-CN" b="1" dirty="0">
              <a:ea typeface="楷体_GB2312" panose="02010609030101010101" pitchFamily="49" charset="-122"/>
            </a:endParaRPr>
          </a:p>
        </p:txBody>
      </p:sp>
      <p:sp>
        <p:nvSpPr>
          <p:cNvPr id="38" name="Rectangle 35"/>
          <p:cNvSpPr>
            <a:spLocks noChangeArrowheads="1"/>
          </p:cNvSpPr>
          <p:nvPr/>
        </p:nvSpPr>
        <p:spPr bwMode="auto">
          <a:xfrm>
            <a:off x="8211471" y="4697611"/>
            <a:ext cx="1223963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74955" indent="-274955" algn="l" eaLnBrk="1" hangingPunct="1">
              <a:lnSpc>
                <a:spcPct val="145000"/>
              </a:lnSpc>
              <a:spcBef>
                <a:spcPct val="3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b="1" dirty="0">
                <a:ea typeface="楷体_GB2312" panose="02010609030101010101" pitchFamily="49" charset="-122"/>
              </a:rPr>
              <a:t>RSU40</a:t>
            </a:r>
            <a:endParaRPr lang="en-US" altLang="zh-CN" b="1" dirty="0">
              <a:ea typeface="楷体_GB2312" panose="02010609030101010101" pitchFamily="49" charset="-122"/>
            </a:endParaRPr>
          </a:p>
        </p:txBody>
      </p:sp>
      <p:pic>
        <p:nvPicPr>
          <p:cNvPr id="3081" name="图片 5" descr="校徽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570" y="177800"/>
            <a:ext cx="2462530" cy="743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619760" y="982345"/>
            <a:ext cx="8717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16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RRU</a:t>
            </a: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功能:负责</a:t>
            </a:r>
            <a:r>
              <a:rPr lang="zh-CN" altLang="en-US" sz="16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射频信号处理</a:t>
            </a: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(如数模转换、功率放大、滤波等)，靠近</a:t>
            </a: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天线部署以减少馈线</a:t>
            </a: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损耗。</a:t>
            </a:r>
            <a:endParaRPr lang="zh-CN" altLang="en-US" sz="16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algn="l"/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演进方向:从单一频段支持到</a:t>
            </a:r>
            <a:r>
              <a:rPr lang="zh-CN" altLang="en-US" sz="16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多频段</a:t>
            </a: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、</a:t>
            </a:r>
            <a:r>
              <a:rPr lang="zh-CN" altLang="en-US" sz="16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多制式</a:t>
            </a: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(如4G多模RRU)，支持更高带宽和MIMO技术。</a:t>
            </a:r>
            <a:endParaRPr lang="zh-CN" altLang="en-US" sz="16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20276" y="341457"/>
            <a:ext cx="6328883" cy="471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二、无线通信工程</a:t>
            </a:r>
            <a:r>
              <a:rPr kumimoji="1" lang="en-US" altLang="zh-CN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----RRU</a:t>
            </a:r>
            <a:r>
              <a:rPr kumimoji="1" lang="zh-CN" altLang="en-US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功能架构</a:t>
            </a:r>
            <a:endParaRPr kumimoji="1" lang="en-US" altLang="zh-CN" sz="224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20276" y="812757"/>
            <a:ext cx="8550724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水印.png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501" y="361640"/>
            <a:ext cx="1816233" cy="4245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231" y="1113780"/>
            <a:ext cx="6956159" cy="338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1" name="图片 5" descr="校徽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570" y="177800"/>
            <a:ext cx="2462530" cy="743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20276" y="341457"/>
            <a:ext cx="6328883" cy="506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二、无线通信工程</a:t>
            </a:r>
            <a:r>
              <a:rPr kumimoji="1" lang="en-US" altLang="zh-CN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----</a:t>
            </a:r>
            <a:r>
              <a:rPr kumimoji="1" lang="zh-CN" altLang="en-US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配套设备</a:t>
            </a:r>
            <a:endParaRPr kumimoji="1" lang="en-US" altLang="zh-CN" sz="224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20276" y="812757"/>
            <a:ext cx="8550724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水印.png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501" y="361640"/>
            <a:ext cx="1816233" cy="4245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48159" y="1041772"/>
            <a:ext cx="7488832" cy="437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基站配套设备包括：</a:t>
            </a:r>
            <a:r>
              <a:rPr kumimoji="1" lang="zh-CN" altLang="zh-CN" sz="1495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传输设备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kumimoji="1" lang="zh-CN" altLang="zh-CN" sz="1495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电源系统</a:t>
            </a:r>
            <a:r>
              <a:rPr kumimoji="1" lang="zh-CN" altLang="en-US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kumimoji="1" lang="zh-CN" altLang="zh-CN" sz="1495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天馈系统</a:t>
            </a:r>
            <a:r>
              <a:rPr kumimoji="1" lang="zh-CN" altLang="en-US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kumimoji="1" lang="en-US" altLang="zh-CN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237804" y="2747278"/>
            <a:ext cx="2010649" cy="783585"/>
            <a:chOff x="2392158" y="333711"/>
            <a:chExt cx="2010649" cy="783585"/>
          </a:xfrm>
        </p:grpSpPr>
        <p:sp>
          <p:nvSpPr>
            <p:cNvPr id="9" name="圆角矩形 8"/>
            <p:cNvSpPr/>
            <p:nvPr/>
          </p:nvSpPr>
          <p:spPr>
            <a:xfrm>
              <a:off x="2392158" y="333711"/>
              <a:ext cx="2010649" cy="78358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圆角矩形 4"/>
            <p:cNvSpPr/>
            <p:nvPr/>
          </p:nvSpPr>
          <p:spPr>
            <a:xfrm>
              <a:off x="2415108" y="356661"/>
              <a:ext cx="1964749" cy="73768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30480" rIns="45720" bIns="3048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kern="1200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配套设备</a:t>
              </a:r>
              <a:endParaRPr lang="zh-CN" altLang="en-US" sz="2400" kern="1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694188" y="1739166"/>
            <a:ext cx="1587368" cy="783585"/>
            <a:chOff x="2794288" y="1313193"/>
            <a:chExt cx="1587368" cy="783585"/>
          </a:xfrm>
        </p:grpSpPr>
        <p:sp>
          <p:nvSpPr>
            <p:cNvPr id="12" name="圆角矩形 11"/>
            <p:cNvSpPr/>
            <p:nvPr/>
          </p:nvSpPr>
          <p:spPr>
            <a:xfrm>
              <a:off x="2794288" y="1313193"/>
              <a:ext cx="1587368" cy="78358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圆角矩形 4"/>
            <p:cNvSpPr/>
            <p:nvPr/>
          </p:nvSpPr>
          <p:spPr>
            <a:xfrm>
              <a:off x="2817238" y="1336143"/>
              <a:ext cx="1541468" cy="73768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30480" rIns="45720" bIns="3048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kern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传输设备</a:t>
              </a:r>
              <a:endParaRPr lang="zh-CN" altLang="en-US" sz="240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694188" y="2718648"/>
            <a:ext cx="1587368" cy="783585"/>
            <a:chOff x="2794288" y="2292675"/>
            <a:chExt cx="1587368" cy="783585"/>
          </a:xfrm>
        </p:grpSpPr>
        <p:sp>
          <p:nvSpPr>
            <p:cNvPr id="15" name="圆角矩形 14"/>
            <p:cNvSpPr/>
            <p:nvPr/>
          </p:nvSpPr>
          <p:spPr>
            <a:xfrm>
              <a:off x="2794288" y="2292675"/>
              <a:ext cx="1587368" cy="78358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圆角矩形 6"/>
            <p:cNvSpPr/>
            <p:nvPr/>
          </p:nvSpPr>
          <p:spPr>
            <a:xfrm>
              <a:off x="2817238" y="2315625"/>
              <a:ext cx="1541468" cy="73768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30480" rIns="45720" bIns="3048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kern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电源系统</a:t>
              </a:r>
              <a:endParaRPr lang="zh-CN" altLang="en-US" sz="240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754219" y="3721080"/>
            <a:ext cx="1539488" cy="783585"/>
            <a:chOff x="2794288" y="3272157"/>
            <a:chExt cx="1539488" cy="783585"/>
          </a:xfrm>
        </p:grpSpPr>
        <p:sp>
          <p:nvSpPr>
            <p:cNvPr id="18" name="圆角矩形 17"/>
            <p:cNvSpPr/>
            <p:nvPr/>
          </p:nvSpPr>
          <p:spPr>
            <a:xfrm>
              <a:off x="2794288" y="3272157"/>
              <a:ext cx="1539488" cy="78358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圆角矩形 8"/>
            <p:cNvSpPr/>
            <p:nvPr/>
          </p:nvSpPr>
          <p:spPr>
            <a:xfrm>
              <a:off x="2817238" y="3295107"/>
              <a:ext cx="1493588" cy="73768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30480" rIns="45720" bIns="3048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400" kern="12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天馈系统</a:t>
              </a:r>
              <a:endParaRPr lang="zh-CN" altLang="en-US" sz="240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cxnSp>
        <p:nvCxnSpPr>
          <p:cNvPr id="20" name="直接箭头连接符 19"/>
          <p:cNvCxnSpPr>
            <a:stCxn id="9" idx="3"/>
            <a:endCxn id="18" idx="1"/>
          </p:cNvCxnSpPr>
          <p:nvPr/>
        </p:nvCxnSpPr>
        <p:spPr>
          <a:xfrm>
            <a:off x="4248453" y="3139071"/>
            <a:ext cx="1505766" cy="97380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9" idx="3"/>
            <a:endCxn id="15" idx="1"/>
          </p:cNvCxnSpPr>
          <p:nvPr/>
        </p:nvCxnSpPr>
        <p:spPr>
          <a:xfrm flipV="1">
            <a:off x="4248453" y="3110441"/>
            <a:ext cx="1445735" cy="286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9" idx="3"/>
            <a:endCxn id="12" idx="1"/>
          </p:cNvCxnSpPr>
          <p:nvPr/>
        </p:nvCxnSpPr>
        <p:spPr>
          <a:xfrm flipV="1">
            <a:off x="4248453" y="2130959"/>
            <a:ext cx="1445735" cy="1008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1" name="图片 5" descr="校徽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570" y="177800"/>
            <a:ext cx="2462530" cy="743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20276" y="341457"/>
            <a:ext cx="6328883" cy="506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二、无线通信工程</a:t>
            </a:r>
            <a:r>
              <a:rPr kumimoji="1" lang="en-US" altLang="zh-CN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----</a:t>
            </a:r>
            <a:r>
              <a:rPr kumimoji="1" lang="zh-CN" altLang="en-US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配套设备之电源系统</a:t>
            </a:r>
            <a:endParaRPr kumimoji="1" lang="en-US" altLang="zh-CN" sz="224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20276" y="812757"/>
            <a:ext cx="8550724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水印.png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501" y="361640"/>
            <a:ext cx="1816233" cy="4245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52215" y="906937"/>
            <a:ext cx="4968552" cy="782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kumimoji="1" lang="zh-CN" altLang="en-US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电源系统主要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包括：</a:t>
            </a:r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</a:t>
            </a:r>
            <a:r>
              <a:rPr kumimoji="1" lang="zh-CN" altLang="en-US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交流配电箱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kumimoji="1" lang="zh-CN" altLang="en-US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开关电源柜、</a:t>
            </a:r>
            <a:endParaRPr kumimoji="1" lang="en-US" altLang="zh-CN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蓄电池以及输电线缆。</a:t>
            </a:r>
            <a:endParaRPr kumimoji="1" lang="en-US" altLang="zh-CN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3" name="Picture 2" descr="E:\中兴新思\照片\基站照片\台江亚峰蔬菜\配电箱-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244" y="1922504"/>
            <a:ext cx="2976331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8839" y="897756"/>
            <a:ext cx="1747540" cy="3879390"/>
          </a:xfrm>
          <a:prstGeom prst="rect">
            <a:avLst/>
          </a:prstGeom>
        </p:spPr>
      </p:pic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1868305" y="4313367"/>
            <a:ext cx="1872208" cy="40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</a:t>
            </a:r>
            <a:r>
              <a:rPr kumimoji="1" lang="zh-CN" altLang="en-US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交流配电箱</a:t>
            </a:r>
            <a:endParaRPr kumimoji="1" lang="zh-CN" altLang="en-US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5084663" y="2643558"/>
            <a:ext cx="1512168" cy="40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DC</a:t>
            </a:r>
            <a:r>
              <a:rPr kumimoji="1" lang="zh-CN" altLang="en-US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中兴</a:t>
            </a:r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ZXDU58</a:t>
            </a:r>
            <a:endParaRPr kumimoji="1" lang="en-US" altLang="zh-CN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kumimoji="1" lang="zh-CN" altLang="en-US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开关电源柜</a:t>
            </a:r>
            <a:endParaRPr kumimoji="1" lang="zh-CN" altLang="en-US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81" name="图片 5" descr="校徽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570" y="177800"/>
            <a:ext cx="2462530" cy="743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20276" y="341457"/>
            <a:ext cx="6328883" cy="506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二、无线通信工程</a:t>
            </a:r>
            <a:r>
              <a:rPr kumimoji="1" lang="en-US" altLang="zh-CN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----</a:t>
            </a:r>
            <a:r>
              <a:rPr kumimoji="1" lang="zh-CN" altLang="en-US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配套设备之电源系统</a:t>
            </a:r>
            <a:endParaRPr kumimoji="1" lang="en-US" altLang="zh-CN" sz="224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20276" y="812757"/>
            <a:ext cx="8550724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水印.png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501" y="361640"/>
            <a:ext cx="1816233" cy="4245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572" y="1347643"/>
            <a:ext cx="2438400" cy="18288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91" y="1329751"/>
            <a:ext cx="2438400" cy="1828800"/>
          </a:xfrm>
          <a:prstGeom prst="rect">
            <a:avLst/>
          </a:prstGeom>
        </p:spPr>
      </p:pic>
      <p:sp>
        <p:nvSpPr>
          <p:cNvPr id="12" name="Rectangle 22"/>
          <p:cNvSpPr>
            <a:spLocks noChangeArrowheads="1"/>
          </p:cNvSpPr>
          <p:nvPr/>
        </p:nvSpPr>
        <p:spPr bwMode="auto">
          <a:xfrm>
            <a:off x="1052215" y="3498800"/>
            <a:ext cx="1872208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配电单元</a:t>
            </a:r>
            <a:endParaRPr kumimoji="1" lang="zh-CN" altLang="en-US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22"/>
          <p:cNvSpPr>
            <a:spLocks noChangeArrowheads="1"/>
          </p:cNvSpPr>
          <p:nvPr/>
        </p:nvSpPr>
        <p:spPr bwMode="auto">
          <a:xfrm>
            <a:off x="3860527" y="3498800"/>
            <a:ext cx="1872208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整流模块</a:t>
            </a:r>
            <a:endParaRPr kumimoji="1" lang="zh-CN" altLang="en-US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0807" y="1208990"/>
            <a:ext cx="2378359" cy="2209046"/>
          </a:xfrm>
          <a:prstGeom prst="rect">
            <a:avLst/>
          </a:prstGeom>
        </p:spPr>
      </p:pic>
      <p:sp>
        <p:nvSpPr>
          <p:cNvPr id="15" name="Rectangle 22"/>
          <p:cNvSpPr>
            <a:spLocks noChangeArrowheads="1"/>
          </p:cNvSpPr>
          <p:nvPr/>
        </p:nvSpPr>
        <p:spPr bwMode="auto">
          <a:xfrm>
            <a:off x="6668839" y="3562052"/>
            <a:ext cx="1872208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光宇蓄电池</a:t>
            </a:r>
            <a:endParaRPr kumimoji="1" lang="zh-CN" altLang="en-US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81" name="图片 5" descr="校徽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570" y="177800"/>
            <a:ext cx="2462530" cy="743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20276" y="341457"/>
            <a:ext cx="6328883" cy="506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二、无线通信工程</a:t>
            </a:r>
            <a:r>
              <a:rPr kumimoji="1" lang="en-US" altLang="zh-CN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----</a:t>
            </a:r>
            <a:r>
              <a:rPr kumimoji="1" lang="zh-CN" altLang="en-US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配套设备之传输设备</a:t>
            </a:r>
            <a:endParaRPr kumimoji="1" lang="en-US" altLang="zh-CN" sz="224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20276" y="812757"/>
            <a:ext cx="8550724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水印.png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501" y="361640"/>
            <a:ext cx="1816233" cy="424520"/>
          </a:xfrm>
          <a:prstGeom prst="rect">
            <a:avLst/>
          </a:prstGeom>
        </p:spPr>
      </p:pic>
      <p:sp>
        <p:nvSpPr>
          <p:cNvPr id="12" name="Rectangle 22"/>
          <p:cNvSpPr>
            <a:spLocks noChangeArrowheads="1"/>
          </p:cNvSpPr>
          <p:nvPr/>
        </p:nvSpPr>
        <p:spPr bwMode="auto">
          <a:xfrm>
            <a:off x="692150" y="2786380"/>
            <a:ext cx="336994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ODF</a:t>
            </a:r>
            <a:r>
              <a:rPr kumimoji="1" lang="zh-CN" altLang="en-US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</a:t>
            </a:r>
            <a:r>
              <a:rPr kumimoji="1" lang="en-US" altLang="zh-CN" sz="149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(Optical Distribution Frame)</a:t>
            </a:r>
            <a:endParaRPr kumimoji="1" lang="zh-CN" altLang="en-US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22"/>
          <p:cNvSpPr>
            <a:spLocks noChangeArrowheads="1"/>
          </p:cNvSpPr>
          <p:nvPr/>
        </p:nvSpPr>
        <p:spPr bwMode="auto">
          <a:xfrm>
            <a:off x="5588635" y="3994150"/>
            <a:ext cx="360172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SDH(Synchronous Digital Hierarchy)</a:t>
            </a:r>
            <a:endParaRPr kumimoji="1" lang="en-US" altLang="zh-CN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同步数字体系</a:t>
            </a:r>
            <a:endParaRPr kumimoji="1" lang="zh-CN" altLang="en-US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22"/>
          <p:cNvSpPr>
            <a:spLocks noChangeArrowheads="1"/>
          </p:cNvSpPr>
          <p:nvPr/>
        </p:nvSpPr>
        <p:spPr bwMode="auto">
          <a:xfrm>
            <a:off x="6092825" y="3011170"/>
            <a:ext cx="254825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DDF</a:t>
            </a:r>
            <a:r>
              <a:rPr kumimoji="1" lang="zh-CN" altLang="en-US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架(</a:t>
            </a:r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kumimoji="1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igital </a:t>
            </a:r>
            <a:r>
              <a:rPr kumimoji="1" lang="en-US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kumimoji="1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istribution </a:t>
            </a:r>
            <a:r>
              <a:rPr kumimoji="1" lang="en-US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r>
              <a:rPr kumimoji="1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rame</a:t>
            </a:r>
            <a:r>
              <a:rPr kumimoji="1" lang="zh-CN" altLang="en-US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kumimoji="1" lang="zh-CN" altLang="en-US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215" y="1041772"/>
            <a:ext cx="2208245" cy="1656184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4005" y="1038569"/>
            <a:ext cx="3371305" cy="185521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059" y="3281614"/>
            <a:ext cx="4796904" cy="1407965"/>
          </a:xfrm>
          <a:prstGeom prst="rect">
            <a:avLst/>
          </a:prstGeom>
        </p:spPr>
      </p:pic>
      <p:pic>
        <p:nvPicPr>
          <p:cNvPr id="3081" name="图片 5" descr="校徽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570" y="177800"/>
            <a:ext cx="2462530" cy="743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20276" y="341457"/>
            <a:ext cx="6328883" cy="506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二、无线通信工程</a:t>
            </a:r>
            <a:r>
              <a:rPr kumimoji="1" lang="en-US" altLang="zh-CN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----</a:t>
            </a:r>
            <a:r>
              <a:rPr kumimoji="1" lang="zh-CN" altLang="en-US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配套设备之天馈系统</a:t>
            </a:r>
            <a:endParaRPr kumimoji="1" lang="en-US" altLang="zh-CN" sz="224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20276" y="812757"/>
            <a:ext cx="8550724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水印.png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501" y="361640"/>
            <a:ext cx="1816233" cy="424520"/>
          </a:xfrm>
          <a:prstGeom prst="rect">
            <a:avLst/>
          </a:prstGeom>
        </p:spPr>
      </p:pic>
      <p:pic>
        <p:nvPicPr>
          <p:cNvPr id="11" name="Picture 2" descr="C:\Users\huizhi\Desktop\电信工程短训PPT\通信基础设备图片\图片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6271" y="879501"/>
            <a:ext cx="6552728" cy="4122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1" name="图片 5" descr="校徽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570" y="177800"/>
            <a:ext cx="2462530" cy="743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4990465" y="1186180"/>
            <a:ext cx="40817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天馈系统是由天线与馈线组成的</a:t>
            </a:r>
            <a:r>
              <a:rPr lang="zh-CN" altLang="en-US" sz="16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电磁波辐射系统</a:t>
            </a: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，核心功能是实现电信号与电磁波的双向转换，承担无线通信信号的收发任务。</a:t>
            </a:r>
            <a:endParaRPr lang="zh-CN" altLang="en-US" sz="16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084445" y="2122170"/>
            <a:ext cx="3738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400">
                <a:latin typeface="黑体" panose="02010609060101010101" pitchFamily="49" charset="-122"/>
                <a:ea typeface="黑体" panose="02010609060101010101" pitchFamily="49" charset="-122"/>
              </a:rPr>
              <a:t>天线用来</a:t>
            </a:r>
            <a:r>
              <a:rPr lang="zh-CN" altLang="en-US" sz="1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辐射</a:t>
            </a:r>
            <a:r>
              <a:rPr lang="zh-CN" altLang="en-US" sz="1400">
                <a:latin typeface="黑体" panose="02010609060101010101" pitchFamily="49" charset="-122"/>
                <a:ea typeface="黑体" panose="02010609060101010101" pitchFamily="49" charset="-122"/>
              </a:rPr>
              <a:t>或者</a:t>
            </a:r>
            <a:r>
              <a:rPr lang="zh-CN" altLang="en-US" sz="1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接收</a:t>
            </a:r>
            <a:r>
              <a:rPr lang="zh-CN" altLang="en-US" sz="1400">
                <a:latin typeface="黑体" panose="02010609060101010101" pitchFamily="49" charset="-122"/>
                <a:ea typeface="黑体" panose="02010609060101010101" pitchFamily="49" charset="-122"/>
              </a:rPr>
              <a:t>空间中的</a:t>
            </a:r>
            <a:r>
              <a:rPr lang="zh-CN" altLang="en-US" sz="1400">
                <a:latin typeface="黑体" panose="02010609060101010101" pitchFamily="49" charset="-122"/>
                <a:ea typeface="黑体" panose="02010609060101010101" pitchFamily="49" charset="-122"/>
              </a:rPr>
              <a:t>电磁波。</a:t>
            </a:r>
            <a:endParaRPr lang="zh-CN" alt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/>
            <a:r>
              <a:rPr lang="zh-CN" altLang="en-US" sz="1400">
                <a:latin typeface="黑体" panose="02010609060101010101" pitchFamily="49" charset="-122"/>
                <a:ea typeface="黑体" panose="02010609060101010101" pitchFamily="49" charset="-122"/>
              </a:rPr>
              <a:t>馈线用来</a:t>
            </a:r>
            <a:r>
              <a:rPr lang="zh-CN" altLang="en-US" sz="1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连接</a:t>
            </a:r>
            <a:r>
              <a:rPr lang="zh-CN" altLang="en-US" sz="1400">
                <a:latin typeface="黑体" panose="02010609060101010101" pitchFamily="49" charset="-122"/>
                <a:ea typeface="黑体" panose="02010609060101010101" pitchFamily="49" charset="-122"/>
              </a:rPr>
              <a:t>基站</a:t>
            </a:r>
            <a:r>
              <a:rPr lang="zh-CN" altLang="en-US" sz="1400">
                <a:latin typeface="黑体" panose="02010609060101010101" pitchFamily="49" charset="-122"/>
                <a:ea typeface="黑体" panose="02010609060101010101" pitchFamily="49" charset="-122"/>
              </a:rPr>
              <a:t>主设备与天线的重要设备。</a:t>
            </a:r>
            <a:endParaRPr lang="zh-CN" altLang="en-US" sz="1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20276" y="341457"/>
            <a:ext cx="6328883" cy="506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二、无线通信工程</a:t>
            </a:r>
            <a:r>
              <a:rPr kumimoji="1" lang="en-US" altLang="zh-CN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----</a:t>
            </a:r>
            <a:r>
              <a:rPr kumimoji="1" lang="zh-CN" altLang="en-US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附属设备</a:t>
            </a:r>
            <a:endParaRPr kumimoji="1" lang="en-US" altLang="zh-CN" sz="224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20276" y="812757"/>
            <a:ext cx="8550724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水印.png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501" y="361640"/>
            <a:ext cx="1816233" cy="424520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223" y="1329804"/>
            <a:ext cx="3873998" cy="224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 descr="IMG_20111124_17090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8195" y="848199"/>
            <a:ext cx="2869485" cy="34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2"/>
          <p:cNvSpPr>
            <a:spLocks noChangeArrowheads="1"/>
          </p:cNvSpPr>
          <p:nvPr/>
        </p:nvSpPr>
        <p:spPr bwMode="auto">
          <a:xfrm>
            <a:off x="1988319" y="4085379"/>
            <a:ext cx="1872208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动环监控</a:t>
            </a:r>
            <a:endParaRPr kumimoji="1" lang="zh-CN" altLang="en-US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22"/>
          <p:cNvSpPr>
            <a:spLocks noChangeArrowheads="1"/>
          </p:cNvSpPr>
          <p:nvPr/>
        </p:nvSpPr>
        <p:spPr bwMode="auto">
          <a:xfrm>
            <a:off x="6046833" y="4341708"/>
            <a:ext cx="1872208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空调</a:t>
            </a:r>
            <a:endParaRPr kumimoji="1" lang="zh-CN" altLang="en-US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81" name="图片 5" descr="校徽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570" y="177800"/>
            <a:ext cx="2462530" cy="743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20276" y="341457"/>
            <a:ext cx="6328883" cy="471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三、其他类别工程介绍</a:t>
            </a:r>
            <a:endParaRPr kumimoji="1" lang="en-US" altLang="zh-CN" sz="224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20276" y="812757"/>
            <a:ext cx="8550724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水印.png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501" y="361640"/>
            <a:ext cx="1816233" cy="42452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052215" y="1095086"/>
            <a:ext cx="7848872" cy="4235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近十年来，国内信息网络的发展对通信基础设施提出了越来越高的要求。许多技术如</a:t>
            </a:r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DDN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kumimoji="1" lang="en-US" altLang="zh-CN" sz="1495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xDSL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56K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ISDN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、微波、帧中继、卫星通信等都成为人们的关注对象。</a:t>
            </a:r>
            <a:endParaRPr kumimoji="1" lang="en-US" altLang="zh-CN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微波通信（</a:t>
            </a:r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Microwave Communication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），是使用波长在</a:t>
            </a:r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毫米至</a:t>
            </a:r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米之间的电磁波——微波进行的通信。该波长段电磁波所对应的频率范围是</a:t>
            </a:r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300 MHz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0.3 GHz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~300 GHz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kumimoji="1" lang="en-US" altLang="zh-CN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同轴电缆通信、光纤通信和卫星通信等现代通信网传输方式不同的是，微波通信是直接使用微波作为介质进行的通信，不需要固体介质，当两点间直线距离内无障碍时就可以使用微波传送。利用微波进行通信具有容量大、质量好并可传至很远的距离，因此是国家通信网的一种重要通信手段，也普遍适用于各种专用通信网。</a:t>
            </a:r>
            <a:endParaRPr kumimoji="1" lang="en-US" altLang="zh-CN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kumimoji="1" lang="zh-CN" altLang="en-US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81" name="图片 5" descr="校徽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570" y="177800"/>
            <a:ext cx="2462530" cy="743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20276" y="341457"/>
            <a:ext cx="6328883" cy="471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24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三、其他类别工程介绍</a:t>
            </a:r>
            <a:endParaRPr kumimoji="1" lang="en-US" altLang="zh-CN" sz="224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直线连接符 3"/>
          <p:cNvCxnSpPr/>
          <p:nvPr/>
        </p:nvCxnSpPr>
        <p:spPr>
          <a:xfrm>
            <a:off x="420276" y="812757"/>
            <a:ext cx="8550724" cy="0"/>
          </a:xfrm>
          <a:prstGeom prst="lin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水印.png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501" y="361640"/>
            <a:ext cx="1816233" cy="42452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052215" y="1285284"/>
            <a:ext cx="7848872" cy="2854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卫星通信简单地说就是地球上（包括地面和低层大气中）的</a:t>
            </a:r>
            <a:r>
              <a:rPr kumimoji="1" lang="en-US" altLang="zh-CN" sz="1495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无线电通信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站间利用卫星作为中继而进行的通信。</a:t>
            </a:r>
            <a:endParaRPr kumimoji="1" lang="en-US" altLang="zh-CN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卫星通信的特点是：通信范围大；只要在卫星发射的电波所覆盖的范围内，从任何两点之间都可进行通信；不易受陆地灾害的影响（可靠性高）；只要设置地球站电路即可开通（开通电路迅速）；同时可在多处接收，能经济地实现广播、多址通信（多址特点）；电路设置非常灵活，可随时分散过于集中的话务量；同一信道可用于不同方向或不同区间（多址联接）。</a:t>
            </a:r>
            <a:endParaRPr kumimoji="1" lang="en-US" altLang="zh-CN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kumimoji="1" lang="zh-CN" altLang="zh-CN" sz="149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卫星通信系统由卫星端、地面端、用户端三部分组成。</a:t>
            </a:r>
            <a:endParaRPr kumimoji="1" lang="zh-CN" altLang="en-US" sz="149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81" name="图片 5" descr="校徽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570" y="177800"/>
            <a:ext cx="2462530" cy="743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水印.png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501" y="361640"/>
            <a:ext cx="1816233" cy="42452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1769923" y="1221488"/>
            <a:ext cx="5759869" cy="573547"/>
            <a:chOff x="4260" y="638"/>
            <a:chExt cx="8921" cy="966"/>
          </a:xfrm>
        </p:grpSpPr>
        <p:sp>
          <p:nvSpPr>
            <p:cNvPr id="6" name="矩形 5"/>
            <p:cNvSpPr/>
            <p:nvPr/>
          </p:nvSpPr>
          <p:spPr>
            <a:xfrm>
              <a:off x="11754" y="1545"/>
              <a:ext cx="1427" cy="59"/>
            </a:xfrm>
            <a:prstGeom prst="rect">
              <a:avLst/>
            </a:prstGeom>
            <a:solidFill>
              <a:srgbClr val="CBCB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5" dirty="0"/>
            </a:p>
          </p:txBody>
        </p:sp>
        <p:sp>
          <p:nvSpPr>
            <p:cNvPr id="7" name="TextBox 82"/>
            <p:cNvSpPr txBox="1"/>
            <p:nvPr/>
          </p:nvSpPr>
          <p:spPr>
            <a:xfrm>
              <a:off x="7277" y="638"/>
              <a:ext cx="2902" cy="785"/>
            </a:xfrm>
            <a:prstGeom prst="round2SameRect">
              <a:avLst>
                <a:gd name="adj1" fmla="val 27581"/>
                <a:gd name="adj2" fmla="val 0"/>
              </a:avLst>
            </a:prstGeom>
            <a:solidFill>
              <a:srgbClr val="28A6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990" b="1" dirty="0">
                  <a:latin typeface="微软雅黑" panose="020B0503020204020204" charset="-122"/>
                  <a:ea typeface="微软雅黑" panose="020B0503020204020204" charset="-122"/>
                </a:rPr>
                <a:t>课堂小结</a:t>
              </a:r>
              <a:endParaRPr lang="zh-CN" altLang="en-US" sz="299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4260" y="1545"/>
              <a:ext cx="1427" cy="59"/>
            </a:xfrm>
            <a:prstGeom prst="rect">
              <a:avLst/>
            </a:prstGeom>
            <a:solidFill>
              <a:srgbClr val="E400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5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5759" y="1545"/>
              <a:ext cx="1427" cy="59"/>
            </a:xfrm>
            <a:prstGeom prst="rect">
              <a:avLst/>
            </a:prstGeom>
            <a:solidFill>
              <a:srgbClr val="8EC6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5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7258" y="1545"/>
              <a:ext cx="1427" cy="59"/>
            </a:xfrm>
            <a:prstGeom prst="rect">
              <a:avLst/>
            </a:prstGeom>
            <a:solidFill>
              <a:srgbClr val="EF82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5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8756" y="1545"/>
              <a:ext cx="1427" cy="59"/>
            </a:xfrm>
            <a:prstGeom prst="rect">
              <a:avLst/>
            </a:prstGeom>
            <a:solidFill>
              <a:srgbClr val="28A6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5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10255" y="1545"/>
              <a:ext cx="1427" cy="59"/>
            </a:xfrm>
            <a:prstGeom prst="rect">
              <a:avLst/>
            </a:prstGeom>
            <a:solidFill>
              <a:srgbClr val="CF010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5" dirty="0"/>
            </a:p>
          </p:txBody>
        </p:sp>
      </p:grpSp>
      <p:sp>
        <p:nvSpPr>
          <p:cNvPr id="15" name="TextBox 98"/>
          <p:cNvSpPr txBox="1"/>
          <p:nvPr/>
        </p:nvSpPr>
        <p:spPr>
          <a:xfrm>
            <a:off x="1720331" y="3038454"/>
            <a:ext cx="6100636" cy="955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87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2</a:t>
            </a:r>
            <a:r>
              <a:rPr kumimoji="1" lang="zh-CN" altLang="en-US" sz="187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、无线通信工程主要包括主设备、配套设备和附属设备三部分</a:t>
            </a:r>
            <a:endParaRPr kumimoji="1" lang="zh-CN" altLang="en-US" sz="187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TextBox 99"/>
          <p:cNvSpPr txBox="1"/>
          <p:nvPr/>
        </p:nvSpPr>
        <p:spPr>
          <a:xfrm>
            <a:off x="1637507" y="2062078"/>
            <a:ext cx="6183460" cy="955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20675">
              <a:lnSpc>
                <a:spcPct val="150000"/>
              </a:lnSpc>
              <a:spcBef>
                <a:spcPct val="20000"/>
              </a:spcBef>
            </a:pPr>
            <a:r>
              <a:rPr lang="en-US" altLang="zh-CN" sz="1870" b="1" dirty="0">
                <a:solidFill>
                  <a:srgbClr val="F25600"/>
                </a:solidFill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kumimoji="1" lang="en-US" altLang="zh-CN" sz="187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kumimoji="1" lang="zh-CN" altLang="en-US" sz="187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kumimoji="1" lang="zh-CN" altLang="zh-CN" sz="187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通信工程</a:t>
            </a:r>
            <a:r>
              <a:rPr kumimoji="1" lang="zh-CN" altLang="en-US" sz="187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大体上可以分为无线通信工程、有线通信工程和其他类别的通信工程。</a:t>
            </a:r>
            <a:endParaRPr kumimoji="1" lang="en-US" altLang="zh-CN" sz="187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081" name="图片 5" descr="校徽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0570" y="177800"/>
            <a:ext cx="2462530" cy="743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mQ3NjQxYmZmN2ZkODIxYWNiNTEzMzQyMTZmNzQ1MmMifQ=="/>
  <p:tag name="COMMONDATA" val="eyJoZGlkIjoiZGFlNWRkNmVlMTQxOWJjOTRkYjEzOTE3MmJkY2Q1MWI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2402</Words>
  <Application>WPS 演示</Application>
  <PresentationFormat>自定义</PresentationFormat>
  <Paragraphs>164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3" baseType="lpstr">
      <vt:lpstr>Arial</vt:lpstr>
      <vt:lpstr>宋体</vt:lpstr>
      <vt:lpstr>Wingdings</vt:lpstr>
      <vt:lpstr>微软雅黑 Light</vt:lpstr>
      <vt:lpstr>微软雅黑</vt:lpstr>
      <vt:lpstr>新宋体</vt:lpstr>
      <vt:lpstr>黑体</vt:lpstr>
      <vt:lpstr>楷体_GB2312</vt:lpstr>
      <vt:lpstr>Calibri</vt:lpstr>
      <vt:lpstr>Arial Unicode MS</vt:lpstr>
      <vt:lpstr>等线 Light</vt:lpstr>
      <vt:lpstr>Calibri Light</vt:lpstr>
      <vt:lpstr>等线</vt:lpstr>
      <vt:lpstr>方正仿宋_GB2312</vt:lpstr>
      <vt:lpstr>自定义设计方案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Windows 用户</dc:creator>
  <cp:lastModifiedBy>WPS_1756649582</cp:lastModifiedBy>
  <cp:revision>176</cp:revision>
  <dcterms:created xsi:type="dcterms:W3CDTF">2016-04-25T01:13:00Z</dcterms:created>
  <dcterms:modified xsi:type="dcterms:W3CDTF">2025-09-01T06:55:37Z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2B75A85C78C14F88971A5D9F05433243_13</vt:lpwstr>
  </property>
</Properties>
</file>