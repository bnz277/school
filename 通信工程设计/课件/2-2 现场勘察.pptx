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28"/>
  </p:notesMasterIdLst>
  <p:sldIdLst>
    <p:sldId id="326" r:id="rId4"/>
    <p:sldId id="289" r:id="rId5"/>
    <p:sldId id="292" r:id="rId6"/>
    <p:sldId id="266" r:id="rId7"/>
    <p:sldId id="293" r:id="rId8"/>
    <p:sldId id="294" r:id="rId9"/>
    <p:sldId id="295" r:id="rId10"/>
    <p:sldId id="297" r:id="rId11"/>
    <p:sldId id="299" r:id="rId12"/>
    <p:sldId id="300" r:id="rId13"/>
    <p:sldId id="302" r:id="rId14"/>
    <p:sldId id="380" r:id="rId15"/>
    <p:sldId id="381" r:id="rId16"/>
    <p:sldId id="309" r:id="rId17"/>
    <p:sldId id="382" r:id="rId18"/>
    <p:sldId id="310" r:id="rId19"/>
    <p:sldId id="384" r:id="rId20"/>
    <p:sldId id="311" r:id="rId21"/>
    <p:sldId id="303" r:id="rId22"/>
    <p:sldId id="312" r:id="rId23"/>
    <p:sldId id="313" r:id="rId24"/>
    <p:sldId id="315" r:id="rId25"/>
    <p:sldId id="316" r:id="rId26"/>
    <p:sldId id="317" r:id="rId27"/>
    <p:sldId id="318" r:id="rId29"/>
    <p:sldId id="319" r:id="rId30"/>
    <p:sldId id="320" r:id="rId31"/>
    <p:sldId id="321" r:id="rId32"/>
    <p:sldId id="322" r:id="rId33"/>
    <p:sldId id="323" r:id="rId34"/>
    <p:sldId id="324" r:id="rId35"/>
    <p:sldId id="385" r:id="rId36"/>
    <p:sldId id="386" r:id="rId37"/>
    <p:sldId id="387" r:id="rId38"/>
    <p:sldId id="388" r:id="rId39"/>
    <p:sldId id="389" r:id="rId40"/>
    <p:sldId id="390" r:id="rId41"/>
    <p:sldId id="304" r:id="rId42"/>
    <p:sldId id="325" r:id="rId43"/>
    <p:sldId id="327" r:id="rId44"/>
    <p:sldId id="328" r:id="rId45"/>
    <p:sldId id="329" r:id="rId46"/>
    <p:sldId id="332" r:id="rId47"/>
    <p:sldId id="342" r:id="rId48"/>
    <p:sldId id="341" r:id="rId49"/>
    <p:sldId id="340" r:id="rId50"/>
    <p:sldId id="339" r:id="rId51"/>
    <p:sldId id="338" r:id="rId52"/>
    <p:sldId id="337" r:id="rId53"/>
    <p:sldId id="336" r:id="rId54"/>
    <p:sldId id="335" r:id="rId55"/>
    <p:sldId id="334" r:id="rId56"/>
    <p:sldId id="333" r:id="rId57"/>
    <p:sldId id="331" r:id="rId58"/>
    <p:sldId id="343" r:id="rId59"/>
    <p:sldId id="347" r:id="rId60"/>
    <p:sldId id="346" r:id="rId61"/>
    <p:sldId id="345" r:id="rId62"/>
    <p:sldId id="344" r:id="rId63"/>
    <p:sldId id="348" r:id="rId64"/>
    <p:sldId id="349" r:id="rId65"/>
    <p:sldId id="350" r:id="rId66"/>
    <p:sldId id="383" r:id="rId67"/>
    <p:sldId id="285" r:id="rId68"/>
  </p:sldIdLst>
  <p:sldSz cx="10259695" cy="5395595"/>
  <p:notesSz cx="6858000" cy="9144000"/>
  <p:custDataLst>
    <p:tags r:id="rId7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68" userDrawn="1">
          <p15:clr>
            <a:srgbClr val="A4A3A4"/>
          </p15:clr>
        </p15:guide>
        <p15:guide id="2" pos="329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倩倩" initials="Wqq"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AC4F1"/>
    <a:srgbClr val="F2F2F2"/>
    <a:srgbClr val="7DCDFF"/>
    <a:srgbClr val="9BD9FF"/>
    <a:srgbClr val="8AE1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92" d="100"/>
          <a:sy n="92" d="100"/>
        </p:scale>
        <p:origin x="432" y="90"/>
      </p:cViewPr>
      <p:guideLst>
        <p:guide orient="horz" pos="1768"/>
        <p:guide pos="329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3" Type="http://schemas.openxmlformats.org/officeDocument/2006/relationships/tags" Target="tags/tag1.xml"/><Relationship Id="rId72" Type="http://schemas.openxmlformats.org/officeDocument/2006/relationships/commentAuthors" Target="commentAuthors.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4.xml"/><Relationship Id="rId69" Type="http://schemas.openxmlformats.org/officeDocument/2006/relationships/presProps" Target="presProps.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notesMaster" Target="notesMasters/notesMaster1.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E0FEC91-376F-4B3F-A168-65C97BFAF66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69863" y="685800"/>
            <a:ext cx="651827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528F52-921D-4B5E-90E1-89DF6F6F587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528F52-921D-4B5E-90E1-89DF6F6F587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69501" y="1676384"/>
            <a:ext cx="8721013" cy="1156730"/>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539002" y="3057965"/>
            <a:ext cx="7182011" cy="1379082"/>
          </a:xfrm>
        </p:spPr>
        <p:txBody>
          <a:bodyPr/>
          <a:lstStyle>
            <a:lvl1pPr marL="0" indent="0" algn="ctr">
              <a:buNone/>
              <a:defRPr>
                <a:solidFill>
                  <a:schemeClr val="tx1">
                    <a:tint val="75000"/>
                  </a:schemeClr>
                </a:solidFill>
              </a:defRPr>
            </a:lvl1pPr>
            <a:lvl2pPr marL="360045" indent="0" algn="ctr">
              <a:buNone/>
              <a:defRPr>
                <a:solidFill>
                  <a:schemeClr val="tx1">
                    <a:tint val="75000"/>
                  </a:schemeClr>
                </a:solidFill>
              </a:defRPr>
            </a:lvl2pPr>
            <a:lvl3pPr marL="719455" indent="0" algn="ctr">
              <a:buNone/>
              <a:defRPr>
                <a:solidFill>
                  <a:schemeClr val="tx1">
                    <a:tint val="75000"/>
                  </a:schemeClr>
                </a:solidFill>
              </a:defRPr>
            </a:lvl3pPr>
            <a:lvl4pPr marL="1079500" indent="0" algn="ctr">
              <a:buNone/>
              <a:defRPr>
                <a:solidFill>
                  <a:schemeClr val="tx1">
                    <a:tint val="75000"/>
                  </a:schemeClr>
                </a:solidFill>
              </a:defRPr>
            </a:lvl4pPr>
            <a:lvl5pPr marL="1438910" indent="0" algn="ctr">
              <a:buNone/>
              <a:defRPr>
                <a:solidFill>
                  <a:schemeClr val="tx1">
                    <a:tint val="75000"/>
                  </a:schemeClr>
                </a:solidFill>
              </a:defRPr>
            </a:lvl5pPr>
            <a:lvl6pPr marL="1798955" indent="0" algn="ctr">
              <a:buNone/>
              <a:defRPr>
                <a:solidFill>
                  <a:schemeClr val="tx1">
                    <a:tint val="75000"/>
                  </a:schemeClr>
                </a:solidFill>
              </a:defRPr>
            </a:lvl6pPr>
            <a:lvl7pPr marL="2158365" indent="0" algn="ctr">
              <a:buNone/>
              <a:defRPr>
                <a:solidFill>
                  <a:schemeClr val="tx1">
                    <a:tint val="75000"/>
                  </a:schemeClr>
                </a:solidFill>
              </a:defRPr>
            </a:lvl7pPr>
            <a:lvl8pPr marL="2518410" indent="0" algn="ctr">
              <a:buNone/>
              <a:defRPr>
                <a:solidFill>
                  <a:schemeClr val="tx1">
                    <a:tint val="75000"/>
                  </a:schemeClr>
                </a:solidFill>
              </a:defRPr>
            </a:lvl8pPr>
            <a:lvl9pPr marL="287782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7353011" y="5001671"/>
            <a:ext cx="2394004" cy="287309"/>
          </a:xfrm>
          <a:prstGeom prst="rect">
            <a:avLst/>
          </a:prstGeom>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7353011" y="5001671"/>
            <a:ext cx="2394004" cy="287309"/>
          </a:xfrm>
          <a:prstGeom prst="rect">
            <a:avLst/>
          </a:prstGeom>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10471" y="3467692"/>
            <a:ext cx="8721013" cy="1071787"/>
          </a:xfrm>
        </p:spPr>
        <p:txBody>
          <a:bodyPr anchor="t"/>
          <a:lstStyle>
            <a:lvl1pPr algn="l">
              <a:defRPr sz="3150" b="1" cap="all"/>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10471" y="2287228"/>
            <a:ext cx="8721013" cy="1180464"/>
          </a:xfrm>
        </p:spPr>
        <p:txBody>
          <a:bodyPr anchor="b"/>
          <a:lstStyle>
            <a:lvl1pPr marL="0" indent="0">
              <a:buNone/>
              <a:defRPr sz="1575">
                <a:solidFill>
                  <a:schemeClr val="tx1">
                    <a:tint val="75000"/>
                  </a:schemeClr>
                </a:solidFill>
              </a:defRPr>
            </a:lvl1pPr>
            <a:lvl2pPr marL="360045" indent="0">
              <a:buNone/>
              <a:defRPr sz="1415">
                <a:solidFill>
                  <a:schemeClr val="tx1">
                    <a:tint val="75000"/>
                  </a:schemeClr>
                </a:solidFill>
              </a:defRPr>
            </a:lvl2pPr>
            <a:lvl3pPr marL="719455" indent="0">
              <a:buNone/>
              <a:defRPr sz="1260">
                <a:solidFill>
                  <a:schemeClr val="tx1">
                    <a:tint val="75000"/>
                  </a:schemeClr>
                </a:solidFill>
              </a:defRPr>
            </a:lvl3pPr>
            <a:lvl4pPr marL="1079500" indent="0">
              <a:buNone/>
              <a:defRPr sz="1100">
                <a:solidFill>
                  <a:schemeClr val="tx1">
                    <a:tint val="75000"/>
                  </a:schemeClr>
                </a:solidFill>
              </a:defRPr>
            </a:lvl4pPr>
            <a:lvl5pPr marL="1438910" indent="0">
              <a:buNone/>
              <a:defRPr sz="1100">
                <a:solidFill>
                  <a:schemeClr val="tx1">
                    <a:tint val="75000"/>
                  </a:schemeClr>
                </a:solidFill>
              </a:defRPr>
            </a:lvl5pPr>
            <a:lvl6pPr marL="1798955" indent="0">
              <a:buNone/>
              <a:defRPr sz="1100">
                <a:solidFill>
                  <a:schemeClr val="tx1">
                    <a:tint val="75000"/>
                  </a:schemeClr>
                </a:solidFill>
              </a:defRPr>
            </a:lvl6pPr>
            <a:lvl7pPr marL="2158365" indent="0">
              <a:buNone/>
              <a:defRPr sz="1100">
                <a:solidFill>
                  <a:schemeClr val="tx1">
                    <a:tint val="75000"/>
                  </a:schemeClr>
                </a:solidFill>
              </a:defRPr>
            </a:lvl7pPr>
            <a:lvl8pPr marL="2518410" indent="0">
              <a:buNone/>
              <a:defRPr sz="1100">
                <a:solidFill>
                  <a:schemeClr val="tx1">
                    <a:tint val="75000"/>
                  </a:schemeClr>
                </a:solidFill>
              </a:defRPr>
            </a:lvl8pPr>
            <a:lvl9pPr marL="2877820" indent="0">
              <a:buNone/>
              <a:defRPr sz="11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7353011" y="5001671"/>
            <a:ext cx="2394004" cy="287309"/>
          </a:xfrm>
          <a:prstGeom prst="rect">
            <a:avLst/>
          </a:prstGeom>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13001" y="1259162"/>
            <a:ext cx="4531507" cy="3561380"/>
          </a:xfrm>
        </p:spPr>
        <p:txBody>
          <a:bodyPr/>
          <a:lstStyle>
            <a:lvl1pPr>
              <a:defRPr sz="2205"/>
            </a:lvl1pPr>
            <a:lvl2pPr>
              <a:defRPr sz="1890"/>
            </a:lvl2pPr>
            <a:lvl3pPr>
              <a:defRPr sz="1575"/>
            </a:lvl3pPr>
            <a:lvl4pPr>
              <a:defRPr sz="1415"/>
            </a:lvl4pPr>
            <a:lvl5pPr>
              <a:defRPr sz="1415"/>
            </a:lvl5pPr>
            <a:lvl6pPr>
              <a:defRPr sz="1415"/>
            </a:lvl6pPr>
            <a:lvl7pPr>
              <a:defRPr sz="1415"/>
            </a:lvl7pPr>
            <a:lvl8pPr>
              <a:defRPr sz="1415"/>
            </a:lvl8pPr>
            <a:lvl9pPr>
              <a:defRPr sz="141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215508" y="1259162"/>
            <a:ext cx="4531507" cy="3561380"/>
          </a:xfrm>
        </p:spPr>
        <p:txBody>
          <a:bodyPr/>
          <a:lstStyle>
            <a:lvl1pPr>
              <a:defRPr sz="2205"/>
            </a:lvl1pPr>
            <a:lvl2pPr>
              <a:defRPr sz="1890"/>
            </a:lvl2pPr>
            <a:lvl3pPr>
              <a:defRPr sz="1575"/>
            </a:lvl3pPr>
            <a:lvl4pPr>
              <a:defRPr sz="1415"/>
            </a:lvl4pPr>
            <a:lvl5pPr>
              <a:defRPr sz="1415"/>
            </a:lvl5pPr>
            <a:lvl6pPr>
              <a:defRPr sz="1415"/>
            </a:lvl6pPr>
            <a:lvl7pPr>
              <a:defRPr sz="1415"/>
            </a:lvl7pPr>
            <a:lvl8pPr>
              <a:defRPr sz="1415"/>
            </a:lvl8pPr>
            <a:lvl9pPr>
              <a:defRPr sz="141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7353011" y="5001671"/>
            <a:ext cx="2394004" cy="287309"/>
          </a:xfrm>
          <a:prstGeom prst="rect">
            <a:avLst/>
          </a:prstGeom>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513001" y="1207946"/>
            <a:ext cx="4533289" cy="503415"/>
          </a:xfrm>
        </p:spPr>
        <p:txBody>
          <a:bodyPr anchor="b"/>
          <a:lstStyle>
            <a:lvl1pPr marL="0" indent="0">
              <a:buNone/>
              <a:defRPr sz="1890" b="1"/>
            </a:lvl1pPr>
            <a:lvl2pPr marL="360045" indent="0">
              <a:buNone/>
              <a:defRPr sz="1575" b="1"/>
            </a:lvl2pPr>
            <a:lvl3pPr marL="719455" indent="0">
              <a:buNone/>
              <a:defRPr sz="1415" b="1"/>
            </a:lvl3pPr>
            <a:lvl4pPr marL="1079500" indent="0">
              <a:buNone/>
              <a:defRPr sz="1260" b="1"/>
            </a:lvl4pPr>
            <a:lvl5pPr marL="1438910" indent="0">
              <a:buNone/>
              <a:defRPr sz="1260" b="1"/>
            </a:lvl5pPr>
            <a:lvl6pPr marL="1798955" indent="0">
              <a:buNone/>
              <a:defRPr sz="1260" b="1"/>
            </a:lvl6pPr>
            <a:lvl7pPr marL="2158365" indent="0">
              <a:buNone/>
              <a:defRPr sz="1260" b="1"/>
            </a:lvl7pPr>
            <a:lvl8pPr marL="2518410" indent="0">
              <a:buNone/>
              <a:defRPr sz="1260" b="1"/>
            </a:lvl8pPr>
            <a:lvl9pPr marL="2877820" indent="0">
              <a:buNone/>
              <a:defRPr sz="126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513001" y="1711361"/>
            <a:ext cx="4533289" cy="3109181"/>
          </a:xfrm>
        </p:spPr>
        <p:txBody>
          <a:bodyPr/>
          <a:lstStyle>
            <a:lvl1pPr>
              <a:defRPr sz="1890"/>
            </a:lvl1pPr>
            <a:lvl2pPr>
              <a:defRPr sz="1575"/>
            </a:lvl2pPr>
            <a:lvl3pPr>
              <a:defRPr sz="1415"/>
            </a:lvl3pPr>
            <a:lvl4pPr>
              <a:defRPr sz="1260"/>
            </a:lvl4pPr>
            <a:lvl5pPr>
              <a:defRPr sz="1260"/>
            </a:lvl5pPr>
            <a:lvl6pPr>
              <a:defRPr sz="1260"/>
            </a:lvl6pPr>
            <a:lvl7pPr>
              <a:defRPr sz="1260"/>
            </a:lvl7pPr>
            <a:lvl8pPr>
              <a:defRPr sz="1260"/>
            </a:lvl8pPr>
            <a:lvl9pPr>
              <a:defRPr sz="126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5211945" y="1207946"/>
            <a:ext cx="4535069" cy="503415"/>
          </a:xfrm>
        </p:spPr>
        <p:txBody>
          <a:bodyPr anchor="b"/>
          <a:lstStyle>
            <a:lvl1pPr marL="0" indent="0">
              <a:buNone/>
              <a:defRPr sz="1890" b="1"/>
            </a:lvl1pPr>
            <a:lvl2pPr marL="360045" indent="0">
              <a:buNone/>
              <a:defRPr sz="1575" b="1"/>
            </a:lvl2pPr>
            <a:lvl3pPr marL="719455" indent="0">
              <a:buNone/>
              <a:defRPr sz="1415" b="1"/>
            </a:lvl3pPr>
            <a:lvl4pPr marL="1079500" indent="0">
              <a:buNone/>
              <a:defRPr sz="1260" b="1"/>
            </a:lvl4pPr>
            <a:lvl5pPr marL="1438910" indent="0">
              <a:buNone/>
              <a:defRPr sz="1260" b="1"/>
            </a:lvl5pPr>
            <a:lvl6pPr marL="1798955" indent="0">
              <a:buNone/>
              <a:defRPr sz="1260" b="1"/>
            </a:lvl6pPr>
            <a:lvl7pPr marL="2158365" indent="0">
              <a:buNone/>
              <a:defRPr sz="1260" b="1"/>
            </a:lvl7pPr>
            <a:lvl8pPr marL="2518410" indent="0">
              <a:buNone/>
              <a:defRPr sz="1260" b="1"/>
            </a:lvl8pPr>
            <a:lvl9pPr marL="2877820" indent="0">
              <a:buNone/>
              <a:defRPr sz="126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5211945" y="1711361"/>
            <a:ext cx="4535069" cy="3109181"/>
          </a:xfrm>
        </p:spPr>
        <p:txBody>
          <a:bodyPr/>
          <a:lstStyle>
            <a:lvl1pPr>
              <a:defRPr sz="1890"/>
            </a:lvl1pPr>
            <a:lvl2pPr>
              <a:defRPr sz="1575"/>
            </a:lvl2pPr>
            <a:lvl3pPr>
              <a:defRPr sz="1415"/>
            </a:lvl3pPr>
            <a:lvl4pPr>
              <a:defRPr sz="1260"/>
            </a:lvl4pPr>
            <a:lvl5pPr>
              <a:defRPr sz="1260"/>
            </a:lvl5pPr>
            <a:lvl6pPr>
              <a:defRPr sz="1260"/>
            </a:lvl6pPr>
            <a:lvl7pPr>
              <a:defRPr sz="1260"/>
            </a:lvl7pPr>
            <a:lvl8pPr>
              <a:defRPr sz="1260"/>
            </a:lvl8pPr>
            <a:lvl9pPr>
              <a:defRPr sz="126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a:xfrm>
            <a:off x="7353011" y="5001671"/>
            <a:ext cx="2394004" cy="287309"/>
          </a:xfrm>
          <a:prstGeom prst="rect">
            <a:avLst/>
          </a:prstGeom>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a:xfrm>
            <a:off x="7353011" y="5001671"/>
            <a:ext cx="2394004" cy="287309"/>
          </a:xfrm>
          <a:prstGeom prst="rect">
            <a:avLst/>
          </a:prstGeom>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7353011" y="5001671"/>
            <a:ext cx="2394004" cy="287309"/>
          </a:xfrm>
          <a:prstGeom prst="rect">
            <a:avLst/>
          </a:prstGeom>
        </p:spPr>
        <p:txBody>
          <a:bodyPr/>
          <a:lstStyle/>
          <a:p>
            <a:fld id="{3CC7CE68-6336-48CD-AE7B-F127D826DA1E}"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13001" y="214857"/>
            <a:ext cx="3375474" cy="914391"/>
          </a:xfrm>
        </p:spPr>
        <p:txBody>
          <a:bodyPr anchor="b"/>
          <a:lstStyle>
            <a:lvl1pPr algn="l">
              <a:defRPr sz="1575" b="1"/>
            </a:lvl1pPr>
          </a:lstStyle>
          <a:p>
            <a:r>
              <a:rPr lang="zh-CN" altLang="en-US"/>
              <a:t>单击此处编辑母版标题样式</a:t>
            </a:r>
            <a:endParaRPr lang="zh-CN" altLang="en-US"/>
          </a:p>
        </p:txBody>
      </p:sp>
      <p:sp>
        <p:nvSpPr>
          <p:cNvPr id="3" name="内容占位符 2"/>
          <p:cNvSpPr>
            <a:spLocks noGrp="1"/>
          </p:cNvSpPr>
          <p:nvPr>
            <p:ph idx="1"/>
          </p:nvPr>
        </p:nvSpPr>
        <p:spPr>
          <a:xfrm>
            <a:off x="4011381" y="214857"/>
            <a:ext cx="5735634" cy="4605685"/>
          </a:xfrm>
        </p:spPr>
        <p:txBody>
          <a:bodyPr/>
          <a:lstStyle>
            <a:lvl1pPr>
              <a:defRPr sz="2520"/>
            </a:lvl1pPr>
            <a:lvl2pPr>
              <a:defRPr sz="2205"/>
            </a:lvl2pPr>
            <a:lvl3pPr>
              <a:defRPr sz="1890"/>
            </a:lvl3pPr>
            <a:lvl4pPr>
              <a:defRPr sz="1575"/>
            </a:lvl4pPr>
            <a:lvl5pPr>
              <a:defRPr sz="1575"/>
            </a:lvl5pPr>
            <a:lvl6pPr>
              <a:defRPr sz="1575"/>
            </a:lvl6pPr>
            <a:lvl7pPr>
              <a:defRPr sz="1575"/>
            </a:lvl7pPr>
            <a:lvl8pPr>
              <a:defRPr sz="1575"/>
            </a:lvl8pPr>
            <a:lvl9pPr>
              <a:defRPr sz="157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513001" y="1129248"/>
            <a:ext cx="3375474" cy="3691293"/>
          </a:xfrm>
        </p:spPr>
        <p:txBody>
          <a:bodyPr/>
          <a:lstStyle>
            <a:lvl1pPr marL="0" indent="0">
              <a:buNone/>
              <a:defRPr sz="1100"/>
            </a:lvl1pPr>
            <a:lvl2pPr marL="360045" indent="0">
              <a:buNone/>
              <a:defRPr sz="945"/>
            </a:lvl2pPr>
            <a:lvl3pPr marL="719455" indent="0">
              <a:buNone/>
              <a:defRPr sz="785"/>
            </a:lvl3pPr>
            <a:lvl4pPr marL="1079500" indent="0">
              <a:buNone/>
              <a:defRPr sz="710"/>
            </a:lvl4pPr>
            <a:lvl5pPr marL="1438910" indent="0">
              <a:buNone/>
              <a:defRPr sz="710"/>
            </a:lvl5pPr>
            <a:lvl6pPr marL="1798955" indent="0">
              <a:buNone/>
              <a:defRPr sz="710"/>
            </a:lvl6pPr>
            <a:lvl7pPr marL="2158365" indent="0">
              <a:buNone/>
              <a:defRPr sz="710"/>
            </a:lvl7pPr>
            <a:lvl8pPr marL="2518410" indent="0">
              <a:buNone/>
              <a:defRPr sz="710"/>
            </a:lvl8pPr>
            <a:lvl9pPr marL="2877820" indent="0">
              <a:buNone/>
              <a:defRPr sz="71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7353011" y="5001671"/>
            <a:ext cx="2394004" cy="287309"/>
          </a:xfrm>
          <a:prstGeom prst="rect">
            <a:avLst/>
          </a:prstGeom>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011035" y="3777486"/>
            <a:ext cx="6156009" cy="445954"/>
          </a:xfrm>
        </p:spPr>
        <p:txBody>
          <a:bodyPr anchor="b"/>
          <a:lstStyle>
            <a:lvl1pPr algn="l">
              <a:defRPr sz="157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011035" y="482179"/>
            <a:ext cx="6156009" cy="3237845"/>
          </a:xfrm>
        </p:spPr>
        <p:txBody>
          <a:bodyPr/>
          <a:lstStyle>
            <a:lvl1pPr marL="0" indent="0">
              <a:buNone/>
              <a:defRPr sz="2520"/>
            </a:lvl1pPr>
            <a:lvl2pPr marL="360045" indent="0">
              <a:buNone/>
              <a:defRPr sz="2205"/>
            </a:lvl2pPr>
            <a:lvl3pPr marL="719455" indent="0">
              <a:buNone/>
              <a:defRPr sz="1890"/>
            </a:lvl3pPr>
            <a:lvl4pPr marL="1079500" indent="0">
              <a:buNone/>
              <a:defRPr sz="1575"/>
            </a:lvl4pPr>
            <a:lvl5pPr marL="1438910" indent="0">
              <a:buNone/>
              <a:defRPr sz="1575"/>
            </a:lvl5pPr>
            <a:lvl6pPr marL="1798955" indent="0">
              <a:buNone/>
              <a:defRPr sz="1575"/>
            </a:lvl6pPr>
            <a:lvl7pPr marL="2158365" indent="0">
              <a:buNone/>
              <a:defRPr sz="1575"/>
            </a:lvl7pPr>
            <a:lvl8pPr marL="2518410" indent="0">
              <a:buNone/>
              <a:defRPr sz="1575"/>
            </a:lvl8pPr>
            <a:lvl9pPr marL="2877820" indent="0">
              <a:buNone/>
              <a:defRPr sz="1575"/>
            </a:lvl9pPr>
          </a:lstStyle>
          <a:p>
            <a:endParaRPr lang="zh-CN" altLang="en-US"/>
          </a:p>
        </p:txBody>
      </p:sp>
      <p:sp>
        <p:nvSpPr>
          <p:cNvPr id="4" name="文本占位符 3"/>
          <p:cNvSpPr>
            <a:spLocks noGrp="1"/>
          </p:cNvSpPr>
          <p:nvPr>
            <p:ph type="body" sz="half" idx="2"/>
          </p:nvPr>
        </p:nvSpPr>
        <p:spPr>
          <a:xfrm>
            <a:off x="2011035" y="4223439"/>
            <a:ext cx="6156009" cy="633328"/>
          </a:xfrm>
        </p:spPr>
        <p:txBody>
          <a:bodyPr/>
          <a:lstStyle>
            <a:lvl1pPr marL="0" indent="0">
              <a:buNone/>
              <a:defRPr sz="1100"/>
            </a:lvl1pPr>
            <a:lvl2pPr marL="360045" indent="0">
              <a:buNone/>
              <a:defRPr sz="945"/>
            </a:lvl2pPr>
            <a:lvl3pPr marL="719455" indent="0">
              <a:buNone/>
              <a:defRPr sz="785"/>
            </a:lvl3pPr>
            <a:lvl4pPr marL="1079500" indent="0">
              <a:buNone/>
              <a:defRPr sz="710"/>
            </a:lvl4pPr>
            <a:lvl5pPr marL="1438910" indent="0">
              <a:buNone/>
              <a:defRPr sz="710"/>
            </a:lvl5pPr>
            <a:lvl6pPr marL="1798955" indent="0">
              <a:buNone/>
              <a:defRPr sz="710"/>
            </a:lvl6pPr>
            <a:lvl7pPr marL="2158365" indent="0">
              <a:buNone/>
              <a:defRPr sz="710"/>
            </a:lvl7pPr>
            <a:lvl8pPr marL="2518410" indent="0">
              <a:buNone/>
              <a:defRPr sz="710"/>
            </a:lvl8pPr>
            <a:lvl9pPr marL="2877820" indent="0">
              <a:buNone/>
              <a:defRPr sz="71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7353011" y="5001671"/>
            <a:ext cx="2394004" cy="287309"/>
          </a:xfrm>
          <a:prstGeom prst="rect">
            <a:avLst/>
          </a:prstGeom>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7353011" y="5001671"/>
            <a:ext cx="2394004" cy="287309"/>
          </a:xfrm>
          <a:prstGeom prst="rect">
            <a:avLst/>
          </a:prstGeom>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438511" y="216107"/>
            <a:ext cx="2308504" cy="460443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513001" y="216107"/>
            <a:ext cx="6754510" cy="460443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7353011" y="5001671"/>
            <a:ext cx="2394004" cy="287309"/>
          </a:xfrm>
          <a:prstGeom prst="rect">
            <a:avLst/>
          </a:prstGeom>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目录A1">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69938" y="1676400"/>
            <a:ext cx="8720137" cy="1155700"/>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538288" y="3057525"/>
            <a:ext cx="7183437" cy="1379538"/>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11213" y="3467100"/>
            <a:ext cx="8720137" cy="1071563"/>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11213" y="2287588"/>
            <a:ext cx="8720137" cy="1179512"/>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12763" y="1258888"/>
            <a:ext cx="4540250" cy="3560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205413" y="1258888"/>
            <a:ext cx="4541837" cy="3560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512763" y="1208088"/>
            <a:ext cx="4533900" cy="5032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512763" y="1711325"/>
            <a:ext cx="4533900" cy="3108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5211763" y="1208088"/>
            <a:ext cx="4535487" cy="5032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5211763" y="1711325"/>
            <a:ext cx="4535487" cy="3108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12763" y="214313"/>
            <a:ext cx="3375025" cy="91440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011613" y="214313"/>
            <a:ext cx="5735637" cy="46053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512763" y="1128713"/>
            <a:ext cx="3375025" cy="369093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011363" y="3776663"/>
            <a:ext cx="6156325" cy="446087"/>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011363" y="482600"/>
            <a:ext cx="6156325" cy="32369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011363" y="4222750"/>
            <a:ext cx="6156325" cy="63341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439025" y="215900"/>
            <a:ext cx="2308225" cy="46037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512763" y="215900"/>
            <a:ext cx="6773862" cy="46037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0" y="321692"/>
            <a:ext cx="10260016" cy="720080"/>
          </a:xfrm>
          <a:prstGeom prst="rect">
            <a:avLst/>
          </a:prstGeom>
          <a:noFill/>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513001" y="1259162"/>
            <a:ext cx="9234014" cy="3561380"/>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517306" y="4995446"/>
            <a:ext cx="2394004" cy="287309"/>
          </a:xfrm>
          <a:prstGeom prst="rect">
            <a:avLst/>
          </a:prstGeom>
        </p:spPr>
        <p:txBody>
          <a:bodyPr vert="horz" lIns="91440" tIns="45720" rIns="91440" bIns="45720" rtlCol="0" anchor="ctr"/>
          <a:lstStyle>
            <a:lvl1pPr algn="l">
              <a:defRPr sz="945">
                <a:solidFill>
                  <a:schemeClr val="tx1">
                    <a:tint val="75000"/>
                  </a:schemeClr>
                </a:solidFill>
              </a:defRPr>
            </a:lvl1pPr>
          </a:lstStyle>
          <a:p>
            <a:endParaRPr lang="zh-CN" altLang="en-US" dirty="0"/>
          </a:p>
        </p:txBody>
      </p:sp>
      <p:sp>
        <p:nvSpPr>
          <p:cNvPr id="5" name="页脚占位符 4"/>
          <p:cNvSpPr>
            <a:spLocks noGrp="1"/>
          </p:cNvSpPr>
          <p:nvPr>
            <p:ph type="ftr" sz="quarter" idx="3"/>
          </p:nvPr>
        </p:nvSpPr>
        <p:spPr>
          <a:xfrm>
            <a:off x="3505505" y="5001671"/>
            <a:ext cx="3249005" cy="287309"/>
          </a:xfrm>
          <a:prstGeom prst="rect">
            <a:avLst/>
          </a:prstGeom>
        </p:spPr>
        <p:txBody>
          <a:bodyPr vert="horz" lIns="91440" tIns="45720" rIns="91440" bIns="45720" rtlCol="0" anchor="ctr"/>
          <a:lstStyle>
            <a:lvl1pPr algn="ctr">
              <a:defRPr sz="945">
                <a:solidFill>
                  <a:schemeClr val="tx1">
                    <a:tint val="75000"/>
                  </a:schemeClr>
                </a:solidFill>
              </a:defRPr>
            </a:lvl1pPr>
          </a:lstStyle>
          <a:p>
            <a:endParaRPr lang="zh-CN" altLang="en-US"/>
          </a:p>
        </p:txBody>
      </p:sp>
      <p:pic>
        <p:nvPicPr>
          <p:cNvPr id="8" name="图片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42374" y="5090761"/>
            <a:ext cx="1679056" cy="202339"/>
          </a:xfrm>
          <a:prstGeom prst="rect">
            <a:avLst/>
          </a:prstGeom>
        </p:spPr>
      </p:pic>
      <p:sp>
        <p:nvSpPr>
          <p:cNvPr id="6" name="文本框 5"/>
          <p:cNvSpPr txBox="1"/>
          <p:nvPr userDrawn="1"/>
        </p:nvSpPr>
        <p:spPr>
          <a:xfrm>
            <a:off x="89446" y="5090761"/>
            <a:ext cx="1334020" cy="246221"/>
          </a:xfrm>
          <a:prstGeom prst="rect">
            <a:avLst/>
          </a:prstGeom>
          <a:noFill/>
        </p:spPr>
        <p:txBody>
          <a:bodyPr wrap="none" rtlCol="0">
            <a:spAutoFit/>
          </a:bodyPr>
          <a:lstStyle/>
          <a:p>
            <a:r>
              <a:rPr lang="zh-CN" altLang="en-US" sz="1000" dirty="0">
                <a:latin typeface="微软雅黑 Light" panose="020B0502040204020203" pitchFamily="34" charset="-122"/>
                <a:ea typeface="微软雅黑 Light" panose="020B0502040204020203" pitchFamily="34" charset="-122"/>
              </a:rPr>
              <a:t>▲</a:t>
            </a:r>
            <a:r>
              <a:rPr lang="zh-CN" altLang="en-US" sz="900" dirty="0">
                <a:latin typeface="微软雅黑 Light" panose="020B0502040204020203" pitchFamily="34" charset="-122"/>
                <a:ea typeface="微软雅黑 Light" panose="020B0502040204020203" pitchFamily="34" charset="-122"/>
              </a:rPr>
              <a:t>版权归经世教育所有</a:t>
            </a:r>
            <a:endParaRPr lang="zh-CN" altLang="en-US" sz="900" dirty="0">
              <a:latin typeface="微软雅黑 Light" panose="020B0502040204020203" pitchFamily="34" charset="-122"/>
              <a:ea typeface="微软雅黑 Light" panose="020B0502040204020203"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719455" rtl="0" eaLnBrk="1" latinLnBrk="0" hangingPunct="1">
        <a:spcBef>
          <a:spcPct val="0"/>
        </a:spcBef>
        <a:buNone/>
        <a:defRPr sz="2800" b="0" kern="1200">
          <a:solidFill>
            <a:schemeClr val="tx1"/>
          </a:solidFill>
          <a:latin typeface="新宋体" panose="02010609030101010101" pitchFamily="49" charset="-122"/>
          <a:ea typeface="新宋体" panose="02010609030101010101" pitchFamily="49" charset="-122"/>
          <a:cs typeface="+mj-cs"/>
        </a:defRPr>
      </a:lvl1pPr>
    </p:titleStyle>
    <p:bodyStyle>
      <a:lvl1pPr marL="269875" indent="-269240" algn="l" defTabSz="719455" rtl="0" eaLnBrk="1" latinLnBrk="0" hangingPunct="1">
        <a:spcBef>
          <a:spcPts val="75"/>
        </a:spcBef>
        <a:buFont typeface="Arial" panose="020B0604020202020204" pitchFamily="34" charset="0"/>
        <a:buChar char="•"/>
        <a:defRPr sz="2520" kern="1200">
          <a:solidFill>
            <a:schemeClr val="tx1"/>
          </a:solidFill>
          <a:latin typeface="+mn-lt"/>
          <a:ea typeface="+mn-ea"/>
          <a:cs typeface="+mn-cs"/>
        </a:defRPr>
      </a:lvl1pPr>
      <a:lvl2pPr marL="584835" indent="-224155" algn="l" defTabSz="719455" rtl="0" eaLnBrk="1" latinLnBrk="0" hangingPunct="1">
        <a:spcBef>
          <a:spcPts val="75"/>
        </a:spcBef>
        <a:buFont typeface="Arial" panose="020B0604020202020204" pitchFamily="34" charset="0"/>
        <a:buChar char="–"/>
        <a:defRPr sz="2205" kern="1200">
          <a:solidFill>
            <a:schemeClr val="tx1"/>
          </a:solidFill>
          <a:latin typeface="+mn-lt"/>
          <a:ea typeface="+mn-ea"/>
          <a:cs typeface="+mn-cs"/>
        </a:defRPr>
      </a:lvl2pPr>
      <a:lvl3pPr marL="899160" indent="-179070" algn="l" defTabSz="719455" rtl="0" eaLnBrk="1" latinLnBrk="0" hangingPunct="1">
        <a:spcBef>
          <a:spcPts val="75"/>
        </a:spcBef>
        <a:buFont typeface="Arial" panose="020B0604020202020204" pitchFamily="34" charset="0"/>
        <a:buChar char="•"/>
        <a:defRPr sz="1890" kern="1200">
          <a:solidFill>
            <a:schemeClr val="tx1"/>
          </a:solidFill>
          <a:latin typeface="+mn-lt"/>
          <a:ea typeface="+mn-ea"/>
          <a:cs typeface="+mn-cs"/>
        </a:defRPr>
      </a:lvl3pPr>
      <a:lvl4pPr marL="12592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4pPr>
      <a:lvl5pPr marL="16186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5pPr>
      <a:lvl6pPr marL="19786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6pPr>
      <a:lvl7pPr marL="23387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7pPr>
      <a:lvl8pPr marL="26981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8pPr>
      <a:lvl9pPr marL="30581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9pPr>
    </p:bodyStyle>
    <p:otherStyle>
      <a:defPPr>
        <a:defRPr lang="zh-CN"/>
      </a:defPPr>
      <a:lvl1pPr marL="0" algn="l" defTabSz="719455" rtl="0" eaLnBrk="1" latinLnBrk="0" hangingPunct="1">
        <a:defRPr sz="1415" kern="1200">
          <a:solidFill>
            <a:schemeClr val="tx1"/>
          </a:solidFill>
          <a:latin typeface="+mn-lt"/>
          <a:ea typeface="+mn-ea"/>
          <a:cs typeface="+mn-cs"/>
        </a:defRPr>
      </a:lvl1pPr>
      <a:lvl2pPr marL="360045" algn="l" defTabSz="719455" rtl="0" eaLnBrk="1" latinLnBrk="0" hangingPunct="1">
        <a:defRPr sz="1415" kern="1200">
          <a:solidFill>
            <a:schemeClr val="tx1"/>
          </a:solidFill>
          <a:latin typeface="+mn-lt"/>
          <a:ea typeface="+mn-ea"/>
          <a:cs typeface="+mn-cs"/>
        </a:defRPr>
      </a:lvl2pPr>
      <a:lvl3pPr marL="719455" algn="l" defTabSz="719455" rtl="0" eaLnBrk="1" latinLnBrk="0" hangingPunct="1">
        <a:defRPr sz="1415" kern="1200">
          <a:solidFill>
            <a:schemeClr val="tx1"/>
          </a:solidFill>
          <a:latin typeface="+mn-lt"/>
          <a:ea typeface="+mn-ea"/>
          <a:cs typeface="+mn-cs"/>
        </a:defRPr>
      </a:lvl3pPr>
      <a:lvl4pPr marL="1079500" algn="l" defTabSz="719455" rtl="0" eaLnBrk="1" latinLnBrk="0" hangingPunct="1">
        <a:defRPr sz="1415" kern="1200">
          <a:solidFill>
            <a:schemeClr val="tx1"/>
          </a:solidFill>
          <a:latin typeface="+mn-lt"/>
          <a:ea typeface="+mn-ea"/>
          <a:cs typeface="+mn-cs"/>
        </a:defRPr>
      </a:lvl4pPr>
      <a:lvl5pPr marL="1438910" algn="l" defTabSz="719455" rtl="0" eaLnBrk="1" latinLnBrk="0" hangingPunct="1">
        <a:defRPr sz="1415" kern="1200">
          <a:solidFill>
            <a:schemeClr val="tx1"/>
          </a:solidFill>
          <a:latin typeface="+mn-lt"/>
          <a:ea typeface="+mn-ea"/>
          <a:cs typeface="+mn-cs"/>
        </a:defRPr>
      </a:lvl5pPr>
      <a:lvl6pPr marL="1798955" algn="l" defTabSz="719455" rtl="0" eaLnBrk="1" latinLnBrk="0" hangingPunct="1">
        <a:defRPr sz="1415" kern="1200">
          <a:solidFill>
            <a:schemeClr val="tx1"/>
          </a:solidFill>
          <a:latin typeface="+mn-lt"/>
          <a:ea typeface="+mn-ea"/>
          <a:cs typeface="+mn-cs"/>
        </a:defRPr>
      </a:lvl6pPr>
      <a:lvl7pPr marL="2158365" algn="l" defTabSz="719455" rtl="0" eaLnBrk="1" latinLnBrk="0" hangingPunct="1">
        <a:defRPr sz="1415" kern="1200">
          <a:solidFill>
            <a:schemeClr val="tx1"/>
          </a:solidFill>
          <a:latin typeface="+mn-lt"/>
          <a:ea typeface="+mn-ea"/>
          <a:cs typeface="+mn-cs"/>
        </a:defRPr>
      </a:lvl7pPr>
      <a:lvl8pPr marL="2518410" algn="l" defTabSz="719455" rtl="0" eaLnBrk="1" latinLnBrk="0" hangingPunct="1">
        <a:defRPr sz="1415" kern="1200">
          <a:solidFill>
            <a:schemeClr val="tx1"/>
          </a:solidFill>
          <a:latin typeface="+mn-lt"/>
          <a:ea typeface="+mn-ea"/>
          <a:cs typeface="+mn-cs"/>
        </a:defRPr>
      </a:lvl8pPr>
      <a:lvl9pPr marL="2877820" algn="l" defTabSz="719455" rtl="0" eaLnBrk="1" latinLnBrk="0" hangingPunct="1">
        <a:defRPr sz="14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12763" y="215900"/>
            <a:ext cx="9234487" cy="90011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512763" y="1258888"/>
            <a:ext cx="9234487" cy="356076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512763" y="5000625"/>
            <a:ext cx="2393950" cy="287338"/>
          </a:xfrm>
          <a:prstGeom prst="rect">
            <a:avLst/>
          </a:prstGeom>
        </p:spPr>
        <p:txBody>
          <a:bodyPr vert="horz" lIns="91440" tIns="45720" rIns="91440" bIns="45720" rtlCol="0" anchor="ctr"/>
          <a:lstStyle>
            <a:lvl1pPr algn="l">
              <a:defRPr sz="1200">
                <a:solidFill>
                  <a:schemeClr val="tx1">
                    <a:tint val="75000"/>
                  </a:schemeClr>
                </a:solidFill>
              </a:defRPr>
            </a:lvl1pPr>
          </a:lstStyle>
          <a:p>
            <a:fld id="{D0B1E9A6-3BBE-4152-ABC2-7AF76252B64C}" type="datetimeFigureOut">
              <a:rPr lang="zh-CN" altLang="en-US" smtClean="0"/>
            </a:fld>
            <a:endParaRPr lang="zh-CN" altLang="en-US"/>
          </a:p>
        </p:txBody>
      </p:sp>
      <p:sp>
        <p:nvSpPr>
          <p:cNvPr id="5" name="页脚占位符 4"/>
          <p:cNvSpPr>
            <a:spLocks noGrp="1"/>
          </p:cNvSpPr>
          <p:nvPr>
            <p:ph type="ftr" sz="quarter" idx="3"/>
          </p:nvPr>
        </p:nvSpPr>
        <p:spPr>
          <a:xfrm>
            <a:off x="3505200" y="5000625"/>
            <a:ext cx="3249613" cy="287338"/>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7353300" y="5000625"/>
            <a:ext cx="2393950" cy="287338"/>
          </a:xfrm>
          <a:prstGeom prst="rect">
            <a:avLst/>
          </a:prstGeom>
        </p:spPr>
        <p:txBody>
          <a:bodyPr vert="horz" lIns="91440" tIns="45720" rIns="91440" bIns="45720" rtlCol="0" anchor="ctr"/>
          <a:lstStyle>
            <a:lvl1pPr algn="r">
              <a:defRPr sz="1200">
                <a:solidFill>
                  <a:schemeClr val="tx1">
                    <a:tint val="75000"/>
                  </a:schemeClr>
                </a:solidFill>
              </a:defRPr>
            </a:lvl1pPr>
          </a:lstStyle>
          <a:p>
            <a:fld id="{480A614B-7A5B-4F2F-9614-821D6EA5116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9.emf"/><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vmlDrawing" Target="../drawings/vmlDrawing1.vml"/><Relationship Id="rId7"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1.emf"/><Relationship Id="rId4" Type="http://schemas.openxmlformats.org/officeDocument/2006/relationships/oleObject" Target="../embeddings/oleObject2.bin"/><Relationship Id="rId3" Type="http://schemas.openxmlformats.org/officeDocument/2006/relationships/image" Target="../media/image10.emf"/><Relationship Id="rId2" Type="http://schemas.openxmlformats.org/officeDocument/2006/relationships/oleObject" Target="../embeddings/oleObject1.bin"/><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2.png"/><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3.png"/><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4.png"/><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6.png"/><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9.png"/><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image" Target="../media/image2.png"/></Relationships>
</file>

<file path=ppt/slides/_rels/slide52.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image" Target="../media/image2.png"/></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33.png"/><Relationship Id="rId1" Type="http://schemas.openxmlformats.org/officeDocument/2006/relationships/image" Target="../media/image2.png"/></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34.png"/><Relationship Id="rId1" Type="http://schemas.openxmlformats.org/officeDocument/2006/relationships/image" Target="../media/image2.png"/></Relationships>
</file>

<file path=ppt/slides/_rels/slide55.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35.png"/><Relationship Id="rId1" Type="http://schemas.openxmlformats.org/officeDocument/2006/relationships/image" Target="../media/image2.png"/></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36.png"/><Relationship Id="rId1" Type="http://schemas.openxmlformats.org/officeDocument/2006/relationships/image" Target="../media/image2.png"/></Relationships>
</file>

<file path=ppt/slides/_rels/slide57.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37.png"/><Relationship Id="rId1" Type="http://schemas.openxmlformats.org/officeDocument/2006/relationships/image" Target="../media/image2.png"/></Relationships>
</file>

<file path=ppt/slides/_rels/slide58.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38.png"/><Relationship Id="rId1" Type="http://schemas.openxmlformats.org/officeDocument/2006/relationships/image" Target="../media/image2.png"/></Relationships>
</file>

<file path=ppt/slides/_rels/slide59.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39.png"/><Relationship Id="rId1" Type="http://schemas.openxmlformats.org/officeDocument/2006/relationships/image" Target="../media/image2.png"/></Relationships>
</file>

<file path=ppt/slides/_rels/slide60.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40.png"/><Relationship Id="rId1" Type="http://schemas.openxmlformats.org/officeDocument/2006/relationships/image" Target="../media/image2.png"/></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41.jpeg"/><Relationship Id="rId1" Type="http://schemas.openxmlformats.org/officeDocument/2006/relationships/image" Target="../media/image2.png"/></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42.png"/><Relationship Id="rId1" Type="http://schemas.openxmlformats.org/officeDocument/2006/relationships/image" Target="../media/image2.png"/></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43.png"/><Relationship Id="rId1" Type="http://schemas.openxmlformats.org/officeDocument/2006/relationships/image" Target="../media/image2.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977877" y="361640"/>
            <a:ext cx="1816233" cy="424520"/>
          </a:xfrm>
          <a:prstGeom prst="rect">
            <a:avLst/>
          </a:prstGeom>
        </p:spPr>
      </p:pic>
      <p:sp>
        <p:nvSpPr>
          <p:cNvPr id="21" name="圆角矩形 20"/>
          <p:cNvSpPr/>
          <p:nvPr/>
        </p:nvSpPr>
        <p:spPr>
          <a:xfrm>
            <a:off x="2234792" y="1822570"/>
            <a:ext cx="6063566" cy="1866659"/>
          </a:xfrm>
          <a:prstGeom prst="roundRect">
            <a:avLst>
              <a:gd name="adj" fmla="val 6740"/>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85"/>
          </a:p>
        </p:txBody>
      </p:sp>
      <p:sp>
        <p:nvSpPr>
          <p:cNvPr id="18" name="圆角矩形 17"/>
          <p:cNvSpPr/>
          <p:nvPr/>
        </p:nvSpPr>
        <p:spPr>
          <a:xfrm>
            <a:off x="2753743" y="1620701"/>
            <a:ext cx="5089913" cy="404333"/>
          </a:xfrm>
          <a:prstGeom prst="round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85"/>
          </a:p>
        </p:txBody>
      </p:sp>
      <p:sp>
        <p:nvSpPr>
          <p:cNvPr id="2" name="文本框 1"/>
          <p:cNvSpPr txBox="1"/>
          <p:nvPr/>
        </p:nvSpPr>
        <p:spPr>
          <a:xfrm>
            <a:off x="2897758" y="1665230"/>
            <a:ext cx="4824536" cy="292735"/>
          </a:xfrm>
          <a:prstGeom prst="rect">
            <a:avLst/>
          </a:prstGeom>
          <a:noFill/>
        </p:spPr>
        <p:txBody>
          <a:bodyPr wrap="square" rtlCol="0">
            <a:spAutoFit/>
          </a:bodyPr>
          <a:lstStyle/>
          <a:p>
            <a:pPr algn="dist"/>
            <a:r>
              <a:rPr kumimoji="1" lang="zh-CN" altLang="en-US" sz="1310" dirty="0">
                <a:solidFill>
                  <a:schemeClr val="bg1"/>
                </a:solidFill>
                <a:latin typeface="微软雅黑" panose="020B0503020204020204" charset="-122"/>
                <a:ea typeface="微软雅黑" panose="020B0503020204020204" charset="-122"/>
                <a:cs typeface="微软雅黑" panose="020B0503020204020204" charset="-122"/>
              </a:rPr>
              <a:t>通</a:t>
            </a:r>
            <a:r>
              <a:rPr kumimoji="1" lang="en-US" altLang="zh-CN" sz="1310" dirty="0">
                <a:solidFill>
                  <a:schemeClr val="bg1"/>
                </a:solidFill>
                <a:latin typeface="微软雅黑" panose="020B0503020204020204" charset="-122"/>
                <a:ea typeface="微软雅黑" panose="020B0503020204020204" charset="-122"/>
                <a:cs typeface="微软雅黑" panose="020B0503020204020204" charset="-122"/>
              </a:rPr>
              <a:t>/</a:t>
            </a:r>
            <a:r>
              <a:rPr kumimoji="1" lang="zh-CN" altLang="en-US" sz="1310" dirty="0">
                <a:solidFill>
                  <a:schemeClr val="bg1"/>
                </a:solidFill>
                <a:latin typeface="微软雅黑" panose="020B0503020204020204" charset="-122"/>
                <a:ea typeface="微软雅黑" panose="020B0503020204020204" charset="-122"/>
                <a:cs typeface="微软雅黑" panose="020B0503020204020204" charset="-122"/>
              </a:rPr>
              <a:t>信</a:t>
            </a:r>
            <a:r>
              <a:rPr kumimoji="1" lang="en-US" altLang="zh-CN" sz="1310" dirty="0">
                <a:solidFill>
                  <a:schemeClr val="bg1"/>
                </a:solidFill>
                <a:latin typeface="微软雅黑" panose="020B0503020204020204" charset="-122"/>
                <a:ea typeface="微软雅黑" panose="020B0503020204020204" charset="-122"/>
                <a:cs typeface="微软雅黑" panose="020B0503020204020204" charset="-122"/>
              </a:rPr>
              <a:t>/</a:t>
            </a:r>
            <a:r>
              <a:rPr kumimoji="1" lang="zh-CN" altLang="en-US" sz="1310" dirty="0">
                <a:solidFill>
                  <a:schemeClr val="bg1"/>
                </a:solidFill>
                <a:latin typeface="微软雅黑" panose="020B0503020204020204" charset="-122"/>
                <a:ea typeface="微软雅黑" panose="020B0503020204020204" charset="-122"/>
                <a:cs typeface="微软雅黑" panose="020B0503020204020204" charset="-122"/>
              </a:rPr>
              <a:t>工</a:t>
            </a:r>
            <a:r>
              <a:rPr kumimoji="1" lang="en-US" altLang="zh-CN" sz="1310" dirty="0">
                <a:solidFill>
                  <a:schemeClr val="bg1"/>
                </a:solidFill>
                <a:latin typeface="微软雅黑" panose="020B0503020204020204" charset="-122"/>
                <a:ea typeface="微软雅黑" panose="020B0503020204020204" charset="-122"/>
                <a:cs typeface="微软雅黑" panose="020B0503020204020204" charset="-122"/>
              </a:rPr>
              <a:t>/</a:t>
            </a:r>
            <a:r>
              <a:rPr kumimoji="1" lang="zh-CN" altLang="en-US" sz="1310" dirty="0">
                <a:solidFill>
                  <a:schemeClr val="bg1"/>
                </a:solidFill>
                <a:latin typeface="微软雅黑" panose="020B0503020204020204" charset="-122"/>
                <a:ea typeface="微软雅黑" panose="020B0503020204020204" charset="-122"/>
                <a:cs typeface="微软雅黑" panose="020B0503020204020204" charset="-122"/>
              </a:rPr>
              <a:t>程</a:t>
            </a:r>
            <a:r>
              <a:rPr kumimoji="1" lang="en-US" altLang="zh-CN" sz="1310" dirty="0">
                <a:solidFill>
                  <a:schemeClr val="bg1"/>
                </a:solidFill>
                <a:latin typeface="微软雅黑" panose="020B0503020204020204" charset="-122"/>
                <a:ea typeface="微软雅黑" panose="020B0503020204020204" charset="-122"/>
                <a:cs typeface="微软雅黑" panose="020B0503020204020204" charset="-122"/>
              </a:rPr>
              <a:t>/</a:t>
            </a:r>
            <a:r>
              <a:rPr kumimoji="1" lang="zh-CN" altLang="en-US" sz="1310" dirty="0">
                <a:solidFill>
                  <a:schemeClr val="bg1"/>
                </a:solidFill>
                <a:latin typeface="微软雅黑" panose="020B0503020204020204" charset="-122"/>
                <a:ea typeface="微软雅黑" panose="020B0503020204020204" charset="-122"/>
                <a:cs typeface="微软雅黑" panose="020B0503020204020204" charset="-122"/>
              </a:rPr>
              <a:t>设</a:t>
            </a:r>
            <a:r>
              <a:rPr kumimoji="1" lang="en-US" altLang="zh-CN" sz="1310" dirty="0">
                <a:solidFill>
                  <a:schemeClr val="bg1"/>
                </a:solidFill>
                <a:latin typeface="微软雅黑" panose="020B0503020204020204" charset="-122"/>
                <a:ea typeface="微软雅黑" panose="020B0503020204020204" charset="-122"/>
                <a:cs typeface="微软雅黑" panose="020B0503020204020204" charset="-122"/>
              </a:rPr>
              <a:t>/</a:t>
            </a:r>
            <a:r>
              <a:rPr kumimoji="1" lang="zh-CN" altLang="en-US" sz="1310" dirty="0">
                <a:solidFill>
                  <a:schemeClr val="bg1"/>
                </a:solidFill>
                <a:latin typeface="微软雅黑" panose="020B0503020204020204" charset="-122"/>
                <a:ea typeface="微软雅黑" panose="020B0503020204020204" charset="-122"/>
                <a:cs typeface="微软雅黑" panose="020B0503020204020204" charset="-122"/>
              </a:rPr>
              <a:t>计</a:t>
            </a:r>
            <a:endParaRPr kumimoji="1" lang="zh-CN" altLang="en-US" sz="131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2234792" y="2200103"/>
            <a:ext cx="5919550" cy="1093248"/>
          </a:xfrm>
          <a:prstGeom prst="rect">
            <a:avLst/>
          </a:prstGeom>
          <a:noFill/>
        </p:spPr>
        <p:txBody>
          <a:bodyPr wrap="square" rtlCol="0">
            <a:spAutoFit/>
          </a:bodyPr>
          <a:lstStyle/>
          <a:p>
            <a:pPr algn="dist">
              <a:lnSpc>
                <a:spcPct val="120000"/>
              </a:lnSpc>
            </a:pPr>
            <a:r>
              <a:rPr kumimoji="1" lang="zh-CN" altLang="en-US" sz="3365" b="1" dirty="0">
                <a:latin typeface="微软雅黑" panose="020B0503020204020204" charset="-122"/>
                <a:ea typeface="微软雅黑" panose="020B0503020204020204" charset="-122"/>
                <a:cs typeface="微软雅黑" panose="020B0503020204020204" charset="-122"/>
              </a:rPr>
              <a:t>第二章 通信工程勘察</a:t>
            </a:r>
            <a:endParaRPr kumimoji="1" lang="zh-CN" altLang="en-US" sz="3365" b="1" dirty="0">
              <a:latin typeface="微软雅黑" panose="020B0503020204020204" charset="-122"/>
              <a:ea typeface="微软雅黑" panose="020B0503020204020204" charset="-122"/>
              <a:cs typeface="微软雅黑" panose="020B0503020204020204" charset="-122"/>
            </a:endParaRPr>
          </a:p>
          <a:p>
            <a:pPr algn="dist">
              <a:lnSpc>
                <a:spcPct val="120000"/>
              </a:lnSpc>
            </a:pPr>
            <a:r>
              <a:rPr kumimoji="1" lang="zh-CN" altLang="en-US" sz="2245" dirty="0">
                <a:latin typeface="微软雅黑" panose="020B0503020204020204" charset="-122"/>
                <a:ea typeface="微软雅黑" panose="020B0503020204020204" charset="-122"/>
                <a:cs typeface="微软雅黑" panose="020B0503020204020204" charset="-122"/>
              </a:rPr>
              <a:t>第</a:t>
            </a:r>
            <a:r>
              <a:rPr kumimoji="1" lang="en-US" altLang="zh-CN" sz="2245" dirty="0">
                <a:latin typeface="微软雅黑" panose="020B0503020204020204" charset="-122"/>
                <a:ea typeface="微软雅黑" panose="020B0503020204020204" charset="-122"/>
                <a:cs typeface="微软雅黑" panose="020B0503020204020204" charset="-122"/>
              </a:rPr>
              <a:t>2</a:t>
            </a:r>
            <a:r>
              <a:rPr kumimoji="1" lang="zh-CN" altLang="en-US" sz="2245" dirty="0">
                <a:latin typeface="微软雅黑" panose="020B0503020204020204" charset="-122"/>
                <a:ea typeface="微软雅黑" panose="020B0503020204020204" charset="-122"/>
                <a:cs typeface="微软雅黑" panose="020B0503020204020204" charset="-122"/>
              </a:rPr>
              <a:t>节现场勘察</a:t>
            </a:r>
            <a:endParaRPr kumimoji="1" lang="en-US" altLang="zh-CN" sz="2245" b="1" dirty="0">
              <a:latin typeface="微软雅黑" panose="020B0503020204020204" charset="-122"/>
              <a:ea typeface="微软雅黑" panose="020B0503020204020204" charset="-122"/>
              <a:cs typeface="微软雅黑" panose="020B0503020204020204" charset="-122"/>
            </a:endParaRPr>
          </a:p>
        </p:txBody>
      </p:sp>
      <p:sp>
        <p:nvSpPr>
          <p:cNvPr id="22" name="椭圆 21"/>
          <p:cNvSpPr/>
          <p:nvPr/>
        </p:nvSpPr>
        <p:spPr>
          <a:xfrm>
            <a:off x="5873088" y="3659881"/>
            <a:ext cx="70654" cy="7065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1685">
              <a:sym typeface="+mn-ea"/>
            </a:endParaRPr>
          </a:p>
        </p:txBody>
      </p:sp>
      <p:sp>
        <p:nvSpPr>
          <p:cNvPr id="23" name="椭圆 22"/>
          <p:cNvSpPr/>
          <p:nvPr/>
        </p:nvSpPr>
        <p:spPr>
          <a:xfrm>
            <a:off x="4448126" y="3659881"/>
            <a:ext cx="70654" cy="7065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1685">
              <a:sym typeface="+mn-ea"/>
            </a:endParaRPr>
          </a:p>
        </p:txBody>
      </p:sp>
      <p:sp>
        <p:nvSpPr>
          <p:cNvPr id="26" name="文本框 25"/>
          <p:cNvSpPr txBox="1"/>
          <p:nvPr/>
        </p:nvSpPr>
        <p:spPr>
          <a:xfrm>
            <a:off x="4521366" y="3523024"/>
            <a:ext cx="1346571" cy="321945"/>
          </a:xfrm>
          <a:prstGeom prst="rect">
            <a:avLst/>
          </a:prstGeom>
          <a:solidFill>
            <a:schemeClr val="bg1"/>
          </a:solidFill>
        </p:spPr>
        <p:txBody>
          <a:bodyPr wrap="square" rtlCol="0" anchor="t">
            <a:spAutoFit/>
          </a:bodyPr>
          <a:lstStyle/>
          <a:p>
            <a:pPr algn="ctr">
              <a:lnSpc>
                <a:spcPct val="100000"/>
              </a:lnSpc>
            </a:pPr>
            <a:r>
              <a:rPr kumimoji="1" lang="zh-CN" altLang="en-US" sz="1495" b="1" dirty="0">
                <a:latin typeface="微软雅黑" panose="020B0503020204020204" charset="-122"/>
                <a:ea typeface="微软雅黑" panose="020B0503020204020204" charset="-122"/>
                <a:cs typeface="微软雅黑" panose="020B0503020204020204" charset="-122"/>
                <a:sym typeface="+mn-ea"/>
              </a:rPr>
              <a:t>讲师  </a:t>
            </a:r>
            <a:r>
              <a:rPr kumimoji="1" lang="zh-CN" altLang="en-US" sz="1495" b="1" dirty="0">
                <a:latin typeface="微软雅黑" panose="020B0503020204020204" charset="-122"/>
                <a:ea typeface="微软雅黑" panose="020B0503020204020204" charset="-122"/>
                <a:cs typeface="微软雅黑" panose="020B0503020204020204" charset="-122"/>
                <a:sym typeface="+mn-ea"/>
              </a:rPr>
              <a:t>彭泓森</a:t>
            </a:r>
            <a:endParaRPr kumimoji="1" lang="zh-CN" altLang="en-US" sz="1495" b="1" dirty="0">
              <a:latin typeface="微软雅黑" panose="020B0503020204020204" charset="-122"/>
              <a:ea typeface="微软雅黑" panose="020B0503020204020204" charset="-122"/>
              <a:cs typeface="微软雅黑" panose="020B0503020204020204" charset="-122"/>
              <a:sym typeface="+mn-ea"/>
            </a:endParaRPr>
          </a:p>
        </p:txBody>
      </p:sp>
      <p:pic>
        <p:nvPicPr>
          <p:cNvPr id="3"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grpSp>
        <p:nvGrpSpPr>
          <p:cNvPr id="8" name="组合 7"/>
          <p:cNvGrpSpPr/>
          <p:nvPr/>
        </p:nvGrpSpPr>
        <p:grpSpPr>
          <a:xfrm>
            <a:off x="1892935" y="1118870"/>
            <a:ext cx="6160191" cy="613410"/>
            <a:chOff x="4260" y="638"/>
            <a:chExt cx="8921" cy="966"/>
          </a:xfrm>
        </p:grpSpPr>
        <p:sp>
          <p:nvSpPr>
            <p:cNvPr id="82" name="矩形 81"/>
            <p:cNvSpPr/>
            <p:nvPr/>
          </p:nvSpPr>
          <p:spPr>
            <a:xfrm>
              <a:off x="11754" y="1545"/>
              <a:ext cx="1427" cy="59"/>
            </a:xfrm>
            <a:prstGeom prst="rect">
              <a:avLst/>
            </a:prstGeom>
            <a:solidFill>
              <a:srgbClr val="CBCB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3" name="TextBox 82"/>
            <p:cNvSpPr txBox="1"/>
            <p:nvPr/>
          </p:nvSpPr>
          <p:spPr>
            <a:xfrm>
              <a:off x="7277" y="638"/>
              <a:ext cx="2902" cy="785"/>
            </a:xfrm>
            <a:prstGeom prst="round2SameRect">
              <a:avLst>
                <a:gd name="adj1" fmla="val 27581"/>
                <a:gd name="adj2" fmla="val 0"/>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chemeClr val="lt1"/>
                  </a:solidFill>
                  <a:latin typeface="微软雅黑" panose="020B0503020204020204" charset="-122"/>
                  <a:ea typeface="微软雅黑" panose="020B0503020204020204" charset="-122"/>
                </a:rPr>
                <a:t>学习目标</a:t>
              </a:r>
              <a:endParaRPr lang="zh-CN" altLang="en-US" sz="3200" b="1" dirty="0">
                <a:solidFill>
                  <a:schemeClr val="lt1"/>
                </a:solidFill>
                <a:latin typeface="微软雅黑" panose="020B0503020204020204" charset="-122"/>
                <a:ea typeface="微软雅黑" panose="020B0503020204020204" charset="-122"/>
              </a:endParaRPr>
            </a:p>
          </p:txBody>
        </p:sp>
        <p:sp>
          <p:nvSpPr>
            <p:cNvPr id="84" name="矩形 83"/>
            <p:cNvSpPr/>
            <p:nvPr/>
          </p:nvSpPr>
          <p:spPr>
            <a:xfrm>
              <a:off x="4260" y="1545"/>
              <a:ext cx="1427" cy="59"/>
            </a:xfrm>
            <a:prstGeom prst="rect">
              <a:avLst/>
            </a:prstGeom>
            <a:solidFill>
              <a:srgbClr val="E4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5" name="矩形 84"/>
            <p:cNvSpPr/>
            <p:nvPr/>
          </p:nvSpPr>
          <p:spPr>
            <a:xfrm>
              <a:off x="5759" y="1545"/>
              <a:ext cx="1427" cy="59"/>
            </a:xfrm>
            <a:prstGeom prst="rect">
              <a:avLst/>
            </a:prstGeom>
            <a:solidFill>
              <a:srgbClr val="8EC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6" name="矩形 85"/>
            <p:cNvSpPr/>
            <p:nvPr/>
          </p:nvSpPr>
          <p:spPr>
            <a:xfrm>
              <a:off x="7258" y="1545"/>
              <a:ext cx="1427" cy="59"/>
            </a:xfrm>
            <a:prstGeom prst="rect">
              <a:avLst/>
            </a:prstGeom>
            <a:solidFill>
              <a:srgbClr val="E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7" name="矩形 86"/>
            <p:cNvSpPr/>
            <p:nvPr/>
          </p:nvSpPr>
          <p:spPr>
            <a:xfrm>
              <a:off x="8756" y="1545"/>
              <a:ext cx="1427" cy="59"/>
            </a:xfrm>
            <a:prstGeom prst="rect">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8" name="矩形 87"/>
            <p:cNvSpPr/>
            <p:nvPr/>
          </p:nvSpPr>
          <p:spPr>
            <a:xfrm>
              <a:off x="10255" y="1545"/>
              <a:ext cx="1427" cy="59"/>
            </a:xfrm>
            <a:prstGeom prst="rect">
              <a:avLst/>
            </a:prstGeom>
            <a:solidFill>
              <a:srgbClr val="CF01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grpSp>
      <p:cxnSp>
        <p:nvCxnSpPr>
          <p:cNvPr id="52" name="直接连接符 51"/>
          <p:cNvCxnSpPr/>
          <p:nvPr/>
        </p:nvCxnSpPr>
        <p:spPr>
          <a:xfrm>
            <a:off x="2131695" y="3453765"/>
            <a:ext cx="5552759"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2131695" y="2682240"/>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2177678" y="2808605"/>
            <a:ext cx="4867275" cy="523220"/>
          </a:xfrm>
          <a:prstGeom prst="rect">
            <a:avLst/>
          </a:prstGeom>
          <a:noFill/>
        </p:spPr>
        <p:txBody>
          <a:bodyPr wrap="square" rtlCol="0">
            <a:spAutoFit/>
          </a:bodyPr>
          <a:lstStyle/>
          <a:p>
            <a:pPr lvl="0"/>
            <a:r>
              <a:rPr lang="en-US" altLang="zh-CN" sz="2800" dirty="0">
                <a:solidFill>
                  <a:schemeClr val="tx1">
                    <a:lumMod val="75000"/>
                    <a:lumOff val="25000"/>
                  </a:schemeClr>
                </a:solidFill>
                <a:latin typeface="微软雅黑" panose="020B0503020204020204" charset="-122"/>
                <a:ea typeface="微软雅黑" panose="020B0503020204020204" charset="-122"/>
              </a:rPr>
              <a:t> </a:t>
            </a:r>
            <a:r>
              <a:rPr lang="zh-CN" altLang="en-US" sz="2800" dirty="0">
                <a:solidFill>
                  <a:schemeClr val="tx1">
                    <a:lumMod val="75000"/>
                    <a:lumOff val="25000"/>
                  </a:schemeClr>
                </a:solidFill>
                <a:latin typeface="微软雅黑" panose="020B0503020204020204" charset="-122"/>
                <a:ea typeface="微软雅黑" panose="020B0503020204020204" charset="-122"/>
              </a:rPr>
              <a:t>二、掌握无线基站勘察</a:t>
            </a:r>
            <a:endParaRPr lang="zh-CN" altLang="en-US" sz="2800" dirty="0">
              <a:solidFill>
                <a:schemeClr val="tx1">
                  <a:lumMod val="75000"/>
                  <a:lumOff val="25000"/>
                </a:schemeClr>
              </a:solidFill>
              <a:latin typeface="微软雅黑" panose="020B0503020204020204" charset="-122"/>
              <a:ea typeface="微软雅黑" panose="020B0503020204020204" charset="-122"/>
            </a:endParaRPr>
          </a:p>
        </p:txBody>
      </p:sp>
      <p:sp>
        <p:nvSpPr>
          <p:cNvPr id="100" name="TextBox 99"/>
          <p:cNvSpPr txBox="1"/>
          <p:nvPr/>
        </p:nvSpPr>
        <p:spPr>
          <a:xfrm>
            <a:off x="2177678" y="2037715"/>
            <a:ext cx="5506776" cy="523220"/>
          </a:xfrm>
          <a:prstGeom prst="rect">
            <a:avLst/>
          </a:prstGeom>
          <a:noFill/>
        </p:spPr>
        <p:txBody>
          <a:bodyPr wrap="square" rtlCol="0">
            <a:spAutoFit/>
          </a:bodyPr>
          <a:lstStyle/>
          <a:p>
            <a:pPr indent="-342900">
              <a:spcBef>
                <a:spcPct val="20000"/>
              </a:spcBef>
            </a:pPr>
            <a:r>
              <a:rPr lang="en-US" altLang="zh-CN" sz="2800" b="1" dirty="0">
                <a:solidFill>
                  <a:srgbClr val="F25600"/>
                </a:solidFill>
                <a:latin typeface="微软雅黑" panose="020B0503020204020204" charset="-122"/>
                <a:ea typeface="微软雅黑" panose="020B0503020204020204" charset="-122"/>
              </a:rPr>
              <a:t> </a:t>
            </a:r>
            <a:r>
              <a:rPr lang="zh-CN" altLang="en-US" sz="2800" dirty="0">
                <a:solidFill>
                  <a:schemeClr val="tx1">
                    <a:lumMod val="75000"/>
                    <a:lumOff val="25000"/>
                  </a:schemeClr>
                </a:solidFill>
                <a:latin typeface="微软雅黑" panose="020B0503020204020204" charset="-122"/>
                <a:ea typeface="微软雅黑" panose="020B0503020204020204" charset="-122"/>
              </a:rPr>
              <a:t>一、了解</a:t>
            </a:r>
            <a:r>
              <a:rPr lang="zh-CN" altLang="en-US" sz="2800" dirty="0">
                <a:solidFill>
                  <a:schemeClr val="tx1">
                    <a:lumMod val="75000"/>
                    <a:lumOff val="25000"/>
                  </a:schemeClr>
                </a:solidFill>
                <a:latin typeface="微软雅黑" panose="020B0503020204020204" charset="-122"/>
                <a:ea typeface="微软雅黑" panose="020B0503020204020204" charset="-122"/>
                <a:sym typeface="+mn-ea"/>
              </a:rPr>
              <a:t>工程勘察流程及内容</a:t>
            </a:r>
            <a:endParaRPr lang="zh-CN" altLang="en-US" sz="2800" dirty="0">
              <a:solidFill>
                <a:schemeClr val="tx1">
                  <a:lumMod val="75000"/>
                  <a:lumOff val="25000"/>
                </a:schemeClr>
              </a:solidFill>
              <a:latin typeface="微软雅黑" panose="020B0503020204020204" charset="-122"/>
              <a:ea typeface="微软雅黑" panose="020B0503020204020204" charset="-122"/>
              <a:sym typeface="+mn-ea"/>
            </a:endParaRPr>
          </a:p>
        </p:txBody>
      </p:sp>
      <p:cxnSp>
        <p:nvCxnSpPr>
          <p:cNvPr id="2" name="直接连接符 1"/>
          <p:cNvCxnSpPr/>
          <p:nvPr/>
        </p:nvCxnSpPr>
        <p:spPr>
          <a:xfrm>
            <a:off x="2131695" y="4173220"/>
            <a:ext cx="5552759"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3" name="TextBox 98"/>
          <p:cNvSpPr txBox="1"/>
          <p:nvPr/>
        </p:nvSpPr>
        <p:spPr>
          <a:xfrm>
            <a:off x="2177678" y="3490044"/>
            <a:ext cx="6040040" cy="523220"/>
          </a:xfrm>
          <a:prstGeom prst="rect">
            <a:avLst/>
          </a:prstGeom>
          <a:noFill/>
        </p:spPr>
        <p:txBody>
          <a:bodyPr wrap="square" rtlCol="0">
            <a:spAutoFit/>
          </a:bodyPr>
          <a:lstStyle/>
          <a:p>
            <a:pPr lvl="0"/>
            <a:r>
              <a:rPr lang="en-US" altLang="zh-CN" sz="2800" dirty="0">
                <a:solidFill>
                  <a:schemeClr val="tx1">
                    <a:lumMod val="75000"/>
                    <a:lumOff val="25000"/>
                  </a:schemeClr>
                </a:solidFill>
                <a:latin typeface="微软雅黑" panose="020B0503020204020204" charset="-122"/>
                <a:ea typeface="微软雅黑" panose="020B0503020204020204" charset="-122"/>
              </a:rPr>
              <a:t> </a:t>
            </a:r>
            <a:r>
              <a:rPr lang="zh-CN" altLang="en-US" sz="2800" dirty="0">
                <a:solidFill>
                  <a:schemeClr val="tx1">
                    <a:lumMod val="75000"/>
                    <a:lumOff val="25000"/>
                  </a:schemeClr>
                </a:solidFill>
                <a:latin typeface="微软雅黑" panose="020B0503020204020204" charset="-122"/>
                <a:ea typeface="微软雅黑" panose="020B0503020204020204" charset="-122"/>
              </a:rPr>
              <a:t>三、了解</a:t>
            </a:r>
            <a:r>
              <a:rPr lang="zh-CN" altLang="en-US" sz="2800" dirty="0">
                <a:solidFill>
                  <a:schemeClr val="tx1">
                    <a:lumMod val="75000"/>
                    <a:lumOff val="25000"/>
                  </a:schemeClr>
                </a:solidFill>
                <a:latin typeface="微软雅黑" panose="020B0503020204020204" charset="-122"/>
                <a:ea typeface="微软雅黑" panose="020B0503020204020204" charset="-122"/>
                <a:sym typeface="+mn-ea"/>
              </a:rPr>
              <a:t>不同建局类别的工程勘察</a:t>
            </a:r>
            <a:endParaRPr lang="zh-CN" altLang="en-US" sz="2800" dirty="0">
              <a:solidFill>
                <a:schemeClr val="tx1">
                  <a:lumMod val="75000"/>
                  <a:lumOff val="25000"/>
                </a:schemeClr>
              </a:solidFill>
              <a:latin typeface="微软雅黑" panose="020B0503020204020204" charset="-122"/>
              <a:ea typeface="微软雅黑" panose="020B0503020204020204" charset="-122"/>
              <a:sym typeface="+mn-ea"/>
            </a:endParaRPr>
          </a:p>
        </p:txBody>
      </p:sp>
      <p:pic>
        <p:nvPicPr>
          <p:cNvPr id="5"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grpSp>
        <p:nvGrpSpPr>
          <p:cNvPr id="8" name="组合 7"/>
          <p:cNvGrpSpPr/>
          <p:nvPr/>
        </p:nvGrpSpPr>
        <p:grpSpPr>
          <a:xfrm>
            <a:off x="1745630" y="465708"/>
            <a:ext cx="6160191" cy="613410"/>
            <a:chOff x="4260" y="638"/>
            <a:chExt cx="8921" cy="966"/>
          </a:xfrm>
        </p:grpSpPr>
        <p:sp>
          <p:nvSpPr>
            <p:cNvPr id="82" name="矩形 81"/>
            <p:cNvSpPr/>
            <p:nvPr/>
          </p:nvSpPr>
          <p:spPr>
            <a:xfrm>
              <a:off x="11754" y="1545"/>
              <a:ext cx="1427" cy="59"/>
            </a:xfrm>
            <a:prstGeom prst="rect">
              <a:avLst/>
            </a:prstGeom>
            <a:solidFill>
              <a:srgbClr val="CBCB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3" name="TextBox 82"/>
            <p:cNvSpPr txBox="1"/>
            <p:nvPr/>
          </p:nvSpPr>
          <p:spPr>
            <a:xfrm>
              <a:off x="7277" y="638"/>
              <a:ext cx="2902" cy="785"/>
            </a:xfrm>
            <a:prstGeom prst="round2SameRect">
              <a:avLst>
                <a:gd name="adj1" fmla="val 27581"/>
                <a:gd name="adj2" fmla="val 0"/>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chemeClr val="lt1"/>
                  </a:solidFill>
                  <a:latin typeface="微软雅黑" panose="020B0503020204020204" charset="-122"/>
                  <a:ea typeface="微软雅黑" panose="020B0503020204020204" charset="-122"/>
                </a:rPr>
                <a:t>目    录</a:t>
              </a:r>
              <a:endParaRPr lang="zh-CN" altLang="en-US" sz="3200" b="1" dirty="0">
                <a:solidFill>
                  <a:schemeClr val="lt1"/>
                </a:solidFill>
                <a:latin typeface="微软雅黑" panose="020B0503020204020204" charset="-122"/>
                <a:ea typeface="微软雅黑" panose="020B0503020204020204" charset="-122"/>
              </a:endParaRPr>
            </a:p>
          </p:txBody>
        </p:sp>
        <p:sp>
          <p:nvSpPr>
            <p:cNvPr id="84" name="矩形 83"/>
            <p:cNvSpPr/>
            <p:nvPr/>
          </p:nvSpPr>
          <p:spPr>
            <a:xfrm>
              <a:off x="4260" y="1545"/>
              <a:ext cx="1427" cy="59"/>
            </a:xfrm>
            <a:prstGeom prst="rect">
              <a:avLst/>
            </a:prstGeom>
            <a:solidFill>
              <a:srgbClr val="E4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5" name="矩形 84"/>
            <p:cNvSpPr/>
            <p:nvPr/>
          </p:nvSpPr>
          <p:spPr>
            <a:xfrm>
              <a:off x="5759" y="1545"/>
              <a:ext cx="1427" cy="59"/>
            </a:xfrm>
            <a:prstGeom prst="rect">
              <a:avLst/>
            </a:prstGeom>
            <a:solidFill>
              <a:srgbClr val="8EC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6" name="矩形 85"/>
            <p:cNvSpPr/>
            <p:nvPr/>
          </p:nvSpPr>
          <p:spPr>
            <a:xfrm>
              <a:off x="7258" y="1545"/>
              <a:ext cx="1427" cy="59"/>
            </a:xfrm>
            <a:prstGeom prst="rect">
              <a:avLst/>
            </a:prstGeom>
            <a:solidFill>
              <a:srgbClr val="E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7" name="矩形 86"/>
            <p:cNvSpPr/>
            <p:nvPr/>
          </p:nvSpPr>
          <p:spPr>
            <a:xfrm>
              <a:off x="8756" y="1545"/>
              <a:ext cx="1427" cy="59"/>
            </a:xfrm>
            <a:prstGeom prst="rect">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8" name="矩形 87"/>
            <p:cNvSpPr/>
            <p:nvPr/>
          </p:nvSpPr>
          <p:spPr>
            <a:xfrm>
              <a:off x="10255" y="1545"/>
              <a:ext cx="1427" cy="59"/>
            </a:xfrm>
            <a:prstGeom prst="rect">
              <a:avLst/>
            </a:prstGeom>
            <a:solidFill>
              <a:srgbClr val="CF01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grpSp>
      <p:cxnSp>
        <p:nvCxnSpPr>
          <p:cNvPr id="52" name="直接连接符 51"/>
          <p:cNvCxnSpPr/>
          <p:nvPr/>
        </p:nvCxnSpPr>
        <p:spPr>
          <a:xfrm>
            <a:off x="1984390" y="2800603"/>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1984390" y="2029078"/>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2056398" y="2155443"/>
            <a:ext cx="4867275" cy="521970"/>
          </a:xfrm>
          <a:prstGeom prst="rect">
            <a:avLst/>
          </a:prstGeom>
          <a:noFill/>
        </p:spPr>
        <p:txBody>
          <a:bodyPr wrap="square" rtlCol="0">
            <a:spAutoFit/>
          </a:bodyPr>
          <a:lstStyle/>
          <a:p>
            <a:r>
              <a:rPr lang="en-US" altLang="zh-CN" sz="2800" dirty="0">
                <a:solidFill>
                  <a:schemeClr val="tx1">
                    <a:lumMod val="75000"/>
                    <a:lumOff val="25000"/>
                  </a:schemeClr>
                </a:solidFill>
                <a:latin typeface="微软雅黑" panose="020B0503020204020204" charset="-122"/>
                <a:ea typeface="微软雅黑" panose="020B0503020204020204" charset="-122"/>
              </a:rPr>
              <a:t> </a:t>
            </a:r>
            <a:r>
              <a:rPr lang="zh-CN" altLang="en-US" sz="2800" dirty="0">
                <a:solidFill>
                  <a:schemeClr val="tx1">
                    <a:lumMod val="75000"/>
                    <a:lumOff val="25000"/>
                  </a:schemeClr>
                </a:solidFill>
                <a:latin typeface="微软雅黑" panose="020B0503020204020204" charset="-122"/>
                <a:ea typeface="微软雅黑" panose="020B0503020204020204" charset="-122"/>
              </a:rPr>
              <a:t>二、</a:t>
            </a:r>
            <a:r>
              <a:rPr kumimoji="1" lang="zh-CN" altLang="en-US" sz="2800" dirty="0">
                <a:latin typeface="微软雅黑" panose="020B0503020204020204" charset="-122"/>
                <a:ea typeface="微软雅黑" panose="020B0503020204020204" charset="-122"/>
              </a:rPr>
              <a:t>工程</a:t>
            </a:r>
            <a:r>
              <a:rPr lang="zh-CN" altLang="en-US" sz="2800" dirty="0">
                <a:latin typeface="微软雅黑" panose="020B0503020204020204" charset="-122"/>
                <a:ea typeface="微软雅黑" panose="020B0503020204020204" charset="-122"/>
              </a:rPr>
              <a:t>勘察</a:t>
            </a:r>
            <a:r>
              <a:rPr kumimoji="1" lang="zh-CN" altLang="en-US" sz="2800" dirty="0">
                <a:latin typeface="微软雅黑" panose="020B0503020204020204" charset="-122"/>
                <a:ea typeface="微软雅黑" panose="020B0503020204020204" charset="-122"/>
              </a:rPr>
              <a:t>准备</a:t>
            </a:r>
            <a:endParaRPr kumimoji="1" lang="zh-CN" altLang="en-US" sz="2800" dirty="0">
              <a:latin typeface="微软雅黑" panose="020B0503020204020204" charset="-122"/>
              <a:ea typeface="微软雅黑" panose="020B0503020204020204" charset="-122"/>
            </a:endParaRPr>
          </a:p>
        </p:txBody>
      </p:sp>
      <p:sp>
        <p:nvSpPr>
          <p:cNvPr id="100" name="TextBox 99"/>
          <p:cNvSpPr txBox="1"/>
          <p:nvPr/>
        </p:nvSpPr>
        <p:spPr>
          <a:xfrm>
            <a:off x="2056398" y="1384553"/>
            <a:ext cx="4867275" cy="521970"/>
          </a:xfrm>
          <a:prstGeom prst="rect">
            <a:avLst/>
          </a:prstGeom>
          <a:noFill/>
        </p:spPr>
        <p:txBody>
          <a:bodyPr wrap="square" rtlCol="0">
            <a:spAutoFit/>
          </a:bodyPr>
          <a:lstStyle/>
          <a:p>
            <a:r>
              <a:rPr lang="en-US" altLang="zh-CN" sz="2800" b="1" dirty="0">
                <a:solidFill>
                  <a:srgbClr val="F25600"/>
                </a:solidFill>
                <a:latin typeface="微软雅黑" panose="020B0503020204020204" charset="-122"/>
                <a:ea typeface="微软雅黑" panose="020B0503020204020204" charset="-122"/>
              </a:rPr>
              <a:t> </a:t>
            </a:r>
            <a:r>
              <a:rPr lang="zh-CN" altLang="en-US" sz="2800" b="1" dirty="0">
                <a:solidFill>
                  <a:srgbClr val="F25600"/>
                </a:solidFill>
                <a:latin typeface="微软雅黑" panose="020B0503020204020204" charset="-122"/>
                <a:ea typeface="微软雅黑" panose="020B0503020204020204" charset="-122"/>
              </a:rPr>
              <a:t>一、</a:t>
            </a:r>
            <a:r>
              <a:rPr kumimoji="1" lang="zh-CN" altLang="en-US" sz="2800" b="1" dirty="0">
                <a:solidFill>
                  <a:srgbClr val="FF6600"/>
                </a:solidFill>
                <a:latin typeface="微软雅黑" panose="020B0503020204020204" charset="-122"/>
                <a:ea typeface="微软雅黑" panose="020B0503020204020204" charset="-122"/>
              </a:rPr>
              <a:t>工程勘察流程及内容</a:t>
            </a:r>
            <a:endParaRPr kumimoji="1" lang="en-US" altLang="zh-CN" sz="2800" b="1" dirty="0">
              <a:solidFill>
                <a:srgbClr val="FF6600"/>
              </a:solidFill>
              <a:latin typeface="微软雅黑" panose="020B0503020204020204" charset="-122"/>
              <a:ea typeface="微软雅黑" panose="020B0503020204020204" charset="-122"/>
            </a:endParaRPr>
          </a:p>
        </p:txBody>
      </p:sp>
      <p:cxnSp>
        <p:nvCxnSpPr>
          <p:cNvPr id="2" name="直接连接符 1"/>
          <p:cNvCxnSpPr/>
          <p:nvPr/>
        </p:nvCxnSpPr>
        <p:spPr>
          <a:xfrm>
            <a:off x="1984390" y="3520058"/>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3" name="TextBox 98"/>
          <p:cNvSpPr txBox="1"/>
          <p:nvPr/>
        </p:nvSpPr>
        <p:spPr>
          <a:xfrm>
            <a:off x="2056398" y="2998088"/>
            <a:ext cx="4867275" cy="521970"/>
          </a:xfrm>
          <a:prstGeom prst="rect">
            <a:avLst/>
          </a:prstGeom>
          <a:noFill/>
        </p:spPr>
        <p:txBody>
          <a:bodyPr wrap="square" rtlCol="0">
            <a:spAutoFit/>
          </a:bodyPr>
          <a:lstStyle/>
          <a:p>
            <a:r>
              <a:rPr lang="en-US" altLang="zh-CN" sz="2800" dirty="0">
                <a:latin typeface="微软雅黑" panose="020B0503020204020204" charset="-122"/>
                <a:ea typeface="微软雅黑" panose="020B0503020204020204" charset="-122"/>
              </a:rPr>
              <a:t> </a:t>
            </a:r>
            <a:r>
              <a:rPr lang="zh-CN" altLang="en-US" sz="2800" dirty="0">
                <a:latin typeface="微软雅黑" panose="020B0503020204020204" charset="-122"/>
                <a:ea typeface="微软雅黑" panose="020B0503020204020204" charset="-122"/>
              </a:rPr>
              <a:t>三、</a:t>
            </a:r>
            <a:r>
              <a:rPr kumimoji="1" lang="zh-CN" altLang="en-US" sz="2800" dirty="0">
                <a:latin typeface="微软雅黑" panose="020B0503020204020204" charset="-122"/>
                <a:ea typeface="微软雅黑" panose="020B0503020204020204" charset="-122"/>
              </a:rPr>
              <a:t>中心机房勘察</a:t>
            </a:r>
            <a:endParaRPr kumimoji="1" lang="en-US" altLang="zh-CN" sz="2800" dirty="0">
              <a:latin typeface="微软雅黑" panose="020B0503020204020204" charset="-122"/>
              <a:ea typeface="微软雅黑" panose="020B0503020204020204" charset="-122"/>
            </a:endParaRPr>
          </a:p>
        </p:txBody>
      </p:sp>
      <p:cxnSp>
        <p:nvCxnSpPr>
          <p:cNvPr id="17" name="直接连接符 16"/>
          <p:cNvCxnSpPr/>
          <p:nvPr/>
        </p:nvCxnSpPr>
        <p:spPr>
          <a:xfrm>
            <a:off x="1961654" y="4210749"/>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134939" y="3616146"/>
            <a:ext cx="4867275" cy="521970"/>
          </a:xfrm>
          <a:prstGeom prst="rect">
            <a:avLst/>
          </a:prstGeom>
          <a:noFill/>
        </p:spPr>
        <p:txBody>
          <a:bodyPr wrap="square" rtlCol="0">
            <a:spAutoFit/>
          </a:bodyPr>
          <a:lstStyle/>
          <a:p>
            <a:r>
              <a:rPr lang="zh-CN" altLang="en-US" sz="2800" dirty="0">
                <a:latin typeface="微软雅黑" panose="020B0503020204020204" charset="-122"/>
                <a:ea typeface="微软雅黑" panose="020B0503020204020204" charset="-122"/>
              </a:rPr>
              <a:t>四、</a:t>
            </a:r>
            <a:r>
              <a:rPr kumimoji="1" lang="zh-CN" altLang="en-US" sz="2800" dirty="0">
                <a:latin typeface="微软雅黑" panose="020B0503020204020204" charset="-122"/>
                <a:ea typeface="微软雅黑" panose="020B0503020204020204" charset="-122"/>
              </a:rPr>
              <a:t>无线基站勘察</a:t>
            </a:r>
            <a:endParaRPr kumimoji="1" lang="en-US" altLang="zh-CN" sz="2800" dirty="0">
              <a:latin typeface="微软雅黑" panose="020B0503020204020204" charset="-122"/>
              <a:ea typeface="微软雅黑" panose="020B0503020204020204" charset="-122"/>
            </a:endParaRPr>
          </a:p>
        </p:txBody>
      </p:sp>
      <p:cxnSp>
        <p:nvCxnSpPr>
          <p:cNvPr id="19" name="直接连接符 18"/>
          <p:cNvCxnSpPr/>
          <p:nvPr/>
        </p:nvCxnSpPr>
        <p:spPr>
          <a:xfrm>
            <a:off x="1961654" y="4930204"/>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20" name="TextBox 98"/>
          <p:cNvSpPr txBox="1"/>
          <p:nvPr/>
        </p:nvSpPr>
        <p:spPr>
          <a:xfrm>
            <a:off x="1961654" y="4408234"/>
            <a:ext cx="5201969" cy="523220"/>
          </a:xfrm>
          <a:prstGeom prst="rect">
            <a:avLst/>
          </a:prstGeom>
          <a:noFill/>
        </p:spPr>
        <p:txBody>
          <a:bodyPr wrap="square" rtlCol="0">
            <a:spAutoFit/>
          </a:bodyPr>
          <a:lstStyle/>
          <a:p>
            <a:r>
              <a:rPr lang="zh-CN" altLang="en-US" sz="2800" dirty="0">
                <a:latin typeface="微软雅黑" panose="020B0503020204020204" charset="-122"/>
                <a:ea typeface="微软雅黑" panose="020B0503020204020204" charset="-122"/>
              </a:rPr>
              <a:t>  五、不同建局类别的工程勘察</a:t>
            </a:r>
            <a:endParaRPr kumimoji="1" lang="zh-CN" altLang="en-US" sz="2800" dirty="0">
              <a:latin typeface="微软雅黑" panose="020B0503020204020204" charset="-122"/>
              <a:ea typeface="微软雅黑" panose="020B0503020204020204" charset="-122"/>
            </a:endParaRPr>
          </a:p>
        </p:txBody>
      </p:sp>
      <p:pic>
        <p:nvPicPr>
          <p:cNvPr id="5"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一、工程勘察流程及内容</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0" name="Text Box 18"/>
          <p:cNvSpPr txBox="1">
            <a:spLocks noChangeArrowheads="1"/>
          </p:cNvSpPr>
          <p:nvPr/>
        </p:nvSpPr>
        <p:spPr bwMode="auto">
          <a:xfrm>
            <a:off x="683578" y="806584"/>
            <a:ext cx="28082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FF6600"/>
                </a:solidFill>
                <a:latin typeface="微软雅黑" panose="020B0503020204020204" charset="-122"/>
                <a:ea typeface="微软雅黑" panose="020B0503020204020204" charset="-122"/>
              </a:rPr>
              <a:t>工程勘察流程</a:t>
            </a:r>
            <a:endParaRPr lang="zh-CN" altLang="en-US" sz="2800" b="1" dirty="0">
              <a:solidFill>
                <a:srgbClr val="FF6600"/>
              </a:solidFill>
              <a:latin typeface="微软雅黑" panose="020B0503020204020204" charset="-122"/>
              <a:ea typeface="微软雅黑" panose="020B0503020204020204" charset="-122"/>
            </a:endParaRPr>
          </a:p>
        </p:txBody>
      </p:sp>
      <p:sp>
        <p:nvSpPr>
          <p:cNvPr id="12" name="Line 1"/>
          <p:cNvSpPr>
            <a:spLocks noChangeShapeType="1"/>
          </p:cNvSpPr>
          <p:nvPr/>
        </p:nvSpPr>
        <p:spPr bwMode="auto">
          <a:xfrm>
            <a:off x="-36513" y="619125"/>
            <a:ext cx="40005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tailEnd type="triangle" w="med" len="med"/>
              </a14:hiddenLine>
            </a:ext>
          </a:extLst>
        </p:spPr>
        <p:txBody>
          <a:bodyPr/>
          <a:lstStyle/>
          <a:p>
            <a:endParaRPr lang="zh-CN" altLang="en-US"/>
          </a:p>
        </p:txBody>
      </p:sp>
      <p:sp>
        <p:nvSpPr>
          <p:cNvPr id="13" name="Rectangle 3"/>
          <p:cNvSpPr>
            <a:spLocks noChangeArrowheads="1"/>
          </p:cNvSpPr>
          <p:nvPr/>
        </p:nvSpPr>
        <p:spPr bwMode="auto">
          <a:xfrm>
            <a:off x="683579" y="1194242"/>
            <a:ext cx="7000875" cy="383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b="1" dirty="0">
                <a:latin typeface="微软雅黑" panose="020B0503020204020204" charset="-122"/>
                <a:ea typeface="微软雅黑" panose="020B0503020204020204" charset="-122"/>
                <a:cs typeface="Times New Roman" panose="02020603050405020304" pitchFamily="18" charset="0"/>
              </a:rPr>
              <a:t>1</a:t>
            </a:r>
            <a:r>
              <a:rPr lang="zh-CN" altLang="en-US" b="1" dirty="0">
                <a:latin typeface="微软雅黑" panose="020B0503020204020204" charset="-122"/>
                <a:ea typeface="微软雅黑" panose="020B0503020204020204" charset="-122"/>
                <a:cs typeface="Times New Roman" panose="02020603050405020304" pitchFamily="18" charset="0"/>
              </a:rPr>
              <a:t>．签发工程勘察任务书</a:t>
            </a:r>
            <a:r>
              <a:rPr lang="en-US" altLang="zh-CN" b="1" dirty="0">
                <a:solidFill>
                  <a:srgbClr val="0066FF"/>
                </a:solidFill>
                <a:latin typeface="微软雅黑" panose="020B0503020204020204" charset="-122"/>
                <a:ea typeface="微软雅黑" panose="020B0503020204020204" charset="-122"/>
                <a:cs typeface="Times New Roman" panose="02020603050405020304" pitchFamily="18" charset="0"/>
              </a:rPr>
              <a:t>——</a:t>
            </a:r>
            <a:r>
              <a:rPr lang="zh-CN" altLang="en-US" b="1" dirty="0">
                <a:solidFill>
                  <a:srgbClr val="0066FF"/>
                </a:solidFill>
                <a:latin typeface="微软雅黑" panose="020B0503020204020204" charset="-122"/>
                <a:ea typeface="微软雅黑" panose="020B0503020204020204" charset="-122"/>
                <a:cs typeface="Times New Roman" panose="02020603050405020304" pitchFamily="18" charset="0"/>
              </a:rPr>
              <a:t>工程勘察任务书</a:t>
            </a:r>
            <a:endParaRPr lang="zh-CN" altLang="en-US" b="1" dirty="0">
              <a:latin typeface="微软雅黑" panose="020B0503020204020204" charset="-122"/>
              <a:ea typeface="微软雅黑" panose="020B0503020204020204" charset="-122"/>
              <a:cs typeface="Times New Roman" panose="02020603050405020304" pitchFamily="18" charset="0"/>
            </a:endParaRPr>
          </a:p>
          <a:p>
            <a:pPr>
              <a:lnSpc>
                <a:spcPct val="150000"/>
              </a:lnSpc>
            </a:pPr>
            <a:r>
              <a:rPr lang="en-US" altLang="zh-CN" b="1" dirty="0">
                <a:latin typeface="微软雅黑" panose="020B0503020204020204" charset="-122"/>
                <a:ea typeface="微软雅黑" panose="020B0503020204020204" charset="-122"/>
                <a:cs typeface="Times New Roman" panose="02020603050405020304" pitchFamily="18" charset="0"/>
              </a:rPr>
              <a:t>2</a:t>
            </a:r>
            <a:r>
              <a:rPr lang="zh-CN" altLang="en-US" b="1" dirty="0">
                <a:latin typeface="微软雅黑" panose="020B0503020204020204" charset="-122"/>
                <a:ea typeface="微软雅黑" panose="020B0503020204020204" charset="-122"/>
                <a:cs typeface="Times New Roman" panose="02020603050405020304" pitchFamily="18" charset="0"/>
              </a:rPr>
              <a:t>．勘察任务审核</a:t>
            </a:r>
            <a:endParaRPr lang="zh-CN" altLang="en-US" b="1" dirty="0">
              <a:latin typeface="微软雅黑" panose="020B0503020204020204" charset="-122"/>
              <a:ea typeface="微软雅黑" panose="020B0503020204020204" charset="-122"/>
              <a:cs typeface="Times New Roman" panose="02020603050405020304" pitchFamily="18" charset="0"/>
            </a:endParaRPr>
          </a:p>
          <a:p>
            <a:pPr>
              <a:lnSpc>
                <a:spcPct val="150000"/>
              </a:lnSpc>
            </a:pPr>
            <a:r>
              <a:rPr lang="en-US" altLang="zh-CN" b="1" dirty="0">
                <a:latin typeface="微软雅黑" panose="020B0503020204020204" charset="-122"/>
                <a:ea typeface="微软雅黑" panose="020B0503020204020204" charset="-122"/>
                <a:cs typeface="Times New Roman" panose="02020603050405020304" pitchFamily="18" charset="0"/>
              </a:rPr>
              <a:t>3</a:t>
            </a:r>
            <a:r>
              <a:rPr lang="zh-CN" altLang="en-US" b="1" dirty="0">
                <a:latin typeface="微软雅黑" panose="020B0503020204020204" charset="-122"/>
                <a:ea typeface="微软雅黑" panose="020B0503020204020204" charset="-122"/>
                <a:cs typeface="Times New Roman" panose="02020603050405020304" pitchFamily="18" charset="0"/>
              </a:rPr>
              <a:t>．勘察任务安排</a:t>
            </a:r>
            <a:endParaRPr lang="zh-CN" altLang="en-US" b="1" dirty="0">
              <a:latin typeface="微软雅黑" panose="020B0503020204020204" charset="-122"/>
              <a:ea typeface="微软雅黑" panose="020B0503020204020204" charset="-122"/>
              <a:cs typeface="Times New Roman" panose="02020603050405020304" pitchFamily="18" charset="0"/>
            </a:endParaRPr>
          </a:p>
          <a:p>
            <a:pPr>
              <a:lnSpc>
                <a:spcPct val="150000"/>
              </a:lnSpc>
            </a:pPr>
            <a:r>
              <a:rPr lang="en-US" altLang="zh-CN" b="1" dirty="0">
                <a:latin typeface="微软雅黑" panose="020B0503020204020204" charset="-122"/>
                <a:ea typeface="微软雅黑" panose="020B0503020204020204" charset="-122"/>
                <a:cs typeface="Times New Roman" panose="02020603050405020304" pitchFamily="18" charset="0"/>
              </a:rPr>
              <a:t>4</a:t>
            </a:r>
            <a:r>
              <a:rPr lang="zh-CN" altLang="en-US" b="1" dirty="0">
                <a:latin typeface="微软雅黑" panose="020B0503020204020204" charset="-122"/>
                <a:ea typeface="微软雅黑" panose="020B0503020204020204" charset="-122"/>
                <a:cs typeface="Times New Roman" panose="02020603050405020304" pitchFamily="18" charset="0"/>
              </a:rPr>
              <a:t>．工程勘察准备，制定工程勘察计划</a:t>
            </a:r>
            <a:endParaRPr lang="zh-CN" altLang="en-US" b="1" dirty="0">
              <a:latin typeface="微软雅黑" panose="020B0503020204020204" charset="-122"/>
              <a:ea typeface="微软雅黑" panose="020B0503020204020204" charset="-122"/>
              <a:cs typeface="Times New Roman" panose="02020603050405020304" pitchFamily="18" charset="0"/>
            </a:endParaRPr>
          </a:p>
          <a:p>
            <a:pPr>
              <a:lnSpc>
                <a:spcPct val="150000"/>
              </a:lnSpc>
            </a:pPr>
            <a:r>
              <a:rPr lang="en-US" altLang="zh-CN" b="1" dirty="0">
                <a:latin typeface="微软雅黑" panose="020B0503020204020204" charset="-122"/>
                <a:ea typeface="微软雅黑" panose="020B0503020204020204" charset="-122"/>
                <a:cs typeface="Times New Roman" panose="02020603050405020304" pitchFamily="18" charset="0"/>
              </a:rPr>
              <a:t>5</a:t>
            </a:r>
            <a:r>
              <a:rPr lang="zh-CN" altLang="en-US" b="1" dirty="0">
                <a:latin typeface="微软雅黑" panose="020B0503020204020204" charset="-122"/>
                <a:ea typeface="微软雅黑" panose="020B0503020204020204" charset="-122"/>
                <a:cs typeface="Times New Roman" panose="02020603050405020304" pitchFamily="18" charset="0"/>
              </a:rPr>
              <a:t>．工程现场勘察，第一次环境验收</a:t>
            </a:r>
            <a:r>
              <a:rPr lang="en-US" altLang="zh-CN" b="1" dirty="0">
                <a:solidFill>
                  <a:srgbClr val="0066FF"/>
                </a:solidFill>
                <a:latin typeface="微软雅黑" panose="020B0503020204020204" charset="-122"/>
                <a:ea typeface="微软雅黑" panose="020B0503020204020204" charset="-122"/>
                <a:cs typeface="Times New Roman" panose="02020603050405020304" pitchFamily="18" charset="0"/>
              </a:rPr>
              <a:t>——</a:t>
            </a:r>
            <a:r>
              <a:rPr lang="zh-CN" altLang="en-US" b="1" dirty="0">
                <a:solidFill>
                  <a:srgbClr val="0066FF"/>
                </a:solidFill>
                <a:latin typeface="微软雅黑" panose="020B0503020204020204" charset="-122"/>
                <a:ea typeface="微软雅黑" panose="020B0503020204020204" charset="-122"/>
                <a:cs typeface="Times New Roman" panose="02020603050405020304" pitchFamily="18" charset="0"/>
              </a:rPr>
              <a:t>工程勘察指导手册</a:t>
            </a:r>
            <a:endParaRPr lang="zh-CN" altLang="en-US" b="1" dirty="0">
              <a:solidFill>
                <a:srgbClr val="0066FF"/>
              </a:solidFill>
              <a:latin typeface="微软雅黑" panose="020B0503020204020204" charset="-122"/>
              <a:ea typeface="微软雅黑" panose="020B0503020204020204" charset="-122"/>
              <a:cs typeface="Times New Roman" panose="02020603050405020304" pitchFamily="18" charset="0"/>
            </a:endParaRPr>
          </a:p>
          <a:p>
            <a:pPr>
              <a:lnSpc>
                <a:spcPct val="150000"/>
              </a:lnSpc>
            </a:pPr>
            <a:r>
              <a:rPr lang="en-US" altLang="zh-CN" b="1" dirty="0">
                <a:latin typeface="微软雅黑" panose="020B0503020204020204" charset="-122"/>
                <a:ea typeface="微软雅黑" panose="020B0503020204020204" charset="-122"/>
                <a:cs typeface="Times New Roman" panose="02020603050405020304" pitchFamily="18" charset="0"/>
              </a:rPr>
              <a:t>6</a:t>
            </a:r>
            <a:r>
              <a:rPr lang="zh-CN" altLang="en-US" b="1" dirty="0">
                <a:latin typeface="微软雅黑" panose="020B0503020204020204" charset="-122"/>
                <a:ea typeface="微软雅黑" panose="020B0503020204020204" charset="-122"/>
                <a:cs typeface="Times New Roman" panose="02020603050405020304" pitchFamily="18" charset="0"/>
              </a:rPr>
              <a:t>．勘察文档制作</a:t>
            </a:r>
            <a:r>
              <a:rPr lang="en-US" altLang="zh-CN" b="1" dirty="0">
                <a:solidFill>
                  <a:srgbClr val="0066FF"/>
                </a:solidFill>
                <a:latin typeface="微软雅黑" panose="020B0503020204020204" charset="-122"/>
                <a:ea typeface="微软雅黑" panose="020B0503020204020204" charset="-122"/>
                <a:cs typeface="Times New Roman" panose="02020603050405020304" pitchFamily="18" charset="0"/>
              </a:rPr>
              <a:t>——</a:t>
            </a:r>
            <a:r>
              <a:rPr lang="zh-CN" altLang="en-US" b="1" dirty="0">
                <a:solidFill>
                  <a:srgbClr val="0066FF"/>
                </a:solidFill>
                <a:latin typeface="微软雅黑" panose="020B0503020204020204" charset="-122"/>
                <a:ea typeface="微软雅黑" panose="020B0503020204020204" charset="-122"/>
                <a:cs typeface="Times New Roman" panose="02020603050405020304" pitchFamily="18" charset="0"/>
              </a:rPr>
              <a:t>工程勘察报告、环境验收报告</a:t>
            </a:r>
            <a:endParaRPr lang="zh-CN" altLang="en-US" b="1" dirty="0">
              <a:solidFill>
                <a:srgbClr val="0066FF"/>
              </a:solidFill>
              <a:latin typeface="微软雅黑" panose="020B0503020204020204" charset="-122"/>
              <a:ea typeface="微软雅黑" panose="020B0503020204020204" charset="-122"/>
              <a:cs typeface="Times New Roman" panose="02020603050405020304" pitchFamily="18" charset="0"/>
            </a:endParaRPr>
          </a:p>
          <a:p>
            <a:pPr>
              <a:lnSpc>
                <a:spcPct val="150000"/>
              </a:lnSpc>
            </a:pPr>
            <a:r>
              <a:rPr lang="en-US" altLang="zh-CN" b="1" dirty="0">
                <a:latin typeface="微软雅黑" panose="020B0503020204020204" charset="-122"/>
                <a:ea typeface="微软雅黑" panose="020B0503020204020204" charset="-122"/>
                <a:cs typeface="Times New Roman" panose="02020603050405020304" pitchFamily="18" charset="0"/>
              </a:rPr>
              <a:t>7</a:t>
            </a:r>
            <a:r>
              <a:rPr lang="zh-CN" altLang="en-US" b="1" dirty="0">
                <a:latin typeface="微软雅黑" panose="020B0503020204020204" charset="-122"/>
                <a:ea typeface="微软雅黑" panose="020B0503020204020204" charset="-122"/>
                <a:cs typeface="Times New Roman" panose="02020603050405020304" pitchFamily="18" charset="0"/>
              </a:rPr>
              <a:t>．勘察评审</a:t>
            </a:r>
            <a:r>
              <a:rPr lang="en-US" altLang="zh-CN" b="1" dirty="0">
                <a:solidFill>
                  <a:srgbClr val="0066FF"/>
                </a:solidFill>
                <a:latin typeface="微软雅黑" panose="020B0503020204020204" charset="-122"/>
                <a:ea typeface="微软雅黑" panose="020B0503020204020204" charset="-122"/>
                <a:cs typeface="Times New Roman" panose="02020603050405020304" pitchFamily="18" charset="0"/>
              </a:rPr>
              <a:t>——</a:t>
            </a:r>
            <a:r>
              <a:rPr lang="zh-CN" altLang="en-US" b="1" dirty="0">
                <a:solidFill>
                  <a:srgbClr val="0066FF"/>
                </a:solidFill>
                <a:latin typeface="微软雅黑" panose="020B0503020204020204" charset="-122"/>
                <a:ea typeface="微软雅黑" panose="020B0503020204020204" charset="-122"/>
                <a:cs typeface="Times New Roman" panose="02020603050405020304" pitchFamily="18" charset="0"/>
              </a:rPr>
              <a:t>工程勘察报告评审表</a:t>
            </a:r>
            <a:endParaRPr lang="zh-CN" altLang="en-US" b="1" dirty="0">
              <a:solidFill>
                <a:srgbClr val="0066FF"/>
              </a:solidFill>
              <a:latin typeface="微软雅黑" panose="020B0503020204020204" charset="-122"/>
              <a:ea typeface="微软雅黑" panose="020B0503020204020204" charset="-122"/>
              <a:cs typeface="Times New Roman" panose="02020603050405020304" pitchFamily="18" charset="0"/>
            </a:endParaRPr>
          </a:p>
          <a:p>
            <a:pPr>
              <a:lnSpc>
                <a:spcPct val="150000"/>
              </a:lnSpc>
            </a:pPr>
            <a:r>
              <a:rPr lang="en-US" altLang="zh-CN" b="1" dirty="0">
                <a:latin typeface="微软雅黑" panose="020B0503020204020204" charset="-122"/>
                <a:ea typeface="微软雅黑" panose="020B0503020204020204" charset="-122"/>
                <a:cs typeface="Times New Roman" panose="02020603050405020304" pitchFamily="18" charset="0"/>
              </a:rPr>
              <a:t>8</a:t>
            </a:r>
            <a:r>
              <a:rPr lang="zh-CN" altLang="en-US" b="1" dirty="0">
                <a:latin typeface="微软雅黑" panose="020B0503020204020204" charset="-122"/>
                <a:ea typeface="微软雅黑" panose="020B0503020204020204" charset="-122"/>
                <a:cs typeface="Times New Roman" panose="02020603050405020304" pitchFamily="18" charset="0"/>
              </a:rPr>
              <a:t>．文档处理</a:t>
            </a:r>
            <a:endParaRPr lang="zh-CN" altLang="en-US" b="1" dirty="0">
              <a:latin typeface="微软雅黑" panose="020B0503020204020204" charset="-122"/>
              <a:ea typeface="微软雅黑" panose="020B0503020204020204" charset="-122"/>
              <a:cs typeface="Times New Roman" panose="02020603050405020304" pitchFamily="18" charset="0"/>
            </a:endParaRPr>
          </a:p>
          <a:p>
            <a:pPr>
              <a:lnSpc>
                <a:spcPct val="150000"/>
              </a:lnSpc>
            </a:pPr>
            <a:r>
              <a:rPr lang="en-US" altLang="zh-CN" b="1" dirty="0">
                <a:latin typeface="微软雅黑" panose="020B0503020204020204" charset="-122"/>
                <a:ea typeface="微软雅黑" panose="020B0503020204020204" charset="-122"/>
                <a:cs typeface="Times New Roman" panose="02020603050405020304" pitchFamily="18" charset="0"/>
              </a:rPr>
              <a:t>9</a:t>
            </a:r>
            <a:r>
              <a:rPr lang="zh-CN" altLang="en-US" b="1" dirty="0">
                <a:latin typeface="微软雅黑" panose="020B0503020204020204" charset="-122"/>
                <a:ea typeface="微软雅黑" panose="020B0503020204020204" charset="-122"/>
                <a:cs typeface="Times New Roman" panose="02020603050405020304" pitchFamily="18" charset="0"/>
              </a:rPr>
              <a:t>．输出结果</a:t>
            </a:r>
            <a:endParaRPr lang="zh-CN" altLang="en-US" b="1" dirty="0">
              <a:latin typeface="微软雅黑" panose="020B0503020204020204" charset="-122"/>
              <a:ea typeface="微软雅黑" panose="020B0503020204020204" charset="-122"/>
              <a:cs typeface="Times New Roman" panose="02020603050405020304" pitchFamily="18" charset="0"/>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一、工程勘察流程及内容</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Line 1"/>
          <p:cNvSpPr>
            <a:spLocks noChangeShapeType="1"/>
          </p:cNvSpPr>
          <p:nvPr/>
        </p:nvSpPr>
        <p:spPr bwMode="auto">
          <a:xfrm>
            <a:off x="-36513" y="619125"/>
            <a:ext cx="40005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tailEnd type="triangle" w="med" len="med"/>
              </a14:hiddenLine>
            </a:ext>
          </a:extLst>
        </p:spPr>
        <p:txBody>
          <a:bodyPr/>
          <a:lstStyle/>
          <a:p>
            <a:endParaRPr lang="zh-CN" altLang="en-US"/>
          </a:p>
        </p:txBody>
      </p:sp>
      <p:sp>
        <p:nvSpPr>
          <p:cNvPr id="8" name="Rectangle 2"/>
          <p:cNvSpPr txBox="1">
            <a:spLocks noChangeArrowheads="1"/>
          </p:cNvSpPr>
          <p:nvPr/>
        </p:nvSpPr>
        <p:spPr>
          <a:xfrm>
            <a:off x="304676" y="1545828"/>
            <a:ext cx="6913562" cy="3357563"/>
          </a:xfrm>
          <a:prstGeom prst="rect">
            <a:avLst/>
          </a:prstGeom>
        </p:spPr>
        <p:txBody>
          <a:bodyPr wrap="none"/>
          <a:lstStyle>
            <a:lvl1pPr marL="269875" indent="-269240" algn="l" defTabSz="719455" rtl="0" eaLnBrk="1" latinLnBrk="0" hangingPunct="1">
              <a:spcBef>
                <a:spcPts val="75"/>
              </a:spcBef>
              <a:buFont typeface="Arial" panose="020B0604020202020204" pitchFamily="34" charset="0"/>
              <a:buChar char="•"/>
              <a:defRPr sz="2520" kern="1200">
                <a:solidFill>
                  <a:schemeClr val="tx1"/>
                </a:solidFill>
                <a:latin typeface="+mn-lt"/>
                <a:ea typeface="+mn-ea"/>
                <a:cs typeface="+mn-cs"/>
              </a:defRPr>
            </a:lvl1pPr>
            <a:lvl2pPr marL="584835" indent="-224155" algn="l" defTabSz="719455" rtl="0" eaLnBrk="1" latinLnBrk="0" hangingPunct="1">
              <a:spcBef>
                <a:spcPts val="75"/>
              </a:spcBef>
              <a:buFont typeface="Arial" panose="020B0604020202020204" pitchFamily="34" charset="0"/>
              <a:buChar char="–"/>
              <a:defRPr sz="2205" kern="1200">
                <a:solidFill>
                  <a:schemeClr val="tx1"/>
                </a:solidFill>
                <a:latin typeface="+mn-lt"/>
                <a:ea typeface="+mn-ea"/>
                <a:cs typeface="+mn-cs"/>
              </a:defRPr>
            </a:lvl2pPr>
            <a:lvl3pPr marL="899160" indent="-179070" algn="l" defTabSz="719455" rtl="0" eaLnBrk="1" latinLnBrk="0" hangingPunct="1">
              <a:spcBef>
                <a:spcPts val="75"/>
              </a:spcBef>
              <a:buFont typeface="Arial" panose="020B0604020202020204" pitchFamily="34" charset="0"/>
              <a:buChar char="•"/>
              <a:defRPr sz="1890" kern="1200">
                <a:solidFill>
                  <a:schemeClr val="tx1"/>
                </a:solidFill>
                <a:latin typeface="+mn-lt"/>
                <a:ea typeface="+mn-ea"/>
                <a:cs typeface="+mn-cs"/>
              </a:defRPr>
            </a:lvl3pPr>
            <a:lvl4pPr marL="12592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4pPr>
            <a:lvl5pPr marL="16186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5pPr>
            <a:lvl6pPr marL="19786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6pPr>
            <a:lvl7pPr marL="23387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7pPr>
            <a:lvl8pPr marL="26981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8pPr>
            <a:lvl9pPr marL="30581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9pPr>
          </a:lstStyle>
          <a:p>
            <a:pPr marL="609600" indent="-609600">
              <a:lnSpc>
                <a:spcPct val="120000"/>
              </a:lnSpc>
              <a:buFontTx/>
              <a:buNone/>
            </a:pPr>
            <a:r>
              <a:rPr lang="zh-CN" altLang="en-US" sz="1800" dirty="0">
                <a:latin typeface="微软雅黑" panose="020B0503020204020204" charset="-122"/>
                <a:ea typeface="微软雅黑" panose="020B0503020204020204" charset="-122"/>
              </a:rPr>
              <a:t>     </a:t>
            </a:r>
            <a:r>
              <a:rPr lang="en-US" altLang="zh-CN" sz="1800" b="1" dirty="0">
                <a:latin typeface="微软雅黑" panose="020B0503020204020204" charset="-122"/>
                <a:ea typeface="微软雅黑" panose="020B0503020204020204" charset="-122"/>
              </a:rPr>
              <a:t>《</a:t>
            </a:r>
            <a:r>
              <a:rPr lang="zh-CN" altLang="en-US" sz="1800" b="1" dirty="0">
                <a:latin typeface="微软雅黑" panose="020B0503020204020204" charset="-122"/>
                <a:ea typeface="微软雅黑" panose="020B0503020204020204" charset="-122"/>
              </a:rPr>
              <a:t>工程勘察任务书</a:t>
            </a:r>
            <a:r>
              <a:rPr lang="en-US" altLang="zh-CN" sz="1800" b="1" dirty="0">
                <a:latin typeface="微软雅黑" panose="020B0503020204020204" charset="-122"/>
                <a:ea typeface="微软雅黑" panose="020B0503020204020204" charset="-122"/>
              </a:rPr>
              <a:t>》</a:t>
            </a:r>
            <a:endParaRPr lang="zh-CN" altLang="en-US" sz="1800" b="1" dirty="0">
              <a:latin typeface="微软雅黑" panose="020B0503020204020204" charset="-122"/>
              <a:ea typeface="微软雅黑" panose="020B0503020204020204" charset="-122"/>
            </a:endParaRPr>
          </a:p>
          <a:p>
            <a:pPr marL="609600" indent="-609600">
              <a:lnSpc>
                <a:spcPct val="120000"/>
              </a:lnSpc>
              <a:buFontTx/>
              <a:buNone/>
            </a:pPr>
            <a:r>
              <a:rPr lang="zh-CN" altLang="en-US" sz="1800" b="1" dirty="0">
                <a:latin typeface="微软雅黑" panose="020B0503020204020204" charset="-122"/>
                <a:ea typeface="微软雅黑" panose="020B0503020204020204" charset="-122"/>
              </a:rPr>
              <a:t>     </a:t>
            </a:r>
            <a:r>
              <a:rPr lang="en-US" altLang="zh-CN" sz="1800" b="1" dirty="0">
                <a:latin typeface="微软雅黑" panose="020B0503020204020204" charset="-122"/>
                <a:ea typeface="微软雅黑" panose="020B0503020204020204" charset="-122"/>
              </a:rPr>
              <a:t>《</a:t>
            </a:r>
            <a:r>
              <a:rPr lang="zh-CN" altLang="en-US" sz="1800" b="1" dirty="0">
                <a:latin typeface="微软雅黑" panose="020B0503020204020204" charset="-122"/>
                <a:ea typeface="微软雅黑" panose="020B0503020204020204" charset="-122"/>
              </a:rPr>
              <a:t>工程勘察计划</a:t>
            </a:r>
            <a:r>
              <a:rPr lang="en-US" altLang="zh-CN" sz="1800" b="1" dirty="0">
                <a:latin typeface="微软雅黑" panose="020B0503020204020204" charset="-122"/>
                <a:ea typeface="微软雅黑" panose="020B0503020204020204" charset="-122"/>
              </a:rPr>
              <a:t>》</a:t>
            </a:r>
            <a:r>
              <a:rPr lang="zh-CN" altLang="en-US" sz="1800" b="1" dirty="0">
                <a:latin typeface="微软雅黑" panose="020B0503020204020204" charset="-122"/>
                <a:ea typeface="微软雅黑" panose="020B0503020204020204" charset="-122"/>
              </a:rPr>
              <a:t> </a:t>
            </a:r>
            <a:endParaRPr lang="zh-CN" altLang="en-US" sz="1800" b="1" dirty="0">
              <a:latin typeface="微软雅黑" panose="020B0503020204020204" charset="-122"/>
              <a:ea typeface="微软雅黑" panose="020B0503020204020204" charset="-122"/>
            </a:endParaRPr>
          </a:p>
          <a:p>
            <a:pPr marL="609600" indent="-609600">
              <a:lnSpc>
                <a:spcPct val="120000"/>
              </a:lnSpc>
              <a:buFontTx/>
              <a:buNone/>
            </a:pPr>
            <a:r>
              <a:rPr lang="en-US" altLang="zh-CN" sz="1800" b="1" dirty="0">
                <a:latin typeface="微软雅黑" panose="020B0503020204020204" charset="-122"/>
                <a:ea typeface="微软雅黑" panose="020B0503020204020204" charset="-122"/>
              </a:rPr>
              <a:t>     《</a:t>
            </a:r>
            <a:r>
              <a:rPr lang="zh-CN" altLang="en-US" sz="1800" b="1" dirty="0">
                <a:latin typeface="微软雅黑" panose="020B0503020204020204" charset="-122"/>
                <a:ea typeface="微软雅黑" panose="020B0503020204020204" charset="-122"/>
              </a:rPr>
              <a:t>工程勘察报告</a:t>
            </a:r>
            <a:r>
              <a:rPr lang="en-US" altLang="zh-CN" sz="1800" b="1" dirty="0">
                <a:latin typeface="微软雅黑" panose="020B0503020204020204" charset="-122"/>
                <a:ea typeface="微软雅黑" panose="020B0503020204020204" charset="-122"/>
              </a:rPr>
              <a:t>》</a:t>
            </a:r>
            <a:endParaRPr lang="zh-CN" altLang="en-US" sz="1800" b="1" dirty="0">
              <a:latin typeface="微软雅黑" panose="020B0503020204020204" charset="-122"/>
              <a:ea typeface="微软雅黑" panose="020B0503020204020204" charset="-122"/>
            </a:endParaRPr>
          </a:p>
          <a:p>
            <a:pPr marL="609600" indent="-609600">
              <a:lnSpc>
                <a:spcPct val="120000"/>
              </a:lnSpc>
              <a:buFontTx/>
              <a:buNone/>
            </a:pPr>
            <a:r>
              <a:rPr lang="en-US" altLang="zh-CN" sz="1800" b="1" dirty="0">
                <a:latin typeface="微软雅黑" panose="020B0503020204020204" charset="-122"/>
                <a:ea typeface="微软雅黑" panose="020B0503020204020204" charset="-122"/>
              </a:rPr>
              <a:t>     《</a:t>
            </a:r>
            <a:r>
              <a:rPr lang="zh-CN" altLang="en-US" sz="1800" b="1" dirty="0">
                <a:latin typeface="微软雅黑" panose="020B0503020204020204" charset="-122"/>
                <a:ea typeface="微软雅黑" panose="020B0503020204020204" charset="-122"/>
              </a:rPr>
              <a:t>环境验收报告</a:t>
            </a:r>
            <a:r>
              <a:rPr lang="en-US" altLang="zh-CN" sz="1800" b="1" dirty="0">
                <a:latin typeface="微软雅黑" panose="020B0503020204020204" charset="-122"/>
                <a:ea typeface="微软雅黑" panose="020B0503020204020204" charset="-122"/>
              </a:rPr>
              <a:t>》</a:t>
            </a:r>
            <a:endParaRPr lang="en-US" altLang="zh-CN" sz="1800" b="1" dirty="0">
              <a:latin typeface="微软雅黑" panose="020B0503020204020204" charset="-122"/>
              <a:ea typeface="微软雅黑" panose="020B0503020204020204" charset="-122"/>
            </a:endParaRPr>
          </a:p>
          <a:p>
            <a:pPr marL="609600" indent="-609600">
              <a:lnSpc>
                <a:spcPct val="120000"/>
              </a:lnSpc>
              <a:buFontTx/>
              <a:buNone/>
            </a:pPr>
            <a:r>
              <a:rPr lang="en-US" altLang="zh-CN" sz="1800" b="1" dirty="0">
                <a:latin typeface="微软雅黑" panose="020B0503020204020204" charset="-122"/>
                <a:ea typeface="微软雅黑" panose="020B0503020204020204" charset="-122"/>
              </a:rPr>
              <a:t>     《</a:t>
            </a:r>
            <a:r>
              <a:rPr lang="zh-CN" altLang="en-US" sz="1800" b="1" dirty="0">
                <a:latin typeface="微软雅黑" panose="020B0503020204020204" charset="-122"/>
                <a:ea typeface="微软雅黑" panose="020B0503020204020204" charset="-122"/>
              </a:rPr>
              <a:t>合同问题反馈表</a:t>
            </a:r>
            <a:r>
              <a:rPr lang="en-US" altLang="zh-CN" sz="1800" b="1" dirty="0">
                <a:latin typeface="微软雅黑" panose="020B0503020204020204" charset="-122"/>
                <a:ea typeface="微软雅黑" panose="020B0503020204020204" charset="-122"/>
              </a:rPr>
              <a:t>》</a:t>
            </a:r>
            <a:endParaRPr lang="en-US" altLang="zh-CN" sz="1800" b="1" dirty="0">
              <a:latin typeface="微软雅黑" panose="020B0503020204020204" charset="-122"/>
              <a:ea typeface="微软雅黑" panose="020B0503020204020204" charset="-122"/>
            </a:endParaRPr>
          </a:p>
          <a:p>
            <a:pPr marL="609600" indent="-609600">
              <a:lnSpc>
                <a:spcPct val="120000"/>
              </a:lnSpc>
              <a:buFontTx/>
              <a:buNone/>
            </a:pPr>
            <a:r>
              <a:rPr lang="en-US" altLang="zh-CN" sz="1800" b="1" dirty="0">
                <a:latin typeface="微软雅黑" panose="020B0503020204020204" charset="-122"/>
                <a:ea typeface="微软雅黑" panose="020B0503020204020204" charset="-122"/>
              </a:rPr>
              <a:t>     《</a:t>
            </a:r>
            <a:r>
              <a:rPr lang="zh-CN" altLang="en-US" sz="1800" b="1" dirty="0">
                <a:latin typeface="微软雅黑" panose="020B0503020204020204" charset="-122"/>
                <a:ea typeface="微软雅黑" panose="020B0503020204020204" charset="-122"/>
              </a:rPr>
              <a:t>工程勘察报告评审表</a:t>
            </a:r>
            <a:r>
              <a:rPr lang="en-US" altLang="zh-CN" sz="1800" b="1" dirty="0">
                <a:latin typeface="微软雅黑" panose="020B0503020204020204" charset="-122"/>
                <a:ea typeface="微软雅黑" panose="020B0503020204020204" charset="-122"/>
              </a:rPr>
              <a:t>》</a:t>
            </a:r>
            <a:endParaRPr lang="en-US" altLang="zh-CN" sz="1800" b="1" dirty="0">
              <a:latin typeface="微软雅黑" panose="020B0503020204020204" charset="-122"/>
              <a:ea typeface="微软雅黑" panose="020B0503020204020204" charset="-122"/>
            </a:endParaRPr>
          </a:p>
        </p:txBody>
      </p:sp>
      <p:sp>
        <p:nvSpPr>
          <p:cNvPr id="9" name="Text Box 17"/>
          <p:cNvSpPr txBox="1">
            <a:spLocks noChangeArrowheads="1"/>
          </p:cNvSpPr>
          <p:nvPr/>
        </p:nvSpPr>
        <p:spPr bwMode="auto">
          <a:xfrm>
            <a:off x="600703" y="884109"/>
            <a:ext cx="48799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FF6600"/>
                </a:solidFill>
                <a:latin typeface="微软雅黑" panose="020B0503020204020204" charset="-122"/>
                <a:ea typeface="微软雅黑" panose="020B0503020204020204" charset="-122"/>
              </a:rPr>
              <a:t>工程勘察主要文档表格</a:t>
            </a:r>
            <a:endParaRPr lang="zh-CN" altLang="en-US" sz="2800" b="1" dirty="0">
              <a:solidFill>
                <a:srgbClr val="FF6600"/>
              </a:solidFill>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一、工程勘察流程及内容</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Line 1"/>
          <p:cNvSpPr>
            <a:spLocks noChangeShapeType="1"/>
          </p:cNvSpPr>
          <p:nvPr/>
        </p:nvSpPr>
        <p:spPr bwMode="auto">
          <a:xfrm>
            <a:off x="-36513" y="619125"/>
            <a:ext cx="40005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tailEnd type="triangle" w="med" len="med"/>
              </a14:hiddenLine>
            </a:ext>
          </a:extLst>
        </p:spPr>
        <p:txBody>
          <a:bodyPr/>
          <a:lstStyle/>
          <a:p>
            <a:endParaRPr lang="zh-CN" altLang="en-US"/>
          </a:p>
        </p:txBody>
      </p:sp>
      <p:sp>
        <p:nvSpPr>
          <p:cNvPr id="10" name="Text Box 17"/>
          <p:cNvSpPr txBox="1">
            <a:spLocks noChangeArrowheads="1"/>
          </p:cNvSpPr>
          <p:nvPr/>
        </p:nvSpPr>
        <p:spPr bwMode="auto">
          <a:xfrm>
            <a:off x="857250" y="897755"/>
            <a:ext cx="32146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FF6600"/>
                </a:solidFill>
                <a:latin typeface="微软雅黑" panose="020B0503020204020204" charset="-122"/>
                <a:ea typeface="微软雅黑" panose="020B0503020204020204" charset="-122"/>
              </a:rPr>
              <a:t>工程勘察注意事项</a:t>
            </a:r>
            <a:endParaRPr lang="zh-CN" altLang="en-US" sz="2000" b="1" dirty="0">
              <a:solidFill>
                <a:srgbClr val="FF6600"/>
              </a:solidFill>
              <a:latin typeface="微软雅黑" panose="020B0503020204020204" charset="-122"/>
              <a:ea typeface="微软雅黑" panose="020B0503020204020204" charset="-122"/>
            </a:endParaRPr>
          </a:p>
        </p:txBody>
      </p:sp>
      <p:sp>
        <p:nvSpPr>
          <p:cNvPr id="11" name="TextBox 7"/>
          <p:cNvSpPr txBox="1">
            <a:spLocks noChangeArrowheads="1"/>
          </p:cNvSpPr>
          <p:nvPr/>
        </p:nvSpPr>
        <p:spPr bwMode="auto">
          <a:xfrm>
            <a:off x="714375" y="1435213"/>
            <a:ext cx="7786688" cy="2419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en-US" altLang="zh-CN" b="1" dirty="0">
                <a:latin typeface="微软雅黑" panose="020B0503020204020204" charset="-122"/>
                <a:ea typeface="微软雅黑" panose="020B0503020204020204" charset="-122"/>
              </a:rPr>
              <a:t>1</a:t>
            </a:r>
            <a:r>
              <a:rPr lang="zh-CN" altLang="en-US" b="1" dirty="0">
                <a:latin typeface="微软雅黑" panose="020B0503020204020204" charset="-122"/>
                <a:ea typeface="微软雅黑" panose="020B0503020204020204" charset="-122"/>
              </a:rPr>
              <a:t>、资料整理</a:t>
            </a:r>
            <a:endParaRPr lang="en-US" altLang="zh-CN" b="1" dirty="0">
              <a:latin typeface="微软雅黑" panose="020B0503020204020204" charset="-122"/>
              <a:ea typeface="微软雅黑" panose="020B0503020204020204" charset="-122"/>
            </a:endParaRPr>
          </a:p>
          <a:p>
            <a:pPr eaLnBrk="1" hangingPunct="1">
              <a:lnSpc>
                <a:spcPct val="120000"/>
              </a:lnSpc>
            </a:pPr>
            <a:endParaRPr lang="en-US" altLang="zh-CN" b="1" dirty="0">
              <a:latin typeface="微软雅黑" panose="020B0503020204020204" charset="-122"/>
              <a:ea typeface="微软雅黑" panose="020B0503020204020204" charset="-122"/>
            </a:endParaRPr>
          </a:p>
          <a:p>
            <a:pPr eaLnBrk="1" hangingPunct="1">
              <a:lnSpc>
                <a:spcPct val="120000"/>
              </a:lnSpc>
              <a:buFont typeface="Wingdings" panose="05000000000000000000" pitchFamily="2" charset="2"/>
              <a:buChar char="u"/>
            </a:pPr>
            <a:r>
              <a:rPr lang="zh-CN" altLang="en-US" dirty="0">
                <a:latin typeface="微软雅黑" panose="020B0503020204020204" charset="-122"/>
                <a:ea typeface="微软雅黑" panose="020B0503020204020204" charset="-122"/>
              </a:rPr>
              <a:t>机房勘察时，应</a:t>
            </a:r>
            <a:r>
              <a:rPr lang="zh-CN" altLang="en-US" b="1" dirty="0">
                <a:solidFill>
                  <a:srgbClr val="0066FF"/>
                </a:solidFill>
                <a:latin typeface="微软雅黑" panose="020B0503020204020204" charset="-122"/>
                <a:ea typeface="微软雅黑" panose="020B0503020204020204" charset="-122"/>
              </a:rPr>
              <a:t>将有价值的内容在图上标注清楚</a:t>
            </a:r>
            <a:r>
              <a:rPr lang="zh-CN" altLang="en-US" dirty="0">
                <a:latin typeface="微软雅黑" panose="020B0503020204020204" charset="-122"/>
                <a:ea typeface="微软雅黑" panose="020B0503020204020204" charset="-122"/>
              </a:rPr>
              <a:t>，有不清楚的地方或缺失的资料要及时与相关人员联系，进行补充和修改。最后要求客户签字确认。</a:t>
            </a:r>
            <a:endParaRPr lang="en-US" altLang="zh-CN" dirty="0">
              <a:latin typeface="微软雅黑" panose="020B0503020204020204" charset="-122"/>
              <a:ea typeface="微软雅黑" panose="020B0503020204020204" charset="-122"/>
            </a:endParaRPr>
          </a:p>
          <a:p>
            <a:pPr eaLnBrk="1" hangingPunct="1">
              <a:lnSpc>
                <a:spcPct val="120000"/>
              </a:lnSpc>
            </a:pPr>
            <a:endParaRPr lang="en-US" altLang="zh-CN" dirty="0">
              <a:latin typeface="微软雅黑" panose="020B0503020204020204" charset="-122"/>
              <a:ea typeface="微软雅黑" panose="020B0503020204020204" charset="-122"/>
            </a:endParaRPr>
          </a:p>
          <a:p>
            <a:pPr eaLnBrk="1" hangingPunct="1">
              <a:lnSpc>
                <a:spcPct val="120000"/>
              </a:lnSpc>
              <a:buFont typeface="Wingdings" panose="05000000000000000000" pitchFamily="2" charset="2"/>
              <a:buChar char="u"/>
            </a:pPr>
            <a:r>
              <a:rPr lang="zh-CN" altLang="en-US" dirty="0">
                <a:latin typeface="微软雅黑" panose="020B0503020204020204" charset="-122"/>
                <a:ea typeface="微软雅黑" panose="020B0503020204020204" charset="-122"/>
              </a:rPr>
              <a:t>机房勘察完，做到</a:t>
            </a:r>
            <a:r>
              <a:rPr lang="zh-CN" altLang="en-US" b="1" dirty="0">
                <a:solidFill>
                  <a:srgbClr val="0066FF"/>
                </a:solidFill>
                <a:latin typeface="微软雅黑" panose="020B0503020204020204" charset="-122"/>
                <a:ea typeface="微软雅黑" panose="020B0503020204020204" charset="-122"/>
              </a:rPr>
              <a:t>当天勘察当天整理</a:t>
            </a:r>
            <a:r>
              <a:rPr lang="zh-CN" altLang="en-US" dirty="0">
                <a:latin typeface="微软雅黑" panose="020B0503020204020204" charset="-122"/>
                <a:ea typeface="微软雅黑" panose="020B0503020204020204" charset="-122"/>
              </a:rPr>
              <a:t>，以避免资料积累太多而造成信息错位。</a:t>
            </a:r>
            <a:endParaRPr lang="en-US" altLang="zh-CN" dirty="0">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一、工程勘察流程及内容</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Line 1"/>
          <p:cNvSpPr>
            <a:spLocks noChangeShapeType="1"/>
          </p:cNvSpPr>
          <p:nvPr/>
        </p:nvSpPr>
        <p:spPr bwMode="auto">
          <a:xfrm>
            <a:off x="-36513" y="619125"/>
            <a:ext cx="40005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tailEnd type="triangle" w="med" len="med"/>
              </a14:hiddenLine>
            </a:ext>
          </a:extLst>
        </p:spPr>
        <p:txBody>
          <a:bodyPr/>
          <a:lstStyle/>
          <a:p>
            <a:endParaRPr lang="zh-CN" altLang="en-US"/>
          </a:p>
        </p:txBody>
      </p:sp>
      <p:sp>
        <p:nvSpPr>
          <p:cNvPr id="8" name="TextBox 7"/>
          <p:cNvSpPr txBox="1">
            <a:spLocks noChangeArrowheads="1"/>
          </p:cNvSpPr>
          <p:nvPr/>
        </p:nvSpPr>
        <p:spPr bwMode="auto">
          <a:xfrm>
            <a:off x="736324" y="833439"/>
            <a:ext cx="8143875"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en-US" altLang="zh-CN" b="1" dirty="0">
                <a:latin typeface="微软雅黑" panose="020B0503020204020204" charset="-122"/>
                <a:ea typeface="微软雅黑" panose="020B0503020204020204" charset="-122"/>
              </a:rPr>
              <a:t>2</a:t>
            </a:r>
            <a:r>
              <a:rPr lang="zh-CN" altLang="en-US" b="1" dirty="0">
                <a:latin typeface="微软雅黑" panose="020B0503020204020204" charset="-122"/>
                <a:ea typeface="微软雅黑" panose="020B0503020204020204" charset="-122"/>
              </a:rPr>
              <a:t>、与建设单位沟通</a:t>
            </a:r>
            <a:endParaRPr lang="en-US" altLang="zh-CN" b="1" dirty="0">
              <a:latin typeface="微软雅黑" panose="020B0503020204020204" charset="-122"/>
              <a:ea typeface="微软雅黑" panose="020B0503020204020204" charset="-122"/>
            </a:endParaRPr>
          </a:p>
          <a:p>
            <a:pPr eaLnBrk="1" hangingPunct="1">
              <a:lnSpc>
                <a:spcPct val="120000"/>
              </a:lnSpc>
            </a:pP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1</a:t>
            </a:r>
            <a:r>
              <a:rPr lang="zh-CN" altLang="en-US" dirty="0">
                <a:latin typeface="微软雅黑" panose="020B0503020204020204" charset="-122"/>
                <a:ea typeface="微软雅黑" panose="020B0503020204020204" charset="-122"/>
              </a:rPr>
              <a:t>）</a:t>
            </a:r>
            <a:r>
              <a:rPr lang="zh-CN" altLang="zh-CN" dirty="0">
                <a:latin typeface="微软雅黑" panose="020B0503020204020204" charset="-122"/>
                <a:ea typeface="微软雅黑" panose="020B0503020204020204" charset="-122"/>
              </a:rPr>
              <a:t>与客户沟通交流前</a:t>
            </a:r>
            <a:r>
              <a:rPr lang="zh-CN" altLang="zh-CN" b="1" dirty="0">
                <a:solidFill>
                  <a:srgbClr val="0066FF"/>
                </a:solidFill>
                <a:latin typeface="微软雅黑" panose="020B0503020204020204" charset="-122"/>
                <a:ea typeface="微软雅黑" panose="020B0503020204020204" charset="-122"/>
              </a:rPr>
              <a:t>需理清思路，明确需沟通的内容</a:t>
            </a:r>
            <a:r>
              <a:rPr lang="zh-CN" altLang="zh-CN" dirty="0">
                <a:latin typeface="微软雅黑" panose="020B0503020204020204" charset="-122"/>
                <a:ea typeface="微软雅黑" panose="020B0503020204020204" charset="-122"/>
              </a:rPr>
              <a:t>，避免交流过程中出现内容杂乱无章、前后重复或次数频繁的情况</a:t>
            </a:r>
            <a:r>
              <a:rPr lang="zh-CN" altLang="en-US" dirty="0">
                <a:latin typeface="微软雅黑" panose="020B0503020204020204" charset="-122"/>
                <a:ea typeface="微软雅黑" panose="020B0503020204020204" charset="-122"/>
              </a:rPr>
              <a:t>。</a:t>
            </a:r>
            <a:endParaRPr lang="en-US" altLang="zh-CN" dirty="0">
              <a:latin typeface="微软雅黑" panose="020B0503020204020204" charset="-122"/>
              <a:ea typeface="微软雅黑" panose="020B0503020204020204" charset="-122"/>
            </a:endParaRPr>
          </a:p>
          <a:p>
            <a:pPr eaLnBrk="1" hangingPunct="1">
              <a:lnSpc>
                <a:spcPct val="120000"/>
              </a:lnSpc>
            </a:pPr>
            <a:endParaRPr lang="en-US" altLang="zh-CN" dirty="0">
              <a:latin typeface="微软雅黑" panose="020B0503020204020204" charset="-122"/>
              <a:ea typeface="微软雅黑" panose="020B0503020204020204" charset="-122"/>
            </a:endParaRPr>
          </a:p>
          <a:p>
            <a:pPr eaLnBrk="1" hangingPunct="1">
              <a:lnSpc>
                <a:spcPct val="120000"/>
              </a:lnSpc>
            </a:pP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2</a:t>
            </a:r>
            <a:r>
              <a:rPr lang="zh-CN" altLang="en-US" dirty="0">
                <a:latin typeface="微软雅黑" panose="020B0503020204020204" charset="-122"/>
                <a:ea typeface="微软雅黑" panose="020B0503020204020204" charset="-122"/>
              </a:rPr>
              <a:t>）</a:t>
            </a:r>
            <a:r>
              <a:rPr lang="zh-CN" altLang="zh-CN" dirty="0">
                <a:latin typeface="微软雅黑" panose="020B0503020204020204" charset="-122"/>
                <a:ea typeface="微软雅黑" panose="020B0503020204020204" charset="-122"/>
              </a:rPr>
              <a:t>任何形式的沟通均</a:t>
            </a:r>
            <a:r>
              <a:rPr lang="zh-CN" altLang="zh-CN" b="1" dirty="0">
                <a:solidFill>
                  <a:srgbClr val="0066FF"/>
                </a:solidFill>
                <a:latin typeface="微软雅黑" panose="020B0503020204020204" charset="-122"/>
                <a:ea typeface="微软雅黑" panose="020B0503020204020204" charset="-122"/>
              </a:rPr>
              <a:t>以书面的方式记录保留</a:t>
            </a:r>
            <a:r>
              <a:rPr lang="zh-CN" altLang="zh-CN" dirty="0">
                <a:latin typeface="微软雅黑" panose="020B0503020204020204" charset="-122"/>
                <a:ea typeface="微软雅黑" panose="020B0503020204020204" charset="-122"/>
              </a:rPr>
              <a:t>，涉及关键问题的沟通必需形成面谈或会议纪要以备留档查询</a:t>
            </a:r>
            <a:r>
              <a:rPr lang="zh-CN" altLang="en-US" dirty="0">
                <a:latin typeface="微软雅黑" panose="020B0503020204020204" charset="-122"/>
                <a:ea typeface="微软雅黑" panose="020B0503020204020204" charset="-122"/>
              </a:rPr>
              <a:t>。</a:t>
            </a:r>
            <a:endParaRPr lang="en-US" altLang="zh-CN" dirty="0">
              <a:latin typeface="微软雅黑" panose="020B0503020204020204" charset="-122"/>
              <a:ea typeface="微软雅黑" panose="020B0503020204020204" charset="-122"/>
            </a:endParaRPr>
          </a:p>
          <a:p>
            <a:pPr eaLnBrk="1" hangingPunct="1">
              <a:lnSpc>
                <a:spcPct val="120000"/>
              </a:lnSpc>
            </a:pPr>
            <a:endParaRPr lang="en-US" altLang="zh-CN" dirty="0">
              <a:latin typeface="微软雅黑" panose="020B0503020204020204" charset="-122"/>
              <a:ea typeface="微软雅黑" panose="020B0503020204020204" charset="-122"/>
            </a:endParaRPr>
          </a:p>
          <a:p>
            <a:pPr eaLnBrk="1" hangingPunct="1">
              <a:lnSpc>
                <a:spcPct val="120000"/>
              </a:lnSpc>
            </a:pP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3</a:t>
            </a:r>
            <a:r>
              <a:rPr lang="zh-CN" altLang="en-US" dirty="0">
                <a:latin typeface="微软雅黑" panose="020B0503020204020204" charset="-122"/>
                <a:ea typeface="微软雅黑" panose="020B0503020204020204" charset="-122"/>
              </a:rPr>
              <a:t>）</a:t>
            </a:r>
            <a:r>
              <a:rPr lang="zh-CN" altLang="zh-CN" dirty="0">
                <a:latin typeface="微软雅黑" panose="020B0503020204020204" charset="-122"/>
                <a:ea typeface="微软雅黑" panose="020B0503020204020204" charset="-122"/>
              </a:rPr>
              <a:t>对于在勘察过程中与建设单位或其他单位的人员不能取得一致观点的内容，</a:t>
            </a:r>
            <a:r>
              <a:rPr lang="zh-CN" altLang="zh-CN" b="1" dirty="0">
                <a:solidFill>
                  <a:srgbClr val="0066FF"/>
                </a:solidFill>
                <a:latin typeface="微软雅黑" panose="020B0503020204020204" charset="-122"/>
                <a:ea typeface="微软雅黑" panose="020B0503020204020204" charset="-122"/>
              </a:rPr>
              <a:t>应主动与建设单位协商，广泛征求意见，把问题尽量解决在编制设计之前</a:t>
            </a:r>
            <a:r>
              <a:rPr lang="zh-CN" altLang="zh-CN" dirty="0">
                <a:latin typeface="微软雅黑" panose="020B0503020204020204" charset="-122"/>
                <a:ea typeface="微软雅黑" panose="020B0503020204020204" charset="-122"/>
              </a:rPr>
              <a:t>，以加快设计进度提高设计质量。</a:t>
            </a:r>
            <a:endParaRPr lang="zh-CN" altLang="en-US" dirty="0">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grpSp>
        <p:nvGrpSpPr>
          <p:cNvPr id="8" name="组合 7"/>
          <p:cNvGrpSpPr/>
          <p:nvPr/>
        </p:nvGrpSpPr>
        <p:grpSpPr>
          <a:xfrm>
            <a:off x="1745630" y="465708"/>
            <a:ext cx="6160191" cy="613410"/>
            <a:chOff x="4260" y="638"/>
            <a:chExt cx="8921" cy="966"/>
          </a:xfrm>
        </p:grpSpPr>
        <p:sp>
          <p:nvSpPr>
            <p:cNvPr id="82" name="矩形 81"/>
            <p:cNvSpPr/>
            <p:nvPr/>
          </p:nvSpPr>
          <p:spPr>
            <a:xfrm>
              <a:off x="11754" y="1545"/>
              <a:ext cx="1427" cy="59"/>
            </a:xfrm>
            <a:prstGeom prst="rect">
              <a:avLst/>
            </a:prstGeom>
            <a:solidFill>
              <a:srgbClr val="CBCB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3" name="TextBox 82"/>
            <p:cNvSpPr txBox="1"/>
            <p:nvPr/>
          </p:nvSpPr>
          <p:spPr>
            <a:xfrm>
              <a:off x="7277" y="638"/>
              <a:ext cx="2902" cy="785"/>
            </a:xfrm>
            <a:prstGeom prst="round2SameRect">
              <a:avLst>
                <a:gd name="adj1" fmla="val 27581"/>
                <a:gd name="adj2" fmla="val 0"/>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chemeClr val="lt1"/>
                  </a:solidFill>
                  <a:latin typeface="微软雅黑" panose="020B0503020204020204" charset="-122"/>
                  <a:ea typeface="微软雅黑" panose="020B0503020204020204" charset="-122"/>
                </a:rPr>
                <a:t>目    录</a:t>
              </a:r>
              <a:endParaRPr lang="zh-CN" altLang="en-US" sz="3200" b="1" dirty="0">
                <a:solidFill>
                  <a:schemeClr val="lt1"/>
                </a:solidFill>
                <a:latin typeface="微软雅黑" panose="020B0503020204020204" charset="-122"/>
                <a:ea typeface="微软雅黑" panose="020B0503020204020204" charset="-122"/>
              </a:endParaRPr>
            </a:p>
          </p:txBody>
        </p:sp>
        <p:sp>
          <p:nvSpPr>
            <p:cNvPr id="84" name="矩形 83"/>
            <p:cNvSpPr/>
            <p:nvPr/>
          </p:nvSpPr>
          <p:spPr>
            <a:xfrm>
              <a:off x="4260" y="1545"/>
              <a:ext cx="1427" cy="59"/>
            </a:xfrm>
            <a:prstGeom prst="rect">
              <a:avLst/>
            </a:prstGeom>
            <a:solidFill>
              <a:srgbClr val="E4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5" name="矩形 84"/>
            <p:cNvSpPr/>
            <p:nvPr/>
          </p:nvSpPr>
          <p:spPr>
            <a:xfrm>
              <a:off x="5759" y="1545"/>
              <a:ext cx="1427" cy="59"/>
            </a:xfrm>
            <a:prstGeom prst="rect">
              <a:avLst/>
            </a:prstGeom>
            <a:solidFill>
              <a:srgbClr val="8EC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6" name="矩形 85"/>
            <p:cNvSpPr/>
            <p:nvPr/>
          </p:nvSpPr>
          <p:spPr>
            <a:xfrm>
              <a:off x="7258" y="1545"/>
              <a:ext cx="1427" cy="59"/>
            </a:xfrm>
            <a:prstGeom prst="rect">
              <a:avLst/>
            </a:prstGeom>
            <a:solidFill>
              <a:srgbClr val="E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7" name="矩形 86"/>
            <p:cNvSpPr/>
            <p:nvPr/>
          </p:nvSpPr>
          <p:spPr>
            <a:xfrm>
              <a:off x="8756" y="1545"/>
              <a:ext cx="1427" cy="59"/>
            </a:xfrm>
            <a:prstGeom prst="rect">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8" name="矩形 87"/>
            <p:cNvSpPr/>
            <p:nvPr/>
          </p:nvSpPr>
          <p:spPr>
            <a:xfrm>
              <a:off x="10255" y="1545"/>
              <a:ext cx="1427" cy="59"/>
            </a:xfrm>
            <a:prstGeom prst="rect">
              <a:avLst/>
            </a:prstGeom>
            <a:solidFill>
              <a:srgbClr val="CF01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grpSp>
      <p:cxnSp>
        <p:nvCxnSpPr>
          <p:cNvPr id="52" name="直接连接符 51"/>
          <p:cNvCxnSpPr/>
          <p:nvPr/>
        </p:nvCxnSpPr>
        <p:spPr>
          <a:xfrm>
            <a:off x="1984390" y="2800603"/>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1984390" y="2029078"/>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2056398" y="2155443"/>
            <a:ext cx="4867275" cy="521970"/>
          </a:xfrm>
          <a:prstGeom prst="rect">
            <a:avLst/>
          </a:prstGeom>
          <a:noFill/>
        </p:spPr>
        <p:txBody>
          <a:bodyPr wrap="square" rtlCol="0">
            <a:spAutoFit/>
          </a:bodyPr>
          <a:lstStyle/>
          <a:p>
            <a:r>
              <a:rPr lang="en-US" altLang="zh-CN" sz="2800" b="1" dirty="0">
                <a:solidFill>
                  <a:srgbClr val="F25600"/>
                </a:solidFill>
                <a:latin typeface="微软雅黑" panose="020B0503020204020204" charset="-122"/>
                <a:ea typeface="微软雅黑" panose="020B0503020204020204" charset="-122"/>
              </a:rPr>
              <a:t> </a:t>
            </a:r>
            <a:r>
              <a:rPr lang="zh-CN" altLang="en-US" sz="2800" b="1" dirty="0">
                <a:solidFill>
                  <a:srgbClr val="F25600"/>
                </a:solidFill>
                <a:latin typeface="微软雅黑" panose="020B0503020204020204" charset="-122"/>
                <a:ea typeface="微软雅黑" panose="020B0503020204020204" charset="-122"/>
              </a:rPr>
              <a:t>二、工程勘察准备</a:t>
            </a:r>
            <a:endParaRPr lang="zh-CN" altLang="en-US" sz="2800" b="1" dirty="0">
              <a:solidFill>
                <a:srgbClr val="F25600"/>
              </a:solidFill>
              <a:latin typeface="微软雅黑" panose="020B0503020204020204" charset="-122"/>
              <a:ea typeface="微软雅黑" panose="020B0503020204020204" charset="-122"/>
            </a:endParaRPr>
          </a:p>
        </p:txBody>
      </p:sp>
      <p:sp>
        <p:nvSpPr>
          <p:cNvPr id="100" name="TextBox 99"/>
          <p:cNvSpPr txBox="1"/>
          <p:nvPr/>
        </p:nvSpPr>
        <p:spPr>
          <a:xfrm>
            <a:off x="2056398" y="1384553"/>
            <a:ext cx="4867275" cy="521970"/>
          </a:xfrm>
          <a:prstGeom prst="rect">
            <a:avLst/>
          </a:prstGeom>
          <a:noFill/>
        </p:spPr>
        <p:txBody>
          <a:bodyPr wrap="square" rtlCol="0">
            <a:spAutoFit/>
          </a:bodyPr>
          <a:lstStyle/>
          <a:p>
            <a:r>
              <a:rPr lang="en-US" altLang="zh-CN" sz="2800" dirty="0">
                <a:latin typeface="微软雅黑" panose="020B0503020204020204" charset="-122"/>
                <a:ea typeface="微软雅黑" panose="020B0503020204020204" charset="-122"/>
              </a:rPr>
              <a:t> </a:t>
            </a:r>
            <a:r>
              <a:rPr lang="zh-CN" altLang="en-US" sz="2800" dirty="0">
                <a:latin typeface="微软雅黑" panose="020B0503020204020204" charset="-122"/>
                <a:ea typeface="微软雅黑" panose="020B0503020204020204" charset="-122"/>
              </a:rPr>
              <a:t>一、</a:t>
            </a:r>
            <a:r>
              <a:rPr kumimoji="1" lang="zh-CN" altLang="en-US" sz="2800" dirty="0">
                <a:latin typeface="微软雅黑" panose="020B0503020204020204" charset="-122"/>
                <a:ea typeface="微软雅黑" panose="020B0503020204020204" charset="-122"/>
              </a:rPr>
              <a:t>工程勘察流程及内容</a:t>
            </a:r>
            <a:endParaRPr kumimoji="1" lang="en-US" altLang="zh-CN" sz="2800" dirty="0">
              <a:latin typeface="微软雅黑" panose="020B0503020204020204" charset="-122"/>
              <a:ea typeface="微软雅黑" panose="020B0503020204020204" charset="-122"/>
            </a:endParaRPr>
          </a:p>
        </p:txBody>
      </p:sp>
      <p:cxnSp>
        <p:nvCxnSpPr>
          <p:cNvPr id="2" name="直接连接符 1"/>
          <p:cNvCxnSpPr/>
          <p:nvPr/>
        </p:nvCxnSpPr>
        <p:spPr>
          <a:xfrm>
            <a:off x="1984390" y="3520058"/>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3" name="TextBox 98"/>
          <p:cNvSpPr txBox="1"/>
          <p:nvPr/>
        </p:nvSpPr>
        <p:spPr>
          <a:xfrm>
            <a:off x="2056398" y="2998088"/>
            <a:ext cx="4867275" cy="521970"/>
          </a:xfrm>
          <a:prstGeom prst="rect">
            <a:avLst/>
          </a:prstGeom>
          <a:noFill/>
        </p:spPr>
        <p:txBody>
          <a:bodyPr wrap="square" rtlCol="0">
            <a:spAutoFit/>
          </a:bodyPr>
          <a:lstStyle/>
          <a:p>
            <a:r>
              <a:rPr lang="en-US" altLang="zh-CN" sz="2800" dirty="0">
                <a:latin typeface="微软雅黑" panose="020B0503020204020204" charset="-122"/>
                <a:ea typeface="微软雅黑" panose="020B0503020204020204" charset="-122"/>
              </a:rPr>
              <a:t> </a:t>
            </a:r>
            <a:r>
              <a:rPr lang="zh-CN" altLang="en-US" sz="2800" dirty="0">
                <a:latin typeface="微软雅黑" panose="020B0503020204020204" charset="-122"/>
                <a:ea typeface="微软雅黑" panose="020B0503020204020204" charset="-122"/>
              </a:rPr>
              <a:t>三、</a:t>
            </a:r>
            <a:r>
              <a:rPr kumimoji="1" lang="zh-CN" altLang="en-US" sz="2800" dirty="0">
                <a:latin typeface="微软雅黑" panose="020B0503020204020204" charset="-122"/>
                <a:ea typeface="微软雅黑" panose="020B0503020204020204" charset="-122"/>
              </a:rPr>
              <a:t>中心机房勘察</a:t>
            </a:r>
            <a:endParaRPr kumimoji="1" lang="en-US" altLang="zh-CN" sz="2800" dirty="0">
              <a:latin typeface="微软雅黑" panose="020B0503020204020204" charset="-122"/>
              <a:ea typeface="微软雅黑" panose="020B0503020204020204" charset="-122"/>
            </a:endParaRPr>
          </a:p>
        </p:txBody>
      </p:sp>
      <p:cxnSp>
        <p:nvCxnSpPr>
          <p:cNvPr id="17" name="直接连接符 16"/>
          <p:cNvCxnSpPr/>
          <p:nvPr/>
        </p:nvCxnSpPr>
        <p:spPr>
          <a:xfrm>
            <a:off x="1961654" y="4210749"/>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134939" y="3616146"/>
            <a:ext cx="4867275" cy="521970"/>
          </a:xfrm>
          <a:prstGeom prst="rect">
            <a:avLst/>
          </a:prstGeom>
          <a:noFill/>
        </p:spPr>
        <p:txBody>
          <a:bodyPr wrap="square" rtlCol="0">
            <a:spAutoFit/>
          </a:bodyPr>
          <a:lstStyle/>
          <a:p>
            <a:r>
              <a:rPr lang="zh-CN" altLang="en-US" sz="2800" dirty="0">
                <a:latin typeface="微软雅黑" panose="020B0503020204020204" charset="-122"/>
                <a:ea typeface="微软雅黑" panose="020B0503020204020204" charset="-122"/>
              </a:rPr>
              <a:t>四、</a:t>
            </a:r>
            <a:r>
              <a:rPr kumimoji="1" lang="zh-CN" altLang="en-US" sz="2800" dirty="0">
                <a:latin typeface="微软雅黑" panose="020B0503020204020204" charset="-122"/>
                <a:ea typeface="微软雅黑" panose="020B0503020204020204" charset="-122"/>
              </a:rPr>
              <a:t>无线基站勘察</a:t>
            </a:r>
            <a:endParaRPr kumimoji="1" lang="en-US" altLang="zh-CN" sz="2800" dirty="0">
              <a:latin typeface="微软雅黑" panose="020B0503020204020204" charset="-122"/>
              <a:ea typeface="微软雅黑" panose="020B0503020204020204" charset="-122"/>
            </a:endParaRPr>
          </a:p>
        </p:txBody>
      </p:sp>
      <p:cxnSp>
        <p:nvCxnSpPr>
          <p:cNvPr id="19" name="直接连接符 18"/>
          <p:cNvCxnSpPr/>
          <p:nvPr/>
        </p:nvCxnSpPr>
        <p:spPr>
          <a:xfrm>
            <a:off x="1961654" y="4930204"/>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20" name="TextBox 98"/>
          <p:cNvSpPr txBox="1"/>
          <p:nvPr/>
        </p:nvSpPr>
        <p:spPr>
          <a:xfrm>
            <a:off x="1961654" y="4408234"/>
            <a:ext cx="5201969" cy="523220"/>
          </a:xfrm>
          <a:prstGeom prst="rect">
            <a:avLst/>
          </a:prstGeom>
          <a:noFill/>
        </p:spPr>
        <p:txBody>
          <a:bodyPr wrap="square" rtlCol="0">
            <a:spAutoFit/>
          </a:bodyPr>
          <a:lstStyle/>
          <a:p>
            <a:r>
              <a:rPr lang="zh-CN" altLang="en-US" sz="2800" dirty="0">
                <a:latin typeface="微软雅黑" panose="020B0503020204020204" charset="-122"/>
                <a:ea typeface="微软雅黑" panose="020B0503020204020204" charset="-122"/>
              </a:rPr>
              <a:t>  五、不同建局类别的工程勘察</a:t>
            </a:r>
            <a:endParaRPr kumimoji="1" lang="zh-CN" altLang="en-US" sz="2800" dirty="0">
              <a:latin typeface="微软雅黑" panose="020B0503020204020204" charset="-122"/>
              <a:ea typeface="微软雅黑" panose="020B0503020204020204" charset="-122"/>
            </a:endParaRPr>
          </a:p>
        </p:txBody>
      </p:sp>
      <p:pic>
        <p:nvPicPr>
          <p:cNvPr id="5"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535531"/>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二、工程勘察准备 </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Line 1"/>
          <p:cNvSpPr>
            <a:spLocks noChangeShapeType="1"/>
          </p:cNvSpPr>
          <p:nvPr/>
        </p:nvSpPr>
        <p:spPr bwMode="auto">
          <a:xfrm>
            <a:off x="-36513" y="619125"/>
            <a:ext cx="40005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tailEnd type="triangle" w="med" len="med"/>
              </a14:hiddenLine>
            </a:ext>
          </a:extLst>
        </p:spPr>
        <p:txBody>
          <a:bodyPr/>
          <a:lstStyle/>
          <a:p>
            <a:endParaRPr lang="zh-CN" altLang="en-US"/>
          </a:p>
        </p:txBody>
      </p:sp>
      <p:sp>
        <p:nvSpPr>
          <p:cNvPr id="7" name="TextBox 4"/>
          <p:cNvSpPr txBox="1">
            <a:spLocks noChangeArrowheads="1"/>
          </p:cNvSpPr>
          <p:nvPr/>
        </p:nvSpPr>
        <p:spPr bwMode="auto">
          <a:xfrm>
            <a:off x="642937" y="1041772"/>
            <a:ext cx="7786687" cy="3000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b="1" dirty="0">
                <a:latin typeface="微软雅黑" panose="020B0503020204020204" charset="-122"/>
                <a:ea typeface="微软雅黑" panose="020B0503020204020204" charset="-122"/>
              </a:rPr>
              <a:t>1</a:t>
            </a:r>
            <a:r>
              <a:rPr lang="zh-CN" altLang="en-US" b="1" dirty="0">
                <a:latin typeface="微软雅黑" panose="020B0503020204020204" charset="-122"/>
                <a:ea typeface="微软雅黑" panose="020B0503020204020204" charset="-122"/>
              </a:rPr>
              <a:t>、阅读勘察通知单</a:t>
            </a:r>
            <a:endParaRPr lang="zh-CN" altLang="en-US" b="1" dirty="0">
              <a:latin typeface="微软雅黑" panose="020B0503020204020204" charset="-122"/>
              <a:ea typeface="微软雅黑" panose="020B0503020204020204" charset="-122"/>
            </a:endParaRPr>
          </a:p>
          <a:p>
            <a:pPr eaLnBrk="1" hangingPunct="1">
              <a:lnSpc>
                <a:spcPct val="150000"/>
              </a:lnSpc>
            </a:pPr>
            <a:r>
              <a:rPr lang="zh-CN" altLang="en-US" dirty="0">
                <a:latin typeface="微软雅黑" panose="020B0503020204020204" charset="-122"/>
                <a:ea typeface="微软雅黑" panose="020B0503020204020204" charset="-122"/>
              </a:rPr>
              <a:t>       通常勘察通知单包含工程名称、产品类型、工程容量和勘查周期、用户联系人和电话等内容。如果有疑问或者不能及时完成，要反馈给上级，提出相应的解决办法，例如申请人力支援或放宽勘察周期。</a:t>
            </a:r>
            <a:endParaRPr lang="en-US" altLang="zh-CN" dirty="0">
              <a:latin typeface="微软雅黑" panose="020B0503020204020204" charset="-122"/>
              <a:ea typeface="微软雅黑" panose="020B0503020204020204" charset="-122"/>
            </a:endParaRPr>
          </a:p>
          <a:p>
            <a:pPr eaLnBrk="1" hangingPunct="1">
              <a:lnSpc>
                <a:spcPct val="150000"/>
              </a:lnSpc>
            </a:pPr>
            <a:r>
              <a:rPr lang="en-US" altLang="zh-CN" b="1" dirty="0">
                <a:latin typeface="微软雅黑" panose="020B0503020204020204" charset="-122"/>
                <a:ea typeface="微软雅黑" panose="020B0503020204020204" charset="-122"/>
              </a:rPr>
              <a:t>2</a:t>
            </a:r>
            <a:r>
              <a:rPr lang="zh-CN" altLang="en-US" b="1" dirty="0">
                <a:latin typeface="微软雅黑" panose="020B0503020204020204" charset="-122"/>
                <a:ea typeface="微软雅黑" panose="020B0503020204020204" charset="-122"/>
              </a:rPr>
              <a:t>、阅读合同清单、技术建议书、组网图、分工界面图。</a:t>
            </a:r>
            <a:endParaRPr lang="en-US" altLang="zh-CN" b="1" dirty="0">
              <a:latin typeface="微软雅黑" panose="020B0503020204020204" charset="-122"/>
              <a:ea typeface="微软雅黑" panose="020B0503020204020204" charset="-122"/>
            </a:endParaRPr>
          </a:p>
          <a:p>
            <a:pPr eaLnBrk="1" hangingPunct="1">
              <a:lnSpc>
                <a:spcPct val="150000"/>
              </a:lnSpc>
            </a:pPr>
            <a:r>
              <a:rPr lang="en-US" altLang="zh-CN"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熟悉局点配置、工程要求、用户背景等信息，充分理解产品配置和产品性能，如有不清楚或者不懂的地方，应在勘察出发之前加以解决。</a:t>
            </a:r>
            <a:endParaRPr lang="zh-CN" altLang="en-US" dirty="0">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535531"/>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二、工程勘察准备 </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Line 1"/>
          <p:cNvSpPr>
            <a:spLocks noChangeShapeType="1"/>
          </p:cNvSpPr>
          <p:nvPr/>
        </p:nvSpPr>
        <p:spPr bwMode="auto">
          <a:xfrm>
            <a:off x="-36513" y="619125"/>
            <a:ext cx="40005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tailEnd type="triangle" w="med" len="med"/>
              </a14:hiddenLine>
            </a:ext>
          </a:extLst>
        </p:spPr>
        <p:txBody>
          <a:bodyPr/>
          <a:lstStyle/>
          <a:p>
            <a:endParaRPr lang="zh-CN" altLang="en-US"/>
          </a:p>
        </p:txBody>
      </p:sp>
      <p:sp>
        <p:nvSpPr>
          <p:cNvPr id="8" name="Rectangle 2"/>
          <p:cNvSpPr txBox="1">
            <a:spLocks noChangeArrowheads="1"/>
          </p:cNvSpPr>
          <p:nvPr/>
        </p:nvSpPr>
        <p:spPr>
          <a:xfrm>
            <a:off x="486478" y="897756"/>
            <a:ext cx="8248650" cy="4714875"/>
          </a:xfrm>
          <a:prstGeom prst="rect">
            <a:avLst/>
          </a:prstGeom>
        </p:spPr>
        <p:txBody>
          <a:bodyPr/>
          <a:lstStyle>
            <a:lvl1pPr marL="269875" indent="-269240" algn="l" defTabSz="719455" rtl="0" eaLnBrk="1" latinLnBrk="0" hangingPunct="1">
              <a:spcBef>
                <a:spcPts val="75"/>
              </a:spcBef>
              <a:buFont typeface="Arial" panose="020B0604020202020204" pitchFamily="34" charset="0"/>
              <a:buChar char="•"/>
              <a:defRPr sz="2520" kern="1200">
                <a:solidFill>
                  <a:schemeClr val="tx1"/>
                </a:solidFill>
                <a:latin typeface="+mn-lt"/>
                <a:ea typeface="+mn-ea"/>
                <a:cs typeface="+mn-cs"/>
              </a:defRPr>
            </a:lvl1pPr>
            <a:lvl2pPr marL="584835" indent="-224155" algn="l" defTabSz="719455" rtl="0" eaLnBrk="1" latinLnBrk="0" hangingPunct="1">
              <a:spcBef>
                <a:spcPts val="75"/>
              </a:spcBef>
              <a:buFont typeface="Arial" panose="020B0604020202020204" pitchFamily="34" charset="0"/>
              <a:buChar char="–"/>
              <a:defRPr sz="2205" kern="1200">
                <a:solidFill>
                  <a:schemeClr val="tx1"/>
                </a:solidFill>
                <a:latin typeface="+mn-lt"/>
                <a:ea typeface="+mn-ea"/>
                <a:cs typeface="+mn-cs"/>
              </a:defRPr>
            </a:lvl2pPr>
            <a:lvl3pPr marL="899160" indent="-179070" algn="l" defTabSz="719455" rtl="0" eaLnBrk="1" latinLnBrk="0" hangingPunct="1">
              <a:spcBef>
                <a:spcPts val="75"/>
              </a:spcBef>
              <a:buFont typeface="Arial" panose="020B0604020202020204" pitchFamily="34" charset="0"/>
              <a:buChar char="•"/>
              <a:defRPr sz="1890" kern="1200">
                <a:solidFill>
                  <a:schemeClr val="tx1"/>
                </a:solidFill>
                <a:latin typeface="+mn-lt"/>
                <a:ea typeface="+mn-ea"/>
                <a:cs typeface="+mn-cs"/>
              </a:defRPr>
            </a:lvl3pPr>
            <a:lvl4pPr marL="12592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4pPr>
            <a:lvl5pPr marL="16186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5pPr>
            <a:lvl6pPr marL="19786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6pPr>
            <a:lvl7pPr marL="23387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7pPr>
            <a:lvl8pPr marL="26981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8pPr>
            <a:lvl9pPr marL="30581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9pPr>
          </a:lstStyle>
          <a:p>
            <a:pPr>
              <a:lnSpc>
                <a:spcPct val="150000"/>
              </a:lnSpc>
              <a:buFontTx/>
              <a:buNone/>
            </a:pPr>
            <a:r>
              <a:rPr lang="en-US" altLang="zh-CN" sz="1800" dirty="0">
                <a:latin typeface="微软雅黑" panose="020B0503020204020204" charset="-122"/>
                <a:ea typeface="微软雅黑" panose="020B0503020204020204" charset="-122"/>
              </a:rPr>
              <a:t>3</a:t>
            </a:r>
            <a:r>
              <a:rPr lang="zh-CN" altLang="en-US" sz="1800" dirty="0">
                <a:latin typeface="微软雅黑" panose="020B0503020204020204" charset="-122"/>
                <a:ea typeface="微软雅黑" panose="020B0503020204020204" charset="-122"/>
              </a:rPr>
              <a:t>、</a:t>
            </a:r>
            <a:r>
              <a:rPr lang="zh-CN" altLang="en-US" sz="1800" b="1" dirty="0">
                <a:solidFill>
                  <a:srgbClr val="0066FF"/>
                </a:solidFill>
                <a:latin typeface="微软雅黑" panose="020B0503020204020204" charset="-122"/>
                <a:ea typeface="微软雅黑" panose="020B0503020204020204" charset="-122"/>
              </a:rPr>
              <a:t>确认是否具备勘察条件</a:t>
            </a:r>
            <a:r>
              <a:rPr lang="zh-CN" altLang="en-US" sz="1800" dirty="0">
                <a:latin typeface="微软雅黑" panose="020B0503020204020204" charset="-122"/>
                <a:ea typeface="微软雅黑" panose="020B0503020204020204" charset="-122"/>
              </a:rPr>
              <a:t>。</a:t>
            </a:r>
            <a:endParaRPr lang="en-US" altLang="zh-CN" sz="1800" dirty="0">
              <a:latin typeface="微软雅黑" panose="020B0503020204020204" charset="-122"/>
              <a:ea typeface="微软雅黑" panose="020B0503020204020204" charset="-122"/>
            </a:endParaRPr>
          </a:p>
          <a:p>
            <a:pPr>
              <a:lnSpc>
                <a:spcPct val="150000"/>
              </a:lnSpc>
              <a:buFontTx/>
              <a:buNone/>
            </a:pPr>
            <a:r>
              <a:rPr lang="en-US" altLang="zh-CN" sz="1800" dirty="0">
                <a:latin typeface="微软雅黑" panose="020B0503020204020204" charset="-122"/>
                <a:ea typeface="微软雅黑" panose="020B0503020204020204" charset="-122"/>
              </a:rPr>
              <a:t>4</a:t>
            </a:r>
            <a:r>
              <a:rPr lang="zh-CN" altLang="en-US" sz="1800" dirty="0">
                <a:latin typeface="微软雅黑" panose="020B0503020204020204" charset="-122"/>
                <a:ea typeface="微软雅黑" panose="020B0503020204020204" charset="-122"/>
              </a:rPr>
              <a:t>、</a:t>
            </a:r>
            <a:r>
              <a:rPr lang="zh-CN" altLang="en-US" sz="1800" b="1" dirty="0">
                <a:latin typeface="微软雅黑" panose="020B0503020204020204" charset="-122"/>
                <a:ea typeface="微软雅黑" panose="020B0503020204020204" charset="-122"/>
              </a:rPr>
              <a:t>准备勘察所需的</a:t>
            </a:r>
            <a:r>
              <a:rPr lang="zh-CN" altLang="en-US" sz="1800" b="1" dirty="0">
                <a:solidFill>
                  <a:srgbClr val="0066FF"/>
                </a:solidFill>
                <a:latin typeface="微软雅黑" panose="020B0503020204020204" charset="-122"/>
                <a:ea typeface="微软雅黑" panose="020B0503020204020204" charset="-122"/>
              </a:rPr>
              <a:t>工具和各类文档</a:t>
            </a:r>
            <a:r>
              <a:rPr lang="zh-CN" altLang="en-US" sz="1800" b="1" dirty="0">
                <a:latin typeface="微软雅黑" panose="020B0503020204020204" charset="-122"/>
                <a:ea typeface="微软雅黑" panose="020B0503020204020204" charset="-122"/>
              </a:rPr>
              <a:t>。</a:t>
            </a:r>
            <a:endParaRPr lang="en-US" altLang="zh-CN" sz="1800" dirty="0">
              <a:latin typeface="微软雅黑" panose="020B0503020204020204" charset="-122"/>
              <a:ea typeface="微软雅黑" panose="020B0503020204020204" charset="-122"/>
            </a:endParaRPr>
          </a:p>
          <a:p>
            <a:pPr>
              <a:lnSpc>
                <a:spcPct val="150000"/>
              </a:lnSpc>
              <a:buFontTx/>
              <a:buNone/>
            </a:pPr>
            <a:r>
              <a:rPr lang="en-US" altLang="zh-CN" sz="1800" dirty="0">
                <a:latin typeface="微软雅黑" panose="020B0503020204020204" charset="-122"/>
                <a:ea typeface="微软雅黑" panose="020B0503020204020204" charset="-122"/>
              </a:rPr>
              <a:t>      </a:t>
            </a:r>
            <a:r>
              <a:rPr lang="zh-CN" altLang="en-US" sz="1800" dirty="0">
                <a:latin typeface="微软雅黑" panose="020B0503020204020204" charset="-122"/>
                <a:ea typeface="微软雅黑" panose="020B0503020204020204" charset="-122"/>
              </a:rPr>
              <a:t>比如：笔记本电脑（包含相关资料和软件）、数码相机、望远镜、</a:t>
            </a:r>
            <a:r>
              <a:rPr lang="en-US" altLang="zh-CN" sz="1800" dirty="0">
                <a:latin typeface="微软雅黑" panose="020B0503020204020204" charset="-122"/>
                <a:ea typeface="微软雅黑" panose="020B0503020204020204" charset="-122"/>
              </a:rPr>
              <a:t>GPS</a:t>
            </a:r>
            <a:r>
              <a:rPr lang="zh-CN" altLang="en-US" sz="1800" dirty="0">
                <a:latin typeface="微软雅黑" panose="020B0503020204020204" charset="-122"/>
                <a:ea typeface="微软雅黑" panose="020B0503020204020204" charset="-122"/>
              </a:rPr>
              <a:t>、指北针、测距工具（激光测距仪、卷尺），以及</a:t>
            </a:r>
            <a:r>
              <a:rPr lang="zh-CN" altLang="zh-CN" sz="1800" dirty="0">
                <a:latin typeface="微软雅黑" panose="020B0503020204020204" charset="-122"/>
                <a:ea typeface="微软雅黑" panose="020B0503020204020204" charset="-122"/>
              </a:rPr>
              <a:t>准备足够的空白勘察表格及图纸等</a:t>
            </a:r>
            <a:r>
              <a:rPr lang="zh-CN" altLang="en-US" sz="1800" dirty="0">
                <a:latin typeface="微软雅黑" panose="020B0503020204020204" charset="-122"/>
                <a:ea typeface="微软雅黑" panose="020B0503020204020204" charset="-122"/>
              </a:rPr>
              <a:t>。</a:t>
            </a:r>
            <a:endParaRPr lang="en-US" altLang="zh-CN" sz="1800" dirty="0">
              <a:latin typeface="微软雅黑" panose="020B0503020204020204" charset="-122"/>
              <a:ea typeface="微软雅黑" panose="020B0503020204020204" charset="-122"/>
            </a:endParaRPr>
          </a:p>
          <a:p>
            <a:pPr>
              <a:lnSpc>
                <a:spcPct val="150000"/>
              </a:lnSpc>
              <a:buFontTx/>
              <a:buNone/>
            </a:pPr>
            <a:r>
              <a:rPr lang="en-US" altLang="zh-CN" sz="1800" dirty="0">
                <a:latin typeface="微软雅黑" panose="020B0503020204020204" charset="-122"/>
                <a:ea typeface="微软雅黑" panose="020B0503020204020204" charset="-122"/>
              </a:rPr>
              <a:t>5</a:t>
            </a:r>
            <a:r>
              <a:rPr lang="zh-CN" altLang="en-US" sz="1800" dirty="0">
                <a:latin typeface="微软雅黑" panose="020B0503020204020204" charset="-122"/>
                <a:ea typeface="微软雅黑" panose="020B0503020204020204" charset="-122"/>
              </a:rPr>
              <a:t>、到达用户单位后，要拜访用户相关领导，并向本次工程有关人员介绍本次来的目的和工程概要，并要求指派相关人员进行共同勘察，有条件的话可以协调用户提供车辆。</a:t>
            </a:r>
            <a:endParaRPr lang="en-US" altLang="zh-CN" sz="1800" dirty="0">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grpSp>
        <p:nvGrpSpPr>
          <p:cNvPr id="8" name="组合 7"/>
          <p:cNvGrpSpPr/>
          <p:nvPr/>
        </p:nvGrpSpPr>
        <p:grpSpPr>
          <a:xfrm>
            <a:off x="1745630" y="465708"/>
            <a:ext cx="6160191" cy="613410"/>
            <a:chOff x="4260" y="638"/>
            <a:chExt cx="8921" cy="966"/>
          </a:xfrm>
        </p:grpSpPr>
        <p:sp>
          <p:nvSpPr>
            <p:cNvPr id="82" name="矩形 81"/>
            <p:cNvSpPr/>
            <p:nvPr/>
          </p:nvSpPr>
          <p:spPr>
            <a:xfrm>
              <a:off x="11754" y="1545"/>
              <a:ext cx="1427" cy="59"/>
            </a:xfrm>
            <a:prstGeom prst="rect">
              <a:avLst/>
            </a:prstGeom>
            <a:solidFill>
              <a:srgbClr val="CBCB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3" name="TextBox 82"/>
            <p:cNvSpPr txBox="1"/>
            <p:nvPr/>
          </p:nvSpPr>
          <p:spPr>
            <a:xfrm>
              <a:off x="7277" y="638"/>
              <a:ext cx="2902" cy="785"/>
            </a:xfrm>
            <a:prstGeom prst="round2SameRect">
              <a:avLst>
                <a:gd name="adj1" fmla="val 27581"/>
                <a:gd name="adj2" fmla="val 0"/>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chemeClr val="lt1"/>
                  </a:solidFill>
                  <a:latin typeface="微软雅黑" panose="020B0503020204020204" charset="-122"/>
                  <a:ea typeface="微软雅黑" panose="020B0503020204020204" charset="-122"/>
                </a:rPr>
                <a:t>目    录</a:t>
              </a:r>
              <a:endParaRPr lang="zh-CN" altLang="en-US" sz="3200" b="1" dirty="0">
                <a:solidFill>
                  <a:schemeClr val="lt1"/>
                </a:solidFill>
                <a:latin typeface="微软雅黑" panose="020B0503020204020204" charset="-122"/>
                <a:ea typeface="微软雅黑" panose="020B0503020204020204" charset="-122"/>
              </a:endParaRPr>
            </a:p>
          </p:txBody>
        </p:sp>
        <p:sp>
          <p:nvSpPr>
            <p:cNvPr id="84" name="矩形 83"/>
            <p:cNvSpPr/>
            <p:nvPr/>
          </p:nvSpPr>
          <p:spPr>
            <a:xfrm>
              <a:off x="4260" y="1545"/>
              <a:ext cx="1427" cy="59"/>
            </a:xfrm>
            <a:prstGeom prst="rect">
              <a:avLst/>
            </a:prstGeom>
            <a:solidFill>
              <a:srgbClr val="E4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5" name="矩形 84"/>
            <p:cNvSpPr/>
            <p:nvPr/>
          </p:nvSpPr>
          <p:spPr>
            <a:xfrm>
              <a:off x="5759" y="1545"/>
              <a:ext cx="1427" cy="59"/>
            </a:xfrm>
            <a:prstGeom prst="rect">
              <a:avLst/>
            </a:prstGeom>
            <a:solidFill>
              <a:srgbClr val="8EC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6" name="矩形 85"/>
            <p:cNvSpPr/>
            <p:nvPr/>
          </p:nvSpPr>
          <p:spPr>
            <a:xfrm>
              <a:off x="7258" y="1545"/>
              <a:ext cx="1427" cy="59"/>
            </a:xfrm>
            <a:prstGeom prst="rect">
              <a:avLst/>
            </a:prstGeom>
            <a:solidFill>
              <a:srgbClr val="E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7" name="矩形 86"/>
            <p:cNvSpPr/>
            <p:nvPr/>
          </p:nvSpPr>
          <p:spPr>
            <a:xfrm>
              <a:off x="8756" y="1545"/>
              <a:ext cx="1427" cy="59"/>
            </a:xfrm>
            <a:prstGeom prst="rect">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8" name="矩形 87"/>
            <p:cNvSpPr/>
            <p:nvPr/>
          </p:nvSpPr>
          <p:spPr>
            <a:xfrm>
              <a:off x="10255" y="1545"/>
              <a:ext cx="1427" cy="59"/>
            </a:xfrm>
            <a:prstGeom prst="rect">
              <a:avLst/>
            </a:prstGeom>
            <a:solidFill>
              <a:srgbClr val="CF01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grpSp>
      <p:cxnSp>
        <p:nvCxnSpPr>
          <p:cNvPr id="52" name="直接连接符 51"/>
          <p:cNvCxnSpPr/>
          <p:nvPr/>
        </p:nvCxnSpPr>
        <p:spPr>
          <a:xfrm>
            <a:off x="1984390" y="2800603"/>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1984390" y="2029078"/>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2056398" y="2155443"/>
            <a:ext cx="4867275" cy="521970"/>
          </a:xfrm>
          <a:prstGeom prst="rect">
            <a:avLst/>
          </a:prstGeom>
          <a:noFill/>
        </p:spPr>
        <p:txBody>
          <a:bodyPr wrap="square" rtlCol="0">
            <a:spAutoFit/>
          </a:bodyPr>
          <a:lstStyle/>
          <a:p>
            <a:r>
              <a:rPr lang="en-US" altLang="zh-CN" sz="2800" dirty="0">
                <a:latin typeface="微软雅黑" panose="020B0503020204020204" charset="-122"/>
                <a:ea typeface="微软雅黑" panose="020B0503020204020204" charset="-122"/>
              </a:rPr>
              <a:t> </a:t>
            </a:r>
            <a:r>
              <a:rPr lang="zh-CN" altLang="en-US" sz="2800" dirty="0">
                <a:latin typeface="微软雅黑" panose="020B0503020204020204" charset="-122"/>
                <a:ea typeface="微软雅黑" panose="020B0503020204020204" charset="-122"/>
              </a:rPr>
              <a:t>二、工程勘察准备</a:t>
            </a:r>
            <a:endParaRPr lang="zh-CN" altLang="en-US" sz="2800" dirty="0">
              <a:latin typeface="微软雅黑" panose="020B0503020204020204" charset="-122"/>
              <a:ea typeface="微软雅黑" panose="020B0503020204020204" charset="-122"/>
            </a:endParaRPr>
          </a:p>
        </p:txBody>
      </p:sp>
      <p:sp>
        <p:nvSpPr>
          <p:cNvPr id="100" name="TextBox 99"/>
          <p:cNvSpPr txBox="1"/>
          <p:nvPr/>
        </p:nvSpPr>
        <p:spPr>
          <a:xfrm>
            <a:off x="2056398" y="1384553"/>
            <a:ext cx="4867275" cy="521970"/>
          </a:xfrm>
          <a:prstGeom prst="rect">
            <a:avLst/>
          </a:prstGeom>
          <a:noFill/>
        </p:spPr>
        <p:txBody>
          <a:bodyPr wrap="square" rtlCol="0">
            <a:spAutoFit/>
          </a:bodyPr>
          <a:lstStyle/>
          <a:p>
            <a:r>
              <a:rPr lang="en-US" altLang="zh-CN" sz="2800" dirty="0">
                <a:latin typeface="微软雅黑" panose="020B0503020204020204" charset="-122"/>
                <a:ea typeface="微软雅黑" panose="020B0503020204020204" charset="-122"/>
              </a:rPr>
              <a:t> </a:t>
            </a:r>
            <a:r>
              <a:rPr lang="zh-CN" altLang="en-US" sz="2800" dirty="0">
                <a:latin typeface="微软雅黑" panose="020B0503020204020204" charset="-122"/>
                <a:ea typeface="微软雅黑" panose="020B0503020204020204" charset="-122"/>
              </a:rPr>
              <a:t>一、</a:t>
            </a:r>
            <a:r>
              <a:rPr kumimoji="1" lang="zh-CN" altLang="en-US" sz="2800" dirty="0">
                <a:latin typeface="微软雅黑" panose="020B0503020204020204" charset="-122"/>
                <a:ea typeface="微软雅黑" panose="020B0503020204020204" charset="-122"/>
              </a:rPr>
              <a:t>工程勘察流程及内容</a:t>
            </a:r>
            <a:endParaRPr kumimoji="1" lang="en-US" altLang="zh-CN" sz="2800" dirty="0">
              <a:latin typeface="微软雅黑" panose="020B0503020204020204" charset="-122"/>
              <a:ea typeface="微软雅黑" panose="020B0503020204020204" charset="-122"/>
            </a:endParaRPr>
          </a:p>
        </p:txBody>
      </p:sp>
      <p:cxnSp>
        <p:nvCxnSpPr>
          <p:cNvPr id="2" name="直接连接符 1"/>
          <p:cNvCxnSpPr/>
          <p:nvPr/>
        </p:nvCxnSpPr>
        <p:spPr>
          <a:xfrm>
            <a:off x="1984390" y="3520058"/>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3" name="TextBox 98"/>
          <p:cNvSpPr txBox="1"/>
          <p:nvPr/>
        </p:nvSpPr>
        <p:spPr>
          <a:xfrm>
            <a:off x="2056398" y="2998088"/>
            <a:ext cx="4867275" cy="521970"/>
          </a:xfrm>
          <a:prstGeom prst="rect">
            <a:avLst/>
          </a:prstGeom>
          <a:noFill/>
        </p:spPr>
        <p:txBody>
          <a:bodyPr wrap="square" rtlCol="0">
            <a:spAutoFit/>
          </a:bodyPr>
          <a:lstStyle/>
          <a:p>
            <a:r>
              <a:rPr lang="en-US" altLang="zh-CN" sz="2800" dirty="0">
                <a:latin typeface="微软雅黑" panose="020B0503020204020204" charset="-122"/>
                <a:ea typeface="微软雅黑" panose="020B0503020204020204" charset="-122"/>
              </a:rPr>
              <a:t> </a:t>
            </a:r>
            <a:r>
              <a:rPr lang="zh-CN" altLang="en-US" sz="2800" b="1" dirty="0">
                <a:solidFill>
                  <a:srgbClr val="F25600"/>
                </a:solidFill>
                <a:latin typeface="微软雅黑" panose="020B0503020204020204" charset="-122"/>
                <a:ea typeface="微软雅黑" panose="020B0503020204020204" charset="-122"/>
              </a:rPr>
              <a:t>三、中心机房勘察</a:t>
            </a:r>
            <a:endParaRPr lang="en-US" altLang="zh-CN" sz="2800" b="1" dirty="0">
              <a:solidFill>
                <a:srgbClr val="F25600"/>
              </a:solidFill>
              <a:latin typeface="微软雅黑" panose="020B0503020204020204" charset="-122"/>
              <a:ea typeface="微软雅黑" panose="020B0503020204020204" charset="-122"/>
            </a:endParaRPr>
          </a:p>
        </p:txBody>
      </p:sp>
      <p:cxnSp>
        <p:nvCxnSpPr>
          <p:cNvPr id="17" name="直接连接符 16"/>
          <p:cNvCxnSpPr/>
          <p:nvPr/>
        </p:nvCxnSpPr>
        <p:spPr>
          <a:xfrm>
            <a:off x="1961654" y="4210749"/>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134939" y="3616146"/>
            <a:ext cx="4867275" cy="521970"/>
          </a:xfrm>
          <a:prstGeom prst="rect">
            <a:avLst/>
          </a:prstGeom>
          <a:noFill/>
        </p:spPr>
        <p:txBody>
          <a:bodyPr wrap="square" rtlCol="0">
            <a:spAutoFit/>
          </a:bodyPr>
          <a:lstStyle/>
          <a:p>
            <a:r>
              <a:rPr lang="zh-CN" altLang="en-US" sz="2800" dirty="0">
                <a:latin typeface="微软雅黑" panose="020B0503020204020204" charset="-122"/>
                <a:ea typeface="微软雅黑" panose="020B0503020204020204" charset="-122"/>
              </a:rPr>
              <a:t>四、</a:t>
            </a:r>
            <a:r>
              <a:rPr kumimoji="1" lang="zh-CN" altLang="en-US" sz="2800" dirty="0">
                <a:latin typeface="微软雅黑" panose="020B0503020204020204" charset="-122"/>
                <a:ea typeface="微软雅黑" panose="020B0503020204020204" charset="-122"/>
              </a:rPr>
              <a:t>无线基站勘察</a:t>
            </a:r>
            <a:endParaRPr kumimoji="1" lang="en-US" altLang="zh-CN" sz="2800" dirty="0">
              <a:latin typeface="微软雅黑" panose="020B0503020204020204" charset="-122"/>
              <a:ea typeface="微软雅黑" panose="020B0503020204020204" charset="-122"/>
            </a:endParaRPr>
          </a:p>
        </p:txBody>
      </p:sp>
      <p:cxnSp>
        <p:nvCxnSpPr>
          <p:cNvPr id="19" name="直接连接符 18"/>
          <p:cNvCxnSpPr/>
          <p:nvPr/>
        </p:nvCxnSpPr>
        <p:spPr>
          <a:xfrm>
            <a:off x="1961654" y="4930204"/>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20" name="TextBox 98"/>
          <p:cNvSpPr txBox="1"/>
          <p:nvPr/>
        </p:nvSpPr>
        <p:spPr>
          <a:xfrm>
            <a:off x="1961654" y="4408234"/>
            <a:ext cx="5201969" cy="523220"/>
          </a:xfrm>
          <a:prstGeom prst="rect">
            <a:avLst/>
          </a:prstGeom>
          <a:noFill/>
        </p:spPr>
        <p:txBody>
          <a:bodyPr wrap="square" rtlCol="0">
            <a:spAutoFit/>
          </a:bodyPr>
          <a:lstStyle/>
          <a:p>
            <a:r>
              <a:rPr lang="zh-CN" altLang="en-US" sz="2800" dirty="0">
                <a:latin typeface="微软雅黑" panose="020B0503020204020204" charset="-122"/>
                <a:ea typeface="微软雅黑" panose="020B0503020204020204" charset="-122"/>
              </a:rPr>
              <a:t>  五、不同建局类别的工程勘察</a:t>
            </a:r>
            <a:endParaRPr kumimoji="1" lang="zh-CN" altLang="en-US" sz="2800" dirty="0">
              <a:latin typeface="微软雅黑" panose="020B0503020204020204" charset="-122"/>
              <a:ea typeface="微软雅黑" panose="020B0503020204020204" charset="-122"/>
            </a:endParaRPr>
          </a:p>
        </p:txBody>
      </p:sp>
      <p:pic>
        <p:nvPicPr>
          <p:cNvPr id="5"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三、中心机房勘察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Line 1"/>
          <p:cNvSpPr>
            <a:spLocks noChangeShapeType="1"/>
          </p:cNvSpPr>
          <p:nvPr/>
        </p:nvSpPr>
        <p:spPr bwMode="auto">
          <a:xfrm>
            <a:off x="-36513" y="619125"/>
            <a:ext cx="40005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tailEnd type="triangle" w="med" len="med"/>
              </a14:hiddenLine>
            </a:ext>
          </a:extLst>
        </p:spPr>
        <p:txBody>
          <a:bodyPr/>
          <a:lstStyle/>
          <a:p>
            <a:endParaRPr lang="zh-CN" altLang="en-US"/>
          </a:p>
        </p:txBody>
      </p:sp>
      <p:sp>
        <p:nvSpPr>
          <p:cNvPr id="7" name="Rectangle 2"/>
          <p:cNvSpPr txBox="1">
            <a:spLocks noChangeArrowheads="1"/>
          </p:cNvSpPr>
          <p:nvPr/>
        </p:nvSpPr>
        <p:spPr>
          <a:xfrm>
            <a:off x="521494" y="897834"/>
            <a:ext cx="8032750" cy="3439161"/>
          </a:xfrm>
          <a:prstGeom prst="rect">
            <a:avLst/>
          </a:prstGeom>
        </p:spPr>
        <p:txBody>
          <a:bodyPr/>
          <a:lstStyle>
            <a:lvl1pPr marL="269875" indent="-269240" algn="l" defTabSz="719455" rtl="0" eaLnBrk="1" latinLnBrk="0" hangingPunct="1">
              <a:spcBef>
                <a:spcPts val="75"/>
              </a:spcBef>
              <a:buFont typeface="Arial" panose="020B0604020202020204" pitchFamily="34" charset="0"/>
              <a:buChar char="•"/>
              <a:defRPr sz="2520" kern="1200">
                <a:solidFill>
                  <a:schemeClr val="tx1"/>
                </a:solidFill>
                <a:latin typeface="+mn-lt"/>
                <a:ea typeface="+mn-ea"/>
                <a:cs typeface="+mn-cs"/>
              </a:defRPr>
            </a:lvl1pPr>
            <a:lvl2pPr marL="584835" indent="-224155" algn="l" defTabSz="719455" rtl="0" eaLnBrk="1" latinLnBrk="0" hangingPunct="1">
              <a:spcBef>
                <a:spcPts val="75"/>
              </a:spcBef>
              <a:buFont typeface="Arial" panose="020B0604020202020204" pitchFamily="34" charset="0"/>
              <a:buChar char="–"/>
              <a:defRPr sz="2205" kern="1200">
                <a:solidFill>
                  <a:schemeClr val="tx1"/>
                </a:solidFill>
                <a:latin typeface="+mn-lt"/>
                <a:ea typeface="+mn-ea"/>
                <a:cs typeface="+mn-cs"/>
              </a:defRPr>
            </a:lvl2pPr>
            <a:lvl3pPr marL="899160" indent="-179070" algn="l" defTabSz="719455" rtl="0" eaLnBrk="1" latinLnBrk="0" hangingPunct="1">
              <a:spcBef>
                <a:spcPts val="75"/>
              </a:spcBef>
              <a:buFont typeface="Arial" panose="020B0604020202020204" pitchFamily="34" charset="0"/>
              <a:buChar char="•"/>
              <a:defRPr sz="1890" kern="1200">
                <a:solidFill>
                  <a:schemeClr val="tx1"/>
                </a:solidFill>
                <a:latin typeface="+mn-lt"/>
                <a:ea typeface="+mn-ea"/>
                <a:cs typeface="+mn-cs"/>
              </a:defRPr>
            </a:lvl3pPr>
            <a:lvl4pPr marL="12592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4pPr>
            <a:lvl5pPr marL="16186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5pPr>
            <a:lvl6pPr marL="19786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6pPr>
            <a:lvl7pPr marL="23387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7pPr>
            <a:lvl8pPr marL="26981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8pPr>
            <a:lvl9pPr marL="30581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9pPr>
          </a:lstStyle>
          <a:p>
            <a:pPr marL="609600" indent="-609600">
              <a:lnSpc>
                <a:spcPct val="120000"/>
              </a:lnSpc>
              <a:buFontTx/>
              <a:buNone/>
            </a:pPr>
            <a:r>
              <a:rPr lang="en-US" altLang="zh-CN" sz="1800" b="1" dirty="0">
                <a:latin typeface="微软雅黑" panose="020B0503020204020204" charset="-122"/>
                <a:ea typeface="微软雅黑" panose="020B0503020204020204" charset="-122"/>
              </a:rPr>
              <a:t>1</a:t>
            </a:r>
            <a:r>
              <a:rPr lang="zh-CN" altLang="en-US" sz="1800" b="1" dirty="0">
                <a:latin typeface="微软雅黑" panose="020B0503020204020204" charset="-122"/>
                <a:ea typeface="微软雅黑" panose="020B0503020204020204" charset="-122"/>
              </a:rPr>
              <a:t>、公共信息采集</a:t>
            </a:r>
            <a:endParaRPr lang="zh-CN" altLang="en-US" sz="1800" b="1" dirty="0">
              <a:latin typeface="微软雅黑" panose="020B0503020204020204" charset="-122"/>
              <a:ea typeface="微软雅黑" panose="020B0503020204020204" charset="-122"/>
            </a:endParaRPr>
          </a:p>
          <a:p>
            <a:pPr marL="609600" indent="-609600">
              <a:lnSpc>
                <a:spcPct val="120000"/>
              </a:lnSpc>
              <a:buFontTx/>
              <a:buNone/>
            </a:pPr>
            <a:r>
              <a:rPr lang="zh-CN" altLang="en-US" sz="1800" dirty="0">
                <a:latin typeface="微软雅黑" panose="020B0503020204020204" charset="-122"/>
                <a:ea typeface="微软雅黑" panose="020B0503020204020204" charset="-122"/>
              </a:rPr>
              <a:t>        记录局点的</a:t>
            </a:r>
            <a:r>
              <a:rPr lang="zh-CN" altLang="en-US" sz="1800" dirty="0">
                <a:solidFill>
                  <a:srgbClr val="FF0000"/>
                </a:solidFill>
                <a:latin typeface="微软雅黑" panose="020B0503020204020204" charset="-122"/>
                <a:ea typeface="微软雅黑" panose="020B0503020204020204" charset="-122"/>
              </a:rPr>
              <a:t>详细地址</a:t>
            </a:r>
            <a:r>
              <a:rPr lang="zh-CN" altLang="en-US" sz="1800" dirty="0">
                <a:latin typeface="微软雅黑" panose="020B0503020204020204" charset="-122"/>
                <a:ea typeface="微软雅黑" panose="020B0503020204020204" charset="-122"/>
              </a:rPr>
              <a:t>，</a:t>
            </a:r>
            <a:r>
              <a:rPr lang="zh-CN" altLang="zh-CN" sz="1800" dirty="0">
                <a:latin typeface="微软雅黑" panose="020B0503020204020204" charset="-122"/>
                <a:ea typeface="微软雅黑" panose="020B0503020204020204" charset="-122"/>
              </a:rPr>
              <a:t>包括街道、门牌号、机房建筑名称等</a:t>
            </a:r>
            <a:r>
              <a:rPr lang="zh-CN" altLang="en-US" sz="1800" dirty="0">
                <a:latin typeface="微软雅黑" panose="020B0503020204020204" charset="-122"/>
                <a:ea typeface="微软雅黑" panose="020B0503020204020204" charset="-122"/>
              </a:rPr>
              <a:t>；</a:t>
            </a:r>
            <a:endParaRPr lang="en-US" altLang="zh-CN" sz="1800" dirty="0">
              <a:latin typeface="微软雅黑" panose="020B0503020204020204" charset="-122"/>
              <a:ea typeface="微软雅黑" panose="020B0503020204020204" charset="-122"/>
            </a:endParaRPr>
          </a:p>
          <a:p>
            <a:pPr marL="609600" indent="-609600">
              <a:lnSpc>
                <a:spcPct val="120000"/>
              </a:lnSpc>
              <a:buFontTx/>
              <a:buNone/>
            </a:pPr>
            <a:r>
              <a:rPr lang="en-US" altLang="zh-CN" sz="1800" dirty="0">
                <a:latin typeface="微软雅黑" panose="020B0503020204020204" charset="-122"/>
                <a:ea typeface="微软雅黑" panose="020B0503020204020204" charset="-122"/>
              </a:rPr>
              <a:t>       </a:t>
            </a:r>
            <a:r>
              <a:rPr lang="zh-CN" altLang="en-US" sz="1800" dirty="0">
                <a:latin typeface="微软雅黑" panose="020B0503020204020204" charset="-122"/>
                <a:ea typeface="微软雅黑" panose="020B0503020204020204" charset="-122"/>
              </a:rPr>
              <a:t>确定机房位置，机房所在楼层及布局情况。</a:t>
            </a:r>
            <a:endParaRPr lang="en-US" altLang="zh-CN" sz="1800" dirty="0">
              <a:latin typeface="微软雅黑" panose="020B0503020204020204" charset="-122"/>
              <a:ea typeface="微软雅黑" panose="020B0503020204020204" charset="-122"/>
            </a:endParaRPr>
          </a:p>
          <a:p>
            <a:pPr marL="609600" indent="-609600">
              <a:lnSpc>
                <a:spcPct val="120000"/>
              </a:lnSpc>
              <a:buFontTx/>
              <a:buNone/>
            </a:pPr>
            <a:endParaRPr lang="zh-CN" altLang="en-US" sz="1800" dirty="0">
              <a:latin typeface="微软雅黑" panose="020B0503020204020204" charset="-122"/>
              <a:ea typeface="微软雅黑" panose="020B0503020204020204" charset="-122"/>
            </a:endParaRPr>
          </a:p>
          <a:p>
            <a:pPr marL="609600" indent="-609600">
              <a:lnSpc>
                <a:spcPct val="120000"/>
              </a:lnSpc>
              <a:buFontTx/>
              <a:buNone/>
            </a:pPr>
            <a:endParaRPr lang="zh-CN" altLang="en-US" sz="1800" dirty="0">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p:nvPicPr>
        <p:blipFill>
          <a:blip r:embed="rId3"/>
          <a:srcRect t="21595"/>
          <a:stretch>
            <a:fillRect/>
          </a:stretch>
        </p:blipFill>
        <p:spPr>
          <a:xfrm>
            <a:off x="1024890" y="2049780"/>
            <a:ext cx="7962900" cy="277812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三、中心机房勘察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Line 1"/>
          <p:cNvSpPr>
            <a:spLocks noChangeShapeType="1"/>
          </p:cNvSpPr>
          <p:nvPr/>
        </p:nvSpPr>
        <p:spPr bwMode="auto">
          <a:xfrm>
            <a:off x="-36513" y="619125"/>
            <a:ext cx="40005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tailEnd type="triangle" w="med" len="med"/>
              </a14:hiddenLine>
            </a:ext>
          </a:extLst>
        </p:spPr>
        <p:txBody>
          <a:bodyPr/>
          <a:lstStyle/>
          <a:p>
            <a:endParaRPr lang="zh-CN" altLang="en-US"/>
          </a:p>
        </p:txBody>
      </p:sp>
      <p:sp>
        <p:nvSpPr>
          <p:cNvPr id="7" name="Rectangle 2"/>
          <p:cNvSpPr txBox="1">
            <a:spLocks noChangeArrowheads="1"/>
          </p:cNvSpPr>
          <p:nvPr/>
        </p:nvSpPr>
        <p:spPr>
          <a:xfrm>
            <a:off x="521494" y="914979"/>
            <a:ext cx="8032750" cy="3439161"/>
          </a:xfrm>
          <a:prstGeom prst="rect">
            <a:avLst/>
          </a:prstGeom>
        </p:spPr>
        <p:txBody>
          <a:bodyPr/>
          <a:lstStyle>
            <a:lvl1pPr marL="269875" indent="-269240" algn="l" defTabSz="719455" rtl="0" eaLnBrk="1" latinLnBrk="0" hangingPunct="1">
              <a:spcBef>
                <a:spcPts val="75"/>
              </a:spcBef>
              <a:buFont typeface="Arial" panose="020B0604020202020204" pitchFamily="34" charset="0"/>
              <a:buChar char="•"/>
              <a:defRPr sz="2520" kern="1200">
                <a:solidFill>
                  <a:schemeClr val="tx1"/>
                </a:solidFill>
                <a:latin typeface="+mn-lt"/>
                <a:ea typeface="+mn-ea"/>
                <a:cs typeface="+mn-cs"/>
              </a:defRPr>
            </a:lvl1pPr>
            <a:lvl2pPr marL="584835" indent="-224155" algn="l" defTabSz="719455" rtl="0" eaLnBrk="1" latinLnBrk="0" hangingPunct="1">
              <a:spcBef>
                <a:spcPts val="75"/>
              </a:spcBef>
              <a:buFont typeface="Arial" panose="020B0604020202020204" pitchFamily="34" charset="0"/>
              <a:buChar char="–"/>
              <a:defRPr sz="2205" kern="1200">
                <a:solidFill>
                  <a:schemeClr val="tx1"/>
                </a:solidFill>
                <a:latin typeface="+mn-lt"/>
                <a:ea typeface="+mn-ea"/>
                <a:cs typeface="+mn-cs"/>
              </a:defRPr>
            </a:lvl2pPr>
            <a:lvl3pPr marL="899160" indent="-179070" algn="l" defTabSz="719455" rtl="0" eaLnBrk="1" latinLnBrk="0" hangingPunct="1">
              <a:spcBef>
                <a:spcPts val="75"/>
              </a:spcBef>
              <a:buFont typeface="Arial" panose="020B0604020202020204" pitchFamily="34" charset="0"/>
              <a:buChar char="•"/>
              <a:defRPr sz="1890" kern="1200">
                <a:solidFill>
                  <a:schemeClr val="tx1"/>
                </a:solidFill>
                <a:latin typeface="+mn-lt"/>
                <a:ea typeface="+mn-ea"/>
                <a:cs typeface="+mn-cs"/>
              </a:defRPr>
            </a:lvl3pPr>
            <a:lvl4pPr marL="12592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4pPr>
            <a:lvl5pPr marL="16186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5pPr>
            <a:lvl6pPr marL="19786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6pPr>
            <a:lvl7pPr marL="23387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7pPr>
            <a:lvl8pPr marL="26981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8pPr>
            <a:lvl9pPr marL="30581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9pPr>
          </a:lstStyle>
          <a:p>
            <a:pPr marL="609600" indent="-609600">
              <a:lnSpc>
                <a:spcPct val="120000"/>
              </a:lnSpc>
              <a:buFontTx/>
              <a:buNone/>
            </a:pPr>
            <a:r>
              <a:rPr lang="en-US" altLang="zh-CN" sz="1800" b="1" dirty="0">
                <a:latin typeface="微软雅黑" panose="020B0503020204020204" charset="-122"/>
                <a:ea typeface="微软雅黑" panose="020B0503020204020204" charset="-122"/>
              </a:rPr>
              <a:t>2</a:t>
            </a:r>
            <a:r>
              <a:rPr lang="zh-CN" altLang="en-US" sz="1800" b="1" dirty="0">
                <a:latin typeface="微软雅黑" panose="020B0503020204020204" charset="-122"/>
                <a:ea typeface="微软雅黑" panose="020B0503020204020204" charset="-122"/>
              </a:rPr>
              <a:t>、室内安装环境勘测</a:t>
            </a:r>
            <a:endParaRPr lang="zh-CN" altLang="en-US" sz="1800" b="1" dirty="0">
              <a:latin typeface="微软雅黑" panose="020B0503020204020204" charset="-122"/>
              <a:ea typeface="微软雅黑" panose="020B0503020204020204" charset="-122"/>
            </a:endParaRPr>
          </a:p>
          <a:p>
            <a:pPr marL="609600" indent="-609600">
              <a:lnSpc>
                <a:spcPct val="120000"/>
              </a:lnSpc>
              <a:buFontTx/>
              <a:buNone/>
            </a:pPr>
            <a:r>
              <a:rPr lang="zh-CN" altLang="en-US" sz="1800" dirty="0">
                <a:latin typeface="微软雅黑" panose="020B0503020204020204" charset="-122"/>
                <a:ea typeface="微软雅黑" panose="020B0503020204020204" charset="-122"/>
              </a:rPr>
              <a:t>       包含机房结构，</a:t>
            </a:r>
            <a:r>
              <a:rPr lang="zh-CN" altLang="zh-CN" sz="1800" dirty="0">
                <a:latin typeface="微软雅黑" panose="020B0503020204020204" charset="-122"/>
                <a:ea typeface="微软雅黑" panose="020B0503020204020204" charset="-122"/>
              </a:rPr>
              <a:t>楼层高度、楼层面积、楼面负荷</a:t>
            </a:r>
            <a:r>
              <a:rPr lang="zh-CN" altLang="en-US" sz="1800" dirty="0">
                <a:latin typeface="微软雅黑" panose="020B0503020204020204" charset="-122"/>
                <a:ea typeface="微软雅黑" panose="020B0503020204020204" charset="-122"/>
              </a:rPr>
              <a:t>；</a:t>
            </a:r>
            <a:endParaRPr lang="en-US" altLang="zh-CN" sz="1800" dirty="0">
              <a:latin typeface="微软雅黑" panose="020B0503020204020204" charset="-122"/>
              <a:ea typeface="微软雅黑" panose="020B0503020204020204" charset="-122"/>
            </a:endParaRPr>
          </a:p>
          <a:p>
            <a:pPr marL="609600" indent="-609600">
              <a:lnSpc>
                <a:spcPct val="120000"/>
              </a:lnSpc>
              <a:buFontTx/>
              <a:buNone/>
            </a:pPr>
            <a:r>
              <a:rPr lang="en-US" altLang="zh-CN" sz="1800" dirty="0">
                <a:latin typeface="微软雅黑" panose="020B0503020204020204" charset="-122"/>
                <a:ea typeface="微软雅黑" panose="020B0503020204020204" charset="-122"/>
              </a:rPr>
              <a:t>      </a:t>
            </a:r>
            <a:r>
              <a:rPr lang="zh-CN" altLang="en-US" sz="1800" dirty="0">
                <a:latin typeface="微软雅黑" panose="020B0503020204020204" charset="-122"/>
                <a:ea typeface="微软雅黑" panose="020B0503020204020204" charset="-122"/>
              </a:rPr>
              <a:t>已有设备、接地排、走线架、馈线窗、电力配套设施以及空调等</a:t>
            </a:r>
            <a:endParaRPr lang="en-US" altLang="zh-CN" sz="1800" dirty="0">
              <a:latin typeface="微软雅黑" panose="020B0503020204020204" charset="-122"/>
              <a:ea typeface="微软雅黑" panose="020B0503020204020204" charset="-122"/>
            </a:endParaRPr>
          </a:p>
          <a:p>
            <a:pPr marL="609600" indent="-609600">
              <a:lnSpc>
                <a:spcPct val="120000"/>
              </a:lnSpc>
              <a:buFontTx/>
              <a:buNone/>
            </a:pPr>
            <a:r>
              <a:rPr lang="zh-CN" altLang="en-US" sz="1800" dirty="0">
                <a:latin typeface="微软雅黑" panose="020B0503020204020204" charset="-122"/>
                <a:ea typeface="微软雅黑" panose="020B0503020204020204" charset="-122"/>
              </a:rPr>
              <a:t>相关情况。</a:t>
            </a:r>
            <a:endParaRPr lang="zh-CN" altLang="en-US" sz="1800" dirty="0">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p:cNvPicPr>
          <p:nvPr/>
        </p:nvPicPr>
        <p:blipFill>
          <a:blip r:embed="rId3"/>
          <a:srcRect t="24134"/>
          <a:stretch>
            <a:fillRect/>
          </a:stretch>
        </p:blipFill>
        <p:spPr>
          <a:xfrm>
            <a:off x="1384935" y="2409825"/>
            <a:ext cx="7334885" cy="249936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三、中心机房勘察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Line 1"/>
          <p:cNvSpPr>
            <a:spLocks noChangeShapeType="1"/>
          </p:cNvSpPr>
          <p:nvPr/>
        </p:nvSpPr>
        <p:spPr bwMode="auto">
          <a:xfrm>
            <a:off x="-36513" y="619125"/>
            <a:ext cx="40005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tailEnd type="triangle" w="med" len="med"/>
              </a14:hiddenLine>
            </a:ext>
          </a:extLst>
        </p:spPr>
        <p:txBody>
          <a:bodyPr/>
          <a:lstStyle/>
          <a:p>
            <a:endParaRPr lang="zh-CN" altLang="en-US"/>
          </a:p>
        </p:txBody>
      </p:sp>
      <p:sp>
        <p:nvSpPr>
          <p:cNvPr id="8" name="Rectangle 2"/>
          <p:cNvSpPr txBox="1">
            <a:spLocks noChangeArrowheads="1"/>
          </p:cNvSpPr>
          <p:nvPr/>
        </p:nvSpPr>
        <p:spPr>
          <a:xfrm>
            <a:off x="617574" y="682744"/>
            <a:ext cx="8032750" cy="4032448"/>
          </a:xfrm>
          <a:prstGeom prst="rect">
            <a:avLst/>
          </a:prstGeom>
        </p:spPr>
        <p:txBody>
          <a:bodyPr/>
          <a:lstStyle>
            <a:lvl1pPr marL="269875" indent="-269240" algn="l" defTabSz="719455" rtl="0" eaLnBrk="1" latinLnBrk="0" hangingPunct="1">
              <a:spcBef>
                <a:spcPts val="75"/>
              </a:spcBef>
              <a:buFont typeface="Arial" panose="020B0604020202020204" pitchFamily="34" charset="0"/>
              <a:buChar char="•"/>
              <a:defRPr sz="2520" kern="1200">
                <a:solidFill>
                  <a:schemeClr val="tx1"/>
                </a:solidFill>
                <a:latin typeface="+mn-lt"/>
                <a:ea typeface="+mn-ea"/>
                <a:cs typeface="+mn-cs"/>
              </a:defRPr>
            </a:lvl1pPr>
            <a:lvl2pPr marL="584835" indent="-224155" algn="l" defTabSz="719455" rtl="0" eaLnBrk="1" latinLnBrk="0" hangingPunct="1">
              <a:spcBef>
                <a:spcPts val="75"/>
              </a:spcBef>
              <a:buFont typeface="Arial" panose="020B0604020202020204" pitchFamily="34" charset="0"/>
              <a:buChar char="–"/>
              <a:defRPr sz="2205" kern="1200">
                <a:solidFill>
                  <a:schemeClr val="tx1"/>
                </a:solidFill>
                <a:latin typeface="+mn-lt"/>
                <a:ea typeface="+mn-ea"/>
                <a:cs typeface="+mn-cs"/>
              </a:defRPr>
            </a:lvl2pPr>
            <a:lvl3pPr marL="899160" indent="-179070" algn="l" defTabSz="719455" rtl="0" eaLnBrk="1" latinLnBrk="0" hangingPunct="1">
              <a:spcBef>
                <a:spcPts val="75"/>
              </a:spcBef>
              <a:buFont typeface="Arial" panose="020B0604020202020204" pitchFamily="34" charset="0"/>
              <a:buChar char="•"/>
              <a:defRPr sz="1890" kern="1200">
                <a:solidFill>
                  <a:schemeClr val="tx1"/>
                </a:solidFill>
                <a:latin typeface="+mn-lt"/>
                <a:ea typeface="+mn-ea"/>
                <a:cs typeface="+mn-cs"/>
              </a:defRPr>
            </a:lvl3pPr>
            <a:lvl4pPr marL="12592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4pPr>
            <a:lvl5pPr marL="16186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5pPr>
            <a:lvl6pPr marL="19786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6pPr>
            <a:lvl7pPr marL="23387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7pPr>
            <a:lvl8pPr marL="26981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8pPr>
            <a:lvl9pPr marL="30581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9pPr>
          </a:lstStyle>
          <a:p>
            <a:pPr marL="609600" indent="-609600">
              <a:lnSpc>
                <a:spcPct val="120000"/>
              </a:lnSpc>
              <a:buFontTx/>
              <a:buNone/>
            </a:pPr>
            <a:r>
              <a:rPr lang="en-US" altLang="zh-CN" sz="1800" b="1" dirty="0">
                <a:latin typeface="微软雅黑" panose="020B0503020204020204" charset="-122"/>
                <a:ea typeface="微软雅黑" panose="020B0503020204020204" charset="-122"/>
              </a:rPr>
              <a:t>3</a:t>
            </a:r>
            <a:r>
              <a:rPr lang="zh-CN" altLang="en-US" sz="1800" b="1" dirty="0">
                <a:latin typeface="微软雅黑" panose="020B0503020204020204" charset="-122"/>
                <a:ea typeface="微软雅黑" panose="020B0503020204020204" charset="-122"/>
              </a:rPr>
              <a:t>、机架安装勘察</a:t>
            </a:r>
            <a:endParaRPr lang="zh-CN" altLang="en-US" sz="1800" b="1" dirty="0">
              <a:latin typeface="微软雅黑" panose="020B0503020204020204" charset="-122"/>
              <a:ea typeface="微软雅黑" panose="020B0503020204020204" charset="-122"/>
            </a:endParaRPr>
          </a:p>
          <a:p>
            <a:pPr marL="609600" indent="-609600">
              <a:lnSpc>
                <a:spcPct val="120000"/>
              </a:lnSpc>
              <a:buFontTx/>
              <a:buNone/>
            </a:pP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1</a:t>
            </a:r>
            <a:r>
              <a:rPr lang="zh-CN" altLang="en-US" sz="1800" dirty="0">
                <a:latin typeface="微软雅黑" panose="020B0503020204020204" charset="-122"/>
                <a:ea typeface="微软雅黑" panose="020B0503020204020204" charset="-122"/>
              </a:rPr>
              <a:t>）要根据局方总的扩容规划考虑扩容需要的空间并预留扩容位置；</a:t>
            </a:r>
            <a:endParaRPr lang="en-US" altLang="zh-CN" sz="1800" dirty="0">
              <a:latin typeface="微软雅黑" panose="020B0503020204020204" charset="-122"/>
              <a:ea typeface="微软雅黑" panose="020B0503020204020204" charset="-122"/>
            </a:endParaRPr>
          </a:p>
          <a:p>
            <a:pPr marL="609600" indent="-609600">
              <a:lnSpc>
                <a:spcPct val="120000"/>
              </a:lnSpc>
              <a:buFontTx/>
              <a:buNone/>
            </a:pP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2</a:t>
            </a:r>
            <a:r>
              <a:rPr lang="zh-CN" altLang="en-US" sz="1800" dirty="0">
                <a:latin typeface="微软雅黑" panose="020B0503020204020204" charset="-122"/>
                <a:ea typeface="微软雅黑" panose="020B0503020204020204" charset="-122"/>
              </a:rPr>
              <a:t>）有利于走线，避免发生交、直流电源线和信号线走线冲突；</a:t>
            </a:r>
            <a:endParaRPr lang="en-US" altLang="zh-CN" sz="1800" dirty="0">
              <a:latin typeface="微软雅黑" panose="020B0503020204020204" charset="-122"/>
              <a:ea typeface="微软雅黑" panose="020B0503020204020204" charset="-122"/>
            </a:endParaRPr>
          </a:p>
          <a:p>
            <a:pPr marL="609600" lvl="1" indent="-609600">
              <a:lnSpc>
                <a:spcPct val="120000"/>
              </a:lnSpc>
              <a:buFontTx/>
              <a:buNone/>
            </a:pP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3</a:t>
            </a:r>
            <a:r>
              <a:rPr lang="zh-CN" altLang="en-US" sz="1800" dirty="0">
                <a:latin typeface="微软雅黑" panose="020B0503020204020204" charset="-122"/>
                <a:ea typeface="微软雅黑" panose="020B0503020204020204" charset="-122"/>
              </a:rPr>
              <a:t>）设计的合理性、安装的可行性、机房的美观等方面也要考虑。</a:t>
            </a:r>
            <a:endParaRPr lang="en-US" altLang="zh-CN" sz="1800" dirty="0">
              <a:latin typeface="微软雅黑" panose="020B0503020204020204" charset="-122"/>
              <a:ea typeface="微软雅黑" panose="020B0503020204020204" charset="-122"/>
            </a:endParaRPr>
          </a:p>
          <a:p>
            <a:pPr marL="609600" lvl="1" indent="-609600">
              <a:lnSpc>
                <a:spcPct val="120000"/>
              </a:lnSpc>
              <a:buFontTx/>
              <a:buNone/>
            </a:pPr>
            <a:endParaRPr lang="zh-CN" altLang="en-US" sz="1800" dirty="0">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p:cNvPicPr>
          <p:nvPr/>
        </p:nvPicPr>
        <p:blipFill>
          <a:blip r:embed="rId3"/>
          <a:srcRect l="2537" t="16384" r="3421" b="4749"/>
          <a:stretch>
            <a:fillRect/>
          </a:stretch>
        </p:blipFill>
        <p:spPr>
          <a:xfrm>
            <a:off x="1384935" y="2123440"/>
            <a:ext cx="7322185" cy="31673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三、中心机房勘察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Line 1"/>
          <p:cNvSpPr>
            <a:spLocks noChangeShapeType="1"/>
          </p:cNvSpPr>
          <p:nvPr/>
        </p:nvSpPr>
        <p:spPr bwMode="auto">
          <a:xfrm>
            <a:off x="-36513" y="619125"/>
            <a:ext cx="40005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tailEnd type="triangle" w="med" len="med"/>
              </a14:hiddenLine>
            </a:ext>
          </a:extLst>
        </p:spPr>
        <p:txBody>
          <a:bodyPr/>
          <a:lstStyle/>
          <a:p>
            <a:endParaRPr lang="zh-CN" altLang="en-US"/>
          </a:p>
        </p:txBody>
      </p:sp>
      <p:sp>
        <p:nvSpPr>
          <p:cNvPr id="8" name="Rectangle 2"/>
          <p:cNvSpPr txBox="1">
            <a:spLocks noChangeArrowheads="1"/>
          </p:cNvSpPr>
          <p:nvPr/>
        </p:nvSpPr>
        <p:spPr>
          <a:xfrm>
            <a:off x="617574" y="969764"/>
            <a:ext cx="8032750" cy="4032448"/>
          </a:xfrm>
          <a:prstGeom prst="rect">
            <a:avLst/>
          </a:prstGeom>
        </p:spPr>
        <p:txBody>
          <a:bodyPr/>
          <a:lstStyle>
            <a:lvl1pPr marL="269875" indent="-269240" algn="l" defTabSz="719455" rtl="0" eaLnBrk="1" latinLnBrk="0" hangingPunct="1">
              <a:spcBef>
                <a:spcPts val="75"/>
              </a:spcBef>
              <a:buFont typeface="Arial" panose="020B0604020202020204" pitchFamily="34" charset="0"/>
              <a:buChar char="•"/>
              <a:defRPr sz="2520" kern="1200">
                <a:solidFill>
                  <a:schemeClr val="tx1"/>
                </a:solidFill>
                <a:latin typeface="+mn-lt"/>
                <a:ea typeface="+mn-ea"/>
                <a:cs typeface="+mn-cs"/>
              </a:defRPr>
            </a:lvl1pPr>
            <a:lvl2pPr marL="584835" indent="-224155" algn="l" defTabSz="719455" rtl="0" eaLnBrk="1" latinLnBrk="0" hangingPunct="1">
              <a:spcBef>
                <a:spcPts val="75"/>
              </a:spcBef>
              <a:buFont typeface="Arial" panose="020B0604020202020204" pitchFamily="34" charset="0"/>
              <a:buChar char="–"/>
              <a:defRPr sz="2205" kern="1200">
                <a:solidFill>
                  <a:schemeClr val="tx1"/>
                </a:solidFill>
                <a:latin typeface="+mn-lt"/>
                <a:ea typeface="+mn-ea"/>
                <a:cs typeface="+mn-cs"/>
              </a:defRPr>
            </a:lvl2pPr>
            <a:lvl3pPr marL="899160" indent="-179070" algn="l" defTabSz="719455" rtl="0" eaLnBrk="1" latinLnBrk="0" hangingPunct="1">
              <a:spcBef>
                <a:spcPts val="75"/>
              </a:spcBef>
              <a:buFont typeface="Arial" panose="020B0604020202020204" pitchFamily="34" charset="0"/>
              <a:buChar char="•"/>
              <a:defRPr sz="1890" kern="1200">
                <a:solidFill>
                  <a:schemeClr val="tx1"/>
                </a:solidFill>
                <a:latin typeface="+mn-lt"/>
                <a:ea typeface="+mn-ea"/>
                <a:cs typeface="+mn-cs"/>
              </a:defRPr>
            </a:lvl3pPr>
            <a:lvl4pPr marL="12592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4pPr>
            <a:lvl5pPr marL="16186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5pPr>
            <a:lvl6pPr marL="19786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6pPr>
            <a:lvl7pPr marL="23387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7pPr>
            <a:lvl8pPr marL="26981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8pPr>
            <a:lvl9pPr marL="30581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9pPr>
          </a:lstStyle>
          <a:p>
            <a:pPr marL="609600" indent="-609600">
              <a:lnSpc>
                <a:spcPct val="120000"/>
              </a:lnSpc>
              <a:buFontTx/>
              <a:buNone/>
            </a:pPr>
            <a:r>
              <a:rPr lang="en-US" altLang="zh-CN" sz="1800" b="1" dirty="0">
                <a:latin typeface="微软雅黑" panose="020B0503020204020204" charset="-122"/>
                <a:ea typeface="微软雅黑" panose="020B0503020204020204" charset="-122"/>
              </a:rPr>
              <a:t>4</a:t>
            </a:r>
            <a:r>
              <a:rPr lang="zh-CN" altLang="en-US" sz="1800" b="1" dirty="0">
                <a:latin typeface="微软雅黑" panose="020B0503020204020204" charset="-122"/>
                <a:ea typeface="微软雅黑" panose="020B0503020204020204" charset="-122"/>
              </a:rPr>
              <a:t>、设备勘察（扩容工程）</a:t>
            </a:r>
            <a:endParaRPr lang="en-US" altLang="zh-CN" sz="1800" b="1" dirty="0">
              <a:latin typeface="微软雅黑" panose="020B0503020204020204" charset="-122"/>
              <a:ea typeface="微软雅黑" panose="020B0503020204020204" charset="-122"/>
            </a:endParaRPr>
          </a:p>
          <a:p>
            <a:pPr marL="609600" indent="-609600">
              <a:lnSpc>
                <a:spcPct val="120000"/>
              </a:lnSpc>
              <a:buFontTx/>
              <a:buNone/>
            </a:pP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1</a:t>
            </a:r>
            <a:r>
              <a:rPr lang="zh-CN" altLang="en-US" sz="1800" dirty="0">
                <a:latin typeface="微软雅黑" panose="020B0503020204020204" charset="-122"/>
                <a:ea typeface="微软雅黑" panose="020B0503020204020204" charset="-122"/>
              </a:rPr>
              <a:t>）了解现有设备的基本情况。</a:t>
            </a:r>
            <a:endParaRPr lang="zh-CN" altLang="en-US" sz="1800" dirty="0">
              <a:latin typeface="微软雅黑" panose="020B0503020204020204" charset="-122"/>
              <a:ea typeface="微软雅黑" panose="020B0503020204020204" charset="-122"/>
            </a:endParaRPr>
          </a:p>
          <a:p>
            <a:pPr marL="609600" indent="-609600">
              <a:lnSpc>
                <a:spcPct val="120000"/>
              </a:lnSpc>
              <a:buFontTx/>
              <a:buNone/>
            </a:pPr>
            <a:r>
              <a:rPr lang="zh-CN" altLang="en-US" sz="1800" dirty="0">
                <a:latin typeface="微软雅黑" panose="020B0503020204020204" charset="-122"/>
                <a:ea typeface="微软雅黑" panose="020B0503020204020204" charset="-122"/>
              </a:rPr>
              <a:t>           各种设备的摆放位置和尺寸，设备的接口情况、功耗情况等。</a:t>
            </a:r>
            <a:endParaRPr lang="en-US" altLang="zh-CN" sz="1800" dirty="0">
              <a:latin typeface="微软雅黑" panose="020B0503020204020204" charset="-122"/>
              <a:ea typeface="微软雅黑" panose="020B0503020204020204" charset="-122"/>
            </a:endParaRPr>
          </a:p>
          <a:p>
            <a:pPr marL="609600" indent="-609600">
              <a:lnSpc>
                <a:spcPct val="120000"/>
              </a:lnSpc>
              <a:buFontTx/>
              <a:buNone/>
            </a:pP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2</a:t>
            </a:r>
            <a:r>
              <a:rPr lang="zh-CN" altLang="en-US" sz="1800" dirty="0">
                <a:latin typeface="微软雅黑" panose="020B0503020204020204" charset="-122"/>
                <a:ea typeface="微软雅黑" panose="020B0503020204020204" charset="-122"/>
              </a:rPr>
              <a:t>）设备布置合理。</a:t>
            </a:r>
            <a:endParaRPr lang="en-US" altLang="zh-CN" sz="1800" dirty="0">
              <a:latin typeface="微软雅黑" panose="020B0503020204020204" charset="-122"/>
              <a:ea typeface="微软雅黑" panose="020B0503020204020204" charset="-122"/>
            </a:endParaRPr>
          </a:p>
          <a:p>
            <a:pPr marL="609600" indent="-609600">
              <a:lnSpc>
                <a:spcPct val="120000"/>
              </a:lnSpc>
              <a:buFontTx/>
              <a:buNone/>
            </a:pPr>
            <a:r>
              <a:rPr lang="en-US" altLang="zh-CN" sz="1800" dirty="0">
                <a:latin typeface="微软雅黑" panose="020B0503020204020204" charset="-122"/>
                <a:ea typeface="微软雅黑" panose="020B0503020204020204" charset="-122"/>
              </a:rPr>
              <a:t>           </a:t>
            </a:r>
            <a:r>
              <a:rPr lang="zh-CN" altLang="en-US" sz="1800" dirty="0">
                <a:latin typeface="微软雅黑" panose="020B0503020204020204" charset="-122"/>
                <a:ea typeface="微软雅黑" panose="020B0503020204020204" charset="-122"/>
              </a:rPr>
              <a:t>开门能见到设备正面，但不能堵住门口。</a:t>
            </a:r>
            <a:endParaRPr lang="en-US" altLang="zh-CN" sz="1800" dirty="0">
              <a:latin typeface="微软雅黑" panose="020B0503020204020204" charset="-122"/>
              <a:ea typeface="微软雅黑" panose="020B0503020204020204" charset="-122"/>
            </a:endParaRPr>
          </a:p>
          <a:p>
            <a:pPr marL="609600" indent="-609600">
              <a:lnSpc>
                <a:spcPct val="120000"/>
              </a:lnSpc>
              <a:buFontTx/>
              <a:buNone/>
            </a:pPr>
            <a:r>
              <a:rPr lang="en-US" altLang="zh-CN" sz="1800" dirty="0">
                <a:latin typeface="微软雅黑" panose="020B0503020204020204" charset="-122"/>
                <a:ea typeface="微软雅黑" panose="020B0503020204020204" charset="-122"/>
              </a:rPr>
              <a:t>           </a:t>
            </a:r>
            <a:r>
              <a:rPr lang="zh-CN" altLang="en-US" sz="1800" dirty="0">
                <a:latin typeface="微软雅黑" panose="020B0503020204020204" charset="-122"/>
                <a:ea typeface="微软雅黑" panose="020B0503020204020204" charset="-122"/>
              </a:rPr>
              <a:t>同类设备应尽量安装在同一排。</a:t>
            </a:r>
            <a:endParaRPr lang="en-US" altLang="zh-CN" sz="1800" dirty="0">
              <a:latin typeface="微软雅黑" panose="020B0503020204020204" charset="-122"/>
              <a:ea typeface="微软雅黑" panose="020B0503020204020204" charset="-122"/>
            </a:endParaRPr>
          </a:p>
          <a:p>
            <a:pPr marL="609600" lvl="1" indent="-609600">
              <a:lnSpc>
                <a:spcPct val="120000"/>
              </a:lnSpc>
              <a:buFontTx/>
              <a:buNone/>
            </a:pPr>
            <a:endParaRPr lang="zh-CN" altLang="en-US" sz="1800" dirty="0">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三、中心机房勘察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Line 1"/>
          <p:cNvSpPr>
            <a:spLocks noChangeShapeType="1"/>
          </p:cNvSpPr>
          <p:nvPr/>
        </p:nvSpPr>
        <p:spPr bwMode="auto">
          <a:xfrm>
            <a:off x="-36513" y="619125"/>
            <a:ext cx="40005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tailEnd type="triangle" w="med" len="med"/>
              </a14:hiddenLine>
            </a:ext>
          </a:extLst>
        </p:spPr>
        <p:txBody>
          <a:bodyPr/>
          <a:lstStyle/>
          <a:p>
            <a:endParaRPr lang="zh-CN" altLang="en-US"/>
          </a:p>
        </p:txBody>
      </p:sp>
      <p:sp>
        <p:nvSpPr>
          <p:cNvPr id="7" name="Rectangle 3"/>
          <p:cNvSpPr txBox="1">
            <a:spLocks noChangeArrowheads="1"/>
          </p:cNvSpPr>
          <p:nvPr/>
        </p:nvSpPr>
        <p:spPr>
          <a:xfrm>
            <a:off x="610870" y="969645"/>
            <a:ext cx="2982595" cy="1967230"/>
          </a:xfrm>
          <a:prstGeom prst="rect">
            <a:avLst/>
          </a:prstGeom>
        </p:spPr>
        <p:txBody>
          <a:bodyPr/>
          <a:lstStyle>
            <a:lvl1pPr marL="269875" indent="-269240" algn="l" defTabSz="719455" rtl="0" eaLnBrk="1" latinLnBrk="0" hangingPunct="1">
              <a:spcBef>
                <a:spcPts val="75"/>
              </a:spcBef>
              <a:buFont typeface="Arial" panose="020B0604020202020204" pitchFamily="34" charset="0"/>
              <a:buChar char="•"/>
              <a:defRPr sz="2520" kern="1200">
                <a:solidFill>
                  <a:schemeClr val="tx1"/>
                </a:solidFill>
                <a:latin typeface="+mn-lt"/>
                <a:ea typeface="+mn-ea"/>
                <a:cs typeface="+mn-cs"/>
              </a:defRPr>
            </a:lvl1pPr>
            <a:lvl2pPr marL="584835" indent="-224155" algn="l" defTabSz="719455" rtl="0" eaLnBrk="1" latinLnBrk="0" hangingPunct="1">
              <a:spcBef>
                <a:spcPts val="75"/>
              </a:spcBef>
              <a:buFont typeface="Arial" panose="020B0604020202020204" pitchFamily="34" charset="0"/>
              <a:buChar char="–"/>
              <a:defRPr sz="2205" kern="1200">
                <a:solidFill>
                  <a:schemeClr val="tx1"/>
                </a:solidFill>
                <a:latin typeface="+mn-lt"/>
                <a:ea typeface="+mn-ea"/>
                <a:cs typeface="+mn-cs"/>
              </a:defRPr>
            </a:lvl2pPr>
            <a:lvl3pPr marL="899160" indent="-179070" algn="l" defTabSz="719455" rtl="0" eaLnBrk="1" latinLnBrk="0" hangingPunct="1">
              <a:spcBef>
                <a:spcPts val="75"/>
              </a:spcBef>
              <a:buFont typeface="Arial" panose="020B0604020202020204" pitchFamily="34" charset="0"/>
              <a:buChar char="•"/>
              <a:defRPr sz="1890" kern="1200">
                <a:solidFill>
                  <a:schemeClr val="tx1"/>
                </a:solidFill>
                <a:latin typeface="+mn-lt"/>
                <a:ea typeface="+mn-ea"/>
                <a:cs typeface="+mn-cs"/>
              </a:defRPr>
            </a:lvl3pPr>
            <a:lvl4pPr marL="12592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4pPr>
            <a:lvl5pPr marL="16186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5pPr>
            <a:lvl6pPr marL="19786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6pPr>
            <a:lvl7pPr marL="23387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7pPr>
            <a:lvl8pPr marL="26981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8pPr>
            <a:lvl9pPr marL="30581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9pPr>
          </a:lstStyle>
          <a:p>
            <a:pPr marL="609600" indent="-609600">
              <a:lnSpc>
                <a:spcPct val="130000"/>
              </a:lnSpc>
              <a:buFontTx/>
              <a:buNone/>
            </a:pPr>
            <a:r>
              <a:rPr lang="zh-CN" altLang="en-US" sz="1800" b="1" dirty="0">
                <a:latin typeface="微软雅黑" panose="020B0503020204020204" charset="-122"/>
                <a:ea typeface="微软雅黑" panose="020B0503020204020204" charset="-122"/>
              </a:rPr>
              <a:t> </a:t>
            </a:r>
            <a:r>
              <a:rPr lang="en-US" altLang="zh-CN" sz="1800" b="1" dirty="0">
                <a:latin typeface="微软雅黑" panose="020B0503020204020204" charset="-122"/>
                <a:ea typeface="微软雅黑" panose="020B0503020204020204" charset="-122"/>
              </a:rPr>
              <a:t>5</a:t>
            </a:r>
            <a:r>
              <a:rPr lang="zh-CN" altLang="en-US" sz="1800" b="1" dirty="0">
                <a:latin typeface="微软雅黑" panose="020B0503020204020204" charset="-122"/>
                <a:ea typeface="微软雅黑" panose="020B0503020204020204" charset="-122"/>
              </a:rPr>
              <a:t>、走线勘察</a:t>
            </a:r>
            <a:endParaRPr lang="zh-CN" altLang="en-US" sz="1800" b="1" dirty="0">
              <a:latin typeface="微软雅黑" panose="020B0503020204020204" charset="-122"/>
              <a:ea typeface="微软雅黑" panose="020B0503020204020204" charset="-122"/>
            </a:endParaRPr>
          </a:p>
          <a:p>
            <a:pPr marL="609600" indent="-609600">
              <a:lnSpc>
                <a:spcPct val="125000"/>
              </a:lnSpc>
              <a:buFontTx/>
              <a:buNone/>
            </a:pPr>
            <a:r>
              <a:rPr lang="zh-CN" altLang="en-US" sz="1800" b="1" dirty="0">
                <a:latin typeface="微软雅黑" panose="020B0503020204020204" charset="-122"/>
                <a:ea typeface="微软雅黑" panose="020B0503020204020204" charset="-122"/>
              </a:rPr>
              <a:t>   </a:t>
            </a:r>
            <a:r>
              <a:rPr lang="zh-CN" altLang="en-US" sz="1800" dirty="0">
                <a:latin typeface="微软雅黑" panose="020B0503020204020204" charset="-122"/>
                <a:ea typeface="微软雅黑" panose="020B0503020204020204" charset="-122"/>
              </a:rPr>
              <a:t>     机柜电源线勘察</a:t>
            </a:r>
            <a:endParaRPr lang="zh-CN" altLang="en-US" sz="1800" dirty="0">
              <a:latin typeface="微软雅黑" panose="020B0503020204020204" charset="-122"/>
              <a:ea typeface="微软雅黑" panose="020B0503020204020204" charset="-122"/>
            </a:endParaRPr>
          </a:p>
          <a:p>
            <a:pPr marL="609600" indent="-609600">
              <a:lnSpc>
                <a:spcPct val="125000"/>
              </a:lnSpc>
              <a:buFontTx/>
              <a:buNone/>
            </a:pPr>
            <a:r>
              <a:rPr lang="zh-CN" altLang="en-US" sz="1800" dirty="0">
                <a:latin typeface="微软雅黑" panose="020B0503020204020204" charset="-122"/>
                <a:ea typeface="微软雅黑" panose="020B0503020204020204" charset="-122"/>
              </a:rPr>
              <a:t>        光纤勘察</a:t>
            </a:r>
            <a:endParaRPr lang="zh-CN" altLang="en-US" sz="1800" dirty="0">
              <a:latin typeface="微软雅黑" panose="020B0503020204020204" charset="-122"/>
              <a:ea typeface="微软雅黑" panose="020B0503020204020204" charset="-122"/>
            </a:endParaRPr>
          </a:p>
          <a:p>
            <a:pPr marL="609600" indent="-609600">
              <a:lnSpc>
                <a:spcPct val="125000"/>
              </a:lnSpc>
              <a:buFontTx/>
              <a:buNone/>
            </a:pPr>
            <a:r>
              <a:rPr lang="zh-CN" altLang="en-US" sz="1800" dirty="0">
                <a:latin typeface="微软雅黑" panose="020B0503020204020204" charset="-122"/>
                <a:ea typeface="微软雅黑" panose="020B0503020204020204" charset="-122"/>
              </a:rPr>
              <a:t>        中继线（</a:t>
            </a:r>
            <a:r>
              <a:rPr lang="en-US" altLang="zh-CN" sz="1800" dirty="0">
                <a:latin typeface="微软雅黑" panose="020B0503020204020204" charset="-122"/>
                <a:ea typeface="微软雅黑" panose="020B0503020204020204" charset="-122"/>
              </a:rPr>
              <a:t>2M</a:t>
            </a:r>
            <a:r>
              <a:rPr lang="zh-CN" altLang="en-US" sz="1800" dirty="0">
                <a:latin typeface="微软雅黑" panose="020B0503020204020204" charset="-122"/>
                <a:ea typeface="微软雅黑" panose="020B0503020204020204" charset="-122"/>
              </a:rPr>
              <a:t>）勘察</a:t>
            </a:r>
            <a:endParaRPr lang="zh-CN" altLang="en-US" sz="1800" dirty="0">
              <a:latin typeface="微软雅黑" panose="020B0503020204020204" charset="-122"/>
              <a:ea typeface="微软雅黑" panose="020B0503020204020204" charset="-122"/>
            </a:endParaRPr>
          </a:p>
          <a:p>
            <a:pPr marL="609600" indent="-609600">
              <a:lnSpc>
                <a:spcPct val="125000"/>
              </a:lnSpc>
              <a:buFontTx/>
              <a:buNone/>
            </a:pPr>
            <a:r>
              <a:rPr lang="zh-CN" altLang="en-US" sz="1800" dirty="0">
                <a:latin typeface="微软雅黑" panose="020B0503020204020204" charset="-122"/>
                <a:ea typeface="微软雅黑" panose="020B0503020204020204" charset="-122"/>
              </a:rPr>
              <a:t>        网线勘察</a:t>
            </a:r>
            <a:endParaRPr lang="zh-CN" altLang="en-US" sz="1800" dirty="0">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p:nvPicPr>
        <p:blipFill>
          <a:blip r:embed="rId3"/>
          <a:srcRect t="32694" b="53719"/>
          <a:stretch>
            <a:fillRect/>
          </a:stretch>
        </p:blipFill>
        <p:spPr>
          <a:xfrm>
            <a:off x="1075055" y="3007360"/>
            <a:ext cx="8481695" cy="478155"/>
          </a:xfrm>
          <a:prstGeom prst="rect">
            <a:avLst/>
          </a:prstGeom>
        </p:spPr>
      </p:pic>
      <p:pic>
        <p:nvPicPr>
          <p:cNvPr id="10" name="图片 9"/>
          <p:cNvPicPr>
            <a:picLocks noChangeAspect="1"/>
          </p:cNvPicPr>
          <p:nvPr/>
        </p:nvPicPr>
        <p:blipFill>
          <a:blip r:embed="rId3"/>
          <a:srcRect t="57686"/>
          <a:stretch>
            <a:fillRect/>
          </a:stretch>
        </p:blipFill>
        <p:spPr>
          <a:xfrm>
            <a:off x="1097915" y="3417570"/>
            <a:ext cx="8496300" cy="149161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三、中心机房勘察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Line 1"/>
          <p:cNvSpPr>
            <a:spLocks noChangeShapeType="1"/>
          </p:cNvSpPr>
          <p:nvPr/>
        </p:nvSpPr>
        <p:spPr bwMode="auto">
          <a:xfrm>
            <a:off x="-36513" y="619125"/>
            <a:ext cx="40005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tailEnd type="triangle" w="med" len="med"/>
              </a14:hiddenLine>
            </a:ext>
          </a:extLst>
        </p:spPr>
        <p:txBody>
          <a:bodyPr/>
          <a:lstStyle/>
          <a:p>
            <a:endParaRPr lang="zh-CN" altLang="en-US"/>
          </a:p>
        </p:txBody>
      </p:sp>
      <p:sp>
        <p:nvSpPr>
          <p:cNvPr id="7" name="Rectangle 3"/>
          <p:cNvSpPr txBox="1">
            <a:spLocks noChangeArrowheads="1"/>
          </p:cNvSpPr>
          <p:nvPr/>
        </p:nvSpPr>
        <p:spPr>
          <a:xfrm>
            <a:off x="610870" y="754380"/>
            <a:ext cx="2982595" cy="1967230"/>
          </a:xfrm>
          <a:prstGeom prst="rect">
            <a:avLst/>
          </a:prstGeom>
        </p:spPr>
        <p:txBody>
          <a:bodyPr/>
          <a:lstStyle>
            <a:lvl1pPr marL="269875" indent="-269240" algn="l" defTabSz="719455" rtl="0" eaLnBrk="1" latinLnBrk="0" hangingPunct="1">
              <a:spcBef>
                <a:spcPts val="75"/>
              </a:spcBef>
              <a:buFont typeface="Arial" panose="020B0604020202020204" pitchFamily="34" charset="0"/>
              <a:buChar char="•"/>
              <a:defRPr sz="2520" kern="1200">
                <a:solidFill>
                  <a:schemeClr val="tx1"/>
                </a:solidFill>
                <a:latin typeface="+mn-lt"/>
                <a:ea typeface="+mn-ea"/>
                <a:cs typeface="+mn-cs"/>
              </a:defRPr>
            </a:lvl1pPr>
            <a:lvl2pPr marL="584835" indent="-224155" algn="l" defTabSz="719455" rtl="0" eaLnBrk="1" latinLnBrk="0" hangingPunct="1">
              <a:spcBef>
                <a:spcPts val="75"/>
              </a:spcBef>
              <a:buFont typeface="Arial" panose="020B0604020202020204" pitchFamily="34" charset="0"/>
              <a:buChar char="–"/>
              <a:defRPr sz="2205" kern="1200">
                <a:solidFill>
                  <a:schemeClr val="tx1"/>
                </a:solidFill>
                <a:latin typeface="+mn-lt"/>
                <a:ea typeface="+mn-ea"/>
                <a:cs typeface="+mn-cs"/>
              </a:defRPr>
            </a:lvl2pPr>
            <a:lvl3pPr marL="899160" indent="-179070" algn="l" defTabSz="719455" rtl="0" eaLnBrk="1" latinLnBrk="0" hangingPunct="1">
              <a:spcBef>
                <a:spcPts val="75"/>
              </a:spcBef>
              <a:buFont typeface="Arial" panose="020B0604020202020204" pitchFamily="34" charset="0"/>
              <a:buChar char="•"/>
              <a:defRPr sz="1890" kern="1200">
                <a:solidFill>
                  <a:schemeClr val="tx1"/>
                </a:solidFill>
                <a:latin typeface="+mn-lt"/>
                <a:ea typeface="+mn-ea"/>
                <a:cs typeface="+mn-cs"/>
              </a:defRPr>
            </a:lvl3pPr>
            <a:lvl4pPr marL="12592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4pPr>
            <a:lvl5pPr marL="16186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5pPr>
            <a:lvl6pPr marL="19786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6pPr>
            <a:lvl7pPr marL="23387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7pPr>
            <a:lvl8pPr marL="26981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8pPr>
            <a:lvl9pPr marL="30581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9pPr>
          </a:lstStyle>
          <a:p>
            <a:pPr marL="609600" indent="-609600">
              <a:lnSpc>
                <a:spcPct val="130000"/>
              </a:lnSpc>
              <a:buFontTx/>
              <a:buNone/>
            </a:pPr>
            <a:r>
              <a:rPr lang="zh-CN" altLang="en-US" sz="1800" b="1" dirty="0">
                <a:latin typeface="微软雅黑" panose="020B0503020204020204" charset="-122"/>
                <a:ea typeface="微软雅黑" panose="020B0503020204020204" charset="-122"/>
              </a:rPr>
              <a:t> </a:t>
            </a:r>
            <a:r>
              <a:rPr lang="en-US" altLang="zh-CN" sz="1800" b="1" dirty="0">
                <a:latin typeface="微软雅黑" panose="020B0503020204020204" charset="-122"/>
                <a:ea typeface="微软雅黑" panose="020B0503020204020204" charset="-122"/>
              </a:rPr>
              <a:t>5</a:t>
            </a:r>
            <a:r>
              <a:rPr lang="zh-CN" altLang="en-US" sz="1800" b="1" dirty="0">
                <a:latin typeface="微软雅黑" panose="020B0503020204020204" charset="-122"/>
                <a:ea typeface="微软雅黑" panose="020B0503020204020204" charset="-122"/>
              </a:rPr>
              <a:t>、走线勘察</a:t>
            </a:r>
            <a:endParaRPr lang="zh-CN" altLang="en-US" sz="1800" b="1" dirty="0">
              <a:latin typeface="微软雅黑" panose="020B0503020204020204" charset="-122"/>
              <a:ea typeface="微软雅黑" panose="020B0503020204020204" charset="-122"/>
            </a:endParaRPr>
          </a:p>
          <a:p>
            <a:pPr marL="609600" indent="-609600">
              <a:lnSpc>
                <a:spcPct val="125000"/>
              </a:lnSpc>
              <a:buFontTx/>
              <a:buNone/>
            </a:pPr>
            <a:r>
              <a:rPr lang="zh-CN" altLang="en-US" sz="1800" b="1" dirty="0">
                <a:latin typeface="微软雅黑" panose="020B0503020204020204" charset="-122"/>
                <a:ea typeface="微软雅黑" panose="020B0503020204020204" charset="-122"/>
              </a:rPr>
              <a:t>   </a:t>
            </a:r>
            <a:r>
              <a:rPr lang="zh-CN" altLang="en-US" sz="1800" dirty="0">
                <a:latin typeface="微软雅黑" panose="020B0503020204020204" charset="-122"/>
                <a:ea typeface="微软雅黑" panose="020B0503020204020204" charset="-122"/>
              </a:rPr>
              <a:t>     走线架</a:t>
            </a:r>
            <a:r>
              <a:rPr lang="zh-CN" altLang="en-US" sz="1800" dirty="0">
                <a:latin typeface="微软雅黑" panose="020B0503020204020204" charset="-122"/>
                <a:ea typeface="微软雅黑" panose="020B0503020204020204" charset="-122"/>
              </a:rPr>
              <a:t>安装注意事项</a:t>
            </a:r>
            <a:endParaRPr lang="zh-CN" altLang="en-US" sz="1800" dirty="0">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p:cNvPicPr>
            <a:picLocks noChangeAspect="1"/>
          </p:cNvPicPr>
          <p:nvPr/>
        </p:nvPicPr>
        <p:blipFill>
          <a:blip r:embed="rId3"/>
          <a:srcRect r="3903" b="2157"/>
          <a:stretch>
            <a:fillRect/>
          </a:stretch>
        </p:blipFill>
        <p:spPr>
          <a:xfrm>
            <a:off x="809625" y="1545590"/>
            <a:ext cx="8410575" cy="33172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三、中心机房勘察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Line 1"/>
          <p:cNvSpPr>
            <a:spLocks noChangeShapeType="1"/>
          </p:cNvSpPr>
          <p:nvPr/>
        </p:nvSpPr>
        <p:spPr bwMode="auto">
          <a:xfrm>
            <a:off x="-36513" y="619125"/>
            <a:ext cx="40005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tailEnd type="triangle" w="med" len="med"/>
              </a14:hiddenLine>
            </a:ext>
          </a:extLst>
        </p:spPr>
        <p:txBody>
          <a:bodyPr/>
          <a:lstStyle/>
          <a:p>
            <a:endParaRPr lang="zh-CN" altLang="en-US"/>
          </a:p>
        </p:txBody>
      </p:sp>
      <p:sp>
        <p:nvSpPr>
          <p:cNvPr id="8" name="Rectangle 3"/>
          <p:cNvSpPr txBox="1">
            <a:spLocks noChangeArrowheads="1"/>
          </p:cNvSpPr>
          <p:nvPr/>
        </p:nvSpPr>
        <p:spPr>
          <a:xfrm>
            <a:off x="684213" y="847549"/>
            <a:ext cx="7500937" cy="460375"/>
          </a:xfrm>
          <a:prstGeom prst="rect">
            <a:avLst/>
          </a:prstGeom>
        </p:spPr>
        <p:txBody>
          <a:bodyPr vert="horz" lIns="91440" tIns="45720" rIns="91440" bIns="45720" rtlCol="0">
            <a:noAutofit/>
          </a:bodyPr>
          <a:lstStyle>
            <a:lvl1pPr marL="269875" indent="-269240" algn="l" defTabSz="719455" rtl="0" eaLnBrk="1" latinLnBrk="0" hangingPunct="1">
              <a:spcBef>
                <a:spcPts val="75"/>
              </a:spcBef>
              <a:buFont typeface="Arial" panose="020B0604020202020204" pitchFamily="34" charset="0"/>
              <a:buChar char="•"/>
              <a:defRPr sz="2520" kern="1200">
                <a:solidFill>
                  <a:schemeClr val="tx1"/>
                </a:solidFill>
                <a:latin typeface="+mn-lt"/>
                <a:ea typeface="+mn-ea"/>
                <a:cs typeface="+mn-cs"/>
              </a:defRPr>
            </a:lvl1pPr>
            <a:lvl2pPr marL="584835" indent="-224155" algn="l" defTabSz="719455" rtl="0" eaLnBrk="1" latinLnBrk="0" hangingPunct="1">
              <a:spcBef>
                <a:spcPts val="75"/>
              </a:spcBef>
              <a:buFont typeface="Arial" panose="020B0604020202020204" pitchFamily="34" charset="0"/>
              <a:buChar char="–"/>
              <a:defRPr sz="2205" kern="1200">
                <a:solidFill>
                  <a:schemeClr val="tx1"/>
                </a:solidFill>
                <a:latin typeface="+mn-lt"/>
                <a:ea typeface="+mn-ea"/>
                <a:cs typeface="+mn-cs"/>
              </a:defRPr>
            </a:lvl2pPr>
            <a:lvl3pPr marL="899160" indent="-179070" algn="l" defTabSz="719455" rtl="0" eaLnBrk="1" latinLnBrk="0" hangingPunct="1">
              <a:spcBef>
                <a:spcPts val="75"/>
              </a:spcBef>
              <a:buFont typeface="Arial" panose="020B0604020202020204" pitchFamily="34" charset="0"/>
              <a:buChar char="•"/>
              <a:defRPr sz="1890" kern="1200">
                <a:solidFill>
                  <a:schemeClr val="tx1"/>
                </a:solidFill>
                <a:latin typeface="+mn-lt"/>
                <a:ea typeface="+mn-ea"/>
                <a:cs typeface="+mn-cs"/>
              </a:defRPr>
            </a:lvl3pPr>
            <a:lvl4pPr marL="12592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4pPr>
            <a:lvl5pPr marL="16186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5pPr>
            <a:lvl6pPr marL="19786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6pPr>
            <a:lvl7pPr marL="23387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7pPr>
            <a:lvl8pPr marL="26981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8pPr>
            <a:lvl9pPr marL="30581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9pPr>
          </a:lstStyle>
          <a:p>
            <a:pPr marL="609600" indent="-609600">
              <a:lnSpc>
                <a:spcPct val="130000"/>
              </a:lnSpc>
              <a:buFontTx/>
              <a:buNone/>
            </a:pPr>
            <a:r>
              <a:rPr lang="en-US" altLang="zh-CN" sz="1800" b="1" dirty="0">
                <a:latin typeface="微软雅黑" panose="020B0503020204020204" charset="-122"/>
                <a:ea typeface="微软雅黑" panose="020B0503020204020204" charset="-122"/>
              </a:rPr>
              <a:t>6</a:t>
            </a:r>
            <a:r>
              <a:rPr lang="zh-CN" altLang="en-US" sz="1800" b="1" dirty="0">
                <a:latin typeface="微软雅黑" panose="020B0503020204020204" charset="-122"/>
                <a:ea typeface="微软雅黑" panose="020B0503020204020204" charset="-122"/>
              </a:rPr>
              <a:t>、配套设备勘测</a:t>
            </a:r>
            <a:endParaRPr lang="zh-CN" altLang="en-US" sz="1800" b="1" dirty="0">
              <a:latin typeface="微软雅黑" panose="020B0503020204020204" charset="-122"/>
              <a:ea typeface="微软雅黑" panose="020B0503020204020204" charset="-122"/>
            </a:endParaRPr>
          </a:p>
          <a:p>
            <a:pPr marL="609600" indent="-609600">
              <a:lnSpc>
                <a:spcPct val="130000"/>
              </a:lnSpc>
              <a:buFontTx/>
              <a:buNone/>
            </a:pPr>
            <a:r>
              <a:rPr lang="zh-CN" altLang="en-US" sz="1800" b="1" dirty="0">
                <a:latin typeface="微软雅黑" panose="020B0503020204020204" charset="-122"/>
                <a:ea typeface="微软雅黑" panose="020B0503020204020204" charset="-122"/>
              </a:rPr>
              <a:t>  </a:t>
            </a:r>
            <a:endParaRPr lang="zh-CN" altLang="en-US" sz="1800" dirty="0">
              <a:latin typeface="微软雅黑" panose="020B0503020204020204" charset="-122"/>
              <a:ea typeface="微软雅黑" panose="020B0503020204020204" charset="-122"/>
            </a:endParaRPr>
          </a:p>
        </p:txBody>
      </p:sp>
      <p:sp>
        <p:nvSpPr>
          <p:cNvPr id="9" name="矩形 5"/>
          <p:cNvSpPr>
            <a:spLocks noChangeArrowheads="1"/>
          </p:cNvSpPr>
          <p:nvPr/>
        </p:nvSpPr>
        <p:spPr bwMode="auto">
          <a:xfrm>
            <a:off x="684213" y="1292226"/>
            <a:ext cx="7858125"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1</a:t>
            </a:r>
            <a:r>
              <a:rPr lang="zh-CN" altLang="en-US" dirty="0">
                <a:latin typeface="微软雅黑" panose="020B0503020204020204" charset="-122"/>
                <a:ea typeface="微软雅黑" panose="020B0503020204020204" charset="-122"/>
              </a:rPr>
              <a:t>）电力室</a:t>
            </a:r>
            <a:endParaRPr lang="zh-CN" altLang="en-US" dirty="0">
              <a:latin typeface="微软雅黑" panose="020B0503020204020204" charset="-122"/>
              <a:ea typeface="微软雅黑" panose="020B0503020204020204" charset="-122"/>
            </a:endParaRPr>
          </a:p>
          <a:p>
            <a:pPr eaLnBrk="1" hangingPunct="1">
              <a:lnSpc>
                <a:spcPct val="150000"/>
              </a:lnSpc>
              <a:buFont typeface="Wingdings" panose="05000000000000000000" pitchFamily="2" charset="2"/>
              <a:buChar char="Ø"/>
            </a:pPr>
            <a:r>
              <a:rPr lang="zh-CN" altLang="en-US" dirty="0">
                <a:latin typeface="微软雅黑" panose="020B0503020204020204" charset="-122"/>
                <a:ea typeface="微软雅黑" panose="020B0503020204020204" charset="-122"/>
              </a:rPr>
              <a:t>确定电力室位置，作出电力室与通信主设备机房的相对位置草图；</a:t>
            </a:r>
            <a:endParaRPr lang="zh-CN" altLang="en-US" dirty="0">
              <a:latin typeface="微软雅黑" panose="020B0503020204020204" charset="-122"/>
              <a:ea typeface="微软雅黑" panose="020B0503020204020204" charset="-122"/>
            </a:endParaRPr>
          </a:p>
          <a:p>
            <a:pPr eaLnBrk="1" hangingPunct="1">
              <a:lnSpc>
                <a:spcPct val="150000"/>
              </a:lnSpc>
              <a:buFont typeface="Wingdings" panose="05000000000000000000" pitchFamily="2" charset="2"/>
              <a:buChar char="Ø"/>
            </a:pPr>
            <a:r>
              <a:rPr lang="zh-CN" altLang="en-US" dirty="0">
                <a:latin typeface="微软雅黑" panose="020B0503020204020204" charset="-122"/>
                <a:ea typeface="微软雅黑" panose="020B0503020204020204" charset="-122"/>
              </a:rPr>
              <a:t>电力室的交直流供电情况：包括交直流容量、已有交直流配电柜的端子占用情况、蓄电池组容量等；</a:t>
            </a:r>
            <a:endParaRPr lang="zh-CN" altLang="en-US" dirty="0">
              <a:latin typeface="微软雅黑" panose="020B0503020204020204" charset="-122"/>
              <a:ea typeface="微软雅黑" panose="020B0503020204020204" charset="-122"/>
            </a:endParaRPr>
          </a:p>
          <a:p>
            <a:pPr eaLnBrk="1" hangingPunct="1">
              <a:lnSpc>
                <a:spcPct val="150000"/>
              </a:lnSpc>
              <a:buFont typeface="Wingdings" panose="05000000000000000000" pitchFamily="2" charset="2"/>
              <a:buChar char="Ø"/>
            </a:pPr>
            <a:r>
              <a:rPr lang="zh-CN" altLang="en-US" dirty="0">
                <a:latin typeface="微软雅黑" panose="020B0503020204020204" charset="-122"/>
                <a:ea typeface="微软雅黑" panose="020B0503020204020204" charset="-122"/>
              </a:rPr>
              <a:t>确定电源室到通信主设备机房的走线路由。</a:t>
            </a:r>
            <a:endParaRPr lang="en-US" altLang="zh-CN" dirty="0">
              <a:latin typeface="微软雅黑" panose="020B0503020204020204" charset="-122"/>
              <a:ea typeface="微软雅黑" panose="020B0503020204020204" charset="-122"/>
            </a:endParaRPr>
          </a:p>
          <a:p>
            <a:pPr eaLnBrk="1" hangingPunct="1">
              <a:lnSpc>
                <a:spcPct val="150000"/>
              </a:lnSpc>
            </a:pP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2</a:t>
            </a:r>
            <a:r>
              <a:rPr lang="zh-CN" altLang="en-US" dirty="0">
                <a:latin typeface="微软雅黑" panose="020B0503020204020204" charset="-122"/>
                <a:ea typeface="微软雅黑" panose="020B0503020204020204" charset="-122"/>
              </a:rPr>
              <a:t>）设备到各个</a:t>
            </a:r>
            <a:r>
              <a:rPr lang="en-US" altLang="zh-CN" dirty="0">
                <a:latin typeface="微软雅黑" panose="020B0503020204020204" charset="-122"/>
                <a:ea typeface="微软雅黑" panose="020B0503020204020204" charset="-122"/>
              </a:rPr>
              <a:t>DDF</a:t>
            </a: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ODF</a:t>
            </a: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MDF</a:t>
            </a:r>
            <a:r>
              <a:rPr lang="zh-CN" altLang="en-US" dirty="0">
                <a:latin typeface="微软雅黑" panose="020B0503020204020204" charset="-122"/>
                <a:ea typeface="微软雅黑" panose="020B0503020204020204" charset="-122"/>
              </a:rPr>
              <a:t>）之间的位置关系，以及各个配线架的端子占用情况。</a:t>
            </a:r>
            <a:endParaRPr lang="en-US" altLang="zh-CN" dirty="0">
              <a:latin typeface="微软雅黑" panose="020B0503020204020204" charset="-122"/>
              <a:ea typeface="微软雅黑" panose="020B0503020204020204" charset="-122"/>
            </a:endParaRPr>
          </a:p>
          <a:p>
            <a:pPr eaLnBrk="1" hangingPunct="1">
              <a:lnSpc>
                <a:spcPct val="150000"/>
              </a:lnSpc>
            </a:pP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3</a:t>
            </a:r>
            <a:r>
              <a:rPr lang="zh-CN" altLang="en-US" dirty="0">
                <a:latin typeface="微软雅黑" panose="020B0503020204020204" charset="-122"/>
                <a:ea typeface="微软雅黑" panose="020B0503020204020204" charset="-122"/>
              </a:rPr>
              <a:t>）是否需要新增走线架。</a:t>
            </a:r>
            <a:endParaRPr lang="zh-CN" altLang="en-US" dirty="0">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grpSp>
        <p:nvGrpSpPr>
          <p:cNvPr id="8" name="组合 7"/>
          <p:cNvGrpSpPr/>
          <p:nvPr/>
        </p:nvGrpSpPr>
        <p:grpSpPr>
          <a:xfrm>
            <a:off x="1745630" y="465708"/>
            <a:ext cx="6160191" cy="613410"/>
            <a:chOff x="4260" y="638"/>
            <a:chExt cx="8921" cy="966"/>
          </a:xfrm>
        </p:grpSpPr>
        <p:sp>
          <p:nvSpPr>
            <p:cNvPr id="82" name="矩形 81"/>
            <p:cNvSpPr/>
            <p:nvPr/>
          </p:nvSpPr>
          <p:spPr>
            <a:xfrm>
              <a:off x="11754" y="1545"/>
              <a:ext cx="1427" cy="59"/>
            </a:xfrm>
            <a:prstGeom prst="rect">
              <a:avLst/>
            </a:prstGeom>
            <a:solidFill>
              <a:srgbClr val="CBCB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3" name="TextBox 82"/>
            <p:cNvSpPr txBox="1"/>
            <p:nvPr/>
          </p:nvSpPr>
          <p:spPr>
            <a:xfrm>
              <a:off x="7277" y="638"/>
              <a:ext cx="2902" cy="785"/>
            </a:xfrm>
            <a:prstGeom prst="round2SameRect">
              <a:avLst>
                <a:gd name="adj1" fmla="val 27581"/>
                <a:gd name="adj2" fmla="val 0"/>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chemeClr val="lt1"/>
                  </a:solidFill>
                  <a:latin typeface="微软雅黑" panose="020B0503020204020204" charset="-122"/>
                  <a:ea typeface="微软雅黑" panose="020B0503020204020204" charset="-122"/>
                </a:rPr>
                <a:t>目    录</a:t>
              </a:r>
              <a:endParaRPr lang="zh-CN" altLang="en-US" sz="3200" b="1" dirty="0">
                <a:solidFill>
                  <a:schemeClr val="lt1"/>
                </a:solidFill>
                <a:latin typeface="微软雅黑" panose="020B0503020204020204" charset="-122"/>
                <a:ea typeface="微软雅黑" panose="020B0503020204020204" charset="-122"/>
              </a:endParaRPr>
            </a:p>
          </p:txBody>
        </p:sp>
        <p:sp>
          <p:nvSpPr>
            <p:cNvPr id="84" name="矩形 83"/>
            <p:cNvSpPr/>
            <p:nvPr/>
          </p:nvSpPr>
          <p:spPr>
            <a:xfrm>
              <a:off x="4260" y="1545"/>
              <a:ext cx="1427" cy="59"/>
            </a:xfrm>
            <a:prstGeom prst="rect">
              <a:avLst/>
            </a:prstGeom>
            <a:solidFill>
              <a:srgbClr val="E4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5" name="矩形 84"/>
            <p:cNvSpPr/>
            <p:nvPr/>
          </p:nvSpPr>
          <p:spPr>
            <a:xfrm>
              <a:off x="5759" y="1545"/>
              <a:ext cx="1427" cy="59"/>
            </a:xfrm>
            <a:prstGeom prst="rect">
              <a:avLst/>
            </a:prstGeom>
            <a:solidFill>
              <a:srgbClr val="8EC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6" name="矩形 85"/>
            <p:cNvSpPr/>
            <p:nvPr/>
          </p:nvSpPr>
          <p:spPr>
            <a:xfrm>
              <a:off x="7258" y="1545"/>
              <a:ext cx="1427" cy="59"/>
            </a:xfrm>
            <a:prstGeom prst="rect">
              <a:avLst/>
            </a:prstGeom>
            <a:solidFill>
              <a:srgbClr val="E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7" name="矩形 86"/>
            <p:cNvSpPr/>
            <p:nvPr/>
          </p:nvSpPr>
          <p:spPr>
            <a:xfrm>
              <a:off x="8756" y="1545"/>
              <a:ext cx="1427" cy="59"/>
            </a:xfrm>
            <a:prstGeom prst="rect">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8" name="矩形 87"/>
            <p:cNvSpPr/>
            <p:nvPr/>
          </p:nvSpPr>
          <p:spPr>
            <a:xfrm>
              <a:off x="10255" y="1545"/>
              <a:ext cx="1427" cy="59"/>
            </a:xfrm>
            <a:prstGeom prst="rect">
              <a:avLst/>
            </a:prstGeom>
            <a:solidFill>
              <a:srgbClr val="CF01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grpSp>
      <p:cxnSp>
        <p:nvCxnSpPr>
          <p:cNvPr id="52" name="直接连接符 51"/>
          <p:cNvCxnSpPr/>
          <p:nvPr/>
        </p:nvCxnSpPr>
        <p:spPr>
          <a:xfrm>
            <a:off x="1984390" y="2800603"/>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1984390" y="2029078"/>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2056398" y="2155443"/>
            <a:ext cx="4867275" cy="521970"/>
          </a:xfrm>
          <a:prstGeom prst="rect">
            <a:avLst/>
          </a:prstGeom>
          <a:noFill/>
        </p:spPr>
        <p:txBody>
          <a:bodyPr wrap="square" rtlCol="0">
            <a:spAutoFit/>
          </a:bodyPr>
          <a:lstStyle/>
          <a:p>
            <a:r>
              <a:rPr lang="en-US" altLang="zh-CN" sz="2800" dirty="0">
                <a:latin typeface="微软雅黑" panose="020B0503020204020204" charset="-122"/>
                <a:ea typeface="微软雅黑" panose="020B0503020204020204" charset="-122"/>
              </a:rPr>
              <a:t> </a:t>
            </a:r>
            <a:r>
              <a:rPr lang="zh-CN" altLang="en-US" sz="2800" dirty="0">
                <a:latin typeface="微软雅黑" panose="020B0503020204020204" charset="-122"/>
                <a:ea typeface="微软雅黑" panose="020B0503020204020204" charset="-122"/>
              </a:rPr>
              <a:t>二、工程勘察准备</a:t>
            </a:r>
            <a:endParaRPr lang="zh-CN" altLang="en-US" sz="2800" dirty="0">
              <a:latin typeface="微软雅黑" panose="020B0503020204020204" charset="-122"/>
              <a:ea typeface="微软雅黑" panose="020B0503020204020204" charset="-122"/>
            </a:endParaRPr>
          </a:p>
        </p:txBody>
      </p:sp>
      <p:sp>
        <p:nvSpPr>
          <p:cNvPr id="100" name="TextBox 99"/>
          <p:cNvSpPr txBox="1"/>
          <p:nvPr/>
        </p:nvSpPr>
        <p:spPr>
          <a:xfrm>
            <a:off x="2056398" y="1384553"/>
            <a:ext cx="4867275" cy="521970"/>
          </a:xfrm>
          <a:prstGeom prst="rect">
            <a:avLst/>
          </a:prstGeom>
          <a:noFill/>
        </p:spPr>
        <p:txBody>
          <a:bodyPr wrap="square" rtlCol="0">
            <a:spAutoFit/>
          </a:bodyPr>
          <a:lstStyle/>
          <a:p>
            <a:r>
              <a:rPr lang="en-US" altLang="zh-CN" sz="2800" dirty="0">
                <a:latin typeface="微软雅黑" panose="020B0503020204020204" charset="-122"/>
                <a:ea typeface="微软雅黑" panose="020B0503020204020204" charset="-122"/>
              </a:rPr>
              <a:t> </a:t>
            </a:r>
            <a:r>
              <a:rPr lang="zh-CN" altLang="en-US" sz="2800" dirty="0">
                <a:latin typeface="微软雅黑" panose="020B0503020204020204" charset="-122"/>
                <a:ea typeface="微软雅黑" panose="020B0503020204020204" charset="-122"/>
              </a:rPr>
              <a:t>一、</a:t>
            </a:r>
            <a:r>
              <a:rPr kumimoji="1" lang="zh-CN" altLang="en-US" sz="2800" dirty="0">
                <a:latin typeface="微软雅黑" panose="020B0503020204020204" charset="-122"/>
                <a:ea typeface="微软雅黑" panose="020B0503020204020204" charset="-122"/>
              </a:rPr>
              <a:t>工程勘察流程及内容</a:t>
            </a:r>
            <a:endParaRPr kumimoji="1" lang="en-US" altLang="zh-CN" sz="2800" dirty="0">
              <a:latin typeface="微软雅黑" panose="020B0503020204020204" charset="-122"/>
              <a:ea typeface="微软雅黑" panose="020B0503020204020204" charset="-122"/>
            </a:endParaRPr>
          </a:p>
        </p:txBody>
      </p:sp>
      <p:cxnSp>
        <p:nvCxnSpPr>
          <p:cNvPr id="2" name="直接连接符 1"/>
          <p:cNvCxnSpPr/>
          <p:nvPr/>
        </p:nvCxnSpPr>
        <p:spPr>
          <a:xfrm>
            <a:off x="1984390" y="3520058"/>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3" name="TextBox 98"/>
          <p:cNvSpPr txBox="1"/>
          <p:nvPr/>
        </p:nvSpPr>
        <p:spPr>
          <a:xfrm>
            <a:off x="2056398" y="2998088"/>
            <a:ext cx="4867275" cy="521970"/>
          </a:xfrm>
          <a:prstGeom prst="rect">
            <a:avLst/>
          </a:prstGeom>
          <a:noFill/>
        </p:spPr>
        <p:txBody>
          <a:bodyPr wrap="square" rtlCol="0">
            <a:spAutoFit/>
          </a:bodyPr>
          <a:lstStyle/>
          <a:p>
            <a:r>
              <a:rPr lang="en-US" altLang="zh-CN" sz="2800" dirty="0">
                <a:latin typeface="微软雅黑" panose="020B0503020204020204" charset="-122"/>
                <a:ea typeface="微软雅黑" panose="020B0503020204020204" charset="-122"/>
              </a:rPr>
              <a:t> </a:t>
            </a:r>
            <a:r>
              <a:rPr lang="zh-CN" altLang="en-US" sz="2800" dirty="0">
                <a:latin typeface="微软雅黑" panose="020B0503020204020204" charset="-122"/>
                <a:ea typeface="微软雅黑" panose="020B0503020204020204" charset="-122"/>
              </a:rPr>
              <a:t>三、</a:t>
            </a:r>
            <a:r>
              <a:rPr kumimoji="1" lang="zh-CN" altLang="en-US" sz="2800" dirty="0">
                <a:latin typeface="微软雅黑" panose="020B0503020204020204" charset="-122"/>
                <a:ea typeface="微软雅黑" panose="020B0503020204020204" charset="-122"/>
              </a:rPr>
              <a:t>中心机房勘察</a:t>
            </a:r>
            <a:endParaRPr kumimoji="1" lang="en-US" altLang="zh-CN" sz="2800" dirty="0">
              <a:latin typeface="微软雅黑" panose="020B0503020204020204" charset="-122"/>
              <a:ea typeface="微软雅黑" panose="020B0503020204020204" charset="-122"/>
            </a:endParaRPr>
          </a:p>
        </p:txBody>
      </p:sp>
      <p:cxnSp>
        <p:nvCxnSpPr>
          <p:cNvPr id="17" name="直接连接符 16"/>
          <p:cNvCxnSpPr/>
          <p:nvPr/>
        </p:nvCxnSpPr>
        <p:spPr>
          <a:xfrm>
            <a:off x="1961654" y="4210749"/>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134939" y="3616146"/>
            <a:ext cx="4867275" cy="521970"/>
          </a:xfrm>
          <a:prstGeom prst="rect">
            <a:avLst/>
          </a:prstGeom>
          <a:noFill/>
        </p:spPr>
        <p:txBody>
          <a:bodyPr wrap="square" rtlCol="0">
            <a:spAutoFit/>
          </a:bodyPr>
          <a:lstStyle/>
          <a:p>
            <a:r>
              <a:rPr lang="zh-CN" altLang="en-US" sz="2800" b="1" dirty="0">
                <a:solidFill>
                  <a:srgbClr val="F25600"/>
                </a:solidFill>
                <a:latin typeface="微软雅黑" panose="020B0503020204020204" charset="-122"/>
                <a:ea typeface="微软雅黑" panose="020B0503020204020204" charset="-122"/>
              </a:rPr>
              <a:t>四、无线基站勘察</a:t>
            </a:r>
            <a:endParaRPr lang="en-US" altLang="zh-CN" sz="2800" b="1" dirty="0">
              <a:solidFill>
                <a:srgbClr val="F25600"/>
              </a:solidFill>
              <a:latin typeface="微软雅黑" panose="020B0503020204020204" charset="-122"/>
              <a:ea typeface="微软雅黑" panose="020B0503020204020204" charset="-122"/>
            </a:endParaRPr>
          </a:p>
        </p:txBody>
      </p:sp>
      <p:cxnSp>
        <p:nvCxnSpPr>
          <p:cNvPr id="19" name="直接连接符 18"/>
          <p:cNvCxnSpPr/>
          <p:nvPr/>
        </p:nvCxnSpPr>
        <p:spPr>
          <a:xfrm>
            <a:off x="1961654" y="4930204"/>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20" name="TextBox 98"/>
          <p:cNvSpPr txBox="1"/>
          <p:nvPr/>
        </p:nvSpPr>
        <p:spPr>
          <a:xfrm>
            <a:off x="1961654" y="4408234"/>
            <a:ext cx="5201969" cy="523220"/>
          </a:xfrm>
          <a:prstGeom prst="rect">
            <a:avLst/>
          </a:prstGeom>
          <a:noFill/>
        </p:spPr>
        <p:txBody>
          <a:bodyPr wrap="square" rtlCol="0">
            <a:spAutoFit/>
          </a:bodyPr>
          <a:lstStyle/>
          <a:p>
            <a:r>
              <a:rPr lang="zh-CN" altLang="en-US" sz="2800" dirty="0">
                <a:latin typeface="微软雅黑" panose="020B0503020204020204" charset="-122"/>
                <a:ea typeface="微软雅黑" panose="020B0503020204020204" charset="-122"/>
              </a:rPr>
              <a:t>  五、不同建局类别的工程勘察</a:t>
            </a:r>
            <a:endParaRPr kumimoji="1" lang="zh-CN" altLang="en-US" sz="2800" dirty="0">
              <a:latin typeface="微软雅黑" panose="020B0503020204020204" charset="-122"/>
              <a:ea typeface="微软雅黑" panose="020B0503020204020204" charset="-122"/>
            </a:endParaRPr>
          </a:p>
        </p:txBody>
      </p:sp>
      <p:pic>
        <p:nvPicPr>
          <p:cNvPr id="5"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Line 1"/>
          <p:cNvSpPr>
            <a:spLocks noChangeShapeType="1"/>
          </p:cNvSpPr>
          <p:nvPr/>
        </p:nvSpPr>
        <p:spPr bwMode="auto">
          <a:xfrm>
            <a:off x="-36513" y="619125"/>
            <a:ext cx="40005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tailEnd type="triangle" w="med" len="med"/>
              </a14:hiddenLine>
            </a:ext>
          </a:extLst>
        </p:spPr>
        <p:txBody>
          <a:bodyPr/>
          <a:lstStyle/>
          <a:p>
            <a:endParaRPr lang="zh-CN" altLang="en-US"/>
          </a:p>
        </p:txBody>
      </p:sp>
      <p:sp>
        <p:nvSpPr>
          <p:cNvPr id="8" name="Text Box 6"/>
          <p:cNvSpPr txBox="1">
            <a:spLocks noChangeArrowheads="1"/>
          </p:cNvSpPr>
          <p:nvPr/>
        </p:nvSpPr>
        <p:spPr bwMode="auto">
          <a:xfrm>
            <a:off x="592806" y="892875"/>
            <a:ext cx="3286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FF6600"/>
                </a:solidFill>
                <a:latin typeface="黑体" panose="02010609060101010101" pitchFamily="49" charset="-122"/>
                <a:ea typeface="黑体" panose="02010609060101010101" pitchFamily="49" charset="-122"/>
              </a:rPr>
              <a:t>无线基站勘察内容</a:t>
            </a:r>
            <a:endParaRPr lang="zh-CN" altLang="en-US" sz="2800" b="1" dirty="0">
              <a:solidFill>
                <a:srgbClr val="FF6600"/>
              </a:solidFill>
              <a:latin typeface="黑体" panose="02010609060101010101" pitchFamily="49" charset="-122"/>
              <a:ea typeface="黑体" panose="02010609060101010101" pitchFamily="49" charset="-122"/>
            </a:endParaRPr>
          </a:p>
        </p:txBody>
      </p:sp>
      <p:sp>
        <p:nvSpPr>
          <p:cNvPr id="10" name="圆角矩形 9"/>
          <p:cNvSpPr/>
          <p:nvPr/>
        </p:nvSpPr>
        <p:spPr>
          <a:xfrm>
            <a:off x="1235744" y="2060005"/>
            <a:ext cx="500063" cy="2143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chemeClr val="tx1"/>
                </a:solidFill>
                <a:latin typeface="微软雅黑" panose="020B0503020204020204" charset="-122"/>
                <a:ea typeface="微软雅黑" panose="020B0503020204020204" charset="-122"/>
              </a:rPr>
              <a:t>无线基站的勘察</a:t>
            </a:r>
            <a:endParaRPr lang="zh-CN" altLang="en-US" sz="2000" dirty="0">
              <a:solidFill>
                <a:schemeClr val="tx1"/>
              </a:solidFill>
              <a:latin typeface="微软雅黑" panose="020B0503020204020204" charset="-122"/>
              <a:ea typeface="微软雅黑" panose="020B0503020204020204" charset="-122"/>
            </a:endParaRPr>
          </a:p>
        </p:txBody>
      </p:sp>
      <p:sp>
        <p:nvSpPr>
          <p:cNvPr id="11" name="圆角矩形 10"/>
          <p:cNvSpPr/>
          <p:nvPr/>
        </p:nvSpPr>
        <p:spPr>
          <a:xfrm>
            <a:off x="2235869" y="1917130"/>
            <a:ext cx="1285875"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chemeClr val="tx1"/>
                </a:solidFill>
                <a:latin typeface="微软雅黑" panose="020B0503020204020204" charset="-122"/>
                <a:ea typeface="微软雅黑" panose="020B0503020204020204" charset="-122"/>
              </a:rPr>
              <a:t>站址选择勘察</a:t>
            </a:r>
            <a:endParaRPr lang="zh-CN" altLang="en-US" sz="2000" dirty="0">
              <a:solidFill>
                <a:schemeClr val="tx1"/>
              </a:solidFill>
              <a:latin typeface="微软雅黑" panose="020B0503020204020204" charset="-122"/>
              <a:ea typeface="微软雅黑" panose="020B0503020204020204" charset="-122"/>
            </a:endParaRPr>
          </a:p>
        </p:txBody>
      </p:sp>
      <p:sp>
        <p:nvSpPr>
          <p:cNvPr id="13" name="圆角矩形 12"/>
          <p:cNvSpPr/>
          <p:nvPr/>
        </p:nvSpPr>
        <p:spPr>
          <a:xfrm>
            <a:off x="2235869" y="2845817"/>
            <a:ext cx="1285875" cy="5715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chemeClr val="tx1"/>
                </a:solidFill>
                <a:latin typeface="微软雅黑" panose="020B0503020204020204" charset="-122"/>
                <a:ea typeface="微软雅黑" panose="020B0503020204020204" charset="-122"/>
              </a:rPr>
              <a:t>室内安装勘察</a:t>
            </a:r>
            <a:endParaRPr lang="zh-CN" altLang="en-US" sz="2000" dirty="0">
              <a:solidFill>
                <a:schemeClr val="tx1"/>
              </a:solidFill>
              <a:latin typeface="微软雅黑" panose="020B0503020204020204" charset="-122"/>
              <a:ea typeface="微软雅黑" panose="020B0503020204020204" charset="-122"/>
            </a:endParaRPr>
          </a:p>
        </p:txBody>
      </p:sp>
      <p:sp>
        <p:nvSpPr>
          <p:cNvPr id="14" name="圆角矩形 13"/>
          <p:cNvSpPr/>
          <p:nvPr/>
        </p:nvSpPr>
        <p:spPr>
          <a:xfrm>
            <a:off x="2235869" y="3631630"/>
            <a:ext cx="1285875"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chemeClr val="tx1"/>
                </a:solidFill>
                <a:latin typeface="微软雅黑" panose="020B0503020204020204" charset="-122"/>
                <a:ea typeface="微软雅黑" panose="020B0503020204020204" charset="-122"/>
              </a:rPr>
              <a:t>室外安装勘察</a:t>
            </a:r>
            <a:endParaRPr lang="zh-CN" altLang="en-US" sz="2000" dirty="0">
              <a:solidFill>
                <a:schemeClr val="tx1"/>
              </a:solidFill>
              <a:latin typeface="微软雅黑" panose="020B0503020204020204" charset="-122"/>
              <a:ea typeface="微软雅黑" panose="020B0503020204020204" charset="-122"/>
            </a:endParaRPr>
          </a:p>
        </p:txBody>
      </p:sp>
      <p:sp>
        <p:nvSpPr>
          <p:cNvPr id="15" name="圆角矩形 14"/>
          <p:cNvSpPr/>
          <p:nvPr/>
        </p:nvSpPr>
        <p:spPr>
          <a:xfrm>
            <a:off x="4021807" y="1774255"/>
            <a:ext cx="1285875"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chemeClr val="tx1"/>
                </a:solidFill>
                <a:latin typeface="微软雅黑" panose="020B0503020204020204" charset="-122"/>
                <a:ea typeface="微软雅黑" panose="020B0503020204020204" charset="-122"/>
              </a:rPr>
              <a:t>室外防雷系统勘察</a:t>
            </a:r>
            <a:endParaRPr lang="zh-CN" altLang="en-US" sz="2000" dirty="0">
              <a:solidFill>
                <a:schemeClr val="tx1"/>
              </a:solidFill>
              <a:latin typeface="微软雅黑" panose="020B0503020204020204" charset="-122"/>
              <a:ea typeface="微软雅黑" panose="020B0503020204020204" charset="-122"/>
            </a:endParaRPr>
          </a:p>
        </p:txBody>
      </p:sp>
      <p:sp>
        <p:nvSpPr>
          <p:cNvPr id="16" name="圆角矩形 15"/>
          <p:cNvSpPr/>
          <p:nvPr/>
        </p:nvSpPr>
        <p:spPr>
          <a:xfrm>
            <a:off x="4021807" y="2845817"/>
            <a:ext cx="1285875"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chemeClr val="tx1"/>
                </a:solidFill>
                <a:latin typeface="微软雅黑" panose="020B0503020204020204" charset="-122"/>
                <a:ea typeface="微软雅黑" panose="020B0503020204020204" charset="-122"/>
              </a:rPr>
              <a:t>馈线安装勘察</a:t>
            </a:r>
            <a:endParaRPr lang="zh-CN" altLang="en-US" sz="2000" dirty="0">
              <a:solidFill>
                <a:schemeClr val="tx1"/>
              </a:solidFill>
              <a:latin typeface="微软雅黑" panose="020B0503020204020204" charset="-122"/>
              <a:ea typeface="微软雅黑" panose="020B0503020204020204" charset="-122"/>
            </a:endParaRPr>
          </a:p>
        </p:txBody>
      </p:sp>
      <p:sp>
        <p:nvSpPr>
          <p:cNvPr id="17" name="圆角矩形 16"/>
          <p:cNvSpPr/>
          <p:nvPr/>
        </p:nvSpPr>
        <p:spPr>
          <a:xfrm>
            <a:off x="4021807" y="3917380"/>
            <a:ext cx="1285875"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chemeClr val="tx1"/>
                </a:solidFill>
                <a:latin typeface="微软雅黑" panose="020B0503020204020204" charset="-122"/>
                <a:ea typeface="微软雅黑" panose="020B0503020204020204" charset="-122"/>
              </a:rPr>
              <a:t>天线安装勘察</a:t>
            </a:r>
            <a:endParaRPr lang="zh-CN" altLang="en-US" sz="2000" dirty="0">
              <a:solidFill>
                <a:schemeClr val="tx1"/>
              </a:solidFill>
              <a:latin typeface="微软雅黑" panose="020B0503020204020204" charset="-122"/>
              <a:ea typeface="微软雅黑" panose="020B0503020204020204" charset="-122"/>
            </a:endParaRPr>
          </a:p>
        </p:txBody>
      </p:sp>
      <p:sp>
        <p:nvSpPr>
          <p:cNvPr id="18" name="圆角矩形 17"/>
          <p:cNvSpPr/>
          <p:nvPr/>
        </p:nvSpPr>
        <p:spPr>
          <a:xfrm>
            <a:off x="6164932" y="1131317"/>
            <a:ext cx="1714500" cy="4286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chemeClr val="tx1"/>
                </a:solidFill>
                <a:latin typeface="微软雅黑" panose="020B0503020204020204" charset="-122"/>
                <a:ea typeface="微软雅黑" panose="020B0503020204020204" charset="-122"/>
              </a:rPr>
              <a:t>天线在墙顶</a:t>
            </a:r>
            <a:endParaRPr lang="zh-CN" altLang="en-US" sz="2000" dirty="0">
              <a:solidFill>
                <a:schemeClr val="tx1"/>
              </a:solidFill>
              <a:latin typeface="微软雅黑" panose="020B0503020204020204" charset="-122"/>
              <a:ea typeface="微软雅黑" panose="020B0503020204020204" charset="-122"/>
            </a:endParaRPr>
          </a:p>
        </p:txBody>
      </p:sp>
      <p:sp>
        <p:nvSpPr>
          <p:cNvPr id="19" name="圆角矩形 18"/>
          <p:cNvSpPr/>
          <p:nvPr/>
        </p:nvSpPr>
        <p:spPr>
          <a:xfrm>
            <a:off x="6164932" y="1631380"/>
            <a:ext cx="1714500" cy="4286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chemeClr val="tx1"/>
                </a:solidFill>
                <a:latin typeface="微软雅黑" panose="020B0503020204020204" charset="-122"/>
                <a:ea typeface="微软雅黑" panose="020B0503020204020204" charset="-122"/>
              </a:rPr>
              <a:t>天线在铁塔</a:t>
            </a:r>
            <a:endParaRPr lang="zh-CN" altLang="en-US" sz="2000" dirty="0">
              <a:solidFill>
                <a:schemeClr val="tx1"/>
              </a:solidFill>
              <a:latin typeface="微软雅黑" panose="020B0503020204020204" charset="-122"/>
              <a:ea typeface="微软雅黑" panose="020B0503020204020204" charset="-122"/>
            </a:endParaRPr>
          </a:p>
        </p:txBody>
      </p:sp>
      <p:sp>
        <p:nvSpPr>
          <p:cNvPr id="20" name="圆角矩形 19"/>
          <p:cNvSpPr/>
          <p:nvPr/>
        </p:nvSpPr>
        <p:spPr>
          <a:xfrm>
            <a:off x="6164932" y="2131442"/>
            <a:ext cx="1714500" cy="4286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chemeClr val="tx1"/>
                </a:solidFill>
                <a:latin typeface="微软雅黑" panose="020B0503020204020204" charset="-122"/>
                <a:ea typeface="微软雅黑" panose="020B0503020204020204" charset="-122"/>
              </a:rPr>
              <a:t>机顶跳线</a:t>
            </a:r>
            <a:endParaRPr lang="zh-CN" altLang="en-US" sz="2000" dirty="0">
              <a:solidFill>
                <a:schemeClr val="tx1"/>
              </a:solidFill>
              <a:latin typeface="微软雅黑" panose="020B0503020204020204" charset="-122"/>
              <a:ea typeface="微软雅黑" panose="020B0503020204020204" charset="-122"/>
            </a:endParaRPr>
          </a:p>
        </p:txBody>
      </p:sp>
      <p:sp>
        <p:nvSpPr>
          <p:cNvPr id="21" name="圆角矩形 20"/>
          <p:cNvSpPr/>
          <p:nvPr/>
        </p:nvSpPr>
        <p:spPr>
          <a:xfrm>
            <a:off x="6164932" y="2631505"/>
            <a:ext cx="1714500" cy="4286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chemeClr val="tx1"/>
                </a:solidFill>
                <a:latin typeface="微软雅黑" panose="020B0503020204020204" charset="-122"/>
                <a:ea typeface="微软雅黑" panose="020B0503020204020204" charset="-122"/>
              </a:rPr>
              <a:t>主馈线</a:t>
            </a:r>
            <a:endParaRPr lang="zh-CN" altLang="en-US" sz="2000" dirty="0">
              <a:solidFill>
                <a:schemeClr val="tx1"/>
              </a:solidFill>
              <a:latin typeface="微软雅黑" panose="020B0503020204020204" charset="-122"/>
              <a:ea typeface="微软雅黑" panose="020B0503020204020204" charset="-122"/>
            </a:endParaRPr>
          </a:p>
        </p:txBody>
      </p:sp>
      <p:sp>
        <p:nvSpPr>
          <p:cNvPr id="22" name="圆角矩形 21"/>
          <p:cNvSpPr/>
          <p:nvPr/>
        </p:nvSpPr>
        <p:spPr>
          <a:xfrm>
            <a:off x="6164932" y="3131567"/>
            <a:ext cx="1714500" cy="4286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chemeClr val="tx1"/>
                </a:solidFill>
                <a:latin typeface="微软雅黑" panose="020B0503020204020204" charset="-122"/>
                <a:ea typeface="微软雅黑" panose="020B0503020204020204" charset="-122"/>
              </a:rPr>
              <a:t>天线跳线</a:t>
            </a:r>
            <a:endParaRPr lang="zh-CN" altLang="en-US" sz="2000" dirty="0">
              <a:solidFill>
                <a:schemeClr val="tx1"/>
              </a:solidFill>
              <a:latin typeface="微软雅黑" panose="020B0503020204020204" charset="-122"/>
              <a:ea typeface="微软雅黑" panose="020B0503020204020204" charset="-122"/>
            </a:endParaRPr>
          </a:p>
        </p:txBody>
      </p:sp>
      <p:sp>
        <p:nvSpPr>
          <p:cNvPr id="23" name="圆角矩形 22"/>
          <p:cNvSpPr/>
          <p:nvPr/>
        </p:nvSpPr>
        <p:spPr>
          <a:xfrm>
            <a:off x="6164932" y="3631630"/>
            <a:ext cx="1714500" cy="4286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chemeClr val="tx1"/>
                </a:solidFill>
                <a:latin typeface="微软雅黑" panose="020B0503020204020204" charset="-122"/>
                <a:ea typeface="微软雅黑" panose="020B0503020204020204" charset="-122"/>
              </a:rPr>
              <a:t>天线的选择</a:t>
            </a:r>
            <a:endParaRPr lang="zh-CN" altLang="en-US" sz="2000" dirty="0">
              <a:solidFill>
                <a:schemeClr val="tx1"/>
              </a:solidFill>
              <a:latin typeface="微软雅黑" panose="020B0503020204020204" charset="-122"/>
              <a:ea typeface="微软雅黑" panose="020B0503020204020204" charset="-122"/>
            </a:endParaRPr>
          </a:p>
        </p:txBody>
      </p:sp>
      <p:sp>
        <p:nvSpPr>
          <p:cNvPr id="24" name="圆角矩形 23"/>
          <p:cNvSpPr/>
          <p:nvPr/>
        </p:nvSpPr>
        <p:spPr>
          <a:xfrm>
            <a:off x="6164932" y="4131692"/>
            <a:ext cx="1714500" cy="4286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chemeClr val="tx1"/>
                </a:solidFill>
                <a:latin typeface="微软雅黑" panose="020B0503020204020204" charset="-122"/>
                <a:ea typeface="微软雅黑" panose="020B0503020204020204" charset="-122"/>
              </a:rPr>
              <a:t>天线高度</a:t>
            </a:r>
            <a:endParaRPr lang="zh-CN" altLang="en-US" sz="2000" dirty="0">
              <a:solidFill>
                <a:schemeClr val="tx1"/>
              </a:solidFill>
              <a:latin typeface="微软雅黑" panose="020B0503020204020204" charset="-122"/>
              <a:ea typeface="微软雅黑" panose="020B0503020204020204" charset="-122"/>
            </a:endParaRPr>
          </a:p>
        </p:txBody>
      </p:sp>
      <p:sp>
        <p:nvSpPr>
          <p:cNvPr id="25" name="圆角矩形 24"/>
          <p:cNvSpPr/>
          <p:nvPr/>
        </p:nvSpPr>
        <p:spPr>
          <a:xfrm>
            <a:off x="6164932" y="4631755"/>
            <a:ext cx="2571750" cy="4286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chemeClr val="tx1"/>
                </a:solidFill>
                <a:latin typeface="微软雅黑" panose="020B0503020204020204" charset="-122"/>
                <a:ea typeface="微软雅黑" panose="020B0503020204020204" charset="-122"/>
              </a:rPr>
              <a:t>天线方位角、下倾角</a:t>
            </a:r>
            <a:endParaRPr lang="zh-CN" altLang="en-US" sz="2000" dirty="0">
              <a:solidFill>
                <a:schemeClr val="tx1"/>
              </a:solidFill>
              <a:latin typeface="微软雅黑" panose="020B0503020204020204" charset="-122"/>
              <a:ea typeface="微软雅黑" panose="020B0503020204020204" charset="-122"/>
            </a:endParaRPr>
          </a:p>
        </p:txBody>
      </p:sp>
      <p:cxnSp>
        <p:nvCxnSpPr>
          <p:cNvPr id="26" name="直接箭头连接符 25"/>
          <p:cNvCxnSpPr>
            <a:endCxn id="11" idx="1"/>
          </p:cNvCxnSpPr>
          <p:nvPr/>
        </p:nvCxnSpPr>
        <p:spPr>
          <a:xfrm flipV="1">
            <a:off x="1735807" y="2274317"/>
            <a:ext cx="500062" cy="42862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7" name="直接箭头连接符 26"/>
          <p:cNvCxnSpPr>
            <a:stCxn id="10" idx="3"/>
            <a:endCxn id="13" idx="1"/>
          </p:cNvCxnSpPr>
          <p:nvPr/>
        </p:nvCxnSpPr>
        <p:spPr>
          <a:xfrm>
            <a:off x="1735807" y="3131567"/>
            <a:ext cx="500062" cy="158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8" name="直接箭头连接符 27"/>
          <p:cNvCxnSpPr>
            <a:endCxn id="14" idx="1"/>
          </p:cNvCxnSpPr>
          <p:nvPr/>
        </p:nvCxnSpPr>
        <p:spPr>
          <a:xfrm>
            <a:off x="1735807" y="3631630"/>
            <a:ext cx="500062" cy="357187"/>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9" name="直接箭头连接符 28"/>
          <p:cNvCxnSpPr/>
          <p:nvPr/>
        </p:nvCxnSpPr>
        <p:spPr>
          <a:xfrm rot="5400000" flipH="1" flipV="1">
            <a:off x="3057401" y="2738660"/>
            <a:ext cx="1428750" cy="50006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0" name="直接箭头连接符 29"/>
          <p:cNvCxnSpPr/>
          <p:nvPr/>
        </p:nvCxnSpPr>
        <p:spPr>
          <a:xfrm rot="5400000" flipH="1" flipV="1">
            <a:off x="3486026" y="3381598"/>
            <a:ext cx="571500" cy="50006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1" name="直接箭头连接符 30"/>
          <p:cNvCxnSpPr/>
          <p:nvPr/>
        </p:nvCxnSpPr>
        <p:spPr>
          <a:xfrm>
            <a:off x="3521744" y="4131692"/>
            <a:ext cx="500063" cy="2857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2" name="直接箭头连接符 31"/>
          <p:cNvCxnSpPr>
            <a:endCxn id="18" idx="1"/>
          </p:cNvCxnSpPr>
          <p:nvPr/>
        </p:nvCxnSpPr>
        <p:spPr>
          <a:xfrm flipV="1">
            <a:off x="5307682" y="1345630"/>
            <a:ext cx="857250" cy="5715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3" name="直接箭头连接符 32"/>
          <p:cNvCxnSpPr>
            <a:endCxn id="25" idx="1"/>
          </p:cNvCxnSpPr>
          <p:nvPr/>
        </p:nvCxnSpPr>
        <p:spPr>
          <a:xfrm>
            <a:off x="5307682" y="4417442"/>
            <a:ext cx="857250" cy="42862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4" name="直接箭头连接符 33"/>
          <p:cNvCxnSpPr>
            <a:endCxn id="24" idx="1"/>
          </p:cNvCxnSpPr>
          <p:nvPr/>
        </p:nvCxnSpPr>
        <p:spPr>
          <a:xfrm>
            <a:off x="5307682" y="4203130"/>
            <a:ext cx="857250" cy="14287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5" name="直接箭头连接符 34"/>
          <p:cNvCxnSpPr>
            <a:endCxn id="23" idx="1"/>
          </p:cNvCxnSpPr>
          <p:nvPr/>
        </p:nvCxnSpPr>
        <p:spPr>
          <a:xfrm flipV="1">
            <a:off x="5307682" y="3845942"/>
            <a:ext cx="857250" cy="14287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6" name="直接箭头连接符 35"/>
          <p:cNvCxnSpPr>
            <a:endCxn id="22" idx="1"/>
          </p:cNvCxnSpPr>
          <p:nvPr/>
        </p:nvCxnSpPr>
        <p:spPr>
          <a:xfrm>
            <a:off x="5307682" y="3274442"/>
            <a:ext cx="857250" cy="7143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7" name="直接箭头连接符 36"/>
          <p:cNvCxnSpPr>
            <a:endCxn id="21" idx="1"/>
          </p:cNvCxnSpPr>
          <p:nvPr/>
        </p:nvCxnSpPr>
        <p:spPr>
          <a:xfrm flipV="1">
            <a:off x="5307682" y="2845817"/>
            <a:ext cx="857250" cy="2143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8" name="直接箭头连接符 37"/>
          <p:cNvCxnSpPr>
            <a:endCxn id="20" idx="1"/>
          </p:cNvCxnSpPr>
          <p:nvPr/>
        </p:nvCxnSpPr>
        <p:spPr>
          <a:xfrm flipV="1">
            <a:off x="5307682" y="2345755"/>
            <a:ext cx="857250" cy="5715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9" name="直接箭头连接符 38"/>
          <p:cNvCxnSpPr>
            <a:endCxn id="19" idx="1"/>
          </p:cNvCxnSpPr>
          <p:nvPr/>
        </p:nvCxnSpPr>
        <p:spPr>
          <a:xfrm flipV="1">
            <a:off x="5307682" y="1845692"/>
            <a:ext cx="857250" cy="2857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40" name="Text Box 6"/>
          <p:cNvSpPr txBox="1">
            <a:spLocks noChangeArrowheads="1"/>
          </p:cNvSpPr>
          <p:nvPr/>
        </p:nvSpPr>
        <p:spPr bwMode="auto">
          <a:xfrm>
            <a:off x="1128452" y="1138911"/>
            <a:ext cx="617178"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FF6600"/>
                </a:solidFill>
                <a:latin typeface="微软雅黑" panose="020B0503020204020204" charset="-122"/>
                <a:ea typeface="微软雅黑" panose="020B0503020204020204" charset="-122"/>
              </a:rPr>
              <a:t>无线基站勘察流程</a:t>
            </a:r>
            <a:endParaRPr lang="zh-CN" altLang="en-US" sz="2800" b="1" dirty="0">
              <a:solidFill>
                <a:srgbClr val="FF6600"/>
              </a:solidFill>
              <a:latin typeface="微软雅黑" panose="020B0503020204020204" charset="-122"/>
              <a:ea typeface="微软雅黑" panose="020B0503020204020204" charset="-122"/>
            </a:endParaRPr>
          </a:p>
        </p:txBody>
      </p:sp>
      <p:pic>
        <p:nvPicPr>
          <p:cNvPr id="41" name="图片 30"/>
          <p:cNvPicPr>
            <a:picLocks noChangeAspect="1" noChangeArrowheads="1"/>
          </p:cNvPicPr>
          <p:nvPr/>
        </p:nvPicPr>
        <p:blipFill>
          <a:blip r:embed="rId2">
            <a:extLst>
              <a:ext uri="{28A0092B-C50C-407E-A947-70E740481C1C}">
                <a14:useLocalDpi xmlns:a14="http://schemas.microsoft.com/office/drawing/2010/main" val="0"/>
              </a:ext>
            </a:extLst>
          </a:blip>
          <a:srcRect t="4235" r="7513"/>
          <a:stretch>
            <a:fillRect/>
          </a:stretch>
        </p:blipFill>
        <p:spPr bwMode="auto">
          <a:xfrm>
            <a:off x="3329940" y="727710"/>
            <a:ext cx="2618740" cy="4548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6680"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6" name="Rectangle 3"/>
          <p:cNvSpPr txBox="1">
            <a:spLocks noChangeArrowheads="1"/>
          </p:cNvSpPr>
          <p:nvPr/>
        </p:nvSpPr>
        <p:spPr>
          <a:xfrm>
            <a:off x="611188" y="1236723"/>
            <a:ext cx="8137525" cy="3661345"/>
          </a:xfrm>
          <a:prstGeom prst="rect">
            <a:avLst/>
          </a:prstGeom>
        </p:spPr>
        <p:txBody>
          <a:bodyPr vert="horz" lIns="91440" tIns="45720" rIns="91440" bIns="45720" rtlCol="0">
            <a:noAutofit/>
          </a:bodyPr>
          <a:lstStyle>
            <a:lvl1pPr marL="269875" indent="-269240" algn="l" defTabSz="719455" rtl="0" eaLnBrk="1" latinLnBrk="0" hangingPunct="1">
              <a:spcBef>
                <a:spcPts val="75"/>
              </a:spcBef>
              <a:buFont typeface="Arial" panose="020B0604020202020204" pitchFamily="34" charset="0"/>
              <a:buChar char="•"/>
              <a:defRPr sz="2520" kern="1200">
                <a:solidFill>
                  <a:schemeClr val="tx1"/>
                </a:solidFill>
                <a:latin typeface="+mn-lt"/>
                <a:ea typeface="+mn-ea"/>
                <a:cs typeface="+mn-cs"/>
              </a:defRPr>
            </a:lvl1pPr>
            <a:lvl2pPr marL="584835" indent="-224155" algn="l" defTabSz="719455" rtl="0" eaLnBrk="1" latinLnBrk="0" hangingPunct="1">
              <a:spcBef>
                <a:spcPts val="75"/>
              </a:spcBef>
              <a:buFont typeface="Arial" panose="020B0604020202020204" pitchFamily="34" charset="0"/>
              <a:buChar char="–"/>
              <a:defRPr sz="2205" kern="1200">
                <a:solidFill>
                  <a:schemeClr val="tx1"/>
                </a:solidFill>
                <a:latin typeface="+mn-lt"/>
                <a:ea typeface="+mn-ea"/>
                <a:cs typeface="+mn-cs"/>
              </a:defRPr>
            </a:lvl2pPr>
            <a:lvl3pPr marL="899160" indent="-179070" algn="l" defTabSz="719455" rtl="0" eaLnBrk="1" latinLnBrk="0" hangingPunct="1">
              <a:spcBef>
                <a:spcPts val="75"/>
              </a:spcBef>
              <a:buFont typeface="Arial" panose="020B0604020202020204" pitchFamily="34" charset="0"/>
              <a:buChar char="•"/>
              <a:defRPr sz="1890" kern="1200">
                <a:solidFill>
                  <a:schemeClr val="tx1"/>
                </a:solidFill>
                <a:latin typeface="+mn-lt"/>
                <a:ea typeface="+mn-ea"/>
                <a:cs typeface="+mn-cs"/>
              </a:defRPr>
            </a:lvl3pPr>
            <a:lvl4pPr marL="12592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4pPr>
            <a:lvl5pPr marL="16186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5pPr>
            <a:lvl6pPr marL="19786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6pPr>
            <a:lvl7pPr marL="23387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7pPr>
            <a:lvl8pPr marL="26981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8pPr>
            <a:lvl9pPr marL="30581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9pPr>
          </a:lstStyle>
          <a:p>
            <a:pPr marL="609600" indent="-609600">
              <a:lnSpc>
                <a:spcPct val="130000"/>
              </a:lnSpc>
              <a:buFontTx/>
              <a:buNone/>
            </a:pPr>
            <a:r>
              <a:rPr lang="zh-CN" altLang="en-US" sz="1800" b="1" dirty="0">
                <a:latin typeface="微软雅黑" panose="020B0503020204020204" charset="-122"/>
                <a:ea typeface="微软雅黑" panose="020B0503020204020204" charset="-122"/>
              </a:rPr>
              <a:t>        </a:t>
            </a:r>
            <a:r>
              <a:rPr lang="zh-CN" altLang="en-US" sz="1800" dirty="0">
                <a:latin typeface="微软雅黑" panose="020B0503020204020204" charset="-122"/>
                <a:ea typeface="微软雅黑" panose="020B0503020204020204" charset="-122"/>
              </a:rPr>
              <a:t>在完成基站初始布局以后，网络规划工程师要与建设单位以及相关</a:t>
            </a:r>
            <a:endParaRPr lang="en-US" altLang="zh-CN" sz="1800" dirty="0">
              <a:latin typeface="微软雅黑" panose="020B0503020204020204" charset="-122"/>
              <a:ea typeface="微软雅黑" panose="020B0503020204020204" charset="-122"/>
            </a:endParaRPr>
          </a:p>
          <a:p>
            <a:pPr marL="609600" indent="-609600">
              <a:lnSpc>
                <a:spcPct val="130000"/>
              </a:lnSpc>
              <a:buFontTx/>
              <a:buNone/>
            </a:pPr>
            <a:r>
              <a:rPr lang="zh-CN" altLang="en-US" sz="1800" dirty="0">
                <a:latin typeface="微软雅黑" panose="020B0503020204020204" charset="-122"/>
                <a:ea typeface="微软雅黑" panose="020B0503020204020204" charset="-122"/>
              </a:rPr>
              <a:t>工程设计单位一起，</a:t>
            </a:r>
            <a:r>
              <a:rPr lang="zh-CN" altLang="en-US" sz="1800" b="1" dirty="0">
                <a:solidFill>
                  <a:srgbClr val="0066FF"/>
                </a:solidFill>
                <a:latin typeface="微软雅黑" panose="020B0503020204020204" charset="-122"/>
                <a:ea typeface="微软雅黑" panose="020B0503020204020204" charset="-122"/>
              </a:rPr>
              <a:t>根据站点布局图进行站址的选择与勘察</a:t>
            </a:r>
            <a:r>
              <a:rPr lang="zh-CN" altLang="en-US" sz="1800" dirty="0">
                <a:latin typeface="微软雅黑" panose="020B0503020204020204" charset="-122"/>
                <a:ea typeface="微软雅黑" panose="020B0503020204020204" charset="-122"/>
              </a:rPr>
              <a:t>。市区站址</a:t>
            </a:r>
            <a:endParaRPr lang="en-US" altLang="zh-CN" sz="1800" dirty="0">
              <a:latin typeface="微软雅黑" panose="020B0503020204020204" charset="-122"/>
              <a:ea typeface="微软雅黑" panose="020B0503020204020204" charset="-122"/>
            </a:endParaRPr>
          </a:p>
          <a:p>
            <a:pPr marL="609600" indent="-609600">
              <a:lnSpc>
                <a:spcPct val="130000"/>
              </a:lnSpc>
              <a:buFontTx/>
              <a:buNone/>
            </a:pPr>
            <a:r>
              <a:rPr lang="zh-CN" altLang="en-US" sz="1800" dirty="0">
                <a:latin typeface="微软雅黑" panose="020B0503020204020204" charset="-122"/>
                <a:ea typeface="微软雅黑" panose="020B0503020204020204" charset="-122"/>
              </a:rPr>
              <a:t>在初选中应做到房主基本同意用作基站。</a:t>
            </a:r>
            <a:endParaRPr lang="en-US" altLang="zh-CN" sz="1800" dirty="0">
              <a:latin typeface="微软雅黑" panose="020B0503020204020204" charset="-122"/>
              <a:ea typeface="微软雅黑" panose="020B0503020204020204" charset="-122"/>
            </a:endParaRPr>
          </a:p>
          <a:p>
            <a:pPr marL="609600" indent="-609600">
              <a:lnSpc>
                <a:spcPct val="125000"/>
              </a:lnSpc>
              <a:buFontTx/>
              <a:buNone/>
            </a:pPr>
            <a:r>
              <a:rPr lang="en-US" altLang="zh-CN" sz="1800" dirty="0">
                <a:latin typeface="微软雅黑" panose="020B0503020204020204" charset="-122"/>
                <a:ea typeface="微软雅黑" panose="020B0503020204020204" charset="-122"/>
              </a:rPr>
              <a:t>        </a:t>
            </a:r>
            <a:r>
              <a:rPr lang="zh-CN" altLang="en-US" sz="1800" dirty="0">
                <a:latin typeface="微软雅黑" panose="020B0503020204020204" charset="-122"/>
                <a:ea typeface="微软雅黑" panose="020B0503020204020204" charset="-122"/>
              </a:rPr>
              <a:t>初选完成之后，由网络规划工程师、工程设计单位与建设单位</a:t>
            </a:r>
            <a:r>
              <a:rPr lang="zh-CN" altLang="en-US" sz="1800" b="1" dirty="0">
                <a:solidFill>
                  <a:srgbClr val="0066FF"/>
                </a:solidFill>
                <a:latin typeface="微软雅黑" panose="020B0503020204020204" charset="-122"/>
                <a:ea typeface="微软雅黑" panose="020B0503020204020204" charset="-122"/>
              </a:rPr>
              <a:t>进行</a:t>
            </a:r>
            <a:endParaRPr lang="en-US" altLang="zh-CN" sz="1800" b="1" dirty="0">
              <a:solidFill>
                <a:srgbClr val="0066FF"/>
              </a:solidFill>
              <a:latin typeface="微软雅黑" panose="020B0503020204020204" charset="-122"/>
              <a:ea typeface="微软雅黑" panose="020B0503020204020204" charset="-122"/>
            </a:endParaRPr>
          </a:p>
          <a:p>
            <a:pPr marL="609600" indent="-609600">
              <a:lnSpc>
                <a:spcPct val="125000"/>
              </a:lnSpc>
              <a:buFontTx/>
              <a:buNone/>
            </a:pPr>
            <a:r>
              <a:rPr lang="zh-CN" altLang="en-US" sz="1800" b="1" dirty="0">
                <a:solidFill>
                  <a:srgbClr val="0066FF"/>
                </a:solidFill>
                <a:latin typeface="微软雅黑" panose="020B0503020204020204" charset="-122"/>
                <a:ea typeface="微软雅黑" panose="020B0503020204020204" charset="-122"/>
              </a:rPr>
              <a:t>现场查勘，确定站址条件是否满足建站要求</a:t>
            </a:r>
            <a:r>
              <a:rPr lang="zh-CN" altLang="en-US" sz="1800" dirty="0">
                <a:latin typeface="微软雅黑" panose="020B0503020204020204" charset="-122"/>
                <a:ea typeface="微软雅黑" panose="020B0503020204020204" charset="-122"/>
              </a:rPr>
              <a:t>，并确定站址方案，最后由</a:t>
            </a:r>
            <a:endParaRPr lang="en-US" altLang="zh-CN" sz="1800" dirty="0">
              <a:latin typeface="微软雅黑" panose="020B0503020204020204" charset="-122"/>
              <a:ea typeface="微软雅黑" panose="020B0503020204020204" charset="-122"/>
            </a:endParaRPr>
          </a:p>
          <a:p>
            <a:pPr marL="609600" indent="-609600">
              <a:lnSpc>
                <a:spcPct val="125000"/>
              </a:lnSpc>
              <a:buFontTx/>
              <a:buNone/>
            </a:pPr>
            <a:r>
              <a:rPr lang="zh-CN" altLang="en-US" sz="1800" dirty="0">
                <a:latin typeface="微软雅黑" panose="020B0503020204020204" charset="-122"/>
                <a:ea typeface="微软雅黑" panose="020B0503020204020204" charset="-122"/>
              </a:rPr>
              <a:t>建设单位与房主落实站址。选址的要求如下： </a:t>
            </a:r>
            <a:endParaRPr lang="zh-CN" altLang="en-US" sz="1800" dirty="0">
              <a:latin typeface="微软雅黑" panose="020B0503020204020204" charset="-122"/>
              <a:ea typeface="微软雅黑" panose="020B0503020204020204" charset="-122"/>
            </a:endParaRPr>
          </a:p>
          <a:p>
            <a:pPr marL="609600" indent="-609600">
              <a:lnSpc>
                <a:spcPct val="125000"/>
              </a:lnSpc>
              <a:buFontTx/>
              <a:buNone/>
            </a:pPr>
            <a:r>
              <a:rPr lang="zh-CN" altLang="en-US" sz="1800" dirty="0">
                <a:latin typeface="微软雅黑" panose="020B0503020204020204" charset="-122"/>
                <a:ea typeface="微软雅黑" panose="020B0503020204020204" charset="-122"/>
              </a:rPr>
              <a:t>      （</a:t>
            </a:r>
            <a:r>
              <a:rPr lang="en-US" altLang="zh-CN" sz="1800" dirty="0">
                <a:latin typeface="微软雅黑" panose="020B0503020204020204" charset="-122"/>
                <a:ea typeface="微软雅黑" panose="020B0503020204020204" charset="-122"/>
              </a:rPr>
              <a:t>1</a:t>
            </a:r>
            <a:r>
              <a:rPr lang="zh-CN" altLang="en-US" sz="1800" dirty="0">
                <a:latin typeface="微软雅黑" panose="020B0503020204020204" charset="-122"/>
                <a:ea typeface="微软雅黑" panose="020B0503020204020204" charset="-122"/>
              </a:rPr>
              <a:t>）充分利用现有机房；</a:t>
            </a:r>
            <a:endParaRPr lang="zh-CN" altLang="en-US" sz="1800" dirty="0">
              <a:latin typeface="微软雅黑" panose="020B0503020204020204" charset="-122"/>
              <a:ea typeface="微软雅黑" panose="020B0503020204020204" charset="-122"/>
            </a:endParaRPr>
          </a:p>
          <a:p>
            <a:pPr marL="609600" indent="-609600">
              <a:lnSpc>
                <a:spcPct val="125000"/>
              </a:lnSpc>
              <a:buFontTx/>
              <a:buNone/>
            </a:pPr>
            <a:r>
              <a:rPr lang="zh-CN" altLang="en-US" sz="1800" dirty="0">
                <a:latin typeface="微软雅黑" panose="020B0503020204020204" charset="-122"/>
                <a:ea typeface="微软雅黑" panose="020B0503020204020204" charset="-122"/>
              </a:rPr>
              <a:t>      （</a:t>
            </a:r>
            <a:r>
              <a:rPr lang="en-US" altLang="zh-CN" sz="1800" dirty="0">
                <a:latin typeface="微软雅黑" panose="020B0503020204020204" charset="-122"/>
                <a:ea typeface="微软雅黑" panose="020B0503020204020204" charset="-122"/>
              </a:rPr>
              <a:t>2</a:t>
            </a:r>
            <a:r>
              <a:rPr lang="zh-CN" altLang="en-US" sz="1800" dirty="0">
                <a:latin typeface="微软雅黑" panose="020B0503020204020204" charset="-122"/>
                <a:ea typeface="微软雅黑" panose="020B0503020204020204" charset="-122"/>
              </a:rPr>
              <a:t>）使用预规划中的理想站点；</a:t>
            </a:r>
            <a:endParaRPr lang="zh-CN" altLang="en-US" sz="1800" dirty="0">
              <a:latin typeface="微软雅黑" panose="020B0503020204020204" charset="-122"/>
              <a:ea typeface="微软雅黑" panose="020B0503020204020204" charset="-122"/>
            </a:endParaRPr>
          </a:p>
          <a:p>
            <a:pPr marL="609600" indent="-609600">
              <a:lnSpc>
                <a:spcPct val="125000"/>
              </a:lnSpc>
              <a:buFontTx/>
              <a:buNone/>
            </a:pPr>
            <a:r>
              <a:rPr lang="zh-CN" altLang="en-US" sz="1800" dirty="0">
                <a:latin typeface="微软雅黑" panose="020B0503020204020204" charset="-122"/>
                <a:ea typeface="微软雅黑" panose="020B0503020204020204" charset="-122"/>
              </a:rPr>
              <a:t>      （</a:t>
            </a:r>
            <a:r>
              <a:rPr lang="en-US" altLang="zh-CN" sz="1800" dirty="0">
                <a:latin typeface="微软雅黑" panose="020B0503020204020204" charset="-122"/>
                <a:ea typeface="微软雅黑" panose="020B0503020204020204" charset="-122"/>
              </a:rPr>
              <a:t>3</a:t>
            </a:r>
            <a:r>
              <a:rPr lang="zh-CN" altLang="en-US" sz="1800" dirty="0">
                <a:latin typeface="微软雅黑" panose="020B0503020204020204" charset="-122"/>
                <a:ea typeface="微软雅黑" panose="020B0503020204020204" charset="-122"/>
              </a:rPr>
              <a:t>）保证重要区域和人口密集区域的覆盖；</a:t>
            </a:r>
            <a:endParaRPr lang="zh-CN" altLang="en-US" sz="1800" dirty="0">
              <a:latin typeface="微软雅黑" panose="020B0503020204020204" charset="-122"/>
              <a:ea typeface="微软雅黑" panose="020B0503020204020204" charset="-122"/>
            </a:endParaRPr>
          </a:p>
          <a:p>
            <a:pPr marL="609600" indent="-609600">
              <a:lnSpc>
                <a:spcPct val="125000"/>
              </a:lnSpc>
              <a:buFontTx/>
              <a:buNone/>
            </a:pPr>
            <a:r>
              <a:rPr lang="zh-CN" altLang="en-US" sz="1800" dirty="0">
                <a:latin typeface="微软雅黑" panose="020B0503020204020204" charset="-122"/>
                <a:ea typeface="微软雅黑" panose="020B0503020204020204" charset="-122"/>
              </a:rPr>
              <a:t>      （</a:t>
            </a:r>
            <a:r>
              <a:rPr lang="en-US" altLang="zh-CN" sz="1800" dirty="0">
                <a:latin typeface="微软雅黑" panose="020B0503020204020204" charset="-122"/>
                <a:ea typeface="微软雅黑" panose="020B0503020204020204" charset="-122"/>
              </a:rPr>
              <a:t>4</a:t>
            </a:r>
            <a:r>
              <a:rPr lang="zh-CN" altLang="en-US" sz="1800" dirty="0">
                <a:latin typeface="微软雅黑" panose="020B0503020204020204" charset="-122"/>
                <a:ea typeface="微软雅黑" panose="020B0503020204020204" charset="-122"/>
              </a:rPr>
              <a:t>）要求被选建筑物附近尽量开阔 ；</a:t>
            </a:r>
            <a:endParaRPr lang="zh-CN" altLang="en-US" sz="1800" dirty="0">
              <a:latin typeface="微软雅黑" panose="020B0503020204020204" charset="-122"/>
              <a:ea typeface="微软雅黑" panose="020B0503020204020204" charset="-122"/>
            </a:endParaRPr>
          </a:p>
        </p:txBody>
      </p:sp>
      <p:sp>
        <p:nvSpPr>
          <p:cNvPr id="7" name="Text Box 6"/>
          <p:cNvSpPr txBox="1">
            <a:spLocks noChangeArrowheads="1"/>
          </p:cNvSpPr>
          <p:nvPr/>
        </p:nvSpPr>
        <p:spPr bwMode="auto">
          <a:xfrm>
            <a:off x="539750" y="836613"/>
            <a:ext cx="28082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FF6600"/>
                </a:solidFill>
                <a:latin typeface="微软雅黑" panose="020B0503020204020204" charset="-122"/>
                <a:ea typeface="微软雅黑" panose="020B0503020204020204" charset="-122"/>
              </a:rPr>
              <a:t>基站站址勘察</a:t>
            </a:r>
            <a:endParaRPr lang="zh-CN" altLang="en-US" sz="2000" b="1" dirty="0">
              <a:solidFill>
                <a:srgbClr val="FF6600"/>
              </a:solidFill>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8" name="Rectangle 3"/>
          <p:cNvSpPr txBox="1">
            <a:spLocks noChangeArrowheads="1"/>
          </p:cNvSpPr>
          <p:nvPr/>
        </p:nvSpPr>
        <p:spPr>
          <a:xfrm>
            <a:off x="357188" y="1289757"/>
            <a:ext cx="8532812" cy="2992375"/>
          </a:xfrm>
          <a:prstGeom prst="rect">
            <a:avLst/>
          </a:prstGeom>
        </p:spPr>
        <p:txBody>
          <a:bodyPr vert="horz" lIns="91440" tIns="45720" rIns="91440" bIns="45720" rtlCol="0">
            <a:normAutofit/>
          </a:bodyPr>
          <a:lstStyle>
            <a:lvl1pPr marL="269875" indent="-269240" algn="l" defTabSz="719455" rtl="0" eaLnBrk="1" latinLnBrk="0" hangingPunct="1">
              <a:spcBef>
                <a:spcPts val="75"/>
              </a:spcBef>
              <a:buFont typeface="Arial" panose="020B0604020202020204" pitchFamily="34" charset="0"/>
              <a:buChar char="•"/>
              <a:defRPr sz="2520" kern="1200">
                <a:solidFill>
                  <a:schemeClr val="tx1"/>
                </a:solidFill>
                <a:latin typeface="+mn-lt"/>
                <a:ea typeface="+mn-ea"/>
                <a:cs typeface="+mn-cs"/>
              </a:defRPr>
            </a:lvl1pPr>
            <a:lvl2pPr marL="584835" indent="-224155" algn="l" defTabSz="719455" rtl="0" eaLnBrk="1" latinLnBrk="0" hangingPunct="1">
              <a:spcBef>
                <a:spcPts val="75"/>
              </a:spcBef>
              <a:buFont typeface="Arial" panose="020B0604020202020204" pitchFamily="34" charset="0"/>
              <a:buChar char="–"/>
              <a:defRPr sz="2205" kern="1200">
                <a:solidFill>
                  <a:schemeClr val="tx1"/>
                </a:solidFill>
                <a:latin typeface="+mn-lt"/>
                <a:ea typeface="+mn-ea"/>
                <a:cs typeface="+mn-cs"/>
              </a:defRPr>
            </a:lvl2pPr>
            <a:lvl3pPr marL="899160" indent="-179070" algn="l" defTabSz="719455" rtl="0" eaLnBrk="1" latinLnBrk="0" hangingPunct="1">
              <a:spcBef>
                <a:spcPts val="75"/>
              </a:spcBef>
              <a:buFont typeface="Arial" panose="020B0604020202020204" pitchFamily="34" charset="0"/>
              <a:buChar char="•"/>
              <a:defRPr sz="1890" kern="1200">
                <a:solidFill>
                  <a:schemeClr val="tx1"/>
                </a:solidFill>
                <a:latin typeface="+mn-lt"/>
                <a:ea typeface="+mn-ea"/>
                <a:cs typeface="+mn-cs"/>
              </a:defRPr>
            </a:lvl3pPr>
            <a:lvl4pPr marL="12592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4pPr>
            <a:lvl5pPr marL="16186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5pPr>
            <a:lvl6pPr marL="19786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6pPr>
            <a:lvl7pPr marL="23387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7pPr>
            <a:lvl8pPr marL="26981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8pPr>
            <a:lvl9pPr marL="30581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9pPr>
          </a:lstStyle>
          <a:p>
            <a:pPr marL="609600" indent="-609600">
              <a:lnSpc>
                <a:spcPct val="125000"/>
              </a:lnSpc>
              <a:buFontTx/>
              <a:buNone/>
            </a:pP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5</a:t>
            </a:r>
            <a:r>
              <a:rPr lang="zh-CN" altLang="en-US" sz="1800" dirty="0">
                <a:latin typeface="微软雅黑" panose="020B0503020204020204" charset="-122"/>
                <a:ea typeface="微软雅黑" panose="020B0503020204020204" charset="-122"/>
              </a:rPr>
              <a:t>）避免选择很高的山峰 ；</a:t>
            </a:r>
            <a:endParaRPr lang="zh-CN" altLang="en-US" sz="1800" dirty="0">
              <a:latin typeface="微软雅黑" panose="020B0503020204020204" charset="-122"/>
              <a:ea typeface="微软雅黑" panose="020B0503020204020204" charset="-122"/>
            </a:endParaRPr>
          </a:p>
          <a:p>
            <a:pPr marL="609600" indent="-609600">
              <a:lnSpc>
                <a:spcPct val="125000"/>
              </a:lnSpc>
              <a:buFontTx/>
              <a:buNone/>
            </a:pP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6</a:t>
            </a:r>
            <a:r>
              <a:rPr lang="zh-CN" altLang="en-US" sz="1800" dirty="0">
                <a:latin typeface="微软雅黑" panose="020B0503020204020204" charset="-122"/>
                <a:ea typeface="微软雅黑" panose="020B0503020204020204" charset="-122"/>
              </a:rPr>
              <a:t>）新建基站应选在交通方便、市电可用、环境安全及少占良田的地方； </a:t>
            </a:r>
            <a:endParaRPr lang="zh-CN" altLang="en-US" sz="1800" dirty="0">
              <a:latin typeface="微软雅黑" panose="020B0503020204020204" charset="-122"/>
              <a:ea typeface="微软雅黑" panose="020B0503020204020204" charset="-122"/>
            </a:endParaRPr>
          </a:p>
          <a:p>
            <a:pPr marL="609600" indent="-609600">
              <a:lnSpc>
                <a:spcPct val="125000"/>
              </a:lnSpc>
              <a:buFontTx/>
              <a:buNone/>
            </a:pP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7</a:t>
            </a:r>
            <a:r>
              <a:rPr lang="zh-CN" altLang="en-US" sz="1800" dirty="0">
                <a:latin typeface="微软雅黑" panose="020B0503020204020204" charset="-122"/>
                <a:ea typeface="微软雅黑" panose="020B0503020204020204" charset="-122"/>
              </a:rPr>
              <a:t>）避免在大功率无线电发射台、雷达站或其他干扰源附近建站 ；</a:t>
            </a:r>
            <a:endParaRPr lang="zh-CN" altLang="en-US" sz="1800" dirty="0">
              <a:latin typeface="微软雅黑" panose="020B0503020204020204" charset="-122"/>
              <a:ea typeface="微软雅黑" panose="020B0503020204020204" charset="-122"/>
            </a:endParaRPr>
          </a:p>
          <a:p>
            <a:pPr marL="609600" indent="-609600">
              <a:lnSpc>
                <a:spcPct val="125000"/>
              </a:lnSpc>
              <a:buFontTx/>
              <a:buNone/>
            </a:pP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8</a:t>
            </a:r>
            <a:r>
              <a:rPr lang="zh-CN" altLang="en-US" sz="1800" dirty="0">
                <a:latin typeface="微软雅黑" panose="020B0503020204020204" charset="-122"/>
                <a:ea typeface="微软雅黑" panose="020B0503020204020204" charset="-122"/>
              </a:rPr>
              <a:t>）避免在树林、山区、岸比较陡或密集的湖泊区、丘陵城市及有高层 </a:t>
            </a:r>
            <a:endParaRPr lang="en-US" altLang="zh-CN" sz="1800" dirty="0">
              <a:latin typeface="微软雅黑" panose="020B0503020204020204" charset="-122"/>
              <a:ea typeface="微软雅黑" panose="020B0503020204020204" charset="-122"/>
            </a:endParaRPr>
          </a:p>
          <a:p>
            <a:pPr marL="609600" indent="-609600">
              <a:lnSpc>
                <a:spcPct val="125000"/>
              </a:lnSpc>
              <a:buFontTx/>
              <a:buNone/>
            </a:pPr>
            <a:r>
              <a:rPr lang="en-US" altLang="zh-CN" sz="1800" dirty="0">
                <a:latin typeface="微软雅黑" panose="020B0503020204020204" charset="-122"/>
                <a:ea typeface="微软雅黑" panose="020B0503020204020204" charset="-122"/>
              </a:rPr>
              <a:t>           </a:t>
            </a:r>
            <a:r>
              <a:rPr lang="zh-CN" altLang="en-US" sz="1800" dirty="0">
                <a:latin typeface="微软雅黑" panose="020B0503020204020204" charset="-122"/>
                <a:ea typeface="微软雅黑" panose="020B0503020204020204" charset="-122"/>
              </a:rPr>
              <a:t>金属建筑的环境中建站 ；</a:t>
            </a:r>
            <a:endParaRPr lang="zh-CN" altLang="en-US" sz="1800" dirty="0">
              <a:latin typeface="微软雅黑" panose="020B0503020204020204" charset="-122"/>
              <a:ea typeface="微软雅黑" panose="020B0503020204020204" charset="-122"/>
            </a:endParaRPr>
          </a:p>
          <a:p>
            <a:pPr marL="609600" indent="-609600">
              <a:lnSpc>
                <a:spcPct val="125000"/>
              </a:lnSpc>
              <a:buFontTx/>
              <a:buNone/>
            </a:pP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9</a:t>
            </a:r>
            <a:r>
              <a:rPr lang="zh-CN" altLang="en-US" sz="1800" dirty="0">
                <a:latin typeface="微软雅黑" panose="020B0503020204020204" charset="-122"/>
                <a:ea typeface="微软雅黑" panose="020B0503020204020204" charset="-122"/>
              </a:rPr>
              <a:t>）基站应避免建在天线前方近处有高大楼房处 ；</a:t>
            </a:r>
            <a:endParaRPr lang="zh-CN" altLang="en-US" sz="1800" dirty="0">
              <a:latin typeface="微软雅黑" panose="020B0503020204020204" charset="-122"/>
              <a:ea typeface="微软雅黑" panose="020B0503020204020204" charset="-122"/>
            </a:endParaRPr>
          </a:p>
          <a:p>
            <a:pPr marL="609600" indent="-609600">
              <a:lnSpc>
                <a:spcPct val="125000"/>
              </a:lnSpc>
              <a:buFontTx/>
              <a:buNone/>
            </a:pP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10</a:t>
            </a:r>
            <a:r>
              <a:rPr lang="zh-CN" altLang="en-US" sz="1800" dirty="0">
                <a:latin typeface="微软雅黑" panose="020B0503020204020204" charset="-122"/>
                <a:ea typeface="微软雅黑" panose="020B0503020204020204" charset="-122"/>
              </a:rPr>
              <a:t>）两个网络系统的基站尽量共址或靠近选址建站 ；</a:t>
            </a:r>
            <a:endParaRPr lang="zh-CN" altLang="en-US" sz="1800" dirty="0">
              <a:latin typeface="微软雅黑" panose="020B0503020204020204" charset="-122"/>
              <a:ea typeface="微软雅黑" panose="020B0503020204020204" charset="-122"/>
            </a:endParaRPr>
          </a:p>
          <a:p>
            <a:pPr marL="609600" indent="-609600">
              <a:lnSpc>
                <a:spcPct val="125000"/>
              </a:lnSpc>
              <a:buFontTx/>
              <a:buNone/>
            </a:pP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11</a:t>
            </a:r>
            <a:r>
              <a:rPr lang="zh-CN" altLang="en-US" sz="1800" dirty="0">
                <a:latin typeface="微软雅黑" panose="020B0503020204020204" charset="-122"/>
                <a:ea typeface="微软雅黑" panose="020B0503020204020204" charset="-122"/>
              </a:rPr>
              <a:t>）选择机房改造费低、租金少的楼房作为站址 。</a:t>
            </a:r>
            <a:endParaRPr lang="zh-CN" altLang="en-US" sz="1800" dirty="0">
              <a:latin typeface="微软雅黑" panose="020B0503020204020204" charset="-122"/>
              <a:ea typeface="微软雅黑" panose="020B0503020204020204" charset="-122"/>
            </a:endParaRPr>
          </a:p>
        </p:txBody>
      </p:sp>
      <p:sp>
        <p:nvSpPr>
          <p:cNvPr id="9" name="矩形 6"/>
          <p:cNvSpPr>
            <a:spLocks noChangeArrowheads="1"/>
          </p:cNvSpPr>
          <p:nvPr/>
        </p:nvSpPr>
        <p:spPr bwMode="auto">
          <a:xfrm>
            <a:off x="1235454" y="4498156"/>
            <a:ext cx="6643687" cy="400050"/>
          </a:xfrm>
          <a:prstGeom prst="rect">
            <a:avLst/>
          </a:prstGeom>
          <a:noFill/>
          <a:ln w="9525">
            <a:noFill/>
            <a:miter lim="800000"/>
          </a:ln>
        </p:spPr>
        <p:txBody>
          <a:bodyPr>
            <a:spAutoFit/>
          </a:bodyPr>
          <a:lstStyle/>
          <a:p>
            <a:pPr>
              <a:defRPr/>
            </a:pPr>
            <a:r>
              <a:rPr lang="zh-CN" altLang="en-US" sz="2000" b="1" dirty="0">
                <a:solidFill>
                  <a:srgbClr val="0066FF"/>
                </a:solidFill>
                <a:effectLst>
                  <a:outerShdw blurRad="38100" dist="38100" dir="2700000" algn="tl">
                    <a:srgbClr val="000000">
                      <a:alpha val="43137"/>
                    </a:srgbClr>
                  </a:outerShdw>
                </a:effectLst>
                <a:latin typeface="微软雅黑" panose="020B0503020204020204" charset="-122"/>
                <a:ea typeface="微软雅黑" panose="020B0503020204020204" charset="-122"/>
              </a:rPr>
              <a:t>高利用率、覆盖广、地理条件方便、无干扰、费用低</a:t>
            </a:r>
            <a:endParaRPr lang="zh-CN" altLang="en-US" sz="2000" b="1" dirty="0">
              <a:solidFill>
                <a:srgbClr val="0066FF"/>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 name="Text Box 6"/>
          <p:cNvSpPr txBox="1">
            <a:spLocks noChangeArrowheads="1"/>
          </p:cNvSpPr>
          <p:nvPr/>
        </p:nvSpPr>
        <p:spPr bwMode="auto">
          <a:xfrm>
            <a:off x="603095" y="825748"/>
            <a:ext cx="28082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FF6600"/>
                </a:solidFill>
                <a:latin typeface="微软雅黑" panose="020B0503020204020204" charset="-122"/>
                <a:ea typeface="微软雅黑" panose="020B0503020204020204" charset="-122"/>
              </a:rPr>
              <a:t>基站站址勘察</a:t>
            </a:r>
            <a:endParaRPr lang="zh-CN" altLang="en-US" sz="2000" b="1" dirty="0">
              <a:solidFill>
                <a:srgbClr val="FF6600"/>
              </a:solidFill>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1" name="Rectangle 3"/>
          <p:cNvSpPr txBox="1">
            <a:spLocks noChangeArrowheads="1"/>
          </p:cNvSpPr>
          <p:nvPr/>
        </p:nvSpPr>
        <p:spPr>
          <a:xfrm>
            <a:off x="599152" y="1297867"/>
            <a:ext cx="8032750" cy="3416314"/>
          </a:xfrm>
          <a:prstGeom prst="rect">
            <a:avLst/>
          </a:prstGeom>
        </p:spPr>
        <p:txBody>
          <a:bodyPr vert="horz" lIns="91440" tIns="45720" rIns="91440" bIns="45720" rtlCol="0">
            <a:normAutofit/>
          </a:bodyPr>
          <a:lstStyle>
            <a:lvl1pPr marL="269875" indent="-269240" algn="l" defTabSz="719455" rtl="0" eaLnBrk="1" latinLnBrk="0" hangingPunct="1">
              <a:spcBef>
                <a:spcPts val="75"/>
              </a:spcBef>
              <a:buFont typeface="Arial" panose="020B0604020202020204" pitchFamily="34" charset="0"/>
              <a:buChar char="•"/>
              <a:defRPr sz="2520" kern="1200">
                <a:solidFill>
                  <a:schemeClr val="tx1"/>
                </a:solidFill>
                <a:latin typeface="+mn-lt"/>
                <a:ea typeface="+mn-ea"/>
                <a:cs typeface="+mn-cs"/>
              </a:defRPr>
            </a:lvl1pPr>
            <a:lvl2pPr marL="584835" indent="-224155" algn="l" defTabSz="719455" rtl="0" eaLnBrk="1" latinLnBrk="0" hangingPunct="1">
              <a:spcBef>
                <a:spcPts val="75"/>
              </a:spcBef>
              <a:buFont typeface="Arial" panose="020B0604020202020204" pitchFamily="34" charset="0"/>
              <a:buChar char="–"/>
              <a:defRPr sz="2205" kern="1200">
                <a:solidFill>
                  <a:schemeClr val="tx1"/>
                </a:solidFill>
                <a:latin typeface="+mn-lt"/>
                <a:ea typeface="+mn-ea"/>
                <a:cs typeface="+mn-cs"/>
              </a:defRPr>
            </a:lvl2pPr>
            <a:lvl3pPr marL="899160" indent="-179070" algn="l" defTabSz="719455" rtl="0" eaLnBrk="1" latinLnBrk="0" hangingPunct="1">
              <a:spcBef>
                <a:spcPts val="75"/>
              </a:spcBef>
              <a:buFont typeface="Arial" panose="020B0604020202020204" pitchFamily="34" charset="0"/>
              <a:buChar char="•"/>
              <a:defRPr sz="1890" kern="1200">
                <a:solidFill>
                  <a:schemeClr val="tx1"/>
                </a:solidFill>
                <a:latin typeface="+mn-lt"/>
                <a:ea typeface="+mn-ea"/>
                <a:cs typeface="+mn-cs"/>
              </a:defRPr>
            </a:lvl3pPr>
            <a:lvl4pPr marL="12592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4pPr>
            <a:lvl5pPr marL="16186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5pPr>
            <a:lvl6pPr marL="19786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6pPr>
            <a:lvl7pPr marL="23387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7pPr>
            <a:lvl8pPr marL="26981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8pPr>
            <a:lvl9pPr marL="30581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9pPr>
          </a:lstStyle>
          <a:p>
            <a:pPr marL="609600" indent="-609600">
              <a:lnSpc>
                <a:spcPct val="150000"/>
              </a:lnSpc>
              <a:buFontTx/>
              <a:buNone/>
            </a:pPr>
            <a:r>
              <a:rPr lang="zh-CN" altLang="en-US" sz="1800" b="1" dirty="0">
                <a:latin typeface="微软雅黑" panose="020B0503020204020204" charset="-122"/>
                <a:ea typeface="微软雅黑" panose="020B0503020204020204" charset="-122"/>
              </a:rPr>
              <a:t>一、室外防雷系统勘察</a:t>
            </a:r>
            <a:endParaRPr lang="zh-CN" altLang="en-US" sz="1800" b="1" dirty="0">
              <a:latin typeface="微软雅黑" panose="020B0503020204020204" charset="-122"/>
              <a:ea typeface="微软雅黑" panose="020B0503020204020204" charset="-122"/>
            </a:endParaRPr>
          </a:p>
          <a:p>
            <a:pPr marL="609600" indent="-609600">
              <a:lnSpc>
                <a:spcPct val="150000"/>
              </a:lnSpc>
              <a:buFontTx/>
              <a:buNone/>
            </a:pPr>
            <a:r>
              <a:rPr lang="en-US" altLang="zh-CN" sz="1800" b="1" dirty="0">
                <a:solidFill>
                  <a:srgbClr val="0066FF"/>
                </a:solidFill>
                <a:latin typeface="微软雅黑" panose="020B0503020204020204" charset="-122"/>
                <a:ea typeface="微软雅黑" panose="020B0503020204020204" charset="-122"/>
              </a:rPr>
              <a:t>       A</a:t>
            </a:r>
            <a:r>
              <a:rPr lang="zh-CN" altLang="en-US" sz="1800" b="1" dirty="0">
                <a:solidFill>
                  <a:srgbClr val="0066FF"/>
                </a:solidFill>
                <a:latin typeface="微软雅黑" panose="020B0503020204020204" charset="-122"/>
                <a:ea typeface="微软雅黑" panose="020B0503020204020204" charset="-122"/>
              </a:rPr>
              <a:t>、天线安装在楼顶时</a:t>
            </a:r>
            <a:endParaRPr lang="zh-CN" altLang="en-US" sz="1800" b="1" dirty="0">
              <a:solidFill>
                <a:srgbClr val="0066FF"/>
              </a:solidFill>
              <a:latin typeface="微软雅黑" panose="020B0503020204020204" charset="-122"/>
              <a:ea typeface="微软雅黑" panose="020B0503020204020204" charset="-122"/>
            </a:endParaRPr>
          </a:p>
          <a:p>
            <a:pPr marL="609600" indent="-609600">
              <a:lnSpc>
                <a:spcPct val="150000"/>
              </a:lnSpc>
              <a:buFontTx/>
              <a:buNone/>
            </a:pPr>
            <a:r>
              <a:rPr lang="zh-CN" altLang="en-US" sz="1800" b="1" dirty="0">
                <a:latin typeface="微软雅黑" panose="020B0503020204020204" charset="-122"/>
                <a:ea typeface="微软雅黑" panose="020B0503020204020204" charset="-122"/>
              </a:rPr>
              <a:t>（</a:t>
            </a:r>
            <a:r>
              <a:rPr lang="en-US" altLang="zh-CN" sz="1800" b="1" dirty="0">
                <a:latin typeface="微软雅黑" panose="020B0503020204020204" charset="-122"/>
                <a:ea typeface="微软雅黑" panose="020B0503020204020204" charset="-122"/>
              </a:rPr>
              <a:t>1</a:t>
            </a:r>
            <a:r>
              <a:rPr lang="zh-CN" altLang="en-US" sz="1800" b="1" dirty="0">
                <a:latin typeface="微软雅黑" panose="020B0503020204020204" charset="-122"/>
                <a:ea typeface="微软雅黑" panose="020B0503020204020204" charset="-122"/>
              </a:rPr>
              <a:t>）避雷针是否需要安装。</a:t>
            </a:r>
            <a:endParaRPr lang="en-US" altLang="zh-CN" sz="1800" b="1" dirty="0">
              <a:latin typeface="微软雅黑" panose="020B0503020204020204" charset="-122"/>
              <a:ea typeface="微软雅黑" panose="020B0503020204020204" charset="-122"/>
            </a:endParaRPr>
          </a:p>
          <a:p>
            <a:pPr marL="609600" indent="-609600">
              <a:lnSpc>
                <a:spcPct val="150000"/>
              </a:lnSpc>
              <a:buFontTx/>
              <a:buNone/>
            </a:pPr>
            <a:r>
              <a:rPr lang="en-US" altLang="zh-CN" sz="1800" dirty="0">
                <a:latin typeface="微软雅黑" panose="020B0503020204020204" charset="-122"/>
                <a:ea typeface="微软雅黑" panose="020B0503020204020204" charset="-122"/>
              </a:rPr>
              <a:t>          </a:t>
            </a:r>
            <a:r>
              <a:rPr lang="zh-CN" altLang="en-US" sz="1800" dirty="0">
                <a:latin typeface="微软雅黑" panose="020B0503020204020204" charset="-122"/>
                <a:ea typeface="微软雅黑" panose="020B0503020204020204" charset="-122"/>
              </a:rPr>
              <a:t>按照国家民用建筑标准要求，如果建筑高度超过</a:t>
            </a:r>
            <a:r>
              <a:rPr lang="en-US" altLang="zh-CN" sz="1800" dirty="0">
                <a:latin typeface="微软雅黑" panose="020B0503020204020204" charset="-122"/>
                <a:ea typeface="微软雅黑" panose="020B0503020204020204" charset="-122"/>
              </a:rPr>
              <a:t>15</a:t>
            </a:r>
            <a:r>
              <a:rPr lang="zh-CN" altLang="en-US" sz="1800" dirty="0">
                <a:latin typeface="微软雅黑" panose="020B0503020204020204" charset="-122"/>
                <a:ea typeface="微软雅黑" panose="020B0503020204020204" charset="-122"/>
              </a:rPr>
              <a:t>米，必须安装避雷针。天线接收头和避雷针的连线与竖直方向的夹角在平原地区小于</a:t>
            </a:r>
            <a:r>
              <a:rPr lang="en-US" altLang="zh-CN" sz="1800" dirty="0">
                <a:latin typeface="微软雅黑" panose="020B0503020204020204" charset="-122"/>
                <a:ea typeface="微软雅黑" panose="020B0503020204020204" charset="-122"/>
              </a:rPr>
              <a:t>45 ° </a:t>
            </a:r>
            <a:r>
              <a:rPr lang="zh-CN" altLang="en-US" sz="1800" dirty="0">
                <a:latin typeface="微软雅黑" panose="020B0503020204020204" charset="-122"/>
                <a:ea typeface="微软雅黑" panose="020B0503020204020204" charset="-122"/>
              </a:rPr>
              <a:t>，多雷区小于</a:t>
            </a:r>
            <a:r>
              <a:rPr lang="en-US" altLang="zh-CN" sz="1800" dirty="0">
                <a:latin typeface="微软雅黑" panose="020B0503020204020204" charset="-122"/>
                <a:ea typeface="微软雅黑" panose="020B0503020204020204" charset="-122"/>
              </a:rPr>
              <a:t>30°</a:t>
            </a:r>
            <a:r>
              <a:rPr lang="zh-CN" altLang="en-US" sz="1800" dirty="0">
                <a:latin typeface="微软雅黑" panose="020B0503020204020204" charset="-122"/>
                <a:ea typeface="微软雅黑" panose="020B0503020204020204" charset="-122"/>
              </a:rPr>
              <a:t>。</a:t>
            </a:r>
            <a:endParaRPr lang="en-US" altLang="zh-CN" sz="1800" dirty="0">
              <a:latin typeface="微软雅黑" panose="020B0503020204020204" charset="-122"/>
              <a:ea typeface="微软雅黑" panose="020B0503020204020204" charset="-122"/>
            </a:endParaRPr>
          </a:p>
          <a:p>
            <a:pPr marL="609600" indent="-609600">
              <a:lnSpc>
                <a:spcPct val="150000"/>
              </a:lnSpc>
              <a:buFontTx/>
              <a:buNone/>
            </a:pPr>
            <a:r>
              <a:rPr lang="zh-CN" altLang="en-US" sz="1800" b="1" dirty="0">
                <a:latin typeface="微软雅黑" panose="020B0503020204020204" charset="-122"/>
                <a:ea typeface="微软雅黑" panose="020B0503020204020204" charset="-122"/>
              </a:rPr>
              <a:t>（</a:t>
            </a:r>
            <a:r>
              <a:rPr lang="en-US" altLang="zh-CN" sz="1800" b="1" dirty="0">
                <a:latin typeface="微软雅黑" panose="020B0503020204020204" charset="-122"/>
                <a:ea typeface="微软雅黑" panose="020B0503020204020204" charset="-122"/>
              </a:rPr>
              <a:t>2</a:t>
            </a:r>
            <a:r>
              <a:rPr lang="zh-CN" altLang="en-US" sz="1800" b="1" dirty="0">
                <a:latin typeface="微软雅黑" panose="020B0503020204020204" charset="-122"/>
                <a:ea typeface="微软雅黑" panose="020B0503020204020204" charset="-122"/>
              </a:rPr>
              <a:t>）准备天线安装的环境，定位天线以便避雷针的安装。 </a:t>
            </a:r>
            <a:endParaRPr lang="zh-CN" altLang="en-US" sz="1800" b="1" dirty="0">
              <a:latin typeface="微软雅黑" panose="020B0503020204020204" charset="-122"/>
              <a:ea typeface="微软雅黑" panose="020B0503020204020204" charset="-122"/>
            </a:endParaRPr>
          </a:p>
        </p:txBody>
      </p:sp>
      <p:sp>
        <p:nvSpPr>
          <p:cNvPr id="12" name="Rectangle 8"/>
          <p:cNvSpPr>
            <a:spLocks noChangeArrowheads="1"/>
          </p:cNvSpPr>
          <p:nvPr/>
        </p:nvSpPr>
        <p:spPr bwMode="auto">
          <a:xfrm>
            <a:off x="0" y="201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 name="Text Box 9"/>
          <p:cNvSpPr txBox="1">
            <a:spLocks noChangeArrowheads="1"/>
          </p:cNvSpPr>
          <p:nvPr/>
        </p:nvSpPr>
        <p:spPr bwMode="auto">
          <a:xfrm>
            <a:off x="737518" y="897756"/>
            <a:ext cx="56435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FF6600"/>
                </a:solidFill>
                <a:latin typeface="微软雅黑" panose="020B0503020204020204" charset="-122"/>
                <a:ea typeface="微软雅黑" panose="020B0503020204020204" charset="-122"/>
              </a:rPr>
              <a:t>基站防雷系统勘察</a:t>
            </a:r>
            <a:endParaRPr lang="zh-CN" altLang="en-US" sz="2000" b="1" dirty="0">
              <a:solidFill>
                <a:srgbClr val="FF6600"/>
              </a:solidFill>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Rectangle 8"/>
          <p:cNvSpPr>
            <a:spLocks noChangeArrowheads="1"/>
          </p:cNvSpPr>
          <p:nvPr/>
        </p:nvSpPr>
        <p:spPr bwMode="auto">
          <a:xfrm>
            <a:off x="0" y="201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 name="Rectangle 3"/>
          <p:cNvSpPr txBox="1">
            <a:spLocks noChangeArrowheads="1"/>
          </p:cNvSpPr>
          <p:nvPr/>
        </p:nvSpPr>
        <p:spPr>
          <a:xfrm>
            <a:off x="611188" y="1122187"/>
            <a:ext cx="7604125" cy="3736009"/>
          </a:xfrm>
          <a:prstGeom prst="rect">
            <a:avLst/>
          </a:prstGeom>
        </p:spPr>
        <p:txBody>
          <a:bodyPr vert="horz" lIns="91440" tIns="45720" rIns="91440" bIns="45720" rtlCol="0">
            <a:normAutofit/>
          </a:bodyPr>
          <a:lstStyle>
            <a:lvl1pPr marL="269875" indent="-269240" algn="l" defTabSz="719455" rtl="0" eaLnBrk="1" latinLnBrk="0" hangingPunct="1">
              <a:spcBef>
                <a:spcPts val="75"/>
              </a:spcBef>
              <a:buFont typeface="Arial" panose="020B0604020202020204" pitchFamily="34" charset="0"/>
              <a:buChar char="•"/>
              <a:defRPr sz="2520" kern="1200">
                <a:solidFill>
                  <a:schemeClr val="tx1"/>
                </a:solidFill>
                <a:latin typeface="+mn-lt"/>
                <a:ea typeface="+mn-ea"/>
                <a:cs typeface="+mn-cs"/>
              </a:defRPr>
            </a:lvl1pPr>
            <a:lvl2pPr marL="584835" indent="-224155" algn="l" defTabSz="719455" rtl="0" eaLnBrk="1" latinLnBrk="0" hangingPunct="1">
              <a:spcBef>
                <a:spcPts val="75"/>
              </a:spcBef>
              <a:buFont typeface="Arial" panose="020B0604020202020204" pitchFamily="34" charset="0"/>
              <a:buChar char="–"/>
              <a:defRPr sz="2205" kern="1200">
                <a:solidFill>
                  <a:schemeClr val="tx1"/>
                </a:solidFill>
                <a:latin typeface="+mn-lt"/>
                <a:ea typeface="+mn-ea"/>
                <a:cs typeface="+mn-cs"/>
              </a:defRPr>
            </a:lvl2pPr>
            <a:lvl3pPr marL="899160" indent="-179070" algn="l" defTabSz="719455" rtl="0" eaLnBrk="1" latinLnBrk="0" hangingPunct="1">
              <a:spcBef>
                <a:spcPts val="75"/>
              </a:spcBef>
              <a:buFont typeface="Arial" panose="020B0604020202020204" pitchFamily="34" charset="0"/>
              <a:buChar char="•"/>
              <a:defRPr sz="1890" kern="1200">
                <a:solidFill>
                  <a:schemeClr val="tx1"/>
                </a:solidFill>
                <a:latin typeface="+mn-lt"/>
                <a:ea typeface="+mn-ea"/>
                <a:cs typeface="+mn-cs"/>
              </a:defRPr>
            </a:lvl3pPr>
            <a:lvl4pPr marL="12592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4pPr>
            <a:lvl5pPr marL="16186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5pPr>
            <a:lvl6pPr marL="19786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6pPr>
            <a:lvl7pPr marL="233870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7pPr>
            <a:lvl8pPr marL="2698115"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8pPr>
            <a:lvl9pPr marL="3058160" indent="-179070" algn="l" defTabSz="719455" rtl="0" eaLnBrk="1" latinLnBrk="0" hangingPunct="1">
              <a:spcBef>
                <a:spcPts val="75"/>
              </a:spcBef>
              <a:buFont typeface="Arial" panose="020B0604020202020204" pitchFamily="34" charset="0"/>
              <a:buChar char="•"/>
              <a:defRPr sz="1575" kern="1200">
                <a:solidFill>
                  <a:schemeClr val="tx1"/>
                </a:solidFill>
                <a:latin typeface="+mn-lt"/>
                <a:ea typeface="+mn-ea"/>
                <a:cs typeface="+mn-cs"/>
              </a:defRPr>
            </a:lvl9pPr>
          </a:lstStyle>
          <a:p>
            <a:pPr marL="609600" indent="-609600">
              <a:lnSpc>
                <a:spcPct val="150000"/>
              </a:lnSpc>
              <a:buFontTx/>
              <a:buNone/>
            </a:pPr>
            <a:r>
              <a:rPr lang="en-US" altLang="zh-CN" sz="1800" b="1" dirty="0">
                <a:solidFill>
                  <a:srgbClr val="0066FF"/>
                </a:solidFill>
                <a:latin typeface="微软雅黑" panose="020B0503020204020204" charset="-122"/>
                <a:ea typeface="微软雅黑" panose="020B0503020204020204" charset="-122"/>
              </a:rPr>
              <a:t>    B</a:t>
            </a:r>
            <a:r>
              <a:rPr lang="zh-CN" altLang="en-US" sz="1800" b="1" dirty="0">
                <a:solidFill>
                  <a:srgbClr val="0066FF"/>
                </a:solidFill>
                <a:latin typeface="微软雅黑" panose="020B0503020204020204" charset="-122"/>
                <a:ea typeface="微软雅黑" panose="020B0503020204020204" charset="-122"/>
              </a:rPr>
              <a:t>、天线安装在铁塔上时</a:t>
            </a:r>
            <a:endParaRPr lang="zh-CN" altLang="en-US" sz="1800" b="1" dirty="0">
              <a:solidFill>
                <a:srgbClr val="0066FF"/>
              </a:solidFill>
              <a:latin typeface="微软雅黑" panose="020B0503020204020204" charset="-122"/>
              <a:ea typeface="微软雅黑" panose="020B0503020204020204" charset="-122"/>
            </a:endParaRPr>
          </a:p>
          <a:p>
            <a:pPr marL="609600" indent="-609600">
              <a:lnSpc>
                <a:spcPct val="150000"/>
              </a:lnSpc>
              <a:buFontTx/>
              <a:buNone/>
            </a:pPr>
            <a:r>
              <a:rPr lang="zh-CN" altLang="en-US" sz="1800" b="1" dirty="0">
                <a:latin typeface="微软雅黑" panose="020B0503020204020204" charset="-122"/>
                <a:ea typeface="微软雅黑" panose="020B0503020204020204" charset="-122"/>
              </a:rPr>
              <a:t>（</a:t>
            </a:r>
            <a:r>
              <a:rPr lang="en-US" altLang="zh-CN" sz="1800" b="1" dirty="0">
                <a:latin typeface="微软雅黑" panose="020B0503020204020204" charset="-122"/>
                <a:ea typeface="微软雅黑" panose="020B0503020204020204" charset="-122"/>
              </a:rPr>
              <a:t>1</a:t>
            </a:r>
            <a:r>
              <a:rPr lang="zh-CN" altLang="en-US" sz="1800" b="1" dirty="0">
                <a:latin typeface="微软雅黑" panose="020B0503020204020204" charset="-122"/>
                <a:ea typeface="微软雅黑" panose="020B0503020204020204" charset="-122"/>
              </a:rPr>
              <a:t>）天线安装的勘察</a:t>
            </a:r>
            <a:r>
              <a:rPr lang="zh-CN" altLang="en-US" sz="1800" dirty="0">
                <a:latin typeface="微软雅黑" panose="020B0503020204020204" charset="-122"/>
                <a:ea typeface="微软雅黑" panose="020B0503020204020204" charset="-122"/>
              </a:rPr>
              <a:t>。</a:t>
            </a:r>
            <a:endParaRPr lang="en-US" altLang="zh-CN" sz="1800" dirty="0">
              <a:latin typeface="微软雅黑" panose="020B0503020204020204" charset="-122"/>
              <a:ea typeface="微软雅黑" panose="020B0503020204020204" charset="-122"/>
            </a:endParaRPr>
          </a:p>
          <a:p>
            <a:pPr marL="609600" indent="-609600">
              <a:lnSpc>
                <a:spcPct val="150000"/>
              </a:lnSpc>
              <a:buFontTx/>
              <a:buNone/>
            </a:pPr>
            <a:r>
              <a:rPr lang="zh-CN" altLang="en-US" sz="1800" dirty="0">
                <a:latin typeface="微软雅黑" panose="020B0503020204020204" charset="-122"/>
                <a:ea typeface="微软雅黑" panose="020B0503020204020204" charset="-122"/>
              </a:rPr>
              <a:t>          由发射功率的需要</a:t>
            </a:r>
            <a:r>
              <a:rPr lang="zh-CN" altLang="en-US" sz="1800" b="1" dirty="0">
                <a:latin typeface="微软雅黑" panose="020B0503020204020204" charset="-122"/>
                <a:ea typeface="微软雅黑" panose="020B0503020204020204" charset="-122"/>
              </a:rPr>
              <a:t>搭建合适的天线</a:t>
            </a:r>
            <a:r>
              <a:rPr lang="zh-CN" altLang="en-US" sz="1800" dirty="0">
                <a:latin typeface="微软雅黑" panose="020B0503020204020204" charset="-122"/>
                <a:ea typeface="微软雅黑" panose="020B0503020204020204" charset="-122"/>
              </a:rPr>
              <a:t>，由此确定避雷针的高度和铁塔的高度。 </a:t>
            </a:r>
            <a:endParaRPr lang="zh-CN" altLang="en-US" sz="1800" dirty="0">
              <a:latin typeface="微软雅黑" panose="020B0503020204020204" charset="-122"/>
              <a:ea typeface="微软雅黑" panose="020B0503020204020204" charset="-122"/>
            </a:endParaRPr>
          </a:p>
          <a:p>
            <a:pPr marL="609600" indent="-609600">
              <a:lnSpc>
                <a:spcPct val="150000"/>
              </a:lnSpc>
              <a:buFontTx/>
              <a:buNone/>
            </a:pPr>
            <a:r>
              <a:rPr lang="zh-CN" altLang="en-US" sz="1800" b="1" dirty="0">
                <a:latin typeface="微软雅黑" panose="020B0503020204020204" charset="-122"/>
                <a:ea typeface="微软雅黑" panose="020B0503020204020204" charset="-122"/>
              </a:rPr>
              <a:t>（</a:t>
            </a:r>
            <a:r>
              <a:rPr lang="en-US" altLang="zh-CN" sz="1800" b="1" dirty="0">
                <a:latin typeface="微软雅黑" panose="020B0503020204020204" charset="-122"/>
                <a:ea typeface="微软雅黑" panose="020B0503020204020204" charset="-122"/>
              </a:rPr>
              <a:t>2</a:t>
            </a:r>
            <a:r>
              <a:rPr lang="zh-CN" altLang="en-US" sz="1800" b="1" dirty="0">
                <a:latin typeface="微软雅黑" panose="020B0503020204020204" charset="-122"/>
                <a:ea typeface="微软雅黑" panose="020B0503020204020204" charset="-122"/>
              </a:rPr>
              <a:t>）</a:t>
            </a:r>
            <a:r>
              <a:rPr lang="en-US" altLang="zh-CN" sz="1800" b="1" dirty="0">
                <a:latin typeface="微软雅黑" panose="020B0503020204020204" charset="-122"/>
                <a:ea typeface="微软雅黑" panose="020B0503020204020204" charset="-122"/>
              </a:rPr>
              <a:t>GPS</a:t>
            </a:r>
            <a:r>
              <a:rPr lang="zh-CN" altLang="en-US" sz="1800" b="1" dirty="0">
                <a:latin typeface="微软雅黑" panose="020B0503020204020204" charset="-122"/>
                <a:ea typeface="微软雅黑" panose="020B0503020204020204" charset="-122"/>
              </a:rPr>
              <a:t>天线在铁塔上安装位置的勘察。</a:t>
            </a:r>
            <a:endParaRPr lang="en-US" altLang="zh-CN" sz="1800" b="1" dirty="0">
              <a:latin typeface="微软雅黑" panose="020B0503020204020204" charset="-122"/>
              <a:ea typeface="微软雅黑" panose="020B0503020204020204" charset="-122"/>
            </a:endParaRPr>
          </a:p>
          <a:p>
            <a:pPr marL="609600" indent="-609600">
              <a:lnSpc>
                <a:spcPct val="150000"/>
              </a:lnSpc>
              <a:buFontTx/>
              <a:buNone/>
            </a:pPr>
            <a:r>
              <a:rPr lang="en-US" altLang="zh-CN" sz="1800" b="1" dirty="0">
                <a:latin typeface="微软雅黑" panose="020B0503020204020204" charset="-122"/>
                <a:ea typeface="微软雅黑" panose="020B0503020204020204" charset="-122"/>
              </a:rPr>
              <a:t>          </a:t>
            </a:r>
            <a:r>
              <a:rPr lang="zh-CN" altLang="en-US" sz="1800" dirty="0">
                <a:latin typeface="微软雅黑" panose="020B0503020204020204" charset="-122"/>
                <a:ea typeface="微软雅黑" panose="020B0503020204020204" charset="-122"/>
              </a:rPr>
              <a:t>安装在铁塔上，必须安装在铁塔下部距离地面不高于</a:t>
            </a:r>
            <a:r>
              <a:rPr lang="en-US" altLang="zh-CN" sz="1800" dirty="0">
                <a:latin typeface="微软雅黑" panose="020B0503020204020204" charset="-122"/>
                <a:ea typeface="微软雅黑" panose="020B0503020204020204" charset="-122"/>
              </a:rPr>
              <a:t>5 m</a:t>
            </a:r>
            <a:r>
              <a:rPr lang="zh-CN" altLang="en-US" sz="1800" dirty="0">
                <a:latin typeface="微软雅黑" panose="020B0503020204020204" charset="-122"/>
                <a:ea typeface="微软雅黑" panose="020B0503020204020204" charset="-122"/>
              </a:rPr>
              <a:t>处，通常选择楼顶或者铁塔下部的一个安全位置（防雷）。</a:t>
            </a:r>
            <a:endParaRPr lang="zh-CN" altLang="en-US" sz="1800" dirty="0">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Rectangle 8"/>
          <p:cNvSpPr>
            <a:spLocks noChangeArrowheads="1"/>
          </p:cNvSpPr>
          <p:nvPr/>
        </p:nvSpPr>
        <p:spPr bwMode="auto">
          <a:xfrm>
            <a:off x="0" y="201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 name="对象 1"/>
          <p:cNvGraphicFramePr>
            <a:graphicFrameLocks noChangeAspect="1"/>
          </p:cNvGraphicFramePr>
          <p:nvPr/>
        </p:nvGraphicFramePr>
        <p:xfrm>
          <a:off x="809099" y="969764"/>
          <a:ext cx="3887787" cy="3888432"/>
        </p:xfrm>
        <a:graphic>
          <a:graphicData uri="http://schemas.openxmlformats.org/presentationml/2006/ole">
            <mc:AlternateContent xmlns:mc="http://schemas.openxmlformats.org/markup-compatibility/2006">
              <mc:Choice xmlns:v="urn:schemas-microsoft-com:vml" Requires="v">
                <p:oleObj spid="_x0000_s1040" name="Visio" r:id="rId2" imgW="5194300" imgH="6134100" progId="Visio.Drawing.11">
                  <p:embed/>
                </p:oleObj>
              </mc:Choice>
              <mc:Fallback>
                <p:oleObj name="Visio" r:id="rId2" imgW="5194300" imgH="6134100" progId="Visio.Drawing.11">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t="10049"/>
                      <a:stretch>
                        <a:fillRect/>
                      </a:stretch>
                    </p:blipFill>
                    <p:spPr bwMode="auto">
                      <a:xfrm>
                        <a:off x="809099" y="969764"/>
                        <a:ext cx="3887787" cy="3888432"/>
                      </a:xfrm>
                      <a:prstGeom prst="rect">
                        <a:avLst/>
                      </a:prstGeom>
                      <a:noFill/>
                      <a:ln>
                        <a:noFill/>
                      </a:ln>
                    </p:spPr>
                  </p:pic>
                </p:oleObj>
              </mc:Fallback>
            </mc:AlternateContent>
          </a:graphicData>
        </a:graphic>
      </p:graphicFrame>
      <p:graphicFrame>
        <p:nvGraphicFramePr>
          <p:cNvPr id="6" name="对象 5"/>
          <p:cNvGraphicFramePr>
            <a:graphicFrameLocks noChangeAspect="1"/>
          </p:cNvGraphicFramePr>
          <p:nvPr/>
        </p:nvGraphicFramePr>
        <p:xfrm>
          <a:off x="4912469" y="969764"/>
          <a:ext cx="3817937" cy="3888432"/>
        </p:xfrm>
        <a:graphic>
          <a:graphicData uri="http://schemas.openxmlformats.org/presentationml/2006/ole">
            <mc:AlternateContent xmlns:mc="http://schemas.openxmlformats.org/markup-compatibility/2006">
              <mc:Choice xmlns:v="urn:schemas-microsoft-com:vml" Requires="v">
                <p:oleObj spid="_x0000_s1041" name="Visio" r:id="rId4" imgW="5803900" imgH="7493000" progId="Visio.Drawing.11">
                  <p:embed/>
                </p:oleObj>
              </mc:Choice>
              <mc:Fallback>
                <p:oleObj name="Visio" r:id="rId4" imgW="5803900" imgH="7493000" progId="Visio.Drawing.11">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t="4968"/>
                      <a:stretch>
                        <a:fillRect/>
                      </a:stretch>
                    </p:blipFill>
                    <p:spPr bwMode="auto">
                      <a:xfrm>
                        <a:off x="4912469" y="969764"/>
                        <a:ext cx="3817937" cy="3888432"/>
                      </a:xfrm>
                      <a:prstGeom prst="rect">
                        <a:avLst/>
                      </a:prstGeom>
                      <a:noFill/>
                      <a:ln>
                        <a:noFill/>
                      </a:ln>
                    </p:spPr>
                  </p:pic>
                </p:oleObj>
              </mc:Fallback>
            </mc:AlternateContent>
          </a:graphicData>
        </a:graphic>
      </p:graphicFrame>
      <p:pic>
        <p:nvPicPr>
          <p:cNvPr id="7" name="图片 5" descr="校徽"/>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Rectangle 8"/>
          <p:cNvSpPr>
            <a:spLocks noChangeArrowheads="1"/>
          </p:cNvSpPr>
          <p:nvPr/>
        </p:nvSpPr>
        <p:spPr bwMode="auto">
          <a:xfrm>
            <a:off x="0" y="201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8" name="Picture 2" descr="C:\Users\huizhi\Desktop\电信工程短训PPT\通信基础设备图片\图片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9125" y="1402080"/>
            <a:ext cx="5808345" cy="3715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9"/>
          <p:cNvSpPr txBox="1">
            <a:spLocks noChangeArrowheads="1"/>
          </p:cNvSpPr>
          <p:nvPr/>
        </p:nvSpPr>
        <p:spPr bwMode="auto">
          <a:xfrm>
            <a:off x="665510" y="847695"/>
            <a:ext cx="56435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FF6600"/>
                </a:solidFill>
                <a:latin typeface="微软雅黑" panose="020B0503020204020204" charset="-122"/>
                <a:ea typeface="微软雅黑" panose="020B0503020204020204" charset="-122"/>
              </a:rPr>
              <a:t>室外馈线勘察</a:t>
            </a:r>
            <a:endParaRPr lang="zh-CN" altLang="en-US" sz="2000" b="1" dirty="0">
              <a:solidFill>
                <a:srgbClr val="FF6600"/>
              </a:solidFill>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Rectangle 8"/>
          <p:cNvSpPr>
            <a:spLocks noChangeArrowheads="1"/>
          </p:cNvSpPr>
          <p:nvPr/>
        </p:nvSpPr>
        <p:spPr bwMode="auto">
          <a:xfrm>
            <a:off x="0" y="201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1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1560" y="862965"/>
            <a:ext cx="5016500" cy="4355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7" name="Text Box 14"/>
          <p:cNvSpPr txBox="1">
            <a:spLocks noChangeArrowheads="1"/>
          </p:cNvSpPr>
          <p:nvPr/>
        </p:nvSpPr>
        <p:spPr bwMode="auto">
          <a:xfrm>
            <a:off x="857250" y="825748"/>
            <a:ext cx="7272338" cy="4104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lang="en-US" altLang="zh-CN" b="1" dirty="0">
                <a:latin typeface="微软雅黑" panose="020B0503020204020204" charset="-122"/>
                <a:ea typeface="微软雅黑" panose="020B0503020204020204" charset="-122"/>
              </a:rPr>
              <a:t>A</a:t>
            </a:r>
            <a:r>
              <a:rPr lang="zh-CN" altLang="en-US" b="1" dirty="0">
                <a:latin typeface="微软雅黑" panose="020B0503020204020204" charset="-122"/>
                <a:ea typeface="微软雅黑" panose="020B0503020204020204" charset="-122"/>
              </a:rPr>
              <a:t>、接口的勘测</a:t>
            </a:r>
            <a:endParaRPr lang="zh-CN" altLang="en-US" b="1" dirty="0">
              <a:latin typeface="微软雅黑" panose="020B0503020204020204" charset="-122"/>
              <a:ea typeface="微软雅黑" panose="020B0503020204020204" charset="-122"/>
            </a:endParaRPr>
          </a:p>
          <a:p>
            <a:pPr eaLnBrk="1" hangingPunct="1">
              <a:lnSpc>
                <a:spcPct val="120000"/>
              </a:lnSpc>
              <a:spcBef>
                <a:spcPct val="50000"/>
              </a:spcBef>
            </a:pPr>
            <a:r>
              <a:rPr lang="zh-CN" altLang="en-US" dirty="0">
                <a:latin typeface="微软雅黑" panose="020B0503020204020204" charset="-122"/>
                <a:ea typeface="微软雅黑" panose="020B0503020204020204" charset="-122"/>
              </a:rPr>
              <a:t>      主馈线与避雷器、主馈线与天线跳线、天线跳线与天线、机顶跳线与避雷器之间的</a:t>
            </a:r>
            <a:r>
              <a:rPr lang="zh-CN" altLang="en-US" b="1" dirty="0">
                <a:solidFill>
                  <a:srgbClr val="0066FF"/>
                </a:solidFill>
                <a:latin typeface="微软雅黑" panose="020B0503020204020204" charset="-122"/>
                <a:ea typeface="微软雅黑" panose="020B0503020204020204" charset="-122"/>
              </a:rPr>
              <a:t>接口对应</a:t>
            </a:r>
            <a:r>
              <a:rPr lang="zh-CN" altLang="en-US" dirty="0">
                <a:latin typeface="微软雅黑" panose="020B0503020204020204" charset="-122"/>
                <a:ea typeface="微软雅黑" panose="020B0503020204020204" charset="-122"/>
              </a:rPr>
              <a:t>。 </a:t>
            </a:r>
            <a:endParaRPr lang="en-US" altLang="zh-CN" dirty="0">
              <a:latin typeface="微软雅黑" panose="020B0503020204020204" charset="-122"/>
              <a:ea typeface="微软雅黑" panose="020B0503020204020204" charset="-122"/>
            </a:endParaRPr>
          </a:p>
          <a:p>
            <a:pPr eaLnBrk="1" hangingPunct="1">
              <a:lnSpc>
                <a:spcPct val="150000"/>
              </a:lnSpc>
              <a:spcBef>
                <a:spcPct val="50000"/>
              </a:spcBef>
            </a:pPr>
            <a:r>
              <a:rPr lang="en-US" altLang="zh-CN" b="1" dirty="0">
                <a:latin typeface="微软雅黑" panose="020B0503020204020204" charset="-122"/>
                <a:ea typeface="微软雅黑" panose="020B0503020204020204" charset="-122"/>
              </a:rPr>
              <a:t>B</a:t>
            </a:r>
            <a:r>
              <a:rPr lang="zh-CN" altLang="en-US" b="1" dirty="0">
                <a:latin typeface="微软雅黑" panose="020B0503020204020204" charset="-122"/>
                <a:ea typeface="微软雅黑" panose="020B0503020204020204" charset="-122"/>
              </a:rPr>
              <a:t>、馈线路由走向的勘测</a:t>
            </a:r>
            <a:endParaRPr lang="en-US" altLang="zh-CN" b="1" dirty="0">
              <a:latin typeface="微软雅黑" panose="020B0503020204020204" charset="-122"/>
              <a:ea typeface="微软雅黑" panose="020B0503020204020204" charset="-122"/>
            </a:endParaRPr>
          </a:p>
          <a:p>
            <a:pPr eaLnBrk="1" hangingPunct="1">
              <a:lnSpc>
                <a:spcPct val="150000"/>
              </a:lnSpc>
            </a:pPr>
            <a:r>
              <a:rPr lang="en-US" altLang="zh-CN" b="1" dirty="0">
                <a:latin typeface="微软雅黑" panose="020B0503020204020204" charset="-122"/>
                <a:ea typeface="微软雅黑" panose="020B0503020204020204" charset="-122"/>
              </a:rPr>
              <a:t>C</a:t>
            </a:r>
            <a:r>
              <a:rPr lang="zh-CN" altLang="en-US" b="1" dirty="0">
                <a:latin typeface="微软雅黑" panose="020B0503020204020204" charset="-122"/>
                <a:ea typeface="微软雅黑" panose="020B0503020204020204" charset="-122"/>
              </a:rPr>
              <a:t>、馈线长度及类型选择的勘测</a:t>
            </a:r>
            <a:endParaRPr lang="zh-CN" altLang="en-US" b="1" dirty="0">
              <a:latin typeface="微软雅黑" panose="020B0503020204020204" charset="-122"/>
              <a:ea typeface="微软雅黑" panose="020B0503020204020204" charset="-122"/>
            </a:endParaRPr>
          </a:p>
          <a:p>
            <a:pPr eaLnBrk="1" hangingPunct="1">
              <a:lnSpc>
                <a:spcPct val="130000"/>
              </a:lnSpc>
            </a:pPr>
            <a:r>
              <a:rPr lang="zh-CN" altLang="en-US" dirty="0">
                <a:latin typeface="微软雅黑" panose="020B0503020204020204" charset="-122"/>
                <a:ea typeface="微软雅黑" panose="020B0503020204020204" charset="-122"/>
              </a:rPr>
              <a:t>      </a:t>
            </a:r>
            <a:r>
              <a:rPr lang="en-US" altLang="zh-CN" dirty="0">
                <a:latin typeface="微软雅黑" panose="020B0503020204020204" charset="-122"/>
                <a:ea typeface="微软雅黑" panose="020B0503020204020204" charset="-122"/>
              </a:rPr>
              <a:t>1</a:t>
            </a:r>
            <a:r>
              <a:rPr lang="zh-CN" altLang="en-US" dirty="0">
                <a:latin typeface="微软雅黑" panose="020B0503020204020204" charset="-122"/>
                <a:ea typeface="微软雅黑" panose="020B0503020204020204" charset="-122"/>
              </a:rPr>
              <a:t>、先确定机顶跳线、天线跳线的长度，选择相应的型号（</a:t>
            </a:r>
            <a:r>
              <a:rPr lang="zh-CN" altLang="en-US" b="1" dirty="0">
                <a:solidFill>
                  <a:srgbClr val="0066FF"/>
                </a:solidFill>
                <a:latin typeface="微软雅黑" panose="020B0503020204020204" charset="-122"/>
                <a:ea typeface="微软雅黑" panose="020B0503020204020204" charset="-122"/>
              </a:rPr>
              <a:t>一般跳线的长度类型有</a:t>
            </a:r>
            <a:r>
              <a:rPr lang="en-US" altLang="zh-CN" b="1" dirty="0">
                <a:solidFill>
                  <a:srgbClr val="0066FF"/>
                </a:solidFill>
                <a:latin typeface="微软雅黑" panose="020B0503020204020204" charset="-122"/>
                <a:ea typeface="微软雅黑" panose="020B0503020204020204" charset="-122"/>
              </a:rPr>
              <a:t>1</a:t>
            </a:r>
            <a:r>
              <a:rPr lang="zh-CN" altLang="en-US" b="1" dirty="0">
                <a:solidFill>
                  <a:srgbClr val="0066FF"/>
                </a:solidFill>
                <a:latin typeface="微软雅黑" panose="020B0503020204020204" charset="-122"/>
                <a:ea typeface="微软雅黑" panose="020B0503020204020204" charset="-122"/>
              </a:rPr>
              <a:t>米、</a:t>
            </a:r>
            <a:r>
              <a:rPr lang="en-US" altLang="zh-CN" b="1" dirty="0">
                <a:solidFill>
                  <a:srgbClr val="0066FF"/>
                </a:solidFill>
                <a:latin typeface="微软雅黑" panose="020B0503020204020204" charset="-122"/>
                <a:ea typeface="微软雅黑" panose="020B0503020204020204" charset="-122"/>
              </a:rPr>
              <a:t>1.5</a:t>
            </a:r>
            <a:r>
              <a:rPr lang="zh-CN" altLang="en-US" b="1" dirty="0">
                <a:solidFill>
                  <a:srgbClr val="0066FF"/>
                </a:solidFill>
                <a:latin typeface="微软雅黑" panose="020B0503020204020204" charset="-122"/>
                <a:ea typeface="微软雅黑" panose="020B0503020204020204" charset="-122"/>
              </a:rPr>
              <a:t>米、</a:t>
            </a:r>
            <a:r>
              <a:rPr lang="en-US" altLang="zh-CN" b="1" dirty="0">
                <a:solidFill>
                  <a:srgbClr val="0066FF"/>
                </a:solidFill>
                <a:latin typeface="微软雅黑" panose="020B0503020204020204" charset="-122"/>
                <a:ea typeface="微软雅黑" panose="020B0503020204020204" charset="-122"/>
              </a:rPr>
              <a:t>2</a:t>
            </a:r>
            <a:r>
              <a:rPr lang="zh-CN" altLang="en-US" b="1" dirty="0">
                <a:solidFill>
                  <a:srgbClr val="0066FF"/>
                </a:solidFill>
                <a:latin typeface="微软雅黑" panose="020B0503020204020204" charset="-122"/>
                <a:ea typeface="微软雅黑" panose="020B0503020204020204" charset="-122"/>
              </a:rPr>
              <a:t>米等</a:t>
            </a:r>
            <a:r>
              <a:rPr lang="zh-CN" altLang="en-US" dirty="0">
                <a:latin typeface="微软雅黑" panose="020B0503020204020204" charset="-122"/>
                <a:ea typeface="微软雅黑" panose="020B0503020204020204" charset="-122"/>
              </a:rPr>
              <a:t>），以接近的为主，然后根据跳线的长度计算出主馈线的长度。</a:t>
            </a:r>
            <a:endParaRPr lang="en-US" altLang="zh-CN" dirty="0">
              <a:latin typeface="微软雅黑" panose="020B0503020204020204" charset="-122"/>
              <a:ea typeface="微软雅黑" panose="020B0503020204020204" charset="-122"/>
            </a:endParaRPr>
          </a:p>
          <a:p>
            <a:pPr eaLnBrk="1" hangingPunct="1">
              <a:lnSpc>
                <a:spcPct val="130000"/>
              </a:lnSpc>
            </a:pPr>
            <a:r>
              <a:rPr lang="en-US" altLang="zh-CN" dirty="0">
                <a:latin typeface="微软雅黑" panose="020B0503020204020204" charset="-122"/>
                <a:ea typeface="微软雅黑" panose="020B0503020204020204" charset="-122"/>
              </a:rPr>
              <a:t>      2</a:t>
            </a:r>
            <a:r>
              <a:rPr lang="zh-CN" altLang="en-US" dirty="0">
                <a:latin typeface="微软雅黑" panose="020B0503020204020204" charset="-122"/>
                <a:ea typeface="微软雅黑" panose="020B0503020204020204" charset="-122"/>
              </a:rPr>
              <a:t>、馈线的选用原则：单根馈线长度</a:t>
            </a:r>
            <a:r>
              <a:rPr lang="en-US" altLang="zh-CN" dirty="0">
                <a:latin typeface="微软雅黑" panose="020B0503020204020204" charset="-122"/>
                <a:ea typeface="微软雅黑" panose="020B0503020204020204" charset="-122"/>
              </a:rPr>
              <a:t>&lt;20m</a:t>
            </a:r>
            <a:r>
              <a:rPr lang="zh-CN" altLang="en-US" dirty="0">
                <a:latin typeface="微软雅黑" panose="020B0503020204020204" charset="-122"/>
                <a:ea typeface="微软雅黑" panose="020B0503020204020204" charset="-122"/>
              </a:rPr>
              <a:t>时用</a:t>
            </a:r>
            <a:r>
              <a:rPr lang="en-US" altLang="zh-CN" dirty="0">
                <a:latin typeface="微软雅黑" panose="020B0503020204020204" charset="-122"/>
                <a:ea typeface="微软雅黑" panose="020B0503020204020204" charset="-122"/>
              </a:rPr>
              <a:t>1/2</a:t>
            </a:r>
            <a:r>
              <a:rPr lang="zh-CN" altLang="en-US" dirty="0">
                <a:latin typeface="微软雅黑" panose="020B0503020204020204" charset="-122"/>
                <a:ea typeface="微软雅黑" panose="020B0503020204020204" charset="-122"/>
              </a:rPr>
              <a:t>＂馈线；</a:t>
            </a:r>
            <a:endParaRPr lang="en-US" altLang="zh-CN" dirty="0">
              <a:latin typeface="微软雅黑" panose="020B0503020204020204" charset="-122"/>
              <a:ea typeface="微软雅黑" panose="020B0503020204020204" charset="-122"/>
            </a:endParaRPr>
          </a:p>
          <a:p>
            <a:pPr eaLnBrk="1" hangingPunct="1">
              <a:lnSpc>
                <a:spcPct val="130000"/>
              </a:lnSpc>
            </a:pPr>
            <a:r>
              <a:rPr lang="en-US" altLang="zh-CN"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单根长度</a:t>
            </a:r>
            <a:r>
              <a:rPr lang="en-US" altLang="zh-CN" dirty="0">
                <a:latin typeface="微软雅黑" panose="020B0503020204020204" charset="-122"/>
                <a:ea typeface="微软雅黑" panose="020B0503020204020204" charset="-122"/>
              </a:rPr>
              <a:t>&lt;80 m</a:t>
            </a:r>
            <a:r>
              <a:rPr lang="zh-CN" altLang="en-US" dirty="0">
                <a:latin typeface="微软雅黑" panose="020B0503020204020204" charset="-122"/>
                <a:ea typeface="微软雅黑" panose="020B0503020204020204" charset="-122"/>
              </a:rPr>
              <a:t>时用</a:t>
            </a:r>
            <a:r>
              <a:rPr lang="en-US" altLang="zh-CN" dirty="0">
                <a:latin typeface="微软雅黑" panose="020B0503020204020204" charset="-122"/>
                <a:ea typeface="微软雅黑" panose="020B0503020204020204" charset="-122"/>
              </a:rPr>
              <a:t>7/8"</a:t>
            </a:r>
            <a:r>
              <a:rPr lang="zh-CN" altLang="en-US" dirty="0">
                <a:latin typeface="微软雅黑" panose="020B0503020204020204" charset="-122"/>
                <a:ea typeface="微软雅黑" panose="020B0503020204020204" charset="-122"/>
              </a:rPr>
              <a:t>馈线，否则用</a:t>
            </a:r>
            <a:r>
              <a:rPr lang="en-US" altLang="zh-CN" dirty="0">
                <a:latin typeface="微软雅黑" panose="020B0503020204020204" charset="-122"/>
                <a:ea typeface="微软雅黑" panose="020B0503020204020204" charset="-122"/>
              </a:rPr>
              <a:t>5/4″</a:t>
            </a:r>
            <a:r>
              <a:rPr lang="zh-CN" altLang="en-US" dirty="0">
                <a:latin typeface="微软雅黑" panose="020B0503020204020204" charset="-122"/>
                <a:ea typeface="微软雅黑" panose="020B0503020204020204" charset="-122"/>
              </a:rPr>
              <a:t>馈线。</a:t>
            </a:r>
            <a:endParaRPr lang="zh-CN" altLang="en-US" dirty="0">
              <a:latin typeface="微软雅黑" panose="020B0503020204020204" charset="-122"/>
              <a:ea typeface="微软雅黑" panose="020B0503020204020204" charset="-122"/>
            </a:endParaRPr>
          </a:p>
          <a:p>
            <a:pPr eaLnBrk="1" hangingPunct="1">
              <a:lnSpc>
                <a:spcPct val="120000"/>
              </a:lnSpc>
              <a:spcBef>
                <a:spcPct val="50000"/>
              </a:spcBef>
            </a:pPr>
            <a:endParaRPr lang="en-US" altLang="zh-CN" b="1" dirty="0">
              <a:latin typeface="微软雅黑" panose="020B0503020204020204" charset="-122"/>
              <a:ea typeface="微软雅黑" panose="020B0503020204020204" charset="-122"/>
            </a:endParaRPr>
          </a:p>
          <a:p>
            <a:pPr eaLnBrk="1" hangingPunct="1">
              <a:lnSpc>
                <a:spcPct val="120000"/>
              </a:lnSpc>
              <a:spcBef>
                <a:spcPct val="50000"/>
              </a:spcBef>
            </a:pPr>
            <a:endParaRPr lang="zh-CN" altLang="en-US" b="1" dirty="0">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6" name="Text Box 11"/>
          <p:cNvSpPr txBox="1">
            <a:spLocks noChangeArrowheads="1"/>
          </p:cNvSpPr>
          <p:nvPr/>
        </p:nvSpPr>
        <p:spPr bwMode="auto">
          <a:xfrm>
            <a:off x="714375" y="981075"/>
            <a:ext cx="7561263" cy="3733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60000"/>
              </a:lnSpc>
            </a:pPr>
            <a:r>
              <a:rPr lang="en-US" altLang="zh-CN" b="1" dirty="0">
                <a:latin typeface="微软雅黑" panose="020B0503020204020204" charset="-122"/>
                <a:ea typeface="微软雅黑" panose="020B0503020204020204" charset="-122"/>
              </a:rPr>
              <a:t>D</a:t>
            </a:r>
            <a:r>
              <a:rPr lang="zh-CN" altLang="en-US" b="1" dirty="0">
                <a:latin typeface="微软雅黑" panose="020B0503020204020204" charset="-122"/>
                <a:ea typeface="微软雅黑" panose="020B0503020204020204" charset="-122"/>
              </a:rPr>
              <a:t>、馈线接地卡使用原则</a:t>
            </a:r>
            <a:endParaRPr lang="zh-CN" altLang="en-US" b="1" dirty="0">
              <a:latin typeface="微软雅黑" panose="020B0503020204020204" charset="-122"/>
              <a:ea typeface="微软雅黑" panose="020B0503020204020204" charset="-122"/>
            </a:endParaRPr>
          </a:p>
          <a:p>
            <a:pPr eaLnBrk="1" hangingPunct="1">
              <a:lnSpc>
                <a:spcPct val="160000"/>
              </a:lnSpc>
            </a:pPr>
            <a:r>
              <a:rPr lang="zh-CN" altLang="en-US" dirty="0">
                <a:latin typeface="微软雅黑" panose="020B0503020204020204" charset="-122"/>
                <a:ea typeface="微软雅黑" panose="020B0503020204020204" charset="-122"/>
              </a:rPr>
              <a:t>      </a:t>
            </a:r>
            <a:r>
              <a:rPr lang="en-US" altLang="zh-CN" dirty="0">
                <a:latin typeface="微软雅黑" panose="020B0503020204020204" charset="-122"/>
                <a:ea typeface="微软雅黑" panose="020B0503020204020204" charset="-122"/>
              </a:rPr>
              <a:t>1</a:t>
            </a:r>
            <a:r>
              <a:rPr lang="zh-CN" altLang="en-US" dirty="0">
                <a:latin typeface="微软雅黑" panose="020B0503020204020204" charset="-122"/>
                <a:ea typeface="微软雅黑" panose="020B0503020204020204" charset="-122"/>
              </a:rPr>
              <a:t>、在铁塔安装天馈系统时，每根主馈线都应至少有三处安装馈线接地卡，位置分别为：</a:t>
            </a:r>
            <a:r>
              <a:rPr lang="zh-CN" altLang="en-US" b="1" dirty="0">
                <a:solidFill>
                  <a:srgbClr val="0066FF"/>
                </a:solidFill>
                <a:latin typeface="微软雅黑" panose="020B0503020204020204" charset="-122"/>
                <a:ea typeface="微软雅黑" panose="020B0503020204020204" charset="-122"/>
              </a:rPr>
              <a:t>在铁塔平台处，主馈线离开铁塔至室外走线架处，主馈线入室之前</a:t>
            </a:r>
            <a:r>
              <a:rPr lang="zh-CN" altLang="en-US" dirty="0">
                <a:latin typeface="微软雅黑" panose="020B0503020204020204" charset="-122"/>
                <a:ea typeface="微软雅黑" panose="020B0503020204020204" charset="-122"/>
              </a:rPr>
              <a:t>。</a:t>
            </a:r>
            <a:endParaRPr lang="en-US" altLang="zh-CN" dirty="0">
              <a:latin typeface="微软雅黑" panose="020B0503020204020204" charset="-122"/>
              <a:ea typeface="微软雅黑" panose="020B0503020204020204" charset="-122"/>
            </a:endParaRPr>
          </a:p>
          <a:p>
            <a:pPr eaLnBrk="1" hangingPunct="1">
              <a:lnSpc>
                <a:spcPct val="160000"/>
              </a:lnSpc>
            </a:pPr>
            <a:endParaRPr lang="zh-CN" altLang="en-US" dirty="0">
              <a:latin typeface="微软雅黑" panose="020B0503020204020204" charset="-122"/>
              <a:ea typeface="微软雅黑" panose="020B0503020204020204" charset="-122"/>
            </a:endParaRPr>
          </a:p>
          <a:p>
            <a:pPr eaLnBrk="1" hangingPunct="1">
              <a:lnSpc>
                <a:spcPct val="160000"/>
              </a:lnSpc>
            </a:pPr>
            <a:r>
              <a:rPr lang="zh-CN" altLang="en-US" dirty="0">
                <a:latin typeface="微软雅黑" panose="020B0503020204020204" charset="-122"/>
                <a:ea typeface="微软雅黑" panose="020B0503020204020204" charset="-122"/>
              </a:rPr>
              <a:t>      </a:t>
            </a:r>
            <a:r>
              <a:rPr lang="en-US" altLang="zh-CN" dirty="0">
                <a:latin typeface="微软雅黑" panose="020B0503020204020204" charset="-122"/>
                <a:ea typeface="微软雅黑" panose="020B0503020204020204" charset="-122"/>
              </a:rPr>
              <a:t>2</a:t>
            </a:r>
            <a:r>
              <a:rPr lang="zh-CN" altLang="en-US" dirty="0">
                <a:latin typeface="微软雅黑" panose="020B0503020204020204" charset="-122"/>
                <a:ea typeface="微软雅黑" panose="020B0503020204020204" charset="-122"/>
              </a:rPr>
              <a:t>、在楼顶安装天馈系统时，馈线也需有三处安装馈线接地卡，位置分别为：</a:t>
            </a:r>
            <a:r>
              <a:rPr lang="zh-CN" altLang="en-US" b="1" dirty="0">
                <a:solidFill>
                  <a:srgbClr val="0066FF"/>
                </a:solidFill>
                <a:latin typeface="微软雅黑" panose="020B0503020204020204" charset="-122"/>
                <a:ea typeface="微软雅黑" panose="020B0503020204020204" charset="-122"/>
              </a:rPr>
              <a:t>从馈线离开天线抱杆处，馈线离开楼顶天面处，馈线进入机房处</a:t>
            </a: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     </a:t>
            </a:r>
            <a:endParaRPr lang="en-US" altLang="zh-CN" dirty="0">
              <a:latin typeface="微软雅黑" panose="020B0503020204020204" charset="-122"/>
              <a:ea typeface="微软雅黑" panose="020B0503020204020204" charset="-122"/>
            </a:endParaRPr>
          </a:p>
          <a:p>
            <a:pPr eaLnBrk="1" hangingPunct="1">
              <a:lnSpc>
                <a:spcPct val="130000"/>
              </a:lnSpc>
            </a:pPr>
            <a:r>
              <a:rPr lang="en-US" altLang="zh-CN" dirty="0">
                <a:latin typeface="微软雅黑" panose="020B0503020204020204" charset="-122"/>
                <a:ea typeface="微软雅黑" panose="020B0503020204020204" charset="-122"/>
              </a:rPr>
              <a:t>      </a:t>
            </a:r>
            <a:endParaRPr lang="zh-CN" altLang="en-US" b="1" dirty="0">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535531"/>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6" name="Text Box 9"/>
          <p:cNvSpPr txBox="1">
            <a:spLocks noChangeArrowheads="1"/>
          </p:cNvSpPr>
          <p:nvPr/>
        </p:nvSpPr>
        <p:spPr bwMode="auto">
          <a:xfrm>
            <a:off x="785813" y="897756"/>
            <a:ext cx="56435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FF6600"/>
                </a:solidFill>
                <a:latin typeface="微软雅黑" panose="020B0503020204020204" charset="-122"/>
                <a:ea typeface="微软雅黑" panose="020B0503020204020204" charset="-122"/>
              </a:rPr>
              <a:t>天线勘察</a:t>
            </a:r>
            <a:endParaRPr lang="zh-CN" altLang="en-US" sz="2000" b="1" dirty="0">
              <a:solidFill>
                <a:srgbClr val="FF6600"/>
              </a:solidFill>
              <a:latin typeface="微软雅黑" panose="020B0503020204020204" charset="-122"/>
              <a:ea typeface="微软雅黑" panose="020B0503020204020204" charset="-122"/>
            </a:endParaRPr>
          </a:p>
        </p:txBody>
      </p:sp>
      <p:sp>
        <p:nvSpPr>
          <p:cNvPr id="10" name="Rectangle 9"/>
          <p:cNvSpPr>
            <a:spLocks noChangeArrowheads="1"/>
          </p:cNvSpPr>
          <p:nvPr/>
        </p:nvSpPr>
        <p:spPr bwMode="auto">
          <a:xfrm>
            <a:off x="438918" y="537716"/>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charset="-122"/>
              <a:ea typeface="微软雅黑" panose="020B0503020204020204" charset="-122"/>
            </a:endParaRPr>
          </a:p>
        </p:txBody>
      </p:sp>
      <p:sp>
        <p:nvSpPr>
          <p:cNvPr id="11" name="圆角矩形 10"/>
          <p:cNvSpPr/>
          <p:nvPr/>
        </p:nvSpPr>
        <p:spPr>
          <a:xfrm>
            <a:off x="1581918" y="2450653"/>
            <a:ext cx="1509713" cy="8572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tx1"/>
                </a:solidFill>
                <a:latin typeface="微软雅黑" panose="020B0503020204020204" charset="-122"/>
                <a:ea typeface="微软雅黑" panose="020B0503020204020204" charset="-122"/>
              </a:rPr>
              <a:t>天线安装勘察</a:t>
            </a:r>
            <a:endParaRPr lang="zh-CN" altLang="en-US" sz="2400" dirty="0">
              <a:solidFill>
                <a:schemeClr val="tx1"/>
              </a:solidFill>
              <a:latin typeface="微软雅黑" panose="020B0503020204020204" charset="-122"/>
              <a:ea typeface="微软雅黑" panose="020B0503020204020204" charset="-122"/>
            </a:endParaRPr>
          </a:p>
        </p:txBody>
      </p:sp>
      <p:sp>
        <p:nvSpPr>
          <p:cNvPr id="13" name="圆角矩形 12"/>
          <p:cNvSpPr/>
          <p:nvPr/>
        </p:nvSpPr>
        <p:spPr>
          <a:xfrm>
            <a:off x="4582293" y="3022153"/>
            <a:ext cx="2012950" cy="6429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tx1"/>
                </a:solidFill>
                <a:latin typeface="微软雅黑" panose="020B0503020204020204" charset="-122"/>
                <a:ea typeface="微软雅黑" panose="020B0503020204020204" charset="-122"/>
              </a:rPr>
              <a:t>天线下倾角</a:t>
            </a:r>
            <a:endParaRPr lang="zh-CN" altLang="en-US" sz="2400" dirty="0">
              <a:solidFill>
                <a:schemeClr val="tx1"/>
              </a:solidFill>
              <a:latin typeface="微软雅黑" panose="020B0503020204020204" charset="-122"/>
              <a:ea typeface="微软雅黑" panose="020B0503020204020204" charset="-122"/>
            </a:endParaRPr>
          </a:p>
        </p:txBody>
      </p:sp>
      <p:sp>
        <p:nvSpPr>
          <p:cNvPr id="14" name="圆角矩形 13"/>
          <p:cNvSpPr/>
          <p:nvPr/>
        </p:nvSpPr>
        <p:spPr>
          <a:xfrm>
            <a:off x="4582293" y="2093466"/>
            <a:ext cx="2347913" cy="6429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tx1"/>
                </a:solidFill>
                <a:latin typeface="微软雅黑" panose="020B0503020204020204" charset="-122"/>
                <a:ea typeface="微软雅黑" panose="020B0503020204020204" charset="-122"/>
              </a:rPr>
              <a:t>天线架设高度</a:t>
            </a:r>
            <a:endParaRPr lang="zh-CN" altLang="en-US" sz="2400" dirty="0">
              <a:solidFill>
                <a:schemeClr val="tx1"/>
              </a:solidFill>
              <a:latin typeface="微软雅黑" panose="020B0503020204020204" charset="-122"/>
              <a:ea typeface="微软雅黑" panose="020B0503020204020204" charset="-122"/>
            </a:endParaRPr>
          </a:p>
        </p:txBody>
      </p:sp>
      <p:sp>
        <p:nvSpPr>
          <p:cNvPr id="15" name="圆角矩形 14"/>
          <p:cNvSpPr/>
          <p:nvPr/>
        </p:nvSpPr>
        <p:spPr>
          <a:xfrm>
            <a:off x="4582293" y="1164778"/>
            <a:ext cx="1928813" cy="6429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tx1"/>
                </a:solidFill>
                <a:latin typeface="微软雅黑" panose="020B0503020204020204" charset="-122"/>
                <a:ea typeface="微软雅黑" panose="020B0503020204020204" charset="-122"/>
              </a:rPr>
              <a:t>天线的位置</a:t>
            </a:r>
            <a:endParaRPr lang="zh-CN" altLang="en-US" sz="2400" dirty="0">
              <a:solidFill>
                <a:schemeClr val="tx1"/>
              </a:solidFill>
              <a:latin typeface="微软雅黑" panose="020B0503020204020204" charset="-122"/>
              <a:ea typeface="微软雅黑" panose="020B0503020204020204" charset="-122"/>
            </a:endParaRPr>
          </a:p>
        </p:txBody>
      </p:sp>
      <p:sp>
        <p:nvSpPr>
          <p:cNvPr id="16" name="左大括号 15"/>
          <p:cNvSpPr/>
          <p:nvPr/>
        </p:nvSpPr>
        <p:spPr>
          <a:xfrm>
            <a:off x="3153543" y="1093341"/>
            <a:ext cx="1341438" cy="3500437"/>
          </a:xfrm>
          <a:prstGeom prst="leftBrace">
            <a:avLst/>
          </a:prstGeom>
        </p:spPr>
        <p:style>
          <a:lnRef idx="2">
            <a:schemeClr val="dk1"/>
          </a:lnRef>
          <a:fillRef idx="0">
            <a:schemeClr val="dk1"/>
          </a:fillRef>
          <a:effectRef idx="1">
            <a:schemeClr val="dk1"/>
          </a:effectRef>
          <a:fontRef idx="minor">
            <a:schemeClr val="tx1"/>
          </a:fontRef>
        </p:style>
        <p:txBody>
          <a:bodyPr anchor="ctr"/>
          <a:lstStyle/>
          <a:p>
            <a:pPr algn="ctr">
              <a:defRPr/>
            </a:pPr>
            <a:endParaRPr lang="zh-CN" altLang="en-US" sz="2400">
              <a:latin typeface="微软雅黑" panose="020B0503020204020204" charset="-122"/>
              <a:ea typeface="微软雅黑" panose="020B0503020204020204" charset="-122"/>
            </a:endParaRPr>
          </a:p>
        </p:txBody>
      </p:sp>
      <p:sp>
        <p:nvSpPr>
          <p:cNvPr id="17" name="圆角矩形 16"/>
          <p:cNvSpPr/>
          <p:nvPr/>
        </p:nvSpPr>
        <p:spPr>
          <a:xfrm>
            <a:off x="4582293" y="3879403"/>
            <a:ext cx="2012950" cy="6429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tx1"/>
                </a:solidFill>
                <a:latin typeface="微软雅黑" panose="020B0503020204020204" charset="-122"/>
                <a:ea typeface="微软雅黑" panose="020B0503020204020204" charset="-122"/>
              </a:rPr>
              <a:t>天线方位角</a:t>
            </a:r>
            <a:endParaRPr lang="zh-CN" altLang="en-US" sz="2400" dirty="0">
              <a:solidFill>
                <a:schemeClr val="tx1"/>
              </a:solidFill>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535531"/>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6" name="Text Box 9"/>
          <p:cNvSpPr txBox="1">
            <a:spLocks noChangeArrowheads="1"/>
          </p:cNvSpPr>
          <p:nvPr/>
        </p:nvSpPr>
        <p:spPr bwMode="auto">
          <a:xfrm>
            <a:off x="785813" y="897756"/>
            <a:ext cx="56435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FF6600"/>
                </a:solidFill>
                <a:latin typeface="微软雅黑" panose="020B0503020204020204" charset="-122"/>
                <a:ea typeface="微软雅黑" panose="020B0503020204020204" charset="-122"/>
              </a:rPr>
              <a:t>天线勘察</a:t>
            </a:r>
            <a:endParaRPr lang="zh-CN" altLang="en-US" sz="2000" b="1" dirty="0">
              <a:solidFill>
                <a:srgbClr val="FF6600"/>
              </a:solidFill>
              <a:latin typeface="微软雅黑" panose="020B0503020204020204" charset="-122"/>
              <a:ea typeface="微软雅黑" panose="020B0503020204020204" charset="-122"/>
            </a:endParaRPr>
          </a:p>
        </p:txBody>
      </p:sp>
      <p:sp>
        <p:nvSpPr>
          <p:cNvPr id="10" name="Rectangle 9"/>
          <p:cNvSpPr>
            <a:spLocks noChangeArrowheads="1"/>
          </p:cNvSpPr>
          <p:nvPr/>
        </p:nvSpPr>
        <p:spPr bwMode="auto">
          <a:xfrm>
            <a:off x="438918" y="537716"/>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p:nvPicPr>
        <p:blipFill>
          <a:blip r:embed="rId3"/>
          <a:stretch>
            <a:fillRect/>
          </a:stretch>
        </p:blipFill>
        <p:spPr>
          <a:xfrm>
            <a:off x="1457325" y="1473200"/>
            <a:ext cx="7609205" cy="304419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535531"/>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6" name="Text Box 9"/>
          <p:cNvSpPr txBox="1">
            <a:spLocks noChangeArrowheads="1"/>
          </p:cNvSpPr>
          <p:nvPr/>
        </p:nvSpPr>
        <p:spPr bwMode="auto">
          <a:xfrm>
            <a:off x="785813" y="897756"/>
            <a:ext cx="56435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FF6600"/>
                </a:solidFill>
                <a:latin typeface="微软雅黑" panose="020B0503020204020204" charset="-122"/>
                <a:ea typeface="微软雅黑" panose="020B0503020204020204" charset="-122"/>
              </a:rPr>
              <a:t>天线勘察</a:t>
            </a:r>
            <a:endParaRPr lang="zh-CN" altLang="en-US" sz="2000" b="1" dirty="0">
              <a:solidFill>
                <a:srgbClr val="FF6600"/>
              </a:solidFill>
              <a:latin typeface="微软雅黑" panose="020B0503020204020204" charset="-122"/>
              <a:ea typeface="微软雅黑" panose="020B0503020204020204" charset="-122"/>
            </a:endParaRPr>
          </a:p>
        </p:txBody>
      </p:sp>
      <p:sp>
        <p:nvSpPr>
          <p:cNvPr id="10" name="Rectangle 9"/>
          <p:cNvSpPr>
            <a:spLocks noChangeArrowheads="1"/>
          </p:cNvSpPr>
          <p:nvPr/>
        </p:nvSpPr>
        <p:spPr bwMode="auto">
          <a:xfrm>
            <a:off x="438918" y="537716"/>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p:cNvPicPr>
          <p:nvPr/>
        </p:nvPicPr>
        <p:blipFill>
          <a:blip r:embed="rId3"/>
          <a:srcRect t="2899" r="8295" b="34828"/>
          <a:stretch>
            <a:fillRect/>
          </a:stretch>
        </p:blipFill>
        <p:spPr>
          <a:xfrm>
            <a:off x="622935" y="1545590"/>
            <a:ext cx="5089525" cy="3496310"/>
          </a:xfrm>
          <a:prstGeom prst="rect">
            <a:avLst/>
          </a:prstGeom>
        </p:spPr>
      </p:pic>
      <p:pic>
        <p:nvPicPr>
          <p:cNvPr id="9" name="图片 8"/>
          <p:cNvPicPr>
            <a:picLocks noChangeAspect="1"/>
          </p:cNvPicPr>
          <p:nvPr/>
        </p:nvPicPr>
        <p:blipFill>
          <a:blip r:embed="rId3"/>
          <a:srcRect l="6601" t="68072" r="8758"/>
          <a:stretch>
            <a:fillRect/>
          </a:stretch>
        </p:blipFill>
        <p:spPr>
          <a:xfrm>
            <a:off x="5561965" y="1977390"/>
            <a:ext cx="4608830" cy="175895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535531"/>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6" name="Text Box 9"/>
          <p:cNvSpPr txBox="1">
            <a:spLocks noChangeArrowheads="1"/>
          </p:cNvSpPr>
          <p:nvPr/>
        </p:nvSpPr>
        <p:spPr bwMode="auto">
          <a:xfrm>
            <a:off x="785813" y="897756"/>
            <a:ext cx="56435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FF6600"/>
                </a:solidFill>
                <a:latin typeface="微软雅黑" panose="020B0503020204020204" charset="-122"/>
                <a:ea typeface="微软雅黑" panose="020B0503020204020204" charset="-122"/>
              </a:rPr>
              <a:t>天线勘察</a:t>
            </a:r>
            <a:endParaRPr lang="zh-CN" altLang="en-US" sz="2000" b="1" dirty="0">
              <a:solidFill>
                <a:srgbClr val="FF6600"/>
              </a:solidFill>
              <a:latin typeface="微软雅黑" panose="020B0503020204020204" charset="-122"/>
              <a:ea typeface="微软雅黑" panose="020B0503020204020204" charset="-122"/>
            </a:endParaRPr>
          </a:p>
        </p:txBody>
      </p:sp>
      <p:sp>
        <p:nvSpPr>
          <p:cNvPr id="10" name="Rectangle 9"/>
          <p:cNvSpPr>
            <a:spLocks noChangeArrowheads="1"/>
          </p:cNvSpPr>
          <p:nvPr/>
        </p:nvSpPr>
        <p:spPr bwMode="auto">
          <a:xfrm>
            <a:off x="438918" y="537716"/>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p:nvPicPr>
        <p:blipFill>
          <a:blip r:embed="rId3"/>
          <a:stretch>
            <a:fillRect/>
          </a:stretch>
        </p:blipFill>
        <p:spPr>
          <a:xfrm>
            <a:off x="2033270" y="1185545"/>
            <a:ext cx="6629400" cy="3810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535531"/>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6" name="Text Box 9"/>
          <p:cNvSpPr txBox="1">
            <a:spLocks noChangeArrowheads="1"/>
          </p:cNvSpPr>
          <p:nvPr/>
        </p:nvSpPr>
        <p:spPr bwMode="auto">
          <a:xfrm>
            <a:off x="785813" y="897756"/>
            <a:ext cx="56435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FF6600"/>
                </a:solidFill>
                <a:latin typeface="微软雅黑" panose="020B0503020204020204" charset="-122"/>
                <a:ea typeface="微软雅黑" panose="020B0503020204020204" charset="-122"/>
              </a:rPr>
              <a:t>天线勘察</a:t>
            </a:r>
            <a:endParaRPr lang="zh-CN" altLang="en-US" sz="2000" b="1" dirty="0">
              <a:solidFill>
                <a:srgbClr val="FF6600"/>
              </a:solidFill>
              <a:latin typeface="微软雅黑" panose="020B0503020204020204" charset="-122"/>
              <a:ea typeface="微软雅黑" panose="020B0503020204020204" charset="-122"/>
            </a:endParaRPr>
          </a:p>
        </p:txBody>
      </p:sp>
      <p:sp>
        <p:nvSpPr>
          <p:cNvPr id="10" name="Rectangle 9"/>
          <p:cNvSpPr>
            <a:spLocks noChangeArrowheads="1"/>
          </p:cNvSpPr>
          <p:nvPr/>
        </p:nvSpPr>
        <p:spPr bwMode="auto">
          <a:xfrm>
            <a:off x="438918" y="537716"/>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p:cNvPicPr>
          <p:nvPr/>
        </p:nvPicPr>
        <p:blipFill>
          <a:blip r:embed="rId3"/>
          <a:stretch>
            <a:fillRect/>
          </a:stretch>
        </p:blipFill>
        <p:spPr>
          <a:xfrm>
            <a:off x="1457325" y="1297940"/>
            <a:ext cx="7410450" cy="360108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535531"/>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6" name="Text Box 9"/>
          <p:cNvSpPr txBox="1">
            <a:spLocks noChangeArrowheads="1"/>
          </p:cNvSpPr>
          <p:nvPr/>
        </p:nvSpPr>
        <p:spPr bwMode="auto">
          <a:xfrm>
            <a:off x="785813" y="897756"/>
            <a:ext cx="56435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FF6600"/>
                </a:solidFill>
                <a:latin typeface="微软雅黑" panose="020B0503020204020204" charset="-122"/>
                <a:ea typeface="微软雅黑" panose="020B0503020204020204" charset="-122"/>
              </a:rPr>
              <a:t>天线勘察</a:t>
            </a:r>
            <a:endParaRPr lang="zh-CN" altLang="en-US" sz="2000" b="1" dirty="0">
              <a:solidFill>
                <a:srgbClr val="FF6600"/>
              </a:solidFill>
              <a:latin typeface="微软雅黑" panose="020B0503020204020204" charset="-122"/>
              <a:ea typeface="微软雅黑" panose="020B0503020204020204" charset="-122"/>
            </a:endParaRPr>
          </a:p>
        </p:txBody>
      </p:sp>
      <p:sp>
        <p:nvSpPr>
          <p:cNvPr id="10" name="Rectangle 9"/>
          <p:cNvSpPr>
            <a:spLocks noChangeArrowheads="1"/>
          </p:cNvSpPr>
          <p:nvPr/>
        </p:nvSpPr>
        <p:spPr bwMode="auto">
          <a:xfrm>
            <a:off x="438918" y="537716"/>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p:nvPicPr>
        <p:blipFill>
          <a:blip r:embed="rId3"/>
          <a:stretch>
            <a:fillRect/>
          </a:stretch>
        </p:blipFill>
        <p:spPr>
          <a:xfrm>
            <a:off x="1673225" y="1482725"/>
            <a:ext cx="7653020" cy="285051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535531"/>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四、无线基站勘察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6" name="Text Box 9"/>
          <p:cNvSpPr txBox="1">
            <a:spLocks noChangeArrowheads="1"/>
          </p:cNvSpPr>
          <p:nvPr/>
        </p:nvSpPr>
        <p:spPr bwMode="auto">
          <a:xfrm>
            <a:off x="785813" y="897756"/>
            <a:ext cx="56435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FF6600"/>
                </a:solidFill>
                <a:latin typeface="微软雅黑" panose="020B0503020204020204" charset="-122"/>
                <a:ea typeface="微软雅黑" panose="020B0503020204020204" charset="-122"/>
              </a:rPr>
              <a:t>天线勘察</a:t>
            </a:r>
            <a:endParaRPr lang="zh-CN" altLang="en-US" sz="2000" b="1" dirty="0">
              <a:solidFill>
                <a:srgbClr val="FF6600"/>
              </a:solidFill>
              <a:latin typeface="微软雅黑" panose="020B0503020204020204" charset="-122"/>
              <a:ea typeface="微软雅黑" panose="020B0503020204020204" charset="-122"/>
            </a:endParaRPr>
          </a:p>
        </p:txBody>
      </p:sp>
      <p:sp>
        <p:nvSpPr>
          <p:cNvPr id="10" name="Rectangle 9"/>
          <p:cNvSpPr>
            <a:spLocks noChangeArrowheads="1"/>
          </p:cNvSpPr>
          <p:nvPr/>
        </p:nvSpPr>
        <p:spPr bwMode="auto">
          <a:xfrm>
            <a:off x="438918" y="537716"/>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p:nvPicPr>
        <p:blipFill>
          <a:blip r:embed="rId3"/>
          <a:stretch>
            <a:fillRect/>
          </a:stretch>
        </p:blipFill>
        <p:spPr>
          <a:xfrm>
            <a:off x="1529080" y="1431290"/>
            <a:ext cx="7480935" cy="296227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grpSp>
        <p:nvGrpSpPr>
          <p:cNvPr id="8" name="组合 7"/>
          <p:cNvGrpSpPr/>
          <p:nvPr/>
        </p:nvGrpSpPr>
        <p:grpSpPr>
          <a:xfrm>
            <a:off x="1745630" y="465708"/>
            <a:ext cx="6160191" cy="613410"/>
            <a:chOff x="4260" y="638"/>
            <a:chExt cx="8921" cy="966"/>
          </a:xfrm>
        </p:grpSpPr>
        <p:sp>
          <p:nvSpPr>
            <p:cNvPr id="82" name="矩形 81"/>
            <p:cNvSpPr/>
            <p:nvPr/>
          </p:nvSpPr>
          <p:spPr>
            <a:xfrm>
              <a:off x="11754" y="1545"/>
              <a:ext cx="1427" cy="59"/>
            </a:xfrm>
            <a:prstGeom prst="rect">
              <a:avLst/>
            </a:prstGeom>
            <a:solidFill>
              <a:srgbClr val="CBCB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3" name="TextBox 82"/>
            <p:cNvSpPr txBox="1"/>
            <p:nvPr/>
          </p:nvSpPr>
          <p:spPr>
            <a:xfrm>
              <a:off x="7277" y="638"/>
              <a:ext cx="2902" cy="785"/>
            </a:xfrm>
            <a:prstGeom prst="round2SameRect">
              <a:avLst>
                <a:gd name="adj1" fmla="val 27581"/>
                <a:gd name="adj2" fmla="val 0"/>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chemeClr val="lt1"/>
                  </a:solidFill>
                  <a:latin typeface="微软雅黑" panose="020B0503020204020204" charset="-122"/>
                  <a:ea typeface="微软雅黑" panose="020B0503020204020204" charset="-122"/>
                </a:rPr>
                <a:t>目    录</a:t>
              </a:r>
              <a:endParaRPr lang="zh-CN" altLang="en-US" sz="3200" b="1" dirty="0">
                <a:solidFill>
                  <a:schemeClr val="lt1"/>
                </a:solidFill>
                <a:latin typeface="微软雅黑" panose="020B0503020204020204" charset="-122"/>
                <a:ea typeface="微软雅黑" panose="020B0503020204020204" charset="-122"/>
              </a:endParaRPr>
            </a:p>
          </p:txBody>
        </p:sp>
        <p:sp>
          <p:nvSpPr>
            <p:cNvPr id="84" name="矩形 83"/>
            <p:cNvSpPr/>
            <p:nvPr/>
          </p:nvSpPr>
          <p:spPr>
            <a:xfrm>
              <a:off x="4260" y="1545"/>
              <a:ext cx="1427" cy="59"/>
            </a:xfrm>
            <a:prstGeom prst="rect">
              <a:avLst/>
            </a:prstGeom>
            <a:solidFill>
              <a:srgbClr val="E4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5" name="矩形 84"/>
            <p:cNvSpPr/>
            <p:nvPr/>
          </p:nvSpPr>
          <p:spPr>
            <a:xfrm>
              <a:off x="5759" y="1545"/>
              <a:ext cx="1427" cy="59"/>
            </a:xfrm>
            <a:prstGeom prst="rect">
              <a:avLst/>
            </a:prstGeom>
            <a:solidFill>
              <a:srgbClr val="8EC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6" name="矩形 85"/>
            <p:cNvSpPr/>
            <p:nvPr/>
          </p:nvSpPr>
          <p:spPr>
            <a:xfrm>
              <a:off x="7258" y="1545"/>
              <a:ext cx="1427" cy="59"/>
            </a:xfrm>
            <a:prstGeom prst="rect">
              <a:avLst/>
            </a:prstGeom>
            <a:solidFill>
              <a:srgbClr val="E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7" name="矩形 86"/>
            <p:cNvSpPr/>
            <p:nvPr/>
          </p:nvSpPr>
          <p:spPr>
            <a:xfrm>
              <a:off x="8756" y="1545"/>
              <a:ext cx="1427" cy="59"/>
            </a:xfrm>
            <a:prstGeom prst="rect">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88" name="矩形 87"/>
            <p:cNvSpPr/>
            <p:nvPr/>
          </p:nvSpPr>
          <p:spPr>
            <a:xfrm>
              <a:off x="10255" y="1545"/>
              <a:ext cx="1427" cy="59"/>
            </a:xfrm>
            <a:prstGeom prst="rect">
              <a:avLst/>
            </a:prstGeom>
            <a:solidFill>
              <a:srgbClr val="CF01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grpSp>
      <p:cxnSp>
        <p:nvCxnSpPr>
          <p:cNvPr id="52" name="直接连接符 51"/>
          <p:cNvCxnSpPr/>
          <p:nvPr/>
        </p:nvCxnSpPr>
        <p:spPr>
          <a:xfrm>
            <a:off x="1984390" y="2800603"/>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1984390" y="2029078"/>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2056398" y="2155443"/>
            <a:ext cx="4867275" cy="521970"/>
          </a:xfrm>
          <a:prstGeom prst="rect">
            <a:avLst/>
          </a:prstGeom>
          <a:noFill/>
        </p:spPr>
        <p:txBody>
          <a:bodyPr wrap="square" rtlCol="0">
            <a:spAutoFit/>
          </a:bodyPr>
          <a:lstStyle/>
          <a:p>
            <a:r>
              <a:rPr lang="en-US" altLang="zh-CN" sz="2800" dirty="0">
                <a:latin typeface="微软雅黑" panose="020B0503020204020204" charset="-122"/>
                <a:ea typeface="微软雅黑" panose="020B0503020204020204" charset="-122"/>
              </a:rPr>
              <a:t> </a:t>
            </a:r>
            <a:r>
              <a:rPr lang="zh-CN" altLang="en-US" sz="2800" dirty="0">
                <a:latin typeface="微软雅黑" panose="020B0503020204020204" charset="-122"/>
                <a:ea typeface="微软雅黑" panose="020B0503020204020204" charset="-122"/>
              </a:rPr>
              <a:t>二、工程勘察准备</a:t>
            </a:r>
            <a:endParaRPr lang="zh-CN" altLang="en-US" sz="2800" dirty="0">
              <a:latin typeface="微软雅黑" panose="020B0503020204020204" charset="-122"/>
              <a:ea typeface="微软雅黑" panose="020B0503020204020204" charset="-122"/>
            </a:endParaRPr>
          </a:p>
        </p:txBody>
      </p:sp>
      <p:sp>
        <p:nvSpPr>
          <p:cNvPr id="100" name="TextBox 99"/>
          <p:cNvSpPr txBox="1"/>
          <p:nvPr/>
        </p:nvSpPr>
        <p:spPr>
          <a:xfrm>
            <a:off x="2056398" y="1384553"/>
            <a:ext cx="4867275" cy="521970"/>
          </a:xfrm>
          <a:prstGeom prst="rect">
            <a:avLst/>
          </a:prstGeom>
          <a:noFill/>
        </p:spPr>
        <p:txBody>
          <a:bodyPr wrap="square" rtlCol="0">
            <a:spAutoFit/>
          </a:bodyPr>
          <a:lstStyle/>
          <a:p>
            <a:r>
              <a:rPr lang="en-US" altLang="zh-CN" sz="2800" dirty="0">
                <a:latin typeface="微软雅黑" panose="020B0503020204020204" charset="-122"/>
                <a:ea typeface="微软雅黑" panose="020B0503020204020204" charset="-122"/>
              </a:rPr>
              <a:t> </a:t>
            </a:r>
            <a:r>
              <a:rPr lang="zh-CN" altLang="en-US" sz="2800" dirty="0">
                <a:latin typeface="微软雅黑" panose="020B0503020204020204" charset="-122"/>
                <a:ea typeface="微软雅黑" panose="020B0503020204020204" charset="-122"/>
              </a:rPr>
              <a:t>一、</a:t>
            </a:r>
            <a:r>
              <a:rPr kumimoji="1" lang="zh-CN" altLang="en-US" sz="2800" dirty="0">
                <a:latin typeface="微软雅黑" panose="020B0503020204020204" charset="-122"/>
                <a:ea typeface="微软雅黑" panose="020B0503020204020204" charset="-122"/>
              </a:rPr>
              <a:t>工程勘察流程及内容</a:t>
            </a:r>
            <a:endParaRPr kumimoji="1" lang="en-US" altLang="zh-CN" sz="2800" dirty="0">
              <a:latin typeface="微软雅黑" panose="020B0503020204020204" charset="-122"/>
              <a:ea typeface="微软雅黑" panose="020B0503020204020204" charset="-122"/>
            </a:endParaRPr>
          </a:p>
        </p:txBody>
      </p:sp>
      <p:cxnSp>
        <p:nvCxnSpPr>
          <p:cNvPr id="2" name="直接连接符 1"/>
          <p:cNvCxnSpPr/>
          <p:nvPr/>
        </p:nvCxnSpPr>
        <p:spPr>
          <a:xfrm>
            <a:off x="1984390" y="3520058"/>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3" name="TextBox 98"/>
          <p:cNvSpPr txBox="1"/>
          <p:nvPr/>
        </p:nvSpPr>
        <p:spPr>
          <a:xfrm>
            <a:off x="2056398" y="2998088"/>
            <a:ext cx="4867275" cy="521970"/>
          </a:xfrm>
          <a:prstGeom prst="rect">
            <a:avLst/>
          </a:prstGeom>
          <a:noFill/>
        </p:spPr>
        <p:txBody>
          <a:bodyPr wrap="square" rtlCol="0">
            <a:spAutoFit/>
          </a:bodyPr>
          <a:lstStyle/>
          <a:p>
            <a:r>
              <a:rPr lang="en-US" altLang="zh-CN" sz="2800" dirty="0">
                <a:latin typeface="微软雅黑" panose="020B0503020204020204" charset="-122"/>
                <a:ea typeface="微软雅黑" panose="020B0503020204020204" charset="-122"/>
              </a:rPr>
              <a:t> </a:t>
            </a:r>
            <a:r>
              <a:rPr lang="zh-CN" altLang="en-US" sz="2800" dirty="0">
                <a:latin typeface="微软雅黑" panose="020B0503020204020204" charset="-122"/>
                <a:ea typeface="微软雅黑" panose="020B0503020204020204" charset="-122"/>
              </a:rPr>
              <a:t>三、</a:t>
            </a:r>
            <a:r>
              <a:rPr kumimoji="1" lang="zh-CN" altLang="en-US" sz="2800" dirty="0">
                <a:latin typeface="微软雅黑" panose="020B0503020204020204" charset="-122"/>
                <a:ea typeface="微软雅黑" panose="020B0503020204020204" charset="-122"/>
              </a:rPr>
              <a:t>中心机房勘察</a:t>
            </a:r>
            <a:endParaRPr kumimoji="1" lang="en-US" altLang="zh-CN" sz="2800" dirty="0">
              <a:latin typeface="微软雅黑" panose="020B0503020204020204" charset="-122"/>
              <a:ea typeface="微软雅黑" panose="020B0503020204020204" charset="-122"/>
            </a:endParaRPr>
          </a:p>
        </p:txBody>
      </p:sp>
      <p:cxnSp>
        <p:nvCxnSpPr>
          <p:cNvPr id="17" name="直接连接符 16"/>
          <p:cNvCxnSpPr/>
          <p:nvPr/>
        </p:nvCxnSpPr>
        <p:spPr>
          <a:xfrm>
            <a:off x="1961654" y="4210749"/>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134939" y="3616146"/>
            <a:ext cx="4867275" cy="521970"/>
          </a:xfrm>
          <a:prstGeom prst="rect">
            <a:avLst/>
          </a:prstGeom>
          <a:noFill/>
        </p:spPr>
        <p:txBody>
          <a:bodyPr wrap="square" rtlCol="0">
            <a:spAutoFit/>
          </a:bodyPr>
          <a:lstStyle/>
          <a:p>
            <a:r>
              <a:rPr lang="zh-CN" altLang="en-US" sz="2800" dirty="0">
                <a:latin typeface="微软雅黑" panose="020B0503020204020204" charset="-122"/>
                <a:ea typeface="微软雅黑" panose="020B0503020204020204" charset="-122"/>
              </a:rPr>
              <a:t>四、</a:t>
            </a:r>
            <a:r>
              <a:rPr kumimoji="1" lang="zh-CN" altLang="en-US" sz="2800" dirty="0">
                <a:latin typeface="微软雅黑" panose="020B0503020204020204" charset="-122"/>
                <a:ea typeface="微软雅黑" panose="020B0503020204020204" charset="-122"/>
              </a:rPr>
              <a:t>无线基站勘察</a:t>
            </a:r>
            <a:endParaRPr kumimoji="1" lang="en-US" altLang="zh-CN" sz="2800" dirty="0">
              <a:latin typeface="微软雅黑" panose="020B0503020204020204" charset="-122"/>
              <a:ea typeface="微软雅黑" panose="020B0503020204020204" charset="-122"/>
            </a:endParaRPr>
          </a:p>
        </p:txBody>
      </p:sp>
      <p:cxnSp>
        <p:nvCxnSpPr>
          <p:cNvPr id="19" name="直接连接符 18"/>
          <p:cNvCxnSpPr/>
          <p:nvPr/>
        </p:nvCxnSpPr>
        <p:spPr>
          <a:xfrm>
            <a:off x="1961654" y="4930204"/>
            <a:ext cx="5281930"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20" name="TextBox 98"/>
          <p:cNvSpPr txBox="1"/>
          <p:nvPr/>
        </p:nvSpPr>
        <p:spPr>
          <a:xfrm>
            <a:off x="1961654" y="4408234"/>
            <a:ext cx="5201969" cy="523220"/>
          </a:xfrm>
          <a:prstGeom prst="rect">
            <a:avLst/>
          </a:prstGeom>
          <a:noFill/>
        </p:spPr>
        <p:txBody>
          <a:bodyPr wrap="square" rtlCol="0">
            <a:spAutoFit/>
          </a:bodyPr>
          <a:lstStyle/>
          <a:p>
            <a:r>
              <a:rPr lang="zh-CN" altLang="en-US" sz="2800" dirty="0">
                <a:latin typeface="微软雅黑" panose="020B0503020204020204" charset="-122"/>
                <a:ea typeface="微软雅黑" panose="020B0503020204020204" charset="-122"/>
              </a:rPr>
              <a:t>  </a:t>
            </a:r>
            <a:r>
              <a:rPr lang="zh-CN" altLang="en-US" sz="2800" b="1" dirty="0">
                <a:solidFill>
                  <a:srgbClr val="F25600"/>
                </a:solidFill>
                <a:latin typeface="微软雅黑" panose="020B0503020204020204" charset="-122"/>
                <a:ea typeface="微软雅黑" panose="020B0503020204020204" charset="-122"/>
              </a:rPr>
              <a:t>五、不同建局类别的工程勘察</a:t>
            </a:r>
            <a:endParaRPr lang="zh-CN" altLang="en-US" sz="2800" b="1" dirty="0">
              <a:solidFill>
                <a:srgbClr val="F25600"/>
              </a:solidFill>
              <a:latin typeface="微软雅黑" panose="020B0503020204020204" charset="-122"/>
              <a:ea typeface="微软雅黑" panose="020B0503020204020204" charset="-122"/>
            </a:endParaRPr>
          </a:p>
        </p:txBody>
      </p:sp>
      <p:pic>
        <p:nvPicPr>
          <p:cNvPr id="5"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7" name="Text Box 8"/>
          <p:cNvSpPr txBox="1">
            <a:spLocks noChangeArrowheads="1"/>
          </p:cNvSpPr>
          <p:nvPr/>
        </p:nvSpPr>
        <p:spPr bwMode="auto">
          <a:xfrm>
            <a:off x="785812" y="862013"/>
            <a:ext cx="7704137" cy="414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pPr>
            <a:r>
              <a:rPr lang="en-US" altLang="zh-CN" b="1" dirty="0">
                <a:latin typeface="微软雅黑" panose="020B0503020204020204" charset="-122"/>
                <a:ea typeface="微软雅黑" panose="020B0503020204020204" charset="-122"/>
              </a:rPr>
              <a:t>1</a:t>
            </a:r>
            <a:r>
              <a:rPr lang="zh-CN" altLang="en-US" b="1" dirty="0">
                <a:latin typeface="微软雅黑" panose="020B0503020204020204" charset="-122"/>
                <a:ea typeface="微软雅黑" panose="020B0503020204020204" charset="-122"/>
              </a:rPr>
              <a:t>、新建局的工程勘察</a:t>
            </a:r>
            <a:endParaRPr lang="zh-CN" altLang="en-US" b="1" dirty="0">
              <a:latin typeface="微软雅黑" panose="020B0503020204020204" charset="-122"/>
              <a:ea typeface="微软雅黑" panose="020B0503020204020204" charset="-122"/>
            </a:endParaRPr>
          </a:p>
          <a:p>
            <a:pPr eaLnBrk="1" hangingPunct="1">
              <a:lnSpc>
                <a:spcPct val="130000"/>
              </a:lnSpc>
            </a:pP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1</a:t>
            </a:r>
            <a:r>
              <a:rPr lang="zh-CN" altLang="en-US" dirty="0">
                <a:latin typeface="微软雅黑" panose="020B0503020204020204" charset="-122"/>
                <a:ea typeface="微软雅黑" panose="020B0503020204020204" charset="-122"/>
              </a:rPr>
              <a:t>）围绕客户的</a:t>
            </a:r>
            <a:r>
              <a:rPr lang="zh-CN" altLang="en-US" b="1" dirty="0">
                <a:solidFill>
                  <a:srgbClr val="FF6600"/>
                </a:solidFill>
                <a:latin typeface="微软雅黑" panose="020B0503020204020204" charset="-122"/>
                <a:ea typeface="微软雅黑" panose="020B0503020204020204" charset="-122"/>
              </a:rPr>
              <a:t>总体规划和思想</a:t>
            </a:r>
            <a:r>
              <a:rPr lang="zh-CN" altLang="en-US" dirty="0">
                <a:latin typeface="微软雅黑" panose="020B0503020204020204" charset="-122"/>
                <a:ea typeface="微软雅黑" panose="020B0503020204020204" charset="-122"/>
              </a:rPr>
              <a:t>来建局；</a:t>
            </a:r>
            <a:endParaRPr lang="zh-CN" altLang="en-US" dirty="0">
              <a:latin typeface="微软雅黑" panose="020B0503020204020204" charset="-122"/>
              <a:ea typeface="微软雅黑" panose="020B0503020204020204" charset="-122"/>
            </a:endParaRPr>
          </a:p>
          <a:p>
            <a:pPr eaLnBrk="1" hangingPunct="1">
              <a:lnSpc>
                <a:spcPct val="130000"/>
              </a:lnSpc>
            </a:pP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2</a:t>
            </a:r>
            <a:r>
              <a:rPr lang="zh-CN" altLang="en-US" dirty="0">
                <a:latin typeface="微软雅黑" panose="020B0503020204020204" charset="-122"/>
                <a:ea typeface="微软雅黑" panose="020B0503020204020204" charset="-122"/>
              </a:rPr>
              <a:t>）需对整个新建的通信机房进行</a:t>
            </a:r>
            <a:r>
              <a:rPr lang="zh-CN" altLang="en-US" b="1" dirty="0">
                <a:solidFill>
                  <a:srgbClr val="FF6600"/>
                </a:solidFill>
                <a:latin typeface="微软雅黑" panose="020B0503020204020204" charset="-122"/>
                <a:ea typeface="微软雅黑" panose="020B0503020204020204" charset="-122"/>
              </a:rPr>
              <a:t>全面勘察和详细分析。</a:t>
            </a:r>
            <a:endParaRPr lang="en-US" altLang="zh-CN" b="1" dirty="0">
              <a:solidFill>
                <a:srgbClr val="FF6600"/>
              </a:solidFill>
              <a:latin typeface="微软雅黑" panose="020B0503020204020204" charset="-122"/>
              <a:ea typeface="微软雅黑" panose="020B0503020204020204" charset="-122"/>
            </a:endParaRPr>
          </a:p>
          <a:p>
            <a:pPr eaLnBrk="1" hangingPunct="1">
              <a:lnSpc>
                <a:spcPct val="130000"/>
              </a:lnSpc>
              <a:spcBef>
                <a:spcPct val="50000"/>
              </a:spcBef>
            </a:pPr>
            <a:r>
              <a:rPr lang="en-US" altLang="zh-CN" b="1" dirty="0">
                <a:latin typeface="微软雅黑" panose="020B0503020204020204" charset="-122"/>
                <a:ea typeface="微软雅黑" panose="020B0503020204020204" charset="-122"/>
              </a:rPr>
              <a:t>2</a:t>
            </a:r>
            <a:r>
              <a:rPr lang="zh-CN" altLang="en-US" b="1" dirty="0">
                <a:latin typeface="微软雅黑" panose="020B0503020204020204" charset="-122"/>
                <a:ea typeface="微软雅黑" panose="020B0503020204020204" charset="-122"/>
              </a:rPr>
              <a:t>、机房扩容的工程勘察</a:t>
            </a:r>
            <a:endParaRPr lang="zh-CN" altLang="en-US" b="1" dirty="0">
              <a:latin typeface="微软雅黑" panose="020B0503020204020204" charset="-122"/>
              <a:ea typeface="微软雅黑" panose="020B0503020204020204" charset="-122"/>
            </a:endParaRPr>
          </a:p>
          <a:p>
            <a:pPr eaLnBrk="1" hangingPunct="1">
              <a:lnSpc>
                <a:spcPct val="130000"/>
              </a:lnSpc>
              <a:spcBef>
                <a:spcPct val="50000"/>
              </a:spcBef>
            </a:pPr>
            <a:r>
              <a:rPr lang="zh-CN" altLang="en-US" dirty="0">
                <a:latin typeface="微软雅黑" panose="020B0503020204020204" charset="-122"/>
                <a:ea typeface="微软雅黑" panose="020B0503020204020204" charset="-122"/>
              </a:rPr>
              <a:t>如果扩容的产品只有自己的独立性，则只需对该产品进行属性勘测；如果它与已建的产品产生一定的关联，这就不仅需要对其自身的产品属性进行独立的勘测，另外还有对其他相关的原有产品进行勘测。（</a:t>
            </a:r>
            <a:r>
              <a:rPr lang="en-US" altLang="zh-CN" dirty="0">
                <a:latin typeface="微软雅黑" panose="020B0503020204020204" charset="-122"/>
                <a:ea typeface="微软雅黑" panose="020B0503020204020204" charset="-122"/>
              </a:rPr>
              <a:t>1</a:t>
            </a:r>
            <a:r>
              <a:rPr lang="zh-CN" altLang="en-US" dirty="0">
                <a:latin typeface="微软雅黑" panose="020B0503020204020204" charset="-122"/>
                <a:ea typeface="微软雅黑" panose="020B0503020204020204" charset="-122"/>
              </a:rPr>
              <a:t>）需要与本次扩容的产品所</a:t>
            </a:r>
            <a:r>
              <a:rPr lang="zh-CN" altLang="en-US" b="1" dirty="0">
                <a:solidFill>
                  <a:srgbClr val="FF6600"/>
                </a:solidFill>
                <a:latin typeface="微软雅黑" panose="020B0503020204020204" charset="-122"/>
                <a:ea typeface="微软雅黑" panose="020B0503020204020204" charset="-122"/>
              </a:rPr>
              <a:t>对接</a:t>
            </a:r>
            <a:r>
              <a:rPr lang="zh-CN" altLang="en-US" dirty="0">
                <a:latin typeface="微软雅黑" panose="020B0503020204020204" charset="-122"/>
                <a:ea typeface="微软雅黑" panose="020B0503020204020204" charset="-122"/>
              </a:rPr>
              <a:t>的其他通信设备进行勘测，包括对接的端口数目、对接的线缆长度以及线缆的走向。</a:t>
            </a:r>
            <a:endParaRPr lang="en-US" altLang="zh-CN" dirty="0">
              <a:latin typeface="微软雅黑" panose="020B0503020204020204" charset="-122"/>
              <a:ea typeface="微软雅黑" panose="020B0503020204020204" charset="-122"/>
            </a:endParaRPr>
          </a:p>
          <a:p>
            <a:pPr eaLnBrk="1" hangingPunct="1">
              <a:lnSpc>
                <a:spcPct val="130000"/>
              </a:lnSpc>
              <a:spcBef>
                <a:spcPct val="50000"/>
              </a:spcBef>
            </a:pP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2</a:t>
            </a:r>
            <a:r>
              <a:rPr lang="zh-CN" altLang="en-US" dirty="0">
                <a:latin typeface="微软雅黑" panose="020B0503020204020204" charset="-122"/>
                <a:ea typeface="微软雅黑" panose="020B0503020204020204" charset="-122"/>
              </a:rPr>
              <a:t>）对与本次扩容产品发生</a:t>
            </a:r>
            <a:r>
              <a:rPr lang="zh-CN" altLang="en-US" b="1" dirty="0">
                <a:solidFill>
                  <a:srgbClr val="FF6600"/>
                </a:solidFill>
                <a:latin typeface="微软雅黑" panose="020B0503020204020204" charset="-122"/>
                <a:ea typeface="微软雅黑" panose="020B0503020204020204" charset="-122"/>
              </a:rPr>
              <a:t>直接接触</a:t>
            </a:r>
            <a:r>
              <a:rPr lang="zh-CN" altLang="en-US" dirty="0">
                <a:latin typeface="微软雅黑" panose="020B0503020204020204" charset="-122"/>
                <a:ea typeface="微软雅黑" panose="020B0503020204020204" charset="-122"/>
              </a:rPr>
              <a:t>的通信产品进行勘测。</a:t>
            </a:r>
            <a:endParaRPr lang="zh-CN" altLang="en-US" dirty="0">
              <a:latin typeface="微软雅黑" panose="020B0503020204020204" charset="-122"/>
              <a:ea typeface="微软雅黑" panose="020B0503020204020204" charset="-122"/>
            </a:endParaRPr>
          </a:p>
          <a:p>
            <a:pPr eaLnBrk="1" hangingPunct="1">
              <a:lnSpc>
                <a:spcPct val="130000"/>
              </a:lnSpc>
            </a:pPr>
            <a:endParaRPr lang="zh-CN" altLang="en-US" dirty="0">
              <a:latin typeface="微软雅黑" panose="020B0503020204020204" charset="-122"/>
              <a:ea typeface="微软雅黑" panose="020B0503020204020204" charset="-122"/>
            </a:endParaRPr>
          </a:p>
        </p:txBody>
      </p:sp>
      <p:pic>
        <p:nvPicPr>
          <p:cNvPr id="2"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383444" y="846262"/>
            <a:ext cx="7277100" cy="4371975"/>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7" name="图片 6"/>
          <p:cNvPicPr>
            <a:picLocks noChangeAspect="1"/>
          </p:cNvPicPr>
          <p:nvPr/>
        </p:nvPicPr>
        <p:blipFill>
          <a:blip r:embed="rId2"/>
          <a:stretch>
            <a:fillRect/>
          </a:stretch>
        </p:blipFill>
        <p:spPr>
          <a:xfrm>
            <a:off x="1457598" y="969764"/>
            <a:ext cx="6552728" cy="3985951"/>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673622" y="825748"/>
            <a:ext cx="6135017" cy="4146593"/>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601614" y="795962"/>
            <a:ext cx="6408712" cy="4448400"/>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378681" y="704079"/>
            <a:ext cx="7286625" cy="4524375"/>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673622" y="825748"/>
            <a:ext cx="6156164" cy="4096125"/>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435831" y="873657"/>
            <a:ext cx="7294575" cy="3923377"/>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673622" y="825748"/>
            <a:ext cx="6058247" cy="4227985"/>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479064" y="825749"/>
            <a:ext cx="6696744" cy="4387522"/>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025550" y="969764"/>
            <a:ext cx="7987063" cy="3156942"/>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673622" y="897756"/>
            <a:ext cx="6382283" cy="4049971"/>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553368" y="969764"/>
            <a:ext cx="7153275" cy="3876675"/>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889646" y="897756"/>
            <a:ext cx="6048672" cy="4154003"/>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673622" y="825747"/>
            <a:ext cx="6048672" cy="4274395"/>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817638" y="897756"/>
            <a:ext cx="5854880" cy="4218032"/>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7" name="图片 6"/>
          <p:cNvPicPr>
            <a:picLocks noChangeAspect="1"/>
          </p:cNvPicPr>
          <p:nvPr/>
        </p:nvPicPr>
        <p:blipFill>
          <a:blip r:embed="rId2"/>
          <a:stretch>
            <a:fillRect/>
          </a:stretch>
        </p:blipFill>
        <p:spPr>
          <a:xfrm>
            <a:off x="1817638" y="897756"/>
            <a:ext cx="5945473" cy="4154763"/>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745630" y="825748"/>
            <a:ext cx="5780310" cy="4143202"/>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673622" y="825748"/>
            <a:ext cx="6336704" cy="4274761"/>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817638" y="825748"/>
            <a:ext cx="6219858" cy="4320478"/>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5"/>
          <p:cNvPicPr>
            <a:picLocks noChangeAspect="1"/>
          </p:cNvPicPr>
          <p:nvPr/>
        </p:nvPicPr>
        <p:blipFill>
          <a:blip r:embed="rId2"/>
          <a:stretch>
            <a:fillRect/>
          </a:stretch>
        </p:blipFill>
        <p:spPr>
          <a:xfrm>
            <a:off x="1817638" y="842451"/>
            <a:ext cx="6226075" cy="4373756"/>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五、不同建局类别的工程勘察</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7" name="图片 6"/>
          <p:cNvPicPr>
            <a:picLocks noChangeAspect="1"/>
          </p:cNvPicPr>
          <p:nvPr/>
        </p:nvPicPr>
        <p:blipFill>
          <a:blip r:embed="rId2"/>
          <a:stretch>
            <a:fillRect/>
          </a:stretch>
        </p:blipFill>
        <p:spPr>
          <a:xfrm>
            <a:off x="1762284" y="753740"/>
            <a:ext cx="6413524" cy="4244618"/>
          </a:xfrm>
          <a:prstGeom prst="rect">
            <a:avLst/>
          </a:prstGeom>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工程勘察草图</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6" name="图片 1" descr="WeChatImage6362992381284361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3582" y="891540"/>
            <a:ext cx="3456384" cy="432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1"/>
          <p:cNvSpPr txBox="1">
            <a:spLocks noChangeArrowheads="1"/>
          </p:cNvSpPr>
          <p:nvPr/>
        </p:nvSpPr>
        <p:spPr bwMode="auto">
          <a:xfrm>
            <a:off x="6066110" y="1401812"/>
            <a:ext cx="2557462" cy="301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dirty="0">
                <a:solidFill>
                  <a:srgbClr val="FF0000"/>
                </a:solidFill>
              </a:rPr>
              <a:t>注意：勘察草图要包含的几项内容</a:t>
            </a:r>
            <a:r>
              <a:rPr lang="en-US" altLang="zh-CN" sz="2400" dirty="0">
                <a:solidFill>
                  <a:srgbClr val="FF0000"/>
                </a:solidFill>
              </a:rPr>
              <a:t>——</a:t>
            </a:r>
            <a:endParaRPr lang="en-US" altLang="zh-CN" sz="2400" dirty="0">
              <a:solidFill>
                <a:srgbClr val="FF0000"/>
              </a:solidFill>
            </a:endParaRPr>
          </a:p>
          <a:p>
            <a:r>
              <a:rPr lang="en-US" altLang="zh-CN" sz="2400" dirty="0">
                <a:solidFill>
                  <a:srgbClr val="FF0000"/>
                </a:solidFill>
              </a:rPr>
              <a:t>1</a:t>
            </a:r>
            <a:r>
              <a:rPr lang="zh-CN" altLang="en-US" sz="2400" dirty="0">
                <a:solidFill>
                  <a:srgbClr val="FF0000"/>
                </a:solidFill>
              </a:rPr>
              <a:t>、绘图区</a:t>
            </a:r>
            <a:endParaRPr lang="zh-CN" altLang="en-US" sz="2400" dirty="0">
              <a:solidFill>
                <a:srgbClr val="FF0000"/>
              </a:solidFill>
            </a:endParaRPr>
          </a:p>
          <a:p>
            <a:r>
              <a:rPr lang="en-US" altLang="zh-CN" sz="2400" dirty="0">
                <a:solidFill>
                  <a:srgbClr val="FF0000"/>
                </a:solidFill>
              </a:rPr>
              <a:t>2</a:t>
            </a:r>
            <a:r>
              <a:rPr lang="zh-CN" altLang="en-US" sz="2400" dirty="0">
                <a:solidFill>
                  <a:srgbClr val="FF0000"/>
                </a:solidFill>
              </a:rPr>
              <a:t>、设备清单区</a:t>
            </a:r>
            <a:endParaRPr lang="zh-CN" altLang="en-US" sz="2400" dirty="0">
              <a:solidFill>
                <a:srgbClr val="FF0000"/>
              </a:solidFill>
            </a:endParaRPr>
          </a:p>
          <a:p>
            <a:r>
              <a:rPr lang="en-US" altLang="zh-CN" sz="2400" dirty="0">
                <a:solidFill>
                  <a:srgbClr val="FF0000"/>
                </a:solidFill>
              </a:rPr>
              <a:t>3</a:t>
            </a:r>
            <a:r>
              <a:rPr lang="zh-CN" altLang="en-US" sz="2400" dirty="0">
                <a:solidFill>
                  <a:srgbClr val="FF0000"/>
                </a:solidFill>
              </a:rPr>
              <a:t>、手写信息区</a:t>
            </a:r>
            <a:endParaRPr lang="zh-CN" altLang="en-US" sz="2400" dirty="0">
              <a:solidFill>
                <a:srgbClr val="FF0000"/>
              </a:solidFill>
            </a:endParaRPr>
          </a:p>
          <a:p>
            <a:r>
              <a:rPr lang="en-US" altLang="zh-CN" sz="2400" dirty="0">
                <a:solidFill>
                  <a:srgbClr val="FF0000"/>
                </a:solidFill>
              </a:rPr>
              <a:t>4</a:t>
            </a:r>
            <a:r>
              <a:rPr lang="zh-CN" altLang="en-US" sz="2400" dirty="0">
                <a:solidFill>
                  <a:srgbClr val="FF0000"/>
                </a:solidFill>
              </a:rPr>
              <a:t>、签名区（</a:t>
            </a:r>
            <a:r>
              <a:rPr lang="en-US" altLang="zh-CN" sz="2400" dirty="0">
                <a:solidFill>
                  <a:srgbClr val="FF0000"/>
                </a:solidFill>
              </a:rPr>
              <a:t>CAD</a:t>
            </a:r>
            <a:r>
              <a:rPr lang="zh-CN" altLang="en-US" sz="2400" dirty="0">
                <a:solidFill>
                  <a:srgbClr val="FF0000"/>
                </a:solidFill>
              </a:rPr>
              <a:t>图纸体现）</a:t>
            </a:r>
            <a:endParaRPr lang="zh-CN" altLang="en-US" sz="2400" dirty="0">
              <a:solidFill>
                <a:srgbClr val="FF0000"/>
              </a:solidFill>
            </a:endParaRPr>
          </a:p>
        </p:txBody>
      </p:sp>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工程勘察草图</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sp>
        <p:nvSpPr>
          <p:cNvPr id="12" name="Text Box 12"/>
          <p:cNvSpPr txBox="1">
            <a:spLocks noChangeArrowheads="1"/>
          </p:cNvSpPr>
          <p:nvPr/>
        </p:nvSpPr>
        <p:spPr bwMode="gray">
          <a:xfrm>
            <a:off x="446405" y="897890"/>
            <a:ext cx="481584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20000"/>
              </a:spcBef>
              <a:buClr>
                <a:schemeClr val="tx1"/>
              </a:buClr>
              <a:buFont typeface="Wingdings" panose="05000000000000000000" pitchFamily="2" charset="2"/>
              <a:buChar char="v"/>
              <a:defRPr sz="2400">
                <a:solidFill>
                  <a:schemeClr val="tx1"/>
                </a:solidFill>
                <a:latin typeface="Verdana" panose="020B0604030504040204" pitchFamily="34" charset="0"/>
              </a:defRPr>
            </a:lvl1pPr>
            <a:lvl2pPr marL="742950" indent="-285750" algn="l">
              <a:spcBef>
                <a:spcPct val="20000"/>
              </a:spcBef>
              <a:buClr>
                <a:schemeClr val="tx2"/>
              </a:buClr>
              <a:buSzPct val="60000"/>
              <a:buFont typeface="Wingdings" panose="05000000000000000000" pitchFamily="2" charset="2"/>
              <a:buChar char="n"/>
              <a:defRPr sz="2000">
                <a:solidFill>
                  <a:schemeClr val="tx1"/>
                </a:solidFill>
                <a:latin typeface="Verdana" panose="020B0604030504040204" pitchFamily="34" charset="0"/>
              </a:defRPr>
            </a:lvl2pPr>
            <a:lvl3pPr marL="1143000" indent="-228600" algn="l">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defRPr>
            </a:lvl3pPr>
            <a:lvl4pPr marL="1600200" indent="-228600" algn="l">
              <a:spcBef>
                <a:spcPct val="20000"/>
              </a:spcBef>
              <a:buClr>
                <a:schemeClr val="tx1"/>
              </a:buClr>
              <a:buSzPct val="60000"/>
              <a:buFont typeface="Wingdings" panose="05000000000000000000" pitchFamily="2" charset="2"/>
              <a:buChar char="n"/>
              <a:defRPr sz="2000">
                <a:solidFill>
                  <a:schemeClr val="tx1"/>
                </a:solidFill>
                <a:latin typeface="Verdana" panose="020B0604030504040204" pitchFamily="34" charset="0"/>
              </a:defRPr>
            </a:lvl4pPr>
            <a:lvl5pPr marL="2057400" indent="-228600" algn="l">
              <a:spcBef>
                <a:spcPct val="20000"/>
              </a:spcBef>
              <a:buClr>
                <a:schemeClr val="hlink"/>
              </a:buClr>
              <a:buSzPct val="60000"/>
              <a:buFont typeface="Wingdings" panose="05000000000000000000" pitchFamily="2" charset="2"/>
              <a:buChar char="n"/>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Verdana" panose="020B0604030504040204" pitchFamily="34" charset="0"/>
              </a:defRPr>
            </a:lvl9pPr>
          </a:lstStyle>
          <a:p>
            <a:pPr>
              <a:spcBef>
                <a:spcPct val="0"/>
              </a:spcBef>
              <a:buClrTx/>
              <a:buFontTx/>
              <a:buNone/>
            </a:pPr>
            <a:r>
              <a:rPr lang="zh-CN" altLang="en-US" sz="1800" b="0" dirty="0">
                <a:solidFill>
                  <a:srgbClr val="1C1C1C"/>
                </a:solidFill>
                <a:latin typeface="微软雅黑" panose="020B0503020204020204" charset="-122"/>
                <a:ea typeface="微软雅黑" panose="020B0503020204020204" charset="-122"/>
                <a:cs typeface="微软雅黑" panose="020B0503020204020204" charset="-122"/>
              </a:rPr>
              <a:t>按照覆盖范围分为全向天线和定向天线：</a:t>
            </a:r>
            <a:endParaRPr lang="zh-CN" altLang="en-US" sz="1800" dirty="0">
              <a:solidFill>
                <a:srgbClr val="1C1C1C"/>
              </a:solidFill>
              <a:latin typeface="微软雅黑" panose="020B0503020204020204" charset="-122"/>
              <a:ea typeface="微软雅黑" panose="020B0503020204020204" charset="-122"/>
              <a:cs typeface="微软雅黑" panose="020B0503020204020204" charset="-122"/>
            </a:endParaRPr>
          </a:p>
          <a:p>
            <a:pPr>
              <a:spcBef>
                <a:spcPct val="0"/>
              </a:spcBef>
              <a:buClrTx/>
              <a:buFontTx/>
              <a:buNone/>
            </a:pPr>
            <a:endParaRPr lang="zh-CN" altLang="en-US" sz="1000" b="1" dirty="0">
              <a:solidFill>
                <a:srgbClr val="1C1C1C"/>
              </a:solidFill>
              <a:latin typeface="微软雅黑" panose="020B0503020204020204" charset="-122"/>
              <a:ea typeface="微软雅黑" panose="020B0503020204020204" charset="-122"/>
              <a:cs typeface="微软雅黑" panose="020B0503020204020204" charset="-122"/>
            </a:endParaRPr>
          </a:p>
          <a:p>
            <a:pPr>
              <a:spcBef>
                <a:spcPct val="0"/>
              </a:spcBef>
              <a:buClrTx/>
              <a:buFontTx/>
              <a:buNone/>
            </a:pPr>
            <a:r>
              <a:rPr lang="zh-CN" altLang="en-US" sz="1800" b="1" dirty="0">
                <a:solidFill>
                  <a:srgbClr val="1C1C1C"/>
                </a:solidFill>
                <a:latin typeface="微软雅黑" panose="020B0503020204020204" charset="-122"/>
                <a:ea typeface="微软雅黑" panose="020B0503020204020204" charset="-122"/>
                <a:cs typeface="微软雅黑" panose="020B0503020204020204" charset="-122"/>
              </a:rPr>
              <a:t>全向天线</a:t>
            </a:r>
            <a:r>
              <a:rPr lang="zh-CN" altLang="en-US" sz="1800" b="0" dirty="0">
                <a:solidFill>
                  <a:srgbClr val="1C1C1C"/>
                </a:solidFill>
                <a:latin typeface="微软雅黑" panose="020B0503020204020204" charset="-122"/>
                <a:ea typeface="微软雅黑" panose="020B0503020204020204" charset="-122"/>
                <a:cs typeface="微软雅黑" panose="020B0503020204020204" charset="-122"/>
              </a:rPr>
              <a:t>：信号在水平方向</a:t>
            </a:r>
            <a:r>
              <a:rPr lang="en-US" altLang="zh-CN" sz="1800" b="0" dirty="0">
                <a:solidFill>
                  <a:srgbClr val="1C1C1C"/>
                </a:solidFill>
                <a:latin typeface="微软雅黑" panose="020B0503020204020204" charset="-122"/>
                <a:ea typeface="微软雅黑" panose="020B0503020204020204" charset="-122"/>
                <a:cs typeface="微软雅黑" panose="020B0503020204020204" charset="-122"/>
              </a:rPr>
              <a:t>360</a:t>
            </a:r>
            <a:r>
              <a:rPr lang="zh-CN" altLang="en-US" sz="1800" b="0" dirty="0">
                <a:solidFill>
                  <a:srgbClr val="1C1C1C"/>
                </a:solidFill>
                <a:latin typeface="微软雅黑" panose="020B0503020204020204" charset="-122"/>
                <a:ea typeface="微软雅黑" panose="020B0503020204020204" charset="-122"/>
                <a:cs typeface="微软雅黑" panose="020B0503020204020204" charset="-122"/>
              </a:rPr>
              <a:t>度均匀辐射，适用于乡村、偏远山区等话务量较少的区域；</a:t>
            </a:r>
            <a:endParaRPr lang="zh-CN" altLang="en-US" sz="1800" dirty="0">
              <a:solidFill>
                <a:srgbClr val="1C1C1C"/>
              </a:solidFill>
              <a:latin typeface="微软雅黑" panose="020B0503020204020204" charset="-122"/>
              <a:ea typeface="微软雅黑" panose="020B0503020204020204" charset="-122"/>
              <a:cs typeface="微软雅黑" panose="020B0503020204020204" charset="-122"/>
            </a:endParaRPr>
          </a:p>
          <a:p>
            <a:pPr>
              <a:spcBef>
                <a:spcPct val="0"/>
              </a:spcBef>
              <a:buClrTx/>
              <a:buFontTx/>
              <a:buNone/>
            </a:pPr>
            <a:r>
              <a:rPr lang="zh-CN" altLang="en-US" sz="1800" b="1" dirty="0">
                <a:solidFill>
                  <a:srgbClr val="1C1C1C"/>
                </a:solidFill>
                <a:latin typeface="微软雅黑" panose="020B0503020204020204" charset="-122"/>
                <a:ea typeface="微软雅黑" panose="020B0503020204020204" charset="-122"/>
                <a:cs typeface="微软雅黑" panose="020B0503020204020204" charset="-122"/>
              </a:rPr>
              <a:t>定向天线</a:t>
            </a:r>
            <a:r>
              <a:rPr lang="zh-CN" altLang="en-US" sz="1800" b="0" dirty="0">
                <a:solidFill>
                  <a:srgbClr val="1C1C1C"/>
                </a:solidFill>
                <a:latin typeface="微软雅黑" panose="020B0503020204020204" charset="-122"/>
                <a:ea typeface="微软雅黑" panose="020B0503020204020204" charset="-122"/>
                <a:cs typeface="微软雅黑" panose="020B0503020204020204" charset="-122"/>
              </a:rPr>
              <a:t>：信号在一定的角度范围内辐射，适用于距离远、覆盖范围小、用户密度大、频率利用高的环境。</a:t>
            </a:r>
            <a:endParaRPr lang="zh-CN" altLang="en-US" sz="1800" b="0" dirty="0">
              <a:solidFill>
                <a:srgbClr val="1C1C1C"/>
              </a:solidFill>
              <a:latin typeface="微软雅黑" panose="020B0503020204020204" charset="-122"/>
              <a:ea typeface="微软雅黑" panose="020B0503020204020204" charset="-122"/>
              <a:cs typeface="微软雅黑" panose="020B0503020204020204" charset="-122"/>
            </a:endParaRPr>
          </a:p>
          <a:p>
            <a:pPr>
              <a:spcBef>
                <a:spcPct val="0"/>
              </a:spcBef>
              <a:buClrTx/>
              <a:buFontTx/>
              <a:buNone/>
            </a:pPr>
            <a:endParaRPr lang="zh-CN" altLang="en-US" sz="1000" b="0" dirty="0">
              <a:solidFill>
                <a:srgbClr val="1C1C1C"/>
              </a:solidFill>
              <a:latin typeface="微软雅黑" panose="020B0503020204020204" charset="-122"/>
              <a:ea typeface="微软雅黑" panose="020B0503020204020204" charset="-122"/>
              <a:cs typeface="微软雅黑" panose="020B0503020204020204" charset="-122"/>
            </a:endParaRPr>
          </a:p>
          <a:p>
            <a:pPr>
              <a:spcBef>
                <a:spcPct val="0"/>
              </a:spcBef>
              <a:buClrTx/>
              <a:buFontTx/>
              <a:buNone/>
            </a:pPr>
            <a:r>
              <a:rPr lang="zh-CN" altLang="en-US" sz="1800" b="0" dirty="0">
                <a:solidFill>
                  <a:srgbClr val="1C1C1C"/>
                </a:solidFill>
                <a:latin typeface="微软雅黑" panose="020B0503020204020204" charset="-122"/>
                <a:ea typeface="微软雅黑" panose="020B0503020204020204" charset="-122"/>
                <a:cs typeface="微软雅黑" panose="020B0503020204020204" charset="-122"/>
              </a:rPr>
              <a:t>现阶段移动通信多采用</a:t>
            </a:r>
            <a:r>
              <a:rPr lang="zh-CN" altLang="en-US" sz="1800" b="1" dirty="0">
                <a:solidFill>
                  <a:srgbClr val="1C1C1C"/>
                </a:solidFill>
                <a:latin typeface="微软雅黑" panose="020B0503020204020204" charset="-122"/>
                <a:ea typeface="微软雅黑" panose="020B0503020204020204" charset="-122"/>
                <a:cs typeface="微软雅黑" panose="020B0503020204020204" charset="-122"/>
              </a:rPr>
              <a:t>电调天线</a:t>
            </a:r>
            <a:r>
              <a:rPr lang="zh-CN" altLang="en-US" sz="1800" b="0" dirty="0">
                <a:solidFill>
                  <a:srgbClr val="1C1C1C"/>
                </a:solidFill>
                <a:latin typeface="微软雅黑" panose="020B0503020204020204" charset="-122"/>
                <a:ea typeface="微软雅黑" panose="020B0503020204020204" charset="-122"/>
                <a:cs typeface="微软雅黑" panose="020B0503020204020204" charset="-122"/>
              </a:rPr>
              <a:t>及</a:t>
            </a:r>
            <a:r>
              <a:rPr lang="zh-CN" altLang="en-US" sz="1800" b="1" dirty="0">
                <a:solidFill>
                  <a:srgbClr val="1C1C1C"/>
                </a:solidFill>
                <a:latin typeface="微软雅黑" panose="020B0503020204020204" charset="-122"/>
                <a:ea typeface="微软雅黑" panose="020B0503020204020204" charset="-122"/>
                <a:cs typeface="微软雅黑" panose="020B0503020204020204" charset="-122"/>
              </a:rPr>
              <a:t>双频双极化天线</a:t>
            </a:r>
            <a:r>
              <a:rPr lang="zh-CN" altLang="en-US" sz="1800" b="0" dirty="0">
                <a:solidFill>
                  <a:srgbClr val="1C1C1C"/>
                </a:solidFill>
                <a:latin typeface="微软雅黑" panose="020B0503020204020204" charset="-122"/>
                <a:ea typeface="微软雅黑" panose="020B0503020204020204" charset="-122"/>
                <a:cs typeface="微软雅黑" panose="020B0503020204020204" charset="-122"/>
              </a:rPr>
              <a:t>。</a:t>
            </a:r>
            <a:endParaRPr lang="zh-CN" altLang="en-US" sz="1800" b="0" dirty="0">
              <a:solidFill>
                <a:srgbClr val="1C1C1C"/>
              </a:solidFill>
              <a:latin typeface="微软雅黑" panose="020B0503020204020204" charset="-122"/>
              <a:ea typeface="微软雅黑" panose="020B0503020204020204" charset="-122"/>
              <a:cs typeface="微软雅黑" panose="020B0503020204020204" charset="-122"/>
            </a:endParaRPr>
          </a:p>
          <a:p>
            <a:pPr>
              <a:spcBef>
                <a:spcPct val="0"/>
              </a:spcBef>
              <a:buClrTx/>
              <a:buFontTx/>
              <a:buNone/>
            </a:pPr>
            <a:endParaRPr lang="zh-CN" altLang="en-US" sz="1000" dirty="0">
              <a:solidFill>
                <a:srgbClr val="1C1C1C"/>
              </a:solidFill>
              <a:latin typeface="微软雅黑" panose="020B0503020204020204" charset="-122"/>
              <a:ea typeface="微软雅黑" panose="020B0503020204020204" charset="-122"/>
              <a:cs typeface="微软雅黑" panose="020B0503020204020204" charset="-122"/>
            </a:endParaRPr>
          </a:p>
          <a:p>
            <a:pPr>
              <a:spcBef>
                <a:spcPct val="0"/>
              </a:spcBef>
              <a:buClrTx/>
              <a:buFontTx/>
              <a:buNone/>
            </a:pPr>
            <a:r>
              <a:rPr lang="zh-CN" altLang="en-US" sz="1800" dirty="0">
                <a:solidFill>
                  <a:srgbClr val="1C1C1C"/>
                </a:solidFill>
                <a:latin typeface="微软雅黑" panose="020B0503020204020204" charset="-122"/>
                <a:ea typeface="微软雅黑" panose="020B0503020204020204" charset="-122"/>
                <a:cs typeface="微软雅黑" panose="020B0503020204020204" charset="-122"/>
              </a:rPr>
              <a:t>查勘记录</a:t>
            </a:r>
            <a:r>
              <a:rPr lang="zh-CN" altLang="en-US" sz="1800" b="0" dirty="0">
                <a:solidFill>
                  <a:srgbClr val="1C1C1C"/>
                </a:solidFill>
                <a:latin typeface="微软雅黑" panose="020B0503020204020204" charset="-122"/>
                <a:ea typeface="微软雅黑" panose="020B0503020204020204" charset="-122"/>
                <a:cs typeface="微软雅黑" panose="020B0503020204020204" charset="-122"/>
              </a:rPr>
              <a:t>：天线的数量、挂高、类型、各小区覆盖范围、下倾角度、是否需要更换、新增天线安装位置、是否需要调整桅杆及角度、是否需要隐蔽处理等。</a:t>
            </a:r>
            <a:endParaRPr lang="zh-CN" altLang="en-US" sz="1800" b="0" dirty="0">
              <a:solidFill>
                <a:srgbClr val="1C1C1C"/>
              </a:solidFill>
              <a:latin typeface="微软雅黑" panose="020B0503020204020204" charset="-122"/>
              <a:ea typeface="微软雅黑" panose="020B0503020204020204" charset="-122"/>
              <a:cs typeface="微软雅黑" panose="020B0503020204020204" charset="-122"/>
            </a:endParaRPr>
          </a:p>
        </p:txBody>
      </p:sp>
      <p:pic>
        <p:nvPicPr>
          <p:cNvPr id="14" name="Picture 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5633720" y="1473835"/>
            <a:ext cx="4208780" cy="2712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77676"/>
            <a:ext cx="6768752"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工程勘察草图</a:t>
            </a:r>
            <a:endParaRPr kumimoji="1" lang="zh-CN" altLang="en-US"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pic>
        <p:nvPicPr>
          <p:cNvPr id="13" name="Picture 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5489575" y="1257935"/>
            <a:ext cx="4425315" cy="2995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16" name="Text Box 29"/>
          <p:cNvSpPr txBox="1">
            <a:spLocks noChangeArrowheads="1"/>
          </p:cNvSpPr>
          <p:nvPr/>
        </p:nvSpPr>
        <p:spPr bwMode="gray">
          <a:xfrm>
            <a:off x="665480" y="2121535"/>
            <a:ext cx="4256405" cy="1353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20000"/>
              </a:spcBef>
              <a:buClr>
                <a:schemeClr val="tx1"/>
              </a:buClr>
              <a:buFont typeface="Wingdings" panose="05000000000000000000" pitchFamily="2" charset="2"/>
              <a:buChar char="v"/>
              <a:defRPr sz="2400">
                <a:solidFill>
                  <a:schemeClr val="tx1"/>
                </a:solidFill>
                <a:latin typeface="Verdana" panose="020B0604030504040204" pitchFamily="34" charset="0"/>
              </a:defRPr>
            </a:lvl1pPr>
            <a:lvl2pPr marL="742950" indent="-285750" algn="l">
              <a:spcBef>
                <a:spcPct val="20000"/>
              </a:spcBef>
              <a:buClr>
                <a:schemeClr val="tx2"/>
              </a:buClr>
              <a:buSzPct val="60000"/>
              <a:buFont typeface="Wingdings" panose="05000000000000000000" pitchFamily="2" charset="2"/>
              <a:buChar char="n"/>
              <a:defRPr sz="2000">
                <a:solidFill>
                  <a:schemeClr val="tx1"/>
                </a:solidFill>
                <a:latin typeface="Verdana" panose="020B0604030504040204" pitchFamily="34" charset="0"/>
              </a:defRPr>
            </a:lvl2pPr>
            <a:lvl3pPr marL="1143000" indent="-228600" algn="l">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defRPr>
            </a:lvl3pPr>
            <a:lvl4pPr marL="1600200" indent="-228600" algn="l">
              <a:spcBef>
                <a:spcPct val="20000"/>
              </a:spcBef>
              <a:buClr>
                <a:schemeClr val="tx1"/>
              </a:buClr>
              <a:buSzPct val="60000"/>
              <a:buFont typeface="Wingdings" panose="05000000000000000000" pitchFamily="2" charset="2"/>
              <a:buChar char="n"/>
              <a:defRPr sz="2000">
                <a:solidFill>
                  <a:schemeClr val="tx1"/>
                </a:solidFill>
                <a:latin typeface="Verdana" panose="020B0604030504040204" pitchFamily="34" charset="0"/>
              </a:defRPr>
            </a:lvl4pPr>
            <a:lvl5pPr marL="2057400" indent="-228600" algn="l">
              <a:spcBef>
                <a:spcPct val="20000"/>
              </a:spcBef>
              <a:buClr>
                <a:schemeClr val="hlink"/>
              </a:buClr>
              <a:buSzPct val="60000"/>
              <a:buFont typeface="Wingdings" panose="05000000000000000000" pitchFamily="2" charset="2"/>
              <a:buChar char="n"/>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Verdana" panose="020B0604030504040204" pitchFamily="34" charset="0"/>
              </a:defRPr>
            </a:lvl9pPr>
          </a:lstStyle>
          <a:p>
            <a:pPr>
              <a:spcBef>
                <a:spcPct val="0"/>
              </a:spcBef>
              <a:buClrTx/>
              <a:buFontTx/>
              <a:buNone/>
            </a:pPr>
            <a:r>
              <a:rPr lang="zh-CN" altLang="en-US" sz="1800" b="0" dirty="0">
                <a:solidFill>
                  <a:srgbClr val="1C1C1C"/>
                </a:solidFill>
                <a:latin typeface="微软雅黑" panose="020B0503020204020204" charset="-122"/>
                <a:ea typeface="微软雅黑" panose="020B0503020204020204" charset="-122"/>
                <a:cs typeface="微软雅黑" panose="020B0503020204020204" charset="-122"/>
              </a:rPr>
              <a:t>馈线常用的类型有：</a:t>
            </a:r>
            <a:r>
              <a:rPr lang="en-US" altLang="zh-CN" sz="1800" b="0" dirty="0">
                <a:solidFill>
                  <a:srgbClr val="1C1C1C"/>
                </a:solidFill>
                <a:latin typeface="微软雅黑" panose="020B0503020204020204" charset="-122"/>
                <a:ea typeface="微软雅黑" panose="020B0503020204020204" charset="-122"/>
                <a:cs typeface="微软雅黑" panose="020B0503020204020204" charset="-122"/>
              </a:rPr>
              <a:t>7/8</a:t>
            </a:r>
            <a:r>
              <a:rPr lang="zh-CN" altLang="en-US" sz="1800" b="0" dirty="0">
                <a:solidFill>
                  <a:srgbClr val="1C1C1C"/>
                </a:solidFill>
                <a:latin typeface="微软雅黑" panose="020B0503020204020204" charset="-122"/>
                <a:ea typeface="微软雅黑" panose="020B0503020204020204" charset="-122"/>
                <a:cs typeface="微软雅黑" panose="020B0503020204020204" charset="-122"/>
              </a:rPr>
              <a:t>馈线和</a:t>
            </a:r>
            <a:r>
              <a:rPr lang="en-US" altLang="zh-CN" sz="1800" b="0" dirty="0">
                <a:solidFill>
                  <a:srgbClr val="1C1C1C"/>
                </a:solidFill>
                <a:latin typeface="微软雅黑" panose="020B0503020204020204" charset="-122"/>
                <a:ea typeface="微软雅黑" panose="020B0503020204020204" charset="-122"/>
                <a:cs typeface="微软雅黑" panose="020B0503020204020204" charset="-122"/>
              </a:rPr>
              <a:t>1/2</a:t>
            </a:r>
            <a:r>
              <a:rPr lang="zh-CN" altLang="en-US" sz="1800" b="0" dirty="0">
                <a:solidFill>
                  <a:srgbClr val="1C1C1C"/>
                </a:solidFill>
                <a:latin typeface="微软雅黑" panose="020B0503020204020204" charset="-122"/>
                <a:ea typeface="微软雅黑" panose="020B0503020204020204" charset="-122"/>
                <a:cs typeface="微软雅黑" panose="020B0503020204020204" charset="-122"/>
              </a:rPr>
              <a:t>馈线</a:t>
            </a:r>
            <a:endParaRPr lang="zh-CN" altLang="en-US" sz="1800" b="0" dirty="0">
              <a:solidFill>
                <a:srgbClr val="1C1C1C"/>
              </a:solidFill>
              <a:latin typeface="微软雅黑" panose="020B0503020204020204" charset="-122"/>
              <a:ea typeface="微软雅黑" panose="020B0503020204020204" charset="-122"/>
              <a:cs typeface="微软雅黑" panose="020B0503020204020204" charset="-122"/>
            </a:endParaRPr>
          </a:p>
          <a:p>
            <a:pPr>
              <a:spcBef>
                <a:spcPct val="0"/>
              </a:spcBef>
              <a:buClrTx/>
              <a:buFontTx/>
              <a:buNone/>
            </a:pPr>
            <a:endParaRPr lang="zh-CN" altLang="en-US" sz="1000" dirty="0">
              <a:solidFill>
                <a:srgbClr val="1C1C1C"/>
              </a:solidFill>
              <a:latin typeface="微软雅黑" panose="020B0503020204020204" charset="-122"/>
              <a:ea typeface="微软雅黑" panose="020B0503020204020204" charset="-122"/>
              <a:cs typeface="微软雅黑" panose="020B0503020204020204" charset="-122"/>
            </a:endParaRPr>
          </a:p>
          <a:p>
            <a:pPr>
              <a:spcBef>
                <a:spcPct val="0"/>
              </a:spcBef>
              <a:buClrTx/>
              <a:buFontTx/>
              <a:buNone/>
            </a:pPr>
            <a:r>
              <a:rPr lang="zh-CN" altLang="en-US" sz="1800" dirty="0">
                <a:solidFill>
                  <a:srgbClr val="1C1C1C"/>
                </a:solidFill>
                <a:latin typeface="微软雅黑" panose="020B0503020204020204" charset="-122"/>
                <a:ea typeface="微软雅黑" panose="020B0503020204020204" charset="-122"/>
                <a:cs typeface="微软雅黑" panose="020B0503020204020204" charset="-122"/>
              </a:rPr>
              <a:t>查勘记录</a:t>
            </a:r>
            <a:r>
              <a:rPr lang="zh-CN" altLang="en-US" sz="1800" b="0" dirty="0">
                <a:solidFill>
                  <a:srgbClr val="1C1C1C"/>
                </a:solidFill>
                <a:latin typeface="微软雅黑" panose="020B0503020204020204" charset="-122"/>
                <a:ea typeface="微软雅黑" panose="020B0503020204020204" charset="-122"/>
                <a:cs typeface="微软雅黑" panose="020B0503020204020204" charset="-122"/>
              </a:rPr>
              <a:t>：测量各小区馈线长度、室外走线架长度、需新增室外走线架或</a:t>
            </a:r>
            <a:r>
              <a:rPr lang="en-US" altLang="zh-CN" sz="1800" b="0" dirty="0">
                <a:solidFill>
                  <a:srgbClr val="1C1C1C"/>
                </a:solidFill>
                <a:latin typeface="微软雅黑" panose="020B0503020204020204" charset="-122"/>
                <a:ea typeface="微软雅黑" panose="020B0503020204020204" charset="-122"/>
                <a:cs typeface="微软雅黑" panose="020B0503020204020204" charset="-122"/>
              </a:rPr>
              <a:t>PVC</a:t>
            </a:r>
            <a:r>
              <a:rPr lang="zh-CN" altLang="en-US" sz="1800" b="0" dirty="0">
                <a:solidFill>
                  <a:srgbClr val="1C1C1C"/>
                </a:solidFill>
                <a:latin typeface="微软雅黑" panose="020B0503020204020204" charset="-122"/>
                <a:ea typeface="微软雅黑" panose="020B0503020204020204" charset="-122"/>
                <a:cs typeface="微软雅黑" panose="020B0503020204020204" charset="-122"/>
              </a:rPr>
              <a:t>套管长度、室外地排端子占用情况等。</a:t>
            </a:r>
            <a:endParaRPr lang="zh-CN" altLang="en-US" sz="1800" b="0" dirty="0">
              <a:solidFill>
                <a:srgbClr val="1C1C1C"/>
              </a:solidFill>
              <a:latin typeface="微软雅黑" panose="020B0503020204020204" charset="-122"/>
              <a:ea typeface="微软雅黑" panose="020B0503020204020204" charset="-122"/>
              <a:cs typeface="微软雅黑" panose="020B0503020204020204" charset="-122"/>
            </a:endParaRPr>
          </a:p>
        </p:txBody>
      </p:sp>
      <p:pic>
        <p:nvPicPr>
          <p:cNvPr id="2"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75808" y="199261"/>
            <a:ext cx="1942465" cy="454025"/>
          </a:xfrm>
          <a:prstGeom prst="rect">
            <a:avLst/>
          </a:prstGeom>
        </p:spPr>
      </p:pic>
      <p:grpSp>
        <p:nvGrpSpPr>
          <p:cNvPr id="5" name="组合 4"/>
          <p:cNvGrpSpPr/>
          <p:nvPr/>
        </p:nvGrpSpPr>
        <p:grpSpPr>
          <a:xfrm>
            <a:off x="1892935" y="1118870"/>
            <a:ext cx="6160191" cy="613410"/>
            <a:chOff x="4260" y="638"/>
            <a:chExt cx="8921" cy="966"/>
          </a:xfrm>
        </p:grpSpPr>
        <p:sp>
          <p:nvSpPr>
            <p:cNvPr id="6" name="矩形 5"/>
            <p:cNvSpPr/>
            <p:nvPr/>
          </p:nvSpPr>
          <p:spPr>
            <a:xfrm>
              <a:off x="11754" y="1545"/>
              <a:ext cx="1427" cy="59"/>
            </a:xfrm>
            <a:prstGeom prst="rect">
              <a:avLst/>
            </a:prstGeom>
            <a:solidFill>
              <a:srgbClr val="CBCB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7" name="TextBox 82"/>
            <p:cNvSpPr txBox="1"/>
            <p:nvPr/>
          </p:nvSpPr>
          <p:spPr>
            <a:xfrm>
              <a:off x="7277" y="638"/>
              <a:ext cx="2902" cy="785"/>
            </a:xfrm>
            <a:prstGeom prst="round2SameRect">
              <a:avLst>
                <a:gd name="adj1" fmla="val 27581"/>
                <a:gd name="adj2" fmla="val 0"/>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charset="-122"/>
                  <a:ea typeface="微软雅黑" panose="020B0503020204020204" charset="-122"/>
                </a:rPr>
                <a:t>课堂小结</a:t>
              </a:r>
              <a:endParaRPr lang="zh-CN" altLang="en-US" sz="3200" b="1" dirty="0">
                <a:latin typeface="微软雅黑" panose="020B0503020204020204" charset="-122"/>
                <a:ea typeface="微软雅黑" panose="020B0503020204020204" charset="-122"/>
              </a:endParaRPr>
            </a:p>
          </p:txBody>
        </p:sp>
        <p:sp>
          <p:nvSpPr>
            <p:cNvPr id="8" name="矩形 7"/>
            <p:cNvSpPr/>
            <p:nvPr/>
          </p:nvSpPr>
          <p:spPr>
            <a:xfrm>
              <a:off x="4260" y="1545"/>
              <a:ext cx="1427" cy="59"/>
            </a:xfrm>
            <a:prstGeom prst="rect">
              <a:avLst/>
            </a:prstGeom>
            <a:solidFill>
              <a:srgbClr val="E4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9" name="矩形 8"/>
            <p:cNvSpPr/>
            <p:nvPr/>
          </p:nvSpPr>
          <p:spPr>
            <a:xfrm>
              <a:off x="5759" y="1545"/>
              <a:ext cx="1427" cy="59"/>
            </a:xfrm>
            <a:prstGeom prst="rect">
              <a:avLst/>
            </a:prstGeom>
            <a:solidFill>
              <a:srgbClr val="8EC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10" name="矩形 9"/>
            <p:cNvSpPr/>
            <p:nvPr/>
          </p:nvSpPr>
          <p:spPr>
            <a:xfrm>
              <a:off x="7258" y="1545"/>
              <a:ext cx="1427" cy="59"/>
            </a:xfrm>
            <a:prstGeom prst="rect">
              <a:avLst/>
            </a:prstGeom>
            <a:solidFill>
              <a:srgbClr val="E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11" name="矩形 10"/>
            <p:cNvSpPr/>
            <p:nvPr/>
          </p:nvSpPr>
          <p:spPr>
            <a:xfrm>
              <a:off x="8756" y="1545"/>
              <a:ext cx="1427" cy="59"/>
            </a:xfrm>
            <a:prstGeom prst="rect">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sp>
          <p:nvSpPr>
            <p:cNvPr id="12" name="矩形 11"/>
            <p:cNvSpPr/>
            <p:nvPr/>
          </p:nvSpPr>
          <p:spPr>
            <a:xfrm>
              <a:off x="10255" y="1545"/>
              <a:ext cx="1427" cy="59"/>
            </a:xfrm>
            <a:prstGeom prst="rect">
              <a:avLst/>
            </a:prstGeom>
            <a:solidFill>
              <a:srgbClr val="CF01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0" dirty="0"/>
            </a:p>
          </p:txBody>
        </p:sp>
      </p:grpSp>
      <p:sp>
        <p:nvSpPr>
          <p:cNvPr id="15" name="TextBox 98"/>
          <p:cNvSpPr txBox="1"/>
          <p:nvPr/>
        </p:nvSpPr>
        <p:spPr>
          <a:xfrm>
            <a:off x="1169566" y="2846404"/>
            <a:ext cx="8064896" cy="920573"/>
          </a:xfrm>
          <a:prstGeom prst="rect">
            <a:avLst/>
          </a:prstGeom>
          <a:noFill/>
        </p:spPr>
        <p:txBody>
          <a:bodyPr wrap="square" rtlCol="0">
            <a:spAutoFit/>
          </a:bodyPr>
          <a:lstStyle/>
          <a:p>
            <a:pPr>
              <a:lnSpc>
                <a:spcPct val="150000"/>
              </a:lnSpc>
            </a:pPr>
            <a:r>
              <a:rPr kumimoji="1" lang="en-US" altLang="zh-CN" sz="2000" dirty="0">
                <a:latin typeface="微软雅黑" panose="020B0503020204020204" charset="-122"/>
                <a:ea typeface="微软雅黑" panose="020B0503020204020204" charset="-122"/>
                <a:cs typeface="微软雅黑" panose="020B0503020204020204" charset="-122"/>
                <a:sym typeface="+mn-ea"/>
              </a:rPr>
              <a:t>2</a:t>
            </a:r>
            <a:r>
              <a:rPr kumimoji="1" lang="zh-CN" altLang="en-US" sz="2000" dirty="0">
                <a:latin typeface="微软雅黑" panose="020B0503020204020204" charset="-122"/>
                <a:ea typeface="微软雅黑" panose="020B0503020204020204" charset="-122"/>
                <a:cs typeface="微软雅黑" panose="020B0503020204020204" charset="-122"/>
                <a:sym typeface="+mn-ea"/>
              </a:rPr>
              <a:t>、中心机房勘察内容：</a:t>
            </a:r>
            <a:r>
              <a:rPr kumimoji="1" lang="zh-CN" altLang="en-US" dirty="0">
                <a:latin typeface="微软雅黑" panose="020B0503020204020204" charset="-122"/>
                <a:ea typeface="微软雅黑" panose="020B0503020204020204" charset="-122"/>
                <a:cs typeface="微软雅黑" panose="020B0503020204020204" charset="-122"/>
                <a:sym typeface="+mn-ea"/>
              </a:rPr>
              <a:t>公共信息采集、室内安装环境勘测、机架安装勘察、</a:t>
            </a:r>
            <a:r>
              <a:rPr lang="zh-CN" altLang="en-US" dirty="0">
                <a:latin typeface="微软雅黑" panose="020B0503020204020204" charset="-122"/>
                <a:ea typeface="微软雅黑" panose="020B0503020204020204" charset="-122"/>
              </a:rPr>
              <a:t>设备勘察、走线勘察、配套设备勘测。</a:t>
            </a:r>
            <a:endParaRPr kumimoji="1" lang="zh-CN" altLang="en-US" sz="2000" dirty="0">
              <a:latin typeface="微软雅黑" panose="020B0503020204020204" charset="-122"/>
              <a:ea typeface="微软雅黑" panose="020B0503020204020204" charset="-122"/>
              <a:cs typeface="微软雅黑" panose="020B0503020204020204" charset="-122"/>
              <a:sym typeface="+mn-ea"/>
            </a:endParaRPr>
          </a:p>
        </p:txBody>
      </p:sp>
      <p:sp>
        <p:nvSpPr>
          <p:cNvPr id="16" name="TextBox 99"/>
          <p:cNvSpPr txBox="1"/>
          <p:nvPr/>
        </p:nvSpPr>
        <p:spPr>
          <a:xfrm>
            <a:off x="1097147" y="1949866"/>
            <a:ext cx="8424936" cy="984885"/>
          </a:xfrm>
          <a:prstGeom prst="rect">
            <a:avLst/>
          </a:prstGeom>
          <a:noFill/>
        </p:spPr>
        <p:txBody>
          <a:bodyPr wrap="square" rtlCol="0">
            <a:spAutoFit/>
          </a:bodyPr>
          <a:lstStyle/>
          <a:p>
            <a:pPr indent="-342900">
              <a:spcBef>
                <a:spcPct val="20000"/>
              </a:spcBef>
            </a:pPr>
            <a:r>
              <a:rPr lang="en-US" altLang="zh-CN" sz="2000" b="1" dirty="0">
                <a:solidFill>
                  <a:srgbClr val="F25600"/>
                </a:solidFill>
                <a:latin typeface="微软雅黑" panose="020B0503020204020204" charset="-122"/>
                <a:ea typeface="微软雅黑" panose="020B0503020204020204" charset="-122"/>
              </a:rPr>
              <a:t> </a:t>
            </a:r>
            <a:r>
              <a:rPr lang="en-US" altLang="zh-CN" sz="2000" dirty="0">
                <a:solidFill>
                  <a:schemeClr val="tx1"/>
                </a:solidFill>
                <a:latin typeface="微软雅黑" panose="020B0503020204020204" charset="-122"/>
                <a:ea typeface="微软雅黑" panose="020B0503020204020204" charset="-122"/>
              </a:rPr>
              <a:t>1</a:t>
            </a:r>
            <a:r>
              <a:rPr lang="zh-CN" altLang="en-US" sz="2000" dirty="0">
                <a:solidFill>
                  <a:schemeClr val="tx1"/>
                </a:solidFill>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sym typeface="+mn-ea"/>
              </a:rPr>
              <a:t>工程勘察流程：</a:t>
            </a:r>
            <a:r>
              <a:rPr kumimoji="1" lang="zh-CN" altLang="en-US" dirty="0">
                <a:latin typeface="微软雅黑" panose="020B0503020204020204" charset="-122"/>
                <a:ea typeface="微软雅黑" panose="020B0503020204020204" charset="-122"/>
                <a:cs typeface="微软雅黑" panose="020B0503020204020204" charset="-122"/>
              </a:rPr>
              <a:t>签发工程勘察任务书、勘察任务审核、勘察任务安排、工程勘察准备，制定工程勘察计划、工程现场勘察，第一次环境验收、勘察文档制作、勘察评审、文档处理、输出结果。</a:t>
            </a:r>
            <a:endParaRPr lang="en-US" altLang="zh-CN" sz="2000" dirty="0">
              <a:solidFill>
                <a:schemeClr val="tx1"/>
              </a:solidFill>
              <a:latin typeface="微软雅黑" panose="020B0503020204020204" charset="-122"/>
              <a:ea typeface="微软雅黑" panose="020B0503020204020204" charset="-122"/>
              <a:sym typeface="+mn-ea"/>
            </a:endParaRPr>
          </a:p>
        </p:txBody>
      </p:sp>
      <p:sp>
        <p:nvSpPr>
          <p:cNvPr id="18" name="TextBox 98"/>
          <p:cNvSpPr txBox="1"/>
          <p:nvPr/>
        </p:nvSpPr>
        <p:spPr>
          <a:xfrm>
            <a:off x="1177027" y="3852045"/>
            <a:ext cx="8424936" cy="499624"/>
          </a:xfrm>
          <a:prstGeom prst="rect">
            <a:avLst/>
          </a:prstGeom>
          <a:noFill/>
        </p:spPr>
        <p:txBody>
          <a:bodyPr wrap="square" rtlCol="0">
            <a:spAutoFit/>
          </a:bodyPr>
          <a:lstStyle/>
          <a:p>
            <a:pPr indent="-342900">
              <a:lnSpc>
                <a:spcPct val="150000"/>
              </a:lnSpc>
              <a:spcBef>
                <a:spcPct val="20000"/>
              </a:spcBef>
            </a:pPr>
            <a:r>
              <a:rPr kumimoji="1" lang="en-US" altLang="zh-CN" sz="2000" dirty="0">
                <a:latin typeface="微软雅黑" panose="020B0503020204020204" charset="-122"/>
                <a:ea typeface="微软雅黑" panose="020B0503020204020204" charset="-122"/>
                <a:cs typeface="微软雅黑" panose="020B0503020204020204" charset="-122"/>
              </a:rPr>
              <a:t>3、</a:t>
            </a:r>
            <a:r>
              <a:rPr kumimoji="1" lang="zh-CN" altLang="en-US" sz="2000" dirty="0">
                <a:latin typeface="微软雅黑" panose="020B0503020204020204" charset="-122"/>
                <a:ea typeface="微软雅黑" panose="020B0503020204020204" charset="-122"/>
                <a:cs typeface="微软雅黑" panose="020B0503020204020204" charset="-122"/>
                <a:sym typeface="+mn-ea"/>
              </a:rPr>
              <a:t>无线基站勘察内容：</a:t>
            </a:r>
            <a:r>
              <a:rPr lang="zh-CN" altLang="en-US" dirty="0">
                <a:latin typeface="微软雅黑" panose="020B0503020204020204" charset="-122"/>
                <a:ea typeface="微软雅黑" panose="020B0503020204020204" charset="-122"/>
              </a:rPr>
              <a:t>站址选择勘察</a:t>
            </a:r>
            <a:r>
              <a:rPr kumimoji="1" lang="zh-CN" altLang="en-US" dirty="0">
                <a:latin typeface="微软雅黑" panose="020B0503020204020204" charset="-122"/>
                <a:ea typeface="微软雅黑" panose="020B0503020204020204" charset="-122"/>
                <a:sym typeface="+mn-ea"/>
              </a:rPr>
              <a:t>、</a:t>
            </a:r>
            <a:r>
              <a:rPr lang="zh-CN" altLang="en-US" dirty="0">
                <a:latin typeface="微软雅黑" panose="020B0503020204020204" charset="-122"/>
                <a:ea typeface="微软雅黑" panose="020B0503020204020204" charset="-122"/>
              </a:rPr>
              <a:t>室内安装勘察、室外安装勘察。</a:t>
            </a:r>
            <a:endParaRPr lang="zh-CN" altLang="en-US" dirty="0">
              <a:latin typeface="微软雅黑" panose="020B0503020204020204" charset="-122"/>
              <a:ea typeface="微软雅黑" panose="020B0503020204020204" charset="-122"/>
            </a:endParaRPr>
          </a:p>
        </p:txBody>
      </p:sp>
      <p:pic>
        <p:nvPicPr>
          <p:cNvPr id="3"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4925" y="106045"/>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p="http://schemas.openxmlformats.org/presentationml/2006/main">
  <p:tag name="commondata" val="eyJoZGlkIjoiYmIzNzUxYjVhMzRkNmFhZjQwYjk2MTY0M2ZmN2NiZWUifQ=="/>
  <p:tag name="COMMONDATA" val="eyJoZGlkIjoiZGFlNWRkNmVlMTQxOWJjOTRkYjEzOTE3MmJkY2Q1MW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4590</Words>
  <Application>WPS 演示</Application>
  <PresentationFormat>自定义</PresentationFormat>
  <Paragraphs>428</Paragraphs>
  <Slides>64</Slides>
  <Notes>32</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2</vt:i4>
      </vt:variant>
      <vt:variant>
        <vt:lpstr>幻灯片标题</vt:lpstr>
      </vt:variant>
      <vt:variant>
        <vt:i4>64</vt:i4>
      </vt:variant>
    </vt:vector>
  </HeadingPairs>
  <TitlesOfParts>
    <vt:vector size="79" baseType="lpstr">
      <vt:lpstr>Arial</vt:lpstr>
      <vt:lpstr>宋体</vt:lpstr>
      <vt:lpstr>Wingdings</vt:lpstr>
      <vt:lpstr>微软雅黑 Light</vt:lpstr>
      <vt:lpstr>新宋体</vt:lpstr>
      <vt:lpstr>微软雅黑</vt:lpstr>
      <vt:lpstr>Times New Roman</vt:lpstr>
      <vt:lpstr>Calibri</vt:lpstr>
      <vt:lpstr>Arial Unicode MS</vt:lpstr>
      <vt:lpstr>黑体</vt:lpstr>
      <vt:lpstr>Verdana</vt:lpstr>
      <vt:lpstr>Office 主题</vt:lpstr>
      <vt:lpstr>自定义设计方案</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Windows 用户</dc:creator>
  <cp:lastModifiedBy>WPS_1756649582</cp:lastModifiedBy>
  <cp:revision>150</cp:revision>
  <dcterms:created xsi:type="dcterms:W3CDTF">2016-04-25T01:13:00Z</dcterms:created>
  <dcterms:modified xsi:type="dcterms:W3CDTF">2025-09-11T13:46:56Z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2F0B0FF33F7244968C4E274BD855F4A4_13</vt:lpwstr>
  </property>
</Properties>
</file>