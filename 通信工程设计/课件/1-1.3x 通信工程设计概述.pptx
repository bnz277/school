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5"/>
  </p:handoutMasterIdLst>
  <p:sldIdLst>
    <p:sldId id="408" r:id="rId4"/>
    <p:sldId id="360" r:id="rId6"/>
    <p:sldId id="411" r:id="rId7"/>
    <p:sldId id="412" r:id="rId8"/>
    <p:sldId id="433" r:id="rId9"/>
    <p:sldId id="434" r:id="rId10"/>
    <p:sldId id="435" r:id="rId11"/>
    <p:sldId id="415" r:id="rId12"/>
    <p:sldId id="416" r:id="rId13"/>
    <p:sldId id="441" r:id="rId14"/>
    <p:sldId id="443" r:id="rId15"/>
    <p:sldId id="436" r:id="rId16"/>
    <p:sldId id="437" r:id="rId17"/>
    <p:sldId id="464" r:id="rId18"/>
    <p:sldId id="467" r:id="rId19"/>
    <p:sldId id="469" r:id="rId20"/>
    <p:sldId id="470" r:id="rId21"/>
    <p:sldId id="368" r:id="rId22"/>
    <p:sldId id="396" r:id="rId23"/>
    <p:sldId id="382" r:id="rId24"/>
    <p:sldId id="383" r:id="rId25"/>
    <p:sldId id="414" r:id="rId26"/>
    <p:sldId id="417" r:id="rId27"/>
    <p:sldId id="418" r:id="rId28"/>
    <p:sldId id="419" r:id="rId29"/>
    <p:sldId id="420" r:id="rId30"/>
    <p:sldId id="422" r:id="rId31"/>
    <p:sldId id="423" r:id="rId32"/>
    <p:sldId id="440" r:id="rId33"/>
    <p:sldId id="410" r:id="rId34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6600"/>
    <a:srgbClr val="10096D"/>
    <a:srgbClr val="0066FF"/>
    <a:srgbClr val="1601B3"/>
    <a:srgbClr val="130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385"/>
    <p:restoredTop sz="90892"/>
  </p:normalViewPr>
  <p:slideViewPr>
    <p:cSldViewPr showGuides="1">
      <p:cViewPr varScale="1">
        <p:scale>
          <a:sx n="64" d="100"/>
          <a:sy n="64" d="100"/>
        </p:scale>
        <p:origin x="-1656" y="-96"/>
      </p:cViewPr>
      <p:guideLst>
        <p:guide orient="horz" pos="21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tags" Target="tags/tag1.xml"/><Relationship Id="rId4" Type="http://schemas.openxmlformats.org/officeDocument/2006/relationships/slide" Target="slides/slide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B4E886-B85C-4353-BAC1-BE04AC9F973D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669CF5A-D651-4FC9-85F3-0C095FB4CBA8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主设备安装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277B5A0-CA9C-4D48-8821-FF6C73FC36CC}" cxnId="{3B90A27E-56AC-4994-98A3-9BF989A0A377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59A00ED-1E11-4E1B-B3E5-54EB4B5DCD6C}" cxnId="{3B90A27E-56AC-4994-98A3-9BF989A0A377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6B42C8A3-1EA8-46C4-B1BE-F4458EA8031D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基站收发信机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648CC031-474E-4E9F-A2C2-FC7779864625}" cxnId="{17B84E0A-F425-440A-A077-A4D92D72809D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8A051A8-5029-4659-A0CB-ED70828A0D65}" cxnId="{17B84E0A-F425-440A-A077-A4D92D72809D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CDB580A-A2FE-4E00-92BD-F44EA5FB15ED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配套设备安装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85F385BF-544F-4FD4-9C70-4949E0D89C76}" cxnId="{E4C39EAE-2778-4343-8E89-98569892FF14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0CAC1E2-0920-4298-B311-5049F116DB44}" cxnId="{E4C39EAE-2778-4343-8E89-98569892FF14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868B229-6A3B-44E6-92E9-27D07877F228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传输设备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89D892E-2CFF-496E-A4EE-816BB4B790BE}" cxnId="{372DAFDF-D9B3-4066-B118-5637A32BC804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9679E5C-F9B7-4E16-9C34-2F82A3129E2D}" cxnId="{372DAFDF-D9B3-4066-B118-5637A32BC804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7D867E93-6E9F-4857-A61A-A4E905ABDD05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电源系统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BBD42893-6C30-4BEA-B6B9-B18B7280117F}" cxnId="{FC7807C0-0D27-48E5-9630-91E53413FFEA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02386C5C-CD9E-4D88-899A-5EB89D7CBA76}" cxnId="{FC7807C0-0D27-48E5-9630-91E53413FFEA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860A901-3D8E-47EA-86DE-DC7AD038D05D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环境监控系统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2F31D241-73B7-43D0-9421-E3247D02FD12}" cxnId="{99C5CEB4-754F-414A-85E3-91E5339FC59C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743F718F-EF7C-4492-B78C-D17F0864DF8A}" cxnId="{99C5CEB4-754F-414A-85E3-91E5339FC59C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059E8AF7-FBDF-4CCB-BF85-F3119955DCDF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附属设施建设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A536D2E-ED4E-458F-A598-ACE69C0E2DC5}" cxnId="{2A44D50A-E49D-4EB5-B72C-A0AC9662F3E0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F1182CA-BA50-4AEE-A59B-B9032B147ABC}" cxnId="{2A44D50A-E49D-4EB5-B72C-A0AC9662F3E0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6B228B4C-9047-4F0E-8128-F6CD2CBB0EE6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空调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54FBDF5-1273-42CF-93A8-37FDAC86E028}" cxnId="{AD5E6C52-BD8A-4D31-A9A5-F0859621A385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49A8BB8-E7A7-42B2-AF43-7D4D5608B5D6}" cxnId="{AD5E6C52-BD8A-4D31-A9A5-F0859621A385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868A23C-C835-4D7B-8F82-4D89E3ECECE4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天馈系统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91C6F36-9535-4E7B-BC83-4B8767FDB01C}" cxnId="{E1EB0BDF-BC88-47F8-B229-6044415E0D49}" type="parTrans">
      <dgm:prSet/>
      <dgm:spPr/>
      <dgm:t>
        <a:bodyPr/>
        <a:lstStyle/>
        <a:p>
          <a:endParaRPr lang="zh-CN" altLang="en-US"/>
        </a:p>
      </dgm:t>
    </dgm:pt>
    <dgm:pt modelId="{60F75266-E348-4FA1-912B-CCBEA9CAE573}" cxnId="{E1EB0BDF-BC88-47F8-B229-6044415E0D49}" type="sibTrans">
      <dgm:prSet/>
      <dgm:spPr/>
      <dgm:t>
        <a:bodyPr/>
        <a:lstStyle/>
        <a:p>
          <a:endParaRPr lang="zh-CN" altLang="en-US"/>
        </a:p>
      </dgm:t>
    </dgm:pt>
    <dgm:pt modelId="{0DFB45F9-E7D6-413F-B593-325DBE0F1AE0}" type="pres">
      <dgm:prSet presAssocID="{0BB4E886-B85C-4353-BAC1-BE04AC9F973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5B7BA72E-EA3F-4D02-83B1-3AAA6910856A}" type="pres">
      <dgm:prSet presAssocID="{6669CF5A-D651-4FC9-85F3-0C095FB4CBA8}" presName="root" presStyleCnt="0"/>
      <dgm:spPr/>
    </dgm:pt>
    <dgm:pt modelId="{861CF5E5-3197-4155-8EE5-8ADB1E9A430A}" type="pres">
      <dgm:prSet presAssocID="{6669CF5A-D651-4FC9-85F3-0C095FB4CBA8}" presName="rootComposite" presStyleCnt="0"/>
      <dgm:spPr/>
    </dgm:pt>
    <dgm:pt modelId="{7D4A4341-C491-49FE-9757-85BA03B75D67}" type="pres">
      <dgm:prSet presAssocID="{6669CF5A-D651-4FC9-85F3-0C095FB4CBA8}" presName="rootText" presStyleLbl="node1" presStyleIdx="0" presStyleCnt="3" custScaleX="127501"/>
      <dgm:spPr/>
      <dgm:t>
        <a:bodyPr/>
        <a:lstStyle/>
        <a:p>
          <a:endParaRPr lang="zh-CN" altLang="en-US"/>
        </a:p>
      </dgm:t>
    </dgm:pt>
    <dgm:pt modelId="{686ED53E-8715-40A3-8D0C-E8A77F33ED35}" type="pres">
      <dgm:prSet presAssocID="{6669CF5A-D651-4FC9-85F3-0C095FB4CBA8}" presName="rootConnector" presStyleLbl="node1" presStyleIdx="0" presStyleCnt="3"/>
      <dgm:spPr/>
      <dgm:t>
        <a:bodyPr/>
        <a:lstStyle/>
        <a:p>
          <a:endParaRPr lang="zh-CN" altLang="en-US"/>
        </a:p>
      </dgm:t>
    </dgm:pt>
    <dgm:pt modelId="{FFE883CB-4868-4247-A8DA-50B21F98B477}" type="pres">
      <dgm:prSet presAssocID="{6669CF5A-D651-4FC9-85F3-0C095FB4CBA8}" presName="childShape" presStyleCnt="0"/>
      <dgm:spPr/>
    </dgm:pt>
    <dgm:pt modelId="{F47E8A05-9D53-4185-BC7F-99625C6CFAF0}" type="pres">
      <dgm:prSet presAssocID="{648CC031-474E-4E9F-A2C2-FC7779864625}" presName="Name13" presStyleLbl="parChTrans1D2" presStyleIdx="0" presStyleCnt="6"/>
      <dgm:spPr/>
      <dgm:t>
        <a:bodyPr/>
        <a:lstStyle/>
        <a:p>
          <a:endParaRPr lang="zh-CN" altLang="en-US"/>
        </a:p>
      </dgm:t>
    </dgm:pt>
    <dgm:pt modelId="{AA2540BA-6F8F-4F34-A8AE-CA45C3C20B9A}" type="pres">
      <dgm:prSet presAssocID="{6B42C8A3-1EA8-46C4-B1BE-F4458EA8031D}" presName="childText" presStyleLbl="bgAcc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AC7EAD9-1919-4C4B-B694-70F5EA4E1579}" type="pres">
      <dgm:prSet presAssocID="{1CDB580A-A2FE-4E00-92BD-F44EA5FB15ED}" presName="root" presStyleCnt="0"/>
      <dgm:spPr/>
    </dgm:pt>
    <dgm:pt modelId="{A54CE6E6-F987-4D72-A0FE-81E729568E0C}" type="pres">
      <dgm:prSet presAssocID="{1CDB580A-A2FE-4E00-92BD-F44EA5FB15ED}" presName="rootComposite" presStyleCnt="0"/>
      <dgm:spPr/>
    </dgm:pt>
    <dgm:pt modelId="{B46461B1-2F48-4B2B-8157-12F2AE413F92}" type="pres">
      <dgm:prSet presAssocID="{1CDB580A-A2FE-4E00-92BD-F44EA5FB15ED}" presName="rootText" presStyleLbl="node1" presStyleIdx="1" presStyleCnt="3" custScaleX="128298"/>
      <dgm:spPr/>
      <dgm:t>
        <a:bodyPr/>
        <a:lstStyle/>
        <a:p>
          <a:endParaRPr lang="zh-CN" altLang="en-US"/>
        </a:p>
      </dgm:t>
    </dgm:pt>
    <dgm:pt modelId="{97441827-51B1-48A0-82F6-03694B96B9A3}" type="pres">
      <dgm:prSet presAssocID="{1CDB580A-A2FE-4E00-92BD-F44EA5FB15ED}" presName="rootConnector" presStyleLbl="node1" presStyleIdx="1" presStyleCnt="3"/>
      <dgm:spPr/>
      <dgm:t>
        <a:bodyPr/>
        <a:lstStyle/>
        <a:p>
          <a:endParaRPr lang="zh-CN" altLang="en-US"/>
        </a:p>
      </dgm:t>
    </dgm:pt>
    <dgm:pt modelId="{09F4CA81-3595-4282-BC69-3E3F74034C90}" type="pres">
      <dgm:prSet presAssocID="{1CDB580A-A2FE-4E00-92BD-F44EA5FB15ED}" presName="childShape" presStyleCnt="0"/>
      <dgm:spPr/>
    </dgm:pt>
    <dgm:pt modelId="{46353A3F-9375-4503-91B2-42DA89B414AB}" type="pres">
      <dgm:prSet presAssocID="{189D892E-2CFF-496E-A4EE-816BB4B790BE}" presName="Name13" presStyleLbl="parChTrans1D2" presStyleIdx="1" presStyleCnt="6"/>
      <dgm:spPr/>
      <dgm:t>
        <a:bodyPr/>
        <a:lstStyle/>
        <a:p>
          <a:endParaRPr lang="zh-CN" altLang="en-US"/>
        </a:p>
      </dgm:t>
    </dgm:pt>
    <dgm:pt modelId="{FE7BBF38-A136-4C7D-AC12-18EF1AC8EA1D}" type="pres">
      <dgm:prSet presAssocID="{1868B229-6A3B-44E6-92E9-27D07877F228}" presName="childText" presStyleLbl="bgAcc1" presStyleIdx="1" presStyleCnt="6" custScaleX="12661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2935F63-975B-4F08-84DE-6E065232CE7F}" type="pres">
      <dgm:prSet presAssocID="{BBD42893-6C30-4BEA-B6B9-B18B7280117F}" presName="Name13" presStyleLbl="parChTrans1D2" presStyleIdx="2" presStyleCnt="6"/>
      <dgm:spPr/>
      <dgm:t>
        <a:bodyPr/>
        <a:lstStyle/>
        <a:p>
          <a:endParaRPr lang="zh-CN" altLang="en-US"/>
        </a:p>
      </dgm:t>
    </dgm:pt>
    <dgm:pt modelId="{43FE85E1-5A0E-4B75-BB44-75FC526F5900}" type="pres">
      <dgm:prSet presAssocID="{7D867E93-6E9F-4857-A61A-A4E905ABDD05}" presName="childText" presStyleLbl="bgAcc1" presStyleIdx="2" presStyleCnt="6" custScaleX="12661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CB21663-4D60-4F8F-972D-C2FAFF34D56A}" type="pres">
      <dgm:prSet presAssocID="{C91C6F36-9535-4E7B-BC83-4B8767FDB01C}" presName="Name13" presStyleLbl="parChTrans1D2" presStyleIdx="3" presStyleCnt="6"/>
      <dgm:spPr/>
      <dgm:t>
        <a:bodyPr/>
        <a:lstStyle/>
        <a:p>
          <a:endParaRPr lang="zh-CN" altLang="en-US"/>
        </a:p>
      </dgm:t>
    </dgm:pt>
    <dgm:pt modelId="{B6D5B2A6-0935-4A9B-B6A8-1E50B7BD65BF}" type="pres">
      <dgm:prSet presAssocID="{5868A23C-C835-4D7B-8F82-4D89E3ECECE4}" presName="childText" presStyleLbl="bgAcc1" presStyleIdx="3" presStyleCnt="6" custScaleX="12279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727E798-6F10-47F7-B414-69ECD088F414}" type="pres">
      <dgm:prSet presAssocID="{059E8AF7-FBDF-4CCB-BF85-F3119955DCDF}" presName="root" presStyleCnt="0"/>
      <dgm:spPr/>
    </dgm:pt>
    <dgm:pt modelId="{5664F813-CF50-4267-AB95-075DA473C87F}" type="pres">
      <dgm:prSet presAssocID="{059E8AF7-FBDF-4CCB-BF85-F3119955DCDF}" presName="rootComposite" presStyleCnt="0"/>
      <dgm:spPr/>
    </dgm:pt>
    <dgm:pt modelId="{54D77DCC-6CFC-4D55-AAC0-117496FC1662}" type="pres">
      <dgm:prSet presAssocID="{059E8AF7-FBDF-4CCB-BF85-F3119955DCDF}" presName="rootText" presStyleLbl="node1" presStyleIdx="2" presStyleCnt="3" custScaleX="167095"/>
      <dgm:spPr/>
      <dgm:t>
        <a:bodyPr/>
        <a:lstStyle/>
        <a:p>
          <a:endParaRPr lang="zh-CN" altLang="en-US"/>
        </a:p>
      </dgm:t>
    </dgm:pt>
    <dgm:pt modelId="{30CB447B-2AF6-4BE8-BA45-2A5E7BBB4212}" type="pres">
      <dgm:prSet presAssocID="{059E8AF7-FBDF-4CCB-BF85-F3119955DCDF}" presName="rootConnector" presStyleLbl="node1" presStyleIdx="2" presStyleCnt="3"/>
      <dgm:spPr/>
      <dgm:t>
        <a:bodyPr/>
        <a:lstStyle/>
        <a:p>
          <a:endParaRPr lang="zh-CN" altLang="en-US"/>
        </a:p>
      </dgm:t>
    </dgm:pt>
    <dgm:pt modelId="{408A148A-CA58-4E32-AF09-07E4F1DD1C98}" type="pres">
      <dgm:prSet presAssocID="{059E8AF7-FBDF-4CCB-BF85-F3119955DCDF}" presName="childShape" presStyleCnt="0"/>
      <dgm:spPr/>
    </dgm:pt>
    <dgm:pt modelId="{81C0D51D-0C20-4E72-B6E2-E3D8401CCDED}" type="pres">
      <dgm:prSet presAssocID="{A54FBDF5-1273-42CF-93A8-37FDAC86E028}" presName="Name13" presStyleLbl="parChTrans1D2" presStyleIdx="4" presStyleCnt="6"/>
      <dgm:spPr/>
      <dgm:t>
        <a:bodyPr/>
        <a:lstStyle/>
        <a:p>
          <a:endParaRPr lang="zh-CN" altLang="en-US"/>
        </a:p>
      </dgm:t>
    </dgm:pt>
    <dgm:pt modelId="{C4BF2EE3-62AE-4153-9C83-DD07A77FC991}" type="pres">
      <dgm:prSet presAssocID="{6B228B4C-9047-4F0E-8128-F6CD2CBB0EE6}" presName="childText" presStyleLbl="bgAcc1" presStyleIdx="4" presStyleCnt="6" custScaleX="13196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D4D466-FCA4-4180-AC26-1DF64E0D5560}" type="pres">
      <dgm:prSet presAssocID="{2F31D241-73B7-43D0-9421-E3247D02FD12}" presName="Name13" presStyleLbl="parChTrans1D2" presStyleIdx="5" presStyleCnt="6"/>
      <dgm:spPr/>
      <dgm:t>
        <a:bodyPr/>
        <a:lstStyle/>
        <a:p>
          <a:endParaRPr lang="zh-CN" altLang="en-US"/>
        </a:p>
      </dgm:t>
    </dgm:pt>
    <dgm:pt modelId="{31884148-FFE8-428A-8BB3-3B4732D16A95}" type="pres">
      <dgm:prSet presAssocID="{F860A901-3D8E-47EA-86DE-DC7AD038D05D}" presName="childText" presStyleLbl="bgAcc1" presStyleIdx="5" presStyleCnt="6" custScaleX="16821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7327918-DC8A-48A1-8DD3-3F0A183BB3B1}" type="presOf" srcId="{059E8AF7-FBDF-4CCB-BF85-F3119955DCDF}" destId="{54D77DCC-6CFC-4D55-AAC0-117496FC1662}" srcOrd="0" destOrd="0" presId="urn:microsoft.com/office/officeart/2005/8/layout/hierarchy3"/>
    <dgm:cxn modelId="{C40096EE-7AD8-48E6-8951-240B8EEDC760}" type="presOf" srcId="{1868B229-6A3B-44E6-92E9-27D07877F228}" destId="{FE7BBF38-A136-4C7D-AC12-18EF1AC8EA1D}" srcOrd="0" destOrd="0" presId="urn:microsoft.com/office/officeart/2005/8/layout/hierarchy3"/>
    <dgm:cxn modelId="{6F3085A5-B600-46CC-99A2-C0BC0E79AFD4}" type="presOf" srcId="{0BB4E886-B85C-4353-BAC1-BE04AC9F973D}" destId="{0DFB45F9-E7D6-413F-B593-325DBE0F1AE0}" srcOrd="0" destOrd="0" presId="urn:microsoft.com/office/officeart/2005/8/layout/hierarchy3"/>
    <dgm:cxn modelId="{6752CDD7-6415-436D-8984-7D6C8A47901A}" type="presOf" srcId="{5868A23C-C835-4D7B-8F82-4D89E3ECECE4}" destId="{B6D5B2A6-0935-4A9B-B6A8-1E50B7BD65BF}" srcOrd="0" destOrd="0" presId="urn:microsoft.com/office/officeart/2005/8/layout/hierarchy3"/>
    <dgm:cxn modelId="{1E4D9020-37D3-4A61-BCCF-66082D9DE9CC}" type="presOf" srcId="{F860A901-3D8E-47EA-86DE-DC7AD038D05D}" destId="{31884148-FFE8-428A-8BB3-3B4732D16A95}" srcOrd="0" destOrd="0" presId="urn:microsoft.com/office/officeart/2005/8/layout/hierarchy3"/>
    <dgm:cxn modelId="{E1EB0BDF-BC88-47F8-B229-6044415E0D49}" srcId="{1CDB580A-A2FE-4E00-92BD-F44EA5FB15ED}" destId="{5868A23C-C835-4D7B-8F82-4D89E3ECECE4}" srcOrd="2" destOrd="0" parTransId="{C91C6F36-9535-4E7B-BC83-4B8767FDB01C}" sibTransId="{60F75266-E348-4FA1-912B-CCBEA9CAE573}"/>
    <dgm:cxn modelId="{99C5CEB4-754F-414A-85E3-91E5339FC59C}" srcId="{059E8AF7-FBDF-4CCB-BF85-F3119955DCDF}" destId="{F860A901-3D8E-47EA-86DE-DC7AD038D05D}" srcOrd="1" destOrd="0" parTransId="{2F31D241-73B7-43D0-9421-E3247D02FD12}" sibTransId="{743F718F-EF7C-4492-B78C-D17F0864DF8A}"/>
    <dgm:cxn modelId="{E0136129-B750-490F-81B5-DECEEF5B9090}" type="presOf" srcId="{6B42C8A3-1EA8-46C4-B1BE-F4458EA8031D}" destId="{AA2540BA-6F8F-4F34-A8AE-CA45C3C20B9A}" srcOrd="0" destOrd="0" presId="urn:microsoft.com/office/officeart/2005/8/layout/hierarchy3"/>
    <dgm:cxn modelId="{2A44D50A-E49D-4EB5-B72C-A0AC9662F3E0}" srcId="{0BB4E886-B85C-4353-BAC1-BE04AC9F973D}" destId="{059E8AF7-FBDF-4CCB-BF85-F3119955DCDF}" srcOrd="2" destOrd="0" parTransId="{AA536D2E-ED4E-458F-A598-ACE69C0E2DC5}" sibTransId="{AF1182CA-BA50-4AEE-A59B-B9032B147ABC}"/>
    <dgm:cxn modelId="{3B90A27E-56AC-4994-98A3-9BF989A0A377}" srcId="{0BB4E886-B85C-4353-BAC1-BE04AC9F973D}" destId="{6669CF5A-D651-4FC9-85F3-0C095FB4CBA8}" srcOrd="0" destOrd="0" parTransId="{4277B5A0-CA9C-4D48-8821-FF6C73FC36CC}" sibTransId="{D59A00ED-1E11-4E1B-B3E5-54EB4B5DCD6C}"/>
    <dgm:cxn modelId="{0701585C-5620-43FA-9268-6944FF132D6C}" type="presOf" srcId="{6669CF5A-D651-4FC9-85F3-0C095FB4CBA8}" destId="{686ED53E-8715-40A3-8D0C-E8A77F33ED35}" srcOrd="1" destOrd="0" presId="urn:microsoft.com/office/officeart/2005/8/layout/hierarchy3"/>
    <dgm:cxn modelId="{B6E999B6-C160-4DE1-ADB4-9A01ABFD0B8A}" type="presOf" srcId="{6669CF5A-D651-4FC9-85F3-0C095FB4CBA8}" destId="{7D4A4341-C491-49FE-9757-85BA03B75D67}" srcOrd="0" destOrd="0" presId="urn:microsoft.com/office/officeart/2005/8/layout/hierarchy3"/>
    <dgm:cxn modelId="{1846EE06-AA26-4CB6-8B41-1E448E3EB809}" type="presOf" srcId="{059E8AF7-FBDF-4CCB-BF85-F3119955DCDF}" destId="{30CB447B-2AF6-4BE8-BA45-2A5E7BBB4212}" srcOrd="1" destOrd="0" presId="urn:microsoft.com/office/officeart/2005/8/layout/hierarchy3"/>
    <dgm:cxn modelId="{F797BC26-6A66-4246-8406-C5B77EF04C6A}" type="presOf" srcId="{C91C6F36-9535-4E7B-BC83-4B8767FDB01C}" destId="{3CB21663-4D60-4F8F-972D-C2FAFF34D56A}" srcOrd="0" destOrd="0" presId="urn:microsoft.com/office/officeart/2005/8/layout/hierarchy3"/>
    <dgm:cxn modelId="{263FE129-9EA2-4BE3-A329-2364CAC5A5B3}" type="presOf" srcId="{6B228B4C-9047-4F0E-8128-F6CD2CBB0EE6}" destId="{C4BF2EE3-62AE-4153-9C83-DD07A77FC991}" srcOrd="0" destOrd="0" presId="urn:microsoft.com/office/officeart/2005/8/layout/hierarchy3"/>
    <dgm:cxn modelId="{FC7807C0-0D27-48E5-9630-91E53413FFEA}" srcId="{1CDB580A-A2FE-4E00-92BD-F44EA5FB15ED}" destId="{7D867E93-6E9F-4857-A61A-A4E905ABDD05}" srcOrd="1" destOrd="0" parTransId="{BBD42893-6C30-4BEA-B6B9-B18B7280117F}" sibTransId="{02386C5C-CD9E-4D88-899A-5EB89D7CBA76}"/>
    <dgm:cxn modelId="{D7FE1B39-E2DC-4C60-B659-B5419DBC7677}" type="presOf" srcId="{BBD42893-6C30-4BEA-B6B9-B18B7280117F}" destId="{12935F63-975B-4F08-84DE-6E065232CE7F}" srcOrd="0" destOrd="0" presId="urn:microsoft.com/office/officeart/2005/8/layout/hierarchy3"/>
    <dgm:cxn modelId="{17B84E0A-F425-440A-A077-A4D92D72809D}" srcId="{6669CF5A-D651-4FC9-85F3-0C095FB4CBA8}" destId="{6B42C8A3-1EA8-46C4-B1BE-F4458EA8031D}" srcOrd="0" destOrd="0" parTransId="{648CC031-474E-4E9F-A2C2-FC7779864625}" sibTransId="{58A051A8-5029-4659-A0CB-ED70828A0D65}"/>
    <dgm:cxn modelId="{DD172195-8689-4C6E-9149-E454478866C7}" type="presOf" srcId="{A54FBDF5-1273-42CF-93A8-37FDAC86E028}" destId="{81C0D51D-0C20-4E72-B6E2-E3D8401CCDED}" srcOrd="0" destOrd="0" presId="urn:microsoft.com/office/officeart/2005/8/layout/hierarchy3"/>
    <dgm:cxn modelId="{25831B96-79B7-4D36-967D-292DD8588564}" type="presOf" srcId="{1CDB580A-A2FE-4E00-92BD-F44EA5FB15ED}" destId="{97441827-51B1-48A0-82F6-03694B96B9A3}" srcOrd="1" destOrd="0" presId="urn:microsoft.com/office/officeart/2005/8/layout/hierarchy3"/>
    <dgm:cxn modelId="{E4C39EAE-2778-4343-8E89-98569892FF14}" srcId="{0BB4E886-B85C-4353-BAC1-BE04AC9F973D}" destId="{1CDB580A-A2FE-4E00-92BD-F44EA5FB15ED}" srcOrd="1" destOrd="0" parTransId="{85F385BF-544F-4FD4-9C70-4949E0D89C76}" sibTransId="{40CAC1E2-0920-4298-B311-5049F116DB44}"/>
    <dgm:cxn modelId="{372DAFDF-D9B3-4066-B118-5637A32BC804}" srcId="{1CDB580A-A2FE-4E00-92BD-F44EA5FB15ED}" destId="{1868B229-6A3B-44E6-92E9-27D07877F228}" srcOrd="0" destOrd="0" parTransId="{189D892E-2CFF-496E-A4EE-816BB4B790BE}" sibTransId="{D9679E5C-F9B7-4E16-9C34-2F82A3129E2D}"/>
    <dgm:cxn modelId="{C248DB17-2895-45FF-8D07-9F42A74CA941}" type="presOf" srcId="{2F31D241-73B7-43D0-9421-E3247D02FD12}" destId="{D2D4D466-FCA4-4180-AC26-1DF64E0D5560}" srcOrd="0" destOrd="0" presId="urn:microsoft.com/office/officeart/2005/8/layout/hierarchy3"/>
    <dgm:cxn modelId="{5BE3207B-A320-43DD-A7D3-772D848C6B8C}" type="presOf" srcId="{189D892E-2CFF-496E-A4EE-816BB4B790BE}" destId="{46353A3F-9375-4503-91B2-42DA89B414AB}" srcOrd="0" destOrd="0" presId="urn:microsoft.com/office/officeart/2005/8/layout/hierarchy3"/>
    <dgm:cxn modelId="{AD5E6C52-BD8A-4D31-A9A5-F0859621A385}" srcId="{059E8AF7-FBDF-4CCB-BF85-F3119955DCDF}" destId="{6B228B4C-9047-4F0E-8128-F6CD2CBB0EE6}" srcOrd="0" destOrd="0" parTransId="{A54FBDF5-1273-42CF-93A8-37FDAC86E028}" sibTransId="{E49A8BB8-E7A7-42B2-AF43-7D4D5608B5D6}"/>
    <dgm:cxn modelId="{AA9D1CF8-79D9-48BE-8B27-B35EE58F0F1B}" type="presOf" srcId="{7D867E93-6E9F-4857-A61A-A4E905ABDD05}" destId="{43FE85E1-5A0E-4B75-BB44-75FC526F5900}" srcOrd="0" destOrd="0" presId="urn:microsoft.com/office/officeart/2005/8/layout/hierarchy3"/>
    <dgm:cxn modelId="{D73CD169-2FCF-4C83-883A-05D9723EAD7D}" type="presOf" srcId="{648CC031-474E-4E9F-A2C2-FC7779864625}" destId="{F47E8A05-9D53-4185-BC7F-99625C6CFAF0}" srcOrd="0" destOrd="0" presId="urn:microsoft.com/office/officeart/2005/8/layout/hierarchy3"/>
    <dgm:cxn modelId="{4C7964D6-599D-4E6B-B8D3-BC0C2DFCB675}" type="presOf" srcId="{1CDB580A-A2FE-4E00-92BD-F44EA5FB15ED}" destId="{B46461B1-2F48-4B2B-8157-12F2AE413F92}" srcOrd="0" destOrd="0" presId="urn:microsoft.com/office/officeart/2005/8/layout/hierarchy3"/>
    <dgm:cxn modelId="{ED86C360-FEE9-4D80-931B-97BA5AB3B102}" type="presParOf" srcId="{0DFB45F9-E7D6-413F-B593-325DBE0F1AE0}" destId="{5B7BA72E-EA3F-4D02-83B1-3AAA6910856A}" srcOrd="0" destOrd="0" presId="urn:microsoft.com/office/officeart/2005/8/layout/hierarchy3"/>
    <dgm:cxn modelId="{401B2842-E4F5-452C-A0B0-4A0F449260F7}" type="presParOf" srcId="{5B7BA72E-EA3F-4D02-83B1-3AAA6910856A}" destId="{861CF5E5-3197-4155-8EE5-8ADB1E9A430A}" srcOrd="0" destOrd="0" presId="urn:microsoft.com/office/officeart/2005/8/layout/hierarchy3"/>
    <dgm:cxn modelId="{FBC0AD76-2874-46E1-A504-4B29F0C09D1B}" type="presParOf" srcId="{861CF5E5-3197-4155-8EE5-8ADB1E9A430A}" destId="{7D4A4341-C491-49FE-9757-85BA03B75D67}" srcOrd="0" destOrd="0" presId="urn:microsoft.com/office/officeart/2005/8/layout/hierarchy3"/>
    <dgm:cxn modelId="{E29DE25C-0BC1-4720-8622-62F98F873018}" type="presParOf" srcId="{861CF5E5-3197-4155-8EE5-8ADB1E9A430A}" destId="{686ED53E-8715-40A3-8D0C-E8A77F33ED35}" srcOrd="1" destOrd="0" presId="urn:microsoft.com/office/officeart/2005/8/layout/hierarchy3"/>
    <dgm:cxn modelId="{5920F102-AFCB-43D1-AE90-32E311738D27}" type="presParOf" srcId="{5B7BA72E-EA3F-4D02-83B1-3AAA6910856A}" destId="{FFE883CB-4868-4247-A8DA-50B21F98B477}" srcOrd="1" destOrd="0" presId="urn:microsoft.com/office/officeart/2005/8/layout/hierarchy3"/>
    <dgm:cxn modelId="{8ED968CB-95AA-4C8E-A920-6C19AA92B9C5}" type="presParOf" srcId="{FFE883CB-4868-4247-A8DA-50B21F98B477}" destId="{F47E8A05-9D53-4185-BC7F-99625C6CFAF0}" srcOrd="0" destOrd="0" presId="urn:microsoft.com/office/officeart/2005/8/layout/hierarchy3"/>
    <dgm:cxn modelId="{FCE52DE2-5DD0-41FD-8914-0F3394828D42}" type="presParOf" srcId="{FFE883CB-4868-4247-A8DA-50B21F98B477}" destId="{AA2540BA-6F8F-4F34-A8AE-CA45C3C20B9A}" srcOrd="1" destOrd="0" presId="urn:microsoft.com/office/officeart/2005/8/layout/hierarchy3"/>
    <dgm:cxn modelId="{30F6B6A4-4B85-4916-A2BF-221284BEB36B}" type="presParOf" srcId="{0DFB45F9-E7D6-413F-B593-325DBE0F1AE0}" destId="{6AC7EAD9-1919-4C4B-B694-70F5EA4E1579}" srcOrd="1" destOrd="0" presId="urn:microsoft.com/office/officeart/2005/8/layout/hierarchy3"/>
    <dgm:cxn modelId="{AF4EEFF3-43AA-4B00-AF4D-15436ADB3A1D}" type="presParOf" srcId="{6AC7EAD9-1919-4C4B-B694-70F5EA4E1579}" destId="{A54CE6E6-F987-4D72-A0FE-81E729568E0C}" srcOrd="0" destOrd="0" presId="urn:microsoft.com/office/officeart/2005/8/layout/hierarchy3"/>
    <dgm:cxn modelId="{0A7EE08A-36A0-4032-AD50-29D8B6AD2FB2}" type="presParOf" srcId="{A54CE6E6-F987-4D72-A0FE-81E729568E0C}" destId="{B46461B1-2F48-4B2B-8157-12F2AE413F92}" srcOrd="0" destOrd="0" presId="urn:microsoft.com/office/officeart/2005/8/layout/hierarchy3"/>
    <dgm:cxn modelId="{4F12EDDF-5A03-40AD-BD48-BA4C82C46775}" type="presParOf" srcId="{A54CE6E6-F987-4D72-A0FE-81E729568E0C}" destId="{97441827-51B1-48A0-82F6-03694B96B9A3}" srcOrd="1" destOrd="0" presId="urn:microsoft.com/office/officeart/2005/8/layout/hierarchy3"/>
    <dgm:cxn modelId="{1D408C58-D70E-4C39-99FB-9BF0AB84EE43}" type="presParOf" srcId="{6AC7EAD9-1919-4C4B-B694-70F5EA4E1579}" destId="{09F4CA81-3595-4282-BC69-3E3F74034C90}" srcOrd="1" destOrd="0" presId="urn:microsoft.com/office/officeart/2005/8/layout/hierarchy3"/>
    <dgm:cxn modelId="{3DD4FBB4-4596-4CDF-A71D-2F2A77BAB1E2}" type="presParOf" srcId="{09F4CA81-3595-4282-BC69-3E3F74034C90}" destId="{46353A3F-9375-4503-91B2-42DA89B414AB}" srcOrd="0" destOrd="0" presId="urn:microsoft.com/office/officeart/2005/8/layout/hierarchy3"/>
    <dgm:cxn modelId="{DB35428D-4F10-44E3-90FC-B21EED09C4F6}" type="presParOf" srcId="{09F4CA81-3595-4282-BC69-3E3F74034C90}" destId="{FE7BBF38-A136-4C7D-AC12-18EF1AC8EA1D}" srcOrd="1" destOrd="0" presId="urn:microsoft.com/office/officeart/2005/8/layout/hierarchy3"/>
    <dgm:cxn modelId="{4186C354-F9EE-4FB5-BBA4-852744C47DD1}" type="presParOf" srcId="{09F4CA81-3595-4282-BC69-3E3F74034C90}" destId="{12935F63-975B-4F08-84DE-6E065232CE7F}" srcOrd="2" destOrd="0" presId="urn:microsoft.com/office/officeart/2005/8/layout/hierarchy3"/>
    <dgm:cxn modelId="{A567B1B5-2EC6-4578-AF9A-23DB78F02FB7}" type="presParOf" srcId="{09F4CA81-3595-4282-BC69-3E3F74034C90}" destId="{43FE85E1-5A0E-4B75-BB44-75FC526F5900}" srcOrd="3" destOrd="0" presId="urn:microsoft.com/office/officeart/2005/8/layout/hierarchy3"/>
    <dgm:cxn modelId="{16B36723-A98C-4AC6-8E6F-F7C146C2E9C9}" type="presParOf" srcId="{09F4CA81-3595-4282-BC69-3E3F74034C90}" destId="{3CB21663-4D60-4F8F-972D-C2FAFF34D56A}" srcOrd="4" destOrd="0" presId="urn:microsoft.com/office/officeart/2005/8/layout/hierarchy3"/>
    <dgm:cxn modelId="{2E78C4AF-ADFE-4874-95AC-4F5E8B6E68B7}" type="presParOf" srcId="{09F4CA81-3595-4282-BC69-3E3F74034C90}" destId="{B6D5B2A6-0935-4A9B-B6A8-1E50B7BD65BF}" srcOrd="5" destOrd="0" presId="urn:microsoft.com/office/officeart/2005/8/layout/hierarchy3"/>
    <dgm:cxn modelId="{AE4A1FBC-D655-4401-B220-1A06B65F22DF}" type="presParOf" srcId="{0DFB45F9-E7D6-413F-B593-325DBE0F1AE0}" destId="{7727E798-6F10-47F7-B414-69ECD088F414}" srcOrd="2" destOrd="0" presId="urn:microsoft.com/office/officeart/2005/8/layout/hierarchy3"/>
    <dgm:cxn modelId="{FB258CCC-E89D-4921-8529-289A8D99B87D}" type="presParOf" srcId="{7727E798-6F10-47F7-B414-69ECD088F414}" destId="{5664F813-CF50-4267-AB95-075DA473C87F}" srcOrd="0" destOrd="0" presId="urn:microsoft.com/office/officeart/2005/8/layout/hierarchy3"/>
    <dgm:cxn modelId="{D7B34A9E-B2DC-4BB3-8F51-C5C39DE0D2D9}" type="presParOf" srcId="{5664F813-CF50-4267-AB95-075DA473C87F}" destId="{54D77DCC-6CFC-4D55-AAC0-117496FC1662}" srcOrd="0" destOrd="0" presId="urn:microsoft.com/office/officeart/2005/8/layout/hierarchy3"/>
    <dgm:cxn modelId="{4EDC5984-61AA-4A21-9C5D-3DDC812CAA39}" type="presParOf" srcId="{5664F813-CF50-4267-AB95-075DA473C87F}" destId="{30CB447B-2AF6-4BE8-BA45-2A5E7BBB4212}" srcOrd="1" destOrd="0" presId="urn:microsoft.com/office/officeart/2005/8/layout/hierarchy3"/>
    <dgm:cxn modelId="{602F3252-7D39-4425-8A39-348595668273}" type="presParOf" srcId="{7727E798-6F10-47F7-B414-69ECD088F414}" destId="{408A148A-CA58-4E32-AF09-07E4F1DD1C98}" srcOrd="1" destOrd="0" presId="urn:microsoft.com/office/officeart/2005/8/layout/hierarchy3"/>
    <dgm:cxn modelId="{FB472B59-A9AF-41F1-A852-059B711FBB5B}" type="presParOf" srcId="{408A148A-CA58-4E32-AF09-07E4F1DD1C98}" destId="{81C0D51D-0C20-4E72-B6E2-E3D8401CCDED}" srcOrd="0" destOrd="0" presId="urn:microsoft.com/office/officeart/2005/8/layout/hierarchy3"/>
    <dgm:cxn modelId="{24F7C23E-7FD4-4DE8-9585-00B4F2654878}" type="presParOf" srcId="{408A148A-CA58-4E32-AF09-07E4F1DD1C98}" destId="{C4BF2EE3-62AE-4153-9C83-DD07A77FC991}" srcOrd="1" destOrd="0" presId="urn:microsoft.com/office/officeart/2005/8/layout/hierarchy3"/>
    <dgm:cxn modelId="{9B69B136-E072-402F-98BA-D6FF4E78A2CC}" type="presParOf" srcId="{408A148A-CA58-4E32-AF09-07E4F1DD1C98}" destId="{D2D4D466-FCA4-4180-AC26-1DF64E0D5560}" srcOrd="2" destOrd="0" presId="urn:microsoft.com/office/officeart/2005/8/layout/hierarchy3"/>
    <dgm:cxn modelId="{F4D16965-49BC-4371-823A-1C64D8CE2A95}" type="presParOf" srcId="{408A148A-CA58-4E32-AF09-07E4F1DD1C98}" destId="{31884148-FFE8-428A-8BB3-3B4732D16A9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629551-382B-4177-857C-98C031020530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032660F-895E-4DE5-AE55-B0D3BF20FE8A}">
      <dgm:prSet phldrT="[文本]"/>
      <dgm:spPr/>
      <dgm:t>
        <a:bodyPr/>
        <a:lstStyle/>
        <a:p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新建站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B1CEF38-B417-4350-83B7-00CB6CA02AB1}" cxnId="{F6DE601E-D6AF-47A6-B320-F41A813AF2D7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155C347-7D11-47A1-B360-6B9EF053358C}" cxnId="{F6DE601E-D6AF-47A6-B320-F41A813AF2D7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C657711-F4E2-470D-836A-49EAD255D583}">
      <dgm:prSet phldrT="[文本]"/>
      <dgm:spPr/>
      <dgm:t>
        <a:bodyPr/>
        <a:lstStyle/>
        <a:p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扩容站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9CFF90ED-BCD4-48C5-A43B-3DBE576189B1}" cxnId="{16465DB6-1CF5-41D5-9D5E-8627A89A1B38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76442B0-758E-4134-92ED-E51E03F69494}" cxnId="{16465DB6-1CF5-41D5-9D5E-8627A89A1B38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756E7FD2-06F0-401C-AFA9-C6344DC14CCF}">
      <dgm:prSet phldrT="[文本]"/>
      <dgm:spPr/>
      <dgm:t>
        <a:bodyPr/>
        <a:lstStyle/>
        <a:p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搬迁站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BA404C7E-5AF3-4CE4-8D81-4C5BB064136B}" cxnId="{F05FEC73-0CA0-4D62-96EA-323F60494A57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3972B01-17DE-4DD5-B503-A1900C137315}" cxnId="{F05FEC73-0CA0-4D62-96EA-323F60494A57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656523F-D942-4BA9-B63D-7BFF23694A7A}">
      <dgm:prSet phldrT="[文本]"/>
      <dgm:spPr/>
      <dgm:t>
        <a:bodyPr/>
        <a:lstStyle/>
        <a:p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分裂站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79510E51-620E-4AFD-BAAF-425E486E5558}" cxnId="{BBC9210C-EFE7-4D16-96CE-76609412F22F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00B5CD0-A429-4423-B3C4-F65D7CEE52AE}" cxnId="{BBC9210C-EFE7-4D16-96CE-76609412F22F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EBB981B-E7EC-4E02-8397-BFCFC3CB9DEC}" type="pres">
      <dgm:prSet presAssocID="{33629551-382B-4177-857C-98C031020530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5289D45-20D3-41CB-BBB9-729BEE955048}" type="pres">
      <dgm:prSet presAssocID="{33629551-382B-4177-857C-98C031020530}" presName="axisShape" presStyleLbl="bgShp" presStyleIdx="0" presStyleCnt="1"/>
      <dgm:spPr/>
    </dgm:pt>
    <dgm:pt modelId="{B4B8BEB1-3DBF-4937-8F48-C972F7E4BED7}" type="pres">
      <dgm:prSet presAssocID="{33629551-382B-4177-857C-98C031020530}" presName="rect1" presStyleLbl="node1" presStyleIdx="0" presStyleCnt="4" custScaleX="137385" custLinFactNeighborX="-2038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010B32-C7B4-4363-9EC5-4B37E3BE6D0A}" type="pres">
      <dgm:prSet presAssocID="{33629551-382B-4177-857C-98C031020530}" presName="rect2" presStyleLbl="node1" presStyleIdx="1" presStyleCnt="4" custScaleX="143731" custLinFactNeighborX="2349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45D16A2-269F-4BEF-978E-A257F73E72BF}" type="pres">
      <dgm:prSet presAssocID="{33629551-382B-4177-857C-98C031020530}" presName="rect3" presStyleLbl="node1" presStyleIdx="2" presStyleCnt="4" custScaleX="134211" custLinFactNeighborX="-1757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D081254-797E-4611-B234-AE405E9B1DB7}" type="pres">
      <dgm:prSet presAssocID="{33629551-382B-4177-857C-98C031020530}" presName="rect4" presStyleLbl="node1" presStyleIdx="3" presStyleCnt="4" custScaleX="140558" custLinFactNeighborX="2190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BC9210C-EFE7-4D16-96CE-76609412F22F}" srcId="{33629551-382B-4177-857C-98C031020530}" destId="{A656523F-D942-4BA9-B63D-7BFF23694A7A}" srcOrd="3" destOrd="0" parTransId="{79510E51-620E-4AFD-BAAF-425E486E5558}" sibTransId="{C00B5CD0-A429-4423-B3C4-F65D7CEE52AE}"/>
    <dgm:cxn modelId="{7AF25D5D-7DD4-4083-B84E-10D991016F19}" type="presOf" srcId="{6032660F-895E-4DE5-AE55-B0D3BF20FE8A}" destId="{B4B8BEB1-3DBF-4937-8F48-C972F7E4BED7}" srcOrd="0" destOrd="0" presId="urn:microsoft.com/office/officeart/2005/8/layout/matrix2"/>
    <dgm:cxn modelId="{DC5F5078-1708-4D77-BB70-D495F2DD48C8}" type="presOf" srcId="{AC657711-F4E2-470D-836A-49EAD255D583}" destId="{8D010B32-C7B4-4363-9EC5-4B37E3BE6D0A}" srcOrd="0" destOrd="0" presId="urn:microsoft.com/office/officeart/2005/8/layout/matrix2"/>
    <dgm:cxn modelId="{16465DB6-1CF5-41D5-9D5E-8627A89A1B38}" srcId="{33629551-382B-4177-857C-98C031020530}" destId="{AC657711-F4E2-470D-836A-49EAD255D583}" srcOrd="1" destOrd="0" parTransId="{9CFF90ED-BCD4-48C5-A43B-3DBE576189B1}" sibTransId="{476442B0-758E-4134-92ED-E51E03F69494}"/>
    <dgm:cxn modelId="{F6DE601E-D6AF-47A6-B320-F41A813AF2D7}" srcId="{33629551-382B-4177-857C-98C031020530}" destId="{6032660F-895E-4DE5-AE55-B0D3BF20FE8A}" srcOrd="0" destOrd="0" parTransId="{5B1CEF38-B417-4350-83B7-00CB6CA02AB1}" sibTransId="{F155C347-7D11-47A1-B360-6B9EF053358C}"/>
    <dgm:cxn modelId="{F0D7CC30-B005-4C4E-AB51-0056AAE6B0D0}" type="presOf" srcId="{33629551-382B-4177-857C-98C031020530}" destId="{FEBB981B-E7EC-4E02-8397-BFCFC3CB9DEC}" srcOrd="0" destOrd="0" presId="urn:microsoft.com/office/officeart/2005/8/layout/matrix2"/>
    <dgm:cxn modelId="{DE4FE1E0-B993-41A8-B3A5-E39CC9D0AFBA}" type="presOf" srcId="{756E7FD2-06F0-401C-AFA9-C6344DC14CCF}" destId="{E45D16A2-269F-4BEF-978E-A257F73E72BF}" srcOrd="0" destOrd="0" presId="urn:microsoft.com/office/officeart/2005/8/layout/matrix2"/>
    <dgm:cxn modelId="{F05FEC73-0CA0-4D62-96EA-323F60494A57}" srcId="{33629551-382B-4177-857C-98C031020530}" destId="{756E7FD2-06F0-401C-AFA9-C6344DC14CCF}" srcOrd="2" destOrd="0" parTransId="{BA404C7E-5AF3-4CE4-8D81-4C5BB064136B}" sibTransId="{33972B01-17DE-4DD5-B503-A1900C137315}"/>
    <dgm:cxn modelId="{AA13CBA7-CEC5-4392-9A31-825598317A91}" type="presOf" srcId="{A656523F-D942-4BA9-B63D-7BFF23694A7A}" destId="{5D081254-797E-4611-B234-AE405E9B1DB7}" srcOrd="0" destOrd="0" presId="urn:microsoft.com/office/officeart/2005/8/layout/matrix2"/>
    <dgm:cxn modelId="{3CF090BF-1CF6-41D6-A64D-223C9B394C40}" type="presParOf" srcId="{FEBB981B-E7EC-4E02-8397-BFCFC3CB9DEC}" destId="{85289D45-20D3-41CB-BBB9-729BEE955048}" srcOrd="0" destOrd="0" presId="urn:microsoft.com/office/officeart/2005/8/layout/matrix2"/>
    <dgm:cxn modelId="{3FB1089C-BFF8-4B12-B112-086EB426DBD8}" type="presParOf" srcId="{FEBB981B-E7EC-4E02-8397-BFCFC3CB9DEC}" destId="{B4B8BEB1-3DBF-4937-8F48-C972F7E4BED7}" srcOrd="1" destOrd="0" presId="urn:microsoft.com/office/officeart/2005/8/layout/matrix2"/>
    <dgm:cxn modelId="{3ED2D7DA-6436-4E6A-B1B1-99B2E76C46CD}" type="presParOf" srcId="{FEBB981B-E7EC-4E02-8397-BFCFC3CB9DEC}" destId="{8D010B32-C7B4-4363-9EC5-4B37E3BE6D0A}" srcOrd="2" destOrd="0" presId="urn:microsoft.com/office/officeart/2005/8/layout/matrix2"/>
    <dgm:cxn modelId="{E9480C12-4480-41D6-B70F-F0F4DD501683}" type="presParOf" srcId="{FEBB981B-E7EC-4E02-8397-BFCFC3CB9DEC}" destId="{E45D16A2-269F-4BEF-978E-A257F73E72BF}" srcOrd="3" destOrd="0" presId="urn:microsoft.com/office/officeart/2005/8/layout/matrix2"/>
    <dgm:cxn modelId="{7A00601B-EC25-4802-BF55-5602C90EE0EA}" type="presParOf" srcId="{FEBB981B-E7EC-4E02-8397-BFCFC3CB9DEC}" destId="{5D081254-797E-4611-B234-AE405E9B1DB7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B2454C-99B9-4928-9F80-5B9BC283F137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6D51542-CFA9-4327-9DEF-B7EC88156B81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选址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47159CD-38A8-4C7D-A42E-0714C05B48FA}" cxnId="{671FB90F-5814-4024-B6DC-A4C2082E2B87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F950EC8-291D-41A5-9C5E-37D6B92638BB}" cxnId="{671FB90F-5814-4024-B6DC-A4C2082E2B87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A7273FA-7592-489F-A2F7-0BDE03B611FD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设计出图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7FE5AF0-EFC5-4366-9237-589CA0B5BBF8}" cxnId="{8C2A492D-881C-4469-ACF6-A3FEF2ADB9F1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82FA8CC2-858F-42D3-9EBE-93E8BA295F2A}" cxnId="{8C2A492D-881C-4469-ACF6-A3FEF2ADB9F1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1CC2203-4CA9-4040-92D8-1F480A341019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分配站点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D1DE8B0-A033-49EC-BCC6-30B1C4F87AB4}" cxnId="{9F12C232-24DF-47CE-9205-7EA44E6F2C21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AD5D0C2-F76A-45DE-9859-E508EADD80F2}" cxnId="{9F12C232-24DF-47CE-9205-7EA44E6F2C21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0F9B0F9-A139-42A6-9B37-73FA6BEDD1AA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现场勘察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72F1EC5-FC7E-4C8F-AE5D-51779F92C5F5}" cxnId="{BC9F443A-CC8B-4EEC-BCB2-B2414B68FCFF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98E2DFC-392E-4626-A45B-E1998A4BBB99}" cxnId="{BC9F443A-CC8B-4EEC-BCB2-B2414B68FCFF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BAA402C4-5803-44A3-83A5-FA7DAAC2EE5B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设计出图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2E45176-75A4-4F78-967B-CF01A333AE9E}" cxnId="{D6CAA8AE-1A55-454D-9512-D71C3D0B5401}" type="par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C6E118C8-14BD-43A4-BD1B-56BAA402AECA}" cxnId="{D6CAA8AE-1A55-454D-9512-D71C3D0B5401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66D3514-4529-449D-A968-BC71A27FCF7C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分配站点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9C98A640-676E-43D2-A1BB-E6D3767B1890}" cxnId="{5104E020-C1B9-4612-9911-38B5832A51FE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6F070D6-B290-432D-B776-2C6EEFCFE85C}" cxnId="{5104E020-C1B9-4612-9911-38B5832A51FE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2983C2E8-C12C-43B5-A9F2-5F2822A6E9ED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安装配套设施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948F4B76-01B8-4412-90C4-67A3D997B14A}" cxnId="{B0807FAC-453C-4C21-BD44-D3326B5E3CFA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8C5F806-FE2B-4651-AB48-F0808FFC26BB}" cxnId="{B0807FAC-453C-4C21-BD44-D3326B5E3CFA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EE6F2B3B-8E09-49A8-BB90-BD43D9A0E1F9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主设备安装、申请电路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780B5C3-DC09-4325-9DAF-1B9CE3B8062F}" cxnId="{782D571B-A479-4E10-9A15-5E8BBC449D86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5DF44BC-289B-4257-B8FD-D2FC8C399F8C}" cxnId="{782D571B-A479-4E10-9A15-5E8BBC449D86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A9814F8-F5AB-4195-A3F8-6A2CFDEFBCA5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质量检查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D08B3EFC-23D2-46A5-B1D2-EBE2986CF780}" cxnId="{5E2573AF-3C5B-45CE-A406-0263E367A032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06222B76-47EF-42EC-9F9C-9BB4DA75D809}" cxnId="{5E2573AF-3C5B-45CE-A406-0263E367A032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21A5A09B-4008-44DC-85E0-F6C8B4E8E068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验收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604A276-36C0-4F19-8116-49D16D91DC66}" cxnId="{E6894F41-8336-4A0A-8B06-D17FCA12C28B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86BB908E-38A7-404B-ACCE-F424AFFC7516}" cxnId="{E6894F41-8336-4A0A-8B06-D17FCA12C28B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5758DD4-4463-4713-97BA-152D9EC6481D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数据、电路申请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2D54D5C0-D30E-4180-9306-254DD05D1BC4}" cxnId="{9523E6E6-94C7-4E4D-A834-50FAD3D032F6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DF4B9BE-A10C-4B83-9FA9-A59C17F774AC}" cxnId="{9523E6E6-94C7-4E4D-A834-50FAD3D032F6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A6B9DC5D-B1E3-428C-AE3C-2E21E95E61B1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硬件安装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1F22A288-9592-4047-B468-7666AD4F95CD}" cxnId="{0C16741E-C8AF-4218-9B87-B08EB138396F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CD99C89-8B6F-45AE-AAFD-F944F530E6E0}" cxnId="{0C16741E-C8AF-4218-9B87-B08EB138396F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50A8A314-7BB6-4019-8190-5B0139F4B6A5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质量检查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42F20DEF-1CE9-40C2-A279-510CCC2E9292}" cxnId="{AA936B2D-A2DB-46D6-B2C0-39577C1B5A0C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C2B5029-F81C-4673-9109-FF28794C263B}" cxnId="{AA936B2D-A2DB-46D6-B2C0-39577C1B5A0C}" type="sibTrans">
      <dgm:prSet/>
      <dgm:spPr/>
      <dgm:t>
        <a:bodyPr/>
        <a:lstStyle/>
        <a:p>
          <a:endParaRPr lang="zh-CN" altLang="en-US" sz="240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0BEA9F0B-062A-4B01-AA89-12DC0A91BB19}">
      <dgm:prSet phldrT="[文本]" custT="1"/>
      <dgm:spPr/>
      <dgm:t>
        <a:bodyPr/>
        <a:lstStyle/>
        <a:p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验收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3680A46E-48DD-4C48-81A3-EBFB224F68DB}" cxnId="{87587959-2C24-4228-A743-9953560BD67A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F7E4BB30-5D02-4500-8EED-B8B441D39814}" cxnId="{87587959-2C24-4228-A743-9953560BD67A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gm:t>
    </dgm:pt>
    <dgm:pt modelId="{604C9418-4EBB-4E84-BF17-FF7C7ABDAB80}" type="pres">
      <dgm:prSet presAssocID="{B4B2454C-99B9-4928-9F80-5B9BC283F13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D9629D2-2CD7-4EC7-BC3A-AF8699DED3AD}" type="pres">
      <dgm:prSet presAssocID="{06D51542-CFA9-4327-9DEF-B7EC88156B81}" presName="vertFlow" presStyleCnt="0"/>
      <dgm:spPr/>
    </dgm:pt>
    <dgm:pt modelId="{467AC93A-6296-4011-B601-7FC0B4C9B02E}" type="pres">
      <dgm:prSet presAssocID="{06D51542-CFA9-4327-9DEF-B7EC88156B81}" presName="header" presStyleLbl="node1" presStyleIdx="0" presStyleCnt="2"/>
      <dgm:spPr/>
      <dgm:t>
        <a:bodyPr/>
        <a:lstStyle/>
        <a:p>
          <a:endParaRPr lang="zh-CN" altLang="en-US"/>
        </a:p>
      </dgm:t>
    </dgm:pt>
    <dgm:pt modelId="{3ACE6E88-F29C-4EAC-A530-821909B390C6}" type="pres">
      <dgm:prSet presAssocID="{37FE5AF0-EFC5-4366-9237-589CA0B5BBF8}" presName="parTrans" presStyleLbl="sibTrans2D1" presStyleIdx="0" presStyleCnt="12"/>
      <dgm:spPr/>
      <dgm:t>
        <a:bodyPr/>
        <a:lstStyle/>
        <a:p>
          <a:endParaRPr lang="zh-CN" altLang="en-US"/>
        </a:p>
      </dgm:t>
    </dgm:pt>
    <dgm:pt modelId="{9CE46ABC-4C56-4C81-B2AF-2720A5B8CE92}" type="pres">
      <dgm:prSet presAssocID="{3A7273FA-7592-489F-A2F7-0BDE03B611FD}" presName="child" presStyleLbl="alignAccFollowNode1" presStyleIdx="0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E1D65C-63B5-4229-B3F8-45B11C4425A6}" type="pres">
      <dgm:prSet presAssocID="{82FA8CC2-858F-42D3-9EBE-93E8BA295F2A}" presName="sibTrans" presStyleLbl="sibTrans2D1" presStyleIdx="1" presStyleCnt="12"/>
      <dgm:spPr/>
      <dgm:t>
        <a:bodyPr/>
        <a:lstStyle/>
        <a:p>
          <a:endParaRPr lang="zh-CN" altLang="en-US"/>
        </a:p>
      </dgm:t>
    </dgm:pt>
    <dgm:pt modelId="{E5C0C289-C271-4EA4-BF57-3D9C8A46BFB0}" type="pres">
      <dgm:prSet presAssocID="{11CC2203-4CA9-4040-92D8-1F480A341019}" presName="child" presStyleLbl="alignAccFollowNode1" presStyleIdx="1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10A9087-E125-45B8-BDEF-F310D0A0B3A3}" type="pres">
      <dgm:prSet presAssocID="{FAD5D0C2-F76A-45DE-9859-E508EADD80F2}" presName="sibTrans" presStyleLbl="sibTrans2D1" presStyleIdx="2" presStyleCnt="12"/>
      <dgm:spPr/>
      <dgm:t>
        <a:bodyPr/>
        <a:lstStyle/>
        <a:p>
          <a:endParaRPr lang="zh-CN" altLang="en-US"/>
        </a:p>
      </dgm:t>
    </dgm:pt>
    <dgm:pt modelId="{D029F6A1-1625-4758-9EF2-A9143BBAFD92}" type="pres">
      <dgm:prSet presAssocID="{2983C2E8-C12C-43B5-A9F2-5F2822A6E9ED}" presName="child" presStyleLbl="alignAccFollowNode1" presStyleIdx="2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17CC8B4-06B9-4B6D-B9CF-721568F5FD2B}" type="pres">
      <dgm:prSet presAssocID="{E8C5F806-FE2B-4651-AB48-F0808FFC26BB}" presName="sibTrans" presStyleLbl="sibTrans2D1" presStyleIdx="3" presStyleCnt="12"/>
      <dgm:spPr/>
      <dgm:t>
        <a:bodyPr/>
        <a:lstStyle/>
        <a:p>
          <a:endParaRPr lang="zh-CN" altLang="en-US"/>
        </a:p>
      </dgm:t>
    </dgm:pt>
    <dgm:pt modelId="{4C9B6B40-F64F-4C4C-93D9-2D31F7BB79B2}" type="pres">
      <dgm:prSet presAssocID="{EE6F2B3B-8E09-49A8-BB90-BD43D9A0E1F9}" presName="child" presStyleLbl="alignAccFollowNode1" presStyleIdx="3" presStyleCnt="12" custScaleX="148078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C49C55-5AA5-4909-9666-D45A00458B37}" type="pres">
      <dgm:prSet presAssocID="{D5DF44BC-289B-4257-B8FD-D2FC8C399F8C}" presName="sibTrans" presStyleLbl="sibTrans2D1" presStyleIdx="4" presStyleCnt="12"/>
      <dgm:spPr/>
      <dgm:t>
        <a:bodyPr/>
        <a:lstStyle/>
        <a:p>
          <a:endParaRPr lang="zh-CN" altLang="en-US"/>
        </a:p>
      </dgm:t>
    </dgm:pt>
    <dgm:pt modelId="{ADEAB4A3-04D3-4291-A9B4-AC7EB1FD8138}" type="pres">
      <dgm:prSet presAssocID="{DA9814F8-F5AB-4195-A3F8-6A2CFDEFBCA5}" presName="child" presStyleLbl="alignAccFollowNode1" presStyleIdx="4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A2234B-21A0-4F6B-B7B6-7FD1AE1A00F4}" type="pres">
      <dgm:prSet presAssocID="{06222B76-47EF-42EC-9F9C-9BB4DA75D809}" presName="sibTrans" presStyleLbl="sibTrans2D1" presStyleIdx="5" presStyleCnt="12"/>
      <dgm:spPr/>
      <dgm:t>
        <a:bodyPr/>
        <a:lstStyle/>
        <a:p>
          <a:endParaRPr lang="zh-CN" altLang="en-US"/>
        </a:p>
      </dgm:t>
    </dgm:pt>
    <dgm:pt modelId="{32D01535-296F-4330-9397-B2004617CED0}" type="pres">
      <dgm:prSet presAssocID="{21A5A09B-4008-44DC-85E0-F6C8B4E8E068}" presName="child" presStyleLbl="alignAccFollowNode1" presStyleIdx="5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16BAE9C-F0E8-4682-89F8-1EA11C8C88EF}" type="pres">
      <dgm:prSet presAssocID="{06D51542-CFA9-4327-9DEF-B7EC88156B81}" presName="hSp" presStyleCnt="0"/>
      <dgm:spPr/>
    </dgm:pt>
    <dgm:pt modelId="{664DF5E7-D97C-45BB-B976-08A8CFA0B233}" type="pres">
      <dgm:prSet presAssocID="{30F9B0F9-A139-42A6-9B37-73FA6BEDD1AA}" presName="vertFlow" presStyleCnt="0"/>
      <dgm:spPr/>
    </dgm:pt>
    <dgm:pt modelId="{664751DD-DBD9-4458-B348-83DA6663BE0D}" type="pres">
      <dgm:prSet presAssocID="{30F9B0F9-A139-42A6-9B37-73FA6BEDD1AA}" presName="header" presStyleLbl="node1" presStyleIdx="1" presStyleCnt="2"/>
      <dgm:spPr/>
      <dgm:t>
        <a:bodyPr/>
        <a:lstStyle/>
        <a:p>
          <a:endParaRPr lang="zh-CN" altLang="en-US"/>
        </a:p>
      </dgm:t>
    </dgm:pt>
    <dgm:pt modelId="{2B027B9F-96C5-4867-B664-74D065912AD1}" type="pres">
      <dgm:prSet presAssocID="{12E45176-75A4-4F78-967B-CF01A333AE9E}" presName="parTrans" presStyleLbl="sibTrans2D1" presStyleIdx="6" presStyleCnt="12"/>
      <dgm:spPr/>
      <dgm:t>
        <a:bodyPr/>
        <a:lstStyle/>
        <a:p>
          <a:endParaRPr lang="zh-CN" altLang="en-US"/>
        </a:p>
      </dgm:t>
    </dgm:pt>
    <dgm:pt modelId="{E8CEF7C8-DE7A-4D20-ABE7-744D5A3E5D9C}" type="pres">
      <dgm:prSet presAssocID="{BAA402C4-5803-44A3-83A5-FA7DAAC2EE5B}" presName="child" presStyleLbl="alignAccFollowNode1" presStyleIdx="6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7D949C-A29C-4657-9EA7-51288C3E2703}" type="pres">
      <dgm:prSet presAssocID="{C6E118C8-14BD-43A4-BD1B-56BAA402AECA}" presName="sibTrans" presStyleLbl="sibTrans2D1" presStyleIdx="7" presStyleCnt="12"/>
      <dgm:spPr/>
      <dgm:t>
        <a:bodyPr/>
        <a:lstStyle/>
        <a:p>
          <a:endParaRPr lang="zh-CN" altLang="en-US"/>
        </a:p>
      </dgm:t>
    </dgm:pt>
    <dgm:pt modelId="{D9955BEB-27D2-4F56-95C9-B36D29AFD9F3}" type="pres">
      <dgm:prSet presAssocID="{D66D3514-4529-449D-A968-BC71A27FCF7C}" presName="child" presStyleLbl="alignAccFollowNode1" presStyleIdx="7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E3175C3-8B16-414D-87C1-C789A9FAC01B}" type="pres">
      <dgm:prSet presAssocID="{56F070D6-B290-432D-B776-2C6EEFCFE85C}" presName="sibTrans" presStyleLbl="sibTrans2D1" presStyleIdx="8" presStyleCnt="12"/>
      <dgm:spPr/>
      <dgm:t>
        <a:bodyPr/>
        <a:lstStyle/>
        <a:p>
          <a:endParaRPr lang="zh-CN" altLang="en-US"/>
        </a:p>
      </dgm:t>
    </dgm:pt>
    <dgm:pt modelId="{0F147CAD-C8D8-4BDC-809C-66BD1B8326CE}" type="pres">
      <dgm:prSet presAssocID="{55758DD4-4463-4713-97BA-152D9EC6481D}" presName="child" presStyleLbl="alignAccFollowNode1" presStyleIdx="8" presStyleCnt="12" custScaleX="111098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56CE269-CE71-4C0B-8C0D-19367F1B363A}" type="pres">
      <dgm:prSet presAssocID="{5DF4B9BE-A10C-4B83-9FA9-A59C17F774AC}" presName="sibTrans" presStyleLbl="sibTrans2D1" presStyleIdx="9" presStyleCnt="12"/>
      <dgm:spPr/>
      <dgm:t>
        <a:bodyPr/>
        <a:lstStyle/>
        <a:p>
          <a:endParaRPr lang="zh-CN" altLang="en-US"/>
        </a:p>
      </dgm:t>
    </dgm:pt>
    <dgm:pt modelId="{707E6A9F-0AF2-489D-9DDA-058277CCFC68}" type="pres">
      <dgm:prSet presAssocID="{A6B9DC5D-B1E3-428C-AE3C-2E21E95E61B1}" presName="child" presStyleLbl="alignAccFollowNode1" presStyleIdx="9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030B479-6534-432B-8B57-BA897D19ECBA}" type="pres">
      <dgm:prSet presAssocID="{FCD99C89-8B6F-45AE-AAFD-F944F530E6E0}" presName="sibTrans" presStyleLbl="sibTrans2D1" presStyleIdx="10" presStyleCnt="12"/>
      <dgm:spPr/>
      <dgm:t>
        <a:bodyPr/>
        <a:lstStyle/>
        <a:p>
          <a:endParaRPr lang="zh-CN" altLang="en-US"/>
        </a:p>
      </dgm:t>
    </dgm:pt>
    <dgm:pt modelId="{D270F319-97AA-4A2F-9AAC-24F234C1F39B}" type="pres">
      <dgm:prSet presAssocID="{50A8A314-7BB6-4019-8190-5B0139F4B6A5}" presName="child" presStyleLbl="alignAccFollowNode1" presStyleIdx="10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B2BA687-92DE-4E6B-9766-85529EB41CD8}" type="pres">
      <dgm:prSet presAssocID="{FC2B5029-F81C-4673-9109-FF28794C263B}" presName="sibTrans" presStyleLbl="sibTrans2D1" presStyleIdx="11" presStyleCnt="12"/>
      <dgm:spPr/>
      <dgm:t>
        <a:bodyPr/>
        <a:lstStyle/>
        <a:p>
          <a:endParaRPr lang="zh-CN" altLang="en-US"/>
        </a:p>
      </dgm:t>
    </dgm:pt>
    <dgm:pt modelId="{68A70090-FD3F-4CEF-9023-C4144A820150}" type="pres">
      <dgm:prSet presAssocID="{0BEA9F0B-062A-4B01-AA89-12DC0A91BB19}" presName="child" presStyleLbl="alignAccFollowNode1" presStyleIdx="11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BF5F287-7904-4A49-823F-4BD7D599AB39}" type="presOf" srcId="{06222B76-47EF-42EC-9F9C-9BB4DA75D809}" destId="{93A2234B-21A0-4F6B-B7B6-7FD1AE1A00F4}" srcOrd="0" destOrd="0" presId="urn:microsoft.com/office/officeart/2005/8/layout/lProcess1"/>
    <dgm:cxn modelId="{142A61B7-F203-4DF8-833C-9386F61CD7E1}" type="presOf" srcId="{FAD5D0C2-F76A-45DE-9859-E508EADD80F2}" destId="{410A9087-E125-45B8-BDEF-F310D0A0B3A3}" srcOrd="0" destOrd="0" presId="urn:microsoft.com/office/officeart/2005/8/layout/lProcess1"/>
    <dgm:cxn modelId="{671FB90F-5814-4024-B6DC-A4C2082E2B87}" srcId="{B4B2454C-99B9-4928-9F80-5B9BC283F137}" destId="{06D51542-CFA9-4327-9DEF-B7EC88156B81}" srcOrd="0" destOrd="0" parTransId="{447159CD-38A8-4C7D-A42E-0714C05B48FA}" sibTransId="{5F950EC8-291D-41A5-9C5E-37D6B92638BB}"/>
    <dgm:cxn modelId="{E6894F41-8336-4A0A-8B06-D17FCA12C28B}" srcId="{06D51542-CFA9-4327-9DEF-B7EC88156B81}" destId="{21A5A09B-4008-44DC-85E0-F6C8B4E8E068}" srcOrd="5" destOrd="0" parTransId="{4604A276-36C0-4F19-8116-49D16D91DC66}" sibTransId="{86BB908E-38A7-404B-ACCE-F424AFFC7516}"/>
    <dgm:cxn modelId="{ED06FF6D-8175-463C-B28E-9C5A50C660A4}" type="presOf" srcId="{30F9B0F9-A139-42A6-9B37-73FA6BEDD1AA}" destId="{664751DD-DBD9-4458-B348-83DA6663BE0D}" srcOrd="0" destOrd="0" presId="urn:microsoft.com/office/officeart/2005/8/layout/lProcess1"/>
    <dgm:cxn modelId="{5104E020-C1B9-4612-9911-38B5832A51FE}" srcId="{30F9B0F9-A139-42A6-9B37-73FA6BEDD1AA}" destId="{D66D3514-4529-449D-A968-BC71A27FCF7C}" srcOrd="1" destOrd="0" parTransId="{9C98A640-676E-43D2-A1BB-E6D3767B1890}" sibTransId="{56F070D6-B290-432D-B776-2C6EEFCFE85C}"/>
    <dgm:cxn modelId="{8C2A492D-881C-4469-ACF6-A3FEF2ADB9F1}" srcId="{06D51542-CFA9-4327-9DEF-B7EC88156B81}" destId="{3A7273FA-7592-489F-A2F7-0BDE03B611FD}" srcOrd="0" destOrd="0" parTransId="{37FE5AF0-EFC5-4366-9237-589CA0B5BBF8}" sibTransId="{82FA8CC2-858F-42D3-9EBE-93E8BA295F2A}"/>
    <dgm:cxn modelId="{5C3FE03E-5688-4F2A-B8C7-0AB69ADADEFB}" type="presOf" srcId="{BAA402C4-5803-44A3-83A5-FA7DAAC2EE5B}" destId="{E8CEF7C8-DE7A-4D20-ABE7-744D5A3E5D9C}" srcOrd="0" destOrd="0" presId="urn:microsoft.com/office/officeart/2005/8/layout/lProcess1"/>
    <dgm:cxn modelId="{8B32BAD3-6B1E-4C94-8D16-3BC5244E91C4}" type="presOf" srcId="{3A7273FA-7592-489F-A2F7-0BDE03B611FD}" destId="{9CE46ABC-4C56-4C81-B2AF-2720A5B8CE92}" srcOrd="0" destOrd="0" presId="urn:microsoft.com/office/officeart/2005/8/layout/lProcess1"/>
    <dgm:cxn modelId="{1E8122E6-1EF1-4326-9C81-56ADC7E6C92B}" type="presOf" srcId="{E8C5F806-FE2B-4651-AB48-F0808FFC26BB}" destId="{617CC8B4-06B9-4B6D-B9CF-721568F5FD2B}" srcOrd="0" destOrd="0" presId="urn:microsoft.com/office/officeart/2005/8/layout/lProcess1"/>
    <dgm:cxn modelId="{3A98AC7E-E4D1-463C-B915-A8F7D7B4336C}" type="presOf" srcId="{56F070D6-B290-432D-B776-2C6EEFCFE85C}" destId="{3E3175C3-8B16-414D-87C1-C789A9FAC01B}" srcOrd="0" destOrd="0" presId="urn:microsoft.com/office/officeart/2005/8/layout/lProcess1"/>
    <dgm:cxn modelId="{FA541C9D-9969-405B-AC5C-063A69FDE306}" type="presOf" srcId="{FC2B5029-F81C-4673-9109-FF28794C263B}" destId="{9B2BA687-92DE-4E6B-9766-85529EB41CD8}" srcOrd="0" destOrd="0" presId="urn:microsoft.com/office/officeart/2005/8/layout/lProcess1"/>
    <dgm:cxn modelId="{CE2E367D-963E-487C-82A6-13B0837F26E7}" type="presOf" srcId="{82FA8CC2-858F-42D3-9EBE-93E8BA295F2A}" destId="{BBE1D65C-63B5-4229-B3F8-45B11C4425A6}" srcOrd="0" destOrd="0" presId="urn:microsoft.com/office/officeart/2005/8/layout/lProcess1"/>
    <dgm:cxn modelId="{5E2573AF-3C5B-45CE-A406-0263E367A032}" srcId="{06D51542-CFA9-4327-9DEF-B7EC88156B81}" destId="{DA9814F8-F5AB-4195-A3F8-6A2CFDEFBCA5}" srcOrd="4" destOrd="0" parTransId="{D08B3EFC-23D2-46A5-B1D2-EBE2986CF780}" sibTransId="{06222B76-47EF-42EC-9F9C-9BB4DA75D809}"/>
    <dgm:cxn modelId="{880B801D-8477-4D8E-8B87-BC511198BE21}" type="presOf" srcId="{55758DD4-4463-4713-97BA-152D9EC6481D}" destId="{0F147CAD-C8D8-4BDC-809C-66BD1B8326CE}" srcOrd="0" destOrd="0" presId="urn:microsoft.com/office/officeart/2005/8/layout/lProcess1"/>
    <dgm:cxn modelId="{D2DEB843-18AF-4656-ACE5-F9F7B04D5271}" type="presOf" srcId="{11CC2203-4CA9-4040-92D8-1F480A341019}" destId="{E5C0C289-C271-4EA4-BF57-3D9C8A46BFB0}" srcOrd="0" destOrd="0" presId="urn:microsoft.com/office/officeart/2005/8/layout/lProcess1"/>
    <dgm:cxn modelId="{BC9F443A-CC8B-4EEC-BCB2-B2414B68FCFF}" srcId="{B4B2454C-99B9-4928-9F80-5B9BC283F137}" destId="{30F9B0F9-A139-42A6-9B37-73FA6BEDD1AA}" srcOrd="1" destOrd="0" parTransId="{E72F1EC5-FC7E-4C8F-AE5D-51779F92C5F5}" sibTransId="{F98E2DFC-392E-4626-A45B-E1998A4BBB99}"/>
    <dgm:cxn modelId="{9F12C232-24DF-47CE-9205-7EA44E6F2C21}" srcId="{06D51542-CFA9-4327-9DEF-B7EC88156B81}" destId="{11CC2203-4CA9-4040-92D8-1F480A341019}" srcOrd="1" destOrd="0" parTransId="{1D1DE8B0-A033-49EC-BCC6-30B1C4F87AB4}" sibTransId="{FAD5D0C2-F76A-45DE-9859-E508EADD80F2}"/>
    <dgm:cxn modelId="{0C9FD5D9-ED3F-42A6-A7F5-7D86F91DB0B7}" type="presOf" srcId="{12E45176-75A4-4F78-967B-CF01A333AE9E}" destId="{2B027B9F-96C5-4867-B664-74D065912AD1}" srcOrd="0" destOrd="0" presId="urn:microsoft.com/office/officeart/2005/8/layout/lProcess1"/>
    <dgm:cxn modelId="{87587959-2C24-4228-A743-9953560BD67A}" srcId="{30F9B0F9-A139-42A6-9B37-73FA6BEDD1AA}" destId="{0BEA9F0B-062A-4B01-AA89-12DC0A91BB19}" srcOrd="5" destOrd="0" parTransId="{3680A46E-48DD-4C48-81A3-EBFB224F68DB}" sibTransId="{F7E4BB30-5D02-4500-8EED-B8B441D39814}"/>
    <dgm:cxn modelId="{B0807FAC-453C-4C21-BD44-D3326B5E3CFA}" srcId="{06D51542-CFA9-4327-9DEF-B7EC88156B81}" destId="{2983C2E8-C12C-43B5-A9F2-5F2822A6E9ED}" srcOrd="2" destOrd="0" parTransId="{948F4B76-01B8-4412-90C4-67A3D997B14A}" sibTransId="{E8C5F806-FE2B-4651-AB48-F0808FFC26BB}"/>
    <dgm:cxn modelId="{752C443D-3E61-4F76-8F08-21D3093C9C0E}" type="presOf" srcId="{DA9814F8-F5AB-4195-A3F8-6A2CFDEFBCA5}" destId="{ADEAB4A3-04D3-4291-A9B4-AC7EB1FD8138}" srcOrd="0" destOrd="0" presId="urn:microsoft.com/office/officeart/2005/8/layout/lProcess1"/>
    <dgm:cxn modelId="{F532751E-3720-426C-9FB3-9FC0FD734572}" type="presOf" srcId="{5DF4B9BE-A10C-4B83-9FA9-A59C17F774AC}" destId="{456CE269-CE71-4C0B-8C0D-19367F1B363A}" srcOrd="0" destOrd="0" presId="urn:microsoft.com/office/officeart/2005/8/layout/lProcess1"/>
    <dgm:cxn modelId="{2DA8D3AB-042B-42AB-B96A-D46A0E07371F}" type="presOf" srcId="{D66D3514-4529-449D-A968-BC71A27FCF7C}" destId="{D9955BEB-27D2-4F56-95C9-B36D29AFD9F3}" srcOrd="0" destOrd="0" presId="urn:microsoft.com/office/officeart/2005/8/layout/lProcess1"/>
    <dgm:cxn modelId="{782D571B-A479-4E10-9A15-5E8BBC449D86}" srcId="{06D51542-CFA9-4327-9DEF-B7EC88156B81}" destId="{EE6F2B3B-8E09-49A8-BB90-BD43D9A0E1F9}" srcOrd="3" destOrd="0" parTransId="{1780B5C3-DC09-4325-9DAF-1B9CE3B8062F}" sibTransId="{D5DF44BC-289B-4257-B8FD-D2FC8C399F8C}"/>
    <dgm:cxn modelId="{6977B4FB-4ED8-4592-8FE2-FBEA1C49C66B}" type="presOf" srcId="{50A8A314-7BB6-4019-8190-5B0139F4B6A5}" destId="{D270F319-97AA-4A2F-9AAC-24F234C1F39B}" srcOrd="0" destOrd="0" presId="urn:microsoft.com/office/officeart/2005/8/layout/lProcess1"/>
    <dgm:cxn modelId="{EF2D57C2-E0C3-4D2C-81E8-908E30B4A38A}" type="presOf" srcId="{EE6F2B3B-8E09-49A8-BB90-BD43D9A0E1F9}" destId="{4C9B6B40-F64F-4C4C-93D9-2D31F7BB79B2}" srcOrd="0" destOrd="0" presId="urn:microsoft.com/office/officeart/2005/8/layout/lProcess1"/>
    <dgm:cxn modelId="{76F21939-2283-49A9-9203-31762B2E102E}" type="presOf" srcId="{2983C2E8-C12C-43B5-A9F2-5F2822A6E9ED}" destId="{D029F6A1-1625-4758-9EF2-A9143BBAFD92}" srcOrd="0" destOrd="0" presId="urn:microsoft.com/office/officeart/2005/8/layout/lProcess1"/>
    <dgm:cxn modelId="{0C16741E-C8AF-4218-9B87-B08EB138396F}" srcId="{30F9B0F9-A139-42A6-9B37-73FA6BEDD1AA}" destId="{A6B9DC5D-B1E3-428C-AE3C-2E21E95E61B1}" srcOrd="3" destOrd="0" parTransId="{1F22A288-9592-4047-B468-7666AD4F95CD}" sibTransId="{FCD99C89-8B6F-45AE-AAFD-F944F530E6E0}"/>
    <dgm:cxn modelId="{4FD52611-BB5A-410C-8247-D1424FA3D348}" type="presOf" srcId="{0BEA9F0B-062A-4B01-AA89-12DC0A91BB19}" destId="{68A70090-FD3F-4CEF-9023-C4144A820150}" srcOrd="0" destOrd="0" presId="urn:microsoft.com/office/officeart/2005/8/layout/lProcess1"/>
    <dgm:cxn modelId="{D6CAA8AE-1A55-454D-9512-D71C3D0B5401}" srcId="{30F9B0F9-A139-42A6-9B37-73FA6BEDD1AA}" destId="{BAA402C4-5803-44A3-83A5-FA7DAAC2EE5B}" srcOrd="0" destOrd="0" parTransId="{12E45176-75A4-4F78-967B-CF01A333AE9E}" sibTransId="{C6E118C8-14BD-43A4-BD1B-56BAA402AECA}"/>
    <dgm:cxn modelId="{9523E6E6-94C7-4E4D-A834-50FAD3D032F6}" srcId="{30F9B0F9-A139-42A6-9B37-73FA6BEDD1AA}" destId="{55758DD4-4463-4713-97BA-152D9EC6481D}" srcOrd="2" destOrd="0" parTransId="{2D54D5C0-D30E-4180-9306-254DD05D1BC4}" sibTransId="{5DF4B9BE-A10C-4B83-9FA9-A59C17F774AC}"/>
    <dgm:cxn modelId="{D8242FB0-050E-44D9-ACED-5FBD2057428D}" type="presOf" srcId="{B4B2454C-99B9-4928-9F80-5B9BC283F137}" destId="{604C9418-4EBB-4E84-BF17-FF7C7ABDAB80}" srcOrd="0" destOrd="0" presId="urn:microsoft.com/office/officeart/2005/8/layout/lProcess1"/>
    <dgm:cxn modelId="{AEB3D0D0-6538-4291-A155-9527AF916210}" type="presOf" srcId="{C6E118C8-14BD-43A4-BD1B-56BAA402AECA}" destId="{BD7D949C-A29C-4657-9EA7-51288C3E2703}" srcOrd="0" destOrd="0" presId="urn:microsoft.com/office/officeart/2005/8/layout/lProcess1"/>
    <dgm:cxn modelId="{32933823-763C-4370-8DDC-77A874440FD0}" type="presOf" srcId="{A6B9DC5D-B1E3-428C-AE3C-2E21E95E61B1}" destId="{707E6A9F-0AF2-489D-9DDA-058277CCFC68}" srcOrd="0" destOrd="0" presId="urn:microsoft.com/office/officeart/2005/8/layout/lProcess1"/>
    <dgm:cxn modelId="{CAC890A1-3A20-46A1-80F5-065BC5C81695}" type="presOf" srcId="{37FE5AF0-EFC5-4366-9237-589CA0B5BBF8}" destId="{3ACE6E88-F29C-4EAC-A530-821909B390C6}" srcOrd="0" destOrd="0" presId="urn:microsoft.com/office/officeart/2005/8/layout/lProcess1"/>
    <dgm:cxn modelId="{739B0CF1-CD8E-4F4D-A832-1757BE8FEA54}" type="presOf" srcId="{06D51542-CFA9-4327-9DEF-B7EC88156B81}" destId="{467AC93A-6296-4011-B601-7FC0B4C9B02E}" srcOrd="0" destOrd="0" presId="urn:microsoft.com/office/officeart/2005/8/layout/lProcess1"/>
    <dgm:cxn modelId="{AA936B2D-A2DB-46D6-B2C0-39577C1B5A0C}" srcId="{30F9B0F9-A139-42A6-9B37-73FA6BEDD1AA}" destId="{50A8A314-7BB6-4019-8190-5B0139F4B6A5}" srcOrd="4" destOrd="0" parTransId="{42F20DEF-1CE9-40C2-A279-510CCC2E9292}" sibTransId="{FC2B5029-F81C-4673-9109-FF28794C263B}"/>
    <dgm:cxn modelId="{47339F10-CD53-4CEB-9A47-515CCB34BA8C}" type="presOf" srcId="{FCD99C89-8B6F-45AE-AAFD-F944F530E6E0}" destId="{2030B479-6534-432B-8B57-BA897D19ECBA}" srcOrd="0" destOrd="0" presId="urn:microsoft.com/office/officeart/2005/8/layout/lProcess1"/>
    <dgm:cxn modelId="{FBF9F70E-C1BA-4F99-9A53-039A23D697A7}" type="presOf" srcId="{D5DF44BC-289B-4257-B8FD-D2FC8C399F8C}" destId="{E1C49C55-5AA5-4909-9666-D45A00458B37}" srcOrd="0" destOrd="0" presId="urn:microsoft.com/office/officeart/2005/8/layout/lProcess1"/>
    <dgm:cxn modelId="{F608D8A4-2025-4887-923B-007B03CDDD06}" type="presOf" srcId="{21A5A09B-4008-44DC-85E0-F6C8B4E8E068}" destId="{32D01535-296F-4330-9397-B2004617CED0}" srcOrd="0" destOrd="0" presId="urn:microsoft.com/office/officeart/2005/8/layout/lProcess1"/>
    <dgm:cxn modelId="{B47533BF-806F-45F1-B487-D3CF7935846C}" type="presParOf" srcId="{604C9418-4EBB-4E84-BF17-FF7C7ABDAB80}" destId="{8D9629D2-2CD7-4EC7-BC3A-AF8699DED3AD}" srcOrd="0" destOrd="0" presId="urn:microsoft.com/office/officeart/2005/8/layout/lProcess1"/>
    <dgm:cxn modelId="{AF8E074C-F111-44C1-B414-B0A70A8EFE29}" type="presParOf" srcId="{8D9629D2-2CD7-4EC7-BC3A-AF8699DED3AD}" destId="{467AC93A-6296-4011-B601-7FC0B4C9B02E}" srcOrd="0" destOrd="0" presId="urn:microsoft.com/office/officeart/2005/8/layout/lProcess1"/>
    <dgm:cxn modelId="{9908BFFE-9FCD-4B39-806C-E839E7822E60}" type="presParOf" srcId="{8D9629D2-2CD7-4EC7-BC3A-AF8699DED3AD}" destId="{3ACE6E88-F29C-4EAC-A530-821909B390C6}" srcOrd="1" destOrd="0" presId="urn:microsoft.com/office/officeart/2005/8/layout/lProcess1"/>
    <dgm:cxn modelId="{6A2C24ED-9CC9-4DE4-8149-FB4AD28CFB88}" type="presParOf" srcId="{8D9629D2-2CD7-4EC7-BC3A-AF8699DED3AD}" destId="{9CE46ABC-4C56-4C81-B2AF-2720A5B8CE92}" srcOrd="2" destOrd="0" presId="urn:microsoft.com/office/officeart/2005/8/layout/lProcess1"/>
    <dgm:cxn modelId="{12842995-CB67-4CC3-B03E-8CBE45F67E5C}" type="presParOf" srcId="{8D9629D2-2CD7-4EC7-BC3A-AF8699DED3AD}" destId="{BBE1D65C-63B5-4229-B3F8-45B11C4425A6}" srcOrd="3" destOrd="0" presId="urn:microsoft.com/office/officeart/2005/8/layout/lProcess1"/>
    <dgm:cxn modelId="{2860B569-9965-4651-8DEE-9646DF14C278}" type="presParOf" srcId="{8D9629D2-2CD7-4EC7-BC3A-AF8699DED3AD}" destId="{E5C0C289-C271-4EA4-BF57-3D9C8A46BFB0}" srcOrd="4" destOrd="0" presId="urn:microsoft.com/office/officeart/2005/8/layout/lProcess1"/>
    <dgm:cxn modelId="{7842A181-A150-41F2-AF52-3B28DF8436D5}" type="presParOf" srcId="{8D9629D2-2CD7-4EC7-BC3A-AF8699DED3AD}" destId="{410A9087-E125-45B8-BDEF-F310D0A0B3A3}" srcOrd="5" destOrd="0" presId="urn:microsoft.com/office/officeart/2005/8/layout/lProcess1"/>
    <dgm:cxn modelId="{38E9C833-B08B-4B4F-A0AE-93A2C67A0F7B}" type="presParOf" srcId="{8D9629D2-2CD7-4EC7-BC3A-AF8699DED3AD}" destId="{D029F6A1-1625-4758-9EF2-A9143BBAFD92}" srcOrd="6" destOrd="0" presId="urn:microsoft.com/office/officeart/2005/8/layout/lProcess1"/>
    <dgm:cxn modelId="{BA581B3F-6229-4E2D-93DD-6DAEBCD13C27}" type="presParOf" srcId="{8D9629D2-2CD7-4EC7-BC3A-AF8699DED3AD}" destId="{617CC8B4-06B9-4B6D-B9CF-721568F5FD2B}" srcOrd="7" destOrd="0" presId="urn:microsoft.com/office/officeart/2005/8/layout/lProcess1"/>
    <dgm:cxn modelId="{EF1245B0-EC00-4A41-88F1-75DB79A786C2}" type="presParOf" srcId="{8D9629D2-2CD7-4EC7-BC3A-AF8699DED3AD}" destId="{4C9B6B40-F64F-4C4C-93D9-2D31F7BB79B2}" srcOrd="8" destOrd="0" presId="urn:microsoft.com/office/officeart/2005/8/layout/lProcess1"/>
    <dgm:cxn modelId="{62B28EB0-507D-454B-AA4A-9E3FBAD851A2}" type="presParOf" srcId="{8D9629D2-2CD7-4EC7-BC3A-AF8699DED3AD}" destId="{E1C49C55-5AA5-4909-9666-D45A00458B37}" srcOrd="9" destOrd="0" presId="urn:microsoft.com/office/officeart/2005/8/layout/lProcess1"/>
    <dgm:cxn modelId="{081E200D-900F-4CEA-9210-642595EA07CA}" type="presParOf" srcId="{8D9629D2-2CD7-4EC7-BC3A-AF8699DED3AD}" destId="{ADEAB4A3-04D3-4291-A9B4-AC7EB1FD8138}" srcOrd="10" destOrd="0" presId="urn:microsoft.com/office/officeart/2005/8/layout/lProcess1"/>
    <dgm:cxn modelId="{599B975F-8EF2-485A-B0A7-5A92A9906AAC}" type="presParOf" srcId="{8D9629D2-2CD7-4EC7-BC3A-AF8699DED3AD}" destId="{93A2234B-21A0-4F6B-B7B6-7FD1AE1A00F4}" srcOrd="11" destOrd="0" presId="urn:microsoft.com/office/officeart/2005/8/layout/lProcess1"/>
    <dgm:cxn modelId="{B996CE82-DB8A-4596-BD22-555DCEE82510}" type="presParOf" srcId="{8D9629D2-2CD7-4EC7-BC3A-AF8699DED3AD}" destId="{32D01535-296F-4330-9397-B2004617CED0}" srcOrd="12" destOrd="0" presId="urn:microsoft.com/office/officeart/2005/8/layout/lProcess1"/>
    <dgm:cxn modelId="{B5D83F15-C9F3-4F55-AA79-45C935917B49}" type="presParOf" srcId="{604C9418-4EBB-4E84-BF17-FF7C7ABDAB80}" destId="{216BAE9C-F0E8-4682-89F8-1EA11C8C88EF}" srcOrd="1" destOrd="0" presId="urn:microsoft.com/office/officeart/2005/8/layout/lProcess1"/>
    <dgm:cxn modelId="{1AB9434B-BA2D-4525-983F-D2D01BB26BD8}" type="presParOf" srcId="{604C9418-4EBB-4E84-BF17-FF7C7ABDAB80}" destId="{664DF5E7-D97C-45BB-B976-08A8CFA0B233}" srcOrd="2" destOrd="0" presId="urn:microsoft.com/office/officeart/2005/8/layout/lProcess1"/>
    <dgm:cxn modelId="{9028CD40-AF7A-4A8E-B7D7-A47A915721F6}" type="presParOf" srcId="{664DF5E7-D97C-45BB-B976-08A8CFA0B233}" destId="{664751DD-DBD9-4458-B348-83DA6663BE0D}" srcOrd="0" destOrd="0" presId="urn:microsoft.com/office/officeart/2005/8/layout/lProcess1"/>
    <dgm:cxn modelId="{D31FEBB3-EB8A-4797-9637-434D91D5A499}" type="presParOf" srcId="{664DF5E7-D97C-45BB-B976-08A8CFA0B233}" destId="{2B027B9F-96C5-4867-B664-74D065912AD1}" srcOrd="1" destOrd="0" presId="urn:microsoft.com/office/officeart/2005/8/layout/lProcess1"/>
    <dgm:cxn modelId="{C9CA6DB2-574A-49F3-AD99-72E4D66D3714}" type="presParOf" srcId="{664DF5E7-D97C-45BB-B976-08A8CFA0B233}" destId="{E8CEF7C8-DE7A-4D20-ABE7-744D5A3E5D9C}" srcOrd="2" destOrd="0" presId="urn:microsoft.com/office/officeart/2005/8/layout/lProcess1"/>
    <dgm:cxn modelId="{315D6A5D-3B74-49F9-8C1D-5EAF21737FAC}" type="presParOf" srcId="{664DF5E7-D97C-45BB-B976-08A8CFA0B233}" destId="{BD7D949C-A29C-4657-9EA7-51288C3E2703}" srcOrd="3" destOrd="0" presId="urn:microsoft.com/office/officeart/2005/8/layout/lProcess1"/>
    <dgm:cxn modelId="{46DE1C53-4744-4D61-BBBD-9DFB7AA51722}" type="presParOf" srcId="{664DF5E7-D97C-45BB-B976-08A8CFA0B233}" destId="{D9955BEB-27D2-4F56-95C9-B36D29AFD9F3}" srcOrd="4" destOrd="0" presId="urn:microsoft.com/office/officeart/2005/8/layout/lProcess1"/>
    <dgm:cxn modelId="{AE8E664E-2CB7-4142-99D7-08F198D93F7A}" type="presParOf" srcId="{664DF5E7-D97C-45BB-B976-08A8CFA0B233}" destId="{3E3175C3-8B16-414D-87C1-C789A9FAC01B}" srcOrd="5" destOrd="0" presId="urn:microsoft.com/office/officeart/2005/8/layout/lProcess1"/>
    <dgm:cxn modelId="{742293DA-E7E9-437C-92E8-B7FD03EEA9E0}" type="presParOf" srcId="{664DF5E7-D97C-45BB-B976-08A8CFA0B233}" destId="{0F147CAD-C8D8-4BDC-809C-66BD1B8326CE}" srcOrd="6" destOrd="0" presId="urn:microsoft.com/office/officeart/2005/8/layout/lProcess1"/>
    <dgm:cxn modelId="{A0FC6DF1-4EED-4AD9-B665-960F7D1C6B6A}" type="presParOf" srcId="{664DF5E7-D97C-45BB-B976-08A8CFA0B233}" destId="{456CE269-CE71-4C0B-8C0D-19367F1B363A}" srcOrd="7" destOrd="0" presId="urn:microsoft.com/office/officeart/2005/8/layout/lProcess1"/>
    <dgm:cxn modelId="{D76CD3DA-D3FF-4994-B782-98CB1D57E3B4}" type="presParOf" srcId="{664DF5E7-D97C-45BB-B976-08A8CFA0B233}" destId="{707E6A9F-0AF2-489D-9DDA-058277CCFC68}" srcOrd="8" destOrd="0" presId="urn:microsoft.com/office/officeart/2005/8/layout/lProcess1"/>
    <dgm:cxn modelId="{75C7ACFF-2A2B-4D52-87EE-150446720600}" type="presParOf" srcId="{664DF5E7-D97C-45BB-B976-08A8CFA0B233}" destId="{2030B479-6534-432B-8B57-BA897D19ECBA}" srcOrd="9" destOrd="0" presId="urn:microsoft.com/office/officeart/2005/8/layout/lProcess1"/>
    <dgm:cxn modelId="{9BEDA6B4-3975-4D08-A698-911C48A44B7C}" type="presParOf" srcId="{664DF5E7-D97C-45BB-B976-08A8CFA0B233}" destId="{D270F319-97AA-4A2F-9AAC-24F234C1F39B}" srcOrd="10" destOrd="0" presId="urn:microsoft.com/office/officeart/2005/8/layout/lProcess1"/>
    <dgm:cxn modelId="{3FC68B94-B6C2-4C53-B95C-DE3844A78F7F}" type="presParOf" srcId="{664DF5E7-D97C-45BB-B976-08A8CFA0B233}" destId="{9B2BA687-92DE-4E6B-9766-85529EB41CD8}" srcOrd="11" destOrd="0" presId="urn:microsoft.com/office/officeart/2005/8/layout/lProcess1"/>
    <dgm:cxn modelId="{0D7D20F9-21B9-4BA9-B00B-D9F62FAE20D5}" type="presParOf" srcId="{664DF5E7-D97C-45BB-B976-08A8CFA0B233}" destId="{68A70090-FD3F-4CEF-9023-C4144A820150}" srcOrd="1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429552" cy="4389454"/>
        <a:chOff x="0" y="0"/>
        <a:chExt cx="7429552" cy="4389454"/>
      </a:xfrm>
    </dsp:grpSpPr>
    <dsp:sp modelId="{7D4A4341-C491-49FE-9757-85BA03B75D67}">
      <dsp:nvSpPr>
        <dsp:cNvPr id="3" name="圆角矩形 2"/>
        <dsp:cNvSpPr/>
      </dsp:nvSpPr>
      <dsp:spPr bwMode="white">
        <a:xfrm>
          <a:off x="0" y="332605"/>
          <a:ext cx="1999347" cy="78405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主设备安装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0" y="332605"/>
        <a:ext cx="1999347" cy="784051"/>
      </dsp:txXfrm>
    </dsp:sp>
    <dsp:sp modelId="{F47E8A05-9D53-4185-BC7F-99625C6CFAF0}">
      <dsp:nvSpPr>
        <dsp:cNvPr id="5" name="任意多边形 4"/>
        <dsp:cNvSpPr/>
      </dsp:nvSpPr>
      <dsp:spPr bwMode="white">
        <a:xfrm>
          <a:off x="199935" y="1116656"/>
          <a:ext cx="199935" cy="588039"/>
        </a:xfrm>
        <a:custGeom>
          <a:avLst/>
          <a:gdLst/>
          <a:ahLst/>
          <a:cxnLst/>
          <a:pathLst>
            <a:path w="315" h="926">
              <a:moveTo>
                <a:pt x="0" y="0"/>
              </a:moveTo>
              <a:lnTo>
                <a:pt x="0" y="926"/>
              </a:lnTo>
              <a:lnTo>
                <a:pt x="315" y="92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99935" y="1116656"/>
        <a:ext cx="199935" cy="588039"/>
      </dsp:txXfrm>
    </dsp:sp>
    <dsp:sp modelId="{AA2540BA-6F8F-4F34-A8AE-CA45C3C20B9A}">
      <dsp:nvSpPr>
        <dsp:cNvPr id="6" name="圆角矩形 5"/>
        <dsp:cNvSpPr/>
      </dsp:nvSpPr>
      <dsp:spPr bwMode="white">
        <a:xfrm>
          <a:off x="399869" y="1312669"/>
          <a:ext cx="1254482" cy="78405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基站收发信机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99869" y="1312669"/>
        <a:ext cx="1254482" cy="784051"/>
      </dsp:txXfrm>
    </dsp:sp>
    <dsp:sp modelId="{B46461B1-2F48-4B2B-8157-12F2AE413F92}">
      <dsp:nvSpPr>
        <dsp:cNvPr id="7" name="圆角矩形 6"/>
        <dsp:cNvSpPr/>
      </dsp:nvSpPr>
      <dsp:spPr bwMode="white">
        <a:xfrm>
          <a:off x="2391372" y="332605"/>
          <a:ext cx="2011845" cy="78405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配套设备安装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391372" y="332605"/>
        <a:ext cx="2011845" cy="784051"/>
      </dsp:txXfrm>
    </dsp:sp>
    <dsp:sp modelId="{46353A3F-9375-4503-91B2-42DA89B414AB}">
      <dsp:nvSpPr>
        <dsp:cNvPr id="9" name="任意多边形 8"/>
        <dsp:cNvSpPr/>
      </dsp:nvSpPr>
      <dsp:spPr bwMode="white">
        <a:xfrm>
          <a:off x="2592557" y="1116656"/>
          <a:ext cx="201184" cy="588039"/>
        </a:xfrm>
        <a:custGeom>
          <a:avLst/>
          <a:gdLst/>
          <a:ahLst/>
          <a:cxnLst/>
          <a:pathLst>
            <a:path w="317" h="926">
              <a:moveTo>
                <a:pt x="0" y="0"/>
              </a:moveTo>
              <a:lnTo>
                <a:pt x="0" y="926"/>
              </a:lnTo>
              <a:lnTo>
                <a:pt x="317" y="92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592557" y="1116656"/>
        <a:ext cx="201184" cy="588039"/>
      </dsp:txXfrm>
    </dsp:sp>
    <dsp:sp modelId="{FE7BBF38-A136-4C7D-AC12-18EF1AC8EA1D}">
      <dsp:nvSpPr>
        <dsp:cNvPr id="10" name="圆角矩形 9"/>
        <dsp:cNvSpPr/>
      </dsp:nvSpPr>
      <dsp:spPr bwMode="white">
        <a:xfrm>
          <a:off x="2793741" y="1312669"/>
          <a:ext cx="1588313" cy="78405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传输设备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793741" y="1312669"/>
        <a:ext cx="1588313" cy="784051"/>
      </dsp:txXfrm>
    </dsp:sp>
    <dsp:sp modelId="{12935F63-975B-4F08-84DE-6E065232CE7F}">
      <dsp:nvSpPr>
        <dsp:cNvPr id="11" name="任意多边形 10"/>
        <dsp:cNvSpPr/>
      </dsp:nvSpPr>
      <dsp:spPr bwMode="white">
        <a:xfrm>
          <a:off x="2592557" y="1116656"/>
          <a:ext cx="201184" cy="1568103"/>
        </a:xfrm>
        <a:custGeom>
          <a:avLst/>
          <a:gdLst/>
          <a:ahLst/>
          <a:cxnLst/>
          <a:pathLst>
            <a:path w="317" h="2469">
              <a:moveTo>
                <a:pt x="0" y="0"/>
              </a:moveTo>
              <a:lnTo>
                <a:pt x="0" y="2469"/>
              </a:lnTo>
              <a:lnTo>
                <a:pt x="317" y="24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592557" y="1116656"/>
        <a:ext cx="201184" cy="1568103"/>
      </dsp:txXfrm>
    </dsp:sp>
    <dsp:sp modelId="{43FE85E1-5A0E-4B75-BB44-75FC526F5900}">
      <dsp:nvSpPr>
        <dsp:cNvPr id="12" name="圆角矩形 11"/>
        <dsp:cNvSpPr/>
      </dsp:nvSpPr>
      <dsp:spPr bwMode="white">
        <a:xfrm>
          <a:off x="2793741" y="2292733"/>
          <a:ext cx="1588313" cy="78405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电源系统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793741" y="2292733"/>
        <a:ext cx="1588313" cy="784051"/>
      </dsp:txXfrm>
    </dsp:sp>
    <dsp:sp modelId="{3CB21663-4D60-4F8F-972D-C2FAFF34D56A}">
      <dsp:nvSpPr>
        <dsp:cNvPr id="13" name="任意多边形 12"/>
        <dsp:cNvSpPr/>
      </dsp:nvSpPr>
      <dsp:spPr bwMode="white">
        <a:xfrm>
          <a:off x="2592557" y="1116656"/>
          <a:ext cx="201184" cy="2548167"/>
        </a:xfrm>
        <a:custGeom>
          <a:avLst/>
          <a:gdLst/>
          <a:ahLst/>
          <a:cxnLst/>
          <a:pathLst>
            <a:path w="317" h="4013">
              <a:moveTo>
                <a:pt x="0" y="0"/>
              </a:moveTo>
              <a:lnTo>
                <a:pt x="0" y="4013"/>
              </a:lnTo>
              <a:lnTo>
                <a:pt x="317" y="401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592557" y="1116656"/>
        <a:ext cx="201184" cy="2548167"/>
      </dsp:txXfrm>
    </dsp:sp>
    <dsp:sp modelId="{B6D5B2A6-0935-4A9B-B6A8-1E50B7BD65BF}">
      <dsp:nvSpPr>
        <dsp:cNvPr id="14" name="圆角矩形 13"/>
        <dsp:cNvSpPr/>
      </dsp:nvSpPr>
      <dsp:spPr bwMode="white">
        <a:xfrm>
          <a:off x="2793741" y="3272798"/>
          <a:ext cx="1540391" cy="78405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天馈系统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2793741" y="3272798"/>
        <a:ext cx="1540391" cy="784051"/>
      </dsp:txXfrm>
    </dsp:sp>
    <dsp:sp modelId="{54D77DCC-6CFC-4D55-AAC0-117496FC1662}">
      <dsp:nvSpPr>
        <dsp:cNvPr id="15" name="圆角矩形 14"/>
        <dsp:cNvSpPr/>
      </dsp:nvSpPr>
      <dsp:spPr bwMode="white">
        <a:xfrm>
          <a:off x="4795243" y="332605"/>
          <a:ext cx="2620221" cy="78405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附属设施建设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4795243" y="332605"/>
        <a:ext cx="2620221" cy="784051"/>
      </dsp:txXfrm>
    </dsp:sp>
    <dsp:sp modelId="{81C0D51D-0C20-4E72-B6E2-E3D8401CCDED}">
      <dsp:nvSpPr>
        <dsp:cNvPr id="17" name="任意多边形 16"/>
        <dsp:cNvSpPr/>
      </dsp:nvSpPr>
      <dsp:spPr bwMode="white">
        <a:xfrm>
          <a:off x="5057265" y="1116656"/>
          <a:ext cx="262022" cy="588039"/>
        </a:xfrm>
        <a:custGeom>
          <a:avLst/>
          <a:gdLst/>
          <a:ahLst/>
          <a:cxnLst/>
          <a:pathLst>
            <a:path w="413" h="926">
              <a:moveTo>
                <a:pt x="0" y="0"/>
              </a:moveTo>
              <a:lnTo>
                <a:pt x="0" y="926"/>
              </a:lnTo>
              <a:lnTo>
                <a:pt x="413" y="92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057265" y="1116656"/>
        <a:ext cx="262022" cy="588039"/>
      </dsp:txXfrm>
    </dsp:sp>
    <dsp:sp modelId="{C4BF2EE3-62AE-4153-9C83-DD07A77FC991}">
      <dsp:nvSpPr>
        <dsp:cNvPr id="18" name="圆角矩形 17"/>
        <dsp:cNvSpPr/>
      </dsp:nvSpPr>
      <dsp:spPr bwMode="white">
        <a:xfrm>
          <a:off x="5319287" y="1312669"/>
          <a:ext cx="1655528" cy="78405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空调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5319287" y="1312669"/>
        <a:ext cx="1655528" cy="784051"/>
      </dsp:txXfrm>
    </dsp:sp>
    <dsp:sp modelId="{D2D4D466-FCA4-4180-AC26-1DF64E0D5560}">
      <dsp:nvSpPr>
        <dsp:cNvPr id="19" name="任意多边形 18"/>
        <dsp:cNvSpPr/>
      </dsp:nvSpPr>
      <dsp:spPr bwMode="white">
        <a:xfrm>
          <a:off x="5057265" y="1116656"/>
          <a:ext cx="262022" cy="1568103"/>
        </a:xfrm>
        <a:custGeom>
          <a:avLst/>
          <a:gdLst/>
          <a:ahLst/>
          <a:cxnLst/>
          <a:pathLst>
            <a:path w="413" h="2469">
              <a:moveTo>
                <a:pt x="0" y="0"/>
              </a:moveTo>
              <a:lnTo>
                <a:pt x="0" y="2469"/>
              </a:lnTo>
              <a:lnTo>
                <a:pt x="413" y="24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057265" y="1116656"/>
        <a:ext cx="262022" cy="1568103"/>
      </dsp:txXfrm>
    </dsp:sp>
    <dsp:sp modelId="{31884148-FFE8-428A-8BB3-3B4732D16A95}">
      <dsp:nvSpPr>
        <dsp:cNvPr id="20" name="圆角矩形 19"/>
        <dsp:cNvSpPr/>
      </dsp:nvSpPr>
      <dsp:spPr bwMode="white">
        <a:xfrm>
          <a:off x="5319287" y="2292733"/>
          <a:ext cx="2110265" cy="78405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30480" rIns="45719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环境监控系统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5319287" y="2292733"/>
        <a:ext cx="2110265" cy="784051"/>
      </dsp:txXfrm>
    </dsp:sp>
    <dsp:sp modelId="{686ED53E-8715-40A3-8D0C-E8A77F33ED35}">
      <dsp:nvSpPr>
        <dsp:cNvPr id="4" name="圆角矩形 3" hidden="1"/>
        <dsp:cNvSpPr/>
      </dsp:nvSpPr>
      <dsp:spPr>
        <a:xfrm>
          <a:off x="0" y="332605"/>
          <a:ext cx="399869" cy="784051"/>
        </a:xfrm>
        <a:prstGeom prst="roundRect">
          <a:avLst>
            <a:gd name="adj" fmla="val 10000"/>
          </a:avLst>
        </a:prstGeom>
      </dsp:spPr>
      <dsp:txXfrm>
        <a:off x="0" y="332605"/>
        <a:ext cx="399869" cy="784051"/>
      </dsp:txXfrm>
    </dsp:sp>
    <dsp:sp modelId="{97441827-51B1-48A0-82F6-03694B96B9A3}">
      <dsp:nvSpPr>
        <dsp:cNvPr id="8" name="圆角矩形 7" hidden="1"/>
        <dsp:cNvSpPr/>
      </dsp:nvSpPr>
      <dsp:spPr>
        <a:xfrm>
          <a:off x="2391372" y="332605"/>
          <a:ext cx="402369" cy="784051"/>
        </a:xfrm>
        <a:prstGeom prst="roundRect">
          <a:avLst>
            <a:gd name="adj" fmla="val 10000"/>
          </a:avLst>
        </a:prstGeom>
      </dsp:spPr>
      <dsp:txXfrm>
        <a:off x="2391372" y="332605"/>
        <a:ext cx="402369" cy="784051"/>
      </dsp:txXfrm>
    </dsp:sp>
    <dsp:sp modelId="{30CB447B-2AF6-4BE8-BA45-2A5E7BBB4212}">
      <dsp:nvSpPr>
        <dsp:cNvPr id="16" name="圆角矩形 15" hidden="1"/>
        <dsp:cNvSpPr/>
      </dsp:nvSpPr>
      <dsp:spPr>
        <a:xfrm>
          <a:off x="4795243" y="332605"/>
          <a:ext cx="524044" cy="784051"/>
        </a:xfrm>
        <a:prstGeom prst="roundRect">
          <a:avLst>
            <a:gd name="adj" fmla="val 10000"/>
          </a:avLst>
        </a:prstGeom>
      </dsp:spPr>
      <dsp:txXfrm>
        <a:off x="4795243" y="332605"/>
        <a:ext cx="524044" cy="7840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064000" cy="4064000"/>
        <a:chOff x="0" y="0"/>
        <a:chExt cx="4064000" cy="4064000"/>
      </a:xfrm>
    </dsp:grpSpPr>
    <dsp:sp modelId="{85289D45-20D3-41CB-BBB9-729BEE955048}">
      <dsp:nvSpPr>
        <dsp:cNvPr id="3" name="十字箭头 2"/>
        <dsp:cNvSpPr/>
      </dsp:nvSpPr>
      <dsp:spPr bwMode="white">
        <a:xfrm>
          <a:off x="990210" y="0"/>
          <a:ext cx="4064000" cy="4064000"/>
        </a:xfrm>
        <a:prstGeom prst="quadArrow">
          <a:avLst>
            <a:gd name="adj1" fmla="val 2000"/>
            <a:gd name="adj2" fmla="val 4000"/>
            <a:gd name="adj3" fmla="val 5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990210" y="0"/>
        <a:ext cx="4064000" cy="4064000"/>
      </dsp:txXfrm>
    </dsp:sp>
    <dsp:sp modelId="{B4B8BEB1-3DBF-4937-8F48-C972F7E4BED7}">
      <dsp:nvSpPr>
        <dsp:cNvPr id="4" name="圆角矩形 3"/>
        <dsp:cNvSpPr/>
      </dsp:nvSpPr>
      <dsp:spPr bwMode="white">
        <a:xfrm>
          <a:off x="619110" y="264160"/>
          <a:ext cx="2233331" cy="16256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新建站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619110" y="264160"/>
        <a:ext cx="2233331" cy="1625600"/>
      </dsp:txXfrm>
    </dsp:sp>
    <dsp:sp modelId="{8D010B32-C7B4-4363-9EC5-4B37E3BE6D0A}">
      <dsp:nvSpPr>
        <dsp:cNvPr id="5" name="圆角矩形 4"/>
        <dsp:cNvSpPr/>
      </dsp:nvSpPr>
      <dsp:spPr bwMode="white">
        <a:xfrm>
          <a:off x="3190874" y="264160"/>
          <a:ext cx="2336491" cy="16256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扩容站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190874" y="264160"/>
        <a:ext cx="2336491" cy="1625600"/>
      </dsp:txXfrm>
    </dsp:sp>
    <dsp:sp modelId="{E45D16A2-269F-4BEF-978E-A257F73E72BF}">
      <dsp:nvSpPr>
        <dsp:cNvPr id="6" name="圆角矩形 5"/>
        <dsp:cNvSpPr/>
      </dsp:nvSpPr>
      <dsp:spPr bwMode="white">
        <a:xfrm>
          <a:off x="690539" y="2174240"/>
          <a:ext cx="2181734" cy="16256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搬迁站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690539" y="2174240"/>
        <a:ext cx="2181734" cy="1625600"/>
      </dsp:txXfrm>
    </dsp:sp>
    <dsp:sp modelId="{5D081254-797E-4611-B234-AE405E9B1DB7}">
      <dsp:nvSpPr>
        <dsp:cNvPr id="7" name="圆角矩形 6"/>
        <dsp:cNvSpPr/>
      </dsp:nvSpPr>
      <dsp:spPr bwMode="white">
        <a:xfrm>
          <a:off x="3190882" y="2174240"/>
          <a:ext cx="2284911" cy="16256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分裂站</a:t>
          </a:r>
          <a:endParaRPr lang="zh-CN" altLang="en-US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190882" y="2174240"/>
        <a:ext cx="2284911" cy="1625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191404" cy="4889520"/>
        <a:chOff x="0" y="0"/>
        <a:chExt cx="7191404" cy="4889520"/>
      </a:xfrm>
    </dsp:grpSpPr>
    <dsp:sp modelId="{467AC93A-6296-4011-B601-7FC0B4C9B02E}">
      <dsp:nvSpPr>
        <dsp:cNvPr id="3" name="圆角矩形 2"/>
        <dsp:cNvSpPr/>
      </dsp:nvSpPr>
      <dsp:spPr bwMode="white">
        <a:xfrm>
          <a:off x="1296016" y="0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选址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0"/>
        <a:ext cx="2149240" cy="537310"/>
      </dsp:txXfrm>
    </dsp:sp>
    <dsp:sp modelId="{3ACE6E88-F29C-4EAC-A530-821909B390C6}">
      <dsp:nvSpPr>
        <dsp:cNvPr id="4" name="右箭头 3"/>
        <dsp:cNvSpPr/>
      </dsp:nvSpPr>
      <dsp:spPr bwMode="white">
        <a:xfrm rot="5399999">
          <a:off x="2323621" y="584325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2323621" y="584325"/>
        <a:ext cx="94029" cy="94029"/>
      </dsp:txXfrm>
    </dsp:sp>
    <dsp:sp modelId="{9CE46ABC-4C56-4C81-B2AF-2720A5B8CE92}">
      <dsp:nvSpPr>
        <dsp:cNvPr id="5" name="圆角矩形 4"/>
        <dsp:cNvSpPr/>
      </dsp:nvSpPr>
      <dsp:spPr bwMode="white">
        <a:xfrm>
          <a:off x="1296016" y="725368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设计出图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725368"/>
        <a:ext cx="2149240" cy="537310"/>
      </dsp:txXfrm>
    </dsp:sp>
    <dsp:sp modelId="{BBE1D65C-63B5-4229-B3F8-45B11C4425A6}">
      <dsp:nvSpPr>
        <dsp:cNvPr id="6" name="右箭头 5"/>
        <dsp:cNvSpPr/>
      </dsp:nvSpPr>
      <dsp:spPr bwMode="white">
        <a:xfrm rot="5399999">
          <a:off x="2323621" y="1309693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2323621" y="1309693"/>
        <a:ext cx="94029" cy="94029"/>
      </dsp:txXfrm>
    </dsp:sp>
    <dsp:sp modelId="{E5C0C289-C271-4EA4-BF57-3D9C8A46BFB0}">
      <dsp:nvSpPr>
        <dsp:cNvPr id="7" name="圆角矩形 6"/>
        <dsp:cNvSpPr/>
      </dsp:nvSpPr>
      <dsp:spPr bwMode="white">
        <a:xfrm>
          <a:off x="1296016" y="1450737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分配站点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1450737"/>
        <a:ext cx="2149240" cy="537310"/>
      </dsp:txXfrm>
    </dsp:sp>
    <dsp:sp modelId="{410A9087-E125-45B8-BDEF-F310D0A0B3A3}">
      <dsp:nvSpPr>
        <dsp:cNvPr id="8" name="右箭头 7"/>
        <dsp:cNvSpPr/>
      </dsp:nvSpPr>
      <dsp:spPr bwMode="white">
        <a:xfrm rot="5399999">
          <a:off x="2323621" y="2035061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2323621" y="2035061"/>
        <a:ext cx="94029" cy="94029"/>
      </dsp:txXfrm>
    </dsp:sp>
    <dsp:sp modelId="{D029F6A1-1625-4758-9EF2-A9143BBAFD92}">
      <dsp:nvSpPr>
        <dsp:cNvPr id="9" name="圆角矩形 8"/>
        <dsp:cNvSpPr/>
      </dsp:nvSpPr>
      <dsp:spPr bwMode="white">
        <a:xfrm>
          <a:off x="1296016" y="2176105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安装配套设施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2176105"/>
        <a:ext cx="2149240" cy="537310"/>
      </dsp:txXfrm>
    </dsp:sp>
    <dsp:sp modelId="{617CC8B4-06B9-4B6D-B9CF-721568F5FD2B}">
      <dsp:nvSpPr>
        <dsp:cNvPr id="10" name="右箭头 9"/>
        <dsp:cNvSpPr/>
      </dsp:nvSpPr>
      <dsp:spPr bwMode="white">
        <a:xfrm rot="5399999">
          <a:off x="2323621" y="2760430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2323621" y="2760430"/>
        <a:ext cx="94029" cy="94029"/>
      </dsp:txXfrm>
    </dsp:sp>
    <dsp:sp modelId="{4C9B6B40-F64F-4C4C-93D9-2D31F7BB79B2}">
      <dsp:nvSpPr>
        <dsp:cNvPr id="11" name="圆角矩形 10"/>
        <dsp:cNvSpPr/>
      </dsp:nvSpPr>
      <dsp:spPr bwMode="white">
        <a:xfrm>
          <a:off x="1296016" y="2901473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主设备安装、申请电路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2901473"/>
        <a:ext cx="2149240" cy="537310"/>
      </dsp:txXfrm>
    </dsp:sp>
    <dsp:sp modelId="{E1C49C55-5AA5-4909-9666-D45A00458B37}">
      <dsp:nvSpPr>
        <dsp:cNvPr id="12" name="右箭头 11"/>
        <dsp:cNvSpPr/>
      </dsp:nvSpPr>
      <dsp:spPr bwMode="white">
        <a:xfrm rot="5399999">
          <a:off x="2323621" y="3485798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2323621" y="3485798"/>
        <a:ext cx="94029" cy="94029"/>
      </dsp:txXfrm>
    </dsp:sp>
    <dsp:sp modelId="{ADEAB4A3-04D3-4291-A9B4-AC7EB1FD8138}">
      <dsp:nvSpPr>
        <dsp:cNvPr id="13" name="圆角矩形 12"/>
        <dsp:cNvSpPr/>
      </dsp:nvSpPr>
      <dsp:spPr bwMode="white">
        <a:xfrm>
          <a:off x="1296016" y="3626842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质量检查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3626842"/>
        <a:ext cx="2149240" cy="537310"/>
      </dsp:txXfrm>
    </dsp:sp>
    <dsp:sp modelId="{93A2234B-21A0-4F6B-B7B6-7FD1AE1A00F4}">
      <dsp:nvSpPr>
        <dsp:cNvPr id="14" name="右箭头 13"/>
        <dsp:cNvSpPr/>
      </dsp:nvSpPr>
      <dsp:spPr bwMode="white">
        <a:xfrm rot="5399999">
          <a:off x="2323621" y="4211166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2323621" y="4211166"/>
        <a:ext cx="94029" cy="94029"/>
      </dsp:txXfrm>
    </dsp:sp>
    <dsp:sp modelId="{32D01535-296F-4330-9397-B2004617CED0}">
      <dsp:nvSpPr>
        <dsp:cNvPr id="15" name="圆角矩形 14"/>
        <dsp:cNvSpPr/>
      </dsp:nvSpPr>
      <dsp:spPr bwMode="white">
        <a:xfrm>
          <a:off x="1296016" y="4352210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验收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1296016" y="4352210"/>
        <a:ext cx="2149240" cy="537310"/>
      </dsp:txXfrm>
    </dsp:sp>
    <dsp:sp modelId="{664751DD-DBD9-4458-B348-83DA6663BE0D}">
      <dsp:nvSpPr>
        <dsp:cNvPr id="16" name="圆角矩形 15"/>
        <dsp:cNvSpPr/>
      </dsp:nvSpPr>
      <dsp:spPr bwMode="white">
        <a:xfrm>
          <a:off x="3746149" y="0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现场勘察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0"/>
        <a:ext cx="2149240" cy="537310"/>
      </dsp:txXfrm>
    </dsp:sp>
    <dsp:sp modelId="{2B027B9F-96C5-4867-B664-74D065912AD1}">
      <dsp:nvSpPr>
        <dsp:cNvPr id="17" name="右箭头 16"/>
        <dsp:cNvSpPr/>
      </dsp:nvSpPr>
      <dsp:spPr bwMode="white">
        <a:xfrm rot="5399999">
          <a:off x="4773754" y="584325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4773754" y="584325"/>
        <a:ext cx="94029" cy="94029"/>
      </dsp:txXfrm>
    </dsp:sp>
    <dsp:sp modelId="{E8CEF7C8-DE7A-4D20-ABE7-744D5A3E5D9C}">
      <dsp:nvSpPr>
        <dsp:cNvPr id="18" name="圆角矩形 17"/>
        <dsp:cNvSpPr/>
      </dsp:nvSpPr>
      <dsp:spPr bwMode="white">
        <a:xfrm>
          <a:off x="3746149" y="725368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设计出图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725368"/>
        <a:ext cx="2149240" cy="537310"/>
      </dsp:txXfrm>
    </dsp:sp>
    <dsp:sp modelId="{BD7D949C-A29C-4657-9EA7-51288C3E2703}">
      <dsp:nvSpPr>
        <dsp:cNvPr id="19" name="右箭头 18"/>
        <dsp:cNvSpPr/>
      </dsp:nvSpPr>
      <dsp:spPr bwMode="white">
        <a:xfrm rot="5399999">
          <a:off x="4773754" y="1309693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4773754" y="1309693"/>
        <a:ext cx="94029" cy="94029"/>
      </dsp:txXfrm>
    </dsp:sp>
    <dsp:sp modelId="{D9955BEB-27D2-4F56-95C9-B36D29AFD9F3}">
      <dsp:nvSpPr>
        <dsp:cNvPr id="20" name="圆角矩形 19"/>
        <dsp:cNvSpPr/>
      </dsp:nvSpPr>
      <dsp:spPr bwMode="white">
        <a:xfrm>
          <a:off x="3746149" y="1450737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分配站点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1450737"/>
        <a:ext cx="2149240" cy="537310"/>
      </dsp:txXfrm>
    </dsp:sp>
    <dsp:sp modelId="{3E3175C3-8B16-414D-87C1-C789A9FAC01B}">
      <dsp:nvSpPr>
        <dsp:cNvPr id="21" name="右箭头 20"/>
        <dsp:cNvSpPr/>
      </dsp:nvSpPr>
      <dsp:spPr bwMode="white">
        <a:xfrm rot="5399999">
          <a:off x="4773754" y="2035061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4773754" y="2035061"/>
        <a:ext cx="94029" cy="94029"/>
      </dsp:txXfrm>
    </dsp:sp>
    <dsp:sp modelId="{0F147CAD-C8D8-4BDC-809C-66BD1B8326CE}">
      <dsp:nvSpPr>
        <dsp:cNvPr id="22" name="圆角矩形 21"/>
        <dsp:cNvSpPr/>
      </dsp:nvSpPr>
      <dsp:spPr bwMode="white">
        <a:xfrm>
          <a:off x="3746149" y="2176105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数据、电路申请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2176105"/>
        <a:ext cx="2149240" cy="537310"/>
      </dsp:txXfrm>
    </dsp:sp>
    <dsp:sp modelId="{456CE269-CE71-4C0B-8C0D-19367F1B363A}">
      <dsp:nvSpPr>
        <dsp:cNvPr id="23" name="右箭头 22"/>
        <dsp:cNvSpPr/>
      </dsp:nvSpPr>
      <dsp:spPr bwMode="white">
        <a:xfrm rot="5399999">
          <a:off x="4773754" y="2760430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4773754" y="2760430"/>
        <a:ext cx="94029" cy="94029"/>
      </dsp:txXfrm>
    </dsp:sp>
    <dsp:sp modelId="{707E6A9F-0AF2-489D-9DDA-058277CCFC68}">
      <dsp:nvSpPr>
        <dsp:cNvPr id="24" name="圆角矩形 23"/>
        <dsp:cNvSpPr/>
      </dsp:nvSpPr>
      <dsp:spPr bwMode="white">
        <a:xfrm>
          <a:off x="3746149" y="2901473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硬件安装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2901473"/>
        <a:ext cx="2149240" cy="537310"/>
      </dsp:txXfrm>
    </dsp:sp>
    <dsp:sp modelId="{2030B479-6534-432B-8B57-BA897D19ECBA}">
      <dsp:nvSpPr>
        <dsp:cNvPr id="25" name="右箭头 24"/>
        <dsp:cNvSpPr/>
      </dsp:nvSpPr>
      <dsp:spPr bwMode="white">
        <a:xfrm rot="5399999">
          <a:off x="4773754" y="3485798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4773754" y="3485798"/>
        <a:ext cx="94029" cy="94029"/>
      </dsp:txXfrm>
    </dsp:sp>
    <dsp:sp modelId="{D270F319-97AA-4A2F-9AAC-24F234C1F39B}">
      <dsp:nvSpPr>
        <dsp:cNvPr id="26" name="圆角矩形 25"/>
        <dsp:cNvSpPr/>
      </dsp:nvSpPr>
      <dsp:spPr bwMode="white">
        <a:xfrm>
          <a:off x="3746149" y="3626842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质量检查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3626842"/>
        <a:ext cx="2149240" cy="537310"/>
      </dsp:txXfrm>
    </dsp:sp>
    <dsp:sp modelId="{9B2BA687-92DE-4E6B-9766-85529EB41CD8}">
      <dsp:nvSpPr>
        <dsp:cNvPr id="27" name="右箭头 26"/>
        <dsp:cNvSpPr/>
      </dsp:nvSpPr>
      <dsp:spPr bwMode="white">
        <a:xfrm rot="5399999">
          <a:off x="4773754" y="4211166"/>
          <a:ext cx="94029" cy="94029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4773754" y="4211166"/>
        <a:ext cx="94029" cy="94029"/>
      </dsp:txXfrm>
    </dsp:sp>
    <dsp:sp modelId="{68A70090-FD3F-4CEF-9023-C4144A820150}">
      <dsp:nvSpPr>
        <dsp:cNvPr id="28" name="圆角矩形 27"/>
        <dsp:cNvSpPr/>
      </dsp:nvSpPr>
      <dsp:spPr bwMode="white">
        <a:xfrm>
          <a:off x="3746149" y="4352210"/>
          <a:ext cx="2149240" cy="537310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rPr>
            <a:t>验收</a:t>
          </a:r>
          <a:endParaRPr lang="zh-CN" altLang="en-US" sz="2400" dirty="0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endParaRPr>
        </a:p>
      </dsp:txBody>
      <dsp:txXfrm>
        <a:off x="3746149" y="4352210"/>
        <a:ext cx="2149240" cy="537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R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VertAlign" val="t"/>
              <dgm:param type="nodeHorzAlign" val="ctr"/>
              <dgm:param type="fallback" val="2D"/>
            </dgm:alg>
          </dgm:if>
          <dgm:else name="Name7">
            <dgm:alg type="lin">
              <dgm:param type="linDir" val="fromT"/>
              <dgm:param type="nodeVertAlign" val="t"/>
              <dgm:param type="nodeHorzAlign" val="ct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36EE01-6DB4-40EF-B1AC-07B380CB9F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dirty="0">
                <a:latin typeface="Arial" panose="020B0604020202020204" pitchFamily="34" charset="0"/>
              </a:rPr>
              <a:t>中国通信市场中，中国移动、中国电信、中国联通、中国广电是大家熟知的四大运营商。此外，还有中国铁通和中国卫通，不过中国铁通已并入中国移动，中国卫通的基础电信业务也并入了中国电信。未来，中国星网将以卫星通信为主业务，成为第五大运营商。这些运营商围绕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>
                <a:latin typeface="Arial" panose="020B0604020202020204" pitchFamily="34" charset="0"/>
              </a:rPr>
              <a:t>有线</a:t>
            </a:r>
            <a:r>
              <a:rPr lang="en-US" altLang="zh-CN" dirty="0">
                <a:latin typeface="Arial" panose="020B0604020202020204" pitchFamily="34" charset="0"/>
              </a:rPr>
              <a:t> + </a:t>
            </a:r>
            <a:r>
              <a:rPr lang="zh-CN" altLang="en-US" dirty="0">
                <a:latin typeface="Arial" panose="020B0604020202020204" pitchFamily="34" charset="0"/>
              </a:rPr>
              <a:t>无线</a:t>
            </a:r>
            <a:r>
              <a:rPr lang="en-US" altLang="zh-CN" dirty="0">
                <a:latin typeface="Arial" panose="020B0604020202020204" pitchFamily="34" charset="0"/>
              </a:rPr>
              <a:t> + </a:t>
            </a:r>
            <a:r>
              <a:rPr lang="zh-CN" altLang="en-US" dirty="0">
                <a:latin typeface="Arial" panose="020B0604020202020204" pitchFamily="34" charset="0"/>
              </a:rPr>
              <a:t>卫星</a:t>
            </a:r>
            <a:r>
              <a:rPr lang="en-US" altLang="zh-CN" dirty="0">
                <a:latin typeface="Arial" panose="020B0604020202020204" pitchFamily="34" charset="0"/>
              </a:rPr>
              <a:t> + </a:t>
            </a:r>
            <a:r>
              <a:rPr lang="zh-CN" altLang="en-US" dirty="0">
                <a:latin typeface="Arial" panose="020B0604020202020204" pitchFamily="34" charset="0"/>
              </a:rPr>
              <a:t>国际传播</a:t>
            </a:r>
            <a:r>
              <a:rPr lang="en-US" altLang="zh-CN" dirty="0">
                <a:latin typeface="Arial" panose="020B0604020202020204" pitchFamily="34" charset="0"/>
              </a:rPr>
              <a:t> + </a:t>
            </a:r>
            <a:r>
              <a:rPr lang="zh-CN" altLang="en-US" dirty="0">
                <a:latin typeface="Arial" panose="020B0604020202020204" pitchFamily="34" charset="0"/>
              </a:rPr>
              <a:t>内容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>
                <a:latin typeface="Arial" panose="020B0604020202020204" pitchFamily="34" charset="0"/>
              </a:rPr>
              <a:t>发展战略，推进全国有线电视网络整合、互联互通平台建设、移动多媒体交互广播电视网建设、可经营性卫星增值业务发展和内容业务创新。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当今通信领域呈现出多元业务融合的态势。手机电视、车载电视等新兴媒体形式不断涌现，</a:t>
            </a:r>
            <a:r>
              <a:rPr lang="en-US" altLang="zh-CN"/>
              <a:t>IPTV</a:t>
            </a:r>
            <a:r>
              <a:rPr lang="zh-CN" altLang="en-US"/>
              <a:t>等也成为人们生活中常见的娱乐方式。这些都反映了广播电视业务与其他业务的融合发展趋势。</a:t>
            </a:r>
            <a:r>
              <a:rPr lang="en-US" altLang="zh-CN"/>
              <a:t>
</a:t>
            </a:r>
            <a:r>
              <a:rPr lang="zh-CN" altLang="en-US"/>
              <a:t>通信业务涵盖电信、广播电视、互联网等多个领域，固网业务和移动业务为信息传输提供了基础支撑，</a:t>
            </a:r>
            <a:r>
              <a:rPr lang="en-US" altLang="zh-CN"/>
              <a:t>IM</a:t>
            </a:r>
            <a:r>
              <a:rPr lang="zh-CN" altLang="en-US"/>
              <a:t>、</a:t>
            </a:r>
            <a:r>
              <a:rPr lang="en-US" altLang="zh-CN"/>
              <a:t>EMAIL</a:t>
            </a:r>
            <a:r>
              <a:rPr lang="zh-CN" altLang="en-US"/>
              <a:t>、网络游戏等则是互联网业务的典型代表。</a:t>
            </a:r>
            <a:r>
              <a:rPr lang="en-US" altLang="zh-CN"/>
              <a:t>
</a:t>
            </a:r>
            <a:r>
              <a:rPr lang="zh-CN" altLang="en-US"/>
              <a:t>而</a:t>
            </a:r>
            <a:r>
              <a:rPr lang="en-US" altLang="zh-CN"/>
              <a:t>“</a:t>
            </a:r>
            <a:r>
              <a:rPr lang="zh-CN" altLang="en-US"/>
              <a:t>三网融合</a:t>
            </a:r>
            <a:r>
              <a:rPr lang="en-US" altLang="zh-CN"/>
              <a:t>”</a:t>
            </a:r>
            <a:r>
              <a:rPr lang="zh-CN" altLang="en-US"/>
              <a:t>是这一发展趋势的核心体现，它整合了电信网、广播电视网和互联网，打破了传统业务的界限，实现了资源共享和优势互补，为用户带来更加便捷、丰富的体验，也为通信行业开辟了新的发展空间。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建设有一套严谨的基本程序，主要分为立项和实施两个阶段。立项阶段从项目建议书开始，进行可行性研究和初步设计，接着制定年度计划。这些工作由建设单位、中介机构和主管部门等完成，为项目奠定基础。</a:t>
            </a:r>
            <a:r>
              <a:rPr lang="en-US" altLang="zh-CN"/>
              <a:t>
</a:t>
            </a:r>
            <a:r>
              <a:rPr lang="zh-CN" altLang="en-US"/>
              <a:t>实施阶段工作更具体。施工准备时，设计单位提供施工图，建设和施工单位开展招投标，施工、监理单位负责开工报告和施工。设备方面，编写技术规范书后进行采购或招标，签订合同，设备到港后要商检和出厂检验，办理进口手续，还有随工验收和专家评估。整个程序环环相扣，确保通信工程顺利建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建设基本程序分为实施阶段、验收投产阶段。实施阶段包括初步设计、年度计划、施工准备、施工图设计、施工招投标、开工报告和施工，由设计单位、建设单位、建设及施工单位等完成。验收投产阶段涵盖初步验收、试运转、竣工验收、生产准备、出厂检验和投产，涉及建设、施工、监理及相关单位等。此外，还需编写技术规范书、进行设备采购或招标、签订设备合同、办理进口手续、进行设备到港商检和随工验收。整个流程各环节紧密相连，确保通信工程顺利建设和投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通信工程设计，是对现有通信网络装备整合优化。它基于通信网络规划，依据发展目标，运用工程技术与经济方法，依照标准规范，对项目勘察分析，编制设计文件并配合建设。</a:t>
            </a:r>
            <a:r>
              <a:rPr lang="en-US" altLang="zh-CN" dirty="0" smtClean="0"/>
              <a:t>
</a:t>
            </a:r>
            <a:r>
              <a:rPr lang="zh-CN" altLang="en-US" dirty="0" smtClean="0"/>
              <a:t>设计文件要兼顾技术和经济，实现二者统一。技术问题借助设计说明和图纸解决，经济问题通过概算、预算和修正概算处理。通信工程设计为工程建设提供依据，确保项目科学合理。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通信工程设计在整个工程流程中占据着举足轻重的地位。设计工作处于工程前期，规范性、目标性强，不可复制，强调理论与实际结合。一旦设计阶段出现失误，就可能导致重大损失，因此准确性至关重要。</a:t>
            </a:r>
            <a:r>
              <a:rPr lang="en-US" altLang="zh-CN" dirty="0" smtClean="0"/>
              <a:t>
</a:t>
            </a:r>
            <a:r>
              <a:rPr lang="zh-CN" altLang="en-US" dirty="0" smtClean="0"/>
              <a:t>优质的设计能够带来较高的投资效益，实现资源综合利用，满足节约能源、节约用地的要求。在控制工程造价方面，设计是关键环节，它是工程建设的灵魂，将科学技术转化为生产力。</a:t>
            </a:r>
            <a:r>
              <a:rPr lang="en-US" altLang="zh-CN" dirty="0" smtClean="0"/>
              <a:t>
</a:t>
            </a:r>
            <a:r>
              <a:rPr lang="zh-CN" altLang="en-US" dirty="0" smtClean="0"/>
              <a:t>此外，通信工程设计还需以标准为依据，从实际出发，站在全程和全网的高度调配网络资源，实现最优的网络优化。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通信工程设计有五项重要原则。首先要符合国家相关规定，工程设计得贯彻国家建设方针和通信政策，合理利用资源，重视环保，采用符合标准的产品，未经鉴定的产品不能用。其次要保证通信质量，做到技术先进、经济合理、安全适用，满足施工、运营和使用要求。再者要选取最优方案，多做方案比较，兼顾近远期通信需求，合理利用已有设施，降低造价和维护费。还要选用成熟先进技术，执行科技进步方针，采用适合国情的国内外技术。最后要满足系统建设总体要求，考虑系统容量、业务流量等因素，确保施工、安装和维护方便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设计包含四项主要内容。可行性研究是立项依据，如同为项目打下稳固地基，只有经过严谨研究，项目才有立项的可能。初步设计提供建设方案，是对整个工程的初步规划，确定大致方向。技术设计成为招标依据，为招标提供专业技术支撑，确保选择合适的合作伙伴。施工图设计作为施工依据，就像详细的地图，指导施工人员精准施工。四项内容环环相扣，共同保障通信工程顺利开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设计的阶段划分有三种方式。一阶段设计将初步设计与施工图设计合二为一，适合一些规模较小、技术相对简单的项目，能快速推进工程进度。二阶段设计同样包含初步设计和施工图设计，不过两者独立进行，能更细致地把控设计质量，适用于大多数常规通信工程项目。三阶段设计则在此基础上增加了技术设计，针对技术复杂、要求高的大型项目，可对设计方案进行深入优化，确保工程的科学性和可行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设计各阶段有着不同要求。初步设计需依据批准的可行性研究报告或设计任务书，结合设计标准、规范，经现场勘察获取基础资料编制。要论述主要设计方案，提出设备选型和重大技术措施，分析技术与经济指标，进行方案比选并推荐，还要做工程投资概算，是技术总体规划和施工准备、确定投资额的主要依据。技术设计针对有特殊要求的项目，进一步论述主要设计方案，详述重大技术措施，但不进行工程投资计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设计各阶段有不同要求。施工图设计依据批准的初步设计编制，需提出施工技术要求与图纸，要达到能指导设备安装、电（光）缆敷设及建筑物施工的程度，还要提出新旧系统交替时的割接方案，并且编制工程预算。</a:t>
            </a:r>
            <a:r>
              <a:rPr lang="en-US" altLang="zh-CN"/>
              <a:t>
</a:t>
            </a:r>
            <a:r>
              <a:rPr lang="zh-CN" altLang="en-US"/>
              <a:t>一阶段设计根据批准的可行性研究报告或设计任务书等，经现场勘察获取可靠资料后编制。它要论述主要设计方案，提出设备选型与重大技术措施，分析技术与经济指标并进行方案比选。同时也需提出施工技术要求和图纸，满足施工需要，提出割接方案并编制工程预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通信系统是信息传递的关键，它用电信号或光信号把信息从一个地方传送到另一个地方，也被叫做电信系统。想象一下，你和远方的朋友通话，你的声音变成信号，通过各种设备和线路传到对方那里，这就是通信系统在发挥作用。最简单的通信系统包含信息源、发送设备、传输信道、噪声源、接收设备和信宿这六个部分。信息源就像你的嘴巴，发出信息；发送设备把信息变成能传输的信号；传输信道好比道路，让信号通行；噪声源会干扰信号；接收设备接收信号；信宿则是信息的终点，就像你朋友的耳朵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通信网如同一张庞大而复杂的巨网，连接着世界的每一个角落。一个完整的通信网主要由硬件和软件两部分构成。其中，硬件包括终端设备、传输设备、通信线路和交换设备，它们是通信网的物理基础。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信网的分类方式多样。按业务种类可分为电话网、电报网、数据网等；从服务对象看，有公用通信网和专用通信网；按传输信号形式，分为模拟通信网和数字通信网；按服务范围有国际网、国内长途网、本地网；按主要传输介质，有电缆、光缆、卫星、无线、光纤等通信网；按网络拓扑结构，有星型网、环形网等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基站工程建设是通信领域的关键一环。基站如同通信网络的</a:t>
            </a:r>
            <a:r>
              <a:rPr lang="en-US" altLang="zh-CN"/>
              <a:t>“</a:t>
            </a:r>
            <a:r>
              <a:rPr lang="zh-CN" altLang="en-US"/>
              <a:t>哨所</a:t>
            </a:r>
            <a:r>
              <a:rPr lang="en-US" altLang="zh-CN"/>
              <a:t>”</a:t>
            </a:r>
            <a:r>
              <a:rPr lang="zh-CN" altLang="en-US"/>
              <a:t>，承担着信号收发与传输的重任。其建设内容丰富，涵盖场地选择、设备安装、线路铺设等。场地需考虑信号覆盖与稳定性，设备安装要精准无误，线路铺设要保障传输顺畅。只有各环节高质量完成，基站才能发挥最大效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pitchFamily="34" charset="0"/>
              </a:rPr>
            </a:fld>
            <a:endParaRPr lang="en-US" altLang="zh-CN" sz="1200" dirty="0">
              <a:latin typeface="Calibri" panose="020F050202020403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站工程项目类型丰富多样。有新建局项目，如同在一片空白的土地上精心描绘新的蓝图，从无到有打造全新的基站设施。还有扩容局项目，就像给已经成长的建筑添砖加瓦，对现有的基站进行扩展升级，以满足不断增长的通信需求。不同类型的基站工程项目，有着各自独特的挑战和机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站工程项目类型中，新建局与扩容局是两个关键类型。新建局意味着从零开始建设一个全新的基站，就像在一片空白的土地上建造一座通信城堡，需要进行全面规划和建设。而扩容局则是在现有基站基础上进行扩展升级，如同给已有的城堡添砖加瓦，以满足不断增长的通信需求。两者对于提升通信网络的覆盖和质量都至关重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电信工程建设具有多个鲜明特点。首先，多种配套建设需同时推进，这意味着在项目实施中，各项工作要紧密配合、协同开展。其次，设备先进且技术密集，反映出该领域对前沿技术和高端设备的高度依赖。再者，通讯站点建设对附属设施可靠性要求极高，尤其是防雷与防磁电方面，任何一点疏忽都可能导致严重后果。最后，测试手段复杂，这要求工作人员具备专业技能和丰富经验，以确保工程质量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设计至关重要，好比通信系统建设的蓝图，它为整个建设过程指明方向。同时，它也是建设单位拨款和控制成本的依据，能让资金合理有效地投入。在工程完成后，通信工程设计又是验收的标准，确保工程符合预期。而且，它还是通信系统维护和扩容的重要资料，为后续发展提供有力支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信工程设计里专业分工明确，包含交换、无线、传输、卫星通信和电源及配套五个专业。交换专业负责构建通信网络和安装交换设备；无线专业涵盖短波、超短波通信线路工程设计等多种无线通信工程；传输专业专注于光缆、光传输、微波传输等设备安装设计；卫星通信专业进行干线、支线、专线网系统设计；电源及配套专业承担电源设备安装、防雷接地、铁塔安装及机房建设改造等工程设计。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交换设计专业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专业主要承担核心网及相关支撑网络和计算机系统的工程规划、设计、优化和技术咨询业务。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无线设计专业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10000"/>
              </a:spcBef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专业业务涵盖全方位的无线网络咨询规划设计，承担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GSM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CDMA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3G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4G/5G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）移动通信、无线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局域网、无线接入网、集群通信、微波通信等系统的网络规划、工程设计和网络优化服务以及相关的技术咨询、培训服务。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10000"/>
              </a:spcBef>
              <a:buFontTx/>
              <a:buNone/>
            </a:pP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设计中，传输专业和卫星通信专业是重要组成部分。传输专业包含多个关键设计内容，通信光缆线路设计为信息传输搭建物理通道；光传输设备安装设计保障高速稳定的光信号传输；微波传输设备安装设计适用于特定场景，实现灵活通信；</a:t>
            </a:r>
            <a:r>
              <a:rPr lang="en-US" altLang="zh-CN"/>
              <a:t>3.5G</a:t>
            </a:r>
            <a:r>
              <a:rPr lang="zh-CN" altLang="en-US"/>
              <a:t>无线接入设备安装设计则满足特定区域的无线接入需求。卫星通信专业涵盖卫星干线网、支线网和专线网系统设计，为远距离、广覆盖的通信提供支持，确保通信的稳定性和可靠性。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通信工程设计里，电源及配套专业极为关键。它包含了多项重要的工程设计内容。电源设备安装工程设计，是为通信系统提供稳定电力供应的基础保障，就像给机器注入动力的心脏。防雷及接地安装工程设计，能有效保护设备免受雷击损害，保障通信系统的安全运行，如同给设备穿上了一层防护铠甲。铁塔安装工程设计，为无线通信设备搭建了稳固的支撑平台。机房建设及改造工程设计，则为设备提供了适宜的运行环境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eaLnBrk="1" hangingPunct="1">
              <a:buNone/>
            </a:pPr>
            <a:r>
              <a:rPr lang="zh-CN" altLang="zh-CN" dirty="0">
                <a:sym typeface="+mn-ea"/>
              </a:rPr>
              <a:t>通信工程设计中，工程设计人员素质至关重要，要为建设、维护单位把好</a:t>
            </a:r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关。网络技术关是基础，只有掌握先进网络技术，才能设计出高效、稳定的通信网络。工程质量关是关键，保证工程质量，才能让通信系统可靠运行。投资经济关也不容忽视，合理控制成本，才能让建设单位资金用在刀刃上。设备（线路）维护关则保障了通信系统的长期稳定，及时维护设备和线路，才能减少故障发生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通信工程设计人员要精通本专业知识，就像航海者熟知航线，只有这样才能在复杂的工程设计中找准方向。熟悉设备特性和通信网组织也十分关键，如同了解船只性能与海洋环境，才能保障航行顺利。了解相关联专业的关系，能让设计人员在跨专业协作时游刃有余。掌握工程设计的基本程序、步骤及分工，熟悉通信机房组织，是高效完成设计任务的基础。此外，还需具备不辞辛苦深入调查研究的精神，以及科学、严谨、规范、认真、负责、一丝不苟、精益求精的工作作风，如此才能成为优秀的通信工程设计人员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通信工程设计有一套严谨的工作流程。首先是工程设计，这是整个流程的起点。接着要制定设计计划，为后续工作明确方向。前期准备工作也必不可少，它是后续工作顺利开展的基础。工程勘察包括现场勘查和测量，这能让我们了解实际情况。之后出设计图纸，将想法变为具体蓝图。再统计工程量、编制工程（概）预算，对成本有清晰把控。最后编写设计、（概）预算说明，形成完整的设计文本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700213"/>
            <a:ext cx="3884612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3884613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981075"/>
            <a:ext cx="1979613" cy="5327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981075"/>
            <a:ext cx="5789612" cy="5327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11188" y="981075"/>
            <a:ext cx="7921625" cy="5762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611188" y="1700213"/>
            <a:ext cx="7921625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4BE67-A75D-4D66-B2B0-97625AF53F1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.png"/><Relationship Id="rId7" Type="http://schemas.openxmlformats.org/officeDocument/2006/relationships/image" Target="../media/image12.jpeg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9" name="Picture 3" descr="C:\Users\huizhi\Desktop\无标题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80000">
            <a:off x="900430" y="414655"/>
            <a:ext cx="919480" cy="28054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636010" y="476885"/>
            <a:ext cx="3182620" cy="6699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p>
            <a:pPr algn="ctr"/>
            <a:r>
              <a:rPr lang="zh-CN" altLang="en-US" sz="2800" b="1"/>
              <a:t>中国移动</a:t>
            </a:r>
            <a:endParaRPr lang="zh-CN" altLang="en-US" sz="2800" b="1"/>
          </a:p>
        </p:txBody>
      </p:sp>
      <p:sp>
        <p:nvSpPr>
          <p:cNvPr id="4" name="文本框 3"/>
          <p:cNvSpPr txBox="1"/>
          <p:nvPr/>
        </p:nvSpPr>
        <p:spPr>
          <a:xfrm>
            <a:off x="2915920" y="1412875"/>
            <a:ext cx="3182620" cy="6699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p>
            <a:pPr algn="ctr"/>
            <a:r>
              <a:rPr lang="zh-CN" altLang="en-US" sz="2800" b="1"/>
              <a:t>中国电信</a:t>
            </a:r>
            <a:endParaRPr lang="zh-CN" altLang="en-US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2267585" y="2348865"/>
            <a:ext cx="3182620" cy="6699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p>
            <a:pPr algn="ctr"/>
            <a:r>
              <a:rPr lang="zh-CN" altLang="en-US" sz="2800" b="1"/>
              <a:t>中国联通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1691640" y="3357245"/>
            <a:ext cx="3182620" cy="6699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p>
            <a:pPr algn="ctr"/>
            <a:r>
              <a:rPr lang="zh-CN" altLang="en-US" sz="2800" b="1"/>
              <a:t>中国广电</a:t>
            </a:r>
            <a:endParaRPr lang="zh-CN" altLang="en-US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62025" y="4220845"/>
            <a:ext cx="7270115" cy="238125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p>
            <a:r>
              <a:rPr lang="zh-CN" altLang="en-US" sz="1800" b="1"/>
              <a:t>中国还有中国铁通、中国卫通等通信运营商。</a:t>
            </a:r>
            <a:br>
              <a:rPr lang="zh-CN" altLang="en-US" sz="1800" b="1"/>
            </a:br>
            <a:r>
              <a:rPr lang="zh-CN" altLang="en-US" sz="1800" b="1"/>
              <a:t>中国铁通已并入中国移动；</a:t>
            </a:r>
            <a:br>
              <a:rPr lang="zh-CN" altLang="en-US" sz="1800" b="1"/>
            </a:br>
            <a:r>
              <a:rPr lang="zh-CN" altLang="en-US" sz="1800" b="1"/>
              <a:t>中国卫通的基础电信业务并入中国电信</a:t>
            </a:r>
            <a:endParaRPr lang="zh-CN" altLang="en-US" sz="1800" b="1"/>
          </a:p>
          <a:p>
            <a:r>
              <a:rPr lang="zh-CN" altLang="en-US" sz="1800" b="1"/>
              <a:t>未来中国星网将会以卫星通信为主业务成为第五大运营商</a:t>
            </a:r>
            <a:endParaRPr lang="zh-CN" altLang="en-US" sz="1800" b="1"/>
          </a:p>
          <a:p>
            <a:endParaRPr lang="zh-CN" altLang="en-US" sz="1800" b="1"/>
          </a:p>
          <a:p>
            <a:r>
              <a:rPr sz="1800" b="1" dirty="0">
                <a:latin typeface="+mn-ea"/>
                <a:cs typeface="+mn-ea"/>
                <a:sym typeface="+mn-ea"/>
              </a:rPr>
              <a:t>围绕“有线 + 无线 + 卫星 + 国际传播 + 内容”发展战略，协同推进全国有线电视网络整合、互联互通平台建设、移动多媒体交互广播电视网建设、可经营性卫星增值业务发展和内容业务创新</a:t>
            </a:r>
            <a:r>
              <a:rPr sz="1800" dirty="0">
                <a:latin typeface="Arial" panose="020B0604020202020204" pitchFamily="34" charset="0"/>
                <a:sym typeface="+mn-ea"/>
              </a:rPr>
              <a:t>。</a:t>
            </a:r>
            <a:endParaRPr sz="1800" dirty="0">
              <a:latin typeface="Arial" panose="020B0604020202020204" pitchFamily="34" charset="0"/>
            </a:endParaRPr>
          </a:p>
          <a:p>
            <a:endParaRPr lang="zh-CN" altLang="en-US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1331913" y="1427163"/>
            <a:ext cx="6275387" cy="4870450"/>
            <a:chOff x="748" y="993"/>
            <a:chExt cx="3953" cy="3118"/>
          </a:xfrm>
        </p:grpSpPr>
        <p:sp>
          <p:nvSpPr>
            <p:cNvPr id="5124" name="Text Box 3"/>
            <p:cNvSpPr txBox="1"/>
            <p:nvPr/>
          </p:nvSpPr>
          <p:spPr>
            <a:xfrm>
              <a:off x="748" y="1389"/>
              <a:ext cx="506" cy="416"/>
            </a:xfrm>
            <a:prstGeom prst="rect">
              <a:avLst/>
            </a:prstGeom>
            <a:solidFill>
              <a:srgbClr val="CC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CC"/>
              </a:extrusionClr>
            </a:sp3d>
          </p:spPr>
          <p:txBody>
            <a:bodyPr wrap="none" lIns="91435" tIns="45718" rIns="91435" bIns="45718">
              <a:spAutoFit/>
              <a:flatTx/>
            </a:bodyPr>
            <a:p>
              <a:pPr eaLnBrk="1" hangingPunct="1"/>
              <a:r>
                <a:rPr lang="zh-CN" altLang="en-US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手机电视</a:t>
              </a:r>
              <a:endParaRPr lang="zh-CN" altLang="en-US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zh-CN" altLang="en-US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车载电视</a:t>
              </a:r>
              <a:endParaRPr lang="zh-CN" altLang="en-US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en-US" altLang="zh-CN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..….</a:t>
              </a:r>
              <a:endParaRPr lang="en-US" altLang="zh-CN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sp>
          <p:nvSpPr>
            <p:cNvPr id="5125" name="Text Box 4"/>
            <p:cNvSpPr txBox="1"/>
            <p:nvPr/>
          </p:nvSpPr>
          <p:spPr>
            <a:xfrm>
              <a:off x="2245" y="3929"/>
              <a:ext cx="998" cy="182"/>
            </a:xfrm>
            <a:prstGeom prst="rect">
              <a:avLst/>
            </a:prstGeom>
            <a:solidFill>
              <a:srgbClr val="FFFF99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lIns="91435" tIns="45718" rIns="91435" bIns="45718">
              <a:spAutoFit/>
              <a:flatTx/>
            </a:bodyPr>
            <a:p>
              <a:pPr eaLnBrk="1" hangingPunct="1"/>
              <a:r>
                <a:rPr lang="en-US" altLang="zh-CN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IPTV..….</a:t>
              </a:r>
              <a:endParaRPr lang="en-US" altLang="zh-CN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5126" name="Group 5"/>
            <p:cNvGrpSpPr/>
            <p:nvPr/>
          </p:nvGrpSpPr>
          <p:grpSpPr>
            <a:xfrm>
              <a:off x="1293" y="993"/>
              <a:ext cx="2886" cy="2711"/>
              <a:chOff x="2351" y="1901"/>
              <a:chExt cx="1619" cy="1570"/>
            </a:xfrm>
          </p:grpSpPr>
          <p:sp>
            <p:nvSpPr>
              <p:cNvPr id="5150" name="Freeform 6"/>
              <p:cNvSpPr/>
              <p:nvPr/>
            </p:nvSpPr>
            <p:spPr>
              <a:xfrm>
                <a:off x="2931" y="2521"/>
                <a:ext cx="459" cy="862"/>
              </a:xfrm>
              <a:custGeom>
                <a:avLst/>
                <a:gdLst>
                  <a:gd name="txL" fmla="*/ 0 w 1213"/>
                  <a:gd name="txT" fmla="*/ 0 h 2283"/>
                  <a:gd name="txR" fmla="*/ 1213 w 1213"/>
                  <a:gd name="txB" fmla="*/ 2283 h 228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213" h="2283">
                    <a:moveTo>
                      <a:pt x="0" y="1141"/>
                    </a:moveTo>
                    <a:lnTo>
                      <a:pt x="0" y="1096"/>
                    </a:lnTo>
                    <a:lnTo>
                      <a:pt x="3" y="1053"/>
                    </a:lnTo>
                    <a:lnTo>
                      <a:pt x="6" y="1009"/>
                    </a:lnTo>
                    <a:lnTo>
                      <a:pt x="11" y="965"/>
                    </a:lnTo>
                    <a:lnTo>
                      <a:pt x="17" y="923"/>
                    </a:lnTo>
                    <a:lnTo>
                      <a:pt x="24" y="880"/>
                    </a:lnTo>
                    <a:lnTo>
                      <a:pt x="33" y="839"/>
                    </a:lnTo>
                    <a:lnTo>
                      <a:pt x="38" y="818"/>
                    </a:lnTo>
                    <a:lnTo>
                      <a:pt x="42" y="797"/>
                    </a:lnTo>
                    <a:lnTo>
                      <a:pt x="48" y="776"/>
                    </a:lnTo>
                    <a:lnTo>
                      <a:pt x="54" y="756"/>
                    </a:lnTo>
                    <a:lnTo>
                      <a:pt x="66" y="716"/>
                    </a:lnTo>
                    <a:lnTo>
                      <a:pt x="80" y="675"/>
                    </a:lnTo>
                    <a:lnTo>
                      <a:pt x="95" y="636"/>
                    </a:lnTo>
                    <a:lnTo>
                      <a:pt x="112" y="597"/>
                    </a:lnTo>
                    <a:lnTo>
                      <a:pt x="128" y="559"/>
                    </a:lnTo>
                    <a:lnTo>
                      <a:pt x="146" y="522"/>
                    </a:lnTo>
                    <a:lnTo>
                      <a:pt x="166" y="484"/>
                    </a:lnTo>
                    <a:lnTo>
                      <a:pt x="187" y="448"/>
                    </a:lnTo>
                    <a:lnTo>
                      <a:pt x="208" y="414"/>
                    </a:lnTo>
                    <a:lnTo>
                      <a:pt x="230" y="379"/>
                    </a:lnTo>
                    <a:lnTo>
                      <a:pt x="253" y="344"/>
                    </a:lnTo>
                    <a:lnTo>
                      <a:pt x="278" y="311"/>
                    </a:lnTo>
                    <a:lnTo>
                      <a:pt x="304" y="278"/>
                    </a:lnTo>
                    <a:lnTo>
                      <a:pt x="330" y="247"/>
                    </a:lnTo>
                    <a:lnTo>
                      <a:pt x="357" y="215"/>
                    </a:lnTo>
                    <a:lnTo>
                      <a:pt x="385" y="185"/>
                    </a:lnTo>
                    <a:lnTo>
                      <a:pt x="414" y="156"/>
                    </a:lnTo>
                    <a:lnTo>
                      <a:pt x="444" y="128"/>
                    </a:lnTo>
                    <a:lnTo>
                      <a:pt x="475" y="101"/>
                    </a:lnTo>
                    <a:lnTo>
                      <a:pt x="507" y="74"/>
                    </a:lnTo>
                    <a:lnTo>
                      <a:pt x="538" y="48"/>
                    </a:lnTo>
                    <a:lnTo>
                      <a:pt x="573" y="24"/>
                    </a:lnTo>
                    <a:lnTo>
                      <a:pt x="606" y="0"/>
                    </a:lnTo>
                    <a:lnTo>
                      <a:pt x="641" y="24"/>
                    </a:lnTo>
                    <a:lnTo>
                      <a:pt x="657" y="36"/>
                    </a:lnTo>
                    <a:lnTo>
                      <a:pt x="674" y="48"/>
                    </a:lnTo>
                    <a:lnTo>
                      <a:pt x="705" y="74"/>
                    </a:lnTo>
                    <a:lnTo>
                      <a:pt x="737" y="101"/>
                    </a:lnTo>
                    <a:lnTo>
                      <a:pt x="768" y="128"/>
                    </a:lnTo>
                    <a:lnTo>
                      <a:pt x="799" y="156"/>
                    </a:lnTo>
                    <a:lnTo>
                      <a:pt x="827" y="185"/>
                    </a:lnTo>
                    <a:lnTo>
                      <a:pt x="856" y="215"/>
                    </a:lnTo>
                    <a:lnTo>
                      <a:pt x="883" y="247"/>
                    </a:lnTo>
                    <a:lnTo>
                      <a:pt x="910" y="278"/>
                    </a:lnTo>
                    <a:lnTo>
                      <a:pt x="922" y="295"/>
                    </a:lnTo>
                    <a:lnTo>
                      <a:pt x="934" y="311"/>
                    </a:lnTo>
                    <a:lnTo>
                      <a:pt x="959" y="344"/>
                    </a:lnTo>
                    <a:lnTo>
                      <a:pt x="982" y="379"/>
                    </a:lnTo>
                    <a:lnTo>
                      <a:pt x="1004" y="414"/>
                    </a:lnTo>
                    <a:lnTo>
                      <a:pt x="1027" y="448"/>
                    </a:lnTo>
                    <a:lnTo>
                      <a:pt x="1047" y="484"/>
                    </a:lnTo>
                    <a:lnTo>
                      <a:pt x="1057" y="504"/>
                    </a:lnTo>
                    <a:lnTo>
                      <a:pt x="1066" y="522"/>
                    </a:lnTo>
                    <a:lnTo>
                      <a:pt x="1075" y="540"/>
                    </a:lnTo>
                    <a:lnTo>
                      <a:pt x="1084" y="559"/>
                    </a:lnTo>
                    <a:lnTo>
                      <a:pt x="1101" y="597"/>
                    </a:lnTo>
                    <a:lnTo>
                      <a:pt x="1110" y="617"/>
                    </a:lnTo>
                    <a:lnTo>
                      <a:pt x="1117" y="636"/>
                    </a:lnTo>
                    <a:lnTo>
                      <a:pt x="1132" y="675"/>
                    </a:lnTo>
                    <a:lnTo>
                      <a:pt x="1146" y="716"/>
                    </a:lnTo>
                    <a:lnTo>
                      <a:pt x="1158" y="756"/>
                    </a:lnTo>
                    <a:lnTo>
                      <a:pt x="1170" y="797"/>
                    </a:lnTo>
                    <a:lnTo>
                      <a:pt x="1179" y="839"/>
                    </a:lnTo>
                    <a:lnTo>
                      <a:pt x="1188" y="880"/>
                    </a:lnTo>
                    <a:lnTo>
                      <a:pt x="1195" y="923"/>
                    </a:lnTo>
                    <a:lnTo>
                      <a:pt x="1201" y="965"/>
                    </a:lnTo>
                    <a:lnTo>
                      <a:pt x="1206" y="1009"/>
                    </a:lnTo>
                    <a:lnTo>
                      <a:pt x="1210" y="1053"/>
                    </a:lnTo>
                    <a:lnTo>
                      <a:pt x="1212" y="1096"/>
                    </a:lnTo>
                    <a:lnTo>
                      <a:pt x="1213" y="1141"/>
                    </a:lnTo>
                    <a:lnTo>
                      <a:pt x="1212" y="1185"/>
                    </a:lnTo>
                    <a:lnTo>
                      <a:pt x="1210" y="1229"/>
                    </a:lnTo>
                    <a:lnTo>
                      <a:pt x="1206" y="1274"/>
                    </a:lnTo>
                    <a:lnTo>
                      <a:pt x="1201" y="1316"/>
                    </a:lnTo>
                    <a:lnTo>
                      <a:pt x="1195" y="1360"/>
                    </a:lnTo>
                    <a:lnTo>
                      <a:pt x="1188" y="1402"/>
                    </a:lnTo>
                    <a:lnTo>
                      <a:pt x="1179" y="1444"/>
                    </a:lnTo>
                    <a:lnTo>
                      <a:pt x="1174" y="1465"/>
                    </a:lnTo>
                    <a:lnTo>
                      <a:pt x="1170" y="1484"/>
                    </a:lnTo>
                    <a:lnTo>
                      <a:pt x="1164" y="1505"/>
                    </a:lnTo>
                    <a:lnTo>
                      <a:pt x="1158" y="1526"/>
                    </a:lnTo>
                    <a:lnTo>
                      <a:pt x="1146" y="1567"/>
                    </a:lnTo>
                    <a:lnTo>
                      <a:pt x="1132" y="1606"/>
                    </a:lnTo>
                    <a:lnTo>
                      <a:pt x="1117" y="1645"/>
                    </a:lnTo>
                    <a:lnTo>
                      <a:pt x="1101" y="1684"/>
                    </a:lnTo>
                    <a:lnTo>
                      <a:pt x="1084" y="1722"/>
                    </a:lnTo>
                    <a:lnTo>
                      <a:pt x="1066" y="1760"/>
                    </a:lnTo>
                    <a:lnTo>
                      <a:pt x="1047" y="1797"/>
                    </a:lnTo>
                    <a:lnTo>
                      <a:pt x="1027" y="1833"/>
                    </a:lnTo>
                    <a:lnTo>
                      <a:pt x="1004" y="1869"/>
                    </a:lnTo>
                    <a:lnTo>
                      <a:pt x="982" y="1904"/>
                    </a:lnTo>
                    <a:lnTo>
                      <a:pt x="959" y="1939"/>
                    </a:lnTo>
                    <a:lnTo>
                      <a:pt x="934" y="1972"/>
                    </a:lnTo>
                    <a:lnTo>
                      <a:pt x="910" y="2003"/>
                    </a:lnTo>
                    <a:lnTo>
                      <a:pt x="883" y="2036"/>
                    </a:lnTo>
                    <a:lnTo>
                      <a:pt x="856" y="2066"/>
                    </a:lnTo>
                    <a:lnTo>
                      <a:pt x="827" y="2096"/>
                    </a:lnTo>
                    <a:lnTo>
                      <a:pt x="799" y="2126"/>
                    </a:lnTo>
                    <a:lnTo>
                      <a:pt x="768" y="2154"/>
                    </a:lnTo>
                    <a:lnTo>
                      <a:pt x="737" y="2182"/>
                    </a:lnTo>
                    <a:lnTo>
                      <a:pt x="705" y="2208"/>
                    </a:lnTo>
                    <a:lnTo>
                      <a:pt x="674" y="2235"/>
                    </a:lnTo>
                    <a:lnTo>
                      <a:pt x="641" y="2259"/>
                    </a:lnTo>
                    <a:lnTo>
                      <a:pt x="606" y="2283"/>
                    </a:lnTo>
                    <a:lnTo>
                      <a:pt x="573" y="2259"/>
                    </a:lnTo>
                    <a:lnTo>
                      <a:pt x="555" y="2247"/>
                    </a:lnTo>
                    <a:lnTo>
                      <a:pt x="538" y="2235"/>
                    </a:lnTo>
                    <a:lnTo>
                      <a:pt x="507" y="2208"/>
                    </a:lnTo>
                    <a:lnTo>
                      <a:pt x="475" y="2182"/>
                    </a:lnTo>
                    <a:lnTo>
                      <a:pt x="444" y="2154"/>
                    </a:lnTo>
                    <a:lnTo>
                      <a:pt x="414" y="2126"/>
                    </a:lnTo>
                    <a:lnTo>
                      <a:pt x="385" y="2096"/>
                    </a:lnTo>
                    <a:lnTo>
                      <a:pt x="357" y="2066"/>
                    </a:lnTo>
                    <a:lnTo>
                      <a:pt x="330" y="2036"/>
                    </a:lnTo>
                    <a:lnTo>
                      <a:pt x="304" y="2003"/>
                    </a:lnTo>
                    <a:lnTo>
                      <a:pt x="290" y="1988"/>
                    </a:lnTo>
                    <a:lnTo>
                      <a:pt x="278" y="1972"/>
                    </a:lnTo>
                    <a:lnTo>
                      <a:pt x="253" y="1939"/>
                    </a:lnTo>
                    <a:lnTo>
                      <a:pt x="230" y="1904"/>
                    </a:lnTo>
                    <a:lnTo>
                      <a:pt x="208" y="1869"/>
                    </a:lnTo>
                    <a:lnTo>
                      <a:pt x="187" y="1833"/>
                    </a:lnTo>
                    <a:lnTo>
                      <a:pt x="166" y="1797"/>
                    </a:lnTo>
                    <a:lnTo>
                      <a:pt x="157" y="1779"/>
                    </a:lnTo>
                    <a:lnTo>
                      <a:pt x="146" y="1760"/>
                    </a:lnTo>
                    <a:lnTo>
                      <a:pt x="137" y="1741"/>
                    </a:lnTo>
                    <a:lnTo>
                      <a:pt x="128" y="1722"/>
                    </a:lnTo>
                    <a:lnTo>
                      <a:pt x="112" y="1684"/>
                    </a:lnTo>
                    <a:lnTo>
                      <a:pt x="103" y="1665"/>
                    </a:lnTo>
                    <a:lnTo>
                      <a:pt x="95" y="1645"/>
                    </a:lnTo>
                    <a:lnTo>
                      <a:pt x="80" y="1606"/>
                    </a:lnTo>
                    <a:lnTo>
                      <a:pt x="66" y="1567"/>
                    </a:lnTo>
                    <a:lnTo>
                      <a:pt x="54" y="1526"/>
                    </a:lnTo>
                    <a:lnTo>
                      <a:pt x="42" y="1484"/>
                    </a:lnTo>
                    <a:lnTo>
                      <a:pt x="33" y="1444"/>
                    </a:lnTo>
                    <a:lnTo>
                      <a:pt x="24" y="1402"/>
                    </a:lnTo>
                    <a:lnTo>
                      <a:pt x="17" y="1360"/>
                    </a:lnTo>
                    <a:lnTo>
                      <a:pt x="11" y="1316"/>
                    </a:lnTo>
                    <a:lnTo>
                      <a:pt x="6" y="1274"/>
                    </a:lnTo>
                    <a:lnTo>
                      <a:pt x="3" y="1229"/>
                    </a:lnTo>
                    <a:lnTo>
                      <a:pt x="0" y="1185"/>
                    </a:lnTo>
                    <a:lnTo>
                      <a:pt x="0" y="1141"/>
                    </a:lnTo>
                    <a:close/>
                  </a:path>
                </a:pathLst>
              </a:custGeom>
              <a:solidFill>
                <a:srgbClr val="FF9900"/>
              </a:solidFill>
              <a:ln w="6350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51" name="Freeform 7"/>
              <p:cNvSpPr/>
              <p:nvPr/>
            </p:nvSpPr>
            <p:spPr>
              <a:xfrm>
                <a:off x="2935" y="2432"/>
                <a:ext cx="741" cy="508"/>
              </a:xfrm>
              <a:custGeom>
                <a:avLst/>
                <a:gdLst>
                  <a:gd name="txL" fmla="*/ 0 w 1964"/>
                  <a:gd name="txT" fmla="*/ 0 h 1347"/>
                  <a:gd name="txR" fmla="*/ 1964 w 1964"/>
                  <a:gd name="txB" fmla="*/ 1347 h 1347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64" h="1347">
                    <a:moveTo>
                      <a:pt x="1964" y="137"/>
                    </a:moveTo>
                    <a:lnTo>
                      <a:pt x="1959" y="168"/>
                    </a:lnTo>
                    <a:lnTo>
                      <a:pt x="1954" y="200"/>
                    </a:lnTo>
                    <a:lnTo>
                      <a:pt x="1948" y="231"/>
                    </a:lnTo>
                    <a:lnTo>
                      <a:pt x="1942" y="262"/>
                    </a:lnTo>
                    <a:lnTo>
                      <a:pt x="1935" y="293"/>
                    </a:lnTo>
                    <a:lnTo>
                      <a:pt x="1927" y="323"/>
                    </a:lnTo>
                    <a:lnTo>
                      <a:pt x="1920" y="353"/>
                    </a:lnTo>
                    <a:lnTo>
                      <a:pt x="1911" y="383"/>
                    </a:lnTo>
                    <a:lnTo>
                      <a:pt x="1900" y="413"/>
                    </a:lnTo>
                    <a:lnTo>
                      <a:pt x="1890" y="444"/>
                    </a:lnTo>
                    <a:lnTo>
                      <a:pt x="1879" y="472"/>
                    </a:lnTo>
                    <a:lnTo>
                      <a:pt x="1867" y="501"/>
                    </a:lnTo>
                    <a:lnTo>
                      <a:pt x="1855" y="529"/>
                    </a:lnTo>
                    <a:lnTo>
                      <a:pt x="1842" y="558"/>
                    </a:lnTo>
                    <a:lnTo>
                      <a:pt x="1828" y="586"/>
                    </a:lnTo>
                    <a:lnTo>
                      <a:pt x="1815" y="613"/>
                    </a:lnTo>
                    <a:lnTo>
                      <a:pt x="1800" y="641"/>
                    </a:lnTo>
                    <a:lnTo>
                      <a:pt x="1785" y="668"/>
                    </a:lnTo>
                    <a:lnTo>
                      <a:pt x="1768" y="693"/>
                    </a:lnTo>
                    <a:lnTo>
                      <a:pt x="1752" y="719"/>
                    </a:lnTo>
                    <a:lnTo>
                      <a:pt x="1735" y="744"/>
                    </a:lnTo>
                    <a:lnTo>
                      <a:pt x="1717" y="770"/>
                    </a:lnTo>
                    <a:lnTo>
                      <a:pt x="1699" y="795"/>
                    </a:lnTo>
                    <a:lnTo>
                      <a:pt x="1681" y="820"/>
                    </a:lnTo>
                    <a:lnTo>
                      <a:pt x="1661" y="844"/>
                    </a:lnTo>
                    <a:lnTo>
                      <a:pt x="1642" y="866"/>
                    </a:lnTo>
                    <a:lnTo>
                      <a:pt x="1622" y="890"/>
                    </a:lnTo>
                    <a:lnTo>
                      <a:pt x="1601" y="913"/>
                    </a:lnTo>
                    <a:lnTo>
                      <a:pt x="1580" y="934"/>
                    </a:lnTo>
                    <a:lnTo>
                      <a:pt x="1559" y="956"/>
                    </a:lnTo>
                    <a:lnTo>
                      <a:pt x="1537" y="977"/>
                    </a:lnTo>
                    <a:lnTo>
                      <a:pt x="1514" y="997"/>
                    </a:lnTo>
                    <a:lnTo>
                      <a:pt x="1490" y="1018"/>
                    </a:lnTo>
                    <a:lnTo>
                      <a:pt x="1467" y="1038"/>
                    </a:lnTo>
                    <a:lnTo>
                      <a:pt x="1443" y="1057"/>
                    </a:lnTo>
                    <a:lnTo>
                      <a:pt x="1419" y="1075"/>
                    </a:lnTo>
                    <a:lnTo>
                      <a:pt x="1368" y="1111"/>
                    </a:lnTo>
                    <a:lnTo>
                      <a:pt x="1343" y="1128"/>
                    </a:lnTo>
                    <a:lnTo>
                      <a:pt x="1317" y="1144"/>
                    </a:lnTo>
                    <a:lnTo>
                      <a:pt x="1292" y="1159"/>
                    </a:lnTo>
                    <a:lnTo>
                      <a:pt x="1265" y="1174"/>
                    </a:lnTo>
                    <a:lnTo>
                      <a:pt x="1237" y="1189"/>
                    </a:lnTo>
                    <a:lnTo>
                      <a:pt x="1209" y="1203"/>
                    </a:lnTo>
                    <a:lnTo>
                      <a:pt x="1182" y="1217"/>
                    </a:lnTo>
                    <a:lnTo>
                      <a:pt x="1153" y="1230"/>
                    </a:lnTo>
                    <a:lnTo>
                      <a:pt x="1125" y="1242"/>
                    </a:lnTo>
                    <a:lnTo>
                      <a:pt x="1096" y="1254"/>
                    </a:lnTo>
                    <a:lnTo>
                      <a:pt x="1068" y="1265"/>
                    </a:lnTo>
                    <a:lnTo>
                      <a:pt x="1038" y="1275"/>
                    </a:lnTo>
                    <a:lnTo>
                      <a:pt x="1007" y="1284"/>
                    </a:lnTo>
                    <a:lnTo>
                      <a:pt x="977" y="1293"/>
                    </a:lnTo>
                    <a:lnTo>
                      <a:pt x="947" y="1302"/>
                    </a:lnTo>
                    <a:lnTo>
                      <a:pt x="917" y="1310"/>
                    </a:lnTo>
                    <a:lnTo>
                      <a:pt x="886" y="1317"/>
                    </a:lnTo>
                    <a:lnTo>
                      <a:pt x="854" y="1323"/>
                    </a:lnTo>
                    <a:lnTo>
                      <a:pt x="823" y="1329"/>
                    </a:lnTo>
                    <a:lnTo>
                      <a:pt x="791" y="1334"/>
                    </a:lnTo>
                    <a:lnTo>
                      <a:pt x="759" y="1338"/>
                    </a:lnTo>
                    <a:lnTo>
                      <a:pt x="728" y="1341"/>
                    </a:lnTo>
                    <a:lnTo>
                      <a:pt x="695" y="1344"/>
                    </a:lnTo>
                    <a:lnTo>
                      <a:pt x="663" y="1346"/>
                    </a:lnTo>
                    <a:lnTo>
                      <a:pt x="630" y="1347"/>
                    </a:lnTo>
                    <a:lnTo>
                      <a:pt x="597" y="1347"/>
                    </a:lnTo>
                    <a:lnTo>
                      <a:pt x="558" y="1347"/>
                    </a:lnTo>
                    <a:lnTo>
                      <a:pt x="517" y="1344"/>
                    </a:lnTo>
                    <a:lnTo>
                      <a:pt x="478" y="1343"/>
                    </a:lnTo>
                    <a:lnTo>
                      <a:pt x="439" y="1338"/>
                    </a:lnTo>
                    <a:lnTo>
                      <a:pt x="400" y="1334"/>
                    </a:lnTo>
                    <a:lnTo>
                      <a:pt x="363" y="1328"/>
                    </a:lnTo>
                    <a:lnTo>
                      <a:pt x="324" y="1320"/>
                    </a:lnTo>
                    <a:lnTo>
                      <a:pt x="286" y="1311"/>
                    </a:lnTo>
                    <a:lnTo>
                      <a:pt x="250" y="1302"/>
                    </a:lnTo>
                    <a:lnTo>
                      <a:pt x="212" y="1293"/>
                    </a:lnTo>
                    <a:lnTo>
                      <a:pt x="176" y="1281"/>
                    </a:lnTo>
                    <a:lnTo>
                      <a:pt x="140" y="1269"/>
                    </a:lnTo>
                    <a:lnTo>
                      <a:pt x="104" y="1256"/>
                    </a:lnTo>
                    <a:lnTo>
                      <a:pt x="69" y="1242"/>
                    </a:lnTo>
                    <a:lnTo>
                      <a:pt x="35" y="1227"/>
                    </a:lnTo>
                    <a:lnTo>
                      <a:pt x="0" y="1212"/>
                    </a:lnTo>
                    <a:lnTo>
                      <a:pt x="5" y="1179"/>
                    </a:lnTo>
                    <a:lnTo>
                      <a:pt x="9" y="1147"/>
                    </a:lnTo>
                    <a:lnTo>
                      <a:pt x="15" y="1117"/>
                    </a:lnTo>
                    <a:lnTo>
                      <a:pt x="21" y="1086"/>
                    </a:lnTo>
                    <a:lnTo>
                      <a:pt x="29" y="1054"/>
                    </a:lnTo>
                    <a:lnTo>
                      <a:pt x="36" y="1024"/>
                    </a:lnTo>
                    <a:lnTo>
                      <a:pt x="45" y="994"/>
                    </a:lnTo>
                    <a:lnTo>
                      <a:pt x="54" y="964"/>
                    </a:lnTo>
                    <a:lnTo>
                      <a:pt x="63" y="934"/>
                    </a:lnTo>
                    <a:lnTo>
                      <a:pt x="74" y="904"/>
                    </a:lnTo>
                    <a:lnTo>
                      <a:pt x="85" y="875"/>
                    </a:lnTo>
                    <a:lnTo>
                      <a:pt x="97" y="847"/>
                    </a:lnTo>
                    <a:lnTo>
                      <a:pt x="109" y="818"/>
                    </a:lnTo>
                    <a:lnTo>
                      <a:pt x="122" y="789"/>
                    </a:lnTo>
                    <a:lnTo>
                      <a:pt x="136" y="762"/>
                    </a:lnTo>
                    <a:lnTo>
                      <a:pt x="149" y="734"/>
                    </a:lnTo>
                    <a:lnTo>
                      <a:pt x="164" y="707"/>
                    </a:lnTo>
                    <a:lnTo>
                      <a:pt x="179" y="681"/>
                    </a:lnTo>
                    <a:lnTo>
                      <a:pt x="196" y="654"/>
                    </a:lnTo>
                    <a:lnTo>
                      <a:pt x="212" y="629"/>
                    </a:lnTo>
                    <a:lnTo>
                      <a:pt x="229" y="603"/>
                    </a:lnTo>
                    <a:lnTo>
                      <a:pt x="247" y="577"/>
                    </a:lnTo>
                    <a:lnTo>
                      <a:pt x="265" y="553"/>
                    </a:lnTo>
                    <a:lnTo>
                      <a:pt x="283" y="528"/>
                    </a:lnTo>
                    <a:lnTo>
                      <a:pt x="302" y="505"/>
                    </a:lnTo>
                    <a:lnTo>
                      <a:pt x="322" y="481"/>
                    </a:lnTo>
                    <a:lnTo>
                      <a:pt x="342" y="459"/>
                    </a:lnTo>
                    <a:lnTo>
                      <a:pt x="363" y="436"/>
                    </a:lnTo>
                    <a:lnTo>
                      <a:pt x="384" y="413"/>
                    </a:lnTo>
                    <a:lnTo>
                      <a:pt x="406" y="392"/>
                    </a:lnTo>
                    <a:lnTo>
                      <a:pt x="427" y="371"/>
                    </a:lnTo>
                    <a:lnTo>
                      <a:pt x="450" y="350"/>
                    </a:lnTo>
                    <a:lnTo>
                      <a:pt x="474" y="329"/>
                    </a:lnTo>
                    <a:lnTo>
                      <a:pt x="496" y="310"/>
                    </a:lnTo>
                    <a:lnTo>
                      <a:pt x="520" y="292"/>
                    </a:lnTo>
                    <a:lnTo>
                      <a:pt x="546" y="272"/>
                    </a:lnTo>
                    <a:lnTo>
                      <a:pt x="596" y="238"/>
                    </a:lnTo>
                    <a:lnTo>
                      <a:pt x="621" y="219"/>
                    </a:lnTo>
                    <a:lnTo>
                      <a:pt x="647" y="203"/>
                    </a:lnTo>
                    <a:lnTo>
                      <a:pt x="674" y="188"/>
                    </a:lnTo>
                    <a:lnTo>
                      <a:pt x="699" y="173"/>
                    </a:lnTo>
                    <a:lnTo>
                      <a:pt x="726" y="158"/>
                    </a:lnTo>
                    <a:lnTo>
                      <a:pt x="755" y="144"/>
                    </a:lnTo>
                    <a:lnTo>
                      <a:pt x="782" y="131"/>
                    </a:lnTo>
                    <a:lnTo>
                      <a:pt x="811" y="117"/>
                    </a:lnTo>
                    <a:lnTo>
                      <a:pt x="839" y="105"/>
                    </a:lnTo>
                    <a:lnTo>
                      <a:pt x="868" y="93"/>
                    </a:lnTo>
                    <a:lnTo>
                      <a:pt x="898" y="83"/>
                    </a:lnTo>
                    <a:lnTo>
                      <a:pt x="926" y="72"/>
                    </a:lnTo>
                    <a:lnTo>
                      <a:pt x="956" y="63"/>
                    </a:lnTo>
                    <a:lnTo>
                      <a:pt x="986" y="54"/>
                    </a:lnTo>
                    <a:lnTo>
                      <a:pt x="1016" y="45"/>
                    </a:lnTo>
                    <a:lnTo>
                      <a:pt x="1048" y="37"/>
                    </a:lnTo>
                    <a:lnTo>
                      <a:pt x="1078" y="30"/>
                    </a:lnTo>
                    <a:lnTo>
                      <a:pt x="1110" y="24"/>
                    </a:lnTo>
                    <a:lnTo>
                      <a:pt x="1141" y="19"/>
                    </a:lnTo>
                    <a:lnTo>
                      <a:pt x="1173" y="13"/>
                    </a:lnTo>
                    <a:lnTo>
                      <a:pt x="1204" y="10"/>
                    </a:lnTo>
                    <a:lnTo>
                      <a:pt x="1236" y="6"/>
                    </a:lnTo>
                    <a:lnTo>
                      <a:pt x="1269" y="4"/>
                    </a:lnTo>
                    <a:lnTo>
                      <a:pt x="1301" y="1"/>
                    </a:lnTo>
                    <a:lnTo>
                      <a:pt x="1334" y="1"/>
                    </a:lnTo>
                    <a:lnTo>
                      <a:pt x="1367" y="0"/>
                    </a:lnTo>
                    <a:lnTo>
                      <a:pt x="1407" y="1"/>
                    </a:lnTo>
                    <a:lnTo>
                      <a:pt x="1446" y="3"/>
                    </a:lnTo>
                    <a:lnTo>
                      <a:pt x="1485" y="6"/>
                    </a:lnTo>
                    <a:lnTo>
                      <a:pt x="1525" y="9"/>
                    </a:lnTo>
                    <a:lnTo>
                      <a:pt x="1564" y="15"/>
                    </a:lnTo>
                    <a:lnTo>
                      <a:pt x="1603" y="21"/>
                    </a:lnTo>
                    <a:lnTo>
                      <a:pt x="1640" y="27"/>
                    </a:lnTo>
                    <a:lnTo>
                      <a:pt x="1678" y="36"/>
                    </a:lnTo>
                    <a:lnTo>
                      <a:pt x="1715" y="45"/>
                    </a:lnTo>
                    <a:lnTo>
                      <a:pt x="1752" y="56"/>
                    </a:lnTo>
                    <a:lnTo>
                      <a:pt x="1788" y="66"/>
                    </a:lnTo>
                    <a:lnTo>
                      <a:pt x="1824" y="78"/>
                    </a:lnTo>
                    <a:lnTo>
                      <a:pt x="1860" y="92"/>
                    </a:lnTo>
                    <a:lnTo>
                      <a:pt x="1894" y="105"/>
                    </a:lnTo>
                    <a:lnTo>
                      <a:pt x="1929" y="120"/>
                    </a:lnTo>
                    <a:lnTo>
                      <a:pt x="1964" y="137"/>
                    </a:lnTo>
                    <a:close/>
                  </a:path>
                </a:pathLst>
              </a:custGeom>
              <a:solidFill>
                <a:srgbClr val="339966"/>
              </a:solidFill>
              <a:ln w="6350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52" name="Freeform 8"/>
              <p:cNvSpPr/>
              <p:nvPr/>
            </p:nvSpPr>
            <p:spPr>
              <a:xfrm>
                <a:off x="2645" y="2432"/>
                <a:ext cx="740" cy="508"/>
              </a:xfrm>
              <a:custGeom>
                <a:avLst/>
                <a:gdLst>
                  <a:gd name="txL" fmla="*/ 0 w 1963"/>
                  <a:gd name="txT" fmla="*/ 0 h 1347"/>
                  <a:gd name="txR" fmla="*/ 1963 w 1963"/>
                  <a:gd name="txB" fmla="*/ 1347 h 1347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63" h="1347">
                    <a:moveTo>
                      <a:pt x="1963" y="1212"/>
                    </a:moveTo>
                    <a:lnTo>
                      <a:pt x="1946" y="1220"/>
                    </a:lnTo>
                    <a:lnTo>
                      <a:pt x="1928" y="1227"/>
                    </a:lnTo>
                    <a:lnTo>
                      <a:pt x="1894" y="1242"/>
                    </a:lnTo>
                    <a:lnTo>
                      <a:pt x="1859" y="1256"/>
                    </a:lnTo>
                    <a:lnTo>
                      <a:pt x="1823" y="1269"/>
                    </a:lnTo>
                    <a:lnTo>
                      <a:pt x="1787" y="1281"/>
                    </a:lnTo>
                    <a:lnTo>
                      <a:pt x="1751" y="1293"/>
                    </a:lnTo>
                    <a:lnTo>
                      <a:pt x="1715" y="1302"/>
                    </a:lnTo>
                    <a:lnTo>
                      <a:pt x="1677" y="1311"/>
                    </a:lnTo>
                    <a:lnTo>
                      <a:pt x="1640" y="1320"/>
                    </a:lnTo>
                    <a:lnTo>
                      <a:pt x="1602" y="1328"/>
                    </a:lnTo>
                    <a:lnTo>
                      <a:pt x="1563" y="1334"/>
                    </a:lnTo>
                    <a:lnTo>
                      <a:pt x="1524" y="1338"/>
                    </a:lnTo>
                    <a:lnTo>
                      <a:pt x="1485" y="1343"/>
                    </a:lnTo>
                    <a:lnTo>
                      <a:pt x="1446" y="1344"/>
                    </a:lnTo>
                    <a:lnTo>
                      <a:pt x="1407" y="1347"/>
                    </a:lnTo>
                    <a:lnTo>
                      <a:pt x="1366" y="1347"/>
                    </a:lnTo>
                    <a:lnTo>
                      <a:pt x="1333" y="1347"/>
                    </a:lnTo>
                    <a:lnTo>
                      <a:pt x="1300" y="1346"/>
                    </a:lnTo>
                    <a:lnTo>
                      <a:pt x="1235" y="1341"/>
                    </a:lnTo>
                    <a:lnTo>
                      <a:pt x="1204" y="1338"/>
                    </a:lnTo>
                    <a:lnTo>
                      <a:pt x="1172" y="1334"/>
                    </a:lnTo>
                    <a:lnTo>
                      <a:pt x="1141" y="1329"/>
                    </a:lnTo>
                    <a:lnTo>
                      <a:pt x="1109" y="1323"/>
                    </a:lnTo>
                    <a:lnTo>
                      <a:pt x="1077" y="1317"/>
                    </a:lnTo>
                    <a:lnTo>
                      <a:pt x="1047" y="1310"/>
                    </a:lnTo>
                    <a:lnTo>
                      <a:pt x="1016" y="1302"/>
                    </a:lnTo>
                    <a:lnTo>
                      <a:pt x="986" y="1293"/>
                    </a:lnTo>
                    <a:lnTo>
                      <a:pt x="956" y="1284"/>
                    </a:lnTo>
                    <a:lnTo>
                      <a:pt x="926" y="1275"/>
                    </a:lnTo>
                    <a:lnTo>
                      <a:pt x="897" y="1265"/>
                    </a:lnTo>
                    <a:lnTo>
                      <a:pt x="867" y="1254"/>
                    </a:lnTo>
                    <a:lnTo>
                      <a:pt x="810" y="1230"/>
                    </a:lnTo>
                    <a:lnTo>
                      <a:pt x="781" y="1217"/>
                    </a:lnTo>
                    <a:lnTo>
                      <a:pt x="754" y="1203"/>
                    </a:lnTo>
                    <a:lnTo>
                      <a:pt x="726" y="1189"/>
                    </a:lnTo>
                    <a:lnTo>
                      <a:pt x="699" y="1174"/>
                    </a:lnTo>
                    <a:lnTo>
                      <a:pt x="673" y="1159"/>
                    </a:lnTo>
                    <a:lnTo>
                      <a:pt x="646" y="1144"/>
                    </a:lnTo>
                    <a:lnTo>
                      <a:pt x="621" y="1128"/>
                    </a:lnTo>
                    <a:lnTo>
                      <a:pt x="595" y="1111"/>
                    </a:lnTo>
                    <a:lnTo>
                      <a:pt x="569" y="1093"/>
                    </a:lnTo>
                    <a:lnTo>
                      <a:pt x="545" y="1075"/>
                    </a:lnTo>
                    <a:lnTo>
                      <a:pt x="520" y="1057"/>
                    </a:lnTo>
                    <a:lnTo>
                      <a:pt x="496" y="1038"/>
                    </a:lnTo>
                    <a:lnTo>
                      <a:pt x="473" y="1018"/>
                    </a:lnTo>
                    <a:lnTo>
                      <a:pt x="449" y="997"/>
                    </a:lnTo>
                    <a:lnTo>
                      <a:pt x="427" y="977"/>
                    </a:lnTo>
                    <a:lnTo>
                      <a:pt x="406" y="956"/>
                    </a:lnTo>
                    <a:lnTo>
                      <a:pt x="383" y="934"/>
                    </a:lnTo>
                    <a:lnTo>
                      <a:pt x="362" y="913"/>
                    </a:lnTo>
                    <a:lnTo>
                      <a:pt x="321" y="866"/>
                    </a:lnTo>
                    <a:lnTo>
                      <a:pt x="302" y="844"/>
                    </a:lnTo>
                    <a:lnTo>
                      <a:pt x="282" y="820"/>
                    </a:lnTo>
                    <a:lnTo>
                      <a:pt x="264" y="795"/>
                    </a:lnTo>
                    <a:lnTo>
                      <a:pt x="246" y="770"/>
                    </a:lnTo>
                    <a:lnTo>
                      <a:pt x="228" y="744"/>
                    </a:lnTo>
                    <a:lnTo>
                      <a:pt x="212" y="719"/>
                    </a:lnTo>
                    <a:lnTo>
                      <a:pt x="195" y="693"/>
                    </a:lnTo>
                    <a:lnTo>
                      <a:pt x="179" y="668"/>
                    </a:lnTo>
                    <a:lnTo>
                      <a:pt x="164" y="641"/>
                    </a:lnTo>
                    <a:lnTo>
                      <a:pt x="149" y="613"/>
                    </a:lnTo>
                    <a:lnTo>
                      <a:pt x="135" y="586"/>
                    </a:lnTo>
                    <a:lnTo>
                      <a:pt x="121" y="558"/>
                    </a:lnTo>
                    <a:lnTo>
                      <a:pt x="108" y="529"/>
                    </a:lnTo>
                    <a:lnTo>
                      <a:pt x="96" y="501"/>
                    </a:lnTo>
                    <a:lnTo>
                      <a:pt x="84" y="472"/>
                    </a:lnTo>
                    <a:lnTo>
                      <a:pt x="73" y="444"/>
                    </a:lnTo>
                    <a:lnTo>
                      <a:pt x="63" y="413"/>
                    </a:lnTo>
                    <a:lnTo>
                      <a:pt x="54" y="383"/>
                    </a:lnTo>
                    <a:lnTo>
                      <a:pt x="45" y="353"/>
                    </a:lnTo>
                    <a:lnTo>
                      <a:pt x="36" y="323"/>
                    </a:lnTo>
                    <a:lnTo>
                      <a:pt x="28" y="293"/>
                    </a:lnTo>
                    <a:lnTo>
                      <a:pt x="21" y="262"/>
                    </a:lnTo>
                    <a:lnTo>
                      <a:pt x="15" y="231"/>
                    </a:lnTo>
                    <a:lnTo>
                      <a:pt x="9" y="200"/>
                    </a:lnTo>
                    <a:lnTo>
                      <a:pt x="4" y="168"/>
                    </a:lnTo>
                    <a:lnTo>
                      <a:pt x="0" y="137"/>
                    </a:lnTo>
                    <a:lnTo>
                      <a:pt x="18" y="128"/>
                    </a:lnTo>
                    <a:lnTo>
                      <a:pt x="34" y="120"/>
                    </a:lnTo>
                    <a:lnTo>
                      <a:pt x="69" y="105"/>
                    </a:lnTo>
                    <a:lnTo>
                      <a:pt x="103" y="92"/>
                    </a:lnTo>
                    <a:lnTo>
                      <a:pt x="139" y="78"/>
                    </a:lnTo>
                    <a:lnTo>
                      <a:pt x="176" y="66"/>
                    </a:lnTo>
                    <a:lnTo>
                      <a:pt x="212" y="56"/>
                    </a:lnTo>
                    <a:lnTo>
                      <a:pt x="249" y="45"/>
                    </a:lnTo>
                    <a:lnTo>
                      <a:pt x="285" y="36"/>
                    </a:lnTo>
                    <a:lnTo>
                      <a:pt x="323" y="27"/>
                    </a:lnTo>
                    <a:lnTo>
                      <a:pt x="362" y="21"/>
                    </a:lnTo>
                    <a:lnTo>
                      <a:pt x="400" y="15"/>
                    </a:lnTo>
                    <a:lnTo>
                      <a:pt x="439" y="9"/>
                    </a:lnTo>
                    <a:lnTo>
                      <a:pt x="478" y="6"/>
                    </a:lnTo>
                    <a:lnTo>
                      <a:pt x="517" y="3"/>
                    </a:lnTo>
                    <a:lnTo>
                      <a:pt x="557" y="1"/>
                    </a:lnTo>
                    <a:lnTo>
                      <a:pt x="596" y="0"/>
                    </a:lnTo>
                    <a:lnTo>
                      <a:pt x="630" y="1"/>
                    </a:lnTo>
                    <a:lnTo>
                      <a:pt x="663" y="1"/>
                    </a:lnTo>
                    <a:lnTo>
                      <a:pt x="727" y="6"/>
                    </a:lnTo>
                    <a:lnTo>
                      <a:pt x="759" y="10"/>
                    </a:lnTo>
                    <a:lnTo>
                      <a:pt x="790" y="13"/>
                    </a:lnTo>
                    <a:lnTo>
                      <a:pt x="822" y="19"/>
                    </a:lnTo>
                    <a:lnTo>
                      <a:pt x="854" y="24"/>
                    </a:lnTo>
                    <a:lnTo>
                      <a:pt x="885" y="30"/>
                    </a:lnTo>
                    <a:lnTo>
                      <a:pt x="917" y="37"/>
                    </a:lnTo>
                    <a:lnTo>
                      <a:pt x="947" y="45"/>
                    </a:lnTo>
                    <a:lnTo>
                      <a:pt x="977" y="54"/>
                    </a:lnTo>
                    <a:lnTo>
                      <a:pt x="1007" y="63"/>
                    </a:lnTo>
                    <a:lnTo>
                      <a:pt x="1037" y="72"/>
                    </a:lnTo>
                    <a:lnTo>
                      <a:pt x="1067" y="83"/>
                    </a:lnTo>
                    <a:lnTo>
                      <a:pt x="1096" y="93"/>
                    </a:lnTo>
                    <a:lnTo>
                      <a:pt x="1153" y="117"/>
                    </a:lnTo>
                    <a:lnTo>
                      <a:pt x="1181" y="131"/>
                    </a:lnTo>
                    <a:lnTo>
                      <a:pt x="1208" y="144"/>
                    </a:lnTo>
                    <a:lnTo>
                      <a:pt x="1237" y="158"/>
                    </a:lnTo>
                    <a:lnTo>
                      <a:pt x="1264" y="173"/>
                    </a:lnTo>
                    <a:lnTo>
                      <a:pt x="1291" y="188"/>
                    </a:lnTo>
                    <a:lnTo>
                      <a:pt x="1316" y="203"/>
                    </a:lnTo>
                    <a:lnTo>
                      <a:pt x="1342" y="219"/>
                    </a:lnTo>
                    <a:lnTo>
                      <a:pt x="1368" y="238"/>
                    </a:lnTo>
                    <a:lnTo>
                      <a:pt x="1393" y="254"/>
                    </a:lnTo>
                    <a:lnTo>
                      <a:pt x="1419" y="272"/>
                    </a:lnTo>
                    <a:lnTo>
                      <a:pt x="1443" y="292"/>
                    </a:lnTo>
                    <a:lnTo>
                      <a:pt x="1467" y="310"/>
                    </a:lnTo>
                    <a:lnTo>
                      <a:pt x="1489" y="329"/>
                    </a:lnTo>
                    <a:lnTo>
                      <a:pt x="1513" y="350"/>
                    </a:lnTo>
                    <a:lnTo>
                      <a:pt x="1536" y="371"/>
                    </a:lnTo>
                    <a:lnTo>
                      <a:pt x="1559" y="392"/>
                    </a:lnTo>
                    <a:lnTo>
                      <a:pt x="1580" y="413"/>
                    </a:lnTo>
                    <a:lnTo>
                      <a:pt x="1601" y="436"/>
                    </a:lnTo>
                    <a:lnTo>
                      <a:pt x="1641" y="481"/>
                    </a:lnTo>
                    <a:lnTo>
                      <a:pt x="1661" y="505"/>
                    </a:lnTo>
                    <a:lnTo>
                      <a:pt x="1680" y="528"/>
                    </a:lnTo>
                    <a:lnTo>
                      <a:pt x="1698" y="553"/>
                    </a:lnTo>
                    <a:lnTo>
                      <a:pt x="1716" y="577"/>
                    </a:lnTo>
                    <a:lnTo>
                      <a:pt x="1734" y="603"/>
                    </a:lnTo>
                    <a:lnTo>
                      <a:pt x="1751" y="629"/>
                    </a:lnTo>
                    <a:lnTo>
                      <a:pt x="1767" y="654"/>
                    </a:lnTo>
                    <a:lnTo>
                      <a:pt x="1784" y="681"/>
                    </a:lnTo>
                    <a:lnTo>
                      <a:pt x="1799" y="707"/>
                    </a:lnTo>
                    <a:lnTo>
                      <a:pt x="1814" y="734"/>
                    </a:lnTo>
                    <a:lnTo>
                      <a:pt x="1828" y="762"/>
                    </a:lnTo>
                    <a:lnTo>
                      <a:pt x="1841" y="789"/>
                    </a:lnTo>
                    <a:lnTo>
                      <a:pt x="1855" y="818"/>
                    </a:lnTo>
                    <a:lnTo>
                      <a:pt x="1867" y="847"/>
                    </a:lnTo>
                    <a:lnTo>
                      <a:pt x="1879" y="875"/>
                    </a:lnTo>
                    <a:lnTo>
                      <a:pt x="1889" y="904"/>
                    </a:lnTo>
                    <a:lnTo>
                      <a:pt x="1900" y="934"/>
                    </a:lnTo>
                    <a:lnTo>
                      <a:pt x="1910" y="964"/>
                    </a:lnTo>
                    <a:lnTo>
                      <a:pt x="1919" y="994"/>
                    </a:lnTo>
                    <a:lnTo>
                      <a:pt x="1927" y="1024"/>
                    </a:lnTo>
                    <a:lnTo>
                      <a:pt x="1934" y="1054"/>
                    </a:lnTo>
                    <a:lnTo>
                      <a:pt x="1942" y="1086"/>
                    </a:lnTo>
                    <a:lnTo>
                      <a:pt x="1948" y="1117"/>
                    </a:lnTo>
                    <a:lnTo>
                      <a:pt x="1954" y="1147"/>
                    </a:lnTo>
                    <a:lnTo>
                      <a:pt x="1958" y="1179"/>
                    </a:lnTo>
                    <a:lnTo>
                      <a:pt x="1963" y="1212"/>
                    </a:lnTo>
                    <a:close/>
                  </a:path>
                </a:pathLst>
              </a:custGeom>
              <a:solidFill>
                <a:srgbClr val="666699"/>
              </a:solidFill>
              <a:ln w="6350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53" name="Freeform 9"/>
              <p:cNvSpPr/>
              <p:nvPr/>
            </p:nvSpPr>
            <p:spPr>
              <a:xfrm>
                <a:off x="2935" y="2521"/>
                <a:ext cx="450" cy="419"/>
              </a:xfrm>
              <a:custGeom>
                <a:avLst/>
                <a:gdLst>
                  <a:gd name="txL" fmla="*/ 0 w 1194"/>
                  <a:gd name="txT" fmla="*/ 0 h 1111"/>
                  <a:gd name="txR" fmla="*/ 1194 w 1194"/>
                  <a:gd name="txB" fmla="*/ 1111 h 111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194" h="1111">
                    <a:moveTo>
                      <a:pt x="1194" y="976"/>
                    </a:moveTo>
                    <a:lnTo>
                      <a:pt x="1177" y="984"/>
                    </a:lnTo>
                    <a:lnTo>
                      <a:pt x="1159" y="991"/>
                    </a:lnTo>
                    <a:lnTo>
                      <a:pt x="1125" y="1006"/>
                    </a:lnTo>
                    <a:lnTo>
                      <a:pt x="1090" y="1020"/>
                    </a:lnTo>
                    <a:lnTo>
                      <a:pt x="1054" y="1033"/>
                    </a:lnTo>
                    <a:lnTo>
                      <a:pt x="1018" y="1045"/>
                    </a:lnTo>
                    <a:lnTo>
                      <a:pt x="982" y="1057"/>
                    </a:lnTo>
                    <a:lnTo>
                      <a:pt x="946" y="1066"/>
                    </a:lnTo>
                    <a:lnTo>
                      <a:pt x="908" y="1075"/>
                    </a:lnTo>
                    <a:lnTo>
                      <a:pt x="871" y="1084"/>
                    </a:lnTo>
                    <a:lnTo>
                      <a:pt x="833" y="1092"/>
                    </a:lnTo>
                    <a:lnTo>
                      <a:pt x="794" y="1098"/>
                    </a:lnTo>
                    <a:lnTo>
                      <a:pt x="755" y="1102"/>
                    </a:lnTo>
                    <a:lnTo>
                      <a:pt x="716" y="1107"/>
                    </a:lnTo>
                    <a:lnTo>
                      <a:pt x="677" y="1108"/>
                    </a:lnTo>
                    <a:lnTo>
                      <a:pt x="638" y="1111"/>
                    </a:lnTo>
                    <a:lnTo>
                      <a:pt x="597" y="1111"/>
                    </a:lnTo>
                    <a:lnTo>
                      <a:pt x="558" y="1111"/>
                    </a:lnTo>
                    <a:lnTo>
                      <a:pt x="517" y="1108"/>
                    </a:lnTo>
                    <a:lnTo>
                      <a:pt x="478" y="1107"/>
                    </a:lnTo>
                    <a:lnTo>
                      <a:pt x="439" y="1102"/>
                    </a:lnTo>
                    <a:lnTo>
                      <a:pt x="400" y="1098"/>
                    </a:lnTo>
                    <a:lnTo>
                      <a:pt x="363" y="1092"/>
                    </a:lnTo>
                    <a:lnTo>
                      <a:pt x="324" y="1084"/>
                    </a:lnTo>
                    <a:lnTo>
                      <a:pt x="286" y="1075"/>
                    </a:lnTo>
                    <a:lnTo>
                      <a:pt x="250" y="1066"/>
                    </a:lnTo>
                    <a:lnTo>
                      <a:pt x="212" y="1057"/>
                    </a:lnTo>
                    <a:lnTo>
                      <a:pt x="176" y="1045"/>
                    </a:lnTo>
                    <a:lnTo>
                      <a:pt x="140" y="1033"/>
                    </a:lnTo>
                    <a:lnTo>
                      <a:pt x="104" y="1020"/>
                    </a:lnTo>
                    <a:lnTo>
                      <a:pt x="69" y="1006"/>
                    </a:lnTo>
                    <a:lnTo>
                      <a:pt x="35" y="991"/>
                    </a:lnTo>
                    <a:lnTo>
                      <a:pt x="0" y="976"/>
                    </a:lnTo>
                    <a:lnTo>
                      <a:pt x="6" y="937"/>
                    </a:lnTo>
                    <a:lnTo>
                      <a:pt x="12" y="899"/>
                    </a:lnTo>
                    <a:lnTo>
                      <a:pt x="18" y="863"/>
                    </a:lnTo>
                    <a:lnTo>
                      <a:pt x="27" y="826"/>
                    </a:lnTo>
                    <a:lnTo>
                      <a:pt x="36" y="790"/>
                    </a:lnTo>
                    <a:lnTo>
                      <a:pt x="45" y="753"/>
                    </a:lnTo>
                    <a:lnTo>
                      <a:pt x="57" y="717"/>
                    </a:lnTo>
                    <a:lnTo>
                      <a:pt x="69" y="683"/>
                    </a:lnTo>
                    <a:lnTo>
                      <a:pt x="81" y="648"/>
                    </a:lnTo>
                    <a:lnTo>
                      <a:pt x="95" y="614"/>
                    </a:lnTo>
                    <a:lnTo>
                      <a:pt x="110" y="579"/>
                    </a:lnTo>
                    <a:lnTo>
                      <a:pt x="125" y="546"/>
                    </a:lnTo>
                    <a:lnTo>
                      <a:pt x="142" y="513"/>
                    </a:lnTo>
                    <a:lnTo>
                      <a:pt x="160" y="480"/>
                    </a:lnTo>
                    <a:lnTo>
                      <a:pt x="178" y="448"/>
                    </a:lnTo>
                    <a:lnTo>
                      <a:pt x="196" y="417"/>
                    </a:lnTo>
                    <a:lnTo>
                      <a:pt x="215" y="387"/>
                    </a:lnTo>
                    <a:lnTo>
                      <a:pt x="236" y="356"/>
                    </a:lnTo>
                    <a:lnTo>
                      <a:pt x="257" y="326"/>
                    </a:lnTo>
                    <a:lnTo>
                      <a:pt x="280" y="298"/>
                    </a:lnTo>
                    <a:lnTo>
                      <a:pt x="302" y="269"/>
                    </a:lnTo>
                    <a:lnTo>
                      <a:pt x="325" y="241"/>
                    </a:lnTo>
                    <a:lnTo>
                      <a:pt x="351" y="214"/>
                    </a:lnTo>
                    <a:lnTo>
                      <a:pt x="375" y="186"/>
                    </a:lnTo>
                    <a:lnTo>
                      <a:pt x="400" y="161"/>
                    </a:lnTo>
                    <a:lnTo>
                      <a:pt x="427" y="135"/>
                    </a:lnTo>
                    <a:lnTo>
                      <a:pt x="439" y="123"/>
                    </a:lnTo>
                    <a:lnTo>
                      <a:pt x="453" y="111"/>
                    </a:lnTo>
                    <a:lnTo>
                      <a:pt x="481" y="87"/>
                    </a:lnTo>
                    <a:lnTo>
                      <a:pt x="508" y="65"/>
                    </a:lnTo>
                    <a:lnTo>
                      <a:pt x="538" y="42"/>
                    </a:lnTo>
                    <a:lnTo>
                      <a:pt x="567" y="21"/>
                    </a:lnTo>
                    <a:lnTo>
                      <a:pt x="597" y="0"/>
                    </a:lnTo>
                    <a:lnTo>
                      <a:pt x="627" y="21"/>
                    </a:lnTo>
                    <a:lnTo>
                      <a:pt x="657" y="42"/>
                    </a:lnTo>
                    <a:lnTo>
                      <a:pt x="686" y="65"/>
                    </a:lnTo>
                    <a:lnTo>
                      <a:pt x="713" y="87"/>
                    </a:lnTo>
                    <a:lnTo>
                      <a:pt x="741" y="111"/>
                    </a:lnTo>
                    <a:lnTo>
                      <a:pt x="768" y="135"/>
                    </a:lnTo>
                    <a:lnTo>
                      <a:pt x="794" y="161"/>
                    </a:lnTo>
                    <a:lnTo>
                      <a:pt x="820" y="186"/>
                    </a:lnTo>
                    <a:lnTo>
                      <a:pt x="845" y="214"/>
                    </a:lnTo>
                    <a:lnTo>
                      <a:pt x="869" y="241"/>
                    </a:lnTo>
                    <a:lnTo>
                      <a:pt x="892" y="269"/>
                    </a:lnTo>
                    <a:lnTo>
                      <a:pt x="904" y="283"/>
                    </a:lnTo>
                    <a:lnTo>
                      <a:pt x="914" y="298"/>
                    </a:lnTo>
                    <a:lnTo>
                      <a:pt x="937" y="326"/>
                    </a:lnTo>
                    <a:lnTo>
                      <a:pt x="958" y="356"/>
                    </a:lnTo>
                    <a:lnTo>
                      <a:pt x="968" y="371"/>
                    </a:lnTo>
                    <a:lnTo>
                      <a:pt x="979" y="387"/>
                    </a:lnTo>
                    <a:lnTo>
                      <a:pt x="998" y="417"/>
                    </a:lnTo>
                    <a:lnTo>
                      <a:pt x="1016" y="448"/>
                    </a:lnTo>
                    <a:lnTo>
                      <a:pt x="1035" y="480"/>
                    </a:lnTo>
                    <a:lnTo>
                      <a:pt x="1053" y="513"/>
                    </a:lnTo>
                    <a:lnTo>
                      <a:pt x="1069" y="546"/>
                    </a:lnTo>
                    <a:lnTo>
                      <a:pt x="1084" y="579"/>
                    </a:lnTo>
                    <a:lnTo>
                      <a:pt x="1099" y="614"/>
                    </a:lnTo>
                    <a:lnTo>
                      <a:pt x="1113" y="648"/>
                    </a:lnTo>
                    <a:lnTo>
                      <a:pt x="1126" y="683"/>
                    </a:lnTo>
                    <a:lnTo>
                      <a:pt x="1137" y="717"/>
                    </a:lnTo>
                    <a:lnTo>
                      <a:pt x="1149" y="753"/>
                    </a:lnTo>
                    <a:lnTo>
                      <a:pt x="1158" y="790"/>
                    </a:lnTo>
                    <a:lnTo>
                      <a:pt x="1167" y="826"/>
                    </a:lnTo>
                    <a:lnTo>
                      <a:pt x="1176" y="863"/>
                    </a:lnTo>
                    <a:lnTo>
                      <a:pt x="1183" y="899"/>
                    </a:lnTo>
                    <a:lnTo>
                      <a:pt x="1189" y="937"/>
                    </a:lnTo>
                    <a:lnTo>
                      <a:pt x="1194" y="976"/>
                    </a:lnTo>
                    <a:close/>
                  </a:path>
                </a:pathLst>
              </a:custGeom>
              <a:solidFill>
                <a:schemeClr val="hlink"/>
              </a:solidFill>
              <a:ln w="6350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54" name="Freeform 10"/>
              <p:cNvSpPr/>
              <p:nvPr/>
            </p:nvSpPr>
            <p:spPr>
              <a:xfrm>
                <a:off x="2641" y="1901"/>
                <a:ext cx="1038" cy="1039"/>
              </a:xfrm>
              <a:custGeom>
                <a:avLst/>
                <a:gdLst>
                  <a:gd name="txL" fmla="*/ 0 w 2751"/>
                  <a:gd name="txT" fmla="*/ 0 h 2753"/>
                  <a:gd name="txR" fmla="*/ 2751 w 2751"/>
                  <a:gd name="txB" fmla="*/ 2753 h 275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751" h="2753">
                    <a:moveTo>
                      <a:pt x="2751" y="1376"/>
                    </a:moveTo>
                    <a:lnTo>
                      <a:pt x="2749" y="1447"/>
                    </a:lnTo>
                    <a:lnTo>
                      <a:pt x="2745" y="1517"/>
                    </a:lnTo>
                    <a:lnTo>
                      <a:pt x="2735" y="1586"/>
                    </a:lnTo>
                    <a:lnTo>
                      <a:pt x="2723" y="1654"/>
                    </a:lnTo>
                    <a:lnTo>
                      <a:pt x="2708" y="1720"/>
                    </a:lnTo>
                    <a:lnTo>
                      <a:pt x="2689" y="1786"/>
                    </a:lnTo>
                    <a:lnTo>
                      <a:pt x="2668" y="1850"/>
                    </a:lnTo>
                    <a:lnTo>
                      <a:pt x="2642" y="1913"/>
                    </a:lnTo>
                    <a:lnTo>
                      <a:pt x="2615" y="1973"/>
                    </a:lnTo>
                    <a:lnTo>
                      <a:pt x="2585" y="2033"/>
                    </a:lnTo>
                    <a:lnTo>
                      <a:pt x="2552" y="2090"/>
                    </a:lnTo>
                    <a:lnTo>
                      <a:pt x="2516" y="2146"/>
                    </a:lnTo>
                    <a:lnTo>
                      <a:pt x="2478" y="2200"/>
                    </a:lnTo>
                    <a:lnTo>
                      <a:pt x="2436" y="2253"/>
                    </a:lnTo>
                    <a:lnTo>
                      <a:pt x="2394" y="2302"/>
                    </a:lnTo>
                    <a:lnTo>
                      <a:pt x="2348" y="2350"/>
                    </a:lnTo>
                    <a:lnTo>
                      <a:pt x="2300" y="2395"/>
                    </a:lnTo>
                    <a:lnTo>
                      <a:pt x="2250" y="2439"/>
                    </a:lnTo>
                    <a:lnTo>
                      <a:pt x="2199" y="2480"/>
                    </a:lnTo>
                    <a:lnTo>
                      <a:pt x="2145" y="2517"/>
                    </a:lnTo>
                    <a:lnTo>
                      <a:pt x="2089" y="2553"/>
                    </a:lnTo>
                    <a:lnTo>
                      <a:pt x="2030" y="2586"/>
                    </a:lnTo>
                    <a:lnTo>
                      <a:pt x="1972" y="2618"/>
                    </a:lnTo>
                    <a:lnTo>
                      <a:pt x="1910" y="2645"/>
                    </a:lnTo>
                    <a:lnTo>
                      <a:pt x="1849" y="2669"/>
                    </a:lnTo>
                    <a:lnTo>
                      <a:pt x="1784" y="2692"/>
                    </a:lnTo>
                    <a:lnTo>
                      <a:pt x="1719" y="2710"/>
                    </a:lnTo>
                    <a:lnTo>
                      <a:pt x="1652" y="2725"/>
                    </a:lnTo>
                    <a:lnTo>
                      <a:pt x="1584" y="2737"/>
                    </a:lnTo>
                    <a:lnTo>
                      <a:pt x="1516" y="2746"/>
                    </a:lnTo>
                    <a:lnTo>
                      <a:pt x="1446" y="2752"/>
                    </a:lnTo>
                    <a:lnTo>
                      <a:pt x="1375" y="2753"/>
                    </a:lnTo>
                    <a:lnTo>
                      <a:pt x="1304" y="2752"/>
                    </a:lnTo>
                    <a:lnTo>
                      <a:pt x="1234" y="2746"/>
                    </a:lnTo>
                    <a:lnTo>
                      <a:pt x="1166" y="2737"/>
                    </a:lnTo>
                    <a:lnTo>
                      <a:pt x="1097" y="2725"/>
                    </a:lnTo>
                    <a:lnTo>
                      <a:pt x="1031" y="2710"/>
                    </a:lnTo>
                    <a:lnTo>
                      <a:pt x="966" y="2692"/>
                    </a:lnTo>
                    <a:lnTo>
                      <a:pt x="902" y="2669"/>
                    </a:lnTo>
                    <a:lnTo>
                      <a:pt x="840" y="2645"/>
                    </a:lnTo>
                    <a:lnTo>
                      <a:pt x="778" y="2618"/>
                    </a:lnTo>
                    <a:lnTo>
                      <a:pt x="720" y="2586"/>
                    </a:lnTo>
                    <a:lnTo>
                      <a:pt x="661" y="2553"/>
                    </a:lnTo>
                    <a:lnTo>
                      <a:pt x="605" y="2517"/>
                    </a:lnTo>
                    <a:lnTo>
                      <a:pt x="551" y="2480"/>
                    </a:lnTo>
                    <a:lnTo>
                      <a:pt x="500" y="2439"/>
                    </a:lnTo>
                    <a:lnTo>
                      <a:pt x="449" y="2395"/>
                    </a:lnTo>
                    <a:lnTo>
                      <a:pt x="403" y="2350"/>
                    </a:lnTo>
                    <a:lnTo>
                      <a:pt x="356" y="2302"/>
                    </a:lnTo>
                    <a:lnTo>
                      <a:pt x="314" y="2253"/>
                    </a:lnTo>
                    <a:lnTo>
                      <a:pt x="272" y="2200"/>
                    </a:lnTo>
                    <a:lnTo>
                      <a:pt x="234" y="2146"/>
                    </a:lnTo>
                    <a:lnTo>
                      <a:pt x="198" y="2090"/>
                    </a:lnTo>
                    <a:lnTo>
                      <a:pt x="165" y="2033"/>
                    </a:lnTo>
                    <a:lnTo>
                      <a:pt x="135" y="1973"/>
                    </a:lnTo>
                    <a:lnTo>
                      <a:pt x="106" y="1913"/>
                    </a:lnTo>
                    <a:lnTo>
                      <a:pt x="82" y="1850"/>
                    </a:lnTo>
                    <a:lnTo>
                      <a:pt x="61" y="1786"/>
                    </a:lnTo>
                    <a:lnTo>
                      <a:pt x="42" y="1720"/>
                    </a:lnTo>
                    <a:lnTo>
                      <a:pt x="27" y="1654"/>
                    </a:lnTo>
                    <a:lnTo>
                      <a:pt x="15" y="1586"/>
                    </a:lnTo>
                    <a:lnTo>
                      <a:pt x="6" y="1517"/>
                    </a:lnTo>
                    <a:lnTo>
                      <a:pt x="1" y="1447"/>
                    </a:lnTo>
                    <a:lnTo>
                      <a:pt x="0" y="1376"/>
                    </a:lnTo>
                    <a:lnTo>
                      <a:pt x="1" y="1305"/>
                    </a:lnTo>
                    <a:lnTo>
                      <a:pt x="6" y="1236"/>
                    </a:lnTo>
                    <a:lnTo>
                      <a:pt x="15" y="1167"/>
                    </a:lnTo>
                    <a:lnTo>
                      <a:pt x="27" y="1099"/>
                    </a:lnTo>
                    <a:lnTo>
                      <a:pt x="42" y="1033"/>
                    </a:lnTo>
                    <a:lnTo>
                      <a:pt x="61" y="967"/>
                    </a:lnTo>
                    <a:lnTo>
                      <a:pt x="82" y="904"/>
                    </a:lnTo>
                    <a:lnTo>
                      <a:pt x="106" y="840"/>
                    </a:lnTo>
                    <a:lnTo>
                      <a:pt x="135" y="779"/>
                    </a:lnTo>
                    <a:lnTo>
                      <a:pt x="165" y="720"/>
                    </a:lnTo>
                    <a:lnTo>
                      <a:pt x="198" y="663"/>
                    </a:lnTo>
                    <a:lnTo>
                      <a:pt x="234" y="607"/>
                    </a:lnTo>
                    <a:lnTo>
                      <a:pt x="272" y="553"/>
                    </a:lnTo>
                    <a:lnTo>
                      <a:pt x="314" y="501"/>
                    </a:lnTo>
                    <a:lnTo>
                      <a:pt x="356" y="451"/>
                    </a:lnTo>
                    <a:lnTo>
                      <a:pt x="403" y="403"/>
                    </a:lnTo>
                    <a:lnTo>
                      <a:pt x="449" y="358"/>
                    </a:lnTo>
                    <a:lnTo>
                      <a:pt x="500" y="314"/>
                    </a:lnTo>
                    <a:lnTo>
                      <a:pt x="551" y="273"/>
                    </a:lnTo>
                    <a:lnTo>
                      <a:pt x="605" y="234"/>
                    </a:lnTo>
                    <a:lnTo>
                      <a:pt x="661" y="198"/>
                    </a:lnTo>
                    <a:lnTo>
                      <a:pt x="720" y="165"/>
                    </a:lnTo>
                    <a:lnTo>
                      <a:pt x="778" y="135"/>
                    </a:lnTo>
                    <a:lnTo>
                      <a:pt x="840" y="108"/>
                    </a:lnTo>
                    <a:lnTo>
                      <a:pt x="902" y="82"/>
                    </a:lnTo>
                    <a:lnTo>
                      <a:pt x="966" y="61"/>
                    </a:lnTo>
                    <a:lnTo>
                      <a:pt x="1031" y="43"/>
                    </a:lnTo>
                    <a:lnTo>
                      <a:pt x="1097" y="28"/>
                    </a:lnTo>
                    <a:lnTo>
                      <a:pt x="1166" y="15"/>
                    </a:lnTo>
                    <a:lnTo>
                      <a:pt x="1234" y="7"/>
                    </a:lnTo>
                    <a:lnTo>
                      <a:pt x="1304" y="1"/>
                    </a:lnTo>
                    <a:lnTo>
                      <a:pt x="1375" y="0"/>
                    </a:lnTo>
                    <a:lnTo>
                      <a:pt x="1446" y="1"/>
                    </a:lnTo>
                    <a:lnTo>
                      <a:pt x="1516" y="7"/>
                    </a:lnTo>
                    <a:lnTo>
                      <a:pt x="1584" y="15"/>
                    </a:lnTo>
                    <a:lnTo>
                      <a:pt x="1652" y="28"/>
                    </a:lnTo>
                    <a:lnTo>
                      <a:pt x="1719" y="43"/>
                    </a:lnTo>
                    <a:lnTo>
                      <a:pt x="1784" y="61"/>
                    </a:lnTo>
                    <a:lnTo>
                      <a:pt x="1849" y="82"/>
                    </a:lnTo>
                    <a:lnTo>
                      <a:pt x="1910" y="108"/>
                    </a:lnTo>
                    <a:lnTo>
                      <a:pt x="1972" y="135"/>
                    </a:lnTo>
                    <a:lnTo>
                      <a:pt x="2030" y="165"/>
                    </a:lnTo>
                    <a:lnTo>
                      <a:pt x="2089" y="198"/>
                    </a:lnTo>
                    <a:lnTo>
                      <a:pt x="2145" y="234"/>
                    </a:lnTo>
                    <a:lnTo>
                      <a:pt x="2199" y="273"/>
                    </a:lnTo>
                    <a:lnTo>
                      <a:pt x="2250" y="314"/>
                    </a:lnTo>
                    <a:lnTo>
                      <a:pt x="2300" y="358"/>
                    </a:lnTo>
                    <a:lnTo>
                      <a:pt x="2348" y="403"/>
                    </a:lnTo>
                    <a:lnTo>
                      <a:pt x="2394" y="451"/>
                    </a:lnTo>
                    <a:lnTo>
                      <a:pt x="2436" y="501"/>
                    </a:lnTo>
                    <a:lnTo>
                      <a:pt x="2478" y="553"/>
                    </a:lnTo>
                    <a:lnTo>
                      <a:pt x="2516" y="607"/>
                    </a:lnTo>
                    <a:lnTo>
                      <a:pt x="2552" y="663"/>
                    </a:lnTo>
                    <a:lnTo>
                      <a:pt x="2585" y="720"/>
                    </a:lnTo>
                    <a:lnTo>
                      <a:pt x="2615" y="779"/>
                    </a:lnTo>
                    <a:lnTo>
                      <a:pt x="2642" y="840"/>
                    </a:lnTo>
                    <a:lnTo>
                      <a:pt x="2668" y="904"/>
                    </a:lnTo>
                    <a:lnTo>
                      <a:pt x="2689" y="967"/>
                    </a:lnTo>
                    <a:lnTo>
                      <a:pt x="2708" y="1033"/>
                    </a:lnTo>
                    <a:lnTo>
                      <a:pt x="2723" y="1099"/>
                    </a:lnTo>
                    <a:lnTo>
                      <a:pt x="2735" y="1167"/>
                    </a:lnTo>
                    <a:lnTo>
                      <a:pt x="2745" y="1236"/>
                    </a:lnTo>
                    <a:lnTo>
                      <a:pt x="2749" y="1305"/>
                    </a:lnTo>
                    <a:lnTo>
                      <a:pt x="2751" y="1376"/>
                    </a:ln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55" name="Freeform 11"/>
              <p:cNvSpPr/>
              <p:nvPr/>
            </p:nvSpPr>
            <p:spPr>
              <a:xfrm>
                <a:off x="2931" y="2432"/>
                <a:ext cx="1039" cy="1039"/>
              </a:xfrm>
              <a:custGeom>
                <a:avLst/>
                <a:gdLst>
                  <a:gd name="txL" fmla="*/ 0 w 2751"/>
                  <a:gd name="txT" fmla="*/ 0 h 2753"/>
                  <a:gd name="txR" fmla="*/ 2751 w 2751"/>
                  <a:gd name="txB" fmla="*/ 2753 h 275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751" h="2753">
                    <a:moveTo>
                      <a:pt x="0" y="1377"/>
                    </a:moveTo>
                    <a:lnTo>
                      <a:pt x="2" y="1305"/>
                    </a:lnTo>
                    <a:lnTo>
                      <a:pt x="6" y="1236"/>
                    </a:lnTo>
                    <a:lnTo>
                      <a:pt x="15" y="1167"/>
                    </a:lnTo>
                    <a:lnTo>
                      <a:pt x="27" y="1099"/>
                    </a:lnTo>
                    <a:lnTo>
                      <a:pt x="42" y="1033"/>
                    </a:lnTo>
                    <a:lnTo>
                      <a:pt x="62" y="967"/>
                    </a:lnTo>
                    <a:lnTo>
                      <a:pt x="83" y="904"/>
                    </a:lnTo>
                    <a:lnTo>
                      <a:pt x="107" y="841"/>
                    </a:lnTo>
                    <a:lnTo>
                      <a:pt x="136" y="780"/>
                    </a:lnTo>
                    <a:lnTo>
                      <a:pt x="166" y="720"/>
                    </a:lnTo>
                    <a:lnTo>
                      <a:pt x="199" y="663"/>
                    </a:lnTo>
                    <a:lnTo>
                      <a:pt x="235" y="607"/>
                    </a:lnTo>
                    <a:lnTo>
                      <a:pt x="272" y="553"/>
                    </a:lnTo>
                    <a:lnTo>
                      <a:pt x="314" y="501"/>
                    </a:lnTo>
                    <a:lnTo>
                      <a:pt x="357" y="451"/>
                    </a:lnTo>
                    <a:lnTo>
                      <a:pt x="403" y="403"/>
                    </a:lnTo>
                    <a:lnTo>
                      <a:pt x="450" y="358"/>
                    </a:lnTo>
                    <a:lnTo>
                      <a:pt x="501" y="314"/>
                    </a:lnTo>
                    <a:lnTo>
                      <a:pt x="552" y="274"/>
                    </a:lnTo>
                    <a:lnTo>
                      <a:pt x="606" y="236"/>
                    </a:lnTo>
                    <a:lnTo>
                      <a:pt x="662" y="200"/>
                    </a:lnTo>
                    <a:lnTo>
                      <a:pt x="720" y="167"/>
                    </a:lnTo>
                    <a:lnTo>
                      <a:pt x="779" y="135"/>
                    </a:lnTo>
                    <a:lnTo>
                      <a:pt x="841" y="108"/>
                    </a:lnTo>
                    <a:lnTo>
                      <a:pt x="902" y="84"/>
                    </a:lnTo>
                    <a:lnTo>
                      <a:pt x="967" y="62"/>
                    </a:lnTo>
                    <a:lnTo>
                      <a:pt x="1032" y="44"/>
                    </a:lnTo>
                    <a:lnTo>
                      <a:pt x="1098" y="28"/>
                    </a:lnTo>
                    <a:lnTo>
                      <a:pt x="1167" y="16"/>
                    </a:lnTo>
                    <a:lnTo>
                      <a:pt x="1234" y="7"/>
                    </a:lnTo>
                    <a:lnTo>
                      <a:pt x="1305" y="1"/>
                    </a:lnTo>
                    <a:lnTo>
                      <a:pt x="1376" y="0"/>
                    </a:lnTo>
                    <a:lnTo>
                      <a:pt x="1446" y="1"/>
                    </a:lnTo>
                    <a:lnTo>
                      <a:pt x="1517" y="7"/>
                    </a:lnTo>
                    <a:lnTo>
                      <a:pt x="1585" y="16"/>
                    </a:lnTo>
                    <a:lnTo>
                      <a:pt x="1652" y="28"/>
                    </a:lnTo>
                    <a:lnTo>
                      <a:pt x="1720" y="44"/>
                    </a:lnTo>
                    <a:lnTo>
                      <a:pt x="1785" y="62"/>
                    </a:lnTo>
                    <a:lnTo>
                      <a:pt x="1849" y="84"/>
                    </a:lnTo>
                    <a:lnTo>
                      <a:pt x="1911" y="108"/>
                    </a:lnTo>
                    <a:lnTo>
                      <a:pt x="1973" y="135"/>
                    </a:lnTo>
                    <a:lnTo>
                      <a:pt x="2031" y="167"/>
                    </a:lnTo>
                    <a:lnTo>
                      <a:pt x="2090" y="200"/>
                    </a:lnTo>
                    <a:lnTo>
                      <a:pt x="2145" y="236"/>
                    </a:lnTo>
                    <a:lnTo>
                      <a:pt x="2199" y="274"/>
                    </a:lnTo>
                    <a:lnTo>
                      <a:pt x="2251" y="314"/>
                    </a:lnTo>
                    <a:lnTo>
                      <a:pt x="2300" y="358"/>
                    </a:lnTo>
                    <a:lnTo>
                      <a:pt x="2348" y="403"/>
                    </a:lnTo>
                    <a:lnTo>
                      <a:pt x="2395" y="451"/>
                    </a:lnTo>
                    <a:lnTo>
                      <a:pt x="2437" y="501"/>
                    </a:lnTo>
                    <a:lnTo>
                      <a:pt x="2479" y="553"/>
                    </a:lnTo>
                    <a:lnTo>
                      <a:pt x="2517" y="607"/>
                    </a:lnTo>
                    <a:lnTo>
                      <a:pt x="2553" y="663"/>
                    </a:lnTo>
                    <a:lnTo>
                      <a:pt x="2586" y="720"/>
                    </a:lnTo>
                    <a:lnTo>
                      <a:pt x="2616" y="780"/>
                    </a:lnTo>
                    <a:lnTo>
                      <a:pt x="2643" y="841"/>
                    </a:lnTo>
                    <a:lnTo>
                      <a:pt x="2668" y="904"/>
                    </a:lnTo>
                    <a:lnTo>
                      <a:pt x="2690" y="967"/>
                    </a:lnTo>
                    <a:lnTo>
                      <a:pt x="2709" y="1033"/>
                    </a:lnTo>
                    <a:lnTo>
                      <a:pt x="2724" y="1099"/>
                    </a:lnTo>
                    <a:lnTo>
                      <a:pt x="2736" y="1167"/>
                    </a:lnTo>
                    <a:lnTo>
                      <a:pt x="2745" y="1236"/>
                    </a:lnTo>
                    <a:lnTo>
                      <a:pt x="2750" y="1305"/>
                    </a:lnTo>
                    <a:lnTo>
                      <a:pt x="2751" y="1377"/>
                    </a:lnTo>
                    <a:lnTo>
                      <a:pt x="2750" y="1448"/>
                    </a:lnTo>
                    <a:lnTo>
                      <a:pt x="2745" y="1517"/>
                    </a:lnTo>
                    <a:lnTo>
                      <a:pt x="2736" y="1586"/>
                    </a:lnTo>
                    <a:lnTo>
                      <a:pt x="2724" y="1654"/>
                    </a:lnTo>
                    <a:lnTo>
                      <a:pt x="2709" y="1720"/>
                    </a:lnTo>
                    <a:lnTo>
                      <a:pt x="2690" y="1787"/>
                    </a:lnTo>
                    <a:lnTo>
                      <a:pt x="2668" y="1850"/>
                    </a:lnTo>
                    <a:lnTo>
                      <a:pt x="2643" y="1913"/>
                    </a:lnTo>
                    <a:lnTo>
                      <a:pt x="2616" y="1973"/>
                    </a:lnTo>
                    <a:lnTo>
                      <a:pt x="2586" y="2033"/>
                    </a:lnTo>
                    <a:lnTo>
                      <a:pt x="2553" y="2090"/>
                    </a:lnTo>
                    <a:lnTo>
                      <a:pt x="2517" y="2146"/>
                    </a:lnTo>
                    <a:lnTo>
                      <a:pt x="2479" y="2200"/>
                    </a:lnTo>
                    <a:lnTo>
                      <a:pt x="2437" y="2253"/>
                    </a:lnTo>
                    <a:lnTo>
                      <a:pt x="2395" y="2302"/>
                    </a:lnTo>
                    <a:lnTo>
                      <a:pt x="2348" y="2350"/>
                    </a:lnTo>
                    <a:lnTo>
                      <a:pt x="2300" y="2396"/>
                    </a:lnTo>
                    <a:lnTo>
                      <a:pt x="2251" y="2439"/>
                    </a:lnTo>
                    <a:lnTo>
                      <a:pt x="2199" y="2480"/>
                    </a:lnTo>
                    <a:lnTo>
                      <a:pt x="2145" y="2519"/>
                    </a:lnTo>
                    <a:lnTo>
                      <a:pt x="2090" y="2553"/>
                    </a:lnTo>
                    <a:lnTo>
                      <a:pt x="2031" y="2588"/>
                    </a:lnTo>
                    <a:lnTo>
                      <a:pt x="1973" y="2618"/>
                    </a:lnTo>
                    <a:lnTo>
                      <a:pt x="1911" y="2645"/>
                    </a:lnTo>
                    <a:lnTo>
                      <a:pt x="1849" y="2669"/>
                    </a:lnTo>
                    <a:lnTo>
                      <a:pt x="1785" y="2692"/>
                    </a:lnTo>
                    <a:lnTo>
                      <a:pt x="1720" y="2710"/>
                    </a:lnTo>
                    <a:lnTo>
                      <a:pt x="1652" y="2725"/>
                    </a:lnTo>
                    <a:lnTo>
                      <a:pt x="1585" y="2737"/>
                    </a:lnTo>
                    <a:lnTo>
                      <a:pt x="1517" y="2746"/>
                    </a:lnTo>
                    <a:lnTo>
                      <a:pt x="1446" y="2752"/>
                    </a:lnTo>
                    <a:lnTo>
                      <a:pt x="1376" y="2753"/>
                    </a:lnTo>
                    <a:lnTo>
                      <a:pt x="1305" y="2752"/>
                    </a:lnTo>
                    <a:lnTo>
                      <a:pt x="1234" y="2746"/>
                    </a:lnTo>
                    <a:lnTo>
                      <a:pt x="1167" y="2737"/>
                    </a:lnTo>
                    <a:lnTo>
                      <a:pt x="1098" y="2725"/>
                    </a:lnTo>
                    <a:lnTo>
                      <a:pt x="1032" y="2710"/>
                    </a:lnTo>
                    <a:lnTo>
                      <a:pt x="967" y="2692"/>
                    </a:lnTo>
                    <a:lnTo>
                      <a:pt x="902" y="2669"/>
                    </a:lnTo>
                    <a:lnTo>
                      <a:pt x="841" y="2645"/>
                    </a:lnTo>
                    <a:lnTo>
                      <a:pt x="779" y="2618"/>
                    </a:lnTo>
                    <a:lnTo>
                      <a:pt x="720" y="2588"/>
                    </a:lnTo>
                    <a:lnTo>
                      <a:pt x="662" y="2553"/>
                    </a:lnTo>
                    <a:lnTo>
                      <a:pt x="606" y="2519"/>
                    </a:lnTo>
                    <a:lnTo>
                      <a:pt x="552" y="2480"/>
                    </a:lnTo>
                    <a:lnTo>
                      <a:pt x="501" y="2439"/>
                    </a:lnTo>
                    <a:lnTo>
                      <a:pt x="450" y="2396"/>
                    </a:lnTo>
                    <a:lnTo>
                      <a:pt x="403" y="2350"/>
                    </a:lnTo>
                    <a:lnTo>
                      <a:pt x="357" y="2302"/>
                    </a:lnTo>
                    <a:lnTo>
                      <a:pt x="314" y="2253"/>
                    </a:lnTo>
                    <a:lnTo>
                      <a:pt x="272" y="2200"/>
                    </a:lnTo>
                    <a:lnTo>
                      <a:pt x="235" y="2146"/>
                    </a:lnTo>
                    <a:lnTo>
                      <a:pt x="199" y="2090"/>
                    </a:lnTo>
                    <a:lnTo>
                      <a:pt x="166" y="2033"/>
                    </a:lnTo>
                    <a:lnTo>
                      <a:pt x="136" y="1973"/>
                    </a:lnTo>
                    <a:lnTo>
                      <a:pt x="107" y="1913"/>
                    </a:lnTo>
                    <a:lnTo>
                      <a:pt x="83" y="1850"/>
                    </a:lnTo>
                    <a:lnTo>
                      <a:pt x="62" y="1787"/>
                    </a:lnTo>
                    <a:lnTo>
                      <a:pt x="42" y="1720"/>
                    </a:lnTo>
                    <a:lnTo>
                      <a:pt x="27" y="1654"/>
                    </a:lnTo>
                    <a:lnTo>
                      <a:pt x="15" y="1586"/>
                    </a:lnTo>
                    <a:lnTo>
                      <a:pt x="6" y="1517"/>
                    </a:lnTo>
                    <a:lnTo>
                      <a:pt x="2" y="1448"/>
                    </a:lnTo>
                    <a:lnTo>
                      <a:pt x="0" y="1377"/>
                    </a:lnTo>
                  </a:path>
                </a:pathLst>
              </a:custGeom>
              <a:noFill/>
              <a:ln w="1905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56" name="Freeform 12"/>
              <p:cNvSpPr/>
              <p:nvPr/>
            </p:nvSpPr>
            <p:spPr>
              <a:xfrm>
                <a:off x="2351" y="2432"/>
                <a:ext cx="1038" cy="1039"/>
              </a:xfrm>
              <a:custGeom>
                <a:avLst/>
                <a:gdLst>
                  <a:gd name="txL" fmla="*/ 0 w 2751"/>
                  <a:gd name="txT" fmla="*/ 0 h 2753"/>
                  <a:gd name="txR" fmla="*/ 2751 w 2751"/>
                  <a:gd name="txB" fmla="*/ 2753 h 275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751" h="2753">
                    <a:moveTo>
                      <a:pt x="0" y="1377"/>
                    </a:moveTo>
                    <a:lnTo>
                      <a:pt x="2" y="1305"/>
                    </a:lnTo>
                    <a:lnTo>
                      <a:pt x="6" y="1236"/>
                    </a:lnTo>
                    <a:lnTo>
                      <a:pt x="15" y="1167"/>
                    </a:lnTo>
                    <a:lnTo>
                      <a:pt x="27" y="1099"/>
                    </a:lnTo>
                    <a:lnTo>
                      <a:pt x="42" y="1033"/>
                    </a:lnTo>
                    <a:lnTo>
                      <a:pt x="62" y="967"/>
                    </a:lnTo>
                    <a:lnTo>
                      <a:pt x="83" y="904"/>
                    </a:lnTo>
                    <a:lnTo>
                      <a:pt x="107" y="841"/>
                    </a:lnTo>
                    <a:lnTo>
                      <a:pt x="135" y="780"/>
                    </a:lnTo>
                    <a:lnTo>
                      <a:pt x="165" y="720"/>
                    </a:lnTo>
                    <a:lnTo>
                      <a:pt x="198" y="663"/>
                    </a:lnTo>
                    <a:lnTo>
                      <a:pt x="235" y="607"/>
                    </a:lnTo>
                    <a:lnTo>
                      <a:pt x="272" y="553"/>
                    </a:lnTo>
                    <a:lnTo>
                      <a:pt x="314" y="501"/>
                    </a:lnTo>
                    <a:lnTo>
                      <a:pt x="356" y="451"/>
                    </a:lnTo>
                    <a:lnTo>
                      <a:pt x="403" y="403"/>
                    </a:lnTo>
                    <a:lnTo>
                      <a:pt x="449" y="358"/>
                    </a:lnTo>
                    <a:lnTo>
                      <a:pt x="501" y="314"/>
                    </a:lnTo>
                    <a:lnTo>
                      <a:pt x="552" y="274"/>
                    </a:lnTo>
                    <a:lnTo>
                      <a:pt x="606" y="236"/>
                    </a:lnTo>
                    <a:lnTo>
                      <a:pt x="661" y="200"/>
                    </a:lnTo>
                    <a:lnTo>
                      <a:pt x="720" y="167"/>
                    </a:lnTo>
                    <a:lnTo>
                      <a:pt x="779" y="135"/>
                    </a:lnTo>
                    <a:lnTo>
                      <a:pt x="840" y="108"/>
                    </a:lnTo>
                    <a:lnTo>
                      <a:pt x="902" y="84"/>
                    </a:lnTo>
                    <a:lnTo>
                      <a:pt x="967" y="62"/>
                    </a:lnTo>
                    <a:lnTo>
                      <a:pt x="1031" y="44"/>
                    </a:lnTo>
                    <a:lnTo>
                      <a:pt x="1097" y="28"/>
                    </a:lnTo>
                    <a:lnTo>
                      <a:pt x="1167" y="16"/>
                    </a:lnTo>
                    <a:lnTo>
                      <a:pt x="1234" y="7"/>
                    </a:lnTo>
                    <a:lnTo>
                      <a:pt x="1305" y="1"/>
                    </a:lnTo>
                    <a:lnTo>
                      <a:pt x="1375" y="0"/>
                    </a:lnTo>
                    <a:lnTo>
                      <a:pt x="1446" y="1"/>
                    </a:lnTo>
                    <a:lnTo>
                      <a:pt x="1517" y="7"/>
                    </a:lnTo>
                    <a:lnTo>
                      <a:pt x="1584" y="16"/>
                    </a:lnTo>
                    <a:lnTo>
                      <a:pt x="1652" y="28"/>
                    </a:lnTo>
                    <a:lnTo>
                      <a:pt x="1720" y="44"/>
                    </a:lnTo>
                    <a:lnTo>
                      <a:pt x="1784" y="62"/>
                    </a:lnTo>
                    <a:lnTo>
                      <a:pt x="1849" y="84"/>
                    </a:lnTo>
                    <a:lnTo>
                      <a:pt x="1911" y="108"/>
                    </a:lnTo>
                    <a:lnTo>
                      <a:pt x="1972" y="135"/>
                    </a:lnTo>
                    <a:lnTo>
                      <a:pt x="2031" y="167"/>
                    </a:lnTo>
                    <a:lnTo>
                      <a:pt x="2089" y="200"/>
                    </a:lnTo>
                    <a:lnTo>
                      <a:pt x="2145" y="236"/>
                    </a:lnTo>
                    <a:lnTo>
                      <a:pt x="2199" y="274"/>
                    </a:lnTo>
                    <a:lnTo>
                      <a:pt x="2250" y="314"/>
                    </a:lnTo>
                    <a:lnTo>
                      <a:pt x="2300" y="358"/>
                    </a:lnTo>
                    <a:lnTo>
                      <a:pt x="2348" y="403"/>
                    </a:lnTo>
                    <a:lnTo>
                      <a:pt x="2395" y="451"/>
                    </a:lnTo>
                    <a:lnTo>
                      <a:pt x="2437" y="501"/>
                    </a:lnTo>
                    <a:lnTo>
                      <a:pt x="2479" y="553"/>
                    </a:lnTo>
                    <a:lnTo>
                      <a:pt x="2516" y="607"/>
                    </a:lnTo>
                    <a:lnTo>
                      <a:pt x="2552" y="663"/>
                    </a:lnTo>
                    <a:lnTo>
                      <a:pt x="2586" y="720"/>
                    </a:lnTo>
                    <a:lnTo>
                      <a:pt x="2616" y="780"/>
                    </a:lnTo>
                    <a:lnTo>
                      <a:pt x="2643" y="841"/>
                    </a:lnTo>
                    <a:lnTo>
                      <a:pt x="2668" y="904"/>
                    </a:lnTo>
                    <a:lnTo>
                      <a:pt x="2689" y="967"/>
                    </a:lnTo>
                    <a:lnTo>
                      <a:pt x="2709" y="1033"/>
                    </a:lnTo>
                    <a:lnTo>
                      <a:pt x="2724" y="1099"/>
                    </a:lnTo>
                    <a:lnTo>
                      <a:pt x="2736" y="1167"/>
                    </a:lnTo>
                    <a:lnTo>
                      <a:pt x="2745" y="1236"/>
                    </a:lnTo>
                    <a:lnTo>
                      <a:pt x="2749" y="1305"/>
                    </a:lnTo>
                    <a:lnTo>
                      <a:pt x="2751" y="1377"/>
                    </a:lnTo>
                    <a:lnTo>
                      <a:pt x="2749" y="1448"/>
                    </a:lnTo>
                    <a:lnTo>
                      <a:pt x="2745" y="1517"/>
                    </a:lnTo>
                    <a:lnTo>
                      <a:pt x="2736" y="1586"/>
                    </a:lnTo>
                    <a:lnTo>
                      <a:pt x="2724" y="1654"/>
                    </a:lnTo>
                    <a:lnTo>
                      <a:pt x="2709" y="1720"/>
                    </a:lnTo>
                    <a:lnTo>
                      <a:pt x="2689" y="1787"/>
                    </a:lnTo>
                    <a:lnTo>
                      <a:pt x="2668" y="1850"/>
                    </a:lnTo>
                    <a:lnTo>
                      <a:pt x="2643" y="1913"/>
                    </a:lnTo>
                    <a:lnTo>
                      <a:pt x="2616" y="1973"/>
                    </a:lnTo>
                    <a:lnTo>
                      <a:pt x="2586" y="2033"/>
                    </a:lnTo>
                    <a:lnTo>
                      <a:pt x="2552" y="2090"/>
                    </a:lnTo>
                    <a:lnTo>
                      <a:pt x="2516" y="2146"/>
                    </a:lnTo>
                    <a:lnTo>
                      <a:pt x="2479" y="2200"/>
                    </a:lnTo>
                    <a:lnTo>
                      <a:pt x="2437" y="2253"/>
                    </a:lnTo>
                    <a:lnTo>
                      <a:pt x="2395" y="2302"/>
                    </a:lnTo>
                    <a:lnTo>
                      <a:pt x="2348" y="2350"/>
                    </a:lnTo>
                    <a:lnTo>
                      <a:pt x="2300" y="2396"/>
                    </a:lnTo>
                    <a:lnTo>
                      <a:pt x="2250" y="2439"/>
                    </a:lnTo>
                    <a:lnTo>
                      <a:pt x="2199" y="2480"/>
                    </a:lnTo>
                    <a:lnTo>
                      <a:pt x="2145" y="2519"/>
                    </a:lnTo>
                    <a:lnTo>
                      <a:pt x="2089" y="2553"/>
                    </a:lnTo>
                    <a:lnTo>
                      <a:pt x="2031" y="2588"/>
                    </a:lnTo>
                    <a:lnTo>
                      <a:pt x="1972" y="2618"/>
                    </a:lnTo>
                    <a:lnTo>
                      <a:pt x="1911" y="2645"/>
                    </a:lnTo>
                    <a:lnTo>
                      <a:pt x="1849" y="2669"/>
                    </a:lnTo>
                    <a:lnTo>
                      <a:pt x="1784" y="2692"/>
                    </a:lnTo>
                    <a:lnTo>
                      <a:pt x="1720" y="2710"/>
                    </a:lnTo>
                    <a:lnTo>
                      <a:pt x="1652" y="2725"/>
                    </a:lnTo>
                    <a:lnTo>
                      <a:pt x="1584" y="2737"/>
                    </a:lnTo>
                    <a:lnTo>
                      <a:pt x="1517" y="2746"/>
                    </a:lnTo>
                    <a:lnTo>
                      <a:pt x="1446" y="2752"/>
                    </a:lnTo>
                    <a:lnTo>
                      <a:pt x="1375" y="2753"/>
                    </a:lnTo>
                    <a:lnTo>
                      <a:pt x="1305" y="2752"/>
                    </a:lnTo>
                    <a:lnTo>
                      <a:pt x="1234" y="2746"/>
                    </a:lnTo>
                    <a:lnTo>
                      <a:pt x="1167" y="2737"/>
                    </a:lnTo>
                    <a:lnTo>
                      <a:pt x="1097" y="2725"/>
                    </a:lnTo>
                    <a:lnTo>
                      <a:pt x="1031" y="2710"/>
                    </a:lnTo>
                    <a:lnTo>
                      <a:pt x="967" y="2692"/>
                    </a:lnTo>
                    <a:lnTo>
                      <a:pt x="902" y="2669"/>
                    </a:lnTo>
                    <a:lnTo>
                      <a:pt x="840" y="2645"/>
                    </a:lnTo>
                    <a:lnTo>
                      <a:pt x="779" y="2618"/>
                    </a:lnTo>
                    <a:lnTo>
                      <a:pt x="720" y="2588"/>
                    </a:lnTo>
                    <a:lnTo>
                      <a:pt x="661" y="2553"/>
                    </a:lnTo>
                    <a:lnTo>
                      <a:pt x="606" y="2519"/>
                    </a:lnTo>
                    <a:lnTo>
                      <a:pt x="552" y="2480"/>
                    </a:lnTo>
                    <a:lnTo>
                      <a:pt x="501" y="2439"/>
                    </a:lnTo>
                    <a:lnTo>
                      <a:pt x="449" y="2396"/>
                    </a:lnTo>
                    <a:lnTo>
                      <a:pt x="403" y="2350"/>
                    </a:lnTo>
                    <a:lnTo>
                      <a:pt x="356" y="2302"/>
                    </a:lnTo>
                    <a:lnTo>
                      <a:pt x="314" y="2253"/>
                    </a:lnTo>
                    <a:lnTo>
                      <a:pt x="272" y="2200"/>
                    </a:lnTo>
                    <a:lnTo>
                      <a:pt x="235" y="2146"/>
                    </a:lnTo>
                    <a:lnTo>
                      <a:pt x="198" y="2090"/>
                    </a:lnTo>
                    <a:lnTo>
                      <a:pt x="165" y="2033"/>
                    </a:lnTo>
                    <a:lnTo>
                      <a:pt x="135" y="1973"/>
                    </a:lnTo>
                    <a:lnTo>
                      <a:pt x="107" y="1913"/>
                    </a:lnTo>
                    <a:lnTo>
                      <a:pt x="83" y="1850"/>
                    </a:lnTo>
                    <a:lnTo>
                      <a:pt x="62" y="1787"/>
                    </a:lnTo>
                    <a:lnTo>
                      <a:pt x="42" y="1720"/>
                    </a:lnTo>
                    <a:lnTo>
                      <a:pt x="27" y="1654"/>
                    </a:lnTo>
                    <a:lnTo>
                      <a:pt x="15" y="1586"/>
                    </a:lnTo>
                    <a:lnTo>
                      <a:pt x="6" y="1517"/>
                    </a:lnTo>
                    <a:lnTo>
                      <a:pt x="2" y="1448"/>
                    </a:lnTo>
                    <a:lnTo>
                      <a:pt x="0" y="1377"/>
                    </a:lnTo>
                  </a:path>
                </a:pathLst>
              </a:custGeom>
              <a:noFill/>
              <a:ln w="1905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27" name="Freeform 13"/>
            <p:cNvSpPr/>
            <p:nvPr/>
          </p:nvSpPr>
          <p:spPr>
            <a:xfrm>
              <a:off x="2653" y="1352"/>
              <a:ext cx="947" cy="1008"/>
            </a:xfrm>
            <a:custGeom>
              <a:avLst/>
              <a:gdLst>
                <a:gd name="txL" fmla="*/ 0 w 2752"/>
                <a:gd name="txT" fmla="*/ 0 h 2754"/>
                <a:gd name="txR" fmla="*/ 2752 w 2752"/>
                <a:gd name="txB" fmla="*/ 2754 h 275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52" h="2754">
                  <a:moveTo>
                    <a:pt x="0" y="1376"/>
                  </a:moveTo>
                  <a:lnTo>
                    <a:pt x="3" y="1306"/>
                  </a:lnTo>
                  <a:lnTo>
                    <a:pt x="8" y="1236"/>
                  </a:lnTo>
                  <a:lnTo>
                    <a:pt x="17" y="1167"/>
                  </a:lnTo>
                  <a:lnTo>
                    <a:pt x="29" y="1100"/>
                  </a:lnTo>
                  <a:lnTo>
                    <a:pt x="44" y="1033"/>
                  </a:lnTo>
                  <a:lnTo>
                    <a:pt x="63" y="967"/>
                  </a:lnTo>
                  <a:lnTo>
                    <a:pt x="84" y="904"/>
                  </a:lnTo>
                  <a:lnTo>
                    <a:pt x="108" y="841"/>
                  </a:lnTo>
                  <a:lnTo>
                    <a:pt x="137" y="779"/>
                  </a:lnTo>
                  <a:lnTo>
                    <a:pt x="167" y="721"/>
                  </a:lnTo>
                  <a:lnTo>
                    <a:pt x="200" y="663"/>
                  </a:lnTo>
                  <a:lnTo>
                    <a:pt x="236" y="608"/>
                  </a:lnTo>
                  <a:lnTo>
                    <a:pt x="274" y="554"/>
                  </a:lnTo>
                  <a:lnTo>
                    <a:pt x="314" y="501"/>
                  </a:lnTo>
                  <a:lnTo>
                    <a:pt x="358" y="451"/>
                  </a:lnTo>
                  <a:lnTo>
                    <a:pt x="404" y="403"/>
                  </a:lnTo>
                  <a:lnTo>
                    <a:pt x="451" y="358"/>
                  </a:lnTo>
                  <a:lnTo>
                    <a:pt x="502" y="315"/>
                  </a:lnTo>
                  <a:lnTo>
                    <a:pt x="553" y="274"/>
                  </a:lnTo>
                  <a:lnTo>
                    <a:pt x="607" y="235"/>
                  </a:lnTo>
                  <a:lnTo>
                    <a:pt x="663" y="199"/>
                  </a:lnTo>
                  <a:lnTo>
                    <a:pt x="720" y="166"/>
                  </a:lnTo>
                  <a:lnTo>
                    <a:pt x="780" y="136"/>
                  </a:lnTo>
                  <a:lnTo>
                    <a:pt x="840" y="108"/>
                  </a:lnTo>
                  <a:lnTo>
                    <a:pt x="903" y="83"/>
                  </a:lnTo>
                  <a:lnTo>
                    <a:pt x="968" y="62"/>
                  </a:lnTo>
                  <a:lnTo>
                    <a:pt x="1033" y="44"/>
                  </a:lnTo>
                  <a:lnTo>
                    <a:pt x="1099" y="29"/>
                  </a:lnTo>
                  <a:lnTo>
                    <a:pt x="1167" y="15"/>
                  </a:lnTo>
                  <a:lnTo>
                    <a:pt x="1236" y="8"/>
                  </a:lnTo>
                  <a:lnTo>
                    <a:pt x="1306" y="2"/>
                  </a:lnTo>
                  <a:lnTo>
                    <a:pt x="1377" y="0"/>
                  </a:lnTo>
                  <a:lnTo>
                    <a:pt x="1448" y="2"/>
                  </a:lnTo>
                  <a:lnTo>
                    <a:pt x="1517" y="8"/>
                  </a:lnTo>
                  <a:lnTo>
                    <a:pt x="1586" y="15"/>
                  </a:lnTo>
                  <a:lnTo>
                    <a:pt x="1654" y="29"/>
                  </a:lnTo>
                  <a:lnTo>
                    <a:pt x="1721" y="44"/>
                  </a:lnTo>
                  <a:lnTo>
                    <a:pt x="1786" y="62"/>
                  </a:lnTo>
                  <a:lnTo>
                    <a:pt x="1850" y="83"/>
                  </a:lnTo>
                  <a:lnTo>
                    <a:pt x="1912" y="108"/>
                  </a:lnTo>
                  <a:lnTo>
                    <a:pt x="1974" y="136"/>
                  </a:lnTo>
                  <a:lnTo>
                    <a:pt x="2032" y="166"/>
                  </a:lnTo>
                  <a:lnTo>
                    <a:pt x="2089" y="199"/>
                  </a:lnTo>
                  <a:lnTo>
                    <a:pt x="2147" y="235"/>
                  </a:lnTo>
                  <a:lnTo>
                    <a:pt x="2201" y="274"/>
                  </a:lnTo>
                  <a:lnTo>
                    <a:pt x="2252" y="315"/>
                  </a:lnTo>
                  <a:lnTo>
                    <a:pt x="2301" y="358"/>
                  </a:lnTo>
                  <a:lnTo>
                    <a:pt x="2350" y="403"/>
                  </a:lnTo>
                  <a:lnTo>
                    <a:pt x="2395" y="451"/>
                  </a:lnTo>
                  <a:lnTo>
                    <a:pt x="2438" y="501"/>
                  </a:lnTo>
                  <a:lnTo>
                    <a:pt x="2479" y="554"/>
                  </a:lnTo>
                  <a:lnTo>
                    <a:pt x="2518" y="608"/>
                  </a:lnTo>
                  <a:lnTo>
                    <a:pt x="2554" y="663"/>
                  </a:lnTo>
                  <a:lnTo>
                    <a:pt x="2587" y="721"/>
                  </a:lnTo>
                  <a:lnTo>
                    <a:pt x="2617" y="779"/>
                  </a:lnTo>
                  <a:lnTo>
                    <a:pt x="2644" y="841"/>
                  </a:lnTo>
                  <a:lnTo>
                    <a:pt x="2670" y="904"/>
                  </a:lnTo>
                  <a:lnTo>
                    <a:pt x="2691" y="967"/>
                  </a:lnTo>
                  <a:lnTo>
                    <a:pt x="2709" y="1033"/>
                  </a:lnTo>
                  <a:lnTo>
                    <a:pt x="2725" y="1100"/>
                  </a:lnTo>
                  <a:lnTo>
                    <a:pt x="2737" y="1167"/>
                  </a:lnTo>
                  <a:lnTo>
                    <a:pt x="2745" y="1236"/>
                  </a:lnTo>
                  <a:lnTo>
                    <a:pt x="2751" y="1306"/>
                  </a:lnTo>
                  <a:lnTo>
                    <a:pt x="2752" y="1376"/>
                  </a:lnTo>
                  <a:lnTo>
                    <a:pt x="2751" y="1447"/>
                  </a:lnTo>
                  <a:lnTo>
                    <a:pt x="2745" y="1518"/>
                  </a:lnTo>
                  <a:lnTo>
                    <a:pt x="2737" y="1587"/>
                  </a:lnTo>
                  <a:lnTo>
                    <a:pt x="2725" y="1654"/>
                  </a:lnTo>
                  <a:lnTo>
                    <a:pt x="2709" y="1721"/>
                  </a:lnTo>
                  <a:lnTo>
                    <a:pt x="2691" y="1787"/>
                  </a:lnTo>
                  <a:lnTo>
                    <a:pt x="2670" y="1850"/>
                  </a:lnTo>
                  <a:lnTo>
                    <a:pt x="2644" y="1913"/>
                  </a:lnTo>
                  <a:lnTo>
                    <a:pt x="2617" y="1973"/>
                  </a:lnTo>
                  <a:lnTo>
                    <a:pt x="2587" y="2033"/>
                  </a:lnTo>
                  <a:lnTo>
                    <a:pt x="2554" y="2091"/>
                  </a:lnTo>
                  <a:lnTo>
                    <a:pt x="2518" y="2146"/>
                  </a:lnTo>
                  <a:lnTo>
                    <a:pt x="2479" y="2200"/>
                  </a:lnTo>
                  <a:lnTo>
                    <a:pt x="2438" y="2253"/>
                  </a:lnTo>
                  <a:lnTo>
                    <a:pt x="2395" y="2303"/>
                  </a:lnTo>
                  <a:lnTo>
                    <a:pt x="2350" y="2351"/>
                  </a:lnTo>
                  <a:lnTo>
                    <a:pt x="2301" y="2396"/>
                  </a:lnTo>
                  <a:lnTo>
                    <a:pt x="2252" y="2440"/>
                  </a:lnTo>
                  <a:lnTo>
                    <a:pt x="2201" y="2480"/>
                  </a:lnTo>
                  <a:lnTo>
                    <a:pt x="2147" y="2518"/>
                  </a:lnTo>
                  <a:lnTo>
                    <a:pt x="2089" y="2554"/>
                  </a:lnTo>
                  <a:lnTo>
                    <a:pt x="2032" y="2587"/>
                  </a:lnTo>
                  <a:lnTo>
                    <a:pt x="1974" y="2617"/>
                  </a:lnTo>
                  <a:lnTo>
                    <a:pt x="1912" y="2646"/>
                  </a:lnTo>
                  <a:lnTo>
                    <a:pt x="1850" y="2670"/>
                  </a:lnTo>
                  <a:lnTo>
                    <a:pt x="1786" y="2692"/>
                  </a:lnTo>
                  <a:lnTo>
                    <a:pt x="1721" y="2710"/>
                  </a:lnTo>
                  <a:lnTo>
                    <a:pt x="1654" y="2725"/>
                  </a:lnTo>
                  <a:lnTo>
                    <a:pt x="1586" y="2737"/>
                  </a:lnTo>
                  <a:lnTo>
                    <a:pt x="1517" y="2746"/>
                  </a:lnTo>
                  <a:lnTo>
                    <a:pt x="1448" y="2752"/>
                  </a:lnTo>
                  <a:lnTo>
                    <a:pt x="1377" y="2754"/>
                  </a:lnTo>
                  <a:lnTo>
                    <a:pt x="1306" y="2752"/>
                  </a:lnTo>
                  <a:lnTo>
                    <a:pt x="1236" y="2746"/>
                  </a:lnTo>
                  <a:lnTo>
                    <a:pt x="1167" y="2737"/>
                  </a:lnTo>
                  <a:lnTo>
                    <a:pt x="1099" y="2725"/>
                  </a:lnTo>
                  <a:lnTo>
                    <a:pt x="1033" y="2710"/>
                  </a:lnTo>
                  <a:lnTo>
                    <a:pt x="968" y="2692"/>
                  </a:lnTo>
                  <a:lnTo>
                    <a:pt x="903" y="2670"/>
                  </a:lnTo>
                  <a:lnTo>
                    <a:pt x="840" y="2646"/>
                  </a:lnTo>
                  <a:lnTo>
                    <a:pt x="780" y="2617"/>
                  </a:lnTo>
                  <a:lnTo>
                    <a:pt x="720" y="2587"/>
                  </a:lnTo>
                  <a:lnTo>
                    <a:pt x="663" y="2554"/>
                  </a:lnTo>
                  <a:lnTo>
                    <a:pt x="607" y="2518"/>
                  </a:lnTo>
                  <a:lnTo>
                    <a:pt x="553" y="2480"/>
                  </a:lnTo>
                  <a:lnTo>
                    <a:pt x="502" y="2440"/>
                  </a:lnTo>
                  <a:lnTo>
                    <a:pt x="451" y="2396"/>
                  </a:lnTo>
                  <a:lnTo>
                    <a:pt x="404" y="2351"/>
                  </a:lnTo>
                  <a:lnTo>
                    <a:pt x="358" y="2303"/>
                  </a:lnTo>
                  <a:lnTo>
                    <a:pt x="314" y="2253"/>
                  </a:lnTo>
                  <a:lnTo>
                    <a:pt x="274" y="2200"/>
                  </a:lnTo>
                  <a:lnTo>
                    <a:pt x="236" y="2146"/>
                  </a:lnTo>
                  <a:lnTo>
                    <a:pt x="200" y="2091"/>
                  </a:lnTo>
                  <a:lnTo>
                    <a:pt x="167" y="2033"/>
                  </a:lnTo>
                  <a:lnTo>
                    <a:pt x="137" y="1973"/>
                  </a:lnTo>
                  <a:lnTo>
                    <a:pt x="108" y="1913"/>
                  </a:lnTo>
                  <a:lnTo>
                    <a:pt x="84" y="1850"/>
                  </a:lnTo>
                  <a:lnTo>
                    <a:pt x="63" y="1787"/>
                  </a:lnTo>
                  <a:lnTo>
                    <a:pt x="44" y="1721"/>
                  </a:lnTo>
                  <a:lnTo>
                    <a:pt x="29" y="1654"/>
                  </a:lnTo>
                  <a:lnTo>
                    <a:pt x="17" y="1587"/>
                  </a:lnTo>
                  <a:lnTo>
                    <a:pt x="8" y="1518"/>
                  </a:lnTo>
                  <a:lnTo>
                    <a:pt x="3" y="1447"/>
                  </a:lnTo>
                  <a:lnTo>
                    <a:pt x="0" y="1376"/>
                  </a:lnTo>
                </a:path>
              </a:pathLst>
            </a:custGeom>
            <a:noFill/>
            <a:ln w="9525" cap="flat" cmpd="sng">
              <a:solidFill>
                <a:schemeClr val="hlink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8" name="Freeform 14"/>
            <p:cNvSpPr/>
            <p:nvPr/>
          </p:nvSpPr>
          <p:spPr>
            <a:xfrm>
              <a:off x="1920" y="1352"/>
              <a:ext cx="947" cy="1008"/>
            </a:xfrm>
            <a:custGeom>
              <a:avLst/>
              <a:gdLst>
                <a:gd name="txL" fmla="*/ 0 w 2752"/>
                <a:gd name="txT" fmla="*/ 0 h 2754"/>
                <a:gd name="txR" fmla="*/ 2752 w 2752"/>
                <a:gd name="txB" fmla="*/ 2754 h 275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52" h="2754">
                  <a:moveTo>
                    <a:pt x="0" y="1376"/>
                  </a:moveTo>
                  <a:lnTo>
                    <a:pt x="1" y="1306"/>
                  </a:lnTo>
                  <a:lnTo>
                    <a:pt x="7" y="1236"/>
                  </a:lnTo>
                  <a:lnTo>
                    <a:pt x="16" y="1167"/>
                  </a:lnTo>
                  <a:lnTo>
                    <a:pt x="28" y="1100"/>
                  </a:lnTo>
                  <a:lnTo>
                    <a:pt x="43" y="1033"/>
                  </a:lnTo>
                  <a:lnTo>
                    <a:pt x="61" y="967"/>
                  </a:lnTo>
                  <a:lnTo>
                    <a:pt x="84" y="904"/>
                  </a:lnTo>
                  <a:lnTo>
                    <a:pt x="108" y="841"/>
                  </a:lnTo>
                  <a:lnTo>
                    <a:pt x="135" y="779"/>
                  </a:lnTo>
                  <a:lnTo>
                    <a:pt x="165" y="721"/>
                  </a:lnTo>
                  <a:lnTo>
                    <a:pt x="199" y="663"/>
                  </a:lnTo>
                  <a:lnTo>
                    <a:pt x="234" y="608"/>
                  </a:lnTo>
                  <a:lnTo>
                    <a:pt x="273" y="554"/>
                  </a:lnTo>
                  <a:lnTo>
                    <a:pt x="314" y="501"/>
                  </a:lnTo>
                  <a:lnTo>
                    <a:pt x="357" y="451"/>
                  </a:lnTo>
                  <a:lnTo>
                    <a:pt x="402" y="403"/>
                  </a:lnTo>
                  <a:lnTo>
                    <a:pt x="450" y="358"/>
                  </a:lnTo>
                  <a:lnTo>
                    <a:pt x="500" y="315"/>
                  </a:lnTo>
                  <a:lnTo>
                    <a:pt x="553" y="274"/>
                  </a:lnTo>
                  <a:lnTo>
                    <a:pt x="607" y="235"/>
                  </a:lnTo>
                  <a:lnTo>
                    <a:pt x="662" y="199"/>
                  </a:lnTo>
                  <a:lnTo>
                    <a:pt x="720" y="166"/>
                  </a:lnTo>
                  <a:lnTo>
                    <a:pt x="780" y="136"/>
                  </a:lnTo>
                  <a:lnTo>
                    <a:pt x="840" y="108"/>
                  </a:lnTo>
                  <a:lnTo>
                    <a:pt x="903" y="83"/>
                  </a:lnTo>
                  <a:lnTo>
                    <a:pt x="966" y="62"/>
                  </a:lnTo>
                  <a:lnTo>
                    <a:pt x="1032" y="44"/>
                  </a:lnTo>
                  <a:lnTo>
                    <a:pt x="1098" y="29"/>
                  </a:lnTo>
                  <a:lnTo>
                    <a:pt x="1166" y="15"/>
                  </a:lnTo>
                  <a:lnTo>
                    <a:pt x="1235" y="8"/>
                  </a:lnTo>
                  <a:lnTo>
                    <a:pt x="1304" y="2"/>
                  </a:lnTo>
                  <a:lnTo>
                    <a:pt x="1375" y="0"/>
                  </a:lnTo>
                  <a:lnTo>
                    <a:pt x="1447" y="2"/>
                  </a:lnTo>
                  <a:lnTo>
                    <a:pt x="1516" y="8"/>
                  </a:lnTo>
                  <a:lnTo>
                    <a:pt x="1585" y="15"/>
                  </a:lnTo>
                  <a:lnTo>
                    <a:pt x="1653" y="29"/>
                  </a:lnTo>
                  <a:lnTo>
                    <a:pt x="1719" y="44"/>
                  </a:lnTo>
                  <a:lnTo>
                    <a:pt x="1785" y="62"/>
                  </a:lnTo>
                  <a:lnTo>
                    <a:pt x="1848" y="83"/>
                  </a:lnTo>
                  <a:lnTo>
                    <a:pt x="1912" y="108"/>
                  </a:lnTo>
                  <a:lnTo>
                    <a:pt x="1972" y="136"/>
                  </a:lnTo>
                  <a:lnTo>
                    <a:pt x="2032" y="166"/>
                  </a:lnTo>
                  <a:lnTo>
                    <a:pt x="2089" y="199"/>
                  </a:lnTo>
                  <a:lnTo>
                    <a:pt x="2145" y="235"/>
                  </a:lnTo>
                  <a:lnTo>
                    <a:pt x="2199" y="274"/>
                  </a:lnTo>
                  <a:lnTo>
                    <a:pt x="2251" y="315"/>
                  </a:lnTo>
                  <a:lnTo>
                    <a:pt x="2301" y="358"/>
                  </a:lnTo>
                  <a:lnTo>
                    <a:pt x="2349" y="403"/>
                  </a:lnTo>
                  <a:lnTo>
                    <a:pt x="2394" y="451"/>
                  </a:lnTo>
                  <a:lnTo>
                    <a:pt x="2438" y="501"/>
                  </a:lnTo>
                  <a:lnTo>
                    <a:pt x="2478" y="554"/>
                  </a:lnTo>
                  <a:lnTo>
                    <a:pt x="2516" y="608"/>
                  </a:lnTo>
                  <a:lnTo>
                    <a:pt x="2552" y="663"/>
                  </a:lnTo>
                  <a:lnTo>
                    <a:pt x="2585" y="721"/>
                  </a:lnTo>
                  <a:lnTo>
                    <a:pt x="2617" y="779"/>
                  </a:lnTo>
                  <a:lnTo>
                    <a:pt x="2644" y="841"/>
                  </a:lnTo>
                  <a:lnTo>
                    <a:pt x="2668" y="904"/>
                  </a:lnTo>
                  <a:lnTo>
                    <a:pt x="2690" y="967"/>
                  </a:lnTo>
                  <a:lnTo>
                    <a:pt x="2708" y="1033"/>
                  </a:lnTo>
                  <a:lnTo>
                    <a:pt x="2723" y="1100"/>
                  </a:lnTo>
                  <a:lnTo>
                    <a:pt x="2735" y="1167"/>
                  </a:lnTo>
                  <a:lnTo>
                    <a:pt x="2744" y="1236"/>
                  </a:lnTo>
                  <a:lnTo>
                    <a:pt x="2750" y="1306"/>
                  </a:lnTo>
                  <a:lnTo>
                    <a:pt x="2752" y="1376"/>
                  </a:lnTo>
                  <a:lnTo>
                    <a:pt x="2750" y="1447"/>
                  </a:lnTo>
                  <a:lnTo>
                    <a:pt x="2744" y="1518"/>
                  </a:lnTo>
                  <a:lnTo>
                    <a:pt x="2735" y="1587"/>
                  </a:lnTo>
                  <a:lnTo>
                    <a:pt x="2723" y="1654"/>
                  </a:lnTo>
                  <a:lnTo>
                    <a:pt x="2708" y="1721"/>
                  </a:lnTo>
                  <a:lnTo>
                    <a:pt x="2690" y="1787"/>
                  </a:lnTo>
                  <a:lnTo>
                    <a:pt x="2668" y="1850"/>
                  </a:lnTo>
                  <a:lnTo>
                    <a:pt x="2644" y="1913"/>
                  </a:lnTo>
                  <a:lnTo>
                    <a:pt x="2617" y="1973"/>
                  </a:lnTo>
                  <a:lnTo>
                    <a:pt x="2585" y="2033"/>
                  </a:lnTo>
                  <a:lnTo>
                    <a:pt x="2552" y="2091"/>
                  </a:lnTo>
                  <a:lnTo>
                    <a:pt x="2516" y="2146"/>
                  </a:lnTo>
                  <a:lnTo>
                    <a:pt x="2478" y="2200"/>
                  </a:lnTo>
                  <a:lnTo>
                    <a:pt x="2438" y="2253"/>
                  </a:lnTo>
                  <a:lnTo>
                    <a:pt x="2394" y="2303"/>
                  </a:lnTo>
                  <a:lnTo>
                    <a:pt x="2349" y="2351"/>
                  </a:lnTo>
                  <a:lnTo>
                    <a:pt x="2301" y="2396"/>
                  </a:lnTo>
                  <a:lnTo>
                    <a:pt x="2251" y="2440"/>
                  </a:lnTo>
                  <a:lnTo>
                    <a:pt x="2199" y="2480"/>
                  </a:lnTo>
                  <a:lnTo>
                    <a:pt x="2145" y="2518"/>
                  </a:lnTo>
                  <a:lnTo>
                    <a:pt x="2089" y="2554"/>
                  </a:lnTo>
                  <a:lnTo>
                    <a:pt x="2032" y="2587"/>
                  </a:lnTo>
                  <a:lnTo>
                    <a:pt x="1972" y="2617"/>
                  </a:lnTo>
                  <a:lnTo>
                    <a:pt x="1912" y="2646"/>
                  </a:lnTo>
                  <a:lnTo>
                    <a:pt x="1848" y="2670"/>
                  </a:lnTo>
                  <a:lnTo>
                    <a:pt x="1785" y="2692"/>
                  </a:lnTo>
                  <a:lnTo>
                    <a:pt x="1719" y="2710"/>
                  </a:lnTo>
                  <a:lnTo>
                    <a:pt x="1653" y="2725"/>
                  </a:lnTo>
                  <a:lnTo>
                    <a:pt x="1585" y="2737"/>
                  </a:lnTo>
                  <a:lnTo>
                    <a:pt x="1516" y="2746"/>
                  </a:lnTo>
                  <a:lnTo>
                    <a:pt x="1447" y="2752"/>
                  </a:lnTo>
                  <a:lnTo>
                    <a:pt x="1375" y="2754"/>
                  </a:lnTo>
                  <a:lnTo>
                    <a:pt x="1304" y="2752"/>
                  </a:lnTo>
                  <a:lnTo>
                    <a:pt x="1235" y="2746"/>
                  </a:lnTo>
                  <a:lnTo>
                    <a:pt x="1166" y="2737"/>
                  </a:lnTo>
                  <a:lnTo>
                    <a:pt x="1098" y="2725"/>
                  </a:lnTo>
                  <a:lnTo>
                    <a:pt x="1032" y="2710"/>
                  </a:lnTo>
                  <a:lnTo>
                    <a:pt x="966" y="2692"/>
                  </a:lnTo>
                  <a:lnTo>
                    <a:pt x="903" y="2670"/>
                  </a:lnTo>
                  <a:lnTo>
                    <a:pt x="840" y="2646"/>
                  </a:lnTo>
                  <a:lnTo>
                    <a:pt x="780" y="2617"/>
                  </a:lnTo>
                  <a:lnTo>
                    <a:pt x="720" y="2587"/>
                  </a:lnTo>
                  <a:lnTo>
                    <a:pt x="662" y="2554"/>
                  </a:lnTo>
                  <a:lnTo>
                    <a:pt x="607" y="2518"/>
                  </a:lnTo>
                  <a:lnTo>
                    <a:pt x="553" y="2480"/>
                  </a:lnTo>
                  <a:lnTo>
                    <a:pt x="500" y="2440"/>
                  </a:lnTo>
                  <a:lnTo>
                    <a:pt x="450" y="2396"/>
                  </a:lnTo>
                  <a:lnTo>
                    <a:pt x="402" y="2351"/>
                  </a:lnTo>
                  <a:lnTo>
                    <a:pt x="357" y="2303"/>
                  </a:lnTo>
                  <a:lnTo>
                    <a:pt x="314" y="2253"/>
                  </a:lnTo>
                  <a:lnTo>
                    <a:pt x="273" y="2200"/>
                  </a:lnTo>
                  <a:lnTo>
                    <a:pt x="234" y="2146"/>
                  </a:lnTo>
                  <a:lnTo>
                    <a:pt x="199" y="2091"/>
                  </a:lnTo>
                  <a:lnTo>
                    <a:pt x="165" y="2033"/>
                  </a:lnTo>
                  <a:lnTo>
                    <a:pt x="135" y="1973"/>
                  </a:lnTo>
                  <a:lnTo>
                    <a:pt x="108" y="1913"/>
                  </a:lnTo>
                  <a:lnTo>
                    <a:pt x="84" y="1850"/>
                  </a:lnTo>
                  <a:lnTo>
                    <a:pt x="61" y="1787"/>
                  </a:lnTo>
                  <a:lnTo>
                    <a:pt x="43" y="1721"/>
                  </a:lnTo>
                  <a:lnTo>
                    <a:pt x="28" y="1654"/>
                  </a:lnTo>
                  <a:lnTo>
                    <a:pt x="16" y="1587"/>
                  </a:lnTo>
                  <a:lnTo>
                    <a:pt x="7" y="1518"/>
                  </a:lnTo>
                  <a:lnTo>
                    <a:pt x="1" y="1447"/>
                  </a:lnTo>
                  <a:lnTo>
                    <a:pt x="0" y="1376"/>
                  </a:lnTo>
                </a:path>
              </a:pathLst>
            </a:custGeom>
            <a:noFill/>
            <a:ln w="9525" cap="flat" cmpd="sng">
              <a:solidFill>
                <a:schemeClr val="hlink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2544" y="2312"/>
              <a:ext cx="384" cy="384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1435" tIns="45718" rIns="91435" bIns="4571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IP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30" name="Text Box 16"/>
            <p:cNvSpPr txBox="1"/>
            <p:nvPr/>
          </p:nvSpPr>
          <p:spPr>
            <a:xfrm>
              <a:off x="2286" y="1071"/>
              <a:ext cx="888" cy="2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>
              <a:spAutoFit/>
            </a:bodyPr>
            <a:p>
              <a:pPr eaLnBrk="1" hangingPunct="1"/>
              <a:r>
                <a:rPr lang="zh-CN" altLang="en-US" sz="2400" dirty="0">
                  <a:latin typeface="Arial" panose="020B0604020202020204" pitchFamily="34" charset="0"/>
                  <a:ea typeface="楷体_GB2312" panose="02010609030101010101" pitchFamily="49" charset="-122"/>
                </a:rPr>
                <a:t>电信业务</a:t>
              </a:r>
              <a:endPara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sp>
          <p:nvSpPr>
            <p:cNvPr id="5131" name="Text Box 17"/>
            <p:cNvSpPr txBox="1"/>
            <p:nvPr/>
          </p:nvSpPr>
          <p:spPr>
            <a:xfrm>
              <a:off x="1259" y="2795"/>
              <a:ext cx="1086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>
              <a:spAutoFit/>
            </a:bodyPr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  <a:ea typeface="楷体_GB2312" panose="02010609030101010101" pitchFamily="49" charset="-122"/>
                </a:rPr>
                <a:t>广播电视业务</a:t>
              </a:r>
              <a:endParaRPr lang="zh-CN" altLang="en-US" sz="20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sp>
          <p:nvSpPr>
            <p:cNvPr id="5132" name="Text Box 18"/>
            <p:cNvSpPr txBox="1"/>
            <p:nvPr/>
          </p:nvSpPr>
          <p:spPr>
            <a:xfrm>
              <a:off x="3215" y="2823"/>
              <a:ext cx="924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>
              <a:spAutoFit/>
            </a:bodyPr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  <a:ea typeface="楷体_GB2312" panose="02010609030101010101" pitchFamily="49" charset="-122"/>
                </a:rPr>
                <a:t>互联网业务</a:t>
              </a:r>
              <a:endParaRPr lang="zh-CN" altLang="en-US" sz="20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sp>
          <p:nvSpPr>
            <p:cNvPr id="5133" name="Text Box 19"/>
            <p:cNvSpPr txBox="1"/>
            <p:nvPr/>
          </p:nvSpPr>
          <p:spPr>
            <a:xfrm>
              <a:off x="2200" y="1389"/>
              <a:ext cx="406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>
              <a:spAutoFit/>
            </a:bodyPr>
            <a:p>
              <a:pPr eaLnBrk="1" hangingPunct="1"/>
              <a:r>
                <a:rPr lang="zh-CN" altLang="en-US" dirty="0">
                  <a:latin typeface="Arial" panose="020B0604020202020204" pitchFamily="34" charset="0"/>
                  <a:ea typeface="楷体_GB2312" panose="02010609030101010101" pitchFamily="49" charset="-122"/>
                </a:rPr>
                <a:t>固网</a:t>
              </a:r>
              <a:endParaRPr lang="zh-CN" altLang="en-US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zh-CN" altLang="en-US" dirty="0">
                  <a:latin typeface="Arial" panose="020B0604020202020204" pitchFamily="34" charset="0"/>
                  <a:ea typeface="楷体_GB2312" panose="02010609030101010101" pitchFamily="49" charset="-122"/>
                </a:rPr>
                <a:t>业务</a:t>
              </a:r>
              <a:endParaRPr lang="zh-CN" altLang="en-US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sp>
          <p:nvSpPr>
            <p:cNvPr id="5134" name="Text Box 20"/>
            <p:cNvSpPr txBox="1"/>
            <p:nvPr/>
          </p:nvSpPr>
          <p:spPr>
            <a:xfrm>
              <a:off x="2880" y="1389"/>
              <a:ext cx="406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>
              <a:spAutoFit/>
            </a:bodyPr>
            <a:p>
              <a:pPr eaLnBrk="1" hangingPunct="1"/>
              <a:r>
                <a:rPr lang="zh-CN" altLang="en-US" dirty="0">
                  <a:latin typeface="Arial" panose="020B0604020202020204" pitchFamily="34" charset="0"/>
                  <a:ea typeface="楷体_GB2312" panose="02010609030101010101" pitchFamily="49" charset="-122"/>
                </a:rPr>
                <a:t>移动</a:t>
              </a:r>
              <a:endParaRPr lang="zh-CN" altLang="en-US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zh-CN" altLang="en-US" dirty="0">
                  <a:latin typeface="Arial" panose="020B0604020202020204" pitchFamily="34" charset="0"/>
                  <a:ea typeface="楷体_GB2312" panose="02010609030101010101" pitchFamily="49" charset="-122"/>
                </a:rPr>
                <a:t>业务</a:t>
              </a:r>
              <a:endParaRPr lang="zh-CN" altLang="en-US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  <p:sp>
          <p:nvSpPr>
            <p:cNvPr id="5135" name="Line 21"/>
            <p:cNvSpPr/>
            <p:nvPr/>
          </p:nvSpPr>
          <p:spPr>
            <a:xfrm>
              <a:off x="2256" y="178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36" name="Line 22"/>
            <p:cNvSpPr/>
            <p:nvPr/>
          </p:nvSpPr>
          <p:spPr>
            <a:xfrm flipH="1">
              <a:off x="2928" y="1784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137" name="Group 23"/>
            <p:cNvGrpSpPr/>
            <p:nvPr/>
          </p:nvGrpSpPr>
          <p:grpSpPr>
            <a:xfrm rot="-1677452">
              <a:off x="3471" y="1798"/>
              <a:ext cx="729" cy="186"/>
              <a:chOff x="1152" y="1680"/>
              <a:chExt cx="4263" cy="2383"/>
            </a:xfrm>
          </p:grpSpPr>
          <p:sp>
            <p:nvSpPr>
              <p:cNvPr id="5147" name="Freeform 24"/>
              <p:cNvSpPr/>
              <p:nvPr/>
            </p:nvSpPr>
            <p:spPr>
              <a:xfrm>
                <a:off x="1152" y="1680"/>
                <a:ext cx="3559" cy="896"/>
              </a:xfrm>
              <a:custGeom>
                <a:avLst/>
                <a:gdLst>
                  <a:gd name="txL" fmla="*/ 0 w 3559"/>
                  <a:gd name="txT" fmla="*/ 0 h 896"/>
                  <a:gd name="txR" fmla="*/ 3559 w 3559"/>
                  <a:gd name="txB" fmla="*/ 896 h 896"/>
                </a:gdLst>
                <a:ahLst/>
                <a:cxnLst>
                  <a:cxn ang="0">
                    <a:pos x="0" y="496"/>
                  </a:cxn>
                  <a:cxn ang="0">
                    <a:pos x="2943" y="496"/>
                  </a:cxn>
                  <a:cxn ang="0">
                    <a:pos x="2663" y="0"/>
                  </a:cxn>
                  <a:cxn ang="0">
                    <a:pos x="3063" y="0"/>
                  </a:cxn>
                  <a:cxn ang="0">
                    <a:pos x="3558" y="895"/>
                  </a:cxn>
                  <a:cxn ang="0">
                    <a:pos x="0" y="895"/>
                  </a:cxn>
                </a:cxnLst>
                <a:rect l="txL" t="txT" r="txR" b="txB"/>
                <a:pathLst>
                  <a:path w="3559" h="896">
                    <a:moveTo>
                      <a:pt x="0" y="496"/>
                    </a:moveTo>
                    <a:lnTo>
                      <a:pt x="2943" y="496"/>
                    </a:lnTo>
                    <a:lnTo>
                      <a:pt x="2663" y="0"/>
                    </a:lnTo>
                    <a:lnTo>
                      <a:pt x="3063" y="0"/>
                    </a:lnTo>
                    <a:lnTo>
                      <a:pt x="3558" y="895"/>
                    </a:lnTo>
                    <a:lnTo>
                      <a:pt x="0" y="895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48" name="Freeform 25"/>
              <p:cNvSpPr/>
              <p:nvPr/>
            </p:nvSpPr>
            <p:spPr>
              <a:xfrm>
                <a:off x="1152" y="3167"/>
                <a:ext cx="3559" cy="896"/>
              </a:xfrm>
              <a:custGeom>
                <a:avLst/>
                <a:gdLst>
                  <a:gd name="txL" fmla="*/ 0 w 3559"/>
                  <a:gd name="txT" fmla="*/ 0 h 896"/>
                  <a:gd name="txR" fmla="*/ 3559 w 3559"/>
                  <a:gd name="txB" fmla="*/ 896 h 896"/>
                </a:gdLst>
                <a:ahLst/>
                <a:cxnLst>
                  <a:cxn ang="0">
                    <a:pos x="0" y="399"/>
                  </a:cxn>
                  <a:cxn ang="0">
                    <a:pos x="2943" y="399"/>
                  </a:cxn>
                  <a:cxn ang="0">
                    <a:pos x="2687" y="895"/>
                  </a:cxn>
                  <a:cxn ang="0">
                    <a:pos x="3087" y="895"/>
                  </a:cxn>
                  <a:cxn ang="0">
                    <a:pos x="355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559" h="896">
                    <a:moveTo>
                      <a:pt x="0" y="399"/>
                    </a:moveTo>
                    <a:lnTo>
                      <a:pt x="2943" y="399"/>
                    </a:lnTo>
                    <a:lnTo>
                      <a:pt x="2687" y="895"/>
                    </a:lnTo>
                    <a:lnTo>
                      <a:pt x="3087" y="895"/>
                    </a:lnTo>
                    <a:lnTo>
                      <a:pt x="3558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49" name="Freeform 26"/>
              <p:cNvSpPr/>
              <p:nvPr/>
            </p:nvSpPr>
            <p:spPr>
              <a:xfrm>
                <a:off x="1152" y="1680"/>
                <a:ext cx="4263" cy="2383"/>
              </a:xfrm>
              <a:custGeom>
                <a:avLst/>
                <a:gdLst>
                  <a:gd name="txL" fmla="*/ 0 w 4263"/>
                  <a:gd name="txT" fmla="*/ 0 h 2383"/>
                  <a:gd name="txR" fmla="*/ 4263 w 4263"/>
                  <a:gd name="txB" fmla="*/ 2383 h 2383"/>
                </a:gdLst>
                <a:ahLst/>
                <a:cxnLst>
                  <a:cxn ang="0">
                    <a:pos x="0" y="991"/>
                  </a:cxn>
                  <a:cxn ang="0">
                    <a:pos x="3750" y="991"/>
                  </a:cxn>
                  <a:cxn ang="0">
                    <a:pos x="3207" y="0"/>
                  </a:cxn>
                  <a:cxn ang="0">
                    <a:pos x="3630" y="0"/>
                  </a:cxn>
                  <a:cxn ang="0">
                    <a:pos x="4262" y="1207"/>
                  </a:cxn>
                  <a:cxn ang="0">
                    <a:pos x="3630" y="2382"/>
                  </a:cxn>
                  <a:cxn ang="0">
                    <a:pos x="3254" y="2382"/>
                  </a:cxn>
                  <a:cxn ang="0">
                    <a:pos x="3774" y="1391"/>
                  </a:cxn>
                  <a:cxn ang="0">
                    <a:pos x="0" y="1391"/>
                  </a:cxn>
                </a:cxnLst>
                <a:rect l="txL" t="txT" r="txR" b="txB"/>
                <a:pathLst>
                  <a:path w="4263" h="2383">
                    <a:moveTo>
                      <a:pt x="0" y="991"/>
                    </a:moveTo>
                    <a:lnTo>
                      <a:pt x="3750" y="991"/>
                    </a:lnTo>
                    <a:lnTo>
                      <a:pt x="3207" y="0"/>
                    </a:lnTo>
                    <a:lnTo>
                      <a:pt x="3630" y="0"/>
                    </a:lnTo>
                    <a:lnTo>
                      <a:pt x="4262" y="1207"/>
                    </a:lnTo>
                    <a:lnTo>
                      <a:pt x="3630" y="2382"/>
                    </a:lnTo>
                    <a:lnTo>
                      <a:pt x="3254" y="2382"/>
                    </a:lnTo>
                    <a:lnTo>
                      <a:pt x="3774" y="1391"/>
                    </a:lnTo>
                    <a:lnTo>
                      <a:pt x="0" y="1391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138" name="Group 27"/>
            <p:cNvGrpSpPr/>
            <p:nvPr/>
          </p:nvGrpSpPr>
          <p:grpSpPr>
            <a:xfrm rot="5400000">
              <a:off x="2472" y="3521"/>
              <a:ext cx="544" cy="181"/>
              <a:chOff x="1152" y="1680"/>
              <a:chExt cx="4263" cy="2383"/>
            </a:xfrm>
          </p:grpSpPr>
          <p:sp>
            <p:nvSpPr>
              <p:cNvPr id="5144" name="Freeform 28"/>
              <p:cNvSpPr/>
              <p:nvPr/>
            </p:nvSpPr>
            <p:spPr>
              <a:xfrm>
                <a:off x="1152" y="1680"/>
                <a:ext cx="3559" cy="896"/>
              </a:xfrm>
              <a:custGeom>
                <a:avLst/>
                <a:gdLst>
                  <a:gd name="txL" fmla="*/ 0 w 3559"/>
                  <a:gd name="txT" fmla="*/ 0 h 896"/>
                  <a:gd name="txR" fmla="*/ 3559 w 3559"/>
                  <a:gd name="txB" fmla="*/ 896 h 896"/>
                </a:gdLst>
                <a:ahLst/>
                <a:cxnLst>
                  <a:cxn ang="0">
                    <a:pos x="0" y="496"/>
                  </a:cxn>
                  <a:cxn ang="0">
                    <a:pos x="2943" y="496"/>
                  </a:cxn>
                  <a:cxn ang="0">
                    <a:pos x="2663" y="0"/>
                  </a:cxn>
                  <a:cxn ang="0">
                    <a:pos x="3063" y="0"/>
                  </a:cxn>
                  <a:cxn ang="0">
                    <a:pos x="3558" y="895"/>
                  </a:cxn>
                  <a:cxn ang="0">
                    <a:pos x="0" y="895"/>
                  </a:cxn>
                </a:cxnLst>
                <a:rect l="txL" t="txT" r="txR" b="txB"/>
                <a:pathLst>
                  <a:path w="3559" h="896">
                    <a:moveTo>
                      <a:pt x="0" y="496"/>
                    </a:moveTo>
                    <a:lnTo>
                      <a:pt x="2943" y="496"/>
                    </a:lnTo>
                    <a:lnTo>
                      <a:pt x="2663" y="0"/>
                    </a:lnTo>
                    <a:lnTo>
                      <a:pt x="3063" y="0"/>
                    </a:lnTo>
                    <a:lnTo>
                      <a:pt x="3558" y="895"/>
                    </a:lnTo>
                    <a:lnTo>
                      <a:pt x="0" y="895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45" name="Freeform 29"/>
              <p:cNvSpPr/>
              <p:nvPr/>
            </p:nvSpPr>
            <p:spPr>
              <a:xfrm>
                <a:off x="1152" y="3167"/>
                <a:ext cx="3559" cy="896"/>
              </a:xfrm>
              <a:custGeom>
                <a:avLst/>
                <a:gdLst>
                  <a:gd name="txL" fmla="*/ 0 w 3559"/>
                  <a:gd name="txT" fmla="*/ 0 h 896"/>
                  <a:gd name="txR" fmla="*/ 3559 w 3559"/>
                  <a:gd name="txB" fmla="*/ 896 h 896"/>
                </a:gdLst>
                <a:ahLst/>
                <a:cxnLst>
                  <a:cxn ang="0">
                    <a:pos x="0" y="399"/>
                  </a:cxn>
                  <a:cxn ang="0">
                    <a:pos x="2943" y="399"/>
                  </a:cxn>
                  <a:cxn ang="0">
                    <a:pos x="2687" y="895"/>
                  </a:cxn>
                  <a:cxn ang="0">
                    <a:pos x="3087" y="895"/>
                  </a:cxn>
                  <a:cxn ang="0">
                    <a:pos x="355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559" h="896">
                    <a:moveTo>
                      <a:pt x="0" y="399"/>
                    </a:moveTo>
                    <a:lnTo>
                      <a:pt x="2943" y="399"/>
                    </a:lnTo>
                    <a:lnTo>
                      <a:pt x="2687" y="895"/>
                    </a:lnTo>
                    <a:lnTo>
                      <a:pt x="3087" y="895"/>
                    </a:lnTo>
                    <a:lnTo>
                      <a:pt x="3558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46" name="Freeform 30"/>
              <p:cNvSpPr/>
              <p:nvPr/>
            </p:nvSpPr>
            <p:spPr>
              <a:xfrm>
                <a:off x="1152" y="1680"/>
                <a:ext cx="4263" cy="2383"/>
              </a:xfrm>
              <a:custGeom>
                <a:avLst/>
                <a:gdLst>
                  <a:gd name="txL" fmla="*/ 0 w 4263"/>
                  <a:gd name="txT" fmla="*/ 0 h 2383"/>
                  <a:gd name="txR" fmla="*/ 4263 w 4263"/>
                  <a:gd name="txB" fmla="*/ 2383 h 2383"/>
                </a:gdLst>
                <a:ahLst/>
                <a:cxnLst>
                  <a:cxn ang="0">
                    <a:pos x="0" y="991"/>
                  </a:cxn>
                  <a:cxn ang="0">
                    <a:pos x="3750" y="991"/>
                  </a:cxn>
                  <a:cxn ang="0">
                    <a:pos x="3207" y="0"/>
                  </a:cxn>
                  <a:cxn ang="0">
                    <a:pos x="3630" y="0"/>
                  </a:cxn>
                  <a:cxn ang="0">
                    <a:pos x="4262" y="1207"/>
                  </a:cxn>
                  <a:cxn ang="0">
                    <a:pos x="3630" y="2382"/>
                  </a:cxn>
                  <a:cxn ang="0">
                    <a:pos x="3254" y="2382"/>
                  </a:cxn>
                  <a:cxn ang="0">
                    <a:pos x="3774" y="1391"/>
                  </a:cxn>
                  <a:cxn ang="0">
                    <a:pos x="0" y="1391"/>
                  </a:cxn>
                </a:cxnLst>
                <a:rect l="txL" t="txT" r="txR" b="txB"/>
                <a:pathLst>
                  <a:path w="4263" h="2383">
                    <a:moveTo>
                      <a:pt x="0" y="991"/>
                    </a:moveTo>
                    <a:lnTo>
                      <a:pt x="3750" y="991"/>
                    </a:lnTo>
                    <a:lnTo>
                      <a:pt x="3207" y="0"/>
                    </a:lnTo>
                    <a:lnTo>
                      <a:pt x="3630" y="0"/>
                    </a:lnTo>
                    <a:lnTo>
                      <a:pt x="4262" y="1207"/>
                    </a:lnTo>
                    <a:lnTo>
                      <a:pt x="3630" y="2382"/>
                    </a:lnTo>
                    <a:lnTo>
                      <a:pt x="3254" y="2382"/>
                    </a:lnTo>
                    <a:lnTo>
                      <a:pt x="3774" y="1391"/>
                    </a:lnTo>
                    <a:lnTo>
                      <a:pt x="0" y="1391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139" name="Group 31"/>
            <p:cNvGrpSpPr/>
            <p:nvPr/>
          </p:nvGrpSpPr>
          <p:grpSpPr>
            <a:xfrm rot="-9200505">
              <a:off x="1287" y="1811"/>
              <a:ext cx="680" cy="184"/>
              <a:chOff x="1152" y="1680"/>
              <a:chExt cx="4263" cy="2383"/>
            </a:xfrm>
          </p:grpSpPr>
          <p:sp>
            <p:nvSpPr>
              <p:cNvPr id="5141" name="Freeform 32"/>
              <p:cNvSpPr/>
              <p:nvPr/>
            </p:nvSpPr>
            <p:spPr>
              <a:xfrm>
                <a:off x="1152" y="1680"/>
                <a:ext cx="3559" cy="896"/>
              </a:xfrm>
              <a:custGeom>
                <a:avLst/>
                <a:gdLst>
                  <a:gd name="txL" fmla="*/ 0 w 3559"/>
                  <a:gd name="txT" fmla="*/ 0 h 896"/>
                  <a:gd name="txR" fmla="*/ 3559 w 3559"/>
                  <a:gd name="txB" fmla="*/ 896 h 896"/>
                </a:gdLst>
                <a:ahLst/>
                <a:cxnLst>
                  <a:cxn ang="0">
                    <a:pos x="0" y="496"/>
                  </a:cxn>
                  <a:cxn ang="0">
                    <a:pos x="2943" y="496"/>
                  </a:cxn>
                  <a:cxn ang="0">
                    <a:pos x="2663" y="0"/>
                  </a:cxn>
                  <a:cxn ang="0">
                    <a:pos x="3063" y="0"/>
                  </a:cxn>
                  <a:cxn ang="0">
                    <a:pos x="3558" y="895"/>
                  </a:cxn>
                  <a:cxn ang="0">
                    <a:pos x="0" y="895"/>
                  </a:cxn>
                </a:cxnLst>
                <a:rect l="txL" t="txT" r="txR" b="txB"/>
                <a:pathLst>
                  <a:path w="3559" h="896">
                    <a:moveTo>
                      <a:pt x="0" y="496"/>
                    </a:moveTo>
                    <a:lnTo>
                      <a:pt x="2943" y="496"/>
                    </a:lnTo>
                    <a:lnTo>
                      <a:pt x="2663" y="0"/>
                    </a:lnTo>
                    <a:lnTo>
                      <a:pt x="3063" y="0"/>
                    </a:lnTo>
                    <a:lnTo>
                      <a:pt x="3558" y="895"/>
                    </a:lnTo>
                    <a:lnTo>
                      <a:pt x="0" y="895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42" name="Freeform 33"/>
              <p:cNvSpPr/>
              <p:nvPr/>
            </p:nvSpPr>
            <p:spPr>
              <a:xfrm>
                <a:off x="1152" y="3167"/>
                <a:ext cx="3559" cy="896"/>
              </a:xfrm>
              <a:custGeom>
                <a:avLst/>
                <a:gdLst>
                  <a:gd name="txL" fmla="*/ 0 w 3559"/>
                  <a:gd name="txT" fmla="*/ 0 h 896"/>
                  <a:gd name="txR" fmla="*/ 3559 w 3559"/>
                  <a:gd name="txB" fmla="*/ 896 h 896"/>
                </a:gdLst>
                <a:ahLst/>
                <a:cxnLst>
                  <a:cxn ang="0">
                    <a:pos x="0" y="399"/>
                  </a:cxn>
                  <a:cxn ang="0">
                    <a:pos x="2943" y="399"/>
                  </a:cxn>
                  <a:cxn ang="0">
                    <a:pos x="2687" y="895"/>
                  </a:cxn>
                  <a:cxn ang="0">
                    <a:pos x="3087" y="895"/>
                  </a:cxn>
                  <a:cxn ang="0">
                    <a:pos x="355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559" h="896">
                    <a:moveTo>
                      <a:pt x="0" y="399"/>
                    </a:moveTo>
                    <a:lnTo>
                      <a:pt x="2943" y="399"/>
                    </a:lnTo>
                    <a:lnTo>
                      <a:pt x="2687" y="895"/>
                    </a:lnTo>
                    <a:lnTo>
                      <a:pt x="3087" y="895"/>
                    </a:lnTo>
                    <a:lnTo>
                      <a:pt x="3558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43" name="Freeform 34"/>
              <p:cNvSpPr/>
              <p:nvPr/>
            </p:nvSpPr>
            <p:spPr>
              <a:xfrm>
                <a:off x="1152" y="1680"/>
                <a:ext cx="4263" cy="2383"/>
              </a:xfrm>
              <a:custGeom>
                <a:avLst/>
                <a:gdLst>
                  <a:gd name="txL" fmla="*/ 0 w 4263"/>
                  <a:gd name="txT" fmla="*/ 0 h 2383"/>
                  <a:gd name="txR" fmla="*/ 4263 w 4263"/>
                  <a:gd name="txB" fmla="*/ 2383 h 2383"/>
                </a:gdLst>
                <a:ahLst/>
                <a:cxnLst>
                  <a:cxn ang="0">
                    <a:pos x="0" y="991"/>
                  </a:cxn>
                  <a:cxn ang="0">
                    <a:pos x="3750" y="991"/>
                  </a:cxn>
                  <a:cxn ang="0">
                    <a:pos x="3207" y="0"/>
                  </a:cxn>
                  <a:cxn ang="0">
                    <a:pos x="3630" y="0"/>
                  </a:cxn>
                  <a:cxn ang="0">
                    <a:pos x="4262" y="1207"/>
                  </a:cxn>
                  <a:cxn ang="0">
                    <a:pos x="3630" y="2382"/>
                  </a:cxn>
                  <a:cxn ang="0">
                    <a:pos x="3254" y="2382"/>
                  </a:cxn>
                  <a:cxn ang="0">
                    <a:pos x="3774" y="1391"/>
                  </a:cxn>
                  <a:cxn ang="0">
                    <a:pos x="0" y="1391"/>
                  </a:cxn>
                </a:cxnLst>
                <a:rect l="txL" t="txT" r="txR" b="txB"/>
                <a:pathLst>
                  <a:path w="4263" h="2383">
                    <a:moveTo>
                      <a:pt x="0" y="991"/>
                    </a:moveTo>
                    <a:lnTo>
                      <a:pt x="3750" y="991"/>
                    </a:lnTo>
                    <a:lnTo>
                      <a:pt x="3207" y="0"/>
                    </a:lnTo>
                    <a:lnTo>
                      <a:pt x="3630" y="0"/>
                    </a:lnTo>
                    <a:lnTo>
                      <a:pt x="4262" y="1207"/>
                    </a:lnTo>
                    <a:lnTo>
                      <a:pt x="3630" y="2382"/>
                    </a:lnTo>
                    <a:lnTo>
                      <a:pt x="3254" y="2382"/>
                    </a:lnTo>
                    <a:lnTo>
                      <a:pt x="3774" y="1391"/>
                    </a:lnTo>
                    <a:lnTo>
                      <a:pt x="0" y="1391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40" name="Text Box 35"/>
            <p:cNvSpPr txBox="1"/>
            <p:nvPr/>
          </p:nvSpPr>
          <p:spPr>
            <a:xfrm>
              <a:off x="4195" y="1480"/>
              <a:ext cx="506" cy="532"/>
            </a:xfrm>
            <a:prstGeom prst="rect">
              <a:avLst/>
            </a:prstGeom>
            <a:solidFill>
              <a:srgbClr val="FFCC99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 wrap="none" lIns="91435" tIns="45718" rIns="91435" bIns="45718">
              <a:spAutoFit/>
              <a:flatTx/>
            </a:bodyPr>
            <a:p>
              <a:pPr eaLnBrk="1" hangingPunct="1"/>
              <a:r>
                <a:rPr lang="en-US" altLang="zh-CN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IM</a:t>
              </a:r>
              <a:endParaRPr lang="en-US" altLang="zh-CN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en-US" altLang="zh-CN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EMAIL</a:t>
              </a:r>
              <a:endParaRPr lang="en-US" altLang="zh-CN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zh-CN" altLang="en-US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网络游戏</a:t>
              </a:r>
              <a:endParaRPr lang="zh-CN" altLang="en-US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  <a:p>
              <a:pPr eaLnBrk="1" hangingPunct="1"/>
              <a:r>
                <a:rPr lang="en-US" altLang="zh-CN" sz="1200" dirty="0">
                  <a:latin typeface="Arial" panose="020B0604020202020204" pitchFamily="34" charset="0"/>
                  <a:ea typeface="楷体_GB2312" panose="02010609030101010101" pitchFamily="49" charset="-122"/>
                </a:rPr>
                <a:t>..….</a:t>
              </a:r>
              <a:endParaRPr lang="en-US" altLang="zh-CN" sz="1200" dirty="0">
                <a:latin typeface="Arial" panose="020B0604020202020204" pitchFamily="34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1071563" y="500063"/>
            <a:ext cx="7207250" cy="576262"/>
          </a:xfrm>
        </p:spPr>
        <p:txBody>
          <a:bodyPr vert="horz" wrap="square" lIns="91440" tIns="45720" rIns="91440" bIns="45720" anchor="ctr" anchorCtr="0"/>
          <a:p>
            <a:r>
              <a:rPr lang="zh-CN" altLang="en-US" b="0" dirty="0">
                <a:solidFill>
                  <a:srgbClr val="1601B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三网融合</a:t>
            </a:r>
            <a:endParaRPr lang="zh-CN" altLang="en-US" b="0" dirty="0">
              <a:solidFill>
                <a:srgbClr val="1601B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147" name="AutoShape 3"/>
          <p:cNvSpPr>
            <a:spLocks noChangeAspect="1"/>
          </p:cNvSpPr>
          <p:nvPr/>
        </p:nvSpPr>
        <p:spPr>
          <a:xfrm>
            <a:off x="2051050" y="836613"/>
            <a:ext cx="5143500" cy="5616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8" name="Text Box 4"/>
          <p:cNvSpPr txBox="1"/>
          <p:nvPr/>
        </p:nvSpPr>
        <p:spPr>
          <a:xfrm flipH="1">
            <a:off x="2827338" y="1292225"/>
            <a:ext cx="9144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项目建议书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49" name="Text Box 5"/>
          <p:cNvSpPr txBox="1"/>
          <p:nvPr/>
        </p:nvSpPr>
        <p:spPr>
          <a:xfrm>
            <a:off x="2827338" y="1787525"/>
            <a:ext cx="9144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可行性研究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50" name="Line 6"/>
          <p:cNvSpPr/>
          <p:nvPr/>
        </p:nvSpPr>
        <p:spPr>
          <a:xfrm>
            <a:off x="3284538" y="1589088"/>
            <a:ext cx="0" cy="19843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1" name="Line 7"/>
          <p:cNvSpPr/>
          <p:nvPr/>
        </p:nvSpPr>
        <p:spPr>
          <a:xfrm>
            <a:off x="3284538" y="2522538"/>
            <a:ext cx="0" cy="19843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152" name="Group 8"/>
          <p:cNvGrpSpPr/>
          <p:nvPr/>
        </p:nvGrpSpPr>
        <p:grpSpPr>
          <a:xfrm>
            <a:off x="2827338" y="2720975"/>
            <a:ext cx="914400" cy="3270250"/>
            <a:chOff x="3294" y="3347"/>
            <a:chExt cx="1440" cy="5148"/>
          </a:xfrm>
        </p:grpSpPr>
        <p:sp>
          <p:nvSpPr>
            <p:cNvPr id="6204" name="Text Box 9"/>
            <p:cNvSpPr txBox="1"/>
            <p:nvPr/>
          </p:nvSpPr>
          <p:spPr>
            <a:xfrm flipH="1">
              <a:off x="3294" y="334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初步设计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05" name="Text Box 10"/>
            <p:cNvSpPr txBox="1"/>
            <p:nvPr/>
          </p:nvSpPr>
          <p:spPr>
            <a:xfrm>
              <a:off x="3294" y="4127"/>
              <a:ext cx="1440" cy="46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年度计划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06" name="Text Box 11"/>
            <p:cNvSpPr txBox="1"/>
            <p:nvPr/>
          </p:nvSpPr>
          <p:spPr>
            <a:xfrm>
              <a:off x="3294" y="4907"/>
              <a:ext cx="1440" cy="46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施工准备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07" name="Text Box 12"/>
            <p:cNvSpPr txBox="1"/>
            <p:nvPr/>
          </p:nvSpPr>
          <p:spPr>
            <a:xfrm>
              <a:off x="3294" y="568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施工图设计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08" name="Text Box 13"/>
            <p:cNvSpPr txBox="1"/>
            <p:nvPr/>
          </p:nvSpPr>
          <p:spPr>
            <a:xfrm>
              <a:off x="3294" y="646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施工招投标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09" name="Text Box 14"/>
            <p:cNvSpPr txBox="1"/>
            <p:nvPr/>
          </p:nvSpPr>
          <p:spPr>
            <a:xfrm>
              <a:off x="3294" y="724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开工报告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10" name="Text Box 15"/>
            <p:cNvSpPr txBox="1"/>
            <p:nvPr/>
          </p:nvSpPr>
          <p:spPr>
            <a:xfrm>
              <a:off x="3294" y="802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   工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11" name="Line 16"/>
            <p:cNvSpPr/>
            <p:nvPr/>
          </p:nvSpPr>
          <p:spPr>
            <a:xfrm>
              <a:off x="4014" y="381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2" name="Line 17"/>
            <p:cNvSpPr/>
            <p:nvPr/>
          </p:nvSpPr>
          <p:spPr>
            <a:xfrm>
              <a:off x="4014" y="459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3" name="Line 18"/>
            <p:cNvSpPr/>
            <p:nvPr/>
          </p:nvSpPr>
          <p:spPr>
            <a:xfrm>
              <a:off x="4014" y="537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4" name="Line 19"/>
            <p:cNvSpPr/>
            <p:nvPr/>
          </p:nvSpPr>
          <p:spPr>
            <a:xfrm>
              <a:off x="4014" y="615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5" name="Line 20"/>
            <p:cNvSpPr/>
            <p:nvPr/>
          </p:nvSpPr>
          <p:spPr>
            <a:xfrm>
              <a:off x="4014" y="693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6" name="Line 21"/>
            <p:cNvSpPr/>
            <p:nvPr/>
          </p:nvSpPr>
          <p:spPr>
            <a:xfrm>
              <a:off x="4014" y="771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153" name="Line 22"/>
          <p:cNvSpPr/>
          <p:nvPr/>
        </p:nvSpPr>
        <p:spPr>
          <a:xfrm>
            <a:off x="2598738" y="2622550"/>
            <a:ext cx="0" cy="34671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6154" name="Text Box 23"/>
          <p:cNvSpPr txBox="1"/>
          <p:nvPr/>
        </p:nvSpPr>
        <p:spPr>
          <a:xfrm flipH="1">
            <a:off x="2141538" y="1631950"/>
            <a:ext cx="304800" cy="8937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立项阶段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55" name="Text Box 24"/>
          <p:cNvSpPr txBox="1"/>
          <p:nvPr/>
        </p:nvSpPr>
        <p:spPr>
          <a:xfrm flipH="1">
            <a:off x="2141538" y="3910013"/>
            <a:ext cx="304800" cy="8953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实施阶段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56" name="Text Box 25"/>
          <p:cNvSpPr txBox="1"/>
          <p:nvPr/>
        </p:nvSpPr>
        <p:spPr>
          <a:xfrm>
            <a:off x="4084638" y="2720975"/>
            <a:ext cx="12573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编写技术规范书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57" name="Text Box 26"/>
          <p:cNvSpPr txBox="1"/>
          <p:nvPr/>
        </p:nvSpPr>
        <p:spPr>
          <a:xfrm>
            <a:off x="4084638" y="3216275"/>
            <a:ext cx="12573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设备采购或招标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58" name="Text Box 27"/>
          <p:cNvSpPr txBox="1"/>
          <p:nvPr/>
        </p:nvSpPr>
        <p:spPr>
          <a:xfrm>
            <a:off x="4084638" y="4206875"/>
            <a:ext cx="12573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签订设备合同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59" name="Text Box 28"/>
          <p:cNvSpPr txBox="1"/>
          <p:nvPr/>
        </p:nvSpPr>
        <p:spPr>
          <a:xfrm>
            <a:off x="4084638" y="5199063"/>
            <a:ext cx="12573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设备到港商检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60" name="Text Box 29"/>
          <p:cNvSpPr txBox="1"/>
          <p:nvPr/>
        </p:nvSpPr>
        <p:spPr>
          <a:xfrm>
            <a:off x="4084638" y="5694363"/>
            <a:ext cx="12573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随工验收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61" name="Text Box 30"/>
          <p:cNvSpPr txBox="1"/>
          <p:nvPr/>
        </p:nvSpPr>
        <p:spPr>
          <a:xfrm>
            <a:off x="5494338" y="4603750"/>
            <a:ext cx="400050" cy="6111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出厂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检验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62" name="Line 31"/>
          <p:cNvSpPr/>
          <p:nvPr/>
        </p:nvSpPr>
        <p:spPr>
          <a:xfrm>
            <a:off x="3741738" y="2820988"/>
            <a:ext cx="342900" cy="0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3" name="Line 32"/>
          <p:cNvSpPr/>
          <p:nvPr/>
        </p:nvSpPr>
        <p:spPr>
          <a:xfrm>
            <a:off x="3741738" y="4306888"/>
            <a:ext cx="342900" cy="0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4" name="Line 33"/>
          <p:cNvSpPr/>
          <p:nvPr/>
        </p:nvSpPr>
        <p:spPr>
          <a:xfrm>
            <a:off x="4656138" y="3017838"/>
            <a:ext cx="0" cy="19843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5" name="Line 34"/>
          <p:cNvSpPr/>
          <p:nvPr/>
        </p:nvSpPr>
        <p:spPr>
          <a:xfrm>
            <a:off x="4656138" y="3513138"/>
            <a:ext cx="0" cy="69373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6" name="Line 35"/>
          <p:cNvSpPr/>
          <p:nvPr/>
        </p:nvSpPr>
        <p:spPr>
          <a:xfrm>
            <a:off x="3741738" y="5297488"/>
            <a:ext cx="342900" cy="158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7" name="Line 36"/>
          <p:cNvSpPr/>
          <p:nvPr/>
        </p:nvSpPr>
        <p:spPr>
          <a:xfrm>
            <a:off x="4656138" y="5000625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8" name="Line 37"/>
          <p:cNvSpPr/>
          <p:nvPr/>
        </p:nvSpPr>
        <p:spPr>
          <a:xfrm>
            <a:off x="4656138" y="5495925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9" name="Line 38"/>
          <p:cNvSpPr/>
          <p:nvPr/>
        </p:nvSpPr>
        <p:spPr>
          <a:xfrm>
            <a:off x="5341938" y="4306888"/>
            <a:ext cx="400050" cy="0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70" name="Line 39"/>
          <p:cNvSpPr/>
          <p:nvPr/>
        </p:nvSpPr>
        <p:spPr>
          <a:xfrm>
            <a:off x="5741988" y="5099050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71" name="Line 40"/>
          <p:cNvSpPr/>
          <p:nvPr/>
        </p:nvSpPr>
        <p:spPr>
          <a:xfrm flipH="1">
            <a:off x="5341938" y="5297488"/>
            <a:ext cx="400050" cy="158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172" name="Group 41"/>
          <p:cNvGrpSpPr/>
          <p:nvPr/>
        </p:nvGrpSpPr>
        <p:grpSpPr>
          <a:xfrm>
            <a:off x="4075113" y="4505325"/>
            <a:ext cx="1257300" cy="495300"/>
            <a:chOff x="4554" y="9219"/>
            <a:chExt cx="1980" cy="780"/>
          </a:xfrm>
        </p:grpSpPr>
        <p:sp>
          <p:nvSpPr>
            <p:cNvPr id="6202" name="Text Box 42"/>
            <p:cNvSpPr txBox="1"/>
            <p:nvPr/>
          </p:nvSpPr>
          <p:spPr>
            <a:xfrm>
              <a:off x="4554" y="9531"/>
              <a:ext cx="198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办理进口手续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6203" name="Line 43"/>
            <p:cNvSpPr/>
            <p:nvPr/>
          </p:nvSpPr>
          <p:spPr>
            <a:xfrm>
              <a:off x="5454" y="9219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173" name="Text Box 44"/>
          <p:cNvSpPr txBox="1"/>
          <p:nvPr/>
        </p:nvSpPr>
        <p:spPr>
          <a:xfrm>
            <a:off x="2817813" y="2227263"/>
            <a:ext cx="9144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专家评估①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74" name="Line 45"/>
          <p:cNvSpPr/>
          <p:nvPr/>
        </p:nvSpPr>
        <p:spPr>
          <a:xfrm>
            <a:off x="3275013" y="2028825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75" name="Line 46"/>
          <p:cNvSpPr/>
          <p:nvPr/>
        </p:nvSpPr>
        <p:spPr>
          <a:xfrm flipV="1">
            <a:off x="2598738" y="1235075"/>
            <a:ext cx="0" cy="1387475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176" name="Line 47"/>
          <p:cNvSpPr/>
          <p:nvPr/>
        </p:nvSpPr>
        <p:spPr>
          <a:xfrm>
            <a:off x="5741988" y="4306888"/>
            <a:ext cx="0" cy="296862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77" name="Line 48"/>
          <p:cNvSpPr/>
          <p:nvPr/>
        </p:nvSpPr>
        <p:spPr>
          <a:xfrm>
            <a:off x="2093913" y="1233488"/>
            <a:ext cx="502920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</p:sp>
      <p:sp>
        <p:nvSpPr>
          <p:cNvPr id="6178" name="Line 49"/>
          <p:cNvSpPr/>
          <p:nvPr/>
        </p:nvSpPr>
        <p:spPr>
          <a:xfrm>
            <a:off x="2093913" y="2611438"/>
            <a:ext cx="50292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</p:sp>
      <p:sp>
        <p:nvSpPr>
          <p:cNvPr id="6179" name="Line 50"/>
          <p:cNvSpPr/>
          <p:nvPr/>
        </p:nvSpPr>
        <p:spPr>
          <a:xfrm>
            <a:off x="2093913" y="6088063"/>
            <a:ext cx="502920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</p:sp>
      <p:sp>
        <p:nvSpPr>
          <p:cNvPr id="6180" name="Line 51"/>
          <p:cNvSpPr/>
          <p:nvPr/>
        </p:nvSpPr>
        <p:spPr>
          <a:xfrm>
            <a:off x="5942013" y="2597150"/>
            <a:ext cx="0" cy="34686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6181" name="Line 52"/>
          <p:cNvSpPr/>
          <p:nvPr/>
        </p:nvSpPr>
        <p:spPr>
          <a:xfrm flipV="1">
            <a:off x="5942013" y="1211263"/>
            <a:ext cx="0" cy="1387475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182" name="Text Box 53"/>
          <p:cNvSpPr txBox="1"/>
          <p:nvPr/>
        </p:nvSpPr>
        <p:spPr>
          <a:xfrm>
            <a:off x="2093913" y="1006475"/>
            <a:ext cx="5715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阶段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83" name="Text Box 54"/>
          <p:cNvSpPr txBox="1"/>
          <p:nvPr/>
        </p:nvSpPr>
        <p:spPr>
          <a:xfrm>
            <a:off x="3808413" y="1006475"/>
            <a:ext cx="9144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工作内容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84" name="Text Box 55"/>
          <p:cNvSpPr txBox="1"/>
          <p:nvPr/>
        </p:nvSpPr>
        <p:spPr>
          <a:xfrm>
            <a:off x="5980113" y="1006475"/>
            <a:ext cx="9144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完成单位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85" name="Line 56"/>
          <p:cNvSpPr/>
          <p:nvPr/>
        </p:nvSpPr>
        <p:spPr>
          <a:xfrm>
            <a:off x="2608263" y="1700213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86" name="Line 57"/>
          <p:cNvSpPr/>
          <p:nvPr/>
        </p:nvSpPr>
        <p:spPr>
          <a:xfrm>
            <a:off x="2598738" y="216693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87" name="Text Box 58"/>
          <p:cNvSpPr txBox="1"/>
          <p:nvPr/>
        </p:nvSpPr>
        <p:spPr>
          <a:xfrm>
            <a:off x="5980113" y="1381125"/>
            <a:ext cx="914400" cy="19685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88" name="Text Box 59"/>
          <p:cNvSpPr txBox="1"/>
          <p:nvPr/>
        </p:nvSpPr>
        <p:spPr>
          <a:xfrm>
            <a:off x="5980113" y="1733550"/>
            <a:ext cx="1039812" cy="3952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建设单位或中介机构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89" name="Text Box 60"/>
          <p:cNvSpPr txBox="1"/>
          <p:nvPr/>
        </p:nvSpPr>
        <p:spPr>
          <a:xfrm>
            <a:off x="5980113" y="2252663"/>
            <a:ext cx="914400" cy="254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主管部门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90" name="Line 61"/>
          <p:cNvSpPr/>
          <p:nvPr/>
        </p:nvSpPr>
        <p:spPr>
          <a:xfrm>
            <a:off x="2598738" y="3087688"/>
            <a:ext cx="451485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91" name="Line 62"/>
          <p:cNvSpPr/>
          <p:nvPr/>
        </p:nvSpPr>
        <p:spPr>
          <a:xfrm>
            <a:off x="2598738" y="4078288"/>
            <a:ext cx="451485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92" name="Text Box 63"/>
          <p:cNvSpPr txBox="1"/>
          <p:nvPr/>
        </p:nvSpPr>
        <p:spPr>
          <a:xfrm>
            <a:off x="6094413" y="2790825"/>
            <a:ext cx="9144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设计单位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93" name="Text Box 64"/>
          <p:cNvSpPr txBox="1"/>
          <p:nvPr/>
        </p:nvSpPr>
        <p:spPr>
          <a:xfrm>
            <a:off x="6094413" y="3484563"/>
            <a:ext cx="914400" cy="19685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94" name="Line 65"/>
          <p:cNvSpPr/>
          <p:nvPr/>
        </p:nvSpPr>
        <p:spPr>
          <a:xfrm>
            <a:off x="2598738" y="457358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95" name="Line 66"/>
          <p:cNvSpPr/>
          <p:nvPr/>
        </p:nvSpPr>
        <p:spPr>
          <a:xfrm>
            <a:off x="2598738" y="556418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96" name="Text Box 67"/>
          <p:cNvSpPr txBox="1"/>
          <p:nvPr/>
        </p:nvSpPr>
        <p:spPr>
          <a:xfrm>
            <a:off x="6094413" y="4276725"/>
            <a:ext cx="9144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设计单位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97" name="Text Box 68"/>
          <p:cNvSpPr txBox="1"/>
          <p:nvPr/>
        </p:nvSpPr>
        <p:spPr>
          <a:xfrm>
            <a:off x="6094413" y="4970463"/>
            <a:ext cx="914400" cy="395287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建设、施工单位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98" name="Text Box 69"/>
          <p:cNvSpPr txBox="1"/>
          <p:nvPr/>
        </p:nvSpPr>
        <p:spPr>
          <a:xfrm>
            <a:off x="6084888" y="5589588"/>
            <a:ext cx="914400" cy="3968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施工、监理单位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199" name="Text Box 70"/>
          <p:cNvSpPr txBox="1"/>
          <p:nvPr/>
        </p:nvSpPr>
        <p:spPr>
          <a:xfrm>
            <a:off x="250825" y="1773238"/>
            <a:ext cx="1584325" cy="4286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8" tIns="45714" rIns="91428" bIns="45714"/>
          <a:p>
            <a:pPr algn="just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中长期规划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cxnSp>
        <p:nvCxnSpPr>
          <p:cNvPr id="72" name="直线连接符 3"/>
          <p:cNvCxnSpPr/>
          <p:nvPr/>
        </p:nvCxnSpPr>
        <p:spPr>
          <a:xfrm>
            <a:off x="400050" y="866775"/>
            <a:ext cx="8150225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文本框 2"/>
          <p:cNvSpPr txBox="1"/>
          <p:nvPr/>
        </p:nvSpPr>
        <p:spPr>
          <a:xfrm>
            <a:off x="400050" y="225425"/>
            <a:ext cx="60325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245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通信工程建设基本程序 </a:t>
            </a:r>
            <a:endParaRPr kumimoji="1" lang="zh-CN" altLang="en-US" sz="2245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171" name="AutoShape 3"/>
          <p:cNvSpPr>
            <a:spLocks noChangeAspect="1"/>
          </p:cNvSpPr>
          <p:nvPr/>
        </p:nvSpPr>
        <p:spPr>
          <a:xfrm>
            <a:off x="1403350" y="1052513"/>
            <a:ext cx="5143500" cy="58054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2" name="Text Box 4"/>
          <p:cNvSpPr txBox="1"/>
          <p:nvPr/>
        </p:nvSpPr>
        <p:spPr>
          <a:xfrm>
            <a:off x="5321300" y="5927725"/>
            <a:ext cx="1200150" cy="3952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建设、施工、监理及相关单位等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7173" name="Group 5"/>
          <p:cNvGrpSpPr/>
          <p:nvPr/>
        </p:nvGrpSpPr>
        <p:grpSpPr>
          <a:xfrm>
            <a:off x="2235200" y="1565275"/>
            <a:ext cx="914400" cy="3270250"/>
            <a:chOff x="3294" y="3347"/>
            <a:chExt cx="1440" cy="5148"/>
          </a:xfrm>
        </p:grpSpPr>
        <p:sp>
          <p:nvSpPr>
            <p:cNvPr id="7233" name="Text Box 6"/>
            <p:cNvSpPr txBox="1"/>
            <p:nvPr/>
          </p:nvSpPr>
          <p:spPr>
            <a:xfrm flipH="1">
              <a:off x="3294" y="334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初步设计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4" name="Text Box 7"/>
            <p:cNvSpPr txBox="1"/>
            <p:nvPr/>
          </p:nvSpPr>
          <p:spPr>
            <a:xfrm>
              <a:off x="3294" y="4127"/>
              <a:ext cx="1440" cy="46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年度计划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5" name="Text Box 8"/>
            <p:cNvSpPr txBox="1"/>
            <p:nvPr/>
          </p:nvSpPr>
          <p:spPr>
            <a:xfrm>
              <a:off x="3294" y="4907"/>
              <a:ext cx="1440" cy="46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施工准备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6" name="Text Box 9"/>
            <p:cNvSpPr txBox="1"/>
            <p:nvPr/>
          </p:nvSpPr>
          <p:spPr>
            <a:xfrm>
              <a:off x="3294" y="568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施工图设计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7" name="Text Box 10"/>
            <p:cNvSpPr txBox="1"/>
            <p:nvPr/>
          </p:nvSpPr>
          <p:spPr>
            <a:xfrm>
              <a:off x="3294" y="646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施工招投标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8" name="Text Box 11"/>
            <p:cNvSpPr txBox="1"/>
            <p:nvPr/>
          </p:nvSpPr>
          <p:spPr>
            <a:xfrm>
              <a:off x="3294" y="724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开工报告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9" name="Text Box 12"/>
            <p:cNvSpPr txBox="1"/>
            <p:nvPr/>
          </p:nvSpPr>
          <p:spPr>
            <a:xfrm>
              <a:off x="3294" y="802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施   工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40" name="Line 13"/>
            <p:cNvSpPr/>
            <p:nvPr/>
          </p:nvSpPr>
          <p:spPr>
            <a:xfrm>
              <a:off x="4014" y="381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41" name="Line 14"/>
            <p:cNvSpPr/>
            <p:nvPr/>
          </p:nvSpPr>
          <p:spPr>
            <a:xfrm>
              <a:off x="4014" y="459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42" name="Line 15"/>
            <p:cNvSpPr/>
            <p:nvPr/>
          </p:nvSpPr>
          <p:spPr>
            <a:xfrm>
              <a:off x="4014" y="537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43" name="Line 16"/>
            <p:cNvSpPr/>
            <p:nvPr/>
          </p:nvSpPr>
          <p:spPr>
            <a:xfrm>
              <a:off x="4014" y="615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44" name="Line 17"/>
            <p:cNvSpPr/>
            <p:nvPr/>
          </p:nvSpPr>
          <p:spPr>
            <a:xfrm>
              <a:off x="4014" y="693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45" name="Line 18"/>
            <p:cNvSpPr/>
            <p:nvPr/>
          </p:nvSpPr>
          <p:spPr>
            <a:xfrm>
              <a:off x="4014" y="771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174" name="Group 19"/>
          <p:cNvGrpSpPr/>
          <p:nvPr/>
        </p:nvGrpSpPr>
        <p:grpSpPr>
          <a:xfrm>
            <a:off x="2235200" y="4835525"/>
            <a:ext cx="914400" cy="1485900"/>
            <a:chOff x="3294" y="8495"/>
            <a:chExt cx="1440" cy="2340"/>
          </a:xfrm>
        </p:grpSpPr>
        <p:sp>
          <p:nvSpPr>
            <p:cNvPr id="7227" name="Text Box 20"/>
            <p:cNvSpPr txBox="1"/>
            <p:nvPr/>
          </p:nvSpPr>
          <p:spPr>
            <a:xfrm>
              <a:off x="3294" y="880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初步验收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28" name="Text Box 21"/>
            <p:cNvSpPr txBox="1"/>
            <p:nvPr/>
          </p:nvSpPr>
          <p:spPr>
            <a:xfrm>
              <a:off x="3294" y="9587"/>
              <a:ext cx="1440" cy="46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试运转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29" name="Text Box 22"/>
            <p:cNvSpPr txBox="1"/>
            <p:nvPr/>
          </p:nvSpPr>
          <p:spPr>
            <a:xfrm>
              <a:off x="3294" y="10367"/>
              <a:ext cx="144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竣工验收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30" name="Line 23"/>
            <p:cNvSpPr/>
            <p:nvPr/>
          </p:nvSpPr>
          <p:spPr>
            <a:xfrm>
              <a:off x="4014" y="849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31" name="Line 24"/>
            <p:cNvSpPr/>
            <p:nvPr/>
          </p:nvSpPr>
          <p:spPr>
            <a:xfrm>
              <a:off x="4014" y="927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32" name="Line 25"/>
            <p:cNvSpPr/>
            <p:nvPr/>
          </p:nvSpPr>
          <p:spPr>
            <a:xfrm>
              <a:off x="4014" y="10055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175" name="Line 26"/>
          <p:cNvSpPr/>
          <p:nvPr/>
        </p:nvSpPr>
        <p:spPr>
          <a:xfrm>
            <a:off x="2006600" y="1466850"/>
            <a:ext cx="0" cy="34671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7176" name="Line 27"/>
          <p:cNvSpPr/>
          <p:nvPr/>
        </p:nvSpPr>
        <p:spPr>
          <a:xfrm>
            <a:off x="2006600" y="4933950"/>
            <a:ext cx="0" cy="14874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7177" name="Text Box 28"/>
          <p:cNvSpPr txBox="1"/>
          <p:nvPr/>
        </p:nvSpPr>
        <p:spPr>
          <a:xfrm flipH="1">
            <a:off x="1549400" y="2754313"/>
            <a:ext cx="304800" cy="8953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实施阶段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78" name="Text Box 29"/>
          <p:cNvSpPr txBox="1"/>
          <p:nvPr/>
        </p:nvSpPr>
        <p:spPr>
          <a:xfrm flipH="1">
            <a:off x="1549400" y="5132388"/>
            <a:ext cx="304800" cy="109061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验收投产阶段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79" name="Text Box 30"/>
          <p:cNvSpPr txBox="1"/>
          <p:nvPr/>
        </p:nvSpPr>
        <p:spPr>
          <a:xfrm>
            <a:off x="3492500" y="1565275"/>
            <a:ext cx="12573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编写技术规范书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0" name="Text Box 31"/>
          <p:cNvSpPr txBox="1"/>
          <p:nvPr/>
        </p:nvSpPr>
        <p:spPr>
          <a:xfrm>
            <a:off x="3492500" y="2060575"/>
            <a:ext cx="12573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设备采购或招标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1" name="Text Box 32"/>
          <p:cNvSpPr txBox="1"/>
          <p:nvPr/>
        </p:nvSpPr>
        <p:spPr>
          <a:xfrm>
            <a:off x="3492500" y="3051175"/>
            <a:ext cx="1257300" cy="2968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签订设备合同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2" name="Text Box 33"/>
          <p:cNvSpPr txBox="1"/>
          <p:nvPr/>
        </p:nvSpPr>
        <p:spPr>
          <a:xfrm>
            <a:off x="3492500" y="4043363"/>
            <a:ext cx="12573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设备到港商检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3" name="Text Box 34"/>
          <p:cNvSpPr txBox="1"/>
          <p:nvPr/>
        </p:nvSpPr>
        <p:spPr>
          <a:xfrm>
            <a:off x="3492500" y="4538663"/>
            <a:ext cx="12573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随工验收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4" name="Text Box 35"/>
          <p:cNvSpPr txBox="1"/>
          <p:nvPr/>
        </p:nvSpPr>
        <p:spPr>
          <a:xfrm>
            <a:off x="3492500" y="5033963"/>
            <a:ext cx="12573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生产准备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5" name="Text Box 36"/>
          <p:cNvSpPr txBox="1"/>
          <p:nvPr/>
        </p:nvSpPr>
        <p:spPr>
          <a:xfrm>
            <a:off x="4902200" y="3448050"/>
            <a:ext cx="400050" cy="495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出厂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检验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6" name="Text Box 37"/>
          <p:cNvSpPr txBox="1"/>
          <p:nvPr/>
        </p:nvSpPr>
        <p:spPr>
          <a:xfrm>
            <a:off x="3492500" y="6024563"/>
            <a:ext cx="1257300" cy="2968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6693" tIns="28346" rIns="56693" bIns="28346"/>
          <a:p>
            <a:pPr algn="ctr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投  产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187" name="Line 38"/>
          <p:cNvSpPr/>
          <p:nvPr/>
        </p:nvSpPr>
        <p:spPr>
          <a:xfrm>
            <a:off x="3149600" y="1665288"/>
            <a:ext cx="342900" cy="0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88" name="Line 39"/>
          <p:cNvSpPr/>
          <p:nvPr/>
        </p:nvSpPr>
        <p:spPr>
          <a:xfrm>
            <a:off x="3149600" y="3151188"/>
            <a:ext cx="342900" cy="0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89" name="Line 40"/>
          <p:cNvSpPr/>
          <p:nvPr/>
        </p:nvSpPr>
        <p:spPr>
          <a:xfrm>
            <a:off x="4064000" y="1862138"/>
            <a:ext cx="0" cy="19843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90" name="Line 41"/>
          <p:cNvSpPr/>
          <p:nvPr/>
        </p:nvSpPr>
        <p:spPr>
          <a:xfrm>
            <a:off x="4064000" y="2357438"/>
            <a:ext cx="0" cy="69373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91" name="Line 42"/>
          <p:cNvSpPr/>
          <p:nvPr/>
        </p:nvSpPr>
        <p:spPr>
          <a:xfrm>
            <a:off x="3149600" y="4141788"/>
            <a:ext cx="342900" cy="158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92" name="Line 43"/>
          <p:cNvSpPr/>
          <p:nvPr/>
        </p:nvSpPr>
        <p:spPr>
          <a:xfrm>
            <a:off x="4064000" y="3844925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93" name="Line 44"/>
          <p:cNvSpPr/>
          <p:nvPr/>
        </p:nvSpPr>
        <p:spPr>
          <a:xfrm>
            <a:off x="4064000" y="4340225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94" name="Line 45"/>
          <p:cNvSpPr/>
          <p:nvPr/>
        </p:nvSpPr>
        <p:spPr>
          <a:xfrm>
            <a:off x="4749800" y="3151188"/>
            <a:ext cx="400050" cy="0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95" name="Line 46"/>
          <p:cNvSpPr/>
          <p:nvPr/>
        </p:nvSpPr>
        <p:spPr>
          <a:xfrm>
            <a:off x="5149850" y="3943350"/>
            <a:ext cx="0" cy="198438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96" name="Line 47"/>
          <p:cNvSpPr/>
          <p:nvPr/>
        </p:nvSpPr>
        <p:spPr>
          <a:xfrm flipH="1">
            <a:off x="4749800" y="4141788"/>
            <a:ext cx="400050" cy="158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97" name="Line 48"/>
          <p:cNvSpPr/>
          <p:nvPr/>
        </p:nvSpPr>
        <p:spPr>
          <a:xfrm>
            <a:off x="3149600" y="5132388"/>
            <a:ext cx="342900" cy="158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98" name="Line 49"/>
          <p:cNvSpPr/>
          <p:nvPr/>
        </p:nvSpPr>
        <p:spPr>
          <a:xfrm>
            <a:off x="3149600" y="6122988"/>
            <a:ext cx="342900" cy="1587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7199" name="Group 50"/>
          <p:cNvGrpSpPr/>
          <p:nvPr/>
        </p:nvGrpSpPr>
        <p:grpSpPr>
          <a:xfrm>
            <a:off x="3482975" y="3349625"/>
            <a:ext cx="1257300" cy="495300"/>
            <a:chOff x="4554" y="9219"/>
            <a:chExt cx="1980" cy="780"/>
          </a:xfrm>
        </p:grpSpPr>
        <p:sp>
          <p:nvSpPr>
            <p:cNvPr id="7225" name="Text Box 51"/>
            <p:cNvSpPr txBox="1"/>
            <p:nvPr/>
          </p:nvSpPr>
          <p:spPr>
            <a:xfrm>
              <a:off x="4554" y="9531"/>
              <a:ext cx="1980" cy="4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56693" tIns="28346" rIns="56693" bIns="28346"/>
            <a:p>
              <a:pPr algn="ctr">
                <a:lnSpc>
                  <a:spcPts val="120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办理进口手续</a:t>
              </a:r>
              <a:endPara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226" name="Line 52"/>
            <p:cNvSpPr/>
            <p:nvPr/>
          </p:nvSpPr>
          <p:spPr>
            <a:xfrm>
              <a:off x="5454" y="9219"/>
              <a:ext cx="0" cy="312"/>
            </a:xfrm>
            <a:prstGeom prst="line">
              <a:avLst/>
            </a:prstGeom>
            <a:ln w="12700" cap="sq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200" name="Line 53"/>
          <p:cNvSpPr/>
          <p:nvPr/>
        </p:nvSpPr>
        <p:spPr>
          <a:xfrm>
            <a:off x="5149850" y="3151188"/>
            <a:ext cx="0" cy="296862"/>
          </a:xfrm>
          <a:prstGeom prst="line">
            <a:avLst/>
          </a:prstGeom>
          <a:ln w="12700" cap="sq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01" name="Line 54"/>
          <p:cNvSpPr/>
          <p:nvPr/>
        </p:nvSpPr>
        <p:spPr>
          <a:xfrm>
            <a:off x="1501775" y="1455738"/>
            <a:ext cx="50292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</p:sp>
      <p:sp>
        <p:nvSpPr>
          <p:cNvPr id="7202" name="Line 55"/>
          <p:cNvSpPr/>
          <p:nvPr/>
        </p:nvSpPr>
        <p:spPr>
          <a:xfrm>
            <a:off x="1501775" y="4932363"/>
            <a:ext cx="502920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</p:sp>
      <p:sp>
        <p:nvSpPr>
          <p:cNvPr id="7203" name="Line 56"/>
          <p:cNvSpPr/>
          <p:nvPr/>
        </p:nvSpPr>
        <p:spPr>
          <a:xfrm>
            <a:off x="1501775" y="6389688"/>
            <a:ext cx="502920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</p:sp>
      <p:sp>
        <p:nvSpPr>
          <p:cNvPr id="7204" name="Line 57"/>
          <p:cNvSpPr/>
          <p:nvPr/>
        </p:nvSpPr>
        <p:spPr>
          <a:xfrm>
            <a:off x="5349875" y="1441450"/>
            <a:ext cx="0" cy="34686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7205" name="Line 58"/>
          <p:cNvSpPr/>
          <p:nvPr/>
        </p:nvSpPr>
        <p:spPr>
          <a:xfrm>
            <a:off x="5349875" y="4910138"/>
            <a:ext cx="0" cy="14859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arrow" w="med" len="med"/>
            <a:tailEnd type="arrow" w="med" len="med"/>
          </a:ln>
        </p:spPr>
      </p:sp>
      <p:sp>
        <p:nvSpPr>
          <p:cNvPr id="7206" name="Text Box 59"/>
          <p:cNvSpPr txBox="1"/>
          <p:nvPr/>
        </p:nvSpPr>
        <p:spPr>
          <a:xfrm>
            <a:off x="1546225" y="1265238"/>
            <a:ext cx="571500" cy="198437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阶段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07" name="Text Box 60"/>
          <p:cNvSpPr txBox="1"/>
          <p:nvPr/>
        </p:nvSpPr>
        <p:spPr>
          <a:xfrm>
            <a:off x="3260725" y="1265238"/>
            <a:ext cx="914400" cy="198437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工作内容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08" name="Text Box 61"/>
          <p:cNvSpPr txBox="1"/>
          <p:nvPr/>
        </p:nvSpPr>
        <p:spPr>
          <a:xfrm>
            <a:off x="5348288" y="1192213"/>
            <a:ext cx="914400" cy="198437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完成单位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09" name="Line 62"/>
          <p:cNvSpPr/>
          <p:nvPr/>
        </p:nvSpPr>
        <p:spPr>
          <a:xfrm>
            <a:off x="2006600" y="1931988"/>
            <a:ext cx="451485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210" name="Line 63"/>
          <p:cNvSpPr/>
          <p:nvPr/>
        </p:nvSpPr>
        <p:spPr>
          <a:xfrm>
            <a:off x="2006600" y="2922588"/>
            <a:ext cx="451485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211" name="Text Box 64"/>
          <p:cNvSpPr txBox="1"/>
          <p:nvPr/>
        </p:nvSpPr>
        <p:spPr>
          <a:xfrm>
            <a:off x="5502275" y="1635125"/>
            <a:ext cx="9144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设计单位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12" name="Text Box 65"/>
          <p:cNvSpPr txBox="1"/>
          <p:nvPr/>
        </p:nvSpPr>
        <p:spPr>
          <a:xfrm>
            <a:off x="5502275" y="2328863"/>
            <a:ext cx="914400" cy="19685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13" name="Line 66"/>
          <p:cNvSpPr/>
          <p:nvPr/>
        </p:nvSpPr>
        <p:spPr>
          <a:xfrm>
            <a:off x="2006600" y="341788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214" name="Line 67"/>
          <p:cNvSpPr/>
          <p:nvPr/>
        </p:nvSpPr>
        <p:spPr>
          <a:xfrm>
            <a:off x="2006600" y="440848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215" name="Line 68"/>
          <p:cNvSpPr/>
          <p:nvPr/>
        </p:nvSpPr>
        <p:spPr>
          <a:xfrm>
            <a:off x="2006600" y="539908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216" name="Line 69"/>
          <p:cNvSpPr/>
          <p:nvPr/>
        </p:nvSpPr>
        <p:spPr>
          <a:xfrm>
            <a:off x="2006600" y="5894388"/>
            <a:ext cx="4514850" cy="1587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217" name="Text Box 70"/>
          <p:cNvSpPr txBox="1"/>
          <p:nvPr/>
        </p:nvSpPr>
        <p:spPr>
          <a:xfrm>
            <a:off x="5502275" y="3121025"/>
            <a:ext cx="914400" cy="19843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设计单位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18" name="Text Box 71"/>
          <p:cNvSpPr txBox="1"/>
          <p:nvPr/>
        </p:nvSpPr>
        <p:spPr>
          <a:xfrm>
            <a:off x="5502275" y="3814763"/>
            <a:ext cx="914400" cy="395287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建设、施工单位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19" name="Text Box 72"/>
          <p:cNvSpPr txBox="1"/>
          <p:nvPr/>
        </p:nvSpPr>
        <p:spPr>
          <a:xfrm>
            <a:off x="5502275" y="4408488"/>
            <a:ext cx="914400" cy="3968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施工、监理单位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20" name="Text Box 73"/>
          <p:cNvSpPr txBox="1"/>
          <p:nvPr/>
        </p:nvSpPr>
        <p:spPr>
          <a:xfrm>
            <a:off x="5387975" y="5003800"/>
            <a:ext cx="1143000" cy="3952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建设、施工、监理及相关单位等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221" name="Text Box 74"/>
          <p:cNvSpPr txBox="1"/>
          <p:nvPr/>
        </p:nvSpPr>
        <p:spPr>
          <a:xfrm>
            <a:off x="4816475" y="5461000"/>
            <a:ext cx="1600200" cy="39528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tIns="0" bIns="0"/>
          <a:p>
            <a:pPr algn="just">
              <a:lnSpc>
                <a:spcPts val="12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建设单位及供货厂商、设计、施工和维护部门等</a:t>
            </a:r>
            <a:endParaRPr lang="zh-CN" altLang="en-US" sz="12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cxnSp>
        <p:nvCxnSpPr>
          <p:cNvPr id="76" name="直线连接符 3"/>
          <p:cNvCxnSpPr/>
          <p:nvPr/>
        </p:nvCxnSpPr>
        <p:spPr>
          <a:xfrm>
            <a:off x="400050" y="866775"/>
            <a:ext cx="8150225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文本框 2"/>
          <p:cNvSpPr txBox="1"/>
          <p:nvPr/>
        </p:nvSpPr>
        <p:spPr>
          <a:xfrm>
            <a:off x="400050" y="225425"/>
            <a:ext cx="60325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245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通信工程建设基本程序</a:t>
            </a:r>
            <a:endParaRPr kumimoji="1" lang="zh-CN" altLang="en-US" sz="2245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224" name="Text Box 70"/>
          <p:cNvSpPr txBox="1"/>
          <p:nvPr/>
        </p:nvSpPr>
        <p:spPr>
          <a:xfrm>
            <a:off x="250825" y="1773238"/>
            <a:ext cx="1584325" cy="4286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8" tIns="45714" rIns="91428" bIns="45714"/>
          <a:p>
            <a:pPr algn="just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中长期规划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7953" y="1176620"/>
            <a:ext cx="6032681" cy="94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14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</a:t>
            </a: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工程设计概念与作用</a:t>
            </a:r>
            <a:endParaRPr kumimoji="1" lang="zh-CN" altLang="en-US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20000"/>
              </a:lnSpc>
              <a:spcBef>
                <a:spcPct val="20000"/>
              </a:spcBef>
            </a:pPr>
            <a:endParaRPr kumimoji="1" lang="en-US" altLang="zh-CN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00606" y="1632173"/>
            <a:ext cx="8150537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7953" y="1660706"/>
            <a:ext cx="8648396" cy="3876675"/>
          </a:xfrm>
          <a:prstGeom prst="rect">
            <a:avLst/>
          </a:prstGeom>
          <a:noFill/>
        </p:spPr>
        <p:txBody>
          <a:bodyPr wrap="square" lIns="85788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r>
              <a:rPr kumimoji="1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基本概念</a:t>
            </a:r>
            <a:endParaRPr kumimoji="1"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通信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工程设计是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对现有通信网络的装备进行整合与优化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是在通信网络规划的基础上，根据通信网络发展目标，综合运用工程技术和经济方法，依照技术标准、规范、规程，对工程项目进行勘察和技术、经济分析，编制作为工程建设依据的设计文件和配合工程建设的活动</a:t>
            </a:r>
            <a:r>
              <a:rPr kumimoji="1"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通信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工程设计文件要考虑技术和经济两方面因素，做到技术和经济的统一，其中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技术问题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通过设计文件中的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说明和图纸解决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经济问题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通过设计文件中的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概算、施工图预算和修正概算解决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 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7953" y="1176620"/>
            <a:ext cx="6032681" cy="94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14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</a:t>
            </a: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工程设计概念与作用</a:t>
            </a:r>
            <a:endParaRPr kumimoji="1" lang="zh-CN" altLang="en-US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20000"/>
              </a:lnSpc>
              <a:spcBef>
                <a:spcPct val="20000"/>
              </a:spcBef>
            </a:pPr>
            <a:endParaRPr kumimoji="1" lang="en-US" altLang="zh-CN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00606" y="1632173"/>
            <a:ext cx="8150537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7953" y="1660706"/>
            <a:ext cx="8648396" cy="4569460"/>
          </a:xfrm>
          <a:prstGeom prst="rect">
            <a:avLst/>
          </a:prstGeom>
          <a:noFill/>
        </p:spPr>
        <p:txBody>
          <a:bodyPr wrap="square" lIns="85788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地位和作用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设计工作处于工程前期的重要阶段。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具有规范性强、目标性强、不可复制、立足于工程实际且高于工程实际的特点，并强调实际与理论相结合。设计阶段的失误就意味着重大失误，因此设计的准确性就显得尤为重要。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节约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能源、节约用地的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优质的通信工程设计可以给通信工程项目在建设、营运和发展过程中带来较高的投资效益，达到资源的综合利用，节约能源、节约用地的要求。</a:t>
            </a:r>
            <a:endParaRPr kumimoji="1"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控制工程造价具有十分重要的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意义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通信工程设计是建设项目进行全面规划和具体描绘实施意图的过程，是工程建设的灵魂，是科学技术转化为生产力的纽带，是处理技术与经济的关键性环节，是控制工程造价的重点阶段。</a:t>
            </a:r>
            <a:endParaRPr kumimoji="1"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网络优化。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工程设计必须以现有国际、国家及相关技术体制标准为依据，以实际网络建设目标、工程需要为出发点，其次通信工程设计要求站在全程和全网的高度，为不同的网络资源进行调配、达到合理最优的网络优化。 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7953" y="1176620"/>
            <a:ext cx="6032681" cy="94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14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</a:t>
            </a: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工程设计概念与作用</a:t>
            </a:r>
            <a:endParaRPr kumimoji="1" lang="zh-CN" altLang="en-US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20000"/>
              </a:lnSpc>
              <a:spcBef>
                <a:spcPct val="20000"/>
              </a:spcBef>
            </a:pPr>
            <a:endParaRPr kumimoji="1" lang="en-US" altLang="zh-CN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00606" y="1632173"/>
            <a:ext cx="8150537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7953" y="1660706"/>
            <a:ext cx="8648396" cy="4939030"/>
          </a:xfrm>
          <a:prstGeom prst="rect">
            <a:avLst/>
          </a:prstGeom>
          <a:noFill/>
        </p:spPr>
        <p:txBody>
          <a:bodyPr wrap="square" lIns="85788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通信工程设计原则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符合国家相关规定。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必须贯彻执行国家基本建设方针和通信技术经济政策，合理利用资源，重视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环境保护，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采用的产品必须符合国家标准与行业标准，未经试验和鉴定合格的产品不得在工程中使用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保证通信质量。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必须保证通信质量，做到技术先进，经济合理，安全适用，能够满足施工、运营和使用的要求。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选取最优方案 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中应进行多方案比较，兼顾近期与远期通信发展需求，合理利用已有的网络设施和装备，以保证建设项目的经济效益和社会效益，不断降低工程造价和维护费用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1"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选用成熟先进技术</a:t>
            </a:r>
            <a:r>
              <a:rPr kumimoji="1"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执行科技进步的方针，广泛采用适合我国国情的国内外成熟的先进技术。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满足对系统建设的总体要求。</a:t>
            </a:r>
            <a:r>
              <a:rPr kumimoji="1"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工程设计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应考虑到系统容量、业务流量、投资额度、经济效益发展，具有保证系统正常工作的其他配套设施和结构合理，施工、安装、维护方便等相关因素，以满足对系统建设的总体要求。 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33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rPr>
              <a:t>通信工程设计的四项主要内容</a:t>
            </a:r>
            <a:endParaRPr lang="zh-CN" altLang="en-US" dirty="0">
              <a:solidFill>
                <a:schemeClr val="tx1"/>
              </a:solidFill>
              <a:latin typeface="Tahoma" panose="020B060403050404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8195" name="文本占位符 13314"/>
          <p:cNvSpPr>
            <a:spLocks noGrp="1"/>
          </p:cNvSpPr>
          <p:nvPr>
            <p:ph idx="1"/>
          </p:nvPr>
        </p:nvSpPr>
        <p:spPr>
          <a:xfrm>
            <a:off x="1403350" y="2060575"/>
            <a:ext cx="2662238" cy="3032125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可行性研究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初步设计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技术设计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施工图设计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316" name="文本框 13315"/>
          <p:cNvSpPr txBox="1"/>
          <p:nvPr/>
        </p:nvSpPr>
        <p:spPr>
          <a:xfrm>
            <a:off x="3563938" y="2060575"/>
            <a:ext cx="3048000" cy="2443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ahoma" panose="020B0604030504040204" pitchFamily="34" charset="0"/>
                <a:ea typeface="楷体_GB2312" panose="02010609030101010101" pitchFamily="49" charset="-122"/>
              </a:rPr>
              <a:t>——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立项依据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ahoma" panose="020B0604030504040204" pitchFamily="34" charset="0"/>
                <a:ea typeface="楷体_GB2312" panose="02010609030101010101" pitchFamily="49" charset="-122"/>
              </a:rPr>
              <a:t>——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建设方案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ahoma" panose="020B0604030504040204" pitchFamily="34" charset="0"/>
                <a:ea typeface="楷体_GB2312" panose="02010609030101010101" pitchFamily="49" charset="-122"/>
              </a:rPr>
              <a:t>——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招标依据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ahoma" panose="020B0604030504040204" pitchFamily="34" charset="0"/>
                <a:ea typeface="楷体_GB2312" panose="02010609030101010101" pitchFamily="49" charset="-122"/>
              </a:rPr>
              <a:t>——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施工依据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433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solidFill>
                  <a:schemeClr val="tx1"/>
                </a:solidFill>
                <a:ea typeface="楷体_GB2312" panose="02010609030101010101" pitchFamily="49" charset="-122"/>
              </a:rPr>
              <a:t>通信工程设计的阶段划分</a:t>
            </a:r>
            <a:endParaRPr lang="zh-CN" altLang="en-US" sz="3200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  <p:sp>
        <p:nvSpPr>
          <p:cNvPr id="9219" name="文本占位符 14338"/>
          <p:cNvSpPr>
            <a:spLocks noGrp="1"/>
          </p:cNvSpPr>
          <p:nvPr>
            <p:ph idx="1"/>
          </p:nvPr>
        </p:nvSpPr>
        <p:spPr>
          <a:xfrm>
            <a:off x="685800" y="1981200"/>
            <a:ext cx="8134350" cy="411480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一阶段设计（初步设计＋施工图设计）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二阶段设计（初步设计、施工图设计）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三阶段设计（初步设计、技术设计、施工图设计）</a:t>
            </a:r>
            <a:endParaRPr lang="zh-CN" altLang="en-US" sz="2800" dirty="0"/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4337"/>
          <p:cNvSpPr>
            <a:spLocks noGrp="1"/>
          </p:cNvSpPr>
          <p:nvPr>
            <p:ph type="title"/>
          </p:nvPr>
        </p:nvSpPr>
        <p:spPr>
          <a:xfrm>
            <a:off x="467678" y="332740"/>
            <a:ext cx="7921625" cy="5762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sym typeface="+mn-ea"/>
              </a:rPr>
              <a:t>通信工程设计各阶段的要求</a:t>
            </a:r>
            <a:endParaRPr lang="zh-CN" altLang="en-US" sz="3200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  <p:sp>
        <p:nvSpPr>
          <p:cNvPr id="30723" name="Rectangle 3" descr="Rectangle: Click to edit Master text styles&#13;&#10;Second level&#13;&#10;Third level&#13;&#10;Fourth level&#13;&#10;Fifth level"/>
          <p:cNvSpPr>
            <a:spLocks noGrp="1"/>
          </p:cNvSpPr>
          <p:nvPr>
            <p:ph type="body" idx="4294967295"/>
          </p:nvPr>
        </p:nvSpPr>
        <p:spPr>
          <a:xfrm>
            <a:off x="107315" y="980440"/>
            <a:ext cx="8894445" cy="5492750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00CC"/>
                </a:solidFill>
              </a:rPr>
              <a:t>初步设计要求</a:t>
            </a:r>
            <a:endParaRPr lang="zh-CN" altLang="en-US" sz="2800" b="1" dirty="0">
              <a:solidFill>
                <a:srgbClr val="0000CC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应根据批准的可行性研究报告或设计任务书，以及有关的设计标准、规范，并通过现场勘察工作取得可靠的设计基础资料后进行编制。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论述主要设计方案，提出设备选型，采取的重大技术措施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对技术指标与经济指标进行分析、研究，进行方案比选并推荐采用的方案，进行工程投资概算。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是工程项目技术上的总体规划，以及进行施工准备和确定投资额的主要依据。</a:t>
            </a:r>
            <a:endParaRPr lang="zh-CN" altLang="en-US" sz="2400" dirty="0"/>
          </a:p>
          <a:p>
            <a:pPr algn="l"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00CC"/>
                </a:solidFill>
              </a:rPr>
              <a:t>技术设计要求</a:t>
            </a:r>
            <a:endParaRPr lang="zh-CN" altLang="en-US" sz="2800" b="1" dirty="0">
              <a:solidFill>
                <a:srgbClr val="0000CC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对有特殊要求的工程项目进行技术设计。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对主要设计方案进行进一步的论述。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采取的重大技术措施的详述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不进行工程投资计算。</a:t>
            </a:r>
            <a:endParaRPr lang="zh-CN" altLang="en-US" sz="2400" dirty="0"/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4337"/>
          <p:cNvSpPr>
            <a:spLocks noGrp="1"/>
          </p:cNvSpPr>
          <p:nvPr>
            <p:ph type="title"/>
          </p:nvPr>
        </p:nvSpPr>
        <p:spPr>
          <a:xfrm>
            <a:off x="467678" y="332740"/>
            <a:ext cx="7921625" cy="5762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sym typeface="+mn-ea"/>
              </a:rPr>
              <a:t>通信工程设计各阶段的要求</a:t>
            </a:r>
            <a:endParaRPr lang="zh-CN" altLang="en-US" sz="3200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  <p:sp>
        <p:nvSpPr>
          <p:cNvPr id="31747" name="Rectangle 3" descr="Rectangle: Click to edit Master text styles&#13;&#10;Second level&#13;&#10;Third level&#13;&#10;Fourth level&#13;&#10;Fifth level"/>
          <p:cNvSpPr>
            <a:spLocks noGrp="1"/>
          </p:cNvSpPr>
          <p:nvPr>
            <p:ph type="body" idx="4294967295"/>
          </p:nvPr>
        </p:nvSpPr>
        <p:spPr>
          <a:xfrm>
            <a:off x="35560" y="909320"/>
            <a:ext cx="8899525" cy="56927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00CC"/>
                </a:solidFill>
              </a:rPr>
              <a:t>施工图设计要求</a:t>
            </a:r>
            <a:endParaRPr lang="zh-CN" altLang="en-US" sz="2800" b="1" dirty="0">
              <a:solidFill>
                <a:srgbClr val="0000CC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施工图设计应根据批准的初步设计编制。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施工图设计提出施工技术要求及图纸，并应达到能指导设备安装，电（光）缆敷设及建筑物施工的需要。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提出新旧系统交替时的割接方案。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编制工程预算。</a:t>
            </a:r>
            <a:endParaRPr lang="zh-CN" altLang="en-US" sz="2400" dirty="0"/>
          </a:p>
          <a:p>
            <a:pPr algn="l"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00CC"/>
                </a:solidFill>
              </a:rPr>
              <a:t>一阶段设计要求</a:t>
            </a:r>
            <a:endParaRPr lang="zh-CN" altLang="en-US" sz="2800" b="1" dirty="0">
              <a:solidFill>
                <a:srgbClr val="0000CC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根据批准的可行性研究报告或设计任务书，以及有关的设计标准、规范，并通过现场勘察工作取得可靠的设计基础资料后进行编制。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论述主要设计方案，提出设备选型，采取的重大技术措施。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对技术指标与经济指标进行分析、研究，进行方案比选。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提出施工技术要求及图纸，并应达到能指导设备安装，电（光）缆敷设及建筑物施工的需要。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提出新旧系统交替时的割接方案。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编制工程预算。</a:t>
            </a:r>
            <a:endParaRPr lang="zh-CN" altLang="en-US" sz="2400" dirty="0"/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7953" y="1176620"/>
            <a:ext cx="6032681" cy="94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14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通信系统与通信网</a:t>
            </a:r>
            <a:endParaRPr kumimoji="1" lang="zh-CN" altLang="en-US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20000"/>
              </a:lnSpc>
              <a:spcBef>
                <a:spcPct val="20000"/>
              </a:spcBef>
            </a:pPr>
            <a:endParaRPr kumimoji="1" lang="en-US" altLang="zh-CN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00606" y="1632173"/>
            <a:ext cx="8150537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7953" y="1660706"/>
            <a:ext cx="8648396" cy="1160780"/>
          </a:xfrm>
          <a:prstGeom prst="rect">
            <a:avLst/>
          </a:prstGeom>
          <a:noFill/>
        </p:spPr>
        <p:txBody>
          <a:bodyPr wrap="square" lIns="85788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r>
              <a:rPr kumimoji="1" lang="zh-CN" altLang="en-US" sz="178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通信系统基本概念</a:t>
            </a:r>
            <a:endParaRPr kumimoji="1" lang="en-US" altLang="zh-CN" sz="178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</a:pPr>
            <a:r>
              <a:rPr kumimoji="1" lang="zh-CN" altLang="en-US" sz="143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所谓</a:t>
            </a:r>
            <a:r>
              <a:rPr kumimoji="1" lang="zh-CN" altLang="en-US" sz="14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通信系统就是用电信号（或光信号）将信息从一地传递到另一地的系统，也叫电信系统，最简单的通信系统一般由</a:t>
            </a:r>
            <a:r>
              <a:rPr kumimoji="1" lang="zh-CN" altLang="en-US" sz="143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信息源、发送设备、传输信道、噪声源、接收设备和信宿</a:t>
            </a:r>
            <a:r>
              <a:rPr kumimoji="1" lang="zh-CN" altLang="en-US" sz="14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六部分组成。</a:t>
            </a:r>
            <a:endParaRPr kumimoji="1" lang="zh-CN" altLang="en-US" sz="14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800" y="2948685"/>
            <a:ext cx="5324525" cy="247703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0008" y="116805"/>
            <a:ext cx="6032681" cy="94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14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通信系统与通信网</a:t>
            </a:r>
            <a:endParaRPr kumimoji="1" lang="zh-CN" altLang="en-US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20000"/>
              </a:lnSpc>
              <a:spcBef>
                <a:spcPct val="20000"/>
              </a:spcBef>
            </a:pPr>
            <a:endParaRPr kumimoji="1" lang="en-US" altLang="zh-CN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00606" y="837153"/>
            <a:ext cx="8150537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1460" y="1124585"/>
            <a:ext cx="8648700" cy="5432425"/>
          </a:xfrm>
          <a:prstGeom prst="rect">
            <a:avLst/>
          </a:prstGeom>
          <a:noFill/>
        </p:spPr>
        <p:txBody>
          <a:bodyPr wrap="square" lIns="85788" rtlCol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r>
              <a:rPr kumimoji="1"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通信网的组成</a:t>
            </a:r>
            <a:endParaRPr kumimoji="1"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一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个完整的通信网主要由</a:t>
            </a:r>
            <a:r>
              <a:rPr kumimoji="1"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1"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两部分组成。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通信网的硬件一般由</a:t>
            </a:r>
            <a:r>
              <a:rPr kumimoji="1"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终端设备、传输设备、通信线路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1"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交换设备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组成，它们构成了通信网的物理实体。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通信网的</a:t>
            </a:r>
            <a:r>
              <a:rPr kumimoji="1"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</a:t>
            </a:r>
            <a:endParaRPr kumimoji="1"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按业务种类分：电话网、电报网、数据网、传真网、广播电视传输</a:t>
            </a: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网等；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按服务对象分：公用通信网和专用通信网；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按传输的信号形式分：模拟通信网、数字通信网；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按服务范围分：国际网、国内长途网、本地网等；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按主要传输介质分：电缆通信网、光缆通信网、卫星通信网、无线通信网、光纤网等；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按网络拓扑结构分：星型网、环形网、树形网、总线型网等。</a:t>
            </a:r>
            <a:endParaRPr kumimoji="1"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endParaRPr kumimoji="1"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</a:pPr>
            <a:endParaRPr kumimoji="1"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1071563" y="571500"/>
            <a:ext cx="7000875" cy="576263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基站工程建设内容</a:t>
            </a:r>
            <a:endParaRPr lang="zh-CN" altLang="en-US" dirty="0">
              <a:solidFill>
                <a:srgbClr val="FF66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图示 4"/>
          <p:cNvGraphicFramePr/>
          <p:nvPr/>
        </p:nvGraphicFramePr>
        <p:xfrm>
          <a:off x="1000100" y="1397000"/>
          <a:ext cx="7429552" cy="4389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0963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Acrobat Document" r:id="rId1" imgW="8020050" imgH="5667375" progId="AcroExch.Document.DC">
                  <p:embed/>
                </p:oleObj>
              </mc:Choice>
              <mc:Fallback>
                <p:oleObj name="Acrobat Document" r:id="rId1" imgW="8020050" imgH="5667375" progId="AcroExch.Document.DC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096375" cy="685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sh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0"/>
          <p:cNvSpPr>
            <a:spLocks noGrp="1"/>
          </p:cNvSpPr>
          <p:nvPr>
            <p:ph type="title"/>
          </p:nvPr>
        </p:nvSpPr>
        <p:spPr>
          <a:xfrm>
            <a:off x="557213" y="857250"/>
            <a:ext cx="8229600" cy="642938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天馈系统</a:t>
            </a:r>
            <a:endParaRPr lang="zh-CN" altLang="en-US" dirty="0"/>
          </a:p>
        </p:txBody>
      </p:sp>
      <p:pic>
        <p:nvPicPr>
          <p:cNvPr id="10243" name="Picture 2" descr="C:\Users\huizhi\Desktop\电信工程短训PPT\通信基础设备图片\图片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500188"/>
            <a:ext cx="8253413" cy="5192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8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071563" y="639763"/>
          <a:ext cx="7715250" cy="59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0502900" imgH="8369300" progId="Visio.Drawing.11">
                  <p:embed/>
                </p:oleObj>
              </mc:Choice>
              <mc:Fallback>
                <p:oleObj name="" r:id="rId1" imgW="10502900" imgH="83693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1563" y="639763"/>
                        <a:ext cx="7715250" cy="5932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1071563" y="571500"/>
            <a:ext cx="4143375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基站工程项目类型</a:t>
            </a:r>
            <a:endParaRPr lang="zh-CN" altLang="en-US" dirty="0">
              <a:solidFill>
                <a:srgbClr val="FF66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图示 4"/>
          <p:cNvGraphicFramePr/>
          <p:nvPr/>
        </p:nvGraphicFramePr>
        <p:xfrm>
          <a:off x="1524000" y="172245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图示 4"/>
          <p:cNvGraphicFramePr/>
          <p:nvPr/>
        </p:nvGraphicFramePr>
        <p:xfrm>
          <a:off x="857224" y="1357298"/>
          <a:ext cx="7191404" cy="4889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2291" name="TextBox 5"/>
          <p:cNvSpPr txBox="1"/>
          <p:nvPr/>
        </p:nvSpPr>
        <p:spPr>
          <a:xfrm>
            <a:off x="2000250" y="571500"/>
            <a:ext cx="21431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新建局</a:t>
            </a:r>
            <a:endParaRPr lang="zh-CN" altLang="en-US" sz="3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292" name="TextBox 6"/>
          <p:cNvSpPr txBox="1"/>
          <p:nvPr/>
        </p:nvSpPr>
        <p:spPr>
          <a:xfrm>
            <a:off x="5000625" y="571500"/>
            <a:ext cx="21431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扩容局</a:t>
            </a:r>
            <a:endParaRPr lang="zh-CN" altLang="en-US" sz="3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AutoShape 12"/>
          <p:cNvSpPr/>
          <p:nvPr/>
        </p:nvSpPr>
        <p:spPr>
          <a:xfrm>
            <a:off x="1371600" y="2062163"/>
            <a:ext cx="1249363" cy="3810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EDBF7"/>
          </a:solidFill>
          <a:ln w="63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5" name="Rectangle 13"/>
          <p:cNvSpPr/>
          <p:nvPr/>
        </p:nvSpPr>
        <p:spPr>
          <a:xfrm>
            <a:off x="1143000" y="2138363"/>
            <a:ext cx="155575" cy="3429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13316" name="Rectangle 14"/>
          <p:cNvSpPr/>
          <p:nvPr/>
        </p:nvSpPr>
        <p:spPr>
          <a:xfrm>
            <a:off x="2590800" y="2062163"/>
            <a:ext cx="39100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latin typeface="Arial" panose="020B0604020202020204" pitchFamily="34" charset="0"/>
                <a:ea typeface="华文细黑" panose="02010600040101010101" pitchFamily="2" charset="-122"/>
              </a:rPr>
              <a:t>多种配套建设需同时进行</a:t>
            </a:r>
            <a:endParaRPr lang="zh-CN" altLang="en-US" sz="2400" b="1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3317" name="AutoShape 15"/>
          <p:cNvSpPr/>
          <p:nvPr/>
        </p:nvSpPr>
        <p:spPr>
          <a:xfrm>
            <a:off x="1371600" y="2824163"/>
            <a:ext cx="1249363" cy="3810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EDBF7"/>
          </a:solidFill>
          <a:ln w="63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8" name="Rectangle 16"/>
          <p:cNvSpPr/>
          <p:nvPr/>
        </p:nvSpPr>
        <p:spPr>
          <a:xfrm>
            <a:off x="2667000" y="2838450"/>
            <a:ext cx="32432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latin typeface="Arial" panose="020B0604020202020204" pitchFamily="34" charset="0"/>
                <a:ea typeface="华文细黑" panose="02010600040101010101" pitchFamily="2" charset="-122"/>
              </a:rPr>
              <a:t>设备先进，技术密集</a:t>
            </a:r>
            <a:endParaRPr lang="zh-CN" altLang="en-US" sz="2400" b="1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3319" name="AutoShape 17"/>
          <p:cNvSpPr/>
          <p:nvPr/>
        </p:nvSpPr>
        <p:spPr>
          <a:xfrm>
            <a:off x="1371600" y="3662363"/>
            <a:ext cx="1249363" cy="3810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EDBF7"/>
          </a:solidFill>
          <a:ln w="63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20" name="Rectangle 18"/>
          <p:cNvSpPr/>
          <p:nvPr/>
        </p:nvSpPr>
        <p:spPr>
          <a:xfrm>
            <a:off x="2643188" y="3681413"/>
            <a:ext cx="521493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华文细黑" panose="02010600040101010101" pitchFamily="2" charset="-122"/>
              </a:rPr>
              <a:t>通讯站点建设需要附属设施的可靠性</a:t>
            </a:r>
            <a:endParaRPr lang="zh-CN" altLang="en-US" sz="2400" b="1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3321" name="AutoShape 19"/>
          <p:cNvSpPr/>
          <p:nvPr/>
        </p:nvSpPr>
        <p:spPr>
          <a:xfrm>
            <a:off x="1371600" y="4500563"/>
            <a:ext cx="1249363" cy="3810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EDBF7"/>
          </a:solidFill>
          <a:ln w="63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22" name="Rectangle 20"/>
          <p:cNvSpPr/>
          <p:nvPr/>
        </p:nvSpPr>
        <p:spPr>
          <a:xfrm>
            <a:off x="2514600" y="4500563"/>
            <a:ext cx="24780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  <a:ea typeface="华文细黑" panose="02010600040101010101" pitchFamily="2" charset="-122"/>
              </a:rPr>
              <a:t>防雷与防磁电</a:t>
            </a:r>
            <a:endParaRPr lang="zh-CN" altLang="en-US" sz="2400" b="1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3323" name="AutoShape 21"/>
          <p:cNvSpPr/>
          <p:nvPr/>
        </p:nvSpPr>
        <p:spPr>
          <a:xfrm>
            <a:off x="1371600" y="5262563"/>
            <a:ext cx="1249363" cy="3810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EDBF7"/>
          </a:solidFill>
          <a:ln w="63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24" name="Rectangle 22"/>
          <p:cNvSpPr/>
          <p:nvPr/>
        </p:nvSpPr>
        <p:spPr>
          <a:xfrm>
            <a:off x="2667000" y="5262563"/>
            <a:ext cx="29098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latin typeface="Arial" panose="020B0604020202020204" pitchFamily="34" charset="0"/>
                <a:ea typeface="华文细黑" panose="02010600040101010101" pitchFamily="2" charset="-122"/>
              </a:rPr>
              <a:t>测试手段复杂</a:t>
            </a:r>
            <a:endParaRPr lang="zh-CN" altLang="en-US" sz="2400" b="1" dirty="0"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633413" y="1143000"/>
            <a:ext cx="4295775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0" cap="none" spc="0" normalizeH="0" baseline="0" noProof="0" dirty="0">
                <a:solidFill>
                  <a:srgbClr val="FF6600"/>
                </a:solidFill>
                <a:latin typeface="+mn-lt"/>
                <a:ea typeface="华文细黑" panose="02010600040101010101" pitchFamily="2" charset="-122"/>
                <a:cs typeface="+mn-cs"/>
              </a:rPr>
              <a:t>电信工程建设的基本特点</a:t>
            </a:r>
            <a:endParaRPr kumimoji="0" lang="zh-CN" altLang="en-US" sz="2800" b="1" kern="0" cap="none" spc="0" normalizeH="0" baseline="0" noProof="0" dirty="0">
              <a:solidFill>
                <a:srgbClr val="FF6600"/>
              </a:solidFill>
              <a:latin typeface="+mn-lt"/>
              <a:ea typeface="华文细黑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Picture 11" descr="C:\Users\yxh\Documents\Tencent Files\923051120\Image\OF4GTY{J@0A9FQLKEH~A63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285875"/>
            <a:ext cx="195580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9" name="Picture 13" descr="C:\Users\yxh\AppData\Local\Temp\[Y@]567%CMPXIS_5UXPMIZ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1285875"/>
            <a:ext cx="1246188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Picture 15" descr="C:\Users\yxh\AppData\Local\Temp\F`LR3@}LDHDX`)T`3FHI)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1285875"/>
            <a:ext cx="171450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214438"/>
            <a:ext cx="928688" cy="2143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38" y="1214438"/>
            <a:ext cx="831850" cy="2143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3" name="TextBox 14"/>
          <p:cNvSpPr txBox="1"/>
          <p:nvPr/>
        </p:nvSpPr>
        <p:spPr>
          <a:xfrm>
            <a:off x="1571625" y="3071813"/>
            <a:ext cx="7858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DDF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4344" name="TextBox 15"/>
          <p:cNvSpPr txBox="1"/>
          <p:nvPr/>
        </p:nvSpPr>
        <p:spPr>
          <a:xfrm>
            <a:off x="3429000" y="3071813"/>
            <a:ext cx="7858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Arial" panose="020B0604020202020204" pitchFamily="34" charset="0"/>
              </a:rPr>
              <a:t>电源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4345" name="TextBox 16"/>
          <p:cNvSpPr txBox="1"/>
          <p:nvPr/>
        </p:nvSpPr>
        <p:spPr>
          <a:xfrm>
            <a:off x="4714875" y="3071813"/>
            <a:ext cx="12858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Arial" panose="020B0604020202020204" pitchFamily="34" charset="0"/>
              </a:rPr>
              <a:t>交换设备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4346" name="TextBox 13"/>
          <p:cNvSpPr txBox="1"/>
          <p:nvPr/>
        </p:nvSpPr>
        <p:spPr>
          <a:xfrm>
            <a:off x="1000125" y="500063"/>
            <a:ext cx="7643813" cy="500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多种工程建设需同时进行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7" name="矩形 11"/>
          <p:cNvSpPr/>
          <p:nvPr/>
        </p:nvSpPr>
        <p:spPr>
          <a:xfrm>
            <a:off x="1000125" y="3500438"/>
            <a:ext cx="2236788" cy="5000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测试手段专业复杂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348" name="Picture 6" descr="C:\Users\yxh\AppData\Local\Temp\_KPOE29U1NL72VX4B3`BAV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" y="4286250"/>
            <a:ext cx="1143000" cy="1643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9" name="Picture 8" descr="C:\Users\yxh\AppData\Local\Temp\7E~J5UI78Y29CK{QW3`7PJ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4688" y="4214813"/>
            <a:ext cx="2000250" cy="180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50" name="TextBox 7"/>
          <p:cNvSpPr txBox="1"/>
          <p:nvPr/>
        </p:nvSpPr>
        <p:spPr>
          <a:xfrm>
            <a:off x="1071563" y="6046788"/>
            <a:ext cx="12858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误码仪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51" name="TextBox 8"/>
          <p:cNvSpPr txBox="1"/>
          <p:nvPr/>
        </p:nvSpPr>
        <p:spPr>
          <a:xfrm>
            <a:off x="3571875" y="6059488"/>
            <a:ext cx="14287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光功率计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352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875" y="4286250"/>
            <a:ext cx="2362200" cy="1725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53" name="TextBox 11"/>
          <p:cNvSpPr txBox="1"/>
          <p:nvPr/>
        </p:nvSpPr>
        <p:spPr>
          <a:xfrm>
            <a:off x="6643688" y="5975350"/>
            <a:ext cx="142875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路测软件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文本占位符 9220"/>
          <p:cNvSpPr>
            <a:spLocks noGrp="1"/>
          </p:cNvSpPr>
          <p:nvPr>
            <p:ph idx="1"/>
          </p:nvPr>
        </p:nvSpPr>
        <p:spPr>
          <a:xfrm>
            <a:off x="187960" y="1700530"/>
            <a:ext cx="8646795" cy="4608195"/>
          </a:xfrm>
        </p:spPr>
        <p:txBody>
          <a:bodyPr vert="horz" wrap="square" lIns="91440" tIns="45720" rIns="91440" bIns="45720" anchor="t" anchorCtr="0"/>
          <a:p>
            <a:pPr marL="711200" indent="-711200" eaLnBrk="1" hangingPunct="1">
              <a:spcBef>
                <a:spcPct val="0"/>
              </a:spcBef>
              <a:buNone/>
            </a:pPr>
            <a:r>
              <a:rPr lang="en-US" altLang="zh-CN" sz="3600" dirty="0">
                <a:ea typeface="楷体_GB2312" panose="02010609030101010101" pitchFamily="49" charset="-122"/>
              </a:rPr>
              <a:t>1.1  </a:t>
            </a:r>
            <a:r>
              <a:rPr lang="zh-CN" altLang="en-US" sz="3600" dirty="0">
                <a:ea typeface="楷体_GB2312" panose="02010609030101010101" pitchFamily="49" charset="-122"/>
              </a:rPr>
              <a:t>通信</a:t>
            </a:r>
            <a:r>
              <a:rPr lang="zh-CN" altLang="en-US" sz="3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工程设计的重要性</a:t>
            </a:r>
            <a:endParaRPr lang="zh-CN" altLang="en-US" sz="3600" dirty="0">
              <a:ea typeface="楷体_GB2312" panose="02010609030101010101" pitchFamily="49" charset="-122"/>
            </a:endParaRPr>
          </a:p>
          <a:p>
            <a:pPr marL="711200" indent="-71120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通信工程设计是通信系统建设的蓝图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711200" indent="-71120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通信工程设计是建设单位拨款和控制成本的依据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711200" indent="-71120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通信工程设计是通信工程验收的标准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711200" indent="-71120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通信工程设计是通信系统维护和扩容的重要资料</a:t>
            </a:r>
            <a:endParaRPr lang="zh-CN" altLang="en-US" sz="2800" dirty="0"/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53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solidFill>
                  <a:srgbClr val="000000"/>
                </a:solidFill>
                <a:ea typeface="楷体_GB2312" panose="02010609030101010101" pitchFamily="49" charset="-122"/>
              </a:rPr>
              <a:t>1.3  </a:t>
            </a:r>
            <a:r>
              <a:rPr lang="zh-CN" altLang="en-US" sz="3600" dirty="0">
                <a:solidFill>
                  <a:srgbClr val="000000"/>
                </a:solidFill>
                <a:ea typeface="楷体_GB2312" panose="02010609030101010101" pitchFamily="49" charset="-122"/>
              </a:rPr>
              <a:t>专业分工</a:t>
            </a:r>
            <a:endParaRPr lang="zh-CN" altLang="en-US" sz="3600" dirty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17411" name="文本占位符 1536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en-US" sz="3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交换专业</a:t>
            </a:r>
            <a:endParaRPr lang="zh-CN" altLang="en-US" sz="32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en-US" sz="3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无线专业</a:t>
            </a:r>
            <a:endParaRPr lang="zh-CN" altLang="en-US" sz="32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en-US" sz="3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传输专业</a:t>
            </a:r>
            <a:endParaRPr lang="zh-CN" altLang="en-US" sz="32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en-US" sz="3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卫星通信专业</a:t>
            </a:r>
            <a:endParaRPr lang="zh-CN" altLang="en-US" sz="32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en-US" sz="32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电源及配套专业</a:t>
            </a:r>
            <a:endParaRPr lang="zh-CN" altLang="en-US" sz="32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占位符 16386"/>
          <p:cNvSpPr>
            <a:spLocks noGrp="1"/>
          </p:cNvSpPr>
          <p:nvPr>
            <p:ph idx="1"/>
          </p:nvPr>
        </p:nvSpPr>
        <p:spPr>
          <a:xfrm>
            <a:off x="500063" y="571500"/>
            <a:ext cx="7772400" cy="5475288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80000"/>
              </a:lnSpc>
            </a:pPr>
            <a:r>
              <a:rPr lang="zh-CN" altLang="en-US" sz="2800" dirty="0">
                <a:ea typeface="楷体_GB2312" panose="02010609030101010101" pitchFamily="49" charset="-122"/>
              </a:rPr>
              <a:t>交换专业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网络设计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交换设备安装设计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dirty="0">
                <a:latin typeface="Tahoma" panose="020B0604030504040204" pitchFamily="34" charset="0"/>
                <a:ea typeface="楷体_GB2312" panose="02010609030101010101" pitchFamily="49" charset="-122"/>
              </a:rPr>
              <a:t>无线专业</a:t>
            </a:r>
            <a:endParaRPr lang="zh-CN" altLang="en-US" sz="2800" dirty="0">
              <a:latin typeface="Tahoma" panose="020B0604030504040204" pitchFamily="34" charset="0"/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短波通信线路工程设计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超短波通信线路工程设计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无线局域网工程设计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</a:t>
            </a:r>
            <a:r>
              <a:rPr lang="en-US" altLang="zh-CN" dirty="0">
                <a:ea typeface="楷体_GB2312" panose="02010609030101010101" pitchFamily="49" charset="-122"/>
              </a:rPr>
              <a:t>GSM</a:t>
            </a:r>
            <a:r>
              <a:rPr lang="zh-CN" altLang="en-US" dirty="0">
                <a:ea typeface="楷体_GB2312" panose="02010609030101010101" pitchFamily="49" charset="-122"/>
              </a:rPr>
              <a:t>移动通信设备安装工程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</a:t>
            </a:r>
            <a:r>
              <a:rPr lang="en-US" altLang="zh-CN" dirty="0">
                <a:ea typeface="楷体_GB2312" panose="02010609030101010101" pitchFamily="49" charset="-122"/>
              </a:rPr>
              <a:t>CDMA</a:t>
            </a:r>
            <a:r>
              <a:rPr lang="zh-CN" altLang="en-US" dirty="0">
                <a:ea typeface="楷体_GB2312" panose="02010609030101010101" pitchFamily="49" charset="-122"/>
              </a:rPr>
              <a:t>移动通信设备安装工程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  集群通信系统组网及设备安装工程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文本占位符 17410"/>
          <p:cNvSpPr>
            <a:spLocks noGrp="1"/>
          </p:cNvSpPr>
          <p:nvPr>
            <p:ph idx="1"/>
          </p:nvPr>
        </p:nvSpPr>
        <p:spPr>
          <a:xfrm>
            <a:off x="571500" y="785813"/>
            <a:ext cx="7772400" cy="5475287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90000"/>
              </a:lnSpc>
            </a:pPr>
            <a:r>
              <a:rPr lang="zh-CN" altLang="en-US" sz="2800" dirty="0">
                <a:ea typeface="楷体_GB2312" panose="02010609030101010101" pitchFamily="49" charset="-122"/>
              </a:rPr>
              <a:t>传输专业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通信光缆线路设计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光传输设备安装设计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微波传输设备安装设计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ea typeface="楷体_GB2312" panose="02010609030101010101" pitchFamily="49" charset="-122"/>
              </a:rPr>
              <a:t>3.5G</a:t>
            </a:r>
            <a:r>
              <a:rPr lang="zh-CN" altLang="en-US" dirty="0">
                <a:ea typeface="楷体_GB2312" panose="02010609030101010101" pitchFamily="49" charset="-122"/>
              </a:rPr>
              <a:t>无线接入设备安装设计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800" dirty="0">
                <a:latin typeface="Tahoma" panose="020B0604030504040204" pitchFamily="34" charset="0"/>
                <a:ea typeface="楷体_GB2312" panose="02010609030101010101" pitchFamily="49" charset="-122"/>
              </a:rPr>
              <a:t>卫星通信专业</a:t>
            </a:r>
            <a:endParaRPr lang="zh-CN" altLang="en-US" sz="2800" dirty="0">
              <a:latin typeface="Tahoma" panose="020B0604030504040204" pitchFamily="34" charset="0"/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卫星干线网系统设计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卫星支线网系统设计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卫星专线网系统设计</a:t>
            </a:r>
            <a:endParaRPr lang="zh-CN" altLang="en-US" dirty="0">
              <a:solidFill>
                <a:srgbClr val="FF1B46"/>
              </a:solidFill>
              <a:latin typeface="Tahoma" panose="020B0604030504040204" pitchFamily="34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文本占位符 184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/>
            <a:r>
              <a:rPr lang="zh-CN" altLang="en-US" sz="2800" dirty="0">
                <a:latin typeface="Tahoma" panose="020B0604030504040204" pitchFamily="34" charset="0"/>
                <a:ea typeface="楷体_GB2312" panose="02010609030101010101" pitchFamily="49" charset="-122"/>
              </a:rPr>
              <a:t>电源及配套专业</a:t>
            </a:r>
            <a:endParaRPr lang="zh-CN" altLang="en-US" sz="2800" dirty="0">
              <a:latin typeface="Tahoma" panose="020B0604030504040204" pitchFamily="34" charset="0"/>
              <a:ea typeface="楷体_GB2312" panose="02010609030101010101" pitchFamily="49" charset="-122"/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电源设备安装工程设计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防雷及接地安装工程设计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铁塔安装工程设计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dirty="0">
                <a:ea typeface="楷体_GB2312" panose="02010609030101010101" pitchFamily="49" charset="-122"/>
              </a:rPr>
              <a:t>机房建设及改造工程设计</a:t>
            </a:r>
            <a:endParaRPr lang="zh-CN" altLang="en-US" dirty="0">
              <a:latin typeface="Tahoma" panose="020B0604030504040204" pitchFamily="34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204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>
                <a:solidFill>
                  <a:srgbClr val="000000"/>
                </a:solidFill>
                <a:ea typeface="楷体_GB2312" panose="02010609030101010101" pitchFamily="49" charset="-122"/>
              </a:rPr>
              <a:t>1.4  </a:t>
            </a:r>
            <a:r>
              <a:rPr lang="zh-CN" altLang="en-US" sz="3200" dirty="0">
                <a:solidFill>
                  <a:srgbClr val="000000"/>
                </a:solidFill>
                <a:ea typeface="楷体_GB2312" panose="02010609030101010101" pitchFamily="49" charset="-122"/>
              </a:rPr>
              <a:t>工程设计人员应具备的素质</a:t>
            </a:r>
            <a:endParaRPr lang="zh-CN" altLang="en-US" sz="3200" dirty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22531" name="文本占位符 2048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812800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ea typeface="楷体_GB2312" panose="02010609030101010101" pitchFamily="49" charset="-122"/>
              </a:rPr>
              <a:t>要求通信建设工程设计人员为建设单位、维护单位把好</a:t>
            </a:r>
            <a:r>
              <a:rPr lang="en-US" altLang="zh-CN" sz="2800" dirty="0">
                <a:ea typeface="楷体_GB2312" panose="02010609030101010101" pitchFamily="49" charset="-122"/>
              </a:rPr>
              <a:t>4</a:t>
            </a:r>
            <a:r>
              <a:rPr lang="zh-CN" altLang="en-US" sz="2800" dirty="0">
                <a:ea typeface="楷体_GB2312" panose="02010609030101010101" pitchFamily="49" charset="-122"/>
              </a:rPr>
              <a:t>关：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812800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网络技术关；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812800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工程质量关；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812800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投资经济关；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812800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设备（线路）维护关。</a:t>
            </a:r>
            <a:endParaRPr lang="zh-CN" altLang="en-US" sz="2800" dirty="0"/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文本占位符 2150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精通本专业知识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熟悉设备特性和通信网组织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了解与本专业相关联专业的关系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掌握工程设计的基本程序、设计步骤及分工、熟悉通信机房的组织</a:t>
            </a:r>
            <a:endParaRPr lang="zh-CN" altLang="en-US" sz="2800" dirty="0">
              <a:ea typeface="楷体_GB2312" panose="02010609030101010101" pitchFamily="49" charset="-122"/>
            </a:endParaRPr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不辞辛苦深入调查研究的精神和科学、严谨、规范、认真、负责、一丝不苟、精益求精的工作作风</a:t>
            </a:r>
            <a:endParaRPr lang="zh-CN" altLang="en-US" sz="2800" dirty="0"/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763" y="404460"/>
            <a:ext cx="6032681" cy="94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14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14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通信工程设计的工作流程</a:t>
            </a:r>
            <a:endParaRPr kumimoji="1" lang="zh-CN" altLang="en-US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20000"/>
              </a:lnSpc>
              <a:spcBef>
                <a:spcPct val="20000"/>
              </a:spcBef>
            </a:pPr>
            <a:endParaRPr kumimoji="1" lang="en-US" altLang="zh-CN" sz="214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00606" y="1176878"/>
            <a:ext cx="8150537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43227" y="3320807"/>
            <a:ext cx="1160834" cy="378610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1800">
                <a:latin typeface="Times New Roman" panose="02020603050405020304" pitchFamily="18" charset="0"/>
              </a:rPr>
              <a:t>工程设计</a:t>
            </a:r>
            <a:endParaRPr lang="zh-CN" altLang="en-US" sz="1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Freeform 5"/>
          <p:cNvSpPr/>
          <p:nvPr/>
        </p:nvSpPr>
        <p:spPr bwMode="auto">
          <a:xfrm>
            <a:off x="2412405" y="1701592"/>
            <a:ext cx="53577" cy="3509885"/>
          </a:xfrm>
          <a:custGeom>
            <a:avLst/>
            <a:gdLst>
              <a:gd name="T0" fmla="*/ 71438 w 523"/>
              <a:gd name="T1" fmla="*/ 0 h 3869"/>
              <a:gd name="T2" fmla="*/ 64199 w 523"/>
              <a:gd name="T3" fmla="*/ 10886 h 3869"/>
              <a:gd name="T4" fmla="*/ 60784 w 523"/>
              <a:gd name="T5" fmla="*/ 19354 h 3869"/>
              <a:gd name="T6" fmla="*/ 57369 w 523"/>
              <a:gd name="T7" fmla="*/ 32659 h 3869"/>
              <a:gd name="T8" fmla="*/ 54227 w 523"/>
              <a:gd name="T9" fmla="*/ 47174 h 3869"/>
              <a:gd name="T10" fmla="*/ 51359 w 523"/>
              <a:gd name="T11" fmla="*/ 66528 h 3869"/>
              <a:gd name="T12" fmla="*/ 48627 w 523"/>
              <a:gd name="T13" fmla="*/ 88301 h 3869"/>
              <a:gd name="T14" fmla="*/ 46032 w 523"/>
              <a:gd name="T15" fmla="*/ 116122 h 3869"/>
              <a:gd name="T16" fmla="*/ 43846 w 523"/>
              <a:gd name="T17" fmla="*/ 143943 h 3869"/>
              <a:gd name="T18" fmla="*/ 41661 w 523"/>
              <a:gd name="T19" fmla="*/ 171763 h 3869"/>
              <a:gd name="T20" fmla="*/ 40022 w 523"/>
              <a:gd name="T21" fmla="*/ 205632 h 3869"/>
              <a:gd name="T22" fmla="*/ 38519 w 523"/>
              <a:gd name="T23" fmla="*/ 241920 h 3869"/>
              <a:gd name="T24" fmla="*/ 37290 w 523"/>
              <a:gd name="T25" fmla="*/ 274580 h 3869"/>
              <a:gd name="T26" fmla="*/ 36334 w 523"/>
              <a:gd name="T27" fmla="*/ 310868 h 3869"/>
              <a:gd name="T28" fmla="*/ 35924 w 523"/>
              <a:gd name="T29" fmla="*/ 353204 h 3869"/>
              <a:gd name="T30" fmla="*/ 35651 w 523"/>
              <a:gd name="T31" fmla="*/ 389492 h 3869"/>
              <a:gd name="T32" fmla="*/ 35651 w 523"/>
              <a:gd name="T33" fmla="*/ 1949878 h 3869"/>
              <a:gd name="T34" fmla="*/ 35651 w 523"/>
              <a:gd name="T35" fmla="*/ 1992214 h 3869"/>
              <a:gd name="T36" fmla="*/ 35104 w 523"/>
              <a:gd name="T37" fmla="*/ 2028502 h 3869"/>
              <a:gd name="T38" fmla="*/ 34148 w 523"/>
              <a:gd name="T39" fmla="*/ 2067210 h 3869"/>
              <a:gd name="T40" fmla="*/ 32919 w 523"/>
              <a:gd name="T41" fmla="*/ 2103498 h 3869"/>
              <a:gd name="T42" fmla="*/ 31280 w 523"/>
              <a:gd name="T43" fmla="*/ 2136157 h 3869"/>
              <a:gd name="T44" fmla="*/ 29504 w 523"/>
              <a:gd name="T45" fmla="*/ 2167607 h 3869"/>
              <a:gd name="T46" fmla="*/ 27592 w 523"/>
              <a:gd name="T47" fmla="*/ 2195428 h 3869"/>
              <a:gd name="T48" fmla="*/ 25270 w 523"/>
              <a:gd name="T49" fmla="*/ 2223248 h 3869"/>
              <a:gd name="T50" fmla="*/ 22811 w 523"/>
              <a:gd name="T51" fmla="*/ 2251069 h 3869"/>
              <a:gd name="T52" fmla="*/ 20079 w 523"/>
              <a:gd name="T53" fmla="*/ 2275261 h 3869"/>
              <a:gd name="T54" fmla="*/ 16937 w 523"/>
              <a:gd name="T55" fmla="*/ 2294615 h 3869"/>
              <a:gd name="T56" fmla="*/ 13796 w 523"/>
              <a:gd name="T57" fmla="*/ 2306711 h 3869"/>
              <a:gd name="T58" fmla="*/ 10654 w 523"/>
              <a:gd name="T59" fmla="*/ 2322436 h 3869"/>
              <a:gd name="T60" fmla="*/ 7376 w 523"/>
              <a:gd name="T61" fmla="*/ 2330903 h 3869"/>
              <a:gd name="T62" fmla="*/ 0 w 523"/>
              <a:gd name="T63" fmla="*/ 2339370 h 3869"/>
              <a:gd name="T64" fmla="*/ 7376 w 523"/>
              <a:gd name="T65" fmla="*/ 2350257 h 3869"/>
              <a:gd name="T66" fmla="*/ 10654 w 523"/>
              <a:gd name="T67" fmla="*/ 2358724 h 3869"/>
              <a:gd name="T68" fmla="*/ 13796 w 523"/>
              <a:gd name="T69" fmla="*/ 2373239 h 3869"/>
              <a:gd name="T70" fmla="*/ 16937 w 523"/>
              <a:gd name="T71" fmla="*/ 2386545 h 3869"/>
              <a:gd name="T72" fmla="*/ 20079 w 523"/>
              <a:gd name="T73" fmla="*/ 2405898 h 3869"/>
              <a:gd name="T74" fmla="*/ 22811 w 523"/>
              <a:gd name="T75" fmla="*/ 2428881 h 3869"/>
              <a:gd name="T76" fmla="*/ 25270 w 523"/>
              <a:gd name="T77" fmla="*/ 2456702 h 3869"/>
              <a:gd name="T78" fmla="*/ 27592 w 523"/>
              <a:gd name="T79" fmla="*/ 2484522 h 3869"/>
              <a:gd name="T80" fmla="*/ 29504 w 523"/>
              <a:gd name="T81" fmla="*/ 2512343 h 3869"/>
              <a:gd name="T82" fmla="*/ 31280 w 523"/>
              <a:gd name="T83" fmla="*/ 2545003 h 3869"/>
              <a:gd name="T84" fmla="*/ 32919 w 523"/>
              <a:gd name="T85" fmla="*/ 2581291 h 3869"/>
              <a:gd name="T86" fmla="*/ 34148 w 523"/>
              <a:gd name="T87" fmla="*/ 2612740 h 3869"/>
              <a:gd name="T88" fmla="*/ 35104 w 523"/>
              <a:gd name="T89" fmla="*/ 2651448 h 3869"/>
              <a:gd name="T90" fmla="*/ 35651 w 523"/>
              <a:gd name="T91" fmla="*/ 2692574 h 3869"/>
              <a:gd name="T92" fmla="*/ 35651 w 523"/>
              <a:gd name="T93" fmla="*/ 2728862 h 3869"/>
              <a:gd name="T94" fmla="*/ 35651 w 523"/>
              <a:gd name="T95" fmla="*/ 4290458 h 3869"/>
              <a:gd name="T96" fmla="*/ 35924 w 523"/>
              <a:gd name="T97" fmla="*/ 4331585 h 3869"/>
              <a:gd name="T98" fmla="*/ 36334 w 523"/>
              <a:gd name="T99" fmla="*/ 4367873 h 3869"/>
              <a:gd name="T100" fmla="*/ 37290 w 523"/>
              <a:gd name="T101" fmla="*/ 4406580 h 3869"/>
              <a:gd name="T102" fmla="*/ 38519 w 523"/>
              <a:gd name="T103" fmla="*/ 4442868 h 3869"/>
              <a:gd name="T104" fmla="*/ 40022 w 523"/>
              <a:gd name="T105" fmla="*/ 4474318 h 3869"/>
              <a:gd name="T106" fmla="*/ 41661 w 523"/>
              <a:gd name="T107" fmla="*/ 4506977 h 3869"/>
              <a:gd name="T108" fmla="*/ 43846 w 523"/>
              <a:gd name="T109" fmla="*/ 4534798 h 3869"/>
              <a:gd name="T110" fmla="*/ 46032 w 523"/>
              <a:gd name="T111" fmla="*/ 4562619 h 3869"/>
              <a:gd name="T112" fmla="*/ 48627 w 523"/>
              <a:gd name="T113" fmla="*/ 4590439 h 3869"/>
              <a:gd name="T114" fmla="*/ 51359 w 523"/>
              <a:gd name="T115" fmla="*/ 4613422 h 3869"/>
              <a:gd name="T116" fmla="*/ 54227 w 523"/>
              <a:gd name="T117" fmla="*/ 4632776 h 3869"/>
              <a:gd name="T118" fmla="*/ 57369 w 523"/>
              <a:gd name="T119" fmla="*/ 4646081 h 3869"/>
              <a:gd name="T120" fmla="*/ 60784 w 523"/>
              <a:gd name="T121" fmla="*/ 4660596 h 3869"/>
              <a:gd name="T122" fmla="*/ 64199 w 523"/>
              <a:gd name="T123" fmla="*/ 4669064 h 3869"/>
              <a:gd name="T124" fmla="*/ 71438 w 523"/>
              <a:gd name="T125" fmla="*/ 4679950 h 3869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523" h="3869">
                <a:moveTo>
                  <a:pt x="523" y="0"/>
                </a:moveTo>
                <a:lnTo>
                  <a:pt x="470" y="9"/>
                </a:lnTo>
                <a:lnTo>
                  <a:pt x="445" y="16"/>
                </a:lnTo>
                <a:lnTo>
                  <a:pt x="420" y="27"/>
                </a:lnTo>
                <a:lnTo>
                  <a:pt x="397" y="39"/>
                </a:lnTo>
                <a:lnTo>
                  <a:pt x="376" y="55"/>
                </a:lnTo>
                <a:lnTo>
                  <a:pt x="356" y="73"/>
                </a:lnTo>
                <a:lnTo>
                  <a:pt x="337" y="96"/>
                </a:lnTo>
                <a:lnTo>
                  <a:pt x="321" y="119"/>
                </a:lnTo>
                <a:lnTo>
                  <a:pt x="305" y="142"/>
                </a:lnTo>
                <a:lnTo>
                  <a:pt x="293" y="170"/>
                </a:lnTo>
                <a:lnTo>
                  <a:pt x="282" y="200"/>
                </a:lnTo>
                <a:lnTo>
                  <a:pt x="273" y="227"/>
                </a:lnTo>
                <a:lnTo>
                  <a:pt x="266" y="257"/>
                </a:lnTo>
                <a:lnTo>
                  <a:pt x="263" y="292"/>
                </a:lnTo>
                <a:lnTo>
                  <a:pt x="261" y="322"/>
                </a:lnTo>
                <a:lnTo>
                  <a:pt x="261" y="1612"/>
                </a:lnTo>
                <a:lnTo>
                  <a:pt x="261" y="1647"/>
                </a:lnTo>
                <a:lnTo>
                  <a:pt x="257" y="1677"/>
                </a:lnTo>
                <a:lnTo>
                  <a:pt x="250" y="1709"/>
                </a:lnTo>
                <a:lnTo>
                  <a:pt x="241" y="1739"/>
                </a:lnTo>
                <a:lnTo>
                  <a:pt x="229" y="1766"/>
                </a:lnTo>
                <a:lnTo>
                  <a:pt x="216" y="1792"/>
                </a:lnTo>
                <a:lnTo>
                  <a:pt x="202" y="1815"/>
                </a:lnTo>
                <a:lnTo>
                  <a:pt x="185" y="1838"/>
                </a:lnTo>
                <a:lnTo>
                  <a:pt x="167" y="1861"/>
                </a:lnTo>
                <a:lnTo>
                  <a:pt x="147" y="1881"/>
                </a:lnTo>
                <a:lnTo>
                  <a:pt x="124" y="1897"/>
                </a:lnTo>
                <a:lnTo>
                  <a:pt x="101" y="1907"/>
                </a:lnTo>
                <a:lnTo>
                  <a:pt x="78" y="1920"/>
                </a:lnTo>
                <a:lnTo>
                  <a:pt x="54" y="1927"/>
                </a:lnTo>
                <a:lnTo>
                  <a:pt x="0" y="1934"/>
                </a:lnTo>
                <a:lnTo>
                  <a:pt x="54" y="1943"/>
                </a:lnTo>
                <a:lnTo>
                  <a:pt x="78" y="1950"/>
                </a:lnTo>
                <a:lnTo>
                  <a:pt x="101" y="1962"/>
                </a:lnTo>
                <a:lnTo>
                  <a:pt x="124" y="1973"/>
                </a:lnTo>
                <a:lnTo>
                  <a:pt x="147" y="1989"/>
                </a:lnTo>
                <a:lnTo>
                  <a:pt x="167" y="2008"/>
                </a:lnTo>
                <a:lnTo>
                  <a:pt x="185" y="2031"/>
                </a:lnTo>
                <a:lnTo>
                  <a:pt x="202" y="2054"/>
                </a:lnTo>
                <a:lnTo>
                  <a:pt x="216" y="2077"/>
                </a:lnTo>
                <a:lnTo>
                  <a:pt x="229" y="2104"/>
                </a:lnTo>
                <a:lnTo>
                  <a:pt x="241" y="2134"/>
                </a:lnTo>
                <a:lnTo>
                  <a:pt x="250" y="2160"/>
                </a:lnTo>
                <a:lnTo>
                  <a:pt x="257" y="2192"/>
                </a:lnTo>
                <a:lnTo>
                  <a:pt x="261" y="2226"/>
                </a:lnTo>
                <a:lnTo>
                  <a:pt x="261" y="2256"/>
                </a:lnTo>
                <a:lnTo>
                  <a:pt x="261" y="3547"/>
                </a:lnTo>
                <a:lnTo>
                  <a:pt x="263" y="3581"/>
                </a:lnTo>
                <a:lnTo>
                  <a:pt x="266" y="3611"/>
                </a:lnTo>
                <a:lnTo>
                  <a:pt x="273" y="3643"/>
                </a:lnTo>
                <a:lnTo>
                  <a:pt x="282" y="3673"/>
                </a:lnTo>
                <a:lnTo>
                  <a:pt x="293" y="3699"/>
                </a:lnTo>
                <a:lnTo>
                  <a:pt x="305" y="3726"/>
                </a:lnTo>
                <a:lnTo>
                  <a:pt x="321" y="3749"/>
                </a:lnTo>
                <a:lnTo>
                  <a:pt x="337" y="3772"/>
                </a:lnTo>
                <a:lnTo>
                  <a:pt x="356" y="3795"/>
                </a:lnTo>
                <a:lnTo>
                  <a:pt x="376" y="3814"/>
                </a:lnTo>
                <a:lnTo>
                  <a:pt x="397" y="3830"/>
                </a:lnTo>
                <a:lnTo>
                  <a:pt x="420" y="3841"/>
                </a:lnTo>
                <a:lnTo>
                  <a:pt x="445" y="3853"/>
                </a:lnTo>
                <a:lnTo>
                  <a:pt x="470" y="3860"/>
                </a:lnTo>
                <a:lnTo>
                  <a:pt x="523" y="3869"/>
                </a:lnTo>
              </a:path>
            </a:pathLst>
          </a:custGeom>
          <a:noFill/>
          <a:ln w="38100">
            <a:solidFill>
              <a:srgbClr val="6600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627904" y="1593248"/>
            <a:ext cx="1565637" cy="363133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制定设计计划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627904" y="2146877"/>
            <a:ext cx="1565637" cy="364323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前期准备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627904" y="2673121"/>
            <a:ext cx="1512060" cy="377420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工程勘察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4153060" y="2874332"/>
            <a:ext cx="581012" cy="14288"/>
          </a:xfrm>
          <a:prstGeom prst="line">
            <a:avLst/>
          </a:prstGeom>
          <a:noFill/>
          <a:ln w="38100">
            <a:solidFill>
              <a:srgbClr val="66003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87651" y="2511200"/>
            <a:ext cx="1944247" cy="485764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现场勘查、测量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5543680" y="3023157"/>
            <a:ext cx="165494" cy="405994"/>
          </a:xfrm>
          <a:prstGeom prst="downArrow">
            <a:avLst>
              <a:gd name="adj1" fmla="val 50000"/>
              <a:gd name="adj2" fmla="val 61331"/>
            </a:avLst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eaLnBrk="1" hangingPunct="1"/>
            <a:endParaRPr lang="zh-CN" altLang="en-US" sz="1500">
              <a:solidFill>
                <a:schemeClr val="tx1"/>
              </a:solidFill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4787650" y="3429151"/>
            <a:ext cx="1999015" cy="378610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出设计图纸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4734072" y="4185182"/>
            <a:ext cx="2052592" cy="647685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统计工程量、编制工程（概）预算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5615115" y="4832868"/>
            <a:ext cx="145253" cy="432187"/>
          </a:xfrm>
          <a:prstGeom prst="downArrow">
            <a:avLst>
              <a:gd name="adj1" fmla="val 50000"/>
              <a:gd name="adj2" fmla="val 74385"/>
            </a:avLst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eaLnBrk="1" hangingPunct="1"/>
            <a:endParaRPr lang="zh-CN" altLang="en-US" sz="1500">
              <a:solidFill>
                <a:schemeClr val="tx1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734072" y="5319822"/>
            <a:ext cx="2052592" cy="627446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编写设计、 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（概）预算说明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Freeform 16"/>
          <p:cNvSpPr/>
          <p:nvPr/>
        </p:nvSpPr>
        <p:spPr bwMode="auto">
          <a:xfrm>
            <a:off x="4139964" y="3482729"/>
            <a:ext cx="161921" cy="2160936"/>
          </a:xfrm>
          <a:custGeom>
            <a:avLst/>
            <a:gdLst>
              <a:gd name="T0" fmla="*/ 215900 w 523"/>
              <a:gd name="T1" fmla="*/ 0 h 3869"/>
              <a:gd name="T2" fmla="*/ 194021 w 523"/>
              <a:gd name="T3" fmla="*/ 6702 h 3869"/>
              <a:gd name="T4" fmla="*/ 183701 w 523"/>
              <a:gd name="T5" fmla="*/ 11915 h 3869"/>
              <a:gd name="T6" fmla="*/ 173380 w 523"/>
              <a:gd name="T7" fmla="*/ 20107 h 3869"/>
              <a:gd name="T8" fmla="*/ 163886 w 523"/>
              <a:gd name="T9" fmla="*/ 29044 h 3869"/>
              <a:gd name="T10" fmla="*/ 155217 w 523"/>
              <a:gd name="T11" fmla="*/ 40959 h 3869"/>
              <a:gd name="T12" fmla="*/ 146961 w 523"/>
              <a:gd name="T13" fmla="*/ 54364 h 3869"/>
              <a:gd name="T14" fmla="*/ 139117 w 523"/>
              <a:gd name="T15" fmla="*/ 71493 h 3869"/>
              <a:gd name="T16" fmla="*/ 132512 w 523"/>
              <a:gd name="T17" fmla="*/ 88621 h 3869"/>
              <a:gd name="T18" fmla="*/ 125907 w 523"/>
              <a:gd name="T19" fmla="*/ 105750 h 3869"/>
              <a:gd name="T20" fmla="*/ 120954 w 523"/>
              <a:gd name="T21" fmla="*/ 126602 h 3869"/>
              <a:gd name="T22" fmla="*/ 116413 w 523"/>
              <a:gd name="T23" fmla="*/ 148943 h 3869"/>
              <a:gd name="T24" fmla="*/ 112697 w 523"/>
              <a:gd name="T25" fmla="*/ 169051 h 3869"/>
              <a:gd name="T26" fmla="*/ 109808 w 523"/>
              <a:gd name="T27" fmla="*/ 191392 h 3869"/>
              <a:gd name="T28" fmla="*/ 108569 w 523"/>
              <a:gd name="T29" fmla="*/ 217458 h 3869"/>
              <a:gd name="T30" fmla="*/ 107744 w 523"/>
              <a:gd name="T31" fmla="*/ 239799 h 3869"/>
              <a:gd name="T32" fmla="*/ 107744 w 523"/>
              <a:gd name="T33" fmla="*/ 1200485 h 3869"/>
              <a:gd name="T34" fmla="*/ 107744 w 523"/>
              <a:gd name="T35" fmla="*/ 1226550 h 3869"/>
              <a:gd name="T36" fmla="*/ 106092 w 523"/>
              <a:gd name="T37" fmla="*/ 1248891 h 3869"/>
              <a:gd name="T38" fmla="*/ 103203 w 523"/>
              <a:gd name="T39" fmla="*/ 1272722 h 3869"/>
              <a:gd name="T40" fmla="*/ 99487 w 523"/>
              <a:gd name="T41" fmla="*/ 1295064 h 3869"/>
              <a:gd name="T42" fmla="*/ 94534 w 523"/>
              <a:gd name="T43" fmla="*/ 1315171 h 3869"/>
              <a:gd name="T44" fmla="*/ 89167 w 523"/>
              <a:gd name="T45" fmla="*/ 1334534 h 3869"/>
              <a:gd name="T46" fmla="*/ 83388 w 523"/>
              <a:gd name="T47" fmla="*/ 1351662 h 3869"/>
              <a:gd name="T48" fmla="*/ 76370 w 523"/>
              <a:gd name="T49" fmla="*/ 1368791 h 3869"/>
              <a:gd name="T50" fmla="*/ 68939 w 523"/>
              <a:gd name="T51" fmla="*/ 1385919 h 3869"/>
              <a:gd name="T52" fmla="*/ 60683 w 523"/>
              <a:gd name="T53" fmla="*/ 1400814 h 3869"/>
              <a:gd name="T54" fmla="*/ 51189 w 523"/>
              <a:gd name="T55" fmla="*/ 1412729 h 3869"/>
              <a:gd name="T56" fmla="*/ 41694 w 523"/>
              <a:gd name="T57" fmla="*/ 1420176 h 3869"/>
              <a:gd name="T58" fmla="*/ 32199 w 523"/>
              <a:gd name="T59" fmla="*/ 1429858 h 3869"/>
              <a:gd name="T60" fmla="*/ 22292 w 523"/>
              <a:gd name="T61" fmla="*/ 1435071 h 3869"/>
              <a:gd name="T62" fmla="*/ 0 w 523"/>
              <a:gd name="T63" fmla="*/ 1440284 h 3869"/>
              <a:gd name="T64" fmla="*/ 22292 w 523"/>
              <a:gd name="T65" fmla="*/ 1446986 h 3869"/>
              <a:gd name="T66" fmla="*/ 32199 w 523"/>
              <a:gd name="T67" fmla="*/ 1452199 h 3869"/>
              <a:gd name="T68" fmla="*/ 41694 w 523"/>
              <a:gd name="T69" fmla="*/ 1461136 h 3869"/>
              <a:gd name="T70" fmla="*/ 51189 w 523"/>
              <a:gd name="T71" fmla="*/ 1469328 h 3869"/>
              <a:gd name="T72" fmla="*/ 60683 w 523"/>
              <a:gd name="T73" fmla="*/ 1481243 h 3869"/>
              <a:gd name="T74" fmla="*/ 68939 w 523"/>
              <a:gd name="T75" fmla="*/ 1495393 h 3869"/>
              <a:gd name="T76" fmla="*/ 76370 w 523"/>
              <a:gd name="T77" fmla="*/ 1512521 h 3869"/>
              <a:gd name="T78" fmla="*/ 83388 w 523"/>
              <a:gd name="T79" fmla="*/ 1529650 h 3869"/>
              <a:gd name="T80" fmla="*/ 89167 w 523"/>
              <a:gd name="T81" fmla="*/ 1546778 h 3869"/>
              <a:gd name="T82" fmla="*/ 94534 w 523"/>
              <a:gd name="T83" fmla="*/ 1566886 h 3869"/>
              <a:gd name="T84" fmla="*/ 99487 w 523"/>
              <a:gd name="T85" fmla="*/ 1589227 h 3869"/>
              <a:gd name="T86" fmla="*/ 103203 w 523"/>
              <a:gd name="T87" fmla="*/ 1608590 h 3869"/>
              <a:gd name="T88" fmla="*/ 106092 w 523"/>
              <a:gd name="T89" fmla="*/ 1632421 h 3869"/>
              <a:gd name="T90" fmla="*/ 107744 w 523"/>
              <a:gd name="T91" fmla="*/ 1657741 h 3869"/>
              <a:gd name="T92" fmla="*/ 107744 w 523"/>
              <a:gd name="T93" fmla="*/ 1680083 h 3869"/>
              <a:gd name="T94" fmla="*/ 107744 w 523"/>
              <a:gd name="T95" fmla="*/ 2641513 h 3869"/>
              <a:gd name="T96" fmla="*/ 108569 w 523"/>
              <a:gd name="T97" fmla="*/ 2666833 h 3869"/>
              <a:gd name="T98" fmla="*/ 109808 w 523"/>
              <a:gd name="T99" fmla="*/ 2689175 h 3869"/>
              <a:gd name="T100" fmla="*/ 112697 w 523"/>
              <a:gd name="T101" fmla="*/ 2713006 h 3869"/>
              <a:gd name="T102" fmla="*/ 116413 w 523"/>
              <a:gd name="T103" fmla="*/ 2735347 h 3869"/>
              <a:gd name="T104" fmla="*/ 120954 w 523"/>
              <a:gd name="T105" fmla="*/ 2754710 h 3869"/>
              <a:gd name="T106" fmla="*/ 125907 w 523"/>
              <a:gd name="T107" fmla="*/ 2774817 h 3869"/>
              <a:gd name="T108" fmla="*/ 132512 w 523"/>
              <a:gd name="T109" fmla="*/ 2791946 h 3869"/>
              <a:gd name="T110" fmla="*/ 139117 w 523"/>
              <a:gd name="T111" fmla="*/ 2809074 h 3869"/>
              <a:gd name="T112" fmla="*/ 146961 w 523"/>
              <a:gd name="T113" fmla="*/ 2826203 h 3869"/>
              <a:gd name="T114" fmla="*/ 155217 w 523"/>
              <a:gd name="T115" fmla="*/ 2840353 h 3869"/>
              <a:gd name="T116" fmla="*/ 163886 w 523"/>
              <a:gd name="T117" fmla="*/ 2852268 h 3869"/>
              <a:gd name="T118" fmla="*/ 173380 w 523"/>
              <a:gd name="T119" fmla="*/ 2860460 h 3869"/>
              <a:gd name="T120" fmla="*/ 183701 w 523"/>
              <a:gd name="T121" fmla="*/ 2869397 h 3869"/>
              <a:gd name="T122" fmla="*/ 194021 w 523"/>
              <a:gd name="T123" fmla="*/ 2874610 h 3869"/>
              <a:gd name="T124" fmla="*/ 215900 w 523"/>
              <a:gd name="T125" fmla="*/ 2881312 h 3869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523" h="3869">
                <a:moveTo>
                  <a:pt x="523" y="0"/>
                </a:moveTo>
                <a:lnTo>
                  <a:pt x="470" y="9"/>
                </a:lnTo>
                <a:lnTo>
                  <a:pt x="445" y="16"/>
                </a:lnTo>
                <a:lnTo>
                  <a:pt x="420" y="27"/>
                </a:lnTo>
                <a:lnTo>
                  <a:pt x="397" y="39"/>
                </a:lnTo>
                <a:lnTo>
                  <a:pt x="376" y="55"/>
                </a:lnTo>
                <a:lnTo>
                  <a:pt x="356" y="73"/>
                </a:lnTo>
                <a:lnTo>
                  <a:pt x="337" y="96"/>
                </a:lnTo>
                <a:lnTo>
                  <a:pt x="321" y="119"/>
                </a:lnTo>
                <a:lnTo>
                  <a:pt x="305" y="142"/>
                </a:lnTo>
                <a:lnTo>
                  <a:pt x="293" y="170"/>
                </a:lnTo>
                <a:lnTo>
                  <a:pt x="282" y="200"/>
                </a:lnTo>
                <a:lnTo>
                  <a:pt x="273" y="227"/>
                </a:lnTo>
                <a:lnTo>
                  <a:pt x="266" y="257"/>
                </a:lnTo>
                <a:lnTo>
                  <a:pt x="263" y="292"/>
                </a:lnTo>
                <a:lnTo>
                  <a:pt x="261" y="322"/>
                </a:lnTo>
                <a:lnTo>
                  <a:pt x="261" y="1612"/>
                </a:lnTo>
                <a:lnTo>
                  <a:pt x="261" y="1647"/>
                </a:lnTo>
                <a:lnTo>
                  <a:pt x="257" y="1677"/>
                </a:lnTo>
                <a:lnTo>
                  <a:pt x="250" y="1709"/>
                </a:lnTo>
                <a:lnTo>
                  <a:pt x="241" y="1739"/>
                </a:lnTo>
                <a:lnTo>
                  <a:pt x="229" y="1766"/>
                </a:lnTo>
                <a:lnTo>
                  <a:pt x="216" y="1792"/>
                </a:lnTo>
                <a:lnTo>
                  <a:pt x="202" y="1815"/>
                </a:lnTo>
                <a:lnTo>
                  <a:pt x="185" y="1838"/>
                </a:lnTo>
                <a:lnTo>
                  <a:pt x="167" y="1861"/>
                </a:lnTo>
                <a:lnTo>
                  <a:pt x="147" y="1881"/>
                </a:lnTo>
                <a:lnTo>
                  <a:pt x="124" y="1897"/>
                </a:lnTo>
                <a:lnTo>
                  <a:pt x="101" y="1907"/>
                </a:lnTo>
                <a:lnTo>
                  <a:pt x="78" y="1920"/>
                </a:lnTo>
                <a:lnTo>
                  <a:pt x="54" y="1927"/>
                </a:lnTo>
                <a:lnTo>
                  <a:pt x="0" y="1934"/>
                </a:lnTo>
                <a:lnTo>
                  <a:pt x="54" y="1943"/>
                </a:lnTo>
                <a:lnTo>
                  <a:pt x="78" y="1950"/>
                </a:lnTo>
                <a:lnTo>
                  <a:pt x="101" y="1962"/>
                </a:lnTo>
                <a:lnTo>
                  <a:pt x="124" y="1973"/>
                </a:lnTo>
                <a:lnTo>
                  <a:pt x="147" y="1989"/>
                </a:lnTo>
                <a:lnTo>
                  <a:pt x="167" y="2008"/>
                </a:lnTo>
                <a:lnTo>
                  <a:pt x="185" y="2031"/>
                </a:lnTo>
                <a:lnTo>
                  <a:pt x="202" y="2054"/>
                </a:lnTo>
                <a:lnTo>
                  <a:pt x="216" y="2077"/>
                </a:lnTo>
                <a:lnTo>
                  <a:pt x="229" y="2104"/>
                </a:lnTo>
                <a:lnTo>
                  <a:pt x="241" y="2134"/>
                </a:lnTo>
                <a:lnTo>
                  <a:pt x="250" y="2160"/>
                </a:lnTo>
                <a:lnTo>
                  <a:pt x="257" y="2192"/>
                </a:lnTo>
                <a:lnTo>
                  <a:pt x="261" y="2226"/>
                </a:lnTo>
                <a:lnTo>
                  <a:pt x="261" y="2256"/>
                </a:lnTo>
                <a:lnTo>
                  <a:pt x="261" y="3547"/>
                </a:lnTo>
                <a:lnTo>
                  <a:pt x="263" y="3581"/>
                </a:lnTo>
                <a:lnTo>
                  <a:pt x="266" y="3611"/>
                </a:lnTo>
                <a:lnTo>
                  <a:pt x="273" y="3643"/>
                </a:lnTo>
                <a:lnTo>
                  <a:pt x="282" y="3673"/>
                </a:lnTo>
                <a:lnTo>
                  <a:pt x="293" y="3699"/>
                </a:lnTo>
                <a:lnTo>
                  <a:pt x="305" y="3726"/>
                </a:lnTo>
                <a:lnTo>
                  <a:pt x="321" y="3749"/>
                </a:lnTo>
                <a:lnTo>
                  <a:pt x="337" y="3772"/>
                </a:lnTo>
                <a:lnTo>
                  <a:pt x="356" y="3795"/>
                </a:lnTo>
                <a:lnTo>
                  <a:pt x="376" y="3814"/>
                </a:lnTo>
                <a:lnTo>
                  <a:pt x="397" y="3830"/>
                </a:lnTo>
                <a:lnTo>
                  <a:pt x="420" y="3841"/>
                </a:lnTo>
                <a:lnTo>
                  <a:pt x="445" y="3853"/>
                </a:lnTo>
                <a:lnTo>
                  <a:pt x="470" y="3860"/>
                </a:lnTo>
                <a:lnTo>
                  <a:pt x="523" y="3869"/>
                </a:lnTo>
              </a:path>
            </a:pathLst>
          </a:custGeom>
          <a:noFill/>
          <a:ln w="38100">
            <a:solidFill>
              <a:srgbClr val="6600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2627903" y="4400680"/>
            <a:ext cx="1404907" cy="378610"/>
          </a:xfrm>
          <a:prstGeom prst="rect">
            <a:avLst/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ctr" eaLnBrk="1" hangingPunct="1"/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设计文本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AutoShape 18"/>
          <p:cNvSpPr>
            <a:spLocks noChangeArrowheads="1"/>
          </p:cNvSpPr>
          <p:nvPr/>
        </p:nvSpPr>
        <p:spPr bwMode="auto">
          <a:xfrm>
            <a:off x="5561539" y="3807761"/>
            <a:ext cx="145253" cy="377420"/>
          </a:xfrm>
          <a:prstGeom prst="downArrow">
            <a:avLst>
              <a:gd name="adj1" fmla="val 50000"/>
              <a:gd name="adj2" fmla="val 64959"/>
            </a:avLst>
          </a:prstGeom>
          <a:noFill/>
          <a:ln w="38100">
            <a:solidFill>
              <a:srgbClr val="66003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</a:extLst>
        </p:spPr>
        <p:txBody>
          <a:bodyPr lIns="57606" tIns="28802" rIns="57606" bIns="28802" anchor="ctr"/>
          <a:lstStyle>
            <a:lvl1pPr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spcBef>
                <a:spcPct val="50000"/>
              </a:spcBef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eaLnBrk="1" hangingPunct="1"/>
            <a:endParaRPr lang="zh-CN" altLang="en-US" sz="15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4000" dirty="0"/>
              <a:t>课后作业</a:t>
            </a:r>
            <a:endParaRPr lang="zh-CN" altLang="en-US" sz="4000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611505" y="1700530"/>
            <a:ext cx="7496810" cy="221996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b="1" dirty="0"/>
              <a:t>1.</a:t>
            </a:r>
            <a:r>
              <a:rPr lang="zh-CN" altLang="en-US" sz="2800" b="1" dirty="0"/>
              <a:t>简述中国主流通信运营</a:t>
            </a:r>
            <a:r>
              <a:rPr lang="zh-CN" altLang="en-US" sz="2800" b="1" dirty="0"/>
              <a:t>商。</a:t>
            </a:r>
            <a:endParaRPr lang="en-US" altLang="zh-CN" sz="2800" b="1" dirty="0"/>
          </a:p>
          <a:p>
            <a:r>
              <a:rPr lang="en-US" altLang="zh-CN" sz="2800" b="1" dirty="0"/>
              <a:t>2. </a:t>
            </a:r>
            <a:r>
              <a:rPr lang="zh-CN" altLang="en-US" sz="2800" b="1" dirty="0"/>
              <a:t>通信建设工程设计通常包括哪几个专业。</a:t>
            </a:r>
            <a:endParaRPr lang="en-US" altLang="zh-CN" sz="2800" b="1" dirty="0"/>
          </a:p>
          <a:p>
            <a:r>
              <a:rPr lang="en-US" altLang="zh-CN" sz="2800" b="1" dirty="0"/>
              <a:t>3. </a:t>
            </a:r>
            <a:r>
              <a:rPr lang="zh-CN" altLang="en-US" sz="2800" b="1" dirty="0"/>
              <a:t>基站工程建设内容有哪些？</a:t>
            </a:r>
            <a:endParaRPr lang="en-US" altLang="zh-CN" sz="2800" b="1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commondata" val="eyJoZGlkIjoiYmQ3NjQxYmZmN2ZkODIxYWNiNTEzMzQyMTZmNzQ1MmMifQ=="/>
  <p:tag name="COMMONDATA" val="eyJoZGlkIjoiZGFlNWRkNmVlMTQxOWJjOTRkYjEzOTE3MmJkY2Q1MW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3460</Words>
  <Application>WPS 演示</Application>
  <PresentationFormat>全屏显示(4:3)</PresentationFormat>
  <Paragraphs>399</Paragraphs>
  <Slides>30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楷体_GB2312</vt:lpstr>
      <vt:lpstr>新宋体</vt:lpstr>
      <vt:lpstr>黑体</vt:lpstr>
      <vt:lpstr>Times New Roman</vt:lpstr>
      <vt:lpstr>微软雅黑</vt:lpstr>
      <vt:lpstr>Tahoma</vt:lpstr>
      <vt:lpstr>Arial Unicode MS</vt:lpstr>
      <vt:lpstr>隶书</vt:lpstr>
      <vt:lpstr>华文细黑</vt:lpstr>
      <vt:lpstr>华文行楷</vt:lpstr>
      <vt:lpstr>方正仿宋_GB2312</vt:lpstr>
      <vt:lpstr>默认设计模板</vt:lpstr>
      <vt:lpstr>自定义设计方案</vt:lpstr>
      <vt:lpstr>AcroExch.Document.DC</vt:lpstr>
      <vt:lpstr>Visio.Drawing.11</vt:lpstr>
      <vt:lpstr>PowerPoint 演示文稿</vt:lpstr>
      <vt:lpstr>三网融合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通信工程设计的四项主要内容</vt:lpstr>
      <vt:lpstr>通信工程设计的阶段划分</vt:lpstr>
      <vt:lpstr>通信工程设计各阶段的要求</vt:lpstr>
      <vt:lpstr>通信工程设计各阶段的要求</vt:lpstr>
      <vt:lpstr>PowerPoint 演示文稿</vt:lpstr>
      <vt:lpstr>PowerPoint 演示文稿</vt:lpstr>
      <vt:lpstr>基站工程建设内容</vt:lpstr>
      <vt:lpstr>PowerPoint 演示文稿</vt:lpstr>
      <vt:lpstr>天馈系统</vt:lpstr>
      <vt:lpstr>PowerPoint 演示文稿</vt:lpstr>
      <vt:lpstr>基站工程项目类型</vt:lpstr>
      <vt:lpstr>PowerPoint 演示文稿</vt:lpstr>
      <vt:lpstr>PowerPoint 演示文稿</vt:lpstr>
      <vt:lpstr>PowerPoint 演示文稿</vt:lpstr>
      <vt:lpstr>PowerPoint 演示文稿</vt:lpstr>
      <vt:lpstr>1.3  专业分工</vt:lpstr>
      <vt:lpstr>PowerPoint 演示文稿</vt:lpstr>
      <vt:lpstr>PowerPoint 演示文稿</vt:lpstr>
      <vt:lpstr>PowerPoint 演示文稿</vt:lpstr>
      <vt:lpstr>1.4  工程设计人员应具备的素质</vt:lpstr>
      <vt:lpstr>PowerPoint 演示文稿</vt:lpstr>
      <vt:lpstr>PowerPoint 演示文稿</vt:lpstr>
      <vt:lpstr>课后作业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单击此处添加标题</dc:title>
  <dc:creator>微软用户</dc:creator>
  <cp:lastModifiedBy>WPS_1756649582</cp:lastModifiedBy>
  <cp:revision>402</cp:revision>
  <dcterms:created xsi:type="dcterms:W3CDTF">2008-10-15T06:05:00Z</dcterms:created>
  <dcterms:modified xsi:type="dcterms:W3CDTF">2025-09-01T06:55:54Z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9BB6F8BF6A2C4A96860AE9B8CAD2624F_13</vt:lpwstr>
  </property>
  <property fmtid="{D5CDD505-2E9C-101B-9397-08002B2CF9AE}" pid="3" name="KSOProductBuildVer">
    <vt:lpwstr>2052-12.1.0.22529</vt:lpwstr>
  </property>
</Properties>
</file>